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4"/>
  </p:notesMasterIdLst>
  <p:sldIdLst>
    <p:sldId id="257" r:id="rId3"/>
    <p:sldId id="522" r:id="rId4"/>
    <p:sldId id="461" r:id="rId5"/>
    <p:sldId id="515" r:id="rId6"/>
    <p:sldId id="564" r:id="rId7"/>
    <p:sldId id="549" r:id="rId8"/>
    <p:sldId id="550" r:id="rId9"/>
    <p:sldId id="551" r:id="rId10"/>
    <p:sldId id="552" r:id="rId11"/>
    <p:sldId id="553" r:id="rId12"/>
    <p:sldId id="555" r:id="rId13"/>
    <p:sldId id="565" r:id="rId14"/>
    <p:sldId id="556" r:id="rId15"/>
    <p:sldId id="557" r:id="rId16"/>
    <p:sldId id="563" r:id="rId17"/>
    <p:sldId id="562" r:id="rId18"/>
    <p:sldId id="560" r:id="rId19"/>
    <p:sldId id="561" r:id="rId20"/>
    <p:sldId id="518" r:id="rId21"/>
    <p:sldId id="526" r:id="rId22"/>
    <p:sldId id="527" r:id="rId23"/>
    <p:sldId id="529" r:id="rId24"/>
    <p:sldId id="531" r:id="rId25"/>
    <p:sldId id="533" r:id="rId26"/>
    <p:sldId id="517" r:id="rId27"/>
    <p:sldId id="495" r:id="rId28"/>
    <p:sldId id="496" r:id="rId29"/>
    <p:sldId id="497" r:id="rId30"/>
    <p:sldId id="498" r:id="rId31"/>
    <p:sldId id="535" r:id="rId32"/>
    <p:sldId id="546" r:id="rId33"/>
    <p:sldId id="538" r:id="rId34"/>
    <p:sldId id="500" r:id="rId35"/>
    <p:sldId id="501" r:id="rId36"/>
    <p:sldId id="502" r:id="rId37"/>
    <p:sldId id="503" r:id="rId38"/>
    <p:sldId id="504" r:id="rId39"/>
    <p:sldId id="537" r:id="rId40"/>
    <p:sldId id="539" r:id="rId41"/>
    <p:sldId id="540" r:id="rId42"/>
    <p:sldId id="541" r:id="rId43"/>
    <p:sldId id="542" r:id="rId44"/>
    <p:sldId id="543" r:id="rId45"/>
    <p:sldId id="544" r:id="rId46"/>
    <p:sldId id="505" r:id="rId47"/>
    <p:sldId id="536" r:id="rId48"/>
    <p:sldId id="507" r:id="rId49"/>
    <p:sldId id="547" r:id="rId50"/>
    <p:sldId id="508" r:id="rId51"/>
    <p:sldId id="610" r:id="rId52"/>
    <p:sldId id="514" r:id="rId53"/>
  </p:sldIdLst>
  <p:sldSz cx="12190095" cy="6858000"/>
  <p:notesSz cx="6858000" cy="9144000"/>
  <p:defaultTextStyle>
    <a:defPPr>
      <a:defRPr lang="zh-CN"/>
    </a:defPPr>
    <a:lvl1pPr algn="l" rtl="0" fontAlgn="base">
      <a:spcBef>
        <a:spcPct val="50000"/>
      </a:spcBef>
      <a:spcAft>
        <a:spcPct val="0"/>
      </a:spcAft>
      <a:defRPr kumimoji="1" sz="11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1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1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1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1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5pPr>
    <a:lvl6pPr marL="2286000" algn="l" defTabSz="914400" rtl="0" eaLnBrk="1" latinLnBrk="0" hangingPunct="1">
      <a:defRPr kumimoji="1" sz="11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6pPr>
    <a:lvl7pPr marL="2743200" algn="l" defTabSz="914400" rtl="0" eaLnBrk="1" latinLnBrk="0" hangingPunct="1">
      <a:defRPr kumimoji="1" sz="11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7pPr>
    <a:lvl8pPr marL="3200400" algn="l" defTabSz="914400" rtl="0" eaLnBrk="1" latinLnBrk="0" hangingPunct="1">
      <a:defRPr kumimoji="1" sz="11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8pPr>
    <a:lvl9pPr marL="3657600" algn="l" defTabSz="914400" rtl="0" eaLnBrk="1" latinLnBrk="0" hangingPunct="1">
      <a:defRPr kumimoji="1" sz="11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  <p:cmAuthor id="1" name="wangwx" initials="w" lastIdx="2" clrIdx="0"/>
  <p:cmAuthor id="2" name="Athene" initials="A" lastIdx="2" clrIdx="1"/>
  <p:cmAuthor id="3" name="Microsoft Office User" initials="M" lastIdx="1" clrIdx="2"/>
  <p:cmAuthor id="4" name="loongson" initials="l" lastIdx="19" clrIdx="3"/>
  <p:cmAuthor id="5" name=" " initials=" " lastIdx="1" clrIdx="3"/>
  <p:cmAuthor id="6" name="liulili" initials="l" lastIdx="13" clrIdx="5"/>
  <p:cmAuthor id="7" name="WenWen" initials="W" lastIdx="1" clrIdx="6"/>
  <p:cmAuthor id="8" name="姜伟光" initials="姜" lastIdx="1" clrIdx="0"/>
  <p:cmAuthor id="9" name="宋洁然" initials="宋" lastIdx="2" clrIdx="1"/>
  <p:cmAuthor id="10" name="ming qiu" initials="m" lastIdx="17" clrIdx="1"/>
  <p:cmAuthor id="11" name="沈霄雷" initials="沈" lastIdx="833089" clrIdx="0"/>
  <p:cmAuthor id="12" name="韩雨" initials="韩" lastIdx="0" clrIdx="0"/>
  <p:cmAuthor id="13" name="仇怿俊" initials="仇" lastIdx="0" clrIdx="0"/>
  <p:cmAuthor id="14" name="D" initials="D" lastIdx="1" clrIdx="13"/>
  <p:cmAuthor id="15" name="于晖_zy632mY3" initials="authorId_387757713" lastIdx="0" clrIdx="0"/>
  <p:cmAuthor id="16" name="YM.Leo" initials="Y" lastIdx="20" clrIdx="13"/>
  <p:cmAuthor id="17" name="李臻_jiai6ZRr" initials="authorId_192999303" lastIdx="0" clrIdx="0"/>
  <p:cmAuthor id="18" name="robin.song" initials="r [3]" lastIdx="1" clrIdx="17"/>
  <p:cmAuthor id="19" name="孙军_a2y2UrEv" initials="authorId_524475945" lastIdx="0" clrIdx="0"/>
  <p:cmAuthor id="20" name="KSOGZD21000128" initials="K" lastIdx="1" clrIdx="19"/>
  <p:cmAuthor id="21" name="Microsoft Office 用户" initials="Office [10]" lastIdx="1" clrIdx="20"/>
  <p:cmAuthor id="22" name="grace" initials="g" lastIdx="1" clrIdx="21"/>
  <p:cmAuthor id="23" name="张 令旗" initials="张" lastIdx="6" clrIdx="22"/>
  <p:cmAuthor id="24" name="Liu Ym" initials="LY" lastIdx="3" clrIdx="23"/>
  <p:cmAuthor id="25" name="李蕾00009994" initials="" lastIdx="6" clrIdx="17"/>
  <p:cmAuthor id="26" name="yangkun" initials="y" lastIdx="1" clrIdx="25"/>
  <p:cmAuthor id="27" name="10270945" initials="" lastIdx="2" clrIdx="25"/>
  <p:cmAuthor id="28" name="10073006" initials="" lastIdx="4" clrIdx="26"/>
  <p:cmAuthor id="29" name="Hou Yingfeng" initials="" lastIdx="10" clrIdx="23"/>
  <p:cmAuthor id="30" name="赵诚荣10027092" initials="" lastIdx="2" clrIdx="25"/>
  <p:cmAuthor id="31" name="10056791" initials="" lastIdx="1" clrIdx="29"/>
  <p:cmAuthor id="32" name="10033224" initials="" lastIdx="1" clrIdx="31"/>
  <p:cmAuthor id="33" name="10045953" initials="" lastIdx="1" clrIdx="32"/>
  <p:cmAuthor id="34" name="关全全10258021" initials="" lastIdx="1" clrIdx="36"/>
  <p:cmAuthor id="35" name="suny hong" initials="sh" lastIdx="1" clrIdx="34"/>
  <p:cmAuthor id="36" name="Charley" initials="C" lastIdx="1" clrIdx="0"/>
  <p:cmAuthor id="37" name="tangj" initials="t" lastIdx="1" clrIdx="36"/>
  <p:cmAuthor id="38" name="鞠瑞" initials="鞠" lastIdx="1" clrIdx="37"/>
  <p:cmAuthor id="39" name="Hi" initials="H" lastIdx="1" clrIdx="38"/>
  <p:cmAuthor id="40" name="P1063cindychen" initials="P" lastIdx="6" clrIdx="0"/>
  <p:cmAuthor id="41" name="Pueschner, Franziska {FA~Shanghai}" initials="P" lastIdx="5" clrIdx="0"/>
  <p:cmAuthor id="691587970" name="小延魔法师" initials="小" lastIdx="1126286" clrIdx="0"/>
  <p:cmAuthor id="42" name="jianbest" initials="j" lastIdx="1" clrIdx="41"/>
  <p:cmAuthor id="691587971" name="刘春杰10244342" initials="刘春杰10244342" lastIdx="1" clrIdx="41"/>
  <p:cmAuthor id="43" name="王静" initials="王" lastIdx="1" clrIdx="42"/>
  <p:cmAuthor id="44" name="P00035_jeremy" initials="P" lastIdx="1" clrIdx="0"/>
  <p:cmAuthor id="45" name="未知的使用者12" initials="未" lastIdx="1" clrIdx="0"/>
  <p:cmAuthor id="46" name="未知的使用者13" initials="未" lastIdx="5" clrIdx="1"/>
  <p:cmAuthor id="47" name="未知的使用者14" initials="未" lastIdx="0" clrIdx="1"/>
  <p:cmAuthor id="49" name="cui yun" initials="cy" lastIdx="1" clrIdx="22"/>
  <p:cmAuthor id="50" name="未知的使用者9" initials="未" lastIdx="1" clrIdx="0"/>
  <p:cmAuthor id="51" name="未知的使用者11" initials="未" lastIdx="0" clrIdx="1"/>
  <p:cmAuthor id="52" name="未知的使用者27" initials="未" lastIdx="1" clrIdx="0"/>
  <p:cmAuthor id="53" name="未知的使用者28" initials="未" lastIdx="3" clrIdx="1"/>
  <p:cmAuthor id="54" name="未知的使用者29" initials="未" lastIdx="1" clrIdx="1"/>
  <p:cmAuthor id="55" name="未知的使用者21" initials="未" lastIdx="1" clrIdx="0"/>
  <p:cmAuthor id="2000" name="梁亚栋" initials="authorId_233440905" lastIdx="776053" clrIdx="0"/>
  <p:cmAuthor id="56" name="未知的使用者22" initials="未" lastIdx="3" clrIdx="1"/>
  <p:cmAuthor id="57" name="未知的使用者23" initials="未" lastIdx="1" clrIdx="1"/>
  <p:cmAuthor id="58" name="未知的使用者24" initials="未" lastIdx="1" clrIdx="0"/>
  <p:cmAuthor id="59" name="未知的使用者25" initials="未" lastIdx="3" clrIdx="1"/>
  <p:cmAuthor id="60" name="未知的使用者26" initials="未" lastIdx="1" clrIdx="1"/>
  <p:cmAuthor id="61" name="August" initials="A" lastIdx="1" clrIdx="0"/>
  <p:cmAuthor id="62" name="qihua-DCMS" initials="q" lastIdx="0" clrIdx="0"/>
  <p:cmAuthor id="63" name="未知用户5" initials="未" lastIdx="1" clrIdx="0"/>
  <p:cmAuthor id="64" name="YUMINGNJ" initials="Y" lastIdx="3" clrIdx="0"/>
  <p:cmAuthor id="65" name="daphne" initials="d" lastIdx="1" clrIdx="0"/>
  <p:cmAuthor id="66" name="未知用户8" initials="未" lastIdx="1" clrIdx="0"/>
  <p:cmAuthor id="67" name="Unknown User7" initials="U" lastIdx="1" clrIdx="0"/>
  <p:cmAuthor id="68" name="Unknown User8" initials="U" lastIdx="1" clrIdx="0"/>
  <p:cmAuthor id="69" name="未知用户15" initials="未" lastIdx="1" clrIdx="0"/>
  <p:cmAuthor id="70" name="未知用户13" initials="未" lastIdx="1" clrIdx="0"/>
  <p:cmAuthor id="71" name="未知用户14" initials="未" lastIdx="1" clrIdx="0"/>
  <p:cmAuthor id="72" name="Jason Wang" initials="J" lastIdx="1" clrIdx="0"/>
  <p:cmAuthor id="73" name="未知的使用者3" initials="未" lastIdx="0" clrIdx="1"/>
  <p:cmAuthor id="74" name="qiantong" initials="q" lastIdx="3" clrIdx="1"/>
  <p:cmAuthor id="75" name="作者" initials="A" lastIdx="0" clrIdx="24"/>
  <p:cmAuthor id="76" name="wang wei" initials="ww" lastIdx="1" clrIdx="25"/>
  <p:cmAuthor id="77" name="张 波" initials="张" lastIdx="1" clrIdx="26"/>
  <p:cmAuthor id="78" name="JIANG DY" initials="JD" lastIdx="7" clrIdx="27"/>
  <p:cmAuthor id="79" name="YANG Yaqin" initials="YY" lastIdx="1" clrIdx="28"/>
  <p:cmAuthor id="80" name="钱福利" initials="Q" lastIdx="1" clrIdx="29"/>
  <p:cmAuthor id="81" name="未知的使用者53" initials="未" lastIdx="1" clrIdx="0"/>
  <p:cmAuthor id="82" name="未知的使用者46" initials="未" lastIdx="1" clrIdx="1"/>
  <p:cmAuthor id="83" name="yuanzh" initials="y" lastIdx="1" clrIdx="1"/>
  <p:cmAuthor id="84" name="曾红" initials="曾" lastIdx="0" clrIdx="0"/>
  <p:cmAuthor id="85" name="未知用户16" initials="未" lastIdx="1" clrIdx="0"/>
  <p:cmAuthor id="86" name="未知用户17" initials="未" lastIdx="0" clrIdx="1"/>
  <p:cmAuthor id="87" name="mm" initials="m" lastIdx="1" clrIdx="0"/>
  <p:cmAuthor id="88" name="liupeng" initials="l" lastIdx="1" clrIdx="1"/>
  <p:cmAuthor id="89" name="周宏達JerryChou" initials="周" lastIdx="6" clrIdx="2"/>
  <p:cmAuthor id="90" name="luxu" initials="l" lastIdx="22" clrIdx="0"/>
  <p:cmAuthor id="91" name="hl sun" initials="h" lastIdx="1" clrIdx="0"/>
  <p:cmAuthor id="92" name="未知的使用者50" initials="未" lastIdx="1" clrIdx="0"/>
  <p:cmAuthor id="93" name="未知的使用者48" initials="未" lastIdx="1" clrIdx="0"/>
  <p:cmAuthor id="94" name="未知的使用者49" initials="未" lastIdx="1" clrIdx="0"/>
  <p:cmAuthor id="95" name="未知用户22" initials="未" lastIdx="1" clrIdx="0"/>
  <p:cmAuthor id="96" name="未知用户24" initials="未" lastIdx="1" clrIdx="0"/>
  <p:cmAuthor id="97" name="Mary Feil-Jacobs" initials="M" lastIdx="43" clrIdx="1"/>
  <p:cmAuthor id="511165158" name="Eva bling bling" initials="E" lastIdx="1" clrIdx="31"/>
  <p:cmAuthor id="98" name="朱晓瑜" initials="朱" lastIdx="54" clrIdx="0"/>
  <p:cmAuthor id="100" name="djj" initials="d" lastIdx="2" clrIdx="0"/>
  <p:cmAuthor id="101" name="張秀娟" initials="張" lastIdx="1" clrIdx="2"/>
  <p:cmAuthor id="102" name="lianghb" initials="l" lastIdx="19" clrIdx="0"/>
  <p:cmAuthor id="103" name="Shawna Strickland" initials="S" lastIdx="2" clrIdx="0"/>
  <p:cmAuthor id="104" name="linyd" initials="l" lastIdx="3" clrIdx="1"/>
  <p:cmAuthor id="105" name="Ashley Eberenz" initials="A" lastIdx="7" clrIdx="1"/>
  <p:cmAuthor id="106" name="muzi wei" initials="m" lastIdx="1" clrIdx="0"/>
  <p:cmAuthor id="107" name="周元元" initials="" lastIdx="5" clrIdx="0"/>
  <p:cmAuthor id="108" name="未知用户56" initials="未" lastIdx="1" clrIdx="0"/>
  <p:cmAuthor id="109" name="未知用户55" initials="未" lastIdx="1" clrIdx="0"/>
  <p:cmAuthor id="110" name="未知用户51" initials="未" lastIdx="1" clrIdx="1"/>
  <p:cmAuthor id="111" name="LeeElva" initials="L" lastIdx="1" clrIdx="0"/>
  <p:cmAuthor id="21433622" name="悠真" initials="悠" lastIdx="4" clrIdx="26"/>
  <p:cmAuthor id="112" name="唐可欣" initials="唐" lastIdx="1" clrIdx="0"/>
  <p:cmAuthor id="113" name="未知的使用者36" initials="未" lastIdx="10" clrIdx="0"/>
  <p:cmAuthor id="114" name="未知的使用者35" initials="未" lastIdx="1" clrIdx="0"/>
  <p:cmAuthor id="115" name="未知的使用者33" initials="未" lastIdx="1" clrIdx="0"/>
  <p:cmAuthor id="116" name="王鹏凯" initials="王" lastIdx="1" clrIdx="0"/>
  <p:cmAuthor id="117" name="未知的使用者34" initials="未" lastIdx="1" clrIdx="0"/>
  <p:cmAuthor id="119" name="未知用户66" initials="" lastIdx="1" clrIdx="0"/>
  <p:cmAuthor id="121" name="未知用户12" initials="未" lastIdx="8" clrIdx="0"/>
  <p:cmAuthor id="122" name="未知的使用者37" initials="未" lastIdx="8" clrIdx="0"/>
  <p:cmAuthor id="123" name="Harry xu" initials="H" lastIdx="1" clrIdx="0"/>
  <p:cmAuthor id="124" name="未知的使用者59" initials="未" lastIdx="8" clrIdx="0"/>
  <p:cmAuthor id="125" name="未知的使用者60" initials="未" lastIdx="1" clrIdx="0"/>
  <p:cmAuthor id="126" name="未知的使用者54" initials="未" lastIdx="1" clrIdx="0"/>
  <p:cmAuthor id="127" name="未知用户47" initials="未" lastIdx="6" clrIdx="0"/>
  <p:cmAuthor id="128" name="未知用户53" initials="未" lastIdx="10" clrIdx="0"/>
  <p:cmAuthor id="129" name="未知用户48" initials="未" lastIdx="1" clrIdx="0"/>
  <p:cmAuthor id="130" name="未知用户49" initials="未" lastIdx="1" clrIdx="0"/>
  <p:cmAuthor id="131" name="未知的使用者56" initials="未" lastIdx="6" clrIdx="0"/>
  <p:cmAuthor id="132" name="未知的使用者61" initials="未" lastIdx="1" clrIdx="0"/>
  <p:cmAuthor id="133" name="未知的使用者62" initials="未" lastIdx="1" clrIdx="1"/>
  <p:cmAuthor id="134" name="未知的使用者58" initials="未" lastIdx="1" clrIdx="0"/>
  <p:cmAuthor id="135" name="未知用户50" initials="未" lastIdx="1" clrIdx="0"/>
  <p:cmAuthor id="136" name="未知用户52" initials="未" lastIdx="1" clrIdx="0"/>
  <p:cmAuthor id="137" name="未知的使用者120" initials="未" lastIdx="1" clrIdx="0"/>
  <p:cmAuthor id="138" name="未知的使用者109" initials="未" lastIdx="5" clrIdx="1"/>
  <p:cmAuthor id="139" name="未知的使用者110" initials="未" lastIdx="1" clrIdx="1"/>
  <p:cmAuthor id="140" name="未知的使用者111" initials="未" lastIdx="1" clrIdx="0"/>
  <p:cmAuthor id="141" name="未知的使用者121" initials="未" lastIdx="1" clrIdx="0"/>
  <p:cmAuthor id="142" name="thomas" initials="t" lastIdx="1" clrIdx="49"/>
  <p:cmAuthor id="143" name="未知的使用者113" initials="未" lastIdx="1" clrIdx="0"/>
  <p:cmAuthor id="144" name="未知的使用者122" initials="未" lastIdx="1" clrIdx="0"/>
  <p:cmAuthor id="145" name="未知的使用者123" initials="未" lastIdx="8" clrIdx="0"/>
  <p:cmAuthor id="146" name="未知的使用者124" initials="未" lastIdx="8" clrIdx="0"/>
  <p:cmAuthor id="1411827" name="黄晓平" initials="黄" lastIdx="0" clrIdx="0"/>
  <p:cmAuthor id="147" name="未知的使用者125" initials="未" lastIdx="1" clrIdx="0"/>
  <p:cmAuthor id="1411828" name="Xmj" initials="X" lastIdx="3" clrIdx="85"/>
  <p:cmAuthor id="148" name="未知的使用者118" initials="未" lastIdx="1" clrIdx="0"/>
  <p:cmAuthor id="1411829" name="张静_Anua7Nne" initials="authorId_935319063" lastIdx="0" clrIdx="0"/>
  <p:cmAuthor id="149" name="未知的使用者126" initials="未" lastIdx="1" clrIdx="0"/>
  <p:cmAuthor id="1411830" name="晶 王" initials="晶王" lastIdx="1" clrIdx="46"/>
  <p:cmAuthor id="150" name="未知用户57" initials="未" lastIdx="1" clrIdx="0"/>
  <p:cmAuthor id="151" name="未知用户58" initials="未" lastIdx="5" clrIdx="1"/>
  <p:cmAuthor id="152" name="未知用户59" initials="未" lastIdx="0" clrIdx="1"/>
  <p:cmAuthor id="153" name="yuexuejun" initials="y" lastIdx="3" clrIdx="0"/>
  <p:cmAuthor id="154" name="未知的使用者74" initials="未" lastIdx="8" clrIdx="0"/>
  <p:cmAuthor id="155" name="未知的使用者76" initials="未" lastIdx="1" clrIdx="0"/>
  <p:cmAuthor id="156" name="未知的使用者70" initials="未" lastIdx="1" clrIdx="0"/>
  <p:cmAuthor id="157" name="未知的使用者73" initials="未" lastIdx="1" clrIdx="0"/>
  <p:cmAuthor id="158" name="未知的使用者67" initials="未" lastIdx="8" clrIdx="0"/>
  <p:cmAuthor id="159" name="未知的使用者68" initials="未" lastIdx="1" clrIdx="0"/>
  <p:cmAuthor id="160" name="未知的使用者69" initials="未" lastIdx="1" clrIdx="0"/>
  <p:cmAuthor id="161" name="未知的使用者43" initials="未" lastIdx="1" clrIdx="0"/>
  <p:cmAuthor id="162" name="未知的使用者40" initials="未" lastIdx="1" clrIdx="0"/>
  <p:cmAuthor id="163" name="未知的使用者55" initials="未" lastIdx="1" clrIdx="0"/>
  <p:cmAuthor id="164" name="未知的使用者52" initials="未" lastIdx="1" clrIdx="1"/>
  <p:cmAuthor id="165" name="未知的使用者72" initials="未" lastIdx="1" clrIdx="0"/>
  <p:cmAuthor id="166" name="未知的使用者71" initials="未" lastIdx="1" clrIdx="1"/>
  <p:cmAuthor id="167" name="不明使用者20" initials="不" lastIdx="1" clrIdx="0"/>
  <p:cmAuthor id="168" name="不明使用者21" initials="不" lastIdx="1" clrIdx="0"/>
  <p:cmAuthor id="169" name="不明使用者18" initials="不" lastIdx="0" clrIdx="1"/>
  <p:cmAuthor id="170" name="不明使用者19" initials="不" lastIdx="1" clrIdx="0"/>
  <p:cmAuthor id="171" name="未知用户2" initials="未" lastIdx="1" clrIdx="0"/>
  <p:cmAuthor id="172" name="未知用户93" initials="未" lastIdx="1" clrIdx="0"/>
  <p:cmAuthor id="173" name="未知用户90" initials="未" lastIdx="5" clrIdx="1"/>
  <p:cmAuthor id="174" name="未知用户91" initials="未" lastIdx="0" clrIdx="1"/>
  <p:cmAuthor id="175" name="未知用户92" initials="未" lastIdx="1" clrIdx="0"/>
  <p:cmAuthor id="176" name="未知用户74" initials="未" lastIdx="5" clrIdx="1"/>
  <p:cmAuthor id="177" name="未知用户75" initials="未" lastIdx="8" clrIdx="0"/>
  <p:cmAuthor id="178" name="未知用户76" initials="未" lastIdx="1" clrIdx="0"/>
  <p:cmAuthor id="179" name="未知用户77" initials="未" lastIdx="8" clrIdx="0"/>
  <p:cmAuthor id="180" name="未知用户78" initials="未" lastIdx="8" clrIdx="0"/>
  <p:cmAuthor id="181" name="未知用户79" initials="未" lastIdx="1" clrIdx="0"/>
  <p:cmAuthor id="182" name="未知用户80" initials="未" lastIdx="1" clrIdx="0"/>
  <p:cmAuthor id="183" name="未知用户81" initials="未" lastIdx="1" clrIdx="0"/>
  <p:cmAuthor id="184" name="未知的使用者95" initials="未" lastIdx="1" clrIdx="0"/>
  <p:cmAuthor id="185" name="未知的使用者92" initials="未" lastIdx="1" clrIdx="0"/>
  <p:cmAuthor id="186" name="未知的使用者93" initials="未" lastIdx="1" clrIdx="1"/>
  <p:cmAuthor id="187" name="未知的使用者94" initials="未" lastIdx="1" clrIdx="2"/>
  <p:cmAuthor id="188" name="Christina" initials="C" lastIdx="0" clrIdx="0"/>
  <p:cmAuthor id="189" name="jet" initials="j" lastIdx="1" clrIdx="0"/>
  <p:cmAuthor id="190" name="未知用户61" initials="未" lastIdx="8" clrIdx="0"/>
  <p:cmAuthor id="191" name="未知用户60" initials="未" lastIdx="1" clrIdx="0"/>
  <p:cmAuthor id="192" name="Unknown User24" initials="U" lastIdx="1" clrIdx="0"/>
  <p:cmAuthor id="193" name="Unknown User25" initials="U" lastIdx="1" clrIdx="0"/>
  <p:cmAuthor id="194" name="Unknown User26" initials="U" lastIdx="1" clrIdx="1"/>
  <p:cmAuthor id="195" name="Unknown User27" initials="U" lastIdx="1" clrIdx="0"/>
  <p:cmAuthor id="196" name="Unknown User28" initials="U" lastIdx="3" clrIdx="1"/>
  <p:cmAuthor id="197" name="Unknown User11" initials="U" lastIdx="0" clrIdx="1"/>
  <p:cmAuthor id="198" name="Unknown User22" initials="U" lastIdx="1" clrIdx="0"/>
  <p:cmAuthor id="199" name="Unknown User23" initials="U" lastIdx="1" clrIdx="0"/>
  <p:cmAuthor id="200" name="未知的使用者112" initials="未" lastIdx="1" clrIdx="1"/>
  <p:cmAuthor id="201" name="未知的使用者107" initials="未" lastIdx="1" clrIdx="0"/>
  <p:cmAuthor id="202" name="未知的使用者108" initials="未" lastIdx="1" clrIdx="1"/>
  <p:cmAuthor id="203" name="未知的使用者98" initials="未" lastIdx="1" clrIdx="2"/>
  <p:cmAuthor id="204" name="未知的使用者145" initials="未" lastIdx="1" clrIdx="0"/>
  <p:cmAuthor id="205" name="未知的使用者146" initials="未" lastIdx="1" clrIdx="0"/>
  <p:cmAuthor id="206" name="未知的使用者147" initials="未" lastIdx="1" clrIdx="1"/>
  <p:cmAuthor id="207" name="未知的使用者144" initials="未" lastIdx="1" clrIdx="2"/>
  <p:cmAuthor id="208" name="未知的使用者133" initials="未" lastIdx="1" clrIdx="0"/>
  <p:cmAuthor id="209" name="未知的使用者134" initials="未" lastIdx="1" clrIdx="0"/>
  <p:cmAuthor id="210" name="未知的使用者135" initials="未" lastIdx="2" clrIdx="0"/>
  <p:cmAuthor id="211" name="未知的使用者136" initials="未" lastIdx="1" clrIdx="0"/>
  <p:cmAuthor id="212" name="未知的使用者137" initials="未" lastIdx="5" clrIdx="0"/>
  <p:cmAuthor id="47245819" name="群智集" initials="群" lastIdx="0" clrIdx="0"/>
  <p:cmAuthor id="213" name="未知的使用者138" initials="未" lastIdx="10" clrIdx="0"/>
  <p:cmAuthor id="47245820" name="18937034561@189.cn" initials="1" lastIdx="1" clrIdx="16"/>
  <p:cmAuthor id="214" name="未知的使用者139" initials="未" lastIdx="1" clrIdx="0"/>
  <p:cmAuthor id="47245821" name="宋玉坤" initials="W用" lastIdx="1" clrIdx="24"/>
  <p:cmAuthor id="215" name="未知的使用者140" initials="未" lastIdx="1" clrIdx="1"/>
  <p:cmAuthor id="47245822" name="xw" initials="x" lastIdx="4" clrIdx="42"/>
  <p:cmAuthor id="216" name="未知的使用者197" initials="未" lastIdx="8" clrIdx="0"/>
  <p:cmAuthor id="47245823" name="tangjp@mvtech.com.cn" initials="t" lastIdx="14" clrIdx="37"/>
  <p:cmAuthor id="217" name="未知的使用者162" initials="未" lastIdx="8" clrIdx="0"/>
  <p:cmAuthor id="218" name="未知的使用者163" initials="未" lastIdx="1" clrIdx="0"/>
  <p:cmAuthor id="219" name="未知的使用者170" initials="未" lastIdx="0" clrIdx="1"/>
  <p:cmAuthor id="220" name="未知的使用者165" initials="未" lastIdx="1" clrIdx="0"/>
  <p:cmAuthor id="221" name="未知的使用者158" initials="未" lastIdx="1" clrIdx="0"/>
  <p:cmAuthor id="222" name="未知的使用者148" initials="未" lastIdx="5" clrIdx="0"/>
  <p:cmAuthor id="223" name="未知的使用者149" initials="未" lastIdx="10" clrIdx="0"/>
  <p:cmAuthor id="224" name="未知的使用者150" initials="未" lastIdx="1" clrIdx="0"/>
  <p:cmAuthor id="225" name="未知的使用者166" initials="未" lastIdx="8" clrIdx="0"/>
  <p:cmAuthor id="226" name="未知的使用者167" initials="未" lastIdx="0" clrIdx="1"/>
  <p:cmAuthor id="227" name="未知的使用者159" initials="未" lastIdx="1" clrIdx="1"/>
  <p:cmAuthor id="228" name="未知的使用者160" initials="未" lastIdx="1" clrIdx="0"/>
  <p:cmAuthor id="229" name="未知的使用者168" initials="未" lastIdx="1" clrIdx="0"/>
  <p:cmAuthor id="230" name="未知的使用者169" initials="未" lastIdx="1" clrIdx="0"/>
  <p:cmAuthor id="231" name="未知的使用者117" initials="未" lastIdx="1" clrIdx="0"/>
  <p:cmAuthor id="232" name="未知的使用者115" initials="未" lastIdx="1" clrIdx="1"/>
  <p:cmAuthor id="233" name="未知的使用者119" initials="未" lastIdx="1" clrIdx="2"/>
  <p:cmAuthor id="234" name="clinchen" initials="c" lastIdx="0" clrIdx="1"/>
  <p:cmAuthor id="235" name="未知用户6" initials="未" lastIdx="1" clrIdx="0"/>
  <p:cmAuthor id="236" name="未知用户7" initials="未" lastIdx="1" clrIdx="0"/>
  <p:cmAuthor id="237" name="未知的使用者198" initials="未" lastIdx="1" clrIdx="0"/>
  <p:cmAuthor id="238" name="未知的使用者205" initials="未" lastIdx="0" clrIdx="1"/>
  <p:cmAuthor id="239" name="未知的使用者200" initials="未" lastIdx="1" clrIdx="0"/>
  <p:cmAuthor id="240" name="未知的使用者181" initials="未" lastIdx="1" clrIdx="0"/>
  <p:cmAuthor id="241" name="未知的使用者194" initials="未" lastIdx="1" clrIdx="0"/>
  <p:cmAuthor id="242" name="未知的使用者182" initials="未" lastIdx="1" clrIdx="0"/>
  <p:cmAuthor id="243" name="未知的使用者183" initials="未" lastIdx="2" clrIdx="0"/>
  <p:cmAuthor id="244" name="未知的使用者184" initials="未" lastIdx="8" clrIdx="0"/>
  <p:cmAuthor id="245" name="未知的使用者185" initials="未" lastIdx="5" clrIdx="0"/>
  <p:cmAuthor id="246" name="未知的使用者186" initials="未" lastIdx="10" clrIdx="0"/>
  <p:cmAuthor id="247" name="未知的使用者187" initials="未" lastIdx="1" clrIdx="0"/>
  <p:cmAuthor id="248" name="未知的使用者201" initials="未" lastIdx="8" clrIdx="0"/>
  <p:cmAuthor id="249" name="未知的使用者202" initials="未" lastIdx="0" clrIdx="1"/>
  <p:cmAuthor id="250" name="未知的使用者171" initials="未" lastIdx="3" clrIdx="1"/>
  <p:cmAuthor id="251" name="未知的使用者195" initials="未" lastIdx="1" clrIdx="1"/>
  <p:cmAuthor id="252" name="未知的使用者173" initials="未" lastIdx="6" clrIdx="0"/>
  <p:cmAuthor id="253" name="未知的使用者196" initials="未" lastIdx="1" clrIdx="0"/>
  <p:cmAuthor id="254" name="未知的使用者175" initials="未" lastIdx="2" clrIdx="0"/>
  <p:cmAuthor id="255" name="未知的使用者203" initials="未" lastIdx="1" clrIdx="0"/>
  <p:cmAuthor id="256" name="未知的使用者204" initials="未" lastIdx="1" clrIdx="0"/>
  <p:cmAuthor id="257" name="未知的使用者41" initials="未" lastIdx="5" clrIdx="1"/>
  <p:cmAuthor id="258" name="未知的使用者42" initials="未" lastIdx="1" clrIdx="1"/>
  <p:cmAuthor id="259" name="Evonlin" initials="E" lastIdx="2" clrIdx="2"/>
  <p:cmAuthor id="260" name="未知的使用者39" initials="未" lastIdx="10" clrIdx="0"/>
  <p:cmAuthor id="261" name="未知的使用者38" initials="未" lastIdx="1" clrIdx="0"/>
  <p:cmAuthor id="262" name="未知用户37" initials="未" lastIdx="8" clrIdx="0"/>
  <p:cmAuthor id="263" name="未知用户38" initials="未" lastIdx="8" clrIdx="0"/>
  <p:cmAuthor id="264" name="未知用户39" initials="未" lastIdx="1" clrIdx="0"/>
  <p:cmAuthor id="265" name="Admin" initials="A" lastIdx="1" clrIdx="2"/>
  <p:cmAuthor id="266" name="未知的使用者64" initials="未" lastIdx="8" clrIdx="0"/>
  <p:cmAuthor id="267" name="未知的使用者65" initials="未" lastIdx="1" clrIdx="0"/>
  <p:cmAuthor id="268" name="未知的使用者66" initials="未" lastIdx="1" clrIdx="0"/>
  <p:cmAuthor id="269" name="未知的使用者57" initials="未" lastIdx="1" clrIdx="0"/>
  <p:cmAuthor id="270" name="未知用户35" initials="未" lastIdx="1" clrIdx="0"/>
  <p:cmAuthor id="271" name="未知用户36" initials="未" lastIdx="1" clrIdx="0"/>
  <p:cmAuthor id="272" name="未知用户154" initials="" lastIdx="1" clrIdx="0"/>
  <p:cmAuthor id="273" name="未知用户23" initials="未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33" initials="未" lastIdx="1" clrIdx="0"/>
  <p:cmAuthor id="279" name="未知用户34" initials="未" lastIdx="2" clrIdx="0"/>
  <p:cmAuthor id="280" name="huang gerrard" initials="h" lastIdx="2" clrIdx="0"/>
  <p:cmAuthor id="281" name="未知用户98" initials="未" lastIdx="8" clrIdx="0"/>
  <p:cmAuthor id="282" name="未知用户100" initials="未" lastIdx="1" clrIdx="0"/>
  <p:cmAuthor id="283" name="未知用户101" initials="未" lastIdx="1" clrIdx="0"/>
  <p:cmAuthor id="284" name="未知用户72" initials="" lastIdx="1" clrIdx="0"/>
  <p:cmAuthor id="285" name="未知用户73" initials="" lastIdx="2" clrIdx="0"/>
  <p:cmAuthor id="289" name="未知用户42" initials="未" lastIdx="1" clrIdx="0"/>
  <p:cmAuthor id="291" name="未知用户96" initials="" lastIdx="1" clrIdx="0"/>
  <p:cmAuthor id="565656472" name="Lijx" initials="L" lastIdx="6" clrIdx="4"/>
  <p:cmAuthor id="293" name="未知用户97" initials="" lastIdx="2" clrIdx="0"/>
  <p:cmAuthor id="294" name="未知用户40" initials="" lastIdx="5" clrIdx="1"/>
  <p:cmAuthor id="295" name="未知用户43" initials="" lastIdx="1" clrIdx="0"/>
  <p:cmAuthor id="298" name="未知用户26" initials="" lastIdx="1" clrIdx="0"/>
  <p:cmAuthor id="309" name="mapengcheng" initials="m" lastIdx="1" clrIdx="308"/>
  <p:cmAuthor id="311" name="郎蕊" initials="郎" lastIdx="4" clrIdx="310"/>
  <p:cmAuthor id="312" name="Chun Chung YEH" initials="C" lastIdx="2" clrIdx="0"/>
  <p:cmAuthor id="314" name="Vicky" initials="V" lastIdx="2" clrIdx="1"/>
  <p:cmAuthor id="315" name="刘云轩" initials="刘" lastIdx="2" clrIdx="0"/>
  <p:cmAuthor id="316" name="sharon" initials="s" lastIdx="5" clrIdx="84"/>
  <p:cmAuthor id="317" name="未知的使用者81" initials="未" lastIdx="1" clrIdx="0"/>
  <p:cmAuthor id="318" name="仝德志" initials="仝" lastIdx="1" clrIdx="0"/>
  <p:cmAuthor id="1554701838" name="宗哲" initials="宗" lastIdx="1" clrIdx="337"/>
  <p:cmAuthor id="321" name="未知用户111" initials="未" lastIdx="1" clrIdx="1"/>
  <p:cmAuthor id="322" name="alpha" initials="a" lastIdx="1" clrIdx="0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1483810881" name="WPS_1679281038" initials="W" lastIdx="1" clrIdx="2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Unknown User48" initials="U" lastIdx="8" clrIdx="0"/>
  <p:cmAuthor id="341" name="Unknown User52" initials="U" lastIdx="1" clrIdx="0"/>
  <p:cmAuthor id="342" name="Unknown User50" initials="U" lastIdx="1" clrIdx="0"/>
  <p:cmAuthor id="346" name="PC" initials="P" lastIdx="4" clrIdx="0"/>
  <p:cmAuthor id="352" name="未知的使用者161" initials="未" lastIdx="1" clrIdx="0"/>
  <p:cmAuthor id="355" name="未知的使用者152" initials="未" lastIdx="1" clrIdx="0"/>
  <p:cmAuthor id="360" name="未知的使用者176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475196944" name="姚琳" initials="姚" lastIdx="1133934" clrIdx="0"/>
  <p:cmAuthor id="475196945" name="chen" initials="c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3300"/>
    <a:srgbClr val="FF0000"/>
    <a:srgbClr val="00CC00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35" autoAdjust="0"/>
  </p:normalViewPr>
  <p:slideViewPr>
    <p:cSldViewPr snapToGrid="0">
      <p:cViewPr>
        <p:scale>
          <a:sx n="60" d="100"/>
          <a:sy n="60" d="100"/>
        </p:scale>
        <p:origin x="-427" y="-14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commentAuthors" Target="commentAuthors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notesMaster" Target="notesMasters/notesMaster1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200">
                <a:ea typeface="宋体" panose="02000500000000000000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>
                <a:ea typeface="宋体" panose="02000500000000000000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105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sz="1200">
                <a:ea typeface="宋体" panose="02000500000000000000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>
                <a:ea typeface="宋体" panose="02000500000000000000" pitchFamily="2" charset="-122"/>
              </a:defRPr>
            </a:lvl1pPr>
          </a:lstStyle>
          <a:p>
            <a:pPr>
              <a:defRPr/>
            </a:pPr>
            <a:fld id="{A4BEC8CB-E761-4FA2-BFAE-C797CE63B8E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6F247-7DF2-42E8-A482-829E40CC3F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E6C99-6C98-4952-A28D-AADCB85280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B3627-16C7-4165-9D3F-CB7DC14216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281" y="1981200"/>
            <a:ext cx="5079339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981200"/>
            <a:ext cx="5079339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3CF45-BE5F-435A-848D-E7E7CCB7132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0DF35-C1C6-415B-BB57-D2B96120FDE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C6093-957D-4304-ABB9-9B9866D15A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56FA8-4E01-41AB-B96C-F603E77461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8B920-51C0-4FB0-B6E9-AB678C29A0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D5CB0-07E9-4D4D-802C-8853E02E50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9E934-4F08-49DD-A4B0-98B924EEF8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5669" y="609600"/>
            <a:ext cx="2590463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281" y="609600"/>
            <a:ext cx="7568215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891B0-1E9F-428E-88D1-548BE125791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81" y="609600"/>
            <a:ext cx="10361851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281" y="1981200"/>
            <a:ext cx="10361851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30BFA-0AC5-45E0-9CC5-91745E0640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81" y="609600"/>
            <a:ext cx="10361851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280" y="1981200"/>
            <a:ext cx="10439813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1613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1613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400">
                <a:ea typeface="宋体" panose="02000500000000000000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59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defRPr sz="1400">
                <a:ea typeface="宋体" panose="02000500000000000000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400">
                <a:ea typeface="宋体" panose="02000500000000000000" pitchFamily="2" charset="-122"/>
              </a:defRPr>
            </a:lvl1pPr>
          </a:lstStyle>
          <a:p>
            <a:pPr>
              <a:defRPr/>
            </a:pPr>
            <a:fld id="{DBE875ED-A4A0-4A63-94BC-6AA0DD93986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2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10000"/>
        </a:spcBef>
        <a:spcAft>
          <a:spcPct val="0"/>
        </a:spcAft>
        <a:buChar char="•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1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0000"/>
        </a:lnSpc>
        <a:spcBef>
          <a:spcPct val="10000"/>
        </a:spcBef>
        <a:spcAft>
          <a:spcPct val="0"/>
        </a:spcAft>
        <a:buChar char="•"/>
        <a:defRPr kumimoji="1"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1" Type="http://schemas.openxmlformats.org/officeDocument/2006/relationships/oleObject" Target="../embeddings/oleObject4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5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1" Type="http://schemas.openxmlformats.org/officeDocument/2006/relationships/oleObject" Target="../embeddings/oleObject6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8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1" Type="http://schemas.openxmlformats.org/officeDocument/2006/relationships/oleObject" Target="../embeddings/oleObject9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10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4F16A67-FE3D-4E61-9F7C-C2D9472A48F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807085" y="1287463"/>
            <a:ext cx="10361613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zh-CN" altLang="en-US" sz="400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2" charset="-122"/>
              </a:rPr>
              <a:t>计算机体系结构</a:t>
            </a:r>
            <a:endParaRPr lang="zh-CN" altLang="en-US" sz="320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2" charset="-122"/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1678623" y="4102100"/>
            <a:ext cx="8532812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/>
              <a:t>胡伟武、汪文祥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723D8E-D329-4C3A-8878-4F33737B5D2A}" type="slidenum">
              <a:rPr lang="en-US" altLang="zh-CN" smtClean="0"/>
            </a:fld>
            <a:endParaRPr lang="en-US" altLang="zh-CN" smtClean="0"/>
          </a:p>
        </p:txBody>
      </p:sp>
      <p:pic>
        <p:nvPicPr>
          <p:cNvPr id="18435" name="Picture 2" descr="84128610082418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63563" y="1306513"/>
            <a:ext cx="11123612" cy="5173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914400" y="95250"/>
            <a:ext cx="10361613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3600">
                <a:solidFill>
                  <a:srgbClr val="FF3300"/>
                </a:solidFill>
                <a:ea typeface="黑体" panose="02000500000000000000" pitchFamily="2" charset="-122"/>
              </a:rPr>
              <a:t>龙芯</a:t>
            </a:r>
            <a:r>
              <a:rPr lang="en-US" altLang="zh-CN" sz="3600">
                <a:solidFill>
                  <a:srgbClr val="FF3300"/>
                </a:solidFill>
                <a:ea typeface="黑体" panose="02000500000000000000" pitchFamily="2" charset="-122"/>
              </a:rPr>
              <a:t>2</a:t>
            </a:r>
            <a:r>
              <a:rPr lang="zh-CN" altLang="en-US" sz="3600">
                <a:solidFill>
                  <a:srgbClr val="FF3300"/>
                </a:solidFill>
                <a:ea typeface="黑体" panose="02000500000000000000" pitchFamily="2" charset="-122"/>
              </a:rPr>
              <a:t>号处理器核结构图</a:t>
            </a:r>
            <a:endParaRPr lang="zh-CN" altLang="en-US" sz="3600">
              <a:solidFill>
                <a:srgbClr val="FF3300"/>
              </a:solidFill>
              <a:ea typeface="黑体" panose="02000500000000000000" pitchFamily="2" charset="-122"/>
            </a:endParaRPr>
          </a:p>
        </p:txBody>
      </p:sp>
      <p:sp>
        <p:nvSpPr>
          <p:cNvPr id="18437" name="椭圆 4"/>
          <p:cNvSpPr>
            <a:spLocks noChangeArrowheads="1"/>
          </p:cNvSpPr>
          <p:nvPr/>
        </p:nvSpPr>
        <p:spPr bwMode="auto">
          <a:xfrm>
            <a:off x="1263650" y="1411288"/>
            <a:ext cx="2422525" cy="4154487"/>
          </a:xfrm>
          <a:prstGeom prst="ellipse">
            <a:avLst/>
          </a:prstGeom>
          <a:noFill/>
          <a:ln w="38100" algn="ctr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/>
          <p:cNvSpPr/>
          <p:nvPr/>
        </p:nvSpPr>
        <p:spPr bwMode="auto">
          <a:xfrm>
            <a:off x="4078288" y="1416050"/>
            <a:ext cx="3482975" cy="4154488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8439" name="椭圆 6"/>
          <p:cNvSpPr>
            <a:spLocks noChangeArrowheads="1"/>
          </p:cNvSpPr>
          <p:nvPr/>
        </p:nvSpPr>
        <p:spPr bwMode="auto">
          <a:xfrm>
            <a:off x="7637463" y="1404938"/>
            <a:ext cx="790575" cy="4154487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0" name="椭圆 7"/>
          <p:cNvSpPr>
            <a:spLocks noChangeArrowheads="1"/>
          </p:cNvSpPr>
          <p:nvPr/>
        </p:nvSpPr>
        <p:spPr bwMode="auto">
          <a:xfrm>
            <a:off x="8999538" y="1411288"/>
            <a:ext cx="1671637" cy="4176712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D0F1FA-94CD-4876-9EAB-2758522C058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功能部件</a:t>
            </a:r>
            <a:endParaRPr lang="zh-CN" altLang="en-US" smtClean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+mn-ea"/>
              </a:rPr>
              <a:t>定点补码加法器设计</a:t>
            </a:r>
            <a:endParaRPr lang="zh-CN" altLang="en-US" sz="2400" dirty="0" smtClean="0">
              <a:latin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+mn-ea"/>
              </a:rPr>
              <a:t>定点</a:t>
            </a:r>
            <a:r>
              <a:rPr lang="en-US" altLang="zh-CN" sz="2400" dirty="0" smtClean="0">
                <a:latin typeface="+mn-ea"/>
              </a:rPr>
              <a:t>ALU</a:t>
            </a:r>
            <a:r>
              <a:rPr lang="zh-CN" altLang="en-US" sz="2400" dirty="0" smtClean="0">
                <a:latin typeface="+mn-ea"/>
              </a:rPr>
              <a:t>设计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+mn-ea"/>
              </a:rPr>
              <a:t>定点补码乘法器的设计</a:t>
            </a:r>
            <a:endParaRPr lang="zh-CN" altLang="en-US" sz="2400" dirty="0" smtClean="0">
              <a:latin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7B6CB1F-1915-41A4-8B98-F13C38DEF1B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895600"/>
            <a:ext cx="10361613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定点补码加法器设计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1787ADC-E7F0-4DAE-8C6F-737E5114800E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914400" y="0"/>
            <a:ext cx="10361613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4000" dirty="0" smtClean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2" charset="-122"/>
              </a:rPr>
              <a:t>一</a:t>
            </a:r>
            <a:r>
              <a:rPr lang="zh-CN" altLang="en-US" sz="40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2" charset="-122"/>
              </a:rPr>
              <a:t>位全加器</a:t>
            </a:r>
            <a:endParaRPr lang="zh-CN" altLang="en-US" sz="40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2" charset="-122"/>
            </a:endParaRPr>
          </a:p>
        </p:txBody>
      </p:sp>
      <p:sp>
        <p:nvSpPr>
          <p:cNvPr id="43012" name="Rectangle 3"/>
          <p:cNvSpPr/>
          <p:nvPr/>
        </p:nvSpPr>
        <p:spPr>
          <a:xfrm>
            <a:off x="534988" y="1243013"/>
            <a:ext cx="10774362" cy="2028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60680" indent="-360680">
              <a:lnSpc>
                <a:spcPct val="150000"/>
              </a:lnSpc>
              <a:spcBef>
                <a:spcPts val="600"/>
              </a:spcBef>
              <a:buFont typeface="Arial" panose="02080604020202020204" pitchFamily="34" charset="0"/>
              <a:buChar char="•"/>
              <a:defRPr/>
            </a:pPr>
            <a:r>
              <a:rPr lang="zh-CN" altLang="en-US" sz="2000" b="1" dirty="0">
                <a:latin typeface="+mn-ea"/>
              </a:rPr>
              <a:t>一位全加器：输入</a:t>
            </a:r>
            <a:r>
              <a:rPr lang="en-US" altLang="zh-CN" sz="2000" b="1" dirty="0">
                <a:latin typeface="+mn-ea"/>
              </a:rPr>
              <a:t>A, B, </a:t>
            </a:r>
            <a:r>
              <a:rPr lang="en-US" altLang="zh-CN" sz="2000" b="1" dirty="0" err="1">
                <a:latin typeface="+mn-ea"/>
              </a:rPr>
              <a:t>Cin</a:t>
            </a:r>
            <a:r>
              <a:rPr lang="zh-CN" altLang="en-US" sz="2000" b="1" dirty="0">
                <a:latin typeface="+mn-ea"/>
              </a:rPr>
              <a:t>；输出</a:t>
            </a:r>
            <a:r>
              <a:rPr lang="en-US" altLang="zh-CN" sz="2000" b="1" dirty="0">
                <a:latin typeface="+mn-ea"/>
              </a:rPr>
              <a:t>S, </a:t>
            </a:r>
            <a:r>
              <a:rPr lang="en-US" altLang="zh-CN" sz="2000" b="1" dirty="0" err="1">
                <a:latin typeface="+mn-ea"/>
              </a:rPr>
              <a:t>Cout</a:t>
            </a:r>
            <a:endParaRPr lang="en-US" altLang="zh-CN" sz="2000" b="1" dirty="0">
              <a:latin typeface="+mn-ea"/>
            </a:endParaRPr>
          </a:p>
          <a:p>
            <a:pPr marL="720725" lvl="1" indent="-360045">
              <a:lnSpc>
                <a:spcPct val="150000"/>
              </a:lnSpc>
              <a:spcBef>
                <a:spcPts val="600"/>
              </a:spcBef>
              <a:buFont typeface="Arial" panose="02080604020202020204" pitchFamily="34" charset="0"/>
              <a:buChar char="•"/>
              <a:defRPr/>
            </a:pPr>
            <a:r>
              <a:rPr lang="en-US" altLang="zh-CN" sz="1600" b="1" dirty="0">
                <a:latin typeface="+mn-ea"/>
              </a:rPr>
              <a:t>S    = ^A*^B*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+ ^A*B*^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+ A*^B*^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+ A*B*</a:t>
            </a:r>
            <a:r>
              <a:rPr lang="en-US" altLang="zh-CN" sz="1600" b="1" dirty="0" err="1">
                <a:latin typeface="+mn-ea"/>
              </a:rPr>
              <a:t>Cin</a:t>
            </a:r>
            <a:endParaRPr lang="en-US" altLang="zh-CN" sz="1600" b="1" dirty="0">
              <a:latin typeface="+mn-ea"/>
            </a:endParaRPr>
          </a:p>
          <a:p>
            <a:pPr marL="720725" lvl="1" indent="-360045">
              <a:lnSpc>
                <a:spcPct val="150000"/>
              </a:lnSpc>
              <a:spcBef>
                <a:spcPts val="600"/>
              </a:spcBef>
              <a:buFont typeface="Arial" panose="02080604020202020204" pitchFamily="34" charset="0"/>
              <a:buChar char="•"/>
              <a:defRPr/>
            </a:pP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= ^A*B*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+ A*^B*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+ A*B*^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+ A*B*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= A*B + A*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+ B*</a:t>
            </a:r>
            <a:r>
              <a:rPr lang="en-US" altLang="zh-CN" sz="1600" b="1" dirty="0" err="1">
                <a:latin typeface="+mn-ea"/>
              </a:rPr>
              <a:t>Cin</a:t>
            </a:r>
            <a:endParaRPr lang="en-US" altLang="zh-CN" sz="1600" b="1" dirty="0">
              <a:latin typeface="+mn-ea"/>
            </a:endParaRPr>
          </a:p>
          <a:p>
            <a:pPr marL="263525" indent="-360045">
              <a:lnSpc>
                <a:spcPct val="150000"/>
              </a:lnSpc>
              <a:spcBef>
                <a:spcPts val="600"/>
              </a:spcBef>
              <a:buFont typeface="Arial" panose="02080604020202020204" pitchFamily="34" charset="0"/>
              <a:buChar char="•"/>
              <a:defRPr/>
            </a:pPr>
            <a:r>
              <a:rPr lang="zh-CN" altLang="en-US" sz="1800" b="1" dirty="0">
                <a:latin typeface="+mn-ea"/>
              </a:rPr>
              <a:t>共</a:t>
            </a:r>
            <a:r>
              <a:rPr lang="en-US" altLang="zh-CN" sz="1800" b="1" dirty="0">
                <a:latin typeface="+mn-ea"/>
              </a:rPr>
              <a:t>56</a:t>
            </a:r>
            <a:r>
              <a:rPr lang="zh-CN" altLang="en-US" sz="1800" b="1" dirty="0">
                <a:latin typeface="+mn-ea"/>
              </a:rPr>
              <a:t>个晶体管</a:t>
            </a:r>
            <a:endParaRPr lang="en-US" altLang="zh-CN" sz="1800" b="1" dirty="0">
              <a:latin typeface="+mn-ea"/>
            </a:endParaRPr>
          </a:p>
        </p:txBody>
      </p:sp>
      <p:grpSp>
        <p:nvGrpSpPr>
          <p:cNvPr id="2" name="Group 152"/>
          <p:cNvGrpSpPr/>
          <p:nvPr/>
        </p:nvGrpSpPr>
        <p:grpSpPr bwMode="auto">
          <a:xfrm>
            <a:off x="5980113" y="3176588"/>
            <a:ext cx="5602287" cy="3286125"/>
            <a:chOff x="813" y="1709"/>
            <a:chExt cx="4364" cy="2359"/>
          </a:xfrm>
        </p:grpSpPr>
        <p:grpSp>
          <p:nvGrpSpPr>
            <p:cNvPr id="3" name="Group 52"/>
            <p:cNvGrpSpPr/>
            <p:nvPr/>
          </p:nvGrpSpPr>
          <p:grpSpPr bwMode="auto">
            <a:xfrm>
              <a:off x="1389" y="1966"/>
              <a:ext cx="277" cy="395"/>
              <a:chOff x="1605" y="1902"/>
              <a:chExt cx="277" cy="395"/>
            </a:xfrm>
          </p:grpSpPr>
          <p:grpSp>
            <p:nvGrpSpPr>
              <p:cNvPr id="4" name="Group 10"/>
              <p:cNvGrpSpPr/>
              <p:nvPr/>
            </p:nvGrpSpPr>
            <p:grpSpPr bwMode="auto">
              <a:xfrm>
                <a:off x="1605" y="1960"/>
                <a:ext cx="277" cy="337"/>
                <a:chOff x="3238" y="10820"/>
                <a:chExt cx="700" cy="1020"/>
              </a:xfrm>
            </p:grpSpPr>
            <p:sp>
              <p:nvSpPr>
                <p:cNvPr id="5262" name="Oval 11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63" name="Line 12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4" name="Rectangle 13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65" name="Line 14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6" name="Line 15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61" name="Oval 16"/>
              <p:cNvSpPr>
                <a:spLocks noChangeArrowheads="1"/>
              </p:cNvSpPr>
              <p:nvPr/>
            </p:nvSpPr>
            <p:spPr bwMode="auto"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grpSp>
          <p:nvGrpSpPr>
            <p:cNvPr id="5" name="Group 18"/>
            <p:cNvGrpSpPr/>
            <p:nvPr/>
          </p:nvGrpSpPr>
          <p:grpSpPr bwMode="auto">
            <a:xfrm>
              <a:off x="813" y="2584"/>
              <a:ext cx="277" cy="403"/>
              <a:chOff x="2025" y="2603"/>
              <a:chExt cx="277" cy="403"/>
            </a:xfrm>
          </p:grpSpPr>
          <p:grpSp>
            <p:nvGrpSpPr>
              <p:cNvPr id="6" name="Group 19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55" name="Oval 20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56" name="Line 21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7" name="Rectangle 22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58" name="Line 23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9" name="Line 24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54" name="Oval 25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grpSp>
          <p:nvGrpSpPr>
            <p:cNvPr id="7" name="Group 26"/>
            <p:cNvGrpSpPr/>
            <p:nvPr/>
          </p:nvGrpSpPr>
          <p:grpSpPr bwMode="auto">
            <a:xfrm>
              <a:off x="1975" y="2577"/>
              <a:ext cx="277" cy="403"/>
              <a:chOff x="2025" y="2603"/>
              <a:chExt cx="277" cy="403"/>
            </a:xfrm>
          </p:grpSpPr>
          <p:grpSp>
            <p:nvGrpSpPr>
              <p:cNvPr id="8" name="Group 27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48" name="Oval 28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49" name="Line 29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0" name="Rectangle 30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51" name="Line 31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2" name="Line 32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47" name="Oval 33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grpSp>
          <p:nvGrpSpPr>
            <p:cNvPr id="9" name="Group 34"/>
            <p:cNvGrpSpPr/>
            <p:nvPr/>
          </p:nvGrpSpPr>
          <p:grpSpPr bwMode="auto">
            <a:xfrm>
              <a:off x="1587" y="2580"/>
              <a:ext cx="277" cy="403"/>
              <a:chOff x="2025" y="2603"/>
              <a:chExt cx="277" cy="403"/>
            </a:xfrm>
          </p:grpSpPr>
          <p:grpSp>
            <p:nvGrpSpPr>
              <p:cNvPr id="10" name="Group 35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41" name="Oval 36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42" name="Line 37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3" name="Rectangle 38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44" name="Line 39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5" name="Line 40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40" name="Oval 41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grpSp>
          <p:nvGrpSpPr>
            <p:cNvPr id="11" name="Group 42"/>
            <p:cNvGrpSpPr/>
            <p:nvPr/>
          </p:nvGrpSpPr>
          <p:grpSpPr bwMode="auto">
            <a:xfrm>
              <a:off x="1200" y="2574"/>
              <a:ext cx="277" cy="403"/>
              <a:chOff x="2025" y="2603"/>
              <a:chExt cx="277" cy="403"/>
            </a:xfrm>
          </p:grpSpPr>
          <p:grpSp>
            <p:nvGrpSpPr>
              <p:cNvPr id="12" name="Group 43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34" name="Oval 44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35" name="Line 45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6" name="Rectangle 46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37" name="Line 47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8" name="Line 48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33" name="Oval 49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grpSp>
          <p:nvGrpSpPr>
            <p:cNvPr id="13" name="Group 54"/>
            <p:cNvGrpSpPr/>
            <p:nvPr/>
          </p:nvGrpSpPr>
          <p:grpSpPr bwMode="auto">
            <a:xfrm>
              <a:off x="3047" y="1958"/>
              <a:ext cx="277" cy="403"/>
              <a:chOff x="2025" y="2603"/>
              <a:chExt cx="277" cy="403"/>
            </a:xfrm>
          </p:grpSpPr>
          <p:grpSp>
            <p:nvGrpSpPr>
              <p:cNvPr id="14" name="Group 55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27" name="Oval 56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28" name="Line 57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9" name="Rectangle 58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30" name="Line 59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1" name="Line 60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26" name="Oval 61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grpSp>
          <p:nvGrpSpPr>
            <p:cNvPr id="15" name="Group 62"/>
            <p:cNvGrpSpPr/>
            <p:nvPr/>
          </p:nvGrpSpPr>
          <p:grpSpPr bwMode="auto">
            <a:xfrm>
              <a:off x="3049" y="2577"/>
              <a:ext cx="277" cy="403"/>
              <a:chOff x="2025" y="2603"/>
              <a:chExt cx="277" cy="403"/>
            </a:xfrm>
          </p:grpSpPr>
          <p:grpSp>
            <p:nvGrpSpPr>
              <p:cNvPr id="16" name="Group 63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20" name="Oval 64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21" name="Line 65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2" name="Rectangle 66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23" name="Line 67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4" name="Line 68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19" name="Oval 69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grpSp>
          <p:nvGrpSpPr>
            <p:cNvPr id="17" name="Group 70"/>
            <p:cNvGrpSpPr/>
            <p:nvPr/>
          </p:nvGrpSpPr>
          <p:grpSpPr bwMode="auto">
            <a:xfrm>
              <a:off x="3433" y="2564"/>
              <a:ext cx="277" cy="403"/>
              <a:chOff x="2025" y="2603"/>
              <a:chExt cx="277" cy="403"/>
            </a:xfrm>
          </p:grpSpPr>
          <p:grpSp>
            <p:nvGrpSpPr>
              <p:cNvPr id="18" name="Group 71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13" name="Oval 72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14" name="Line 73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15" name="Rectangle 74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16" name="Line 75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17" name="Line 76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12" name="Oval 77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grpSp>
          <p:nvGrpSpPr>
            <p:cNvPr id="19" name="Group 78"/>
            <p:cNvGrpSpPr/>
            <p:nvPr/>
          </p:nvGrpSpPr>
          <p:grpSpPr bwMode="auto">
            <a:xfrm>
              <a:off x="2672" y="2582"/>
              <a:ext cx="277" cy="403"/>
              <a:chOff x="2025" y="2603"/>
              <a:chExt cx="277" cy="403"/>
            </a:xfrm>
          </p:grpSpPr>
          <p:grpSp>
            <p:nvGrpSpPr>
              <p:cNvPr id="20" name="Group 79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06" name="Oval 80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07" name="Line 81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08" name="Rectangle 82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209" name="Line 83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10" name="Line 84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05" name="Oval 85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sp>
          <p:nvSpPr>
            <p:cNvPr id="5138" name="Line 86"/>
            <p:cNvSpPr>
              <a:spLocks noChangeShapeType="1"/>
            </p:cNvSpPr>
            <p:nvPr/>
          </p:nvSpPr>
          <p:spPr bwMode="auto">
            <a:xfrm flipV="1">
              <a:off x="851" y="3788"/>
              <a:ext cx="35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9" name="Line 87"/>
            <p:cNvSpPr>
              <a:spLocks noChangeShapeType="1"/>
            </p:cNvSpPr>
            <p:nvPr/>
          </p:nvSpPr>
          <p:spPr bwMode="auto">
            <a:xfrm flipV="1">
              <a:off x="1259" y="3721"/>
              <a:ext cx="337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0" name="Line 88"/>
            <p:cNvSpPr>
              <a:spLocks noChangeShapeType="1"/>
            </p:cNvSpPr>
            <p:nvPr/>
          </p:nvSpPr>
          <p:spPr bwMode="auto">
            <a:xfrm flipV="1">
              <a:off x="1628" y="3638"/>
              <a:ext cx="33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1" name="Line 89"/>
            <p:cNvSpPr>
              <a:spLocks noChangeShapeType="1"/>
            </p:cNvSpPr>
            <p:nvPr/>
          </p:nvSpPr>
          <p:spPr bwMode="auto">
            <a:xfrm>
              <a:off x="851" y="2979"/>
              <a:ext cx="0" cy="8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2" name="Line 90"/>
            <p:cNvSpPr>
              <a:spLocks noChangeShapeType="1"/>
            </p:cNvSpPr>
            <p:nvPr/>
          </p:nvSpPr>
          <p:spPr bwMode="auto">
            <a:xfrm>
              <a:off x="2030" y="2982"/>
              <a:ext cx="0" cy="8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3" name="Line 91"/>
            <p:cNvSpPr>
              <a:spLocks noChangeShapeType="1"/>
            </p:cNvSpPr>
            <p:nvPr/>
          </p:nvSpPr>
          <p:spPr bwMode="auto">
            <a:xfrm>
              <a:off x="2739" y="2982"/>
              <a:ext cx="0" cy="8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4" name="Line 92"/>
            <p:cNvSpPr>
              <a:spLocks noChangeShapeType="1"/>
            </p:cNvSpPr>
            <p:nvPr/>
          </p:nvSpPr>
          <p:spPr bwMode="auto">
            <a:xfrm>
              <a:off x="3113" y="2980"/>
              <a:ext cx="0" cy="8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5" name="Line 93"/>
            <p:cNvSpPr>
              <a:spLocks noChangeShapeType="1"/>
            </p:cNvSpPr>
            <p:nvPr/>
          </p:nvSpPr>
          <p:spPr bwMode="auto">
            <a:xfrm flipV="1">
              <a:off x="1256" y="2971"/>
              <a:ext cx="0" cy="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6" name="Line 94"/>
            <p:cNvSpPr>
              <a:spLocks noChangeShapeType="1"/>
            </p:cNvSpPr>
            <p:nvPr/>
          </p:nvSpPr>
          <p:spPr bwMode="auto">
            <a:xfrm flipV="1">
              <a:off x="2116" y="2974"/>
              <a:ext cx="0" cy="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7" name="Line 95"/>
            <p:cNvSpPr>
              <a:spLocks noChangeShapeType="1"/>
            </p:cNvSpPr>
            <p:nvPr/>
          </p:nvSpPr>
          <p:spPr bwMode="auto">
            <a:xfrm flipV="1">
              <a:off x="2874" y="2969"/>
              <a:ext cx="0" cy="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8" name="Line 96"/>
            <p:cNvSpPr>
              <a:spLocks noChangeShapeType="1"/>
            </p:cNvSpPr>
            <p:nvPr/>
          </p:nvSpPr>
          <p:spPr bwMode="auto">
            <a:xfrm flipV="1">
              <a:off x="3498" y="2961"/>
              <a:ext cx="0" cy="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9" name="Line 97"/>
            <p:cNvSpPr>
              <a:spLocks noChangeShapeType="1"/>
            </p:cNvSpPr>
            <p:nvPr/>
          </p:nvSpPr>
          <p:spPr bwMode="auto">
            <a:xfrm flipV="1">
              <a:off x="1631" y="2971"/>
              <a:ext cx="0" cy="6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0" name="Line 98"/>
            <p:cNvSpPr>
              <a:spLocks noChangeShapeType="1"/>
            </p:cNvSpPr>
            <p:nvPr/>
          </p:nvSpPr>
          <p:spPr bwMode="auto">
            <a:xfrm flipV="1">
              <a:off x="2203" y="2966"/>
              <a:ext cx="0" cy="6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1" name="Line 99"/>
            <p:cNvSpPr>
              <a:spLocks noChangeShapeType="1"/>
            </p:cNvSpPr>
            <p:nvPr/>
          </p:nvSpPr>
          <p:spPr bwMode="auto">
            <a:xfrm flipV="1">
              <a:off x="3265" y="2961"/>
              <a:ext cx="0" cy="6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2" name="Line 100"/>
            <p:cNvSpPr>
              <a:spLocks noChangeShapeType="1"/>
            </p:cNvSpPr>
            <p:nvPr/>
          </p:nvSpPr>
          <p:spPr bwMode="auto">
            <a:xfrm flipV="1">
              <a:off x="3658" y="2963"/>
              <a:ext cx="0" cy="6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3" name="Line 101"/>
            <p:cNvSpPr>
              <a:spLocks noChangeShapeType="1"/>
            </p:cNvSpPr>
            <p:nvPr/>
          </p:nvSpPr>
          <p:spPr bwMode="auto">
            <a:xfrm flipV="1">
              <a:off x="952" y="3189"/>
              <a:ext cx="39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4" name="Line 102"/>
            <p:cNvSpPr>
              <a:spLocks noChangeShapeType="1"/>
            </p:cNvSpPr>
            <p:nvPr/>
          </p:nvSpPr>
          <p:spPr bwMode="auto">
            <a:xfrm flipV="1">
              <a:off x="1342" y="2971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5" name="Line 103"/>
            <p:cNvSpPr>
              <a:spLocks noChangeShapeType="1"/>
            </p:cNvSpPr>
            <p:nvPr/>
          </p:nvSpPr>
          <p:spPr bwMode="auto">
            <a:xfrm flipV="1">
              <a:off x="955" y="2973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6" name="Line 104"/>
            <p:cNvSpPr>
              <a:spLocks noChangeShapeType="1"/>
            </p:cNvSpPr>
            <p:nvPr/>
          </p:nvSpPr>
          <p:spPr bwMode="auto">
            <a:xfrm flipV="1">
              <a:off x="1039" y="3121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7" name="Line 105"/>
            <p:cNvSpPr>
              <a:spLocks noChangeShapeType="1"/>
            </p:cNvSpPr>
            <p:nvPr/>
          </p:nvSpPr>
          <p:spPr bwMode="auto">
            <a:xfrm flipV="1">
              <a:off x="1424" y="3046"/>
              <a:ext cx="29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8" name="Line 106"/>
            <p:cNvSpPr>
              <a:spLocks noChangeShapeType="1"/>
            </p:cNvSpPr>
            <p:nvPr/>
          </p:nvSpPr>
          <p:spPr bwMode="auto">
            <a:xfrm flipV="1">
              <a:off x="1038" y="2979"/>
              <a:ext cx="0" cy="1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9" name="Line 107"/>
            <p:cNvSpPr>
              <a:spLocks noChangeShapeType="1"/>
            </p:cNvSpPr>
            <p:nvPr/>
          </p:nvSpPr>
          <p:spPr bwMode="auto">
            <a:xfrm flipV="1">
              <a:off x="1724" y="2974"/>
              <a:ext cx="0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0" name="Line 108"/>
            <p:cNvSpPr>
              <a:spLocks noChangeShapeType="1"/>
            </p:cNvSpPr>
            <p:nvPr/>
          </p:nvSpPr>
          <p:spPr bwMode="auto">
            <a:xfrm flipV="1">
              <a:off x="1420" y="2971"/>
              <a:ext cx="0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1" name="Line 109"/>
            <p:cNvSpPr>
              <a:spLocks noChangeShapeType="1"/>
            </p:cNvSpPr>
            <p:nvPr/>
          </p:nvSpPr>
          <p:spPr bwMode="auto">
            <a:xfrm flipV="1">
              <a:off x="1803" y="2981"/>
              <a:ext cx="0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" name="Group 111"/>
            <p:cNvGrpSpPr/>
            <p:nvPr/>
          </p:nvGrpSpPr>
          <p:grpSpPr bwMode="auto">
            <a:xfrm>
              <a:off x="4233" y="3275"/>
              <a:ext cx="218" cy="639"/>
              <a:chOff x="4457" y="3211"/>
              <a:chExt cx="218" cy="639"/>
            </a:xfrm>
          </p:grpSpPr>
          <p:grpSp>
            <p:nvGrpSpPr>
              <p:cNvPr id="22" name="Group 53"/>
              <p:cNvGrpSpPr/>
              <p:nvPr/>
            </p:nvGrpSpPr>
            <p:grpSpPr bwMode="auto">
              <a:xfrm>
                <a:off x="4457" y="3211"/>
                <a:ext cx="218" cy="257"/>
                <a:chOff x="1169" y="3382"/>
                <a:chExt cx="218" cy="257"/>
              </a:xfrm>
            </p:grpSpPr>
            <p:sp>
              <p:nvSpPr>
                <p:cNvPr id="5202" name="AutoShape 50"/>
                <p:cNvSpPr>
                  <a:spLocks noChangeArrowheads="1"/>
                </p:cNvSpPr>
                <p:nvPr/>
              </p:nvSpPr>
              <p:spPr bwMode="auto"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203" name="Oval 51"/>
                <p:cNvSpPr>
                  <a:spLocks noChangeArrowheads="1"/>
                </p:cNvSpPr>
                <p:nvPr/>
              </p:nvSpPr>
              <p:spPr bwMode="auto"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5201" name="Line 110"/>
              <p:cNvSpPr>
                <a:spLocks noChangeShapeType="1"/>
              </p:cNvSpPr>
              <p:nvPr/>
            </p:nvSpPr>
            <p:spPr bwMode="auto">
              <a:xfrm>
                <a:off x="4574" y="3468"/>
                <a:ext cx="0" cy="3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Group 112"/>
            <p:cNvGrpSpPr/>
            <p:nvPr/>
          </p:nvGrpSpPr>
          <p:grpSpPr bwMode="auto">
            <a:xfrm>
              <a:off x="4516" y="3277"/>
              <a:ext cx="218" cy="639"/>
              <a:chOff x="4457" y="3211"/>
              <a:chExt cx="218" cy="639"/>
            </a:xfrm>
          </p:grpSpPr>
          <p:grpSp>
            <p:nvGrpSpPr>
              <p:cNvPr id="24" name="Group 113"/>
              <p:cNvGrpSpPr/>
              <p:nvPr/>
            </p:nvGrpSpPr>
            <p:grpSpPr bwMode="auto">
              <a:xfrm>
                <a:off x="4457" y="3211"/>
                <a:ext cx="218" cy="257"/>
                <a:chOff x="1169" y="3382"/>
                <a:chExt cx="218" cy="257"/>
              </a:xfrm>
            </p:grpSpPr>
            <p:sp>
              <p:nvSpPr>
                <p:cNvPr id="5198" name="AutoShape 114"/>
                <p:cNvSpPr>
                  <a:spLocks noChangeArrowheads="1"/>
                </p:cNvSpPr>
                <p:nvPr/>
              </p:nvSpPr>
              <p:spPr bwMode="auto"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199" name="Oval 115"/>
                <p:cNvSpPr>
                  <a:spLocks noChangeArrowheads="1"/>
                </p:cNvSpPr>
                <p:nvPr/>
              </p:nvSpPr>
              <p:spPr bwMode="auto"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5197" name="Line 116"/>
              <p:cNvSpPr>
                <a:spLocks noChangeShapeType="1"/>
              </p:cNvSpPr>
              <p:nvPr/>
            </p:nvSpPr>
            <p:spPr bwMode="auto">
              <a:xfrm>
                <a:off x="4574" y="3468"/>
                <a:ext cx="0" cy="3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" name="Group 117"/>
            <p:cNvGrpSpPr/>
            <p:nvPr/>
          </p:nvGrpSpPr>
          <p:grpSpPr bwMode="auto">
            <a:xfrm>
              <a:off x="4814" y="3273"/>
              <a:ext cx="218" cy="639"/>
              <a:chOff x="4457" y="3211"/>
              <a:chExt cx="218" cy="639"/>
            </a:xfrm>
          </p:grpSpPr>
          <p:grpSp>
            <p:nvGrpSpPr>
              <p:cNvPr id="26" name="Group 118"/>
              <p:cNvGrpSpPr/>
              <p:nvPr/>
            </p:nvGrpSpPr>
            <p:grpSpPr bwMode="auto">
              <a:xfrm>
                <a:off x="4457" y="3211"/>
                <a:ext cx="218" cy="257"/>
                <a:chOff x="1169" y="3382"/>
                <a:chExt cx="218" cy="257"/>
              </a:xfrm>
            </p:grpSpPr>
            <p:sp>
              <p:nvSpPr>
                <p:cNvPr id="5194" name="AutoShape 119"/>
                <p:cNvSpPr>
                  <a:spLocks noChangeArrowheads="1"/>
                </p:cNvSpPr>
                <p:nvPr/>
              </p:nvSpPr>
              <p:spPr bwMode="auto"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195" name="Oval 120"/>
                <p:cNvSpPr>
                  <a:spLocks noChangeArrowheads="1"/>
                </p:cNvSpPr>
                <p:nvPr/>
              </p:nvSpPr>
              <p:spPr bwMode="auto"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5193" name="Line 121"/>
              <p:cNvSpPr>
                <a:spLocks noChangeShapeType="1"/>
              </p:cNvSpPr>
              <p:nvPr/>
            </p:nvSpPr>
            <p:spPr bwMode="auto">
              <a:xfrm>
                <a:off x="4574" y="3468"/>
                <a:ext cx="0" cy="3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65" name="Text Box 122"/>
            <p:cNvSpPr txBox="1">
              <a:spLocks noChangeArrowheads="1"/>
            </p:cNvSpPr>
            <p:nvPr/>
          </p:nvSpPr>
          <p:spPr bwMode="auto">
            <a:xfrm>
              <a:off x="4249" y="3880"/>
              <a:ext cx="928" cy="1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100"/>
                <a:t>A      B       Cin</a:t>
              </a:r>
              <a:endParaRPr lang="en-US" altLang="zh-CN" sz="1600"/>
            </a:p>
          </p:txBody>
        </p:sp>
        <p:sp>
          <p:nvSpPr>
            <p:cNvPr id="5166" name="Line 123"/>
            <p:cNvSpPr>
              <a:spLocks noChangeShapeType="1"/>
            </p:cNvSpPr>
            <p:nvPr/>
          </p:nvSpPr>
          <p:spPr bwMode="auto">
            <a:xfrm flipV="1">
              <a:off x="4343" y="3049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7" name="Line 124"/>
            <p:cNvSpPr>
              <a:spLocks noChangeShapeType="1"/>
            </p:cNvSpPr>
            <p:nvPr/>
          </p:nvSpPr>
          <p:spPr bwMode="auto">
            <a:xfrm flipV="1">
              <a:off x="4631" y="3119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8" name="Line 125"/>
            <p:cNvSpPr>
              <a:spLocks noChangeShapeType="1"/>
            </p:cNvSpPr>
            <p:nvPr/>
          </p:nvSpPr>
          <p:spPr bwMode="auto">
            <a:xfrm flipV="1">
              <a:off x="4935" y="3189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9" name="Line 126"/>
            <p:cNvSpPr>
              <a:spLocks noChangeShapeType="1"/>
            </p:cNvSpPr>
            <p:nvPr/>
          </p:nvSpPr>
          <p:spPr bwMode="auto">
            <a:xfrm flipV="1">
              <a:off x="3189" y="2355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0" name="Line 127"/>
            <p:cNvSpPr>
              <a:spLocks noChangeShapeType="1"/>
            </p:cNvSpPr>
            <p:nvPr/>
          </p:nvSpPr>
          <p:spPr bwMode="auto">
            <a:xfrm flipV="1">
              <a:off x="1342" y="2503"/>
              <a:ext cx="0" cy="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1" name="Line 128"/>
            <p:cNvSpPr>
              <a:spLocks noChangeShapeType="1"/>
            </p:cNvSpPr>
            <p:nvPr/>
          </p:nvSpPr>
          <p:spPr bwMode="auto">
            <a:xfrm flipV="1">
              <a:off x="1734" y="2513"/>
              <a:ext cx="0" cy="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2" name="Line 129"/>
            <p:cNvSpPr>
              <a:spLocks noChangeShapeType="1"/>
            </p:cNvSpPr>
            <p:nvPr/>
          </p:nvSpPr>
          <p:spPr bwMode="auto">
            <a:xfrm flipV="1">
              <a:off x="1342" y="2511"/>
              <a:ext cx="1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3" name="Line 130"/>
            <p:cNvSpPr>
              <a:spLocks noChangeShapeType="1"/>
            </p:cNvSpPr>
            <p:nvPr/>
          </p:nvSpPr>
          <p:spPr bwMode="auto">
            <a:xfrm flipV="1">
              <a:off x="1586" y="2513"/>
              <a:ext cx="1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4" name="Line 131"/>
            <p:cNvSpPr>
              <a:spLocks noChangeShapeType="1"/>
            </p:cNvSpPr>
            <p:nvPr/>
          </p:nvSpPr>
          <p:spPr bwMode="auto">
            <a:xfrm flipV="1">
              <a:off x="1483" y="2355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5" name="Line 132"/>
            <p:cNvSpPr>
              <a:spLocks noChangeShapeType="1"/>
            </p:cNvSpPr>
            <p:nvPr/>
          </p:nvSpPr>
          <p:spPr bwMode="auto">
            <a:xfrm flipV="1">
              <a:off x="1579" y="2355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6" name="Line 133"/>
            <p:cNvSpPr>
              <a:spLocks noChangeShapeType="1"/>
            </p:cNvSpPr>
            <p:nvPr/>
          </p:nvSpPr>
          <p:spPr bwMode="auto">
            <a:xfrm flipV="1">
              <a:off x="953" y="2449"/>
              <a:ext cx="0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7" name="Line 134"/>
            <p:cNvSpPr>
              <a:spLocks noChangeShapeType="1"/>
            </p:cNvSpPr>
            <p:nvPr/>
          </p:nvSpPr>
          <p:spPr bwMode="auto">
            <a:xfrm flipV="1">
              <a:off x="2124" y="2444"/>
              <a:ext cx="0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8" name="Line 135"/>
            <p:cNvSpPr>
              <a:spLocks noChangeShapeType="1"/>
            </p:cNvSpPr>
            <p:nvPr/>
          </p:nvSpPr>
          <p:spPr bwMode="auto">
            <a:xfrm>
              <a:off x="953" y="2456"/>
              <a:ext cx="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9" name="Line 136"/>
            <p:cNvSpPr>
              <a:spLocks noChangeShapeType="1"/>
            </p:cNvSpPr>
            <p:nvPr/>
          </p:nvSpPr>
          <p:spPr bwMode="auto">
            <a:xfrm>
              <a:off x="1648" y="2451"/>
              <a:ext cx="4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0" name="Line 137"/>
            <p:cNvSpPr>
              <a:spLocks noChangeShapeType="1"/>
            </p:cNvSpPr>
            <p:nvPr/>
          </p:nvSpPr>
          <p:spPr bwMode="auto">
            <a:xfrm flipV="1">
              <a:off x="1405" y="2355"/>
              <a:ext cx="0" cy="1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" name="Line 138"/>
            <p:cNvSpPr>
              <a:spLocks noChangeShapeType="1"/>
            </p:cNvSpPr>
            <p:nvPr/>
          </p:nvSpPr>
          <p:spPr bwMode="auto">
            <a:xfrm flipV="1">
              <a:off x="1649" y="2350"/>
              <a:ext cx="0" cy="1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2" name="Line 139"/>
            <p:cNvSpPr>
              <a:spLocks noChangeShapeType="1"/>
            </p:cNvSpPr>
            <p:nvPr/>
          </p:nvSpPr>
          <p:spPr bwMode="auto">
            <a:xfrm flipV="1">
              <a:off x="2818" y="2450"/>
              <a:ext cx="0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3" name="Line 140"/>
            <p:cNvSpPr>
              <a:spLocks noChangeShapeType="1"/>
            </p:cNvSpPr>
            <p:nvPr/>
          </p:nvSpPr>
          <p:spPr bwMode="auto">
            <a:xfrm flipV="1">
              <a:off x="3576" y="2445"/>
              <a:ext cx="0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4" name="Line 141"/>
            <p:cNvSpPr>
              <a:spLocks noChangeShapeType="1"/>
            </p:cNvSpPr>
            <p:nvPr/>
          </p:nvSpPr>
          <p:spPr bwMode="auto">
            <a:xfrm flipV="1">
              <a:off x="2819" y="2453"/>
              <a:ext cx="2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5" name="Line 142"/>
            <p:cNvSpPr>
              <a:spLocks noChangeShapeType="1"/>
            </p:cNvSpPr>
            <p:nvPr/>
          </p:nvSpPr>
          <p:spPr bwMode="auto">
            <a:xfrm>
              <a:off x="3281" y="2447"/>
              <a:ext cx="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6" name="Line 143"/>
            <p:cNvSpPr>
              <a:spLocks noChangeShapeType="1"/>
            </p:cNvSpPr>
            <p:nvPr/>
          </p:nvSpPr>
          <p:spPr bwMode="auto">
            <a:xfrm flipV="1">
              <a:off x="3096" y="2347"/>
              <a:ext cx="1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7" name="Line 144"/>
            <p:cNvSpPr>
              <a:spLocks noChangeShapeType="1"/>
            </p:cNvSpPr>
            <p:nvPr/>
          </p:nvSpPr>
          <p:spPr bwMode="auto">
            <a:xfrm flipH="1" flipV="1">
              <a:off x="3279" y="2358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8" name="Line 145"/>
            <p:cNvSpPr>
              <a:spLocks noChangeShapeType="1"/>
            </p:cNvSpPr>
            <p:nvPr/>
          </p:nvSpPr>
          <p:spPr bwMode="auto">
            <a:xfrm flipV="1">
              <a:off x="3191" y="1742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9" name="Line 146"/>
            <p:cNvSpPr>
              <a:spLocks noChangeShapeType="1"/>
            </p:cNvSpPr>
            <p:nvPr/>
          </p:nvSpPr>
          <p:spPr bwMode="auto">
            <a:xfrm flipV="1">
              <a:off x="1531" y="1750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0" name="Text Box 147"/>
            <p:cNvSpPr txBox="1">
              <a:spLocks noChangeArrowheads="1"/>
            </p:cNvSpPr>
            <p:nvPr/>
          </p:nvSpPr>
          <p:spPr bwMode="auto">
            <a:xfrm>
              <a:off x="1529" y="1709"/>
              <a:ext cx="179" cy="1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100"/>
                <a:t>S</a:t>
              </a:r>
              <a:endParaRPr lang="en-US" altLang="zh-CN" sz="1100"/>
            </a:p>
          </p:txBody>
        </p:sp>
        <p:sp>
          <p:nvSpPr>
            <p:cNvPr id="5191" name="Text Box 148"/>
            <p:cNvSpPr txBox="1">
              <a:spLocks noChangeArrowheads="1"/>
            </p:cNvSpPr>
            <p:nvPr/>
          </p:nvSpPr>
          <p:spPr bwMode="auto">
            <a:xfrm>
              <a:off x="3223" y="1712"/>
              <a:ext cx="390" cy="1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100"/>
                <a:t>Cout</a:t>
              </a:r>
              <a:endParaRPr lang="en-US" altLang="zh-CN" sz="1100"/>
            </a:p>
          </p:txBody>
        </p:sp>
      </p:grpSp>
      <p:sp>
        <p:nvSpPr>
          <p:cNvPr id="5127" name="TextBox 144"/>
          <p:cNvSpPr txBox="1">
            <a:spLocks noChangeArrowheads="1"/>
          </p:cNvSpPr>
          <p:nvPr/>
        </p:nvSpPr>
        <p:spPr bwMode="auto">
          <a:xfrm>
            <a:off x="1757363" y="6051550"/>
            <a:ext cx="2670175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1600"/>
              <a:t>真值表</a:t>
            </a:r>
            <a:endParaRPr lang="zh-CN" altLang="en-US" sz="1600"/>
          </a:p>
        </p:txBody>
      </p:sp>
      <p:sp>
        <p:nvSpPr>
          <p:cNvPr id="5128" name="TextBox 145"/>
          <p:cNvSpPr txBox="1">
            <a:spLocks noChangeArrowheads="1"/>
          </p:cNvSpPr>
          <p:nvPr/>
        </p:nvSpPr>
        <p:spPr bwMode="auto">
          <a:xfrm>
            <a:off x="6926263" y="6240463"/>
            <a:ext cx="2670175" cy="338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1600"/>
              <a:t>逻辑图</a:t>
            </a:r>
            <a:endParaRPr lang="zh-CN" altLang="en-US" sz="1600"/>
          </a:p>
        </p:txBody>
      </p:sp>
      <p:graphicFrame>
        <p:nvGraphicFramePr>
          <p:cNvPr id="27" name="表格 26"/>
          <p:cNvGraphicFramePr/>
          <p:nvPr/>
        </p:nvGraphicFramePr>
        <p:xfrm>
          <a:off x="1757680" y="3707765"/>
          <a:ext cx="3844925" cy="225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985"/>
                <a:gridCol w="768985"/>
                <a:gridCol w="768985"/>
                <a:gridCol w="768985"/>
                <a:gridCol w="768985"/>
              </a:tblGrid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A</a:t>
                      </a:r>
                      <a:endParaRPr lang="en-US" altLang="en-US" sz="1600" b="1">
                        <a:solidFill>
                          <a:schemeClr val="tx1"/>
                        </a:solidFill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B</a:t>
                      </a:r>
                      <a:endParaRPr lang="en-US" altLang="en-US" sz="1600" b="1">
                        <a:solidFill>
                          <a:schemeClr val="tx1"/>
                        </a:solidFill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Cin</a:t>
                      </a:r>
                      <a:endParaRPr lang="en-US" altLang="en-US" sz="1600" b="1">
                        <a:solidFill>
                          <a:schemeClr val="tx1"/>
                        </a:solidFill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S</a:t>
                      </a:r>
                      <a:endParaRPr lang="en-US" altLang="en-US" sz="1600" b="1">
                        <a:solidFill>
                          <a:schemeClr val="tx1"/>
                        </a:solidFill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Cout</a:t>
                      </a:r>
                      <a:endParaRPr lang="en-US" altLang="en-US" sz="1600" b="1">
                        <a:solidFill>
                          <a:schemeClr val="tx1"/>
                        </a:solidFill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8131" name="Rectangle 152"/>
          <p:cNvSpPr/>
          <p:nvPr/>
        </p:nvSpPr>
        <p:spPr>
          <a:xfrm>
            <a:off x="393700" y="2562225"/>
            <a:ext cx="6843713" cy="2390775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grpSp>
        <p:nvGrpSpPr>
          <p:cNvPr id="2" name="Group 151"/>
          <p:cNvGrpSpPr/>
          <p:nvPr/>
        </p:nvGrpSpPr>
        <p:grpSpPr>
          <a:xfrm>
            <a:off x="547688" y="2281238"/>
            <a:ext cx="6797675" cy="2962275"/>
            <a:chOff x="619" y="1413"/>
            <a:chExt cx="4364" cy="2367"/>
          </a:xfrm>
        </p:grpSpPr>
        <p:grpSp>
          <p:nvGrpSpPr>
            <p:cNvPr id="3" name="Group 3"/>
            <p:cNvGrpSpPr/>
            <p:nvPr/>
          </p:nvGrpSpPr>
          <p:grpSpPr>
            <a:xfrm>
              <a:off x="1195" y="1670"/>
              <a:ext cx="277" cy="395"/>
              <a:chOff x="1605" y="1902"/>
              <a:chExt cx="277" cy="395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1605" y="1960"/>
                <a:ext cx="277" cy="337"/>
                <a:chOff x="3238" y="10820"/>
                <a:chExt cx="700" cy="1020"/>
              </a:xfrm>
            </p:grpSpPr>
            <p:sp>
              <p:nvSpPr>
                <p:cNvPr id="48276" name="Oval 5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77" name="Line 6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78" name="Rectangle 7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79" name="Line 8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80" name="Line 9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275" name="Oval 10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" name="Group 11"/>
            <p:cNvGrpSpPr/>
            <p:nvPr/>
          </p:nvGrpSpPr>
          <p:grpSpPr>
            <a:xfrm>
              <a:off x="619" y="2288"/>
              <a:ext cx="277" cy="403"/>
              <a:chOff x="2025" y="2603"/>
              <a:chExt cx="277" cy="403"/>
            </a:xfrm>
          </p:grpSpPr>
          <p:grpSp>
            <p:nvGrpSpPr>
              <p:cNvPr id="6" name="Group 12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8269" name="Oval 13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70" name="Line 14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71" name="Rectangle 15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72" name="Line 16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73" name="Line 17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268" name="Oval 18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7" name="Group 19"/>
            <p:cNvGrpSpPr/>
            <p:nvPr/>
          </p:nvGrpSpPr>
          <p:grpSpPr>
            <a:xfrm>
              <a:off x="1781" y="2281"/>
              <a:ext cx="277" cy="403"/>
              <a:chOff x="2025" y="2603"/>
              <a:chExt cx="277" cy="403"/>
            </a:xfrm>
          </p:grpSpPr>
          <p:grpSp>
            <p:nvGrpSpPr>
              <p:cNvPr id="8" name="Group 20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8262" name="Oval 21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63" name="Line 22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64" name="Rectangle 23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65" name="Line 24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66" name="Line 25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261" name="Oval 26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9" name="Group 27"/>
            <p:cNvGrpSpPr/>
            <p:nvPr/>
          </p:nvGrpSpPr>
          <p:grpSpPr>
            <a:xfrm>
              <a:off x="1393" y="2284"/>
              <a:ext cx="277" cy="403"/>
              <a:chOff x="2025" y="2603"/>
              <a:chExt cx="277" cy="403"/>
            </a:xfrm>
          </p:grpSpPr>
          <p:grpSp>
            <p:nvGrpSpPr>
              <p:cNvPr id="10" name="Group 28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8255" name="Oval 29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56" name="Line 30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57" name="Rectangle 31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58" name="Line 32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59" name="Line 33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254" name="Oval 34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1" name="Group 35"/>
            <p:cNvGrpSpPr/>
            <p:nvPr/>
          </p:nvGrpSpPr>
          <p:grpSpPr>
            <a:xfrm>
              <a:off x="1006" y="2278"/>
              <a:ext cx="277" cy="403"/>
              <a:chOff x="2025" y="2603"/>
              <a:chExt cx="277" cy="403"/>
            </a:xfrm>
          </p:grpSpPr>
          <p:grpSp>
            <p:nvGrpSpPr>
              <p:cNvPr id="12" name="Group 36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8248" name="Oval 37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49" name="Line 38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50" name="Rectangle 39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51" name="Line 40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52" name="Line 41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247" name="Oval 42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3" name="Group 43"/>
            <p:cNvGrpSpPr/>
            <p:nvPr/>
          </p:nvGrpSpPr>
          <p:grpSpPr>
            <a:xfrm>
              <a:off x="2853" y="1662"/>
              <a:ext cx="277" cy="403"/>
              <a:chOff x="2025" y="2603"/>
              <a:chExt cx="277" cy="403"/>
            </a:xfrm>
          </p:grpSpPr>
          <p:grpSp>
            <p:nvGrpSpPr>
              <p:cNvPr id="14" name="Group 44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8241" name="Oval 45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42" name="Line 46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43" name="Rectangle 47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44" name="Line 48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45" name="Line 49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240" name="Oval 50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5" name="Group 51"/>
            <p:cNvGrpSpPr/>
            <p:nvPr/>
          </p:nvGrpSpPr>
          <p:grpSpPr>
            <a:xfrm>
              <a:off x="2855" y="2281"/>
              <a:ext cx="277" cy="403"/>
              <a:chOff x="2025" y="2603"/>
              <a:chExt cx="277" cy="403"/>
            </a:xfrm>
          </p:grpSpPr>
          <p:grpSp>
            <p:nvGrpSpPr>
              <p:cNvPr id="16" name="Group 52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8234" name="Oval 53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35" name="Line 54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36" name="Rectangle 55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37" name="Line 56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38" name="Line 57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233" name="Oval 58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7" name="Group 59"/>
            <p:cNvGrpSpPr/>
            <p:nvPr/>
          </p:nvGrpSpPr>
          <p:grpSpPr>
            <a:xfrm>
              <a:off x="3239" y="2268"/>
              <a:ext cx="277" cy="403"/>
              <a:chOff x="2025" y="2603"/>
              <a:chExt cx="277" cy="403"/>
            </a:xfrm>
          </p:grpSpPr>
          <p:grpSp>
            <p:nvGrpSpPr>
              <p:cNvPr id="18" name="Group 60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8227" name="Oval 61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28" name="Line 62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29" name="Rectangle 63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30" name="Line 64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31" name="Line 65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226" name="Oval 66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9" name="Group 67"/>
            <p:cNvGrpSpPr/>
            <p:nvPr/>
          </p:nvGrpSpPr>
          <p:grpSpPr>
            <a:xfrm>
              <a:off x="2478" y="2286"/>
              <a:ext cx="277" cy="403"/>
              <a:chOff x="2025" y="2603"/>
              <a:chExt cx="277" cy="403"/>
            </a:xfrm>
          </p:grpSpPr>
          <p:grpSp>
            <p:nvGrpSpPr>
              <p:cNvPr id="20" name="Group 68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8220" name="Oval 69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21" name="Line 70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22" name="Rectangle 71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23" name="Line 72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224" name="Line 73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219" name="Oval 74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48152" name="Line 75"/>
            <p:cNvSpPr/>
            <p:nvPr/>
          </p:nvSpPr>
          <p:spPr>
            <a:xfrm flipV="1">
              <a:off x="657" y="3492"/>
              <a:ext cx="350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3" name="Line 76"/>
            <p:cNvSpPr/>
            <p:nvPr/>
          </p:nvSpPr>
          <p:spPr>
            <a:xfrm flipV="1">
              <a:off x="1065" y="3425"/>
              <a:ext cx="337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4" name="Line 77"/>
            <p:cNvSpPr/>
            <p:nvPr/>
          </p:nvSpPr>
          <p:spPr>
            <a:xfrm flipV="1">
              <a:off x="1434" y="3342"/>
              <a:ext cx="330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5" name="Line 78"/>
            <p:cNvSpPr/>
            <p:nvPr/>
          </p:nvSpPr>
          <p:spPr>
            <a:xfrm>
              <a:off x="657" y="2683"/>
              <a:ext cx="0" cy="8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6" name="Line 79"/>
            <p:cNvSpPr/>
            <p:nvPr/>
          </p:nvSpPr>
          <p:spPr>
            <a:xfrm>
              <a:off x="1836" y="2686"/>
              <a:ext cx="0" cy="8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7" name="Line 80"/>
            <p:cNvSpPr/>
            <p:nvPr/>
          </p:nvSpPr>
          <p:spPr>
            <a:xfrm>
              <a:off x="2545" y="2686"/>
              <a:ext cx="0" cy="8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8" name="Line 81"/>
            <p:cNvSpPr/>
            <p:nvPr/>
          </p:nvSpPr>
          <p:spPr>
            <a:xfrm>
              <a:off x="2919" y="2684"/>
              <a:ext cx="0" cy="8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9" name="Line 82"/>
            <p:cNvSpPr/>
            <p:nvPr/>
          </p:nvSpPr>
          <p:spPr>
            <a:xfrm flipV="1">
              <a:off x="1062" y="2675"/>
              <a:ext cx="0" cy="7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0" name="Line 83"/>
            <p:cNvSpPr/>
            <p:nvPr/>
          </p:nvSpPr>
          <p:spPr>
            <a:xfrm flipV="1">
              <a:off x="1922" y="2678"/>
              <a:ext cx="0" cy="7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1" name="Line 84"/>
            <p:cNvSpPr/>
            <p:nvPr/>
          </p:nvSpPr>
          <p:spPr>
            <a:xfrm flipV="1">
              <a:off x="2680" y="2673"/>
              <a:ext cx="0" cy="7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2" name="Line 85"/>
            <p:cNvSpPr/>
            <p:nvPr/>
          </p:nvSpPr>
          <p:spPr>
            <a:xfrm flipV="1">
              <a:off x="3304" y="2665"/>
              <a:ext cx="0" cy="7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3" name="Line 86"/>
            <p:cNvSpPr/>
            <p:nvPr/>
          </p:nvSpPr>
          <p:spPr>
            <a:xfrm flipV="1">
              <a:off x="1437" y="2675"/>
              <a:ext cx="0" cy="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4" name="Line 87"/>
            <p:cNvSpPr/>
            <p:nvPr/>
          </p:nvSpPr>
          <p:spPr>
            <a:xfrm flipV="1">
              <a:off x="2009" y="2670"/>
              <a:ext cx="0" cy="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5" name="Line 88"/>
            <p:cNvSpPr/>
            <p:nvPr/>
          </p:nvSpPr>
          <p:spPr>
            <a:xfrm flipV="1">
              <a:off x="3071" y="2665"/>
              <a:ext cx="0" cy="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6" name="Line 89"/>
            <p:cNvSpPr/>
            <p:nvPr/>
          </p:nvSpPr>
          <p:spPr>
            <a:xfrm flipV="1">
              <a:off x="3464" y="2667"/>
              <a:ext cx="0" cy="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7" name="Line 90"/>
            <p:cNvSpPr/>
            <p:nvPr/>
          </p:nvSpPr>
          <p:spPr>
            <a:xfrm flipV="1">
              <a:off x="758" y="2893"/>
              <a:ext cx="39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8" name="Line 91"/>
            <p:cNvSpPr/>
            <p:nvPr/>
          </p:nvSpPr>
          <p:spPr>
            <a:xfrm flipV="1">
              <a:off x="1148" y="2675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9" name="Line 92"/>
            <p:cNvSpPr/>
            <p:nvPr/>
          </p:nvSpPr>
          <p:spPr>
            <a:xfrm flipV="1">
              <a:off x="761" y="2677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0" name="Line 93"/>
            <p:cNvSpPr/>
            <p:nvPr/>
          </p:nvSpPr>
          <p:spPr>
            <a:xfrm flipV="1">
              <a:off x="845" y="2825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1" name="Line 94"/>
            <p:cNvSpPr/>
            <p:nvPr/>
          </p:nvSpPr>
          <p:spPr>
            <a:xfrm flipV="1">
              <a:off x="1230" y="2750"/>
              <a:ext cx="29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2" name="Line 95"/>
            <p:cNvSpPr/>
            <p:nvPr/>
          </p:nvSpPr>
          <p:spPr>
            <a:xfrm flipV="1">
              <a:off x="844" y="2683"/>
              <a:ext cx="0" cy="1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3" name="Line 96"/>
            <p:cNvSpPr/>
            <p:nvPr/>
          </p:nvSpPr>
          <p:spPr>
            <a:xfrm flipV="1">
              <a:off x="1530" y="2678"/>
              <a:ext cx="0" cy="1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4" name="Line 97"/>
            <p:cNvSpPr/>
            <p:nvPr/>
          </p:nvSpPr>
          <p:spPr>
            <a:xfrm flipV="1">
              <a:off x="1226" y="2675"/>
              <a:ext cx="0" cy="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5" name="Line 98"/>
            <p:cNvSpPr/>
            <p:nvPr/>
          </p:nvSpPr>
          <p:spPr>
            <a:xfrm flipV="1">
              <a:off x="1609" y="2685"/>
              <a:ext cx="0" cy="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1" name="Group 99"/>
            <p:cNvGrpSpPr/>
            <p:nvPr/>
          </p:nvGrpSpPr>
          <p:grpSpPr>
            <a:xfrm>
              <a:off x="4039" y="2979"/>
              <a:ext cx="218" cy="639"/>
              <a:chOff x="4457" y="3211"/>
              <a:chExt cx="218" cy="639"/>
            </a:xfrm>
          </p:grpSpPr>
          <p:grpSp>
            <p:nvGrpSpPr>
              <p:cNvPr id="22" name="Group 100"/>
              <p:cNvGrpSpPr/>
              <p:nvPr/>
            </p:nvGrpSpPr>
            <p:grpSpPr>
              <a:xfrm>
                <a:off x="4457" y="3211"/>
                <a:ext cx="218" cy="257"/>
                <a:chOff x="1169" y="3382"/>
                <a:chExt cx="218" cy="257"/>
              </a:xfrm>
            </p:grpSpPr>
            <p:sp>
              <p:nvSpPr>
                <p:cNvPr id="48216" name="AutoShape 101"/>
                <p:cNvSpPr/>
                <p:nvPr/>
              </p:nvSpPr>
              <p:spPr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17" name="Oval 102"/>
                <p:cNvSpPr/>
                <p:nvPr/>
              </p:nvSpPr>
              <p:spPr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48215" name="Line 103"/>
              <p:cNvSpPr/>
              <p:nvPr/>
            </p:nvSpPr>
            <p:spPr>
              <a:xfrm>
                <a:off x="4574" y="3468"/>
                <a:ext cx="0" cy="3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" name="Group 104"/>
            <p:cNvGrpSpPr/>
            <p:nvPr/>
          </p:nvGrpSpPr>
          <p:grpSpPr>
            <a:xfrm>
              <a:off x="4322" y="2981"/>
              <a:ext cx="218" cy="639"/>
              <a:chOff x="4457" y="3211"/>
              <a:chExt cx="218" cy="639"/>
            </a:xfrm>
          </p:grpSpPr>
          <p:grpSp>
            <p:nvGrpSpPr>
              <p:cNvPr id="24" name="Group 105"/>
              <p:cNvGrpSpPr/>
              <p:nvPr/>
            </p:nvGrpSpPr>
            <p:grpSpPr>
              <a:xfrm>
                <a:off x="4457" y="3211"/>
                <a:ext cx="218" cy="257"/>
                <a:chOff x="1169" y="3382"/>
                <a:chExt cx="218" cy="257"/>
              </a:xfrm>
            </p:grpSpPr>
            <p:sp>
              <p:nvSpPr>
                <p:cNvPr id="48212" name="AutoShape 106"/>
                <p:cNvSpPr/>
                <p:nvPr/>
              </p:nvSpPr>
              <p:spPr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13" name="Oval 107"/>
                <p:cNvSpPr/>
                <p:nvPr/>
              </p:nvSpPr>
              <p:spPr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48211" name="Line 108"/>
              <p:cNvSpPr/>
              <p:nvPr/>
            </p:nvSpPr>
            <p:spPr>
              <a:xfrm>
                <a:off x="4574" y="3468"/>
                <a:ext cx="0" cy="3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5" name="Group 109"/>
            <p:cNvGrpSpPr/>
            <p:nvPr/>
          </p:nvGrpSpPr>
          <p:grpSpPr>
            <a:xfrm>
              <a:off x="4620" y="2977"/>
              <a:ext cx="218" cy="639"/>
              <a:chOff x="4457" y="3211"/>
              <a:chExt cx="218" cy="639"/>
            </a:xfrm>
          </p:grpSpPr>
          <p:grpSp>
            <p:nvGrpSpPr>
              <p:cNvPr id="26" name="Group 110"/>
              <p:cNvGrpSpPr/>
              <p:nvPr/>
            </p:nvGrpSpPr>
            <p:grpSpPr>
              <a:xfrm>
                <a:off x="4457" y="3211"/>
                <a:ext cx="218" cy="257"/>
                <a:chOff x="1169" y="3382"/>
                <a:chExt cx="218" cy="257"/>
              </a:xfrm>
            </p:grpSpPr>
            <p:sp>
              <p:nvSpPr>
                <p:cNvPr id="48208" name="AutoShape 111"/>
                <p:cNvSpPr/>
                <p:nvPr/>
              </p:nvSpPr>
              <p:spPr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8209" name="Oval 112"/>
                <p:cNvSpPr/>
                <p:nvPr/>
              </p:nvSpPr>
              <p:spPr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48207" name="Line 113"/>
              <p:cNvSpPr/>
              <p:nvPr/>
            </p:nvSpPr>
            <p:spPr>
              <a:xfrm>
                <a:off x="4574" y="3468"/>
                <a:ext cx="0" cy="3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8179" name="Text Box 114"/>
            <p:cNvSpPr txBox="1"/>
            <p:nvPr/>
          </p:nvSpPr>
          <p:spPr>
            <a:xfrm>
              <a:off x="4055" y="3585"/>
              <a:ext cx="928" cy="1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000" dirty="0">
                  <a:latin typeface="Times New Roman" pitchFamily="18" charset="0"/>
                </a:rPr>
                <a:t>A       B       Cin</a:t>
              </a:r>
              <a:endParaRPr lang="en-US" altLang="zh-CN" sz="1000" dirty="0">
                <a:latin typeface="Times New Roman" pitchFamily="18" charset="0"/>
              </a:endParaRPr>
            </a:p>
          </p:txBody>
        </p:sp>
        <p:sp>
          <p:nvSpPr>
            <p:cNvPr id="48180" name="Line 115"/>
            <p:cNvSpPr/>
            <p:nvPr/>
          </p:nvSpPr>
          <p:spPr>
            <a:xfrm flipV="1">
              <a:off x="4149" y="2753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1" name="Line 116"/>
            <p:cNvSpPr/>
            <p:nvPr/>
          </p:nvSpPr>
          <p:spPr>
            <a:xfrm flipV="1">
              <a:off x="4437" y="2823"/>
              <a:ext cx="0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2" name="Line 117"/>
            <p:cNvSpPr/>
            <p:nvPr/>
          </p:nvSpPr>
          <p:spPr>
            <a:xfrm flipV="1">
              <a:off x="4741" y="2893"/>
              <a:ext cx="0" cy="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3" name="Line 118"/>
            <p:cNvSpPr/>
            <p:nvPr/>
          </p:nvSpPr>
          <p:spPr>
            <a:xfrm flipV="1">
              <a:off x="2995" y="2059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4" name="Line 119"/>
            <p:cNvSpPr/>
            <p:nvPr/>
          </p:nvSpPr>
          <p:spPr>
            <a:xfrm flipV="1">
              <a:off x="1148" y="2207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5" name="Line 120"/>
            <p:cNvSpPr/>
            <p:nvPr/>
          </p:nvSpPr>
          <p:spPr>
            <a:xfrm flipV="1">
              <a:off x="1540" y="2217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6" name="Line 121"/>
            <p:cNvSpPr/>
            <p:nvPr/>
          </p:nvSpPr>
          <p:spPr>
            <a:xfrm flipV="1">
              <a:off x="1148" y="2215"/>
              <a:ext cx="1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7" name="Line 122"/>
            <p:cNvSpPr/>
            <p:nvPr/>
          </p:nvSpPr>
          <p:spPr>
            <a:xfrm flipV="1">
              <a:off x="1392" y="2217"/>
              <a:ext cx="1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8" name="Line 123"/>
            <p:cNvSpPr/>
            <p:nvPr/>
          </p:nvSpPr>
          <p:spPr>
            <a:xfrm flipV="1">
              <a:off x="1289" y="2059"/>
              <a:ext cx="0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9" name="Line 124"/>
            <p:cNvSpPr/>
            <p:nvPr/>
          </p:nvSpPr>
          <p:spPr>
            <a:xfrm flipV="1">
              <a:off x="1385" y="2059"/>
              <a:ext cx="0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0" name="Line 125"/>
            <p:cNvSpPr/>
            <p:nvPr/>
          </p:nvSpPr>
          <p:spPr>
            <a:xfrm flipV="1">
              <a:off x="759" y="2153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1" name="Line 126"/>
            <p:cNvSpPr/>
            <p:nvPr/>
          </p:nvSpPr>
          <p:spPr>
            <a:xfrm flipV="1">
              <a:off x="1930" y="2148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2" name="Line 127"/>
            <p:cNvSpPr/>
            <p:nvPr/>
          </p:nvSpPr>
          <p:spPr>
            <a:xfrm>
              <a:off x="759" y="2160"/>
              <a:ext cx="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3" name="Line 128"/>
            <p:cNvSpPr/>
            <p:nvPr/>
          </p:nvSpPr>
          <p:spPr>
            <a:xfrm>
              <a:off x="1454" y="2155"/>
              <a:ext cx="4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4" name="Line 129"/>
            <p:cNvSpPr/>
            <p:nvPr/>
          </p:nvSpPr>
          <p:spPr>
            <a:xfrm flipV="1">
              <a:off x="1211" y="2059"/>
              <a:ext cx="0" cy="1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5" name="Line 130"/>
            <p:cNvSpPr/>
            <p:nvPr/>
          </p:nvSpPr>
          <p:spPr>
            <a:xfrm flipV="1">
              <a:off x="1455" y="2054"/>
              <a:ext cx="0" cy="1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6" name="Line 131"/>
            <p:cNvSpPr/>
            <p:nvPr/>
          </p:nvSpPr>
          <p:spPr>
            <a:xfrm flipV="1">
              <a:off x="2624" y="2154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7" name="Line 132"/>
            <p:cNvSpPr/>
            <p:nvPr/>
          </p:nvSpPr>
          <p:spPr>
            <a:xfrm flipV="1">
              <a:off x="3382" y="2149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8" name="Line 133"/>
            <p:cNvSpPr/>
            <p:nvPr/>
          </p:nvSpPr>
          <p:spPr>
            <a:xfrm flipV="1">
              <a:off x="2625" y="2157"/>
              <a:ext cx="27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9" name="Line 134"/>
            <p:cNvSpPr/>
            <p:nvPr/>
          </p:nvSpPr>
          <p:spPr>
            <a:xfrm>
              <a:off x="3087" y="2151"/>
              <a:ext cx="2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00" name="Line 135"/>
            <p:cNvSpPr/>
            <p:nvPr/>
          </p:nvSpPr>
          <p:spPr>
            <a:xfrm flipV="1">
              <a:off x="2902" y="2051"/>
              <a:ext cx="1" cy="10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01" name="Line 136"/>
            <p:cNvSpPr/>
            <p:nvPr/>
          </p:nvSpPr>
          <p:spPr>
            <a:xfrm flipH="1" flipV="1">
              <a:off x="3085" y="2062"/>
              <a:ext cx="0" cy="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02" name="Line 137"/>
            <p:cNvSpPr/>
            <p:nvPr/>
          </p:nvSpPr>
          <p:spPr>
            <a:xfrm flipV="1">
              <a:off x="2997" y="1446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03" name="Line 138"/>
            <p:cNvSpPr/>
            <p:nvPr/>
          </p:nvSpPr>
          <p:spPr>
            <a:xfrm flipV="1">
              <a:off x="1337" y="1454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04" name="Text Box 139"/>
            <p:cNvSpPr txBox="1"/>
            <p:nvPr/>
          </p:nvSpPr>
          <p:spPr>
            <a:xfrm>
              <a:off x="1335" y="1413"/>
              <a:ext cx="179" cy="1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000" dirty="0">
                  <a:latin typeface="Times New Roman" pitchFamily="18" charset="0"/>
                </a:rPr>
                <a:t>S</a:t>
              </a:r>
              <a:endParaRPr lang="en-US" altLang="zh-CN" sz="1000" dirty="0">
                <a:latin typeface="Times New Roman" pitchFamily="18" charset="0"/>
              </a:endParaRPr>
            </a:p>
          </p:txBody>
        </p:sp>
        <p:sp>
          <p:nvSpPr>
            <p:cNvPr id="48205" name="Text Box 140"/>
            <p:cNvSpPr txBox="1"/>
            <p:nvPr/>
          </p:nvSpPr>
          <p:spPr>
            <a:xfrm>
              <a:off x="3029" y="1416"/>
              <a:ext cx="390" cy="1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000" dirty="0">
                  <a:latin typeface="Times New Roman" pitchFamily="18" charset="0"/>
                </a:rPr>
                <a:t>Cout</a:t>
              </a:r>
              <a:endParaRPr lang="en-US" altLang="zh-CN" sz="1000" dirty="0">
                <a:latin typeface="Times New Roman" pitchFamily="18" charset="0"/>
              </a:endParaRPr>
            </a:p>
          </p:txBody>
        </p:sp>
      </p:grpSp>
      <p:sp>
        <p:nvSpPr>
          <p:cNvPr id="48133" name="Line 143"/>
          <p:cNvSpPr/>
          <p:nvPr/>
        </p:nvSpPr>
        <p:spPr>
          <a:xfrm>
            <a:off x="9412288" y="3841750"/>
            <a:ext cx="184626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4" name="Rectangle 144"/>
          <p:cNvSpPr/>
          <p:nvPr/>
        </p:nvSpPr>
        <p:spPr>
          <a:xfrm>
            <a:off x="9726613" y="3405188"/>
            <a:ext cx="1274762" cy="828675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48135" name="Text Box 145"/>
          <p:cNvSpPr txBox="1"/>
          <p:nvPr/>
        </p:nvSpPr>
        <p:spPr>
          <a:xfrm>
            <a:off x="10145713" y="4075113"/>
            <a:ext cx="573087" cy="153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1000" dirty="0">
                <a:latin typeface="Times New Roman" pitchFamily="18" charset="0"/>
              </a:rPr>
              <a:t>A      B</a:t>
            </a:r>
            <a:endParaRPr lang="en-US" altLang="zh-CN" sz="1000" dirty="0">
              <a:latin typeface="Times New Roman" pitchFamily="18" charset="0"/>
            </a:endParaRPr>
          </a:p>
        </p:txBody>
      </p:sp>
      <p:sp>
        <p:nvSpPr>
          <p:cNvPr id="48136" name="Text Box 146"/>
          <p:cNvSpPr txBox="1"/>
          <p:nvPr/>
        </p:nvSpPr>
        <p:spPr>
          <a:xfrm>
            <a:off x="9775825" y="3763963"/>
            <a:ext cx="1233488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1000" dirty="0">
                <a:latin typeface="Times New Roman" pitchFamily="18" charset="0"/>
              </a:rPr>
              <a:t>Cout               Cin</a:t>
            </a:r>
            <a:endParaRPr lang="en-US" altLang="zh-CN" sz="1000" dirty="0">
              <a:latin typeface="Times New Roman" pitchFamily="18" charset="0"/>
            </a:endParaRPr>
          </a:p>
        </p:txBody>
      </p:sp>
      <p:sp>
        <p:nvSpPr>
          <p:cNvPr id="48137" name="Text Box 147"/>
          <p:cNvSpPr txBox="1"/>
          <p:nvPr/>
        </p:nvSpPr>
        <p:spPr>
          <a:xfrm>
            <a:off x="10355263" y="3425825"/>
            <a:ext cx="115887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1000" dirty="0">
                <a:latin typeface="Times New Roman" pitchFamily="18" charset="0"/>
              </a:rPr>
              <a:t>S</a:t>
            </a:r>
            <a:endParaRPr lang="en-US" altLang="zh-CN" sz="1000" dirty="0">
              <a:latin typeface="Times New Roman" pitchFamily="18" charset="0"/>
            </a:endParaRPr>
          </a:p>
        </p:txBody>
      </p:sp>
      <p:sp>
        <p:nvSpPr>
          <p:cNvPr id="48138" name="Line 148"/>
          <p:cNvSpPr/>
          <p:nvPr/>
        </p:nvSpPr>
        <p:spPr>
          <a:xfrm>
            <a:off x="10183813" y="4233863"/>
            <a:ext cx="0" cy="4159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9" name="Line 149"/>
          <p:cNvSpPr/>
          <p:nvPr/>
        </p:nvSpPr>
        <p:spPr>
          <a:xfrm>
            <a:off x="10566400" y="4233863"/>
            <a:ext cx="0" cy="4159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0" name="Line 150"/>
          <p:cNvSpPr/>
          <p:nvPr/>
        </p:nvSpPr>
        <p:spPr>
          <a:xfrm>
            <a:off x="10388600" y="2990850"/>
            <a:ext cx="0" cy="4159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1" name="AutoShape 153"/>
          <p:cNvSpPr/>
          <p:nvPr/>
        </p:nvSpPr>
        <p:spPr>
          <a:xfrm>
            <a:off x="8202613" y="3714750"/>
            <a:ext cx="673100" cy="219075"/>
          </a:xfrm>
          <a:prstGeom prst="rightArrow">
            <a:avLst>
              <a:gd name="adj1" fmla="val 50000"/>
              <a:gd name="adj2" fmla="val 57622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48142" name="Rectangle 154"/>
          <p:cNvSpPr>
            <a:spLocks noGrp="1"/>
          </p:cNvSpPr>
          <p:nvPr>
            <p:ph type="title"/>
          </p:nvPr>
        </p:nvSpPr>
        <p:spPr>
          <a:xfrm>
            <a:off x="939800" y="438150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一位全加器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290" y="3582035"/>
            <a:ext cx="9907905" cy="2475230"/>
          </a:xfrm>
          <a:prstGeom prst="rect">
            <a:avLst/>
          </a:prstGeom>
        </p:spPr>
      </p:pic>
      <p:sp>
        <p:nvSpPr>
          <p:cNvPr id="49154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9155" name="Rectangle 2"/>
          <p:cNvSpPr/>
          <p:nvPr/>
        </p:nvSpPr>
        <p:spPr>
          <a:xfrm>
            <a:off x="900113" y="1117600"/>
            <a:ext cx="10361612" cy="1908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以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16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位加法器为例</a:t>
            </a:r>
            <a:endParaRPr lang="zh-CN" altLang="en-US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进位从低位到高位传送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, 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形成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c16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需要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32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级门延迟</a:t>
            </a:r>
            <a:endParaRPr lang="zh-CN" altLang="en-US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延迟随位数增长线性增长</a:t>
            </a:r>
            <a:endParaRPr lang="zh-CN" altLang="en-US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</p:txBody>
      </p:sp>
      <p:sp>
        <p:nvSpPr>
          <p:cNvPr id="49157" name="Rectangle 48"/>
          <p:cNvSpPr>
            <a:spLocks noGrp="1"/>
          </p:cNvSpPr>
          <p:nvPr>
            <p:ph type="title"/>
          </p:nvPr>
        </p:nvSpPr>
        <p:spPr>
          <a:xfrm>
            <a:off x="838200" y="0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串行进位加法器</a:t>
            </a:r>
            <a:endParaRPr lang="zh-CN" altLang="en-US" dirty="0"/>
          </a:p>
        </p:txBody>
      </p:sp>
      <p:cxnSp>
        <p:nvCxnSpPr>
          <p:cNvPr id="48" name="直接箭头连接符 47"/>
          <p:cNvCxnSpPr/>
          <p:nvPr/>
        </p:nvCxnSpPr>
        <p:spPr>
          <a:xfrm rot="10800000">
            <a:off x="1170623" y="4754563"/>
            <a:ext cx="10158412" cy="22225"/>
          </a:xfrm>
          <a:prstGeom prst="straightConnector1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50179" name="Rectangle 2"/>
          <p:cNvSpPr/>
          <p:nvPr/>
        </p:nvSpPr>
        <p:spPr>
          <a:xfrm>
            <a:off x="184150" y="1058863"/>
            <a:ext cx="11853863" cy="58626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</a:pPr>
            <a:r>
              <a:rPr lang="en-US" altLang="zh-CN" sz="1400" b="1" dirty="0">
                <a:latin typeface="宋体" panose="02000500000000000000" pitchFamily="2" charset="-122"/>
              </a:rPr>
              <a:t>   c</a:t>
            </a:r>
            <a:r>
              <a:rPr lang="en-US" altLang="zh-CN" sz="1400" b="1" i="1" dirty="0">
                <a:latin typeface="宋体" panose="02000500000000000000" pitchFamily="2" charset="-122"/>
              </a:rPr>
              <a:t>i+1</a:t>
            </a:r>
            <a:r>
              <a:rPr lang="en-US" altLang="zh-CN" sz="1400" b="1" dirty="0">
                <a:latin typeface="宋体" panose="02000500000000000000" pitchFamily="2" charset="-122"/>
              </a:rPr>
              <a:t>  = a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*b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+a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*c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+b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*c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endParaRPr lang="en-US" altLang="zh-CN" sz="14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 sz="1400" b="1" dirty="0">
                <a:latin typeface="宋体" panose="02000500000000000000" pitchFamily="2" charset="-122"/>
              </a:rPr>
              <a:t>        = a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*b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+(a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+b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)*c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endParaRPr lang="en-US" altLang="zh-CN" sz="14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 sz="1400" b="1" dirty="0">
                <a:latin typeface="宋体" panose="02000500000000000000" pitchFamily="2" charset="-122"/>
              </a:rPr>
              <a:t>        = g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+p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r>
              <a:rPr lang="en-US" altLang="zh-CN" sz="1400" b="1" dirty="0">
                <a:latin typeface="宋体" panose="02000500000000000000" pitchFamily="2" charset="-122"/>
              </a:rPr>
              <a:t>*c</a:t>
            </a:r>
            <a:r>
              <a:rPr lang="en-US" altLang="zh-CN" sz="1400" b="1" i="1" dirty="0">
                <a:latin typeface="宋体" panose="02000500000000000000" pitchFamily="2" charset="-122"/>
              </a:rPr>
              <a:t>i</a:t>
            </a:r>
            <a:endParaRPr lang="en-US" altLang="zh-CN" sz="16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altLang="zh-CN" sz="1800" b="1" dirty="0">
                <a:latin typeface="宋体" panose="02000500000000000000" pitchFamily="2" charset="-122"/>
              </a:rPr>
              <a:t>gi=ai*bi</a:t>
            </a:r>
            <a:r>
              <a:rPr lang="zh-CN" altLang="zh-CN" sz="1800" b="1" dirty="0">
                <a:latin typeface="宋体" panose="02000500000000000000" pitchFamily="2" charset="-122"/>
              </a:rPr>
              <a:t>称为进位生成因子, 只要</a:t>
            </a:r>
            <a:r>
              <a:rPr lang="en-US" altLang="zh-CN" sz="1800" b="1" dirty="0">
                <a:latin typeface="宋体" panose="02000500000000000000" pitchFamily="2" charset="-122"/>
              </a:rPr>
              <a:t>gi</a:t>
            </a:r>
            <a:r>
              <a:rPr lang="zh-CN" altLang="en-US" sz="1800" b="1" dirty="0">
                <a:latin typeface="宋体" panose="02000500000000000000" pitchFamily="2" charset="-122"/>
              </a:rPr>
              <a:t>为</a:t>
            </a:r>
            <a:r>
              <a:rPr lang="en-US" altLang="zh-CN" sz="1800" b="1" dirty="0">
                <a:latin typeface="宋体" panose="02000500000000000000" pitchFamily="2" charset="-122"/>
              </a:rPr>
              <a:t>1, </a:t>
            </a:r>
            <a:r>
              <a:rPr lang="zh-CN" altLang="en-US" sz="1800" b="1" dirty="0">
                <a:latin typeface="宋体" panose="02000500000000000000" pitchFamily="2" charset="-122"/>
              </a:rPr>
              <a:t>就有进位</a:t>
            </a:r>
            <a:endParaRPr lang="zh-CN" altLang="en-US" sz="18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altLang="zh-CN" sz="1800" b="1" dirty="0">
                <a:latin typeface="宋体" panose="02000500000000000000" pitchFamily="2" charset="-122"/>
              </a:rPr>
              <a:t>pi=ai+bi</a:t>
            </a:r>
            <a:r>
              <a:rPr lang="zh-CN" altLang="zh-CN" sz="1800" b="1" dirty="0">
                <a:latin typeface="宋体" panose="02000500000000000000" pitchFamily="2" charset="-122"/>
              </a:rPr>
              <a:t>称为进位传递因子, 只要</a:t>
            </a:r>
            <a:r>
              <a:rPr lang="en-US" altLang="zh-CN" sz="1800" b="1" dirty="0">
                <a:latin typeface="宋体" panose="02000500000000000000" pitchFamily="2" charset="-122"/>
              </a:rPr>
              <a:t>pi</a:t>
            </a:r>
            <a:r>
              <a:rPr lang="zh-CN" altLang="en-US" sz="1800" b="1" dirty="0">
                <a:latin typeface="宋体" panose="02000500000000000000" pitchFamily="2" charset="-122"/>
              </a:rPr>
              <a:t>为</a:t>
            </a:r>
            <a:r>
              <a:rPr lang="en-US" altLang="zh-CN" sz="1800" b="1" dirty="0">
                <a:latin typeface="宋体" panose="02000500000000000000" pitchFamily="2" charset="-122"/>
              </a:rPr>
              <a:t>1, </a:t>
            </a:r>
            <a:r>
              <a:rPr lang="zh-CN" altLang="en-US" sz="1800" b="1" dirty="0">
                <a:latin typeface="宋体" panose="02000500000000000000" pitchFamily="2" charset="-122"/>
              </a:rPr>
              <a:t>就把低位进位向前传递</a:t>
            </a:r>
            <a:endParaRPr lang="zh-CN" altLang="en-US" sz="18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1800" b="1" dirty="0">
                <a:latin typeface="宋体" panose="02000500000000000000" pitchFamily="2" charset="-122"/>
              </a:rPr>
              <a:t>四位进位传递为例</a:t>
            </a:r>
            <a:endParaRPr lang="zh-CN" altLang="en-US" sz="18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</a:pPr>
            <a:r>
              <a:rPr lang="en-US" altLang="zh-CN" sz="1400" b="1" dirty="0">
                <a:latin typeface="宋体" panose="02000500000000000000" pitchFamily="2" charset="-122"/>
              </a:rPr>
              <a:t>c1 = g0+(p0*c0)</a:t>
            </a:r>
            <a:endParaRPr lang="en-US" altLang="zh-CN" sz="1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</a:pPr>
            <a:r>
              <a:rPr lang="en-US" altLang="zh-CN" sz="1400" b="1" dirty="0">
                <a:latin typeface="宋体" panose="02000500000000000000" pitchFamily="2" charset="-122"/>
              </a:rPr>
              <a:t>c2 = g1+(p1*g0)+(p1*p0*c0)</a:t>
            </a:r>
            <a:endParaRPr lang="en-US" altLang="zh-CN" sz="1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</a:pPr>
            <a:r>
              <a:rPr lang="en-US" altLang="zh-CN" sz="1400" b="1" dirty="0">
                <a:latin typeface="宋体" panose="02000500000000000000" pitchFamily="2" charset="-122"/>
              </a:rPr>
              <a:t>c3 = g2+(p2*g1)+(p2*p1*g0)+(p2*p1*p0*c0)</a:t>
            </a:r>
            <a:endParaRPr lang="en-US" altLang="zh-CN" sz="1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</a:pPr>
            <a:r>
              <a:rPr lang="en-US" altLang="zh-CN" sz="1400" b="1" dirty="0">
                <a:latin typeface="宋体" panose="02000500000000000000" pitchFamily="2" charset="-122"/>
              </a:rPr>
              <a:t>c4 = g3+(p3*g2)+(p3*p2*g1)+(p3*p2*p1*g0)+(p3*p2*p1*p0*c0)</a:t>
            </a:r>
            <a:endParaRPr lang="en-US" altLang="zh-CN" sz="16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1800" b="1" dirty="0">
                <a:latin typeface="宋体" panose="02000500000000000000" pitchFamily="2" charset="-122"/>
              </a:rPr>
              <a:t>只要低位有一个进位生成</a:t>
            </a:r>
            <a:r>
              <a:rPr lang="en-US" altLang="zh-CN" sz="1800" b="1" dirty="0">
                <a:latin typeface="宋体" panose="02000500000000000000" pitchFamily="2" charset="-122"/>
              </a:rPr>
              <a:t>, </a:t>
            </a:r>
            <a:r>
              <a:rPr lang="zh-CN" altLang="en-US" sz="1800" b="1" dirty="0">
                <a:latin typeface="宋体" panose="02000500000000000000" pitchFamily="2" charset="-122"/>
              </a:rPr>
              <a:t>而且被传递</a:t>
            </a:r>
            <a:r>
              <a:rPr lang="en-US" altLang="zh-CN" sz="1800" b="1" dirty="0">
                <a:latin typeface="宋体" panose="02000500000000000000" pitchFamily="2" charset="-122"/>
              </a:rPr>
              <a:t>, </a:t>
            </a:r>
            <a:r>
              <a:rPr lang="zh-CN" altLang="en-US" sz="1800" b="1" dirty="0">
                <a:latin typeface="宋体" panose="02000500000000000000" pitchFamily="2" charset="-122"/>
              </a:rPr>
              <a:t>则进位输出为</a:t>
            </a:r>
            <a:r>
              <a:rPr lang="en-US" altLang="zh-CN" sz="1800" b="1" dirty="0">
                <a:latin typeface="宋体" panose="02000500000000000000" pitchFamily="2" charset="-122"/>
              </a:rPr>
              <a:t>1</a:t>
            </a:r>
            <a:endParaRPr lang="en-US" altLang="zh-CN" sz="3200" b="1" dirty="0">
              <a:latin typeface="宋体" panose="02000500000000000000" pitchFamily="2" charset="-122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type="title"/>
          </p:nvPr>
        </p:nvSpPr>
        <p:spPr>
          <a:xfrm>
            <a:off x="812800" y="0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进位的传递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965" y="0"/>
            <a:ext cx="10361851" cy="1143000"/>
          </a:xfrm>
        </p:spPr>
        <p:txBody>
          <a:bodyPr/>
          <a:lstStyle/>
          <a:p>
            <a:r>
              <a:rPr lang="zh-CN" altLang="en-US" dirty="0" smtClean="0"/>
              <a:t>进位因子和传递因子</a:t>
            </a:r>
            <a:endParaRPr lang="zh-CN" altLang="en-US" dirty="0"/>
          </a:p>
        </p:txBody>
      </p:sp>
      <p:sp>
        <p:nvSpPr>
          <p:cNvPr id="11" name="Rectangle 45"/>
          <p:cNvSpPr/>
          <p:nvPr/>
        </p:nvSpPr>
        <p:spPr>
          <a:xfrm>
            <a:off x="495300" y="1142999"/>
            <a:ext cx="11255375" cy="104674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buChar char="•"/>
            </a:pPr>
            <a:r>
              <a:rPr lang="en-US" altLang="zh-CN" sz="1600" b="1" dirty="0" err="1" smtClean="0">
                <a:solidFill>
                  <a:schemeClr val="accent2"/>
                </a:solidFill>
                <a:latin typeface="+mn-ea"/>
                <a:ea typeface="+mn-ea"/>
              </a:rPr>
              <a:t>gi</a:t>
            </a:r>
            <a:r>
              <a:rPr lang="en-US" altLang="zh-CN" sz="1600" b="1" dirty="0" smtClean="0">
                <a:solidFill>
                  <a:schemeClr val="accent2"/>
                </a:solidFill>
                <a:latin typeface="+mn-ea"/>
                <a:ea typeface="+mn-ea"/>
              </a:rPr>
              <a:t>=</a:t>
            </a:r>
            <a:r>
              <a:rPr lang="en-US" altLang="zh-CN" sz="1600" b="1" dirty="0" err="1" smtClean="0">
                <a:solidFill>
                  <a:schemeClr val="accent2"/>
                </a:solidFill>
                <a:latin typeface="+mn-ea"/>
                <a:ea typeface="+mn-ea"/>
              </a:rPr>
              <a:t>ai</a:t>
            </a:r>
            <a:r>
              <a:rPr lang="en-US" altLang="zh-CN" sz="1600" b="1" dirty="0" smtClean="0">
                <a:solidFill>
                  <a:schemeClr val="accent2"/>
                </a:solidFill>
                <a:latin typeface="+mn-ea"/>
                <a:ea typeface="+mn-ea"/>
              </a:rPr>
              <a:t>*bi</a:t>
            </a:r>
            <a:r>
              <a:rPr lang="zh-CN" altLang="en-US" sz="1600" b="1" dirty="0" smtClean="0">
                <a:solidFill>
                  <a:schemeClr val="accent2"/>
                </a:solidFill>
                <a:latin typeface="+mn-ea"/>
                <a:ea typeface="+mn-ea"/>
              </a:rPr>
              <a:t>（</a:t>
            </a:r>
            <a:r>
              <a:rPr lang="zh-CN" altLang="en-US" sz="1600" b="1" dirty="0" smtClean="0">
                <a:solidFill>
                  <a:srgbClr val="FF0000"/>
                </a:solidFill>
                <a:latin typeface="+mn-ea"/>
                <a:ea typeface="+mn-ea"/>
              </a:rPr>
              <a:t>本位进位生成因子</a:t>
            </a:r>
            <a:r>
              <a:rPr lang="zh-CN" altLang="en-US" sz="1600" b="1" dirty="0" smtClean="0">
                <a:solidFill>
                  <a:schemeClr val="accent2"/>
                </a:solidFill>
                <a:latin typeface="+mn-ea"/>
                <a:ea typeface="+mn-ea"/>
              </a:rPr>
              <a:t>）；</a:t>
            </a:r>
            <a:r>
              <a:rPr lang="en-US" altLang="zh-CN" sz="1600" b="1" dirty="0" smtClean="0">
                <a:solidFill>
                  <a:schemeClr val="accent2"/>
                </a:solidFill>
                <a:latin typeface="+mn-ea"/>
                <a:ea typeface="+mn-ea"/>
              </a:rPr>
              <a:t>pi=</a:t>
            </a:r>
            <a:r>
              <a:rPr lang="en-US" altLang="zh-CN" sz="1600" b="1" dirty="0" err="1" smtClean="0">
                <a:solidFill>
                  <a:schemeClr val="accent2"/>
                </a:solidFill>
                <a:latin typeface="+mn-ea"/>
                <a:ea typeface="+mn-ea"/>
              </a:rPr>
              <a:t>ai+bi</a:t>
            </a:r>
            <a:r>
              <a:rPr lang="zh-CN" altLang="en-US" sz="1600" b="1" dirty="0" smtClean="0">
                <a:solidFill>
                  <a:schemeClr val="accent2"/>
                </a:solidFill>
                <a:latin typeface="+mn-ea"/>
                <a:ea typeface="+mn-ea"/>
              </a:rPr>
              <a:t>（</a:t>
            </a:r>
            <a:r>
              <a:rPr lang="zh-CN" altLang="en-US" sz="1600" b="1" dirty="0" smtClean="0">
                <a:solidFill>
                  <a:srgbClr val="FF0000"/>
                </a:solidFill>
                <a:latin typeface="+mn-ea"/>
                <a:ea typeface="+mn-ea"/>
              </a:rPr>
              <a:t>本位进位传递因子</a:t>
            </a:r>
            <a:r>
              <a:rPr lang="zh-CN" altLang="en-US" sz="1600" b="1" dirty="0" smtClean="0">
                <a:solidFill>
                  <a:schemeClr val="accent2"/>
                </a:solidFill>
                <a:latin typeface="+mn-ea"/>
                <a:ea typeface="+mn-ea"/>
              </a:rPr>
              <a:t>）</a:t>
            </a:r>
            <a:endParaRPr lang="en-US" altLang="zh-CN" sz="16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altLang="zh-CN" sz="1600" b="1" dirty="0" smtClean="0">
                <a:solidFill>
                  <a:schemeClr val="accent2"/>
                </a:solidFill>
                <a:latin typeface="+mn-ea"/>
                <a:ea typeface="+mn-ea"/>
              </a:rPr>
              <a:t>P = p0*p1*p2*p3</a:t>
            </a:r>
            <a:r>
              <a:rPr lang="zh-CN" altLang="en-US" sz="1600" b="1" dirty="0" smtClean="0">
                <a:solidFill>
                  <a:schemeClr val="accent2"/>
                </a:solidFill>
                <a:latin typeface="+mn-ea"/>
                <a:ea typeface="+mn-ea"/>
              </a:rPr>
              <a:t>（</a:t>
            </a:r>
            <a:r>
              <a:rPr lang="zh-CN" altLang="en-US" sz="1600" b="1" dirty="0" smtClean="0">
                <a:solidFill>
                  <a:srgbClr val="FF0000"/>
                </a:solidFill>
                <a:latin typeface="+mn-ea"/>
                <a:ea typeface="+mn-ea"/>
              </a:rPr>
              <a:t>小组进位生成因子</a:t>
            </a:r>
            <a:r>
              <a:rPr lang="zh-CN" altLang="en-US" sz="1600" b="1" dirty="0" smtClean="0">
                <a:solidFill>
                  <a:schemeClr val="accent2"/>
                </a:solidFill>
                <a:latin typeface="+mn-ea"/>
                <a:ea typeface="+mn-ea"/>
              </a:rPr>
              <a:t>）；</a:t>
            </a:r>
            <a:r>
              <a:rPr lang="en-US" altLang="zh-CN" sz="1600" b="1" dirty="0" smtClean="0">
                <a:solidFill>
                  <a:schemeClr val="accent2"/>
                </a:solidFill>
                <a:latin typeface="+mn-ea"/>
                <a:ea typeface="+mn-ea"/>
              </a:rPr>
              <a:t>G =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ea typeface="+mn-ea"/>
              </a:rPr>
              <a:t>g3+(p3*g2)+(p3*p2*g1)+(p3*p2*p1*g0</a:t>
            </a:r>
            <a:r>
              <a:rPr lang="en-US" altLang="zh-CN" sz="1600" b="1" dirty="0" smtClean="0">
                <a:solidFill>
                  <a:schemeClr val="accent2"/>
                </a:solidFill>
                <a:latin typeface="+mn-ea"/>
                <a:ea typeface="+mn-ea"/>
              </a:rPr>
              <a:t>)</a:t>
            </a:r>
            <a:r>
              <a:rPr lang="zh-CN" altLang="en-US" sz="1600" b="1" dirty="0" smtClean="0">
                <a:solidFill>
                  <a:schemeClr val="accent2"/>
                </a:solidFill>
                <a:latin typeface="+mn-ea"/>
                <a:ea typeface="+mn-ea"/>
              </a:rPr>
              <a:t>（</a:t>
            </a:r>
            <a:r>
              <a:rPr lang="zh-CN" altLang="en-US" sz="1600" b="1" dirty="0" smtClean="0">
                <a:solidFill>
                  <a:srgbClr val="FF0000"/>
                </a:solidFill>
                <a:latin typeface="+mn-ea"/>
                <a:ea typeface="+mn-ea"/>
              </a:rPr>
              <a:t>小组进位传递因子</a:t>
            </a:r>
            <a:r>
              <a:rPr lang="zh-CN" altLang="en-US" sz="1600" b="1" dirty="0" smtClean="0">
                <a:solidFill>
                  <a:schemeClr val="accent2"/>
                </a:solidFill>
                <a:latin typeface="+mn-ea"/>
                <a:ea typeface="+mn-ea"/>
              </a:rPr>
              <a:t>）</a:t>
            </a:r>
            <a:endParaRPr lang="en-US" altLang="zh-CN" sz="16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</a:pPr>
            <a:endParaRPr lang="en-US" altLang="zh-CN" sz="1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525" y="2474595"/>
            <a:ext cx="8966835" cy="3336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51203" name="Rectangle 252"/>
          <p:cNvSpPr/>
          <p:nvPr/>
        </p:nvSpPr>
        <p:spPr>
          <a:xfrm>
            <a:off x="419100" y="2790825"/>
            <a:ext cx="7123113" cy="1943100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476250" y="2614613"/>
            <a:ext cx="6975475" cy="2457450"/>
            <a:chOff x="1256" y="548"/>
            <a:chExt cx="3296" cy="1548"/>
          </a:xfrm>
        </p:grpSpPr>
        <p:grpSp>
          <p:nvGrpSpPr>
            <p:cNvPr id="3" name="Group 3"/>
            <p:cNvGrpSpPr/>
            <p:nvPr/>
          </p:nvGrpSpPr>
          <p:grpSpPr>
            <a:xfrm>
              <a:off x="2668" y="552"/>
              <a:ext cx="736" cy="1284"/>
              <a:chOff x="5618" y="11290"/>
              <a:chExt cx="1840" cy="3210"/>
            </a:xfrm>
          </p:grpSpPr>
          <p:sp>
            <p:nvSpPr>
              <p:cNvPr id="51392" name="Line 4"/>
              <p:cNvSpPr/>
              <p:nvPr/>
            </p:nvSpPr>
            <p:spPr>
              <a:xfrm flipH="1" flipV="1">
                <a:off x="6498" y="12200"/>
                <a:ext cx="0" cy="52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93" name="Line 5"/>
              <p:cNvSpPr/>
              <p:nvPr/>
            </p:nvSpPr>
            <p:spPr>
              <a:xfrm flipV="1">
                <a:off x="5828" y="12620"/>
                <a:ext cx="0" cy="3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94" name="Line 6"/>
              <p:cNvSpPr/>
              <p:nvPr/>
            </p:nvSpPr>
            <p:spPr>
              <a:xfrm flipV="1">
                <a:off x="7268" y="12620"/>
                <a:ext cx="0" cy="3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95" name="Line 7"/>
              <p:cNvSpPr/>
              <p:nvPr/>
            </p:nvSpPr>
            <p:spPr>
              <a:xfrm flipV="1">
                <a:off x="6398" y="12180"/>
                <a:ext cx="0" cy="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96" name="Line 8"/>
              <p:cNvSpPr/>
              <p:nvPr/>
            </p:nvSpPr>
            <p:spPr>
              <a:xfrm flipV="1">
                <a:off x="5828" y="12620"/>
                <a:ext cx="5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97" name="Line 9"/>
              <p:cNvSpPr/>
              <p:nvPr/>
            </p:nvSpPr>
            <p:spPr>
              <a:xfrm flipV="1">
                <a:off x="6678" y="12620"/>
                <a:ext cx="59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98" name="Line 10"/>
              <p:cNvSpPr/>
              <p:nvPr/>
            </p:nvSpPr>
            <p:spPr>
              <a:xfrm flipV="1">
                <a:off x="6688" y="12190"/>
                <a:ext cx="0" cy="4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99" name="Line 11"/>
              <p:cNvSpPr/>
              <p:nvPr/>
            </p:nvSpPr>
            <p:spPr>
              <a:xfrm flipV="1">
                <a:off x="6588" y="12180"/>
                <a:ext cx="0" cy="5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00" name="Line 12"/>
              <p:cNvSpPr/>
              <p:nvPr/>
            </p:nvSpPr>
            <p:spPr>
              <a:xfrm flipH="1">
                <a:off x="6308" y="12720"/>
                <a:ext cx="1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01" name="Line 13"/>
              <p:cNvSpPr/>
              <p:nvPr/>
            </p:nvSpPr>
            <p:spPr>
              <a:xfrm flipV="1">
                <a:off x="6308" y="12720"/>
                <a:ext cx="0" cy="2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02" name="Line 14"/>
              <p:cNvSpPr/>
              <p:nvPr/>
            </p:nvSpPr>
            <p:spPr>
              <a:xfrm flipH="1">
                <a:off x="6588" y="12720"/>
                <a:ext cx="21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03" name="Line 15"/>
              <p:cNvSpPr/>
              <p:nvPr/>
            </p:nvSpPr>
            <p:spPr>
              <a:xfrm flipV="1">
                <a:off x="6808" y="12720"/>
                <a:ext cx="0" cy="2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04" name="Line 16"/>
              <p:cNvSpPr/>
              <p:nvPr/>
            </p:nvSpPr>
            <p:spPr>
              <a:xfrm>
                <a:off x="7118" y="1351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05" name="Line 17"/>
              <p:cNvSpPr/>
              <p:nvPr/>
            </p:nvSpPr>
            <p:spPr>
              <a:xfrm>
                <a:off x="6648" y="1351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06" name="Line 18"/>
              <p:cNvSpPr/>
              <p:nvPr/>
            </p:nvSpPr>
            <p:spPr>
              <a:xfrm flipH="1">
                <a:off x="5778" y="13500"/>
                <a:ext cx="10" cy="7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4" name="Group 19"/>
              <p:cNvGrpSpPr/>
              <p:nvPr/>
            </p:nvGrpSpPr>
            <p:grpSpPr>
              <a:xfrm>
                <a:off x="5618" y="12950"/>
                <a:ext cx="400" cy="560"/>
                <a:chOff x="2025" y="2603"/>
                <a:chExt cx="277" cy="403"/>
              </a:xfrm>
            </p:grpSpPr>
            <p:grpSp>
              <p:nvGrpSpPr>
                <p:cNvPr id="5" name="Group 20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1451" name="Oval 21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52" name="Line 22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53" name="Rectangle 23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54" name="Line 24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55" name="Line 25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1450" name="Oval 26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6" name="Group 27"/>
              <p:cNvGrpSpPr/>
              <p:nvPr/>
            </p:nvGrpSpPr>
            <p:grpSpPr>
              <a:xfrm>
                <a:off x="6098" y="12950"/>
                <a:ext cx="400" cy="560"/>
                <a:chOff x="2025" y="2603"/>
                <a:chExt cx="277" cy="403"/>
              </a:xfrm>
            </p:grpSpPr>
            <p:grpSp>
              <p:nvGrpSpPr>
                <p:cNvPr id="7" name="Group 28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1444" name="Oval 29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45" name="Line 30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46" name="Rectangle 31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47" name="Line 32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48" name="Line 33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1443" name="Oval 34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8" name="Group 35"/>
              <p:cNvGrpSpPr/>
              <p:nvPr/>
            </p:nvGrpSpPr>
            <p:grpSpPr>
              <a:xfrm>
                <a:off x="6578" y="12950"/>
                <a:ext cx="400" cy="560"/>
                <a:chOff x="2025" y="2603"/>
                <a:chExt cx="277" cy="403"/>
              </a:xfrm>
            </p:grpSpPr>
            <p:grpSp>
              <p:nvGrpSpPr>
                <p:cNvPr id="9" name="Group 36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1437" name="Oval 37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38" name="Line 38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39" name="Rectangle 39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40" name="Line 40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41" name="Line 41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1436" name="Oval 42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10" name="Group 43"/>
              <p:cNvGrpSpPr/>
              <p:nvPr/>
            </p:nvGrpSpPr>
            <p:grpSpPr>
              <a:xfrm>
                <a:off x="7058" y="12950"/>
                <a:ext cx="400" cy="560"/>
                <a:chOff x="2025" y="2603"/>
                <a:chExt cx="277" cy="403"/>
              </a:xfrm>
            </p:grpSpPr>
            <p:grpSp>
              <p:nvGrpSpPr>
                <p:cNvPr id="11" name="Group 44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1430" name="Oval 45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31" name="Line 46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32" name="Rectangle 47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33" name="Line 48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34" name="Line 49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1429" name="Oval 50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12" name="Group 51"/>
              <p:cNvGrpSpPr/>
              <p:nvPr/>
            </p:nvGrpSpPr>
            <p:grpSpPr>
              <a:xfrm>
                <a:off x="6348" y="11650"/>
                <a:ext cx="400" cy="560"/>
                <a:chOff x="2025" y="2603"/>
                <a:chExt cx="277" cy="403"/>
              </a:xfrm>
            </p:grpSpPr>
            <p:grpSp>
              <p:nvGrpSpPr>
                <p:cNvPr id="13" name="Group 52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1423" name="Oval 53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24" name="Line 54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25" name="Rectangle 55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1426" name="Line 56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427" name="Line 57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1422" name="Oval 58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51412" name="Line 59"/>
              <p:cNvSpPr/>
              <p:nvPr/>
            </p:nvSpPr>
            <p:spPr>
              <a:xfrm flipV="1">
                <a:off x="6548" y="1130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13" name="Line 60"/>
              <p:cNvSpPr/>
              <p:nvPr/>
            </p:nvSpPr>
            <p:spPr>
              <a:xfrm>
                <a:off x="7298" y="13510"/>
                <a:ext cx="0" cy="5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14" name="Line 61"/>
              <p:cNvSpPr/>
              <p:nvPr/>
            </p:nvSpPr>
            <p:spPr>
              <a:xfrm>
                <a:off x="7208" y="13500"/>
                <a:ext cx="0" cy="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15" name="Line 62"/>
              <p:cNvSpPr/>
              <p:nvPr/>
            </p:nvSpPr>
            <p:spPr>
              <a:xfrm>
                <a:off x="6778" y="13500"/>
                <a:ext cx="0" cy="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16" name="Line 63"/>
              <p:cNvSpPr/>
              <p:nvPr/>
            </p:nvSpPr>
            <p:spPr>
              <a:xfrm>
                <a:off x="6198" y="1351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17" name="Line 64"/>
              <p:cNvSpPr/>
              <p:nvPr/>
            </p:nvSpPr>
            <p:spPr>
              <a:xfrm>
                <a:off x="7388" y="13500"/>
                <a:ext cx="0" cy="10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18" name="Line 65"/>
              <p:cNvSpPr/>
              <p:nvPr/>
            </p:nvSpPr>
            <p:spPr>
              <a:xfrm>
                <a:off x="6888" y="13510"/>
                <a:ext cx="0" cy="88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19" name="Line 66"/>
              <p:cNvSpPr/>
              <p:nvPr/>
            </p:nvSpPr>
            <p:spPr>
              <a:xfrm>
                <a:off x="6378" y="13500"/>
                <a:ext cx="0" cy="79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420" name="Text Box 67"/>
              <p:cNvSpPr txBox="1"/>
              <p:nvPr/>
            </p:nvSpPr>
            <p:spPr>
              <a:xfrm>
                <a:off x="6638" y="11290"/>
                <a:ext cx="22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/>
                <a:r>
                  <a:rPr lang="en-US" altLang="zh-CN" sz="1000" dirty="0">
                    <a:latin typeface="Times New Roman" pitchFamily="18" charset="0"/>
                  </a:rPr>
                  <a:t>c3</a:t>
                </a:r>
                <a:endParaRPr lang="en-US" altLang="zh-CN" sz="10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4" name="Group 68"/>
            <p:cNvGrpSpPr/>
            <p:nvPr/>
          </p:nvGrpSpPr>
          <p:grpSpPr>
            <a:xfrm>
              <a:off x="1968" y="696"/>
              <a:ext cx="160" cy="224"/>
              <a:chOff x="2025" y="2603"/>
              <a:chExt cx="277" cy="403"/>
            </a:xfrm>
          </p:grpSpPr>
          <p:grpSp>
            <p:nvGrpSpPr>
              <p:cNvPr id="15" name="Group 69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87" name="Oval 70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88" name="Line 71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89" name="Rectangle 72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90" name="Line 73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91" name="Line 74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86" name="Oval 75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6" name="Group 76"/>
            <p:cNvGrpSpPr/>
            <p:nvPr/>
          </p:nvGrpSpPr>
          <p:grpSpPr>
            <a:xfrm>
              <a:off x="1776" y="1216"/>
              <a:ext cx="160" cy="224"/>
              <a:chOff x="2025" y="2603"/>
              <a:chExt cx="277" cy="403"/>
            </a:xfrm>
          </p:grpSpPr>
          <p:grpSp>
            <p:nvGrpSpPr>
              <p:cNvPr id="17" name="Group 77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80" name="Oval 78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81" name="Line 79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82" name="Rectangle 80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83" name="Line 81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84" name="Line 82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79" name="Oval 83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8" name="Group 84"/>
            <p:cNvGrpSpPr/>
            <p:nvPr/>
          </p:nvGrpSpPr>
          <p:grpSpPr>
            <a:xfrm>
              <a:off x="1968" y="1216"/>
              <a:ext cx="160" cy="224"/>
              <a:chOff x="2025" y="2603"/>
              <a:chExt cx="277" cy="403"/>
            </a:xfrm>
          </p:grpSpPr>
          <p:grpSp>
            <p:nvGrpSpPr>
              <p:cNvPr id="19" name="Group 85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73" name="Oval 86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74" name="Line 87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75" name="Rectangle 88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76" name="Line 89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77" name="Line 90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72" name="Oval 91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0" name="Group 92"/>
            <p:cNvGrpSpPr/>
            <p:nvPr/>
          </p:nvGrpSpPr>
          <p:grpSpPr>
            <a:xfrm>
              <a:off x="2160" y="1216"/>
              <a:ext cx="160" cy="224"/>
              <a:chOff x="2025" y="2603"/>
              <a:chExt cx="277" cy="403"/>
            </a:xfrm>
          </p:grpSpPr>
          <p:grpSp>
            <p:nvGrpSpPr>
              <p:cNvPr id="21" name="Group 93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66" name="Oval 94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67" name="Line 95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68" name="Rectangle 96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69" name="Line 97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70" name="Line 98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65" name="Oval 99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2" name="Group 100"/>
            <p:cNvGrpSpPr/>
            <p:nvPr/>
          </p:nvGrpSpPr>
          <p:grpSpPr>
            <a:xfrm>
              <a:off x="2352" y="1216"/>
              <a:ext cx="160" cy="224"/>
              <a:chOff x="2025" y="2603"/>
              <a:chExt cx="277" cy="403"/>
            </a:xfrm>
          </p:grpSpPr>
          <p:grpSp>
            <p:nvGrpSpPr>
              <p:cNvPr id="23" name="Group 101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59" name="Oval 102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60" name="Line 103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61" name="Rectangle 104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62" name="Line 105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63" name="Line 106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58" name="Oval 107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4" name="Group 108"/>
            <p:cNvGrpSpPr/>
            <p:nvPr/>
          </p:nvGrpSpPr>
          <p:grpSpPr>
            <a:xfrm>
              <a:off x="1584" y="1216"/>
              <a:ext cx="160" cy="224"/>
              <a:chOff x="2025" y="2603"/>
              <a:chExt cx="277" cy="403"/>
            </a:xfrm>
          </p:grpSpPr>
          <p:grpSp>
            <p:nvGrpSpPr>
              <p:cNvPr id="25" name="Group 109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52" name="Oval 110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53" name="Line 111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54" name="Rectangle 112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55" name="Line 113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56" name="Line 114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51" name="Oval 115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51224" name="Line 116"/>
            <p:cNvSpPr/>
            <p:nvPr/>
          </p:nvSpPr>
          <p:spPr>
            <a:xfrm>
              <a:off x="1330" y="1615"/>
              <a:ext cx="6" cy="38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5" name="Line 117"/>
            <p:cNvSpPr/>
            <p:nvPr/>
          </p:nvSpPr>
          <p:spPr>
            <a:xfrm>
              <a:off x="1866" y="1026"/>
              <a:ext cx="158" cy="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6" name="Line 118"/>
            <p:cNvSpPr/>
            <p:nvPr/>
          </p:nvSpPr>
          <p:spPr>
            <a:xfrm>
              <a:off x="1300" y="1577"/>
              <a:ext cx="0" cy="41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7" name="Line 119"/>
            <p:cNvSpPr/>
            <p:nvPr/>
          </p:nvSpPr>
          <p:spPr>
            <a:xfrm>
              <a:off x="1260" y="1537"/>
              <a:ext cx="0" cy="46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8" name="Line 120"/>
            <p:cNvSpPr/>
            <p:nvPr/>
          </p:nvSpPr>
          <p:spPr>
            <a:xfrm>
              <a:off x="1368" y="1647"/>
              <a:ext cx="0" cy="35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9" name="Line 121"/>
            <p:cNvSpPr/>
            <p:nvPr/>
          </p:nvSpPr>
          <p:spPr>
            <a:xfrm flipV="1">
              <a:off x="1800" y="1436"/>
              <a:ext cx="0" cy="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0" name="Line 122"/>
            <p:cNvSpPr/>
            <p:nvPr/>
          </p:nvSpPr>
          <p:spPr>
            <a:xfrm>
              <a:off x="2432" y="1436"/>
              <a:ext cx="0" cy="17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1" name="Line 123"/>
            <p:cNvSpPr/>
            <p:nvPr/>
          </p:nvSpPr>
          <p:spPr>
            <a:xfrm>
              <a:off x="3836" y="1440"/>
              <a:ext cx="0" cy="35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2" name="Line 124"/>
            <p:cNvSpPr/>
            <p:nvPr/>
          </p:nvSpPr>
          <p:spPr>
            <a:xfrm>
              <a:off x="4520" y="1440"/>
              <a:ext cx="0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6" name="Group 125"/>
            <p:cNvGrpSpPr/>
            <p:nvPr/>
          </p:nvGrpSpPr>
          <p:grpSpPr>
            <a:xfrm>
              <a:off x="3524" y="1216"/>
              <a:ext cx="160" cy="224"/>
              <a:chOff x="2025" y="2603"/>
              <a:chExt cx="277" cy="403"/>
            </a:xfrm>
          </p:grpSpPr>
          <p:grpSp>
            <p:nvGrpSpPr>
              <p:cNvPr id="27" name="Group 126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45" name="Oval 127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46" name="Line 128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47" name="Rectangle 129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48" name="Line 130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49" name="Line 131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44" name="Oval 132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8" name="Group 133"/>
            <p:cNvGrpSpPr/>
            <p:nvPr/>
          </p:nvGrpSpPr>
          <p:grpSpPr>
            <a:xfrm>
              <a:off x="3716" y="1216"/>
              <a:ext cx="160" cy="224"/>
              <a:chOff x="2025" y="2603"/>
              <a:chExt cx="277" cy="403"/>
            </a:xfrm>
          </p:grpSpPr>
          <p:grpSp>
            <p:nvGrpSpPr>
              <p:cNvPr id="29" name="Group 134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38" name="Oval 135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39" name="Line 136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40" name="Rectangle 137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41" name="Line 138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42" name="Line 139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37" name="Oval 140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0" name="Group 141"/>
            <p:cNvGrpSpPr/>
            <p:nvPr/>
          </p:nvGrpSpPr>
          <p:grpSpPr>
            <a:xfrm>
              <a:off x="3908" y="1216"/>
              <a:ext cx="160" cy="224"/>
              <a:chOff x="2025" y="2603"/>
              <a:chExt cx="277" cy="403"/>
            </a:xfrm>
          </p:grpSpPr>
          <p:grpSp>
            <p:nvGrpSpPr>
              <p:cNvPr id="31" name="Group 142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31" name="Oval 143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32" name="Line 144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33" name="Rectangle 145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34" name="Line 146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35" name="Line 147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30" name="Oval 148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01" name="Group 149"/>
            <p:cNvGrpSpPr/>
            <p:nvPr/>
          </p:nvGrpSpPr>
          <p:grpSpPr>
            <a:xfrm>
              <a:off x="4200" y="1220"/>
              <a:ext cx="160" cy="224"/>
              <a:chOff x="2025" y="2603"/>
              <a:chExt cx="277" cy="403"/>
            </a:xfrm>
          </p:grpSpPr>
          <p:grpSp>
            <p:nvGrpSpPr>
              <p:cNvPr id="51308" name="Group 150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24" name="Oval 151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25" name="Line 152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26" name="Rectangle 153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27" name="Line 154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28" name="Line 155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23" name="Oval 156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15" name="Group 157"/>
            <p:cNvGrpSpPr/>
            <p:nvPr/>
          </p:nvGrpSpPr>
          <p:grpSpPr>
            <a:xfrm>
              <a:off x="4392" y="1220"/>
              <a:ext cx="160" cy="224"/>
              <a:chOff x="2025" y="2603"/>
              <a:chExt cx="277" cy="403"/>
            </a:xfrm>
          </p:grpSpPr>
          <p:grpSp>
            <p:nvGrpSpPr>
              <p:cNvPr id="51322" name="Group 158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17" name="Oval 159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18" name="Line 160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19" name="Rectangle 161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20" name="Line 162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21" name="Line 163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16" name="Oval 164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29" name="Group 165"/>
            <p:cNvGrpSpPr/>
            <p:nvPr/>
          </p:nvGrpSpPr>
          <p:grpSpPr>
            <a:xfrm>
              <a:off x="3720" y="696"/>
              <a:ext cx="160" cy="224"/>
              <a:chOff x="2025" y="2603"/>
              <a:chExt cx="277" cy="403"/>
            </a:xfrm>
          </p:grpSpPr>
          <p:grpSp>
            <p:nvGrpSpPr>
              <p:cNvPr id="51336" name="Group 166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10" name="Oval 167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11" name="Line 168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12" name="Rectangle 169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13" name="Line 170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14" name="Line 171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09" name="Oval 172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43" name="Group 173"/>
            <p:cNvGrpSpPr/>
            <p:nvPr/>
          </p:nvGrpSpPr>
          <p:grpSpPr>
            <a:xfrm>
              <a:off x="4292" y="696"/>
              <a:ext cx="160" cy="224"/>
              <a:chOff x="2025" y="2603"/>
              <a:chExt cx="277" cy="403"/>
            </a:xfrm>
          </p:grpSpPr>
          <p:grpSp>
            <p:nvGrpSpPr>
              <p:cNvPr id="51350" name="Group 174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1303" name="Oval 175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04" name="Line 176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05" name="Rectangle 177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1306" name="Line 178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307" name="Line 179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302" name="Oval 180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51240" name="Line 181"/>
            <p:cNvSpPr/>
            <p:nvPr/>
          </p:nvSpPr>
          <p:spPr>
            <a:xfrm flipH="1">
              <a:off x="3800" y="920"/>
              <a:ext cx="0" cy="30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1" name="Line 182"/>
            <p:cNvSpPr/>
            <p:nvPr/>
          </p:nvSpPr>
          <p:spPr>
            <a:xfrm flipH="1">
              <a:off x="2048" y="916"/>
              <a:ext cx="0" cy="30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2" name="Line 183"/>
            <p:cNvSpPr/>
            <p:nvPr/>
          </p:nvSpPr>
          <p:spPr>
            <a:xfrm flipH="1" flipV="1">
              <a:off x="4328" y="908"/>
              <a:ext cx="0" cy="2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3" name="Line 184"/>
            <p:cNvSpPr/>
            <p:nvPr/>
          </p:nvSpPr>
          <p:spPr>
            <a:xfrm flipV="1">
              <a:off x="4404" y="912"/>
              <a:ext cx="0" cy="21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4" name="Line 185"/>
            <p:cNvSpPr/>
            <p:nvPr/>
          </p:nvSpPr>
          <p:spPr>
            <a:xfrm flipH="1">
              <a:off x="4268" y="1128"/>
              <a:ext cx="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5" name="Line 186"/>
            <p:cNvSpPr/>
            <p:nvPr/>
          </p:nvSpPr>
          <p:spPr>
            <a:xfrm flipV="1">
              <a:off x="4272" y="1128"/>
              <a:ext cx="0" cy="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6" name="Line 187"/>
            <p:cNvSpPr/>
            <p:nvPr/>
          </p:nvSpPr>
          <p:spPr>
            <a:xfrm flipH="1">
              <a:off x="4408" y="1128"/>
              <a:ext cx="6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7" name="Line 188"/>
            <p:cNvSpPr/>
            <p:nvPr/>
          </p:nvSpPr>
          <p:spPr>
            <a:xfrm flipV="1">
              <a:off x="4472" y="1128"/>
              <a:ext cx="0" cy="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8" name="Line 189"/>
            <p:cNvSpPr/>
            <p:nvPr/>
          </p:nvSpPr>
          <p:spPr>
            <a:xfrm flipH="1" flipV="1">
              <a:off x="3752" y="908"/>
              <a:ext cx="0" cy="2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9" name="Line 190"/>
            <p:cNvSpPr/>
            <p:nvPr/>
          </p:nvSpPr>
          <p:spPr>
            <a:xfrm flipV="1">
              <a:off x="3840" y="916"/>
              <a:ext cx="0" cy="21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0" name="Line 191"/>
            <p:cNvSpPr/>
            <p:nvPr/>
          </p:nvSpPr>
          <p:spPr>
            <a:xfrm flipH="1" flipV="1">
              <a:off x="3608" y="1124"/>
              <a:ext cx="144" cy="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1" name="Line 192"/>
            <p:cNvSpPr/>
            <p:nvPr/>
          </p:nvSpPr>
          <p:spPr>
            <a:xfrm flipV="1">
              <a:off x="3608" y="1124"/>
              <a:ext cx="0" cy="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2" name="Line 193"/>
            <p:cNvSpPr/>
            <p:nvPr/>
          </p:nvSpPr>
          <p:spPr>
            <a:xfrm flipH="1">
              <a:off x="3840" y="1128"/>
              <a:ext cx="15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3" name="Line 194"/>
            <p:cNvSpPr/>
            <p:nvPr/>
          </p:nvSpPr>
          <p:spPr>
            <a:xfrm flipV="1">
              <a:off x="3992" y="1128"/>
              <a:ext cx="0" cy="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4" name="Line 195"/>
            <p:cNvSpPr/>
            <p:nvPr/>
          </p:nvSpPr>
          <p:spPr>
            <a:xfrm flipV="1">
              <a:off x="1664" y="978"/>
              <a:ext cx="0" cy="23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5" name="Line 196"/>
            <p:cNvSpPr/>
            <p:nvPr/>
          </p:nvSpPr>
          <p:spPr>
            <a:xfrm>
              <a:off x="1664" y="980"/>
              <a:ext cx="33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6" name="Line 197"/>
            <p:cNvSpPr/>
            <p:nvPr/>
          </p:nvSpPr>
          <p:spPr>
            <a:xfrm flipV="1">
              <a:off x="1988" y="916"/>
              <a:ext cx="0" cy="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7" name="Line 198"/>
            <p:cNvSpPr/>
            <p:nvPr/>
          </p:nvSpPr>
          <p:spPr>
            <a:xfrm flipV="1">
              <a:off x="1856" y="1020"/>
              <a:ext cx="0" cy="19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8" name="Line 199"/>
            <p:cNvSpPr/>
            <p:nvPr/>
          </p:nvSpPr>
          <p:spPr>
            <a:xfrm flipV="1">
              <a:off x="2016" y="916"/>
              <a:ext cx="0" cy="1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9" name="Line 200"/>
            <p:cNvSpPr/>
            <p:nvPr/>
          </p:nvSpPr>
          <p:spPr>
            <a:xfrm>
              <a:off x="2084" y="1100"/>
              <a:ext cx="15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0" name="Line 201"/>
            <p:cNvSpPr/>
            <p:nvPr/>
          </p:nvSpPr>
          <p:spPr>
            <a:xfrm flipV="1">
              <a:off x="2240" y="1100"/>
              <a:ext cx="0" cy="11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1" name="Line 202"/>
            <p:cNvSpPr/>
            <p:nvPr/>
          </p:nvSpPr>
          <p:spPr>
            <a:xfrm flipV="1">
              <a:off x="2080" y="916"/>
              <a:ext cx="0" cy="1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2" name="Line 203"/>
            <p:cNvSpPr/>
            <p:nvPr/>
          </p:nvSpPr>
          <p:spPr>
            <a:xfrm>
              <a:off x="2108" y="916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3" name="Line 204"/>
            <p:cNvSpPr/>
            <p:nvPr/>
          </p:nvSpPr>
          <p:spPr>
            <a:xfrm>
              <a:off x="2108" y="1060"/>
              <a:ext cx="32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4" name="Line 205"/>
            <p:cNvSpPr/>
            <p:nvPr/>
          </p:nvSpPr>
          <p:spPr>
            <a:xfrm flipV="1">
              <a:off x="2432" y="1060"/>
              <a:ext cx="0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5" name="Line 206"/>
            <p:cNvSpPr/>
            <p:nvPr/>
          </p:nvSpPr>
          <p:spPr>
            <a:xfrm flipV="1">
              <a:off x="4376" y="560"/>
              <a:ext cx="0" cy="1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6" name="Line 207"/>
            <p:cNvSpPr/>
            <p:nvPr/>
          </p:nvSpPr>
          <p:spPr>
            <a:xfrm flipV="1">
              <a:off x="3800" y="564"/>
              <a:ext cx="0" cy="1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7" name="Line 208"/>
            <p:cNvSpPr/>
            <p:nvPr/>
          </p:nvSpPr>
          <p:spPr>
            <a:xfrm flipV="1">
              <a:off x="2048" y="560"/>
              <a:ext cx="0" cy="1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8" name="Line 209"/>
            <p:cNvSpPr/>
            <p:nvPr/>
          </p:nvSpPr>
          <p:spPr>
            <a:xfrm>
              <a:off x="1372" y="1648"/>
              <a:ext cx="30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9" name="Line 210"/>
            <p:cNvSpPr/>
            <p:nvPr/>
          </p:nvSpPr>
          <p:spPr>
            <a:xfrm>
              <a:off x="4432" y="1436"/>
              <a:ext cx="0" cy="2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0" name="Line 211"/>
            <p:cNvSpPr/>
            <p:nvPr/>
          </p:nvSpPr>
          <p:spPr>
            <a:xfrm>
              <a:off x="3992" y="1444"/>
              <a:ext cx="0" cy="2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1" name="Line 212"/>
            <p:cNvSpPr/>
            <p:nvPr/>
          </p:nvSpPr>
          <p:spPr>
            <a:xfrm>
              <a:off x="2460" y="1440"/>
              <a:ext cx="0" cy="2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2" name="Line 213"/>
            <p:cNvSpPr/>
            <p:nvPr/>
          </p:nvSpPr>
          <p:spPr>
            <a:xfrm>
              <a:off x="1336" y="1612"/>
              <a:ext cx="260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3" name="Line 214"/>
            <p:cNvSpPr/>
            <p:nvPr/>
          </p:nvSpPr>
          <p:spPr>
            <a:xfrm>
              <a:off x="3944" y="1436"/>
              <a:ext cx="0" cy="17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4" name="Line 215"/>
            <p:cNvSpPr/>
            <p:nvPr/>
          </p:nvSpPr>
          <p:spPr>
            <a:xfrm>
              <a:off x="3748" y="1436"/>
              <a:ext cx="0" cy="17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5" name="Line 216"/>
            <p:cNvSpPr/>
            <p:nvPr/>
          </p:nvSpPr>
          <p:spPr>
            <a:xfrm>
              <a:off x="2260" y="1436"/>
              <a:ext cx="0" cy="17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6" name="Line 217"/>
            <p:cNvSpPr/>
            <p:nvPr/>
          </p:nvSpPr>
          <p:spPr>
            <a:xfrm flipV="1">
              <a:off x="1300" y="1568"/>
              <a:ext cx="196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7" name="Line 218"/>
            <p:cNvSpPr/>
            <p:nvPr/>
          </p:nvSpPr>
          <p:spPr>
            <a:xfrm>
              <a:off x="2400" y="1440"/>
              <a:ext cx="0" cy="1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8" name="Line 219"/>
            <p:cNvSpPr/>
            <p:nvPr/>
          </p:nvSpPr>
          <p:spPr>
            <a:xfrm>
              <a:off x="2216" y="1440"/>
              <a:ext cx="0" cy="1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9" name="Line 220"/>
            <p:cNvSpPr/>
            <p:nvPr/>
          </p:nvSpPr>
          <p:spPr>
            <a:xfrm>
              <a:off x="3608" y="1440"/>
              <a:ext cx="0" cy="31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0" name="Line 221"/>
            <p:cNvSpPr/>
            <p:nvPr/>
          </p:nvSpPr>
          <p:spPr>
            <a:xfrm>
              <a:off x="2044" y="1440"/>
              <a:ext cx="0" cy="1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1" name="Line 222"/>
            <p:cNvSpPr/>
            <p:nvPr/>
          </p:nvSpPr>
          <p:spPr>
            <a:xfrm>
              <a:off x="1264" y="1532"/>
              <a:ext cx="110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2" name="Line 223"/>
            <p:cNvSpPr/>
            <p:nvPr/>
          </p:nvSpPr>
          <p:spPr>
            <a:xfrm flipV="1">
              <a:off x="1996" y="1440"/>
              <a:ext cx="0" cy="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3" name="Line 224"/>
            <p:cNvSpPr/>
            <p:nvPr/>
          </p:nvSpPr>
          <p:spPr>
            <a:xfrm flipV="1">
              <a:off x="2180" y="1440"/>
              <a:ext cx="0" cy="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4" name="Line 225"/>
            <p:cNvSpPr/>
            <p:nvPr/>
          </p:nvSpPr>
          <p:spPr>
            <a:xfrm flipV="1">
              <a:off x="2372" y="1440"/>
              <a:ext cx="0" cy="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5" name="Line 226"/>
            <p:cNvSpPr/>
            <p:nvPr/>
          </p:nvSpPr>
          <p:spPr>
            <a:xfrm>
              <a:off x="1664" y="1436"/>
              <a:ext cx="0" cy="5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6" name="Line 227"/>
            <p:cNvSpPr/>
            <p:nvPr/>
          </p:nvSpPr>
          <p:spPr>
            <a:xfrm>
              <a:off x="1892" y="1440"/>
              <a:ext cx="0" cy="5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7" name="Line 228"/>
            <p:cNvSpPr/>
            <p:nvPr/>
          </p:nvSpPr>
          <p:spPr>
            <a:xfrm>
              <a:off x="2092" y="1440"/>
              <a:ext cx="0" cy="5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8" name="Line 229"/>
            <p:cNvSpPr/>
            <p:nvPr/>
          </p:nvSpPr>
          <p:spPr>
            <a:xfrm>
              <a:off x="2296" y="1444"/>
              <a:ext cx="0" cy="5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9" name="Line 230"/>
            <p:cNvSpPr/>
            <p:nvPr/>
          </p:nvSpPr>
          <p:spPr>
            <a:xfrm>
              <a:off x="2492" y="1440"/>
              <a:ext cx="0" cy="5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90" name="Line 231"/>
            <p:cNvSpPr/>
            <p:nvPr/>
          </p:nvSpPr>
          <p:spPr>
            <a:xfrm>
              <a:off x="2492" y="1832"/>
              <a:ext cx="202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91" name="Line 232"/>
            <p:cNvSpPr/>
            <p:nvPr/>
          </p:nvSpPr>
          <p:spPr>
            <a:xfrm>
              <a:off x="4040" y="1440"/>
              <a:ext cx="0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92" name="Line 233"/>
            <p:cNvSpPr/>
            <p:nvPr/>
          </p:nvSpPr>
          <p:spPr>
            <a:xfrm>
              <a:off x="4280" y="1440"/>
              <a:ext cx="0" cy="35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93" name="Line 234"/>
            <p:cNvSpPr/>
            <p:nvPr/>
          </p:nvSpPr>
          <p:spPr>
            <a:xfrm>
              <a:off x="2296" y="1792"/>
              <a:ext cx="19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94" name="Line 235"/>
            <p:cNvSpPr/>
            <p:nvPr/>
          </p:nvSpPr>
          <p:spPr>
            <a:xfrm>
              <a:off x="2092" y="1748"/>
              <a:ext cx="1516" cy="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95" name="Line 236"/>
            <p:cNvSpPr/>
            <p:nvPr/>
          </p:nvSpPr>
          <p:spPr>
            <a:xfrm>
              <a:off x="1892" y="1708"/>
              <a:ext cx="84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96" name="Text Box 237"/>
            <p:cNvSpPr txBox="1"/>
            <p:nvPr/>
          </p:nvSpPr>
          <p:spPr>
            <a:xfrm>
              <a:off x="1624" y="1976"/>
              <a:ext cx="932" cy="11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latin typeface="Times New Roman" pitchFamily="18" charset="0"/>
                </a:rPr>
                <a:t>g3        g2      g1      g0     c0</a:t>
              </a:r>
              <a:endParaRPr lang="en-US" altLang="zh-CN" sz="1000" dirty="0">
                <a:latin typeface="Times New Roman" pitchFamily="18" charset="0"/>
              </a:endParaRPr>
            </a:p>
          </p:txBody>
        </p:sp>
        <p:sp>
          <p:nvSpPr>
            <p:cNvPr id="51297" name="Text Box 238"/>
            <p:cNvSpPr txBox="1"/>
            <p:nvPr/>
          </p:nvSpPr>
          <p:spPr>
            <a:xfrm>
              <a:off x="1256" y="1987"/>
              <a:ext cx="209" cy="10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latin typeface="Times New Roman" pitchFamily="18" charset="0"/>
                </a:rPr>
                <a:t>p3-0</a:t>
              </a:r>
              <a:endParaRPr lang="en-US" altLang="zh-CN" sz="1000" dirty="0">
                <a:latin typeface="Times New Roman" pitchFamily="18" charset="0"/>
              </a:endParaRPr>
            </a:p>
          </p:txBody>
        </p:sp>
        <p:sp>
          <p:nvSpPr>
            <p:cNvPr id="51298" name="Text Box 239"/>
            <p:cNvSpPr txBox="1"/>
            <p:nvPr/>
          </p:nvSpPr>
          <p:spPr>
            <a:xfrm>
              <a:off x="2092" y="556"/>
              <a:ext cx="88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latin typeface="Times New Roman" pitchFamily="18" charset="0"/>
                </a:rPr>
                <a:t>c4</a:t>
              </a:r>
              <a:endParaRPr lang="en-US" altLang="zh-CN" sz="1000" dirty="0">
                <a:latin typeface="Times New Roman" pitchFamily="18" charset="0"/>
              </a:endParaRPr>
            </a:p>
          </p:txBody>
        </p:sp>
        <p:sp>
          <p:nvSpPr>
            <p:cNvPr id="51299" name="Text Box 240"/>
            <p:cNvSpPr txBox="1"/>
            <p:nvPr/>
          </p:nvSpPr>
          <p:spPr>
            <a:xfrm>
              <a:off x="3824" y="556"/>
              <a:ext cx="88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latin typeface="Times New Roman" pitchFamily="18" charset="0"/>
                </a:rPr>
                <a:t>c2</a:t>
              </a:r>
              <a:endParaRPr lang="en-US" altLang="zh-CN" sz="1000" dirty="0">
                <a:latin typeface="Times New Roman" pitchFamily="18" charset="0"/>
              </a:endParaRPr>
            </a:p>
          </p:txBody>
        </p:sp>
        <p:sp>
          <p:nvSpPr>
            <p:cNvPr id="51300" name="Text Box 241"/>
            <p:cNvSpPr txBox="1"/>
            <p:nvPr/>
          </p:nvSpPr>
          <p:spPr>
            <a:xfrm>
              <a:off x="4400" y="548"/>
              <a:ext cx="88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latin typeface="Times New Roman" pitchFamily="18" charset="0"/>
                </a:rPr>
                <a:t>c1</a:t>
              </a:r>
              <a:endParaRPr lang="en-US" altLang="zh-CN" sz="1000" dirty="0">
                <a:latin typeface="Times New Roman" pitchFamily="18" charset="0"/>
              </a:endParaRPr>
            </a:p>
          </p:txBody>
        </p:sp>
      </p:grpSp>
      <p:sp>
        <p:nvSpPr>
          <p:cNvPr id="51205" name="Rectangle 242"/>
          <p:cNvSpPr/>
          <p:nvPr/>
        </p:nvSpPr>
        <p:spPr>
          <a:xfrm>
            <a:off x="628650" y="1227138"/>
            <a:ext cx="10912475" cy="6889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10000"/>
              </a:spcBef>
              <a:buChar char="•"/>
            </a:pPr>
            <a:endParaRPr lang="zh-CN" altLang="zh-CN" sz="2800" dirty="0">
              <a:latin typeface="Times New Roman" pitchFamily="18" charset="0"/>
            </a:endParaRPr>
          </a:p>
        </p:txBody>
      </p:sp>
      <p:grpSp>
        <p:nvGrpSpPr>
          <p:cNvPr id="51357" name="Group 253"/>
          <p:cNvGrpSpPr/>
          <p:nvPr/>
        </p:nvGrpSpPr>
        <p:grpSpPr>
          <a:xfrm>
            <a:off x="10099675" y="3040063"/>
            <a:ext cx="1555750" cy="1487487"/>
            <a:chOff x="4190" y="1777"/>
            <a:chExt cx="1005" cy="1153"/>
          </a:xfrm>
        </p:grpSpPr>
        <p:sp>
          <p:nvSpPr>
            <p:cNvPr id="51209" name="Line 244"/>
            <p:cNvSpPr/>
            <p:nvPr/>
          </p:nvSpPr>
          <p:spPr>
            <a:xfrm>
              <a:off x="4190" y="2368"/>
              <a:ext cx="100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0" name="Rectangle 245"/>
            <p:cNvSpPr/>
            <p:nvPr/>
          </p:nvSpPr>
          <p:spPr>
            <a:xfrm>
              <a:off x="4361" y="2065"/>
              <a:ext cx="693" cy="576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51211" name="Text Box 246"/>
            <p:cNvSpPr txBox="1"/>
            <p:nvPr/>
          </p:nvSpPr>
          <p:spPr>
            <a:xfrm>
              <a:off x="4500" y="2531"/>
              <a:ext cx="562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000" dirty="0">
                  <a:latin typeface="+mn-ea"/>
                  <a:ea typeface="+mn-ea"/>
                </a:rPr>
                <a:t>p3-0   g3-0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51212" name="Text Box 247"/>
            <p:cNvSpPr txBox="1"/>
            <p:nvPr/>
          </p:nvSpPr>
          <p:spPr>
            <a:xfrm>
              <a:off x="4373" y="2309"/>
              <a:ext cx="687" cy="14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 dirty="0">
                  <a:latin typeface="+mn-ea"/>
                  <a:ea typeface="+mn-ea"/>
                </a:rPr>
                <a:t> </a:t>
              </a:r>
              <a:r>
                <a:rPr lang="en-US" altLang="zh-CN" sz="1000" dirty="0" smtClean="0">
                  <a:latin typeface="+mn-ea"/>
                  <a:ea typeface="+mn-ea"/>
                </a:rPr>
                <a:t>c4          </a:t>
              </a:r>
              <a:r>
                <a:rPr lang="en-US" altLang="zh-CN" sz="1000" dirty="0">
                  <a:latin typeface="+mn-ea"/>
                  <a:ea typeface="+mn-ea"/>
                </a:rPr>
                <a:t>c0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51213" name="Text Box 248"/>
            <p:cNvSpPr txBox="1"/>
            <p:nvPr/>
          </p:nvSpPr>
          <p:spPr>
            <a:xfrm>
              <a:off x="4633" y="2078"/>
              <a:ext cx="219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000" dirty="0">
                  <a:latin typeface="+mn-ea"/>
                  <a:ea typeface="+mn-ea"/>
                </a:rPr>
                <a:t>c3-0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51214" name="Line 249"/>
            <p:cNvSpPr/>
            <p:nvPr/>
          </p:nvSpPr>
          <p:spPr>
            <a:xfrm>
              <a:off x="4610" y="2641"/>
              <a:ext cx="0" cy="28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5" name="Line 250"/>
            <p:cNvSpPr/>
            <p:nvPr/>
          </p:nvSpPr>
          <p:spPr>
            <a:xfrm>
              <a:off x="4818" y="2641"/>
              <a:ext cx="0" cy="28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6" name="Line 251"/>
            <p:cNvSpPr/>
            <p:nvPr/>
          </p:nvSpPr>
          <p:spPr>
            <a:xfrm>
              <a:off x="4722" y="1777"/>
              <a:ext cx="0" cy="28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07" name="AutoShape 254"/>
          <p:cNvSpPr/>
          <p:nvPr/>
        </p:nvSpPr>
        <p:spPr>
          <a:xfrm>
            <a:off x="8558213" y="3676650"/>
            <a:ext cx="673100" cy="219075"/>
          </a:xfrm>
          <a:prstGeom prst="rightArrow">
            <a:avLst>
              <a:gd name="adj1" fmla="val 50000"/>
              <a:gd name="adj2" fmla="val 57622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51208" name="Rectangle 255"/>
          <p:cNvSpPr>
            <a:spLocks noGrp="1"/>
          </p:cNvSpPr>
          <p:nvPr>
            <p:ph type="title"/>
          </p:nvPr>
        </p:nvSpPr>
        <p:spPr>
          <a:xfrm>
            <a:off x="838200" y="228600"/>
            <a:ext cx="10361613" cy="78105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位并行进位逻辑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53251" name="Rectangle 282"/>
          <p:cNvSpPr/>
          <p:nvPr/>
        </p:nvSpPr>
        <p:spPr>
          <a:xfrm>
            <a:off x="793750" y="864268"/>
            <a:ext cx="10912475" cy="267268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30000"/>
              </a:lnSpc>
              <a:buChar char="•"/>
            </a:pPr>
            <a:r>
              <a:rPr lang="zh-CN" altLang="en-US" sz="2000" b="1" dirty="0">
                <a:latin typeface="+mn-ea"/>
                <a:ea typeface="+mn-ea"/>
              </a:rPr>
              <a:t>输入为</a:t>
            </a:r>
            <a:r>
              <a:rPr lang="en-US" altLang="zh-CN" sz="2000" b="1" dirty="0">
                <a:latin typeface="+mn-ea"/>
                <a:ea typeface="+mn-ea"/>
              </a:rPr>
              <a:t>pi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gi</a:t>
            </a:r>
            <a:r>
              <a:rPr lang="zh-CN" altLang="en-US" sz="2000" b="1" dirty="0">
                <a:latin typeface="+mn-ea"/>
                <a:ea typeface="+mn-ea"/>
              </a:rPr>
              <a:t>，输出为</a:t>
            </a:r>
            <a:r>
              <a:rPr lang="en-US" altLang="zh-CN" sz="2000" b="1" dirty="0">
                <a:latin typeface="+mn-ea"/>
                <a:ea typeface="+mn-ea"/>
              </a:rPr>
              <a:t>ci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30000"/>
              </a:lnSpc>
              <a:buChar char="•"/>
            </a:pPr>
            <a:r>
              <a:rPr lang="zh-CN" altLang="en-US" sz="2000" b="1" dirty="0">
                <a:latin typeface="+mn-ea"/>
                <a:ea typeface="+mn-ea"/>
              </a:rPr>
              <a:t>每次并行产生</a:t>
            </a:r>
            <a:r>
              <a:rPr lang="en-US" altLang="zh-CN" sz="2000" b="1" dirty="0">
                <a:latin typeface="+mn-ea"/>
                <a:ea typeface="+mn-ea"/>
              </a:rPr>
              <a:t>4</a:t>
            </a:r>
            <a:r>
              <a:rPr lang="zh-CN" altLang="en-US" sz="2000" b="1" dirty="0">
                <a:latin typeface="+mn-ea"/>
                <a:ea typeface="+mn-ea"/>
              </a:rPr>
              <a:t>位进位，从</a:t>
            </a:r>
            <a:r>
              <a:rPr lang="en-US" altLang="zh-CN" sz="2000" b="1" dirty="0">
                <a:latin typeface="+mn-ea"/>
                <a:ea typeface="+mn-ea"/>
              </a:rPr>
              <a:t>pi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gi</a:t>
            </a:r>
            <a:r>
              <a:rPr lang="zh-CN" altLang="en-US" sz="2000" b="1" dirty="0">
                <a:latin typeface="+mn-ea"/>
                <a:ea typeface="+mn-ea"/>
              </a:rPr>
              <a:t>产生</a:t>
            </a:r>
            <a:r>
              <a:rPr lang="en-US" altLang="zh-CN" sz="2000" b="1" dirty="0">
                <a:latin typeface="+mn-ea"/>
                <a:ea typeface="+mn-ea"/>
              </a:rPr>
              <a:t>c16</a:t>
            </a:r>
            <a:r>
              <a:rPr lang="zh-CN" altLang="en-US" sz="2000" b="1" dirty="0">
                <a:latin typeface="+mn-ea"/>
                <a:ea typeface="+mn-ea"/>
              </a:rPr>
              <a:t>只要</a:t>
            </a:r>
            <a:r>
              <a:rPr lang="en-US" altLang="zh-CN" sz="2000" b="1" dirty="0">
                <a:latin typeface="+mn-ea"/>
                <a:ea typeface="+mn-ea"/>
              </a:rPr>
              <a:t>4</a:t>
            </a:r>
            <a:r>
              <a:rPr lang="zh-CN" altLang="en-US" sz="2000" b="1" dirty="0">
                <a:latin typeface="+mn-ea"/>
                <a:ea typeface="+mn-ea"/>
              </a:rPr>
              <a:t>级传递，</a:t>
            </a:r>
            <a:r>
              <a:rPr lang="en-US" altLang="zh-CN" sz="2000" b="1" dirty="0">
                <a:latin typeface="+mn-ea"/>
                <a:ea typeface="+mn-ea"/>
              </a:rPr>
              <a:t>8</a:t>
            </a:r>
            <a:r>
              <a:rPr lang="zh-CN" altLang="en-US" sz="2000" b="1" dirty="0">
                <a:latin typeface="+mn-ea"/>
                <a:ea typeface="+mn-ea"/>
              </a:rPr>
              <a:t>级门延迟（产生运算结果还需要一个异或）。原来从</a:t>
            </a:r>
            <a:r>
              <a:rPr lang="en-US" altLang="zh-CN" sz="2000" b="1" dirty="0">
                <a:latin typeface="+mn-ea"/>
                <a:ea typeface="+mn-ea"/>
              </a:rPr>
              <a:t>ai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 bi</a:t>
            </a:r>
            <a:r>
              <a:rPr lang="zh-CN" altLang="en-US" sz="2000" b="1" dirty="0">
                <a:latin typeface="+mn-ea"/>
                <a:ea typeface="+mn-ea"/>
              </a:rPr>
              <a:t>产生</a:t>
            </a:r>
            <a:r>
              <a:rPr lang="en-US" altLang="zh-CN" sz="2000" b="1" dirty="0">
                <a:latin typeface="+mn-ea"/>
                <a:ea typeface="+mn-ea"/>
              </a:rPr>
              <a:t>c16</a:t>
            </a:r>
            <a:r>
              <a:rPr lang="zh-CN" altLang="en-US" sz="2000" b="1" dirty="0">
                <a:latin typeface="+mn-ea"/>
                <a:ea typeface="+mn-ea"/>
              </a:rPr>
              <a:t>需要</a:t>
            </a:r>
            <a:r>
              <a:rPr lang="en-US" altLang="zh-CN" sz="2000" b="1" dirty="0">
                <a:latin typeface="+mn-ea"/>
                <a:ea typeface="+mn-ea"/>
              </a:rPr>
              <a:t>16</a:t>
            </a:r>
            <a:r>
              <a:rPr lang="zh-CN" altLang="en-US" sz="2000" b="1" dirty="0">
                <a:latin typeface="+mn-ea"/>
                <a:ea typeface="+mn-ea"/>
              </a:rPr>
              <a:t>级传递，</a:t>
            </a:r>
            <a:r>
              <a:rPr lang="en-US" altLang="zh-CN" sz="2000" b="1" dirty="0">
                <a:latin typeface="+mn-ea"/>
                <a:ea typeface="+mn-ea"/>
              </a:rPr>
              <a:t>32</a:t>
            </a:r>
            <a:r>
              <a:rPr lang="zh-CN" altLang="en-US" sz="2000" b="1" dirty="0">
                <a:latin typeface="+mn-ea"/>
                <a:ea typeface="+mn-ea"/>
              </a:rPr>
              <a:t>级门延迟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30000"/>
              </a:lnSpc>
              <a:buChar char="•"/>
            </a:pPr>
            <a:r>
              <a:rPr lang="zh-CN" altLang="en-US" sz="2000" b="1" dirty="0">
                <a:latin typeface="+mn-ea"/>
                <a:ea typeface="+mn-ea"/>
              </a:rPr>
              <a:t>分块，块内并行，块间串行</a:t>
            </a:r>
            <a:endParaRPr lang="zh-CN" altLang="en-US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30000"/>
              </a:lnSpc>
              <a:buChar char="•"/>
            </a:pPr>
            <a:r>
              <a:rPr lang="zh-CN" altLang="en-US" sz="2000" b="1" dirty="0">
                <a:latin typeface="+mn-ea"/>
                <a:ea typeface="+mn-ea"/>
              </a:rPr>
              <a:t>块内并行，块间并行？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53253" name="Rectangle 358"/>
          <p:cNvSpPr>
            <a:spLocks noGrp="1"/>
          </p:cNvSpPr>
          <p:nvPr>
            <p:ph type="title"/>
          </p:nvPr>
        </p:nvSpPr>
        <p:spPr>
          <a:xfrm>
            <a:off x="863600" y="0"/>
            <a:ext cx="10361613" cy="78105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以</a:t>
            </a:r>
            <a:r>
              <a:rPr lang="en-US" altLang="zh-CN" dirty="0"/>
              <a:t>16</a:t>
            </a:r>
            <a:r>
              <a:rPr lang="zh-CN" altLang="en-US" dirty="0"/>
              <a:t>位加法器为例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485" y="3620135"/>
            <a:ext cx="9137650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五输入与非门不常用</a:t>
            </a:r>
            <a:endParaRPr lang="zh-CN" altLang="en-US" dirty="0"/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1613" cy="1414463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latin typeface="+mn-ea"/>
                <a:ea typeface="+mn-ea"/>
                <a:cs typeface="+mn-cs"/>
              </a:rPr>
              <a:t>五个</a:t>
            </a:r>
            <a:r>
              <a:rPr lang="en-US" altLang="zh-CN" sz="2000" dirty="0">
                <a:latin typeface="+mn-ea"/>
                <a:ea typeface="+mn-ea"/>
                <a:cs typeface="+mn-cs"/>
              </a:rPr>
              <a:t>N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管串接电阻大</a:t>
            </a:r>
            <a:endParaRPr lang="en-US" altLang="zh-CN" sz="2000" dirty="0">
              <a:latin typeface="+mn-ea"/>
              <a:ea typeface="+mn-ea"/>
              <a:cs typeface="+mn-cs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800" dirty="0">
                <a:latin typeface="+mn-ea"/>
                <a:ea typeface="+mn-ea"/>
              </a:rPr>
              <a:t>一般最多串接四个</a:t>
            </a:r>
            <a:endParaRPr lang="zh-CN" altLang="en-US" sz="1800" dirty="0">
              <a:latin typeface="+mn-ea"/>
              <a:ea typeface="+mn-ea"/>
            </a:endParaRPr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pSp>
        <p:nvGrpSpPr>
          <p:cNvPr id="2" name="组合 3"/>
          <p:cNvGrpSpPr/>
          <p:nvPr/>
        </p:nvGrpSpPr>
        <p:grpSpPr>
          <a:xfrm>
            <a:off x="7007225" y="2833688"/>
            <a:ext cx="3275013" cy="3378200"/>
            <a:chOff x="3438528" y="2180082"/>
            <a:chExt cx="3464385" cy="3714636"/>
          </a:xfrm>
        </p:grpSpPr>
        <p:sp>
          <p:nvSpPr>
            <p:cNvPr id="52230" name="Line 11"/>
            <p:cNvSpPr/>
            <p:nvPr/>
          </p:nvSpPr>
          <p:spPr>
            <a:xfrm flipV="1">
              <a:off x="3993147" y="2772980"/>
              <a:ext cx="1851" cy="249641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1" name="Line 12"/>
            <p:cNvSpPr/>
            <p:nvPr/>
          </p:nvSpPr>
          <p:spPr>
            <a:xfrm>
              <a:off x="4046833" y="3022621"/>
              <a:ext cx="103671" cy="1951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2" name="Line 13"/>
            <p:cNvSpPr/>
            <p:nvPr/>
          </p:nvSpPr>
          <p:spPr>
            <a:xfrm flipV="1">
              <a:off x="4046833" y="2772980"/>
              <a:ext cx="1852" cy="249641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3" name="Line 14"/>
            <p:cNvSpPr/>
            <p:nvPr/>
          </p:nvSpPr>
          <p:spPr>
            <a:xfrm>
              <a:off x="4046833" y="2772980"/>
              <a:ext cx="103671" cy="1951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4" name="Line 15"/>
            <p:cNvSpPr/>
            <p:nvPr/>
          </p:nvSpPr>
          <p:spPr>
            <a:xfrm>
              <a:off x="3878369" y="2895851"/>
              <a:ext cx="81455" cy="1950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5" name="Line 16"/>
            <p:cNvSpPr/>
            <p:nvPr/>
          </p:nvSpPr>
          <p:spPr>
            <a:xfrm flipV="1">
              <a:off x="4150504" y="3022621"/>
              <a:ext cx="1852" cy="83864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6" name="Line 17"/>
            <p:cNvSpPr/>
            <p:nvPr/>
          </p:nvSpPr>
          <p:spPr>
            <a:xfrm flipV="1">
              <a:off x="4150504" y="2689117"/>
              <a:ext cx="1852" cy="8386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7" name="Freeform 18"/>
            <p:cNvSpPr/>
            <p:nvPr/>
          </p:nvSpPr>
          <p:spPr>
            <a:xfrm>
              <a:off x="3959825" y="2872447"/>
              <a:ext cx="38876" cy="48757"/>
            </a:xfrm>
            <a:custGeom>
              <a:avLst/>
              <a:gdLst>
                <a:gd name="txL" fmla="*/ 0 w 61"/>
                <a:gd name="txT" fmla="*/ 0 h 74"/>
                <a:gd name="txR" fmla="*/ 61 w 61"/>
                <a:gd name="txB" fmla="*/ 74 h 7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1" h="74">
                  <a:moveTo>
                    <a:pt x="0" y="37"/>
                  </a:moveTo>
                  <a:lnTo>
                    <a:pt x="0" y="43"/>
                  </a:lnTo>
                  <a:lnTo>
                    <a:pt x="0" y="45"/>
                  </a:lnTo>
                  <a:lnTo>
                    <a:pt x="0" y="47"/>
                  </a:lnTo>
                  <a:lnTo>
                    <a:pt x="1" y="48"/>
                  </a:lnTo>
                  <a:lnTo>
                    <a:pt x="1" y="49"/>
                  </a:lnTo>
                  <a:lnTo>
                    <a:pt x="1" y="50"/>
                  </a:lnTo>
                  <a:lnTo>
                    <a:pt x="2" y="51"/>
                  </a:lnTo>
                  <a:lnTo>
                    <a:pt x="2" y="52"/>
                  </a:lnTo>
                  <a:lnTo>
                    <a:pt x="2" y="53"/>
                  </a:lnTo>
                  <a:lnTo>
                    <a:pt x="3" y="54"/>
                  </a:lnTo>
                  <a:lnTo>
                    <a:pt x="3" y="55"/>
                  </a:lnTo>
                  <a:lnTo>
                    <a:pt x="3" y="56"/>
                  </a:lnTo>
                  <a:lnTo>
                    <a:pt x="4" y="56"/>
                  </a:lnTo>
                  <a:lnTo>
                    <a:pt x="4" y="57"/>
                  </a:lnTo>
                  <a:lnTo>
                    <a:pt x="4" y="58"/>
                  </a:lnTo>
                  <a:lnTo>
                    <a:pt x="5" y="58"/>
                  </a:lnTo>
                  <a:lnTo>
                    <a:pt x="5" y="59"/>
                  </a:lnTo>
                  <a:lnTo>
                    <a:pt x="6" y="60"/>
                  </a:lnTo>
                  <a:lnTo>
                    <a:pt x="6" y="61"/>
                  </a:lnTo>
                  <a:lnTo>
                    <a:pt x="7" y="62"/>
                  </a:lnTo>
                  <a:lnTo>
                    <a:pt x="8" y="63"/>
                  </a:lnTo>
                  <a:lnTo>
                    <a:pt x="8" y="64"/>
                  </a:lnTo>
                  <a:lnTo>
                    <a:pt x="9" y="64"/>
                  </a:lnTo>
                  <a:lnTo>
                    <a:pt x="9" y="65"/>
                  </a:lnTo>
                  <a:lnTo>
                    <a:pt x="10" y="65"/>
                  </a:lnTo>
                  <a:lnTo>
                    <a:pt x="10" y="66"/>
                  </a:lnTo>
                  <a:lnTo>
                    <a:pt x="11" y="66"/>
                  </a:lnTo>
                  <a:lnTo>
                    <a:pt x="11" y="67"/>
                  </a:lnTo>
                  <a:lnTo>
                    <a:pt x="12" y="67"/>
                  </a:lnTo>
                  <a:lnTo>
                    <a:pt x="12" y="68"/>
                  </a:lnTo>
                  <a:lnTo>
                    <a:pt x="13" y="68"/>
                  </a:lnTo>
                  <a:lnTo>
                    <a:pt x="13" y="69"/>
                  </a:lnTo>
                  <a:lnTo>
                    <a:pt x="14" y="69"/>
                  </a:lnTo>
                  <a:lnTo>
                    <a:pt x="15" y="70"/>
                  </a:lnTo>
                  <a:lnTo>
                    <a:pt x="16" y="70"/>
                  </a:lnTo>
                  <a:lnTo>
                    <a:pt x="16" y="71"/>
                  </a:lnTo>
                  <a:lnTo>
                    <a:pt x="17" y="71"/>
                  </a:lnTo>
                  <a:lnTo>
                    <a:pt x="18" y="71"/>
                  </a:lnTo>
                  <a:lnTo>
                    <a:pt x="18" y="72"/>
                  </a:lnTo>
                  <a:lnTo>
                    <a:pt x="19" y="72"/>
                  </a:lnTo>
                  <a:lnTo>
                    <a:pt x="20" y="72"/>
                  </a:lnTo>
                  <a:lnTo>
                    <a:pt x="20" y="73"/>
                  </a:lnTo>
                  <a:lnTo>
                    <a:pt x="21" y="73"/>
                  </a:lnTo>
                  <a:lnTo>
                    <a:pt x="22" y="73"/>
                  </a:lnTo>
                  <a:lnTo>
                    <a:pt x="23" y="74"/>
                  </a:lnTo>
                  <a:lnTo>
                    <a:pt x="24" y="74"/>
                  </a:lnTo>
                  <a:lnTo>
                    <a:pt x="25" y="74"/>
                  </a:lnTo>
                  <a:lnTo>
                    <a:pt x="26" y="74"/>
                  </a:lnTo>
                  <a:lnTo>
                    <a:pt x="27" y="74"/>
                  </a:lnTo>
                  <a:lnTo>
                    <a:pt x="28" y="74"/>
                  </a:lnTo>
                  <a:lnTo>
                    <a:pt x="29" y="74"/>
                  </a:lnTo>
                  <a:lnTo>
                    <a:pt x="30" y="74"/>
                  </a:lnTo>
                  <a:lnTo>
                    <a:pt x="31" y="74"/>
                  </a:lnTo>
                  <a:lnTo>
                    <a:pt x="32" y="74"/>
                  </a:lnTo>
                  <a:lnTo>
                    <a:pt x="33" y="74"/>
                  </a:lnTo>
                  <a:lnTo>
                    <a:pt x="34" y="74"/>
                  </a:lnTo>
                  <a:lnTo>
                    <a:pt x="35" y="74"/>
                  </a:lnTo>
                  <a:lnTo>
                    <a:pt x="36" y="74"/>
                  </a:lnTo>
                  <a:lnTo>
                    <a:pt x="37" y="73"/>
                  </a:lnTo>
                  <a:lnTo>
                    <a:pt x="39" y="73"/>
                  </a:lnTo>
                  <a:lnTo>
                    <a:pt x="40" y="73"/>
                  </a:lnTo>
                  <a:lnTo>
                    <a:pt x="40" y="72"/>
                  </a:lnTo>
                  <a:lnTo>
                    <a:pt x="41" y="72"/>
                  </a:lnTo>
                  <a:lnTo>
                    <a:pt x="42" y="72"/>
                  </a:lnTo>
                  <a:lnTo>
                    <a:pt x="42" y="71"/>
                  </a:lnTo>
                  <a:lnTo>
                    <a:pt x="43" y="71"/>
                  </a:lnTo>
                  <a:lnTo>
                    <a:pt x="44" y="71"/>
                  </a:lnTo>
                  <a:lnTo>
                    <a:pt x="44" y="70"/>
                  </a:lnTo>
                  <a:lnTo>
                    <a:pt x="45" y="70"/>
                  </a:lnTo>
                  <a:lnTo>
                    <a:pt x="46" y="69"/>
                  </a:lnTo>
                  <a:lnTo>
                    <a:pt x="47" y="69"/>
                  </a:lnTo>
                  <a:lnTo>
                    <a:pt x="47" y="68"/>
                  </a:lnTo>
                  <a:lnTo>
                    <a:pt x="48" y="68"/>
                  </a:lnTo>
                  <a:lnTo>
                    <a:pt x="48" y="67"/>
                  </a:lnTo>
                  <a:lnTo>
                    <a:pt x="49" y="67"/>
                  </a:lnTo>
                  <a:lnTo>
                    <a:pt x="49" y="66"/>
                  </a:lnTo>
                  <a:lnTo>
                    <a:pt x="50" y="66"/>
                  </a:lnTo>
                  <a:lnTo>
                    <a:pt x="50" y="65"/>
                  </a:lnTo>
                  <a:lnTo>
                    <a:pt x="51" y="65"/>
                  </a:lnTo>
                  <a:lnTo>
                    <a:pt x="51" y="64"/>
                  </a:lnTo>
                  <a:lnTo>
                    <a:pt x="52" y="64"/>
                  </a:lnTo>
                  <a:lnTo>
                    <a:pt x="52" y="63"/>
                  </a:lnTo>
                  <a:lnTo>
                    <a:pt x="53" y="62"/>
                  </a:lnTo>
                  <a:lnTo>
                    <a:pt x="54" y="61"/>
                  </a:lnTo>
                  <a:lnTo>
                    <a:pt x="54" y="60"/>
                  </a:lnTo>
                  <a:lnTo>
                    <a:pt x="55" y="59"/>
                  </a:lnTo>
                  <a:lnTo>
                    <a:pt x="55" y="58"/>
                  </a:lnTo>
                  <a:lnTo>
                    <a:pt x="56" y="58"/>
                  </a:lnTo>
                  <a:lnTo>
                    <a:pt x="56" y="57"/>
                  </a:lnTo>
                  <a:lnTo>
                    <a:pt x="56" y="56"/>
                  </a:lnTo>
                  <a:lnTo>
                    <a:pt x="57" y="56"/>
                  </a:lnTo>
                  <a:lnTo>
                    <a:pt x="57" y="55"/>
                  </a:lnTo>
                  <a:lnTo>
                    <a:pt x="57" y="54"/>
                  </a:lnTo>
                  <a:lnTo>
                    <a:pt x="58" y="53"/>
                  </a:lnTo>
                  <a:lnTo>
                    <a:pt x="58" y="52"/>
                  </a:lnTo>
                  <a:lnTo>
                    <a:pt x="58" y="51"/>
                  </a:lnTo>
                  <a:lnTo>
                    <a:pt x="59" y="50"/>
                  </a:lnTo>
                  <a:lnTo>
                    <a:pt x="59" y="49"/>
                  </a:lnTo>
                  <a:lnTo>
                    <a:pt x="59" y="48"/>
                  </a:lnTo>
                  <a:lnTo>
                    <a:pt x="60" y="47"/>
                  </a:lnTo>
                  <a:lnTo>
                    <a:pt x="60" y="45"/>
                  </a:lnTo>
                  <a:lnTo>
                    <a:pt x="60" y="43"/>
                  </a:lnTo>
                  <a:lnTo>
                    <a:pt x="60" y="37"/>
                  </a:lnTo>
                  <a:lnTo>
                    <a:pt x="61" y="36"/>
                  </a:lnTo>
                  <a:lnTo>
                    <a:pt x="61" y="31"/>
                  </a:lnTo>
                  <a:lnTo>
                    <a:pt x="61" y="29"/>
                  </a:lnTo>
                  <a:lnTo>
                    <a:pt x="61" y="27"/>
                  </a:lnTo>
                  <a:lnTo>
                    <a:pt x="60" y="26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59" y="23"/>
                  </a:lnTo>
                  <a:lnTo>
                    <a:pt x="59" y="22"/>
                  </a:lnTo>
                  <a:lnTo>
                    <a:pt x="59" y="21"/>
                  </a:lnTo>
                  <a:lnTo>
                    <a:pt x="58" y="20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8"/>
                  </a:lnTo>
                  <a:lnTo>
                    <a:pt x="57" y="17"/>
                  </a:lnTo>
                  <a:lnTo>
                    <a:pt x="57" y="16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4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3" y="11"/>
                  </a:lnTo>
                  <a:lnTo>
                    <a:pt x="53" y="10"/>
                  </a:lnTo>
                  <a:lnTo>
                    <a:pt x="52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50" y="7"/>
                  </a:lnTo>
                  <a:lnTo>
                    <a:pt x="49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8" y="5"/>
                  </a:lnTo>
                  <a:lnTo>
                    <a:pt x="47" y="5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3" y="2"/>
                  </a:lnTo>
                  <a:lnTo>
                    <a:pt x="42" y="2"/>
                  </a:lnTo>
                  <a:lnTo>
                    <a:pt x="41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3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5" y="5"/>
                  </a:lnTo>
                  <a:lnTo>
                    <a:pt x="14" y="5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2" y="8"/>
                  </a:lnTo>
                  <a:lnTo>
                    <a:pt x="11" y="8"/>
                  </a:lnTo>
                  <a:lnTo>
                    <a:pt x="11" y="9"/>
                  </a:lnTo>
                  <a:lnTo>
                    <a:pt x="10" y="9"/>
                  </a:lnTo>
                  <a:lnTo>
                    <a:pt x="10" y="10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8" y="12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4" y="20"/>
                  </a:lnTo>
                  <a:lnTo>
                    <a:pt x="3" y="21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1" y="27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1" y="36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31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8" name="Rectangle 19"/>
            <p:cNvSpPr/>
            <p:nvPr/>
          </p:nvSpPr>
          <p:spPr>
            <a:xfrm>
              <a:off x="3876517" y="2685216"/>
              <a:ext cx="277689" cy="4232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39" name="Line 29"/>
            <p:cNvSpPr/>
            <p:nvPr/>
          </p:nvSpPr>
          <p:spPr>
            <a:xfrm>
              <a:off x="3631170" y="3724077"/>
              <a:ext cx="253622" cy="1951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40" name="Line 30"/>
            <p:cNvSpPr/>
            <p:nvPr/>
          </p:nvSpPr>
          <p:spPr>
            <a:xfrm flipV="1">
              <a:off x="6320333" y="3116275"/>
              <a:ext cx="395021" cy="0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" name="组合 201"/>
            <p:cNvGrpSpPr/>
            <p:nvPr/>
          </p:nvGrpSpPr>
          <p:grpSpPr>
            <a:xfrm>
              <a:off x="5049937" y="2180082"/>
              <a:ext cx="368762" cy="505134"/>
              <a:chOff x="5049937" y="2180082"/>
              <a:chExt cx="368762" cy="505134"/>
            </a:xfrm>
          </p:grpSpPr>
          <p:sp>
            <p:nvSpPr>
              <p:cNvPr id="52364" name="Line 27"/>
              <p:cNvSpPr/>
              <p:nvPr/>
            </p:nvSpPr>
            <p:spPr>
              <a:xfrm>
                <a:off x="5214881" y="2386816"/>
                <a:ext cx="1852" cy="29840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65" name="Line 34"/>
              <p:cNvSpPr/>
              <p:nvPr/>
            </p:nvSpPr>
            <p:spPr>
              <a:xfrm>
                <a:off x="5126021" y="2386816"/>
                <a:ext cx="188828" cy="195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66" name="Rectangle 35"/>
              <p:cNvSpPr/>
              <p:nvPr/>
            </p:nvSpPr>
            <p:spPr>
              <a:xfrm>
                <a:off x="5074185" y="2238592"/>
                <a:ext cx="322119" cy="1599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52367" name="Rectangle 36"/>
              <p:cNvSpPr/>
              <p:nvPr/>
            </p:nvSpPr>
            <p:spPr>
              <a:xfrm>
                <a:off x="5049937" y="2180082"/>
                <a:ext cx="116992" cy="2030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endParaRPr lang="en-US" altLang="zh-CN" dirty="0">
                  <a:latin typeface="Times New Roman" pitchFamily="18" charset="0"/>
                </a:endParaRPr>
              </a:p>
            </p:txBody>
          </p:sp>
          <p:sp>
            <p:nvSpPr>
              <p:cNvPr id="52368" name="Rectangle 37"/>
              <p:cNvSpPr/>
              <p:nvPr/>
            </p:nvSpPr>
            <p:spPr>
              <a:xfrm>
                <a:off x="5173972" y="2180082"/>
                <a:ext cx="116991" cy="2030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 dirty="0">
                  <a:latin typeface="Times New Roman" pitchFamily="18" charset="0"/>
                </a:endParaRPr>
              </a:p>
            </p:txBody>
          </p:sp>
          <p:sp>
            <p:nvSpPr>
              <p:cNvPr id="52369" name="Rectangle 38"/>
              <p:cNvSpPr/>
              <p:nvPr/>
            </p:nvSpPr>
            <p:spPr>
              <a:xfrm>
                <a:off x="5301708" y="2180082"/>
                <a:ext cx="116991" cy="2030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 dirty="0">
                  <a:latin typeface="Times New Roman" pitchFamily="18" charset="0"/>
                </a:endParaRPr>
              </a:p>
            </p:txBody>
          </p:sp>
        </p:grpSp>
        <p:sp>
          <p:nvSpPr>
            <p:cNvPr id="52242" name="Rectangle 39"/>
            <p:cNvSpPr/>
            <p:nvPr/>
          </p:nvSpPr>
          <p:spPr>
            <a:xfrm>
              <a:off x="5779865" y="3243008"/>
              <a:ext cx="144398" cy="1482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43" name="Rectangle 40"/>
            <p:cNvSpPr/>
            <p:nvPr/>
          </p:nvSpPr>
          <p:spPr>
            <a:xfrm>
              <a:off x="6785922" y="3019052"/>
              <a:ext cx="116991" cy="2030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2244" name="Line 52"/>
            <p:cNvSpPr/>
            <p:nvPr/>
          </p:nvSpPr>
          <p:spPr>
            <a:xfrm>
              <a:off x="4431895" y="2895851"/>
              <a:ext cx="81455" cy="1950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" name="组合 65"/>
            <p:cNvGrpSpPr/>
            <p:nvPr/>
          </p:nvGrpSpPr>
          <p:grpSpPr>
            <a:xfrm>
              <a:off x="4513350" y="2687166"/>
              <a:ext cx="192532" cy="417368"/>
              <a:chOff x="4849850" y="4259934"/>
              <a:chExt cx="192532" cy="417368"/>
            </a:xfrm>
          </p:grpSpPr>
          <p:sp>
            <p:nvSpPr>
              <p:cNvPr id="52357" name="Line 48"/>
              <p:cNvSpPr/>
              <p:nvPr/>
            </p:nvSpPr>
            <p:spPr>
              <a:xfrm flipV="1">
                <a:off x="4883173" y="4343798"/>
                <a:ext cx="1852" cy="2496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58" name="Line 49"/>
              <p:cNvSpPr/>
              <p:nvPr/>
            </p:nvSpPr>
            <p:spPr>
              <a:xfrm>
                <a:off x="4936860" y="4593439"/>
                <a:ext cx="103671" cy="195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59" name="Line 50"/>
              <p:cNvSpPr/>
              <p:nvPr/>
            </p:nvSpPr>
            <p:spPr>
              <a:xfrm flipV="1">
                <a:off x="4936860" y="4343798"/>
                <a:ext cx="1851" cy="2496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60" name="Line 51"/>
              <p:cNvSpPr/>
              <p:nvPr/>
            </p:nvSpPr>
            <p:spPr>
              <a:xfrm>
                <a:off x="4936860" y="4343798"/>
                <a:ext cx="103671" cy="195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61" name="Line 53"/>
              <p:cNvSpPr/>
              <p:nvPr/>
            </p:nvSpPr>
            <p:spPr>
              <a:xfrm flipV="1">
                <a:off x="5040531" y="4593439"/>
                <a:ext cx="1851" cy="83863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62" name="Line 54"/>
              <p:cNvSpPr/>
              <p:nvPr/>
            </p:nvSpPr>
            <p:spPr>
              <a:xfrm flipV="1">
                <a:off x="5040531" y="4259934"/>
                <a:ext cx="1851" cy="83864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63" name="Freeform 55"/>
              <p:cNvSpPr/>
              <p:nvPr/>
            </p:nvSpPr>
            <p:spPr>
              <a:xfrm>
                <a:off x="4849850" y="4445215"/>
                <a:ext cx="38877" cy="48757"/>
              </a:xfrm>
              <a:custGeom>
                <a:avLst/>
                <a:gdLst>
                  <a:gd name="txL" fmla="*/ 0 w 61"/>
                  <a:gd name="txT" fmla="*/ 0 h 74"/>
                  <a:gd name="txR" fmla="*/ 61 w 61"/>
                  <a:gd name="txB" fmla="*/ 74 h 74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61" h="74">
                    <a:moveTo>
                      <a:pt x="0" y="37"/>
                    </a:moveTo>
                    <a:lnTo>
                      <a:pt x="0" y="43"/>
                    </a:lnTo>
                    <a:lnTo>
                      <a:pt x="0" y="45"/>
                    </a:lnTo>
                    <a:lnTo>
                      <a:pt x="0" y="47"/>
                    </a:lnTo>
                    <a:lnTo>
                      <a:pt x="1" y="48"/>
                    </a:lnTo>
                    <a:lnTo>
                      <a:pt x="1" y="49"/>
                    </a:lnTo>
                    <a:lnTo>
                      <a:pt x="1" y="50"/>
                    </a:lnTo>
                    <a:lnTo>
                      <a:pt x="2" y="51"/>
                    </a:lnTo>
                    <a:lnTo>
                      <a:pt x="2" y="52"/>
                    </a:lnTo>
                    <a:lnTo>
                      <a:pt x="2" y="53"/>
                    </a:lnTo>
                    <a:lnTo>
                      <a:pt x="3" y="54"/>
                    </a:lnTo>
                    <a:lnTo>
                      <a:pt x="3" y="55"/>
                    </a:lnTo>
                    <a:lnTo>
                      <a:pt x="3" y="56"/>
                    </a:lnTo>
                    <a:lnTo>
                      <a:pt x="4" y="56"/>
                    </a:lnTo>
                    <a:lnTo>
                      <a:pt x="4" y="57"/>
                    </a:lnTo>
                    <a:lnTo>
                      <a:pt x="4" y="58"/>
                    </a:lnTo>
                    <a:lnTo>
                      <a:pt x="5" y="58"/>
                    </a:lnTo>
                    <a:lnTo>
                      <a:pt x="5" y="59"/>
                    </a:lnTo>
                    <a:lnTo>
                      <a:pt x="6" y="60"/>
                    </a:lnTo>
                    <a:lnTo>
                      <a:pt x="6" y="61"/>
                    </a:lnTo>
                    <a:lnTo>
                      <a:pt x="7" y="62"/>
                    </a:lnTo>
                    <a:lnTo>
                      <a:pt x="8" y="63"/>
                    </a:lnTo>
                    <a:lnTo>
                      <a:pt x="8" y="64"/>
                    </a:lnTo>
                    <a:lnTo>
                      <a:pt x="9" y="64"/>
                    </a:lnTo>
                    <a:lnTo>
                      <a:pt x="9" y="65"/>
                    </a:lnTo>
                    <a:lnTo>
                      <a:pt x="10" y="65"/>
                    </a:lnTo>
                    <a:lnTo>
                      <a:pt x="10" y="66"/>
                    </a:lnTo>
                    <a:lnTo>
                      <a:pt x="11" y="66"/>
                    </a:lnTo>
                    <a:lnTo>
                      <a:pt x="11" y="67"/>
                    </a:lnTo>
                    <a:lnTo>
                      <a:pt x="12" y="67"/>
                    </a:lnTo>
                    <a:lnTo>
                      <a:pt x="12" y="68"/>
                    </a:lnTo>
                    <a:lnTo>
                      <a:pt x="13" y="68"/>
                    </a:lnTo>
                    <a:lnTo>
                      <a:pt x="13" y="69"/>
                    </a:lnTo>
                    <a:lnTo>
                      <a:pt x="14" y="69"/>
                    </a:lnTo>
                    <a:lnTo>
                      <a:pt x="15" y="70"/>
                    </a:lnTo>
                    <a:lnTo>
                      <a:pt x="16" y="70"/>
                    </a:lnTo>
                    <a:lnTo>
                      <a:pt x="16" y="71"/>
                    </a:lnTo>
                    <a:lnTo>
                      <a:pt x="17" y="71"/>
                    </a:lnTo>
                    <a:lnTo>
                      <a:pt x="18" y="71"/>
                    </a:lnTo>
                    <a:lnTo>
                      <a:pt x="18" y="72"/>
                    </a:lnTo>
                    <a:lnTo>
                      <a:pt x="19" y="72"/>
                    </a:lnTo>
                    <a:lnTo>
                      <a:pt x="20" y="72"/>
                    </a:lnTo>
                    <a:lnTo>
                      <a:pt x="20" y="73"/>
                    </a:lnTo>
                    <a:lnTo>
                      <a:pt x="21" y="73"/>
                    </a:lnTo>
                    <a:lnTo>
                      <a:pt x="22" y="73"/>
                    </a:lnTo>
                    <a:lnTo>
                      <a:pt x="23" y="74"/>
                    </a:lnTo>
                    <a:lnTo>
                      <a:pt x="24" y="74"/>
                    </a:lnTo>
                    <a:lnTo>
                      <a:pt x="25" y="74"/>
                    </a:lnTo>
                    <a:lnTo>
                      <a:pt x="26" y="74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31" y="74"/>
                    </a:lnTo>
                    <a:lnTo>
                      <a:pt x="32" y="74"/>
                    </a:lnTo>
                    <a:lnTo>
                      <a:pt x="33" y="74"/>
                    </a:lnTo>
                    <a:lnTo>
                      <a:pt x="34" y="74"/>
                    </a:lnTo>
                    <a:lnTo>
                      <a:pt x="35" y="74"/>
                    </a:lnTo>
                    <a:lnTo>
                      <a:pt x="36" y="74"/>
                    </a:lnTo>
                    <a:lnTo>
                      <a:pt x="37" y="74"/>
                    </a:lnTo>
                    <a:lnTo>
                      <a:pt x="38" y="73"/>
                    </a:lnTo>
                    <a:lnTo>
                      <a:pt x="39" y="73"/>
                    </a:lnTo>
                    <a:lnTo>
                      <a:pt x="40" y="73"/>
                    </a:lnTo>
                    <a:lnTo>
                      <a:pt x="40" y="72"/>
                    </a:lnTo>
                    <a:lnTo>
                      <a:pt x="41" y="72"/>
                    </a:lnTo>
                    <a:lnTo>
                      <a:pt x="42" y="72"/>
                    </a:lnTo>
                    <a:lnTo>
                      <a:pt x="42" y="71"/>
                    </a:lnTo>
                    <a:lnTo>
                      <a:pt x="43" y="71"/>
                    </a:lnTo>
                    <a:lnTo>
                      <a:pt x="44" y="71"/>
                    </a:lnTo>
                    <a:lnTo>
                      <a:pt x="44" y="70"/>
                    </a:lnTo>
                    <a:lnTo>
                      <a:pt x="45" y="70"/>
                    </a:lnTo>
                    <a:lnTo>
                      <a:pt x="46" y="69"/>
                    </a:lnTo>
                    <a:lnTo>
                      <a:pt x="47" y="69"/>
                    </a:lnTo>
                    <a:lnTo>
                      <a:pt x="47" y="68"/>
                    </a:lnTo>
                    <a:lnTo>
                      <a:pt x="48" y="68"/>
                    </a:lnTo>
                    <a:lnTo>
                      <a:pt x="48" y="67"/>
                    </a:lnTo>
                    <a:lnTo>
                      <a:pt x="49" y="67"/>
                    </a:lnTo>
                    <a:lnTo>
                      <a:pt x="49" y="66"/>
                    </a:lnTo>
                    <a:lnTo>
                      <a:pt x="50" y="66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4"/>
                    </a:lnTo>
                    <a:lnTo>
                      <a:pt x="52" y="64"/>
                    </a:lnTo>
                    <a:lnTo>
                      <a:pt x="52" y="63"/>
                    </a:lnTo>
                    <a:lnTo>
                      <a:pt x="53" y="62"/>
                    </a:lnTo>
                    <a:lnTo>
                      <a:pt x="54" y="61"/>
                    </a:lnTo>
                    <a:lnTo>
                      <a:pt x="54" y="60"/>
                    </a:lnTo>
                    <a:lnTo>
                      <a:pt x="55" y="59"/>
                    </a:lnTo>
                    <a:lnTo>
                      <a:pt x="55" y="58"/>
                    </a:lnTo>
                    <a:lnTo>
                      <a:pt x="56" y="58"/>
                    </a:lnTo>
                    <a:lnTo>
                      <a:pt x="56" y="57"/>
                    </a:lnTo>
                    <a:lnTo>
                      <a:pt x="56" y="56"/>
                    </a:lnTo>
                    <a:lnTo>
                      <a:pt x="57" y="56"/>
                    </a:lnTo>
                    <a:lnTo>
                      <a:pt x="57" y="55"/>
                    </a:lnTo>
                    <a:lnTo>
                      <a:pt x="57" y="54"/>
                    </a:lnTo>
                    <a:lnTo>
                      <a:pt x="58" y="53"/>
                    </a:lnTo>
                    <a:lnTo>
                      <a:pt x="58" y="52"/>
                    </a:lnTo>
                    <a:lnTo>
                      <a:pt x="58" y="51"/>
                    </a:lnTo>
                    <a:lnTo>
                      <a:pt x="59" y="50"/>
                    </a:lnTo>
                    <a:lnTo>
                      <a:pt x="59" y="49"/>
                    </a:lnTo>
                    <a:lnTo>
                      <a:pt x="59" y="48"/>
                    </a:lnTo>
                    <a:lnTo>
                      <a:pt x="60" y="47"/>
                    </a:lnTo>
                    <a:lnTo>
                      <a:pt x="60" y="45"/>
                    </a:lnTo>
                    <a:lnTo>
                      <a:pt x="60" y="43"/>
                    </a:lnTo>
                    <a:lnTo>
                      <a:pt x="60" y="37"/>
                    </a:lnTo>
                    <a:lnTo>
                      <a:pt x="61" y="36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7"/>
                    </a:lnTo>
                    <a:lnTo>
                      <a:pt x="60" y="26"/>
                    </a:lnTo>
                    <a:lnTo>
                      <a:pt x="60" y="25"/>
                    </a:lnTo>
                    <a:lnTo>
                      <a:pt x="60" y="24"/>
                    </a:lnTo>
                    <a:lnTo>
                      <a:pt x="59" y="23"/>
                    </a:lnTo>
                    <a:lnTo>
                      <a:pt x="59" y="22"/>
                    </a:lnTo>
                    <a:lnTo>
                      <a:pt x="59" y="21"/>
                    </a:lnTo>
                    <a:lnTo>
                      <a:pt x="58" y="20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7" y="18"/>
                    </a:lnTo>
                    <a:lnTo>
                      <a:pt x="57" y="17"/>
                    </a:lnTo>
                    <a:lnTo>
                      <a:pt x="57" y="16"/>
                    </a:lnTo>
                    <a:lnTo>
                      <a:pt x="56" y="16"/>
                    </a:lnTo>
                    <a:lnTo>
                      <a:pt x="56" y="15"/>
                    </a:lnTo>
                    <a:lnTo>
                      <a:pt x="55" y="14"/>
                    </a:lnTo>
                    <a:lnTo>
                      <a:pt x="55" y="13"/>
                    </a:lnTo>
                    <a:lnTo>
                      <a:pt x="54" y="12"/>
                    </a:lnTo>
                    <a:lnTo>
                      <a:pt x="53" y="11"/>
                    </a:lnTo>
                    <a:lnTo>
                      <a:pt x="53" y="10"/>
                    </a:lnTo>
                    <a:lnTo>
                      <a:pt x="52" y="10"/>
                    </a:lnTo>
                    <a:lnTo>
                      <a:pt x="52" y="9"/>
                    </a:lnTo>
                    <a:lnTo>
                      <a:pt x="51" y="9"/>
                    </a:lnTo>
                    <a:lnTo>
                      <a:pt x="51" y="8"/>
                    </a:lnTo>
                    <a:lnTo>
                      <a:pt x="50" y="8"/>
                    </a:lnTo>
                    <a:lnTo>
                      <a:pt x="50" y="7"/>
                    </a:lnTo>
                    <a:lnTo>
                      <a:pt x="49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5"/>
                    </a:lnTo>
                    <a:lnTo>
                      <a:pt x="47" y="5"/>
                    </a:lnTo>
                    <a:lnTo>
                      <a:pt x="46" y="4"/>
                    </a:lnTo>
                    <a:lnTo>
                      <a:pt x="45" y="4"/>
                    </a:lnTo>
                    <a:lnTo>
                      <a:pt x="45" y="3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3" y="2"/>
                    </a:lnTo>
                    <a:lnTo>
                      <a:pt x="42" y="2"/>
                    </a:lnTo>
                    <a:lnTo>
                      <a:pt x="41" y="2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2" y="0"/>
                    </a:lnTo>
                    <a:lnTo>
                      <a:pt x="31" y="0"/>
                    </a:lnTo>
                    <a:lnTo>
                      <a:pt x="29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6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3" y="1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21" y="2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9" y="3"/>
                    </a:lnTo>
                    <a:lnTo>
                      <a:pt x="18" y="3"/>
                    </a:lnTo>
                    <a:lnTo>
                      <a:pt x="17" y="3"/>
                    </a:lnTo>
                    <a:lnTo>
                      <a:pt x="17" y="4"/>
                    </a:lnTo>
                    <a:lnTo>
                      <a:pt x="16" y="4"/>
                    </a:lnTo>
                    <a:lnTo>
                      <a:pt x="15" y="5"/>
                    </a:lnTo>
                    <a:lnTo>
                      <a:pt x="14" y="5"/>
                    </a:lnTo>
                    <a:lnTo>
                      <a:pt x="14" y="6"/>
                    </a:lnTo>
                    <a:lnTo>
                      <a:pt x="13" y="6"/>
                    </a:lnTo>
                    <a:lnTo>
                      <a:pt x="13" y="7"/>
                    </a:lnTo>
                    <a:lnTo>
                      <a:pt x="12" y="7"/>
                    </a:lnTo>
                    <a:lnTo>
                      <a:pt x="12" y="8"/>
                    </a:lnTo>
                    <a:lnTo>
                      <a:pt x="11" y="8"/>
                    </a:lnTo>
                    <a:lnTo>
                      <a:pt x="11" y="9"/>
                    </a:lnTo>
                    <a:lnTo>
                      <a:pt x="10" y="9"/>
                    </a:lnTo>
                    <a:lnTo>
                      <a:pt x="10" y="10"/>
                    </a:lnTo>
                    <a:lnTo>
                      <a:pt x="9" y="10"/>
                    </a:lnTo>
                    <a:lnTo>
                      <a:pt x="9" y="11"/>
                    </a:lnTo>
                    <a:lnTo>
                      <a:pt x="8" y="12"/>
                    </a:lnTo>
                    <a:lnTo>
                      <a:pt x="7" y="13"/>
                    </a:lnTo>
                    <a:lnTo>
                      <a:pt x="7" y="14"/>
                    </a:lnTo>
                    <a:lnTo>
                      <a:pt x="6" y="15"/>
                    </a:lnTo>
                    <a:lnTo>
                      <a:pt x="6" y="16"/>
                    </a:lnTo>
                    <a:lnTo>
                      <a:pt x="5" y="16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1" y="27"/>
                    </a:lnTo>
                    <a:lnTo>
                      <a:pt x="1" y="29"/>
                    </a:lnTo>
                    <a:lnTo>
                      <a:pt x="1" y="31"/>
                    </a:lnTo>
                    <a:lnTo>
                      <a:pt x="1" y="36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246" name="Rectangle 56"/>
            <p:cNvSpPr/>
            <p:nvPr/>
          </p:nvSpPr>
          <p:spPr>
            <a:xfrm>
              <a:off x="4430044" y="2685216"/>
              <a:ext cx="277689" cy="4212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47" name="Line 57"/>
            <p:cNvSpPr/>
            <p:nvPr/>
          </p:nvSpPr>
          <p:spPr>
            <a:xfrm>
              <a:off x="4154206" y="3108435"/>
              <a:ext cx="2180757" cy="7839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48" name="Line 58"/>
            <p:cNvSpPr/>
            <p:nvPr/>
          </p:nvSpPr>
          <p:spPr>
            <a:xfrm flipV="1">
              <a:off x="4154206" y="2684678"/>
              <a:ext cx="2188072" cy="2488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49" name="Line 61"/>
            <p:cNvSpPr/>
            <p:nvPr/>
          </p:nvSpPr>
          <p:spPr>
            <a:xfrm>
              <a:off x="3876517" y="2895851"/>
              <a:ext cx="1852" cy="830837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0" name="Line 62"/>
            <p:cNvSpPr/>
            <p:nvPr/>
          </p:nvSpPr>
          <p:spPr>
            <a:xfrm>
              <a:off x="3876517" y="3726687"/>
              <a:ext cx="2231675" cy="4065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1" name="Line 63"/>
            <p:cNvSpPr/>
            <p:nvPr/>
          </p:nvSpPr>
          <p:spPr>
            <a:xfrm flipV="1">
              <a:off x="4377534" y="2895851"/>
              <a:ext cx="52509" cy="439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2" name="Line 64"/>
            <p:cNvSpPr/>
            <p:nvPr/>
          </p:nvSpPr>
          <p:spPr>
            <a:xfrm>
              <a:off x="4380800" y="2899989"/>
              <a:ext cx="1851" cy="129306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3" name="Line 65"/>
            <p:cNvSpPr/>
            <p:nvPr/>
          </p:nvSpPr>
          <p:spPr>
            <a:xfrm flipV="1">
              <a:off x="3649326" y="4198924"/>
              <a:ext cx="1873650" cy="695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4" name="Rectangle 67"/>
            <p:cNvSpPr/>
            <p:nvPr/>
          </p:nvSpPr>
          <p:spPr>
            <a:xfrm>
              <a:off x="3467466" y="4081164"/>
              <a:ext cx="108514" cy="2030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2255" name="Rectangle 69"/>
            <p:cNvSpPr/>
            <p:nvPr/>
          </p:nvSpPr>
          <p:spPr>
            <a:xfrm>
              <a:off x="3438528" y="3649325"/>
              <a:ext cx="127737" cy="20305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zh-CN" dirty="0">
                <a:latin typeface="Times New Roman" pitchFamily="18" charset="0"/>
              </a:endParaRPr>
            </a:p>
          </p:txBody>
        </p:sp>
        <p:grpSp>
          <p:nvGrpSpPr>
            <p:cNvPr id="5" name="组合 87"/>
            <p:cNvGrpSpPr/>
            <p:nvPr/>
          </p:nvGrpSpPr>
          <p:grpSpPr>
            <a:xfrm>
              <a:off x="5580149" y="2685948"/>
              <a:ext cx="192532" cy="417368"/>
              <a:chOff x="4849850" y="4259934"/>
              <a:chExt cx="192532" cy="417368"/>
            </a:xfrm>
          </p:grpSpPr>
          <p:sp>
            <p:nvSpPr>
              <p:cNvPr id="52350" name="Line 48"/>
              <p:cNvSpPr/>
              <p:nvPr/>
            </p:nvSpPr>
            <p:spPr>
              <a:xfrm flipV="1">
                <a:off x="4883173" y="4343798"/>
                <a:ext cx="1852" cy="2496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51" name="Line 49"/>
              <p:cNvSpPr/>
              <p:nvPr/>
            </p:nvSpPr>
            <p:spPr>
              <a:xfrm>
                <a:off x="4936860" y="4593439"/>
                <a:ext cx="103671" cy="195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52" name="Line 50"/>
              <p:cNvSpPr/>
              <p:nvPr/>
            </p:nvSpPr>
            <p:spPr>
              <a:xfrm flipV="1">
                <a:off x="4936860" y="4343798"/>
                <a:ext cx="1851" cy="2496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53" name="Line 51"/>
              <p:cNvSpPr/>
              <p:nvPr/>
            </p:nvSpPr>
            <p:spPr>
              <a:xfrm>
                <a:off x="4936860" y="4343798"/>
                <a:ext cx="103671" cy="195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54" name="Line 53"/>
              <p:cNvSpPr/>
              <p:nvPr/>
            </p:nvSpPr>
            <p:spPr>
              <a:xfrm flipV="1">
                <a:off x="5040531" y="4593439"/>
                <a:ext cx="1851" cy="83863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55" name="Line 54"/>
              <p:cNvSpPr/>
              <p:nvPr/>
            </p:nvSpPr>
            <p:spPr>
              <a:xfrm flipV="1">
                <a:off x="5040531" y="4259934"/>
                <a:ext cx="1851" cy="83864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56" name="Freeform 55"/>
              <p:cNvSpPr/>
              <p:nvPr/>
            </p:nvSpPr>
            <p:spPr>
              <a:xfrm>
                <a:off x="4849850" y="4445215"/>
                <a:ext cx="38877" cy="48757"/>
              </a:xfrm>
              <a:custGeom>
                <a:avLst/>
                <a:gdLst>
                  <a:gd name="txL" fmla="*/ 0 w 61"/>
                  <a:gd name="txT" fmla="*/ 0 h 74"/>
                  <a:gd name="txR" fmla="*/ 61 w 61"/>
                  <a:gd name="txB" fmla="*/ 74 h 74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61" h="74">
                    <a:moveTo>
                      <a:pt x="0" y="37"/>
                    </a:moveTo>
                    <a:lnTo>
                      <a:pt x="0" y="43"/>
                    </a:lnTo>
                    <a:lnTo>
                      <a:pt x="0" y="45"/>
                    </a:lnTo>
                    <a:lnTo>
                      <a:pt x="0" y="47"/>
                    </a:lnTo>
                    <a:lnTo>
                      <a:pt x="1" y="48"/>
                    </a:lnTo>
                    <a:lnTo>
                      <a:pt x="1" y="49"/>
                    </a:lnTo>
                    <a:lnTo>
                      <a:pt x="1" y="50"/>
                    </a:lnTo>
                    <a:lnTo>
                      <a:pt x="2" y="51"/>
                    </a:lnTo>
                    <a:lnTo>
                      <a:pt x="2" y="52"/>
                    </a:lnTo>
                    <a:lnTo>
                      <a:pt x="2" y="53"/>
                    </a:lnTo>
                    <a:lnTo>
                      <a:pt x="3" y="54"/>
                    </a:lnTo>
                    <a:lnTo>
                      <a:pt x="3" y="55"/>
                    </a:lnTo>
                    <a:lnTo>
                      <a:pt x="3" y="56"/>
                    </a:lnTo>
                    <a:lnTo>
                      <a:pt x="4" y="56"/>
                    </a:lnTo>
                    <a:lnTo>
                      <a:pt x="4" y="57"/>
                    </a:lnTo>
                    <a:lnTo>
                      <a:pt x="4" y="58"/>
                    </a:lnTo>
                    <a:lnTo>
                      <a:pt x="5" y="58"/>
                    </a:lnTo>
                    <a:lnTo>
                      <a:pt x="5" y="59"/>
                    </a:lnTo>
                    <a:lnTo>
                      <a:pt x="6" y="60"/>
                    </a:lnTo>
                    <a:lnTo>
                      <a:pt x="6" y="61"/>
                    </a:lnTo>
                    <a:lnTo>
                      <a:pt x="7" y="62"/>
                    </a:lnTo>
                    <a:lnTo>
                      <a:pt x="8" y="63"/>
                    </a:lnTo>
                    <a:lnTo>
                      <a:pt x="8" y="64"/>
                    </a:lnTo>
                    <a:lnTo>
                      <a:pt x="9" y="64"/>
                    </a:lnTo>
                    <a:lnTo>
                      <a:pt x="9" y="65"/>
                    </a:lnTo>
                    <a:lnTo>
                      <a:pt x="10" y="65"/>
                    </a:lnTo>
                    <a:lnTo>
                      <a:pt x="10" y="66"/>
                    </a:lnTo>
                    <a:lnTo>
                      <a:pt x="11" y="66"/>
                    </a:lnTo>
                    <a:lnTo>
                      <a:pt x="11" y="67"/>
                    </a:lnTo>
                    <a:lnTo>
                      <a:pt x="12" y="67"/>
                    </a:lnTo>
                    <a:lnTo>
                      <a:pt x="12" y="68"/>
                    </a:lnTo>
                    <a:lnTo>
                      <a:pt x="13" y="68"/>
                    </a:lnTo>
                    <a:lnTo>
                      <a:pt x="13" y="69"/>
                    </a:lnTo>
                    <a:lnTo>
                      <a:pt x="14" y="69"/>
                    </a:lnTo>
                    <a:lnTo>
                      <a:pt x="15" y="70"/>
                    </a:lnTo>
                    <a:lnTo>
                      <a:pt x="16" y="70"/>
                    </a:lnTo>
                    <a:lnTo>
                      <a:pt x="16" y="71"/>
                    </a:lnTo>
                    <a:lnTo>
                      <a:pt x="17" y="71"/>
                    </a:lnTo>
                    <a:lnTo>
                      <a:pt x="18" y="71"/>
                    </a:lnTo>
                    <a:lnTo>
                      <a:pt x="18" y="72"/>
                    </a:lnTo>
                    <a:lnTo>
                      <a:pt x="19" y="72"/>
                    </a:lnTo>
                    <a:lnTo>
                      <a:pt x="20" y="72"/>
                    </a:lnTo>
                    <a:lnTo>
                      <a:pt x="20" y="73"/>
                    </a:lnTo>
                    <a:lnTo>
                      <a:pt x="21" y="73"/>
                    </a:lnTo>
                    <a:lnTo>
                      <a:pt x="22" y="73"/>
                    </a:lnTo>
                    <a:lnTo>
                      <a:pt x="23" y="74"/>
                    </a:lnTo>
                    <a:lnTo>
                      <a:pt x="24" y="74"/>
                    </a:lnTo>
                    <a:lnTo>
                      <a:pt x="25" y="74"/>
                    </a:lnTo>
                    <a:lnTo>
                      <a:pt x="26" y="74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31" y="74"/>
                    </a:lnTo>
                    <a:lnTo>
                      <a:pt x="32" y="74"/>
                    </a:lnTo>
                    <a:lnTo>
                      <a:pt x="33" y="74"/>
                    </a:lnTo>
                    <a:lnTo>
                      <a:pt x="34" y="74"/>
                    </a:lnTo>
                    <a:lnTo>
                      <a:pt x="35" y="74"/>
                    </a:lnTo>
                    <a:lnTo>
                      <a:pt x="36" y="74"/>
                    </a:lnTo>
                    <a:lnTo>
                      <a:pt x="37" y="74"/>
                    </a:lnTo>
                    <a:lnTo>
                      <a:pt x="38" y="73"/>
                    </a:lnTo>
                    <a:lnTo>
                      <a:pt x="39" y="73"/>
                    </a:lnTo>
                    <a:lnTo>
                      <a:pt x="40" y="73"/>
                    </a:lnTo>
                    <a:lnTo>
                      <a:pt x="40" y="72"/>
                    </a:lnTo>
                    <a:lnTo>
                      <a:pt x="41" y="72"/>
                    </a:lnTo>
                    <a:lnTo>
                      <a:pt x="42" y="72"/>
                    </a:lnTo>
                    <a:lnTo>
                      <a:pt x="42" y="71"/>
                    </a:lnTo>
                    <a:lnTo>
                      <a:pt x="43" y="71"/>
                    </a:lnTo>
                    <a:lnTo>
                      <a:pt x="44" y="71"/>
                    </a:lnTo>
                    <a:lnTo>
                      <a:pt x="44" y="70"/>
                    </a:lnTo>
                    <a:lnTo>
                      <a:pt x="45" y="70"/>
                    </a:lnTo>
                    <a:lnTo>
                      <a:pt x="46" y="69"/>
                    </a:lnTo>
                    <a:lnTo>
                      <a:pt x="47" y="69"/>
                    </a:lnTo>
                    <a:lnTo>
                      <a:pt x="47" y="68"/>
                    </a:lnTo>
                    <a:lnTo>
                      <a:pt x="48" y="68"/>
                    </a:lnTo>
                    <a:lnTo>
                      <a:pt x="48" y="67"/>
                    </a:lnTo>
                    <a:lnTo>
                      <a:pt x="49" y="67"/>
                    </a:lnTo>
                    <a:lnTo>
                      <a:pt x="49" y="66"/>
                    </a:lnTo>
                    <a:lnTo>
                      <a:pt x="50" y="66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4"/>
                    </a:lnTo>
                    <a:lnTo>
                      <a:pt x="52" y="64"/>
                    </a:lnTo>
                    <a:lnTo>
                      <a:pt x="52" y="63"/>
                    </a:lnTo>
                    <a:lnTo>
                      <a:pt x="53" y="62"/>
                    </a:lnTo>
                    <a:lnTo>
                      <a:pt x="54" y="61"/>
                    </a:lnTo>
                    <a:lnTo>
                      <a:pt x="54" y="60"/>
                    </a:lnTo>
                    <a:lnTo>
                      <a:pt x="55" y="59"/>
                    </a:lnTo>
                    <a:lnTo>
                      <a:pt x="55" y="58"/>
                    </a:lnTo>
                    <a:lnTo>
                      <a:pt x="56" y="58"/>
                    </a:lnTo>
                    <a:lnTo>
                      <a:pt x="56" y="57"/>
                    </a:lnTo>
                    <a:lnTo>
                      <a:pt x="56" y="56"/>
                    </a:lnTo>
                    <a:lnTo>
                      <a:pt x="57" y="56"/>
                    </a:lnTo>
                    <a:lnTo>
                      <a:pt x="57" y="55"/>
                    </a:lnTo>
                    <a:lnTo>
                      <a:pt x="57" y="54"/>
                    </a:lnTo>
                    <a:lnTo>
                      <a:pt x="58" y="53"/>
                    </a:lnTo>
                    <a:lnTo>
                      <a:pt x="58" y="52"/>
                    </a:lnTo>
                    <a:lnTo>
                      <a:pt x="58" y="51"/>
                    </a:lnTo>
                    <a:lnTo>
                      <a:pt x="59" y="50"/>
                    </a:lnTo>
                    <a:lnTo>
                      <a:pt x="59" y="49"/>
                    </a:lnTo>
                    <a:lnTo>
                      <a:pt x="59" y="48"/>
                    </a:lnTo>
                    <a:lnTo>
                      <a:pt x="60" y="47"/>
                    </a:lnTo>
                    <a:lnTo>
                      <a:pt x="60" y="45"/>
                    </a:lnTo>
                    <a:lnTo>
                      <a:pt x="60" y="43"/>
                    </a:lnTo>
                    <a:lnTo>
                      <a:pt x="60" y="37"/>
                    </a:lnTo>
                    <a:lnTo>
                      <a:pt x="61" y="36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7"/>
                    </a:lnTo>
                    <a:lnTo>
                      <a:pt x="60" y="26"/>
                    </a:lnTo>
                    <a:lnTo>
                      <a:pt x="60" y="25"/>
                    </a:lnTo>
                    <a:lnTo>
                      <a:pt x="60" y="24"/>
                    </a:lnTo>
                    <a:lnTo>
                      <a:pt x="59" y="23"/>
                    </a:lnTo>
                    <a:lnTo>
                      <a:pt x="59" y="22"/>
                    </a:lnTo>
                    <a:lnTo>
                      <a:pt x="59" y="21"/>
                    </a:lnTo>
                    <a:lnTo>
                      <a:pt x="58" y="20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7" y="18"/>
                    </a:lnTo>
                    <a:lnTo>
                      <a:pt x="57" y="17"/>
                    </a:lnTo>
                    <a:lnTo>
                      <a:pt x="57" y="16"/>
                    </a:lnTo>
                    <a:lnTo>
                      <a:pt x="56" y="16"/>
                    </a:lnTo>
                    <a:lnTo>
                      <a:pt x="56" y="15"/>
                    </a:lnTo>
                    <a:lnTo>
                      <a:pt x="55" y="14"/>
                    </a:lnTo>
                    <a:lnTo>
                      <a:pt x="55" y="13"/>
                    </a:lnTo>
                    <a:lnTo>
                      <a:pt x="54" y="12"/>
                    </a:lnTo>
                    <a:lnTo>
                      <a:pt x="53" y="11"/>
                    </a:lnTo>
                    <a:lnTo>
                      <a:pt x="53" y="10"/>
                    </a:lnTo>
                    <a:lnTo>
                      <a:pt x="52" y="10"/>
                    </a:lnTo>
                    <a:lnTo>
                      <a:pt x="52" y="9"/>
                    </a:lnTo>
                    <a:lnTo>
                      <a:pt x="51" y="9"/>
                    </a:lnTo>
                    <a:lnTo>
                      <a:pt x="51" y="8"/>
                    </a:lnTo>
                    <a:lnTo>
                      <a:pt x="50" y="8"/>
                    </a:lnTo>
                    <a:lnTo>
                      <a:pt x="50" y="7"/>
                    </a:lnTo>
                    <a:lnTo>
                      <a:pt x="49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5"/>
                    </a:lnTo>
                    <a:lnTo>
                      <a:pt x="47" y="5"/>
                    </a:lnTo>
                    <a:lnTo>
                      <a:pt x="46" y="4"/>
                    </a:lnTo>
                    <a:lnTo>
                      <a:pt x="45" y="4"/>
                    </a:lnTo>
                    <a:lnTo>
                      <a:pt x="45" y="3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3" y="2"/>
                    </a:lnTo>
                    <a:lnTo>
                      <a:pt x="42" y="2"/>
                    </a:lnTo>
                    <a:lnTo>
                      <a:pt x="41" y="2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2" y="0"/>
                    </a:lnTo>
                    <a:lnTo>
                      <a:pt x="31" y="0"/>
                    </a:lnTo>
                    <a:lnTo>
                      <a:pt x="29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6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3" y="1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21" y="2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9" y="3"/>
                    </a:lnTo>
                    <a:lnTo>
                      <a:pt x="18" y="3"/>
                    </a:lnTo>
                    <a:lnTo>
                      <a:pt x="17" y="3"/>
                    </a:lnTo>
                    <a:lnTo>
                      <a:pt x="17" y="4"/>
                    </a:lnTo>
                    <a:lnTo>
                      <a:pt x="16" y="4"/>
                    </a:lnTo>
                    <a:lnTo>
                      <a:pt x="15" y="5"/>
                    </a:lnTo>
                    <a:lnTo>
                      <a:pt x="14" y="5"/>
                    </a:lnTo>
                    <a:lnTo>
                      <a:pt x="14" y="6"/>
                    </a:lnTo>
                    <a:lnTo>
                      <a:pt x="13" y="6"/>
                    </a:lnTo>
                    <a:lnTo>
                      <a:pt x="13" y="7"/>
                    </a:lnTo>
                    <a:lnTo>
                      <a:pt x="12" y="7"/>
                    </a:lnTo>
                    <a:lnTo>
                      <a:pt x="12" y="8"/>
                    </a:lnTo>
                    <a:lnTo>
                      <a:pt x="11" y="8"/>
                    </a:lnTo>
                    <a:lnTo>
                      <a:pt x="11" y="9"/>
                    </a:lnTo>
                    <a:lnTo>
                      <a:pt x="10" y="9"/>
                    </a:lnTo>
                    <a:lnTo>
                      <a:pt x="10" y="10"/>
                    </a:lnTo>
                    <a:lnTo>
                      <a:pt x="9" y="10"/>
                    </a:lnTo>
                    <a:lnTo>
                      <a:pt x="9" y="11"/>
                    </a:lnTo>
                    <a:lnTo>
                      <a:pt x="8" y="12"/>
                    </a:lnTo>
                    <a:lnTo>
                      <a:pt x="7" y="13"/>
                    </a:lnTo>
                    <a:lnTo>
                      <a:pt x="7" y="14"/>
                    </a:lnTo>
                    <a:lnTo>
                      <a:pt x="6" y="15"/>
                    </a:lnTo>
                    <a:lnTo>
                      <a:pt x="6" y="16"/>
                    </a:lnTo>
                    <a:lnTo>
                      <a:pt x="5" y="16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1" y="27"/>
                    </a:lnTo>
                    <a:lnTo>
                      <a:pt x="1" y="29"/>
                    </a:lnTo>
                    <a:lnTo>
                      <a:pt x="1" y="31"/>
                    </a:lnTo>
                    <a:lnTo>
                      <a:pt x="1" y="36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" name="组合 95"/>
            <p:cNvGrpSpPr/>
            <p:nvPr/>
          </p:nvGrpSpPr>
          <p:grpSpPr>
            <a:xfrm>
              <a:off x="5030290" y="2692044"/>
              <a:ext cx="192532" cy="417368"/>
              <a:chOff x="4849850" y="4259934"/>
              <a:chExt cx="192532" cy="417368"/>
            </a:xfrm>
          </p:grpSpPr>
          <p:sp>
            <p:nvSpPr>
              <p:cNvPr id="52343" name="Line 48"/>
              <p:cNvSpPr/>
              <p:nvPr/>
            </p:nvSpPr>
            <p:spPr>
              <a:xfrm flipV="1">
                <a:off x="4883173" y="4343798"/>
                <a:ext cx="1852" cy="2496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44" name="Line 49"/>
              <p:cNvSpPr/>
              <p:nvPr/>
            </p:nvSpPr>
            <p:spPr>
              <a:xfrm>
                <a:off x="4936860" y="4593439"/>
                <a:ext cx="103671" cy="195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45" name="Line 50"/>
              <p:cNvSpPr/>
              <p:nvPr/>
            </p:nvSpPr>
            <p:spPr>
              <a:xfrm flipV="1">
                <a:off x="4936860" y="4343798"/>
                <a:ext cx="1851" cy="2496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46" name="Line 51"/>
              <p:cNvSpPr/>
              <p:nvPr/>
            </p:nvSpPr>
            <p:spPr>
              <a:xfrm>
                <a:off x="4936860" y="4343798"/>
                <a:ext cx="103671" cy="195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47" name="Line 53"/>
              <p:cNvSpPr/>
              <p:nvPr/>
            </p:nvSpPr>
            <p:spPr>
              <a:xfrm flipV="1">
                <a:off x="5040531" y="4593439"/>
                <a:ext cx="1851" cy="83863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48" name="Line 54"/>
              <p:cNvSpPr/>
              <p:nvPr/>
            </p:nvSpPr>
            <p:spPr>
              <a:xfrm flipV="1">
                <a:off x="5040531" y="4259934"/>
                <a:ext cx="1851" cy="83864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49" name="Freeform 55"/>
              <p:cNvSpPr/>
              <p:nvPr/>
            </p:nvSpPr>
            <p:spPr>
              <a:xfrm>
                <a:off x="4849850" y="4445215"/>
                <a:ext cx="38877" cy="48757"/>
              </a:xfrm>
              <a:custGeom>
                <a:avLst/>
                <a:gdLst>
                  <a:gd name="txL" fmla="*/ 0 w 61"/>
                  <a:gd name="txT" fmla="*/ 0 h 74"/>
                  <a:gd name="txR" fmla="*/ 61 w 61"/>
                  <a:gd name="txB" fmla="*/ 74 h 74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61" h="74">
                    <a:moveTo>
                      <a:pt x="0" y="37"/>
                    </a:moveTo>
                    <a:lnTo>
                      <a:pt x="0" y="43"/>
                    </a:lnTo>
                    <a:lnTo>
                      <a:pt x="0" y="45"/>
                    </a:lnTo>
                    <a:lnTo>
                      <a:pt x="0" y="47"/>
                    </a:lnTo>
                    <a:lnTo>
                      <a:pt x="1" y="48"/>
                    </a:lnTo>
                    <a:lnTo>
                      <a:pt x="1" y="49"/>
                    </a:lnTo>
                    <a:lnTo>
                      <a:pt x="1" y="50"/>
                    </a:lnTo>
                    <a:lnTo>
                      <a:pt x="2" y="51"/>
                    </a:lnTo>
                    <a:lnTo>
                      <a:pt x="2" y="52"/>
                    </a:lnTo>
                    <a:lnTo>
                      <a:pt x="2" y="53"/>
                    </a:lnTo>
                    <a:lnTo>
                      <a:pt x="3" y="54"/>
                    </a:lnTo>
                    <a:lnTo>
                      <a:pt x="3" y="55"/>
                    </a:lnTo>
                    <a:lnTo>
                      <a:pt x="3" y="56"/>
                    </a:lnTo>
                    <a:lnTo>
                      <a:pt x="4" y="56"/>
                    </a:lnTo>
                    <a:lnTo>
                      <a:pt x="4" y="57"/>
                    </a:lnTo>
                    <a:lnTo>
                      <a:pt x="4" y="58"/>
                    </a:lnTo>
                    <a:lnTo>
                      <a:pt x="5" y="58"/>
                    </a:lnTo>
                    <a:lnTo>
                      <a:pt x="5" y="59"/>
                    </a:lnTo>
                    <a:lnTo>
                      <a:pt x="6" y="60"/>
                    </a:lnTo>
                    <a:lnTo>
                      <a:pt x="6" y="61"/>
                    </a:lnTo>
                    <a:lnTo>
                      <a:pt x="7" y="62"/>
                    </a:lnTo>
                    <a:lnTo>
                      <a:pt x="8" y="63"/>
                    </a:lnTo>
                    <a:lnTo>
                      <a:pt x="8" y="64"/>
                    </a:lnTo>
                    <a:lnTo>
                      <a:pt x="9" y="64"/>
                    </a:lnTo>
                    <a:lnTo>
                      <a:pt x="9" y="65"/>
                    </a:lnTo>
                    <a:lnTo>
                      <a:pt x="10" y="65"/>
                    </a:lnTo>
                    <a:lnTo>
                      <a:pt x="10" y="66"/>
                    </a:lnTo>
                    <a:lnTo>
                      <a:pt x="11" y="66"/>
                    </a:lnTo>
                    <a:lnTo>
                      <a:pt x="11" y="67"/>
                    </a:lnTo>
                    <a:lnTo>
                      <a:pt x="12" y="67"/>
                    </a:lnTo>
                    <a:lnTo>
                      <a:pt x="12" y="68"/>
                    </a:lnTo>
                    <a:lnTo>
                      <a:pt x="13" y="68"/>
                    </a:lnTo>
                    <a:lnTo>
                      <a:pt x="13" y="69"/>
                    </a:lnTo>
                    <a:lnTo>
                      <a:pt x="14" y="69"/>
                    </a:lnTo>
                    <a:lnTo>
                      <a:pt x="15" y="70"/>
                    </a:lnTo>
                    <a:lnTo>
                      <a:pt x="16" y="70"/>
                    </a:lnTo>
                    <a:lnTo>
                      <a:pt x="16" y="71"/>
                    </a:lnTo>
                    <a:lnTo>
                      <a:pt x="17" y="71"/>
                    </a:lnTo>
                    <a:lnTo>
                      <a:pt x="18" y="71"/>
                    </a:lnTo>
                    <a:lnTo>
                      <a:pt x="18" y="72"/>
                    </a:lnTo>
                    <a:lnTo>
                      <a:pt x="19" y="72"/>
                    </a:lnTo>
                    <a:lnTo>
                      <a:pt x="20" y="72"/>
                    </a:lnTo>
                    <a:lnTo>
                      <a:pt x="20" y="73"/>
                    </a:lnTo>
                    <a:lnTo>
                      <a:pt x="21" y="73"/>
                    </a:lnTo>
                    <a:lnTo>
                      <a:pt x="22" y="73"/>
                    </a:lnTo>
                    <a:lnTo>
                      <a:pt x="23" y="74"/>
                    </a:lnTo>
                    <a:lnTo>
                      <a:pt x="24" y="74"/>
                    </a:lnTo>
                    <a:lnTo>
                      <a:pt x="25" y="74"/>
                    </a:lnTo>
                    <a:lnTo>
                      <a:pt x="26" y="74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31" y="74"/>
                    </a:lnTo>
                    <a:lnTo>
                      <a:pt x="32" y="74"/>
                    </a:lnTo>
                    <a:lnTo>
                      <a:pt x="33" y="74"/>
                    </a:lnTo>
                    <a:lnTo>
                      <a:pt x="34" y="74"/>
                    </a:lnTo>
                    <a:lnTo>
                      <a:pt x="35" y="74"/>
                    </a:lnTo>
                    <a:lnTo>
                      <a:pt x="36" y="74"/>
                    </a:lnTo>
                    <a:lnTo>
                      <a:pt x="37" y="74"/>
                    </a:lnTo>
                    <a:lnTo>
                      <a:pt x="38" y="73"/>
                    </a:lnTo>
                    <a:lnTo>
                      <a:pt x="39" y="73"/>
                    </a:lnTo>
                    <a:lnTo>
                      <a:pt x="40" y="73"/>
                    </a:lnTo>
                    <a:lnTo>
                      <a:pt x="40" y="72"/>
                    </a:lnTo>
                    <a:lnTo>
                      <a:pt x="41" y="72"/>
                    </a:lnTo>
                    <a:lnTo>
                      <a:pt x="42" y="72"/>
                    </a:lnTo>
                    <a:lnTo>
                      <a:pt x="42" y="71"/>
                    </a:lnTo>
                    <a:lnTo>
                      <a:pt x="43" y="71"/>
                    </a:lnTo>
                    <a:lnTo>
                      <a:pt x="44" y="71"/>
                    </a:lnTo>
                    <a:lnTo>
                      <a:pt x="44" y="70"/>
                    </a:lnTo>
                    <a:lnTo>
                      <a:pt x="45" y="70"/>
                    </a:lnTo>
                    <a:lnTo>
                      <a:pt x="46" y="69"/>
                    </a:lnTo>
                    <a:lnTo>
                      <a:pt x="47" y="69"/>
                    </a:lnTo>
                    <a:lnTo>
                      <a:pt x="47" y="68"/>
                    </a:lnTo>
                    <a:lnTo>
                      <a:pt x="48" y="68"/>
                    </a:lnTo>
                    <a:lnTo>
                      <a:pt x="48" y="67"/>
                    </a:lnTo>
                    <a:lnTo>
                      <a:pt x="49" y="67"/>
                    </a:lnTo>
                    <a:lnTo>
                      <a:pt x="49" y="66"/>
                    </a:lnTo>
                    <a:lnTo>
                      <a:pt x="50" y="66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4"/>
                    </a:lnTo>
                    <a:lnTo>
                      <a:pt x="52" y="64"/>
                    </a:lnTo>
                    <a:lnTo>
                      <a:pt x="52" y="63"/>
                    </a:lnTo>
                    <a:lnTo>
                      <a:pt x="53" y="62"/>
                    </a:lnTo>
                    <a:lnTo>
                      <a:pt x="54" y="61"/>
                    </a:lnTo>
                    <a:lnTo>
                      <a:pt x="54" y="60"/>
                    </a:lnTo>
                    <a:lnTo>
                      <a:pt x="55" y="59"/>
                    </a:lnTo>
                    <a:lnTo>
                      <a:pt x="55" y="58"/>
                    </a:lnTo>
                    <a:lnTo>
                      <a:pt x="56" y="58"/>
                    </a:lnTo>
                    <a:lnTo>
                      <a:pt x="56" y="57"/>
                    </a:lnTo>
                    <a:lnTo>
                      <a:pt x="56" y="56"/>
                    </a:lnTo>
                    <a:lnTo>
                      <a:pt x="57" y="56"/>
                    </a:lnTo>
                    <a:lnTo>
                      <a:pt x="57" y="55"/>
                    </a:lnTo>
                    <a:lnTo>
                      <a:pt x="57" y="54"/>
                    </a:lnTo>
                    <a:lnTo>
                      <a:pt x="58" y="53"/>
                    </a:lnTo>
                    <a:lnTo>
                      <a:pt x="58" y="52"/>
                    </a:lnTo>
                    <a:lnTo>
                      <a:pt x="58" y="51"/>
                    </a:lnTo>
                    <a:lnTo>
                      <a:pt x="59" y="50"/>
                    </a:lnTo>
                    <a:lnTo>
                      <a:pt x="59" y="49"/>
                    </a:lnTo>
                    <a:lnTo>
                      <a:pt x="59" y="48"/>
                    </a:lnTo>
                    <a:lnTo>
                      <a:pt x="60" y="47"/>
                    </a:lnTo>
                    <a:lnTo>
                      <a:pt x="60" y="45"/>
                    </a:lnTo>
                    <a:lnTo>
                      <a:pt x="60" y="43"/>
                    </a:lnTo>
                    <a:lnTo>
                      <a:pt x="60" y="37"/>
                    </a:lnTo>
                    <a:lnTo>
                      <a:pt x="61" y="36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7"/>
                    </a:lnTo>
                    <a:lnTo>
                      <a:pt x="60" y="26"/>
                    </a:lnTo>
                    <a:lnTo>
                      <a:pt x="60" y="25"/>
                    </a:lnTo>
                    <a:lnTo>
                      <a:pt x="60" y="24"/>
                    </a:lnTo>
                    <a:lnTo>
                      <a:pt x="59" y="23"/>
                    </a:lnTo>
                    <a:lnTo>
                      <a:pt x="59" y="22"/>
                    </a:lnTo>
                    <a:lnTo>
                      <a:pt x="59" y="21"/>
                    </a:lnTo>
                    <a:lnTo>
                      <a:pt x="58" y="20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7" y="18"/>
                    </a:lnTo>
                    <a:lnTo>
                      <a:pt x="57" y="17"/>
                    </a:lnTo>
                    <a:lnTo>
                      <a:pt x="57" y="16"/>
                    </a:lnTo>
                    <a:lnTo>
                      <a:pt x="56" y="16"/>
                    </a:lnTo>
                    <a:lnTo>
                      <a:pt x="56" y="15"/>
                    </a:lnTo>
                    <a:lnTo>
                      <a:pt x="55" y="14"/>
                    </a:lnTo>
                    <a:lnTo>
                      <a:pt x="55" y="13"/>
                    </a:lnTo>
                    <a:lnTo>
                      <a:pt x="54" y="12"/>
                    </a:lnTo>
                    <a:lnTo>
                      <a:pt x="53" y="11"/>
                    </a:lnTo>
                    <a:lnTo>
                      <a:pt x="53" y="10"/>
                    </a:lnTo>
                    <a:lnTo>
                      <a:pt x="52" y="10"/>
                    </a:lnTo>
                    <a:lnTo>
                      <a:pt x="52" y="9"/>
                    </a:lnTo>
                    <a:lnTo>
                      <a:pt x="51" y="9"/>
                    </a:lnTo>
                    <a:lnTo>
                      <a:pt x="51" y="8"/>
                    </a:lnTo>
                    <a:lnTo>
                      <a:pt x="50" y="8"/>
                    </a:lnTo>
                    <a:lnTo>
                      <a:pt x="50" y="7"/>
                    </a:lnTo>
                    <a:lnTo>
                      <a:pt x="49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5"/>
                    </a:lnTo>
                    <a:lnTo>
                      <a:pt x="47" y="5"/>
                    </a:lnTo>
                    <a:lnTo>
                      <a:pt x="46" y="4"/>
                    </a:lnTo>
                    <a:lnTo>
                      <a:pt x="45" y="4"/>
                    </a:lnTo>
                    <a:lnTo>
                      <a:pt x="45" y="3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3" y="2"/>
                    </a:lnTo>
                    <a:lnTo>
                      <a:pt x="42" y="2"/>
                    </a:lnTo>
                    <a:lnTo>
                      <a:pt x="41" y="2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2" y="0"/>
                    </a:lnTo>
                    <a:lnTo>
                      <a:pt x="31" y="0"/>
                    </a:lnTo>
                    <a:lnTo>
                      <a:pt x="29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6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3" y="1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21" y="2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9" y="3"/>
                    </a:lnTo>
                    <a:lnTo>
                      <a:pt x="18" y="3"/>
                    </a:lnTo>
                    <a:lnTo>
                      <a:pt x="17" y="3"/>
                    </a:lnTo>
                    <a:lnTo>
                      <a:pt x="17" y="4"/>
                    </a:lnTo>
                    <a:lnTo>
                      <a:pt x="16" y="4"/>
                    </a:lnTo>
                    <a:lnTo>
                      <a:pt x="15" y="5"/>
                    </a:lnTo>
                    <a:lnTo>
                      <a:pt x="14" y="5"/>
                    </a:lnTo>
                    <a:lnTo>
                      <a:pt x="14" y="6"/>
                    </a:lnTo>
                    <a:lnTo>
                      <a:pt x="13" y="6"/>
                    </a:lnTo>
                    <a:lnTo>
                      <a:pt x="13" y="7"/>
                    </a:lnTo>
                    <a:lnTo>
                      <a:pt x="12" y="7"/>
                    </a:lnTo>
                    <a:lnTo>
                      <a:pt x="12" y="8"/>
                    </a:lnTo>
                    <a:lnTo>
                      <a:pt x="11" y="8"/>
                    </a:lnTo>
                    <a:lnTo>
                      <a:pt x="11" y="9"/>
                    </a:lnTo>
                    <a:lnTo>
                      <a:pt x="10" y="9"/>
                    </a:lnTo>
                    <a:lnTo>
                      <a:pt x="10" y="10"/>
                    </a:lnTo>
                    <a:lnTo>
                      <a:pt x="9" y="10"/>
                    </a:lnTo>
                    <a:lnTo>
                      <a:pt x="9" y="11"/>
                    </a:lnTo>
                    <a:lnTo>
                      <a:pt x="8" y="12"/>
                    </a:lnTo>
                    <a:lnTo>
                      <a:pt x="7" y="13"/>
                    </a:lnTo>
                    <a:lnTo>
                      <a:pt x="7" y="14"/>
                    </a:lnTo>
                    <a:lnTo>
                      <a:pt x="6" y="15"/>
                    </a:lnTo>
                    <a:lnTo>
                      <a:pt x="6" y="16"/>
                    </a:lnTo>
                    <a:lnTo>
                      <a:pt x="5" y="16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1" y="27"/>
                    </a:lnTo>
                    <a:lnTo>
                      <a:pt x="1" y="29"/>
                    </a:lnTo>
                    <a:lnTo>
                      <a:pt x="1" y="31"/>
                    </a:lnTo>
                    <a:lnTo>
                      <a:pt x="1" y="36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" name="组合 103"/>
            <p:cNvGrpSpPr/>
            <p:nvPr/>
          </p:nvGrpSpPr>
          <p:grpSpPr>
            <a:xfrm>
              <a:off x="6140979" y="2683509"/>
              <a:ext cx="192532" cy="417368"/>
              <a:chOff x="4849850" y="4259934"/>
              <a:chExt cx="192532" cy="417368"/>
            </a:xfrm>
          </p:grpSpPr>
          <p:sp>
            <p:nvSpPr>
              <p:cNvPr id="52336" name="Line 48"/>
              <p:cNvSpPr/>
              <p:nvPr/>
            </p:nvSpPr>
            <p:spPr>
              <a:xfrm flipV="1">
                <a:off x="4883173" y="4343798"/>
                <a:ext cx="1852" cy="2496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37" name="Line 49"/>
              <p:cNvSpPr/>
              <p:nvPr/>
            </p:nvSpPr>
            <p:spPr>
              <a:xfrm>
                <a:off x="4936860" y="4593439"/>
                <a:ext cx="103671" cy="195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38" name="Line 50"/>
              <p:cNvSpPr/>
              <p:nvPr/>
            </p:nvSpPr>
            <p:spPr>
              <a:xfrm flipV="1">
                <a:off x="4936860" y="4343798"/>
                <a:ext cx="1851" cy="2496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39" name="Line 51"/>
              <p:cNvSpPr/>
              <p:nvPr/>
            </p:nvSpPr>
            <p:spPr>
              <a:xfrm>
                <a:off x="4936860" y="4343798"/>
                <a:ext cx="103671" cy="195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40" name="Line 53"/>
              <p:cNvSpPr/>
              <p:nvPr/>
            </p:nvSpPr>
            <p:spPr>
              <a:xfrm flipV="1">
                <a:off x="5040531" y="4593439"/>
                <a:ext cx="1851" cy="83863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41" name="Line 54"/>
              <p:cNvSpPr/>
              <p:nvPr/>
            </p:nvSpPr>
            <p:spPr>
              <a:xfrm flipV="1">
                <a:off x="5040531" y="4259934"/>
                <a:ext cx="1851" cy="83864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42" name="Freeform 55"/>
              <p:cNvSpPr/>
              <p:nvPr/>
            </p:nvSpPr>
            <p:spPr>
              <a:xfrm>
                <a:off x="4849850" y="4445215"/>
                <a:ext cx="38877" cy="48757"/>
              </a:xfrm>
              <a:custGeom>
                <a:avLst/>
                <a:gdLst>
                  <a:gd name="txL" fmla="*/ 0 w 61"/>
                  <a:gd name="txT" fmla="*/ 0 h 74"/>
                  <a:gd name="txR" fmla="*/ 61 w 61"/>
                  <a:gd name="txB" fmla="*/ 74 h 74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61" h="74">
                    <a:moveTo>
                      <a:pt x="0" y="37"/>
                    </a:moveTo>
                    <a:lnTo>
                      <a:pt x="0" y="43"/>
                    </a:lnTo>
                    <a:lnTo>
                      <a:pt x="0" y="45"/>
                    </a:lnTo>
                    <a:lnTo>
                      <a:pt x="0" y="47"/>
                    </a:lnTo>
                    <a:lnTo>
                      <a:pt x="1" y="48"/>
                    </a:lnTo>
                    <a:lnTo>
                      <a:pt x="1" y="49"/>
                    </a:lnTo>
                    <a:lnTo>
                      <a:pt x="1" y="50"/>
                    </a:lnTo>
                    <a:lnTo>
                      <a:pt x="2" y="51"/>
                    </a:lnTo>
                    <a:lnTo>
                      <a:pt x="2" y="52"/>
                    </a:lnTo>
                    <a:lnTo>
                      <a:pt x="2" y="53"/>
                    </a:lnTo>
                    <a:lnTo>
                      <a:pt x="3" y="54"/>
                    </a:lnTo>
                    <a:lnTo>
                      <a:pt x="3" y="55"/>
                    </a:lnTo>
                    <a:lnTo>
                      <a:pt x="3" y="56"/>
                    </a:lnTo>
                    <a:lnTo>
                      <a:pt x="4" y="56"/>
                    </a:lnTo>
                    <a:lnTo>
                      <a:pt x="4" y="57"/>
                    </a:lnTo>
                    <a:lnTo>
                      <a:pt x="4" y="58"/>
                    </a:lnTo>
                    <a:lnTo>
                      <a:pt x="5" y="58"/>
                    </a:lnTo>
                    <a:lnTo>
                      <a:pt x="5" y="59"/>
                    </a:lnTo>
                    <a:lnTo>
                      <a:pt x="6" y="60"/>
                    </a:lnTo>
                    <a:lnTo>
                      <a:pt x="6" y="61"/>
                    </a:lnTo>
                    <a:lnTo>
                      <a:pt x="7" y="62"/>
                    </a:lnTo>
                    <a:lnTo>
                      <a:pt x="8" y="63"/>
                    </a:lnTo>
                    <a:lnTo>
                      <a:pt x="8" y="64"/>
                    </a:lnTo>
                    <a:lnTo>
                      <a:pt x="9" y="64"/>
                    </a:lnTo>
                    <a:lnTo>
                      <a:pt x="9" y="65"/>
                    </a:lnTo>
                    <a:lnTo>
                      <a:pt x="10" y="65"/>
                    </a:lnTo>
                    <a:lnTo>
                      <a:pt x="10" y="66"/>
                    </a:lnTo>
                    <a:lnTo>
                      <a:pt x="11" y="66"/>
                    </a:lnTo>
                    <a:lnTo>
                      <a:pt x="11" y="67"/>
                    </a:lnTo>
                    <a:lnTo>
                      <a:pt x="12" y="67"/>
                    </a:lnTo>
                    <a:lnTo>
                      <a:pt x="12" y="68"/>
                    </a:lnTo>
                    <a:lnTo>
                      <a:pt x="13" y="68"/>
                    </a:lnTo>
                    <a:lnTo>
                      <a:pt x="13" y="69"/>
                    </a:lnTo>
                    <a:lnTo>
                      <a:pt x="14" y="69"/>
                    </a:lnTo>
                    <a:lnTo>
                      <a:pt x="15" y="70"/>
                    </a:lnTo>
                    <a:lnTo>
                      <a:pt x="16" y="70"/>
                    </a:lnTo>
                    <a:lnTo>
                      <a:pt x="16" y="71"/>
                    </a:lnTo>
                    <a:lnTo>
                      <a:pt x="17" y="71"/>
                    </a:lnTo>
                    <a:lnTo>
                      <a:pt x="18" y="71"/>
                    </a:lnTo>
                    <a:lnTo>
                      <a:pt x="18" y="72"/>
                    </a:lnTo>
                    <a:lnTo>
                      <a:pt x="19" y="72"/>
                    </a:lnTo>
                    <a:lnTo>
                      <a:pt x="20" y="72"/>
                    </a:lnTo>
                    <a:lnTo>
                      <a:pt x="20" y="73"/>
                    </a:lnTo>
                    <a:lnTo>
                      <a:pt x="21" y="73"/>
                    </a:lnTo>
                    <a:lnTo>
                      <a:pt x="22" y="73"/>
                    </a:lnTo>
                    <a:lnTo>
                      <a:pt x="23" y="74"/>
                    </a:lnTo>
                    <a:lnTo>
                      <a:pt x="24" y="74"/>
                    </a:lnTo>
                    <a:lnTo>
                      <a:pt x="25" y="74"/>
                    </a:lnTo>
                    <a:lnTo>
                      <a:pt x="26" y="74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31" y="74"/>
                    </a:lnTo>
                    <a:lnTo>
                      <a:pt x="32" y="74"/>
                    </a:lnTo>
                    <a:lnTo>
                      <a:pt x="33" y="74"/>
                    </a:lnTo>
                    <a:lnTo>
                      <a:pt x="34" y="74"/>
                    </a:lnTo>
                    <a:lnTo>
                      <a:pt x="35" y="74"/>
                    </a:lnTo>
                    <a:lnTo>
                      <a:pt x="36" y="74"/>
                    </a:lnTo>
                    <a:lnTo>
                      <a:pt x="37" y="74"/>
                    </a:lnTo>
                    <a:lnTo>
                      <a:pt x="38" y="73"/>
                    </a:lnTo>
                    <a:lnTo>
                      <a:pt x="39" y="73"/>
                    </a:lnTo>
                    <a:lnTo>
                      <a:pt x="40" y="73"/>
                    </a:lnTo>
                    <a:lnTo>
                      <a:pt x="40" y="72"/>
                    </a:lnTo>
                    <a:lnTo>
                      <a:pt x="41" y="72"/>
                    </a:lnTo>
                    <a:lnTo>
                      <a:pt x="42" y="72"/>
                    </a:lnTo>
                    <a:lnTo>
                      <a:pt x="42" y="71"/>
                    </a:lnTo>
                    <a:lnTo>
                      <a:pt x="43" y="71"/>
                    </a:lnTo>
                    <a:lnTo>
                      <a:pt x="44" y="71"/>
                    </a:lnTo>
                    <a:lnTo>
                      <a:pt x="44" y="70"/>
                    </a:lnTo>
                    <a:lnTo>
                      <a:pt x="45" y="70"/>
                    </a:lnTo>
                    <a:lnTo>
                      <a:pt x="46" y="69"/>
                    </a:lnTo>
                    <a:lnTo>
                      <a:pt x="47" y="69"/>
                    </a:lnTo>
                    <a:lnTo>
                      <a:pt x="47" y="68"/>
                    </a:lnTo>
                    <a:lnTo>
                      <a:pt x="48" y="68"/>
                    </a:lnTo>
                    <a:lnTo>
                      <a:pt x="48" y="67"/>
                    </a:lnTo>
                    <a:lnTo>
                      <a:pt x="49" y="67"/>
                    </a:lnTo>
                    <a:lnTo>
                      <a:pt x="49" y="66"/>
                    </a:lnTo>
                    <a:lnTo>
                      <a:pt x="50" y="66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4"/>
                    </a:lnTo>
                    <a:lnTo>
                      <a:pt x="52" y="64"/>
                    </a:lnTo>
                    <a:lnTo>
                      <a:pt x="52" y="63"/>
                    </a:lnTo>
                    <a:lnTo>
                      <a:pt x="53" y="62"/>
                    </a:lnTo>
                    <a:lnTo>
                      <a:pt x="54" y="61"/>
                    </a:lnTo>
                    <a:lnTo>
                      <a:pt x="54" y="60"/>
                    </a:lnTo>
                    <a:lnTo>
                      <a:pt x="55" y="59"/>
                    </a:lnTo>
                    <a:lnTo>
                      <a:pt x="55" y="58"/>
                    </a:lnTo>
                    <a:lnTo>
                      <a:pt x="56" y="58"/>
                    </a:lnTo>
                    <a:lnTo>
                      <a:pt x="56" y="57"/>
                    </a:lnTo>
                    <a:lnTo>
                      <a:pt x="56" y="56"/>
                    </a:lnTo>
                    <a:lnTo>
                      <a:pt x="57" y="56"/>
                    </a:lnTo>
                    <a:lnTo>
                      <a:pt x="57" y="55"/>
                    </a:lnTo>
                    <a:lnTo>
                      <a:pt x="57" y="54"/>
                    </a:lnTo>
                    <a:lnTo>
                      <a:pt x="58" y="53"/>
                    </a:lnTo>
                    <a:lnTo>
                      <a:pt x="58" y="52"/>
                    </a:lnTo>
                    <a:lnTo>
                      <a:pt x="58" y="51"/>
                    </a:lnTo>
                    <a:lnTo>
                      <a:pt x="59" y="50"/>
                    </a:lnTo>
                    <a:lnTo>
                      <a:pt x="59" y="49"/>
                    </a:lnTo>
                    <a:lnTo>
                      <a:pt x="59" y="48"/>
                    </a:lnTo>
                    <a:lnTo>
                      <a:pt x="60" y="47"/>
                    </a:lnTo>
                    <a:lnTo>
                      <a:pt x="60" y="45"/>
                    </a:lnTo>
                    <a:lnTo>
                      <a:pt x="60" y="43"/>
                    </a:lnTo>
                    <a:lnTo>
                      <a:pt x="60" y="37"/>
                    </a:lnTo>
                    <a:lnTo>
                      <a:pt x="61" y="36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7"/>
                    </a:lnTo>
                    <a:lnTo>
                      <a:pt x="60" y="26"/>
                    </a:lnTo>
                    <a:lnTo>
                      <a:pt x="60" y="25"/>
                    </a:lnTo>
                    <a:lnTo>
                      <a:pt x="60" y="24"/>
                    </a:lnTo>
                    <a:lnTo>
                      <a:pt x="59" y="23"/>
                    </a:lnTo>
                    <a:lnTo>
                      <a:pt x="59" y="22"/>
                    </a:lnTo>
                    <a:lnTo>
                      <a:pt x="59" y="21"/>
                    </a:lnTo>
                    <a:lnTo>
                      <a:pt x="58" y="20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7" y="18"/>
                    </a:lnTo>
                    <a:lnTo>
                      <a:pt x="57" y="17"/>
                    </a:lnTo>
                    <a:lnTo>
                      <a:pt x="57" y="16"/>
                    </a:lnTo>
                    <a:lnTo>
                      <a:pt x="56" y="16"/>
                    </a:lnTo>
                    <a:lnTo>
                      <a:pt x="56" y="15"/>
                    </a:lnTo>
                    <a:lnTo>
                      <a:pt x="55" y="14"/>
                    </a:lnTo>
                    <a:lnTo>
                      <a:pt x="55" y="13"/>
                    </a:lnTo>
                    <a:lnTo>
                      <a:pt x="54" y="12"/>
                    </a:lnTo>
                    <a:lnTo>
                      <a:pt x="53" y="11"/>
                    </a:lnTo>
                    <a:lnTo>
                      <a:pt x="53" y="10"/>
                    </a:lnTo>
                    <a:lnTo>
                      <a:pt x="52" y="10"/>
                    </a:lnTo>
                    <a:lnTo>
                      <a:pt x="52" y="9"/>
                    </a:lnTo>
                    <a:lnTo>
                      <a:pt x="51" y="9"/>
                    </a:lnTo>
                    <a:lnTo>
                      <a:pt x="51" y="8"/>
                    </a:lnTo>
                    <a:lnTo>
                      <a:pt x="50" y="8"/>
                    </a:lnTo>
                    <a:lnTo>
                      <a:pt x="50" y="7"/>
                    </a:lnTo>
                    <a:lnTo>
                      <a:pt x="49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5"/>
                    </a:lnTo>
                    <a:lnTo>
                      <a:pt x="47" y="5"/>
                    </a:lnTo>
                    <a:lnTo>
                      <a:pt x="46" y="4"/>
                    </a:lnTo>
                    <a:lnTo>
                      <a:pt x="45" y="4"/>
                    </a:lnTo>
                    <a:lnTo>
                      <a:pt x="45" y="3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3" y="2"/>
                    </a:lnTo>
                    <a:lnTo>
                      <a:pt x="42" y="2"/>
                    </a:lnTo>
                    <a:lnTo>
                      <a:pt x="41" y="2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2" y="0"/>
                    </a:lnTo>
                    <a:lnTo>
                      <a:pt x="31" y="0"/>
                    </a:lnTo>
                    <a:lnTo>
                      <a:pt x="29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6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3" y="1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21" y="2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9" y="3"/>
                    </a:lnTo>
                    <a:lnTo>
                      <a:pt x="18" y="3"/>
                    </a:lnTo>
                    <a:lnTo>
                      <a:pt x="17" y="3"/>
                    </a:lnTo>
                    <a:lnTo>
                      <a:pt x="17" y="4"/>
                    </a:lnTo>
                    <a:lnTo>
                      <a:pt x="16" y="4"/>
                    </a:lnTo>
                    <a:lnTo>
                      <a:pt x="15" y="5"/>
                    </a:lnTo>
                    <a:lnTo>
                      <a:pt x="14" y="5"/>
                    </a:lnTo>
                    <a:lnTo>
                      <a:pt x="14" y="6"/>
                    </a:lnTo>
                    <a:lnTo>
                      <a:pt x="13" y="6"/>
                    </a:lnTo>
                    <a:lnTo>
                      <a:pt x="13" y="7"/>
                    </a:lnTo>
                    <a:lnTo>
                      <a:pt x="12" y="7"/>
                    </a:lnTo>
                    <a:lnTo>
                      <a:pt x="12" y="8"/>
                    </a:lnTo>
                    <a:lnTo>
                      <a:pt x="11" y="8"/>
                    </a:lnTo>
                    <a:lnTo>
                      <a:pt x="11" y="9"/>
                    </a:lnTo>
                    <a:lnTo>
                      <a:pt x="10" y="9"/>
                    </a:lnTo>
                    <a:lnTo>
                      <a:pt x="10" y="10"/>
                    </a:lnTo>
                    <a:lnTo>
                      <a:pt x="9" y="10"/>
                    </a:lnTo>
                    <a:lnTo>
                      <a:pt x="9" y="11"/>
                    </a:lnTo>
                    <a:lnTo>
                      <a:pt x="8" y="12"/>
                    </a:lnTo>
                    <a:lnTo>
                      <a:pt x="7" y="13"/>
                    </a:lnTo>
                    <a:lnTo>
                      <a:pt x="7" y="14"/>
                    </a:lnTo>
                    <a:lnTo>
                      <a:pt x="6" y="15"/>
                    </a:lnTo>
                    <a:lnTo>
                      <a:pt x="6" y="16"/>
                    </a:lnTo>
                    <a:lnTo>
                      <a:pt x="5" y="16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1" y="27"/>
                    </a:lnTo>
                    <a:lnTo>
                      <a:pt x="1" y="29"/>
                    </a:lnTo>
                    <a:lnTo>
                      <a:pt x="1" y="31"/>
                    </a:lnTo>
                    <a:lnTo>
                      <a:pt x="1" y="36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2259" name="直接连接符 33"/>
            <p:cNvCxnSpPr>
              <a:endCxn id="52330" idx="0"/>
            </p:cNvCxnSpPr>
            <p:nvPr/>
          </p:nvCxnSpPr>
          <p:spPr>
            <a:xfrm flipV="1">
              <a:off x="5505005" y="4192814"/>
              <a:ext cx="562839" cy="68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2260" name="直接连接符 34"/>
            <p:cNvCxnSpPr/>
            <p:nvPr/>
          </p:nvCxnSpPr>
          <p:spPr>
            <a:xfrm flipV="1">
              <a:off x="4871403" y="2910688"/>
              <a:ext cx="162324" cy="1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2261" name="直接连接符 35"/>
            <p:cNvCxnSpPr/>
            <p:nvPr/>
          </p:nvCxnSpPr>
          <p:spPr>
            <a:xfrm flipV="1">
              <a:off x="5421008" y="2905861"/>
              <a:ext cx="162324" cy="1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2262" name="直接连接符 36"/>
            <p:cNvCxnSpPr/>
            <p:nvPr/>
          </p:nvCxnSpPr>
          <p:spPr>
            <a:xfrm flipV="1">
              <a:off x="5975441" y="2897586"/>
              <a:ext cx="162324" cy="1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52263" name="Line 64"/>
            <p:cNvSpPr/>
            <p:nvPr/>
          </p:nvSpPr>
          <p:spPr>
            <a:xfrm>
              <a:off x="4868341" y="2928965"/>
              <a:ext cx="9837" cy="1718214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4" name="Line 64"/>
            <p:cNvSpPr/>
            <p:nvPr/>
          </p:nvSpPr>
          <p:spPr>
            <a:xfrm>
              <a:off x="5426223" y="2906884"/>
              <a:ext cx="1655" cy="2147919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5" name="Line 64"/>
            <p:cNvSpPr/>
            <p:nvPr/>
          </p:nvSpPr>
          <p:spPr>
            <a:xfrm>
              <a:off x="5967554" y="2893782"/>
              <a:ext cx="1650" cy="2541412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52266" name="直接连接符 40"/>
            <p:cNvCxnSpPr/>
            <p:nvPr/>
          </p:nvCxnSpPr>
          <p:spPr>
            <a:xfrm flipV="1">
              <a:off x="3670013" y="4615891"/>
              <a:ext cx="2386973" cy="140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52267" name="Line 65"/>
            <p:cNvSpPr/>
            <p:nvPr/>
          </p:nvSpPr>
          <p:spPr>
            <a:xfrm>
              <a:off x="3649325" y="5039544"/>
              <a:ext cx="2422291" cy="7944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8" name="Line 65"/>
            <p:cNvSpPr/>
            <p:nvPr/>
          </p:nvSpPr>
          <p:spPr>
            <a:xfrm>
              <a:off x="3665186" y="5440198"/>
              <a:ext cx="2428376" cy="2311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9" name="Rectangle 67"/>
            <p:cNvSpPr/>
            <p:nvPr/>
          </p:nvSpPr>
          <p:spPr>
            <a:xfrm>
              <a:off x="3470812" y="4523194"/>
              <a:ext cx="116993" cy="2030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2270" name="Rectangle 67"/>
            <p:cNvSpPr/>
            <p:nvPr/>
          </p:nvSpPr>
          <p:spPr>
            <a:xfrm>
              <a:off x="3486673" y="4940397"/>
              <a:ext cx="116993" cy="2030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2271" name="Rectangle 67"/>
            <p:cNvSpPr/>
            <p:nvPr/>
          </p:nvSpPr>
          <p:spPr>
            <a:xfrm>
              <a:off x="3490222" y="5357600"/>
              <a:ext cx="108515" cy="2030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2272" name="椭圆 46"/>
            <p:cNvSpPr/>
            <p:nvPr/>
          </p:nvSpPr>
          <p:spPr>
            <a:xfrm>
              <a:off x="3849377" y="3705555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73" name="椭圆 47"/>
            <p:cNvSpPr/>
            <p:nvPr/>
          </p:nvSpPr>
          <p:spPr>
            <a:xfrm>
              <a:off x="5750062" y="3097195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74" name="椭圆 48"/>
            <p:cNvSpPr/>
            <p:nvPr/>
          </p:nvSpPr>
          <p:spPr>
            <a:xfrm>
              <a:off x="4672574" y="3085379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75" name="椭圆 49"/>
            <p:cNvSpPr/>
            <p:nvPr/>
          </p:nvSpPr>
          <p:spPr>
            <a:xfrm>
              <a:off x="6312988" y="3087020"/>
              <a:ext cx="63543" cy="53133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76" name="椭圆 50"/>
            <p:cNvSpPr/>
            <p:nvPr/>
          </p:nvSpPr>
          <p:spPr>
            <a:xfrm>
              <a:off x="4352897" y="4172500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77" name="椭圆 51"/>
            <p:cNvSpPr/>
            <p:nvPr/>
          </p:nvSpPr>
          <p:spPr>
            <a:xfrm>
              <a:off x="4856417" y="4602870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78" name="Line 60"/>
            <p:cNvSpPr/>
            <p:nvPr/>
          </p:nvSpPr>
          <p:spPr>
            <a:xfrm>
              <a:off x="6343682" y="3116237"/>
              <a:ext cx="1851" cy="409568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8" name="组合 141"/>
            <p:cNvGrpSpPr/>
            <p:nvPr/>
          </p:nvGrpSpPr>
          <p:grpSpPr>
            <a:xfrm>
              <a:off x="6064186" y="3519954"/>
              <a:ext cx="359099" cy="2374764"/>
              <a:chOff x="4213491" y="3519954"/>
              <a:chExt cx="359099" cy="2374764"/>
            </a:xfrm>
          </p:grpSpPr>
          <p:sp>
            <p:nvSpPr>
              <p:cNvPr id="52287" name="Line 20"/>
              <p:cNvSpPr/>
              <p:nvPr/>
            </p:nvSpPr>
            <p:spPr>
              <a:xfrm flipV="1">
                <a:off x="4333779" y="3603817"/>
                <a:ext cx="1851" cy="2457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88" name="Line 21"/>
              <p:cNvSpPr/>
              <p:nvPr/>
            </p:nvSpPr>
            <p:spPr>
              <a:xfrm>
                <a:off x="4387465" y="3849558"/>
                <a:ext cx="105522" cy="195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89" name="Line 22"/>
              <p:cNvSpPr/>
              <p:nvPr/>
            </p:nvSpPr>
            <p:spPr>
              <a:xfrm flipV="1">
                <a:off x="4387465" y="3603817"/>
                <a:ext cx="1852" cy="24574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90" name="Line 23"/>
              <p:cNvSpPr/>
              <p:nvPr/>
            </p:nvSpPr>
            <p:spPr>
              <a:xfrm>
                <a:off x="4387465" y="3603817"/>
                <a:ext cx="105522" cy="1951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91" name="Line 24"/>
              <p:cNvSpPr/>
              <p:nvPr/>
            </p:nvSpPr>
            <p:spPr>
              <a:xfrm>
                <a:off x="4217149" y="3730589"/>
                <a:ext cx="116630" cy="1950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92" name="Line 25"/>
              <p:cNvSpPr/>
              <p:nvPr/>
            </p:nvSpPr>
            <p:spPr>
              <a:xfrm flipV="1">
                <a:off x="4492987" y="3849558"/>
                <a:ext cx="1851" cy="83864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93" name="Line 26"/>
              <p:cNvSpPr/>
              <p:nvPr/>
            </p:nvSpPr>
            <p:spPr>
              <a:xfrm flipV="1">
                <a:off x="4492987" y="3519954"/>
                <a:ext cx="1851" cy="83863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9" name="组合 111"/>
              <p:cNvGrpSpPr/>
              <p:nvPr/>
            </p:nvGrpSpPr>
            <p:grpSpPr>
              <a:xfrm>
                <a:off x="4413382" y="5613872"/>
                <a:ext cx="159208" cy="280846"/>
                <a:chOff x="4413382" y="4399549"/>
                <a:chExt cx="159208" cy="280846"/>
              </a:xfrm>
            </p:grpSpPr>
            <p:sp>
              <p:nvSpPr>
                <p:cNvPr id="52332" name="Line 28"/>
                <p:cNvSpPr/>
                <p:nvPr/>
              </p:nvSpPr>
              <p:spPr>
                <a:xfrm>
                  <a:off x="4492987" y="4399549"/>
                  <a:ext cx="1851" cy="210635"/>
                </a:xfrm>
                <a:prstGeom prst="line">
                  <a:avLst/>
                </a:prstGeom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333" name="Line 31"/>
                <p:cNvSpPr/>
                <p:nvPr/>
              </p:nvSpPr>
              <p:spPr>
                <a:xfrm>
                  <a:off x="4413382" y="4610183"/>
                  <a:ext cx="159208" cy="1951"/>
                </a:xfrm>
                <a:prstGeom prst="line">
                  <a:avLst/>
                </a:prstGeom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334" name="Line 32"/>
                <p:cNvSpPr/>
                <p:nvPr/>
              </p:nvSpPr>
              <p:spPr>
                <a:xfrm>
                  <a:off x="4443003" y="4645289"/>
                  <a:ext cx="94415" cy="1951"/>
                </a:xfrm>
                <a:prstGeom prst="line">
                  <a:avLst/>
                </a:prstGeom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335" name="Line 33"/>
                <p:cNvSpPr/>
                <p:nvPr/>
              </p:nvSpPr>
              <p:spPr>
                <a:xfrm>
                  <a:off x="4478177" y="4678445"/>
                  <a:ext cx="29620" cy="1950"/>
                </a:xfrm>
                <a:prstGeom prst="line">
                  <a:avLst/>
                </a:prstGeom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" name="组合 113"/>
              <p:cNvGrpSpPr/>
              <p:nvPr/>
            </p:nvGrpSpPr>
            <p:grpSpPr>
              <a:xfrm>
                <a:off x="4217149" y="3982180"/>
                <a:ext cx="277689" cy="413468"/>
                <a:chOff x="4217149" y="3982180"/>
                <a:chExt cx="277689" cy="413468"/>
              </a:xfrm>
            </p:grpSpPr>
            <p:grpSp>
              <p:nvGrpSpPr>
                <p:cNvPr id="11" name="组合 64"/>
                <p:cNvGrpSpPr/>
                <p:nvPr/>
              </p:nvGrpSpPr>
              <p:grpSpPr>
                <a:xfrm>
                  <a:off x="4217149" y="4066044"/>
                  <a:ext cx="277689" cy="329604"/>
                  <a:chOff x="4553649" y="5638812"/>
                  <a:chExt cx="277689" cy="329604"/>
                </a:xfrm>
              </p:grpSpPr>
              <p:sp>
                <p:nvSpPr>
                  <p:cNvPr id="52326" name="Line 41"/>
                  <p:cNvSpPr/>
                  <p:nvPr/>
                </p:nvSpPr>
                <p:spPr>
                  <a:xfrm flipV="1">
                    <a:off x="4670279" y="5638812"/>
                    <a:ext cx="1851" cy="24574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27" name="Line 42"/>
                  <p:cNvSpPr/>
                  <p:nvPr/>
                </p:nvSpPr>
                <p:spPr>
                  <a:xfrm>
                    <a:off x="4723965" y="5884553"/>
                    <a:ext cx="105522" cy="1950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28" name="Line 43"/>
                  <p:cNvSpPr/>
                  <p:nvPr/>
                </p:nvSpPr>
                <p:spPr>
                  <a:xfrm flipV="1">
                    <a:off x="4723965" y="5638812"/>
                    <a:ext cx="1852" cy="24574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29" name="Line 44"/>
                  <p:cNvSpPr/>
                  <p:nvPr/>
                </p:nvSpPr>
                <p:spPr>
                  <a:xfrm>
                    <a:off x="4723965" y="5638812"/>
                    <a:ext cx="105522" cy="1950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30" name="Line 45"/>
                  <p:cNvSpPr/>
                  <p:nvPr/>
                </p:nvSpPr>
                <p:spPr>
                  <a:xfrm>
                    <a:off x="4553649" y="5765582"/>
                    <a:ext cx="116630" cy="195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31" name="Line 46"/>
                  <p:cNvSpPr/>
                  <p:nvPr/>
                </p:nvSpPr>
                <p:spPr>
                  <a:xfrm flipV="1">
                    <a:off x="4829487" y="5884553"/>
                    <a:ext cx="1851" cy="83863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2325" name="Line 47"/>
                <p:cNvSpPr/>
                <p:nvPr/>
              </p:nvSpPr>
              <p:spPr>
                <a:xfrm flipV="1">
                  <a:off x="4492987" y="3982180"/>
                  <a:ext cx="1851" cy="83864"/>
                </a:xfrm>
                <a:prstGeom prst="line">
                  <a:avLst/>
                </a:prstGeom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296" name="Line 59"/>
              <p:cNvSpPr/>
              <p:nvPr/>
            </p:nvSpPr>
            <p:spPr>
              <a:xfrm>
                <a:off x="4492987" y="3933422"/>
                <a:ext cx="1851" cy="54609"/>
              </a:xfrm>
              <a:prstGeom prst="line">
                <a:avLst/>
              </a:prstGeom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2" name="组合 114"/>
              <p:cNvGrpSpPr/>
              <p:nvPr/>
            </p:nvGrpSpPr>
            <p:grpSpPr>
              <a:xfrm>
                <a:off x="4215929" y="4405247"/>
                <a:ext cx="277689" cy="413468"/>
                <a:chOff x="4217149" y="3982180"/>
                <a:chExt cx="277689" cy="413468"/>
              </a:xfrm>
            </p:grpSpPr>
            <p:grpSp>
              <p:nvGrpSpPr>
                <p:cNvPr id="13" name="组合 64"/>
                <p:cNvGrpSpPr/>
                <p:nvPr/>
              </p:nvGrpSpPr>
              <p:grpSpPr>
                <a:xfrm>
                  <a:off x="4217149" y="4066044"/>
                  <a:ext cx="277689" cy="329604"/>
                  <a:chOff x="4553649" y="5638812"/>
                  <a:chExt cx="277689" cy="329604"/>
                </a:xfrm>
              </p:grpSpPr>
              <p:sp>
                <p:nvSpPr>
                  <p:cNvPr id="52318" name="Line 41"/>
                  <p:cNvSpPr/>
                  <p:nvPr/>
                </p:nvSpPr>
                <p:spPr>
                  <a:xfrm flipV="1">
                    <a:off x="4670279" y="5638812"/>
                    <a:ext cx="1851" cy="24574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19" name="Line 42"/>
                  <p:cNvSpPr/>
                  <p:nvPr/>
                </p:nvSpPr>
                <p:spPr>
                  <a:xfrm>
                    <a:off x="4723965" y="5884553"/>
                    <a:ext cx="105522" cy="1950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20" name="Line 43"/>
                  <p:cNvSpPr/>
                  <p:nvPr/>
                </p:nvSpPr>
                <p:spPr>
                  <a:xfrm flipV="1">
                    <a:off x="4723965" y="5638812"/>
                    <a:ext cx="1852" cy="24574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21" name="Line 44"/>
                  <p:cNvSpPr/>
                  <p:nvPr/>
                </p:nvSpPr>
                <p:spPr>
                  <a:xfrm>
                    <a:off x="4723965" y="5638812"/>
                    <a:ext cx="105522" cy="1950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22" name="Line 45"/>
                  <p:cNvSpPr/>
                  <p:nvPr/>
                </p:nvSpPr>
                <p:spPr>
                  <a:xfrm>
                    <a:off x="4553649" y="5765582"/>
                    <a:ext cx="116630" cy="195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23" name="Line 46"/>
                  <p:cNvSpPr/>
                  <p:nvPr/>
                </p:nvSpPr>
                <p:spPr>
                  <a:xfrm flipV="1">
                    <a:off x="4829487" y="5884553"/>
                    <a:ext cx="1851" cy="83863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2317" name="Line 47"/>
                <p:cNvSpPr/>
                <p:nvPr/>
              </p:nvSpPr>
              <p:spPr>
                <a:xfrm flipV="1">
                  <a:off x="4492987" y="3982180"/>
                  <a:ext cx="1851" cy="83864"/>
                </a:xfrm>
                <a:prstGeom prst="line">
                  <a:avLst/>
                </a:prstGeom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" name="组合 123"/>
              <p:cNvGrpSpPr/>
              <p:nvPr/>
            </p:nvGrpSpPr>
            <p:grpSpPr>
              <a:xfrm>
                <a:off x="4214711" y="4828305"/>
                <a:ext cx="277689" cy="413468"/>
                <a:chOff x="4217149" y="3982180"/>
                <a:chExt cx="277689" cy="413468"/>
              </a:xfrm>
            </p:grpSpPr>
            <p:grpSp>
              <p:nvGrpSpPr>
                <p:cNvPr id="15" name="组合 64"/>
                <p:cNvGrpSpPr/>
                <p:nvPr/>
              </p:nvGrpSpPr>
              <p:grpSpPr>
                <a:xfrm>
                  <a:off x="4217149" y="4066044"/>
                  <a:ext cx="277689" cy="329604"/>
                  <a:chOff x="4553649" y="5638812"/>
                  <a:chExt cx="277689" cy="329604"/>
                </a:xfrm>
              </p:grpSpPr>
              <p:sp>
                <p:nvSpPr>
                  <p:cNvPr id="52310" name="Line 41"/>
                  <p:cNvSpPr/>
                  <p:nvPr/>
                </p:nvSpPr>
                <p:spPr>
                  <a:xfrm flipV="1">
                    <a:off x="4670279" y="5638812"/>
                    <a:ext cx="1851" cy="24574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11" name="Line 42"/>
                  <p:cNvSpPr/>
                  <p:nvPr/>
                </p:nvSpPr>
                <p:spPr>
                  <a:xfrm>
                    <a:off x="4723965" y="5884553"/>
                    <a:ext cx="105522" cy="1950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12" name="Line 43"/>
                  <p:cNvSpPr/>
                  <p:nvPr/>
                </p:nvSpPr>
                <p:spPr>
                  <a:xfrm flipV="1">
                    <a:off x="4723965" y="5638812"/>
                    <a:ext cx="1852" cy="24574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13" name="Line 44"/>
                  <p:cNvSpPr/>
                  <p:nvPr/>
                </p:nvSpPr>
                <p:spPr>
                  <a:xfrm>
                    <a:off x="4723965" y="5638812"/>
                    <a:ext cx="105522" cy="1950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14" name="Line 45"/>
                  <p:cNvSpPr/>
                  <p:nvPr/>
                </p:nvSpPr>
                <p:spPr>
                  <a:xfrm>
                    <a:off x="4553649" y="5765582"/>
                    <a:ext cx="116630" cy="195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15" name="Line 46"/>
                  <p:cNvSpPr/>
                  <p:nvPr/>
                </p:nvSpPr>
                <p:spPr>
                  <a:xfrm flipV="1">
                    <a:off x="4829487" y="5884553"/>
                    <a:ext cx="1851" cy="83863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2309" name="Line 47"/>
                <p:cNvSpPr/>
                <p:nvPr/>
              </p:nvSpPr>
              <p:spPr>
                <a:xfrm flipV="1">
                  <a:off x="4492987" y="3982180"/>
                  <a:ext cx="1851" cy="83864"/>
                </a:xfrm>
                <a:prstGeom prst="line">
                  <a:avLst/>
                </a:prstGeom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6" name="组合 132"/>
              <p:cNvGrpSpPr/>
              <p:nvPr/>
            </p:nvGrpSpPr>
            <p:grpSpPr>
              <a:xfrm>
                <a:off x="4213491" y="5229422"/>
                <a:ext cx="277689" cy="413468"/>
                <a:chOff x="4217149" y="3982180"/>
                <a:chExt cx="277689" cy="413468"/>
              </a:xfrm>
            </p:grpSpPr>
            <p:grpSp>
              <p:nvGrpSpPr>
                <p:cNvPr id="17" name="组合 64"/>
                <p:cNvGrpSpPr/>
                <p:nvPr/>
              </p:nvGrpSpPr>
              <p:grpSpPr>
                <a:xfrm>
                  <a:off x="4217149" y="4066044"/>
                  <a:ext cx="277689" cy="329604"/>
                  <a:chOff x="4553649" y="5638812"/>
                  <a:chExt cx="277689" cy="329604"/>
                </a:xfrm>
              </p:grpSpPr>
              <p:sp>
                <p:nvSpPr>
                  <p:cNvPr id="52302" name="Line 41"/>
                  <p:cNvSpPr/>
                  <p:nvPr/>
                </p:nvSpPr>
                <p:spPr>
                  <a:xfrm flipV="1">
                    <a:off x="4670279" y="5638812"/>
                    <a:ext cx="1851" cy="24574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03" name="Line 42"/>
                  <p:cNvSpPr/>
                  <p:nvPr/>
                </p:nvSpPr>
                <p:spPr>
                  <a:xfrm>
                    <a:off x="4723965" y="5884553"/>
                    <a:ext cx="105522" cy="1950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04" name="Line 43"/>
                  <p:cNvSpPr/>
                  <p:nvPr/>
                </p:nvSpPr>
                <p:spPr>
                  <a:xfrm flipV="1">
                    <a:off x="4723965" y="5638812"/>
                    <a:ext cx="1852" cy="24574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05" name="Line 44"/>
                  <p:cNvSpPr/>
                  <p:nvPr/>
                </p:nvSpPr>
                <p:spPr>
                  <a:xfrm>
                    <a:off x="4723965" y="5638812"/>
                    <a:ext cx="105522" cy="1950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06" name="Line 45"/>
                  <p:cNvSpPr/>
                  <p:nvPr/>
                </p:nvSpPr>
                <p:spPr>
                  <a:xfrm>
                    <a:off x="4553649" y="5765582"/>
                    <a:ext cx="116630" cy="1951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307" name="Line 46"/>
                  <p:cNvSpPr/>
                  <p:nvPr/>
                </p:nvSpPr>
                <p:spPr>
                  <a:xfrm flipV="1">
                    <a:off x="4829487" y="5884553"/>
                    <a:ext cx="1851" cy="83863"/>
                  </a:xfrm>
                  <a:prstGeom prst="line">
                    <a:avLst/>
                  </a:prstGeom>
                  <a:ln w="31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2301" name="Line 47"/>
                <p:cNvSpPr/>
                <p:nvPr/>
              </p:nvSpPr>
              <p:spPr>
                <a:xfrm flipV="1">
                  <a:off x="4492987" y="3982180"/>
                  <a:ext cx="1851" cy="83864"/>
                </a:xfrm>
                <a:prstGeom prst="line">
                  <a:avLst/>
                </a:prstGeom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52280" name="椭圆 54"/>
            <p:cNvSpPr/>
            <p:nvPr/>
          </p:nvSpPr>
          <p:spPr>
            <a:xfrm>
              <a:off x="6312102" y="3095980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81" name="椭圆 55"/>
            <p:cNvSpPr/>
            <p:nvPr/>
          </p:nvSpPr>
          <p:spPr>
            <a:xfrm>
              <a:off x="5396512" y="5018610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82" name="椭圆 56"/>
            <p:cNvSpPr/>
            <p:nvPr/>
          </p:nvSpPr>
          <p:spPr>
            <a:xfrm>
              <a:off x="5929292" y="5412405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83" name="椭圆 57"/>
            <p:cNvSpPr/>
            <p:nvPr/>
          </p:nvSpPr>
          <p:spPr>
            <a:xfrm>
              <a:off x="5194122" y="2665610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84" name="椭圆 58"/>
            <p:cNvSpPr/>
            <p:nvPr/>
          </p:nvSpPr>
          <p:spPr>
            <a:xfrm>
              <a:off x="5200222" y="3095980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85" name="椭圆 59"/>
            <p:cNvSpPr/>
            <p:nvPr/>
          </p:nvSpPr>
          <p:spPr>
            <a:xfrm>
              <a:off x="5741532" y="2664395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52286" name="椭圆 60"/>
            <p:cNvSpPr/>
            <p:nvPr/>
          </p:nvSpPr>
          <p:spPr>
            <a:xfrm>
              <a:off x="4673542" y="2664395"/>
              <a:ext cx="60385" cy="45719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54275" name="Rectangle 45"/>
          <p:cNvSpPr/>
          <p:nvPr/>
        </p:nvSpPr>
        <p:spPr>
          <a:xfrm>
            <a:off x="495300" y="1055688"/>
            <a:ext cx="11255375" cy="26304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Times New Roman" pitchFamily="18" charset="0"/>
              </a:rPr>
              <a:t>老办法：产生每块的进位传递因子和进位产生因子</a:t>
            </a:r>
            <a:endParaRPr lang="zh-CN" altLang="en-US" sz="1600" b="1" dirty="0">
              <a:latin typeface="Times New Roman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Times New Roman" pitchFamily="18" charset="0"/>
              </a:rPr>
              <a:t>进位传递因子：每一位的传递因子都为</a:t>
            </a:r>
            <a:r>
              <a:rPr lang="en-US" altLang="zh-CN" sz="1600" b="1" dirty="0">
                <a:latin typeface="Times New Roman" pitchFamily="18" charset="0"/>
              </a:rPr>
              <a:t>1</a:t>
            </a:r>
            <a:r>
              <a:rPr lang="zh-CN" altLang="en-US" sz="1600" b="1" dirty="0">
                <a:latin typeface="Times New Roman" pitchFamily="18" charset="0"/>
              </a:rPr>
              <a:t>时才能传递</a:t>
            </a:r>
            <a:endParaRPr lang="zh-CN" altLang="en-US" sz="1600" b="1" dirty="0">
              <a:latin typeface="Times New Roman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1" dirty="0">
                <a:latin typeface="宋体" panose="02000500000000000000" pitchFamily="2" charset="-122"/>
              </a:rPr>
              <a:t>  </a:t>
            </a:r>
            <a:r>
              <a:rPr lang="en-US" altLang="zh-CN" sz="1400" b="1" dirty="0">
                <a:solidFill>
                  <a:schemeClr val="accent2"/>
                </a:solidFill>
                <a:latin typeface="宋体" panose="02000500000000000000" pitchFamily="2" charset="-122"/>
              </a:rPr>
              <a:t>P  = p0*p1*p2*p3</a:t>
            </a:r>
            <a:endParaRPr lang="en-US" altLang="zh-CN" sz="1400" b="1" dirty="0">
              <a:solidFill>
                <a:schemeClr val="accent2"/>
              </a:solidFill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Times New Roman" pitchFamily="18" charset="0"/>
              </a:rPr>
              <a:t>进位产生因子：</a:t>
            </a:r>
            <a:r>
              <a:rPr lang="zh-CN" altLang="en-US" sz="1600" b="1" dirty="0">
                <a:solidFill>
                  <a:srgbClr val="FF0000"/>
                </a:solidFill>
                <a:latin typeface="Times New Roman" pitchFamily="18" charset="0"/>
              </a:rPr>
              <a:t>块内产生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</a:rPr>
              <a:t>进位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，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</a:rPr>
              <a:t>不</a:t>
            </a:r>
            <a:r>
              <a:rPr lang="zh-CN" altLang="en-US" sz="1600" b="1" dirty="0">
                <a:solidFill>
                  <a:srgbClr val="FF0000"/>
                </a:solidFill>
                <a:latin typeface="Times New Roman" pitchFamily="18" charset="0"/>
              </a:rPr>
              <a:t>考虑进位输入</a:t>
            </a:r>
            <a:endParaRPr lang="zh-CN" altLang="en-US" sz="1050" b="1" dirty="0">
              <a:solidFill>
                <a:srgbClr val="FF0000"/>
              </a:solidFill>
              <a:latin typeface="Times New Roman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1" dirty="0">
                <a:latin typeface="Courier New" pitchFamily="49" charset="0"/>
              </a:rPr>
              <a:t> </a:t>
            </a:r>
            <a:r>
              <a:rPr lang="zh-CN" altLang="en-US" sz="1400" b="1" dirty="0">
                <a:latin typeface="宋体" panose="02000500000000000000" pitchFamily="2" charset="-122"/>
              </a:rPr>
              <a:t> </a:t>
            </a:r>
            <a:r>
              <a:rPr lang="en-US" altLang="zh-CN" sz="1400" b="1" dirty="0">
                <a:solidFill>
                  <a:schemeClr val="accent2"/>
                </a:solidFill>
                <a:latin typeface="宋体" panose="02000500000000000000" pitchFamily="2" charset="-122"/>
              </a:rPr>
              <a:t>G  = g3+(p3*g2)+(p3*p2*g1)+(p3*p2*p1*g0)</a:t>
            </a:r>
            <a:endParaRPr lang="en-US" altLang="zh-CN" sz="1400" b="1" dirty="0">
              <a:solidFill>
                <a:schemeClr val="accent2"/>
              </a:solidFill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b="1" dirty="0">
                <a:solidFill>
                  <a:srgbClr val="FF0000"/>
                </a:solidFill>
                <a:latin typeface="宋体" panose="02000500000000000000" pitchFamily="2" charset="-122"/>
              </a:rPr>
              <a:t>  c4 = g3+(p3*g2)+(p3*p2*g1)+(p3*p2*p1*g0)+(p3*p2*p1*p0*c0</a:t>
            </a:r>
            <a:r>
              <a:rPr lang="en-US" altLang="zh-CN" sz="1400" b="1" dirty="0" smtClean="0">
                <a:solidFill>
                  <a:srgbClr val="FF0000"/>
                </a:solidFill>
                <a:latin typeface="宋体" panose="02000500000000000000" pitchFamily="2" charset="-122"/>
              </a:rPr>
              <a:t>) = 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00500000000000000" pitchFamily="2" charset="-122"/>
              </a:rPr>
              <a:t>G +(P*c0)</a:t>
            </a:r>
            <a:endParaRPr lang="en-US" altLang="zh-CN" sz="1400" b="1" dirty="0">
              <a:solidFill>
                <a:srgbClr val="FF0000"/>
              </a:solidFill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00500000000000000" pitchFamily="2" charset="-122"/>
            </a:endParaRPr>
          </a:p>
        </p:txBody>
      </p:sp>
      <p:sp>
        <p:nvSpPr>
          <p:cNvPr id="54276" name="Rectangle 315"/>
          <p:cNvSpPr>
            <a:spLocks noGrp="1"/>
          </p:cNvSpPr>
          <p:nvPr>
            <p:ph type="title"/>
          </p:nvPr>
        </p:nvSpPr>
        <p:spPr>
          <a:xfrm>
            <a:off x="939800" y="0"/>
            <a:ext cx="10361613" cy="1089025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块内并行</a:t>
            </a:r>
            <a:r>
              <a:rPr lang="en-US" altLang="zh-CN" dirty="0"/>
              <a:t>, </a:t>
            </a:r>
            <a:r>
              <a:rPr lang="zh-CN" altLang="en-US" dirty="0"/>
              <a:t>块间并行</a:t>
            </a:r>
            <a:endParaRPr lang="zh-CN" altLang="en-US" dirty="0"/>
          </a:p>
        </p:txBody>
      </p:sp>
      <p:grpSp>
        <p:nvGrpSpPr>
          <p:cNvPr id="2" name="Group 316"/>
          <p:cNvGrpSpPr/>
          <p:nvPr/>
        </p:nvGrpSpPr>
        <p:grpSpPr>
          <a:xfrm>
            <a:off x="2268538" y="3987800"/>
            <a:ext cx="7018337" cy="2457450"/>
            <a:chOff x="1797" y="632"/>
            <a:chExt cx="8291" cy="3870"/>
          </a:xfrm>
        </p:grpSpPr>
        <p:grpSp>
          <p:nvGrpSpPr>
            <p:cNvPr id="3" name="Group 317"/>
            <p:cNvGrpSpPr/>
            <p:nvPr/>
          </p:nvGrpSpPr>
          <p:grpSpPr>
            <a:xfrm>
              <a:off x="5377" y="643"/>
              <a:ext cx="1840" cy="3209"/>
              <a:chOff x="5618" y="11290"/>
              <a:chExt cx="1840" cy="3210"/>
            </a:xfrm>
          </p:grpSpPr>
          <p:sp>
            <p:nvSpPr>
              <p:cNvPr id="54453" name="Line 318"/>
              <p:cNvSpPr/>
              <p:nvPr/>
            </p:nvSpPr>
            <p:spPr>
              <a:xfrm flipH="1" flipV="1">
                <a:off x="6498" y="12200"/>
                <a:ext cx="0" cy="52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54" name="Line 319"/>
              <p:cNvSpPr/>
              <p:nvPr/>
            </p:nvSpPr>
            <p:spPr>
              <a:xfrm flipV="1">
                <a:off x="5828" y="12620"/>
                <a:ext cx="0" cy="3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55" name="Line 320"/>
              <p:cNvSpPr/>
              <p:nvPr/>
            </p:nvSpPr>
            <p:spPr>
              <a:xfrm flipV="1">
                <a:off x="7268" y="12620"/>
                <a:ext cx="0" cy="3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56" name="Line 321"/>
              <p:cNvSpPr/>
              <p:nvPr/>
            </p:nvSpPr>
            <p:spPr>
              <a:xfrm flipV="1">
                <a:off x="6398" y="12180"/>
                <a:ext cx="0" cy="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57" name="Line 322"/>
              <p:cNvSpPr/>
              <p:nvPr/>
            </p:nvSpPr>
            <p:spPr>
              <a:xfrm flipV="1">
                <a:off x="5828" y="12620"/>
                <a:ext cx="5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58" name="Line 323"/>
              <p:cNvSpPr/>
              <p:nvPr/>
            </p:nvSpPr>
            <p:spPr>
              <a:xfrm flipV="1">
                <a:off x="6678" y="12620"/>
                <a:ext cx="59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59" name="Line 324"/>
              <p:cNvSpPr/>
              <p:nvPr/>
            </p:nvSpPr>
            <p:spPr>
              <a:xfrm flipV="1">
                <a:off x="6688" y="12190"/>
                <a:ext cx="0" cy="4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60" name="Line 325"/>
              <p:cNvSpPr/>
              <p:nvPr/>
            </p:nvSpPr>
            <p:spPr>
              <a:xfrm flipV="1">
                <a:off x="6588" y="12180"/>
                <a:ext cx="0" cy="5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61" name="Line 326"/>
              <p:cNvSpPr/>
              <p:nvPr/>
            </p:nvSpPr>
            <p:spPr>
              <a:xfrm flipH="1">
                <a:off x="6308" y="12720"/>
                <a:ext cx="1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62" name="Line 327"/>
              <p:cNvSpPr/>
              <p:nvPr/>
            </p:nvSpPr>
            <p:spPr>
              <a:xfrm flipV="1">
                <a:off x="6308" y="12720"/>
                <a:ext cx="0" cy="2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63" name="Line 328"/>
              <p:cNvSpPr/>
              <p:nvPr/>
            </p:nvSpPr>
            <p:spPr>
              <a:xfrm flipH="1">
                <a:off x="6588" y="12720"/>
                <a:ext cx="21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64" name="Line 329"/>
              <p:cNvSpPr/>
              <p:nvPr/>
            </p:nvSpPr>
            <p:spPr>
              <a:xfrm flipV="1">
                <a:off x="6808" y="12720"/>
                <a:ext cx="0" cy="2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65" name="Line 330"/>
              <p:cNvSpPr/>
              <p:nvPr/>
            </p:nvSpPr>
            <p:spPr>
              <a:xfrm>
                <a:off x="7118" y="1351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66" name="Line 331"/>
              <p:cNvSpPr/>
              <p:nvPr/>
            </p:nvSpPr>
            <p:spPr>
              <a:xfrm>
                <a:off x="6648" y="1351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67" name="Line 332"/>
              <p:cNvSpPr/>
              <p:nvPr/>
            </p:nvSpPr>
            <p:spPr>
              <a:xfrm flipH="1">
                <a:off x="5778" y="13500"/>
                <a:ext cx="10" cy="7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4" name="Group 333"/>
              <p:cNvGrpSpPr/>
              <p:nvPr/>
            </p:nvGrpSpPr>
            <p:grpSpPr>
              <a:xfrm>
                <a:off x="5618" y="12950"/>
                <a:ext cx="400" cy="560"/>
                <a:chOff x="2025" y="2603"/>
                <a:chExt cx="277" cy="403"/>
              </a:xfrm>
            </p:grpSpPr>
            <p:grpSp>
              <p:nvGrpSpPr>
                <p:cNvPr id="5" name="Group 334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4512" name="Oval 335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513" name="Line 336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514" name="Rectangle 337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515" name="Line 338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516" name="Line 339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4511" name="Oval 340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6" name="Group 341"/>
              <p:cNvGrpSpPr/>
              <p:nvPr/>
            </p:nvGrpSpPr>
            <p:grpSpPr>
              <a:xfrm>
                <a:off x="6098" y="12950"/>
                <a:ext cx="400" cy="560"/>
                <a:chOff x="2025" y="2603"/>
                <a:chExt cx="277" cy="403"/>
              </a:xfrm>
            </p:grpSpPr>
            <p:grpSp>
              <p:nvGrpSpPr>
                <p:cNvPr id="7" name="Group 342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4505" name="Oval 343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506" name="Line 344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507" name="Rectangle 345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508" name="Line 346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509" name="Line 347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4504" name="Oval 348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8" name="Group 349"/>
              <p:cNvGrpSpPr/>
              <p:nvPr/>
            </p:nvGrpSpPr>
            <p:grpSpPr>
              <a:xfrm>
                <a:off x="6578" y="12950"/>
                <a:ext cx="400" cy="560"/>
                <a:chOff x="2025" y="2603"/>
                <a:chExt cx="277" cy="403"/>
              </a:xfrm>
            </p:grpSpPr>
            <p:grpSp>
              <p:nvGrpSpPr>
                <p:cNvPr id="9" name="Group 350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4498" name="Oval 351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499" name="Line 352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500" name="Rectangle 353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501" name="Line 354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502" name="Line 355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4497" name="Oval 356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10" name="Group 357"/>
              <p:cNvGrpSpPr/>
              <p:nvPr/>
            </p:nvGrpSpPr>
            <p:grpSpPr>
              <a:xfrm>
                <a:off x="7058" y="12950"/>
                <a:ext cx="400" cy="560"/>
                <a:chOff x="2025" y="2603"/>
                <a:chExt cx="277" cy="403"/>
              </a:xfrm>
            </p:grpSpPr>
            <p:grpSp>
              <p:nvGrpSpPr>
                <p:cNvPr id="11" name="Group 358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4491" name="Oval 359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492" name="Line 360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493" name="Rectangle 361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494" name="Line 362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495" name="Line 363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4490" name="Oval 364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12" name="Group 365"/>
              <p:cNvGrpSpPr/>
              <p:nvPr/>
            </p:nvGrpSpPr>
            <p:grpSpPr>
              <a:xfrm>
                <a:off x="6348" y="11650"/>
                <a:ext cx="400" cy="560"/>
                <a:chOff x="2025" y="2603"/>
                <a:chExt cx="277" cy="403"/>
              </a:xfrm>
            </p:grpSpPr>
            <p:grpSp>
              <p:nvGrpSpPr>
                <p:cNvPr id="13" name="Group 366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4484" name="Oval 367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485" name="Line 368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486" name="Rectangle 369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4487" name="Line 370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488" name="Line 371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4483" name="Oval 372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54473" name="Line 373"/>
              <p:cNvSpPr/>
              <p:nvPr/>
            </p:nvSpPr>
            <p:spPr>
              <a:xfrm flipV="1">
                <a:off x="6548" y="1130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74" name="Line 374"/>
              <p:cNvSpPr/>
              <p:nvPr/>
            </p:nvSpPr>
            <p:spPr>
              <a:xfrm>
                <a:off x="7298" y="13510"/>
                <a:ext cx="0" cy="5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75" name="Line 375"/>
              <p:cNvSpPr/>
              <p:nvPr/>
            </p:nvSpPr>
            <p:spPr>
              <a:xfrm>
                <a:off x="7208" y="13500"/>
                <a:ext cx="0" cy="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76" name="Line 376"/>
              <p:cNvSpPr/>
              <p:nvPr/>
            </p:nvSpPr>
            <p:spPr>
              <a:xfrm>
                <a:off x="6778" y="13500"/>
                <a:ext cx="0" cy="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77" name="Line 377"/>
              <p:cNvSpPr/>
              <p:nvPr/>
            </p:nvSpPr>
            <p:spPr>
              <a:xfrm>
                <a:off x="6198" y="1351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78" name="Line 378"/>
              <p:cNvSpPr/>
              <p:nvPr/>
            </p:nvSpPr>
            <p:spPr>
              <a:xfrm>
                <a:off x="7388" y="13500"/>
                <a:ext cx="0" cy="10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79" name="Line 379"/>
              <p:cNvSpPr/>
              <p:nvPr/>
            </p:nvSpPr>
            <p:spPr>
              <a:xfrm>
                <a:off x="6888" y="13510"/>
                <a:ext cx="0" cy="88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80" name="Line 380"/>
              <p:cNvSpPr/>
              <p:nvPr/>
            </p:nvSpPr>
            <p:spPr>
              <a:xfrm>
                <a:off x="6378" y="13500"/>
                <a:ext cx="0" cy="79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481" name="Text Box 381"/>
              <p:cNvSpPr txBox="1"/>
              <p:nvPr/>
            </p:nvSpPr>
            <p:spPr>
              <a:xfrm>
                <a:off x="6638" y="11290"/>
                <a:ext cx="220" cy="2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lIns="0" tIns="0" rIns="0" bIns="0"/>
              <a:lstStyle/>
              <a:p>
                <a:pPr algn="just"/>
                <a:r>
                  <a:rPr lang="en-US" altLang="zh-CN" sz="1000" dirty="0">
                    <a:solidFill>
                      <a:srgbClr val="000000"/>
                    </a:solidFill>
                    <a:latin typeface="Times New Roman" pitchFamily="18" charset="0"/>
                  </a:rPr>
                  <a:t>c3</a:t>
                </a:r>
                <a:endParaRPr lang="en-US" altLang="zh-CN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4" name="Group 382"/>
            <p:cNvGrpSpPr/>
            <p:nvPr/>
          </p:nvGrpSpPr>
          <p:grpSpPr>
            <a:xfrm>
              <a:off x="3147" y="2302"/>
              <a:ext cx="401" cy="560"/>
              <a:chOff x="2025" y="2603"/>
              <a:chExt cx="277" cy="403"/>
            </a:xfrm>
          </p:grpSpPr>
          <p:grpSp>
            <p:nvGrpSpPr>
              <p:cNvPr id="15" name="Group 383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448" name="Oval 384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49" name="Line 385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50" name="Rectangle 386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51" name="Line 387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52" name="Line 388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447" name="Oval 389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6" name="Group 390"/>
            <p:cNvGrpSpPr/>
            <p:nvPr/>
          </p:nvGrpSpPr>
          <p:grpSpPr>
            <a:xfrm>
              <a:off x="3627" y="2302"/>
              <a:ext cx="401" cy="560"/>
              <a:chOff x="2025" y="2603"/>
              <a:chExt cx="277" cy="403"/>
            </a:xfrm>
          </p:grpSpPr>
          <p:grpSp>
            <p:nvGrpSpPr>
              <p:cNvPr id="17" name="Group 391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441" name="Oval 392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42" name="Line 393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43" name="Rectangle 394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44" name="Line 395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45" name="Line 396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440" name="Oval 397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8" name="Group 398"/>
            <p:cNvGrpSpPr/>
            <p:nvPr/>
          </p:nvGrpSpPr>
          <p:grpSpPr>
            <a:xfrm>
              <a:off x="4107" y="2302"/>
              <a:ext cx="401" cy="560"/>
              <a:chOff x="2025" y="2603"/>
              <a:chExt cx="277" cy="403"/>
            </a:xfrm>
          </p:grpSpPr>
          <p:grpSp>
            <p:nvGrpSpPr>
              <p:cNvPr id="19" name="Group 399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434" name="Oval 400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35" name="Line 401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36" name="Rectangle 402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37" name="Line 403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38" name="Line 404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433" name="Oval 405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0" name="Group 406"/>
            <p:cNvGrpSpPr/>
            <p:nvPr/>
          </p:nvGrpSpPr>
          <p:grpSpPr>
            <a:xfrm>
              <a:off x="2668" y="2302"/>
              <a:ext cx="399" cy="560"/>
              <a:chOff x="2025" y="2603"/>
              <a:chExt cx="277" cy="403"/>
            </a:xfrm>
          </p:grpSpPr>
          <p:grpSp>
            <p:nvGrpSpPr>
              <p:cNvPr id="21" name="Group 407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427" name="Oval 408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28" name="Line 409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29" name="Rectangle 410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30" name="Line 411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31" name="Line 412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426" name="Oval 413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54283" name="Line 414"/>
            <p:cNvSpPr/>
            <p:nvPr/>
          </p:nvSpPr>
          <p:spPr>
            <a:xfrm flipH="1">
              <a:off x="2007" y="1552"/>
              <a:ext cx="1" cy="7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2" name="Group 415"/>
            <p:cNvGrpSpPr/>
            <p:nvPr/>
          </p:nvGrpSpPr>
          <p:grpSpPr>
            <a:xfrm>
              <a:off x="1817" y="1142"/>
              <a:ext cx="381" cy="403"/>
              <a:chOff x="1169" y="3382"/>
              <a:chExt cx="218" cy="257"/>
            </a:xfrm>
          </p:grpSpPr>
          <p:sp>
            <p:nvSpPr>
              <p:cNvPr id="54423" name="AutoShape 416"/>
              <p:cNvSpPr/>
              <p:nvPr/>
            </p:nvSpPr>
            <p:spPr>
              <a:xfrm flipV="1">
                <a:off x="1169" y="3436"/>
                <a:ext cx="218" cy="203"/>
              </a:xfrm>
              <a:prstGeom prst="flowChartMerg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54424" name="Oval 417"/>
              <p:cNvSpPr/>
              <p:nvPr/>
            </p:nvSpPr>
            <p:spPr>
              <a:xfrm>
                <a:off x="1247" y="3382"/>
                <a:ext cx="62" cy="55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54285" name="Line 418"/>
            <p:cNvSpPr/>
            <p:nvPr/>
          </p:nvSpPr>
          <p:spPr>
            <a:xfrm>
              <a:off x="2047" y="2852"/>
              <a:ext cx="0" cy="1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6" name="Line 419"/>
            <p:cNvSpPr/>
            <p:nvPr/>
          </p:nvSpPr>
          <p:spPr>
            <a:xfrm flipV="1">
              <a:off x="2957" y="2012"/>
              <a:ext cx="393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7" name="Line 420"/>
            <p:cNvSpPr/>
            <p:nvPr/>
          </p:nvSpPr>
          <p:spPr>
            <a:xfrm>
              <a:off x="1957" y="2852"/>
              <a:ext cx="0" cy="1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8" name="Line 421"/>
            <p:cNvSpPr/>
            <p:nvPr/>
          </p:nvSpPr>
          <p:spPr>
            <a:xfrm>
              <a:off x="1858" y="2852"/>
              <a:ext cx="0" cy="1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9" name="Line 422"/>
            <p:cNvSpPr/>
            <p:nvPr/>
          </p:nvSpPr>
          <p:spPr>
            <a:xfrm>
              <a:off x="2128" y="2852"/>
              <a:ext cx="0" cy="1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0" name="Line 423"/>
            <p:cNvSpPr/>
            <p:nvPr/>
          </p:nvSpPr>
          <p:spPr>
            <a:xfrm flipV="1">
              <a:off x="3207" y="285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1" name="Line 424"/>
            <p:cNvSpPr/>
            <p:nvPr/>
          </p:nvSpPr>
          <p:spPr>
            <a:xfrm>
              <a:off x="8297" y="2862"/>
              <a:ext cx="0" cy="8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2" name="Line 425"/>
            <p:cNvSpPr/>
            <p:nvPr/>
          </p:nvSpPr>
          <p:spPr>
            <a:xfrm>
              <a:off x="10008" y="2862"/>
              <a:ext cx="0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3" name="Group 426"/>
            <p:cNvGrpSpPr/>
            <p:nvPr/>
          </p:nvGrpSpPr>
          <p:grpSpPr>
            <a:xfrm>
              <a:off x="7517" y="2302"/>
              <a:ext cx="401" cy="560"/>
              <a:chOff x="2025" y="2603"/>
              <a:chExt cx="277" cy="403"/>
            </a:xfrm>
          </p:grpSpPr>
          <p:grpSp>
            <p:nvGrpSpPr>
              <p:cNvPr id="24" name="Group 427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418" name="Oval 428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19" name="Line 429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20" name="Rectangle 430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21" name="Line 431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22" name="Line 432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417" name="Oval 433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5" name="Group 434"/>
            <p:cNvGrpSpPr/>
            <p:nvPr/>
          </p:nvGrpSpPr>
          <p:grpSpPr>
            <a:xfrm>
              <a:off x="7997" y="2302"/>
              <a:ext cx="401" cy="560"/>
              <a:chOff x="2025" y="2603"/>
              <a:chExt cx="277" cy="403"/>
            </a:xfrm>
          </p:grpSpPr>
          <p:grpSp>
            <p:nvGrpSpPr>
              <p:cNvPr id="26" name="Group 435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411" name="Oval 436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12" name="Line 437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13" name="Rectangle 438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14" name="Line 439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15" name="Line 440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410" name="Oval 441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7" name="Group 442"/>
            <p:cNvGrpSpPr/>
            <p:nvPr/>
          </p:nvGrpSpPr>
          <p:grpSpPr>
            <a:xfrm>
              <a:off x="8478" y="2302"/>
              <a:ext cx="399" cy="560"/>
              <a:chOff x="2025" y="2603"/>
              <a:chExt cx="277" cy="403"/>
            </a:xfrm>
          </p:grpSpPr>
          <p:grpSp>
            <p:nvGrpSpPr>
              <p:cNvPr id="28" name="Group 443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404" name="Oval 444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05" name="Line 445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06" name="Rectangle 446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07" name="Line 447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08" name="Line 448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403" name="Oval 449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9" name="Group 450"/>
            <p:cNvGrpSpPr/>
            <p:nvPr/>
          </p:nvGrpSpPr>
          <p:grpSpPr>
            <a:xfrm>
              <a:off x="9207" y="2312"/>
              <a:ext cx="401" cy="560"/>
              <a:chOff x="2025" y="2603"/>
              <a:chExt cx="277" cy="403"/>
            </a:xfrm>
          </p:grpSpPr>
          <p:grpSp>
            <p:nvGrpSpPr>
              <p:cNvPr id="30" name="Group 451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397" name="Oval 452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98" name="Line 453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99" name="Rectangle 454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400" name="Line 455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401" name="Line 456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396" name="Oval 457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" name="Group 458"/>
            <p:cNvGrpSpPr/>
            <p:nvPr/>
          </p:nvGrpSpPr>
          <p:grpSpPr>
            <a:xfrm>
              <a:off x="9687" y="2312"/>
              <a:ext cx="401" cy="560"/>
              <a:chOff x="2025" y="2603"/>
              <a:chExt cx="277" cy="403"/>
            </a:xfrm>
          </p:grpSpPr>
          <p:grpSp>
            <p:nvGrpSpPr>
              <p:cNvPr id="54432" name="Group 459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390" name="Oval 460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91" name="Line 461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92" name="Rectangle 462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93" name="Line 463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94" name="Line 464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389" name="Oval 465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4439" name="Group 466"/>
            <p:cNvGrpSpPr/>
            <p:nvPr/>
          </p:nvGrpSpPr>
          <p:grpSpPr>
            <a:xfrm>
              <a:off x="1797" y="2302"/>
              <a:ext cx="401" cy="560"/>
              <a:chOff x="2025" y="2603"/>
              <a:chExt cx="277" cy="403"/>
            </a:xfrm>
          </p:grpSpPr>
          <p:grpSp>
            <p:nvGrpSpPr>
              <p:cNvPr id="54446" name="Group 467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383" name="Oval 468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84" name="Line 469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85" name="Rectangle 470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86" name="Line 471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87" name="Line 472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382" name="Oval 473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4468" name="Group 474"/>
            <p:cNvGrpSpPr/>
            <p:nvPr/>
          </p:nvGrpSpPr>
          <p:grpSpPr>
            <a:xfrm>
              <a:off x="8008" y="1003"/>
              <a:ext cx="400" cy="559"/>
              <a:chOff x="2025" y="2603"/>
              <a:chExt cx="277" cy="403"/>
            </a:xfrm>
          </p:grpSpPr>
          <p:grpSp>
            <p:nvGrpSpPr>
              <p:cNvPr id="54469" name="Group 475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376" name="Oval 476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77" name="Line 477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78" name="Rectangle 478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79" name="Line 479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80" name="Line 480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375" name="Oval 481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4470" name="Group 482"/>
            <p:cNvGrpSpPr/>
            <p:nvPr/>
          </p:nvGrpSpPr>
          <p:grpSpPr>
            <a:xfrm>
              <a:off x="9438" y="1003"/>
              <a:ext cx="399" cy="559"/>
              <a:chOff x="2025" y="2603"/>
              <a:chExt cx="277" cy="403"/>
            </a:xfrm>
          </p:grpSpPr>
          <p:grpSp>
            <p:nvGrpSpPr>
              <p:cNvPr id="54471" name="Group 483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369" name="Oval 484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70" name="Line 485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71" name="Rectangle 486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72" name="Line 487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73" name="Line 488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368" name="Oval 489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4472" name="Group 490"/>
            <p:cNvGrpSpPr/>
            <p:nvPr/>
          </p:nvGrpSpPr>
          <p:grpSpPr>
            <a:xfrm>
              <a:off x="2807" y="1003"/>
              <a:ext cx="400" cy="559"/>
              <a:chOff x="2025" y="2603"/>
              <a:chExt cx="277" cy="403"/>
            </a:xfrm>
          </p:grpSpPr>
          <p:grpSp>
            <p:nvGrpSpPr>
              <p:cNvPr id="54482" name="Group 491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4362" name="Oval 492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63" name="Line 493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64" name="Rectangle 494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4365" name="Line 495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4366" name="Line 496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361" name="Oval 497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54302" name="Line 498"/>
            <p:cNvSpPr/>
            <p:nvPr/>
          </p:nvSpPr>
          <p:spPr>
            <a:xfrm flipH="1">
              <a:off x="8207" y="1562"/>
              <a:ext cx="0" cy="7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3" name="Line 499"/>
            <p:cNvSpPr/>
            <p:nvPr/>
          </p:nvSpPr>
          <p:spPr>
            <a:xfrm flipH="1">
              <a:off x="3827" y="1896"/>
              <a:ext cx="1" cy="41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4" name="Line 500"/>
            <p:cNvSpPr/>
            <p:nvPr/>
          </p:nvSpPr>
          <p:spPr>
            <a:xfrm flipH="1" flipV="1">
              <a:off x="9528" y="1532"/>
              <a:ext cx="0" cy="55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5" name="Line 501"/>
            <p:cNvSpPr/>
            <p:nvPr/>
          </p:nvSpPr>
          <p:spPr>
            <a:xfrm flipV="1">
              <a:off x="9717" y="1543"/>
              <a:ext cx="0" cy="53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6" name="Line 502"/>
            <p:cNvSpPr/>
            <p:nvPr/>
          </p:nvSpPr>
          <p:spPr>
            <a:xfrm flipH="1">
              <a:off x="9378" y="2082"/>
              <a:ext cx="15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7" name="Line 503"/>
            <p:cNvSpPr/>
            <p:nvPr/>
          </p:nvSpPr>
          <p:spPr>
            <a:xfrm flipV="1">
              <a:off x="9387" y="208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8" name="Line 504"/>
            <p:cNvSpPr/>
            <p:nvPr/>
          </p:nvSpPr>
          <p:spPr>
            <a:xfrm flipH="1">
              <a:off x="9728" y="2082"/>
              <a:ext cx="1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9" name="Line 505"/>
            <p:cNvSpPr/>
            <p:nvPr/>
          </p:nvSpPr>
          <p:spPr>
            <a:xfrm flipV="1">
              <a:off x="9888" y="2082"/>
              <a:ext cx="0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0" name="Line 506"/>
            <p:cNvSpPr/>
            <p:nvPr/>
          </p:nvSpPr>
          <p:spPr>
            <a:xfrm flipH="1" flipV="1">
              <a:off x="8087" y="1532"/>
              <a:ext cx="0" cy="55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1" name="Line 507"/>
            <p:cNvSpPr/>
            <p:nvPr/>
          </p:nvSpPr>
          <p:spPr>
            <a:xfrm flipV="1">
              <a:off x="8308" y="1552"/>
              <a:ext cx="0" cy="5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2" name="Line 508"/>
            <p:cNvSpPr/>
            <p:nvPr/>
          </p:nvSpPr>
          <p:spPr>
            <a:xfrm flipH="1" flipV="1">
              <a:off x="7727" y="2072"/>
              <a:ext cx="360" cy="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3" name="Line 509"/>
            <p:cNvSpPr/>
            <p:nvPr/>
          </p:nvSpPr>
          <p:spPr>
            <a:xfrm flipV="1">
              <a:off x="7727" y="207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4" name="Line 510"/>
            <p:cNvSpPr/>
            <p:nvPr/>
          </p:nvSpPr>
          <p:spPr>
            <a:xfrm flipH="1">
              <a:off x="8308" y="2082"/>
              <a:ext cx="3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5" name="Line 511"/>
            <p:cNvSpPr/>
            <p:nvPr/>
          </p:nvSpPr>
          <p:spPr>
            <a:xfrm flipV="1">
              <a:off x="8688" y="2082"/>
              <a:ext cx="0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6" name="Line 512"/>
            <p:cNvSpPr/>
            <p:nvPr/>
          </p:nvSpPr>
          <p:spPr>
            <a:xfrm flipV="1">
              <a:off x="2867" y="1552"/>
              <a:ext cx="0" cy="75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7" name="Line 513"/>
            <p:cNvSpPr/>
            <p:nvPr/>
          </p:nvSpPr>
          <p:spPr>
            <a:xfrm flipV="1">
              <a:off x="3347" y="1995"/>
              <a:ext cx="1" cy="30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8" name="Line 514"/>
            <p:cNvSpPr/>
            <p:nvPr/>
          </p:nvSpPr>
          <p:spPr>
            <a:xfrm flipV="1">
              <a:off x="2957" y="1552"/>
              <a:ext cx="1" cy="46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9" name="Line 515"/>
            <p:cNvSpPr/>
            <p:nvPr/>
          </p:nvSpPr>
          <p:spPr>
            <a:xfrm>
              <a:off x="3047" y="1552"/>
              <a:ext cx="1" cy="33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0" name="Line 516"/>
            <p:cNvSpPr/>
            <p:nvPr/>
          </p:nvSpPr>
          <p:spPr>
            <a:xfrm>
              <a:off x="3047" y="1902"/>
              <a:ext cx="78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1" name="Line 517"/>
            <p:cNvSpPr/>
            <p:nvPr/>
          </p:nvSpPr>
          <p:spPr>
            <a:xfrm>
              <a:off x="3137" y="1552"/>
              <a:ext cx="1" cy="23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2" name="Line 518"/>
            <p:cNvSpPr/>
            <p:nvPr/>
          </p:nvSpPr>
          <p:spPr>
            <a:xfrm>
              <a:off x="3137" y="1802"/>
              <a:ext cx="117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3" name="Line 519"/>
            <p:cNvSpPr/>
            <p:nvPr/>
          </p:nvSpPr>
          <p:spPr>
            <a:xfrm flipV="1">
              <a:off x="4307" y="1809"/>
              <a:ext cx="1" cy="49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4" name="Line 520"/>
            <p:cNvSpPr/>
            <p:nvPr/>
          </p:nvSpPr>
          <p:spPr>
            <a:xfrm flipV="1">
              <a:off x="9648" y="662"/>
              <a:ext cx="0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5" name="Line 521"/>
            <p:cNvSpPr/>
            <p:nvPr/>
          </p:nvSpPr>
          <p:spPr>
            <a:xfrm flipV="1">
              <a:off x="8207" y="673"/>
              <a:ext cx="0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6" name="Line 522"/>
            <p:cNvSpPr/>
            <p:nvPr/>
          </p:nvSpPr>
          <p:spPr>
            <a:xfrm flipV="1">
              <a:off x="3007" y="673"/>
              <a:ext cx="1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7" name="Line 523"/>
            <p:cNvSpPr/>
            <p:nvPr/>
          </p:nvSpPr>
          <p:spPr>
            <a:xfrm flipV="1">
              <a:off x="2007" y="692"/>
              <a:ext cx="1" cy="45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8" name="Line 524"/>
            <p:cNvSpPr/>
            <p:nvPr/>
          </p:nvSpPr>
          <p:spPr>
            <a:xfrm>
              <a:off x="2137" y="3382"/>
              <a:ext cx="765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9" name="Line 525"/>
            <p:cNvSpPr/>
            <p:nvPr/>
          </p:nvSpPr>
          <p:spPr>
            <a:xfrm>
              <a:off x="9788" y="2852"/>
              <a:ext cx="0" cy="5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0" name="Line 526"/>
            <p:cNvSpPr/>
            <p:nvPr/>
          </p:nvSpPr>
          <p:spPr>
            <a:xfrm>
              <a:off x="8688" y="2872"/>
              <a:ext cx="0" cy="5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1" name="Line 527"/>
            <p:cNvSpPr/>
            <p:nvPr/>
          </p:nvSpPr>
          <p:spPr>
            <a:xfrm>
              <a:off x="2047" y="3292"/>
              <a:ext cx="65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2" name="Line 528"/>
            <p:cNvSpPr/>
            <p:nvPr/>
          </p:nvSpPr>
          <p:spPr>
            <a:xfrm>
              <a:off x="8568" y="2852"/>
              <a:ext cx="0" cy="4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3" name="Line 529"/>
            <p:cNvSpPr/>
            <p:nvPr/>
          </p:nvSpPr>
          <p:spPr>
            <a:xfrm>
              <a:off x="8078" y="2852"/>
              <a:ext cx="0" cy="4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4" name="Line 530"/>
            <p:cNvSpPr/>
            <p:nvPr/>
          </p:nvSpPr>
          <p:spPr>
            <a:xfrm>
              <a:off x="4358" y="2852"/>
              <a:ext cx="0" cy="4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5" name="Line 531"/>
            <p:cNvSpPr/>
            <p:nvPr/>
          </p:nvSpPr>
          <p:spPr>
            <a:xfrm flipV="1">
              <a:off x="1957" y="3182"/>
              <a:ext cx="49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6" name="Line 532"/>
            <p:cNvSpPr/>
            <p:nvPr/>
          </p:nvSpPr>
          <p:spPr>
            <a:xfrm>
              <a:off x="4247" y="2862"/>
              <a:ext cx="0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7" name="Line 533"/>
            <p:cNvSpPr/>
            <p:nvPr/>
          </p:nvSpPr>
          <p:spPr>
            <a:xfrm>
              <a:off x="7727" y="2862"/>
              <a:ext cx="0" cy="78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8" name="Line 534"/>
            <p:cNvSpPr/>
            <p:nvPr/>
          </p:nvSpPr>
          <p:spPr>
            <a:xfrm>
              <a:off x="3818" y="2862"/>
              <a:ext cx="0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9" name="Line 535"/>
            <p:cNvSpPr/>
            <p:nvPr/>
          </p:nvSpPr>
          <p:spPr>
            <a:xfrm>
              <a:off x="1867" y="3092"/>
              <a:ext cx="2273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0" name="Line 536"/>
            <p:cNvSpPr/>
            <p:nvPr/>
          </p:nvSpPr>
          <p:spPr>
            <a:xfrm flipV="1">
              <a:off x="3698" y="286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1" name="Line 537"/>
            <p:cNvSpPr/>
            <p:nvPr/>
          </p:nvSpPr>
          <p:spPr>
            <a:xfrm flipV="1">
              <a:off x="4157" y="286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2" name="Line 538"/>
            <p:cNvSpPr/>
            <p:nvPr/>
          </p:nvSpPr>
          <p:spPr>
            <a:xfrm>
              <a:off x="2867" y="2852"/>
              <a:ext cx="0" cy="14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3" name="Line 539"/>
            <p:cNvSpPr/>
            <p:nvPr/>
          </p:nvSpPr>
          <p:spPr>
            <a:xfrm>
              <a:off x="3437" y="2862"/>
              <a:ext cx="0" cy="14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4" name="Line 540"/>
            <p:cNvSpPr/>
            <p:nvPr/>
          </p:nvSpPr>
          <p:spPr>
            <a:xfrm>
              <a:off x="3938" y="2862"/>
              <a:ext cx="0" cy="14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5" name="Line 541"/>
            <p:cNvSpPr/>
            <p:nvPr/>
          </p:nvSpPr>
          <p:spPr>
            <a:xfrm>
              <a:off x="4448" y="2872"/>
              <a:ext cx="0" cy="14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6" name="Line 542"/>
            <p:cNvSpPr/>
            <p:nvPr/>
          </p:nvSpPr>
          <p:spPr>
            <a:xfrm flipH="1">
              <a:off x="4937" y="3835"/>
              <a:ext cx="1" cy="43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7" name="Line 543"/>
            <p:cNvSpPr/>
            <p:nvPr/>
          </p:nvSpPr>
          <p:spPr>
            <a:xfrm>
              <a:off x="4937" y="3842"/>
              <a:ext cx="507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8" name="Line 544"/>
            <p:cNvSpPr/>
            <p:nvPr/>
          </p:nvSpPr>
          <p:spPr>
            <a:xfrm>
              <a:off x="8808" y="2862"/>
              <a:ext cx="0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9" name="Line 545"/>
            <p:cNvSpPr/>
            <p:nvPr/>
          </p:nvSpPr>
          <p:spPr>
            <a:xfrm>
              <a:off x="9408" y="2862"/>
              <a:ext cx="0" cy="8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0" name="Line 546"/>
            <p:cNvSpPr/>
            <p:nvPr/>
          </p:nvSpPr>
          <p:spPr>
            <a:xfrm>
              <a:off x="4448" y="3741"/>
              <a:ext cx="49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1" name="Line 547"/>
            <p:cNvSpPr/>
            <p:nvPr/>
          </p:nvSpPr>
          <p:spPr>
            <a:xfrm>
              <a:off x="3938" y="3632"/>
              <a:ext cx="3789" cy="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2" name="Line 548"/>
            <p:cNvSpPr/>
            <p:nvPr/>
          </p:nvSpPr>
          <p:spPr>
            <a:xfrm>
              <a:off x="3437" y="3531"/>
              <a:ext cx="21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3" name="Text Box 549"/>
            <p:cNvSpPr txBox="1"/>
            <p:nvPr/>
          </p:nvSpPr>
          <p:spPr>
            <a:xfrm>
              <a:off x="2767" y="4202"/>
              <a:ext cx="2330" cy="2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g3       g2       g1     g0      c0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4354" name="Text Box 550"/>
            <p:cNvSpPr txBox="1"/>
            <p:nvPr/>
          </p:nvSpPr>
          <p:spPr>
            <a:xfrm>
              <a:off x="1847" y="4229"/>
              <a:ext cx="523" cy="27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p3-0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4355" name="Text Box 551"/>
            <p:cNvSpPr txBox="1"/>
            <p:nvPr/>
          </p:nvSpPr>
          <p:spPr>
            <a:xfrm>
              <a:off x="2108" y="673"/>
              <a:ext cx="219" cy="2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4356" name="Text Box 552"/>
            <p:cNvSpPr txBox="1"/>
            <p:nvPr/>
          </p:nvSpPr>
          <p:spPr>
            <a:xfrm>
              <a:off x="3087" y="653"/>
              <a:ext cx="190" cy="2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G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4357" name="Text Box 553"/>
            <p:cNvSpPr txBox="1"/>
            <p:nvPr/>
          </p:nvSpPr>
          <p:spPr>
            <a:xfrm>
              <a:off x="8267" y="652"/>
              <a:ext cx="220" cy="29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c2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4358" name="Text Box 554"/>
            <p:cNvSpPr txBox="1"/>
            <p:nvPr/>
          </p:nvSpPr>
          <p:spPr>
            <a:xfrm>
              <a:off x="9708" y="632"/>
              <a:ext cx="219" cy="29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c1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4359" name="Text Box 555"/>
            <p:cNvSpPr txBox="1"/>
            <p:nvPr/>
          </p:nvSpPr>
          <p:spPr>
            <a:xfrm>
              <a:off x="5978" y="4052"/>
              <a:ext cx="3199" cy="43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pPr algn="ctr"/>
              <a:r>
                <a:rPr lang="zh-CN" altLang="en-US" sz="1000" dirty="0">
                  <a:solidFill>
                    <a:srgbClr val="000000"/>
                  </a:solidFill>
                  <a:latin typeface="Times New Roman" pitchFamily="18" charset="0"/>
                </a:rPr>
                <a:t>进位生成逻辑</a:t>
              </a:r>
              <a:endParaRPr lang="zh-CN" altLang="en-US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55299" name="Rectangle 2"/>
          <p:cNvSpPr/>
          <p:nvPr/>
        </p:nvSpPr>
        <p:spPr>
          <a:xfrm>
            <a:off x="419100" y="2790825"/>
            <a:ext cx="7123113" cy="1943100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55300" name="Rectangle 243"/>
          <p:cNvSpPr/>
          <p:nvPr/>
        </p:nvSpPr>
        <p:spPr>
          <a:xfrm>
            <a:off x="628650" y="1227138"/>
            <a:ext cx="10912475" cy="6889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10000"/>
              </a:spcBef>
              <a:buChar char="•"/>
            </a:pPr>
            <a:endParaRPr lang="zh-CN" altLang="zh-CN" sz="2800" dirty="0">
              <a:latin typeface="Times New Roman" pitchFamily="18" charset="0"/>
            </a:endParaRPr>
          </a:p>
        </p:txBody>
      </p:sp>
      <p:sp>
        <p:nvSpPr>
          <p:cNvPr id="55301" name="AutoShape 253"/>
          <p:cNvSpPr/>
          <p:nvPr/>
        </p:nvSpPr>
        <p:spPr>
          <a:xfrm>
            <a:off x="8259763" y="3676650"/>
            <a:ext cx="673100" cy="219075"/>
          </a:xfrm>
          <a:prstGeom prst="rightArrow">
            <a:avLst>
              <a:gd name="adj1" fmla="val 50000"/>
              <a:gd name="adj2" fmla="val 57622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55302" name="Rectangle 254"/>
          <p:cNvSpPr>
            <a:spLocks noGrp="1"/>
          </p:cNvSpPr>
          <p:nvPr>
            <p:ph type="title"/>
          </p:nvPr>
        </p:nvSpPr>
        <p:spPr>
          <a:xfrm>
            <a:off x="838200" y="228600"/>
            <a:ext cx="10361613" cy="78105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进位生成与传递逻辑</a:t>
            </a:r>
            <a:endParaRPr lang="zh-CN" altLang="en-US" dirty="0"/>
          </a:p>
        </p:txBody>
      </p:sp>
      <p:grpSp>
        <p:nvGrpSpPr>
          <p:cNvPr id="2" name="Group 255"/>
          <p:cNvGrpSpPr/>
          <p:nvPr/>
        </p:nvGrpSpPr>
        <p:grpSpPr>
          <a:xfrm>
            <a:off x="490538" y="2574925"/>
            <a:ext cx="7018337" cy="2457450"/>
            <a:chOff x="1797" y="632"/>
            <a:chExt cx="8291" cy="3870"/>
          </a:xfrm>
        </p:grpSpPr>
        <p:grpSp>
          <p:nvGrpSpPr>
            <p:cNvPr id="3" name="Group 256"/>
            <p:cNvGrpSpPr/>
            <p:nvPr/>
          </p:nvGrpSpPr>
          <p:grpSpPr>
            <a:xfrm>
              <a:off x="5377" y="643"/>
              <a:ext cx="1840" cy="3209"/>
              <a:chOff x="5618" y="11290"/>
              <a:chExt cx="1840" cy="3210"/>
            </a:xfrm>
          </p:grpSpPr>
          <p:sp>
            <p:nvSpPr>
              <p:cNvPr id="55490" name="Line 257"/>
              <p:cNvSpPr/>
              <p:nvPr/>
            </p:nvSpPr>
            <p:spPr>
              <a:xfrm flipH="1" flipV="1">
                <a:off x="6498" y="12200"/>
                <a:ext cx="0" cy="52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91" name="Line 258"/>
              <p:cNvSpPr/>
              <p:nvPr/>
            </p:nvSpPr>
            <p:spPr>
              <a:xfrm flipV="1">
                <a:off x="5828" y="12620"/>
                <a:ext cx="0" cy="3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92" name="Line 259"/>
              <p:cNvSpPr/>
              <p:nvPr/>
            </p:nvSpPr>
            <p:spPr>
              <a:xfrm flipV="1">
                <a:off x="7268" y="12620"/>
                <a:ext cx="0" cy="3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93" name="Line 260"/>
              <p:cNvSpPr/>
              <p:nvPr/>
            </p:nvSpPr>
            <p:spPr>
              <a:xfrm flipV="1">
                <a:off x="6398" y="12180"/>
                <a:ext cx="0" cy="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94" name="Line 261"/>
              <p:cNvSpPr/>
              <p:nvPr/>
            </p:nvSpPr>
            <p:spPr>
              <a:xfrm flipV="1">
                <a:off x="5828" y="12620"/>
                <a:ext cx="5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95" name="Line 262"/>
              <p:cNvSpPr/>
              <p:nvPr/>
            </p:nvSpPr>
            <p:spPr>
              <a:xfrm flipV="1">
                <a:off x="6678" y="12620"/>
                <a:ext cx="59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96" name="Line 263"/>
              <p:cNvSpPr/>
              <p:nvPr/>
            </p:nvSpPr>
            <p:spPr>
              <a:xfrm flipV="1">
                <a:off x="6688" y="12190"/>
                <a:ext cx="0" cy="4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97" name="Line 264"/>
              <p:cNvSpPr/>
              <p:nvPr/>
            </p:nvSpPr>
            <p:spPr>
              <a:xfrm flipV="1">
                <a:off x="6588" y="12180"/>
                <a:ext cx="0" cy="5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98" name="Line 265"/>
              <p:cNvSpPr/>
              <p:nvPr/>
            </p:nvSpPr>
            <p:spPr>
              <a:xfrm flipH="1">
                <a:off x="6308" y="12720"/>
                <a:ext cx="1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99" name="Line 266"/>
              <p:cNvSpPr/>
              <p:nvPr/>
            </p:nvSpPr>
            <p:spPr>
              <a:xfrm flipV="1">
                <a:off x="6308" y="12720"/>
                <a:ext cx="0" cy="2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00" name="Line 267"/>
              <p:cNvSpPr/>
              <p:nvPr/>
            </p:nvSpPr>
            <p:spPr>
              <a:xfrm flipH="1">
                <a:off x="6588" y="12720"/>
                <a:ext cx="21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01" name="Line 268"/>
              <p:cNvSpPr/>
              <p:nvPr/>
            </p:nvSpPr>
            <p:spPr>
              <a:xfrm flipV="1">
                <a:off x="6808" y="12720"/>
                <a:ext cx="0" cy="2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02" name="Line 269"/>
              <p:cNvSpPr/>
              <p:nvPr/>
            </p:nvSpPr>
            <p:spPr>
              <a:xfrm>
                <a:off x="7118" y="1351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03" name="Line 270"/>
              <p:cNvSpPr/>
              <p:nvPr/>
            </p:nvSpPr>
            <p:spPr>
              <a:xfrm>
                <a:off x="6648" y="1351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04" name="Line 271"/>
              <p:cNvSpPr/>
              <p:nvPr/>
            </p:nvSpPr>
            <p:spPr>
              <a:xfrm flipH="1">
                <a:off x="5778" y="13500"/>
                <a:ext cx="10" cy="7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4" name="Group 272"/>
              <p:cNvGrpSpPr/>
              <p:nvPr/>
            </p:nvGrpSpPr>
            <p:grpSpPr>
              <a:xfrm>
                <a:off x="5618" y="12950"/>
                <a:ext cx="400" cy="560"/>
                <a:chOff x="2025" y="2603"/>
                <a:chExt cx="277" cy="403"/>
              </a:xfrm>
            </p:grpSpPr>
            <p:grpSp>
              <p:nvGrpSpPr>
                <p:cNvPr id="5" name="Group 273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5549" name="Oval 274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50" name="Line 275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51" name="Rectangle 276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52" name="Line 277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53" name="Line 278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5548" name="Oval 279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6" name="Group 280"/>
              <p:cNvGrpSpPr/>
              <p:nvPr/>
            </p:nvGrpSpPr>
            <p:grpSpPr>
              <a:xfrm>
                <a:off x="6098" y="12950"/>
                <a:ext cx="400" cy="560"/>
                <a:chOff x="2025" y="2603"/>
                <a:chExt cx="277" cy="403"/>
              </a:xfrm>
            </p:grpSpPr>
            <p:grpSp>
              <p:nvGrpSpPr>
                <p:cNvPr id="7" name="Group 281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5542" name="Oval 282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43" name="Line 283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44" name="Rectangle 284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45" name="Line 285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46" name="Line 286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5541" name="Oval 287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8" name="Group 288"/>
              <p:cNvGrpSpPr/>
              <p:nvPr/>
            </p:nvGrpSpPr>
            <p:grpSpPr>
              <a:xfrm>
                <a:off x="6578" y="12950"/>
                <a:ext cx="400" cy="560"/>
                <a:chOff x="2025" y="2603"/>
                <a:chExt cx="277" cy="403"/>
              </a:xfrm>
            </p:grpSpPr>
            <p:grpSp>
              <p:nvGrpSpPr>
                <p:cNvPr id="9" name="Group 289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5535" name="Oval 290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36" name="Line 291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37" name="Rectangle 292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38" name="Line 293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39" name="Line 294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5534" name="Oval 295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10" name="Group 296"/>
              <p:cNvGrpSpPr/>
              <p:nvPr/>
            </p:nvGrpSpPr>
            <p:grpSpPr>
              <a:xfrm>
                <a:off x="7058" y="12950"/>
                <a:ext cx="400" cy="560"/>
                <a:chOff x="2025" y="2603"/>
                <a:chExt cx="277" cy="403"/>
              </a:xfrm>
            </p:grpSpPr>
            <p:grpSp>
              <p:nvGrpSpPr>
                <p:cNvPr id="11" name="Group 297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5528" name="Oval 298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29" name="Line 299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30" name="Rectangle 300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31" name="Line 301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32" name="Line 302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5527" name="Oval 303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12" name="Group 304"/>
              <p:cNvGrpSpPr/>
              <p:nvPr/>
            </p:nvGrpSpPr>
            <p:grpSpPr>
              <a:xfrm>
                <a:off x="6348" y="11650"/>
                <a:ext cx="400" cy="560"/>
                <a:chOff x="2025" y="2603"/>
                <a:chExt cx="277" cy="403"/>
              </a:xfrm>
            </p:grpSpPr>
            <p:grpSp>
              <p:nvGrpSpPr>
                <p:cNvPr id="13" name="Group 305"/>
                <p:cNvGrpSpPr/>
                <p:nvPr/>
              </p:nvGrpSpPr>
              <p:grpSpPr>
                <a:xfrm>
                  <a:off x="2025" y="2669"/>
                  <a:ext cx="277" cy="337"/>
                  <a:chOff x="3238" y="10820"/>
                  <a:chExt cx="700" cy="1020"/>
                </a:xfrm>
              </p:grpSpPr>
              <p:sp>
                <p:nvSpPr>
                  <p:cNvPr id="55521" name="Oval 306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22" name="Line 307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23" name="Rectangle 308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524" name="Line 309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5525" name="Line 310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5520" name="Oval 311"/>
                <p:cNvSpPr/>
                <p:nvPr/>
              </p:nvSpPr>
              <p:spPr>
                <a:xfrm>
                  <a:off x="2136" y="2603"/>
                  <a:ext cx="63" cy="62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55510" name="Line 312"/>
              <p:cNvSpPr/>
              <p:nvPr/>
            </p:nvSpPr>
            <p:spPr>
              <a:xfrm flipV="1">
                <a:off x="6548" y="1130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11" name="Line 313"/>
              <p:cNvSpPr/>
              <p:nvPr/>
            </p:nvSpPr>
            <p:spPr>
              <a:xfrm>
                <a:off x="7298" y="13510"/>
                <a:ext cx="0" cy="5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12" name="Line 314"/>
              <p:cNvSpPr/>
              <p:nvPr/>
            </p:nvSpPr>
            <p:spPr>
              <a:xfrm>
                <a:off x="7208" y="13500"/>
                <a:ext cx="0" cy="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13" name="Line 315"/>
              <p:cNvSpPr/>
              <p:nvPr/>
            </p:nvSpPr>
            <p:spPr>
              <a:xfrm>
                <a:off x="6778" y="13500"/>
                <a:ext cx="0" cy="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14" name="Line 316"/>
              <p:cNvSpPr/>
              <p:nvPr/>
            </p:nvSpPr>
            <p:spPr>
              <a:xfrm>
                <a:off x="6198" y="13510"/>
                <a:ext cx="0" cy="3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15" name="Line 317"/>
              <p:cNvSpPr/>
              <p:nvPr/>
            </p:nvSpPr>
            <p:spPr>
              <a:xfrm>
                <a:off x="7388" y="13500"/>
                <a:ext cx="0" cy="10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16" name="Line 318"/>
              <p:cNvSpPr/>
              <p:nvPr/>
            </p:nvSpPr>
            <p:spPr>
              <a:xfrm>
                <a:off x="6888" y="13510"/>
                <a:ext cx="0" cy="88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17" name="Line 319"/>
              <p:cNvSpPr/>
              <p:nvPr/>
            </p:nvSpPr>
            <p:spPr>
              <a:xfrm>
                <a:off x="6378" y="13500"/>
                <a:ext cx="0" cy="79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518" name="Text Box 320"/>
              <p:cNvSpPr txBox="1"/>
              <p:nvPr/>
            </p:nvSpPr>
            <p:spPr>
              <a:xfrm>
                <a:off x="6638" y="11290"/>
                <a:ext cx="220" cy="2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lIns="0" tIns="0" rIns="0" bIns="0"/>
              <a:lstStyle/>
              <a:p>
                <a:pPr algn="just"/>
                <a:r>
                  <a:rPr lang="en-US" altLang="zh-CN" sz="1000" dirty="0">
                    <a:solidFill>
                      <a:srgbClr val="000000"/>
                    </a:solidFill>
                    <a:latin typeface="Times New Roman" pitchFamily="18" charset="0"/>
                  </a:rPr>
                  <a:t>c3</a:t>
                </a:r>
                <a:endParaRPr lang="en-US" altLang="zh-CN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4" name="Group 321"/>
            <p:cNvGrpSpPr/>
            <p:nvPr/>
          </p:nvGrpSpPr>
          <p:grpSpPr>
            <a:xfrm>
              <a:off x="3147" y="2302"/>
              <a:ext cx="401" cy="560"/>
              <a:chOff x="2025" y="2603"/>
              <a:chExt cx="277" cy="403"/>
            </a:xfrm>
          </p:grpSpPr>
          <p:grpSp>
            <p:nvGrpSpPr>
              <p:cNvPr id="15" name="Group 322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85" name="Oval 323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86" name="Line 324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87" name="Rectangle 325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88" name="Line 326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89" name="Line 327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84" name="Oval 328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6" name="Group 329"/>
            <p:cNvGrpSpPr/>
            <p:nvPr/>
          </p:nvGrpSpPr>
          <p:grpSpPr>
            <a:xfrm>
              <a:off x="3627" y="2302"/>
              <a:ext cx="401" cy="560"/>
              <a:chOff x="2025" y="2603"/>
              <a:chExt cx="277" cy="403"/>
            </a:xfrm>
          </p:grpSpPr>
          <p:grpSp>
            <p:nvGrpSpPr>
              <p:cNvPr id="17" name="Group 330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78" name="Oval 331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79" name="Line 332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80" name="Rectangle 333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81" name="Line 334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82" name="Line 335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77" name="Oval 336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8" name="Group 337"/>
            <p:cNvGrpSpPr/>
            <p:nvPr/>
          </p:nvGrpSpPr>
          <p:grpSpPr>
            <a:xfrm>
              <a:off x="4107" y="2302"/>
              <a:ext cx="401" cy="560"/>
              <a:chOff x="2025" y="2603"/>
              <a:chExt cx="277" cy="403"/>
            </a:xfrm>
          </p:grpSpPr>
          <p:grpSp>
            <p:nvGrpSpPr>
              <p:cNvPr id="19" name="Group 338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71" name="Oval 339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72" name="Line 340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73" name="Rectangle 341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74" name="Line 342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75" name="Line 343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70" name="Oval 344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0" name="Group 345"/>
            <p:cNvGrpSpPr/>
            <p:nvPr/>
          </p:nvGrpSpPr>
          <p:grpSpPr>
            <a:xfrm>
              <a:off x="2668" y="2302"/>
              <a:ext cx="399" cy="560"/>
              <a:chOff x="2025" y="2603"/>
              <a:chExt cx="277" cy="403"/>
            </a:xfrm>
          </p:grpSpPr>
          <p:grpSp>
            <p:nvGrpSpPr>
              <p:cNvPr id="21" name="Group 346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64" name="Oval 347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65" name="Line 348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66" name="Rectangle 349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67" name="Line 350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68" name="Line 351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63" name="Oval 352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55320" name="Line 353"/>
            <p:cNvSpPr/>
            <p:nvPr/>
          </p:nvSpPr>
          <p:spPr>
            <a:xfrm flipH="1">
              <a:off x="2007" y="1552"/>
              <a:ext cx="1" cy="7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2" name="Group 354"/>
            <p:cNvGrpSpPr/>
            <p:nvPr/>
          </p:nvGrpSpPr>
          <p:grpSpPr>
            <a:xfrm>
              <a:off x="1817" y="1142"/>
              <a:ext cx="381" cy="403"/>
              <a:chOff x="1169" y="3382"/>
              <a:chExt cx="218" cy="257"/>
            </a:xfrm>
          </p:grpSpPr>
          <p:sp>
            <p:nvSpPr>
              <p:cNvPr id="55460" name="AutoShape 355"/>
              <p:cNvSpPr/>
              <p:nvPr/>
            </p:nvSpPr>
            <p:spPr>
              <a:xfrm flipV="1">
                <a:off x="1169" y="3436"/>
                <a:ext cx="218" cy="203"/>
              </a:xfrm>
              <a:prstGeom prst="flowChartMerg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55461" name="Oval 356"/>
              <p:cNvSpPr/>
              <p:nvPr/>
            </p:nvSpPr>
            <p:spPr>
              <a:xfrm>
                <a:off x="1247" y="3382"/>
                <a:ext cx="62" cy="55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55322" name="Line 357"/>
            <p:cNvSpPr/>
            <p:nvPr/>
          </p:nvSpPr>
          <p:spPr>
            <a:xfrm>
              <a:off x="2047" y="2852"/>
              <a:ext cx="0" cy="1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3" name="Line 358"/>
            <p:cNvSpPr/>
            <p:nvPr/>
          </p:nvSpPr>
          <p:spPr>
            <a:xfrm flipV="1">
              <a:off x="2957" y="2012"/>
              <a:ext cx="393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4" name="Line 359"/>
            <p:cNvSpPr/>
            <p:nvPr/>
          </p:nvSpPr>
          <p:spPr>
            <a:xfrm>
              <a:off x="1957" y="2852"/>
              <a:ext cx="0" cy="1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5" name="Line 360"/>
            <p:cNvSpPr/>
            <p:nvPr/>
          </p:nvSpPr>
          <p:spPr>
            <a:xfrm>
              <a:off x="1858" y="2852"/>
              <a:ext cx="0" cy="1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6" name="Line 361"/>
            <p:cNvSpPr/>
            <p:nvPr/>
          </p:nvSpPr>
          <p:spPr>
            <a:xfrm>
              <a:off x="2128" y="2852"/>
              <a:ext cx="0" cy="1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7" name="Line 362"/>
            <p:cNvSpPr/>
            <p:nvPr/>
          </p:nvSpPr>
          <p:spPr>
            <a:xfrm flipV="1">
              <a:off x="3207" y="285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8" name="Line 363"/>
            <p:cNvSpPr/>
            <p:nvPr/>
          </p:nvSpPr>
          <p:spPr>
            <a:xfrm>
              <a:off x="8297" y="2862"/>
              <a:ext cx="0" cy="8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9" name="Line 364"/>
            <p:cNvSpPr/>
            <p:nvPr/>
          </p:nvSpPr>
          <p:spPr>
            <a:xfrm>
              <a:off x="10008" y="2862"/>
              <a:ext cx="0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3" name="Group 365"/>
            <p:cNvGrpSpPr/>
            <p:nvPr/>
          </p:nvGrpSpPr>
          <p:grpSpPr>
            <a:xfrm>
              <a:off x="7517" y="2302"/>
              <a:ext cx="401" cy="560"/>
              <a:chOff x="2025" y="2603"/>
              <a:chExt cx="277" cy="403"/>
            </a:xfrm>
          </p:grpSpPr>
          <p:grpSp>
            <p:nvGrpSpPr>
              <p:cNvPr id="24" name="Group 366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55" name="Oval 367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56" name="Line 368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57" name="Rectangle 369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58" name="Line 370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59" name="Line 371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54" name="Oval 372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5" name="Group 373"/>
            <p:cNvGrpSpPr/>
            <p:nvPr/>
          </p:nvGrpSpPr>
          <p:grpSpPr>
            <a:xfrm>
              <a:off x="7997" y="2302"/>
              <a:ext cx="401" cy="560"/>
              <a:chOff x="2025" y="2603"/>
              <a:chExt cx="277" cy="403"/>
            </a:xfrm>
          </p:grpSpPr>
          <p:grpSp>
            <p:nvGrpSpPr>
              <p:cNvPr id="26" name="Group 374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48" name="Oval 375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49" name="Line 376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50" name="Rectangle 377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51" name="Line 378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52" name="Line 379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47" name="Oval 380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7" name="Group 381"/>
            <p:cNvGrpSpPr/>
            <p:nvPr/>
          </p:nvGrpSpPr>
          <p:grpSpPr>
            <a:xfrm>
              <a:off x="8478" y="2302"/>
              <a:ext cx="399" cy="560"/>
              <a:chOff x="2025" y="2603"/>
              <a:chExt cx="277" cy="403"/>
            </a:xfrm>
          </p:grpSpPr>
          <p:grpSp>
            <p:nvGrpSpPr>
              <p:cNvPr id="28" name="Group 382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41" name="Oval 383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42" name="Line 384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43" name="Rectangle 385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44" name="Line 386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45" name="Line 387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40" name="Oval 388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9" name="Group 389"/>
            <p:cNvGrpSpPr/>
            <p:nvPr/>
          </p:nvGrpSpPr>
          <p:grpSpPr>
            <a:xfrm>
              <a:off x="9207" y="2312"/>
              <a:ext cx="401" cy="560"/>
              <a:chOff x="2025" y="2603"/>
              <a:chExt cx="277" cy="403"/>
            </a:xfrm>
          </p:grpSpPr>
          <p:grpSp>
            <p:nvGrpSpPr>
              <p:cNvPr id="30" name="Group 390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34" name="Oval 391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35" name="Line 392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36" name="Rectangle 393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37" name="Line 394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38" name="Line 395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33" name="Oval 396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" name="Group 397"/>
            <p:cNvGrpSpPr/>
            <p:nvPr/>
          </p:nvGrpSpPr>
          <p:grpSpPr>
            <a:xfrm>
              <a:off x="9687" y="2312"/>
              <a:ext cx="401" cy="560"/>
              <a:chOff x="2025" y="2603"/>
              <a:chExt cx="277" cy="403"/>
            </a:xfrm>
          </p:grpSpPr>
          <p:grpSp>
            <p:nvGrpSpPr>
              <p:cNvPr id="55554" name="Group 398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27" name="Oval 399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28" name="Line 400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29" name="Rectangle 401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30" name="Line 402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31" name="Line 403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26" name="Oval 404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5555" name="Group 405"/>
            <p:cNvGrpSpPr/>
            <p:nvPr/>
          </p:nvGrpSpPr>
          <p:grpSpPr>
            <a:xfrm>
              <a:off x="1797" y="2302"/>
              <a:ext cx="401" cy="560"/>
              <a:chOff x="2025" y="2603"/>
              <a:chExt cx="277" cy="403"/>
            </a:xfrm>
          </p:grpSpPr>
          <p:grpSp>
            <p:nvGrpSpPr>
              <p:cNvPr id="55556" name="Group 406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20" name="Oval 407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21" name="Line 408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22" name="Rectangle 409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23" name="Line 410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24" name="Line 411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19" name="Oval 412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5557" name="Group 413"/>
            <p:cNvGrpSpPr/>
            <p:nvPr/>
          </p:nvGrpSpPr>
          <p:grpSpPr>
            <a:xfrm>
              <a:off x="8008" y="1003"/>
              <a:ext cx="400" cy="559"/>
              <a:chOff x="2025" y="2603"/>
              <a:chExt cx="277" cy="403"/>
            </a:xfrm>
          </p:grpSpPr>
          <p:grpSp>
            <p:nvGrpSpPr>
              <p:cNvPr id="55558" name="Group 414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13" name="Oval 415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14" name="Line 416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15" name="Rectangle 417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16" name="Line 418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17" name="Line 419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12" name="Oval 420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5559" name="Group 421"/>
            <p:cNvGrpSpPr/>
            <p:nvPr/>
          </p:nvGrpSpPr>
          <p:grpSpPr>
            <a:xfrm>
              <a:off x="9438" y="1003"/>
              <a:ext cx="399" cy="559"/>
              <a:chOff x="2025" y="2603"/>
              <a:chExt cx="277" cy="403"/>
            </a:xfrm>
          </p:grpSpPr>
          <p:grpSp>
            <p:nvGrpSpPr>
              <p:cNvPr id="55560" name="Group 422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406" name="Oval 423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07" name="Line 424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08" name="Rectangle 425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09" name="Line 426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10" name="Line 427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405" name="Oval 428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5561" name="Group 429"/>
            <p:cNvGrpSpPr/>
            <p:nvPr/>
          </p:nvGrpSpPr>
          <p:grpSpPr>
            <a:xfrm>
              <a:off x="2807" y="1003"/>
              <a:ext cx="400" cy="559"/>
              <a:chOff x="2025" y="2603"/>
              <a:chExt cx="277" cy="403"/>
            </a:xfrm>
          </p:grpSpPr>
          <p:grpSp>
            <p:nvGrpSpPr>
              <p:cNvPr id="55562" name="Group 430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5399" name="Oval 431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00" name="Line 432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01" name="Rectangle 433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55402" name="Line 434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5403" name="Line 435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398" name="Oval 436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55339" name="Line 437"/>
            <p:cNvSpPr/>
            <p:nvPr/>
          </p:nvSpPr>
          <p:spPr>
            <a:xfrm flipH="1">
              <a:off x="8207" y="1562"/>
              <a:ext cx="0" cy="7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0" name="Line 438"/>
            <p:cNvSpPr/>
            <p:nvPr/>
          </p:nvSpPr>
          <p:spPr>
            <a:xfrm flipH="1">
              <a:off x="3827" y="1896"/>
              <a:ext cx="1" cy="41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1" name="Line 439"/>
            <p:cNvSpPr/>
            <p:nvPr/>
          </p:nvSpPr>
          <p:spPr>
            <a:xfrm flipH="1" flipV="1">
              <a:off x="9528" y="1532"/>
              <a:ext cx="0" cy="55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2" name="Line 440"/>
            <p:cNvSpPr/>
            <p:nvPr/>
          </p:nvSpPr>
          <p:spPr>
            <a:xfrm flipV="1">
              <a:off x="9717" y="1543"/>
              <a:ext cx="0" cy="53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3" name="Line 441"/>
            <p:cNvSpPr/>
            <p:nvPr/>
          </p:nvSpPr>
          <p:spPr>
            <a:xfrm flipH="1">
              <a:off x="9378" y="2082"/>
              <a:ext cx="15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4" name="Line 442"/>
            <p:cNvSpPr/>
            <p:nvPr/>
          </p:nvSpPr>
          <p:spPr>
            <a:xfrm flipV="1">
              <a:off x="9387" y="208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5" name="Line 443"/>
            <p:cNvSpPr/>
            <p:nvPr/>
          </p:nvSpPr>
          <p:spPr>
            <a:xfrm flipH="1">
              <a:off x="9728" y="2082"/>
              <a:ext cx="1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6" name="Line 444"/>
            <p:cNvSpPr/>
            <p:nvPr/>
          </p:nvSpPr>
          <p:spPr>
            <a:xfrm flipV="1">
              <a:off x="9888" y="2082"/>
              <a:ext cx="0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7" name="Line 445"/>
            <p:cNvSpPr/>
            <p:nvPr/>
          </p:nvSpPr>
          <p:spPr>
            <a:xfrm flipH="1" flipV="1">
              <a:off x="8087" y="1532"/>
              <a:ext cx="0" cy="55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8" name="Line 446"/>
            <p:cNvSpPr/>
            <p:nvPr/>
          </p:nvSpPr>
          <p:spPr>
            <a:xfrm flipV="1">
              <a:off x="8308" y="1552"/>
              <a:ext cx="0" cy="5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9" name="Line 447"/>
            <p:cNvSpPr/>
            <p:nvPr/>
          </p:nvSpPr>
          <p:spPr>
            <a:xfrm flipH="1" flipV="1">
              <a:off x="7727" y="2072"/>
              <a:ext cx="360" cy="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0" name="Line 448"/>
            <p:cNvSpPr/>
            <p:nvPr/>
          </p:nvSpPr>
          <p:spPr>
            <a:xfrm flipV="1">
              <a:off x="7727" y="207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1" name="Line 449"/>
            <p:cNvSpPr/>
            <p:nvPr/>
          </p:nvSpPr>
          <p:spPr>
            <a:xfrm flipH="1">
              <a:off x="8308" y="2082"/>
              <a:ext cx="3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2" name="Line 450"/>
            <p:cNvSpPr/>
            <p:nvPr/>
          </p:nvSpPr>
          <p:spPr>
            <a:xfrm flipV="1">
              <a:off x="8688" y="2082"/>
              <a:ext cx="0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3" name="Line 451"/>
            <p:cNvSpPr/>
            <p:nvPr/>
          </p:nvSpPr>
          <p:spPr>
            <a:xfrm flipV="1">
              <a:off x="2867" y="1552"/>
              <a:ext cx="0" cy="75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4" name="Line 452"/>
            <p:cNvSpPr/>
            <p:nvPr/>
          </p:nvSpPr>
          <p:spPr>
            <a:xfrm flipV="1">
              <a:off x="3347" y="1995"/>
              <a:ext cx="1" cy="30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5" name="Line 453"/>
            <p:cNvSpPr/>
            <p:nvPr/>
          </p:nvSpPr>
          <p:spPr>
            <a:xfrm flipV="1">
              <a:off x="2957" y="1552"/>
              <a:ext cx="1" cy="46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6" name="Line 454"/>
            <p:cNvSpPr/>
            <p:nvPr/>
          </p:nvSpPr>
          <p:spPr>
            <a:xfrm>
              <a:off x="3047" y="1552"/>
              <a:ext cx="1" cy="33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7" name="Line 455"/>
            <p:cNvSpPr/>
            <p:nvPr/>
          </p:nvSpPr>
          <p:spPr>
            <a:xfrm>
              <a:off x="3047" y="1902"/>
              <a:ext cx="78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8" name="Line 456"/>
            <p:cNvSpPr/>
            <p:nvPr/>
          </p:nvSpPr>
          <p:spPr>
            <a:xfrm>
              <a:off x="3137" y="1552"/>
              <a:ext cx="1" cy="23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9" name="Line 457"/>
            <p:cNvSpPr/>
            <p:nvPr/>
          </p:nvSpPr>
          <p:spPr>
            <a:xfrm>
              <a:off x="3137" y="1802"/>
              <a:ext cx="117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0" name="Line 458"/>
            <p:cNvSpPr/>
            <p:nvPr/>
          </p:nvSpPr>
          <p:spPr>
            <a:xfrm flipV="1">
              <a:off x="4307" y="1809"/>
              <a:ext cx="1" cy="49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1" name="Line 459"/>
            <p:cNvSpPr/>
            <p:nvPr/>
          </p:nvSpPr>
          <p:spPr>
            <a:xfrm flipV="1">
              <a:off x="9648" y="662"/>
              <a:ext cx="0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2" name="Line 460"/>
            <p:cNvSpPr/>
            <p:nvPr/>
          </p:nvSpPr>
          <p:spPr>
            <a:xfrm flipV="1">
              <a:off x="8207" y="673"/>
              <a:ext cx="0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3" name="Line 461"/>
            <p:cNvSpPr/>
            <p:nvPr/>
          </p:nvSpPr>
          <p:spPr>
            <a:xfrm flipV="1">
              <a:off x="3007" y="673"/>
              <a:ext cx="1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4" name="Line 462"/>
            <p:cNvSpPr/>
            <p:nvPr/>
          </p:nvSpPr>
          <p:spPr>
            <a:xfrm flipV="1">
              <a:off x="2007" y="692"/>
              <a:ext cx="1" cy="45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5" name="Line 463"/>
            <p:cNvSpPr/>
            <p:nvPr/>
          </p:nvSpPr>
          <p:spPr>
            <a:xfrm>
              <a:off x="2137" y="3382"/>
              <a:ext cx="765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6" name="Line 464"/>
            <p:cNvSpPr/>
            <p:nvPr/>
          </p:nvSpPr>
          <p:spPr>
            <a:xfrm>
              <a:off x="9788" y="2852"/>
              <a:ext cx="0" cy="5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7" name="Line 465"/>
            <p:cNvSpPr/>
            <p:nvPr/>
          </p:nvSpPr>
          <p:spPr>
            <a:xfrm>
              <a:off x="8688" y="2872"/>
              <a:ext cx="0" cy="5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8" name="Line 466"/>
            <p:cNvSpPr/>
            <p:nvPr/>
          </p:nvSpPr>
          <p:spPr>
            <a:xfrm>
              <a:off x="2047" y="3292"/>
              <a:ext cx="65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9" name="Line 467"/>
            <p:cNvSpPr/>
            <p:nvPr/>
          </p:nvSpPr>
          <p:spPr>
            <a:xfrm>
              <a:off x="8568" y="2852"/>
              <a:ext cx="0" cy="4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0" name="Line 468"/>
            <p:cNvSpPr/>
            <p:nvPr/>
          </p:nvSpPr>
          <p:spPr>
            <a:xfrm>
              <a:off x="8078" y="2852"/>
              <a:ext cx="0" cy="4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1" name="Line 469"/>
            <p:cNvSpPr/>
            <p:nvPr/>
          </p:nvSpPr>
          <p:spPr>
            <a:xfrm>
              <a:off x="4358" y="2852"/>
              <a:ext cx="0" cy="4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2" name="Line 470"/>
            <p:cNvSpPr/>
            <p:nvPr/>
          </p:nvSpPr>
          <p:spPr>
            <a:xfrm flipV="1">
              <a:off x="1957" y="3182"/>
              <a:ext cx="49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3" name="Line 471"/>
            <p:cNvSpPr/>
            <p:nvPr/>
          </p:nvSpPr>
          <p:spPr>
            <a:xfrm>
              <a:off x="4247" y="2862"/>
              <a:ext cx="0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4" name="Line 472"/>
            <p:cNvSpPr/>
            <p:nvPr/>
          </p:nvSpPr>
          <p:spPr>
            <a:xfrm>
              <a:off x="7727" y="2862"/>
              <a:ext cx="0" cy="78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5" name="Line 473"/>
            <p:cNvSpPr/>
            <p:nvPr/>
          </p:nvSpPr>
          <p:spPr>
            <a:xfrm>
              <a:off x="3818" y="2862"/>
              <a:ext cx="0" cy="3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6" name="Line 474"/>
            <p:cNvSpPr/>
            <p:nvPr/>
          </p:nvSpPr>
          <p:spPr>
            <a:xfrm>
              <a:off x="1867" y="3092"/>
              <a:ext cx="2273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7" name="Line 475"/>
            <p:cNvSpPr/>
            <p:nvPr/>
          </p:nvSpPr>
          <p:spPr>
            <a:xfrm flipV="1">
              <a:off x="3698" y="286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8" name="Line 476"/>
            <p:cNvSpPr/>
            <p:nvPr/>
          </p:nvSpPr>
          <p:spPr>
            <a:xfrm flipV="1">
              <a:off x="4157" y="2862"/>
              <a:ext cx="0" cy="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79" name="Line 477"/>
            <p:cNvSpPr/>
            <p:nvPr/>
          </p:nvSpPr>
          <p:spPr>
            <a:xfrm>
              <a:off x="2867" y="2852"/>
              <a:ext cx="0" cy="14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0" name="Line 478"/>
            <p:cNvSpPr/>
            <p:nvPr/>
          </p:nvSpPr>
          <p:spPr>
            <a:xfrm>
              <a:off x="3437" y="2862"/>
              <a:ext cx="0" cy="14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1" name="Line 479"/>
            <p:cNvSpPr/>
            <p:nvPr/>
          </p:nvSpPr>
          <p:spPr>
            <a:xfrm>
              <a:off x="3938" y="2862"/>
              <a:ext cx="0" cy="14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2" name="Line 480"/>
            <p:cNvSpPr/>
            <p:nvPr/>
          </p:nvSpPr>
          <p:spPr>
            <a:xfrm>
              <a:off x="4448" y="2872"/>
              <a:ext cx="0" cy="14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3" name="Line 481"/>
            <p:cNvSpPr/>
            <p:nvPr/>
          </p:nvSpPr>
          <p:spPr>
            <a:xfrm flipH="1">
              <a:off x="4937" y="3835"/>
              <a:ext cx="1" cy="43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4" name="Line 482"/>
            <p:cNvSpPr/>
            <p:nvPr/>
          </p:nvSpPr>
          <p:spPr>
            <a:xfrm>
              <a:off x="4937" y="3842"/>
              <a:ext cx="507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5" name="Line 483"/>
            <p:cNvSpPr/>
            <p:nvPr/>
          </p:nvSpPr>
          <p:spPr>
            <a:xfrm>
              <a:off x="8808" y="2862"/>
              <a:ext cx="0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6" name="Line 484"/>
            <p:cNvSpPr/>
            <p:nvPr/>
          </p:nvSpPr>
          <p:spPr>
            <a:xfrm>
              <a:off x="9408" y="2862"/>
              <a:ext cx="0" cy="8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7" name="Line 485"/>
            <p:cNvSpPr/>
            <p:nvPr/>
          </p:nvSpPr>
          <p:spPr>
            <a:xfrm>
              <a:off x="4448" y="3741"/>
              <a:ext cx="49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8" name="Line 486"/>
            <p:cNvSpPr/>
            <p:nvPr/>
          </p:nvSpPr>
          <p:spPr>
            <a:xfrm>
              <a:off x="3938" y="3632"/>
              <a:ext cx="3789" cy="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89" name="Line 487"/>
            <p:cNvSpPr/>
            <p:nvPr/>
          </p:nvSpPr>
          <p:spPr>
            <a:xfrm>
              <a:off x="3437" y="3531"/>
              <a:ext cx="21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90" name="Text Box 488"/>
            <p:cNvSpPr txBox="1"/>
            <p:nvPr/>
          </p:nvSpPr>
          <p:spPr>
            <a:xfrm>
              <a:off x="2767" y="4202"/>
              <a:ext cx="2330" cy="2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g3       g2      g1      g0      c0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5391" name="Text Box 489"/>
            <p:cNvSpPr txBox="1"/>
            <p:nvPr/>
          </p:nvSpPr>
          <p:spPr>
            <a:xfrm>
              <a:off x="1847" y="4229"/>
              <a:ext cx="523" cy="27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p3-0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5392" name="Text Box 490"/>
            <p:cNvSpPr txBox="1"/>
            <p:nvPr/>
          </p:nvSpPr>
          <p:spPr>
            <a:xfrm>
              <a:off x="2108" y="673"/>
              <a:ext cx="219" cy="2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5393" name="Text Box 491"/>
            <p:cNvSpPr txBox="1"/>
            <p:nvPr/>
          </p:nvSpPr>
          <p:spPr>
            <a:xfrm>
              <a:off x="3087" y="653"/>
              <a:ext cx="190" cy="2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G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5394" name="Text Box 492"/>
            <p:cNvSpPr txBox="1"/>
            <p:nvPr/>
          </p:nvSpPr>
          <p:spPr>
            <a:xfrm>
              <a:off x="8267" y="652"/>
              <a:ext cx="220" cy="29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c2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5395" name="Text Box 493"/>
            <p:cNvSpPr txBox="1"/>
            <p:nvPr/>
          </p:nvSpPr>
          <p:spPr>
            <a:xfrm>
              <a:off x="9708" y="632"/>
              <a:ext cx="219" cy="29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000" dirty="0">
                  <a:solidFill>
                    <a:srgbClr val="000000"/>
                  </a:solidFill>
                  <a:latin typeface="Times New Roman" pitchFamily="18" charset="0"/>
                </a:rPr>
                <a:t>c1</a:t>
              </a:r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55396" name="Text Box 494"/>
            <p:cNvSpPr txBox="1"/>
            <p:nvPr/>
          </p:nvSpPr>
          <p:spPr>
            <a:xfrm>
              <a:off x="5978" y="4052"/>
              <a:ext cx="3199" cy="43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pPr algn="ctr"/>
              <a:r>
                <a:rPr lang="zh-CN" altLang="en-US" sz="1000" dirty="0">
                  <a:solidFill>
                    <a:srgbClr val="000000"/>
                  </a:solidFill>
                  <a:latin typeface="Times New Roman" pitchFamily="18" charset="0"/>
                </a:rPr>
                <a:t>进位生成逻辑</a:t>
              </a:r>
              <a:endParaRPr lang="zh-CN" altLang="en-US" dirty="0">
                <a:latin typeface="Times New Roman" pitchFamily="18" charset="0"/>
              </a:endParaRPr>
            </a:p>
          </p:txBody>
        </p:sp>
      </p:grpSp>
      <p:sp>
        <p:nvSpPr>
          <p:cNvPr id="55304" name="Line 245"/>
          <p:cNvSpPr/>
          <p:nvPr/>
        </p:nvSpPr>
        <p:spPr>
          <a:xfrm flipV="1">
            <a:off x="10582275" y="3802063"/>
            <a:ext cx="2349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5" name="Rectangle 246"/>
          <p:cNvSpPr/>
          <p:nvPr/>
        </p:nvSpPr>
        <p:spPr>
          <a:xfrm>
            <a:off x="9526588" y="3411538"/>
            <a:ext cx="1071562" cy="742950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55306" name="Text Box 247"/>
          <p:cNvSpPr txBox="1"/>
          <p:nvPr/>
        </p:nvSpPr>
        <p:spPr>
          <a:xfrm>
            <a:off x="9742488" y="3994150"/>
            <a:ext cx="868362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1000" dirty="0">
                <a:latin typeface="Times New Roman" pitchFamily="18" charset="0"/>
              </a:rPr>
              <a:t>p3-0   g3-0</a:t>
            </a:r>
            <a:endParaRPr lang="en-US" altLang="zh-CN" sz="1000" dirty="0">
              <a:latin typeface="Times New Roman" pitchFamily="18" charset="0"/>
            </a:endParaRPr>
          </a:p>
        </p:txBody>
      </p:sp>
      <p:sp>
        <p:nvSpPr>
          <p:cNvPr id="55307" name="Text Box 248"/>
          <p:cNvSpPr txBox="1"/>
          <p:nvPr/>
        </p:nvSpPr>
        <p:spPr>
          <a:xfrm>
            <a:off x="10042525" y="3706813"/>
            <a:ext cx="565150" cy="184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1200" dirty="0">
                <a:latin typeface="Times New Roman" pitchFamily="18" charset="0"/>
              </a:rPr>
              <a:t>  </a:t>
            </a:r>
            <a:r>
              <a:rPr lang="en-US" altLang="zh-CN" sz="1000" dirty="0">
                <a:latin typeface="Times New Roman" pitchFamily="18" charset="0"/>
              </a:rPr>
              <a:t>      c0</a:t>
            </a:r>
            <a:endParaRPr lang="en-US" altLang="zh-CN" sz="1000" dirty="0">
              <a:latin typeface="Times New Roman" pitchFamily="18" charset="0"/>
            </a:endParaRPr>
          </a:p>
        </p:txBody>
      </p:sp>
      <p:sp>
        <p:nvSpPr>
          <p:cNvPr id="55308" name="Text Box 249"/>
          <p:cNvSpPr txBox="1"/>
          <p:nvPr/>
        </p:nvSpPr>
        <p:spPr>
          <a:xfrm>
            <a:off x="10137775" y="3429000"/>
            <a:ext cx="338138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1000" dirty="0">
                <a:latin typeface="Times New Roman" pitchFamily="18" charset="0"/>
              </a:rPr>
              <a:t>c3-0</a:t>
            </a:r>
            <a:endParaRPr lang="en-US" altLang="zh-CN" sz="1000" dirty="0">
              <a:latin typeface="Times New Roman" pitchFamily="18" charset="0"/>
            </a:endParaRPr>
          </a:p>
        </p:txBody>
      </p:sp>
      <p:sp>
        <p:nvSpPr>
          <p:cNvPr id="55309" name="Line 250"/>
          <p:cNvSpPr/>
          <p:nvPr/>
        </p:nvSpPr>
        <p:spPr>
          <a:xfrm>
            <a:off x="9910763" y="4154488"/>
            <a:ext cx="0" cy="3730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0" name="Line 251"/>
          <p:cNvSpPr/>
          <p:nvPr/>
        </p:nvSpPr>
        <p:spPr>
          <a:xfrm>
            <a:off x="10233025" y="4154488"/>
            <a:ext cx="0" cy="3730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1" name="Line 252"/>
          <p:cNvSpPr/>
          <p:nvPr/>
        </p:nvSpPr>
        <p:spPr>
          <a:xfrm>
            <a:off x="10312400" y="3040063"/>
            <a:ext cx="0" cy="3730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2" name="Line 495"/>
          <p:cNvSpPr/>
          <p:nvPr/>
        </p:nvSpPr>
        <p:spPr>
          <a:xfrm>
            <a:off x="9904413" y="3041650"/>
            <a:ext cx="0" cy="37306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3" name="Line 496"/>
          <p:cNvSpPr/>
          <p:nvPr/>
        </p:nvSpPr>
        <p:spPr>
          <a:xfrm>
            <a:off x="9669463" y="3033713"/>
            <a:ext cx="0" cy="3730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4" name="Text Box 497"/>
          <p:cNvSpPr txBox="1"/>
          <p:nvPr/>
        </p:nvSpPr>
        <p:spPr>
          <a:xfrm>
            <a:off x="9617075" y="3440113"/>
            <a:ext cx="40005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1000" dirty="0">
                <a:latin typeface="Times New Roman" pitchFamily="18" charset="0"/>
              </a:rPr>
              <a:t>P    G</a:t>
            </a:r>
            <a:endParaRPr lang="en-US" altLang="zh-CN" sz="100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6E6C99-6C98-4952-A28D-AADCB85280E0}" type="slidenum">
              <a:rPr lang="en-US" altLang="zh-CN" smtClean="0"/>
            </a:fld>
            <a:endParaRPr lang="en-US" altLang="zh-CN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37657" y="3293309"/>
            <a:ext cx="7993970" cy="3366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4"/>
          <p:cNvSpPr/>
          <p:nvPr/>
        </p:nvSpPr>
        <p:spPr>
          <a:xfrm>
            <a:off x="938473" y="1530119"/>
            <a:ext cx="10643937" cy="1517876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1800" b="1" dirty="0">
                <a:latin typeface="+mn-ea"/>
                <a:ea typeface="+mn-ea"/>
              </a:rPr>
              <a:t>自下而上形成</a:t>
            </a:r>
            <a:r>
              <a:rPr lang="en-US" altLang="zh-CN" sz="1800" b="1" dirty="0">
                <a:latin typeface="+mn-ea"/>
                <a:ea typeface="+mn-ea"/>
              </a:rPr>
              <a:t>pigi</a:t>
            </a:r>
            <a:r>
              <a:rPr lang="zh-CN" altLang="en-US" sz="1800" b="1" dirty="0">
                <a:latin typeface="+mn-ea"/>
                <a:ea typeface="+mn-ea"/>
              </a:rPr>
              <a:t>，自上而下形成</a:t>
            </a:r>
            <a:r>
              <a:rPr lang="en-US" altLang="zh-CN" sz="1800" b="1" dirty="0">
                <a:latin typeface="+mn-ea"/>
                <a:ea typeface="+mn-ea"/>
              </a:rPr>
              <a:t>ci</a:t>
            </a:r>
            <a:endParaRPr lang="en-US" altLang="zh-CN" sz="18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1800" b="1" dirty="0">
                <a:latin typeface="+mn-ea"/>
                <a:ea typeface="+mn-ea"/>
              </a:rPr>
              <a:t>共</a:t>
            </a:r>
            <a:r>
              <a:rPr lang="en-US" altLang="zh-CN" sz="1800" b="1" dirty="0">
                <a:latin typeface="+mn-ea"/>
                <a:ea typeface="+mn-ea"/>
              </a:rPr>
              <a:t>6</a:t>
            </a:r>
            <a:r>
              <a:rPr lang="zh-CN" altLang="en-US" sz="1800" b="1" dirty="0">
                <a:latin typeface="+mn-ea"/>
                <a:ea typeface="+mn-ea"/>
              </a:rPr>
              <a:t>级门延迟：</a:t>
            </a:r>
            <a:endParaRPr lang="en-US" altLang="zh-CN" sz="1800" b="1" dirty="0">
              <a:latin typeface="+mn-ea"/>
              <a:ea typeface="+mn-ea"/>
            </a:endParaRPr>
          </a:p>
          <a:p>
            <a:pPr marL="800100" lvl="2" indent="-342900" eaLnBrk="1" hangingPunct="1">
              <a:lnSpc>
                <a:spcPct val="150000"/>
              </a:lnSpc>
              <a:buChar char="•"/>
            </a:pPr>
            <a:r>
              <a:rPr lang="zh-CN" altLang="en-US" sz="1400" b="1" dirty="0">
                <a:latin typeface="+mn-ea"/>
                <a:ea typeface="+mn-ea"/>
              </a:rPr>
              <a:t>第一层</a:t>
            </a:r>
            <a:r>
              <a:rPr lang="en-US" altLang="zh-CN" sz="1400" b="1" dirty="0">
                <a:latin typeface="+mn-ea"/>
                <a:ea typeface="+mn-ea"/>
              </a:rPr>
              <a:t>pg</a:t>
            </a:r>
            <a:r>
              <a:rPr lang="zh-CN" altLang="en-US" sz="1400" b="1" dirty="0">
                <a:latin typeface="+mn-ea"/>
                <a:ea typeface="+mn-ea"/>
              </a:rPr>
              <a:t>，第二层</a:t>
            </a:r>
            <a:r>
              <a:rPr lang="en-US" altLang="zh-CN" sz="1400" b="1" dirty="0">
                <a:latin typeface="+mn-ea"/>
                <a:ea typeface="+mn-ea"/>
              </a:rPr>
              <a:t>c(c4, c8, c12)</a:t>
            </a:r>
            <a:r>
              <a:rPr lang="zh-CN" altLang="en-US" sz="1400" b="1" dirty="0">
                <a:latin typeface="+mn-ea"/>
                <a:ea typeface="+mn-ea"/>
              </a:rPr>
              <a:t>，第一层</a:t>
            </a:r>
            <a:r>
              <a:rPr lang="en-US" altLang="zh-CN" sz="1400" b="1" dirty="0">
                <a:latin typeface="+mn-ea"/>
                <a:ea typeface="+mn-ea"/>
              </a:rPr>
              <a:t>c(c1, c2, c3, c5, …)</a:t>
            </a:r>
            <a:endParaRPr lang="zh-CN" altLang="en-US" sz="1400" b="1" dirty="0">
              <a:latin typeface="+mn-ea"/>
              <a:ea typeface="+mn-ea"/>
            </a:endParaRPr>
          </a:p>
        </p:txBody>
      </p:sp>
      <p:sp>
        <p:nvSpPr>
          <p:cNvPr id="7" name="Rectangle 146"/>
          <p:cNvSpPr txBox="1"/>
          <p:nvPr/>
        </p:nvSpPr>
        <p:spPr bwMode="auto">
          <a:xfrm>
            <a:off x="990600" y="0"/>
            <a:ext cx="10361613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块间并行加法器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246673" y="5292272"/>
            <a:ext cx="4471297" cy="309656"/>
            <a:chOff x="3246673" y="5292272"/>
            <a:chExt cx="4471297" cy="309656"/>
          </a:xfrm>
        </p:grpSpPr>
        <p:sp>
          <p:nvSpPr>
            <p:cNvPr id="8" name="Text Box 91"/>
            <p:cNvSpPr txBox="1"/>
            <p:nvPr/>
          </p:nvSpPr>
          <p:spPr>
            <a:xfrm>
              <a:off x="3246673" y="5324929"/>
              <a:ext cx="44357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c12</a:t>
              </a:r>
              <a:endParaRPr lang="en-US" altLang="zh-CN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9" name="Text Box 91"/>
            <p:cNvSpPr txBox="1"/>
            <p:nvPr/>
          </p:nvSpPr>
          <p:spPr>
            <a:xfrm>
              <a:off x="7274391" y="5292272"/>
              <a:ext cx="44357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c4</a:t>
              </a:r>
              <a:endParaRPr lang="en-US" altLang="zh-CN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0" name="Text Box 91"/>
            <p:cNvSpPr txBox="1"/>
            <p:nvPr/>
          </p:nvSpPr>
          <p:spPr>
            <a:xfrm>
              <a:off x="5271417" y="5324929"/>
              <a:ext cx="44357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c8</a:t>
              </a:r>
              <a:endParaRPr lang="en-US" altLang="zh-CN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2" name="组合 91"/>
          <p:cNvGrpSpPr/>
          <p:nvPr/>
        </p:nvGrpSpPr>
        <p:grpSpPr>
          <a:xfrm>
            <a:off x="3167751" y="3825204"/>
            <a:ext cx="5181586" cy="2524125"/>
            <a:chOff x="2216561" y="3488267"/>
            <a:chExt cx="4387439" cy="2523065"/>
          </a:xfrm>
        </p:grpSpPr>
        <p:sp>
          <p:nvSpPr>
            <p:cNvPr id="13" name="任意多边形 88"/>
            <p:cNvSpPr/>
            <p:nvPr/>
          </p:nvSpPr>
          <p:spPr>
            <a:xfrm>
              <a:off x="2216561" y="3488267"/>
              <a:ext cx="1027290" cy="2483555"/>
            </a:xfrm>
            <a:custGeom>
              <a:avLst/>
              <a:gdLst>
                <a:gd name="txL" fmla="*/ 0 w 1264356"/>
                <a:gd name="txT" fmla="*/ 0 h 2889956"/>
                <a:gd name="txR" fmla="*/ 1264356 w 1264356"/>
                <a:gd name="txB" fmla="*/ 2889956 h 2889956"/>
              </a:gdLst>
              <a:ahLst/>
              <a:cxnLst>
                <a:cxn ang="0">
                  <a:pos x="24463" y="162314"/>
                </a:cxn>
                <a:cxn ang="0">
                  <a:pos x="20968" y="27899"/>
                </a:cxn>
                <a:cxn ang="0">
                  <a:pos x="4805" y="123004"/>
                </a:cxn>
                <a:cxn ang="0">
                  <a:pos x="0" y="0"/>
                </a:cxn>
              </a:cxnLst>
              <a:rect l="txL" t="txT" r="txR" b="txB"/>
              <a:pathLst>
                <a:path w="1264356" h="2889956">
                  <a:moveTo>
                    <a:pt x="1264356" y="2889956"/>
                  </a:moveTo>
                  <a:cubicBezTo>
                    <a:pt x="1258711" y="1751659"/>
                    <a:pt x="1253067" y="613363"/>
                    <a:pt x="1083734" y="496711"/>
                  </a:cubicBezTo>
                  <a:cubicBezTo>
                    <a:pt x="914401" y="380059"/>
                    <a:pt x="428978" y="2272830"/>
                    <a:pt x="248356" y="2190045"/>
                  </a:cubicBezTo>
                  <a:cubicBezTo>
                    <a:pt x="67734" y="2107260"/>
                    <a:pt x="47037" y="365008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b="1">
                <a:latin typeface="+mn-ea"/>
                <a:ea typeface="+mn-ea"/>
              </a:endParaRPr>
            </a:p>
          </p:txBody>
        </p:sp>
        <p:sp>
          <p:nvSpPr>
            <p:cNvPr id="14" name="任意多边形 89"/>
            <p:cNvSpPr/>
            <p:nvPr/>
          </p:nvSpPr>
          <p:spPr>
            <a:xfrm>
              <a:off x="3894100" y="3527777"/>
              <a:ext cx="1027290" cy="2483555"/>
            </a:xfrm>
            <a:custGeom>
              <a:avLst/>
              <a:gdLst>
                <a:gd name="txL" fmla="*/ 0 w 1264356"/>
                <a:gd name="txT" fmla="*/ 0 h 2889956"/>
                <a:gd name="txR" fmla="*/ 1264356 w 1264356"/>
                <a:gd name="txB" fmla="*/ 2889956 h 2889956"/>
              </a:gdLst>
              <a:ahLst/>
              <a:cxnLst>
                <a:cxn ang="0">
                  <a:pos x="24463" y="162314"/>
                </a:cxn>
                <a:cxn ang="0">
                  <a:pos x="20968" y="27899"/>
                </a:cxn>
                <a:cxn ang="0">
                  <a:pos x="4805" y="123004"/>
                </a:cxn>
                <a:cxn ang="0">
                  <a:pos x="0" y="0"/>
                </a:cxn>
              </a:cxnLst>
              <a:rect l="txL" t="txT" r="txR" b="txB"/>
              <a:pathLst>
                <a:path w="1264356" h="2889956">
                  <a:moveTo>
                    <a:pt x="1264356" y="2889956"/>
                  </a:moveTo>
                  <a:cubicBezTo>
                    <a:pt x="1258711" y="1751659"/>
                    <a:pt x="1253067" y="613363"/>
                    <a:pt x="1083734" y="496711"/>
                  </a:cubicBezTo>
                  <a:cubicBezTo>
                    <a:pt x="914401" y="380059"/>
                    <a:pt x="428978" y="2272830"/>
                    <a:pt x="248356" y="2190045"/>
                  </a:cubicBezTo>
                  <a:cubicBezTo>
                    <a:pt x="67734" y="2107260"/>
                    <a:pt x="47037" y="365008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b="1">
                <a:latin typeface="+mn-ea"/>
                <a:ea typeface="+mn-ea"/>
              </a:endParaRPr>
            </a:p>
          </p:txBody>
        </p:sp>
        <p:sp>
          <p:nvSpPr>
            <p:cNvPr id="15" name="任意多边形 90"/>
            <p:cNvSpPr/>
            <p:nvPr/>
          </p:nvSpPr>
          <p:spPr>
            <a:xfrm>
              <a:off x="5576711" y="3499555"/>
              <a:ext cx="1027289" cy="2483555"/>
            </a:xfrm>
            <a:custGeom>
              <a:avLst/>
              <a:gdLst>
                <a:gd name="txL" fmla="*/ 0 w 1264356"/>
                <a:gd name="txT" fmla="*/ 0 h 2889956"/>
                <a:gd name="txR" fmla="*/ 1264356 w 1264356"/>
                <a:gd name="txB" fmla="*/ 2889956 h 2889956"/>
              </a:gdLst>
              <a:ahLst/>
              <a:cxnLst>
                <a:cxn ang="0">
                  <a:pos x="24463" y="162314"/>
                </a:cxn>
                <a:cxn ang="0">
                  <a:pos x="20968" y="27899"/>
                </a:cxn>
                <a:cxn ang="0">
                  <a:pos x="4805" y="123004"/>
                </a:cxn>
                <a:cxn ang="0">
                  <a:pos x="0" y="0"/>
                </a:cxn>
              </a:cxnLst>
              <a:rect l="txL" t="txT" r="txR" b="txB"/>
              <a:pathLst>
                <a:path w="1264356" h="2889956">
                  <a:moveTo>
                    <a:pt x="1264356" y="2889956"/>
                  </a:moveTo>
                  <a:cubicBezTo>
                    <a:pt x="1258711" y="1751659"/>
                    <a:pt x="1253067" y="613363"/>
                    <a:pt x="1083734" y="496711"/>
                  </a:cubicBezTo>
                  <a:cubicBezTo>
                    <a:pt x="914401" y="380059"/>
                    <a:pt x="428978" y="2272830"/>
                    <a:pt x="248356" y="2190045"/>
                  </a:cubicBezTo>
                  <a:cubicBezTo>
                    <a:pt x="67734" y="2107260"/>
                    <a:pt x="47037" y="365008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b="1">
                <a:latin typeface="+mn-ea"/>
                <a:ea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55" y="1232535"/>
            <a:ext cx="4321175" cy="1492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79" name="Picture 159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31371" y="3352801"/>
            <a:ext cx="11114315" cy="2938698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</p:spPr>
      </p:pic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682625" y="0"/>
            <a:ext cx="10668000" cy="796290"/>
          </a:xfrm>
        </p:spPr>
        <p:txBody>
          <a:bodyPr/>
          <a:lstStyle/>
          <a:p>
            <a:r>
              <a:rPr lang="en-US" altLang="zh-CN" dirty="0" smtClean="0"/>
              <a:t>64</a:t>
            </a:r>
            <a:r>
              <a:rPr lang="zh-CN" altLang="en-US" smtClean="0"/>
              <a:t>位加法器先行进位</a:t>
            </a:r>
            <a:endParaRPr lang="zh-CN" altLang="en-US" dirty="0" smtClean="0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951230" y="1620520"/>
            <a:ext cx="10361295" cy="158623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自下而上形成</a:t>
            </a:r>
            <a:r>
              <a:rPr lang="en-US" altLang="zh-CN" sz="2000" dirty="0" err="1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pigi</a:t>
            </a:r>
            <a:r>
              <a:rPr lang="zh-CN" altLang="en-US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，自上而下形成</a:t>
            </a:r>
            <a:r>
              <a:rPr lang="en-US" altLang="zh-CN" sz="2000" dirty="0" err="1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ci</a:t>
            </a:r>
            <a:endParaRPr lang="en-US" altLang="zh-CN" sz="20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共</a:t>
            </a:r>
            <a:r>
              <a:rPr lang="en-US" altLang="zh-CN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10</a:t>
            </a:r>
            <a:r>
              <a:rPr lang="zh-CN" altLang="en-US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级门延迟：</a:t>
            </a:r>
            <a:endParaRPr lang="en-US" altLang="zh-CN" sz="20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第一层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pg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，第二层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pg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，第三层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c(c16, c32, …)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，第二层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c(c20, c24, …)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，第一层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c(c21, c22, c23, c25, …)</a:t>
            </a:r>
            <a:endParaRPr lang="en-US" altLang="zh-CN" sz="16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</p:txBody>
      </p:sp>
      <p:grpSp>
        <p:nvGrpSpPr>
          <p:cNvPr id="2" name="组合 472"/>
          <p:cNvGrpSpPr/>
          <p:nvPr/>
        </p:nvGrpSpPr>
        <p:grpSpPr>
          <a:xfrm>
            <a:off x="3196772" y="4844143"/>
            <a:ext cx="5642428" cy="232974"/>
            <a:chOff x="3196772" y="4844143"/>
            <a:chExt cx="5642428" cy="232974"/>
          </a:xfrm>
          <a:noFill/>
        </p:grpSpPr>
        <p:sp>
          <p:nvSpPr>
            <p:cNvPr id="469" name="Text Box 133"/>
            <p:cNvSpPr txBox="1">
              <a:spLocks noChangeArrowheads="1"/>
            </p:cNvSpPr>
            <p:nvPr/>
          </p:nvSpPr>
          <p:spPr bwMode="auto">
            <a:xfrm>
              <a:off x="3196772" y="4844143"/>
              <a:ext cx="210457" cy="21120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900" b="1" dirty="0" smtClean="0">
                  <a:solidFill>
                    <a:srgbClr val="FF0000"/>
                  </a:solidFill>
                </a:rPr>
                <a:t>c48</a:t>
              </a:r>
              <a:endParaRPr lang="en-US" altLang="zh-CN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471" name="Text Box 133"/>
            <p:cNvSpPr txBox="1">
              <a:spLocks noChangeArrowheads="1"/>
            </p:cNvSpPr>
            <p:nvPr/>
          </p:nvSpPr>
          <p:spPr bwMode="auto">
            <a:xfrm>
              <a:off x="5885544" y="4865914"/>
              <a:ext cx="210457" cy="21120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900" b="1" dirty="0" smtClean="0">
                  <a:solidFill>
                    <a:srgbClr val="FF0000"/>
                  </a:solidFill>
                </a:rPr>
                <a:t>c32</a:t>
              </a:r>
              <a:endParaRPr lang="en-US" altLang="zh-CN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472" name="Text Box 133"/>
            <p:cNvSpPr txBox="1">
              <a:spLocks noChangeArrowheads="1"/>
            </p:cNvSpPr>
            <p:nvPr/>
          </p:nvSpPr>
          <p:spPr bwMode="auto">
            <a:xfrm>
              <a:off x="8628743" y="4855029"/>
              <a:ext cx="210457" cy="21120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900" b="1" dirty="0" smtClean="0">
                  <a:solidFill>
                    <a:srgbClr val="FF0000"/>
                  </a:solidFill>
                </a:rPr>
                <a:t>c16</a:t>
              </a:r>
              <a:endParaRPr lang="en-US" altLang="zh-CN" sz="9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组合 489"/>
          <p:cNvGrpSpPr/>
          <p:nvPr/>
        </p:nvGrpSpPr>
        <p:grpSpPr>
          <a:xfrm>
            <a:off x="1215529" y="5442855"/>
            <a:ext cx="9659501" cy="243857"/>
            <a:chOff x="1215529" y="5442855"/>
            <a:chExt cx="9659501" cy="243857"/>
          </a:xfrm>
          <a:noFill/>
        </p:grpSpPr>
        <p:grpSp>
          <p:nvGrpSpPr>
            <p:cNvPr id="4" name="组合 476"/>
            <p:cNvGrpSpPr/>
            <p:nvPr/>
          </p:nvGrpSpPr>
          <p:grpSpPr>
            <a:xfrm>
              <a:off x="1215529" y="5442855"/>
              <a:ext cx="1538557" cy="222093"/>
              <a:chOff x="1215529" y="5442855"/>
              <a:chExt cx="1538557" cy="222093"/>
            </a:xfrm>
            <a:grpFill/>
          </p:grpSpPr>
          <p:sp>
            <p:nvSpPr>
              <p:cNvPr id="474" name="Text Box 133"/>
              <p:cNvSpPr txBox="1">
                <a:spLocks noChangeArrowheads="1"/>
              </p:cNvSpPr>
              <p:nvPr/>
            </p:nvSpPr>
            <p:spPr bwMode="auto">
              <a:xfrm>
                <a:off x="2543629" y="5442863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c52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75" name="Text Box 133"/>
              <p:cNvSpPr txBox="1">
                <a:spLocks noChangeArrowheads="1"/>
              </p:cNvSpPr>
              <p:nvPr/>
            </p:nvSpPr>
            <p:spPr bwMode="auto">
              <a:xfrm>
                <a:off x="1879579" y="5453745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c56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76" name="Text Box 133"/>
              <p:cNvSpPr txBox="1">
                <a:spLocks noChangeArrowheads="1"/>
              </p:cNvSpPr>
              <p:nvPr/>
            </p:nvSpPr>
            <p:spPr bwMode="auto">
              <a:xfrm>
                <a:off x="1215529" y="5442855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c60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5" name="组合 477"/>
            <p:cNvGrpSpPr/>
            <p:nvPr/>
          </p:nvGrpSpPr>
          <p:grpSpPr>
            <a:xfrm>
              <a:off x="3882595" y="5453737"/>
              <a:ext cx="1538557" cy="222093"/>
              <a:chOff x="1215529" y="5442855"/>
              <a:chExt cx="1538557" cy="222093"/>
            </a:xfrm>
            <a:grpFill/>
          </p:grpSpPr>
          <p:sp>
            <p:nvSpPr>
              <p:cNvPr id="479" name="Text Box 133"/>
              <p:cNvSpPr txBox="1">
                <a:spLocks noChangeArrowheads="1"/>
              </p:cNvSpPr>
              <p:nvPr/>
            </p:nvSpPr>
            <p:spPr bwMode="auto">
              <a:xfrm>
                <a:off x="2543629" y="5442863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c36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80" name="Text Box 133"/>
              <p:cNvSpPr txBox="1">
                <a:spLocks noChangeArrowheads="1"/>
              </p:cNvSpPr>
              <p:nvPr/>
            </p:nvSpPr>
            <p:spPr bwMode="auto">
              <a:xfrm>
                <a:off x="1879579" y="5453745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c40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81" name="Text Box 133"/>
              <p:cNvSpPr txBox="1">
                <a:spLocks noChangeArrowheads="1"/>
              </p:cNvSpPr>
              <p:nvPr/>
            </p:nvSpPr>
            <p:spPr bwMode="auto">
              <a:xfrm>
                <a:off x="1215529" y="5442855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c44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6" name="组合 481"/>
            <p:cNvGrpSpPr/>
            <p:nvPr/>
          </p:nvGrpSpPr>
          <p:grpSpPr>
            <a:xfrm>
              <a:off x="6593205" y="5464619"/>
              <a:ext cx="1538557" cy="222093"/>
              <a:chOff x="1215529" y="5442855"/>
              <a:chExt cx="1538557" cy="222093"/>
            </a:xfrm>
            <a:grpFill/>
          </p:grpSpPr>
          <p:sp>
            <p:nvSpPr>
              <p:cNvPr id="483" name="Text Box 133"/>
              <p:cNvSpPr txBox="1">
                <a:spLocks noChangeArrowheads="1"/>
              </p:cNvSpPr>
              <p:nvPr/>
            </p:nvSpPr>
            <p:spPr bwMode="auto">
              <a:xfrm>
                <a:off x="2543629" y="5442863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c20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84" name="Text Box 133"/>
              <p:cNvSpPr txBox="1">
                <a:spLocks noChangeArrowheads="1"/>
              </p:cNvSpPr>
              <p:nvPr/>
            </p:nvSpPr>
            <p:spPr bwMode="auto">
              <a:xfrm>
                <a:off x="1879579" y="5453745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c24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85" name="Text Box 133"/>
              <p:cNvSpPr txBox="1">
                <a:spLocks noChangeArrowheads="1"/>
              </p:cNvSpPr>
              <p:nvPr/>
            </p:nvSpPr>
            <p:spPr bwMode="auto">
              <a:xfrm>
                <a:off x="1215529" y="5442855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c28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7" name="组合 485"/>
            <p:cNvGrpSpPr/>
            <p:nvPr/>
          </p:nvGrpSpPr>
          <p:grpSpPr>
            <a:xfrm>
              <a:off x="9336473" y="5464615"/>
              <a:ext cx="1538557" cy="222093"/>
              <a:chOff x="1215529" y="5442855"/>
              <a:chExt cx="1538557" cy="222093"/>
            </a:xfrm>
            <a:grpFill/>
          </p:grpSpPr>
          <p:sp>
            <p:nvSpPr>
              <p:cNvPr id="487" name="Text Box 133"/>
              <p:cNvSpPr txBox="1">
                <a:spLocks noChangeArrowheads="1"/>
              </p:cNvSpPr>
              <p:nvPr/>
            </p:nvSpPr>
            <p:spPr bwMode="auto">
              <a:xfrm>
                <a:off x="2543629" y="5442863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c04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88" name="Text Box 133"/>
              <p:cNvSpPr txBox="1">
                <a:spLocks noChangeArrowheads="1"/>
              </p:cNvSpPr>
              <p:nvPr/>
            </p:nvSpPr>
            <p:spPr bwMode="auto">
              <a:xfrm>
                <a:off x="1879579" y="5453745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c08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89" name="Text Box 133"/>
              <p:cNvSpPr txBox="1">
                <a:spLocks noChangeArrowheads="1"/>
              </p:cNvSpPr>
              <p:nvPr/>
            </p:nvSpPr>
            <p:spPr bwMode="auto">
              <a:xfrm>
                <a:off x="1215529" y="5442855"/>
                <a:ext cx="210457" cy="21120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 lIns="0" tIns="36000" rIns="0" bIns="36000">
                <a:spAutoFit/>
              </a:bodyPr>
              <a:lstStyle/>
              <a:p>
                <a:r>
                  <a:rPr lang="en-US" altLang="zh-CN" sz="900" b="1" dirty="0" smtClean="0">
                    <a:solidFill>
                      <a:srgbClr val="FF0000"/>
                    </a:solidFill>
                  </a:rPr>
                  <a:t>c12</a:t>
                </a:r>
                <a:endParaRPr lang="en-US" altLang="zh-CN" sz="900" b="1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8" name="组合 490"/>
          <p:cNvGrpSpPr/>
          <p:nvPr/>
        </p:nvGrpSpPr>
        <p:grpSpPr>
          <a:xfrm>
            <a:off x="3458029" y="4071258"/>
            <a:ext cx="6023428" cy="222089"/>
            <a:chOff x="3185886" y="4953002"/>
            <a:chExt cx="6023428" cy="222089"/>
          </a:xfrm>
        </p:grpSpPr>
        <p:sp>
          <p:nvSpPr>
            <p:cNvPr id="492" name="Text Box 133"/>
            <p:cNvSpPr txBox="1">
              <a:spLocks noChangeArrowheads="1"/>
            </p:cNvSpPr>
            <p:nvPr/>
          </p:nvSpPr>
          <p:spPr bwMode="auto">
            <a:xfrm>
              <a:off x="3185886" y="4963888"/>
              <a:ext cx="602342" cy="21120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900" b="1" dirty="0" smtClean="0">
                  <a:solidFill>
                    <a:schemeClr val="accent2"/>
                  </a:solidFill>
                </a:rPr>
                <a:t>P/G47-32 </a:t>
              </a:r>
              <a:endParaRPr lang="en-US" altLang="zh-CN" sz="900" b="1" dirty="0">
                <a:solidFill>
                  <a:schemeClr val="accent2"/>
                </a:solidFill>
              </a:endParaRPr>
            </a:p>
          </p:txBody>
        </p:sp>
        <p:sp>
          <p:nvSpPr>
            <p:cNvPr id="493" name="Text Box 133"/>
            <p:cNvSpPr txBox="1">
              <a:spLocks noChangeArrowheads="1"/>
            </p:cNvSpPr>
            <p:nvPr/>
          </p:nvSpPr>
          <p:spPr bwMode="auto">
            <a:xfrm>
              <a:off x="5918199" y="4963888"/>
              <a:ext cx="602341" cy="21120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900" b="1" dirty="0" smtClean="0">
                  <a:solidFill>
                    <a:schemeClr val="accent2"/>
                  </a:solidFill>
                </a:rPr>
                <a:t>PG31-16</a:t>
              </a:r>
              <a:endParaRPr lang="en-US" altLang="zh-CN" sz="900" b="1" dirty="0">
                <a:solidFill>
                  <a:schemeClr val="accent2"/>
                </a:solidFill>
              </a:endParaRPr>
            </a:p>
          </p:txBody>
        </p:sp>
        <p:sp>
          <p:nvSpPr>
            <p:cNvPr id="494" name="Text Box 133"/>
            <p:cNvSpPr txBox="1">
              <a:spLocks noChangeArrowheads="1"/>
            </p:cNvSpPr>
            <p:nvPr/>
          </p:nvSpPr>
          <p:spPr bwMode="auto">
            <a:xfrm>
              <a:off x="8628743" y="4953002"/>
              <a:ext cx="580571" cy="21120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900" b="1" dirty="0" smtClean="0">
                  <a:solidFill>
                    <a:schemeClr val="accent2"/>
                  </a:solidFill>
                </a:rPr>
                <a:t>PG15-0</a:t>
              </a:r>
              <a:endParaRPr lang="en-US" altLang="zh-CN" sz="9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9" name="组合 501"/>
          <p:cNvGrpSpPr/>
          <p:nvPr/>
        </p:nvGrpSpPr>
        <p:grpSpPr>
          <a:xfrm>
            <a:off x="747488" y="4865916"/>
            <a:ext cx="10562771" cy="206703"/>
            <a:chOff x="747488" y="4865916"/>
            <a:chExt cx="10562771" cy="206703"/>
          </a:xfrm>
        </p:grpSpPr>
        <p:sp>
          <p:nvSpPr>
            <p:cNvPr id="496" name="Text Box 133"/>
            <p:cNvSpPr txBox="1">
              <a:spLocks noChangeArrowheads="1"/>
            </p:cNvSpPr>
            <p:nvPr/>
          </p:nvSpPr>
          <p:spPr bwMode="auto">
            <a:xfrm>
              <a:off x="3436259" y="4865916"/>
              <a:ext cx="2442028" cy="1958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800" b="1" dirty="0" smtClean="0">
                  <a:solidFill>
                    <a:schemeClr val="accent2"/>
                  </a:solidFill>
                </a:rPr>
                <a:t>P/G47-44          PG43-40           PG39-36            PG35-32</a:t>
              </a:r>
              <a:endParaRPr lang="en-US" altLang="zh-CN" sz="800" b="1" dirty="0">
                <a:solidFill>
                  <a:schemeClr val="accent2"/>
                </a:solidFill>
              </a:endParaRPr>
            </a:p>
          </p:txBody>
        </p:sp>
        <p:sp>
          <p:nvSpPr>
            <p:cNvPr id="499" name="Text Box 133"/>
            <p:cNvSpPr txBox="1">
              <a:spLocks noChangeArrowheads="1"/>
            </p:cNvSpPr>
            <p:nvPr/>
          </p:nvSpPr>
          <p:spPr bwMode="auto">
            <a:xfrm>
              <a:off x="747488" y="4865917"/>
              <a:ext cx="2442028" cy="1958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800" b="1" dirty="0" smtClean="0">
                  <a:solidFill>
                    <a:schemeClr val="accent2"/>
                  </a:solidFill>
                </a:rPr>
                <a:t>P/G63-60          PG59-56           PG55-52            PG51-48</a:t>
              </a:r>
              <a:endParaRPr lang="en-US" altLang="zh-CN" sz="800" b="1" dirty="0">
                <a:solidFill>
                  <a:schemeClr val="accent2"/>
                </a:solidFill>
              </a:endParaRPr>
            </a:p>
          </p:txBody>
        </p:sp>
        <p:sp>
          <p:nvSpPr>
            <p:cNvPr id="500" name="Text Box 133"/>
            <p:cNvSpPr txBox="1">
              <a:spLocks noChangeArrowheads="1"/>
            </p:cNvSpPr>
            <p:nvPr/>
          </p:nvSpPr>
          <p:spPr bwMode="auto">
            <a:xfrm>
              <a:off x="6157688" y="4876803"/>
              <a:ext cx="2442028" cy="1958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800" b="1" dirty="0" smtClean="0">
                  <a:solidFill>
                    <a:schemeClr val="accent2"/>
                  </a:solidFill>
                </a:rPr>
                <a:t>P/G31-28          PG27-24           PG23-20            PG19-16</a:t>
              </a:r>
              <a:endParaRPr lang="en-US" altLang="zh-CN" sz="800" b="1" dirty="0">
                <a:solidFill>
                  <a:schemeClr val="accent2"/>
                </a:solidFill>
              </a:endParaRPr>
            </a:p>
          </p:txBody>
        </p:sp>
        <p:sp>
          <p:nvSpPr>
            <p:cNvPr id="501" name="Text Box 133"/>
            <p:cNvSpPr txBox="1">
              <a:spLocks noChangeArrowheads="1"/>
            </p:cNvSpPr>
            <p:nvPr/>
          </p:nvSpPr>
          <p:spPr bwMode="auto">
            <a:xfrm>
              <a:off x="8868231" y="4876805"/>
              <a:ext cx="2442028" cy="1958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36000" rIns="0" bIns="36000">
              <a:spAutoFit/>
            </a:bodyPr>
            <a:lstStyle/>
            <a:p>
              <a:r>
                <a:rPr lang="en-US" altLang="zh-CN" sz="800" b="1" dirty="0" smtClean="0">
                  <a:solidFill>
                    <a:schemeClr val="accent2"/>
                  </a:solidFill>
                </a:rPr>
                <a:t>P/G15-12          PG11-08           PG07-04            PG03-00</a:t>
              </a:r>
              <a:endParaRPr lang="en-US" altLang="zh-CN" sz="800" b="1" dirty="0">
                <a:solidFill>
                  <a:schemeClr val="accent2"/>
                </a:solidFill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390" y="877570"/>
            <a:ext cx="4321175" cy="1492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标题 1"/>
          <p:cNvSpPr>
            <a:spLocks noGrp="1"/>
          </p:cNvSpPr>
          <p:nvPr>
            <p:ph type="title"/>
          </p:nvPr>
        </p:nvSpPr>
        <p:spPr>
          <a:xfrm>
            <a:off x="855663" y="158750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补码减法算法</a:t>
            </a:r>
            <a:endParaRPr lang="zh-CN" altLang="en-US" dirty="0"/>
          </a:p>
        </p:txBody>
      </p:sp>
      <p:graphicFrame>
        <p:nvGraphicFramePr>
          <p:cNvPr id="15362" name="内容占位符 2"/>
          <p:cNvGraphicFramePr/>
          <p:nvPr>
            <p:ph idx="1"/>
          </p:nvPr>
        </p:nvGraphicFramePr>
        <p:xfrm>
          <a:off x="1136650" y="3341688"/>
          <a:ext cx="9899650" cy="351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6153150" imgH="2914650" progId="">
                  <p:embed/>
                </p:oleObj>
              </mc:Choice>
              <mc:Fallback>
                <p:oleObj name="" r:id="rId1" imgW="6153150" imgH="2914650" progId="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36650" y="3341688"/>
                        <a:ext cx="9899650" cy="3516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89000" y="1309688"/>
            <a:ext cx="10361613" cy="1930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[A]</a:t>
            </a:r>
            <a:r>
              <a:rPr kumimoji="0" lang="zh-CN" altLang="en-US" sz="2000" b="1" kern="0" cap="none" spc="0" normalizeH="0" baseline="-2500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kumimoji="0" lang="en-US" altLang="en-US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- </a:t>
            </a:r>
            <a:r>
              <a:rPr kumimoji="0" lang="en-US" altLang="zh-CN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[B]</a:t>
            </a:r>
            <a:r>
              <a:rPr kumimoji="0" lang="zh-CN" altLang="en-US" sz="2000" b="1" kern="0" cap="none" spc="0" normalizeH="0" baseline="-2500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kumimoji="0" lang="en-US" altLang="en-US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= [</a:t>
            </a:r>
            <a:r>
              <a:rPr kumimoji="0" lang="en-US" altLang="zh-CN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A-B]</a:t>
            </a:r>
            <a:r>
              <a:rPr kumimoji="0" lang="zh-CN" altLang="en-US" sz="2000" b="1" kern="0" cap="none" spc="0" normalizeH="0" baseline="-2500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kumimoji="0" lang="en-US" altLang="en-US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= </a:t>
            </a:r>
            <a:r>
              <a:rPr kumimoji="0" lang="en-US" altLang="zh-CN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[A]</a:t>
            </a:r>
            <a:r>
              <a:rPr kumimoji="0" lang="zh-CN" altLang="en-US" sz="2000" b="1" kern="0" cap="none" spc="0" normalizeH="0" baseline="-2500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 </a:t>
            </a:r>
            <a:r>
              <a:rPr kumimoji="0" lang="en-US" altLang="en-US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 </a:t>
            </a:r>
            <a:r>
              <a:rPr kumimoji="0" lang="en-US" altLang="zh-CN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[-B]</a:t>
            </a:r>
            <a:r>
              <a:rPr kumimoji="0" lang="zh-CN" altLang="en-US" sz="2000" b="1" kern="0" cap="none" spc="0" normalizeH="0" baseline="-2500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kumimoji="0" lang="en-US" altLang="en-US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</a:t>
            </a:r>
            <a:endParaRPr kumimoji="0" lang="en-US" altLang="en-US" sz="2000" b="1" kern="0" cap="none" spc="0" normalizeH="0" baseline="0" noProof="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[-B]</a:t>
            </a:r>
            <a:r>
              <a:rPr kumimoji="0" lang="zh-CN" altLang="en-US" sz="18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的计算：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[B]</a:t>
            </a:r>
            <a:r>
              <a:rPr kumimoji="0" lang="zh-CN" altLang="en-US" sz="18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“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取反加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1”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marL="342900" marR="0" indent="-342900" defTabSz="914400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  <a:defRPr/>
            </a:pPr>
            <a:r>
              <a:rPr kumimoji="0" lang="zh-CN" altLang="en-US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只要在</a:t>
            </a:r>
            <a:r>
              <a:rPr kumimoji="0" lang="en-US" altLang="zh-CN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B</a:t>
            </a:r>
            <a:r>
              <a:rPr kumimoji="0" lang="zh-CN" altLang="en-US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的输入端对</a:t>
            </a:r>
            <a:r>
              <a:rPr kumimoji="0" lang="en-US" altLang="zh-CN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B</a:t>
            </a:r>
            <a:r>
              <a:rPr kumimoji="0" lang="zh-CN" altLang="en-US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进行取反并置进位为</a:t>
            </a:r>
            <a:r>
              <a:rPr kumimoji="0" lang="en-US" altLang="zh-CN" sz="2000" b="1" kern="0" cap="none" spc="0" normalizeH="0" baseline="0" noProof="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1.</a:t>
            </a:r>
            <a:endParaRPr kumimoji="0" lang="en-US" altLang="zh-CN" sz="2000" b="1" kern="0" cap="none" spc="0" normalizeH="0" baseline="0" noProof="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58371" name="Rectangle 5"/>
          <p:cNvSpPr>
            <a:spLocks noGrp="1"/>
          </p:cNvSpPr>
          <p:nvPr>
            <p:ph type="title"/>
          </p:nvPr>
        </p:nvSpPr>
        <p:spPr>
          <a:xfrm>
            <a:off x="914400" y="0"/>
            <a:ext cx="10361613" cy="81915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溢出判断</a:t>
            </a:r>
            <a:endParaRPr lang="zh-CN" altLang="en-US" dirty="0"/>
          </a:p>
        </p:txBody>
      </p:sp>
      <p:sp>
        <p:nvSpPr>
          <p:cNvPr id="58372" name="Rectangle 3"/>
          <p:cNvSpPr>
            <a:spLocks noGrp="1"/>
          </p:cNvSpPr>
          <p:nvPr>
            <p:ph type="body"/>
          </p:nvPr>
        </p:nvSpPr>
        <p:spPr>
          <a:xfrm>
            <a:off x="317500" y="1116013"/>
            <a:ext cx="11557668" cy="5538787"/>
          </a:xfrm>
        </p:spPr>
        <p:txBody>
          <a:bodyPr vert="horz" wrap="square" lIns="91440" tIns="45720" rIns="91440" bIns="45720" anchor="t" anchorCtr="0"/>
          <a:lstStyle/>
          <a:p>
            <a:pPr marL="342900" indent="-342900" algn="l" eaLnBrk="1" hangingPunct="1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加法</a:t>
            </a:r>
            <a:r>
              <a:rPr lang="en-US" altLang="zh-CN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: </a:t>
            </a:r>
            <a:r>
              <a:rPr lang="en-US" altLang="zh-CN" sz="20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A</a:t>
            </a: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和</a:t>
            </a:r>
            <a:r>
              <a:rPr lang="en-US" altLang="zh-CN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B</a:t>
            </a: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的符号位相同</a:t>
            </a:r>
            <a:r>
              <a:rPr lang="en-US" altLang="zh-CN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, </a:t>
            </a: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但结果的符号位与</a:t>
            </a:r>
            <a:r>
              <a:rPr lang="en-US" altLang="zh-CN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A</a:t>
            </a: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和</a:t>
            </a:r>
            <a:r>
              <a:rPr lang="en-US" altLang="zh-CN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B</a:t>
            </a: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的符号位</a:t>
            </a:r>
            <a:r>
              <a:rPr lang="zh-CN" altLang="en-US" sz="20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不同（正数</a:t>
            </a: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相加得负或负数相加得</a:t>
            </a:r>
            <a:r>
              <a:rPr lang="zh-CN" altLang="en-US" sz="20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正）</a:t>
            </a:r>
            <a:endParaRPr lang="zh-CN" altLang="en-US" sz="2000" b="1" kern="1200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  <a:p>
            <a:pPr lvl="4" algn="l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   </a:t>
            </a:r>
            <a:r>
              <a:rPr lang="zh-CN" altLang="en-US" sz="16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       </a:t>
            </a:r>
            <a:r>
              <a:rPr lang="en-US" altLang="zh-CN" sz="1600" b="1" kern="1200" dirty="0" err="1" smtClean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ov</a:t>
            </a:r>
            <a:r>
              <a:rPr lang="en-US" altLang="zh-CN" sz="16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 = s31</a:t>
            </a:r>
            <a:r>
              <a:rPr lang="en-US" altLang="zh-CN" sz="16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*^a31*^b31+^s31*a31*b31</a:t>
            </a:r>
            <a:endParaRPr lang="en-US" altLang="zh-CN" sz="1600" b="1" kern="1200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  <a:p>
            <a:pPr marL="342900" indent="-342900" algn="l" eaLnBrk="1" hangingPunct="1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减法</a:t>
            </a:r>
            <a:r>
              <a:rPr lang="en-US" altLang="zh-CN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: </a:t>
            </a: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正数减负数结果为负数或负数减正数结果为正数</a:t>
            </a:r>
            <a:endParaRPr lang="zh-CN" altLang="en-US" sz="2000" b="1" kern="1200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  <a:p>
            <a:pPr algn="l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        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+mn-ea"/>
                <a:ea typeface="+mn-ea"/>
              </a:rPr>
              <a:t>ov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 = s31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*^a31*b31+^s31*a31*^b31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 algn="l" eaLnBrk="1" hangingPunct="1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因此</a:t>
            </a:r>
            <a:r>
              <a:rPr lang="en-US" altLang="zh-CN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, </a:t>
            </a: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运算器溢出条件为</a:t>
            </a:r>
            <a:endParaRPr lang="zh-CN" altLang="en-US" sz="2000" b="1" kern="1200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  <a:p>
            <a:pPr algn="l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         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+mn-ea"/>
                <a:ea typeface="+mn-ea"/>
              </a:rPr>
              <a:t>ov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 = ADD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*(s31*^a31*^b31+^s31*a31*b31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) + SUB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*(s31*^a31*b31+^s31*a31*^b31)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 algn="l" eaLnBrk="1" hangingPunct="1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例</a:t>
            </a:r>
            <a:r>
              <a:rPr lang="en-US" altLang="zh-CN" sz="2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: </a:t>
            </a:r>
            <a:endParaRPr lang="en-US" altLang="zh-CN" sz="2000" b="1" kern="1200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  <a:p>
            <a:pPr lvl="3" algn="l"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            1001+0101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(-7+5), 0011+0100(3+4) 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lvl="3" algn="l"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            0101+0101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( 5+5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), 1100+1100(-4+(-4))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lvl="3" algn="l"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            0101-0011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( 5-3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), 0011-0101(3-5) 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lvl="3" algn="l"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            1100-0101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(-4-5), 0101-1100(5-(-4))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06622F0-270D-4908-AB27-BC16B9652E9B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895600"/>
            <a:ext cx="10361613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定点</a:t>
            </a:r>
            <a:r>
              <a:rPr lang="en-US" altLang="zh-CN" smtClean="0"/>
              <a:t>ALU</a:t>
            </a:r>
            <a:r>
              <a:rPr lang="zh-CN" altLang="en-US" smtClean="0"/>
              <a:t>设计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855663" y="158750"/>
            <a:ext cx="10361612" cy="1143000"/>
          </a:xfrm>
        </p:spPr>
        <p:txBody>
          <a:bodyPr/>
          <a:lstStyle/>
          <a:p>
            <a:r>
              <a:rPr lang="en-US" altLang="zh-CN" smtClean="0"/>
              <a:t>ALU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sp>
        <p:nvSpPr>
          <p:cNvPr id="33795" name="内容占位符 1"/>
          <p:cNvSpPr>
            <a:spLocks noGrp="1"/>
          </p:cNvSpPr>
          <p:nvPr>
            <p:ph idx="1"/>
          </p:nvPr>
        </p:nvSpPr>
        <p:spPr>
          <a:xfrm>
            <a:off x="585788" y="1452563"/>
            <a:ext cx="11139487" cy="464343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 smtClean="0">
                <a:latin typeface="+mn-ea"/>
                <a:cs typeface="Courier New" pitchFamily="49" charset="0"/>
              </a:rPr>
              <a:t>ALU</a:t>
            </a:r>
            <a:r>
              <a:rPr lang="zh-CN" altLang="en-US" sz="2400" dirty="0" smtClean="0">
                <a:latin typeface="+mn-ea"/>
                <a:cs typeface="Courier New" pitchFamily="49" charset="0"/>
              </a:rPr>
              <a:t>表示算术逻辑单元</a:t>
            </a:r>
            <a:endParaRPr lang="en-US" altLang="zh-CN" sz="24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实现加减法器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实现逻辑运算（</a:t>
            </a:r>
            <a:r>
              <a:rPr lang="en-US" altLang="zh-CN" sz="2000" dirty="0" err="1" smtClean="0">
                <a:latin typeface="+mn-ea"/>
                <a:cs typeface="Courier New" pitchFamily="49" charset="0"/>
              </a:rPr>
              <a:t>a&amp;b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, </a:t>
            </a:r>
            <a:r>
              <a:rPr lang="en-US" altLang="zh-CN" sz="2000" dirty="0" err="1" smtClean="0">
                <a:latin typeface="+mn-ea"/>
                <a:cs typeface="Courier New" pitchFamily="49" charset="0"/>
              </a:rPr>
              <a:t>a|b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, a </a:t>
            </a:r>
            <a:r>
              <a:rPr lang="en-US" altLang="zh-CN" sz="2000" dirty="0" err="1" smtClean="0">
                <a:latin typeface="+mn-ea"/>
                <a:cs typeface="Courier New" pitchFamily="49" charset="0"/>
              </a:rPr>
              <a:t>xor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 b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在加法器中产生）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实现比较器（相等、大小）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实现移位器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+mn-ea"/>
                <a:cs typeface="Courier New" pitchFamily="49" charset="0"/>
              </a:rPr>
              <a:t>最后，根据操作类型，从多个结果中选择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endParaRPr lang="zh-CN" altLang="en-US" sz="2000" dirty="0" smtClean="0">
              <a:latin typeface="+mn-ea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title"/>
          </p:nvPr>
        </p:nvSpPr>
        <p:spPr>
          <a:xfrm>
            <a:off x="855663" y="0"/>
            <a:ext cx="10361612" cy="1143000"/>
          </a:xfrm>
        </p:spPr>
        <p:txBody>
          <a:bodyPr/>
          <a:lstStyle/>
          <a:p>
            <a:r>
              <a:rPr lang="zh-CN" altLang="en-US" dirty="0" smtClean="0"/>
              <a:t>判断相等</a:t>
            </a:r>
            <a:endParaRPr lang="zh-CN" altLang="en-US" dirty="0" smtClean="0"/>
          </a:p>
        </p:txBody>
      </p:sp>
      <p:sp>
        <p:nvSpPr>
          <p:cNvPr id="3076" name="内容占位符 1"/>
          <p:cNvSpPr>
            <a:spLocks noGrp="1"/>
          </p:cNvSpPr>
          <p:nvPr>
            <p:ph idx="1"/>
          </p:nvPr>
        </p:nvSpPr>
        <p:spPr>
          <a:xfrm>
            <a:off x="673100" y="1192213"/>
            <a:ext cx="10869613" cy="24987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判断多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bit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的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A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信号和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B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信号是否相等：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A</a:t>
            </a:r>
            <a:r>
              <a:rPr lang="en-US" altLang="zh-CN" sz="1800" baseline="-25000" dirty="0" smtClean="0">
                <a:latin typeface="+mn-ea"/>
                <a:cs typeface="Courier New" pitchFamily="49" charset="0"/>
              </a:rPr>
              <a:t>0-n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 == B</a:t>
            </a:r>
            <a:r>
              <a:rPr lang="en-US" altLang="zh-CN" sz="1800" baseline="-25000" dirty="0" smtClean="0">
                <a:latin typeface="+mn-ea"/>
                <a:cs typeface="Courier New" pitchFamily="49" charset="0"/>
              </a:rPr>
              <a:t>0-n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使用异或逻辑逐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bit</a:t>
            </a:r>
            <a:r>
              <a:rPr lang="zh-CN" altLang="en-US" sz="1800" dirty="0" smtClean="0">
                <a:latin typeface="+mn-ea"/>
                <a:cs typeface="Courier New" pitchFamily="49" charset="0"/>
              </a:rPr>
              <a:t>的判断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(A</a:t>
            </a:r>
            <a:r>
              <a:rPr lang="en-US" altLang="zh-CN" sz="1800" baseline="-25000" dirty="0" smtClean="0">
                <a:latin typeface="+mn-ea"/>
                <a:cs typeface="Courier New" pitchFamily="49" charset="0"/>
              </a:rPr>
              <a:t>0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^B</a:t>
            </a:r>
            <a:r>
              <a:rPr lang="en-US" altLang="zh-CN" sz="1800" baseline="-25000" dirty="0" smtClean="0">
                <a:latin typeface="+mn-ea"/>
                <a:cs typeface="Courier New" pitchFamily="49" charset="0"/>
              </a:rPr>
              <a:t>0 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, A</a:t>
            </a:r>
            <a:r>
              <a:rPr lang="en-US" altLang="zh-CN" sz="1800" baseline="-25000" dirty="0" smtClean="0">
                <a:latin typeface="+mn-ea"/>
                <a:cs typeface="Courier New" pitchFamily="49" charset="0"/>
              </a:rPr>
              <a:t>1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^B</a:t>
            </a:r>
            <a:r>
              <a:rPr lang="en-US" altLang="zh-CN" sz="1800" baseline="-25000" dirty="0" smtClean="0">
                <a:latin typeface="+mn-ea"/>
                <a:cs typeface="Courier New" pitchFamily="49" charset="0"/>
              </a:rPr>
              <a:t>1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 , … , </a:t>
            </a:r>
            <a:r>
              <a:rPr lang="en-US" altLang="zh-CN" sz="1800" dirty="0" err="1" smtClean="0">
                <a:latin typeface="+mn-ea"/>
                <a:cs typeface="Courier New" pitchFamily="49" charset="0"/>
              </a:rPr>
              <a:t>A</a:t>
            </a:r>
            <a:r>
              <a:rPr lang="en-US" altLang="zh-CN" sz="1800" baseline="-25000" dirty="0" err="1" smtClean="0">
                <a:latin typeface="+mn-ea"/>
                <a:cs typeface="Courier New" pitchFamily="49" charset="0"/>
              </a:rPr>
              <a:t>n</a:t>
            </a:r>
            <a:r>
              <a:rPr lang="en-US" altLang="zh-CN" sz="1800" dirty="0" err="1" smtClean="0">
                <a:latin typeface="+mn-ea"/>
                <a:cs typeface="Courier New" pitchFamily="49" charset="0"/>
              </a:rPr>
              <a:t>^B</a:t>
            </a:r>
            <a:r>
              <a:rPr lang="en-US" altLang="zh-CN" sz="1800" baseline="-25000" dirty="0" err="1" smtClean="0">
                <a:latin typeface="+mn-ea"/>
                <a:cs typeface="Courier New" pitchFamily="49" charset="0"/>
              </a:rPr>
              <a:t>n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)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每个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bit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结果，有任何一个为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1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，则输出为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0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多输入或非门，位数多时需要多级逻辑</a:t>
            </a:r>
            <a:endParaRPr lang="zh-CN" altLang="en-US" sz="1800" dirty="0" smtClean="0">
              <a:latin typeface="+mn-ea"/>
              <a:cs typeface="Courier New" pitchFamily="49" charset="0"/>
            </a:endParaRPr>
          </a:p>
        </p:txBody>
      </p:sp>
      <p:graphicFrame>
        <p:nvGraphicFramePr>
          <p:cNvPr id="3074" name="内容占位符 2"/>
          <p:cNvGraphicFramePr>
            <a:graphicFrameLocks noGrp="1" noChangeAspect="1"/>
          </p:cNvGraphicFramePr>
          <p:nvPr/>
        </p:nvGraphicFramePr>
        <p:xfrm>
          <a:off x="450850" y="3679825"/>
          <a:ext cx="11047413" cy="300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Visio" r:id="rId1" imgW="6172200" imgH="2266950" progId="">
                  <p:embed/>
                </p:oleObj>
              </mc:Choice>
              <mc:Fallback>
                <p:oleObj name="Visio" r:id="rId1" imgW="6172200" imgH="2266950" progId="">
                  <p:embed/>
                  <p:pic>
                    <p:nvPicPr>
                      <p:cNvPr id="0" name="内容占位符 2"/>
                      <p:cNvPicPr>
                        <a:picLocks noGrp="1"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0850" y="3679825"/>
                        <a:ext cx="11047413" cy="3005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855663" y="158750"/>
            <a:ext cx="10361612" cy="1143000"/>
          </a:xfrm>
        </p:spPr>
        <p:txBody>
          <a:bodyPr/>
          <a:lstStyle/>
          <a:p>
            <a:r>
              <a:rPr lang="zh-CN" altLang="en-US" smtClean="0"/>
              <a:t>判断大小</a:t>
            </a:r>
            <a:endParaRPr lang="zh-CN" altLang="en-US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14400" y="1452563"/>
            <a:ext cx="10361613" cy="464343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使用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A-B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来判断大小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800" dirty="0" smtClean="0">
                <a:latin typeface="+mn-ea"/>
                <a:cs typeface="Courier New" pitchFamily="49" charset="0"/>
              </a:rPr>
              <a:t>A-B &gt; 0 </a:t>
            </a:r>
            <a:r>
              <a:rPr lang="zh-CN" altLang="en-US" sz="1800" dirty="0" smtClean="0">
                <a:latin typeface="+mn-ea"/>
                <a:cs typeface="Courier New" pitchFamily="49" charset="0"/>
              </a:rPr>
              <a:t>（结果符号位为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0</a:t>
            </a:r>
            <a:r>
              <a:rPr lang="zh-CN" altLang="en-US" sz="1800" dirty="0" smtClean="0">
                <a:latin typeface="+mn-ea"/>
                <a:cs typeface="Courier New" pitchFamily="49" charset="0"/>
              </a:rPr>
              <a:t>）则代表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A</a:t>
            </a:r>
            <a:r>
              <a:rPr lang="zh-CN" altLang="en-US" sz="1800" dirty="0" smtClean="0">
                <a:latin typeface="+mn-ea"/>
                <a:cs typeface="Courier New" pitchFamily="49" charset="0"/>
              </a:rPr>
              <a:t>大于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B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000" dirty="0">
                <a:latin typeface="+mn-ea"/>
                <a:cs typeface="Courier New" pitchFamily="49" charset="0"/>
              </a:rPr>
              <a:t>小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心溢出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n-US" altLang="zh-CN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1800" dirty="0" err="1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Cond</a:t>
            </a:r>
            <a:r>
              <a:rPr lang="en-US" altLang="zh-CN" sz="1800" baseline="-25000" dirty="0" err="1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A</a:t>
            </a:r>
            <a:r>
              <a:rPr lang="en-US" altLang="zh-CN" sz="18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&lt;B</a:t>
            </a:r>
            <a:r>
              <a:rPr lang="en-US" altLang="zh-CN" sz="18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 = ~Ov &amp; s</a:t>
            </a:r>
            <a:r>
              <a:rPr lang="en-US" altLang="zh-CN" sz="18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63</a:t>
            </a:r>
            <a:r>
              <a:rPr lang="en-US" altLang="zh-CN" sz="18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 | Ov &amp; ~s</a:t>
            </a:r>
            <a:r>
              <a:rPr lang="en-US" altLang="zh-CN" sz="1800" baseline="-25000" dirty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63</a:t>
            </a:r>
            <a:r>
              <a:rPr lang="en-US" altLang="zh-CN" sz="18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 </a:t>
            </a:r>
            <a:r>
              <a:rPr lang="en-US" altLang="zh-CN" sz="18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=  a</a:t>
            </a:r>
            <a:r>
              <a:rPr lang="en-US" altLang="zh-CN" sz="18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63</a:t>
            </a:r>
            <a:r>
              <a:rPr lang="en-US" altLang="zh-CN" sz="18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 &amp; s</a:t>
            </a:r>
            <a:r>
              <a:rPr lang="en-US" altLang="zh-CN" sz="1800" baseline="-25000" dirty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63</a:t>
            </a:r>
            <a:r>
              <a:rPr lang="en-US" altLang="zh-CN" sz="18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 | ~b</a:t>
            </a:r>
            <a:r>
              <a:rPr lang="en-US" altLang="zh-CN" sz="1800" baseline="-25000" dirty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63</a:t>
            </a:r>
            <a:r>
              <a:rPr lang="en-US" altLang="zh-CN" sz="18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 &amp; s</a:t>
            </a:r>
            <a:r>
              <a:rPr lang="en-US" altLang="zh-CN" sz="1800" baseline="-25000" dirty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63</a:t>
            </a:r>
            <a:r>
              <a:rPr lang="en-US" altLang="zh-CN" sz="18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 | a</a:t>
            </a:r>
            <a:r>
              <a:rPr lang="en-US" altLang="zh-CN" sz="1800" baseline="-25000" dirty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63</a:t>
            </a:r>
            <a:r>
              <a:rPr lang="en-US" altLang="zh-CN" sz="1800" dirty="0" smtClean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 &amp; ~</a:t>
            </a:r>
            <a:r>
              <a:rPr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b</a:t>
            </a:r>
            <a:r>
              <a:rPr lang="en-US" altLang="zh-CN" sz="1800" baseline="-25000" dirty="0">
                <a:latin typeface="宋体" panose="02000500000000000000" pitchFamily="2" charset="-122"/>
                <a:ea typeface="宋体" panose="02000500000000000000" pitchFamily="2" charset="-122"/>
                <a:cs typeface="Courier New" pitchFamily="49" charset="0"/>
              </a:rPr>
              <a:t>63</a:t>
            </a:r>
            <a:endParaRPr lang="en-US" altLang="zh-CN" sz="1800" baseline="-25000" dirty="0">
              <a:latin typeface="宋体" panose="02000500000000000000" pitchFamily="2" charset="-122"/>
              <a:ea typeface="宋体" panose="02000500000000000000" pitchFamily="2" charset="-122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zh-CN" altLang="en-US" sz="2000" dirty="0">
              <a:latin typeface="宋体" panose="02000500000000000000" pitchFamily="2" charset="-122"/>
              <a:ea typeface="宋体" panose="02000500000000000000" pitchFamily="2" charset="-122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839788" y="0"/>
            <a:ext cx="10361612" cy="1143000"/>
          </a:xfrm>
        </p:spPr>
        <p:txBody>
          <a:bodyPr/>
          <a:lstStyle/>
          <a:p>
            <a:r>
              <a:rPr lang="zh-CN" altLang="en-US" smtClean="0"/>
              <a:t>移位操作</a:t>
            </a:r>
            <a:endParaRPr lang="zh-CN" altLang="en-US" smtClean="0"/>
          </a:p>
        </p:txBody>
      </p:sp>
      <p:sp>
        <p:nvSpPr>
          <p:cNvPr id="33795" name="内容占位符 1"/>
          <p:cNvSpPr>
            <a:spLocks noGrp="1"/>
          </p:cNvSpPr>
          <p:nvPr>
            <p:ph idx="1"/>
          </p:nvPr>
        </p:nvSpPr>
        <p:spPr>
          <a:xfrm>
            <a:off x="914400" y="1452563"/>
            <a:ext cx="10361613" cy="4926012"/>
          </a:xfrm>
        </p:spPr>
        <p:txBody>
          <a:bodyPr/>
          <a:lstStyle/>
          <a:p>
            <a:pPr marL="342900" lvl="1" indent="-342900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移位操作：同时也是乘以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/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除以 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2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的幂次的运算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逻辑左移 （低位补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0</a:t>
            </a:r>
            <a:r>
              <a:rPr lang="zh-CN" altLang="en-US" sz="1800" dirty="0" smtClean="0">
                <a:latin typeface="+mn-ea"/>
                <a:cs typeface="Courier New" pitchFamily="49" charset="0"/>
              </a:rPr>
              <a:t>）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逻辑右移 （高位补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0</a:t>
            </a:r>
            <a:r>
              <a:rPr lang="zh-CN" altLang="en-US" sz="1800" dirty="0" smtClean="0">
                <a:latin typeface="+mn-ea"/>
                <a:cs typeface="Courier New" pitchFamily="49" charset="0"/>
              </a:rPr>
              <a:t>）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算数右移 （高位补符号位）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循环右移 （高位补右侧挤掉的数据）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例：将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32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位数 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0xABCD1234 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移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8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位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逻辑左移 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0xCD123400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逻辑右移 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0x00ABCD12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算数右移 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0xFFABCD12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  <a:cs typeface="Courier New" pitchFamily="49" charset="0"/>
              </a:rPr>
              <a:t>循环右移 </a:t>
            </a:r>
            <a:r>
              <a:rPr lang="en-US" altLang="zh-CN" sz="1800" dirty="0" smtClean="0">
                <a:latin typeface="+mn-ea"/>
                <a:cs typeface="Courier New" pitchFamily="49" charset="0"/>
              </a:rPr>
              <a:t>0x34ABCD12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endParaRPr lang="zh-CN" altLang="en-US" sz="1800" dirty="0" smtClean="0">
              <a:latin typeface="+mn-ea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标题 1"/>
          <p:cNvSpPr>
            <a:spLocks noGrp="1"/>
          </p:cNvSpPr>
          <p:nvPr>
            <p:ph type="title"/>
          </p:nvPr>
        </p:nvSpPr>
        <p:spPr>
          <a:xfrm>
            <a:off x="900113" y="0"/>
            <a:ext cx="10361612" cy="993775"/>
          </a:xfrm>
        </p:spPr>
        <p:txBody>
          <a:bodyPr/>
          <a:lstStyle/>
          <a:p>
            <a:r>
              <a:rPr lang="zh-CN" altLang="en-US" smtClean="0"/>
              <a:t>移位操作（二）</a:t>
            </a:r>
            <a:endParaRPr lang="zh-CN" altLang="en-US" smtClean="0"/>
          </a:p>
        </p:txBody>
      </p:sp>
      <p:sp>
        <p:nvSpPr>
          <p:cNvPr id="4100" name="内容占位符 1"/>
          <p:cNvSpPr>
            <a:spLocks noGrp="1"/>
          </p:cNvSpPr>
          <p:nvPr>
            <p:ph idx="1"/>
          </p:nvPr>
        </p:nvSpPr>
        <p:spPr>
          <a:xfrm>
            <a:off x="884238" y="911225"/>
            <a:ext cx="10361612" cy="21939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对于移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N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位数的移位操作，使用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N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选</a:t>
            </a:r>
            <a:r>
              <a:rPr lang="en-US" altLang="zh-CN" sz="2000" dirty="0" smtClean="0">
                <a:latin typeface="+mn-ea"/>
                <a:cs typeface="Courier New" pitchFamily="49" charset="0"/>
              </a:rPr>
              <a:t>1</a:t>
            </a:r>
            <a:r>
              <a:rPr lang="zh-CN" altLang="en-US" sz="2000" dirty="0" smtClean="0">
                <a:latin typeface="+mn-ea"/>
                <a:cs typeface="Courier New" pitchFamily="49" charset="0"/>
              </a:rPr>
              <a:t>来实现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600" dirty="0" smtClean="0">
                <a:latin typeface="+mn-ea"/>
                <a:cs typeface="Courier New" pitchFamily="49" charset="0"/>
              </a:rPr>
              <a:t>根据要移动的位数，从</a:t>
            </a:r>
            <a:r>
              <a:rPr lang="en-US" altLang="zh-CN" sz="1600" dirty="0" smtClean="0">
                <a:latin typeface="+mn-ea"/>
                <a:cs typeface="Courier New" pitchFamily="49" charset="0"/>
              </a:rPr>
              <a:t>N</a:t>
            </a:r>
            <a:r>
              <a:rPr lang="zh-CN" altLang="en-US" sz="1600" dirty="0" smtClean="0">
                <a:latin typeface="+mn-ea"/>
                <a:cs typeface="Courier New" pitchFamily="49" charset="0"/>
              </a:rPr>
              <a:t>个输入中选一个</a:t>
            </a:r>
            <a:endParaRPr lang="en-US" altLang="zh-CN" sz="16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600" dirty="0" smtClean="0">
                <a:latin typeface="+mn-ea"/>
                <a:cs typeface="Courier New" pitchFamily="49" charset="0"/>
              </a:rPr>
              <a:t>每个输入将输入移动特定位数，不需要延迟和逻辑</a:t>
            </a: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  <a:cs typeface="Courier New" pitchFamily="49" charset="0"/>
              </a:rPr>
              <a:t>每种移位结果再根据移位操作类型选择</a:t>
            </a:r>
            <a:endParaRPr lang="en-US" altLang="zh-CN" sz="20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endParaRPr lang="en-US" altLang="zh-CN" sz="1800" dirty="0" smtClean="0">
              <a:latin typeface="+mn-ea"/>
              <a:cs typeface="Courier New" pitchFamily="49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endParaRPr lang="zh-CN" altLang="en-US" sz="1800" dirty="0" smtClean="0">
              <a:latin typeface="+mn-ea"/>
              <a:cs typeface="Courier New" pitchFamily="49" charset="0"/>
            </a:endParaRPr>
          </a:p>
        </p:txBody>
      </p:sp>
      <p:graphicFrame>
        <p:nvGraphicFramePr>
          <p:cNvPr id="4098" name="对象 2"/>
          <p:cNvGraphicFramePr>
            <a:graphicFrameLocks noChangeAspect="1"/>
          </p:cNvGraphicFramePr>
          <p:nvPr/>
        </p:nvGraphicFramePr>
        <p:xfrm>
          <a:off x="571500" y="3284538"/>
          <a:ext cx="11271250" cy="345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Visio" r:id="rId1" imgW="8042910" imgH="3639820" progId="">
                  <p:embed/>
                </p:oleObj>
              </mc:Choice>
              <mc:Fallback>
                <p:oleObj name="Visio" r:id="rId1" imgW="8042910" imgH="3639820" progId="">
                  <p:embed/>
                  <p:pic>
                    <p:nvPicPr>
                      <p:cNvPr id="0" name="对象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1500" y="3284538"/>
                        <a:ext cx="11271250" cy="3459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30D0900-D831-4C86-B72F-7CE1B9F77BA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895600"/>
            <a:ext cx="10361613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补码乘法器设计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2B72BCF-F40E-4AF8-AC80-27FCBC5C2F65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3" y="201613"/>
            <a:ext cx="10361612" cy="549275"/>
          </a:xfrm>
        </p:spPr>
        <p:txBody>
          <a:bodyPr/>
          <a:lstStyle/>
          <a:p>
            <a:pPr eaLnBrk="1" hangingPunct="1"/>
            <a:r>
              <a:rPr lang="zh-CN" altLang="zh-CN" smtClean="0"/>
              <a:t>补码乘法</a:t>
            </a:r>
            <a:r>
              <a:rPr lang="zh-CN" altLang="en-US" smtClean="0"/>
              <a:t>原理</a:t>
            </a:r>
            <a:endParaRPr lang="zh-CN" altLang="en-US" smtClean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817563"/>
            <a:ext cx="11860213" cy="58102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[X]</a:t>
            </a:r>
            <a:r>
              <a:rPr lang="zh-CN" altLang="en-US" sz="20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20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</a:t>
            </a:r>
            <a:r>
              <a:rPr lang="en-US" altLang="zh-CN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[Y]</a:t>
            </a:r>
            <a:r>
              <a:rPr lang="zh-CN" altLang="en-US" sz="20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=[X+Y]</a:t>
            </a:r>
            <a:r>
              <a:rPr lang="zh-CN" altLang="en-US" sz="20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, </a:t>
            </a:r>
            <a:r>
              <a:rPr lang="zh-CN" altLang="en-US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但</a:t>
            </a:r>
            <a:r>
              <a:rPr lang="en-US" altLang="zh-CN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[X]</a:t>
            </a:r>
            <a:r>
              <a:rPr lang="zh-CN" altLang="en-US" sz="20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en-US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</a:t>
            </a:r>
            <a:r>
              <a:rPr lang="en-US" altLang="zh-CN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[Y]</a:t>
            </a:r>
            <a:r>
              <a:rPr lang="zh-CN" altLang="en-US" sz="20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2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!=[X*Y]</a:t>
            </a:r>
            <a:r>
              <a:rPr lang="zh-CN" altLang="en-US" sz="20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endParaRPr lang="zh-CN" altLang="en-US" sz="20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问题</a:t>
            </a:r>
            <a:r>
              <a:rPr lang="en-US" altLang="zh-CN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: </a:t>
            </a:r>
            <a:r>
              <a:rPr lang="zh-CN" altLang="en-US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已知</a:t>
            </a:r>
            <a:r>
              <a:rPr lang="en-US" altLang="zh-CN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[X]</a:t>
            </a:r>
            <a:r>
              <a:rPr lang="zh-CN" altLang="en-US" sz="2000" baseline="-25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en-US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和</a:t>
            </a:r>
            <a:r>
              <a:rPr lang="en-US" altLang="zh-CN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[Y]</a:t>
            </a:r>
            <a:r>
              <a:rPr lang="zh-CN" altLang="en-US" sz="2000" baseline="-25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, </a:t>
            </a:r>
            <a:r>
              <a:rPr lang="zh-CN" altLang="en-US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求</a:t>
            </a:r>
            <a:r>
              <a:rPr lang="en-US" altLang="zh-CN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[X*Y]</a:t>
            </a:r>
            <a:r>
              <a:rPr lang="zh-CN" altLang="en-US" sz="2000" baseline="-25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2000" dirty="0" smtClean="0">
                <a:solidFill>
                  <a:schemeClr val="accent2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.</a:t>
            </a:r>
            <a:endParaRPr lang="en-US" altLang="zh-CN" sz="2000" dirty="0" smtClean="0">
              <a:solidFill>
                <a:schemeClr val="accent2"/>
              </a:solidFill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若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[Y 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=y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……y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, </a:t>
            </a:r>
            <a:endParaRPr lang="en-US" altLang="zh-CN" sz="16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则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Y= -y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 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+……+y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+y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endParaRPr lang="en-US" altLang="zh-CN" sz="1600" baseline="300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[X*Y]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= [X*( -y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+……+y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+y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)]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endParaRPr lang="zh-CN" altLang="en-US" sz="1600" baseline="-250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           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=[</a:t>
            </a: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-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X*y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+X*y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+……+X*y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+X*y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endParaRPr lang="zh-CN" altLang="en-US" sz="1600" baseline="-250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           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=[</a:t>
            </a: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-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X*y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[X*y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……</a:t>
            </a:r>
            <a:r>
              <a:rPr lang="en-US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[X*y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[X*y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endParaRPr lang="zh-CN" altLang="en-US" sz="1600" baseline="-250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           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=[X 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</a:t>
            </a: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(-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)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+[X 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(y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)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+……+[X 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(y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)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+[X 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(y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) </a:t>
            </a:r>
            <a:r>
              <a:rPr lang="en-US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???</a:t>
            </a:r>
            <a:endParaRPr lang="en-US" altLang="zh-CN" sz="1600" baseline="-250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            =[X 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</a:t>
            </a: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(-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+……+y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+y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) = =[X 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Y</a:t>
            </a:r>
            <a:endParaRPr lang="en-US" altLang="zh-CN" sz="16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在推导中</a:t>
            </a:r>
            <a:r>
              <a:rPr lang="en-US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, [X ]</a:t>
            </a:r>
            <a:r>
              <a:rPr lang="zh-CN" altLang="en-US" sz="1600" baseline="-250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600" dirty="0" smtClean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符号位扩充到64位</a:t>
            </a:r>
            <a:endParaRPr lang="zh-CN" altLang="zh-CN" sz="1600" dirty="0" smtClean="0">
              <a:solidFill>
                <a:srgbClr val="FF0000"/>
              </a:solidFill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若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X= -x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……x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, 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则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[X*2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k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为对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00…0x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k-1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（</a:t>
            </a: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一共64位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）按位取反后加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1, 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结果为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: </a:t>
            </a:r>
            <a:endParaRPr lang="en-US" altLang="zh-CN" sz="16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      11…1 ^x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^x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…^x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k-1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…1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+1</a:t>
            </a:r>
            <a:endParaRPr lang="en-US" altLang="zh-CN" sz="16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   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= 11…1 ^x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^x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…^x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k-1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+10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k-1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 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= (11…1 ^x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^x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30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…^x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+1)0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k-1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…0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r>
              <a:rPr lang="en-US" altLang="zh-CN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0</a:t>
            </a:r>
            <a:endParaRPr lang="en-US" altLang="zh-CN" sz="16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   </a:t>
            </a: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这正是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[X ]</a:t>
            </a:r>
            <a:r>
              <a:rPr lang="zh-CN" altLang="en-US" sz="1600" baseline="-25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*</a:t>
            </a:r>
            <a:r>
              <a:rPr lang="zh-CN" altLang="en-US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2</a:t>
            </a:r>
            <a:r>
              <a:rPr lang="en-US" altLang="zh-CN" sz="1600" baseline="300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k</a:t>
            </a:r>
            <a:r>
              <a:rPr lang="zh-CN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的结果. </a:t>
            </a:r>
            <a:r>
              <a:rPr lang="en-US" altLang="zh-CN" sz="16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 </a:t>
            </a:r>
            <a:endParaRPr lang="zh-CN" altLang="zh-CN" sz="16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9B249F-5BCD-4776-BD3C-FEA0A6E297B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4500" y="1277938"/>
            <a:ext cx="11334750" cy="18621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 smtClean="0">
                <a:latin typeface="+mn-ea"/>
              </a:rPr>
              <a:t>[X*Y]</a:t>
            </a:r>
            <a:r>
              <a:rPr lang="zh-CN" altLang="en-US" sz="2000" baseline="-25000" dirty="0" smtClean="0">
                <a:latin typeface="+mn-ea"/>
              </a:rPr>
              <a:t>补</a:t>
            </a:r>
            <a:r>
              <a:rPr lang="en-US" altLang="zh-CN" sz="2000" dirty="0" smtClean="0">
                <a:latin typeface="+mn-ea"/>
              </a:rPr>
              <a:t>=[X ]</a:t>
            </a:r>
            <a:r>
              <a:rPr lang="zh-CN" altLang="en-US" sz="2000" baseline="-25000" dirty="0" smtClean="0">
                <a:latin typeface="+mn-ea"/>
              </a:rPr>
              <a:t>补</a:t>
            </a:r>
            <a:r>
              <a:rPr lang="zh-CN" altLang="zh-CN" sz="2000" dirty="0" smtClean="0">
                <a:latin typeface="+mn-ea"/>
              </a:rPr>
              <a:t>*(-</a:t>
            </a:r>
            <a:r>
              <a:rPr lang="en-US" altLang="zh-CN" sz="2000" dirty="0" smtClean="0">
                <a:latin typeface="+mn-ea"/>
              </a:rPr>
              <a:t>y</a:t>
            </a:r>
            <a:r>
              <a:rPr lang="en-US" altLang="zh-CN" sz="2000" baseline="-25000" dirty="0" smtClean="0">
                <a:latin typeface="+mn-ea"/>
              </a:rPr>
              <a:t>31</a:t>
            </a:r>
            <a:r>
              <a:rPr lang="en-US" altLang="zh-CN" sz="2000" dirty="0" smtClean="0">
                <a:latin typeface="+mn-ea"/>
              </a:rPr>
              <a:t>*2</a:t>
            </a:r>
            <a:r>
              <a:rPr lang="en-US" altLang="zh-CN" sz="2000" baseline="30000" dirty="0" smtClean="0">
                <a:latin typeface="+mn-ea"/>
              </a:rPr>
              <a:t>31 </a:t>
            </a:r>
            <a:r>
              <a:rPr lang="en-US" altLang="zh-CN" sz="2000" dirty="0" smtClean="0">
                <a:latin typeface="+mn-ea"/>
              </a:rPr>
              <a:t>+y</a:t>
            </a:r>
            <a:r>
              <a:rPr lang="en-US" altLang="zh-CN" sz="2000" baseline="-25000" dirty="0" smtClean="0">
                <a:latin typeface="+mn-ea"/>
              </a:rPr>
              <a:t>30</a:t>
            </a:r>
            <a:r>
              <a:rPr lang="en-US" altLang="zh-CN" sz="2000" dirty="0" smtClean="0">
                <a:latin typeface="+mn-ea"/>
              </a:rPr>
              <a:t>*2</a:t>
            </a:r>
            <a:r>
              <a:rPr lang="en-US" altLang="zh-CN" sz="2000" baseline="30000" dirty="0" smtClean="0">
                <a:latin typeface="+mn-ea"/>
              </a:rPr>
              <a:t>30 </a:t>
            </a:r>
            <a:r>
              <a:rPr lang="en-US" altLang="zh-CN" sz="2000" dirty="0" smtClean="0">
                <a:latin typeface="+mn-ea"/>
              </a:rPr>
              <a:t>+……+y</a:t>
            </a:r>
            <a:r>
              <a:rPr lang="en-US" altLang="zh-CN" sz="2000" baseline="-25000" dirty="0" smtClean="0">
                <a:latin typeface="+mn-ea"/>
              </a:rPr>
              <a:t>1</a:t>
            </a:r>
            <a:r>
              <a:rPr lang="en-US" altLang="zh-CN" sz="2000" dirty="0" smtClean="0">
                <a:latin typeface="+mn-ea"/>
              </a:rPr>
              <a:t>*2</a:t>
            </a:r>
            <a:r>
              <a:rPr lang="en-US" altLang="zh-CN" sz="2000" baseline="30000" dirty="0" smtClean="0">
                <a:latin typeface="+mn-ea"/>
              </a:rPr>
              <a:t>1 </a:t>
            </a:r>
            <a:r>
              <a:rPr lang="en-US" altLang="zh-CN" sz="2000" dirty="0" smtClean="0">
                <a:latin typeface="+mn-ea"/>
              </a:rPr>
              <a:t>+y</a:t>
            </a:r>
            <a:r>
              <a:rPr lang="en-US" altLang="zh-CN" sz="2000" baseline="-25000" dirty="0" smtClean="0">
                <a:latin typeface="+mn-ea"/>
              </a:rPr>
              <a:t>0</a:t>
            </a:r>
            <a:r>
              <a:rPr lang="en-US" altLang="zh-CN" sz="2000" dirty="0" smtClean="0">
                <a:latin typeface="+mn-ea"/>
              </a:rPr>
              <a:t>*2</a:t>
            </a:r>
            <a:r>
              <a:rPr lang="en-US" altLang="zh-CN" sz="2000" baseline="30000" dirty="0" smtClean="0">
                <a:latin typeface="+mn-ea"/>
              </a:rPr>
              <a:t>0</a:t>
            </a:r>
            <a:r>
              <a:rPr lang="en-US" altLang="zh-CN" sz="2000" dirty="0" smtClean="0">
                <a:latin typeface="+mn-ea"/>
              </a:rPr>
              <a:t>)</a:t>
            </a:r>
            <a:endParaRPr lang="en-US" altLang="zh-CN" sz="2000" dirty="0" smtClean="0">
              <a:latin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</a:rPr>
              <a:t>与普通乘法类似，只是符号位乘项要变加为减</a:t>
            </a:r>
            <a:endParaRPr lang="zh-CN" altLang="en-US" sz="2000" dirty="0" smtClean="0">
              <a:latin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</a:rPr>
              <a:t>符号位的特殊性增加了电路复杂度</a:t>
            </a:r>
            <a:endParaRPr lang="zh-CN" altLang="en-US" sz="2000" dirty="0" smtClean="0">
              <a:latin typeface="+mn-ea"/>
            </a:endParaRPr>
          </a:p>
        </p:txBody>
      </p:sp>
      <p:sp>
        <p:nvSpPr>
          <p:cNvPr id="38918" name="Rectangle 5"/>
          <p:cNvSpPr>
            <a:spLocks noGrp="1" noChangeArrowheads="1"/>
          </p:cNvSpPr>
          <p:nvPr>
            <p:ph type="title"/>
          </p:nvPr>
        </p:nvSpPr>
        <p:spPr>
          <a:xfrm>
            <a:off x="830263" y="201613"/>
            <a:ext cx="10361612" cy="549275"/>
          </a:xfrm>
          <a:noFill/>
        </p:spPr>
        <p:txBody>
          <a:bodyPr/>
          <a:lstStyle/>
          <a:p>
            <a:pPr eaLnBrk="1" hangingPunct="1"/>
            <a:r>
              <a:rPr lang="zh-CN" altLang="zh-CN" smtClean="0"/>
              <a:t>补码乘法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315" y="3455670"/>
            <a:ext cx="6686550" cy="2592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148913-AEA0-4EA2-8924-830F335ABF35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220663" y="982663"/>
            <a:ext cx="11764962" cy="22113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2000" b="1" dirty="0">
                <a:latin typeface="+mn-ea"/>
                <a:ea typeface="+mn-ea"/>
              </a:rPr>
              <a:t>对</a:t>
            </a:r>
            <a:r>
              <a:rPr lang="zh-CN" altLang="zh-CN" sz="2000" b="1" dirty="0">
                <a:latin typeface="+mn-ea"/>
                <a:ea typeface="+mn-ea"/>
              </a:rPr>
              <a:t>(-</a:t>
            </a:r>
            <a:r>
              <a:rPr lang="en-US" altLang="zh-CN" sz="2000" b="1" dirty="0">
                <a:latin typeface="+mn-ea"/>
                <a:ea typeface="+mn-ea"/>
              </a:rPr>
              <a:t>y</a:t>
            </a:r>
            <a:r>
              <a:rPr lang="en-US" altLang="zh-CN" sz="2000" b="1" baseline="-25000" dirty="0">
                <a:latin typeface="+mn-ea"/>
                <a:ea typeface="+mn-ea"/>
              </a:rPr>
              <a:t>31</a:t>
            </a:r>
            <a:r>
              <a:rPr lang="en-US" altLang="zh-CN" sz="2000" b="1" dirty="0">
                <a:latin typeface="+mn-ea"/>
                <a:ea typeface="+mn-ea"/>
              </a:rPr>
              <a:t>*2</a:t>
            </a:r>
            <a:r>
              <a:rPr lang="en-US" altLang="zh-CN" sz="2000" b="1" baseline="30000" dirty="0">
                <a:latin typeface="+mn-ea"/>
                <a:ea typeface="+mn-ea"/>
              </a:rPr>
              <a:t>31 </a:t>
            </a:r>
            <a:r>
              <a:rPr lang="en-US" altLang="zh-CN" sz="2000" b="1" dirty="0">
                <a:latin typeface="+mn-ea"/>
                <a:ea typeface="+mn-ea"/>
              </a:rPr>
              <a:t>+y</a:t>
            </a:r>
            <a:r>
              <a:rPr lang="en-US" altLang="zh-CN" sz="2000" b="1" baseline="-25000" dirty="0">
                <a:latin typeface="+mn-ea"/>
                <a:ea typeface="+mn-ea"/>
              </a:rPr>
              <a:t>30</a:t>
            </a:r>
            <a:r>
              <a:rPr lang="en-US" altLang="zh-CN" sz="2000" b="1" dirty="0">
                <a:latin typeface="+mn-ea"/>
                <a:ea typeface="+mn-ea"/>
              </a:rPr>
              <a:t>*2</a:t>
            </a:r>
            <a:r>
              <a:rPr lang="en-US" altLang="zh-CN" sz="2000" b="1" baseline="30000" dirty="0">
                <a:latin typeface="+mn-ea"/>
                <a:ea typeface="+mn-ea"/>
              </a:rPr>
              <a:t>30 </a:t>
            </a:r>
            <a:r>
              <a:rPr lang="en-US" altLang="zh-CN" sz="2000" b="1" dirty="0">
                <a:latin typeface="+mn-ea"/>
                <a:ea typeface="+mn-ea"/>
              </a:rPr>
              <a:t>+……+y</a:t>
            </a:r>
            <a:r>
              <a:rPr lang="en-US" altLang="zh-CN" sz="2000" b="1" baseline="-25000" dirty="0">
                <a:latin typeface="+mn-ea"/>
                <a:ea typeface="+mn-ea"/>
              </a:rPr>
              <a:t>1</a:t>
            </a:r>
            <a:r>
              <a:rPr lang="en-US" altLang="zh-CN" sz="2000" b="1" dirty="0">
                <a:latin typeface="+mn-ea"/>
                <a:ea typeface="+mn-ea"/>
              </a:rPr>
              <a:t>*2</a:t>
            </a:r>
            <a:r>
              <a:rPr lang="en-US" altLang="zh-CN" sz="2000" b="1" baseline="30000" dirty="0">
                <a:latin typeface="+mn-ea"/>
                <a:ea typeface="+mn-ea"/>
              </a:rPr>
              <a:t>1 </a:t>
            </a:r>
            <a:r>
              <a:rPr lang="en-US" altLang="zh-CN" sz="2000" b="1" dirty="0">
                <a:latin typeface="+mn-ea"/>
                <a:ea typeface="+mn-ea"/>
              </a:rPr>
              <a:t>+y</a:t>
            </a:r>
            <a:r>
              <a:rPr lang="en-US" altLang="zh-CN" sz="2000" b="1" baseline="-25000" dirty="0">
                <a:latin typeface="+mn-ea"/>
                <a:ea typeface="+mn-ea"/>
              </a:rPr>
              <a:t>0</a:t>
            </a:r>
            <a:r>
              <a:rPr lang="en-US" altLang="zh-CN" sz="2000" b="1" dirty="0">
                <a:latin typeface="+mn-ea"/>
                <a:ea typeface="+mn-ea"/>
              </a:rPr>
              <a:t>*2</a:t>
            </a:r>
            <a:r>
              <a:rPr lang="en-US" altLang="zh-CN" sz="2000" b="1" baseline="30000" dirty="0">
                <a:latin typeface="+mn-ea"/>
                <a:ea typeface="+mn-ea"/>
              </a:rPr>
              <a:t>0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进行变换</a:t>
            </a:r>
            <a:endParaRPr lang="zh-CN" altLang="en-US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</a:pPr>
            <a:r>
              <a:rPr lang="zh-CN" altLang="zh-CN" sz="2000" b="1" dirty="0">
                <a:latin typeface="+mn-ea"/>
                <a:ea typeface="+mn-ea"/>
              </a:rPr>
              <a:t>   </a:t>
            </a:r>
            <a:r>
              <a:rPr lang="en-US" altLang="zh-CN" sz="2000" b="1" dirty="0">
                <a:latin typeface="+mn-ea"/>
                <a:ea typeface="+mn-ea"/>
              </a:rPr>
              <a:t> </a:t>
            </a:r>
            <a:r>
              <a:rPr lang="zh-CN" altLang="zh-CN" sz="2000" b="1" dirty="0">
                <a:latin typeface="+mn-ea"/>
                <a:ea typeface="+mn-ea"/>
              </a:rPr>
              <a:t> </a:t>
            </a:r>
            <a:r>
              <a:rPr lang="zh-CN" altLang="zh-CN" sz="1800" b="1" dirty="0">
                <a:latin typeface="+mn-ea"/>
                <a:ea typeface="+mn-ea"/>
              </a:rPr>
              <a:t>(-</a:t>
            </a:r>
            <a:r>
              <a:rPr lang="en-US" altLang="zh-CN" sz="1800" b="1" dirty="0">
                <a:latin typeface="+mn-ea"/>
                <a:ea typeface="+mn-ea"/>
              </a:rPr>
              <a:t>y</a:t>
            </a:r>
            <a:r>
              <a:rPr lang="en-US" altLang="zh-CN" sz="1800" b="1" baseline="-25000" dirty="0">
                <a:latin typeface="+mn-ea"/>
                <a:ea typeface="+mn-ea"/>
              </a:rPr>
              <a:t>31</a:t>
            </a:r>
            <a:r>
              <a:rPr lang="en-US" altLang="zh-CN" sz="1800" b="1" dirty="0">
                <a:latin typeface="+mn-ea"/>
                <a:ea typeface="+mn-ea"/>
              </a:rPr>
              <a:t>*2</a:t>
            </a:r>
            <a:r>
              <a:rPr lang="en-US" altLang="zh-CN" sz="1800" b="1" baseline="30000" dirty="0">
                <a:latin typeface="+mn-ea"/>
                <a:ea typeface="+mn-ea"/>
              </a:rPr>
              <a:t>31 </a:t>
            </a:r>
            <a:r>
              <a:rPr lang="en-US" altLang="zh-CN" sz="1800" b="1" dirty="0">
                <a:latin typeface="+mn-ea"/>
                <a:ea typeface="+mn-ea"/>
              </a:rPr>
              <a:t>+y</a:t>
            </a:r>
            <a:r>
              <a:rPr lang="en-US" altLang="zh-CN" sz="1800" b="1" baseline="-25000" dirty="0">
                <a:latin typeface="+mn-ea"/>
                <a:ea typeface="+mn-ea"/>
              </a:rPr>
              <a:t>30</a:t>
            </a:r>
            <a:r>
              <a:rPr lang="en-US" altLang="zh-CN" sz="1800" b="1" dirty="0">
                <a:latin typeface="+mn-ea"/>
                <a:ea typeface="+mn-ea"/>
              </a:rPr>
              <a:t>*2</a:t>
            </a:r>
            <a:r>
              <a:rPr lang="en-US" altLang="zh-CN" sz="1800" b="1" baseline="30000" dirty="0">
                <a:latin typeface="+mn-ea"/>
                <a:ea typeface="+mn-ea"/>
              </a:rPr>
              <a:t>30 </a:t>
            </a:r>
            <a:r>
              <a:rPr lang="en-US" altLang="zh-CN" sz="1800" b="1" dirty="0">
                <a:latin typeface="+mn-ea"/>
                <a:ea typeface="+mn-ea"/>
              </a:rPr>
              <a:t>+……+y</a:t>
            </a:r>
            <a:r>
              <a:rPr lang="en-US" altLang="zh-CN" sz="1800" b="1" baseline="-25000" dirty="0">
                <a:latin typeface="+mn-ea"/>
                <a:ea typeface="+mn-ea"/>
              </a:rPr>
              <a:t>1</a:t>
            </a:r>
            <a:r>
              <a:rPr lang="en-US" altLang="zh-CN" sz="1800" b="1" dirty="0">
                <a:latin typeface="+mn-ea"/>
                <a:ea typeface="+mn-ea"/>
              </a:rPr>
              <a:t>*2</a:t>
            </a:r>
            <a:r>
              <a:rPr lang="en-US" altLang="zh-CN" sz="1800" b="1" baseline="30000" dirty="0">
                <a:latin typeface="+mn-ea"/>
                <a:ea typeface="+mn-ea"/>
              </a:rPr>
              <a:t>1 </a:t>
            </a:r>
            <a:r>
              <a:rPr lang="en-US" altLang="zh-CN" sz="1800" b="1" dirty="0">
                <a:latin typeface="+mn-ea"/>
                <a:ea typeface="+mn-ea"/>
              </a:rPr>
              <a:t>+y</a:t>
            </a:r>
            <a:r>
              <a:rPr lang="en-US" altLang="zh-CN" sz="1800" b="1" baseline="-25000" dirty="0">
                <a:latin typeface="+mn-ea"/>
                <a:ea typeface="+mn-ea"/>
              </a:rPr>
              <a:t>0</a:t>
            </a:r>
            <a:r>
              <a:rPr lang="en-US" altLang="zh-CN" sz="1800" b="1" dirty="0">
                <a:latin typeface="+mn-ea"/>
                <a:ea typeface="+mn-ea"/>
              </a:rPr>
              <a:t>*2</a:t>
            </a:r>
            <a:r>
              <a:rPr lang="en-US" altLang="zh-CN" sz="1800" b="1" baseline="30000" dirty="0">
                <a:latin typeface="+mn-ea"/>
                <a:ea typeface="+mn-ea"/>
              </a:rPr>
              <a:t>0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18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dirty="0">
                <a:latin typeface="+mn-ea"/>
                <a:ea typeface="+mn-ea"/>
              </a:rPr>
              <a:t>   = (y</a:t>
            </a:r>
            <a:r>
              <a:rPr lang="en-US" altLang="zh-CN" sz="1800" b="1" baseline="-25000" dirty="0">
                <a:latin typeface="+mn-ea"/>
                <a:ea typeface="+mn-ea"/>
              </a:rPr>
              <a:t>30</a:t>
            </a:r>
            <a:r>
              <a:rPr lang="en-US" altLang="zh-CN" sz="1800" b="1" dirty="0">
                <a:latin typeface="+mn-ea"/>
                <a:ea typeface="+mn-ea"/>
              </a:rPr>
              <a:t>-y</a:t>
            </a:r>
            <a:r>
              <a:rPr lang="en-US" altLang="zh-CN" sz="1800" b="1" baseline="-25000" dirty="0">
                <a:latin typeface="+mn-ea"/>
                <a:ea typeface="+mn-ea"/>
              </a:rPr>
              <a:t>31</a:t>
            </a:r>
            <a:r>
              <a:rPr lang="en-US" altLang="zh-CN" sz="1800" b="1" dirty="0">
                <a:latin typeface="+mn-ea"/>
                <a:ea typeface="+mn-ea"/>
              </a:rPr>
              <a:t>) *2</a:t>
            </a:r>
            <a:r>
              <a:rPr lang="en-US" altLang="zh-CN" sz="1800" b="1" baseline="30000" dirty="0">
                <a:latin typeface="+mn-ea"/>
                <a:ea typeface="+mn-ea"/>
              </a:rPr>
              <a:t>31 </a:t>
            </a:r>
            <a:r>
              <a:rPr lang="en-US" altLang="zh-CN" sz="1800" b="1" dirty="0">
                <a:latin typeface="+mn-ea"/>
                <a:ea typeface="+mn-ea"/>
              </a:rPr>
              <a:t>+ (y</a:t>
            </a:r>
            <a:r>
              <a:rPr lang="en-US" altLang="zh-CN" sz="1800" b="1" baseline="-25000" dirty="0">
                <a:latin typeface="+mn-ea"/>
                <a:ea typeface="+mn-ea"/>
              </a:rPr>
              <a:t>29</a:t>
            </a:r>
            <a:r>
              <a:rPr lang="en-US" altLang="zh-CN" sz="1800" b="1" dirty="0">
                <a:latin typeface="+mn-ea"/>
                <a:ea typeface="+mn-ea"/>
              </a:rPr>
              <a:t>-y</a:t>
            </a:r>
            <a:r>
              <a:rPr lang="en-US" altLang="zh-CN" sz="1800" b="1" baseline="-25000" dirty="0">
                <a:latin typeface="+mn-ea"/>
                <a:ea typeface="+mn-ea"/>
              </a:rPr>
              <a:t>30</a:t>
            </a:r>
            <a:r>
              <a:rPr lang="en-US" altLang="zh-CN" sz="1800" b="1" dirty="0">
                <a:latin typeface="+mn-ea"/>
                <a:ea typeface="+mn-ea"/>
              </a:rPr>
              <a:t>) *2</a:t>
            </a:r>
            <a:r>
              <a:rPr lang="en-US" altLang="zh-CN" sz="1800" b="1" baseline="30000" dirty="0">
                <a:latin typeface="+mn-ea"/>
                <a:ea typeface="+mn-ea"/>
              </a:rPr>
              <a:t>30 </a:t>
            </a:r>
            <a:r>
              <a:rPr lang="en-US" altLang="zh-CN" sz="1800" b="1" dirty="0">
                <a:latin typeface="+mn-ea"/>
                <a:ea typeface="+mn-ea"/>
              </a:rPr>
              <a:t>+ ……+ (y</a:t>
            </a:r>
            <a:r>
              <a:rPr lang="en-US" altLang="zh-CN" sz="1800" b="1" baseline="-25000" dirty="0">
                <a:latin typeface="+mn-ea"/>
                <a:ea typeface="+mn-ea"/>
              </a:rPr>
              <a:t>0</a:t>
            </a:r>
            <a:r>
              <a:rPr lang="en-US" altLang="zh-CN" sz="1800" b="1" dirty="0">
                <a:latin typeface="+mn-ea"/>
                <a:ea typeface="+mn-ea"/>
              </a:rPr>
              <a:t>-y</a:t>
            </a:r>
            <a:r>
              <a:rPr lang="en-US" altLang="zh-CN" sz="1800" b="1" baseline="-25000" dirty="0">
                <a:latin typeface="+mn-ea"/>
                <a:ea typeface="+mn-ea"/>
              </a:rPr>
              <a:t>1</a:t>
            </a:r>
            <a:r>
              <a:rPr lang="en-US" altLang="zh-CN" sz="1800" b="1" dirty="0">
                <a:latin typeface="+mn-ea"/>
                <a:ea typeface="+mn-ea"/>
              </a:rPr>
              <a:t>) *2</a:t>
            </a:r>
            <a:r>
              <a:rPr lang="en-US" altLang="zh-CN" sz="1800" b="1" baseline="30000" dirty="0">
                <a:latin typeface="+mn-ea"/>
                <a:ea typeface="+mn-ea"/>
              </a:rPr>
              <a:t>1 </a:t>
            </a:r>
            <a:r>
              <a:rPr lang="en-US" altLang="zh-CN" sz="1800" b="1" dirty="0">
                <a:latin typeface="+mn-ea"/>
                <a:ea typeface="+mn-ea"/>
              </a:rPr>
              <a:t>+ (y</a:t>
            </a:r>
            <a:r>
              <a:rPr lang="en-US" altLang="zh-CN" sz="1800" b="1" baseline="-25000" dirty="0">
                <a:latin typeface="+mn-ea"/>
                <a:ea typeface="+mn-ea"/>
              </a:rPr>
              <a:t>-1</a:t>
            </a:r>
            <a:r>
              <a:rPr lang="en-US" altLang="zh-CN" sz="1800" b="1" dirty="0">
                <a:latin typeface="+mn-ea"/>
                <a:ea typeface="+mn-ea"/>
              </a:rPr>
              <a:t>-y</a:t>
            </a:r>
            <a:r>
              <a:rPr lang="en-US" altLang="zh-CN" sz="1800" b="1" baseline="-25000" dirty="0">
                <a:latin typeface="+mn-ea"/>
                <a:ea typeface="+mn-ea"/>
              </a:rPr>
              <a:t>0</a:t>
            </a:r>
            <a:r>
              <a:rPr lang="en-US" altLang="zh-CN" sz="1800" b="1" dirty="0">
                <a:latin typeface="+mn-ea"/>
                <a:ea typeface="+mn-ea"/>
              </a:rPr>
              <a:t>) *2</a:t>
            </a:r>
            <a:r>
              <a:rPr lang="en-US" altLang="zh-CN" sz="1800" b="1" baseline="30000" dirty="0">
                <a:latin typeface="+mn-ea"/>
                <a:ea typeface="+mn-ea"/>
              </a:rPr>
              <a:t>0</a:t>
            </a:r>
            <a:endParaRPr lang="en-US" altLang="zh-CN" sz="1800" b="1" baseline="300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zh-CN" sz="2000" b="1" dirty="0">
                <a:latin typeface="+mn-ea"/>
                <a:ea typeface="+mn-ea"/>
              </a:rPr>
              <a:t>每一项</a:t>
            </a:r>
            <a:r>
              <a:rPr lang="zh-CN" altLang="en-US" sz="2000" b="1" dirty="0">
                <a:latin typeface="+mn-ea"/>
                <a:ea typeface="+mn-ea"/>
              </a:rPr>
              <a:t>都一样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zh-CN" altLang="en-US" sz="2000" b="1" dirty="0">
                <a:latin typeface="+mn-ea"/>
                <a:ea typeface="+mn-ea"/>
              </a:rPr>
              <a:t>每次看两位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5127" name="Rectangle 6"/>
          <p:cNvSpPr>
            <a:spLocks noGrp="1" noChangeArrowheads="1"/>
          </p:cNvSpPr>
          <p:nvPr>
            <p:ph type="title"/>
          </p:nvPr>
        </p:nvSpPr>
        <p:spPr>
          <a:xfrm>
            <a:off x="889000" y="0"/>
            <a:ext cx="10361613" cy="1143000"/>
          </a:xfrm>
        </p:spPr>
        <p:txBody>
          <a:bodyPr/>
          <a:lstStyle/>
          <a:p>
            <a:pPr eaLnBrk="1" hangingPunct="1"/>
            <a:r>
              <a:rPr lang="en-US" altLang="zh-CN" smtClean="0"/>
              <a:t>Booth</a:t>
            </a:r>
            <a:r>
              <a:rPr lang="zh-CN" altLang="zh-CN" smtClean="0"/>
              <a:t>算法</a:t>
            </a:r>
            <a:endParaRPr lang="zh-CN" altLang="en-US" smtClean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885305" y="3935024"/>
          <a:ext cx="25527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052"/>
                <a:gridCol w="1209648"/>
              </a:tblGrid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y</a:t>
                      </a:r>
                      <a:r>
                        <a:rPr lang="en-US" sz="1800" b="1" kern="100" baseline="-25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i</a:t>
                      </a: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  y</a:t>
                      </a:r>
                      <a:r>
                        <a:rPr lang="en-US" sz="1800" b="1" kern="100" baseline="-25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i-1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操作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0   0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+0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0   1</a:t>
                      </a:r>
                      <a:endParaRPr lang="zh-CN" sz="1000" kern="10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+[X]</a:t>
                      </a:r>
                      <a:r>
                        <a:rPr lang="zh-CN" sz="1800" b="1" kern="100" baseline="-25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补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1   0</a:t>
                      </a:r>
                      <a:endParaRPr lang="zh-CN" sz="1000" kern="10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-[X]</a:t>
                      </a:r>
                      <a:r>
                        <a:rPr lang="zh-CN" sz="1800" b="1" kern="100" baseline="-25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补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1   1</a:t>
                      </a:r>
                      <a:endParaRPr lang="zh-CN" sz="1000" kern="10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/>
                        </a:rPr>
                        <a:t>+0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5" y="3322320"/>
            <a:ext cx="5203825" cy="3079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6013" y="6372225"/>
            <a:ext cx="2540000" cy="457200"/>
          </a:xfrm>
          <a:noFill/>
        </p:spPr>
        <p:txBody>
          <a:bodyPr/>
          <a:lstStyle/>
          <a:p>
            <a:fld id="{1614EE8F-A6D7-40B8-AC21-AD5300EA118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319088" y="939800"/>
            <a:ext cx="11764962" cy="2559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2000" b="1" dirty="0">
                <a:latin typeface="+mn-ea"/>
                <a:ea typeface="+mn-ea"/>
              </a:rPr>
              <a:t>对</a:t>
            </a:r>
            <a:r>
              <a:rPr lang="zh-CN" altLang="zh-CN" sz="2000" b="1" dirty="0">
                <a:latin typeface="+mn-ea"/>
                <a:ea typeface="+mn-ea"/>
              </a:rPr>
              <a:t>(-</a:t>
            </a:r>
            <a:r>
              <a:rPr lang="en-US" altLang="zh-CN" sz="2000" b="1" dirty="0">
                <a:latin typeface="+mn-ea"/>
                <a:ea typeface="+mn-ea"/>
              </a:rPr>
              <a:t>y</a:t>
            </a:r>
            <a:r>
              <a:rPr lang="en-US" altLang="zh-CN" sz="2000" b="1" baseline="-25000" dirty="0">
                <a:latin typeface="+mn-ea"/>
                <a:ea typeface="+mn-ea"/>
              </a:rPr>
              <a:t>31</a:t>
            </a:r>
            <a:r>
              <a:rPr lang="en-US" altLang="zh-CN" sz="2000" b="1" dirty="0">
                <a:latin typeface="+mn-ea"/>
                <a:ea typeface="+mn-ea"/>
              </a:rPr>
              <a:t>*2</a:t>
            </a:r>
            <a:r>
              <a:rPr lang="en-US" altLang="zh-CN" sz="2000" b="1" baseline="30000" dirty="0">
                <a:latin typeface="+mn-ea"/>
                <a:ea typeface="+mn-ea"/>
              </a:rPr>
              <a:t>31 </a:t>
            </a:r>
            <a:r>
              <a:rPr lang="en-US" altLang="zh-CN" sz="2000" b="1" dirty="0">
                <a:latin typeface="+mn-ea"/>
                <a:ea typeface="+mn-ea"/>
              </a:rPr>
              <a:t>+y</a:t>
            </a:r>
            <a:r>
              <a:rPr lang="en-US" altLang="zh-CN" sz="2000" b="1" baseline="-25000" dirty="0">
                <a:latin typeface="+mn-ea"/>
                <a:ea typeface="+mn-ea"/>
              </a:rPr>
              <a:t>30</a:t>
            </a:r>
            <a:r>
              <a:rPr lang="en-US" altLang="zh-CN" sz="2000" b="1" dirty="0">
                <a:latin typeface="+mn-ea"/>
                <a:ea typeface="+mn-ea"/>
              </a:rPr>
              <a:t>*2</a:t>
            </a:r>
            <a:r>
              <a:rPr lang="en-US" altLang="zh-CN" sz="2000" b="1" baseline="30000" dirty="0">
                <a:latin typeface="+mn-ea"/>
                <a:ea typeface="+mn-ea"/>
              </a:rPr>
              <a:t>30 </a:t>
            </a:r>
            <a:r>
              <a:rPr lang="en-US" altLang="zh-CN" sz="2000" b="1" dirty="0">
                <a:latin typeface="+mn-ea"/>
                <a:ea typeface="+mn-ea"/>
              </a:rPr>
              <a:t>+……+y</a:t>
            </a:r>
            <a:r>
              <a:rPr lang="en-US" altLang="zh-CN" sz="2000" b="1" baseline="-25000" dirty="0">
                <a:latin typeface="+mn-ea"/>
                <a:ea typeface="+mn-ea"/>
              </a:rPr>
              <a:t>1</a:t>
            </a:r>
            <a:r>
              <a:rPr lang="en-US" altLang="zh-CN" sz="2000" b="1" dirty="0">
                <a:latin typeface="+mn-ea"/>
                <a:ea typeface="+mn-ea"/>
              </a:rPr>
              <a:t>*2</a:t>
            </a:r>
            <a:r>
              <a:rPr lang="en-US" altLang="zh-CN" sz="2000" b="1" baseline="30000" dirty="0">
                <a:latin typeface="+mn-ea"/>
                <a:ea typeface="+mn-ea"/>
              </a:rPr>
              <a:t>1 </a:t>
            </a:r>
            <a:r>
              <a:rPr lang="en-US" altLang="zh-CN" sz="2000" b="1" dirty="0">
                <a:latin typeface="+mn-ea"/>
                <a:ea typeface="+mn-ea"/>
              </a:rPr>
              <a:t>+y</a:t>
            </a:r>
            <a:r>
              <a:rPr lang="en-US" altLang="zh-CN" sz="2000" b="1" baseline="-25000" dirty="0">
                <a:latin typeface="+mn-ea"/>
                <a:ea typeface="+mn-ea"/>
              </a:rPr>
              <a:t>0</a:t>
            </a:r>
            <a:r>
              <a:rPr lang="en-US" altLang="zh-CN" sz="2000" b="1" dirty="0">
                <a:latin typeface="+mn-ea"/>
                <a:ea typeface="+mn-ea"/>
              </a:rPr>
              <a:t>*2</a:t>
            </a:r>
            <a:r>
              <a:rPr lang="en-US" altLang="zh-CN" sz="2000" b="1" baseline="30000" dirty="0">
                <a:latin typeface="+mn-ea"/>
                <a:ea typeface="+mn-ea"/>
              </a:rPr>
              <a:t>0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进行变换</a:t>
            </a:r>
            <a:endParaRPr lang="zh-CN" altLang="en-US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</a:pPr>
            <a:r>
              <a:rPr lang="zh-CN" altLang="zh-CN" sz="2400" b="1" dirty="0">
                <a:latin typeface="+mn-ea"/>
                <a:ea typeface="+mn-ea"/>
              </a:rPr>
              <a:t>    </a:t>
            </a:r>
            <a:r>
              <a:rPr lang="zh-CN" altLang="zh-CN" sz="1600" b="1" dirty="0">
                <a:latin typeface="+mn-ea"/>
                <a:ea typeface="+mn-ea"/>
              </a:rPr>
              <a:t>(-</a:t>
            </a:r>
            <a:r>
              <a:rPr lang="en-US" altLang="zh-CN" sz="1600" b="1" dirty="0">
                <a:latin typeface="+mn-ea"/>
                <a:ea typeface="+mn-ea"/>
              </a:rPr>
              <a:t>y</a:t>
            </a:r>
            <a:r>
              <a:rPr lang="en-US" altLang="zh-CN" sz="1600" b="1" baseline="-25000" dirty="0">
                <a:latin typeface="+mn-ea"/>
                <a:ea typeface="+mn-ea"/>
              </a:rPr>
              <a:t>31</a:t>
            </a:r>
            <a:r>
              <a:rPr lang="en-US" altLang="zh-CN" sz="1600" b="1" dirty="0">
                <a:latin typeface="+mn-ea"/>
                <a:ea typeface="+mn-ea"/>
              </a:rPr>
              <a:t>*2</a:t>
            </a:r>
            <a:r>
              <a:rPr lang="en-US" altLang="zh-CN" sz="1600" b="1" baseline="30000" dirty="0">
                <a:latin typeface="+mn-ea"/>
                <a:ea typeface="+mn-ea"/>
              </a:rPr>
              <a:t>31 </a:t>
            </a:r>
            <a:r>
              <a:rPr lang="en-US" altLang="zh-CN" sz="1600" b="1" dirty="0">
                <a:latin typeface="+mn-ea"/>
                <a:ea typeface="+mn-ea"/>
              </a:rPr>
              <a:t>+y</a:t>
            </a:r>
            <a:r>
              <a:rPr lang="en-US" altLang="zh-CN" sz="1600" b="1" baseline="-25000" dirty="0">
                <a:latin typeface="+mn-ea"/>
                <a:ea typeface="+mn-ea"/>
              </a:rPr>
              <a:t>30</a:t>
            </a:r>
            <a:r>
              <a:rPr lang="en-US" altLang="zh-CN" sz="1600" b="1" dirty="0">
                <a:latin typeface="+mn-ea"/>
                <a:ea typeface="+mn-ea"/>
              </a:rPr>
              <a:t>*2</a:t>
            </a:r>
            <a:r>
              <a:rPr lang="en-US" altLang="zh-CN" sz="1600" b="1" baseline="30000" dirty="0">
                <a:latin typeface="+mn-ea"/>
                <a:ea typeface="+mn-ea"/>
              </a:rPr>
              <a:t>30 </a:t>
            </a:r>
            <a:r>
              <a:rPr lang="en-US" altLang="zh-CN" sz="1600" b="1" dirty="0">
                <a:latin typeface="+mn-ea"/>
                <a:ea typeface="+mn-ea"/>
              </a:rPr>
              <a:t>+……+y</a:t>
            </a:r>
            <a:r>
              <a:rPr lang="en-US" altLang="zh-CN" sz="1600" b="1" baseline="-25000" dirty="0">
                <a:latin typeface="+mn-ea"/>
                <a:ea typeface="+mn-ea"/>
              </a:rPr>
              <a:t>1</a:t>
            </a:r>
            <a:r>
              <a:rPr lang="en-US" altLang="zh-CN" sz="1600" b="1" dirty="0">
                <a:latin typeface="+mn-ea"/>
                <a:ea typeface="+mn-ea"/>
              </a:rPr>
              <a:t>*2</a:t>
            </a:r>
            <a:r>
              <a:rPr lang="en-US" altLang="zh-CN" sz="1600" b="1" baseline="30000" dirty="0">
                <a:latin typeface="+mn-ea"/>
                <a:ea typeface="+mn-ea"/>
              </a:rPr>
              <a:t>1 </a:t>
            </a:r>
            <a:r>
              <a:rPr lang="en-US" altLang="zh-CN" sz="1600" b="1" dirty="0">
                <a:latin typeface="+mn-ea"/>
                <a:ea typeface="+mn-ea"/>
              </a:rPr>
              <a:t>+y</a:t>
            </a:r>
            <a:r>
              <a:rPr lang="en-US" altLang="zh-CN" sz="1600" b="1" baseline="-25000" dirty="0">
                <a:latin typeface="+mn-ea"/>
                <a:ea typeface="+mn-ea"/>
              </a:rPr>
              <a:t>0</a:t>
            </a:r>
            <a:r>
              <a:rPr lang="en-US" altLang="zh-CN" sz="1600" b="1" dirty="0">
                <a:latin typeface="+mn-ea"/>
                <a:ea typeface="+mn-ea"/>
              </a:rPr>
              <a:t>*2</a:t>
            </a:r>
            <a:r>
              <a:rPr lang="en-US" altLang="zh-CN" sz="1600" b="1" baseline="30000" dirty="0">
                <a:latin typeface="+mn-ea"/>
                <a:ea typeface="+mn-ea"/>
              </a:rPr>
              <a:t>0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16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</a:pPr>
            <a:r>
              <a:rPr lang="en-US" altLang="zh-CN" sz="1600" b="1" dirty="0">
                <a:latin typeface="+mn-ea"/>
                <a:ea typeface="+mn-ea"/>
              </a:rPr>
              <a:t>   = (y</a:t>
            </a:r>
            <a:r>
              <a:rPr lang="en-US" altLang="zh-CN" sz="1600" b="1" baseline="-25000" dirty="0">
                <a:latin typeface="+mn-ea"/>
                <a:ea typeface="+mn-ea"/>
              </a:rPr>
              <a:t>29</a:t>
            </a:r>
            <a:r>
              <a:rPr lang="en-US" altLang="zh-CN" sz="1600" b="1" dirty="0">
                <a:latin typeface="+mn-ea"/>
                <a:ea typeface="+mn-ea"/>
              </a:rPr>
              <a:t>+y</a:t>
            </a:r>
            <a:r>
              <a:rPr lang="en-US" altLang="zh-CN" sz="1600" b="1" baseline="-25000" dirty="0">
                <a:latin typeface="+mn-ea"/>
                <a:ea typeface="+mn-ea"/>
              </a:rPr>
              <a:t>30</a:t>
            </a:r>
            <a:r>
              <a:rPr lang="en-US" altLang="zh-CN" sz="1600" b="1" dirty="0">
                <a:latin typeface="+mn-ea"/>
                <a:ea typeface="+mn-ea"/>
              </a:rPr>
              <a:t>-2*y</a:t>
            </a:r>
            <a:r>
              <a:rPr lang="en-US" altLang="zh-CN" sz="1600" b="1" baseline="-25000" dirty="0">
                <a:latin typeface="+mn-ea"/>
                <a:ea typeface="+mn-ea"/>
              </a:rPr>
              <a:t>31</a:t>
            </a:r>
            <a:r>
              <a:rPr lang="en-US" altLang="zh-CN" sz="1600" b="1" dirty="0">
                <a:latin typeface="+mn-ea"/>
                <a:ea typeface="+mn-ea"/>
              </a:rPr>
              <a:t>) *2</a:t>
            </a:r>
            <a:r>
              <a:rPr lang="en-US" altLang="zh-CN" sz="1600" b="1" baseline="30000" dirty="0">
                <a:latin typeface="+mn-ea"/>
                <a:ea typeface="+mn-ea"/>
              </a:rPr>
              <a:t>30 </a:t>
            </a:r>
            <a:r>
              <a:rPr lang="en-US" altLang="zh-CN" sz="1600" b="1" dirty="0">
                <a:latin typeface="+mn-ea"/>
                <a:ea typeface="+mn-ea"/>
              </a:rPr>
              <a:t>+ (y</a:t>
            </a:r>
            <a:r>
              <a:rPr lang="en-US" altLang="zh-CN" sz="1600" b="1" baseline="-25000" dirty="0">
                <a:latin typeface="+mn-ea"/>
                <a:ea typeface="+mn-ea"/>
              </a:rPr>
              <a:t>27</a:t>
            </a:r>
            <a:r>
              <a:rPr lang="en-US" altLang="zh-CN" sz="1600" b="1" dirty="0">
                <a:latin typeface="+mn-ea"/>
                <a:ea typeface="+mn-ea"/>
              </a:rPr>
              <a:t>+y</a:t>
            </a:r>
            <a:r>
              <a:rPr lang="en-US" altLang="zh-CN" sz="1600" b="1" baseline="-25000" dirty="0">
                <a:latin typeface="+mn-ea"/>
                <a:ea typeface="+mn-ea"/>
              </a:rPr>
              <a:t>28</a:t>
            </a:r>
            <a:r>
              <a:rPr lang="en-US" altLang="zh-CN" sz="1600" b="1" dirty="0">
                <a:latin typeface="+mn-ea"/>
                <a:ea typeface="+mn-ea"/>
              </a:rPr>
              <a:t>-2*y</a:t>
            </a:r>
            <a:r>
              <a:rPr lang="en-US" altLang="zh-CN" sz="1600" b="1" baseline="-25000" dirty="0">
                <a:latin typeface="+mn-ea"/>
                <a:ea typeface="+mn-ea"/>
              </a:rPr>
              <a:t>29</a:t>
            </a:r>
            <a:r>
              <a:rPr lang="en-US" altLang="zh-CN" sz="1600" b="1" dirty="0">
                <a:latin typeface="+mn-ea"/>
                <a:ea typeface="+mn-ea"/>
              </a:rPr>
              <a:t>) *2</a:t>
            </a:r>
            <a:r>
              <a:rPr lang="en-US" altLang="zh-CN" sz="1600" b="1" baseline="30000" dirty="0">
                <a:latin typeface="+mn-ea"/>
                <a:ea typeface="+mn-ea"/>
              </a:rPr>
              <a:t>28 </a:t>
            </a:r>
            <a:r>
              <a:rPr lang="en-US" altLang="zh-CN" sz="1600" b="1" dirty="0">
                <a:latin typeface="+mn-ea"/>
                <a:ea typeface="+mn-ea"/>
              </a:rPr>
              <a:t>+ ……+ (y</a:t>
            </a:r>
            <a:r>
              <a:rPr lang="en-US" altLang="zh-CN" sz="1600" b="1" baseline="-25000" dirty="0">
                <a:latin typeface="+mn-ea"/>
                <a:ea typeface="+mn-ea"/>
              </a:rPr>
              <a:t>1</a:t>
            </a:r>
            <a:r>
              <a:rPr lang="en-US" altLang="zh-CN" sz="1600" b="1" dirty="0">
                <a:latin typeface="+mn-ea"/>
                <a:ea typeface="+mn-ea"/>
              </a:rPr>
              <a:t>+y</a:t>
            </a:r>
            <a:r>
              <a:rPr lang="en-US" altLang="zh-CN" sz="1600" b="1" baseline="-25000" dirty="0">
                <a:latin typeface="+mn-ea"/>
                <a:ea typeface="+mn-ea"/>
              </a:rPr>
              <a:t>2</a:t>
            </a:r>
            <a:r>
              <a:rPr lang="en-US" altLang="zh-CN" sz="1600" b="1" dirty="0">
                <a:latin typeface="+mn-ea"/>
                <a:ea typeface="+mn-ea"/>
              </a:rPr>
              <a:t>-2*y</a:t>
            </a:r>
            <a:r>
              <a:rPr lang="en-US" altLang="zh-CN" sz="1600" b="1" baseline="-25000" dirty="0">
                <a:latin typeface="+mn-ea"/>
                <a:ea typeface="+mn-ea"/>
              </a:rPr>
              <a:t>3</a:t>
            </a:r>
            <a:r>
              <a:rPr lang="en-US" altLang="zh-CN" sz="1600" b="1" dirty="0">
                <a:latin typeface="+mn-ea"/>
                <a:ea typeface="+mn-ea"/>
              </a:rPr>
              <a:t>) *2</a:t>
            </a:r>
            <a:r>
              <a:rPr lang="en-US" altLang="zh-CN" sz="1600" b="1" baseline="30000" dirty="0">
                <a:latin typeface="+mn-ea"/>
                <a:ea typeface="+mn-ea"/>
              </a:rPr>
              <a:t>2 </a:t>
            </a:r>
            <a:r>
              <a:rPr lang="en-US" altLang="zh-CN" sz="1600" b="1" dirty="0">
                <a:latin typeface="+mn-ea"/>
                <a:ea typeface="+mn-ea"/>
              </a:rPr>
              <a:t>+ (y-</a:t>
            </a:r>
            <a:r>
              <a:rPr lang="en-US" altLang="zh-CN" sz="1600" b="1" baseline="-25000" dirty="0">
                <a:latin typeface="+mn-ea"/>
                <a:ea typeface="+mn-ea"/>
              </a:rPr>
              <a:t>1</a:t>
            </a:r>
            <a:r>
              <a:rPr lang="en-US" altLang="zh-CN" sz="1600" b="1" dirty="0">
                <a:latin typeface="+mn-ea"/>
                <a:ea typeface="+mn-ea"/>
              </a:rPr>
              <a:t>+y</a:t>
            </a:r>
            <a:r>
              <a:rPr lang="en-US" altLang="zh-CN" sz="1600" b="1" baseline="-25000" dirty="0">
                <a:latin typeface="+mn-ea"/>
                <a:ea typeface="+mn-ea"/>
              </a:rPr>
              <a:t>0</a:t>
            </a:r>
            <a:r>
              <a:rPr lang="en-US" altLang="zh-CN" sz="1600" b="1" dirty="0">
                <a:latin typeface="+mn-ea"/>
                <a:ea typeface="+mn-ea"/>
              </a:rPr>
              <a:t>-2*y</a:t>
            </a:r>
            <a:r>
              <a:rPr lang="en-US" altLang="zh-CN" sz="1600" b="1" baseline="-25000" dirty="0">
                <a:latin typeface="+mn-ea"/>
                <a:ea typeface="+mn-ea"/>
              </a:rPr>
              <a:t>1</a:t>
            </a:r>
            <a:r>
              <a:rPr lang="en-US" altLang="zh-CN" sz="1600" b="1" dirty="0">
                <a:latin typeface="+mn-ea"/>
                <a:ea typeface="+mn-ea"/>
              </a:rPr>
              <a:t>) *2</a:t>
            </a:r>
            <a:r>
              <a:rPr lang="en-US" altLang="zh-CN" sz="1600" b="1" baseline="30000" dirty="0">
                <a:latin typeface="+mn-ea"/>
                <a:ea typeface="+mn-ea"/>
              </a:rPr>
              <a:t>0</a:t>
            </a:r>
            <a:endParaRPr lang="en-US" altLang="zh-CN" sz="1600" b="1" baseline="300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zh-CN" sz="2000" b="1" dirty="0">
                <a:latin typeface="+mn-ea"/>
                <a:ea typeface="+mn-ea"/>
              </a:rPr>
              <a:t>每一项</a:t>
            </a:r>
            <a:r>
              <a:rPr lang="zh-CN" altLang="en-US" sz="2000" b="1" dirty="0">
                <a:latin typeface="+mn-ea"/>
                <a:ea typeface="+mn-ea"/>
              </a:rPr>
              <a:t>都一样，每次看三位，只要</a:t>
            </a:r>
            <a:r>
              <a:rPr lang="en-US" altLang="zh-CN" sz="2000" b="1" dirty="0">
                <a:latin typeface="+mn-ea"/>
                <a:ea typeface="+mn-ea"/>
              </a:rPr>
              <a:t>16</a:t>
            </a:r>
            <a:r>
              <a:rPr lang="zh-CN" altLang="en-US" sz="2000" b="1" dirty="0">
                <a:latin typeface="+mn-ea"/>
                <a:ea typeface="+mn-ea"/>
              </a:rPr>
              <a:t>项相加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6151" name="Rectangle 6"/>
          <p:cNvSpPr>
            <a:spLocks noGrp="1" noChangeArrowheads="1"/>
          </p:cNvSpPr>
          <p:nvPr>
            <p:ph type="title"/>
          </p:nvPr>
        </p:nvSpPr>
        <p:spPr>
          <a:xfrm>
            <a:off x="965200" y="0"/>
            <a:ext cx="10361613" cy="1143000"/>
          </a:xfrm>
        </p:spPr>
        <p:txBody>
          <a:bodyPr/>
          <a:lstStyle/>
          <a:p>
            <a:pPr eaLnBrk="1" hangingPunct="1"/>
            <a:r>
              <a:rPr lang="en-US" altLang="zh-CN" smtClean="0"/>
              <a:t>Booth</a:t>
            </a:r>
            <a:r>
              <a:rPr lang="zh-CN" altLang="zh-CN" smtClean="0"/>
              <a:t>二位一乘算法</a:t>
            </a:r>
            <a:endParaRPr lang="zh-CN" altLang="en-US" smtClean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060935" y="3344474"/>
          <a:ext cx="29212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965"/>
                <a:gridCol w="1384300"/>
              </a:tblGrid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y</a:t>
                      </a:r>
                      <a:r>
                        <a:rPr lang="en-US" sz="1800" b="1" kern="100" baseline="-25000" dirty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i+1</a:t>
                      </a: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 </a:t>
                      </a:r>
                      <a:r>
                        <a:rPr lang="en-US" sz="1800" b="1" kern="100" dirty="0" err="1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y</a:t>
                      </a:r>
                      <a:r>
                        <a:rPr lang="en-US" sz="1800" b="1" kern="100" baseline="-25000" dirty="0" err="1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i</a:t>
                      </a:r>
                      <a:r>
                        <a:rPr lang="en-US" sz="1800" b="1" kern="100" dirty="0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 y</a:t>
                      </a:r>
                      <a:r>
                        <a:rPr lang="en-US" sz="1800" b="1" kern="100" baseline="-25000" dirty="0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i-1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操作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0   0   0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+0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0   0   1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0   1   0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0   1   1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+2[X]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1   0   0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-2[X]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1   0   1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-[X]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1   1   0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-[X]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1   1   1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340" y="3498850"/>
            <a:ext cx="4445000" cy="2447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xfrm>
            <a:off x="855663" y="158750"/>
            <a:ext cx="10361612" cy="1143000"/>
          </a:xfrm>
        </p:spPr>
        <p:txBody>
          <a:bodyPr/>
          <a:lstStyle/>
          <a:p>
            <a:r>
              <a:rPr lang="en-US" altLang="zh-CN" smtClean="0"/>
              <a:t>Booth</a:t>
            </a:r>
            <a:r>
              <a:rPr lang="zh-CN" altLang="en-US" smtClean="0"/>
              <a:t>两位乘</a:t>
            </a:r>
            <a:endParaRPr lang="zh-CN" altLang="en-US" smtClean="0"/>
          </a:p>
        </p:txBody>
      </p:sp>
      <p:sp>
        <p:nvSpPr>
          <p:cNvPr id="39947" name="文本框 2"/>
          <p:cNvSpPr txBox="1">
            <a:spLocks noChangeArrowheads="1"/>
          </p:cNvSpPr>
          <p:nvPr/>
        </p:nvSpPr>
        <p:spPr bwMode="auto">
          <a:xfrm>
            <a:off x="1846580" y="4756150"/>
            <a:ext cx="8379460" cy="1476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50000"/>
              </a:lnSpc>
              <a:spcBef>
                <a:spcPct val="0"/>
              </a:spcBef>
              <a:buFont typeface="Arial" panose="02080604020202020204" pitchFamily="34" charset="0"/>
              <a:buChar char="•"/>
            </a:pPr>
            <a:r>
              <a:rPr lang="zh-CN" altLang="en-US" sz="2000" b="1">
                <a:latin typeface="宋体" panose="02000500000000000000" pitchFamily="2" charset="-122"/>
                <a:cs typeface="宋体" panose="02000500000000000000" pitchFamily="2" charset="-122"/>
              </a:rPr>
              <a:t>循环次数降低一倍</a:t>
            </a:r>
            <a:endParaRPr lang="en-US" altLang="zh-CN" sz="20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 eaLnBrk="0" hangingPunct="0">
              <a:lnSpc>
                <a:spcPct val="150000"/>
              </a:lnSpc>
              <a:spcBef>
                <a:spcPct val="0"/>
              </a:spcBef>
              <a:buFont typeface="Arial" panose="02080604020202020204" pitchFamily="34" charset="0"/>
              <a:buChar char="•"/>
            </a:pPr>
            <a:r>
              <a:rPr lang="zh-CN" altLang="en-US" sz="2000" b="1">
                <a:latin typeface="宋体" panose="02000500000000000000" pitchFamily="2" charset="-122"/>
                <a:cs typeface="宋体" panose="02000500000000000000" pitchFamily="2" charset="-122"/>
              </a:rPr>
              <a:t>每次循环算法一样</a:t>
            </a:r>
            <a:endParaRPr lang="en-US" altLang="zh-CN" sz="20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lvl="1" indent="-342900" eaLnBrk="0" hangingPunct="0">
              <a:lnSpc>
                <a:spcPct val="150000"/>
              </a:lnSpc>
              <a:spcBef>
                <a:spcPct val="0"/>
              </a:spcBef>
              <a:buFont typeface="Arial" panose="02080604020202020204" pitchFamily="34" charset="0"/>
              <a:buChar char="•"/>
            </a:pP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[X]</a:t>
            </a:r>
            <a:r>
              <a:rPr lang="zh-CN" altLang="en-US" sz="20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en-US" sz="2000" b="1">
                <a:latin typeface="宋体" panose="02000500000000000000" pitchFamily="2" charset="-122"/>
                <a:cs typeface="宋体" panose="02000500000000000000" pitchFamily="2" charset="-122"/>
              </a:rPr>
              <a:t>只有移</a:t>
            </a: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zh-CN" altLang="en-US" sz="2000" b="1">
                <a:latin typeface="宋体" panose="02000500000000000000" pitchFamily="2" charset="-122"/>
                <a:cs typeface="宋体" panose="02000500000000000000" pitchFamily="2" charset="-122"/>
              </a:rPr>
              <a:t>位和补码加减运算</a:t>
            </a:r>
            <a:r>
              <a:rPr lang="zh-CN" altLang="en-US" sz="2000" b="1">
                <a:solidFill>
                  <a:srgbClr val="FF0000"/>
                </a:solidFill>
                <a:latin typeface="宋体" panose="02000500000000000000" pitchFamily="2" charset="-122"/>
                <a:cs typeface="宋体" panose="02000500000000000000" pitchFamily="2" charset="-122"/>
              </a:rPr>
              <a:t>（两位一乘但不用乘</a:t>
            </a:r>
            <a:r>
              <a:rPr lang="en-US" altLang="zh-CN" sz="2000" b="1">
                <a:solidFill>
                  <a:srgbClr val="FF0000"/>
                </a:solidFill>
                <a:latin typeface="宋体" panose="02000500000000000000" pitchFamily="2" charset="-122"/>
                <a:cs typeface="宋体" panose="02000500000000000000" pitchFamily="2" charset="-122"/>
              </a:rPr>
              <a:t>3</a:t>
            </a:r>
            <a:r>
              <a:rPr lang="zh-CN" altLang="en-US" sz="2000" b="1">
                <a:solidFill>
                  <a:srgbClr val="FF0000"/>
                </a:solidFill>
                <a:latin typeface="宋体" panose="02000500000000000000" pitchFamily="2" charset="-122"/>
                <a:cs typeface="宋体" panose="02000500000000000000" pitchFamily="2" charset="-122"/>
              </a:rPr>
              <a:t>）</a:t>
            </a:r>
            <a:endParaRPr lang="zh-CN" altLang="en-US" sz="2000" b="1">
              <a:solidFill>
                <a:srgbClr val="FF0000"/>
              </a:solidFill>
              <a:latin typeface="宋体" panose="02000500000000000000" pitchFamily="2" charset="-122"/>
              <a:cs typeface="宋体" panose="02000500000000000000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0265" y="1504315"/>
            <a:ext cx="6665595" cy="3049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右箭头 50"/>
          <p:cNvSpPr/>
          <p:nvPr/>
        </p:nvSpPr>
        <p:spPr bwMode="auto">
          <a:xfrm>
            <a:off x="7532688" y="4967288"/>
            <a:ext cx="1982787" cy="21907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963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0DDE04-0B98-4959-BC08-1EE4E9C199C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40964" name="Rectangle 2"/>
          <p:cNvSpPr>
            <a:spLocks noChangeArrowheads="1"/>
          </p:cNvSpPr>
          <p:nvPr/>
        </p:nvSpPr>
        <p:spPr bwMode="auto">
          <a:xfrm>
            <a:off x="196850" y="1063625"/>
            <a:ext cx="11764963" cy="1477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zh-CN" sz="1800" b="1" dirty="0">
                <a:latin typeface="+mn-ea"/>
                <a:ea typeface="+mn-ea"/>
              </a:rPr>
              <a:t>以二位一乘为例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zh-CN" altLang="zh-CN" sz="1800" b="1" dirty="0">
                <a:latin typeface="+mn-ea"/>
                <a:ea typeface="+mn-ea"/>
              </a:rPr>
              <a:t>32位定点乘法需要把16个数相加</a:t>
            </a:r>
            <a:endParaRPr lang="zh-CN" altLang="zh-CN" sz="1800" b="1" dirty="0">
              <a:latin typeface="+mn-ea"/>
              <a:ea typeface="+mn-ea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zh-CN" sz="1600" b="1" dirty="0">
                <a:latin typeface="+mn-ea"/>
                <a:ea typeface="+mn-ea"/>
              </a:rPr>
              <a:t>可以用一个加法器加15次</a:t>
            </a:r>
            <a:r>
              <a:rPr lang="zh-CN" altLang="en-US" sz="1600" b="1" dirty="0">
                <a:latin typeface="+mn-ea"/>
                <a:ea typeface="+mn-ea"/>
              </a:rPr>
              <a:t>，</a:t>
            </a:r>
            <a:r>
              <a:rPr lang="zh-CN" altLang="zh-CN" sz="1600" b="1" dirty="0">
                <a:latin typeface="+mn-ea"/>
                <a:ea typeface="+mn-ea"/>
              </a:rPr>
              <a:t>需要15个时钟周期</a:t>
            </a:r>
            <a:endParaRPr lang="en-US" altLang="zh-CN" sz="18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1800" b="1" dirty="0">
                <a:latin typeface="+mn-ea"/>
                <a:ea typeface="+mn-ea"/>
              </a:rPr>
              <a:t>与普通移位乘法器的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输入选择</a:t>
            </a:r>
            <a:r>
              <a:rPr lang="zh-CN" altLang="en-US" sz="1800" b="1" dirty="0">
                <a:latin typeface="+mn-ea"/>
                <a:ea typeface="+mn-ea"/>
              </a:rPr>
              <a:t>不同：普通无符号移位乘法器的输入选择为</a:t>
            </a:r>
            <a:r>
              <a:rPr lang="en-US" altLang="zh-CN" sz="1800" b="1" dirty="0">
                <a:latin typeface="+mn-ea"/>
                <a:ea typeface="+mn-ea"/>
              </a:rPr>
              <a:t>32</a:t>
            </a:r>
            <a:r>
              <a:rPr lang="zh-CN" altLang="en-US" sz="1800" b="1" dirty="0">
                <a:latin typeface="+mn-ea"/>
                <a:ea typeface="+mn-ea"/>
              </a:rPr>
              <a:t>位门</a:t>
            </a:r>
            <a:endParaRPr lang="zh-CN" altLang="en-US" sz="1800" b="1" dirty="0">
              <a:latin typeface="+mn-ea"/>
              <a:ea typeface="+mn-ea"/>
            </a:endParaRPr>
          </a:p>
        </p:txBody>
      </p:sp>
      <p:grpSp>
        <p:nvGrpSpPr>
          <p:cNvPr id="40965" name="Group 3"/>
          <p:cNvGrpSpPr/>
          <p:nvPr/>
        </p:nvGrpSpPr>
        <p:grpSpPr bwMode="auto">
          <a:xfrm>
            <a:off x="1720850" y="2633663"/>
            <a:ext cx="6759575" cy="3935412"/>
            <a:chOff x="1372" y="1659"/>
            <a:chExt cx="3194" cy="2479"/>
          </a:xfrm>
        </p:grpSpPr>
        <p:grpSp>
          <p:nvGrpSpPr>
            <p:cNvPr id="40968" name="Group 4"/>
            <p:cNvGrpSpPr/>
            <p:nvPr/>
          </p:nvGrpSpPr>
          <p:grpSpPr bwMode="auto">
            <a:xfrm>
              <a:off x="2927" y="2409"/>
              <a:ext cx="1028" cy="461"/>
              <a:chOff x="1766" y="1966"/>
              <a:chExt cx="1030" cy="530"/>
            </a:xfrm>
          </p:grpSpPr>
          <p:sp>
            <p:nvSpPr>
              <p:cNvPr id="41004" name="Line 5"/>
              <p:cNvSpPr>
                <a:spLocks noChangeShapeType="1"/>
              </p:cNvSpPr>
              <p:nvPr/>
            </p:nvSpPr>
            <p:spPr bwMode="auto">
              <a:xfrm>
                <a:off x="2042" y="1966"/>
                <a:ext cx="47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5" name="Line 6"/>
              <p:cNvSpPr>
                <a:spLocks noChangeShapeType="1"/>
              </p:cNvSpPr>
              <p:nvPr/>
            </p:nvSpPr>
            <p:spPr bwMode="auto">
              <a:xfrm flipH="1">
                <a:off x="1766" y="1966"/>
                <a:ext cx="276" cy="53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6" name="Line 7"/>
              <p:cNvSpPr>
                <a:spLocks noChangeShapeType="1"/>
              </p:cNvSpPr>
              <p:nvPr/>
            </p:nvSpPr>
            <p:spPr bwMode="auto">
              <a:xfrm>
                <a:off x="2520" y="1966"/>
                <a:ext cx="276" cy="53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7" name="Line 8"/>
              <p:cNvSpPr>
                <a:spLocks noChangeShapeType="1"/>
              </p:cNvSpPr>
              <p:nvPr/>
            </p:nvSpPr>
            <p:spPr bwMode="auto">
              <a:xfrm>
                <a:off x="1766" y="2496"/>
                <a:ext cx="38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8" name="Line 9"/>
              <p:cNvSpPr>
                <a:spLocks noChangeShapeType="1"/>
              </p:cNvSpPr>
              <p:nvPr/>
            </p:nvSpPr>
            <p:spPr bwMode="auto">
              <a:xfrm>
                <a:off x="2419" y="2496"/>
                <a:ext cx="37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9" name="Line 10"/>
              <p:cNvSpPr>
                <a:spLocks noChangeShapeType="1"/>
              </p:cNvSpPr>
              <p:nvPr/>
            </p:nvSpPr>
            <p:spPr bwMode="auto">
              <a:xfrm flipV="1">
                <a:off x="2143" y="2328"/>
                <a:ext cx="150" cy="16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0" name="Line 11"/>
              <p:cNvSpPr>
                <a:spLocks noChangeShapeType="1"/>
              </p:cNvSpPr>
              <p:nvPr/>
            </p:nvSpPr>
            <p:spPr bwMode="auto">
              <a:xfrm rot="16200000" flipV="1">
                <a:off x="2272" y="2337"/>
                <a:ext cx="168" cy="1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1" name="Text Box 12"/>
              <p:cNvSpPr txBox="1">
                <a:spLocks noChangeArrowheads="1"/>
              </p:cNvSpPr>
              <p:nvPr/>
            </p:nvSpPr>
            <p:spPr bwMode="auto">
              <a:xfrm>
                <a:off x="2068" y="2046"/>
                <a:ext cx="483" cy="2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just"/>
                <a:r>
                  <a:rPr lang="zh-CN" altLang="en-US" sz="1600"/>
                  <a:t>加法器</a:t>
                </a:r>
                <a:endParaRPr lang="zh-CN" altLang="en-US" sz="1600"/>
              </a:p>
            </p:txBody>
          </p:sp>
        </p:grpSp>
        <p:sp>
          <p:nvSpPr>
            <p:cNvPr id="40969" name="Rectangle 13"/>
            <p:cNvSpPr>
              <a:spLocks noChangeArrowheads="1"/>
            </p:cNvSpPr>
            <p:nvPr/>
          </p:nvSpPr>
          <p:spPr bwMode="auto">
            <a:xfrm>
              <a:off x="2792" y="1884"/>
              <a:ext cx="1333" cy="1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Rectangle 14"/>
            <p:cNvSpPr>
              <a:spLocks noChangeArrowheads="1"/>
            </p:cNvSpPr>
            <p:nvPr/>
          </p:nvSpPr>
          <p:spPr bwMode="auto">
            <a:xfrm>
              <a:off x="3431" y="3529"/>
              <a:ext cx="679" cy="1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971" name="Group 15"/>
            <p:cNvGrpSpPr/>
            <p:nvPr/>
          </p:nvGrpSpPr>
          <p:grpSpPr bwMode="auto">
            <a:xfrm>
              <a:off x="3464" y="3117"/>
              <a:ext cx="622" cy="153"/>
              <a:chOff x="3582" y="1989"/>
              <a:chExt cx="402" cy="124"/>
            </a:xfrm>
          </p:grpSpPr>
          <p:sp>
            <p:nvSpPr>
              <p:cNvPr id="41002" name="AutoShape 16"/>
              <p:cNvSpPr>
                <a:spLocks noChangeArrowheads="1"/>
              </p:cNvSpPr>
              <p:nvPr/>
            </p:nvSpPr>
            <p:spPr bwMode="auto">
              <a:xfrm>
                <a:off x="3582" y="1989"/>
                <a:ext cx="402" cy="124"/>
              </a:xfrm>
              <a:prstGeom prst="flowChartTerminator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</p:spPr>
            <p:txBody>
              <a:bodyPr lIns="18000" tIns="10800" rIns="18000" bIns="10800"/>
              <a:lstStyle/>
              <a:p>
                <a:endParaRPr lang="zh-CN" altLang="en-US"/>
              </a:p>
            </p:txBody>
          </p:sp>
          <p:sp>
            <p:nvSpPr>
              <p:cNvPr id="41003" name="Text Box 17"/>
              <p:cNvSpPr txBox="1">
                <a:spLocks noChangeArrowheads="1"/>
              </p:cNvSpPr>
              <p:nvPr/>
            </p:nvSpPr>
            <p:spPr bwMode="auto">
              <a:xfrm>
                <a:off x="3652" y="1992"/>
                <a:ext cx="276" cy="9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18000" tIns="10800" rIns="18000" bIns="10800"/>
              <a:lstStyle/>
              <a:p>
                <a:pPr algn="just"/>
                <a:r>
                  <a:rPr lang="zh-CN" altLang="en-US" sz="1200"/>
                  <a:t>输入选择</a:t>
                </a:r>
                <a:endParaRPr lang="zh-CN" altLang="en-US" sz="1600"/>
              </a:p>
            </p:txBody>
          </p:sp>
        </p:grpSp>
        <p:sp>
          <p:nvSpPr>
            <p:cNvPr id="40972" name="Rectangle 18"/>
            <p:cNvSpPr>
              <a:spLocks noChangeArrowheads="1"/>
            </p:cNvSpPr>
            <p:nvPr/>
          </p:nvSpPr>
          <p:spPr bwMode="auto">
            <a:xfrm>
              <a:off x="2574" y="3531"/>
              <a:ext cx="679" cy="1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3" name="Text Box 19"/>
            <p:cNvSpPr txBox="1">
              <a:spLocks noChangeArrowheads="1"/>
            </p:cNvSpPr>
            <p:nvPr/>
          </p:nvSpPr>
          <p:spPr bwMode="auto">
            <a:xfrm>
              <a:off x="3608" y="3553"/>
              <a:ext cx="297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zh-CN" altLang="en-US" sz="1200"/>
                <a:t>被乘数</a:t>
              </a:r>
              <a:endParaRPr lang="zh-CN" altLang="en-US" sz="1200"/>
            </a:p>
          </p:txBody>
        </p:sp>
        <p:sp>
          <p:nvSpPr>
            <p:cNvPr id="40974" name="Text Box 20"/>
            <p:cNvSpPr txBox="1">
              <a:spLocks noChangeArrowheads="1"/>
            </p:cNvSpPr>
            <p:nvPr/>
          </p:nvSpPr>
          <p:spPr bwMode="auto">
            <a:xfrm>
              <a:off x="2833" y="3553"/>
              <a:ext cx="235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zh-CN" altLang="en-US" sz="1200"/>
                <a:t>乘数</a:t>
              </a:r>
              <a:endParaRPr lang="zh-CN" altLang="en-US" sz="1200"/>
            </a:p>
          </p:txBody>
        </p:sp>
        <p:sp>
          <p:nvSpPr>
            <p:cNvPr id="40975" name="Line 21"/>
            <p:cNvSpPr>
              <a:spLocks noChangeShapeType="1"/>
            </p:cNvSpPr>
            <p:nvPr/>
          </p:nvSpPr>
          <p:spPr bwMode="auto">
            <a:xfrm flipV="1">
              <a:off x="3771" y="3273"/>
              <a:ext cx="0" cy="2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6" name="Line 22"/>
            <p:cNvSpPr>
              <a:spLocks noChangeShapeType="1"/>
            </p:cNvSpPr>
            <p:nvPr/>
          </p:nvSpPr>
          <p:spPr bwMode="auto">
            <a:xfrm flipV="1">
              <a:off x="3771" y="2867"/>
              <a:ext cx="0" cy="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7" name="Line 23"/>
            <p:cNvSpPr>
              <a:spLocks noChangeShapeType="1"/>
            </p:cNvSpPr>
            <p:nvPr/>
          </p:nvSpPr>
          <p:spPr bwMode="auto">
            <a:xfrm flipV="1">
              <a:off x="3460" y="1659"/>
              <a:ext cx="0" cy="2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8" name="Line 24"/>
            <p:cNvSpPr>
              <a:spLocks noChangeShapeType="1"/>
            </p:cNvSpPr>
            <p:nvPr/>
          </p:nvSpPr>
          <p:spPr bwMode="auto">
            <a:xfrm flipH="1">
              <a:off x="2532" y="1659"/>
              <a:ext cx="9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Line 25"/>
            <p:cNvSpPr>
              <a:spLocks noChangeShapeType="1"/>
            </p:cNvSpPr>
            <p:nvPr/>
          </p:nvSpPr>
          <p:spPr bwMode="auto">
            <a:xfrm>
              <a:off x="2532" y="1659"/>
              <a:ext cx="0" cy="14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Line 26"/>
            <p:cNvSpPr>
              <a:spLocks noChangeShapeType="1"/>
            </p:cNvSpPr>
            <p:nvPr/>
          </p:nvSpPr>
          <p:spPr bwMode="auto">
            <a:xfrm>
              <a:off x="2532" y="3120"/>
              <a:ext cx="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Line 27"/>
            <p:cNvSpPr>
              <a:spLocks noChangeShapeType="1"/>
            </p:cNvSpPr>
            <p:nvPr/>
          </p:nvSpPr>
          <p:spPr bwMode="auto">
            <a:xfrm flipV="1">
              <a:off x="3127" y="2870"/>
              <a:ext cx="0" cy="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2" name="Line 28"/>
            <p:cNvSpPr>
              <a:spLocks noChangeShapeType="1"/>
            </p:cNvSpPr>
            <p:nvPr/>
          </p:nvSpPr>
          <p:spPr bwMode="auto">
            <a:xfrm flipV="1">
              <a:off x="3187" y="3195"/>
              <a:ext cx="0" cy="3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3" name="Line 29"/>
            <p:cNvSpPr>
              <a:spLocks noChangeShapeType="1"/>
            </p:cNvSpPr>
            <p:nvPr/>
          </p:nvSpPr>
          <p:spPr bwMode="auto">
            <a:xfrm>
              <a:off x="3187" y="3194"/>
              <a:ext cx="2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Text Box 30"/>
            <p:cNvSpPr txBox="1">
              <a:spLocks noChangeArrowheads="1"/>
            </p:cNvSpPr>
            <p:nvPr/>
          </p:nvSpPr>
          <p:spPr bwMode="auto">
            <a:xfrm>
              <a:off x="3212" y="3216"/>
              <a:ext cx="281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zh-CN" altLang="en-US" sz="1200"/>
                <a:t>低</a:t>
              </a:r>
              <a:r>
                <a:rPr lang="en-US" altLang="zh-CN" sz="1200"/>
                <a:t>3</a:t>
              </a:r>
              <a:r>
                <a:rPr lang="zh-CN" altLang="en-US" sz="1200"/>
                <a:t>位</a:t>
              </a:r>
              <a:endParaRPr lang="zh-CN" altLang="en-US" sz="1200"/>
            </a:p>
          </p:txBody>
        </p:sp>
        <p:sp>
          <p:nvSpPr>
            <p:cNvPr id="40985" name="Text Box 31"/>
            <p:cNvSpPr txBox="1">
              <a:spLocks noChangeArrowheads="1"/>
            </p:cNvSpPr>
            <p:nvPr/>
          </p:nvSpPr>
          <p:spPr bwMode="auto">
            <a:xfrm>
              <a:off x="1931" y="3493"/>
              <a:ext cx="570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zh-CN" altLang="en-US" sz="1200"/>
                <a:t>移位寄存器</a:t>
              </a:r>
              <a:r>
                <a:rPr lang="en-US" altLang="zh-CN" sz="1200"/>
                <a:t>(</a:t>
              </a:r>
              <a:r>
                <a:rPr lang="zh-CN" altLang="en-US" sz="1200"/>
                <a:t>每次移两位</a:t>
              </a:r>
              <a:r>
                <a:rPr lang="en-US" altLang="zh-CN" sz="1200"/>
                <a:t>)</a:t>
              </a:r>
              <a:endParaRPr lang="en-US" altLang="zh-CN" sz="1200"/>
            </a:p>
          </p:txBody>
        </p:sp>
        <p:sp>
          <p:nvSpPr>
            <p:cNvPr id="40986" name="Line 32"/>
            <p:cNvSpPr>
              <a:spLocks noChangeShapeType="1"/>
            </p:cNvSpPr>
            <p:nvPr/>
          </p:nvSpPr>
          <p:spPr bwMode="auto">
            <a:xfrm flipV="1">
              <a:off x="3452" y="2041"/>
              <a:ext cx="0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7" name="Line 33"/>
            <p:cNvSpPr>
              <a:spLocks noChangeShapeType="1"/>
            </p:cNvSpPr>
            <p:nvPr/>
          </p:nvSpPr>
          <p:spPr bwMode="auto">
            <a:xfrm>
              <a:off x="4122" y="1971"/>
              <a:ext cx="1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8" name="Line 34"/>
            <p:cNvSpPr>
              <a:spLocks noChangeShapeType="1"/>
            </p:cNvSpPr>
            <p:nvPr/>
          </p:nvSpPr>
          <p:spPr bwMode="auto">
            <a:xfrm>
              <a:off x="4278" y="1971"/>
              <a:ext cx="0" cy="21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9" name="Line 35"/>
            <p:cNvSpPr>
              <a:spLocks noChangeShapeType="1"/>
            </p:cNvSpPr>
            <p:nvPr/>
          </p:nvSpPr>
          <p:spPr bwMode="auto">
            <a:xfrm>
              <a:off x="4107" y="3616"/>
              <a:ext cx="17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0" name="Line 36"/>
            <p:cNvSpPr>
              <a:spLocks noChangeShapeType="1"/>
            </p:cNvSpPr>
            <p:nvPr/>
          </p:nvSpPr>
          <p:spPr bwMode="auto">
            <a:xfrm>
              <a:off x="3249" y="3623"/>
              <a:ext cx="8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1" name="Line 37"/>
            <p:cNvSpPr>
              <a:spLocks noChangeShapeType="1"/>
            </p:cNvSpPr>
            <p:nvPr/>
          </p:nvSpPr>
          <p:spPr bwMode="auto">
            <a:xfrm>
              <a:off x="3328" y="3623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2" name="Line 38"/>
            <p:cNvSpPr>
              <a:spLocks noChangeShapeType="1"/>
            </p:cNvSpPr>
            <p:nvPr/>
          </p:nvSpPr>
          <p:spPr bwMode="auto">
            <a:xfrm>
              <a:off x="3327" y="3795"/>
              <a:ext cx="95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3" name="Text Box 39"/>
            <p:cNvSpPr txBox="1">
              <a:spLocks noChangeArrowheads="1"/>
            </p:cNvSpPr>
            <p:nvPr/>
          </p:nvSpPr>
          <p:spPr bwMode="auto">
            <a:xfrm>
              <a:off x="4331" y="3945"/>
              <a:ext cx="235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/>
                <a:t>CLK</a:t>
              </a:r>
              <a:endParaRPr lang="en-US" altLang="zh-CN" sz="1200"/>
            </a:p>
          </p:txBody>
        </p:sp>
        <p:sp>
          <p:nvSpPr>
            <p:cNvPr id="40994" name="Text Box 40"/>
            <p:cNvSpPr txBox="1">
              <a:spLocks noChangeArrowheads="1"/>
            </p:cNvSpPr>
            <p:nvPr/>
          </p:nvSpPr>
          <p:spPr bwMode="auto">
            <a:xfrm>
              <a:off x="3208" y="1895"/>
              <a:ext cx="500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zh-CN" altLang="en-US" sz="1200"/>
                <a:t>结果寄存器</a:t>
              </a:r>
              <a:endParaRPr lang="zh-CN" altLang="en-US" sz="1200"/>
            </a:p>
          </p:txBody>
        </p:sp>
        <p:sp>
          <p:nvSpPr>
            <p:cNvPr id="40995" name="AutoShape 41"/>
            <p:cNvSpPr>
              <a:spLocks noChangeArrowheads="1"/>
            </p:cNvSpPr>
            <p:nvPr/>
          </p:nvSpPr>
          <p:spPr bwMode="auto">
            <a:xfrm rot="5400000">
              <a:off x="1870" y="2493"/>
              <a:ext cx="381" cy="320"/>
            </a:xfrm>
            <a:prstGeom prst="moon">
              <a:avLst>
                <a:gd name="adj" fmla="val 7244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6" name="Line 42"/>
            <p:cNvSpPr>
              <a:spLocks noChangeShapeType="1"/>
            </p:cNvSpPr>
            <p:nvPr/>
          </p:nvSpPr>
          <p:spPr bwMode="auto">
            <a:xfrm>
              <a:off x="2057" y="2743"/>
              <a:ext cx="0" cy="5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7" name="Line 43"/>
            <p:cNvSpPr>
              <a:spLocks noChangeShapeType="1"/>
            </p:cNvSpPr>
            <p:nvPr/>
          </p:nvSpPr>
          <p:spPr bwMode="auto">
            <a:xfrm>
              <a:off x="2057" y="3299"/>
              <a:ext cx="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8" name="Line 44"/>
            <p:cNvSpPr>
              <a:spLocks noChangeShapeType="1"/>
            </p:cNvSpPr>
            <p:nvPr/>
          </p:nvSpPr>
          <p:spPr bwMode="auto">
            <a:xfrm>
              <a:off x="2907" y="3296"/>
              <a:ext cx="0" cy="2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9" name="Oval 45"/>
            <p:cNvSpPr>
              <a:spLocks noChangeArrowheads="1"/>
            </p:cNvSpPr>
            <p:nvPr/>
          </p:nvSpPr>
          <p:spPr bwMode="auto">
            <a:xfrm>
              <a:off x="2034" y="2423"/>
              <a:ext cx="47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0" name="Line 46"/>
            <p:cNvSpPr>
              <a:spLocks noChangeShapeType="1"/>
            </p:cNvSpPr>
            <p:nvPr/>
          </p:nvSpPr>
          <p:spPr bwMode="auto">
            <a:xfrm flipV="1">
              <a:off x="2057" y="1823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1" name="Text Box 47"/>
            <p:cNvSpPr txBox="1">
              <a:spLocks noChangeArrowheads="1"/>
            </p:cNvSpPr>
            <p:nvPr/>
          </p:nvSpPr>
          <p:spPr bwMode="auto">
            <a:xfrm>
              <a:off x="1372" y="1820"/>
              <a:ext cx="624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zh-CN" altLang="en-US" sz="1200"/>
                <a:t>结果有效位</a:t>
              </a:r>
              <a:r>
                <a:rPr lang="en-US" altLang="zh-CN" sz="1200"/>
                <a:t>(</a:t>
              </a:r>
              <a:r>
                <a:rPr lang="zh-CN" altLang="en-US" sz="1200"/>
                <a:t>乘数寄存器全</a:t>
              </a:r>
              <a:r>
                <a:rPr lang="en-US" altLang="zh-CN" sz="1200"/>
                <a:t>0</a:t>
              </a:r>
              <a:r>
                <a:rPr lang="zh-CN" altLang="en-US" sz="1200"/>
                <a:t>时乘法结束</a:t>
              </a:r>
              <a:r>
                <a:rPr lang="en-US" altLang="zh-CN" sz="1200"/>
                <a:t>)</a:t>
              </a:r>
              <a:endParaRPr lang="en-US" altLang="zh-CN" sz="1200"/>
            </a:p>
          </p:txBody>
        </p:sp>
      </p:grpSp>
      <p:sp>
        <p:nvSpPr>
          <p:cNvPr id="40966" name="Rectangle 48"/>
          <p:cNvSpPr>
            <a:spLocks noGrp="1" noChangeArrowheads="1"/>
          </p:cNvSpPr>
          <p:nvPr>
            <p:ph type="title"/>
          </p:nvPr>
        </p:nvSpPr>
        <p:spPr>
          <a:xfrm>
            <a:off x="939800" y="0"/>
            <a:ext cx="10361613" cy="1143000"/>
          </a:xfrm>
        </p:spPr>
        <p:txBody>
          <a:bodyPr/>
          <a:lstStyle/>
          <a:p>
            <a:pPr eaLnBrk="1" hangingPunct="1"/>
            <a:r>
              <a:rPr lang="en-US" altLang="zh-CN" smtClean="0"/>
              <a:t>Booth</a:t>
            </a:r>
            <a:r>
              <a:rPr lang="zh-CN" altLang="zh-CN" smtClean="0"/>
              <a:t>算法的</a:t>
            </a:r>
            <a:r>
              <a:rPr lang="zh-CN" altLang="en-US" smtClean="0"/>
              <a:t>串行</a:t>
            </a:r>
            <a:r>
              <a:rPr lang="zh-CN" altLang="zh-CN" smtClean="0"/>
              <a:t>实现</a:t>
            </a:r>
            <a:endParaRPr lang="zh-CN" altLang="en-US" smtClean="0"/>
          </a:p>
        </p:txBody>
      </p:sp>
      <p:pic>
        <p:nvPicPr>
          <p:cNvPr id="4096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561513" y="4198938"/>
            <a:ext cx="231140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1"/>
          <p:cNvSpPr>
            <a:spLocks noGrp="1"/>
          </p:cNvSpPr>
          <p:nvPr>
            <p:ph type="title"/>
          </p:nvPr>
        </p:nvSpPr>
        <p:spPr>
          <a:xfrm>
            <a:off x="855663" y="158750"/>
            <a:ext cx="10361612" cy="1143000"/>
          </a:xfrm>
        </p:spPr>
        <p:txBody>
          <a:bodyPr/>
          <a:lstStyle/>
          <a:p>
            <a:r>
              <a:rPr lang="en-US" altLang="zh-CN" smtClean="0"/>
              <a:t>Booth</a:t>
            </a:r>
            <a:r>
              <a:rPr lang="zh-CN" altLang="en-US" smtClean="0"/>
              <a:t>两位乘电路</a:t>
            </a:r>
            <a:endParaRPr lang="zh-CN" altLang="en-US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14400" y="1146175"/>
            <a:ext cx="10361613" cy="21113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000" dirty="0" smtClean="0">
                <a:latin typeface="+mn-ea"/>
              </a:rPr>
              <a:t>[X]</a:t>
            </a:r>
            <a:r>
              <a:rPr lang="zh-CN" altLang="en-US" sz="2000" baseline="-25000" dirty="0" smtClean="0">
                <a:latin typeface="+mn-ea"/>
              </a:rPr>
              <a:t>补</a:t>
            </a:r>
            <a:r>
              <a:rPr lang="zh-CN" altLang="en-US" sz="2000" dirty="0" smtClean="0">
                <a:latin typeface="+mn-ea"/>
              </a:rPr>
              <a:t>表示为</a:t>
            </a:r>
            <a:r>
              <a:rPr lang="en-US" altLang="zh-CN" sz="2000" dirty="0" smtClean="0">
                <a:latin typeface="+mn-ea"/>
              </a:rPr>
              <a:t>x</a:t>
            </a:r>
            <a:r>
              <a:rPr lang="en-US" altLang="zh-CN" sz="2000" baseline="-25000" dirty="0" smtClean="0">
                <a:latin typeface="+mn-ea"/>
              </a:rPr>
              <a:t>7</a:t>
            </a:r>
            <a:r>
              <a:rPr lang="en-US" altLang="zh-CN" sz="2000" dirty="0" smtClean="0">
                <a:latin typeface="+mn-ea"/>
              </a:rPr>
              <a:t>x</a:t>
            </a:r>
            <a:r>
              <a:rPr lang="en-US" altLang="zh-CN" sz="2000" baseline="-25000" dirty="0" smtClean="0">
                <a:latin typeface="+mn-ea"/>
              </a:rPr>
              <a:t>6</a:t>
            </a:r>
            <a:r>
              <a:rPr lang="en-US" altLang="zh-CN" sz="2000" dirty="0" smtClean="0">
                <a:latin typeface="+mn-ea"/>
              </a:rPr>
              <a:t>x</a:t>
            </a:r>
            <a:r>
              <a:rPr lang="en-US" altLang="zh-CN" sz="2000" baseline="-25000" dirty="0" smtClean="0">
                <a:latin typeface="+mn-ea"/>
              </a:rPr>
              <a:t>5</a:t>
            </a:r>
            <a:r>
              <a:rPr lang="en-US" altLang="zh-CN" sz="2000" dirty="0" smtClean="0">
                <a:latin typeface="+mn-ea"/>
              </a:rPr>
              <a:t>x</a:t>
            </a:r>
            <a:r>
              <a:rPr lang="en-US" altLang="zh-CN" sz="2000" baseline="-25000" dirty="0" smtClean="0">
                <a:latin typeface="+mn-ea"/>
              </a:rPr>
              <a:t>4</a:t>
            </a:r>
            <a:r>
              <a:rPr lang="en-US" altLang="zh-CN" sz="2000" dirty="0" smtClean="0">
                <a:latin typeface="+mn-ea"/>
              </a:rPr>
              <a:t>x</a:t>
            </a:r>
            <a:r>
              <a:rPr lang="en-US" altLang="zh-CN" sz="2000" baseline="-25000" dirty="0" smtClean="0">
                <a:latin typeface="+mn-ea"/>
              </a:rPr>
              <a:t>3</a:t>
            </a:r>
            <a:r>
              <a:rPr lang="en-US" altLang="zh-CN" sz="2000" dirty="0" smtClean="0">
                <a:latin typeface="+mn-ea"/>
              </a:rPr>
              <a:t>x</a:t>
            </a:r>
            <a:r>
              <a:rPr lang="en-US" altLang="zh-CN" sz="2000" baseline="-25000" dirty="0" smtClean="0">
                <a:latin typeface="+mn-ea"/>
              </a:rPr>
              <a:t>2</a:t>
            </a:r>
            <a:r>
              <a:rPr lang="en-US" altLang="zh-CN" sz="2000" dirty="0" smtClean="0">
                <a:latin typeface="+mn-ea"/>
              </a:rPr>
              <a:t>x</a:t>
            </a:r>
            <a:r>
              <a:rPr lang="en-US" altLang="zh-CN" sz="2000" baseline="-25000" dirty="0" smtClean="0">
                <a:latin typeface="+mn-ea"/>
              </a:rPr>
              <a:t>1</a:t>
            </a:r>
            <a:r>
              <a:rPr lang="en-US" altLang="zh-CN" sz="2000" dirty="0" smtClean="0">
                <a:latin typeface="+mn-ea"/>
              </a:rPr>
              <a:t>x</a:t>
            </a:r>
            <a:r>
              <a:rPr lang="en-US" altLang="zh-CN" sz="2000" baseline="-25000" dirty="0" smtClean="0">
                <a:latin typeface="+mn-ea"/>
              </a:rPr>
              <a:t>0</a:t>
            </a:r>
            <a:endParaRPr lang="en-US" altLang="zh-CN" sz="2000" baseline="-25000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000" dirty="0" smtClean="0">
                <a:latin typeface="+mn-ea"/>
              </a:rPr>
              <a:t>部分积表示为</a:t>
            </a:r>
            <a:r>
              <a:rPr lang="en-US" altLang="zh-CN" sz="2000" dirty="0" smtClean="0">
                <a:latin typeface="+mn-ea"/>
              </a:rPr>
              <a:t>p</a:t>
            </a:r>
            <a:r>
              <a:rPr lang="en-US" altLang="zh-CN" sz="2000" baseline="-25000" dirty="0" smtClean="0">
                <a:latin typeface="+mn-ea"/>
              </a:rPr>
              <a:t>7</a:t>
            </a:r>
            <a:r>
              <a:rPr lang="en-US" altLang="zh-CN" sz="2000" dirty="0" smtClean="0">
                <a:latin typeface="+mn-ea"/>
              </a:rPr>
              <a:t>p</a:t>
            </a:r>
            <a:r>
              <a:rPr lang="en-US" altLang="zh-CN" sz="2000" baseline="-25000" dirty="0" smtClean="0">
                <a:latin typeface="+mn-ea"/>
              </a:rPr>
              <a:t>6</a:t>
            </a:r>
            <a:r>
              <a:rPr lang="en-US" altLang="zh-CN" sz="2000" dirty="0" smtClean="0">
                <a:latin typeface="+mn-ea"/>
              </a:rPr>
              <a:t>p</a:t>
            </a:r>
            <a:r>
              <a:rPr lang="en-US" altLang="zh-CN" sz="2000" baseline="-25000" dirty="0" smtClean="0">
                <a:latin typeface="+mn-ea"/>
              </a:rPr>
              <a:t>5</a:t>
            </a:r>
            <a:r>
              <a:rPr lang="en-US" altLang="zh-CN" sz="2000" dirty="0" smtClean="0">
                <a:latin typeface="+mn-ea"/>
              </a:rPr>
              <a:t>p</a:t>
            </a:r>
            <a:r>
              <a:rPr lang="en-US" altLang="zh-CN" sz="2000" baseline="-25000" dirty="0" smtClean="0">
                <a:latin typeface="+mn-ea"/>
              </a:rPr>
              <a:t>4</a:t>
            </a:r>
            <a:r>
              <a:rPr lang="en-US" altLang="zh-CN" sz="2000" dirty="0" smtClean="0">
                <a:latin typeface="+mn-ea"/>
              </a:rPr>
              <a:t>p</a:t>
            </a:r>
            <a:r>
              <a:rPr lang="en-US" altLang="zh-CN" sz="2000" baseline="-25000" dirty="0" smtClean="0">
                <a:latin typeface="+mn-ea"/>
              </a:rPr>
              <a:t>3</a:t>
            </a:r>
            <a:r>
              <a:rPr lang="en-US" altLang="zh-CN" sz="2000" dirty="0" smtClean="0">
                <a:latin typeface="+mn-ea"/>
              </a:rPr>
              <a:t>p</a:t>
            </a:r>
            <a:r>
              <a:rPr lang="en-US" altLang="zh-CN" sz="2000" baseline="-25000" dirty="0" smtClean="0">
                <a:latin typeface="+mn-ea"/>
              </a:rPr>
              <a:t>2</a:t>
            </a:r>
            <a:r>
              <a:rPr lang="en-US" altLang="zh-CN" sz="2000" dirty="0" smtClean="0">
                <a:latin typeface="+mn-ea"/>
              </a:rPr>
              <a:t>p</a:t>
            </a:r>
            <a:r>
              <a:rPr lang="en-US" altLang="zh-CN" sz="2000" baseline="-25000" dirty="0" smtClean="0">
                <a:latin typeface="+mn-ea"/>
              </a:rPr>
              <a:t>1</a:t>
            </a:r>
            <a:r>
              <a:rPr lang="en-US" altLang="zh-CN" sz="2000" dirty="0" smtClean="0">
                <a:latin typeface="+mn-ea"/>
              </a:rPr>
              <a:t>p</a:t>
            </a:r>
            <a:r>
              <a:rPr lang="en-US" altLang="zh-CN" sz="2000" baseline="-25000" dirty="0" smtClean="0">
                <a:latin typeface="+mn-ea"/>
              </a:rPr>
              <a:t>0</a:t>
            </a:r>
            <a:r>
              <a:rPr lang="en-US" altLang="zh-CN" sz="2000" dirty="0" smtClean="0">
                <a:latin typeface="+mn-ea"/>
              </a:rPr>
              <a:t>+c</a:t>
            </a:r>
            <a:endParaRPr lang="en-US" altLang="zh-CN" sz="2000" dirty="0" smtClean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</a:rPr>
              <a:t>补码减法</a:t>
            </a:r>
            <a:r>
              <a:rPr lang="en-US" altLang="zh-CN" sz="1800" dirty="0" smtClean="0">
                <a:latin typeface="+mn-ea"/>
              </a:rPr>
              <a:t> = </a:t>
            </a:r>
            <a:r>
              <a:rPr lang="zh-CN" altLang="en-US" sz="1800" dirty="0" smtClean="0">
                <a:latin typeface="+mn-ea"/>
              </a:rPr>
              <a:t>按位取反再 </a:t>
            </a:r>
            <a:r>
              <a:rPr lang="en-US" altLang="zh-CN" sz="1800" dirty="0" smtClean="0">
                <a:latin typeface="+mn-ea"/>
              </a:rPr>
              <a:t>+ 1</a:t>
            </a:r>
            <a:endParaRPr lang="en-US" altLang="zh-CN" sz="1800" dirty="0" smtClean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 smtClean="0">
                <a:latin typeface="+mn-ea"/>
              </a:rPr>
              <a:t>注意左移的处理方式</a:t>
            </a:r>
            <a:endParaRPr lang="en-US" altLang="zh-CN" sz="1800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n-US" altLang="zh-CN" sz="2000" dirty="0" smtClean="0">
              <a:latin typeface="+mn-ea"/>
            </a:endParaRPr>
          </a:p>
        </p:txBody>
      </p:sp>
      <p:pic>
        <p:nvPicPr>
          <p:cNvPr id="7173" name="Picture 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81151" y="3157538"/>
            <a:ext cx="4273550" cy="304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403835" y="3044119"/>
          <a:ext cx="29212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965"/>
                <a:gridCol w="1384300"/>
              </a:tblGrid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y</a:t>
                      </a:r>
                      <a:r>
                        <a:rPr lang="en-US" sz="1800" b="1" kern="100" baseline="-25000" dirty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i+1</a:t>
                      </a: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 </a:t>
                      </a:r>
                      <a:r>
                        <a:rPr lang="en-US" sz="1800" b="1" kern="100" dirty="0" err="1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y</a:t>
                      </a:r>
                      <a:r>
                        <a:rPr lang="en-US" sz="1800" b="1" kern="100" baseline="-25000" dirty="0" err="1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i</a:t>
                      </a:r>
                      <a:r>
                        <a:rPr lang="en-US" sz="1800" b="1" kern="100" dirty="0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 y</a:t>
                      </a:r>
                      <a:r>
                        <a:rPr lang="en-US" sz="1800" b="1" kern="100" baseline="-25000" dirty="0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i-1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操作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0   0   0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+0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0   0   1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0   1   0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0   1   1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+2[X]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1   0   0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-2[X]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1   0   1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-[X]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1   1   0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-[X]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1   1   1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17ABEA4-0C23-44D9-9B2D-23903081022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220663" y="1069975"/>
            <a:ext cx="11764962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10000"/>
              </a:spcBef>
              <a:buFontTx/>
              <a:buChar char="•"/>
            </a:pPr>
            <a:r>
              <a:rPr lang="zh-CN" altLang="en-US" sz="2400" b="1"/>
              <a:t>其中</a:t>
            </a:r>
            <a:r>
              <a:rPr lang="zh-CN" altLang="zh-CN" sz="2400" b="1"/>
              <a:t>一位 </a:t>
            </a:r>
            <a:endParaRPr lang="zh-CN" altLang="zh-CN" sz="2400" b="1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467225" y="1984375"/>
            <a:ext cx="1682750" cy="3122613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 flipH="1">
            <a:off x="5597525" y="3227388"/>
            <a:ext cx="0" cy="1225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 flipH="1" flipV="1">
            <a:off x="5267325" y="2395538"/>
            <a:ext cx="0" cy="330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 flipV="1">
            <a:off x="4700588" y="2662238"/>
            <a:ext cx="0" cy="190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 flipV="1">
            <a:off x="5919788" y="2662238"/>
            <a:ext cx="0" cy="190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 flipV="1">
            <a:off x="5183188" y="2382838"/>
            <a:ext cx="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flipV="1">
            <a:off x="4700588" y="2662238"/>
            <a:ext cx="490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 flipV="1">
            <a:off x="5419725" y="2662238"/>
            <a:ext cx="5000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 flipV="1">
            <a:off x="5429250" y="2389188"/>
            <a:ext cx="0" cy="273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5343525" y="2382838"/>
            <a:ext cx="0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H="1">
            <a:off x="5106988" y="2725738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 flipV="1">
            <a:off x="5106988" y="2725738"/>
            <a:ext cx="0" cy="127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 flipH="1">
            <a:off x="5343525" y="2725738"/>
            <a:ext cx="177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 flipV="1">
            <a:off x="5530850" y="2725738"/>
            <a:ext cx="0" cy="127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11" name="Line 19"/>
          <p:cNvSpPr>
            <a:spLocks noChangeShapeType="1"/>
          </p:cNvSpPr>
          <p:nvPr/>
        </p:nvSpPr>
        <p:spPr bwMode="auto">
          <a:xfrm>
            <a:off x="5826125" y="3227388"/>
            <a:ext cx="0" cy="754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12" name="Line 20"/>
          <p:cNvSpPr>
            <a:spLocks noChangeShapeType="1"/>
          </p:cNvSpPr>
          <p:nvPr/>
        </p:nvSpPr>
        <p:spPr bwMode="auto">
          <a:xfrm>
            <a:off x="5429250" y="3214688"/>
            <a:ext cx="0" cy="568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13" name="Line 21"/>
          <p:cNvSpPr>
            <a:spLocks noChangeShapeType="1"/>
          </p:cNvSpPr>
          <p:nvPr/>
        </p:nvSpPr>
        <p:spPr bwMode="auto">
          <a:xfrm flipH="1">
            <a:off x="4762500" y="3221038"/>
            <a:ext cx="6350" cy="1682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214" name="Group 22"/>
          <p:cNvGrpSpPr/>
          <p:nvPr/>
        </p:nvGrpSpPr>
        <p:grpSpPr bwMode="auto">
          <a:xfrm>
            <a:off x="4522788" y="2871788"/>
            <a:ext cx="338137" cy="355600"/>
            <a:chOff x="2025" y="2603"/>
            <a:chExt cx="277" cy="403"/>
          </a:xfrm>
        </p:grpSpPr>
        <p:grpSp>
          <p:nvGrpSpPr>
            <p:cNvPr id="8348" name="Group 23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350" name="Oval 24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1" name="Line 25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2" name="Rectangle 26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3" name="Line 27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4" name="Line 28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49" name="Oval 29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15" name="Group 30"/>
          <p:cNvGrpSpPr/>
          <p:nvPr/>
        </p:nvGrpSpPr>
        <p:grpSpPr bwMode="auto">
          <a:xfrm>
            <a:off x="4929188" y="2871788"/>
            <a:ext cx="338137" cy="355600"/>
            <a:chOff x="2025" y="2603"/>
            <a:chExt cx="277" cy="403"/>
          </a:xfrm>
        </p:grpSpPr>
        <p:grpSp>
          <p:nvGrpSpPr>
            <p:cNvPr id="8341" name="Group 31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343" name="Oval 32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4" name="Line 33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5" name="Rectangle 34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6" name="Line 35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7" name="Line 36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42" name="Oval 37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16" name="Group 38"/>
          <p:cNvGrpSpPr/>
          <p:nvPr/>
        </p:nvGrpSpPr>
        <p:grpSpPr bwMode="auto">
          <a:xfrm>
            <a:off x="5335588" y="2871788"/>
            <a:ext cx="338137" cy="355600"/>
            <a:chOff x="2025" y="2603"/>
            <a:chExt cx="277" cy="403"/>
          </a:xfrm>
        </p:grpSpPr>
        <p:grpSp>
          <p:nvGrpSpPr>
            <p:cNvPr id="8334" name="Group 39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336" name="Oval 40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7" name="Line 41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8" name="Rectangle 42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9" name="Line 43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0" name="Line 44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35" name="Oval 45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17" name="Group 46"/>
          <p:cNvGrpSpPr/>
          <p:nvPr/>
        </p:nvGrpSpPr>
        <p:grpSpPr bwMode="auto">
          <a:xfrm>
            <a:off x="5741988" y="2871788"/>
            <a:ext cx="338137" cy="355600"/>
            <a:chOff x="2025" y="2603"/>
            <a:chExt cx="277" cy="403"/>
          </a:xfrm>
        </p:grpSpPr>
        <p:grpSp>
          <p:nvGrpSpPr>
            <p:cNvPr id="8327" name="Group 47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329" name="Oval 48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0" name="Line 49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1" name="Rectangle 50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2" name="Line 51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3" name="Line 52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28" name="Oval 53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18" name="Group 54"/>
          <p:cNvGrpSpPr/>
          <p:nvPr/>
        </p:nvGrpSpPr>
        <p:grpSpPr bwMode="auto">
          <a:xfrm>
            <a:off x="5140325" y="2046288"/>
            <a:ext cx="339725" cy="355600"/>
            <a:chOff x="2025" y="2603"/>
            <a:chExt cx="277" cy="403"/>
          </a:xfrm>
        </p:grpSpPr>
        <p:grpSp>
          <p:nvGrpSpPr>
            <p:cNvPr id="8320" name="Group 55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322" name="Oval 56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3" name="Line 57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4" name="Rectangle 58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5" name="Line 59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6" name="Line 60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21" name="Oval 61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19" name="Line 62"/>
          <p:cNvSpPr>
            <a:spLocks noChangeShapeType="1"/>
          </p:cNvSpPr>
          <p:nvPr/>
        </p:nvSpPr>
        <p:spPr bwMode="auto">
          <a:xfrm flipV="1">
            <a:off x="5310188" y="1824038"/>
            <a:ext cx="0" cy="209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20" name="Line 63"/>
          <p:cNvSpPr>
            <a:spLocks noChangeShapeType="1"/>
          </p:cNvSpPr>
          <p:nvPr/>
        </p:nvSpPr>
        <p:spPr bwMode="auto">
          <a:xfrm>
            <a:off x="4613275" y="3233738"/>
            <a:ext cx="0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21" name="Line 64"/>
          <p:cNvSpPr>
            <a:spLocks noChangeShapeType="1"/>
          </p:cNvSpPr>
          <p:nvPr/>
        </p:nvSpPr>
        <p:spPr bwMode="auto">
          <a:xfrm>
            <a:off x="5013325" y="3227388"/>
            <a:ext cx="0" cy="346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22" name="Line 65"/>
          <p:cNvSpPr>
            <a:spLocks noChangeShapeType="1"/>
          </p:cNvSpPr>
          <p:nvPr/>
        </p:nvSpPr>
        <p:spPr bwMode="auto">
          <a:xfrm>
            <a:off x="5988050" y="3221038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23" name="Line 66"/>
          <p:cNvSpPr>
            <a:spLocks noChangeShapeType="1"/>
          </p:cNvSpPr>
          <p:nvPr/>
        </p:nvSpPr>
        <p:spPr bwMode="auto">
          <a:xfrm>
            <a:off x="5165725" y="3221038"/>
            <a:ext cx="0" cy="20970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24" name="Text Box 67"/>
          <p:cNvSpPr txBox="1">
            <a:spLocks noChangeArrowheads="1"/>
          </p:cNvSpPr>
          <p:nvPr/>
        </p:nvSpPr>
        <p:spPr bwMode="auto">
          <a:xfrm>
            <a:off x="5386388" y="1719263"/>
            <a:ext cx="2444750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just">
              <a:spcBef>
                <a:spcPct val="0"/>
              </a:spcBef>
            </a:pPr>
            <a:r>
              <a:rPr lang="en-US" altLang="zh-CN" sz="1600"/>
              <a:t>xi                         xi-1</a:t>
            </a:r>
            <a:endParaRPr lang="en-US" altLang="zh-CN" sz="1600"/>
          </a:p>
        </p:txBody>
      </p:sp>
      <p:sp>
        <p:nvSpPr>
          <p:cNvPr id="8225" name="Line 68"/>
          <p:cNvSpPr>
            <a:spLocks noChangeShapeType="1"/>
          </p:cNvSpPr>
          <p:nvPr/>
        </p:nvSpPr>
        <p:spPr bwMode="auto">
          <a:xfrm flipH="1" flipV="1">
            <a:off x="4040188" y="3363913"/>
            <a:ext cx="24923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6" name="Line 69"/>
          <p:cNvSpPr>
            <a:spLocks noChangeShapeType="1"/>
          </p:cNvSpPr>
          <p:nvPr/>
        </p:nvSpPr>
        <p:spPr bwMode="auto">
          <a:xfrm flipH="1" flipV="1">
            <a:off x="4048125" y="3568700"/>
            <a:ext cx="28844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7" name="Line 70"/>
          <p:cNvSpPr>
            <a:spLocks noChangeShapeType="1"/>
          </p:cNvSpPr>
          <p:nvPr/>
        </p:nvSpPr>
        <p:spPr bwMode="auto">
          <a:xfrm flipH="1">
            <a:off x="4044950" y="3771900"/>
            <a:ext cx="32924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8" name="Line 71"/>
          <p:cNvSpPr>
            <a:spLocks noChangeShapeType="1"/>
          </p:cNvSpPr>
          <p:nvPr/>
        </p:nvSpPr>
        <p:spPr bwMode="auto">
          <a:xfrm flipH="1" flipV="1">
            <a:off x="4054475" y="3975100"/>
            <a:ext cx="3689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9" name="Line 72"/>
          <p:cNvSpPr>
            <a:spLocks noChangeShapeType="1"/>
          </p:cNvSpPr>
          <p:nvPr/>
        </p:nvSpPr>
        <p:spPr bwMode="auto">
          <a:xfrm flipH="1" flipV="1">
            <a:off x="7185025" y="2386013"/>
            <a:ext cx="0" cy="330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0" name="Line 73"/>
          <p:cNvSpPr>
            <a:spLocks noChangeShapeType="1"/>
          </p:cNvSpPr>
          <p:nvPr/>
        </p:nvSpPr>
        <p:spPr bwMode="auto">
          <a:xfrm flipV="1">
            <a:off x="6618288" y="2652713"/>
            <a:ext cx="0" cy="190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1" name="Line 74"/>
          <p:cNvSpPr>
            <a:spLocks noChangeShapeType="1"/>
          </p:cNvSpPr>
          <p:nvPr/>
        </p:nvSpPr>
        <p:spPr bwMode="auto">
          <a:xfrm flipV="1">
            <a:off x="7837488" y="2652713"/>
            <a:ext cx="0" cy="190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2" name="Line 75"/>
          <p:cNvSpPr>
            <a:spLocks noChangeShapeType="1"/>
          </p:cNvSpPr>
          <p:nvPr/>
        </p:nvSpPr>
        <p:spPr bwMode="auto">
          <a:xfrm flipV="1">
            <a:off x="7100888" y="2373313"/>
            <a:ext cx="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3" name="Line 76"/>
          <p:cNvSpPr>
            <a:spLocks noChangeShapeType="1"/>
          </p:cNvSpPr>
          <p:nvPr/>
        </p:nvSpPr>
        <p:spPr bwMode="auto">
          <a:xfrm flipV="1">
            <a:off x="6618288" y="2652713"/>
            <a:ext cx="490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4" name="Line 77"/>
          <p:cNvSpPr>
            <a:spLocks noChangeShapeType="1"/>
          </p:cNvSpPr>
          <p:nvPr/>
        </p:nvSpPr>
        <p:spPr bwMode="auto">
          <a:xfrm flipV="1">
            <a:off x="7337425" y="2652713"/>
            <a:ext cx="5000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5" name="Line 78"/>
          <p:cNvSpPr>
            <a:spLocks noChangeShapeType="1"/>
          </p:cNvSpPr>
          <p:nvPr/>
        </p:nvSpPr>
        <p:spPr bwMode="auto">
          <a:xfrm flipV="1">
            <a:off x="7345363" y="2379663"/>
            <a:ext cx="0" cy="273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6" name="Line 79"/>
          <p:cNvSpPr>
            <a:spLocks noChangeShapeType="1"/>
          </p:cNvSpPr>
          <p:nvPr/>
        </p:nvSpPr>
        <p:spPr bwMode="auto">
          <a:xfrm flipV="1">
            <a:off x="7261225" y="2373313"/>
            <a:ext cx="0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7" name="Line 80"/>
          <p:cNvSpPr>
            <a:spLocks noChangeShapeType="1"/>
          </p:cNvSpPr>
          <p:nvPr/>
        </p:nvSpPr>
        <p:spPr bwMode="auto">
          <a:xfrm flipH="1">
            <a:off x="7024688" y="2716213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8" name="Line 81"/>
          <p:cNvSpPr>
            <a:spLocks noChangeShapeType="1"/>
          </p:cNvSpPr>
          <p:nvPr/>
        </p:nvSpPr>
        <p:spPr bwMode="auto">
          <a:xfrm flipV="1">
            <a:off x="7024688" y="2716213"/>
            <a:ext cx="0" cy="127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9" name="Line 82"/>
          <p:cNvSpPr>
            <a:spLocks noChangeShapeType="1"/>
          </p:cNvSpPr>
          <p:nvPr/>
        </p:nvSpPr>
        <p:spPr bwMode="auto">
          <a:xfrm flipH="1">
            <a:off x="7261225" y="2716213"/>
            <a:ext cx="177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40" name="Line 83"/>
          <p:cNvSpPr>
            <a:spLocks noChangeShapeType="1"/>
          </p:cNvSpPr>
          <p:nvPr/>
        </p:nvSpPr>
        <p:spPr bwMode="auto">
          <a:xfrm flipV="1">
            <a:off x="7446963" y="2716213"/>
            <a:ext cx="0" cy="127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41" name="Line 84"/>
          <p:cNvSpPr>
            <a:spLocks noChangeShapeType="1"/>
          </p:cNvSpPr>
          <p:nvPr/>
        </p:nvSpPr>
        <p:spPr bwMode="auto">
          <a:xfrm>
            <a:off x="7743825" y="3217863"/>
            <a:ext cx="0" cy="754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42" name="Line 85"/>
          <p:cNvSpPr>
            <a:spLocks noChangeShapeType="1"/>
          </p:cNvSpPr>
          <p:nvPr/>
        </p:nvSpPr>
        <p:spPr bwMode="auto">
          <a:xfrm>
            <a:off x="7345363" y="3205163"/>
            <a:ext cx="0" cy="568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43" name="Line 86"/>
          <p:cNvSpPr>
            <a:spLocks noChangeShapeType="1"/>
          </p:cNvSpPr>
          <p:nvPr/>
        </p:nvSpPr>
        <p:spPr bwMode="auto">
          <a:xfrm flipH="1">
            <a:off x="6678613" y="3211513"/>
            <a:ext cx="6350" cy="1693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244" name="Group 87"/>
          <p:cNvGrpSpPr/>
          <p:nvPr/>
        </p:nvGrpSpPr>
        <p:grpSpPr bwMode="auto">
          <a:xfrm>
            <a:off x="6440488" y="2862263"/>
            <a:ext cx="338137" cy="355600"/>
            <a:chOff x="2025" y="2603"/>
            <a:chExt cx="277" cy="403"/>
          </a:xfrm>
        </p:grpSpPr>
        <p:grpSp>
          <p:nvGrpSpPr>
            <p:cNvPr id="8313" name="Group 88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315" name="Oval 89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6" name="Line 90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7" name="Rectangle 91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8" name="Line 92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9" name="Line 93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14" name="Oval 94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45" name="Group 95"/>
          <p:cNvGrpSpPr/>
          <p:nvPr/>
        </p:nvGrpSpPr>
        <p:grpSpPr bwMode="auto">
          <a:xfrm>
            <a:off x="6846888" y="2862263"/>
            <a:ext cx="338137" cy="355600"/>
            <a:chOff x="2025" y="2603"/>
            <a:chExt cx="277" cy="403"/>
          </a:xfrm>
        </p:grpSpPr>
        <p:grpSp>
          <p:nvGrpSpPr>
            <p:cNvPr id="8306" name="Group 96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308" name="Oval 97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9" name="Line 98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0" name="Rectangle 99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1" name="Line 100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2" name="Line 101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07" name="Oval 102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46" name="Group 103"/>
          <p:cNvGrpSpPr/>
          <p:nvPr/>
        </p:nvGrpSpPr>
        <p:grpSpPr bwMode="auto">
          <a:xfrm>
            <a:off x="7253288" y="2862263"/>
            <a:ext cx="338137" cy="355600"/>
            <a:chOff x="2025" y="2603"/>
            <a:chExt cx="277" cy="403"/>
          </a:xfrm>
        </p:grpSpPr>
        <p:grpSp>
          <p:nvGrpSpPr>
            <p:cNvPr id="8299" name="Group 104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301" name="Oval 105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2" name="Line 106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3" name="Rectangle 107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4" name="Line 108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5" name="Line 109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00" name="Oval 110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47" name="Group 111"/>
          <p:cNvGrpSpPr/>
          <p:nvPr/>
        </p:nvGrpSpPr>
        <p:grpSpPr bwMode="auto">
          <a:xfrm>
            <a:off x="7659688" y="2862263"/>
            <a:ext cx="338137" cy="355600"/>
            <a:chOff x="2025" y="2603"/>
            <a:chExt cx="277" cy="403"/>
          </a:xfrm>
        </p:grpSpPr>
        <p:grpSp>
          <p:nvGrpSpPr>
            <p:cNvPr id="8292" name="Group 112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294" name="Oval 113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5" name="Line 114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" name="Rectangle 115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7" name="Line 116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8" name="Line 117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93" name="Oval 118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48" name="Group 119"/>
          <p:cNvGrpSpPr/>
          <p:nvPr/>
        </p:nvGrpSpPr>
        <p:grpSpPr bwMode="auto">
          <a:xfrm>
            <a:off x="7058025" y="2036763"/>
            <a:ext cx="338138" cy="355600"/>
            <a:chOff x="2025" y="2603"/>
            <a:chExt cx="277" cy="403"/>
          </a:xfrm>
        </p:grpSpPr>
        <p:grpSp>
          <p:nvGrpSpPr>
            <p:cNvPr id="8285" name="Group 120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8287" name="Oval 121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8" name="Line 122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9" name="Rectangle 123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0" name="Line 124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1" name="Line 125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86" name="Oval 126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49" name="Line 127"/>
          <p:cNvSpPr>
            <a:spLocks noChangeShapeType="1"/>
          </p:cNvSpPr>
          <p:nvPr/>
        </p:nvSpPr>
        <p:spPr bwMode="auto">
          <a:xfrm flipV="1">
            <a:off x="7227888" y="1814513"/>
            <a:ext cx="0" cy="209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50" name="Line 128"/>
          <p:cNvSpPr>
            <a:spLocks noChangeShapeType="1"/>
          </p:cNvSpPr>
          <p:nvPr/>
        </p:nvSpPr>
        <p:spPr bwMode="auto">
          <a:xfrm>
            <a:off x="6530975" y="3224213"/>
            <a:ext cx="0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51" name="Line 129"/>
          <p:cNvSpPr>
            <a:spLocks noChangeShapeType="1"/>
          </p:cNvSpPr>
          <p:nvPr/>
        </p:nvSpPr>
        <p:spPr bwMode="auto">
          <a:xfrm>
            <a:off x="6931025" y="3217863"/>
            <a:ext cx="0" cy="346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52" name="Line 130"/>
          <p:cNvSpPr>
            <a:spLocks noChangeShapeType="1"/>
          </p:cNvSpPr>
          <p:nvPr/>
        </p:nvSpPr>
        <p:spPr bwMode="auto">
          <a:xfrm>
            <a:off x="7904163" y="3211513"/>
            <a:ext cx="0" cy="11572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53" name="Line 131"/>
          <p:cNvSpPr>
            <a:spLocks noChangeShapeType="1"/>
          </p:cNvSpPr>
          <p:nvPr/>
        </p:nvSpPr>
        <p:spPr bwMode="auto">
          <a:xfrm flipH="1">
            <a:off x="7515225" y="3217863"/>
            <a:ext cx="0" cy="1239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54" name="Line 132"/>
          <p:cNvSpPr>
            <a:spLocks noChangeShapeType="1"/>
          </p:cNvSpPr>
          <p:nvPr/>
        </p:nvSpPr>
        <p:spPr bwMode="auto">
          <a:xfrm>
            <a:off x="7083425" y="3211513"/>
            <a:ext cx="14288" cy="2108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255" name="Group 133"/>
          <p:cNvGrpSpPr/>
          <p:nvPr/>
        </p:nvGrpSpPr>
        <p:grpSpPr bwMode="auto">
          <a:xfrm>
            <a:off x="4643438" y="4530725"/>
            <a:ext cx="239712" cy="255588"/>
            <a:chOff x="1169" y="3382"/>
            <a:chExt cx="218" cy="257"/>
          </a:xfrm>
        </p:grpSpPr>
        <p:sp>
          <p:nvSpPr>
            <p:cNvPr id="8283" name="AutoShape 134"/>
            <p:cNvSpPr>
              <a:spLocks noChangeArrowheads="1"/>
            </p:cNvSpPr>
            <p:nvPr/>
          </p:nvSpPr>
          <p:spPr bwMode="auto">
            <a:xfrm flipV="1">
              <a:off x="1169" y="3436"/>
              <a:ext cx="218" cy="203"/>
            </a:xfrm>
            <a:prstGeom prst="flowChartMerg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84" name="Oval 135"/>
            <p:cNvSpPr>
              <a:spLocks noChangeArrowheads="1"/>
            </p:cNvSpPr>
            <p:nvPr/>
          </p:nvSpPr>
          <p:spPr bwMode="auto">
            <a:xfrm>
              <a:off x="1247" y="3382"/>
              <a:ext cx="62" cy="5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56" name="Line 136"/>
          <p:cNvSpPr>
            <a:spLocks noChangeShapeType="1"/>
          </p:cNvSpPr>
          <p:nvPr/>
        </p:nvSpPr>
        <p:spPr bwMode="auto">
          <a:xfrm flipV="1">
            <a:off x="5584825" y="4449763"/>
            <a:ext cx="10906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257" name="Group 137"/>
          <p:cNvGrpSpPr/>
          <p:nvPr/>
        </p:nvGrpSpPr>
        <p:grpSpPr bwMode="auto">
          <a:xfrm>
            <a:off x="6561138" y="4522788"/>
            <a:ext cx="238125" cy="255587"/>
            <a:chOff x="1169" y="3382"/>
            <a:chExt cx="218" cy="257"/>
          </a:xfrm>
        </p:grpSpPr>
        <p:sp>
          <p:nvSpPr>
            <p:cNvPr id="8281" name="AutoShape 138"/>
            <p:cNvSpPr>
              <a:spLocks noChangeArrowheads="1"/>
            </p:cNvSpPr>
            <p:nvPr/>
          </p:nvSpPr>
          <p:spPr bwMode="auto">
            <a:xfrm flipV="1">
              <a:off x="1169" y="3436"/>
              <a:ext cx="218" cy="203"/>
            </a:xfrm>
            <a:prstGeom prst="flowChartMerg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82" name="Oval 139"/>
            <p:cNvSpPr>
              <a:spLocks noChangeArrowheads="1"/>
            </p:cNvSpPr>
            <p:nvPr/>
          </p:nvSpPr>
          <p:spPr bwMode="auto">
            <a:xfrm>
              <a:off x="1247" y="3382"/>
              <a:ext cx="62" cy="5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58" name="Line 140"/>
          <p:cNvSpPr>
            <a:spLocks noChangeShapeType="1"/>
          </p:cNvSpPr>
          <p:nvPr/>
        </p:nvSpPr>
        <p:spPr bwMode="auto">
          <a:xfrm>
            <a:off x="4765675" y="4903788"/>
            <a:ext cx="3968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59" name="Line 141"/>
          <p:cNvSpPr>
            <a:spLocks noChangeShapeType="1"/>
          </p:cNvSpPr>
          <p:nvPr/>
        </p:nvSpPr>
        <p:spPr bwMode="auto">
          <a:xfrm>
            <a:off x="6700838" y="4906963"/>
            <a:ext cx="395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0" name="Line 142"/>
          <p:cNvSpPr>
            <a:spLocks noChangeShapeType="1"/>
          </p:cNvSpPr>
          <p:nvPr/>
        </p:nvSpPr>
        <p:spPr bwMode="auto">
          <a:xfrm flipV="1">
            <a:off x="5984875" y="4367213"/>
            <a:ext cx="11064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1" name="Line 143"/>
          <p:cNvSpPr>
            <a:spLocks noChangeShapeType="1"/>
          </p:cNvSpPr>
          <p:nvPr/>
        </p:nvSpPr>
        <p:spPr bwMode="auto">
          <a:xfrm flipV="1">
            <a:off x="4054475" y="4370388"/>
            <a:ext cx="1108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2" name="Line 144"/>
          <p:cNvSpPr>
            <a:spLocks noChangeShapeType="1"/>
          </p:cNvSpPr>
          <p:nvPr/>
        </p:nvSpPr>
        <p:spPr bwMode="auto">
          <a:xfrm flipV="1">
            <a:off x="4067175" y="4449763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3" name="Line 145"/>
          <p:cNvSpPr>
            <a:spLocks noChangeShapeType="1"/>
          </p:cNvSpPr>
          <p:nvPr/>
        </p:nvSpPr>
        <p:spPr bwMode="auto">
          <a:xfrm flipV="1">
            <a:off x="7897813" y="4367213"/>
            <a:ext cx="692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4" name="Line 146"/>
          <p:cNvSpPr>
            <a:spLocks noChangeShapeType="1"/>
          </p:cNvSpPr>
          <p:nvPr/>
        </p:nvSpPr>
        <p:spPr bwMode="auto">
          <a:xfrm flipV="1">
            <a:off x="7515225" y="4449763"/>
            <a:ext cx="10906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5" name="Text Box 147"/>
          <p:cNvSpPr txBox="1">
            <a:spLocks noChangeArrowheads="1"/>
          </p:cNvSpPr>
          <p:nvPr/>
        </p:nvSpPr>
        <p:spPr bwMode="auto">
          <a:xfrm>
            <a:off x="5030788" y="5360988"/>
            <a:ext cx="2543175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just">
              <a:spcBef>
                <a:spcPct val="0"/>
              </a:spcBef>
            </a:pPr>
            <a:r>
              <a:rPr lang="en-US" altLang="zh-CN" sz="1600"/>
              <a:t>xi                         xi-1</a:t>
            </a:r>
            <a:endParaRPr lang="en-US" altLang="zh-CN" sz="1600"/>
          </a:p>
        </p:txBody>
      </p:sp>
      <p:sp>
        <p:nvSpPr>
          <p:cNvPr id="8266" name="Text Box 148"/>
          <p:cNvSpPr txBox="1">
            <a:spLocks noChangeArrowheads="1"/>
          </p:cNvSpPr>
          <p:nvPr/>
        </p:nvSpPr>
        <p:spPr bwMode="auto">
          <a:xfrm>
            <a:off x="4027488" y="3146425"/>
            <a:ext cx="596900" cy="8016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just">
              <a:spcBef>
                <a:spcPct val="0"/>
              </a:spcBef>
            </a:pPr>
            <a:r>
              <a:rPr lang="en-US" altLang="zh-CN" sz="1400"/>
              <a:t>-X</a:t>
            </a:r>
            <a:endParaRPr lang="en-US" altLang="zh-CN" sz="1400"/>
          </a:p>
          <a:p>
            <a:pPr algn="just">
              <a:spcBef>
                <a:spcPct val="0"/>
              </a:spcBef>
            </a:pPr>
            <a:r>
              <a:rPr lang="en-US" altLang="zh-CN" sz="1400"/>
              <a:t>+X</a:t>
            </a:r>
            <a:endParaRPr lang="en-US" altLang="zh-CN" sz="1400"/>
          </a:p>
          <a:p>
            <a:pPr algn="just">
              <a:spcBef>
                <a:spcPct val="0"/>
              </a:spcBef>
            </a:pPr>
            <a:r>
              <a:rPr lang="en-US" altLang="zh-CN" sz="1400"/>
              <a:t>-2X</a:t>
            </a:r>
            <a:endParaRPr lang="en-US" altLang="zh-CN" sz="1400"/>
          </a:p>
          <a:p>
            <a:pPr algn="just">
              <a:spcBef>
                <a:spcPct val="0"/>
              </a:spcBef>
            </a:pPr>
            <a:r>
              <a:rPr lang="en-US" altLang="zh-CN" sz="1400"/>
              <a:t>+2X</a:t>
            </a:r>
            <a:endParaRPr lang="en-US" altLang="zh-CN" sz="1400"/>
          </a:p>
        </p:txBody>
      </p:sp>
      <p:sp>
        <p:nvSpPr>
          <p:cNvPr id="8267" name="Line 150"/>
          <p:cNvSpPr>
            <a:spLocks noChangeShapeType="1"/>
          </p:cNvSpPr>
          <p:nvPr/>
        </p:nvSpPr>
        <p:spPr bwMode="auto">
          <a:xfrm>
            <a:off x="10626725" y="3775075"/>
            <a:ext cx="0" cy="138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8" name="Line 151"/>
          <p:cNvSpPr>
            <a:spLocks noChangeShapeType="1"/>
          </p:cNvSpPr>
          <p:nvPr/>
        </p:nvSpPr>
        <p:spPr bwMode="auto">
          <a:xfrm>
            <a:off x="10129838" y="3570288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9" name="Line 152"/>
          <p:cNvSpPr>
            <a:spLocks noChangeShapeType="1"/>
          </p:cNvSpPr>
          <p:nvPr/>
        </p:nvSpPr>
        <p:spPr bwMode="auto">
          <a:xfrm>
            <a:off x="10129838" y="36560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0" name="Line 153"/>
          <p:cNvSpPr>
            <a:spLocks noChangeShapeType="1"/>
          </p:cNvSpPr>
          <p:nvPr/>
        </p:nvSpPr>
        <p:spPr bwMode="auto">
          <a:xfrm flipV="1">
            <a:off x="11053763" y="2635250"/>
            <a:ext cx="0" cy="1919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1" name="Rectangle 154"/>
          <p:cNvSpPr>
            <a:spLocks noChangeArrowheads="1"/>
          </p:cNvSpPr>
          <p:nvPr/>
        </p:nvSpPr>
        <p:spPr bwMode="auto">
          <a:xfrm>
            <a:off x="10525125" y="2990850"/>
            <a:ext cx="1042988" cy="808038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2" name="Line 155"/>
          <p:cNvSpPr>
            <a:spLocks noChangeShapeType="1"/>
          </p:cNvSpPr>
          <p:nvPr/>
        </p:nvSpPr>
        <p:spPr bwMode="auto">
          <a:xfrm>
            <a:off x="10718800" y="3790950"/>
            <a:ext cx="0" cy="2016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3" name="Line 156"/>
          <p:cNvSpPr>
            <a:spLocks noChangeShapeType="1"/>
          </p:cNvSpPr>
          <p:nvPr/>
        </p:nvSpPr>
        <p:spPr bwMode="auto">
          <a:xfrm flipH="1">
            <a:off x="10817225" y="3790950"/>
            <a:ext cx="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4" name="Line 157"/>
          <p:cNvSpPr>
            <a:spLocks noChangeShapeType="1"/>
          </p:cNvSpPr>
          <p:nvPr/>
        </p:nvSpPr>
        <p:spPr bwMode="auto">
          <a:xfrm>
            <a:off x="10914063" y="3790950"/>
            <a:ext cx="0" cy="3571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5" name="Line 158"/>
          <p:cNvSpPr>
            <a:spLocks noChangeShapeType="1"/>
          </p:cNvSpPr>
          <p:nvPr/>
        </p:nvSpPr>
        <p:spPr bwMode="auto">
          <a:xfrm>
            <a:off x="10148888" y="3913188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6" name="Line 159"/>
          <p:cNvSpPr>
            <a:spLocks noChangeShapeType="1"/>
          </p:cNvSpPr>
          <p:nvPr/>
        </p:nvSpPr>
        <p:spPr bwMode="auto">
          <a:xfrm>
            <a:off x="10148888" y="39925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7" name="Line 160"/>
          <p:cNvSpPr>
            <a:spLocks noChangeShapeType="1"/>
          </p:cNvSpPr>
          <p:nvPr/>
        </p:nvSpPr>
        <p:spPr bwMode="auto">
          <a:xfrm>
            <a:off x="10148888" y="40751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8" name="Line 161"/>
          <p:cNvSpPr>
            <a:spLocks noChangeShapeType="1"/>
          </p:cNvSpPr>
          <p:nvPr/>
        </p:nvSpPr>
        <p:spPr bwMode="auto">
          <a:xfrm>
            <a:off x="10148888" y="41449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9" name="AutoShape 163"/>
          <p:cNvSpPr>
            <a:spLocks noChangeArrowheads="1"/>
          </p:cNvSpPr>
          <p:nvPr/>
        </p:nvSpPr>
        <p:spPr bwMode="auto">
          <a:xfrm>
            <a:off x="8939213" y="3486150"/>
            <a:ext cx="584200" cy="171450"/>
          </a:xfrm>
          <a:prstGeom prst="rightArrow">
            <a:avLst>
              <a:gd name="adj1" fmla="val 50000"/>
              <a:gd name="adj2" fmla="val 6390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80" name="Rectangle 164"/>
          <p:cNvSpPr>
            <a:spLocks noChangeArrowheads="1"/>
          </p:cNvSpPr>
          <p:nvPr/>
        </p:nvSpPr>
        <p:spPr bwMode="auto">
          <a:xfrm>
            <a:off x="812800" y="0"/>
            <a:ext cx="10361613" cy="971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2" charset="-122"/>
              </a:rPr>
              <a:t>Booth</a:t>
            </a:r>
            <a:r>
              <a:rPr lang="zh-CN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2" charset="-122"/>
              </a:rPr>
              <a:t>二位乘的输入选择逻辑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2" charset="-122"/>
            </a:endParaRPr>
          </a:p>
        </p:txBody>
      </p:sp>
      <p:graphicFrame>
        <p:nvGraphicFramePr>
          <p:cNvPr id="163" name="表格 162"/>
          <p:cNvGraphicFramePr>
            <a:graphicFrameLocks noGrp="1"/>
          </p:cNvGraphicFramePr>
          <p:nvPr/>
        </p:nvGraphicFramePr>
        <p:xfrm>
          <a:off x="431535" y="1786819"/>
          <a:ext cx="29212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965"/>
                <a:gridCol w="1384300"/>
              </a:tblGrid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y</a:t>
                      </a:r>
                      <a:r>
                        <a:rPr lang="en-US" sz="1800" b="1" kern="100" baseline="-25000" dirty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i+1</a:t>
                      </a: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 </a:t>
                      </a:r>
                      <a:r>
                        <a:rPr lang="en-US" sz="1800" b="1" kern="100" dirty="0" err="1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y</a:t>
                      </a:r>
                      <a:r>
                        <a:rPr lang="en-US" sz="1800" b="1" kern="100" baseline="-25000" dirty="0" err="1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i</a:t>
                      </a:r>
                      <a:r>
                        <a:rPr lang="en-US" sz="1800" b="1" kern="100" dirty="0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 y</a:t>
                      </a:r>
                      <a:r>
                        <a:rPr lang="en-US" sz="1800" b="1" kern="100" baseline="-25000" dirty="0" smtClean="0">
                          <a:solidFill>
                            <a:srgbClr val="FF0000"/>
                          </a:solidFill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i-1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操作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0   0   0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+0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0   0   1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0   1   0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0   1   1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+2[X]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1   0   0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-2[X]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1   0   1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-[X]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1   1   0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-[X]</a:t>
                      </a:r>
                      <a:r>
                        <a:rPr lang="zh-CN" sz="1800" b="1" kern="100" baseline="-25000" dirty="0">
                          <a:latin typeface="Times New Roman"/>
                          <a:ea typeface="宋体" panose="02000500000000000000" pitchFamily="2" charset="-122"/>
                          <a:cs typeface="Times New Roman"/>
                        </a:rPr>
                        <a:t>补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1   1   1</a:t>
                      </a:r>
                      <a:endParaRPr lang="zh-CN" sz="1050" kern="10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宋体" panose="02000500000000000000" pitchFamily="2" charset="-122"/>
                          <a:ea typeface="宋体" panose="02000500000000000000" pitchFamily="2" charset="-122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Times New Roman"/>
                        <a:ea typeface="宋体" panose="02000500000000000000" pitchFamily="2" charset="-122"/>
                        <a:cs typeface="Times New Roman"/>
                      </a:endParaRPr>
                    </a:p>
                  </a:txBody>
                  <a:tcPr marL="108000" marR="108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E6FF9BA-5FA0-4B89-9360-A8572B32C18B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41987" name="Rectangle 218"/>
          <p:cNvSpPr>
            <a:spLocks noChangeArrowheads="1"/>
          </p:cNvSpPr>
          <p:nvPr/>
        </p:nvSpPr>
        <p:spPr bwMode="auto">
          <a:xfrm>
            <a:off x="3373438" y="2320925"/>
            <a:ext cx="8342312" cy="123825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8" name="Rectangle 217"/>
          <p:cNvSpPr>
            <a:spLocks noChangeArrowheads="1"/>
          </p:cNvSpPr>
          <p:nvPr/>
        </p:nvSpPr>
        <p:spPr bwMode="auto">
          <a:xfrm>
            <a:off x="152400" y="2324100"/>
            <a:ext cx="3721100" cy="4038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9" name="Rectangle 2"/>
          <p:cNvSpPr>
            <a:spLocks noChangeArrowheads="1"/>
          </p:cNvSpPr>
          <p:nvPr/>
        </p:nvSpPr>
        <p:spPr bwMode="auto">
          <a:xfrm>
            <a:off x="425450" y="1031875"/>
            <a:ext cx="11764963" cy="798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10000"/>
              </a:spcBef>
              <a:buFontTx/>
              <a:buChar char="•"/>
            </a:pPr>
            <a:r>
              <a:rPr lang="zh-CN" altLang="zh-CN" sz="2400" b="1"/>
              <a:t>一组</a:t>
            </a:r>
            <a:r>
              <a:rPr lang="zh-CN" altLang="en-US" sz="2400" b="1"/>
              <a:t>所有位</a:t>
            </a:r>
            <a:r>
              <a:rPr lang="zh-CN" altLang="zh-CN" sz="2400" b="1"/>
              <a:t> </a:t>
            </a:r>
            <a:endParaRPr lang="zh-CN" altLang="zh-CN" sz="2400" b="1"/>
          </a:p>
        </p:txBody>
      </p:sp>
      <p:grpSp>
        <p:nvGrpSpPr>
          <p:cNvPr id="41990" name="Group 4"/>
          <p:cNvGrpSpPr/>
          <p:nvPr/>
        </p:nvGrpSpPr>
        <p:grpSpPr bwMode="auto">
          <a:xfrm>
            <a:off x="236538" y="3916363"/>
            <a:ext cx="3605212" cy="2773362"/>
            <a:chOff x="119" y="2460"/>
            <a:chExt cx="1703" cy="1747"/>
          </a:xfrm>
        </p:grpSpPr>
        <p:sp>
          <p:nvSpPr>
            <p:cNvPr id="42072" name="Line 5"/>
            <p:cNvSpPr>
              <a:spLocks noChangeShapeType="1"/>
            </p:cNvSpPr>
            <p:nvPr/>
          </p:nvSpPr>
          <p:spPr bwMode="auto">
            <a:xfrm flipV="1">
              <a:off x="1328" y="2480"/>
              <a:ext cx="0" cy="5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73" name="Line 6"/>
            <p:cNvSpPr>
              <a:spLocks noChangeShapeType="1"/>
            </p:cNvSpPr>
            <p:nvPr/>
          </p:nvSpPr>
          <p:spPr bwMode="auto">
            <a:xfrm flipV="1">
              <a:off x="1138" y="2478"/>
              <a:ext cx="0" cy="5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74" name="Line 7"/>
            <p:cNvSpPr>
              <a:spLocks noChangeShapeType="1"/>
            </p:cNvSpPr>
            <p:nvPr/>
          </p:nvSpPr>
          <p:spPr bwMode="auto">
            <a:xfrm>
              <a:off x="539" y="3565"/>
              <a:ext cx="0" cy="5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75" name="Line 8"/>
            <p:cNvSpPr>
              <a:spLocks noChangeShapeType="1"/>
            </p:cNvSpPr>
            <p:nvPr/>
          </p:nvSpPr>
          <p:spPr bwMode="auto">
            <a:xfrm flipH="1">
              <a:off x="363" y="3452"/>
              <a:ext cx="1" cy="6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76" name="Line 9"/>
            <p:cNvSpPr>
              <a:spLocks noChangeShapeType="1"/>
            </p:cNvSpPr>
            <p:nvPr/>
          </p:nvSpPr>
          <p:spPr bwMode="auto">
            <a:xfrm>
              <a:off x="203" y="3343"/>
              <a:ext cx="0" cy="7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077" name="Group 10"/>
            <p:cNvGrpSpPr/>
            <p:nvPr/>
          </p:nvGrpSpPr>
          <p:grpSpPr bwMode="auto">
            <a:xfrm>
              <a:off x="858" y="3016"/>
              <a:ext cx="160" cy="224"/>
              <a:chOff x="2025" y="2603"/>
              <a:chExt cx="277" cy="403"/>
            </a:xfrm>
          </p:grpSpPr>
          <p:grpSp>
            <p:nvGrpSpPr>
              <p:cNvPr id="42195" name="Group 11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2197" name="Oval 12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98" name="Line 13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99" name="Rectangle 14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200" name="Line 15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201" name="Line 16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2196" name="Oval 17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78" name="Group 18"/>
            <p:cNvGrpSpPr/>
            <p:nvPr/>
          </p:nvGrpSpPr>
          <p:grpSpPr bwMode="auto">
            <a:xfrm>
              <a:off x="1050" y="3016"/>
              <a:ext cx="160" cy="224"/>
              <a:chOff x="2025" y="2603"/>
              <a:chExt cx="277" cy="403"/>
            </a:xfrm>
          </p:grpSpPr>
          <p:grpSp>
            <p:nvGrpSpPr>
              <p:cNvPr id="42188" name="Group 19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2190" name="Oval 20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91" name="Line 21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92" name="Rectangle 22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93" name="Line 23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94" name="Line 24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2189" name="Oval 25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79" name="Group 26"/>
            <p:cNvGrpSpPr/>
            <p:nvPr/>
          </p:nvGrpSpPr>
          <p:grpSpPr bwMode="auto">
            <a:xfrm>
              <a:off x="1242" y="3016"/>
              <a:ext cx="160" cy="224"/>
              <a:chOff x="2025" y="2603"/>
              <a:chExt cx="277" cy="403"/>
            </a:xfrm>
          </p:grpSpPr>
          <p:grpSp>
            <p:nvGrpSpPr>
              <p:cNvPr id="42181" name="Group 27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2183" name="Oval 28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84" name="Line 29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85" name="Rectangle 30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86" name="Line 31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87" name="Line 32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2182" name="Oval 33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80" name="Group 34"/>
            <p:cNvGrpSpPr/>
            <p:nvPr/>
          </p:nvGrpSpPr>
          <p:grpSpPr bwMode="auto">
            <a:xfrm>
              <a:off x="1426" y="3016"/>
              <a:ext cx="160" cy="224"/>
              <a:chOff x="2025" y="2603"/>
              <a:chExt cx="277" cy="403"/>
            </a:xfrm>
          </p:grpSpPr>
          <p:grpSp>
            <p:nvGrpSpPr>
              <p:cNvPr id="42174" name="Group 35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2176" name="Oval 36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77" name="Line 37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78" name="Rectangle 38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79" name="Line 39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80" name="Line 40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2175" name="Oval 41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81" name="Group 42"/>
            <p:cNvGrpSpPr/>
            <p:nvPr/>
          </p:nvGrpSpPr>
          <p:grpSpPr bwMode="auto">
            <a:xfrm>
              <a:off x="1618" y="3016"/>
              <a:ext cx="160" cy="224"/>
              <a:chOff x="2025" y="2603"/>
              <a:chExt cx="277" cy="403"/>
            </a:xfrm>
          </p:grpSpPr>
          <p:grpSp>
            <p:nvGrpSpPr>
              <p:cNvPr id="42167" name="Group 43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2169" name="Oval 44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70" name="Line 45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71" name="Rectangle 46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72" name="Line 47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73" name="Line 48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2168" name="Oval 49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82" name="Group 50"/>
            <p:cNvGrpSpPr/>
            <p:nvPr/>
          </p:nvGrpSpPr>
          <p:grpSpPr bwMode="auto">
            <a:xfrm>
              <a:off x="674" y="3016"/>
              <a:ext cx="160" cy="224"/>
              <a:chOff x="2025" y="2603"/>
              <a:chExt cx="277" cy="403"/>
            </a:xfrm>
          </p:grpSpPr>
          <p:grpSp>
            <p:nvGrpSpPr>
              <p:cNvPr id="42160" name="Group 51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2162" name="Oval 52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63" name="Line 53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64" name="Rectangle 54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65" name="Line 55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66" name="Line 56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2161" name="Oval 57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83" name="Group 58"/>
            <p:cNvGrpSpPr/>
            <p:nvPr/>
          </p:nvGrpSpPr>
          <p:grpSpPr bwMode="auto">
            <a:xfrm>
              <a:off x="143" y="3678"/>
              <a:ext cx="113" cy="161"/>
              <a:chOff x="1169" y="3382"/>
              <a:chExt cx="218" cy="257"/>
            </a:xfrm>
          </p:grpSpPr>
          <p:sp>
            <p:nvSpPr>
              <p:cNvPr id="42158" name="AutoShape 59"/>
              <p:cNvSpPr>
                <a:spLocks noChangeArrowheads="1"/>
              </p:cNvSpPr>
              <p:nvPr/>
            </p:nvSpPr>
            <p:spPr bwMode="auto">
              <a:xfrm flipV="1">
                <a:off x="1169" y="3436"/>
                <a:ext cx="218" cy="203"/>
              </a:xfrm>
              <a:prstGeom prst="flowChartMerg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159" name="Oval 60"/>
              <p:cNvSpPr>
                <a:spLocks noChangeArrowheads="1"/>
              </p:cNvSpPr>
              <p:nvPr/>
            </p:nvSpPr>
            <p:spPr bwMode="auto">
              <a:xfrm>
                <a:off x="1247" y="3382"/>
                <a:ext cx="62" cy="5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84" name="Group 61"/>
            <p:cNvGrpSpPr/>
            <p:nvPr/>
          </p:nvGrpSpPr>
          <p:grpSpPr bwMode="auto">
            <a:xfrm>
              <a:off x="309" y="3680"/>
              <a:ext cx="113" cy="161"/>
              <a:chOff x="1169" y="3382"/>
              <a:chExt cx="218" cy="257"/>
            </a:xfrm>
          </p:grpSpPr>
          <p:sp>
            <p:nvSpPr>
              <p:cNvPr id="42156" name="AutoShape 62"/>
              <p:cNvSpPr>
                <a:spLocks noChangeArrowheads="1"/>
              </p:cNvSpPr>
              <p:nvPr/>
            </p:nvSpPr>
            <p:spPr bwMode="auto">
              <a:xfrm flipV="1">
                <a:off x="1169" y="3436"/>
                <a:ext cx="218" cy="203"/>
              </a:xfrm>
              <a:prstGeom prst="flowChartMerg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157" name="Oval 63"/>
              <p:cNvSpPr>
                <a:spLocks noChangeArrowheads="1"/>
              </p:cNvSpPr>
              <p:nvPr/>
            </p:nvSpPr>
            <p:spPr bwMode="auto">
              <a:xfrm>
                <a:off x="1247" y="3382"/>
                <a:ext cx="62" cy="5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85" name="Group 64"/>
            <p:cNvGrpSpPr/>
            <p:nvPr/>
          </p:nvGrpSpPr>
          <p:grpSpPr bwMode="auto">
            <a:xfrm>
              <a:off x="483" y="3682"/>
              <a:ext cx="113" cy="161"/>
              <a:chOff x="1169" y="3382"/>
              <a:chExt cx="218" cy="257"/>
            </a:xfrm>
          </p:grpSpPr>
          <p:sp>
            <p:nvSpPr>
              <p:cNvPr id="42154" name="AutoShape 65"/>
              <p:cNvSpPr>
                <a:spLocks noChangeArrowheads="1"/>
              </p:cNvSpPr>
              <p:nvPr/>
            </p:nvSpPr>
            <p:spPr bwMode="auto">
              <a:xfrm flipV="1">
                <a:off x="1169" y="3436"/>
                <a:ext cx="218" cy="203"/>
              </a:xfrm>
              <a:prstGeom prst="flowChartMerg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155" name="Oval 66"/>
              <p:cNvSpPr>
                <a:spLocks noChangeArrowheads="1"/>
              </p:cNvSpPr>
              <p:nvPr/>
            </p:nvSpPr>
            <p:spPr bwMode="auto">
              <a:xfrm>
                <a:off x="1247" y="3382"/>
                <a:ext cx="62" cy="5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86" name="Line 67"/>
            <p:cNvSpPr>
              <a:spLocks noChangeShapeType="1"/>
            </p:cNvSpPr>
            <p:nvPr/>
          </p:nvSpPr>
          <p:spPr bwMode="auto">
            <a:xfrm>
              <a:off x="291" y="3408"/>
              <a:ext cx="0" cy="5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7" name="Line 68"/>
            <p:cNvSpPr>
              <a:spLocks noChangeShapeType="1"/>
            </p:cNvSpPr>
            <p:nvPr/>
          </p:nvSpPr>
          <p:spPr bwMode="auto">
            <a:xfrm>
              <a:off x="203" y="3951"/>
              <a:ext cx="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8" name="Line 69"/>
            <p:cNvSpPr>
              <a:spLocks noChangeShapeType="1"/>
            </p:cNvSpPr>
            <p:nvPr/>
          </p:nvSpPr>
          <p:spPr bwMode="auto">
            <a:xfrm>
              <a:off x="443" y="3508"/>
              <a:ext cx="0" cy="4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9" name="Line 70"/>
            <p:cNvSpPr>
              <a:spLocks noChangeShapeType="1"/>
            </p:cNvSpPr>
            <p:nvPr/>
          </p:nvSpPr>
          <p:spPr bwMode="auto">
            <a:xfrm>
              <a:off x="363" y="3951"/>
              <a:ext cx="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0" name="Line 71"/>
            <p:cNvSpPr>
              <a:spLocks noChangeShapeType="1"/>
            </p:cNvSpPr>
            <p:nvPr/>
          </p:nvSpPr>
          <p:spPr bwMode="auto">
            <a:xfrm>
              <a:off x="539" y="3951"/>
              <a:ext cx="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1" name="Line 72"/>
            <p:cNvSpPr>
              <a:spLocks noChangeShapeType="1"/>
            </p:cNvSpPr>
            <p:nvPr/>
          </p:nvSpPr>
          <p:spPr bwMode="auto">
            <a:xfrm>
              <a:off x="619" y="3618"/>
              <a:ext cx="0" cy="3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2" name="Line 73"/>
            <p:cNvSpPr>
              <a:spLocks noChangeShapeType="1"/>
            </p:cNvSpPr>
            <p:nvPr/>
          </p:nvSpPr>
          <p:spPr bwMode="auto">
            <a:xfrm flipV="1">
              <a:off x="616" y="3616"/>
              <a:ext cx="9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3" name="Line 74"/>
            <p:cNvSpPr>
              <a:spLocks noChangeShapeType="1"/>
            </p:cNvSpPr>
            <p:nvPr/>
          </p:nvSpPr>
          <p:spPr bwMode="auto">
            <a:xfrm>
              <a:off x="448" y="3509"/>
              <a:ext cx="12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4" name="Line 75"/>
            <p:cNvSpPr>
              <a:spLocks noChangeShapeType="1"/>
            </p:cNvSpPr>
            <p:nvPr/>
          </p:nvSpPr>
          <p:spPr bwMode="auto">
            <a:xfrm>
              <a:off x="364" y="3449"/>
              <a:ext cx="1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5" name="Line 76"/>
            <p:cNvSpPr>
              <a:spLocks noChangeShapeType="1"/>
            </p:cNvSpPr>
            <p:nvPr/>
          </p:nvSpPr>
          <p:spPr bwMode="auto">
            <a:xfrm>
              <a:off x="288" y="3398"/>
              <a:ext cx="137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6" name="Line 77"/>
            <p:cNvSpPr>
              <a:spLocks noChangeShapeType="1"/>
            </p:cNvSpPr>
            <p:nvPr/>
          </p:nvSpPr>
          <p:spPr bwMode="auto">
            <a:xfrm>
              <a:off x="206" y="3345"/>
              <a:ext cx="8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7" name="Line 78"/>
            <p:cNvSpPr>
              <a:spLocks noChangeShapeType="1"/>
            </p:cNvSpPr>
            <p:nvPr/>
          </p:nvSpPr>
          <p:spPr bwMode="auto">
            <a:xfrm>
              <a:off x="535" y="3558"/>
              <a:ext cx="1215" cy="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8" name="Line 79"/>
            <p:cNvSpPr>
              <a:spLocks noChangeShapeType="1"/>
            </p:cNvSpPr>
            <p:nvPr/>
          </p:nvSpPr>
          <p:spPr bwMode="auto">
            <a:xfrm flipV="1">
              <a:off x="694" y="3234"/>
              <a:ext cx="0" cy="1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9" name="Line 80"/>
            <p:cNvSpPr>
              <a:spLocks noChangeShapeType="1"/>
            </p:cNvSpPr>
            <p:nvPr/>
          </p:nvSpPr>
          <p:spPr bwMode="auto">
            <a:xfrm flipV="1">
              <a:off x="748" y="3234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0" name="Line 81"/>
            <p:cNvSpPr>
              <a:spLocks noChangeShapeType="1"/>
            </p:cNvSpPr>
            <p:nvPr/>
          </p:nvSpPr>
          <p:spPr bwMode="auto">
            <a:xfrm flipV="1">
              <a:off x="803" y="3234"/>
              <a:ext cx="0" cy="3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1" name="Line 82"/>
            <p:cNvSpPr>
              <a:spLocks noChangeShapeType="1"/>
            </p:cNvSpPr>
            <p:nvPr/>
          </p:nvSpPr>
          <p:spPr bwMode="auto">
            <a:xfrm flipV="1">
              <a:off x="891" y="3237"/>
              <a:ext cx="0" cy="1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2" name="Line 83"/>
            <p:cNvSpPr>
              <a:spLocks noChangeShapeType="1"/>
            </p:cNvSpPr>
            <p:nvPr/>
          </p:nvSpPr>
          <p:spPr bwMode="auto">
            <a:xfrm flipV="1">
              <a:off x="1081" y="3231"/>
              <a:ext cx="0" cy="1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3" name="Line 84"/>
            <p:cNvSpPr>
              <a:spLocks noChangeShapeType="1"/>
            </p:cNvSpPr>
            <p:nvPr/>
          </p:nvSpPr>
          <p:spPr bwMode="auto">
            <a:xfrm flipV="1">
              <a:off x="1319" y="3236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4" name="Line 85"/>
            <p:cNvSpPr>
              <a:spLocks noChangeShapeType="1"/>
            </p:cNvSpPr>
            <p:nvPr/>
          </p:nvSpPr>
          <p:spPr bwMode="auto">
            <a:xfrm flipV="1">
              <a:off x="1501" y="3224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5" name="Line 86"/>
            <p:cNvSpPr>
              <a:spLocks noChangeShapeType="1"/>
            </p:cNvSpPr>
            <p:nvPr/>
          </p:nvSpPr>
          <p:spPr bwMode="auto">
            <a:xfrm flipV="1">
              <a:off x="935" y="3234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6" name="Line 87"/>
            <p:cNvSpPr>
              <a:spLocks noChangeShapeType="1"/>
            </p:cNvSpPr>
            <p:nvPr/>
          </p:nvSpPr>
          <p:spPr bwMode="auto">
            <a:xfrm flipV="1">
              <a:off x="982" y="3234"/>
              <a:ext cx="0" cy="3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7" name="Line 88"/>
            <p:cNvSpPr>
              <a:spLocks noChangeShapeType="1"/>
            </p:cNvSpPr>
            <p:nvPr/>
          </p:nvSpPr>
          <p:spPr bwMode="auto">
            <a:xfrm flipV="1">
              <a:off x="1130" y="3234"/>
              <a:ext cx="0" cy="2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8" name="Line 89"/>
            <p:cNvSpPr>
              <a:spLocks noChangeShapeType="1"/>
            </p:cNvSpPr>
            <p:nvPr/>
          </p:nvSpPr>
          <p:spPr bwMode="auto">
            <a:xfrm flipV="1">
              <a:off x="1177" y="3234"/>
              <a:ext cx="0" cy="3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9" name="Line 90"/>
            <p:cNvSpPr>
              <a:spLocks noChangeShapeType="1"/>
            </p:cNvSpPr>
            <p:nvPr/>
          </p:nvSpPr>
          <p:spPr bwMode="auto">
            <a:xfrm flipV="1">
              <a:off x="1270" y="3234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10" name="Line 91"/>
            <p:cNvSpPr>
              <a:spLocks noChangeShapeType="1"/>
            </p:cNvSpPr>
            <p:nvPr/>
          </p:nvSpPr>
          <p:spPr bwMode="auto">
            <a:xfrm flipV="1">
              <a:off x="1459" y="3237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11" name="Line 92"/>
            <p:cNvSpPr>
              <a:spLocks noChangeShapeType="1"/>
            </p:cNvSpPr>
            <p:nvPr/>
          </p:nvSpPr>
          <p:spPr bwMode="auto">
            <a:xfrm flipV="1">
              <a:off x="1657" y="3231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12" name="Line 93"/>
            <p:cNvSpPr>
              <a:spLocks noChangeShapeType="1"/>
            </p:cNvSpPr>
            <p:nvPr/>
          </p:nvSpPr>
          <p:spPr bwMode="auto">
            <a:xfrm flipV="1">
              <a:off x="1371" y="3234"/>
              <a:ext cx="0" cy="3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13" name="Line 94"/>
            <p:cNvSpPr>
              <a:spLocks noChangeShapeType="1"/>
            </p:cNvSpPr>
            <p:nvPr/>
          </p:nvSpPr>
          <p:spPr bwMode="auto">
            <a:xfrm flipV="1">
              <a:off x="1554" y="3228"/>
              <a:ext cx="0" cy="3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14" name="Line 95"/>
            <p:cNvSpPr>
              <a:spLocks noChangeShapeType="1"/>
            </p:cNvSpPr>
            <p:nvPr/>
          </p:nvSpPr>
          <p:spPr bwMode="auto">
            <a:xfrm flipV="1">
              <a:off x="1707" y="3234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15" name="Line 96"/>
            <p:cNvSpPr>
              <a:spLocks noChangeShapeType="1"/>
            </p:cNvSpPr>
            <p:nvPr/>
          </p:nvSpPr>
          <p:spPr bwMode="auto">
            <a:xfrm flipV="1">
              <a:off x="1753" y="3234"/>
              <a:ext cx="0" cy="3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116" name="Group 97"/>
            <p:cNvGrpSpPr/>
            <p:nvPr/>
          </p:nvGrpSpPr>
          <p:grpSpPr bwMode="auto">
            <a:xfrm>
              <a:off x="771" y="2621"/>
              <a:ext cx="160" cy="224"/>
              <a:chOff x="2025" y="2603"/>
              <a:chExt cx="277" cy="403"/>
            </a:xfrm>
          </p:grpSpPr>
          <p:grpSp>
            <p:nvGrpSpPr>
              <p:cNvPr id="42147" name="Group 98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2149" name="Oval 99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50" name="Line 100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51" name="Rectangle 101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52" name="Line 102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53" name="Line 103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2148" name="Oval 104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117" name="Group 105"/>
            <p:cNvGrpSpPr/>
            <p:nvPr/>
          </p:nvGrpSpPr>
          <p:grpSpPr bwMode="auto">
            <a:xfrm>
              <a:off x="1521" y="2623"/>
              <a:ext cx="160" cy="224"/>
              <a:chOff x="2025" y="2603"/>
              <a:chExt cx="277" cy="403"/>
            </a:xfrm>
          </p:grpSpPr>
          <p:grpSp>
            <p:nvGrpSpPr>
              <p:cNvPr id="42140" name="Group 106"/>
              <p:cNvGrpSpPr/>
              <p:nvPr/>
            </p:nvGrpSpPr>
            <p:grpSpPr bwMode="auto"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42142" name="Oval 107"/>
                <p:cNvSpPr>
                  <a:spLocks noChangeArrowheads="1"/>
                </p:cNvSpPr>
                <p:nvPr/>
              </p:nvSpPr>
              <p:spPr bwMode="auto"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43" name="Line 108"/>
                <p:cNvSpPr>
                  <a:spLocks noChangeShapeType="1"/>
                </p:cNvSpPr>
                <p:nvPr/>
              </p:nvSpPr>
              <p:spPr bwMode="auto">
                <a:xfrm>
                  <a:off x="3238" y="11820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44" name="Rectangle 109"/>
                <p:cNvSpPr>
                  <a:spLocks noChangeArrowheads="1"/>
                </p:cNvSpPr>
                <p:nvPr/>
              </p:nvSpPr>
              <p:spPr bwMode="auto"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45" name="Line 110"/>
                <p:cNvSpPr>
                  <a:spLocks noChangeShapeType="1"/>
                </p:cNvSpPr>
                <p:nvPr/>
              </p:nvSpPr>
              <p:spPr bwMode="auto">
                <a:xfrm>
                  <a:off x="3238" y="11180"/>
                  <a:ext cx="0" cy="6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46" name="Line 111"/>
                <p:cNvSpPr>
                  <a:spLocks noChangeShapeType="1"/>
                </p:cNvSpPr>
                <p:nvPr/>
              </p:nvSpPr>
              <p:spPr bwMode="auto">
                <a:xfrm>
                  <a:off x="3928" y="11180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2141" name="Oval 112"/>
              <p:cNvSpPr>
                <a:spLocks noChangeArrowheads="1"/>
              </p:cNvSpPr>
              <p:nvPr/>
            </p:nvSpPr>
            <p:spPr bwMode="auto"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118" name="Group 113"/>
            <p:cNvGrpSpPr/>
            <p:nvPr/>
          </p:nvGrpSpPr>
          <p:grpSpPr bwMode="auto">
            <a:xfrm>
              <a:off x="1078" y="2687"/>
              <a:ext cx="113" cy="161"/>
              <a:chOff x="1169" y="3382"/>
              <a:chExt cx="218" cy="257"/>
            </a:xfrm>
          </p:grpSpPr>
          <p:sp>
            <p:nvSpPr>
              <p:cNvPr id="42138" name="AutoShape 114"/>
              <p:cNvSpPr>
                <a:spLocks noChangeArrowheads="1"/>
              </p:cNvSpPr>
              <p:nvPr/>
            </p:nvSpPr>
            <p:spPr bwMode="auto">
              <a:xfrm flipV="1">
                <a:off x="1169" y="3436"/>
                <a:ext cx="218" cy="203"/>
              </a:xfrm>
              <a:prstGeom prst="flowChartMerg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139" name="Oval 115"/>
              <p:cNvSpPr>
                <a:spLocks noChangeArrowheads="1"/>
              </p:cNvSpPr>
              <p:nvPr/>
            </p:nvSpPr>
            <p:spPr bwMode="auto">
              <a:xfrm>
                <a:off x="1247" y="3382"/>
                <a:ext cx="62" cy="5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119" name="Group 116"/>
            <p:cNvGrpSpPr/>
            <p:nvPr/>
          </p:nvGrpSpPr>
          <p:grpSpPr bwMode="auto">
            <a:xfrm>
              <a:off x="1270" y="2687"/>
              <a:ext cx="113" cy="161"/>
              <a:chOff x="1169" y="3382"/>
              <a:chExt cx="218" cy="257"/>
            </a:xfrm>
          </p:grpSpPr>
          <p:sp>
            <p:nvSpPr>
              <p:cNvPr id="42136" name="AutoShape 117"/>
              <p:cNvSpPr>
                <a:spLocks noChangeArrowheads="1"/>
              </p:cNvSpPr>
              <p:nvPr/>
            </p:nvSpPr>
            <p:spPr bwMode="auto">
              <a:xfrm flipV="1">
                <a:off x="1169" y="3436"/>
                <a:ext cx="218" cy="203"/>
              </a:xfrm>
              <a:prstGeom prst="flowChartMerg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137" name="Oval 118"/>
              <p:cNvSpPr>
                <a:spLocks noChangeArrowheads="1"/>
              </p:cNvSpPr>
              <p:nvPr/>
            </p:nvSpPr>
            <p:spPr bwMode="auto">
              <a:xfrm>
                <a:off x="1247" y="3382"/>
                <a:ext cx="62" cy="5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120" name="Line 119"/>
            <p:cNvSpPr>
              <a:spLocks noChangeShapeType="1"/>
            </p:cNvSpPr>
            <p:nvPr/>
          </p:nvSpPr>
          <p:spPr bwMode="auto">
            <a:xfrm flipV="1">
              <a:off x="857" y="2470"/>
              <a:ext cx="0" cy="1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21" name="Line 120"/>
            <p:cNvSpPr>
              <a:spLocks noChangeShapeType="1"/>
            </p:cNvSpPr>
            <p:nvPr/>
          </p:nvSpPr>
          <p:spPr bwMode="auto">
            <a:xfrm flipV="1">
              <a:off x="1608" y="2473"/>
              <a:ext cx="0" cy="1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22" name="Line 121"/>
            <p:cNvSpPr>
              <a:spLocks noChangeShapeType="1"/>
            </p:cNvSpPr>
            <p:nvPr/>
          </p:nvSpPr>
          <p:spPr bwMode="auto">
            <a:xfrm flipV="1">
              <a:off x="756" y="2938"/>
              <a:ext cx="0" cy="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23" name="Line 122"/>
            <p:cNvSpPr>
              <a:spLocks noChangeShapeType="1"/>
            </p:cNvSpPr>
            <p:nvPr/>
          </p:nvSpPr>
          <p:spPr bwMode="auto">
            <a:xfrm flipV="1">
              <a:off x="938" y="2940"/>
              <a:ext cx="0" cy="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24" name="Line 123"/>
            <p:cNvSpPr>
              <a:spLocks noChangeShapeType="1"/>
            </p:cNvSpPr>
            <p:nvPr/>
          </p:nvSpPr>
          <p:spPr bwMode="auto">
            <a:xfrm>
              <a:off x="810" y="2844"/>
              <a:ext cx="0" cy="1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25" name="Line 124"/>
            <p:cNvSpPr>
              <a:spLocks noChangeShapeType="1"/>
            </p:cNvSpPr>
            <p:nvPr/>
          </p:nvSpPr>
          <p:spPr bwMode="auto">
            <a:xfrm>
              <a:off x="874" y="2844"/>
              <a:ext cx="0" cy="1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26" name="Line 125"/>
            <p:cNvSpPr>
              <a:spLocks noChangeShapeType="1"/>
            </p:cNvSpPr>
            <p:nvPr/>
          </p:nvSpPr>
          <p:spPr bwMode="auto">
            <a:xfrm>
              <a:off x="756" y="2946"/>
              <a:ext cx="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27" name="Line 126"/>
            <p:cNvSpPr>
              <a:spLocks noChangeShapeType="1"/>
            </p:cNvSpPr>
            <p:nvPr/>
          </p:nvSpPr>
          <p:spPr bwMode="auto">
            <a:xfrm>
              <a:off x="876" y="2946"/>
              <a:ext cx="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28" name="Line 127"/>
            <p:cNvSpPr>
              <a:spLocks noChangeShapeType="1"/>
            </p:cNvSpPr>
            <p:nvPr/>
          </p:nvSpPr>
          <p:spPr bwMode="auto">
            <a:xfrm flipV="1">
              <a:off x="1515" y="2940"/>
              <a:ext cx="0" cy="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29" name="Line 128"/>
            <p:cNvSpPr>
              <a:spLocks noChangeShapeType="1"/>
            </p:cNvSpPr>
            <p:nvPr/>
          </p:nvSpPr>
          <p:spPr bwMode="auto">
            <a:xfrm flipV="1">
              <a:off x="1697" y="2942"/>
              <a:ext cx="0" cy="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30" name="Line 129"/>
            <p:cNvSpPr>
              <a:spLocks noChangeShapeType="1"/>
            </p:cNvSpPr>
            <p:nvPr/>
          </p:nvSpPr>
          <p:spPr bwMode="auto">
            <a:xfrm>
              <a:off x="1569" y="2846"/>
              <a:ext cx="0" cy="1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31" name="Line 130"/>
            <p:cNvSpPr>
              <a:spLocks noChangeShapeType="1"/>
            </p:cNvSpPr>
            <p:nvPr/>
          </p:nvSpPr>
          <p:spPr bwMode="auto">
            <a:xfrm>
              <a:off x="1633" y="2846"/>
              <a:ext cx="0" cy="1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32" name="Line 131"/>
            <p:cNvSpPr>
              <a:spLocks noChangeShapeType="1"/>
            </p:cNvSpPr>
            <p:nvPr/>
          </p:nvSpPr>
          <p:spPr bwMode="auto">
            <a:xfrm>
              <a:off x="1515" y="2948"/>
              <a:ext cx="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33" name="Line 132"/>
            <p:cNvSpPr>
              <a:spLocks noChangeShapeType="1"/>
            </p:cNvSpPr>
            <p:nvPr/>
          </p:nvSpPr>
          <p:spPr bwMode="auto">
            <a:xfrm>
              <a:off x="1635" y="2948"/>
              <a:ext cx="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34" name="Text Box 133"/>
            <p:cNvSpPr txBox="1">
              <a:spLocks noChangeArrowheads="1"/>
            </p:cNvSpPr>
            <p:nvPr/>
          </p:nvSpPr>
          <p:spPr bwMode="auto">
            <a:xfrm>
              <a:off x="885" y="2460"/>
              <a:ext cx="937" cy="1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>
                <a:spcBef>
                  <a:spcPct val="0"/>
                </a:spcBef>
              </a:pPr>
              <a:r>
                <a:rPr lang="en-US" altLang="zh-CN" sz="1000" dirty="0">
                  <a:latin typeface="+mn-ea"/>
                  <a:ea typeface="+mn-ea"/>
                </a:rPr>
                <a:t>+X   </a:t>
              </a:r>
              <a:r>
                <a:rPr lang="en-US" altLang="zh-CN" sz="1000" dirty="0" smtClean="0">
                  <a:latin typeface="+mn-ea"/>
                  <a:ea typeface="+mn-ea"/>
                </a:rPr>
                <a:t>    </a:t>
              </a:r>
              <a:r>
                <a:rPr lang="en-US" altLang="zh-CN" sz="1000" dirty="0">
                  <a:latin typeface="+mn-ea"/>
                  <a:ea typeface="+mn-ea"/>
                </a:rPr>
                <a:t>+</a:t>
              </a:r>
              <a:r>
                <a:rPr lang="en-US" altLang="zh-CN" sz="1000" dirty="0" smtClean="0">
                  <a:latin typeface="+mn-ea"/>
                  <a:ea typeface="+mn-ea"/>
                </a:rPr>
                <a:t>2X    </a:t>
              </a:r>
              <a:r>
                <a:rPr lang="en-US" altLang="zh-CN" sz="1000" dirty="0">
                  <a:latin typeface="+mn-ea"/>
                  <a:ea typeface="+mn-ea"/>
                </a:rPr>
                <a:t>-2X     </a:t>
              </a:r>
              <a:r>
                <a:rPr lang="en-US" altLang="zh-CN" sz="1000" dirty="0" smtClean="0">
                  <a:latin typeface="+mn-ea"/>
                  <a:ea typeface="+mn-ea"/>
                </a:rPr>
                <a:t> </a:t>
              </a:r>
              <a:r>
                <a:rPr lang="en-US" altLang="zh-CN" sz="1000" dirty="0">
                  <a:latin typeface="+mn-ea"/>
                  <a:ea typeface="+mn-ea"/>
                </a:rPr>
                <a:t>-X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42135" name="Text Box 134"/>
            <p:cNvSpPr txBox="1">
              <a:spLocks noChangeArrowheads="1"/>
            </p:cNvSpPr>
            <p:nvPr/>
          </p:nvSpPr>
          <p:spPr bwMode="auto">
            <a:xfrm>
              <a:off x="119" y="4069"/>
              <a:ext cx="555" cy="1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>
                <a:spcBef>
                  <a:spcPct val="0"/>
                </a:spcBef>
              </a:pPr>
              <a:r>
                <a:rPr lang="en-US" altLang="zh-CN" sz="1200"/>
                <a:t>yi+1  yi  yi-1</a:t>
              </a:r>
              <a:endParaRPr lang="en-US" altLang="zh-CN" sz="1600"/>
            </a:p>
          </p:txBody>
        </p:sp>
      </p:grpSp>
      <p:grpSp>
        <p:nvGrpSpPr>
          <p:cNvPr id="41991" name="Group 135"/>
          <p:cNvGrpSpPr/>
          <p:nvPr/>
        </p:nvGrpSpPr>
        <p:grpSpPr bwMode="auto">
          <a:xfrm>
            <a:off x="7367588" y="2135188"/>
            <a:ext cx="2903537" cy="1535112"/>
            <a:chOff x="2291" y="1684"/>
            <a:chExt cx="1372" cy="967"/>
          </a:xfrm>
        </p:grpSpPr>
        <p:grpSp>
          <p:nvGrpSpPr>
            <p:cNvPr id="42046" name="Group 136"/>
            <p:cNvGrpSpPr/>
            <p:nvPr/>
          </p:nvGrpSpPr>
          <p:grpSpPr bwMode="auto">
            <a:xfrm>
              <a:off x="2291" y="1684"/>
              <a:ext cx="740" cy="967"/>
              <a:chOff x="2291" y="1684"/>
              <a:chExt cx="740" cy="967"/>
            </a:xfrm>
          </p:grpSpPr>
          <p:sp>
            <p:nvSpPr>
              <p:cNvPr id="42060" name="Line 137"/>
              <p:cNvSpPr>
                <a:spLocks noChangeShapeType="1"/>
              </p:cNvSpPr>
              <p:nvPr/>
            </p:nvSpPr>
            <p:spPr bwMode="auto">
              <a:xfrm>
                <a:off x="2492" y="2258"/>
                <a:ext cx="0" cy="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61" name="Line 138"/>
              <p:cNvSpPr>
                <a:spLocks noChangeShapeType="1"/>
              </p:cNvSpPr>
              <p:nvPr/>
            </p:nvSpPr>
            <p:spPr bwMode="auto">
              <a:xfrm>
                <a:off x="2291" y="2155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62" name="Line 139"/>
              <p:cNvSpPr>
                <a:spLocks noChangeShapeType="1"/>
              </p:cNvSpPr>
              <p:nvPr/>
            </p:nvSpPr>
            <p:spPr bwMode="auto">
              <a:xfrm>
                <a:off x="2291" y="2198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63" name="Line 140"/>
              <p:cNvSpPr>
                <a:spLocks noChangeShapeType="1"/>
              </p:cNvSpPr>
              <p:nvPr/>
            </p:nvSpPr>
            <p:spPr bwMode="auto">
              <a:xfrm flipV="1">
                <a:off x="2665" y="1684"/>
                <a:ext cx="0" cy="9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64" name="Rectangle 141"/>
              <p:cNvSpPr>
                <a:spLocks noChangeArrowheads="1"/>
              </p:cNvSpPr>
              <p:nvPr/>
            </p:nvSpPr>
            <p:spPr bwMode="auto">
              <a:xfrm>
                <a:off x="2451" y="1863"/>
                <a:ext cx="422" cy="407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65" name="Line 142"/>
              <p:cNvSpPr>
                <a:spLocks noChangeShapeType="1"/>
              </p:cNvSpPr>
              <p:nvPr/>
            </p:nvSpPr>
            <p:spPr bwMode="auto">
              <a:xfrm>
                <a:off x="2530" y="2266"/>
                <a:ext cx="0" cy="1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66" name="Line 143"/>
              <p:cNvSpPr>
                <a:spLocks noChangeShapeType="1"/>
              </p:cNvSpPr>
              <p:nvPr/>
            </p:nvSpPr>
            <p:spPr bwMode="auto">
              <a:xfrm flipH="1">
                <a:off x="2569" y="2266"/>
                <a:ext cx="0" cy="1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67" name="Line 144"/>
              <p:cNvSpPr>
                <a:spLocks noChangeShapeType="1"/>
              </p:cNvSpPr>
              <p:nvPr/>
            </p:nvSpPr>
            <p:spPr bwMode="auto">
              <a:xfrm>
                <a:off x="2608" y="2266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68" name="Line 145"/>
              <p:cNvSpPr>
                <a:spLocks noChangeShapeType="1"/>
              </p:cNvSpPr>
              <p:nvPr/>
            </p:nvSpPr>
            <p:spPr bwMode="auto">
              <a:xfrm>
                <a:off x="2299" y="232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69" name="Line 146"/>
              <p:cNvSpPr>
                <a:spLocks noChangeShapeType="1"/>
              </p:cNvSpPr>
              <p:nvPr/>
            </p:nvSpPr>
            <p:spPr bwMode="auto">
              <a:xfrm>
                <a:off x="2299" y="236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70" name="Line 147"/>
              <p:cNvSpPr>
                <a:spLocks noChangeShapeType="1"/>
              </p:cNvSpPr>
              <p:nvPr/>
            </p:nvSpPr>
            <p:spPr bwMode="auto">
              <a:xfrm>
                <a:off x="2299" y="240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71" name="Line 148"/>
              <p:cNvSpPr>
                <a:spLocks noChangeShapeType="1"/>
              </p:cNvSpPr>
              <p:nvPr/>
            </p:nvSpPr>
            <p:spPr bwMode="auto">
              <a:xfrm>
                <a:off x="2299" y="244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47" name="Group 149"/>
            <p:cNvGrpSpPr/>
            <p:nvPr/>
          </p:nvGrpSpPr>
          <p:grpSpPr bwMode="auto">
            <a:xfrm>
              <a:off x="2923" y="1684"/>
              <a:ext cx="740" cy="967"/>
              <a:chOff x="2291" y="1684"/>
              <a:chExt cx="740" cy="967"/>
            </a:xfrm>
          </p:grpSpPr>
          <p:sp>
            <p:nvSpPr>
              <p:cNvPr id="42048" name="Line 150"/>
              <p:cNvSpPr>
                <a:spLocks noChangeShapeType="1"/>
              </p:cNvSpPr>
              <p:nvPr/>
            </p:nvSpPr>
            <p:spPr bwMode="auto">
              <a:xfrm>
                <a:off x="2492" y="2258"/>
                <a:ext cx="0" cy="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9" name="Line 151"/>
              <p:cNvSpPr>
                <a:spLocks noChangeShapeType="1"/>
              </p:cNvSpPr>
              <p:nvPr/>
            </p:nvSpPr>
            <p:spPr bwMode="auto">
              <a:xfrm>
                <a:off x="2291" y="2155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0" name="Line 152"/>
              <p:cNvSpPr>
                <a:spLocks noChangeShapeType="1"/>
              </p:cNvSpPr>
              <p:nvPr/>
            </p:nvSpPr>
            <p:spPr bwMode="auto">
              <a:xfrm>
                <a:off x="2291" y="2198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1" name="Line 153"/>
              <p:cNvSpPr>
                <a:spLocks noChangeShapeType="1"/>
              </p:cNvSpPr>
              <p:nvPr/>
            </p:nvSpPr>
            <p:spPr bwMode="auto">
              <a:xfrm flipV="1">
                <a:off x="2665" y="1684"/>
                <a:ext cx="0" cy="9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2" name="Rectangle 154"/>
              <p:cNvSpPr>
                <a:spLocks noChangeArrowheads="1"/>
              </p:cNvSpPr>
              <p:nvPr/>
            </p:nvSpPr>
            <p:spPr bwMode="auto">
              <a:xfrm>
                <a:off x="2451" y="1863"/>
                <a:ext cx="422" cy="407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3" name="Line 155"/>
              <p:cNvSpPr>
                <a:spLocks noChangeShapeType="1"/>
              </p:cNvSpPr>
              <p:nvPr/>
            </p:nvSpPr>
            <p:spPr bwMode="auto">
              <a:xfrm>
                <a:off x="2530" y="2266"/>
                <a:ext cx="0" cy="1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4" name="Line 156"/>
              <p:cNvSpPr>
                <a:spLocks noChangeShapeType="1"/>
              </p:cNvSpPr>
              <p:nvPr/>
            </p:nvSpPr>
            <p:spPr bwMode="auto">
              <a:xfrm flipH="1">
                <a:off x="2569" y="2266"/>
                <a:ext cx="0" cy="1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5" name="Line 157"/>
              <p:cNvSpPr>
                <a:spLocks noChangeShapeType="1"/>
              </p:cNvSpPr>
              <p:nvPr/>
            </p:nvSpPr>
            <p:spPr bwMode="auto">
              <a:xfrm>
                <a:off x="2608" y="2266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6" name="Line 158"/>
              <p:cNvSpPr>
                <a:spLocks noChangeShapeType="1"/>
              </p:cNvSpPr>
              <p:nvPr/>
            </p:nvSpPr>
            <p:spPr bwMode="auto">
              <a:xfrm>
                <a:off x="2299" y="232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7" name="Line 159"/>
              <p:cNvSpPr>
                <a:spLocks noChangeShapeType="1"/>
              </p:cNvSpPr>
              <p:nvPr/>
            </p:nvSpPr>
            <p:spPr bwMode="auto">
              <a:xfrm>
                <a:off x="2299" y="236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8" name="Line 160"/>
              <p:cNvSpPr>
                <a:spLocks noChangeShapeType="1"/>
              </p:cNvSpPr>
              <p:nvPr/>
            </p:nvSpPr>
            <p:spPr bwMode="auto">
              <a:xfrm>
                <a:off x="2299" y="240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9" name="Line 161"/>
              <p:cNvSpPr>
                <a:spLocks noChangeShapeType="1"/>
              </p:cNvSpPr>
              <p:nvPr/>
            </p:nvSpPr>
            <p:spPr bwMode="auto">
              <a:xfrm>
                <a:off x="2299" y="244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1992" name="Group 162"/>
          <p:cNvGrpSpPr/>
          <p:nvPr/>
        </p:nvGrpSpPr>
        <p:grpSpPr bwMode="auto">
          <a:xfrm>
            <a:off x="3844925" y="2151063"/>
            <a:ext cx="2903538" cy="1535112"/>
            <a:chOff x="2291" y="1684"/>
            <a:chExt cx="1372" cy="967"/>
          </a:xfrm>
        </p:grpSpPr>
        <p:grpSp>
          <p:nvGrpSpPr>
            <p:cNvPr id="42020" name="Group 163"/>
            <p:cNvGrpSpPr/>
            <p:nvPr/>
          </p:nvGrpSpPr>
          <p:grpSpPr bwMode="auto">
            <a:xfrm>
              <a:off x="2291" y="1684"/>
              <a:ext cx="740" cy="967"/>
              <a:chOff x="2291" y="1684"/>
              <a:chExt cx="740" cy="967"/>
            </a:xfrm>
          </p:grpSpPr>
          <p:sp>
            <p:nvSpPr>
              <p:cNvPr id="42034" name="Line 164"/>
              <p:cNvSpPr>
                <a:spLocks noChangeShapeType="1"/>
              </p:cNvSpPr>
              <p:nvPr/>
            </p:nvSpPr>
            <p:spPr bwMode="auto">
              <a:xfrm>
                <a:off x="2492" y="2258"/>
                <a:ext cx="0" cy="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5" name="Line 165"/>
              <p:cNvSpPr>
                <a:spLocks noChangeShapeType="1"/>
              </p:cNvSpPr>
              <p:nvPr/>
            </p:nvSpPr>
            <p:spPr bwMode="auto">
              <a:xfrm>
                <a:off x="2291" y="2155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6" name="Line 166"/>
              <p:cNvSpPr>
                <a:spLocks noChangeShapeType="1"/>
              </p:cNvSpPr>
              <p:nvPr/>
            </p:nvSpPr>
            <p:spPr bwMode="auto">
              <a:xfrm>
                <a:off x="2291" y="2198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7" name="Line 167"/>
              <p:cNvSpPr>
                <a:spLocks noChangeShapeType="1"/>
              </p:cNvSpPr>
              <p:nvPr/>
            </p:nvSpPr>
            <p:spPr bwMode="auto">
              <a:xfrm flipV="1">
                <a:off x="2665" y="1684"/>
                <a:ext cx="0" cy="9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8" name="Rectangle 168"/>
              <p:cNvSpPr>
                <a:spLocks noChangeArrowheads="1"/>
              </p:cNvSpPr>
              <p:nvPr/>
            </p:nvSpPr>
            <p:spPr bwMode="auto">
              <a:xfrm>
                <a:off x="2451" y="1863"/>
                <a:ext cx="422" cy="407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9" name="Line 169"/>
              <p:cNvSpPr>
                <a:spLocks noChangeShapeType="1"/>
              </p:cNvSpPr>
              <p:nvPr/>
            </p:nvSpPr>
            <p:spPr bwMode="auto">
              <a:xfrm>
                <a:off x="2530" y="2266"/>
                <a:ext cx="0" cy="1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0" name="Line 170"/>
              <p:cNvSpPr>
                <a:spLocks noChangeShapeType="1"/>
              </p:cNvSpPr>
              <p:nvPr/>
            </p:nvSpPr>
            <p:spPr bwMode="auto">
              <a:xfrm flipH="1">
                <a:off x="2569" y="2266"/>
                <a:ext cx="0" cy="1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1" name="Line 171"/>
              <p:cNvSpPr>
                <a:spLocks noChangeShapeType="1"/>
              </p:cNvSpPr>
              <p:nvPr/>
            </p:nvSpPr>
            <p:spPr bwMode="auto">
              <a:xfrm>
                <a:off x="2608" y="2266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2" name="Line 172"/>
              <p:cNvSpPr>
                <a:spLocks noChangeShapeType="1"/>
              </p:cNvSpPr>
              <p:nvPr/>
            </p:nvSpPr>
            <p:spPr bwMode="auto">
              <a:xfrm>
                <a:off x="2299" y="232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3" name="Line 173"/>
              <p:cNvSpPr>
                <a:spLocks noChangeShapeType="1"/>
              </p:cNvSpPr>
              <p:nvPr/>
            </p:nvSpPr>
            <p:spPr bwMode="auto">
              <a:xfrm>
                <a:off x="2299" y="236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4" name="Line 174"/>
              <p:cNvSpPr>
                <a:spLocks noChangeShapeType="1"/>
              </p:cNvSpPr>
              <p:nvPr/>
            </p:nvSpPr>
            <p:spPr bwMode="auto">
              <a:xfrm>
                <a:off x="2299" y="240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5" name="Line 175"/>
              <p:cNvSpPr>
                <a:spLocks noChangeShapeType="1"/>
              </p:cNvSpPr>
              <p:nvPr/>
            </p:nvSpPr>
            <p:spPr bwMode="auto">
              <a:xfrm>
                <a:off x="2299" y="244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021" name="Group 176"/>
            <p:cNvGrpSpPr/>
            <p:nvPr/>
          </p:nvGrpSpPr>
          <p:grpSpPr bwMode="auto">
            <a:xfrm>
              <a:off x="2923" y="1684"/>
              <a:ext cx="740" cy="967"/>
              <a:chOff x="2291" y="1684"/>
              <a:chExt cx="740" cy="967"/>
            </a:xfrm>
          </p:grpSpPr>
          <p:sp>
            <p:nvSpPr>
              <p:cNvPr id="42022" name="Line 177"/>
              <p:cNvSpPr>
                <a:spLocks noChangeShapeType="1"/>
              </p:cNvSpPr>
              <p:nvPr/>
            </p:nvSpPr>
            <p:spPr bwMode="auto">
              <a:xfrm>
                <a:off x="2492" y="2258"/>
                <a:ext cx="0" cy="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23" name="Line 178"/>
              <p:cNvSpPr>
                <a:spLocks noChangeShapeType="1"/>
              </p:cNvSpPr>
              <p:nvPr/>
            </p:nvSpPr>
            <p:spPr bwMode="auto">
              <a:xfrm>
                <a:off x="2291" y="2155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24" name="Line 179"/>
              <p:cNvSpPr>
                <a:spLocks noChangeShapeType="1"/>
              </p:cNvSpPr>
              <p:nvPr/>
            </p:nvSpPr>
            <p:spPr bwMode="auto">
              <a:xfrm>
                <a:off x="2291" y="2198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25" name="Line 180"/>
              <p:cNvSpPr>
                <a:spLocks noChangeShapeType="1"/>
              </p:cNvSpPr>
              <p:nvPr/>
            </p:nvSpPr>
            <p:spPr bwMode="auto">
              <a:xfrm flipV="1">
                <a:off x="2665" y="1684"/>
                <a:ext cx="0" cy="9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26" name="Rectangle 181"/>
              <p:cNvSpPr>
                <a:spLocks noChangeArrowheads="1"/>
              </p:cNvSpPr>
              <p:nvPr/>
            </p:nvSpPr>
            <p:spPr bwMode="auto">
              <a:xfrm>
                <a:off x="2451" y="1863"/>
                <a:ext cx="422" cy="407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27" name="Line 182"/>
              <p:cNvSpPr>
                <a:spLocks noChangeShapeType="1"/>
              </p:cNvSpPr>
              <p:nvPr/>
            </p:nvSpPr>
            <p:spPr bwMode="auto">
              <a:xfrm>
                <a:off x="2530" y="2266"/>
                <a:ext cx="0" cy="1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28" name="Line 183"/>
              <p:cNvSpPr>
                <a:spLocks noChangeShapeType="1"/>
              </p:cNvSpPr>
              <p:nvPr/>
            </p:nvSpPr>
            <p:spPr bwMode="auto">
              <a:xfrm flipH="1">
                <a:off x="2569" y="2266"/>
                <a:ext cx="0" cy="1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29" name="Line 184"/>
              <p:cNvSpPr>
                <a:spLocks noChangeShapeType="1"/>
              </p:cNvSpPr>
              <p:nvPr/>
            </p:nvSpPr>
            <p:spPr bwMode="auto">
              <a:xfrm>
                <a:off x="2608" y="2266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0" name="Line 185"/>
              <p:cNvSpPr>
                <a:spLocks noChangeShapeType="1"/>
              </p:cNvSpPr>
              <p:nvPr/>
            </p:nvSpPr>
            <p:spPr bwMode="auto">
              <a:xfrm>
                <a:off x="2299" y="232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1" name="Line 186"/>
              <p:cNvSpPr>
                <a:spLocks noChangeShapeType="1"/>
              </p:cNvSpPr>
              <p:nvPr/>
            </p:nvSpPr>
            <p:spPr bwMode="auto">
              <a:xfrm>
                <a:off x="2299" y="236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2" name="Line 187"/>
              <p:cNvSpPr>
                <a:spLocks noChangeShapeType="1"/>
              </p:cNvSpPr>
              <p:nvPr/>
            </p:nvSpPr>
            <p:spPr bwMode="auto">
              <a:xfrm>
                <a:off x="2299" y="240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3" name="Line 188"/>
              <p:cNvSpPr>
                <a:spLocks noChangeShapeType="1"/>
              </p:cNvSpPr>
              <p:nvPr/>
            </p:nvSpPr>
            <p:spPr bwMode="auto">
              <a:xfrm>
                <a:off x="2299" y="2443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1993" name="Text Box 189"/>
          <p:cNvSpPr txBox="1">
            <a:spLocks noChangeArrowheads="1"/>
          </p:cNvSpPr>
          <p:nvPr/>
        </p:nvSpPr>
        <p:spPr bwMode="auto">
          <a:xfrm>
            <a:off x="4406900" y="3719513"/>
            <a:ext cx="5508625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200"/>
              <a:t>x31                     x31            </a:t>
            </a:r>
            <a:r>
              <a:rPr lang="en-US" altLang="zh-CN" sz="1200" b="1"/>
              <a:t> ……</a:t>
            </a:r>
            <a:r>
              <a:rPr lang="en-US" altLang="zh-CN" sz="1200"/>
              <a:t>                x1                       x0</a:t>
            </a:r>
            <a:endParaRPr lang="en-US" altLang="zh-CN" sz="1200"/>
          </a:p>
        </p:txBody>
      </p:sp>
      <p:sp>
        <p:nvSpPr>
          <p:cNvPr id="41994" name="Text Box 190"/>
          <p:cNvSpPr txBox="1">
            <a:spLocks noChangeArrowheads="1"/>
          </p:cNvSpPr>
          <p:nvPr/>
        </p:nvSpPr>
        <p:spPr bwMode="auto">
          <a:xfrm>
            <a:off x="6780213" y="2609850"/>
            <a:ext cx="657225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200" b="1"/>
              <a:t>…...</a:t>
            </a:r>
            <a:endParaRPr lang="en-US" altLang="zh-CN" sz="1200" b="1"/>
          </a:p>
        </p:txBody>
      </p:sp>
      <p:sp>
        <p:nvSpPr>
          <p:cNvPr id="41995" name="Line 191"/>
          <p:cNvSpPr>
            <a:spLocks noChangeShapeType="1"/>
          </p:cNvSpPr>
          <p:nvPr/>
        </p:nvSpPr>
        <p:spPr bwMode="auto">
          <a:xfrm flipV="1">
            <a:off x="3394075" y="3348038"/>
            <a:ext cx="0" cy="606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6" name="Line 192"/>
          <p:cNvSpPr>
            <a:spLocks noChangeShapeType="1"/>
          </p:cNvSpPr>
          <p:nvPr/>
        </p:nvSpPr>
        <p:spPr bwMode="auto">
          <a:xfrm>
            <a:off x="3381375" y="3348038"/>
            <a:ext cx="495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7" name="Line 193"/>
          <p:cNvSpPr>
            <a:spLocks noChangeShapeType="1"/>
          </p:cNvSpPr>
          <p:nvPr/>
        </p:nvSpPr>
        <p:spPr bwMode="auto">
          <a:xfrm flipH="1">
            <a:off x="2794000" y="3289300"/>
            <a:ext cx="1844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8" name="Line 194"/>
          <p:cNvSpPr>
            <a:spLocks noChangeShapeType="1"/>
          </p:cNvSpPr>
          <p:nvPr/>
        </p:nvSpPr>
        <p:spPr bwMode="auto">
          <a:xfrm flipH="1">
            <a:off x="2389188" y="3230563"/>
            <a:ext cx="18462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9" name="Line 195"/>
          <p:cNvSpPr>
            <a:spLocks noChangeShapeType="1"/>
          </p:cNvSpPr>
          <p:nvPr/>
        </p:nvSpPr>
        <p:spPr bwMode="auto">
          <a:xfrm flipH="1">
            <a:off x="1797050" y="3157538"/>
            <a:ext cx="2159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0" name="Line 196"/>
          <p:cNvSpPr>
            <a:spLocks noChangeShapeType="1"/>
          </p:cNvSpPr>
          <p:nvPr/>
        </p:nvSpPr>
        <p:spPr bwMode="auto">
          <a:xfrm flipV="1">
            <a:off x="1798638" y="3165475"/>
            <a:ext cx="0" cy="766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1" name="Line 197"/>
          <p:cNvSpPr>
            <a:spLocks noChangeShapeType="1"/>
          </p:cNvSpPr>
          <p:nvPr/>
        </p:nvSpPr>
        <p:spPr bwMode="auto">
          <a:xfrm flipV="1">
            <a:off x="2381250" y="3236913"/>
            <a:ext cx="0" cy="792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2" name="Line 198"/>
          <p:cNvSpPr>
            <a:spLocks noChangeShapeType="1"/>
          </p:cNvSpPr>
          <p:nvPr/>
        </p:nvSpPr>
        <p:spPr bwMode="auto">
          <a:xfrm flipV="1">
            <a:off x="2789238" y="3289300"/>
            <a:ext cx="0" cy="693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3" name="Text Box 199"/>
          <p:cNvSpPr txBox="1">
            <a:spLocks noChangeArrowheads="1"/>
          </p:cNvSpPr>
          <p:nvPr/>
        </p:nvSpPr>
        <p:spPr bwMode="auto">
          <a:xfrm>
            <a:off x="4554538" y="2090738"/>
            <a:ext cx="7058025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200"/>
              <a:t>x32                     x31            </a:t>
            </a:r>
            <a:r>
              <a:rPr lang="en-US" altLang="zh-CN" sz="1200" b="1"/>
              <a:t> ……</a:t>
            </a:r>
            <a:r>
              <a:rPr lang="en-US" altLang="zh-CN" sz="1200"/>
              <a:t>                x1                       x0                            c0</a:t>
            </a:r>
            <a:endParaRPr lang="en-US" altLang="zh-CN" sz="1200"/>
          </a:p>
        </p:txBody>
      </p:sp>
      <p:sp>
        <p:nvSpPr>
          <p:cNvPr id="42004" name="Text Box 200"/>
          <p:cNvSpPr txBox="1">
            <a:spLocks noChangeArrowheads="1"/>
          </p:cNvSpPr>
          <p:nvPr/>
        </p:nvSpPr>
        <p:spPr bwMode="auto">
          <a:xfrm>
            <a:off x="10361613" y="2765425"/>
            <a:ext cx="152400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000"/>
              <a:t>0</a:t>
            </a:r>
            <a:endParaRPr lang="en-US" altLang="zh-CN" sz="1000"/>
          </a:p>
          <a:p>
            <a:pPr>
              <a:spcBef>
                <a:spcPct val="0"/>
              </a:spcBef>
            </a:pPr>
            <a:r>
              <a:rPr lang="en-US" altLang="zh-CN" sz="1000"/>
              <a:t>1</a:t>
            </a:r>
            <a:endParaRPr lang="en-US" altLang="zh-CN" sz="1000"/>
          </a:p>
        </p:txBody>
      </p:sp>
      <p:sp>
        <p:nvSpPr>
          <p:cNvPr id="42005" name="Rectangle 203"/>
          <p:cNvSpPr>
            <a:spLocks noChangeArrowheads="1"/>
          </p:cNvSpPr>
          <p:nvPr/>
        </p:nvSpPr>
        <p:spPr bwMode="auto">
          <a:xfrm>
            <a:off x="9215438" y="5654675"/>
            <a:ext cx="939800" cy="346075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6" name="Line 204"/>
          <p:cNvSpPr>
            <a:spLocks noChangeShapeType="1"/>
          </p:cNvSpPr>
          <p:nvPr/>
        </p:nvSpPr>
        <p:spPr bwMode="auto">
          <a:xfrm>
            <a:off x="10025063" y="6002338"/>
            <a:ext cx="0" cy="3079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7" name="Line 205"/>
          <p:cNvSpPr>
            <a:spLocks noChangeShapeType="1"/>
          </p:cNvSpPr>
          <p:nvPr/>
        </p:nvSpPr>
        <p:spPr bwMode="auto">
          <a:xfrm>
            <a:off x="9344025" y="6002338"/>
            <a:ext cx="0" cy="296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8" name="Line 206"/>
          <p:cNvSpPr>
            <a:spLocks noChangeShapeType="1"/>
          </p:cNvSpPr>
          <p:nvPr/>
        </p:nvSpPr>
        <p:spPr bwMode="auto">
          <a:xfrm>
            <a:off x="9682163" y="6015038"/>
            <a:ext cx="0" cy="296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9" name="Line 207"/>
          <p:cNvSpPr>
            <a:spLocks noChangeShapeType="1"/>
          </p:cNvSpPr>
          <p:nvPr/>
        </p:nvSpPr>
        <p:spPr bwMode="auto">
          <a:xfrm>
            <a:off x="9513888" y="6002338"/>
            <a:ext cx="0" cy="296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0" name="Text Box 208"/>
          <p:cNvSpPr txBox="1">
            <a:spLocks noChangeArrowheads="1"/>
          </p:cNvSpPr>
          <p:nvPr/>
        </p:nvSpPr>
        <p:spPr bwMode="auto">
          <a:xfrm>
            <a:off x="9326563" y="5822950"/>
            <a:ext cx="876300" cy="152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r>
              <a:rPr lang="en-US" altLang="zh-CN" sz="1000" dirty="0">
                <a:latin typeface="+mn-ea"/>
                <a:ea typeface="+mn-ea"/>
              </a:rPr>
              <a:t>y2y1y0  </a:t>
            </a:r>
            <a:r>
              <a:rPr lang="en-US" altLang="zh-CN" sz="1000" dirty="0" smtClean="0">
                <a:latin typeface="+mn-ea"/>
                <a:ea typeface="+mn-ea"/>
              </a:rPr>
              <a:t>   </a:t>
            </a:r>
            <a:r>
              <a:rPr lang="en-US" altLang="zh-CN" sz="1000" dirty="0">
                <a:latin typeface="+mn-ea"/>
                <a:ea typeface="+mn-ea"/>
              </a:rPr>
              <a:t>X</a:t>
            </a:r>
            <a:endParaRPr lang="en-US" altLang="zh-CN" sz="1000" dirty="0">
              <a:latin typeface="+mn-ea"/>
              <a:ea typeface="+mn-ea"/>
            </a:endParaRPr>
          </a:p>
        </p:txBody>
      </p:sp>
      <p:sp>
        <p:nvSpPr>
          <p:cNvPr id="42011" name="Line 209"/>
          <p:cNvSpPr>
            <a:spLocks noChangeShapeType="1"/>
          </p:cNvSpPr>
          <p:nvPr/>
        </p:nvSpPr>
        <p:spPr bwMode="auto">
          <a:xfrm flipV="1">
            <a:off x="9693275" y="5419725"/>
            <a:ext cx="0" cy="2476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2" name="AutoShape 210"/>
          <p:cNvSpPr>
            <a:spLocks noChangeArrowheads="1"/>
          </p:cNvSpPr>
          <p:nvPr/>
        </p:nvSpPr>
        <p:spPr bwMode="auto">
          <a:xfrm rot="5400000">
            <a:off x="10839450" y="2500313"/>
            <a:ext cx="555625" cy="546100"/>
          </a:xfrm>
          <a:prstGeom prst="moon">
            <a:avLst>
              <a:gd name="adj" fmla="val 71560"/>
            </a:avLst>
          </a:prstGeom>
          <a:solidFill>
            <a:schemeClr val="hlink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3" name="Line 211"/>
          <p:cNvSpPr>
            <a:spLocks noChangeShapeType="1"/>
          </p:cNvSpPr>
          <p:nvPr/>
        </p:nvSpPr>
        <p:spPr bwMode="auto">
          <a:xfrm>
            <a:off x="10258425" y="3340100"/>
            <a:ext cx="10048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4" name="Line 212"/>
          <p:cNvSpPr>
            <a:spLocks noChangeShapeType="1"/>
          </p:cNvSpPr>
          <p:nvPr/>
        </p:nvSpPr>
        <p:spPr bwMode="auto">
          <a:xfrm>
            <a:off x="10240963" y="3278188"/>
            <a:ext cx="7254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5" name="Line 213"/>
          <p:cNvSpPr>
            <a:spLocks noChangeShapeType="1"/>
          </p:cNvSpPr>
          <p:nvPr/>
        </p:nvSpPr>
        <p:spPr bwMode="auto">
          <a:xfrm flipV="1">
            <a:off x="10966450" y="2944813"/>
            <a:ext cx="0" cy="320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6" name="Line 214"/>
          <p:cNvSpPr>
            <a:spLocks noChangeShapeType="1"/>
          </p:cNvSpPr>
          <p:nvPr/>
        </p:nvSpPr>
        <p:spPr bwMode="auto">
          <a:xfrm flipV="1">
            <a:off x="11249025" y="2932113"/>
            <a:ext cx="0" cy="407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7" name="Line 215"/>
          <p:cNvSpPr>
            <a:spLocks noChangeShapeType="1"/>
          </p:cNvSpPr>
          <p:nvPr/>
        </p:nvSpPr>
        <p:spPr bwMode="auto">
          <a:xfrm flipV="1">
            <a:off x="11115675" y="2189163"/>
            <a:ext cx="0" cy="3095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8" name="AutoShape 216"/>
          <p:cNvSpPr>
            <a:spLocks noChangeArrowheads="1"/>
          </p:cNvSpPr>
          <p:nvPr/>
        </p:nvSpPr>
        <p:spPr bwMode="auto">
          <a:xfrm rot="1727526">
            <a:off x="7453313" y="5010150"/>
            <a:ext cx="1054100" cy="209550"/>
          </a:xfrm>
          <a:prstGeom prst="rightArrow">
            <a:avLst>
              <a:gd name="adj1" fmla="val 50000"/>
              <a:gd name="adj2" fmla="val 9434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9" name="Rectangle 219"/>
          <p:cNvSpPr>
            <a:spLocks noGrp="1" noChangeArrowheads="1"/>
          </p:cNvSpPr>
          <p:nvPr>
            <p:ph type="title"/>
          </p:nvPr>
        </p:nvSpPr>
        <p:spPr>
          <a:xfrm>
            <a:off x="812800" y="0"/>
            <a:ext cx="10361613" cy="971550"/>
          </a:xfrm>
        </p:spPr>
        <p:txBody>
          <a:bodyPr/>
          <a:lstStyle/>
          <a:p>
            <a:pPr eaLnBrk="1" hangingPunct="1"/>
            <a:r>
              <a:rPr lang="en-US" altLang="zh-CN" smtClean="0"/>
              <a:t>Booth</a:t>
            </a:r>
            <a:r>
              <a:rPr lang="zh-CN" altLang="zh-CN" smtClean="0"/>
              <a:t>二位乘的输入选择逻辑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3805EB-054E-4C2A-9911-D82A20261EC7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425450" y="1306513"/>
            <a:ext cx="11417300" cy="414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  <a:defRPr/>
            </a:pPr>
            <a:r>
              <a:rPr lang="zh-CN" altLang="zh-CN" sz="2400" b="1" dirty="0">
                <a:latin typeface="+mn-ea"/>
                <a:ea typeface="+mn-ea"/>
              </a:rPr>
              <a:t>串行把16个数相加, 需要15次加法时间</a:t>
            </a:r>
            <a:endParaRPr lang="en-US" altLang="zh-CN" sz="2400" b="1" dirty="0">
              <a:latin typeface="+mn-ea"/>
              <a:ea typeface="+mn-ea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Tx/>
              <a:buChar char="•"/>
              <a:defRPr/>
            </a:pPr>
            <a:r>
              <a:rPr lang="en-US" altLang="zh-CN" sz="2000" b="1" dirty="0">
                <a:latin typeface="+mn-ea"/>
                <a:ea typeface="+mn-ea"/>
              </a:rPr>
              <a:t>64</a:t>
            </a:r>
            <a:r>
              <a:rPr lang="zh-CN" altLang="en-US" sz="2000" b="1" dirty="0">
                <a:latin typeface="+mn-ea"/>
                <a:ea typeface="+mn-ea"/>
              </a:rPr>
              <a:t>位加法需要</a:t>
            </a:r>
            <a:r>
              <a:rPr lang="en-US" altLang="zh-CN" sz="2000" b="1" dirty="0">
                <a:latin typeface="+mn-ea"/>
                <a:ea typeface="+mn-ea"/>
              </a:rPr>
              <a:t>2+10+3=15</a:t>
            </a:r>
            <a:r>
              <a:rPr lang="zh-CN" altLang="en-US" sz="2000" b="1" dirty="0">
                <a:latin typeface="+mn-ea"/>
                <a:ea typeface="+mn-ea"/>
              </a:rPr>
              <a:t>级们延迟</a:t>
            </a:r>
            <a:endParaRPr lang="zh-CN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  <a:defRPr/>
            </a:pPr>
            <a:r>
              <a:rPr lang="zh-CN" altLang="zh-CN" sz="2400" b="1" dirty="0">
                <a:latin typeface="+mn-ea"/>
                <a:ea typeface="+mn-ea"/>
              </a:rPr>
              <a:t>用15个加法器组织成树状, 需要4次加法时间, 又浪费硬件</a:t>
            </a:r>
            <a:endParaRPr lang="zh-CN" altLang="zh-CN" sz="24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  <a:defRPr/>
            </a:pPr>
            <a:r>
              <a:rPr lang="en-US" altLang="zh-CN" sz="2400" b="1" dirty="0">
                <a:latin typeface="+mn-ea"/>
                <a:ea typeface="+mn-ea"/>
              </a:rPr>
              <a:t>Wallace</a:t>
            </a:r>
            <a:r>
              <a:rPr lang="zh-CN" altLang="zh-CN" sz="2400" b="1" dirty="0">
                <a:latin typeface="+mn-ea"/>
                <a:ea typeface="+mn-ea"/>
              </a:rPr>
              <a:t>树基本思想</a:t>
            </a:r>
            <a:endParaRPr lang="zh-CN" altLang="zh-CN" sz="2400" b="1" dirty="0"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spcBef>
                <a:spcPct val="0"/>
              </a:spcBef>
              <a:buFontTx/>
              <a:buChar char="•"/>
              <a:defRPr/>
            </a:pPr>
            <a:r>
              <a:rPr lang="en-US" altLang="zh-CN" sz="2000" b="1" dirty="0">
                <a:latin typeface="+mn-ea"/>
                <a:ea typeface="+mn-ea"/>
              </a:rPr>
              <a:t>n</a:t>
            </a:r>
            <a:r>
              <a:rPr lang="zh-CN" altLang="zh-CN" sz="2000" b="1" dirty="0">
                <a:latin typeface="+mn-ea"/>
                <a:ea typeface="+mn-ea"/>
              </a:rPr>
              <a:t>个全加器每次把三个</a:t>
            </a:r>
            <a:r>
              <a:rPr lang="en-US" altLang="zh-CN" sz="2000" b="1" dirty="0">
                <a:latin typeface="+mn-ea"/>
                <a:ea typeface="+mn-ea"/>
              </a:rPr>
              <a:t>n</a:t>
            </a:r>
            <a:r>
              <a:rPr lang="zh-CN" altLang="zh-CN" sz="2000" b="1" dirty="0">
                <a:latin typeface="+mn-ea"/>
                <a:ea typeface="+mn-ea"/>
              </a:rPr>
              <a:t>位的数相加转换成两个</a:t>
            </a:r>
            <a:r>
              <a:rPr lang="zh-CN" altLang="en-US" sz="2000" b="1" dirty="0">
                <a:latin typeface="+mn-ea"/>
                <a:ea typeface="+mn-ea"/>
              </a:rPr>
              <a:t>数相加</a:t>
            </a:r>
            <a:endParaRPr lang="zh-CN" altLang="en-US" sz="2000" b="1" dirty="0"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spcBef>
                <a:spcPct val="0"/>
              </a:spcBef>
              <a:buFontTx/>
              <a:buChar char="•"/>
              <a:defRPr/>
            </a:pPr>
            <a:r>
              <a:rPr lang="zh-CN" altLang="en-US" sz="2000" b="1" dirty="0">
                <a:latin typeface="+mn-ea"/>
                <a:ea typeface="+mn-ea"/>
              </a:rPr>
              <a:t>因此</a:t>
            </a:r>
            <a:r>
              <a:rPr lang="en-US" altLang="zh-CN" sz="2000" b="1" dirty="0">
                <a:latin typeface="+mn-ea"/>
                <a:ea typeface="+mn-ea"/>
              </a:rPr>
              <a:t>, n</a:t>
            </a:r>
            <a:r>
              <a:rPr lang="zh-CN" altLang="zh-CN" sz="2000" b="1" dirty="0">
                <a:latin typeface="+mn-ea"/>
                <a:ea typeface="+mn-ea"/>
              </a:rPr>
              <a:t>个全加器每次可以把</a:t>
            </a:r>
            <a:r>
              <a:rPr lang="en-US" altLang="zh-CN" sz="2000" b="1" dirty="0">
                <a:latin typeface="+mn-ea"/>
                <a:ea typeface="+mn-ea"/>
              </a:rPr>
              <a:t>m</a:t>
            </a:r>
            <a:r>
              <a:rPr lang="zh-CN" altLang="zh-CN" sz="2000" b="1" dirty="0">
                <a:latin typeface="+mn-ea"/>
                <a:ea typeface="+mn-ea"/>
              </a:rPr>
              <a:t>个</a:t>
            </a:r>
            <a:r>
              <a:rPr lang="en-US" altLang="zh-CN" sz="2000" b="1" dirty="0">
                <a:latin typeface="+mn-ea"/>
                <a:ea typeface="+mn-ea"/>
              </a:rPr>
              <a:t>n</a:t>
            </a:r>
            <a:r>
              <a:rPr lang="zh-CN" altLang="zh-CN" sz="2000" b="1" dirty="0">
                <a:latin typeface="+mn-ea"/>
                <a:ea typeface="+mn-ea"/>
              </a:rPr>
              <a:t>位的数相加转换成2</a:t>
            </a:r>
            <a:r>
              <a:rPr lang="en-US" altLang="zh-CN" sz="2000" b="1" dirty="0">
                <a:latin typeface="+mn-ea"/>
                <a:ea typeface="+mn-ea"/>
              </a:rPr>
              <a:t>m/3</a:t>
            </a:r>
            <a:r>
              <a:rPr lang="zh-CN" altLang="zh-CN" sz="2000" b="1" dirty="0">
                <a:latin typeface="+mn-ea"/>
                <a:ea typeface="+mn-ea"/>
              </a:rPr>
              <a:t>个</a:t>
            </a:r>
            <a:r>
              <a:rPr lang="zh-CN" altLang="en-US" sz="2000" b="1" dirty="0">
                <a:latin typeface="+mn-ea"/>
                <a:ea typeface="+mn-ea"/>
              </a:rPr>
              <a:t>数相加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zh-CN" altLang="en-US" sz="2000" b="1" dirty="0">
                <a:latin typeface="+mn-ea"/>
                <a:ea typeface="+mn-ea"/>
              </a:rPr>
              <a:t>再用一层全加器转换成</a:t>
            </a:r>
            <a:r>
              <a:rPr lang="en-US" altLang="zh-CN" sz="2000" b="1" dirty="0">
                <a:latin typeface="+mn-ea"/>
                <a:ea typeface="+mn-ea"/>
              </a:rPr>
              <a:t>4m/9</a:t>
            </a:r>
            <a:r>
              <a:rPr lang="zh-CN" altLang="en-US" sz="2000" b="1" dirty="0">
                <a:latin typeface="+mn-ea"/>
                <a:ea typeface="+mn-ea"/>
              </a:rPr>
              <a:t>个数相加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zh-CN" altLang="en-US" sz="2000" b="1" dirty="0">
                <a:latin typeface="+mn-ea"/>
                <a:ea typeface="+mn-ea"/>
              </a:rPr>
              <a:t>直到转换成</a:t>
            </a:r>
            <a:r>
              <a:rPr lang="en-US" altLang="zh-CN" sz="2000" b="1" dirty="0">
                <a:latin typeface="+mn-ea"/>
                <a:ea typeface="+mn-ea"/>
              </a:rPr>
              <a:t>2</a:t>
            </a:r>
            <a:r>
              <a:rPr lang="zh-CN" altLang="en-US" sz="2000" b="1" dirty="0">
                <a:latin typeface="+mn-ea"/>
                <a:ea typeface="+mn-ea"/>
              </a:rPr>
              <a:t>个数</a:t>
            </a:r>
            <a:r>
              <a:rPr lang="en-US" altLang="zh-CN" sz="2000" b="1" dirty="0">
                <a:latin typeface="+mn-ea"/>
                <a:ea typeface="+mn-ea"/>
              </a:rPr>
              <a:t>; </a:t>
            </a:r>
            <a:r>
              <a:rPr lang="zh-CN" altLang="en-US" sz="2000" b="1" dirty="0">
                <a:latin typeface="+mn-ea"/>
                <a:ea typeface="+mn-ea"/>
              </a:rPr>
              <a:t>再用加法器把最后两个数相加</a:t>
            </a:r>
            <a:endParaRPr lang="zh-CN" altLang="zh-CN" sz="2000" b="1" dirty="0">
              <a:latin typeface="+mn-ea"/>
              <a:ea typeface="+mn-ea"/>
            </a:endParaRP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1613" cy="1143000"/>
          </a:xfrm>
        </p:spPr>
        <p:txBody>
          <a:bodyPr/>
          <a:lstStyle/>
          <a:p>
            <a:pPr eaLnBrk="1" hangingPunct="1"/>
            <a:r>
              <a:rPr lang="en-US" altLang="zh-CN" smtClean="0"/>
              <a:t>Wallace</a:t>
            </a:r>
            <a:r>
              <a:rPr lang="zh-CN" altLang="en-US" smtClean="0"/>
              <a:t>加法</a:t>
            </a:r>
            <a:r>
              <a:rPr lang="zh-CN" altLang="zh-CN" smtClean="0"/>
              <a:t>树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DB7A12-6F7E-4960-B190-877692E2AD9B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44035" name="Rectangle 151"/>
          <p:cNvSpPr>
            <a:spLocks noChangeArrowheads="1"/>
          </p:cNvSpPr>
          <p:nvPr/>
        </p:nvSpPr>
        <p:spPr bwMode="auto">
          <a:xfrm>
            <a:off x="622300" y="3181350"/>
            <a:ext cx="7529513" cy="2752725"/>
          </a:xfrm>
          <a:prstGeom prst="rect">
            <a:avLst/>
          </a:prstGeom>
          <a:solidFill>
            <a:schemeClr val="hlink"/>
          </a:solidFill>
          <a:ln w="9525" cap="rnd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036" name="Group 3"/>
          <p:cNvGrpSpPr/>
          <p:nvPr/>
        </p:nvGrpSpPr>
        <p:grpSpPr bwMode="auto">
          <a:xfrm>
            <a:off x="1773238" y="3233738"/>
            <a:ext cx="469900" cy="571500"/>
            <a:chOff x="1605" y="1902"/>
            <a:chExt cx="277" cy="395"/>
          </a:xfrm>
        </p:grpSpPr>
        <p:grpSp>
          <p:nvGrpSpPr>
            <p:cNvPr id="44178" name="Group 4"/>
            <p:cNvGrpSpPr/>
            <p:nvPr/>
          </p:nvGrpSpPr>
          <p:grpSpPr bwMode="auto">
            <a:xfrm>
              <a:off x="1605" y="1960"/>
              <a:ext cx="277" cy="337"/>
              <a:chOff x="3238" y="10820"/>
              <a:chExt cx="700" cy="1020"/>
            </a:xfrm>
          </p:grpSpPr>
          <p:sp>
            <p:nvSpPr>
              <p:cNvPr id="44180" name="Oval 5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81" name="Line 6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82" name="Rectangle 7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83" name="Line 8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84" name="Line 9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79" name="Oval 10"/>
            <p:cNvSpPr>
              <a:spLocks noChangeArrowheads="1"/>
            </p:cNvSpPr>
            <p:nvPr/>
          </p:nvSpPr>
          <p:spPr bwMode="auto">
            <a:xfrm>
              <a:off x="1708" y="1902"/>
              <a:ext cx="71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37" name="Group 12"/>
          <p:cNvGrpSpPr/>
          <p:nvPr/>
        </p:nvGrpSpPr>
        <p:grpSpPr bwMode="auto">
          <a:xfrm>
            <a:off x="798513" y="4222750"/>
            <a:ext cx="469900" cy="487363"/>
            <a:chOff x="3238" y="10820"/>
            <a:chExt cx="700" cy="1020"/>
          </a:xfrm>
        </p:grpSpPr>
        <p:sp>
          <p:nvSpPr>
            <p:cNvPr id="44173" name="Oval 13"/>
            <p:cNvSpPr>
              <a:spLocks noChangeArrowheads="1"/>
            </p:cNvSpPr>
            <p:nvPr/>
          </p:nvSpPr>
          <p:spPr bwMode="auto">
            <a:xfrm>
              <a:off x="3238" y="10820"/>
              <a:ext cx="695" cy="78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4" name="Line 14"/>
            <p:cNvSpPr>
              <a:spLocks noChangeShapeType="1"/>
            </p:cNvSpPr>
            <p:nvPr/>
          </p:nvSpPr>
          <p:spPr bwMode="auto">
            <a:xfrm>
              <a:off x="3238" y="11820"/>
              <a:ext cx="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5" name="Rectangle 15"/>
            <p:cNvSpPr>
              <a:spLocks noChangeArrowheads="1"/>
            </p:cNvSpPr>
            <p:nvPr/>
          </p:nvSpPr>
          <p:spPr bwMode="auto">
            <a:xfrm>
              <a:off x="3238" y="11220"/>
              <a:ext cx="700" cy="420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6" name="Line 16"/>
            <p:cNvSpPr>
              <a:spLocks noChangeShapeType="1"/>
            </p:cNvSpPr>
            <p:nvPr/>
          </p:nvSpPr>
          <p:spPr bwMode="auto">
            <a:xfrm>
              <a:off x="3238" y="11180"/>
              <a:ext cx="0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7" name="Line 17"/>
            <p:cNvSpPr>
              <a:spLocks noChangeShapeType="1"/>
            </p:cNvSpPr>
            <p:nvPr/>
          </p:nvSpPr>
          <p:spPr bwMode="auto">
            <a:xfrm>
              <a:off x="3928" y="11180"/>
              <a:ext cx="0" cy="6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8" name="Oval 18"/>
          <p:cNvSpPr>
            <a:spLocks noChangeArrowheads="1"/>
          </p:cNvSpPr>
          <p:nvPr/>
        </p:nvSpPr>
        <p:spPr bwMode="auto">
          <a:xfrm>
            <a:off x="985838" y="4127500"/>
            <a:ext cx="106362" cy="88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039" name="Group 19"/>
          <p:cNvGrpSpPr/>
          <p:nvPr/>
        </p:nvGrpSpPr>
        <p:grpSpPr bwMode="auto">
          <a:xfrm>
            <a:off x="2765425" y="4116388"/>
            <a:ext cx="469900" cy="582612"/>
            <a:chOff x="2025" y="2603"/>
            <a:chExt cx="277" cy="403"/>
          </a:xfrm>
        </p:grpSpPr>
        <p:grpSp>
          <p:nvGrpSpPr>
            <p:cNvPr id="44166" name="Group 20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44168" name="Oval 21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69" name="Line 22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70" name="Rectangle 23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71" name="Line 24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72" name="Line 25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67" name="Oval 26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40" name="Group 27"/>
          <p:cNvGrpSpPr/>
          <p:nvPr/>
        </p:nvGrpSpPr>
        <p:grpSpPr bwMode="auto">
          <a:xfrm>
            <a:off x="2109788" y="4121150"/>
            <a:ext cx="468312" cy="582613"/>
            <a:chOff x="2025" y="2603"/>
            <a:chExt cx="277" cy="403"/>
          </a:xfrm>
        </p:grpSpPr>
        <p:grpSp>
          <p:nvGrpSpPr>
            <p:cNvPr id="44159" name="Group 28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44161" name="Oval 29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62" name="Line 30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63" name="Rectangle 31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64" name="Line 32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65" name="Line 33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60" name="Oval 34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41" name="Group 35"/>
          <p:cNvGrpSpPr/>
          <p:nvPr/>
        </p:nvGrpSpPr>
        <p:grpSpPr bwMode="auto">
          <a:xfrm>
            <a:off x="1454150" y="4113213"/>
            <a:ext cx="469900" cy="582612"/>
            <a:chOff x="2025" y="2603"/>
            <a:chExt cx="277" cy="403"/>
          </a:xfrm>
        </p:grpSpPr>
        <p:grpSp>
          <p:nvGrpSpPr>
            <p:cNvPr id="44152" name="Group 36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44154" name="Oval 37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5" name="Line 38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6" name="Rectangle 39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7" name="Line 40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8" name="Line 41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53" name="Oval 42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42" name="Group 43"/>
          <p:cNvGrpSpPr/>
          <p:nvPr/>
        </p:nvGrpSpPr>
        <p:grpSpPr bwMode="auto">
          <a:xfrm>
            <a:off x="4584700" y="3222625"/>
            <a:ext cx="466725" cy="582613"/>
            <a:chOff x="2025" y="2603"/>
            <a:chExt cx="277" cy="403"/>
          </a:xfrm>
        </p:grpSpPr>
        <p:grpSp>
          <p:nvGrpSpPr>
            <p:cNvPr id="44145" name="Group 44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44147" name="Oval 45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8" name="Line 46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9" name="Rectangle 47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0" name="Line 48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1" name="Line 49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46" name="Oval 50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43" name="Group 51"/>
          <p:cNvGrpSpPr/>
          <p:nvPr/>
        </p:nvGrpSpPr>
        <p:grpSpPr bwMode="auto">
          <a:xfrm>
            <a:off x="4586288" y="4116388"/>
            <a:ext cx="469900" cy="582612"/>
            <a:chOff x="2025" y="2603"/>
            <a:chExt cx="277" cy="403"/>
          </a:xfrm>
        </p:grpSpPr>
        <p:grpSp>
          <p:nvGrpSpPr>
            <p:cNvPr id="44138" name="Group 52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44140" name="Oval 53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1" name="Line 54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2" name="Rectangle 55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3" name="Line 56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4" name="Line 57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39" name="Oval 58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44" name="Group 59"/>
          <p:cNvGrpSpPr/>
          <p:nvPr/>
        </p:nvGrpSpPr>
        <p:grpSpPr bwMode="auto">
          <a:xfrm>
            <a:off x="5238750" y="4098925"/>
            <a:ext cx="466725" cy="582613"/>
            <a:chOff x="2025" y="2603"/>
            <a:chExt cx="277" cy="403"/>
          </a:xfrm>
        </p:grpSpPr>
        <p:grpSp>
          <p:nvGrpSpPr>
            <p:cNvPr id="44131" name="Group 60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44133" name="Oval 61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4" name="Line 62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5" name="Rectangle 63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6" name="Line 64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7" name="Line 65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32" name="Oval 66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45" name="Group 67"/>
          <p:cNvGrpSpPr/>
          <p:nvPr/>
        </p:nvGrpSpPr>
        <p:grpSpPr bwMode="auto">
          <a:xfrm>
            <a:off x="3946525" y="4124325"/>
            <a:ext cx="469900" cy="582613"/>
            <a:chOff x="2025" y="2603"/>
            <a:chExt cx="277" cy="403"/>
          </a:xfrm>
        </p:grpSpPr>
        <p:grpSp>
          <p:nvGrpSpPr>
            <p:cNvPr id="44124" name="Group 68"/>
            <p:cNvGrpSpPr/>
            <p:nvPr/>
          </p:nvGrpSpPr>
          <p:grpSpPr bwMode="auto">
            <a:xfrm>
              <a:off x="2025" y="2669"/>
              <a:ext cx="277" cy="337"/>
              <a:chOff x="3238" y="10820"/>
              <a:chExt cx="700" cy="1020"/>
            </a:xfrm>
          </p:grpSpPr>
          <p:sp>
            <p:nvSpPr>
              <p:cNvPr id="44126" name="Oval 69"/>
              <p:cNvSpPr>
                <a:spLocks noChangeArrowheads="1"/>
              </p:cNvSpPr>
              <p:nvPr/>
            </p:nvSpPr>
            <p:spPr bwMode="auto">
              <a:xfrm>
                <a:off x="3238" y="10820"/>
                <a:ext cx="695" cy="7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7" name="Line 70"/>
              <p:cNvSpPr>
                <a:spLocks noChangeShapeType="1"/>
              </p:cNvSpPr>
              <p:nvPr/>
            </p:nvSpPr>
            <p:spPr bwMode="auto">
              <a:xfrm>
                <a:off x="3238" y="11820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8" name="Rectangle 71"/>
              <p:cNvSpPr>
                <a:spLocks noChangeArrowheads="1"/>
              </p:cNvSpPr>
              <p:nvPr/>
            </p:nvSpPr>
            <p:spPr bwMode="auto">
              <a:xfrm>
                <a:off x="3238" y="11220"/>
                <a:ext cx="700" cy="42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9" name="Line 72"/>
              <p:cNvSpPr>
                <a:spLocks noChangeShapeType="1"/>
              </p:cNvSpPr>
              <p:nvPr/>
            </p:nvSpPr>
            <p:spPr bwMode="auto">
              <a:xfrm>
                <a:off x="3238" y="11180"/>
                <a:ext cx="0" cy="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0" name="Line 73"/>
              <p:cNvSpPr>
                <a:spLocks noChangeShapeType="1"/>
              </p:cNvSpPr>
              <p:nvPr/>
            </p:nvSpPr>
            <p:spPr bwMode="auto">
              <a:xfrm>
                <a:off x="3928" y="11180"/>
                <a:ext cx="0" cy="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25" name="Oval 74"/>
            <p:cNvSpPr>
              <a:spLocks noChangeArrowheads="1"/>
            </p:cNvSpPr>
            <p:nvPr/>
          </p:nvSpPr>
          <p:spPr bwMode="auto">
            <a:xfrm>
              <a:off x="2136" y="2603"/>
              <a:ext cx="63" cy="6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046" name="Line 75"/>
          <p:cNvSpPr>
            <a:spLocks noChangeShapeType="1"/>
          </p:cNvSpPr>
          <p:nvPr/>
        </p:nvSpPr>
        <p:spPr bwMode="auto">
          <a:xfrm flipV="1">
            <a:off x="862013" y="5867400"/>
            <a:ext cx="5930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7" name="Line 76"/>
          <p:cNvSpPr>
            <a:spLocks noChangeShapeType="1"/>
          </p:cNvSpPr>
          <p:nvPr/>
        </p:nvSpPr>
        <p:spPr bwMode="auto">
          <a:xfrm flipV="1">
            <a:off x="1554163" y="5770563"/>
            <a:ext cx="57181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8" name="Line 77"/>
          <p:cNvSpPr>
            <a:spLocks noChangeShapeType="1"/>
          </p:cNvSpPr>
          <p:nvPr/>
        </p:nvSpPr>
        <p:spPr bwMode="auto">
          <a:xfrm flipV="1">
            <a:off x="2179638" y="5651500"/>
            <a:ext cx="5595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9" name="Line 78"/>
          <p:cNvSpPr>
            <a:spLocks noChangeShapeType="1"/>
          </p:cNvSpPr>
          <p:nvPr/>
        </p:nvSpPr>
        <p:spPr bwMode="auto">
          <a:xfrm>
            <a:off x="862013" y="4697413"/>
            <a:ext cx="0" cy="1171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0" name="Line 79"/>
          <p:cNvSpPr>
            <a:spLocks noChangeShapeType="1"/>
          </p:cNvSpPr>
          <p:nvPr/>
        </p:nvSpPr>
        <p:spPr bwMode="auto">
          <a:xfrm>
            <a:off x="2859088" y="4702175"/>
            <a:ext cx="0" cy="1171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1" name="Line 80"/>
          <p:cNvSpPr>
            <a:spLocks noChangeShapeType="1"/>
          </p:cNvSpPr>
          <p:nvPr/>
        </p:nvSpPr>
        <p:spPr bwMode="auto">
          <a:xfrm>
            <a:off x="4060825" y="4702175"/>
            <a:ext cx="0" cy="1171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2" name="Line 81"/>
          <p:cNvSpPr>
            <a:spLocks noChangeShapeType="1"/>
          </p:cNvSpPr>
          <p:nvPr/>
        </p:nvSpPr>
        <p:spPr bwMode="auto">
          <a:xfrm>
            <a:off x="4694238" y="4699000"/>
            <a:ext cx="0" cy="1171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3" name="Line 82"/>
          <p:cNvSpPr>
            <a:spLocks noChangeShapeType="1"/>
          </p:cNvSpPr>
          <p:nvPr/>
        </p:nvSpPr>
        <p:spPr bwMode="auto">
          <a:xfrm flipV="1">
            <a:off x="1549400" y="4686300"/>
            <a:ext cx="0" cy="1081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4" name="Line 83"/>
          <p:cNvSpPr>
            <a:spLocks noChangeShapeType="1"/>
          </p:cNvSpPr>
          <p:nvPr/>
        </p:nvSpPr>
        <p:spPr bwMode="auto">
          <a:xfrm flipV="1">
            <a:off x="3005138" y="4691063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5" name="Line 84"/>
          <p:cNvSpPr>
            <a:spLocks noChangeShapeType="1"/>
          </p:cNvSpPr>
          <p:nvPr/>
        </p:nvSpPr>
        <p:spPr bwMode="auto">
          <a:xfrm flipV="1">
            <a:off x="4289425" y="4683125"/>
            <a:ext cx="0" cy="1081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6" name="Line 85"/>
          <p:cNvSpPr>
            <a:spLocks noChangeShapeType="1"/>
          </p:cNvSpPr>
          <p:nvPr/>
        </p:nvSpPr>
        <p:spPr bwMode="auto">
          <a:xfrm flipV="1">
            <a:off x="5348288" y="4672013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7" name="Line 86"/>
          <p:cNvSpPr>
            <a:spLocks noChangeShapeType="1"/>
          </p:cNvSpPr>
          <p:nvPr/>
        </p:nvSpPr>
        <p:spPr bwMode="auto">
          <a:xfrm flipV="1">
            <a:off x="2184400" y="4686300"/>
            <a:ext cx="0" cy="968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8" name="Line 87"/>
          <p:cNvSpPr>
            <a:spLocks noChangeShapeType="1"/>
          </p:cNvSpPr>
          <p:nvPr/>
        </p:nvSpPr>
        <p:spPr bwMode="auto">
          <a:xfrm flipV="1">
            <a:off x="3152775" y="4679950"/>
            <a:ext cx="0" cy="968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9" name="Line 88"/>
          <p:cNvSpPr>
            <a:spLocks noChangeShapeType="1"/>
          </p:cNvSpPr>
          <p:nvPr/>
        </p:nvSpPr>
        <p:spPr bwMode="auto">
          <a:xfrm flipV="1">
            <a:off x="4953000" y="4672013"/>
            <a:ext cx="0" cy="968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0" name="Line 89"/>
          <p:cNvSpPr>
            <a:spLocks noChangeShapeType="1"/>
          </p:cNvSpPr>
          <p:nvPr/>
        </p:nvSpPr>
        <p:spPr bwMode="auto">
          <a:xfrm flipV="1">
            <a:off x="5619750" y="4675188"/>
            <a:ext cx="0" cy="968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1" name="Line 90"/>
          <p:cNvSpPr>
            <a:spLocks noChangeShapeType="1"/>
          </p:cNvSpPr>
          <p:nvPr/>
        </p:nvSpPr>
        <p:spPr bwMode="auto">
          <a:xfrm flipV="1">
            <a:off x="1033463" y="5002213"/>
            <a:ext cx="6761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2" name="Line 91"/>
          <p:cNvSpPr>
            <a:spLocks noChangeShapeType="1"/>
          </p:cNvSpPr>
          <p:nvPr/>
        </p:nvSpPr>
        <p:spPr bwMode="auto">
          <a:xfrm flipV="1">
            <a:off x="1695450" y="4686300"/>
            <a:ext cx="0" cy="315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3" name="Line 92"/>
          <p:cNvSpPr>
            <a:spLocks noChangeShapeType="1"/>
          </p:cNvSpPr>
          <p:nvPr/>
        </p:nvSpPr>
        <p:spPr bwMode="auto">
          <a:xfrm flipV="1">
            <a:off x="1039813" y="4689475"/>
            <a:ext cx="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4" name="Line 93"/>
          <p:cNvSpPr>
            <a:spLocks noChangeShapeType="1"/>
          </p:cNvSpPr>
          <p:nvPr/>
        </p:nvSpPr>
        <p:spPr bwMode="auto">
          <a:xfrm flipV="1">
            <a:off x="1181100" y="4903788"/>
            <a:ext cx="6099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5" name="Line 94"/>
          <p:cNvSpPr>
            <a:spLocks noChangeShapeType="1"/>
          </p:cNvSpPr>
          <p:nvPr/>
        </p:nvSpPr>
        <p:spPr bwMode="auto">
          <a:xfrm flipV="1">
            <a:off x="1833563" y="4794250"/>
            <a:ext cx="496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6" name="Line 95"/>
          <p:cNvSpPr>
            <a:spLocks noChangeShapeType="1"/>
          </p:cNvSpPr>
          <p:nvPr/>
        </p:nvSpPr>
        <p:spPr bwMode="auto">
          <a:xfrm flipV="1">
            <a:off x="1179513" y="4697413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7" name="Line 96"/>
          <p:cNvSpPr>
            <a:spLocks noChangeShapeType="1"/>
          </p:cNvSpPr>
          <p:nvPr/>
        </p:nvSpPr>
        <p:spPr bwMode="auto">
          <a:xfrm flipV="1">
            <a:off x="2339975" y="4691063"/>
            <a:ext cx="0" cy="214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8" name="Line 97"/>
          <p:cNvSpPr>
            <a:spLocks noChangeShapeType="1"/>
          </p:cNvSpPr>
          <p:nvPr/>
        </p:nvSpPr>
        <p:spPr bwMode="auto">
          <a:xfrm flipV="1">
            <a:off x="1827213" y="4686300"/>
            <a:ext cx="0" cy="112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9" name="Line 98"/>
          <p:cNvSpPr>
            <a:spLocks noChangeShapeType="1"/>
          </p:cNvSpPr>
          <p:nvPr/>
        </p:nvSpPr>
        <p:spPr bwMode="auto">
          <a:xfrm flipV="1">
            <a:off x="2476500" y="4700588"/>
            <a:ext cx="0" cy="112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070" name="Group 99"/>
          <p:cNvGrpSpPr/>
          <p:nvPr/>
        </p:nvGrpSpPr>
        <p:grpSpPr bwMode="auto">
          <a:xfrm>
            <a:off x="6592888" y="5126038"/>
            <a:ext cx="369887" cy="923925"/>
            <a:chOff x="4457" y="3211"/>
            <a:chExt cx="218" cy="639"/>
          </a:xfrm>
        </p:grpSpPr>
        <p:grpSp>
          <p:nvGrpSpPr>
            <p:cNvPr id="44120" name="Group 100"/>
            <p:cNvGrpSpPr/>
            <p:nvPr/>
          </p:nvGrpSpPr>
          <p:grpSpPr bwMode="auto">
            <a:xfrm>
              <a:off x="4457" y="3211"/>
              <a:ext cx="218" cy="257"/>
              <a:chOff x="1169" y="3382"/>
              <a:chExt cx="218" cy="257"/>
            </a:xfrm>
          </p:grpSpPr>
          <p:sp>
            <p:nvSpPr>
              <p:cNvPr id="44122" name="AutoShape 101"/>
              <p:cNvSpPr>
                <a:spLocks noChangeArrowheads="1"/>
              </p:cNvSpPr>
              <p:nvPr/>
            </p:nvSpPr>
            <p:spPr bwMode="auto">
              <a:xfrm flipV="1">
                <a:off x="1169" y="3436"/>
                <a:ext cx="218" cy="203"/>
              </a:xfrm>
              <a:prstGeom prst="flowChartMerg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23" name="Oval 102"/>
              <p:cNvSpPr>
                <a:spLocks noChangeArrowheads="1"/>
              </p:cNvSpPr>
              <p:nvPr/>
            </p:nvSpPr>
            <p:spPr bwMode="auto">
              <a:xfrm>
                <a:off x="1247" y="3382"/>
                <a:ext cx="62" cy="5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121" name="Line 103"/>
            <p:cNvSpPr>
              <a:spLocks noChangeShapeType="1"/>
            </p:cNvSpPr>
            <p:nvPr/>
          </p:nvSpPr>
          <p:spPr bwMode="auto">
            <a:xfrm>
              <a:off x="4574" y="3468"/>
              <a:ext cx="0" cy="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71" name="Group 104"/>
          <p:cNvGrpSpPr/>
          <p:nvPr/>
        </p:nvGrpSpPr>
        <p:grpSpPr bwMode="auto">
          <a:xfrm>
            <a:off x="7072313" y="5129213"/>
            <a:ext cx="368300" cy="923925"/>
            <a:chOff x="4457" y="3211"/>
            <a:chExt cx="218" cy="639"/>
          </a:xfrm>
        </p:grpSpPr>
        <p:grpSp>
          <p:nvGrpSpPr>
            <p:cNvPr id="44116" name="Group 105"/>
            <p:cNvGrpSpPr/>
            <p:nvPr/>
          </p:nvGrpSpPr>
          <p:grpSpPr bwMode="auto">
            <a:xfrm>
              <a:off x="4457" y="3211"/>
              <a:ext cx="218" cy="257"/>
              <a:chOff x="1169" y="3382"/>
              <a:chExt cx="218" cy="257"/>
            </a:xfrm>
          </p:grpSpPr>
          <p:sp>
            <p:nvSpPr>
              <p:cNvPr id="44118" name="AutoShape 106"/>
              <p:cNvSpPr>
                <a:spLocks noChangeArrowheads="1"/>
              </p:cNvSpPr>
              <p:nvPr/>
            </p:nvSpPr>
            <p:spPr bwMode="auto">
              <a:xfrm flipV="1">
                <a:off x="1169" y="3436"/>
                <a:ext cx="218" cy="203"/>
              </a:xfrm>
              <a:prstGeom prst="flowChartMerg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19" name="Oval 107"/>
              <p:cNvSpPr>
                <a:spLocks noChangeArrowheads="1"/>
              </p:cNvSpPr>
              <p:nvPr/>
            </p:nvSpPr>
            <p:spPr bwMode="auto">
              <a:xfrm>
                <a:off x="1247" y="3382"/>
                <a:ext cx="62" cy="5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117" name="Line 108"/>
            <p:cNvSpPr>
              <a:spLocks noChangeShapeType="1"/>
            </p:cNvSpPr>
            <p:nvPr/>
          </p:nvSpPr>
          <p:spPr bwMode="auto">
            <a:xfrm>
              <a:off x="4574" y="3468"/>
              <a:ext cx="0" cy="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72" name="Group 109"/>
          <p:cNvGrpSpPr/>
          <p:nvPr/>
        </p:nvGrpSpPr>
        <p:grpSpPr bwMode="auto">
          <a:xfrm>
            <a:off x="7577138" y="5122863"/>
            <a:ext cx="369887" cy="923925"/>
            <a:chOff x="4457" y="3211"/>
            <a:chExt cx="218" cy="639"/>
          </a:xfrm>
        </p:grpSpPr>
        <p:grpSp>
          <p:nvGrpSpPr>
            <p:cNvPr id="44112" name="Group 110"/>
            <p:cNvGrpSpPr/>
            <p:nvPr/>
          </p:nvGrpSpPr>
          <p:grpSpPr bwMode="auto">
            <a:xfrm>
              <a:off x="4457" y="3211"/>
              <a:ext cx="218" cy="257"/>
              <a:chOff x="1169" y="3382"/>
              <a:chExt cx="218" cy="257"/>
            </a:xfrm>
          </p:grpSpPr>
          <p:sp>
            <p:nvSpPr>
              <p:cNvPr id="44114" name="AutoShape 111"/>
              <p:cNvSpPr>
                <a:spLocks noChangeArrowheads="1"/>
              </p:cNvSpPr>
              <p:nvPr/>
            </p:nvSpPr>
            <p:spPr bwMode="auto">
              <a:xfrm flipV="1">
                <a:off x="1169" y="3436"/>
                <a:ext cx="218" cy="203"/>
              </a:xfrm>
              <a:prstGeom prst="flowChartMerg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15" name="Oval 112"/>
              <p:cNvSpPr>
                <a:spLocks noChangeArrowheads="1"/>
              </p:cNvSpPr>
              <p:nvPr/>
            </p:nvSpPr>
            <p:spPr bwMode="auto">
              <a:xfrm>
                <a:off x="1247" y="3382"/>
                <a:ext cx="62" cy="5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113" name="Line 113"/>
            <p:cNvSpPr>
              <a:spLocks noChangeShapeType="1"/>
            </p:cNvSpPr>
            <p:nvPr/>
          </p:nvSpPr>
          <p:spPr bwMode="auto">
            <a:xfrm>
              <a:off x="4574" y="3468"/>
              <a:ext cx="0" cy="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073" name="Text Box 114"/>
          <p:cNvSpPr txBox="1">
            <a:spLocks noChangeArrowheads="1"/>
          </p:cNvSpPr>
          <p:nvPr/>
        </p:nvSpPr>
        <p:spPr bwMode="auto">
          <a:xfrm>
            <a:off x="6619875" y="5999163"/>
            <a:ext cx="1573213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200"/>
              <a:t>A      B       Cin</a:t>
            </a:r>
            <a:endParaRPr lang="en-US" altLang="zh-CN" sz="1200"/>
          </a:p>
        </p:txBody>
      </p:sp>
      <p:sp>
        <p:nvSpPr>
          <p:cNvPr id="44074" name="Line 115"/>
          <p:cNvSpPr>
            <a:spLocks noChangeShapeType="1"/>
          </p:cNvSpPr>
          <p:nvPr/>
        </p:nvSpPr>
        <p:spPr bwMode="auto">
          <a:xfrm flipV="1">
            <a:off x="6778625" y="4799013"/>
            <a:ext cx="0" cy="315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5" name="Line 116"/>
          <p:cNvSpPr>
            <a:spLocks noChangeShapeType="1"/>
          </p:cNvSpPr>
          <p:nvPr/>
        </p:nvSpPr>
        <p:spPr bwMode="auto">
          <a:xfrm flipV="1">
            <a:off x="7267575" y="4900613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6" name="Line 117"/>
          <p:cNvSpPr>
            <a:spLocks noChangeShapeType="1"/>
          </p:cNvSpPr>
          <p:nvPr/>
        </p:nvSpPr>
        <p:spPr bwMode="auto">
          <a:xfrm flipV="1">
            <a:off x="7781925" y="5002213"/>
            <a:ext cx="0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7" name="Line 118"/>
          <p:cNvSpPr>
            <a:spLocks noChangeShapeType="1"/>
          </p:cNvSpPr>
          <p:nvPr/>
        </p:nvSpPr>
        <p:spPr bwMode="auto">
          <a:xfrm flipV="1">
            <a:off x="4822825" y="3795713"/>
            <a:ext cx="0" cy="315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8" name="Line 119"/>
          <p:cNvSpPr>
            <a:spLocks noChangeShapeType="1"/>
          </p:cNvSpPr>
          <p:nvPr/>
        </p:nvSpPr>
        <p:spPr bwMode="auto">
          <a:xfrm flipV="1">
            <a:off x="1695450" y="4010025"/>
            <a:ext cx="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9" name="Line 120"/>
          <p:cNvSpPr>
            <a:spLocks noChangeShapeType="1"/>
          </p:cNvSpPr>
          <p:nvPr/>
        </p:nvSpPr>
        <p:spPr bwMode="auto">
          <a:xfrm flipV="1">
            <a:off x="2357438" y="4024313"/>
            <a:ext cx="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0" name="Line 121"/>
          <p:cNvSpPr>
            <a:spLocks noChangeShapeType="1"/>
          </p:cNvSpPr>
          <p:nvPr/>
        </p:nvSpPr>
        <p:spPr bwMode="auto">
          <a:xfrm flipV="1">
            <a:off x="1695450" y="4021138"/>
            <a:ext cx="252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1" name="Line 122"/>
          <p:cNvSpPr>
            <a:spLocks noChangeShapeType="1"/>
          </p:cNvSpPr>
          <p:nvPr/>
        </p:nvSpPr>
        <p:spPr bwMode="auto">
          <a:xfrm flipV="1">
            <a:off x="2108200" y="4024313"/>
            <a:ext cx="250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2" name="Line 123"/>
          <p:cNvSpPr>
            <a:spLocks noChangeShapeType="1"/>
          </p:cNvSpPr>
          <p:nvPr/>
        </p:nvSpPr>
        <p:spPr bwMode="auto">
          <a:xfrm flipV="1">
            <a:off x="1931988" y="3795713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3" name="Line 124"/>
          <p:cNvSpPr>
            <a:spLocks noChangeShapeType="1"/>
          </p:cNvSpPr>
          <p:nvPr/>
        </p:nvSpPr>
        <p:spPr bwMode="auto">
          <a:xfrm flipV="1">
            <a:off x="2095500" y="3795713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4" name="Line 125"/>
          <p:cNvSpPr>
            <a:spLocks noChangeShapeType="1"/>
          </p:cNvSpPr>
          <p:nvPr/>
        </p:nvSpPr>
        <p:spPr bwMode="auto">
          <a:xfrm flipV="1">
            <a:off x="1035050" y="3932238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5" name="Line 126"/>
          <p:cNvSpPr>
            <a:spLocks noChangeShapeType="1"/>
          </p:cNvSpPr>
          <p:nvPr/>
        </p:nvSpPr>
        <p:spPr bwMode="auto">
          <a:xfrm flipV="1">
            <a:off x="3019425" y="3924300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6" name="Line 127"/>
          <p:cNvSpPr>
            <a:spLocks noChangeShapeType="1"/>
          </p:cNvSpPr>
          <p:nvPr/>
        </p:nvSpPr>
        <p:spPr bwMode="auto">
          <a:xfrm>
            <a:off x="1035050" y="3941763"/>
            <a:ext cx="766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7" name="Line 128"/>
          <p:cNvSpPr>
            <a:spLocks noChangeShapeType="1"/>
          </p:cNvSpPr>
          <p:nvPr/>
        </p:nvSpPr>
        <p:spPr bwMode="auto">
          <a:xfrm>
            <a:off x="2212975" y="3935413"/>
            <a:ext cx="806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8" name="Line 129"/>
          <p:cNvSpPr>
            <a:spLocks noChangeShapeType="1"/>
          </p:cNvSpPr>
          <p:nvPr/>
        </p:nvSpPr>
        <p:spPr bwMode="auto">
          <a:xfrm flipV="1">
            <a:off x="1801813" y="3795713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9" name="Line 130"/>
          <p:cNvSpPr>
            <a:spLocks noChangeShapeType="1"/>
          </p:cNvSpPr>
          <p:nvPr/>
        </p:nvSpPr>
        <p:spPr bwMode="auto">
          <a:xfrm flipV="1">
            <a:off x="2212975" y="3789363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0" name="Line 131"/>
          <p:cNvSpPr>
            <a:spLocks noChangeShapeType="1"/>
          </p:cNvSpPr>
          <p:nvPr/>
        </p:nvSpPr>
        <p:spPr bwMode="auto">
          <a:xfrm flipV="1">
            <a:off x="4194175" y="3933825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1" name="Line 132"/>
          <p:cNvSpPr>
            <a:spLocks noChangeShapeType="1"/>
          </p:cNvSpPr>
          <p:nvPr/>
        </p:nvSpPr>
        <p:spPr bwMode="auto">
          <a:xfrm flipV="1">
            <a:off x="5480050" y="3925888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2" name="Line 133"/>
          <p:cNvSpPr>
            <a:spLocks noChangeShapeType="1"/>
          </p:cNvSpPr>
          <p:nvPr/>
        </p:nvSpPr>
        <p:spPr bwMode="auto">
          <a:xfrm flipV="1">
            <a:off x="4197350" y="3937000"/>
            <a:ext cx="463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3" name="Line 134"/>
          <p:cNvSpPr>
            <a:spLocks noChangeShapeType="1"/>
          </p:cNvSpPr>
          <p:nvPr/>
        </p:nvSpPr>
        <p:spPr bwMode="auto">
          <a:xfrm>
            <a:off x="4979988" y="3929063"/>
            <a:ext cx="501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4" name="Line 135"/>
          <p:cNvSpPr>
            <a:spLocks noChangeShapeType="1"/>
          </p:cNvSpPr>
          <p:nvPr/>
        </p:nvSpPr>
        <p:spPr bwMode="auto">
          <a:xfrm flipV="1">
            <a:off x="4667250" y="3784600"/>
            <a:ext cx="1588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5" name="Line 136"/>
          <p:cNvSpPr>
            <a:spLocks noChangeShapeType="1"/>
          </p:cNvSpPr>
          <p:nvPr/>
        </p:nvSpPr>
        <p:spPr bwMode="auto">
          <a:xfrm flipH="1" flipV="1">
            <a:off x="4975225" y="3800475"/>
            <a:ext cx="0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6" name="Line 137"/>
          <p:cNvSpPr>
            <a:spLocks noChangeShapeType="1"/>
          </p:cNvSpPr>
          <p:nvPr/>
        </p:nvSpPr>
        <p:spPr bwMode="auto">
          <a:xfrm flipV="1">
            <a:off x="4827588" y="2909888"/>
            <a:ext cx="0" cy="315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7" name="Line 138"/>
          <p:cNvSpPr>
            <a:spLocks noChangeShapeType="1"/>
          </p:cNvSpPr>
          <p:nvPr/>
        </p:nvSpPr>
        <p:spPr bwMode="auto">
          <a:xfrm flipV="1">
            <a:off x="2014538" y="2921000"/>
            <a:ext cx="0" cy="315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8" name="Text Box 139"/>
          <p:cNvSpPr txBox="1">
            <a:spLocks noChangeArrowheads="1"/>
          </p:cNvSpPr>
          <p:nvPr/>
        </p:nvSpPr>
        <p:spPr bwMode="auto">
          <a:xfrm>
            <a:off x="2011363" y="2862263"/>
            <a:ext cx="303212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200"/>
              <a:t>S</a:t>
            </a:r>
            <a:endParaRPr lang="en-US" altLang="zh-CN" sz="1200"/>
          </a:p>
        </p:txBody>
      </p:sp>
      <p:sp>
        <p:nvSpPr>
          <p:cNvPr id="44099" name="Text Box 140"/>
          <p:cNvSpPr txBox="1">
            <a:spLocks noChangeArrowheads="1"/>
          </p:cNvSpPr>
          <p:nvPr/>
        </p:nvSpPr>
        <p:spPr bwMode="auto">
          <a:xfrm>
            <a:off x="4883150" y="2867025"/>
            <a:ext cx="660400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200"/>
              <a:t>Cout</a:t>
            </a:r>
            <a:endParaRPr lang="en-US" altLang="zh-CN" sz="1200"/>
          </a:p>
        </p:txBody>
      </p:sp>
      <p:sp>
        <p:nvSpPr>
          <p:cNvPr id="44100" name="Rectangle 141"/>
          <p:cNvSpPr>
            <a:spLocks noChangeArrowheads="1"/>
          </p:cNvSpPr>
          <p:nvPr/>
        </p:nvSpPr>
        <p:spPr bwMode="auto">
          <a:xfrm>
            <a:off x="527050" y="995363"/>
            <a:ext cx="11237913" cy="17097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zh-CN" sz="2400" b="1" dirty="0"/>
              <a:t>三个输入</a:t>
            </a:r>
            <a:r>
              <a:rPr lang="zh-CN" altLang="en-US" sz="2400" b="1" dirty="0"/>
              <a:t>，</a:t>
            </a:r>
            <a:r>
              <a:rPr lang="zh-CN" altLang="zh-CN" sz="2400" b="1" dirty="0"/>
              <a:t>两个输出</a:t>
            </a:r>
            <a:endParaRPr lang="zh-CN" altLang="zh-CN" sz="2400" b="1" dirty="0"/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zh-CN" sz="2400" b="1" dirty="0"/>
              <a:t>进位输出在下一级相加时连到下一位 </a:t>
            </a:r>
            <a:endParaRPr lang="zh-CN" altLang="zh-CN" sz="2400" b="1" dirty="0"/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zh-CN" sz="2400" b="1" dirty="0"/>
              <a:t>两级门延迟</a:t>
            </a:r>
            <a:endParaRPr lang="zh-CN" altLang="zh-CN" sz="2400" b="1" dirty="0"/>
          </a:p>
        </p:txBody>
      </p:sp>
      <p:grpSp>
        <p:nvGrpSpPr>
          <p:cNvPr id="44101" name="Group 153"/>
          <p:cNvGrpSpPr/>
          <p:nvPr/>
        </p:nvGrpSpPr>
        <p:grpSpPr bwMode="auto">
          <a:xfrm>
            <a:off x="10563225" y="3868738"/>
            <a:ext cx="987425" cy="1025525"/>
            <a:chOff x="4661" y="2191"/>
            <a:chExt cx="467" cy="646"/>
          </a:xfrm>
        </p:grpSpPr>
        <p:sp>
          <p:nvSpPr>
            <p:cNvPr id="44104" name="Rectangle 143"/>
            <p:cNvSpPr>
              <a:spLocks noChangeArrowheads="1"/>
            </p:cNvSpPr>
            <p:nvPr/>
          </p:nvSpPr>
          <p:spPr bwMode="auto">
            <a:xfrm>
              <a:off x="4661" y="2354"/>
              <a:ext cx="467" cy="319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5" name="Text Box 144"/>
            <p:cNvSpPr txBox="1">
              <a:spLocks noChangeArrowheads="1"/>
            </p:cNvSpPr>
            <p:nvPr/>
          </p:nvSpPr>
          <p:spPr bwMode="auto">
            <a:xfrm>
              <a:off x="4708" y="2548"/>
              <a:ext cx="414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/>
                <a:t>A    B    C</a:t>
              </a:r>
              <a:endParaRPr lang="en-US" altLang="zh-CN" sz="1200"/>
            </a:p>
          </p:txBody>
        </p:sp>
        <p:sp>
          <p:nvSpPr>
            <p:cNvPr id="44106" name="Text Box 145"/>
            <p:cNvSpPr txBox="1">
              <a:spLocks noChangeArrowheads="1"/>
            </p:cNvSpPr>
            <p:nvPr/>
          </p:nvSpPr>
          <p:spPr bwMode="auto">
            <a:xfrm>
              <a:off x="4772" y="2360"/>
              <a:ext cx="289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/>
                <a:t>C      S</a:t>
              </a:r>
              <a:endParaRPr lang="en-US" altLang="zh-CN" sz="1200"/>
            </a:p>
          </p:txBody>
        </p:sp>
        <p:sp>
          <p:nvSpPr>
            <p:cNvPr id="44107" name="Line 146"/>
            <p:cNvSpPr>
              <a:spLocks noChangeShapeType="1"/>
            </p:cNvSpPr>
            <p:nvPr/>
          </p:nvSpPr>
          <p:spPr bwMode="auto">
            <a:xfrm>
              <a:off x="4729" y="2673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8" name="Line 147"/>
            <p:cNvSpPr>
              <a:spLocks noChangeShapeType="1"/>
            </p:cNvSpPr>
            <p:nvPr/>
          </p:nvSpPr>
          <p:spPr bwMode="auto">
            <a:xfrm>
              <a:off x="5065" y="2673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9" name="Line 148"/>
            <p:cNvSpPr>
              <a:spLocks noChangeShapeType="1"/>
            </p:cNvSpPr>
            <p:nvPr/>
          </p:nvSpPr>
          <p:spPr bwMode="auto">
            <a:xfrm>
              <a:off x="4989" y="2191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0" name="Line 149"/>
            <p:cNvSpPr>
              <a:spLocks noChangeShapeType="1"/>
            </p:cNvSpPr>
            <p:nvPr/>
          </p:nvSpPr>
          <p:spPr bwMode="auto">
            <a:xfrm>
              <a:off x="4902" y="2673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1" name="Line 150"/>
            <p:cNvSpPr>
              <a:spLocks noChangeShapeType="1"/>
            </p:cNvSpPr>
            <p:nvPr/>
          </p:nvSpPr>
          <p:spPr bwMode="auto">
            <a:xfrm>
              <a:off x="4797" y="2191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102" name="AutoShape 152"/>
          <p:cNvSpPr>
            <a:spLocks noChangeArrowheads="1"/>
          </p:cNvSpPr>
          <p:nvPr/>
        </p:nvSpPr>
        <p:spPr bwMode="auto">
          <a:xfrm>
            <a:off x="8939213" y="4314825"/>
            <a:ext cx="1016000" cy="171450"/>
          </a:xfrm>
          <a:prstGeom prst="rightArrow">
            <a:avLst>
              <a:gd name="adj1" fmla="val 50000"/>
              <a:gd name="adj2" fmla="val 11113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03" name="Rectangle 154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10361613" cy="971550"/>
          </a:xfrm>
        </p:spPr>
        <p:txBody>
          <a:bodyPr/>
          <a:lstStyle/>
          <a:p>
            <a:pPr eaLnBrk="1" hangingPunct="1"/>
            <a:r>
              <a:rPr lang="zh-CN" altLang="en-US" smtClean="0"/>
              <a:t>全加器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05C923F-F056-4265-8078-6CD687903462}" type="slidenum">
              <a:rPr lang="en-US" altLang="zh-CN" smtClean="0"/>
            </a:fld>
            <a:endParaRPr lang="en-US" altLang="zh-CN" smtClean="0"/>
          </a:p>
        </p:txBody>
      </p:sp>
      <p:grpSp>
        <p:nvGrpSpPr>
          <p:cNvPr id="45059" name="Group 2"/>
          <p:cNvGrpSpPr/>
          <p:nvPr/>
        </p:nvGrpSpPr>
        <p:grpSpPr bwMode="auto">
          <a:xfrm>
            <a:off x="1585913" y="4327525"/>
            <a:ext cx="8970962" cy="1033463"/>
            <a:chOff x="749" y="2726"/>
            <a:chExt cx="4239" cy="651"/>
          </a:xfrm>
        </p:grpSpPr>
        <p:grpSp>
          <p:nvGrpSpPr>
            <p:cNvPr id="45062" name="Group 3"/>
            <p:cNvGrpSpPr/>
            <p:nvPr/>
          </p:nvGrpSpPr>
          <p:grpSpPr bwMode="auto">
            <a:xfrm>
              <a:off x="4521" y="2729"/>
              <a:ext cx="467" cy="646"/>
              <a:chOff x="4333" y="1552"/>
              <a:chExt cx="467" cy="646"/>
            </a:xfrm>
          </p:grpSpPr>
          <p:sp>
            <p:nvSpPr>
              <p:cNvPr id="45100" name="Rectangle 4"/>
              <p:cNvSpPr>
                <a:spLocks noChangeArrowheads="1"/>
              </p:cNvSpPr>
              <p:nvPr/>
            </p:nvSpPr>
            <p:spPr bwMode="auto">
              <a:xfrm>
                <a:off x="4333" y="1715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01" name="Text Box 5"/>
              <p:cNvSpPr txBox="1">
                <a:spLocks noChangeArrowheads="1"/>
              </p:cNvSpPr>
              <p:nvPr/>
            </p:nvSpPr>
            <p:spPr bwMode="auto">
              <a:xfrm>
                <a:off x="4380" y="1909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5102" name="Text Box 6"/>
              <p:cNvSpPr txBox="1">
                <a:spLocks noChangeArrowheads="1"/>
              </p:cNvSpPr>
              <p:nvPr/>
            </p:nvSpPr>
            <p:spPr bwMode="auto">
              <a:xfrm>
                <a:off x="4444" y="1721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5103" name="Line 7"/>
              <p:cNvSpPr>
                <a:spLocks noChangeShapeType="1"/>
              </p:cNvSpPr>
              <p:nvPr/>
            </p:nvSpPr>
            <p:spPr bwMode="auto">
              <a:xfrm>
                <a:off x="4401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04" name="Line 8"/>
              <p:cNvSpPr>
                <a:spLocks noChangeShapeType="1"/>
              </p:cNvSpPr>
              <p:nvPr/>
            </p:nvSpPr>
            <p:spPr bwMode="auto">
              <a:xfrm>
                <a:off x="4737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05" name="Line 9"/>
              <p:cNvSpPr>
                <a:spLocks noChangeShapeType="1"/>
              </p:cNvSpPr>
              <p:nvPr/>
            </p:nvSpPr>
            <p:spPr bwMode="auto">
              <a:xfrm>
                <a:off x="4661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06" name="Line 10"/>
              <p:cNvSpPr>
                <a:spLocks noChangeShapeType="1"/>
              </p:cNvSpPr>
              <p:nvPr/>
            </p:nvSpPr>
            <p:spPr bwMode="auto">
              <a:xfrm>
                <a:off x="4574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07" name="Line 11"/>
              <p:cNvSpPr>
                <a:spLocks noChangeShapeType="1"/>
              </p:cNvSpPr>
              <p:nvPr/>
            </p:nvSpPr>
            <p:spPr bwMode="auto">
              <a:xfrm>
                <a:off x="4469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5063" name="Group 12"/>
            <p:cNvGrpSpPr/>
            <p:nvPr/>
          </p:nvGrpSpPr>
          <p:grpSpPr bwMode="auto">
            <a:xfrm>
              <a:off x="3897" y="2729"/>
              <a:ext cx="467" cy="646"/>
              <a:chOff x="4333" y="1552"/>
              <a:chExt cx="467" cy="646"/>
            </a:xfrm>
          </p:grpSpPr>
          <p:sp>
            <p:nvSpPr>
              <p:cNvPr id="45092" name="Rectangle 13"/>
              <p:cNvSpPr>
                <a:spLocks noChangeArrowheads="1"/>
              </p:cNvSpPr>
              <p:nvPr/>
            </p:nvSpPr>
            <p:spPr bwMode="auto">
              <a:xfrm>
                <a:off x="4333" y="1715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3" name="Text Box 14"/>
              <p:cNvSpPr txBox="1">
                <a:spLocks noChangeArrowheads="1"/>
              </p:cNvSpPr>
              <p:nvPr/>
            </p:nvSpPr>
            <p:spPr bwMode="auto">
              <a:xfrm>
                <a:off x="4380" y="1909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5094" name="Text Box 15"/>
              <p:cNvSpPr txBox="1">
                <a:spLocks noChangeArrowheads="1"/>
              </p:cNvSpPr>
              <p:nvPr/>
            </p:nvSpPr>
            <p:spPr bwMode="auto">
              <a:xfrm>
                <a:off x="4444" y="1721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5095" name="Line 16"/>
              <p:cNvSpPr>
                <a:spLocks noChangeShapeType="1"/>
              </p:cNvSpPr>
              <p:nvPr/>
            </p:nvSpPr>
            <p:spPr bwMode="auto">
              <a:xfrm>
                <a:off x="4401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6" name="Line 17"/>
              <p:cNvSpPr>
                <a:spLocks noChangeShapeType="1"/>
              </p:cNvSpPr>
              <p:nvPr/>
            </p:nvSpPr>
            <p:spPr bwMode="auto">
              <a:xfrm>
                <a:off x="4737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7" name="Line 18"/>
              <p:cNvSpPr>
                <a:spLocks noChangeShapeType="1"/>
              </p:cNvSpPr>
              <p:nvPr/>
            </p:nvSpPr>
            <p:spPr bwMode="auto">
              <a:xfrm>
                <a:off x="4661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8" name="Line 19"/>
              <p:cNvSpPr>
                <a:spLocks noChangeShapeType="1"/>
              </p:cNvSpPr>
              <p:nvPr/>
            </p:nvSpPr>
            <p:spPr bwMode="auto">
              <a:xfrm>
                <a:off x="4574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9" name="Line 20"/>
              <p:cNvSpPr>
                <a:spLocks noChangeShapeType="1"/>
              </p:cNvSpPr>
              <p:nvPr/>
            </p:nvSpPr>
            <p:spPr bwMode="auto">
              <a:xfrm>
                <a:off x="4469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5064" name="Group 21"/>
            <p:cNvGrpSpPr/>
            <p:nvPr/>
          </p:nvGrpSpPr>
          <p:grpSpPr bwMode="auto">
            <a:xfrm>
              <a:off x="3261" y="2731"/>
              <a:ext cx="467" cy="646"/>
              <a:chOff x="4333" y="1552"/>
              <a:chExt cx="467" cy="646"/>
            </a:xfrm>
          </p:grpSpPr>
          <p:sp>
            <p:nvSpPr>
              <p:cNvPr id="45084" name="Rectangle 22"/>
              <p:cNvSpPr>
                <a:spLocks noChangeArrowheads="1"/>
              </p:cNvSpPr>
              <p:nvPr/>
            </p:nvSpPr>
            <p:spPr bwMode="auto">
              <a:xfrm>
                <a:off x="4333" y="1715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85" name="Text Box 23"/>
              <p:cNvSpPr txBox="1">
                <a:spLocks noChangeArrowheads="1"/>
              </p:cNvSpPr>
              <p:nvPr/>
            </p:nvSpPr>
            <p:spPr bwMode="auto">
              <a:xfrm>
                <a:off x="4380" y="1909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5086" name="Text Box 24"/>
              <p:cNvSpPr txBox="1">
                <a:spLocks noChangeArrowheads="1"/>
              </p:cNvSpPr>
              <p:nvPr/>
            </p:nvSpPr>
            <p:spPr bwMode="auto">
              <a:xfrm>
                <a:off x="4444" y="1721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5087" name="Line 25"/>
              <p:cNvSpPr>
                <a:spLocks noChangeShapeType="1"/>
              </p:cNvSpPr>
              <p:nvPr/>
            </p:nvSpPr>
            <p:spPr bwMode="auto">
              <a:xfrm>
                <a:off x="4401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88" name="Line 26"/>
              <p:cNvSpPr>
                <a:spLocks noChangeShapeType="1"/>
              </p:cNvSpPr>
              <p:nvPr/>
            </p:nvSpPr>
            <p:spPr bwMode="auto">
              <a:xfrm>
                <a:off x="4737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89" name="Line 27"/>
              <p:cNvSpPr>
                <a:spLocks noChangeShapeType="1"/>
              </p:cNvSpPr>
              <p:nvPr/>
            </p:nvSpPr>
            <p:spPr bwMode="auto">
              <a:xfrm>
                <a:off x="4661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0" name="Line 28"/>
              <p:cNvSpPr>
                <a:spLocks noChangeShapeType="1"/>
              </p:cNvSpPr>
              <p:nvPr/>
            </p:nvSpPr>
            <p:spPr bwMode="auto">
              <a:xfrm>
                <a:off x="4574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1" name="Line 29"/>
              <p:cNvSpPr>
                <a:spLocks noChangeShapeType="1"/>
              </p:cNvSpPr>
              <p:nvPr/>
            </p:nvSpPr>
            <p:spPr bwMode="auto">
              <a:xfrm>
                <a:off x="4469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5065" name="Group 30"/>
            <p:cNvGrpSpPr/>
            <p:nvPr/>
          </p:nvGrpSpPr>
          <p:grpSpPr bwMode="auto">
            <a:xfrm>
              <a:off x="1378" y="2726"/>
              <a:ext cx="467" cy="646"/>
              <a:chOff x="4333" y="1552"/>
              <a:chExt cx="467" cy="646"/>
            </a:xfrm>
          </p:grpSpPr>
          <p:sp>
            <p:nvSpPr>
              <p:cNvPr id="45076" name="Rectangle 31"/>
              <p:cNvSpPr>
                <a:spLocks noChangeArrowheads="1"/>
              </p:cNvSpPr>
              <p:nvPr/>
            </p:nvSpPr>
            <p:spPr bwMode="auto">
              <a:xfrm>
                <a:off x="4333" y="1715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77" name="Text Box 32"/>
              <p:cNvSpPr txBox="1">
                <a:spLocks noChangeArrowheads="1"/>
              </p:cNvSpPr>
              <p:nvPr/>
            </p:nvSpPr>
            <p:spPr bwMode="auto">
              <a:xfrm>
                <a:off x="4380" y="1909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5078" name="Text Box 33"/>
              <p:cNvSpPr txBox="1">
                <a:spLocks noChangeArrowheads="1"/>
              </p:cNvSpPr>
              <p:nvPr/>
            </p:nvSpPr>
            <p:spPr bwMode="auto">
              <a:xfrm>
                <a:off x="4444" y="1721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5079" name="Line 34"/>
              <p:cNvSpPr>
                <a:spLocks noChangeShapeType="1"/>
              </p:cNvSpPr>
              <p:nvPr/>
            </p:nvSpPr>
            <p:spPr bwMode="auto">
              <a:xfrm>
                <a:off x="4401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80" name="Line 35"/>
              <p:cNvSpPr>
                <a:spLocks noChangeShapeType="1"/>
              </p:cNvSpPr>
              <p:nvPr/>
            </p:nvSpPr>
            <p:spPr bwMode="auto">
              <a:xfrm>
                <a:off x="4737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81" name="Line 36"/>
              <p:cNvSpPr>
                <a:spLocks noChangeShapeType="1"/>
              </p:cNvSpPr>
              <p:nvPr/>
            </p:nvSpPr>
            <p:spPr bwMode="auto">
              <a:xfrm>
                <a:off x="4661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82" name="Line 37"/>
              <p:cNvSpPr>
                <a:spLocks noChangeShapeType="1"/>
              </p:cNvSpPr>
              <p:nvPr/>
            </p:nvSpPr>
            <p:spPr bwMode="auto">
              <a:xfrm>
                <a:off x="4574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83" name="Line 38"/>
              <p:cNvSpPr>
                <a:spLocks noChangeShapeType="1"/>
              </p:cNvSpPr>
              <p:nvPr/>
            </p:nvSpPr>
            <p:spPr bwMode="auto">
              <a:xfrm>
                <a:off x="4469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5066" name="Group 39"/>
            <p:cNvGrpSpPr/>
            <p:nvPr/>
          </p:nvGrpSpPr>
          <p:grpSpPr bwMode="auto">
            <a:xfrm>
              <a:off x="749" y="2729"/>
              <a:ext cx="467" cy="646"/>
              <a:chOff x="4333" y="1552"/>
              <a:chExt cx="467" cy="646"/>
            </a:xfrm>
          </p:grpSpPr>
          <p:sp>
            <p:nvSpPr>
              <p:cNvPr id="45068" name="Rectangle 40"/>
              <p:cNvSpPr>
                <a:spLocks noChangeArrowheads="1"/>
              </p:cNvSpPr>
              <p:nvPr/>
            </p:nvSpPr>
            <p:spPr bwMode="auto">
              <a:xfrm>
                <a:off x="4333" y="1715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69" name="Text Box 41"/>
              <p:cNvSpPr txBox="1">
                <a:spLocks noChangeArrowheads="1"/>
              </p:cNvSpPr>
              <p:nvPr/>
            </p:nvSpPr>
            <p:spPr bwMode="auto">
              <a:xfrm>
                <a:off x="4380" y="1909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5070" name="Text Box 42"/>
              <p:cNvSpPr txBox="1">
                <a:spLocks noChangeArrowheads="1"/>
              </p:cNvSpPr>
              <p:nvPr/>
            </p:nvSpPr>
            <p:spPr bwMode="auto">
              <a:xfrm>
                <a:off x="4444" y="1721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5071" name="Line 43"/>
              <p:cNvSpPr>
                <a:spLocks noChangeShapeType="1"/>
              </p:cNvSpPr>
              <p:nvPr/>
            </p:nvSpPr>
            <p:spPr bwMode="auto">
              <a:xfrm>
                <a:off x="4401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72" name="Line 44"/>
              <p:cNvSpPr>
                <a:spLocks noChangeShapeType="1"/>
              </p:cNvSpPr>
              <p:nvPr/>
            </p:nvSpPr>
            <p:spPr bwMode="auto">
              <a:xfrm>
                <a:off x="4737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73" name="Line 45"/>
              <p:cNvSpPr>
                <a:spLocks noChangeShapeType="1"/>
              </p:cNvSpPr>
              <p:nvPr/>
            </p:nvSpPr>
            <p:spPr bwMode="auto">
              <a:xfrm>
                <a:off x="4661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74" name="Line 46"/>
              <p:cNvSpPr>
                <a:spLocks noChangeShapeType="1"/>
              </p:cNvSpPr>
              <p:nvPr/>
            </p:nvSpPr>
            <p:spPr bwMode="auto">
              <a:xfrm>
                <a:off x="4574" y="203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75" name="Line 47"/>
              <p:cNvSpPr>
                <a:spLocks noChangeShapeType="1"/>
              </p:cNvSpPr>
              <p:nvPr/>
            </p:nvSpPr>
            <p:spPr bwMode="auto">
              <a:xfrm>
                <a:off x="4469" y="155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067" name="Text Box 48"/>
            <p:cNvSpPr txBox="1">
              <a:spLocks noChangeArrowheads="1"/>
            </p:cNvSpPr>
            <p:nvPr/>
          </p:nvSpPr>
          <p:spPr bwMode="auto">
            <a:xfrm>
              <a:off x="2495" y="2951"/>
              <a:ext cx="226" cy="1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600" b="1"/>
                <a:t>…...</a:t>
              </a:r>
              <a:endParaRPr lang="en-US" altLang="zh-CN" sz="1600" b="1"/>
            </a:p>
          </p:txBody>
        </p:sp>
      </p:grpSp>
      <p:sp>
        <p:nvSpPr>
          <p:cNvPr id="45061" name="Rectangle 50"/>
          <p:cNvSpPr>
            <a:spLocks noGrp="1" noChangeArrowheads="1"/>
          </p:cNvSpPr>
          <p:nvPr>
            <p:ph type="title"/>
          </p:nvPr>
        </p:nvSpPr>
        <p:spPr>
          <a:xfrm>
            <a:off x="889000" y="0"/>
            <a:ext cx="10361613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全加器把三个加数变成两个加数</a:t>
            </a:r>
            <a:endParaRPr lang="zh-CN" altLang="en-US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975" y="1310005"/>
            <a:ext cx="8973185" cy="2396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标题 1"/>
          <p:cNvSpPr>
            <a:spLocks noGrp="1"/>
          </p:cNvSpPr>
          <p:nvPr>
            <p:ph type="title"/>
          </p:nvPr>
        </p:nvSpPr>
        <p:spPr>
          <a:xfrm>
            <a:off x="855663" y="158750"/>
            <a:ext cx="10361612" cy="1143000"/>
          </a:xfrm>
        </p:spPr>
        <p:txBody>
          <a:bodyPr/>
          <a:lstStyle/>
          <a:p>
            <a:r>
              <a:rPr lang="zh-CN" altLang="en-US" smtClean="0"/>
              <a:t>例：</a:t>
            </a:r>
            <a:r>
              <a:rPr lang="en-US" altLang="zh-CN" smtClean="0"/>
              <a:t>3</a:t>
            </a:r>
            <a:r>
              <a:rPr lang="zh-CN" altLang="en-US" smtClean="0"/>
              <a:t>个</a:t>
            </a:r>
            <a:r>
              <a:rPr lang="en-US" altLang="zh-CN" smtClean="0"/>
              <a:t>4</a:t>
            </a:r>
            <a:r>
              <a:rPr lang="zh-CN" altLang="en-US" smtClean="0"/>
              <a:t>位数相加</a:t>
            </a:r>
            <a:endParaRPr lang="zh-CN" altLang="en-US" smtClean="0"/>
          </a:p>
        </p:txBody>
      </p:sp>
      <p:sp>
        <p:nvSpPr>
          <p:cNvPr id="9220" name="内容占位符 2"/>
          <p:cNvSpPr>
            <a:spLocks noGrp="1"/>
          </p:cNvSpPr>
          <p:nvPr>
            <p:ph idx="1"/>
          </p:nvPr>
        </p:nvSpPr>
        <p:spPr>
          <a:xfrm>
            <a:off x="527050" y="1187450"/>
            <a:ext cx="10748963" cy="23637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</a:rPr>
              <a:t>3</a:t>
            </a:r>
            <a:r>
              <a:rPr lang="zh-CN" altLang="en-US" sz="2400" dirty="0" smtClean="0">
                <a:latin typeface="+mn-ea"/>
              </a:rPr>
              <a:t>个四位数相加 </a:t>
            </a:r>
            <a:endParaRPr lang="en-US" altLang="zh-CN" sz="24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latin typeface="+mn-ea"/>
              </a:rPr>
              <a:t>3</a:t>
            </a:r>
            <a:r>
              <a:rPr lang="zh-CN" altLang="en-US" sz="2000" dirty="0" smtClean="0">
                <a:latin typeface="+mn-ea"/>
              </a:rPr>
              <a:t>个（</a:t>
            </a:r>
            <a:r>
              <a:rPr lang="en-US" altLang="zh-CN" sz="2000" dirty="0" smtClean="0">
                <a:latin typeface="+mn-ea"/>
              </a:rPr>
              <a:t>ABD</a:t>
            </a:r>
            <a:r>
              <a:rPr lang="zh-CN" altLang="en-US" sz="2000" dirty="0" smtClean="0">
                <a:latin typeface="+mn-ea"/>
              </a:rPr>
              <a:t>）</a:t>
            </a:r>
            <a:r>
              <a:rPr lang="en-US" altLang="zh-CN" sz="2000" dirty="0" smtClean="0">
                <a:latin typeface="+mn-ea"/>
              </a:rPr>
              <a:t>4bit</a:t>
            </a:r>
            <a:r>
              <a:rPr lang="zh-CN" altLang="en-US" sz="2000" dirty="0" smtClean="0">
                <a:latin typeface="+mn-ea"/>
              </a:rPr>
              <a:t>数的加法，转换为</a:t>
            </a:r>
            <a:r>
              <a:rPr lang="en-US" altLang="zh-CN" sz="2000" dirty="0" smtClean="0">
                <a:latin typeface="+mn-ea"/>
              </a:rPr>
              <a:t>2</a:t>
            </a:r>
            <a:r>
              <a:rPr lang="zh-CN" altLang="en-US" sz="2000" dirty="0" smtClean="0">
                <a:latin typeface="+mn-ea"/>
              </a:rPr>
              <a:t>个数的加法</a:t>
            </a:r>
            <a:endParaRPr lang="en-US" altLang="zh-CN" sz="20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latin typeface="+mn-ea"/>
              </a:rPr>
              <a:t>A + B + D = S + {C,1’b0}     (</a:t>
            </a:r>
            <a:r>
              <a:rPr lang="zh-CN" altLang="en-US" sz="2000" dirty="0" smtClean="0">
                <a:latin typeface="+mn-ea"/>
              </a:rPr>
              <a:t>请着重注意连线的方式</a:t>
            </a:r>
            <a:r>
              <a:rPr lang="en-US" altLang="zh-CN" sz="2000" dirty="0" smtClean="0">
                <a:latin typeface="+mn-ea"/>
              </a:rPr>
              <a:t>)</a:t>
            </a:r>
            <a:endParaRPr lang="en-US" altLang="zh-CN" sz="20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latin typeface="+mn-ea"/>
              </a:rPr>
              <a:t>3+15</a:t>
            </a:r>
            <a:r>
              <a:rPr lang="zh-CN" altLang="en-US" sz="2000" dirty="0" smtClean="0">
                <a:latin typeface="+mn-ea"/>
              </a:rPr>
              <a:t>级门延迟 （</a:t>
            </a:r>
            <a:r>
              <a:rPr lang="en-US" altLang="zh-CN" sz="2000" dirty="0" smtClean="0">
                <a:latin typeface="+mn-ea"/>
              </a:rPr>
              <a:t>vs. 15+15</a:t>
            </a:r>
            <a:r>
              <a:rPr lang="zh-CN" altLang="en-US" sz="2000" dirty="0" smtClean="0">
                <a:latin typeface="+mn-ea"/>
              </a:rPr>
              <a:t>级们延迟）</a:t>
            </a:r>
            <a:endParaRPr lang="zh-CN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 smtClean="0">
              <a:latin typeface="+mn-ea"/>
            </a:endParaRPr>
          </a:p>
        </p:txBody>
      </p:sp>
      <p:sp>
        <p:nvSpPr>
          <p:cNvPr id="9221" name="文本框 4"/>
          <p:cNvSpPr txBox="1">
            <a:spLocks noChangeArrowheads="1"/>
          </p:cNvSpPr>
          <p:nvPr/>
        </p:nvSpPr>
        <p:spPr bwMode="auto">
          <a:xfrm>
            <a:off x="7885113" y="4175125"/>
            <a:ext cx="3332162" cy="1338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1800"/>
              <a:t>注：</a:t>
            </a:r>
            <a:endParaRPr lang="en-US" altLang="zh-CN" sz="1800"/>
          </a:p>
          <a:p>
            <a:r>
              <a:rPr lang="zh-CN" altLang="en-US" sz="1800"/>
              <a:t>回顾乘法算法，两个</a:t>
            </a:r>
            <a:r>
              <a:rPr lang="en-US" altLang="zh-CN" sz="1800"/>
              <a:t>N</a:t>
            </a:r>
            <a:r>
              <a:rPr lang="zh-CN" altLang="en-US" sz="1800"/>
              <a:t>位数相加，只保留</a:t>
            </a:r>
            <a:r>
              <a:rPr lang="en-US" altLang="zh-CN" sz="1800"/>
              <a:t>N</a:t>
            </a:r>
            <a:r>
              <a:rPr lang="zh-CN" altLang="en-US" sz="1800"/>
              <a:t>位的结果，高位可以丢弃</a:t>
            </a:r>
            <a:endParaRPr lang="en-US" altLang="zh-CN" sz="1800"/>
          </a:p>
        </p:txBody>
      </p:sp>
      <p:graphicFrame>
        <p:nvGraphicFramePr>
          <p:cNvPr id="9218" name="对象 8"/>
          <p:cNvGraphicFramePr>
            <a:graphicFrameLocks noChangeAspect="1"/>
          </p:cNvGraphicFramePr>
          <p:nvPr/>
        </p:nvGraphicFramePr>
        <p:xfrm>
          <a:off x="1157288" y="3629025"/>
          <a:ext cx="5576887" cy="280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Visio" r:id="rId1" imgW="3557905" imgH="2395220" progId="">
                  <p:embed/>
                </p:oleObj>
              </mc:Choice>
              <mc:Fallback>
                <p:oleObj name="Visio" r:id="rId1" imgW="3557905" imgH="2395220" progId="">
                  <p:embed/>
                  <p:pic>
                    <p:nvPicPr>
                      <p:cNvPr id="0" name="对象 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57288" y="3629025"/>
                        <a:ext cx="5576887" cy="2809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标题 1"/>
          <p:cNvSpPr>
            <a:spLocks noGrp="1"/>
          </p:cNvSpPr>
          <p:nvPr>
            <p:ph type="title"/>
          </p:nvPr>
        </p:nvSpPr>
        <p:spPr>
          <a:xfrm>
            <a:off x="839788" y="249238"/>
            <a:ext cx="10361612" cy="892175"/>
          </a:xfrm>
        </p:spPr>
        <p:txBody>
          <a:bodyPr/>
          <a:lstStyle/>
          <a:p>
            <a:r>
              <a:rPr lang="zh-CN" altLang="en-US" smtClean="0"/>
              <a:t>例：</a:t>
            </a:r>
            <a:r>
              <a:rPr lang="en-US" altLang="zh-CN" smtClean="0"/>
              <a:t>4</a:t>
            </a:r>
            <a:r>
              <a:rPr lang="zh-CN" altLang="en-US" smtClean="0"/>
              <a:t>个</a:t>
            </a:r>
            <a:r>
              <a:rPr lang="en-US" altLang="zh-CN" smtClean="0"/>
              <a:t>4</a:t>
            </a:r>
            <a:r>
              <a:rPr lang="zh-CN" altLang="en-US" smtClean="0"/>
              <a:t>位数相加</a:t>
            </a:r>
            <a:endParaRPr lang="zh-CN" altLang="en-US" smtClean="0"/>
          </a:p>
        </p:txBody>
      </p:sp>
      <p:sp>
        <p:nvSpPr>
          <p:cNvPr id="10244" name="文本框 3"/>
          <p:cNvSpPr txBox="1">
            <a:spLocks noChangeArrowheads="1"/>
          </p:cNvSpPr>
          <p:nvPr/>
        </p:nvSpPr>
        <p:spPr bwMode="auto">
          <a:xfrm>
            <a:off x="8307388" y="2784475"/>
            <a:ext cx="3603625" cy="2862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dirty="0"/>
              <a:t>注意：</a:t>
            </a:r>
            <a:endParaRPr lang="en-US" altLang="zh-CN" sz="2000" dirty="0"/>
          </a:p>
          <a:p>
            <a:r>
              <a:rPr lang="zh-CN" altLang="en-US" sz="2000" dirty="0"/>
              <a:t>根据公式，</a:t>
            </a:r>
            <a:endParaRPr lang="en-US" altLang="zh-CN" sz="2000" dirty="0"/>
          </a:p>
          <a:p>
            <a:r>
              <a:rPr lang="en-US" altLang="zh-CN" sz="2000" dirty="0" err="1"/>
              <a:t>C</a:t>
            </a:r>
            <a:r>
              <a:rPr lang="en-US" altLang="zh-CN" sz="2000" baseline="-25000" dirty="0" err="1"/>
              <a:t>tmp</a:t>
            </a:r>
            <a:r>
              <a:rPr lang="zh-CN" altLang="en-US" sz="2000" dirty="0"/>
              <a:t>在参与第二层运算时，已经左移</a:t>
            </a:r>
            <a:r>
              <a:rPr lang="en-US" altLang="zh-CN" sz="2000" dirty="0"/>
              <a:t>1</a:t>
            </a:r>
            <a:r>
              <a:rPr lang="zh-CN" altLang="en-US" sz="2000" dirty="0"/>
              <a:t>位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因此，</a:t>
            </a:r>
            <a:r>
              <a:rPr lang="en-US" altLang="zh-CN" sz="2000" dirty="0"/>
              <a:t>C</a:t>
            </a:r>
            <a:r>
              <a:rPr lang="en-US" altLang="zh-CN" sz="2000" baseline="-25000" dirty="0"/>
              <a:t>tmp0</a:t>
            </a:r>
            <a:r>
              <a:rPr lang="zh-CN" altLang="en-US" sz="2000" dirty="0"/>
              <a:t>要与</a:t>
            </a:r>
            <a:r>
              <a:rPr lang="en-US" altLang="zh-CN" sz="2000" dirty="0"/>
              <a:t>S</a:t>
            </a:r>
            <a:r>
              <a:rPr lang="en-US" altLang="zh-CN" sz="2000" baseline="-25000" dirty="0"/>
              <a:t>tmp1</a:t>
            </a:r>
            <a:r>
              <a:rPr lang="zh-CN" altLang="en-US" sz="2000" dirty="0"/>
              <a:t>和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参与同一个全加器</a:t>
            </a:r>
            <a:endParaRPr lang="zh-CN" altLang="en-US" sz="2000" dirty="0"/>
          </a:p>
        </p:txBody>
      </p:sp>
      <p:graphicFrame>
        <p:nvGraphicFramePr>
          <p:cNvPr id="10242" name="内容占位符 11"/>
          <p:cNvGraphicFramePr>
            <a:graphicFrameLocks noGrp="1" noChangeAspect="1"/>
          </p:cNvGraphicFramePr>
          <p:nvPr>
            <p:ph idx="1"/>
          </p:nvPr>
        </p:nvGraphicFramePr>
        <p:xfrm>
          <a:off x="0" y="1458913"/>
          <a:ext cx="8024813" cy="474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Visio" r:id="rId1" imgW="3836670" imgH="3021330" progId="">
                  <p:embed/>
                </p:oleObj>
              </mc:Choice>
              <mc:Fallback>
                <p:oleObj name="Visio" r:id="rId1" imgW="3836670" imgH="3021330" progId="">
                  <p:embed/>
                  <p:pic>
                    <p:nvPicPr>
                      <p:cNvPr id="0" name="内容占位符 11"/>
                      <p:cNvPicPr>
                        <a:picLocks noGrp="1"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458913"/>
                        <a:ext cx="8024813" cy="474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527050" y="1466850"/>
            <a:ext cx="10748963" cy="13827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把</a:t>
            </a:r>
            <a:r>
              <a:rPr lang="en-US" altLang="zh-CN" sz="2400" dirty="0" smtClean="0">
                <a:latin typeface="+mn-ea"/>
              </a:rPr>
              <a:t>4</a:t>
            </a:r>
            <a:r>
              <a:rPr lang="zh-CN" altLang="en-US" sz="2400" dirty="0" smtClean="0">
                <a:latin typeface="+mn-ea"/>
              </a:rPr>
              <a:t>个数变成</a:t>
            </a:r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个数相加需要两级全加器</a:t>
            </a:r>
            <a:endParaRPr lang="en-US" altLang="zh-CN" sz="24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请关注</a:t>
            </a:r>
            <a:r>
              <a:rPr lang="en-US" altLang="zh-CN" sz="2000" dirty="0" smtClean="0">
                <a:latin typeface="+mn-ea"/>
              </a:rPr>
              <a:t>C</a:t>
            </a:r>
            <a:r>
              <a:rPr lang="en-US" altLang="zh-CN" sz="2000" baseline="-25000" dirty="0" smtClean="0">
                <a:latin typeface="+mn-ea"/>
              </a:rPr>
              <a:t>2</a:t>
            </a:r>
            <a:r>
              <a:rPr lang="zh-CN" altLang="en-US" sz="2000" dirty="0" smtClean="0">
                <a:latin typeface="+mn-ea"/>
              </a:rPr>
              <a:t>和</a:t>
            </a:r>
            <a:r>
              <a:rPr lang="en-US" altLang="zh-CN" sz="2000" dirty="0" smtClean="0">
                <a:latin typeface="+mn-ea"/>
              </a:rPr>
              <a:t>S</a:t>
            </a:r>
            <a:r>
              <a:rPr lang="en-US" altLang="zh-CN" sz="2000" baseline="-25000" dirty="0" smtClean="0">
                <a:latin typeface="+mn-ea"/>
              </a:rPr>
              <a:t>2</a:t>
            </a:r>
            <a:r>
              <a:rPr lang="zh-CN" altLang="en-US" sz="2000" dirty="0" smtClean="0">
                <a:latin typeface="+mn-ea"/>
              </a:rPr>
              <a:t>的生成逻辑，抽象出来，即为</a:t>
            </a:r>
            <a:r>
              <a:rPr lang="en-US" altLang="zh-CN" sz="2000" dirty="0" smtClean="0">
                <a:latin typeface="+mn-ea"/>
              </a:rPr>
              <a:t>1bit</a:t>
            </a:r>
            <a:r>
              <a:rPr lang="zh-CN" altLang="en-US" sz="2000" dirty="0" smtClean="0">
                <a:latin typeface="+mn-ea"/>
              </a:rPr>
              <a:t>华莱士树</a:t>
            </a:r>
            <a:endParaRPr lang="en-US" altLang="zh-CN" sz="2000" dirty="0" smtClean="0">
              <a:latin typeface="+mn-ea"/>
            </a:endParaRPr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1046163" y="3883025"/>
          <a:ext cx="10171112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Visio" r:id="rId1" imgW="6426200" imgH="2387600" progId="">
                  <p:embed/>
                </p:oleObj>
              </mc:Choice>
              <mc:Fallback>
                <p:oleObj name="Visio" r:id="rId1" imgW="6426200" imgH="2387600" progId="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6163" y="3883025"/>
                        <a:ext cx="10171112" cy="2830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标题 1"/>
          <p:cNvSpPr>
            <a:spLocks noGrp="1"/>
          </p:cNvSpPr>
          <p:nvPr>
            <p:ph type="title"/>
          </p:nvPr>
        </p:nvSpPr>
        <p:spPr>
          <a:xfrm>
            <a:off x="855663" y="403225"/>
            <a:ext cx="10361612" cy="892175"/>
          </a:xfrm>
        </p:spPr>
        <p:txBody>
          <a:bodyPr/>
          <a:lstStyle/>
          <a:p>
            <a:r>
              <a:rPr lang="zh-CN" altLang="en-US" smtClean="0"/>
              <a:t>其中一位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标题 1"/>
          <p:cNvSpPr>
            <a:spLocks noGrp="1"/>
          </p:cNvSpPr>
          <p:nvPr>
            <p:ph type="title"/>
          </p:nvPr>
        </p:nvSpPr>
        <p:spPr>
          <a:xfrm>
            <a:off x="855663" y="158750"/>
            <a:ext cx="10361612" cy="1143000"/>
          </a:xfrm>
        </p:spPr>
        <p:txBody>
          <a:bodyPr/>
          <a:lstStyle/>
          <a:p>
            <a:r>
              <a:rPr lang="en-US" altLang="zh-CN" smtClean="0"/>
              <a:t>1</a:t>
            </a:r>
            <a:r>
              <a:rPr lang="zh-CN" altLang="en-US" smtClean="0"/>
              <a:t>位华莱士树</a:t>
            </a:r>
            <a:endParaRPr lang="zh-CN" altLang="en-US" smtClean="0"/>
          </a:p>
        </p:txBody>
      </p:sp>
      <p:sp>
        <p:nvSpPr>
          <p:cNvPr id="12292" name="内容占位符 2"/>
          <p:cNvSpPr>
            <a:spLocks noGrp="1"/>
          </p:cNvSpPr>
          <p:nvPr>
            <p:ph idx="1"/>
          </p:nvPr>
        </p:nvSpPr>
        <p:spPr>
          <a:xfrm>
            <a:off x="0" y="1316038"/>
            <a:ext cx="7758113" cy="46291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+mn-ea"/>
              </a:rPr>
              <a:t>连线规则：</a:t>
            </a:r>
            <a:endParaRPr lang="en-US" altLang="zh-CN" sz="2400" dirty="0" smtClean="0">
              <a:latin typeface="+mn-ea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</a:rPr>
              <a:t>每一层可以把</a:t>
            </a:r>
            <a:r>
              <a:rPr lang="en-US" altLang="zh-CN" sz="2000" dirty="0" smtClean="0">
                <a:latin typeface="+mn-ea"/>
              </a:rPr>
              <a:t>3n</a:t>
            </a:r>
            <a:r>
              <a:rPr lang="zh-CN" altLang="en-US" sz="2000" dirty="0" smtClean="0">
                <a:latin typeface="+mn-ea"/>
              </a:rPr>
              <a:t>个加数变成</a:t>
            </a:r>
            <a:r>
              <a:rPr lang="en-US" altLang="zh-CN" sz="2000" dirty="0" smtClean="0">
                <a:latin typeface="+mn-ea"/>
              </a:rPr>
              <a:t>2n</a:t>
            </a:r>
            <a:r>
              <a:rPr lang="zh-CN" altLang="en-US" sz="2000" dirty="0" smtClean="0">
                <a:latin typeface="+mn-ea"/>
              </a:rPr>
              <a:t>个加数</a:t>
            </a:r>
            <a:endParaRPr lang="en-US" altLang="zh-CN" sz="2000" dirty="0" smtClean="0">
              <a:latin typeface="+mn-ea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latin typeface="+mn-ea"/>
              </a:rPr>
              <a:t>除最高层全加器外，进位输入和进位输出个数相等</a:t>
            </a:r>
            <a:endParaRPr lang="en-US" altLang="zh-CN" sz="2000" dirty="0" smtClean="0">
              <a:latin typeface="+mn-ea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接收的进位输入信号，必须接到进位输出该信号层次的上一层或更高</a:t>
            </a:r>
            <a:r>
              <a:rPr lang="zh-CN" altLang="en-US" sz="2000" dirty="0" smtClean="0">
                <a:latin typeface="+mn-ea"/>
              </a:rPr>
              <a:t>（例如第一层的</a:t>
            </a:r>
            <a:r>
              <a:rPr lang="en-US" altLang="zh-CN" sz="2000" dirty="0" smtClean="0">
                <a:latin typeface="+mn-ea"/>
              </a:rPr>
              <a:t>N</a:t>
            </a:r>
            <a:r>
              <a:rPr lang="en-US" altLang="zh-CN" sz="2000" baseline="-25000" dirty="0" smtClean="0">
                <a:latin typeface="+mn-ea"/>
              </a:rPr>
              <a:t>6</a:t>
            </a:r>
            <a:r>
              <a:rPr lang="zh-CN" altLang="en-US" sz="2000" dirty="0" smtClean="0">
                <a:latin typeface="+mn-ea"/>
              </a:rPr>
              <a:t>和</a:t>
            </a:r>
            <a:r>
              <a:rPr lang="en-US" altLang="zh-CN" sz="2000" dirty="0" smtClean="0">
                <a:latin typeface="+mn-ea"/>
              </a:rPr>
              <a:t>N</a:t>
            </a:r>
            <a:r>
              <a:rPr lang="en-US" altLang="zh-CN" sz="2000" baseline="-25000" dirty="0" smtClean="0">
                <a:latin typeface="+mn-ea"/>
              </a:rPr>
              <a:t>7</a:t>
            </a:r>
            <a:r>
              <a:rPr lang="zh-CN" altLang="en-US" sz="2000" baseline="-25000" dirty="0" smtClean="0">
                <a:latin typeface="+mn-ea"/>
              </a:rPr>
              <a:t>，</a:t>
            </a:r>
            <a:r>
              <a:rPr lang="zh-CN" altLang="en-US" sz="2000" dirty="0" smtClean="0">
                <a:latin typeface="+mn-ea"/>
              </a:rPr>
              <a:t>以及第</a:t>
            </a:r>
            <a:r>
              <a:rPr lang="en-US" altLang="zh-CN" sz="2000" dirty="0" smtClean="0">
                <a:latin typeface="+mn-ea"/>
              </a:rPr>
              <a:t>3</a:t>
            </a:r>
            <a:r>
              <a:rPr lang="zh-CN" altLang="en-US" sz="2000" dirty="0" smtClean="0">
                <a:latin typeface="+mn-ea"/>
              </a:rPr>
              <a:t>层的</a:t>
            </a:r>
            <a:r>
              <a:rPr lang="en-US" altLang="zh-CN" sz="2000" dirty="0" smtClean="0">
                <a:latin typeface="+mn-ea"/>
              </a:rPr>
              <a:t>C</a:t>
            </a:r>
            <a:r>
              <a:rPr lang="en-US" altLang="zh-CN" sz="2000" baseline="-25000" dirty="0" smtClean="0">
                <a:latin typeface="+mn-ea"/>
              </a:rPr>
              <a:t>3</a:t>
            </a:r>
            <a:r>
              <a:rPr lang="zh-CN" altLang="en-US" sz="2000" dirty="0" smtClean="0">
                <a:latin typeface="+mn-ea"/>
              </a:rPr>
              <a:t>）</a:t>
            </a:r>
            <a:endParaRPr lang="en-US" altLang="zh-CN" sz="2000" dirty="0" smtClean="0">
              <a:latin typeface="+mn-ea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endParaRPr lang="en-US" altLang="zh-CN" sz="2000" dirty="0" smtClean="0">
              <a:latin typeface="+mn-ea"/>
            </a:endParaRP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7158038" y="1539875"/>
          <a:ext cx="5032375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Visio" r:id="rId1" imgW="2663825" imgH="3548380" progId="">
                  <p:embed/>
                </p:oleObj>
              </mc:Choice>
              <mc:Fallback>
                <p:oleObj name="Visio" r:id="rId1" imgW="2663825" imgH="3548380" progId="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58038" y="1539875"/>
                        <a:ext cx="5032375" cy="5022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标题 1"/>
          <p:cNvSpPr>
            <a:spLocks noGrp="1"/>
          </p:cNvSpPr>
          <p:nvPr>
            <p:ph type="title"/>
          </p:nvPr>
        </p:nvSpPr>
        <p:spPr>
          <a:xfrm>
            <a:off x="855663" y="158750"/>
            <a:ext cx="10361612" cy="1143000"/>
          </a:xfrm>
        </p:spPr>
        <p:txBody>
          <a:bodyPr/>
          <a:lstStyle/>
          <a:p>
            <a:r>
              <a:rPr lang="zh-CN" altLang="en-US" dirty="0" smtClean="0"/>
              <a:t>多位华莱士树</a:t>
            </a:r>
            <a:endParaRPr lang="zh-CN" altLang="en-US" dirty="0" smtClean="0"/>
          </a:p>
        </p:txBody>
      </p:sp>
      <p:sp>
        <p:nvSpPr>
          <p:cNvPr id="13316" name="内容占位符 2"/>
          <p:cNvSpPr>
            <a:spLocks noGrp="1"/>
          </p:cNvSpPr>
          <p:nvPr>
            <p:ph idx="1"/>
          </p:nvPr>
        </p:nvSpPr>
        <p:spPr>
          <a:xfrm>
            <a:off x="527050" y="1316038"/>
            <a:ext cx="10596563" cy="760412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zh-CN" altLang="en-US" dirty="0" smtClean="0">
                <a:latin typeface="+mn-ea"/>
              </a:rPr>
              <a:t>将多个</a:t>
            </a:r>
            <a:r>
              <a:rPr lang="en-US" altLang="zh-CN" dirty="0" smtClean="0">
                <a:latin typeface="+mn-ea"/>
              </a:rPr>
              <a:t>1bit</a:t>
            </a:r>
            <a:r>
              <a:rPr lang="zh-CN" altLang="en-US" dirty="0" smtClean="0">
                <a:latin typeface="+mn-ea"/>
              </a:rPr>
              <a:t>华莱士树连接，将多个多位数相加转为</a:t>
            </a:r>
            <a:r>
              <a:rPr lang="en-US" altLang="zh-CN" dirty="0" smtClean="0">
                <a:latin typeface="+mn-ea"/>
              </a:rPr>
              <a:t>2</a:t>
            </a:r>
            <a:r>
              <a:rPr lang="zh-CN" altLang="en-US" dirty="0" smtClean="0">
                <a:latin typeface="+mn-ea"/>
              </a:rPr>
              <a:t>个多位数相加</a:t>
            </a:r>
            <a:endParaRPr lang="en-US" altLang="zh-CN" dirty="0" smtClean="0">
              <a:latin typeface="+mn-ea"/>
            </a:endParaRPr>
          </a:p>
        </p:txBody>
      </p:sp>
      <p:graphicFrame>
        <p:nvGraphicFramePr>
          <p:cNvPr id="13314" name="对象 5"/>
          <p:cNvGraphicFramePr>
            <a:graphicFrameLocks noChangeAspect="1"/>
          </p:cNvGraphicFramePr>
          <p:nvPr/>
        </p:nvGraphicFramePr>
        <p:xfrm>
          <a:off x="19050" y="2327275"/>
          <a:ext cx="12120563" cy="356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Visio" r:id="rId1" imgW="8001000" imgH="3130550" progId="">
                  <p:embed/>
                </p:oleObj>
              </mc:Choice>
              <mc:Fallback>
                <p:oleObj name="Visio" r:id="rId1" imgW="8001000" imgH="3130550" progId="">
                  <p:embed/>
                  <p:pic>
                    <p:nvPicPr>
                      <p:cNvPr id="0" name="对象 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" y="2327275"/>
                        <a:ext cx="12120563" cy="3560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文本框 6"/>
          <p:cNvSpPr txBox="1">
            <a:spLocks noChangeArrowheads="1"/>
          </p:cNvSpPr>
          <p:nvPr/>
        </p:nvSpPr>
        <p:spPr bwMode="auto">
          <a:xfrm>
            <a:off x="2044700" y="5991225"/>
            <a:ext cx="8850313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/>
              <a:t>可以看出：任意</a:t>
            </a:r>
            <a:r>
              <a:rPr lang="en-US" altLang="zh-CN" sz="2000"/>
              <a:t>S</a:t>
            </a:r>
            <a:r>
              <a:rPr lang="zh-CN" altLang="en-US" sz="2000"/>
              <a:t>和</a:t>
            </a:r>
            <a:r>
              <a:rPr lang="en-US" altLang="zh-CN" sz="2000"/>
              <a:t>C</a:t>
            </a:r>
            <a:r>
              <a:rPr lang="zh-CN" altLang="en-US" sz="2000"/>
              <a:t>结果，最多需要</a:t>
            </a:r>
            <a:r>
              <a:rPr lang="en-US" altLang="zh-CN" sz="2000"/>
              <a:t>4</a:t>
            </a:r>
            <a:r>
              <a:rPr lang="zh-CN" altLang="en-US" sz="2000"/>
              <a:t>级全加器的延迟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标题 1"/>
          <p:cNvSpPr>
            <a:spLocks noGrp="1"/>
          </p:cNvSpPr>
          <p:nvPr>
            <p:ph type="title"/>
          </p:nvPr>
        </p:nvSpPr>
        <p:spPr>
          <a:xfrm>
            <a:off x="855663" y="0"/>
            <a:ext cx="10361612" cy="1143000"/>
          </a:xfrm>
        </p:spPr>
        <p:txBody>
          <a:bodyPr/>
          <a:lstStyle/>
          <a:p>
            <a:r>
              <a:rPr lang="zh-CN" altLang="en-US" smtClean="0"/>
              <a:t>华莱士树进位连接要求</a:t>
            </a:r>
            <a:endParaRPr lang="zh-CN" altLang="en-US" smtClean="0"/>
          </a:p>
        </p:txBody>
      </p:sp>
      <p:sp>
        <p:nvSpPr>
          <p:cNvPr id="14340" name="内容占位符 2"/>
          <p:cNvSpPr>
            <a:spLocks noGrp="1"/>
          </p:cNvSpPr>
          <p:nvPr>
            <p:ph idx="1"/>
          </p:nvPr>
        </p:nvSpPr>
        <p:spPr>
          <a:xfrm>
            <a:off x="527050" y="1009650"/>
            <a:ext cx="11409363" cy="1377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进位输入信号必须接到进位输出该信号层次的上一层或更高</a:t>
            </a:r>
            <a:endParaRPr lang="en-US" altLang="zh-CN" sz="24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下图也使用全加器，将</a:t>
            </a:r>
            <a:r>
              <a:rPr lang="en-US" altLang="zh-CN" sz="2000" dirty="0" smtClean="0">
                <a:latin typeface="+mn-ea"/>
              </a:rPr>
              <a:t>8</a:t>
            </a:r>
            <a:r>
              <a:rPr lang="zh-CN" altLang="en-US" sz="2000" dirty="0" smtClean="0">
                <a:latin typeface="+mn-ea"/>
              </a:rPr>
              <a:t>个数变为</a:t>
            </a:r>
            <a:r>
              <a:rPr lang="en-US" altLang="zh-CN" sz="2000" dirty="0" smtClean="0">
                <a:latin typeface="+mn-ea"/>
              </a:rPr>
              <a:t>2</a:t>
            </a:r>
            <a:r>
              <a:rPr lang="zh-CN" altLang="en-US" sz="2000" dirty="0" smtClean="0">
                <a:latin typeface="+mn-ea"/>
              </a:rPr>
              <a:t>个数</a:t>
            </a:r>
            <a:r>
              <a:rPr lang="en-US" altLang="zh-CN" sz="2000" dirty="0" smtClean="0">
                <a:latin typeface="+mn-ea"/>
              </a:rPr>
              <a:t>:</a:t>
            </a:r>
            <a:endParaRPr lang="en-US" altLang="zh-CN" sz="2000" dirty="0" smtClean="0">
              <a:latin typeface="+mn-ea"/>
            </a:endParaRPr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971550" y="2578100"/>
          <a:ext cx="5514975" cy="414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Visio" r:id="rId1" imgW="3911600" imgH="3911600" progId="">
                  <p:embed/>
                </p:oleObj>
              </mc:Choice>
              <mc:Fallback>
                <p:oleObj name="Visio" r:id="rId1" imgW="3911600" imgH="3911600" progId="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2578100"/>
                        <a:ext cx="5514975" cy="4141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文本框 2"/>
          <p:cNvSpPr txBox="1">
            <a:spLocks noChangeArrowheads="1"/>
          </p:cNvSpPr>
          <p:nvPr/>
        </p:nvSpPr>
        <p:spPr bwMode="auto">
          <a:xfrm>
            <a:off x="6708775" y="2578100"/>
            <a:ext cx="4344988" cy="2246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buFontTx/>
              <a:buChar char="•"/>
            </a:pPr>
            <a:r>
              <a:rPr lang="zh-CN" altLang="en-US" sz="2000"/>
              <a:t>看似</a:t>
            </a:r>
            <a:r>
              <a:rPr lang="en-US" altLang="zh-CN" sz="2000"/>
              <a:t>3</a:t>
            </a:r>
            <a:r>
              <a:rPr lang="zh-CN" altLang="en-US" sz="2000"/>
              <a:t>级延迟</a:t>
            </a:r>
            <a:endParaRPr lang="en-US" altLang="zh-CN" sz="2000"/>
          </a:p>
          <a:p>
            <a:pPr marL="342900" indent="-342900">
              <a:buFontTx/>
              <a:buChar char="•"/>
            </a:pPr>
            <a:r>
              <a:rPr lang="zh-CN" altLang="en-US" sz="2000"/>
              <a:t>也是</a:t>
            </a:r>
            <a:r>
              <a:rPr lang="en-US" altLang="zh-CN" sz="2000"/>
              <a:t>6</a:t>
            </a:r>
            <a:r>
              <a:rPr lang="zh-CN" altLang="en-US" sz="2000"/>
              <a:t>个全加器</a:t>
            </a:r>
            <a:endParaRPr lang="en-US" altLang="zh-CN" sz="2000"/>
          </a:p>
          <a:p>
            <a:pPr marL="342900" indent="-342900">
              <a:buFontTx/>
              <a:buChar char="•"/>
            </a:pPr>
            <a:r>
              <a:rPr lang="zh-CN" altLang="en-US" sz="2000"/>
              <a:t>进位输入和输出等宽</a:t>
            </a:r>
            <a:endParaRPr lang="en-US" altLang="zh-CN" sz="2000"/>
          </a:p>
          <a:p>
            <a:pPr marL="342900" indent="-342900">
              <a:buFontTx/>
              <a:buChar char="•"/>
            </a:pPr>
            <a:endParaRPr lang="en-US" altLang="zh-CN" sz="2000"/>
          </a:p>
          <a:p>
            <a:pPr marL="342900" indent="-342900">
              <a:buFontTx/>
              <a:buChar char="•"/>
            </a:pPr>
            <a:r>
              <a:rPr lang="zh-CN" altLang="en-US" sz="2000"/>
              <a:t>为何不使用这个更快的逻辑？</a:t>
            </a:r>
            <a:endParaRPr lang="en-US" altLang="zh-CN" sz="200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991100" y="6202363"/>
            <a:ext cx="4465638" cy="876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  <a:defRPr/>
            </a:pPr>
            <a:r>
              <a:rPr lang="zh-CN" altLang="en-US" kern="0" smtClean="0">
                <a:solidFill>
                  <a:srgbClr val="FF0000"/>
                </a:solidFill>
              </a:rPr>
              <a:t>错误范例请勿模仿</a:t>
            </a:r>
            <a:endParaRPr lang="en-US" altLang="zh-CN" kern="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1438" y="3978275"/>
            <a:ext cx="7615237" cy="2863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  <a:defRPr/>
            </a:pPr>
            <a:r>
              <a:rPr lang="zh-CN" altLang="en-US" sz="2000" dirty="0">
                <a:latin typeface="+mn-lt"/>
                <a:ea typeface="+mn-ea"/>
              </a:rPr>
              <a:t>把多个树连起来，算算延迟：</a:t>
            </a:r>
            <a:endParaRPr lang="en-US" altLang="zh-CN" sz="2000" dirty="0">
              <a:latin typeface="+mn-lt"/>
              <a:ea typeface="+mn-ea"/>
            </a:endParaRPr>
          </a:p>
          <a:p>
            <a:pPr marL="582295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000" dirty="0">
                <a:latin typeface="+mn-lt"/>
                <a:ea typeface="+mn-ea"/>
              </a:rPr>
              <a:t>输出依赖于</a:t>
            </a:r>
            <a:r>
              <a:rPr lang="en-US" altLang="zh-CN" sz="2000" dirty="0">
                <a:latin typeface="+mn-lt"/>
                <a:ea typeface="+mn-ea"/>
              </a:rPr>
              <a:t>①</a:t>
            </a:r>
            <a:r>
              <a:rPr lang="zh-CN" altLang="en-US" sz="2000" dirty="0">
                <a:latin typeface="+mn-lt"/>
                <a:ea typeface="+mn-ea"/>
              </a:rPr>
              <a:t>号全加器</a:t>
            </a:r>
            <a:endParaRPr lang="en-US" altLang="zh-CN" sz="2000" dirty="0">
              <a:latin typeface="+mn-lt"/>
              <a:ea typeface="+mn-ea"/>
            </a:endParaRPr>
          </a:p>
          <a:p>
            <a:pPr marL="582295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zh-CN" sz="2000" dirty="0">
                <a:latin typeface="+mn-lt"/>
                <a:ea typeface="+mn-ea"/>
              </a:rPr>
              <a:t>① </a:t>
            </a:r>
            <a:r>
              <a:rPr lang="zh-CN" altLang="en-US" sz="2000" dirty="0">
                <a:latin typeface="+mn-lt"/>
                <a:ea typeface="+mn-ea"/>
              </a:rPr>
              <a:t>依赖上个树进位的</a:t>
            </a:r>
            <a:r>
              <a:rPr lang="en-US" altLang="zh-CN" sz="2000" dirty="0">
                <a:latin typeface="+mn-lt"/>
                <a:ea typeface="+mn-ea"/>
              </a:rPr>
              <a:t>C</a:t>
            </a:r>
            <a:r>
              <a:rPr lang="en-US" altLang="zh-CN" sz="2000" baseline="-25000" dirty="0">
                <a:latin typeface="+mn-lt"/>
                <a:ea typeface="+mn-ea"/>
              </a:rPr>
              <a:t>4</a:t>
            </a:r>
            <a:r>
              <a:rPr lang="zh-CN" altLang="en-US" sz="2000" dirty="0">
                <a:latin typeface="+mn-lt"/>
                <a:ea typeface="+mn-ea"/>
              </a:rPr>
              <a:t>，由</a:t>
            </a:r>
            <a:r>
              <a:rPr lang="en-US" altLang="zh-CN" sz="2000" dirty="0">
                <a:latin typeface="+mn-lt"/>
                <a:ea typeface="+mn-ea"/>
              </a:rPr>
              <a:t>②</a:t>
            </a:r>
            <a:r>
              <a:rPr lang="zh-CN" altLang="en-US" sz="2000" dirty="0">
                <a:latin typeface="+mn-lt"/>
                <a:ea typeface="+mn-ea"/>
              </a:rPr>
              <a:t>号全加器计算</a:t>
            </a:r>
            <a:endParaRPr lang="en-US" altLang="zh-CN" sz="2000" dirty="0">
              <a:latin typeface="+mn-lt"/>
              <a:ea typeface="+mn-ea"/>
            </a:endParaRPr>
          </a:p>
          <a:p>
            <a:pPr marL="582295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zh-CN" sz="2000" dirty="0">
                <a:latin typeface="+mn-lt"/>
                <a:ea typeface="+mn-ea"/>
              </a:rPr>
              <a:t>② </a:t>
            </a:r>
            <a:r>
              <a:rPr lang="zh-CN" altLang="en-US" sz="2000" dirty="0">
                <a:latin typeface="+mn-lt"/>
                <a:ea typeface="+mn-ea"/>
              </a:rPr>
              <a:t>依赖于上个树的</a:t>
            </a:r>
            <a:r>
              <a:rPr lang="en-US" altLang="zh-CN" sz="2000" dirty="0">
                <a:latin typeface="+mn-lt"/>
                <a:ea typeface="+mn-ea"/>
              </a:rPr>
              <a:t>C</a:t>
            </a:r>
            <a:r>
              <a:rPr lang="en-US" altLang="zh-CN" sz="2000" baseline="-25000" dirty="0">
                <a:latin typeface="+mn-lt"/>
                <a:ea typeface="+mn-ea"/>
              </a:rPr>
              <a:t>3</a:t>
            </a:r>
            <a:r>
              <a:rPr lang="zh-CN" altLang="en-US" sz="2000" dirty="0">
                <a:latin typeface="+mn-lt"/>
                <a:ea typeface="+mn-ea"/>
              </a:rPr>
              <a:t>，由</a:t>
            </a:r>
            <a:r>
              <a:rPr lang="en-US" altLang="zh-CN" sz="2000" dirty="0">
                <a:latin typeface="+mn-lt"/>
                <a:ea typeface="+mn-ea"/>
              </a:rPr>
              <a:t>③</a:t>
            </a:r>
            <a:r>
              <a:rPr lang="zh-CN" altLang="en-US" sz="2000" dirty="0">
                <a:latin typeface="+mn-lt"/>
                <a:ea typeface="+mn-ea"/>
              </a:rPr>
              <a:t>号全加器计算</a:t>
            </a:r>
            <a:endParaRPr lang="en-US" altLang="zh-CN" sz="2000" dirty="0">
              <a:latin typeface="+mn-lt"/>
              <a:ea typeface="+mn-ea"/>
            </a:endParaRPr>
          </a:p>
          <a:p>
            <a:pPr marL="582295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zh-CN" sz="2000" dirty="0">
                <a:latin typeface="+mn-lt"/>
                <a:ea typeface="+mn-ea"/>
              </a:rPr>
              <a:t>③ </a:t>
            </a:r>
            <a:r>
              <a:rPr lang="zh-CN" altLang="en-US" sz="2000" dirty="0">
                <a:latin typeface="+mn-lt"/>
                <a:ea typeface="+mn-ea"/>
              </a:rPr>
              <a:t>依赖于当前树中的</a:t>
            </a:r>
            <a:r>
              <a:rPr lang="en-US" altLang="zh-CN" sz="2000" dirty="0">
                <a:latin typeface="+mn-lt"/>
                <a:ea typeface="+mn-ea"/>
              </a:rPr>
              <a:t>④</a:t>
            </a:r>
            <a:r>
              <a:rPr lang="zh-CN" altLang="en-US" sz="2000" dirty="0">
                <a:latin typeface="+mn-lt"/>
                <a:ea typeface="+mn-ea"/>
              </a:rPr>
              <a:t>号全加器</a:t>
            </a:r>
            <a:endParaRPr lang="en-US" altLang="zh-CN" sz="2000" dirty="0">
              <a:latin typeface="+mn-lt"/>
              <a:ea typeface="+mn-ea"/>
            </a:endParaRPr>
          </a:p>
          <a:p>
            <a:pPr marL="582295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zh-CN" sz="2000" dirty="0">
                <a:latin typeface="+mn-lt"/>
                <a:ea typeface="+mn-ea"/>
              </a:rPr>
              <a:t>④ </a:t>
            </a:r>
            <a:r>
              <a:rPr lang="zh-CN" altLang="en-US" sz="2000" dirty="0">
                <a:latin typeface="+mn-lt"/>
                <a:ea typeface="+mn-ea"/>
              </a:rPr>
              <a:t>依赖于上个树的</a:t>
            </a:r>
            <a:r>
              <a:rPr lang="en-US" altLang="zh-CN" sz="2000" dirty="0">
                <a:latin typeface="+mn-lt"/>
                <a:ea typeface="+mn-ea"/>
              </a:rPr>
              <a:t>C</a:t>
            </a:r>
            <a:r>
              <a:rPr lang="en-US" altLang="zh-CN" sz="2000" baseline="-25000" dirty="0">
                <a:latin typeface="+mn-lt"/>
                <a:ea typeface="+mn-ea"/>
              </a:rPr>
              <a:t>0</a:t>
            </a:r>
            <a:r>
              <a:rPr lang="zh-CN" altLang="en-US" sz="2000" dirty="0">
                <a:latin typeface="+mn-lt"/>
                <a:ea typeface="+mn-ea"/>
              </a:rPr>
              <a:t>，由</a:t>
            </a:r>
            <a:r>
              <a:rPr lang="en-US" altLang="zh-CN" sz="2000" dirty="0">
                <a:latin typeface="+mn-lt"/>
                <a:ea typeface="+mn-ea"/>
              </a:rPr>
              <a:t>⑤</a:t>
            </a:r>
            <a:r>
              <a:rPr lang="zh-CN" altLang="en-US" sz="2000" dirty="0">
                <a:latin typeface="+mn-lt"/>
                <a:ea typeface="+mn-ea"/>
              </a:rPr>
              <a:t>号全加器计算</a:t>
            </a:r>
            <a:endParaRPr lang="en-US" altLang="zh-CN" sz="2000" dirty="0">
              <a:latin typeface="+mn-lt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86675" y="4033838"/>
            <a:ext cx="4503738" cy="2200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  <a:defRPr/>
            </a:pPr>
            <a:r>
              <a:rPr lang="zh-CN" altLang="en-US" sz="2000" dirty="0">
                <a:latin typeface="+mn-lt"/>
                <a:ea typeface="+mn-ea"/>
              </a:rPr>
              <a:t>完成一次进位传递需要</a:t>
            </a:r>
            <a:r>
              <a:rPr lang="en-US" altLang="zh-CN" sz="2000" dirty="0">
                <a:latin typeface="+mn-lt"/>
                <a:ea typeface="+mn-ea"/>
              </a:rPr>
              <a:t>5</a:t>
            </a:r>
            <a:r>
              <a:rPr lang="zh-CN" altLang="en-US" sz="2000" dirty="0">
                <a:latin typeface="+mn-lt"/>
                <a:ea typeface="+mn-ea"/>
              </a:rPr>
              <a:t>级全加器</a:t>
            </a:r>
            <a:endParaRPr lang="en-US" altLang="zh-CN" sz="2000" dirty="0">
              <a:latin typeface="+mn-lt"/>
              <a:ea typeface="+mn-ea"/>
            </a:endParaRP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  <a:defRPr/>
            </a:pPr>
            <a:r>
              <a:rPr lang="zh-CN" altLang="en-US" sz="1800" dirty="0">
                <a:latin typeface="+mn-lt"/>
                <a:ea typeface="+mn-ea"/>
              </a:rPr>
              <a:t>偷鸡不成，反蚀把米！</a:t>
            </a:r>
            <a:endParaRPr lang="en-US" altLang="zh-CN" sz="1800" dirty="0">
              <a:latin typeface="+mn-lt"/>
              <a:ea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lt"/>
                <a:ea typeface="+mn-ea"/>
              </a:rPr>
              <a:t>问题在于：同一层运算使用了同一层的进位</a:t>
            </a:r>
            <a:endParaRPr lang="zh-CN" altLang="en-US" sz="2000" dirty="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latin typeface="+mn-lt"/>
              <a:ea typeface="+mn-ea"/>
            </a:endParaRPr>
          </a:p>
        </p:txBody>
      </p:sp>
      <p:graphicFrame>
        <p:nvGraphicFramePr>
          <p:cNvPr id="15362" name="对象 7"/>
          <p:cNvGraphicFramePr>
            <a:graphicFrameLocks noChangeAspect="1"/>
          </p:cNvGraphicFramePr>
          <p:nvPr/>
        </p:nvGraphicFramePr>
        <p:xfrm>
          <a:off x="31750" y="842963"/>
          <a:ext cx="12115800" cy="330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Visio" r:id="rId1" imgW="9690100" imgH="3517900" progId="">
                  <p:embed/>
                </p:oleObj>
              </mc:Choice>
              <mc:Fallback>
                <p:oleObj name="Visio" r:id="rId1" imgW="9690100" imgH="3517900" progId="">
                  <p:embed/>
                  <p:pic>
                    <p:nvPicPr>
                      <p:cNvPr id="0" name="对象 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750" y="842963"/>
                        <a:ext cx="12115800" cy="330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/>
          <p:cNvSpPr txBox="1"/>
          <p:nvPr/>
        </p:nvSpPr>
        <p:spPr bwMode="auto">
          <a:xfrm>
            <a:off x="855663" y="0"/>
            <a:ext cx="10361612" cy="979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600" dirty="0">
                <a:solidFill>
                  <a:srgbClr val="FF0000"/>
                </a:solidFill>
                <a:latin typeface="黑体" panose="02000500000000000000" pitchFamily="2" charset="-122"/>
                <a:ea typeface="黑体" panose="02000500000000000000" pitchFamily="2" charset="-122"/>
              </a:rPr>
              <a:t>偷鸡不成蚀把米</a:t>
            </a:r>
            <a:endParaRPr lang="zh-CN" altLang="en-US" sz="3600" kern="0" dirty="0">
              <a:solidFill>
                <a:srgbClr val="FF0000"/>
              </a:solidFill>
              <a:latin typeface="黑体" panose="02000500000000000000" pitchFamily="2" charset="-122"/>
              <a:ea typeface="黑体" panose="02000500000000000000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F3A8F2-189C-43DE-95C5-BD44E61A1321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46083" name="Rectangle 249"/>
          <p:cNvSpPr>
            <a:spLocks noGrp="1" noChangeArrowheads="1"/>
          </p:cNvSpPr>
          <p:nvPr>
            <p:ph type="title"/>
          </p:nvPr>
        </p:nvSpPr>
        <p:spPr>
          <a:xfrm>
            <a:off x="1016000" y="0"/>
            <a:ext cx="10361613" cy="723900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16</a:t>
            </a:r>
            <a:r>
              <a:rPr lang="zh-CN" altLang="en-US" sz="2800" smtClean="0"/>
              <a:t>个数相加的</a:t>
            </a:r>
            <a:r>
              <a:rPr lang="en-US" altLang="zh-CN" sz="2800" smtClean="0"/>
              <a:t>1</a:t>
            </a:r>
            <a:r>
              <a:rPr lang="zh-CN" altLang="en-US" sz="2800" smtClean="0"/>
              <a:t>位加法树</a:t>
            </a:r>
            <a:endParaRPr lang="zh-CN" altLang="en-US" sz="2800" smtClean="0"/>
          </a:p>
        </p:txBody>
      </p:sp>
      <p:grpSp>
        <p:nvGrpSpPr>
          <p:cNvPr id="46084" name="Group 270"/>
          <p:cNvGrpSpPr/>
          <p:nvPr/>
        </p:nvGrpSpPr>
        <p:grpSpPr bwMode="auto">
          <a:xfrm>
            <a:off x="63500" y="669925"/>
            <a:ext cx="11718925" cy="6188075"/>
            <a:chOff x="30" y="422"/>
            <a:chExt cx="5537" cy="3898"/>
          </a:xfrm>
        </p:grpSpPr>
        <p:grpSp>
          <p:nvGrpSpPr>
            <p:cNvPr id="46086" name="Group 266"/>
            <p:cNvGrpSpPr/>
            <p:nvPr/>
          </p:nvGrpSpPr>
          <p:grpSpPr bwMode="auto">
            <a:xfrm>
              <a:off x="4832" y="1779"/>
              <a:ext cx="735" cy="1186"/>
              <a:chOff x="4832" y="1779"/>
              <a:chExt cx="735" cy="1186"/>
            </a:xfrm>
          </p:grpSpPr>
          <p:sp>
            <p:nvSpPr>
              <p:cNvPr id="46264" name="Rectangle 230"/>
              <p:cNvSpPr>
                <a:spLocks noChangeArrowheads="1"/>
              </p:cNvSpPr>
              <p:nvPr/>
            </p:nvSpPr>
            <p:spPr bwMode="auto">
              <a:xfrm>
                <a:off x="5027" y="1999"/>
                <a:ext cx="342" cy="670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65" name="Line 231"/>
              <p:cNvSpPr>
                <a:spLocks noChangeShapeType="1"/>
              </p:cNvSpPr>
              <p:nvPr/>
            </p:nvSpPr>
            <p:spPr bwMode="auto">
              <a:xfrm>
                <a:off x="5201" y="2669"/>
                <a:ext cx="0" cy="2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66" name="Line 232"/>
              <p:cNvSpPr>
                <a:spLocks noChangeShapeType="1"/>
              </p:cNvSpPr>
              <p:nvPr/>
            </p:nvSpPr>
            <p:spPr bwMode="auto">
              <a:xfrm>
                <a:off x="5153" y="1779"/>
                <a:ext cx="0" cy="2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67" name="Line 233"/>
              <p:cNvSpPr>
                <a:spLocks noChangeShapeType="1"/>
              </p:cNvSpPr>
              <p:nvPr/>
            </p:nvSpPr>
            <p:spPr bwMode="auto">
              <a:xfrm>
                <a:off x="5242" y="1779"/>
                <a:ext cx="7" cy="2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68" name="Text Box 234"/>
              <p:cNvSpPr txBox="1">
                <a:spLocks noChangeArrowheads="1"/>
              </p:cNvSpPr>
              <p:nvPr/>
            </p:nvSpPr>
            <p:spPr bwMode="auto">
              <a:xfrm>
                <a:off x="5097" y="2545"/>
                <a:ext cx="241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input</a:t>
                </a:r>
                <a:endParaRPr lang="en-US" altLang="zh-CN" sz="1200"/>
              </a:p>
            </p:txBody>
          </p:sp>
          <p:sp>
            <p:nvSpPr>
              <p:cNvPr id="46269" name="Text Box 235"/>
              <p:cNvSpPr txBox="1">
                <a:spLocks noChangeArrowheads="1"/>
              </p:cNvSpPr>
              <p:nvPr/>
            </p:nvSpPr>
            <p:spPr bwMode="auto">
              <a:xfrm>
                <a:off x="5147" y="1984"/>
                <a:ext cx="148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s</a:t>
                </a:r>
                <a:endParaRPr lang="en-US" altLang="zh-CN" sz="1200"/>
              </a:p>
            </p:txBody>
          </p:sp>
          <p:sp>
            <p:nvSpPr>
              <p:cNvPr id="46270" name="Line 236"/>
              <p:cNvSpPr>
                <a:spLocks noChangeShapeType="1"/>
              </p:cNvSpPr>
              <p:nvPr/>
            </p:nvSpPr>
            <p:spPr bwMode="auto">
              <a:xfrm flipH="1">
                <a:off x="4832" y="2350"/>
                <a:ext cx="19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71" name="Text Box 237"/>
              <p:cNvSpPr txBox="1">
                <a:spLocks noChangeArrowheads="1"/>
              </p:cNvSpPr>
              <p:nvPr/>
            </p:nvSpPr>
            <p:spPr bwMode="auto">
              <a:xfrm>
                <a:off x="5037" y="2282"/>
                <a:ext cx="343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cout  cin </a:t>
                </a:r>
                <a:endParaRPr lang="en-US" altLang="zh-CN" sz="1200"/>
              </a:p>
            </p:txBody>
          </p:sp>
          <p:sp>
            <p:nvSpPr>
              <p:cNvPr id="46272" name="Line 238"/>
              <p:cNvSpPr>
                <a:spLocks noChangeShapeType="1"/>
              </p:cNvSpPr>
              <p:nvPr/>
            </p:nvSpPr>
            <p:spPr bwMode="auto">
              <a:xfrm flipH="1">
                <a:off x="5372" y="2353"/>
                <a:ext cx="19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6087" name="AutoShape 247"/>
            <p:cNvSpPr>
              <a:spLocks noChangeArrowheads="1"/>
            </p:cNvSpPr>
            <p:nvPr/>
          </p:nvSpPr>
          <p:spPr bwMode="auto">
            <a:xfrm>
              <a:off x="4164" y="2274"/>
              <a:ext cx="480" cy="108"/>
            </a:xfrm>
            <a:prstGeom prst="rightArrow">
              <a:avLst>
                <a:gd name="adj1" fmla="val 50000"/>
                <a:gd name="adj2" fmla="val 111111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6088" name="Group 269"/>
            <p:cNvGrpSpPr/>
            <p:nvPr/>
          </p:nvGrpSpPr>
          <p:grpSpPr bwMode="auto">
            <a:xfrm>
              <a:off x="30" y="422"/>
              <a:ext cx="4014" cy="3898"/>
              <a:chOff x="30" y="422"/>
              <a:chExt cx="4014" cy="3898"/>
            </a:xfrm>
          </p:grpSpPr>
          <p:sp>
            <p:nvSpPr>
              <p:cNvPr id="46089" name="Rectangle 248"/>
              <p:cNvSpPr>
                <a:spLocks noChangeArrowheads="1"/>
              </p:cNvSpPr>
              <p:nvPr/>
            </p:nvSpPr>
            <p:spPr bwMode="auto">
              <a:xfrm>
                <a:off x="342" y="486"/>
                <a:ext cx="3354" cy="3708"/>
              </a:xfrm>
              <a:prstGeom prst="rect">
                <a:avLst/>
              </a:prstGeom>
              <a:solidFill>
                <a:schemeClr val="hlink"/>
              </a:solidFill>
              <a:ln w="9525" cap="rnd">
                <a:solidFill>
                  <a:schemeClr val="tx1"/>
                </a:solidFill>
                <a:prstDash val="sysDot"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0" name="Line 5"/>
              <p:cNvSpPr>
                <a:spLocks noChangeShapeType="1"/>
              </p:cNvSpPr>
              <p:nvPr/>
            </p:nvSpPr>
            <p:spPr bwMode="auto">
              <a:xfrm>
                <a:off x="1910" y="1512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1" name="Line 6"/>
              <p:cNvSpPr>
                <a:spLocks noChangeShapeType="1"/>
              </p:cNvSpPr>
              <p:nvPr/>
            </p:nvSpPr>
            <p:spPr bwMode="auto">
              <a:xfrm>
                <a:off x="1694" y="158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2" name="Line 8"/>
              <p:cNvSpPr>
                <a:spLocks noChangeShapeType="1"/>
              </p:cNvSpPr>
              <p:nvPr/>
            </p:nvSpPr>
            <p:spPr bwMode="auto">
              <a:xfrm>
                <a:off x="1115" y="3709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3" name="Line 10"/>
              <p:cNvSpPr>
                <a:spLocks noChangeShapeType="1"/>
              </p:cNvSpPr>
              <p:nvPr/>
            </p:nvSpPr>
            <p:spPr bwMode="auto">
              <a:xfrm>
                <a:off x="537" y="3756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4" name="Line 11"/>
              <p:cNvSpPr>
                <a:spLocks noChangeShapeType="1"/>
              </p:cNvSpPr>
              <p:nvPr/>
            </p:nvSpPr>
            <p:spPr bwMode="auto">
              <a:xfrm>
                <a:off x="1879" y="3757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5" name="Line 12"/>
              <p:cNvSpPr>
                <a:spLocks noChangeShapeType="1"/>
              </p:cNvSpPr>
              <p:nvPr/>
            </p:nvSpPr>
            <p:spPr bwMode="auto">
              <a:xfrm>
                <a:off x="1691" y="3673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6" name="Line 13"/>
              <p:cNvSpPr>
                <a:spLocks noChangeShapeType="1"/>
              </p:cNvSpPr>
              <p:nvPr/>
            </p:nvSpPr>
            <p:spPr bwMode="auto">
              <a:xfrm>
                <a:off x="2454" y="3761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7" name="Line 14"/>
              <p:cNvSpPr>
                <a:spLocks noChangeShapeType="1"/>
              </p:cNvSpPr>
              <p:nvPr/>
            </p:nvSpPr>
            <p:spPr bwMode="auto">
              <a:xfrm>
                <a:off x="2262" y="3631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8" name="Line 16"/>
              <p:cNvSpPr>
                <a:spLocks noChangeShapeType="1"/>
              </p:cNvSpPr>
              <p:nvPr/>
            </p:nvSpPr>
            <p:spPr bwMode="auto">
              <a:xfrm>
                <a:off x="2863" y="3589"/>
                <a:ext cx="1" cy="3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9" name="Line 28"/>
              <p:cNvSpPr>
                <a:spLocks noChangeShapeType="1"/>
              </p:cNvSpPr>
              <p:nvPr/>
            </p:nvSpPr>
            <p:spPr bwMode="auto">
              <a:xfrm>
                <a:off x="1042" y="3237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0" name="Line 29"/>
              <p:cNvSpPr>
                <a:spLocks noChangeShapeType="1"/>
              </p:cNvSpPr>
              <p:nvPr/>
            </p:nvSpPr>
            <p:spPr bwMode="auto">
              <a:xfrm flipV="1">
                <a:off x="729" y="3563"/>
                <a:ext cx="0" cy="2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1" name="Line 30"/>
              <p:cNvSpPr>
                <a:spLocks noChangeShapeType="1"/>
              </p:cNvSpPr>
              <p:nvPr/>
            </p:nvSpPr>
            <p:spPr bwMode="auto">
              <a:xfrm>
                <a:off x="733" y="3560"/>
                <a:ext cx="3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2" name="Line 32"/>
              <p:cNvSpPr>
                <a:spLocks noChangeShapeType="1"/>
              </p:cNvSpPr>
              <p:nvPr/>
            </p:nvSpPr>
            <p:spPr bwMode="auto">
              <a:xfrm>
                <a:off x="3047" y="3298"/>
                <a:ext cx="80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3" name="Line 33"/>
              <p:cNvSpPr>
                <a:spLocks noChangeShapeType="1"/>
              </p:cNvSpPr>
              <p:nvPr/>
            </p:nvSpPr>
            <p:spPr bwMode="auto">
              <a:xfrm>
                <a:off x="2841" y="3330"/>
                <a:ext cx="1005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4" name="Line 34"/>
              <p:cNvSpPr>
                <a:spLocks noChangeShapeType="1"/>
              </p:cNvSpPr>
              <p:nvPr/>
            </p:nvSpPr>
            <p:spPr bwMode="auto">
              <a:xfrm>
                <a:off x="2533" y="3362"/>
                <a:ext cx="1313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5" name="Line 35"/>
              <p:cNvSpPr>
                <a:spLocks noChangeShapeType="1"/>
              </p:cNvSpPr>
              <p:nvPr/>
            </p:nvSpPr>
            <p:spPr bwMode="auto">
              <a:xfrm>
                <a:off x="2367" y="3394"/>
                <a:ext cx="1489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6" name="Line 36"/>
              <p:cNvSpPr>
                <a:spLocks noChangeShapeType="1"/>
              </p:cNvSpPr>
              <p:nvPr/>
            </p:nvSpPr>
            <p:spPr bwMode="auto">
              <a:xfrm>
                <a:off x="2206" y="3426"/>
                <a:ext cx="163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7" name="Line 40"/>
              <p:cNvSpPr>
                <a:spLocks noChangeShapeType="1"/>
              </p:cNvSpPr>
              <p:nvPr/>
            </p:nvSpPr>
            <p:spPr bwMode="auto">
              <a:xfrm flipH="1">
                <a:off x="243" y="3755"/>
                <a:ext cx="295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8" name="Line 41"/>
              <p:cNvSpPr>
                <a:spLocks noChangeShapeType="1"/>
              </p:cNvSpPr>
              <p:nvPr/>
            </p:nvSpPr>
            <p:spPr bwMode="auto">
              <a:xfrm flipV="1">
                <a:off x="251" y="3710"/>
                <a:ext cx="865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9" name="Line 42"/>
              <p:cNvSpPr>
                <a:spLocks noChangeShapeType="1"/>
              </p:cNvSpPr>
              <p:nvPr/>
            </p:nvSpPr>
            <p:spPr bwMode="auto">
              <a:xfrm>
                <a:off x="252" y="3674"/>
                <a:ext cx="1439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0" name="Line 43"/>
              <p:cNvSpPr>
                <a:spLocks noChangeShapeType="1"/>
              </p:cNvSpPr>
              <p:nvPr/>
            </p:nvSpPr>
            <p:spPr bwMode="auto">
              <a:xfrm>
                <a:off x="259" y="3630"/>
                <a:ext cx="199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1" name="Line 44"/>
              <p:cNvSpPr>
                <a:spLocks noChangeShapeType="1"/>
              </p:cNvSpPr>
              <p:nvPr/>
            </p:nvSpPr>
            <p:spPr bwMode="auto">
              <a:xfrm>
                <a:off x="248" y="3593"/>
                <a:ext cx="2619" cy="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2" name="Line 51"/>
              <p:cNvSpPr>
                <a:spLocks noChangeShapeType="1"/>
              </p:cNvSpPr>
              <p:nvPr/>
            </p:nvSpPr>
            <p:spPr bwMode="auto">
              <a:xfrm>
                <a:off x="1950" y="3268"/>
                <a:ext cx="0" cy="1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3" name="Line 52"/>
              <p:cNvSpPr>
                <a:spLocks noChangeShapeType="1"/>
              </p:cNvSpPr>
              <p:nvPr/>
            </p:nvSpPr>
            <p:spPr bwMode="auto">
              <a:xfrm flipV="1">
                <a:off x="1956" y="3458"/>
                <a:ext cx="1489" cy="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4" name="Line 54"/>
              <p:cNvSpPr>
                <a:spLocks noChangeShapeType="1"/>
              </p:cNvSpPr>
              <p:nvPr/>
            </p:nvSpPr>
            <p:spPr bwMode="auto">
              <a:xfrm>
                <a:off x="1790" y="3252"/>
                <a:ext cx="0" cy="2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5" name="Line 55"/>
              <p:cNvSpPr>
                <a:spLocks noChangeShapeType="1"/>
              </p:cNvSpPr>
              <p:nvPr/>
            </p:nvSpPr>
            <p:spPr bwMode="auto">
              <a:xfrm>
                <a:off x="1792" y="3495"/>
                <a:ext cx="12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6" name="Line 56"/>
              <p:cNvSpPr>
                <a:spLocks noChangeShapeType="1"/>
              </p:cNvSpPr>
              <p:nvPr/>
            </p:nvSpPr>
            <p:spPr bwMode="auto">
              <a:xfrm>
                <a:off x="3054" y="3494"/>
                <a:ext cx="0" cy="3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7" name="Line 57"/>
              <p:cNvSpPr>
                <a:spLocks noChangeShapeType="1"/>
              </p:cNvSpPr>
              <p:nvPr/>
            </p:nvSpPr>
            <p:spPr bwMode="auto">
              <a:xfrm>
                <a:off x="1614" y="3260"/>
                <a:ext cx="0" cy="2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8" name="Line 58"/>
              <p:cNvSpPr>
                <a:spLocks noChangeShapeType="1"/>
              </p:cNvSpPr>
              <p:nvPr/>
            </p:nvSpPr>
            <p:spPr bwMode="auto">
              <a:xfrm>
                <a:off x="1621" y="3526"/>
                <a:ext cx="83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19" name="Line 59"/>
              <p:cNvSpPr>
                <a:spLocks noChangeShapeType="1"/>
              </p:cNvSpPr>
              <p:nvPr/>
            </p:nvSpPr>
            <p:spPr bwMode="auto">
              <a:xfrm>
                <a:off x="2455" y="3526"/>
                <a:ext cx="0" cy="2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20" name="Line 60"/>
              <p:cNvSpPr>
                <a:spLocks noChangeShapeType="1"/>
              </p:cNvSpPr>
              <p:nvPr/>
            </p:nvSpPr>
            <p:spPr bwMode="auto">
              <a:xfrm>
                <a:off x="1379" y="3261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21" name="Line 61"/>
              <p:cNvSpPr>
                <a:spLocks noChangeShapeType="1"/>
              </p:cNvSpPr>
              <p:nvPr/>
            </p:nvSpPr>
            <p:spPr bwMode="auto">
              <a:xfrm>
                <a:off x="1379" y="3557"/>
                <a:ext cx="49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22" name="Line 62"/>
              <p:cNvSpPr>
                <a:spLocks noChangeShapeType="1"/>
              </p:cNvSpPr>
              <p:nvPr/>
            </p:nvSpPr>
            <p:spPr bwMode="auto">
              <a:xfrm>
                <a:off x="1878" y="3557"/>
                <a:ext cx="0" cy="2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23" name="Line 63"/>
              <p:cNvSpPr>
                <a:spLocks noChangeShapeType="1"/>
              </p:cNvSpPr>
              <p:nvPr/>
            </p:nvSpPr>
            <p:spPr bwMode="auto">
              <a:xfrm>
                <a:off x="1216" y="3253"/>
                <a:ext cx="0" cy="3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24" name="Line 64"/>
              <p:cNvSpPr>
                <a:spLocks noChangeShapeType="1"/>
              </p:cNvSpPr>
              <p:nvPr/>
            </p:nvSpPr>
            <p:spPr bwMode="auto">
              <a:xfrm flipV="1">
                <a:off x="1307" y="3557"/>
                <a:ext cx="0" cy="2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25" name="Line 65"/>
              <p:cNvSpPr>
                <a:spLocks noChangeShapeType="1"/>
              </p:cNvSpPr>
              <p:nvPr/>
            </p:nvSpPr>
            <p:spPr bwMode="auto">
              <a:xfrm>
                <a:off x="1216" y="3557"/>
                <a:ext cx="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26" name="Rectangle 66"/>
              <p:cNvSpPr>
                <a:spLocks noChangeArrowheads="1"/>
              </p:cNvSpPr>
              <p:nvPr/>
            </p:nvSpPr>
            <p:spPr bwMode="auto">
              <a:xfrm>
                <a:off x="975" y="3816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27" name="Text Box 67"/>
              <p:cNvSpPr txBox="1">
                <a:spLocks noChangeArrowheads="1"/>
              </p:cNvSpPr>
              <p:nvPr/>
            </p:nvSpPr>
            <p:spPr bwMode="auto">
              <a:xfrm>
                <a:off x="1022" y="4010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128" name="Text Box 68"/>
              <p:cNvSpPr txBox="1">
                <a:spLocks noChangeArrowheads="1"/>
              </p:cNvSpPr>
              <p:nvPr/>
            </p:nvSpPr>
            <p:spPr bwMode="auto">
              <a:xfrm>
                <a:off x="1086" y="3822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129" name="Line 69"/>
              <p:cNvSpPr>
                <a:spLocks noChangeShapeType="1"/>
              </p:cNvSpPr>
              <p:nvPr/>
            </p:nvSpPr>
            <p:spPr bwMode="auto">
              <a:xfrm>
                <a:off x="1043" y="4135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30" name="Line 70"/>
              <p:cNvSpPr>
                <a:spLocks noChangeShapeType="1"/>
              </p:cNvSpPr>
              <p:nvPr/>
            </p:nvSpPr>
            <p:spPr bwMode="auto">
              <a:xfrm>
                <a:off x="1379" y="4135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31" name="Line 71"/>
              <p:cNvSpPr>
                <a:spLocks noChangeShapeType="1"/>
              </p:cNvSpPr>
              <p:nvPr/>
            </p:nvSpPr>
            <p:spPr bwMode="auto">
              <a:xfrm>
                <a:off x="1216" y="4135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32" name="Rectangle 72"/>
              <p:cNvSpPr>
                <a:spLocks noChangeArrowheads="1"/>
              </p:cNvSpPr>
              <p:nvPr/>
            </p:nvSpPr>
            <p:spPr bwMode="auto">
              <a:xfrm>
                <a:off x="401" y="3819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33" name="Text Box 73"/>
              <p:cNvSpPr txBox="1">
                <a:spLocks noChangeArrowheads="1"/>
              </p:cNvSpPr>
              <p:nvPr/>
            </p:nvSpPr>
            <p:spPr bwMode="auto">
              <a:xfrm>
                <a:off x="448" y="4013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134" name="Text Box 74"/>
              <p:cNvSpPr txBox="1">
                <a:spLocks noChangeArrowheads="1"/>
              </p:cNvSpPr>
              <p:nvPr/>
            </p:nvSpPr>
            <p:spPr bwMode="auto">
              <a:xfrm>
                <a:off x="512" y="3825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135" name="Line 75"/>
              <p:cNvSpPr>
                <a:spLocks noChangeShapeType="1"/>
              </p:cNvSpPr>
              <p:nvPr/>
            </p:nvSpPr>
            <p:spPr bwMode="auto">
              <a:xfrm>
                <a:off x="469" y="413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36" name="Line 76"/>
              <p:cNvSpPr>
                <a:spLocks noChangeShapeType="1"/>
              </p:cNvSpPr>
              <p:nvPr/>
            </p:nvSpPr>
            <p:spPr bwMode="auto">
              <a:xfrm>
                <a:off x="805" y="413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37" name="Line 77"/>
              <p:cNvSpPr>
                <a:spLocks noChangeShapeType="1"/>
              </p:cNvSpPr>
              <p:nvPr/>
            </p:nvSpPr>
            <p:spPr bwMode="auto">
              <a:xfrm>
                <a:off x="642" y="413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38" name="Rectangle 78"/>
              <p:cNvSpPr>
                <a:spLocks noChangeArrowheads="1"/>
              </p:cNvSpPr>
              <p:nvPr/>
            </p:nvSpPr>
            <p:spPr bwMode="auto">
              <a:xfrm>
                <a:off x="1551" y="3816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39" name="Text Box 79"/>
              <p:cNvSpPr txBox="1">
                <a:spLocks noChangeArrowheads="1"/>
              </p:cNvSpPr>
              <p:nvPr/>
            </p:nvSpPr>
            <p:spPr bwMode="auto">
              <a:xfrm>
                <a:off x="1598" y="4010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140" name="Text Box 80"/>
              <p:cNvSpPr txBox="1">
                <a:spLocks noChangeArrowheads="1"/>
              </p:cNvSpPr>
              <p:nvPr/>
            </p:nvSpPr>
            <p:spPr bwMode="auto">
              <a:xfrm>
                <a:off x="1662" y="3822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141" name="Line 81"/>
              <p:cNvSpPr>
                <a:spLocks noChangeShapeType="1"/>
              </p:cNvSpPr>
              <p:nvPr/>
            </p:nvSpPr>
            <p:spPr bwMode="auto">
              <a:xfrm>
                <a:off x="1619" y="4135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42" name="Line 82"/>
              <p:cNvSpPr>
                <a:spLocks noChangeShapeType="1"/>
              </p:cNvSpPr>
              <p:nvPr/>
            </p:nvSpPr>
            <p:spPr bwMode="auto">
              <a:xfrm>
                <a:off x="1955" y="4135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43" name="Line 83"/>
              <p:cNvSpPr>
                <a:spLocks noChangeShapeType="1"/>
              </p:cNvSpPr>
              <p:nvPr/>
            </p:nvSpPr>
            <p:spPr bwMode="auto">
              <a:xfrm>
                <a:off x="1792" y="4135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44" name="Rectangle 84"/>
              <p:cNvSpPr>
                <a:spLocks noChangeArrowheads="1"/>
              </p:cNvSpPr>
              <p:nvPr/>
            </p:nvSpPr>
            <p:spPr bwMode="auto">
              <a:xfrm>
                <a:off x="2126" y="3820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45" name="Text Box 85"/>
              <p:cNvSpPr txBox="1">
                <a:spLocks noChangeArrowheads="1"/>
              </p:cNvSpPr>
              <p:nvPr/>
            </p:nvSpPr>
            <p:spPr bwMode="auto">
              <a:xfrm>
                <a:off x="2173" y="4014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146" name="Text Box 86"/>
              <p:cNvSpPr txBox="1">
                <a:spLocks noChangeArrowheads="1"/>
              </p:cNvSpPr>
              <p:nvPr/>
            </p:nvSpPr>
            <p:spPr bwMode="auto">
              <a:xfrm>
                <a:off x="2237" y="3826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147" name="Line 87"/>
              <p:cNvSpPr>
                <a:spLocks noChangeShapeType="1"/>
              </p:cNvSpPr>
              <p:nvPr/>
            </p:nvSpPr>
            <p:spPr bwMode="auto">
              <a:xfrm>
                <a:off x="2194" y="4139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48" name="Line 88"/>
              <p:cNvSpPr>
                <a:spLocks noChangeShapeType="1"/>
              </p:cNvSpPr>
              <p:nvPr/>
            </p:nvSpPr>
            <p:spPr bwMode="auto">
              <a:xfrm>
                <a:off x="2530" y="4139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49" name="Line 89"/>
              <p:cNvSpPr>
                <a:spLocks noChangeShapeType="1"/>
              </p:cNvSpPr>
              <p:nvPr/>
            </p:nvSpPr>
            <p:spPr bwMode="auto">
              <a:xfrm>
                <a:off x="2367" y="4139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50" name="Rectangle 90"/>
              <p:cNvSpPr>
                <a:spLocks noChangeArrowheads="1"/>
              </p:cNvSpPr>
              <p:nvPr/>
            </p:nvSpPr>
            <p:spPr bwMode="auto">
              <a:xfrm>
                <a:off x="2728" y="3819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51" name="Text Box 91"/>
              <p:cNvSpPr txBox="1">
                <a:spLocks noChangeArrowheads="1"/>
              </p:cNvSpPr>
              <p:nvPr/>
            </p:nvSpPr>
            <p:spPr bwMode="auto">
              <a:xfrm>
                <a:off x="2775" y="4013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152" name="Text Box 92"/>
              <p:cNvSpPr txBox="1">
                <a:spLocks noChangeArrowheads="1"/>
              </p:cNvSpPr>
              <p:nvPr/>
            </p:nvSpPr>
            <p:spPr bwMode="auto">
              <a:xfrm>
                <a:off x="2839" y="3825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153" name="Line 93"/>
              <p:cNvSpPr>
                <a:spLocks noChangeShapeType="1"/>
              </p:cNvSpPr>
              <p:nvPr/>
            </p:nvSpPr>
            <p:spPr bwMode="auto">
              <a:xfrm>
                <a:off x="2796" y="413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54" name="Line 94"/>
              <p:cNvSpPr>
                <a:spLocks noChangeShapeType="1"/>
              </p:cNvSpPr>
              <p:nvPr/>
            </p:nvSpPr>
            <p:spPr bwMode="auto">
              <a:xfrm>
                <a:off x="3132" y="413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55" name="Line 95"/>
              <p:cNvSpPr>
                <a:spLocks noChangeShapeType="1"/>
              </p:cNvSpPr>
              <p:nvPr/>
            </p:nvSpPr>
            <p:spPr bwMode="auto">
              <a:xfrm>
                <a:off x="2969" y="413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56" name="Line 102"/>
              <p:cNvSpPr>
                <a:spLocks noChangeShapeType="1"/>
              </p:cNvSpPr>
              <p:nvPr/>
            </p:nvSpPr>
            <p:spPr bwMode="auto">
              <a:xfrm>
                <a:off x="1879" y="2816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57" name="Line 104"/>
              <p:cNvSpPr>
                <a:spLocks noChangeShapeType="1"/>
              </p:cNvSpPr>
              <p:nvPr/>
            </p:nvSpPr>
            <p:spPr bwMode="auto">
              <a:xfrm>
                <a:off x="1300" y="281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58" name="Line 105"/>
              <p:cNvSpPr>
                <a:spLocks noChangeShapeType="1"/>
              </p:cNvSpPr>
              <p:nvPr/>
            </p:nvSpPr>
            <p:spPr bwMode="auto">
              <a:xfrm>
                <a:off x="1108" y="2926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59" name="Line 107"/>
              <p:cNvSpPr>
                <a:spLocks noChangeShapeType="1"/>
              </p:cNvSpPr>
              <p:nvPr/>
            </p:nvSpPr>
            <p:spPr bwMode="auto">
              <a:xfrm>
                <a:off x="2263" y="2926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0" name="Line 108"/>
              <p:cNvSpPr>
                <a:spLocks noChangeShapeType="1"/>
              </p:cNvSpPr>
              <p:nvPr/>
            </p:nvSpPr>
            <p:spPr bwMode="auto">
              <a:xfrm>
                <a:off x="2196" y="2567"/>
                <a:ext cx="0" cy="2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1" name="Line 109"/>
              <p:cNvSpPr>
                <a:spLocks noChangeShapeType="1"/>
              </p:cNvSpPr>
              <p:nvPr/>
            </p:nvSpPr>
            <p:spPr bwMode="auto">
              <a:xfrm>
                <a:off x="2530" y="2561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2" name="Line 110"/>
              <p:cNvSpPr>
                <a:spLocks noChangeShapeType="1"/>
              </p:cNvSpPr>
              <p:nvPr/>
            </p:nvSpPr>
            <p:spPr bwMode="auto">
              <a:xfrm>
                <a:off x="2367" y="2585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3" name="Line 111"/>
              <p:cNvSpPr>
                <a:spLocks noChangeShapeType="1"/>
              </p:cNvSpPr>
              <p:nvPr/>
            </p:nvSpPr>
            <p:spPr bwMode="auto">
              <a:xfrm>
                <a:off x="1628" y="2627"/>
                <a:ext cx="0" cy="1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4" name="Line 112"/>
              <p:cNvSpPr>
                <a:spLocks noChangeShapeType="1"/>
              </p:cNvSpPr>
              <p:nvPr/>
            </p:nvSpPr>
            <p:spPr bwMode="auto">
              <a:xfrm>
                <a:off x="1962" y="2622"/>
                <a:ext cx="0" cy="19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5" name="Line 113"/>
              <p:cNvSpPr>
                <a:spLocks noChangeShapeType="1"/>
              </p:cNvSpPr>
              <p:nvPr/>
            </p:nvSpPr>
            <p:spPr bwMode="auto">
              <a:xfrm>
                <a:off x="1789" y="2628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6" name="Line 114"/>
              <p:cNvSpPr>
                <a:spLocks noChangeShapeType="1"/>
              </p:cNvSpPr>
              <p:nvPr/>
            </p:nvSpPr>
            <p:spPr bwMode="auto">
              <a:xfrm flipH="1">
                <a:off x="251" y="2924"/>
                <a:ext cx="85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7" name="Line 115"/>
              <p:cNvSpPr>
                <a:spLocks noChangeShapeType="1"/>
              </p:cNvSpPr>
              <p:nvPr/>
            </p:nvSpPr>
            <p:spPr bwMode="auto">
              <a:xfrm>
                <a:off x="257" y="2893"/>
                <a:ext cx="142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8" name="Line 116"/>
              <p:cNvSpPr>
                <a:spLocks noChangeShapeType="1"/>
              </p:cNvSpPr>
              <p:nvPr/>
            </p:nvSpPr>
            <p:spPr bwMode="auto">
              <a:xfrm>
                <a:off x="251" y="2861"/>
                <a:ext cx="2009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69" name="Line 118"/>
              <p:cNvSpPr>
                <a:spLocks noChangeShapeType="1"/>
              </p:cNvSpPr>
              <p:nvPr/>
            </p:nvSpPr>
            <p:spPr bwMode="auto">
              <a:xfrm flipH="1" flipV="1">
                <a:off x="2842" y="2792"/>
                <a:ext cx="0" cy="54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0" name="Line 120"/>
              <p:cNvSpPr>
                <a:spLocks noChangeShapeType="1"/>
              </p:cNvSpPr>
              <p:nvPr/>
            </p:nvSpPr>
            <p:spPr bwMode="auto">
              <a:xfrm flipV="1">
                <a:off x="1691" y="2895"/>
                <a:ext cx="0" cy="1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1" name="Line 121"/>
              <p:cNvSpPr>
                <a:spLocks noChangeShapeType="1"/>
              </p:cNvSpPr>
              <p:nvPr/>
            </p:nvSpPr>
            <p:spPr bwMode="auto">
              <a:xfrm flipV="1">
                <a:off x="2535" y="2723"/>
                <a:ext cx="1308" cy="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2" name="Line 122"/>
              <p:cNvSpPr>
                <a:spLocks noChangeShapeType="1"/>
              </p:cNvSpPr>
              <p:nvPr/>
            </p:nvSpPr>
            <p:spPr bwMode="auto">
              <a:xfrm flipV="1">
                <a:off x="2366" y="2756"/>
                <a:ext cx="687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3" name="Line 124"/>
              <p:cNvSpPr>
                <a:spLocks noChangeShapeType="1"/>
              </p:cNvSpPr>
              <p:nvPr/>
            </p:nvSpPr>
            <p:spPr bwMode="auto">
              <a:xfrm flipV="1">
                <a:off x="2199" y="2792"/>
                <a:ext cx="64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4" name="Line 125"/>
              <p:cNvSpPr>
                <a:spLocks noChangeShapeType="1"/>
              </p:cNvSpPr>
              <p:nvPr/>
            </p:nvSpPr>
            <p:spPr bwMode="auto">
              <a:xfrm flipV="1">
                <a:off x="3049" y="2756"/>
                <a:ext cx="0" cy="53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5" name="Line 127"/>
              <p:cNvSpPr>
                <a:spLocks noChangeShapeType="1"/>
              </p:cNvSpPr>
              <p:nvPr/>
            </p:nvSpPr>
            <p:spPr bwMode="auto">
              <a:xfrm>
                <a:off x="1964" y="2817"/>
                <a:ext cx="49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6" name="Line 132"/>
              <p:cNvSpPr>
                <a:spLocks noChangeShapeType="1"/>
              </p:cNvSpPr>
              <p:nvPr/>
            </p:nvSpPr>
            <p:spPr bwMode="auto">
              <a:xfrm flipH="1">
                <a:off x="1792" y="2815"/>
                <a:ext cx="8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7" name="Line 135"/>
              <p:cNvSpPr>
                <a:spLocks noChangeShapeType="1"/>
              </p:cNvSpPr>
              <p:nvPr/>
            </p:nvSpPr>
            <p:spPr bwMode="auto">
              <a:xfrm>
                <a:off x="1301" y="2813"/>
                <a:ext cx="3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8" name="Line 136"/>
              <p:cNvSpPr>
                <a:spLocks noChangeShapeType="1"/>
              </p:cNvSpPr>
              <p:nvPr/>
            </p:nvSpPr>
            <p:spPr bwMode="auto">
              <a:xfrm>
                <a:off x="2843" y="2696"/>
                <a:ext cx="998" cy="5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79" name="Line 137"/>
              <p:cNvSpPr>
                <a:spLocks noChangeShapeType="1"/>
              </p:cNvSpPr>
              <p:nvPr/>
            </p:nvSpPr>
            <p:spPr bwMode="auto">
              <a:xfrm flipV="1">
                <a:off x="3045" y="2669"/>
                <a:ext cx="813" cy="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80" name="Line 138"/>
              <p:cNvSpPr>
                <a:spLocks noChangeShapeType="1"/>
              </p:cNvSpPr>
              <p:nvPr/>
            </p:nvSpPr>
            <p:spPr bwMode="auto">
              <a:xfrm>
                <a:off x="2839" y="2188"/>
                <a:ext cx="0" cy="5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81" name="Line 139"/>
              <p:cNvSpPr>
                <a:spLocks noChangeShapeType="1"/>
              </p:cNvSpPr>
              <p:nvPr/>
            </p:nvSpPr>
            <p:spPr bwMode="auto">
              <a:xfrm>
                <a:off x="3044" y="2114"/>
                <a:ext cx="0" cy="5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82" name="Rectangle 140"/>
              <p:cNvSpPr>
                <a:spLocks noChangeArrowheads="1"/>
              </p:cNvSpPr>
              <p:nvPr/>
            </p:nvSpPr>
            <p:spPr bwMode="auto">
              <a:xfrm>
                <a:off x="1551" y="2993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83" name="Text Box 141"/>
              <p:cNvSpPr txBox="1">
                <a:spLocks noChangeArrowheads="1"/>
              </p:cNvSpPr>
              <p:nvPr/>
            </p:nvSpPr>
            <p:spPr bwMode="auto">
              <a:xfrm>
                <a:off x="1598" y="3187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184" name="Text Box 142"/>
              <p:cNvSpPr txBox="1">
                <a:spLocks noChangeArrowheads="1"/>
              </p:cNvSpPr>
              <p:nvPr/>
            </p:nvSpPr>
            <p:spPr bwMode="auto">
              <a:xfrm>
                <a:off x="1662" y="2999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185" name="Rectangle 143"/>
              <p:cNvSpPr>
                <a:spLocks noChangeArrowheads="1"/>
              </p:cNvSpPr>
              <p:nvPr/>
            </p:nvSpPr>
            <p:spPr bwMode="auto">
              <a:xfrm>
                <a:off x="972" y="2985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86" name="Text Box 144"/>
              <p:cNvSpPr txBox="1">
                <a:spLocks noChangeArrowheads="1"/>
              </p:cNvSpPr>
              <p:nvPr/>
            </p:nvSpPr>
            <p:spPr bwMode="auto">
              <a:xfrm>
                <a:off x="1019" y="3179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187" name="Text Box 145"/>
              <p:cNvSpPr txBox="1">
                <a:spLocks noChangeArrowheads="1"/>
              </p:cNvSpPr>
              <p:nvPr/>
            </p:nvSpPr>
            <p:spPr bwMode="auto">
              <a:xfrm>
                <a:off x="1083" y="2991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grpSp>
            <p:nvGrpSpPr>
              <p:cNvPr id="46188" name="Group 251"/>
              <p:cNvGrpSpPr/>
              <p:nvPr/>
            </p:nvGrpSpPr>
            <p:grpSpPr bwMode="auto">
              <a:xfrm>
                <a:off x="2127" y="2818"/>
                <a:ext cx="467" cy="606"/>
                <a:chOff x="2127" y="2800"/>
                <a:chExt cx="467" cy="606"/>
              </a:xfrm>
            </p:grpSpPr>
            <p:sp>
              <p:nvSpPr>
                <p:cNvPr id="46256" name="Line 25"/>
                <p:cNvSpPr>
                  <a:spLocks noChangeShapeType="1"/>
                </p:cNvSpPr>
                <p:nvPr/>
              </p:nvSpPr>
              <p:spPr bwMode="auto">
                <a:xfrm>
                  <a:off x="2201" y="3242"/>
                  <a:ext cx="0" cy="1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257" name="Line 26"/>
                <p:cNvSpPr>
                  <a:spLocks noChangeShapeType="1"/>
                </p:cNvSpPr>
                <p:nvPr/>
              </p:nvSpPr>
              <p:spPr bwMode="auto">
                <a:xfrm>
                  <a:off x="2531" y="3182"/>
                  <a:ext cx="0" cy="1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258" name="Line 27"/>
                <p:cNvSpPr>
                  <a:spLocks noChangeShapeType="1"/>
                </p:cNvSpPr>
                <p:nvPr/>
              </p:nvSpPr>
              <p:spPr bwMode="auto">
                <a:xfrm>
                  <a:off x="2368" y="3206"/>
                  <a:ext cx="0" cy="1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259" name="Line 106"/>
                <p:cNvSpPr>
                  <a:spLocks noChangeShapeType="1"/>
                </p:cNvSpPr>
                <p:nvPr/>
              </p:nvSpPr>
              <p:spPr bwMode="auto">
                <a:xfrm>
                  <a:off x="2455" y="2800"/>
                  <a:ext cx="0" cy="1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260" name="Line 119"/>
                <p:cNvSpPr>
                  <a:spLocks noChangeShapeType="1"/>
                </p:cNvSpPr>
                <p:nvPr/>
              </p:nvSpPr>
              <p:spPr bwMode="auto">
                <a:xfrm flipV="1">
                  <a:off x="2263" y="2846"/>
                  <a:ext cx="0" cy="14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261" name="Rectangle 146"/>
                <p:cNvSpPr>
                  <a:spLocks noChangeArrowheads="1"/>
                </p:cNvSpPr>
                <p:nvPr/>
              </p:nvSpPr>
              <p:spPr bwMode="auto">
                <a:xfrm>
                  <a:off x="2127" y="2967"/>
                  <a:ext cx="467" cy="31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262" name="Text Box 147"/>
                <p:cNvSpPr txBox="1">
                  <a:spLocks noChangeArrowheads="1"/>
                </p:cNvSpPr>
                <p:nvPr/>
              </p:nvSpPr>
              <p:spPr bwMode="auto">
                <a:xfrm>
                  <a:off x="2174" y="3161"/>
                  <a:ext cx="414" cy="1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>
                  <a:spAutoFit/>
                </a:bodyPr>
                <a:lstStyle/>
                <a:p>
                  <a:r>
                    <a:rPr lang="en-US" altLang="zh-CN" sz="1200"/>
                    <a:t>A    B    C</a:t>
                  </a:r>
                  <a:endParaRPr lang="en-US" altLang="zh-CN" sz="1200"/>
                </a:p>
              </p:txBody>
            </p:sp>
            <p:sp>
              <p:nvSpPr>
                <p:cNvPr id="46263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2238" y="2973"/>
                  <a:ext cx="289" cy="1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>
                  <a:spAutoFit/>
                </a:bodyPr>
                <a:lstStyle/>
                <a:p>
                  <a:r>
                    <a:rPr lang="en-US" altLang="zh-CN" sz="1200"/>
                    <a:t>C      S</a:t>
                  </a:r>
                  <a:endParaRPr lang="en-US" altLang="zh-CN" sz="1200"/>
                </a:p>
              </p:txBody>
            </p:sp>
          </p:grpSp>
          <p:sp>
            <p:nvSpPr>
              <p:cNvPr id="46189" name="Line 160"/>
              <p:cNvSpPr>
                <a:spLocks noChangeShapeType="1"/>
              </p:cNvSpPr>
              <p:nvPr/>
            </p:nvSpPr>
            <p:spPr bwMode="auto">
              <a:xfrm flipH="1">
                <a:off x="2454" y="2137"/>
                <a:ext cx="0" cy="1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0" name="Line 161"/>
              <p:cNvSpPr>
                <a:spLocks noChangeShapeType="1"/>
              </p:cNvSpPr>
              <p:nvPr/>
            </p:nvSpPr>
            <p:spPr bwMode="auto">
              <a:xfrm>
                <a:off x="1882" y="2167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1" name="Line 162"/>
              <p:cNvSpPr>
                <a:spLocks noChangeShapeType="1"/>
              </p:cNvSpPr>
              <p:nvPr/>
            </p:nvSpPr>
            <p:spPr bwMode="auto">
              <a:xfrm>
                <a:off x="1690" y="2257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2" name="Line 163"/>
              <p:cNvSpPr>
                <a:spLocks noChangeShapeType="1"/>
              </p:cNvSpPr>
              <p:nvPr/>
            </p:nvSpPr>
            <p:spPr bwMode="auto">
              <a:xfrm>
                <a:off x="1626" y="1966"/>
                <a:ext cx="0" cy="1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3" name="Line 164"/>
              <p:cNvSpPr>
                <a:spLocks noChangeShapeType="1"/>
              </p:cNvSpPr>
              <p:nvPr/>
            </p:nvSpPr>
            <p:spPr bwMode="auto">
              <a:xfrm>
                <a:off x="1962" y="193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4" name="Line 165"/>
              <p:cNvSpPr>
                <a:spLocks noChangeShapeType="1"/>
              </p:cNvSpPr>
              <p:nvPr/>
            </p:nvSpPr>
            <p:spPr bwMode="auto">
              <a:xfrm>
                <a:off x="1793" y="197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5" name="Line 167"/>
              <p:cNvSpPr>
                <a:spLocks noChangeShapeType="1"/>
              </p:cNvSpPr>
              <p:nvPr/>
            </p:nvSpPr>
            <p:spPr bwMode="auto">
              <a:xfrm flipH="1">
                <a:off x="260" y="2252"/>
                <a:ext cx="143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6" name="Line 168"/>
              <p:cNvSpPr>
                <a:spLocks noChangeShapeType="1"/>
              </p:cNvSpPr>
              <p:nvPr/>
            </p:nvSpPr>
            <p:spPr bwMode="auto">
              <a:xfrm flipH="1">
                <a:off x="254" y="2226"/>
                <a:ext cx="200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7" name="Line 169"/>
              <p:cNvSpPr>
                <a:spLocks noChangeShapeType="1"/>
              </p:cNvSpPr>
              <p:nvPr/>
            </p:nvSpPr>
            <p:spPr bwMode="auto">
              <a:xfrm flipV="1">
                <a:off x="2256" y="2223"/>
                <a:ext cx="0" cy="1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8" name="Line 170"/>
              <p:cNvSpPr>
                <a:spLocks noChangeShapeType="1"/>
              </p:cNvSpPr>
              <p:nvPr/>
            </p:nvSpPr>
            <p:spPr bwMode="auto">
              <a:xfrm>
                <a:off x="1795" y="2135"/>
                <a:ext cx="65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99" name="Line 171"/>
              <p:cNvSpPr>
                <a:spLocks noChangeShapeType="1"/>
              </p:cNvSpPr>
              <p:nvPr/>
            </p:nvSpPr>
            <p:spPr bwMode="auto">
              <a:xfrm flipH="1">
                <a:off x="1628" y="2163"/>
                <a:ext cx="2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00" name="Line 173"/>
              <p:cNvSpPr>
                <a:spLocks noChangeShapeType="1"/>
              </p:cNvSpPr>
              <p:nvPr/>
            </p:nvSpPr>
            <p:spPr bwMode="auto">
              <a:xfrm>
                <a:off x="2546" y="2012"/>
                <a:ext cx="1305" cy="5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01" name="Line 174"/>
              <p:cNvSpPr>
                <a:spLocks noChangeShapeType="1"/>
              </p:cNvSpPr>
              <p:nvPr/>
            </p:nvSpPr>
            <p:spPr bwMode="auto">
              <a:xfrm flipV="1">
                <a:off x="2373" y="2043"/>
                <a:ext cx="1470" cy="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02" name="Rectangle 175"/>
              <p:cNvSpPr>
                <a:spLocks noChangeArrowheads="1"/>
              </p:cNvSpPr>
              <p:nvPr/>
            </p:nvSpPr>
            <p:spPr bwMode="auto">
              <a:xfrm>
                <a:off x="2126" y="2312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03" name="Text Box 176"/>
              <p:cNvSpPr txBox="1">
                <a:spLocks noChangeArrowheads="1"/>
              </p:cNvSpPr>
              <p:nvPr/>
            </p:nvSpPr>
            <p:spPr bwMode="auto">
              <a:xfrm>
                <a:off x="2173" y="2506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204" name="Text Box 177"/>
              <p:cNvSpPr txBox="1">
                <a:spLocks noChangeArrowheads="1"/>
              </p:cNvSpPr>
              <p:nvPr/>
            </p:nvSpPr>
            <p:spPr bwMode="auto">
              <a:xfrm>
                <a:off x="2237" y="2318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205" name="Rectangle 178"/>
              <p:cNvSpPr>
                <a:spLocks noChangeArrowheads="1"/>
              </p:cNvSpPr>
              <p:nvPr/>
            </p:nvSpPr>
            <p:spPr bwMode="auto">
              <a:xfrm>
                <a:off x="1554" y="2306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06" name="Text Box 179"/>
              <p:cNvSpPr txBox="1">
                <a:spLocks noChangeArrowheads="1"/>
              </p:cNvSpPr>
              <p:nvPr/>
            </p:nvSpPr>
            <p:spPr bwMode="auto">
              <a:xfrm>
                <a:off x="1601" y="2500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207" name="Text Box 180"/>
              <p:cNvSpPr txBox="1">
                <a:spLocks noChangeArrowheads="1"/>
              </p:cNvSpPr>
              <p:nvPr/>
            </p:nvSpPr>
            <p:spPr bwMode="auto">
              <a:xfrm>
                <a:off x="1665" y="2312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208" name="Rectangle 181"/>
              <p:cNvSpPr>
                <a:spLocks noChangeArrowheads="1"/>
              </p:cNvSpPr>
              <p:nvPr/>
            </p:nvSpPr>
            <p:spPr bwMode="auto">
              <a:xfrm>
                <a:off x="1558" y="1655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09" name="Text Box 182"/>
              <p:cNvSpPr txBox="1">
                <a:spLocks noChangeArrowheads="1"/>
              </p:cNvSpPr>
              <p:nvPr/>
            </p:nvSpPr>
            <p:spPr bwMode="auto">
              <a:xfrm>
                <a:off x="1605" y="1849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210" name="Text Box 183"/>
              <p:cNvSpPr txBox="1">
                <a:spLocks noChangeArrowheads="1"/>
              </p:cNvSpPr>
              <p:nvPr/>
            </p:nvSpPr>
            <p:spPr bwMode="auto">
              <a:xfrm>
                <a:off x="1669" y="1661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211" name="Line 184"/>
              <p:cNvSpPr>
                <a:spLocks noChangeShapeType="1"/>
              </p:cNvSpPr>
              <p:nvPr/>
            </p:nvSpPr>
            <p:spPr bwMode="auto">
              <a:xfrm>
                <a:off x="2465" y="151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12" name="Line 185"/>
              <p:cNvSpPr>
                <a:spLocks noChangeShapeType="1"/>
              </p:cNvSpPr>
              <p:nvPr/>
            </p:nvSpPr>
            <p:spPr bwMode="auto">
              <a:xfrm>
                <a:off x="2273" y="1550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13" name="Line 186"/>
              <p:cNvSpPr>
                <a:spLocks noChangeShapeType="1"/>
              </p:cNvSpPr>
              <p:nvPr/>
            </p:nvSpPr>
            <p:spPr bwMode="auto">
              <a:xfrm>
                <a:off x="2205" y="1916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14" name="Line 187"/>
              <p:cNvSpPr>
                <a:spLocks noChangeShapeType="1"/>
              </p:cNvSpPr>
              <p:nvPr/>
            </p:nvSpPr>
            <p:spPr bwMode="auto">
              <a:xfrm>
                <a:off x="2541" y="1850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15" name="Line 188"/>
              <p:cNvSpPr>
                <a:spLocks noChangeShapeType="1"/>
              </p:cNvSpPr>
              <p:nvPr/>
            </p:nvSpPr>
            <p:spPr bwMode="auto">
              <a:xfrm>
                <a:off x="2378" y="187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16" name="Rectangle 189"/>
              <p:cNvSpPr>
                <a:spLocks noChangeArrowheads="1"/>
              </p:cNvSpPr>
              <p:nvPr/>
            </p:nvSpPr>
            <p:spPr bwMode="auto">
              <a:xfrm>
                <a:off x="2137" y="1657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17" name="Text Box 190"/>
              <p:cNvSpPr txBox="1">
                <a:spLocks noChangeArrowheads="1"/>
              </p:cNvSpPr>
              <p:nvPr/>
            </p:nvSpPr>
            <p:spPr bwMode="auto">
              <a:xfrm>
                <a:off x="2184" y="1851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218" name="Text Box 191"/>
              <p:cNvSpPr txBox="1">
                <a:spLocks noChangeArrowheads="1"/>
              </p:cNvSpPr>
              <p:nvPr/>
            </p:nvSpPr>
            <p:spPr bwMode="auto">
              <a:xfrm>
                <a:off x="2248" y="1663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219" name="Line 192"/>
              <p:cNvSpPr>
                <a:spLocks noChangeShapeType="1"/>
              </p:cNvSpPr>
              <p:nvPr/>
            </p:nvSpPr>
            <p:spPr bwMode="auto">
              <a:xfrm>
                <a:off x="2466" y="99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20" name="Line 193"/>
              <p:cNvSpPr>
                <a:spLocks noChangeShapeType="1"/>
              </p:cNvSpPr>
              <p:nvPr/>
            </p:nvSpPr>
            <p:spPr bwMode="auto">
              <a:xfrm>
                <a:off x="2274" y="1036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21" name="Line 194"/>
              <p:cNvSpPr>
                <a:spLocks noChangeShapeType="1"/>
              </p:cNvSpPr>
              <p:nvPr/>
            </p:nvSpPr>
            <p:spPr bwMode="auto">
              <a:xfrm>
                <a:off x="2212" y="1344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22" name="Line 195"/>
              <p:cNvSpPr>
                <a:spLocks noChangeShapeType="1"/>
              </p:cNvSpPr>
              <p:nvPr/>
            </p:nvSpPr>
            <p:spPr bwMode="auto">
              <a:xfrm>
                <a:off x="2542" y="135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23" name="Line 196"/>
              <p:cNvSpPr>
                <a:spLocks noChangeShapeType="1"/>
              </p:cNvSpPr>
              <p:nvPr/>
            </p:nvSpPr>
            <p:spPr bwMode="auto">
              <a:xfrm>
                <a:off x="2379" y="134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24" name="Rectangle 197"/>
              <p:cNvSpPr>
                <a:spLocks noChangeArrowheads="1"/>
              </p:cNvSpPr>
              <p:nvPr/>
            </p:nvSpPr>
            <p:spPr bwMode="auto">
              <a:xfrm>
                <a:off x="2138" y="1103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25" name="Text Box 198"/>
              <p:cNvSpPr txBox="1">
                <a:spLocks noChangeArrowheads="1"/>
              </p:cNvSpPr>
              <p:nvPr/>
            </p:nvSpPr>
            <p:spPr bwMode="auto">
              <a:xfrm>
                <a:off x="2185" y="1297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226" name="Text Box 199"/>
              <p:cNvSpPr txBox="1">
                <a:spLocks noChangeArrowheads="1"/>
              </p:cNvSpPr>
              <p:nvPr/>
            </p:nvSpPr>
            <p:spPr bwMode="auto">
              <a:xfrm>
                <a:off x="2249" y="1109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227" name="Line 200"/>
              <p:cNvSpPr>
                <a:spLocks noChangeShapeType="1"/>
              </p:cNvSpPr>
              <p:nvPr/>
            </p:nvSpPr>
            <p:spPr bwMode="auto">
              <a:xfrm>
                <a:off x="246" y="1550"/>
                <a:ext cx="202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28" name="Line 201"/>
              <p:cNvSpPr>
                <a:spLocks noChangeShapeType="1"/>
              </p:cNvSpPr>
              <p:nvPr/>
            </p:nvSpPr>
            <p:spPr bwMode="auto">
              <a:xfrm flipV="1">
                <a:off x="242" y="1587"/>
                <a:ext cx="145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29" name="Line 202"/>
              <p:cNvSpPr>
                <a:spLocks noChangeShapeType="1"/>
              </p:cNvSpPr>
              <p:nvPr/>
            </p:nvSpPr>
            <p:spPr bwMode="auto">
              <a:xfrm>
                <a:off x="1912" y="1511"/>
                <a:ext cx="2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0" name="Line 203"/>
              <p:cNvSpPr>
                <a:spLocks noChangeShapeType="1"/>
              </p:cNvSpPr>
              <p:nvPr/>
            </p:nvSpPr>
            <p:spPr bwMode="auto">
              <a:xfrm flipV="1">
                <a:off x="2541" y="1522"/>
                <a:ext cx="1312" cy="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1" name="Line 205"/>
              <p:cNvSpPr>
                <a:spLocks noChangeShapeType="1"/>
              </p:cNvSpPr>
              <p:nvPr/>
            </p:nvSpPr>
            <p:spPr bwMode="auto">
              <a:xfrm flipV="1">
                <a:off x="2793" y="1472"/>
                <a:ext cx="1037" cy="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2" name="Line 207"/>
              <p:cNvSpPr>
                <a:spLocks noChangeShapeType="1"/>
              </p:cNvSpPr>
              <p:nvPr/>
            </p:nvSpPr>
            <p:spPr bwMode="auto">
              <a:xfrm>
                <a:off x="2545" y="74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3" name="Line 208"/>
              <p:cNvSpPr>
                <a:spLocks noChangeShapeType="1"/>
              </p:cNvSpPr>
              <p:nvPr/>
            </p:nvSpPr>
            <p:spPr bwMode="auto">
              <a:xfrm>
                <a:off x="2382" y="798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4" name="Line 209"/>
              <p:cNvSpPr>
                <a:spLocks noChangeShapeType="1"/>
              </p:cNvSpPr>
              <p:nvPr/>
            </p:nvSpPr>
            <p:spPr bwMode="auto">
              <a:xfrm>
                <a:off x="2789" y="961"/>
                <a:ext cx="0" cy="5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5" name="Line 210"/>
              <p:cNvSpPr>
                <a:spLocks noChangeShapeType="1"/>
              </p:cNvSpPr>
              <p:nvPr/>
            </p:nvSpPr>
            <p:spPr bwMode="auto">
              <a:xfrm>
                <a:off x="2206" y="827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6" name="Line 211"/>
              <p:cNvSpPr>
                <a:spLocks noChangeShapeType="1"/>
              </p:cNvSpPr>
              <p:nvPr/>
            </p:nvSpPr>
            <p:spPr bwMode="auto">
              <a:xfrm>
                <a:off x="2469" y="42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7" name="Line 212"/>
              <p:cNvSpPr>
                <a:spLocks noChangeShapeType="1"/>
              </p:cNvSpPr>
              <p:nvPr/>
            </p:nvSpPr>
            <p:spPr bwMode="auto">
              <a:xfrm>
                <a:off x="2277" y="422"/>
                <a:ext cx="0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8" name="Rectangle 213"/>
              <p:cNvSpPr>
                <a:spLocks noChangeArrowheads="1"/>
              </p:cNvSpPr>
              <p:nvPr/>
            </p:nvSpPr>
            <p:spPr bwMode="auto">
              <a:xfrm>
                <a:off x="2141" y="541"/>
                <a:ext cx="467" cy="3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39" name="Text Box 214"/>
              <p:cNvSpPr txBox="1">
                <a:spLocks noChangeArrowheads="1"/>
              </p:cNvSpPr>
              <p:nvPr/>
            </p:nvSpPr>
            <p:spPr bwMode="auto">
              <a:xfrm>
                <a:off x="2188" y="735"/>
                <a:ext cx="414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A    B    C</a:t>
                </a:r>
                <a:endParaRPr lang="en-US" altLang="zh-CN" sz="1200"/>
              </a:p>
            </p:txBody>
          </p:sp>
          <p:sp>
            <p:nvSpPr>
              <p:cNvPr id="46240" name="Text Box 215"/>
              <p:cNvSpPr txBox="1">
                <a:spLocks noChangeArrowheads="1"/>
              </p:cNvSpPr>
              <p:nvPr/>
            </p:nvSpPr>
            <p:spPr bwMode="auto">
              <a:xfrm>
                <a:off x="2252" y="547"/>
                <a:ext cx="289" cy="1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200"/>
                  <a:t>C      S</a:t>
                </a:r>
                <a:endParaRPr lang="en-US" altLang="zh-CN" sz="1200"/>
              </a:p>
            </p:txBody>
          </p:sp>
          <p:sp>
            <p:nvSpPr>
              <p:cNvPr id="46241" name="Line 216"/>
              <p:cNvSpPr>
                <a:spLocks noChangeShapeType="1"/>
              </p:cNvSpPr>
              <p:nvPr/>
            </p:nvSpPr>
            <p:spPr bwMode="auto">
              <a:xfrm>
                <a:off x="2204" y="993"/>
                <a:ext cx="26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42" name="Line 217"/>
              <p:cNvSpPr>
                <a:spLocks noChangeShapeType="1"/>
              </p:cNvSpPr>
              <p:nvPr/>
            </p:nvSpPr>
            <p:spPr bwMode="auto">
              <a:xfrm flipV="1">
                <a:off x="2547" y="908"/>
                <a:ext cx="1302" cy="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43" name="Line 218"/>
              <p:cNvSpPr>
                <a:spLocks noChangeShapeType="1"/>
              </p:cNvSpPr>
              <p:nvPr/>
            </p:nvSpPr>
            <p:spPr bwMode="auto">
              <a:xfrm>
                <a:off x="247" y="1032"/>
                <a:ext cx="203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44" name="Line 240"/>
              <p:cNvSpPr>
                <a:spLocks noChangeShapeType="1"/>
              </p:cNvSpPr>
              <p:nvPr/>
            </p:nvSpPr>
            <p:spPr bwMode="auto">
              <a:xfrm flipH="1">
                <a:off x="3448" y="3462"/>
                <a:ext cx="6" cy="8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45" name="Line 241"/>
              <p:cNvSpPr>
                <a:spLocks noChangeShapeType="1"/>
              </p:cNvSpPr>
              <p:nvPr/>
            </p:nvSpPr>
            <p:spPr bwMode="auto">
              <a:xfrm>
                <a:off x="1967" y="2109"/>
                <a:ext cx="107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46" name="Line 242"/>
              <p:cNvSpPr>
                <a:spLocks noChangeShapeType="1"/>
              </p:cNvSpPr>
              <p:nvPr/>
            </p:nvSpPr>
            <p:spPr bwMode="auto">
              <a:xfrm>
                <a:off x="2205" y="2077"/>
                <a:ext cx="162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47" name="Line 243"/>
              <p:cNvSpPr>
                <a:spLocks noChangeShapeType="1"/>
              </p:cNvSpPr>
              <p:nvPr/>
            </p:nvSpPr>
            <p:spPr bwMode="auto">
              <a:xfrm>
                <a:off x="2380" y="1513"/>
                <a:ext cx="8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48" name="Line 244"/>
              <p:cNvSpPr>
                <a:spLocks noChangeShapeType="1"/>
              </p:cNvSpPr>
              <p:nvPr/>
            </p:nvSpPr>
            <p:spPr bwMode="auto">
              <a:xfrm>
                <a:off x="2380" y="965"/>
                <a:ext cx="40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6249" name="Group 262"/>
              <p:cNvGrpSpPr/>
              <p:nvPr/>
            </p:nvGrpSpPr>
            <p:grpSpPr bwMode="auto">
              <a:xfrm>
                <a:off x="2701" y="2311"/>
                <a:ext cx="467" cy="319"/>
                <a:chOff x="3818" y="1857"/>
                <a:chExt cx="467" cy="319"/>
              </a:xfrm>
            </p:grpSpPr>
            <p:sp>
              <p:nvSpPr>
                <p:cNvPr id="46253" name="Rectangle 258"/>
                <p:cNvSpPr>
                  <a:spLocks noChangeArrowheads="1"/>
                </p:cNvSpPr>
                <p:nvPr/>
              </p:nvSpPr>
              <p:spPr bwMode="auto">
                <a:xfrm>
                  <a:off x="3818" y="1857"/>
                  <a:ext cx="467" cy="31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254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3865" y="2051"/>
                  <a:ext cx="414" cy="1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>
                  <a:spAutoFit/>
                </a:bodyPr>
                <a:lstStyle/>
                <a:p>
                  <a:r>
                    <a:rPr lang="en-US" altLang="zh-CN" sz="1200"/>
                    <a:t>   A     B</a:t>
                  </a:r>
                  <a:endParaRPr lang="en-US" altLang="zh-CN" sz="1200"/>
                </a:p>
              </p:txBody>
            </p:sp>
            <p:sp>
              <p:nvSpPr>
                <p:cNvPr id="46255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3929" y="1863"/>
                  <a:ext cx="289" cy="1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>
                  <a:spAutoFit/>
                </a:bodyPr>
                <a:lstStyle/>
                <a:p>
                  <a:r>
                    <a:rPr lang="en-US" altLang="zh-CN" sz="1200"/>
                    <a:t>C      S</a:t>
                  </a:r>
                  <a:endParaRPr lang="en-US" altLang="zh-CN" sz="1200"/>
                </a:p>
              </p:txBody>
            </p:sp>
          </p:grpSp>
          <p:sp>
            <p:nvSpPr>
              <p:cNvPr id="46250" name="Line 261"/>
              <p:cNvSpPr>
                <a:spLocks noChangeShapeType="1"/>
              </p:cNvSpPr>
              <p:nvPr/>
            </p:nvSpPr>
            <p:spPr bwMode="auto">
              <a:xfrm flipV="1">
                <a:off x="255" y="2187"/>
                <a:ext cx="2579" cy="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51" name="Rectangle 264"/>
              <p:cNvSpPr>
                <a:spLocks noChangeArrowheads="1"/>
              </p:cNvSpPr>
              <p:nvPr/>
            </p:nvSpPr>
            <p:spPr bwMode="auto">
              <a:xfrm>
                <a:off x="30" y="982"/>
                <a:ext cx="259" cy="2839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52" name="Rectangle 263"/>
              <p:cNvSpPr>
                <a:spLocks noChangeArrowheads="1"/>
              </p:cNvSpPr>
              <p:nvPr/>
            </p:nvSpPr>
            <p:spPr bwMode="auto">
              <a:xfrm>
                <a:off x="3785" y="699"/>
                <a:ext cx="259" cy="2839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6085" name="Rectangle 271"/>
          <p:cNvSpPr>
            <a:spLocks noChangeArrowheads="1"/>
          </p:cNvSpPr>
          <p:nvPr/>
        </p:nvSpPr>
        <p:spPr bwMode="auto">
          <a:xfrm>
            <a:off x="10564813" y="6221413"/>
            <a:ext cx="908050" cy="4127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0" y="193675"/>
            <a:ext cx="12190413" cy="1143000"/>
          </a:xfrm>
        </p:spPr>
        <p:txBody>
          <a:bodyPr/>
          <a:lstStyle/>
          <a:p>
            <a:r>
              <a:rPr lang="en-US" altLang="zh-CN" smtClean="0"/>
              <a:t>16</a:t>
            </a:r>
            <a:r>
              <a:rPr lang="zh-CN" altLang="en-US" smtClean="0"/>
              <a:t>个数相加的四位华莱士树（左右进位相连）</a:t>
            </a:r>
            <a:endParaRPr lang="zh-CN" altLang="en-US" smtClean="0"/>
          </a:p>
        </p:txBody>
      </p:sp>
      <p:sp>
        <p:nvSpPr>
          <p:cNvPr id="47107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562975" y="6248400"/>
            <a:ext cx="2339975" cy="457200"/>
          </a:xfrm>
          <a:noFill/>
        </p:spPr>
        <p:txBody>
          <a:bodyPr/>
          <a:lstStyle/>
          <a:p>
            <a:fld id="{CE644ED9-23B7-4E5B-B36C-2F53CA3667E5}" type="slidenum">
              <a:rPr lang="en-US" altLang="zh-CN" smtClean="0"/>
            </a:fld>
            <a:endParaRPr lang="en-US" altLang="zh-CN" smtClean="0"/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6988" y="1785938"/>
            <a:ext cx="2979737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9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16250" y="1790700"/>
            <a:ext cx="2981325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038850" y="1790700"/>
            <a:ext cx="2979738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1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083675" y="1779588"/>
            <a:ext cx="2979738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CF4051-4910-43F9-A39C-8106274851E0}" type="slidenum">
              <a:rPr lang="en-US" altLang="zh-CN" smtClean="0"/>
            </a:fld>
            <a:endParaRPr lang="en-US" altLang="zh-CN" smtClean="0"/>
          </a:p>
        </p:txBody>
      </p:sp>
      <p:grpSp>
        <p:nvGrpSpPr>
          <p:cNvPr id="48131" name="Group 169"/>
          <p:cNvGrpSpPr/>
          <p:nvPr/>
        </p:nvGrpSpPr>
        <p:grpSpPr bwMode="auto">
          <a:xfrm>
            <a:off x="1728788" y="681038"/>
            <a:ext cx="9428162" cy="6145212"/>
            <a:chOff x="817" y="345"/>
            <a:chExt cx="4455" cy="3871"/>
          </a:xfrm>
        </p:grpSpPr>
        <p:grpSp>
          <p:nvGrpSpPr>
            <p:cNvPr id="48133" name="Group 3"/>
            <p:cNvGrpSpPr/>
            <p:nvPr/>
          </p:nvGrpSpPr>
          <p:grpSpPr bwMode="auto">
            <a:xfrm>
              <a:off x="1407" y="669"/>
              <a:ext cx="2970" cy="616"/>
              <a:chOff x="1168" y="963"/>
              <a:chExt cx="2970" cy="616"/>
            </a:xfrm>
          </p:grpSpPr>
          <p:sp>
            <p:nvSpPr>
              <p:cNvPr id="48283" name="Line 4"/>
              <p:cNvSpPr>
                <a:spLocks noChangeShapeType="1"/>
              </p:cNvSpPr>
              <p:nvPr/>
            </p:nvSpPr>
            <p:spPr bwMode="auto">
              <a:xfrm>
                <a:off x="1964" y="963"/>
                <a:ext cx="137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8284" name="Line 5"/>
              <p:cNvSpPr>
                <a:spLocks noChangeShapeType="1"/>
              </p:cNvSpPr>
              <p:nvPr/>
            </p:nvSpPr>
            <p:spPr bwMode="auto">
              <a:xfrm flipH="1">
                <a:off x="1168" y="963"/>
                <a:ext cx="796" cy="61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8285" name="Line 6"/>
              <p:cNvSpPr>
                <a:spLocks noChangeShapeType="1"/>
              </p:cNvSpPr>
              <p:nvPr/>
            </p:nvSpPr>
            <p:spPr bwMode="auto">
              <a:xfrm>
                <a:off x="3342" y="963"/>
                <a:ext cx="796" cy="61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8286" name="Line 7"/>
              <p:cNvSpPr>
                <a:spLocks noChangeShapeType="1"/>
              </p:cNvSpPr>
              <p:nvPr/>
            </p:nvSpPr>
            <p:spPr bwMode="auto">
              <a:xfrm>
                <a:off x="1168" y="1579"/>
                <a:ext cx="112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8287" name="Line 8"/>
              <p:cNvSpPr>
                <a:spLocks noChangeShapeType="1"/>
              </p:cNvSpPr>
              <p:nvPr/>
            </p:nvSpPr>
            <p:spPr bwMode="auto">
              <a:xfrm>
                <a:off x="3051" y="1579"/>
                <a:ext cx="108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8288" name="Line 9"/>
              <p:cNvSpPr>
                <a:spLocks noChangeShapeType="1"/>
              </p:cNvSpPr>
              <p:nvPr/>
            </p:nvSpPr>
            <p:spPr bwMode="auto">
              <a:xfrm flipV="1">
                <a:off x="2255" y="1384"/>
                <a:ext cx="433" cy="1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8289" name="Line 10"/>
              <p:cNvSpPr>
                <a:spLocks noChangeShapeType="1"/>
              </p:cNvSpPr>
              <p:nvPr/>
            </p:nvSpPr>
            <p:spPr bwMode="auto">
              <a:xfrm rot="16200000" flipV="1">
                <a:off x="2772" y="1265"/>
                <a:ext cx="195" cy="4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8290" name="Text Box 11"/>
              <p:cNvSpPr txBox="1">
                <a:spLocks noChangeArrowheads="1"/>
              </p:cNvSpPr>
              <p:nvPr/>
            </p:nvSpPr>
            <p:spPr bwMode="auto">
              <a:xfrm>
                <a:off x="1967" y="1056"/>
                <a:ext cx="1393" cy="2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64</a:t>
                </a:r>
                <a:r>
                  <a:rPr lang="zh-CN" altLang="en-US" sz="2400" b="1">
                    <a:latin typeface="+mn-ea"/>
                    <a:ea typeface="+mn-ea"/>
                  </a:rPr>
                  <a:t>位加法器</a:t>
                </a:r>
                <a:endParaRPr lang="zh-CN" altLang="en-US" sz="2400" b="1">
                  <a:latin typeface="+mn-ea"/>
                  <a:ea typeface="+mn-ea"/>
                </a:endParaRPr>
              </a:p>
            </p:txBody>
          </p:sp>
        </p:grpSp>
        <p:sp>
          <p:nvSpPr>
            <p:cNvPr id="48134" name="Rectangle 13"/>
            <p:cNvSpPr>
              <a:spLocks noChangeArrowheads="1"/>
            </p:cNvSpPr>
            <p:nvPr/>
          </p:nvSpPr>
          <p:spPr bwMode="auto">
            <a:xfrm>
              <a:off x="3529" y="2270"/>
              <a:ext cx="342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35" name="Line 15"/>
            <p:cNvSpPr>
              <a:spLocks noChangeShapeType="1"/>
            </p:cNvSpPr>
            <p:nvPr/>
          </p:nvSpPr>
          <p:spPr bwMode="auto">
            <a:xfrm>
              <a:off x="3655" y="2050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36" name="Line 16"/>
            <p:cNvSpPr>
              <a:spLocks noChangeShapeType="1"/>
            </p:cNvSpPr>
            <p:nvPr/>
          </p:nvSpPr>
          <p:spPr bwMode="auto">
            <a:xfrm>
              <a:off x="3751" y="2050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37" name="Text Box 17"/>
            <p:cNvSpPr txBox="1">
              <a:spLocks noChangeArrowheads="1"/>
            </p:cNvSpPr>
            <p:nvPr/>
          </p:nvSpPr>
          <p:spPr bwMode="auto">
            <a:xfrm>
              <a:off x="3599" y="2816"/>
              <a:ext cx="241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input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38" name="Text Box 18"/>
            <p:cNvSpPr txBox="1">
              <a:spLocks noChangeArrowheads="1"/>
            </p:cNvSpPr>
            <p:nvPr/>
          </p:nvSpPr>
          <p:spPr bwMode="auto">
            <a:xfrm>
              <a:off x="3649" y="2255"/>
              <a:ext cx="148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 s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39" name="Line 19"/>
            <p:cNvSpPr>
              <a:spLocks noChangeShapeType="1"/>
            </p:cNvSpPr>
            <p:nvPr/>
          </p:nvSpPr>
          <p:spPr bwMode="auto">
            <a:xfrm flipH="1">
              <a:off x="3334" y="2621"/>
              <a:ext cx="1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40" name="Text Box 20"/>
            <p:cNvSpPr txBox="1">
              <a:spLocks noChangeArrowheads="1"/>
            </p:cNvSpPr>
            <p:nvPr/>
          </p:nvSpPr>
          <p:spPr bwMode="auto">
            <a:xfrm>
              <a:off x="3539" y="2553"/>
              <a:ext cx="343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cout  cin 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41" name="Rectangle 21"/>
            <p:cNvSpPr>
              <a:spLocks noChangeArrowheads="1"/>
            </p:cNvSpPr>
            <p:nvPr/>
          </p:nvSpPr>
          <p:spPr bwMode="auto">
            <a:xfrm>
              <a:off x="4077" y="2288"/>
              <a:ext cx="342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42" name="Line 23"/>
            <p:cNvSpPr>
              <a:spLocks noChangeShapeType="1"/>
            </p:cNvSpPr>
            <p:nvPr/>
          </p:nvSpPr>
          <p:spPr bwMode="auto">
            <a:xfrm>
              <a:off x="4209" y="2068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43" name="Line 24"/>
            <p:cNvSpPr>
              <a:spLocks noChangeShapeType="1"/>
            </p:cNvSpPr>
            <p:nvPr/>
          </p:nvSpPr>
          <p:spPr bwMode="auto">
            <a:xfrm flipH="1">
              <a:off x="4299" y="2068"/>
              <a:ext cx="1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44" name="Text Box 25"/>
            <p:cNvSpPr txBox="1">
              <a:spLocks noChangeArrowheads="1"/>
            </p:cNvSpPr>
            <p:nvPr/>
          </p:nvSpPr>
          <p:spPr bwMode="auto">
            <a:xfrm>
              <a:off x="4147" y="2834"/>
              <a:ext cx="241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input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45" name="Text Box 26"/>
            <p:cNvSpPr txBox="1">
              <a:spLocks noChangeArrowheads="1"/>
            </p:cNvSpPr>
            <p:nvPr/>
          </p:nvSpPr>
          <p:spPr bwMode="auto">
            <a:xfrm>
              <a:off x="4197" y="2273"/>
              <a:ext cx="148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 s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46" name="Line 27"/>
            <p:cNvSpPr>
              <a:spLocks noChangeShapeType="1"/>
            </p:cNvSpPr>
            <p:nvPr/>
          </p:nvSpPr>
          <p:spPr bwMode="auto">
            <a:xfrm flipH="1">
              <a:off x="3882" y="2639"/>
              <a:ext cx="1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47" name="Text Box 28"/>
            <p:cNvSpPr txBox="1">
              <a:spLocks noChangeArrowheads="1"/>
            </p:cNvSpPr>
            <p:nvPr/>
          </p:nvSpPr>
          <p:spPr bwMode="auto">
            <a:xfrm>
              <a:off x="4087" y="2571"/>
              <a:ext cx="343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 dirty="0" err="1">
                  <a:latin typeface="+mn-ea"/>
                  <a:ea typeface="+mn-ea"/>
                </a:rPr>
                <a:t>cout</a:t>
              </a:r>
              <a:r>
                <a:rPr lang="en-US" altLang="zh-CN" sz="1200" dirty="0">
                  <a:latin typeface="+mn-ea"/>
                  <a:ea typeface="+mn-ea"/>
                </a:rPr>
                <a:t>  </a:t>
              </a:r>
              <a:r>
                <a:rPr lang="en-US" altLang="zh-CN" sz="1200" dirty="0" err="1">
                  <a:latin typeface="+mn-ea"/>
                  <a:ea typeface="+mn-ea"/>
                </a:rPr>
                <a:t>cin</a:t>
              </a:r>
              <a:r>
                <a:rPr lang="en-US" altLang="zh-CN" sz="1200" dirty="0">
                  <a:latin typeface="+mn-ea"/>
                  <a:ea typeface="+mn-ea"/>
                </a:rPr>
                <a:t> </a:t>
              </a:r>
              <a:endParaRPr lang="en-US" altLang="zh-CN" sz="1200" dirty="0">
                <a:latin typeface="+mn-ea"/>
                <a:ea typeface="+mn-ea"/>
              </a:endParaRPr>
            </a:p>
          </p:txBody>
        </p:sp>
        <p:sp>
          <p:nvSpPr>
            <p:cNvPr id="48148" name="Rectangle 29"/>
            <p:cNvSpPr>
              <a:spLocks noChangeArrowheads="1"/>
            </p:cNvSpPr>
            <p:nvPr/>
          </p:nvSpPr>
          <p:spPr bwMode="auto">
            <a:xfrm>
              <a:off x="4618" y="2276"/>
              <a:ext cx="342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49" name="Line 31"/>
            <p:cNvSpPr>
              <a:spLocks noChangeShapeType="1"/>
            </p:cNvSpPr>
            <p:nvPr/>
          </p:nvSpPr>
          <p:spPr bwMode="auto">
            <a:xfrm>
              <a:off x="4744" y="2056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50" name="Line 32"/>
            <p:cNvSpPr>
              <a:spLocks noChangeShapeType="1"/>
            </p:cNvSpPr>
            <p:nvPr/>
          </p:nvSpPr>
          <p:spPr bwMode="auto">
            <a:xfrm flipH="1">
              <a:off x="4840" y="2064"/>
              <a:ext cx="1" cy="2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51" name="Text Box 33"/>
            <p:cNvSpPr txBox="1">
              <a:spLocks noChangeArrowheads="1"/>
            </p:cNvSpPr>
            <p:nvPr/>
          </p:nvSpPr>
          <p:spPr bwMode="auto">
            <a:xfrm>
              <a:off x="4688" y="2822"/>
              <a:ext cx="241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input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52" name="Text Box 34"/>
            <p:cNvSpPr txBox="1">
              <a:spLocks noChangeArrowheads="1"/>
            </p:cNvSpPr>
            <p:nvPr/>
          </p:nvSpPr>
          <p:spPr bwMode="auto">
            <a:xfrm>
              <a:off x="4738" y="2261"/>
              <a:ext cx="148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 s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53" name="Line 35"/>
            <p:cNvSpPr>
              <a:spLocks noChangeShapeType="1"/>
            </p:cNvSpPr>
            <p:nvPr/>
          </p:nvSpPr>
          <p:spPr bwMode="auto">
            <a:xfrm flipH="1">
              <a:off x="4423" y="2627"/>
              <a:ext cx="1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54" name="Text Box 36"/>
            <p:cNvSpPr txBox="1">
              <a:spLocks noChangeArrowheads="1"/>
            </p:cNvSpPr>
            <p:nvPr/>
          </p:nvSpPr>
          <p:spPr bwMode="auto">
            <a:xfrm>
              <a:off x="4628" y="2559"/>
              <a:ext cx="343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cout  cin 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55" name="Rectangle 37"/>
            <p:cNvSpPr>
              <a:spLocks noChangeArrowheads="1"/>
            </p:cNvSpPr>
            <p:nvPr/>
          </p:nvSpPr>
          <p:spPr bwMode="auto">
            <a:xfrm>
              <a:off x="1012" y="2265"/>
              <a:ext cx="342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56" name="Line 38"/>
            <p:cNvSpPr>
              <a:spLocks noChangeShapeType="1"/>
            </p:cNvSpPr>
            <p:nvPr/>
          </p:nvSpPr>
          <p:spPr bwMode="auto">
            <a:xfrm>
              <a:off x="1174" y="3059"/>
              <a:ext cx="0" cy="1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57" name="Line 39"/>
            <p:cNvSpPr>
              <a:spLocks noChangeShapeType="1"/>
            </p:cNvSpPr>
            <p:nvPr/>
          </p:nvSpPr>
          <p:spPr bwMode="auto">
            <a:xfrm>
              <a:off x="1138" y="2045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58" name="Line 40"/>
            <p:cNvSpPr>
              <a:spLocks noChangeShapeType="1"/>
            </p:cNvSpPr>
            <p:nvPr/>
          </p:nvSpPr>
          <p:spPr bwMode="auto">
            <a:xfrm>
              <a:off x="1228" y="2045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59" name="Text Box 41"/>
            <p:cNvSpPr txBox="1">
              <a:spLocks noChangeArrowheads="1"/>
            </p:cNvSpPr>
            <p:nvPr/>
          </p:nvSpPr>
          <p:spPr bwMode="auto">
            <a:xfrm>
              <a:off x="1082" y="2811"/>
              <a:ext cx="241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input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60" name="Text Box 42"/>
            <p:cNvSpPr txBox="1">
              <a:spLocks noChangeArrowheads="1"/>
            </p:cNvSpPr>
            <p:nvPr/>
          </p:nvSpPr>
          <p:spPr bwMode="auto">
            <a:xfrm>
              <a:off x="1132" y="2250"/>
              <a:ext cx="148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 s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61" name="Line 43"/>
            <p:cNvSpPr>
              <a:spLocks noChangeShapeType="1"/>
            </p:cNvSpPr>
            <p:nvPr/>
          </p:nvSpPr>
          <p:spPr bwMode="auto">
            <a:xfrm flipH="1">
              <a:off x="817" y="2616"/>
              <a:ext cx="1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62" name="Text Box 44"/>
            <p:cNvSpPr txBox="1">
              <a:spLocks noChangeArrowheads="1"/>
            </p:cNvSpPr>
            <p:nvPr/>
          </p:nvSpPr>
          <p:spPr bwMode="auto">
            <a:xfrm>
              <a:off x="1022" y="2548"/>
              <a:ext cx="343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cout  cin 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63" name="Rectangle 45"/>
            <p:cNvSpPr>
              <a:spLocks noChangeArrowheads="1"/>
            </p:cNvSpPr>
            <p:nvPr/>
          </p:nvSpPr>
          <p:spPr bwMode="auto">
            <a:xfrm>
              <a:off x="1560" y="2283"/>
              <a:ext cx="342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64" name="Line 47"/>
            <p:cNvSpPr>
              <a:spLocks noChangeShapeType="1"/>
            </p:cNvSpPr>
            <p:nvPr/>
          </p:nvSpPr>
          <p:spPr bwMode="auto">
            <a:xfrm>
              <a:off x="1680" y="2063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65" name="Line 48"/>
            <p:cNvSpPr>
              <a:spLocks noChangeShapeType="1"/>
            </p:cNvSpPr>
            <p:nvPr/>
          </p:nvSpPr>
          <p:spPr bwMode="auto">
            <a:xfrm flipH="1">
              <a:off x="1776" y="2063"/>
              <a:ext cx="1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66" name="Text Box 49"/>
            <p:cNvSpPr txBox="1">
              <a:spLocks noChangeArrowheads="1"/>
            </p:cNvSpPr>
            <p:nvPr/>
          </p:nvSpPr>
          <p:spPr bwMode="auto">
            <a:xfrm>
              <a:off x="1630" y="2829"/>
              <a:ext cx="241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input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67" name="Text Box 50"/>
            <p:cNvSpPr txBox="1">
              <a:spLocks noChangeArrowheads="1"/>
            </p:cNvSpPr>
            <p:nvPr/>
          </p:nvSpPr>
          <p:spPr bwMode="auto">
            <a:xfrm>
              <a:off x="1680" y="2268"/>
              <a:ext cx="148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 s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68" name="Line 51"/>
            <p:cNvSpPr>
              <a:spLocks noChangeShapeType="1"/>
            </p:cNvSpPr>
            <p:nvPr/>
          </p:nvSpPr>
          <p:spPr bwMode="auto">
            <a:xfrm flipH="1">
              <a:off x="1365" y="2634"/>
              <a:ext cx="1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69" name="Text Box 52"/>
            <p:cNvSpPr txBox="1">
              <a:spLocks noChangeArrowheads="1"/>
            </p:cNvSpPr>
            <p:nvPr/>
          </p:nvSpPr>
          <p:spPr bwMode="auto">
            <a:xfrm>
              <a:off x="1570" y="2566"/>
              <a:ext cx="343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cout  cin 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70" name="Rectangle 53"/>
            <p:cNvSpPr>
              <a:spLocks noChangeArrowheads="1"/>
            </p:cNvSpPr>
            <p:nvPr/>
          </p:nvSpPr>
          <p:spPr bwMode="auto">
            <a:xfrm>
              <a:off x="2101" y="2271"/>
              <a:ext cx="342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71" name="Line 55"/>
            <p:cNvSpPr>
              <a:spLocks noChangeShapeType="1"/>
            </p:cNvSpPr>
            <p:nvPr/>
          </p:nvSpPr>
          <p:spPr bwMode="auto">
            <a:xfrm>
              <a:off x="2227" y="2051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72" name="Line 56"/>
            <p:cNvSpPr>
              <a:spLocks noChangeShapeType="1"/>
            </p:cNvSpPr>
            <p:nvPr/>
          </p:nvSpPr>
          <p:spPr bwMode="auto">
            <a:xfrm flipH="1">
              <a:off x="2323" y="2090"/>
              <a:ext cx="1" cy="1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73" name="Text Box 57"/>
            <p:cNvSpPr txBox="1">
              <a:spLocks noChangeArrowheads="1"/>
            </p:cNvSpPr>
            <p:nvPr/>
          </p:nvSpPr>
          <p:spPr bwMode="auto">
            <a:xfrm>
              <a:off x="2171" y="2817"/>
              <a:ext cx="241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input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74" name="Text Box 58"/>
            <p:cNvSpPr txBox="1">
              <a:spLocks noChangeArrowheads="1"/>
            </p:cNvSpPr>
            <p:nvPr/>
          </p:nvSpPr>
          <p:spPr bwMode="auto">
            <a:xfrm>
              <a:off x="2221" y="2256"/>
              <a:ext cx="148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c s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175" name="Line 59"/>
            <p:cNvSpPr>
              <a:spLocks noChangeShapeType="1"/>
            </p:cNvSpPr>
            <p:nvPr/>
          </p:nvSpPr>
          <p:spPr bwMode="auto">
            <a:xfrm flipH="1">
              <a:off x="1906" y="2622"/>
              <a:ext cx="1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76" name="Text Box 60"/>
            <p:cNvSpPr txBox="1">
              <a:spLocks noChangeArrowheads="1"/>
            </p:cNvSpPr>
            <p:nvPr/>
          </p:nvSpPr>
          <p:spPr bwMode="auto">
            <a:xfrm>
              <a:off x="2111" y="2554"/>
              <a:ext cx="343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 dirty="0" err="1">
                  <a:latin typeface="+mn-ea"/>
                  <a:ea typeface="+mn-ea"/>
                </a:rPr>
                <a:t>cout</a:t>
              </a:r>
              <a:r>
                <a:rPr lang="en-US" altLang="zh-CN" sz="1200" dirty="0">
                  <a:latin typeface="+mn-ea"/>
                  <a:ea typeface="+mn-ea"/>
                </a:rPr>
                <a:t>  </a:t>
              </a:r>
              <a:r>
                <a:rPr lang="en-US" altLang="zh-CN" sz="1200" dirty="0" err="1">
                  <a:latin typeface="+mn-ea"/>
                  <a:ea typeface="+mn-ea"/>
                </a:rPr>
                <a:t>cin</a:t>
              </a:r>
              <a:r>
                <a:rPr lang="en-US" altLang="zh-CN" sz="1200" dirty="0">
                  <a:latin typeface="+mn-ea"/>
                  <a:ea typeface="+mn-ea"/>
                </a:rPr>
                <a:t> </a:t>
              </a:r>
              <a:endParaRPr lang="en-US" altLang="zh-CN" sz="1200" dirty="0">
                <a:latin typeface="+mn-ea"/>
                <a:ea typeface="+mn-ea"/>
              </a:endParaRPr>
            </a:p>
          </p:txBody>
        </p:sp>
        <p:sp>
          <p:nvSpPr>
            <p:cNvPr id="48177" name="Line 61"/>
            <p:cNvSpPr>
              <a:spLocks noChangeShapeType="1"/>
            </p:cNvSpPr>
            <p:nvPr/>
          </p:nvSpPr>
          <p:spPr bwMode="auto">
            <a:xfrm flipH="1">
              <a:off x="2448" y="2618"/>
              <a:ext cx="1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78" name="Text Box 62"/>
            <p:cNvSpPr txBox="1">
              <a:spLocks noChangeArrowheads="1"/>
            </p:cNvSpPr>
            <p:nvPr/>
          </p:nvSpPr>
          <p:spPr bwMode="auto">
            <a:xfrm>
              <a:off x="2734" y="2449"/>
              <a:ext cx="460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+mn-ea"/>
                  <a:ea typeface="+mn-ea"/>
                </a:rPr>
                <a:t>……</a:t>
              </a:r>
              <a:endParaRPr lang="en-US" altLang="zh-CN" sz="2000" b="1">
                <a:latin typeface="+mn-ea"/>
                <a:ea typeface="+mn-ea"/>
              </a:endParaRPr>
            </a:p>
          </p:txBody>
        </p:sp>
        <p:sp>
          <p:nvSpPr>
            <p:cNvPr id="48179" name="Line 63"/>
            <p:cNvSpPr>
              <a:spLocks noChangeShapeType="1"/>
            </p:cNvSpPr>
            <p:nvPr/>
          </p:nvSpPr>
          <p:spPr bwMode="auto">
            <a:xfrm flipH="1">
              <a:off x="4960" y="2620"/>
              <a:ext cx="312" cy="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80" name="Text Box 64"/>
            <p:cNvSpPr txBox="1">
              <a:spLocks noChangeArrowheads="1"/>
            </p:cNvSpPr>
            <p:nvPr/>
          </p:nvSpPr>
          <p:spPr bwMode="auto">
            <a:xfrm>
              <a:off x="1149" y="3069"/>
              <a:ext cx="4106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000" dirty="0">
                  <a:latin typeface="+mn-ea"/>
                  <a:ea typeface="+mn-ea"/>
                </a:rPr>
                <a:t>x(15,63-0) </a:t>
              </a:r>
              <a:r>
                <a:rPr lang="en-US" altLang="zh-CN" sz="1000" dirty="0" smtClean="0">
                  <a:latin typeface="+mn-ea"/>
                  <a:ea typeface="+mn-ea"/>
                </a:rPr>
                <a:t>        </a:t>
              </a:r>
              <a:r>
                <a:rPr lang="en-US" altLang="zh-CN" sz="1000" dirty="0">
                  <a:latin typeface="+mn-ea"/>
                  <a:ea typeface="+mn-ea"/>
                </a:rPr>
                <a:t>x(14,63-0)  </a:t>
              </a:r>
              <a:r>
                <a:rPr lang="en-US" altLang="zh-CN" sz="1000" dirty="0" smtClean="0">
                  <a:latin typeface="+mn-ea"/>
                  <a:ea typeface="+mn-ea"/>
                </a:rPr>
                <a:t>      </a:t>
              </a:r>
              <a:r>
                <a:rPr lang="en-US" altLang="zh-CN" sz="1000" dirty="0">
                  <a:latin typeface="+mn-ea"/>
                  <a:ea typeface="+mn-ea"/>
                </a:rPr>
                <a:t>x(13,63-0)         </a:t>
              </a:r>
              <a:r>
                <a:rPr lang="en-US" altLang="zh-CN" sz="1000" dirty="0" smtClean="0">
                  <a:latin typeface="+mn-ea"/>
                  <a:ea typeface="+mn-ea"/>
                </a:rPr>
                <a:t>                            </a:t>
              </a:r>
              <a:r>
                <a:rPr lang="en-US" altLang="zh-CN" sz="1000" dirty="0">
                  <a:latin typeface="+mn-ea"/>
                  <a:ea typeface="+mn-ea"/>
                </a:rPr>
                <a:t>x(2,63-0)  </a:t>
              </a:r>
              <a:r>
                <a:rPr lang="en-US" altLang="zh-CN" sz="1000" dirty="0" smtClean="0">
                  <a:latin typeface="+mn-ea"/>
                  <a:ea typeface="+mn-ea"/>
                </a:rPr>
                <a:t>       </a:t>
              </a:r>
              <a:r>
                <a:rPr lang="en-US" altLang="zh-CN" sz="1000" dirty="0">
                  <a:latin typeface="+mn-ea"/>
                  <a:ea typeface="+mn-ea"/>
                </a:rPr>
                <a:t>x(1,63-0)    </a:t>
              </a:r>
              <a:r>
                <a:rPr lang="en-US" altLang="zh-CN" sz="1000" dirty="0" smtClean="0">
                  <a:latin typeface="+mn-ea"/>
                  <a:ea typeface="+mn-ea"/>
                </a:rPr>
                <a:t>     </a:t>
              </a:r>
              <a:r>
                <a:rPr lang="en-US" altLang="zh-CN" sz="1000" dirty="0">
                  <a:latin typeface="+mn-ea"/>
                  <a:ea typeface="+mn-ea"/>
                </a:rPr>
                <a:t>x(0,63-0) 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48181" name="Line 65"/>
            <p:cNvSpPr>
              <a:spLocks noChangeShapeType="1"/>
            </p:cNvSpPr>
            <p:nvPr/>
          </p:nvSpPr>
          <p:spPr bwMode="auto">
            <a:xfrm>
              <a:off x="4253" y="1288"/>
              <a:ext cx="1" cy="1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82" name="Line 66"/>
            <p:cNvSpPr>
              <a:spLocks noChangeShapeType="1"/>
            </p:cNvSpPr>
            <p:nvPr/>
          </p:nvSpPr>
          <p:spPr bwMode="auto">
            <a:xfrm flipV="1">
              <a:off x="4838" y="1429"/>
              <a:ext cx="0" cy="6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83" name="Line 67"/>
            <p:cNvSpPr>
              <a:spLocks noChangeShapeType="1"/>
            </p:cNvSpPr>
            <p:nvPr/>
          </p:nvSpPr>
          <p:spPr bwMode="auto">
            <a:xfrm>
              <a:off x="4253" y="1436"/>
              <a:ext cx="5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84" name="Line 68"/>
            <p:cNvSpPr>
              <a:spLocks noChangeShapeType="1"/>
            </p:cNvSpPr>
            <p:nvPr/>
          </p:nvSpPr>
          <p:spPr bwMode="auto">
            <a:xfrm>
              <a:off x="4191" y="1282"/>
              <a:ext cx="0" cy="2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85" name="Line 69"/>
            <p:cNvSpPr>
              <a:spLocks noChangeShapeType="1"/>
            </p:cNvSpPr>
            <p:nvPr/>
          </p:nvSpPr>
          <p:spPr bwMode="auto">
            <a:xfrm flipV="1">
              <a:off x="4300" y="1481"/>
              <a:ext cx="0" cy="6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86" name="Line 70"/>
            <p:cNvSpPr>
              <a:spLocks noChangeShapeType="1"/>
            </p:cNvSpPr>
            <p:nvPr/>
          </p:nvSpPr>
          <p:spPr bwMode="auto">
            <a:xfrm flipH="1">
              <a:off x="4191" y="1483"/>
              <a:ext cx="10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87" name="Line 71"/>
            <p:cNvSpPr>
              <a:spLocks noChangeShapeType="1"/>
            </p:cNvSpPr>
            <p:nvPr/>
          </p:nvSpPr>
          <p:spPr bwMode="auto">
            <a:xfrm>
              <a:off x="3435" y="1288"/>
              <a:ext cx="0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88" name="Line 72"/>
            <p:cNvSpPr>
              <a:spLocks noChangeShapeType="1"/>
            </p:cNvSpPr>
            <p:nvPr/>
          </p:nvSpPr>
          <p:spPr bwMode="auto">
            <a:xfrm flipH="1" flipV="1">
              <a:off x="1224" y="1980"/>
              <a:ext cx="22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89" name="Line 73"/>
            <p:cNvSpPr>
              <a:spLocks noChangeShapeType="1"/>
            </p:cNvSpPr>
            <p:nvPr/>
          </p:nvSpPr>
          <p:spPr bwMode="auto">
            <a:xfrm flipH="1" flipV="1">
              <a:off x="1229" y="1976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90" name="Line 74"/>
            <p:cNvSpPr>
              <a:spLocks noChangeShapeType="1"/>
            </p:cNvSpPr>
            <p:nvPr/>
          </p:nvSpPr>
          <p:spPr bwMode="auto">
            <a:xfrm flipH="1" flipV="1">
              <a:off x="1772" y="2028"/>
              <a:ext cx="17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91" name="Line 75"/>
            <p:cNvSpPr>
              <a:spLocks noChangeShapeType="1"/>
            </p:cNvSpPr>
            <p:nvPr/>
          </p:nvSpPr>
          <p:spPr bwMode="auto">
            <a:xfrm>
              <a:off x="3495" y="1280"/>
              <a:ext cx="0" cy="7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92" name="Line 76"/>
            <p:cNvSpPr>
              <a:spLocks noChangeShapeType="1"/>
            </p:cNvSpPr>
            <p:nvPr/>
          </p:nvSpPr>
          <p:spPr bwMode="auto">
            <a:xfrm flipV="1">
              <a:off x="1777" y="2032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93" name="Line 77"/>
            <p:cNvSpPr>
              <a:spLocks noChangeShapeType="1"/>
            </p:cNvSpPr>
            <p:nvPr/>
          </p:nvSpPr>
          <p:spPr bwMode="auto">
            <a:xfrm flipH="1" flipV="1">
              <a:off x="2324" y="2084"/>
              <a:ext cx="123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94" name="Line 78"/>
            <p:cNvSpPr>
              <a:spLocks noChangeShapeType="1"/>
            </p:cNvSpPr>
            <p:nvPr/>
          </p:nvSpPr>
          <p:spPr bwMode="auto">
            <a:xfrm>
              <a:off x="3560" y="1288"/>
              <a:ext cx="0" cy="7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95" name="Line 79"/>
            <p:cNvSpPr>
              <a:spLocks noChangeShapeType="1"/>
            </p:cNvSpPr>
            <p:nvPr/>
          </p:nvSpPr>
          <p:spPr bwMode="auto">
            <a:xfrm>
              <a:off x="4136" y="1276"/>
              <a:ext cx="0" cy="1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96" name="Line 80"/>
            <p:cNvSpPr>
              <a:spLocks noChangeShapeType="1"/>
            </p:cNvSpPr>
            <p:nvPr/>
          </p:nvSpPr>
          <p:spPr bwMode="auto">
            <a:xfrm>
              <a:off x="3751" y="1444"/>
              <a:ext cx="38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97" name="Line 81"/>
            <p:cNvSpPr>
              <a:spLocks noChangeShapeType="1"/>
            </p:cNvSpPr>
            <p:nvPr/>
          </p:nvSpPr>
          <p:spPr bwMode="auto">
            <a:xfrm flipV="1">
              <a:off x="3754" y="1444"/>
              <a:ext cx="0" cy="6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98" name="Text Box 82"/>
            <p:cNvSpPr txBox="1">
              <a:spLocks noChangeArrowheads="1"/>
            </p:cNvSpPr>
            <p:nvPr/>
          </p:nvSpPr>
          <p:spPr bwMode="auto">
            <a:xfrm>
              <a:off x="3696" y="1243"/>
              <a:ext cx="281" cy="1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600" b="1">
                  <a:latin typeface="+mn-ea"/>
                  <a:ea typeface="+mn-ea"/>
                </a:rPr>
                <a:t>……</a:t>
              </a:r>
              <a:endParaRPr lang="en-US" altLang="zh-CN" sz="1600" b="1">
                <a:latin typeface="+mn-ea"/>
                <a:ea typeface="+mn-ea"/>
              </a:endParaRPr>
            </a:p>
          </p:txBody>
        </p:sp>
        <p:sp>
          <p:nvSpPr>
            <p:cNvPr id="48199" name="Line 83"/>
            <p:cNvSpPr>
              <a:spLocks noChangeShapeType="1"/>
            </p:cNvSpPr>
            <p:nvPr/>
          </p:nvSpPr>
          <p:spPr bwMode="auto">
            <a:xfrm>
              <a:off x="2276" y="1288"/>
              <a:ext cx="0" cy="3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0" name="Line 84"/>
            <p:cNvSpPr>
              <a:spLocks noChangeShapeType="1"/>
            </p:cNvSpPr>
            <p:nvPr/>
          </p:nvSpPr>
          <p:spPr bwMode="auto">
            <a:xfrm>
              <a:off x="2216" y="1291"/>
              <a:ext cx="0" cy="4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1" name="Line 85"/>
            <p:cNvSpPr>
              <a:spLocks noChangeShapeType="1"/>
            </p:cNvSpPr>
            <p:nvPr/>
          </p:nvSpPr>
          <p:spPr bwMode="auto">
            <a:xfrm>
              <a:off x="2157" y="1277"/>
              <a:ext cx="2" cy="4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2" name="Line 86"/>
            <p:cNvSpPr>
              <a:spLocks noChangeShapeType="1"/>
            </p:cNvSpPr>
            <p:nvPr/>
          </p:nvSpPr>
          <p:spPr bwMode="auto">
            <a:xfrm>
              <a:off x="1685" y="1287"/>
              <a:ext cx="0" cy="8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3" name="Line 87"/>
            <p:cNvSpPr>
              <a:spLocks noChangeShapeType="1"/>
            </p:cNvSpPr>
            <p:nvPr/>
          </p:nvSpPr>
          <p:spPr bwMode="auto">
            <a:xfrm>
              <a:off x="2274" y="1647"/>
              <a:ext cx="24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4" name="Line 88"/>
            <p:cNvSpPr>
              <a:spLocks noChangeShapeType="1"/>
            </p:cNvSpPr>
            <p:nvPr/>
          </p:nvSpPr>
          <p:spPr bwMode="auto">
            <a:xfrm flipV="1">
              <a:off x="4744" y="1646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5" name="Line 89"/>
            <p:cNvSpPr>
              <a:spLocks noChangeShapeType="1"/>
            </p:cNvSpPr>
            <p:nvPr/>
          </p:nvSpPr>
          <p:spPr bwMode="auto">
            <a:xfrm flipV="1">
              <a:off x="4206" y="1693"/>
              <a:ext cx="0" cy="3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6" name="Line 90"/>
            <p:cNvSpPr>
              <a:spLocks noChangeShapeType="1"/>
            </p:cNvSpPr>
            <p:nvPr/>
          </p:nvSpPr>
          <p:spPr bwMode="auto">
            <a:xfrm>
              <a:off x="2220" y="1703"/>
              <a:ext cx="19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7" name="Line 91"/>
            <p:cNvSpPr>
              <a:spLocks noChangeShapeType="1"/>
            </p:cNvSpPr>
            <p:nvPr/>
          </p:nvSpPr>
          <p:spPr bwMode="auto">
            <a:xfrm flipV="1">
              <a:off x="2156" y="1752"/>
              <a:ext cx="15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8" name="Line 92"/>
            <p:cNvSpPr>
              <a:spLocks noChangeShapeType="1"/>
            </p:cNvSpPr>
            <p:nvPr/>
          </p:nvSpPr>
          <p:spPr bwMode="auto">
            <a:xfrm>
              <a:off x="3659" y="1756"/>
              <a:ext cx="0" cy="3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09" name="Line 93"/>
            <p:cNvSpPr>
              <a:spLocks noChangeShapeType="1"/>
            </p:cNvSpPr>
            <p:nvPr/>
          </p:nvSpPr>
          <p:spPr bwMode="auto">
            <a:xfrm>
              <a:off x="1736" y="1288"/>
              <a:ext cx="0" cy="5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10" name="Line 94"/>
            <p:cNvSpPr>
              <a:spLocks noChangeShapeType="1"/>
            </p:cNvSpPr>
            <p:nvPr/>
          </p:nvSpPr>
          <p:spPr bwMode="auto">
            <a:xfrm>
              <a:off x="1736" y="1810"/>
              <a:ext cx="4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11" name="Line 95"/>
            <p:cNvSpPr>
              <a:spLocks noChangeShapeType="1"/>
            </p:cNvSpPr>
            <p:nvPr/>
          </p:nvSpPr>
          <p:spPr bwMode="auto">
            <a:xfrm flipV="1">
              <a:off x="2227" y="181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12" name="Line 96"/>
            <p:cNvSpPr>
              <a:spLocks noChangeShapeType="1"/>
            </p:cNvSpPr>
            <p:nvPr/>
          </p:nvSpPr>
          <p:spPr bwMode="auto">
            <a:xfrm>
              <a:off x="2344" y="1288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13" name="Text Box 97"/>
            <p:cNvSpPr txBox="1">
              <a:spLocks noChangeArrowheads="1"/>
            </p:cNvSpPr>
            <p:nvPr/>
          </p:nvSpPr>
          <p:spPr bwMode="auto">
            <a:xfrm>
              <a:off x="2384" y="1369"/>
              <a:ext cx="92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solidFill>
                    <a:srgbClr val="FF0000"/>
                  </a:solidFill>
                  <a:latin typeface="+mn-ea"/>
                  <a:ea typeface="+mn-ea"/>
                </a:rPr>
                <a:t>?</a:t>
              </a:r>
              <a:endParaRPr lang="en-US" altLang="zh-CN" sz="120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48214" name="Text Box 98"/>
            <p:cNvSpPr txBox="1">
              <a:spLocks noChangeArrowheads="1"/>
            </p:cNvSpPr>
            <p:nvPr/>
          </p:nvSpPr>
          <p:spPr bwMode="auto">
            <a:xfrm>
              <a:off x="1836" y="1237"/>
              <a:ext cx="281" cy="1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600" b="1">
                  <a:latin typeface="+mn-ea"/>
                  <a:ea typeface="+mn-ea"/>
                </a:rPr>
                <a:t>……</a:t>
              </a:r>
              <a:endParaRPr lang="en-US" altLang="zh-CN" sz="1600" b="1">
                <a:latin typeface="+mn-ea"/>
                <a:ea typeface="+mn-ea"/>
              </a:endParaRPr>
            </a:p>
          </p:txBody>
        </p:sp>
        <p:sp>
          <p:nvSpPr>
            <p:cNvPr id="48215" name="Line 99"/>
            <p:cNvSpPr>
              <a:spLocks noChangeShapeType="1"/>
            </p:cNvSpPr>
            <p:nvPr/>
          </p:nvSpPr>
          <p:spPr bwMode="auto">
            <a:xfrm flipV="1">
              <a:off x="2913" y="345"/>
              <a:ext cx="0" cy="3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16" name="Rectangle 100"/>
            <p:cNvSpPr>
              <a:spLocks noChangeArrowheads="1"/>
            </p:cNvSpPr>
            <p:nvPr/>
          </p:nvSpPr>
          <p:spPr bwMode="auto">
            <a:xfrm>
              <a:off x="950" y="3226"/>
              <a:ext cx="444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17" name="Line 101"/>
            <p:cNvSpPr>
              <a:spLocks noChangeShapeType="1"/>
            </p:cNvSpPr>
            <p:nvPr/>
          </p:nvSpPr>
          <p:spPr bwMode="auto">
            <a:xfrm flipH="1">
              <a:off x="1333" y="3445"/>
              <a:ext cx="0" cy="1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18" name="Line 102"/>
            <p:cNvSpPr>
              <a:spLocks noChangeShapeType="1"/>
            </p:cNvSpPr>
            <p:nvPr/>
          </p:nvSpPr>
          <p:spPr bwMode="auto">
            <a:xfrm>
              <a:off x="1011" y="3445"/>
              <a:ext cx="0" cy="3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19" name="Line 103"/>
            <p:cNvSpPr>
              <a:spLocks noChangeShapeType="1"/>
            </p:cNvSpPr>
            <p:nvPr/>
          </p:nvSpPr>
          <p:spPr bwMode="auto">
            <a:xfrm>
              <a:off x="1171" y="3453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20" name="Line 104"/>
            <p:cNvSpPr>
              <a:spLocks noChangeShapeType="1"/>
            </p:cNvSpPr>
            <p:nvPr/>
          </p:nvSpPr>
          <p:spPr bwMode="auto">
            <a:xfrm>
              <a:off x="1091" y="344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21" name="Text Box 105"/>
            <p:cNvSpPr txBox="1">
              <a:spLocks noChangeArrowheads="1"/>
            </p:cNvSpPr>
            <p:nvPr/>
          </p:nvSpPr>
          <p:spPr bwMode="auto">
            <a:xfrm>
              <a:off x="985" y="3332"/>
              <a:ext cx="414" cy="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000" dirty="0" smtClean="0">
                  <a:latin typeface="+mn-ea"/>
                  <a:ea typeface="+mn-ea"/>
                </a:rPr>
                <a:t>y</a:t>
              </a:r>
              <a:r>
                <a:rPr lang="en-US" altLang="zh-CN" sz="1000" dirty="0" smtClean="0">
                  <a:latin typeface="+mn-ea"/>
                  <a:ea typeface="+mn-ea"/>
                </a:rPr>
                <a:t>2 y1 y0   </a:t>
              </a:r>
              <a:r>
                <a:rPr lang="en-US" altLang="zh-CN" sz="1000" dirty="0">
                  <a:latin typeface="+mn-ea"/>
                  <a:ea typeface="+mn-ea"/>
                </a:rPr>
                <a:t>X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48222" name="Rectangle 106"/>
            <p:cNvSpPr>
              <a:spLocks noChangeArrowheads="1"/>
            </p:cNvSpPr>
            <p:nvPr/>
          </p:nvSpPr>
          <p:spPr bwMode="auto">
            <a:xfrm>
              <a:off x="1510" y="3226"/>
              <a:ext cx="444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23" name="Line 107"/>
            <p:cNvSpPr>
              <a:spLocks noChangeShapeType="1"/>
            </p:cNvSpPr>
            <p:nvPr/>
          </p:nvSpPr>
          <p:spPr bwMode="auto">
            <a:xfrm>
              <a:off x="1571" y="3445"/>
              <a:ext cx="0" cy="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24" name="Line 108"/>
            <p:cNvSpPr>
              <a:spLocks noChangeShapeType="1"/>
            </p:cNvSpPr>
            <p:nvPr/>
          </p:nvSpPr>
          <p:spPr bwMode="auto">
            <a:xfrm>
              <a:off x="1731" y="3453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25" name="Line 109"/>
            <p:cNvSpPr>
              <a:spLocks noChangeShapeType="1"/>
            </p:cNvSpPr>
            <p:nvPr/>
          </p:nvSpPr>
          <p:spPr bwMode="auto">
            <a:xfrm>
              <a:off x="1651" y="3445"/>
              <a:ext cx="0" cy="3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26" name="Text Box 110"/>
            <p:cNvSpPr txBox="1">
              <a:spLocks noChangeArrowheads="1"/>
            </p:cNvSpPr>
            <p:nvPr/>
          </p:nvSpPr>
          <p:spPr bwMode="auto">
            <a:xfrm>
              <a:off x="1545" y="3332"/>
              <a:ext cx="414" cy="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000" dirty="0" smtClean="0">
                  <a:latin typeface="+mn-ea"/>
                  <a:ea typeface="+mn-ea"/>
                </a:rPr>
                <a:t>y</a:t>
              </a:r>
              <a:r>
                <a:rPr lang="en-US" altLang="zh-CN" sz="1000" dirty="0" smtClean="0">
                  <a:latin typeface="+mn-ea"/>
                  <a:ea typeface="+mn-ea"/>
                </a:rPr>
                <a:t>2 y1 y0   </a:t>
              </a:r>
              <a:r>
                <a:rPr lang="en-US" altLang="zh-CN" sz="1000" dirty="0">
                  <a:latin typeface="+mn-ea"/>
                  <a:ea typeface="+mn-ea"/>
                </a:rPr>
                <a:t>X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48227" name="Rectangle 111"/>
            <p:cNvSpPr>
              <a:spLocks noChangeArrowheads="1"/>
            </p:cNvSpPr>
            <p:nvPr/>
          </p:nvSpPr>
          <p:spPr bwMode="auto">
            <a:xfrm>
              <a:off x="2053" y="3223"/>
              <a:ext cx="444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28" name="Line 112"/>
            <p:cNvSpPr>
              <a:spLocks noChangeShapeType="1"/>
            </p:cNvSpPr>
            <p:nvPr/>
          </p:nvSpPr>
          <p:spPr bwMode="auto">
            <a:xfrm>
              <a:off x="2114" y="3442"/>
              <a:ext cx="0" cy="3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29" name="Line 113"/>
            <p:cNvSpPr>
              <a:spLocks noChangeShapeType="1"/>
            </p:cNvSpPr>
            <p:nvPr/>
          </p:nvSpPr>
          <p:spPr bwMode="auto">
            <a:xfrm>
              <a:off x="2274" y="3444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30" name="Line 114"/>
            <p:cNvSpPr>
              <a:spLocks noChangeShapeType="1"/>
            </p:cNvSpPr>
            <p:nvPr/>
          </p:nvSpPr>
          <p:spPr bwMode="auto">
            <a:xfrm>
              <a:off x="2194" y="3442"/>
              <a:ext cx="0" cy="3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31" name="Text Box 115"/>
            <p:cNvSpPr txBox="1">
              <a:spLocks noChangeArrowheads="1"/>
            </p:cNvSpPr>
            <p:nvPr/>
          </p:nvSpPr>
          <p:spPr bwMode="auto">
            <a:xfrm>
              <a:off x="2094" y="3329"/>
              <a:ext cx="414" cy="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000" dirty="0" smtClean="0">
                  <a:latin typeface="+mn-ea"/>
                  <a:ea typeface="+mn-ea"/>
                </a:rPr>
                <a:t>y</a:t>
              </a:r>
              <a:r>
                <a:rPr lang="en-US" altLang="zh-CN" sz="1000" dirty="0" smtClean="0">
                  <a:latin typeface="+mn-ea"/>
                  <a:ea typeface="+mn-ea"/>
                </a:rPr>
                <a:t>2 y1 y0   </a:t>
              </a:r>
              <a:r>
                <a:rPr lang="en-US" altLang="zh-CN" sz="1000" dirty="0">
                  <a:latin typeface="+mn-ea"/>
                  <a:ea typeface="+mn-ea"/>
                </a:rPr>
                <a:t>X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48232" name="Rectangle 116"/>
            <p:cNvSpPr>
              <a:spLocks noChangeArrowheads="1"/>
            </p:cNvSpPr>
            <p:nvPr/>
          </p:nvSpPr>
          <p:spPr bwMode="auto">
            <a:xfrm>
              <a:off x="3475" y="3225"/>
              <a:ext cx="444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33" name="Line 117"/>
            <p:cNvSpPr>
              <a:spLocks noChangeShapeType="1"/>
            </p:cNvSpPr>
            <p:nvPr/>
          </p:nvSpPr>
          <p:spPr bwMode="auto">
            <a:xfrm>
              <a:off x="3536" y="3444"/>
              <a:ext cx="0" cy="3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34" name="Line 118"/>
            <p:cNvSpPr>
              <a:spLocks noChangeShapeType="1"/>
            </p:cNvSpPr>
            <p:nvPr/>
          </p:nvSpPr>
          <p:spPr bwMode="auto">
            <a:xfrm>
              <a:off x="3696" y="3446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35" name="Line 119"/>
            <p:cNvSpPr>
              <a:spLocks noChangeShapeType="1"/>
            </p:cNvSpPr>
            <p:nvPr/>
          </p:nvSpPr>
          <p:spPr bwMode="auto">
            <a:xfrm>
              <a:off x="3616" y="3444"/>
              <a:ext cx="0" cy="3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36" name="Text Box 120"/>
            <p:cNvSpPr txBox="1">
              <a:spLocks noChangeArrowheads="1"/>
            </p:cNvSpPr>
            <p:nvPr/>
          </p:nvSpPr>
          <p:spPr bwMode="auto">
            <a:xfrm>
              <a:off x="3510" y="3331"/>
              <a:ext cx="414" cy="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000" dirty="0" smtClean="0">
                  <a:latin typeface="+mn-ea"/>
                  <a:ea typeface="+mn-ea"/>
                </a:rPr>
                <a:t>y</a:t>
              </a:r>
              <a:r>
                <a:rPr lang="en-US" altLang="zh-CN" sz="1000" dirty="0" smtClean="0">
                  <a:latin typeface="+mn-ea"/>
                  <a:ea typeface="+mn-ea"/>
                </a:rPr>
                <a:t>2 y1 y0   </a:t>
              </a:r>
              <a:r>
                <a:rPr lang="en-US" altLang="zh-CN" sz="1000" dirty="0">
                  <a:latin typeface="+mn-ea"/>
                  <a:ea typeface="+mn-ea"/>
                </a:rPr>
                <a:t>X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48237" name="Rectangle 121"/>
            <p:cNvSpPr>
              <a:spLocks noChangeArrowheads="1"/>
            </p:cNvSpPr>
            <p:nvPr/>
          </p:nvSpPr>
          <p:spPr bwMode="auto">
            <a:xfrm>
              <a:off x="4031" y="3235"/>
              <a:ext cx="444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38" name="Line 122"/>
            <p:cNvSpPr>
              <a:spLocks noChangeShapeType="1"/>
            </p:cNvSpPr>
            <p:nvPr/>
          </p:nvSpPr>
          <p:spPr bwMode="auto">
            <a:xfrm>
              <a:off x="4092" y="3454"/>
              <a:ext cx="0" cy="3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39" name="Line 123"/>
            <p:cNvSpPr>
              <a:spLocks noChangeShapeType="1"/>
            </p:cNvSpPr>
            <p:nvPr/>
          </p:nvSpPr>
          <p:spPr bwMode="auto">
            <a:xfrm>
              <a:off x="4252" y="3456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40" name="Line 124"/>
            <p:cNvSpPr>
              <a:spLocks noChangeShapeType="1"/>
            </p:cNvSpPr>
            <p:nvPr/>
          </p:nvSpPr>
          <p:spPr bwMode="auto">
            <a:xfrm>
              <a:off x="4172" y="3454"/>
              <a:ext cx="0" cy="3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41" name="Text Box 125"/>
            <p:cNvSpPr txBox="1">
              <a:spLocks noChangeArrowheads="1"/>
            </p:cNvSpPr>
            <p:nvPr/>
          </p:nvSpPr>
          <p:spPr bwMode="auto">
            <a:xfrm>
              <a:off x="4066" y="3341"/>
              <a:ext cx="414" cy="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000" dirty="0" smtClean="0">
                  <a:latin typeface="+mn-ea"/>
                  <a:ea typeface="+mn-ea"/>
                </a:rPr>
                <a:t>Y2 y1 y0   </a:t>
              </a:r>
              <a:r>
                <a:rPr lang="en-US" altLang="zh-CN" sz="1000" dirty="0">
                  <a:latin typeface="+mn-ea"/>
                  <a:ea typeface="+mn-ea"/>
                </a:rPr>
                <a:t>X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48242" name="Rectangle 126"/>
            <p:cNvSpPr>
              <a:spLocks noChangeArrowheads="1"/>
            </p:cNvSpPr>
            <p:nvPr/>
          </p:nvSpPr>
          <p:spPr bwMode="auto">
            <a:xfrm>
              <a:off x="4563" y="3238"/>
              <a:ext cx="444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43" name="Line 127"/>
            <p:cNvSpPr>
              <a:spLocks noChangeShapeType="1"/>
            </p:cNvSpPr>
            <p:nvPr/>
          </p:nvSpPr>
          <p:spPr bwMode="auto">
            <a:xfrm>
              <a:off x="4624" y="3457"/>
              <a:ext cx="0" cy="3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44" name="Line 128"/>
            <p:cNvSpPr>
              <a:spLocks noChangeShapeType="1"/>
            </p:cNvSpPr>
            <p:nvPr/>
          </p:nvSpPr>
          <p:spPr bwMode="auto">
            <a:xfrm>
              <a:off x="4784" y="3457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45" name="Line 129"/>
            <p:cNvSpPr>
              <a:spLocks noChangeShapeType="1"/>
            </p:cNvSpPr>
            <p:nvPr/>
          </p:nvSpPr>
          <p:spPr bwMode="auto">
            <a:xfrm>
              <a:off x="4704" y="3457"/>
              <a:ext cx="1" cy="3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46" name="Text Box 130"/>
            <p:cNvSpPr txBox="1">
              <a:spLocks noChangeArrowheads="1"/>
            </p:cNvSpPr>
            <p:nvPr/>
          </p:nvSpPr>
          <p:spPr bwMode="auto">
            <a:xfrm>
              <a:off x="4598" y="3344"/>
              <a:ext cx="414" cy="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000" dirty="0" smtClean="0">
                  <a:latin typeface="+mn-ea"/>
                  <a:ea typeface="+mn-ea"/>
                </a:rPr>
                <a:t>y</a:t>
              </a:r>
              <a:r>
                <a:rPr lang="en-US" altLang="zh-CN" sz="1000" dirty="0" smtClean="0">
                  <a:latin typeface="+mn-ea"/>
                  <a:ea typeface="+mn-ea"/>
                </a:rPr>
                <a:t>2 y1 y0   </a:t>
              </a:r>
              <a:r>
                <a:rPr lang="en-US" altLang="zh-CN" sz="1000" dirty="0">
                  <a:latin typeface="+mn-ea"/>
                  <a:ea typeface="+mn-ea"/>
                </a:rPr>
                <a:t>X</a:t>
              </a:r>
              <a:endParaRPr lang="en-US" altLang="zh-CN" sz="1000" dirty="0">
                <a:latin typeface="+mn-ea"/>
                <a:ea typeface="+mn-ea"/>
              </a:endParaRPr>
            </a:p>
          </p:txBody>
        </p:sp>
        <p:sp>
          <p:nvSpPr>
            <p:cNvPr id="48247" name="Rectangle 131"/>
            <p:cNvSpPr>
              <a:spLocks noChangeArrowheads="1"/>
            </p:cNvSpPr>
            <p:nvPr/>
          </p:nvSpPr>
          <p:spPr bwMode="auto">
            <a:xfrm>
              <a:off x="3512" y="4037"/>
              <a:ext cx="850" cy="1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48" name="Line 132"/>
            <p:cNvSpPr>
              <a:spLocks noChangeShapeType="1"/>
            </p:cNvSpPr>
            <p:nvPr/>
          </p:nvSpPr>
          <p:spPr bwMode="auto">
            <a:xfrm>
              <a:off x="1324" y="3592"/>
              <a:ext cx="362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49" name="Line 133"/>
            <p:cNvSpPr>
              <a:spLocks noChangeShapeType="1"/>
            </p:cNvSpPr>
            <p:nvPr/>
          </p:nvSpPr>
          <p:spPr bwMode="auto">
            <a:xfrm flipV="1">
              <a:off x="3945" y="3585"/>
              <a:ext cx="0" cy="4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0" name="Rectangle 134"/>
            <p:cNvSpPr>
              <a:spLocks noChangeArrowheads="1"/>
            </p:cNvSpPr>
            <p:nvPr/>
          </p:nvSpPr>
          <p:spPr bwMode="auto">
            <a:xfrm>
              <a:off x="2032" y="4037"/>
              <a:ext cx="850" cy="1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1" name="Line 135"/>
            <p:cNvSpPr>
              <a:spLocks noChangeShapeType="1"/>
            </p:cNvSpPr>
            <p:nvPr/>
          </p:nvSpPr>
          <p:spPr bwMode="auto">
            <a:xfrm flipH="1">
              <a:off x="1889" y="3446"/>
              <a:ext cx="0" cy="1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2" name="Line 136"/>
            <p:cNvSpPr>
              <a:spLocks noChangeShapeType="1"/>
            </p:cNvSpPr>
            <p:nvPr/>
          </p:nvSpPr>
          <p:spPr bwMode="auto">
            <a:xfrm flipH="1">
              <a:off x="2445" y="3442"/>
              <a:ext cx="0" cy="1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3" name="Line 137"/>
            <p:cNvSpPr>
              <a:spLocks noChangeShapeType="1"/>
            </p:cNvSpPr>
            <p:nvPr/>
          </p:nvSpPr>
          <p:spPr bwMode="auto">
            <a:xfrm flipH="1">
              <a:off x="3865" y="3443"/>
              <a:ext cx="0" cy="1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4" name="Line 138"/>
            <p:cNvSpPr>
              <a:spLocks noChangeShapeType="1"/>
            </p:cNvSpPr>
            <p:nvPr/>
          </p:nvSpPr>
          <p:spPr bwMode="auto">
            <a:xfrm flipH="1">
              <a:off x="4429" y="3446"/>
              <a:ext cx="0" cy="1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5" name="Line 139"/>
            <p:cNvSpPr>
              <a:spLocks noChangeShapeType="1"/>
            </p:cNvSpPr>
            <p:nvPr/>
          </p:nvSpPr>
          <p:spPr bwMode="auto">
            <a:xfrm flipH="1">
              <a:off x="4939" y="3449"/>
              <a:ext cx="0" cy="1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6" name="Line 140"/>
            <p:cNvSpPr>
              <a:spLocks noChangeShapeType="1"/>
            </p:cNvSpPr>
            <p:nvPr/>
          </p:nvSpPr>
          <p:spPr bwMode="auto">
            <a:xfrm>
              <a:off x="1168" y="3637"/>
              <a:ext cx="4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7" name="Line 141"/>
            <p:cNvSpPr>
              <a:spLocks noChangeShapeType="1"/>
            </p:cNvSpPr>
            <p:nvPr/>
          </p:nvSpPr>
          <p:spPr bwMode="auto">
            <a:xfrm>
              <a:off x="1732" y="3641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8" name="Line 142"/>
            <p:cNvSpPr>
              <a:spLocks noChangeShapeType="1"/>
            </p:cNvSpPr>
            <p:nvPr/>
          </p:nvSpPr>
          <p:spPr bwMode="auto">
            <a:xfrm>
              <a:off x="3698" y="3641"/>
              <a:ext cx="39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59" name="Line 143"/>
            <p:cNvSpPr>
              <a:spLocks noChangeShapeType="1"/>
            </p:cNvSpPr>
            <p:nvPr/>
          </p:nvSpPr>
          <p:spPr bwMode="auto">
            <a:xfrm>
              <a:off x="4261" y="3644"/>
              <a:ext cx="3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60" name="Line 144"/>
            <p:cNvSpPr>
              <a:spLocks noChangeShapeType="1"/>
            </p:cNvSpPr>
            <p:nvPr/>
          </p:nvSpPr>
          <p:spPr bwMode="auto">
            <a:xfrm flipV="1">
              <a:off x="1011" y="3789"/>
              <a:ext cx="369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61" name="Line 145"/>
            <p:cNvSpPr>
              <a:spLocks noChangeShapeType="1"/>
            </p:cNvSpPr>
            <p:nvPr/>
          </p:nvSpPr>
          <p:spPr bwMode="auto">
            <a:xfrm>
              <a:off x="3142" y="3632"/>
              <a:ext cx="39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62" name="Text Box 146"/>
            <p:cNvSpPr txBox="1">
              <a:spLocks noChangeArrowheads="1"/>
            </p:cNvSpPr>
            <p:nvPr/>
          </p:nvSpPr>
          <p:spPr bwMode="auto">
            <a:xfrm>
              <a:off x="2734" y="3185"/>
              <a:ext cx="460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+mn-ea"/>
                  <a:ea typeface="+mn-ea"/>
                </a:rPr>
                <a:t>……</a:t>
              </a:r>
              <a:endParaRPr lang="en-US" altLang="zh-CN" sz="2000" b="1">
                <a:latin typeface="+mn-ea"/>
                <a:ea typeface="+mn-ea"/>
              </a:endParaRPr>
            </a:p>
          </p:txBody>
        </p:sp>
        <p:sp>
          <p:nvSpPr>
            <p:cNvPr id="48263" name="Text Box 147"/>
            <p:cNvSpPr txBox="1">
              <a:spLocks noChangeArrowheads="1"/>
            </p:cNvSpPr>
            <p:nvPr/>
          </p:nvSpPr>
          <p:spPr bwMode="auto">
            <a:xfrm>
              <a:off x="4811" y="3639"/>
              <a:ext cx="79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0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264" name="Line 148"/>
            <p:cNvSpPr>
              <a:spLocks noChangeShapeType="1"/>
            </p:cNvSpPr>
            <p:nvPr/>
          </p:nvSpPr>
          <p:spPr bwMode="auto">
            <a:xfrm flipV="1">
              <a:off x="2454" y="3787"/>
              <a:ext cx="0" cy="2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65" name="Text Box 149"/>
            <p:cNvSpPr txBox="1">
              <a:spLocks noChangeArrowheads="1"/>
            </p:cNvSpPr>
            <p:nvPr/>
          </p:nvSpPr>
          <p:spPr bwMode="auto">
            <a:xfrm>
              <a:off x="3909" y="4070"/>
              <a:ext cx="64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X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266" name="Text Box 150"/>
            <p:cNvSpPr txBox="1">
              <a:spLocks noChangeArrowheads="1"/>
            </p:cNvSpPr>
            <p:nvPr/>
          </p:nvSpPr>
          <p:spPr bwMode="auto">
            <a:xfrm>
              <a:off x="2418" y="4078"/>
              <a:ext cx="79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latin typeface="+mn-ea"/>
                  <a:ea typeface="+mn-ea"/>
                </a:rPr>
                <a:t>Y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267" name="Text Box 151"/>
            <p:cNvSpPr txBox="1">
              <a:spLocks noChangeArrowheads="1"/>
            </p:cNvSpPr>
            <p:nvPr/>
          </p:nvSpPr>
          <p:spPr bwMode="auto">
            <a:xfrm>
              <a:off x="5176" y="2495"/>
              <a:ext cx="79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solidFill>
                    <a:srgbClr val="FF0000"/>
                  </a:solidFill>
                  <a:latin typeface="+mn-ea"/>
                  <a:ea typeface="+mn-ea"/>
                </a:rPr>
                <a:t>?</a:t>
              </a:r>
              <a:endParaRPr lang="en-US" altLang="zh-CN" sz="1200">
                <a:latin typeface="+mn-ea"/>
                <a:ea typeface="+mn-ea"/>
              </a:endParaRPr>
            </a:p>
          </p:txBody>
        </p:sp>
        <p:sp>
          <p:nvSpPr>
            <p:cNvPr id="48268" name="Line 153"/>
            <p:cNvSpPr>
              <a:spLocks noChangeShapeType="1"/>
            </p:cNvSpPr>
            <p:nvPr/>
          </p:nvSpPr>
          <p:spPr bwMode="auto">
            <a:xfrm flipH="1">
              <a:off x="4114" y="1068"/>
              <a:ext cx="4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69" name="Line 154"/>
            <p:cNvSpPr>
              <a:spLocks noChangeShapeType="1"/>
            </p:cNvSpPr>
            <p:nvPr/>
          </p:nvSpPr>
          <p:spPr bwMode="auto">
            <a:xfrm>
              <a:off x="1052" y="3048"/>
              <a:ext cx="383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0" name="Line 155"/>
            <p:cNvSpPr>
              <a:spLocks noChangeShapeType="1"/>
            </p:cNvSpPr>
            <p:nvPr/>
          </p:nvSpPr>
          <p:spPr bwMode="auto">
            <a:xfrm flipV="1">
              <a:off x="1179" y="2942"/>
              <a:ext cx="0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1" name="Line 156"/>
            <p:cNvSpPr>
              <a:spLocks noChangeShapeType="1"/>
            </p:cNvSpPr>
            <p:nvPr/>
          </p:nvSpPr>
          <p:spPr bwMode="auto">
            <a:xfrm>
              <a:off x="1726" y="3062"/>
              <a:ext cx="0" cy="1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2" name="Line 157"/>
            <p:cNvSpPr>
              <a:spLocks noChangeShapeType="1"/>
            </p:cNvSpPr>
            <p:nvPr/>
          </p:nvSpPr>
          <p:spPr bwMode="auto">
            <a:xfrm flipV="1">
              <a:off x="1731" y="2945"/>
              <a:ext cx="0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3" name="Line 158"/>
            <p:cNvSpPr>
              <a:spLocks noChangeShapeType="1"/>
            </p:cNvSpPr>
            <p:nvPr/>
          </p:nvSpPr>
          <p:spPr bwMode="auto">
            <a:xfrm>
              <a:off x="2267" y="3053"/>
              <a:ext cx="0" cy="1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4" name="Line 159"/>
            <p:cNvSpPr>
              <a:spLocks noChangeShapeType="1"/>
            </p:cNvSpPr>
            <p:nvPr/>
          </p:nvSpPr>
          <p:spPr bwMode="auto">
            <a:xfrm flipV="1">
              <a:off x="2272" y="2936"/>
              <a:ext cx="0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5" name="Line 160"/>
            <p:cNvSpPr>
              <a:spLocks noChangeShapeType="1"/>
            </p:cNvSpPr>
            <p:nvPr/>
          </p:nvSpPr>
          <p:spPr bwMode="auto">
            <a:xfrm>
              <a:off x="3699" y="3044"/>
              <a:ext cx="0" cy="1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6" name="Line 161"/>
            <p:cNvSpPr>
              <a:spLocks noChangeShapeType="1"/>
            </p:cNvSpPr>
            <p:nvPr/>
          </p:nvSpPr>
          <p:spPr bwMode="auto">
            <a:xfrm flipV="1">
              <a:off x="3698" y="2939"/>
              <a:ext cx="0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7" name="Line 162"/>
            <p:cNvSpPr>
              <a:spLocks noChangeShapeType="1"/>
            </p:cNvSpPr>
            <p:nvPr/>
          </p:nvSpPr>
          <p:spPr bwMode="auto">
            <a:xfrm>
              <a:off x="4231" y="3056"/>
              <a:ext cx="0" cy="1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8" name="Line 163"/>
            <p:cNvSpPr>
              <a:spLocks noChangeShapeType="1"/>
            </p:cNvSpPr>
            <p:nvPr/>
          </p:nvSpPr>
          <p:spPr bwMode="auto">
            <a:xfrm flipV="1">
              <a:off x="4230" y="2957"/>
              <a:ext cx="0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79" name="Line 164"/>
            <p:cNvSpPr>
              <a:spLocks noChangeShapeType="1"/>
            </p:cNvSpPr>
            <p:nvPr/>
          </p:nvSpPr>
          <p:spPr bwMode="auto">
            <a:xfrm>
              <a:off x="4775" y="3056"/>
              <a:ext cx="0" cy="1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80" name="Line 165"/>
            <p:cNvSpPr>
              <a:spLocks noChangeShapeType="1"/>
            </p:cNvSpPr>
            <p:nvPr/>
          </p:nvSpPr>
          <p:spPr bwMode="auto">
            <a:xfrm flipV="1">
              <a:off x="4780" y="2939"/>
              <a:ext cx="0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81" name="Line 166"/>
            <p:cNvSpPr>
              <a:spLocks noChangeShapeType="1"/>
            </p:cNvSpPr>
            <p:nvPr/>
          </p:nvSpPr>
          <p:spPr bwMode="auto">
            <a:xfrm>
              <a:off x="2276" y="3639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82" name="Text Box 167"/>
            <p:cNvSpPr txBox="1">
              <a:spLocks noChangeArrowheads="1"/>
            </p:cNvSpPr>
            <p:nvPr/>
          </p:nvSpPr>
          <p:spPr bwMode="auto">
            <a:xfrm>
              <a:off x="4482" y="929"/>
              <a:ext cx="92" cy="1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200">
                  <a:solidFill>
                    <a:srgbClr val="FF0000"/>
                  </a:solidFill>
                  <a:latin typeface="+mn-ea"/>
                  <a:ea typeface="+mn-ea"/>
                </a:rPr>
                <a:t>?</a:t>
              </a:r>
              <a:endParaRPr lang="en-US" altLang="zh-CN" sz="120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8132" name="Rectangle 168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10361613" cy="666750"/>
          </a:xfrm>
        </p:spPr>
        <p:txBody>
          <a:bodyPr/>
          <a:lstStyle/>
          <a:p>
            <a:pPr eaLnBrk="1" hangingPunct="1"/>
            <a:r>
              <a:rPr lang="en-US" altLang="zh-CN" smtClean="0"/>
              <a:t>32*32</a:t>
            </a:r>
            <a:r>
              <a:rPr lang="zh-CN" altLang="en-US" smtClean="0"/>
              <a:t>补码乘法器框图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49155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4000F49-C126-4B18-BAFD-22A3BD89F525}" type="slidenum">
              <a:rPr lang="en-US" altLang="zh-CN" smtClean="0"/>
            </a:fld>
            <a:endParaRPr lang="en-US" altLang="zh-CN" smtClean="0"/>
          </a:p>
        </p:txBody>
      </p:sp>
      <p:pic>
        <p:nvPicPr>
          <p:cNvPr id="49156" name="图片 3" descr="华莱士树-2位booth乘法器.jpg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62113" y="363538"/>
            <a:ext cx="8675687" cy="6043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91563" y="6226175"/>
            <a:ext cx="2540000" cy="457200"/>
          </a:xfrm>
          <a:noFill/>
        </p:spPr>
        <p:txBody>
          <a:bodyPr/>
          <a:lstStyle/>
          <a:p>
            <a:fld id="{795381F1-0FB3-4DBE-A0D5-3CFB3AD8964D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577850" y="1131888"/>
            <a:ext cx="11034713" cy="53927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32</a:t>
            </a:r>
            <a:r>
              <a:rPr lang="zh-CN" altLang="en-US" sz="2000" b="1">
                <a:latin typeface="宋体" panose="02000500000000000000" pitchFamily="2" charset="-122"/>
                <a:cs typeface="宋体" panose="02000500000000000000" pitchFamily="2" charset="-122"/>
              </a:rPr>
              <a:t>位的</a:t>
            </a: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[X]</a:t>
            </a:r>
            <a:r>
              <a:rPr lang="zh-CN" altLang="en-US" sz="20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,</a:t>
            </a:r>
            <a:r>
              <a:rPr lang="en-US" altLang="zh-CN" sz="20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[-X]</a:t>
            </a:r>
            <a:r>
              <a:rPr lang="zh-CN" altLang="en-US" sz="20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,</a:t>
            </a:r>
            <a:r>
              <a:rPr lang="en-US" altLang="zh-CN" sz="20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[2X]</a:t>
            </a:r>
            <a:r>
              <a:rPr lang="zh-CN" altLang="en-US" sz="20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en-US" sz="2000" b="1">
                <a:latin typeface="宋体" panose="02000500000000000000" pitchFamily="2" charset="-122"/>
                <a:cs typeface="宋体" panose="02000500000000000000" pitchFamily="2" charset="-122"/>
              </a:rPr>
              <a:t> </a:t>
            </a: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,[-2X]</a:t>
            </a:r>
            <a:r>
              <a:rPr lang="zh-CN" altLang="en-US" sz="20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 </a:t>
            </a:r>
            <a:r>
              <a:rPr lang="zh-CN" altLang="en-US" sz="2000" b="1">
                <a:latin typeface="宋体" panose="02000500000000000000" pitchFamily="2" charset="-122"/>
                <a:cs typeface="宋体" panose="02000500000000000000" pitchFamily="2" charset="-122"/>
              </a:rPr>
              <a:t>如何扩展到</a:t>
            </a:r>
            <a:r>
              <a:rPr lang="en-US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64</a:t>
            </a:r>
            <a:r>
              <a:rPr lang="zh-CN" altLang="en-US" sz="2000" b="1">
                <a:latin typeface="宋体" panose="02000500000000000000" pitchFamily="2" charset="-122"/>
                <a:cs typeface="宋体" panose="02000500000000000000" pitchFamily="2" charset="-122"/>
              </a:rPr>
              <a:t>位</a:t>
            </a:r>
            <a:endParaRPr lang="zh-CN" altLang="en-US" sz="20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[X]</a:t>
            </a:r>
            <a:r>
              <a:rPr lang="zh-CN" altLang="en-US" sz="18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 </a:t>
            </a: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: </a:t>
            </a:r>
            <a:r>
              <a:rPr lang="zh-CN" altLang="en-US" sz="1800" b="1">
                <a:latin typeface="宋体" panose="02000500000000000000" pitchFamily="2" charset="-122"/>
                <a:cs typeface="宋体" panose="02000500000000000000" pitchFamily="2" charset="-122"/>
              </a:rPr>
              <a:t>左边符号位扩充</a:t>
            </a: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, </a:t>
            </a:r>
            <a:r>
              <a:rPr lang="zh-CN" altLang="en-US" sz="1800" b="1">
                <a:latin typeface="宋体" panose="02000500000000000000" pitchFamily="2" charset="-122"/>
                <a:cs typeface="宋体" panose="02000500000000000000" pitchFamily="2" charset="-122"/>
              </a:rPr>
              <a:t>右边补</a:t>
            </a: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0</a:t>
            </a:r>
            <a:endParaRPr lang="en-US" altLang="zh-CN" sz="18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[-X]</a:t>
            </a:r>
            <a:r>
              <a:rPr lang="zh-CN" altLang="en-US" sz="18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: 对</a:t>
            </a: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[X]</a:t>
            </a:r>
            <a:r>
              <a:rPr lang="zh-CN" altLang="en-US" sz="18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按位求反, 左边符号位扩充, 右边补1, 末位加1. </a:t>
            </a:r>
            <a:endParaRPr lang="zh-CN" altLang="zh-CN" sz="18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zh-CN" altLang="zh-CN" sz="2000" b="1">
                <a:latin typeface="宋体" panose="02000500000000000000" pitchFamily="2" charset="-122"/>
                <a:cs typeface="宋体" panose="02000500000000000000" pitchFamily="2" charset="-122"/>
              </a:rPr>
              <a:t>末位的进位问题</a:t>
            </a:r>
            <a:endParaRPr lang="zh-CN" altLang="zh-CN" sz="20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zh-CN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由</a:t>
            </a: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-2[X]</a:t>
            </a:r>
            <a:r>
              <a:rPr lang="zh-CN" altLang="en-US" sz="18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, </a:t>
            </a: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-[X]</a:t>
            </a:r>
            <a:r>
              <a:rPr lang="zh-CN" altLang="en-US" sz="1800" b="1" baseline="-25000">
                <a:latin typeface="宋体" panose="02000500000000000000" pitchFamily="2" charset="-122"/>
                <a:cs typeface="宋体" panose="02000500000000000000" pitchFamily="2" charset="-122"/>
              </a:rPr>
              <a:t>补</a:t>
            </a:r>
            <a:r>
              <a:rPr lang="zh-CN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引起 </a:t>
            </a:r>
            <a:endParaRPr lang="zh-CN" altLang="zh-CN" sz="18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zh-CN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加法树中的全加器</a:t>
            </a: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/</a:t>
            </a:r>
            <a:r>
              <a:rPr lang="zh-CN" altLang="en-US" sz="1800" b="1">
                <a:latin typeface="宋体" panose="02000500000000000000" pitchFamily="2" charset="-122"/>
                <a:cs typeface="宋体" panose="02000500000000000000" pitchFamily="2" charset="-122"/>
              </a:rPr>
              <a:t>半加器</a:t>
            </a:r>
            <a:r>
              <a:rPr lang="zh-CN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个数至少是</a:t>
            </a:r>
            <a:r>
              <a:rPr lang="zh-CN" altLang="en-US" sz="1800" b="1">
                <a:latin typeface="宋体" panose="02000500000000000000" pitchFamily="2" charset="-122"/>
                <a:cs typeface="宋体" panose="02000500000000000000" pitchFamily="2" charset="-122"/>
              </a:rPr>
              <a:t>（</a:t>
            </a:r>
            <a:r>
              <a:rPr lang="zh-CN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相加数的个数-</a:t>
            </a: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1</a:t>
            </a:r>
            <a:r>
              <a:rPr lang="zh-CN" altLang="en-US" sz="1800" b="1">
                <a:latin typeface="宋体" panose="02000500000000000000" pitchFamily="2" charset="-122"/>
                <a:cs typeface="宋体" panose="02000500000000000000" pitchFamily="2" charset="-122"/>
              </a:rPr>
              <a:t>）</a:t>
            </a:r>
            <a:endParaRPr lang="zh-CN" altLang="en-US" sz="18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zh-CN" altLang="en-US" sz="2000" b="1">
                <a:latin typeface="宋体" panose="02000500000000000000" pitchFamily="2" charset="-122"/>
                <a:cs typeface="宋体" panose="02000500000000000000" pitchFamily="2" charset="-122"/>
              </a:rPr>
              <a:t>硬件优化</a:t>
            </a:r>
            <a:endParaRPr lang="zh-CN" altLang="en-US" sz="20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zh-CN" altLang="en-US" sz="1800" b="1">
                <a:latin typeface="宋体" panose="02000500000000000000" pitchFamily="2" charset="-122"/>
                <a:cs typeface="宋体" panose="02000500000000000000" pitchFamily="2" charset="-122"/>
              </a:rPr>
              <a:t>低位“</a:t>
            </a:r>
            <a:r>
              <a:rPr lang="en-US" altLang="zh-CN" sz="1800" b="1">
                <a:latin typeface="宋体" panose="02000500000000000000" pitchFamily="2" charset="-122"/>
                <a:cs typeface="宋体" panose="02000500000000000000" pitchFamily="2" charset="-122"/>
              </a:rPr>
              <a:t>0”</a:t>
            </a:r>
            <a:r>
              <a:rPr lang="zh-CN" altLang="en-US" sz="1800" b="1">
                <a:latin typeface="宋体" panose="02000500000000000000" pitchFamily="2" charset="-122"/>
                <a:cs typeface="宋体" panose="02000500000000000000" pitchFamily="2" charset="-122"/>
              </a:rPr>
              <a:t>不用加</a:t>
            </a:r>
            <a:endParaRPr lang="zh-CN" altLang="en-US" sz="18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zh-CN" altLang="en-US" sz="1800" b="1">
                <a:latin typeface="宋体" panose="02000500000000000000" pitchFamily="2" charset="-122"/>
                <a:cs typeface="宋体" panose="02000500000000000000" pitchFamily="2" charset="-122"/>
              </a:rPr>
              <a:t>高位符号位扩充位可以优化</a:t>
            </a:r>
            <a:endParaRPr lang="zh-CN" altLang="en-US" sz="1800" b="1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zh-CN" altLang="en-US" sz="1800" b="1">
                <a:latin typeface="宋体" panose="02000500000000000000" pitchFamily="2" charset="-122"/>
                <a:cs typeface="宋体" panose="02000500000000000000" pitchFamily="2" charset="-122"/>
              </a:rPr>
              <a:t>请查阅相关资料</a:t>
            </a:r>
            <a:endParaRPr lang="zh-CN" altLang="en-US" sz="1800" b="1">
              <a:latin typeface="宋体" panose="02000500000000000000" pitchFamily="2" charset="-122"/>
              <a:cs typeface="宋体" panose="02000500000000000000" pitchFamily="2" charset="-122"/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10361613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说明</a:t>
            </a:r>
            <a:endParaRPr lang="zh-CN" altLang="en-US" smtClean="0"/>
          </a:p>
        </p:txBody>
      </p:sp>
      <p:grpSp>
        <p:nvGrpSpPr>
          <p:cNvPr id="50181" name="Group 7"/>
          <p:cNvGrpSpPr/>
          <p:nvPr/>
        </p:nvGrpSpPr>
        <p:grpSpPr bwMode="auto">
          <a:xfrm>
            <a:off x="6469063" y="5143500"/>
            <a:ext cx="4732337" cy="1054100"/>
            <a:chOff x="2988" y="3192"/>
            <a:chExt cx="2236" cy="664"/>
          </a:xfrm>
        </p:grpSpPr>
        <p:sp>
          <p:nvSpPr>
            <p:cNvPr id="50182" name="AutoShape 4"/>
            <p:cNvSpPr>
              <a:spLocks noChangeArrowheads="1"/>
            </p:cNvSpPr>
            <p:nvPr/>
          </p:nvSpPr>
          <p:spPr bwMode="auto">
            <a:xfrm>
              <a:off x="3000" y="3192"/>
              <a:ext cx="2220" cy="660"/>
            </a:xfrm>
            <a:prstGeom prst="parallelogram">
              <a:avLst>
                <a:gd name="adj" fmla="val 15260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3" name="AutoShape 5"/>
            <p:cNvSpPr>
              <a:spLocks noChangeArrowheads="1"/>
            </p:cNvSpPr>
            <p:nvPr/>
          </p:nvSpPr>
          <p:spPr bwMode="auto">
            <a:xfrm flipV="1">
              <a:off x="2988" y="3192"/>
              <a:ext cx="888" cy="588"/>
            </a:xfrm>
            <a:prstGeom prst="rtTriangle">
              <a:avLst/>
            </a:prstGeom>
            <a:solidFill>
              <a:srgbClr val="FF0000"/>
            </a:solidFill>
            <a:ln w="9525">
              <a:solidFill>
                <a:srgbClr val="FF33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4" name="AutoShape 6"/>
            <p:cNvSpPr>
              <a:spLocks noChangeArrowheads="1"/>
            </p:cNvSpPr>
            <p:nvPr/>
          </p:nvSpPr>
          <p:spPr bwMode="auto">
            <a:xfrm flipH="1">
              <a:off x="4336" y="3268"/>
              <a:ext cx="888" cy="588"/>
            </a:xfrm>
            <a:prstGeom prst="rtTriangl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/>
          <p:nvPr/>
        </p:nvSpPr>
        <p:spPr>
          <a:xfrm>
            <a:off x="939751" y="179"/>
            <a:ext cx="10361073" cy="114294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2" charset="-122"/>
              </a:rPr>
              <a:t>运算部件小结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2" charset="-122"/>
            </a:endParaRPr>
          </a:p>
        </p:txBody>
      </p:sp>
      <p:sp>
        <p:nvSpPr>
          <p:cNvPr id="11267" name="Rectangle 3"/>
          <p:cNvSpPr/>
          <p:nvPr/>
        </p:nvSpPr>
        <p:spPr>
          <a:xfrm>
            <a:off x="914352" y="1676491"/>
            <a:ext cx="10361073" cy="44098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定点加法器</a:t>
            </a:r>
            <a:endParaRPr lang="zh-CN" altLang="en-US" sz="2000" b="1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 eaLnBrk="1" latinLnBrk="0" hangingPunct="1">
              <a:lnSpc>
                <a:spcPct val="150000"/>
              </a:lnSpc>
              <a:spcBef>
                <a:spcPts val="0"/>
              </a:spcBef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先行进位加法器</a:t>
            </a:r>
            <a:endParaRPr lang="zh-CN" altLang="en-US" sz="1600" b="1" dirty="0">
              <a:solidFill>
                <a:srgbClr val="FF0000"/>
              </a:solidFill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定点</a:t>
            </a:r>
            <a:r>
              <a:rPr lang="en-US" altLang="zh-CN" sz="2000" b="1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ALU</a:t>
            </a:r>
            <a:r>
              <a:rPr lang="zh-CN" altLang="en-US" sz="2000" b="1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设计</a:t>
            </a:r>
            <a:endParaRPr lang="zh-CN" altLang="en-US" sz="2000" b="1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 eaLnBrk="1" latinLnBrk="0" hangingPunct="1">
              <a:lnSpc>
                <a:spcPct val="150000"/>
              </a:lnSpc>
              <a:spcBef>
                <a:spcPts val="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加减、逻辑、移位运算</a:t>
            </a:r>
            <a:endParaRPr lang="zh-CN" altLang="en-US" sz="1600" b="1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定点补码乘法器的设计</a:t>
            </a:r>
            <a:endParaRPr lang="zh-CN" altLang="en-US" sz="2000" b="1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 eaLnBrk="1" latinLnBrk="0" hangingPunct="1">
              <a:lnSpc>
                <a:spcPct val="150000"/>
              </a:lnSpc>
              <a:spcBef>
                <a:spcPts val="0"/>
              </a:spcBef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Booth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二位一乘算法</a:t>
            </a:r>
            <a:endParaRPr lang="zh-CN" altLang="en-US" sz="1600" b="1" dirty="0">
              <a:solidFill>
                <a:srgbClr val="FF0000"/>
              </a:solidFill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 eaLnBrk="1" latinLnBrk="0" hangingPunct="1">
              <a:lnSpc>
                <a:spcPct val="150000"/>
              </a:lnSpc>
              <a:spcBef>
                <a:spcPts val="0"/>
              </a:spcBef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Wallace</a:t>
            </a:r>
            <a:r>
              <a:rPr lang="zh-CN" altLang="zh-CN" sz="1600" b="1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树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的结构</a:t>
            </a:r>
            <a:endParaRPr lang="zh-CN" altLang="en-US" sz="1600" b="1" dirty="0">
              <a:solidFill>
                <a:srgbClr val="FF0000"/>
              </a:solidFill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A50B6F-3A27-4D02-BE1D-B20A572354E1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作  业</a:t>
            </a:r>
            <a:endParaRPr lang="zh-CN" altLang="en-US" smtClean="0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zh-CN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anose="02000500000000000000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anose="02000500000000000000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7273</Words>
  <Application>WPS 演示</Application>
  <PresentationFormat>自定义</PresentationFormat>
  <Paragraphs>984</Paragraphs>
  <Slides>51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51</vt:i4>
      </vt:variant>
    </vt:vector>
  </HeadingPairs>
  <TitlesOfParts>
    <vt:vector size="64" baseType="lpstr">
      <vt:lpstr>Arial</vt:lpstr>
      <vt:lpstr>宋体</vt:lpstr>
      <vt:lpstr>Wingdings</vt:lpstr>
      <vt:lpstr>Times New Roman</vt:lpstr>
      <vt:lpstr>Nimbus Roman No9 L</vt:lpstr>
      <vt:lpstr>黑体</vt:lpstr>
      <vt:lpstr>微软雅黑</vt:lpstr>
      <vt:lpstr>Arial Unicode MS</vt:lpstr>
      <vt:lpstr>Courier New</vt:lpstr>
      <vt:lpstr>DejaVu Sans</vt:lpstr>
      <vt:lpstr>Times New Roman</vt:lpstr>
      <vt:lpstr>MathJax_Vector</vt:lpstr>
      <vt:lpstr>默认设计模板</vt:lpstr>
      <vt:lpstr>PowerPoint 演示文稿</vt:lpstr>
      <vt:lpstr>PowerPoint 演示文稿</vt:lpstr>
      <vt:lpstr>功能部件</vt:lpstr>
      <vt:lpstr>定点补码加法器设计</vt:lpstr>
      <vt:lpstr>PowerPoint 演示文稿</vt:lpstr>
      <vt:lpstr>一位全加器</vt:lpstr>
      <vt:lpstr>串行进位加法器</vt:lpstr>
      <vt:lpstr>进位的传递</vt:lpstr>
      <vt:lpstr>进位因子和传递因子</vt:lpstr>
      <vt:lpstr>4位并行进位逻辑</vt:lpstr>
      <vt:lpstr>以16位加法器为例</vt:lpstr>
      <vt:lpstr>五输入与非门不常用</vt:lpstr>
      <vt:lpstr>块内并行, 块间并行</vt:lpstr>
      <vt:lpstr>进位生成与传递逻辑</vt:lpstr>
      <vt:lpstr>PowerPoint 演示文稿</vt:lpstr>
      <vt:lpstr>64位加法器先行进位</vt:lpstr>
      <vt:lpstr>补码减法算法</vt:lpstr>
      <vt:lpstr>溢出判断</vt:lpstr>
      <vt:lpstr>定点ALU设计</vt:lpstr>
      <vt:lpstr>ALU的实现</vt:lpstr>
      <vt:lpstr>判断相等</vt:lpstr>
      <vt:lpstr>判断大小</vt:lpstr>
      <vt:lpstr>移位操作</vt:lpstr>
      <vt:lpstr>移位操作（二）</vt:lpstr>
      <vt:lpstr>补码乘法器设计</vt:lpstr>
      <vt:lpstr>补码乘法原理</vt:lpstr>
      <vt:lpstr>补码乘法算法</vt:lpstr>
      <vt:lpstr>Booth算法</vt:lpstr>
      <vt:lpstr>Booth二位一乘算法</vt:lpstr>
      <vt:lpstr>Booth两位乘</vt:lpstr>
      <vt:lpstr>Booth算法的串行实现</vt:lpstr>
      <vt:lpstr>Booth两位乘电路</vt:lpstr>
      <vt:lpstr>PowerPoint 演示文稿</vt:lpstr>
      <vt:lpstr>Booth二位乘的输入选择逻辑</vt:lpstr>
      <vt:lpstr>Wallace加法树</vt:lpstr>
      <vt:lpstr>全加器</vt:lpstr>
      <vt:lpstr>全加器把三个加数变成两个加数</vt:lpstr>
      <vt:lpstr>例：3个4位数相加</vt:lpstr>
      <vt:lpstr>例：4个4位数相加</vt:lpstr>
      <vt:lpstr>其中一位</vt:lpstr>
      <vt:lpstr>1位华莱士树</vt:lpstr>
      <vt:lpstr>多位华莱士树</vt:lpstr>
      <vt:lpstr>华莱士树进位连接要求</vt:lpstr>
      <vt:lpstr>PowerPoint 演示文稿</vt:lpstr>
      <vt:lpstr>16个数相加的1位加法树</vt:lpstr>
      <vt:lpstr>16个数相加的四位华莱士树（左右进位相连）</vt:lpstr>
      <vt:lpstr>32*32补码乘法器框图</vt:lpstr>
      <vt:lpstr>PowerPoint 演示文稿</vt:lpstr>
      <vt:lpstr>说明</vt:lpstr>
      <vt:lpstr>PowerPoint 演示文稿</vt:lpstr>
      <vt:lpstr>作  业</vt:lpstr>
    </vt:vector>
  </TitlesOfParts>
  <Company>chpc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RISC处理器设计</dc:title>
  <dc:creator>Weiwu Hu</dc:creator>
  <cp:lastModifiedBy>loongson</cp:lastModifiedBy>
  <cp:revision>729</cp:revision>
  <dcterms:created xsi:type="dcterms:W3CDTF">2025-10-03T15:51:07Z</dcterms:created>
  <dcterms:modified xsi:type="dcterms:W3CDTF">2025-10-03T15:51:07Z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2052-11.1.0.11719</vt:lpwstr>
  </property>
</Properties>
</file>