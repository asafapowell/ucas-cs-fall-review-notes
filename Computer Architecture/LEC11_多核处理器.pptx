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81"/>
  </p:handoutMasterIdLst>
  <p:sldIdLst>
    <p:sldId id="389" r:id="rId3"/>
    <p:sldId id="256" r:id="rId4"/>
    <p:sldId id="393" r:id="rId6"/>
    <p:sldId id="271" r:id="rId7"/>
    <p:sldId id="341" r:id="rId8"/>
    <p:sldId id="338" r:id="rId9"/>
    <p:sldId id="334" r:id="rId10"/>
    <p:sldId id="340" r:id="rId11"/>
    <p:sldId id="339" r:id="rId12"/>
    <p:sldId id="422" r:id="rId13"/>
    <p:sldId id="423" r:id="rId14"/>
    <p:sldId id="424" r:id="rId15"/>
    <p:sldId id="342" r:id="rId16"/>
    <p:sldId id="420" r:id="rId17"/>
    <p:sldId id="410" r:id="rId18"/>
    <p:sldId id="416" r:id="rId19"/>
    <p:sldId id="395" r:id="rId20"/>
    <p:sldId id="301" r:id="rId21"/>
    <p:sldId id="302" r:id="rId22"/>
    <p:sldId id="408" r:id="rId23"/>
    <p:sldId id="417" r:id="rId24"/>
    <p:sldId id="401" r:id="rId25"/>
    <p:sldId id="402" r:id="rId26"/>
    <p:sldId id="403" r:id="rId27"/>
    <p:sldId id="404" r:id="rId28"/>
    <p:sldId id="406" r:id="rId29"/>
    <p:sldId id="409" r:id="rId30"/>
    <p:sldId id="407" r:id="rId31"/>
    <p:sldId id="397" r:id="rId32"/>
    <p:sldId id="412" r:id="rId33"/>
    <p:sldId id="309" r:id="rId34"/>
    <p:sldId id="308" r:id="rId35"/>
    <p:sldId id="346" r:id="rId36"/>
    <p:sldId id="552" r:id="rId37"/>
    <p:sldId id="316" r:id="rId38"/>
    <p:sldId id="318" r:id="rId39"/>
    <p:sldId id="319" r:id="rId40"/>
    <p:sldId id="320" r:id="rId41"/>
    <p:sldId id="482" r:id="rId42"/>
    <p:sldId id="483" r:id="rId43"/>
    <p:sldId id="484" r:id="rId44"/>
    <p:sldId id="485" r:id="rId45"/>
    <p:sldId id="486" r:id="rId46"/>
    <p:sldId id="488" r:id="rId47"/>
    <p:sldId id="398" r:id="rId48"/>
    <p:sldId id="520" r:id="rId49"/>
    <p:sldId id="324" r:id="rId50"/>
    <p:sldId id="323" r:id="rId51"/>
    <p:sldId id="328" r:id="rId52"/>
    <p:sldId id="329" r:id="rId53"/>
    <p:sldId id="330" r:id="rId54"/>
    <p:sldId id="275" r:id="rId55"/>
    <p:sldId id="259" r:id="rId56"/>
    <p:sldId id="414" r:id="rId57"/>
    <p:sldId id="325" r:id="rId58"/>
    <p:sldId id="326" r:id="rId59"/>
    <p:sldId id="327" r:id="rId60"/>
    <p:sldId id="331" r:id="rId61"/>
    <p:sldId id="413" r:id="rId62"/>
    <p:sldId id="418" r:id="rId63"/>
    <p:sldId id="415" r:id="rId64"/>
    <p:sldId id="469" r:id="rId65"/>
    <p:sldId id="470" r:id="rId66"/>
    <p:sldId id="471" r:id="rId67"/>
    <p:sldId id="472" r:id="rId68"/>
    <p:sldId id="473" r:id="rId69"/>
    <p:sldId id="474" r:id="rId70"/>
    <p:sldId id="475" r:id="rId71"/>
    <p:sldId id="476" r:id="rId72"/>
    <p:sldId id="477" r:id="rId73"/>
    <p:sldId id="478" r:id="rId74"/>
    <p:sldId id="479" r:id="rId75"/>
    <p:sldId id="480" r:id="rId76"/>
    <p:sldId id="481" r:id="rId77"/>
    <p:sldId id="332" r:id="rId78"/>
    <p:sldId id="522" r:id="rId79"/>
    <p:sldId id="391" r:id="rId80"/>
  </p:sldIdLst>
  <p:sldSz cx="12190095" cy="6858000"/>
  <p:notesSz cx="6662420" cy="9872345"/>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1" clrIdx="0"/>
  <p:cmAuthor id="1" name="wangwx" initials="w" lastIdx="2" clrIdx="0"/>
  <p:cmAuthor id="2" name="Athene" initials="A" lastIdx="2" clrIdx="1"/>
  <p:cmAuthor id="3" name="Microsoft Office User" initials="M" lastIdx="1" clrIdx="2"/>
  <p:cmAuthor id="4" name="loongson" initials="l" lastIdx="19" clrIdx="3"/>
  <p:cmAuthor id="5" name=" " initials=" " lastIdx="1" clrIdx="3"/>
  <p:cmAuthor id="6" name="liulili" initials="l" lastIdx="13" clrIdx="5"/>
  <p:cmAuthor id="7" name="WenWen" initials="W" lastIdx="1" clrIdx="6"/>
  <p:cmAuthor id="8" name="姜伟光" initials="姜" lastIdx="1" clrIdx="0"/>
  <p:cmAuthor id="9" name="宋洁然" initials="宋" lastIdx="2" clrIdx="1"/>
  <p:cmAuthor id="10" name="ming qiu" initials="m" lastIdx="17" clrIdx="1"/>
  <p:cmAuthor id="11" name="沈霄雷" initials="沈" lastIdx="833089" clrIdx="0"/>
  <p:cmAuthor id="12" name="韩雨" initials="韩" lastIdx="0" clrIdx="0"/>
  <p:cmAuthor id="13" name="仇怿俊" initials="仇" lastIdx="0" clrIdx="0"/>
  <p:cmAuthor id="14" name="D" initials="D" lastIdx="1" clrIdx="13"/>
  <p:cmAuthor id="15" name="于晖_zy632mY3" initials="authorId_387757713" lastIdx="0" clrIdx="0"/>
  <p:cmAuthor id="16" name="YM.Leo" initials="Y" lastIdx="20" clrIdx="13"/>
  <p:cmAuthor id="17" name="李臻_jiai6ZRr" initials="authorId_192999303" lastIdx="0" clrIdx="0"/>
  <p:cmAuthor id="18" name="robin.song" initials="r [3]" lastIdx="1" clrIdx="17"/>
  <p:cmAuthor id="19" name="孙军_a2y2UrEv" initials="authorId_524475945" lastIdx="0" clrIdx="0"/>
  <p:cmAuthor id="20" name="KSOGZD21000128" initials="K" lastIdx="1" clrIdx="19"/>
  <p:cmAuthor id="21" name="Microsoft Office 用户" initials="Office [10]" lastIdx="1" clrIdx="20"/>
  <p:cmAuthor id="22" name="grace" initials="g" lastIdx="1" clrIdx="21"/>
  <p:cmAuthor id="23" name="张 令旗" initials="张" lastIdx="6" clrIdx="22"/>
  <p:cmAuthor id="24" name="Liu Ym" initials="LY" lastIdx="3" clrIdx="23"/>
  <p:cmAuthor id="25" name="李蕾00009994" initials="" lastIdx="6" clrIdx="17"/>
  <p:cmAuthor id="26" name="yangkun" initials="y" lastIdx="1" clrIdx="25"/>
  <p:cmAuthor id="27" name="10270945" initials="" lastIdx="2" clrIdx="25"/>
  <p:cmAuthor id="28" name="10073006" initials="" lastIdx="4" clrIdx="26"/>
  <p:cmAuthor id="29" name="Hou Yingfeng" initials="" lastIdx="10" clrIdx="23"/>
  <p:cmAuthor id="30" name="赵诚荣10027092" initials="" lastIdx="2" clrIdx="25"/>
  <p:cmAuthor id="31" name="10056791" initials="" lastIdx="1" clrIdx="29"/>
  <p:cmAuthor id="32" name="10033224" initials="" lastIdx="1" clrIdx="31"/>
  <p:cmAuthor id="33" name="10045953" initials="" lastIdx="1" clrIdx="32"/>
  <p:cmAuthor id="34" name="关全全10258021" initials="" lastIdx="1" clrIdx="36"/>
  <p:cmAuthor id="35" name="suny hong" initials="sh" lastIdx="1" clrIdx="34"/>
  <p:cmAuthor id="36" name="Charley" initials="C" lastIdx="1" clrIdx="0"/>
  <p:cmAuthor id="37" name="tangj" initials="t" lastIdx="1" clrIdx="36"/>
  <p:cmAuthor id="38" name="鞠瑞" initials="鞠" lastIdx="1" clrIdx="37"/>
  <p:cmAuthor id="39" name="Hi" initials="H" lastIdx="1" clrIdx="38"/>
  <p:cmAuthor id="40" name="P1063cindychen" initials="P" lastIdx="6" clrIdx="0"/>
  <p:cmAuthor id="41" name="Pueschner, Franziska {FA~Shanghai}" initials="P" lastIdx="5" clrIdx="0"/>
  <p:cmAuthor id="691587970" name="小延魔法师" initials="小" lastIdx="1126286" clrIdx="0"/>
  <p:cmAuthor id="42" name="jianbest" initials="j" lastIdx="1" clrIdx="41"/>
  <p:cmAuthor id="691587971" name="刘春杰10244342" initials="刘春杰10244342" lastIdx="1" clrIdx="41"/>
  <p:cmAuthor id="43" name="王静" initials="王" lastIdx="1" clrIdx="42"/>
  <p:cmAuthor id="44" name="P00035_jeremy" initials="P" lastIdx="1" clrIdx="0"/>
  <p:cmAuthor id="45" name="未知的使用者12" initials="未" lastIdx="1" clrIdx="0"/>
  <p:cmAuthor id="46" name="未知的使用者13" initials="未" lastIdx="5" clrIdx="1"/>
  <p:cmAuthor id="47" name="未知的使用者14" initials="未" lastIdx="0" clrIdx="1"/>
  <p:cmAuthor id="49" name="cui yun" initials="cy" lastIdx="1" clrIdx="22"/>
  <p:cmAuthor id="50" name="未知的使用者9" initials="未" lastIdx="1" clrIdx="0"/>
  <p:cmAuthor id="51" name="未知的使用者11" initials="未" lastIdx="0" clrIdx="1"/>
  <p:cmAuthor id="52" name="未知的使用者27" initials="未" lastIdx="1" clrIdx="0"/>
  <p:cmAuthor id="53" name="未知的使用者28" initials="未" lastIdx="3" clrIdx="1"/>
  <p:cmAuthor id="54" name="未知的使用者29" initials="未" lastIdx="1" clrIdx="1"/>
  <p:cmAuthor id="55" name="未知的使用者21" initials="未" lastIdx="1" clrIdx="0"/>
  <p:cmAuthor id="2000" name="梁亚栋" initials="authorId_233440905" lastIdx="776053" clrIdx="0"/>
  <p:cmAuthor id="56" name="未知的使用者22" initials="未" lastIdx="3" clrIdx="1"/>
  <p:cmAuthor id="57" name="未知的使用者23" initials="未" lastIdx="1" clrIdx="1"/>
  <p:cmAuthor id="58" name="未知的使用者24" initials="未" lastIdx="1" clrIdx="0"/>
  <p:cmAuthor id="59" name="未知的使用者25" initials="未" lastIdx="3" clrIdx="1"/>
  <p:cmAuthor id="60" name="未知的使用者26" initials="未" lastIdx="1" clrIdx="1"/>
  <p:cmAuthor id="61" name="August" initials="A" lastIdx="1" clrIdx="0"/>
  <p:cmAuthor id="62" name="qihua-DCMS" initials="q" lastIdx="0" clrIdx="0"/>
  <p:cmAuthor id="63" name="未知用户5" initials="未" lastIdx="1" clrIdx="0"/>
  <p:cmAuthor id="64" name="YUMINGNJ" initials="Y" lastIdx="3" clrIdx="0"/>
  <p:cmAuthor id="65" name="daphne" initials="d" lastIdx="1" clrIdx="0"/>
  <p:cmAuthor id="66" name="未知用户8" initials="未" lastIdx="1" clrIdx="0"/>
  <p:cmAuthor id="67" name="Unknown User7" initials="U" lastIdx="1" clrIdx="0"/>
  <p:cmAuthor id="68" name="Unknown User8" initials="U" lastIdx="1" clrIdx="0"/>
  <p:cmAuthor id="69" name="未知用户15" initials="未" lastIdx="1" clrIdx="0"/>
  <p:cmAuthor id="70" name="未知用户13" initials="未" lastIdx="1" clrIdx="0"/>
  <p:cmAuthor id="71" name="未知用户14" initials="未" lastIdx="1" clrIdx="0"/>
  <p:cmAuthor id="72" name="Jason Wang" initials="J" lastIdx="1" clrIdx="0"/>
  <p:cmAuthor id="73" name="未知的使用者3" initials="未" lastIdx="0" clrIdx="1"/>
  <p:cmAuthor id="74" name="qiantong" initials="q" lastIdx="3" clrIdx="1"/>
  <p:cmAuthor id="75" name="作者" initials="A" lastIdx="0" clrIdx="24"/>
  <p:cmAuthor id="76" name="wang wei" initials="ww" lastIdx="1" clrIdx="25"/>
  <p:cmAuthor id="77" name="张 波" initials="张" lastIdx="1" clrIdx="26"/>
  <p:cmAuthor id="78" name="JIANG DY" initials="JD" lastIdx="7" clrIdx="27"/>
  <p:cmAuthor id="79" name="YANG Yaqin" initials="YY" lastIdx="1" clrIdx="28"/>
  <p:cmAuthor id="80" name="钱福利" initials="Q" lastIdx="1" clrIdx="29"/>
  <p:cmAuthor id="81" name="未知的使用者53" initials="未" lastIdx="1" clrIdx="0"/>
  <p:cmAuthor id="82" name="未知的使用者46" initials="未" lastIdx="1" clrIdx="1"/>
  <p:cmAuthor id="83" name="yuanzh" initials="y" lastIdx="1" clrIdx="1"/>
  <p:cmAuthor id="84" name="曾红" initials="曾" lastIdx="0" clrIdx="0"/>
  <p:cmAuthor id="85" name="未知用户16" initials="未" lastIdx="1" clrIdx="0"/>
  <p:cmAuthor id="86" name="未知用户17" initials="未" lastIdx="0" clrIdx="1"/>
  <p:cmAuthor id="87" name="mm" initials="m" lastIdx="1" clrIdx="0"/>
  <p:cmAuthor id="88" name="liupeng" initials="l" lastIdx="1" clrIdx="1"/>
  <p:cmAuthor id="89" name="周宏達JerryChou" initials="周" lastIdx="6" clrIdx="2"/>
  <p:cmAuthor id="90" name="luxu" initials="l" lastIdx="22" clrIdx="0"/>
  <p:cmAuthor id="91" name="hl sun" initials="h" lastIdx="1" clrIdx="0"/>
  <p:cmAuthor id="92" name="未知的使用者50" initials="未" lastIdx="1" clrIdx="0"/>
  <p:cmAuthor id="93" name="未知的使用者48" initials="未" lastIdx="1" clrIdx="0"/>
  <p:cmAuthor id="94" name="未知的使用者49" initials="未" lastIdx="1" clrIdx="0"/>
  <p:cmAuthor id="95" name="未知用户22" initials="未" lastIdx="1" clrIdx="0"/>
  <p:cmAuthor id="96" name="未知用户24" initials="未" lastIdx="1" clrIdx="0"/>
  <p:cmAuthor id="97" name="Mary Feil-Jacobs" initials="M" lastIdx="43" clrIdx="1"/>
  <p:cmAuthor id="511165158" name="Eva bling bling" initials="E" lastIdx="1" clrIdx="31"/>
  <p:cmAuthor id="98" name="朱晓瑜" initials="朱" lastIdx="54" clrIdx="0"/>
  <p:cmAuthor id="100" name="djj" initials="d" lastIdx="2" clrIdx="0"/>
  <p:cmAuthor id="101" name="張秀娟" initials="張" lastIdx="1" clrIdx="2"/>
  <p:cmAuthor id="102" name="lianghb" initials="l" lastIdx="19" clrIdx="0"/>
  <p:cmAuthor id="103" name="Shawna Strickland" initials="S" lastIdx="2" clrIdx="0"/>
  <p:cmAuthor id="104" name="linyd" initials="l" lastIdx="3" clrIdx="1"/>
  <p:cmAuthor id="105" name="Ashley Eberenz" initials="A" lastIdx="7" clrIdx="1"/>
  <p:cmAuthor id="106" name="muzi wei" initials="m" lastIdx="1" clrIdx="0"/>
  <p:cmAuthor id="107" name="周元元" initials="" lastIdx="5" clrIdx="0"/>
  <p:cmAuthor id="108" name="未知用户56" initials="未" lastIdx="1" clrIdx="0"/>
  <p:cmAuthor id="109" name="未知用户55" initials="未" lastIdx="1" clrIdx="0"/>
  <p:cmAuthor id="110" name="未知用户51" initials="未" lastIdx="1" clrIdx="1"/>
  <p:cmAuthor id="111" name="LeeElva" initials="L" lastIdx="1" clrIdx="0"/>
  <p:cmAuthor id="21433622" name="悠真" initials="悠" lastIdx="4" clrIdx="26"/>
  <p:cmAuthor id="112" name="唐可欣" initials="唐" lastIdx="1" clrIdx="0"/>
  <p:cmAuthor id="113" name="未知的使用者36" initials="未" lastIdx="10" clrIdx="0"/>
  <p:cmAuthor id="114" name="未知的使用者35" initials="未" lastIdx="1" clrIdx="0"/>
  <p:cmAuthor id="115" name="未知的使用者33" initials="未" lastIdx="1" clrIdx="0"/>
  <p:cmAuthor id="116" name="王鹏凯" initials="王" lastIdx="1" clrIdx="0"/>
  <p:cmAuthor id="117" name="未知的使用者34" initials="未" lastIdx="1" clrIdx="0"/>
  <p:cmAuthor id="119" name="未知用户66" initials="" lastIdx="1" clrIdx="0"/>
  <p:cmAuthor id="121" name="未知用户12" initials="未" lastIdx="8" clrIdx="0"/>
  <p:cmAuthor id="122" name="未知的使用者37" initials="未" lastIdx="8" clrIdx="0"/>
  <p:cmAuthor id="123" name="Harry xu" initials="H" lastIdx="1" clrIdx="0"/>
  <p:cmAuthor id="124" name="未知的使用者59" initials="未" lastIdx="8" clrIdx="0"/>
  <p:cmAuthor id="125" name="未知的使用者60" initials="未" lastIdx="1" clrIdx="0"/>
  <p:cmAuthor id="126" name="未知的使用者54" initials="未" lastIdx="1" clrIdx="0"/>
  <p:cmAuthor id="127" name="未知用户47" initials="未" lastIdx="6" clrIdx="0"/>
  <p:cmAuthor id="128" name="未知用户53" initials="未" lastIdx="10" clrIdx="0"/>
  <p:cmAuthor id="129" name="未知用户48" initials="未" lastIdx="1" clrIdx="0"/>
  <p:cmAuthor id="130" name="未知用户49" initials="未" lastIdx="1" clrIdx="0"/>
  <p:cmAuthor id="131" name="未知的使用者56" initials="未" lastIdx="6" clrIdx="0"/>
  <p:cmAuthor id="132" name="未知的使用者61" initials="未" lastIdx="1" clrIdx="0"/>
  <p:cmAuthor id="133" name="未知的使用者62" initials="未" lastIdx="1" clrIdx="1"/>
  <p:cmAuthor id="134" name="未知的使用者58" initials="未" lastIdx="1" clrIdx="0"/>
  <p:cmAuthor id="135" name="未知用户50" initials="未" lastIdx="1" clrIdx="0"/>
  <p:cmAuthor id="136" name="未知用户52" initials="未" lastIdx="1" clrIdx="0"/>
  <p:cmAuthor id="137" name="未知的使用者120" initials="未" lastIdx="1" clrIdx="0"/>
  <p:cmAuthor id="138" name="未知的使用者109" initials="未" lastIdx="5" clrIdx="1"/>
  <p:cmAuthor id="139" name="未知的使用者110" initials="未" lastIdx="1" clrIdx="1"/>
  <p:cmAuthor id="140" name="未知的使用者111" initials="未" lastIdx="1" clrIdx="0"/>
  <p:cmAuthor id="141" name="未知的使用者121" initials="未" lastIdx="1" clrIdx="0"/>
  <p:cmAuthor id="142" name="thomas" initials="t" lastIdx="1" clrIdx="49"/>
  <p:cmAuthor id="143" name="未知的使用者113" initials="未" lastIdx="1" clrIdx="0"/>
  <p:cmAuthor id="144" name="未知的使用者122" initials="未" lastIdx="1" clrIdx="0"/>
  <p:cmAuthor id="145" name="未知的使用者123" initials="未" lastIdx="8" clrIdx="0"/>
  <p:cmAuthor id="146" name="未知的使用者124" initials="未" lastIdx="8" clrIdx="0"/>
  <p:cmAuthor id="1411827" name="黄晓平" initials="黄" lastIdx="0" clrIdx="0"/>
  <p:cmAuthor id="147" name="未知的使用者125" initials="未" lastIdx="1" clrIdx="0"/>
  <p:cmAuthor id="1411828" name="Xmj" initials="X" lastIdx="3" clrIdx="85"/>
  <p:cmAuthor id="148" name="未知的使用者118" initials="未" lastIdx="1" clrIdx="0"/>
  <p:cmAuthor id="1411829" name="张静_Anua7Nne" initials="authorId_935319063" lastIdx="0" clrIdx="0"/>
  <p:cmAuthor id="149" name="未知的使用者126" initials="未" lastIdx="1" clrIdx="0"/>
  <p:cmAuthor id="1411830" name="晶 王" initials="晶王" lastIdx="1" clrIdx="46"/>
  <p:cmAuthor id="150" name="未知用户57" initials="未" lastIdx="1" clrIdx="0"/>
  <p:cmAuthor id="151" name="未知用户58" initials="未" lastIdx="5" clrIdx="1"/>
  <p:cmAuthor id="152" name="未知用户59" initials="未" lastIdx="0" clrIdx="1"/>
  <p:cmAuthor id="153" name="yuexuejun" initials="y" lastIdx="3" clrIdx="0"/>
  <p:cmAuthor id="154" name="未知的使用者74" initials="未" lastIdx="8" clrIdx="0"/>
  <p:cmAuthor id="155" name="未知的使用者76" initials="未" lastIdx="1" clrIdx="0"/>
  <p:cmAuthor id="156" name="未知的使用者70" initials="未" lastIdx="1" clrIdx="0"/>
  <p:cmAuthor id="157" name="未知的使用者73" initials="未" lastIdx="1" clrIdx="0"/>
  <p:cmAuthor id="158" name="未知的使用者67" initials="未" lastIdx="8" clrIdx="0"/>
  <p:cmAuthor id="159" name="未知的使用者68" initials="未" lastIdx="1" clrIdx="0"/>
  <p:cmAuthor id="160" name="未知的使用者69" initials="未" lastIdx="1" clrIdx="0"/>
  <p:cmAuthor id="161" name="未知的使用者43" initials="未" lastIdx="1" clrIdx="0"/>
  <p:cmAuthor id="162" name="未知的使用者40" initials="未" lastIdx="1" clrIdx="0"/>
  <p:cmAuthor id="163" name="未知的使用者55" initials="未" lastIdx="1" clrIdx="0"/>
  <p:cmAuthor id="164" name="未知的使用者52" initials="未" lastIdx="1" clrIdx="1"/>
  <p:cmAuthor id="165" name="未知的使用者72" initials="未" lastIdx="1" clrIdx="0"/>
  <p:cmAuthor id="166" name="未知的使用者71" initials="未" lastIdx="1" clrIdx="1"/>
  <p:cmAuthor id="167" name="不明使用者20" initials="不" lastIdx="1" clrIdx="0"/>
  <p:cmAuthor id="168" name="不明使用者21" initials="不" lastIdx="1" clrIdx="0"/>
  <p:cmAuthor id="169" name="不明使用者18" initials="不" lastIdx="0" clrIdx="1"/>
  <p:cmAuthor id="170" name="不明使用者19" initials="不" lastIdx="1" clrIdx="0"/>
  <p:cmAuthor id="171" name="未知用户2" initials="未" lastIdx="1" clrIdx="0"/>
  <p:cmAuthor id="172" name="未知用户93" initials="未" lastIdx="1" clrIdx="0"/>
  <p:cmAuthor id="173" name="未知用户90" initials="未" lastIdx="5" clrIdx="1"/>
  <p:cmAuthor id="174" name="未知用户91" initials="未" lastIdx="0" clrIdx="1"/>
  <p:cmAuthor id="175" name="未知用户92" initials="未" lastIdx="1" clrIdx="0"/>
  <p:cmAuthor id="176" name="未知用户74" initials="未" lastIdx="5" clrIdx="1"/>
  <p:cmAuthor id="177" name="未知用户75" initials="未" lastIdx="8" clrIdx="0"/>
  <p:cmAuthor id="178" name="未知用户76" initials="未" lastIdx="1" clrIdx="0"/>
  <p:cmAuthor id="179" name="未知用户77" initials="未" lastIdx="8" clrIdx="0"/>
  <p:cmAuthor id="180" name="未知用户78" initials="未" lastIdx="8" clrIdx="0"/>
  <p:cmAuthor id="181" name="未知用户79" initials="未" lastIdx="1" clrIdx="0"/>
  <p:cmAuthor id="182" name="未知用户80" initials="未" lastIdx="1" clrIdx="0"/>
  <p:cmAuthor id="183" name="未知用户81" initials="未" lastIdx="1" clrIdx="0"/>
  <p:cmAuthor id="184" name="未知的使用者95" initials="未" lastIdx="1" clrIdx="0"/>
  <p:cmAuthor id="185" name="未知的使用者92" initials="未" lastIdx="1" clrIdx="0"/>
  <p:cmAuthor id="186" name="未知的使用者93" initials="未" lastIdx="1" clrIdx="1"/>
  <p:cmAuthor id="187" name="未知的使用者94" initials="未" lastIdx="1" clrIdx="2"/>
  <p:cmAuthor id="188" name="Christina" initials="C" lastIdx="0" clrIdx="0"/>
  <p:cmAuthor id="189" name="jet" initials="j" lastIdx="1" clrIdx="0"/>
  <p:cmAuthor id="190" name="未知用户61" initials="未" lastIdx="8" clrIdx="0"/>
  <p:cmAuthor id="191" name="未知用户60" initials="未" lastIdx="1" clrIdx="0"/>
  <p:cmAuthor id="192" name="Unknown User24" initials="U" lastIdx="1" clrIdx="0"/>
  <p:cmAuthor id="193" name="Unknown User25" initials="U" lastIdx="1" clrIdx="0"/>
  <p:cmAuthor id="194" name="Unknown User26" initials="U" lastIdx="1" clrIdx="1"/>
  <p:cmAuthor id="195" name="Unknown User27" initials="U" lastIdx="1" clrIdx="0"/>
  <p:cmAuthor id="196" name="Unknown User28" initials="U" lastIdx="3" clrIdx="1"/>
  <p:cmAuthor id="197" name="Unknown User11" initials="U" lastIdx="0" clrIdx="1"/>
  <p:cmAuthor id="198" name="Unknown User22" initials="U" lastIdx="1" clrIdx="0"/>
  <p:cmAuthor id="199" name="Unknown User23" initials="U" lastIdx="1" clrIdx="0"/>
  <p:cmAuthor id="200" name="未知的使用者112" initials="未" lastIdx="1" clrIdx="1"/>
  <p:cmAuthor id="201" name="未知的使用者107" initials="未" lastIdx="1" clrIdx="0"/>
  <p:cmAuthor id="202" name="未知的使用者108" initials="未" lastIdx="1" clrIdx="1"/>
  <p:cmAuthor id="203" name="未知的使用者98" initials="未" lastIdx="1" clrIdx="2"/>
  <p:cmAuthor id="204" name="未知的使用者145" initials="未" lastIdx="1" clrIdx="0"/>
  <p:cmAuthor id="205" name="未知的使用者146" initials="未" lastIdx="1" clrIdx="0"/>
  <p:cmAuthor id="206" name="未知的使用者147" initials="未" lastIdx="1" clrIdx="1"/>
  <p:cmAuthor id="207" name="未知的使用者144" initials="未" lastIdx="1" clrIdx="2"/>
  <p:cmAuthor id="208" name="未知的使用者133" initials="未" lastIdx="1" clrIdx="0"/>
  <p:cmAuthor id="209" name="未知的使用者134" initials="未" lastIdx="1" clrIdx="0"/>
  <p:cmAuthor id="210" name="未知的使用者135" initials="未" lastIdx="2" clrIdx="0"/>
  <p:cmAuthor id="211" name="未知的使用者136" initials="未" lastIdx="1" clrIdx="0"/>
  <p:cmAuthor id="212" name="未知的使用者137" initials="未" lastIdx="5" clrIdx="0"/>
  <p:cmAuthor id="47245819" name="群智集" initials="群" lastIdx="0" clrIdx="0"/>
  <p:cmAuthor id="213" name="未知的使用者138" initials="未" lastIdx="10" clrIdx="0"/>
  <p:cmAuthor id="47245820" name="18937034561@189.cn" initials="1" lastIdx="1" clrIdx="16"/>
  <p:cmAuthor id="214" name="未知的使用者139" initials="未" lastIdx="1" clrIdx="0"/>
  <p:cmAuthor id="47245821" name="宋玉坤" initials="W用" lastIdx="1" clrIdx="24"/>
  <p:cmAuthor id="215" name="未知的使用者140" initials="未" lastIdx="1" clrIdx="1"/>
  <p:cmAuthor id="47245822" name="xw" initials="x" lastIdx="4" clrIdx="42"/>
  <p:cmAuthor id="216" name="未知的使用者197" initials="未" lastIdx="8" clrIdx="0"/>
  <p:cmAuthor id="47245823" name="tangjp@mvtech.com.cn" initials="t" lastIdx="14" clrIdx="37"/>
  <p:cmAuthor id="217" name="未知的使用者162" initials="未" lastIdx="8" clrIdx="0"/>
  <p:cmAuthor id="218" name="未知的使用者163" initials="未" lastIdx="1" clrIdx="0"/>
  <p:cmAuthor id="219" name="未知的使用者170" initials="未" lastIdx="0" clrIdx="1"/>
  <p:cmAuthor id="220" name="未知的使用者165" initials="未" lastIdx="1" clrIdx="0"/>
  <p:cmAuthor id="221" name="未知的使用者158" initials="未" lastIdx="1" clrIdx="0"/>
  <p:cmAuthor id="222" name="未知的使用者148" initials="未" lastIdx="5" clrIdx="0"/>
  <p:cmAuthor id="223" name="未知的使用者149" initials="未" lastIdx="10" clrIdx="0"/>
  <p:cmAuthor id="224" name="未知的使用者150" initials="未" lastIdx="1" clrIdx="0"/>
  <p:cmAuthor id="225" name="未知的使用者166" initials="未" lastIdx="8" clrIdx="0"/>
  <p:cmAuthor id="226" name="未知的使用者167" initials="未" lastIdx="0" clrIdx="1"/>
  <p:cmAuthor id="227" name="未知的使用者159" initials="未" lastIdx="1" clrIdx="1"/>
  <p:cmAuthor id="228" name="未知的使用者160" initials="未" lastIdx="1" clrIdx="0"/>
  <p:cmAuthor id="229" name="未知的使用者168" initials="未" lastIdx="1" clrIdx="0"/>
  <p:cmAuthor id="230" name="未知的使用者169" initials="未" lastIdx="1" clrIdx="0"/>
  <p:cmAuthor id="231" name="未知的使用者117" initials="未" lastIdx="1" clrIdx="0"/>
  <p:cmAuthor id="232" name="未知的使用者115" initials="未" lastIdx="1" clrIdx="1"/>
  <p:cmAuthor id="233" name="未知的使用者119" initials="未" lastIdx="1" clrIdx="2"/>
  <p:cmAuthor id="234" name="clinchen" initials="c" lastIdx="0" clrIdx="1"/>
  <p:cmAuthor id="235" name="未知用户6" initials="未" lastIdx="1" clrIdx="0"/>
  <p:cmAuthor id="236" name="未知用户7" initials="未" lastIdx="1" clrIdx="0"/>
  <p:cmAuthor id="237" name="未知的使用者198" initials="未" lastIdx="1" clrIdx="0"/>
  <p:cmAuthor id="238" name="未知的使用者205" initials="未" lastIdx="0" clrIdx="1"/>
  <p:cmAuthor id="239" name="未知的使用者200" initials="未" lastIdx="1" clrIdx="0"/>
  <p:cmAuthor id="240" name="未知的使用者181" initials="未" lastIdx="1" clrIdx="0"/>
  <p:cmAuthor id="241" name="未知的使用者194" initials="未" lastIdx="1" clrIdx="0"/>
  <p:cmAuthor id="242" name="未知的使用者182" initials="未" lastIdx="1" clrIdx="0"/>
  <p:cmAuthor id="243" name="未知的使用者183" initials="未" lastIdx="2" clrIdx="0"/>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4" name="未知用户39" initials="未" lastIdx="1" clrIdx="0"/>
  <p:cmAuthor id="265" name="Admin" initials="A" lastIdx="1" clrIdx="2"/>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0" name="未知用户35" initials="未" lastIdx="1" clrIdx="0"/>
  <p:cmAuthor id="271" name="未知用户36" initials="未" lastIdx="1" clrIdx="0"/>
  <p:cmAuthor id="272" name="未知用户154" initials="" lastIdx="1" clrIdx="0"/>
  <p:cmAuthor id="273" name="未知用户23" initials="未"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33" initials="未" lastIdx="1" clrIdx="0"/>
  <p:cmAuthor id="279" name="未知用户34" initials="未" lastIdx="2" clrIdx="0"/>
  <p:cmAuthor id="280" name="huang gerrard" initials="h" lastIdx="2" clrIdx="0"/>
  <p:cmAuthor id="281" name="未知用户98" initials="未" lastIdx="8" clrIdx="0"/>
  <p:cmAuthor id="282" name="未知用户100" initials="未" lastIdx="1" clrIdx="0"/>
  <p:cmAuthor id="283" name="未知用户101" initials="未" lastIdx="1" clrIdx="0"/>
  <p:cmAuthor id="284" name="未知用户72" initials="" lastIdx="1" clrIdx="0"/>
  <p:cmAuthor id="285" name="未知用户73" initials="" lastIdx="2" clrIdx="0"/>
  <p:cmAuthor id="289" name="未知用户42" initials="未" lastIdx="1" clrIdx="0"/>
  <p:cmAuthor id="291" name="未知用户96" initials="" lastIdx="1" clrIdx="0"/>
  <p:cmAuthor id="565656472" name="Lijx" initials="L" lastIdx="6" clrIdx="4"/>
  <p:cmAuthor id="293" name="未知用户97" initials="" lastIdx="2" clrIdx="0"/>
  <p:cmAuthor id="294" name="未知用户40" initials="" lastIdx="5" clrIdx="1"/>
  <p:cmAuthor id="295" name="未知用户43" initials="" lastIdx="1" clrIdx="0"/>
  <p:cmAuthor id="298" name="未知用户26" initials="" lastIdx="1" clrIdx="0"/>
  <p:cmAuthor id="309" name="mapengcheng" initials="m" lastIdx="1" clrIdx="308"/>
  <p:cmAuthor id="311" name="郎蕊" initials="郎" lastIdx="4" clrIdx="310"/>
  <p:cmAuthor id="312" name="Chun Chung YEH" initials="C" lastIdx="2" clrIdx="0"/>
  <p:cmAuthor id="314" name="Vicky" initials="V" lastIdx="2" clrIdx="1"/>
  <p:cmAuthor id="315" name="刘云轩" initials="刘" lastIdx="2" clrIdx="0"/>
  <p:cmAuthor id="316" name="sharon" initials="s" lastIdx="5" clrIdx="84"/>
  <p:cmAuthor id="317" name="未知的使用者81" initials="未" lastIdx="1" clrIdx="0"/>
  <p:cmAuthor id="318" name="仝德志" initials="仝" lastIdx="1" clrIdx="0"/>
  <p:cmAuthor id="1554701838" name="宗哲" initials="宗" lastIdx="1" clrIdx="337"/>
  <p:cmAuthor id="321" name="未知用户111" initials="未" lastIdx="1" clrIdx="1"/>
  <p:cmAuthor id="322" name="alpha" initials="a" lastIdx="1" clrIdx="0"/>
  <p:cmAuthor id="326" name="未知的使用者75" initials="未" lastIdx="1" clrIdx="0"/>
  <p:cmAuthor id="327" name="未知的使用者77" initials="未" lastIdx="1" clrIdx="0"/>
  <p:cmAuthor id="328" name="未知的使用者78" initials="未" lastIdx="5" clrIdx="1"/>
  <p:cmAuthor id="329" name="未知的使用者79" initials="未" lastIdx="0" clrIdx="1"/>
  <p:cmAuthor id="330" name="未知的使用者80" initials="未" lastIdx="0" clrIdx="0"/>
  <p:cmAuthor id="331" name="未知的使用者82" initials="未" lastIdx="1" clrIdx="0"/>
  <p:cmAuthor id="332" name="未知的使用者83" initials="未" lastIdx="1" clrIdx="0"/>
  <p:cmAuthor id="333" name="未知的使用者84" initials="未" lastIdx="1" clrIdx="1"/>
  <p:cmAuthor id="1483810881" name="WPS_1679281038" initials="W" lastIdx="1" clrIdx="2"/>
  <p:cmAuthor id="334" name="未知的使用者85" initials="未" lastIdx="1" clrIdx="0"/>
  <p:cmAuthor id="335" name="未知的使用者87" initials="未" lastIdx="1" clrIdx="0"/>
  <p:cmAuthor id="336" name="未知的使用者90" initials="未" lastIdx="8" clrIdx="0"/>
  <p:cmAuthor id="337" name="未知的使用者91" initials="未" lastIdx="1" clrIdx="0"/>
  <p:cmAuthor id="338" name="CHRISYU" initials="C" lastIdx="1" clrIdx="0"/>
  <p:cmAuthor id="339" name="liucunri" initials="l" lastIdx="1" clrIdx="0"/>
  <p:cmAuthor id="340" name="Unknown User48" initials="U" lastIdx="8" clrIdx="0"/>
  <p:cmAuthor id="341" name="Unknown User52" initials="U" lastIdx="1" clrIdx="0"/>
  <p:cmAuthor id="342" name="Unknown User50" initials="U" lastIdx="1" clrIdx="0"/>
  <p:cmAuthor id="346" name="PC" initials="P" lastIdx="4" clrIdx="0"/>
  <p:cmAuthor id="352" name="未知的使用者161" initials="未" lastIdx="1" clrIdx="0"/>
  <p:cmAuthor id="355" name="未知的使用者152" initials="未" lastIdx="1" clrIdx="0"/>
  <p:cmAuthor id="360" name="未知的使用者176" initials="未" lastIdx="1" clrIdx="0"/>
  <p:cmAuthor id="362" name="未知的使用者178" initials="未" lastIdx="1" clrIdx="0"/>
  <p:cmAuthor id="363" name="未知的使用者179" initials="未" lastIdx="1" clrIdx="0"/>
  <p:cmAuthor id="364" name="未知的使用者180" initials="未" lastIdx="2" clrIdx="0"/>
  <p:cmAuthor id="475196944" name="姚琳" initials="姚" lastIdx="1133934" clrIdx="0"/>
  <p:cmAuthor id="475196945" name="chen" initials="c"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FFCC"/>
    <a:srgbClr val="FF0000"/>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5" d="100"/>
          <a:sy n="65" d="100"/>
        </p:scale>
        <p:origin x="-918" y="-114"/>
      </p:cViewPr>
      <p:guideLst>
        <p:guide orient="horz" pos="2196"/>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5" Type="http://schemas.openxmlformats.org/officeDocument/2006/relationships/commentAuthors" Target="commentAuthors.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handoutMaster" Target="handoutMasters/handoutMaster1.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9525"/>
            <a:ext cx="2887663" cy="461963"/>
          </a:xfrm>
          <a:prstGeom prst="rect">
            <a:avLst/>
          </a:prstGeom>
          <a:noFill/>
          <a:ln w="9525">
            <a:noFill/>
            <a:miter lim="800000"/>
          </a:ln>
          <a:effectLst/>
        </p:spPr>
        <p:txBody>
          <a:bodyPr vert="horz" wrap="square" lIns="19050" tIns="0" rIns="19050" bIns="0" numCol="1" anchor="t" anchorCtr="0" compatLnSpc="1"/>
          <a:lstStyle>
            <a:lvl1pPr eaLnBrk="0" hangingPunct="0">
              <a:defRPr kumimoji="1" sz="1000" i="1">
                <a:latin typeface="Times New Roman"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000" b="0" i="1"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3075" name="Rectangle 3"/>
          <p:cNvSpPr>
            <a:spLocks noGrp="1" noChangeArrowheads="1"/>
          </p:cNvSpPr>
          <p:nvPr>
            <p:ph type="dt" sz="quarter" idx="1"/>
          </p:nvPr>
        </p:nvSpPr>
        <p:spPr bwMode="auto">
          <a:xfrm>
            <a:off x="3775075" y="9525"/>
            <a:ext cx="2887663" cy="461963"/>
          </a:xfrm>
          <a:prstGeom prst="rect">
            <a:avLst/>
          </a:prstGeom>
          <a:noFill/>
          <a:ln w="9525">
            <a:noFill/>
            <a:miter lim="800000"/>
          </a:ln>
          <a:effectLst/>
        </p:spPr>
        <p:txBody>
          <a:bodyPr vert="horz" wrap="square" lIns="19050" tIns="0" rIns="19050" bIns="0" numCol="1" anchor="t" anchorCtr="0" compatLnSpc="1"/>
          <a:lstStyle>
            <a:lvl1pPr algn="r" eaLnBrk="0" hangingPunct="0">
              <a:defRPr kumimoji="1" sz="1000" i="1">
                <a:latin typeface="Times New Roman"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1" lang="en-US" altLang="zh-CN" sz="1000" b="0" i="1"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3076" name="Rectangle 4"/>
          <p:cNvSpPr>
            <a:spLocks noGrp="1" noChangeArrowheads="1"/>
          </p:cNvSpPr>
          <p:nvPr>
            <p:ph type="ftr" sz="quarter" idx="2"/>
          </p:nvPr>
        </p:nvSpPr>
        <p:spPr bwMode="auto">
          <a:xfrm>
            <a:off x="0" y="9399588"/>
            <a:ext cx="2887663" cy="461963"/>
          </a:xfrm>
          <a:prstGeom prst="rect">
            <a:avLst/>
          </a:prstGeom>
          <a:noFill/>
          <a:ln w="9525">
            <a:noFill/>
            <a:miter lim="800000"/>
          </a:ln>
          <a:effectLst/>
        </p:spPr>
        <p:txBody>
          <a:bodyPr vert="horz" wrap="square" lIns="19050" tIns="0" rIns="19050" bIns="0" numCol="1" anchor="b" anchorCtr="0" compatLnSpc="1"/>
          <a:lstStyle>
            <a:lvl1pPr eaLnBrk="0" hangingPunct="0">
              <a:defRPr kumimoji="1" sz="1000" i="1">
                <a:latin typeface="Times New Roman"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000" b="0" i="1"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3077" name="Rectangle 5"/>
          <p:cNvSpPr>
            <a:spLocks noGrp="1" noChangeArrowheads="1"/>
          </p:cNvSpPr>
          <p:nvPr>
            <p:ph type="sldNum" sz="quarter" idx="3"/>
          </p:nvPr>
        </p:nvSpPr>
        <p:spPr bwMode="auto">
          <a:xfrm>
            <a:off x="3775075" y="9399588"/>
            <a:ext cx="2887663" cy="461963"/>
          </a:xfrm>
          <a:prstGeom prst="rect">
            <a:avLst/>
          </a:prstGeom>
          <a:noFill/>
          <a:ln w="9525">
            <a:noFill/>
            <a:miter lim="800000"/>
          </a:ln>
          <a:effectLst/>
        </p:spPr>
        <p:txBody>
          <a:bodyPr vert="horz" wrap="square" lIns="19050" tIns="0" rIns="19050" bIns="0" numCol="1" anchor="b" anchorCtr="0" compatLnSpc="1"/>
          <a:lstStyle/>
          <a:p>
            <a:pPr lvl="0" algn="r">
              <a:buNone/>
            </a:pPr>
            <a:fld id="{9A0DB2DC-4C9A-4742-B13C-FB6460FD3503}" type="slidenum">
              <a:rPr lang="en-US" altLang="zh-CN" sz="1000" i="1" dirty="0">
                <a:latin typeface="Times New Roman" pitchFamily="18" charset="0"/>
              </a:rPr>
            </a:fld>
            <a:endParaRPr lang="en-US" altLang="zh-CN" sz="1000" i="1" dirty="0">
              <a:latin typeface="Times New Roman"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9525"/>
            <a:ext cx="2887663" cy="461963"/>
          </a:xfrm>
          <a:prstGeom prst="rect">
            <a:avLst/>
          </a:prstGeom>
          <a:noFill/>
          <a:ln w="9525">
            <a:noFill/>
            <a:miter lim="800000"/>
          </a:ln>
          <a:effectLst/>
        </p:spPr>
        <p:txBody>
          <a:bodyPr vert="horz" wrap="square" lIns="19050" tIns="0" rIns="19050" bIns="0" numCol="1" anchor="t" anchorCtr="0" compatLnSpc="1"/>
          <a:lstStyle>
            <a:lvl1pPr eaLnBrk="0" hangingPunct="0">
              <a:defRPr kumimoji="1" sz="1000" i="1">
                <a:latin typeface="Times New Roman"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000" b="0" i="1"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2051" name="Rectangle 3"/>
          <p:cNvSpPr>
            <a:spLocks noGrp="1" noChangeArrowheads="1"/>
          </p:cNvSpPr>
          <p:nvPr>
            <p:ph type="dt" idx="1"/>
          </p:nvPr>
        </p:nvSpPr>
        <p:spPr bwMode="auto">
          <a:xfrm>
            <a:off x="3775075" y="9525"/>
            <a:ext cx="2887663" cy="461963"/>
          </a:xfrm>
          <a:prstGeom prst="rect">
            <a:avLst/>
          </a:prstGeom>
          <a:noFill/>
          <a:ln w="9525">
            <a:noFill/>
            <a:miter lim="800000"/>
          </a:ln>
          <a:effectLst/>
        </p:spPr>
        <p:txBody>
          <a:bodyPr vert="horz" wrap="square" lIns="19050" tIns="0" rIns="19050" bIns="0" numCol="1" anchor="t" anchorCtr="0" compatLnSpc="1"/>
          <a:lstStyle>
            <a:lvl1pPr algn="r" eaLnBrk="0" hangingPunct="0">
              <a:defRPr kumimoji="1" sz="1000" i="1">
                <a:latin typeface="Times New Roman" pitchFamily="18"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1" lang="en-US" altLang="zh-CN" sz="1000" b="0" i="1"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2052" name="Rectangle 4"/>
          <p:cNvSpPr>
            <a:spLocks noGrp="1" noChangeArrowheads="1"/>
          </p:cNvSpPr>
          <p:nvPr>
            <p:ph type="ftr" sz="quarter" idx="4"/>
          </p:nvPr>
        </p:nvSpPr>
        <p:spPr bwMode="auto">
          <a:xfrm>
            <a:off x="0" y="9399588"/>
            <a:ext cx="2887663" cy="461963"/>
          </a:xfrm>
          <a:prstGeom prst="rect">
            <a:avLst/>
          </a:prstGeom>
          <a:noFill/>
          <a:ln w="9525">
            <a:noFill/>
            <a:miter lim="800000"/>
          </a:ln>
          <a:effectLst/>
        </p:spPr>
        <p:txBody>
          <a:bodyPr vert="horz" wrap="square" lIns="19050" tIns="0" rIns="19050" bIns="0" numCol="1" anchor="b" anchorCtr="0" compatLnSpc="1"/>
          <a:lstStyle>
            <a:lvl1pPr eaLnBrk="0" hangingPunct="0">
              <a:defRPr kumimoji="1" sz="1000" i="1">
                <a:latin typeface="Times New Roman" pitchFamily="18"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000" b="0" i="1"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2053" name="Rectangle 5"/>
          <p:cNvSpPr>
            <a:spLocks noGrp="1" noChangeArrowheads="1"/>
          </p:cNvSpPr>
          <p:nvPr>
            <p:ph type="sldNum" sz="quarter" idx="5"/>
          </p:nvPr>
        </p:nvSpPr>
        <p:spPr bwMode="auto">
          <a:xfrm>
            <a:off x="3775075" y="9399588"/>
            <a:ext cx="2887663" cy="461963"/>
          </a:xfrm>
          <a:prstGeom prst="rect">
            <a:avLst/>
          </a:prstGeom>
          <a:noFill/>
          <a:ln w="9525">
            <a:noFill/>
            <a:miter lim="800000"/>
          </a:ln>
          <a:effectLst/>
        </p:spPr>
        <p:txBody>
          <a:bodyPr vert="horz" wrap="square" lIns="19050" tIns="0" rIns="19050" bIns="0" numCol="1" anchor="b" anchorCtr="0" compatLnSpc="1"/>
          <a:lstStyle/>
          <a:p>
            <a:pPr lvl="0" algn="r">
              <a:buNone/>
            </a:pPr>
            <a:fld id="{9A0DB2DC-4C9A-4742-B13C-FB6460FD3503}" type="slidenum">
              <a:rPr lang="en-US" altLang="zh-CN" sz="1000" i="1" dirty="0">
                <a:latin typeface="Times New Roman" pitchFamily="18" charset="0"/>
              </a:rPr>
            </a:fld>
            <a:endParaRPr lang="en-US" altLang="zh-CN" sz="1000" i="1" dirty="0">
              <a:latin typeface="Times New Roman" pitchFamily="18" charset="0"/>
            </a:endParaRPr>
          </a:p>
        </p:txBody>
      </p:sp>
      <p:sp>
        <p:nvSpPr>
          <p:cNvPr id="2054" name="Rectangle 6"/>
          <p:cNvSpPr>
            <a:spLocks noGrp="1" noChangeArrowheads="1"/>
          </p:cNvSpPr>
          <p:nvPr>
            <p:ph type="body" sz="quarter" idx="3"/>
          </p:nvPr>
        </p:nvSpPr>
        <p:spPr bwMode="auto">
          <a:xfrm>
            <a:off x="887413" y="4692650"/>
            <a:ext cx="4887913" cy="4156075"/>
          </a:xfrm>
          <a:prstGeom prst="rect">
            <a:avLst/>
          </a:prstGeom>
          <a:noFill/>
          <a:ln w="9525">
            <a:noFill/>
            <a:miter lim="800000"/>
          </a:ln>
          <a:effectLst/>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Click to edit Master notes styles</a:t>
            </a:r>
            <a:endPar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Second Level</a:t>
            </a:r>
            <a:endPar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Third Level</a:t>
            </a:r>
            <a:endPar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Fourth Level</a:t>
            </a:r>
            <a:endPar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Fifth Level</a:t>
            </a:r>
            <a:endParaRPr kumimoji="0" lang="en-US" altLang="zh-CN"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p:txBody>
      </p:sp>
      <p:sp>
        <p:nvSpPr>
          <p:cNvPr id="59399" name="Rectangle 7"/>
          <p:cNvSpPr>
            <a:spLocks noGrp="1" noRot="1" noChangeAspect="1" noTextEdit="1"/>
          </p:cNvSpPr>
          <p:nvPr>
            <p:ph type="sldImg" idx="2"/>
          </p:nvPr>
        </p:nvSpPr>
        <p:spPr>
          <a:xfrm>
            <a:off x="255588" y="858838"/>
            <a:ext cx="6151562" cy="3460750"/>
          </a:xfrm>
          <a:prstGeom prst="rect">
            <a:avLst/>
          </a:prstGeom>
          <a:noFill/>
          <a:ln w="12700" cap="flat" cmpd="sng">
            <a:solidFill>
              <a:schemeClr val="tx1"/>
            </a:solidFill>
            <a:prstDash val="solid"/>
            <a:miter/>
            <a:headEnd type="none" w="med" len="med"/>
            <a:tailEnd type="none" w="med" len="med"/>
          </a:ln>
        </p:spPr>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anose="020005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5"/>
          <p:cNvSpPr txBox="1">
            <a:spLocks noGrp="1"/>
          </p:cNvSpPr>
          <p:nvPr>
            <p:ph type="sldNum" sz="quarter"/>
          </p:nvPr>
        </p:nvSpPr>
        <p:spPr>
          <a:xfrm>
            <a:off x="3775075" y="9399588"/>
            <a:ext cx="2887663" cy="461962"/>
          </a:xfrm>
          <a:prstGeom prst="rect">
            <a:avLst/>
          </a:prstGeom>
          <a:noFill/>
          <a:ln w="9525">
            <a:noFill/>
          </a:ln>
        </p:spPr>
        <p:txBody>
          <a:bodyPr lIns="19050" tIns="0" rIns="19050" bIns="0" anchor="b" anchorCtr="0"/>
          <a:lstStyle/>
          <a:p>
            <a:pPr lvl="0" algn="r"/>
            <a:fld id="{9A0DB2DC-4C9A-4742-B13C-FB6460FD3503}" type="slidenum">
              <a:rPr lang="en-US" altLang="zh-CN" sz="1000" i="1" dirty="0">
                <a:latin typeface="Times New Roman" pitchFamily="18" charset="0"/>
              </a:rPr>
            </a:fld>
            <a:endParaRPr lang="en-US" altLang="zh-CN" sz="1000" i="1" dirty="0">
              <a:latin typeface="Times New Roman" pitchFamily="18" charset="0"/>
            </a:endParaRPr>
          </a:p>
        </p:txBody>
      </p:sp>
      <p:sp>
        <p:nvSpPr>
          <p:cNvPr id="60419" name="Rectangle 2"/>
          <p:cNvSpPr>
            <a:spLocks noGrp="1" noRot="1" noChangeAspect="1" noTextEdit="1"/>
          </p:cNvSpPr>
          <p:nvPr>
            <p:ph type="sldImg"/>
          </p:nvPr>
        </p:nvSpPr>
        <p:spPr/>
      </p:sp>
      <p:sp>
        <p:nvSpPr>
          <p:cNvPr id="60420" name="Rectangle 3"/>
          <p:cNvSpPr>
            <a:spLocks noGrp="1"/>
          </p:cNvSpPr>
          <p:nvPr>
            <p:ph type="body" idx="1"/>
          </p:nvPr>
        </p:nvSpPr>
        <p:spPr>
          <a:xfrm>
            <a:off x="887413" y="4692650"/>
            <a:ext cx="4887912" cy="4156075"/>
          </a:xfrm>
        </p:spPr>
        <p:txBody>
          <a:bodyPr wrap="square" lIns="92075" tIns="46038" rIns="92075" bIns="46038"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5"/>
          <p:cNvSpPr txBox="1">
            <a:spLocks noGrp="1"/>
          </p:cNvSpPr>
          <p:nvPr>
            <p:ph type="sldNum" sz="quarter"/>
          </p:nvPr>
        </p:nvSpPr>
        <p:spPr>
          <a:xfrm>
            <a:off x="3775075" y="9399588"/>
            <a:ext cx="2887663" cy="461962"/>
          </a:xfrm>
          <a:prstGeom prst="rect">
            <a:avLst/>
          </a:prstGeom>
          <a:noFill/>
          <a:ln w="9525">
            <a:noFill/>
          </a:ln>
        </p:spPr>
        <p:txBody>
          <a:bodyPr lIns="19050" tIns="0" rIns="19050" bIns="0" anchor="b" anchorCtr="0"/>
          <a:lstStyle/>
          <a:p>
            <a:pPr lvl="0" algn="r"/>
            <a:fld id="{9A0DB2DC-4C9A-4742-B13C-FB6460FD3503}" type="slidenum">
              <a:rPr lang="en-US" altLang="zh-CN" sz="1000" i="1" dirty="0">
                <a:latin typeface="Times New Roman" pitchFamily="18" charset="0"/>
              </a:rPr>
            </a:fld>
            <a:endParaRPr lang="en-US" altLang="zh-CN" sz="1000" i="1" dirty="0">
              <a:latin typeface="Times New Roman" pitchFamily="18" charset="0"/>
            </a:endParaRPr>
          </a:p>
        </p:txBody>
      </p:sp>
      <p:sp>
        <p:nvSpPr>
          <p:cNvPr id="61443" name="Rectangle 2"/>
          <p:cNvSpPr>
            <a:spLocks noGrp="1" noRot="1" noChangeAspect="1" noTextEdit="1"/>
          </p:cNvSpPr>
          <p:nvPr>
            <p:ph type="sldImg"/>
          </p:nvPr>
        </p:nvSpPr>
        <p:spPr/>
      </p:sp>
      <p:sp>
        <p:nvSpPr>
          <p:cNvPr id="61444" name="Rectangle 3"/>
          <p:cNvSpPr>
            <a:spLocks noGrp="1"/>
          </p:cNvSpPr>
          <p:nvPr>
            <p:ph type="body" idx="1"/>
          </p:nvPr>
        </p:nvSpPr>
        <p:spPr>
          <a:xfrm>
            <a:off x="887413" y="4692650"/>
            <a:ext cx="4887912" cy="4156075"/>
          </a:xfrm>
        </p:spPr>
        <p:txBody>
          <a:bodyPr wrap="square" lIns="92075" tIns="46038" rIns="92075" bIns="46038"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5"/>
          <p:cNvSpPr txBox="1">
            <a:spLocks noGrp="1"/>
          </p:cNvSpPr>
          <p:nvPr>
            <p:ph type="sldNum" sz="quarter"/>
          </p:nvPr>
        </p:nvSpPr>
        <p:spPr>
          <a:xfrm>
            <a:off x="3775075" y="9399588"/>
            <a:ext cx="2887663" cy="461962"/>
          </a:xfrm>
          <a:prstGeom prst="rect">
            <a:avLst/>
          </a:prstGeom>
          <a:noFill/>
          <a:ln w="9525">
            <a:noFill/>
          </a:ln>
        </p:spPr>
        <p:txBody>
          <a:bodyPr lIns="19050" tIns="0" rIns="19050" bIns="0" anchor="b" anchorCtr="0"/>
          <a:lstStyle/>
          <a:p>
            <a:pPr lvl="0" algn="r"/>
            <a:fld id="{9A0DB2DC-4C9A-4742-B13C-FB6460FD3503}" type="slidenum">
              <a:rPr lang="en-US" altLang="zh-CN" sz="1000" i="1" dirty="0">
                <a:latin typeface="Times New Roman" pitchFamily="18" charset="0"/>
              </a:rPr>
            </a:fld>
            <a:endParaRPr lang="en-US" altLang="zh-CN" sz="1000" i="1" dirty="0">
              <a:latin typeface="Times New Roman" pitchFamily="18" charset="0"/>
            </a:endParaRPr>
          </a:p>
        </p:txBody>
      </p:sp>
      <p:sp>
        <p:nvSpPr>
          <p:cNvPr id="62467" name="Rectangle 2"/>
          <p:cNvSpPr>
            <a:spLocks noGrp="1" noRot="1" noChangeAspect="1" noTextEdit="1"/>
          </p:cNvSpPr>
          <p:nvPr>
            <p:ph type="sldImg"/>
          </p:nvPr>
        </p:nvSpPr>
        <p:spPr/>
      </p:sp>
      <p:sp>
        <p:nvSpPr>
          <p:cNvPr id="62468" name="Rectangle 3"/>
          <p:cNvSpPr>
            <a:spLocks noGrp="1"/>
          </p:cNvSpPr>
          <p:nvPr>
            <p:ph type="body" idx="1"/>
          </p:nvPr>
        </p:nvSpPr>
        <p:spPr>
          <a:xfrm>
            <a:off x="887413" y="4692650"/>
            <a:ext cx="4887912" cy="4156075"/>
          </a:xfrm>
        </p:spPr>
        <p:txBody>
          <a:bodyPr wrap="square" lIns="92075" tIns="46038" rIns="92075" bIns="46038"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5"/>
          <p:cNvSpPr txBox="1">
            <a:spLocks noGrp="1"/>
          </p:cNvSpPr>
          <p:nvPr>
            <p:ph type="sldNum" sz="quarter"/>
          </p:nvPr>
        </p:nvSpPr>
        <p:spPr>
          <a:xfrm>
            <a:off x="3775075" y="9399588"/>
            <a:ext cx="2887663" cy="461962"/>
          </a:xfrm>
          <a:prstGeom prst="rect">
            <a:avLst/>
          </a:prstGeom>
          <a:noFill/>
          <a:ln w="9525">
            <a:noFill/>
          </a:ln>
        </p:spPr>
        <p:txBody>
          <a:bodyPr lIns="19050" tIns="0" rIns="19050" bIns="0" anchor="b" anchorCtr="0"/>
          <a:lstStyle/>
          <a:p>
            <a:pPr lvl="0" algn="r"/>
            <a:fld id="{9A0DB2DC-4C9A-4742-B13C-FB6460FD3503}" type="slidenum">
              <a:rPr lang="en-US" altLang="zh-CN" sz="1000" i="1" dirty="0">
                <a:latin typeface="Times New Roman" pitchFamily="18" charset="0"/>
              </a:rPr>
            </a:fld>
            <a:endParaRPr lang="en-US" altLang="zh-CN" sz="1000" i="1" dirty="0">
              <a:latin typeface="Times New Roman" pitchFamily="18" charset="0"/>
            </a:endParaRPr>
          </a:p>
        </p:txBody>
      </p:sp>
      <p:sp>
        <p:nvSpPr>
          <p:cNvPr id="63491" name="Rectangle 2"/>
          <p:cNvSpPr>
            <a:spLocks noGrp="1" noRot="1" noChangeAspect="1" noTextEdit="1"/>
          </p:cNvSpPr>
          <p:nvPr>
            <p:ph type="sldImg"/>
          </p:nvPr>
        </p:nvSpPr>
        <p:spPr/>
      </p:sp>
      <p:sp>
        <p:nvSpPr>
          <p:cNvPr id="63492" name="Rectangle 3"/>
          <p:cNvSpPr>
            <a:spLocks noGrp="1"/>
          </p:cNvSpPr>
          <p:nvPr>
            <p:ph type="body" idx="1"/>
          </p:nvPr>
        </p:nvSpPr>
        <p:spPr>
          <a:xfrm>
            <a:off x="887413" y="4692650"/>
            <a:ext cx="4887912" cy="4156075"/>
          </a:xfrm>
        </p:spPr>
        <p:txBody>
          <a:bodyPr wrap="square" lIns="92075" tIns="46038" rIns="92075" bIns="46038"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6B5ADC47-AE96-43CB-82E8-750807A7743C}" type="slidenum">
              <a:rPr lang="en-US" altLang="zh-CN" smtClean="0"/>
            </a:fld>
            <a:endParaRPr lang="en-US" altLang="zh-CN" smtClean="0"/>
          </a:p>
        </p:txBody>
      </p:sp>
      <p:sp>
        <p:nvSpPr>
          <p:cNvPr id="88067" name="Text Box 2"/>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ln>
        </p:spPr>
        <p:txBody>
          <a:bodyPr wrap="none" anchor="ctr"/>
          <a:lstStyle/>
          <a:p>
            <a:pPr algn="ctr"/>
            <a:endParaRPr lang="zh-CN" altLang="en-US"/>
          </a:p>
        </p:txBody>
      </p:sp>
      <p:sp>
        <p:nvSpPr>
          <p:cNvPr id="88068" name="Text Box 3"/>
          <p:cNvSpPr>
            <a:spLocks noGrp="1" noChangeArrowheads="1"/>
          </p:cNvSpPr>
          <p:nvPr>
            <p:ph type="body" idx="4294967295"/>
          </p:nvPr>
        </p:nvSpPr>
        <p:spPr>
          <a:xfrm>
            <a:off x="685800" y="4344988"/>
            <a:ext cx="5486400" cy="4113212"/>
          </a:xfrm>
          <a:noFill/>
        </p:spPr>
        <p:txBody>
          <a:bodyPr tIns="57240">
            <a:spAutoFit/>
          </a:bodyPr>
          <a:lstStyle/>
          <a:p>
            <a:pPr>
              <a:lnSpc>
                <a:spcPct val="93000"/>
              </a:lnSpc>
              <a:spcBef>
                <a:spcPts val="450"/>
              </a:spcBef>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mtClean="0"/>
              <a:t>Tile64处理器的前身是美国MIT大学的RAW原型芯片。Tilera公司于2007年推出Tile64处理器，其集成了64个处理器核，主要面向网络和多媒体应用市场。Tile64的设计思路主要包括通过Mesh网络互连处理器核模块，片上资源为分布式的，利于提高功耗有效性，采用模块化设计，易于布局和验证等。Tilera公司还宣称将在2009年到2010年推出集成128个处理器核的芯片。</a:t>
            </a:r>
            <a:endParaRPr lang="en-US" altLang="zh-CN" smtClean="0"/>
          </a:p>
          <a:p>
            <a:pPr>
              <a:lnSpc>
                <a:spcPct val="93000"/>
              </a:lnSpc>
              <a:spcBef>
                <a:spcPts val="450"/>
              </a:spcBef>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mtClean="0"/>
              <a:t>在Tile64处理器中，每个模块由处理器核、高速缓存、交换开关器组成，芯片中所有的处理器核是同构的，处理器核为三路超长指令字（VLIW）CPU，支持64位的指令，支持SIMD指令操作，能完成32位、16位和8位的SIMD操作，并且支持专用于视频和网络的指令。每个模块有一个交换开关器，独立的L1和L2 cache，L1指令和数据cache各为8KB，L2 cache为64KB，cache中集成了二维的DMA引擎，整个处理器支持分布式一致性cache，每个模块能把其他模块的L2 cache能当作一个分布式L3 cache。</a:t>
            </a:r>
            <a:endParaRPr lang="en-US" altLang="zh-CN" smtClean="0"/>
          </a:p>
          <a:p>
            <a:pPr>
              <a:lnSpc>
                <a:spcPct val="93000"/>
              </a:lnSpc>
              <a:spcBef>
                <a:spcPts val="450"/>
              </a:spcBef>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mtClean="0"/>
              <a:t>Tile64处理器采用被称为iMesh的片上网络结构技术，即二维的点到点模块间Mesh互连网络，支持包交换、虫蚀路由和点到点传输，Mesh网络包含五个独立的互连网络，每个网络是32位的通道，支持全双工。其中一个是静态互连网络、四个是动态互联网络，支持模块到内存，模块到模块，模块到I/O的数据传输，一个用于系统和I/O操作传输，另一个用于处理cache失效、DMA和访存操作，其他用于模块到模块的传输以及流数据和标量数据的传输。iMesh片上网络技术支持流式的编程模型，计算和发送能在一条指令内完成，把网络映射到寄存器，把流数据自动传送到寄存器中，模块之间支持寄存器传递。 </a:t>
            </a:r>
            <a:endParaRPr lang="en-US"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89E7CF22-FB4C-467F-AAAD-6A23E4D3E4C5}" type="slidenum">
              <a:rPr lang="en-US" altLang="zh-CN" smtClean="0"/>
            </a:fld>
            <a:endParaRPr lang="en-US" altLang="zh-CN" smtClean="0"/>
          </a:p>
        </p:txBody>
      </p:sp>
      <p:sp>
        <p:nvSpPr>
          <p:cNvPr id="89091" name="Text Box 2"/>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ln>
        </p:spPr>
        <p:txBody>
          <a:bodyPr wrap="none" anchor="ctr"/>
          <a:lstStyle/>
          <a:p>
            <a:pPr algn="ctr"/>
            <a:endParaRPr lang="zh-CN" altLang="en-US"/>
          </a:p>
        </p:txBody>
      </p:sp>
      <p:sp>
        <p:nvSpPr>
          <p:cNvPr id="89092" name="Text Box 3"/>
          <p:cNvSpPr>
            <a:spLocks noGrp="1" noChangeArrowheads="1"/>
          </p:cNvSpPr>
          <p:nvPr>
            <p:ph type="body" idx="4294967295"/>
          </p:nvPr>
        </p:nvSpPr>
        <p:spPr>
          <a:xfrm>
            <a:off x="685800" y="4344988"/>
            <a:ext cx="5486400" cy="4113212"/>
          </a:xfrm>
          <a:noFill/>
        </p:spPr>
        <p:txBody>
          <a:bodyPr tIns="57240">
            <a:spAutoFit/>
          </a:bodyPr>
          <a:lstStyle/>
          <a:p>
            <a:pPr>
              <a:lnSpc>
                <a:spcPct val="93000"/>
              </a:lnSpc>
              <a:spcBef>
                <a:spcPts val="450"/>
              </a:spcBef>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mtClean="0"/>
              <a:t>Tile64处理器的前身是美国MIT大学的RAW原型芯片。Tilera公司于2007年推出Tile64处理器，其集成了64个处理器核，主要面向网络和多媒体应用市场。Tile64的设计思路主要包括通过Mesh网络互连处理器核模块，片上资源为分布式的，利于提高功耗有效性，采用模块化设计，易于布局和验证等。Tilera公司还宣称将在2009年到2010年推出集成128个处理器核的芯片。</a:t>
            </a:r>
            <a:endParaRPr lang="en-US" altLang="zh-CN" smtClean="0"/>
          </a:p>
          <a:p>
            <a:pPr>
              <a:lnSpc>
                <a:spcPct val="93000"/>
              </a:lnSpc>
              <a:spcBef>
                <a:spcPts val="450"/>
              </a:spcBef>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mtClean="0"/>
              <a:t>在Tile64处理器中，每个模块由处理器核、高速缓存、交换开关器组成，芯片中所有的处理器核是同构的，处理器核为三路超长指令字（VLIW）CPU，支持64位的指令，支持SIMD指令操作，能完成32位、16位和8位的SIMD操作，并且支持专用于视频和网络的指令。每个模块有一个交换开关器，独立的L1和L2 cache，L1指令和数据cache各为8KB，L2 cache为64KB，cache中集成了二维的DMA引擎，整个处理器支持分布式一致性cache，每个模块能把其他模块的L2 cache能当作一个分布式L3 cache。</a:t>
            </a:r>
            <a:endParaRPr lang="en-US" altLang="zh-CN" smtClean="0"/>
          </a:p>
          <a:p>
            <a:pPr>
              <a:lnSpc>
                <a:spcPct val="93000"/>
              </a:lnSpc>
              <a:spcBef>
                <a:spcPts val="450"/>
              </a:spcBef>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mtClean="0"/>
              <a:t>Tile64处理器采用被称为iMesh的片上网络结构技术，即二维的点到点模块间Mesh互连网络，支持包交换、虫蚀路由和点到点传输，Mesh网络包含五个独立的互连网络，每个网络是32位的通道，支持全双工。其中一个是静态互连网络、四个是动态互联网络，支持模块到内存，模块到模块，模块到I/O的数据传输，一个用于系统和I/O操作传输，另一个用于处理cache失效、DMA和访存操作，其他用于模块到模块的传输以及流数据和标量数据的传输。iMesh片上网络技术支持流式的编程模型，计算和发送能在一条指令内完成，把网络映射到寄存器，把流数据自动传送到寄存器中，模块之间支持寄存器传递。 </a:t>
            </a:r>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idx="2"/>
          </p:nvPr>
        </p:nvSpPr>
        <p:spPr/>
      </p:sp>
      <p:sp>
        <p:nvSpPr>
          <p:cNvPr id="90115" name="文本占位符 2"/>
          <p:cNvSpPr>
            <a:spLocks noGrp="1"/>
          </p:cNvSpPr>
          <p:nvPr>
            <p:ph type="body" idx="3"/>
          </p:nvPr>
        </p:nvSpPr>
        <p:spPr>
          <a:noFill/>
        </p:spPr>
        <p:txBody>
          <a:bodyPr/>
          <a:lstStyle/>
          <a:p>
            <a:r>
              <a:rPr lang="zh-CN" altLang="en-US" smtClean="0"/>
              <a:t>参数设计方面，算力的扩展通过图中</a:t>
            </a:r>
            <a:r>
              <a:rPr lang="en-US" altLang="zh-CN" smtClean="0"/>
              <a:t>VU-SP-GPC</a:t>
            </a:r>
            <a:r>
              <a:rPr lang="zh-CN" altLang="en-US" smtClean="0"/>
              <a:t>的路径完成</a:t>
            </a:r>
            <a:endParaRPr lang="zh-CN" altLang="en-US" smtClean="0"/>
          </a:p>
          <a:p>
            <a:endParaRPr lang="zh-CN" altLang="en-US" smtClean="0"/>
          </a:p>
          <a:p>
            <a:r>
              <a:rPr lang="zh-CN" altLang="en-US" smtClean="0"/>
              <a:t>像素和纹理填充率的扩展路径同样通过</a:t>
            </a:r>
            <a:r>
              <a:rPr lang="en-US" altLang="zh-CN" smtClean="0"/>
              <a:t>SP-GPC</a:t>
            </a:r>
            <a:r>
              <a:rPr lang="zh-CN" altLang="en-US" smtClean="0"/>
              <a:t>完成</a:t>
            </a:r>
            <a:endParaRPr lang="zh-CN" altLang="en-US" smtClean="0"/>
          </a:p>
          <a:p>
            <a:endParaRPr lang="zh-CN" altLang="en-US" smtClean="0"/>
          </a:p>
          <a:p>
            <a:r>
              <a:rPr lang="zh-CN" altLang="en-US" smtClean="0"/>
              <a:t>项目已有基础</a:t>
            </a:r>
            <a:r>
              <a:rPr lang="en-US" altLang="zh-CN" smtClean="0"/>
              <a:t>9A1000</a:t>
            </a:r>
            <a:r>
              <a:rPr lang="zh-CN" altLang="en-US" smtClean="0"/>
              <a:t>中，包含</a:t>
            </a:r>
            <a:r>
              <a:rPr lang="en-US" altLang="zh-CN" smtClean="0"/>
              <a:t>2</a:t>
            </a:r>
            <a:r>
              <a:rPr lang="zh-CN" altLang="en-US" smtClean="0"/>
              <a:t>个</a:t>
            </a:r>
            <a:r>
              <a:rPr lang="en-US" altLang="zh-CN" smtClean="0"/>
              <a:t>GPC</a:t>
            </a:r>
            <a:r>
              <a:rPr lang="zh-CN" altLang="en-US" smtClean="0"/>
              <a:t>，每个</a:t>
            </a:r>
            <a:r>
              <a:rPr lang="en-US" altLang="zh-CN" smtClean="0"/>
              <a:t>GPC</a:t>
            </a:r>
            <a:r>
              <a:rPr lang="zh-CN" altLang="en-US" smtClean="0"/>
              <a:t>包含</a:t>
            </a:r>
            <a:r>
              <a:rPr lang="en-US" altLang="zh-CN" smtClean="0"/>
              <a:t>4</a:t>
            </a:r>
            <a:r>
              <a:rPr lang="zh-CN" altLang="en-US" smtClean="0"/>
              <a:t>个</a:t>
            </a:r>
            <a:r>
              <a:rPr lang="en-US" altLang="zh-CN" smtClean="0"/>
              <a:t>SP</a:t>
            </a:r>
            <a:r>
              <a:rPr lang="zh-CN" altLang="en-US" smtClean="0"/>
              <a:t>，频率为</a:t>
            </a:r>
            <a:r>
              <a:rPr lang="en-US" altLang="zh-CN" smtClean="0"/>
              <a:t>1GHz</a:t>
            </a:r>
            <a:endParaRPr lang="en-US" altLang="zh-CN" smtClean="0"/>
          </a:p>
          <a:p>
            <a:endParaRPr lang="en-US" altLang="zh-CN" smtClean="0"/>
          </a:p>
          <a:p>
            <a:r>
              <a:rPr lang="zh-CN" altLang="en-US" smtClean="0"/>
              <a:t>依据上述路径，项目的定量指标需要满足</a:t>
            </a:r>
            <a:r>
              <a:rPr lang="en-US" altLang="zh-CN" smtClean="0"/>
              <a:t>F*x*y</a:t>
            </a:r>
            <a:r>
              <a:rPr lang="zh-CN" altLang="en-US" smtClean="0"/>
              <a:t>大于等于</a:t>
            </a:r>
            <a:r>
              <a:rPr lang="en-US" altLang="zh-CN" smtClean="0"/>
              <a:t>80</a:t>
            </a:r>
            <a:r>
              <a:rPr lang="zh-CN" altLang="en-US" smtClean="0"/>
              <a:t>，</a:t>
            </a:r>
            <a:endParaRPr lang="zh-CN" altLang="en-US" smtClean="0"/>
          </a:p>
          <a:p>
            <a:r>
              <a:rPr lang="zh-CN" altLang="en-US" smtClean="0"/>
              <a:t>项目预计参数如下：包含</a:t>
            </a:r>
            <a:r>
              <a:rPr lang="en-US" altLang="zh-CN" smtClean="0"/>
              <a:t>6</a:t>
            </a:r>
            <a:r>
              <a:rPr lang="zh-CN" altLang="en-US" smtClean="0"/>
              <a:t>个</a:t>
            </a:r>
            <a:r>
              <a:rPr lang="en-US" altLang="zh-CN" smtClean="0"/>
              <a:t>GPC</a:t>
            </a:r>
            <a:r>
              <a:rPr lang="zh-CN" altLang="en-US" smtClean="0"/>
              <a:t>，每个</a:t>
            </a:r>
            <a:r>
              <a:rPr lang="en-US" altLang="zh-CN" smtClean="0"/>
              <a:t>GPC</a:t>
            </a:r>
            <a:r>
              <a:rPr lang="zh-CN" altLang="en-US" smtClean="0"/>
              <a:t>包含</a:t>
            </a:r>
            <a:r>
              <a:rPr lang="en-US" altLang="zh-CN" smtClean="0"/>
              <a:t>10</a:t>
            </a:r>
            <a:r>
              <a:rPr lang="zh-CN" altLang="en-US" smtClean="0"/>
              <a:t>个</a:t>
            </a:r>
            <a:r>
              <a:rPr lang="en-US" altLang="zh-CN" smtClean="0"/>
              <a:t>SP</a:t>
            </a:r>
            <a:r>
              <a:rPr lang="zh-CN" altLang="en-US" smtClean="0"/>
              <a:t>，频率为</a:t>
            </a:r>
            <a:r>
              <a:rPr lang="en-US" altLang="zh-CN" smtClean="0"/>
              <a:t>1.5GHz</a:t>
            </a:r>
            <a:endParaRPr lang="en-US" altLang="zh-CN" smtClean="0"/>
          </a:p>
          <a:p>
            <a:r>
              <a:rPr lang="zh-CN" altLang="en-US" smtClean="0"/>
              <a:t>上述参数能满足项目指标要求</a:t>
            </a:r>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p:sp>
      <p:sp>
        <p:nvSpPr>
          <p:cNvPr id="91139" name="备注占位符 2"/>
          <p:cNvSpPr>
            <a:spLocks noGrp="1"/>
          </p:cNvSpPr>
          <p:nvPr>
            <p:ph type="body" idx="1"/>
          </p:nvPr>
        </p:nvSpPr>
        <p:spPr>
          <a:noFill/>
        </p:spPr>
        <p:txBody>
          <a:bodyPr/>
          <a:lstStyle/>
          <a:p>
            <a:r>
              <a:rPr lang="zh-CN" altLang="en-US" smtClean="0"/>
              <a:t>参数设计方面，算力的扩展通过图中</a:t>
            </a:r>
            <a:r>
              <a:rPr lang="en-US" altLang="zh-CN" smtClean="0"/>
              <a:t>VU-SP-GPC</a:t>
            </a:r>
            <a:r>
              <a:rPr lang="zh-CN" altLang="en-US" smtClean="0"/>
              <a:t>的路径完成</a:t>
            </a:r>
            <a:endParaRPr lang="zh-CN" altLang="en-US" smtClean="0"/>
          </a:p>
          <a:p>
            <a:endParaRPr lang="zh-CN" altLang="en-US" smtClean="0"/>
          </a:p>
          <a:p>
            <a:r>
              <a:rPr lang="zh-CN" altLang="en-US" smtClean="0"/>
              <a:t>像素和纹理填充率的扩展路径同样通过</a:t>
            </a:r>
            <a:r>
              <a:rPr lang="en-US" altLang="zh-CN" smtClean="0"/>
              <a:t>SP-GPC</a:t>
            </a:r>
            <a:r>
              <a:rPr lang="zh-CN" altLang="en-US" smtClean="0"/>
              <a:t>完成</a:t>
            </a:r>
            <a:endParaRPr lang="zh-CN" altLang="en-US" smtClean="0"/>
          </a:p>
          <a:p>
            <a:endParaRPr lang="zh-CN" altLang="en-US" smtClean="0"/>
          </a:p>
          <a:p>
            <a:r>
              <a:rPr lang="zh-CN" altLang="en-US" smtClean="0"/>
              <a:t>项目已有基础</a:t>
            </a:r>
            <a:r>
              <a:rPr lang="en-US" altLang="zh-CN" smtClean="0"/>
              <a:t>9A1000</a:t>
            </a:r>
            <a:r>
              <a:rPr lang="zh-CN" altLang="en-US" smtClean="0"/>
              <a:t>中，包含</a:t>
            </a:r>
            <a:r>
              <a:rPr lang="en-US" altLang="zh-CN" smtClean="0"/>
              <a:t>2</a:t>
            </a:r>
            <a:r>
              <a:rPr lang="zh-CN" altLang="en-US" smtClean="0"/>
              <a:t>个</a:t>
            </a:r>
            <a:r>
              <a:rPr lang="en-US" altLang="zh-CN" smtClean="0"/>
              <a:t>GPC</a:t>
            </a:r>
            <a:r>
              <a:rPr lang="zh-CN" altLang="en-US" smtClean="0"/>
              <a:t>，每个</a:t>
            </a:r>
            <a:r>
              <a:rPr lang="en-US" altLang="zh-CN" smtClean="0"/>
              <a:t>GPC</a:t>
            </a:r>
            <a:r>
              <a:rPr lang="zh-CN" altLang="en-US" smtClean="0"/>
              <a:t>包含</a:t>
            </a:r>
            <a:r>
              <a:rPr lang="en-US" altLang="zh-CN" smtClean="0"/>
              <a:t>4</a:t>
            </a:r>
            <a:r>
              <a:rPr lang="zh-CN" altLang="en-US" smtClean="0"/>
              <a:t>个</a:t>
            </a:r>
            <a:r>
              <a:rPr lang="en-US" altLang="zh-CN" smtClean="0"/>
              <a:t>SP</a:t>
            </a:r>
            <a:r>
              <a:rPr lang="zh-CN" altLang="en-US" smtClean="0"/>
              <a:t>，频率为</a:t>
            </a:r>
            <a:r>
              <a:rPr lang="en-US" altLang="zh-CN" smtClean="0"/>
              <a:t>1GHz</a:t>
            </a:r>
            <a:endParaRPr lang="en-US" altLang="zh-CN" smtClean="0"/>
          </a:p>
          <a:p>
            <a:endParaRPr lang="en-US" altLang="zh-CN" smtClean="0"/>
          </a:p>
          <a:p>
            <a:r>
              <a:rPr lang="zh-CN" altLang="en-US" smtClean="0"/>
              <a:t>依据上述路径，项目的定量指标需要满足</a:t>
            </a:r>
            <a:r>
              <a:rPr lang="en-US" altLang="zh-CN" smtClean="0"/>
              <a:t>F*x*y</a:t>
            </a:r>
            <a:r>
              <a:rPr lang="zh-CN" altLang="en-US" smtClean="0"/>
              <a:t>大于等于</a:t>
            </a:r>
            <a:r>
              <a:rPr lang="en-US" altLang="zh-CN" smtClean="0"/>
              <a:t>80</a:t>
            </a:r>
            <a:r>
              <a:rPr lang="zh-CN" altLang="en-US" smtClean="0"/>
              <a:t>，</a:t>
            </a:r>
            <a:endParaRPr lang="zh-CN" altLang="en-US" smtClean="0"/>
          </a:p>
          <a:p>
            <a:r>
              <a:rPr lang="zh-CN" altLang="en-US" smtClean="0"/>
              <a:t>项目预计参数如下：包含</a:t>
            </a:r>
            <a:r>
              <a:rPr lang="en-US" altLang="zh-CN" smtClean="0"/>
              <a:t>6</a:t>
            </a:r>
            <a:r>
              <a:rPr lang="zh-CN" altLang="en-US" smtClean="0"/>
              <a:t>个</a:t>
            </a:r>
            <a:r>
              <a:rPr lang="en-US" altLang="zh-CN" smtClean="0"/>
              <a:t>GPC</a:t>
            </a:r>
            <a:r>
              <a:rPr lang="zh-CN" altLang="en-US" smtClean="0"/>
              <a:t>，每个</a:t>
            </a:r>
            <a:r>
              <a:rPr lang="en-US" altLang="zh-CN" smtClean="0"/>
              <a:t>GPC</a:t>
            </a:r>
            <a:r>
              <a:rPr lang="zh-CN" altLang="en-US" smtClean="0"/>
              <a:t>包含</a:t>
            </a:r>
            <a:r>
              <a:rPr lang="en-US" altLang="zh-CN" smtClean="0"/>
              <a:t>10</a:t>
            </a:r>
            <a:r>
              <a:rPr lang="zh-CN" altLang="en-US" smtClean="0"/>
              <a:t>个</a:t>
            </a:r>
            <a:r>
              <a:rPr lang="en-US" altLang="zh-CN" smtClean="0"/>
              <a:t>SP</a:t>
            </a:r>
            <a:r>
              <a:rPr lang="zh-CN" altLang="en-US" smtClean="0"/>
              <a:t>，频率为</a:t>
            </a:r>
            <a:r>
              <a:rPr lang="en-US" altLang="zh-CN" smtClean="0"/>
              <a:t>1.5GHz</a:t>
            </a:r>
            <a:endParaRPr lang="en-US" altLang="zh-CN" smtClean="0"/>
          </a:p>
          <a:p>
            <a:r>
              <a:rPr lang="zh-CN" altLang="en-US" smtClean="0"/>
              <a:t>上述参数能满足项目指标要求</a:t>
            </a:r>
            <a:endParaRPr lang="zh-CN" altLang="en-US" smtClean="0"/>
          </a:p>
        </p:txBody>
      </p:sp>
      <p:sp>
        <p:nvSpPr>
          <p:cNvPr id="91140" name="灯片编号占位符 3"/>
          <p:cNvSpPr>
            <a:spLocks noGrp="1"/>
          </p:cNvSpPr>
          <p:nvPr>
            <p:ph type="sldNum" sz="quarter" idx="5"/>
          </p:nvPr>
        </p:nvSpPr>
        <p:spPr>
          <a:noFill/>
        </p:spPr>
        <p:txBody>
          <a:bodyPr/>
          <a:lstStyle/>
          <a:p>
            <a:fld id="{8453407D-9AD5-4665-BD7B-0DF85A0B3D32}" type="slidenum">
              <a:rPr lang="zh-CN" altLang="en-US" smtClean="0"/>
            </a:fld>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idx="2"/>
          </p:nvPr>
        </p:nvSpPr>
        <p:spPr/>
      </p:sp>
      <p:sp>
        <p:nvSpPr>
          <p:cNvPr id="92163" name="文本占位符 2"/>
          <p:cNvSpPr>
            <a:spLocks noGrp="1"/>
          </p:cNvSpPr>
          <p:nvPr>
            <p:ph type="body" idx="3"/>
          </p:nvPr>
        </p:nvSpPr>
        <p:spPr>
          <a:noFill/>
        </p:spPr>
        <p:txBody>
          <a:bodyPr/>
          <a:lstStyle/>
          <a:p>
            <a:r>
              <a:rPr lang="zh-CN" altLang="en-US" smtClean="0"/>
              <a:t>图形处理器核即</a:t>
            </a:r>
            <a:r>
              <a:rPr lang="en-US" altLang="zh-CN" smtClean="0"/>
              <a:t>SP</a:t>
            </a:r>
            <a:r>
              <a:rPr lang="zh-CN" altLang="en-US" smtClean="0"/>
              <a:t>，内部包含</a:t>
            </a:r>
            <a:r>
              <a:rPr lang="en-US" altLang="zh-CN" smtClean="0"/>
              <a:t>4</a:t>
            </a:r>
            <a:r>
              <a:rPr lang="zh-CN" altLang="en-US" smtClean="0"/>
              <a:t>个</a:t>
            </a:r>
            <a:r>
              <a:rPr lang="en-US" altLang="zh-CN" smtClean="0"/>
              <a:t>VU</a:t>
            </a:r>
            <a:r>
              <a:rPr lang="zh-CN" altLang="en-US" smtClean="0"/>
              <a:t>（</a:t>
            </a:r>
            <a:r>
              <a:rPr lang="en-US" altLang="zh-CN" smtClean="0"/>
              <a:t>Vector Unit</a:t>
            </a:r>
            <a:r>
              <a:rPr lang="zh-CN" altLang="en-US" smtClean="0"/>
              <a:t>），每个</a:t>
            </a:r>
            <a:r>
              <a:rPr lang="en-US" altLang="zh-CN" smtClean="0"/>
              <a:t>VU</a:t>
            </a:r>
            <a:r>
              <a:rPr lang="zh-CN" altLang="en-US" smtClean="0"/>
              <a:t>包含一条流水线</a:t>
            </a:r>
            <a:endParaRPr lang="zh-CN" altLang="en-US" smtClean="0"/>
          </a:p>
          <a:p>
            <a:r>
              <a:rPr lang="zh-CN" altLang="en-US" smtClean="0"/>
              <a:t>该流水线是</a:t>
            </a:r>
            <a:r>
              <a:rPr lang="en-US" altLang="zh-CN" smtClean="0"/>
              <a:t>SIMT</a:t>
            </a:r>
            <a:r>
              <a:rPr lang="zh-CN" altLang="en-US" smtClean="0"/>
              <a:t>（单指令多线程）架构，任务最小单位</a:t>
            </a:r>
            <a:r>
              <a:rPr lang="en-US" altLang="zh-CN" smtClean="0"/>
              <a:t>wave</a:t>
            </a:r>
            <a:r>
              <a:rPr lang="zh-CN" altLang="en-US" smtClean="0"/>
              <a:t>包含</a:t>
            </a:r>
            <a:r>
              <a:rPr lang="en-US" altLang="zh-CN" smtClean="0"/>
              <a:t>32</a:t>
            </a:r>
            <a:r>
              <a:rPr lang="zh-CN" altLang="en-US" smtClean="0"/>
              <a:t>个</a:t>
            </a:r>
            <a:r>
              <a:rPr lang="en-US" altLang="zh-CN" smtClean="0"/>
              <a:t>thread</a:t>
            </a:r>
            <a:r>
              <a:rPr lang="zh-CN" altLang="en-US" smtClean="0"/>
              <a:t>；</a:t>
            </a:r>
            <a:endParaRPr lang="zh-CN" altLang="en-US" smtClean="0"/>
          </a:p>
          <a:p>
            <a:r>
              <a:rPr lang="zh-CN" altLang="en-US" smtClean="0"/>
              <a:t>该流水线是同时多线程架构，每拍从</a:t>
            </a:r>
            <a:r>
              <a:rPr lang="en-US" altLang="zh-CN" smtClean="0"/>
              <a:t>10</a:t>
            </a:r>
            <a:r>
              <a:rPr lang="zh-CN" altLang="en-US" smtClean="0"/>
              <a:t>个</a:t>
            </a:r>
            <a:r>
              <a:rPr lang="en-US" altLang="zh-CN" smtClean="0"/>
              <a:t>wave</a:t>
            </a:r>
            <a:r>
              <a:rPr lang="zh-CN" altLang="en-US" smtClean="0"/>
              <a:t>中选择</a:t>
            </a:r>
            <a:r>
              <a:rPr lang="en-US" altLang="zh-CN" smtClean="0"/>
              <a:t>5</a:t>
            </a:r>
            <a:r>
              <a:rPr lang="zh-CN" altLang="en-US" smtClean="0"/>
              <a:t>条不同类型指令发射</a:t>
            </a:r>
            <a:endParaRPr lang="zh-CN" altLang="en-US" smtClean="0"/>
          </a:p>
          <a:p>
            <a:r>
              <a:rPr lang="zh-CN" altLang="en-US" smtClean="0"/>
              <a:t>大部分相关由硬件处理，访存相关由软件处理</a:t>
            </a:r>
            <a:endParaRPr lang="zh-CN" altLang="en-US" smtClean="0"/>
          </a:p>
          <a:p>
            <a:r>
              <a:rPr lang="zh-CN" altLang="en-US" smtClean="0"/>
              <a:t>内部功能部件比例为</a:t>
            </a:r>
            <a:r>
              <a:rPr lang="en-US" altLang="zh-CN" smtClean="0">
                <a:latin typeface="微软雅黑" charset="-122"/>
                <a:ea typeface="微软雅黑" charset="-122"/>
                <a:sym typeface="+mn-ea"/>
              </a:rPr>
              <a:t>ALU:SFU:DPU:Tensor = 16:4:1:1</a:t>
            </a:r>
            <a:r>
              <a:rPr lang="zh-CN" altLang="en-US" smtClean="0">
                <a:latin typeface="微软雅黑" charset="-122"/>
                <a:ea typeface="微软雅黑" charset="-122"/>
                <a:sym typeface="+mn-ea"/>
              </a:rPr>
              <a:t>，这个比例关系与主流</a:t>
            </a:r>
            <a:r>
              <a:rPr lang="en-US" altLang="zh-CN" smtClean="0">
                <a:latin typeface="微软雅黑" charset="-122"/>
                <a:ea typeface="微软雅黑" charset="-122"/>
                <a:sym typeface="+mn-ea"/>
              </a:rPr>
              <a:t>GPU</a:t>
            </a:r>
            <a:r>
              <a:rPr lang="zh-CN" altLang="en-US" smtClean="0">
                <a:latin typeface="微软雅黑" charset="-122"/>
                <a:ea typeface="微软雅黑" charset="-122"/>
                <a:sym typeface="+mn-ea"/>
              </a:rPr>
              <a:t>一致</a:t>
            </a:r>
            <a:endParaRPr lang="zh-CN" altLang="en-US" smtClean="0">
              <a:latin typeface="微软雅黑" charset="-122"/>
              <a:ea typeface="微软雅黑" charset="-122"/>
              <a:sym typeface="+mn-ea"/>
            </a:endParaRPr>
          </a:p>
          <a:p>
            <a:endParaRPr lang="zh-CN" altLang="en-US" b="1" smtClean="0">
              <a:latin typeface="微软雅黑" charset="-122"/>
              <a:ea typeface="微软雅黑" charset="-122"/>
              <a:sym typeface="+mn-ea"/>
            </a:endParaRPr>
          </a:p>
          <a:p>
            <a:r>
              <a:rPr lang="zh-CN" altLang="en-US" smtClean="0">
                <a:latin typeface="微软雅黑" charset="-122"/>
                <a:ea typeface="微软雅黑" charset="-122"/>
                <a:sym typeface="+mn-ea"/>
              </a:rPr>
              <a:t>内部存储层次包括</a:t>
            </a:r>
            <a:r>
              <a:rPr lang="en-US" altLang="zh-CN" smtClean="0">
                <a:latin typeface="微软雅黑" charset="-122"/>
                <a:ea typeface="微软雅黑" charset="-122"/>
                <a:sym typeface="+mn-ea"/>
              </a:rPr>
              <a:t>3</a:t>
            </a:r>
            <a:r>
              <a:rPr lang="zh-CN" altLang="en-US" smtClean="0">
                <a:latin typeface="微软雅黑" charset="-122"/>
                <a:ea typeface="微软雅黑" charset="-122"/>
                <a:sym typeface="+mn-ea"/>
              </a:rPr>
              <a:t>个不同的存储空间：寄存器、共享存储、</a:t>
            </a:r>
            <a:r>
              <a:rPr lang="en-US" altLang="zh-CN" smtClean="0">
                <a:latin typeface="微软雅黑" charset="-122"/>
                <a:ea typeface="微软雅黑" charset="-122"/>
                <a:sym typeface="+mn-ea"/>
              </a:rPr>
              <a:t>cache</a:t>
            </a:r>
            <a:endParaRPr lang="en-US" altLang="zh-CN" smtClean="0">
              <a:latin typeface="微软雅黑" charset="-122"/>
              <a:ea typeface="微软雅黑" charset="-122"/>
              <a:sym typeface="+mn-ea"/>
            </a:endParaRPr>
          </a:p>
          <a:p>
            <a:r>
              <a:rPr lang="zh-CN" altLang="en-US" smtClean="0">
                <a:latin typeface="微软雅黑" charset="-122"/>
                <a:ea typeface="微软雅黑" charset="-122"/>
                <a:sym typeface="+mn-ea"/>
              </a:rPr>
              <a:t>。。。</a:t>
            </a:r>
            <a:endParaRPr lang="zh-CN" altLang="en-US" smtClean="0">
              <a:latin typeface="微软雅黑" charset="-122"/>
              <a:ea typeface="微软雅黑" charset="-122"/>
              <a:sym typeface="+mn-ea"/>
            </a:endParaRPr>
          </a:p>
          <a:p>
            <a:endParaRPr lang="zh-CN" altLang="en-US" smtClean="0">
              <a:latin typeface="微软雅黑" charset="-122"/>
              <a:ea typeface="微软雅黑" charset="-122"/>
              <a:sym typeface="+mn-ea"/>
            </a:endParaRPr>
          </a:p>
          <a:p>
            <a:r>
              <a:rPr lang="zh-CN" altLang="en-US" smtClean="0">
                <a:latin typeface="微软雅黑" charset="-122"/>
                <a:ea typeface="微软雅黑" charset="-122"/>
                <a:sym typeface="+mn-ea"/>
              </a:rPr>
              <a:t>前面提到了</a:t>
            </a:r>
            <a:r>
              <a:rPr lang="en-US" altLang="zh-CN" smtClean="0">
                <a:latin typeface="微软雅黑" charset="-122"/>
                <a:ea typeface="微软雅黑" charset="-122"/>
                <a:sym typeface="+mn-ea"/>
              </a:rPr>
              <a:t>SP</a:t>
            </a:r>
            <a:r>
              <a:rPr lang="zh-CN" altLang="en-US" smtClean="0">
                <a:latin typeface="微软雅黑" charset="-122"/>
                <a:ea typeface="微软雅黑" charset="-122"/>
                <a:sym typeface="+mn-ea"/>
              </a:rPr>
              <a:t>内部总线</a:t>
            </a:r>
            <a:r>
              <a:rPr lang="en-US" altLang="zh-CN" smtClean="0">
                <a:latin typeface="微软雅黑" charset="-122"/>
                <a:ea typeface="微软雅黑" charset="-122"/>
                <a:sym typeface="+mn-ea"/>
              </a:rPr>
              <a:t>PBUS</a:t>
            </a:r>
            <a:r>
              <a:rPr lang="zh-CN" altLang="en-US" smtClean="0">
                <a:latin typeface="微软雅黑" charset="-122"/>
                <a:ea typeface="微软雅黑" charset="-122"/>
                <a:sym typeface="+mn-ea"/>
              </a:rPr>
              <a:t>，</a:t>
            </a:r>
            <a:endParaRPr lang="zh-CN" altLang="en-US" smtClean="0">
              <a:latin typeface="微软雅黑" charset="-122"/>
              <a:ea typeface="微软雅黑" charset="-122"/>
              <a:sym typeface="+mn-ea"/>
            </a:endParaRPr>
          </a:p>
          <a:p>
            <a:r>
              <a:rPr lang="zh-CN" altLang="en-US" smtClean="0">
                <a:latin typeface="微软雅黑" charset="-122"/>
                <a:ea typeface="微软雅黑" charset="-122"/>
                <a:sym typeface="+mn-ea"/>
              </a:rPr>
              <a:t>采用了基于令牌的全局流控，保证总线不会阻塞</a:t>
            </a:r>
            <a:endParaRPr lang="zh-CN" altLang="en-US" smtClean="0">
              <a:latin typeface="微软雅黑" charset="-122"/>
              <a:ea typeface="微软雅黑" charset="-122"/>
              <a:sym typeface="+mn-ea"/>
            </a:endParaRPr>
          </a:p>
          <a:p>
            <a:r>
              <a:rPr lang="zh-CN" altLang="en-US" smtClean="0">
                <a:latin typeface="微软雅黑" charset="-122"/>
                <a:ea typeface="微软雅黑" charset="-122"/>
                <a:sym typeface="+mn-ea"/>
              </a:rPr>
              <a:t>设计了感知总线请求状态的高效均衡调度策略，保证传输效率和公平</a:t>
            </a:r>
            <a:endParaRPr lang="zh-CN" altLang="en-US" smtClean="0">
              <a:latin typeface="微软雅黑" charset="-122"/>
              <a:ea typeface="微软雅黑" charset="-122"/>
              <a:sym typeface="+mn-ea"/>
            </a:endParaRPr>
          </a:p>
          <a:p>
            <a:r>
              <a:rPr lang="zh-CN" altLang="en-US" smtClean="0">
                <a:latin typeface="微软雅黑" charset="-122"/>
                <a:ea typeface="微软雅黑" charset="-122"/>
                <a:sym typeface="+mn-ea"/>
              </a:rPr>
              <a:t>总线方式有利于物理设计</a:t>
            </a:r>
            <a:endParaRPr lang="zh-CN" altLang="en-US" smtClean="0">
              <a:latin typeface="微软雅黑" charset="-122"/>
              <a:ea typeface="微软雅黑" charset="-122"/>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24579" name="Rectangle 2"/>
          <p:cNvSpPr>
            <a:spLocks noRot="1" noTextEdit="1"/>
          </p:cNvSpPr>
          <p:nvPr>
            <p:ph type="sldImg"/>
          </p:nvPr>
        </p:nvSpPr>
        <p:spPr>
          <a:xfrm>
            <a:off x="581025" y="795338"/>
            <a:ext cx="5695950" cy="3205162"/>
          </a:xfrm>
          <a:ln w="12700">
            <a:solidFill>
              <a:schemeClr val="tx1">
                <a:alpha val="100000"/>
              </a:schemeClr>
            </a:solidFill>
          </a:ln>
        </p:spPr>
      </p:sp>
      <p:sp>
        <p:nvSpPr>
          <p:cNvPr id="24580" name="Rectangle 3"/>
          <p:cNvSpPr>
            <a:spLocks noGrp="1"/>
          </p:cNvSpPr>
          <p:nvPr>
            <p:ph type="body"/>
          </p:nvPr>
        </p:nvSpPr>
        <p:spPr>
          <a:xfrm>
            <a:off x="912813" y="4346575"/>
            <a:ext cx="5032375" cy="3849688"/>
          </a:xfrm>
        </p:spPr>
        <p:txBody>
          <a:bodyPr wrap="square" lIns="92075" tIns="46038" rIns="92075" bIns="46038"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426"/>
            <a:ext cx="10361851"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562" y="3886200"/>
            <a:ext cx="853328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121" y="4406901"/>
            <a:ext cx="10361851"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121" y="2906713"/>
            <a:ext cx="10361851"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521" y="1600201"/>
            <a:ext cx="539191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88979" y="1600201"/>
            <a:ext cx="539191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521" y="1535113"/>
            <a:ext cx="538605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521" y="2174875"/>
            <a:ext cx="538605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2887" y="1535113"/>
            <a:ext cx="538800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2887" y="2174875"/>
            <a:ext cx="538800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0" y="273050"/>
            <a:ext cx="4010725"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64" y="273051"/>
            <a:ext cx="681412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520" y="1435101"/>
            <a:ext cx="401072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243" y="4800600"/>
            <a:ext cx="7314248"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243" y="612775"/>
            <a:ext cx="7314248"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50000"/>
              </a:lnSpc>
              <a:spcBef>
                <a:spcPct val="0"/>
              </a:spcBef>
              <a:spcAft>
                <a:spcPct val="0"/>
              </a:spcAft>
              <a:buClrTx/>
              <a:buSzTx/>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243" y="5367338"/>
            <a:ext cx="731424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639"/>
            <a:ext cx="2742843"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521" y="274639"/>
            <a:ext cx="8040984"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title"/>
          </p:nvPr>
        </p:nvSpPr>
        <p:spPr>
          <a:xfrm>
            <a:off x="609600" y="274638"/>
            <a:ext cx="10971213" cy="11430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3075" name="Rectangle 3"/>
          <p:cNvSpPr>
            <a:spLocks noGrp="1"/>
          </p:cNvSpPr>
          <p:nvPr>
            <p:ph type="body" idx="1"/>
          </p:nvPr>
        </p:nvSpPr>
        <p:spPr>
          <a:xfrm>
            <a:off x="609600" y="1600200"/>
            <a:ext cx="10971213" cy="4525963"/>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9558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195589" name="Rectangle 5"/>
          <p:cNvSpPr>
            <a:spLocks noGrp="1" noChangeArrowheads="1"/>
          </p:cNvSpPr>
          <p:nvPr>
            <p:ph type="ftr" sz="quarter" idx="3"/>
          </p:nvPr>
        </p:nvSpPr>
        <p:spPr bwMode="auto">
          <a:xfrm>
            <a:off x="4165600" y="6245225"/>
            <a:ext cx="3859213" cy="47625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80604020202020204" pitchFamily="34" charset="0"/>
              <a:ea typeface="宋体" panose="02000500000000000000" pitchFamily="2" charset="-122"/>
              <a:cs typeface="+mn-cs"/>
            </a:endParaRPr>
          </a:p>
        </p:txBody>
      </p:sp>
      <p:sp>
        <p:nvSpPr>
          <p:cNvPr id="195590" name="Rectangle 6"/>
          <p:cNvSpPr>
            <a:spLocks noGrp="1" noChangeArrowheads="1"/>
          </p:cNvSpPr>
          <p:nvPr>
            <p:ph type="sldNum" sz="quarter" idx="4"/>
          </p:nvPr>
        </p:nvSpPr>
        <p:spPr bwMode="auto">
          <a:xfrm>
            <a:off x="8736013"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en-US" altLang="zh-CN" dirty="0">
                <a:latin typeface="Arial" panose="02080604020202020204" pitchFamily="34" charset="0"/>
              </a:rPr>
            </a:fld>
            <a:endParaRPr lang="en-US" altLang="zh-CN" dirty="0">
              <a:latin typeface="Arial" panose="0208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600">
          <a:solidFill>
            <a:srgbClr val="FF0000"/>
          </a:solidFill>
          <a:latin typeface="+mj-lt"/>
          <a:ea typeface="+mj-ea"/>
          <a:cs typeface="+mj-cs"/>
        </a:defRPr>
      </a:lvl1pPr>
      <a:lvl2pPr algn="ctr" rtl="0" eaLnBrk="0" fontAlgn="base" hangingPunct="0">
        <a:spcBef>
          <a:spcPct val="0"/>
        </a:spcBef>
        <a:spcAft>
          <a:spcPct val="0"/>
        </a:spcAft>
        <a:defRPr sz="3600">
          <a:solidFill>
            <a:srgbClr val="FF0000"/>
          </a:solidFill>
          <a:latin typeface="Arial" panose="02080604020202020204" pitchFamily="34" charset="0"/>
          <a:ea typeface="黑体" panose="02000500000000000000" pitchFamily="49" charset="-122"/>
        </a:defRPr>
      </a:lvl2pPr>
      <a:lvl3pPr algn="ctr" rtl="0" eaLnBrk="0" fontAlgn="base" hangingPunct="0">
        <a:spcBef>
          <a:spcPct val="0"/>
        </a:spcBef>
        <a:spcAft>
          <a:spcPct val="0"/>
        </a:spcAft>
        <a:defRPr sz="3600">
          <a:solidFill>
            <a:srgbClr val="FF0000"/>
          </a:solidFill>
          <a:latin typeface="Arial" panose="02080604020202020204" pitchFamily="34" charset="0"/>
          <a:ea typeface="黑体" panose="02000500000000000000" pitchFamily="49" charset="-122"/>
        </a:defRPr>
      </a:lvl3pPr>
      <a:lvl4pPr algn="ctr" rtl="0" eaLnBrk="0" fontAlgn="base" hangingPunct="0">
        <a:spcBef>
          <a:spcPct val="0"/>
        </a:spcBef>
        <a:spcAft>
          <a:spcPct val="0"/>
        </a:spcAft>
        <a:defRPr sz="3600">
          <a:solidFill>
            <a:srgbClr val="FF0000"/>
          </a:solidFill>
          <a:latin typeface="Arial" panose="02080604020202020204" pitchFamily="34" charset="0"/>
          <a:ea typeface="黑体" panose="02000500000000000000" pitchFamily="49" charset="-122"/>
        </a:defRPr>
      </a:lvl4pPr>
      <a:lvl5pPr algn="ctr" rtl="0" eaLnBrk="0" fontAlgn="base" hangingPunct="0">
        <a:spcBef>
          <a:spcPct val="0"/>
        </a:spcBef>
        <a:spcAft>
          <a:spcPct val="0"/>
        </a:spcAft>
        <a:defRPr sz="3600">
          <a:solidFill>
            <a:srgbClr val="FF0000"/>
          </a:solidFill>
          <a:latin typeface="Arial" panose="02080604020202020204" pitchFamily="34" charset="0"/>
          <a:ea typeface="黑体" panose="02000500000000000000" pitchFamily="49" charset="-122"/>
        </a:defRPr>
      </a:lvl5pPr>
      <a:lvl6pPr marL="457200" algn="ctr" rtl="0" fontAlgn="base">
        <a:spcBef>
          <a:spcPct val="0"/>
        </a:spcBef>
        <a:spcAft>
          <a:spcPct val="0"/>
        </a:spcAft>
        <a:defRPr sz="3600">
          <a:solidFill>
            <a:srgbClr val="FF0000"/>
          </a:solidFill>
          <a:latin typeface="Arial" panose="02080604020202020204" pitchFamily="34" charset="0"/>
          <a:ea typeface="黑体" panose="02000500000000000000" pitchFamily="49" charset="-122"/>
        </a:defRPr>
      </a:lvl6pPr>
      <a:lvl7pPr marL="914400" algn="ctr" rtl="0" fontAlgn="base">
        <a:spcBef>
          <a:spcPct val="0"/>
        </a:spcBef>
        <a:spcAft>
          <a:spcPct val="0"/>
        </a:spcAft>
        <a:defRPr sz="3600">
          <a:solidFill>
            <a:srgbClr val="FF0000"/>
          </a:solidFill>
          <a:latin typeface="Arial" panose="02080604020202020204" pitchFamily="34" charset="0"/>
          <a:ea typeface="黑体" panose="02000500000000000000" pitchFamily="49" charset="-122"/>
        </a:defRPr>
      </a:lvl7pPr>
      <a:lvl8pPr marL="1371600" algn="ctr" rtl="0" fontAlgn="base">
        <a:spcBef>
          <a:spcPct val="0"/>
        </a:spcBef>
        <a:spcAft>
          <a:spcPct val="0"/>
        </a:spcAft>
        <a:defRPr sz="3600">
          <a:solidFill>
            <a:srgbClr val="FF0000"/>
          </a:solidFill>
          <a:latin typeface="Arial" panose="02080604020202020204" pitchFamily="34" charset="0"/>
          <a:ea typeface="黑体" panose="02000500000000000000" pitchFamily="49" charset="-122"/>
        </a:defRPr>
      </a:lvl8pPr>
      <a:lvl9pPr marL="1828800" algn="ctr" rtl="0" fontAlgn="base">
        <a:spcBef>
          <a:spcPct val="0"/>
        </a:spcBef>
        <a:spcAft>
          <a:spcPct val="0"/>
        </a:spcAft>
        <a:defRPr sz="3600">
          <a:solidFill>
            <a:srgbClr val="FF0000"/>
          </a:solidFill>
          <a:latin typeface="Arial" panose="02080604020202020204" pitchFamily="34" charset="0"/>
          <a:ea typeface="黑体" panose="02000500000000000000" pitchFamily="49" charset="-122"/>
        </a:defRPr>
      </a:lvl9pPr>
    </p:titleStyle>
    <p:bodyStyle>
      <a:lvl1pPr marL="342900" indent="-342900" algn="l" rtl="0" eaLnBrk="0" fontAlgn="base" hangingPunct="0">
        <a:lnSpc>
          <a:spcPct val="150000"/>
        </a:lnSpc>
        <a:spcBef>
          <a:spcPct val="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50000"/>
        </a:lnSpc>
        <a:spcBef>
          <a:spcPct val="0"/>
        </a:spcBef>
        <a:spcAft>
          <a:spcPct val="0"/>
        </a:spcAft>
        <a:buChar char="•"/>
        <a:defRPr sz="2000" b="1">
          <a:solidFill>
            <a:schemeClr val="tx1"/>
          </a:solidFill>
          <a:latin typeface="+mn-lt"/>
          <a:ea typeface="+mn-ea"/>
        </a:defRPr>
      </a:lvl2pPr>
      <a:lvl3pPr marL="1143000" indent="-228600" algn="l" rtl="0" eaLnBrk="0" fontAlgn="base" hangingPunct="0">
        <a:lnSpc>
          <a:spcPct val="150000"/>
        </a:lnSpc>
        <a:spcBef>
          <a:spcPct val="0"/>
        </a:spcBef>
        <a:spcAft>
          <a:spcPct val="0"/>
        </a:spcAft>
        <a:buChar char="•"/>
        <a:defRPr b="1">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j-lt"/>
          <a:ea typeface="+mn-ea"/>
        </a:defRPr>
      </a:lvl4pPr>
      <a:lvl5pPr marL="2057400" indent="-228600" algn="l" rtl="0" eaLnBrk="0" fontAlgn="base" hangingPunct="0">
        <a:spcBef>
          <a:spcPct val="20000"/>
        </a:spcBef>
        <a:spcAft>
          <a:spcPct val="0"/>
        </a:spcAft>
        <a:buChar char="»"/>
        <a:defRPr sz="2000">
          <a:solidFill>
            <a:schemeClr val="tx1"/>
          </a:solidFill>
          <a:latin typeface="+mj-lt"/>
          <a:ea typeface="+mn-ea"/>
        </a:defRPr>
      </a:lvl5pPr>
      <a:lvl6pPr marL="2514600" indent="-228600" algn="l" rtl="0" fontAlgn="base">
        <a:spcBef>
          <a:spcPct val="20000"/>
        </a:spcBef>
        <a:spcAft>
          <a:spcPct val="0"/>
        </a:spcAft>
        <a:buChar char="»"/>
        <a:defRPr sz="2000">
          <a:solidFill>
            <a:schemeClr val="tx1"/>
          </a:solidFill>
          <a:latin typeface="+mj-lt"/>
          <a:ea typeface="+mn-ea"/>
        </a:defRPr>
      </a:lvl6pPr>
      <a:lvl7pPr marL="2971800" indent="-228600" algn="l" rtl="0" fontAlgn="base">
        <a:spcBef>
          <a:spcPct val="20000"/>
        </a:spcBef>
        <a:spcAft>
          <a:spcPct val="0"/>
        </a:spcAft>
        <a:buChar char="»"/>
        <a:defRPr sz="2000">
          <a:solidFill>
            <a:schemeClr val="tx1"/>
          </a:solidFill>
          <a:latin typeface="+mj-lt"/>
          <a:ea typeface="+mn-ea"/>
        </a:defRPr>
      </a:lvl7pPr>
      <a:lvl8pPr marL="3429000" indent="-228600" algn="l" rtl="0" fontAlgn="base">
        <a:spcBef>
          <a:spcPct val="20000"/>
        </a:spcBef>
        <a:spcAft>
          <a:spcPct val="0"/>
        </a:spcAft>
        <a:buChar char="»"/>
        <a:defRPr sz="2000">
          <a:solidFill>
            <a:schemeClr val="tx1"/>
          </a:solidFill>
          <a:latin typeface="+mj-lt"/>
          <a:ea typeface="+mn-ea"/>
        </a:defRPr>
      </a:lvl8pPr>
      <a:lvl9pPr marL="3886200" indent="-228600" algn="l" rtl="0" fontAlgn="base">
        <a:spcBef>
          <a:spcPct val="20000"/>
        </a:spcBef>
        <a:spcAft>
          <a:spcPct val="0"/>
        </a:spcAft>
        <a:buChar char="»"/>
        <a:defRPr sz="20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image" Target="../media/image1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0" Type="http://schemas.openxmlformats.org/officeDocument/2006/relationships/slideLayout" Target="../slideLayouts/slideLayout6.xml"/><Relationship Id="rId1" Type="http://schemas.openxmlformats.org/officeDocument/2006/relationships/image" Target="../media/image16.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25.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099" name="Rectangle 2"/>
          <p:cNvSpPr>
            <a:spLocks noGrp="1"/>
          </p:cNvSpPr>
          <p:nvPr>
            <p:ph type="ctrTitle"/>
          </p:nvPr>
        </p:nvSpPr>
        <p:spPr>
          <a:xfrm>
            <a:off x="220663" y="914400"/>
            <a:ext cx="11723687" cy="1927225"/>
          </a:xfrm>
        </p:spPr>
        <p:txBody>
          <a:bodyPr vert="horz" wrap="square" lIns="91440" tIns="45720" rIns="91440" bIns="45720" anchor="ctr" anchorCtr="0"/>
          <a:lstStyle/>
          <a:p>
            <a:pPr eaLnBrk="1" hangingPunct="1">
              <a:buClrTx/>
              <a:buSzTx/>
              <a:buFontTx/>
            </a:pPr>
            <a:r>
              <a:rPr lang="zh-CN" altLang="en-US" sz="4800" dirty="0"/>
              <a:t>计算机体系结构</a:t>
            </a:r>
            <a:endParaRPr lang="zh-CN" altLang="en-US" dirty="0"/>
          </a:p>
        </p:txBody>
      </p:sp>
      <p:sp>
        <p:nvSpPr>
          <p:cNvPr id="4100" name="Rectangle 3"/>
          <p:cNvSpPr>
            <a:spLocks noGrp="1"/>
          </p:cNvSpPr>
          <p:nvPr>
            <p:ph type="subTitle" idx="1"/>
          </p:nvPr>
        </p:nvSpPr>
        <p:spPr>
          <a:xfrm>
            <a:off x="2690813" y="3827463"/>
            <a:ext cx="6821487" cy="2124075"/>
          </a:xfrm>
        </p:spPr>
        <p:txBody>
          <a:bodyPr vert="horz" wrap="square" lIns="91440" tIns="45720" rIns="91440" bIns="45720" anchor="t" anchorCtr="0"/>
          <a:lstStyle/>
          <a:p>
            <a:pPr eaLnBrk="1" hangingPunct="1">
              <a:buClrTx/>
              <a:buSzTx/>
              <a:buFontTx/>
            </a:pPr>
            <a:endParaRPr lang="en-US" altLang="zh-CN" dirty="0">
              <a:latin typeface="+mn-lt"/>
              <a:ea typeface="+mn-ea"/>
              <a:cs typeface="+mn-cs"/>
            </a:endParaRPr>
          </a:p>
          <a:p>
            <a:pPr eaLnBrk="1" hangingPunct="1">
              <a:buClrTx/>
              <a:buSzTx/>
              <a:buFontTx/>
            </a:pPr>
            <a:r>
              <a:rPr lang="zh-CN" altLang="en-US" dirty="0">
                <a:latin typeface="+mn-lt"/>
                <a:ea typeface="+mn-ea"/>
                <a:cs typeface="+mn-cs"/>
              </a:rPr>
              <a:t>胡伟武、汪文祥</a:t>
            </a:r>
            <a:endParaRPr lang="zh-CN" altLang="en-US" sz="2800"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123" name="Rectangle 2"/>
          <p:cNvSpPr>
            <a:spLocks noGrp="1"/>
          </p:cNvSpPr>
          <p:nvPr>
            <p:ph type="title"/>
          </p:nvPr>
        </p:nvSpPr>
        <p:spPr/>
        <p:txBody>
          <a:bodyPr vert="horz" wrap="square" lIns="92075" tIns="46038" rIns="92075" bIns="46038" anchor="ctr" anchorCtr="0"/>
          <a:lstStyle/>
          <a:p>
            <a:pPr eaLnBrk="1" hangingPunct="1"/>
            <a:r>
              <a:rPr lang="zh-CN" altLang="en-US" sz="4000" dirty="0"/>
              <a:t>多处理器</a:t>
            </a:r>
            <a:endParaRPr lang="zh-CN" altLang="en-US" sz="3200" dirty="0"/>
          </a:p>
        </p:txBody>
      </p:sp>
      <p:sp>
        <p:nvSpPr>
          <p:cNvPr id="5124" name="Rectangle 3"/>
          <p:cNvSpPr>
            <a:spLocks noGrp="1" noChangeArrowheads="1"/>
          </p:cNvSpPr>
          <p:nvPr>
            <p:ph idx="1"/>
          </p:nvPr>
        </p:nvSpPr>
        <p:spPr>
          <a:xfrm>
            <a:off x="1312863" y="1916113"/>
            <a:ext cx="8682038" cy="4103688"/>
          </a:xfrm>
        </p:spPr>
        <p:txBody>
          <a:bodyPr vert="horz" wrap="square" lIns="92075" tIns="46038" rIns="92075" bIns="46038"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400" b="1" i="0" u="none" strike="noStrike" kern="0" cap="none" spc="0" normalizeH="0" baseline="0" noProof="0" dirty="0" smtClean="0">
                <a:ln>
                  <a:noFill/>
                </a:ln>
                <a:solidFill>
                  <a:schemeClr val="tx1"/>
                </a:solidFill>
                <a:effectLst/>
                <a:uLnTx/>
                <a:uFillTx/>
                <a:latin typeface="+mn-ea"/>
                <a:ea typeface="+mn-ea"/>
                <a:cs typeface="+mn-cs"/>
              </a:rPr>
              <a:t>消息传递与共享存储</a:t>
            </a:r>
            <a:endParaRPr kumimoji="0" lang="zh-CN" altLang="en-US" sz="24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400" b="1" i="0" u="none" strike="noStrike" kern="0" cap="none" spc="0" normalizeH="0" baseline="0" noProof="0" dirty="0" smtClean="0">
                <a:ln>
                  <a:noFill/>
                </a:ln>
                <a:solidFill>
                  <a:schemeClr val="tx1"/>
                </a:solidFill>
                <a:effectLst/>
                <a:uLnTx/>
                <a:uFillTx/>
                <a:latin typeface="+mn-ea"/>
                <a:ea typeface="+mn-ea"/>
                <a:cs typeface="+mn-cs"/>
              </a:rPr>
              <a:t>共享存储系统中的访存相关性</a:t>
            </a:r>
            <a:endParaRPr kumimoji="0" lang="zh-CN" altLang="en-US" sz="24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400" b="1" i="0" u="none" strike="noStrike" kern="0" cap="none" spc="0" normalizeH="0" baseline="0" noProof="0" dirty="0" smtClean="0">
                <a:ln>
                  <a:noFill/>
                </a:ln>
                <a:solidFill>
                  <a:schemeClr val="tx1"/>
                </a:solidFill>
                <a:effectLst/>
                <a:uLnTx/>
                <a:uFillTx/>
                <a:latin typeface="+mn-ea"/>
                <a:ea typeface="+mn-ea"/>
                <a:cs typeface="+mn-cs"/>
              </a:rPr>
              <a:t>共享存储系统的访存事件次序</a:t>
            </a:r>
            <a:endParaRPr kumimoji="0" lang="zh-CN" altLang="en-US" sz="24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400" b="1" i="0" u="none" strike="noStrike" kern="0" cap="none" spc="0" normalizeH="0" baseline="0" noProof="0" dirty="0" smtClean="0">
                <a:ln>
                  <a:noFill/>
                </a:ln>
                <a:solidFill>
                  <a:schemeClr val="tx1"/>
                </a:solidFill>
                <a:effectLst/>
                <a:uLnTx/>
                <a:uFillTx/>
                <a:latin typeface="+mn-ea"/>
                <a:ea typeface="+mn-ea"/>
                <a:cs typeface="+mn-cs"/>
              </a:rPr>
              <a:t>存储一致性模型</a:t>
            </a:r>
            <a:endParaRPr kumimoji="0" lang="zh-CN" altLang="en-US" sz="24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en-US" altLang="zh-CN" sz="2400" b="1" i="0" u="none" strike="noStrike" kern="0" cap="none" spc="0" normalizeH="0" baseline="0" noProof="0" dirty="0" smtClean="0">
                <a:ln>
                  <a:noFill/>
                </a:ln>
                <a:solidFill>
                  <a:schemeClr val="tx1"/>
                </a:solidFill>
                <a:effectLst/>
                <a:uLnTx/>
                <a:uFillTx/>
                <a:latin typeface="+mn-ea"/>
                <a:ea typeface="+mn-ea"/>
                <a:cs typeface="+mn-cs"/>
              </a:rPr>
              <a:t>CACHE</a:t>
            </a:r>
            <a:r>
              <a:rPr kumimoji="0" lang="zh-CN" altLang="en-US" sz="2400" b="1" i="0" u="none" strike="noStrike" kern="0" cap="none" spc="0" normalizeH="0" baseline="0" noProof="0" dirty="0" smtClean="0">
                <a:ln>
                  <a:noFill/>
                </a:ln>
                <a:solidFill>
                  <a:schemeClr val="tx1"/>
                </a:solidFill>
                <a:effectLst/>
                <a:uLnTx/>
                <a:uFillTx/>
                <a:latin typeface="+mn-ea"/>
                <a:ea typeface="+mn-ea"/>
                <a:cs typeface="+mn-cs"/>
              </a:rPr>
              <a:t>一致性协议</a:t>
            </a:r>
            <a:endParaRPr kumimoji="0" lang="zh-CN" altLang="en-US" sz="24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400" b="1" i="0" u="none" strike="noStrike" kern="0" cap="none" spc="0" normalizeH="0" baseline="0" noProof="0" dirty="0" smtClean="0">
                <a:ln>
                  <a:noFill/>
                </a:ln>
                <a:solidFill>
                  <a:schemeClr val="tx1"/>
                </a:solidFill>
                <a:effectLst/>
                <a:uLnTx/>
                <a:uFillTx/>
                <a:latin typeface="+mn-ea"/>
                <a:ea typeface="+mn-ea"/>
                <a:cs typeface="+mn-cs"/>
              </a:rPr>
              <a:t>典型多核处理器</a:t>
            </a:r>
            <a:endParaRPr kumimoji="0" lang="zh-CN" altLang="en-US" sz="24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None/>
              <a:defRPr/>
            </a:pPr>
            <a:endParaRPr kumimoji="0" lang="en-US" altLang="zh-CN" sz="2400" b="1" i="0" u="none" strike="noStrike" kern="0" cap="none" spc="0" normalizeH="0" baseline="0" noProof="0" dirty="0" smtClean="0">
              <a:ln>
                <a:noFill/>
              </a:ln>
              <a:solidFill>
                <a:schemeClr val="tx1"/>
              </a:solidFill>
              <a:effectLst/>
              <a:uLnTx/>
              <a:uFillTx/>
              <a:latin typeface="+mn-ea"/>
              <a:ea typeface="+mn-ea"/>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4"/>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6147" name="Rectangle 2"/>
          <p:cNvSpPr>
            <a:spLocks noGrp="1"/>
          </p:cNvSpPr>
          <p:nvPr>
            <p:ph type="title"/>
          </p:nvPr>
        </p:nvSpPr>
        <p:spPr>
          <a:xfrm>
            <a:off x="866775" y="2708275"/>
            <a:ext cx="10971213" cy="1143000"/>
          </a:xfrm>
        </p:spPr>
        <p:txBody>
          <a:bodyPr vert="horz" wrap="square" lIns="91440" tIns="45720" rIns="91440" bIns="45720" anchor="ctr" anchorCtr="0"/>
          <a:lstStyle/>
          <a:p>
            <a:pPr eaLnBrk="1" hangingPunct="1"/>
            <a:r>
              <a:rPr lang="zh-CN" altLang="en-US" dirty="0"/>
              <a:t>消息传递与共享存储</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028" name="Rectangle 2"/>
          <p:cNvSpPr>
            <a:spLocks noGrp="1"/>
          </p:cNvSpPr>
          <p:nvPr>
            <p:ph type="title"/>
          </p:nvPr>
        </p:nvSpPr>
        <p:spPr>
          <a:xfrm>
            <a:off x="1044575" y="0"/>
            <a:ext cx="10077450" cy="1052513"/>
          </a:xfrm>
        </p:spPr>
        <p:txBody>
          <a:bodyPr vert="horz" wrap="square" lIns="91440" tIns="45720" rIns="91440" bIns="45720" anchor="ctr" anchorCtr="0"/>
          <a:lstStyle/>
          <a:p>
            <a:pPr eaLnBrk="1" hangingPunct="1"/>
            <a:r>
              <a:rPr lang="zh-CN" altLang="en-US" dirty="0"/>
              <a:t>两种并行系统：消息传递与共享存储</a:t>
            </a:r>
            <a:endParaRPr lang="zh-CN" altLang="en-US" dirty="0"/>
          </a:p>
        </p:txBody>
      </p:sp>
      <p:graphicFrame>
        <p:nvGraphicFramePr>
          <p:cNvPr id="1026" name="Object 4"/>
          <p:cNvGraphicFramePr/>
          <p:nvPr/>
        </p:nvGraphicFramePr>
        <p:xfrm>
          <a:off x="2260600" y="1524000"/>
          <a:ext cx="6686550" cy="2363788"/>
        </p:xfrm>
        <a:graphic>
          <a:graphicData uri="http://schemas.openxmlformats.org/presentationml/2006/ole">
            <mc:AlternateContent xmlns:mc="http://schemas.openxmlformats.org/markup-compatibility/2006">
              <mc:Choice xmlns:v="urn:schemas-microsoft-com:vml" Requires="v">
                <p:oleObj spid="_x0000_s1025" name="" r:id="rId1" imgW="15725775" imgH="6838950" progId="Word.Picture.8">
                  <p:embed/>
                </p:oleObj>
              </mc:Choice>
              <mc:Fallback>
                <p:oleObj name="" r:id="rId1" imgW="15725775" imgH="6838950" progId="Word.Picture.8">
                  <p:embed/>
                  <p:pic>
                    <p:nvPicPr>
                      <p:cNvPr id="0" name="图片 1024"/>
                      <p:cNvPicPr/>
                      <p:nvPr/>
                    </p:nvPicPr>
                    <p:blipFill>
                      <a:blip r:embed="rId2"/>
                      <a:stretch>
                        <a:fillRect/>
                      </a:stretch>
                    </p:blipFill>
                    <p:spPr>
                      <a:xfrm>
                        <a:off x="2260600" y="1524000"/>
                        <a:ext cx="6686550" cy="2363788"/>
                      </a:xfrm>
                      <a:prstGeom prst="rect">
                        <a:avLst/>
                      </a:prstGeom>
                      <a:solidFill>
                        <a:srgbClr val="BBE0E3"/>
                      </a:solidFill>
                      <a:ln w="12700" cap="flat" cmpd="sng">
                        <a:solidFill>
                          <a:srgbClr val="000000"/>
                        </a:solidFill>
                        <a:prstDash val="solid"/>
                        <a:miter/>
                        <a:headEnd type="none" w="med" len="med"/>
                        <a:tailEnd type="none" w="med" len="med"/>
                      </a:ln>
                    </p:spPr>
                  </p:pic>
                </p:oleObj>
              </mc:Fallback>
            </mc:AlternateContent>
          </a:graphicData>
        </a:graphic>
      </p:graphicFrame>
      <p:sp>
        <p:nvSpPr>
          <p:cNvPr id="1029" name="Rectangle 5"/>
          <p:cNvSpPr/>
          <p:nvPr/>
        </p:nvSpPr>
        <p:spPr>
          <a:xfrm>
            <a:off x="1125538" y="4114800"/>
            <a:ext cx="4862512" cy="2209800"/>
          </a:xfrm>
          <a:prstGeom prst="rect">
            <a:avLst/>
          </a:prstGeom>
          <a:noFill/>
          <a:ln w="9525">
            <a:noFill/>
          </a:ln>
        </p:spPr>
        <p:txBody>
          <a:bodyPr lIns="92075" tIns="46038" rIns="92075" bIns="46038"/>
          <a:lstStyle/>
          <a:p>
            <a:pPr marL="342900" indent="-342900">
              <a:lnSpc>
                <a:spcPct val="150000"/>
              </a:lnSpc>
              <a:spcBef>
                <a:spcPts val="600"/>
              </a:spcBef>
              <a:buChar char="•"/>
            </a:pPr>
            <a:r>
              <a:rPr lang="zh-CN" altLang="en-US" b="1" dirty="0">
                <a:latin typeface="Times New Roman" pitchFamily="18" charset="0"/>
              </a:rPr>
              <a:t>多地址空间</a:t>
            </a:r>
            <a:endParaRPr lang="zh-CN" altLang="en-US" b="1" dirty="0">
              <a:latin typeface="Times New Roman" pitchFamily="18" charset="0"/>
            </a:endParaRPr>
          </a:p>
          <a:p>
            <a:pPr marL="342900" indent="-342900">
              <a:lnSpc>
                <a:spcPct val="150000"/>
              </a:lnSpc>
              <a:spcBef>
                <a:spcPts val="600"/>
              </a:spcBef>
              <a:buChar char="•"/>
            </a:pPr>
            <a:r>
              <a:rPr lang="zh-CN" altLang="en-US" b="1" dirty="0">
                <a:latin typeface="Times New Roman" pitchFamily="18" charset="0"/>
              </a:rPr>
              <a:t>消息传递通讯</a:t>
            </a:r>
            <a:endParaRPr lang="zh-CN" altLang="en-US" b="1" dirty="0">
              <a:latin typeface="Times New Roman" pitchFamily="18" charset="0"/>
            </a:endParaRPr>
          </a:p>
          <a:p>
            <a:pPr marL="342900" indent="-342900">
              <a:lnSpc>
                <a:spcPct val="150000"/>
              </a:lnSpc>
              <a:spcBef>
                <a:spcPts val="600"/>
              </a:spcBef>
              <a:buChar char="•"/>
            </a:pPr>
            <a:r>
              <a:rPr lang="zh-CN" altLang="en-US" b="1" dirty="0">
                <a:latin typeface="Times New Roman" pitchFamily="18" charset="0"/>
              </a:rPr>
              <a:t>编程困难、程序移植困难</a:t>
            </a:r>
            <a:endParaRPr lang="zh-CN" altLang="en-US" b="1" dirty="0">
              <a:latin typeface="Times New Roman" pitchFamily="18" charset="0"/>
            </a:endParaRPr>
          </a:p>
          <a:p>
            <a:pPr marL="342900" indent="-342900">
              <a:lnSpc>
                <a:spcPct val="150000"/>
              </a:lnSpc>
              <a:spcBef>
                <a:spcPts val="600"/>
              </a:spcBef>
              <a:buChar char="•"/>
            </a:pPr>
            <a:r>
              <a:rPr lang="zh-CN" altLang="en-US" b="1" dirty="0">
                <a:latin typeface="Times New Roman" pitchFamily="18" charset="0"/>
              </a:rPr>
              <a:t>通用性差</a:t>
            </a:r>
            <a:endParaRPr lang="zh-CN" altLang="en-US" b="1" dirty="0">
              <a:latin typeface="Times New Roman" pitchFamily="18" charset="0"/>
            </a:endParaRPr>
          </a:p>
          <a:p>
            <a:pPr marL="342900" indent="-342900">
              <a:lnSpc>
                <a:spcPct val="150000"/>
              </a:lnSpc>
              <a:spcBef>
                <a:spcPts val="600"/>
              </a:spcBef>
              <a:buChar char="•"/>
            </a:pPr>
            <a:r>
              <a:rPr lang="zh-CN" altLang="en-US" b="1" dirty="0">
                <a:latin typeface="Times New Roman" pitchFamily="18" charset="0"/>
              </a:rPr>
              <a:t>可伸缩性好</a:t>
            </a:r>
            <a:endParaRPr lang="zh-CN" altLang="en-US" b="1" dirty="0">
              <a:latin typeface="Times New Roman" pitchFamily="18" charset="0"/>
            </a:endParaRPr>
          </a:p>
        </p:txBody>
      </p:sp>
      <p:sp>
        <p:nvSpPr>
          <p:cNvPr id="1030" name="Rectangle 6"/>
          <p:cNvSpPr/>
          <p:nvPr/>
        </p:nvSpPr>
        <p:spPr>
          <a:xfrm>
            <a:off x="6538913" y="4221163"/>
            <a:ext cx="4751387" cy="2209800"/>
          </a:xfrm>
          <a:prstGeom prst="rect">
            <a:avLst/>
          </a:prstGeom>
          <a:noFill/>
          <a:ln w="9525">
            <a:noFill/>
          </a:ln>
        </p:spPr>
        <p:txBody>
          <a:bodyPr lIns="92075" tIns="46038" rIns="92075" bIns="46038"/>
          <a:lstStyle/>
          <a:p>
            <a:pPr marL="342900" indent="-342900">
              <a:lnSpc>
                <a:spcPct val="150000"/>
              </a:lnSpc>
              <a:spcBef>
                <a:spcPts val="600"/>
              </a:spcBef>
              <a:buChar char="•"/>
            </a:pPr>
            <a:r>
              <a:rPr lang="zh-CN" altLang="en-US" b="1" dirty="0">
                <a:latin typeface="Arial" panose="02080604020202020204" pitchFamily="34" charset="0"/>
              </a:rPr>
              <a:t>单地址空间</a:t>
            </a:r>
            <a:endParaRPr lang="zh-CN" altLang="en-US" b="1" dirty="0">
              <a:latin typeface="Arial" panose="02080604020202020204" pitchFamily="34" charset="0"/>
            </a:endParaRPr>
          </a:p>
          <a:p>
            <a:pPr marL="342900" indent="-342900">
              <a:lnSpc>
                <a:spcPct val="150000"/>
              </a:lnSpc>
              <a:spcBef>
                <a:spcPts val="600"/>
              </a:spcBef>
              <a:buChar char="•"/>
            </a:pPr>
            <a:r>
              <a:rPr lang="zh-CN" altLang="en-US" b="1" dirty="0">
                <a:latin typeface="Arial" panose="02080604020202020204" pitchFamily="34" charset="0"/>
              </a:rPr>
              <a:t>共享存储通讯</a:t>
            </a:r>
            <a:endParaRPr lang="zh-CN" altLang="en-US" b="1" dirty="0">
              <a:latin typeface="Arial" panose="02080604020202020204" pitchFamily="34" charset="0"/>
            </a:endParaRPr>
          </a:p>
          <a:p>
            <a:pPr marL="342900" indent="-342900">
              <a:lnSpc>
                <a:spcPct val="150000"/>
              </a:lnSpc>
              <a:spcBef>
                <a:spcPts val="600"/>
              </a:spcBef>
              <a:buChar char="•"/>
            </a:pPr>
            <a:r>
              <a:rPr lang="zh-CN" altLang="en-US" b="1" dirty="0">
                <a:latin typeface="Arial" panose="02080604020202020204" pitchFamily="34" charset="0"/>
              </a:rPr>
              <a:t>编程容易、程序易移植</a:t>
            </a:r>
            <a:endParaRPr lang="zh-CN" altLang="en-US" b="1" dirty="0">
              <a:latin typeface="Arial" panose="02080604020202020204" pitchFamily="34" charset="0"/>
            </a:endParaRPr>
          </a:p>
          <a:p>
            <a:pPr marL="342900" indent="-342900">
              <a:lnSpc>
                <a:spcPct val="150000"/>
              </a:lnSpc>
              <a:spcBef>
                <a:spcPts val="600"/>
              </a:spcBef>
              <a:buChar char="•"/>
            </a:pPr>
            <a:r>
              <a:rPr lang="zh-CN" altLang="en-US" b="1" dirty="0">
                <a:latin typeface="Arial" panose="02080604020202020204" pitchFamily="34" charset="0"/>
              </a:rPr>
              <a:t>通用性强</a:t>
            </a:r>
            <a:endParaRPr lang="zh-CN" altLang="en-US" b="1" dirty="0">
              <a:latin typeface="Arial" panose="02080604020202020204" pitchFamily="34" charset="0"/>
            </a:endParaRPr>
          </a:p>
          <a:p>
            <a:pPr marL="342900" indent="-342900">
              <a:lnSpc>
                <a:spcPct val="150000"/>
              </a:lnSpc>
              <a:spcBef>
                <a:spcPts val="600"/>
              </a:spcBef>
              <a:buChar char="•"/>
            </a:pPr>
            <a:r>
              <a:rPr lang="zh-CN" altLang="en-US" b="1" dirty="0">
                <a:latin typeface="Arial" panose="02080604020202020204" pitchFamily="34" charset="0"/>
              </a:rPr>
              <a:t>可伸缩性一般</a:t>
            </a:r>
            <a:endParaRPr lang="zh-CN" altLang="en-US" b="1" dirty="0">
              <a:latin typeface="Arial" panose="0208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7171" name="Rectangle 2"/>
          <p:cNvSpPr/>
          <p:nvPr/>
        </p:nvSpPr>
        <p:spPr>
          <a:xfrm>
            <a:off x="1220788" y="0"/>
            <a:ext cx="9564687" cy="1052513"/>
          </a:xfrm>
          <a:prstGeom prst="rect">
            <a:avLst/>
          </a:prstGeom>
          <a:noFill/>
          <a:ln w="9525">
            <a:noFill/>
          </a:ln>
        </p:spPr>
        <p:txBody>
          <a:bodyPr lIns="92075" tIns="46038" rIns="92075" bIns="46038"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共享存储与消息传递的编程复杂度</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7172" name="Rectangle 3"/>
          <p:cNvSpPr>
            <a:spLocks noChangeArrowheads="1"/>
          </p:cNvSpPr>
          <p:nvPr/>
        </p:nvSpPr>
        <p:spPr bwMode="auto">
          <a:xfrm>
            <a:off x="561975" y="1268413"/>
            <a:ext cx="10972800" cy="5284788"/>
          </a:xfrm>
          <a:prstGeom prst="rect">
            <a:avLst/>
          </a:prstGeom>
          <a:noFill/>
          <a:ln w="9525">
            <a:noFill/>
            <a:miter lim="800000"/>
          </a:ln>
        </p:spPr>
        <p:txBody>
          <a:bodyPr lIns="92075" tIns="46038" rIns="92075" bIns="46038"/>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任务划分与数据划分</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共享存储编程只需划分任务</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消息传递编程除了划分任务外，还需划分数据和考虑通信</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微信与短信</a:t>
            </a:r>
            <a:endParaRPr kumimoji="0" lang="en-US" altLang="zh-CN"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传递复杂的数据结构较困难</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多个指针组成的结构</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1800" b="1" i="0" u="none" strike="noStrike" kern="1200" cap="none" spc="0" normalizeH="0" baseline="0" noProof="0" dirty="0" err="1">
                <a:ln>
                  <a:noFill/>
                </a:ln>
                <a:solidFill>
                  <a:schemeClr val="tx1"/>
                </a:solidFill>
                <a:effectLst/>
                <a:uLnTx/>
                <a:uFillTx/>
                <a:latin typeface="+mn-ea"/>
                <a:ea typeface="+mn-ea"/>
                <a:cs typeface="+mn-cs"/>
              </a:rPr>
              <a:t>struct</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1800" b="1" i="0" u="none" strike="noStrike" kern="1200" cap="none" spc="0" normalizeH="0" baseline="0" noProof="0" dirty="0" err="1">
                <a:ln>
                  <a:noFill/>
                </a:ln>
                <a:solidFill>
                  <a:schemeClr val="tx1"/>
                </a:solidFill>
                <a:effectLst/>
                <a:uLnTx/>
                <a:uFillTx/>
                <a:latin typeface="+mn-ea"/>
                <a:ea typeface="+mn-ea"/>
                <a:cs typeface="+mn-cs"/>
              </a:rPr>
              <a:t>int</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 *pa; </a:t>
            </a:r>
            <a:r>
              <a:rPr kumimoji="0" lang="en-US" altLang="zh-CN" sz="1800" b="1" i="0" u="none" strike="noStrike" kern="1200" cap="none" spc="0" normalizeH="0" baseline="0" noProof="0" dirty="0" err="1">
                <a:ln>
                  <a:noFill/>
                </a:ln>
                <a:solidFill>
                  <a:schemeClr val="tx1"/>
                </a:solidFill>
                <a:effectLst/>
                <a:uLnTx/>
                <a:uFillTx/>
                <a:latin typeface="+mn-ea"/>
                <a:ea typeface="+mn-ea"/>
                <a:cs typeface="+mn-cs"/>
              </a:rPr>
              <a:t>int</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1800" b="1" i="0" u="none" strike="noStrike" kern="1200" cap="none" spc="0" normalizeH="0" baseline="0" noProof="0" dirty="0" err="1">
                <a:ln>
                  <a:noFill/>
                </a:ln>
                <a:solidFill>
                  <a:schemeClr val="tx1"/>
                </a:solidFill>
                <a:effectLst/>
                <a:uLnTx/>
                <a:uFillTx/>
                <a:latin typeface="+mn-ea"/>
                <a:ea typeface="+mn-ea"/>
                <a:cs typeface="+mn-cs"/>
              </a:rPr>
              <a:t>pb</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1800" b="1" i="0" u="none" strike="noStrike" kern="1200" cap="none" spc="0" normalizeH="0" baseline="0" noProof="0" dirty="0" err="1">
                <a:ln>
                  <a:noFill/>
                </a:ln>
                <a:solidFill>
                  <a:schemeClr val="tx1"/>
                </a:solidFill>
                <a:effectLst/>
                <a:uLnTx/>
                <a:uFillTx/>
                <a:latin typeface="+mn-ea"/>
                <a:ea typeface="+mn-ea"/>
                <a:cs typeface="+mn-cs"/>
              </a:rPr>
              <a:t>int</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 *pc}</a:t>
            </a:r>
            <a:endParaRPr kumimoji="0" lang="en-US" altLang="zh-CN"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动态通信</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en-US" altLang="zh-CN" sz="1800" b="1" i="0" u="none" strike="noStrike" kern="1200" cap="none" spc="0" normalizeH="0" baseline="0" noProof="0" dirty="0">
                <a:ln>
                  <a:noFill/>
                </a:ln>
                <a:solidFill>
                  <a:schemeClr val="tx1"/>
                </a:solidFill>
                <a:effectLst/>
                <a:uLnTx/>
                <a:uFillTx/>
                <a:latin typeface="+mn-ea"/>
                <a:ea typeface="+mn-ea"/>
                <a:cs typeface="+mn-cs"/>
              </a:rPr>
              <a:t>{for (</a:t>
            </a:r>
            <a:r>
              <a:rPr kumimoji="0" lang="en-US" altLang="zh-CN" sz="1800" b="1" i="0" u="none" strike="noStrike" kern="1200" cap="none" spc="0" normalizeH="0" baseline="0" noProof="0" dirty="0" err="1">
                <a:ln>
                  <a:noFill/>
                </a:ln>
                <a:solidFill>
                  <a:schemeClr val="tx1"/>
                </a:solidFill>
                <a:effectLst/>
                <a:uLnTx/>
                <a:uFillTx/>
                <a:latin typeface="+mn-ea"/>
                <a:ea typeface="+mn-ea"/>
                <a:cs typeface="+mn-cs"/>
              </a:rPr>
              <a:t>i,j</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 x=…; y=…; a[</a:t>
            </a:r>
            <a:r>
              <a:rPr kumimoji="0" lang="en-US" altLang="zh-CN" sz="1800" b="1" i="0" u="none" strike="noStrike" kern="1200" cap="none" spc="0" normalizeH="0" baseline="0" noProof="0" dirty="0" err="1">
                <a:ln>
                  <a:noFill/>
                </a:ln>
                <a:solidFill>
                  <a:schemeClr val="tx1"/>
                </a:solidFill>
                <a:effectLst/>
                <a:uLnTx/>
                <a:uFillTx/>
                <a:latin typeface="+mn-ea"/>
                <a:ea typeface="+mn-ea"/>
                <a:cs typeface="+mn-cs"/>
              </a:rPr>
              <a:t>i</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][j]=b[x][y];}}</a:t>
            </a:r>
            <a:endParaRPr kumimoji="0" lang="en-US" altLang="zh-CN"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进程迁移及进程数目的变化</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052" name="Rectangle 2"/>
          <p:cNvSpPr/>
          <p:nvPr/>
        </p:nvSpPr>
        <p:spPr>
          <a:xfrm>
            <a:off x="955675" y="0"/>
            <a:ext cx="10190163" cy="1095375"/>
          </a:xfrm>
          <a:prstGeom prst="rect">
            <a:avLst/>
          </a:prstGeom>
          <a:noFill/>
          <a:ln w="9525">
            <a:noFill/>
          </a:ln>
        </p:spPr>
        <p:txBody>
          <a:bodyPr lIns="92075" tIns="46038" rIns="92075" bIns="46038" anchor="ctr" anchorCtr="0"/>
          <a:lstStyle/>
          <a:p>
            <a:pPr algn="ctr"/>
            <a:r>
              <a:rPr lang="zh-CN" altLang="en-US" sz="3600" dirty="0">
                <a:solidFill>
                  <a:srgbClr val="FF0000"/>
                </a:solidFill>
                <a:latin typeface="黑体" panose="02000500000000000000" pitchFamily="49" charset="-122"/>
                <a:ea typeface="黑体" panose="02000500000000000000" pitchFamily="49" charset="-122"/>
                <a:cs typeface="黑体" panose="02000500000000000000" pitchFamily="49" charset="-122"/>
              </a:rPr>
              <a:t>例子：积分求</a:t>
            </a:r>
            <a:r>
              <a:rPr lang="en-US" altLang="zh-CN" sz="4800" dirty="0">
                <a:solidFill>
                  <a:srgbClr val="FF0000"/>
                </a:solidFill>
                <a:latin typeface="黑体" panose="02000500000000000000" pitchFamily="49" charset="-122"/>
                <a:ea typeface="黑体" panose="02000500000000000000" pitchFamily="49" charset="-122"/>
                <a:cs typeface="黑体" panose="02000500000000000000" pitchFamily="49" charset="-122"/>
                <a:sym typeface="+mn-ea"/>
              </a:rPr>
              <a:t>π</a:t>
            </a:r>
            <a:endParaRPr lang="en-US" altLang="zh-CN" sz="4800" dirty="0">
              <a:solidFill>
                <a:srgbClr val="FF0000"/>
              </a:solidFill>
              <a:latin typeface="黑体" panose="02000500000000000000" pitchFamily="49" charset="-122"/>
              <a:ea typeface="黑体" panose="02000500000000000000" pitchFamily="49" charset="-122"/>
              <a:cs typeface="黑体" panose="02000500000000000000" pitchFamily="49" charset="-122"/>
              <a:sym typeface="+mn-ea"/>
            </a:endParaRPr>
          </a:p>
        </p:txBody>
      </p:sp>
      <p:sp>
        <p:nvSpPr>
          <p:cNvPr id="2053" name="Text Box 3"/>
          <p:cNvSpPr txBox="1"/>
          <p:nvPr/>
        </p:nvSpPr>
        <p:spPr>
          <a:xfrm>
            <a:off x="2958465" y="3568700"/>
            <a:ext cx="6184900" cy="2922905"/>
          </a:xfrm>
          <a:prstGeom prst="rect">
            <a:avLst/>
          </a:prstGeom>
          <a:noFill/>
          <a:ln w="12700">
            <a:noFill/>
          </a:ln>
        </p:spPr>
        <p:txBody>
          <a:bodyPr wrap="square">
            <a:spAutoFit/>
          </a:bodyPr>
          <a:lstStyle/>
          <a:p>
            <a:pPr algn="ctr"/>
            <a:r>
              <a:rPr lang="zh-CN" altLang="zh-CN" sz="2400" b="1" dirty="0">
                <a:solidFill>
                  <a:srgbClr val="FF0000"/>
                </a:solidFill>
                <a:latin typeface="宋体" panose="02000500000000000000" pitchFamily="2" charset="-122"/>
                <a:cs typeface="宋体" panose="02000500000000000000" pitchFamily="2" charset="-122"/>
              </a:rPr>
              <a:t>串行程序</a:t>
            </a:r>
            <a:endParaRPr lang="zh-CN" altLang="en-US" sz="2400" b="1" dirty="0">
              <a:solidFill>
                <a:srgbClr val="FF0000"/>
              </a:solidFill>
              <a:latin typeface="宋体" panose="02000500000000000000" pitchFamily="2" charset="-122"/>
              <a:cs typeface="宋体" panose="02000500000000000000" pitchFamily="2" charset="-122"/>
            </a:endParaRPr>
          </a:p>
          <a:p>
            <a:endParaRPr lang="en-US" altLang="zh-CN" sz="2000" b="1" dirty="0">
              <a:latin typeface="宋体" panose="02000500000000000000" pitchFamily="2" charset="-122"/>
              <a:cs typeface="宋体" panose="02000500000000000000" pitchFamily="2" charset="-122"/>
            </a:endParaRPr>
          </a:p>
          <a:p>
            <a:r>
              <a:rPr lang="en-US" altLang="zh-CN" sz="2000" b="1" dirty="0">
                <a:latin typeface="宋体" panose="02000500000000000000" pitchFamily="2" charset="-122"/>
                <a:cs typeface="宋体" panose="02000500000000000000" pitchFamily="2" charset="-122"/>
              </a:rPr>
              <a:t>h = 1.0/N; pi = 0;</a:t>
            </a:r>
            <a:endParaRPr lang="en-US" altLang="zh-CN" sz="2000" b="1" dirty="0">
              <a:latin typeface="宋体" panose="02000500000000000000" pitchFamily="2" charset="-122"/>
              <a:cs typeface="宋体" panose="02000500000000000000" pitchFamily="2" charset="-122"/>
            </a:endParaRPr>
          </a:p>
          <a:p>
            <a:r>
              <a:rPr lang="en-US" altLang="zh-CN" sz="2000" b="1" dirty="0">
                <a:latin typeface="宋体" panose="02000500000000000000" pitchFamily="2" charset="-122"/>
                <a:cs typeface="宋体" panose="02000500000000000000" pitchFamily="2" charset="-122"/>
              </a:rPr>
              <a:t>for(i=1; i&lt;=N; i++){</a:t>
            </a:r>
            <a:endParaRPr lang="en-US" altLang="zh-CN" sz="2000" b="1" dirty="0">
              <a:latin typeface="宋体" panose="02000500000000000000" pitchFamily="2" charset="-122"/>
              <a:cs typeface="宋体" panose="02000500000000000000" pitchFamily="2" charset="-122"/>
            </a:endParaRPr>
          </a:p>
          <a:p>
            <a:r>
              <a:rPr lang="en-US" altLang="zh-CN" sz="2000" b="1" dirty="0">
                <a:latin typeface="宋体" panose="02000500000000000000" pitchFamily="2" charset="-122"/>
                <a:cs typeface="宋体" panose="02000500000000000000" pitchFamily="2" charset="-122"/>
              </a:rPr>
              <a:t>	temp = (i-0.5)*h;</a:t>
            </a:r>
            <a:endParaRPr lang="en-US" altLang="zh-CN" sz="2000" b="1" dirty="0">
              <a:latin typeface="宋体" panose="02000500000000000000" pitchFamily="2" charset="-122"/>
              <a:cs typeface="宋体" panose="02000500000000000000" pitchFamily="2" charset="-122"/>
            </a:endParaRPr>
          </a:p>
          <a:p>
            <a:r>
              <a:rPr lang="en-US" altLang="zh-CN" sz="2000" b="1" dirty="0">
                <a:latin typeface="宋体" panose="02000500000000000000" pitchFamily="2" charset="-122"/>
                <a:cs typeface="宋体" panose="02000500000000000000" pitchFamily="2" charset="-122"/>
              </a:rPr>
              <a:t>	pi = pi + 4/(1+temp*temp);</a:t>
            </a:r>
            <a:endParaRPr lang="en-US" altLang="zh-CN" sz="2000" b="1" dirty="0">
              <a:latin typeface="宋体" panose="02000500000000000000" pitchFamily="2" charset="-122"/>
              <a:cs typeface="宋体" panose="02000500000000000000" pitchFamily="2" charset="-122"/>
            </a:endParaRPr>
          </a:p>
          <a:p>
            <a:r>
              <a:rPr lang="en-US" altLang="zh-CN" sz="2000" b="1" dirty="0">
                <a:latin typeface="宋体" panose="02000500000000000000" pitchFamily="2" charset="-122"/>
                <a:cs typeface="宋体" panose="02000500000000000000" pitchFamily="2" charset="-122"/>
              </a:rPr>
              <a:t>}</a:t>
            </a:r>
            <a:endParaRPr lang="en-US" altLang="zh-CN" sz="2000" b="1" dirty="0">
              <a:latin typeface="宋体" panose="02000500000000000000" pitchFamily="2" charset="-122"/>
              <a:cs typeface="宋体" panose="02000500000000000000" pitchFamily="2" charset="-122"/>
            </a:endParaRPr>
          </a:p>
          <a:p>
            <a:r>
              <a:rPr lang="en-US" altLang="zh-CN" sz="2000" b="1" dirty="0">
                <a:latin typeface="宋体" panose="02000500000000000000" pitchFamily="2" charset="-122"/>
                <a:cs typeface="宋体" panose="02000500000000000000" pitchFamily="2" charset="-122"/>
              </a:rPr>
              <a:t>pi = pi * h;</a:t>
            </a:r>
            <a:endParaRPr lang="en-US" altLang="zh-CN" sz="2000" b="1" dirty="0">
              <a:latin typeface="宋体" panose="02000500000000000000" pitchFamily="2" charset="-122"/>
              <a:cs typeface="宋体" panose="02000500000000000000" pitchFamily="2" charset="-122"/>
            </a:endParaRPr>
          </a:p>
          <a:p>
            <a:r>
              <a:rPr lang="en-US" altLang="zh-CN" sz="2000" b="1" dirty="0">
                <a:latin typeface="宋体" panose="02000500000000000000" pitchFamily="2" charset="-122"/>
                <a:cs typeface="宋体" panose="02000500000000000000" pitchFamily="2" charset="-122"/>
              </a:rPr>
              <a:t>printf pi;</a:t>
            </a:r>
            <a:endParaRPr lang="en-US" altLang="zh-CN" sz="2000" b="1" dirty="0">
              <a:latin typeface="宋体" panose="02000500000000000000" pitchFamily="2" charset="-122"/>
              <a:cs typeface="宋体" panose="02000500000000000000" pitchFamily="2" charset="-122"/>
            </a:endParaRPr>
          </a:p>
        </p:txBody>
      </p:sp>
      <p:pic>
        <p:nvPicPr>
          <p:cNvPr id="21506" name="Picture 2"/>
          <p:cNvPicPr>
            <a:picLocks noChangeAspect="1" noChangeArrowheads="1"/>
          </p:cNvPicPr>
          <p:nvPr/>
        </p:nvPicPr>
        <p:blipFill>
          <a:blip r:embed="rId1"/>
          <a:srcRect/>
          <a:stretch>
            <a:fillRect/>
          </a:stretch>
        </p:blipFill>
        <p:spPr bwMode="auto">
          <a:xfrm>
            <a:off x="1737488" y="1571612"/>
            <a:ext cx="9625009" cy="115728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txBox="1">
            <a:spLocks noGrp="1"/>
          </p:cNvSpPr>
          <p:nvPr>
            <p:ph type="sldNum" sz="quarter" idx="12"/>
          </p:nvPr>
        </p:nvSpPr>
        <p:spPr>
          <a:xfrm>
            <a:off x="8759508" y="6236970"/>
            <a:ext cx="2844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8195" name="Rectangle 2"/>
          <p:cNvSpPr>
            <a:spLocks noGrp="1"/>
          </p:cNvSpPr>
          <p:nvPr>
            <p:ph type="title"/>
          </p:nvPr>
        </p:nvSpPr>
        <p:spPr>
          <a:xfrm>
            <a:off x="601663" y="0"/>
            <a:ext cx="10971212" cy="1143000"/>
          </a:xfrm>
        </p:spPr>
        <p:txBody>
          <a:bodyPr vert="horz" wrap="square" lIns="91440" tIns="45720" rIns="91440" bIns="45720" anchor="ctr" anchorCtr="0"/>
          <a:lstStyle/>
          <a:p>
            <a:pPr eaLnBrk="1" hangingPunct="1"/>
            <a:r>
              <a:rPr lang="zh-CN" altLang="en-US" dirty="0"/>
              <a:t>积分求</a:t>
            </a:r>
            <a:r>
              <a:rPr lang="en-US" altLang="zh-CN" dirty="0">
                <a:latin typeface="Symbol" pitchFamily="18" charset="2"/>
              </a:rPr>
              <a:t>p</a:t>
            </a:r>
            <a:r>
              <a:rPr lang="zh-CN" altLang="en-US" dirty="0"/>
              <a:t>的并行程序</a:t>
            </a:r>
            <a:endParaRPr lang="zh-CN" altLang="en-US" dirty="0"/>
          </a:p>
        </p:txBody>
      </p:sp>
      <p:sp>
        <p:nvSpPr>
          <p:cNvPr id="8196" name="Rectangle 4"/>
          <p:cNvSpPr/>
          <p:nvPr/>
        </p:nvSpPr>
        <p:spPr>
          <a:xfrm>
            <a:off x="655638" y="1600200"/>
            <a:ext cx="9567862" cy="523875"/>
          </a:xfrm>
          <a:prstGeom prst="rect">
            <a:avLst/>
          </a:prstGeom>
          <a:noFill/>
          <a:ln w="9525">
            <a:noFill/>
          </a:ln>
        </p:spPr>
        <p:txBody>
          <a:bodyPr lIns="92075" tIns="46038" rIns="92075" bIns="46038" anchor="ctr" anchorCtr="0"/>
          <a:lstStyle/>
          <a:p>
            <a:pPr algn="ctr"/>
            <a:r>
              <a:rPr lang="en-US" altLang="zh-CN" sz="2800" dirty="0">
                <a:solidFill>
                  <a:srgbClr val="FF0000"/>
                </a:solidFill>
                <a:latin typeface="Arial" panose="02080604020202020204" pitchFamily="34" charset="0"/>
                <a:ea typeface="黑体" panose="02000500000000000000" pitchFamily="49" charset="-122"/>
              </a:rPr>
              <a:t>JIAJIA</a:t>
            </a:r>
            <a:r>
              <a:rPr lang="en-US" altLang="zh-CN" sz="3200" dirty="0">
                <a:solidFill>
                  <a:srgbClr val="FF0000"/>
                </a:solidFill>
                <a:latin typeface="Arial" panose="02080604020202020204" pitchFamily="34" charset="0"/>
                <a:ea typeface="黑体" panose="02000500000000000000" pitchFamily="49" charset="-122"/>
              </a:rPr>
              <a:t>                               </a:t>
            </a:r>
            <a:r>
              <a:rPr lang="en-US" altLang="zh-CN" sz="2800" dirty="0">
                <a:solidFill>
                  <a:srgbClr val="FF0000"/>
                </a:solidFill>
                <a:latin typeface="Arial" panose="02080604020202020204" pitchFamily="34" charset="0"/>
                <a:ea typeface="黑体" panose="02000500000000000000" pitchFamily="49" charset="-122"/>
              </a:rPr>
              <a:t>MPI</a:t>
            </a:r>
            <a:endParaRPr lang="en-US" altLang="zh-CN" sz="3200" dirty="0">
              <a:solidFill>
                <a:srgbClr val="FF0000"/>
              </a:solidFill>
              <a:latin typeface="Arial" panose="02080604020202020204" pitchFamily="34" charset="0"/>
              <a:ea typeface="黑体" panose="02000500000000000000" pitchFamily="49" charset="-122"/>
            </a:endParaRPr>
          </a:p>
        </p:txBody>
      </p:sp>
      <p:sp>
        <p:nvSpPr>
          <p:cNvPr id="8197" name="Rectangle 5"/>
          <p:cNvSpPr/>
          <p:nvPr/>
        </p:nvSpPr>
        <p:spPr>
          <a:xfrm>
            <a:off x="374650" y="2438400"/>
            <a:ext cx="5159375" cy="4051300"/>
          </a:xfrm>
          <a:prstGeom prst="rect">
            <a:avLst/>
          </a:prstGeom>
          <a:noFill/>
          <a:ln w="9525">
            <a:noFill/>
          </a:ln>
        </p:spPr>
        <p:txBody>
          <a:bodyPr lIns="92075" tIns="46038" rIns="92075" bIns="46038"/>
          <a:lstStyle/>
          <a:p>
            <a:pPr marL="342900" indent="-342900">
              <a:lnSpc>
                <a:spcPct val="110000"/>
              </a:lnSpc>
              <a:spcBef>
                <a:spcPct val="10000"/>
              </a:spcBef>
            </a:pPr>
            <a:r>
              <a:rPr lang="en-US" altLang="zh-CN" sz="1600" b="1" dirty="0">
                <a:latin typeface="宋体" panose="02000500000000000000" pitchFamily="2" charset="-122"/>
              </a:rPr>
              <a:t>jia_init(argc,argv);</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solidFill>
                  <a:srgbClr val="FF0000"/>
                </a:solidFill>
                <a:latin typeface="宋体" panose="02000500000000000000" pitchFamily="2" charset="-122"/>
              </a:rPr>
              <a:t>pi</a:t>
            </a:r>
            <a:r>
              <a:rPr lang="en-US" altLang="zh-CN" sz="1600" b="1" dirty="0">
                <a:latin typeface="宋体" panose="02000500000000000000" pitchFamily="2" charset="-122"/>
              </a:rPr>
              <a:t>=jia_alloc(8);</a:t>
            </a:r>
            <a:endParaRPr lang="en-US" altLang="zh-CN" sz="1600" b="1" dirty="0">
              <a:latin typeface="宋体" panose="02000500000000000000" pitchFamily="2" charset="-122"/>
            </a:endParaRPr>
          </a:p>
          <a:p>
            <a:pPr marL="342900" indent="-342900">
              <a:lnSpc>
                <a:spcPct val="110000"/>
              </a:lnSpc>
              <a:spcBef>
                <a:spcPct val="10000"/>
              </a:spcBef>
            </a:pP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h = 1.0/N;</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for(i=jiapid+1;i&lt;=N;i+=jiahosts)</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	{ mypi = ... }</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jia_lock(1);</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	</a:t>
            </a:r>
            <a:r>
              <a:rPr lang="en-US" altLang="zh-CN" sz="1600" b="1" dirty="0">
                <a:solidFill>
                  <a:srgbClr val="FF0000"/>
                </a:solidFill>
                <a:latin typeface="宋体" panose="02000500000000000000" pitchFamily="2" charset="-122"/>
              </a:rPr>
              <a:t>pi</a:t>
            </a:r>
            <a:r>
              <a:rPr lang="en-US" altLang="zh-CN" sz="1600" b="1" dirty="0">
                <a:latin typeface="宋体" panose="02000500000000000000" pitchFamily="2" charset="-122"/>
              </a:rPr>
              <a:t> += mypi;</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jia_unlock(1);</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printf pi;</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jia_exit();</a:t>
            </a:r>
            <a:endParaRPr lang="en-US" altLang="zh-CN" sz="1600" b="1" dirty="0">
              <a:latin typeface="宋体" panose="02000500000000000000" pitchFamily="2" charset="-122"/>
            </a:endParaRPr>
          </a:p>
        </p:txBody>
      </p:sp>
      <p:sp>
        <p:nvSpPr>
          <p:cNvPr id="8198" name="Rectangle 6"/>
          <p:cNvSpPr/>
          <p:nvPr/>
        </p:nvSpPr>
        <p:spPr>
          <a:xfrm>
            <a:off x="6096000" y="2438400"/>
            <a:ext cx="5076825" cy="3962400"/>
          </a:xfrm>
          <a:prstGeom prst="rect">
            <a:avLst/>
          </a:prstGeom>
          <a:noFill/>
          <a:ln w="9525">
            <a:noFill/>
          </a:ln>
        </p:spPr>
        <p:txBody>
          <a:bodyPr lIns="92075" tIns="46038" rIns="92075" bIns="46038"/>
          <a:lstStyle/>
          <a:p>
            <a:pPr marL="342900" indent="-342900">
              <a:lnSpc>
                <a:spcPct val="110000"/>
              </a:lnSpc>
              <a:spcBef>
                <a:spcPct val="10000"/>
              </a:spcBef>
            </a:pPr>
            <a:r>
              <a:rPr lang="en-US" altLang="zh-CN" sz="1600" b="1" dirty="0">
                <a:latin typeface="宋体" panose="02000500000000000000" pitchFamily="2" charset="-122"/>
              </a:rPr>
              <a:t>MPI_Init(argc,argv);</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MPI_Comm_size();</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MPI_Comm_rand();</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h = 1.0/N;</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for(i=myid+1;i&lt;=N;i+=numprocs) </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	{ mypi = ... }</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MPI_Reduce(mypi,pi,1	... );</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printf pi;</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MPI_Finalize();</a:t>
            </a:r>
            <a:endParaRPr lang="en-US" altLang="zh-CN" b="1" dirty="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9219" name="Rectangle 2"/>
          <p:cNvSpPr/>
          <p:nvPr/>
        </p:nvSpPr>
        <p:spPr>
          <a:xfrm>
            <a:off x="1133475" y="0"/>
            <a:ext cx="9563100" cy="1125538"/>
          </a:xfrm>
          <a:prstGeom prst="rect">
            <a:avLst/>
          </a:prstGeom>
          <a:noFill/>
          <a:ln w="9525">
            <a:noFill/>
          </a:ln>
        </p:spPr>
        <p:txBody>
          <a:bodyPr lIns="92075" tIns="46038" rIns="92075" bIns="46038"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并行程序例子：矩阵乘法</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9220" name="Rectangle 3"/>
          <p:cNvSpPr>
            <a:spLocks noChangeArrowheads="1"/>
          </p:cNvSpPr>
          <p:nvPr/>
        </p:nvSpPr>
        <p:spPr bwMode="auto">
          <a:xfrm>
            <a:off x="561975" y="4365625"/>
            <a:ext cx="10866438" cy="2303463"/>
          </a:xfrm>
          <a:prstGeom prst="rect">
            <a:avLst/>
          </a:prstGeom>
          <a:noFill/>
          <a:ln w="9525">
            <a:noFill/>
            <a:miter lim="800000"/>
          </a:ln>
        </p:spPr>
        <p:txBody>
          <a:bodyPr lIns="92075" tIns="46038" rIns="92075" bIns="46038"/>
          <a:lstStyle/>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A </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sym typeface="Symbol" pitchFamily="18" charset="2"/>
              </a:rPr>
              <a:t>×</a:t>
            </a:r>
            <a:r>
              <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 B = C</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的过程可分为四个独立的部分：</a:t>
            </a:r>
            <a:endPar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	</a:t>
            </a:r>
            <a:r>
              <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Ai </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a:t>
            </a:r>
            <a:r>
              <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 B = </a:t>
            </a:r>
            <a:r>
              <a:rPr kumimoji="0" lang="en-US" altLang="zh-CN" sz="2000" b="1" i="0" u="none" strike="noStrike" kern="1200" cap="none" spc="0" normalizeH="0" baseline="0" noProof="0" dirty="0" err="1">
                <a:ln>
                  <a:noFill/>
                </a:ln>
                <a:solidFill>
                  <a:schemeClr val="tx1"/>
                </a:solidFill>
                <a:effectLst/>
                <a:uLnTx/>
                <a:uFillTx/>
                <a:latin typeface="宋体" panose="02000500000000000000" pitchFamily="2" charset="-122"/>
                <a:cs typeface="宋体" panose="02000500000000000000" pitchFamily="2" charset="-122"/>
              </a:rPr>
              <a:t>Ci</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a:t>
            </a:r>
            <a:r>
              <a:rPr kumimoji="0" lang="en-US" altLang="zh-CN" sz="2000" b="1" i="0" u="none" strike="noStrike" kern="1200" cap="none" spc="0" normalizeH="0" baseline="0" noProof="0" dirty="0" err="1">
                <a:ln>
                  <a:noFill/>
                </a:ln>
                <a:solidFill>
                  <a:schemeClr val="tx1"/>
                </a:solidFill>
                <a:effectLst/>
                <a:uLnTx/>
                <a:uFillTx/>
                <a:latin typeface="宋体" panose="02000500000000000000" pitchFamily="2" charset="-122"/>
                <a:cs typeface="宋体" panose="02000500000000000000" pitchFamily="2" charset="-122"/>
              </a:rPr>
              <a:t>i</a:t>
            </a:r>
            <a:r>
              <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 = 1, 2, 3, 4</a:t>
            </a:r>
            <a:endPar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每部分包含的运算可由一台处理机单独完成</a:t>
            </a:r>
            <a:endPar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矩阵较大时，需分开存放，即</a:t>
            </a:r>
            <a:r>
              <a:rPr kumimoji="0" lang="en-US" altLang="zh-CN" sz="2000" b="1" i="0" u="none" strike="noStrike" kern="1200" cap="none" spc="0" normalizeH="0" baseline="0" noProof="0" dirty="0" err="1">
                <a:ln>
                  <a:noFill/>
                </a:ln>
                <a:solidFill>
                  <a:schemeClr val="tx1"/>
                </a:solidFill>
                <a:effectLst/>
                <a:uLnTx/>
                <a:uFillTx/>
                <a:latin typeface="宋体" panose="02000500000000000000" pitchFamily="2" charset="-122"/>
                <a:cs typeface="宋体" panose="02000500000000000000" pitchFamily="2" charset="-122"/>
              </a:rPr>
              <a:t>Ai,Bi,Ci</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放在结点</a:t>
            </a:r>
            <a:r>
              <a:rPr kumimoji="0" lang="en-US" altLang="zh-CN" sz="2000" b="1" i="0" u="none" strike="noStrike" kern="1200" cap="none" spc="0" normalizeH="0" baseline="0" noProof="0" dirty="0" err="1">
                <a:ln>
                  <a:noFill/>
                </a:ln>
                <a:solidFill>
                  <a:schemeClr val="tx1"/>
                </a:solidFill>
                <a:effectLst/>
                <a:uLnTx/>
                <a:uFillTx/>
                <a:latin typeface="宋体" panose="02000500000000000000" pitchFamily="2" charset="-122"/>
                <a:cs typeface="宋体" panose="02000500000000000000" pitchFamily="2" charset="-122"/>
              </a:rPr>
              <a:t>i</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上</a:t>
            </a:r>
            <a:endPar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每个结点的工作分为</a:t>
            </a:r>
            <a:r>
              <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Ai</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a:t>
            </a:r>
            <a:r>
              <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B1, Ai</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a:t>
            </a:r>
            <a:r>
              <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B2, Ai</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a:t>
            </a:r>
            <a:r>
              <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B3, Ai</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a:t>
            </a:r>
            <a:r>
              <a:rPr kumimoji="0" lang="en-US" altLang="zh-CN"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B4</a:t>
            </a:r>
            <a:r>
              <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rPr>
              <a:t>四个部分</a:t>
            </a:r>
            <a:endParaRPr kumimoji="0" lang="zh-CN" altLang="en-US" sz="2000" b="1" i="0" u="none" strike="noStrike" kern="1200" cap="none" spc="0" normalizeH="0" baseline="0" noProof="0" dirty="0">
              <a:ln>
                <a:noFill/>
              </a:ln>
              <a:solidFill>
                <a:schemeClr val="tx1"/>
              </a:solidFill>
              <a:effectLst/>
              <a:uLnTx/>
              <a:uFillTx/>
              <a:latin typeface="宋体" panose="02000500000000000000" pitchFamily="2" charset="-122"/>
              <a:cs typeface="宋体" panose="02000500000000000000" pitchFamily="2" charset="-122"/>
            </a:endParaRPr>
          </a:p>
        </p:txBody>
      </p:sp>
      <p:grpSp>
        <p:nvGrpSpPr>
          <p:cNvPr id="9221" name="Group 4"/>
          <p:cNvGrpSpPr/>
          <p:nvPr/>
        </p:nvGrpSpPr>
        <p:grpSpPr>
          <a:xfrm>
            <a:off x="471488" y="1371600"/>
            <a:ext cx="10031412" cy="2703513"/>
            <a:chOff x="240" y="698"/>
            <a:chExt cx="5136" cy="1703"/>
          </a:xfrm>
        </p:grpSpPr>
        <p:sp>
          <p:nvSpPr>
            <p:cNvPr id="9222" name="Rectangle 5"/>
            <p:cNvSpPr/>
            <p:nvPr/>
          </p:nvSpPr>
          <p:spPr>
            <a:xfrm>
              <a:off x="240" y="1056"/>
              <a:ext cx="1392" cy="1344"/>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lstStyle/>
            <a:p>
              <a:pPr algn="ctr"/>
              <a:endParaRPr lang="zh-CN" altLang="zh-CN" sz="2400" dirty="0">
                <a:latin typeface="Times New Roman" pitchFamily="18" charset="0"/>
              </a:endParaRPr>
            </a:p>
          </p:txBody>
        </p:sp>
        <p:sp>
          <p:nvSpPr>
            <p:cNvPr id="9223" name="Rectangle 6"/>
            <p:cNvSpPr/>
            <p:nvPr/>
          </p:nvSpPr>
          <p:spPr>
            <a:xfrm>
              <a:off x="3984" y="1056"/>
              <a:ext cx="1392" cy="1344"/>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lstStyle/>
            <a:p>
              <a:endParaRPr lang="zh-CN" altLang="en-US" dirty="0">
                <a:latin typeface="Arial" panose="02080604020202020204" pitchFamily="34" charset="0"/>
              </a:endParaRPr>
            </a:p>
          </p:txBody>
        </p:sp>
        <p:sp>
          <p:nvSpPr>
            <p:cNvPr id="9224" name="Rectangle 7"/>
            <p:cNvSpPr/>
            <p:nvPr/>
          </p:nvSpPr>
          <p:spPr>
            <a:xfrm>
              <a:off x="2160" y="1042"/>
              <a:ext cx="1344" cy="1344"/>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nchorCtr="0"/>
            <a:lstStyle/>
            <a:p>
              <a:pPr algn="ctr" eaLnBrk="0" hangingPunct="0"/>
              <a:endParaRPr lang="zh-CN" altLang="zh-CN" sz="2400" dirty="0">
                <a:latin typeface="Times New Roman" pitchFamily="18" charset="0"/>
              </a:endParaRPr>
            </a:p>
          </p:txBody>
        </p:sp>
        <p:sp>
          <p:nvSpPr>
            <p:cNvPr id="9225" name="Line 8"/>
            <p:cNvSpPr/>
            <p:nvPr/>
          </p:nvSpPr>
          <p:spPr>
            <a:xfrm>
              <a:off x="240" y="1728"/>
              <a:ext cx="1392" cy="0"/>
            </a:xfrm>
            <a:prstGeom prst="line">
              <a:avLst/>
            </a:prstGeom>
            <a:ln w="12700" cap="sq" cmpd="sng">
              <a:solidFill>
                <a:schemeClr val="tx1"/>
              </a:solidFill>
              <a:prstDash val="solid"/>
              <a:headEnd type="none" w="sm" len="sm"/>
              <a:tailEnd type="none" w="sm" len="sm"/>
            </a:ln>
          </p:spPr>
        </p:sp>
        <p:sp>
          <p:nvSpPr>
            <p:cNvPr id="9226" name="Line 9"/>
            <p:cNvSpPr/>
            <p:nvPr/>
          </p:nvSpPr>
          <p:spPr>
            <a:xfrm>
              <a:off x="240" y="1392"/>
              <a:ext cx="1392" cy="0"/>
            </a:xfrm>
            <a:prstGeom prst="line">
              <a:avLst/>
            </a:prstGeom>
            <a:ln w="12700" cap="sq" cmpd="sng">
              <a:solidFill>
                <a:schemeClr val="tx1"/>
              </a:solidFill>
              <a:prstDash val="solid"/>
              <a:headEnd type="none" w="sm" len="sm"/>
              <a:tailEnd type="none" w="sm" len="sm"/>
            </a:ln>
          </p:spPr>
        </p:sp>
        <p:sp>
          <p:nvSpPr>
            <p:cNvPr id="9227" name="Line 10"/>
            <p:cNvSpPr/>
            <p:nvPr/>
          </p:nvSpPr>
          <p:spPr>
            <a:xfrm>
              <a:off x="240" y="2064"/>
              <a:ext cx="1392" cy="0"/>
            </a:xfrm>
            <a:prstGeom prst="line">
              <a:avLst/>
            </a:prstGeom>
            <a:ln w="12700" cap="sq" cmpd="sng">
              <a:solidFill>
                <a:schemeClr val="tx1"/>
              </a:solidFill>
              <a:prstDash val="solid"/>
              <a:headEnd type="none" w="sm" len="sm"/>
              <a:tailEnd type="none" w="sm" len="sm"/>
            </a:ln>
          </p:spPr>
        </p:sp>
        <p:sp>
          <p:nvSpPr>
            <p:cNvPr id="9228" name="Line 11"/>
            <p:cNvSpPr/>
            <p:nvPr/>
          </p:nvSpPr>
          <p:spPr>
            <a:xfrm>
              <a:off x="3984" y="1728"/>
              <a:ext cx="1392" cy="0"/>
            </a:xfrm>
            <a:prstGeom prst="line">
              <a:avLst/>
            </a:prstGeom>
            <a:ln w="12700" cap="sq" cmpd="sng">
              <a:solidFill>
                <a:schemeClr val="tx1"/>
              </a:solidFill>
              <a:prstDash val="solid"/>
              <a:headEnd type="none" w="sm" len="sm"/>
              <a:tailEnd type="none" w="sm" len="sm"/>
            </a:ln>
          </p:spPr>
        </p:sp>
        <p:sp>
          <p:nvSpPr>
            <p:cNvPr id="9229" name="Line 12"/>
            <p:cNvSpPr/>
            <p:nvPr/>
          </p:nvSpPr>
          <p:spPr>
            <a:xfrm>
              <a:off x="3984" y="2064"/>
              <a:ext cx="1392" cy="0"/>
            </a:xfrm>
            <a:prstGeom prst="line">
              <a:avLst/>
            </a:prstGeom>
            <a:ln w="12700" cap="sq" cmpd="sng">
              <a:solidFill>
                <a:schemeClr val="tx1"/>
              </a:solidFill>
              <a:prstDash val="solid"/>
              <a:headEnd type="none" w="sm" len="sm"/>
              <a:tailEnd type="none" w="sm" len="sm"/>
            </a:ln>
          </p:spPr>
        </p:sp>
        <p:sp>
          <p:nvSpPr>
            <p:cNvPr id="9230" name="Line 13"/>
            <p:cNvSpPr/>
            <p:nvPr/>
          </p:nvSpPr>
          <p:spPr>
            <a:xfrm>
              <a:off x="3984" y="1392"/>
              <a:ext cx="1392" cy="0"/>
            </a:xfrm>
            <a:prstGeom prst="line">
              <a:avLst/>
            </a:prstGeom>
            <a:ln w="12700" cap="sq" cmpd="sng">
              <a:solidFill>
                <a:schemeClr val="tx1"/>
              </a:solidFill>
              <a:prstDash val="solid"/>
              <a:headEnd type="none" w="sm" len="sm"/>
              <a:tailEnd type="none" w="sm" len="sm"/>
            </a:ln>
          </p:spPr>
        </p:sp>
        <p:sp>
          <p:nvSpPr>
            <p:cNvPr id="9231" name="Text Box 14"/>
            <p:cNvSpPr txBox="1"/>
            <p:nvPr/>
          </p:nvSpPr>
          <p:spPr>
            <a:xfrm>
              <a:off x="806" y="698"/>
              <a:ext cx="209" cy="291"/>
            </a:xfrm>
            <a:prstGeom prst="rect">
              <a:avLst/>
            </a:prstGeom>
            <a:noFill/>
            <a:ln w="12700">
              <a:noFill/>
            </a:ln>
          </p:spPr>
          <p:txBody>
            <a:bodyPr wrap="none">
              <a:spAutoFit/>
            </a:bodyPr>
            <a:lstStyle/>
            <a:p>
              <a:r>
                <a:rPr lang="en-US" altLang="zh-CN" sz="2400" dirty="0">
                  <a:latin typeface="Times New Roman" pitchFamily="18" charset="0"/>
                </a:rPr>
                <a:t>A</a:t>
              </a:r>
              <a:endParaRPr lang="en-US" altLang="zh-CN" sz="2400" dirty="0">
                <a:latin typeface="Times New Roman" pitchFamily="18" charset="0"/>
              </a:endParaRPr>
            </a:p>
          </p:txBody>
        </p:sp>
        <p:sp>
          <p:nvSpPr>
            <p:cNvPr id="9232" name="Text Box 15"/>
            <p:cNvSpPr txBox="1"/>
            <p:nvPr/>
          </p:nvSpPr>
          <p:spPr>
            <a:xfrm>
              <a:off x="2726" y="698"/>
              <a:ext cx="200" cy="291"/>
            </a:xfrm>
            <a:prstGeom prst="rect">
              <a:avLst/>
            </a:prstGeom>
            <a:noFill/>
            <a:ln w="12700">
              <a:noFill/>
            </a:ln>
          </p:spPr>
          <p:txBody>
            <a:bodyPr wrap="none">
              <a:spAutoFit/>
            </a:bodyPr>
            <a:lstStyle/>
            <a:p>
              <a:r>
                <a:rPr lang="en-US" altLang="zh-CN" sz="2400" dirty="0">
                  <a:latin typeface="Times New Roman" pitchFamily="18" charset="0"/>
                </a:rPr>
                <a:t>B</a:t>
              </a:r>
              <a:endParaRPr lang="en-US" altLang="zh-CN" sz="2400" dirty="0">
                <a:latin typeface="Times New Roman" pitchFamily="18" charset="0"/>
              </a:endParaRPr>
            </a:p>
          </p:txBody>
        </p:sp>
        <p:sp>
          <p:nvSpPr>
            <p:cNvPr id="9233" name="Text Box 16"/>
            <p:cNvSpPr txBox="1"/>
            <p:nvPr/>
          </p:nvSpPr>
          <p:spPr>
            <a:xfrm>
              <a:off x="4646" y="698"/>
              <a:ext cx="200" cy="291"/>
            </a:xfrm>
            <a:prstGeom prst="rect">
              <a:avLst/>
            </a:prstGeom>
            <a:noFill/>
            <a:ln w="12700">
              <a:noFill/>
            </a:ln>
          </p:spPr>
          <p:txBody>
            <a:bodyPr wrap="none">
              <a:spAutoFit/>
            </a:bodyPr>
            <a:lstStyle/>
            <a:p>
              <a:r>
                <a:rPr lang="en-US" altLang="zh-CN" sz="2400" dirty="0">
                  <a:latin typeface="Times New Roman" pitchFamily="18" charset="0"/>
                </a:rPr>
                <a:t>C</a:t>
              </a:r>
              <a:endParaRPr lang="en-US" altLang="zh-CN" sz="2400" dirty="0">
                <a:latin typeface="Times New Roman" pitchFamily="18" charset="0"/>
              </a:endParaRPr>
            </a:p>
          </p:txBody>
        </p:sp>
        <p:sp>
          <p:nvSpPr>
            <p:cNvPr id="9234" name="Text Box 17"/>
            <p:cNvSpPr txBox="1"/>
            <p:nvPr/>
          </p:nvSpPr>
          <p:spPr>
            <a:xfrm>
              <a:off x="1776" y="1562"/>
              <a:ext cx="293" cy="288"/>
            </a:xfrm>
            <a:prstGeom prst="rect">
              <a:avLst/>
            </a:prstGeom>
            <a:noFill/>
            <a:ln w="12700">
              <a:noFill/>
            </a:ln>
          </p:spPr>
          <p:txBody>
            <a:bodyPr>
              <a:spAutoFit/>
            </a:bodyPr>
            <a:lstStyle/>
            <a:p>
              <a:r>
                <a:rPr lang="en-US" altLang="zh-CN" sz="2400" dirty="0">
                  <a:latin typeface="Times New Roman" pitchFamily="18" charset="0"/>
                </a:rPr>
                <a:t>X</a:t>
              </a:r>
              <a:endParaRPr lang="en-US" altLang="zh-CN" sz="2400" dirty="0">
                <a:latin typeface="Times New Roman" pitchFamily="18" charset="0"/>
              </a:endParaRPr>
            </a:p>
          </p:txBody>
        </p:sp>
        <p:sp>
          <p:nvSpPr>
            <p:cNvPr id="9235" name="Text Box 18"/>
            <p:cNvSpPr txBox="1"/>
            <p:nvPr/>
          </p:nvSpPr>
          <p:spPr>
            <a:xfrm>
              <a:off x="3590" y="1562"/>
              <a:ext cx="183" cy="291"/>
            </a:xfrm>
            <a:prstGeom prst="rect">
              <a:avLst/>
            </a:prstGeom>
            <a:noFill/>
            <a:ln w="12700">
              <a:noFill/>
            </a:ln>
          </p:spPr>
          <p:txBody>
            <a:bodyPr wrap="none">
              <a:spAutoFit/>
            </a:bodyPr>
            <a:lstStyle/>
            <a:p>
              <a:r>
                <a:rPr lang="en-US" altLang="zh-CN" sz="2400" dirty="0">
                  <a:latin typeface="Times New Roman" pitchFamily="18" charset="0"/>
                </a:rPr>
                <a:t>=</a:t>
              </a:r>
              <a:endParaRPr lang="en-US" altLang="zh-CN" sz="2400" dirty="0">
                <a:latin typeface="Times New Roman" pitchFamily="18" charset="0"/>
              </a:endParaRPr>
            </a:p>
          </p:txBody>
        </p:sp>
        <p:sp>
          <p:nvSpPr>
            <p:cNvPr id="9236" name="Text Box 19"/>
            <p:cNvSpPr txBox="1"/>
            <p:nvPr/>
          </p:nvSpPr>
          <p:spPr>
            <a:xfrm>
              <a:off x="768" y="1104"/>
              <a:ext cx="384" cy="288"/>
            </a:xfrm>
            <a:prstGeom prst="rect">
              <a:avLst/>
            </a:prstGeom>
            <a:noFill/>
            <a:ln w="12700">
              <a:noFill/>
            </a:ln>
          </p:spPr>
          <p:txBody>
            <a:bodyPr>
              <a:spAutoFit/>
            </a:bodyPr>
            <a:lstStyle/>
            <a:p>
              <a:pPr>
                <a:spcBef>
                  <a:spcPct val="50000"/>
                </a:spcBef>
              </a:pPr>
              <a:r>
                <a:rPr lang="en-US" altLang="zh-CN" sz="2400" dirty="0">
                  <a:latin typeface="Times New Roman" pitchFamily="18" charset="0"/>
                </a:rPr>
                <a:t>A1</a:t>
              </a:r>
              <a:endParaRPr lang="en-US" altLang="zh-CN" sz="2400" dirty="0">
                <a:latin typeface="Times New Roman" pitchFamily="18" charset="0"/>
              </a:endParaRPr>
            </a:p>
          </p:txBody>
        </p:sp>
        <p:sp>
          <p:nvSpPr>
            <p:cNvPr id="9237" name="Text Box 20"/>
            <p:cNvSpPr txBox="1"/>
            <p:nvPr/>
          </p:nvSpPr>
          <p:spPr>
            <a:xfrm>
              <a:off x="768" y="1488"/>
              <a:ext cx="432" cy="288"/>
            </a:xfrm>
            <a:prstGeom prst="rect">
              <a:avLst/>
            </a:prstGeom>
            <a:noFill/>
            <a:ln w="12700">
              <a:noFill/>
            </a:ln>
          </p:spPr>
          <p:txBody>
            <a:bodyPr>
              <a:spAutoFit/>
            </a:bodyPr>
            <a:lstStyle/>
            <a:p>
              <a:pPr>
                <a:spcBef>
                  <a:spcPct val="50000"/>
                </a:spcBef>
              </a:pPr>
              <a:r>
                <a:rPr lang="en-US" altLang="zh-CN" sz="2400" dirty="0">
                  <a:latin typeface="Times New Roman" pitchFamily="18" charset="0"/>
                </a:rPr>
                <a:t>A2</a:t>
              </a:r>
              <a:endParaRPr lang="en-US" altLang="zh-CN" sz="2400" dirty="0">
                <a:latin typeface="Times New Roman" pitchFamily="18" charset="0"/>
              </a:endParaRPr>
            </a:p>
          </p:txBody>
        </p:sp>
        <p:sp>
          <p:nvSpPr>
            <p:cNvPr id="9238" name="Text Box 21"/>
            <p:cNvSpPr txBox="1"/>
            <p:nvPr/>
          </p:nvSpPr>
          <p:spPr>
            <a:xfrm>
              <a:off x="768" y="1776"/>
              <a:ext cx="432" cy="288"/>
            </a:xfrm>
            <a:prstGeom prst="rect">
              <a:avLst/>
            </a:prstGeom>
            <a:noFill/>
            <a:ln w="12700">
              <a:noFill/>
            </a:ln>
          </p:spPr>
          <p:txBody>
            <a:bodyPr>
              <a:spAutoFit/>
            </a:bodyPr>
            <a:lstStyle/>
            <a:p>
              <a:pPr>
                <a:spcBef>
                  <a:spcPct val="50000"/>
                </a:spcBef>
              </a:pPr>
              <a:r>
                <a:rPr lang="en-US" altLang="zh-CN" sz="2400" dirty="0">
                  <a:latin typeface="Times New Roman" pitchFamily="18" charset="0"/>
                </a:rPr>
                <a:t>A3</a:t>
              </a:r>
              <a:endParaRPr lang="en-US" altLang="zh-CN" sz="2400" dirty="0">
                <a:latin typeface="Times New Roman" pitchFamily="18" charset="0"/>
              </a:endParaRPr>
            </a:p>
          </p:txBody>
        </p:sp>
        <p:sp>
          <p:nvSpPr>
            <p:cNvPr id="9239" name="Text Box 22"/>
            <p:cNvSpPr txBox="1"/>
            <p:nvPr/>
          </p:nvSpPr>
          <p:spPr>
            <a:xfrm>
              <a:off x="768" y="2112"/>
              <a:ext cx="432" cy="288"/>
            </a:xfrm>
            <a:prstGeom prst="rect">
              <a:avLst/>
            </a:prstGeom>
            <a:noFill/>
            <a:ln w="12700">
              <a:noFill/>
            </a:ln>
          </p:spPr>
          <p:txBody>
            <a:bodyPr>
              <a:spAutoFit/>
            </a:bodyPr>
            <a:lstStyle/>
            <a:p>
              <a:pPr>
                <a:spcBef>
                  <a:spcPct val="50000"/>
                </a:spcBef>
              </a:pPr>
              <a:r>
                <a:rPr lang="en-US" altLang="zh-CN" sz="2400" dirty="0">
                  <a:latin typeface="Times New Roman" pitchFamily="18" charset="0"/>
                </a:rPr>
                <a:t>A4</a:t>
              </a:r>
              <a:endParaRPr lang="en-US" altLang="zh-CN" sz="2400" dirty="0">
                <a:latin typeface="Times New Roman" pitchFamily="18" charset="0"/>
              </a:endParaRPr>
            </a:p>
          </p:txBody>
        </p:sp>
        <p:sp>
          <p:nvSpPr>
            <p:cNvPr id="9240" name="Text Box 23"/>
            <p:cNvSpPr txBox="1"/>
            <p:nvPr/>
          </p:nvSpPr>
          <p:spPr>
            <a:xfrm>
              <a:off x="4560" y="1104"/>
              <a:ext cx="432" cy="288"/>
            </a:xfrm>
            <a:prstGeom prst="rect">
              <a:avLst/>
            </a:prstGeom>
            <a:noFill/>
            <a:ln w="12700">
              <a:noFill/>
            </a:ln>
          </p:spPr>
          <p:txBody>
            <a:bodyPr>
              <a:spAutoFit/>
            </a:bodyPr>
            <a:lstStyle/>
            <a:p>
              <a:pPr>
                <a:spcBef>
                  <a:spcPct val="50000"/>
                </a:spcBef>
              </a:pPr>
              <a:r>
                <a:rPr lang="en-US" altLang="zh-CN" sz="2400" dirty="0">
                  <a:latin typeface="Times New Roman" pitchFamily="18" charset="0"/>
                </a:rPr>
                <a:t>C1</a:t>
              </a:r>
              <a:endParaRPr lang="en-US" altLang="zh-CN" sz="2400" dirty="0">
                <a:latin typeface="Times New Roman" pitchFamily="18" charset="0"/>
              </a:endParaRPr>
            </a:p>
          </p:txBody>
        </p:sp>
        <p:sp>
          <p:nvSpPr>
            <p:cNvPr id="9241" name="Text Box 24"/>
            <p:cNvSpPr txBox="1"/>
            <p:nvPr/>
          </p:nvSpPr>
          <p:spPr>
            <a:xfrm>
              <a:off x="4560" y="1440"/>
              <a:ext cx="384" cy="288"/>
            </a:xfrm>
            <a:prstGeom prst="rect">
              <a:avLst/>
            </a:prstGeom>
            <a:noFill/>
            <a:ln w="12700">
              <a:noFill/>
            </a:ln>
          </p:spPr>
          <p:txBody>
            <a:bodyPr>
              <a:spAutoFit/>
            </a:bodyPr>
            <a:lstStyle/>
            <a:p>
              <a:pPr>
                <a:spcBef>
                  <a:spcPct val="50000"/>
                </a:spcBef>
              </a:pPr>
              <a:r>
                <a:rPr lang="en-US" altLang="zh-CN" sz="2400" dirty="0">
                  <a:latin typeface="Times New Roman" pitchFamily="18" charset="0"/>
                </a:rPr>
                <a:t>C2</a:t>
              </a:r>
              <a:endParaRPr lang="en-US" altLang="zh-CN" sz="2400" dirty="0">
                <a:latin typeface="Times New Roman" pitchFamily="18" charset="0"/>
              </a:endParaRPr>
            </a:p>
          </p:txBody>
        </p:sp>
        <p:sp>
          <p:nvSpPr>
            <p:cNvPr id="9242" name="Text Box 25"/>
            <p:cNvSpPr txBox="1"/>
            <p:nvPr/>
          </p:nvSpPr>
          <p:spPr>
            <a:xfrm>
              <a:off x="4608" y="1776"/>
              <a:ext cx="384" cy="288"/>
            </a:xfrm>
            <a:prstGeom prst="rect">
              <a:avLst/>
            </a:prstGeom>
            <a:noFill/>
            <a:ln w="12700">
              <a:noFill/>
            </a:ln>
          </p:spPr>
          <p:txBody>
            <a:bodyPr>
              <a:spAutoFit/>
            </a:bodyPr>
            <a:lstStyle/>
            <a:p>
              <a:pPr>
                <a:spcBef>
                  <a:spcPct val="50000"/>
                </a:spcBef>
              </a:pPr>
              <a:r>
                <a:rPr lang="en-US" altLang="zh-CN" sz="2400" dirty="0">
                  <a:latin typeface="Times New Roman" pitchFamily="18" charset="0"/>
                </a:rPr>
                <a:t>C3</a:t>
              </a:r>
              <a:endParaRPr lang="en-US" altLang="zh-CN" sz="2400" dirty="0">
                <a:latin typeface="Times New Roman" pitchFamily="18" charset="0"/>
              </a:endParaRPr>
            </a:p>
          </p:txBody>
        </p:sp>
        <p:sp>
          <p:nvSpPr>
            <p:cNvPr id="9243" name="Text Box 26"/>
            <p:cNvSpPr txBox="1"/>
            <p:nvPr/>
          </p:nvSpPr>
          <p:spPr>
            <a:xfrm>
              <a:off x="4608" y="2112"/>
              <a:ext cx="432" cy="288"/>
            </a:xfrm>
            <a:prstGeom prst="rect">
              <a:avLst/>
            </a:prstGeom>
            <a:noFill/>
            <a:ln w="12700">
              <a:noFill/>
            </a:ln>
          </p:spPr>
          <p:txBody>
            <a:bodyPr>
              <a:spAutoFit/>
            </a:bodyPr>
            <a:lstStyle/>
            <a:p>
              <a:pPr>
                <a:spcBef>
                  <a:spcPct val="50000"/>
                </a:spcBef>
              </a:pPr>
              <a:r>
                <a:rPr lang="en-US" altLang="zh-CN" sz="2400" dirty="0">
                  <a:latin typeface="Times New Roman" pitchFamily="18" charset="0"/>
                </a:rPr>
                <a:t>C4</a:t>
              </a:r>
              <a:endParaRPr lang="en-US" altLang="zh-CN" sz="2400" dirty="0">
                <a:latin typeface="Times New Roman" pitchFamily="18" charset="0"/>
              </a:endParaRPr>
            </a:p>
          </p:txBody>
        </p:sp>
        <p:sp>
          <p:nvSpPr>
            <p:cNvPr id="9244" name="Line 27"/>
            <p:cNvSpPr/>
            <p:nvPr/>
          </p:nvSpPr>
          <p:spPr>
            <a:xfrm>
              <a:off x="2832" y="1064"/>
              <a:ext cx="0" cy="1336"/>
            </a:xfrm>
            <a:prstGeom prst="line">
              <a:avLst/>
            </a:prstGeom>
            <a:ln w="12700" cap="flat" cmpd="sng">
              <a:solidFill>
                <a:schemeClr val="tx1"/>
              </a:solidFill>
              <a:prstDash val="solid"/>
              <a:headEnd type="none" w="sm" len="sm"/>
              <a:tailEnd type="none" w="sm" len="sm"/>
            </a:ln>
          </p:spPr>
        </p:sp>
        <p:sp>
          <p:nvSpPr>
            <p:cNvPr id="9245" name="Line 28"/>
            <p:cNvSpPr/>
            <p:nvPr/>
          </p:nvSpPr>
          <p:spPr>
            <a:xfrm>
              <a:off x="2492" y="1064"/>
              <a:ext cx="0" cy="1336"/>
            </a:xfrm>
            <a:prstGeom prst="line">
              <a:avLst/>
            </a:prstGeom>
            <a:ln w="12700" cap="flat" cmpd="sng">
              <a:solidFill>
                <a:schemeClr val="tx1"/>
              </a:solidFill>
              <a:prstDash val="solid"/>
              <a:headEnd type="none" w="sm" len="sm"/>
              <a:tailEnd type="none" w="sm" len="sm"/>
            </a:ln>
          </p:spPr>
        </p:sp>
        <p:sp>
          <p:nvSpPr>
            <p:cNvPr id="9246" name="Line 29"/>
            <p:cNvSpPr/>
            <p:nvPr/>
          </p:nvSpPr>
          <p:spPr>
            <a:xfrm>
              <a:off x="3148" y="1065"/>
              <a:ext cx="0" cy="1336"/>
            </a:xfrm>
            <a:prstGeom prst="line">
              <a:avLst/>
            </a:prstGeom>
            <a:ln w="12700" cap="flat" cmpd="sng">
              <a:solidFill>
                <a:schemeClr val="tx1"/>
              </a:solidFill>
              <a:prstDash val="solid"/>
              <a:headEnd type="none" w="sm" len="sm"/>
              <a:tailEnd type="none" w="sm" len="sm"/>
            </a:ln>
          </p:spPr>
        </p:sp>
        <p:sp>
          <p:nvSpPr>
            <p:cNvPr id="9247" name="Text Box 30"/>
            <p:cNvSpPr txBox="1"/>
            <p:nvPr/>
          </p:nvSpPr>
          <p:spPr>
            <a:xfrm>
              <a:off x="2215" y="1559"/>
              <a:ext cx="278" cy="291"/>
            </a:xfrm>
            <a:prstGeom prst="rect">
              <a:avLst/>
            </a:prstGeom>
            <a:noFill/>
            <a:ln w="12700">
              <a:noFill/>
            </a:ln>
          </p:spPr>
          <p:txBody>
            <a:bodyPr wrap="none">
              <a:spAutoFit/>
            </a:bodyPr>
            <a:lstStyle/>
            <a:p>
              <a:pPr algn="ctr" eaLnBrk="0" hangingPunct="0"/>
              <a:r>
                <a:rPr lang="en-US" altLang="zh-CN" sz="2400" dirty="0">
                  <a:latin typeface="Times New Roman" pitchFamily="18" charset="0"/>
                </a:rPr>
                <a:t>B1</a:t>
              </a:r>
              <a:endParaRPr lang="en-US" altLang="zh-CN" sz="2400" dirty="0">
                <a:latin typeface="Times New Roman" pitchFamily="18" charset="0"/>
              </a:endParaRPr>
            </a:p>
          </p:txBody>
        </p:sp>
        <p:sp>
          <p:nvSpPr>
            <p:cNvPr id="9248" name="Text Box 31"/>
            <p:cNvSpPr txBox="1"/>
            <p:nvPr/>
          </p:nvSpPr>
          <p:spPr>
            <a:xfrm>
              <a:off x="2449" y="1572"/>
              <a:ext cx="389" cy="288"/>
            </a:xfrm>
            <a:prstGeom prst="rect">
              <a:avLst/>
            </a:prstGeom>
            <a:noFill/>
            <a:ln w="12700">
              <a:noFill/>
            </a:ln>
          </p:spPr>
          <p:txBody>
            <a:bodyPr>
              <a:spAutoFit/>
            </a:bodyPr>
            <a:lstStyle/>
            <a:p>
              <a:pPr algn="ctr" eaLnBrk="0" hangingPunct="0"/>
              <a:r>
                <a:rPr lang="en-US" altLang="zh-CN" sz="2400" dirty="0">
                  <a:latin typeface="Times New Roman" pitchFamily="18" charset="0"/>
                </a:rPr>
                <a:t>B2</a:t>
              </a:r>
              <a:endParaRPr lang="en-US" altLang="zh-CN" sz="2400" dirty="0">
                <a:latin typeface="Times New Roman" pitchFamily="18" charset="0"/>
              </a:endParaRPr>
            </a:p>
          </p:txBody>
        </p:sp>
        <p:sp>
          <p:nvSpPr>
            <p:cNvPr id="9249" name="Text Box 32"/>
            <p:cNvSpPr txBox="1"/>
            <p:nvPr/>
          </p:nvSpPr>
          <p:spPr>
            <a:xfrm>
              <a:off x="2819" y="1559"/>
              <a:ext cx="278" cy="291"/>
            </a:xfrm>
            <a:prstGeom prst="rect">
              <a:avLst/>
            </a:prstGeom>
            <a:noFill/>
            <a:ln w="12700">
              <a:noFill/>
            </a:ln>
          </p:spPr>
          <p:txBody>
            <a:bodyPr wrap="none">
              <a:spAutoFit/>
            </a:bodyPr>
            <a:lstStyle/>
            <a:p>
              <a:pPr algn="ctr" eaLnBrk="0" hangingPunct="0"/>
              <a:r>
                <a:rPr lang="en-US" altLang="zh-CN" sz="2400" dirty="0">
                  <a:latin typeface="Times New Roman" pitchFamily="18" charset="0"/>
                </a:rPr>
                <a:t>B3</a:t>
              </a:r>
              <a:endParaRPr lang="en-US" altLang="zh-CN" sz="2400" dirty="0">
                <a:latin typeface="Times New Roman" pitchFamily="18" charset="0"/>
              </a:endParaRPr>
            </a:p>
          </p:txBody>
        </p:sp>
        <p:sp>
          <p:nvSpPr>
            <p:cNvPr id="9250" name="Text Box 33"/>
            <p:cNvSpPr txBox="1"/>
            <p:nvPr/>
          </p:nvSpPr>
          <p:spPr>
            <a:xfrm>
              <a:off x="3159" y="1559"/>
              <a:ext cx="278" cy="291"/>
            </a:xfrm>
            <a:prstGeom prst="rect">
              <a:avLst/>
            </a:prstGeom>
            <a:noFill/>
            <a:ln w="12700">
              <a:noFill/>
            </a:ln>
          </p:spPr>
          <p:txBody>
            <a:bodyPr wrap="none">
              <a:spAutoFit/>
            </a:bodyPr>
            <a:lstStyle/>
            <a:p>
              <a:pPr algn="ctr" eaLnBrk="0" hangingPunct="0"/>
              <a:r>
                <a:rPr lang="en-US" altLang="zh-CN" sz="2400" dirty="0">
                  <a:latin typeface="Times New Roman" pitchFamily="18" charset="0"/>
                </a:rPr>
                <a:t>B4</a:t>
              </a:r>
              <a:endParaRPr lang="en-US" altLang="zh-CN" sz="2400" dirty="0">
                <a:latin typeface="Times New Roman" pitchFamily="18" charset="0"/>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6"/>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0243" name="Rectangle 2"/>
          <p:cNvSpPr>
            <a:spLocks noGrp="1"/>
          </p:cNvSpPr>
          <p:nvPr>
            <p:ph type="title"/>
          </p:nvPr>
        </p:nvSpPr>
        <p:spPr>
          <a:xfrm>
            <a:off x="777875" y="0"/>
            <a:ext cx="10971213" cy="1052513"/>
          </a:xfrm>
        </p:spPr>
        <p:txBody>
          <a:bodyPr vert="horz" wrap="square" lIns="91440" tIns="45720" rIns="91440" bIns="45720" anchor="ctr" anchorCtr="0"/>
          <a:lstStyle/>
          <a:p>
            <a:pPr eaLnBrk="1" hangingPunct="1"/>
            <a:r>
              <a:rPr lang="zh-CN" altLang="en-US" dirty="0"/>
              <a:t>矩阵乘法的并行程序</a:t>
            </a:r>
            <a:endParaRPr lang="zh-CN" altLang="en-US" dirty="0"/>
          </a:p>
        </p:txBody>
      </p:sp>
      <p:sp>
        <p:nvSpPr>
          <p:cNvPr id="10244" name="Rectangle 3"/>
          <p:cNvSpPr>
            <a:spLocks noGrp="1"/>
          </p:cNvSpPr>
          <p:nvPr>
            <p:ph sz="half" idx="1"/>
          </p:nvPr>
        </p:nvSpPr>
        <p:spPr>
          <a:xfrm>
            <a:off x="374650" y="1196975"/>
            <a:ext cx="5908675" cy="5203825"/>
          </a:xfrm>
        </p:spPr>
        <p:txBody>
          <a:bodyPr vert="horz" wrap="square" lIns="91440" tIns="45720" rIns="91440" bIns="45720" anchor="t" anchorCtr="0"/>
          <a:lstStyle/>
          <a:p>
            <a:pPr eaLnBrk="1" hangingPunct="1">
              <a:buClrTx/>
              <a:buSzTx/>
              <a:buFontTx/>
            </a:pPr>
            <a:r>
              <a:rPr lang="zh-CN" altLang="en-US" sz="2000" dirty="0">
                <a:latin typeface="Courier New" pitchFamily="49" charset="0"/>
                <a:ea typeface="+mn-ea"/>
                <a:cs typeface="+mn-cs"/>
              </a:rPr>
              <a:t>共享存储</a:t>
            </a:r>
            <a:endParaRPr lang="zh-CN" altLang="en-US" sz="2000" dirty="0">
              <a:latin typeface="Courier New" pitchFamily="49" charset="0"/>
              <a:ea typeface="+mn-ea"/>
              <a:cs typeface="+mn-cs"/>
            </a:endParaRPr>
          </a:p>
          <a:p>
            <a:pPr eaLnBrk="1" hangingPunct="1">
              <a:buClrTx/>
              <a:buSzTx/>
              <a:buFontTx/>
              <a:buNone/>
            </a:pPr>
            <a:r>
              <a:rPr lang="en-US" altLang="zh-CN" sz="1400" dirty="0">
                <a:latin typeface="宋体" panose="02000500000000000000" pitchFamily="2" charset="-122"/>
                <a:ea typeface="+mn-ea"/>
                <a:cs typeface="+mn-cs"/>
              </a:rPr>
              <a:t>double (*a)[N],(*b)[N],(*c)[N];</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a=jia_alloc(N*N*8);</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b=jia_alloc(...); c=jia_alloc(...);</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if (jiapid==0) for (i...) for (j…){</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  a[i][j]=1;b[i][j]=1;</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 </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jia_barrier();</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begin=N*jiapid/jiahosts;</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end=N*(jiapid+1)/jiahosts;</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for (i=begin; i&lt;end; i++)</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	for (j=0; j&lt;N; j++)</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		for (k=0; k&lt;N; k++)</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		  c[i][j]+=a[i][k]*b[k][j];</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jia_barrier();</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if (jiapid==0) printf C;</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jia_exit();</a:t>
            </a:r>
            <a:endParaRPr lang="en-US" altLang="zh-CN" sz="2000" dirty="0">
              <a:latin typeface="宋体" panose="02000500000000000000" pitchFamily="2" charset="-122"/>
              <a:ea typeface="+mn-ea"/>
              <a:cs typeface="+mn-cs"/>
            </a:endParaRPr>
          </a:p>
        </p:txBody>
      </p:sp>
      <p:sp>
        <p:nvSpPr>
          <p:cNvPr id="10245" name="Rectangle 4"/>
          <p:cNvSpPr>
            <a:spLocks noGrp="1"/>
          </p:cNvSpPr>
          <p:nvPr>
            <p:ph sz="half" idx="2"/>
          </p:nvPr>
        </p:nvSpPr>
        <p:spPr>
          <a:xfrm>
            <a:off x="6207125" y="1152525"/>
            <a:ext cx="5737225" cy="5661025"/>
          </a:xfrm>
        </p:spPr>
        <p:txBody>
          <a:bodyPr vert="horz" wrap="square" lIns="91440" tIns="45720" rIns="91440" bIns="45720" anchor="t" anchorCtr="0"/>
          <a:lstStyle/>
          <a:p>
            <a:pPr eaLnBrk="1" hangingPunct="1">
              <a:buClrTx/>
              <a:buSzTx/>
              <a:buFontTx/>
            </a:pPr>
            <a:r>
              <a:rPr lang="zh-CN" altLang="en-US" sz="2000" dirty="0">
                <a:latin typeface="Courier New" pitchFamily="49" charset="0"/>
                <a:ea typeface="+mn-ea"/>
                <a:cs typeface="+mn-cs"/>
              </a:rPr>
              <a:t>消息传递</a:t>
            </a:r>
            <a:endParaRPr lang="zh-CN" altLang="en-US" sz="2000" dirty="0">
              <a:latin typeface="Courier New" pitchFamily="49" charset="0"/>
              <a:ea typeface="+mn-ea"/>
              <a:cs typeface="+mn-cs"/>
            </a:endParaRPr>
          </a:p>
          <a:p>
            <a:pPr eaLnBrk="1" hangingPunct="1">
              <a:buClrTx/>
              <a:buSzTx/>
              <a:buFontTx/>
              <a:buNone/>
            </a:pPr>
            <a:r>
              <a:rPr lang="en-US" altLang="zh-CN" sz="1400" dirty="0">
                <a:latin typeface="宋体" panose="02000500000000000000" pitchFamily="2" charset="-122"/>
                <a:ea typeface="+mn-ea"/>
                <a:cs typeface="+mn-cs"/>
              </a:rPr>
              <a:t>double (*a)[N],(*b)[N],(*c)[N];</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a=malloc2(N*N*8);</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b=malloc2(...); c=malloc(...);</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if (mypid==0) {</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  init a,b; </a:t>
            </a:r>
            <a:r>
              <a:rPr lang="en-US" altLang="zh-CN" sz="1400" dirty="0">
                <a:solidFill>
                  <a:srgbClr val="0000FF"/>
                </a:solidFill>
                <a:latin typeface="宋体" panose="02000500000000000000" pitchFamily="2" charset="-122"/>
                <a:ea typeface="+mn-ea"/>
                <a:cs typeface="+mn-cs"/>
              </a:rPr>
              <a:t>send a,b</a:t>
            </a:r>
            <a:r>
              <a:rPr lang="zh-CN" altLang="en-US" sz="1400" dirty="0">
                <a:solidFill>
                  <a:schemeClr val="accent2"/>
                </a:solidFill>
                <a:latin typeface="宋体" panose="02000500000000000000" pitchFamily="2" charset="-122"/>
                <a:ea typeface="+mn-ea"/>
                <a:cs typeface="+mn-cs"/>
              </a:rPr>
              <a:t>；</a:t>
            </a:r>
            <a:endParaRPr lang="zh-CN" altLang="en-US" sz="1400" dirty="0">
              <a:solidFill>
                <a:schemeClr val="accent2"/>
              </a:solidFill>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}else{</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  </a:t>
            </a:r>
            <a:r>
              <a:rPr lang="en-US" altLang="zh-CN" sz="1400" dirty="0">
                <a:solidFill>
                  <a:srgbClr val="0000FF"/>
                </a:solidFill>
                <a:latin typeface="宋体" panose="02000500000000000000" pitchFamily="2" charset="-122"/>
                <a:ea typeface="+mn-ea"/>
                <a:cs typeface="+mn-cs"/>
              </a:rPr>
              <a:t>recv a,b</a:t>
            </a:r>
            <a:r>
              <a:rPr lang="zh-CN" altLang="en-US" sz="1400" dirty="0">
                <a:solidFill>
                  <a:schemeClr val="accent2"/>
                </a:solidFill>
                <a:latin typeface="宋体" panose="02000500000000000000" pitchFamily="2" charset="-122"/>
                <a:ea typeface="+mn-ea"/>
                <a:cs typeface="+mn-cs"/>
              </a:rPr>
              <a:t>；</a:t>
            </a:r>
            <a:endParaRPr lang="zh-CN" altLang="en-US" sz="1400" dirty="0">
              <a:solidFill>
                <a:schemeClr val="accent2"/>
              </a:solidFill>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a:t>
            </a:r>
            <a:endParaRPr lang="en-US" altLang="zh-CN" sz="1400" dirty="0">
              <a:latin typeface="宋体" panose="02000500000000000000" pitchFamily="2" charset="-122"/>
              <a:ea typeface="+mn-ea"/>
              <a:cs typeface="+mn-cs"/>
            </a:endParaRPr>
          </a:p>
          <a:p>
            <a:pPr eaLnBrk="1" hangingPunct="1">
              <a:buClrTx/>
              <a:buSzTx/>
              <a:buFontTx/>
              <a:buNone/>
            </a:pP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for (i=0;i&lt;N/hosts;i++)</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  for (j=0; j&lt;N; j++)</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    for (k=0; k&lt;N; k++)</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      c[i][j]+=a[i][k]*b[k][j];</a:t>
            </a:r>
            <a:endParaRPr lang="en-US" altLang="zh-CN" sz="1400" dirty="0">
              <a:latin typeface="宋体" panose="02000500000000000000" pitchFamily="2" charset="-122"/>
              <a:ea typeface="+mn-ea"/>
              <a:cs typeface="+mn-cs"/>
            </a:endParaRPr>
          </a:p>
          <a:p>
            <a:pPr eaLnBrk="1" hangingPunct="1">
              <a:buClrTx/>
              <a:buSzTx/>
              <a:buFontTx/>
              <a:buNone/>
            </a:pP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if (mypid!=0){  </a:t>
            </a:r>
            <a:r>
              <a:rPr lang="en-US" altLang="zh-CN" sz="1400" dirty="0">
                <a:solidFill>
                  <a:srgbClr val="0000FF"/>
                </a:solidFill>
                <a:latin typeface="宋体" panose="02000500000000000000" pitchFamily="2" charset="-122"/>
                <a:ea typeface="+mn-ea"/>
                <a:cs typeface="+mn-cs"/>
              </a:rPr>
              <a:t>send c</a:t>
            </a:r>
            <a:r>
              <a:rPr lang="en-US" altLang="zh-CN" sz="1400" dirty="0">
                <a:latin typeface="宋体" panose="02000500000000000000" pitchFamily="2" charset="-122"/>
                <a:ea typeface="+mn-ea"/>
                <a:cs typeface="+mn-cs"/>
              </a:rPr>
              <a:t>;}</a:t>
            </a:r>
            <a:endParaRPr lang="en-US" altLang="zh-CN" sz="1400" dirty="0">
              <a:latin typeface="宋体" panose="02000500000000000000" pitchFamily="2" charset="-122"/>
              <a:ea typeface="+mn-ea"/>
              <a:cs typeface="+mn-cs"/>
            </a:endParaRPr>
          </a:p>
          <a:p>
            <a:pPr eaLnBrk="1" hangingPunct="1">
              <a:buClrTx/>
              <a:buSzTx/>
              <a:buFontTx/>
              <a:buNone/>
            </a:pPr>
            <a:r>
              <a:rPr lang="en-US" altLang="zh-CN" sz="1400" dirty="0">
                <a:latin typeface="宋体" panose="02000500000000000000" pitchFamily="2" charset="-122"/>
                <a:ea typeface="+mn-ea"/>
                <a:cs typeface="+mn-cs"/>
              </a:rPr>
              <a:t>else{ </a:t>
            </a:r>
            <a:r>
              <a:rPr lang="en-US" altLang="zh-CN" sz="1400" dirty="0">
                <a:solidFill>
                  <a:srgbClr val="0000FF"/>
                </a:solidFill>
                <a:latin typeface="宋体" panose="02000500000000000000" pitchFamily="2" charset="-122"/>
                <a:ea typeface="+mn-ea"/>
                <a:cs typeface="+mn-cs"/>
              </a:rPr>
              <a:t>recv c</a:t>
            </a:r>
            <a:r>
              <a:rPr lang="en-US" altLang="zh-CN" sz="1400" dirty="0">
                <a:latin typeface="宋体" panose="02000500000000000000" pitchFamily="2" charset="-122"/>
                <a:ea typeface="+mn-ea"/>
                <a:cs typeface="+mn-cs"/>
              </a:rPr>
              <a:t>; printf c;}</a:t>
            </a:r>
            <a:endParaRPr lang="en-US" altLang="zh-CN" sz="1400" dirty="0">
              <a:latin typeface="宋体" panose="02000500000000000000" pitchFamily="2" charset="-122"/>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914400" y="87313"/>
            <a:ext cx="10844213" cy="1143000"/>
          </a:xfrm>
        </p:spPr>
        <p:txBody>
          <a:bodyPr vert="horz" wrap="square" lIns="91440" tIns="45720" rIns="91440" bIns="45720" anchor="ctr" anchorCtr="0"/>
          <a:lstStyle/>
          <a:p>
            <a:r>
              <a:rPr lang="zh-CN" altLang="en-US" dirty="0"/>
              <a:t>比较：</a:t>
            </a:r>
            <a:r>
              <a:rPr lang="en-US" altLang="zh-CN" dirty="0"/>
              <a:t>Pthreads</a:t>
            </a:r>
            <a:r>
              <a:rPr lang="zh-CN" altLang="en-US" dirty="0"/>
              <a:t>并行程序举例</a:t>
            </a:r>
            <a:r>
              <a:rPr lang="en-US" altLang="zh-CN" dirty="0"/>
              <a:t>-</a:t>
            </a:r>
            <a:r>
              <a:rPr lang="zh-CN" altLang="en-US" dirty="0"/>
              <a:t>矩阵乘法</a:t>
            </a:r>
            <a:endParaRPr lang="zh-CN" altLang="en-US" dirty="0"/>
          </a:p>
        </p:txBody>
      </p:sp>
      <p:sp>
        <p:nvSpPr>
          <p:cNvPr id="11267"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1268" name="Rectangle 2"/>
          <p:cNvSpPr/>
          <p:nvPr/>
        </p:nvSpPr>
        <p:spPr>
          <a:xfrm>
            <a:off x="0" y="-184150"/>
            <a:ext cx="12190413" cy="368300"/>
          </a:xfrm>
          <a:prstGeom prst="rect">
            <a:avLst/>
          </a:prstGeom>
          <a:noFill/>
          <a:ln w="9525">
            <a:noFill/>
          </a:ln>
        </p:spPr>
        <p:txBody>
          <a:bodyPr anchor="ctr" anchorCtr="0">
            <a:spAutoFit/>
          </a:bodyPr>
          <a:lstStyle/>
          <a:p>
            <a:pPr algn="ctr"/>
            <a:endParaRPr lang="zh-CN" altLang="en-US" dirty="0">
              <a:latin typeface="Arial" panose="02080604020202020204" pitchFamily="34" charset="0"/>
            </a:endParaRPr>
          </a:p>
        </p:txBody>
      </p:sp>
      <p:sp>
        <p:nvSpPr>
          <p:cNvPr id="11269" name="Rectangle 4"/>
          <p:cNvSpPr/>
          <p:nvPr/>
        </p:nvSpPr>
        <p:spPr>
          <a:xfrm>
            <a:off x="0" y="-184150"/>
            <a:ext cx="12190413" cy="368300"/>
          </a:xfrm>
          <a:prstGeom prst="rect">
            <a:avLst/>
          </a:prstGeom>
          <a:noFill/>
          <a:ln w="9525">
            <a:noFill/>
          </a:ln>
        </p:spPr>
        <p:txBody>
          <a:bodyPr anchor="ctr" anchorCtr="0">
            <a:spAutoFit/>
          </a:bodyPr>
          <a:lstStyle/>
          <a:p>
            <a:pPr algn="ctr"/>
            <a:endParaRPr lang="zh-CN" altLang="en-US" dirty="0">
              <a:latin typeface="Arial" panose="02080604020202020204" pitchFamily="34" charset="0"/>
            </a:endParaRPr>
          </a:p>
        </p:txBody>
      </p:sp>
      <p:sp>
        <p:nvSpPr>
          <p:cNvPr id="11270" name="Rectangle 8"/>
          <p:cNvSpPr/>
          <p:nvPr/>
        </p:nvSpPr>
        <p:spPr>
          <a:xfrm>
            <a:off x="6002338" y="-184150"/>
            <a:ext cx="185737" cy="368300"/>
          </a:xfrm>
          <a:prstGeom prst="rect">
            <a:avLst/>
          </a:prstGeom>
          <a:noFill/>
          <a:ln w="9525">
            <a:noFill/>
          </a:ln>
        </p:spPr>
        <p:txBody>
          <a:bodyPr wrap="none" anchor="ctr" anchorCtr="0">
            <a:spAutoFit/>
          </a:bodyPr>
          <a:lstStyle/>
          <a:p>
            <a:pPr algn="ctr"/>
            <a:endParaRPr lang="zh-CN" altLang="en-US" dirty="0">
              <a:latin typeface="Arial" panose="02080604020202020204" pitchFamily="34" charset="0"/>
            </a:endParaRPr>
          </a:p>
        </p:txBody>
      </p:sp>
      <p:sp>
        <p:nvSpPr>
          <p:cNvPr id="11271" name="Rectangle 3"/>
          <p:cNvSpPr/>
          <p:nvPr/>
        </p:nvSpPr>
        <p:spPr>
          <a:xfrm>
            <a:off x="177800" y="1304925"/>
            <a:ext cx="6210300" cy="5019675"/>
          </a:xfrm>
          <a:prstGeom prst="rect">
            <a:avLst/>
          </a:prstGeom>
          <a:noFill/>
          <a:ln w="9525">
            <a:noFill/>
          </a:ln>
        </p:spPr>
        <p:txBody>
          <a:bodyPr lIns="92075" tIns="46038" rIns="92075" bIns="46038"/>
          <a:lstStyle/>
          <a:p>
            <a:r>
              <a:rPr lang="en-US" altLang="zh-CN" sz="1400" b="1" dirty="0">
                <a:latin typeface="宋体" panose="02000500000000000000" pitchFamily="2" charset="-122"/>
                <a:cs typeface="宋体" panose="02000500000000000000" pitchFamily="2" charset="-122"/>
              </a:rPr>
              <a:t>#include &lt;stdlib.h&gt;</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#include &lt;stdio.h&gt;</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#include &lt;pthread.h&gt;</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#define NUM_THREADS 4 //</a:t>
            </a:r>
            <a:r>
              <a:rPr lang="zh-CN" altLang="zh-CN" sz="1400" b="1" dirty="0">
                <a:latin typeface="宋体" panose="02000500000000000000" pitchFamily="2" charset="-122"/>
                <a:cs typeface="宋体" panose="02000500000000000000" pitchFamily="2" charset="-122"/>
              </a:rPr>
              <a:t>假设线程数目为</a:t>
            </a:r>
            <a:r>
              <a:rPr lang="en-US" altLang="zh-CN" sz="1400" b="1" dirty="0">
                <a:latin typeface="宋体" panose="02000500000000000000" pitchFamily="2" charset="-122"/>
                <a:cs typeface="宋体" panose="02000500000000000000" pitchFamily="2" charset="-122"/>
              </a:rPr>
              <a:t>4</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#define n 1000</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double *A,*B,*C;</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void *matrixMult(void *id) {//</a:t>
            </a:r>
            <a:r>
              <a:rPr lang="zh-CN" altLang="zh-CN" sz="1400" b="1" dirty="0">
                <a:latin typeface="宋体" panose="02000500000000000000" pitchFamily="2" charset="-122"/>
                <a:cs typeface="宋体" panose="02000500000000000000" pitchFamily="2" charset="-122"/>
              </a:rPr>
              <a:t>计算矩阵乘</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int my_id = (int ) id;</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int i,j,k,start,end;</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a:t>
            </a:r>
            <a:r>
              <a:rPr lang="zh-CN" altLang="zh-CN" sz="1400" b="1" dirty="0">
                <a:latin typeface="宋体" panose="02000500000000000000" pitchFamily="2" charset="-122"/>
                <a:cs typeface="宋体" panose="02000500000000000000" pitchFamily="2" charset="-122"/>
              </a:rPr>
              <a:t>计算进程负责的部分</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start = my_id*(n/NUM_THREADS);</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if(my_id == NUMTHREADS-1)</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end = n;</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else </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end = start+(n/NUM_THREADS);</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for(i=start;i&lt;end;i++)</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for(j=0;j&lt;n;j++) {</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C[i*n+j] = 0;</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for(k=0;k&lt;n;k++)</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C[i*n+j]+=A[i*n+k]*B[k*n+j];</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a:t>
            </a:r>
            <a:endParaRPr lang="zh-CN" altLang="zh-CN" sz="1400" b="1" dirty="0">
              <a:latin typeface="宋体" panose="02000500000000000000" pitchFamily="2" charset="-122"/>
              <a:cs typeface="宋体" panose="02000500000000000000" pitchFamily="2" charset="-122"/>
            </a:endParaRPr>
          </a:p>
          <a:p>
            <a:endParaRPr lang="zh-CN" altLang="zh-CN" sz="1400" b="1" dirty="0">
              <a:latin typeface="宋体" panose="02000500000000000000" pitchFamily="2" charset="-122"/>
              <a:cs typeface="宋体" panose="02000500000000000000" pitchFamily="2" charset="-122"/>
            </a:endParaRPr>
          </a:p>
        </p:txBody>
      </p:sp>
      <p:sp>
        <p:nvSpPr>
          <p:cNvPr id="11272" name="Rectangle 3"/>
          <p:cNvSpPr/>
          <p:nvPr/>
        </p:nvSpPr>
        <p:spPr>
          <a:xfrm>
            <a:off x="5822950" y="1295400"/>
            <a:ext cx="6453188" cy="5019675"/>
          </a:xfrm>
          <a:prstGeom prst="rect">
            <a:avLst/>
          </a:prstGeom>
          <a:noFill/>
          <a:ln w="9525">
            <a:noFill/>
          </a:ln>
        </p:spPr>
        <p:txBody>
          <a:bodyPr lIns="92075" tIns="46038" rIns="92075" bIns="46038"/>
          <a:lstStyle/>
          <a:p>
            <a:r>
              <a:rPr lang="en-US" altLang="zh-CN" sz="1400" b="1" dirty="0">
                <a:latin typeface="宋体" panose="02000500000000000000" pitchFamily="2" charset="-122"/>
                <a:cs typeface="宋体" panose="02000500000000000000" pitchFamily="2" charset="-122"/>
              </a:rPr>
              <a:t>int main() {</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int i,j;</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pthread_t tids[NUM_THREADS];</a:t>
            </a:r>
            <a:endParaRPr lang="en-US" altLang="zh-CN" sz="1400" b="1" dirty="0">
              <a:latin typeface="宋体" panose="02000500000000000000" pitchFamily="2" charset="-122"/>
              <a:cs typeface="宋体" panose="02000500000000000000" pitchFamily="2" charset="-122"/>
            </a:endParaRPr>
          </a:p>
          <a:p>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a:t>
            </a:r>
            <a:r>
              <a:rPr lang="zh-CN" altLang="zh-CN" sz="1400" b="1" dirty="0">
                <a:latin typeface="宋体" panose="02000500000000000000" pitchFamily="2" charset="-122"/>
                <a:cs typeface="宋体" panose="02000500000000000000" pitchFamily="2" charset="-122"/>
              </a:rPr>
              <a:t>分配数据空间</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A = (double *)malloc(sizeof(double)*n*n);</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B = (double *)malloc(sizeof(double)*n*n);</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C = (double *)malloc(sizeof(double)*n*n);</a:t>
            </a:r>
            <a:endParaRPr lang="en-US" altLang="zh-CN" sz="1400" b="1" dirty="0">
              <a:latin typeface="宋体" panose="02000500000000000000" pitchFamily="2" charset="-122"/>
              <a:cs typeface="宋体" panose="02000500000000000000" pitchFamily="2" charset="-122"/>
            </a:endParaRPr>
          </a:p>
          <a:p>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a:t>
            </a:r>
            <a:r>
              <a:rPr lang="zh-CN" altLang="zh-CN" sz="1400" b="1" dirty="0">
                <a:latin typeface="宋体" panose="02000500000000000000" pitchFamily="2" charset="-122"/>
                <a:cs typeface="宋体" panose="02000500000000000000" pitchFamily="2" charset="-122"/>
              </a:rPr>
              <a:t>初始化数组</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for(i=0;i&lt;n;i++)</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for(j=0;j&lt;n;j++){ </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A[i*n+j] = 1.0;</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B[i*n+j] =  1.0</a:t>
            </a:r>
            <a:r>
              <a:rPr lang="zh-CN" altLang="zh-CN" sz="1400" b="1" dirty="0">
                <a:latin typeface="宋体" panose="02000500000000000000" pitchFamily="2" charset="-122"/>
                <a:cs typeface="宋体" panose="02000500000000000000" pitchFamily="2" charset="-122"/>
              </a:rPr>
              <a:t>；</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for(i=0; i&lt;NUM_THREADS; i++)</a:t>
            </a:r>
            <a:endParaRPr lang="zh-CN" altLang="zh-CN" sz="1400" b="1" dirty="0">
              <a:latin typeface="宋体" panose="02000500000000000000" pitchFamily="2" charset="-122"/>
              <a:cs typeface="宋体" panose="02000500000000000000" pitchFamily="2" charset="-122"/>
            </a:endParaRPr>
          </a:p>
          <a:p>
            <a:r>
              <a:rPr lang="en-US" altLang="zh-CN" sz="1400" b="1" dirty="0">
                <a:solidFill>
                  <a:srgbClr val="FF0000"/>
                </a:solidFill>
                <a:latin typeface="宋体" panose="02000500000000000000" pitchFamily="2" charset="-122"/>
                <a:cs typeface="宋体" panose="02000500000000000000" pitchFamily="2" charset="-122"/>
              </a:rPr>
              <a:t>        pthread_create(&amp;tids[i], NULL, matrixMult, (void *) i);</a:t>
            </a:r>
            <a:endParaRPr lang="zh-CN" altLang="zh-CN" sz="1400" b="1" dirty="0">
              <a:solidFill>
                <a:srgbClr val="FF0000"/>
              </a:solidFill>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for(i=0; i&lt;NUM_THREADS; i++)</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a:t>
            </a:r>
            <a:r>
              <a:rPr lang="en-US" altLang="zh-CN" sz="1400" b="1" dirty="0">
                <a:solidFill>
                  <a:srgbClr val="FF0000"/>
                </a:solidFill>
                <a:latin typeface="宋体" panose="02000500000000000000" pitchFamily="2" charset="-122"/>
                <a:cs typeface="宋体" panose="02000500000000000000" pitchFamily="2" charset="-122"/>
              </a:rPr>
              <a:t>pthread_join(tids[i], NULL);</a:t>
            </a:r>
            <a:endParaRPr lang="zh-CN" altLang="zh-CN" sz="1400" b="1" dirty="0">
              <a:solidFill>
                <a:srgbClr val="FF0000"/>
              </a:solidFill>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return 0;</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a:t>
            </a:r>
            <a:endParaRPr lang="zh-CN" altLang="zh-CN" sz="1400" b="1" dirty="0">
              <a:latin typeface="宋体" panose="02000500000000000000" pitchFamily="2" charset="-122"/>
              <a:cs typeface="宋体" panose="02000500000000000000"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914400" y="87313"/>
            <a:ext cx="10844213" cy="1143000"/>
          </a:xfrm>
        </p:spPr>
        <p:txBody>
          <a:bodyPr vert="horz" wrap="square" lIns="91440" tIns="45720" rIns="91440" bIns="45720" anchor="ctr" anchorCtr="0"/>
          <a:lstStyle/>
          <a:p>
            <a:r>
              <a:rPr lang="zh-CN" altLang="en-US" dirty="0"/>
              <a:t>比较：</a:t>
            </a:r>
            <a:r>
              <a:rPr lang="en-US" altLang="zh-CN" dirty="0"/>
              <a:t>OpenMP</a:t>
            </a:r>
            <a:r>
              <a:rPr lang="zh-CN" altLang="en-US" dirty="0"/>
              <a:t>并行矩阵乘法</a:t>
            </a:r>
            <a:endParaRPr lang="zh-CN" altLang="en-US" dirty="0"/>
          </a:p>
        </p:txBody>
      </p:sp>
      <p:sp>
        <p:nvSpPr>
          <p:cNvPr id="12291"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2292" name="Rectangle 2"/>
          <p:cNvSpPr/>
          <p:nvPr/>
        </p:nvSpPr>
        <p:spPr>
          <a:xfrm>
            <a:off x="0" y="-184150"/>
            <a:ext cx="12190413" cy="368300"/>
          </a:xfrm>
          <a:prstGeom prst="rect">
            <a:avLst/>
          </a:prstGeom>
          <a:noFill/>
          <a:ln w="9525">
            <a:noFill/>
          </a:ln>
        </p:spPr>
        <p:txBody>
          <a:bodyPr anchor="ctr" anchorCtr="0">
            <a:spAutoFit/>
          </a:bodyPr>
          <a:lstStyle/>
          <a:p>
            <a:pPr algn="ctr"/>
            <a:endParaRPr lang="zh-CN" altLang="en-US" dirty="0">
              <a:latin typeface="Arial" panose="02080604020202020204" pitchFamily="34" charset="0"/>
            </a:endParaRPr>
          </a:p>
        </p:txBody>
      </p:sp>
      <p:sp>
        <p:nvSpPr>
          <p:cNvPr id="12293" name="Rectangle 4"/>
          <p:cNvSpPr/>
          <p:nvPr/>
        </p:nvSpPr>
        <p:spPr>
          <a:xfrm>
            <a:off x="0" y="-184150"/>
            <a:ext cx="12190413" cy="368300"/>
          </a:xfrm>
          <a:prstGeom prst="rect">
            <a:avLst/>
          </a:prstGeom>
          <a:noFill/>
          <a:ln w="9525">
            <a:noFill/>
          </a:ln>
        </p:spPr>
        <p:txBody>
          <a:bodyPr anchor="ctr" anchorCtr="0">
            <a:spAutoFit/>
          </a:bodyPr>
          <a:lstStyle/>
          <a:p>
            <a:pPr algn="ctr"/>
            <a:endParaRPr lang="zh-CN" altLang="en-US" dirty="0">
              <a:latin typeface="Arial" panose="02080604020202020204" pitchFamily="34" charset="0"/>
            </a:endParaRPr>
          </a:p>
        </p:txBody>
      </p:sp>
      <p:sp>
        <p:nvSpPr>
          <p:cNvPr id="12294" name="Rectangle 8"/>
          <p:cNvSpPr/>
          <p:nvPr/>
        </p:nvSpPr>
        <p:spPr>
          <a:xfrm>
            <a:off x="6002338" y="-184150"/>
            <a:ext cx="185737" cy="368300"/>
          </a:xfrm>
          <a:prstGeom prst="rect">
            <a:avLst/>
          </a:prstGeom>
          <a:noFill/>
          <a:ln w="9525">
            <a:noFill/>
          </a:ln>
        </p:spPr>
        <p:txBody>
          <a:bodyPr wrap="none" anchor="ctr" anchorCtr="0">
            <a:spAutoFit/>
          </a:bodyPr>
          <a:lstStyle/>
          <a:p>
            <a:pPr algn="ctr"/>
            <a:endParaRPr lang="zh-CN" altLang="en-US" dirty="0">
              <a:latin typeface="Arial" panose="02080604020202020204" pitchFamily="34" charset="0"/>
            </a:endParaRPr>
          </a:p>
        </p:txBody>
      </p:sp>
      <p:sp>
        <p:nvSpPr>
          <p:cNvPr id="12295" name="Rectangle 3"/>
          <p:cNvSpPr/>
          <p:nvPr/>
        </p:nvSpPr>
        <p:spPr>
          <a:xfrm>
            <a:off x="641350" y="1160780"/>
            <a:ext cx="9711055" cy="5438140"/>
          </a:xfrm>
          <a:prstGeom prst="rect">
            <a:avLst/>
          </a:prstGeom>
          <a:noFill/>
          <a:ln w="9525">
            <a:noFill/>
          </a:ln>
        </p:spPr>
        <p:txBody>
          <a:bodyPr lIns="92075" tIns="46038" rIns="92075" bIns="46038"/>
          <a:lstStyle/>
          <a:p>
            <a:r>
              <a:rPr lang="en-US" altLang="zh-CN" sz="1600" b="1" dirty="0">
                <a:latin typeface="宋体" panose="02000500000000000000" pitchFamily="2" charset="-122"/>
                <a:cs typeface="宋体" panose="02000500000000000000" pitchFamily="2" charset="-122"/>
              </a:rPr>
              <a:t>#include &lt;stdio.h&gt;</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#include &lt;omp.h&gt;</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#define n 1000</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double A[n][n],B[n][n],C[n][n]; </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int main()</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int i,j,k;</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a:t>
            </a:r>
            <a:r>
              <a:rPr lang="zh-CN" altLang="zh-CN" sz="1600" b="1" dirty="0">
                <a:latin typeface="宋体" panose="02000500000000000000" pitchFamily="2" charset="-122"/>
                <a:cs typeface="宋体" panose="02000500000000000000" pitchFamily="2" charset="-122"/>
              </a:rPr>
              <a:t>初始化矩阵</a:t>
            </a:r>
            <a:r>
              <a:rPr lang="en-US" altLang="zh-CN" sz="1600" b="1" dirty="0">
                <a:latin typeface="宋体" panose="02000500000000000000" pitchFamily="2" charset="-122"/>
                <a:cs typeface="宋体" panose="02000500000000000000" pitchFamily="2" charset="-122"/>
              </a:rPr>
              <a:t>A</a:t>
            </a:r>
            <a:r>
              <a:rPr lang="zh-CN" altLang="zh-CN" sz="1600" b="1" dirty="0">
                <a:latin typeface="宋体" panose="02000500000000000000" pitchFamily="2" charset="-122"/>
                <a:cs typeface="宋体" panose="02000500000000000000" pitchFamily="2" charset="-122"/>
              </a:rPr>
              <a:t>和矩阵</a:t>
            </a:r>
            <a:r>
              <a:rPr lang="en-US" altLang="zh-CN" sz="1600" b="1" dirty="0">
                <a:latin typeface="宋体" panose="02000500000000000000" pitchFamily="2" charset="-122"/>
                <a:cs typeface="宋体" panose="02000500000000000000" pitchFamily="2" charset="-122"/>
              </a:rPr>
              <a:t>B</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for(i=0;i&lt;n;i++)</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for(j=0;j&lt;n;j++) {</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A[i][j] = 1.0;</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B[i][j] = 1.0;   }</a:t>
            </a:r>
            <a:endParaRPr lang="en-US" altLang="zh-CN" sz="1600" b="1" dirty="0">
              <a:latin typeface="宋体" panose="02000500000000000000" pitchFamily="2" charset="-122"/>
              <a:cs typeface="宋体" panose="02000500000000000000" pitchFamily="2" charset="-122"/>
            </a:endParaRPr>
          </a:p>
          <a:p>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a:t>
            </a:r>
            <a:r>
              <a:rPr lang="zh-CN" altLang="zh-CN" sz="1600" b="1" dirty="0">
                <a:latin typeface="宋体" panose="02000500000000000000" pitchFamily="2" charset="-122"/>
                <a:cs typeface="宋体" panose="02000500000000000000" pitchFamily="2" charset="-122"/>
              </a:rPr>
              <a:t>并行计算矩阵</a:t>
            </a:r>
            <a:r>
              <a:rPr lang="en-US" altLang="zh-CN" sz="1600" b="1" dirty="0">
                <a:latin typeface="宋体" panose="02000500000000000000" pitchFamily="2" charset="-122"/>
                <a:cs typeface="宋体" panose="02000500000000000000" pitchFamily="2" charset="-122"/>
              </a:rPr>
              <a:t>C</a:t>
            </a:r>
            <a:endParaRPr lang="zh-CN" altLang="zh-CN" sz="1600" b="1" dirty="0">
              <a:latin typeface="宋体" panose="02000500000000000000" pitchFamily="2" charset="-122"/>
              <a:cs typeface="宋体" panose="02000500000000000000" pitchFamily="2" charset="-122"/>
            </a:endParaRPr>
          </a:p>
          <a:p>
            <a:r>
              <a:rPr lang="en-US" altLang="zh-CN" sz="1600" b="1" dirty="0">
                <a:solidFill>
                  <a:srgbClr val="FF0000"/>
                </a:solidFill>
                <a:latin typeface="宋体" panose="02000500000000000000" pitchFamily="2" charset="-122"/>
                <a:cs typeface="宋体" panose="02000500000000000000" pitchFamily="2" charset="-122"/>
              </a:rPr>
              <a:t>   #pragma omp parallel for shared(A,B,C) private(i,j,k)</a:t>
            </a:r>
            <a:endParaRPr lang="zh-CN" altLang="zh-CN" sz="1600" b="1" dirty="0">
              <a:solidFill>
                <a:srgbClr val="FF0000"/>
              </a:solidFill>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for(i=0;i&lt;n;i++)</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for(j=0;j&lt;n;j++){</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C[i][j] = 0;</a:t>
            </a:r>
            <a:endParaRPr lang="zh-CN" altLang="zh-CN" sz="1600" b="1" dirty="0">
              <a:latin typeface="宋体" panose="02000500000000000000" pitchFamily="2" charset="-122"/>
              <a:cs typeface="宋体" panose="02000500000000000000" pitchFamily="2" charset="-122"/>
            </a:endParaRPr>
          </a:p>
          <a:p>
            <a:r>
              <a:rPr lang="en-US" altLang="zh-CN" sz="1600" b="1" dirty="0">
                <a:latin typeface="宋体" panose="02000500000000000000" pitchFamily="2" charset="-122"/>
                <a:cs typeface="宋体" panose="02000500000000000000" pitchFamily="2" charset="-122"/>
              </a:rPr>
              <a:t>       for(k=0;k&lt;n;k++)</a:t>
            </a:r>
            <a:endParaRPr lang="zh-CN" altLang="zh-CN" sz="16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C[i][j]+=A[i][k]*B[k][j];}</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   Return 0;</a:t>
            </a:r>
            <a:endParaRPr lang="zh-CN" altLang="zh-CN" sz="1400" b="1" dirty="0">
              <a:latin typeface="宋体" panose="02000500000000000000" pitchFamily="2" charset="-122"/>
              <a:cs typeface="宋体" panose="02000500000000000000" pitchFamily="2" charset="-122"/>
            </a:endParaRPr>
          </a:p>
          <a:p>
            <a:r>
              <a:rPr lang="en-US" altLang="zh-CN" sz="1400" b="1" dirty="0">
                <a:latin typeface="宋体" panose="02000500000000000000" pitchFamily="2" charset="-122"/>
                <a:cs typeface="宋体" panose="02000500000000000000" pitchFamily="2" charset="-122"/>
              </a:rPr>
              <a:t>}</a:t>
            </a:r>
            <a:endParaRPr lang="zh-CN" altLang="zh-CN" sz="1400" b="1" dirty="0">
              <a:latin typeface="宋体" panose="02000500000000000000" pitchFamily="2" charset="-122"/>
              <a:cs typeface="宋体" panose="02000500000000000000"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3315" name="Rectangle 3"/>
          <p:cNvSpPr/>
          <p:nvPr/>
        </p:nvSpPr>
        <p:spPr>
          <a:xfrm>
            <a:off x="6002338" y="392113"/>
            <a:ext cx="185737" cy="368300"/>
          </a:xfrm>
          <a:prstGeom prst="rect">
            <a:avLst/>
          </a:prstGeom>
          <a:noFill/>
          <a:ln w="9525">
            <a:noFill/>
          </a:ln>
        </p:spPr>
        <p:txBody>
          <a:bodyPr wrap="none" anchor="ctr" anchorCtr="0">
            <a:spAutoFit/>
          </a:bodyPr>
          <a:lstStyle/>
          <a:p>
            <a:pPr algn="ctr"/>
            <a:endParaRPr lang="zh-CN" altLang="en-US" dirty="0">
              <a:latin typeface="Arial" panose="02080604020202020204" pitchFamily="34" charset="0"/>
            </a:endParaRPr>
          </a:p>
        </p:txBody>
      </p:sp>
      <p:sp>
        <p:nvSpPr>
          <p:cNvPr id="13316" name="Rectangle 5"/>
          <p:cNvSpPr/>
          <p:nvPr/>
        </p:nvSpPr>
        <p:spPr>
          <a:xfrm>
            <a:off x="6002338" y="1225550"/>
            <a:ext cx="185737" cy="368300"/>
          </a:xfrm>
          <a:prstGeom prst="rect">
            <a:avLst/>
          </a:prstGeom>
          <a:noFill/>
          <a:ln w="9525">
            <a:noFill/>
          </a:ln>
        </p:spPr>
        <p:txBody>
          <a:bodyPr wrap="none" anchor="ctr" anchorCtr="0">
            <a:spAutoFit/>
          </a:bodyPr>
          <a:lstStyle/>
          <a:p>
            <a:pPr algn="ctr" eaLnBrk="0" hangingPunct="0"/>
            <a:endParaRPr lang="zh-CN" altLang="zh-CN" dirty="0">
              <a:latin typeface="Arial" panose="02080604020202020204" pitchFamily="34" charset="0"/>
            </a:endParaRPr>
          </a:p>
        </p:txBody>
      </p:sp>
      <p:sp>
        <p:nvSpPr>
          <p:cNvPr id="13317" name="Rectangle 7"/>
          <p:cNvSpPr/>
          <p:nvPr/>
        </p:nvSpPr>
        <p:spPr>
          <a:xfrm>
            <a:off x="6002338" y="-184150"/>
            <a:ext cx="185737" cy="368300"/>
          </a:xfrm>
          <a:prstGeom prst="rect">
            <a:avLst/>
          </a:prstGeom>
          <a:noFill/>
          <a:ln w="9525">
            <a:noFill/>
          </a:ln>
        </p:spPr>
        <p:txBody>
          <a:bodyPr wrap="none" anchor="ctr" anchorCtr="0">
            <a:spAutoFit/>
          </a:bodyPr>
          <a:lstStyle/>
          <a:p>
            <a:pPr algn="ctr"/>
            <a:endParaRPr lang="zh-CN" altLang="en-US" dirty="0">
              <a:latin typeface="Arial" panose="02080604020202020204" pitchFamily="34" charset="0"/>
            </a:endParaRPr>
          </a:p>
        </p:txBody>
      </p:sp>
      <p:sp>
        <p:nvSpPr>
          <p:cNvPr id="13318" name="Text Box 2"/>
          <p:cNvSpPr txBox="1"/>
          <p:nvPr/>
        </p:nvSpPr>
        <p:spPr>
          <a:xfrm>
            <a:off x="60325" y="803275"/>
            <a:ext cx="5343525" cy="5203825"/>
          </a:xfrm>
          <a:prstGeom prst="rect">
            <a:avLst/>
          </a:prstGeom>
          <a:solidFill>
            <a:srgbClr val="FFFFFF"/>
          </a:solidFill>
          <a:ln w="9525" cap="flat" cmpd="sng">
            <a:solidFill>
              <a:srgbClr val="FFFFFF"/>
            </a:solidFill>
            <a:prstDash val="solid"/>
            <a:miter/>
            <a:headEnd type="none" w="med" len="med"/>
            <a:tailEnd type="none" w="med" len="med"/>
          </a:ln>
        </p:spPr>
        <p:txBody>
          <a:bodyPr/>
          <a:lstStyle/>
          <a:p>
            <a:r>
              <a:rPr lang="en-US" altLang="zh-CN" sz="1200" dirty="0">
                <a:latin typeface="Arial" panose="02080604020202020204" pitchFamily="34" charset="0"/>
              </a:rPr>
              <a:t>#include &lt;stdio.h&gt;</a:t>
            </a:r>
            <a:endParaRPr lang="zh-CN" altLang="zh-CN" sz="1200" dirty="0">
              <a:latin typeface="Arial" panose="02080604020202020204" pitchFamily="34" charset="0"/>
            </a:endParaRPr>
          </a:p>
          <a:p>
            <a:r>
              <a:rPr lang="en-US" altLang="zh-CN" sz="1200" dirty="0">
                <a:latin typeface="Arial" panose="02080604020202020204" pitchFamily="34" charset="0"/>
              </a:rPr>
              <a:t>#include “mpi.h”</a:t>
            </a:r>
            <a:endParaRPr lang="zh-CN" altLang="zh-CN" sz="1200" dirty="0">
              <a:latin typeface="Arial" panose="02080604020202020204" pitchFamily="34" charset="0"/>
            </a:endParaRPr>
          </a:p>
          <a:p>
            <a:r>
              <a:rPr lang="en-US" altLang="zh-CN" sz="1200" dirty="0">
                <a:latin typeface="Arial" panose="02080604020202020204" pitchFamily="34" charset="0"/>
              </a:rPr>
              <a:t>#define n 1000</a:t>
            </a:r>
            <a:endParaRPr lang="zh-CN" altLang="zh-CN" sz="1200" dirty="0">
              <a:latin typeface="Arial" panose="02080604020202020204" pitchFamily="34" charset="0"/>
            </a:endParaRPr>
          </a:p>
          <a:p>
            <a:r>
              <a:rPr lang="en-US" altLang="zh-CN" sz="1200" dirty="0">
                <a:latin typeface="Arial" panose="02080604020202020204" pitchFamily="34" charset="0"/>
              </a:rPr>
              <a:t>int main(int argc, char **argv) {</a:t>
            </a:r>
            <a:endParaRPr lang="zh-CN" altLang="zh-CN" sz="1200" dirty="0">
              <a:latin typeface="Arial" panose="02080604020202020204" pitchFamily="34" charset="0"/>
            </a:endParaRPr>
          </a:p>
          <a:p>
            <a:r>
              <a:rPr lang="en-US" altLang="zh-CN" sz="1200" dirty="0">
                <a:latin typeface="Arial" panose="02080604020202020204" pitchFamily="34" charset="0"/>
              </a:rPr>
              <a:t>   double *A,*B,*C;</a:t>
            </a:r>
            <a:endParaRPr lang="zh-CN" altLang="zh-CN" sz="1200" dirty="0">
              <a:latin typeface="Arial" panose="02080604020202020204" pitchFamily="34" charset="0"/>
            </a:endParaRPr>
          </a:p>
          <a:p>
            <a:r>
              <a:rPr lang="en-US" altLang="zh-CN" sz="1200" dirty="0">
                <a:latin typeface="Arial" panose="02080604020202020204" pitchFamily="34" charset="0"/>
              </a:rPr>
              <a:t>   inti,j,k, ID,num_procs,line;</a:t>
            </a:r>
            <a:endParaRPr lang="zh-CN" altLang="zh-CN" sz="1200" dirty="0">
              <a:latin typeface="Arial" panose="02080604020202020204" pitchFamily="34" charset="0"/>
            </a:endParaRPr>
          </a:p>
          <a:p>
            <a:r>
              <a:rPr lang="en-US" altLang="zh-CN" sz="1200" dirty="0">
                <a:solidFill>
                  <a:srgbClr val="FF0000"/>
                </a:solidFill>
                <a:latin typeface="Arial" panose="02080604020202020204" pitchFamily="34" charset="0"/>
              </a:rPr>
              <a:t>   MPI_Status status</a:t>
            </a:r>
            <a:r>
              <a:rPr lang="zh-CN" altLang="zh-CN" sz="1200" dirty="0">
                <a:solidFill>
                  <a:srgbClr val="FF0000"/>
                </a:solidFill>
                <a:latin typeface="Arial" panose="02080604020202020204" pitchFamily="34" charset="0"/>
              </a:rPr>
              <a:t>；</a:t>
            </a:r>
            <a:endParaRPr lang="zh-CN"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MPI_Init(&amp;argc,&amp;argv); </a:t>
            </a:r>
            <a:endParaRPr lang="en-US"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MPI_Comm_rank(MPI_COMM_WORLD,</a:t>
            </a:r>
            <a:endParaRPr lang="en-US"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&amp;ID);//</a:t>
            </a:r>
            <a:r>
              <a:rPr lang="zh-CN" altLang="zh-CN" sz="1200" dirty="0">
                <a:solidFill>
                  <a:srgbClr val="FF0000"/>
                </a:solidFill>
                <a:latin typeface="Arial" panose="02080604020202020204" pitchFamily="34" charset="0"/>
              </a:rPr>
              <a:t>获取当前进程号</a:t>
            </a:r>
            <a:endParaRPr lang="zh-CN"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MPI_Comm_size(MPI_COMM_WORLD,</a:t>
            </a:r>
            <a:endParaRPr lang="en-US"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&amp;num_procs);//</a:t>
            </a:r>
            <a:r>
              <a:rPr lang="zh-CN" altLang="zh-CN" sz="1200" dirty="0">
                <a:solidFill>
                  <a:srgbClr val="FF0000"/>
                </a:solidFill>
                <a:latin typeface="Arial" panose="02080604020202020204" pitchFamily="34" charset="0"/>
              </a:rPr>
              <a:t>获取进程数目</a:t>
            </a:r>
            <a:endParaRPr lang="zh-CN" altLang="zh-CN" sz="1200" dirty="0">
              <a:solidFill>
                <a:srgbClr val="FF0000"/>
              </a:solidFill>
              <a:latin typeface="Arial" panose="02080604020202020204" pitchFamily="34" charset="0"/>
            </a:endParaRPr>
          </a:p>
          <a:p>
            <a:r>
              <a:rPr lang="en-US" altLang="zh-CN" sz="1200" dirty="0">
                <a:latin typeface="Arial" panose="02080604020202020204" pitchFamily="34" charset="0"/>
              </a:rPr>
              <a:t>  //</a:t>
            </a:r>
            <a:r>
              <a:rPr lang="zh-CN" altLang="zh-CN" sz="1200" dirty="0">
                <a:latin typeface="Arial" panose="02080604020202020204" pitchFamily="34" charset="0"/>
              </a:rPr>
              <a:t>分配数据空间</a:t>
            </a:r>
            <a:endParaRPr lang="zh-CN" altLang="zh-CN" sz="1200" dirty="0">
              <a:latin typeface="Arial" panose="02080604020202020204" pitchFamily="34" charset="0"/>
            </a:endParaRPr>
          </a:p>
          <a:p>
            <a:r>
              <a:rPr lang="en-US" altLang="zh-CN" sz="1200" dirty="0">
                <a:latin typeface="Arial" panose="02080604020202020204" pitchFamily="34" charset="0"/>
              </a:rPr>
              <a:t>  A = (double *)malloc(sizeof(double)*n*n);</a:t>
            </a:r>
            <a:endParaRPr lang="zh-CN" altLang="zh-CN" sz="1200" dirty="0">
              <a:latin typeface="Arial" panose="02080604020202020204" pitchFamily="34" charset="0"/>
            </a:endParaRPr>
          </a:p>
          <a:p>
            <a:r>
              <a:rPr lang="en-US" altLang="zh-CN" sz="1200" dirty="0">
                <a:latin typeface="Arial" panose="02080604020202020204" pitchFamily="34" charset="0"/>
              </a:rPr>
              <a:t>  B = (double *)malloc(sizeof(double)*n*n);</a:t>
            </a:r>
            <a:endParaRPr lang="zh-CN" altLang="zh-CN" sz="1200" dirty="0">
              <a:latin typeface="Arial" panose="02080604020202020204" pitchFamily="34" charset="0"/>
            </a:endParaRPr>
          </a:p>
          <a:p>
            <a:r>
              <a:rPr lang="en-US" altLang="zh-CN" sz="1200" dirty="0">
                <a:latin typeface="Arial" panose="02080604020202020204" pitchFamily="34" charset="0"/>
              </a:rPr>
              <a:t>  C = (double *)malloc(sizeof(double)*n*n);</a:t>
            </a:r>
            <a:endParaRPr lang="zh-CN" altLang="zh-CN" sz="1200" dirty="0">
              <a:latin typeface="Arial" panose="02080604020202020204" pitchFamily="34" charset="0"/>
            </a:endParaRPr>
          </a:p>
          <a:p>
            <a:r>
              <a:rPr lang="en-US" altLang="zh-CN" sz="1200" dirty="0">
                <a:latin typeface="Arial" panose="02080604020202020204" pitchFamily="34" charset="0"/>
              </a:rPr>
              <a:t>  line = n/num_procs;//</a:t>
            </a:r>
            <a:r>
              <a:rPr lang="zh-CN" altLang="zh-CN" sz="1200" dirty="0">
                <a:latin typeface="Arial" panose="02080604020202020204" pitchFamily="34" charset="0"/>
              </a:rPr>
              <a:t>按进程数来划分数据</a:t>
            </a:r>
            <a:endParaRPr lang="en-US" altLang="zh-CN" sz="1200" dirty="0">
              <a:latin typeface="Arial" panose="02080604020202020204" pitchFamily="34" charset="0"/>
            </a:endParaRPr>
          </a:p>
          <a:p>
            <a:r>
              <a:rPr lang="en-US" altLang="zh-CN" sz="1200" dirty="0">
                <a:latin typeface="Arial" panose="02080604020202020204" pitchFamily="34" charset="0"/>
              </a:rPr>
              <a:t>  if(ID==0){ //</a:t>
            </a:r>
            <a:r>
              <a:rPr lang="zh-CN" altLang="zh-CN" sz="1200" dirty="0">
                <a:latin typeface="Arial" panose="02080604020202020204" pitchFamily="34" charset="0"/>
              </a:rPr>
              <a:t>节点</a:t>
            </a:r>
            <a:r>
              <a:rPr lang="en-US" altLang="zh-CN" sz="1200" dirty="0">
                <a:latin typeface="Arial" panose="02080604020202020204" pitchFamily="34" charset="0"/>
              </a:rPr>
              <a:t>0</a:t>
            </a:r>
            <a:r>
              <a:rPr lang="zh-CN" altLang="zh-CN" sz="1200" dirty="0">
                <a:latin typeface="Arial" panose="02080604020202020204" pitchFamily="34" charset="0"/>
              </a:rPr>
              <a:t>，主进程</a:t>
            </a:r>
            <a:endParaRPr lang="zh-CN" altLang="zh-CN" sz="1200" dirty="0">
              <a:latin typeface="Arial" panose="02080604020202020204" pitchFamily="34" charset="0"/>
            </a:endParaRPr>
          </a:p>
          <a:p>
            <a:r>
              <a:rPr lang="en-US" altLang="zh-CN" sz="1200" dirty="0">
                <a:latin typeface="Arial" panose="02080604020202020204" pitchFamily="34" charset="0"/>
              </a:rPr>
              <a:t>       for(i=0;i&lt;n;i++) //</a:t>
            </a:r>
            <a:r>
              <a:rPr lang="zh-CN" altLang="zh-CN" sz="1200" dirty="0">
                <a:latin typeface="Arial" panose="02080604020202020204" pitchFamily="34" charset="0"/>
              </a:rPr>
              <a:t>初始化数组</a:t>
            </a:r>
            <a:endParaRPr lang="zh-CN" altLang="zh-CN" sz="1200" dirty="0">
              <a:latin typeface="Arial" panose="02080604020202020204" pitchFamily="34" charset="0"/>
            </a:endParaRPr>
          </a:p>
          <a:p>
            <a:r>
              <a:rPr lang="en-US" altLang="zh-CN" sz="1200" dirty="0">
                <a:latin typeface="Arial" panose="02080604020202020204" pitchFamily="34" charset="0"/>
              </a:rPr>
              <a:t>       for(j=0;j&lt;n;j++){ </a:t>
            </a:r>
            <a:endParaRPr lang="zh-CN" altLang="zh-CN" sz="1200" dirty="0">
              <a:latin typeface="Arial" panose="02080604020202020204" pitchFamily="34" charset="0"/>
            </a:endParaRPr>
          </a:p>
          <a:p>
            <a:r>
              <a:rPr lang="en-US" altLang="zh-CN" sz="1200" dirty="0">
                <a:latin typeface="Arial" panose="02080604020202020204" pitchFamily="34" charset="0"/>
              </a:rPr>
              <a:t>          A[i*n+j] = 1.0;B[i*n+j] =  1;}</a:t>
            </a:r>
            <a:endParaRPr lang="zh-CN" altLang="zh-CN" sz="1200" dirty="0">
              <a:latin typeface="Arial" panose="02080604020202020204" pitchFamily="34" charset="0"/>
            </a:endParaRPr>
          </a:p>
          <a:p>
            <a:r>
              <a:rPr lang="en-US" altLang="zh-CN" sz="1200" dirty="0">
                <a:latin typeface="Arial" panose="02080604020202020204" pitchFamily="34" charset="0"/>
              </a:rPr>
              <a:t>     //</a:t>
            </a:r>
            <a:r>
              <a:rPr lang="zh-CN" altLang="zh-CN" sz="1200" dirty="0">
                <a:latin typeface="Arial" panose="02080604020202020204" pitchFamily="34" charset="0"/>
              </a:rPr>
              <a:t>将矩阵</a:t>
            </a:r>
            <a:r>
              <a:rPr lang="en-US" altLang="zh-CN" sz="1200" dirty="0">
                <a:latin typeface="Arial" panose="02080604020202020204" pitchFamily="34" charset="0"/>
              </a:rPr>
              <a:t>A</a:t>
            </a:r>
            <a:r>
              <a:rPr lang="zh-CN" altLang="zh-CN" sz="1200" dirty="0">
                <a:latin typeface="Arial" panose="02080604020202020204" pitchFamily="34" charset="0"/>
              </a:rPr>
              <a:t>、</a:t>
            </a:r>
            <a:r>
              <a:rPr lang="en-US" altLang="zh-CN" sz="1200" dirty="0">
                <a:latin typeface="Arial" panose="02080604020202020204" pitchFamily="34" charset="0"/>
              </a:rPr>
              <a:t>B</a:t>
            </a:r>
            <a:r>
              <a:rPr lang="zh-CN" altLang="zh-CN" sz="1200" dirty="0">
                <a:latin typeface="Arial" panose="02080604020202020204" pitchFamily="34" charset="0"/>
              </a:rPr>
              <a:t>的相应数据发送给从进程</a:t>
            </a:r>
            <a:endParaRPr lang="zh-CN" altLang="zh-CN" sz="1200" dirty="0">
              <a:latin typeface="Arial" panose="02080604020202020204" pitchFamily="34" charset="0"/>
            </a:endParaRPr>
          </a:p>
          <a:p>
            <a:r>
              <a:rPr lang="en-US" altLang="zh-CN" sz="1200" dirty="0">
                <a:latin typeface="Arial" panose="02080604020202020204" pitchFamily="34" charset="0"/>
              </a:rPr>
              <a:t>      for(i=1;i&lt;num_procs;i++)  {</a:t>
            </a:r>
            <a:endParaRPr lang="en-US" altLang="zh-CN" sz="1200" dirty="0">
              <a:latin typeface="Arial" panose="02080604020202020204" pitchFamily="34" charset="0"/>
            </a:endParaRPr>
          </a:p>
          <a:p>
            <a:r>
              <a:rPr lang="en-US" altLang="zh-CN" sz="1200" dirty="0">
                <a:latin typeface="Arial" panose="02080604020202020204" pitchFamily="34" charset="0"/>
              </a:rPr>
              <a:t>       </a:t>
            </a:r>
            <a:r>
              <a:rPr lang="en-US" altLang="zh-CN" sz="1200" dirty="0">
                <a:solidFill>
                  <a:srgbClr val="FF0000"/>
                </a:solidFill>
                <a:latin typeface="Arial" panose="02080604020202020204" pitchFamily="34" charset="0"/>
              </a:rPr>
              <a:t>MPI_Send(B,n*n,  MPI_DOUBLE,</a:t>
            </a:r>
            <a:endParaRPr lang="en-US"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i,0,MPI_COMM_WORLD);</a:t>
            </a:r>
            <a:endParaRPr lang="zh-CN"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MPI_Send(A+(i-1)*line*n,line*n,</a:t>
            </a:r>
            <a:endParaRPr lang="en-US"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MPI_DOUBLE,i,1,MPI_COMM_WORLD);</a:t>
            </a:r>
            <a:endParaRPr lang="zh-CN" altLang="zh-CN" sz="1200" dirty="0">
              <a:solidFill>
                <a:srgbClr val="FF0000"/>
              </a:solidFill>
              <a:latin typeface="Arial" panose="02080604020202020204" pitchFamily="34" charset="0"/>
            </a:endParaRPr>
          </a:p>
          <a:p>
            <a:r>
              <a:rPr lang="en-US" altLang="zh-CN" sz="1200" dirty="0">
                <a:latin typeface="Arial" panose="02080604020202020204" pitchFamily="34" charset="0"/>
              </a:rPr>
              <a:t>    }</a:t>
            </a:r>
            <a:endParaRPr lang="zh-CN" altLang="zh-CN" sz="1200" dirty="0">
              <a:latin typeface="Arial" panose="02080604020202020204" pitchFamily="34" charset="0"/>
            </a:endParaRPr>
          </a:p>
          <a:p>
            <a:endParaRPr lang="zh-CN" altLang="zh-CN" sz="1200" dirty="0">
              <a:latin typeface="Arial" panose="02080604020202020204" pitchFamily="34" charset="0"/>
            </a:endParaRPr>
          </a:p>
          <a:p>
            <a:pPr algn="just"/>
            <a:endParaRPr lang="zh-CN" altLang="zh-CN" sz="1200" dirty="0">
              <a:latin typeface="Arial" panose="02080604020202020204" pitchFamily="34" charset="0"/>
            </a:endParaRPr>
          </a:p>
        </p:txBody>
      </p:sp>
      <p:sp>
        <p:nvSpPr>
          <p:cNvPr id="13319" name="Text Box 3"/>
          <p:cNvSpPr txBox="1"/>
          <p:nvPr/>
        </p:nvSpPr>
        <p:spPr>
          <a:xfrm>
            <a:off x="5495925" y="890588"/>
            <a:ext cx="6665913" cy="5967412"/>
          </a:xfrm>
          <a:prstGeom prst="rect">
            <a:avLst/>
          </a:prstGeom>
          <a:solidFill>
            <a:srgbClr val="FFFFFF"/>
          </a:solidFill>
          <a:ln w="9525" cap="flat" cmpd="sng">
            <a:solidFill>
              <a:srgbClr val="FFFFFF"/>
            </a:solidFill>
            <a:prstDash val="solid"/>
            <a:miter/>
            <a:headEnd type="none" w="med" len="med"/>
            <a:tailEnd type="none" w="med" len="med"/>
          </a:ln>
        </p:spPr>
        <p:txBody>
          <a:bodyPr/>
          <a:lstStyle/>
          <a:p>
            <a:r>
              <a:rPr lang="en-US" altLang="zh-CN" sz="1200" dirty="0">
                <a:latin typeface="Arial" panose="02080604020202020204" pitchFamily="34" charset="0"/>
              </a:rPr>
              <a:t>//</a:t>
            </a:r>
            <a:r>
              <a:rPr lang="zh-CN" altLang="zh-CN" sz="1200" dirty="0">
                <a:latin typeface="Arial" panose="02080604020202020204" pitchFamily="34" charset="0"/>
              </a:rPr>
              <a:t>计算剩下的数据</a:t>
            </a:r>
            <a:endParaRPr lang="zh-CN" altLang="zh-CN" sz="1200" dirty="0">
              <a:latin typeface="Arial" panose="02080604020202020204" pitchFamily="34" charset="0"/>
            </a:endParaRPr>
          </a:p>
          <a:p>
            <a:r>
              <a:rPr lang="en-US" altLang="zh-CN" sz="1200" dirty="0">
                <a:latin typeface="Arial" panose="02080604020202020204" pitchFamily="34" charset="0"/>
              </a:rPr>
              <a:t>   for(i=(num_procs-1)*line;i&lt;n;i++) </a:t>
            </a:r>
            <a:endParaRPr lang="zh-CN" altLang="zh-CN" sz="1200" dirty="0">
              <a:latin typeface="Arial" panose="02080604020202020204" pitchFamily="34" charset="0"/>
            </a:endParaRPr>
          </a:p>
          <a:p>
            <a:r>
              <a:rPr lang="en-US" altLang="zh-CN" sz="1200" dirty="0">
                <a:latin typeface="Arial" panose="02080604020202020204" pitchFamily="34" charset="0"/>
              </a:rPr>
              <a:t>      for(j=0;j&lt;n;j++) {</a:t>
            </a:r>
            <a:endParaRPr lang="zh-CN" altLang="zh-CN" sz="1200" dirty="0">
              <a:latin typeface="Arial" panose="02080604020202020204" pitchFamily="34" charset="0"/>
            </a:endParaRPr>
          </a:p>
          <a:p>
            <a:r>
              <a:rPr lang="en-US" altLang="zh-CN" sz="1200" dirty="0">
                <a:latin typeface="Arial" panose="02080604020202020204" pitchFamily="34" charset="0"/>
              </a:rPr>
              <a:t>        C[i*n+j]=0;</a:t>
            </a:r>
            <a:endParaRPr lang="zh-CN" altLang="zh-CN" sz="1200" dirty="0">
              <a:latin typeface="Arial" panose="02080604020202020204" pitchFamily="34" charset="0"/>
            </a:endParaRPr>
          </a:p>
          <a:p>
            <a:r>
              <a:rPr lang="en-US" altLang="zh-CN" sz="1200" dirty="0">
                <a:latin typeface="Arial" panose="02080604020202020204" pitchFamily="34" charset="0"/>
              </a:rPr>
              <a:t>        for(k=0;k&lt;n;k++)</a:t>
            </a:r>
            <a:endParaRPr lang="zh-CN" altLang="zh-CN" sz="1200" dirty="0">
              <a:latin typeface="Arial" panose="02080604020202020204" pitchFamily="34" charset="0"/>
            </a:endParaRPr>
          </a:p>
          <a:p>
            <a:r>
              <a:rPr lang="en-US" altLang="zh-CN" sz="1200" dirty="0">
                <a:latin typeface="Arial" panose="02080604020202020204" pitchFamily="34" charset="0"/>
              </a:rPr>
              <a:t>           C[i*n+j]+=A[i*n+k]*B[k*n+j]; }</a:t>
            </a:r>
            <a:endParaRPr lang="en-US" altLang="zh-CN" sz="1200" dirty="0">
              <a:latin typeface="Arial" panose="02080604020202020204" pitchFamily="34" charset="0"/>
            </a:endParaRPr>
          </a:p>
          <a:p>
            <a:r>
              <a:rPr lang="en-US" altLang="zh-CN" sz="1200" dirty="0">
                <a:latin typeface="Arial" panose="02080604020202020204" pitchFamily="34" charset="0"/>
              </a:rPr>
              <a:t>//</a:t>
            </a:r>
            <a:r>
              <a:rPr lang="zh-CN" altLang="zh-CN" sz="1200" dirty="0">
                <a:latin typeface="Arial" panose="02080604020202020204" pitchFamily="34" charset="0"/>
              </a:rPr>
              <a:t>接收从进程计算结果</a:t>
            </a:r>
            <a:endParaRPr lang="zh-CN" altLang="zh-CN" sz="1200" dirty="0">
              <a:latin typeface="Arial" panose="02080604020202020204" pitchFamily="34" charset="0"/>
            </a:endParaRPr>
          </a:p>
          <a:p>
            <a:r>
              <a:rPr lang="en-US" altLang="zh-CN" sz="1200" dirty="0">
                <a:latin typeface="Arial" panose="02080604020202020204" pitchFamily="34" charset="0"/>
              </a:rPr>
              <a:t>   for(i=1;i&lt;num_procs;i++) </a:t>
            </a:r>
            <a:endParaRPr lang="zh-CN" altLang="zh-CN" sz="1200" dirty="0">
              <a:latin typeface="Arial" panose="02080604020202020204" pitchFamily="34" charset="0"/>
            </a:endParaRPr>
          </a:p>
          <a:p>
            <a:r>
              <a:rPr lang="en-US" altLang="zh-CN" sz="1200" dirty="0">
                <a:solidFill>
                  <a:srgbClr val="FF0000"/>
                </a:solidFill>
                <a:latin typeface="Arial" panose="02080604020202020204" pitchFamily="34" charset="0"/>
              </a:rPr>
              <a:t>        MPI_Recv(C+(i-1)*line*n,line*n,</a:t>
            </a:r>
            <a:endParaRPr lang="en-US"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MPI_DOUBLE,i,2,MPI_COMM_WORLD,&amp;Status);</a:t>
            </a:r>
            <a:endParaRPr lang="zh-CN" altLang="zh-CN" sz="1200" dirty="0">
              <a:latin typeface="Arial" panose="02080604020202020204" pitchFamily="34" charset="0"/>
            </a:endParaRPr>
          </a:p>
          <a:p>
            <a:r>
              <a:rPr lang="en-US" altLang="zh-CN" sz="1200" dirty="0">
                <a:latin typeface="Arial" panose="02080604020202020204" pitchFamily="34" charset="0"/>
              </a:rPr>
              <a:t>   } else {  //</a:t>
            </a:r>
            <a:r>
              <a:rPr lang="zh-CN" altLang="zh-CN" sz="1200" dirty="0">
                <a:latin typeface="Arial" panose="02080604020202020204" pitchFamily="34" charset="0"/>
              </a:rPr>
              <a:t>其他进程接收数据，计算结果，发送给主进程</a:t>
            </a:r>
            <a:endParaRPr lang="zh-CN" altLang="zh-CN" sz="1200" dirty="0">
              <a:latin typeface="Arial" panose="02080604020202020204" pitchFamily="34" charset="0"/>
            </a:endParaRPr>
          </a:p>
          <a:p>
            <a:r>
              <a:rPr lang="en-US" altLang="zh-CN" sz="1200" dirty="0">
                <a:solidFill>
                  <a:srgbClr val="FF0000"/>
                </a:solidFill>
                <a:latin typeface="Arial" panose="02080604020202020204" pitchFamily="34" charset="0"/>
              </a:rPr>
              <a:t>       MPI_Recv(B,n*n,MPI_DOUBLE,0,0,</a:t>
            </a:r>
            <a:endParaRPr lang="en-US"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MPI_COMM_WORLD,&amp;Status);</a:t>
            </a:r>
            <a:endParaRPr lang="zh-CN"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MPI_Recv(A+(ID-1)*line*n,line*n,</a:t>
            </a:r>
            <a:endParaRPr lang="en-US"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MPI_DOUBLE,0,1,MPI_COMM_WORLD,&amp;Status);</a:t>
            </a:r>
            <a:endParaRPr lang="zh-CN" altLang="zh-CN" sz="1200" dirty="0">
              <a:solidFill>
                <a:srgbClr val="FF0000"/>
              </a:solidFill>
              <a:latin typeface="Arial" panose="02080604020202020204" pitchFamily="34" charset="0"/>
            </a:endParaRPr>
          </a:p>
          <a:p>
            <a:r>
              <a:rPr lang="en-US" altLang="zh-CN" sz="1200" dirty="0">
                <a:latin typeface="Arial" panose="02080604020202020204" pitchFamily="34" charset="0"/>
              </a:rPr>
              <a:t>      for(i=(ID-1)*line;i&lt;ID*line;i++) </a:t>
            </a:r>
            <a:endParaRPr lang="zh-CN" altLang="zh-CN" sz="1200" dirty="0">
              <a:latin typeface="Arial" panose="02080604020202020204" pitchFamily="34" charset="0"/>
            </a:endParaRPr>
          </a:p>
          <a:p>
            <a:r>
              <a:rPr lang="en-US" altLang="zh-CN" sz="1200" dirty="0">
                <a:latin typeface="Arial" panose="02080604020202020204" pitchFamily="34" charset="0"/>
              </a:rPr>
              <a:t>         for(j=0;j&lt;n;j++) {</a:t>
            </a:r>
            <a:endParaRPr lang="zh-CN" altLang="zh-CN" sz="1200" dirty="0">
              <a:latin typeface="Arial" panose="02080604020202020204" pitchFamily="34" charset="0"/>
            </a:endParaRPr>
          </a:p>
          <a:p>
            <a:r>
              <a:rPr lang="en-US" altLang="zh-CN" sz="1200" dirty="0">
                <a:latin typeface="Arial" panose="02080604020202020204" pitchFamily="34" charset="0"/>
              </a:rPr>
              <a:t>            C[i*n+j]=0;</a:t>
            </a:r>
            <a:endParaRPr lang="zh-CN" altLang="zh-CN" sz="1200" dirty="0">
              <a:latin typeface="Arial" panose="02080604020202020204" pitchFamily="34" charset="0"/>
            </a:endParaRPr>
          </a:p>
          <a:p>
            <a:r>
              <a:rPr lang="en-US" altLang="zh-CN" sz="1200" dirty="0">
                <a:latin typeface="Arial" panose="02080604020202020204" pitchFamily="34" charset="0"/>
              </a:rPr>
              <a:t>            for(k=0;k&lt;n;k++)</a:t>
            </a:r>
            <a:endParaRPr lang="zh-CN" altLang="zh-CN" sz="1200" dirty="0">
              <a:latin typeface="Arial" panose="02080604020202020204" pitchFamily="34" charset="0"/>
            </a:endParaRPr>
          </a:p>
          <a:p>
            <a:r>
              <a:rPr lang="en-US" altLang="zh-CN" sz="1200" dirty="0">
                <a:latin typeface="Arial" panose="02080604020202020204" pitchFamily="34" charset="0"/>
              </a:rPr>
              <a:t>               C[i*n+j]+=A[i*n+k]*B[k*n+j];</a:t>
            </a:r>
            <a:endParaRPr lang="zh-CN" altLang="zh-CN" sz="1200" dirty="0">
              <a:latin typeface="Arial" panose="02080604020202020204" pitchFamily="34" charset="0"/>
            </a:endParaRPr>
          </a:p>
          <a:p>
            <a:r>
              <a:rPr lang="en-US" altLang="zh-CN" sz="1200" dirty="0">
                <a:latin typeface="Arial" panose="02080604020202020204" pitchFamily="34" charset="0"/>
              </a:rPr>
              <a:t>        } </a:t>
            </a:r>
            <a:endParaRPr lang="zh-CN" altLang="zh-CN" sz="1200" dirty="0">
              <a:latin typeface="Arial" panose="02080604020202020204" pitchFamily="34" charset="0"/>
            </a:endParaRPr>
          </a:p>
          <a:p>
            <a:r>
              <a:rPr lang="en-US" altLang="zh-CN" sz="1200" dirty="0">
                <a:solidFill>
                  <a:srgbClr val="FF0000"/>
                </a:solidFill>
                <a:latin typeface="Arial" panose="02080604020202020204" pitchFamily="34" charset="0"/>
              </a:rPr>
              <a:t>     MPI_Send(C+(num_procs-1)*line*n,line*n,</a:t>
            </a:r>
            <a:endParaRPr lang="en-US" altLang="zh-CN" sz="1200" dirty="0">
              <a:solidFill>
                <a:srgbClr val="FF0000"/>
              </a:solidFill>
              <a:latin typeface="Arial" panose="02080604020202020204" pitchFamily="34" charset="0"/>
            </a:endParaRPr>
          </a:p>
          <a:p>
            <a:r>
              <a:rPr lang="en-US" altLang="zh-CN" sz="1200" dirty="0">
                <a:solidFill>
                  <a:srgbClr val="FF0000"/>
                </a:solidFill>
                <a:latin typeface="Arial" panose="02080604020202020204" pitchFamily="34" charset="0"/>
              </a:rPr>
              <a:t>               MPI_DOUBLE,0,2,MPI_COMM_WORLD);</a:t>
            </a:r>
            <a:endParaRPr lang="en-US" altLang="zh-CN" sz="1200" dirty="0">
              <a:solidFill>
                <a:srgbClr val="FF0000"/>
              </a:solidFill>
              <a:latin typeface="Arial" panose="02080604020202020204" pitchFamily="34" charset="0"/>
            </a:endParaRPr>
          </a:p>
          <a:p>
            <a:r>
              <a:rPr lang="en-US" altLang="zh-CN" sz="1200" dirty="0">
                <a:latin typeface="Arial" panose="02080604020202020204" pitchFamily="34" charset="0"/>
              </a:rPr>
              <a:t>   }</a:t>
            </a:r>
            <a:endParaRPr lang="zh-CN" altLang="zh-CN" sz="1200" dirty="0">
              <a:latin typeface="Arial" panose="02080604020202020204" pitchFamily="34" charset="0"/>
            </a:endParaRPr>
          </a:p>
          <a:p>
            <a:r>
              <a:rPr lang="en-US" altLang="zh-CN" sz="1200" dirty="0">
                <a:solidFill>
                  <a:srgbClr val="FF0000"/>
                </a:solidFill>
                <a:latin typeface="Arial" panose="02080604020202020204" pitchFamily="34" charset="0"/>
              </a:rPr>
              <a:t>   MPI_Finalize();</a:t>
            </a:r>
            <a:endParaRPr lang="zh-CN" altLang="zh-CN" sz="1200" dirty="0">
              <a:solidFill>
                <a:srgbClr val="FF0000"/>
              </a:solidFill>
              <a:latin typeface="Arial" panose="02080604020202020204" pitchFamily="34" charset="0"/>
            </a:endParaRPr>
          </a:p>
          <a:p>
            <a:r>
              <a:rPr lang="en-US" altLang="zh-CN" sz="1200" dirty="0">
                <a:latin typeface="Arial" panose="02080604020202020204" pitchFamily="34" charset="0"/>
              </a:rPr>
              <a:t>   Return 0;</a:t>
            </a:r>
            <a:endParaRPr lang="zh-CN" altLang="zh-CN" sz="1200" dirty="0">
              <a:latin typeface="Arial" panose="02080604020202020204" pitchFamily="34" charset="0"/>
            </a:endParaRPr>
          </a:p>
          <a:p>
            <a:r>
              <a:rPr lang="en-US" altLang="zh-CN" sz="1200" dirty="0">
                <a:latin typeface="Arial" panose="02080604020202020204" pitchFamily="34" charset="0"/>
              </a:rPr>
              <a:t>} //main</a:t>
            </a:r>
            <a:endParaRPr lang="en-US" altLang="zh-CN" sz="1200" dirty="0">
              <a:latin typeface="Arial" panose="02080604020202020204" pitchFamily="34" charset="0"/>
            </a:endParaRPr>
          </a:p>
        </p:txBody>
      </p:sp>
      <p:sp>
        <p:nvSpPr>
          <p:cNvPr id="13320" name="标题 9"/>
          <p:cNvSpPr>
            <a:spLocks noGrp="1"/>
          </p:cNvSpPr>
          <p:nvPr>
            <p:ph type="title"/>
          </p:nvPr>
        </p:nvSpPr>
        <p:spPr>
          <a:xfrm>
            <a:off x="120650" y="-188912"/>
            <a:ext cx="10361613" cy="1143000"/>
          </a:xfrm>
        </p:spPr>
        <p:txBody>
          <a:bodyPr vert="horz" wrap="square" lIns="91440" tIns="45720" rIns="91440" bIns="45720" anchor="ctr" anchorCtr="0"/>
          <a:lstStyle/>
          <a:p>
            <a:r>
              <a:rPr lang="en-US" altLang="zh-CN" dirty="0"/>
              <a:t>MPI</a:t>
            </a:r>
            <a:r>
              <a:rPr lang="zh-CN" altLang="en-US" dirty="0"/>
              <a:t>程序例子</a:t>
            </a:r>
            <a:r>
              <a:rPr lang="en-US" altLang="zh-CN" dirty="0"/>
              <a:t>-</a:t>
            </a:r>
            <a:r>
              <a:rPr lang="zh-CN" altLang="en-US" dirty="0"/>
              <a:t>矩阵乘法</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4339" name="Rectangle 2"/>
          <p:cNvSpPr>
            <a:spLocks noGrp="1"/>
          </p:cNvSpPr>
          <p:nvPr>
            <p:ph type="title"/>
          </p:nvPr>
        </p:nvSpPr>
        <p:spPr>
          <a:xfrm>
            <a:off x="601663" y="0"/>
            <a:ext cx="10971212" cy="1143000"/>
          </a:xfrm>
        </p:spPr>
        <p:txBody>
          <a:bodyPr vert="horz" wrap="square" lIns="91440" tIns="45720" rIns="91440" bIns="45720" anchor="ctr" anchorCtr="0"/>
          <a:lstStyle/>
          <a:p>
            <a:pPr eaLnBrk="1" hangingPunct="1"/>
            <a:r>
              <a:rPr lang="zh-CN" altLang="en-US" dirty="0"/>
              <a:t>并行程序的例子：图象纠正</a:t>
            </a:r>
            <a:endParaRPr lang="zh-CN" altLang="en-US" dirty="0"/>
          </a:p>
        </p:txBody>
      </p:sp>
      <p:sp>
        <p:nvSpPr>
          <p:cNvPr id="14340" name="Rectangle 3"/>
          <p:cNvSpPr>
            <a:spLocks noGrp="1"/>
          </p:cNvSpPr>
          <p:nvPr>
            <p:ph idx="1"/>
          </p:nvPr>
        </p:nvSpPr>
        <p:spPr>
          <a:xfrm>
            <a:off x="750888" y="1676400"/>
            <a:ext cx="4687887" cy="4560888"/>
          </a:xfrm>
        </p:spPr>
        <p:txBody>
          <a:bodyPr vert="horz" wrap="square" lIns="91440" tIns="45720" rIns="91440" bIns="45720" anchor="t" anchorCtr="0"/>
          <a:lstStyle/>
          <a:p>
            <a:pPr eaLnBrk="1" hangingPunct="1"/>
            <a:r>
              <a:rPr lang="zh-CN" altLang="zh-CN" sz="2000" dirty="0"/>
              <a:t>串行程序</a:t>
            </a:r>
            <a:endParaRPr lang="zh-CN" altLang="zh-CN" sz="2000" dirty="0"/>
          </a:p>
          <a:p>
            <a:pPr eaLnBrk="1" hangingPunct="1">
              <a:buNone/>
            </a:pPr>
            <a:endParaRPr lang="zh-CN" altLang="en-US" sz="1800" dirty="0"/>
          </a:p>
          <a:p>
            <a:pPr eaLnBrk="1" hangingPunct="1">
              <a:buNone/>
            </a:pPr>
            <a:endParaRPr lang="zh-CN" altLang="en-US" sz="1600" dirty="0"/>
          </a:p>
          <a:p>
            <a:pPr eaLnBrk="1" hangingPunct="1">
              <a:buNone/>
            </a:pPr>
            <a:r>
              <a:rPr lang="en-US" altLang="zh-CN" sz="1600" dirty="0">
                <a:latin typeface="宋体" panose="02000500000000000000" pitchFamily="2" charset="-122"/>
              </a:rPr>
              <a:t>for (i=0;i&lt;lin2;i++){</a:t>
            </a:r>
            <a:endParaRPr lang="en-US" altLang="zh-CN" sz="1600" dirty="0">
              <a:latin typeface="宋体" panose="02000500000000000000" pitchFamily="2" charset="-122"/>
            </a:endParaRPr>
          </a:p>
          <a:p>
            <a:pPr eaLnBrk="1" hangingPunct="1">
              <a:buNone/>
            </a:pPr>
            <a:r>
              <a:rPr lang="en-US" altLang="zh-CN" sz="1600" dirty="0">
                <a:latin typeface="宋体" panose="02000500000000000000" pitchFamily="2" charset="-122"/>
              </a:rPr>
              <a:t>  for (j=0;j&lt;col2;j++){</a:t>
            </a:r>
            <a:endParaRPr lang="en-US" altLang="zh-CN" sz="1600" dirty="0">
              <a:latin typeface="宋体" panose="02000500000000000000" pitchFamily="2" charset="-122"/>
            </a:endParaRPr>
          </a:p>
          <a:p>
            <a:pPr eaLnBrk="1" hangingPunct="1">
              <a:buNone/>
            </a:pPr>
            <a:r>
              <a:rPr lang="en-US" altLang="zh-CN" sz="1600" dirty="0">
                <a:latin typeface="宋体" panose="02000500000000000000" pitchFamily="2" charset="-122"/>
              </a:rPr>
              <a:t>    x=P(i,j,…);</a:t>
            </a:r>
            <a:endParaRPr lang="en-US" altLang="zh-CN" sz="1600" dirty="0">
              <a:latin typeface="宋体" panose="02000500000000000000" pitchFamily="2" charset="-122"/>
            </a:endParaRPr>
          </a:p>
          <a:p>
            <a:pPr eaLnBrk="1" hangingPunct="1">
              <a:buNone/>
            </a:pPr>
            <a:r>
              <a:rPr lang="en-US" altLang="zh-CN" sz="1600" dirty="0">
                <a:latin typeface="宋体" panose="02000500000000000000" pitchFamily="2" charset="-122"/>
              </a:rPr>
              <a:t>    y=P(i,j,…);</a:t>
            </a:r>
            <a:endParaRPr lang="en-US" altLang="zh-CN" sz="1600" dirty="0">
              <a:latin typeface="宋体" panose="02000500000000000000" pitchFamily="2" charset="-122"/>
            </a:endParaRPr>
          </a:p>
          <a:p>
            <a:pPr eaLnBrk="1" hangingPunct="1">
              <a:buNone/>
            </a:pPr>
            <a:r>
              <a:rPr lang="en-US" altLang="zh-CN" sz="1600" dirty="0">
                <a:latin typeface="宋体" panose="02000500000000000000" pitchFamily="2" charset="-122"/>
              </a:rPr>
              <a:t>    out[i,j]=in[x][y];</a:t>
            </a:r>
            <a:endParaRPr lang="en-US" altLang="zh-CN" sz="1600" dirty="0">
              <a:latin typeface="宋体" panose="02000500000000000000" pitchFamily="2" charset="-122"/>
            </a:endParaRPr>
          </a:p>
          <a:p>
            <a:pPr eaLnBrk="1" hangingPunct="1">
              <a:buNone/>
            </a:pPr>
            <a:r>
              <a:rPr lang="en-US" altLang="zh-CN" sz="1600" dirty="0">
                <a:latin typeface="宋体" panose="02000500000000000000" pitchFamily="2" charset="-122"/>
              </a:rPr>
              <a:t>  }</a:t>
            </a:r>
            <a:endParaRPr lang="en-US" altLang="zh-CN" sz="1600" dirty="0">
              <a:latin typeface="宋体" panose="02000500000000000000" pitchFamily="2" charset="-122"/>
            </a:endParaRPr>
          </a:p>
          <a:p>
            <a:pPr eaLnBrk="1" hangingPunct="1">
              <a:buNone/>
            </a:pPr>
            <a:r>
              <a:rPr lang="en-US" altLang="zh-CN" sz="1600" dirty="0">
                <a:latin typeface="宋体" panose="02000500000000000000" pitchFamily="2" charset="-122"/>
              </a:rPr>
              <a:t>}</a:t>
            </a:r>
            <a:endParaRPr lang="en-US" altLang="zh-CN" sz="1600" dirty="0">
              <a:latin typeface="宋体" panose="02000500000000000000" pitchFamily="2" charset="-122"/>
            </a:endParaRPr>
          </a:p>
        </p:txBody>
      </p:sp>
      <p:sp>
        <p:nvSpPr>
          <p:cNvPr id="14341" name="Rectangle 4"/>
          <p:cNvSpPr/>
          <p:nvPr/>
        </p:nvSpPr>
        <p:spPr>
          <a:xfrm>
            <a:off x="6000750" y="1700213"/>
            <a:ext cx="4689475" cy="4495800"/>
          </a:xfrm>
          <a:prstGeom prst="rect">
            <a:avLst/>
          </a:prstGeom>
          <a:noFill/>
          <a:ln w="9525">
            <a:noFill/>
          </a:ln>
        </p:spPr>
        <p:txBody>
          <a:bodyPr lIns="92075" tIns="46038" rIns="92075" bIns="46038"/>
          <a:lstStyle/>
          <a:p>
            <a:pPr marL="342900" indent="-342900">
              <a:lnSpc>
                <a:spcPct val="110000"/>
              </a:lnSpc>
              <a:spcBef>
                <a:spcPct val="10000"/>
              </a:spcBef>
              <a:buChar char="•"/>
            </a:pPr>
            <a:r>
              <a:rPr lang="zh-CN" altLang="zh-CN" sz="2000" b="1" dirty="0">
                <a:latin typeface="Times New Roman" pitchFamily="18" charset="0"/>
              </a:rPr>
              <a:t>共享存储并行程序</a:t>
            </a:r>
            <a:endParaRPr lang="zh-CN" altLang="en-US" sz="2000" b="1" dirty="0">
              <a:latin typeface="Times New Roman" pitchFamily="18" charset="0"/>
            </a:endParaRPr>
          </a:p>
          <a:p>
            <a:pPr marL="342900" indent="-342900">
              <a:lnSpc>
                <a:spcPct val="110000"/>
              </a:lnSpc>
              <a:spcBef>
                <a:spcPct val="10000"/>
              </a:spcBef>
            </a:pPr>
            <a:endParaRPr lang="zh-CN" altLang="zh-CN" sz="2000" b="1" dirty="0">
              <a:latin typeface="Times New Roman" pitchFamily="18" charset="0"/>
            </a:endParaRPr>
          </a:p>
          <a:p>
            <a:pPr marL="342900" indent="-342900">
              <a:lnSpc>
                <a:spcPct val="110000"/>
              </a:lnSpc>
              <a:spcBef>
                <a:spcPct val="10000"/>
              </a:spcBef>
            </a:pPr>
            <a:r>
              <a:rPr lang="en-US" altLang="zh-CN" sz="1600" b="1" dirty="0">
                <a:latin typeface="宋体" panose="02000500000000000000" pitchFamily="2" charset="-122"/>
              </a:rPr>
              <a:t>start=lin2/jiahosts*jiapid;</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end=start+lin2/jiahosts;</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if (jiapid==jiahosts) end=lin2;</a:t>
            </a:r>
            <a:endParaRPr lang="en-US" altLang="zh-CN" sz="1600" b="1" dirty="0">
              <a:latin typeface="宋体" panose="02000500000000000000" pitchFamily="2" charset="-122"/>
            </a:endParaRPr>
          </a:p>
          <a:p>
            <a:pPr marL="342900" indent="-342900">
              <a:lnSpc>
                <a:spcPct val="110000"/>
              </a:lnSpc>
              <a:spcBef>
                <a:spcPct val="10000"/>
              </a:spcBef>
            </a:pPr>
            <a:r>
              <a:rPr lang="en-US" altLang="zh-CN" b="1" dirty="0">
                <a:latin typeface="宋体" panose="02000500000000000000" pitchFamily="2" charset="-122"/>
              </a:rPr>
              <a:t>for (i=start;i&lt;end;i++){</a:t>
            </a:r>
            <a:endParaRPr lang="en-US" altLang="zh-CN" b="1" dirty="0">
              <a:latin typeface="宋体" panose="02000500000000000000" pitchFamily="2" charset="-122"/>
            </a:endParaRPr>
          </a:p>
          <a:p>
            <a:pPr marL="342900" indent="-342900">
              <a:lnSpc>
                <a:spcPct val="110000"/>
              </a:lnSpc>
              <a:spcBef>
                <a:spcPct val="10000"/>
              </a:spcBef>
            </a:pPr>
            <a:r>
              <a:rPr lang="en-US" altLang="zh-CN" b="1" dirty="0">
                <a:latin typeface="宋体" panose="02000500000000000000" pitchFamily="2" charset="-122"/>
              </a:rPr>
              <a:t>  for (j=0;j&lt;col2;j++){</a:t>
            </a:r>
            <a:endParaRPr lang="en-US" altLang="zh-CN" b="1" dirty="0">
              <a:latin typeface="宋体" panose="02000500000000000000" pitchFamily="2" charset="-122"/>
            </a:endParaRPr>
          </a:p>
          <a:p>
            <a:pPr marL="342900" indent="-342900">
              <a:lnSpc>
                <a:spcPct val="110000"/>
              </a:lnSpc>
              <a:spcBef>
                <a:spcPct val="10000"/>
              </a:spcBef>
            </a:pPr>
            <a:r>
              <a:rPr lang="en-US" altLang="zh-CN" b="1" dirty="0">
                <a:latin typeface="宋体" panose="02000500000000000000" pitchFamily="2" charset="-122"/>
              </a:rPr>
              <a:t>    x=P(i,j,…);</a:t>
            </a:r>
            <a:endParaRPr lang="en-US" altLang="zh-CN" b="1" dirty="0">
              <a:latin typeface="宋体" panose="02000500000000000000" pitchFamily="2" charset="-122"/>
            </a:endParaRPr>
          </a:p>
          <a:p>
            <a:pPr marL="342900" indent="-342900">
              <a:lnSpc>
                <a:spcPct val="110000"/>
              </a:lnSpc>
              <a:spcBef>
                <a:spcPct val="10000"/>
              </a:spcBef>
            </a:pPr>
            <a:r>
              <a:rPr lang="en-US" altLang="zh-CN" b="1" dirty="0">
                <a:latin typeface="宋体" panose="02000500000000000000" pitchFamily="2" charset="-122"/>
              </a:rPr>
              <a:t>    y=P(i,j,…);</a:t>
            </a:r>
            <a:endParaRPr lang="en-US" altLang="zh-CN" b="1" dirty="0">
              <a:latin typeface="宋体" panose="02000500000000000000" pitchFamily="2" charset="-122"/>
            </a:endParaRPr>
          </a:p>
          <a:p>
            <a:pPr marL="342900" indent="-342900">
              <a:lnSpc>
                <a:spcPct val="110000"/>
              </a:lnSpc>
              <a:spcBef>
                <a:spcPct val="10000"/>
              </a:spcBef>
            </a:pPr>
            <a:r>
              <a:rPr lang="en-US" altLang="zh-CN" b="1" dirty="0">
                <a:latin typeface="宋体" panose="02000500000000000000" pitchFamily="2" charset="-122"/>
              </a:rPr>
              <a:t>    out[i,j]=in[x][y];</a:t>
            </a:r>
            <a:endParaRPr lang="en-US" altLang="zh-CN" b="1" dirty="0">
              <a:latin typeface="宋体" panose="02000500000000000000" pitchFamily="2" charset="-122"/>
            </a:endParaRPr>
          </a:p>
          <a:p>
            <a:pPr marL="342900" indent="-342900">
              <a:lnSpc>
                <a:spcPct val="110000"/>
              </a:lnSpc>
              <a:spcBef>
                <a:spcPct val="10000"/>
              </a:spcBef>
            </a:pPr>
            <a:r>
              <a:rPr lang="en-US" altLang="zh-CN" b="1" dirty="0">
                <a:latin typeface="宋体" panose="02000500000000000000" pitchFamily="2" charset="-122"/>
              </a:rPr>
              <a:t>  }</a:t>
            </a:r>
            <a:endParaRPr lang="en-US" altLang="zh-CN" b="1" dirty="0">
              <a:latin typeface="宋体" panose="02000500000000000000" pitchFamily="2" charset="-122"/>
            </a:endParaRPr>
          </a:p>
          <a:p>
            <a:pPr marL="342900" indent="-342900">
              <a:lnSpc>
                <a:spcPct val="110000"/>
              </a:lnSpc>
              <a:spcBef>
                <a:spcPct val="10000"/>
              </a:spcBef>
            </a:pPr>
            <a:r>
              <a:rPr lang="en-US" altLang="zh-CN" b="1" dirty="0">
                <a:latin typeface="宋体" panose="02000500000000000000" pitchFamily="2" charset="-122"/>
              </a:rPr>
              <a:t>}</a:t>
            </a:r>
            <a:endParaRPr lang="en-US" altLang="zh-CN" b="1" dirty="0">
              <a:latin typeface="宋体" panose="02000500000000000000" pitchFamily="2" charset="-122"/>
            </a:endParaRPr>
          </a:p>
          <a:p>
            <a:pPr marL="342900" indent="-342900">
              <a:lnSpc>
                <a:spcPct val="110000"/>
              </a:lnSpc>
              <a:spcBef>
                <a:spcPct val="10000"/>
              </a:spcBef>
            </a:pPr>
            <a:r>
              <a:rPr lang="en-US" altLang="zh-CN" b="1" dirty="0">
                <a:latin typeface="宋体" panose="02000500000000000000" pitchFamily="2" charset="-122"/>
              </a:rPr>
              <a:t>jia_barrier();</a:t>
            </a:r>
            <a:endParaRPr lang="en-US" altLang="zh-CN" b="1" dirty="0">
              <a:latin typeface="宋体" panose="02000500000000000000"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914400" y="90488"/>
            <a:ext cx="10361613" cy="914400"/>
          </a:xfrm>
        </p:spPr>
        <p:txBody>
          <a:bodyPr vert="horz" wrap="square" lIns="91440" tIns="45720" rIns="91440" bIns="45720" anchor="ctr" anchorCtr="0"/>
          <a:lstStyle/>
          <a:p>
            <a:r>
              <a:rPr lang="zh-CN" altLang="en-US" dirty="0"/>
              <a:t>常见的并行处理结构</a:t>
            </a:r>
            <a:endParaRPr lang="zh-CN" altLang="en-US" dirty="0"/>
          </a:p>
        </p:txBody>
      </p:sp>
      <p:sp>
        <p:nvSpPr>
          <p:cNvPr id="12291" name="内容占位符 2"/>
          <p:cNvSpPr>
            <a:spLocks noGrp="1"/>
          </p:cNvSpPr>
          <p:nvPr>
            <p:ph idx="1"/>
          </p:nvPr>
        </p:nvSpPr>
        <p:spPr>
          <a:xfrm>
            <a:off x="446088" y="1049338"/>
            <a:ext cx="11744325" cy="5808663"/>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SIMD</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结构</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早期</a:t>
            </a:r>
            <a:r>
              <a:rPr kumimoji="0" lang="en-US" altLang="zh-CN" sz="1800" b="1" i="0" u="none" strike="noStrike" kern="0" cap="none" spc="0" normalizeH="0" baseline="0" noProof="0" dirty="0" smtClean="0">
                <a:ln>
                  <a:noFill/>
                </a:ln>
                <a:solidFill>
                  <a:schemeClr val="tx1"/>
                </a:solidFill>
                <a:effectLst/>
                <a:uLnTx/>
                <a:uFillTx/>
                <a:latin typeface="+mn-ea"/>
                <a:ea typeface="+mn-ea"/>
              </a:rPr>
              <a:t>Cray</a:t>
            </a:r>
            <a:r>
              <a:rPr kumimoji="0" lang="zh-CN" altLang="en-US" sz="1800" b="1" i="0" u="none" strike="noStrike" kern="0" cap="none" spc="0" normalizeH="0" baseline="0" noProof="0" dirty="0" smtClean="0">
                <a:ln>
                  <a:noFill/>
                </a:ln>
                <a:solidFill>
                  <a:schemeClr val="tx1"/>
                </a:solidFill>
                <a:effectLst/>
                <a:uLnTx/>
                <a:uFillTx/>
                <a:latin typeface="+mn-ea"/>
                <a:ea typeface="+mn-ea"/>
              </a:rPr>
              <a:t>向量机，现代</a:t>
            </a:r>
            <a:r>
              <a:rPr kumimoji="0" lang="en-US" altLang="zh-CN" sz="1800" b="1" i="0" u="none" strike="noStrike" kern="0" cap="none" spc="0" normalizeH="0" baseline="0" noProof="0" dirty="0" smtClean="0">
                <a:ln>
                  <a:noFill/>
                </a:ln>
                <a:solidFill>
                  <a:schemeClr val="tx1"/>
                </a:solidFill>
                <a:effectLst/>
                <a:uLnTx/>
                <a:uFillTx/>
                <a:latin typeface="+mn-ea"/>
                <a:ea typeface="+mn-ea"/>
              </a:rPr>
              <a:t>CPU</a:t>
            </a:r>
            <a:r>
              <a:rPr kumimoji="0" lang="zh-CN" altLang="en-US" sz="1800" b="1" i="0" u="none" strike="noStrike" kern="0" cap="none" spc="0" normalizeH="0" baseline="0" noProof="0" dirty="0" smtClean="0">
                <a:ln>
                  <a:noFill/>
                </a:ln>
                <a:solidFill>
                  <a:schemeClr val="tx1"/>
                </a:solidFill>
                <a:effectLst/>
                <a:uLnTx/>
                <a:uFillTx/>
                <a:latin typeface="+mn-ea"/>
                <a:ea typeface="+mn-ea"/>
              </a:rPr>
              <a:t>的</a:t>
            </a:r>
            <a:r>
              <a:rPr kumimoji="0" lang="en-US" altLang="zh-CN" sz="1800" b="1" i="0" u="none" strike="noStrike" kern="0" cap="none" spc="0" normalizeH="0" baseline="0" noProof="0" dirty="0" smtClean="0">
                <a:ln>
                  <a:noFill/>
                </a:ln>
                <a:solidFill>
                  <a:schemeClr val="tx1"/>
                </a:solidFill>
                <a:effectLst/>
                <a:uLnTx/>
                <a:uFillTx/>
                <a:latin typeface="+mn-ea"/>
                <a:ea typeface="+mn-ea"/>
              </a:rPr>
              <a:t>SIMD</a:t>
            </a:r>
            <a:r>
              <a:rPr kumimoji="0" lang="zh-CN" altLang="en-US" sz="1800" b="1" i="0" u="none" strike="noStrike" kern="0" cap="none" spc="0" normalizeH="0" baseline="0" noProof="0" dirty="0" smtClean="0">
                <a:ln>
                  <a:noFill/>
                </a:ln>
                <a:solidFill>
                  <a:schemeClr val="tx1"/>
                </a:solidFill>
                <a:effectLst/>
                <a:uLnTx/>
                <a:uFillTx/>
                <a:latin typeface="+mn-ea"/>
                <a:ea typeface="+mn-ea"/>
              </a:rPr>
              <a:t>短向量指令（</a:t>
            </a:r>
            <a:r>
              <a:rPr kumimoji="0" lang="en-US" altLang="zh-CN" sz="1800" b="1" i="0" u="none" strike="noStrike" kern="0" cap="none" spc="0" normalizeH="0" baseline="0" noProof="0" dirty="0" smtClean="0">
                <a:ln>
                  <a:noFill/>
                </a:ln>
                <a:solidFill>
                  <a:schemeClr val="tx1"/>
                </a:solidFill>
                <a:effectLst/>
                <a:uLnTx/>
                <a:uFillTx/>
                <a:latin typeface="+mn-ea"/>
                <a:ea typeface="+mn-ea"/>
              </a:rPr>
              <a:t>128</a:t>
            </a:r>
            <a:r>
              <a:rPr kumimoji="0" lang="zh-CN" altLang="en-US"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256</a:t>
            </a:r>
            <a:r>
              <a:rPr kumimoji="0" lang="zh-CN" altLang="en-US"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512</a:t>
            </a:r>
            <a:r>
              <a:rPr kumimoji="0" lang="zh-CN" altLang="en-US" sz="1800" b="1" i="0" u="none" strike="noStrike" kern="0" cap="none" spc="0" normalizeH="0" baseline="0" noProof="0" dirty="0" smtClean="0">
                <a:ln>
                  <a:noFill/>
                </a:ln>
                <a:solidFill>
                  <a:schemeClr val="tx1"/>
                </a:solidFill>
                <a:effectLst/>
                <a:uLnTx/>
                <a:uFillTx/>
                <a:latin typeface="+mn-ea"/>
                <a:ea typeface="+mn-ea"/>
              </a:rPr>
              <a:t>位）</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SMP</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结构：多核共享存储</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早期多路服务器</a:t>
            </a:r>
            <a:r>
              <a:rPr kumimoji="0" lang="en-US" altLang="zh-CN" sz="1800" b="1" i="0" u="none" strike="noStrike" kern="0" cap="none" spc="0" normalizeH="0" baseline="0" noProof="0" dirty="0" smtClean="0">
                <a:ln>
                  <a:noFill/>
                </a:ln>
                <a:solidFill>
                  <a:schemeClr val="tx1"/>
                </a:solidFill>
                <a:effectLst/>
                <a:uLnTx/>
                <a:uFillTx/>
                <a:latin typeface="+mn-ea"/>
                <a:ea typeface="+mn-ea"/>
              </a:rPr>
              <a:t>/</a:t>
            </a:r>
            <a:r>
              <a:rPr kumimoji="0" lang="zh-CN" altLang="en-US" sz="1800" b="1" i="0" u="none" strike="noStrike" kern="0" cap="none" spc="0" normalizeH="0" baseline="0" noProof="0" dirty="0" smtClean="0">
                <a:ln>
                  <a:noFill/>
                </a:ln>
                <a:solidFill>
                  <a:schemeClr val="tx1"/>
                </a:solidFill>
                <a:effectLst/>
                <a:uLnTx/>
                <a:uFillTx/>
                <a:latin typeface="+mn-ea"/>
                <a:ea typeface="+mn-ea"/>
              </a:rPr>
              <a:t>工作站（</a:t>
            </a:r>
            <a:r>
              <a:rPr kumimoji="0" lang="en-US" altLang="zh-CN" sz="1800" b="1" i="0" u="none" strike="noStrike" kern="0" cap="none" spc="0" normalizeH="0" baseline="0" noProof="0" dirty="0" smtClean="0">
                <a:ln>
                  <a:noFill/>
                </a:ln>
                <a:solidFill>
                  <a:schemeClr val="tx1"/>
                </a:solidFill>
                <a:effectLst/>
                <a:uLnTx/>
                <a:uFillTx/>
                <a:latin typeface="+mn-ea"/>
                <a:ea typeface="+mn-ea"/>
              </a:rPr>
              <a:t>DEC</a:t>
            </a:r>
            <a:r>
              <a:rPr kumimoji="0" lang="zh-CN" altLang="en-US"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SUN</a:t>
            </a:r>
            <a:r>
              <a:rPr kumimoji="0" lang="zh-CN" altLang="en-US"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SGI</a:t>
            </a:r>
            <a:r>
              <a:rPr kumimoji="0" lang="zh-CN" altLang="en-US" sz="1800" b="1" i="0" u="none" strike="noStrike" kern="0" cap="none" spc="0" normalizeH="0" baseline="0" noProof="0" dirty="0" smtClean="0">
                <a:ln>
                  <a:noFill/>
                </a:ln>
                <a:solidFill>
                  <a:schemeClr val="tx1"/>
                </a:solidFill>
                <a:effectLst/>
                <a:uLnTx/>
                <a:uFillTx/>
                <a:latin typeface="+mn-ea"/>
                <a:ea typeface="+mn-ea"/>
              </a:rPr>
              <a:t>），现在片内多核</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CC-NUMA</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结构：更多核共享存储</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SGI</a:t>
            </a:r>
            <a:r>
              <a:rPr kumimoji="0" lang="zh-CN" altLang="en-US"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IBM</a:t>
            </a:r>
            <a:r>
              <a:rPr kumimoji="0" lang="zh-CN" altLang="en-US"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HP</a:t>
            </a:r>
            <a:r>
              <a:rPr kumimoji="0" lang="zh-CN" altLang="en-US" sz="1800" b="1" i="0" u="none" strike="noStrike" kern="0" cap="none" spc="0" normalizeH="0" baseline="0" noProof="0" dirty="0" smtClean="0">
                <a:ln>
                  <a:noFill/>
                </a:ln>
                <a:solidFill>
                  <a:schemeClr val="tx1"/>
                </a:solidFill>
                <a:effectLst/>
                <a:uLnTx/>
                <a:uFillTx/>
                <a:latin typeface="+mn-ea"/>
                <a:ea typeface="+mn-ea"/>
              </a:rPr>
              <a:t>高端服务器，几十到上千路共享内存服务器</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片内核数增加导致</a:t>
            </a:r>
            <a:r>
              <a:rPr kumimoji="0" lang="en-US" altLang="zh-CN" sz="1800" b="1" i="0" u="none" strike="noStrike" kern="0" cap="none" spc="0" normalizeH="0" baseline="0" noProof="0" dirty="0" smtClean="0">
                <a:ln>
                  <a:noFill/>
                </a:ln>
                <a:solidFill>
                  <a:schemeClr val="tx1"/>
                </a:solidFill>
                <a:effectLst/>
                <a:uLnTx/>
                <a:uFillTx/>
                <a:latin typeface="+mn-ea"/>
                <a:ea typeface="+mn-ea"/>
              </a:rPr>
              <a:t>CC-NUMA</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MPP</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或机群结构</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HPC</a:t>
            </a:r>
            <a:r>
              <a:rPr kumimoji="0" lang="zh-CN" altLang="en-US" sz="1800" b="1" i="0" u="none" strike="noStrike" kern="0" cap="none" spc="0" normalizeH="0" baseline="0" noProof="0" dirty="0" smtClean="0">
                <a:ln>
                  <a:noFill/>
                </a:ln>
                <a:solidFill>
                  <a:schemeClr val="tx1"/>
                </a:solidFill>
                <a:effectLst/>
                <a:uLnTx/>
                <a:uFillTx/>
                <a:latin typeface="+mn-ea"/>
                <a:ea typeface="+mn-ea"/>
              </a:rPr>
              <a:t>，如曙光高性能机、太湖之光，主要用于科学计算</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云计算，机群数据库</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rgbClr val="FF0000"/>
                </a:solidFill>
                <a:effectLst/>
                <a:uLnTx/>
                <a:uFillTx/>
                <a:latin typeface="+mn-ea"/>
                <a:ea typeface="+mn-ea"/>
                <a:cs typeface="+mn-cs"/>
              </a:rPr>
              <a:t>GPU</a:t>
            </a:r>
            <a:r>
              <a:rPr kumimoji="0" lang="zh-CN" altLang="en-US" sz="2000" b="1" i="0" u="none" strike="noStrike" kern="0" cap="none" spc="0" normalizeH="0" baseline="0" noProof="0" dirty="0" smtClean="0">
                <a:ln>
                  <a:noFill/>
                </a:ln>
                <a:solidFill>
                  <a:srgbClr val="FF0000"/>
                </a:solidFill>
                <a:effectLst/>
                <a:uLnTx/>
                <a:uFillTx/>
                <a:latin typeface="+mn-ea"/>
                <a:ea typeface="+mn-ea"/>
                <a:cs typeface="+mn-cs"/>
              </a:rPr>
              <a:t>（上千核）采用什么结构？</a:t>
            </a:r>
            <a:endParaRPr kumimoji="0" lang="zh-CN" altLang="en-US" sz="2000" b="1" i="0" u="none" strike="noStrike" kern="0" cap="none" spc="0" normalizeH="0" baseline="0" noProof="0" dirty="0" smtClean="0">
              <a:ln>
                <a:noFill/>
              </a:ln>
              <a:solidFill>
                <a:srgbClr val="FF0000"/>
              </a:solidFill>
              <a:effectLst/>
              <a:uLnTx/>
              <a:uFillTx/>
              <a:latin typeface="+mn-ea"/>
              <a:ea typeface="+mn-ea"/>
              <a:cs typeface="+mn-cs"/>
            </a:endParaRPr>
          </a:p>
        </p:txBody>
      </p:sp>
      <p:sp>
        <p:nvSpPr>
          <p:cNvPr id="1536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6387" name="Rectangle 2"/>
          <p:cNvSpPr/>
          <p:nvPr/>
        </p:nvSpPr>
        <p:spPr>
          <a:xfrm>
            <a:off x="777875" y="0"/>
            <a:ext cx="10361613" cy="1196975"/>
          </a:xfrm>
          <a:prstGeom prst="rect">
            <a:avLst/>
          </a:prstGeom>
          <a:noFill/>
          <a:ln w="9525">
            <a:noFill/>
          </a:ln>
        </p:spPr>
        <p:txBody>
          <a:bodyPr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共享存储与消息传递发展趋势</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13316" name="Rectangle 3"/>
          <p:cNvSpPr>
            <a:spLocks noChangeArrowheads="1"/>
          </p:cNvSpPr>
          <p:nvPr/>
        </p:nvSpPr>
        <p:spPr bwMode="auto">
          <a:xfrm>
            <a:off x="187325" y="1196975"/>
            <a:ext cx="11628438" cy="4899025"/>
          </a:xfrm>
          <a:prstGeom prst="rect">
            <a:avLst/>
          </a:prstGeom>
          <a:noFill/>
          <a:ln w="9525">
            <a:noFill/>
            <a:miter lim="800000"/>
          </a:ln>
        </p:spPr>
        <p:txBody>
          <a:bodyPr/>
          <a:lstStyle/>
          <a:p>
            <a:pPr marL="342900" marR="0" lvl="0" indent="-342900" algn="l" defTabSz="914400" rtl="0" eaLnBrk="1" fontAlgn="base" latinLnBrk="0" hangingPunct="1">
              <a:lnSpc>
                <a:spcPct val="130000"/>
              </a:lnSpc>
              <a:spcBef>
                <a:spcPts val="600"/>
              </a:spcBef>
              <a:spcAft>
                <a:spcPct val="0"/>
              </a:spcAft>
              <a:buClrTx/>
              <a:buSzTx/>
              <a:buFontTx/>
              <a:buChar char="•"/>
              <a:defRPr/>
            </a:pPr>
            <a:r>
              <a:rPr kumimoji="0" lang="en-US" altLang="zh-CN" sz="1800" b="1" i="0" u="none" strike="noStrike" kern="1200" cap="none" spc="0" normalizeH="0" baseline="0" noProof="0" dirty="0">
                <a:ln>
                  <a:noFill/>
                </a:ln>
                <a:solidFill>
                  <a:schemeClr val="tx1"/>
                </a:solidFill>
                <a:effectLst/>
                <a:uLnTx/>
                <a:uFillTx/>
                <a:latin typeface="+mn-ea"/>
                <a:ea typeface="+mn-ea"/>
                <a:cs typeface="+mn-cs"/>
              </a:rPr>
              <a:t>1970</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年代到</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1980</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年代中期，并行系统主要是</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SMP</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与向量机，结点个数不多（</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4-8</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路），是科学计算、事务处理、服务器领域的主要产品</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3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由于</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SMP</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与向量机可伸缩性差，</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1990</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年代消息传递的</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MPP</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兴起，主要用于科学计算，同时</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NUMA</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系统的研究全面展开，如</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DASH</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Alewife</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KSR-1</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等</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30000"/>
              </a:lnSpc>
              <a:spcBef>
                <a:spcPts val="600"/>
              </a:spcBef>
              <a:spcAft>
                <a:spcPct val="0"/>
              </a:spcAft>
              <a:buClrTx/>
              <a:buSzTx/>
              <a:buFontTx/>
              <a:buChar char="•"/>
              <a:defRPr/>
            </a:pPr>
            <a:r>
              <a:rPr kumimoji="0" lang="en-US" altLang="zh-CN" sz="1800" b="1" i="0" u="none" strike="noStrike" kern="1200" cap="none" spc="0" normalizeH="0" baseline="0" noProof="0" dirty="0">
                <a:ln>
                  <a:noFill/>
                </a:ln>
                <a:solidFill>
                  <a:schemeClr val="tx1"/>
                </a:solidFill>
                <a:effectLst/>
                <a:uLnTx/>
                <a:uFillTx/>
                <a:latin typeface="+mn-ea"/>
                <a:ea typeface="+mn-ea"/>
                <a:cs typeface="+mn-cs"/>
              </a:rPr>
              <a:t>1990</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年代后期，由于解决了伸缩性问题，以</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Origin 2000</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为标志，中规模和大规模的共享存储兴起，</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SUN</a:t>
            </a:r>
            <a:r>
              <a:rPr kumimoji="0" lang="zh-CN" altLang="zh-CN" sz="1800" b="1" i="0" u="none" strike="noStrike" kern="1200" cap="none" spc="0" normalizeH="0" baseline="0" noProof="0" dirty="0">
                <a:ln>
                  <a:noFill/>
                </a:ln>
                <a:solidFill>
                  <a:schemeClr val="tx1"/>
                </a:solidFill>
                <a:effectLst/>
                <a:uLnTx/>
                <a:uFillTx/>
                <a:latin typeface="+mn-ea"/>
                <a:ea typeface="+mn-ea"/>
                <a:cs typeface="+mn-cs"/>
              </a:rPr>
              <a:t>的</a:t>
            </a:r>
            <a:r>
              <a:rPr kumimoji="0" lang="en-US" altLang="zh-CN" sz="1800" b="1" i="0" u="none" strike="noStrike" kern="1200" cap="none" spc="0" normalizeH="0" baseline="0" noProof="0" dirty="0" err="1">
                <a:ln>
                  <a:noFill/>
                </a:ln>
                <a:solidFill>
                  <a:schemeClr val="tx1"/>
                </a:solidFill>
                <a:effectLst/>
                <a:uLnTx/>
                <a:uFillTx/>
                <a:latin typeface="+mn-ea"/>
                <a:ea typeface="+mn-ea"/>
                <a:cs typeface="+mn-cs"/>
              </a:rPr>
              <a:t>Starfile</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Compaq</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的</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Wildfire, </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及</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IBM</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的</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NUMA-Q</a:t>
            </a:r>
            <a:endParaRPr kumimoji="0" lang="en-US" altLang="zh-CN"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30000"/>
              </a:lnSpc>
              <a:spcBef>
                <a:spcPts val="600"/>
              </a:spcBef>
              <a:spcAft>
                <a:spcPct val="0"/>
              </a:spcAft>
              <a:buClrTx/>
              <a:buSzTx/>
              <a:buFontTx/>
              <a:buChar char="•"/>
              <a:defRPr/>
            </a:pPr>
            <a:r>
              <a:rPr kumimoji="0" lang="zh-CN" altLang="en-US" sz="1600" b="1" i="0" u="none" strike="noStrike" kern="1200" cap="none" spc="0" normalizeH="0" baseline="0" noProof="0" dirty="0">
                <a:ln>
                  <a:noFill/>
                </a:ln>
                <a:solidFill>
                  <a:srgbClr val="FF0000"/>
                </a:solidFill>
                <a:effectLst/>
                <a:uLnTx/>
                <a:uFillTx/>
                <a:latin typeface="+mn-ea"/>
                <a:ea typeface="+mn-ea"/>
                <a:cs typeface="+mn-cs"/>
              </a:rPr>
              <a:t>目前主流的服务器均采用共享存储，低端服务器由处理器提供直接互连形成</a:t>
            </a:r>
            <a:r>
              <a:rPr kumimoji="0" lang="en-US" altLang="zh-CN" sz="1600" b="1" i="0" u="none" strike="noStrike" kern="1200" cap="none" spc="0" normalizeH="0" baseline="0" noProof="0" dirty="0">
                <a:ln>
                  <a:noFill/>
                </a:ln>
                <a:solidFill>
                  <a:srgbClr val="FF0000"/>
                </a:solidFill>
                <a:effectLst/>
                <a:uLnTx/>
                <a:uFillTx/>
                <a:latin typeface="+mn-ea"/>
                <a:ea typeface="+mn-ea"/>
                <a:cs typeface="+mn-cs"/>
              </a:rPr>
              <a:t>2-4</a:t>
            </a:r>
            <a:r>
              <a:rPr kumimoji="0" lang="zh-CN" altLang="en-US" sz="1600" b="1" i="0" u="none" strike="noStrike" kern="1200" cap="none" spc="0" normalizeH="0" baseline="0" noProof="0" dirty="0">
                <a:ln>
                  <a:noFill/>
                </a:ln>
                <a:solidFill>
                  <a:srgbClr val="FF0000"/>
                </a:solidFill>
                <a:effectLst/>
                <a:uLnTx/>
                <a:uFillTx/>
                <a:latin typeface="+mn-ea"/>
                <a:ea typeface="+mn-ea"/>
                <a:cs typeface="+mn-cs"/>
              </a:rPr>
              <a:t>路系统；高端服务器通过桥片连接形成几十路的系统</a:t>
            </a:r>
            <a:endParaRPr kumimoji="0" lang="zh-CN" altLang="en-US" sz="1600" b="1" i="0" u="none" strike="noStrike" kern="1200" cap="none" spc="0" normalizeH="0" baseline="0" noProof="0" dirty="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3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以科学计算为目的大规模</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MPP</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系统仍以消息传递为主，几千到上万个处理机，随着带宽的增加与用户级通信的发展，机群系统与</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MPP</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系统的界限越来越模糊</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3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rgbClr val="FF0000"/>
                </a:solidFill>
                <a:effectLst/>
                <a:uLnTx/>
                <a:uFillTx/>
                <a:latin typeface="+mn-ea"/>
                <a:ea typeface="+mn-ea"/>
                <a:cs typeface="+mn-cs"/>
              </a:rPr>
              <a:t>主流商业片内多核都采用共享存储结构，甚至分布式共享存储系统；片内众核（几百到上千核）如</a:t>
            </a:r>
            <a:r>
              <a:rPr kumimoji="0" lang="en-US" altLang="zh-CN" sz="1800" b="1" i="0" u="none" strike="noStrike" kern="1200" cap="none" spc="0" normalizeH="0" baseline="0" noProof="0" dirty="0">
                <a:ln>
                  <a:noFill/>
                </a:ln>
                <a:solidFill>
                  <a:srgbClr val="FF0000"/>
                </a:solidFill>
                <a:effectLst/>
                <a:uLnTx/>
                <a:uFillTx/>
                <a:latin typeface="+mn-ea"/>
                <a:ea typeface="+mn-ea"/>
                <a:cs typeface="+mn-cs"/>
              </a:rPr>
              <a:t>GPU</a:t>
            </a:r>
            <a:r>
              <a:rPr kumimoji="0" lang="zh-CN" altLang="en-US" sz="1800" b="1" i="0" u="none" strike="noStrike" kern="1200" cap="none" spc="0" normalizeH="0" baseline="0" noProof="0" dirty="0">
                <a:ln>
                  <a:noFill/>
                </a:ln>
                <a:solidFill>
                  <a:srgbClr val="FF0000"/>
                </a:solidFill>
                <a:effectLst/>
                <a:uLnTx/>
                <a:uFillTx/>
                <a:latin typeface="+mn-ea"/>
                <a:ea typeface="+mn-ea"/>
                <a:cs typeface="+mn-cs"/>
              </a:rPr>
              <a:t>结构采用独立存储结构</a:t>
            </a:r>
            <a:endParaRPr kumimoji="0" lang="zh-CN" altLang="en-US" sz="1800" b="1" i="0" u="none" strike="noStrike" kern="1200" cap="none" spc="0" normalizeH="0" baseline="0" noProof="0" dirty="0">
              <a:ln>
                <a:noFill/>
              </a:ln>
              <a:solidFill>
                <a:srgbClr val="FF0000"/>
              </a:solidFill>
              <a:effectLst/>
              <a:uLnTx/>
              <a:uFillTx/>
              <a:latin typeface="+mn-ea"/>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914400" y="87313"/>
            <a:ext cx="10361613" cy="954087"/>
          </a:xfrm>
        </p:spPr>
        <p:txBody>
          <a:bodyPr vert="horz" wrap="square" lIns="91440" tIns="45720" rIns="91440" bIns="45720" anchor="ctr" anchorCtr="0"/>
          <a:lstStyle/>
          <a:p>
            <a:r>
              <a:rPr lang="zh-CN" altLang="en-US" dirty="0"/>
              <a:t>共享存储多核处理器的关键问题</a:t>
            </a:r>
            <a:endParaRPr lang="zh-CN" altLang="en-US" dirty="0"/>
          </a:p>
        </p:txBody>
      </p:sp>
      <p:sp>
        <p:nvSpPr>
          <p:cNvPr id="14339" name="内容占位符 2"/>
          <p:cNvSpPr>
            <a:spLocks noGrp="1"/>
          </p:cNvSpPr>
          <p:nvPr>
            <p:ph idx="1"/>
          </p:nvPr>
        </p:nvSpPr>
        <p:spPr>
          <a:xfrm>
            <a:off x="439738" y="1169988"/>
            <a:ext cx="11256963" cy="54864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mn-ea"/>
                <a:ea typeface="+mn-ea"/>
                <a:cs typeface="+mn-cs"/>
              </a:rPr>
              <a:t>通用多核处理器一般采用共享存储结构</a:t>
            </a:r>
            <a:endParaRPr kumimoji="0" lang="en-US" altLang="zh-CN" sz="2000" b="1" i="0" u="none" strike="noStrike" kern="0" cap="none" spc="0" normalizeH="0" baseline="0" noProof="0" dirty="0" smtClean="0">
              <a:ln>
                <a:noFill/>
              </a:ln>
              <a:solidFill>
                <a:srgbClr val="FF0000"/>
              </a:solidFill>
              <a:effectLst/>
              <a:uLnTx/>
              <a:uFillTx/>
              <a:latin typeface="+mn-ea"/>
              <a:ea typeface="+mn-ea"/>
              <a:cs typeface="+mn-cs"/>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zh-CN" sz="2000" b="1" i="0" u="none" strike="noStrike" kern="0" cap="none" spc="0" normalizeH="0" baseline="0" noProof="0" dirty="0" smtClean="0">
                <a:ln>
                  <a:noFill/>
                </a:ln>
                <a:solidFill>
                  <a:srgbClr val="FF0000"/>
                </a:solidFill>
                <a:effectLst/>
                <a:uLnTx/>
                <a:uFillTx/>
                <a:latin typeface="+mn-ea"/>
                <a:ea typeface="+mn-ea"/>
                <a:cs typeface="+mn-cs"/>
              </a:rPr>
              <a:t>多个处理器核发出的访存指令次序如何约定？</a:t>
            </a:r>
            <a:endParaRPr kumimoji="0" lang="en-US" altLang="zh-CN" sz="2000" b="1" i="0" u="none" strike="noStrike" kern="0" cap="none" spc="0" normalizeH="0" baseline="0" noProof="0" dirty="0" smtClean="0">
              <a:ln>
                <a:noFill/>
              </a:ln>
              <a:solidFill>
                <a:srgbClr val="FF0000"/>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rgbClr val="FF0000"/>
                </a:solidFill>
                <a:effectLst/>
                <a:uLnTx/>
                <a:uFillTx/>
                <a:latin typeface="+mn-ea"/>
                <a:ea typeface="+mn-ea"/>
              </a:rPr>
              <a:t>存储一致性模型：如顺序一致性、处理器一致性等</a:t>
            </a:r>
            <a:endParaRPr kumimoji="0" lang="en-US" altLang="zh-CN" sz="1800" b="1" i="0" u="none" strike="noStrike" kern="0" cap="none" spc="0" normalizeH="0" baseline="0" noProof="0" dirty="0" smtClean="0">
              <a:ln>
                <a:noFill/>
              </a:ln>
              <a:solidFill>
                <a:srgbClr val="FF0000"/>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mn-ea"/>
                <a:ea typeface="+mn-ea"/>
                <a:cs typeface="+mn-cs"/>
              </a:rPr>
              <a:t>多个</a:t>
            </a:r>
            <a:r>
              <a:rPr kumimoji="0" lang="zh-CN" altLang="zh-CN" sz="2000" b="1" i="0" u="none" strike="noStrike" kern="0" cap="none" spc="0" normalizeH="0" baseline="0" noProof="0" dirty="0" smtClean="0">
                <a:ln>
                  <a:noFill/>
                </a:ln>
                <a:solidFill>
                  <a:srgbClr val="FF0000"/>
                </a:solidFill>
                <a:effectLst/>
                <a:uLnTx/>
                <a:uFillTx/>
                <a:latin typeface="+mn-ea"/>
                <a:ea typeface="+mn-ea"/>
                <a:cs typeface="+mn-cs"/>
              </a:rPr>
              <a:t>处理器核间共享片上</a:t>
            </a:r>
            <a:r>
              <a:rPr kumimoji="0" lang="en-US" altLang="zh-CN" sz="2000" b="1" i="0" u="none" strike="noStrike" kern="0" cap="none" spc="0" normalizeH="0" baseline="0" noProof="0" dirty="0" smtClean="0">
                <a:ln>
                  <a:noFill/>
                </a:ln>
                <a:solidFill>
                  <a:srgbClr val="FF0000"/>
                </a:solidFill>
                <a:effectLst/>
                <a:uLnTx/>
                <a:uFillTx/>
                <a:latin typeface="+mn-ea"/>
                <a:ea typeface="+mn-ea"/>
                <a:cs typeface="+mn-cs"/>
              </a:rPr>
              <a:t>Cache</a:t>
            </a:r>
            <a:r>
              <a:rPr kumimoji="0" lang="zh-CN" altLang="zh-CN" sz="2000" b="1" i="0" u="none" strike="noStrike" kern="0" cap="none" spc="0" normalizeH="0" baseline="0" noProof="0" dirty="0" smtClean="0">
                <a:ln>
                  <a:noFill/>
                </a:ln>
                <a:solidFill>
                  <a:srgbClr val="FF0000"/>
                </a:solidFill>
                <a:effectLst/>
                <a:uLnTx/>
                <a:uFillTx/>
                <a:latin typeface="+mn-ea"/>
                <a:ea typeface="+mn-ea"/>
                <a:cs typeface="+mn-cs"/>
              </a:rPr>
              <a:t>如何组织及维护一致性？</a:t>
            </a:r>
            <a:endParaRPr kumimoji="0" lang="en-US" altLang="zh-CN" sz="2000" b="1" i="0" u="none" strike="noStrike" kern="0" cap="none" spc="0" normalizeH="0" baseline="0" noProof="0" dirty="0" smtClean="0">
              <a:ln>
                <a:noFill/>
              </a:ln>
              <a:solidFill>
                <a:srgbClr val="FF0000"/>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rgbClr val="FF0000"/>
                </a:solidFill>
                <a:effectLst/>
                <a:uLnTx/>
                <a:uFillTx/>
                <a:latin typeface="+mn-ea"/>
                <a:ea typeface="+mn-ea"/>
              </a:rPr>
              <a:t>Cache</a:t>
            </a:r>
            <a:r>
              <a:rPr kumimoji="0" lang="zh-CN" altLang="en-US" sz="1800" b="1" i="0" u="none" strike="noStrike" kern="0" cap="none" spc="0" normalizeH="0" baseline="0" noProof="0" dirty="0" smtClean="0">
                <a:ln>
                  <a:noFill/>
                </a:ln>
                <a:solidFill>
                  <a:srgbClr val="FF0000"/>
                </a:solidFill>
                <a:effectLst/>
                <a:uLnTx/>
                <a:uFillTx/>
                <a:latin typeface="+mn-ea"/>
                <a:ea typeface="+mn-ea"/>
              </a:rPr>
              <a:t>一致性协议：片上</a:t>
            </a:r>
            <a:r>
              <a:rPr kumimoji="0" lang="en-US" altLang="zh-CN" sz="1800" b="1" i="0" u="none" strike="noStrike" kern="0" cap="none" spc="0" normalizeH="0" baseline="0" noProof="0" dirty="0" smtClean="0">
                <a:ln>
                  <a:noFill/>
                </a:ln>
                <a:solidFill>
                  <a:srgbClr val="FF0000"/>
                </a:solidFill>
                <a:effectLst/>
                <a:uLnTx/>
                <a:uFillTx/>
                <a:latin typeface="+mn-ea"/>
                <a:ea typeface="+mn-ea"/>
              </a:rPr>
              <a:t>Cache</a:t>
            </a:r>
            <a:r>
              <a:rPr kumimoji="0" lang="zh-CN" altLang="en-US" sz="1800" b="1" i="0" u="none" strike="noStrike" kern="0" cap="none" spc="0" normalizeH="0" baseline="0" noProof="0" dirty="0" smtClean="0">
                <a:ln>
                  <a:noFill/>
                </a:ln>
                <a:solidFill>
                  <a:srgbClr val="FF0000"/>
                </a:solidFill>
                <a:effectLst/>
                <a:uLnTx/>
                <a:uFillTx/>
                <a:latin typeface="+mn-ea"/>
                <a:ea typeface="+mn-ea"/>
              </a:rPr>
              <a:t>结构及</a:t>
            </a:r>
            <a:r>
              <a:rPr kumimoji="0" lang="en-US" altLang="zh-CN" sz="1800" b="1" i="0" u="none" strike="noStrike" kern="0" cap="none" spc="0" normalizeH="0" baseline="0" noProof="0" dirty="0" smtClean="0">
                <a:ln>
                  <a:noFill/>
                </a:ln>
                <a:solidFill>
                  <a:srgbClr val="FF0000"/>
                </a:solidFill>
                <a:effectLst/>
                <a:uLnTx/>
                <a:uFillTx/>
                <a:latin typeface="+mn-ea"/>
                <a:ea typeface="+mn-ea"/>
              </a:rPr>
              <a:t>Cache</a:t>
            </a:r>
            <a:r>
              <a:rPr kumimoji="0" lang="zh-CN" altLang="en-US" sz="1800" b="1" i="0" u="none" strike="noStrike" kern="0" cap="none" spc="0" normalizeH="0" baseline="0" noProof="0" dirty="0" smtClean="0">
                <a:ln>
                  <a:noFill/>
                </a:ln>
                <a:solidFill>
                  <a:srgbClr val="FF0000"/>
                </a:solidFill>
                <a:effectLst/>
                <a:uLnTx/>
                <a:uFillTx/>
                <a:latin typeface="+mn-ea"/>
                <a:ea typeface="+mn-ea"/>
              </a:rPr>
              <a:t>一致性协议</a:t>
            </a:r>
            <a:endParaRPr kumimoji="0" lang="en-US" altLang="zh-CN" sz="1800" b="1" i="0" u="none" strike="noStrike" kern="0" cap="none" spc="0" normalizeH="0" baseline="0" noProof="0" dirty="0" smtClean="0">
              <a:ln>
                <a:noFill/>
              </a:ln>
              <a:solidFill>
                <a:srgbClr val="FF0000"/>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zh-CN" sz="2000" b="1" i="0" u="none" strike="noStrike" kern="0" cap="none" spc="0" normalizeH="0" baseline="0" noProof="0" dirty="0" smtClean="0">
                <a:ln>
                  <a:noFill/>
                </a:ln>
                <a:solidFill>
                  <a:schemeClr val="tx1"/>
                </a:solidFill>
                <a:effectLst/>
                <a:uLnTx/>
                <a:uFillTx/>
                <a:latin typeface="+mn-ea"/>
                <a:ea typeface="+mn-ea"/>
                <a:cs typeface="+mn-cs"/>
              </a:rPr>
              <a:t>多</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个</a:t>
            </a:r>
            <a:r>
              <a:rPr kumimoji="0" lang="zh-CN" altLang="zh-CN" sz="2000" b="1" i="0" u="none" strike="noStrike" kern="0" cap="none" spc="0" normalizeH="0" baseline="0" noProof="0" dirty="0" smtClean="0">
                <a:ln>
                  <a:noFill/>
                </a:ln>
                <a:solidFill>
                  <a:schemeClr val="tx1"/>
                </a:solidFill>
                <a:effectLst/>
                <a:uLnTx/>
                <a:uFillTx/>
                <a:latin typeface="+mn-ea"/>
                <a:ea typeface="+mn-ea"/>
                <a:cs typeface="+mn-cs"/>
              </a:rPr>
              <a:t>核处理器</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核</a:t>
            </a:r>
            <a:r>
              <a:rPr kumimoji="0" lang="zh-CN" altLang="zh-CN" sz="2000" b="1" i="0" u="none" strike="noStrike" kern="0" cap="none" spc="0" normalizeH="0" baseline="0" noProof="0" dirty="0" smtClean="0">
                <a:ln>
                  <a:noFill/>
                </a:ln>
                <a:solidFill>
                  <a:schemeClr val="tx1"/>
                </a:solidFill>
                <a:effectLst/>
                <a:uLnTx/>
                <a:uFillTx/>
                <a:latin typeface="+mn-ea"/>
                <a:ea typeface="+mn-ea"/>
                <a:cs typeface="+mn-cs"/>
              </a:rPr>
              <a:t>间</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如何实现通信</a:t>
            </a:r>
            <a:r>
              <a:rPr kumimoji="0" lang="zh-CN" altLang="zh-CN" sz="2000" b="1" i="0" u="none" strike="noStrike" kern="0" cap="none" spc="0" normalizeH="0" baseline="0" noProof="0" dirty="0" smtClean="0">
                <a:ln>
                  <a:noFill/>
                </a:ln>
                <a:solidFill>
                  <a:schemeClr val="tx1"/>
                </a:solidFill>
                <a:effectLst/>
                <a:uLnTx/>
                <a:uFillTx/>
                <a:latin typeface="+mn-ea"/>
                <a:ea typeface="+mn-ea"/>
                <a:cs typeface="+mn-cs"/>
              </a:rPr>
              <a:t>？</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片上互连结构</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zh-CN" sz="2000" b="1" i="0" u="none" strike="noStrike" kern="0" cap="none" spc="0" normalizeH="0" baseline="0" noProof="0" dirty="0" smtClean="0">
                <a:ln>
                  <a:noFill/>
                </a:ln>
                <a:solidFill>
                  <a:schemeClr val="tx1"/>
                </a:solidFill>
                <a:effectLst/>
                <a:uLnTx/>
                <a:uFillTx/>
                <a:latin typeface="+mn-ea"/>
                <a:ea typeface="+mn-ea"/>
                <a:cs typeface="+mn-cs"/>
              </a:rPr>
              <a:t>多个处理器核间如何实现同步？</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多核同步机制：互斥锁操作（</a:t>
            </a:r>
            <a:r>
              <a:rPr kumimoji="0" lang="en-US" altLang="zh-CN" sz="1800" b="1" i="0" u="none" strike="noStrike" kern="0" cap="none" spc="0" normalizeH="0" baseline="0" noProof="0" dirty="0" smtClean="0">
                <a:ln>
                  <a:noFill/>
                </a:ln>
                <a:solidFill>
                  <a:schemeClr val="tx1"/>
                </a:solidFill>
                <a:effectLst/>
                <a:uLnTx/>
                <a:uFillTx/>
                <a:latin typeface="+mn-ea"/>
                <a:ea typeface="+mn-ea"/>
              </a:rPr>
              <a:t>lock</a:t>
            </a:r>
            <a:r>
              <a:rPr kumimoji="0" lang="zh-CN" altLang="en-US" sz="1800" b="1" i="0" u="none" strike="noStrike" kern="0" cap="none" spc="0" normalizeH="0" baseline="0" noProof="0" dirty="0" smtClean="0">
                <a:ln>
                  <a:noFill/>
                </a:ln>
                <a:solidFill>
                  <a:schemeClr val="tx1"/>
                </a:solidFill>
                <a:effectLst/>
                <a:uLnTx/>
                <a:uFillTx/>
                <a:latin typeface="+mn-ea"/>
                <a:ea typeface="+mn-ea"/>
              </a:rPr>
              <a:t>）、路障操作（</a:t>
            </a:r>
            <a:r>
              <a:rPr kumimoji="0" lang="en-US" altLang="zh-CN" sz="1800" b="1" i="0" u="none" strike="noStrike" kern="0" cap="none" spc="0" normalizeH="0" baseline="0" noProof="0" dirty="0" smtClean="0">
                <a:ln>
                  <a:noFill/>
                </a:ln>
                <a:solidFill>
                  <a:schemeClr val="tx1"/>
                </a:solidFill>
                <a:effectLst/>
                <a:uLnTx/>
                <a:uFillTx/>
                <a:latin typeface="+mn-ea"/>
                <a:ea typeface="+mn-ea"/>
              </a:rPr>
              <a:t>barrier</a:t>
            </a:r>
            <a:r>
              <a:rPr kumimoji="0" lang="zh-CN" altLang="en-US" sz="1800" b="1" i="0" u="none" strike="noStrike" kern="0" cap="none" spc="0" normalizeH="0" baseline="0" noProof="0" dirty="0" smtClean="0">
                <a:ln>
                  <a:noFill/>
                </a:ln>
                <a:solidFill>
                  <a:schemeClr val="tx1"/>
                </a:solidFill>
                <a:effectLst/>
                <a:uLnTx/>
                <a:uFillTx/>
                <a:latin typeface="+mn-ea"/>
                <a:ea typeface="+mn-ea"/>
              </a:rPr>
              <a:t>）</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p:txBody>
      </p:sp>
      <p:sp>
        <p:nvSpPr>
          <p:cNvPr id="17412"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7413" name="Rectangle 2"/>
          <p:cNvSpPr/>
          <p:nvPr/>
        </p:nvSpPr>
        <p:spPr>
          <a:xfrm>
            <a:off x="0" y="-184150"/>
            <a:ext cx="12190413" cy="368300"/>
          </a:xfrm>
          <a:prstGeom prst="rect">
            <a:avLst/>
          </a:prstGeom>
          <a:noFill/>
          <a:ln w="9525">
            <a:noFill/>
          </a:ln>
        </p:spPr>
        <p:txBody>
          <a:bodyPr anchor="ctr" anchorCtr="0">
            <a:spAutoFit/>
          </a:bodyPr>
          <a:lstStyle/>
          <a:p>
            <a:endParaRPr lang="zh-CN" altLang="en-US" dirty="0">
              <a:latin typeface="Arial" panose="0208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4"/>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8435" name="Rectangle 2"/>
          <p:cNvSpPr>
            <a:spLocks noGrp="1"/>
          </p:cNvSpPr>
          <p:nvPr>
            <p:ph type="title"/>
          </p:nvPr>
        </p:nvSpPr>
        <p:spPr>
          <a:xfrm>
            <a:off x="866775" y="2708275"/>
            <a:ext cx="10971213" cy="1143000"/>
          </a:xfrm>
        </p:spPr>
        <p:txBody>
          <a:bodyPr vert="horz" wrap="square" lIns="91440" tIns="45720" rIns="91440" bIns="45720" anchor="ctr" anchorCtr="0"/>
          <a:lstStyle/>
          <a:p>
            <a:pPr eaLnBrk="1" hangingPunct="1"/>
            <a:r>
              <a:rPr lang="zh-CN" altLang="en-US" dirty="0"/>
              <a:t>共享存储系统中的访存相关性</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9459" name="Rectangle 3"/>
          <p:cNvSpPr>
            <a:spLocks noGrp="1"/>
          </p:cNvSpPr>
          <p:nvPr>
            <p:ph idx="1"/>
          </p:nvPr>
        </p:nvSpPr>
        <p:spPr>
          <a:xfrm>
            <a:off x="374650" y="1557655"/>
            <a:ext cx="11160125" cy="2035175"/>
          </a:xfrm>
        </p:spPr>
        <p:txBody>
          <a:bodyPr vert="horz" wrap="square" lIns="91440" tIns="45720" rIns="91440" bIns="45720" anchor="t" anchorCtr="0"/>
          <a:lstStyle/>
          <a:p>
            <a:pPr eaLnBrk="1" hangingPunct="1">
              <a:spcBef>
                <a:spcPts val="600"/>
              </a:spcBef>
            </a:pPr>
            <a:r>
              <a:rPr lang="zh-CN" altLang="en-US" sz="2000" dirty="0">
                <a:latin typeface="宋体" panose="02000500000000000000" pitchFamily="2" charset="-122"/>
                <a:ea typeface="宋体" panose="02000500000000000000" pitchFamily="2" charset="-122"/>
                <a:cs typeface="宋体" panose="02000500000000000000" pitchFamily="2" charset="-122"/>
              </a:rPr>
              <a:t>在单机系统中，只要保持程序中的数据相关性，就可以保证执行正确。在多处理机系统中，不仅要考虑单机内的数据相关，而且要考虑多机之间的数据相关</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eaLnBrk="1" hangingPunct="1">
              <a:spcBef>
                <a:spcPts val="600"/>
              </a:spcBef>
            </a:pPr>
            <a:r>
              <a:rPr lang="zh-CN" altLang="en-US" sz="2000" dirty="0">
                <a:latin typeface="宋体" panose="02000500000000000000" pitchFamily="2" charset="-122"/>
                <a:ea typeface="宋体" panose="02000500000000000000" pitchFamily="2" charset="-122"/>
                <a:cs typeface="宋体" panose="02000500000000000000" pitchFamily="2" charset="-122"/>
              </a:rPr>
              <a:t>为了执行的正确性，每个处理机都必须根据程序序来执行指令</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eaLnBrk="1" hangingPunct="1">
              <a:spcBef>
                <a:spcPts val="600"/>
              </a:spcBef>
            </a:pPr>
            <a:endParaRPr lang="en-US" altLang="zh-CN" sz="1800" dirty="0">
              <a:latin typeface="宋体" panose="02000500000000000000" pitchFamily="2" charset="-122"/>
              <a:ea typeface="宋体" panose="02000500000000000000" pitchFamily="2" charset="-122"/>
              <a:cs typeface="宋体" panose="02000500000000000000" pitchFamily="2" charset="-122"/>
            </a:endParaRPr>
          </a:p>
        </p:txBody>
      </p:sp>
      <p:sp>
        <p:nvSpPr>
          <p:cNvPr id="19460" name="Rectangle 2"/>
          <p:cNvSpPr>
            <a:spLocks noGrp="1"/>
          </p:cNvSpPr>
          <p:nvPr>
            <p:ph type="title"/>
          </p:nvPr>
        </p:nvSpPr>
        <p:spPr>
          <a:xfrm>
            <a:off x="601663" y="0"/>
            <a:ext cx="10971212" cy="1143000"/>
          </a:xfrm>
        </p:spPr>
        <p:txBody>
          <a:bodyPr vert="horz" wrap="square" lIns="91440" tIns="45720" rIns="91440" bIns="45720" anchor="ctr" anchorCtr="0"/>
          <a:lstStyle/>
          <a:p>
            <a:pPr eaLnBrk="1" hangingPunct="1"/>
            <a:r>
              <a:rPr lang="zh-CN" altLang="en-US" dirty="0"/>
              <a:t>一致性问题</a:t>
            </a:r>
            <a:endParaRPr lang="zh-CN" altLang="en-US" dirty="0"/>
          </a:p>
        </p:txBody>
      </p:sp>
      <p:sp>
        <p:nvSpPr>
          <p:cNvPr id="19462" name="Line 6"/>
          <p:cNvSpPr/>
          <p:nvPr/>
        </p:nvSpPr>
        <p:spPr>
          <a:xfrm>
            <a:off x="2166620" y="4603750"/>
            <a:ext cx="0" cy="0"/>
          </a:xfrm>
          <a:prstGeom prst="line">
            <a:avLst/>
          </a:prstGeom>
          <a:ln w="12700" cap="flat" cmpd="sng">
            <a:solidFill>
              <a:schemeClr val="tx1"/>
            </a:solidFill>
            <a:prstDash val="solid"/>
            <a:headEnd type="none" w="sm" len="sm"/>
            <a:tailEnd type="triangle" w="sm" len="sm"/>
          </a:ln>
        </p:spPr>
      </p:sp>
      <p:pic>
        <p:nvPicPr>
          <p:cNvPr id="2" name="图片 1"/>
          <p:cNvPicPr>
            <a:picLocks noChangeAspect="1"/>
          </p:cNvPicPr>
          <p:nvPr/>
        </p:nvPicPr>
        <p:blipFill>
          <a:blip r:embed="rId1"/>
          <a:stretch>
            <a:fillRect/>
          </a:stretch>
        </p:blipFill>
        <p:spPr>
          <a:xfrm>
            <a:off x="3215005" y="3789045"/>
            <a:ext cx="4455795" cy="23501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0483" name="Rectangle 2"/>
          <p:cNvSpPr>
            <a:spLocks noGrp="1"/>
          </p:cNvSpPr>
          <p:nvPr>
            <p:ph type="title"/>
          </p:nvPr>
        </p:nvSpPr>
        <p:spPr>
          <a:xfrm>
            <a:off x="688975" y="0"/>
            <a:ext cx="10972800" cy="1143000"/>
          </a:xfrm>
        </p:spPr>
        <p:txBody>
          <a:bodyPr vert="horz" wrap="square" lIns="91440" tIns="45720" rIns="91440" bIns="45720" anchor="ctr" anchorCtr="0"/>
          <a:lstStyle/>
          <a:p>
            <a:pPr eaLnBrk="1" hangingPunct="1"/>
            <a:r>
              <a:rPr lang="zh-CN" altLang="en-US" dirty="0"/>
              <a:t>一致性问题（</a:t>
            </a:r>
            <a:r>
              <a:rPr lang="en-US" altLang="zh-CN" dirty="0"/>
              <a:t>cont.</a:t>
            </a:r>
            <a:r>
              <a:rPr lang="zh-CN" altLang="en-US" dirty="0"/>
              <a:t>）</a:t>
            </a:r>
            <a:endParaRPr lang="zh-CN" altLang="en-US" dirty="0"/>
          </a:p>
        </p:txBody>
      </p:sp>
      <p:sp>
        <p:nvSpPr>
          <p:cNvPr id="17412" name="Rectangle 3"/>
          <p:cNvSpPr>
            <a:spLocks noGrp="1" noChangeArrowheads="1"/>
          </p:cNvSpPr>
          <p:nvPr>
            <p:ph idx="1"/>
          </p:nvPr>
        </p:nvSpPr>
        <p:spPr>
          <a:xfrm>
            <a:off x="1330325" y="1701800"/>
            <a:ext cx="9564688" cy="504031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即使每个处理机都根据程序序执行指令，仍可能导致错误结果</a:t>
            </a:r>
            <a:endPar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600"/>
              </a:spcBef>
              <a:spcAft>
                <a:spcPct val="0"/>
              </a:spcAft>
              <a:buClrTx/>
              <a:buSzTx/>
              <a:buFontTx/>
              <a:buNone/>
              <a:defRPr/>
            </a:pPr>
            <a:r>
              <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  </a:t>
            </a:r>
            <a:endPar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600"/>
              </a:spcBef>
              <a:spcAft>
                <a:spcPct val="0"/>
              </a:spcAft>
              <a:buClrTx/>
              <a:buSzTx/>
              <a:buFontTx/>
              <a:buNone/>
              <a:defRPr/>
            </a:pPr>
            <a:endPar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600"/>
              </a:spcBef>
              <a:spcAft>
                <a:spcPct val="0"/>
              </a:spcAft>
              <a:buClrTx/>
              <a:buSzTx/>
              <a:buFontTx/>
              <a:buNone/>
              <a:defRPr/>
            </a:pPr>
            <a:endParaRPr kumimoji="0"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600"/>
              </a:spcBef>
              <a:spcAft>
                <a:spcPct val="0"/>
              </a:spcAft>
              <a:buClrTx/>
              <a:buSzTx/>
              <a:buFontTx/>
              <a:buChar char="•"/>
              <a:defRPr/>
            </a:pPr>
            <a:endPar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起因：从</a:t>
            </a:r>
            <a:r>
              <a:rPr kumimoji="0"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Write Atomic</a:t>
            </a:r>
            <a:r>
              <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到</a:t>
            </a:r>
            <a:r>
              <a:rPr kumimoji="0"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Write Non-atomic</a:t>
            </a:r>
            <a:endParaRPr kumimoji="0"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什么是写可分割系统中正确的执行？</a:t>
            </a:r>
            <a:endPar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直观感觉，程序次序与执行次序不要形成闭环</a:t>
            </a:r>
            <a:endParaRPr kumimoji="0" lang="en-US" altLang="zh-CN"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存储一致性模型</a:t>
            </a:r>
            <a:r>
              <a:rPr kumimoji="0"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和</a:t>
            </a:r>
            <a:r>
              <a:rPr kumimoji="0" lang="en-US" altLang="zh-CN"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Cache</a:t>
            </a:r>
            <a:r>
              <a:rPr kumimoji="0" lang="zh-CN" altLang="zh-CN"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一致性协议</a:t>
            </a:r>
            <a:endParaRPr kumimoji="0" lang="zh-CN" altLang="en-US"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pic>
        <p:nvPicPr>
          <p:cNvPr id="2" name="图片 1"/>
          <p:cNvPicPr>
            <a:picLocks noChangeAspect="1"/>
          </p:cNvPicPr>
          <p:nvPr/>
        </p:nvPicPr>
        <p:blipFill>
          <a:blip r:embed="rId1"/>
          <a:stretch>
            <a:fillRect/>
          </a:stretch>
        </p:blipFill>
        <p:spPr>
          <a:xfrm>
            <a:off x="1774825" y="2492375"/>
            <a:ext cx="4665980" cy="17221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1507" name="Rectangle 2"/>
          <p:cNvSpPr>
            <a:spLocks noGrp="1"/>
          </p:cNvSpPr>
          <p:nvPr>
            <p:ph type="title"/>
          </p:nvPr>
        </p:nvSpPr>
        <p:spPr>
          <a:xfrm>
            <a:off x="423863" y="0"/>
            <a:ext cx="11255375" cy="1125538"/>
          </a:xfrm>
        </p:spPr>
        <p:txBody>
          <a:bodyPr vert="horz" wrap="square" lIns="91440" tIns="45720" rIns="91440" bIns="45720" anchor="ctr" anchorCtr="0"/>
          <a:lstStyle/>
          <a:p>
            <a:pPr eaLnBrk="1" hangingPunct="1"/>
            <a:r>
              <a:rPr lang="zh-CN" altLang="en-US" dirty="0"/>
              <a:t>什么是正确的执行？</a:t>
            </a:r>
            <a:endParaRPr lang="zh-CN" altLang="en-US" dirty="0"/>
          </a:p>
        </p:txBody>
      </p:sp>
      <p:sp>
        <p:nvSpPr>
          <p:cNvPr id="18436" name="Rectangle 3"/>
          <p:cNvSpPr>
            <a:spLocks noGrp="1" noChangeArrowheads="1"/>
          </p:cNvSpPr>
          <p:nvPr>
            <p:ph idx="1"/>
          </p:nvPr>
        </p:nvSpPr>
        <p:spPr>
          <a:xfrm>
            <a:off x="601663" y="1600200"/>
            <a:ext cx="10987088" cy="4648200"/>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正确性标准：符合程序员的直觉</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正确性规范：</a:t>
            </a:r>
            <a:r>
              <a:rPr kumimoji="0" lang="zh-CN" altLang="en-US" sz="2000" b="1" i="0" u="none" strike="noStrike" kern="0" cap="none" spc="0" normalizeH="0" baseline="0" noProof="0" dirty="0" smtClean="0">
                <a:ln>
                  <a:noFill/>
                </a:ln>
                <a:solidFill>
                  <a:srgbClr val="0000FF"/>
                </a:solidFill>
                <a:effectLst/>
                <a:uLnTx/>
                <a:uFillTx/>
                <a:latin typeface="+mn-ea"/>
                <a:ea typeface="+mn-ea"/>
                <a:cs typeface="+mn-cs"/>
              </a:rPr>
              <a:t>顺序一致性</a:t>
            </a:r>
            <a:endParaRPr kumimoji="0" lang="zh-CN" altLang="en-US" sz="2000" b="1" i="0" u="none" strike="noStrike" kern="0" cap="none" spc="0" normalizeH="0" baseline="0" noProof="0" dirty="0" smtClean="0">
              <a:ln>
                <a:noFill/>
              </a:ln>
              <a:solidFill>
                <a:srgbClr val="0000FF"/>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Sequential consistency defines a correct execution as the one “whose result is the same as if the operations of each individual processor appear in this sequence in the order specified by the program”.</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如果在多处理机环境下的一个并行执行的结果等于同一程序在单处理机多进程环境下的一个执行的结果，则此并行程序执行正确</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609600" y="274638"/>
            <a:ext cx="10971213" cy="706437"/>
          </a:xfrm>
        </p:spPr>
        <p:txBody>
          <a:bodyPr vert="horz" wrap="square" lIns="91440" tIns="45720" rIns="91440" bIns="45720" anchor="ctr" anchorCtr="0"/>
          <a:lstStyle/>
          <a:p>
            <a:r>
              <a:rPr lang="zh-CN" altLang="en-US" dirty="0"/>
              <a:t>并行程序的顺序执行</a:t>
            </a:r>
            <a:endParaRPr lang="zh-CN" altLang="en-US" dirty="0"/>
          </a:p>
        </p:txBody>
      </p:sp>
      <p:sp>
        <p:nvSpPr>
          <p:cNvPr id="22532"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2533" name="TextBox 4"/>
          <p:cNvSpPr txBox="1"/>
          <p:nvPr/>
        </p:nvSpPr>
        <p:spPr>
          <a:xfrm>
            <a:off x="601663" y="3895725"/>
            <a:ext cx="2481262" cy="1476375"/>
          </a:xfrm>
          <a:prstGeom prst="rect">
            <a:avLst/>
          </a:prstGeom>
          <a:noFill/>
          <a:ln w="9525">
            <a:noFill/>
          </a:ln>
        </p:spPr>
        <p:txBody>
          <a:bodyPr>
            <a:spAutoFit/>
          </a:bodyPr>
          <a:lstStyle/>
          <a:p>
            <a:r>
              <a:rPr lang="en-US" altLang="zh-CN" b="1" dirty="0">
                <a:latin typeface="宋体" panose="02000500000000000000" pitchFamily="2" charset="-122"/>
                <a:cs typeface="宋体" panose="02000500000000000000" pitchFamily="2" charset="-122"/>
              </a:rPr>
              <a:t>  ST </a:t>
            </a:r>
            <a:r>
              <a:rPr lang="zh-CN" altLang="en-US" b="1" dirty="0">
                <a:latin typeface="宋体" panose="02000500000000000000" pitchFamily="2" charset="-122"/>
                <a:cs typeface="宋体" panose="02000500000000000000" pitchFamily="2" charset="-122"/>
              </a:rPr>
              <a:t> </a:t>
            </a:r>
            <a:r>
              <a:rPr lang="en-US" altLang="zh-CN" b="1" dirty="0">
                <a:latin typeface="宋体" panose="02000500000000000000" pitchFamily="2" charset="-122"/>
                <a:cs typeface="宋体" panose="02000500000000000000" pitchFamily="2" charset="-122"/>
              </a:rPr>
              <a:t>a,1</a:t>
            </a:r>
            <a:endParaRPr lang="en-US" altLang="zh-CN" b="1" dirty="0">
              <a:latin typeface="宋体" panose="02000500000000000000" pitchFamily="2" charset="-122"/>
              <a:cs typeface="宋体" panose="02000500000000000000" pitchFamily="2" charset="-122"/>
            </a:endParaRPr>
          </a:p>
          <a:p>
            <a:r>
              <a:rPr lang="en-US" altLang="zh-CN" b="1" dirty="0">
                <a:latin typeface="宋体" panose="02000500000000000000" pitchFamily="2" charset="-122"/>
                <a:cs typeface="宋体" panose="02000500000000000000" pitchFamily="2" charset="-122"/>
              </a:rPr>
              <a:t>  LD  R1,b</a:t>
            </a:r>
            <a:endParaRPr lang="en-US" altLang="zh-CN" b="1" dirty="0">
              <a:latin typeface="宋体" panose="02000500000000000000" pitchFamily="2" charset="-122"/>
              <a:cs typeface="宋体" panose="02000500000000000000" pitchFamily="2" charset="-122"/>
            </a:endParaRPr>
          </a:p>
          <a:p>
            <a:r>
              <a:rPr lang="en-US" altLang="zh-CN" b="1" dirty="0">
                <a:latin typeface="宋体" panose="02000500000000000000" pitchFamily="2" charset="-122"/>
                <a:cs typeface="宋体" panose="02000500000000000000" pitchFamily="2" charset="-122"/>
              </a:rPr>
              <a:t>  ST  b,1</a:t>
            </a:r>
            <a:endParaRPr lang="en-US" altLang="zh-CN" b="1" dirty="0">
              <a:latin typeface="宋体" panose="02000500000000000000" pitchFamily="2" charset="-122"/>
              <a:cs typeface="宋体" panose="02000500000000000000" pitchFamily="2" charset="-122"/>
            </a:endParaRPr>
          </a:p>
          <a:p>
            <a:r>
              <a:rPr lang="en-US" altLang="zh-CN" b="1" dirty="0">
                <a:latin typeface="宋体" panose="02000500000000000000" pitchFamily="2" charset="-122"/>
                <a:cs typeface="宋体" panose="02000500000000000000" pitchFamily="2" charset="-122"/>
              </a:rPr>
              <a:t>  LD  R2,a</a:t>
            </a:r>
            <a:endParaRPr lang="en-US" altLang="zh-CN" b="1" dirty="0">
              <a:latin typeface="宋体" panose="02000500000000000000" pitchFamily="2" charset="-122"/>
              <a:cs typeface="宋体" panose="02000500000000000000" pitchFamily="2" charset="-122"/>
            </a:endParaRPr>
          </a:p>
          <a:p>
            <a:r>
              <a:rPr lang="zh-CN" altLang="en-US" b="1" dirty="0">
                <a:solidFill>
                  <a:srgbClr val="0070C0"/>
                </a:solidFill>
                <a:latin typeface="宋体" panose="02000500000000000000" pitchFamily="2" charset="-122"/>
                <a:cs typeface="宋体" panose="02000500000000000000" pitchFamily="2" charset="-122"/>
              </a:rPr>
              <a:t>（</a:t>
            </a:r>
            <a:r>
              <a:rPr lang="en-US" altLang="zh-CN" b="1" dirty="0">
                <a:solidFill>
                  <a:srgbClr val="0070C0"/>
                </a:solidFill>
                <a:latin typeface="宋体" panose="02000500000000000000" pitchFamily="2" charset="-122"/>
                <a:cs typeface="宋体" panose="02000500000000000000" pitchFamily="2" charset="-122"/>
              </a:rPr>
              <a:t>R1=0</a:t>
            </a:r>
            <a:r>
              <a:rPr lang="zh-CN" altLang="en-US" b="1" dirty="0">
                <a:solidFill>
                  <a:srgbClr val="0070C0"/>
                </a:solidFill>
                <a:latin typeface="宋体" panose="02000500000000000000" pitchFamily="2" charset="-122"/>
                <a:cs typeface="宋体" panose="02000500000000000000" pitchFamily="2" charset="-122"/>
              </a:rPr>
              <a:t>，</a:t>
            </a:r>
            <a:r>
              <a:rPr lang="en-US" altLang="zh-CN" b="1" dirty="0">
                <a:solidFill>
                  <a:srgbClr val="0070C0"/>
                </a:solidFill>
                <a:latin typeface="宋体" panose="02000500000000000000" pitchFamily="2" charset="-122"/>
                <a:cs typeface="宋体" panose="02000500000000000000" pitchFamily="2" charset="-122"/>
              </a:rPr>
              <a:t>R2=1</a:t>
            </a:r>
            <a:r>
              <a:rPr lang="zh-CN" altLang="en-US" b="1" dirty="0">
                <a:solidFill>
                  <a:srgbClr val="0070C0"/>
                </a:solidFill>
                <a:latin typeface="宋体" panose="02000500000000000000" pitchFamily="2" charset="-122"/>
                <a:cs typeface="宋体" panose="02000500000000000000" pitchFamily="2" charset="-122"/>
              </a:rPr>
              <a:t>）</a:t>
            </a:r>
            <a:r>
              <a:rPr lang="en-US" altLang="zh-CN" b="1" dirty="0">
                <a:latin typeface="宋体" panose="02000500000000000000" pitchFamily="2" charset="-122"/>
                <a:cs typeface="宋体" panose="02000500000000000000" pitchFamily="2" charset="-122"/>
              </a:rPr>
              <a:t> </a:t>
            </a:r>
            <a:endParaRPr lang="zh-CN" altLang="en-US" b="1" dirty="0">
              <a:latin typeface="宋体" panose="02000500000000000000" pitchFamily="2" charset="-122"/>
              <a:cs typeface="宋体" panose="02000500000000000000" pitchFamily="2" charset="-122"/>
            </a:endParaRPr>
          </a:p>
        </p:txBody>
      </p:sp>
      <p:sp>
        <p:nvSpPr>
          <p:cNvPr id="22534" name="TextBox 5"/>
          <p:cNvSpPr txBox="1"/>
          <p:nvPr/>
        </p:nvSpPr>
        <p:spPr>
          <a:xfrm>
            <a:off x="3348038" y="3895725"/>
            <a:ext cx="2481262" cy="1476375"/>
          </a:xfrm>
          <a:prstGeom prst="rect">
            <a:avLst/>
          </a:prstGeom>
          <a:noFill/>
          <a:ln w="9525">
            <a:noFill/>
          </a:ln>
        </p:spPr>
        <p:txBody>
          <a:bodyPr>
            <a:spAutoFit/>
          </a:bodyPr>
          <a:lstStyle/>
          <a:p>
            <a:r>
              <a:rPr lang="en-US" altLang="zh-CN" b="1" dirty="0">
                <a:latin typeface="宋体" panose="02000500000000000000" pitchFamily="2" charset="-122"/>
                <a:cs typeface="宋体" panose="02000500000000000000" pitchFamily="2" charset="-122"/>
              </a:rPr>
              <a:t>  ST  b,1</a:t>
            </a:r>
            <a:endParaRPr lang="en-US" altLang="zh-CN" b="1" dirty="0">
              <a:latin typeface="宋体" panose="02000500000000000000" pitchFamily="2" charset="-122"/>
              <a:cs typeface="宋体" panose="02000500000000000000" pitchFamily="2" charset="-122"/>
            </a:endParaRPr>
          </a:p>
          <a:p>
            <a:r>
              <a:rPr lang="en-US" altLang="zh-CN" b="1" dirty="0">
                <a:latin typeface="宋体" panose="02000500000000000000" pitchFamily="2" charset="-122"/>
                <a:cs typeface="宋体" panose="02000500000000000000" pitchFamily="2" charset="-122"/>
              </a:rPr>
              <a:t>  LD  R2,a</a:t>
            </a:r>
            <a:endParaRPr lang="en-US" altLang="zh-CN" b="1" dirty="0">
              <a:latin typeface="宋体" panose="02000500000000000000" pitchFamily="2" charset="-122"/>
              <a:cs typeface="宋体" panose="02000500000000000000" pitchFamily="2" charset="-122"/>
            </a:endParaRPr>
          </a:p>
          <a:p>
            <a:r>
              <a:rPr lang="en-US" altLang="zh-CN" b="1" dirty="0">
                <a:latin typeface="宋体" panose="02000500000000000000" pitchFamily="2" charset="-122"/>
                <a:cs typeface="宋体" panose="02000500000000000000" pitchFamily="2" charset="-122"/>
              </a:rPr>
              <a:t>  ST </a:t>
            </a:r>
            <a:r>
              <a:rPr lang="zh-CN" altLang="en-US" b="1" dirty="0">
                <a:latin typeface="宋体" panose="02000500000000000000" pitchFamily="2" charset="-122"/>
                <a:cs typeface="宋体" panose="02000500000000000000" pitchFamily="2" charset="-122"/>
              </a:rPr>
              <a:t> </a:t>
            </a:r>
            <a:r>
              <a:rPr lang="en-US" altLang="zh-CN" b="1" dirty="0">
                <a:latin typeface="宋体" panose="02000500000000000000" pitchFamily="2" charset="-122"/>
                <a:cs typeface="宋体" panose="02000500000000000000" pitchFamily="2" charset="-122"/>
              </a:rPr>
              <a:t>a,1</a:t>
            </a:r>
            <a:endParaRPr lang="en-US" altLang="zh-CN" b="1" dirty="0">
              <a:latin typeface="宋体" panose="02000500000000000000" pitchFamily="2" charset="-122"/>
              <a:cs typeface="宋体" panose="02000500000000000000" pitchFamily="2" charset="-122"/>
            </a:endParaRPr>
          </a:p>
          <a:p>
            <a:r>
              <a:rPr lang="en-US" altLang="zh-CN" b="1" dirty="0">
                <a:latin typeface="宋体" panose="02000500000000000000" pitchFamily="2" charset="-122"/>
                <a:cs typeface="宋体" panose="02000500000000000000" pitchFamily="2" charset="-122"/>
              </a:rPr>
              <a:t>  LD  R1,b</a:t>
            </a:r>
            <a:endParaRPr lang="en-US" altLang="zh-CN" b="1" dirty="0">
              <a:latin typeface="宋体" panose="02000500000000000000" pitchFamily="2" charset="-122"/>
              <a:cs typeface="宋体" panose="02000500000000000000" pitchFamily="2" charset="-122"/>
            </a:endParaRPr>
          </a:p>
          <a:p>
            <a:r>
              <a:rPr lang="zh-CN" altLang="en-US" b="1" dirty="0">
                <a:solidFill>
                  <a:srgbClr val="0070C0"/>
                </a:solidFill>
                <a:latin typeface="宋体" panose="02000500000000000000" pitchFamily="2" charset="-122"/>
                <a:cs typeface="宋体" panose="02000500000000000000" pitchFamily="2" charset="-122"/>
              </a:rPr>
              <a:t>（</a:t>
            </a:r>
            <a:r>
              <a:rPr lang="en-US" altLang="zh-CN" b="1" dirty="0">
                <a:solidFill>
                  <a:srgbClr val="0070C0"/>
                </a:solidFill>
                <a:latin typeface="宋体" panose="02000500000000000000" pitchFamily="2" charset="-122"/>
                <a:cs typeface="宋体" panose="02000500000000000000" pitchFamily="2" charset="-122"/>
              </a:rPr>
              <a:t>R1=1</a:t>
            </a:r>
            <a:r>
              <a:rPr lang="zh-CN" altLang="en-US" b="1" dirty="0">
                <a:solidFill>
                  <a:srgbClr val="0070C0"/>
                </a:solidFill>
                <a:latin typeface="宋体" panose="02000500000000000000" pitchFamily="2" charset="-122"/>
                <a:cs typeface="宋体" panose="02000500000000000000" pitchFamily="2" charset="-122"/>
              </a:rPr>
              <a:t>，</a:t>
            </a:r>
            <a:r>
              <a:rPr lang="en-US" altLang="zh-CN" b="1" dirty="0">
                <a:solidFill>
                  <a:srgbClr val="0070C0"/>
                </a:solidFill>
                <a:latin typeface="宋体" panose="02000500000000000000" pitchFamily="2" charset="-122"/>
                <a:cs typeface="宋体" panose="02000500000000000000" pitchFamily="2" charset="-122"/>
              </a:rPr>
              <a:t>R2=0</a:t>
            </a:r>
            <a:r>
              <a:rPr lang="zh-CN" altLang="en-US" b="1" dirty="0">
                <a:solidFill>
                  <a:srgbClr val="0070C0"/>
                </a:solidFill>
                <a:latin typeface="宋体" panose="02000500000000000000" pitchFamily="2" charset="-122"/>
                <a:cs typeface="宋体" panose="02000500000000000000" pitchFamily="2" charset="-122"/>
              </a:rPr>
              <a:t>）</a:t>
            </a:r>
            <a:r>
              <a:rPr lang="en-US" altLang="zh-CN" b="1" dirty="0">
                <a:latin typeface="宋体" panose="02000500000000000000" pitchFamily="2" charset="-122"/>
                <a:cs typeface="宋体" panose="02000500000000000000" pitchFamily="2" charset="-122"/>
              </a:rPr>
              <a:t> </a:t>
            </a:r>
            <a:endParaRPr lang="zh-CN" altLang="en-US" b="1" dirty="0">
              <a:latin typeface="宋体" panose="02000500000000000000" pitchFamily="2" charset="-122"/>
              <a:cs typeface="宋体" panose="02000500000000000000" pitchFamily="2" charset="-122"/>
            </a:endParaRPr>
          </a:p>
        </p:txBody>
      </p:sp>
      <p:sp>
        <p:nvSpPr>
          <p:cNvPr id="22535" name="TextBox 7"/>
          <p:cNvSpPr txBox="1"/>
          <p:nvPr/>
        </p:nvSpPr>
        <p:spPr>
          <a:xfrm>
            <a:off x="6183313" y="3895725"/>
            <a:ext cx="2481262" cy="1476375"/>
          </a:xfrm>
          <a:prstGeom prst="rect">
            <a:avLst/>
          </a:prstGeom>
          <a:noFill/>
          <a:ln w="9525">
            <a:noFill/>
          </a:ln>
        </p:spPr>
        <p:txBody>
          <a:bodyPr>
            <a:spAutoFit/>
          </a:bodyPr>
          <a:lstStyle/>
          <a:p>
            <a:r>
              <a:rPr lang="en-US" altLang="zh-CN" b="1" dirty="0">
                <a:latin typeface="宋体" panose="02000500000000000000" pitchFamily="2" charset="-122"/>
                <a:cs typeface="宋体" panose="02000500000000000000" pitchFamily="2" charset="-122"/>
              </a:rPr>
              <a:t> ST  b,1</a:t>
            </a:r>
            <a:endParaRPr lang="en-US" altLang="zh-CN" b="1" dirty="0">
              <a:latin typeface="宋体" panose="02000500000000000000" pitchFamily="2" charset="-122"/>
              <a:cs typeface="宋体" panose="02000500000000000000" pitchFamily="2" charset="-122"/>
            </a:endParaRPr>
          </a:p>
          <a:p>
            <a:r>
              <a:rPr lang="en-US" altLang="zh-CN" b="1" dirty="0">
                <a:latin typeface="宋体" panose="02000500000000000000" pitchFamily="2" charset="-122"/>
                <a:cs typeface="宋体" panose="02000500000000000000" pitchFamily="2" charset="-122"/>
              </a:rPr>
              <a:t> ST </a:t>
            </a:r>
            <a:r>
              <a:rPr lang="zh-CN" altLang="en-US" b="1" dirty="0">
                <a:latin typeface="宋体" panose="02000500000000000000" pitchFamily="2" charset="-122"/>
                <a:cs typeface="宋体" panose="02000500000000000000" pitchFamily="2" charset="-122"/>
              </a:rPr>
              <a:t> </a:t>
            </a:r>
            <a:r>
              <a:rPr lang="en-US" altLang="zh-CN" b="1" dirty="0">
                <a:latin typeface="宋体" panose="02000500000000000000" pitchFamily="2" charset="-122"/>
                <a:cs typeface="宋体" panose="02000500000000000000" pitchFamily="2" charset="-122"/>
              </a:rPr>
              <a:t>a,1</a:t>
            </a:r>
            <a:endParaRPr lang="en-US" altLang="zh-CN" b="1" dirty="0">
              <a:latin typeface="宋体" panose="02000500000000000000" pitchFamily="2" charset="-122"/>
              <a:cs typeface="宋体" panose="02000500000000000000" pitchFamily="2" charset="-122"/>
            </a:endParaRPr>
          </a:p>
          <a:p>
            <a:r>
              <a:rPr lang="en-US" altLang="zh-CN" b="1" dirty="0">
                <a:latin typeface="宋体" panose="02000500000000000000" pitchFamily="2" charset="-122"/>
                <a:cs typeface="宋体" panose="02000500000000000000" pitchFamily="2" charset="-122"/>
              </a:rPr>
              <a:t> LD  R2,a</a:t>
            </a:r>
            <a:endParaRPr lang="en-US" altLang="zh-CN" b="1" dirty="0">
              <a:latin typeface="宋体" panose="02000500000000000000" pitchFamily="2" charset="-122"/>
              <a:cs typeface="宋体" panose="02000500000000000000" pitchFamily="2" charset="-122"/>
            </a:endParaRPr>
          </a:p>
          <a:p>
            <a:r>
              <a:rPr lang="en-US" altLang="zh-CN" b="1" dirty="0">
                <a:latin typeface="宋体" panose="02000500000000000000" pitchFamily="2" charset="-122"/>
                <a:cs typeface="宋体" panose="02000500000000000000" pitchFamily="2" charset="-122"/>
              </a:rPr>
              <a:t> LD  R1,b</a:t>
            </a:r>
            <a:endParaRPr lang="en-US" altLang="zh-CN" b="1" dirty="0">
              <a:latin typeface="宋体" panose="02000500000000000000" pitchFamily="2" charset="-122"/>
              <a:cs typeface="宋体" panose="02000500000000000000" pitchFamily="2" charset="-122"/>
            </a:endParaRPr>
          </a:p>
          <a:p>
            <a:r>
              <a:rPr lang="zh-CN" altLang="en-US" b="1" dirty="0">
                <a:solidFill>
                  <a:srgbClr val="0070C0"/>
                </a:solidFill>
                <a:latin typeface="宋体" panose="02000500000000000000" pitchFamily="2" charset="-122"/>
                <a:cs typeface="宋体" panose="02000500000000000000" pitchFamily="2" charset="-122"/>
              </a:rPr>
              <a:t>（</a:t>
            </a:r>
            <a:r>
              <a:rPr lang="en-US" altLang="zh-CN" b="1" dirty="0">
                <a:solidFill>
                  <a:srgbClr val="0070C0"/>
                </a:solidFill>
                <a:latin typeface="宋体" panose="02000500000000000000" pitchFamily="2" charset="-122"/>
                <a:cs typeface="宋体" panose="02000500000000000000" pitchFamily="2" charset="-122"/>
              </a:rPr>
              <a:t>R1=1</a:t>
            </a:r>
            <a:r>
              <a:rPr lang="zh-CN" altLang="en-US" b="1" dirty="0">
                <a:solidFill>
                  <a:srgbClr val="0070C0"/>
                </a:solidFill>
                <a:latin typeface="宋体" panose="02000500000000000000" pitchFamily="2" charset="-122"/>
                <a:cs typeface="宋体" panose="02000500000000000000" pitchFamily="2" charset="-122"/>
              </a:rPr>
              <a:t>，</a:t>
            </a:r>
            <a:r>
              <a:rPr lang="en-US" altLang="zh-CN" b="1" dirty="0">
                <a:solidFill>
                  <a:srgbClr val="0070C0"/>
                </a:solidFill>
                <a:latin typeface="宋体" panose="02000500000000000000" pitchFamily="2" charset="-122"/>
                <a:cs typeface="宋体" panose="02000500000000000000" pitchFamily="2" charset="-122"/>
              </a:rPr>
              <a:t>R2=1</a:t>
            </a:r>
            <a:r>
              <a:rPr lang="zh-CN" altLang="en-US" b="1" dirty="0">
                <a:solidFill>
                  <a:srgbClr val="0070C0"/>
                </a:solidFill>
                <a:latin typeface="宋体" panose="02000500000000000000" pitchFamily="2" charset="-122"/>
                <a:cs typeface="宋体" panose="02000500000000000000" pitchFamily="2" charset="-122"/>
              </a:rPr>
              <a:t>）</a:t>
            </a:r>
            <a:r>
              <a:rPr lang="en-US" altLang="zh-CN" b="1" dirty="0">
                <a:latin typeface="宋体" panose="02000500000000000000" pitchFamily="2" charset="-122"/>
                <a:cs typeface="宋体" panose="02000500000000000000" pitchFamily="2" charset="-122"/>
              </a:rPr>
              <a:t> </a:t>
            </a:r>
            <a:endParaRPr lang="zh-CN" altLang="en-US" b="1" dirty="0">
              <a:latin typeface="宋体" panose="02000500000000000000" pitchFamily="2" charset="-122"/>
              <a:cs typeface="宋体" panose="02000500000000000000" pitchFamily="2" charset="-122"/>
            </a:endParaRPr>
          </a:p>
        </p:txBody>
      </p:sp>
      <p:sp>
        <p:nvSpPr>
          <p:cNvPr id="22536" name="TextBox 8"/>
          <p:cNvSpPr txBox="1"/>
          <p:nvPr/>
        </p:nvSpPr>
        <p:spPr>
          <a:xfrm>
            <a:off x="8929688" y="3895725"/>
            <a:ext cx="2482850" cy="1476375"/>
          </a:xfrm>
          <a:prstGeom prst="rect">
            <a:avLst/>
          </a:prstGeom>
          <a:noFill/>
          <a:ln w="9525">
            <a:noFill/>
          </a:ln>
        </p:spPr>
        <p:txBody>
          <a:bodyPr>
            <a:spAutoFit/>
          </a:bodyPr>
          <a:lstStyle/>
          <a:p>
            <a:r>
              <a:rPr lang="en-US" altLang="zh-CN" b="1" dirty="0">
                <a:solidFill>
                  <a:srgbClr val="FF0000"/>
                </a:solidFill>
                <a:latin typeface="宋体" panose="02000500000000000000" pitchFamily="2" charset="-122"/>
                <a:cs typeface="宋体" panose="02000500000000000000" pitchFamily="2" charset="-122"/>
              </a:rPr>
              <a:t> LD  R2,a</a:t>
            </a:r>
            <a:endParaRPr lang="en-US" altLang="zh-CN" b="1" dirty="0">
              <a:solidFill>
                <a:srgbClr val="FF0000"/>
              </a:solidFill>
              <a:latin typeface="宋体" panose="02000500000000000000" pitchFamily="2" charset="-122"/>
              <a:cs typeface="宋体" panose="02000500000000000000" pitchFamily="2" charset="-122"/>
            </a:endParaRPr>
          </a:p>
          <a:p>
            <a:r>
              <a:rPr lang="en-US" altLang="zh-CN" b="1" dirty="0">
                <a:solidFill>
                  <a:srgbClr val="FF0000"/>
                </a:solidFill>
                <a:latin typeface="宋体" panose="02000500000000000000" pitchFamily="2" charset="-122"/>
                <a:cs typeface="宋体" panose="02000500000000000000" pitchFamily="2" charset="-122"/>
              </a:rPr>
              <a:t> LD  R1,b</a:t>
            </a:r>
            <a:endParaRPr lang="en-US" altLang="zh-CN" b="1" dirty="0">
              <a:solidFill>
                <a:srgbClr val="FF0000"/>
              </a:solidFill>
              <a:latin typeface="宋体" panose="02000500000000000000" pitchFamily="2" charset="-122"/>
              <a:cs typeface="宋体" panose="02000500000000000000" pitchFamily="2" charset="-122"/>
            </a:endParaRPr>
          </a:p>
          <a:p>
            <a:r>
              <a:rPr lang="en-US" altLang="zh-CN" b="1" dirty="0">
                <a:solidFill>
                  <a:srgbClr val="FF0000"/>
                </a:solidFill>
                <a:latin typeface="宋体" panose="02000500000000000000" pitchFamily="2" charset="-122"/>
                <a:cs typeface="宋体" panose="02000500000000000000" pitchFamily="2" charset="-122"/>
              </a:rPr>
              <a:t> ST  b,1</a:t>
            </a:r>
            <a:endParaRPr lang="en-US" altLang="zh-CN" b="1" dirty="0">
              <a:solidFill>
                <a:srgbClr val="FF0000"/>
              </a:solidFill>
              <a:latin typeface="宋体" panose="02000500000000000000" pitchFamily="2" charset="-122"/>
              <a:cs typeface="宋体" panose="02000500000000000000" pitchFamily="2" charset="-122"/>
            </a:endParaRPr>
          </a:p>
          <a:p>
            <a:r>
              <a:rPr lang="en-US" altLang="zh-CN" b="1" dirty="0">
                <a:solidFill>
                  <a:srgbClr val="FF0000"/>
                </a:solidFill>
                <a:latin typeface="宋体" panose="02000500000000000000" pitchFamily="2" charset="-122"/>
                <a:cs typeface="宋体" panose="02000500000000000000" pitchFamily="2" charset="-122"/>
              </a:rPr>
              <a:t> ST </a:t>
            </a:r>
            <a:r>
              <a:rPr lang="zh-CN" altLang="en-US" b="1" dirty="0">
                <a:solidFill>
                  <a:srgbClr val="FF0000"/>
                </a:solidFill>
                <a:latin typeface="宋体" panose="02000500000000000000" pitchFamily="2" charset="-122"/>
                <a:cs typeface="宋体" panose="02000500000000000000" pitchFamily="2" charset="-122"/>
              </a:rPr>
              <a:t> </a:t>
            </a:r>
            <a:r>
              <a:rPr lang="en-US" altLang="zh-CN" b="1" dirty="0">
                <a:solidFill>
                  <a:srgbClr val="FF0000"/>
                </a:solidFill>
                <a:latin typeface="宋体" panose="02000500000000000000" pitchFamily="2" charset="-122"/>
                <a:cs typeface="宋体" panose="02000500000000000000" pitchFamily="2" charset="-122"/>
              </a:rPr>
              <a:t>a,1</a:t>
            </a:r>
            <a:endParaRPr lang="en-US" altLang="zh-CN" b="1" dirty="0">
              <a:solidFill>
                <a:srgbClr val="FF0000"/>
              </a:solidFill>
              <a:latin typeface="宋体" panose="02000500000000000000" pitchFamily="2" charset="-122"/>
              <a:cs typeface="宋体" panose="02000500000000000000" pitchFamily="2" charset="-122"/>
            </a:endParaRPr>
          </a:p>
          <a:p>
            <a:r>
              <a:rPr lang="zh-CN" altLang="en-US" b="1" dirty="0">
                <a:solidFill>
                  <a:srgbClr val="FF0000"/>
                </a:solidFill>
                <a:latin typeface="宋体" panose="02000500000000000000" pitchFamily="2" charset="-122"/>
                <a:cs typeface="宋体" panose="02000500000000000000" pitchFamily="2" charset="-122"/>
              </a:rPr>
              <a:t>（</a:t>
            </a:r>
            <a:r>
              <a:rPr lang="en-US" altLang="zh-CN" b="1" dirty="0">
                <a:solidFill>
                  <a:srgbClr val="FF0000"/>
                </a:solidFill>
                <a:latin typeface="宋体" panose="02000500000000000000" pitchFamily="2" charset="-122"/>
                <a:cs typeface="宋体" panose="02000500000000000000" pitchFamily="2" charset="-122"/>
              </a:rPr>
              <a:t>R1=0</a:t>
            </a:r>
            <a:r>
              <a:rPr lang="zh-CN" altLang="en-US" b="1" dirty="0">
                <a:solidFill>
                  <a:srgbClr val="FF0000"/>
                </a:solidFill>
                <a:latin typeface="宋体" panose="02000500000000000000" pitchFamily="2" charset="-122"/>
                <a:cs typeface="宋体" panose="02000500000000000000" pitchFamily="2" charset="-122"/>
              </a:rPr>
              <a:t>，</a:t>
            </a:r>
            <a:r>
              <a:rPr lang="en-US" altLang="zh-CN" b="1" dirty="0">
                <a:solidFill>
                  <a:srgbClr val="FF0000"/>
                </a:solidFill>
                <a:latin typeface="宋体" panose="02000500000000000000" pitchFamily="2" charset="-122"/>
                <a:cs typeface="宋体" panose="02000500000000000000" pitchFamily="2" charset="-122"/>
              </a:rPr>
              <a:t>R2=0</a:t>
            </a:r>
            <a:r>
              <a:rPr lang="zh-CN" altLang="en-US" b="1" dirty="0">
                <a:solidFill>
                  <a:srgbClr val="FF0000"/>
                </a:solidFill>
                <a:latin typeface="宋体" panose="02000500000000000000" pitchFamily="2" charset="-122"/>
                <a:cs typeface="宋体" panose="02000500000000000000" pitchFamily="2" charset="-122"/>
              </a:rPr>
              <a:t>）</a:t>
            </a:r>
            <a:r>
              <a:rPr lang="en-US" altLang="zh-CN" b="1" dirty="0">
                <a:solidFill>
                  <a:srgbClr val="FF0000"/>
                </a:solidFill>
                <a:latin typeface="宋体" panose="02000500000000000000" pitchFamily="2" charset="-122"/>
                <a:cs typeface="宋体" panose="02000500000000000000" pitchFamily="2" charset="-122"/>
              </a:rPr>
              <a:t> </a:t>
            </a:r>
            <a:endParaRPr lang="zh-CN" altLang="en-US" b="1" dirty="0">
              <a:solidFill>
                <a:srgbClr val="FF0000"/>
              </a:solidFill>
              <a:latin typeface="宋体" panose="02000500000000000000" pitchFamily="2" charset="-122"/>
              <a:cs typeface="宋体" panose="02000500000000000000" pitchFamily="2" charset="-122"/>
            </a:endParaRPr>
          </a:p>
        </p:txBody>
      </p:sp>
      <p:pic>
        <p:nvPicPr>
          <p:cNvPr id="3" name="图片 2"/>
          <p:cNvPicPr>
            <a:picLocks noChangeAspect="1"/>
          </p:cNvPicPr>
          <p:nvPr/>
        </p:nvPicPr>
        <p:blipFill>
          <a:blip r:embed="rId1"/>
          <a:stretch>
            <a:fillRect/>
          </a:stretch>
        </p:blipFill>
        <p:spPr>
          <a:xfrm>
            <a:off x="3575050" y="1268730"/>
            <a:ext cx="4222115" cy="22269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3555" name="Rectangle 2"/>
          <p:cNvSpPr>
            <a:spLocks noGrp="1"/>
          </p:cNvSpPr>
          <p:nvPr>
            <p:ph type="title"/>
          </p:nvPr>
        </p:nvSpPr>
        <p:spPr>
          <a:xfrm>
            <a:off x="688975" y="0"/>
            <a:ext cx="10972800" cy="1143000"/>
          </a:xfrm>
        </p:spPr>
        <p:txBody>
          <a:bodyPr vert="horz" wrap="square" lIns="91440" tIns="45720" rIns="91440" bIns="45720" anchor="ctr" anchorCtr="0"/>
          <a:lstStyle/>
          <a:p>
            <a:pPr eaLnBrk="1" hangingPunct="1"/>
            <a:r>
              <a:rPr lang="zh-CN" altLang="en-US" dirty="0"/>
              <a:t>并行程序模型</a:t>
            </a:r>
            <a:endParaRPr lang="zh-CN" altLang="en-US" dirty="0"/>
          </a:p>
        </p:txBody>
      </p:sp>
      <p:sp>
        <p:nvSpPr>
          <p:cNvPr id="20484" name="Rectangle 3"/>
          <p:cNvSpPr>
            <a:spLocks noGrp="1" noChangeArrowheads="1"/>
          </p:cNvSpPr>
          <p:nvPr>
            <p:ph idx="1"/>
          </p:nvPr>
        </p:nvSpPr>
        <p:spPr>
          <a:xfrm>
            <a:off x="471488" y="1196975"/>
            <a:ext cx="11207750" cy="525621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程序模型</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rPr>
              <a:t>一个进程</a:t>
            </a:r>
            <a:r>
              <a:rPr kumimoji="0" lang="en-US" altLang="zh-CN" sz="1600" b="1" i="0" u="none" strike="noStrike" kern="0" cap="none" spc="0" normalizeH="0" baseline="0" noProof="0" dirty="0" smtClean="0">
                <a:ln>
                  <a:noFill/>
                </a:ln>
                <a:solidFill>
                  <a:schemeClr val="tx1"/>
                </a:solidFill>
                <a:effectLst/>
                <a:uLnTx/>
                <a:uFillTx/>
                <a:latin typeface="+mn-ea"/>
                <a:ea typeface="+mn-ea"/>
              </a:rPr>
              <a:t>P</a:t>
            </a:r>
            <a:r>
              <a:rPr kumimoji="0" lang="zh-CN" altLang="en-US" sz="1600" b="1" i="0" u="none" strike="noStrike" kern="0" cap="none" spc="0" normalizeH="0" baseline="0" noProof="0" dirty="0" smtClean="0">
                <a:ln>
                  <a:noFill/>
                </a:ln>
                <a:solidFill>
                  <a:schemeClr val="tx1"/>
                </a:solidFill>
                <a:effectLst/>
                <a:uLnTx/>
                <a:uFillTx/>
                <a:latin typeface="+mn-ea"/>
                <a:ea typeface="+mn-ea"/>
              </a:rPr>
              <a:t>是一个二元组</a:t>
            </a:r>
            <a:r>
              <a:rPr kumimoji="0" lang="en-US" altLang="zh-CN" sz="1600" b="1" i="0" u="none" strike="noStrike" kern="0" cap="none" spc="0" normalizeH="0" baseline="0" noProof="0" dirty="0" smtClean="0">
                <a:ln>
                  <a:noFill/>
                </a:ln>
                <a:solidFill>
                  <a:schemeClr val="tx1"/>
                </a:solidFill>
                <a:effectLst/>
                <a:uLnTx/>
                <a:uFillTx/>
                <a:latin typeface="+mn-ea"/>
                <a:ea typeface="+mn-ea"/>
              </a:rPr>
              <a:t>&lt;V(P),PO(P)&gt;</a:t>
            </a:r>
            <a:r>
              <a:rPr kumimoji="0" lang="zh-CN" altLang="en-US" sz="1600" b="1" i="0" u="none" strike="noStrike" kern="0" cap="none" spc="0" normalizeH="0" baseline="0" noProof="0" dirty="0" smtClean="0">
                <a:ln>
                  <a:noFill/>
                </a:ln>
                <a:solidFill>
                  <a:schemeClr val="tx1"/>
                </a:solidFill>
                <a:effectLst/>
                <a:uLnTx/>
                <a:uFillTx/>
                <a:latin typeface="+mn-ea"/>
                <a:ea typeface="+mn-ea"/>
              </a:rPr>
              <a:t>，其中</a:t>
            </a:r>
            <a:r>
              <a:rPr kumimoji="0" lang="en-US" altLang="zh-CN" sz="1600" b="1" i="0" u="none" strike="noStrike" kern="0" cap="none" spc="0" normalizeH="0" baseline="0" noProof="0" dirty="0" smtClean="0">
                <a:ln>
                  <a:noFill/>
                </a:ln>
                <a:solidFill>
                  <a:schemeClr val="tx1"/>
                </a:solidFill>
                <a:effectLst/>
                <a:uLnTx/>
                <a:uFillTx/>
                <a:latin typeface="+mn-ea"/>
                <a:ea typeface="+mn-ea"/>
              </a:rPr>
              <a:t>V(P)</a:t>
            </a:r>
            <a:r>
              <a:rPr kumimoji="0" lang="zh-CN" altLang="en-US" sz="1600" b="1" i="0" u="none" strike="noStrike" kern="0" cap="none" spc="0" normalizeH="0" baseline="0" noProof="0" dirty="0" smtClean="0">
                <a:ln>
                  <a:noFill/>
                </a:ln>
                <a:solidFill>
                  <a:schemeClr val="tx1"/>
                </a:solidFill>
                <a:effectLst/>
                <a:uLnTx/>
                <a:uFillTx/>
                <a:latin typeface="+mn-ea"/>
                <a:ea typeface="+mn-ea"/>
              </a:rPr>
              <a:t>是</a:t>
            </a:r>
            <a:r>
              <a:rPr kumimoji="0" lang="en-US" altLang="zh-CN" sz="1600" b="1" i="0" u="none" strike="noStrike" kern="0" cap="none" spc="0" normalizeH="0" baseline="0" noProof="0" dirty="0" smtClean="0">
                <a:ln>
                  <a:noFill/>
                </a:ln>
                <a:solidFill>
                  <a:schemeClr val="tx1"/>
                </a:solidFill>
                <a:effectLst/>
                <a:uLnTx/>
                <a:uFillTx/>
                <a:latin typeface="+mn-ea"/>
                <a:ea typeface="+mn-ea"/>
              </a:rPr>
              <a:t>LOAD</a:t>
            </a:r>
            <a:r>
              <a:rPr kumimoji="0" lang="zh-CN" altLang="en-US" sz="1600" b="1" i="0" u="none" strike="noStrike" kern="0" cap="none" spc="0" normalizeH="0" baseline="0" noProof="0" dirty="0" smtClean="0">
                <a:ln>
                  <a:noFill/>
                </a:ln>
                <a:solidFill>
                  <a:schemeClr val="tx1"/>
                </a:solidFill>
                <a:effectLst/>
                <a:uLnTx/>
                <a:uFillTx/>
                <a:latin typeface="+mn-ea"/>
                <a:ea typeface="+mn-ea"/>
              </a:rPr>
              <a:t>和</a:t>
            </a:r>
            <a:r>
              <a:rPr kumimoji="0" lang="en-US" altLang="zh-CN" sz="1600" b="1" i="0" u="none" strike="noStrike" kern="0" cap="none" spc="0" normalizeH="0" baseline="0" noProof="0" dirty="0" smtClean="0">
                <a:ln>
                  <a:noFill/>
                </a:ln>
                <a:solidFill>
                  <a:schemeClr val="tx1"/>
                </a:solidFill>
                <a:effectLst/>
                <a:uLnTx/>
                <a:uFillTx/>
                <a:latin typeface="+mn-ea"/>
                <a:ea typeface="+mn-ea"/>
              </a:rPr>
              <a:t>STORE</a:t>
            </a:r>
            <a:r>
              <a:rPr kumimoji="0" lang="zh-CN" altLang="en-US" sz="1600" b="1" i="0" u="none" strike="noStrike" kern="0" cap="none" spc="0" normalizeH="0" baseline="0" noProof="0" dirty="0" smtClean="0">
                <a:ln>
                  <a:noFill/>
                </a:ln>
                <a:solidFill>
                  <a:schemeClr val="tx1"/>
                </a:solidFill>
                <a:effectLst/>
                <a:uLnTx/>
                <a:uFillTx/>
                <a:latin typeface="+mn-ea"/>
                <a:ea typeface="+mn-ea"/>
              </a:rPr>
              <a:t>指令的集合，</a:t>
            </a:r>
            <a:r>
              <a:rPr kumimoji="0" lang="en-US" altLang="zh-CN" sz="1600" b="1" i="0" u="none" strike="noStrike" kern="0" cap="none" spc="0" normalizeH="0" baseline="0" noProof="0" dirty="0" smtClean="0">
                <a:ln>
                  <a:noFill/>
                </a:ln>
                <a:solidFill>
                  <a:schemeClr val="tx1"/>
                </a:solidFill>
                <a:effectLst/>
                <a:uLnTx/>
                <a:uFillTx/>
                <a:latin typeface="+mn-ea"/>
                <a:ea typeface="+mn-ea"/>
              </a:rPr>
              <a:t>PO(P)</a:t>
            </a:r>
            <a:r>
              <a:rPr kumimoji="0" lang="zh-CN" altLang="en-US" sz="1600" b="1" i="0" u="none" strike="noStrike" kern="0" cap="none" spc="0" normalizeH="0" baseline="0" noProof="0" dirty="0" smtClean="0">
                <a:ln>
                  <a:noFill/>
                </a:ln>
                <a:solidFill>
                  <a:schemeClr val="tx1"/>
                </a:solidFill>
                <a:effectLst/>
                <a:uLnTx/>
                <a:uFillTx/>
                <a:latin typeface="+mn-ea"/>
                <a:ea typeface="+mn-ea"/>
              </a:rPr>
              <a:t>是</a:t>
            </a:r>
            <a:r>
              <a:rPr kumimoji="0" lang="en-US" altLang="zh-CN" sz="1600" b="1" i="0" u="none" strike="noStrike" kern="0" cap="none" spc="0" normalizeH="0" baseline="0" noProof="0" dirty="0" smtClean="0">
                <a:ln>
                  <a:noFill/>
                </a:ln>
                <a:solidFill>
                  <a:schemeClr val="tx1"/>
                </a:solidFill>
                <a:effectLst/>
                <a:uLnTx/>
                <a:uFillTx/>
                <a:latin typeface="+mn-ea"/>
                <a:ea typeface="+mn-ea"/>
              </a:rPr>
              <a:t>V(P)</a:t>
            </a:r>
            <a:r>
              <a:rPr kumimoji="0" lang="zh-CN" altLang="zh-CN" sz="1600" b="1" i="0" u="none" strike="noStrike" kern="0" cap="none" spc="0" normalizeH="0" baseline="0" noProof="0" dirty="0" smtClean="0">
                <a:ln>
                  <a:noFill/>
                </a:ln>
                <a:solidFill>
                  <a:schemeClr val="tx1"/>
                </a:solidFill>
                <a:effectLst/>
                <a:uLnTx/>
                <a:uFillTx/>
                <a:latin typeface="+mn-ea"/>
                <a:ea typeface="+mn-ea"/>
              </a:rPr>
              <a:t>上的一个全序关系</a:t>
            </a:r>
            <a:endParaRPr kumimoji="0" lang="zh-CN" altLang="zh-CN"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zh-CN" sz="1600" b="1" i="0" u="none" strike="noStrike" kern="0" cap="none" spc="0" normalizeH="0" baseline="0" noProof="0" dirty="0" smtClean="0">
                <a:ln>
                  <a:noFill/>
                </a:ln>
                <a:solidFill>
                  <a:schemeClr val="tx1"/>
                </a:solidFill>
                <a:effectLst/>
                <a:uLnTx/>
                <a:uFillTx/>
                <a:latin typeface="+mn-ea"/>
                <a:ea typeface="+mn-ea"/>
              </a:rPr>
              <a:t>由</a:t>
            </a:r>
            <a:r>
              <a:rPr kumimoji="0" lang="en-US" altLang="zh-CN" sz="1600" b="1" i="0" u="none" strike="noStrike" kern="0" cap="none" spc="0" normalizeH="0" baseline="0" noProof="0" dirty="0" smtClean="0">
                <a:ln>
                  <a:noFill/>
                </a:ln>
                <a:solidFill>
                  <a:schemeClr val="tx1"/>
                </a:solidFill>
                <a:effectLst/>
                <a:uLnTx/>
                <a:uFillTx/>
                <a:latin typeface="+mn-ea"/>
                <a:ea typeface="+mn-ea"/>
              </a:rPr>
              <a:t>N</a:t>
            </a:r>
            <a:r>
              <a:rPr kumimoji="0" lang="zh-CN" altLang="zh-CN" sz="1600" b="1" i="0" u="none" strike="noStrike" kern="0" cap="none" spc="0" normalizeH="0" baseline="0" noProof="0" dirty="0" smtClean="0">
                <a:ln>
                  <a:noFill/>
                </a:ln>
                <a:solidFill>
                  <a:schemeClr val="tx1"/>
                </a:solidFill>
                <a:effectLst/>
                <a:uLnTx/>
                <a:uFillTx/>
                <a:latin typeface="+mn-ea"/>
                <a:ea typeface="+mn-ea"/>
              </a:rPr>
              <a:t>个进程</a:t>
            </a:r>
            <a:r>
              <a:rPr kumimoji="0" lang="en-US" altLang="zh-CN" sz="1600" b="1" i="0" u="none" strike="noStrike" kern="0" cap="none" spc="0" normalizeH="0" baseline="0" noProof="0" dirty="0" smtClean="0">
                <a:ln>
                  <a:noFill/>
                </a:ln>
                <a:solidFill>
                  <a:schemeClr val="tx1"/>
                </a:solidFill>
                <a:effectLst/>
                <a:uLnTx/>
                <a:uFillTx/>
                <a:latin typeface="+mn-ea"/>
                <a:ea typeface="+mn-ea"/>
              </a:rPr>
              <a:t>P1,P2,…,</a:t>
            </a:r>
            <a:r>
              <a:rPr kumimoji="0" lang="en-US" altLang="zh-CN" sz="1600" b="1" i="0" u="none" strike="noStrike" kern="0" cap="none" spc="0" normalizeH="0" baseline="0" noProof="0" dirty="0" err="1" smtClean="0">
                <a:ln>
                  <a:noFill/>
                </a:ln>
                <a:solidFill>
                  <a:schemeClr val="tx1"/>
                </a:solidFill>
                <a:effectLst/>
                <a:uLnTx/>
                <a:uFillTx/>
                <a:latin typeface="+mn-ea"/>
                <a:ea typeface="+mn-ea"/>
              </a:rPr>
              <a:t>Pn</a:t>
            </a:r>
            <a:r>
              <a:rPr kumimoji="0" lang="zh-CN" altLang="zh-CN" sz="1600" b="1" i="0" u="none" strike="noStrike" kern="0" cap="none" spc="0" normalizeH="0" baseline="0" noProof="0" dirty="0" smtClean="0">
                <a:ln>
                  <a:noFill/>
                </a:ln>
                <a:solidFill>
                  <a:schemeClr val="tx1"/>
                </a:solidFill>
                <a:effectLst/>
                <a:uLnTx/>
                <a:uFillTx/>
                <a:latin typeface="+mn-ea"/>
                <a:ea typeface="+mn-ea"/>
              </a:rPr>
              <a:t>组成的程序</a:t>
            </a:r>
            <a:r>
              <a:rPr kumimoji="0" lang="en-US" altLang="zh-CN" sz="1600" b="1" i="0" u="none" strike="noStrike" kern="0" cap="none" spc="0" normalizeH="0" baseline="0" noProof="0" dirty="0" smtClean="0">
                <a:ln>
                  <a:noFill/>
                </a:ln>
                <a:solidFill>
                  <a:schemeClr val="tx1"/>
                </a:solidFill>
                <a:effectLst/>
                <a:uLnTx/>
                <a:uFillTx/>
                <a:latin typeface="+mn-ea"/>
                <a:ea typeface="+mn-ea"/>
              </a:rPr>
              <a:t>PRG(P1,P2,…,</a:t>
            </a:r>
            <a:r>
              <a:rPr kumimoji="0" lang="en-US" altLang="zh-CN" sz="1600" b="1" i="0" u="none" strike="noStrike" kern="0" cap="none" spc="0" normalizeH="0" baseline="0" noProof="0" dirty="0" err="1" smtClean="0">
                <a:ln>
                  <a:noFill/>
                </a:ln>
                <a:solidFill>
                  <a:schemeClr val="tx1"/>
                </a:solidFill>
                <a:effectLst/>
                <a:uLnTx/>
                <a:uFillTx/>
                <a:latin typeface="+mn-ea"/>
                <a:ea typeface="+mn-ea"/>
              </a:rPr>
              <a:t>Pn</a:t>
            </a:r>
            <a:r>
              <a:rPr kumimoji="0" lang="en-US" altLang="zh-CN" sz="1600" b="1" i="0" u="none" strike="noStrike" kern="0" cap="none" spc="0" normalizeH="0" baseline="0" noProof="0" dirty="0" smtClean="0">
                <a:ln>
                  <a:noFill/>
                </a:ln>
                <a:solidFill>
                  <a:schemeClr val="tx1"/>
                </a:solidFill>
                <a:effectLst/>
                <a:uLnTx/>
                <a:uFillTx/>
                <a:latin typeface="+mn-ea"/>
                <a:ea typeface="+mn-ea"/>
              </a:rPr>
              <a:t>)</a:t>
            </a:r>
            <a:r>
              <a:rPr kumimoji="0" lang="zh-CN" altLang="zh-CN" sz="1600" b="1" i="0" u="none" strike="noStrike" kern="0" cap="none" spc="0" normalizeH="0" baseline="0" noProof="0" dirty="0" smtClean="0">
                <a:ln>
                  <a:noFill/>
                </a:ln>
                <a:solidFill>
                  <a:schemeClr val="tx1"/>
                </a:solidFill>
                <a:effectLst/>
                <a:uLnTx/>
                <a:uFillTx/>
                <a:latin typeface="+mn-ea"/>
                <a:ea typeface="+mn-ea"/>
              </a:rPr>
              <a:t>是一个二元组</a:t>
            </a:r>
            <a:r>
              <a:rPr kumimoji="0" lang="en-US" altLang="zh-CN" sz="1600" b="1" i="0" u="none" strike="noStrike" kern="0" cap="none" spc="0" normalizeH="0" baseline="0" noProof="0" dirty="0" smtClean="0">
                <a:ln>
                  <a:noFill/>
                </a:ln>
                <a:solidFill>
                  <a:schemeClr val="tx1"/>
                </a:solidFill>
                <a:effectLst/>
                <a:uLnTx/>
                <a:uFillTx/>
                <a:latin typeface="+mn-ea"/>
                <a:ea typeface="+mn-ea"/>
              </a:rPr>
              <a:t>&lt;V(PRG),PO(PRG)&gt;</a:t>
            </a:r>
            <a:r>
              <a:rPr kumimoji="0" lang="zh-CN" altLang="en-US" sz="1600" b="1" i="0" u="none" strike="noStrike" kern="0" cap="none" spc="0" normalizeH="0" baseline="0" noProof="0" dirty="0" smtClean="0">
                <a:ln>
                  <a:noFill/>
                </a:ln>
                <a:solidFill>
                  <a:schemeClr val="tx1"/>
                </a:solidFill>
                <a:effectLst/>
                <a:uLnTx/>
                <a:uFillTx/>
                <a:latin typeface="+mn-ea"/>
                <a:ea typeface="+mn-ea"/>
              </a:rPr>
              <a:t>，其中</a:t>
            </a:r>
            <a:r>
              <a:rPr kumimoji="0" lang="en-US" altLang="zh-CN" sz="1600" b="1" i="0" u="none" strike="noStrike" kern="0" cap="none" spc="0" normalizeH="0" baseline="0" noProof="0" dirty="0" smtClean="0">
                <a:ln>
                  <a:noFill/>
                </a:ln>
                <a:solidFill>
                  <a:schemeClr val="tx1"/>
                </a:solidFill>
                <a:effectLst/>
                <a:uLnTx/>
                <a:uFillTx/>
                <a:latin typeface="+mn-ea"/>
                <a:ea typeface="+mn-ea"/>
              </a:rPr>
              <a:t>V(PRG) = V(P1) </a:t>
            </a:r>
            <a:r>
              <a:rPr lang="en-US" altLang="zh-CN" sz="1600" dirty="0">
                <a:solidFill>
                  <a:schemeClr val="tx1"/>
                </a:solidFill>
                <a:latin typeface="宋体" panose="02000500000000000000" pitchFamily="2" charset="-122"/>
                <a:ea typeface="宋体" panose="02000500000000000000" pitchFamily="2" charset="-122"/>
                <a:cs typeface="宋体" panose="02000500000000000000" pitchFamily="2" charset="-122"/>
                <a:sym typeface="+mn-ea"/>
              </a:rPr>
              <a:t>∪</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 V(P2) </a:t>
            </a:r>
            <a:r>
              <a:rPr lang="en-US" altLang="zh-CN" sz="1600" dirty="0">
                <a:solidFill>
                  <a:schemeClr val="tx1"/>
                </a:solidFill>
                <a:latin typeface="宋体" panose="02000500000000000000" pitchFamily="2" charset="-122"/>
                <a:ea typeface="宋体" panose="02000500000000000000" pitchFamily="2" charset="-122"/>
                <a:cs typeface="宋体" panose="02000500000000000000" pitchFamily="2" charset="-122"/>
                <a:sym typeface="+mn-ea"/>
              </a:rPr>
              <a:t>∪ </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 </a:t>
            </a:r>
            <a:r>
              <a:rPr lang="en-US" altLang="zh-CN" sz="1600" dirty="0">
                <a:solidFill>
                  <a:schemeClr val="tx1"/>
                </a:solidFill>
                <a:latin typeface="宋体" panose="02000500000000000000" pitchFamily="2" charset="-122"/>
                <a:ea typeface="宋体" panose="02000500000000000000" pitchFamily="2" charset="-122"/>
                <a:cs typeface="宋体" panose="02000500000000000000" pitchFamily="2" charset="-122"/>
                <a:sym typeface="+mn-ea"/>
              </a:rPr>
              <a:t>∪ </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V(</a:t>
            </a:r>
            <a:r>
              <a:rPr kumimoji="0" lang="en-US" altLang="zh-CN" sz="1600" b="1" i="0" u="none" strike="noStrike" kern="0" cap="none" spc="0" normalizeH="0" baseline="0" noProof="0" dirty="0" err="1" smtClean="0">
                <a:ln>
                  <a:noFill/>
                </a:ln>
                <a:solidFill>
                  <a:schemeClr val="tx1"/>
                </a:solidFill>
                <a:effectLst/>
                <a:uLnTx/>
                <a:uFillTx/>
                <a:latin typeface="+mn-ea"/>
                <a:ea typeface="+mn-ea"/>
                <a:sym typeface="Symbol" pitchFamily="18" charset="2"/>
              </a:rPr>
              <a:t>Pn</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a:t>
            </a:r>
            <a:r>
              <a:rPr kumimoji="0" lang="zh-CN"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是程序</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PRG</a:t>
            </a:r>
            <a:r>
              <a:rPr kumimoji="0" lang="zh-CN"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的指令集，</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PO(PRG) = PO(P1) </a:t>
            </a:r>
            <a:r>
              <a:rPr lang="en-US" altLang="zh-CN" sz="1600" dirty="0">
                <a:solidFill>
                  <a:schemeClr val="tx1"/>
                </a:solidFill>
                <a:latin typeface="宋体" panose="02000500000000000000" pitchFamily="2" charset="-122"/>
                <a:ea typeface="宋体" panose="02000500000000000000" pitchFamily="2" charset="-122"/>
                <a:cs typeface="宋体" panose="02000500000000000000" pitchFamily="2" charset="-122"/>
                <a:sym typeface="+mn-ea"/>
              </a:rPr>
              <a:t>∪ </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PO(P2) </a:t>
            </a:r>
            <a:r>
              <a:rPr lang="en-US" altLang="zh-CN" sz="1600" dirty="0">
                <a:solidFill>
                  <a:schemeClr val="tx1"/>
                </a:solidFill>
                <a:latin typeface="宋体" panose="02000500000000000000" pitchFamily="2" charset="-122"/>
                <a:ea typeface="宋体" panose="02000500000000000000" pitchFamily="2" charset="-122"/>
                <a:cs typeface="宋体" panose="02000500000000000000" pitchFamily="2" charset="-122"/>
                <a:sym typeface="+mn-ea"/>
              </a:rPr>
              <a:t>∪ </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 </a:t>
            </a:r>
            <a:r>
              <a:rPr lang="en-US" altLang="zh-CN" sz="1600" dirty="0">
                <a:solidFill>
                  <a:schemeClr val="tx1"/>
                </a:solidFill>
                <a:latin typeface="宋体" panose="02000500000000000000" pitchFamily="2" charset="-122"/>
                <a:ea typeface="宋体" panose="02000500000000000000" pitchFamily="2" charset="-122"/>
                <a:cs typeface="宋体" panose="02000500000000000000" pitchFamily="2" charset="-122"/>
                <a:sym typeface="+mn-ea"/>
              </a:rPr>
              <a:t>∪ </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PO(</a:t>
            </a:r>
            <a:r>
              <a:rPr kumimoji="0" lang="en-US" altLang="zh-CN" sz="1600" b="1" i="0" u="none" strike="noStrike" kern="0" cap="none" spc="0" normalizeH="0" baseline="0" noProof="0" dirty="0" err="1" smtClean="0">
                <a:ln>
                  <a:noFill/>
                </a:ln>
                <a:solidFill>
                  <a:schemeClr val="tx1"/>
                </a:solidFill>
                <a:effectLst/>
                <a:uLnTx/>
                <a:uFillTx/>
                <a:latin typeface="+mn-ea"/>
                <a:ea typeface="+mn-ea"/>
                <a:sym typeface="Symbol" pitchFamily="18" charset="2"/>
              </a:rPr>
              <a:t>Pn</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a:t>
            </a:r>
            <a:r>
              <a:rPr kumimoji="0" lang="zh-CN" altLang="en-US" sz="1600" b="1" i="0" u="none" strike="noStrike" kern="0" cap="none" spc="0" normalizeH="0" baseline="0" noProof="0" dirty="0" smtClean="0">
                <a:ln>
                  <a:noFill/>
                </a:ln>
                <a:solidFill>
                  <a:schemeClr val="tx1"/>
                </a:solidFill>
                <a:effectLst/>
                <a:uLnTx/>
                <a:uFillTx/>
                <a:latin typeface="+mn-ea"/>
                <a:ea typeface="+mn-ea"/>
                <a:sym typeface="Symbol" pitchFamily="18" charset="2"/>
              </a:rPr>
              <a:t>是程序</a:t>
            </a:r>
            <a:r>
              <a:rPr kumimoji="0" lang="en-US" altLang="zh-CN" sz="1600" b="1" i="0" u="none" strike="noStrike" kern="0" cap="none" spc="0" normalizeH="0" baseline="0" noProof="0" dirty="0" smtClean="0">
                <a:ln>
                  <a:noFill/>
                </a:ln>
                <a:solidFill>
                  <a:schemeClr val="tx1"/>
                </a:solidFill>
                <a:effectLst/>
                <a:uLnTx/>
                <a:uFillTx/>
                <a:latin typeface="+mn-ea"/>
                <a:ea typeface="+mn-ea"/>
                <a:sym typeface="Symbol" pitchFamily="18" charset="2"/>
              </a:rPr>
              <a:t>PRG</a:t>
            </a:r>
            <a:r>
              <a:rPr kumimoji="0" lang="zh-CN" altLang="en-US" sz="1600" b="1" i="0" u="none" strike="noStrike" kern="0" cap="none" spc="0" normalizeH="0" baseline="0" noProof="0" dirty="0" smtClean="0">
                <a:ln>
                  <a:noFill/>
                </a:ln>
                <a:solidFill>
                  <a:schemeClr val="tx1"/>
                </a:solidFill>
                <a:effectLst/>
                <a:uLnTx/>
                <a:uFillTx/>
                <a:latin typeface="+mn-ea"/>
                <a:ea typeface="+mn-ea"/>
                <a:sym typeface="Symbol" pitchFamily="18" charset="2"/>
              </a:rPr>
              <a:t>的程序序</a:t>
            </a:r>
            <a:endParaRPr kumimoji="0" lang="zh-CN" altLang="en-US" sz="1600" b="1" i="0" u="none" strike="noStrike" kern="0" cap="none" spc="0" normalizeH="0" baseline="0" noProof="0" dirty="0" smtClean="0">
              <a:ln>
                <a:noFill/>
              </a:ln>
              <a:solidFill>
                <a:schemeClr val="tx1"/>
              </a:solidFill>
              <a:effectLst/>
              <a:uLnTx/>
              <a:uFillTx/>
              <a:latin typeface="+mn-ea"/>
              <a:ea typeface="+mn-ea"/>
              <a:sym typeface="Symbol" pitchFamily="18" charset="2"/>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冲突访问的概念</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rPr>
              <a:t>如果两个访存操作访问的是同一单元且其中至少有一个是存数操作</a:t>
            </a:r>
            <a:r>
              <a:rPr kumimoji="0" lang="en-US" altLang="zh-CN" sz="1600" b="1" i="0" u="none" strike="noStrike" kern="0" cap="none" spc="0" normalizeH="0" baseline="0" noProof="0" dirty="0" smtClean="0">
                <a:ln>
                  <a:noFill/>
                </a:ln>
                <a:solidFill>
                  <a:schemeClr val="tx1"/>
                </a:solidFill>
                <a:effectLst/>
                <a:uLnTx/>
                <a:uFillTx/>
                <a:latin typeface="+mn-ea"/>
                <a:ea typeface="+mn-ea"/>
              </a:rPr>
              <a:t>, </a:t>
            </a:r>
            <a:r>
              <a:rPr kumimoji="0" lang="zh-CN" altLang="en-US" sz="1600" b="1" i="0" u="none" strike="noStrike" kern="0" cap="none" spc="0" normalizeH="0" baseline="0" noProof="0" dirty="0" smtClean="0">
                <a:ln>
                  <a:noFill/>
                </a:ln>
                <a:solidFill>
                  <a:schemeClr val="tx1"/>
                </a:solidFill>
                <a:effectLst/>
                <a:uLnTx/>
                <a:uFillTx/>
                <a:latin typeface="+mn-ea"/>
                <a:ea typeface="+mn-ea"/>
              </a:rPr>
              <a:t>则称这两个访存操作是冲突的。</a:t>
            </a:r>
            <a:endParaRPr kumimoji="0" lang="zh-CN" altLang="en-US"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en-US" altLang="zh-CN" sz="1600" b="1" i="0" u="none" strike="noStrike" kern="0" cap="none" spc="0" normalizeH="0" baseline="0" noProof="0" dirty="0" smtClean="0">
                <a:ln>
                  <a:noFill/>
                </a:ln>
                <a:solidFill>
                  <a:schemeClr val="tx1"/>
                </a:solidFill>
                <a:effectLst/>
                <a:uLnTx/>
                <a:uFillTx/>
                <a:latin typeface="+mn-ea"/>
                <a:ea typeface="+mn-ea"/>
              </a:rPr>
              <a:t>C(PRG)={(</a:t>
            </a:r>
            <a:r>
              <a:rPr kumimoji="0" lang="en-US" altLang="zh-CN" sz="1600" b="1" i="0" u="none" strike="noStrike" kern="0" cap="none" spc="0" normalizeH="0" baseline="0" noProof="0" dirty="0" err="1" smtClean="0">
                <a:ln>
                  <a:noFill/>
                </a:ln>
                <a:solidFill>
                  <a:schemeClr val="tx1"/>
                </a:solidFill>
                <a:effectLst/>
                <a:uLnTx/>
                <a:uFillTx/>
                <a:latin typeface="+mn-ea"/>
                <a:ea typeface="+mn-ea"/>
              </a:rPr>
              <a:t>u,v</a:t>
            </a:r>
            <a:r>
              <a:rPr kumimoji="0" lang="en-US" altLang="zh-CN" sz="1600" b="1" i="0" u="none" strike="noStrike" kern="0" cap="none" spc="0" normalizeH="0" baseline="0" noProof="0" dirty="0" smtClean="0">
                <a:ln>
                  <a:noFill/>
                </a:ln>
                <a:solidFill>
                  <a:schemeClr val="tx1"/>
                </a:solidFill>
                <a:effectLst/>
                <a:uLnTx/>
                <a:uFillTx/>
                <a:latin typeface="+mn-ea"/>
                <a:ea typeface="+mn-ea"/>
              </a:rPr>
              <a:t>)|((</a:t>
            </a:r>
            <a:r>
              <a:rPr kumimoji="0" lang="en-US" altLang="zh-CN" sz="1600" b="1" i="0" u="none" strike="noStrike" kern="0" cap="none" spc="0" normalizeH="0" baseline="0" noProof="0" dirty="0" err="1" smtClean="0">
                <a:ln>
                  <a:noFill/>
                </a:ln>
                <a:solidFill>
                  <a:schemeClr val="tx1"/>
                </a:solidFill>
                <a:effectLst/>
                <a:uLnTx/>
                <a:uFillTx/>
                <a:latin typeface="+mn-ea"/>
                <a:ea typeface="+mn-ea"/>
              </a:rPr>
              <a:t>u,v</a:t>
            </a:r>
            <a:r>
              <a:rPr kumimoji="0" lang="en-US" altLang="zh-CN" sz="1600" b="1" i="0" u="none" strike="noStrike" kern="0" cap="none" spc="0" normalizeH="0" baseline="0" noProof="0" dirty="0" smtClean="0">
                <a:ln>
                  <a:noFill/>
                </a:ln>
                <a:solidFill>
                  <a:schemeClr val="tx1"/>
                </a:solidFill>
                <a:effectLst/>
                <a:uLnTx/>
                <a:uFillTx/>
                <a:latin typeface="+mn-ea"/>
                <a:ea typeface="+mn-ea"/>
              </a:rPr>
              <a:t>)</a:t>
            </a:r>
            <a:r>
              <a:rPr kumimoji="0"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sym typeface="Symbol" pitchFamily="18" charset="2"/>
              </a:rPr>
              <a:t>∈</a:t>
            </a:r>
            <a:r>
              <a:rPr kumimoji="0" lang="en-US" altLang="zh-CN" sz="1600" b="1" i="0" u="none" strike="noStrike" kern="0" cap="none" spc="0" normalizeH="0" baseline="0" noProof="0" dirty="0" smtClean="0">
                <a:ln>
                  <a:noFill/>
                </a:ln>
                <a:solidFill>
                  <a:schemeClr val="tx1"/>
                </a:solidFill>
                <a:effectLst/>
                <a:uLnTx/>
                <a:uFillTx/>
                <a:latin typeface="+mn-ea"/>
                <a:ea typeface="+mn-ea"/>
              </a:rPr>
              <a:t>V(PRG))</a:t>
            </a:r>
            <a:r>
              <a:rPr lang="en-US" altLang="zh-CN" sz="1600" noProof="0" dirty="0" smtClean="0">
                <a:ln>
                  <a:noFill/>
                </a:ln>
                <a:effectLst/>
                <a:uLnTx/>
                <a:uFillTx/>
                <a:latin typeface="宋体" panose="02000500000000000000" pitchFamily="2" charset="-122"/>
                <a:ea typeface="宋体" panose="02000500000000000000" pitchFamily="2" charset="-122"/>
                <a:sym typeface="+mn-ea"/>
              </a:rPr>
              <a:t>∩</a:t>
            </a:r>
            <a:r>
              <a:rPr kumimoji="0" lang="en-US" altLang="zh-CN" sz="1600" b="1" i="0" u="none" strike="noStrike" kern="0" cap="none" spc="0" normalizeH="0" baseline="0" noProof="0" dirty="0" smtClean="0">
                <a:ln>
                  <a:noFill/>
                </a:ln>
                <a:solidFill>
                  <a:schemeClr val="tx1"/>
                </a:solidFill>
                <a:effectLst/>
                <a:uLnTx/>
                <a:uFillTx/>
                <a:latin typeface="+mn-ea"/>
                <a:ea typeface="+mn-ea"/>
              </a:rPr>
              <a:t>(</a:t>
            </a:r>
            <a:r>
              <a:rPr kumimoji="0" lang="en-US" altLang="zh-CN" sz="1600" b="1" i="0" u="none" strike="noStrike" kern="0" cap="none" spc="0" normalizeH="0" baseline="0" noProof="0" dirty="0" err="1" smtClean="0">
                <a:ln>
                  <a:noFill/>
                </a:ln>
                <a:solidFill>
                  <a:schemeClr val="tx1"/>
                </a:solidFill>
                <a:effectLst/>
                <a:uLnTx/>
                <a:uFillTx/>
                <a:latin typeface="+mn-ea"/>
                <a:ea typeface="+mn-ea"/>
              </a:rPr>
              <a:t>u,v</a:t>
            </a:r>
            <a:r>
              <a:rPr kumimoji="0" lang="zh-CN" altLang="zh-CN" sz="1600" b="1" i="0" u="none" strike="noStrike" kern="0" cap="none" spc="0" normalizeH="0" baseline="0" noProof="0" dirty="0" smtClean="0">
                <a:ln>
                  <a:noFill/>
                </a:ln>
                <a:solidFill>
                  <a:schemeClr val="tx1"/>
                </a:solidFill>
                <a:effectLst/>
                <a:uLnTx/>
                <a:uFillTx/>
                <a:latin typeface="+mn-ea"/>
                <a:ea typeface="+mn-ea"/>
              </a:rPr>
              <a:t>是冲突访问)}称为</a:t>
            </a:r>
            <a:r>
              <a:rPr kumimoji="0" lang="zh-CN" altLang="en-US" sz="1600" b="1" i="0" u="none" strike="noStrike" kern="0" cap="none" spc="0" normalizeH="0" baseline="0" noProof="0" dirty="0" smtClean="0">
                <a:ln>
                  <a:noFill/>
                </a:ln>
                <a:solidFill>
                  <a:schemeClr val="tx1"/>
                </a:solidFill>
                <a:effectLst/>
                <a:uLnTx/>
                <a:uFillTx/>
                <a:latin typeface="+mn-ea"/>
                <a:ea typeface="+mn-ea"/>
              </a:rPr>
              <a:t>程序</a:t>
            </a:r>
            <a:r>
              <a:rPr kumimoji="0" lang="en-US" altLang="zh-CN" sz="1600" b="1" i="0" u="none" strike="noStrike" kern="0" cap="none" spc="0" normalizeH="0" baseline="0" noProof="0" dirty="0" smtClean="0">
                <a:ln>
                  <a:noFill/>
                </a:ln>
                <a:solidFill>
                  <a:schemeClr val="tx1"/>
                </a:solidFill>
                <a:effectLst/>
                <a:uLnTx/>
                <a:uFillTx/>
                <a:latin typeface="+mn-ea"/>
                <a:ea typeface="+mn-ea"/>
              </a:rPr>
              <a:t>PRG</a:t>
            </a:r>
            <a:r>
              <a:rPr kumimoji="0" lang="zh-CN" altLang="en-US" sz="1600" b="1" i="0" u="none" strike="noStrike" kern="0" cap="none" spc="0" normalizeH="0" baseline="0" noProof="0" dirty="0" smtClean="0">
                <a:ln>
                  <a:noFill/>
                </a:ln>
                <a:solidFill>
                  <a:schemeClr val="tx1"/>
                </a:solidFill>
                <a:effectLst/>
                <a:uLnTx/>
                <a:uFillTx/>
                <a:latin typeface="+mn-ea"/>
                <a:ea typeface="+mn-ea"/>
              </a:rPr>
              <a:t>中冲突访问对集</a:t>
            </a:r>
            <a:endParaRPr kumimoji="0" lang="zh-CN" altLang="en-US" sz="1600" b="1" i="0" u="none" strike="noStrike" kern="0" cap="none" spc="0" normalizeH="0" baseline="0" noProof="0" dirty="0" smtClean="0">
              <a:ln>
                <a:noFill/>
              </a:ln>
              <a:solidFill>
                <a:schemeClr val="tx1"/>
              </a:solidFill>
              <a:effectLst/>
              <a:uLnTx/>
              <a:uFillTx/>
              <a:latin typeface="+mn-ea"/>
              <a:ea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4579" name="Rectangle 2"/>
          <p:cNvSpPr>
            <a:spLocks noGrp="1"/>
          </p:cNvSpPr>
          <p:nvPr>
            <p:ph type="title"/>
          </p:nvPr>
        </p:nvSpPr>
        <p:spPr>
          <a:xfrm>
            <a:off x="866775" y="0"/>
            <a:ext cx="10079038" cy="1066800"/>
          </a:xfrm>
        </p:spPr>
        <p:txBody>
          <a:bodyPr vert="horz" wrap="square" lIns="91440" tIns="45720" rIns="91440" bIns="45720" anchor="ctr" anchorCtr="0"/>
          <a:lstStyle/>
          <a:p>
            <a:pPr eaLnBrk="1" hangingPunct="1"/>
            <a:r>
              <a:rPr lang="zh-CN" altLang="en-US" dirty="0"/>
              <a:t>程序执行的正确性</a:t>
            </a:r>
            <a:endParaRPr lang="zh-CN" altLang="en-US" dirty="0"/>
          </a:p>
        </p:txBody>
      </p:sp>
      <p:sp>
        <p:nvSpPr>
          <p:cNvPr id="21508" name="Rectangle 3"/>
          <p:cNvSpPr>
            <a:spLocks noGrp="1" noChangeArrowheads="1"/>
          </p:cNvSpPr>
          <p:nvPr>
            <p:ph idx="1"/>
          </p:nvPr>
        </p:nvSpPr>
        <p:spPr>
          <a:xfrm>
            <a:off x="561975" y="1676400"/>
            <a:ext cx="11291888" cy="4632325"/>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执行的概念</a:t>
            </a:r>
            <a:endPar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在在一个并行执行中，一旦互相冲突的访问的执行次序确定了。那么执行结果也就确定了。</a:t>
            </a:r>
            <a:endParaRPr kumimoji="0"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在程序</a:t>
            </a:r>
            <a:r>
              <a:rPr kumimoji="0"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PRG</a:t>
            </a:r>
            <a:r>
              <a:rPr kumimoji="0"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中</a:t>
            </a:r>
            <a:r>
              <a:rPr kumimoji="0"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 </a:t>
            </a:r>
            <a:r>
              <a:rPr kumimoji="0"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对冲突访问对集</a:t>
            </a:r>
            <a:r>
              <a:rPr kumimoji="0"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C(PRG)</a:t>
            </a:r>
            <a:r>
              <a:rPr kumimoji="0"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的任一无圈定序称为程序</a:t>
            </a:r>
            <a:r>
              <a:rPr kumimoji="0"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PRG</a:t>
            </a:r>
            <a:r>
              <a:rPr kumimoji="0"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的一个执行，记为</a:t>
            </a:r>
            <a:r>
              <a:rPr kumimoji="0"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E(PRG)</a:t>
            </a:r>
            <a:r>
              <a:rPr kumimoji="0"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endParaRPr kumimoji="0"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执行的正确性</a:t>
            </a:r>
            <a:endParaRPr kumimoji="0"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程序</a:t>
            </a:r>
            <a:r>
              <a:rPr kumimoji="0" lang="en-US" altLang="zh-CN"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PRG</a:t>
            </a:r>
            <a:r>
              <a:rPr kumimoji="0" lang="zh-CN" altLang="en-US"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的执行</a:t>
            </a:r>
            <a:r>
              <a:rPr kumimoji="0" lang="en-US" altLang="zh-CN"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E(PRG)</a:t>
            </a:r>
            <a:r>
              <a:rPr kumimoji="0" lang="zh-CN" altLang="en-US"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正确的充要条件是</a:t>
            </a:r>
            <a:r>
              <a:rPr kumimoji="0" lang="en-US" altLang="zh-CN"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E(PRG)</a:t>
            </a:r>
            <a:r>
              <a:rPr lang="en-US" altLang="zh-CN" sz="1800" dirty="0">
                <a:solidFill>
                  <a:srgbClr val="FF0000"/>
                </a:solidFill>
                <a:latin typeface="宋体" panose="02000500000000000000" pitchFamily="2" charset="-122"/>
                <a:ea typeface="宋体" panose="02000500000000000000" pitchFamily="2" charset="-122"/>
                <a:cs typeface="宋体" panose="02000500000000000000" pitchFamily="2" charset="-122"/>
                <a:sym typeface="+mn-ea"/>
              </a:rPr>
              <a:t>∪</a:t>
            </a:r>
            <a:r>
              <a:rPr kumimoji="0" lang="en-US" altLang="zh-CN"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PO(PRG)</a:t>
            </a:r>
            <a:r>
              <a:rPr kumimoji="0" lang="zh-CN" altLang="en-US"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无圈。</a:t>
            </a:r>
            <a:endParaRPr kumimoji="0" lang="zh-CN" altLang="en-US" sz="18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pic>
        <p:nvPicPr>
          <p:cNvPr id="25603" name="Picture 3"/>
          <p:cNvPicPr>
            <a:picLocks noChangeAspect="1"/>
          </p:cNvPicPr>
          <p:nvPr/>
        </p:nvPicPr>
        <p:blipFill>
          <a:blip r:embed="rId1"/>
          <a:stretch>
            <a:fillRect/>
          </a:stretch>
        </p:blipFill>
        <p:spPr>
          <a:xfrm>
            <a:off x="2195513" y="1412875"/>
            <a:ext cx="7621587" cy="5148263"/>
          </a:xfrm>
          <a:prstGeom prst="rect">
            <a:avLst/>
          </a:prstGeom>
          <a:noFill/>
          <a:ln w="9525">
            <a:noFill/>
          </a:ln>
        </p:spPr>
      </p:pic>
      <p:sp>
        <p:nvSpPr>
          <p:cNvPr id="25604" name="Rectangle 4"/>
          <p:cNvSpPr/>
          <p:nvPr/>
        </p:nvSpPr>
        <p:spPr>
          <a:xfrm>
            <a:off x="866775" y="0"/>
            <a:ext cx="10079038" cy="1066800"/>
          </a:xfrm>
          <a:prstGeom prst="rect">
            <a:avLst/>
          </a:prstGeom>
          <a:noFill/>
          <a:ln w="9525">
            <a:noFill/>
          </a:ln>
        </p:spPr>
        <p:txBody>
          <a:bodyPr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正确与错误的程序执行</a:t>
            </a:r>
            <a:endParaRPr lang="zh-CN" altLang="en-US" sz="3600" dirty="0">
              <a:solidFill>
                <a:srgbClr val="FF0000"/>
              </a:solidFill>
              <a:latin typeface="Arial" panose="02080604020202020204" pitchFamily="34" charset="0"/>
              <a:ea typeface="黑体" panose="02000500000000000000"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4"/>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6627" name="Rectangle 2"/>
          <p:cNvSpPr>
            <a:spLocks noGrp="1"/>
          </p:cNvSpPr>
          <p:nvPr>
            <p:ph type="title"/>
          </p:nvPr>
        </p:nvSpPr>
        <p:spPr>
          <a:xfrm>
            <a:off x="866775" y="2708275"/>
            <a:ext cx="10971213" cy="1143000"/>
          </a:xfrm>
        </p:spPr>
        <p:txBody>
          <a:bodyPr vert="horz" wrap="square" lIns="91440" tIns="45720" rIns="91440" bIns="45720" anchor="ctr" anchorCtr="0"/>
          <a:lstStyle/>
          <a:p>
            <a:pPr eaLnBrk="1" hangingPunct="1"/>
            <a:r>
              <a:rPr lang="zh-CN" altLang="en-US" dirty="0"/>
              <a:t>共享存储系统的访存事件次序</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7651" name="Rectangle 2"/>
          <p:cNvSpPr>
            <a:spLocks noGrp="1"/>
          </p:cNvSpPr>
          <p:nvPr>
            <p:ph type="title"/>
          </p:nvPr>
        </p:nvSpPr>
        <p:spPr>
          <a:xfrm>
            <a:off x="1220788" y="0"/>
            <a:ext cx="9518650" cy="1090613"/>
          </a:xfrm>
        </p:spPr>
        <p:txBody>
          <a:bodyPr vert="horz" wrap="square" lIns="91440" tIns="45720" rIns="91440" bIns="45720" anchor="ctr" anchorCtr="0"/>
          <a:lstStyle/>
          <a:p>
            <a:pPr eaLnBrk="1" hangingPunct="1"/>
            <a:r>
              <a:rPr lang="zh-CN" altLang="en-US" dirty="0"/>
              <a:t>满足顺序一致的访存事件次序</a:t>
            </a:r>
            <a:endParaRPr lang="zh-CN" altLang="en-US" dirty="0"/>
          </a:p>
        </p:txBody>
      </p:sp>
      <p:sp>
        <p:nvSpPr>
          <p:cNvPr id="24580" name="Rectangle 3"/>
          <p:cNvSpPr>
            <a:spLocks noGrp="1" noChangeArrowheads="1"/>
          </p:cNvSpPr>
          <p:nvPr>
            <p:ph idx="1"/>
          </p:nvPr>
        </p:nvSpPr>
        <p:spPr>
          <a:xfrm>
            <a:off x="601980" y="1196975"/>
            <a:ext cx="10688955" cy="2887980"/>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顺序一致的一个充分条件（</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GPPO</a:t>
            </a:r>
            <a:r>
              <a:rPr kumimoji="0" lang="zh-CN" altLang="zh-CN" sz="2000" b="1" i="0" u="none" strike="noStrike" kern="0" cap="none" spc="0" normalizeH="0" baseline="0" noProof="0" dirty="0" smtClean="0">
                <a:ln>
                  <a:noFill/>
                </a:ln>
                <a:solidFill>
                  <a:schemeClr val="tx1"/>
                </a:solidFill>
                <a:effectLst/>
                <a:uLnTx/>
                <a:uFillTx/>
                <a:latin typeface="+mn-ea"/>
                <a:ea typeface="+mn-ea"/>
                <a:cs typeface="+mn-cs"/>
              </a:rPr>
              <a:t>条件</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rPr>
              <a:t>在共享存储多处理机中，若任一处理机都严格按照访存指令在进程中出现的次序执行，且在当前访存指令彻底执行完之前不能开始执行下一条访存指令，则此共享存储系统是顺序一致的</a:t>
            </a:r>
            <a:endParaRPr kumimoji="0" lang="zh-CN" altLang="en-US"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rPr>
              <a:t>一个存数操作“彻底完成”指的是它所引起的值的变化已被所有处理机所接受</a:t>
            </a:r>
            <a:endParaRPr kumimoji="0" lang="zh-CN" altLang="en-US"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rPr>
              <a:t>一个取数操作彻底完成是指它取回的值已确定，且写此值的存数操作已“彻底完成”</a:t>
            </a:r>
            <a:endParaRPr kumimoji="0" lang="en-US" altLang="zh-CN"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endParaRPr kumimoji="0" lang="en-US" altLang="zh-CN"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endParaRPr kumimoji="0" lang="zh-CN" altLang="en-US" sz="1600" b="1" i="0" u="none" strike="noStrike" kern="0" cap="none" spc="0" normalizeH="0" baseline="0" noProof="0" dirty="0" smtClean="0">
              <a:ln>
                <a:noFill/>
              </a:ln>
              <a:solidFill>
                <a:schemeClr val="tx1"/>
              </a:solidFill>
              <a:effectLst/>
              <a:uLnTx/>
              <a:uFillTx/>
              <a:latin typeface="+mn-ea"/>
              <a:ea typeface="+mn-ea"/>
            </a:endParaRPr>
          </a:p>
          <a:p>
            <a:pPr marL="342900" marR="0" lvl="0" indent="-342900" algn="ctr" defTabSz="914400" rtl="0" eaLnBrk="1" fontAlgn="base" latinLnBrk="0" hangingPunct="1">
              <a:lnSpc>
                <a:spcPct val="150000"/>
              </a:lnSpc>
              <a:spcBef>
                <a:spcPct val="0"/>
              </a:spcBef>
              <a:spcAft>
                <a:spcPct val="0"/>
              </a:spcAft>
              <a:buClrTx/>
              <a:buSzTx/>
              <a:buFontTx/>
              <a:buNone/>
              <a:defRPr/>
            </a:pPr>
            <a:endParaRPr kumimoji="0" lang="en-US" altLang="zh-CN" sz="2400" b="1" i="0" u="none" strike="noStrike" kern="0" cap="none" spc="0" normalizeH="0" baseline="0" noProof="0" dirty="0" smtClean="0">
              <a:ln>
                <a:noFill/>
              </a:ln>
              <a:solidFill>
                <a:schemeClr val="tx1"/>
              </a:solidFill>
              <a:effectLst/>
              <a:uLnTx/>
              <a:uFillTx/>
              <a:latin typeface="Courier New" pitchFamily="49" charset="0"/>
              <a:ea typeface="+mn-ea"/>
              <a:cs typeface="+mn-cs"/>
            </a:endParaRPr>
          </a:p>
        </p:txBody>
      </p:sp>
      <p:pic>
        <p:nvPicPr>
          <p:cNvPr id="2" name="图片 1"/>
          <p:cNvPicPr>
            <a:picLocks noChangeAspect="1"/>
          </p:cNvPicPr>
          <p:nvPr/>
        </p:nvPicPr>
        <p:blipFill>
          <a:blip r:embed="rId1"/>
          <a:stretch>
            <a:fillRect/>
          </a:stretch>
        </p:blipFill>
        <p:spPr>
          <a:xfrm>
            <a:off x="3431540" y="4292600"/>
            <a:ext cx="4665980" cy="17221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8675" name="Rectangle 2"/>
          <p:cNvSpPr/>
          <p:nvPr/>
        </p:nvSpPr>
        <p:spPr>
          <a:xfrm>
            <a:off x="1220788" y="0"/>
            <a:ext cx="9515475" cy="874713"/>
          </a:xfrm>
          <a:prstGeom prst="rect">
            <a:avLst/>
          </a:prstGeom>
          <a:noFill/>
          <a:ln w="9525">
            <a:noFill/>
          </a:ln>
        </p:spPr>
        <p:txBody>
          <a:bodyPr lIns="92075" tIns="46038" rIns="92075" bIns="46038" anchor="b" anchorCtr="0"/>
          <a:lstStyle/>
          <a:p>
            <a:pPr algn="ctr"/>
            <a:r>
              <a:rPr lang="zh-CN" altLang="en-US" sz="3600" dirty="0">
                <a:solidFill>
                  <a:srgbClr val="FF0000"/>
                </a:solidFill>
                <a:latin typeface="Arial" panose="02080604020202020204" pitchFamily="34" charset="0"/>
                <a:ea typeface="黑体" panose="02000500000000000000" pitchFamily="49" charset="-122"/>
              </a:rPr>
              <a:t>分布式系统的访存模型</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25604" name="Rectangle 3"/>
          <p:cNvSpPr>
            <a:spLocks noChangeArrowheads="1"/>
          </p:cNvSpPr>
          <p:nvPr/>
        </p:nvSpPr>
        <p:spPr bwMode="auto">
          <a:xfrm>
            <a:off x="336550" y="981075"/>
            <a:ext cx="11853863" cy="5616575"/>
          </a:xfrm>
          <a:prstGeom prst="rect">
            <a:avLst/>
          </a:prstGeom>
          <a:noFill/>
          <a:ln w="9525">
            <a:noFill/>
            <a:miter lim="800000"/>
          </a:ln>
        </p:spPr>
        <p:txBody>
          <a:bodyPr lIns="92075" tIns="46038" rIns="92075" bIns="46038"/>
          <a:lstStyle/>
          <a:p>
            <a:pPr marL="342900" marR="0" lvl="0" indent="-342900" algn="l" defTabSz="914400" rtl="0" eaLnBrk="1" fontAlgn="base" latinLnBrk="0" hangingPunct="1">
              <a:lnSpc>
                <a:spcPct val="12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写可分割系统的访存事件模型</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0000"/>
              </a:lnSpc>
              <a:spcBef>
                <a:spcPts val="600"/>
              </a:spcBef>
              <a:spcAft>
                <a:spcPct val="0"/>
              </a:spcAft>
              <a:buClrTx/>
              <a:buSzTx/>
              <a:buFontTx/>
              <a:buChar char="•"/>
              <a:defRPr/>
            </a:pPr>
            <a:r>
              <a:rPr kumimoji="0" lang="zh-CN" altLang="en-US" sz="1600" b="1" i="0" u="none" strike="noStrike" kern="1200" cap="none" spc="0" normalizeH="0" baseline="0" noProof="0" dirty="0">
                <a:ln>
                  <a:noFill/>
                </a:ln>
                <a:solidFill>
                  <a:schemeClr val="tx1"/>
                </a:solidFill>
                <a:effectLst/>
                <a:uLnTx/>
                <a:uFillTx/>
                <a:latin typeface="+mn-ea"/>
                <a:ea typeface="+mn-ea"/>
                <a:cs typeface="+mn-cs"/>
              </a:rPr>
              <a:t>系统中有</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N</a:t>
            </a:r>
            <a:r>
              <a:rPr kumimoji="0" lang="zh-CN" altLang="en-US" sz="1600" b="1" i="0" u="none" strike="noStrike" kern="1200" cap="none" spc="0" normalizeH="0" baseline="0" noProof="0" dirty="0">
                <a:ln>
                  <a:noFill/>
                </a:ln>
                <a:solidFill>
                  <a:schemeClr val="tx1"/>
                </a:solidFill>
                <a:effectLst/>
                <a:uLnTx/>
                <a:uFillTx/>
                <a:latin typeface="+mn-ea"/>
                <a:ea typeface="+mn-ea"/>
                <a:cs typeface="+mn-cs"/>
              </a:rPr>
              <a:t>个处理机</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 </a:t>
            </a:r>
            <a:r>
              <a:rPr kumimoji="0" lang="zh-CN" altLang="en-US" sz="1600" b="1" i="0" u="none" strike="noStrike" kern="1200" cap="none" spc="0" normalizeH="0" baseline="0" noProof="0" dirty="0">
                <a:ln>
                  <a:noFill/>
                </a:ln>
                <a:solidFill>
                  <a:schemeClr val="tx1"/>
                </a:solidFill>
                <a:effectLst/>
                <a:uLnTx/>
                <a:uFillTx/>
                <a:latin typeface="+mn-ea"/>
                <a:ea typeface="+mn-ea"/>
                <a:cs typeface="+mn-cs"/>
              </a:rPr>
              <a:t>每个处理机执行一个进程。</a:t>
            </a:r>
            <a:endParaRPr kumimoji="0"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0000"/>
              </a:lnSpc>
              <a:spcBef>
                <a:spcPts val="600"/>
              </a:spcBef>
              <a:spcAft>
                <a:spcPct val="0"/>
              </a:spcAft>
              <a:buClrTx/>
              <a:buSzTx/>
              <a:buFontTx/>
              <a:buChar char="•"/>
              <a:defRPr/>
            </a:pPr>
            <a:r>
              <a:rPr kumimoji="0" lang="zh-CN" altLang="en-US" sz="1600" b="1" i="0" u="none" strike="noStrike" kern="1200" cap="none" spc="0" normalizeH="0" baseline="0" noProof="0" dirty="0">
                <a:ln>
                  <a:noFill/>
                </a:ln>
                <a:solidFill>
                  <a:schemeClr val="tx1"/>
                </a:solidFill>
                <a:effectLst/>
                <a:uLnTx/>
                <a:uFillTx/>
                <a:latin typeface="+mn-ea"/>
                <a:ea typeface="+mn-ea"/>
                <a:cs typeface="+mn-cs"/>
              </a:rPr>
              <a:t>任一访存操作</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u</a:t>
            </a:r>
            <a:r>
              <a:rPr kumimoji="0" lang="zh-CN" altLang="en-US" sz="1600" b="1" i="0" u="none" strike="noStrike" kern="1200" cap="none" spc="0" normalizeH="0" baseline="0" noProof="0" dirty="0">
                <a:ln>
                  <a:noFill/>
                </a:ln>
                <a:solidFill>
                  <a:schemeClr val="tx1"/>
                </a:solidFill>
                <a:effectLst/>
                <a:uLnTx/>
                <a:uFillTx/>
                <a:latin typeface="+mn-ea"/>
                <a:ea typeface="+mn-ea"/>
                <a:cs typeface="+mn-cs"/>
              </a:rPr>
              <a:t>被分割成</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N</a:t>
            </a:r>
            <a:r>
              <a:rPr kumimoji="0" lang="zh-CN" altLang="en-US" sz="1600" b="1" i="0" u="none" strike="noStrike" kern="1200" cap="none" spc="0" normalizeH="0" baseline="0" noProof="0" dirty="0">
                <a:ln>
                  <a:noFill/>
                </a:ln>
                <a:solidFill>
                  <a:schemeClr val="tx1"/>
                </a:solidFill>
                <a:effectLst/>
                <a:uLnTx/>
                <a:uFillTx/>
                <a:latin typeface="+mn-ea"/>
                <a:ea typeface="+mn-ea"/>
                <a:cs typeface="+mn-cs"/>
              </a:rPr>
              <a:t>个子操作</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u</a:t>
            </a:r>
            <a:r>
              <a:rPr kumimoji="0" lang="en-US" altLang="zh-CN" sz="1600" b="1" i="0" u="none" strike="noStrike" kern="1200" cap="none" spc="0" normalizeH="0" baseline="30000" noProof="0" dirty="0">
                <a:ln>
                  <a:noFill/>
                </a:ln>
                <a:solidFill>
                  <a:schemeClr val="tx1"/>
                </a:solidFill>
                <a:effectLst/>
                <a:uLnTx/>
                <a:uFillTx/>
                <a:latin typeface="+mn-ea"/>
                <a:ea typeface="+mn-ea"/>
                <a:cs typeface="+mn-cs"/>
              </a:rPr>
              <a:t>1</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,u</a:t>
            </a:r>
            <a:r>
              <a:rPr kumimoji="0" lang="en-US" altLang="zh-CN" sz="1600" b="1" i="0" u="none" strike="noStrike" kern="1200" cap="none" spc="0" normalizeH="0" baseline="30000" noProof="0" dirty="0">
                <a:ln>
                  <a:noFill/>
                </a:ln>
                <a:solidFill>
                  <a:schemeClr val="tx1"/>
                </a:solidFill>
                <a:effectLst/>
                <a:uLnTx/>
                <a:uFillTx/>
                <a:latin typeface="+mn-ea"/>
                <a:ea typeface="+mn-ea"/>
                <a:cs typeface="+mn-cs"/>
              </a:rPr>
              <a:t>2</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 , u</a:t>
            </a:r>
            <a:r>
              <a:rPr kumimoji="0" lang="en-US" altLang="zh-CN" sz="1600" b="1" i="0" u="none" strike="noStrike" kern="1200" cap="none" spc="0" normalizeH="0" baseline="30000" noProof="0" dirty="0">
                <a:ln>
                  <a:noFill/>
                </a:ln>
                <a:solidFill>
                  <a:schemeClr val="tx1"/>
                </a:solidFill>
                <a:effectLst/>
                <a:uLnTx/>
                <a:uFillTx/>
                <a:latin typeface="+mn-ea"/>
                <a:ea typeface="+mn-ea"/>
                <a:cs typeface="+mn-cs"/>
              </a:rPr>
              <a:t>n</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 </a:t>
            </a:r>
            <a:r>
              <a:rPr kumimoji="0" lang="zh-CN" altLang="en-US" sz="1600" b="1" i="0" u="none" strike="noStrike" kern="1200" cap="none" spc="0" normalizeH="0" baseline="0" noProof="0" dirty="0">
                <a:ln>
                  <a:noFill/>
                </a:ln>
                <a:solidFill>
                  <a:schemeClr val="tx1"/>
                </a:solidFill>
                <a:effectLst/>
                <a:uLnTx/>
                <a:uFillTx/>
                <a:latin typeface="+mn-ea"/>
                <a:ea typeface="+mn-ea"/>
                <a:cs typeface="+mn-cs"/>
              </a:rPr>
              <a:t>其中</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u</a:t>
            </a:r>
            <a:r>
              <a:rPr kumimoji="0" lang="en-US" altLang="zh-CN" sz="1600" b="1" i="0" u="none" strike="noStrike" kern="1200" cap="none" spc="0" normalizeH="0" baseline="30000" noProof="0" dirty="0" err="1">
                <a:ln>
                  <a:noFill/>
                </a:ln>
                <a:solidFill>
                  <a:schemeClr val="tx1"/>
                </a:solidFill>
                <a:effectLst/>
                <a:uLnTx/>
                <a:uFillTx/>
                <a:latin typeface="+mn-ea"/>
                <a:ea typeface="+mn-ea"/>
                <a:cs typeface="+mn-cs"/>
              </a:rPr>
              <a:t>i</a:t>
            </a:r>
            <a:r>
              <a:rPr kumimoji="0" lang="zh-CN" altLang="en-US" sz="1600" b="1" i="0" u="none" strike="noStrike" kern="1200" cap="none" spc="0" normalizeH="0" baseline="0" noProof="0" dirty="0">
                <a:ln>
                  <a:noFill/>
                </a:ln>
                <a:solidFill>
                  <a:schemeClr val="tx1"/>
                </a:solidFill>
                <a:effectLst/>
                <a:uLnTx/>
                <a:uFillTx/>
                <a:latin typeface="+mn-ea"/>
                <a:ea typeface="+mn-ea"/>
                <a:cs typeface="+mn-cs"/>
              </a:rPr>
              <a:t>表示</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u</a:t>
            </a:r>
            <a:r>
              <a:rPr kumimoji="0" lang="zh-CN" altLang="en-US" sz="1600" b="1" i="0" u="none" strike="noStrike" kern="1200" cap="none" spc="0" normalizeH="0" baseline="0" noProof="0" dirty="0">
                <a:ln>
                  <a:noFill/>
                </a:ln>
                <a:solidFill>
                  <a:schemeClr val="tx1"/>
                </a:solidFill>
                <a:effectLst/>
                <a:uLnTx/>
                <a:uFillTx/>
                <a:latin typeface="+mn-ea"/>
                <a:ea typeface="+mn-ea"/>
                <a:cs typeface="+mn-cs"/>
              </a:rPr>
              <a:t>相对于</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Pi</a:t>
            </a:r>
            <a:r>
              <a:rPr kumimoji="0" lang="zh-CN" altLang="en-US" sz="1600" b="1" i="0" u="none" strike="noStrike" kern="1200" cap="none" spc="0" normalizeH="0" baseline="0" noProof="0" dirty="0">
                <a:ln>
                  <a:noFill/>
                </a:ln>
                <a:solidFill>
                  <a:schemeClr val="tx1"/>
                </a:solidFill>
                <a:effectLst/>
                <a:uLnTx/>
                <a:uFillTx/>
                <a:latin typeface="+mn-ea"/>
                <a:ea typeface="+mn-ea"/>
                <a:cs typeface="+mn-cs"/>
              </a:rPr>
              <a:t>已执行完</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(performed with respect to Pi)</a:t>
            </a:r>
            <a:r>
              <a:rPr kumimoji="0" lang="zh-CN" altLang="en-US" sz="1600" b="1" i="0" u="none" strike="noStrike" kern="1200" cap="none" spc="0" normalizeH="0" baseline="0" noProof="0" dirty="0">
                <a:ln>
                  <a:noFill/>
                </a:ln>
                <a:solidFill>
                  <a:schemeClr val="tx1"/>
                </a:solidFill>
                <a:effectLst/>
                <a:uLnTx/>
                <a:uFillTx/>
                <a:latin typeface="+mn-ea"/>
                <a:ea typeface="+mn-ea"/>
                <a:cs typeface="+mn-cs"/>
              </a:rPr>
              <a:t>。</a:t>
            </a:r>
            <a:endParaRPr kumimoji="0"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20000"/>
              </a:lnSpc>
              <a:spcBef>
                <a:spcPts val="600"/>
              </a:spcBef>
              <a:spcAft>
                <a:spcPct val="0"/>
              </a:spcAft>
              <a:buClrTx/>
              <a:buSzTx/>
              <a:buFontTx/>
              <a:buChar char="•"/>
              <a:defRPr/>
            </a:pPr>
            <a:r>
              <a:rPr kumimoji="0" lang="en-US" altLang="zh-CN" sz="2000" b="1" i="0" u="none" strike="noStrike" kern="1200" cap="none" spc="0" normalizeH="0" baseline="0" noProof="0" dirty="0">
                <a:ln>
                  <a:noFill/>
                </a:ln>
                <a:solidFill>
                  <a:schemeClr val="tx1"/>
                </a:solidFill>
                <a:effectLst/>
                <a:uLnTx/>
                <a:uFillTx/>
                <a:latin typeface="+mn-ea"/>
                <a:ea typeface="+mn-ea"/>
                <a:cs typeface="+mn-cs"/>
              </a:rPr>
              <a:t>GPPO</a:t>
            </a:r>
            <a:r>
              <a:rPr kumimoji="0" lang="zh-CN" altLang="zh-CN" sz="2000" b="1" i="0" u="none" strike="noStrike" kern="1200" cap="none" spc="0" normalizeH="0" baseline="0" noProof="0" dirty="0">
                <a:ln>
                  <a:noFill/>
                </a:ln>
                <a:solidFill>
                  <a:schemeClr val="tx1"/>
                </a:solidFill>
                <a:effectLst/>
                <a:uLnTx/>
                <a:uFillTx/>
                <a:latin typeface="+mn-ea"/>
                <a:ea typeface="+mn-ea"/>
                <a:cs typeface="+mn-cs"/>
              </a:rPr>
              <a:t>条件的描述</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0000"/>
              </a:lnSpc>
              <a:spcBef>
                <a:spcPts val="600"/>
              </a:spcBef>
              <a:spcAft>
                <a:spcPct val="0"/>
              </a:spcAft>
              <a:buClrTx/>
              <a:buSzTx/>
              <a:buFontTx/>
              <a:buChar char="•"/>
              <a:defRPr/>
            </a:pPr>
            <a:r>
              <a:rPr kumimoji="0" lang="zh-CN" altLang="en-US" sz="1600" b="1" i="0" u="none" strike="noStrike" kern="1200" cap="none" spc="0" normalizeH="0" baseline="0" noProof="0" dirty="0">
                <a:ln>
                  <a:noFill/>
                </a:ln>
                <a:solidFill>
                  <a:schemeClr val="tx1"/>
                </a:solidFill>
                <a:effectLst/>
                <a:uLnTx/>
                <a:uFillTx/>
                <a:latin typeface="+mn-ea"/>
                <a:ea typeface="+mn-ea"/>
                <a:cs typeface="+mn-cs"/>
              </a:rPr>
              <a:t>任一处理机都按访存指令在进程中出现的次序执行，且在当前访存指令彻底执行完之前不能开始执行下一条访存指令</a:t>
            </a:r>
            <a:endParaRPr kumimoji="0"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0000"/>
              </a:lnSpc>
              <a:spcBef>
                <a:spcPts val="60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u,v</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1600" b="1" i="0" u="none" strike="noStrike" kern="1200" cap="none" spc="0" normalizeH="0" baseline="0" noProof="0" dirty="0">
                <a:ln>
                  <a:noFill/>
                </a:ln>
                <a:solidFill>
                  <a:schemeClr val="tx1"/>
                </a:solidFill>
                <a:effectLst/>
                <a:uLnTx/>
                <a:uFillTx/>
                <a:latin typeface="+mn-ea"/>
                <a:ea typeface="+mn-ea"/>
                <a:cs typeface="+mn-cs"/>
                <a:sym typeface="Symbol" pitchFamily="18" charset="2"/>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 PO =&gt; </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u</a:t>
            </a:r>
            <a:r>
              <a:rPr kumimoji="0" lang="en-US" altLang="zh-CN" sz="1600" b="1" i="0" u="none" strike="noStrike" kern="1200" cap="none" spc="0" normalizeH="0" baseline="30000" noProof="0" dirty="0" err="1">
                <a:ln>
                  <a:noFill/>
                </a:ln>
                <a:solidFill>
                  <a:schemeClr val="tx1"/>
                </a:solidFill>
                <a:effectLst/>
                <a:uLnTx/>
                <a:uFillTx/>
                <a:latin typeface="+mn-ea"/>
                <a:ea typeface="+mn-ea"/>
                <a:cs typeface="+mn-cs"/>
              </a:rPr>
              <a:t>i</a:t>
            </a:r>
            <a:r>
              <a:rPr kumimoji="0" lang="en-US" altLang="zh-CN" sz="1600" b="1" i="0" u="none" strike="noStrike" kern="1200" cap="none" spc="0" normalizeH="0" baseline="30000" noProof="0" dirty="0">
                <a:ln>
                  <a:noFill/>
                </a:ln>
                <a:solidFill>
                  <a:schemeClr val="tx1"/>
                </a:solidFill>
                <a:effectLst/>
                <a:uLnTx/>
                <a:uFillTx/>
                <a:latin typeface="+mn-ea"/>
                <a:ea typeface="+mn-ea"/>
                <a:cs typeface="+mn-cs"/>
              </a:rPr>
              <a:t> </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&lt; </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v</a:t>
            </a:r>
            <a:r>
              <a:rPr kumimoji="0" lang="en-US" altLang="zh-CN" sz="1600" b="1" i="0" u="none" strike="noStrike" kern="1200" cap="none" spc="0" normalizeH="0" baseline="30000" noProof="0" dirty="0" err="1">
                <a:ln>
                  <a:noFill/>
                </a:ln>
                <a:solidFill>
                  <a:schemeClr val="tx1"/>
                </a:solidFill>
                <a:effectLst/>
                <a:uLnTx/>
                <a:uFillTx/>
                <a:latin typeface="+mn-ea"/>
                <a:ea typeface="+mn-ea"/>
                <a:cs typeface="+mn-cs"/>
              </a:rPr>
              <a:t>j</a:t>
            </a:r>
            <a:endParaRPr kumimoji="0" lang="en-US" altLang="zh-CN" sz="1600" b="1" i="0" u="none" strike="noStrike" kern="1200" cap="none" spc="0" normalizeH="0" baseline="3000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0000"/>
              </a:lnSpc>
              <a:spcBef>
                <a:spcPts val="600"/>
              </a:spcBef>
              <a:spcAft>
                <a:spcPct val="0"/>
              </a:spcAft>
              <a:buClrTx/>
              <a:buSzTx/>
              <a:buFontTx/>
              <a:buNone/>
              <a:defRPr/>
            </a:pPr>
            <a:r>
              <a:rPr kumimoji="0" lang="en-US" altLang="zh-CN" sz="16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w,r</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sym typeface="Symbol" pitchFamily="18" charset="2"/>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E </a:t>
            </a:r>
            <a:r>
              <a:rPr kumimoji="0" lang="en-US" altLang="zh-CN" sz="1600" b="1" i="0" u="none" strike="noStrike" kern="1200" cap="none" spc="0" normalizeH="0" baseline="0" noProof="0" dirty="0">
                <a:ln>
                  <a:noFill/>
                </a:ln>
                <a:solidFill>
                  <a:schemeClr val="tx1"/>
                </a:solidFill>
                <a:effectLst/>
                <a:uLnTx/>
                <a:uFillTx/>
                <a:latin typeface="+mn-ea"/>
                <a:ea typeface="+mn-ea"/>
                <a:cs typeface="+mn-cs"/>
                <a:sym typeface="Symbol" pitchFamily="18" charset="2"/>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r,v</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sym typeface="Symbol" pitchFamily="18" charset="2"/>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PO</a:t>
            </a:r>
            <a:r>
              <a:rPr kumimoji="0" lang="en-US" altLang="zh-CN" sz="1600" b="1" i="0" u="none" strike="noStrike" kern="1200" cap="none" spc="0" normalizeH="0" baseline="0" noProof="0" dirty="0">
                <a:ln>
                  <a:noFill/>
                </a:ln>
                <a:solidFill>
                  <a:schemeClr val="tx1"/>
                </a:solidFill>
                <a:effectLst/>
                <a:uLnTx/>
                <a:uFillTx/>
                <a:latin typeface="+mn-ea"/>
                <a:ea typeface="+mn-ea"/>
                <a:cs typeface="+mn-cs"/>
                <a:sym typeface="Symbol" pitchFamily="18" charset="2"/>
              </a:rPr>
              <a:t> </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=&gt; </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w</a:t>
            </a:r>
            <a:r>
              <a:rPr kumimoji="0" lang="en-US" altLang="zh-CN" sz="1600" b="1" i="0" u="none" strike="noStrike" kern="1200" cap="none" spc="0" normalizeH="0" baseline="30000" noProof="0" dirty="0" err="1">
                <a:ln>
                  <a:noFill/>
                </a:ln>
                <a:solidFill>
                  <a:schemeClr val="tx1"/>
                </a:solidFill>
                <a:effectLst/>
                <a:uLnTx/>
                <a:uFillTx/>
                <a:latin typeface="+mn-ea"/>
                <a:ea typeface="+mn-ea"/>
                <a:cs typeface="+mn-cs"/>
              </a:rPr>
              <a:t>i</a:t>
            </a:r>
            <a:r>
              <a:rPr kumimoji="0" lang="en-US" altLang="zh-CN" sz="1600" b="1" i="0" u="none" strike="noStrike" kern="1200" cap="none" spc="0" normalizeH="0" baseline="30000" noProof="0" dirty="0">
                <a:ln>
                  <a:noFill/>
                </a:ln>
                <a:solidFill>
                  <a:schemeClr val="tx1"/>
                </a:solidFill>
                <a:effectLst/>
                <a:uLnTx/>
                <a:uFillTx/>
                <a:latin typeface="+mn-ea"/>
                <a:ea typeface="+mn-ea"/>
                <a:cs typeface="+mn-cs"/>
              </a:rPr>
              <a:t> </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&lt; </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v</a:t>
            </a:r>
            <a:r>
              <a:rPr kumimoji="0" lang="en-US" altLang="zh-CN" sz="1600" b="1" i="0" u="none" strike="noStrike" kern="1200" cap="none" spc="0" normalizeH="0" baseline="30000" noProof="0" dirty="0" err="1">
                <a:ln>
                  <a:noFill/>
                </a:ln>
                <a:solidFill>
                  <a:schemeClr val="tx1"/>
                </a:solidFill>
                <a:effectLst/>
                <a:uLnTx/>
                <a:uFillTx/>
                <a:latin typeface="+mn-ea"/>
                <a:ea typeface="+mn-ea"/>
                <a:cs typeface="+mn-cs"/>
              </a:rPr>
              <a:t>j</a:t>
            </a:r>
            <a:endParaRPr kumimoji="0" lang="en-US" altLang="zh-CN" sz="1600" b="1" i="0" u="none" strike="noStrike" kern="1200" cap="none" spc="0" normalizeH="0" baseline="3000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0000"/>
              </a:lnSpc>
              <a:spcBef>
                <a:spcPts val="600"/>
              </a:spcBef>
              <a:spcAft>
                <a:spcPct val="0"/>
              </a:spcAft>
              <a:buClrTx/>
              <a:buSzTx/>
              <a:buFontTx/>
              <a:buNone/>
              <a:defRPr/>
            </a:pPr>
            <a:r>
              <a:rPr kumimoji="0" lang="en-US" altLang="zh-CN" sz="1600" b="1" i="0" u="none" strike="noStrike" kern="1200" cap="none" spc="0" normalizeH="0" baseline="0" noProof="0" dirty="0">
                <a:ln>
                  <a:noFill/>
                </a:ln>
                <a:solidFill>
                  <a:schemeClr val="tx1"/>
                </a:solidFill>
                <a:effectLst/>
                <a:uLnTx/>
                <a:uFillTx/>
                <a:latin typeface="+mn-ea"/>
                <a:ea typeface="+mn-ea"/>
                <a:cs typeface="+mn-cs"/>
              </a:rPr>
              <a:t>             (w1,w2)</a:t>
            </a:r>
            <a:r>
              <a:rPr kumimoji="0" lang="en-US" altLang="zh-CN" sz="1600" b="1" i="0" u="none" strike="noStrike" kern="1200" cap="none" spc="0" normalizeH="0" baseline="0" noProof="0" dirty="0">
                <a:ln>
                  <a:noFill/>
                </a:ln>
                <a:solidFill>
                  <a:schemeClr val="tx1"/>
                </a:solidFill>
                <a:effectLst/>
                <a:uLnTx/>
                <a:uFillTx/>
                <a:latin typeface="+mn-ea"/>
                <a:ea typeface="+mn-ea"/>
                <a:cs typeface="+mn-cs"/>
                <a:sym typeface="Symbol" pitchFamily="18" charset="2"/>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E  =&gt; w1</a:t>
            </a:r>
            <a:r>
              <a:rPr kumimoji="0" lang="en-US" altLang="zh-CN" sz="1600" b="1" i="0" u="none" strike="noStrike" kern="1200" cap="none" spc="0" normalizeH="0" baseline="30000" noProof="0" dirty="0">
                <a:ln>
                  <a:noFill/>
                </a:ln>
                <a:solidFill>
                  <a:schemeClr val="tx1"/>
                </a:solidFill>
                <a:effectLst/>
                <a:uLnTx/>
                <a:uFillTx/>
                <a:latin typeface="+mn-ea"/>
                <a:ea typeface="+mn-ea"/>
                <a:cs typeface="+mn-cs"/>
              </a:rPr>
              <a:t>i  </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&lt; w2</a:t>
            </a:r>
            <a:r>
              <a:rPr kumimoji="0" lang="en-US" altLang="zh-CN" sz="1600" b="1" i="0" u="none" strike="noStrike" kern="1200" cap="none" spc="0" normalizeH="0" baseline="30000" noProof="0" dirty="0">
                <a:ln>
                  <a:noFill/>
                </a:ln>
                <a:solidFill>
                  <a:schemeClr val="tx1"/>
                </a:solidFill>
                <a:effectLst/>
                <a:uLnTx/>
                <a:uFillTx/>
                <a:latin typeface="+mn-ea"/>
                <a:ea typeface="+mn-ea"/>
                <a:cs typeface="+mn-cs"/>
              </a:rPr>
              <a:t>j</a:t>
            </a:r>
            <a:endParaRPr kumimoji="0" lang="en-US" altLang="zh-CN" sz="1600" b="1" i="0" u="none" strike="noStrike" kern="1200" cap="none" spc="0" normalizeH="0" baseline="3000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0000"/>
              </a:lnSpc>
              <a:spcBef>
                <a:spcPts val="600"/>
              </a:spcBef>
              <a:spcAft>
                <a:spcPct val="0"/>
              </a:spcAft>
              <a:buClrTx/>
              <a:buSzTx/>
              <a:buFontTx/>
              <a:buNone/>
              <a:defRPr/>
            </a:pPr>
            <a:r>
              <a:rPr kumimoji="0" lang="en-US" altLang="zh-CN" sz="1600" b="1" i="0" u="none" strike="noStrike" kern="1200" cap="none" spc="0" normalizeH="0" baseline="30000" noProof="0" dirty="0">
                <a:ln>
                  <a:noFill/>
                </a:ln>
                <a:solidFill>
                  <a:schemeClr val="tx1"/>
                </a:solidFill>
                <a:effectLst/>
                <a:uLnTx/>
                <a:uFillTx/>
                <a:latin typeface="+mn-ea"/>
                <a:ea typeface="+mn-ea"/>
                <a:cs typeface="+mn-cs"/>
              </a:rPr>
              <a:t>                      </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r,w</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sym typeface="Symbol" pitchFamily="18" charset="2"/>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E  =&gt; </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r</a:t>
            </a:r>
            <a:r>
              <a:rPr kumimoji="0" lang="en-US" altLang="zh-CN" sz="1600" b="1" i="0" u="none" strike="noStrike" kern="1200" cap="none" spc="0" normalizeH="0" baseline="30000" noProof="0" dirty="0" err="1">
                <a:ln>
                  <a:noFill/>
                </a:ln>
                <a:solidFill>
                  <a:schemeClr val="tx1"/>
                </a:solidFill>
                <a:effectLst/>
                <a:uLnTx/>
                <a:uFillTx/>
                <a:latin typeface="+mn-ea"/>
                <a:ea typeface="+mn-ea"/>
                <a:cs typeface="+mn-cs"/>
              </a:rPr>
              <a:t>c</a:t>
            </a:r>
            <a:r>
              <a:rPr kumimoji="0" lang="en-US" altLang="zh-CN" sz="1600" b="1" i="0" u="none" strike="noStrike" kern="1200" cap="none" spc="0" normalizeH="0" baseline="30000" noProof="0" dirty="0">
                <a:ln>
                  <a:noFill/>
                </a:ln>
                <a:solidFill>
                  <a:schemeClr val="tx1"/>
                </a:solidFill>
                <a:effectLst/>
                <a:uLnTx/>
                <a:uFillTx/>
                <a:latin typeface="+mn-ea"/>
                <a:ea typeface="+mn-ea"/>
                <a:cs typeface="+mn-cs"/>
              </a:rPr>
              <a:t>  </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&lt; </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w</a:t>
            </a:r>
            <a:r>
              <a:rPr kumimoji="0" lang="en-US" altLang="zh-CN" sz="1600" b="1" i="0" u="none" strike="noStrike" kern="1200" cap="none" spc="0" normalizeH="0" baseline="30000" noProof="0" dirty="0" err="1">
                <a:ln>
                  <a:noFill/>
                </a:ln>
                <a:solidFill>
                  <a:schemeClr val="tx1"/>
                </a:solidFill>
                <a:effectLst/>
                <a:uLnTx/>
                <a:uFillTx/>
                <a:latin typeface="+mn-ea"/>
                <a:ea typeface="+mn-ea"/>
                <a:cs typeface="+mn-cs"/>
              </a:rPr>
              <a:t>c</a:t>
            </a:r>
            <a:endParaRPr kumimoji="0"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0000"/>
              </a:lnSpc>
              <a:spcBef>
                <a:spcPts val="600"/>
              </a:spcBef>
              <a:spcAft>
                <a:spcPct val="0"/>
              </a:spcAft>
              <a:buClrTx/>
              <a:buSzTx/>
              <a:buFontTx/>
              <a:buNone/>
              <a:defRPr/>
            </a:pPr>
            <a:r>
              <a:rPr kumimoji="0" lang="en-US" altLang="zh-CN" sz="1600" b="1" i="0" u="none" strike="noStrike" kern="1200" cap="none" spc="0" normalizeH="0" baseline="0" noProof="0" dirty="0">
                <a:ln>
                  <a:noFill/>
                </a:ln>
                <a:solidFill>
                  <a:schemeClr val="tx1"/>
                </a:solidFill>
                <a:effectLst/>
                <a:uLnTx/>
                <a:uFillTx/>
                <a:latin typeface="+mn-ea"/>
                <a:ea typeface="+mn-ea"/>
                <a:cs typeface="+mn-cs"/>
              </a:rPr>
              <a:t>               (</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w,r</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sym typeface="Symbol" pitchFamily="18" charset="2"/>
              </a:rPr>
              <a:t></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E  =&gt; </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w</a:t>
            </a:r>
            <a:r>
              <a:rPr kumimoji="0" lang="en-US" altLang="zh-CN" sz="1600" b="1" i="0" u="none" strike="noStrike" kern="1200" cap="none" spc="0" normalizeH="0" baseline="30000" noProof="0" dirty="0" err="1">
                <a:ln>
                  <a:noFill/>
                </a:ln>
                <a:solidFill>
                  <a:schemeClr val="tx1"/>
                </a:solidFill>
                <a:effectLst/>
                <a:uLnTx/>
                <a:uFillTx/>
                <a:latin typeface="+mn-ea"/>
                <a:ea typeface="+mn-ea"/>
                <a:cs typeface="+mn-cs"/>
              </a:rPr>
              <a:t>c</a:t>
            </a:r>
            <a:r>
              <a:rPr kumimoji="0" lang="en-US" altLang="zh-CN" sz="1600" b="1" i="0" u="none" strike="noStrike" kern="1200" cap="none" spc="0" normalizeH="0" baseline="30000" noProof="0" dirty="0">
                <a:ln>
                  <a:noFill/>
                </a:ln>
                <a:solidFill>
                  <a:schemeClr val="tx1"/>
                </a:solidFill>
                <a:effectLst/>
                <a:uLnTx/>
                <a:uFillTx/>
                <a:latin typeface="+mn-ea"/>
                <a:ea typeface="+mn-ea"/>
                <a:cs typeface="+mn-cs"/>
              </a:rPr>
              <a:t>  </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&lt; </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r</a:t>
            </a:r>
            <a:r>
              <a:rPr kumimoji="0" lang="en-US" altLang="zh-CN" sz="1600" b="1" i="0" u="none" strike="noStrike" kern="1200" cap="none" spc="0" normalizeH="0" baseline="30000" noProof="0" dirty="0" err="1">
                <a:ln>
                  <a:noFill/>
                </a:ln>
                <a:solidFill>
                  <a:schemeClr val="tx1"/>
                </a:solidFill>
                <a:effectLst/>
                <a:uLnTx/>
                <a:uFillTx/>
                <a:latin typeface="+mn-ea"/>
                <a:ea typeface="+mn-ea"/>
                <a:cs typeface="+mn-cs"/>
              </a:rPr>
              <a:t>c</a:t>
            </a:r>
            <a:endParaRPr kumimoji="0"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20000"/>
              </a:lnSpc>
              <a:spcBef>
                <a:spcPts val="600"/>
              </a:spcBef>
              <a:spcAft>
                <a:spcPct val="0"/>
              </a:spcAft>
              <a:buClrTx/>
              <a:buSzTx/>
              <a:buFontTx/>
              <a:buNone/>
              <a:defRPr/>
            </a:pPr>
            <a:r>
              <a:rPr kumimoji="0" lang="en-US" altLang="zh-CN" sz="1600" b="1" i="0" u="none" strike="noStrike" kern="1200" cap="none" spc="0" normalizeH="0" baseline="0" noProof="0" dirty="0">
                <a:ln>
                  <a:noFill/>
                </a:ln>
                <a:solidFill>
                  <a:schemeClr val="tx1"/>
                </a:solidFill>
                <a:effectLst/>
                <a:uLnTx/>
                <a:uFillTx/>
                <a:latin typeface="+mn-ea"/>
                <a:ea typeface="+mn-ea"/>
                <a:cs typeface="+mn-cs"/>
              </a:rPr>
              <a:t>   </a:t>
            </a:r>
            <a:r>
              <a:rPr kumimoji="0" lang="zh-CN" altLang="zh-CN" sz="1600" b="1" i="0" u="none" strike="noStrike" kern="1200" cap="none" spc="0" normalizeH="0" baseline="0" noProof="0" dirty="0">
                <a:ln>
                  <a:noFill/>
                </a:ln>
                <a:solidFill>
                  <a:schemeClr val="tx1"/>
                </a:solidFill>
                <a:effectLst/>
                <a:uLnTx/>
                <a:uFillTx/>
                <a:latin typeface="+mn-ea"/>
                <a:ea typeface="+mn-ea"/>
                <a:cs typeface="+mn-cs"/>
              </a:rPr>
              <a:t>其中: </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c</a:t>
            </a:r>
            <a:r>
              <a:rPr kumimoji="0" lang="zh-CN" altLang="zh-CN" sz="1600" b="1" i="0" u="none" strike="noStrike" kern="1200" cap="none" spc="0" normalizeH="0" baseline="0" noProof="0" dirty="0">
                <a:ln>
                  <a:noFill/>
                </a:ln>
                <a:solidFill>
                  <a:schemeClr val="tx1"/>
                </a:solidFill>
                <a:effectLst/>
                <a:uLnTx/>
                <a:uFillTx/>
                <a:latin typeface="+mn-ea"/>
                <a:ea typeface="+mn-ea"/>
                <a:cs typeface="+mn-cs"/>
              </a:rPr>
              <a:t>为执行操作的处理机号，</a:t>
            </a:r>
            <a:r>
              <a:rPr kumimoji="0" lang="en-US" altLang="zh-CN" sz="1600" b="1" i="0" u="none" strike="noStrike" kern="1200" cap="none" spc="0" normalizeH="0" baseline="0" noProof="0" dirty="0" err="1">
                <a:ln>
                  <a:noFill/>
                </a:ln>
                <a:solidFill>
                  <a:schemeClr val="tx1"/>
                </a:solidFill>
                <a:effectLst/>
                <a:uLnTx/>
                <a:uFillTx/>
                <a:latin typeface="+mn-ea"/>
                <a:ea typeface="+mn-ea"/>
                <a:cs typeface="+mn-cs"/>
              </a:rPr>
              <a:t>i,j</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=1,2,…,n</a:t>
            </a:r>
            <a:endParaRPr kumimoji="0" lang="en-US" altLang="zh-CN" sz="16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20000"/>
              </a:lnSpc>
              <a:spcBef>
                <a:spcPts val="600"/>
              </a:spcBef>
              <a:spcAft>
                <a:spcPct val="0"/>
              </a:spcAft>
              <a:buClrTx/>
              <a:buSzTx/>
              <a:buFontTx/>
              <a:buChar char="•"/>
              <a:defRPr/>
            </a:pPr>
            <a:r>
              <a:rPr kumimoji="0" lang="zh-CN" altLang="zh-CN" sz="2000" b="1" i="0" u="none" strike="noStrike" kern="1200" cap="none" spc="0" normalizeH="0" baseline="0" noProof="0" dirty="0">
                <a:ln>
                  <a:noFill/>
                </a:ln>
                <a:solidFill>
                  <a:schemeClr val="tx1"/>
                </a:solidFill>
                <a:effectLst/>
                <a:uLnTx/>
                <a:uFillTx/>
                <a:latin typeface="+mn-ea"/>
                <a:ea typeface="+mn-ea"/>
                <a:cs typeface="+mn-cs"/>
              </a:rPr>
              <a:t>在写可分割系统中，若执行</a:t>
            </a:r>
            <a:r>
              <a:rPr kumimoji="0" lang="en-US" altLang="zh-CN" sz="2000" b="1" i="0" u="none" strike="noStrike" kern="1200" cap="none" spc="0" normalizeH="0" baseline="0" noProof="0" dirty="0">
                <a:ln>
                  <a:noFill/>
                </a:ln>
                <a:solidFill>
                  <a:schemeClr val="tx1"/>
                </a:solidFill>
                <a:effectLst/>
                <a:uLnTx/>
                <a:uFillTx/>
                <a:latin typeface="+mn-ea"/>
                <a:ea typeface="+mn-ea"/>
                <a:cs typeface="+mn-cs"/>
              </a:rPr>
              <a:t>E(PRG)</a:t>
            </a:r>
            <a:r>
              <a:rPr kumimoji="0" lang="zh-CN" altLang="zh-CN" sz="2000" b="1" i="0" u="none" strike="noStrike" kern="1200" cap="none" spc="0" normalizeH="0" baseline="0" noProof="0" dirty="0">
                <a:ln>
                  <a:noFill/>
                </a:ln>
                <a:solidFill>
                  <a:schemeClr val="tx1"/>
                </a:solidFill>
                <a:effectLst/>
                <a:uLnTx/>
                <a:uFillTx/>
                <a:latin typeface="+mn-ea"/>
                <a:ea typeface="+mn-ea"/>
                <a:cs typeface="+mn-cs"/>
              </a:rPr>
              <a:t>满足</a:t>
            </a:r>
            <a:r>
              <a:rPr kumimoji="0" lang="en-US" altLang="zh-CN" sz="2000" b="1" i="0" u="none" strike="noStrike" kern="1200" cap="none" spc="0" normalizeH="0" baseline="0" noProof="0" dirty="0">
                <a:ln>
                  <a:noFill/>
                </a:ln>
                <a:solidFill>
                  <a:schemeClr val="tx1"/>
                </a:solidFill>
                <a:effectLst/>
                <a:uLnTx/>
                <a:uFillTx/>
                <a:latin typeface="+mn-ea"/>
                <a:ea typeface="+mn-ea"/>
                <a:cs typeface="+mn-cs"/>
              </a:rPr>
              <a:t>GPPO</a:t>
            </a:r>
            <a:r>
              <a:rPr kumimoji="0" lang="zh-CN" altLang="zh-CN" sz="2000" b="1" i="0" u="none" strike="noStrike" kern="1200" cap="none" spc="0" normalizeH="0" baseline="0" noProof="0" dirty="0">
                <a:ln>
                  <a:noFill/>
                </a:ln>
                <a:solidFill>
                  <a:schemeClr val="tx1"/>
                </a:solidFill>
                <a:effectLst/>
                <a:uLnTx/>
                <a:uFillTx/>
                <a:latin typeface="+mn-ea"/>
                <a:ea typeface="+mn-ea"/>
                <a:cs typeface="+mn-cs"/>
              </a:rPr>
              <a:t>条件，则</a:t>
            </a:r>
            <a:r>
              <a:rPr kumimoji="0" lang="en-US" altLang="zh-CN" sz="2000" b="1" i="0" u="none" strike="noStrike" kern="1200" cap="none" spc="0" normalizeH="0" baseline="0" noProof="0" dirty="0">
                <a:ln>
                  <a:noFill/>
                </a:ln>
                <a:solidFill>
                  <a:schemeClr val="tx1"/>
                </a:solidFill>
                <a:effectLst/>
                <a:uLnTx/>
                <a:uFillTx/>
                <a:latin typeface="+mn-ea"/>
                <a:ea typeface="+mn-ea"/>
                <a:cs typeface="+mn-cs"/>
              </a:rPr>
              <a:t>E(PRG)</a:t>
            </a:r>
            <a:r>
              <a:rPr kumimoji="0" lang="zh-CN" altLang="zh-CN" sz="2000" b="1" i="0" u="none" strike="noStrike" kern="1200" cap="none" spc="0" normalizeH="0" baseline="0" noProof="0" dirty="0">
                <a:ln>
                  <a:noFill/>
                </a:ln>
                <a:solidFill>
                  <a:schemeClr val="tx1"/>
                </a:solidFill>
                <a:effectLst/>
                <a:uLnTx/>
                <a:uFillTx/>
                <a:latin typeface="+mn-ea"/>
                <a:ea typeface="+mn-ea"/>
                <a:cs typeface="+mn-cs"/>
              </a:rPr>
              <a:t>正确</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9699" name="Rectangle 2"/>
          <p:cNvSpPr>
            <a:spLocks noGrp="1"/>
          </p:cNvSpPr>
          <p:nvPr>
            <p:ph type="title"/>
          </p:nvPr>
        </p:nvSpPr>
        <p:spPr>
          <a:xfrm>
            <a:off x="609600" y="-17462"/>
            <a:ext cx="10971213" cy="1143000"/>
          </a:xfrm>
        </p:spPr>
        <p:txBody>
          <a:bodyPr vert="horz" wrap="square" lIns="91440" tIns="45720" rIns="91440" bIns="45720" anchor="ctr" anchorCtr="0"/>
          <a:lstStyle/>
          <a:p>
            <a:pPr eaLnBrk="1" hangingPunct="1"/>
            <a:r>
              <a:rPr lang="zh-CN" altLang="en-US" dirty="0"/>
              <a:t>顺序一致系统中的乱序执行</a:t>
            </a:r>
            <a:endParaRPr lang="zh-CN" altLang="en-US" dirty="0"/>
          </a:p>
        </p:txBody>
      </p:sp>
      <p:sp>
        <p:nvSpPr>
          <p:cNvPr id="26628" name="Rectangle 3"/>
          <p:cNvSpPr>
            <a:spLocks noGrp="1" noChangeArrowheads="1"/>
          </p:cNvSpPr>
          <p:nvPr>
            <p:ph idx="1"/>
          </p:nvPr>
        </p:nvSpPr>
        <p:spPr>
          <a:xfrm>
            <a:off x="374650" y="1052513"/>
            <a:ext cx="10860088" cy="5400675"/>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在顺序一致系统中的乱序执行</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rPr>
              <a:t>如果访存操作</a:t>
            </a:r>
            <a:r>
              <a:rPr kumimoji="0" lang="en-US" altLang="zh-CN" sz="1600" b="1" i="0" u="none" strike="noStrike" kern="0" cap="none" spc="0" normalizeH="0" baseline="0" noProof="0" dirty="0" smtClean="0">
                <a:ln>
                  <a:noFill/>
                </a:ln>
                <a:solidFill>
                  <a:schemeClr val="tx1"/>
                </a:solidFill>
                <a:effectLst/>
                <a:uLnTx/>
                <a:uFillTx/>
                <a:latin typeface="+mn-ea"/>
                <a:ea typeface="+mn-ea"/>
              </a:rPr>
              <a:t>u</a:t>
            </a:r>
            <a:r>
              <a:rPr kumimoji="0" lang="zh-CN" altLang="zh-CN" sz="1600" b="1" i="0" u="none" strike="noStrike" kern="0" cap="none" spc="0" normalizeH="0" baseline="0" noProof="0" dirty="0" smtClean="0">
                <a:ln>
                  <a:noFill/>
                </a:ln>
                <a:solidFill>
                  <a:schemeClr val="tx1"/>
                </a:solidFill>
                <a:effectLst/>
                <a:uLnTx/>
                <a:uFillTx/>
                <a:latin typeface="+mn-ea"/>
                <a:ea typeface="+mn-ea"/>
              </a:rPr>
              <a:t>和</a:t>
            </a:r>
            <a:r>
              <a:rPr kumimoji="0" lang="en-US" altLang="zh-CN" sz="1600" b="1" i="0" u="none" strike="noStrike" kern="0" cap="none" spc="0" normalizeH="0" baseline="0" noProof="0" dirty="0" smtClean="0">
                <a:ln>
                  <a:noFill/>
                </a:ln>
                <a:solidFill>
                  <a:schemeClr val="tx1"/>
                </a:solidFill>
                <a:effectLst/>
                <a:uLnTx/>
                <a:uFillTx/>
                <a:latin typeface="+mn-ea"/>
                <a:ea typeface="+mn-ea"/>
              </a:rPr>
              <a:t>v</a:t>
            </a:r>
            <a:r>
              <a:rPr kumimoji="0" lang="zh-CN" altLang="zh-CN" sz="1600" b="1" i="0" u="none" strike="noStrike" kern="0" cap="none" spc="0" normalizeH="0" baseline="0" noProof="0" dirty="0" smtClean="0">
                <a:ln>
                  <a:noFill/>
                </a:ln>
                <a:solidFill>
                  <a:schemeClr val="tx1"/>
                </a:solidFill>
                <a:effectLst/>
                <a:uLnTx/>
                <a:uFillTx/>
                <a:latin typeface="+mn-ea"/>
                <a:ea typeface="+mn-ea"/>
              </a:rPr>
              <a:t>是同一进程</a:t>
            </a:r>
            <a:r>
              <a:rPr kumimoji="0" lang="en-US" altLang="zh-CN" sz="1600" b="1" i="0" u="none" strike="noStrike" kern="0" cap="none" spc="0" normalizeH="0" baseline="0" noProof="0" dirty="0" smtClean="0">
                <a:ln>
                  <a:noFill/>
                </a:ln>
                <a:solidFill>
                  <a:schemeClr val="tx1"/>
                </a:solidFill>
                <a:effectLst/>
                <a:uLnTx/>
                <a:uFillTx/>
                <a:latin typeface="+mn-ea"/>
                <a:ea typeface="+mn-ea"/>
              </a:rPr>
              <a:t>Pi</a:t>
            </a:r>
            <a:r>
              <a:rPr kumimoji="0" lang="zh-CN" altLang="zh-CN" sz="1600" b="1" i="0" u="none" strike="noStrike" kern="0" cap="none" spc="0" normalizeH="0" baseline="0" noProof="0" dirty="0" smtClean="0">
                <a:ln>
                  <a:noFill/>
                </a:ln>
                <a:solidFill>
                  <a:schemeClr val="tx1"/>
                </a:solidFill>
                <a:effectLst/>
                <a:uLnTx/>
                <a:uFillTx/>
                <a:latin typeface="+mn-ea"/>
                <a:ea typeface="+mn-ea"/>
              </a:rPr>
              <a:t>的两个访存操作且</a:t>
            </a:r>
            <a:r>
              <a:rPr kumimoji="0" lang="en-US" altLang="zh-CN" sz="1600" b="1" i="0" u="none" strike="noStrike" kern="0" cap="none" spc="0" normalizeH="0" baseline="0" noProof="0" dirty="0" smtClean="0">
                <a:ln>
                  <a:noFill/>
                </a:ln>
                <a:solidFill>
                  <a:schemeClr val="tx1"/>
                </a:solidFill>
                <a:effectLst/>
                <a:uLnTx/>
                <a:uFillTx/>
                <a:latin typeface="+mn-ea"/>
                <a:ea typeface="+mn-ea"/>
              </a:rPr>
              <a:t>u</a:t>
            </a:r>
            <a:r>
              <a:rPr kumimoji="0" lang="zh-CN" altLang="zh-CN" sz="1600" b="1" i="0" u="none" strike="noStrike" kern="0" cap="none" spc="0" normalizeH="0" baseline="0" noProof="0" dirty="0" smtClean="0">
                <a:ln>
                  <a:noFill/>
                </a:ln>
                <a:solidFill>
                  <a:schemeClr val="tx1"/>
                </a:solidFill>
                <a:effectLst/>
                <a:uLnTx/>
                <a:uFillTx/>
                <a:latin typeface="+mn-ea"/>
                <a:ea typeface="+mn-ea"/>
              </a:rPr>
              <a:t>在</a:t>
            </a:r>
            <a:r>
              <a:rPr kumimoji="0" lang="en-US" altLang="zh-CN" sz="1600" b="1" i="0" u="none" strike="noStrike" kern="0" cap="none" spc="0" normalizeH="0" baseline="0" noProof="0" dirty="0" smtClean="0">
                <a:ln>
                  <a:noFill/>
                </a:ln>
                <a:solidFill>
                  <a:schemeClr val="tx1"/>
                </a:solidFill>
                <a:effectLst/>
                <a:uLnTx/>
                <a:uFillTx/>
                <a:latin typeface="+mn-ea"/>
                <a:ea typeface="+mn-ea"/>
              </a:rPr>
              <a:t>v</a:t>
            </a:r>
            <a:r>
              <a:rPr kumimoji="0" lang="zh-CN" altLang="zh-CN" sz="1600" b="1" i="0" u="none" strike="noStrike" kern="0" cap="none" spc="0" normalizeH="0" baseline="0" noProof="0" dirty="0" smtClean="0">
                <a:ln>
                  <a:noFill/>
                </a:ln>
                <a:solidFill>
                  <a:schemeClr val="tx1"/>
                </a:solidFill>
                <a:effectLst/>
                <a:uLnTx/>
                <a:uFillTx/>
                <a:latin typeface="+mn-ea"/>
                <a:ea typeface="+mn-ea"/>
              </a:rPr>
              <a:t>之前，则在如下条件下</a:t>
            </a:r>
            <a:r>
              <a:rPr kumimoji="0" lang="en-US" altLang="zh-CN" sz="1600" b="1" i="0" u="none" strike="noStrike" kern="0" cap="none" spc="0" normalizeH="0" baseline="0" noProof="0" dirty="0" smtClean="0">
                <a:ln>
                  <a:noFill/>
                </a:ln>
                <a:solidFill>
                  <a:schemeClr val="tx1"/>
                </a:solidFill>
                <a:effectLst/>
                <a:uLnTx/>
                <a:uFillTx/>
                <a:latin typeface="+mn-ea"/>
                <a:ea typeface="+mn-ea"/>
              </a:rPr>
              <a:t>v</a:t>
            </a:r>
            <a:r>
              <a:rPr kumimoji="0" lang="zh-CN" altLang="zh-CN" sz="1600" b="1" i="0" u="none" strike="noStrike" kern="0" cap="none" spc="0" normalizeH="0" baseline="0" noProof="0" dirty="0" smtClean="0">
                <a:ln>
                  <a:noFill/>
                </a:ln>
                <a:solidFill>
                  <a:schemeClr val="tx1"/>
                </a:solidFill>
                <a:effectLst/>
                <a:uLnTx/>
                <a:uFillTx/>
                <a:latin typeface="+mn-ea"/>
                <a:ea typeface="+mn-ea"/>
              </a:rPr>
              <a:t>可先于</a:t>
            </a:r>
            <a:r>
              <a:rPr kumimoji="0" lang="en-US" altLang="zh-CN" sz="1600" b="1" i="0" u="none" strike="noStrike" kern="0" cap="none" spc="0" normalizeH="0" baseline="0" noProof="0" dirty="0" smtClean="0">
                <a:ln>
                  <a:noFill/>
                </a:ln>
                <a:solidFill>
                  <a:schemeClr val="tx1"/>
                </a:solidFill>
                <a:effectLst/>
                <a:uLnTx/>
                <a:uFillTx/>
                <a:latin typeface="+mn-ea"/>
                <a:ea typeface="+mn-ea"/>
              </a:rPr>
              <a:t>u</a:t>
            </a:r>
            <a:r>
              <a:rPr kumimoji="0" lang="zh-CN" altLang="zh-CN" sz="1600" b="1" i="0" u="none" strike="noStrike" kern="0" cap="none" spc="0" normalizeH="0" baseline="0" noProof="0" dirty="0" smtClean="0">
                <a:ln>
                  <a:noFill/>
                </a:ln>
                <a:solidFill>
                  <a:schemeClr val="tx1"/>
                </a:solidFill>
                <a:effectLst/>
                <a:uLnTx/>
                <a:uFillTx/>
                <a:latin typeface="+mn-ea"/>
                <a:ea typeface="+mn-ea"/>
              </a:rPr>
              <a:t>执行而不影响程序正确性：在</a:t>
            </a:r>
            <a:r>
              <a:rPr kumimoji="0" lang="en-US" altLang="zh-CN" sz="1600" b="1" i="0" u="none" strike="noStrike" kern="0" cap="none" spc="0" normalizeH="0" baseline="0" noProof="0" dirty="0" smtClean="0">
                <a:ln>
                  <a:noFill/>
                </a:ln>
                <a:solidFill>
                  <a:schemeClr val="tx1"/>
                </a:solidFill>
                <a:effectLst/>
                <a:uLnTx/>
                <a:uFillTx/>
                <a:latin typeface="+mn-ea"/>
                <a:ea typeface="+mn-ea"/>
              </a:rPr>
              <a:t>v</a:t>
            </a:r>
            <a:r>
              <a:rPr kumimoji="0" lang="zh-CN" altLang="zh-CN" sz="1600" b="1" i="0" u="none" strike="noStrike" kern="0" cap="none" spc="0" normalizeH="0" baseline="0" noProof="0" dirty="0" smtClean="0">
                <a:ln>
                  <a:noFill/>
                </a:ln>
                <a:solidFill>
                  <a:schemeClr val="tx1"/>
                </a:solidFill>
                <a:effectLst/>
                <a:uLnTx/>
                <a:uFillTx/>
                <a:latin typeface="+mn-ea"/>
                <a:ea typeface="+mn-ea"/>
              </a:rPr>
              <a:t>发出之后</a:t>
            </a:r>
            <a:r>
              <a:rPr kumimoji="0" lang="en-US" altLang="zh-CN" sz="1600" b="1" i="0" u="none" strike="noStrike" kern="0" cap="none" spc="0" normalizeH="0" baseline="0" noProof="0" dirty="0" smtClean="0">
                <a:ln>
                  <a:noFill/>
                </a:ln>
                <a:solidFill>
                  <a:schemeClr val="tx1"/>
                </a:solidFill>
                <a:effectLst/>
                <a:uLnTx/>
                <a:uFillTx/>
                <a:latin typeface="+mn-ea"/>
                <a:ea typeface="+mn-ea"/>
              </a:rPr>
              <a:t>u“</a:t>
            </a:r>
            <a:r>
              <a:rPr kumimoji="0" lang="zh-CN" altLang="zh-CN" sz="1600" b="1" i="0" u="none" strike="noStrike" kern="0" cap="none" spc="0" normalizeH="0" baseline="0" noProof="0" dirty="0" smtClean="0">
                <a:ln>
                  <a:noFill/>
                </a:ln>
                <a:solidFill>
                  <a:schemeClr val="tx1"/>
                </a:solidFill>
                <a:effectLst/>
                <a:uLnTx/>
                <a:uFillTx/>
                <a:latin typeface="+mn-ea"/>
                <a:ea typeface="+mn-ea"/>
              </a:rPr>
              <a:t>彻底完成”之前的这段时间内，没有其他对</a:t>
            </a:r>
            <a:r>
              <a:rPr kumimoji="0" lang="en-US" altLang="zh-CN" sz="1600" b="1" i="0" u="none" strike="noStrike" kern="0" cap="none" spc="0" normalizeH="0" baseline="0" noProof="0" dirty="0" smtClean="0">
                <a:ln>
                  <a:noFill/>
                </a:ln>
                <a:solidFill>
                  <a:schemeClr val="tx1"/>
                </a:solidFill>
                <a:effectLst/>
                <a:uLnTx/>
                <a:uFillTx/>
                <a:latin typeface="+mn-ea"/>
                <a:ea typeface="+mn-ea"/>
              </a:rPr>
              <a:t>v</a:t>
            </a:r>
            <a:r>
              <a:rPr kumimoji="0" lang="zh-CN" altLang="zh-CN" sz="1600" b="1" i="0" u="none" strike="noStrike" kern="0" cap="none" spc="0" normalizeH="0" baseline="0" noProof="0" dirty="0" smtClean="0">
                <a:ln>
                  <a:noFill/>
                </a:ln>
                <a:solidFill>
                  <a:schemeClr val="tx1"/>
                </a:solidFill>
                <a:effectLst/>
                <a:uLnTx/>
                <a:uFillTx/>
                <a:latin typeface="+mn-ea"/>
                <a:ea typeface="+mn-ea"/>
              </a:rPr>
              <a:t>所访问单元的访问相对于</a:t>
            </a:r>
            <a:r>
              <a:rPr kumimoji="0" lang="en-US" altLang="zh-CN" sz="1600" b="1" i="0" u="none" strike="noStrike" kern="0" cap="none" spc="0" normalizeH="0" baseline="0" noProof="0" dirty="0" smtClean="0">
                <a:ln>
                  <a:noFill/>
                </a:ln>
                <a:solidFill>
                  <a:schemeClr val="tx1"/>
                </a:solidFill>
                <a:effectLst/>
                <a:uLnTx/>
                <a:uFillTx/>
                <a:latin typeface="+mn-ea"/>
                <a:ea typeface="+mn-ea"/>
              </a:rPr>
              <a:t>Pi</a:t>
            </a:r>
            <a:r>
              <a:rPr kumimoji="0" lang="zh-CN" altLang="zh-CN" sz="1600" b="1" i="0" u="none" strike="noStrike" kern="0" cap="none" spc="0" normalizeH="0" baseline="0" noProof="0" dirty="0" smtClean="0">
                <a:ln>
                  <a:noFill/>
                </a:ln>
                <a:solidFill>
                  <a:schemeClr val="tx1"/>
                </a:solidFill>
                <a:effectLst/>
                <a:uLnTx/>
                <a:uFillTx/>
                <a:latin typeface="+mn-ea"/>
                <a:ea typeface="+mn-ea"/>
              </a:rPr>
              <a:t>完成</a:t>
            </a:r>
            <a:r>
              <a:rPr kumimoji="0" lang="zh-CN" altLang="en-US" sz="1600" b="1" i="0" u="none" strike="noStrike" kern="0" cap="none" spc="0" normalizeH="0" baseline="0" noProof="0" dirty="0" smtClean="0">
                <a:ln>
                  <a:noFill/>
                </a:ln>
                <a:solidFill>
                  <a:schemeClr val="tx1"/>
                </a:solidFill>
                <a:effectLst/>
                <a:uLnTx/>
                <a:uFillTx/>
                <a:latin typeface="+mn-ea"/>
                <a:ea typeface="+mn-ea"/>
              </a:rPr>
              <a:t>（如</a:t>
            </a:r>
            <a:r>
              <a:rPr kumimoji="0" lang="en-US" altLang="zh-CN" sz="1600" b="1" i="0" u="none" strike="noStrike" kern="0" cap="none" spc="0" normalizeH="0" baseline="0" noProof="0" dirty="0" smtClean="0">
                <a:ln>
                  <a:noFill/>
                </a:ln>
                <a:solidFill>
                  <a:schemeClr val="tx1"/>
                </a:solidFill>
                <a:effectLst/>
                <a:uLnTx/>
                <a:uFillTx/>
                <a:latin typeface="+mn-ea"/>
                <a:ea typeface="+mn-ea"/>
              </a:rPr>
              <a:t>v</a:t>
            </a:r>
            <a:r>
              <a:rPr kumimoji="0" lang="zh-CN" altLang="en-US" sz="1600" b="1" i="0" u="none" strike="noStrike" kern="0" cap="none" spc="0" normalizeH="0" baseline="0" noProof="0" dirty="0" smtClean="0">
                <a:ln>
                  <a:noFill/>
                </a:ln>
                <a:solidFill>
                  <a:schemeClr val="tx1"/>
                </a:solidFill>
                <a:effectLst/>
                <a:uLnTx/>
                <a:uFillTx/>
                <a:latin typeface="+mn-ea"/>
                <a:ea typeface="+mn-ea"/>
              </a:rPr>
              <a:t>所访问单元</a:t>
            </a:r>
            <a:r>
              <a:rPr kumimoji="0" lang="zh-CN" altLang="zh-CN" sz="1600" b="1" i="0" u="none" strike="noStrike" kern="0" cap="none" spc="0" normalizeH="0" baseline="0" noProof="0" dirty="0" smtClean="0">
                <a:ln>
                  <a:noFill/>
                </a:ln>
                <a:solidFill>
                  <a:schemeClr val="tx1"/>
                </a:solidFill>
                <a:effectLst/>
                <a:uLnTx/>
                <a:uFillTx/>
                <a:latin typeface="+mn-ea"/>
                <a:ea typeface="+mn-ea"/>
              </a:rPr>
              <a:t>在</a:t>
            </a:r>
            <a:r>
              <a:rPr kumimoji="0" lang="en-US" altLang="zh-CN" sz="1600" b="1" i="0" u="none" strike="noStrike" kern="0" cap="none" spc="0" normalizeH="0" baseline="0" noProof="0" dirty="0" smtClean="0">
                <a:ln>
                  <a:noFill/>
                </a:ln>
                <a:solidFill>
                  <a:schemeClr val="tx1"/>
                </a:solidFill>
                <a:effectLst/>
                <a:uLnTx/>
                <a:uFillTx/>
                <a:latin typeface="+mn-ea"/>
                <a:ea typeface="+mn-ea"/>
              </a:rPr>
              <a:t>Pi</a:t>
            </a:r>
            <a:r>
              <a:rPr kumimoji="0" lang="zh-CN" altLang="zh-CN" sz="1600" b="1" i="0" u="none" strike="noStrike" kern="0" cap="none" spc="0" normalizeH="0" baseline="0" noProof="0" dirty="0" smtClean="0">
                <a:ln>
                  <a:noFill/>
                </a:ln>
                <a:solidFill>
                  <a:schemeClr val="tx1"/>
                </a:solidFill>
                <a:effectLst/>
                <a:uLnTx/>
                <a:uFillTx/>
                <a:latin typeface="+mn-ea"/>
                <a:ea typeface="+mn-ea"/>
              </a:rPr>
              <a:t>中的备份不被更新</a:t>
            </a:r>
            <a:r>
              <a:rPr kumimoji="0" lang="zh-CN" altLang="en-US" sz="1600" b="1" i="0" u="none" strike="noStrike" kern="0" cap="none" spc="0" normalizeH="0" baseline="0" noProof="0" dirty="0" smtClean="0">
                <a:ln>
                  <a:noFill/>
                </a:ln>
                <a:solidFill>
                  <a:schemeClr val="tx1"/>
                </a:solidFill>
                <a:effectLst/>
                <a:uLnTx/>
                <a:uFillTx/>
                <a:latin typeface="+mn-ea"/>
                <a:ea typeface="+mn-ea"/>
              </a:rPr>
              <a:t>）</a:t>
            </a:r>
            <a:endParaRPr kumimoji="0" lang="zh-CN" altLang="zh-CN"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zh-CN" sz="1600" b="1" i="0" u="none" strike="noStrike" kern="0" cap="none" spc="0" normalizeH="0" baseline="0" noProof="0" dirty="0" smtClean="0">
                <a:ln>
                  <a:noFill/>
                </a:ln>
                <a:solidFill>
                  <a:schemeClr val="tx1"/>
                </a:solidFill>
                <a:effectLst/>
                <a:uLnTx/>
                <a:uFillTx/>
                <a:latin typeface="+mn-ea"/>
                <a:ea typeface="+mn-ea"/>
              </a:rPr>
              <a:t>例：</a:t>
            </a:r>
            <a:r>
              <a:rPr kumimoji="0" lang="en-US" altLang="zh-CN" sz="1600" b="1" i="0" u="none" strike="noStrike" kern="0" cap="none" spc="0" normalizeH="0" baseline="0" noProof="0" dirty="0" smtClean="0">
                <a:ln>
                  <a:noFill/>
                </a:ln>
                <a:solidFill>
                  <a:schemeClr val="tx1"/>
                </a:solidFill>
                <a:effectLst/>
                <a:uLnTx/>
                <a:uFillTx/>
                <a:latin typeface="+mn-ea"/>
                <a:ea typeface="+mn-ea"/>
              </a:rPr>
              <a:t>Process 1           Process2</a:t>
            </a:r>
            <a:endParaRPr kumimoji="0" lang="en-US" altLang="zh-CN"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None/>
              <a:defRPr/>
            </a:pPr>
            <a:r>
              <a:rPr kumimoji="0" lang="en-US" altLang="zh-CN" sz="1600" b="1" i="0" u="none" strike="noStrike" kern="0" cap="none" spc="0" normalizeH="0" baseline="0" noProof="0" dirty="0" smtClean="0">
                <a:ln>
                  <a:noFill/>
                </a:ln>
                <a:solidFill>
                  <a:schemeClr val="tx1"/>
                </a:solidFill>
                <a:effectLst/>
                <a:uLnTx/>
                <a:uFillTx/>
                <a:latin typeface="+mn-ea"/>
                <a:ea typeface="+mn-ea"/>
              </a:rPr>
              <a:t>      STORE a,1           STORE b,1</a:t>
            </a:r>
            <a:endParaRPr kumimoji="0" lang="en-US" altLang="zh-CN"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None/>
              <a:defRPr/>
            </a:pPr>
            <a:r>
              <a:rPr kumimoji="0" lang="en-US" altLang="zh-CN" sz="1600" b="1" i="0" u="none" strike="noStrike" kern="0" cap="none" spc="0" normalizeH="0" baseline="0" noProof="0" dirty="0" smtClean="0">
                <a:ln>
                  <a:noFill/>
                </a:ln>
                <a:solidFill>
                  <a:schemeClr val="tx1"/>
                </a:solidFill>
                <a:effectLst/>
                <a:uLnTx/>
                <a:uFillTx/>
                <a:latin typeface="+mn-ea"/>
                <a:ea typeface="+mn-ea"/>
              </a:rPr>
              <a:t>      LOAD  R1,b          LOAD  R2,a</a:t>
            </a:r>
            <a:endParaRPr kumimoji="0" lang="en-US" altLang="zh-CN" sz="16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乱序执行的实现方法：猜测执行</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600" b="1" i="0" u="none" strike="noStrike" kern="0" cap="none" spc="0" normalizeH="0" baseline="0" noProof="0" dirty="0" smtClean="0">
                <a:ln>
                  <a:noFill/>
                </a:ln>
                <a:solidFill>
                  <a:schemeClr val="tx1"/>
                </a:solidFill>
                <a:effectLst/>
                <a:uLnTx/>
                <a:uFillTx/>
                <a:latin typeface="+mn-ea"/>
                <a:ea typeface="+mn-ea"/>
              </a:rPr>
              <a:t>先往下执行，收到相应的</a:t>
            </a:r>
            <a:r>
              <a:rPr kumimoji="0" lang="en-US" altLang="zh-CN" sz="1600" b="1" i="0" u="none" strike="noStrike" kern="0" cap="none" spc="0" normalizeH="0" baseline="0" noProof="0" dirty="0" smtClean="0">
                <a:ln>
                  <a:noFill/>
                </a:ln>
                <a:solidFill>
                  <a:schemeClr val="tx1"/>
                </a:solidFill>
                <a:effectLst/>
                <a:uLnTx/>
                <a:uFillTx/>
                <a:latin typeface="+mn-ea"/>
                <a:ea typeface="+mn-ea"/>
              </a:rPr>
              <a:t>invalidate</a:t>
            </a:r>
            <a:r>
              <a:rPr kumimoji="0" lang="zh-CN" altLang="zh-CN" sz="1600" b="1" i="0" u="none" strike="noStrike" kern="0" cap="none" spc="0" normalizeH="0" baseline="0" noProof="0" dirty="0" smtClean="0">
                <a:ln>
                  <a:noFill/>
                </a:ln>
                <a:solidFill>
                  <a:schemeClr val="tx1"/>
                </a:solidFill>
                <a:effectLst/>
                <a:uLnTx/>
                <a:uFillTx/>
                <a:latin typeface="+mn-ea"/>
                <a:ea typeface="+mn-ea"/>
              </a:rPr>
              <a:t>信号再反悔</a:t>
            </a:r>
            <a:r>
              <a:rPr kumimoji="0" lang="zh-CN" altLang="en-US" sz="1600" b="1" i="0" u="none" strike="noStrike" kern="0" cap="none" spc="0" normalizeH="0" baseline="0" noProof="0" dirty="0" smtClean="0">
                <a:ln>
                  <a:noFill/>
                </a:ln>
                <a:solidFill>
                  <a:schemeClr val="tx1"/>
                </a:solidFill>
                <a:effectLst/>
                <a:uLnTx/>
                <a:uFillTx/>
                <a:latin typeface="+mn-ea"/>
                <a:ea typeface="+mn-ea"/>
              </a:rPr>
              <a:t>，区分处理器是不是顺序一致的主要标志</a:t>
            </a:r>
            <a:endParaRPr kumimoji="0" lang="zh-CN" altLang="en-US" sz="1600" b="1" i="0" u="none" strike="noStrike" kern="0" cap="none" spc="0" normalizeH="0" baseline="0" noProof="0" dirty="0" smtClean="0">
              <a:ln>
                <a:noFill/>
              </a:ln>
              <a:solidFill>
                <a:schemeClr val="tx1"/>
              </a:solidFill>
              <a:effectLst/>
              <a:uLnTx/>
              <a:uFillTx/>
              <a:latin typeface="+mn-ea"/>
              <a:ea typeface="+mn-ea"/>
            </a:endParaRPr>
          </a:p>
        </p:txBody>
      </p:sp>
      <p:grpSp>
        <p:nvGrpSpPr>
          <p:cNvPr id="29701" name="Group 4"/>
          <p:cNvGrpSpPr/>
          <p:nvPr/>
        </p:nvGrpSpPr>
        <p:grpSpPr>
          <a:xfrm>
            <a:off x="9197975" y="2924175"/>
            <a:ext cx="1835150" cy="1316038"/>
            <a:chOff x="4800" y="2472"/>
            <a:chExt cx="940" cy="829"/>
          </a:xfrm>
        </p:grpSpPr>
        <p:sp>
          <p:nvSpPr>
            <p:cNvPr id="29702" name="Text Box 5"/>
            <p:cNvSpPr txBox="1"/>
            <p:nvPr/>
          </p:nvSpPr>
          <p:spPr>
            <a:xfrm>
              <a:off x="4944" y="2516"/>
              <a:ext cx="294" cy="785"/>
            </a:xfrm>
            <a:prstGeom prst="rect">
              <a:avLst/>
            </a:prstGeom>
            <a:noFill/>
            <a:ln w="9525">
              <a:noFill/>
            </a:ln>
          </p:spPr>
          <p:txBody>
            <a:bodyPr anchor="ctr" anchorCtr="0">
              <a:spAutoFit/>
            </a:bodyPr>
            <a:lstStyle/>
            <a:p>
              <a:pPr algn="ctr" eaLnBrk="0" hangingPunct="0">
                <a:spcBef>
                  <a:spcPct val="50000"/>
                </a:spcBef>
              </a:pPr>
              <a:r>
                <a:rPr lang="en-US" altLang="zh-CN" dirty="0">
                  <a:solidFill>
                    <a:srgbClr val="FF0000"/>
                  </a:solidFill>
                  <a:latin typeface="Times New Roman" pitchFamily="18" charset="0"/>
                </a:rPr>
                <a:t>Sa</a:t>
              </a:r>
              <a:endParaRPr lang="en-US" altLang="zh-CN" dirty="0">
                <a:solidFill>
                  <a:srgbClr val="FF0000"/>
                </a:solidFill>
                <a:latin typeface="Times New Roman" pitchFamily="18" charset="0"/>
              </a:endParaRPr>
            </a:p>
            <a:p>
              <a:pPr algn="ctr" eaLnBrk="0" hangingPunct="0">
                <a:spcBef>
                  <a:spcPct val="50000"/>
                </a:spcBef>
              </a:pPr>
              <a:endParaRPr lang="en-US" altLang="zh-CN" dirty="0">
                <a:solidFill>
                  <a:srgbClr val="FF0000"/>
                </a:solidFill>
                <a:latin typeface="Times New Roman" pitchFamily="18" charset="0"/>
              </a:endParaRPr>
            </a:p>
            <a:p>
              <a:pPr algn="ctr" eaLnBrk="0" hangingPunct="0">
                <a:spcBef>
                  <a:spcPct val="50000"/>
                </a:spcBef>
              </a:pPr>
              <a:r>
                <a:rPr lang="en-US" altLang="zh-CN" dirty="0">
                  <a:solidFill>
                    <a:srgbClr val="FF0000"/>
                  </a:solidFill>
                  <a:latin typeface="Times New Roman" pitchFamily="18" charset="0"/>
                </a:rPr>
                <a:t>Lb</a:t>
              </a:r>
              <a:endParaRPr lang="en-US" altLang="zh-CN" sz="2000" dirty="0">
                <a:solidFill>
                  <a:srgbClr val="FF0000"/>
                </a:solidFill>
                <a:latin typeface="Times New Roman" pitchFamily="18" charset="0"/>
              </a:endParaRPr>
            </a:p>
          </p:txBody>
        </p:sp>
        <p:sp>
          <p:nvSpPr>
            <p:cNvPr id="29703" name="Line 6"/>
            <p:cNvSpPr/>
            <p:nvPr/>
          </p:nvSpPr>
          <p:spPr>
            <a:xfrm flipH="1">
              <a:off x="4800" y="3192"/>
              <a:ext cx="144" cy="0"/>
            </a:xfrm>
            <a:prstGeom prst="line">
              <a:avLst/>
            </a:prstGeom>
            <a:ln w="9525" cap="flat" cmpd="sng">
              <a:solidFill>
                <a:srgbClr val="FF0000"/>
              </a:solidFill>
              <a:prstDash val="solid"/>
              <a:headEnd type="none" w="med" len="med"/>
              <a:tailEnd type="none" w="med" len="med"/>
            </a:ln>
          </p:spPr>
        </p:sp>
        <p:sp>
          <p:nvSpPr>
            <p:cNvPr id="29704" name="Line 7"/>
            <p:cNvSpPr/>
            <p:nvPr/>
          </p:nvSpPr>
          <p:spPr>
            <a:xfrm flipV="1">
              <a:off x="4800" y="2472"/>
              <a:ext cx="0" cy="720"/>
            </a:xfrm>
            <a:prstGeom prst="line">
              <a:avLst/>
            </a:prstGeom>
            <a:ln w="9525" cap="flat" cmpd="sng">
              <a:solidFill>
                <a:srgbClr val="FF0000"/>
              </a:solidFill>
              <a:prstDash val="solid"/>
              <a:headEnd type="none" w="med" len="med"/>
              <a:tailEnd type="none" w="med" len="med"/>
            </a:ln>
          </p:spPr>
        </p:sp>
        <p:sp>
          <p:nvSpPr>
            <p:cNvPr id="29705" name="Line 8"/>
            <p:cNvSpPr/>
            <p:nvPr/>
          </p:nvSpPr>
          <p:spPr>
            <a:xfrm>
              <a:off x="4800" y="2472"/>
              <a:ext cx="288" cy="0"/>
            </a:xfrm>
            <a:prstGeom prst="line">
              <a:avLst/>
            </a:prstGeom>
            <a:ln w="9525" cap="flat" cmpd="sng">
              <a:solidFill>
                <a:srgbClr val="FF0000"/>
              </a:solidFill>
              <a:prstDash val="solid"/>
              <a:headEnd type="none" w="med" len="med"/>
              <a:tailEnd type="triangle" w="med" len="med"/>
            </a:ln>
          </p:spPr>
        </p:sp>
        <p:sp>
          <p:nvSpPr>
            <p:cNvPr id="29706" name="Line 9"/>
            <p:cNvSpPr/>
            <p:nvPr/>
          </p:nvSpPr>
          <p:spPr>
            <a:xfrm>
              <a:off x="5328" y="2472"/>
              <a:ext cx="240" cy="0"/>
            </a:xfrm>
            <a:prstGeom prst="line">
              <a:avLst/>
            </a:prstGeom>
            <a:ln w="9525" cap="flat" cmpd="sng">
              <a:solidFill>
                <a:srgbClr val="FF0000"/>
              </a:solidFill>
              <a:prstDash val="solid"/>
              <a:headEnd type="none" w="med" len="med"/>
              <a:tailEnd type="none" w="med" len="med"/>
            </a:ln>
          </p:spPr>
        </p:sp>
        <p:sp>
          <p:nvSpPr>
            <p:cNvPr id="29707" name="Line 10"/>
            <p:cNvSpPr/>
            <p:nvPr/>
          </p:nvSpPr>
          <p:spPr>
            <a:xfrm>
              <a:off x="5328" y="3192"/>
              <a:ext cx="240" cy="0"/>
            </a:xfrm>
            <a:prstGeom prst="line">
              <a:avLst/>
            </a:prstGeom>
            <a:ln w="9525" cap="flat" cmpd="sng">
              <a:solidFill>
                <a:srgbClr val="FF0000"/>
              </a:solidFill>
              <a:prstDash val="solid"/>
              <a:headEnd type="none" w="med" len="med"/>
              <a:tailEnd type="none" w="med" len="med"/>
            </a:ln>
          </p:spPr>
        </p:sp>
        <p:sp>
          <p:nvSpPr>
            <p:cNvPr id="29708" name="Text Box 11"/>
            <p:cNvSpPr txBox="1"/>
            <p:nvPr/>
          </p:nvSpPr>
          <p:spPr>
            <a:xfrm>
              <a:off x="5394" y="2701"/>
              <a:ext cx="346" cy="213"/>
            </a:xfrm>
            <a:prstGeom prst="rect">
              <a:avLst/>
            </a:prstGeom>
            <a:noFill/>
            <a:ln w="9525">
              <a:noFill/>
            </a:ln>
          </p:spPr>
          <p:txBody>
            <a:bodyPr wrap="none" anchor="ctr" anchorCtr="0">
              <a:spAutoFit/>
            </a:bodyPr>
            <a:lstStyle/>
            <a:p>
              <a:pPr algn="ctr" eaLnBrk="0" hangingPunct="0">
                <a:spcBef>
                  <a:spcPct val="50000"/>
                </a:spcBef>
              </a:pPr>
              <a:r>
                <a:rPr lang="en-US" altLang="zh-CN" sz="1600" i="1" dirty="0">
                  <a:solidFill>
                    <a:srgbClr val="FF0000"/>
                  </a:solidFill>
                  <a:latin typeface="Times New Roman" pitchFamily="18" charset="0"/>
                </a:rPr>
                <a:t>inv(b)</a:t>
              </a:r>
              <a:endParaRPr lang="en-US" altLang="zh-CN" sz="2400" dirty="0">
                <a:solidFill>
                  <a:srgbClr val="FF0000"/>
                </a:solidFill>
                <a:latin typeface="Times New Roman" pitchFamily="18" charset="0"/>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4"/>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0723" name="Rectangle 2"/>
          <p:cNvSpPr>
            <a:spLocks noGrp="1"/>
          </p:cNvSpPr>
          <p:nvPr>
            <p:ph type="title"/>
          </p:nvPr>
        </p:nvSpPr>
        <p:spPr>
          <a:xfrm>
            <a:off x="866775" y="2708275"/>
            <a:ext cx="10971213" cy="1143000"/>
          </a:xfrm>
        </p:spPr>
        <p:txBody>
          <a:bodyPr vert="horz" wrap="square" lIns="91440" tIns="45720" rIns="91440" bIns="45720" anchor="ctr" anchorCtr="0"/>
          <a:lstStyle/>
          <a:p>
            <a:pPr eaLnBrk="1" hangingPunct="1"/>
            <a:r>
              <a:rPr lang="zh-CN" altLang="en-US" dirty="0"/>
              <a:t>存储一致性模型</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8675" name="Rectangle 2"/>
          <p:cNvSpPr>
            <a:spLocks noChangeArrowheads="1"/>
          </p:cNvSpPr>
          <p:nvPr/>
        </p:nvSpPr>
        <p:spPr bwMode="auto">
          <a:xfrm>
            <a:off x="844550" y="1412875"/>
            <a:ext cx="10501313" cy="4911725"/>
          </a:xfrm>
          <a:prstGeom prst="rect">
            <a:avLst/>
          </a:prstGeom>
          <a:noFill/>
          <a:ln w="9525">
            <a:noFill/>
            <a:miter lim="800000"/>
          </a:ln>
        </p:spPr>
        <p:txBody>
          <a:bodyPr lIns="92075" tIns="46038" rIns="92075" bIns="46038"/>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常见的存储一致性模型</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顺序一致性模型（</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Sequential Consistency</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处理器一致性模型（</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Processor Consistency</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弱一致性模型（</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Weak Ordering</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释放一致性模型（</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Release Consistency</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域一致性模型（</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Scope Consistency</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单项一致性模型（</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Entry Consistency</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从某种意义上说，存储一致性模型对共享存储系统中多处理机的访存次序作了限制，从而影响了性能</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sp>
        <p:nvSpPr>
          <p:cNvPr id="31748" name="Rectangle 3"/>
          <p:cNvSpPr/>
          <p:nvPr/>
        </p:nvSpPr>
        <p:spPr>
          <a:xfrm>
            <a:off x="777875" y="0"/>
            <a:ext cx="9939338" cy="981075"/>
          </a:xfrm>
          <a:prstGeom prst="rect">
            <a:avLst/>
          </a:prstGeom>
          <a:noFill/>
          <a:ln w="9525">
            <a:noFill/>
          </a:ln>
        </p:spPr>
        <p:txBody>
          <a:bodyPr lIns="92075" tIns="46038" rIns="92075" bIns="46038"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常见的存储一致性模型</a:t>
            </a:r>
            <a:endParaRPr lang="zh-CN" altLang="en-US" sz="3200" b="1" dirty="0">
              <a:solidFill>
                <a:srgbClr val="FF0000"/>
              </a:solidFill>
              <a:latin typeface="Arial" panose="02080604020202020204" pitchFamily="34" charset="0"/>
              <a:ea typeface="黑体" panose="02000500000000000000"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2771" name="Rectangle 2"/>
          <p:cNvSpPr/>
          <p:nvPr/>
        </p:nvSpPr>
        <p:spPr>
          <a:xfrm>
            <a:off x="688975" y="44450"/>
            <a:ext cx="10812463" cy="1008063"/>
          </a:xfrm>
          <a:prstGeom prst="rect">
            <a:avLst/>
          </a:prstGeom>
          <a:noFill/>
          <a:ln w="9525">
            <a:noFill/>
          </a:ln>
        </p:spPr>
        <p:txBody>
          <a:bodyPr lIns="92075" tIns="46038" rIns="92075" bIns="46038"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存储一致性</a:t>
            </a:r>
            <a:r>
              <a:rPr lang="zh-CN" altLang="zh-CN" sz="3600" dirty="0">
                <a:solidFill>
                  <a:srgbClr val="FF0000"/>
                </a:solidFill>
                <a:latin typeface="Arial" panose="02080604020202020204" pitchFamily="34" charset="0"/>
                <a:ea typeface="黑体" panose="02000500000000000000" pitchFamily="49" charset="-122"/>
              </a:rPr>
              <a:t>模型</a:t>
            </a:r>
            <a:r>
              <a:rPr lang="zh-CN" altLang="en-US" sz="3600" dirty="0">
                <a:solidFill>
                  <a:srgbClr val="FF0000"/>
                </a:solidFill>
                <a:latin typeface="Arial" panose="02080604020202020204" pitchFamily="34" charset="0"/>
                <a:ea typeface="黑体" panose="02000500000000000000" pitchFamily="49" charset="-122"/>
              </a:rPr>
              <a:t>（</a:t>
            </a:r>
            <a:r>
              <a:rPr lang="en-US" altLang="zh-CN" sz="3600" dirty="0">
                <a:solidFill>
                  <a:srgbClr val="FF0000"/>
                </a:solidFill>
                <a:latin typeface="Arial" panose="02080604020202020204" pitchFamily="34" charset="0"/>
                <a:ea typeface="黑体" panose="02000500000000000000" pitchFamily="49" charset="-122"/>
              </a:rPr>
              <a:t>Memory Consistency</a:t>
            </a:r>
            <a:r>
              <a:rPr lang="zh-CN" altLang="en-US" sz="3600" dirty="0">
                <a:solidFill>
                  <a:srgbClr val="FF0000"/>
                </a:solidFill>
                <a:latin typeface="Arial" panose="02080604020202020204" pitchFamily="34" charset="0"/>
                <a:ea typeface="黑体" panose="02000500000000000000" pitchFamily="49" charset="-122"/>
              </a:rPr>
              <a:t>）</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29700" name="Rectangle 3"/>
          <p:cNvSpPr>
            <a:spLocks noChangeArrowheads="1"/>
          </p:cNvSpPr>
          <p:nvPr/>
        </p:nvSpPr>
        <p:spPr bwMode="auto">
          <a:xfrm>
            <a:off x="750888" y="1052513"/>
            <a:ext cx="10033000" cy="5195888"/>
          </a:xfrm>
          <a:prstGeom prst="rect">
            <a:avLst/>
          </a:prstGeom>
          <a:noFill/>
          <a:ln w="9525">
            <a:noFill/>
            <a:miter lim="800000"/>
          </a:ln>
        </p:spPr>
        <p:txBody>
          <a:bodyPr lIns="92075" tIns="46038" rIns="92075" bIns="46038"/>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历史的观点</a:t>
            </a:r>
            <a:r>
              <a:rPr kumimoji="0" lang="en-US" altLang="zh-CN" sz="2000" b="1" i="0" u="none" strike="noStrike" kern="1200" cap="none" spc="0" normalizeH="0" baseline="0" noProof="0" dirty="0">
                <a:ln>
                  <a:noFill/>
                </a:ln>
                <a:solidFill>
                  <a:schemeClr val="tx1"/>
                </a:solidFill>
                <a:effectLst/>
                <a:uLnTx/>
                <a:uFillTx/>
                <a:latin typeface="+mn-ea"/>
                <a:ea typeface="+mn-ea"/>
                <a:cs typeface="+mn-cs"/>
              </a:rPr>
              <a:t>: Hardware-Centric</a:t>
            </a:r>
            <a:endParaRPr kumimoji="0" lang="en-US" altLang="zh-CN"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对多个处理机访问共享存储器的次序的一些限制</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弱一致性模型：放松限制来提高性能</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程序员必须考虑访存次序</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系统设计者没有优化余地</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正确的观点</a:t>
            </a:r>
            <a:r>
              <a:rPr kumimoji="0" lang="en-US" altLang="zh-CN" sz="2000" b="1" i="0" u="none" strike="noStrike" kern="1200" cap="none" spc="0" normalizeH="0" baseline="0" noProof="0" dirty="0">
                <a:ln>
                  <a:noFill/>
                </a:ln>
                <a:solidFill>
                  <a:schemeClr val="tx1"/>
                </a:solidFill>
                <a:effectLst/>
                <a:uLnTx/>
                <a:uFillTx/>
                <a:latin typeface="+mn-ea"/>
                <a:ea typeface="+mn-ea"/>
                <a:cs typeface="+mn-cs"/>
              </a:rPr>
              <a:t>: Programmer-Centric</a:t>
            </a:r>
            <a:endParaRPr kumimoji="0" lang="en-US" altLang="zh-CN"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结构设计者与应用程序员之间的一种约定</a:t>
            </a:r>
            <a:endParaRPr kumimoji="0" lang="zh-CN" altLang="zh-CN"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给出正确程序的标准</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程序员不用考虑访存次序</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系统设计者有更多的提高性能的空间</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3795" name="Rectangle 2"/>
          <p:cNvSpPr>
            <a:spLocks noGrp="1"/>
          </p:cNvSpPr>
          <p:nvPr>
            <p:ph type="title"/>
          </p:nvPr>
        </p:nvSpPr>
        <p:spPr>
          <a:xfrm>
            <a:off x="1133475" y="0"/>
            <a:ext cx="9517063" cy="1125538"/>
          </a:xfrm>
        </p:spPr>
        <p:txBody>
          <a:bodyPr vert="horz" wrap="square" lIns="91440" tIns="45720" rIns="91440" bIns="45720" anchor="ctr" anchorCtr="0"/>
          <a:lstStyle/>
          <a:p>
            <a:pPr eaLnBrk="1" hangingPunct="1"/>
            <a:r>
              <a:rPr lang="zh-CN" altLang="en-US" dirty="0"/>
              <a:t>顺序一致性模型</a:t>
            </a:r>
            <a:endParaRPr lang="zh-CN" altLang="en-US" dirty="0"/>
          </a:p>
        </p:txBody>
      </p:sp>
      <p:sp>
        <p:nvSpPr>
          <p:cNvPr id="30724" name="Rectangle 3"/>
          <p:cNvSpPr>
            <a:spLocks noGrp="1" noChangeArrowheads="1"/>
          </p:cNvSpPr>
          <p:nvPr>
            <p:ph idx="1"/>
          </p:nvPr>
        </p:nvSpPr>
        <p:spPr>
          <a:xfrm>
            <a:off x="246063" y="1341438"/>
            <a:ext cx="11166475" cy="490696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正确性标准：符合程序员的直觉</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正确性规范：顺序一致性</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Sequential consistency defines a correct execution as the one “whose result is the same as if the operations of each individual processor appear in this sequence in the order specified by the program”.</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如果在多处理机环境下的一个并行执行的结果等于同一程序在单处理机多进程环境下的一个执行的结果，则此并行程序执行正确</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ts val="600"/>
              </a:spcBef>
              <a:spcAft>
                <a:spcPct val="0"/>
              </a:spcAft>
              <a:buClrTx/>
              <a:buSzTx/>
              <a:buFontTx/>
              <a:buChar char="•"/>
              <a:defRPr/>
            </a:pP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4819" name="Rectangle 2"/>
          <p:cNvSpPr>
            <a:spLocks noGrp="1"/>
          </p:cNvSpPr>
          <p:nvPr>
            <p:ph type="title"/>
          </p:nvPr>
        </p:nvSpPr>
        <p:spPr>
          <a:xfrm>
            <a:off x="601663" y="0"/>
            <a:ext cx="10971212" cy="1143000"/>
          </a:xfrm>
        </p:spPr>
        <p:txBody>
          <a:bodyPr vert="horz" wrap="square" lIns="91440" tIns="45720" rIns="91440" bIns="45720" anchor="ctr" anchorCtr="0"/>
          <a:lstStyle/>
          <a:p>
            <a:pPr eaLnBrk="1" hangingPunct="1"/>
            <a:r>
              <a:rPr lang="zh-CN" altLang="en-US" dirty="0"/>
              <a:t>处理机一致性模型</a:t>
            </a:r>
            <a:endParaRPr lang="zh-CN" altLang="en-US" dirty="0"/>
          </a:p>
        </p:txBody>
      </p:sp>
      <p:sp>
        <p:nvSpPr>
          <p:cNvPr id="31748" name="Rectangle 3"/>
          <p:cNvSpPr>
            <a:spLocks noGrp="1" noChangeArrowheads="1"/>
          </p:cNvSpPr>
          <p:nvPr>
            <p:ph idx="1"/>
          </p:nvPr>
        </p:nvSpPr>
        <p:spPr>
          <a:xfrm>
            <a:off x="423863" y="1196975"/>
            <a:ext cx="11430000" cy="547211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由 </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Goodman </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提出的处理机一致性（</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Processor Consistency</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）比顺序一致性弱，处理机一致性对访存事件发生次序施加的限制是：</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在任一取数操作 </a:t>
            </a:r>
            <a:r>
              <a:rPr kumimoji="0" lang="en-US" altLang="zh-CN" sz="1800" b="1" i="0" u="none" strike="noStrike" kern="0" cap="none" spc="0" normalizeH="0" baseline="0" noProof="0" dirty="0" smtClean="0">
                <a:ln>
                  <a:noFill/>
                </a:ln>
                <a:solidFill>
                  <a:schemeClr val="tx1"/>
                </a:solidFill>
                <a:effectLst/>
                <a:uLnTx/>
                <a:uFillTx/>
                <a:latin typeface="+mn-ea"/>
                <a:ea typeface="+mn-ea"/>
              </a:rPr>
              <a:t>LOAD</a:t>
            </a:r>
            <a:r>
              <a:rPr kumimoji="0" lang="zh-CN" altLang="en-US" sz="1800" b="1" i="0" u="none" strike="noStrike" kern="0" cap="none" spc="0" normalizeH="0" baseline="0" noProof="0" dirty="0" smtClean="0">
                <a:ln>
                  <a:noFill/>
                </a:ln>
                <a:solidFill>
                  <a:schemeClr val="tx1"/>
                </a:solidFill>
                <a:effectLst/>
                <a:uLnTx/>
                <a:uFillTx/>
                <a:latin typeface="+mn-ea"/>
                <a:ea typeface="+mn-ea"/>
              </a:rPr>
              <a:t>允许被执行之前，所有在同一处理机中先于这一</a:t>
            </a:r>
            <a:r>
              <a:rPr kumimoji="0" lang="en-US" altLang="zh-CN" sz="1800" b="1" i="0" u="none" strike="noStrike" kern="0" cap="none" spc="0" normalizeH="0" baseline="0" noProof="0" dirty="0" smtClean="0">
                <a:ln>
                  <a:noFill/>
                </a:ln>
                <a:solidFill>
                  <a:schemeClr val="tx1"/>
                </a:solidFill>
                <a:effectLst/>
                <a:uLnTx/>
                <a:uFillTx/>
                <a:latin typeface="+mn-ea"/>
                <a:ea typeface="+mn-ea"/>
              </a:rPr>
              <a:t>LOAD </a:t>
            </a:r>
            <a:r>
              <a:rPr kumimoji="0" lang="zh-CN" altLang="en-US" sz="1800" b="1" i="0" u="none" strike="noStrike" kern="0" cap="none" spc="0" normalizeH="0" baseline="0" noProof="0" dirty="0" smtClean="0">
                <a:ln>
                  <a:noFill/>
                </a:ln>
                <a:solidFill>
                  <a:schemeClr val="tx1"/>
                </a:solidFill>
                <a:effectLst/>
                <a:uLnTx/>
                <a:uFillTx/>
                <a:latin typeface="+mn-ea"/>
                <a:ea typeface="+mn-ea"/>
              </a:rPr>
              <a:t>的取数操作都已完成</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在任一存数操作 </a:t>
            </a:r>
            <a:r>
              <a:rPr kumimoji="0" lang="en-US" altLang="zh-CN" sz="1800" b="1" i="0" u="none" strike="noStrike" kern="0" cap="none" spc="0" normalizeH="0" baseline="0" noProof="0" dirty="0" smtClean="0">
                <a:ln>
                  <a:noFill/>
                </a:ln>
                <a:solidFill>
                  <a:schemeClr val="tx1"/>
                </a:solidFill>
                <a:effectLst/>
                <a:uLnTx/>
                <a:uFillTx/>
                <a:latin typeface="+mn-ea"/>
                <a:ea typeface="+mn-ea"/>
              </a:rPr>
              <a:t>STORE</a:t>
            </a:r>
            <a:r>
              <a:rPr kumimoji="0" lang="zh-CN" altLang="en-US" sz="1800" b="1" i="0" u="none" strike="noStrike" kern="0" cap="none" spc="0" normalizeH="0" baseline="0" noProof="0" dirty="0" smtClean="0">
                <a:ln>
                  <a:noFill/>
                </a:ln>
                <a:solidFill>
                  <a:schemeClr val="tx1"/>
                </a:solidFill>
                <a:effectLst/>
                <a:uLnTx/>
                <a:uFillTx/>
                <a:latin typeface="+mn-ea"/>
                <a:ea typeface="+mn-ea"/>
              </a:rPr>
              <a:t>允许被执行之前，所有在同一处理机中先于这一</a:t>
            </a:r>
            <a:r>
              <a:rPr kumimoji="0" lang="en-US" altLang="zh-CN" sz="1800" b="1" i="0" u="none" strike="noStrike" kern="0" cap="none" spc="0" normalizeH="0" baseline="0" noProof="0" dirty="0" smtClean="0">
                <a:ln>
                  <a:noFill/>
                </a:ln>
                <a:solidFill>
                  <a:schemeClr val="tx1"/>
                </a:solidFill>
                <a:effectLst/>
                <a:uLnTx/>
                <a:uFillTx/>
                <a:latin typeface="+mn-ea"/>
                <a:ea typeface="+mn-ea"/>
              </a:rPr>
              <a:t>STORE </a:t>
            </a:r>
            <a:r>
              <a:rPr kumimoji="0" lang="zh-CN" altLang="en-US" sz="1800" b="1" i="0" u="none" strike="noStrike" kern="0" cap="none" spc="0" normalizeH="0" baseline="0" noProof="0" dirty="0" smtClean="0">
                <a:ln>
                  <a:noFill/>
                </a:ln>
                <a:solidFill>
                  <a:schemeClr val="tx1"/>
                </a:solidFill>
                <a:effectLst/>
                <a:uLnTx/>
                <a:uFillTx/>
                <a:latin typeface="+mn-ea"/>
                <a:ea typeface="+mn-ea"/>
              </a:rPr>
              <a:t>的访存操作（包括</a:t>
            </a:r>
            <a:r>
              <a:rPr kumimoji="0" lang="en-US" altLang="zh-CN" sz="1800" b="1" i="0" u="none" strike="noStrike" kern="0" cap="none" spc="0" normalizeH="0" baseline="0" noProof="0" dirty="0" smtClean="0">
                <a:ln>
                  <a:noFill/>
                </a:ln>
                <a:solidFill>
                  <a:schemeClr val="tx1"/>
                </a:solidFill>
                <a:effectLst/>
                <a:uLnTx/>
                <a:uFillTx/>
                <a:latin typeface="+mn-ea"/>
                <a:ea typeface="+mn-ea"/>
              </a:rPr>
              <a:t>LOAD </a:t>
            </a:r>
            <a:r>
              <a:rPr kumimoji="0" lang="zh-CN" altLang="en-US" sz="1800" b="1" i="0" u="none" strike="noStrike" kern="0" cap="none" spc="0" normalizeH="0" baseline="0" noProof="0" dirty="0" smtClean="0">
                <a:ln>
                  <a:noFill/>
                </a:ln>
                <a:solidFill>
                  <a:schemeClr val="tx1"/>
                </a:solidFill>
                <a:effectLst/>
                <a:uLnTx/>
                <a:uFillTx/>
                <a:latin typeface="+mn-ea"/>
                <a:ea typeface="+mn-ea"/>
              </a:rPr>
              <a:t>和</a:t>
            </a:r>
            <a:r>
              <a:rPr kumimoji="0" lang="en-US" altLang="zh-CN" sz="1800" b="1" i="0" u="none" strike="noStrike" kern="0" cap="none" spc="0" normalizeH="0" baseline="0" noProof="0" dirty="0" smtClean="0">
                <a:ln>
                  <a:noFill/>
                </a:ln>
                <a:solidFill>
                  <a:schemeClr val="tx1"/>
                </a:solidFill>
                <a:effectLst/>
                <a:uLnTx/>
                <a:uFillTx/>
                <a:latin typeface="+mn-ea"/>
                <a:ea typeface="+mn-ea"/>
              </a:rPr>
              <a:t>STORE</a:t>
            </a:r>
            <a:r>
              <a:rPr kumimoji="0" lang="zh-CN" altLang="en-US" sz="1800" b="1" i="0" u="none" strike="noStrike" kern="0" cap="none" spc="0" normalizeH="0" baseline="0" noProof="0" dirty="0" smtClean="0">
                <a:ln>
                  <a:noFill/>
                </a:ln>
                <a:solidFill>
                  <a:schemeClr val="tx1"/>
                </a:solidFill>
                <a:effectLst/>
                <a:uLnTx/>
                <a:uFillTx/>
                <a:latin typeface="+mn-ea"/>
                <a:ea typeface="+mn-ea"/>
              </a:rPr>
              <a:t>）都已完成 </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上述条件允许</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STORE</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之后的</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LOAD </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越过</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STORE</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而执行，放松了顺序一致性模型对访存次序的限制</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mn-ea"/>
                <a:ea typeface="+mn-ea"/>
                <a:cs typeface="+mn-cs"/>
              </a:rPr>
              <a:t>实际上是把</a:t>
            </a:r>
            <a:r>
              <a:rPr kumimoji="0" lang="en-US" altLang="zh-CN" sz="2000" b="1" i="0" u="none" strike="noStrike" kern="0" cap="none" spc="0" normalizeH="0" baseline="0" noProof="0" dirty="0" smtClean="0">
                <a:ln>
                  <a:noFill/>
                </a:ln>
                <a:solidFill>
                  <a:srgbClr val="FF0000"/>
                </a:solidFill>
                <a:effectLst/>
                <a:uLnTx/>
                <a:uFillTx/>
                <a:latin typeface="+mn-ea"/>
                <a:ea typeface="+mn-ea"/>
                <a:cs typeface="+mn-cs"/>
              </a:rPr>
              <a:t>Write Buffer</a:t>
            </a:r>
            <a:r>
              <a:rPr kumimoji="0" lang="zh-CN" altLang="en-US" sz="2000" b="1" i="0" u="none" strike="noStrike" kern="0" cap="none" spc="0" normalizeH="0" baseline="0" noProof="0" dirty="0" smtClean="0">
                <a:ln>
                  <a:noFill/>
                </a:ln>
                <a:solidFill>
                  <a:srgbClr val="FF0000"/>
                </a:solidFill>
                <a:effectLst/>
                <a:uLnTx/>
                <a:uFillTx/>
                <a:latin typeface="+mn-ea"/>
                <a:ea typeface="+mn-ea"/>
                <a:cs typeface="+mn-cs"/>
              </a:rPr>
              <a:t>变得让用户可见</a:t>
            </a:r>
            <a:endParaRPr kumimoji="0" lang="zh-CN" altLang="en-US" sz="2000" b="1" i="0" u="none" strike="noStrike" kern="0" cap="none" spc="0" normalizeH="0" baseline="0" noProof="0" dirty="0" smtClean="0">
              <a:ln>
                <a:noFill/>
              </a:ln>
              <a:solidFill>
                <a:srgbClr val="FF0000"/>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rgbClr val="FF0000"/>
                </a:solidFill>
                <a:effectLst/>
                <a:uLnTx/>
                <a:uFillTx/>
                <a:latin typeface="+mn-ea"/>
                <a:ea typeface="+mn-ea"/>
              </a:rPr>
              <a:t>如：</a:t>
            </a:r>
            <a:r>
              <a:rPr kumimoji="0" lang="en-US" altLang="zh-CN" sz="1800" b="1" i="0" u="none" strike="noStrike" kern="0" cap="none" spc="0" normalizeH="0" baseline="0" noProof="0" dirty="0" smtClean="0">
                <a:ln>
                  <a:noFill/>
                </a:ln>
                <a:solidFill>
                  <a:srgbClr val="FF0000"/>
                </a:solidFill>
                <a:effectLst/>
                <a:uLnTx/>
                <a:uFillTx/>
                <a:latin typeface="+mn-ea"/>
                <a:ea typeface="+mn-ea"/>
              </a:rPr>
              <a:t>Store</a:t>
            </a:r>
            <a:r>
              <a:rPr kumimoji="0" lang="zh-CN" altLang="en-US" sz="1800" b="1" i="0" u="none" strike="noStrike" kern="0" cap="none" spc="0" normalizeH="0" baseline="0" noProof="0" dirty="0" smtClean="0">
                <a:ln>
                  <a:noFill/>
                </a:ln>
                <a:solidFill>
                  <a:srgbClr val="FF0000"/>
                </a:solidFill>
                <a:effectLst/>
                <a:uLnTx/>
                <a:uFillTx/>
                <a:latin typeface="+mn-ea"/>
                <a:ea typeface="+mn-ea"/>
              </a:rPr>
              <a:t>提交后在</a:t>
            </a:r>
            <a:r>
              <a:rPr kumimoji="0" lang="en-US" altLang="zh-CN" sz="1800" b="1" i="0" u="none" strike="noStrike" kern="0" cap="none" spc="0" normalizeH="0" baseline="0" noProof="0" dirty="0" smtClean="0">
                <a:ln>
                  <a:noFill/>
                </a:ln>
                <a:solidFill>
                  <a:srgbClr val="FF0000"/>
                </a:solidFill>
                <a:effectLst/>
                <a:uLnTx/>
                <a:uFillTx/>
                <a:latin typeface="+mn-ea"/>
                <a:ea typeface="+mn-ea"/>
              </a:rPr>
              <a:t>Write Buffer</a:t>
            </a:r>
            <a:r>
              <a:rPr kumimoji="0" lang="zh-CN" altLang="en-US" sz="1800" b="1" i="0" u="none" strike="noStrike" kern="0" cap="none" spc="0" normalizeH="0" baseline="0" noProof="0" dirty="0" smtClean="0">
                <a:ln>
                  <a:noFill/>
                </a:ln>
                <a:solidFill>
                  <a:srgbClr val="FF0000"/>
                </a:solidFill>
                <a:effectLst/>
                <a:uLnTx/>
                <a:uFillTx/>
                <a:latin typeface="+mn-ea"/>
                <a:ea typeface="+mn-ea"/>
              </a:rPr>
              <a:t>，还没有写</a:t>
            </a:r>
            <a:r>
              <a:rPr kumimoji="0" lang="en-US" altLang="zh-CN" sz="1800" b="1" i="0" u="none" strike="noStrike" kern="0" cap="none" spc="0" normalizeH="0" baseline="0" noProof="0" dirty="0" smtClean="0">
                <a:ln>
                  <a:noFill/>
                </a:ln>
                <a:solidFill>
                  <a:srgbClr val="FF0000"/>
                </a:solidFill>
                <a:effectLst/>
                <a:uLnTx/>
                <a:uFillTx/>
                <a:latin typeface="+mn-ea"/>
                <a:ea typeface="+mn-ea"/>
              </a:rPr>
              <a:t>Cache/</a:t>
            </a:r>
            <a:r>
              <a:rPr kumimoji="0" lang="zh-CN" altLang="en-US" sz="1800" b="1" i="0" u="none" strike="noStrike" kern="0" cap="none" spc="0" normalizeH="0" baseline="0" noProof="0" dirty="0" smtClean="0">
                <a:ln>
                  <a:noFill/>
                </a:ln>
                <a:solidFill>
                  <a:srgbClr val="FF0000"/>
                </a:solidFill>
                <a:effectLst/>
                <a:uLnTx/>
                <a:uFillTx/>
                <a:latin typeface="+mn-ea"/>
                <a:ea typeface="+mn-ea"/>
              </a:rPr>
              <a:t>内存，后面的</a:t>
            </a:r>
            <a:r>
              <a:rPr kumimoji="0" lang="en-US" altLang="zh-CN" sz="1800" b="1" i="0" u="none" strike="noStrike" kern="0" cap="none" spc="0" normalizeH="0" baseline="0" noProof="0" dirty="0" smtClean="0">
                <a:ln>
                  <a:noFill/>
                </a:ln>
                <a:solidFill>
                  <a:srgbClr val="FF0000"/>
                </a:solidFill>
                <a:effectLst/>
                <a:uLnTx/>
                <a:uFillTx/>
                <a:latin typeface="+mn-ea"/>
                <a:ea typeface="+mn-ea"/>
              </a:rPr>
              <a:t>Load</a:t>
            </a:r>
            <a:r>
              <a:rPr kumimoji="0" lang="zh-CN" altLang="en-US" sz="1800" b="1" i="0" u="none" strike="noStrike" kern="0" cap="none" spc="0" normalizeH="0" baseline="0" noProof="0" dirty="0" smtClean="0">
                <a:ln>
                  <a:noFill/>
                </a:ln>
                <a:solidFill>
                  <a:srgbClr val="FF0000"/>
                </a:solidFill>
                <a:effectLst/>
                <a:uLnTx/>
                <a:uFillTx/>
                <a:latin typeface="+mn-ea"/>
                <a:ea typeface="+mn-ea"/>
              </a:rPr>
              <a:t>已经从</a:t>
            </a:r>
            <a:r>
              <a:rPr kumimoji="0" lang="en-US" altLang="zh-CN" sz="1800" b="1" i="0" u="none" strike="noStrike" kern="0" cap="none" spc="0" normalizeH="0" baseline="0" noProof="0" dirty="0" smtClean="0">
                <a:ln>
                  <a:noFill/>
                </a:ln>
                <a:solidFill>
                  <a:srgbClr val="FF0000"/>
                </a:solidFill>
                <a:effectLst/>
                <a:uLnTx/>
                <a:uFillTx/>
                <a:latin typeface="+mn-ea"/>
                <a:ea typeface="+mn-ea"/>
              </a:rPr>
              <a:t>Write Buffer</a:t>
            </a:r>
            <a:r>
              <a:rPr kumimoji="0" lang="zh-CN" altLang="en-US" sz="1800" b="1" i="0" u="none" strike="noStrike" kern="0" cap="none" spc="0" normalizeH="0" baseline="0" noProof="0" dirty="0" smtClean="0">
                <a:ln>
                  <a:noFill/>
                </a:ln>
                <a:solidFill>
                  <a:srgbClr val="FF0000"/>
                </a:solidFill>
                <a:effectLst/>
                <a:uLnTx/>
                <a:uFillTx/>
                <a:latin typeface="+mn-ea"/>
                <a:ea typeface="+mn-ea"/>
              </a:rPr>
              <a:t>取回数据，此时收到对</a:t>
            </a:r>
            <a:r>
              <a:rPr kumimoji="0" lang="en-US" altLang="zh-CN" sz="1800" b="1" i="0" u="none" strike="noStrike" kern="0" cap="none" spc="0" normalizeH="0" baseline="0" noProof="0" dirty="0" smtClean="0">
                <a:ln>
                  <a:noFill/>
                </a:ln>
                <a:solidFill>
                  <a:srgbClr val="FF0000"/>
                </a:solidFill>
                <a:effectLst/>
                <a:uLnTx/>
                <a:uFillTx/>
                <a:latin typeface="+mn-ea"/>
                <a:ea typeface="+mn-ea"/>
              </a:rPr>
              <a:t>Load</a:t>
            </a:r>
            <a:r>
              <a:rPr kumimoji="0" lang="zh-CN" altLang="en-US" sz="1800" b="1" i="0" u="none" strike="noStrike" kern="0" cap="none" spc="0" normalizeH="0" baseline="0" noProof="0" dirty="0" smtClean="0">
                <a:ln>
                  <a:noFill/>
                </a:ln>
                <a:solidFill>
                  <a:srgbClr val="FF0000"/>
                </a:solidFill>
                <a:effectLst/>
                <a:uLnTx/>
                <a:uFillTx/>
                <a:latin typeface="+mn-ea"/>
                <a:ea typeface="+mn-ea"/>
              </a:rPr>
              <a:t>访问</a:t>
            </a:r>
            <a:r>
              <a:rPr kumimoji="0" lang="en-US" altLang="zh-CN" sz="1800" b="1" i="0" u="none" strike="noStrike" kern="0" cap="none" spc="0" normalizeH="0" baseline="0" noProof="0" dirty="0" smtClean="0">
                <a:ln>
                  <a:noFill/>
                </a:ln>
                <a:solidFill>
                  <a:srgbClr val="FF0000"/>
                </a:solidFill>
                <a:effectLst/>
                <a:uLnTx/>
                <a:uFillTx/>
                <a:latin typeface="+mn-ea"/>
                <a:ea typeface="+mn-ea"/>
              </a:rPr>
              <a:t>Cache</a:t>
            </a:r>
            <a:r>
              <a:rPr kumimoji="0" lang="zh-CN" altLang="en-US" sz="1800" b="1" i="0" u="none" strike="noStrike" kern="0" cap="none" spc="0" normalizeH="0" baseline="0" noProof="0" dirty="0" smtClean="0">
                <a:ln>
                  <a:noFill/>
                </a:ln>
                <a:solidFill>
                  <a:srgbClr val="FF0000"/>
                </a:solidFill>
                <a:effectLst/>
                <a:uLnTx/>
                <a:uFillTx/>
                <a:latin typeface="+mn-ea"/>
                <a:ea typeface="+mn-ea"/>
              </a:rPr>
              <a:t>行的一个无效请求</a:t>
            </a:r>
            <a:endParaRPr kumimoji="0" lang="zh-CN" altLang="en-US" sz="1800" b="1" i="0" u="none" strike="noStrike" kern="0" cap="none" spc="0" normalizeH="0" baseline="0" noProof="0" dirty="0" smtClean="0">
              <a:ln>
                <a:noFill/>
              </a:ln>
              <a:solidFill>
                <a:srgbClr val="FF0000"/>
              </a:solidFill>
              <a:effectLst/>
              <a:uLnTx/>
              <a:uFillTx/>
              <a:latin typeface="+mn-ea"/>
              <a:ea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5843" name="Rectangle 2"/>
          <p:cNvSpPr/>
          <p:nvPr/>
        </p:nvSpPr>
        <p:spPr>
          <a:xfrm>
            <a:off x="1398833" y="179"/>
            <a:ext cx="9518154" cy="1066744"/>
          </a:xfrm>
          <a:prstGeom prst="rect">
            <a:avLst/>
          </a:prstGeom>
          <a:noFill/>
          <a:ln w="9525">
            <a:noFill/>
          </a:ln>
        </p:spPr>
        <p:txBody>
          <a:bodyPr lIns="92070" tIns="46035" rIns="92070" bIns="46035"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同步操作在共享存储系统中的作用</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35844" name="Rectangle 3"/>
          <p:cNvSpPr/>
          <p:nvPr/>
        </p:nvSpPr>
        <p:spPr>
          <a:xfrm>
            <a:off x="827997" y="1371072"/>
            <a:ext cx="4267613" cy="5335627"/>
          </a:xfrm>
          <a:prstGeom prst="rect">
            <a:avLst/>
          </a:prstGeom>
          <a:solidFill>
            <a:schemeClr val="accent6">
              <a:lumMod val="20000"/>
              <a:lumOff val="80000"/>
            </a:schemeClr>
          </a:solidFill>
          <a:ln w="9525">
            <a:noFill/>
          </a:ln>
        </p:spPr>
        <p:txBody>
          <a:bodyPr lIns="92070" tIns="46035" rIns="92070" bIns="46035"/>
          <a:lstStyle/>
          <a:p>
            <a:pPr marL="342900" indent="-342900">
              <a:lnSpc>
                <a:spcPct val="110000"/>
              </a:lnSpc>
              <a:spcBef>
                <a:spcPct val="10000"/>
              </a:spcBef>
              <a:buChar char="•"/>
            </a:pPr>
            <a:r>
              <a:rPr lang="zh-CN" altLang="en-US" sz="2000" b="1" dirty="0">
                <a:latin typeface="宋体" panose="02000500000000000000" pitchFamily="2" charset="-122"/>
                <a:cs typeface="宋体" panose="02000500000000000000" pitchFamily="2" charset="-122"/>
              </a:rPr>
              <a:t>积分求</a:t>
            </a:r>
            <a:r>
              <a:rPr lang="zh-CN" altLang="zh-CN" sz="2000" dirty="0">
                <a:latin typeface="宋体" panose="02000500000000000000" pitchFamily="2" charset="-122"/>
                <a:cs typeface="宋体" panose="02000500000000000000" pitchFamily="2" charset="-122"/>
                <a:sym typeface="+mn-ea"/>
              </a:rPr>
              <a:t>π</a:t>
            </a:r>
            <a:endParaRPr lang="en-US" altLang="zh-CN" sz="2000" b="1" dirty="0">
              <a:latin typeface="宋体" panose="02000500000000000000" pitchFamily="2" charset="-122"/>
              <a:cs typeface="宋体" panose="02000500000000000000" pitchFamily="2" charset="-122"/>
            </a:endParaRPr>
          </a:p>
          <a:p>
            <a:pPr marL="342900" indent="-342900">
              <a:lnSpc>
                <a:spcPct val="110000"/>
              </a:lnSpc>
              <a:spcBef>
                <a:spcPct val="10000"/>
              </a:spcBef>
            </a:pP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jia_init(argc,argv);</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pi=jia_alloc(8);</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h = 1.0/N; pi = 0;</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for(i=jiapid+1;i&lt;=N;i+=jiahosts)</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	{ mypi = ... }</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solidFill>
                  <a:schemeClr val="accent2"/>
                </a:solidFill>
                <a:latin typeface="宋体" panose="02000500000000000000" pitchFamily="2" charset="-122"/>
              </a:rPr>
              <a:t>jia_lock(1);</a:t>
            </a:r>
            <a:endParaRPr lang="en-US" altLang="zh-CN" sz="1600" b="1" dirty="0">
              <a:solidFill>
                <a:schemeClr val="accent2"/>
              </a:solidFill>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	pi += mypi;</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solidFill>
                  <a:schemeClr val="accent2"/>
                </a:solidFill>
                <a:latin typeface="宋体" panose="02000500000000000000" pitchFamily="2" charset="-122"/>
              </a:rPr>
              <a:t>jia_unlock(1);</a:t>
            </a:r>
            <a:endParaRPr lang="en-US" altLang="zh-CN" sz="1600" b="1" dirty="0">
              <a:solidFill>
                <a:schemeClr val="accent2"/>
              </a:solidFill>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printf pi;</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jia_exit();</a:t>
            </a:r>
            <a:endParaRPr lang="en-US" altLang="zh-CN" sz="1600" b="1" dirty="0">
              <a:latin typeface="宋体" panose="02000500000000000000" pitchFamily="2" charset="-122"/>
            </a:endParaRPr>
          </a:p>
        </p:txBody>
      </p:sp>
      <p:sp>
        <p:nvSpPr>
          <p:cNvPr id="35845" name="Rectangle 4"/>
          <p:cNvSpPr/>
          <p:nvPr/>
        </p:nvSpPr>
        <p:spPr>
          <a:xfrm>
            <a:off x="5719782" y="1371707"/>
            <a:ext cx="4536204" cy="5334357"/>
          </a:xfrm>
          <a:prstGeom prst="rect">
            <a:avLst/>
          </a:prstGeom>
          <a:solidFill>
            <a:schemeClr val="accent6">
              <a:lumMod val="20000"/>
              <a:lumOff val="80000"/>
            </a:schemeClr>
          </a:solidFill>
          <a:ln w="9525">
            <a:noFill/>
          </a:ln>
        </p:spPr>
        <p:txBody>
          <a:bodyPr lIns="92070" tIns="46035" rIns="92070" bIns="46035"/>
          <a:lstStyle/>
          <a:p>
            <a:pPr marL="342900" indent="-342900">
              <a:lnSpc>
                <a:spcPct val="110000"/>
              </a:lnSpc>
              <a:spcBef>
                <a:spcPct val="10000"/>
              </a:spcBef>
              <a:buChar char="•"/>
            </a:pPr>
            <a:r>
              <a:rPr lang="zh-CN" altLang="en-US" sz="2000" b="1" dirty="0">
                <a:latin typeface="Times New Roman" pitchFamily="18" charset="0"/>
              </a:rPr>
              <a:t>矩阵乘法</a:t>
            </a:r>
            <a:endParaRPr lang="zh-CN" altLang="en-US" sz="2000" b="1" dirty="0">
              <a:latin typeface="Times New Roman" pitchFamily="18" charset="0"/>
            </a:endParaRPr>
          </a:p>
          <a:p>
            <a:pPr marL="342900" indent="-342900">
              <a:lnSpc>
                <a:spcPct val="110000"/>
              </a:lnSpc>
              <a:spcBef>
                <a:spcPct val="10000"/>
              </a:spcBef>
            </a:pP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double (*a)[N],(*b)[N],(*c)[N];</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a=jia_alloc(N*N*8);</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b=jia_alloc(...); c=jia_alloc(...);</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if (jiapid==0) for (i...) for (j…){</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  a[i][j]=1;b[i][j]=1;</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solidFill>
                  <a:schemeClr val="accent2"/>
                </a:solidFill>
                <a:latin typeface="宋体" panose="02000500000000000000" pitchFamily="2" charset="-122"/>
              </a:rPr>
              <a:t>jia_barrier();</a:t>
            </a:r>
            <a:endParaRPr lang="en-US" altLang="zh-CN" sz="1600" b="1" dirty="0">
              <a:solidFill>
                <a:schemeClr val="accent2"/>
              </a:solidFill>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begin=N*jiapid/jiahosts;</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end=N*(jiapid+1)/jiahosts;</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for (i=begin; i&lt;end; i++)</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	for (j=0; j&lt;N; j++)</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		for (k=0; k&lt;N; k++)</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		  c[i][j]+=a[i][k]*b[k][j];</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solidFill>
                  <a:schemeClr val="accent2"/>
                </a:solidFill>
                <a:latin typeface="宋体" panose="02000500000000000000" pitchFamily="2" charset="-122"/>
              </a:rPr>
              <a:t>jia_barrier();</a:t>
            </a:r>
            <a:endParaRPr lang="en-US" altLang="zh-CN" sz="1600" b="1" dirty="0">
              <a:solidFill>
                <a:schemeClr val="accent2"/>
              </a:solidFill>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if (jiapid==0) printf C;</a:t>
            </a:r>
            <a:endParaRPr lang="en-US" altLang="zh-CN" sz="1600" b="1" dirty="0">
              <a:latin typeface="宋体" panose="02000500000000000000" pitchFamily="2" charset="-122"/>
            </a:endParaRPr>
          </a:p>
          <a:p>
            <a:pPr marL="342900" indent="-342900">
              <a:lnSpc>
                <a:spcPct val="110000"/>
              </a:lnSpc>
              <a:spcBef>
                <a:spcPct val="10000"/>
              </a:spcBef>
            </a:pPr>
            <a:r>
              <a:rPr lang="en-US" altLang="zh-CN" sz="1600" b="1" dirty="0">
                <a:latin typeface="宋体" panose="02000500000000000000" pitchFamily="2" charset="-122"/>
              </a:rPr>
              <a:t>jia_exit();</a:t>
            </a:r>
            <a:endParaRPr lang="en-US" altLang="zh-CN" sz="1600" b="1" dirty="0">
              <a:latin typeface="宋体" panose="02000500000000000000"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6867" name="Rectangle 4"/>
          <p:cNvSpPr/>
          <p:nvPr/>
        </p:nvSpPr>
        <p:spPr>
          <a:xfrm>
            <a:off x="655638" y="1412875"/>
            <a:ext cx="11110912" cy="4835525"/>
          </a:xfrm>
          <a:prstGeom prst="rect">
            <a:avLst/>
          </a:prstGeom>
          <a:noFill/>
          <a:ln w="9525">
            <a:noFill/>
          </a:ln>
        </p:spPr>
        <p:txBody>
          <a:bodyPr lIns="92075" tIns="46038" rIns="92075" bIns="46038"/>
          <a:lstStyle/>
          <a:p>
            <a:pPr marL="342900" indent="-342900">
              <a:lnSpc>
                <a:spcPct val="150000"/>
              </a:lnSpc>
              <a:spcBef>
                <a:spcPts val="600"/>
              </a:spcBef>
              <a:buChar char="•"/>
            </a:pPr>
            <a:r>
              <a:rPr lang="zh-CN" altLang="en-US" sz="2000" b="1" dirty="0">
                <a:latin typeface="Times New Roman" pitchFamily="18" charset="0"/>
              </a:rPr>
              <a:t>把同步操作和普通访存操作区分开来，只在同步点维护一致性</a:t>
            </a:r>
            <a:endParaRPr lang="zh-CN" altLang="en-US" sz="2000" b="1" dirty="0">
              <a:latin typeface="Times New Roman" pitchFamily="18" charset="0"/>
            </a:endParaRPr>
          </a:p>
          <a:p>
            <a:pPr marL="742950" lvl="1" indent="-285750" eaLnBrk="1" hangingPunct="1">
              <a:lnSpc>
                <a:spcPct val="150000"/>
              </a:lnSpc>
              <a:spcBef>
                <a:spcPts val="600"/>
              </a:spcBef>
              <a:buChar char="•"/>
            </a:pPr>
            <a:r>
              <a:rPr lang="zh-CN" altLang="en-US" b="1" dirty="0">
                <a:latin typeface="Times New Roman" pitchFamily="18" charset="0"/>
              </a:rPr>
              <a:t>同步操作实现顺序一致性</a:t>
            </a:r>
            <a:endParaRPr lang="en-US" altLang="zh-CN" b="1" dirty="0">
              <a:latin typeface="Times New Roman" pitchFamily="18" charset="0"/>
            </a:endParaRPr>
          </a:p>
          <a:p>
            <a:pPr marL="742950" lvl="1" indent="-285750" eaLnBrk="1" hangingPunct="1">
              <a:lnSpc>
                <a:spcPct val="150000"/>
              </a:lnSpc>
              <a:spcBef>
                <a:spcPts val="600"/>
              </a:spcBef>
              <a:buChar char="•"/>
            </a:pPr>
            <a:r>
              <a:rPr lang="zh-CN" altLang="en-US" b="1" dirty="0">
                <a:latin typeface="Times New Roman" pitchFamily="18" charset="0"/>
              </a:rPr>
              <a:t>冲突访问必须用同步操作保护</a:t>
            </a:r>
            <a:endParaRPr lang="zh-CN" altLang="en-US" b="1" dirty="0">
              <a:latin typeface="Times New Roman" pitchFamily="18" charset="0"/>
            </a:endParaRPr>
          </a:p>
          <a:p>
            <a:pPr marL="342900" indent="-342900">
              <a:lnSpc>
                <a:spcPct val="150000"/>
              </a:lnSpc>
              <a:spcBef>
                <a:spcPts val="600"/>
              </a:spcBef>
              <a:buChar char="•"/>
            </a:pPr>
            <a:r>
              <a:rPr lang="zh-CN" altLang="en-US" sz="2000" b="1" dirty="0">
                <a:latin typeface="Times New Roman" pitchFamily="18" charset="0"/>
              </a:rPr>
              <a:t>访存次序：</a:t>
            </a:r>
            <a:endParaRPr lang="zh-CN" altLang="en-US" sz="2000" b="1" dirty="0">
              <a:latin typeface="Times New Roman" pitchFamily="18" charset="0"/>
            </a:endParaRPr>
          </a:p>
          <a:p>
            <a:pPr marL="742950" lvl="1" indent="-285750" eaLnBrk="1" hangingPunct="1">
              <a:lnSpc>
                <a:spcPct val="150000"/>
              </a:lnSpc>
              <a:spcBef>
                <a:spcPts val="600"/>
              </a:spcBef>
              <a:buChar char="•"/>
            </a:pPr>
            <a:r>
              <a:rPr lang="zh-CN" altLang="en-US" b="1" dirty="0">
                <a:latin typeface="Times New Roman" pitchFamily="18" charset="0"/>
              </a:rPr>
              <a:t>同步操作的执行满足顺序一致性条件</a:t>
            </a:r>
            <a:endParaRPr lang="zh-CN" altLang="en-US" b="1" dirty="0">
              <a:latin typeface="Times New Roman" pitchFamily="18" charset="0"/>
            </a:endParaRPr>
          </a:p>
          <a:p>
            <a:pPr marL="742950" lvl="1" indent="-285750" eaLnBrk="1" hangingPunct="1">
              <a:lnSpc>
                <a:spcPct val="150000"/>
              </a:lnSpc>
              <a:spcBef>
                <a:spcPts val="600"/>
              </a:spcBef>
              <a:buChar char="•"/>
            </a:pPr>
            <a:r>
              <a:rPr lang="zh-CN" altLang="en-US" b="1" dirty="0">
                <a:latin typeface="Times New Roman" pitchFamily="18" charset="0"/>
              </a:rPr>
              <a:t>在任一普通访存操作允许被执行之前，所有在同一处理机中先于这一访存操作的同步操作都已完成</a:t>
            </a:r>
            <a:endParaRPr lang="zh-CN" altLang="en-US" b="1" dirty="0">
              <a:latin typeface="Times New Roman" pitchFamily="18" charset="0"/>
            </a:endParaRPr>
          </a:p>
          <a:p>
            <a:pPr marL="742950" lvl="1" indent="-285750" eaLnBrk="1" hangingPunct="1">
              <a:lnSpc>
                <a:spcPct val="150000"/>
              </a:lnSpc>
              <a:spcBef>
                <a:spcPts val="600"/>
              </a:spcBef>
              <a:buChar char="•"/>
            </a:pPr>
            <a:r>
              <a:rPr lang="zh-CN" altLang="en-US" b="1" dirty="0">
                <a:latin typeface="Times New Roman" pitchFamily="18" charset="0"/>
              </a:rPr>
              <a:t>在任一同步操作允许被执行之前，所有在同一处理机中先于这一同步操作的普通访存操作都已完成</a:t>
            </a:r>
            <a:endParaRPr lang="zh-CN" altLang="en-US" b="1" dirty="0">
              <a:latin typeface="Times New Roman" pitchFamily="18" charset="0"/>
            </a:endParaRPr>
          </a:p>
        </p:txBody>
      </p:sp>
      <p:sp>
        <p:nvSpPr>
          <p:cNvPr id="36868" name="Rectangle 5"/>
          <p:cNvSpPr/>
          <p:nvPr/>
        </p:nvSpPr>
        <p:spPr>
          <a:xfrm>
            <a:off x="777875" y="0"/>
            <a:ext cx="10634663" cy="1019175"/>
          </a:xfrm>
          <a:prstGeom prst="rect">
            <a:avLst/>
          </a:prstGeom>
          <a:noFill/>
          <a:ln w="9525">
            <a:noFill/>
          </a:ln>
        </p:spPr>
        <p:txBody>
          <a:bodyPr lIns="92075" tIns="46038" rIns="92075" bIns="46038"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弱存储一致性模型（</a:t>
            </a:r>
            <a:r>
              <a:rPr lang="en-US" altLang="zh-CN" sz="3600" dirty="0">
                <a:solidFill>
                  <a:srgbClr val="FF0000"/>
                </a:solidFill>
                <a:latin typeface="Arial" panose="02080604020202020204" pitchFamily="34" charset="0"/>
                <a:ea typeface="黑体" panose="02000500000000000000" pitchFamily="49" charset="-122"/>
              </a:rPr>
              <a:t>Weak Ordering</a:t>
            </a:r>
            <a:r>
              <a:rPr lang="zh-CN" altLang="en-US" sz="3600" dirty="0">
                <a:solidFill>
                  <a:srgbClr val="FF0000"/>
                </a:solidFill>
                <a:latin typeface="Arial" panose="02080604020202020204" pitchFamily="34" charset="0"/>
                <a:ea typeface="黑体" panose="02000500000000000000" pitchFamily="49" charset="-122"/>
              </a:rPr>
              <a:t>）</a:t>
            </a:r>
            <a:endParaRPr lang="zh-CN" altLang="en-US" sz="3200" b="1" dirty="0">
              <a:solidFill>
                <a:srgbClr val="FF0000"/>
              </a:solidFill>
              <a:latin typeface="Arial" panose="02080604020202020204" pitchFamily="34" charset="0"/>
              <a:ea typeface="黑体" panose="02000500000000000000"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7891" name="Rectangle 2"/>
          <p:cNvSpPr>
            <a:spLocks noGrp="1"/>
          </p:cNvSpPr>
          <p:nvPr>
            <p:ph type="title"/>
          </p:nvPr>
        </p:nvSpPr>
        <p:spPr>
          <a:xfrm>
            <a:off x="1133475" y="0"/>
            <a:ext cx="10077450" cy="1066800"/>
          </a:xfrm>
        </p:spPr>
        <p:txBody>
          <a:bodyPr vert="horz" wrap="square" lIns="91440" tIns="45720" rIns="91440" bIns="45720" anchor="ctr" anchorCtr="0"/>
          <a:lstStyle/>
          <a:p>
            <a:pPr eaLnBrk="1" hangingPunct="1"/>
            <a:r>
              <a:rPr lang="zh-CN" altLang="en-US" sz="3200" dirty="0"/>
              <a:t>释放一致性模型（</a:t>
            </a:r>
            <a:r>
              <a:rPr lang="en-US" altLang="zh-CN" sz="3200" dirty="0"/>
              <a:t>Release Consistency</a:t>
            </a:r>
            <a:r>
              <a:rPr lang="zh-CN" altLang="en-US" sz="3200" dirty="0"/>
              <a:t>）</a:t>
            </a:r>
            <a:endParaRPr lang="zh-CN" altLang="en-US" sz="3200" dirty="0"/>
          </a:p>
        </p:txBody>
      </p:sp>
      <p:sp>
        <p:nvSpPr>
          <p:cNvPr id="34820" name="Rectangle 3"/>
          <p:cNvSpPr>
            <a:spLocks noGrp="1" noChangeArrowheads="1"/>
          </p:cNvSpPr>
          <p:nvPr>
            <p:ph idx="1"/>
          </p:nvPr>
        </p:nvSpPr>
        <p:spPr>
          <a:xfrm>
            <a:off x="246063" y="1676400"/>
            <a:ext cx="11433175" cy="4267200"/>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把同步操作进一步分成获取操作</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ACQUIRE</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和释放操作</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RELEASE</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冲突访问必须用</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REL-&gt;ACQ</a:t>
            </a:r>
            <a:r>
              <a:rPr kumimoji="0" lang="zh-CN" altLang="zh-CN" sz="2000" b="1" i="0" u="none" strike="noStrike" kern="0" cap="none" spc="0" normalizeH="0" baseline="0" noProof="0" dirty="0" smtClean="0">
                <a:ln>
                  <a:noFill/>
                </a:ln>
                <a:solidFill>
                  <a:schemeClr val="tx1"/>
                </a:solidFill>
                <a:effectLst/>
                <a:uLnTx/>
                <a:uFillTx/>
                <a:latin typeface="+mn-ea"/>
                <a:ea typeface="+mn-ea"/>
                <a:cs typeface="+mn-cs"/>
              </a:rPr>
              <a:t>对隔开</a:t>
            </a:r>
            <a:endParaRPr kumimoji="0" lang="zh-CN" altLang="zh-CN"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zh-CN" sz="2000" b="1" i="0" u="none" strike="noStrike" kern="0" cap="none" spc="0" normalizeH="0" baseline="0" noProof="0" dirty="0" smtClean="0">
                <a:ln>
                  <a:noFill/>
                </a:ln>
                <a:solidFill>
                  <a:schemeClr val="tx1"/>
                </a:solidFill>
                <a:effectLst/>
                <a:uLnTx/>
                <a:uFillTx/>
                <a:latin typeface="+mn-ea"/>
                <a:ea typeface="+mn-ea"/>
                <a:cs typeface="+mn-cs"/>
              </a:rPr>
              <a:t>访存次序</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同步操作的执行满足顺序一致性条件</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在任一普通访存操作允许被执行之前，所有在同一处理机中先于这一访存操作的</a:t>
            </a:r>
            <a:r>
              <a:rPr kumimoji="0" lang="en-US" altLang="zh-CN" sz="1800" b="1" i="0" u="none" strike="noStrike" kern="0" cap="none" spc="0" normalizeH="0" baseline="0" noProof="0" dirty="0" smtClean="0">
                <a:ln>
                  <a:noFill/>
                </a:ln>
                <a:solidFill>
                  <a:schemeClr val="tx1"/>
                </a:solidFill>
                <a:effectLst/>
                <a:uLnTx/>
                <a:uFillTx/>
                <a:latin typeface="+mn-ea"/>
                <a:ea typeface="+mn-ea"/>
              </a:rPr>
              <a:t>ACQUIRE</a:t>
            </a:r>
            <a:r>
              <a:rPr kumimoji="0" lang="zh-CN" altLang="en-US" sz="1800" b="1" i="0" u="none" strike="noStrike" kern="0" cap="none" spc="0" normalizeH="0" baseline="0" noProof="0" dirty="0" smtClean="0">
                <a:ln>
                  <a:noFill/>
                </a:ln>
                <a:solidFill>
                  <a:schemeClr val="tx1"/>
                </a:solidFill>
                <a:effectLst/>
                <a:uLnTx/>
                <a:uFillTx/>
                <a:latin typeface="+mn-ea"/>
                <a:ea typeface="+mn-ea"/>
              </a:rPr>
              <a:t>操作都已完成</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在任一</a:t>
            </a:r>
            <a:r>
              <a:rPr kumimoji="0" lang="en-US" altLang="zh-CN" sz="1800" b="1" i="0" u="none" strike="noStrike" kern="0" cap="none" spc="0" normalizeH="0" baseline="0" noProof="0" dirty="0" smtClean="0">
                <a:ln>
                  <a:noFill/>
                </a:ln>
                <a:solidFill>
                  <a:schemeClr val="tx1"/>
                </a:solidFill>
                <a:effectLst/>
                <a:uLnTx/>
                <a:uFillTx/>
                <a:latin typeface="+mn-ea"/>
                <a:ea typeface="+mn-ea"/>
              </a:rPr>
              <a:t>RELEASE</a:t>
            </a:r>
            <a:r>
              <a:rPr kumimoji="0" lang="zh-CN" altLang="en-US" sz="1800" b="1" i="0" u="none" strike="noStrike" kern="0" cap="none" spc="0" normalizeH="0" baseline="0" noProof="0" dirty="0" smtClean="0">
                <a:ln>
                  <a:noFill/>
                </a:ln>
                <a:solidFill>
                  <a:schemeClr val="tx1"/>
                </a:solidFill>
                <a:effectLst/>
                <a:uLnTx/>
                <a:uFillTx/>
                <a:latin typeface="+mn-ea"/>
                <a:ea typeface="+mn-ea"/>
              </a:rPr>
              <a:t>操作允许被执行之前，所有在同一处理机中先于这一</a:t>
            </a:r>
            <a:r>
              <a:rPr kumimoji="0" lang="en-US" altLang="zh-CN" sz="1800" b="1" i="0" u="none" strike="noStrike" kern="0" cap="none" spc="0" normalizeH="0" baseline="0" noProof="0" dirty="0" smtClean="0">
                <a:ln>
                  <a:noFill/>
                </a:ln>
                <a:solidFill>
                  <a:schemeClr val="tx1"/>
                </a:solidFill>
                <a:effectLst/>
                <a:uLnTx/>
                <a:uFillTx/>
                <a:latin typeface="+mn-ea"/>
                <a:ea typeface="+mn-ea"/>
              </a:rPr>
              <a:t>RELEASE</a:t>
            </a:r>
            <a:r>
              <a:rPr kumimoji="0" lang="zh-CN" altLang="en-US" sz="1800" b="1" i="0" u="none" strike="noStrike" kern="0" cap="none" spc="0" normalizeH="0" baseline="0" noProof="0" dirty="0" smtClean="0">
                <a:ln>
                  <a:noFill/>
                </a:ln>
                <a:solidFill>
                  <a:schemeClr val="tx1"/>
                </a:solidFill>
                <a:effectLst/>
                <a:uLnTx/>
                <a:uFillTx/>
                <a:latin typeface="+mn-ea"/>
                <a:ea typeface="+mn-ea"/>
              </a:rPr>
              <a:t>的普通访存操作都已完成</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8915" name="Rectangle 2"/>
          <p:cNvSpPr/>
          <p:nvPr/>
        </p:nvSpPr>
        <p:spPr>
          <a:xfrm>
            <a:off x="955675" y="0"/>
            <a:ext cx="10033000" cy="908050"/>
          </a:xfrm>
          <a:prstGeom prst="rect">
            <a:avLst/>
          </a:prstGeom>
          <a:noFill/>
          <a:ln w="9525">
            <a:noFill/>
          </a:ln>
        </p:spPr>
        <p:txBody>
          <a:bodyPr lIns="92075" tIns="46038" rIns="92075" bIns="46038"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域一致性模型（</a:t>
            </a:r>
            <a:r>
              <a:rPr lang="en-US" altLang="zh-CN" sz="3600" dirty="0">
                <a:solidFill>
                  <a:srgbClr val="FF0000"/>
                </a:solidFill>
                <a:latin typeface="Arial" panose="02080604020202020204" pitchFamily="34" charset="0"/>
                <a:ea typeface="黑体" panose="02000500000000000000" pitchFamily="49" charset="-122"/>
              </a:rPr>
              <a:t>Scope Consistency</a:t>
            </a:r>
            <a:r>
              <a:rPr lang="zh-CN" altLang="en-US" sz="3600" dirty="0">
                <a:solidFill>
                  <a:srgbClr val="FF0000"/>
                </a:solidFill>
                <a:latin typeface="Arial" panose="02080604020202020204" pitchFamily="34" charset="0"/>
                <a:ea typeface="黑体" panose="02000500000000000000" pitchFamily="49" charset="-122"/>
              </a:rPr>
              <a:t>）</a:t>
            </a:r>
            <a:endParaRPr lang="zh-CN" altLang="en-US" sz="3200" b="1" dirty="0">
              <a:solidFill>
                <a:srgbClr val="FF0000"/>
              </a:solidFill>
              <a:latin typeface="Arial" panose="02080604020202020204" pitchFamily="34" charset="0"/>
              <a:ea typeface="黑体" panose="02000500000000000000" pitchFamily="49" charset="-122"/>
            </a:endParaRPr>
          </a:p>
        </p:txBody>
      </p:sp>
      <p:sp>
        <p:nvSpPr>
          <p:cNvPr id="38916" name="Rectangle 3"/>
          <p:cNvSpPr/>
          <p:nvPr/>
        </p:nvSpPr>
        <p:spPr>
          <a:xfrm>
            <a:off x="601663" y="1268413"/>
            <a:ext cx="10315575" cy="609600"/>
          </a:xfrm>
          <a:prstGeom prst="rect">
            <a:avLst/>
          </a:prstGeom>
          <a:noFill/>
          <a:ln w="9525">
            <a:noFill/>
          </a:ln>
        </p:spPr>
        <p:txBody>
          <a:bodyPr lIns="92075" tIns="46038" rIns="92075" bIns="46038"/>
          <a:lstStyle/>
          <a:p>
            <a:pPr marL="342900" indent="-342900">
              <a:lnSpc>
                <a:spcPct val="90000"/>
              </a:lnSpc>
              <a:spcBef>
                <a:spcPct val="10000"/>
              </a:spcBef>
              <a:buChar char="•"/>
            </a:pPr>
            <a:r>
              <a:rPr lang="zh-CN" altLang="en-US" sz="2400" b="1" dirty="0">
                <a:latin typeface="Times New Roman" pitchFamily="18" charset="0"/>
              </a:rPr>
              <a:t>冲突访问必须用同一把锁保护</a:t>
            </a:r>
            <a:endParaRPr lang="zh-CN" altLang="en-US" sz="2400" b="1" dirty="0">
              <a:latin typeface="Times New Roman" pitchFamily="18" charset="0"/>
            </a:endParaRPr>
          </a:p>
        </p:txBody>
      </p:sp>
      <p:grpSp>
        <p:nvGrpSpPr>
          <p:cNvPr id="38917" name="Group 4"/>
          <p:cNvGrpSpPr/>
          <p:nvPr/>
        </p:nvGrpSpPr>
        <p:grpSpPr>
          <a:xfrm>
            <a:off x="1125538" y="1981200"/>
            <a:ext cx="4406900" cy="4510088"/>
            <a:chOff x="624" y="1344"/>
            <a:chExt cx="2304" cy="2947"/>
          </a:xfrm>
        </p:grpSpPr>
        <p:sp>
          <p:nvSpPr>
            <p:cNvPr id="38927" name="Rectangle 5"/>
            <p:cNvSpPr/>
            <p:nvPr/>
          </p:nvSpPr>
          <p:spPr>
            <a:xfrm>
              <a:off x="624" y="1344"/>
              <a:ext cx="2304" cy="2592"/>
            </a:xfrm>
            <a:prstGeom prst="rect">
              <a:avLst/>
            </a:prstGeom>
            <a:solidFill>
              <a:srgbClr val="F8F8F8"/>
            </a:solidFill>
            <a:ln w="12700" cap="flat" cmpd="sng">
              <a:solidFill>
                <a:schemeClr val="tx1"/>
              </a:solidFill>
              <a:prstDash val="solid"/>
              <a:miter/>
              <a:headEnd type="none" w="sm" len="sm"/>
              <a:tailEnd type="none" w="sm" len="sm"/>
            </a:ln>
          </p:spPr>
          <p:txBody>
            <a:bodyPr wrap="none" anchor="ctr" anchorCtr="0"/>
            <a:lstStyle/>
            <a:p>
              <a:pPr algn="ctr" eaLnBrk="0" hangingPunct="0"/>
              <a:endParaRPr lang="zh-CN" altLang="zh-CN" sz="2400" dirty="0">
                <a:latin typeface="宋体" panose="02000500000000000000" pitchFamily="2" charset="-122"/>
              </a:endParaRPr>
            </a:p>
          </p:txBody>
        </p:sp>
        <p:sp>
          <p:nvSpPr>
            <p:cNvPr id="38928" name="Text Box 6"/>
            <p:cNvSpPr txBox="1"/>
            <p:nvPr/>
          </p:nvSpPr>
          <p:spPr>
            <a:xfrm>
              <a:off x="864" y="4032"/>
              <a:ext cx="1872" cy="259"/>
            </a:xfrm>
            <a:prstGeom prst="rect">
              <a:avLst/>
            </a:prstGeom>
            <a:solidFill>
              <a:srgbClr val="F8F8F8"/>
            </a:solidFill>
            <a:ln w="12700">
              <a:noFill/>
            </a:ln>
          </p:spPr>
          <p:txBody>
            <a:bodyPr>
              <a:spAutoFit/>
            </a:bodyPr>
            <a:lstStyle/>
            <a:p>
              <a:pPr eaLnBrk="0" hangingPunct="0">
                <a:spcBef>
                  <a:spcPct val="50000"/>
                </a:spcBef>
              </a:pPr>
              <a:r>
                <a:rPr lang="en-US" altLang="zh-CN" sz="2000" b="1" dirty="0">
                  <a:latin typeface="宋体" panose="02000500000000000000" pitchFamily="2" charset="-122"/>
                </a:rPr>
                <a:t>Release Consistency</a:t>
              </a:r>
              <a:endParaRPr lang="en-US" altLang="zh-CN" sz="2000" b="1" dirty="0">
                <a:latin typeface="宋体" panose="02000500000000000000" pitchFamily="2" charset="-122"/>
              </a:endParaRPr>
            </a:p>
          </p:txBody>
        </p:sp>
        <p:sp>
          <p:nvSpPr>
            <p:cNvPr id="38929" name="Text Box 7"/>
            <p:cNvSpPr txBox="1"/>
            <p:nvPr/>
          </p:nvSpPr>
          <p:spPr>
            <a:xfrm>
              <a:off x="672" y="1392"/>
              <a:ext cx="562" cy="1096"/>
            </a:xfrm>
            <a:prstGeom prst="rect">
              <a:avLst/>
            </a:prstGeom>
            <a:solidFill>
              <a:srgbClr val="F8F8F8"/>
            </a:solidFill>
            <a:ln w="12700">
              <a:noFill/>
            </a:ln>
          </p:spPr>
          <p:txBody>
            <a:bodyPr>
              <a:spAutoFit/>
            </a:bodyPr>
            <a:lstStyle/>
            <a:p>
              <a:pPr algn="ctr" eaLnBrk="0" hangingPunct="0">
                <a:lnSpc>
                  <a:spcPct val="80000"/>
                </a:lnSpc>
                <a:spcBef>
                  <a:spcPct val="50000"/>
                </a:spcBef>
              </a:pPr>
              <a:r>
                <a:rPr lang="en-US" altLang="zh-CN" sz="1600" b="1" u="sng" dirty="0">
                  <a:latin typeface="宋体" panose="02000500000000000000" pitchFamily="2" charset="-122"/>
                </a:rPr>
                <a:t>P1</a:t>
              </a: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x=1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Acq(l1)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y=1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Rel(l1)</a:t>
              </a:r>
              <a:endParaRPr lang="en-US" altLang="zh-CN" sz="1600" dirty="0">
                <a:latin typeface="宋体" panose="02000500000000000000" pitchFamily="2" charset="-122"/>
              </a:endParaRPr>
            </a:p>
          </p:txBody>
        </p:sp>
        <p:sp>
          <p:nvSpPr>
            <p:cNvPr id="38930" name="Text Box 8"/>
            <p:cNvSpPr txBox="1"/>
            <p:nvPr/>
          </p:nvSpPr>
          <p:spPr>
            <a:xfrm>
              <a:off x="2160" y="1392"/>
              <a:ext cx="562" cy="2262"/>
            </a:xfrm>
            <a:prstGeom prst="rect">
              <a:avLst/>
            </a:prstGeom>
            <a:solidFill>
              <a:srgbClr val="F8F8F8"/>
            </a:solidFill>
            <a:ln w="12700">
              <a:noFill/>
            </a:ln>
          </p:spPr>
          <p:txBody>
            <a:bodyPr>
              <a:spAutoFit/>
            </a:bodyPr>
            <a:lstStyle/>
            <a:p>
              <a:pPr algn="ctr" eaLnBrk="0" hangingPunct="0">
                <a:lnSpc>
                  <a:spcPct val="80000"/>
                </a:lnSpc>
                <a:spcBef>
                  <a:spcPct val="50000"/>
                </a:spcBef>
              </a:pPr>
              <a:r>
                <a:rPr lang="en-US" altLang="zh-CN" sz="1600" b="1" u="sng" dirty="0">
                  <a:latin typeface="宋体" panose="02000500000000000000" pitchFamily="2" charset="-122"/>
                </a:rPr>
                <a:t>P3 </a:t>
              </a:r>
              <a:endParaRPr lang="en-US" altLang="zh-CN" sz="1600" b="1" u="sng" dirty="0">
                <a:latin typeface="宋体" panose="02000500000000000000" pitchFamily="2" charset="-122"/>
              </a:endParaRPr>
            </a:p>
            <a:p>
              <a:pPr algn="ctr" eaLnBrk="0" hangingPunct="0">
                <a:lnSpc>
                  <a:spcPct val="80000"/>
                </a:lnSpc>
                <a:spcBef>
                  <a:spcPct val="50000"/>
                </a:spcBef>
              </a:pPr>
              <a:endParaRPr lang="en-US" altLang="zh-CN" sz="1600" b="1" dirty="0">
                <a:latin typeface="宋体" panose="02000500000000000000" pitchFamily="2" charset="-122"/>
              </a:endParaRPr>
            </a:p>
            <a:p>
              <a:pPr algn="ctr" eaLnBrk="0" hangingPunct="0">
                <a:lnSpc>
                  <a:spcPct val="80000"/>
                </a:lnSpc>
                <a:spcBef>
                  <a:spcPct val="50000"/>
                </a:spcBef>
              </a:pPr>
              <a:endParaRPr lang="en-US" altLang="zh-CN" sz="1600" b="1" dirty="0">
                <a:latin typeface="宋体" panose="02000500000000000000" pitchFamily="2" charset="-122"/>
              </a:endParaRPr>
            </a:p>
            <a:p>
              <a:pPr algn="ctr" eaLnBrk="0" hangingPunct="0">
                <a:lnSpc>
                  <a:spcPct val="80000"/>
                </a:lnSpc>
                <a:spcBef>
                  <a:spcPct val="50000"/>
                </a:spcBef>
              </a:pPr>
              <a:endParaRPr lang="en-US" altLang="zh-CN" sz="1600" b="1" dirty="0">
                <a:latin typeface="宋体" panose="02000500000000000000" pitchFamily="2" charset="-122"/>
              </a:endParaRPr>
            </a:p>
            <a:p>
              <a:pPr algn="ctr" eaLnBrk="0" hangingPunct="0">
                <a:lnSpc>
                  <a:spcPct val="80000"/>
                </a:lnSpc>
                <a:spcBef>
                  <a:spcPct val="50000"/>
                </a:spcBef>
              </a:pP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Acq(l2)</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a=x</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b=y</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c=z</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Rel(l2)</a:t>
              </a:r>
              <a:endParaRPr lang="en-US" altLang="zh-CN" sz="1600" b="1" dirty="0">
                <a:latin typeface="宋体" panose="02000500000000000000" pitchFamily="2" charset="-122"/>
              </a:endParaRPr>
            </a:p>
          </p:txBody>
        </p:sp>
        <p:sp>
          <p:nvSpPr>
            <p:cNvPr id="38931" name="Text Box 9"/>
            <p:cNvSpPr txBox="1"/>
            <p:nvPr/>
          </p:nvSpPr>
          <p:spPr>
            <a:xfrm>
              <a:off x="1344" y="1392"/>
              <a:ext cx="562" cy="1830"/>
            </a:xfrm>
            <a:prstGeom prst="rect">
              <a:avLst/>
            </a:prstGeom>
            <a:solidFill>
              <a:srgbClr val="F8F8F8"/>
            </a:solidFill>
            <a:ln w="12700">
              <a:noFill/>
            </a:ln>
          </p:spPr>
          <p:txBody>
            <a:bodyPr>
              <a:spAutoFit/>
            </a:bodyPr>
            <a:lstStyle/>
            <a:p>
              <a:pPr algn="ctr" eaLnBrk="0" hangingPunct="0">
                <a:lnSpc>
                  <a:spcPct val="80000"/>
                </a:lnSpc>
                <a:spcBef>
                  <a:spcPct val="50000"/>
                </a:spcBef>
              </a:pPr>
              <a:r>
                <a:rPr lang="en-US" altLang="zh-CN" sz="1600" b="1" u="sng" dirty="0">
                  <a:latin typeface="宋体" panose="02000500000000000000" pitchFamily="2" charset="-122"/>
                </a:rPr>
                <a:t>P2 </a:t>
              </a: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algn="ctr" eaLnBrk="0" hangingPunct="0">
                <a:lnSpc>
                  <a:spcPct val="80000"/>
                </a:lnSpc>
                <a:spcBef>
                  <a:spcPct val="50000"/>
                </a:spcBef>
              </a:pP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Acq(l1)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a=x</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b=y</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Rel(l1)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Acq(l2)</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z=1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Rel(l2)</a:t>
              </a:r>
              <a:endParaRPr lang="en-US" altLang="zh-CN" sz="1600" dirty="0">
                <a:latin typeface="宋体" panose="02000500000000000000" pitchFamily="2" charset="-122"/>
              </a:endParaRPr>
            </a:p>
          </p:txBody>
        </p:sp>
        <p:sp>
          <p:nvSpPr>
            <p:cNvPr id="38932" name="Line 10"/>
            <p:cNvSpPr/>
            <p:nvPr/>
          </p:nvSpPr>
          <p:spPr>
            <a:xfrm flipV="1">
              <a:off x="1152" y="2064"/>
              <a:ext cx="240" cy="288"/>
            </a:xfrm>
            <a:prstGeom prst="line">
              <a:avLst/>
            </a:prstGeom>
            <a:ln w="12700" cap="flat" cmpd="sng">
              <a:solidFill>
                <a:schemeClr val="tx1"/>
              </a:solidFill>
              <a:prstDash val="solid"/>
              <a:headEnd type="none" w="sm" len="sm"/>
              <a:tailEnd type="triangle" w="med" len="med"/>
            </a:ln>
          </p:spPr>
        </p:sp>
        <p:sp>
          <p:nvSpPr>
            <p:cNvPr id="38933" name="Line 11"/>
            <p:cNvSpPr/>
            <p:nvPr/>
          </p:nvSpPr>
          <p:spPr>
            <a:xfrm flipV="1">
              <a:off x="1824" y="2736"/>
              <a:ext cx="384" cy="288"/>
            </a:xfrm>
            <a:prstGeom prst="line">
              <a:avLst/>
            </a:prstGeom>
            <a:ln w="12700" cap="flat" cmpd="sng">
              <a:solidFill>
                <a:schemeClr val="tx1"/>
              </a:solidFill>
              <a:prstDash val="solid"/>
              <a:headEnd type="none" w="sm" len="sm"/>
              <a:tailEnd type="triangle" w="med" len="med"/>
            </a:ln>
          </p:spPr>
        </p:sp>
        <p:sp>
          <p:nvSpPr>
            <p:cNvPr id="38934" name="Text Box 12"/>
            <p:cNvSpPr txBox="1"/>
            <p:nvPr/>
          </p:nvSpPr>
          <p:spPr>
            <a:xfrm>
              <a:off x="912" y="3696"/>
              <a:ext cx="1508" cy="221"/>
            </a:xfrm>
            <a:prstGeom prst="rect">
              <a:avLst/>
            </a:prstGeom>
            <a:solidFill>
              <a:srgbClr val="F8F8F8"/>
            </a:solidFill>
            <a:ln w="12700">
              <a:noFill/>
            </a:ln>
          </p:spPr>
          <p:txBody>
            <a:bodyPr wrap="none">
              <a:spAutoFit/>
            </a:bodyPr>
            <a:lstStyle/>
            <a:p>
              <a:pPr eaLnBrk="0" hangingPunct="0"/>
              <a:r>
                <a:rPr lang="zh-CN" altLang="en-US" sz="1600" b="1" dirty="0">
                  <a:latin typeface="宋体" panose="02000500000000000000" pitchFamily="2" charset="-122"/>
                  <a:cs typeface="宋体" panose="02000500000000000000" pitchFamily="2" charset="-122"/>
                </a:rPr>
                <a:t>结果：</a:t>
              </a:r>
              <a:r>
                <a:rPr lang="en-US" altLang="zh-CN" sz="1600" b="1" dirty="0">
                  <a:latin typeface="宋体" panose="02000500000000000000" pitchFamily="2" charset="-122"/>
                  <a:cs typeface="宋体" panose="02000500000000000000" pitchFamily="2" charset="-122"/>
                </a:rPr>
                <a:t>P2: a=b=1; P3:a=b=c=1</a:t>
              </a:r>
              <a:endParaRPr lang="en-US" altLang="zh-CN" sz="2400" dirty="0">
                <a:latin typeface="宋体" panose="02000500000000000000" pitchFamily="2" charset="-122"/>
                <a:cs typeface="宋体" panose="02000500000000000000" pitchFamily="2" charset="-122"/>
              </a:endParaRPr>
            </a:p>
          </p:txBody>
        </p:sp>
      </p:grpSp>
      <p:grpSp>
        <p:nvGrpSpPr>
          <p:cNvPr id="38918" name="Group 13"/>
          <p:cNvGrpSpPr/>
          <p:nvPr/>
        </p:nvGrpSpPr>
        <p:grpSpPr>
          <a:xfrm>
            <a:off x="6376988" y="1981200"/>
            <a:ext cx="4406900" cy="4510088"/>
            <a:chOff x="3264" y="1248"/>
            <a:chExt cx="2256" cy="2841"/>
          </a:xfrm>
        </p:grpSpPr>
        <p:sp>
          <p:nvSpPr>
            <p:cNvPr id="38919" name="Rectangle 14"/>
            <p:cNvSpPr/>
            <p:nvPr/>
          </p:nvSpPr>
          <p:spPr>
            <a:xfrm>
              <a:off x="3264" y="1248"/>
              <a:ext cx="2256" cy="2499"/>
            </a:xfrm>
            <a:prstGeom prst="rect">
              <a:avLst/>
            </a:prstGeom>
            <a:solidFill>
              <a:srgbClr val="F8F8F8"/>
            </a:solidFill>
            <a:ln w="12700" cap="flat" cmpd="sng">
              <a:solidFill>
                <a:schemeClr val="tx1"/>
              </a:solidFill>
              <a:prstDash val="solid"/>
              <a:miter/>
              <a:headEnd type="none" w="sm" len="sm"/>
              <a:tailEnd type="none" w="sm" len="sm"/>
            </a:ln>
          </p:spPr>
          <p:txBody>
            <a:bodyPr wrap="none" anchor="ctr" anchorCtr="0"/>
            <a:lstStyle/>
            <a:p>
              <a:pPr algn="ctr" eaLnBrk="0" hangingPunct="0"/>
              <a:endParaRPr lang="zh-CN" altLang="zh-CN" sz="2400" dirty="0">
                <a:latin typeface="宋体" panose="02000500000000000000" pitchFamily="2" charset="-122"/>
              </a:endParaRPr>
            </a:p>
          </p:txBody>
        </p:sp>
        <p:sp>
          <p:nvSpPr>
            <p:cNvPr id="38920" name="Text Box 15"/>
            <p:cNvSpPr txBox="1"/>
            <p:nvPr/>
          </p:nvSpPr>
          <p:spPr>
            <a:xfrm>
              <a:off x="3499" y="3839"/>
              <a:ext cx="1833" cy="250"/>
            </a:xfrm>
            <a:prstGeom prst="rect">
              <a:avLst/>
            </a:prstGeom>
            <a:solidFill>
              <a:srgbClr val="F8F8F8"/>
            </a:solidFill>
            <a:ln w="12700">
              <a:noFill/>
            </a:ln>
          </p:spPr>
          <p:txBody>
            <a:bodyPr>
              <a:spAutoFit/>
            </a:bodyPr>
            <a:lstStyle/>
            <a:p>
              <a:pPr eaLnBrk="0" hangingPunct="0">
                <a:spcBef>
                  <a:spcPct val="50000"/>
                </a:spcBef>
              </a:pPr>
              <a:r>
                <a:rPr lang="en-US" altLang="zh-CN" sz="2000" b="1" dirty="0">
                  <a:latin typeface="宋体" panose="02000500000000000000" pitchFamily="2" charset="-122"/>
                </a:rPr>
                <a:t>Scope Consistency</a:t>
              </a:r>
              <a:endParaRPr lang="en-US" altLang="zh-CN" sz="2000" b="1" dirty="0">
                <a:latin typeface="宋体" panose="02000500000000000000" pitchFamily="2" charset="-122"/>
              </a:endParaRPr>
            </a:p>
          </p:txBody>
        </p:sp>
        <p:sp>
          <p:nvSpPr>
            <p:cNvPr id="38921" name="Text Box 16"/>
            <p:cNvSpPr txBox="1"/>
            <p:nvPr/>
          </p:nvSpPr>
          <p:spPr>
            <a:xfrm>
              <a:off x="3311" y="1294"/>
              <a:ext cx="550" cy="1057"/>
            </a:xfrm>
            <a:prstGeom prst="rect">
              <a:avLst/>
            </a:prstGeom>
            <a:solidFill>
              <a:srgbClr val="F8F8F8"/>
            </a:solidFill>
            <a:ln w="12700">
              <a:noFill/>
            </a:ln>
          </p:spPr>
          <p:txBody>
            <a:bodyPr>
              <a:spAutoFit/>
            </a:bodyPr>
            <a:lstStyle/>
            <a:p>
              <a:pPr algn="ctr" eaLnBrk="0" hangingPunct="0">
                <a:lnSpc>
                  <a:spcPct val="80000"/>
                </a:lnSpc>
                <a:spcBef>
                  <a:spcPct val="50000"/>
                </a:spcBef>
              </a:pPr>
              <a:r>
                <a:rPr lang="en-US" altLang="zh-CN" sz="1600" b="1" u="sng" dirty="0">
                  <a:latin typeface="宋体" panose="02000500000000000000" pitchFamily="2" charset="-122"/>
                </a:rPr>
                <a:t>P1</a:t>
              </a: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x=1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Acq(l1)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y=1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Rel(l1)</a:t>
              </a:r>
              <a:endParaRPr lang="en-US" altLang="zh-CN" sz="1600" dirty="0">
                <a:latin typeface="宋体" panose="02000500000000000000" pitchFamily="2" charset="-122"/>
              </a:endParaRPr>
            </a:p>
          </p:txBody>
        </p:sp>
        <p:sp>
          <p:nvSpPr>
            <p:cNvPr id="38922" name="Text Box 17"/>
            <p:cNvSpPr txBox="1"/>
            <p:nvPr/>
          </p:nvSpPr>
          <p:spPr>
            <a:xfrm>
              <a:off x="4768" y="1294"/>
              <a:ext cx="551" cy="2181"/>
            </a:xfrm>
            <a:prstGeom prst="rect">
              <a:avLst/>
            </a:prstGeom>
            <a:solidFill>
              <a:srgbClr val="F8F8F8"/>
            </a:solidFill>
            <a:ln w="12700">
              <a:noFill/>
            </a:ln>
          </p:spPr>
          <p:txBody>
            <a:bodyPr>
              <a:spAutoFit/>
            </a:bodyPr>
            <a:lstStyle/>
            <a:p>
              <a:pPr algn="ctr" eaLnBrk="0" hangingPunct="0">
                <a:lnSpc>
                  <a:spcPct val="80000"/>
                </a:lnSpc>
                <a:spcBef>
                  <a:spcPct val="50000"/>
                </a:spcBef>
              </a:pPr>
              <a:r>
                <a:rPr lang="en-US" altLang="zh-CN" sz="1600" b="1" u="sng" dirty="0">
                  <a:latin typeface="宋体" panose="02000500000000000000" pitchFamily="2" charset="-122"/>
                </a:rPr>
                <a:t>P3 </a:t>
              </a:r>
              <a:endParaRPr lang="en-US" altLang="zh-CN" sz="1600" b="1" u="sng" dirty="0">
                <a:latin typeface="宋体" panose="02000500000000000000" pitchFamily="2" charset="-122"/>
              </a:endParaRPr>
            </a:p>
            <a:p>
              <a:pPr algn="ctr" eaLnBrk="0" hangingPunct="0">
                <a:lnSpc>
                  <a:spcPct val="80000"/>
                </a:lnSpc>
                <a:spcBef>
                  <a:spcPct val="50000"/>
                </a:spcBef>
              </a:pPr>
              <a:endParaRPr lang="en-US" altLang="zh-CN" sz="1600" b="1" dirty="0">
                <a:latin typeface="宋体" panose="02000500000000000000" pitchFamily="2" charset="-122"/>
              </a:endParaRPr>
            </a:p>
            <a:p>
              <a:pPr algn="ctr" eaLnBrk="0" hangingPunct="0">
                <a:lnSpc>
                  <a:spcPct val="80000"/>
                </a:lnSpc>
                <a:spcBef>
                  <a:spcPct val="50000"/>
                </a:spcBef>
              </a:pPr>
              <a:endParaRPr lang="en-US" altLang="zh-CN" sz="1600" b="1" dirty="0">
                <a:latin typeface="宋体" panose="02000500000000000000" pitchFamily="2" charset="-122"/>
              </a:endParaRPr>
            </a:p>
            <a:p>
              <a:pPr algn="ctr" eaLnBrk="0" hangingPunct="0">
                <a:lnSpc>
                  <a:spcPct val="80000"/>
                </a:lnSpc>
                <a:spcBef>
                  <a:spcPct val="50000"/>
                </a:spcBef>
              </a:pPr>
              <a:endParaRPr lang="en-US" altLang="zh-CN" sz="1600" b="1" dirty="0">
                <a:latin typeface="宋体" panose="02000500000000000000" pitchFamily="2" charset="-122"/>
              </a:endParaRPr>
            </a:p>
            <a:p>
              <a:pPr algn="ctr" eaLnBrk="0" hangingPunct="0">
                <a:lnSpc>
                  <a:spcPct val="80000"/>
                </a:lnSpc>
                <a:spcBef>
                  <a:spcPct val="50000"/>
                </a:spcBef>
              </a:pP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Acq(l2)</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a=x</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b=y</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c=z</a:t>
              </a: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Rel(l2)</a:t>
              </a:r>
              <a:endParaRPr lang="en-US" altLang="zh-CN" sz="1600" b="1" dirty="0">
                <a:latin typeface="宋体" panose="02000500000000000000" pitchFamily="2" charset="-122"/>
              </a:endParaRPr>
            </a:p>
          </p:txBody>
        </p:sp>
        <p:sp>
          <p:nvSpPr>
            <p:cNvPr id="38923" name="Text Box 18"/>
            <p:cNvSpPr txBox="1"/>
            <p:nvPr/>
          </p:nvSpPr>
          <p:spPr>
            <a:xfrm>
              <a:off x="3969" y="1294"/>
              <a:ext cx="550" cy="1764"/>
            </a:xfrm>
            <a:prstGeom prst="rect">
              <a:avLst/>
            </a:prstGeom>
            <a:solidFill>
              <a:srgbClr val="F8F8F8"/>
            </a:solidFill>
            <a:ln w="12700">
              <a:noFill/>
            </a:ln>
          </p:spPr>
          <p:txBody>
            <a:bodyPr>
              <a:spAutoFit/>
            </a:bodyPr>
            <a:lstStyle/>
            <a:p>
              <a:pPr algn="ctr" eaLnBrk="0" hangingPunct="0">
                <a:lnSpc>
                  <a:spcPct val="80000"/>
                </a:lnSpc>
                <a:spcBef>
                  <a:spcPct val="50000"/>
                </a:spcBef>
              </a:pPr>
              <a:r>
                <a:rPr lang="en-US" altLang="zh-CN" sz="1600" b="1" u="sng" dirty="0">
                  <a:latin typeface="宋体" panose="02000500000000000000" pitchFamily="2" charset="-122"/>
                </a:rPr>
                <a:t>P2 </a:t>
              </a: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algn="ctr" eaLnBrk="0" hangingPunct="0">
                <a:lnSpc>
                  <a:spcPct val="80000"/>
                </a:lnSpc>
                <a:spcBef>
                  <a:spcPct val="50000"/>
                </a:spcBef>
              </a:pPr>
              <a:endParaRPr lang="en-US" altLang="zh-CN" sz="1600" b="1" dirty="0">
                <a:latin typeface="宋体" panose="02000500000000000000" pitchFamily="2" charset="-122"/>
              </a:endParaRPr>
            </a:p>
            <a:p>
              <a:pPr algn="ctr" eaLnBrk="0" hangingPunct="0">
                <a:lnSpc>
                  <a:spcPct val="80000"/>
                </a:lnSpc>
                <a:spcBef>
                  <a:spcPct val="50000"/>
                </a:spcBef>
              </a:pPr>
              <a:r>
                <a:rPr lang="en-US" altLang="zh-CN" sz="1600" b="1" dirty="0">
                  <a:latin typeface="宋体" panose="02000500000000000000" pitchFamily="2" charset="-122"/>
                </a:rPr>
                <a:t>        </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Acq(l1)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a=x</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b=y</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Rel(l1)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Acq(l2)</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z=1</a:t>
              </a:r>
              <a:endParaRPr lang="en-US" altLang="zh-CN" sz="1600" b="1" dirty="0">
                <a:latin typeface="宋体" panose="02000500000000000000" pitchFamily="2" charset="-122"/>
              </a:endParaRPr>
            </a:p>
            <a:p>
              <a:pPr algn="ctr" eaLnBrk="0" hangingPunct="0">
                <a:lnSpc>
                  <a:spcPct val="60000"/>
                </a:lnSpc>
                <a:spcBef>
                  <a:spcPct val="50000"/>
                </a:spcBef>
              </a:pPr>
              <a:r>
                <a:rPr lang="en-US" altLang="zh-CN" sz="1600" b="1" dirty="0">
                  <a:latin typeface="宋体" panose="02000500000000000000" pitchFamily="2" charset="-122"/>
                </a:rPr>
                <a:t>Rel(l2)</a:t>
              </a:r>
              <a:endParaRPr lang="en-US" altLang="zh-CN" sz="1600" dirty="0">
                <a:latin typeface="宋体" panose="02000500000000000000" pitchFamily="2" charset="-122"/>
              </a:endParaRPr>
            </a:p>
          </p:txBody>
        </p:sp>
        <p:sp>
          <p:nvSpPr>
            <p:cNvPr id="38924" name="Line 19"/>
            <p:cNvSpPr/>
            <p:nvPr/>
          </p:nvSpPr>
          <p:spPr>
            <a:xfrm flipV="1">
              <a:off x="3781" y="1942"/>
              <a:ext cx="235" cy="278"/>
            </a:xfrm>
            <a:prstGeom prst="line">
              <a:avLst/>
            </a:prstGeom>
            <a:ln w="12700" cap="flat" cmpd="sng">
              <a:solidFill>
                <a:schemeClr val="tx1"/>
              </a:solidFill>
              <a:prstDash val="solid"/>
              <a:headEnd type="none" w="sm" len="sm"/>
              <a:tailEnd type="triangle" w="med" len="med"/>
            </a:ln>
          </p:spPr>
        </p:sp>
        <p:sp>
          <p:nvSpPr>
            <p:cNvPr id="38925" name="Line 20"/>
            <p:cNvSpPr/>
            <p:nvPr/>
          </p:nvSpPr>
          <p:spPr>
            <a:xfrm flipV="1">
              <a:off x="4439" y="2590"/>
              <a:ext cx="376" cy="278"/>
            </a:xfrm>
            <a:prstGeom prst="line">
              <a:avLst/>
            </a:prstGeom>
            <a:ln w="12700" cap="flat" cmpd="sng">
              <a:solidFill>
                <a:schemeClr val="tx1"/>
              </a:solidFill>
              <a:prstDash val="solid"/>
              <a:headEnd type="none" w="sm" len="sm"/>
              <a:tailEnd type="triangle" w="med" len="med"/>
            </a:ln>
          </p:spPr>
        </p:sp>
        <p:sp>
          <p:nvSpPr>
            <p:cNvPr id="38926" name="Text Box 21"/>
            <p:cNvSpPr txBox="1"/>
            <p:nvPr/>
          </p:nvSpPr>
          <p:spPr>
            <a:xfrm>
              <a:off x="3360" y="3504"/>
              <a:ext cx="1634" cy="213"/>
            </a:xfrm>
            <a:prstGeom prst="rect">
              <a:avLst/>
            </a:prstGeom>
            <a:solidFill>
              <a:srgbClr val="F8F8F8"/>
            </a:solidFill>
            <a:ln w="12700">
              <a:noFill/>
            </a:ln>
          </p:spPr>
          <p:txBody>
            <a:bodyPr wrap="none">
              <a:spAutoFit/>
            </a:bodyPr>
            <a:lstStyle/>
            <a:p>
              <a:pPr eaLnBrk="0" hangingPunct="0"/>
              <a:r>
                <a:rPr lang="zh-CN" altLang="en-US" sz="1600" b="1" dirty="0">
                  <a:latin typeface="宋体" panose="02000500000000000000" pitchFamily="2" charset="-122"/>
                  <a:cs typeface="宋体" panose="02000500000000000000" pitchFamily="2" charset="-122"/>
                </a:rPr>
                <a:t>结果：</a:t>
              </a:r>
              <a:r>
                <a:rPr lang="en-US" altLang="zh-CN" sz="1600" b="1" dirty="0">
                  <a:latin typeface="宋体" panose="02000500000000000000" pitchFamily="2" charset="-122"/>
                  <a:cs typeface="宋体" panose="02000500000000000000" pitchFamily="2" charset="-122"/>
                </a:rPr>
                <a:t>P2: a=0,b=1; P3:a=b=0,c=1</a:t>
              </a:r>
              <a:endParaRPr lang="en-US" altLang="zh-CN" sz="2400" dirty="0">
                <a:latin typeface="宋体" panose="02000500000000000000" pitchFamily="2" charset="-122"/>
                <a:cs typeface="宋体" panose="02000500000000000000" pitchFamily="2"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9939" name="Rectangle 2"/>
          <p:cNvSpPr>
            <a:spLocks noGrp="1"/>
          </p:cNvSpPr>
          <p:nvPr>
            <p:ph type="title"/>
          </p:nvPr>
        </p:nvSpPr>
        <p:spPr>
          <a:xfrm>
            <a:off x="688975" y="0"/>
            <a:ext cx="10972800" cy="981075"/>
          </a:xfrm>
        </p:spPr>
        <p:txBody>
          <a:bodyPr vert="horz" wrap="square" lIns="91440" tIns="45720" rIns="91440" bIns="45720" anchor="ctr" anchorCtr="0"/>
          <a:lstStyle/>
          <a:p>
            <a:pPr eaLnBrk="1" hangingPunct="1"/>
            <a:r>
              <a:rPr lang="zh-CN" altLang="en-US" dirty="0"/>
              <a:t>单项一致性模型（</a:t>
            </a:r>
            <a:r>
              <a:rPr lang="en-US" altLang="zh-CN" dirty="0"/>
              <a:t>Entry Consistency</a:t>
            </a:r>
            <a:r>
              <a:rPr lang="zh-CN" altLang="en-US" dirty="0"/>
              <a:t>）</a:t>
            </a:r>
            <a:endParaRPr lang="zh-CN" altLang="en-US" dirty="0"/>
          </a:p>
        </p:txBody>
      </p:sp>
      <p:sp>
        <p:nvSpPr>
          <p:cNvPr id="39940" name="Rectangle 3"/>
          <p:cNvSpPr>
            <a:spLocks noGrp="1"/>
          </p:cNvSpPr>
          <p:nvPr>
            <p:ph idx="1"/>
          </p:nvPr>
        </p:nvSpPr>
        <p:spPr/>
        <p:txBody>
          <a:bodyPr vert="horz" wrap="square" lIns="91440" tIns="45720" rIns="91440" bIns="45720" anchor="t" anchorCtr="0"/>
          <a:lstStyle/>
          <a:p>
            <a:pPr eaLnBrk="1" hangingPunct="1"/>
            <a:r>
              <a:rPr lang="zh-CN" altLang="en-US" dirty="0"/>
              <a:t>必须为每一个共享变量指定相应的锁</a:t>
            </a:r>
            <a:endParaRPr lang="zh-CN" altLang="en-US" dirty="0"/>
          </a:p>
          <a:p>
            <a:pPr eaLnBrk="1" hangingPunct="1"/>
            <a:r>
              <a:rPr lang="zh-CN" altLang="en-US" dirty="0"/>
              <a:t>加重了程序员的负担</a:t>
            </a:r>
            <a:endParaRPr lang="zh-CN" altLang="en-US" dirty="0"/>
          </a:p>
          <a:p>
            <a:pPr eaLnBrk="1" hangingPunct="1"/>
            <a:r>
              <a:rPr lang="zh-CN" altLang="en-US" dirty="0"/>
              <a:t>有利于性能</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4"/>
          <p:cNvSpPr>
            <a:spLocks noGrp="1" noChangeArrowheads="1"/>
          </p:cNvSpPr>
          <p:nvPr>
            <p:ph type="sldNum" sz="quarter" idx="12"/>
          </p:nvPr>
        </p:nvSpPr>
        <p:spPr>
          <a:noFill/>
        </p:spPr>
        <p:txBody>
          <a:bodyPr/>
          <a:lstStyle/>
          <a:p>
            <a:fld id="{E5ACCEED-5942-4763-AF4E-78FE04385154}" type="slidenum">
              <a:rPr lang="en-US" altLang="zh-CN" smtClean="0"/>
            </a:fld>
            <a:endParaRPr lang="en-US" altLang="zh-CN" smtClean="0"/>
          </a:p>
        </p:txBody>
      </p:sp>
      <p:sp>
        <p:nvSpPr>
          <p:cNvPr id="56323" name="Rectangle 2"/>
          <p:cNvSpPr>
            <a:spLocks noGrp="1" noChangeArrowheads="1"/>
          </p:cNvSpPr>
          <p:nvPr>
            <p:ph type="title"/>
          </p:nvPr>
        </p:nvSpPr>
        <p:spPr>
          <a:xfrm>
            <a:off x="833756" y="2849563"/>
            <a:ext cx="10361612" cy="1143000"/>
          </a:xfrm>
        </p:spPr>
        <p:txBody>
          <a:bodyPr/>
          <a:lstStyle/>
          <a:p>
            <a:pPr eaLnBrk="1" hangingPunct="1"/>
            <a:r>
              <a:rPr lang="zh-CN" altLang="en-US" sz="4400" smtClean="0"/>
              <a:t>多核处理器的同步机制</a:t>
            </a:r>
            <a:endParaRPr lang="zh-CN" altLang="en-US" sz="440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noChangeArrowheads="1"/>
          </p:cNvSpPr>
          <p:nvPr>
            <p:ph type="title"/>
          </p:nvPr>
        </p:nvSpPr>
        <p:spPr>
          <a:xfrm>
            <a:off x="914718" y="0"/>
            <a:ext cx="10361613" cy="1009650"/>
          </a:xfrm>
        </p:spPr>
        <p:txBody>
          <a:bodyPr/>
          <a:lstStyle/>
          <a:p>
            <a:r>
              <a:rPr lang="zh-CN" altLang="en-US" smtClean="0"/>
              <a:t>多核处理器的同步问题</a:t>
            </a:r>
            <a:endParaRPr lang="zh-CN" altLang="en-US" smtClean="0"/>
          </a:p>
        </p:txBody>
      </p:sp>
      <p:sp>
        <p:nvSpPr>
          <p:cNvPr id="22531" name="内容占位符 2"/>
          <p:cNvSpPr>
            <a:spLocks noGrp="1"/>
          </p:cNvSpPr>
          <p:nvPr>
            <p:ph idx="1"/>
          </p:nvPr>
        </p:nvSpPr>
        <p:spPr>
          <a:xfrm>
            <a:off x="241618" y="1204913"/>
            <a:ext cx="11947525" cy="1062037"/>
          </a:xfrm>
        </p:spPr>
        <p:txBody>
          <a:bodyPr/>
          <a:lstStyle/>
          <a:p>
            <a:pPr marL="342900" lvl="1" indent="-342900">
              <a:defRPr/>
            </a:pPr>
            <a:r>
              <a:rPr kumimoji="1" lang="zh-CN" altLang="en-US" sz="2000" dirty="0">
                <a:cs typeface="+mn-ea"/>
              </a:rPr>
              <a:t>一个并行程序产生不同的执行结果</a:t>
            </a:r>
            <a:endParaRPr kumimoji="1" lang="en-US" altLang="zh-CN" sz="1800" dirty="0">
              <a:cs typeface="+mn-ea"/>
            </a:endParaRPr>
          </a:p>
          <a:p>
            <a:pPr>
              <a:defRPr/>
            </a:pPr>
            <a:endParaRPr kumimoji="1" lang="zh-CN" altLang="en-US" sz="1800" dirty="0"/>
          </a:p>
          <a:p>
            <a:pPr lvl="1">
              <a:defRPr/>
            </a:pPr>
            <a:endParaRPr kumimoji="1" lang="en-US" altLang="zh-CN" sz="1400" dirty="0">
              <a:cs typeface="+mn-ea"/>
            </a:endParaRPr>
          </a:p>
          <a:p>
            <a:pPr lvl="1">
              <a:defRPr/>
            </a:pPr>
            <a:endParaRPr kumimoji="1" lang="en-US" altLang="zh-CN" sz="1400" dirty="0">
              <a:cs typeface="+mn-ea"/>
            </a:endParaRPr>
          </a:p>
          <a:p>
            <a:pPr lvl="1">
              <a:defRPr/>
            </a:pPr>
            <a:endParaRPr kumimoji="1" lang="zh-CN" altLang="en-US" sz="1400" dirty="0">
              <a:cs typeface="+mn-ea"/>
            </a:endParaRPr>
          </a:p>
        </p:txBody>
      </p:sp>
      <p:sp>
        <p:nvSpPr>
          <p:cNvPr id="57348" name="灯片编号占位符 3"/>
          <p:cNvSpPr>
            <a:spLocks noGrp="1" noChangeArrowheads="1"/>
          </p:cNvSpPr>
          <p:nvPr>
            <p:ph type="sldNum" sz="quarter" idx="12"/>
          </p:nvPr>
        </p:nvSpPr>
        <p:spPr>
          <a:noFill/>
        </p:spPr>
        <p:txBody>
          <a:bodyPr/>
          <a:lstStyle/>
          <a:p>
            <a:fld id="{B58753D9-E417-499E-8BA4-16CD76D91563}" type="slidenum">
              <a:rPr lang="en-US" altLang="zh-CN" smtClean="0"/>
            </a:fld>
            <a:endParaRPr lang="en-US" altLang="zh-CN" smtClean="0"/>
          </a:p>
        </p:txBody>
      </p:sp>
      <p:sp>
        <p:nvSpPr>
          <p:cNvPr id="57349" name="Rectangle 2"/>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57350"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57351" name="Rectangle 8"/>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pic>
        <p:nvPicPr>
          <p:cNvPr id="57352" name="图片 7"/>
          <p:cNvPicPr>
            <a:picLocks noChangeAspect="1" noChangeArrowheads="1"/>
          </p:cNvPicPr>
          <p:nvPr/>
        </p:nvPicPr>
        <p:blipFill>
          <a:blip r:embed="rId1" cstate="print"/>
          <a:srcRect/>
          <a:stretch>
            <a:fillRect/>
          </a:stretch>
        </p:blipFill>
        <p:spPr bwMode="auto">
          <a:xfrm>
            <a:off x="1067118" y="1933575"/>
            <a:ext cx="9840913" cy="3724275"/>
          </a:xfrm>
          <a:prstGeom prst="rect">
            <a:avLst/>
          </a:prstGeom>
          <a:noFill/>
          <a:ln w="9525">
            <a:noFill/>
            <a:miter lim="800000"/>
            <a:headEnd/>
            <a:tailEnd/>
          </a:ln>
        </p:spPr>
      </p:pic>
      <p:sp>
        <p:nvSpPr>
          <p:cNvPr id="57353" name="TextBox 8"/>
          <p:cNvSpPr txBox="1">
            <a:spLocks noChangeArrowheads="1"/>
          </p:cNvSpPr>
          <p:nvPr/>
        </p:nvSpPr>
        <p:spPr bwMode="auto">
          <a:xfrm>
            <a:off x="1841818" y="5848350"/>
            <a:ext cx="8761413" cy="922020"/>
          </a:xfrm>
          <a:prstGeom prst="rect">
            <a:avLst/>
          </a:prstGeom>
          <a:noFill/>
          <a:ln w="9525">
            <a:noFill/>
            <a:miter lim="800000"/>
          </a:ln>
        </p:spPr>
        <p:txBody>
          <a:bodyPr>
            <a:spAutoFit/>
          </a:bodyPr>
          <a:lstStyle/>
          <a:p>
            <a:pPr>
              <a:lnSpc>
                <a:spcPct val="150000"/>
              </a:lnSpc>
            </a:pPr>
            <a:r>
              <a:rPr lang="zh-CN" altLang="en-US" sz="1800">
                <a:latin typeface="宋体" panose="02000500000000000000" pitchFamily="2" charset="-122"/>
              </a:rPr>
              <a:t>不正确：内存变量</a:t>
            </a:r>
            <a:r>
              <a:rPr lang="en-US" altLang="zh-CN" sz="1800">
                <a:latin typeface="宋体" panose="02000500000000000000" pitchFamily="2" charset="-122"/>
              </a:rPr>
              <a:t>A</a:t>
            </a:r>
            <a:r>
              <a:rPr lang="zh-CN" altLang="en-US" sz="1800">
                <a:latin typeface="宋体" panose="02000500000000000000" pitchFamily="2" charset="-122"/>
              </a:rPr>
              <a:t>的值可能为</a:t>
            </a:r>
            <a:r>
              <a:rPr lang="en-US" altLang="zh-CN" sz="1800">
                <a:latin typeface="宋体" panose="02000500000000000000" pitchFamily="2" charset="-122"/>
              </a:rPr>
              <a:t>A+1</a:t>
            </a:r>
            <a:r>
              <a:rPr lang="zh-CN" altLang="en-US" sz="1800">
                <a:latin typeface="宋体" panose="02000500000000000000" pitchFamily="2" charset="-122"/>
              </a:rPr>
              <a:t>或者</a:t>
            </a:r>
            <a:r>
              <a:rPr lang="en-US" altLang="zh-CN" sz="1800">
                <a:latin typeface="宋体" panose="02000500000000000000" pitchFamily="2" charset="-122"/>
              </a:rPr>
              <a:t>A+2</a:t>
            </a:r>
            <a:endParaRPr lang="en-US" altLang="zh-CN" sz="1800">
              <a:latin typeface="宋体" panose="02000500000000000000" pitchFamily="2" charset="-122"/>
            </a:endParaRPr>
          </a:p>
          <a:p>
            <a:pPr>
              <a:lnSpc>
                <a:spcPct val="150000"/>
              </a:lnSpc>
            </a:pPr>
            <a:r>
              <a:rPr lang="zh-CN" altLang="en-US" sz="1800">
                <a:latin typeface="宋体" panose="02000500000000000000" pitchFamily="2" charset="-122"/>
              </a:rPr>
              <a:t>解决方法：对共享变量</a:t>
            </a:r>
            <a:r>
              <a:rPr lang="en-US" altLang="zh-CN" sz="1800">
                <a:latin typeface="宋体" panose="02000500000000000000" pitchFamily="2" charset="-122"/>
              </a:rPr>
              <a:t>A</a:t>
            </a:r>
            <a:r>
              <a:rPr lang="zh-CN" altLang="en-US" sz="1800">
                <a:latin typeface="宋体" panose="02000500000000000000" pitchFamily="2" charset="-122"/>
              </a:rPr>
              <a:t>的访问需要同步机制</a:t>
            </a:r>
            <a:endParaRPr lang="zh-CN" altLang="en-US" sz="1800">
              <a:latin typeface="宋体" panose="02000500000000000000" pitchFamily="2"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noChangeArrowheads="1"/>
          </p:cNvSpPr>
          <p:nvPr>
            <p:ph type="title"/>
          </p:nvPr>
        </p:nvSpPr>
        <p:spPr>
          <a:xfrm>
            <a:off x="914718" y="87313"/>
            <a:ext cx="10361613" cy="1143000"/>
          </a:xfrm>
        </p:spPr>
        <p:txBody>
          <a:bodyPr/>
          <a:lstStyle/>
          <a:p>
            <a:r>
              <a:rPr lang="zh-CN" altLang="en-US" smtClean="0"/>
              <a:t>同步机制</a:t>
            </a:r>
            <a:endParaRPr lang="zh-CN" altLang="en-US" smtClean="0"/>
          </a:p>
        </p:txBody>
      </p:sp>
      <p:sp>
        <p:nvSpPr>
          <p:cNvPr id="22531" name="内容占位符 2"/>
          <p:cNvSpPr>
            <a:spLocks noGrp="1"/>
          </p:cNvSpPr>
          <p:nvPr>
            <p:ph idx="1"/>
          </p:nvPr>
        </p:nvSpPr>
        <p:spPr>
          <a:xfrm>
            <a:off x="683260" y="1205230"/>
            <a:ext cx="11254105" cy="4451350"/>
          </a:xfrm>
        </p:spPr>
        <p:txBody>
          <a:bodyPr/>
          <a:lstStyle/>
          <a:p>
            <a:pPr marL="342900" lvl="1" indent="-342900" latinLnBrk="0">
              <a:spcBef>
                <a:spcPts val="600"/>
              </a:spcBef>
              <a:defRPr/>
            </a:pPr>
            <a:r>
              <a:rPr kumimoji="1" lang="zh-CN" altLang="en-US" sz="2400" dirty="0">
                <a:latin typeface="宋体" panose="02000500000000000000" pitchFamily="2" charset="-122"/>
                <a:ea typeface="宋体" panose="02000500000000000000" pitchFamily="2" charset="-122"/>
                <a:cs typeface="宋体" panose="02000500000000000000" pitchFamily="2" charset="-122"/>
              </a:rPr>
              <a:t>两种常用同步机制</a:t>
            </a:r>
            <a:endParaRPr kumimoji="1" lang="en-US" altLang="zh-CN" sz="2400" dirty="0">
              <a:latin typeface="宋体" panose="02000500000000000000" pitchFamily="2" charset="-122"/>
              <a:ea typeface="宋体" panose="02000500000000000000" pitchFamily="2" charset="-122"/>
              <a:cs typeface="宋体" panose="02000500000000000000" pitchFamily="2" charset="-122"/>
            </a:endParaRPr>
          </a:p>
          <a:p>
            <a:pPr marL="742950" lvl="2" indent="-342900" latinLnBrk="0">
              <a:spcBef>
                <a:spcPts val="600"/>
              </a:spcBef>
              <a:defRPr/>
            </a:pPr>
            <a:r>
              <a:rPr kumimoji="1" lang="zh-CN" altLang="en-US" sz="1800" dirty="0">
                <a:latin typeface="宋体" panose="02000500000000000000" pitchFamily="2" charset="-122"/>
                <a:ea typeface="宋体" panose="02000500000000000000" pitchFamily="2" charset="-122"/>
                <a:cs typeface="宋体" panose="02000500000000000000" pitchFamily="2" charset="-122"/>
              </a:rPr>
              <a:t>锁操作（</a:t>
            </a:r>
            <a:r>
              <a:rPr kumimoji="1" lang="en-US" altLang="zh-CN" sz="1800" dirty="0">
                <a:latin typeface="宋体" panose="02000500000000000000" pitchFamily="2" charset="-122"/>
                <a:ea typeface="宋体" panose="02000500000000000000" pitchFamily="2" charset="-122"/>
                <a:cs typeface="宋体" panose="02000500000000000000" pitchFamily="2" charset="-122"/>
              </a:rPr>
              <a:t>Lock</a:t>
            </a:r>
            <a:r>
              <a:rPr kumimoji="1" lang="zh-CN" altLang="en-US" sz="1800" dirty="0">
                <a:latin typeface="宋体" panose="02000500000000000000" pitchFamily="2" charset="-122"/>
                <a:ea typeface="宋体" panose="02000500000000000000" pitchFamily="2" charset="-122"/>
                <a:cs typeface="宋体" panose="02000500000000000000" pitchFamily="2" charset="-122"/>
              </a:rPr>
              <a:t>）：临界区</a:t>
            </a: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marL="742950" lvl="2" indent="-342900" latinLnBrk="0">
              <a:spcBef>
                <a:spcPts val="600"/>
              </a:spcBef>
              <a:defRPr/>
            </a:pPr>
            <a:r>
              <a:rPr kumimoji="1" lang="zh-CN" altLang="en-US" sz="1800" dirty="0">
                <a:latin typeface="宋体" panose="02000500000000000000" pitchFamily="2" charset="-122"/>
                <a:ea typeface="宋体" panose="02000500000000000000" pitchFamily="2" charset="-122"/>
                <a:cs typeface="宋体" panose="02000500000000000000" pitchFamily="2" charset="-122"/>
              </a:rPr>
              <a:t>路障操作（</a:t>
            </a:r>
            <a:r>
              <a:rPr kumimoji="1" lang="en-US" altLang="zh-CN" sz="1800" dirty="0">
                <a:latin typeface="宋体" panose="02000500000000000000" pitchFamily="2" charset="-122"/>
                <a:ea typeface="宋体" panose="02000500000000000000" pitchFamily="2" charset="-122"/>
                <a:cs typeface="宋体" panose="02000500000000000000" pitchFamily="2" charset="-122"/>
              </a:rPr>
              <a:t>Barrier</a:t>
            </a:r>
            <a:r>
              <a:rPr kumimoji="1" lang="zh-CN" altLang="en-US" sz="1800" dirty="0">
                <a:latin typeface="宋体" panose="02000500000000000000" pitchFamily="2" charset="-122"/>
                <a:ea typeface="宋体" panose="02000500000000000000" pitchFamily="2" charset="-122"/>
                <a:cs typeface="宋体" panose="02000500000000000000" pitchFamily="2" charset="-122"/>
              </a:rPr>
              <a:t>）：全局同步</a:t>
            </a: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marL="342900" lvl="1" indent="-342900" latinLnBrk="0">
              <a:spcBef>
                <a:spcPts val="600"/>
              </a:spcBef>
              <a:defRPr/>
            </a:pPr>
            <a:r>
              <a:rPr kumimoji="1" lang="zh-CN" altLang="en-US" sz="2400" dirty="0">
                <a:latin typeface="宋体" panose="02000500000000000000" pitchFamily="2" charset="-122"/>
                <a:ea typeface="宋体" panose="02000500000000000000" pitchFamily="2" charset="-122"/>
                <a:cs typeface="宋体" panose="02000500000000000000" pitchFamily="2" charset="-122"/>
              </a:rPr>
              <a:t>常见的实现方式</a:t>
            </a:r>
            <a:endParaRPr kumimoji="1" lang="en-US" altLang="zh-CN" sz="2400" dirty="0">
              <a:latin typeface="宋体" panose="02000500000000000000" pitchFamily="2" charset="-122"/>
              <a:ea typeface="宋体" panose="02000500000000000000" pitchFamily="2" charset="-122"/>
              <a:cs typeface="宋体" panose="02000500000000000000" pitchFamily="2" charset="-122"/>
            </a:endParaRPr>
          </a:p>
          <a:p>
            <a:pPr marL="742950" lvl="2" indent="-342900" latinLnBrk="0">
              <a:spcBef>
                <a:spcPts val="600"/>
              </a:spcBef>
              <a:defRPr/>
            </a:pPr>
            <a:r>
              <a:rPr kumimoji="1" lang="zh-CN" altLang="en-US" sz="1800" dirty="0">
                <a:latin typeface="宋体" panose="02000500000000000000" pitchFamily="2" charset="-122"/>
                <a:ea typeface="宋体" panose="02000500000000000000" pitchFamily="2" charset="-122"/>
                <a:cs typeface="宋体" panose="02000500000000000000" pitchFamily="2" charset="-122"/>
              </a:rPr>
              <a:t>硬件</a:t>
            </a:r>
            <a:r>
              <a:rPr kumimoji="1" lang="zh-CN" altLang="zh-CN" sz="1800" dirty="0">
                <a:latin typeface="宋体" panose="02000500000000000000" pitchFamily="2" charset="-122"/>
                <a:ea typeface="宋体" panose="02000500000000000000" pitchFamily="2" charset="-122"/>
                <a:cs typeface="宋体" panose="02000500000000000000" pitchFamily="2" charset="-122"/>
              </a:rPr>
              <a:t>同步指令</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r>
              <a:rPr kumimoji="1" lang="zh-CN" altLang="zh-CN" sz="1800" dirty="0">
                <a:latin typeface="宋体" panose="02000500000000000000" pitchFamily="2" charset="-122"/>
                <a:ea typeface="宋体" panose="02000500000000000000" pitchFamily="2" charset="-122"/>
                <a:cs typeface="宋体" panose="02000500000000000000" pitchFamily="2" charset="-122"/>
              </a:rPr>
              <a:t>读</a:t>
            </a:r>
            <a:r>
              <a:rPr kumimoji="1" lang="en-US" altLang="zh-CN" sz="1800" dirty="0">
                <a:latin typeface="宋体" panose="02000500000000000000" pitchFamily="2" charset="-122"/>
                <a:ea typeface="宋体" panose="02000500000000000000" pitchFamily="2" charset="-122"/>
                <a:cs typeface="宋体" panose="02000500000000000000" pitchFamily="2" charset="-122"/>
              </a:rPr>
              <a:t>-</a:t>
            </a:r>
            <a:r>
              <a:rPr kumimoji="1" lang="zh-CN" altLang="zh-CN" sz="1800" dirty="0">
                <a:latin typeface="宋体" panose="02000500000000000000" pitchFamily="2" charset="-122"/>
                <a:ea typeface="宋体" panose="02000500000000000000" pitchFamily="2" charset="-122"/>
                <a:cs typeface="宋体" panose="02000500000000000000" pitchFamily="2" charset="-122"/>
              </a:rPr>
              <a:t>改</a:t>
            </a:r>
            <a:r>
              <a:rPr kumimoji="1" lang="en-US" altLang="zh-CN" sz="1800" dirty="0">
                <a:latin typeface="宋体" panose="02000500000000000000" pitchFamily="2" charset="-122"/>
                <a:ea typeface="宋体" panose="02000500000000000000" pitchFamily="2" charset="-122"/>
                <a:cs typeface="宋体" panose="02000500000000000000" pitchFamily="2" charset="-122"/>
              </a:rPr>
              <a:t>-</a:t>
            </a:r>
            <a:r>
              <a:rPr kumimoji="1" lang="zh-CN" altLang="zh-CN" sz="1800" dirty="0">
                <a:latin typeface="宋体" panose="02000500000000000000" pitchFamily="2" charset="-122"/>
                <a:ea typeface="宋体" panose="02000500000000000000" pitchFamily="2" charset="-122"/>
                <a:cs typeface="宋体" panose="02000500000000000000" pitchFamily="2" charset="-122"/>
              </a:rPr>
              <a:t>写</a:t>
            </a:r>
            <a:r>
              <a:rPr kumimoji="1" lang="zh-CN" altLang="en-US" sz="1800" dirty="0">
                <a:latin typeface="宋体" panose="02000500000000000000" pitchFamily="2" charset="-122"/>
                <a:ea typeface="宋体" panose="02000500000000000000" pitchFamily="2" charset="-122"/>
                <a:cs typeface="宋体" panose="02000500000000000000" pitchFamily="2" charset="-122"/>
              </a:rPr>
              <a:t>”指令</a:t>
            </a: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marL="742950" lvl="2" indent="-342900" latinLnBrk="0">
              <a:spcBef>
                <a:spcPts val="600"/>
              </a:spcBef>
              <a:defRPr/>
            </a:pPr>
            <a:r>
              <a:rPr kumimoji="1" lang="zh-CN" altLang="en-US" sz="1800" dirty="0">
                <a:latin typeface="宋体" panose="02000500000000000000" pitchFamily="2" charset="-122"/>
                <a:ea typeface="宋体" panose="02000500000000000000" pitchFamily="2" charset="-122"/>
                <a:cs typeface="宋体" panose="02000500000000000000" pitchFamily="2" charset="-122"/>
              </a:rPr>
              <a:t>硬件同步指令：“</a:t>
            </a:r>
            <a:r>
              <a:rPr kumimoji="1" lang="en-US" altLang="zh-CN" sz="1800" dirty="0">
                <a:latin typeface="宋体" panose="02000500000000000000" pitchFamily="2" charset="-122"/>
                <a:ea typeface="宋体" panose="02000500000000000000" pitchFamily="2" charset="-122"/>
                <a:cs typeface="宋体" panose="02000500000000000000" pitchFamily="2" charset="-122"/>
              </a:rPr>
              <a:t>LL/SC</a:t>
            </a:r>
            <a:r>
              <a:rPr kumimoji="1" lang="zh-CN" altLang="en-US" sz="1800" dirty="0">
                <a:latin typeface="宋体" panose="02000500000000000000" pitchFamily="2" charset="-122"/>
                <a:ea typeface="宋体" panose="02000500000000000000" pitchFamily="2" charset="-122"/>
                <a:cs typeface="宋体" panose="02000500000000000000" pitchFamily="2" charset="-122"/>
              </a:rPr>
              <a:t>”指令</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lvl="1" latinLnBrk="0">
              <a:spcBef>
                <a:spcPts val="600"/>
              </a:spcBef>
              <a:defRPr/>
            </a:pP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latinLnBrk="0">
              <a:spcBef>
                <a:spcPts val="600"/>
              </a:spcBef>
              <a:defRPr/>
            </a:pPr>
            <a:endParaRPr kumimoji="1" lang="en-US" altLang="zh-CN" sz="2000" dirty="0">
              <a:latin typeface="宋体" panose="02000500000000000000" pitchFamily="2" charset="-122"/>
              <a:ea typeface="宋体" panose="02000500000000000000" pitchFamily="2" charset="-122"/>
              <a:cs typeface="宋体" panose="02000500000000000000" pitchFamily="2" charset="-122"/>
            </a:endParaRPr>
          </a:p>
          <a:p>
            <a:pPr latinLnBrk="0">
              <a:spcBef>
                <a:spcPts val="600"/>
              </a:spcBef>
              <a:defRPr/>
            </a:pPr>
            <a:endParaRPr kumimoji="1" lang="zh-CN" altLang="en-US" sz="2000" dirty="0">
              <a:latin typeface="宋体" panose="02000500000000000000" pitchFamily="2" charset="-122"/>
              <a:ea typeface="宋体" panose="02000500000000000000" pitchFamily="2" charset="-122"/>
              <a:cs typeface="宋体" panose="02000500000000000000" pitchFamily="2" charset="-122"/>
            </a:endParaRPr>
          </a:p>
          <a:p>
            <a:pPr lvl="1" latinLnBrk="0">
              <a:spcBef>
                <a:spcPts val="600"/>
              </a:spcBef>
              <a:defRPr/>
            </a:pP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lvl="1" latinLnBrk="0">
              <a:spcBef>
                <a:spcPts val="600"/>
              </a:spcBef>
              <a:defRPr/>
            </a:pP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lvl="1">
              <a:defRPr/>
            </a:pP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p:txBody>
      </p:sp>
      <p:sp>
        <p:nvSpPr>
          <p:cNvPr id="58372" name="灯片编号占位符 3"/>
          <p:cNvSpPr>
            <a:spLocks noGrp="1" noChangeArrowheads="1"/>
          </p:cNvSpPr>
          <p:nvPr>
            <p:ph type="sldNum" sz="quarter" idx="12"/>
          </p:nvPr>
        </p:nvSpPr>
        <p:spPr>
          <a:noFill/>
        </p:spPr>
        <p:txBody>
          <a:bodyPr/>
          <a:lstStyle/>
          <a:p>
            <a:fld id="{52EE3BE0-E349-4077-A868-52BC9B8B1D58}" type="slidenum">
              <a:rPr lang="en-US" altLang="zh-CN" smtClean="0"/>
            </a:fld>
            <a:endParaRPr lang="en-US" altLang="zh-CN" smtClean="0"/>
          </a:p>
        </p:txBody>
      </p:sp>
      <p:sp>
        <p:nvSpPr>
          <p:cNvPr id="58373" name="Rectangle 2"/>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58374"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58375" name="Rectangle 8"/>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noChangeArrowheads="1"/>
          </p:cNvSpPr>
          <p:nvPr>
            <p:ph type="title"/>
          </p:nvPr>
        </p:nvSpPr>
        <p:spPr>
          <a:xfrm>
            <a:off x="914718" y="87313"/>
            <a:ext cx="10361613" cy="1143000"/>
          </a:xfrm>
        </p:spPr>
        <p:txBody>
          <a:bodyPr/>
          <a:lstStyle/>
          <a:p>
            <a:r>
              <a:rPr lang="zh-CN" altLang="en-US" smtClean="0"/>
              <a:t>“读</a:t>
            </a:r>
            <a:r>
              <a:rPr lang="en-US" altLang="zh-CN" smtClean="0"/>
              <a:t>-</a:t>
            </a:r>
            <a:r>
              <a:rPr lang="zh-CN" altLang="en-US" smtClean="0"/>
              <a:t>改</a:t>
            </a:r>
            <a:r>
              <a:rPr lang="en-US" altLang="zh-CN" smtClean="0"/>
              <a:t>-</a:t>
            </a:r>
            <a:r>
              <a:rPr lang="zh-CN" altLang="en-US" smtClean="0"/>
              <a:t>写”原子指令</a:t>
            </a:r>
            <a:endParaRPr lang="zh-CN" altLang="en-US" smtClean="0"/>
          </a:p>
        </p:txBody>
      </p:sp>
      <p:sp>
        <p:nvSpPr>
          <p:cNvPr id="22531" name="内容占位符 2"/>
          <p:cNvSpPr>
            <a:spLocks noGrp="1"/>
          </p:cNvSpPr>
          <p:nvPr>
            <p:ph idx="1"/>
          </p:nvPr>
        </p:nvSpPr>
        <p:spPr>
          <a:xfrm>
            <a:off x="447675" y="1285875"/>
            <a:ext cx="11572875" cy="5391150"/>
          </a:xfrm>
        </p:spPr>
        <p:txBody>
          <a:bodyPr/>
          <a:lstStyle/>
          <a:p>
            <a:pPr marL="342900" lvl="1" indent="-342900">
              <a:defRPr/>
            </a:pPr>
            <a:r>
              <a:rPr kumimoji="1" lang="en-US" altLang="zh-CN" sz="2000" dirty="0" err="1">
                <a:latin typeface="宋体" panose="02000500000000000000" pitchFamily="2" charset="-122"/>
                <a:ea typeface="宋体" panose="02000500000000000000" pitchFamily="2" charset="-122"/>
                <a:cs typeface="宋体" panose="02000500000000000000" pitchFamily="2" charset="-122"/>
              </a:rPr>
              <a:t>Test_and_Set</a:t>
            </a:r>
            <a:r>
              <a:rPr kumimoji="1" lang="en-US" altLang="zh-CN" sz="2000" dirty="0">
                <a:latin typeface="宋体" panose="02000500000000000000" pitchFamily="2" charset="-122"/>
                <a:ea typeface="宋体" panose="02000500000000000000" pitchFamily="2" charset="-122"/>
                <a:cs typeface="宋体" panose="02000500000000000000" pitchFamily="2" charset="-122"/>
              </a:rPr>
              <a:t> </a:t>
            </a:r>
            <a:r>
              <a:rPr kumimoji="1" lang="zh-CN" altLang="zh-CN" sz="2000" dirty="0">
                <a:latin typeface="宋体" panose="02000500000000000000" pitchFamily="2" charset="-122"/>
                <a:ea typeface="宋体" panose="02000500000000000000" pitchFamily="2" charset="-122"/>
                <a:cs typeface="宋体" panose="02000500000000000000" pitchFamily="2" charset="-122"/>
              </a:rPr>
              <a:t>指令</a:t>
            </a:r>
            <a:endParaRPr kumimoji="1" lang="en-US" altLang="zh-CN" sz="2000" dirty="0">
              <a:latin typeface="宋体" panose="02000500000000000000" pitchFamily="2" charset="-122"/>
              <a:ea typeface="宋体" panose="02000500000000000000" pitchFamily="2" charset="-122"/>
              <a:cs typeface="宋体" panose="02000500000000000000" pitchFamily="2" charset="-122"/>
            </a:endParaRPr>
          </a:p>
          <a:p>
            <a:pPr marL="742950" lvl="2" indent="-342900">
              <a:defRPr/>
            </a:pPr>
            <a:r>
              <a:rPr kumimoji="1" lang="zh-CN" altLang="zh-CN" sz="1600" dirty="0">
                <a:latin typeface="宋体" panose="02000500000000000000" pitchFamily="2" charset="-122"/>
                <a:ea typeface="宋体" panose="02000500000000000000" pitchFamily="2" charset="-122"/>
                <a:cs typeface="宋体" panose="02000500000000000000" pitchFamily="2" charset="-122"/>
              </a:rPr>
              <a:t>取出内存中对应地址的值，同时对该内存地址赋予一个新的值</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342900" lvl="1" indent="-342900">
              <a:defRPr/>
            </a:pPr>
            <a:r>
              <a:rPr kumimoji="1" lang="en-US" altLang="zh-CN" sz="2000" dirty="0">
                <a:latin typeface="宋体" panose="02000500000000000000" pitchFamily="2" charset="-122"/>
                <a:ea typeface="宋体" panose="02000500000000000000" pitchFamily="2" charset="-122"/>
                <a:cs typeface="宋体" panose="02000500000000000000" pitchFamily="2" charset="-122"/>
              </a:rPr>
              <a:t>Swap</a:t>
            </a:r>
            <a:r>
              <a:rPr kumimoji="1" lang="zh-CN" altLang="zh-CN" sz="2000" dirty="0">
                <a:latin typeface="宋体" panose="02000500000000000000" pitchFamily="2" charset="-122"/>
                <a:ea typeface="宋体" panose="02000500000000000000" pitchFamily="2" charset="-122"/>
                <a:cs typeface="宋体" panose="02000500000000000000" pitchFamily="2" charset="-122"/>
              </a:rPr>
              <a:t>指令</a:t>
            </a:r>
            <a:endParaRPr kumimoji="1" lang="en-US" altLang="zh-CN" sz="2000" dirty="0">
              <a:latin typeface="宋体" panose="02000500000000000000" pitchFamily="2" charset="-122"/>
              <a:ea typeface="宋体" panose="02000500000000000000" pitchFamily="2" charset="-122"/>
              <a:cs typeface="宋体" panose="02000500000000000000" pitchFamily="2" charset="-122"/>
            </a:endParaRPr>
          </a:p>
          <a:p>
            <a:pPr marL="742950" lvl="2" indent="-342900">
              <a:defRPr/>
            </a:pPr>
            <a:r>
              <a:rPr kumimoji="1" lang="zh-CN" altLang="zh-CN" sz="1600" dirty="0">
                <a:latin typeface="宋体" panose="02000500000000000000" pitchFamily="2" charset="-122"/>
                <a:ea typeface="宋体" panose="02000500000000000000" pitchFamily="2" charset="-122"/>
                <a:cs typeface="宋体" panose="02000500000000000000" pitchFamily="2" charset="-122"/>
              </a:rPr>
              <a:t>交换两个</a:t>
            </a:r>
            <a:r>
              <a:rPr kumimoji="1" lang="zh-CN" altLang="en-US" sz="1600" dirty="0">
                <a:latin typeface="宋体" panose="02000500000000000000" pitchFamily="2" charset="-122"/>
                <a:ea typeface="宋体" panose="02000500000000000000" pitchFamily="2" charset="-122"/>
                <a:cs typeface="宋体" panose="02000500000000000000" pitchFamily="2" charset="-122"/>
              </a:rPr>
              <a:t>内存</a:t>
            </a:r>
            <a:r>
              <a:rPr kumimoji="1" lang="zh-CN" altLang="zh-CN" sz="1600" dirty="0">
                <a:latin typeface="宋体" panose="02000500000000000000" pitchFamily="2" charset="-122"/>
                <a:ea typeface="宋体" panose="02000500000000000000" pitchFamily="2" charset="-122"/>
                <a:cs typeface="宋体" panose="02000500000000000000" pitchFamily="2" charset="-122"/>
              </a:rPr>
              <a:t>位置的值</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342900" lvl="1" indent="-342900">
              <a:defRPr/>
            </a:pPr>
            <a:r>
              <a:rPr kumimoji="1" lang="en-US" altLang="zh-CN" sz="2000" dirty="0" err="1">
                <a:latin typeface="宋体" panose="02000500000000000000" pitchFamily="2" charset="-122"/>
                <a:ea typeface="宋体" panose="02000500000000000000" pitchFamily="2" charset="-122"/>
                <a:cs typeface="宋体" panose="02000500000000000000" pitchFamily="2" charset="-122"/>
              </a:rPr>
              <a:t>Compare_and_Swap</a:t>
            </a:r>
            <a:r>
              <a:rPr kumimoji="1" lang="zh-CN" altLang="zh-CN" sz="2000" dirty="0">
                <a:latin typeface="宋体" panose="02000500000000000000" pitchFamily="2" charset="-122"/>
                <a:ea typeface="宋体" panose="02000500000000000000" pitchFamily="2" charset="-122"/>
                <a:cs typeface="宋体" panose="02000500000000000000" pitchFamily="2" charset="-122"/>
              </a:rPr>
              <a:t>指令</a:t>
            </a:r>
            <a:endParaRPr kumimoji="1" lang="en-US" altLang="zh-CN" sz="2000" dirty="0">
              <a:latin typeface="宋体" panose="02000500000000000000" pitchFamily="2" charset="-122"/>
              <a:ea typeface="宋体" panose="02000500000000000000" pitchFamily="2" charset="-122"/>
              <a:cs typeface="宋体" panose="02000500000000000000" pitchFamily="2" charset="-122"/>
            </a:endParaRPr>
          </a:p>
          <a:p>
            <a:pPr marL="742950" lvl="2" indent="-342900">
              <a:defRPr/>
            </a:pPr>
            <a:r>
              <a:rPr kumimoji="1" lang="zh-CN" altLang="zh-CN" sz="1600" dirty="0">
                <a:latin typeface="宋体" panose="02000500000000000000" pitchFamily="2" charset="-122"/>
                <a:ea typeface="宋体" panose="02000500000000000000" pitchFamily="2" charset="-122"/>
                <a:cs typeface="宋体" panose="02000500000000000000" pitchFamily="2" charset="-122"/>
              </a:rPr>
              <a:t>取出内存中对应地址的值和另一个值进行比较，如果相等，则交互两个位置的值，否则不进行任何操作</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342900" lvl="1" indent="-342900">
              <a:defRPr/>
            </a:pPr>
            <a:r>
              <a:rPr kumimoji="1" lang="en-US" altLang="zh-CN" sz="2000" dirty="0" err="1">
                <a:latin typeface="宋体" panose="02000500000000000000" pitchFamily="2" charset="-122"/>
                <a:ea typeface="宋体" panose="02000500000000000000" pitchFamily="2" charset="-122"/>
                <a:cs typeface="宋体" panose="02000500000000000000" pitchFamily="2" charset="-122"/>
              </a:rPr>
              <a:t>Fetch_and_Op</a:t>
            </a:r>
            <a:r>
              <a:rPr kumimoji="1" lang="zh-CN" altLang="zh-CN" sz="2000" dirty="0">
                <a:latin typeface="宋体" panose="02000500000000000000" pitchFamily="2" charset="-122"/>
                <a:ea typeface="宋体" panose="02000500000000000000" pitchFamily="2" charset="-122"/>
                <a:cs typeface="宋体" panose="02000500000000000000" pitchFamily="2" charset="-122"/>
              </a:rPr>
              <a:t>指令</a:t>
            </a:r>
            <a:endParaRPr kumimoji="1" lang="en-US" altLang="zh-CN" sz="2000" dirty="0">
              <a:latin typeface="宋体" panose="02000500000000000000" pitchFamily="2" charset="-122"/>
              <a:ea typeface="宋体" panose="02000500000000000000" pitchFamily="2" charset="-122"/>
              <a:cs typeface="宋体" panose="02000500000000000000" pitchFamily="2" charset="-122"/>
            </a:endParaRPr>
          </a:p>
          <a:p>
            <a:pPr marL="742950" lvl="2" indent="-342900">
              <a:defRPr/>
            </a:pPr>
            <a:r>
              <a:rPr kumimoji="1" lang="zh-CN" altLang="zh-CN" sz="1600" dirty="0">
                <a:latin typeface="宋体" panose="02000500000000000000" pitchFamily="2" charset="-122"/>
                <a:ea typeface="宋体" panose="02000500000000000000" pitchFamily="2" charset="-122"/>
                <a:cs typeface="宋体" panose="02000500000000000000" pitchFamily="2" charset="-122"/>
              </a:rPr>
              <a:t>在读取内存对应地址值的同时将该地址的值进行一定的运算再</a:t>
            </a:r>
            <a:r>
              <a:rPr kumimoji="1" lang="zh-CN" altLang="en-US" sz="1600" dirty="0">
                <a:latin typeface="宋体" panose="02000500000000000000" pitchFamily="2" charset="-122"/>
                <a:ea typeface="宋体" panose="02000500000000000000" pitchFamily="2" charset="-122"/>
                <a:cs typeface="宋体" panose="02000500000000000000" pitchFamily="2" charset="-122"/>
              </a:rPr>
              <a:t>写</a:t>
            </a:r>
            <a:r>
              <a:rPr kumimoji="1" lang="zh-CN" altLang="zh-CN" sz="1600" dirty="0">
                <a:latin typeface="宋体" panose="02000500000000000000" pitchFamily="2" charset="-122"/>
                <a:ea typeface="宋体" panose="02000500000000000000" pitchFamily="2" charset="-122"/>
                <a:cs typeface="宋体" panose="02000500000000000000" pitchFamily="2" charset="-122"/>
              </a:rPr>
              <a:t>回</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742950" lvl="2" indent="-342900">
              <a:defRPr/>
            </a:pPr>
            <a:r>
              <a:rPr kumimoji="1" lang="zh-CN" altLang="zh-CN" sz="1600" dirty="0">
                <a:latin typeface="宋体" panose="02000500000000000000" pitchFamily="2" charset="-122"/>
                <a:ea typeface="宋体" panose="02000500000000000000" pitchFamily="2" charset="-122"/>
                <a:cs typeface="宋体" panose="02000500000000000000" pitchFamily="2" charset="-122"/>
              </a:rPr>
              <a:t>根据运算操作不同，有多种不同的实现形式</a:t>
            </a:r>
            <a:r>
              <a:rPr kumimoji="1" lang="zh-CN" altLang="en-US" sz="1600" dirty="0">
                <a:latin typeface="宋体" panose="02000500000000000000" pitchFamily="2" charset="-122"/>
                <a:ea typeface="宋体" panose="02000500000000000000" pitchFamily="2" charset="-122"/>
                <a:cs typeface="宋体" panose="02000500000000000000" pitchFamily="2" charset="-122"/>
              </a:rPr>
              <a:t>，如</a:t>
            </a:r>
            <a:r>
              <a:rPr kumimoji="1" lang="en-US" altLang="zh-CN" sz="1600" dirty="0" err="1">
                <a:latin typeface="宋体" panose="02000500000000000000" pitchFamily="2" charset="-122"/>
                <a:ea typeface="宋体" panose="02000500000000000000" pitchFamily="2" charset="-122"/>
                <a:cs typeface="宋体" panose="02000500000000000000" pitchFamily="2" charset="-122"/>
              </a:rPr>
              <a:t>Fetch_and_Increment</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lvl="1">
              <a:defRPr/>
            </a:pPr>
            <a:endParaRPr kumimoji="1" lang="zh-CN" altLang="en-US" sz="1400" dirty="0">
              <a:latin typeface="宋体" panose="02000500000000000000" pitchFamily="2" charset="-122"/>
              <a:ea typeface="宋体" panose="02000500000000000000" pitchFamily="2" charset="-122"/>
              <a:cs typeface="宋体" panose="02000500000000000000" pitchFamily="2" charset="-122"/>
            </a:endParaRPr>
          </a:p>
          <a:p>
            <a:pPr>
              <a:defRPr/>
            </a:pP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a:defRPr/>
            </a:pP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a:p>
            <a:pPr lvl="1">
              <a:defRPr/>
            </a:pPr>
            <a:endParaRPr kumimoji="1" lang="en-US" altLang="zh-CN" sz="1400" dirty="0">
              <a:latin typeface="宋体" panose="02000500000000000000" pitchFamily="2" charset="-122"/>
              <a:ea typeface="宋体" panose="02000500000000000000" pitchFamily="2" charset="-122"/>
              <a:cs typeface="宋体" panose="02000500000000000000" pitchFamily="2" charset="-122"/>
            </a:endParaRPr>
          </a:p>
          <a:p>
            <a:pPr lvl="1">
              <a:defRPr/>
            </a:pPr>
            <a:endParaRPr kumimoji="1" lang="en-US" altLang="zh-CN" sz="1400" dirty="0">
              <a:latin typeface="宋体" panose="02000500000000000000" pitchFamily="2" charset="-122"/>
              <a:ea typeface="宋体" panose="02000500000000000000" pitchFamily="2" charset="-122"/>
              <a:cs typeface="宋体" panose="02000500000000000000" pitchFamily="2" charset="-122"/>
            </a:endParaRPr>
          </a:p>
          <a:p>
            <a:pPr lvl="1">
              <a:defRPr/>
            </a:pPr>
            <a:endParaRPr kumimoji="1" lang="zh-CN" altLang="en-US" sz="1400" dirty="0">
              <a:latin typeface="宋体" panose="02000500000000000000" pitchFamily="2" charset="-122"/>
              <a:ea typeface="宋体" panose="02000500000000000000" pitchFamily="2" charset="-122"/>
              <a:cs typeface="宋体" panose="02000500000000000000" pitchFamily="2" charset="-122"/>
            </a:endParaRPr>
          </a:p>
        </p:txBody>
      </p:sp>
      <p:sp>
        <p:nvSpPr>
          <p:cNvPr id="59396" name="灯片编号占位符 3"/>
          <p:cNvSpPr>
            <a:spLocks noGrp="1" noChangeArrowheads="1"/>
          </p:cNvSpPr>
          <p:nvPr>
            <p:ph type="sldNum" sz="quarter" idx="12"/>
          </p:nvPr>
        </p:nvSpPr>
        <p:spPr>
          <a:noFill/>
        </p:spPr>
        <p:txBody>
          <a:bodyPr/>
          <a:lstStyle/>
          <a:p>
            <a:fld id="{03354EBB-C419-4E6C-9917-C8B46ABFCD91}" type="slidenum">
              <a:rPr lang="en-US" altLang="zh-CN" smtClean="0"/>
            </a:fld>
            <a:endParaRPr lang="en-US" altLang="zh-CN" smtClean="0"/>
          </a:p>
        </p:txBody>
      </p:sp>
      <p:sp>
        <p:nvSpPr>
          <p:cNvPr id="59397" name="Rectangle 2"/>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59398"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59399" name="Rectangle 8"/>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noChangeArrowheads="1"/>
          </p:cNvSpPr>
          <p:nvPr>
            <p:ph type="sldNum" sz="quarter" idx="12"/>
          </p:nvPr>
        </p:nvSpPr>
        <p:spPr>
          <a:noFill/>
        </p:spPr>
        <p:txBody>
          <a:bodyPr/>
          <a:lstStyle/>
          <a:p>
            <a:fld id="{00215BE2-AB78-4D12-ACC3-52B586C26576}" type="slidenum">
              <a:rPr lang="en-US" altLang="zh-CN" smtClean="0"/>
            </a:fld>
            <a:endParaRPr lang="en-US" altLang="zh-CN" smtClean="0"/>
          </a:p>
        </p:txBody>
      </p:sp>
      <p:sp>
        <p:nvSpPr>
          <p:cNvPr id="60419" name="Rectangle 2"/>
          <p:cNvSpPr>
            <a:spLocks noGrp="1" noChangeArrowheads="1"/>
          </p:cNvSpPr>
          <p:nvPr>
            <p:ph type="title"/>
          </p:nvPr>
        </p:nvSpPr>
        <p:spPr>
          <a:xfrm>
            <a:off x="914718" y="0"/>
            <a:ext cx="10361613" cy="990600"/>
          </a:xfrm>
        </p:spPr>
        <p:txBody>
          <a:bodyPr/>
          <a:lstStyle/>
          <a:p>
            <a:pPr eaLnBrk="1" hangingPunct="1"/>
            <a:r>
              <a:rPr lang="en-US" altLang="zh-CN" smtClean="0"/>
              <a:t>LL/SC</a:t>
            </a:r>
            <a:r>
              <a:rPr lang="zh-CN" altLang="en-US" smtClean="0"/>
              <a:t>原子指令对</a:t>
            </a:r>
            <a:endParaRPr lang="zh-CN" altLang="en-US" smtClean="0"/>
          </a:p>
        </p:txBody>
      </p:sp>
      <p:sp>
        <p:nvSpPr>
          <p:cNvPr id="60420" name="Rectangle 3"/>
          <p:cNvSpPr>
            <a:spLocks noGrp="1" noChangeArrowheads="1"/>
          </p:cNvSpPr>
          <p:nvPr>
            <p:ph idx="1"/>
          </p:nvPr>
        </p:nvSpPr>
        <p:spPr>
          <a:xfrm>
            <a:off x="203835" y="925830"/>
            <a:ext cx="11885930" cy="3721100"/>
          </a:xfrm>
        </p:spPr>
        <p:txBody>
          <a:bodyPr/>
          <a:lstStyle/>
          <a:p>
            <a:pPr eaLnBrk="1" hangingPunct="1"/>
            <a:r>
              <a:rPr lang="zh-CN" altLang="en-US" sz="2000" smtClean="0">
                <a:latin typeface="宋体" panose="02000500000000000000" pitchFamily="2" charset="-122"/>
                <a:ea typeface="宋体" panose="02000500000000000000" pitchFamily="2" charset="-122"/>
                <a:cs typeface="宋体" panose="02000500000000000000" pitchFamily="2" charset="-122"/>
              </a:rPr>
              <a:t>以</a:t>
            </a:r>
            <a:r>
              <a:rPr lang="en-US" altLang="zh-CN" sz="2000" smtClean="0">
                <a:latin typeface="宋体" panose="02000500000000000000" pitchFamily="2" charset="-122"/>
                <a:ea typeface="宋体" panose="02000500000000000000" pitchFamily="2" charset="-122"/>
                <a:cs typeface="宋体" panose="02000500000000000000" pitchFamily="2" charset="-122"/>
              </a:rPr>
              <a:t>MIPS</a:t>
            </a:r>
            <a:r>
              <a:rPr lang="zh-CN" altLang="en-US" sz="2000" smtClean="0">
                <a:latin typeface="宋体" panose="02000500000000000000" pitchFamily="2" charset="-122"/>
                <a:ea typeface="宋体" panose="02000500000000000000" pitchFamily="2" charset="-122"/>
                <a:cs typeface="宋体" panose="02000500000000000000" pitchFamily="2" charset="-122"/>
              </a:rPr>
              <a:t>的</a:t>
            </a:r>
            <a:r>
              <a:rPr lang="en-US" altLang="zh-CN" sz="2000" smtClean="0">
                <a:latin typeface="宋体" panose="02000500000000000000" pitchFamily="2" charset="-122"/>
                <a:ea typeface="宋体" panose="02000500000000000000" pitchFamily="2" charset="-122"/>
                <a:cs typeface="宋体" panose="02000500000000000000" pitchFamily="2" charset="-122"/>
              </a:rPr>
              <a:t>LL</a:t>
            </a:r>
            <a:r>
              <a:rPr lang="zh-CN" altLang="en-US" sz="2000" smtClean="0">
                <a:latin typeface="宋体" panose="02000500000000000000" pitchFamily="2" charset="-122"/>
                <a:ea typeface="宋体" panose="02000500000000000000" pitchFamily="2" charset="-122"/>
                <a:cs typeface="宋体" panose="02000500000000000000" pitchFamily="2" charset="-122"/>
              </a:rPr>
              <a:t>和</a:t>
            </a:r>
            <a:r>
              <a:rPr lang="en-US" altLang="zh-CN" sz="2000" smtClean="0">
                <a:latin typeface="宋体" panose="02000500000000000000" pitchFamily="2" charset="-122"/>
                <a:ea typeface="宋体" panose="02000500000000000000" pitchFamily="2" charset="-122"/>
                <a:cs typeface="宋体" panose="02000500000000000000" pitchFamily="2" charset="-122"/>
              </a:rPr>
              <a:t>SC</a:t>
            </a:r>
            <a:r>
              <a:rPr lang="zh-CN" altLang="en-US" sz="2000" smtClean="0">
                <a:latin typeface="宋体" panose="02000500000000000000" pitchFamily="2" charset="-122"/>
                <a:ea typeface="宋体" panose="02000500000000000000" pitchFamily="2" charset="-122"/>
                <a:cs typeface="宋体" panose="02000500000000000000" pitchFamily="2" charset="-122"/>
              </a:rPr>
              <a:t>指令为例</a:t>
            </a:r>
            <a:endParaRPr lang="zh-CN" altLang="en-US" sz="2000" smtClean="0">
              <a:latin typeface="宋体" panose="02000500000000000000" pitchFamily="2" charset="-122"/>
              <a:ea typeface="宋体" panose="02000500000000000000" pitchFamily="2" charset="-122"/>
              <a:cs typeface="宋体" panose="02000500000000000000" pitchFamily="2" charset="-122"/>
            </a:endParaRPr>
          </a:p>
          <a:p>
            <a:pPr lvl="1" eaLnBrk="1" hangingPunct="1"/>
            <a:r>
              <a:rPr lang="en-US" altLang="zh-CN" sz="1600" smtClean="0">
                <a:latin typeface="宋体" panose="02000500000000000000" pitchFamily="2" charset="-122"/>
                <a:ea typeface="宋体" panose="02000500000000000000" pitchFamily="2" charset="-122"/>
                <a:cs typeface="宋体" panose="02000500000000000000" pitchFamily="2" charset="-122"/>
              </a:rPr>
              <a:t>LL</a:t>
            </a:r>
            <a:r>
              <a:rPr lang="zh-CN" altLang="en-US" sz="1600" smtClean="0">
                <a:latin typeface="宋体" panose="02000500000000000000" pitchFamily="2" charset="-122"/>
                <a:ea typeface="宋体" panose="02000500000000000000" pitchFamily="2" charset="-122"/>
                <a:cs typeface="宋体" panose="02000500000000000000" pitchFamily="2" charset="-122"/>
              </a:rPr>
              <a:t>（</a:t>
            </a:r>
            <a:r>
              <a:rPr lang="en-US" altLang="zh-CN" sz="1600" smtClean="0">
                <a:latin typeface="宋体" panose="02000500000000000000" pitchFamily="2" charset="-122"/>
                <a:ea typeface="宋体" panose="02000500000000000000" pitchFamily="2" charset="-122"/>
                <a:cs typeface="宋体" panose="02000500000000000000" pitchFamily="2" charset="-122"/>
              </a:rPr>
              <a:t>Load Linked</a:t>
            </a:r>
            <a:r>
              <a:rPr lang="zh-CN" altLang="en-US" sz="1600" smtClean="0">
                <a:latin typeface="宋体" panose="02000500000000000000" pitchFamily="2" charset="-122"/>
                <a:ea typeface="宋体" panose="02000500000000000000" pitchFamily="2" charset="-122"/>
                <a:cs typeface="宋体" panose="02000500000000000000" pitchFamily="2" charset="-122"/>
              </a:rPr>
              <a:t>）</a:t>
            </a:r>
            <a:r>
              <a:rPr lang="zh-CN" altLang="zh-CN" sz="1600" smtClean="0">
                <a:latin typeface="宋体" panose="02000500000000000000" pitchFamily="2" charset="-122"/>
                <a:ea typeface="宋体" panose="02000500000000000000" pitchFamily="2" charset="-122"/>
                <a:cs typeface="宋体" panose="02000500000000000000" pitchFamily="2" charset="-122"/>
              </a:rPr>
              <a:t>取数且置系统中</a:t>
            </a:r>
            <a:r>
              <a:rPr lang="en-US" altLang="zh-CN" sz="1600" smtClean="0">
                <a:latin typeface="宋体" panose="02000500000000000000" pitchFamily="2" charset="-122"/>
                <a:ea typeface="宋体" panose="02000500000000000000" pitchFamily="2" charset="-122"/>
                <a:cs typeface="宋体" panose="02000500000000000000" pitchFamily="2" charset="-122"/>
              </a:rPr>
              <a:t>LLbit</a:t>
            </a:r>
            <a:r>
              <a:rPr lang="zh-CN" altLang="zh-CN" sz="1600" smtClean="0">
                <a:latin typeface="宋体" panose="02000500000000000000" pitchFamily="2" charset="-122"/>
                <a:ea typeface="宋体" panose="02000500000000000000" pitchFamily="2" charset="-122"/>
                <a:cs typeface="宋体" panose="02000500000000000000" pitchFamily="2" charset="-122"/>
              </a:rPr>
              <a:t>为1</a:t>
            </a:r>
            <a:endParaRPr lang="zh-CN" altLang="zh-CN" sz="1600" smtClean="0">
              <a:latin typeface="宋体" panose="02000500000000000000" pitchFamily="2" charset="-122"/>
              <a:ea typeface="宋体" panose="02000500000000000000" pitchFamily="2" charset="-122"/>
              <a:cs typeface="宋体" panose="02000500000000000000" pitchFamily="2" charset="-122"/>
            </a:endParaRPr>
          </a:p>
          <a:p>
            <a:pPr lvl="1" eaLnBrk="1" hangingPunct="1"/>
            <a:r>
              <a:rPr lang="en-US" altLang="zh-CN" sz="1600" smtClean="0">
                <a:latin typeface="宋体" panose="02000500000000000000" pitchFamily="2" charset="-122"/>
                <a:ea typeface="宋体" panose="02000500000000000000" pitchFamily="2" charset="-122"/>
                <a:cs typeface="宋体" panose="02000500000000000000" pitchFamily="2" charset="-122"/>
              </a:rPr>
              <a:t>LL</a:t>
            </a:r>
            <a:r>
              <a:rPr lang="zh-CN" altLang="zh-CN" sz="1600" smtClean="0">
                <a:latin typeface="宋体" panose="02000500000000000000" pitchFamily="2" charset="-122"/>
                <a:ea typeface="宋体" panose="02000500000000000000" pitchFamily="2" charset="-122"/>
                <a:cs typeface="宋体" panose="02000500000000000000" pitchFamily="2" charset="-122"/>
              </a:rPr>
              <a:t>为1时，处理器检查相应单元是否被修改，如果其它处理器或设备访问了相应单元或执行了</a:t>
            </a:r>
            <a:r>
              <a:rPr lang="en-US" altLang="zh-CN" sz="1600" smtClean="0">
                <a:latin typeface="宋体" panose="02000500000000000000" pitchFamily="2" charset="-122"/>
                <a:ea typeface="宋体" panose="02000500000000000000" pitchFamily="2" charset="-122"/>
                <a:cs typeface="宋体" panose="02000500000000000000" pitchFamily="2" charset="-122"/>
              </a:rPr>
              <a:t>ERET</a:t>
            </a:r>
            <a:r>
              <a:rPr lang="zh-CN" altLang="zh-CN" sz="1600" smtClean="0">
                <a:latin typeface="宋体" panose="02000500000000000000" pitchFamily="2" charset="-122"/>
                <a:ea typeface="宋体" panose="02000500000000000000" pitchFamily="2" charset="-122"/>
                <a:cs typeface="宋体" panose="02000500000000000000" pitchFamily="2" charset="-122"/>
              </a:rPr>
              <a:t>操作，</a:t>
            </a:r>
            <a:r>
              <a:rPr lang="en-US" altLang="zh-CN" sz="1600" smtClean="0">
                <a:latin typeface="宋体" panose="02000500000000000000" pitchFamily="2" charset="-122"/>
                <a:ea typeface="宋体" panose="02000500000000000000" pitchFamily="2" charset="-122"/>
                <a:cs typeface="宋体" panose="02000500000000000000" pitchFamily="2" charset="-122"/>
              </a:rPr>
              <a:t>LLbit</a:t>
            </a:r>
            <a:r>
              <a:rPr lang="zh-CN" altLang="zh-CN" sz="1600" smtClean="0">
                <a:latin typeface="宋体" panose="02000500000000000000" pitchFamily="2" charset="-122"/>
                <a:ea typeface="宋体" panose="02000500000000000000" pitchFamily="2" charset="-122"/>
                <a:cs typeface="宋体" panose="02000500000000000000" pitchFamily="2" charset="-122"/>
              </a:rPr>
              <a:t>置为0</a:t>
            </a:r>
            <a:endParaRPr lang="zh-CN" altLang="zh-CN" sz="1600" smtClean="0">
              <a:latin typeface="宋体" panose="02000500000000000000" pitchFamily="2" charset="-122"/>
              <a:ea typeface="宋体" panose="02000500000000000000" pitchFamily="2" charset="-122"/>
              <a:cs typeface="宋体" panose="02000500000000000000" pitchFamily="2" charset="-122"/>
            </a:endParaRPr>
          </a:p>
          <a:p>
            <a:pPr lvl="1" eaLnBrk="1" hangingPunct="1"/>
            <a:r>
              <a:rPr lang="zh-CN" altLang="zh-CN" sz="1600" smtClean="0">
                <a:latin typeface="宋体" panose="02000500000000000000" pitchFamily="2" charset="-122"/>
                <a:ea typeface="宋体" panose="02000500000000000000" pitchFamily="2" charset="-122"/>
                <a:cs typeface="宋体" panose="02000500000000000000" pitchFamily="2" charset="-122"/>
              </a:rPr>
              <a:t>执行</a:t>
            </a:r>
            <a:r>
              <a:rPr lang="en-US" altLang="zh-CN" sz="1600" smtClean="0">
                <a:latin typeface="宋体" panose="02000500000000000000" pitchFamily="2" charset="-122"/>
                <a:ea typeface="宋体" panose="02000500000000000000" pitchFamily="2" charset="-122"/>
                <a:cs typeface="宋体" panose="02000500000000000000" pitchFamily="2" charset="-122"/>
              </a:rPr>
              <a:t>SC</a:t>
            </a:r>
            <a:r>
              <a:rPr lang="zh-CN" altLang="en-US" sz="1600" smtClean="0">
                <a:latin typeface="宋体" panose="02000500000000000000" pitchFamily="2" charset="-122"/>
                <a:ea typeface="宋体" panose="02000500000000000000" pitchFamily="2" charset="-122"/>
                <a:cs typeface="宋体" panose="02000500000000000000" pitchFamily="2" charset="-122"/>
              </a:rPr>
              <a:t>（</a:t>
            </a:r>
            <a:r>
              <a:rPr lang="en-US" altLang="zh-CN" sz="1600" smtClean="0">
                <a:latin typeface="宋体" panose="02000500000000000000" pitchFamily="2" charset="-122"/>
                <a:ea typeface="宋体" panose="02000500000000000000" pitchFamily="2" charset="-122"/>
                <a:cs typeface="宋体" panose="02000500000000000000" pitchFamily="2" charset="-122"/>
              </a:rPr>
              <a:t>Store Conditional</a:t>
            </a:r>
            <a:r>
              <a:rPr lang="zh-CN" altLang="en-US" sz="1600" smtClean="0">
                <a:latin typeface="宋体" panose="02000500000000000000" pitchFamily="2" charset="-122"/>
                <a:ea typeface="宋体" panose="02000500000000000000" pitchFamily="2" charset="-122"/>
                <a:cs typeface="宋体" panose="02000500000000000000" pitchFamily="2" charset="-122"/>
              </a:rPr>
              <a:t>）</a:t>
            </a:r>
            <a:r>
              <a:rPr lang="zh-CN" altLang="zh-CN" sz="1600" smtClean="0">
                <a:latin typeface="宋体" panose="02000500000000000000" pitchFamily="2" charset="-122"/>
                <a:ea typeface="宋体" panose="02000500000000000000" pitchFamily="2" charset="-122"/>
                <a:cs typeface="宋体" panose="02000500000000000000" pitchFamily="2" charset="-122"/>
              </a:rPr>
              <a:t>时若</a:t>
            </a:r>
            <a:r>
              <a:rPr lang="en-US" altLang="zh-CN" sz="1600" smtClean="0">
                <a:latin typeface="宋体" panose="02000500000000000000" pitchFamily="2" charset="-122"/>
                <a:ea typeface="宋体" panose="02000500000000000000" pitchFamily="2" charset="-122"/>
                <a:cs typeface="宋体" panose="02000500000000000000" pitchFamily="2" charset="-122"/>
              </a:rPr>
              <a:t>Llbit</a:t>
            </a:r>
            <a:r>
              <a:rPr lang="zh-CN" altLang="zh-CN" sz="1600" smtClean="0">
                <a:latin typeface="宋体" panose="02000500000000000000" pitchFamily="2" charset="-122"/>
                <a:ea typeface="宋体" panose="02000500000000000000" pitchFamily="2" charset="-122"/>
                <a:cs typeface="宋体" panose="02000500000000000000" pitchFamily="2" charset="-122"/>
              </a:rPr>
              <a:t>为1，则成功，目标寄存器为1；否则存数不成功，目标寄存器为0</a:t>
            </a:r>
            <a:endParaRPr lang="en-US" altLang="zh-CN" sz="1600" smtClean="0">
              <a:latin typeface="宋体" panose="02000500000000000000" pitchFamily="2" charset="-122"/>
              <a:ea typeface="宋体" panose="02000500000000000000" pitchFamily="2" charset="-122"/>
              <a:cs typeface="宋体" panose="02000500000000000000" pitchFamily="2" charset="-122"/>
            </a:endParaRPr>
          </a:p>
          <a:p>
            <a:pPr lvl="1" eaLnBrk="1" hangingPunct="1"/>
            <a:r>
              <a:rPr lang="zh-CN" altLang="en-US" sz="1600" smtClean="0">
                <a:latin typeface="宋体" panose="02000500000000000000" pitchFamily="2" charset="-122"/>
                <a:ea typeface="宋体" panose="02000500000000000000" pitchFamily="2" charset="-122"/>
                <a:cs typeface="宋体" panose="02000500000000000000" pitchFamily="2" charset="-122"/>
              </a:rPr>
              <a:t>如</a:t>
            </a:r>
            <a:r>
              <a:rPr lang="en-US" altLang="zh-CN" sz="1600" smtClean="0">
                <a:latin typeface="宋体" panose="02000500000000000000" pitchFamily="2" charset="-122"/>
                <a:ea typeface="宋体" panose="02000500000000000000" pitchFamily="2" charset="-122"/>
                <a:cs typeface="宋体" panose="02000500000000000000" pitchFamily="2" charset="-122"/>
              </a:rPr>
              <a:t>Fetch_and_increment</a:t>
            </a:r>
            <a:r>
              <a:rPr lang="zh-CN" altLang="en-US" sz="1600" smtClean="0">
                <a:latin typeface="宋体" panose="02000500000000000000" pitchFamily="2" charset="-122"/>
                <a:ea typeface="宋体" panose="02000500000000000000" pitchFamily="2" charset="-122"/>
                <a:cs typeface="宋体" panose="02000500000000000000" pitchFamily="2" charset="-122"/>
              </a:rPr>
              <a:t>及</a:t>
            </a:r>
            <a:r>
              <a:rPr lang="en-US" altLang="zh-CN" sz="1600" smtClean="0">
                <a:latin typeface="宋体" panose="02000500000000000000" pitchFamily="2" charset="-122"/>
                <a:ea typeface="宋体" panose="02000500000000000000" pitchFamily="2" charset="-122"/>
                <a:cs typeface="宋体" panose="02000500000000000000" pitchFamily="2" charset="-122"/>
              </a:rPr>
              <a:t>swap</a:t>
            </a:r>
            <a:endParaRPr lang="en-US" altLang="zh-CN" sz="1600" smtClean="0">
              <a:latin typeface="宋体" panose="02000500000000000000" pitchFamily="2" charset="-122"/>
              <a:ea typeface="宋体" panose="02000500000000000000" pitchFamily="2" charset="-122"/>
              <a:cs typeface="宋体" panose="02000500000000000000" pitchFamily="2" charset="-122"/>
            </a:endParaRPr>
          </a:p>
          <a:p>
            <a:pPr lvl="0" eaLnBrk="1" hangingPunct="1"/>
            <a:r>
              <a:rPr lang="en-US" altLang="zh-CN" sz="1920" smtClean="0">
                <a:latin typeface="宋体" panose="02000500000000000000" pitchFamily="2" charset="-122"/>
                <a:ea typeface="宋体" panose="02000500000000000000" pitchFamily="2" charset="-122"/>
                <a:cs typeface="宋体" panose="02000500000000000000" pitchFamily="2" charset="-122"/>
              </a:rPr>
              <a:t>LL/SC</a:t>
            </a:r>
            <a:r>
              <a:rPr lang="zh-CN" altLang="en-US" sz="1920" smtClean="0">
                <a:latin typeface="宋体" panose="02000500000000000000" pitchFamily="2" charset="-122"/>
                <a:ea typeface="宋体" panose="02000500000000000000" pitchFamily="2" charset="-122"/>
                <a:cs typeface="宋体" panose="02000500000000000000" pitchFamily="2" charset="-122"/>
              </a:rPr>
              <a:t>原子指令对的优缺点</a:t>
            </a:r>
            <a:endParaRPr lang="zh-CN" altLang="en-US" sz="1920" smtClean="0">
              <a:latin typeface="宋体" panose="02000500000000000000" pitchFamily="2" charset="-122"/>
              <a:ea typeface="宋体" panose="02000500000000000000" pitchFamily="2" charset="-122"/>
              <a:cs typeface="宋体" panose="02000500000000000000" pitchFamily="2" charset="-122"/>
            </a:endParaRPr>
          </a:p>
          <a:p>
            <a:pPr marL="800100" lvl="2" indent="-342900">
              <a:defRPr/>
            </a:pP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优点：</a:t>
            </a:r>
            <a:r>
              <a:rPr kumimoji="1" lang="zh-CN" altLang="zh-CN" sz="1600" dirty="0">
                <a:latin typeface="宋体" panose="02000500000000000000" pitchFamily="2" charset="-122"/>
                <a:ea typeface="宋体" panose="02000500000000000000" pitchFamily="2" charset="-122"/>
                <a:cs typeface="宋体" panose="02000500000000000000" pitchFamily="2" charset="-122"/>
                <a:sym typeface="+mn-ea"/>
              </a:rPr>
              <a:t>设计简单，每条指令只需和内存交互一次，</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而“读</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修改</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写”指令需要和内存进行两次交互；</a:t>
            </a:r>
            <a:r>
              <a:rPr kumimoji="1" lang="zh-CN" altLang="zh-CN" sz="1600" dirty="0">
                <a:latin typeface="宋体" panose="02000500000000000000" pitchFamily="2" charset="-122"/>
                <a:ea typeface="宋体" panose="02000500000000000000" pitchFamily="2" charset="-122"/>
                <a:cs typeface="宋体" panose="02000500000000000000" pitchFamily="2" charset="-122"/>
                <a:sym typeface="+mn-ea"/>
              </a:rPr>
              <a:t>在</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LL</a:t>
            </a:r>
            <a:r>
              <a:rPr kumimoji="1" lang="zh-CN" altLang="zh-CN" sz="1600" dirty="0">
                <a:latin typeface="宋体" panose="02000500000000000000" pitchFamily="2" charset="-122"/>
                <a:ea typeface="宋体" panose="02000500000000000000" pitchFamily="2" charset="-122"/>
                <a:cs typeface="宋体" panose="02000500000000000000" pitchFamily="2" charset="-122"/>
                <a:sym typeface="+mn-ea"/>
              </a:rPr>
              <a:t>和</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SC</a:t>
            </a:r>
            <a:r>
              <a:rPr kumimoji="1" lang="zh-CN" altLang="zh-CN" sz="1600" dirty="0">
                <a:latin typeface="宋体" panose="02000500000000000000" pitchFamily="2" charset="-122"/>
                <a:ea typeface="宋体" panose="02000500000000000000" pitchFamily="2" charset="-122"/>
                <a:cs typeface="宋体" panose="02000500000000000000" pitchFamily="2" charset="-122"/>
                <a:sym typeface="+mn-ea"/>
              </a:rPr>
              <a:t>之间可以加入任意运算指令，可灵活实现类似</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a:t>
            </a:r>
            <a:r>
              <a:rPr kumimoji="1" lang="zh-CN" altLang="zh-CN" sz="1600" dirty="0">
                <a:latin typeface="宋体" panose="02000500000000000000" pitchFamily="2" charset="-122"/>
                <a:ea typeface="宋体" panose="02000500000000000000" pitchFamily="2" charset="-122"/>
                <a:cs typeface="宋体" panose="02000500000000000000" pitchFamily="2" charset="-122"/>
                <a:sym typeface="+mn-ea"/>
              </a:rPr>
              <a:t>读</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a:t>
            </a:r>
            <a:r>
              <a:rPr kumimoji="1" lang="zh-CN" altLang="zh-CN" sz="1600" dirty="0">
                <a:latin typeface="宋体" panose="02000500000000000000" pitchFamily="2" charset="-122"/>
                <a:ea typeface="宋体" panose="02000500000000000000" pitchFamily="2" charset="-122"/>
                <a:cs typeface="宋体" panose="02000500000000000000" pitchFamily="2" charset="-122"/>
                <a:sym typeface="+mn-ea"/>
              </a:rPr>
              <a:t>改</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a:t>
            </a:r>
            <a:r>
              <a:rPr kumimoji="1" lang="zh-CN" altLang="zh-CN" sz="1600" dirty="0">
                <a:latin typeface="宋体" panose="02000500000000000000" pitchFamily="2" charset="-122"/>
                <a:ea typeface="宋体" panose="02000500000000000000" pitchFamily="2" charset="-122"/>
                <a:cs typeface="宋体" panose="02000500000000000000" pitchFamily="2" charset="-122"/>
                <a:sym typeface="+mn-ea"/>
              </a:rPr>
              <a:t>写</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a:t>
            </a:r>
            <a:r>
              <a:rPr kumimoji="1" lang="zh-CN" altLang="zh-CN" sz="1600" dirty="0">
                <a:latin typeface="宋体" panose="02000500000000000000" pitchFamily="2" charset="-122"/>
                <a:ea typeface="宋体" panose="02000500000000000000" pitchFamily="2" charset="-122"/>
                <a:cs typeface="宋体" panose="02000500000000000000" pitchFamily="2" charset="-122"/>
                <a:sym typeface="+mn-ea"/>
              </a:rPr>
              <a:t>的复杂原子操作</a:t>
            </a:r>
            <a:endParaRPr kumimoji="1" lang="zh-CN" altLang="zh-CN" sz="1600" dirty="0">
              <a:latin typeface="宋体" panose="02000500000000000000" pitchFamily="2" charset="-122"/>
              <a:ea typeface="宋体" panose="02000500000000000000" pitchFamily="2" charset="-122"/>
              <a:cs typeface="宋体" panose="02000500000000000000" pitchFamily="2" charset="-122"/>
              <a:sym typeface="+mn-ea"/>
            </a:endParaRPr>
          </a:p>
          <a:p>
            <a:pPr marL="800100" lvl="2" indent="-342900">
              <a:defRPr/>
            </a:pPr>
            <a:r>
              <a:rPr kumimoji="1" lang="zh-CN" altLang="zh-CN" sz="1600" dirty="0">
                <a:latin typeface="宋体" panose="02000500000000000000" pitchFamily="2" charset="-122"/>
                <a:ea typeface="宋体" panose="02000500000000000000" pitchFamily="2" charset="-122"/>
                <a:cs typeface="宋体" panose="02000500000000000000" pitchFamily="2" charset="-122"/>
                <a:sym typeface="+mn-ea"/>
              </a:rPr>
              <a:t>缺点：</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密集共享时导致</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SC</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不容易成功；</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LL</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访问要把相应</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Cache</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行置为</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EXC</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状态，而不是</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SHD</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状态，以提高</a:t>
            </a:r>
            <a:r>
              <a:rPr kumimoji="1" lang="en-US" altLang="zh-CN" sz="1600" dirty="0">
                <a:latin typeface="宋体" panose="02000500000000000000" pitchFamily="2" charset="-122"/>
                <a:ea typeface="宋体" panose="02000500000000000000" pitchFamily="2" charset="-122"/>
                <a:cs typeface="宋体" panose="02000500000000000000" pitchFamily="2" charset="-122"/>
                <a:sym typeface="+mn-ea"/>
              </a:rPr>
              <a:t>SC</a:t>
            </a:r>
            <a:r>
              <a:rPr kumimoji="1" lang="zh-CN" altLang="en-US" sz="1600" dirty="0">
                <a:latin typeface="宋体" panose="02000500000000000000" pitchFamily="2" charset="-122"/>
                <a:ea typeface="宋体" panose="02000500000000000000" pitchFamily="2" charset="-122"/>
                <a:cs typeface="宋体" panose="02000500000000000000" pitchFamily="2" charset="-122"/>
                <a:sym typeface="+mn-ea"/>
              </a:rPr>
              <a:t>成功的概率</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lvl="0" eaLnBrk="1" hangingPunct="1"/>
            <a:endParaRPr lang="en-US" altLang="zh-CN" sz="1920" smtClean="0">
              <a:latin typeface="宋体" panose="02000500000000000000" pitchFamily="2" charset="-122"/>
              <a:ea typeface="宋体" panose="02000500000000000000" pitchFamily="2" charset="-122"/>
              <a:cs typeface="宋体" panose="02000500000000000000" pitchFamily="2" charset="-122"/>
            </a:endParaRPr>
          </a:p>
          <a:p>
            <a:pPr lvl="1" eaLnBrk="1" hangingPunct="1">
              <a:buFontTx/>
              <a:buNone/>
            </a:pPr>
            <a:r>
              <a:rPr lang="en-US" altLang="zh-CN" sz="1800" smtClean="0">
                <a:latin typeface="宋体" panose="02000500000000000000" pitchFamily="2" charset="-122"/>
                <a:ea typeface="宋体" panose="02000500000000000000" pitchFamily="2" charset="-122"/>
                <a:cs typeface="宋体" panose="02000500000000000000" pitchFamily="2" charset="-122"/>
              </a:rPr>
              <a:t>   </a:t>
            </a:r>
            <a:endParaRPr lang="en-US" altLang="zh-CN" sz="1800" smtClean="0">
              <a:latin typeface="宋体" panose="02000500000000000000" pitchFamily="2" charset="-122"/>
              <a:ea typeface="宋体" panose="02000500000000000000" pitchFamily="2" charset="-122"/>
              <a:cs typeface="宋体" panose="02000500000000000000" pitchFamily="2" charset="-122"/>
            </a:endParaRPr>
          </a:p>
        </p:txBody>
      </p:sp>
      <p:sp>
        <p:nvSpPr>
          <p:cNvPr id="60421" name="Text Box 2"/>
          <p:cNvSpPr txBox="1">
            <a:spLocks noChangeArrowheads="1"/>
          </p:cNvSpPr>
          <p:nvPr/>
        </p:nvSpPr>
        <p:spPr bwMode="auto">
          <a:xfrm>
            <a:off x="1271270" y="5085080"/>
            <a:ext cx="4504690" cy="1676400"/>
          </a:xfrm>
          <a:prstGeom prst="rect">
            <a:avLst/>
          </a:prstGeom>
          <a:solidFill>
            <a:schemeClr val="bg1">
              <a:lumMod val="95000"/>
            </a:schemeClr>
          </a:solidFill>
          <a:ln w="9525">
            <a:solidFill>
              <a:srgbClr val="FFFFFF"/>
            </a:solidFill>
            <a:miter lim="800000"/>
          </a:ln>
        </p:spPr>
        <p:txBody>
          <a:bodyPr/>
          <a:lstStyle/>
          <a:p>
            <a:pPr algn="just"/>
            <a:r>
              <a:rPr lang="en-US" altLang="zh-CN" sz="1600" b="1">
                <a:latin typeface="宋体" panose="02000500000000000000" pitchFamily="2" charset="-122"/>
              </a:rPr>
              <a:t>Try:   ll    R2,0(R1)    ;load linked    </a:t>
            </a:r>
            <a:endParaRPr lang="en-US" altLang="zh-CN" sz="1600" b="1">
              <a:latin typeface="宋体" panose="02000500000000000000" pitchFamily="2" charset="-122"/>
            </a:endParaRPr>
          </a:p>
          <a:p>
            <a:pPr algn="just"/>
            <a:r>
              <a:rPr lang="en-US" altLang="zh-CN" sz="1600" b="1">
                <a:latin typeface="宋体" panose="02000500000000000000" pitchFamily="2" charset="-122"/>
              </a:rPr>
              <a:t>      addi  R2, R2,1    ;</a:t>
            </a:r>
            <a:r>
              <a:rPr lang="zh-CN" altLang="en-US" sz="1600" b="1">
                <a:latin typeface="宋体" panose="02000500000000000000" pitchFamily="2" charset="-122"/>
              </a:rPr>
              <a:t>加</a:t>
            </a:r>
            <a:r>
              <a:rPr lang="en-US" altLang="zh-CN" sz="1600" b="1">
                <a:latin typeface="宋体" panose="02000500000000000000" pitchFamily="2" charset="-122"/>
              </a:rPr>
              <a:t>1</a:t>
            </a:r>
            <a:endParaRPr lang="en-US" altLang="zh-CN" sz="1600" b="1">
              <a:latin typeface="宋体" panose="02000500000000000000" pitchFamily="2" charset="-122"/>
            </a:endParaRPr>
          </a:p>
          <a:p>
            <a:pPr algn="just"/>
            <a:r>
              <a:rPr lang="en-US" altLang="zh-CN" sz="1600" b="1">
                <a:latin typeface="宋体" panose="02000500000000000000" pitchFamily="2" charset="-122"/>
              </a:rPr>
              <a:t>      sc    R2, 0(R1)   ;store cond.</a:t>
            </a:r>
            <a:endParaRPr lang="en-US" altLang="zh-CN" sz="1600" b="1">
              <a:latin typeface="宋体" panose="02000500000000000000" pitchFamily="2" charset="-122"/>
            </a:endParaRPr>
          </a:p>
          <a:p>
            <a:pPr algn="just"/>
            <a:r>
              <a:rPr lang="en-US" altLang="zh-CN" sz="1600" b="1">
                <a:latin typeface="宋体" panose="02000500000000000000" pitchFamily="2" charset="-122"/>
              </a:rPr>
              <a:t>      beqz  R2, try     ;</a:t>
            </a:r>
            <a:r>
              <a:rPr lang="zh-CN" altLang="en-US" sz="1600" b="1">
                <a:latin typeface="宋体" panose="02000500000000000000" pitchFamily="2" charset="-122"/>
              </a:rPr>
              <a:t>写失败，跳转</a:t>
            </a:r>
            <a:endParaRPr lang="en-US" altLang="zh-CN" sz="1600" b="1">
              <a:latin typeface="宋体" panose="02000500000000000000" pitchFamily="2" charset="-122"/>
            </a:endParaRPr>
          </a:p>
          <a:p>
            <a:pPr algn="just"/>
            <a:r>
              <a:rPr lang="en-US" altLang="zh-CN" sz="1600" b="1">
                <a:latin typeface="宋体" panose="02000500000000000000" pitchFamily="2" charset="-122"/>
              </a:rPr>
              <a:t>      nop</a:t>
            </a:r>
            <a:endParaRPr lang="en-US" altLang="zh-CN" sz="1600" b="1">
              <a:latin typeface="宋体" panose="02000500000000000000" pitchFamily="2" charset="-122"/>
            </a:endParaRPr>
          </a:p>
          <a:p>
            <a:pPr algn="just"/>
            <a:r>
              <a:rPr lang="en-US" altLang="zh-CN" sz="1600" b="1">
                <a:latin typeface="Calibri" pitchFamily="34" charset="0"/>
              </a:rPr>
              <a:t>       </a:t>
            </a:r>
            <a:endParaRPr lang="en-US" altLang="zh-CN" sz="1600" b="1">
              <a:latin typeface="Calibri" pitchFamily="34" charset="0"/>
            </a:endParaRPr>
          </a:p>
        </p:txBody>
      </p:sp>
      <p:sp>
        <p:nvSpPr>
          <p:cNvPr id="60422" name="Text Box 2"/>
          <p:cNvSpPr txBox="1">
            <a:spLocks noChangeArrowheads="1"/>
          </p:cNvSpPr>
          <p:nvPr/>
        </p:nvSpPr>
        <p:spPr bwMode="auto">
          <a:xfrm>
            <a:off x="6383655" y="5013325"/>
            <a:ext cx="4286885" cy="1708150"/>
          </a:xfrm>
          <a:prstGeom prst="rect">
            <a:avLst/>
          </a:prstGeom>
          <a:solidFill>
            <a:schemeClr val="bg1">
              <a:lumMod val="95000"/>
            </a:schemeClr>
          </a:solidFill>
          <a:ln w="9525">
            <a:solidFill>
              <a:srgbClr val="FFFFFF"/>
            </a:solidFill>
            <a:miter lim="800000"/>
          </a:ln>
        </p:spPr>
        <p:txBody>
          <a:bodyPr/>
          <a:lstStyle/>
          <a:p>
            <a:pPr algn="just"/>
            <a:r>
              <a:rPr lang="en-US" altLang="zh-CN" sz="1600" b="1">
                <a:latin typeface="宋体" panose="02000500000000000000" pitchFamily="2" charset="-122"/>
              </a:rPr>
              <a:t>Try: mov  R2,R1     ;</a:t>
            </a:r>
            <a:r>
              <a:rPr lang="zh-CN" altLang="en-US" sz="1600" b="1">
                <a:latin typeface="宋体" panose="02000500000000000000" pitchFamily="2" charset="-122"/>
              </a:rPr>
              <a:t>送交换值</a:t>
            </a:r>
            <a:r>
              <a:rPr lang="en-US" altLang="zh-CN" sz="1600" b="1">
                <a:latin typeface="宋体" panose="02000500000000000000" pitchFamily="2" charset="-122"/>
              </a:rPr>
              <a:t>     </a:t>
            </a:r>
            <a:endParaRPr lang="en-US" altLang="zh-CN" sz="1600" b="1">
              <a:latin typeface="宋体" panose="02000500000000000000" pitchFamily="2" charset="-122"/>
            </a:endParaRPr>
          </a:p>
          <a:p>
            <a:pPr algn="just"/>
            <a:r>
              <a:rPr lang="en-US" altLang="zh-CN" sz="1600" b="1">
                <a:latin typeface="宋体" panose="02000500000000000000" pitchFamily="2" charset="-122"/>
              </a:rPr>
              <a:t>    ll    R4, 0(R3)  ;load linked</a:t>
            </a:r>
            <a:endParaRPr lang="en-US" altLang="zh-CN" sz="1600" b="1">
              <a:latin typeface="宋体" panose="02000500000000000000" pitchFamily="2" charset="-122"/>
            </a:endParaRPr>
          </a:p>
          <a:p>
            <a:pPr algn="just"/>
            <a:r>
              <a:rPr lang="en-US" altLang="zh-CN" sz="1600" b="1">
                <a:latin typeface="宋体" panose="02000500000000000000" pitchFamily="2" charset="-122"/>
              </a:rPr>
              <a:t>    sc    R2, 0(R3)  ;store cond.</a:t>
            </a:r>
            <a:endParaRPr lang="en-US" altLang="zh-CN" sz="1600" b="1">
              <a:latin typeface="宋体" panose="02000500000000000000" pitchFamily="2" charset="-122"/>
            </a:endParaRPr>
          </a:p>
          <a:p>
            <a:pPr algn="just"/>
            <a:r>
              <a:rPr lang="en-US" altLang="zh-CN" sz="1600" b="1">
                <a:latin typeface="宋体" panose="02000500000000000000" pitchFamily="2" charset="-122"/>
              </a:rPr>
              <a:t>    beqz  R2, try    ;</a:t>
            </a:r>
            <a:r>
              <a:rPr lang="zh-CN" altLang="en-US" sz="1600" b="1">
                <a:latin typeface="宋体" panose="02000500000000000000" pitchFamily="2" charset="-122"/>
              </a:rPr>
              <a:t>写失败，跳转</a:t>
            </a:r>
            <a:endParaRPr lang="en-US" altLang="zh-CN" sz="1600" b="1">
              <a:latin typeface="宋体" panose="02000500000000000000" pitchFamily="2" charset="-122"/>
            </a:endParaRPr>
          </a:p>
          <a:p>
            <a:pPr algn="just"/>
            <a:r>
              <a:rPr lang="en-US" altLang="zh-CN" sz="1600" b="1">
                <a:latin typeface="宋体" panose="02000500000000000000" pitchFamily="2" charset="-122"/>
              </a:rPr>
              <a:t>    mov  R1, R4     ;</a:t>
            </a:r>
            <a:r>
              <a:rPr lang="zh-CN" altLang="en-US" sz="1600" b="1">
                <a:latin typeface="宋体" panose="02000500000000000000" pitchFamily="2" charset="-122"/>
              </a:rPr>
              <a:t>将读出值送给</a:t>
            </a:r>
            <a:r>
              <a:rPr lang="en-US" altLang="zh-CN" sz="1600" b="1">
                <a:latin typeface="宋体" panose="02000500000000000000" pitchFamily="2" charset="-122"/>
              </a:rPr>
              <a:t>R1</a:t>
            </a:r>
            <a:endParaRPr lang="en-US" altLang="zh-CN" sz="1600" b="1">
              <a:latin typeface="宋体" panose="02000500000000000000" pitchFamily="2"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noChangeArrowheads="1"/>
          </p:cNvSpPr>
          <p:nvPr>
            <p:ph type="title"/>
          </p:nvPr>
        </p:nvSpPr>
        <p:spPr>
          <a:xfrm>
            <a:off x="914718" y="87313"/>
            <a:ext cx="10361613" cy="1143000"/>
          </a:xfrm>
        </p:spPr>
        <p:txBody>
          <a:bodyPr/>
          <a:lstStyle/>
          <a:p>
            <a:r>
              <a:rPr lang="zh-CN" altLang="en-US" smtClean="0"/>
              <a:t>实现同步机制</a:t>
            </a:r>
            <a:endParaRPr lang="zh-CN" altLang="en-US" smtClean="0"/>
          </a:p>
        </p:txBody>
      </p:sp>
      <p:sp>
        <p:nvSpPr>
          <p:cNvPr id="22531" name="内容占位符 2"/>
          <p:cNvSpPr>
            <a:spLocks noGrp="1"/>
          </p:cNvSpPr>
          <p:nvPr>
            <p:ph idx="1"/>
          </p:nvPr>
        </p:nvSpPr>
        <p:spPr>
          <a:xfrm>
            <a:off x="198755" y="1205230"/>
            <a:ext cx="11947525" cy="3459480"/>
          </a:xfrm>
        </p:spPr>
        <p:txBody>
          <a:bodyPr/>
          <a:lstStyle/>
          <a:p>
            <a:pPr marL="342900" lvl="1" indent="-342900" latinLnBrk="0">
              <a:spcBef>
                <a:spcPts val="600"/>
              </a:spcBef>
              <a:defRPr/>
            </a:pPr>
            <a:r>
              <a:rPr kumimoji="1" lang="zh-CN" altLang="en-US" sz="1800" dirty="0">
                <a:latin typeface="宋体" panose="02000500000000000000" pitchFamily="2" charset="-122"/>
                <a:ea typeface="宋体" panose="02000500000000000000" pitchFamily="2" charset="-122"/>
                <a:cs typeface="宋体" panose="02000500000000000000" pitchFamily="2" charset="-122"/>
              </a:rPr>
              <a:t>自旋锁（</a:t>
            </a:r>
            <a:r>
              <a:rPr kumimoji="1" lang="en-US" altLang="zh-CN" sz="1800" dirty="0">
                <a:latin typeface="宋体" panose="02000500000000000000" pitchFamily="2" charset="-122"/>
                <a:ea typeface="宋体" panose="02000500000000000000" pitchFamily="2" charset="-122"/>
                <a:cs typeface="宋体" panose="02000500000000000000" pitchFamily="2" charset="-122"/>
              </a:rPr>
              <a:t>spin lock</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marL="742950" lvl="2" indent="-342900" latinLnBrk="0">
              <a:spcBef>
                <a:spcPts val="600"/>
              </a:spcBef>
              <a:defRPr/>
            </a:pPr>
            <a:r>
              <a:rPr kumimoji="1" lang="zh-CN" altLang="en-US" sz="1400" dirty="0">
                <a:latin typeface="宋体" panose="02000500000000000000" pitchFamily="2" charset="-122"/>
                <a:ea typeface="宋体" panose="02000500000000000000" pitchFamily="2" charset="-122"/>
                <a:cs typeface="宋体" panose="02000500000000000000" pitchFamily="2" charset="-122"/>
              </a:rPr>
              <a:t>最基本的锁实现方式，处理器核环绕一个锁不停地旋转而请求获得该锁</a:t>
            </a:r>
            <a:endParaRPr kumimoji="1" lang="zh-CN" altLang="en-US" sz="1400" dirty="0">
              <a:latin typeface="宋体" panose="02000500000000000000" pitchFamily="2" charset="-122"/>
              <a:ea typeface="宋体" panose="02000500000000000000" pitchFamily="2" charset="-122"/>
              <a:cs typeface="宋体" panose="02000500000000000000" pitchFamily="2" charset="-122"/>
            </a:endParaRPr>
          </a:p>
          <a:p>
            <a:pPr marL="742950" lvl="2" indent="-342900" latinLnBrk="0">
              <a:spcBef>
                <a:spcPts val="600"/>
              </a:spcBef>
              <a:defRPr/>
            </a:pPr>
            <a:r>
              <a:rPr kumimoji="1" lang="zh-CN" altLang="en-US" sz="1400" dirty="0">
                <a:latin typeface="宋体" panose="02000500000000000000" pitchFamily="2" charset="-122"/>
                <a:ea typeface="宋体" panose="02000500000000000000" pitchFamily="2" charset="-122"/>
                <a:cs typeface="宋体" panose="02000500000000000000" pitchFamily="2" charset="-122"/>
              </a:rPr>
              <a:t>自旋锁缺点：一个处理器核获得锁后，其他处理器核</a:t>
            </a:r>
            <a:r>
              <a:rPr kumimoji="1" lang="zh-CN" altLang="zh-CN" sz="1400" dirty="0">
                <a:latin typeface="宋体" panose="02000500000000000000" pitchFamily="2" charset="-122"/>
                <a:ea typeface="宋体" panose="02000500000000000000" pitchFamily="2" charset="-122"/>
                <a:cs typeface="宋体" panose="02000500000000000000" pitchFamily="2" charset="-122"/>
              </a:rPr>
              <a:t>循环执行</a:t>
            </a:r>
            <a:r>
              <a:rPr kumimoji="1" lang="en-US" altLang="zh-CN" sz="1400" dirty="0" err="1">
                <a:latin typeface="宋体" panose="02000500000000000000" pitchFamily="2" charset="-122"/>
                <a:ea typeface="宋体" panose="02000500000000000000" pitchFamily="2" charset="-122"/>
                <a:cs typeface="宋体" panose="02000500000000000000" pitchFamily="2" charset="-122"/>
              </a:rPr>
              <a:t>Test_and_Set</a:t>
            </a:r>
            <a:r>
              <a:rPr kumimoji="1" lang="zh-CN" altLang="zh-CN" sz="1400" dirty="0">
                <a:latin typeface="宋体" panose="02000500000000000000" pitchFamily="2" charset="-122"/>
                <a:ea typeface="宋体" panose="02000500000000000000" pitchFamily="2" charset="-122"/>
                <a:cs typeface="宋体" panose="02000500000000000000" pitchFamily="2" charset="-122"/>
              </a:rPr>
              <a:t>指令访问锁变量，从而在片上互连上产生大量的访存通信</a:t>
            </a:r>
            <a:endParaRPr kumimoji="1" lang="en-US" altLang="zh-CN" sz="1400" dirty="0">
              <a:latin typeface="宋体" panose="02000500000000000000" pitchFamily="2" charset="-122"/>
              <a:ea typeface="宋体" panose="02000500000000000000" pitchFamily="2" charset="-122"/>
              <a:cs typeface="宋体" panose="02000500000000000000" pitchFamily="2" charset="-122"/>
            </a:endParaRPr>
          </a:p>
          <a:p>
            <a:pPr lvl="1" latinLnBrk="0">
              <a:spcBef>
                <a:spcPts val="600"/>
              </a:spcBef>
              <a:defRPr/>
            </a:pPr>
            <a:r>
              <a:rPr kumimoji="1" lang="zh-CN" altLang="en-US" sz="1400" dirty="0">
                <a:latin typeface="宋体" panose="02000500000000000000" pitchFamily="2" charset="-122"/>
                <a:ea typeface="宋体" panose="02000500000000000000" pitchFamily="2" charset="-122"/>
                <a:cs typeface="宋体" panose="02000500000000000000" pitchFamily="2" charset="-122"/>
              </a:rPr>
              <a:t>一种简单改进措施：在</a:t>
            </a:r>
            <a:r>
              <a:rPr kumimoji="1" lang="en-US" altLang="zh-CN" sz="1400" dirty="0" err="1">
                <a:latin typeface="宋体" panose="02000500000000000000" pitchFamily="2" charset="-122"/>
                <a:ea typeface="宋体" panose="02000500000000000000" pitchFamily="2" charset="-122"/>
                <a:cs typeface="宋体" panose="02000500000000000000" pitchFamily="2" charset="-122"/>
              </a:rPr>
              <a:t>Test_and_Set</a:t>
            </a:r>
            <a:r>
              <a:rPr kumimoji="1" lang="zh-CN" altLang="zh-CN" sz="1400" dirty="0">
                <a:latin typeface="宋体" panose="02000500000000000000" pitchFamily="2" charset="-122"/>
                <a:ea typeface="宋体" panose="02000500000000000000" pitchFamily="2" charset="-122"/>
                <a:cs typeface="宋体" panose="02000500000000000000" pitchFamily="2" charset="-122"/>
              </a:rPr>
              <a:t>指令之间加入一定的延迟，减少等待阶段</a:t>
            </a:r>
            <a:r>
              <a:rPr kumimoji="1" lang="en-US" altLang="zh-CN" sz="1400" dirty="0" err="1">
                <a:latin typeface="宋体" panose="02000500000000000000" pitchFamily="2" charset="-122"/>
                <a:ea typeface="宋体" panose="02000500000000000000" pitchFamily="2" charset="-122"/>
                <a:cs typeface="宋体" panose="02000500000000000000" pitchFamily="2" charset="-122"/>
              </a:rPr>
              <a:t>Test_and_Set</a:t>
            </a:r>
            <a:r>
              <a:rPr kumimoji="1" lang="zh-CN" altLang="zh-CN" sz="1400" dirty="0">
                <a:latin typeface="宋体" panose="02000500000000000000" pitchFamily="2" charset="-122"/>
                <a:ea typeface="宋体" panose="02000500000000000000" pitchFamily="2" charset="-122"/>
                <a:cs typeface="宋体" panose="02000500000000000000" pitchFamily="2" charset="-122"/>
              </a:rPr>
              <a:t>指令自旋执行的次数以减轻访存的压力</a:t>
            </a:r>
            <a:endParaRPr kumimoji="1" lang="zh-CN" altLang="zh-CN" sz="1400" dirty="0">
              <a:latin typeface="宋体" panose="02000500000000000000" pitchFamily="2" charset="-122"/>
              <a:ea typeface="宋体" panose="02000500000000000000" pitchFamily="2" charset="-122"/>
              <a:cs typeface="宋体" panose="02000500000000000000" pitchFamily="2" charset="-122"/>
            </a:endParaRPr>
          </a:p>
          <a:p>
            <a:pPr marL="342900" lvl="1" indent="-342900" latinLnBrk="0">
              <a:spcBef>
                <a:spcPts val="600"/>
              </a:spcBef>
            </a:pP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栅障（</a:t>
            </a:r>
            <a:r>
              <a:rPr lang="en-US" altLang="zh-CN" sz="1400" smtClean="0">
                <a:latin typeface="宋体" panose="02000500000000000000" pitchFamily="2" charset="-122"/>
                <a:ea typeface="宋体" panose="02000500000000000000" pitchFamily="2" charset="-122"/>
                <a:cs typeface="宋体" panose="02000500000000000000" pitchFamily="2" charset="-122"/>
                <a:sym typeface="+mn-ea"/>
              </a:rPr>
              <a:t>barrier</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）功能及实现</a:t>
            </a:r>
            <a:endParaRPr lang="en-US" altLang="zh-CN" sz="1400" smtClean="0">
              <a:latin typeface="宋体" panose="02000500000000000000" pitchFamily="2" charset="-122"/>
              <a:ea typeface="宋体" panose="02000500000000000000" pitchFamily="2" charset="-122"/>
              <a:cs typeface="宋体" panose="02000500000000000000" pitchFamily="2" charset="-122"/>
            </a:endParaRPr>
          </a:p>
          <a:p>
            <a:pPr marL="742950" lvl="2" indent="-342900" latinLnBrk="0">
              <a:spcBef>
                <a:spcPts val="600"/>
              </a:spcBef>
            </a:pPr>
            <a:r>
              <a:rPr lang="zh-CN" altLang="zh-CN" sz="1400" smtClean="0">
                <a:latin typeface="宋体" panose="02000500000000000000" pitchFamily="2" charset="-122"/>
                <a:ea typeface="宋体" panose="02000500000000000000" pitchFamily="2" charset="-122"/>
                <a:cs typeface="宋体" panose="02000500000000000000" pitchFamily="2" charset="-122"/>
                <a:sym typeface="+mn-ea"/>
              </a:rPr>
              <a:t>栅障</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强制</a:t>
            </a:r>
            <a:r>
              <a:rPr lang="zh-CN" altLang="zh-CN" sz="1400" smtClean="0">
                <a:latin typeface="宋体" panose="02000500000000000000" pitchFamily="2" charset="-122"/>
                <a:ea typeface="宋体" panose="02000500000000000000" pitchFamily="2" charset="-122"/>
                <a:cs typeface="宋体" panose="02000500000000000000" pitchFamily="2" charset="-122"/>
                <a:sym typeface="+mn-ea"/>
              </a:rPr>
              <a:t>要求</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所有</a:t>
            </a:r>
            <a:r>
              <a:rPr lang="zh-CN" altLang="zh-CN" sz="1400" smtClean="0">
                <a:latin typeface="宋体" panose="02000500000000000000" pitchFamily="2" charset="-122"/>
                <a:ea typeface="宋体" panose="02000500000000000000" pitchFamily="2" charset="-122"/>
                <a:cs typeface="宋体" panose="02000500000000000000" pitchFamily="2" charset="-122"/>
                <a:sym typeface="+mn-ea"/>
              </a:rPr>
              <a:t>处理器核</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上执行的线程（进程）</a:t>
            </a:r>
            <a:r>
              <a:rPr lang="zh-CN" altLang="zh-CN" sz="1400" smtClean="0">
                <a:latin typeface="宋体" panose="02000500000000000000" pitchFamily="2" charset="-122"/>
                <a:ea typeface="宋体" panose="02000500000000000000" pitchFamily="2" charset="-122"/>
                <a:cs typeface="宋体" panose="02000500000000000000" pitchFamily="2" charset="-122"/>
                <a:sym typeface="+mn-ea"/>
              </a:rPr>
              <a:t>等待，一直到所有处理器核</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上的线程（进程）</a:t>
            </a:r>
            <a:r>
              <a:rPr lang="zh-CN" altLang="zh-CN" sz="1400" smtClean="0">
                <a:latin typeface="宋体" panose="02000500000000000000" pitchFamily="2" charset="-122"/>
                <a:ea typeface="宋体" panose="02000500000000000000" pitchFamily="2" charset="-122"/>
                <a:cs typeface="宋体" panose="02000500000000000000" pitchFamily="2" charset="-122"/>
                <a:sym typeface="+mn-ea"/>
              </a:rPr>
              <a:t>都到达栅障后，才能一起继续执行</a:t>
            </a:r>
            <a:endParaRPr lang="en-US" altLang="zh-CN" sz="1400" smtClean="0">
              <a:latin typeface="宋体" panose="02000500000000000000" pitchFamily="2" charset="-122"/>
              <a:ea typeface="宋体" panose="02000500000000000000" pitchFamily="2" charset="-122"/>
              <a:cs typeface="宋体" panose="02000500000000000000" pitchFamily="2" charset="-122"/>
            </a:endParaRPr>
          </a:p>
          <a:p>
            <a:pPr marL="742950" lvl="2" indent="-342900" latinLnBrk="0">
              <a:spcBef>
                <a:spcPts val="600"/>
              </a:spcBef>
            </a:pPr>
            <a:r>
              <a:rPr lang="zh-CN" altLang="zh-CN" sz="1400" smtClean="0">
                <a:latin typeface="宋体" panose="02000500000000000000" pitchFamily="2" charset="-122"/>
                <a:ea typeface="宋体" panose="02000500000000000000" pitchFamily="2" charset="-122"/>
                <a:cs typeface="宋体" panose="02000500000000000000" pitchFamily="2" charset="-122"/>
                <a:sym typeface="+mn-ea"/>
              </a:rPr>
              <a:t>设置一个共享的栅障</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计数</a:t>
            </a:r>
            <a:r>
              <a:rPr lang="zh-CN" altLang="zh-CN" sz="1400" smtClean="0">
                <a:latin typeface="宋体" panose="02000500000000000000" pitchFamily="2" charset="-122"/>
                <a:ea typeface="宋体" panose="02000500000000000000" pitchFamily="2" charset="-122"/>
                <a:cs typeface="宋体" panose="02000500000000000000" pitchFamily="2" charset="-122"/>
                <a:sym typeface="+mn-ea"/>
              </a:rPr>
              <a:t>变量。当一个处理器核到达栅障，就使用原子指令将栅障的值加</a:t>
            </a:r>
            <a:r>
              <a:rPr lang="en-US" altLang="zh-CN" sz="1400" smtClean="0">
                <a:latin typeface="宋体" panose="02000500000000000000" pitchFamily="2" charset="-122"/>
                <a:ea typeface="宋体" panose="02000500000000000000" pitchFamily="2" charset="-122"/>
                <a:cs typeface="宋体" panose="02000500000000000000" pitchFamily="2" charset="-122"/>
                <a:sym typeface="+mn-ea"/>
              </a:rPr>
              <a:t>1</a:t>
            </a:r>
            <a:r>
              <a:rPr lang="zh-CN" altLang="zh-CN" sz="1400" smtClean="0">
                <a:latin typeface="宋体" panose="02000500000000000000" pitchFamily="2" charset="-122"/>
                <a:ea typeface="宋体" panose="02000500000000000000" pitchFamily="2" charset="-122"/>
                <a:cs typeface="宋体" panose="02000500000000000000" pitchFamily="2" charset="-122"/>
                <a:sym typeface="+mn-ea"/>
              </a:rPr>
              <a:t>，然后对该栅障值进行自旋等待</a:t>
            </a:r>
            <a:endParaRPr lang="en-US" altLang="zh-CN" sz="1400" smtClean="0">
              <a:latin typeface="宋体" panose="02000500000000000000" pitchFamily="2" charset="-122"/>
              <a:ea typeface="宋体" panose="02000500000000000000" pitchFamily="2" charset="-122"/>
              <a:cs typeface="宋体" panose="02000500000000000000" pitchFamily="2" charset="-122"/>
            </a:endParaRPr>
          </a:p>
          <a:p>
            <a:pPr marL="742950" lvl="2" indent="-342900" latinLnBrk="0">
              <a:spcBef>
                <a:spcPts val="600"/>
              </a:spcBef>
            </a:pP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优点是简单，缺点是已到达栅障的处理器核，对栅障计数变量的自旋访问，造成很大的访存通信开销</a:t>
            </a:r>
            <a:endParaRPr lang="en-US" altLang="zh-CN" sz="1400" smtClean="0">
              <a:latin typeface="宋体" panose="02000500000000000000" pitchFamily="2" charset="-122"/>
              <a:ea typeface="宋体" panose="02000500000000000000" pitchFamily="2" charset="-122"/>
              <a:cs typeface="宋体" panose="02000500000000000000" pitchFamily="2" charset="-122"/>
            </a:endParaRPr>
          </a:p>
          <a:p>
            <a:pPr lvl="1">
              <a:defRPr/>
            </a:pPr>
            <a:endParaRPr kumimoji="1" lang="en-US" altLang="zh-CN" sz="1400" dirty="0" smtClean="0">
              <a:latin typeface="宋体" panose="02000500000000000000" pitchFamily="2" charset="-122"/>
              <a:ea typeface="宋体" panose="02000500000000000000" pitchFamily="2" charset="-122"/>
              <a:cs typeface="宋体" panose="02000500000000000000" pitchFamily="2" charset="-122"/>
            </a:endParaRPr>
          </a:p>
        </p:txBody>
      </p:sp>
      <p:sp>
        <p:nvSpPr>
          <p:cNvPr id="62468" name="灯片编号占位符 3"/>
          <p:cNvSpPr>
            <a:spLocks noGrp="1" noChangeArrowheads="1"/>
          </p:cNvSpPr>
          <p:nvPr>
            <p:ph type="sldNum" sz="quarter" idx="12"/>
          </p:nvPr>
        </p:nvSpPr>
        <p:spPr>
          <a:noFill/>
        </p:spPr>
        <p:txBody>
          <a:bodyPr/>
          <a:lstStyle/>
          <a:p>
            <a:fld id="{5D00F32E-0214-4E03-9798-20423852291C}" type="slidenum">
              <a:rPr lang="en-US" altLang="zh-CN" smtClean="0"/>
            </a:fld>
            <a:endParaRPr lang="en-US" altLang="zh-CN" smtClean="0"/>
          </a:p>
        </p:txBody>
      </p:sp>
      <p:sp>
        <p:nvSpPr>
          <p:cNvPr id="62469" name="Rectangle 2"/>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62470"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62471" name="Rectangle 8"/>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grpSp>
        <p:nvGrpSpPr>
          <p:cNvPr id="62472" name="组合 9"/>
          <p:cNvGrpSpPr/>
          <p:nvPr/>
        </p:nvGrpSpPr>
        <p:grpSpPr bwMode="auto">
          <a:xfrm>
            <a:off x="652781" y="5149850"/>
            <a:ext cx="10560050" cy="1532890"/>
            <a:chOff x="914400" y="2895599"/>
            <a:chExt cx="7921257" cy="1533747"/>
          </a:xfrm>
        </p:grpSpPr>
        <p:sp>
          <p:nvSpPr>
            <p:cNvPr id="62473" name="Text Box 2"/>
            <p:cNvSpPr txBox="1">
              <a:spLocks noChangeArrowheads="1"/>
            </p:cNvSpPr>
            <p:nvPr/>
          </p:nvSpPr>
          <p:spPr bwMode="auto">
            <a:xfrm>
              <a:off x="914400" y="2895599"/>
              <a:ext cx="3743425" cy="1533747"/>
            </a:xfrm>
            <a:prstGeom prst="rect">
              <a:avLst/>
            </a:prstGeom>
            <a:solidFill>
              <a:schemeClr val="bg1">
                <a:lumMod val="95000"/>
              </a:schemeClr>
            </a:solidFill>
            <a:ln w="9525">
              <a:solidFill>
                <a:srgbClr val="FFFFFF"/>
              </a:solidFill>
              <a:miter lim="800000"/>
            </a:ln>
          </p:spPr>
          <p:txBody>
            <a:bodyPr/>
            <a:lstStyle/>
            <a:p>
              <a:pPr algn="just"/>
              <a:r>
                <a:rPr lang="en-US" altLang="zh-CN" sz="1600" b="1">
                  <a:latin typeface="宋体" panose="02000500000000000000" pitchFamily="2" charset="-122"/>
                </a:rPr>
                <a:t>void acquire_lock(){</a:t>
              </a:r>
              <a:endParaRPr lang="en-US" altLang="zh-CN" sz="1600" b="1">
                <a:latin typeface="宋体" panose="02000500000000000000" pitchFamily="2" charset="-122"/>
              </a:endParaRPr>
            </a:p>
            <a:p>
              <a:pPr algn="just"/>
              <a:r>
                <a:rPr lang="en-US" altLang="zh-CN" sz="1600" b="1">
                  <a:latin typeface="宋体" panose="02000500000000000000" pitchFamily="2" charset="-122"/>
                </a:rPr>
                <a:t>     while (test_and_set(lock)!=0;</a:t>
              </a:r>
              <a:endParaRPr lang="en-US" altLang="zh-CN" sz="1600" b="1">
                <a:latin typeface="宋体" panose="02000500000000000000" pitchFamily="2" charset="-122"/>
              </a:endParaRPr>
            </a:p>
            <a:p>
              <a:pPr algn="just"/>
              <a:r>
                <a:rPr lang="en-US" altLang="zh-CN" sz="1600" b="1">
                  <a:latin typeface="宋体" panose="02000500000000000000" pitchFamily="2" charset="-122"/>
                </a:rPr>
                <a:t> }</a:t>
              </a:r>
              <a:endParaRPr lang="en-US" altLang="zh-CN" sz="1600" b="1">
                <a:latin typeface="宋体" panose="02000500000000000000" pitchFamily="2" charset="-122"/>
              </a:endParaRPr>
            </a:p>
            <a:p>
              <a:pPr algn="just"/>
              <a:r>
                <a:rPr lang="en-US" altLang="zh-CN" sz="1600" b="1">
                  <a:latin typeface="宋体" panose="02000500000000000000" pitchFamily="2" charset="-122"/>
                  <a:cs typeface="宋体" panose="02000500000000000000" pitchFamily="2" charset="-122"/>
                  <a:sym typeface="+mn-ea"/>
                </a:rPr>
                <a:t>void unlock(){</a:t>
              </a:r>
              <a:endParaRPr lang="en-US" altLang="zh-CN" sz="1600" b="1">
                <a:latin typeface="宋体" panose="02000500000000000000" pitchFamily="2" charset="-122"/>
                <a:cs typeface="宋体" panose="02000500000000000000" pitchFamily="2" charset="-122"/>
              </a:endParaRPr>
            </a:p>
            <a:p>
              <a:pPr algn="just"/>
              <a:r>
                <a:rPr lang="en-US" altLang="zh-CN" sz="1600" b="1">
                  <a:latin typeface="宋体" panose="02000500000000000000" pitchFamily="2" charset="-122"/>
                  <a:cs typeface="宋体" panose="02000500000000000000" pitchFamily="2" charset="-122"/>
                  <a:sym typeface="+mn-ea"/>
                </a:rPr>
                <a:t>     lock=0;                    //</a:t>
              </a:r>
              <a:r>
                <a:rPr lang="zh-CN" altLang="en-US" sz="1600" b="1">
                  <a:latin typeface="宋体" panose="02000500000000000000" pitchFamily="2" charset="-122"/>
                  <a:cs typeface="宋体" panose="02000500000000000000" pitchFamily="2" charset="-122"/>
                  <a:sym typeface="+mn-ea"/>
                </a:rPr>
                <a:t>释放锁</a:t>
              </a:r>
              <a:endParaRPr lang="en-US" altLang="zh-CN" sz="1600" b="1">
                <a:latin typeface="宋体" panose="02000500000000000000" pitchFamily="2" charset="-122"/>
                <a:cs typeface="宋体" panose="02000500000000000000" pitchFamily="2" charset="-122"/>
              </a:endParaRPr>
            </a:p>
            <a:p>
              <a:pPr algn="just"/>
              <a:r>
                <a:rPr lang="en-US" altLang="zh-CN" sz="1600" b="1">
                  <a:latin typeface="宋体" panose="02000500000000000000" pitchFamily="2" charset="-122"/>
                  <a:cs typeface="宋体" panose="02000500000000000000" pitchFamily="2" charset="-122"/>
                  <a:sym typeface="+mn-ea"/>
                </a:rPr>
                <a:t>}</a:t>
              </a:r>
              <a:endParaRPr lang="en-US" altLang="zh-CN" sz="1600" b="1">
                <a:latin typeface="宋体" panose="02000500000000000000" pitchFamily="2" charset="-122"/>
                <a:cs typeface="宋体" panose="02000500000000000000" pitchFamily="2" charset="-122"/>
              </a:endParaRPr>
            </a:p>
            <a:p>
              <a:pPr algn="just"/>
              <a:endParaRPr lang="en-US" altLang="zh-CN" sz="1600" b="1">
                <a:latin typeface="宋体" panose="02000500000000000000" pitchFamily="2" charset="-122"/>
                <a:cs typeface="宋体" panose="02000500000000000000" pitchFamily="2" charset="-122"/>
              </a:endParaRPr>
            </a:p>
            <a:p>
              <a:pPr algn="just"/>
              <a:endParaRPr lang="en-US" altLang="zh-CN" sz="1600" b="1">
                <a:latin typeface="宋体" panose="02000500000000000000" pitchFamily="2" charset="-122"/>
              </a:endParaRPr>
            </a:p>
            <a:p>
              <a:pPr algn="just"/>
              <a:endParaRPr lang="en-US" altLang="zh-CN" sz="1600" b="1">
                <a:latin typeface="宋体" panose="02000500000000000000" pitchFamily="2" charset="-122"/>
              </a:endParaRPr>
            </a:p>
            <a:p>
              <a:pPr algn="just"/>
              <a:endParaRPr lang="en-US" altLang="zh-CN" sz="1600" b="1">
                <a:latin typeface="宋体" panose="02000500000000000000" pitchFamily="2" charset="-122"/>
              </a:endParaRPr>
            </a:p>
          </p:txBody>
        </p:sp>
        <p:sp>
          <p:nvSpPr>
            <p:cNvPr id="62474" name="Text Box 2"/>
            <p:cNvSpPr txBox="1">
              <a:spLocks noChangeArrowheads="1"/>
            </p:cNvSpPr>
            <p:nvPr/>
          </p:nvSpPr>
          <p:spPr bwMode="auto">
            <a:xfrm>
              <a:off x="5002683" y="2908941"/>
              <a:ext cx="3832974" cy="1519770"/>
            </a:xfrm>
            <a:prstGeom prst="rect">
              <a:avLst/>
            </a:prstGeom>
            <a:solidFill>
              <a:schemeClr val="bg1">
                <a:lumMod val="95000"/>
              </a:schemeClr>
            </a:solidFill>
            <a:ln w="9525">
              <a:solidFill>
                <a:srgbClr val="FFFFFF"/>
              </a:solidFill>
              <a:miter lim="800000"/>
            </a:ln>
          </p:spPr>
          <p:txBody>
            <a:bodyPr/>
            <a:lstStyle/>
            <a:p>
              <a:pPr algn="just"/>
              <a:r>
                <a:rPr lang="en-US" altLang="zh-CN" sz="1600" b="1">
                  <a:latin typeface="宋体" panose="02000500000000000000" pitchFamily="2" charset="-122"/>
                  <a:cs typeface="宋体" panose="02000500000000000000" pitchFamily="2" charset="-122"/>
                  <a:sym typeface="+mn-ea"/>
                </a:rPr>
                <a:t>barrier(){</a:t>
              </a:r>
              <a:endParaRPr lang="en-US" altLang="zh-CN" sz="1600" b="1">
                <a:latin typeface="宋体" panose="02000500000000000000" pitchFamily="2" charset="-122"/>
                <a:cs typeface="宋体" panose="02000500000000000000" pitchFamily="2" charset="-122"/>
              </a:endParaRPr>
            </a:p>
            <a:p>
              <a:pPr algn="just"/>
              <a:r>
                <a:rPr lang="en-US" altLang="zh-CN" sz="1600" b="1">
                  <a:latin typeface="宋体" panose="02000500000000000000" pitchFamily="2" charset="-122"/>
                  <a:cs typeface="宋体" panose="02000500000000000000" pitchFamily="2" charset="-122"/>
                  <a:sym typeface="+mn-ea"/>
                </a:rPr>
                <a:t>       fetch_and_inc(count);   //</a:t>
              </a:r>
              <a:r>
                <a:rPr lang="zh-CN" altLang="en-US" sz="1600" b="1">
                  <a:latin typeface="宋体" panose="02000500000000000000" pitchFamily="2" charset="-122"/>
                  <a:cs typeface="宋体" panose="02000500000000000000" pitchFamily="2" charset="-122"/>
                  <a:sym typeface="+mn-ea"/>
                </a:rPr>
                <a:t>到达栅障</a:t>
              </a:r>
              <a:endParaRPr lang="en-US" altLang="zh-CN" sz="1600" b="1">
                <a:latin typeface="宋体" panose="02000500000000000000" pitchFamily="2" charset="-122"/>
                <a:cs typeface="宋体" panose="02000500000000000000" pitchFamily="2" charset="-122"/>
              </a:endParaRPr>
            </a:p>
            <a:p>
              <a:pPr algn="just"/>
              <a:r>
                <a:rPr lang="en-US" altLang="zh-CN" sz="1600" b="1">
                  <a:latin typeface="宋体" panose="02000500000000000000" pitchFamily="2" charset="-122"/>
                  <a:cs typeface="宋体" panose="02000500000000000000" pitchFamily="2" charset="-122"/>
                  <a:sym typeface="+mn-ea"/>
                </a:rPr>
                <a:t>       while (count!=max);    //</a:t>
              </a:r>
              <a:r>
                <a:rPr lang="zh-CN" altLang="en-US" sz="1600" b="1">
                  <a:latin typeface="宋体" panose="02000500000000000000" pitchFamily="2" charset="-122"/>
                  <a:cs typeface="宋体" panose="02000500000000000000" pitchFamily="2" charset="-122"/>
                  <a:sym typeface="+mn-ea"/>
                </a:rPr>
                <a:t>自旋等待</a:t>
              </a:r>
              <a:endParaRPr lang="en-US" altLang="zh-CN" sz="1600" b="1">
                <a:latin typeface="宋体" panose="02000500000000000000" pitchFamily="2" charset="-122"/>
                <a:cs typeface="宋体" panose="02000500000000000000" pitchFamily="2" charset="-122"/>
              </a:endParaRPr>
            </a:p>
            <a:p>
              <a:pPr algn="just"/>
              <a:r>
                <a:rPr lang="en-US" altLang="zh-CN" sz="1600" b="1">
                  <a:latin typeface="宋体" panose="02000500000000000000" pitchFamily="2" charset="-122"/>
                  <a:cs typeface="宋体" panose="02000500000000000000" pitchFamily="2" charset="-122"/>
                  <a:sym typeface="+mn-ea"/>
                </a:rPr>
                <a:t> }</a:t>
              </a:r>
              <a:endParaRPr lang="en-US" altLang="zh-CN" sz="1600" b="1">
                <a:latin typeface="宋体" panose="02000500000000000000" pitchFamily="2" charset="-122"/>
                <a:cs typeface="宋体" panose="02000500000000000000" pitchFamily="2" charset="-122"/>
              </a:endParaRPr>
            </a:p>
            <a:p>
              <a:pPr algn="just"/>
              <a:endParaRPr lang="en-US" altLang="zh-CN" sz="1600" b="1">
                <a:latin typeface="宋体" panose="02000500000000000000" pitchFamily="2" charset="-122"/>
                <a:cs typeface="宋体" panose="02000500000000000000" pitchFamily="2" charset="-122"/>
              </a:endParaRPr>
            </a:p>
            <a:p>
              <a:pPr algn="just"/>
              <a:endParaRPr lang="en-US" altLang="zh-CN" sz="1600" b="1">
                <a:latin typeface="宋体" panose="02000500000000000000" pitchFamily="2" charset="-122"/>
                <a:cs typeface="宋体" panose="02000500000000000000" pitchFamily="2" charset="-122"/>
              </a:endParaRPr>
            </a:p>
            <a:p>
              <a:pPr algn="just"/>
              <a:endParaRPr lang="en-US" altLang="zh-CN" sz="1600" b="1">
                <a:latin typeface="宋体" panose="02000500000000000000" pitchFamily="2" charset="-122"/>
                <a:cs typeface="宋体" panose="02000500000000000000" pitchFamily="2" charset="-122"/>
              </a:endParaRPr>
            </a:p>
          </p:txBody>
        </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4"/>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0963" name="Rectangle 2"/>
          <p:cNvSpPr>
            <a:spLocks noGrp="1"/>
          </p:cNvSpPr>
          <p:nvPr>
            <p:ph type="title"/>
          </p:nvPr>
        </p:nvSpPr>
        <p:spPr>
          <a:xfrm>
            <a:off x="866775" y="2708275"/>
            <a:ext cx="10971213" cy="1143000"/>
          </a:xfrm>
        </p:spPr>
        <p:txBody>
          <a:bodyPr vert="horz" wrap="square" lIns="91440" tIns="45720" rIns="91440" bIns="45720" anchor="ctr" anchorCtr="0"/>
          <a:lstStyle/>
          <a:p>
            <a:pPr eaLnBrk="1" hangingPunct="1"/>
            <a:r>
              <a:rPr lang="en-US" altLang="zh-CN" dirty="0"/>
              <a:t>CACHE</a:t>
            </a:r>
            <a:r>
              <a:rPr lang="zh-CN" altLang="en-US" dirty="0"/>
              <a:t>一致性协议</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6" name="标题 1"/>
          <p:cNvSpPr>
            <a:spLocks noGrp="1"/>
          </p:cNvSpPr>
          <p:nvPr>
            <p:ph type="title"/>
          </p:nvPr>
        </p:nvSpPr>
        <p:spPr>
          <a:xfrm>
            <a:off x="914352" y="179"/>
            <a:ext cx="10361073" cy="977849"/>
          </a:xfrm>
        </p:spPr>
        <p:txBody>
          <a:bodyPr vert="horz" wrap="square" lIns="91435" tIns="45717" rIns="91435" bIns="45717" anchor="ctr" anchorCtr="0"/>
          <a:p>
            <a:r>
              <a:rPr lang="zh-CN" altLang="en-US" dirty="0"/>
              <a:t>通用多核处理器的片上</a:t>
            </a:r>
            <a:r>
              <a:rPr lang="en-US" altLang="zh-CN" dirty="0"/>
              <a:t>Cache</a:t>
            </a:r>
            <a:r>
              <a:rPr lang="zh-CN" altLang="en-US" dirty="0"/>
              <a:t>结构</a:t>
            </a:r>
            <a:endParaRPr lang="zh-CN" altLang="en-US" dirty="0"/>
          </a:p>
        </p:txBody>
      </p:sp>
      <p:sp>
        <p:nvSpPr>
          <p:cNvPr id="3077" name="内容占位符 2"/>
          <p:cNvSpPr>
            <a:spLocks noGrp="1"/>
          </p:cNvSpPr>
          <p:nvPr>
            <p:ph idx="1"/>
          </p:nvPr>
        </p:nvSpPr>
        <p:spPr>
          <a:xfrm>
            <a:off x="452120" y="935355"/>
            <a:ext cx="11383645" cy="2388870"/>
          </a:xfrm>
        </p:spPr>
        <p:txBody>
          <a:bodyPr vert="horz" wrap="square" lIns="91435" tIns="45717" rIns="91435" bIns="45717" anchor="t" anchorCtr="0"/>
          <a:p>
            <a:r>
              <a:rPr lang="zh-CN" altLang="en-US" sz="2000" dirty="0">
                <a:latin typeface="宋体" panose="02000500000000000000" pitchFamily="2" charset="-122"/>
                <a:ea typeface="宋体" panose="02000500000000000000" pitchFamily="2" charset="-122"/>
                <a:cs typeface="宋体" panose="02000500000000000000" pitchFamily="2" charset="-122"/>
              </a:rPr>
              <a:t>片内</a:t>
            </a:r>
            <a:r>
              <a:rPr lang="en-US" altLang="zh-CN" sz="2000" dirty="0">
                <a:latin typeface="宋体" panose="02000500000000000000" pitchFamily="2" charset="-122"/>
                <a:ea typeface="宋体" panose="02000500000000000000" pitchFamily="2" charset="-122"/>
                <a:cs typeface="宋体" panose="02000500000000000000" pitchFamily="2" charset="-122"/>
              </a:rPr>
              <a:t>Cache</a:t>
            </a:r>
            <a:r>
              <a:rPr lang="zh-CN" altLang="en-US" sz="2000" dirty="0">
                <a:latin typeface="宋体" panose="02000500000000000000" pitchFamily="2" charset="-122"/>
                <a:ea typeface="宋体" panose="02000500000000000000" pitchFamily="2" charset="-122"/>
                <a:cs typeface="宋体" panose="02000500000000000000" pitchFamily="2" charset="-122"/>
              </a:rPr>
              <a:t>种类</a:t>
            </a:r>
            <a:endParaRPr lang="en-US" altLang="zh-CN" sz="2000" dirty="0">
              <a:latin typeface="宋体" panose="02000500000000000000" pitchFamily="2" charset="-122"/>
              <a:ea typeface="宋体" panose="02000500000000000000" pitchFamily="2" charset="-122"/>
              <a:cs typeface="宋体" panose="02000500000000000000" pitchFamily="2" charset="-122"/>
            </a:endParaRPr>
          </a:p>
          <a:p>
            <a:pPr lvl="1"/>
            <a:r>
              <a:rPr lang="zh-CN" altLang="en-US" sz="1600" dirty="0">
                <a:latin typeface="宋体" panose="02000500000000000000" pitchFamily="2" charset="-122"/>
                <a:ea typeface="宋体" panose="02000500000000000000" pitchFamily="2" charset="-122"/>
                <a:cs typeface="宋体" panose="02000500000000000000" pitchFamily="2" charset="-122"/>
              </a:rPr>
              <a:t>核内私有</a:t>
            </a:r>
            <a:r>
              <a:rPr lang="en-US" altLang="zh-CN" sz="1600" dirty="0">
                <a:latin typeface="宋体" panose="02000500000000000000" pitchFamily="2" charset="-122"/>
                <a:ea typeface="宋体" panose="02000500000000000000" pitchFamily="2" charset="-122"/>
                <a:cs typeface="宋体" panose="02000500000000000000" pitchFamily="2" charset="-122"/>
              </a:rPr>
              <a:t>Cache</a:t>
            </a:r>
            <a:r>
              <a:rPr lang="zh-CN" altLang="en-US" sz="1600" dirty="0">
                <a:latin typeface="宋体" panose="02000500000000000000" pitchFamily="2" charset="-122"/>
                <a:ea typeface="宋体" panose="02000500000000000000" pitchFamily="2" charset="-122"/>
                <a:cs typeface="宋体" panose="02000500000000000000" pitchFamily="2" charset="-122"/>
              </a:rPr>
              <a:t>：处理器核包含私有</a:t>
            </a:r>
            <a:r>
              <a:rPr lang="en-US" altLang="zh-CN" sz="1600" dirty="0">
                <a:latin typeface="宋体" panose="02000500000000000000" pitchFamily="2" charset="-122"/>
                <a:ea typeface="宋体" panose="02000500000000000000" pitchFamily="2" charset="-122"/>
                <a:cs typeface="宋体" panose="02000500000000000000" pitchFamily="2" charset="-122"/>
              </a:rPr>
              <a:t>Cache</a:t>
            </a:r>
            <a:r>
              <a:rPr lang="zh-CN" altLang="en-US" sz="1600" dirty="0">
                <a:latin typeface="宋体" panose="02000500000000000000" pitchFamily="2" charset="-122"/>
                <a:ea typeface="宋体" panose="02000500000000000000" pitchFamily="2" charset="-122"/>
                <a:cs typeface="宋体" panose="02000500000000000000" pitchFamily="2" charset="-122"/>
              </a:rPr>
              <a:t>，速度快、失效率高</a:t>
            </a:r>
            <a:endParaRPr lang="en-US" altLang="zh-CN" sz="1600" dirty="0">
              <a:latin typeface="宋体" panose="02000500000000000000" pitchFamily="2" charset="-122"/>
              <a:ea typeface="宋体" panose="02000500000000000000" pitchFamily="2" charset="-122"/>
              <a:cs typeface="宋体" panose="02000500000000000000" pitchFamily="2" charset="-122"/>
            </a:endParaRPr>
          </a:p>
          <a:p>
            <a:pPr lvl="1"/>
            <a:r>
              <a:rPr lang="zh-CN" altLang="en-US" sz="1600" dirty="0">
                <a:latin typeface="宋体" panose="02000500000000000000" pitchFamily="2" charset="-122"/>
                <a:ea typeface="宋体" panose="02000500000000000000" pitchFamily="2" charset="-122"/>
                <a:cs typeface="宋体" panose="02000500000000000000" pitchFamily="2" charset="-122"/>
              </a:rPr>
              <a:t>片内共享</a:t>
            </a:r>
            <a:r>
              <a:rPr lang="en-US" altLang="zh-CN" sz="1600" dirty="0">
                <a:latin typeface="宋体" panose="02000500000000000000" pitchFamily="2" charset="-122"/>
                <a:ea typeface="宋体" panose="02000500000000000000" pitchFamily="2" charset="-122"/>
                <a:cs typeface="宋体" panose="02000500000000000000" pitchFamily="2" charset="-122"/>
              </a:rPr>
              <a:t>Cache</a:t>
            </a:r>
            <a:r>
              <a:rPr lang="zh-CN" altLang="en-US" sz="1600" dirty="0">
                <a:latin typeface="宋体" panose="02000500000000000000" pitchFamily="2" charset="-122"/>
                <a:ea typeface="宋体" panose="02000500000000000000" pitchFamily="2" charset="-122"/>
                <a:cs typeface="宋体" panose="02000500000000000000" pitchFamily="2" charset="-122"/>
              </a:rPr>
              <a:t>：多个处理器核共享</a:t>
            </a:r>
            <a:r>
              <a:rPr lang="en-US" altLang="zh-CN" sz="1600" dirty="0">
                <a:latin typeface="宋体" panose="02000500000000000000" pitchFamily="2" charset="-122"/>
                <a:ea typeface="宋体" panose="02000500000000000000" pitchFamily="2" charset="-122"/>
                <a:cs typeface="宋体" panose="02000500000000000000" pitchFamily="2" charset="-122"/>
              </a:rPr>
              <a:t>Cache</a:t>
            </a:r>
            <a:r>
              <a:rPr lang="zh-CN" altLang="en-US" sz="1600" dirty="0">
                <a:latin typeface="宋体" panose="02000500000000000000" pitchFamily="2" charset="-122"/>
                <a:ea typeface="宋体" panose="02000500000000000000" pitchFamily="2" charset="-122"/>
                <a:cs typeface="宋体" panose="02000500000000000000" pitchFamily="2" charset="-122"/>
              </a:rPr>
              <a:t>，速度稍慢，失效率低</a:t>
            </a:r>
            <a:endParaRPr lang="en-US" altLang="zh-CN" sz="1600" dirty="0">
              <a:latin typeface="宋体" panose="02000500000000000000" pitchFamily="2" charset="-122"/>
              <a:ea typeface="宋体" panose="02000500000000000000" pitchFamily="2" charset="-122"/>
              <a:cs typeface="宋体" panose="02000500000000000000" pitchFamily="2" charset="-122"/>
            </a:endParaRPr>
          </a:p>
          <a:p>
            <a:r>
              <a:rPr lang="zh-CN" altLang="en-US" sz="2000" dirty="0">
                <a:solidFill>
                  <a:srgbClr val="FF0000"/>
                </a:solidFill>
                <a:latin typeface="宋体" panose="02000500000000000000" pitchFamily="2" charset="-122"/>
                <a:ea typeface="宋体" panose="02000500000000000000" pitchFamily="2" charset="-122"/>
                <a:cs typeface="宋体" panose="02000500000000000000" pitchFamily="2" charset="-122"/>
              </a:rPr>
              <a:t>核内私有</a:t>
            </a:r>
            <a:r>
              <a:rPr lang="en-US" altLang="zh-CN" sz="2000" dirty="0">
                <a:solidFill>
                  <a:srgbClr val="FF0000"/>
                </a:solidFill>
                <a:latin typeface="宋体" panose="02000500000000000000" pitchFamily="2" charset="-122"/>
                <a:ea typeface="宋体" panose="02000500000000000000" pitchFamily="2" charset="-122"/>
                <a:cs typeface="宋体" panose="02000500000000000000" pitchFamily="2" charset="-122"/>
              </a:rPr>
              <a:t>L1</a:t>
            </a:r>
            <a:r>
              <a:rPr lang="zh-CN" altLang="en-US" sz="2000" dirty="0">
                <a:solidFill>
                  <a:srgbClr val="FF0000"/>
                </a:solidFill>
                <a:latin typeface="宋体" panose="02000500000000000000" pitchFamily="2" charset="-122"/>
                <a:ea typeface="宋体" panose="02000500000000000000" pitchFamily="2" charset="-122"/>
                <a:cs typeface="宋体" panose="02000500000000000000" pitchFamily="2" charset="-122"/>
              </a:rPr>
              <a:t>及</a:t>
            </a:r>
            <a:r>
              <a:rPr lang="en-US" altLang="zh-CN" sz="2000" dirty="0">
                <a:solidFill>
                  <a:srgbClr val="FF0000"/>
                </a:solidFill>
                <a:latin typeface="宋体" panose="02000500000000000000" pitchFamily="2" charset="-122"/>
                <a:ea typeface="宋体" panose="02000500000000000000" pitchFamily="2" charset="-122"/>
                <a:cs typeface="宋体" panose="02000500000000000000" pitchFamily="2" charset="-122"/>
              </a:rPr>
              <a:t>/</a:t>
            </a:r>
            <a:r>
              <a:rPr lang="zh-CN" altLang="en-US" sz="2000" dirty="0">
                <a:solidFill>
                  <a:srgbClr val="FF0000"/>
                </a:solidFill>
                <a:latin typeface="宋体" panose="02000500000000000000" pitchFamily="2" charset="-122"/>
                <a:ea typeface="宋体" panose="02000500000000000000" pitchFamily="2" charset="-122"/>
                <a:cs typeface="宋体" panose="02000500000000000000" pitchFamily="2" charset="-122"/>
              </a:rPr>
              <a:t>或</a:t>
            </a:r>
            <a:r>
              <a:rPr lang="en-US" altLang="zh-CN" sz="2000" dirty="0">
                <a:solidFill>
                  <a:srgbClr val="FF0000"/>
                </a:solidFill>
                <a:latin typeface="宋体" panose="02000500000000000000" pitchFamily="2" charset="-122"/>
                <a:ea typeface="宋体" panose="02000500000000000000" pitchFamily="2" charset="-122"/>
                <a:cs typeface="宋体" panose="02000500000000000000" pitchFamily="2" charset="-122"/>
              </a:rPr>
              <a:t>L2</a:t>
            </a:r>
            <a:r>
              <a:rPr lang="zh-CN" altLang="en-US" sz="2000" dirty="0">
                <a:solidFill>
                  <a:srgbClr val="FF0000"/>
                </a:solidFill>
                <a:latin typeface="宋体" panose="02000500000000000000" pitchFamily="2" charset="-122"/>
                <a:ea typeface="宋体" panose="02000500000000000000" pitchFamily="2" charset="-122"/>
                <a:cs typeface="宋体" panose="02000500000000000000" pitchFamily="2" charset="-122"/>
              </a:rPr>
              <a:t>，片内共享</a:t>
            </a:r>
            <a:r>
              <a:rPr lang="en-US" altLang="zh-CN" sz="2000" dirty="0">
                <a:solidFill>
                  <a:srgbClr val="FF0000"/>
                </a:solidFill>
                <a:latin typeface="宋体" panose="02000500000000000000" pitchFamily="2" charset="-122"/>
                <a:ea typeface="宋体" panose="02000500000000000000" pitchFamily="2" charset="-122"/>
                <a:cs typeface="宋体" panose="02000500000000000000" pitchFamily="2" charset="-122"/>
              </a:rPr>
              <a:t>LLC</a:t>
            </a:r>
            <a:r>
              <a:rPr lang="zh-CN" altLang="en-US" sz="2000" dirty="0">
                <a:solidFill>
                  <a:srgbClr val="FF0000"/>
                </a:solidFill>
                <a:latin typeface="宋体" panose="02000500000000000000" pitchFamily="2" charset="-122"/>
                <a:ea typeface="宋体" panose="02000500000000000000" pitchFamily="2" charset="-122"/>
                <a:cs typeface="宋体" panose="02000500000000000000" pitchFamily="2" charset="-122"/>
              </a:rPr>
              <a:t>，片间共享内存是通用</a:t>
            </a:r>
            <a:r>
              <a:rPr lang="en-US" altLang="zh-CN" sz="2000" dirty="0">
                <a:solidFill>
                  <a:srgbClr val="FF0000"/>
                </a:solidFill>
                <a:latin typeface="宋体" panose="02000500000000000000" pitchFamily="2" charset="-122"/>
                <a:ea typeface="宋体" panose="02000500000000000000" pitchFamily="2" charset="-122"/>
                <a:cs typeface="宋体" panose="02000500000000000000" pitchFamily="2" charset="-122"/>
              </a:rPr>
              <a:t>CPU</a:t>
            </a:r>
            <a:r>
              <a:rPr lang="zh-CN" altLang="en-US" sz="2000" dirty="0">
                <a:solidFill>
                  <a:srgbClr val="FF0000"/>
                </a:solidFill>
                <a:latin typeface="宋体" panose="02000500000000000000" pitchFamily="2" charset="-122"/>
                <a:ea typeface="宋体" panose="02000500000000000000" pitchFamily="2" charset="-122"/>
                <a:cs typeface="宋体" panose="02000500000000000000" pitchFamily="2" charset="-122"/>
              </a:rPr>
              <a:t>的主流结构</a:t>
            </a:r>
            <a:endParaRPr lang="zh-CN" altLang="en-US" sz="2000"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lvl="1" algn="l">
              <a:buClrTx/>
              <a:buSzTx/>
              <a:buFontTx/>
            </a:pPr>
            <a:r>
              <a:rPr lang="zh-CN" altLang="en-US" sz="1600" dirty="0">
                <a:latin typeface="宋体" panose="02000500000000000000" pitchFamily="2" charset="-122"/>
                <a:ea typeface="宋体" panose="02000500000000000000" pitchFamily="2" charset="-122"/>
                <a:cs typeface="宋体" panose="02000500000000000000" pitchFamily="2" charset="-122"/>
                <a:sym typeface="+mn-ea"/>
              </a:rPr>
              <a:t>核内L1D、L1I（几十KB），核内L2（几百KB-1MB），核间共享LLC（几十MB）</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lvl="1"/>
            <a:endParaRPr lang="zh-CN" altLang="zh-CN" sz="1665"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lvl="2"/>
            <a:endParaRPr lang="zh-CN" altLang="zh-CN" sz="2000" dirty="0">
              <a:solidFill>
                <a:srgbClr val="FF0000"/>
              </a:solidFill>
              <a:latin typeface="宋体" panose="02000500000000000000" pitchFamily="2" charset="-122"/>
              <a:ea typeface="宋体" panose="02000500000000000000" pitchFamily="2" charset="-122"/>
              <a:cs typeface="宋体" panose="02000500000000000000" pitchFamily="2" charset="-122"/>
            </a:endParaRPr>
          </a:p>
        </p:txBody>
      </p:sp>
      <p:sp>
        <p:nvSpPr>
          <p:cNvPr id="3078"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b="0" dirty="0"/>
            </a:fld>
            <a:endParaRPr lang="en-US" altLang="zh-CN" sz="1400" b="0" dirty="0"/>
          </a:p>
        </p:txBody>
      </p:sp>
      <p:sp>
        <p:nvSpPr>
          <p:cNvPr id="3079" name="Rectangle 2"/>
          <p:cNvSpPr/>
          <p:nvPr/>
        </p:nvSpPr>
        <p:spPr>
          <a:xfrm>
            <a:off x="0" y="-53161"/>
            <a:ext cx="12189778" cy="106680"/>
          </a:xfrm>
          <a:prstGeom prst="rect">
            <a:avLst/>
          </a:prstGeom>
          <a:noFill/>
          <a:ln w="9525">
            <a:noFill/>
          </a:ln>
        </p:spPr>
        <p:txBody>
          <a:bodyPr anchor="ctr" anchorCtr="0">
            <a:spAutoFit/>
          </a:bodyPr>
          <a:p>
            <a:pPr algn="ctr"/>
            <a:endParaRPr lang="zh-CN" altLang="en-US" sz="100" dirty="0">
              <a:latin typeface="Times New Roman" pitchFamily="18" charset="0"/>
            </a:endParaRPr>
          </a:p>
        </p:txBody>
      </p:sp>
      <p:sp>
        <p:nvSpPr>
          <p:cNvPr id="3080" name="Rectangle 4"/>
          <p:cNvSpPr/>
          <p:nvPr/>
        </p:nvSpPr>
        <p:spPr>
          <a:xfrm>
            <a:off x="0" y="-53161"/>
            <a:ext cx="12189778" cy="106680"/>
          </a:xfrm>
          <a:prstGeom prst="rect">
            <a:avLst/>
          </a:prstGeom>
          <a:noFill/>
          <a:ln w="9525">
            <a:noFill/>
          </a:ln>
        </p:spPr>
        <p:txBody>
          <a:bodyPr anchor="ctr" anchorCtr="0">
            <a:spAutoFit/>
          </a:bodyPr>
          <a:p>
            <a:pPr algn="ctr"/>
            <a:endParaRPr lang="zh-CN" altLang="en-US" sz="100" dirty="0">
              <a:latin typeface="Times New Roman" pitchFamily="18" charset="0"/>
            </a:endParaRPr>
          </a:p>
        </p:txBody>
      </p:sp>
      <p:sp>
        <p:nvSpPr>
          <p:cNvPr id="3081" name="Rectangle 8"/>
          <p:cNvSpPr/>
          <p:nvPr/>
        </p:nvSpPr>
        <p:spPr>
          <a:xfrm>
            <a:off x="5939949" y="-53161"/>
            <a:ext cx="309880" cy="106680"/>
          </a:xfrm>
          <a:prstGeom prst="rect">
            <a:avLst/>
          </a:prstGeom>
          <a:noFill/>
          <a:ln w="9525">
            <a:noFill/>
          </a:ln>
        </p:spPr>
        <p:txBody>
          <a:bodyPr wrap="none" anchor="ctr" anchorCtr="0">
            <a:spAutoFit/>
          </a:bodyPr>
          <a:p>
            <a:pPr algn="ctr"/>
            <a:endParaRPr lang="zh-CN" altLang="en-US" sz="100" dirty="0">
              <a:latin typeface="Times New Roman" pitchFamily="18" charset="0"/>
            </a:endParaRPr>
          </a:p>
        </p:txBody>
      </p:sp>
      <p:pic>
        <p:nvPicPr>
          <p:cNvPr id="5" name="图片 4"/>
          <p:cNvPicPr>
            <a:picLocks noChangeAspect="1"/>
          </p:cNvPicPr>
          <p:nvPr/>
        </p:nvPicPr>
        <p:blipFill>
          <a:blip r:embed="rId1"/>
          <a:stretch>
            <a:fillRect/>
          </a:stretch>
        </p:blipFill>
        <p:spPr>
          <a:xfrm>
            <a:off x="3430905" y="3529330"/>
            <a:ext cx="4739005" cy="306260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1987" name="Rectangle 2"/>
          <p:cNvSpPr/>
          <p:nvPr/>
        </p:nvSpPr>
        <p:spPr>
          <a:xfrm>
            <a:off x="561975" y="0"/>
            <a:ext cx="11026775" cy="981075"/>
          </a:xfrm>
          <a:prstGeom prst="rect">
            <a:avLst/>
          </a:prstGeom>
          <a:noFill/>
          <a:ln w="9525">
            <a:noFill/>
          </a:ln>
        </p:spPr>
        <p:txBody>
          <a:bodyPr lIns="92075" tIns="46038" rIns="92075" bIns="46038"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共享存储多处理机中的</a:t>
            </a:r>
            <a:r>
              <a:rPr lang="en-US" altLang="zh-CN" sz="3600" dirty="0">
                <a:solidFill>
                  <a:srgbClr val="FF0000"/>
                </a:solidFill>
                <a:latin typeface="Arial" panose="02080604020202020204" pitchFamily="34" charset="0"/>
                <a:ea typeface="黑体" panose="02000500000000000000" pitchFamily="49" charset="-122"/>
              </a:rPr>
              <a:t>Cache</a:t>
            </a:r>
            <a:r>
              <a:rPr lang="zh-CN" altLang="en-US" sz="3600" dirty="0">
                <a:solidFill>
                  <a:srgbClr val="FF0000"/>
                </a:solidFill>
                <a:latin typeface="Arial" panose="02080604020202020204" pitchFamily="34" charset="0"/>
                <a:ea typeface="黑体" panose="02000500000000000000" pitchFamily="49" charset="-122"/>
              </a:rPr>
              <a:t>一致性问题</a:t>
            </a:r>
            <a:endParaRPr lang="zh-CN" altLang="en-US" sz="3200" b="1" dirty="0">
              <a:solidFill>
                <a:srgbClr val="FF0000"/>
              </a:solidFill>
              <a:latin typeface="Arial" panose="02080604020202020204" pitchFamily="34" charset="0"/>
              <a:ea typeface="黑体" panose="02000500000000000000" pitchFamily="49" charset="-122"/>
            </a:endParaRPr>
          </a:p>
        </p:txBody>
      </p:sp>
      <p:sp>
        <p:nvSpPr>
          <p:cNvPr id="38916" name="Rectangle 3"/>
          <p:cNvSpPr>
            <a:spLocks noChangeArrowheads="1"/>
          </p:cNvSpPr>
          <p:nvPr/>
        </p:nvSpPr>
        <p:spPr bwMode="auto">
          <a:xfrm>
            <a:off x="622935" y="1271905"/>
            <a:ext cx="9847580" cy="2409825"/>
          </a:xfrm>
          <a:prstGeom prst="rect">
            <a:avLst/>
          </a:prstGeom>
          <a:noFill/>
          <a:ln w="9525">
            <a:noFill/>
            <a:miter lim="800000"/>
          </a:ln>
        </p:spPr>
        <p:txBody>
          <a:bodyPr lIns="92075" tIns="46038" rIns="92075" bIns="46038"/>
          <a:lstStyle/>
          <a:p>
            <a:pPr marL="342900" marR="0" lvl="0" indent="-342900" algn="l" defTabSz="914400" rtl="0">
              <a:lnSpc>
                <a:spcPct val="150000"/>
              </a:lnSpc>
              <a:spcBef>
                <a:spcPts val="0"/>
              </a:spcBef>
              <a:spcAft>
                <a:spcPct val="0"/>
              </a:spcAft>
              <a:buClrTx/>
              <a:buSzTx/>
              <a:buFontTx/>
              <a:buChar char="•"/>
              <a:defRPr/>
            </a:pPr>
            <a:r>
              <a:rPr kumimoji="0" lang="en-US" altLang="zh-CN" sz="2000" b="1" i="0" u="none" strike="noStrike" kern="1200" cap="none" spc="0" normalizeH="0" baseline="0" noProof="0" dirty="0">
                <a:ln>
                  <a:noFill/>
                </a:ln>
                <a:solidFill>
                  <a:schemeClr val="tx1"/>
                </a:solidFill>
                <a:effectLst/>
                <a:uLnTx/>
                <a:uFillTx/>
                <a:latin typeface="+mn-ea"/>
                <a:ea typeface="+mn-ea"/>
                <a:cs typeface="+mn-cs"/>
              </a:rPr>
              <a:t>Cache</a:t>
            </a:r>
            <a:r>
              <a:rPr kumimoji="0" lang="zh-CN" altLang="zh-CN" sz="2000" b="1" i="0" u="none" strike="noStrike" kern="1200" cap="none" spc="0" normalizeH="0" baseline="0" noProof="0" dirty="0">
                <a:ln>
                  <a:noFill/>
                </a:ln>
                <a:solidFill>
                  <a:schemeClr val="tx1"/>
                </a:solidFill>
                <a:effectLst/>
                <a:uLnTx/>
                <a:uFillTx/>
                <a:latin typeface="+mn-ea"/>
                <a:ea typeface="+mn-ea"/>
                <a:cs typeface="+mn-cs"/>
              </a:rPr>
              <a:t>在共享存储系统中</a:t>
            </a:r>
            <a:r>
              <a:rPr kumimoji="0" lang="zh-CN" altLang="en-US" sz="2000" b="1" i="0" u="none" strike="noStrike" kern="1200" cap="none" spc="0" normalizeH="0" baseline="0" noProof="0" dirty="0">
                <a:ln>
                  <a:noFill/>
                </a:ln>
                <a:solidFill>
                  <a:schemeClr val="tx1"/>
                </a:solidFill>
                <a:effectLst/>
                <a:uLnTx/>
                <a:uFillTx/>
                <a:latin typeface="+mn-ea"/>
                <a:ea typeface="+mn-ea"/>
                <a:cs typeface="+mn-cs"/>
              </a:rPr>
              <a:t>的作用</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a:lnSpc>
                <a:spcPct val="150000"/>
              </a:lnSpc>
              <a:spcBef>
                <a:spcPts val="0"/>
              </a:spcBef>
              <a:spcAft>
                <a:spcPct val="0"/>
              </a:spcAft>
              <a:buClrTx/>
              <a:buSzTx/>
              <a:buFontTx/>
              <a:buChar char="•"/>
              <a:defRPr/>
            </a:pPr>
            <a:r>
              <a:rPr kumimoji="0" lang="zh-CN" altLang="en-US" sz="1600" b="1" i="0" u="none" strike="noStrike" kern="1200" cap="none" spc="0" normalizeH="0" baseline="0" noProof="0" dirty="0">
                <a:ln>
                  <a:noFill/>
                </a:ln>
                <a:solidFill>
                  <a:schemeClr val="tx1"/>
                </a:solidFill>
                <a:effectLst/>
                <a:uLnTx/>
                <a:uFillTx/>
                <a:latin typeface="+mn-ea"/>
                <a:ea typeface="+mn-ea"/>
                <a:cs typeface="+mn-cs"/>
              </a:rPr>
              <a:t>弥补</a:t>
            </a:r>
            <a:r>
              <a:rPr kumimoji="0" lang="en-US" altLang="zh-CN" sz="1600" b="1" i="0" u="none" strike="noStrike" kern="1200" cap="none" spc="0" normalizeH="0" baseline="0" noProof="0" dirty="0">
                <a:ln>
                  <a:noFill/>
                </a:ln>
                <a:solidFill>
                  <a:schemeClr val="tx1"/>
                </a:solidFill>
                <a:effectLst/>
                <a:uLnTx/>
                <a:uFillTx/>
                <a:latin typeface="+mn-ea"/>
                <a:ea typeface="+mn-ea"/>
                <a:cs typeface="+mn-cs"/>
              </a:rPr>
              <a:t>CPU</a:t>
            </a:r>
            <a:r>
              <a:rPr kumimoji="0" lang="zh-CN" altLang="en-US" sz="1600" b="1" i="0" u="none" strike="noStrike" kern="1200" cap="none" spc="0" normalizeH="0" baseline="0" noProof="0" dirty="0">
                <a:ln>
                  <a:noFill/>
                </a:ln>
                <a:solidFill>
                  <a:schemeClr val="tx1"/>
                </a:solidFill>
                <a:effectLst/>
                <a:uLnTx/>
                <a:uFillTx/>
                <a:latin typeface="+mn-ea"/>
                <a:ea typeface="+mn-ea"/>
                <a:cs typeface="+mn-cs"/>
              </a:rPr>
              <a:t>与主存间的速度差距</a:t>
            </a:r>
            <a:endParaRPr kumimoji="0" lang="zh-CN" altLang="en-US" sz="16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a:lnSpc>
                <a:spcPct val="150000"/>
              </a:lnSpc>
              <a:spcBef>
                <a:spcPts val="0"/>
              </a:spcBef>
              <a:spcAft>
                <a:spcPct val="0"/>
              </a:spcAft>
              <a:buClrTx/>
              <a:buSzTx/>
              <a:buFontTx/>
              <a:buChar char="•"/>
              <a:defRPr/>
            </a:pPr>
            <a:r>
              <a:rPr kumimoji="0" lang="zh-CN" altLang="en-US" sz="1600" b="1" i="0" u="none" strike="noStrike" kern="1200" cap="none" spc="0" normalizeH="0" baseline="0" noProof="0" dirty="0">
                <a:ln>
                  <a:noFill/>
                </a:ln>
                <a:solidFill>
                  <a:srgbClr val="FF0000"/>
                </a:solidFill>
                <a:effectLst/>
                <a:uLnTx/>
                <a:uFillTx/>
                <a:latin typeface="+mn-ea"/>
                <a:ea typeface="+mn-ea"/>
                <a:cs typeface="+mn-cs"/>
              </a:rPr>
              <a:t>减少访存冲突以及对互连网络带宽的需求</a:t>
            </a:r>
            <a:endParaRPr kumimoji="0" lang="zh-CN" altLang="en-US" sz="1600" b="1" i="0" u="none" strike="noStrike" kern="1200" cap="none" spc="0" normalizeH="0" baseline="0" noProof="0" dirty="0">
              <a:ln>
                <a:noFill/>
              </a:ln>
              <a:solidFill>
                <a:srgbClr val="FF0000"/>
              </a:solidFill>
              <a:effectLst/>
              <a:uLnTx/>
              <a:uFillTx/>
              <a:latin typeface="+mn-ea"/>
              <a:ea typeface="+mn-ea"/>
              <a:cs typeface="+mn-cs"/>
            </a:endParaRPr>
          </a:p>
          <a:p>
            <a:pPr marL="342900" marR="0" lvl="0" indent="-342900" algn="l" defTabSz="914400" rtl="0">
              <a:lnSpc>
                <a:spcPct val="150000"/>
              </a:lnSpc>
              <a:spcBef>
                <a:spcPts val="0"/>
              </a:spcBef>
              <a:spcAft>
                <a:spcPct val="0"/>
              </a:spcAft>
              <a:buClrTx/>
              <a:buSzTx/>
              <a:buFontTx/>
              <a:buChar char="•"/>
              <a:defRPr/>
            </a:pPr>
            <a:r>
              <a:rPr kumimoji="0" lang="en-US" altLang="zh-CN" sz="2000" b="1" i="0" u="none" strike="noStrike" kern="1200" cap="none" spc="0" normalizeH="0" baseline="0" noProof="0" dirty="0">
                <a:ln>
                  <a:noFill/>
                </a:ln>
                <a:solidFill>
                  <a:schemeClr val="tx1"/>
                </a:solidFill>
                <a:effectLst/>
                <a:uLnTx/>
                <a:uFillTx/>
                <a:latin typeface="+mn-ea"/>
                <a:ea typeface="+mn-ea"/>
                <a:cs typeface="+mn-cs"/>
              </a:rPr>
              <a:t>Cache</a:t>
            </a:r>
            <a:r>
              <a:rPr kumimoji="0" lang="zh-CN" altLang="en-US" sz="2000" b="1" i="0" u="none" strike="noStrike" kern="1200" cap="none" spc="0" normalizeH="0" baseline="0" noProof="0" dirty="0">
                <a:ln>
                  <a:noFill/>
                </a:ln>
                <a:solidFill>
                  <a:schemeClr val="tx1"/>
                </a:solidFill>
                <a:effectLst/>
                <a:uLnTx/>
                <a:uFillTx/>
                <a:latin typeface="+mn-ea"/>
                <a:ea typeface="+mn-ea"/>
                <a:cs typeface="+mn-cs"/>
              </a:rPr>
              <a:t>一致性问题</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a:lnSpc>
                <a:spcPct val="150000"/>
              </a:lnSpc>
              <a:spcBef>
                <a:spcPts val="0"/>
              </a:spcBef>
              <a:spcAft>
                <a:spcPct val="0"/>
              </a:spcAft>
              <a:buClrTx/>
              <a:buSzTx/>
              <a:buFontTx/>
              <a:buChar char="•"/>
              <a:defRPr/>
            </a:pPr>
            <a:r>
              <a:rPr kumimoji="0" lang="zh-CN" altLang="en-US" sz="1600" b="1" i="0" u="none" strike="noStrike" kern="1200" cap="none" spc="0" normalizeH="0" baseline="0" noProof="0" dirty="0">
                <a:ln>
                  <a:noFill/>
                </a:ln>
                <a:solidFill>
                  <a:schemeClr val="accent2"/>
                </a:solidFill>
                <a:effectLst/>
                <a:uLnTx/>
                <a:uFillTx/>
                <a:latin typeface="+mn-ea"/>
                <a:ea typeface="+mn-ea"/>
                <a:cs typeface="+mn-cs"/>
              </a:rPr>
              <a:t>如何保持数据在</a:t>
            </a:r>
            <a:r>
              <a:rPr kumimoji="0" lang="en-US" altLang="zh-CN" sz="1600" b="1" i="0" u="none" strike="noStrike" kern="1200" cap="none" spc="0" normalizeH="0" baseline="0" noProof="0" dirty="0">
                <a:ln>
                  <a:noFill/>
                </a:ln>
                <a:solidFill>
                  <a:schemeClr val="accent2"/>
                </a:solidFill>
                <a:effectLst/>
                <a:uLnTx/>
                <a:uFillTx/>
                <a:latin typeface="+mn-ea"/>
                <a:ea typeface="+mn-ea"/>
                <a:cs typeface="+mn-cs"/>
              </a:rPr>
              <a:t>Cache</a:t>
            </a:r>
            <a:r>
              <a:rPr kumimoji="0" lang="zh-CN" altLang="en-US" sz="1600" b="1" i="0" u="none" strike="noStrike" kern="1200" cap="none" spc="0" normalizeH="0" baseline="0" noProof="0" dirty="0">
                <a:ln>
                  <a:noFill/>
                </a:ln>
                <a:solidFill>
                  <a:schemeClr val="accent2"/>
                </a:solidFill>
                <a:effectLst/>
                <a:uLnTx/>
                <a:uFillTx/>
                <a:latin typeface="+mn-ea"/>
                <a:ea typeface="+mn-ea"/>
                <a:cs typeface="+mn-cs"/>
              </a:rPr>
              <a:t>及主存中的多个备份的一致性</a:t>
            </a:r>
            <a:endParaRPr kumimoji="0" lang="zh-CN" altLang="en-US" sz="1600" b="1" i="0" u="none" strike="noStrike" kern="1200" cap="none" spc="0" normalizeH="0" baseline="0" noProof="0" dirty="0">
              <a:ln>
                <a:noFill/>
              </a:ln>
              <a:solidFill>
                <a:schemeClr val="accent2"/>
              </a:solidFill>
              <a:effectLst/>
              <a:uLnTx/>
              <a:uFillTx/>
              <a:latin typeface="+mn-ea"/>
              <a:ea typeface="+mn-ea"/>
              <a:cs typeface="+mn-cs"/>
            </a:endParaRPr>
          </a:p>
        </p:txBody>
      </p:sp>
      <p:grpSp>
        <p:nvGrpSpPr>
          <p:cNvPr id="41989" name="Group 4"/>
          <p:cNvGrpSpPr/>
          <p:nvPr/>
        </p:nvGrpSpPr>
        <p:grpSpPr>
          <a:xfrm>
            <a:off x="1781175" y="4679950"/>
            <a:ext cx="8366125" cy="1724025"/>
            <a:chOff x="720" y="2496"/>
            <a:chExt cx="4282" cy="1086"/>
          </a:xfrm>
        </p:grpSpPr>
        <p:grpSp>
          <p:nvGrpSpPr>
            <p:cNvPr id="41990" name="Group 5"/>
            <p:cNvGrpSpPr/>
            <p:nvPr/>
          </p:nvGrpSpPr>
          <p:grpSpPr>
            <a:xfrm>
              <a:off x="720" y="2496"/>
              <a:ext cx="1183" cy="528"/>
              <a:chOff x="240" y="2496"/>
              <a:chExt cx="1183" cy="528"/>
            </a:xfrm>
          </p:grpSpPr>
          <p:sp>
            <p:nvSpPr>
              <p:cNvPr id="42000" name="Rectangle 6"/>
              <p:cNvSpPr/>
              <p:nvPr/>
            </p:nvSpPr>
            <p:spPr>
              <a:xfrm>
                <a:off x="240" y="2496"/>
                <a:ext cx="1136" cy="528"/>
              </a:xfrm>
              <a:prstGeom prst="rect">
                <a:avLst/>
              </a:prstGeom>
              <a:no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宋体" panose="02000500000000000000" pitchFamily="2" charset="-122"/>
                </a:endParaRPr>
              </a:p>
            </p:txBody>
          </p:sp>
          <p:sp>
            <p:nvSpPr>
              <p:cNvPr id="42001" name="Rectangle 7"/>
              <p:cNvSpPr/>
              <p:nvPr/>
            </p:nvSpPr>
            <p:spPr>
              <a:xfrm>
                <a:off x="289" y="2544"/>
                <a:ext cx="1134" cy="452"/>
              </a:xfrm>
              <a:prstGeom prst="rect">
                <a:avLst/>
              </a:prstGeom>
              <a:noFill/>
              <a:ln w="9525">
                <a:noFill/>
              </a:ln>
            </p:spPr>
            <p:txBody>
              <a:bodyPr lIns="92075" tIns="46038" rIns="92075" bIns="46038">
                <a:spAutoFit/>
              </a:bodyPr>
              <a:lstStyle/>
              <a:p>
                <a:pPr eaLnBrk="0" hangingPunct="0">
                  <a:lnSpc>
                    <a:spcPct val="60000"/>
                  </a:lnSpc>
                  <a:spcBef>
                    <a:spcPct val="50000"/>
                  </a:spcBef>
                </a:pPr>
                <a:r>
                  <a:rPr lang="en-US" altLang="zh-CN" sz="2400" b="1" dirty="0">
                    <a:latin typeface="宋体" panose="02000500000000000000" pitchFamily="2" charset="-122"/>
                  </a:rPr>
                  <a:t>1: x = 1;</a:t>
                </a:r>
                <a:endParaRPr lang="en-US" altLang="zh-CN" sz="2400" b="1" dirty="0">
                  <a:latin typeface="宋体" panose="02000500000000000000" pitchFamily="2" charset="-122"/>
                </a:endParaRPr>
              </a:p>
              <a:p>
                <a:pPr eaLnBrk="0" hangingPunct="0">
                  <a:lnSpc>
                    <a:spcPct val="60000"/>
                  </a:lnSpc>
                  <a:spcBef>
                    <a:spcPct val="50000"/>
                  </a:spcBef>
                </a:pPr>
                <a:r>
                  <a:rPr lang="en-US" altLang="zh-CN" sz="2400" b="1" dirty="0">
                    <a:latin typeface="宋体" panose="02000500000000000000" pitchFamily="2" charset="-122"/>
                  </a:rPr>
                  <a:t>4: if (x==1)</a:t>
                </a:r>
                <a:endParaRPr lang="en-US" altLang="zh-CN" sz="2400" b="1" dirty="0">
                  <a:latin typeface="宋体" panose="02000500000000000000" pitchFamily="2" charset="-122"/>
                </a:endParaRPr>
              </a:p>
            </p:txBody>
          </p:sp>
        </p:grpSp>
        <p:grpSp>
          <p:nvGrpSpPr>
            <p:cNvPr id="41991" name="Group 8"/>
            <p:cNvGrpSpPr/>
            <p:nvPr/>
          </p:nvGrpSpPr>
          <p:grpSpPr>
            <a:xfrm>
              <a:off x="2256" y="2496"/>
              <a:ext cx="1182" cy="524"/>
              <a:chOff x="2256" y="2544"/>
              <a:chExt cx="1182" cy="524"/>
            </a:xfrm>
          </p:grpSpPr>
          <p:sp>
            <p:nvSpPr>
              <p:cNvPr id="41998" name="Rectangle 9"/>
              <p:cNvSpPr/>
              <p:nvPr/>
            </p:nvSpPr>
            <p:spPr>
              <a:xfrm>
                <a:off x="2256" y="2544"/>
                <a:ext cx="1136" cy="524"/>
              </a:xfrm>
              <a:prstGeom prst="rect">
                <a:avLst/>
              </a:prstGeom>
              <a:no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宋体" panose="02000500000000000000" pitchFamily="2" charset="-122"/>
                </a:endParaRPr>
              </a:p>
            </p:txBody>
          </p:sp>
          <p:sp>
            <p:nvSpPr>
              <p:cNvPr id="41999" name="Rectangle 10"/>
              <p:cNvSpPr/>
              <p:nvPr/>
            </p:nvSpPr>
            <p:spPr>
              <a:xfrm>
                <a:off x="2304" y="2592"/>
                <a:ext cx="1134" cy="452"/>
              </a:xfrm>
              <a:prstGeom prst="rect">
                <a:avLst/>
              </a:prstGeom>
              <a:noFill/>
              <a:ln w="9525">
                <a:noFill/>
              </a:ln>
            </p:spPr>
            <p:txBody>
              <a:bodyPr lIns="92075" tIns="46038" rIns="92075" bIns="46038">
                <a:spAutoFit/>
              </a:bodyPr>
              <a:lstStyle/>
              <a:p>
                <a:pPr eaLnBrk="0" hangingPunct="0">
                  <a:lnSpc>
                    <a:spcPct val="60000"/>
                  </a:lnSpc>
                  <a:spcBef>
                    <a:spcPct val="50000"/>
                  </a:spcBef>
                </a:pPr>
                <a:r>
                  <a:rPr lang="en-US" altLang="zh-CN" sz="2400" b="1" dirty="0">
                    <a:latin typeface="宋体" panose="02000500000000000000" pitchFamily="2" charset="-122"/>
                  </a:rPr>
                  <a:t>2: x = 2;</a:t>
                </a:r>
                <a:endParaRPr lang="en-US" altLang="zh-CN" sz="2400" b="1" dirty="0">
                  <a:latin typeface="宋体" panose="02000500000000000000" pitchFamily="2" charset="-122"/>
                </a:endParaRPr>
              </a:p>
              <a:p>
                <a:pPr eaLnBrk="0" hangingPunct="0">
                  <a:lnSpc>
                    <a:spcPct val="60000"/>
                  </a:lnSpc>
                  <a:spcBef>
                    <a:spcPct val="50000"/>
                  </a:spcBef>
                </a:pPr>
                <a:r>
                  <a:rPr lang="en-US" altLang="zh-CN" sz="2400" b="1" dirty="0">
                    <a:latin typeface="宋体" panose="02000500000000000000" pitchFamily="2" charset="-122"/>
                  </a:rPr>
                  <a:t>5: if (x==2)</a:t>
                </a:r>
                <a:endParaRPr lang="en-US" altLang="zh-CN" sz="2400" b="1" dirty="0">
                  <a:latin typeface="宋体" panose="02000500000000000000" pitchFamily="2" charset="-122"/>
                </a:endParaRPr>
              </a:p>
            </p:txBody>
          </p:sp>
        </p:grpSp>
        <p:grpSp>
          <p:nvGrpSpPr>
            <p:cNvPr id="41992" name="Group 11"/>
            <p:cNvGrpSpPr/>
            <p:nvPr/>
          </p:nvGrpSpPr>
          <p:grpSpPr>
            <a:xfrm>
              <a:off x="3840" y="2496"/>
              <a:ext cx="1162" cy="528"/>
              <a:chOff x="4292" y="2548"/>
              <a:chExt cx="1162" cy="524"/>
            </a:xfrm>
          </p:grpSpPr>
          <p:sp>
            <p:nvSpPr>
              <p:cNvPr id="41996" name="Rectangle 12"/>
              <p:cNvSpPr/>
              <p:nvPr/>
            </p:nvSpPr>
            <p:spPr>
              <a:xfrm>
                <a:off x="4292" y="2548"/>
                <a:ext cx="1136" cy="524"/>
              </a:xfrm>
              <a:prstGeom prst="rect">
                <a:avLst/>
              </a:prstGeom>
              <a:no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宋体" panose="02000500000000000000" pitchFamily="2" charset="-122"/>
                </a:endParaRPr>
              </a:p>
            </p:txBody>
          </p:sp>
          <p:sp>
            <p:nvSpPr>
              <p:cNvPr id="41997" name="Rectangle 13"/>
              <p:cNvSpPr/>
              <p:nvPr/>
            </p:nvSpPr>
            <p:spPr>
              <a:xfrm>
                <a:off x="4320" y="2592"/>
                <a:ext cx="1134" cy="449"/>
              </a:xfrm>
              <a:prstGeom prst="rect">
                <a:avLst/>
              </a:prstGeom>
              <a:noFill/>
              <a:ln w="9525">
                <a:noFill/>
              </a:ln>
            </p:spPr>
            <p:txBody>
              <a:bodyPr lIns="92075" tIns="46038" rIns="92075" bIns="46038">
                <a:spAutoFit/>
              </a:bodyPr>
              <a:lstStyle/>
              <a:p>
                <a:pPr eaLnBrk="0" hangingPunct="0">
                  <a:lnSpc>
                    <a:spcPct val="60000"/>
                  </a:lnSpc>
                  <a:spcBef>
                    <a:spcPct val="50000"/>
                  </a:spcBef>
                </a:pPr>
                <a:r>
                  <a:rPr lang="en-US" altLang="zh-CN" sz="2400" b="1" dirty="0">
                    <a:latin typeface="宋体" panose="02000500000000000000" pitchFamily="2" charset="-122"/>
                  </a:rPr>
                  <a:t>3: x = 3;</a:t>
                </a:r>
                <a:endParaRPr lang="en-US" altLang="zh-CN" sz="2400" b="1" dirty="0">
                  <a:latin typeface="宋体" panose="02000500000000000000" pitchFamily="2" charset="-122"/>
                </a:endParaRPr>
              </a:p>
              <a:p>
                <a:pPr eaLnBrk="0" hangingPunct="0">
                  <a:lnSpc>
                    <a:spcPct val="60000"/>
                  </a:lnSpc>
                  <a:spcBef>
                    <a:spcPct val="50000"/>
                  </a:spcBef>
                </a:pPr>
                <a:r>
                  <a:rPr lang="en-US" altLang="zh-CN" sz="2400" b="1" dirty="0">
                    <a:latin typeface="宋体" panose="02000500000000000000" pitchFamily="2" charset="-122"/>
                  </a:rPr>
                  <a:t>6: if (x==3)</a:t>
                </a:r>
                <a:endParaRPr lang="en-US" altLang="zh-CN" sz="2400" b="1" dirty="0">
                  <a:latin typeface="宋体" panose="02000500000000000000" pitchFamily="2" charset="-122"/>
                </a:endParaRPr>
              </a:p>
            </p:txBody>
          </p:sp>
        </p:grpSp>
        <p:grpSp>
          <p:nvGrpSpPr>
            <p:cNvPr id="41993" name="Group 14"/>
            <p:cNvGrpSpPr/>
            <p:nvPr/>
          </p:nvGrpSpPr>
          <p:grpSpPr>
            <a:xfrm>
              <a:off x="720" y="3216"/>
              <a:ext cx="4272" cy="366"/>
              <a:chOff x="720" y="3312"/>
              <a:chExt cx="4272" cy="366"/>
            </a:xfrm>
          </p:grpSpPr>
          <p:sp>
            <p:nvSpPr>
              <p:cNvPr id="41994" name="Rectangle 15"/>
              <p:cNvSpPr/>
              <p:nvPr/>
            </p:nvSpPr>
            <p:spPr>
              <a:xfrm>
                <a:off x="720" y="3312"/>
                <a:ext cx="4272" cy="366"/>
              </a:xfrm>
              <a:prstGeom prst="rect">
                <a:avLst/>
              </a:prstGeom>
              <a:no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宋体" panose="02000500000000000000" pitchFamily="2" charset="-122"/>
                </a:endParaRPr>
              </a:p>
            </p:txBody>
          </p:sp>
          <p:sp>
            <p:nvSpPr>
              <p:cNvPr id="41995" name="Rectangle 16"/>
              <p:cNvSpPr/>
              <p:nvPr/>
            </p:nvSpPr>
            <p:spPr>
              <a:xfrm>
                <a:off x="1008" y="3354"/>
                <a:ext cx="3792" cy="291"/>
              </a:xfrm>
              <a:prstGeom prst="rect">
                <a:avLst/>
              </a:prstGeom>
              <a:noFill/>
              <a:ln w="9525">
                <a:noFill/>
              </a:ln>
            </p:spPr>
            <p:txBody>
              <a:bodyPr lIns="92075" tIns="46038" rIns="92075" bIns="46038">
                <a:spAutoFit/>
              </a:bodyPr>
              <a:lstStyle/>
              <a:p>
                <a:pPr eaLnBrk="0" hangingPunct="0">
                  <a:spcBef>
                    <a:spcPct val="50000"/>
                  </a:spcBef>
                </a:pPr>
                <a:r>
                  <a:rPr lang="zh-CN" altLang="en-US" sz="2400" b="1" dirty="0">
                    <a:latin typeface="宋体" panose="02000500000000000000" pitchFamily="2" charset="-122"/>
                    <a:cs typeface="宋体" panose="02000500000000000000" pitchFamily="2" charset="-122"/>
                  </a:rPr>
                  <a:t>存储器            </a:t>
                </a:r>
                <a:r>
                  <a:rPr lang="en-US" altLang="zh-CN" sz="2400" b="1" dirty="0">
                    <a:latin typeface="宋体" panose="02000500000000000000" pitchFamily="2" charset="-122"/>
                    <a:cs typeface="宋体" panose="02000500000000000000" pitchFamily="2" charset="-122"/>
                  </a:rPr>
                  <a:t>0: x = 0             7: x==?</a:t>
                </a:r>
                <a:endParaRPr lang="en-US" altLang="zh-CN" sz="2400" b="1" dirty="0">
                  <a:latin typeface="宋体" panose="02000500000000000000" pitchFamily="2" charset="-122"/>
                  <a:cs typeface="宋体" panose="02000500000000000000" pitchFamily="2" charset="-122"/>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3011" name="Rectangle 2"/>
          <p:cNvSpPr/>
          <p:nvPr/>
        </p:nvSpPr>
        <p:spPr>
          <a:xfrm>
            <a:off x="1044575" y="0"/>
            <a:ext cx="9937750" cy="981075"/>
          </a:xfrm>
          <a:prstGeom prst="rect">
            <a:avLst/>
          </a:prstGeom>
          <a:noFill/>
          <a:ln w="9525">
            <a:noFill/>
          </a:ln>
        </p:spPr>
        <p:txBody>
          <a:bodyPr lIns="92075" tIns="46038" rIns="92075" bIns="46038" anchor="ctr" anchorCtr="0"/>
          <a:lstStyle/>
          <a:p>
            <a:pPr algn="ctr"/>
            <a:r>
              <a:rPr lang="en-US" altLang="zh-CN" sz="3600" dirty="0">
                <a:solidFill>
                  <a:srgbClr val="FF0000"/>
                </a:solidFill>
                <a:latin typeface="Arial" panose="02080604020202020204" pitchFamily="34" charset="0"/>
                <a:ea typeface="黑体" panose="02000500000000000000" pitchFamily="49" charset="-122"/>
              </a:rPr>
              <a:t>Cache</a:t>
            </a:r>
            <a:r>
              <a:rPr lang="zh-CN" altLang="en-US" sz="3600" dirty="0">
                <a:solidFill>
                  <a:srgbClr val="FF0000"/>
                </a:solidFill>
                <a:latin typeface="Arial" panose="02080604020202020204" pitchFamily="34" charset="0"/>
                <a:ea typeface="黑体" panose="02000500000000000000" pitchFamily="49" charset="-122"/>
              </a:rPr>
              <a:t>一致性协议</a:t>
            </a:r>
            <a:endParaRPr lang="zh-CN" altLang="en-US" sz="3200" b="1" dirty="0">
              <a:solidFill>
                <a:srgbClr val="FF0000"/>
              </a:solidFill>
              <a:latin typeface="Arial" panose="02080604020202020204" pitchFamily="34" charset="0"/>
              <a:ea typeface="黑体" panose="02000500000000000000" pitchFamily="49" charset="-122"/>
            </a:endParaRPr>
          </a:p>
        </p:txBody>
      </p:sp>
      <p:sp>
        <p:nvSpPr>
          <p:cNvPr id="39940" name="Rectangle 3"/>
          <p:cNvSpPr>
            <a:spLocks noChangeArrowheads="1"/>
          </p:cNvSpPr>
          <p:nvPr/>
        </p:nvSpPr>
        <p:spPr bwMode="auto">
          <a:xfrm>
            <a:off x="471488" y="1412875"/>
            <a:ext cx="11295063" cy="4149725"/>
          </a:xfrm>
          <a:prstGeom prst="rect">
            <a:avLst/>
          </a:prstGeom>
          <a:noFill/>
          <a:ln w="9525">
            <a:noFill/>
            <a:miter lim="800000"/>
          </a:ln>
        </p:spPr>
        <p:txBody>
          <a:bodyPr lIns="92075" tIns="46038" rIns="92075" bIns="46038"/>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en-US" altLang="zh-CN" sz="2000" b="1" i="0" u="none" strike="noStrike" kern="1200" cap="none" spc="0" normalizeH="0" baseline="0" noProof="0" dirty="0">
                <a:ln>
                  <a:noFill/>
                </a:ln>
                <a:solidFill>
                  <a:schemeClr val="tx1"/>
                </a:solidFill>
                <a:effectLst/>
                <a:uLnTx/>
                <a:uFillTx/>
                <a:latin typeface="+mn-ea"/>
                <a:ea typeface="+mn-ea"/>
                <a:cs typeface="+mn-cs"/>
              </a:rPr>
              <a:t>Cache</a:t>
            </a:r>
            <a:r>
              <a:rPr kumimoji="0" lang="zh-CN" altLang="en-US" sz="2000" b="1" i="0" u="none" strike="noStrike" kern="1200" cap="none" spc="0" normalizeH="0" baseline="0" noProof="0" dirty="0">
                <a:ln>
                  <a:noFill/>
                </a:ln>
                <a:solidFill>
                  <a:schemeClr val="tx1"/>
                </a:solidFill>
                <a:effectLst/>
                <a:uLnTx/>
                <a:uFillTx/>
                <a:latin typeface="+mn-ea"/>
                <a:ea typeface="+mn-ea"/>
                <a:cs typeface="+mn-cs"/>
              </a:rPr>
              <a:t>一致性协议（</a:t>
            </a:r>
            <a:r>
              <a:rPr kumimoji="0" lang="en-US" altLang="zh-CN" sz="2000" b="1" i="0" u="none" strike="noStrike" kern="1200" cap="none" spc="0" normalizeH="0" baseline="0" noProof="0" dirty="0">
                <a:ln>
                  <a:noFill/>
                </a:ln>
                <a:solidFill>
                  <a:schemeClr val="tx1"/>
                </a:solidFill>
                <a:effectLst/>
                <a:uLnTx/>
                <a:uFillTx/>
                <a:latin typeface="+mn-ea"/>
                <a:ea typeface="+mn-ea"/>
                <a:cs typeface="+mn-cs"/>
              </a:rPr>
              <a:t>Cache Coherence Protocol</a:t>
            </a:r>
            <a:r>
              <a:rPr kumimoji="0" lang="zh-CN" altLang="en-US" sz="2000" b="1" i="0" u="none" strike="noStrike" kern="1200" cap="none" spc="0" normalizeH="0" baseline="0" noProof="0" dirty="0">
                <a:ln>
                  <a:noFill/>
                </a:ln>
                <a:solidFill>
                  <a:schemeClr val="tx1"/>
                </a:solidFill>
                <a:effectLst/>
                <a:uLnTx/>
                <a:uFillTx/>
                <a:latin typeface="+mn-ea"/>
                <a:ea typeface="+mn-ea"/>
                <a:cs typeface="+mn-cs"/>
              </a:rPr>
              <a:t>）：一种把新写的值传播到其他处理机的机制</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如何传播新值：</a:t>
            </a:r>
            <a:r>
              <a:rPr kumimoji="0" lang="en-US" altLang="zh-CN" sz="1800" b="0" i="0" u="none" strike="noStrike" kern="1200" cap="none" spc="0" normalizeH="0" baseline="0" noProof="0" dirty="0">
                <a:ln>
                  <a:noFill/>
                </a:ln>
                <a:solidFill>
                  <a:schemeClr val="tx1"/>
                </a:solidFill>
                <a:effectLst/>
                <a:uLnTx/>
                <a:uFillTx/>
                <a:latin typeface="+mn-ea"/>
                <a:ea typeface="+mn-ea"/>
                <a:cs typeface="+mn-cs"/>
              </a:rPr>
              <a:t>Write Invalidate vs. Write Update</a:t>
            </a:r>
            <a:endParaRPr kumimoji="0" lang="en-US" altLang="zh-CN" sz="1800" b="0"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谁可以产生新值：</a:t>
            </a:r>
            <a:r>
              <a:rPr kumimoji="0" lang="en-US" altLang="zh-CN" sz="1800" b="0" i="0" u="none" strike="noStrike" kern="1200" cap="none" spc="0" normalizeH="0" baseline="0" noProof="0" dirty="0">
                <a:ln>
                  <a:noFill/>
                </a:ln>
                <a:solidFill>
                  <a:schemeClr val="tx1"/>
                </a:solidFill>
                <a:effectLst/>
                <a:uLnTx/>
                <a:uFillTx/>
                <a:latin typeface="+mn-ea"/>
                <a:ea typeface="+mn-ea"/>
                <a:cs typeface="+mn-cs"/>
              </a:rPr>
              <a:t>Single Writer vs. Multiple Writer</a:t>
            </a:r>
            <a:endParaRPr kumimoji="0" lang="en-US" altLang="zh-CN" sz="1800" b="0"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何时开始传播新值：</a:t>
            </a:r>
            <a:r>
              <a:rPr kumimoji="0" lang="en-US" altLang="zh-CN" sz="1800" b="0" i="0" u="none" strike="noStrike" kern="1200" cap="none" spc="0" normalizeH="0" baseline="0" noProof="0" dirty="0">
                <a:ln>
                  <a:noFill/>
                </a:ln>
                <a:solidFill>
                  <a:schemeClr val="tx1"/>
                </a:solidFill>
                <a:effectLst/>
                <a:uLnTx/>
                <a:uFillTx/>
                <a:latin typeface="+mn-ea"/>
                <a:ea typeface="+mn-ea"/>
                <a:cs typeface="+mn-cs"/>
              </a:rPr>
              <a:t>Early vs. Delayed Propagation</a:t>
            </a:r>
            <a:endParaRPr kumimoji="0" lang="en-US" altLang="zh-CN" sz="1800" b="0"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向何处传播新值：</a:t>
            </a:r>
            <a:r>
              <a:rPr kumimoji="0" lang="en-US" altLang="zh-CN" sz="1800" b="0" i="0" u="none" strike="noStrike" kern="1200" cap="none" spc="0" normalizeH="0" baseline="0" noProof="0" dirty="0">
                <a:ln>
                  <a:noFill/>
                </a:ln>
                <a:solidFill>
                  <a:schemeClr val="tx1"/>
                </a:solidFill>
                <a:effectLst/>
                <a:uLnTx/>
                <a:uFillTx/>
                <a:latin typeface="+mn-ea"/>
                <a:ea typeface="+mn-ea"/>
                <a:cs typeface="+mn-cs"/>
              </a:rPr>
              <a:t>Snoopy  vs. Directory Protocol </a:t>
            </a:r>
            <a:endParaRPr kumimoji="0" lang="en-US" altLang="zh-CN" sz="1800" b="0"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en-US" altLang="zh-CN" sz="2000" b="1" i="0" u="none" strike="noStrike" kern="1200" cap="none" spc="0" normalizeH="0" baseline="0" noProof="0" dirty="0">
                <a:ln>
                  <a:noFill/>
                </a:ln>
                <a:solidFill>
                  <a:schemeClr val="tx1"/>
                </a:solidFill>
                <a:effectLst/>
                <a:uLnTx/>
                <a:uFillTx/>
                <a:latin typeface="+mn-ea"/>
                <a:ea typeface="+mn-ea"/>
                <a:cs typeface="+mn-cs"/>
              </a:rPr>
              <a:t>Cache</a:t>
            </a:r>
            <a:r>
              <a:rPr kumimoji="0" lang="zh-CN" altLang="en-US" sz="2000" b="1" i="0" u="none" strike="noStrike" kern="1200" cap="none" spc="0" normalizeH="0" baseline="0" noProof="0" dirty="0">
                <a:ln>
                  <a:noFill/>
                </a:ln>
                <a:solidFill>
                  <a:schemeClr val="tx1"/>
                </a:solidFill>
                <a:effectLst/>
                <a:uLnTx/>
                <a:uFillTx/>
                <a:latin typeface="+mn-ea"/>
                <a:ea typeface="+mn-ea"/>
                <a:cs typeface="+mn-cs"/>
              </a:rPr>
              <a:t>一致性协议决定系统为维护一致性所做的具体动作，因而直接影响系统性能</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4035" name="Rectangle 2"/>
          <p:cNvSpPr>
            <a:spLocks noGrp="1"/>
          </p:cNvSpPr>
          <p:nvPr>
            <p:ph type="title"/>
          </p:nvPr>
        </p:nvSpPr>
        <p:spPr>
          <a:xfrm>
            <a:off x="688975" y="0"/>
            <a:ext cx="10972800" cy="1052513"/>
          </a:xfrm>
        </p:spPr>
        <p:txBody>
          <a:bodyPr vert="horz" wrap="square" lIns="91440" tIns="45720" rIns="91440" bIns="45720" anchor="ctr" anchorCtr="0"/>
          <a:lstStyle/>
          <a:p>
            <a:pPr eaLnBrk="1" hangingPunct="1"/>
            <a:r>
              <a:rPr lang="en-US" altLang="zh-CN" dirty="0"/>
              <a:t>Write-Invalidate</a:t>
            </a:r>
            <a:r>
              <a:rPr lang="zh-CN" altLang="en-US" dirty="0"/>
              <a:t>和</a:t>
            </a:r>
            <a:r>
              <a:rPr lang="en-US" altLang="zh-CN" dirty="0"/>
              <a:t>Write Update</a:t>
            </a:r>
            <a:endParaRPr lang="en-US" altLang="zh-CN" dirty="0"/>
          </a:p>
        </p:txBody>
      </p:sp>
      <p:sp>
        <p:nvSpPr>
          <p:cNvPr id="40964" name="Rectangle 3"/>
          <p:cNvSpPr>
            <a:spLocks noGrp="1" noChangeArrowheads="1"/>
          </p:cNvSpPr>
          <p:nvPr>
            <p:ph idx="1"/>
          </p:nvPr>
        </p:nvSpPr>
        <p:spPr>
          <a:xfrm>
            <a:off x="336550" y="1412875"/>
            <a:ext cx="11607800" cy="4911725"/>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Write-Invalidate</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当一个处理机更新某共享单位（如存储行或存储页）时（之前或之后），通过某种机制使该共享单位的其它备份无效，当其它处理机访问该共享单位时，访问失效，再取得有效备份</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Write-Update</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当一个当一个处理机更新某共享单位时，把更新的内容传播给所有拥有该共享单位备份的处理机</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比较</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Write Update: </a:t>
            </a:r>
            <a:r>
              <a:rPr kumimoji="0" lang="zh-CN" altLang="en-US" sz="1800" b="1" i="0" u="none" strike="noStrike" kern="0" cap="none" spc="0" normalizeH="0" baseline="0" noProof="0" dirty="0" smtClean="0">
                <a:ln>
                  <a:noFill/>
                </a:ln>
                <a:solidFill>
                  <a:schemeClr val="tx1"/>
                </a:solidFill>
                <a:effectLst/>
                <a:uLnTx/>
                <a:uFillTx/>
                <a:latin typeface="+mn-ea"/>
                <a:ea typeface="+mn-ea"/>
              </a:rPr>
              <a:t>重复更新已不再使用的行</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Write Invalidate: </a:t>
            </a:r>
            <a:r>
              <a:rPr kumimoji="0" lang="zh-CN" altLang="en-US" sz="1800" b="1" i="0" u="none" strike="noStrike" kern="0" cap="none" spc="0" normalizeH="0" baseline="0" noProof="0" dirty="0" smtClean="0">
                <a:ln>
                  <a:noFill/>
                </a:ln>
                <a:solidFill>
                  <a:schemeClr val="tx1"/>
                </a:solidFill>
                <a:effectLst/>
                <a:uLnTx/>
                <a:uFillTx/>
                <a:latin typeface="+mn-ea"/>
                <a:ea typeface="+mn-ea"/>
              </a:rPr>
              <a:t>假共享导致乒乓问题</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5059" name="Rectangle 2"/>
          <p:cNvSpPr>
            <a:spLocks noGrp="1"/>
          </p:cNvSpPr>
          <p:nvPr>
            <p:ph type="title"/>
          </p:nvPr>
        </p:nvSpPr>
        <p:spPr>
          <a:xfrm>
            <a:off x="688975" y="0"/>
            <a:ext cx="10972800" cy="908050"/>
          </a:xfrm>
        </p:spPr>
        <p:txBody>
          <a:bodyPr vert="horz" wrap="square" lIns="91440" tIns="45720" rIns="91440" bIns="45720" anchor="ctr" anchorCtr="0"/>
          <a:lstStyle/>
          <a:p>
            <a:pPr eaLnBrk="1" hangingPunct="1"/>
            <a:r>
              <a:rPr lang="zh-CN" altLang="en-US" dirty="0"/>
              <a:t>单写和多写</a:t>
            </a:r>
            <a:endParaRPr lang="zh-CN" altLang="en-US" dirty="0"/>
          </a:p>
        </p:txBody>
      </p:sp>
      <p:sp>
        <p:nvSpPr>
          <p:cNvPr id="45060" name="Rectangle 3"/>
          <p:cNvSpPr>
            <a:spLocks noGrp="1"/>
          </p:cNvSpPr>
          <p:nvPr>
            <p:ph idx="1"/>
          </p:nvPr>
        </p:nvSpPr>
        <p:spPr>
          <a:xfrm>
            <a:off x="561975" y="1196975"/>
            <a:ext cx="10333038" cy="1165225"/>
          </a:xfrm>
        </p:spPr>
        <p:txBody>
          <a:bodyPr vert="horz" wrap="square" lIns="91440" tIns="45720" rIns="91440" bIns="45720" anchor="t" anchorCtr="0"/>
          <a:lstStyle/>
          <a:p>
            <a:pPr eaLnBrk="1" hangingPunct="1"/>
            <a:r>
              <a:rPr lang="zh-CN" altLang="en-US" dirty="0"/>
              <a:t>单写：任一时刻只有一个处理机能写某共享单位</a:t>
            </a:r>
            <a:endParaRPr lang="zh-CN" altLang="en-US" dirty="0"/>
          </a:p>
          <a:p>
            <a:pPr eaLnBrk="1" hangingPunct="1"/>
            <a:r>
              <a:rPr lang="zh-CN" altLang="en-US" dirty="0"/>
              <a:t>多写：多个处理机同时写某共享单位的不同部分</a:t>
            </a:r>
            <a:endParaRPr lang="zh-CN" altLang="en-US" dirty="0"/>
          </a:p>
        </p:txBody>
      </p:sp>
      <p:grpSp>
        <p:nvGrpSpPr>
          <p:cNvPr id="45061" name="Group 4"/>
          <p:cNvGrpSpPr/>
          <p:nvPr/>
        </p:nvGrpSpPr>
        <p:grpSpPr>
          <a:xfrm>
            <a:off x="1689100" y="2667000"/>
            <a:ext cx="8156575" cy="3886200"/>
            <a:chOff x="960" y="1632"/>
            <a:chExt cx="4176" cy="2448"/>
          </a:xfrm>
        </p:grpSpPr>
        <p:sp>
          <p:nvSpPr>
            <p:cNvPr id="45062" name="Rectangle 5"/>
            <p:cNvSpPr/>
            <p:nvPr/>
          </p:nvSpPr>
          <p:spPr>
            <a:xfrm>
              <a:off x="960" y="1632"/>
              <a:ext cx="4176" cy="2448"/>
            </a:xfrm>
            <a:prstGeom prst="rect">
              <a:avLst/>
            </a:prstGeom>
            <a:solidFill>
              <a:srgbClr val="F8F8F8"/>
            </a:solidFill>
            <a:ln w="12700" cap="flat" cmpd="sng">
              <a:solidFill>
                <a:schemeClr val="tx1"/>
              </a:solidFill>
              <a:prstDash val="solid"/>
              <a:miter/>
              <a:headEnd type="none" w="sm" len="sm"/>
              <a:tailEnd type="none" w="sm" len="sm"/>
            </a:ln>
          </p:spPr>
          <p:txBody>
            <a:bodyPr wrap="none" anchor="ctr" anchorCtr="0"/>
            <a:lstStyle/>
            <a:p>
              <a:pPr algn="ctr" eaLnBrk="0" hangingPunct="0"/>
              <a:endParaRPr lang="zh-CN" altLang="zh-CN" sz="2400" dirty="0">
                <a:latin typeface="宋体" panose="02000500000000000000" pitchFamily="2" charset="-122"/>
              </a:endParaRPr>
            </a:p>
          </p:txBody>
        </p:sp>
        <p:sp>
          <p:nvSpPr>
            <p:cNvPr id="45063" name="Oval 6"/>
            <p:cNvSpPr/>
            <p:nvPr/>
          </p:nvSpPr>
          <p:spPr>
            <a:xfrm>
              <a:off x="1368" y="1847"/>
              <a:ext cx="319" cy="301"/>
            </a:xfrm>
            <a:prstGeom prst="ellipse">
              <a:avLst/>
            </a:prstGeom>
            <a:noFill/>
            <a:ln w="12700" cap="flat" cmpd="sng">
              <a:solidFill>
                <a:schemeClr val="tx1"/>
              </a:solidFill>
              <a:prstDash val="solid"/>
              <a:headEnd type="none" w="sm" len="sm"/>
              <a:tailEnd type="none" w="sm" len="sm"/>
            </a:ln>
          </p:spPr>
          <p:txBody>
            <a:bodyPr wrap="none" anchor="ctr" anchorCtr="0"/>
            <a:lstStyle/>
            <a:p>
              <a:pPr algn="ctr" eaLnBrk="0" hangingPunct="0"/>
              <a:r>
                <a:rPr lang="en-US" altLang="zh-CN" sz="2000" b="1" dirty="0">
                  <a:latin typeface="宋体" panose="02000500000000000000" pitchFamily="2" charset="-122"/>
                </a:rPr>
                <a:t>P1</a:t>
              </a:r>
              <a:endParaRPr lang="en-US" altLang="zh-CN" sz="2000" b="1" dirty="0">
                <a:latin typeface="宋体" panose="02000500000000000000" pitchFamily="2" charset="-122"/>
              </a:endParaRPr>
            </a:p>
          </p:txBody>
        </p:sp>
        <p:sp>
          <p:nvSpPr>
            <p:cNvPr id="45064" name="Rectangle 7"/>
            <p:cNvSpPr/>
            <p:nvPr/>
          </p:nvSpPr>
          <p:spPr>
            <a:xfrm>
              <a:off x="1277" y="2276"/>
              <a:ext cx="545" cy="6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65" name="Rectangle 8"/>
            <p:cNvSpPr/>
            <p:nvPr/>
          </p:nvSpPr>
          <p:spPr>
            <a:xfrm>
              <a:off x="1277" y="2491"/>
              <a:ext cx="545" cy="215"/>
            </a:xfrm>
            <a:prstGeom prst="rect">
              <a:avLst/>
            </a:prstGeom>
            <a:solidFill>
              <a:schemeClr val="bg2"/>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66" name="Text Box 9"/>
            <p:cNvSpPr txBox="1"/>
            <p:nvPr/>
          </p:nvSpPr>
          <p:spPr>
            <a:xfrm>
              <a:off x="1096" y="2534"/>
              <a:ext cx="214" cy="212"/>
            </a:xfrm>
            <a:prstGeom prst="rect">
              <a:avLst/>
            </a:prstGeom>
            <a:noFill/>
            <a:ln w="12700">
              <a:noFill/>
            </a:ln>
          </p:spPr>
          <p:txBody>
            <a:bodyPr>
              <a:spAutoFit/>
            </a:bodyPr>
            <a:lstStyle/>
            <a:p>
              <a:pPr eaLnBrk="0" hangingPunct="0">
                <a:spcBef>
                  <a:spcPct val="50000"/>
                </a:spcBef>
              </a:pPr>
              <a:r>
                <a:rPr lang="en-US" altLang="zh-CN" sz="1600" b="1" dirty="0">
                  <a:latin typeface="宋体" panose="02000500000000000000" pitchFamily="2" charset="-122"/>
                </a:rPr>
                <a:t>B</a:t>
              </a:r>
              <a:endParaRPr lang="en-US" altLang="zh-CN" sz="1600" b="1" dirty="0">
                <a:latin typeface="宋体" panose="02000500000000000000" pitchFamily="2" charset="-122"/>
              </a:endParaRPr>
            </a:p>
          </p:txBody>
        </p:sp>
        <p:sp>
          <p:nvSpPr>
            <p:cNvPr id="45067" name="Line 10"/>
            <p:cNvSpPr/>
            <p:nvPr/>
          </p:nvSpPr>
          <p:spPr>
            <a:xfrm>
              <a:off x="1550" y="2148"/>
              <a:ext cx="0" cy="128"/>
            </a:xfrm>
            <a:prstGeom prst="line">
              <a:avLst/>
            </a:prstGeom>
            <a:ln w="38100" cap="flat" cmpd="sng">
              <a:solidFill>
                <a:schemeClr val="tx1"/>
              </a:solidFill>
              <a:prstDash val="solid"/>
              <a:headEnd type="none" w="sm" len="sm"/>
              <a:tailEnd type="none" w="sm" len="sm"/>
            </a:ln>
          </p:spPr>
        </p:sp>
        <p:sp>
          <p:nvSpPr>
            <p:cNvPr id="45068" name="Oval 11"/>
            <p:cNvSpPr/>
            <p:nvPr/>
          </p:nvSpPr>
          <p:spPr>
            <a:xfrm>
              <a:off x="2276" y="1847"/>
              <a:ext cx="318" cy="301"/>
            </a:xfrm>
            <a:prstGeom prst="ellipse">
              <a:avLst/>
            </a:prstGeom>
            <a:noFill/>
            <a:ln w="12700" cap="flat" cmpd="sng">
              <a:solidFill>
                <a:schemeClr val="tx1"/>
              </a:solidFill>
              <a:prstDash val="solid"/>
              <a:headEnd type="none" w="sm" len="sm"/>
              <a:tailEnd type="none" w="sm" len="sm"/>
            </a:ln>
          </p:spPr>
          <p:txBody>
            <a:bodyPr wrap="none" anchor="ctr" anchorCtr="0"/>
            <a:lstStyle/>
            <a:p>
              <a:pPr algn="ctr" eaLnBrk="0" hangingPunct="0"/>
              <a:r>
                <a:rPr lang="en-US" altLang="zh-CN" sz="2000" b="1" dirty="0">
                  <a:latin typeface="宋体" panose="02000500000000000000" pitchFamily="2" charset="-122"/>
                </a:rPr>
                <a:t>P2</a:t>
              </a:r>
              <a:endParaRPr lang="en-US" altLang="zh-CN" sz="2000" b="1" dirty="0">
                <a:latin typeface="宋体" panose="02000500000000000000" pitchFamily="2" charset="-122"/>
              </a:endParaRPr>
            </a:p>
          </p:txBody>
        </p:sp>
        <p:sp>
          <p:nvSpPr>
            <p:cNvPr id="45069" name="Rectangle 12"/>
            <p:cNvSpPr/>
            <p:nvPr/>
          </p:nvSpPr>
          <p:spPr>
            <a:xfrm>
              <a:off x="2186" y="2276"/>
              <a:ext cx="545" cy="6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70" name="Rectangle 13"/>
            <p:cNvSpPr/>
            <p:nvPr/>
          </p:nvSpPr>
          <p:spPr>
            <a:xfrm>
              <a:off x="2186" y="2491"/>
              <a:ext cx="545" cy="215"/>
            </a:xfrm>
            <a:prstGeom prst="rect">
              <a:avLst/>
            </a:prstGeom>
            <a:solidFill>
              <a:schemeClr val="bg2"/>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71" name="Text Box 14"/>
            <p:cNvSpPr txBox="1"/>
            <p:nvPr/>
          </p:nvSpPr>
          <p:spPr>
            <a:xfrm>
              <a:off x="2004" y="2534"/>
              <a:ext cx="214" cy="212"/>
            </a:xfrm>
            <a:prstGeom prst="rect">
              <a:avLst/>
            </a:prstGeom>
            <a:noFill/>
            <a:ln w="12700">
              <a:noFill/>
            </a:ln>
          </p:spPr>
          <p:txBody>
            <a:bodyPr>
              <a:spAutoFit/>
            </a:bodyPr>
            <a:lstStyle/>
            <a:p>
              <a:pPr eaLnBrk="0" hangingPunct="0">
                <a:spcBef>
                  <a:spcPct val="50000"/>
                </a:spcBef>
              </a:pPr>
              <a:r>
                <a:rPr lang="en-US" altLang="zh-CN" sz="1600" b="1" dirty="0">
                  <a:latin typeface="宋体" panose="02000500000000000000" pitchFamily="2" charset="-122"/>
                </a:rPr>
                <a:t>B</a:t>
              </a:r>
              <a:endParaRPr lang="en-US" altLang="zh-CN" sz="1600" b="1" dirty="0">
                <a:latin typeface="宋体" panose="02000500000000000000" pitchFamily="2" charset="-122"/>
              </a:endParaRPr>
            </a:p>
          </p:txBody>
        </p:sp>
        <p:sp>
          <p:nvSpPr>
            <p:cNvPr id="45072" name="Line 15"/>
            <p:cNvSpPr/>
            <p:nvPr/>
          </p:nvSpPr>
          <p:spPr>
            <a:xfrm>
              <a:off x="2458" y="2148"/>
              <a:ext cx="0" cy="128"/>
            </a:xfrm>
            <a:prstGeom prst="line">
              <a:avLst/>
            </a:prstGeom>
            <a:ln w="38100" cap="flat" cmpd="sng">
              <a:solidFill>
                <a:schemeClr val="tx1"/>
              </a:solidFill>
              <a:prstDash val="solid"/>
              <a:headEnd type="none" w="sm" len="sm"/>
              <a:tailEnd type="none" w="sm" len="sm"/>
            </a:ln>
          </p:spPr>
        </p:sp>
        <p:sp>
          <p:nvSpPr>
            <p:cNvPr id="45073" name="Oval 16"/>
            <p:cNvSpPr/>
            <p:nvPr/>
          </p:nvSpPr>
          <p:spPr>
            <a:xfrm>
              <a:off x="3684" y="1847"/>
              <a:ext cx="317" cy="301"/>
            </a:xfrm>
            <a:prstGeom prst="ellipse">
              <a:avLst/>
            </a:prstGeom>
            <a:noFill/>
            <a:ln w="12700" cap="flat" cmpd="sng">
              <a:solidFill>
                <a:schemeClr val="tx1"/>
              </a:solidFill>
              <a:prstDash val="solid"/>
              <a:headEnd type="none" w="sm" len="sm"/>
              <a:tailEnd type="none" w="sm" len="sm"/>
            </a:ln>
          </p:spPr>
          <p:txBody>
            <a:bodyPr wrap="none" anchor="ctr" anchorCtr="0"/>
            <a:lstStyle/>
            <a:p>
              <a:pPr algn="ctr" eaLnBrk="0" hangingPunct="0"/>
              <a:r>
                <a:rPr lang="en-US" altLang="zh-CN" sz="2000" b="1" dirty="0">
                  <a:latin typeface="宋体" panose="02000500000000000000" pitchFamily="2" charset="-122"/>
                </a:rPr>
                <a:t>Pn</a:t>
              </a:r>
              <a:endParaRPr lang="en-US" altLang="zh-CN" sz="2000" b="1" dirty="0">
                <a:latin typeface="宋体" panose="02000500000000000000" pitchFamily="2" charset="-122"/>
              </a:endParaRPr>
            </a:p>
          </p:txBody>
        </p:sp>
        <p:sp>
          <p:nvSpPr>
            <p:cNvPr id="45074" name="Rectangle 17"/>
            <p:cNvSpPr/>
            <p:nvPr/>
          </p:nvSpPr>
          <p:spPr>
            <a:xfrm>
              <a:off x="3593" y="2276"/>
              <a:ext cx="544" cy="6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75" name="Rectangle 18"/>
            <p:cNvSpPr/>
            <p:nvPr/>
          </p:nvSpPr>
          <p:spPr>
            <a:xfrm>
              <a:off x="3593" y="2491"/>
              <a:ext cx="544" cy="215"/>
            </a:xfrm>
            <a:prstGeom prst="rect">
              <a:avLst/>
            </a:prstGeom>
            <a:solidFill>
              <a:schemeClr val="bg2"/>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76" name="Text Box 19"/>
            <p:cNvSpPr txBox="1"/>
            <p:nvPr/>
          </p:nvSpPr>
          <p:spPr>
            <a:xfrm>
              <a:off x="3411" y="2534"/>
              <a:ext cx="213" cy="212"/>
            </a:xfrm>
            <a:prstGeom prst="rect">
              <a:avLst/>
            </a:prstGeom>
            <a:noFill/>
            <a:ln w="12700">
              <a:noFill/>
            </a:ln>
          </p:spPr>
          <p:txBody>
            <a:bodyPr>
              <a:spAutoFit/>
            </a:bodyPr>
            <a:lstStyle/>
            <a:p>
              <a:pPr eaLnBrk="0" hangingPunct="0">
                <a:spcBef>
                  <a:spcPct val="50000"/>
                </a:spcBef>
              </a:pPr>
              <a:r>
                <a:rPr lang="en-US" altLang="zh-CN" sz="1600" b="1" dirty="0">
                  <a:latin typeface="宋体" panose="02000500000000000000" pitchFamily="2" charset="-122"/>
                </a:rPr>
                <a:t>B</a:t>
              </a:r>
              <a:endParaRPr lang="en-US" altLang="zh-CN" sz="1600" b="1" dirty="0">
                <a:latin typeface="宋体" panose="02000500000000000000" pitchFamily="2" charset="-122"/>
              </a:endParaRPr>
            </a:p>
          </p:txBody>
        </p:sp>
        <p:sp>
          <p:nvSpPr>
            <p:cNvPr id="45077" name="Line 20"/>
            <p:cNvSpPr/>
            <p:nvPr/>
          </p:nvSpPr>
          <p:spPr>
            <a:xfrm>
              <a:off x="3865" y="2148"/>
              <a:ext cx="0" cy="128"/>
            </a:xfrm>
            <a:prstGeom prst="line">
              <a:avLst/>
            </a:prstGeom>
            <a:ln w="38100" cap="flat" cmpd="sng">
              <a:solidFill>
                <a:schemeClr val="tx1"/>
              </a:solidFill>
              <a:prstDash val="solid"/>
              <a:headEnd type="none" w="sm" len="sm"/>
              <a:tailEnd type="none" w="sm" len="sm"/>
            </a:ln>
          </p:spPr>
        </p:sp>
        <p:sp>
          <p:nvSpPr>
            <p:cNvPr id="45078" name="Rectangle 21"/>
            <p:cNvSpPr/>
            <p:nvPr/>
          </p:nvSpPr>
          <p:spPr>
            <a:xfrm>
              <a:off x="1277" y="2491"/>
              <a:ext cx="137" cy="215"/>
            </a:xfrm>
            <a:prstGeom prst="rect">
              <a:avLst/>
            </a:prstGeom>
            <a:solidFill>
              <a:schemeClr val="accent2"/>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79" name="Rectangle 22"/>
            <p:cNvSpPr/>
            <p:nvPr/>
          </p:nvSpPr>
          <p:spPr>
            <a:xfrm>
              <a:off x="2412" y="2491"/>
              <a:ext cx="91" cy="215"/>
            </a:xfrm>
            <a:prstGeom prst="rect">
              <a:avLst/>
            </a:prstGeom>
            <a:solidFill>
              <a:schemeClr val="accent2"/>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80" name="Rectangle 23"/>
            <p:cNvSpPr/>
            <p:nvPr/>
          </p:nvSpPr>
          <p:spPr>
            <a:xfrm>
              <a:off x="4047" y="2491"/>
              <a:ext cx="90" cy="215"/>
            </a:xfrm>
            <a:prstGeom prst="rect">
              <a:avLst/>
            </a:prstGeom>
            <a:solidFill>
              <a:schemeClr val="accent2"/>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81" name="Rectangle 24"/>
            <p:cNvSpPr/>
            <p:nvPr/>
          </p:nvSpPr>
          <p:spPr>
            <a:xfrm>
              <a:off x="1187" y="3049"/>
              <a:ext cx="3087" cy="301"/>
            </a:xfrm>
            <a:prstGeom prst="rect">
              <a:avLst/>
            </a:prstGeom>
            <a:noFill/>
            <a:ln w="12700" cap="flat" cmpd="sng">
              <a:solidFill>
                <a:schemeClr val="tx1"/>
              </a:solidFill>
              <a:prstDash val="solid"/>
              <a:miter/>
              <a:headEnd type="none" w="sm" len="sm"/>
              <a:tailEnd type="none" w="sm" len="sm"/>
            </a:ln>
          </p:spPr>
          <p:txBody>
            <a:bodyPr wrap="none" anchor="ctr" anchorCtr="0"/>
            <a:lstStyle/>
            <a:p>
              <a:pPr algn="ctr" eaLnBrk="0" hangingPunct="0"/>
              <a:r>
                <a:rPr lang="en-US" altLang="zh-CN" sz="2000" b="1" dirty="0">
                  <a:latin typeface="宋体" panose="02000500000000000000" pitchFamily="2" charset="-122"/>
                </a:rPr>
                <a:t>Interconnection Network</a:t>
              </a:r>
              <a:endParaRPr lang="en-US" altLang="zh-CN" sz="2000" b="1" dirty="0">
                <a:latin typeface="宋体" panose="02000500000000000000" pitchFamily="2" charset="-122"/>
              </a:endParaRPr>
            </a:p>
          </p:txBody>
        </p:sp>
        <p:sp>
          <p:nvSpPr>
            <p:cNvPr id="45082" name="Rectangle 25"/>
            <p:cNvSpPr/>
            <p:nvPr/>
          </p:nvSpPr>
          <p:spPr>
            <a:xfrm>
              <a:off x="1232" y="3479"/>
              <a:ext cx="590" cy="472"/>
            </a:xfrm>
            <a:prstGeom prst="rect">
              <a:avLst/>
            </a:prstGeom>
            <a:noFill/>
            <a:ln w="12700" cap="flat" cmpd="sng">
              <a:solidFill>
                <a:schemeClr val="tx1"/>
              </a:solidFill>
              <a:prstDash val="solid"/>
              <a:miter/>
              <a:headEnd type="none" w="sm" len="sm"/>
              <a:tailEnd type="none" w="sm" len="sm"/>
            </a:ln>
          </p:spPr>
          <p:txBody>
            <a:bodyPr wrap="none" anchor="ctr" anchorCtr="0"/>
            <a:lstStyle/>
            <a:p>
              <a:pPr algn="ctr" eaLnBrk="0" hangingPunct="0"/>
              <a:r>
                <a:rPr lang="en-US" altLang="zh-CN" sz="2000" b="1" dirty="0">
                  <a:latin typeface="宋体" panose="02000500000000000000" pitchFamily="2" charset="-122"/>
                </a:rPr>
                <a:t>M1</a:t>
              </a:r>
              <a:endParaRPr lang="en-US" altLang="zh-CN" sz="2000" b="1" dirty="0">
                <a:latin typeface="宋体" panose="02000500000000000000" pitchFamily="2" charset="-122"/>
              </a:endParaRPr>
            </a:p>
          </p:txBody>
        </p:sp>
        <p:sp>
          <p:nvSpPr>
            <p:cNvPr id="45083" name="Rectangle 26"/>
            <p:cNvSpPr/>
            <p:nvPr/>
          </p:nvSpPr>
          <p:spPr>
            <a:xfrm>
              <a:off x="2186" y="3479"/>
              <a:ext cx="545" cy="472"/>
            </a:xfrm>
            <a:prstGeom prst="rect">
              <a:avLst/>
            </a:prstGeom>
            <a:noFill/>
            <a:ln w="12700" cap="flat" cmpd="sng">
              <a:solidFill>
                <a:schemeClr val="tx1"/>
              </a:solidFill>
              <a:prstDash val="solid"/>
              <a:miter/>
              <a:headEnd type="none" w="sm" len="sm"/>
              <a:tailEnd type="none" w="sm" len="sm"/>
            </a:ln>
          </p:spPr>
          <p:txBody>
            <a:bodyPr wrap="none" anchor="ctr" anchorCtr="0"/>
            <a:lstStyle/>
            <a:p>
              <a:pPr algn="ctr" eaLnBrk="0" hangingPunct="0"/>
              <a:endParaRPr lang="zh-CN" altLang="zh-CN" sz="2000" b="1" dirty="0">
                <a:latin typeface="宋体" panose="02000500000000000000" pitchFamily="2" charset="-122"/>
              </a:endParaRPr>
            </a:p>
          </p:txBody>
        </p:sp>
        <p:sp>
          <p:nvSpPr>
            <p:cNvPr id="45084" name="Rectangle 27"/>
            <p:cNvSpPr/>
            <p:nvPr/>
          </p:nvSpPr>
          <p:spPr>
            <a:xfrm>
              <a:off x="3593" y="3479"/>
              <a:ext cx="544" cy="472"/>
            </a:xfrm>
            <a:prstGeom prst="rect">
              <a:avLst/>
            </a:prstGeom>
            <a:noFill/>
            <a:ln w="12700" cap="flat" cmpd="sng">
              <a:solidFill>
                <a:schemeClr val="tx1"/>
              </a:solidFill>
              <a:prstDash val="solid"/>
              <a:miter/>
              <a:headEnd type="none" w="sm" len="sm"/>
              <a:tailEnd type="none" w="sm" len="sm"/>
            </a:ln>
          </p:spPr>
          <p:txBody>
            <a:bodyPr wrap="none" anchor="ctr" anchorCtr="0"/>
            <a:lstStyle/>
            <a:p>
              <a:pPr algn="ctr" eaLnBrk="0" hangingPunct="0"/>
              <a:r>
                <a:rPr lang="en-US" altLang="zh-CN" sz="2000" b="1" dirty="0">
                  <a:latin typeface="宋体" panose="02000500000000000000" pitchFamily="2" charset="-122"/>
                </a:rPr>
                <a:t>Mm</a:t>
              </a:r>
              <a:endParaRPr lang="en-US" altLang="zh-CN" sz="2000" b="1" dirty="0">
                <a:latin typeface="宋体" panose="02000500000000000000" pitchFamily="2" charset="-122"/>
              </a:endParaRPr>
            </a:p>
          </p:txBody>
        </p:sp>
        <p:sp>
          <p:nvSpPr>
            <p:cNvPr id="45085" name="Text Box 28"/>
            <p:cNvSpPr txBox="1"/>
            <p:nvPr/>
          </p:nvSpPr>
          <p:spPr>
            <a:xfrm>
              <a:off x="2957" y="2298"/>
              <a:ext cx="408" cy="404"/>
            </a:xfrm>
            <a:prstGeom prst="rect">
              <a:avLst/>
            </a:prstGeom>
            <a:noFill/>
            <a:ln w="12700">
              <a:noFill/>
            </a:ln>
          </p:spPr>
          <p:txBody>
            <a:bodyPr anchor="ctr" anchorCtr="0">
              <a:spAutoFit/>
            </a:bodyPr>
            <a:lstStyle/>
            <a:p>
              <a:pPr algn="ctr" eaLnBrk="0" hangingPunct="0">
                <a:spcBef>
                  <a:spcPct val="50000"/>
                </a:spcBef>
              </a:pPr>
              <a:r>
                <a:rPr lang="en-US" altLang="zh-CN" sz="3600" b="1" dirty="0">
                  <a:latin typeface="宋体" panose="02000500000000000000" pitchFamily="2" charset="-122"/>
                </a:rPr>
                <a:t>...</a:t>
              </a:r>
              <a:endParaRPr lang="en-US" altLang="zh-CN" sz="3600" b="1" dirty="0">
                <a:latin typeface="宋体" panose="02000500000000000000" pitchFamily="2" charset="-122"/>
              </a:endParaRPr>
            </a:p>
          </p:txBody>
        </p:sp>
        <p:sp>
          <p:nvSpPr>
            <p:cNvPr id="45086" name="Text Box 29"/>
            <p:cNvSpPr txBox="1"/>
            <p:nvPr/>
          </p:nvSpPr>
          <p:spPr>
            <a:xfrm>
              <a:off x="2957" y="3458"/>
              <a:ext cx="408" cy="404"/>
            </a:xfrm>
            <a:prstGeom prst="rect">
              <a:avLst/>
            </a:prstGeom>
            <a:noFill/>
            <a:ln w="12700">
              <a:noFill/>
            </a:ln>
          </p:spPr>
          <p:txBody>
            <a:bodyPr anchor="ctr" anchorCtr="0">
              <a:spAutoFit/>
            </a:bodyPr>
            <a:lstStyle/>
            <a:p>
              <a:pPr algn="ctr" eaLnBrk="0" hangingPunct="0">
                <a:spcBef>
                  <a:spcPct val="50000"/>
                </a:spcBef>
              </a:pPr>
              <a:r>
                <a:rPr lang="en-US" altLang="zh-CN" sz="3600" b="1" dirty="0">
                  <a:latin typeface="宋体" panose="02000500000000000000" pitchFamily="2" charset="-122"/>
                </a:rPr>
                <a:t>...</a:t>
              </a:r>
              <a:endParaRPr lang="en-US" altLang="zh-CN" sz="3600" b="1" dirty="0">
                <a:latin typeface="宋体" panose="02000500000000000000" pitchFamily="2" charset="-122"/>
              </a:endParaRPr>
            </a:p>
          </p:txBody>
        </p:sp>
        <p:sp>
          <p:nvSpPr>
            <p:cNvPr id="45087" name="Text Box 30"/>
            <p:cNvSpPr txBox="1"/>
            <p:nvPr/>
          </p:nvSpPr>
          <p:spPr>
            <a:xfrm>
              <a:off x="2957" y="1784"/>
              <a:ext cx="408" cy="404"/>
            </a:xfrm>
            <a:prstGeom prst="rect">
              <a:avLst/>
            </a:prstGeom>
            <a:noFill/>
            <a:ln w="12700">
              <a:noFill/>
            </a:ln>
          </p:spPr>
          <p:txBody>
            <a:bodyPr anchor="ctr" anchorCtr="0">
              <a:spAutoFit/>
            </a:bodyPr>
            <a:lstStyle/>
            <a:p>
              <a:pPr algn="ctr" eaLnBrk="0" hangingPunct="0">
                <a:spcBef>
                  <a:spcPct val="50000"/>
                </a:spcBef>
              </a:pPr>
              <a:r>
                <a:rPr lang="en-US" altLang="zh-CN" sz="3600" b="1" dirty="0">
                  <a:latin typeface="宋体" panose="02000500000000000000" pitchFamily="2" charset="-122"/>
                </a:rPr>
                <a:t>...</a:t>
              </a:r>
              <a:endParaRPr lang="en-US" altLang="zh-CN" sz="3600" b="1" dirty="0">
                <a:latin typeface="宋体" panose="02000500000000000000" pitchFamily="2" charset="-122"/>
              </a:endParaRPr>
            </a:p>
          </p:txBody>
        </p:sp>
        <p:sp>
          <p:nvSpPr>
            <p:cNvPr id="45088" name="Line 31"/>
            <p:cNvSpPr/>
            <p:nvPr/>
          </p:nvSpPr>
          <p:spPr>
            <a:xfrm>
              <a:off x="1550" y="2920"/>
              <a:ext cx="0" cy="129"/>
            </a:xfrm>
            <a:prstGeom prst="line">
              <a:avLst/>
            </a:prstGeom>
            <a:ln w="38100" cap="flat" cmpd="sng">
              <a:solidFill>
                <a:schemeClr val="tx1"/>
              </a:solidFill>
              <a:prstDash val="solid"/>
              <a:headEnd type="none" w="sm" len="sm"/>
              <a:tailEnd type="none" w="sm" len="sm"/>
            </a:ln>
          </p:spPr>
        </p:sp>
        <p:sp>
          <p:nvSpPr>
            <p:cNvPr id="45089" name="Line 32"/>
            <p:cNvSpPr/>
            <p:nvPr/>
          </p:nvSpPr>
          <p:spPr>
            <a:xfrm>
              <a:off x="3865" y="2920"/>
              <a:ext cx="0" cy="129"/>
            </a:xfrm>
            <a:prstGeom prst="line">
              <a:avLst/>
            </a:prstGeom>
            <a:ln w="38100" cap="flat" cmpd="sng">
              <a:solidFill>
                <a:schemeClr val="tx1"/>
              </a:solidFill>
              <a:prstDash val="solid"/>
              <a:headEnd type="none" w="sm" len="sm"/>
              <a:tailEnd type="none" w="sm" len="sm"/>
            </a:ln>
          </p:spPr>
        </p:sp>
        <p:sp>
          <p:nvSpPr>
            <p:cNvPr id="45090" name="Line 33"/>
            <p:cNvSpPr/>
            <p:nvPr/>
          </p:nvSpPr>
          <p:spPr>
            <a:xfrm>
              <a:off x="2458" y="2920"/>
              <a:ext cx="0" cy="129"/>
            </a:xfrm>
            <a:prstGeom prst="line">
              <a:avLst/>
            </a:prstGeom>
            <a:ln w="38100" cap="flat" cmpd="sng">
              <a:solidFill>
                <a:schemeClr val="tx1"/>
              </a:solidFill>
              <a:prstDash val="solid"/>
              <a:headEnd type="none" w="sm" len="sm"/>
              <a:tailEnd type="none" w="sm" len="sm"/>
            </a:ln>
          </p:spPr>
        </p:sp>
        <p:sp>
          <p:nvSpPr>
            <p:cNvPr id="45091" name="Line 34"/>
            <p:cNvSpPr/>
            <p:nvPr/>
          </p:nvSpPr>
          <p:spPr>
            <a:xfrm>
              <a:off x="1550" y="3350"/>
              <a:ext cx="0" cy="129"/>
            </a:xfrm>
            <a:prstGeom prst="line">
              <a:avLst/>
            </a:prstGeom>
            <a:ln w="38100" cap="flat" cmpd="sng">
              <a:solidFill>
                <a:schemeClr val="tx1"/>
              </a:solidFill>
              <a:prstDash val="solid"/>
              <a:headEnd type="none" w="sm" len="sm"/>
              <a:tailEnd type="none" w="sm" len="sm"/>
            </a:ln>
          </p:spPr>
        </p:sp>
        <p:sp>
          <p:nvSpPr>
            <p:cNvPr id="45092" name="Line 35"/>
            <p:cNvSpPr/>
            <p:nvPr/>
          </p:nvSpPr>
          <p:spPr>
            <a:xfrm>
              <a:off x="3865" y="3350"/>
              <a:ext cx="0" cy="129"/>
            </a:xfrm>
            <a:prstGeom prst="line">
              <a:avLst/>
            </a:prstGeom>
            <a:ln w="38100" cap="flat" cmpd="sng">
              <a:solidFill>
                <a:schemeClr val="tx1"/>
              </a:solidFill>
              <a:prstDash val="solid"/>
              <a:headEnd type="none" w="sm" len="sm"/>
              <a:tailEnd type="none" w="sm" len="sm"/>
            </a:ln>
          </p:spPr>
        </p:sp>
        <p:sp>
          <p:nvSpPr>
            <p:cNvPr id="45093" name="Line 36"/>
            <p:cNvSpPr/>
            <p:nvPr/>
          </p:nvSpPr>
          <p:spPr>
            <a:xfrm>
              <a:off x="2458" y="3350"/>
              <a:ext cx="0" cy="129"/>
            </a:xfrm>
            <a:prstGeom prst="line">
              <a:avLst/>
            </a:prstGeom>
            <a:ln w="38100" cap="flat" cmpd="sng">
              <a:solidFill>
                <a:schemeClr val="tx1"/>
              </a:solidFill>
              <a:prstDash val="solid"/>
              <a:headEnd type="none" w="sm" len="sm"/>
              <a:tailEnd type="none" w="sm" len="sm"/>
            </a:ln>
          </p:spPr>
        </p:sp>
        <p:sp>
          <p:nvSpPr>
            <p:cNvPr id="45094" name="Text Box 37"/>
            <p:cNvSpPr txBox="1"/>
            <p:nvPr/>
          </p:nvSpPr>
          <p:spPr>
            <a:xfrm>
              <a:off x="4442" y="2450"/>
              <a:ext cx="410" cy="291"/>
            </a:xfrm>
            <a:prstGeom prst="rect">
              <a:avLst/>
            </a:prstGeom>
            <a:noFill/>
            <a:ln w="12700">
              <a:noFill/>
            </a:ln>
          </p:spPr>
          <p:txBody>
            <a:bodyPr wrap="none" anchor="ctr" anchorCtr="0">
              <a:spAutoFit/>
            </a:bodyPr>
            <a:lstStyle/>
            <a:p>
              <a:pPr algn="ctr" eaLnBrk="0" hangingPunct="0">
                <a:spcBef>
                  <a:spcPct val="50000"/>
                </a:spcBef>
              </a:pPr>
              <a:r>
                <a:rPr lang="en-US" altLang="zh-CN" b="1" dirty="0">
                  <a:latin typeface="宋体" panose="02000500000000000000" pitchFamily="2" charset="-122"/>
                </a:rPr>
                <a:t>Cache</a:t>
              </a:r>
              <a:endParaRPr lang="en-US" altLang="zh-CN" sz="2400" b="1" dirty="0">
                <a:latin typeface="宋体" panose="02000500000000000000" pitchFamily="2" charset="-122"/>
              </a:endParaRPr>
            </a:p>
          </p:txBody>
        </p:sp>
        <p:sp>
          <p:nvSpPr>
            <p:cNvPr id="45095" name="Text Box 38"/>
            <p:cNvSpPr txBox="1"/>
            <p:nvPr/>
          </p:nvSpPr>
          <p:spPr>
            <a:xfrm>
              <a:off x="4451" y="3552"/>
              <a:ext cx="528" cy="233"/>
            </a:xfrm>
            <a:prstGeom prst="rect">
              <a:avLst/>
            </a:prstGeom>
            <a:noFill/>
            <a:ln w="12700">
              <a:noFill/>
            </a:ln>
          </p:spPr>
          <p:txBody>
            <a:bodyPr wrap="none" anchor="ctr" anchorCtr="0">
              <a:spAutoFit/>
            </a:bodyPr>
            <a:lstStyle/>
            <a:p>
              <a:pPr algn="ctr" eaLnBrk="0" hangingPunct="0"/>
              <a:r>
                <a:rPr lang="en-US" altLang="zh-CN" b="1" dirty="0">
                  <a:latin typeface="宋体" panose="02000500000000000000" pitchFamily="2" charset="-122"/>
                </a:rPr>
                <a:t>Memory</a:t>
              </a:r>
              <a:endParaRPr lang="en-US" altLang="zh-CN" b="1" dirty="0">
                <a:latin typeface="宋体" panose="02000500000000000000" pitchFamily="2" charset="-122"/>
              </a:endParaRPr>
            </a:p>
          </p:txBody>
        </p:sp>
        <p:sp>
          <p:nvSpPr>
            <p:cNvPr id="45096" name="Rectangle 39"/>
            <p:cNvSpPr/>
            <p:nvPr/>
          </p:nvSpPr>
          <p:spPr>
            <a:xfrm>
              <a:off x="2186" y="3651"/>
              <a:ext cx="545" cy="214"/>
            </a:xfrm>
            <a:prstGeom prst="rect">
              <a:avLst/>
            </a:prstGeom>
            <a:solidFill>
              <a:schemeClr val="bg2"/>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97" name="Text Box 40"/>
            <p:cNvSpPr txBox="1"/>
            <p:nvPr/>
          </p:nvSpPr>
          <p:spPr>
            <a:xfrm>
              <a:off x="1959" y="3651"/>
              <a:ext cx="213" cy="212"/>
            </a:xfrm>
            <a:prstGeom prst="rect">
              <a:avLst/>
            </a:prstGeom>
            <a:noFill/>
            <a:ln w="12700">
              <a:noFill/>
            </a:ln>
          </p:spPr>
          <p:txBody>
            <a:bodyPr>
              <a:spAutoFit/>
            </a:bodyPr>
            <a:lstStyle/>
            <a:p>
              <a:pPr eaLnBrk="0" hangingPunct="0">
                <a:spcBef>
                  <a:spcPct val="50000"/>
                </a:spcBef>
              </a:pPr>
              <a:r>
                <a:rPr lang="en-US" altLang="zh-CN" sz="1600" b="1" dirty="0">
                  <a:latin typeface="宋体" panose="02000500000000000000" pitchFamily="2" charset="-122"/>
                </a:rPr>
                <a:t>B</a:t>
              </a:r>
              <a:endParaRPr lang="en-US" altLang="zh-CN" sz="1600" b="1" dirty="0">
                <a:latin typeface="宋体" panose="02000500000000000000" pitchFamily="2" charset="-122"/>
              </a:endParaRPr>
            </a:p>
          </p:txBody>
        </p:sp>
        <p:sp>
          <p:nvSpPr>
            <p:cNvPr id="45098" name="Rectangle 41"/>
            <p:cNvSpPr/>
            <p:nvPr/>
          </p:nvSpPr>
          <p:spPr>
            <a:xfrm>
              <a:off x="2186" y="3651"/>
              <a:ext cx="135" cy="214"/>
            </a:xfrm>
            <a:prstGeom prst="rect">
              <a:avLst/>
            </a:prstGeom>
            <a:solidFill>
              <a:schemeClr val="accent2"/>
            </a:solidFill>
            <a:ln w="12700" cap="flat" cmpd="sng">
              <a:solidFill>
                <a:schemeClr val="accent2"/>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099" name="Rectangle 42"/>
            <p:cNvSpPr/>
            <p:nvPr/>
          </p:nvSpPr>
          <p:spPr>
            <a:xfrm>
              <a:off x="2412" y="3651"/>
              <a:ext cx="91" cy="214"/>
            </a:xfrm>
            <a:prstGeom prst="rect">
              <a:avLst/>
            </a:prstGeom>
            <a:solidFill>
              <a:schemeClr val="accent2"/>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100" name="Rectangle 43"/>
            <p:cNvSpPr/>
            <p:nvPr/>
          </p:nvSpPr>
          <p:spPr>
            <a:xfrm>
              <a:off x="2640" y="3651"/>
              <a:ext cx="91" cy="214"/>
            </a:xfrm>
            <a:prstGeom prst="rect">
              <a:avLst/>
            </a:prstGeom>
            <a:solidFill>
              <a:schemeClr val="accent2"/>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45101" name="Line 44"/>
            <p:cNvSpPr/>
            <p:nvPr/>
          </p:nvSpPr>
          <p:spPr>
            <a:xfrm>
              <a:off x="1277" y="2706"/>
              <a:ext cx="909" cy="945"/>
            </a:xfrm>
            <a:prstGeom prst="line">
              <a:avLst/>
            </a:prstGeom>
            <a:ln w="12700" cap="rnd" cmpd="sng">
              <a:solidFill>
                <a:schemeClr val="tx1"/>
              </a:solidFill>
              <a:prstDash val="sysDot"/>
              <a:headEnd type="none" w="sm" len="sm"/>
              <a:tailEnd type="none" w="sm" len="sm"/>
            </a:ln>
          </p:spPr>
        </p:sp>
        <p:sp>
          <p:nvSpPr>
            <p:cNvPr id="45102" name="Line 45"/>
            <p:cNvSpPr/>
            <p:nvPr/>
          </p:nvSpPr>
          <p:spPr>
            <a:xfrm>
              <a:off x="1414" y="2706"/>
              <a:ext cx="907" cy="945"/>
            </a:xfrm>
            <a:prstGeom prst="line">
              <a:avLst/>
            </a:prstGeom>
            <a:ln w="12700" cap="rnd" cmpd="sng">
              <a:solidFill>
                <a:schemeClr val="tx1"/>
              </a:solidFill>
              <a:prstDash val="sysDot"/>
              <a:headEnd type="none" w="sm" len="sm"/>
              <a:tailEnd type="none" w="sm" len="sm"/>
            </a:ln>
          </p:spPr>
        </p:sp>
        <p:sp>
          <p:nvSpPr>
            <p:cNvPr id="45103" name="Line 46"/>
            <p:cNvSpPr/>
            <p:nvPr/>
          </p:nvSpPr>
          <p:spPr>
            <a:xfrm>
              <a:off x="2412" y="2706"/>
              <a:ext cx="0" cy="945"/>
            </a:xfrm>
            <a:prstGeom prst="line">
              <a:avLst/>
            </a:prstGeom>
            <a:ln w="12700" cap="rnd" cmpd="sng">
              <a:solidFill>
                <a:schemeClr val="tx1"/>
              </a:solidFill>
              <a:prstDash val="sysDot"/>
              <a:headEnd type="none" w="sm" len="sm"/>
              <a:tailEnd type="none" w="sm" len="sm"/>
            </a:ln>
          </p:spPr>
        </p:sp>
        <p:sp>
          <p:nvSpPr>
            <p:cNvPr id="45104" name="Line 47"/>
            <p:cNvSpPr/>
            <p:nvPr/>
          </p:nvSpPr>
          <p:spPr>
            <a:xfrm>
              <a:off x="2503" y="2706"/>
              <a:ext cx="0" cy="945"/>
            </a:xfrm>
            <a:prstGeom prst="line">
              <a:avLst/>
            </a:prstGeom>
            <a:ln w="12700" cap="rnd" cmpd="sng">
              <a:solidFill>
                <a:schemeClr val="tx1"/>
              </a:solidFill>
              <a:prstDash val="sysDot"/>
              <a:headEnd type="none" w="sm" len="sm"/>
              <a:tailEnd type="none" w="sm" len="sm"/>
            </a:ln>
          </p:spPr>
        </p:sp>
        <p:sp>
          <p:nvSpPr>
            <p:cNvPr id="45105" name="Line 48"/>
            <p:cNvSpPr/>
            <p:nvPr/>
          </p:nvSpPr>
          <p:spPr>
            <a:xfrm flipH="1">
              <a:off x="2640" y="2706"/>
              <a:ext cx="1407" cy="945"/>
            </a:xfrm>
            <a:prstGeom prst="line">
              <a:avLst/>
            </a:prstGeom>
            <a:ln w="12700" cap="rnd" cmpd="sng">
              <a:solidFill>
                <a:schemeClr val="tx1"/>
              </a:solidFill>
              <a:prstDash val="sysDot"/>
              <a:headEnd type="none" w="sm" len="sm"/>
              <a:tailEnd type="none" w="sm" len="sm"/>
            </a:ln>
          </p:spPr>
        </p:sp>
        <p:sp>
          <p:nvSpPr>
            <p:cNvPr id="45106" name="Line 49"/>
            <p:cNvSpPr/>
            <p:nvPr/>
          </p:nvSpPr>
          <p:spPr>
            <a:xfrm flipH="1">
              <a:off x="2731" y="2706"/>
              <a:ext cx="1406" cy="945"/>
            </a:xfrm>
            <a:prstGeom prst="line">
              <a:avLst/>
            </a:prstGeom>
            <a:ln w="12700" cap="rnd" cmpd="sng">
              <a:solidFill>
                <a:schemeClr val="tx1"/>
              </a:solidFill>
              <a:prstDash val="sysDot"/>
              <a:headEnd type="none" w="sm" len="sm"/>
              <a:tailEnd type="none" w="sm" len="sm"/>
            </a:ln>
          </p:spPr>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latin typeface="宋体" panose="02000500000000000000" pitchFamily="2" charset="-122"/>
              </a:rPr>
            </a:fld>
            <a:endParaRPr lang="en-US" altLang="zh-CN" sz="1400" dirty="0">
              <a:latin typeface="宋体" panose="02000500000000000000" pitchFamily="2" charset="-122"/>
            </a:endParaRPr>
          </a:p>
        </p:txBody>
      </p:sp>
      <p:sp>
        <p:nvSpPr>
          <p:cNvPr id="46083" name="Rectangle 2"/>
          <p:cNvSpPr>
            <a:spLocks noGrp="1"/>
          </p:cNvSpPr>
          <p:nvPr>
            <p:ph type="title"/>
          </p:nvPr>
        </p:nvSpPr>
        <p:spPr>
          <a:xfrm>
            <a:off x="601663" y="0"/>
            <a:ext cx="10971212" cy="1143000"/>
          </a:xfrm>
        </p:spPr>
        <p:txBody>
          <a:bodyPr vert="horz" wrap="square" lIns="91440" tIns="45720" rIns="91440" bIns="45720" anchor="ctr" anchorCtr="0"/>
          <a:lstStyle/>
          <a:p>
            <a:pPr eaLnBrk="1" hangingPunct="1"/>
            <a:r>
              <a:rPr lang="zh-CN" altLang="en-US" dirty="0"/>
              <a:t>急切更新与懒惰更新</a:t>
            </a:r>
            <a:endParaRPr lang="zh-CN" altLang="en-US" dirty="0"/>
          </a:p>
        </p:txBody>
      </p:sp>
      <p:sp>
        <p:nvSpPr>
          <p:cNvPr id="46084" name="Rectangle 3"/>
          <p:cNvSpPr>
            <a:spLocks noGrp="1"/>
          </p:cNvSpPr>
          <p:nvPr>
            <p:ph idx="1"/>
          </p:nvPr>
        </p:nvSpPr>
        <p:spPr>
          <a:xfrm>
            <a:off x="561975" y="1268413"/>
            <a:ext cx="10333038" cy="2160587"/>
          </a:xfrm>
        </p:spPr>
        <p:txBody>
          <a:bodyPr vert="horz" wrap="square" lIns="91440" tIns="45720" rIns="91440" bIns="45720" anchor="t" anchorCtr="0"/>
          <a:lstStyle/>
          <a:p>
            <a:pPr eaLnBrk="1" hangingPunct="1"/>
            <a:r>
              <a:rPr lang="zh-CN" altLang="en-US" sz="2000" dirty="0">
                <a:latin typeface="宋体" panose="02000500000000000000" pitchFamily="2" charset="-122"/>
                <a:ea typeface="宋体" panose="02000500000000000000" pitchFamily="2" charset="-122"/>
                <a:cs typeface="宋体" panose="02000500000000000000" pitchFamily="2" charset="-122"/>
              </a:rPr>
              <a:t>普通</a:t>
            </a:r>
            <a:r>
              <a:rPr lang="en-US" altLang="zh-CN" sz="2000" dirty="0">
                <a:latin typeface="宋体" panose="02000500000000000000" pitchFamily="2" charset="-122"/>
                <a:ea typeface="宋体" panose="02000500000000000000" pitchFamily="2" charset="-122"/>
                <a:cs typeface="宋体" panose="02000500000000000000" pitchFamily="2" charset="-122"/>
              </a:rPr>
              <a:t>RC</a:t>
            </a:r>
            <a:r>
              <a:rPr lang="zh-CN" altLang="en-US" sz="2000" dirty="0">
                <a:latin typeface="宋体" panose="02000500000000000000" pitchFamily="2" charset="-122"/>
                <a:ea typeface="宋体" panose="02000500000000000000" pitchFamily="2" charset="-122"/>
                <a:cs typeface="宋体" panose="02000500000000000000" pitchFamily="2" charset="-122"/>
              </a:rPr>
              <a:t>：边写边传输写操作</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eaLnBrk="1" hangingPunct="1"/>
            <a:r>
              <a:rPr lang="en-US" altLang="zh-CN" sz="2000" dirty="0">
                <a:latin typeface="宋体" panose="02000500000000000000" pitchFamily="2" charset="-122"/>
                <a:ea typeface="宋体" panose="02000500000000000000" pitchFamily="2" charset="-122"/>
                <a:cs typeface="宋体" panose="02000500000000000000" pitchFamily="2" charset="-122"/>
              </a:rPr>
              <a:t>Eager RC</a:t>
            </a:r>
            <a:r>
              <a:rPr lang="zh-CN" altLang="en-US" sz="2000" dirty="0">
                <a:latin typeface="宋体" panose="02000500000000000000" pitchFamily="2" charset="-122"/>
                <a:ea typeface="宋体" panose="02000500000000000000" pitchFamily="2" charset="-122"/>
                <a:cs typeface="宋体" panose="02000500000000000000" pitchFamily="2" charset="-122"/>
              </a:rPr>
              <a:t>：</a:t>
            </a:r>
            <a:r>
              <a:rPr lang="zh-CN" altLang="zh-CN" sz="2000" dirty="0">
                <a:latin typeface="宋体" panose="02000500000000000000" pitchFamily="2" charset="-122"/>
                <a:ea typeface="宋体" panose="02000500000000000000" pitchFamily="2" charset="-122"/>
                <a:cs typeface="宋体" panose="02000500000000000000" pitchFamily="2" charset="-122"/>
              </a:rPr>
              <a:t>把写操作延迟到</a:t>
            </a:r>
            <a:r>
              <a:rPr lang="en-US" altLang="zh-CN" sz="2000" dirty="0">
                <a:latin typeface="宋体" panose="02000500000000000000" pitchFamily="2" charset="-122"/>
                <a:ea typeface="宋体" panose="02000500000000000000" pitchFamily="2" charset="-122"/>
                <a:cs typeface="宋体" panose="02000500000000000000" pitchFamily="2" charset="-122"/>
              </a:rPr>
              <a:t>Release</a:t>
            </a:r>
            <a:r>
              <a:rPr lang="zh-CN" altLang="zh-CN" sz="2000" dirty="0">
                <a:latin typeface="宋体" panose="02000500000000000000" pitchFamily="2" charset="-122"/>
                <a:ea typeface="宋体" panose="02000500000000000000" pitchFamily="2" charset="-122"/>
                <a:cs typeface="宋体" panose="02000500000000000000" pitchFamily="2" charset="-122"/>
              </a:rPr>
              <a:t>时一起发出</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eaLnBrk="1" hangingPunct="1"/>
            <a:r>
              <a:rPr lang="en-US" altLang="zh-CN" sz="2000" dirty="0">
                <a:latin typeface="宋体" panose="02000500000000000000" pitchFamily="2" charset="-122"/>
                <a:ea typeface="宋体" panose="02000500000000000000" pitchFamily="2" charset="-122"/>
                <a:cs typeface="宋体" panose="02000500000000000000" pitchFamily="2" charset="-122"/>
              </a:rPr>
              <a:t>Lazy RC</a:t>
            </a:r>
            <a:r>
              <a:rPr lang="zh-CN" altLang="en-US" sz="2000" dirty="0">
                <a:latin typeface="宋体" panose="02000500000000000000" pitchFamily="2" charset="-122"/>
                <a:ea typeface="宋体" panose="02000500000000000000" pitchFamily="2" charset="-122"/>
                <a:cs typeface="宋体" panose="02000500000000000000" pitchFamily="2" charset="-122"/>
              </a:rPr>
              <a:t>：进一步延迟到下一个</a:t>
            </a:r>
            <a:r>
              <a:rPr lang="en-US" altLang="zh-CN" sz="2000" dirty="0">
                <a:latin typeface="宋体" panose="02000500000000000000" pitchFamily="2" charset="-122"/>
                <a:ea typeface="宋体" panose="02000500000000000000" pitchFamily="2" charset="-122"/>
                <a:cs typeface="宋体" panose="02000500000000000000" pitchFamily="2" charset="-122"/>
              </a:rPr>
              <a:t>Acquire</a:t>
            </a:r>
            <a:r>
              <a:rPr lang="zh-CN" altLang="en-US" sz="2000" dirty="0">
                <a:latin typeface="宋体" panose="02000500000000000000" pitchFamily="2" charset="-122"/>
                <a:ea typeface="宋体" panose="02000500000000000000" pitchFamily="2" charset="-122"/>
                <a:cs typeface="宋体" panose="02000500000000000000" pitchFamily="2" charset="-122"/>
              </a:rPr>
              <a:t>时再传输</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eaLnBrk="1" hangingPunct="1"/>
            <a:r>
              <a:rPr lang="en-US" altLang="zh-CN" sz="2000" dirty="0">
                <a:latin typeface="宋体" panose="02000500000000000000" pitchFamily="2" charset="-122"/>
                <a:ea typeface="宋体" panose="02000500000000000000" pitchFamily="2" charset="-122"/>
                <a:cs typeface="宋体" panose="02000500000000000000" pitchFamily="2" charset="-122"/>
              </a:rPr>
              <a:t>ERC</a:t>
            </a:r>
            <a:r>
              <a:rPr lang="zh-CN" altLang="en-US" sz="2000" dirty="0">
                <a:latin typeface="宋体" panose="02000500000000000000" pitchFamily="2" charset="-122"/>
                <a:ea typeface="宋体" panose="02000500000000000000" pitchFamily="2" charset="-122"/>
                <a:cs typeface="宋体" panose="02000500000000000000" pitchFamily="2" charset="-122"/>
              </a:rPr>
              <a:t>和</a:t>
            </a:r>
            <a:r>
              <a:rPr lang="en-US" altLang="zh-CN" sz="2000" dirty="0">
                <a:latin typeface="宋体" panose="02000500000000000000" pitchFamily="2" charset="-122"/>
                <a:ea typeface="宋体" panose="02000500000000000000" pitchFamily="2" charset="-122"/>
                <a:cs typeface="宋体" panose="02000500000000000000" pitchFamily="2" charset="-122"/>
              </a:rPr>
              <a:t>LRC</a:t>
            </a:r>
            <a:r>
              <a:rPr lang="zh-CN" altLang="en-US" sz="2000" dirty="0">
                <a:latin typeface="宋体" panose="02000500000000000000" pitchFamily="2" charset="-122"/>
                <a:ea typeface="宋体" panose="02000500000000000000" pitchFamily="2" charset="-122"/>
                <a:cs typeface="宋体" panose="02000500000000000000" pitchFamily="2" charset="-122"/>
              </a:rPr>
              <a:t>是</a:t>
            </a:r>
            <a:r>
              <a:rPr lang="en-US" altLang="zh-CN" sz="2000" dirty="0">
                <a:latin typeface="宋体" panose="02000500000000000000" pitchFamily="2" charset="-122"/>
                <a:ea typeface="宋体" panose="02000500000000000000" pitchFamily="2" charset="-122"/>
                <a:cs typeface="宋体" panose="02000500000000000000" pitchFamily="2" charset="-122"/>
              </a:rPr>
              <a:t>RC</a:t>
            </a:r>
            <a:r>
              <a:rPr lang="zh-CN" altLang="en-US" sz="2000" dirty="0">
                <a:latin typeface="宋体" panose="02000500000000000000" pitchFamily="2" charset="-122"/>
                <a:ea typeface="宋体" panose="02000500000000000000" pitchFamily="2" charset="-122"/>
                <a:cs typeface="宋体" panose="02000500000000000000" pitchFamily="2" charset="-122"/>
              </a:rPr>
              <a:t>的不同实现，不是不同的一致性模型</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p:txBody>
      </p:sp>
      <p:grpSp>
        <p:nvGrpSpPr>
          <p:cNvPr id="46085" name="Group 58"/>
          <p:cNvGrpSpPr/>
          <p:nvPr/>
        </p:nvGrpSpPr>
        <p:grpSpPr>
          <a:xfrm>
            <a:off x="561975" y="3579813"/>
            <a:ext cx="4876800" cy="2820987"/>
            <a:chOff x="288" y="2255"/>
            <a:chExt cx="2496" cy="1777"/>
          </a:xfrm>
        </p:grpSpPr>
        <p:sp>
          <p:nvSpPr>
            <p:cNvPr id="46110" name="Rectangle 28"/>
            <p:cNvSpPr/>
            <p:nvPr/>
          </p:nvSpPr>
          <p:spPr>
            <a:xfrm>
              <a:off x="288" y="2256"/>
              <a:ext cx="2496" cy="177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宋体" panose="02000500000000000000" pitchFamily="2" charset="-122"/>
              </a:endParaRPr>
            </a:p>
          </p:txBody>
        </p:sp>
        <p:grpSp>
          <p:nvGrpSpPr>
            <p:cNvPr id="46111" name="Group 16"/>
            <p:cNvGrpSpPr/>
            <p:nvPr/>
          </p:nvGrpSpPr>
          <p:grpSpPr>
            <a:xfrm>
              <a:off x="528" y="2255"/>
              <a:ext cx="2016" cy="838"/>
              <a:chOff x="528" y="2255"/>
              <a:chExt cx="2016" cy="838"/>
            </a:xfrm>
          </p:grpSpPr>
          <p:sp>
            <p:nvSpPr>
              <p:cNvPr id="46118" name="Line 4"/>
              <p:cNvSpPr/>
              <p:nvPr/>
            </p:nvSpPr>
            <p:spPr>
              <a:xfrm>
                <a:off x="528" y="2448"/>
                <a:ext cx="2016" cy="0"/>
              </a:xfrm>
              <a:prstGeom prst="line">
                <a:avLst/>
              </a:prstGeom>
              <a:ln w="9525" cap="flat" cmpd="sng">
                <a:solidFill>
                  <a:schemeClr val="tx1"/>
                </a:solidFill>
                <a:prstDash val="solid"/>
                <a:headEnd type="none" w="med" len="med"/>
                <a:tailEnd type="triangle" w="med" len="med"/>
              </a:ln>
            </p:spPr>
          </p:sp>
          <p:sp>
            <p:nvSpPr>
              <p:cNvPr id="46119" name="Line 5"/>
              <p:cNvSpPr/>
              <p:nvPr/>
            </p:nvSpPr>
            <p:spPr>
              <a:xfrm>
                <a:off x="528" y="2832"/>
                <a:ext cx="2016" cy="0"/>
              </a:xfrm>
              <a:prstGeom prst="line">
                <a:avLst/>
              </a:prstGeom>
              <a:ln w="9525" cap="flat" cmpd="sng">
                <a:solidFill>
                  <a:schemeClr val="tx1"/>
                </a:solidFill>
                <a:prstDash val="solid"/>
                <a:headEnd type="none" w="med" len="med"/>
                <a:tailEnd type="triangle" w="med" len="med"/>
              </a:ln>
            </p:spPr>
          </p:sp>
          <p:sp>
            <p:nvSpPr>
              <p:cNvPr id="46120" name="Text Box 8"/>
              <p:cNvSpPr txBox="1"/>
              <p:nvPr/>
            </p:nvSpPr>
            <p:spPr>
              <a:xfrm>
                <a:off x="641" y="2255"/>
                <a:ext cx="1462" cy="213"/>
              </a:xfrm>
              <a:prstGeom prst="rect">
                <a:avLst/>
              </a:prstGeom>
              <a:noFill/>
              <a:ln w="9525">
                <a:noFill/>
              </a:ln>
            </p:spPr>
            <p:txBody>
              <a:bodyPr wrap="none" anchor="ctr" anchorCtr="0">
                <a:spAutoFit/>
              </a:bodyPr>
              <a:lstStyle/>
              <a:p>
                <a:pPr algn="ctr" eaLnBrk="0" hangingPunct="0">
                  <a:spcBef>
                    <a:spcPct val="50000"/>
                  </a:spcBef>
                </a:pPr>
                <a:r>
                  <a:rPr lang="en-US" altLang="zh-CN" sz="1600" b="1" dirty="0">
                    <a:latin typeface="宋体" panose="02000500000000000000" pitchFamily="2" charset="-122"/>
                  </a:rPr>
                  <a:t>acq     w(x)     w(y)     w(z)    rel</a:t>
                </a:r>
                <a:endParaRPr lang="en-US" altLang="zh-CN" sz="1600" b="1" dirty="0">
                  <a:latin typeface="宋体" panose="02000500000000000000" pitchFamily="2" charset="-122"/>
                </a:endParaRPr>
              </a:p>
            </p:txBody>
          </p:sp>
          <p:sp>
            <p:nvSpPr>
              <p:cNvPr id="46121" name="Line 9"/>
              <p:cNvSpPr/>
              <p:nvPr/>
            </p:nvSpPr>
            <p:spPr>
              <a:xfrm>
                <a:off x="960" y="2448"/>
                <a:ext cx="288" cy="384"/>
              </a:xfrm>
              <a:prstGeom prst="line">
                <a:avLst/>
              </a:prstGeom>
              <a:ln w="9525" cap="flat" cmpd="sng">
                <a:solidFill>
                  <a:schemeClr val="tx1"/>
                </a:solidFill>
                <a:prstDash val="solid"/>
                <a:headEnd type="none" w="med" len="med"/>
                <a:tailEnd type="triangle" w="med" len="med"/>
              </a:ln>
            </p:spPr>
          </p:sp>
          <p:sp>
            <p:nvSpPr>
              <p:cNvPr id="46122" name="Line 10"/>
              <p:cNvSpPr/>
              <p:nvPr/>
            </p:nvSpPr>
            <p:spPr>
              <a:xfrm>
                <a:off x="1392" y="2448"/>
                <a:ext cx="288" cy="384"/>
              </a:xfrm>
              <a:prstGeom prst="line">
                <a:avLst/>
              </a:prstGeom>
              <a:ln w="9525" cap="flat" cmpd="sng">
                <a:solidFill>
                  <a:schemeClr val="tx1"/>
                </a:solidFill>
                <a:prstDash val="solid"/>
                <a:headEnd type="none" w="med" len="med"/>
                <a:tailEnd type="triangle" w="med" len="med"/>
              </a:ln>
            </p:spPr>
          </p:sp>
          <p:sp>
            <p:nvSpPr>
              <p:cNvPr id="46123" name="Line 11"/>
              <p:cNvSpPr/>
              <p:nvPr/>
            </p:nvSpPr>
            <p:spPr>
              <a:xfrm>
                <a:off x="1824" y="2448"/>
                <a:ext cx="288" cy="384"/>
              </a:xfrm>
              <a:prstGeom prst="line">
                <a:avLst/>
              </a:prstGeom>
              <a:ln w="9525" cap="flat" cmpd="sng">
                <a:solidFill>
                  <a:schemeClr val="tx1"/>
                </a:solidFill>
                <a:prstDash val="solid"/>
                <a:headEnd type="none" w="med" len="med"/>
                <a:tailEnd type="triangle" w="med" len="med"/>
              </a:ln>
            </p:spPr>
          </p:sp>
          <p:sp>
            <p:nvSpPr>
              <p:cNvPr id="46124" name="Text Box 12"/>
              <p:cNvSpPr txBox="1"/>
              <p:nvPr/>
            </p:nvSpPr>
            <p:spPr>
              <a:xfrm>
                <a:off x="1072" y="2495"/>
                <a:ext cx="147" cy="213"/>
              </a:xfrm>
              <a:prstGeom prst="rect">
                <a:avLst/>
              </a:prstGeom>
              <a:noFill/>
              <a:ln w="9525">
                <a:noFill/>
              </a:ln>
            </p:spPr>
            <p:txBody>
              <a:bodyPr wrap="none" anchor="ctr" anchorCtr="0">
                <a:spAutoFit/>
              </a:bodyPr>
              <a:lstStyle/>
              <a:p>
                <a:pPr algn="ctr" eaLnBrk="0" hangingPunct="0">
                  <a:spcBef>
                    <a:spcPct val="50000"/>
                  </a:spcBef>
                </a:pPr>
                <a:r>
                  <a:rPr lang="en-US" altLang="zh-CN" sz="1600" dirty="0">
                    <a:latin typeface="宋体" panose="02000500000000000000" pitchFamily="2" charset="-122"/>
                  </a:rPr>
                  <a:t>x</a:t>
                </a:r>
                <a:endParaRPr lang="en-US" altLang="zh-CN" sz="1600" dirty="0">
                  <a:latin typeface="宋体" panose="02000500000000000000" pitchFamily="2" charset="-122"/>
                </a:endParaRPr>
              </a:p>
            </p:txBody>
          </p:sp>
          <p:sp>
            <p:nvSpPr>
              <p:cNvPr id="46125" name="Text Box 13"/>
              <p:cNvSpPr txBox="1"/>
              <p:nvPr/>
            </p:nvSpPr>
            <p:spPr>
              <a:xfrm>
                <a:off x="1952" y="2495"/>
                <a:ext cx="141" cy="213"/>
              </a:xfrm>
              <a:prstGeom prst="rect">
                <a:avLst/>
              </a:prstGeom>
              <a:noFill/>
              <a:ln w="9525">
                <a:noFill/>
              </a:ln>
            </p:spPr>
            <p:txBody>
              <a:bodyPr wrap="none" anchor="ctr" anchorCtr="0">
                <a:spAutoFit/>
              </a:bodyPr>
              <a:lstStyle/>
              <a:p>
                <a:pPr algn="ctr" eaLnBrk="0" hangingPunct="0">
                  <a:spcBef>
                    <a:spcPct val="50000"/>
                  </a:spcBef>
                </a:pPr>
                <a:r>
                  <a:rPr lang="en-US" altLang="zh-CN" sz="1600" dirty="0">
                    <a:latin typeface="宋体" panose="02000500000000000000" pitchFamily="2" charset="-122"/>
                  </a:rPr>
                  <a:t>z</a:t>
                </a:r>
                <a:endParaRPr lang="en-US" altLang="zh-CN" sz="1600" dirty="0">
                  <a:latin typeface="宋体" panose="02000500000000000000" pitchFamily="2" charset="-122"/>
                </a:endParaRPr>
              </a:p>
            </p:txBody>
          </p:sp>
          <p:sp>
            <p:nvSpPr>
              <p:cNvPr id="46126" name="Text Box 14"/>
              <p:cNvSpPr txBox="1"/>
              <p:nvPr/>
            </p:nvSpPr>
            <p:spPr>
              <a:xfrm>
                <a:off x="1516" y="2495"/>
                <a:ext cx="147" cy="213"/>
              </a:xfrm>
              <a:prstGeom prst="rect">
                <a:avLst/>
              </a:prstGeom>
              <a:noFill/>
              <a:ln w="9525">
                <a:noFill/>
              </a:ln>
            </p:spPr>
            <p:txBody>
              <a:bodyPr wrap="none" anchor="ctr" anchorCtr="0">
                <a:spAutoFit/>
              </a:bodyPr>
              <a:lstStyle/>
              <a:p>
                <a:pPr algn="ctr" eaLnBrk="0" hangingPunct="0">
                  <a:spcBef>
                    <a:spcPct val="50000"/>
                  </a:spcBef>
                </a:pPr>
                <a:r>
                  <a:rPr lang="en-US" altLang="zh-CN" sz="1600" dirty="0">
                    <a:latin typeface="宋体" panose="02000500000000000000" pitchFamily="2" charset="-122"/>
                  </a:rPr>
                  <a:t>y</a:t>
                </a:r>
                <a:endParaRPr lang="en-US" altLang="zh-CN" sz="1600" dirty="0">
                  <a:latin typeface="宋体" panose="02000500000000000000" pitchFamily="2" charset="-122"/>
                </a:endParaRPr>
              </a:p>
            </p:txBody>
          </p:sp>
          <p:sp>
            <p:nvSpPr>
              <p:cNvPr id="46127" name="Text Box 15"/>
              <p:cNvSpPr txBox="1"/>
              <p:nvPr/>
            </p:nvSpPr>
            <p:spPr>
              <a:xfrm>
                <a:off x="1181" y="2802"/>
                <a:ext cx="265" cy="291"/>
              </a:xfrm>
              <a:prstGeom prst="rect">
                <a:avLst/>
              </a:prstGeom>
              <a:noFill/>
              <a:ln w="9525">
                <a:noFill/>
              </a:ln>
            </p:spPr>
            <p:txBody>
              <a:bodyPr wrap="none" anchor="ctr" anchorCtr="0">
                <a:spAutoFit/>
              </a:bodyPr>
              <a:lstStyle/>
              <a:p>
                <a:pPr algn="ctr" eaLnBrk="0" hangingPunct="0">
                  <a:spcBef>
                    <a:spcPct val="50000"/>
                  </a:spcBef>
                </a:pPr>
                <a:r>
                  <a:rPr lang="en-US" altLang="zh-CN" b="1" dirty="0">
                    <a:latin typeface="宋体" panose="02000500000000000000" pitchFamily="2" charset="-122"/>
                  </a:rPr>
                  <a:t>RC</a:t>
                </a:r>
                <a:endParaRPr lang="en-US" altLang="zh-CN" sz="2400" b="1" dirty="0">
                  <a:latin typeface="宋体" panose="02000500000000000000" pitchFamily="2" charset="-122"/>
                </a:endParaRPr>
              </a:p>
            </p:txBody>
          </p:sp>
        </p:grpSp>
        <p:sp>
          <p:nvSpPr>
            <p:cNvPr id="46112" name="Line 18"/>
            <p:cNvSpPr/>
            <p:nvPr/>
          </p:nvSpPr>
          <p:spPr>
            <a:xfrm>
              <a:off x="528" y="3360"/>
              <a:ext cx="2016" cy="0"/>
            </a:xfrm>
            <a:prstGeom prst="line">
              <a:avLst/>
            </a:prstGeom>
            <a:ln w="9525" cap="flat" cmpd="sng">
              <a:solidFill>
                <a:schemeClr val="tx1"/>
              </a:solidFill>
              <a:prstDash val="solid"/>
              <a:headEnd type="none" w="med" len="med"/>
              <a:tailEnd type="triangle" w="med" len="med"/>
            </a:ln>
          </p:spPr>
        </p:sp>
        <p:sp>
          <p:nvSpPr>
            <p:cNvPr id="46113" name="Line 19"/>
            <p:cNvSpPr/>
            <p:nvPr/>
          </p:nvSpPr>
          <p:spPr>
            <a:xfrm>
              <a:off x="528" y="3744"/>
              <a:ext cx="2016" cy="0"/>
            </a:xfrm>
            <a:prstGeom prst="line">
              <a:avLst/>
            </a:prstGeom>
            <a:ln w="9525" cap="flat" cmpd="sng">
              <a:solidFill>
                <a:schemeClr val="tx1"/>
              </a:solidFill>
              <a:prstDash val="solid"/>
              <a:headEnd type="none" w="med" len="med"/>
              <a:tailEnd type="triangle" w="med" len="med"/>
            </a:ln>
          </p:spPr>
        </p:sp>
        <p:sp>
          <p:nvSpPr>
            <p:cNvPr id="46114" name="Text Box 20"/>
            <p:cNvSpPr txBox="1"/>
            <p:nvPr/>
          </p:nvSpPr>
          <p:spPr>
            <a:xfrm>
              <a:off x="641" y="3167"/>
              <a:ext cx="1462" cy="213"/>
            </a:xfrm>
            <a:prstGeom prst="rect">
              <a:avLst/>
            </a:prstGeom>
            <a:noFill/>
            <a:ln w="9525">
              <a:noFill/>
            </a:ln>
          </p:spPr>
          <p:txBody>
            <a:bodyPr wrap="none" anchor="ctr" anchorCtr="0">
              <a:spAutoFit/>
            </a:bodyPr>
            <a:lstStyle/>
            <a:p>
              <a:pPr algn="ctr" eaLnBrk="0" hangingPunct="0">
                <a:spcBef>
                  <a:spcPct val="50000"/>
                </a:spcBef>
              </a:pPr>
              <a:r>
                <a:rPr lang="en-US" altLang="zh-CN" sz="1600" b="1" dirty="0">
                  <a:latin typeface="宋体" panose="02000500000000000000" pitchFamily="2" charset="-122"/>
                </a:rPr>
                <a:t>acq     w(x)     w(y)     w(z)    rel</a:t>
              </a:r>
              <a:endParaRPr lang="en-US" altLang="zh-CN" sz="1600" b="1" dirty="0">
                <a:latin typeface="宋体" panose="02000500000000000000" pitchFamily="2" charset="-122"/>
              </a:endParaRPr>
            </a:p>
          </p:txBody>
        </p:sp>
        <p:sp>
          <p:nvSpPr>
            <p:cNvPr id="46115" name="Line 23"/>
            <p:cNvSpPr/>
            <p:nvPr/>
          </p:nvSpPr>
          <p:spPr>
            <a:xfrm>
              <a:off x="2160" y="3360"/>
              <a:ext cx="288" cy="384"/>
            </a:xfrm>
            <a:prstGeom prst="line">
              <a:avLst/>
            </a:prstGeom>
            <a:ln w="9525" cap="flat" cmpd="sng">
              <a:solidFill>
                <a:schemeClr val="tx1"/>
              </a:solidFill>
              <a:prstDash val="solid"/>
              <a:headEnd type="none" w="med" len="med"/>
              <a:tailEnd type="triangle" w="med" len="med"/>
            </a:ln>
          </p:spPr>
        </p:sp>
        <p:sp>
          <p:nvSpPr>
            <p:cNvPr id="46116" name="Text Box 25"/>
            <p:cNvSpPr txBox="1"/>
            <p:nvPr/>
          </p:nvSpPr>
          <p:spPr>
            <a:xfrm>
              <a:off x="2311" y="3407"/>
              <a:ext cx="292" cy="213"/>
            </a:xfrm>
            <a:prstGeom prst="rect">
              <a:avLst/>
            </a:prstGeom>
            <a:noFill/>
            <a:ln w="9525">
              <a:noFill/>
            </a:ln>
          </p:spPr>
          <p:txBody>
            <a:bodyPr wrap="none" anchor="ctr" anchorCtr="0">
              <a:spAutoFit/>
            </a:bodyPr>
            <a:lstStyle/>
            <a:p>
              <a:pPr algn="ctr" eaLnBrk="0" hangingPunct="0">
                <a:spcBef>
                  <a:spcPct val="50000"/>
                </a:spcBef>
              </a:pPr>
              <a:r>
                <a:rPr lang="en-US" altLang="zh-CN" sz="1600" dirty="0">
                  <a:latin typeface="宋体" panose="02000500000000000000" pitchFamily="2" charset="-122"/>
                </a:rPr>
                <a:t>x,y,z</a:t>
              </a:r>
              <a:endParaRPr lang="en-US" altLang="zh-CN" sz="1600" dirty="0">
                <a:latin typeface="宋体" panose="02000500000000000000" pitchFamily="2" charset="-122"/>
              </a:endParaRPr>
            </a:p>
          </p:txBody>
        </p:sp>
        <p:sp>
          <p:nvSpPr>
            <p:cNvPr id="46117" name="Text Box 27"/>
            <p:cNvSpPr txBox="1"/>
            <p:nvPr/>
          </p:nvSpPr>
          <p:spPr>
            <a:xfrm>
              <a:off x="1142" y="3714"/>
              <a:ext cx="344" cy="291"/>
            </a:xfrm>
            <a:prstGeom prst="rect">
              <a:avLst/>
            </a:prstGeom>
            <a:noFill/>
            <a:ln w="9525">
              <a:noFill/>
            </a:ln>
          </p:spPr>
          <p:txBody>
            <a:bodyPr wrap="none" anchor="ctr" anchorCtr="0">
              <a:spAutoFit/>
            </a:bodyPr>
            <a:lstStyle/>
            <a:p>
              <a:pPr algn="ctr" eaLnBrk="0" hangingPunct="0">
                <a:spcBef>
                  <a:spcPct val="50000"/>
                </a:spcBef>
              </a:pPr>
              <a:r>
                <a:rPr lang="en-US" altLang="zh-CN" b="1" dirty="0">
                  <a:latin typeface="宋体" panose="02000500000000000000" pitchFamily="2" charset="-122"/>
                </a:rPr>
                <a:t>ERC</a:t>
              </a:r>
              <a:endParaRPr lang="en-US" altLang="zh-CN" sz="2400" b="1" dirty="0">
                <a:latin typeface="宋体" panose="02000500000000000000" pitchFamily="2" charset="-122"/>
              </a:endParaRPr>
            </a:p>
          </p:txBody>
        </p:sp>
      </p:grpSp>
      <p:grpSp>
        <p:nvGrpSpPr>
          <p:cNvPr id="46086" name="Group 57"/>
          <p:cNvGrpSpPr/>
          <p:nvPr/>
        </p:nvGrpSpPr>
        <p:grpSpPr>
          <a:xfrm>
            <a:off x="5907088" y="3579813"/>
            <a:ext cx="5345112" cy="2822575"/>
            <a:chOff x="3024" y="2255"/>
            <a:chExt cx="2736" cy="1778"/>
          </a:xfrm>
        </p:grpSpPr>
        <p:sp>
          <p:nvSpPr>
            <p:cNvPr id="46087" name="Rectangle 56"/>
            <p:cNvSpPr/>
            <p:nvPr/>
          </p:nvSpPr>
          <p:spPr>
            <a:xfrm>
              <a:off x="3024" y="2256"/>
              <a:ext cx="2736" cy="177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宋体" panose="02000500000000000000" pitchFamily="2" charset="-122"/>
              </a:endParaRPr>
            </a:p>
          </p:txBody>
        </p:sp>
        <p:grpSp>
          <p:nvGrpSpPr>
            <p:cNvPr id="46088" name="Group 53"/>
            <p:cNvGrpSpPr/>
            <p:nvPr/>
          </p:nvGrpSpPr>
          <p:grpSpPr>
            <a:xfrm>
              <a:off x="3120" y="3167"/>
              <a:ext cx="2496" cy="674"/>
              <a:chOff x="3120" y="3167"/>
              <a:chExt cx="2496" cy="674"/>
            </a:xfrm>
          </p:grpSpPr>
          <p:sp>
            <p:nvSpPr>
              <p:cNvPr id="46102" name="Line 33"/>
              <p:cNvSpPr/>
              <p:nvPr/>
            </p:nvSpPr>
            <p:spPr>
              <a:xfrm>
                <a:off x="3120" y="3312"/>
                <a:ext cx="2496" cy="0"/>
              </a:xfrm>
              <a:prstGeom prst="line">
                <a:avLst/>
              </a:prstGeom>
              <a:ln w="9525" cap="flat" cmpd="sng">
                <a:solidFill>
                  <a:schemeClr val="tx1"/>
                </a:solidFill>
                <a:prstDash val="solid"/>
                <a:headEnd type="none" w="med" len="med"/>
                <a:tailEnd type="triangle" w="med" len="med"/>
              </a:ln>
            </p:spPr>
          </p:sp>
          <p:sp>
            <p:nvSpPr>
              <p:cNvPr id="46103" name="Line 34"/>
              <p:cNvSpPr/>
              <p:nvPr/>
            </p:nvSpPr>
            <p:spPr>
              <a:xfrm>
                <a:off x="3120" y="3552"/>
                <a:ext cx="2496" cy="0"/>
              </a:xfrm>
              <a:prstGeom prst="line">
                <a:avLst/>
              </a:prstGeom>
              <a:ln w="9525" cap="flat" cmpd="sng">
                <a:solidFill>
                  <a:schemeClr val="tx1"/>
                </a:solidFill>
                <a:prstDash val="solid"/>
                <a:headEnd type="none" w="med" len="med"/>
                <a:tailEnd type="triangle" w="med" len="med"/>
              </a:ln>
            </p:spPr>
          </p:sp>
          <p:sp>
            <p:nvSpPr>
              <p:cNvPr id="46104" name="Line 35"/>
              <p:cNvSpPr/>
              <p:nvPr/>
            </p:nvSpPr>
            <p:spPr>
              <a:xfrm>
                <a:off x="3120" y="3792"/>
                <a:ext cx="2496" cy="0"/>
              </a:xfrm>
              <a:prstGeom prst="line">
                <a:avLst/>
              </a:prstGeom>
              <a:ln w="9525" cap="flat" cmpd="sng">
                <a:solidFill>
                  <a:schemeClr val="tx1"/>
                </a:solidFill>
                <a:prstDash val="solid"/>
                <a:headEnd type="none" w="med" len="med"/>
                <a:tailEnd type="triangle" w="med" len="med"/>
              </a:ln>
            </p:spPr>
          </p:sp>
          <p:sp>
            <p:nvSpPr>
              <p:cNvPr id="46105" name="Text Box 42"/>
              <p:cNvSpPr txBox="1"/>
              <p:nvPr/>
            </p:nvSpPr>
            <p:spPr>
              <a:xfrm>
                <a:off x="3136" y="3167"/>
                <a:ext cx="584" cy="194"/>
              </a:xfrm>
              <a:prstGeom prst="rect">
                <a:avLst/>
              </a:prstGeom>
              <a:noFill/>
              <a:ln w="9525">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acq  w(x)  rel</a:t>
                </a:r>
                <a:endParaRPr lang="en-US" altLang="zh-CN" sz="1400" dirty="0">
                  <a:latin typeface="宋体" panose="02000500000000000000" pitchFamily="2" charset="-122"/>
                </a:endParaRPr>
              </a:p>
            </p:txBody>
          </p:sp>
          <p:sp>
            <p:nvSpPr>
              <p:cNvPr id="46106" name="Text Box 43"/>
              <p:cNvSpPr txBox="1"/>
              <p:nvPr/>
            </p:nvSpPr>
            <p:spPr>
              <a:xfrm>
                <a:off x="4000" y="3407"/>
                <a:ext cx="584" cy="194"/>
              </a:xfrm>
              <a:prstGeom prst="rect">
                <a:avLst/>
              </a:prstGeom>
              <a:noFill/>
              <a:ln w="9525">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acq  w(x)  rel</a:t>
                </a:r>
                <a:endParaRPr lang="en-US" altLang="zh-CN" sz="1400" dirty="0">
                  <a:latin typeface="宋体" panose="02000500000000000000" pitchFamily="2" charset="-122"/>
                </a:endParaRPr>
              </a:p>
            </p:txBody>
          </p:sp>
          <p:sp>
            <p:nvSpPr>
              <p:cNvPr id="46107" name="Text Box 44"/>
              <p:cNvSpPr txBox="1"/>
              <p:nvPr/>
            </p:nvSpPr>
            <p:spPr>
              <a:xfrm>
                <a:off x="4912" y="3647"/>
                <a:ext cx="584" cy="194"/>
              </a:xfrm>
              <a:prstGeom prst="rect">
                <a:avLst/>
              </a:prstGeom>
              <a:noFill/>
              <a:ln w="9525">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acq  w(x)  rel</a:t>
                </a:r>
                <a:endParaRPr lang="en-US" altLang="zh-CN" sz="1400" dirty="0">
                  <a:latin typeface="宋体" panose="02000500000000000000" pitchFamily="2" charset="-122"/>
                </a:endParaRPr>
              </a:p>
            </p:txBody>
          </p:sp>
          <p:sp>
            <p:nvSpPr>
              <p:cNvPr id="46108" name="Line 46"/>
              <p:cNvSpPr/>
              <p:nvPr/>
            </p:nvSpPr>
            <p:spPr>
              <a:xfrm>
                <a:off x="3696" y="3312"/>
                <a:ext cx="240" cy="240"/>
              </a:xfrm>
              <a:prstGeom prst="line">
                <a:avLst/>
              </a:prstGeom>
              <a:ln w="9525" cap="flat" cmpd="sng">
                <a:solidFill>
                  <a:schemeClr val="tx1"/>
                </a:solidFill>
                <a:prstDash val="solid"/>
                <a:headEnd type="none" w="med" len="med"/>
                <a:tailEnd type="triangle" w="med" len="med"/>
              </a:ln>
            </p:spPr>
          </p:sp>
          <p:sp>
            <p:nvSpPr>
              <p:cNvPr id="46109" name="Line 47"/>
              <p:cNvSpPr/>
              <p:nvPr/>
            </p:nvSpPr>
            <p:spPr>
              <a:xfrm>
                <a:off x="4656" y="3552"/>
                <a:ext cx="240" cy="240"/>
              </a:xfrm>
              <a:prstGeom prst="line">
                <a:avLst/>
              </a:prstGeom>
              <a:ln w="9525" cap="flat" cmpd="sng">
                <a:solidFill>
                  <a:schemeClr val="tx1"/>
                </a:solidFill>
                <a:prstDash val="solid"/>
                <a:headEnd type="none" w="med" len="med"/>
                <a:tailEnd type="triangle" w="med" len="med"/>
              </a:ln>
            </p:spPr>
          </p:sp>
        </p:grpSp>
        <p:grpSp>
          <p:nvGrpSpPr>
            <p:cNvPr id="46089" name="Group 52"/>
            <p:cNvGrpSpPr/>
            <p:nvPr/>
          </p:nvGrpSpPr>
          <p:grpSpPr>
            <a:xfrm>
              <a:off x="3120" y="2255"/>
              <a:ext cx="2496" cy="674"/>
              <a:chOff x="3120" y="2351"/>
              <a:chExt cx="2496" cy="674"/>
            </a:xfrm>
          </p:grpSpPr>
          <p:sp>
            <p:nvSpPr>
              <p:cNvPr id="46092" name="Line 29"/>
              <p:cNvSpPr/>
              <p:nvPr/>
            </p:nvSpPr>
            <p:spPr>
              <a:xfrm>
                <a:off x="3120" y="2496"/>
                <a:ext cx="2496" cy="0"/>
              </a:xfrm>
              <a:prstGeom prst="line">
                <a:avLst/>
              </a:prstGeom>
              <a:ln w="9525" cap="flat" cmpd="sng">
                <a:solidFill>
                  <a:schemeClr val="tx1"/>
                </a:solidFill>
                <a:prstDash val="solid"/>
                <a:headEnd type="none" w="med" len="med"/>
                <a:tailEnd type="triangle" w="med" len="med"/>
              </a:ln>
            </p:spPr>
          </p:sp>
          <p:sp>
            <p:nvSpPr>
              <p:cNvPr id="46093" name="Line 30"/>
              <p:cNvSpPr/>
              <p:nvPr/>
            </p:nvSpPr>
            <p:spPr>
              <a:xfrm>
                <a:off x="3120" y="2736"/>
                <a:ext cx="2496" cy="0"/>
              </a:xfrm>
              <a:prstGeom prst="line">
                <a:avLst/>
              </a:prstGeom>
              <a:ln w="9525" cap="flat" cmpd="sng">
                <a:solidFill>
                  <a:schemeClr val="tx1"/>
                </a:solidFill>
                <a:prstDash val="solid"/>
                <a:headEnd type="none" w="med" len="med"/>
                <a:tailEnd type="triangle" w="med" len="med"/>
              </a:ln>
            </p:spPr>
          </p:sp>
          <p:sp>
            <p:nvSpPr>
              <p:cNvPr id="46094" name="Line 31"/>
              <p:cNvSpPr/>
              <p:nvPr/>
            </p:nvSpPr>
            <p:spPr>
              <a:xfrm>
                <a:off x="3120" y="2976"/>
                <a:ext cx="2496" cy="0"/>
              </a:xfrm>
              <a:prstGeom prst="line">
                <a:avLst/>
              </a:prstGeom>
              <a:ln w="9525" cap="flat" cmpd="sng">
                <a:solidFill>
                  <a:schemeClr val="tx1"/>
                </a:solidFill>
                <a:prstDash val="solid"/>
                <a:headEnd type="none" w="med" len="med"/>
                <a:tailEnd type="triangle" w="med" len="med"/>
              </a:ln>
            </p:spPr>
          </p:sp>
          <p:sp>
            <p:nvSpPr>
              <p:cNvPr id="46095" name="Text Box 38"/>
              <p:cNvSpPr txBox="1"/>
              <p:nvPr/>
            </p:nvSpPr>
            <p:spPr>
              <a:xfrm>
                <a:off x="3136" y="2351"/>
                <a:ext cx="584" cy="194"/>
              </a:xfrm>
              <a:prstGeom prst="rect">
                <a:avLst/>
              </a:prstGeom>
              <a:noFill/>
              <a:ln w="9525">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acq  w(x)  rel</a:t>
                </a:r>
                <a:endParaRPr lang="en-US" altLang="zh-CN" sz="1400" dirty="0">
                  <a:latin typeface="宋体" panose="02000500000000000000" pitchFamily="2" charset="-122"/>
                </a:endParaRPr>
              </a:p>
            </p:txBody>
          </p:sp>
          <p:sp>
            <p:nvSpPr>
              <p:cNvPr id="46096" name="Text Box 39"/>
              <p:cNvSpPr txBox="1"/>
              <p:nvPr/>
            </p:nvSpPr>
            <p:spPr>
              <a:xfrm>
                <a:off x="4000" y="2591"/>
                <a:ext cx="584" cy="194"/>
              </a:xfrm>
              <a:prstGeom prst="rect">
                <a:avLst/>
              </a:prstGeom>
              <a:noFill/>
              <a:ln w="9525">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acq  w(x)  rel</a:t>
                </a:r>
                <a:endParaRPr lang="en-US" altLang="zh-CN" sz="1400" dirty="0">
                  <a:latin typeface="宋体" panose="02000500000000000000" pitchFamily="2" charset="-122"/>
                </a:endParaRPr>
              </a:p>
            </p:txBody>
          </p:sp>
          <p:sp>
            <p:nvSpPr>
              <p:cNvPr id="46097" name="Text Box 40"/>
              <p:cNvSpPr txBox="1"/>
              <p:nvPr/>
            </p:nvSpPr>
            <p:spPr>
              <a:xfrm>
                <a:off x="4864" y="2831"/>
                <a:ext cx="584" cy="194"/>
              </a:xfrm>
              <a:prstGeom prst="rect">
                <a:avLst/>
              </a:prstGeom>
              <a:noFill/>
              <a:ln w="9525">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acq  w(x)  rel</a:t>
                </a:r>
                <a:endParaRPr lang="en-US" altLang="zh-CN" sz="1400" dirty="0">
                  <a:latin typeface="宋体" panose="02000500000000000000" pitchFamily="2" charset="-122"/>
                </a:endParaRPr>
              </a:p>
            </p:txBody>
          </p:sp>
          <p:sp>
            <p:nvSpPr>
              <p:cNvPr id="46098" name="Line 48"/>
              <p:cNvSpPr/>
              <p:nvPr/>
            </p:nvSpPr>
            <p:spPr>
              <a:xfrm>
                <a:off x="4608" y="2736"/>
                <a:ext cx="240" cy="240"/>
              </a:xfrm>
              <a:prstGeom prst="line">
                <a:avLst/>
              </a:prstGeom>
              <a:ln w="9525" cap="flat" cmpd="sng">
                <a:solidFill>
                  <a:schemeClr val="tx1"/>
                </a:solidFill>
                <a:prstDash val="solid"/>
                <a:headEnd type="none" w="med" len="med"/>
                <a:tailEnd type="triangle" w="med" len="med"/>
              </a:ln>
            </p:spPr>
          </p:sp>
          <p:sp>
            <p:nvSpPr>
              <p:cNvPr id="46099" name="Line 49"/>
              <p:cNvSpPr/>
              <p:nvPr/>
            </p:nvSpPr>
            <p:spPr>
              <a:xfrm>
                <a:off x="3696" y="2496"/>
                <a:ext cx="240" cy="240"/>
              </a:xfrm>
              <a:prstGeom prst="line">
                <a:avLst/>
              </a:prstGeom>
              <a:ln w="9525" cap="flat" cmpd="sng">
                <a:solidFill>
                  <a:schemeClr val="tx1"/>
                </a:solidFill>
                <a:prstDash val="solid"/>
                <a:headEnd type="none" w="med" len="med"/>
                <a:tailEnd type="triangle" w="med" len="med"/>
              </a:ln>
            </p:spPr>
          </p:sp>
          <p:sp>
            <p:nvSpPr>
              <p:cNvPr id="46100" name="Line 50"/>
              <p:cNvSpPr/>
              <p:nvPr/>
            </p:nvSpPr>
            <p:spPr>
              <a:xfrm>
                <a:off x="3696" y="2496"/>
                <a:ext cx="240" cy="480"/>
              </a:xfrm>
              <a:prstGeom prst="line">
                <a:avLst/>
              </a:prstGeom>
              <a:ln w="9525" cap="flat" cmpd="sng">
                <a:solidFill>
                  <a:schemeClr val="tx1"/>
                </a:solidFill>
                <a:prstDash val="solid"/>
                <a:headEnd type="none" w="med" len="med"/>
                <a:tailEnd type="triangle" w="med" len="med"/>
              </a:ln>
            </p:spPr>
          </p:sp>
          <p:sp>
            <p:nvSpPr>
              <p:cNvPr id="46101" name="Line 51"/>
              <p:cNvSpPr/>
              <p:nvPr/>
            </p:nvSpPr>
            <p:spPr>
              <a:xfrm flipV="1">
                <a:off x="4608" y="2496"/>
                <a:ext cx="240" cy="240"/>
              </a:xfrm>
              <a:prstGeom prst="line">
                <a:avLst/>
              </a:prstGeom>
              <a:ln w="9525" cap="flat" cmpd="sng">
                <a:solidFill>
                  <a:schemeClr val="tx1"/>
                </a:solidFill>
                <a:prstDash val="solid"/>
                <a:headEnd type="none" w="med" len="med"/>
                <a:tailEnd type="triangle" w="med" len="med"/>
              </a:ln>
            </p:spPr>
          </p:sp>
        </p:grpSp>
        <p:sp>
          <p:nvSpPr>
            <p:cNvPr id="46090" name="Text Box 54"/>
            <p:cNvSpPr txBox="1"/>
            <p:nvPr/>
          </p:nvSpPr>
          <p:spPr>
            <a:xfrm>
              <a:off x="4110" y="2869"/>
              <a:ext cx="373" cy="252"/>
            </a:xfrm>
            <a:prstGeom prst="rect">
              <a:avLst/>
            </a:prstGeom>
            <a:noFill/>
            <a:ln w="9525">
              <a:noFill/>
            </a:ln>
          </p:spPr>
          <p:txBody>
            <a:bodyPr wrap="none" anchor="ctr" anchorCtr="0">
              <a:spAutoFit/>
            </a:bodyPr>
            <a:lstStyle/>
            <a:p>
              <a:pPr algn="ctr" eaLnBrk="0" hangingPunct="0">
                <a:spcBef>
                  <a:spcPct val="50000"/>
                </a:spcBef>
              </a:pPr>
              <a:r>
                <a:rPr lang="en-US" altLang="zh-CN" sz="2000" b="1" dirty="0">
                  <a:latin typeface="宋体" panose="02000500000000000000" pitchFamily="2" charset="-122"/>
                </a:rPr>
                <a:t>ERC</a:t>
              </a:r>
              <a:endParaRPr lang="en-US" altLang="zh-CN" sz="2000" b="1" dirty="0">
                <a:latin typeface="宋体" panose="02000500000000000000" pitchFamily="2" charset="-122"/>
              </a:endParaRPr>
            </a:p>
          </p:txBody>
        </p:sp>
        <p:sp>
          <p:nvSpPr>
            <p:cNvPr id="46091" name="Text Box 55"/>
            <p:cNvSpPr txBox="1"/>
            <p:nvPr/>
          </p:nvSpPr>
          <p:spPr>
            <a:xfrm>
              <a:off x="4121" y="3781"/>
              <a:ext cx="373" cy="252"/>
            </a:xfrm>
            <a:prstGeom prst="rect">
              <a:avLst/>
            </a:prstGeom>
            <a:noFill/>
            <a:ln w="9525">
              <a:noFill/>
            </a:ln>
          </p:spPr>
          <p:txBody>
            <a:bodyPr wrap="none" anchor="ctr" anchorCtr="0">
              <a:spAutoFit/>
            </a:bodyPr>
            <a:lstStyle/>
            <a:p>
              <a:pPr algn="ctr" eaLnBrk="0" hangingPunct="0">
                <a:spcBef>
                  <a:spcPct val="50000"/>
                </a:spcBef>
              </a:pPr>
              <a:r>
                <a:rPr lang="en-US" altLang="zh-CN" sz="2000" b="1" dirty="0">
                  <a:latin typeface="宋体" panose="02000500000000000000" pitchFamily="2" charset="-122"/>
                </a:rPr>
                <a:t>LRC</a:t>
              </a:r>
              <a:endParaRPr lang="en-US" altLang="zh-CN" sz="2000" b="1" dirty="0">
                <a:latin typeface="宋体" panose="02000500000000000000" pitchFamily="2" charset="-122"/>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7107" name="Rectangle 2"/>
          <p:cNvSpPr/>
          <p:nvPr/>
        </p:nvSpPr>
        <p:spPr>
          <a:xfrm>
            <a:off x="601663" y="0"/>
            <a:ext cx="11164887" cy="1019175"/>
          </a:xfrm>
          <a:prstGeom prst="rect">
            <a:avLst/>
          </a:prstGeom>
          <a:noFill/>
          <a:ln w="9525">
            <a:noFill/>
          </a:ln>
        </p:spPr>
        <p:txBody>
          <a:bodyPr lIns="92075" tIns="46038" rIns="92075" bIns="46038"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侦听协议</a:t>
            </a:r>
            <a:endParaRPr lang="zh-CN" altLang="en-US" sz="3200" b="1" dirty="0">
              <a:solidFill>
                <a:srgbClr val="FF0000"/>
              </a:solidFill>
              <a:latin typeface="Arial" panose="02080604020202020204" pitchFamily="34" charset="0"/>
              <a:ea typeface="黑体" panose="02000500000000000000" pitchFamily="49" charset="-122"/>
            </a:endParaRPr>
          </a:p>
        </p:txBody>
      </p:sp>
      <p:sp>
        <p:nvSpPr>
          <p:cNvPr id="44036" name="Rectangle 3"/>
          <p:cNvSpPr>
            <a:spLocks noChangeArrowheads="1"/>
          </p:cNvSpPr>
          <p:nvPr/>
        </p:nvSpPr>
        <p:spPr bwMode="auto">
          <a:xfrm>
            <a:off x="511175" y="1125538"/>
            <a:ext cx="10990263" cy="5275263"/>
          </a:xfrm>
          <a:prstGeom prst="rect">
            <a:avLst/>
          </a:prstGeom>
          <a:noFill/>
          <a:ln w="9525">
            <a:noFill/>
            <a:miter lim="800000"/>
          </a:ln>
        </p:spPr>
        <p:txBody>
          <a:bodyPr lIns="92075" tIns="46038" rIns="92075" bIns="46038"/>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通过广播维护一致性</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写数的处理机把新写的值或所需的存储行地址广播出去</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其他处理机侦听广播，当广播中的内容与自己有关时，接受新值或提供数据</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存储器和每个处理机的</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Cache</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只维护状态信息</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适合于总线结构的</a:t>
            </a:r>
            <a:r>
              <a:rPr kumimoji="0" lang="en-US" altLang="zh-CN" sz="2000" b="1" i="0" u="none" strike="noStrike" kern="1200" cap="none" spc="0" normalizeH="0" baseline="0" noProof="0" dirty="0">
                <a:ln>
                  <a:noFill/>
                </a:ln>
                <a:solidFill>
                  <a:schemeClr val="tx1"/>
                </a:solidFill>
                <a:effectLst/>
                <a:uLnTx/>
                <a:uFillTx/>
                <a:latin typeface="+mn-ea"/>
                <a:ea typeface="+mn-ea"/>
                <a:cs typeface="+mn-cs"/>
              </a:rPr>
              <a:t>SMP</a:t>
            </a:r>
            <a:r>
              <a:rPr kumimoji="0" lang="zh-CN" altLang="en-US" sz="2000" b="1" i="0" u="none" strike="noStrike" kern="1200" cap="none" spc="0" normalizeH="0" baseline="0" noProof="0" dirty="0">
                <a:ln>
                  <a:noFill/>
                </a:ln>
                <a:solidFill>
                  <a:schemeClr val="tx1"/>
                </a:solidFill>
                <a:effectLst/>
                <a:uLnTx/>
                <a:uFillTx/>
                <a:latin typeface="+mn-ea"/>
                <a:ea typeface="+mn-ea"/>
                <a:cs typeface="+mn-cs"/>
              </a:rPr>
              <a:t>系统中</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总线是一种廉价而有效的广播工具</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可伸缩性有限</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总线是一种独占性资源</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总线延迟随处理机数的增加而增加：仲裁、总线长度、总线阻抗</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8131" name="Rectangle 2"/>
          <p:cNvSpPr>
            <a:spLocks noGrp="1"/>
          </p:cNvSpPr>
          <p:nvPr>
            <p:ph type="title"/>
          </p:nvPr>
        </p:nvSpPr>
        <p:spPr>
          <a:xfrm>
            <a:off x="601663" y="0"/>
            <a:ext cx="10987087" cy="1052513"/>
          </a:xfrm>
        </p:spPr>
        <p:txBody>
          <a:bodyPr vert="horz" wrap="square" lIns="92075" tIns="46038" rIns="92075" bIns="46038" anchor="ctr" anchorCtr="0"/>
          <a:lstStyle/>
          <a:p>
            <a:pPr eaLnBrk="1" hangingPunct="1"/>
            <a:r>
              <a:rPr lang="zh-CN" altLang="en-US" dirty="0"/>
              <a:t>基于目录的协议</a:t>
            </a:r>
            <a:endParaRPr lang="zh-CN" altLang="en-US" sz="3200" b="1" dirty="0"/>
          </a:p>
        </p:txBody>
      </p:sp>
      <p:sp>
        <p:nvSpPr>
          <p:cNvPr id="45060" name="Rectangle 3"/>
          <p:cNvSpPr>
            <a:spLocks noGrp="1" noChangeArrowheads="1"/>
          </p:cNvSpPr>
          <p:nvPr>
            <p:ph idx="1"/>
          </p:nvPr>
        </p:nvSpPr>
        <p:spPr>
          <a:xfrm>
            <a:off x="655638" y="1052513"/>
            <a:ext cx="10409238" cy="5272088"/>
          </a:xfrm>
        </p:spPr>
        <p:txBody>
          <a:bodyPr vert="horz" wrap="square" lIns="92075" tIns="46038" rIns="92075" bIns="46038"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每个存储行对应一个目录项</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记录拥有该行的一个副本的那些处理机</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当某个处理机写该行时</a:t>
            </a:r>
            <a:r>
              <a:rPr kumimoji="0" lang="en-US" altLang="zh-CN" sz="1800" b="1" i="0" u="none" strike="noStrike" kern="0" cap="none" spc="0" normalizeH="0" baseline="0" noProof="0" dirty="0" smtClean="0">
                <a:ln>
                  <a:noFill/>
                </a:ln>
                <a:solidFill>
                  <a:schemeClr val="tx1"/>
                </a:solidFill>
                <a:effectLst/>
                <a:uLnTx/>
                <a:uFillTx/>
                <a:latin typeface="+mn-ea"/>
                <a:ea typeface="+mn-ea"/>
              </a:rPr>
              <a:t>,</a:t>
            </a:r>
            <a:r>
              <a:rPr kumimoji="0" lang="zh-CN" altLang="en-US" sz="1800" b="1" i="0" u="none" strike="noStrike" kern="0" cap="none" spc="0" normalizeH="0" baseline="0" noProof="0" dirty="0" smtClean="0">
                <a:ln>
                  <a:noFill/>
                </a:ln>
                <a:solidFill>
                  <a:schemeClr val="tx1"/>
                </a:solidFill>
                <a:effectLst/>
                <a:uLnTx/>
                <a:uFillTx/>
                <a:latin typeface="+mn-ea"/>
                <a:ea typeface="+mn-ea"/>
              </a:rPr>
              <a:t>根据目录项的内容传播数据</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在</a:t>
            </a:r>
            <a:r>
              <a:rPr kumimoji="0" lang="en-US" altLang="zh-CN" sz="1800" b="1" i="0" u="none" strike="noStrike" kern="0" cap="none" spc="0" normalizeH="0" baseline="0" noProof="0" dirty="0" smtClean="0">
                <a:ln>
                  <a:noFill/>
                </a:ln>
                <a:solidFill>
                  <a:schemeClr val="tx1"/>
                </a:solidFill>
                <a:effectLst/>
                <a:uLnTx/>
                <a:uFillTx/>
                <a:latin typeface="+mn-ea"/>
                <a:ea typeface="+mn-ea"/>
              </a:rPr>
              <a:t>COMA</a:t>
            </a:r>
            <a:r>
              <a:rPr kumimoji="0" lang="zh-CN" altLang="en-US" sz="1800" b="1" i="0" u="none" strike="noStrike" kern="0" cap="none" spc="0" normalizeH="0" baseline="0" noProof="0" dirty="0" smtClean="0">
                <a:ln>
                  <a:noFill/>
                </a:ln>
                <a:solidFill>
                  <a:schemeClr val="tx1"/>
                </a:solidFill>
                <a:effectLst/>
                <a:uLnTx/>
                <a:uFillTx/>
                <a:latin typeface="+mn-ea"/>
                <a:ea typeface="+mn-ea"/>
              </a:rPr>
              <a:t>结构中，记录该行的</a:t>
            </a:r>
            <a:r>
              <a:rPr kumimoji="0" lang="en-US" altLang="zh-CN" sz="1800" b="1" i="0" u="none" strike="noStrike" kern="0" cap="none" spc="0" normalizeH="0" baseline="0" noProof="0" dirty="0" smtClean="0">
                <a:ln>
                  <a:noFill/>
                </a:ln>
                <a:solidFill>
                  <a:schemeClr val="tx1"/>
                </a:solidFill>
                <a:effectLst/>
                <a:uLnTx/>
                <a:uFillTx/>
                <a:latin typeface="+mn-ea"/>
                <a:ea typeface="+mn-ea"/>
              </a:rPr>
              <a:t>Owner</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由于避免了广播，目录协议有一定的伸缩性</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目录需要大量存储空间</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需要动态维护</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位向量目录</a:t>
            </a:r>
            <a:r>
              <a:rPr kumimoji="0" lang="en-US" altLang="zh-CN"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0" i="0" u="none" strike="noStrike" kern="0" cap="none" spc="0" normalizeH="0" baseline="0" noProof="0" dirty="0" smtClean="0">
                <a:ln>
                  <a:noFill/>
                </a:ln>
                <a:solidFill>
                  <a:schemeClr val="tx1"/>
                </a:solidFill>
                <a:effectLst/>
                <a:uLnTx/>
                <a:uFillTx/>
                <a:latin typeface="+mn-ea"/>
                <a:ea typeface="+mn-ea"/>
              </a:rPr>
              <a:t> </a:t>
            </a:r>
            <a:r>
              <a:rPr kumimoji="0" lang="en-US" altLang="zh-CN" sz="1800" b="1" i="0" u="none" strike="noStrike" kern="0" cap="none" spc="0" normalizeH="0" baseline="0" noProof="0" dirty="0" smtClean="0">
                <a:ln>
                  <a:noFill/>
                </a:ln>
                <a:solidFill>
                  <a:schemeClr val="tx1"/>
                </a:solidFill>
                <a:effectLst/>
                <a:uLnTx/>
                <a:uFillTx/>
                <a:latin typeface="+mn-ea"/>
                <a:ea typeface="+mn-ea"/>
              </a:rPr>
              <a:t>O(MN)</a:t>
            </a:r>
            <a:r>
              <a:rPr kumimoji="0" lang="zh-CN" altLang="en-US" sz="1800" b="1" i="0" u="none" strike="noStrike" kern="0" cap="none" spc="0" normalizeH="0" baseline="0" noProof="0" dirty="0" smtClean="0">
                <a:ln>
                  <a:noFill/>
                </a:ln>
                <a:solidFill>
                  <a:schemeClr val="tx1"/>
                </a:solidFill>
                <a:effectLst/>
                <a:uLnTx/>
                <a:uFillTx/>
                <a:latin typeface="+mn-ea"/>
                <a:ea typeface="+mn-ea"/>
              </a:rPr>
              <a:t>，存储开销大</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有限指针目录：</a:t>
            </a:r>
            <a:r>
              <a:rPr kumimoji="0" lang="en-US" altLang="zh-CN" sz="1800" b="1" i="0" u="none" strike="noStrike" kern="0" cap="none" spc="0" normalizeH="0" baseline="0" noProof="0" dirty="0" smtClean="0">
                <a:ln>
                  <a:noFill/>
                </a:ln>
                <a:solidFill>
                  <a:schemeClr val="tx1"/>
                </a:solidFill>
                <a:effectLst/>
                <a:uLnTx/>
                <a:uFillTx/>
                <a:latin typeface="+mn-ea"/>
                <a:ea typeface="+mn-ea"/>
              </a:rPr>
              <a:t>O(M </a:t>
            </a:r>
            <a:r>
              <a:rPr kumimoji="0" lang="en-US" altLang="zh-CN" sz="1800" b="1" i="0" u="none" strike="noStrike" kern="0" cap="none" spc="0" normalizeH="0" baseline="0" noProof="0" dirty="0" err="1" smtClean="0">
                <a:ln>
                  <a:noFill/>
                </a:ln>
                <a:solidFill>
                  <a:schemeClr val="tx1"/>
                </a:solidFill>
                <a:effectLst/>
                <a:uLnTx/>
                <a:uFillTx/>
                <a:latin typeface="+mn-ea"/>
                <a:ea typeface="+mn-ea"/>
              </a:rPr>
              <a:t>logN</a:t>
            </a:r>
            <a:r>
              <a:rPr kumimoji="0" lang="en-US" altLang="zh-CN" sz="1800" b="1" i="0" u="none" strike="noStrike" kern="0" cap="none" spc="0" normalizeH="0" baseline="0" noProof="0" dirty="0" smtClean="0">
                <a:ln>
                  <a:noFill/>
                </a:ln>
                <a:solidFill>
                  <a:schemeClr val="tx1"/>
                </a:solidFill>
                <a:effectLst/>
                <a:uLnTx/>
                <a:uFillTx/>
                <a:latin typeface="+mn-ea"/>
                <a:ea typeface="+mn-ea"/>
              </a:rPr>
              <a:t>)</a:t>
            </a:r>
            <a:r>
              <a:rPr kumimoji="0" lang="zh-CN" altLang="en-US" sz="1800" b="1" i="0" u="none" strike="noStrike" kern="0" cap="none" spc="0" normalizeH="0" baseline="0" noProof="0" dirty="0" smtClean="0">
                <a:ln>
                  <a:noFill/>
                </a:ln>
                <a:solidFill>
                  <a:schemeClr val="tx1"/>
                </a:solidFill>
                <a:effectLst/>
                <a:uLnTx/>
                <a:uFillTx/>
                <a:latin typeface="+mn-ea"/>
                <a:ea typeface="+mn-ea"/>
              </a:rPr>
              <a:t>，指针溢出</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链目录</a:t>
            </a:r>
            <a:r>
              <a:rPr kumimoji="0" lang="en-US" altLang="zh-CN" sz="1800" b="1" i="0" u="none" strike="noStrike" kern="0" cap="none" spc="0" normalizeH="0" baseline="0" noProof="0" dirty="0" smtClean="0">
                <a:ln>
                  <a:noFill/>
                </a:ln>
                <a:solidFill>
                  <a:schemeClr val="tx1"/>
                </a:solidFill>
                <a:effectLst/>
                <a:uLnTx/>
                <a:uFillTx/>
                <a:latin typeface="+mn-ea"/>
                <a:ea typeface="+mn-ea"/>
              </a:rPr>
              <a:t>: O(M </a:t>
            </a:r>
            <a:r>
              <a:rPr kumimoji="0" lang="en-US" altLang="zh-CN" sz="1800" b="1" i="0" u="none" strike="noStrike" kern="0" cap="none" spc="0" normalizeH="0" baseline="0" noProof="0" dirty="0" err="1" smtClean="0">
                <a:ln>
                  <a:noFill/>
                </a:ln>
                <a:solidFill>
                  <a:schemeClr val="tx1"/>
                </a:solidFill>
                <a:effectLst/>
                <a:uLnTx/>
                <a:uFillTx/>
                <a:latin typeface="+mn-ea"/>
                <a:ea typeface="+mn-ea"/>
              </a:rPr>
              <a:t>logN</a:t>
            </a:r>
            <a:r>
              <a:rPr kumimoji="0" lang="en-US" altLang="zh-CN" sz="1800" b="1" i="0" u="none" strike="noStrike" kern="0" cap="none" spc="0" normalizeH="0" baseline="0" noProof="0" dirty="0" smtClean="0">
                <a:ln>
                  <a:noFill/>
                </a:ln>
                <a:solidFill>
                  <a:schemeClr val="tx1"/>
                </a:solidFill>
                <a:effectLst/>
                <a:uLnTx/>
                <a:uFillTx/>
                <a:latin typeface="+mn-ea"/>
                <a:ea typeface="+mn-ea"/>
              </a:rPr>
              <a:t>)</a:t>
            </a:r>
            <a:r>
              <a:rPr kumimoji="0" lang="zh-CN" altLang="en-US" sz="1800" b="1" i="0" u="none" strike="noStrike" kern="0" cap="none" spc="0" normalizeH="0" baseline="0" noProof="0" dirty="0" smtClean="0">
                <a:ln>
                  <a:noFill/>
                </a:ln>
                <a:solidFill>
                  <a:schemeClr val="tx1"/>
                </a:solidFill>
                <a:effectLst/>
                <a:uLnTx/>
                <a:uFillTx/>
                <a:latin typeface="+mn-ea"/>
                <a:ea typeface="+mn-ea"/>
              </a:rPr>
              <a:t>，串行更新</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914400" y="87313"/>
            <a:ext cx="10361613" cy="1143000"/>
          </a:xfrm>
        </p:spPr>
        <p:txBody>
          <a:bodyPr vert="horz" wrap="square" lIns="91440" tIns="45720" rIns="91440" bIns="45720" anchor="ctr" anchorCtr="0"/>
          <a:lstStyle/>
          <a:p>
            <a:r>
              <a:rPr lang="en-US" altLang="zh-CN" dirty="0"/>
              <a:t>ESI</a:t>
            </a:r>
            <a:r>
              <a:rPr lang="zh-CN" altLang="en-US" dirty="0"/>
              <a:t>协议的状态</a:t>
            </a:r>
            <a:endParaRPr lang="zh-CN" altLang="en-US" dirty="0"/>
          </a:p>
        </p:txBody>
      </p:sp>
      <p:sp>
        <p:nvSpPr>
          <p:cNvPr id="22531" name="内容占位符 2"/>
          <p:cNvSpPr>
            <a:spLocks noGrp="1"/>
          </p:cNvSpPr>
          <p:nvPr>
            <p:ph idx="1"/>
          </p:nvPr>
        </p:nvSpPr>
        <p:spPr>
          <a:xfrm>
            <a:off x="242888" y="1204913"/>
            <a:ext cx="11610975" cy="3592513"/>
          </a:xfrm>
        </p:spPr>
        <p:txBody>
          <a:bodyPr vert="horz" wrap="square" lIns="91440" tIns="45720" rIns="91440" bIns="45720" numCol="1" anchor="t" anchorCtr="0" compatLnSpc="1"/>
          <a:lstStyle/>
          <a:p>
            <a:pPr marL="342900" marR="0" lvl="1" indent="-342900" algn="l" defTabSz="914400" rtl="0" eaLnBrk="0" fontAlgn="base" latinLnBrk="0" hangingPunct="0">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chemeClr val="tx1"/>
                </a:solidFill>
                <a:effectLst/>
                <a:uLnTx/>
                <a:uFillTx/>
                <a:latin typeface="+mn-ea"/>
                <a:ea typeface="+mn-ea"/>
              </a:rPr>
              <a:t>ESI </a:t>
            </a:r>
            <a:r>
              <a:rPr kumimoji="0" lang="zh-CN" altLang="zh-CN" sz="2000" b="1" i="0" u="none" strike="noStrike" kern="0" cap="none" spc="0" normalizeH="0" baseline="0" noProof="0" dirty="0" smtClean="0">
                <a:ln>
                  <a:noFill/>
                </a:ln>
                <a:solidFill>
                  <a:schemeClr val="tx1"/>
                </a:solidFill>
                <a:effectLst/>
                <a:uLnTx/>
                <a:uFillTx/>
                <a:latin typeface="+mn-ea"/>
                <a:ea typeface="+mn-ea"/>
              </a:rPr>
              <a:t>是指</a:t>
            </a:r>
            <a:r>
              <a:rPr kumimoji="0" lang="en-US" altLang="zh-CN" sz="2000" b="1" i="0" u="none" strike="noStrike" kern="0" cap="none" spc="0" normalizeH="0" baseline="0" noProof="0" dirty="0" smtClean="0">
                <a:ln>
                  <a:noFill/>
                </a:ln>
                <a:solidFill>
                  <a:schemeClr val="tx1"/>
                </a:solidFill>
                <a:effectLst/>
                <a:uLnTx/>
                <a:uFillTx/>
                <a:latin typeface="+mn-ea"/>
                <a:ea typeface="+mn-ea"/>
              </a:rPr>
              <a:t>Cache </a:t>
            </a:r>
            <a:r>
              <a:rPr kumimoji="0" lang="zh-CN" altLang="en-US" sz="2000" b="1" i="0" u="none" strike="noStrike" kern="0" cap="none" spc="0" normalizeH="0" baseline="0" noProof="0" dirty="0" smtClean="0">
                <a:ln>
                  <a:noFill/>
                </a:ln>
                <a:solidFill>
                  <a:schemeClr val="tx1"/>
                </a:solidFill>
                <a:effectLst/>
                <a:uLnTx/>
                <a:uFillTx/>
                <a:latin typeface="+mn-ea"/>
                <a:ea typeface="+mn-ea"/>
              </a:rPr>
              <a:t>行</a:t>
            </a:r>
            <a:r>
              <a:rPr kumimoji="0" lang="zh-CN" altLang="zh-CN" sz="2000" b="1" i="0" u="none" strike="noStrike" kern="0" cap="none" spc="0" normalizeH="0" baseline="0" noProof="0" dirty="0" smtClean="0">
                <a:ln>
                  <a:noFill/>
                </a:ln>
                <a:solidFill>
                  <a:schemeClr val="tx1"/>
                </a:solidFill>
                <a:effectLst/>
                <a:uLnTx/>
                <a:uFillTx/>
                <a:latin typeface="+mn-ea"/>
                <a:ea typeface="+mn-ea"/>
              </a:rPr>
              <a:t>的三种一致性状态：</a:t>
            </a:r>
            <a:endParaRPr kumimoji="0" lang="en-US" altLang="zh-CN" sz="2000" b="1" i="0" u="none" strike="noStrike" kern="0" cap="none" spc="0" normalizeH="0" baseline="0" noProof="0" dirty="0" smtClean="0">
              <a:ln>
                <a:noFill/>
              </a:ln>
              <a:solidFill>
                <a:schemeClr val="tx1"/>
              </a:solidFill>
              <a:effectLst/>
              <a:uLnTx/>
              <a:uFillTx/>
              <a:latin typeface="+mn-ea"/>
              <a:ea typeface="+mn-ea"/>
            </a:endParaRPr>
          </a:p>
          <a:p>
            <a:pPr marL="742950" marR="0" lvl="2" indent="-342900" algn="l" defTabSz="914400" rtl="0" eaLnBrk="0" fontAlgn="base" latinLnBrk="0" hangingPunct="0">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E</a:t>
            </a:r>
            <a:r>
              <a:rPr kumimoji="0" lang="zh-CN" altLang="zh-CN"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Exclusive</a:t>
            </a:r>
            <a:r>
              <a:rPr kumimoji="0" lang="zh-CN" altLang="zh-CN" sz="1800" b="1" i="0" u="none" strike="noStrike" kern="0" cap="none" spc="0" normalizeH="0" baseline="0" noProof="0" dirty="0" smtClean="0">
                <a:ln>
                  <a:noFill/>
                </a:ln>
                <a:solidFill>
                  <a:schemeClr val="tx1"/>
                </a:solidFill>
                <a:effectLst/>
                <a:uLnTx/>
                <a:uFillTx/>
                <a:latin typeface="+mn-ea"/>
                <a:ea typeface="+mn-ea"/>
              </a:rPr>
              <a:t>，独占</a:t>
            </a:r>
            <a:r>
              <a:rPr kumimoji="0" lang="zh-CN" altLang="en-US" sz="1800" b="1" i="0" u="none" strike="noStrike" kern="0" cap="none" spc="0" normalizeH="0" baseline="0" noProof="0" dirty="0" smtClean="0">
                <a:ln>
                  <a:noFill/>
                </a:ln>
                <a:solidFill>
                  <a:schemeClr val="tx1"/>
                </a:solidFill>
                <a:effectLst/>
                <a:uLnTx/>
                <a:uFillTx/>
                <a:latin typeface="+mn-ea"/>
                <a:ea typeface="+mn-ea"/>
              </a:rPr>
              <a:t>）：表明</a:t>
            </a:r>
            <a:r>
              <a:rPr kumimoji="0" lang="zh-CN" altLang="zh-CN" sz="1800" b="1" i="0" u="none" strike="noStrike" kern="0" cap="none" spc="0" normalizeH="0" baseline="0" noProof="0" dirty="0" smtClean="0">
                <a:ln>
                  <a:noFill/>
                </a:ln>
                <a:solidFill>
                  <a:schemeClr val="tx1"/>
                </a:solidFill>
                <a:effectLst/>
                <a:uLnTx/>
                <a:uFillTx/>
                <a:latin typeface="+mn-ea"/>
                <a:ea typeface="+mn-ea"/>
              </a:rPr>
              <a:t>对应</a:t>
            </a:r>
            <a:r>
              <a:rPr kumimoji="0" lang="en-US" altLang="zh-CN" sz="1800" b="1" i="0" u="none" strike="noStrike" kern="0" cap="none" spc="0" normalizeH="0" baseline="0" noProof="0" dirty="0" smtClean="0">
                <a:ln>
                  <a:noFill/>
                </a:ln>
                <a:solidFill>
                  <a:schemeClr val="tx1"/>
                </a:solidFill>
                <a:effectLst/>
                <a:uLnTx/>
                <a:uFillTx/>
                <a:latin typeface="+mn-ea"/>
                <a:ea typeface="+mn-ea"/>
              </a:rPr>
              <a:t>Cache </a:t>
            </a:r>
            <a:r>
              <a:rPr kumimoji="0" lang="zh-CN" altLang="en-US" sz="1800" b="1" i="0" u="none" strike="noStrike" kern="0" cap="none" spc="0" normalizeH="0" baseline="0" noProof="0" dirty="0" smtClean="0">
                <a:ln>
                  <a:noFill/>
                </a:ln>
                <a:solidFill>
                  <a:schemeClr val="tx1"/>
                </a:solidFill>
                <a:effectLst/>
                <a:uLnTx/>
                <a:uFillTx/>
                <a:latin typeface="+mn-ea"/>
                <a:ea typeface="+mn-ea"/>
              </a:rPr>
              <a:t>行</a:t>
            </a:r>
            <a:r>
              <a:rPr kumimoji="0" lang="zh-CN" altLang="zh-CN" sz="1800" b="1" i="0" u="none" strike="noStrike" kern="0" cap="none" spc="0" normalizeH="0" baseline="0" noProof="0" dirty="0" smtClean="0">
                <a:ln>
                  <a:noFill/>
                </a:ln>
                <a:solidFill>
                  <a:schemeClr val="tx1"/>
                </a:solidFill>
                <a:effectLst/>
                <a:uLnTx/>
                <a:uFillTx/>
                <a:latin typeface="+mn-ea"/>
                <a:ea typeface="+mn-ea"/>
              </a:rPr>
              <a:t>被当前处理器核独占</a:t>
            </a:r>
            <a:r>
              <a:rPr kumimoji="0" lang="zh-CN" altLang="en-US" sz="1800" b="1" i="0" u="none" strike="noStrike" kern="0" cap="none" spc="0" normalizeH="0" baseline="0" noProof="0" dirty="0" smtClean="0">
                <a:ln>
                  <a:noFill/>
                </a:ln>
                <a:solidFill>
                  <a:schemeClr val="tx1"/>
                </a:solidFill>
                <a:effectLst/>
                <a:uLnTx/>
                <a:uFillTx/>
                <a:latin typeface="+mn-ea"/>
                <a:ea typeface="+mn-ea"/>
              </a:rPr>
              <a:t>，当前处理器核可以随意读写，</a:t>
            </a:r>
            <a:r>
              <a:rPr kumimoji="0" lang="zh-CN" altLang="zh-CN" sz="1800" b="1" i="0" u="none" strike="noStrike" kern="0" cap="none" spc="0" normalizeH="0" baseline="0" noProof="0" dirty="0" smtClean="0">
                <a:ln>
                  <a:noFill/>
                </a:ln>
                <a:solidFill>
                  <a:schemeClr val="tx1"/>
                </a:solidFill>
                <a:effectLst/>
                <a:uLnTx/>
                <a:uFillTx/>
                <a:latin typeface="+mn-ea"/>
                <a:ea typeface="+mn-ea"/>
              </a:rPr>
              <a:t>其他处理器核如果想读写这个</a:t>
            </a:r>
            <a:r>
              <a:rPr kumimoji="0" lang="en-US" altLang="zh-CN" sz="1800" b="1" i="0" u="none" strike="noStrike" kern="0" cap="none" spc="0" normalizeH="0" baseline="0" noProof="0" dirty="0" smtClean="0">
                <a:ln>
                  <a:noFill/>
                </a:ln>
                <a:solidFill>
                  <a:schemeClr val="tx1"/>
                </a:solidFill>
                <a:effectLst/>
                <a:uLnTx/>
                <a:uFillTx/>
                <a:latin typeface="+mn-ea"/>
                <a:ea typeface="+mn-ea"/>
              </a:rPr>
              <a:t>cache </a:t>
            </a:r>
            <a:r>
              <a:rPr kumimoji="0" lang="zh-CN" altLang="en-US" sz="1800" b="1" i="0" u="none" strike="noStrike" kern="0" cap="none" spc="0" normalizeH="0" baseline="0" noProof="0" dirty="0" smtClean="0">
                <a:ln>
                  <a:noFill/>
                </a:ln>
                <a:solidFill>
                  <a:schemeClr val="tx1"/>
                </a:solidFill>
                <a:effectLst/>
                <a:uLnTx/>
                <a:uFillTx/>
                <a:latin typeface="+mn-ea"/>
                <a:ea typeface="+mn-ea"/>
              </a:rPr>
              <a:t>行</a:t>
            </a:r>
            <a:r>
              <a:rPr kumimoji="0" lang="zh-CN" altLang="zh-CN" sz="1800" b="1" i="0" u="none" strike="noStrike" kern="0" cap="none" spc="0" normalizeH="0" baseline="0" noProof="0" dirty="0" smtClean="0">
                <a:ln>
                  <a:noFill/>
                </a:ln>
                <a:solidFill>
                  <a:schemeClr val="tx1"/>
                </a:solidFill>
                <a:effectLst/>
                <a:uLnTx/>
                <a:uFillTx/>
                <a:latin typeface="+mn-ea"/>
                <a:ea typeface="+mn-ea"/>
              </a:rPr>
              <a:t>需要请求占有这个</a:t>
            </a:r>
            <a:r>
              <a:rPr kumimoji="0" lang="en-US" altLang="zh-CN" sz="1800" b="1" i="0" u="none" strike="noStrike" kern="0" cap="none" spc="0" normalizeH="0" baseline="0" noProof="0" dirty="0" smtClean="0">
                <a:ln>
                  <a:noFill/>
                </a:ln>
                <a:solidFill>
                  <a:schemeClr val="tx1"/>
                </a:solidFill>
                <a:effectLst/>
                <a:uLnTx/>
                <a:uFillTx/>
                <a:latin typeface="+mn-ea"/>
                <a:ea typeface="+mn-ea"/>
              </a:rPr>
              <a:t>cache </a:t>
            </a:r>
            <a:r>
              <a:rPr kumimoji="0" lang="zh-CN" altLang="zh-CN" sz="1800" b="1" i="0" u="none" strike="noStrike" kern="0" cap="none" spc="0" normalizeH="0" baseline="0" noProof="0" dirty="0" smtClean="0">
                <a:ln>
                  <a:noFill/>
                </a:ln>
                <a:solidFill>
                  <a:schemeClr val="tx1"/>
                </a:solidFill>
                <a:effectLst/>
                <a:uLnTx/>
                <a:uFillTx/>
                <a:latin typeface="+mn-ea"/>
                <a:ea typeface="+mn-ea"/>
              </a:rPr>
              <a:t>块的处理器核释放该</a:t>
            </a:r>
            <a:r>
              <a:rPr kumimoji="0" lang="en-US" altLang="zh-CN" sz="1800" b="1" i="0" u="none" strike="noStrike" kern="0" cap="none" spc="0" normalizeH="0" baseline="0" noProof="0" dirty="0" smtClean="0">
                <a:ln>
                  <a:noFill/>
                </a:ln>
                <a:solidFill>
                  <a:schemeClr val="tx1"/>
                </a:solidFill>
                <a:effectLst/>
                <a:uLnTx/>
                <a:uFillTx/>
                <a:latin typeface="+mn-ea"/>
                <a:ea typeface="+mn-ea"/>
              </a:rPr>
              <a:t>Cache </a:t>
            </a:r>
            <a:r>
              <a:rPr kumimoji="0" lang="zh-CN" altLang="en-US" sz="1800" b="1" i="0" u="none" strike="noStrike" kern="0" cap="none" spc="0" normalizeH="0" baseline="0" noProof="0" dirty="0" smtClean="0">
                <a:ln>
                  <a:noFill/>
                </a:ln>
                <a:solidFill>
                  <a:schemeClr val="tx1"/>
                </a:solidFill>
                <a:effectLst/>
                <a:uLnTx/>
                <a:uFillTx/>
                <a:latin typeface="+mn-ea"/>
                <a:ea typeface="+mn-ea"/>
              </a:rPr>
              <a:t>行</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2" indent="-342900" algn="l" defTabSz="914400" rtl="0" eaLnBrk="0" fontAlgn="base" latinLnBrk="0" hangingPunct="0">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S</a:t>
            </a:r>
            <a:r>
              <a:rPr kumimoji="0" lang="zh-CN" altLang="zh-CN"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Shared</a:t>
            </a:r>
            <a:r>
              <a:rPr kumimoji="0" lang="zh-CN" altLang="zh-CN" sz="1800" b="1" i="0" u="none" strike="noStrike" kern="0" cap="none" spc="0" normalizeH="0" baseline="0" noProof="0" dirty="0" smtClean="0">
                <a:ln>
                  <a:noFill/>
                </a:ln>
                <a:solidFill>
                  <a:schemeClr val="tx1"/>
                </a:solidFill>
                <a:effectLst/>
                <a:uLnTx/>
                <a:uFillTx/>
                <a:latin typeface="+mn-ea"/>
                <a:ea typeface="+mn-ea"/>
              </a:rPr>
              <a:t>，共享）</a:t>
            </a:r>
            <a:r>
              <a:rPr kumimoji="0" lang="zh-CN" altLang="en-US" sz="1800" b="1" i="0" u="none" strike="noStrike" kern="0" cap="none" spc="0" normalizeH="0" baseline="0" noProof="0" dirty="0" smtClean="0">
                <a:ln>
                  <a:noFill/>
                </a:ln>
                <a:solidFill>
                  <a:schemeClr val="tx1"/>
                </a:solidFill>
                <a:effectLst/>
                <a:uLnTx/>
                <a:uFillTx/>
                <a:latin typeface="+mn-ea"/>
                <a:ea typeface="+mn-ea"/>
              </a:rPr>
              <a:t>：</a:t>
            </a:r>
            <a:r>
              <a:rPr kumimoji="0" lang="zh-CN" altLang="zh-CN" sz="1800" b="1" i="0" u="none" strike="noStrike" kern="0" cap="none" spc="0" normalizeH="0" baseline="0" noProof="0" dirty="0" smtClean="0">
                <a:ln>
                  <a:noFill/>
                </a:ln>
                <a:solidFill>
                  <a:schemeClr val="tx1"/>
                </a:solidFill>
                <a:effectLst/>
                <a:uLnTx/>
                <a:uFillTx/>
                <a:latin typeface="+mn-ea"/>
                <a:ea typeface="+mn-ea"/>
              </a:rPr>
              <a:t>表明</a:t>
            </a:r>
            <a:r>
              <a:rPr kumimoji="0" lang="zh-CN" altLang="en-US" sz="1800" b="1" i="0" u="none" strike="noStrike" kern="0" cap="none" spc="0" normalizeH="0" baseline="0" noProof="0" dirty="0" smtClean="0">
                <a:ln>
                  <a:noFill/>
                </a:ln>
                <a:solidFill>
                  <a:schemeClr val="tx1"/>
                </a:solidFill>
                <a:effectLst/>
                <a:uLnTx/>
                <a:uFillTx/>
                <a:latin typeface="+mn-ea"/>
                <a:ea typeface="+mn-ea"/>
              </a:rPr>
              <a:t>当前</a:t>
            </a:r>
            <a:r>
              <a:rPr kumimoji="0" lang="en-US" altLang="zh-CN" sz="1800" b="1" i="0" u="none" strike="noStrike" kern="0" cap="none" spc="0" normalizeH="0" baseline="0" noProof="0" dirty="0" smtClean="0">
                <a:ln>
                  <a:noFill/>
                </a:ln>
                <a:solidFill>
                  <a:schemeClr val="tx1"/>
                </a:solidFill>
                <a:effectLst/>
                <a:uLnTx/>
                <a:uFillTx/>
                <a:latin typeface="+mn-ea"/>
                <a:ea typeface="+mn-ea"/>
              </a:rPr>
              <a:t>Cache </a:t>
            </a:r>
            <a:r>
              <a:rPr kumimoji="0" lang="zh-CN" altLang="en-US" sz="1800" b="1" i="0" u="none" strike="noStrike" kern="0" cap="none" spc="0" normalizeH="0" baseline="0" noProof="0" dirty="0" smtClean="0">
                <a:ln>
                  <a:noFill/>
                </a:ln>
                <a:solidFill>
                  <a:schemeClr val="tx1"/>
                </a:solidFill>
                <a:effectLst/>
                <a:uLnTx/>
                <a:uFillTx/>
                <a:latin typeface="+mn-ea"/>
                <a:ea typeface="+mn-ea"/>
              </a:rPr>
              <a:t>行</a:t>
            </a:r>
            <a:r>
              <a:rPr kumimoji="0" lang="zh-CN" altLang="zh-CN" sz="1800" b="1" i="0" u="none" strike="noStrike" kern="0" cap="none" spc="0" normalizeH="0" baseline="0" noProof="0" dirty="0" smtClean="0">
                <a:ln>
                  <a:noFill/>
                </a:ln>
                <a:solidFill>
                  <a:schemeClr val="tx1"/>
                </a:solidFill>
                <a:effectLst/>
                <a:uLnTx/>
                <a:uFillTx/>
                <a:latin typeface="+mn-ea"/>
                <a:ea typeface="+mn-ea"/>
              </a:rPr>
              <a:t>可能被多个处理器核共享，只能读取，不能写入</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2" indent="-342900" algn="l" defTabSz="914400" rtl="0" eaLnBrk="0" fontAlgn="base" latinLnBrk="0" hangingPunct="0">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I </a:t>
            </a:r>
            <a:r>
              <a:rPr kumimoji="0" lang="zh-CN" altLang="zh-CN"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Invalid</a:t>
            </a:r>
            <a:r>
              <a:rPr kumimoji="0" lang="zh-CN" altLang="zh-CN" sz="1800" b="1" i="0" u="none" strike="noStrike" kern="0" cap="none" spc="0" normalizeH="0" baseline="0" noProof="0" dirty="0" smtClean="0">
                <a:ln>
                  <a:noFill/>
                </a:ln>
                <a:solidFill>
                  <a:schemeClr val="tx1"/>
                </a:solidFill>
                <a:effectLst/>
                <a:uLnTx/>
                <a:uFillTx/>
                <a:latin typeface="+mn-ea"/>
                <a:ea typeface="+mn-ea"/>
              </a:rPr>
              <a:t>，无效）</a:t>
            </a:r>
            <a:r>
              <a:rPr kumimoji="0" lang="zh-CN" altLang="en-US" sz="1800" b="1" i="0" u="none" strike="noStrike" kern="0" cap="none" spc="0" normalizeH="0" baseline="0" noProof="0" dirty="0" smtClean="0">
                <a:ln>
                  <a:noFill/>
                </a:ln>
                <a:solidFill>
                  <a:schemeClr val="tx1"/>
                </a:solidFill>
                <a:effectLst/>
                <a:uLnTx/>
                <a:uFillTx/>
                <a:latin typeface="+mn-ea"/>
                <a:ea typeface="+mn-ea"/>
              </a:rPr>
              <a:t>：表明</a:t>
            </a:r>
            <a:r>
              <a:rPr kumimoji="0" lang="zh-CN" altLang="zh-CN" sz="1800" b="1" i="0" u="none" strike="noStrike" kern="0" cap="none" spc="0" normalizeH="0" baseline="0" noProof="0" dirty="0" smtClean="0">
                <a:ln>
                  <a:noFill/>
                </a:ln>
                <a:solidFill>
                  <a:schemeClr val="tx1"/>
                </a:solidFill>
                <a:effectLst/>
                <a:uLnTx/>
                <a:uFillTx/>
                <a:latin typeface="+mn-ea"/>
                <a:ea typeface="+mn-ea"/>
              </a:rPr>
              <a:t>当前</a:t>
            </a:r>
            <a:r>
              <a:rPr kumimoji="0" lang="en-US" altLang="zh-CN" sz="1800" b="1" i="0" u="none" strike="noStrike" kern="0" cap="none" spc="0" normalizeH="0" baseline="0" noProof="0" dirty="0" smtClean="0">
                <a:ln>
                  <a:noFill/>
                </a:ln>
                <a:solidFill>
                  <a:schemeClr val="tx1"/>
                </a:solidFill>
                <a:effectLst/>
                <a:uLnTx/>
                <a:uFillTx/>
                <a:latin typeface="+mn-ea"/>
                <a:ea typeface="+mn-ea"/>
              </a:rPr>
              <a:t>Cache </a:t>
            </a:r>
            <a:r>
              <a:rPr kumimoji="0" lang="zh-CN" altLang="zh-CN" sz="1800" b="1" i="0" u="none" strike="noStrike" kern="0" cap="none" spc="0" normalizeH="0" baseline="0" noProof="0" dirty="0" smtClean="0">
                <a:ln>
                  <a:noFill/>
                </a:ln>
                <a:solidFill>
                  <a:schemeClr val="tx1"/>
                </a:solidFill>
                <a:effectLst/>
                <a:uLnTx/>
                <a:uFillTx/>
                <a:latin typeface="+mn-ea"/>
                <a:ea typeface="+mn-ea"/>
              </a:rPr>
              <a:t>块是无效的</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2" indent="-342900" algn="l" defTabSz="914400" rtl="0" eaLnBrk="0" fontAlgn="base" latinLnBrk="0" hangingPunct="0">
              <a:lnSpc>
                <a:spcPct val="150000"/>
              </a:lnSpc>
              <a:spcBef>
                <a:spcPts val="600"/>
              </a:spcBef>
              <a:spcAft>
                <a:spcPct val="0"/>
              </a:spcAft>
              <a:buClrTx/>
              <a:buSzTx/>
              <a:buFontTx/>
              <a:buChar char="•"/>
              <a:defRPr/>
            </a:pP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50000"/>
              </a:lnSpc>
              <a:spcBef>
                <a:spcPts val="600"/>
              </a:spcBef>
              <a:spcAft>
                <a:spcPct val="0"/>
              </a:spcAft>
              <a:buClrTx/>
              <a:buSzTx/>
              <a:buFontTx/>
              <a:buChar char="•"/>
              <a:defRPr/>
            </a:pP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p:txBody>
      </p:sp>
      <p:sp>
        <p:nvSpPr>
          <p:cNvPr id="49156"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9157" name="Rectangle 2"/>
          <p:cNvSpPr/>
          <p:nvPr/>
        </p:nvSpPr>
        <p:spPr>
          <a:xfrm>
            <a:off x="0" y="-184150"/>
            <a:ext cx="12190413" cy="368300"/>
          </a:xfrm>
          <a:prstGeom prst="rect">
            <a:avLst/>
          </a:prstGeom>
          <a:noFill/>
          <a:ln w="9525">
            <a:noFill/>
          </a:ln>
        </p:spPr>
        <p:txBody>
          <a:bodyPr anchor="ctr" anchorCtr="0">
            <a:spAutoFit/>
          </a:bodyPr>
          <a:lstStyle/>
          <a:p>
            <a:endParaRPr lang="zh-CN" altLang="en-US" dirty="0">
              <a:latin typeface="Arial" panose="02080604020202020204" pitchFamily="34" charset="0"/>
            </a:endParaRPr>
          </a:p>
        </p:txBody>
      </p:sp>
      <p:sp>
        <p:nvSpPr>
          <p:cNvPr id="49158" name="Rectangle 4"/>
          <p:cNvSpPr/>
          <p:nvPr/>
        </p:nvSpPr>
        <p:spPr>
          <a:xfrm>
            <a:off x="0" y="-184150"/>
            <a:ext cx="12190413" cy="368300"/>
          </a:xfrm>
          <a:prstGeom prst="rect">
            <a:avLst/>
          </a:prstGeom>
          <a:noFill/>
          <a:ln w="9525">
            <a:noFill/>
          </a:ln>
        </p:spPr>
        <p:txBody>
          <a:bodyPr anchor="ctr" anchorCtr="0">
            <a:spAutoFit/>
          </a:bodyPr>
          <a:lstStyle/>
          <a:p>
            <a:endParaRPr lang="zh-CN" altLang="en-US" dirty="0">
              <a:latin typeface="Arial" panose="02080604020202020204" pitchFamily="34" charset="0"/>
            </a:endParaRPr>
          </a:p>
        </p:txBody>
      </p:sp>
      <p:sp>
        <p:nvSpPr>
          <p:cNvPr id="49159" name="Rectangle 8"/>
          <p:cNvSpPr/>
          <p:nvPr/>
        </p:nvSpPr>
        <p:spPr>
          <a:xfrm>
            <a:off x="0" y="-184150"/>
            <a:ext cx="184150" cy="368300"/>
          </a:xfrm>
          <a:prstGeom prst="rect">
            <a:avLst/>
          </a:prstGeom>
          <a:noFill/>
          <a:ln w="9525">
            <a:noFill/>
          </a:ln>
        </p:spPr>
        <p:txBody>
          <a:bodyPr wrap="none" anchor="ctr" anchorCtr="0">
            <a:spAutoFit/>
          </a:bodyPr>
          <a:lstStyle/>
          <a:p>
            <a:endParaRPr lang="zh-CN" altLang="en-US" dirty="0">
              <a:latin typeface="Arial" panose="02080604020202020204" pitchFamily="34" charset="0"/>
            </a:endParaRPr>
          </a:p>
        </p:txBody>
      </p:sp>
      <p:pic>
        <p:nvPicPr>
          <p:cNvPr id="49160" name="图片 7"/>
          <p:cNvPicPr>
            <a:picLocks noChangeAspect="1"/>
          </p:cNvPicPr>
          <p:nvPr/>
        </p:nvPicPr>
        <p:blipFill>
          <a:blip r:embed="rId1"/>
          <a:stretch>
            <a:fillRect/>
          </a:stretch>
        </p:blipFill>
        <p:spPr>
          <a:xfrm>
            <a:off x="4511675" y="3933190"/>
            <a:ext cx="3997325" cy="2575560"/>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0179" name="Rectangle 2"/>
          <p:cNvSpPr>
            <a:spLocks noGrp="1"/>
          </p:cNvSpPr>
          <p:nvPr>
            <p:ph type="title"/>
          </p:nvPr>
        </p:nvSpPr>
        <p:spPr>
          <a:xfrm>
            <a:off x="601663" y="0"/>
            <a:ext cx="10971212" cy="1052513"/>
          </a:xfrm>
        </p:spPr>
        <p:txBody>
          <a:bodyPr vert="horz" wrap="square" lIns="91440" tIns="45720" rIns="91440" bIns="45720" anchor="ctr" anchorCtr="0"/>
          <a:lstStyle/>
          <a:p>
            <a:pPr eaLnBrk="1" hangingPunct="1"/>
            <a:r>
              <a:rPr lang="zh-CN" altLang="en-US" dirty="0"/>
              <a:t>协议举例</a:t>
            </a:r>
            <a:endParaRPr lang="zh-CN" altLang="en-US" dirty="0"/>
          </a:p>
        </p:txBody>
      </p:sp>
      <p:grpSp>
        <p:nvGrpSpPr>
          <p:cNvPr id="50180" name="Group 117"/>
          <p:cNvGrpSpPr/>
          <p:nvPr/>
        </p:nvGrpSpPr>
        <p:grpSpPr>
          <a:xfrm>
            <a:off x="879475" y="2362200"/>
            <a:ext cx="4294188" cy="3979863"/>
            <a:chOff x="450" y="1488"/>
            <a:chExt cx="2198" cy="2507"/>
          </a:xfrm>
        </p:grpSpPr>
        <p:sp>
          <p:nvSpPr>
            <p:cNvPr id="50247" name="Rectangle 18"/>
            <p:cNvSpPr/>
            <p:nvPr/>
          </p:nvSpPr>
          <p:spPr>
            <a:xfrm>
              <a:off x="576" y="2592"/>
              <a:ext cx="2064" cy="432"/>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grpSp>
          <p:nvGrpSpPr>
            <p:cNvPr id="50248" name="Group 115"/>
            <p:cNvGrpSpPr/>
            <p:nvPr/>
          </p:nvGrpSpPr>
          <p:grpSpPr>
            <a:xfrm>
              <a:off x="450" y="1488"/>
              <a:ext cx="2190" cy="1104"/>
              <a:chOff x="450" y="1488"/>
              <a:chExt cx="2190" cy="1104"/>
            </a:xfrm>
          </p:grpSpPr>
          <p:sp>
            <p:nvSpPr>
              <p:cNvPr id="50264" name="Oval 6"/>
              <p:cNvSpPr/>
              <p:nvPr/>
            </p:nvSpPr>
            <p:spPr>
              <a:xfrm>
                <a:off x="672" y="1488"/>
                <a:ext cx="336" cy="336"/>
              </a:xfrm>
              <a:prstGeom prst="ellipse">
                <a:avLst/>
              </a:prstGeom>
              <a:solidFill>
                <a:srgbClr val="FFFFFF"/>
              </a:solid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65" name="Rectangle 7"/>
              <p:cNvSpPr/>
              <p:nvPr/>
            </p:nvSpPr>
            <p:spPr>
              <a:xfrm>
                <a:off x="576" y="2064"/>
                <a:ext cx="528" cy="336"/>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66" name="Oval 11"/>
              <p:cNvSpPr/>
              <p:nvPr/>
            </p:nvSpPr>
            <p:spPr>
              <a:xfrm>
                <a:off x="1440" y="1488"/>
                <a:ext cx="336" cy="336"/>
              </a:xfrm>
              <a:prstGeom prst="ellipse">
                <a:avLst/>
              </a:prstGeom>
              <a:solidFill>
                <a:srgbClr val="FFFFFF"/>
              </a:solid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67" name="Rectangle 12"/>
              <p:cNvSpPr/>
              <p:nvPr/>
            </p:nvSpPr>
            <p:spPr>
              <a:xfrm>
                <a:off x="1344" y="2064"/>
                <a:ext cx="528" cy="336"/>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68" name="Oval 15"/>
              <p:cNvSpPr/>
              <p:nvPr/>
            </p:nvSpPr>
            <p:spPr>
              <a:xfrm>
                <a:off x="2208" y="1488"/>
                <a:ext cx="336" cy="336"/>
              </a:xfrm>
              <a:prstGeom prst="ellipse">
                <a:avLst/>
              </a:prstGeom>
              <a:solidFill>
                <a:srgbClr val="FFFFFF"/>
              </a:solid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69" name="Rectangle 16"/>
              <p:cNvSpPr/>
              <p:nvPr/>
            </p:nvSpPr>
            <p:spPr>
              <a:xfrm>
                <a:off x="2112" y="2064"/>
                <a:ext cx="528" cy="336"/>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70" name="Line 28"/>
              <p:cNvSpPr/>
              <p:nvPr/>
            </p:nvSpPr>
            <p:spPr>
              <a:xfrm>
                <a:off x="864" y="2400"/>
                <a:ext cx="0" cy="192"/>
              </a:xfrm>
              <a:prstGeom prst="line">
                <a:avLst/>
              </a:prstGeom>
              <a:ln w="38100" cap="flat" cmpd="sng">
                <a:solidFill>
                  <a:schemeClr val="tx1"/>
                </a:solidFill>
                <a:prstDash val="solid"/>
                <a:headEnd type="none" w="sm" len="sm"/>
                <a:tailEnd type="none" w="sm" len="sm"/>
              </a:ln>
            </p:spPr>
          </p:sp>
          <p:sp>
            <p:nvSpPr>
              <p:cNvPr id="50271" name="Line 29"/>
              <p:cNvSpPr/>
              <p:nvPr/>
            </p:nvSpPr>
            <p:spPr>
              <a:xfrm>
                <a:off x="1584" y="2400"/>
                <a:ext cx="0" cy="192"/>
              </a:xfrm>
              <a:prstGeom prst="line">
                <a:avLst/>
              </a:prstGeom>
              <a:ln w="38100" cap="flat" cmpd="sng">
                <a:solidFill>
                  <a:schemeClr val="tx1"/>
                </a:solidFill>
                <a:prstDash val="solid"/>
                <a:headEnd type="none" w="sm" len="sm"/>
                <a:tailEnd type="none" w="sm" len="sm"/>
              </a:ln>
            </p:spPr>
          </p:sp>
          <p:sp>
            <p:nvSpPr>
              <p:cNvPr id="50272" name="Line 30"/>
              <p:cNvSpPr/>
              <p:nvPr/>
            </p:nvSpPr>
            <p:spPr>
              <a:xfrm>
                <a:off x="2400" y="2400"/>
                <a:ext cx="0" cy="192"/>
              </a:xfrm>
              <a:prstGeom prst="line">
                <a:avLst/>
              </a:prstGeom>
              <a:ln w="38100" cap="flat" cmpd="sng">
                <a:solidFill>
                  <a:schemeClr val="tx1"/>
                </a:solidFill>
                <a:prstDash val="solid"/>
                <a:headEnd type="none" w="sm" len="sm"/>
                <a:tailEnd type="none" w="sm" len="sm"/>
              </a:ln>
            </p:spPr>
          </p:sp>
          <p:sp>
            <p:nvSpPr>
              <p:cNvPr id="50273" name="Line 31"/>
              <p:cNvSpPr/>
              <p:nvPr/>
            </p:nvSpPr>
            <p:spPr>
              <a:xfrm>
                <a:off x="864" y="1824"/>
                <a:ext cx="0" cy="240"/>
              </a:xfrm>
              <a:prstGeom prst="line">
                <a:avLst/>
              </a:prstGeom>
              <a:ln w="38100" cap="flat" cmpd="sng">
                <a:solidFill>
                  <a:schemeClr val="tx1"/>
                </a:solidFill>
                <a:prstDash val="solid"/>
                <a:headEnd type="none" w="sm" len="sm"/>
                <a:tailEnd type="none" w="sm" len="sm"/>
              </a:ln>
            </p:spPr>
          </p:sp>
          <p:sp>
            <p:nvSpPr>
              <p:cNvPr id="50274" name="Line 32"/>
              <p:cNvSpPr/>
              <p:nvPr/>
            </p:nvSpPr>
            <p:spPr>
              <a:xfrm>
                <a:off x="2400" y="1824"/>
                <a:ext cx="0" cy="240"/>
              </a:xfrm>
              <a:prstGeom prst="line">
                <a:avLst/>
              </a:prstGeom>
              <a:ln w="38100" cap="flat" cmpd="sng">
                <a:solidFill>
                  <a:schemeClr val="tx1"/>
                </a:solidFill>
                <a:prstDash val="solid"/>
                <a:headEnd type="none" w="sm" len="sm"/>
                <a:tailEnd type="none" w="sm" len="sm"/>
              </a:ln>
            </p:spPr>
          </p:sp>
          <p:sp>
            <p:nvSpPr>
              <p:cNvPr id="50275" name="Line 33"/>
              <p:cNvSpPr/>
              <p:nvPr/>
            </p:nvSpPr>
            <p:spPr>
              <a:xfrm>
                <a:off x="1584" y="1824"/>
                <a:ext cx="0" cy="240"/>
              </a:xfrm>
              <a:prstGeom prst="line">
                <a:avLst/>
              </a:prstGeom>
              <a:ln w="38100" cap="flat" cmpd="sng">
                <a:solidFill>
                  <a:schemeClr val="tx1"/>
                </a:solidFill>
                <a:prstDash val="solid"/>
                <a:headEnd type="none" w="sm" len="sm"/>
                <a:tailEnd type="none" w="sm" len="sm"/>
              </a:ln>
            </p:spPr>
          </p:sp>
          <p:sp>
            <p:nvSpPr>
              <p:cNvPr id="50276" name="Text Box 38"/>
              <p:cNvSpPr txBox="1"/>
              <p:nvPr/>
            </p:nvSpPr>
            <p:spPr>
              <a:xfrm>
                <a:off x="743"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Pi</a:t>
                </a:r>
                <a:endParaRPr lang="en-US" altLang="zh-CN" sz="2000" dirty="0">
                  <a:latin typeface="宋体" panose="02000500000000000000" pitchFamily="2" charset="-122"/>
                </a:endParaRPr>
              </a:p>
            </p:txBody>
          </p:sp>
          <p:sp>
            <p:nvSpPr>
              <p:cNvPr id="50277" name="Text Box 39"/>
              <p:cNvSpPr txBox="1"/>
              <p:nvPr/>
            </p:nvSpPr>
            <p:spPr>
              <a:xfrm>
                <a:off x="2264" y="1535"/>
                <a:ext cx="233"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Pk</a:t>
                </a:r>
                <a:endParaRPr lang="en-US" altLang="zh-CN" sz="2000" dirty="0">
                  <a:latin typeface="宋体" panose="02000500000000000000" pitchFamily="2" charset="-122"/>
                </a:endParaRPr>
              </a:p>
            </p:txBody>
          </p:sp>
          <p:sp>
            <p:nvSpPr>
              <p:cNvPr id="50278" name="Text Box 40"/>
              <p:cNvSpPr txBox="1"/>
              <p:nvPr/>
            </p:nvSpPr>
            <p:spPr>
              <a:xfrm>
                <a:off x="1511"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Pj</a:t>
                </a:r>
                <a:endParaRPr lang="en-US" altLang="zh-CN" sz="2000" dirty="0">
                  <a:latin typeface="宋体" panose="02000500000000000000" pitchFamily="2" charset="-122"/>
                </a:endParaRPr>
              </a:p>
            </p:txBody>
          </p:sp>
          <p:sp>
            <p:nvSpPr>
              <p:cNvPr id="50279" name="Rectangle 41"/>
              <p:cNvSpPr/>
              <p:nvPr/>
            </p:nvSpPr>
            <p:spPr>
              <a:xfrm>
                <a:off x="576" y="2160"/>
                <a:ext cx="528" cy="144"/>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80" name="Rectangle 42"/>
              <p:cNvSpPr/>
              <p:nvPr/>
            </p:nvSpPr>
            <p:spPr>
              <a:xfrm>
                <a:off x="2112" y="2160"/>
                <a:ext cx="528" cy="144"/>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81" name="Rectangle 43"/>
              <p:cNvSpPr/>
              <p:nvPr/>
            </p:nvSpPr>
            <p:spPr>
              <a:xfrm>
                <a:off x="1344" y="2160"/>
                <a:ext cx="528" cy="144"/>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82" name="Text Box 48"/>
              <p:cNvSpPr txBox="1"/>
              <p:nvPr/>
            </p:nvSpPr>
            <p:spPr>
              <a:xfrm>
                <a:off x="450"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0283" name="Text Box 52"/>
              <p:cNvSpPr txBox="1"/>
              <p:nvPr/>
            </p:nvSpPr>
            <p:spPr>
              <a:xfrm>
                <a:off x="1986"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0284" name="Text Box 53"/>
              <p:cNvSpPr txBox="1"/>
              <p:nvPr/>
            </p:nvSpPr>
            <p:spPr>
              <a:xfrm>
                <a:off x="1218"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0285" name="Text Box 56"/>
              <p:cNvSpPr txBox="1"/>
              <p:nvPr/>
            </p:nvSpPr>
            <p:spPr>
              <a:xfrm>
                <a:off x="2223" y="2159"/>
                <a:ext cx="283"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SHD</a:t>
                </a:r>
                <a:endParaRPr lang="en-US" altLang="zh-CN" sz="1400" b="1" dirty="0">
                  <a:latin typeface="宋体" panose="02000500000000000000" pitchFamily="2" charset="-122"/>
                </a:endParaRPr>
              </a:p>
            </p:txBody>
          </p:sp>
          <p:sp>
            <p:nvSpPr>
              <p:cNvPr id="50286" name="Text Box 57"/>
              <p:cNvSpPr txBox="1"/>
              <p:nvPr/>
            </p:nvSpPr>
            <p:spPr>
              <a:xfrm>
                <a:off x="1455" y="2159"/>
                <a:ext cx="283"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SHD</a:t>
                </a:r>
                <a:endParaRPr lang="en-US" altLang="zh-CN" sz="1400" b="1" dirty="0">
                  <a:latin typeface="宋体" panose="02000500000000000000" pitchFamily="2" charset="-122"/>
                </a:endParaRPr>
              </a:p>
            </p:txBody>
          </p:sp>
          <p:sp>
            <p:nvSpPr>
              <p:cNvPr id="50287" name="Text Box 58"/>
              <p:cNvSpPr txBox="1"/>
              <p:nvPr/>
            </p:nvSpPr>
            <p:spPr>
              <a:xfrm>
                <a:off x="697" y="2159"/>
                <a:ext cx="264"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INV</a:t>
                </a:r>
                <a:endParaRPr lang="en-US" altLang="zh-CN" sz="1400" b="1" dirty="0">
                  <a:latin typeface="宋体" panose="02000500000000000000" pitchFamily="2" charset="-122"/>
                </a:endParaRPr>
              </a:p>
            </p:txBody>
          </p:sp>
        </p:grpSp>
        <p:grpSp>
          <p:nvGrpSpPr>
            <p:cNvPr id="50249" name="Group 116"/>
            <p:cNvGrpSpPr/>
            <p:nvPr/>
          </p:nvGrpSpPr>
          <p:grpSpPr>
            <a:xfrm>
              <a:off x="491" y="3024"/>
              <a:ext cx="2157" cy="971"/>
              <a:chOff x="483" y="2784"/>
              <a:chExt cx="2157" cy="971"/>
            </a:xfrm>
          </p:grpSpPr>
          <p:sp>
            <p:nvSpPr>
              <p:cNvPr id="50250" name="Rectangle 5"/>
              <p:cNvSpPr/>
              <p:nvPr/>
            </p:nvSpPr>
            <p:spPr>
              <a:xfrm>
                <a:off x="576" y="2976"/>
                <a:ext cx="528" cy="384"/>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51" name="Rectangle 10"/>
              <p:cNvSpPr/>
              <p:nvPr/>
            </p:nvSpPr>
            <p:spPr>
              <a:xfrm>
                <a:off x="1344" y="2976"/>
                <a:ext cx="528" cy="384"/>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52" name="Rectangle 14"/>
              <p:cNvSpPr/>
              <p:nvPr/>
            </p:nvSpPr>
            <p:spPr>
              <a:xfrm>
                <a:off x="2112" y="2976"/>
                <a:ext cx="528" cy="384"/>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53" name="Line 34"/>
              <p:cNvSpPr/>
              <p:nvPr/>
            </p:nvSpPr>
            <p:spPr>
              <a:xfrm>
                <a:off x="864" y="2784"/>
                <a:ext cx="0" cy="192"/>
              </a:xfrm>
              <a:prstGeom prst="line">
                <a:avLst/>
              </a:prstGeom>
              <a:ln w="38100" cap="flat" cmpd="sng">
                <a:solidFill>
                  <a:schemeClr val="tx1"/>
                </a:solidFill>
                <a:prstDash val="solid"/>
                <a:headEnd type="none" w="sm" len="sm"/>
                <a:tailEnd type="none" w="sm" len="sm"/>
              </a:ln>
            </p:spPr>
          </p:sp>
          <p:sp>
            <p:nvSpPr>
              <p:cNvPr id="50254" name="Line 35"/>
              <p:cNvSpPr/>
              <p:nvPr/>
            </p:nvSpPr>
            <p:spPr>
              <a:xfrm>
                <a:off x="1584" y="2784"/>
                <a:ext cx="0" cy="192"/>
              </a:xfrm>
              <a:prstGeom prst="line">
                <a:avLst/>
              </a:prstGeom>
              <a:ln w="38100" cap="flat" cmpd="sng">
                <a:solidFill>
                  <a:schemeClr val="tx1"/>
                </a:solidFill>
                <a:prstDash val="solid"/>
                <a:headEnd type="none" w="sm" len="sm"/>
                <a:tailEnd type="none" w="sm" len="sm"/>
              </a:ln>
            </p:spPr>
          </p:sp>
          <p:sp>
            <p:nvSpPr>
              <p:cNvPr id="50255" name="Line 36"/>
              <p:cNvSpPr/>
              <p:nvPr/>
            </p:nvSpPr>
            <p:spPr>
              <a:xfrm>
                <a:off x="2400" y="2784"/>
                <a:ext cx="0" cy="192"/>
              </a:xfrm>
              <a:prstGeom prst="line">
                <a:avLst/>
              </a:prstGeom>
              <a:ln w="38100" cap="flat" cmpd="sng">
                <a:solidFill>
                  <a:schemeClr val="tx1"/>
                </a:solidFill>
                <a:prstDash val="solid"/>
                <a:headEnd type="none" w="sm" len="sm"/>
                <a:tailEnd type="none" w="sm" len="sm"/>
              </a:ln>
            </p:spPr>
          </p:sp>
          <p:sp>
            <p:nvSpPr>
              <p:cNvPr id="50256" name="Rectangle 44"/>
              <p:cNvSpPr/>
              <p:nvPr/>
            </p:nvSpPr>
            <p:spPr>
              <a:xfrm>
                <a:off x="576" y="3120"/>
                <a:ext cx="528" cy="144"/>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57" name="Rectangle 45"/>
              <p:cNvSpPr/>
              <p:nvPr/>
            </p:nvSpPr>
            <p:spPr>
              <a:xfrm>
                <a:off x="2112" y="3120"/>
                <a:ext cx="528" cy="144"/>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58" name="Rectangle 46"/>
              <p:cNvSpPr/>
              <p:nvPr/>
            </p:nvSpPr>
            <p:spPr>
              <a:xfrm>
                <a:off x="1344" y="3120"/>
                <a:ext cx="528" cy="144"/>
              </a:xfrm>
              <a:prstGeom prst="rect">
                <a:avLst/>
              </a:prstGeom>
              <a:solidFill>
                <a:srgbClr val="FFFFFF"/>
              </a:solid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59" name="Text Box 49"/>
              <p:cNvSpPr txBox="1"/>
              <p:nvPr/>
            </p:nvSpPr>
            <p:spPr>
              <a:xfrm>
                <a:off x="2019"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0260" name="Text Box 50"/>
              <p:cNvSpPr txBox="1"/>
              <p:nvPr/>
            </p:nvSpPr>
            <p:spPr>
              <a:xfrm>
                <a:off x="1218" y="307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0261" name="Text Box 51"/>
              <p:cNvSpPr txBox="1"/>
              <p:nvPr/>
            </p:nvSpPr>
            <p:spPr>
              <a:xfrm>
                <a:off x="483"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0262" name="Text Box 55"/>
              <p:cNvSpPr txBox="1"/>
              <p:nvPr/>
            </p:nvSpPr>
            <p:spPr>
              <a:xfrm>
                <a:off x="1390" y="3119"/>
                <a:ext cx="417"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CLEAN</a:t>
                </a:r>
                <a:endParaRPr lang="en-US" altLang="zh-CN" sz="1400" b="1" dirty="0">
                  <a:latin typeface="宋体" panose="02000500000000000000" pitchFamily="2" charset="-122"/>
                </a:endParaRPr>
              </a:p>
            </p:txBody>
          </p:sp>
          <p:sp>
            <p:nvSpPr>
              <p:cNvPr id="50263" name="Text Box 60"/>
              <p:cNvSpPr txBox="1"/>
              <p:nvPr/>
            </p:nvSpPr>
            <p:spPr>
              <a:xfrm>
                <a:off x="1097" y="3503"/>
                <a:ext cx="776" cy="252"/>
              </a:xfrm>
              <a:prstGeom prst="rect">
                <a:avLst/>
              </a:prstGeom>
              <a:noFill/>
              <a:ln w="12700">
                <a:noFill/>
              </a:ln>
            </p:spPr>
            <p:txBody>
              <a:bodyPr wrap="none" anchor="ctr" anchorCtr="0">
                <a:spAutoFit/>
              </a:bodyPr>
              <a:lstStyle/>
              <a:p>
                <a:pPr algn="ctr" eaLnBrk="0" hangingPunct="0">
                  <a:spcBef>
                    <a:spcPct val="50000"/>
                  </a:spcBef>
                </a:pPr>
                <a:r>
                  <a:rPr lang="en-US" altLang="zh-CN" sz="2000" b="1" dirty="0">
                    <a:latin typeface="宋体" panose="02000500000000000000" pitchFamily="2" charset="-122"/>
                    <a:cs typeface="宋体" panose="02000500000000000000" pitchFamily="2" charset="-122"/>
                  </a:rPr>
                  <a:t>(a)</a:t>
                </a:r>
                <a:r>
                  <a:rPr lang="zh-CN" altLang="en-US" sz="2000" b="1" dirty="0">
                    <a:latin typeface="宋体" panose="02000500000000000000" pitchFamily="2" charset="-122"/>
                    <a:cs typeface="宋体" panose="02000500000000000000" pitchFamily="2" charset="-122"/>
                  </a:rPr>
                  <a:t>初始状态</a:t>
                </a:r>
                <a:endParaRPr lang="zh-CN" altLang="en-US" sz="2000" b="1" dirty="0">
                  <a:latin typeface="宋体" panose="02000500000000000000" pitchFamily="2" charset="-122"/>
                  <a:cs typeface="宋体" panose="02000500000000000000" pitchFamily="2" charset="-122"/>
                </a:endParaRPr>
              </a:p>
            </p:txBody>
          </p:sp>
        </p:grpSp>
      </p:grpSp>
      <p:grpSp>
        <p:nvGrpSpPr>
          <p:cNvPr id="50181" name="Group 183"/>
          <p:cNvGrpSpPr/>
          <p:nvPr/>
        </p:nvGrpSpPr>
        <p:grpSpPr>
          <a:xfrm>
            <a:off x="5830888" y="2286000"/>
            <a:ext cx="4498975" cy="3979863"/>
            <a:chOff x="2985" y="1440"/>
            <a:chExt cx="2303" cy="2507"/>
          </a:xfrm>
        </p:grpSpPr>
        <p:grpSp>
          <p:nvGrpSpPr>
            <p:cNvPr id="50183" name="Group 181"/>
            <p:cNvGrpSpPr/>
            <p:nvPr/>
          </p:nvGrpSpPr>
          <p:grpSpPr>
            <a:xfrm>
              <a:off x="3090" y="1440"/>
              <a:ext cx="2198" cy="2507"/>
              <a:chOff x="3090" y="1440"/>
              <a:chExt cx="2198" cy="2507"/>
            </a:xfrm>
          </p:grpSpPr>
          <p:grpSp>
            <p:nvGrpSpPr>
              <p:cNvPr id="50185" name="Group 176"/>
              <p:cNvGrpSpPr/>
              <p:nvPr/>
            </p:nvGrpSpPr>
            <p:grpSpPr>
              <a:xfrm>
                <a:off x="3090" y="1440"/>
                <a:ext cx="2198" cy="2507"/>
                <a:chOff x="3090" y="1440"/>
                <a:chExt cx="2198" cy="2507"/>
              </a:xfrm>
            </p:grpSpPr>
            <p:grpSp>
              <p:nvGrpSpPr>
                <p:cNvPr id="50190" name="Group 173"/>
                <p:cNvGrpSpPr/>
                <p:nvPr/>
              </p:nvGrpSpPr>
              <p:grpSpPr>
                <a:xfrm>
                  <a:off x="3090" y="1440"/>
                  <a:ext cx="2198" cy="2507"/>
                  <a:chOff x="3090" y="1440"/>
                  <a:chExt cx="2198" cy="2507"/>
                </a:xfrm>
              </p:grpSpPr>
              <p:sp>
                <p:nvSpPr>
                  <p:cNvPr id="50193" name="Line 111"/>
                  <p:cNvSpPr/>
                  <p:nvPr/>
                </p:nvSpPr>
                <p:spPr>
                  <a:xfrm>
                    <a:off x="3600" y="2352"/>
                    <a:ext cx="0" cy="432"/>
                  </a:xfrm>
                  <a:prstGeom prst="line">
                    <a:avLst/>
                  </a:prstGeom>
                  <a:ln w="12700" cap="flat" cmpd="sng">
                    <a:solidFill>
                      <a:schemeClr val="tx1"/>
                    </a:solidFill>
                    <a:prstDash val="solid"/>
                    <a:headEnd type="none" w="sm" len="sm"/>
                    <a:tailEnd type="none" w="sm" len="sm"/>
                  </a:ln>
                </p:spPr>
              </p:sp>
              <p:sp>
                <p:nvSpPr>
                  <p:cNvPr id="50194" name="Line 112"/>
                  <p:cNvSpPr/>
                  <p:nvPr/>
                </p:nvSpPr>
                <p:spPr>
                  <a:xfrm>
                    <a:off x="3600" y="2784"/>
                    <a:ext cx="480" cy="0"/>
                  </a:xfrm>
                  <a:prstGeom prst="line">
                    <a:avLst/>
                  </a:prstGeom>
                  <a:ln w="12700" cap="flat" cmpd="sng">
                    <a:solidFill>
                      <a:schemeClr val="tx1"/>
                    </a:solidFill>
                    <a:prstDash val="solid"/>
                    <a:headEnd type="none" w="sm" len="sm"/>
                    <a:tailEnd type="none" w="sm" len="sm"/>
                  </a:ln>
                </p:spPr>
              </p:sp>
              <p:sp>
                <p:nvSpPr>
                  <p:cNvPr id="50195" name="Line 113"/>
                  <p:cNvSpPr/>
                  <p:nvPr/>
                </p:nvSpPr>
                <p:spPr>
                  <a:xfrm flipH="1">
                    <a:off x="4080" y="2784"/>
                    <a:ext cx="0" cy="384"/>
                  </a:xfrm>
                  <a:prstGeom prst="line">
                    <a:avLst/>
                  </a:prstGeom>
                  <a:ln w="12700" cap="flat" cmpd="sng">
                    <a:solidFill>
                      <a:schemeClr val="tx1"/>
                    </a:solidFill>
                    <a:prstDash val="solid"/>
                    <a:headEnd type="none" w="sm" len="sm"/>
                    <a:tailEnd type="triangle" w="sm" len="med"/>
                  </a:ln>
                </p:spPr>
              </p:sp>
              <p:grpSp>
                <p:nvGrpSpPr>
                  <p:cNvPr id="50196" name="Group 118"/>
                  <p:cNvGrpSpPr/>
                  <p:nvPr/>
                </p:nvGrpSpPr>
                <p:grpSpPr>
                  <a:xfrm>
                    <a:off x="3090" y="1440"/>
                    <a:ext cx="2198" cy="2507"/>
                    <a:chOff x="450" y="1488"/>
                    <a:chExt cx="2198" cy="2507"/>
                  </a:xfrm>
                </p:grpSpPr>
                <p:sp>
                  <p:nvSpPr>
                    <p:cNvPr id="50206" name="Rectangle 119"/>
                    <p:cNvSpPr/>
                    <p:nvPr/>
                  </p:nvSpPr>
                  <p:spPr>
                    <a:xfrm>
                      <a:off x="576" y="2592"/>
                      <a:ext cx="2064" cy="432"/>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grpSp>
                  <p:nvGrpSpPr>
                    <p:cNvPr id="50207" name="Group 120"/>
                    <p:cNvGrpSpPr/>
                    <p:nvPr/>
                  </p:nvGrpSpPr>
                  <p:grpSpPr>
                    <a:xfrm>
                      <a:off x="450" y="1488"/>
                      <a:ext cx="2190" cy="1104"/>
                      <a:chOff x="450" y="1488"/>
                      <a:chExt cx="2190" cy="1104"/>
                    </a:xfrm>
                  </p:grpSpPr>
                  <p:sp>
                    <p:nvSpPr>
                      <p:cNvPr id="50223" name="Oval 121"/>
                      <p:cNvSpPr/>
                      <p:nvPr/>
                    </p:nvSpPr>
                    <p:spPr>
                      <a:xfrm>
                        <a:off x="672"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24" name="Rectangle 122"/>
                      <p:cNvSpPr/>
                      <p:nvPr/>
                    </p:nvSpPr>
                    <p:spPr>
                      <a:xfrm>
                        <a:off x="576"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25" name="Oval 123"/>
                      <p:cNvSpPr/>
                      <p:nvPr/>
                    </p:nvSpPr>
                    <p:spPr>
                      <a:xfrm>
                        <a:off x="1440"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26" name="Rectangle 124"/>
                      <p:cNvSpPr/>
                      <p:nvPr/>
                    </p:nvSpPr>
                    <p:spPr>
                      <a:xfrm>
                        <a:off x="1344"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27" name="Oval 125"/>
                      <p:cNvSpPr/>
                      <p:nvPr/>
                    </p:nvSpPr>
                    <p:spPr>
                      <a:xfrm>
                        <a:off x="2208"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28" name="Rectangle 126"/>
                      <p:cNvSpPr/>
                      <p:nvPr/>
                    </p:nvSpPr>
                    <p:spPr>
                      <a:xfrm>
                        <a:off x="2112"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29" name="Line 127"/>
                      <p:cNvSpPr/>
                      <p:nvPr/>
                    </p:nvSpPr>
                    <p:spPr>
                      <a:xfrm>
                        <a:off x="864" y="2400"/>
                        <a:ext cx="0" cy="192"/>
                      </a:xfrm>
                      <a:prstGeom prst="line">
                        <a:avLst/>
                      </a:prstGeom>
                      <a:ln w="38100" cap="flat" cmpd="sng">
                        <a:solidFill>
                          <a:schemeClr val="tx1"/>
                        </a:solidFill>
                        <a:prstDash val="solid"/>
                        <a:headEnd type="none" w="sm" len="sm"/>
                        <a:tailEnd type="none" w="sm" len="sm"/>
                      </a:ln>
                    </p:spPr>
                  </p:sp>
                  <p:sp>
                    <p:nvSpPr>
                      <p:cNvPr id="50230" name="Line 128"/>
                      <p:cNvSpPr/>
                      <p:nvPr/>
                    </p:nvSpPr>
                    <p:spPr>
                      <a:xfrm>
                        <a:off x="1584" y="2400"/>
                        <a:ext cx="0" cy="192"/>
                      </a:xfrm>
                      <a:prstGeom prst="line">
                        <a:avLst/>
                      </a:prstGeom>
                      <a:ln w="38100" cap="flat" cmpd="sng">
                        <a:solidFill>
                          <a:schemeClr val="tx1"/>
                        </a:solidFill>
                        <a:prstDash val="solid"/>
                        <a:headEnd type="none" w="sm" len="sm"/>
                        <a:tailEnd type="none" w="sm" len="sm"/>
                      </a:ln>
                    </p:spPr>
                  </p:sp>
                  <p:sp>
                    <p:nvSpPr>
                      <p:cNvPr id="50231" name="Line 129"/>
                      <p:cNvSpPr/>
                      <p:nvPr/>
                    </p:nvSpPr>
                    <p:spPr>
                      <a:xfrm>
                        <a:off x="2400" y="2400"/>
                        <a:ext cx="0" cy="192"/>
                      </a:xfrm>
                      <a:prstGeom prst="line">
                        <a:avLst/>
                      </a:prstGeom>
                      <a:ln w="38100" cap="flat" cmpd="sng">
                        <a:solidFill>
                          <a:schemeClr val="tx1"/>
                        </a:solidFill>
                        <a:prstDash val="solid"/>
                        <a:headEnd type="none" w="sm" len="sm"/>
                        <a:tailEnd type="none" w="sm" len="sm"/>
                      </a:ln>
                    </p:spPr>
                  </p:sp>
                  <p:sp>
                    <p:nvSpPr>
                      <p:cNvPr id="50232" name="Line 130"/>
                      <p:cNvSpPr/>
                      <p:nvPr/>
                    </p:nvSpPr>
                    <p:spPr>
                      <a:xfrm>
                        <a:off x="864" y="1824"/>
                        <a:ext cx="0" cy="240"/>
                      </a:xfrm>
                      <a:prstGeom prst="line">
                        <a:avLst/>
                      </a:prstGeom>
                      <a:ln w="38100" cap="flat" cmpd="sng">
                        <a:solidFill>
                          <a:schemeClr val="tx1"/>
                        </a:solidFill>
                        <a:prstDash val="solid"/>
                        <a:headEnd type="none" w="sm" len="sm"/>
                        <a:tailEnd type="none" w="sm" len="sm"/>
                      </a:ln>
                    </p:spPr>
                  </p:sp>
                  <p:sp>
                    <p:nvSpPr>
                      <p:cNvPr id="50233" name="Line 131"/>
                      <p:cNvSpPr/>
                      <p:nvPr/>
                    </p:nvSpPr>
                    <p:spPr>
                      <a:xfrm>
                        <a:off x="2400" y="1824"/>
                        <a:ext cx="0" cy="240"/>
                      </a:xfrm>
                      <a:prstGeom prst="line">
                        <a:avLst/>
                      </a:prstGeom>
                      <a:ln w="38100" cap="flat" cmpd="sng">
                        <a:solidFill>
                          <a:schemeClr val="tx1"/>
                        </a:solidFill>
                        <a:prstDash val="solid"/>
                        <a:headEnd type="none" w="sm" len="sm"/>
                        <a:tailEnd type="none" w="sm" len="sm"/>
                      </a:ln>
                    </p:spPr>
                  </p:sp>
                  <p:sp>
                    <p:nvSpPr>
                      <p:cNvPr id="50234" name="Line 132"/>
                      <p:cNvSpPr/>
                      <p:nvPr/>
                    </p:nvSpPr>
                    <p:spPr>
                      <a:xfrm>
                        <a:off x="1584" y="1824"/>
                        <a:ext cx="0" cy="240"/>
                      </a:xfrm>
                      <a:prstGeom prst="line">
                        <a:avLst/>
                      </a:prstGeom>
                      <a:ln w="38100" cap="flat" cmpd="sng">
                        <a:solidFill>
                          <a:schemeClr val="tx1"/>
                        </a:solidFill>
                        <a:prstDash val="solid"/>
                        <a:headEnd type="none" w="sm" len="sm"/>
                        <a:tailEnd type="none" w="sm" len="sm"/>
                      </a:ln>
                    </p:spPr>
                  </p:sp>
                  <p:sp>
                    <p:nvSpPr>
                      <p:cNvPr id="50235" name="Text Box 133"/>
                      <p:cNvSpPr txBox="1"/>
                      <p:nvPr/>
                    </p:nvSpPr>
                    <p:spPr>
                      <a:xfrm>
                        <a:off x="743"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Pi</a:t>
                        </a:r>
                        <a:endParaRPr lang="en-US" altLang="zh-CN" sz="2000" dirty="0">
                          <a:latin typeface="宋体" panose="02000500000000000000" pitchFamily="2" charset="-122"/>
                        </a:endParaRPr>
                      </a:p>
                    </p:txBody>
                  </p:sp>
                  <p:sp>
                    <p:nvSpPr>
                      <p:cNvPr id="50236" name="Text Box 134"/>
                      <p:cNvSpPr txBox="1"/>
                      <p:nvPr/>
                    </p:nvSpPr>
                    <p:spPr>
                      <a:xfrm>
                        <a:off x="2264" y="1535"/>
                        <a:ext cx="233"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Pk</a:t>
                        </a:r>
                        <a:endParaRPr lang="en-US" altLang="zh-CN" sz="2000" dirty="0">
                          <a:latin typeface="宋体" panose="02000500000000000000" pitchFamily="2" charset="-122"/>
                        </a:endParaRPr>
                      </a:p>
                    </p:txBody>
                  </p:sp>
                  <p:sp>
                    <p:nvSpPr>
                      <p:cNvPr id="50237" name="Text Box 135"/>
                      <p:cNvSpPr txBox="1"/>
                      <p:nvPr/>
                    </p:nvSpPr>
                    <p:spPr>
                      <a:xfrm>
                        <a:off x="1511"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Pj</a:t>
                        </a:r>
                        <a:endParaRPr lang="en-US" altLang="zh-CN" sz="2000" dirty="0">
                          <a:latin typeface="宋体" panose="02000500000000000000" pitchFamily="2" charset="-122"/>
                        </a:endParaRPr>
                      </a:p>
                    </p:txBody>
                  </p:sp>
                  <p:sp>
                    <p:nvSpPr>
                      <p:cNvPr id="50238" name="Rectangle 136"/>
                      <p:cNvSpPr/>
                      <p:nvPr/>
                    </p:nvSpPr>
                    <p:spPr>
                      <a:xfrm>
                        <a:off x="576"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39" name="Rectangle 137"/>
                      <p:cNvSpPr/>
                      <p:nvPr/>
                    </p:nvSpPr>
                    <p:spPr>
                      <a:xfrm>
                        <a:off x="2112"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40" name="Rectangle 138"/>
                      <p:cNvSpPr/>
                      <p:nvPr/>
                    </p:nvSpPr>
                    <p:spPr>
                      <a:xfrm>
                        <a:off x="1344"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41" name="Text Box 139"/>
                      <p:cNvSpPr txBox="1"/>
                      <p:nvPr/>
                    </p:nvSpPr>
                    <p:spPr>
                      <a:xfrm>
                        <a:off x="450"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0242" name="Text Box 140"/>
                      <p:cNvSpPr txBox="1"/>
                      <p:nvPr/>
                    </p:nvSpPr>
                    <p:spPr>
                      <a:xfrm>
                        <a:off x="1986"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0243" name="Text Box 141"/>
                      <p:cNvSpPr txBox="1"/>
                      <p:nvPr/>
                    </p:nvSpPr>
                    <p:spPr>
                      <a:xfrm>
                        <a:off x="1218"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0244" name="Text Box 142"/>
                      <p:cNvSpPr txBox="1"/>
                      <p:nvPr/>
                    </p:nvSpPr>
                    <p:spPr>
                      <a:xfrm>
                        <a:off x="2223" y="2159"/>
                        <a:ext cx="283"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SHD</a:t>
                        </a:r>
                        <a:endParaRPr lang="en-US" altLang="zh-CN" sz="1400" b="1" dirty="0">
                          <a:latin typeface="宋体" panose="02000500000000000000" pitchFamily="2" charset="-122"/>
                        </a:endParaRPr>
                      </a:p>
                    </p:txBody>
                  </p:sp>
                  <p:sp>
                    <p:nvSpPr>
                      <p:cNvPr id="50245" name="Text Box 143"/>
                      <p:cNvSpPr txBox="1"/>
                      <p:nvPr/>
                    </p:nvSpPr>
                    <p:spPr>
                      <a:xfrm>
                        <a:off x="1455" y="2159"/>
                        <a:ext cx="283"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SHD</a:t>
                        </a:r>
                        <a:endParaRPr lang="en-US" altLang="zh-CN" sz="1400" b="1" dirty="0">
                          <a:latin typeface="宋体" panose="02000500000000000000" pitchFamily="2" charset="-122"/>
                        </a:endParaRPr>
                      </a:p>
                    </p:txBody>
                  </p:sp>
                  <p:sp>
                    <p:nvSpPr>
                      <p:cNvPr id="50246" name="Text Box 144"/>
                      <p:cNvSpPr txBox="1"/>
                      <p:nvPr/>
                    </p:nvSpPr>
                    <p:spPr>
                      <a:xfrm>
                        <a:off x="697" y="2159"/>
                        <a:ext cx="264"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INV</a:t>
                        </a:r>
                        <a:endParaRPr lang="en-US" altLang="zh-CN" sz="1400" b="1" dirty="0">
                          <a:latin typeface="宋体" panose="02000500000000000000" pitchFamily="2" charset="-122"/>
                        </a:endParaRPr>
                      </a:p>
                    </p:txBody>
                  </p:sp>
                </p:grpSp>
                <p:grpSp>
                  <p:nvGrpSpPr>
                    <p:cNvPr id="50208" name="Group 145"/>
                    <p:cNvGrpSpPr/>
                    <p:nvPr/>
                  </p:nvGrpSpPr>
                  <p:grpSpPr>
                    <a:xfrm>
                      <a:off x="491" y="3024"/>
                      <a:ext cx="2157" cy="971"/>
                      <a:chOff x="483" y="2784"/>
                      <a:chExt cx="2157" cy="971"/>
                    </a:xfrm>
                  </p:grpSpPr>
                  <p:sp>
                    <p:nvSpPr>
                      <p:cNvPr id="50209" name="Rectangle 146"/>
                      <p:cNvSpPr/>
                      <p:nvPr/>
                    </p:nvSpPr>
                    <p:spPr>
                      <a:xfrm>
                        <a:off x="576"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10" name="Rectangle 147"/>
                      <p:cNvSpPr/>
                      <p:nvPr/>
                    </p:nvSpPr>
                    <p:spPr>
                      <a:xfrm>
                        <a:off x="1344"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11" name="Rectangle 148"/>
                      <p:cNvSpPr/>
                      <p:nvPr/>
                    </p:nvSpPr>
                    <p:spPr>
                      <a:xfrm>
                        <a:off x="2112"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12" name="Line 149"/>
                      <p:cNvSpPr/>
                      <p:nvPr/>
                    </p:nvSpPr>
                    <p:spPr>
                      <a:xfrm>
                        <a:off x="864" y="2784"/>
                        <a:ext cx="0" cy="192"/>
                      </a:xfrm>
                      <a:prstGeom prst="line">
                        <a:avLst/>
                      </a:prstGeom>
                      <a:ln w="38100" cap="flat" cmpd="sng">
                        <a:solidFill>
                          <a:schemeClr val="tx1"/>
                        </a:solidFill>
                        <a:prstDash val="solid"/>
                        <a:headEnd type="none" w="sm" len="sm"/>
                        <a:tailEnd type="none" w="sm" len="sm"/>
                      </a:ln>
                    </p:spPr>
                  </p:sp>
                  <p:sp>
                    <p:nvSpPr>
                      <p:cNvPr id="50213" name="Line 150"/>
                      <p:cNvSpPr/>
                      <p:nvPr/>
                    </p:nvSpPr>
                    <p:spPr>
                      <a:xfrm>
                        <a:off x="1584" y="2784"/>
                        <a:ext cx="0" cy="192"/>
                      </a:xfrm>
                      <a:prstGeom prst="line">
                        <a:avLst/>
                      </a:prstGeom>
                      <a:ln w="38100" cap="flat" cmpd="sng">
                        <a:solidFill>
                          <a:schemeClr val="tx1"/>
                        </a:solidFill>
                        <a:prstDash val="solid"/>
                        <a:headEnd type="none" w="sm" len="sm"/>
                        <a:tailEnd type="none" w="sm" len="sm"/>
                      </a:ln>
                    </p:spPr>
                  </p:sp>
                  <p:sp>
                    <p:nvSpPr>
                      <p:cNvPr id="50214" name="Line 151"/>
                      <p:cNvSpPr/>
                      <p:nvPr/>
                    </p:nvSpPr>
                    <p:spPr>
                      <a:xfrm>
                        <a:off x="2400" y="2784"/>
                        <a:ext cx="0" cy="192"/>
                      </a:xfrm>
                      <a:prstGeom prst="line">
                        <a:avLst/>
                      </a:prstGeom>
                      <a:ln w="38100" cap="flat" cmpd="sng">
                        <a:solidFill>
                          <a:schemeClr val="tx1"/>
                        </a:solidFill>
                        <a:prstDash val="solid"/>
                        <a:headEnd type="none" w="sm" len="sm"/>
                        <a:tailEnd type="none" w="sm" len="sm"/>
                      </a:ln>
                    </p:spPr>
                  </p:sp>
                  <p:sp>
                    <p:nvSpPr>
                      <p:cNvPr id="50215" name="Rectangle 152"/>
                      <p:cNvSpPr/>
                      <p:nvPr/>
                    </p:nvSpPr>
                    <p:spPr>
                      <a:xfrm>
                        <a:off x="576"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16" name="Rectangle 153"/>
                      <p:cNvSpPr/>
                      <p:nvPr/>
                    </p:nvSpPr>
                    <p:spPr>
                      <a:xfrm>
                        <a:off x="2112"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17" name="Rectangle 154"/>
                      <p:cNvSpPr/>
                      <p:nvPr/>
                    </p:nvSpPr>
                    <p:spPr>
                      <a:xfrm>
                        <a:off x="1344"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0218" name="Text Box 155"/>
                      <p:cNvSpPr txBox="1"/>
                      <p:nvPr/>
                    </p:nvSpPr>
                    <p:spPr>
                      <a:xfrm>
                        <a:off x="2019"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0219" name="Text Box 156"/>
                      <p:cNvSpPr txBox="1"/>
                      <p:nvPr/>
                    </p:nvSpPr>
                    <p:spPr>
                      <a:xfrm>
                        <a:off x="1218" y="307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0220" name="Text Box 157"/>
                      <p:cNvSpPr txBox="1"/>
                      <p:nvPr/>
                    </p:nvSpPr>
                    <p:spPr>
                      <a:xfrm>
                        <a:off x="483"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0221" name="Text Box 158"/>
                      <p:cNvSpPr txBox="1"/>
                      <p:nvPr/>
                    </p:nvSpPr>
                    <p:spPr>
                      <a:xfrm>
                        <a:off x="1390" y="3119"/>
                        <a:ext cx="417"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CLEAN</a:t>
                        </a:r>
                        <a:endParaRPr lang="en-US" altLang="zh-CN" sz="1400" b="1" dirty="0">
                          <a:latin typeface="宋体" panose="02000500000000000000" pitchFamily="2" charset="-122"/>
                        </a:endParaRPr>
                      </a:p>
                    </p:txBody>
                  </p:sp>
                  <p:sp>
                    <p:nvSpPr>
                      <p:cNvPr id="50222" name="Text Box 159"/>
                      <p:cNvSpPr txBox="1"/>
                      <p:nvPr/>
                    </p:nvSpPr>
                    <p:spPr>
                      <a:xfrm>
                        <a:off x="903" y="3503"/>
                        <a:ext cx="1164" cy="252"/>
                      </a:xfrm>
                      <a:prstGeom prst="rect">
                        <a:avLst/>
                      </a:prstGeom>
                      <a:noFill/>
                      <a:ln w="12700">
                        <a:noFill/>
                      </a:ln>
                    </p:spPr>
                    <p:txBody>
                      <a:bodyPr wrap="none" anchor="ctr" anchorCtr="0">
                        <a:spAutoFit/>
                      </a:bodyPr>
                      <a:lstStyle/>
                      <a:p>
                        <a:pPr algn="ctr" eaLnBrk="0" hangingPunct="0">
                          <a:spcBef>
                            <a:spcPct val="50000"/>
                          </a:spcBef>
                        </a:pPr>
                        <a:r>
                          <a:rPr lang="en-US" altLang="zh-CN" sz="2000" b="1" dirty="0">
                            <a:latin typeface="宋体" panose="02000500000000000000" pitchFamily="2" charset="-122"/>
                            <a:cs typeface="宋体" panose="02000500000000000000" pitchFamily="2" charset="-122"/>
                          </a:rPr>
                          <a:t>(b)Pi</a:t>
                        </a:r>
                        <a:r>
                          <a:rPr lang="zh-CN" altLang="zh-CN" sz="2000" b="1" dirty="0">
                            <a:latin typeface="宋体" panose="02000500000000000000" pitchFamily="2" charset="-122"/>
                            <a:cs typeface="宋体" panose="02000500000000000000" pitchFamily="2" charset="-122"/>
                          </a:rPr>
                          <a:t>发出存数操作</a:t>
                        </a:r>
                        <a:endParaRPr lang="zh-CN" altLang="en-US" sz="2000" b="1" dirty="0">
                          <a:latin typeface="宋体" panose="02000500000000000000" pitchFamily="2" charset="-122"/>
                          <a:cs typeface="宋体" panose="02000500000000000000" pitchFamily="2" charset="-122"/>
                        </a:endParaRPr>
                      </a:p>
                    </p:txBody>
                  </p:sp>
                </p:grpSp>
              </p:grpSp>
              <p:sp>
                <p:nvSpPr>
                  <p:cNvPr id="50197" name="Line 161"/>
                  <p:cNvSpPr/>
                  <p:nvPr/>
                </p:nvSpPr>
                <p:spPr>
                  <a:xfrm flipV="1">
                    <a:off x="4128" y="2736"/>
                    <a:ext cx="0" cy="432"/>
                  </a:xfrm>
                  <a:prstGeom prst="line">
                    <a:avLst/>
                  </a:prstGeom>
                  <a:ln w="12700" cap="flat" cmpd="sng">
                    <a:solidFill>
                      <a:schemeClr val="tx1"/>
                    </a:solidFill>
                    <a:prstDash val="solid"/>
                    <a:headEnd type="none" w="sm" len="sm"/>
                    <a:tailEnd type="none" w="sm" len="sm"/>
                  </a:ln>
                </p:spPr>
              </p:sp>
              <p:sp>
                <p:nvSpPr>
                  <p:cNvPr id="50198" name="Line 162"/>
                  <p:cNvSpPr/>
                  <p:nvPr/>
                </p:nvSpPr>
                <p:spPr>
                  <a:xfrm flipH="1" flipV="1">
                    <a:off x="3648" y="2736"/>
                    <a:ext cx="480" cy="0"/>
                  </a:xfrm>
                  <a:prstGeom prst="line">
                    <a:avLst/>
                  </a:prstGeom>
                  <a:ln w="12700" cap="flat" cmpd="sng">
                    <a:solidFill>
                      <a:schemeClr val="tx1"/>
                    </a:solidFill>
                    <a:prstDash val="solid"/>
                    <a:headEnd type="none" w="sm" len="sm"/>
                    <a:tailEnd type="none" w="sm" len="sm"/>
                  </a:ln>
                </p:spPr>
              </p:sp>
              <p:sp>
                <p:nvSpPr>
                  <p:cNvPr id="50199" name="Line 163"/>
                  <p:cNvSpPr/>
                  <p:nvPr/>
                </p:nvSpPr>
                <p:spPr>
                  <a:xfrm flipV="1">
                    <a:off x="3648" y="2352"/>
                    <a:ext cx="0" cy="384"/>
                  </a:xfrm>
                  <a:prstGeom prst="line">
                    <a:avLst/>
                  </a:prstGeom>
                  <a:ln w="12700" cap="flat" cmpd="sng">
                    <a:solidFill>
                      <a:schemeClr val="tx1"/>
                    </a:solidFill>
                    <a:prstDash val="solid"/>
                    <a:headEnd type="none" w="sm" len="sm"/>
                    <a:tailEnd type="triangle" w="med" len="med"/>
                  </a:ln>
                </p:spPr>
              </p:sp>
              <p:sp>
                <p:nvSpPr>
                  <p:cNvPr id="50200" name="Line 166"/>
                  <p:cNvSpPr/>
                  <p:nvPr/>
                </p:nvSpPr>
                <p:spPr>
                  <a:xfrm flipV="1">
                    <a:off x="4320" y="2736"/>
                    <a:ext cx="0" cy="432"/>
                  </a:xfrm>
                  <a:prstGeom prst="line">
                    <a:avLst/>
                  </a:prstGeom>
                  <a:ln w="12700" cap="flat" cmpd="sng">
                    <a:solidFill>
                      <a:schemeClr val="tx1"/>
                    </a:solidFill>
                    <a:prstDash val="solid"/>
                    <a:headEnd type="none" w="sm" len="sm"/>
                    <a:tailEnd type="none" w="sm" len="sm"/>
                  </a:ln>
                </p:spPr>
              </p:sp>
              <p:sp>
                <p:nvSpPr>
                  <p:cNvPr id="50201" name="Line 167"/>
                  <p:cNvSpPr/>
                  <p:nvPr/>
                </p:nvSpPr>
                <p:spPr>
                  <a:xfrm>
                    <a:off x="4320" y="2736"/>
                    <a:ext cx="480" cy="0"/>
                  </a:xfrm>
                  <a:prstGeom prst="line">
                    <a:avLst/>
                  </a:prstGeom>
                  <a:ln w="12700" cap="flat" cmpd="sng">
                    <a:solidFill>
                      <a:schemeClr val="tx1"/>
                    </a:solidFill>
                    <a:prstDash val="solid"/>
                    <a:headEnd type="none" w="sm" len="sm"/>
                    <a:tailEnd type="none" w="sm" len="sm"/>
                  </a:ln>
                </p:spPr>
              </p:sp>
              <p:sp>
                <p:nvSpPr>
                  <p:cNvPr id="50202" name="Line 168"/>
                  <p:cNvSpPr/>
                  <p:nvPr/>
                </p:nvSpPr>
                <p:spPr>
                  <a:xfrm flipV="1">
                    <a:off x="4800" y="2352"/>
                    <a:ext cx="0" cy="384"/>
                  </a:xfrm>
                  <a:prstGeom prst="line">
                    <a:avLst/>
                  </a:prstGeom>
                  <a:ln w="12700" cap="flat" cmpd="sng">
                    <a:solidFill>
                      <a:schemeClr val="tx1"/>
                    </a:solidFill>
                    <a:prstDash val="solid"/>
                    <a:headEnd type="none" w="sm" len="sm"/>
                    <a:tailEnd type="triangle" w="med" len="med"/>
                  </a:ln>
                </p:spPr>
              </p:sp>
              <p:sp>
                <p:nvSpPr>
                  <p:cNvPr id="50203" name="Line 169"/>
                  <p:cNvSpPr/>
                  <p:nvPr/>
                </p:nvSpPr>
                <p:spPr>
                  <a:xfrm>
                    <a:off x="4848" y="2352"/>
                    <a:ext cx="0" cy="432"/>
                  </a:xfrm>
                  <a:prstGeom prst="line">
                    <a:avLst/>
                  </a:prstGeom>
                  <a:ln w="12700" cap="flat" cmpd="sng">
                    <a:solidFill>
                      <a:schemeClr val="tx1"/>
                    </a:solidFill>
                    <a:prstDash val="solid"/>
                    <a:headEnd type="none" w="sm" len="sm"/>
                    <a:tailEnd type="none" w="sm" len="sm"/>
                  </a:ln>
                </p:spPr>
              </p:sp>
              <p:sp>
                <p:nvSpPr>
                  <p:cNvPr id="50204" name="Line 170"/>
                  <p:cNvSpPr/>
                  <p:nvPr/>
                </p:nvSpPr>
                <p:spPr>
                  <a:xfrm>
                    <a:off x="4368" y="2784"/>
                    <a:ext cx="480" cy="0"/>
                  </a:xfrm>
                  <a:prstGeom prst="line">
                    <a:avLst/>
                  </a:prstGeom>
                  <a:ln w="12700" cap="flat" cmpd="sng">
                    <a:solidFill>
                      <a:schemeClr val="tx1"/>
                    </a:solidFill>
                    <a:prstDash val="solid"/>
                    <a:headEnd type="none" w="sm" len="sm"/>
                    <a:tailEnd type="none" w="sm" len="sm"/>
                  </a:ln>
                </p:spPr>
              </p:sp>
              <p:sp>
                <p:nvSpPr>
                  <p:cNvPr id="50205" name="Line 171"/>
                  <p:cNvSpPr/>
                  <p:nvPr/>
                </p:nvSpPr>
                <p:spPr>
                  <a:xfrm flipH="1">
                    <a:off x="4368" y="2784"/>
                    <a:ext cx="0" cy="384"/>
                  </a:xfrm>
                  <a:prstGeom prst="line">
                    <a:avLst/>
                  </a:prstGeom>
                  <a:ln w="12700" cap="flat" cmpd="sng">
                    <a:solidFill>
                      <a:schemeClr val="tx1"/>
                    </a:solidFill>
                    <a:prstDash val="solid"/>
                    <a:headEnd type="none" w="sm" len="sm"/>
                    <a:tailEnd type="triangle" w="sm" len="med"/>
                  </a:ln>
                </p:spPr>
              </p:sp>
            </p:grpSp>
            <p:sp>
              <p:nvSpPr>
                <p:cNvPr id="50191" name="Line 174"/>
                <p:cNvSpPr/>
                <p:nvPr/>
              </p:nvSpPr>
              <p:spPr>
                <a:xfrm flipV="1">
                  <a:off x="4320" y="2352"/>
                  <a:ext cx="0" cy="384"/>
                </a:xfrm>
                <a:prstGeom prst="line">
                  <a:avLst/>
                </a:prstGeom>
                <a:ln w="12700" cap="flat" cmpd="sng">
                  <a:solidFill>
                    <a:schemeClr val="tx1"/>
                  </a:solidFill>
                  <a:prstDash val="solid"/>
                  <a:headEnd type="none" w="sm" len="sm"/>
                  <a:tailEnd type="triangle" w="sm" len="sm"/>
                </a:ln>
              </p:spPr>
            </p:sp>
            <p:sp>
              <p:nvSpPr>
                <p:cNvPr id="50192" name="Line 175"/>
                <p:cNvSpPr/>
                <p:nvPr/>
              </p:nvSpPr>
              <p:spPr>
                <a:xfrm flipV="1">
                  <a:off x="4368" y="2352"/>
                  <a:ext cx="0" cy="432"/>
                </a:xfrm>
                <a:prstGeom prst="line">
                  <a:avLst/>
                </a:prstGeom>
                <a:ln w="12700" cap="flat" cmpd="sng">
                  <a:solidFill>
                    <a:schemeClr val="tx1"/>
                  </a:solidFill>
                  <a:prstDash val="solid"/>
                  <a:headEnd type="none" w="sm" len="sm"/>
                  <a:tailEnd type="none" w="sm" len="sm"/>
                </a:ln>
              </p:spPr>
            </p:sp>
          </p:grpSp>
          <p:sp>
            <p:nvSpPr>
              <p:cNvPr id="50186" name="Text Box 177"/>
              <p:cNvSpPr txBox="1"/>
              <p:nvPr/>
            </p:nvSpPr>
            <p:spPr>
              <a:xfrm>
                <a:off x="3689" y="2735"/>
                <a:ext cx="352"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1.write</a:t>
                </a:r>
                <a:endParaRPr lang="en-US" altLang="zh-CN" sz="1400" dirty="0">
                  <a:latin typeface="宋体" panose="02000500000000000000" pitchFamily="2" charset="-122"/>
                </a:endParaRPr>
              </a:p>
            </p:txBody>
          </p:sp>
          <p:sp>
            <p:nvSpPr>
              <p:cNvPr id="50187" name="Text Box 178"/>
              <p:cNvSpPr txBox="1"/>
              <p:nvPr/>
            </p:nvSpPr>
            <p:spPr>
              <a:xfrm>
                <a:off x="4407" y="2591"/>
                <a:ext cx="352"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2.invld</a:t>
                </a:r>
                <a:endParaRPr lang="en-US" altLang="zh-CN" sz="1400" dirty="0">
                  <a:latin typeface="宋体" panose="02000500000000000000" pitchFamily="2" charset="-122"/>
                </a:endParaRPr>
              </a:p>
            </p:txBody>
          </p:sp>
          <p:sp>
            <p:nvSpPr>
              <p:cNvPr id="50188" name="Text Box 179"/>
              <p:cNvSpPr txBox="1"/>
              <p:nvPr/>
            </p:nvSpPr>
            <p:spPr>
              <a:xfrm>
                <a:off x="3690" y="2591"/>
                <a:ext cx="383"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4.wtack</a:t>
                </a:r>
                <a:endParaRPr lang="en-US" altLang="zh-CN" sz="1400" dirty="0">
                  <a:latin typeface="宋体" panose="02000500000000000000" pitchFamily="2" charset="-122"/>
                </a:endParaRPr>
              </a:p>
            </p:txBody>
          </p:sp>
          <p:sp>
            <p:nvSpPr>
              <p:cNvPr id="50189" name="Text Box 180"/>
              <p:cNvSpPr txBox="1"/>
              <p:nvPr/>
            </p:nvSpPr>
            <p:spPr>
              <a:xfrm>
                <a:off x="4383" y="2745"/>
                <a:ext cx="409"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3.invack</a:t>
                </a:r>
                <a:endParaRPr lang="en-US" altLang="zh-CN" sz="1400" dirty="0">
                  <a:latin typeface="宋体" panose="02000500000000000000" pitchFamily="2" charset="-122"/>
                </a:endParaRPr>
              </a:p>
            </p:txBody>
          </p:sp>
        </p:grpSp>
        <p:sp>
          <p:nvSpPr>
            <p:cNvPr id="50184" name="Text Box 182"/>
            <p:cNvSpPr txBox="1"/>
            <p:nvPr/>
          </p:nvSpPr>
          <p:spPr>
            <a:xfrm>
              <a:off x="2985" y="1775"/>
              <a:ext cx="503" cy="213"/>
            </a:xfrm>
            <a:prstGeom prst="rect">
              <a:avLst/>
            </a:prstGeom>
            <a:noFill/>
            <a:ln w="12700">
              <a:noFill/>
            </a:ln>
          </p:spPr>
          <p:txBody>
            <a:bodyPr wrap="none" anchor="ctr" anchorCtr="0">
              <a:spAutoFit/>
            </a:bodyPr>
            <a:lstStyle/>
            <a:p>
              <a:pPr algn="ctr" eaLnBrk="0" hangingPunct="0">
                <a:spcBef>
                  <a:spcPct val="50000"/>
                </a:spcBef>
              </a:pPr>
              <a:r>
                <a:rPr lang="en-US" altLang="zh-CN" sz="1600" dirty="0">
                  <a:latin typeface="宋体" panose="02000500000000000000" pitchFamily="2" charset="-122"/>
                </a:rPr>
                <a:t>STORE x</a:t>
              </a:r>
              <a:endParaRPr lang="en-US" altLang="zh-CN" sz="1600" dirty="0">
                <a:latin typeface="宋体" panose="02000500000000000000" pitchFamily="2" charset="-122"/>
              </a:endParaRPr>
            </a:p>
          </p:txBody>
        </p:sp>
      </p:grpSp>
      <p:sp>
        <p:nvSpPr>
          <p:cNvPr id="50182" name="Rectangle 186"/>
          <p:cNvSpPr>
            <a:spLocks noGrp="1"/>
          </p:cNvSpPr>
          <p:nvPr>
            <p:ph idx="1"/>
          </p:nvPr>
        </p:nvSpPr>
        <p:spPr>
          <a:xfrm>
            <a:off x="655638" y="1524000"/>
            <a:ext cx="9283700" cy="533400"/>
          </a:xfrm>
        </p:spPr>
        <p:txBody>
          <a:bodyPr vert="horz" wrap="square" lIns="92075" tIns="46038" rIns="92075" bIns="46038" anchor="t" anchorCtr="0"/>
          <a:lstStyle/>
          <a:p>
            <a:pPr eaLnBrk="1" hangingPunct="1">
              <a:lnSpc>
                <a:spcPct val="90000"/>
              </a:lnSpc>
            </a:pPr>
            <a:r>
              <a:rPr lang="zh-CN" altLang="en-US" dirty="0">
                <a:latin typeface="宋体" panose="02000500000000000000" pitchFamily="2" charset="-122"/>
                <a:ea typeface="宋体" panose="02000500000000000000" pitchFamily="2" charset="-122"/>
              </a:rPr>
              <a:t>基于目录，单写，写使无效</a:t>
            </a:r>
            <a:endParaRPr lang="zh-CN" altLang="en-US" dirty="0">
              <a:latin typeface="宋体" panose="02000500000000000000" pitchFamily="2" charset="-122"/>
              <a:ea typeface="宋体" panose="02000500000000000000"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grpSp>
        <p:nvGrpSpPr>
          <p:cNvPr id="51203" name="Group 134"/>
          <p:cNvGrpSpPr/>
          <p:nvPr/>
        </p:nvGrpSpPr>
        <p:grpSpPr>
          <a:xfrm>
            <a:off x="598488" y="1447800"/>
            <a:ext cx="4808537" cy="3979863"/>
            <a:chOff x="306" y="912"/>
            <a:chExt cx="2462" cy="2507"/>
          </a:xfrm>
        </p:grpSpPr>
        <p:grpSp>
          <p:nvGrpSpPr>
            <p:cNvPr id="51271" name="Group 66"/>
            <p:cNvGrpSpPr/>
            <p:nvPr/>
          </p:nvGrpSpPr>
          <p:grpSpPr>
            <a:xfrm>
              <a:off x="306" y="912"/>
              <a:ext cx="2305" cy="2507"/>
              <a:chOff x="306" y="1152"/>
              <a:chExt cx="2305" cy="2507"/>
            </a:xfrm>
          </p:grpSpPr>
          <p:grpSp>
            <p:nvGrpSpPr>
              <p:cNvPr id="51273" name="Group 4"/>
              <p:cNvGrpSpPr/>
              <p:nvPr/>
            </p:nvGrpSpPr>
            <p:grpSpPr>
              <a:xfrm>
                <a:off x="306" y="1152"/>
                <a:ext cx="2198" cy="2507"/>
                <a:chOff x="3090" y="1440"/>
                <a:chExt cx="2198" cy="2507"/>
              </a:xfrm>
            </p:grpSpPr>
            <p:sp>
              <p:nvSpPr>
                <p:cNvPr id="51279" name="Line 5"/>
                <p:cNvSpPr/>
                <p:nvPr/>
              </p:nvSpPr>
              <p:spPr>
                <a:xfrm>
                  <a:off x="3600" y="2352"/>
                  <a:ext cx="0" cy="432"/>
                </a:xfrm>
                <a:prstGeom prst="line">
                  <a:avLst/>
                </a:prstGeom>
                <a:ln w="12700" cap="flat" cmpd="sng">
                  <a:solidFill>
                    <a:schemeClr val="tx1"/>
                  </a:solidFill>
                  <a:prstDash val="solid"/>
                  <a:headEnd type="none" w="sm" len="sm"/>
                  <a:tailEnd type="none" w="sm" len="sm"/>
                </a:ln>
              </p:spPr>
            </p:sp>
            <p:sp>
              <p:nvSpPr>
                <p:cNvPr id="51280" name="Line 6"/>
                <p:cNvSpPr/>
                <p:nvPr/>
              </p:nvSpPr>
              <p:spPr>
                <a:xfrm>
                  <a:off x="3600" y="2784"/>
                  <a:ext cx="480" cy="0"/>
                </a:xfrm>
                <a:prstGeom prst="line">
                  <a:avLst/>
                </a:prstGeom>
                <a:ln w="12700" cap="flat" cmpd="sng">
                  <a:solidFill>
                    <a:schemeClr val="tx1"/>
                  </a:solidFill>
                  <a:prstDash val="solid"/>
                  <a:headEnd type="none" w="sm" len="sm"/>
                  <a:tailEnd type="none" w="sm" len="sm"/>
                </a:ln>
              </p:spPr>
            </p:sp>
            <p:sp>
              <p:nvSpPr>
                <p:cNvPr id="51281" name="Line 7"/>
                <p:cNvSpPr/>
                <p:nvPr/>
              </p:nvSpPr>
              <p:spPr>
                <a:xfrm flipH="1">
                  <a:off x="4080" y="2784"/>
                  <a:ext cx="0" cy="384"/>
                </a:xfrm>
                <a:prstGeom prst="line">
                  <a:avLst/>
                </a:prstGeom>
                <a:ln w="12700" cap="flat" cmpd="sng">
                  <a:solidFill>
                    <a:schemeClr val="tx1"/>
                  </a:solidFill>
                  <a:prstDash val="solid"/>
                  <a:headEnd type="none" w="sm" len="sm"/>
                  <a:tailEnd type="triangle" w="sm" len="med"/>
                </a:ln>
              </p:spPr>
            </p:sp>
            <p:grpSp>
              <p:nvGrpSpPr>
                <p:cNvPr id="51282" name="Group 8"/>
                <p:cNvGrpSpPr/>
                <p:nvPr/>
              </p:nvGrpSpPr>
              <p:grpSpPr>
                <a:xfrm>
                  <a:off x="3090" y="1440"/>
                  <a:ext cx="2198" cy="2507"/>
                  <a:chOff x="450" y="1488"/>
                  <a:chExt cx="2198" cy="2507"/>
                </a:xfrm>
              </p:grpSpPr>
              <p:sp>
                <p:nvSpPr>
                  <p:cNvPr id="51292" name="Rectangle 9"/>
                  <p:cNvSpPr/>
                  <p:nvPr/>
                </p:nvSpPr>
                <p:spPr>
                  <a:xfrm>
                    <a:off x="576" y="2592"/>
                    <a:ext cx="2064" cy="432"/>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grpSp>
                <p:nvGrpSpPr>
                  <p:cNvPr id="51293" name="Group 10"/>
                  <p:cNvGrpSpPr/>
                  <p:nvPr/>
                </p:nvGrpSpPr>
                <p:grpSpPr>
                  <a:xfrm>
                    <a:off x="450" y="1488"/>
                    <a:ext cx="2190" cy="1104"/>
                    <a:chOff x="450" y="1488"/>
                    <a:chExt cx="2190" cy="1104"/>
                  </a:xfrm>
                </p:grpSpPr>
                <p:sp>
                  <p:nvSpPr>
                    <p:cNvPr id="51309" name="Oval 11"/>
                    <p:cNvSpPr/>
                    <p:nvPr/>
                  </p:nvSpPr>
                  <p:spPr>
                    <a:xfrm>
                      <a:off x="672"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10" name="Rectangle 12"/>
                    <p:cNvSpPr/>
                    <p:nvPr/>
                  </p:nvSpPr>
                  <p:spPr>
                    <a:xfrm>
                      <a:off x="576"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11" name="Oval 13"/>
                    <p:cNvSpPr/>
                    <p:nvPr/>
                  </p:nvSpPr>
                  <p:spPr>
                    <a:xfrm>
                      <a:off x="1440"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12" name="Rectangle 14"/>
                    <p:cNvSpPr/>
                    <p:nvPr/>
                  </p:nvSpPr>
                  <p:spPr>
                    <a:xfrm>
                      <a:off x="1344"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13" name="Oval 15"/>
                    <p:cNvSpPr/>
                    <p:nvPr/>
                  </p:nvSpPr>
                  <p:spPr>
                    <a:xfrm>
                      <a:off x="2208"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14" name="Rectangle 16"/>
                    <p:cNvSpPr/>
                    <p:nvPr/>
                  </p:nvSpPr>
                  <p:spPr>
                    <a:xfrm>
                      <a:off x="2112"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15" name="Line 17"/>
                    <p:cNvSpPr/>
                    <p:nvPr/>
                  </p:nvSpPr>
                  <p:spPr>
                    <a:xfrm>
                      <a:off x="864" y="2400"/>
                      <a:ext cx="0" cy="192"/>
                    </a:xfrm>
                    <a:prstGeom prst="line">
                      <a:avLst/>
                    </a:prstGeom>
                    <a:ln w="38100" cap="flat" cmpd="sng">
                      <a:solidFill>
                        <a:schemeClr val="tx1"/>
                      </a:solidFill>
                      <a:prstDash val="solid"/>
                      <a:headEnd type="none" w="sm" len="sm"/>
                      <a:tailEnd type="none" w="sm" len="sm"/>
                    </a:ln>
                  </p:spPr>
                </p:sp>
                <p:sp>
                  <p:nvSpPr>
                    <p:cNvPr id="51316" name="Line 18"/>
                    <p:cNvSpPr/>
                    <p:nvPr/>
                  </p:nvSpPr>
                  <p:spPr>
                    <a:xfrm>
                      <a:off x="1584" y="2400"/>
                      <a:ext cx="0" cy="192"/>
                    </a:xfrm>
                    <a:prstGeom prst="line">
                      <a:avLst/>
                    </a:prstGeom>
                    <a:ln w="38100" cap="flat" cmpd="sng">
                      <a:solidFill>
                        <a:schemeClr val="tx1"/>
                      </a:solidFill>
                      <a:prstDash val="solid"/>
                      <a:headEnd type="none" w="sm" len="sm"/>
                      <a:tailEnd type="none" w="sm" len="sm"/>
                    </a:ln>
                  </p:spPr>
                </p:sp>
                <p:sp>
                  <p:nvSpPr>
                    <p:cNvPr id="51317" name="Line 19"/>
                    <p:cNvSpPr/>
                    <p:nvPr/>
                  </p:nvSpPr>
                  <p:spPr>
                    <a:xfrm>
                      <a:off x="2400" y="2400"/>
                      <a:ext cx="0" cy="192"/>
                    </a:xfrm>
                    <a:prstGeom prst="line">
                      <a:avLst/>
                    </a:prstGeom>
                    <a:ln w="38100" cap="flat" cmpd="sng">
                      <a:solidFill>
                        <a:schemeClr val="tx1"/>
                      </a:solidFill>
                      <a:prstDash val="solid"/>
                      <a:headEnd type="none" w="sm" len="sm"/>
                      <a:tailEnd type="none" w="sm" len="sm"/>
                    </a:ln>
                  </p:spPr>
                </p:sp>
                <p:sp>
                  <p:nvSpPr>
                    <p:cNvPr id="51318" name="Line 20"/>
                    <p:cNvSpPr/>
                    <p:nvPr/>
                  </p:nvSpPr>
                  <p:spPr>
                    <a:xfrm>
                      <a:off x="864" y="1824"/>
                      <a:ext cx="0" cy="240"/>
                    </a:xfrm>
                    <a:prstGeom prst="line">
                      <a:avLst/>
                    </a:prstGeom>
                    <a:ln w="38100" cap="flat" cmpd="sng">
                      <a:solidFill>
                        <a:schemeClr val="tx1"/>
                      </a:solidFill>
                      <a:prstDash val="solid"/>
                      <a:headEnd type="none" w="sm" len="sm"/>
                      <a:tailEnd type="none" w="sm" len="sm"/>
                    </a:ln>
                  </p:spPr>
                </p:sp>
                <p:sp>
                  <p:nvSpPr>
                    <p:cNvPr id="51319" name="Line 21"/>
                    <p:cNvSpPr/>
                    <p:nvPr/>
                  </p:nvSpPr>
                  <p:spPr>
                    <a:xfrm>
                      <a:off x="2400" y="1824"/>
                      <a:ext cx="0" cy="240"/>
                    </a:xfrm>
                    <a:prstGeom prst="line">
                      <a:avLst/>
                    </a:prstGeom>
                    <a:ln w="38100" cap="flat" cmpd="sng">
                      <a:solidFill>
                        <a:schemeClr val="tx1"/>
                      </a:solidFill>
                      <a:prstDash val="solid"/>
                      <a:headEnd type="none" w="sm" len="sm"/>
                      <a:tailEnd type="none" w="sm" len="sm"/>
                    </a:ln>
                  </p:spPr>
                </p:sp>
                <p:sp>
                  <p:nvSpPr>
                    <p:cNvPr id="51320" name="Line 22"/>
                    <p:cNvSpPr/>
                    <p:nvPr/>
                  </p:nvSpPr>
                  <p:spPr>
                    <a:xfrm>
                      <a:off x="1584" y="1824"/>
                      <a:ext cx="0" cy="240"/>
                    </a:xfrm>
                    <a:prstGeom prst="line">
                      <a:avLst/>
                    </a:prstGeom>
                    <a:ln w="38100" cap="flat" cmpd="sng">
                      <a:solidFill>
                        <a:schemeClr val="tx1"/>
                      </a:solidFill>
                      <a:prstDash val="solid"/>
                      <a:headEnd type="none" w="sm" len="sm"/>
                      <a:tailEnd type="none" w="sm" len="sm"/>
                    </a:ln>
                  </p:spPr>
                </p:sp>
                <p:sp>
                  <p:nvSpPr>
                    <p:cNvPr id="51321" name="Text Box 23"/>
                    <p:cNvSpPr txBox="1"/>
                    <p:nvPr/>
                  </p:nvSpPr>
                  <p:spPr>
                    <a:xfrm>
                      <a:off x="743"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Pi</a:t>
                      </a:r>
                      <a:endParaRPr lang="en-US" altLang="zh-CN" sz="2000" dirty="0">
                        <a:latin typeface="宋体" panose="02000500000000000000" pitchFamily="2" charset="-122"/>
                      </a:endParaRPr>
                    </a:p>
                  </p:txBody>
                </p:sp>
                <p:sp>
                  <p:nvSpPr>
                    <p:cNvPr id="51322" name="Text Box 24"/>
                    <p:cNvSpPr txBox="1"/>
                    <p:nvPr/>
                  </p:nvSpPr>
                  <p:spPr>
                    <a:xfrm>
                      <a:off x="2264" y="1535"/>
                      <a:ext cx="233"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Pk</a:t>
                      </a:r>
                      <a:endParaRPr lang="en-US" altLang="zh-CN" sz="2000" dirty="0">
                        <a:latin typeface="宋体" panose="02000500000000000000" pitchFamily="2" charset="-122"/>
                      </a:endParaRPr>
                    </a:p>
                  </p:txBody>
                </p:sp>
                <p:sp>
                  <p:nvSpPr>
                    <p:cNvPr id="51323" name="Text Box 25"/>
                    <p:cNvSpPr txBox="1"/>
                    <p:nvPr/>
                  </p:nvSpPr>
                  <p:spPr>
                    <a:xfrm>
                      <a:off x="1511"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Pj</a:t>
                      </a:r>
                      <a:endParaRPr lang="en-US" altLang="zh-CN" sz="2000" dirty="0">
                        <a:latin typeface="宋体" panose="02000500000000000000" pitchFamily="2" charset="-122"/>
                      </a:endParaRPr>
                    </a:p>
                  </p:txBody>
                </p:sp>
                <p:sp>
                  <p:nvSpPr>
                    <p:cNvPr id="51324" name="Rectangle 26"/>
                    <p:cNvSpPr/>
                    <p:nvPr/>
                  </p:nvSpPr>
                  <p:spPr>
                    <a:xfrm>
                      <a:off x="576"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25" name="Rectangle 27"/>
                    <p:cNvSpPr/>
                    <p:nvPr/>
                  </p:nvSpPr>
                  <p:spPr>
                    <a:xfrm>
                      <a:off x="2112"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26" name="Rectangle 28"/>
                    <p:cNvSpPr/>
                    <p:nvPr/>
                  </p:nvSpPr>
                  <p:spPr>
                    <a:xfrm>
                      <a:off x="1344"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27" name="Text Box 29"/>
                    <p:cNvSpPr txBox="1"/>
                    <p:nvPr/>
                  </p:nvSpPr>
                  <p:spPr>
                    <a:xfrm>
                      <a:off x="450"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1328" name="Text Box 30"/>
                    <p:cNvSpPr txBox="1"/>
                    <p:nvPr/>
                  </p:nvSpPr>
                  <p:spPr>
                    <a:xfrm>
                      <a:off x="1986"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1329" name="Text Box 31"/>
                    <p:cNvSpPr txBox="1"/>
                    <p:nvPr/>
                  </p:nvSpPr>
                  <p:spPr>
                    <a:xfrm>
                      <a:off x="1218"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1330" name="Text Box 32"/>
                    <p:cNvSpPr txBox="1"/>
                    <p:nvPr/>
                  </p:nvSpPr>
                  <p:spPr>
                    <a:xfrm>
                      <a:off x="2233" y="2159"/>
                      <a:ext cx="264"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INV</a:t>
                      </a:r>
                      <a:endParaRPr lang="en-US" altLang="zh-CN" sz="1400" b="1" dirty="0">
                        <a:latin typeface="宋体" panose="02000500000000000000" pitchFamily="2" charset="-122"/>
                      </a:endParaRPr>
                    </a:p>
                  </p:txBody>
                </p:sp>
                <p:sp>
                  <p:nvSpPr>
                    <p:cNvPr id="51331" name="Text Box 33"/>
                    <p:cNvSpPr txBox="1"/>
                    <p:nvPr/>
                  </p:nvSpPr>
                  <p:spPr>
                    <a:xfrm>
                      <a:off x="1465" y="2159"/>
                      <a:ext cx="264"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INV</a:t>
                      </a:r>
                      <a:endParaRPr lang="en-US" altLang="zh-CN" sz="1400" b="1" dirty="0">
                        <a:latin typeface="宋体" panose="02000500000000000000" pitchFamily="2" charset="-122"/>
                      </a:endParaRPr>
                    </a:p>
                  </p:txBody>
                </p:sp>
                <p:sp>
                  <p:nvSpPr>
                    <p:cNvPr id="51332" name="Text Box 34"/>
                    <p:cNvSpPr txBox="1"/>
                    <p:nvPr/>
                  </p:nvSpPr>
                  <p:spPr>
                    <a:xfrm>
                      <a:off x="685" y="2159"/>
                      <a:ext cx="289"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EXC</a:t>
                      </a:r>
                      <a:endParaRPr lang="en-US" altLang="zh-CN" sz="1400" b="1" dirty="0">
                        <a:latin typeface="宋体" panose="02000500000000000000" pitchFamily="2" charset="-122"/>
                      </a:endParaRPr>
                    </a:p>
                  </p:txBody>
                </p:sp>
              </p:grpSp>
              <p:grpSp>
                <p:nvGrpSpPr>
                  <p:cNvPr id="51294" name="Group 35"/>
                  <p:cNvGrpSpPr/>
                  <p:nvPr/>
                </p:nvGrpSpPr>
                <p:grpSpPr>
                  <a:xfrm>
                    <a:off x="491" y="3024"/>
                    <a:ext cx="2157" cy="971"/>
                    <a:chOff x="483" y="2784"/>
                    <a:chExt cx="2157" cy="971"/>
                  </a:xfrm>
                </p:grpSpPr>
                <p:sp>
                  <p:nvSpPr>
                    <p:cNvPr id="51295" name="Rectangle 36"/>
                    <p:cNvSpPr/>
                    <p:nvPr/>
                  </p:nvSpPr>
                  <p:spPr>
                    <a:xfrm>
                      <a:off x="576"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96" name="Rectangle 37"/>
                    <p:cNvSpPr/>
                    <p:nvPr/>
                  </p:nvSpPr>
                  <p:spPr>
                    <a:xfrm>
                      <a:off x="1344"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97" name="Rectangle 38"/>
                    <p:cNvSpPr/>
                    <p:nvPr/>
                  </p:nvSpPr>
                  <p:spPr>
                    <a:xfrm>
                      <a:off x="2112"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98" name="Line 39"/>
                    <p:cNvSpPr/>
                    <p:nvPr/>
                  </p:nvSpPr>
                  <p:spPr>
                    <a:xfrm>
                      <a:off x="864" y="2784"/>
                      <a:ext cx="0" cy="192"/>
                    </a:xfrm>
                    <a:prstGeom prst="line">
                      <a:avLst/>
                    </a:prstGeom>
                    <a:ln w="38100" cap="flat" cmpd="sng">
                      <a:solidFill>
                        <a:schemeClr val="tx1"/>
                      </a:solidFill>
                      <a:prstDash val="solid"/>
                      <a:headEnd type="none" w="sm" len="sm"/>
                      <a:tailEnd type="none" w="sm" len="sm"/>
                    </a:ln>
                  </p:spPr>
                </p:sp>
                <p:sp>
                  <p:nvSpPr>
                    <p:cNvPr id="51299" name="Line 40"/>
                    <p:cNvSpPr/>
                    <p:nvPr/>
                  </p:nvSpPr>
                  <p:spPr>
                    <a:xfrm>
                      <a:off x="1584" y="2784"/>
                      <a:ext cx="0" cy="192"/>
                    </a:xfrm>
                    <a:prstGeom prst="line">
                      <a:avLst/>
                    </a:prstGeom>
                    <a:ln w="38100" cap="flat" cmpd="sng">
                      <a:solidFill>
                        <a:schemeClr val="tx1"/>
                      </a:solidFill>
                      <a:prstDash val="solid"/>
                      <a:headEnd type="none" w="sm" len="sm"/>
                      <a:tailEnd type="none" w="sm" len="sm"/>
                    </a:ln>
                  </p:spPr>
                </p:sp>
                <p:sp>
                  <p:nvSpPr>
                    <p:cNvPr id="51300" name="Line 41"/>
                    <p:cNvSpPr/>
                    <p:nvPr/>
                  </p:nvSpPr>
                  <p:spPr>
                    <a:xfrm>
                      <a:off x="2400" y="2784"/>
                      <a:ext cx="0" cy="192"/>
                    </a:xfrm>
                    <a:prstGeom prst="line">
                      <a:avLst/>
                    </a:prstGeom>
                    <a:ln w="38100" cap="flat" cmpd="sng">
                      <a:solidFill>
                        <a:schemeClr val="tx1"/>
                      </a:solidFill>
                      <a:prstDash val="solid"/>
                      <a:headEnd type="none" w="sm" len="sm"/>
                      <a:tailEnd type="none" w="sm" len="sm"/>
                    </a:ln>
                  </p:spPr>
                </p:sp>
                <p:sp>
                  <p:nvSpPr>
                    <p:cNvPr id="51301" name="Rectangle 42"/>
                    <p:cNvSpPr/>
                    <p:nvPr/>
                  </p:nvSpPr>
                  <p:spPr>
                    <a:xfrm>
                      <a:off x="576"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02" name="Rectangle 43"/>
                    <p:cNvSpPr/>
                    <p:nvPr/>
                  </p:nvSpPr>
                  <p:spPr>
                    <a:xfrm>
                      <a:off x="2112"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03" name="Rectangle 44"/>
                    <p:cNvSpPr/>
                    <p:nvPr/>
                  </p:nvSpPr>
                  <p:spPr>
                    <a:xfrm>
                      <a:off x="1344"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304" name="Text Box 45"/>
                    <p:cNvSpPr txBox="1"/>
                    <p:nvPr/>
                  </p:nvSpPr>
                  <p:spPr>
                    <a:xfrm>
                      <a:off x="2019"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1305" name="Text Box 46"/>
                    <p:cNvSpPr txBox="1"/>
                    <p:nvPr/>
                  </p:nvSpPr>
                  <p:spPr>
                    <a:xfrm>
                      <a:off x="1218" y="307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1306" name="Text Box 47"/>
                    <p:cNvSpPr txBox="1"/>
                    <p:nvPr/>
                  </p:nvSpPr>
                  <p:spPr>
                    <a:xfrm>
                      <a:off x="483"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1307" name="Text Box 48"/>
                    <p:cNvSpPr txBox="1"/>
                    <p:nvPr/>
                  </p:nvSpPr>
                  <p:spPr>
                    <a:xfrm>
                      <a:off x="1404" y="3119"/>
                      <a:ext cx="388"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DIRTY</a:t>
                      </a:r>
                      <a:endParaRPr lang="en-US" altLang="zh-CN" sz="1400" b="1" dirty="0">
                        <a:latin typeface="宋体" panose="02000500000000000000" pitchFamily="2" charset="-122"/>
                      </a:endParaRPr>
                    </a:p>
                  </p:txBody>
                </p:sp>
                <p:sp>
                  <p:nvSpPr>
                    <p:cNvPr id="51308" name="Text Box 49"/>
                    <p:cNvSpPr txBox="1"/>
                    <p:nvPr/>
                  </p:nvSpPr>
                  <p:spPr>
                    <a:xfrm>
                      <a:off x="892" y="3503"/>
                      <a:ext cx="1186" cy="252"/>
                    </a:xfrm>
                    <a:prstGeom prst="rect">
                      <a:avLst/>
                    </a:prstGeom>
                    <a:noFill/>
                    <a:ln w="12700">
                      <a:noFill/>
                    </a:ln>
                  </p:spPr>
                  <p:txBody>
                    <a:bodyPr wrap="none" anchor="ctr" anchorCtr="0">
                      <a:spAutoFit/>
                    </a:bodyPr>
                    <a:lstStyle/>
                    <a:p>
                      <a:pPr algn="ctr" eaLnBrk="0" hangingPunct="0">
                        <a:spcBef>
                          <a:spcPct val="50000"/>
                        </a:spcBef>
                      </a:pPr>
                      <a:r>
                        <a:rPr lang="en-US" altLang="zh-CN" sz="2000" b="1" dirty="0">
                          <a:latin typeface="宋体" panose="02000500000000000000" pitchFamily="2" charset="-122"/>
                          <a:cs typeface="宋体" panose="02000500000000000000" pitchFamily="2" charset="-122"/>
                        </a:rPr>
                        <a:t>(c)Pk</a:t>
                      </a:r>
                      <a:r>
                        <a:rPr lang="zh-CN" altLang="zh-CN" sz="2000" b="1" dirty="0">
                          <a:latin typeface="宋体" panose="02000500000000000000" pitchFamily="2" charset="-122"/>
                          <a:cs typeface="宋体" panose="02000500000000000000" pitchFamily="2" charset="-122"/>
                        </a:rPr>
                        <a:t>发出存数操作</a:t>
                      </a:r>
                      <a:endParaRPr lang="zh-CN" altLang="en-US" sz="2000" b="1" dirty="0">
                        <a:latin typeface="宋体" panose="02000500000000000000" pitchFamily="2" charset="-122"/>
                        <a:cs typeface="宋体" panose="02000500000000000000" pitchFamily="2" charset="-122"/>
                      </a:endParaRPr>
                    </a:p>
                  </p:txBody>
                </p:sp>
              </p:grpSp>
            </p:grpSp>
            <p:sp>
              <p:nvSpPr>
                <p:cNvPr id="51283" name="Line 50"/>
                <p:cNvSpPr/>
                <p:nvPr/>
              </p:nvSpPr>
              <p:spPr>
                <a:xfrm flipV="1">
                  <a:off x="4128" y="2736"/>
                  <a:ext cx="0" cy="432"/>
                </a:xfrm>
                <a:prstGeom prst="line">
                  <a:avLst/>
                </a:prstGeom>
                <a:ln w="12700" cap="flat" cmpd="sng">
                  <a:solidFill>
                    <a:schemeClr val="tx1"/>
                  </a:solidFill>
                  <a:prstDash val="solid"/>
                  <a:headEnd type="none" w="sm" len="sm"/>
                  <a:tailEnd type="none" w="sm" len="sm"/>
                </a:ln>
              </p:spPr>
            </p:sp>
            <p:sp>
              <p:nvSpPr>
                <p:cNvPr id="51284" name="Line 51"/>
                <p:cNvSpPr/>
                <p:nvPr/>
              </p:nvSpPr>
              <p:spPr>
                <a:xfrm flipH="1" flipV="1">
                  <a:off x="3648" y="2736"/>
                  <a:ext cx="480" cy="0"/>
                </a:xfrm>
                <a:prstGeom prst="line">
                  <a:avLst/>
                </a:prstGeom>
                <a:ln w="12700" cap="flat" cmpd="sng">
                  <a:solidFill>
                    <a:schemeClr val="tx1"/>
                  </a:solidFill>
                  <a:prstDash val="solid"/>
                  <a:headEnd type="none" w="sm" len="sm"/>
                  <a:tailEnd type="none" w="sm" len="sm"/>
                </a:ln>
              </p:spPr>
            </p:sp>
            <p:sp>
              <p:nvSpPr>
                <p:cNvPr id="51285" name="Line 52"/>
                <p:cNvSpPr/>
                <p:nvPr/>
              </p:nvSpPr>
              <p:spPr>
                <a:xfrm flipV="1">
                  <a:off x="3648" y="2352"/>
                  <a:ext cx="0" cy="384"/>
                </a:xfrm>
                <a:prstGeom prst="line">
                  <a:avLst/>
                </a:prstGeom>
                <a:ln w="12700" cap="flat" cmpd="sng">
                  <a:solidFill>
                    <a:schemeClr val="tx1"/>
                  </a:solidFill>
                  <a:prstDash val="solid"/>
                  <a:headEnd type="none" w="sm" len="sm"/>
                  <a:tailEnd type="triangle" w="med" len="med"/>
                </a:ln>
              </p:spPr>
            </p:sp>
            <p:sp>
              <p:nvSpPr>
                <p:cNvPr id="51286" name="Line 53"/>
                <p:cNvSpPr/>
                <p:nvPr/>
              </p:nvSpPr>
              <p:spPr>
                <a:xfrm flipV="1">
                  <a:off x="4320" y="2736"/>
                  <a:ext cx="0" cy="432"/>
                </a:xfrm>
                <a:prstGeom prst="line">
                  <a:avLst/>
                </a:prstGeom>
                <a:ln w="12700" cap="flat" cmpd="sng">
                  <a:solidFill>
                    <a:schemeClr val="tx1"/>
                  </a:solidFill>
                  <a:prstDash val="solid"/>
                  <a:headEnd type="none" w="sm" len="sm"/>
                  <a:tailEnd type="none" w="sm" len="sm"/>
                </a:ln>
              </p:spPr>
            </p:sp>
            <p:sp>
              <p:nvSpPr>
                <p:cNvPr id="51287" name="Line 54"/>
                <p:cNvSpPr/>
                <p:nvPr/>
              </p:nvSpPr>
              <p:spPr>
                <a:xfrm>
                  <a:off x="4320" y="2736"/>
                  <a:ext cx="480" cy="0"/>
                </a:xfrm>
                <a:prstGeom prst="line">
                  <a:avLst/>
                </a:prstGeom>
                <a:ln w="12700" cap="flat" cmpd="sng">
                  <a:solidFill>
                    <a:schemeClr val="tx1"/>
                  </a:solidFill>
                  <a:prstDash val="solid"/>
                  <a:headEnd type="none" w="sm" len="sm"/>
                  <a:tailEnd type="none" w="sm" len="sm"/>
                </a:ln>
              </p:spPr>
            </p:sp>
            <p:sp>
              <p:nvSpPr>
                <p:cNvPr id="51288" name="Line 55"/>
                <p:cNvSpPr/>
                <p:nvPr/>
              </p:nvSpPr>
              <p:spPr>
                <a:xfrm flipV="1">
                  <a:off x="4800" y="2352"/>
                  <a:ext cx="0" cy="384"/>
                </a:xfrm>
                <a:prstGeom prst="line">
                  <a:avLst/>
                </a:prstGeom>
                <a:ln w="12700" cap="flat" cmpd="sng">
                  <a:solidFill>
                    <a:schemeClr val="tx1"/>
                  </a:solidFill>
                  <a:prstDash val="solid"/>
                  <a:headEnd type="none" w="sm" len="sm"/>
                  <a:tailEnd type="triangle" w="med" len="med"/>
                </a:ln>
              </p:spPr>
            </p:sp>
            <p:sp>
              <p:nvSpPr>
                <p:cNvPr id="51289" name="Line 56"/>
                <p:cNvSpPr/>
                <p:nvPr/>
              </p:nvSpPr>
              <p:spPr>
                <a:xfrm>
                  <a:off x="4848" y="2352"/>
                  <a:ext cx="0" cy="432"/>
                </a:xfrm>
                <a:prstGeom prst="line">
                  <a:avLst/>
                </a:prstGeom>
                <a:ln w="12700" cap="flat" cmpd="sng">
                  <a:solidFill>
                    <a:schemeClr val="tx1"/>
                  </a:solidFill>
                  <a:prstDash val="solid"/>
                  <a:headEnd type="none" w="sm" len="sm"/>
                  <a:tailEnd type="none" w="sm" len="sm"/>
                </a:ln>
              </p:spPr>
            </p:sp>
            <p:sp>
              <p:nvSpPr>
                <p:cNvPr id="51290" name="Line 57"/>
                <p:cNvSpPr/>
                <p:nvPr/>
              </p:nvSpPr>
              <p:spPr>
                <a:xfrm>
                  <a:off x="4368" y="2784"/>
                  <a:ext cx="480" cy="0"/>
                </a:xfrm>
                <a:prstGeom prst="line">
                  <a:avLst/>
                </a:prstGeom>
                <a:ln w="12700" cap="flat" cmpd="sng">
                  <a:solidFill>
                    <a:schemeClr val="tx1"/>
                  </a:solidFill>
                  <a:prstDash val="solid"/>
                  <a:headEnd type="none" w="sm" len="sm"/>
                  <a:tailEnd type="none" w="sm" len="sm"/>
                </a:ln>
              </p:spPr>
            </p:sp>
            <p:sp>
              <p:nvSpPr>
                <p:cNvPr id="51291" name="Line 58"/>
                <p:cNvSpPr/>
                <p:nvPr/>
              </p:nvSpPr>
              <p:spPr>
                <a:xfrm flipH="1">
                  <a:off x="4368" y="2784"/>
                  <a:ext cx="0" cy="384"/>
                </a:xfrm>
                <a:prstGeom prst="line">
                  <a:avLst/>
                </a:prstGeom>
                <a:ln w="12700" cap="flat" cmpd="sng">
                  <a:solidFill>
                    <a:schemeClr val="tx1"/>
                  </a:solidFill>
                  <a:prstDash val="solid"/>
                  <a:headEnd type="none" w="sm" len="sm"/>
                  <a:tailEnd type="triangle" w="sm" len="med"/>
                </a:ln>
              </p:spPr>
            </p:sp>
          </p:grpSp>
          <p:sp>
            <p:nvSpPr>
              <p:cNvPr id="51274" name="Text Box 61"/>
              <p:cNvSpPr txBox="1"/>
              <p:nvPr/>
            </p:nvSpPr>
            <p:spPr>
              <a:xfrm>
                <a:off x="819" y="2447"/>
                <a:ext cx="521"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3.invwback</a:t>
                </a:r>
                <a:endParaRPr lang="en-US" altLang="zh-CN" sz="1400" dirty="0">
                  <a:latin typeface="宋体" panose="02000500000000000000" pitchFamily="2" charset="-122"/>
                </a:endParaRPr>
              </a:p>
            </p:txBody>
          </p:sp>
          <p:sp>
            <p:nvSpPr>
              <p:cNvPr id="51275" name="Text Box 62"/>
              <p:cNvSpPr txBox="1"/>
              <p:nvPr/>
            </p:nvSpPr>
            <p:spPr>
              <a:xfrm>
                <a:off x="1607" y="2303"/>
                <a:ext cx="383"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4.wtack</a:t>
                </a:r>
                <a:endParaRPr lang="en-US" altLang="zh-CN" sz="1400" dirty="0">
                  <a:latin typeface="宋体" panose="02000500000000000000" pitchFamily="2" charset="-122"/>
                </a:endParaRPr>
              </a:p>
            </p:txBody>
          </p:sp>
          <p:sp>
            <p:nvSpPr>
              <p:cNvPr id="51276" name="Text Box 63"/>
              <p:cNvSpPr txBox="1"/>
              <p:nvPr/>
            </p:nvSpPr>
            <p:spPr>
              <a:xfrm>
                <a:off x="901" y="2303"/>
                <a:ext cx="393"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2.invwb</a:t>
                </a:r>
                <a:endParaRPr lang="en-US" altLang="zh-CN" sz="1400" dirty="0">
                  <a:latin typeface="宋体" panose="02000500000000000000" pitchFamily="2" charset="-122"/>
                </a:endParaRPr>
              </a:p>
            </p:txBody>
          </p:sp>
          <p:sp>
            <p:nvSpPr>
              <p:cNvPr id="51277" name="Text Box 64"/>
              <p:cNvSpPr txBox="1"/>
              <p:nvPr/>
            </p:nvSpPr>
            <p:spPr>
              <a:xfrm>
                <a:off x="1629" y="2457"/>
                <a:ext cx="352"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1.write</a:t>
                </a:r>
                <a:endParaRPr lang="en-US" altLang="zh-CN" sz="1400" dirty="0">
                  <a:latin typeface="宋体" panose="02000500000000000000" pitchFamily="2" charset="-122"/>
                </a:endParaRPr>
              </a:p>
            </p:txBody>
          </p:sp>
          <p:sp>
            <p:nvSpPr>
              <p:cNvPr id="51278" name="Text Box 65"/>
              <p:cNvSpPr txBox="1"/>
              <p:nvPr/>
            </p:nvSpPr>
            <p:spPr>
              <a:xfrm>
                <a:off x="2516" y="1535"/>
                <a:ext cx="95" cy="213"/>
              </a:xfrm>
              <a:prstGeom prst="rect">
                <a:avLst/>
              </a:prstGeom>
              <a:noFill/>
              <a:ln w="12700">
                <a:noFill/>
              </a:ln>
            </p:spPr>
            <p:txBody>
              <a:bodyPr wrap="none" anchor="ctr" anchorCtr="0">
                <a:spAutoFit/>
              </a:bodyPr>
              <a:lstStyle/>
              <a:p>
                <a:pPr algn="ctr" eaLnBrk="0" hangingPunct="0">
                  <a:spcBef>
                    <a:spcPct val="50000"/>
                  </a:spcBef>
                </a:pPr>
                <a:endParaRPr lang="zh-CN" altLang="zh-CN" sz="1600" dirty="0">
                  <a:latin typeface="宋体" panose="02000500000000000000" pitchFamily="2" charset="-122"/>
                </a:endParaRPr>
              </a:p>
            </p:txBody>
          </p:sp>
        </p:grpSp>
        <p:sp>
          <p:nvSpPr>
            <p:cNvPr id="51272" name="Text Box 128"/>
            <p:cNvSpPr txBox="1"/>
            <p:nvPr/>
          </p:nvSpPr>
          <p:spPr>
            <a:xfrm>
              <a:off x="2265" y="1247"/>
              <a:ext cx="503" cy="213"/>
            </a:xfrm>
            <a:prstGeom prst="rect">
              <a:avLst/>
            </a:prstGeom>
            <a:noFill/>
            <a:ln w="9525">
              <a:noFill/>
            </a:ln>
          </p:spPr>
          <p:txBody>
            <a:bodyPr wrap="none" anchor="ctr" anchorCtr="0">
              <a:spAutoFit/>
            </a:bodyPr>
            <a:lstStyle/>
            <a:p>
              <a:pPr algn="ctr" eaLnBrk="0" hangingPunct="0">
                <a:spcBef>
                  <a:spcPct val="50000"/>
                </a:spcBef>
              </a:pPr>
              <a:r>
                <a:rPr lang="en-US" altLang="zh-CN" sz="1600" dirty="0">
                  <a:latin typeface="宋体" panose="02000500000000000000" pitchFamily="2" charset="-122"/>
                </a:rPr>
                <a:t>STORE x</a:t>
              </a:r>
              <a:endParaRPr lang="en-US" altLang="zh-CN" sz="1600" dirty="0">
                <a:latin typeface="宋体" panose="02000500000000000000" pitchFamily="2" charset="-122"/>
              </a:endParaRPr>
            </a:p>
          </p:txBody>
        </p:sp>
      </p:grpSp>
      <p:grpSp>
        <p:nvGrpSpPr>
          <p:cNvPr id="51204" name="Group 135"/>
          <p:cNvGrpSpPr/>
          <p:nvPr/>
        </p:nvGrpSpPr>
        <p:grpSpPr>
          <a:xfrm>
            <a:off x="5913438" y="1447800"/>
            <a:ext cx="4625975" cy="3979863"/>
            <a:chOff x="3027" y="912"/>
            <a:chExt cx="2368" cy="2507"/>
          </a:xfrm>
        </p:grpSpPr>
        <p:grpSp>
          <p:nvGrpSpPr>
            <p:cNvPr id="51207" name="Group 130"/>
            <p:cNvGrpSpPr/>
            <p:nvPr/>
          </p:nvGrpSpPr>
          <p:grpSpPr>
            <a:xfrm>
              <a:off x="3090" y="912"/>
              <a:ext cx="2305" cy="2507"/>
              <a:chOff x="3090" y="1152"/>
              <a:chExt cx="2305" cy="2507"/>
            </a:xfrm>
          </p:grpSpPr>
          <p:grpSp>
            <p:nvGrpSpPr>
              <p:cNvPr id="51209" name="Group 67"/>
              <p:cNvGrpSpPr/>
              <p:nvPr/>
            </p:nvGrpSpPr>
            <p:grpSpPr>
              <a:xfrm>
                <a:off x="3090" y="1152"/>
                <a:ext cx="2305" cy="2507"/>
                <a:chOff x="306" y="1152"/>
                <a:chExt cx="2305" cy="2507"/>
              </a:xfrm>
            </p:grpSpPr>
            <p:grpSp>
              <p:nvGrpSpPr>
                <p:cNvPr id="51211" name="Group 68"/>
                <p:cNvGrpSpPr/>
                <p:nvPr/>
              </p:nvGrpSpPr>
              <p:grpSpPr>
                <a:xfrm>
                  <a:off x="306" y="1152"/>
                  <a:ext cx="2198" cy="2507"/>
                  <a:chOff x="3090" y="1440"/>
                  <a:chExt cx="2198" cy="2507"/>
                </a:xfrm>
              </p:grpSpPr>
              <p:sp>
                <p:nvSpPr>
                  <p:cNvPr id="51217" name="Line 69"/>
                  <p:cNvSpPr/>
                  <p:nvPr/>
                </p:nvSpPr>
                <p:spPr>
                  <a:xfrm>
                    <a:off x="3600" y="2352"/>
                    <a:ext cx="0" cy="432"/>
                  </a:xfrm>
                  <a:prstGeom prst="line">
                    <a:avLst/>
                  </a:prstGeom>
                  <a:ln w="12700" cap="flat" cmpd="sng">
                    <a:solidFill>
                      <a:schemeClr val="tx1"/>
                    </a:solidFill>
                    <a:prstDash val="solid"/>
                    <a:headEnd type="none" w="sm" len="sm"/>
                    <a:tailEnd type="none" w="sm" len="sm"/>
                  </a:ln>
                </p:spPr>
              </p:sp>
              <p:sp>
                <p:nvSpPr>
                  <p:cNvPr id="51218" name="Line 70"/>
                  <p:cNvSpPr/>
                  <p:nvPr/>
                </p:nvSpPr>
                <p:spPr>
                  <a:xfrm>
                    <a:off x="3600" y="2784"/>
                    <a:ext cx="480" cy="0"/>
                  </a:xfrm>
                  <a:prstGeom prst="line">
                    <a:avLst/>
                  </a:prstGeom>
                  <a:ln w="12700" cap="flat" cmpd="sng">
                    <a:solidFill>
                      <a:schemeClr val="tx1"/>
                    </a:solidFill>
                    <a:prstDash val="solid"/>
                    <a:headEnd type="none" w="sm" len="sm"/>
                    <a:tailEnd type="none" w="sm" len="sm"/>
                  </a:ln>
                </p:spPr>
              </p:sp>
              <p:sp>
                <p:nvSpPr>
                  <p:cNvPr id="51219" name="Line 71"/>
                  <p:cNvSpPr/>
                  <p:nvPr/>
                </p:nvSpPr>
                <p:spPr>
                  <a:xfrm flipH="1">
                    <a:off x="4080" y="2784"/>
                    <a:ext cx="0" cy="384"/>
                  </a:xfrm>
                  <a:prstGeom prst="line">
                    <a:avLst/>
                  </a:prstGeom>
                  <a:ln w="12700" cap="flat" cmpd="sng">
                    <a:solidFill>
                      <a:schemeClr val="tx1"/>
                    </a:solidFill>
                    <a:prstDash val="solid"/>
                    <a:headEnd type="none" w="sm" len="sm"/>
                    <a:tailEnd type="triangle" w="sm" len="med"/>
                  </a:ln>
                </p:spPr>
              </p:sp>
              <p:grpSp>
                <p:nvGrpSpPr>
                  <p:cNvPr id="51220" name="Group 72"/>
                  <p:cNvGrpSpPr/>
                  <p:nvPr/>
                </p:nvGrpSpPr>
                <p:grpSpPr>
                  <a:xfrm>
                    <a:off x="3090" y="1440"/>
                    <a:ext cx="2198" cy="2507"/>
                    <a:chOff x="450" y="1488"/>
                    <a:chExt cx="2198" cy="2507"/>
                  </a:xfrm>
                </p:grpSpPr>
                <p:sp>
                  <p:nvSpPr>
                    <p:cNvPr id="51230" name="Rectangle 73"/>
                    <p:cNvSpPr/>
                    <p:nvPr/>
                  </p:nvSpPr>
                  <p:spPr>
                    <a:xfrm>
                      <a:off x="576" y="2592"/>
                      <a:ext cx="2064" cy="432"/>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grpSp>
                  <p:nvGrpSpPr>
                    <p:cNvPr id="51231" name="Group 74"/>
                    <p:cNvGrpSpPr/>
                    <p:nvPr/>
                  </p:nvGrpSpPr>
                  <p:grpSpPr>
                    <a:xfrm>
                      <a:off x="450" y="1488"/>
                      <a:ext cx="2190" cy="1104"/>
                      <a:chOff x="450" y="1488"/>
                      <a:chExt cx="2190" cy="1104"/>
                    </a:xfrm>
                  </p:grpSpPr>
                  <p:sp>
                    <p:nvSpPr>
                      <p:cNvPr id="51247" name="Oval 75"/>
                      <p:cNvSpPr/>
                      <p:nvPr/>
                    </p:nvSpPr>
                    <p:spPr>
                      <a:xfrm>
                        <a:off x="672"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48" name="Rectangle 76"/>
                      <p:cNvSpPr/>
                      <p:nvPr/>
                    </p:nvSpPr>
                    <p:spPr>
                      <a:xfrm>
                        <a:off x="576"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49" name="Oval 77"/>
                      <p:cNvSpPr/>
                      <p:nvPr/>
                    </p:nvSpPr>
                    <p:spPr>
                      <a:xfrm>
                        <a:off x="1440"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50" name="Rectangle 78"/>
                      <p:cNvSpPr/>
                      <p:nvPr/>
                    </p:nvSpPr>
                    <p:spPr>
                      <a:xfrm>
                        <a:off x="1344"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51" name="Oval 79"/>
                      <p:cNvSpPr/>
                      <p:nvPr/>
                    </p:nvSpPr>
                    <p:spPr>
                      <a:xfrm>
                        <a:off x="2208"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52" name="Rectangle 80"/>
                      <p:cNvSpPr/>
                      <p:nvPr/>
                    </p:nvSpPr>
                    <p:spPr>
                      <a:xfrm>
                        <a:off x="2112"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53" name="Line 81"/>
                      <p:cNvSpPr/>
                      <p:nvPr/>
                    </p:nvSpPr>
                    <p:spPr>
                      <a:xfrm>
                        <a:off x="864" y="2400"/>
                        <a:ext cx="0" cy="192"/>
                      </a:xfrm>
                      <a:prstGeom prst="line">
                        <a:avLst/>
                      </a:prstGeom>
                      <a:ln w="38100" cap="flat" cmpd="sng">
                        <a:solidFill>
                          <a:schemeClr val="tx1"/>
                        </a:solidFill>
                        <a:prstDash val="solid"/>
                        <a:headEnd type="none" w="sm" len="sm"/>
                        <a:tailEnd type="none" w="sm" len="sm"/>
                      </a:ln>
                    </p:spPr>
                  </p:sp>
                  <p:sp>
                    <p:nvSpPr>
                      <p:cNvPr id="51254" name="Line 82"/>
                      <p:cNvSpPr/>
                      <p:nvPr/>
                    </p:nvSpPr>
                    <p:spPr>
                      <a:xfrm>
                        <a:off x="1584" y="2400"/>
                        <a:ext cx="0" cy="192"/>
                      </a:xfrm>
                      <a:prstGeom prst="line">
                        <a:avLst/>
                      </a:prstGeom>
                      <a:ln w="38100" cap="flat" cmpd="sng">
                        <a:solidFill>
                          <a:schemeClr val="tx1"/>
                        </a:solidFill>
                        <a:prstDash val="solid"/>
                        <a:headEnd type="none" w="sm" len="sm"/>
                        <a:tailEnd type="none" w="sm" len="sm"/>
                      </a:ln>
                    </p:spPr>
                  </p:sp>
                  <p:sp>
                    <p:nvSpPr>
                      <p:cNvPr id="51255" name="Line 83"/>
                      <p:cNvSpPr/>
                      <p:nvPr/>
                    </p:nvSpPr>
                    <p:spPr>
                      <a:xfrm>
                        <a:off x="2400" y="2400"/>
                        <a:ext cx="0" cy="192"/>
                      </a:xfrm>
                      <a:prstGeom prst="line">
                        <a:avLst/>
                      </a:prstGeom>
                      <a:ln w="38100" cap="flat" cmpd="sng">
                        <a:solidFill>
                          <a:schemeClr val="tx1"/>
                        </a:solidFill>
                        <a:prstDash val="solid"/>
                        <a:headEnd type="none" w="sm" len="sm"/>
                        <a:tailEnd type="none" w="sm" len="sm"/>
                      </a:ln>
                    </p:spPr>
                  </p:sp>
                  <p:sp>
                    <p:nvSpPr>
                      <p:cNvPr id="51256" name="Line 84"/>
                      <p:cNvSpPr/>
                      <p:nvPr/>
                    </p:nvSpPr>
                    <p:spPr>
                      <a:xfrm>
                        <a:off x="864" y="1824"/>
                        <a:ext cx="0" cy="240"/>
                      </a:xfrm>
                      <a:prstGeom prst="line">
                        <a:avLst/>
                      </a:prstGeom>
                      <a:ln w="38100" cap="flat" cmpd="sng">
                        <a:solidFill>
                          <a:schemeClr val="tx1"/>
                        </a:solidFill>
                        <a:prstDash val="solid"/>
                        <a:headEnd type="none" w="sm" len="sm"/>
                        <a:tailEnd type="none" w="sm" len="sm"/>
                      </a:ln>
                    </p:spPr>
                  </p:sp>
                  <p:sp>
                    <p:nvSpPr>
                      <p:cNvPr id="51257" name="Line 85"/>
                      <p:cNvSpPr/>
                      <p:nvPr/>
                    </p:nvSpPr>
                    <p:spPr>
                      <a:xfrm>
                        <a:off x="2400" y="1824"/>
                        <a:ext cx="0" cy="240"/>
                      </a:xfrm>
                      <a:prstGeom prst="line">
                        <a:avLst/>
                      </a:prstGeom>
                      <a:ln w="38100" cap="flat" cmpd="sng">
                        <a:solidFill>
                          <a:schemeClr val="tx1"/>
                        </a:solidFill>
                        <a:prstDash val="solid"/>
                        <a:headEnd type="none" w="sm" len="sm"/>
                        <a:tailEnd type="none" w="sm" len="sm"/>
                      </a:ln>
                    </p:spPr>
                  </p:sp>
                  <p:sp>
                    <p:nvSpPr>
                      <p:cNvPr id="51258" name="Line 86"/>
                      <p:cNvSpPr/>
                      <p:nvPr/>
                    </p:nvSpPr>
                    <p:spPr>
                      <a:xfrm>
                        <a:off x="1584" y="1824"/>
                        <a:ext cx="0" cy="240"/>
                      </a:xfrm>
                      <a:prstGeom prst="line">
                        <a:avLst/>
                      </a:prstGeom>
                      <a:ln w="38100" cap="flat" cmpd="sng">
                        <a:solidFill>
                          <a:schemeClr val="tx1"/>
                        </a:solidFill>
                        <a:prstDash val="solid"/>
                        <a:headEnd type="none" w="sm" len="sm"/>
                        <a:tailEnd type="none" w="sm" len="sm"/>
                      </a:ln>
                    </p:spPr>
                  </p:sp>
                  <p:sp>
                    <p:nvSpPr>
                      <p:cNvPr id="51259" name="Text Box 87"/>
                      <p:cNvSpPr txBox="1"/>
                      <p:nvPr/>
                    </p:nvSpPr>
                    <p:spPr>
                      <a:xfrm>
                        <a:off x="743"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Pi</a:t>
                        </a:r>
                        <a:endParaRPr lang="en-US" altLang="zh-CN" sz="2000" dirty="0">
                          <a:latin typeface="宋体" panose="02000500000000000000" pitchFamily="2" charset="-122"/>
                        </a:endParaRPr>
                      </a:p>
                    </p:txBody>
                  </p:sp>
                  <p:sp>
                    <p:nvSpPr>
                      <p:cNvPr id="51260" name="Text Box 88"/>
                      <p:cNvSpPr txBox="1"/>
                      <p:nvPr/>
                    </p:nvSpPr>
                    <p:spPr>
                      <a:xfrm>
                        <a:off x="2264" y="1535"/>
                        <a:ext cx="233"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Pk</a:t>
                        </a:r>
                        <a:endParaRPr lang="en-US" altLang="zh-CN" sz="2000" dirty="0">
                          <a:latin typeface="宋体" panose="02000500000000000000" pitchFamily="2" charset="-122"/>
                        </a:endParaRPr>
                      </a:p>
                    </p:txBody>
                  </p:sp>
                  <p:sp>
                    <p:nvSpPr>
                      <p:cNvPr id="51261" name="Text Box 89"/>
                      <p:cNvSpPr txBox="1"/>
                      <p:nvPr/>
                    </p:nvSpPr>
                    <p:spPr>
                      <a:xfrm>
                        <a:off x="1511"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Pj</a:t>
                        </a:r>
                        <a:endParaRPr lang="en-US" altLang="zh-CN" sz="2000" dirty="0">
                          <a:latin typeface="宋体" panose="02000500000000000000" pitchFamily="2" charset="-122"/>
                        </a:endParaRPr>
                      </a:p>
                    </p:txBody>
                  </p:sp>
                  <p:sp>
                    <p:nvSpPr>
                      <p:cNvPr id="51262" name="Rectangle 90"/>
                      <p:cNvSpPr/>
                      <p:nvPr/>
                    </p:nvSpPr>
                    <p:spPr>
                      <a:xfrm>
                        <a:off x="576"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63" name="Rectangle 91"/>
                      <p:cNvSpPr/>
                      <p:nvPr/>
                    </p:nvSpPr>
                    <p:spPr>
                      <a:xfrm>
                        <a:off x="2112"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64" name="Rectangle 92"/>
                      <p:cNvSpPr/>
                      <p:nvPr/>
                    </p:nvSpPr>
                    <p:spPr>
                      <a:xfrm>
                        <a:off x="1344"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65" name="Text Box 93"/>
                      <p:cNvSpPr txBox="1"/>
                      <p:nvPr/>
                    </p:nvSpPr>
                    <p:spPr>
                      <a:xfrm>
                        <a:off x="450"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1266" name="Text Box 94"/>
                      <p:cNvSpPr txBox="1"/>
                      <p:nvPr/>
                    </p:nvSpPr>
                    <p:spPr>
                      <a:xfrm>
                        <a:off x="1986"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1267" name="Text Box 95"/>
                      <p:cNvSpPr txBox="1"/>
                      <p:nvPr/>
                    </p:nvSpPr>
                    <p:spPr>
                      <a:xfrm>
                        <a:off x="1218"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1268" name="Text Box 96"/>
                      <p:cNvSpPr txBox="1"/>
                      <p:nvPr/>
                    </p:nvSpPr>
                    <p:spPr>
                      <a:xfrm>
                        <a:off x="2221" y="2159"/>
                        <a:ext cx="289"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EXC</a:t>
                        </a:r>
                        <a:endParaRPr lang="en-US" altLang="zh-CN" sz="1400" b="1" dirty="0">
                          <a:latin typeface="宋体" panose="02000500000000000000" pitchFamily="2" charset="-122"/>
                        </a:endParaRPr>
                      </a:p>
                    </p:txBody>
                  </p:sp>
                  <p:sp>
                    <p:nvSpPr>
                      <p:cNvPr id="51269" name="Text Box 97"/>
                      <p:cNvSpPr txBox="1"/>
                      <p:nvPr/>
                    </p:nvSpPr>
                    <p:spPr>
                      <a:xfrm>
                        <a:off x="1465" y="2159"/>
                        <a:ext cx="264"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INV</a:t>
                        </a:r>
                        <a:endParaRPr lang="en-US" altLang="zh-CN" sz="1400" b="1" dirty="0">
                          <a:latin typeface="宋体" panose="02000500000000000000" pitchFamily="2" charset="-122"/>
                        </a:endParaRPr>
                      </a:p>
                    </p:txBody>
                  </p:sp>
                  <p:sp>
                    <p:nvSpPr>
                      <p:cNvPr id="51270" name="Text Box 98"/>
                      <p:cNvSpPr txBox="1"/>
                      <p:nvPr/>
                    </p:nvSpPr>
                    <p:spPr>
                      <a:xfrm>
                        <a:off x="697" y="2159"/>
                        <a:ext cx="264"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INV</a:t>
                        </a:r>
                        <a:endParaRPr lang="en-US" altLang="zh-CN" sz="1400" b="1" dirty="0">
                          <a:latin typeface="宋体" panose="02000500000000000000" pitchFamily="2" charset="-122"/>
                        </a:endParaRPr>
                      </a:p>
                    </p:txBody>
                  </p:sp>
                </p:grpSp>
                <p:grpSp>
                  <p:nvGrpSpPr>
                    <p:cNvPr id="51232" name="Group 99"/>
                    <p:cNvGrpSpPr/>
                    <p:nvPr/>
                  </p:nvGrpSpPr>
                  <p:grpSpPr>
                    <a:xfrm>
                      <a:off x="491" y="3024"/>
                      <a:ext cx="2157" cy="971"/>
                      <a:chOff x="483" y="2784"/>
                      <a:chExt cx="2157" cy="971"/>
                    </a:xfrm>
                  </p:grpSpPr>
                  <p:sp>
                    <p:nvSpPr>
                      <p:cNvPr id="51233" name="Rectangle 100"/>
                      <p:cNvSpPr/>
                      <p:nvPr/>
                    </p:nvSpPr>
                    <p:spPr>
                      <a:xfrm>
                        <a:off x="576"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34" name="Rectangle 101"/>
                      <p:cNvSpPr/>
                      <p:nvPr/>
                    </p:nvSpPr>
                    <p:spPr>
                      <a:xfrm>
                        <a:off x="1344"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35" name="Rectangle 102"/>
                      <p:cNvSpPr/>
                      <p:nvPr/>
                    </p:nvSpPr>
                    <p:spPr>
                      <a:xfrm>
                        <a:off x="2112"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36" name="Line 103"/>
                      <p:cNvSpPr/>
                      <p:nvPr/>
                    </p:nvSpPr>
                    <p:spPr>
                      <a:xfrm>
                        <a:off x="864" y="2784"/>
                        <a:ext cx="0" cy="192"/>
                      </a:xfrm>
                      <a:prstGeom prst="line">
                        <a:avLst/>
                      </a:prstGeom>
                      <a:ln w="38100" cap="flat" cmpd="sng">
                        <a:solidFill>
                          <a:schemeClr val="tx1"/>
                        </a:solidFill>
                        <a:prstDash val="solid"/>
                        <a:headEnd type="none" w="sm" len="sm"/>
                        <a:tailEnd type="none" w="sm" len="sm"/>
                      </a:ln>
                    </p:spPr>
                  </p:sp>
                  <p:sp>
                    <p:nvSpPr>
                      <p:cNvPr id="51237" name="Line 104"/>
                      <p:cNvSpPr/>
                      <p:nvPr/>
                    </p:nvSpPr>
                    <p:spPr>
                      <a:xfrm>
                        <a:off x="1584" y="2784"/>
                        <a:ext cx="0" cy="192"/>
                      </a:xfrm>
                      <a:prstGeom prst="line">
                        <a:avLst/>
                      </a:prstGeom>
                      <a:ln w="38100" cap="flat" cmpd="sng">
                        <a:solidFill>
                          <a:schemeClr val="tx1"/>
                        </a:solidFill>
                        <a:prstDash val="solid"/>
                        <a:headEnd type="none" w="sm" len="sm"/>
                        <a:tailEnd type="none" w="sm" len="sm"/>
                      </a:ln>
                    </p:spPr>
                  </p:sp>
                  <p:sp>
                    <p:nvSpPr>
                      <p:cNvPr id="51238" name="Line 105"/>
                      <p:cNvSpPr/>
                      <p:nvPr/>
                    </p:nvSpPr>
                    <p:spPr>
                      <a:xfrm>
                        <a:off x="2400" y="2784"/>
                        <a:ext cx="0" cy="192"/>
                      </a:xfrm>
                      <a:prstGeom prst="line">
                        <a:avLst/>
                      </a:prstGeom>
                      <a:ln w="38100" cap="flat" cmpd="sng">
                        <a:solidFill>
                          <a:schemeClr val="tx1"/>
                        </a:solidFill>
                        <a:prstDash val="solid"/>
                        <a:headEnd type="none" w="sm" len="sm"/>
                        <a:tailEnd type="none" w="sm" len="sm"/>
                      </a:ln>
                    </p:spPr>
                  </p:sp>
                  <p:sp>
                    <p:nvSpPr>
                      <p:cNvPr id="51239" name="Rectangle 106"/>
                      <p:cNvSpPr/>
                      <p:nvPr/>
                    </p:nvSpPr>
                    <p:spPr>
                      <a:xfrm>
                        <a:off x="576"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40" name="Rectangle 107"/>
                      <p:cNvSpPr/>
                      <p:nvPr/>
                    </p:nvSpPr>
                    <p:spPr>
                      <a:xfrm>
                        <a:off x="2112"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41" name="Rectangle 108"/>
                      <p:cNvSpPr/>
                      <p:nvPr/>
                    </p:nvSpPr>
                    <p:spPr>
                      <a:xfrm>
                        <a:off x="1344"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1242" name="Text Box 109"/>
                      <p:cNvSpPr txBox="1"/>
                      <p:nvPr/>
                    </p:nvSpPr>
                    <p:spPr>
                      <a:xfrm>
                        <a:off x="2019"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1243" name="Text Box 110"/>
                      <p:cNvSpPr txBox="1"/>
                      <p:nvPr/>
                    </p:nvSpPr>
                    <p:spPr>
                      <a:xfrm>
                        <a:off x="1218" y="307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1244" name="Text Box 111"/>
                      <p:cNvSpPr txBox="1"/>
                      <p:nvPr/>
                    </p:nvSpPr>
                    <p:spPr>
                      <a:xfrm>
                        <a:off x="483"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1245" name="Text Box 112"/>
                      <p:cNvSpPr txBox="1"/>
                      <p:nvPr/>
                    </p:nvSpPr>
                    <p:spPr>
                      <a:xfrm>
                        <a:off x="1404" y="3119"/>
                        <a:ext cx="388"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DIRTY</a:t>
                        </a:r>
                        <a:endParaRPr lang="en-US" altLang="zh-CN" sz="1400" b="1" dirty="0">
                          <a:latin typeface="宋体" panose="02000500000000000000" pitchFamily="2" charset="-122"/>
                        </a:endParaRPr>
                      </a:p>
                    </p:txBody>
                  </p:sp>
                  <p:sp>
                    <p:nvSpPr>
                      <p:cNvPr id="51246" name="Text Box 113"/>
                      <p:cNvSpPr txBox="1"/>
                      <p:nvPr/>
                    </p:nvSpPr>
                    <p:spPr>
                      <a:xfrm>
                        <a:off x="903" y="3503"/>
                        <a:ext cx="1164" cy="252"/>
                      </a:xfrm>
                      <a:prstGeom prst="rect">
                        <a:avLst/>
                      </a:prstGeom>
                      <a:noFill/>
                      <a:ln w="12700">
                        <a:noFill/>
                      </a:ln>
                    </p:spPr>
                    <p:txBody>
                      <a:bodyPr wrap="none" anchor="ctr" anchorCtr="0">
                        <a:spAutoFit/>
                      </a:bodyPr>
                      <a:lstStyle/>
                      <a:p>
                        <a:pPr algn="ctr" eaLnBrk="0" hangingPunct="0">
                          <a:spcBef>
                            <a:spcPct val="50000"/>
                          </a:spcBef>
                        </a:pPr>
                        <a:r>
                          <a:rPr lang="en-US" altLang="zh-CN" sz="2000" b="1" dirty="0">
                            <a:latin typeface="宋体" panose="02000500000000000000" pitchFamily="2" charset="-122"/>
                            <a:cs typeface="宋体" panose="02000500000000000000" pitchFamily="2" charset="-122"/>
                          </a:rPr>
                          <a:t>(d)Pi</a:t>
                        </a:r>
                        <a:r>
                          <a:rPr lang="zh-CN" altLang="zh-CN" sz="2000" b="1" dirty="0">
                            <a:latin typeface="宋体" panose="02000500000000000000" pitchFamily="2" charset="-122"/>
                            <a:cs typeface="宋体" panose="02000500000000000000" pitchFamily="2" charset="-122"/>
                          </a:rPr>
                          <a:t>发出存数操作</a:t>
                        </a:r>
                        <a:endParaRPr lang="zh-CN" altLang="en-US" sz="2000" b="1" dirty="0">
                          <a:latin typeface="宋体" panose="02000500000000000000" pitchFamily="2" charset="-122"/>
                          <a:cs typeface="宋体" panose="02000500000000000000" pitchFamily="2" charset="-122"/>
                        </a:endParaRPr>
                      </a:p>
                    </p:txBody>
                  </p:sp>
                </p:grpSp>
              </p:grpSp>
              <p:sp>
                <p:nvSpPr>
                  <p:cNvPr id="51221" name="Line 114"/>
                  <p:cNvSpPr/>
                  <p:nvPr/>
                </p:nvSpPr>
                <p:spPr>
                  <a:xfrm flipV="1">
                    <a:off x="4128" y="2736"/>
                    <a:ext cx="0" cy="432"/>
                  </a:xfrm>
                  <a:prstGeom prst="line">
                    <a:avLst/>
                  </a:prstGeom>
                  <a:ln w="12700" cap="flat" cmpd="sng">
                    <a:solidFill>
                      <a:schemeClr val="tx1"/>
                    </a:solidFill>
                    <a:prstDash val="solid"/>
                    <a:headEnd type="none" w="sm" len="sm"/>
                    <a:tailEnd type="none" w="sm" len="sm"/>
                  </a:ln>
                </p:spPr>
              </p:sp>
              <p:sp>
                <p:nvSpPr>
                  <p:cNvPr id="51222" name="Line 115"/>
                  <p:cNvSpPr/>
                  <p:nvPr/>
                </p:nvSpPr>
                <p:spPr>
                  <a:xfrm flipH="1" flipV="1">
                    <a:off x="3648" y="2736"/>
                    <a:ext cx="480" cy="0"/>
                  </a:xfrm>
                  <a:prstGeom prst="line">
                    <a:avLst/>
                  </a:prstGeom>
                  <a:ln w="12700" cap="flat" cmpd="sng">
                    <a:solidFill>
                      <a:schemeClr val="tx1"/>
                    </a:solidFill>
                    <a:prstDash val="solid"/>
                    <a:headEnd type="none" w="sm" len="sm"/>
                    <a:tailEnd type="none" w="sm" len="sm"/>
                  </a:ln>
                </p:spPr>
              </p:sp>
              <p:sp>
                <p:nvSpPr>
                  <p:cNvPr id="51223" name="Line 116"/>
                  <p:cNvSpPr/>
                  <p:nvPr/>
                </p:nvSpPr>
                <p:spPr>
                  <a:xfrm flipV="1">
                    <a:off x="3648" y="2352"/>
                    <a:ext cx="0" cy="384"/>
                  </a:xfrm>
                  <a:prstGeom prst="line">
                    <a:avLst/>
                  </a:prstGeom>
                  <a:ln w="12700" cap="flat" cmpd="sng">
                    <a:solidFill>
                      <a:schemeClr val="tx1"/>
                    </a:solidFill>
                    <a:prstDash val="solid"/>
                    <a:headEnd type="none" w="sm" len="sm"/>
                    <a:tailEnd type="triangle" w="med" len="med"/>
                  </a:ln>
                </p:spPr>
              </p:sp>
              <p:sp>
                <p:nvSpPr>
                  <p:cNvPr id="51224" name="Line 117"/>
                  <p:cNvSpPr/>
                  <p:nvPr/>
                </p:nvSpPr>
                <p:spPr>
                  <a:xfrm flipV="1">
                    <a:off x="4320" y="2736"/>
                    <a:ext cx="0" cy="432"/>
                  </a:xfrm>
                  <a:prstGeom prst="line">
                    <a:avLst/>
                  </a:prstGeom>
                  <a:ln w="12700" cap="flat" cmpd="sng">
                    <a:solidFill>
                      <a:schemeClr val="tx1"/>
                    </a:solidFill>
                    <a:prstDash val="solid"/>
                    <a:headEnd type="none" w="sm" len="sm"/>
                    <a:tailEnd type="none" w="sm" len="sm"/>
                  </a:ln>
                </p:spPr>
              </p:sp>
              <p:sp>
                <p:nvSpPr>
                  <p:cNvPr id="51225" name="Line 118"/>
                  <p:cNvSpPr/>
                  <p:nvPr/>
                </p:nvSpPr>
                <p:spPr>
                  <a:xfrm>
                    <a:off x="4320" y="2736"/>
                    <a:ext cx="480" cy="0"/>
                  </a:xfrm>
                  <a:prstGeom prst="line">
                    <a:avLst/>
                  </a:prstGeom>
                  <a:ln w="12700" cap="flat" cmpd="sng">
                    <a:solidFill>
                      <a:schemeClr val="tx1"/>
                    </a:solidFill>
                    <a:prstDash val="solid"/>
                    <a:headEnd type="none" w="sm" len="sm"/>
                    <a:tailEnd type="none" w="sm" len="sm"/>
                  </a:ln>
                </p:spPr>
              </p:sp>
              <p:sp>
                <p:nvSpPr>
                  <p:cNvPr id="51226" name="Line 119"/>
                  <p:cNvSpPr/>
                  <p:nvPr/>
                </p:nvSpPr>
                <p:spPr>
                  <a:xfrm flipV="1">
                    <a:off x="4800" y="2352"/>
                    <a:ext cx="0" cy="384"/>
                  </a:xfrm>
                  <a:prstGeom prst="line">
                    <a:avLst/>
                  </a:prstGeom>
                  <a:ln w="12700" cap="flat" cmpd="sng">
                    <a:solidFill>
                      <a:schemeClr val="tx1"/>
                    </a:solidFill>
                    <a:prstDash val="solid"/>
                    <a:headEnd type="none" w="sm" len="sm"/>
                    <a:tailEnd type="triangle" w="med" len="med"/>
                  </a:ln>
                </p:spPr>
              </p:sp>
              <p:sp>
                <p:nvSpPr>
                  <p:cNvPr id="51227" name="Line 120"/>
                  <p:cNvSpPr/>
                  <p:nvPr/>
                </p:nvSpPr>
                <p:spPr>
                  <a:xfrm>
                    <a:off x="4848" y="2352"/>
                    <a:ext cx="0" cy="432"/>
                  </a:xfrm>
                  <a:prstGeom prst="line">
                    <a:avLst/>
                  </a:prstGeom>
                  <a:ln w="12700" cap="flat" cmpd="sng">
                    <a:solidFill>
                      <a:schemeClr val="tx1"/>
                    </a:solidFill>
                    <a:prstDash val="solid"/>
                    <a:headEnd type="none" w="sm" len="sm"/>
                    <a:tailEnd type="none" w="sm" len="sm"/>
                  </a:ln>
                </p:spPr>
              </p:sp>
              <p:sp>
                <p:nvSpPr>
                  <p:cNvPr id="51228" name="Line 121"/>
                  <p:cNvSpPr/>
                  <p:nvPr/>
                </p:nvSpPr>
                <p:spPr>
                  <a:xfrm>
                    <a:off x="4368" y="2784"/>
                    <a:ext cx="480" cy="0"/>
                  </a:xfrm>
                  <a:prstGeom prst="line">
                    <a:avLst/>
                  </a:prstGeom>
                  <a:ln w="12700" cap="flat" cmpd="sng">
                    <a:solidFill>
                      <a:schemeClr val="tx1"/>
                    </a:solidFill>
                    <a:prstDash val="solid"/>
                    <a:headEnd type="none" w="sm" len="sm"/>
                    <a:tailEnd type="none" w="sm" len="sm"/>
                  </a:ln>
                </p:spPr>
              </p:sp>
              <p:sp>
                <p:nvSpPr>
                  <p:cNvPr id="51229" name="Line 122"/>
                  <p:cNvSpPr/>
                  <p:nvPr/>
                </p:nvSpPr>
                <p:spPr>
                  <a:xfrm flipH="1">
                    <a:off x="4368" y="2784"/>
                    <a:ext cx="0" cy="384"/>
                  </a:xfrm>
                  <a:prstGeom prst="line">
                    <a:avLst/>
                  </a:prstGeom>
                  <a:ln w="12700" cap="flat" cmpd="sng">
                    <a:solidFill>
                      <a:schemeClr val="tx1"/>
                    </a:solidFill>
                    <a:prstDash val="solid"/>
                    <a:headEnd type="none" w="sm" len="sm"/>
                    <a:tailEnd type="triangle" w="sm" len="med"/>
                  </a:ln>
                </p:spPr>
              </p:sp>
            </p:grpSp>
            <p:sp>
              <p:nvSpPr>
                <p:cNvPr id="51212" name="Text Box 123"/>
                <p:cNvSpPr txBox="1"/>
                <p:nvPr/>
              </p:nvSpPr>
              <p:spPr>
                <a:xfrm>
                  <a:off x="919" y="2447"/>
                  <a:ext cx="322"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1.read</a:t>
                  </a:r>
                  <a:endParaRPr lang="en-US" altLang="zh-CN" sz="1400" dirty="0">
                    <a:latin typeface="宋体" panose="02000500000000000000" pitchFamily="2" charset="-122"/>
                  </a:endParaRPr>
                </a:p>
              </p:txBody>
            </p:sp>
            <p:sp>
              <p:nvSpPr>
                <p:cNvPr id="51213" name="Text Box 124"/>
                <p:cNvSpPr txBox="1"/>
                <p:nvPr/>
              </p:nvSpPr>
              <p:spPr>
                <a:xfrm>
                  <a:off x="1625" y="2303"/>
                  <a:ext cx="347"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2.wtbk</a:t>
                  </a:r>
                  <a:endParaRPr lang="en-US" altLang="zh-CN" sz="1400" dirty="0">
                    <a:latin typeface="宋体" panose="02000500000000000000" pitchFamily="2" charset="-122"/>
                  </a:endParaRPr>
                </a:p>
              </p:txBody>
            </p:sp>
            <p:sp>
              <p:nvSpPr>
                <p:cNvPr id="51214" name="Text Box 125"/>
                <p:cNvSpPr txBox="1"/>
                <p:nvPr/>
              </p:nvSpPr>
              <p:spPr>
                <a:xfrm>
                  <a:off x="913" y="2303"/>
                  <a:ext cx="370"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4rdtack</a:t>
                  </a:r>
                  <a:endParaRPr lang="en-US" altLang="zh-CN" sz="1400" dirty="0">
                    <a:latin typeface="宋体" panose="02000500000000000000" pitchFamily="2" charset="-122"/>
                  </a:endParaRPr>
                </a:p>
              </p:txBody>
            </p:sp>
            <p:sp>
              <p:nvSpPr>
                <p:cNvPr id="51215" name="Text Box 126"/>
                <p:cNvSpPr txBox="1"/>
                <p:nvPr/>
              </p:nvSpPr>
              <p:spPr>
                <a:xfrm>
                  <a:off x="1602" y="2457"/>
                  <a:ext cx="404"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3.wback</a:t>
                  </a:r>
                  <a:endParaRPr lang="en-US" altLang="zh-CN" sz="1400" dirty="0">
                    <a:latin typeface="宋体" panose="02000500000000000000" pitchFamily="2" charset="-122"/>
                  </a:endParaRPr>
                </a:p>
              </p:txBody>
            </p:sp>
            <p:sp>
              <p:nvSpPr>
                <p:cNvPr id="51216" name="Text Box 127"/>
                <p:cNvSpPr txBox="1"/>
                <p:nvPr/>
              </p:nvSpPr>
              <p:spPr>
                <a:xfrm>
                  <a:off x="2516" y="1535"/>
                  <a:ext cx="95" cy="213"/>
                </a:xfrm>
                <a:prstGeom prst="rect">
                  <a:avLst/>
                </a:prstGeom>
                <a:noFill/>
                <a:ln w="12700">
                  <a:noFill/>
                </a:ln>
              </p:spPr>
              <p:txBody>
                <a:bodyPr wrap="none" anchor="ctr" anchorCtr="0">
                  <a:spAutoFit/>
                </a:bodyPr>
                <a:lstStyle/>
                <a:p>
                  <a:pPr algn="ctr" eaLnBrk="0" hangingPunct="0">
                    <a:spcBef>
                      <a:spcPct val="50000"/>
                    </a:spcBef>
                  </a:pPr>
                  <a:endParaRPr lang="zh-CN" altLang="zh-CN" sz="1600" dirty="0">
                    <a:latin typeface="宋体" panose="02000500000000000000" pitchFamily="2" charset="-122"/>
                  </a:endParaRPr>
                </a:p>
              </p:txBody>
            </p:sp>
          </p:grpSp>
          <p:sp>
            <p:nvSpPr>
              <p:cNvPr id="51210" name="Text Box 129"/>
              <p:cNvSpPr txBox="1"/>
              <p:nvPr/>
            </p:nvSpPr>
            <p:spPr>
              <a:xfrm>
                <a:off x="3932" y="1449"/>
                <a:ext cx="95" cy="291"/>
              </a:xfrm>
              <a:prstGeom prst="rect">
                <a:avLst/>
              </a:prstGeom>
              <a:noFill/>
              <a:ln w="9525">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grpSp>
        <p:sp>
          <p:nvSpPr>
            <p:cNvPr id="51208" name="Text Box 131"/>
            <p:cNvSpPr txBox="1"/>
            <p:nvPr/>
          </p:nvSpPr>
          <p:spPr>
            <a:xfrm>
              <a:off x="3027" y="1247"/>
              <a:ext cx="464" cy="213"/>
            </a:xfrm>
            <a:prstGeom prst="rect">
              <a:avLst/>
            </a:prstGeom>
            <a:noFill/>
            <a:ln w="9525">
              <a:noFill/>
            </a:ln>
          </p:spPr>
          <p:txBody>
            <a:bodyPr wrap="none" anchor="ctr" anchorCtr="0">
              <a:spAutoFit/>
            </a:bodyPr>
            <a:lstStyle/>
            <a:p>
              <a:pPr algn="ctr" eaLnBrk="0" hangingPunct="0">
                <a:spcBef>
                  <a:spcPct val="50000"/>
                </a:spcBef>
              </a:pPr>
              <a:r>
                <a:rPr lang="en-US" altLang="zh-CN" sz="1600" dirty="0">
                  <a:latin typeface="宋体" panose="02000500000000000000" pitchFamily="2" charset="-122"/>
                </a:rPr>
                <a:t>LOAD x</a:t>
              </a:r>
              <a:endParaRPr lang="en-US" altLang="zh-CN" sz="1600" dirty="0">
                <a:latin typeface="宋体" panose="02000500000000000000" pitchFamily="2" charset="-122"/>
              </a:endParaRPr>
            </a:p>
          </p:txBody>
        </p:sp>
      </p:grpSp>
      <p:sp>
        <p:nvSpPr>
          <p:cNvPr id="51205" name="Rectangle 132"/>
          <p:cNvSpPr/>
          <p:nvPr/>
        </p:nvSpPr>
        <p:spPr>
          <a:xfrm>
            <a:off x="777875" y="0"/>
            <a:ext cx="10750550" cy="981075"/>
          </a:xfrm>
          <a:prstGeom prst="rect">
            <a:avLst/>
          </a:prstGeom>
          <a:noFill/>
          <a:ln w="9525">
            <a:noFill/>
          </a:ln>
        </p:spPr>
        <p:txBody>
          <a:bodyPr anchor="ctr" anchorCtr="0"/>
          <a:lstStyle/>
          <a:p>
            <a:pPr algn="ctr" eaLnBrk="0" hangingPunct="0"/>
            <a:r>
              <a:rPr lang="zh-CN" altLang="en-US" sz="3600" dirty="0">
                <a:solidFill>
                  <a:srgbClr val="FF0000"/>
                </a:solidFill>
                <a:latin typeface="Times New Roman" pitchFamily="18" charset="0"/>
                <a:ea typeface="黑体" panose="02000500000000000000" pitchFamily="49" charset="-122"/>
              </a:rPr>
              <a:t>协议举例（</a:t>
            </a:r>
            <a:r>
              <a:rPr lang="en-US" altLang="zh-CN" sz="3600" dirty="0">
                <a:solidFill>
                  <a:srgbClr val="FF0000"/>
                </a:solidFill>
                <a:latin typeface="Times New Roman" pitchFamily="18" charset="0"/>
                <a:ea typeface="黑体" panose="02000500000000000000" pitchFamily="49" charset="-122"/>
              </a:rPr>
              <a:t>cont.</a:t>
            </a:r>
            <a:r>
              <a:rPr lang="zh-CN" altLang="en-US" sz="3600" dirty="0">
                <a:solidFill>
                  <a:srgbClr val="FF0000"/>
                </a:solidFill>
                <a:latin typeface="Times New Roman" pitchFamily="18" charset="0"/>
                <a:ea typeface="黑体" panose="02000500000000000000" pitchFamily="49" charset="-122"/>
              </a:rPr>
              <a:t>）</a:t>
            </a:r>
            <a:endParaRPr lang="zh-CN" altLang="en-US" sz="3600" dirty="0">
              <a:solidFill>
                <a:srgbClr val="FF0000"/>
              </a:solidFill>
              <a:latin typeface="Times New Roman" pitchFamily="18" charset="0"/>
              <a:ea typeface="黑体" panose="02000500000000000000" pitchFamily="49" charset="-122"/>
            </a:endParaRPr>
          </a:p>
        </p:txBody>
      </p:sp>
      <p:sp>
        <p:nvSpPr>
          <p:cNvPr id="51206" name="Rectangle 133"/>
          <p:cNvSpPr/>
          <p:nvPr/>
        </p:nvSpPr>
        <p:spPr>
          <a:xfrm>
            <a:off x="777875" y="5589588"/>
            <a:ext cx="10125075" cy="1066800"/>
          </a:xfrm>
          <a:prstGeom prst="rect">
            <a:avLst/>
          </a:prstGeom>
          <a:noFill/>
          <a:ln w="9525">
            <a:noFill/>
          </a:ln>
        </p:spPr>
        <p:txBody>
          <a:bodyPr lIns="92075" tIns="46038" rIns="92075" bIns="46038"/>
          <a:lstStyle/>
          <a:p>
            <a:pPr marL="342900" indent="-342900">
              <a:lnSpc>
                <a:spcPct val="150000"/>
              </a:lnSpc>
              <a:buChar char="•"/>
            </a:pPr>
            <a:r>
              <a:rPr lang="zh-CN" altLang="en-US" sz="2000" b="1" dirty="0">
                <a:latin typeface="宋体" panose="02000500000000000000" pitchFamily="2" charset="-122"/>
                <a:cs typeface="宋体" panose="02000500000000000000" pitchFamily="2" charset="-122"/>
              </a:rPr>
              <a:t>若支持</a:t>
            </a:r>
            <a:r>
              <a:rPr lang="en-US" altLang="zh-CN" sz="2000" b="1" dirty="0">
                <a:latin typeface="宋体" panose="02000500000000000000" pitchFamily="2" charset="-122"/>
                <a:cs typeface="宋体" panose="02000500000000000000" pitchFamily="2" charset="-122"/>
              </a:rPr>
              <a:t>SC</a:t>
            </a:r>
            <a:r>
              <a:rPr lang="zh-CN" altLang="en-US" sz="2000" b="1" dirty="0">
                <a:latin typeface="宋体" panose="02000500000000000000" pitchFamily="2" charset="-122"/>
                <a:cs typeface="宋体" panose="02000500000000000000" pitchFamily="2" charset="-122"/>
              </a:rPr>
              <a:t>，</a:t>
            </a:r>
            <a:r>
              <a:rPr lang="en-US" altLang="zh-CN" sz="2000" b="1" dirty="0">
                <a:latin typeface="宋体" panose="02000500000000000000" pitchFamily="2" charset="-122"/>
                <a:cs typeface="宋体" panose="02000500000000000000" pitchFamily="2" charset="-122"/>
              </a:rPr>
              <a:t>Pi</a:t>
            </a:r>
            <a:r>
              <a:rPr lang="zh-CN" altLang="zh-CN" sz="2000" b="1" dirty="0">
                <a:latin typeface="宋体" panose="02000500000000000000" pitchFamily="2" charset="-122"/>
                <a:cs typeface="宋体" panose="02000500000000000000" pitchFamily="2" charset="-122"/>
              </a:rPr>
              <a:t>需等到</a:t>
            </a:r>
            <a:r>
              <a:rPr lang="en-US" altLang="zh-CN" sz="2000" b="1" dirty="0">
                <a:latin typeface="宋体" panose="02000500000000000000" pitchFamily="2" charset="-122"/>
                <a:cs typeface="宋体" panose="02000500000000000000" pitchFamily="2" charset="-122"/>
              </a:rPr>
              <a:t>Pk</a:t>
            </a:r>
            <a:r>
              <a:rPr lang="zh-CN" altLang="en-US" sz="2000" b="1" dirty="0">
                <a:latin typeface="宋体" panose="02000500000000000000" pitchFamily="2" charset="-122"/>
                <a:cs typeface="宋体" panose="02000500000000000000" pitchFamily="2" charset="-122"/>
              </a:rPr>
              <a:t>的“</a:t>
            </a:r>
            <a:r>
              <a:rPr lang="en-US" altLang="zh-CN" sz="2000" b="1" dirty="0">
                <a:latin typeface="宋体" panose="02000500000000000000" pitchFamily="2" charset="-122"/>
                <a:cs typeface="宋体" panose="02000500000000000000" pitchFamily="2" charset="-122"/>
              </a:rPr>
              <a:t>STORE x”</a:t>
            </a:r>
            <a:r>
              <a:rPr lang="zh-CN" altLang="en-US" sz="2000" b="1" dirty="0">
                <a:latin typeface="宋体" panose="02000500000000000000" pitchFamily="2" charset="-122"/>
                <a:cs typeface="宋体" panose="02000500000000000000" pitchFamily="2" charset="-122"/>
              </a:rPr>
              <a:t>执行完</a:t>
            </a:r>
            <a:endParaRPr lang="zh-CN" altLang="en-US" sz="2000" b="1" dirty="0">
              <a:latin typeface="宋体" panose="02000500000000000000" pitchFamily="2" charset="-122"/>
              <a:cs typeface="宋体" panose="02000500000000000000" pitchFamily="2" charset="-122"/>
            </a:endParaRPr>
          </a:p>
          <a:p>
            <a:pPr marL="342900" indent="-342900">
              <a:lnSpc>
                <a:spcPct val="150000"/>
              </a:lnSpc>
              <a:buChar char="•"/>
            </a:pPr>
            <a:r>
              <a:rPr lang="zh-CN" altLang="en-US" sz="2000" b="1" dirty="0">
                <a:latin typeface="宋体" panose="02000500000000000000" pitchFamily="2" charset="-122"/>
                <a:cs typeface="宋体" panose="02000500000000000000" pitchFamily="2" charset="-122"/>
              </a:rPr>
              <a:t>若支持</a:t>
            </a:r>
            <a:r>
              <a:rPr lang="en-US" altLang="zh-CN" sz="2000" b="1" dirty="0">
                <a:latin typeface="宋体" panose="02000500000000000000" pitchFamily="2" charset="-122"/>
                <a:cs typeface="宋体" panose="02000500000000000000" pitchFamily="2" charset="-122"/>
              </a:rPr>
              <a:t>RC</a:t>
            </a:r>
            <a:r>
              <a:rPr lang="zh-CN" altLang="en-US" sz="2000" b="1" dirty="0">
                <a:latin typeface="宋体" panose="02000500000000000000" pitchFamily="2" charset="-122"/>
                <a:cs typeface="宋体" panose="02000500000000000000" pitchFamily="2" charset="-122"/>
              </a:rPr>
              <a:t>，无限制</a:t>
            </a:r>
            <a:endParaRPr lang="zh-CN" altLang="en-US" sz="2000" b="1" dirty="0">
              <a:latin typeface="宋体" panose="02000500000000000000" pitchFamily="2" charset="-122"/>
              <a:cs typeface="宋体" panose="02000500000000000000"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latin typeface="宋体" panose="02000500000000000000" pitchFamily="2" charset="-122"/>
              </a:rPr>
            </a:fld>
            <a:endParaRPr lang="en-US" altLang="zh-CN" sz="1400" dirty="0">
              <a:latin typeface="宋体" panose="02000500000000000000" pitchFamily="2" charset="-122"/>
            </a:endParaRPr>
          </a:p>
        </p:txBody>
      </p:sp>
      <p:grpSp>
        <p:nvGrpSpPr>
          <p:cNvPr id="52227" name="Group 68"/>
          <p:cNvGrpSpPr/>
          <p:nvPr/>
        </p:nvGrpSpPr>
        <p:grpSpPr>
          <a:xfrm>
            <a:off x="879475" y="1981200"/>
            <a:ext cx="4294188" cy="3979863"/>
            <a:chOff x="450" y="1248"/>
            <a:chExt cx="2198" cy="2507"/>
          </a:xfrm>
        </p:grpSpPr>
        <p:grpSp>
          <p:nvGrpSpPr>
            <p:cNvPr id="52272" name="Group 9"/>
            <p:cNvGrpSpPr/>
            <p:nvPr/>
          </p:nvGrpSpPr>
          <p:grpSpPr>
            <a:xfrm>
              <a:off x="450" y="1248"/>
              <a:ext cx="2198" cy="2507"/>
              <a:chOff x="450" y="1488"/>
              <a:chExt cx="2198" cy="2507"/>
            </a:xfrm>
          </p:grpSpPr>
          <p:sp>
            <p:nvSpPr>
              <p:cNvPr id="52281" name="Rectangle 10"/>
              <p:cNvSpPr/>
              <p:nvPr/>
            </p:nvSpPr>
            <p:spPr>
              <a:xfrm>
                <a:off x="576" y="2592"/>
                <a:ext cx="2064" cy="432"/>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grpSp>
            <p:nvGrpSpPr>
              <p:cNvPr id="52282" name="Group 11"/>
              <p:cNvGrpSpPr/>
              <p:nvPr/>
            </p:nvGrpSpPr>
            <p:grpSpPr>
              <a:xfrm>
                <a:off x="450" y="1488"/>
                <a:ext cx="2190" cy="1104"/>
                <a:chOff x="450" y="1488"/>
                <a:chExt cx="2190" cy="1104"/>
              </a:xfrm>
            </p:grpSpPr>
            <p:sp>
              <p:nvSpPr>
                <p:cNvPr id="52298" name="Oval 12"/>
                <p:cNvSpPr/>
                <p:nvPr/>
              </p:nvSpPr>
              <p:spPr>
                <a:xfrm>
                  <a:off x="672"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99" name="Rectangle 13"/>
                <p:cNvSpPr/>
                <p:nvPr/>
              </p:nvSpPr>
              <p:spPr>
                <a:xfrm>
                  <a:off x="576"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300" name="Oval 14"/>
                <p:cNvSpPr/>
                <p:nvPr/>
              </p:nvSpPr>
              <p:spPr>
                <a:xfrm>
                  <a:off x="1440"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301" name="Rectangle 15"/>
                <p:cNvSpPr/>
                <p:nvPr/>
              </p:nvSpPr>
              <p:spPr>
                <a:xfrm>
                  <a:off x="1344"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302" name="Oval 16"/>
                <p:cNvSpPr/>
                <p:nvPr/>
              </p:nvSpPr>
              <p:spPr>
                <a:xfrm>
                  <a:off x="2208"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303" name="Rectangle 17"/>
                <p:cNvSpPr/>
                <p:nvPr/>
              </p:nvSpPr>
              <p:spPr>
                <a:xfrm>
                  <a:off x="2112"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304" name="Line 18"/>
                <p:cNvSpPr/>
                <p:nvPr/>
              </p:nvSpPr>
              <p:spPr>
                <a:xfrm>
                  <a:off x="864" y="2400"/>
                  <a:ext cx="0" cy="192"/>
                </a:xfrm>
                <a:prstGeom prst="line">
                  <a:avLst/>
                </a:prstGeom>
                <a:ln w="38100" cap="flat" cmpd="sng">
                  <a:solidFill>
                    <a:schemeClr val="tx1"/>
                  </a:solidFill>
                  <a:prstDash val="solid"/>
                  <a:headEnd type="none" w="sm" len="sm"/>
                  <a:tailEnd type="none" w="sm" len="sm"/>
                </a:ln>
              </p:spPr>
            </p:sp>
            <p:sp>
              <p:nvSpPr>
                <p:cNvPr id="52305" name="Line 19"/>
                <p:cNvSpPr/>
                <p:nvPr/>
              </p:nvSpPr>
              <p:spPr>
                <a:xfrm>
                  <a:off x="1584" y="2400"/>
                  <a:ext cx="0" cy="192"/>
                </a:xfrm>
                <a:prstGeom prst="line">
                  <a:avLst/>
                </a:prstGeom>
                <a:ln w="38100" cap="flat" cmpd="sng">
                  <a:solidFill>
                    <a:schemeClr val="tx1"/>
                  </a:solidFill>
                  <a:prstDash val="solid"/>
                  <a:headEnd type="none" w="sm" len="sm"/>
                  <a:tailEnd type="none" w="sm" len="sm"/>
                </a:ln>
              </p:spPr>
            </p:sp>
            <p:sp>
              <p:nvSpPr>
                <p:cNvPr id="52306" name="Line 20"/>
                <p:cNvSpPr/>
                <p:nvPr/>
              </p:nvSpPr>
              <p:spPr>
                <a:xfrm>
                  <a:off x="2400" y="2400"/>
                  <a:ext cx="0" cy="192"/>
                </a:xfrm>
                <a:prstGeom prst="line">
                  <a:avLst/>
                </a:prstGeom>
                <a:ln w="38100" cap="flat" cmpd="sng">
                  <a:solidFill>
                    <a:schemeClr val="tx1"/>
                  </a:solidFill>
                  <a:prstDash val="solid"/>
                  <a:headEnd type="none" w="sm" len="sm"/>
                  <a:tailEnd type="none" w="sm" len="sm"/>
                </a:ln>
              </p:spPr>
            </p:sp>
            <p:sp>
              <p:nvSpPr>
                <p:cNvPr id="52307" name="Line 21"/>
                <p:cNvSpPr/>
                <p:nvPr/>
              </p:nvSpPr>
              <p:spPr>
                <a:xfrm>
                  <a:off x="864" y="1824"/>
                  <a:ext cx="0" cy="240"/>
                </a:xfrm>
                <a:prstGeom prst="line">
                  <a:avLst/>
                </a:prstGeom>
                <a:ln w="38100" cap="flat" cmpd="sng">
                  <a:solidFill>
                    <a:schemeClr val="tx1"/>
                  </a:solidFill>
                  <a:prstDash val="solid"/>
                  <a:headEnd type="none" w="sm" len="sm"/>
                  <a:tailEnd type="none" w="sm" len="sm"/>
                </a:ln>
              </p:spPr>
            </p:sp>
            <p:sp>
              <p:nvSpPr>
                <p:cNvPr id="52308" name="Line 22"/>
                <p:cNvSpPr/>
                <p:nvPr/>
              </p:nvSpPr>
              <p:spPr>
                <a:xfrm>
                  <a:off x="2400" y="1824"/>
                  <a:ext cx="0" cy="240"/>
                </a:xfrm>
                <a:prstGeom prst="line">
                  <a:avLst/>
                </a:prstGeom>
                <a:ln w="38100" cap="flat" cmpd="sng">
                  <a:solidFill>
                    <a:schemeClr val="tx1"/>
                  </a:solidFill>
                  <a:prstDash val="solid"/>
                  <a:headEnd type="none" w="sm" len="sm"/>
                  <a:tailEnd type="none" w="sm" len="sm"/>
                </a:ln>
              </p:spPr>
            </p:sp>
            <p:sp>
              <p:nvSpPr>
                <p:cNvPr id="52309" name="Line 23"/>
                <p:cNvSpPr/>
                <p:nvPr/>
              </p:nvSpPr>
              <p:spPr>
                <a:xfrm>
                  <a:off x="1584" y="1824"/>
                  <a:ext cx="0" cy="240"/>
                </a:xfrm>
                <a:prstGeom prst="line">
                  <a:avLst/>
                </a:prstGeom>
                <a:ln w="38100" cap="flat" cmpd="sng">
                  <a:solidFill>
                    <a:schemeClr val="tx1"/>
                  </a:solidFill>
                  <a:prstDash val="solid"/>
                  <a:headEnd type="none" w="sm" len="sm"/>
                  <a:tailEnd type="none" w="sm" len="sm"/>
                </a:ln>
              </p:spPr>
            </p:sp>
            <p:sp>
              <p:nvSpPr>
                <p:cNvPr id="52310" name="Text Box 24"/>
                <p:cNvSpPr txBox="1"/>
                <p:nvPr/>
              </p:nvSpPr>
              <p:spPr>
                <a:xfrm>
                  <a:off x="743"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Pi</a:t>
                  </a:r>
                  <a:endParaRPr lang="en-US" altLang="zh-CN" sz="2000" dirty="0">
                    <a:latin typeface="宋体" panose="02000500000000000000" pitchFamily="2" charset="-122"/>
                  </a:endParaRPr>
                </a:p>
              </p:txBody>
            </p:sp>
            <p:sp>
              <p:nvSpPr>
                <p:cNvPr id="52311" name="Text Box 25"/>
                <p:cNvSpPr txBox="1"/>
                <p:nvPr/>
              </p:nvSpPr>
              <p:spPr>
                <a:xfrm>
                  <a:off x="2264" y="1535"/>
                  <a:ext cx="233"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Pk</a:t>
                  </a:r>
                  <a:endParaRPr lang="en-US" altLang="zh-CN" sz="2000" dirty="0">
                    <a:latin typeface="宋体" panose="02000500000000000000" pitchFamily="2" charset="-122"/>
                  </a:endParaRPr>
                </a:p>
              </p:txBody>
            </p:sp>
            <p:sp>
              <p:nvSpPr>
                <p:cNvPr id="52312" name="Text Box 26"/>
                <p:cNvSpPr txBox="1"/>
                <p:nvPr/>
              </p:nvSpPr>
              <p:spPr>
                <a:xfrm>
                  <a:off x="1511"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Pj</a:t>
                  </a:r>
                  <a:endParaRPr lang="en-US" altLang="zh-CN" sz="2000" dirty="0">
                    <a:latin typeface="宋体" panose="02000500000000000000" pitchFamily="2" charset="-122"/>
                  </a:endParaRPr>
                </a:p>
              </p:txBody>
            </p:sp>
            <p:sp>
              <p:nvSpPr>
                <p:cNvPr id="52313" name="Rectangle 27"/>
                <p:cNvSpPr/>
                <p:nvPr/>
              </p:nvSpPr>
              <p:spPr>
                <a:xfrm>
                  <a:off x="576"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314" name="Rectangle 28"/>
                <p:cNvSpPr/>
                <p:nvPr/>
              </p:nvSpPr>
              <p:spPr>
                <a:xfrm>
                  <a:off x="2112"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315" name="Rectangle 29"/>
                <p:cNvSpPr/>
                <p:nvPr/>
              </p:nvSpPr>
              <p:spPr>
                <a:xfrm>
                  <a:off x="1344"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316" name="Text Box 30"/>
                <p:cNvSpPr txBox="1"/>
                <p:nvPr/>
              </p:nvSpPr>
              <p:spPr>
                <a:xfrm>
                  <a:off x="450"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2317" name="Text Box 31"/>
                <p:cNvSpPr txBox="1"/>
                <p:nvPr/>
              </p:nvSpPr>
              <p:spPr>
                <a:xfrm>
                  <a:off x="1986"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2318" name="Text Box 32"/>
                <p:cNvSpPr txBox="1"/>
                <p:nvPr/>
              </p:nvSpPr>
              <p:spPr>
                <a:xfrm>
                  <a:off x="1218"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2319" name="Text Box 33"/>
                <p:cNvSpPr txBox="1"/>
                <p:nvPr/>
              </p:nvSpPr>
              <p:spPr>
                <a:xfrm>
                  <a:off x="2223" y="2159"/>
                  <a:ext cx="283"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SHD</a:t>
                  </a:r>
                  <a:endParaRPr lang="en-US" altLang="zh-CN" sz="1400" b="1" dirty="0">
                    <a:latin typeface="宋体" panose="02000500000000000000" pitchFamily="2" charset="-122"/>
                  </a:endParaRPr>
                </a:p>
              </p:txBody>
            </p:sp>
            <p:sp>
              <p:nvSpPr>
                <p:cNvPr id="52320" name="Text Box 34"/>
                <p:cNvSpPr txBox="1"/>
                <p:nvPr/>
              </p:nvSpPr>
              <p:spPr>
                <a:xfrm>
                  <a:off x="1465" y="2159"/>
                  <a:ext cx="264"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INV</a:t>
                  </a:r>
                  <a:endParaRPr lang="en-US" altLang="zh-CN" sz="1400" b="1" dirty="0">
                    <a:latin typeface="宋体" panose="02000500000000000000" pitchFamily="2" charset="-122"/>
                  </a:endParaRPr>
                </a:p>
              </p:txBody>
            </p:sp>
            <p:sp>
              <p:nvSpPr>
                <p:cNvPr id="52321" name="Text Box 35"/>
                <p:cNvSpPr txBox="1"/>
                <p:nvPr/>
              </p:nvSpPr>
              <p:spPr>
                <a:xfrm>
                  <a:off x="687" y="2159"/>
                  <a:ext cx="283"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SHD</a:t>
                  </a:r>
                  <a:endParaRPr lang="en-US" altLang="zh-CN" sz="1400" b="1" dirty="0">
                    <a:latin typeface="宋体" panose="02000500000000000000" pitchFamily="2" charset="-122"/>
                  </a:endParaRPr>
                </a:p>
              </p:txBody>
            </p:sp>
          </p:grpSp>
          <p:grpSp>
            <p:nvGrpSpPr>
              <p:cNvPr id="52283" name="Group 36"/>
              <p:cNvGrpSpPr/>
              <p:nvPr/>
            </p:nvGrpSpPr>
            <p:grpSpPr>
              <a:xfrm>
                <a:off x="491" y="3024"/>
                <a:ext cx="2157" cy="971"/>
                <a:chOff x="483" y="2784"/>
                <a:chExt cx="2157" cy="971"/>
              </a:xfrm>
            </p:grpSpPr>
            <p:sp>
              <p:nvSpPr>
                <p:cNvPr id="52284" name="Rectangle 37"/>
                <p:cNvSpPr/>
                <p:nvPr/>
              </p:nvSpPr>
              <p:spPr>
                <a:xfrm>
                  <a:off x="576"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85" name="Rectangle 38"/>
                <p:cNvSpPr/>
                <p:nvPr/>
              </p:nvSpPr>
              <p:spPr>
                <a:xfrm>
                  <a:off x="1344"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86" name="Rectangle 39"/>
                <p:cNvSpPr/>
                <p:nvPr/>
              </p:nvSpPr>
              <p:spPr>
                <a:xfrm>
                  <a:off x="2112"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87" name="Line 40"/>
                <p:cNvSpPr/>
                <p:nvPr/>
              </p:nvSpPr>
              <p:spPr>
                <a:xfrm>
                  <a:off x="864" y="2784"/>
                  <a:ext cx="0" cy="192"/>
                </a:xfrm>
                <a:prstGeom prst="line">
                  <a:avLst/>
                </a:prstGeom>
                <a:ln w="38100" cap="flat" cmpd="sng">
                  <a:solidFill>
                    <a:schemeClr val="tx1"/>
                  </a:solidFill>
                  <a:prstDash val="solid"/>
                  <a:headEnd type="none" w="sm" len="sm"/>
                  <a:tailEnd type="none" w="sm" len="sm"/>
                </a:ln>
              </p:spPr>
            </p:sp>
            <p:sp>
              <p:nvSpPr>
                <p:cNvPr id="52288" name="Line 41"/>
                <p:cNvSpPr/>
                <p:nvPr/>
              </p:nvSpPr>
              <p:spPr>
                <a:xfrm>
                  <a:off x="1584" y="2784"/>
                  <a:ext cx="0" cy="192"/>
                </a:xfrm>
                <a:prstGeom prst="line">
                  <a:avLst/>
                </a:prstGeom>
                <a:ln w="38100" cap="flat" cmpd="sng">
                  <a:solidFill>
                    <a:schemeClr val="tx1"/>
                  </a:solidFill>
                  <a:prstDash val="solid"/>
                  <a:headEnd type="none" w="sm" len="sm"/>
                  <a:tailEnd type="none" w="sm" len="sm"/>
                </a:ln>
              </p:spPr>
            </p:sp>
            <p:sp>
              <p:nvSpPr>
                <p:cNvPr id="52289" name="Line 42"/>
                <p:cNvSpPr/>
                <p:nvPr/>
              </p:nvSpPr>
              <p:spPr>
                <a:xfrm>
                  <a:off x="2400" y="2784"/>
                  <a:ext cx="0" cy="192"/>
                </a:xfrm>
                <a:prstGeom prst="line">
                  <a:avLst/>
                </a:prstGeom>
                <a:ln w="38100" cap="flat" cmpd="sng">
                  <a:solidFill>
                    <a:schemeClr val="tx1"/>
                  </a:solidFill>
                  <a:prstDash val="solid"/>
                  <a:headEnd type="none" w="sm" len="sm"/>
                  <a:tailEnd type="none" w="sm" len="sm"/>
                </a:ln>
              </p:spPr>
            </p:sp>
            <p:sp>
              <p:nvSpPr>
                <p:cNvPr id="52290" name="Rectangle 43"/>
                <p:cNvSpPr/>
                <p:nvPr/>
              </p:nvSpPr>
              <p:spPr>
                <a:xfrm>
                  <a:off x="576"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91" name="Rectangle 44"/>
                <p:cNvSpPr/>
                <p:nvPr/>
              </p:nvSpPr>
              <p:spPr>
                <a:xfrm>
                  <a:off x="2112"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92" name="Rectangle 45"/>
                <p:cNvSpPr/>
                <p:nvPr/>
              </p:nvSpPr>
              <p:spPr>
                <a:xfrm>
                  <a:off x="1344"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93" name="Text Box 46"/>
                <p:cNvSpPr txBox="1"/>
                <p:nvPr/>
              </p:nvSpPr>
              <p:spPr>
                <a:xfrm>
                  <a:off x="2019"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2294" name="Text Box 47"/>
                <p:cNvSpPr txBox="1"/>
                <p:nvPr/>
              </p:nvSpPr>
              <p:spPr>
                <a:xfrm>
                  <a:off x="1218" y="307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2295" name="Text Box 48"/>
                <p:cNvSpPr txBox="1"/>
                <p:nvPr/>
              </p:nvSpPr>
              <p:spPr>
                <a:xfrm>
                  <a:off x="483"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2296" name="Text Box 49"/>
                <p:cNvSpPr txBox="1"/>
                <p:nvPr/>
              </p:nvSpPr>
              <p:spPr>
                <a:xfrm>
                  <a:off x="1390" y="3119"/>
                  <a:ext cx="417"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CLEAN</a:t>
                  </a:r>
                  <a:endParaRPr lang="en-US" altLang="zh-CN" sz="1400" b="1" dirty="0">
                    <a:latin typeface="宋体" panose="02000500000000000000" pitchFamily="2" charset="-122"/>
                  </a:endParaRPr>
                </a:p>
              </p:txBody>
            </p:sp>
            <p:sp>
              <p:nvSpPr>
                <p:cNvPr id="52297" name="Text Box 50"/>
                <p:cNvSpPr txBox="1"/>
                <p:nvPr/>
              </p:nvSpPr>
              <p:spPr>
                <a:xfrm>
                  <a:off x="907" y="3503"/>
                  <a:ext cx="1156" cy="252"/>
                </a:xfrm>
                <a:prstGeom prst="rect">
                  <a:avLst/>
                </a:prstGeom>
                <a:noFill/>
                <a:ln w="12700">
                  <a:noFill/>
                </a:ln>
              </p:spPr>
              <p:txBody>
                <a:bodyPr wrap="none" anchor="ctr" anchorCtr="0">
                  <a:spAutoFit/>
                </a:bodyPr>
                <a:lstStyle/>
                <a:p>
                  <a:pPr algn="ctr" eaLnBrk="0" hangingPunct="0">
                    <a:spcBef>
                      <a:spcPct val="50000"/>
                    </a:spcBef>
                  </a:pPr>
                  <a:r>
                    <a:rPr lang="en-US" altLang="zh-CN" sz="2000" b="1" dirty="0">
                      <a:latin typeface="宋体" panose="02000500000000000000" pitchFamily="2" charset="-122"/>
                      <a:cs typeface="宋体" panose="02000500000000000000" pitchFamily="2" charset="-122"/>
                    </a:rPr>
                    <a:t>(e)Pj</a:t>
                  </a:r>
                  <a:r>
                    <a:rPr lang="zh-CN" altLang="zh-CN" sz="2000" b="1" dirty="0">
                      <a:latin typeface="宋体" panose="02000500000000000000" pitchFamily="2" charset="-122"/>
                      <a:cs typeface="宋体" panose="02000500000000000000" pitchFamily="2" charset="-122"/>
                    </a:rPr>
                    <a:t>发出取数操作</a:t>
                  </a:r>
                  <a:endParaRPr lang="zh-CN" altLang="en-US" sz="2000" b="1" dirty="0">
                    <a:latin typeface="宋体" panose="02000500000000000000" pitchFamily="2" charset="-122"/>
                    <a:cs typeface="宋体" panose="02000500000000000000" pitchFamily="2" charset="-122"/>
                  </a:endParaRPr>
                </a:p>
              </p:txBody>
            </p:sp>
          </p:grpSp>
        </p:grpSp>
        <p:sp>
          <p:nvSpPr>
            <p:cNvPr id="52273" name="Line 54"/>
            <p:cNvSpPr/>
            <p:nvPr/>
          </p:nvSpPr>
          <p:spPr>
            <a:xfrm flipV="1">
              <a:off x="1680" y="2544"/>
              <a:ext cx="0" cy="432"/>
            </a:xfrm>
            <a:prstGeom prst="line">
              <a:avLst/>
            </a:prstGeom>
            <a:ln w="12700" cap="flat" cmpd="sng">
              <a:solidFill>
                <a:schemeClr val="tx1"/>
              </a:solidFill>
              <a:prstDash val="solid"/>
              <a:headEnd type="none" w="sm" len="sm"/>
              <a:tailEnd type="none" w="sm" len="sm"/>
            </a:ln>
          </p:spPr>
        </p:sp>
        <p:sp>
          <p:nvSpPr>
            <p:cNvPr id="52274" name="Line 59"/>
            <p:cNvSpPr/>
            <p:nvPr/>
          </p:nvSpPr>
          <p:spPr>
            <a:xfrm flipH="1">
              <a:off x="1728" y="2592"/>
              <a:ext cx="0" cy="384"/>
            </a:xfrm>
            <a:prstGeom prst="line">
              <a:avLst/>
            </a:prstGeom>
            <a:ln w="12700" cap="flat" cmpd="sng">
              <a:solidFill>
                <a:schemeClr val="tx1"/>
              </a:solidFill>
              <a:prstDash val="solid"/>
              <a:headEnd type="none" w="sm" len="sm"/>
              <a:tailEnd type="triangle" w="sm" len="med"/>
            </a:ln>
          </p:spPr>
        </p:sp>
        <p:sp>
          <p:nvSpPr>
            <p:cNvPr id="52275" name="Line 60"/>
            <p:cNvSpPr/>
            <p:nvPr/>
          </p:nvSpPr>
          <p:spPr>
            <a:xfrm flipV="1">
              <a:off x="1680" y="2160"/>
              <a:ext cx="0" cy="384"/>
            </a:xfrm>
            <a:prstGeom prst="line">
              <a:avLst/>
            </a:prstGeom>
            <a:ln w="12700" cap="flat" cmpd="sng">
              <a:solidFill>
                <a:schemeClr val="tx1"/>
              </a:solidFill>
              <a:prstDash val="solid"/>
              <a:headEnd type="none" w="sm" len="sm"/>
              <a:tailEnd type="triangle" w="sm" len="sm"/>
            </a:ln>
          </p:spPr>
        </p:sp>
        <p:sp>
          <p:nvSpPr>
            <p:cNvPr id="52276" name="Line 61"/>
            <p:cNvSpPr/>
            <p:nvPr/>
          </p:nvSpPr>
          <p:spPr>
            <a:xfrm flipV="1">
              <a:off x="1728" y="2160"/>
              <a:ext cx="0" cy="432"/>
            </a:xfrm>
            <a:prstGeom prst="line">
              <a:avLst/>
            </a:prstGeom>
            <a:ln w="12700" cap="flat" cmpd="sng">
              <a:solidFill>
                <a:schemeClr val="tx1"/>
              </a:solidFill>
              <a:prstDash val="solid"/>
              <a:headEnd type="none" w="sm" len="sm"/>
              <a:tailEnd type="none" w="sm" len="sm"/>
            </a:ln>
          </p:spPr>
        </p:sp>
        <p:sp>
          <p:nvSpPr>
            <p:cNvPr id="52277" name="Text Box 63"/>
            <p:cNvSpPr txBox="1"/>
            <p:nvPr/>
          </p:nvSpPr>
          <p:spPr>
            <a:xfrm>
              <a:off x="1770" y="2495"/>
              <a:ext cx="345"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1..read</a:t>
              </a:r>
              <a:endParaRPr lang="en-US" altLang="zh-CN" sz="1400" dirty="0">
                <a:latin typeface="宋体" panose="02000500000000000000" pitchFamily="2" charset="-122"/>
              </a:endParaRPr>
            </a:p>
          </p:txBody>
        </p:sp>
        <p:sp>
          <p:nvSpPr>
            <p:cNvPr id="52278" name="Text Box 65"/>
            <p:cNvSpPr txBox="1"/>
            <p:nvPr/>
          </p:nvSpPr>
          <p:spPr>
            <a:xfrm>
              <a:off x="1277" y="2495"/>
              <a:ext cx="391" cy="194"/>
            </a:xfrm>
            <a:prstGeom prst="rect">
              <a:avLst/>
            </a:prstGeom>
            <a:noFill/>
            <a:ln w="12700">
              <a:noFill/>
            </a:ln>
          </p:spPr>
          <p:txBody>
            <a:bodyPr wrap="none" anchor="ctr" anchorCtr="0">
              <a:spAutoFit/>
            </a:bodyPr>
            <a:lstStyle/>
            <a:p>
              <a:pPr algn="ctr" eaLnBrk="0" hangingPunct="0">
                <a:spcBef>
                  <a:spcPct val="50000"/>
                </a:spcBef>
              </a:pPr>
              <a:r>
                <a:rPr lang="en-US" altLang="zh-CN" sz="1400" dirty="0">
                  <a:latin typeface="宋体" panose="02000500000000000000" pitchFamily="2" charset="-122"/>
                </a:rPr>
                <a:t>2..rdack</a:t>
              </a:r>
              <a:endParaRPr lang="en-US" altLang="zh-CN" sz="1400" dirty="0">
                <a:latin typeface="宋体" panose="02000500000000000000" pitchFamily="2" charset="-122"/>
              </a:endParaRPr>
            </a:p>
          </p:txBody>
        </p:sp>
        <p:sp>
          <p:nvSpPr>
            <p:cNvPr id="52279" name="Text Box 66"/>
            <p:cNvSpPr txBox="1"/>
            <p:nvPr/>
          </p:nvSpPr>
          <p:spPr>
            <a:xfrm>
              <a:off x="548" y="1583"/>
              <a:ext cx="95" cy="213"/>
            </a:xfrm>
            <a:prstGeom prst="rect">
              <a:avLst/>
            </a:prstGeom>
            <a:noFill/>
            <a:ln w="12700">
              <a:noFill/>
            </a:ln>
          </p:spPr>
          <p:txBody>
            <a:bodyPr wrap="none" anchor="ctr" anchorCtr="0">
              <a:spAutoFit/>
            </a:bodyPr>
            <a:lstStyle/>
            <a:p>
              <a:pPr algn="ctr" eaLnBrk="0" hangingPunct="0">
                <a:spcBef>
                  <a:spcPct val="50000"/>
                </a:spcBef>
              </a:pPr>
              <a:endParaRPr lang="zh-CN" altLang="zh-CN" sz="1600" dirty="0">
                <a:latin typeface="宋体" panose="02000500000000000000" pitchFamily="2" charset="-122"/>
              </a:endParaRPr>
            </a:p>
          </p:txBody>
        </p:sp>
        <p:sp>
          <p:nvSpPr>
            <p:cNvPr id="52280" name="Text Box 67"/>
            <p:cNvSpPr txBox="1"/>
            <p:nvPr/>
          </p:nvSpPr>
          <p:spPr>
            <a:xfrm>
              <a:off x="1107" y="1583"/>
              <a:ext cx="464" cy="213"/>
            </a:xfrm>
            <a:prstGeom prst="rect">
              <a:avLst/>
            </a:prstGeom>
            <a:noFill/>
            <a:ln w="9525">
              <a:noFill/>
            </a:ln>
          </p:spPr>
          <p:txBody>
            <a:bodyPr wrap="none" anchor="ctr" anchorCtr="0">
              <a:spAutoFit/>
            </a:bodyPr>
            <a:lstStyle/>
            <a:p>
              <a:pPr algn="ctr" eaLnBrk="0" hangingPunct="0">
                <a:spcBef>
                  <a:spcPct val="50000"/>
                </a:spcBef>
              </a:pPr>
              <a:r>
                <a:rPr lang="en-US" altLang="zh-CN" sz="1600" dirty="0">
                  <a:latin typeface="宋体" panose="02000500000000000000" pitchFamily="2" charset="-122"/>
                </a:rPr>
                <a:t>LOAD x</a:t>
              </a:r>
              <a:endParaRPr lang="en-US" altLang="zh-CN" sz="1600" dirty="0">
                <a:latin typeface="宋体" panose="02000500000000000000" pitchFamily="2" charset="-122"/>
              </a:endParaRPr>
            </a:p>
          </p:txBody>
        </p:sp>
      </p:grpSp>
      <p:grpSp>
        <p:nvGrpSpPr>
          <p:cNvPr id="52228" name="Group 70"/>
          <p:cNvGrpSpPr/>
          <p:nvPr/>
        </p:nvGrpSpPr>
        <p:grpSpPr>
          <a:xfrm>
            <a:off x="6224588" y="1981200"/>
            <a:ext cx="4294187" cy="3979863"/>
            <a:chOff x="450" y="1488"/>
            <a:chExt cx="2198" cy="2507"/>
          </a:xfrm>
        </p:grpSpPr>
        <p:sp>
          <p:nvSpPr>
            <p:cNvPr id="52231" name="Rectangle 71"/>
            <p:cNvSpPr/>
            <p:nvPr/>
          </p:nvSpPr>
          <p:spPr>
            <a:xfrm>
              <a:off x="576" y="2592"/>
              <a:ext cx="2064" cy="432"/>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grpSp>
          <p:nvGrpSpPr>
            <p:cNvPr id="52232" name="Group 72"/>
            <p:cNvGrpSpPr/>
            <p:nvPr/>
          </p:nvGrpSpPr>
          <p:grpSpPr>
            <a:xfrm>
              <a:off x="450" y="1488"/>
              <a:ext cx="2190" cy="1104"/>
              <a:chOff x="450" y="1488"/>
              <a:chExt cx="2190" cy="1104"/>
            </a:xfrm>
          </p:grpSpPr>
          <p:sp>
            <p:nvSpPr>
              <p:cNvPr id="52248" name="Oval 73"/>
              <p:cNvSpPr/>
              <p:nvPr/>
            </p:nvSpPr>
            <p:spPr>
              <a:xfrm>
                <a:off x="672"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49" name="Rectangle 74"/>
              <p:cNvSpPr/>
              <p:nvPr/>
            </p:nvSpPr>
            <p:spPr>
              <a:xfrm>
                <a:off x="576"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50" name="Oval 75"/>
              <p:cNvSpPr/>
              <p:nvPr/>
            </p:nvSpPr>
            <p:spPr>
              <a:xfrm>
                <a:off x="1440"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51" name="Rectangle 76"/>
              <p:cNvSpPr/>
              <p:nvPr/>
            </p:nvSpPr>
            <p:spPr>
              <a:xfrm>
                <a:off x="1344"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52" name="Oval 77"/>
              <p:cNvSpPr/>
              <p:nvPr/>
            </p:nvSpPr>
            <p:spPr>
              <a:xfrm>
                <a:off x="2208" y="1488"/>
                <a:ext cx="336" cy="336"/>
              </a:xfrm>
              <a:prstGeom prst="ellipse">
                <a:avLst/>
              </a:prstGeom>
              <a:noFill/>
              <a:ln w="12700" cap="flat" cmpd="sng">
                <a:solidFill>
                  <a:schemeClr val="tx1"/>
                </a:solidFill>
                <a:prstDash val="solid"/>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53" name="Rectangle 78"/>
              <p:cNvSpPr/>
              <p:nvPr/>
            </p:nvSpPr>
            <p:spPr>
              <a:xfrm>
                <a:off x="2112" y="2064"/>
                <a:ext cx="528" cy="336"/>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54" name="Line 79"/>
              <p:cNvSpPr/>
              <p:nvPr/>
            </p:nvSpPr>
            <p:spPr>
              <a:xfrm>
                <a:off x="864" y="2400"/>
                <a:ext cx="0" cy="192"/>
              </a:xfrm>
              <a:prstGeom prst="line">
                <a:avLst/>
              </a:prstGeom>
              <a:ln w="38100" cap="flat" cmpd="sng">
                <a:solidFill>
                  <a:schemeClr val="tx1"/>
                </a:solidFill>
                <a:prstDash val="solid"/>
                <a:headEnd type="none" w="sm" len="sm"/>
                <a:tailEnd type="none" w="sm" len="sm"/>
              </a:ln>
            </p:spPr>
          </p:sp>
          <p:sp>
            <p:nvSpPr>
              <p:cNvPr id="52255" name="Line 80"/>
              <p:cNvSpPr/>
              <p:nvPr/>
            </p:nvSpPr>
            <p:spPr>
              <a:xfrm>
                <a:off x="1584" y="2400"/>
                <a:ext cx="0" cy="192"/>
              </a:xfrm>
              <a:prstGeom prst="line">
                <a:avLst/>
              </a:prstGeom>
              <a:ln w="38100" cap="flat" cmpd="sng">
                <a:solidFill>
                  <a:schemeClr val="tx1"/>
                </a:solidFill>
                <a:prstDash val="solid"/>
                <a:headEnd type="none" w="sm" len="sm"/>
                <a:tailEnd type="none" w="sm" len="sm"/>
              </a:ln>
            </p:spPr>
          </p:sp>
          <p:sp>
            <p:nvSpPr>
              <p:cNvPr id="52256" name="Line 81"/>
              <p:cNvSpPr/>
              <p:nvPr/>
            </p:nvSpPr>
            <p:spPr>
              <a:xfrm>
                <a:off x="2400" y="2400"/>
                <a:ext cx="0" cy="192"/>
              </a:xfrm>
              <a:prstGeom prst="line">
                <a:avLst/>
              </a:prstGeom>
              <a:ln w="38100" cap="flat" cmpd="sng">
                <a:solidFill>
                  <a:schemeClr val="tx1"/>
                </a:solidFill>
                <a:prstDash val="solid"/>
                <a:headEnd type="none" w="sm" len="sm"/>
                <a:tailEnd type="none" w="sm" len="sm"/>
              </a:ln>
            </p:spPr>
          </p:sp>
          <p:sp>
            <p:nvSpPr>
              <p:cNvPr id="52257" name="Line 82"/>
              <p:cNvSpPr/>
              <p:nvPr/>
            </p:nvSpPr>
            <p:spPr>
              <a:xfrm>
                <a:off x="864" y="1824"/>
                <a:ext cx="0" cy="240"/>
              </a:xfrm>
              <a:prstGeom prst="line">
                <a:avLst/>
              </a:prstGeom>
              <a:ln w="38100" cap="flat" cmpd="sng">
                <a:solidFill>
                  <a:schemeClr val="tx1"/>
                </a:solidFill>
                <a:prstDash val="solid"/>
                <a:headEnd type="none" w="sm" len="sm"/>
                <a:tailEnd type="none" w="sm" len="sm"/>
              </a:ln>
            </p:spPr>
          </p:sp>
          <p:sp>
            <p:nvSpPr>
              <p:cNvPr id="52258" name="Line 83"/>
              <p:cNvSpPr/>
              <p:nvPr/>
            </p:nvSpPr>
            <p:spPr>
              <a:xfrm>
                <a:off x="2400" y="1824"/>
                <a:ext cx="0" cy="240"/>
              </a:xfrm>
              <a:prstGeom prst="line">
                <a:avLst/>
              </a:prstGeom>
              <a:ln w="38100" cap="flat" cmpd="sng">
                <a:solidFill>
                  <a:schemeClr val="tx1"/>
                </a:solidFill>
                <a:prstDash val="solid"/>
                <a:headEnd type="none" w="sm" len="sm"/>
                <a:tailEnd type="none" w="sm" len="sm"/>
              </a:ln>
            </p:spPr>
          </p:sp>
          <p:sp>
            <p:nvSpPr>
              <p:cNvPr id="52259" name="Line 84"/>
              <p:cNvSpPr/>
              <p:nvPr/>
            </p:nvSpPr>
            <p:spPr>
              <a:xfrm>
                <a:off x="1584" y="1824"/>
                <a:ext cx="0" cy="240"/>
              </a:xfrm>
              <a:prstGeom prst="line">
                <a:avLst/>
              </a:prstGeom>
              <a:ln w="38100" cap="flat" cmpd="sng">
                <a:solidFill>
                  <a:schemeClr val="tx1"/>
                </a:solidFill>
                <a:prstDash val="solid"/>
                <a:headEnd type="none" w="sm" len="sm"/>
                <a:tailEnd type="none" w="sm" len="sm"/>
              </a:ln>
            </p:spPr>
          </p:sp>
          <p:sp>
            <p:nvSpPr>
              <p:cNvPr id="52260" name="Text Box 85"/>
              <p:cNvSpPr txBox="1"/>
              <p:nvPr/>
            </p:nvSpPr>
            <p:spPr>
              <a:xfrm>
                <a:off x="743"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Pi</a:t>
                </a:r>
                <a:endParaRPr lang="en-US" altLang="zh-CN" sz="2000" dirty="0">
                  <a:latin typeface="宋体" panose="02000500000000000000" pitchFamily="2" charset="-122"/>
                </a:endParaRPr>
              </a:p>
            </p:txBody>
          </p:sp>
          <p:sp>
            <p:nvSpPr>
              <p:cNvPr id="52261" name="Text Box 86"/>
              <p:cNvSpPr txBox="1"/>
              <p:nvPr/>
            </p:nvSpPr>
            <p:spPr>
              <a:xfrm>
                <a:off x="2264" y="1535"/>
                <a:ext cx="233"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Pk</a:t>
                </a:r>
                <a:endParaRPr lang="en-US" altLang="zh-CN" sz="2000" dirty="0">
                  <a:latin typeface="宋体" panose="02000500000000000000" pitchFamily="2" charset="-122"/>
                </a:endParaRPr>
              </a:p>
            </p:txBody>
          </p:sp>
          <p:sp>
            <p:nvSpPr>
              <p:cNvPr id="52262" name="Text Box 87"/>
              <p:cNvSpPr txBox="1"/>
              <p:nvPr/>
            </p:nvSpPr>
            <p:spPr>
              <a:xfrm>
                <a:off x="1511" y="1535"/>
                <a:ext cx="204" cy="252"/>
              </a:xfrm>
              <a:prstGeom prst="rect">
                <a:avLst/>
              </a:prstGeom>
              <a:noFill/>
              <a:ln w="12700">
                <a:noFill/>
              </a:ln>
            </p:spPr>
            <p:txBody>
              <a:bodyPr wrap="none" anchor="ctr" anchorCtr="0">
                <a:spAutoFit/>
              </a:bodyPr>
              <a:lstStyle/>
              <a:p>
                <a:pPr algn="ctr" eaLnBrk="0" hangingPunct="0"/>
                <a:r>
                  <a:rPr lang="en-US" altLang="zh-CN" sz="2000" dirty="0">
                    <a:latin typeface="宋体" panose="02000500000000000000" pitchFamily="2" charset="-122"/>
                  </a:rPr>
                  <a:t>Pj</a:t>
                </a:r>
                <a:endParaRPr lang="en-US" altLang="zh-CN" sz="2000" dirty="0">
                  <a:latin typeface="宋体" panose="02000500000000000000" pitchFamily="2" charset="-122"/>
                </a:endParaRPr>
              </a:p>
            </p:txBody>
          </p:sp>
          <p:sp>
            <p:nvSpPr>
              <p:cNvPr id="52263" name="Rectangle 88"/>
              <p:cNvSpPr/>
              <p:nvPr/>
            </p:nvSpPr>
            <p:spPr>
              <a:xfrm>
                <a:off x="576"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64" name="Rectangle 89"/>
              <p:cNvSpPr/>
              <p:nvPr/>
            </p:nvSpPr>
            <p:spPr>
              <a:xfrm>
                <a:off x="2112"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65" name="Rectangle 90"/>
              <p:cNvSpPr/>
              <p:nvPr/>
            </p:nvSpPr>
            <p:spPr>
              <a:xfrm>
                <a:off x="1344" y="216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66" name="Text Box 91"/>
              <p:cNvSpPr txBox="1"/>
              <p:nvPr/>
            </p:nvSpPr>
            <p:spPr>
              <a:xfrm>
                <a:off x="450"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2267" name="Text Box 92"/>
              <p:cNvSpPr txBox="1"/>
              <p:nvPr/>
            </p:nvSpPr>
            <p:spPr>
              <a:xfrm>
                <a:off x="1986"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2268" name="Text Box 93"/>
              <p:cNvSpPr txBox="1"/>
              <p:nvPr/>
            </p:nvSpPr>
            <p:spPr>
              <a:xfrm>
                <a:off x="1218" y="211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2269" name="Text Box 94"/>
              <p:cNvSpPr txBox="1"/>
              <p:nvPr/>
            </p:nvSpPr>
            <p:spPr>
              <a:xfrm>
                <a:off x="2223" y="2159"/>
                <a:ext cx="283"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SHD</a:t>
                </a:r>
                <a:endParaRPr lang="en-US" altLang="zh-CN" sz="1400" b="1" dirty="0">
                  <a:latin typeface="宋体" panose="02000500000000000000" pitchFamily="2" charset="-122"/>
                </a:endParaRPr>
              </a:p>
            </p:txBody>
          </p:sp>
          <p:sp>
            <p:nvSpPr>
              <p:cNvPr id="52270" name="Text Box 95"/>
              <p:cNvSpPr txBox="1"/>
              <p:nvPr/>
            </p:nvSpPr>
            <p:spPr>
              <a:xfrm>
                <a:off x="1455" y="2159"/>
                <a:ext cx="283"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SHD</a:t>
                </a:r>
                <a:endParaRPr lang="en-US" altLang="zh-CN" sz="1400" b="1" dirty="0">
                  <a:latin typeface="宋体" panose="02000500000000000000" pitchFamily="2" charset="-122"/>
                </a:endParaRPr>
              </a:p>
            </p:txBody>
          </p:sp>
          <p:sp>
            <p:nvSpPr>
              <p:cNvPr id="52271" name="Text Box 96"/>
              <p:cNvSpPr txBox="1"/>
              <p:nvPr/>
            </p:nvSpPr>
            <p:spPr>
              <a:xfrm>
                <a:off x="687" y="2159"/>
                <a:ext cx="283"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SHD</a:t>
                </a:r>
                <a:endParaRPr lang="en-US" altLang="zh-CN" sz="1400" b="1" dirty="0">
                  <a:latin typeface="宋体" panose="02000500000000000000" pitchFamily="2" charset="-122"/>
                </a:endParaRPr>
              </a:p>
            </p:txBody>
          </p:sp>
        </p:grpSp>
        <p:grpSp>
          <p:nvGrpSpPr>
            <p:cNvPr id="52233" name="Group 97"/>
            <p:cNvGrpSpPr/>
            <p:nvPr/>
          </p:nvGrpSpPr>
          <p:grpSpPr>
            <a:xfrm>
              <a:off x="491" y="3024"/>
              <a:ext cx="2157" cy="971"/>
              <a:chOff x="483" y="2784"/>
              <a:chExt cx="2157" cy="971"/>
            </a:xfrm>
          </p:grpSpPr>
          <p:sp>
            <p:nvSpPr>
              <p:cNvPr id="52234" name="Rectangle 98"/>
              <p:cNvSpPr/>
              <p:nvPr/>
            </p:nvSpPr>
            <p:spPr>
              <a:xfrm>
                <a:off x="576"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35" name="Rectangle 99"/>
              <p:cNvSpPr/>
              <p:nvPr/>
            </p:nvSpPr>
            <p:spPr>
              <a:xfrm>
                <a:off x="1344"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36" name="Rectangle 100"/>
              <p:cNvSpPr/>
              <p:nvPr/>
            </p:nvSpPr>
            <p:spPr>
              <a:xfrm>
                <a:off x="2112" y="2976"/>
                <a:ext cx="528" cy="38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37" name="Line 101"/>
              <p:cNvSpPr/>
              <p:nvPr/>
            </p:nvSpPr>
            <p:spPr>
              <a:xfrm>
                <a:off x="864" y="2784"/>
                <a:ext cx="0" cy="192"/>
              </a:xfrm>
              <a:prstGeom prst="line">
                <a:avLst/>
              </a:prstGeom>
              <a:ln w="38100" cap="flat" cmpd="sng">
                <a:solidFill>
                  <a:schemeClr val="tx1"/>
                </a:solidFill>
                <a:prstDash val="solid"/>
                <a:headEnd type="none" w="sm" len="sm"/>
                <a:tailEnd type="none" w="sm" len="sm"/>
              </a:ln>
            </p:spPr>
          </p:sp>
          <p:sp>
            <p:nvSpPr>
              <p:cNvPr id="52238" name="Line 102"/>
              <p:cNvSpPr/>
              <p:nvPr/>
            </p:nvSpPr>
            <p:spPr>
              <a:xfrm>
                <a:off x="1584" y="2784"/>
                <a:ext cx="0" cy="192"/>
              </a:xfrm>
              <a:prstGeom prst="line">
                <a:avLst/>
              </a:prstGeom>
              <a:ln w="38100" cap="flat" cmpd="sng">
                <a:solidFill>
                  <a:schemeClr val="tx1"/>
                </a:solidFill>
                <a:prstDash val="solid"/>
                <a:headEnd type="none" w="sm" len="sm"/>
                <a:tailEnd type="none" w="sm" len="sm"/>
              </a:ln>
            </p:spPr>
          </p:sp>
          <p:sp>
            <p:nvSpPr>
              <p:cNvPr id="52239" name="Line 103"/>
              <p:cNvSpPr/>
              <p:nvPr/>
            </p:nvSpPr>
            <p:spPr>
              <a:xfrm>
                <a:off x="2400" y="2784"/>
                <a:ext cx="0" cy="192"/>
              </a:xfrm>
              <a:prstGeom prst="line">
                <a:avLst/>
              </a:prstGeom>
              <a:ln w="38100" cap="flat" cmpd="sng">
                <a:solidFill>
                  <a:schemeClr val="tx1"/>
                </a:solidFill>
                <a:prstDash val="solid"/>
                <a:headEnd type="none" w="sm" len="sm"/>
                <a:tailEnd type="none" w="sm" len="sm"/>
              </a:ln>
            </p:spPr>
          </p:sp>
          <p:sp>
            <p:nvSpPr>
              <p:cNvPr id="52240" name="Rectangle 104"/>
              <p:cNvSpPr/>
              <p:nvPr/>
            </p:nvSpPr>
            <p:spPr>
              <a:xfrm>
                <a:off x="576"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41" name="Rectangle 105"/>
              <p:cNvSpPr/>
              <p:nvPr/>
            </p:nvSpPr>
            <p:spPr>
              <a:xfrm>
                <a:off x="2112"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42" name="Rectangle 106"/>
              <p:cNvSpPr/>
              <p:nvPr/>
            </p:nvSpPr>
            <p:spPr>
              <a:xfrm>
                <a:off x="1344" y="3120"/>
                <a:ext cx="528" cy="144"/>
              </a:xfrm>
              <a:prstGeom prst="rect">
                <a:avLst/>
              </a:prstGeom>
              <a:noFill/>
              <a:ln w="12700" cap="flat" cmpd="sng">
                <a:solidFill>
                  <a:schemeClr val="tx1"/>
                </a:solidFill>
                <a:prstDash val="solid"/>
                <a:miter/>
                <a:headEnd type="none" w="sm" len="sm"/>
                <a:tailEnd type="none" w="sm" len="sm"/>
              </a:ln>
            </p:spPr>
            <p:txBody>
              <a:bodyPr wrap="none" anchor="ctr" anchorCtr="0"/>
              <a:lstStyle/>
              <a:p>
                <a:endParaRPr lang="zh-CN" altLang="en-US" dirty="0">
                  <a:latin typeface="宋体" panose="02000500000000000000" pitchFamily="2" charset="-122"/>
                </a:endParaRPr>
              </a:p>
            </p:txBody>
          </p:sp>
          <p:sp>
            <p:nvSpPr>
              <p:cNvPr id="52243" name="Text Box 107"/>
              <p:cNvSpPr txBox="1"/>
              <p:nvPr/>
            </p:nvSpPr>
            <p:spPr>
              <a:xfrm>
                <a:off x="2019"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2244" name="Text Box 108"/>
              <p:cNvSpPr txBox="1"/>
              <p:nvPr/>
            </p:nvSpPr>
            <p:spPr>
              <a:xfrm>
                <a:off x="1218" y="3071"/>
                <a:ext cx="160" cy="252"/>
              </a:xfrm>
              <a:prstGeom prst="rect">
                <a:avLst/>
              </a:prstGeom>
              <a:noFill/>
              <a:ln w="12700">
                <a:noFill/>
              </a:ln>
            </p:spPr>
            <p:txBody>
              <a:bodyPr wrap="none" anchor="ctr" anchorCtr="0">
                <a:spAutoFit/>
              </a:bodyPr>
              <a:lstStyle/>
              <a:p>
                <a:pPr algn="ctr" eaLnBrk="0" hangingPunct="0">
                  <a:spcBef>
                    <a:spcPct val="50000"/>
                  </a:spcBef>
                </a:pPr>
                <a:r>
                  <a:rPr lang="en-US" altLang="zh-CN" sz="2000" dirty="0">
                    <a:latin typeface="宋体" panose="02000500000000000000" pitchFamily="2" charset="-122"/>
                  </a:rPr>
                  <a:t>x</a:t>
                </a:r>
                <a:endParaRPr lang="en-US" altLang="zh-CN" sz="2000" dirty="0">
                  <a:latin typeface="宋体" panose="02000500000000000000" pitchFamily="2" charset="-122"/>
                </a:endParaRPr>
              </a:p>
            </p:txBody>
          </p:sp>
          <p:sp>
            <p:nvSpPr>
              <p:cNvPr id="52245" name="Text Box 109"/>
              <p:cNvSpPr txBox="1"/>
              <p:nvPr/>
            </p:nvSpPr>
            <p:spPr>
              <a:xfrm>
                <a:off x="483" y="3052"/>
                <a:ext cx="95" cy="291"/>
              </a:xfrm>
              <a:prstGeom prst="rect">
                <a:avLst/>
              </a:prstGeom>
              <a:noFill/>
              <a:ln w="12700">
                <a:noFill/>
              </a:ln>
            </p:spPr>
            <p:txBody>
              <a:bodyPr wrap="none" anchor="ctr" anchorCtr="0">
                <a:spAutoFit/>
              </a:bodyPr>
              <a:lstStyle/>
              <a:p>
                <a:pPr algn="ctr" eaLnBrk="0" hangingPunct="0">
                  <a:spcBef>
                    <a:spcPct val="50000"/>
                  </a:spcBef>
                </a:pPr>
                <a:endParaRPr lang="zh-CN" altLang="zh-CN" sz="2400" dirty="0">
                  <a:latin typeface="宋体" panose="02000500000000000000" pitchFamily="2" charset="-122"/>
                </a:endParaRPr>
              </a:p>
            </p:txBody>
          </p:sp>
          <p:sp>
            <p:nvSpPr>
              <p:cNvPr id="52246" name="Text Box 110"/>
              <p:cNvSpPr txBox="1"/>
              <p:nvPr/>
            </p:nvSpPr>
            <p:spPr>
              <a:xfrm>
                <a:off x="1390" y="3119"/>
                <a:ext cx="417" cy="194"/>
              </a:xfrm>
              <a:prstGeom prst="rect">
                <a:avLst/>
              </a:prstGeom>
              <a:noFill/>
              <a:ln w="12700">
                <a:noFill/>
              </a:ln>
            </p:spPr>
            <p:txBody>
              <a:bodyPr wrap="none" anchor="ctr" anchorCtr="0">
                <a:spAutoFit/>
              </a:bodyPr>
              <a:lstStyle/>
              <a:p>
                <a:pPr algn="ctr" eaLnBrk="0" hangingPunct="0">
                  <a:spcBef>
                    <a:spcPct val="50000"/>
                  </a:spcBef>
                </a:pPr>
                <a:r>
                  <a:rPr lang="en-US" altLang="zh-CN" sz="1400" b="1" dirty="0">
                    <a:latin typeface="宋体" panose="02000500000000000000" pitchFamily="2" charset="-122"/>
                  </a:rPr>
                  <a:t>CLEAN</a:t>
                </a:r>
                <a:endParaRPr lang="en-US" altLang="zh-CN" sz="1400" b="1" dirty="0">
                  <a:latin typeface="宋体" panose="02000500000000000000" pitchFamily="2" charset="-122"/>
                </a:endParaRPr>
              </a:p>
            </p:txBody>
          </p:sp>
          <p:sp>
            <p:nvSpPr>
              <p:cNvPr id="52247" name="Text Box 111"/>
              <p:cNvSpPr txBox="1"/>
              <p:nvPr/>
            </p:nvSpPr>
            <p:spPr>
              <a:xfrm>
                <a:off x="1097" y="3503"/>
                <a:ext cx="768" cy="252"/>
              </a:xfrm>
              <a:prstGeom prst="rect">
                <a:avLst/>
              </a:prstGeom>
              <a:noFill/>
              <a:ln w="12700">
                <a:noFill/>
              </a:ln>
            </p:spPr>
            <p:txBody>
              <a:bodyPr wrap="none" anchor="ctr" anchorCtr="0">
                <a:spAutoFit/>
              </a:bodyPr>
              <a:lstStyle/>
              <a:p>
                <a:pPr algn="ctr" eaLnBrk="0" hangingPunct="0">
                  <a:spcBef>
                    <a:spcPct val="50000"/>
                  </a:spcBef>
                </a:pPr>
                <a:r>
                  <a:rPr lang="en-US" altLang="zh-CN" sz="2000" b="1" dirty="0">
                    <a:latin typeface="宋体" panose="02000500000000000000" pitchFamily="2" charset="-122"/>
                    <a:cs typeface="宋体" panose="02000500000000000000" pitchFamily="2" charset="-122"/>
                  </a:rPr>
                  <a:t>(e)</a:t>
                </a:r>
                <a:r>
                  <a:rPr lang="zh-CN" altLang="zh-CN" sz="2000" b="1" dirty="0">
                    <a:latin typeface="宋体" panose="02000500000000000000" pitchFamily="2" charset="-122"/>
                    <a:cs typeface="宋体" panose="02000500000000000000" pitchFamily="2" charset="-122"/>
                  </a:rPr>
                  <a:t>最终状态</a:t>
                </a:r>
                <a:endParaRPr lang="zh-CN" altLang="en-US" sz="2000" b="1" dirty="0">
                  <a:latin typeface="宋体" panose="02000500000000000000" pitchFamily="2" charset="-122"/>
                  <a:cs typeface="宋体" panose="02000500000000000000" pitchFamily="2" charset="-122"/>
                </a:endParaRPr>
              </a:p>
            </p:txBody>
          </p:sp>
        </p:grpSp>
      </p:grpSp>
      <p:sp>
        <p:nvSpPr>
          <p:cNvPr id="52229" name="Text Box 118"/>
          <p:cNvSpPr txBox="1"/>
          <p:nvPr/>
        </p:nvSpPr>
        <p:spPr>
          <a:xfrm>
            <a:off x="6415088" y="2513013"/>
            <a:ext cx="184150" cy="339725"/>
          </a:xfrm>
          <a:prstGeom prst="rect">
            <a:avLst/>
          </a:prstGeom>
          <a:noFill/>
          <a:ln w="12700">
            <a:noFill/>
          </a:ln>
        </p:spPr>
        <p:txBody>
          <a:bodyPr wrap="none" anchor="ctr" anchorCtr="0">
            <a:spAutoFit/>
          </a:bodyPr>
          <a:lstStyle/>
          <a:p>
            <a:pPr algn="ctr" eaLnBrk="0" hangingPunct="0">
              <a:spcBef>
                <a:spcPct val="50000"/>
              </a:spcBef>
            </a:pPr>
            <a:endParaRPr lang="zh-CN" altLang="zh-CN" sz="1600" dirty="0">
              <a:latin typeface="宋体" panose="02000500000000000000" pitchFamily="2" charset="-122"/>
            </a:endParaRPr>
          </a:p>
        </p:txBody>
      </p:sp>
      <p:sp>
        <p:nvSpPr>
          <p:cNvPr id="52230" name="Rectangle 120"/>
          <p:cNvSpPr/>
          <p:nvPr/>
        </p:nvSpPr>
        <p:spPr>
          <a:xfrm>
            <a:off x="688975" y="0"/>
            <a:ext cx="10928350" cy="895350"/>
          </a:xfrm>
          <a:prstGeom prst="rect">
            <a:avLst/>
          </a:prstGeom>
          <a:noFill/>
          <a:ln w="9525">
            <a:noFill/>
          </a:ln>
        </p:spPr>
        <p:txBody>
          <a:bodyPr anchor="ctr" anchorCtr="0"/>
          <a:lstStyle/>
          <a:p>
            <a:pPr algn="ctr" eaLnBrk="0" hangingPunct="0"/>
            <a:r>
              <a:rPr lang="zh-CN" altLang="en-US" sz="3600" dirty="0">
                <a:solidFill>
                  <a:srgbClr val="FF0000"/>
                </a:solidFill>
                <a:latin typeface="Times New Roman" pitchFamily="18" charset="0"/>
                <a:ea typeface="黑体" panose="02000500000000000000" pitchFamily="49" charset="-122"/>
              </a:rPr>
              <a:t>协议举例（</a:t>
            </a:r>
            <a:r>
              <a:rPr lang="en-US" altLang="zh-CN" sz="3600" dirty="0">
                <a:solidFill>
                  <a:srgbClr val="FF0000"/>
                </a:solidFill>
                <a:latin typeface="Times New Roman" pitchFamily="18" charset="0"/>
                <a:ea typeface="黑体" panose="02000500000000000000" pitchFamily="49" charset="-122"/>
              </a:rPr>
              <a:t>cont.</a:t>
            </a:r>
            <a:r>
              <a:rPr lang="zh-CN" altLang="en-US" sz="3600" dirty="0">
                <a:solidFill>
                  <a:srgbClr val="FF0000"/>
                </a:solidFill>
                <a:latin typeface="Times New Roman" pitchFamily="18" charset="0"/>
                <a:ea typeface="黑体" panose="02000500000000000000" pitchFamily="49" charset="-122"/>
              </a:rPr>
              <a:t>）</a:t>
            </a:r>
            <a:endParaRPr lang="zh-CN" altLang="en-US" sz="3600" dirty="0">
              <a:solidFill>
                <a:srgbClr val="FF0000"/>
              </a:solidFill>
              <a:latin typeface="Times New Roman" pitchFamily="18" charset="0"/>
              <a:ea typeface="黑体" panose="02000500000000000000"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3251" name="Rectangle 2"/>
          <p:cNvSpPr/>
          <p:nvPr/>
        </p:nvSpPr>
        <p:spPr>
          <a:xfrm>
            <a:off x="1044575" y="0"/>
            <a:ext cx="9937750" cy="981075"/>
          </a:xfrm>
          <a:prstGeom prst="rect">
            <a:avLst/>
          </a:prstGeom>
          <a:noFill/>
          <a:ln w="9525">
            <a:noFill/>
          </a:ln>
        </p:spPr>
        <p:txBody>
          <a:bodyPr lIns="92075" tIns="46038" rIns="92075" bIns="46038" anchor="ctr" anchorCtr="0"/>
          <a:lstStyle/>
          <a:p>
            <a:pPr algn="ctr"/>
            <a:r>
              <a:rPr lang="zh-CN" altLang="en-US" sz="3600" dirty="0">
                <a:solidFill>
                  <a:srgbClr val="FF0000"/>
                </a:solidFill>
                <a:latin typeface="Arial" panose="02080604020202020204" pitchFamily="34" charset="0"/>
                <a:ea typeface="黑体" panose="02000500000000000000" pitchFamily="49" charset="-122"/>
              </a:rPr>
              <a:t>存储一致性模型与</a:t>
            </a:r>
            <a:r>
              <a:rPr lang="en-US" altLang="zh-CN" sz="3600" dirty="0">
                <a:solidFill>
                  <a:srgbClr val="FF0000"/>
                </a:solidFill>
                <a:latin typeface="Arial" panose="02080604020202020204" pitchFamily="34" charset="0"/>
                <a:ea typeface="黑体" panose="02000500000000000000" pitchFamily="49" charset="-122"/>
              </a:rPr>
              <a:t>Cache</a:t>
            </a:r>
            <a:r>
              <a:rPr lang="zh-CN" altLang="en-US" sz="3600" dirty="0">
                <a:solidFill>
                  <a:srgbClr val="FF0000"/>
                </a:solidFill>
                <a:latin typeface="Arial" panose="02080604020202020204" pitchFamily="34" charset="0"/>
                <a:ea typeface="黑体" panose="02000500000000000000" pitchFamily="49" charset="-122"/>
              </a:rPr>
              <a:t>一致性协议</a:t>
            </a:r>
            <a:endParaRPr lang="zh-CN" altLang="en-US" sz="3200" b="1" dirty="0">
              <a:solidFill>
                <a:srgbClr val="FF0000"/>
              </a:solidFill>
              <a:latin typeface="Arial" panose="02080604020202020204" pitchFamily="34" charset="0"/>
              <a:ea typeface="黑体" panose="02000500000000000000" pitchFamily="49" charset="-122"/>
            </a:endParaRPr>
          </a:p>
        </p:txBody>
      </p:sp>
      <p:sp>
        <p:nvSpPr>
          <p:cNvPr id="50180" name="Rectangle 3"/>
          <p:cNvSpPr>
            <a:spLocks noChangeArrowheads="1"/>
          </p:cNvSpPr>
          <p:nvPr/>
        </p:nvSpPr>
        <p:spPr bwMode="auto">
          <a:xfrm>
            <a:off x="471488" y="1676400"/>
            <a:ext cx="10687050" cy="4114800"/>
          </a:xfrm>
          <a:prstGeom prst="rect">
            <a:avLst/>
          </a:prstGeom>
          <a:noFill/>
          <a:ln w="9525">
            <a:noFill/>
            <a:miter lim="800000"/>
          </a:ln>
        </p:spPr>
        <p:txBody>
          <a:bodyPr lIns="92075" tIns="46038" rIns="92075" bIns="46038"/>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ea"/>
                <a:ea typeface="+mn-ea"/>
                <a:cs typeface="+mn-cs"/>
              </a:rPr>
              <a:t>存储一致性模型对</a:t>
            </a:r>
            <a:r>
              <a:rPr kumimoji="0" lang="en-US" altLang="zh-CN" sz="2000" b="1" i="0" u="none" strike="noStrike" kern="1200" cap="none" spc="0" normalizeH="0" baseline="0" noProof="0" dirty="0">
                <a:ln>
                  <a:noFill/>
                </a:ln>
                <a:solidFill>
                  <a:schemeClr val="tx1"/>
                </a:solidFill>
                <a:effectLst/>
                <a:uLnTx/>
                <a:uFillTx/>
                <a:latin typeface="+mn-ea"/>
                <a:ea typeface="+mn-ea"/>
                <a:cs typeface="+mn-cs"/>
              </a:rPr>
              <a:t>Cache</a:t>
            </a:r>
            <a:r>
              <a:rPr kumimoji="0" lang="zh-CN" altLang="en-US" sz="2000" b="1" i="0" u="none" strike="noStrike" kern="1200" cap="none" spc="0" normalizeH="0" baseline="0" noProof="0" dirty="0">
                <a:ln>
                  <a:noFill/>
                </a:ln>
                <a:solidFill>
                  <a:schemeClr val="tx1"/>
                </a:solidFill>
                <a:effectLst/>
                <a:uLnTx/>
                <a:uFillTx/>
                <a:latin typeface="+mn-ea"/>
                <a:ea typeface="+mn-ea"/>
                <a:cs typeface="+mn-cs"/>
              </a:rPr>
              <a:t>一致性协议的制约作用</a:t>
            </a:r>
            <a:endParaRPr kumimoji="0"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en-US" altLang="zh-CN" sz="1800" b="1" i="0" u="none" strike="noStrike" kern="1200" cap="none" spc="0" normalizeH="0" baseline="0" noProof="0" dirty="0">
                <a:ln>
                  <a:noFill/>
                </a:ln>
                <a:solidFill>
                  <a:schemeClr val="tx1"/>
                </a:solidFill>
                <a:effectLst/>
                <a:uLnTx/>
                <a:uFillTx/>
                <a:latin typeface="+mn-ea"/>
                <a:ea typeface="+mn-ea"/>
                <a:cs typeface="+mn-cs"/>
              </a:rPr>
              <a:t>Cache</a:t>
            </a:r>
            <a:r>
              <a:rPr kumimoji="0" lang="zh-CN" altLang="zh-CN" sz="1800" b="1" i="0" u="none" strike="noStrike" kern="1200" cap="none" spc="0" normalizeH="0" baseline="0" noProof="0" dirty="0">
                <a:ln>
                  <a:noFill/>
                </a:ln>
                <a:solidFill>
                  <a:schemeClr val="tx1"/>
                </a:solidFill>
                <a:effectLst/>
                <a:uLnTx/>
                <a:uFillTx/>
                <a:latin typeface="+mn-ea"/>
                <a:ea typeface="+mn-ea"/>
                <a:cs typeface="+mn-cs"/>
              </a:rPr>
              <a:t>一致性协议都是针对某种存储一致性模型而设计的</a:t>
            </a:r>
            <a:endParaRPr kumimoji="0" lang="zh-CN" altLang="en-US" sz="1800" b="0"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存储一致性模型为</a:t>
            </a:r>
            <a:r>
              <a:rPr kumimoji="0" lang="en-US" altLang="zh-CN" sz="1800" b="1" i="0" u="none" strike="noStrike" kern="1200" cap="none" spc="0" normalizeH="0" baseline="0" noProof="0" dirty="0">
                <a:ln>
                  <a:noFill/>
                </a:ln>
                <a:solidFill>
                  <a:schemeClr val="tx1"/>
                </a:solidFill>
                <a:effectLst/>
                <a:uLnTx/>
                <a:uFillTx/>
                <a:latin typeface="+mn-ea"/>
                <a:ea typeface="+mn-ea"/>
                <a:cs typeface="+mn-cs"/>
              </a:rPr>
              <a:t>Cache</a:t>
            </a:r>
            <a:r>
              <a:rPr kumimoji="0" lang="zh-CN" altLang="en-US" sz="1800" b="1" i="0" u="none" strike="noStrike" kern="1200" cap="none" spc="0" normalizeH="0" baseline="0" noProof="0" dirty="0">
                <a:ln>
                  <a:noFill/>
                </a:ln>
                <a:solidFill>
                  <a:schemeClr val="tx1"/>
                </a:solidFill>
                <a:effectLst/>
                <a:uLnTx/>
                <a:uFillTx/>
                <a:latin typeface="+mn-ea"/>
                <a:ea typeface="+mn-ea"/>
                <a:cs typeface="+mn-cs"/>
              </a:rPr>
              <a:t>一致性协议规定了“一致性”的目标，即，什么是“一致性”</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如，顺序一致性模型要求对某处理机所写的值立即进行传播，在确保该值已经被所有处理机接受后才能继续其它指令的执行</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ts val="600"/>
              </a:spcBef>
              <a:spcAft>
                <a:spcPct val="0"/>
              </a:spcAft>
              <a:buClrTx/>
              <a:buSzTx/>
              <a:buFontTx/>
              <a:buChar char="•"/>
              <a:defRPr/>
            </a:pPr>
            <a:r>
              <a:rPr kumimoji="0" lang="zh-CN" altLang="en-US" sz="1800" b="1" i="0" u="none" strike="noStrike" kern="1200" cap="none" spc="0" normalizeH="0" baseline="0" noProof="0" dirty="0">
                <a:ln>
                  <a:noFill/>
                </a:ln>
                <a:solidFill>
                  <a:schemeClr val="tx1"/>
                </a:solidFill>
                <a:effectLst/>
                <a:uLnTx/>
                <a:uFillTx/>
                <a:latin typeface="+mn-ea"/>
                <a:ea typeface="+mn-ea"/>
                <a:cs typeface="+mn-cs"/>
              </a:rPr>
              <a:t>如，释放一致性模型允许将某处理机所写的值延迟到释放锁时进行传播</a:t>
            </a:r>
            <a:endParaRPr kumimoji="0" lang="zh-CN" altLang="en-US" sz="18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a:xfrm>
            <a:off x="601663" y="188913"/>
            <a:ext cx="10971212" cy="1143000"/>
          </a:xfrm>
        </p:spPr>
        <p:txBody>
          <a:bodyPr vert="horz" wrap="square" lIns="91440" tIns="45720" rIns="91440" bIns="45720" anchor="ctr" anchorCtr="0"/>
          <a:lstStyle/>
          <a:p>
            <a:r>
              <a:rPr lang="zh-CN" altLang="en-US" dirty="0"/>
              <a:t>访存事件次序在微结构中的实现</a:t>
            </a:r>
            <a:endParaRPr lang="zh-CN" altLang="en-US" dirty="0"/>
          </a:p>
        </p:txBody>
      </p:sp>
      <p:sp>
        <p:nvSpPr>
          <p:cNvPr id="51203" name="内容占位符 2"/>
          <p:cNvSpPr>
            <a:spLocks noGrp="1"/>
          </p:cNvSpPr>
          <p:nvPr>
            <p:ph idx="1"/>
          </p:nvPr>
        </p:nvSpPr>
        <p:spPr>
          <a:xfrm>
            <a:off x="609600" y="1412875"/>
            <a:ext cx="10971213" cy="4713288"/>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指令在保留站中等待发射时检查并等待</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等到前面所有指令都提交</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Store</a:t>
            </a:r>
            <a:r>
              <a:rPr kumimoji="0" lang="zh-CN" altLang="en-US" sz="1800" b="1" i="0" u="none" strike="noStrike" kern="0" cap="none" spc="0" normalizeH="0" baseline="0" noProof="0" dirty="0" smtClean="0">
                <a:ln>
                  <a:noFill/>
                </a:ln>
                <a:solidFill>
                  <a:schemeClr val="tx1"/>
                </a:solidFill>
                <a:effectLst/>
                <a:uLnTx/>
                <a:uFillTx/>
                <a:latin typeface="+mn-ea"/>
                <a:ea typeface="+mn-ea"/>
              </a:rPr>
              <a:t>操作写到</a:t>
            </a:r>
            <a:r>
              <a:rPr kumimoji="0" lang="en-US" altLang="zh-CN" sz="1800" b="1" i="0" u="none" strike="noStrike" kern="0" cap="none" spc="0" normalizeH="0" baseline="0" noProof="0" dirty="0" smtClean="0">
                <a:ln>
                  <a:noFill/>
                </a:ln>
                <a:solidFill>
                  <a:schemeClr val="tx1"/>
                </a:solidFill>
                <a:effectLst/>
                <a:uLnTx/>
                <a:uFillTx/>
                <a:latin typeface="+mn-ea"/>
                <a:ea typeface="+mn-ea"/>
              </a:rPr>
              <a:t>Cache</a:t>
            </a:r>
            <a:r>
              <a:rPr kumimoji="0" lang="zh-CN" altLang="en-US" sz="1800" b="1" i="0" u="none" strike="noStrike" kern="0" cap="none" spc="0" normalizeH="0" baseline="0" noProof="0" dirty="0" smtClean="0">
                <a:ln>
                  <a:noFill/>
                </a:ln>
                <a:solidFill>
                  <a:schemeClr val="tx1"/>
                </a:solidFill>
                <a:effectLst/>
                <a:uLnTx/>
                <a:uFillTx/>
                <a:latin typeface="+mn-ea"/>
                <a:ea typeface="+mn-ea"/>
              </a:rPr>
              <a:t>、访存失效队列空</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同步操作如</a:t>
            </a:r>
            <a:r>
              <a:rPr kumimoji="0" lang="en-US" altLang="zh-CN" sz="1800" b="1" i="0" u="none" strike="noStrike" kern="0" cap="none" spc="0" normalizeH="0" baseline="0" noProof="0" dirty="0" smtClean="0">
                <a:ln>
                  <a:noFill/>
                </a:ln>
                <a:solidFill>
                  <a:schemeClr val="tx1"/>
                </a:solidFill>
                <a:effectLst/>
                <a:uLnTx/>
                <a:uFillTx/>
                <a:latin typeface="+mn-ea"/>
                <a:ea typeface="+mn-ea"/>
              </a:rPr>
              <a:t>sync</a:t>
            </a:r>
            <a:r>
              <a:rPr kumimoji="0" lang="zh-CN" altLang="en-US"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LL</a:t>
            </a:r>
            <a:r>
              <a:rPr kumimoji="0" lang="zh-CN" altLang="en-US" sz="1800" b="1" i="0" u="none" strike="noStrike" kern="0" cap="none" spc="0" normalizeH="0" baseline="0" noProof="0" dirty="0" smtClean="0">
                <a:ln>
                  <a:noFill/>
                </a:ln>
                <a:solidFill>
                  <a:schemeClr val="tx1"/>
                </a:solidFill>
                <a:effectLst/>
                <a:uLnTx/>
                <a:uFillTx/>
                <a:latin typeface="+mn-ea"/>
                <a:ea typeface="+mn-ea"/>
              </a:rPr>
              <a:t>、</a:t>
            </a:r>
            <a:r>
              <a:rPr kumimoji="0" lang="en-US" altLang="zh-CN" sz="1800" b="1" i="0" u="none" strike="noStrike" kern="0" cap="none" spc="0" normalizeH="0" baseline="0" noProof="0" dirty="0" smtClean="0">
                <a:ln>
                  <a:noFill/>
                </a:ln>
                <a:solidFill>
                  <a:schemeClr val="tx1"/>
                </a:solidFill>
                <a:effectLst/>
                <a:uLnTx/>
                <a:uFillTx/>
                <a:latin typeface="+mn-ea"/>
                <a:ea typeface="+mn-ea"/>
              </a:rPr>
              <a:t>SC</a:t>
            </a:r>
            <a:r>
              <a:rPr kumimoji="0" lang="zh-CN" altLang="en-US" sz="1800" b="1" i="0" u="none" strike="noStrike" kern="0" cap="none" spc="0" normalizeH="0" baseline="0" noProof="0" dirty="0" smtClean="0">
                <a:ln>
                  <a:noFill/>
                </a:ln>
                <a:solidFill>
                  <a:schemeClr val="tx1"/>
                </a:solidFill>
                <a:effectLst/>
                <a:uLnTx/>
                <a:uFillTx/>
                <a:latin typeface="+mn-ea"/>
                <a:ea typeface="+mn-ea"/>
              </a:rPr>
              <a:t>一般在发射时控制</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Load</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操作能不能越过未完成（地址未确定或尚在</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Store Buffer</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中）的</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Store</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操作执行</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如果</a:t>
            </a:r>
            <a:r>
              <a:rPr kumimoji="0" lang="en-US" altLang="zh-CN" sz="1800" b="1" i="0" u="none" strike="noStrike" kern="0" cap="none" spc="0" normalizeH="0" baseline="0" noProof="0" dirty="0" smtClean="0">
                <a:ln>
                  <a:noFill/>
                </a:ln>
                <a:solidFill>
                  <a:schemeClr val="tx1"/>
                </a:solidFill>
                <a:effectLst/>
                <a:uLnTx/>
                <a:uFillTx/>
                <a:latin typeface="+mn-ea"/>
                <a:ea typeface="+mn-ea"/>
              </a:rPr>
              <a:t>Load</a:t>
            </a:r>
            <a:r>
              <a:rPr kumimoji="0" lang="zh-CN" altLang="en-US" sz="1800" b="1" i="0" u="none" strike="noStrike" kern="0" cap="none" spc="0" normalizeH="0" baseline="0" noProof="0" dirty="0" smtClean="0">
                <a:ln>
                  <a:noFill/>
                </a:ln>
                <a:solidFill>
                  <a:schemeClr val="tx1"/>
                </a:solidFill>
                <a:effectLst/>
                <a:uLnTx/>
                <a:uFillTx/>
                <a:latin typeface="+mn-ea"/>
                <a:ea typeface="+mn-ea"/>
              </a:rPr>
              <a:t>数据返回到寄存器并被使用了，取消起来很麻烦</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外部来的</a:t>
            </a:r>
            <a:r>
              <a:rPr kumimoji="0" lang="en-US" altLang="zh-CN" sz="1800" b="1" i="0" u="none" strike="noStrike" kern="0" cap="none" spc="0" normalizeH="0" baseline="0" noProof="0" dirty="0" smtClean="0">
                <a:ln>
                  <a:noFill/>
                </a:ln>
                <a:solidFill>
                  <a:schemeClr val="tx1"/>
                </a:solidFill>
                <a:effectLst/>
                <a:uLnTx/>
                <a:uFillTx/>
                <a:latin typeface="+mn-ea"/>
                <a:ea typeface="+mn-ea"/>
              </a:rPr>
              <a:t>invalidate</a:t>
            </a:r>
            <a:r>
              <a:rPr kumimoji="0" lang="zh-CN" altLang="en-US" sz="1800" b="1" i="0" u="none" strike="noStrike" kern="0" cap="none" spc="0" normalizeH="0" baseline="0" noProof="0" dirty="0" smtClean="0">
                <a:ln>
                  <a:noFill/>
                </a:ln>
                <a:solidFill>
                  <a:schemeClr val="tx1"/>
                </a:solidFill>
                <a:effectLst/>
                <a:uLnTx/>
                <a:uFillTx/>
                <a:latin typeface="+mn-ea"/>
                <a:ea typeface="+mn-ea"/>
              </a:rPr>
              <a:t>操作要查看</a:t>
            </a:r>
            <a:r>
              <a:rPr kumimoji="0" lang="en-US" altLang="zh-CN" sz="1800" b="1" i="0" u="none" strike="noStrike" kern="0" cap="none" spc="0" normalizeH="0" baseline="0" noProof="0" dirty="0" smtClean="0">
                <a:ln>
                  <a:noFill/>
                </a:ln>
                <a:solidFill>
                  <a:schemeClr val="tx1"/>
                </a:solidFill>
                <a:effectLst/>
                <a:uLnTx/>
                <a:uFillTx/>
                <a:latin typeface="+mn-ea"/>
                <a:ea typeface="+mn-ea"/>
              </a:rPr>
              <a:t>Store Buffer</a:t>
            </a:r>
            <a:r>
              <a:rPr kumimoji="0" lang="zh-CN" altLang="en-US" sz="1800" b="1" i="0" u="none" strike="noStrike" kern="0" cap="none" spc="0" normalizeH="0" baseline="0" noProof="0" dirty="0" smtClean="0">
                <a:ln>
                  <a:noFill/>
                </a:ln>
                <a:solidFill>
                  <a:schemeClr val="tx1"/>
                </a:solidFill>
                <a:effectLst/>
                <a:uLnTx/>
                <a:uFillTx/>
                <a:latin typeface="+mn-ea"/>
                <a:ea typeface="+mn-ea"/>
              </a:rPr>
              <a:t>也很麻烦</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为了性能和实现的简洁常使用弱一致性模型</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p:txBody>
      </p:sp>
      <p:sp>
        <p:nvSpPr>
          <p:cNvPr id="54276"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vert="horz" wrap="square" lIns="91440" tIns="45720" rIns="91440" bIns="45720" anchor="ctr" anchorCtr="0"/>
          <a:lstStyle/>
          <a:p>
            <a:r>
              <a:rPr lang="zh-CN" altLang="en-US" dirty="0"/>
              <a:t>不忘初心：提高性能</a:t>
            </a:r>
            <a:endParaRPr lang="zh-CN" altLang="en-US" dirty="0"/>
          </a:p>
        </p:txBody>
      </p:sp>
      <p:sp>
        <p:nvSpPr>
          <p:cNvPr id="52227" name="内容占位符 2"/>
          <p:cNvSpPr>
            <a:spLocks noGrp="1"/>
          </p:cNvSpPr>
          <p:nvPr>
            <p:ph idx="1"/>
          </p:nvPr>
        </p:nvSpPr>
        <p:spPr>
          <a:xfrm>
            <a:off x="609600" y="1600200"/>
            <a:ext cx="1124426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串行程序提高性能</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保持程序相关性基础上打乱执行次序</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保留站、寄存器重命名、</a:t>
            </a:r>
            <a:r>
              <a:rPr kumimoji="0" lang="en-US" altLang="zh-CN" sz="1800" b="1" i="0" u="none" strike="noStrike" kern="0" cap="none" spc="0" normalizeH="0" baseline="0" noProof="0" dirty="0" smtClean="0">
                <a:ln>
                  <a:noFill/>
                </a:ln>
                <a:solidFill>
                  <a:schemeClr val="tx1"/>
                </a:solidFill>
                <a:effectLst/>
                <a:uLnTx/>
                <a:uFillTx/>
                <a:latin typeface="+mn-ea"/>
                <a:ea typeface="+mn-ea"/>
              </a:rPr>
              <a:t>ROB</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指令级并行不改变编程模型</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并行程序提高性能</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除了线程内部相关性，还要考虑线程间相关性</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弱一致性模型，分布式共享存储，目录一致性协议</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弱一致性模型利用共享并行程序的同步实现一致性，只在同步点维持顺序执行，普通操作可以像单核一样乱序执行，对部分程序编程有一定影响</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p:txBody>
      </p:sp>
      <p:sp>
        <p:nvSpPr>
          <p:cNvPr id="5530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971550" y="141288"/>
            <a:ext cx="10361613" cy="1143000"/>
          </a:xfrm>
        </p:spPr>
        <p:txBody>
          <a:bodyPr vert="horz" wrap="square" lIns="91440" tIns="45720" rIns="91440" bIns="45720" anchor="ctr" anchorCtr="0"/>
          <a:lstStyle/>
          <a:p>
            <a:r>
              <a:rPr lang="zh-CN" altLang="en-US" dirty="0"/>
              <a:t>分析多核</a:t>
            </a:r>
            <a:r>
              <a:rPr lang="en-US" altLang="zh-CN" dirty="0"/>
              <a:t>CPU</a:t>
            </a:r>
            <a:r>
              <a:rPr lang="zh-CN" altLang="en-US" dirty="0"/>
              <a:t>的要素</a:t>
            </a:r>
            <a:endParaRPr lang="zh-CN" altLang="en-US" dirty="0"/>
          </a:p>
        </p:txBody>
      </p:sp>
      <p:sp>
        <p:nvSpPr>
          <p:cNvPr id="53251" name="内容占位符 2"/>
          <p:cNvSpPr>
            <a:spLocks noGrp="1"/>
          </p:cNvSpPr>
          <p:nvPr>
            <p:ph idx="1"/>
          </p:nvPr>
        </p:nvSpPr>
        <p:spPr>
          <a:xfrm>
            <a:off x="914400" y="1285875"/>
            <a:ext cx="10361613" cy="5210175"/>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处理器核</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异构、同构；通用、专用；重核、轻核；多核、众核</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互连结构</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可伸缩程度，是否支持片间互连</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访存结构</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所有核同一地址空间、不同核不同地址空间</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en-US" altLang="zh-CN" sz="1800" b="1" i="0" u="none" strike="noStrike" kern="0" cap="none" spc="0" normalizeH="0" baseline="0" noProof="0" dirty="0" smtClean="0">
                <a:ln>
                  <a:noFill/>
                </a:ln>
                <a:solidFill>
                  <a:schemeClr val="tx1"/>
                </a:solidFill>
                <a:effectLst/>
                <a:uLnTx/>
                <a:uFillTx/>
                <a:latin typeface="+mn-ea"/>
                <a:ea typeface="+mn-ea"/>
              </a:rPr>
              <a:t>Cache</a:t>
            </a:r>
            <a:r>
              <a:rPr kumimoji="0" lang="zh-CN" altLang="en-US" sz="1800" b="1" i="0" u="none" strike="noStrike" kern="0" cap="none" spc="0" normalizeH="0" baseline="0" noProof="0" dirty="0" smtClean="0">
                <a:ln>
                  <a:noFill/>
                </a:ln>
                <a:solidFill>
                  <a:schemeClr val="tx1"/>
                </a:solidFill>
                <a:effectLst/>
                <a:uLnTx/>
                <a:uFillTx/>
                <a:latin typeface="+mn-ea"/>
                <a:ea typeface="+mn-ea"/>
              </a:rPr>
              <a:t>一致性协议：是否可伸缩</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峰值性能和访存带宽及</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IO</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带宽</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避免茶壶里面倒饺子</a:t>
            </a:r>
            <a:endParaRPr kumimoji="0"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rPr>
              <a:t>通用多核处理器访存带宽和峰值性能差距不能太大</a:t>
            </a:r>
            <a:endParaRPr kumimoji="0" lang="zh-CN" altLang="en-US" sz="1800" b="1" i="0" u="none" strike="noStrike" kern="0" cap="none" spc="0" normalizeH="0" baseline="0" noProof="0" dirty="0" smtClean="0">
              <a:ln>
                <a:noFill/>
              </a:ln>
              <a:solidFill>
                <a:schemeClr val="tx1"/>
              </a:solidFill>
              <a:effectLst/>
              <a:uLnTx/>
              <a:uFillTx/>
              <a:latin typeface="+mn-ea"/>
              <a:ea typeface="+mn-ea"/>
            </a:endParaRPr>
          </a:p>
        </p:txBody>
      </p:sp>
      <p:sp>
        <p:nvSpPr>
          <p:cNvPr id="5632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4"/>
          <p:cNvSpPr>
            <a:spLocks noGrp="1" noChangeArrowheads="1"/>
          </p:cNvSpPr>
          <p:nvPr>
            <p:ph type="sldNum" sz="quarter" idx="12"/>
          </p:nvPr>
        </p:nvSpPr>
        <p:spPr>
          <a:noFill/>
        </p:spPr>
        <p:txBody>
          <a:bodyPr/>
          <a:lstStyle/>
          <a:p>
            <a:fld id="{E33452DB-1EC7-4363-AFBE-40D0030D230F}" type="slidenum">
              <a:rPr lang="en-US" altLang="zh-CN" smtClean="0"/>
            </a:fld>
            <a:endParaRPr lang="en-US" altLang="zh-CN" smtClean="0"/>
          </a:p>
        </p:txBody>
      </p:sp>
      <p:sp>
        <p:nvSpPr>
          <p:cNvPr id="66563" name="Rectangle 2"/>
          <p:cNvSpPr>
            <a:spLocks noGrp="1" noChangeArrowheads="1"/>
          </p:cNvSpPr>
          <p:nvPr>
            <p:ph type="title"/>
          </p:nvPr>
        </p:nvSpPr>
        <p:spPr>
          <a:xfrm>
            <a:off x="833756" y="2849563"/>
            <a:ext cx="10361612" cy="1143000"/>
          </a:xfrm>
        </p:spPr>
        <p:txBody>
          <a:bodyPr/>
          <a:lstStyle/>
          <a:p>
            <a:pPr eaLnBrk="1" hangingPunct="1"/>
            <a:r>
              <a:rPr lang="zh-CN" altLang="en-US" sz="4400" smtClean="0"/>
              <a:t>典型多核处理器</a:t>
            </a:r>
            <a:endParaRPr lang="zh-CN" altLang="en-US" sz="4400" smtClean="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noChangeArrowheads="1"/>
          </p:cNvSpPr>
          <p:nvPr>
            <p:ph type="title"/>
          </p:nvPr>
        </p:nvSpPr>
        <p:spPr>
          <a:xfrm>
            <a:off x="971868" y="141288"/>
            <a:ext cx="10361613" cy="1143000"/>
          </a:xfrm>
        </p:spPr>
        <p:txBody>
          <a:bodyPr/>
          <a:lstStyle/>
          <a:p>
            <a:r>
              <a:rPr lang="zh-CN" altLang="en-US" smtClean="0"/>
              <a:t>分析多核</a:t>
            </a:r>
            <a:r>
              <a:rPr lang="en-US" altLang="zh-CN" smtClean="0"/>
              <a:t>CPU</a:t>
            </a:r>
            <a:r>
              <a:rPr lang="zh-CN" altLang="en-US" smtClean="0"/>
              <a:t>的要素</a:t>
            </a:r>
            <a:endParaRPr lang="zh-CN" altLang="en-US" smtClean="0"/>
          </a:p>
        </p:txBody>
      </p:sp>
      <p:sp>
        <p:nvSpPr>
          <p:cNvPr id="67587" name="内容占位符 2"/>
          <p:cNvSpPr>
            <a:spLocks noGrp="1" noChangeArrowheads="1"/>
          </p:cNvSpPr>
          <p:nvPr>
            <p:ph idx="1"/>
          </p:nvPr>
        </p:nvSpPr>
        <p:spPr>
          <a:xfrm>
            <a:off x="914718" y="1285875"/>
            <a:ext cx="10361613" cy="5210175"/>
          </a:xfrm>
        </p:spPr>
        <p:txBody>
          <a:bodyPr/>
          <a:lstStyle/>
          <a:p>
            <a:r>
              <a:rPr lang="zh-CN" altLang="en-US" sz="2000" smtClean="0">
                <a:latin typeface="宋体" panose="02000500000000000000" pitchFamily="2" charset="-122"/>
                <a:ea typeface="宋体" panose="02000500000000000000" pitchFamily="2" charset="-122"/>
                <a:cs typeface="宋体" panose="02000500000000000000" pitchFamily="2" charset="-122"/>
              </a:rPr>
              <a:t>处理器核</a:t>
            </a:r>
            <a:endParaRPr lang="en-US" altLang="zh-CN" sz="2000" smtClean="0">
              <a:latin typeface="宋体" panose="02000500000000000000" pitchFamily="2" charset="-122"/>
              <a:ea typeface="宋体" panose="02000500000000000000" pitchFamily="2" charset="-122"/>
              <a:cs typeface="宋体" panose="02000500000000000000" pitchFamily="2" charset="-122"/>
            </a:endParaRPr>
          </a:p>
          <a:p>
            <a:pPr lvl="1"/>
            <a:r>
              <a:rPr lang="zh-CN" altLang="en-US" sz="1800" smtClean="0">
                <a:latin typeface="宋体" panose="02000500000000000000" pitchFamily="2" charset="-122"/>
                <a:ea typeface="宋体" panose="02000500000000000000" pitchFamily="2" charset="-122"/>
                <a:cs typeface="宋体" panose="02000500000000000000" pitchFamily="2" charset="-122"/>
              </a:rPr>
              <a:t>异构、同构；通用、专用；重核、轻核；多核、众核</a:t>
            </a:r>
            <a:endParaRPr lang="en-US" altLang="zh-CN" sz="1800" smtClean="0">
              <a:latin typeface="宋体" panose="02000500000000000000" pitchFamily="2" charset="-122"/>
              <a:ea typeface="宋体" panose="02000500000000000000" pitchFamily="2" charset="-122"/>
              <a:cs typeface="宋体" panose="02000500000000000000" pitchFamily="2" charset="-122"/>
            </a:endParaRPr>
          </a:p>
          <a:p>
            <a:r>
              <a:rPr lang="zh-CN" altLang="en-US" sz="2000" smtClean="0">
                <a:latin typeface="宋体" panose="02000500000000000000" pitchFamily="2" charset="-122"/>
                <a:ea typeface="宋体" panose="02000500000000000000" pitchFamily="2" charset="-122"/>
                <a:cs typeface="宋体" panose="02000500000000000000" pitchFamily="2" charset="-122"/>
              </a:rPr>
              <a:t>互连结构</a:t>
            </a:r>
            <a:endParaRPr lang="en-US" altLang="zh-CN" sz="2000" smtClean="0">
              <a:latin typeface="宋体" panose="02000500000000000000" pitchFamily="2" charset="-122"/>
              <a:ea typeface="宋体" panose="02000500000000000000" pitchFamily="2" charset="-122"/>
              <a:cs typeface="宋体" panose="02000500000000000000" pitchFamily="2" charset="-122"/>
            </a:endParaRPr>
          </a:p>
          <a:p>
            <a:pPr lvl="1"/>
            <a:r>
              <a:rPr lang="zh-CN" altLang="en-US" sz="1800" smtClean="0">
                <a:latin typeface="宋体" panose="02000500000000000000" pitchFamily="2" charset="-122"/>
                <a:ea typeface="宋体" panose="02000500000000000000" pitchFamily="2" charset="-122"/>
                <a:cs typeface="宋体" panose="02000500000000000000" pitchFamily="2" charset="-122"/>
              </a:rPr>
              <a:t>可伸缩程度，是否支持片间互连</a:t>
            </a:r>
            <a:endParaRPr lang="en-US" altLang="zh-CN" sz="1800" smtClean="0">
              <a:latin typeface="宋体" panose="02000500000000000000" pitchFamily="2" charset="-122"/>
              <a:ea typeface="宋体" panose="02000500000000000000" pitchFamily="2" charset="-122"/>
              <a:cs typeface="宋体" panose="02000500000000000000" pitchFamily="2" charset="-122"/>
            </a:endParaRPr>
          </a:p>
          <a:p>
            <a:r>
              <a:rPr lang="zh-CN" altLang="en-US" sz="2000" smtClean="0">
                <a:latin typeface="宋体" panose="02000500000000000000" pitchFamily="2" charset="-122"/>
                <a:ea typeface="宋体" panose="02000500000000000000" pitchFamily="2" charset="-122"/>
                <a:cs typeface="宋体" panose="02000500000000000000" pitchFamily="2" charset="-122"/>
              </a:rPr>
              <a:t>访存结构</a:t>
            </a:r>
            <a:endParaRPr lang="en-US" altLang="zh-CN" sz="2000" smtClean="0">
              <a:latin typeface="宋体" panose="02000500000000000000" pitchFamily="2" charset="-122"/>
              <a:ea typeface="宋体" panose="02000500000000000000" pitchFamily="2" charset="-122"/>
              <a:cs typeface="宋体" panose="02000500000000000000" pitchFamily="2" charset="-122"/>
            </a:endParaRPr>
          </a:p>
          <a:p>
            <a:pPr lvl="1"/>
            <a:r>
              <a:rPr lang="zh-CN" altLang="en-US" sz="1800" smtClean="0">
                <a:latin typeface="宋体" panose="02000500000000000000" pitchFamily="2" charset="-122"/>
                <a:ea typeface="宋体" panose="02000500000000000000" pitchFamily="2" charset="-122"/>
                <a:cs typeface="宋体" panose="02000500000000000000" pitchFamily="2" charset="-122"/>
              </a:rPr>
              <a:t>所有核同一地址空间、不同核不同地址空间</a:t>
            </a:r>
            <a:endParaRPr lang="en-US" altLang="zh-CN" sz="1800" smtClean="0">
              <a:latin typeface="宋体" panose="02000500000000000000" pitchFamily="2" charset="-122"/>
              <a:ea typeface="宋体" panose="02000500000000000000" pitchFamily="2" charset="-122"/>
              <a:cs typeface="宋体" panose="02000500000000000000" pitchFamily="2" charset="-122"/>
            </a:endParaRPr>
          </a:p>
          <a:p>
            <a:pPr lvl="1"/>
            <a:r>
              <a:rPr lang="en-US" altLang="zh-CN" sz="1800" smtClean="0">
                <a:latin typeface="宋体" panose="02000500000000000000" pitchFamily="2" charset="-122"/>
                <a:ea typeface="宋体" panose="02000500000000000000" pitchFamily="2" charset="-122"/>
                <a:cs typeface="宋体" panose="02000500000000000000" pitchFamily="2" charset="-122"/>
              </a:rPr>
              <a:t>Cache</a:t>
            </a:r>
            <a:r>
              <a:rPr lang="zh-CN" altLang="en-US" sz="1800" smtClean="0">
                <a:latin typeface="宋体" panose="02000500000000000000" pitchFamily="2" charset="-122"/>
                <a:ea typeface="宋体" panose="02000500000000000000" pitchFamily="2" charset="-122"/>
                <a:cs typeface="宋体" panose="02000500000000000000" pitchFamily="2" charset="-122"/>
              </a:rPr>
              <a:t>一致性协议：是否可伸缩</a:t>
            </a:r>
            <a:endParaRPr lang="en-US" altLang="zh-CN" sz="1800" smtClean="0">
              <a:latin typeface="宋体" panose="02000500000000000000" pitchFamily="2" charset="-122"/>
              <a:ea typeface="宋体" panose="02000500000000000000" pitchFamily="2" charset="-122"/>
              <a:cs typeface="宋体" panose="02000500000000000000" pitchFamily="2" charset="-122"/>
            </a:endParaRPr>
          </a:p>
          <a:p>
            <a:r>
              <a:rPr lang="zh-CN" altLang="en-US" sz="2000" smtClean="0">
                <a:latin typeface="宋体" panose="02000500000000000000" pitchFamily="2" charset="-122"/>
                <a:ea typeface="宋体" panose="02000500000000000000" pitchFamily="2" charset="-122"/>
                <a:cs typeface="宋体" panose="02000500000000000000" pitchFamily="2" charset="-122"/>
              </a:rPr>
              <a:t>峰值性能和访存带宽及</a:t>
            </a:r>
            <a:r>
              <a:rPr lang="en-US" altLang="zh-CN" sz="2000" smtClean="0">
                <a:latin typeface="宋体" panose="02000500000000000000" pitchFamily="2" charset="-122"/>
                <a:ea typeface="宋体" panose="02000500000000000000" pitchFamily="2" charset="-122"/>
                <a:cs typeface="宋体" panose="02000500000000000000" pitchFamily="2" charset="-122"/>
              </a:rPr>
              <a:t>IO</a:t>
            </a:r>
            <a:r>
              <a:rPr lang="zh-CN" altLang="en-US" sz="2000" smtClean="0">
                <a:latin typeface="宋体" panose="02000500000000000000" pitchFamily="2" charset="-122"/>
                <a:ea typeface="宋体" panose="02000500000000000000" pitchFamily="2" charset="-122"/>
                <a:cs typeface="宋体" panose="02000500000000000000" pitchFamily="2" charset="-122"/>
              </a:rPr>
              <a:t>带宽</a:t>
            </a:r>
            <a:endParaRPr lang="en-US" altLang="zh-CN" sz="2000" smtClean="0">
              <a:latin typeface="宋体" panose="02000500000000000000" pitchFamily="2" charset="-122"/>
              <a:ea typeface="宋体" panose="02000500000000000000" pitchFamily="2" charset="-122"/>
              <a:cs typeface="宋体" panose="02000500000000000000" pitchFamily="2" charset="-122"/>
            </a:endParaRPr>
          </a:p>
          <a:p>
            <a:pPr lvl="1"/>
            <a:r>
              <a:rPr lang="zh-CN" altLang="en-US" sz="1800" smtClean="0">
                <a:latin typeface="宋体" panose="02000500000000000000" pitchFamily="2" charset="-122"/>
                <a:ea typeface="宋体" panose="02000500000000000000" pitchFamily="2" charset="-122"/>
                <a:cs typeface="宋体" panose="02000500000000000000" pitchFamily="2" charset="-122"/>
              </a:rPr>
              <a:t>避免茶壶里面倒饺子</a:t>
            </a:r>
            <a:endParaRPr lang="en-US" altLang="zh-CN" sz="1800" smtClean="0">
              <a:latin typeface="宋体" panose="02000500000000000000" pitchFamily="2" charset="-122"/>
              <a:ea typeface="宋体" panose="02000500000000000000" pitchFamily="2" charset="-122"/>
              <a:cs typeface="宋体" panose="02000500000000000000" pitchFamily="2" charset="-122"/>
            </a:endParaRPr>
          </a:p>
          <a:p>
            <a:pPr lvl="1"/>
            <a:r>
              <a:rPr lang="zh-CN" altLang="en-US" sz="1800" smtClean="0">
                <a:latin typeface="宋体" panose="02000500000000000000" pitchFamily="2" charset="-122"/>
                <a:ea typeface="宋体" panose="02000500000000000000" pitchFamily="2" charset="-122"/>
                <a:cs typeface="宋体" panose="02000500000000000000" pitchFamily="2" charset="-122"/>
              </a:rPr>
              <a:t>通用多核处理器访存带宽和峰值性能差距不能太大</a:t>
            </a:r>
            <a:endParaRPr lang="zh-CN" altLang="en-US" sz="1800" smtClean="0">
              <a:latin typeface="宋体" panose="02000500000000000000" pitchFamily="2" charset="-122"/>
              <a:ea typeface="宋体" panose="02000500000000000000" pitchFamily="2" charset="-122"/>
              <a:cs typeface="宋体" panose="02000500000000000000" pitchFamily="2" charset="-122"/>
            </a:endParaRPr>
          </a:p>
        </p:txBody>
      </p:sp>
      <p:sp>
        <p:nvSpPr>
          <p:cNvPr id="67588" name="灯片编号占位符 3"/>
          <p:cNvSpPr>
            <a:spLocks noGrp="1" noChangeArrowheads="1"/>
          </p:cNvSpPr>
          <p:nvPr>
            <p:ph type="sldNum" sz="quarter" idx="12"/>
          </p:nvPr>
        </p:nvSpPr>
        <p:spPr>
          <a:noFill/>
        </p:spPr>
        <p:txBody>
          <a:bodyPr/>
          <a:lstStyle/>
          <a:p>
            <a:fld id="{DF03520F-D8DA-4570-B1AA-F21E967B6BE1}" type="slidenum">
              <a:rPr lang="en-US" altLang="zh-CN" smtClean="0"/>
            </a:fld>
            <a:endParaRPr lang="en-US" altLang="zh-CN" smtClean="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noChangeArrowheads="1"/>
          </p:cNvSpPr>
          <p:nvPr>
            <p:ph type="title"/>
          </p:nvPr>
        </p:nvSpPr>
        <p:spPr>
          <a:xfrm>
            <a:off x="914718" y="0"/>
            <a:ext cx="10361613" cy="922338"/>
          </a:xfrm>
        </p:spPr>
        <p:txBody>
          <a:bodyPr/>
          <a:lstStyle/>
          <a:p>
            <a:r>
              <a:rPr lang="zh-CN" altLang="en-US" smtClean="0"/>
              <a:t>龙芯</a:t>
            </a:r>
            <a:r>
              <a:rPr lang="en-US" altLang="zh-CN" smtClean="0"/>
              <a:t>3</a:t>
            </a:r>
            <a:r>
              <a:rPr lang="zh-CN" altLang="en-US" smtClean="0"/>
              <a:t>号多核处理器</a:t>
            </a:r>
            <a:endParaRPr lang="zh-CN" altLang="en-US" smtClean="0"/>
          </a:p>
        </p:txBody>
      </p:sp>
      <p:sp>
        <p:nvSpPr>
          <p:cNvPr id="22531" name="内容占位符 2"/>
          <p:cNvSpPr>
            <a:spLocks noGrp="1"/>
          </p:cNvSpPr>
          <p:nvPr>
            <p:ph idx="1"/>
          </p:nvPr>
        </p:nvSpPr>
        <p:spPr>
          <a:xfrm>
            <a:off x="127318" y="909638"/>
            <a:ext cx="12101513" cy="3413125"/>
          </a:xfrm>
        </p:spPr>
        <p:txBody>
          <a:bodyPr/>
          <a:lstStyle/>
          <a:p>
            <a:pPr marL="342900" lvl="1" indent="-342900">
              <a:defRPr/>
            </a:pPr>
            <a:r>
              <a:rPr kumimoji="1" lang="zh-CN" altLang="zh-CN" sz="2000" dirty="0">
                <a:cs typeface="+mn-ea"/>
              </a:rPr>
              <a:t>面向</a:t>
            </a:r>
            <a:r>
              <a:rPr kumimoji="1" lang="zh-CN" altLang="en-US" sz="2000" dirty="0">
                <a:cs typeface="+mn-ea"/>
              </a:rPr>
              <a:t>桌面</a:t>
            </a:r>
            <a:r>
              <a:rPr kumimoji="1" lang="en-US" altLang="zh-CN" sz="2000" dirty="0">
                <a:cs typeface="+mn-ea"/>
              </a:rPr>
              <a:t>/</a:t>
            </a:r>
            <a:r>
              <a:rPr kumimoji="1" lang="zh-CN" altLang="zh-CN" sz="2000" dirty="0">
                <a:cs typeface="+mn-ea"/>
              </a:rPr>
              <a:t>服务器</a:t>
            </a:r>
            <a:r>
              <a:rPr kumimoji="1" lang="zh-CN" altLang="en-US" sz="2000" dirty="0">
                <a:cs typeface="+mn-ea"/>
              </a:rPr>
              <a:t>应用</a:t>
            </a:r>
            <a:endParaRPr kumimoji="1" lang="en-US" altLang="zh-CN" sz="2000" dirty="0">
              <a:cs typeface="+mn-ea"/>
            </a:endParaRPr>
          </a:p>
          <a:p>
            <a:pPr marL="742950" lvl="2" indent="-342900">
              <a:defRPr/>
            </a:pPr>
            <a:r>
              <a:rPr kumimoji="1" lang="zh-CN" altLang="zh-CN" sz="1600" dirty="0">
                <a:cs typeface="+mn-ea"/>
              </a:rPr>
              <a:t>可扩展</a:t>
            </a:r>
            <a:r>
              <a:rPr kumimoji="1" lang="zh-CN" altLang="en-US" sz="1600" dirty="0">
                <a:cs typeface="+mn-ea"/>
              </a:rPr>
              <a:t>互连</a:t>
            </a:r>
            <a:r>
              <a:rPr kumimoji="1" lang="zh-CN" altLang="zh-CN" sz="1600" dirty="0">
                <a:cs typeface="+mn-ea"/>
              </a:rPr>
              <a:t>，</a:t>
            </a:r>
            <a:r>
              <a:rPr kumimoji="1" lang="zh-CN" altLang="en-US" sz="1600" dirty="0">
                <a:cs typeface="+mn-ea"/>
              </a:rPr>
              <a:t>节点内交叉开关连接四核，</a:t>
            </a:r>
            <a:r>
              <a:rPr kumimoji="1" lang="zh-CN" altLang="zh-CN" sz="1600" dirty="0">
                <a:cs typeface="+mn-ea"/>
              </a:rPr>
              <a:t>节点间通过</a:t>
            </a:r>
            <a:r>
              <a:rPr kumimoji="1" lang="zh-CN" altLang="en-US" sz="1600" dirty="0">
                <a:cs typeface="+mn-ea"/>
              </a:rPr>
              <a:t>可伸缩网络互连</a:t>
            </a:r>
            <a:endParaRPr kumimoji="1" lang="en-US" altLang="zh-CN" sz="1600" dirty="0">
              <a:cs typeface="+mn-ea"/>
            </a:endParaRPr>
          </a:p>
          <a:p>
            <a:pPr marL="742950" lvl="2" indent="-342900">
              <a:defRPr/>
            </a:pPr>
            <a:r>
              <a:rPr kumimoji="1" lang="zh-CN" altLang="en-US" sz="1600" dirty="0">
                <a:cs typeface="+mn-ea"/>
              </a:rPr>
              <a:t>支持片间直连实现多路共享存储</a:t>
            </a:r>
            <a:endParaRPr kumimoji="1" lang="en-US" altLang="zh-CN" sz="1600" dirty="0">
              <a:cs typeface="+mn-ea"/>
            </a:endParaRPr>
          </a:p>
          <a:p>
            <a:pPr marL="742950" lvl="2" indent="-342900">
              <a:defRPr/>
            </a:pPr>
            <a:r>
              <a:rPr kumimoji="1" lang="zh-CN" altLang="en-US" sz="1600" dirty="0">
                <a:cs typeface="+mn-ea"/>
              </a:rPr>
              <a:t>片内</a:t>
            </a:r>
            <a:r>
              <a:rPr kumimoji="1" lang="en-US" altLang="zh-CN" sz="1600" dirty="0">
                <a:cs typeface="+mn-ea"/>
              </a:rPr>
              <a:t>/</a:t>
            </a:r>
            <a:r>
              <a:rPr kumimoji="1" lang="zh-CN" altLang="en-US" sz="1600" dirty="0">
                <a:cs typeface="+mn-ea"/>
              </a:rPr>
              <a:t>片间多核共享</a:t>
            </a:r>
            <a:r>
              <a:rPr kumimoji="1" lang="en-US" altLang="zh-CN" sz="1600" dirty="0">
                <a:cs typeface="+mn-ea"/>
              </a:rPr>
              <a:t>LLC</a:t>
            </a:r>
            <a:r>
              <a:rPr kumimoji="1" lang="zh-CN" altLang="en-US" sz="1600" dirty="0">
                <a:cs typeface="+mn-ea"/>
              </a:rPr>
              <a:t>（片间共享</a:t>
            </a:r>
            <a:r>
              <a:rPr kumimoji="1" lang="en-US" altLang="zh-CN" sz="1600" dirty="0">
                <a:cs typeface="+mn-ea"/>
              </a:rPr>
              <a:t>LLC</a:t>
            </a:r>
            <a:r>
              <a:rPr kumimoji="1" lang="zh-CN" altLang="en-US" sz="1600" dirty="0">
                <a:cs typeface="+mn-ea"/>
              </a:rPr>
              <a:t>不如片间共享内存），</a:t>
            </a:r>
            <a:r>
              <a:rPr kumimoji="1" lang="zh-CN" altLang="zh-CN" sz="1600" dirty="0">
                <a:cs typeface="+mn-ea"/>
              </a:rPr>
              <a:t>基于目录的</a:t>
            </a:r>
            <a:r>
              <a:rPr kumimoji="1" lang="en-US" altLang="zh-CN" sz="1600" dirty="0">
                <a:cs typeface="+mn-ea"/>
              </a:rPr>
              <a:t>Cache</a:t>
            </a:r>
            <a:r>
              <a:rPr kumimoji="1" lang="zh-CN" altLang="zh-CN" sz="1600" dirty="0">
                <a:cs typeface="+mn-ea"/>
              </a:rPr>
              <a:t>一致性协议</a:t>
            </a:r>
            <a:endParaRPr kumimoji="1" lang="en-US" altLang="zh-CN" sz="1600" dirty="0">
              <a:cs typeface="+mn-ea"/>
            </a:endParaRPr>
          </a:p>
          <a:p>
            <a:pPr marL="742950" lvl="2" indent="-342900">
              <a:defRPr/>
            </a:pPr>
            <a:r>
              <a:rPr kumimoji="1" lang="zh-CN" altLang="en-US" sz="1600" dirty="0">
                <a:cs typeface="+mn-ea"/>
              </a:rPr>
              <a:t>四核龙芯</a:t>
            </a:r>
            <a:r>
              <a:rPr kumimoji="1" lang="en-US" altLang="zh-CN" sz="1600" dirty="0">
                <a:cs typeface="+mn-ea"/>
              </a:rPr>
              <a:t>3A5000</a:t>
            </a:r>
            <a:r>
              <a:rPr kumimoji="1" lang="zh-CN" altLang="en-US" sz="1600" dirty="0">
                <a:cs typeface="+mn-ea"/>
              </a:rPr>
              <a:t>支持</a:t>
            </a:r>
            <a:r>
              <a:rPr kumimoji="1" lang="en-US" altLang="zh-CN" sz="1600" dirty="0" err="1">
                <a:cs typeface="+mn-ea"/>
              </a:rPr>
              <a:t>LoongARCH</a:t>
            </a:r>
            <a:r>
              <a:rPr kumimoji="1" lang="zh-CN" altLang="en-US" sz="1600" dirty="0">
                <a:cs typeface="+mn-ea"/>
              </a:rPr>
              <a:t>指令集</a:t>
            </a:r>
            <a:r>
              <a:rPr kumimoji="1" lang="en-US" altLang="zh-CN" sz="1600" dirty="0">
                <a:cs typeface="+mn-ea"/>
              </a:rPr>
              <a:t>,</a:t>
            </a:r>
            <a:r>
              <a:rPr kumimoji="1" lang="zh-CN" altLang="en-US" sz="1600" dirty="0">
                <a:cs typeface="+mn-ea"/>
              </a:rPr>
              <a:t>峰值性能为</a:t>
            </a:r>
            <a:r>
              <a:rPr kumimoji="1" lang="en-US" altLang="zh-CN" sz="1600" dirty="0">
                <a:solidFill>
                  <a:schemeClr val="accent2"/>
                </a:solidFill>
                <a:cs typeface="+mn-ea"/>
              </a:rPr>
              <a:t>160GFLOPS</a:t>
            </a:r>
            <a:r>
              <a:rPr kumimoji="1" lang="zh-CN" altLang="en-US" sz="1600" dirty="0">
                <a:cs typeface="+mn-ea"/>
              </a:rPr>
              <a:t>（</a:t>
            </a:r>
            <a:r>
              <a:rPr kumimoji="1" lang="en-US" altLang="zh-CN" sz="1600" dirty="0">
                <a:cs typeface="+mn-ea"/>
              </a:rPr>
              <a:t>2.5GHz</a:t>
            </a:r>
            <a:r>
              <a:rPr kumimoji="1" lang="zh-CN" altLang="en-US" sz="1600" dirty="0">
                <a:cs typeface="+mn-ea"/>
              </a:rPr>
              <a:t>）；理论访存带宽为</a:t>
            </a:r>
            <a:r>
              <a:rPr kumimoji="1" lang="en-US" altLang="zh-CN" sz="1600" dirty="0">
                <a:solidFill>
                  <a:schemeClr val="accent2"/>
                </a:solidFill>
                <a:cs typeface="+mn-ea"/>
              </a:rPr>
              <a:t>51.2GBPS</a:t>
            </a:r>
            <a:r>
              <a:rPr kumimoji="1" lang="zh-CN" altLang="en-US" sz="1600" dirty="0">
                <a:cs typeface="+mn-ea"/>
              </a:rPr>
              <a:t>，</a:t>
            </a:r>
            <a:r>
              <a:rPr kumimoji="1" lang="en-US" altLang="zh-CN" sz="1600" dirty="0">
                <a:cs typeface="+mn-ea"/>
              </a:rPr>
              <a:t>stream</a:t>
            </a:r>
            <a:r>
              <a:rPr kumimoji="1" lang="zh-CN" altLang="en-US" sz="1600" dirty="0">
                <a:cs typeface="+mn-ea"/>
              </a:rPr>
              <a:t>实测访存带宽为</a:t>
            </a:r>
            <a:r>
              <a:rPr kumimoji="1" lang="en-US" altLang="zh-CN" sz="1600" dirty="0" smtClean="0">
                <a:cs typeface="+mn-ea"/>
              </a:rPr>
              <a:t>23.8GBPS</a:t>
            </a:r>
            <a:r>
              <a:rPr kumimoji="1" lang="zh-CN" altLang="en-US" sz="1600" dirty="0" smtClean="0">
                <a:cs typeface="+mn-ea"/>
              </a:rPr>
              <a:t>（</a:t>
            </a:r>
            <a:r>
              <a:rPr kumimoji="1" lang="en-US" altLang="zh-CN" sz="1600" dirty="0" smtClean="0">
                <a:cs typeface="+mn-ea"/>
              </a:rPr>
              <a:t>3A6000</a:t>
            </a:r>
            <a:r>
              <a:rPr kumimoji="1" lang="zh-CN" altLang="en-US" sz="1600" dirty="0" smtClean="0">
                <a:cs typeface="+mn-ea"/>
              </a:rPr>
              <a:t>提高到</a:t>
            </a:r>
            <a:r>
              <a:rPr kumimoji="1" lang="en-US" altLang="zh-CN" sz="1600" dirty="0" smtClean="0">
                <a:cs typeface="+mn-ea"/>
              </a:rPr>
              <a:t>&gt;41GBps</a:t>
            </a:r>
            <a:r>
              <a:rPr kumimoji="1" lang="zh-CN" altLang="en-US" sz="1600" dirty="0" smtClean="0">
                <a:cs typeface="+mn-ea"/>
              </a:rPr>
              <a:t>）</a:t>
            </a:r>
            <a:endParaRPr kumimoji="1" lang="en-US" altLang="zh-CN" sz="1600" dirty="0">
              <a:cs typeface="+mn-ea"/>
            </a:endParaRPr>
          </a:p>
          <a:p>
            <a:pPr lvl="1">
              <a:defRPr/>
            </a:pPr>
            <a:endParaRPr kumimoji="1" lang="en-US" altLang="zh-CN" sz="1800" dirty="0">
              <a:cs typeface="+mn-ea"/>
            </a:endParaRPr>
          </a:p>
          <a:p>
            <a:pPr lvl="1">
              <a:defRPr/>
            </a:pPr>
            <a:endParaRPr kumimoji="1" lang="zh-CN" altLang="en-US" sz="1800" dirty="0">
              <a:cs typeface="+mn-ea"/>
            </a:endParaRPr>
          </a:p>
        </p:txBody>
      </p:sp>
      <p:sp>
        <p:nvSpPr>
          <p:cNvPr id="68612" name="灯片编号占位符 3"/>
          <p:cNvSpPr>
            <a:spLocks noGrp="1" noChangeArrowheads="1"/>
          </p:cNvSpPr>
          <p:nvPr>
            <p:ph type="sldNum" sz="quarter" idx="12"/>
          </p:nvPr>
        </p:nvSpPr>
        <p:spPr>
          <a:noFill/>
        </p:spPr>
        <p:txBody>
          <a:bodyPr/>
          <a:lstStyle/>
          <a:p>
            <a:fld id="{E6BFF6B7-56A3-4ACB-A3F7-3FCA0C5C4025}" type="slidenum">
              <a:rPr lang="en-US" altLang="zh-CN" smtClean="0"/>
            </a:fld>
            <a:endParaRPr lang="en-US" altLang="zh-CN" smtClean="0"/>
          </a:p>
        </p:txBody>
      </p:sp>
      <p:sp>
        <p:nvSpPr>
          <p:cNvPr id="68613" name="Rectangle 2"/>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68614"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68615" name="Rectangle 8"/>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
        <p:nvSpPr>
          <p:cNvPr id="68616"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68617" name="Rectangle 4"/>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
        <p:nvSpPr>
          <p:cNvPr id="68618" name="Rectangle 4"/>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pic>
        <p:nvPicPr>
          <p:cNvPr id="68619" name="图片 11"/>
          <p:cNvPicPr>
            <a:picLocks noChangeAspect="1" noChangeArrowheads="1"/>
          </p:cNvPicPr>
          <p:nvPr/>
        </p:nvPicPr>
        <p:blipFill>
          <a:blip r:embed="rId1" cstate="print"/>
          <a:srcRect/>
          <a:stretch>
            <a:fillRect/>
          </a:stretch>
        </p:blipFill>
        <p:spPr bwMode="auto">
          <a:xfrm>
            <a:off x="792481" y="4067175"/>
            <a:ext cx="5632450" cy="2533650"/>
          </a:xfrm>
          <a:prstGeom prst="rect">
            <a:avLst/>
          </a:prstGeom>
          <a:noFill/>
          <a:ln w="9525">
            <a:noFill/>
            <a:miter lim="800000"/>
            <a:headEnd/>
            <a:tailEnd/>
          </a:ln>
        </p:spPr>
      </p:pic>
      <p:pic>
        <p:nvPicPr>
          <p:cNvPr id="68620" name="图片 16" descr="LS3A5000版图-标注"/>
          <p:cNvPicPr>
            <a:picLocks noChangeAspect="1" noChangeArrowheads="1"/>
          </p:cNvPicPr>
          <p:nvPr/>
        </p:nvPicPr>
        <p:blipFill>
          <a:blip r:embed="rId2" cstate="print"/>
          <a:srcRect/>
          <a:stretch>
            <a:fillRect/>
          </a:stretch>
        </p:blipFill>
        <p:spPr bwMode="auto">
          <a:xfrm>
            <a:off x="7510781" y="4052888"/>
            <a:ext cx="4119562" cy="2382837"/>
          </a:xfrm>
          <a:prstGeom prst="rect">
            <a:avLst/>
          </a:prstGeom>
          <a:noFill/>
          <a:ln w="9525">
            <a:noFill/>
            <a:miter lim="800000"/>
            <a:headEnd/>
            <a:tailEnd/>
          </a:ln>
        </p:spPr>
      </p:pic>
      <p:sp>
        <p:nvSpPr>
          <p:cNvPr id="68621" name="文本框 3"/>
          <p:cNvSpPr txBox="1">
            <a:spLocks noChangeArrowheads="1"/>
          </p:cNvSpPr>
          <p:nvPr/>
        </p:nvSpPr>
        <p:spPr bwMode="auto">
          <a:xfrm>
            <a:off x="7864793" y="6442075"/>
            <a:ext cx="3411538" cy="337185"/>
          </a:xfrm>
          <a:prstGeom prst="rect">
            <a:avLst/>
          </a:prstGeom>
          <a:noFill/>
          <a:ln w="9525">
            <a:noFill/>
            <a:miter lim="800000"/>
          </a:ln>
        </p:spPr>
        <p:txBody>
          <a:bodyPr>
            <a:spAutoFit/>
          </a:bodyPr>
          <a:lstStyle/>
          <a:p>
            <a:pPr algn="ctr"/>
            <a:r>
              <a:rPr lang="zh-CN" altLang="en-US" sz="1600"/>
              <a:t>龙芯</a:t>
            </a:r>
            <a:r>
              <a:rPr lang="en-US" altLang="zh-CN" sz="1600"/>
              <a:t>3A5000</a:t>
            </a:r>
            <a:r>
              <a:rPr lang="zh-CN" altLang="en-US" sz="1600"/>
              <a:t>版图</a:t>
            </a:r>
            <a:endParaRPr lang="zh-CN" altLang="en-US" sz="160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noChangeArrowheads="1"/>
          </p:cNvSpPr>
          <p:nvPr>
            <p:ph type="title"/>
          </p:nvPr>
        </p:nvSpPr>
        <p:spPr>
          <a:xfrm>
            <a:off x="929006" y="0"/>
            <a:ext cx="10361612" cy="882650"/>
          </a:xfrm>
        </p:spPr>
        <p:txBody>
          <a:bodyPr/>
          <a:lstStyle/>
          <a:p>
            <a:r>
              <a:rPr lang="en-US" altLang="zh-CN" smtClean="0"/>
              <a:t>Intel Sandybridge</a:t>
            </a:r>
            <a:r>
              <a:rPr lang="zh-CN" altLang="en-US" smtClean="0"/>
              <a:t>架构</a:t>
            </a:r>
            <a:endParaRPr lang="zh-CN" altLang="en-US" smtClean="0"/>
          </a:p>
        </p:txBody>
      </p:sp>
      <p:sp>
        <p:nvSpPr>
          <p:cNvPr id="69635" name="内容占位符 2"/>
          <p:cNvSpPr>
            <a:spLocks noGrp="1" noChangeArrowheads="1"/>
          </p:cNvSpPr>
          <p:nvPr>
            <p:ph idx="1"/>
          </p:nvPr>
        </p:nvSpPr>
        <p:spPr>
          <a:xfrm>
            <a:off x="127318" y="1227138"/>
            <a:ext cx="12101513" cy="3890962"/>
          </a:xfrm>
        </p:spPr>
        <p:txBody>
          <a:bodyPr/>
          <a:lstStyle/>
          <a:p>
            <a:pPr marL="342900" lvl="1" indent="-342900"/>
            <a:r>
              <a:rPr lang="en-US" altLang="zh-CN" sz="2000" smtClean="0"/>
              <a:t>Sandybridge</a:t>
            </a:r>
            <a:r>
              <a:rPr lang="zh-CN" altLang="zh-CN" sz="2000" smtClean="0"/>
              <a:t>架构于</a:t>
            </a:r>
            <a:r>
              <a:rPr lang="en-US" altLang="zh-CN" sz="2000" smtClean="0"/>
              <a:t>2011</a:t>
            </a:r>
            <a:r>
              <a:rPr lang="zh-CN" altLang="zh-CN" sz="2000" smtClean="0"/>
              <a:t>年推出，</a:t>
            </a:r>
            <a:r>
              <a:rPr lang="en-US" altLang="zh-CN" sz="2000" smtClean="0"/>
              <a:t>32</a:t>
            </a:r>
            <a:r>
              <a:rPr lang="zh-CN" altLang="en-US" sz="2000" smtClean="0"/>
              <a:t>纳米的</a:t>
            </a:r>
            <a:r>
              <a:rPr lang="en-US" altLang="zh-CN" sz="2000" smtClean="0"/>
              <a:t>tock</a:t>
            </a:r>
            <a:endParaRPr lang="en-US" altLang="zh-CN" sz="2000" smtClean="0"/>
          </a:p>
          <a:p>
            <a:pPr marL="742950" lvl="2" indent="-342900"/>
            <a:r>
              <a:rPr lang="zh-CN" altLang="en-US" sz="1600" smtClean="0"/>
              <a:t>组成部分：</a:t>
            </a:r>
            <a:r>
              <a:rPr lang="zh-CN" altLang="zh-CN" sz="1600" smtClean="0"/>
              <a:t>处理器核、环连接、共享</a:t>
            </a:r>
            <a:r>
              <a:rPr lang="en-US" altLang="zh-CN" sz="1600" smtClean="0"/>
              <a:t>L3</a:t>
            </a:r>
            <a:r>
              <a:rPr lang="zh-CN" altLang="zh-CN" sz="1600" smtClean="0"/>
              <a:t>、</a:t>
            </a:r>
            <a:r>
              <a:rPr lang="en-US" altLang="zh-CN" sz="1600" smtClean="0"/>
              <a:t>System Agent</a:t>
            </a:r>
            <a:r>
              <a:rPr lang="zh-CN" altLang="zh-CN" sz="1600" smtClean="0"/>
              <a:t>和</a:t>
            </a:r>
            <a:r>
              <a:rPr lang="en-US" altLang="zh-CN" sz="1600" smtClean="0"/>
              <a:t>GPU</a:t>
            </a:r>
            <a:endParaRPr lang="en-US" altLang="zh-CN" sz="1600" smtClean="0"/>
          </a:p>
          <a:p>
            <a:pPr marL="742950" lvl="2" indent="-342900"/>
            <a:r>
              <a:rPr lang="zh-CN" altLang="zh-CN" sz="1600" smtClean="0"/>
              <a:t>处理器采用乱序执行技术</a:t>
            </a:r>
            <a:r>
              <a:rPr lang="zh-CN" altLang="en-US" sz="1600" smtClean="0"/>
              <a:t>、</a:t>
            </a:r>
            <a:r>
              <a:rPr lang="zh-CN" altLang="zh-CN" sz="1600" smtClean="0"/>
              <a:t>支持双线程</a:t>
            </a:r>
            <a:r>
              <a:rPr lang="zh-CN" altLang="en-US" sz="1600" smtClean="0"/>
              <a:t>、</a:t>
            </a:r>
            <a:r>
              <a:rPr lang="zh-CN" altLang="zh-CN" sz="1600" smtClean="0"/>
              <a:t>支持</a:t>
            </a:r>
            <a:r>
              <a:rPr lang="en-US" altLang="zh-CN" sz="1600" smtClean="0"/>
              <a:t>256</a:t>
            </a:r>
            <a:r>
              <a:rPr lang="zh-CN" altLang="en-US" sz="1600" smtClean="0"/>
              <a:t>位</a:t>
            </a:r>
            <a:r>
              <a:rPr lang="en-US" altLang="zh-CN" sz="1600" smtClean="0"/>
              <a:t>AVX</a:t>
            </a:r>
            <a:r>
              <a:rPr lang="zh-CN" altLang="zh-CN" sz="1600" smtClean="0"/>
              <a:t>向量指令集扩展</a:t>
            </a:r>
            <a:endParaRPr lang="en-US" altLang="zh-CN" sz="1600" smtClean="0"/>
          </a:p>
          <a:p>
            <a:pPr marL="742950" lvl="2" indent="-342900"/>
            <a:r>
              <a:rPr lang="en-US" altLang="zh-CN" sz="1600" smtClean="0"/>
              <a:t>System Agent</a:t>
            </a:r>
            <a:r>
              <a:rPr lang="zh-CN" altLang="en-US" sz="1600" smtClean="0"/>
              <a:t>包括内存控制、</a:t>
            </a:r>
            <a:r>
              <a:rPr lang="en-US" altLang="zh-CN" sz="1600" smtClean="0"/>
              <a:t>PCIE</a:t>
            </a:r>
            <a:r>
              <a:rPr lang="zh-CN" altLang="en-US" sz="1600" smtClean="0"/>
              <a:t>接口、</a:t>
            </a:r>
            <a:r>
              <a:rPr lang="zh-CN" altLang="zh-CN" sz="1600" smtClean="0"/>
              <a:t>显示引擎</a:t>
            </a:r>
            <a:r>
              <a:rPr lang="zh-CN" altLang="en-US" sz="1600" smtClean="0"/>
              <a:t>、功耗控制单元等</a:t>
            </a:r>
            <a:endParaRPr lang="en-US" altLang="zh-CN" sz="1600" smtClean="0"/>
          </a:p>
          <a:p>
            <a:pPr marL="742950" lvl="2" indent="-342900"/>
            <a:r>
              <a:rPr lang="en-US" altLang="zh-CN" sz="1600" smtClean="0"/>
              <a:t>L3</a:t>
            </a:r>
            <a:r>
              <a:rPr lang="zh-CN" altLang="zh-CN" sz="1600" smtClean="0"/>
              <a:t>（</a:t>
            </a:r>
            <a:r>
              <a:rPr lang="en-US" altLang="zh-CN" sz="1600" smtClean="0"/>
              <a:t>LLC</a:t>
            </a:r>
            <a:r>
              <a:rPr lang="zh-CN" altLang="zh-CN" sz="1600" smtClean="0"/>
              <a:t>）在处理器核</a:t>
            </a:r>
            <a:r>
              <a:rPr lang="zh-CN" altLang="en-US" sz="1600" smtClean="0"/>
              <a:t>、</a:t>
            </a:r>
            <a:r>
              <a:rPr lang="zh-CN" altLang="zh-CN" sz="1600" smtClean="0"/>
              <a:t>图形核心</a:t>
            </a:r>
            <a:r>
              <a:rPr lang="zh-CN" altLang="en-US" sz="1600" smtClean="0"/>
              <a:t>和</a:t>
            </a:r>
            <a:r>
              <a:rPr lang="zh-CN" altLang="zh-CN" sz="1600" smtClean="0"/>
              <a:t>系统代理之间共享</a:t>
            </a:r>
            <a:endParaRPr lang="en-US" altLang="zh-CN" sz="1600" smtClean="0"/>
          </a:p>
          <a:p>
            <a:pPr marL="742950" lvl="2" indent="-342900"/>
            <a:r>
              <a:rPr lang="zh-CN" altLang="en-US" sz="1600" smtClean="0"/>
              <a:t>采用侦听一致性协议，随后的</a:t>
            </a:r>
            <a:r>
              <a:rPr lang="en-US" altLang="zh-CN" sz="1600" smtClean="0"/>
              <a:t>IvyBridge</a:t>
            </a:r>
            <a:r>
              <a:rPr lang="zh-CN" altLang="en-US" sz="1600" smtClean="0"/>
              <a:t>开始采用目录协议</a:t>
            </a:r>
            <a:endParaRPr lang="en-US" altLang="zh-CN" sz="1600" smtClean="0"/>
          </a:p>
          <a:p>
            <a:pPr marL="742950" lvl="2" indent="-342900"/>
            <a:r>
              <a:rPr lang="zh-CN" altLang="en-US" sz="1600" smtClean="0"/>
              <a:t>峰值性能为</a:t>
            </a:r>
            <a:r>
              <a:rPr lang="en-US" altLang="zh-CN" sz="1600" smtClean="0">
                <a:solidFill>
                  <a:schemeClr val="accent2"/>
                </a:solidFill>
              </a:rPr>
              <a:t>96GFLOPS</a:t>
            </a:r>
            <a:r>
              <a:rPr lang="zh-CN" altLang="en-US" sz="1600" smtClean="0"/>
              <a:t>（</a:t>
            </a:r>
            <a:r>
              <a:rPr lang="en-US" altLang="zh-CN" sz="1600" smtClean="0"/>
              <a:t>4</a:t>
            </a:r>
            <a:r>
              <a:rPr lang="zh-CN" altLang="en-US" sz="1600" smtClean="0"/>
              <a:t>核、</a:t>
            </a:r>
            <a:r>
              <a:rPr lang="en-US" altLang="zh-CN" sz="1600" smtClean="0"/>
              <a:t>3GHz</a:t>
            </a:r>
            <a:r>
              <a:rPr lang="zh-CN" altLang="en-US" sz="1600" smtClean="0"/>
              <a:t>、</a:t>
            </a:r>
            <a:r>
              <a:rPr lang="en-US" altLang="zh-CN" sz="1600" smtClean="0"/>
              <a:t>128</a:t>
            </a:r>
            <a:r>
              <a:rPr lang="zh-CN" altLang="en-US" sz="1600" smtClean="0"/>
              <a:t>位向量），理论访存带宽</a:t>
            </a:r>
            <a:r>
              <a:rPr lang="en-US" altLang="zh-CN" sz="1600" smtClean="0">
                <a:solidFill>
                  <a:schemeClr val="accent2"/>
                </a:solidFill>
              </a:rPr>
              <a:t>25.6GBPS</a:t>
            </a:r>
            <a:r>
              <a:rPr lang="zh-CN" altLang="en-US" sz="1600" smtClean="0"/>
              <a:t>，</a:t>
            </a:r>
            <a:r>
              <a:rPr lang="en-US" altLang="zh-CN" sz="1600" smtClean="0"/>
              <a:t>stream</a:t>
            </a:r>
            <a:r>
              <a:rPr lang="zh-CN" altLang="en-US" sz="1600" smtClean="0"/>
              <a:t>实测访存带宽</a:t>
            </a:r>
            <a:r>
              <a:rPr lang="en-US" altLang="zh-CN" sz="1600" smtClean="0"/>
              <a:t>14~16GBPS</a:t>
            </a:r>
            <a:endParaRPr lang="en-US" altLang="zh-CN" sz="2400" smtClean="0"/>
          </a:p>
        </p:txBody>
      </p:sp>
      <p:sp>
        <p:nvSpPr>
          <p:cNvPr id="69636" name="灯片编号占位符 3"/>
          <p:cNvSpPr>
            <a:spLocks noGrp="1" noChangeArrowheads="1"/>
          </p:cNvSpPr>
          <p:nvPr>
            <p:ph type="sldNum" sz="quarter" idx="12"/>
          </p:nvPr>
        </p:nvSpPr>
        <p:spPr>
          <a:noFill/>
        </p:spPr>
        <p:txBody>
          <a:bodyPr/>
          <a:lstStyle/>
          <a:p>
            <a:fld id="{F186BC94-8D57-4EC0-A80F-6E387345952E}" type="slidenum">
              <a:rPr lang="en-US" altLang="zh-CN" smtClean="0"/>
            </a:fld>
            <a:endParaRPr lang="en-US" altLang="zh-CN" smtClean="0"/>
          </a:p>
        </p:txBody>
      </p:sp>
      <p:sp>
        <p:nvSpPr>
          <p:cNvPr id="69637" name="Rectangle 2"/>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69638"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69639" name="Rectangle 8"/>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
        <p:nvSpPr>
          <p:cNvPr id="69640"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69641" name="Rectangle 4"/>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
        <p:nvSpPr>
          <p:cNvPr id="69642" name="Rectangle 4"/>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pic>
        <p:nvPicPr>
          <p:cNvPr id="69643" name="图片 12"/>
          <p:cNvPicPr>
            <a:picLocks noChangeAspect="1" noChangeArrowheads="1"/>
          </p:cNvPicPr>
          <p:nvPr/>
        </p:nvPicPr>
        <p:blipFill>
          <a:blip r:embed="rId1" cstate="print"/>
          <a:srcRect/>
          <a:stretch>
            <a:fillRect/>
          </a:stretch>
        </p:blipFill>
        <p:spPr bwMode="auto">
          <a:xfrm>
            <a:off x="7577456" y="4745038"/>
            <a:ext cx="4613275" cy="21129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xfrm>
            <a:off x="722631" y="0"/>
            <a:ext cx="10361612" cy="1143000"/>
          </a:xfrm>
        </p:spPr>
        <p:txBody>
          <a:bodyPr/>
          <a:lstStyle/>
          <a:p>
            <a:r>
              <a:rPr lang="zh-CN" altLang="en-US" smtClean="0"/>
              <a:t>龙芯</a:t>
            </a:r>
            <a:r>
              <a:rPr lang="en-US" altLang="zh-CN" smtClean="0"/>
              <a:t>3C6000</a:t>
            </a:r>
            <a:r>
              <a:rPr lang="zh-CN" altLang="en-US" smtClean="0"/>
              <a:t>多核处理器</a:t>
            </a:r>
            <a:endParaRPr lang="zh-CN" altLang="en-US" smtClean="0"/>
          </a:p>
        </p:txBody>
      </p:sp>
      <p:pic>
        <p:nvPicPr>
          <p:cNvPr id="70659" name="图片 7"/>
          <p:cNvPicPr>
            <a:picLocks noChangeAspect="1"/>
          </p:cNvPicPr>
          <p:nvPr/>
        </p:nvPicPr>
        <p:blipFill>
          <a:blip r:embed="rId1" cstate="print"/>
          <a:srcRect/>
          <a:stretch>
            <a:fillRect/>
          </a:stretch>
        </p:blipFill>
        <p:spPr bwMode="auto">
          <a:xfrm>
            <a:off x="8099743" y="3860800"/>
            <a:ext cx="3690938" cy="1792288"/>
          </a:xfrm>
          <a:prstGeom prst="rect">
            <a:avLst/>
          </a:prstGeom>
          <a:noFill/>
          <a:ln w="9525">
            <a:noFill/>
            <a:miter lim="800000"/>
            <a:headEnd/>
            <a:tailEnd/>
          </a:ln>
        </p:spPr>
      </p:pic>
      <p:pic>
        <p:nvPicPr>
          <p:cNvPr id="70660" name="内容占位符 3"/>
          <p:cNvPicPr>
            <a:picLocks noGrp="1" noChangeAspect="1"/>
          </p:cNvPicPr>
          <p:nvPr>
            <p:ph idx="1"/>
          </p:nvPr>
        </p:nvPicPr>
        <p:blipFill>
          <a:blip r:embed="rId2" cstate="print"/>
          <a:srcRect/>
          <a:stretch>
            <a:fillRect/>
          </a:stretch>
        </p:blipFill>
        <p:spPr>
          <a:xfrm>
            <a:off x="8099743" y="1773238"/>
            <a:ext cx="3654425" cy="1682750"/>
          </a:xfrm>
        </p:spPr>
      </p:pic>
      <p:sp>
        <p:nvSpPr>
          <p:cNvPr id="6" name="Rectangle 3"/>
          <p:cNvSpPr txBox="1">
            <a:spLocks noChangeArrowheads="1"/>
          </p:cNvSpPr>
          <p:nvPr/>
        </p:nvSpPr>
        <p:spPr bwMode="auto">
          <a:xfrm>
            <a:off x="160656" y="981075"/>
            <a:ext cx="8099425" cy="5616575"/>
          </a:xfrm>
          <a:prstGeom prst="rect">
            <a:avLst/>
          </a:prstGeom>
          <a:noFill/>
          <a:ln w="9525">
            <a:noFill/>
            <a:miter lim="800000"/>
          </a:ln>
        </p:spPr>
        <p:txBody>
          <a:bodyPr lIns="82081" tIns="41040" rIns="82081" bIns="41040"/>
          <a:lstStyle/>
          <a:p>
            <a:pPr marL="342900" indent="-342900" hangingPunct="0">
              <a:lnSpc>
                <a:spcPct val="150000"/>
              </a:lnSpc>
              <a:spcBef>
                <a:spcPts val="600"/>
              </a:spcBef>
              <a:buFont typeface="Arial" panose="02080604020202020204" pitchFamily="34" charset="0"/>
              <a:buChar char="•"/>
            </a:pPr>
            <a:r>
              <a:rPr lang="zh-CN" altLang="en-US" sz="1800" b="1">
                <a:solidFill>
                  <a:srgbClr val="000000"/>
                </a:solidFill>
                <a:latin typeface="宋体" panose="02000500000000000000" pitchFamily="2" charset="-122"/>
              </a:rPr>
              <a:t>单硅片</a:t>
            </a:r>
            <a:r>
              <a:rPr lang="en-US" altLang="zh-CN" sz="1800" b="1">
                <a:solidFill>
                  <a:srgbClr val="000000"/>
                </a:solidFill>
                <a:latin typeface="宋体" panose="02000500000000000000" pitchFamily="2" charset="-122"/>
              </a:rPr>
              <a:t>16</a:t>
            </a:r>
            <a:r>
              <a:rPr lang="zh-CN" altLang="en-US" sz="1800" b="1">
                <a:solidFill>
                  <a:srgbClr val="000000"/>
                </a:solidFill>
                <a:latin typeface="宋体" panose="02000500000000000000" pitchFamily="2" charset="-122"/>
              </a:rPr>
              <a:t>核</a:t>
            </a:r>
            <a:r>
              <a:rPr lang="en-US" altLang="zh-CN" sz="1800" b="1">
                <a:solidFill>
                  <a:srgbClr val="000000"/>
                </a:solidFill>
                <a:latin typeface="宋体" panose="02000500000000000000" pitchFamily="2" charset="-122"/>
              </a:rPr>
              <a:t>32</a:t>
            </a:r>
            <a:r>
              <a:rPr lang="zh-CN" altLang="en-US" sz="1800" b="1">
                <a:solidFill>
                  <a:srgbClr val="000000"/>
                </a:solidFill>
                <a:latin typeface="宋体" panose="02000500000000000000" pitchFamily="2" charset="-122"/>
              </a:rPr>
              <a:t>线程（</a:t>
            </a:r>
            <a:r>
              <a:rPr lang="en-US" altLang="zh-CN" sz="1800" b="1">
                <a:solidFill>
                  <a:srgbClr val="000000"/>
                </a:solidFill>
                <a:latin typeface="宋体" panose="02000500000000000000" pitchFamily="2" charset="-122"/>
              </a:rPr>
              <a:t>LA664</a:t>
            </a:r>
            <a:r>
              <a:rPr lang="zh-CN" altLang="en-US" sz="1800" b="1">
                <a:solidFill>
                  <a:srgbClr val="000000"/>
                </a:solidFill>
                <a:latin typeface="宋体" panose="02000500000000000000" pitchFamily="2" charset="-122"/>
              </a:rPr>
              <a:t>），通用处理性能</a:t>
            </a:r>
            <a:r>
              <a:rPr lang="zh-CN" altLang="en-US" sz="1800" b="1">
                <a:solidFill>
                  <a:srgbClr val="FF0000"/>
                </a:solidFill>
                <a:latin typeface="宋体" panose="02000500000000000000" pitchFamily="2" charset="-122"/>
              </a:rPr>
              <a:t>成倍提升</a:t>
            </a:r>
            <a:endParaRPr lang="zh-CN" altLang="en-US" sz="1800" b="1">
              <a:solidFill>
                <a:srgbClr val="FF0000"/>
              </a:solidFill>
              <a:latin typeface="宋体" panose="02000500000000000000" pitchFamily="2" charset="-122"/>
            </a:endParaRPr>
          </a:p>
          <a:p>
            <a:pPr marL="742950" lvl="1" indent="-285750" hangingPunct="0">
              <a:lnSpc>
                <a:spcPct val="150000"/>
              </a:lnSpc>
              <a:spcBef>
                <a:spcPts val="300"/>
              </a:spcBef>
              <a:buFont typeface="Arial" panose="02080604020202020204" pitchFamily="34" charset="0"/>
              <a:buChar char="•"/>
            </a:pPr>
            <a:r>
              <a:rPr lang="zh-CN" altLang="en-US" sz="1400" b="1">
                <a:solidFill>
                  <a:srgbClr val="000000"/>
                </a:solidFill>
                <a:latin typeface="宋体" panose="02000500000000000000" pitchFamily="2" charset="-122"/>
              </a:rPr>
              <a:t>内存</a:t>
            </a:r>
            <a:r>
              <a:rPr lang="en-US" altLang="zh-CN" sz="1400" b="1">
                <a:solidFill>
                  <a:srgbClr val="000000"/>
                </a:solidFill>
                <a:latin typeface="宋体" panose="02000500000000000000" pitchFamily="2" charset="-122"/>
              </a:rPr>
              <a:t>DDR4-3200</a:t>
            </a:r>
            <a:r>
              <a:rPr lang="zh-CN" altLang="en-US" sz="1400" b="1">
                <a:solidFill>
                  <a:srgbClr val="000000"/>
                </a:solidFill>
                <a:latin typeface="宋体" panose="02000500000000000000" pitchFamily="2" charset="-122"/>
              </a:rPr>
              <a:t>×</a:t>
            </a:r>
            <a:r>
              <a:rPr lang="en-US" altLang="zh-CN" sz="1400" b="1">
                <a:solidFill>
                  <a:srgbClr val="000000"/>
                </a:solidFill>
                <a:latin typeface="宋体" panose="02000500000000000000" pitchFamily="2" charset="-122"/>
              </a:rPr>
              <a:t>4</a:t>
            </a:r>
            <a:r>
              <a:rPr lang="zh-CN" altLang="en-US" sz="1400" b="1">
                <a:solidFill>
                  <a:srgbClr val="000000"/>
                </a:solidFill>
                <a:latin typeface="宋体" panose="02000500000000000000" pitchFamily="2" charset="-122"/>
              </a:rPr>
              <a:t>：访存带宽比上一代</a:t>
            </a:r>
            <a:r>
              <a:rPr lang="en-US" altLang="zh-CN" sz="1400" b="1">
                <a:solidFill>
                  <a:srgbClr val="000000"/>
                </a:solidFill>
                <a:latin typeface="宋体" panose="02000500000000000000" pitchFamily="2" charset="-122"/>
              </a:rPr>
              <a:t>3C5000</a:t>
            </a:r>
            <a:r>
              <a:rPr lang="zh-CN" altLang="en-US" sz="1400" b="1">
                <a:solidFill>
                  <a:schemeClr val="accent2"/>
                </a:solidFill>
                <a:latin typeface="宋体" panose="02000500000000000000" pitchFamily="2" charset="-122"/>
              </a:rPr>
              <a:t>成倍提高</a:t>
            </a:r>
            <a:endParaRPr lang="en-US" altLang="zh-CN" sz="1400" b="1">
              <a:solidFill>
                <a:schemeClr val="accent2"/>
              </a:solidFill>
              <a:latin typeface="宋体" panose="02000500000000000000" pitchFamily="2" charset="-122"/>
            </a:endParaRPr>
          </a:p>
          <a:p>
            <a:pPr marL="742950" lvl="1" indent="-285750" hangingPunct="0">
              <a:lnSpc>
                <a:spcPct val="150000"/>
              </a:lnSpc>
              <a:spcBef>
                <a:spcPts val="300"/>
              </a:spcBef>
              <a:buFont typeface="Arial" panose="02080604020202020204" pitchFamily="34" charset="0"/>
              <a:buChar char="•"/>
            </a:pPr>
            <a:r>
              <a:rPr lang="en-US" altLang="zh-CN" sz="1400" b="1">
                <a:solidFill>
                  <a:srgbClr val="000000"/>
                </a:solidFill>
                <a:latin typeface="宋体" panose="02000500000000000000" pitchFamily="2" charset="-122"/>
              </a:rPr>
              <a:t>PCIE4</a:t>
            </a:r>
            <a:r>
              <a:rPr lang="zh-CN" altLang="en-US" sz="1400" b="1">
                <a:solidFill>
                  <a:srgbClr val="000000"/>
                </a:solidFill>
                <a:latin typeface="宋体" panose="02000500000000000000" pitchFamily="2" charset="-122"/>
              </a:rPr>
              <a:t>×</a:t>
            </a:r>
            <a:r>
              <a:rPr lang="en-US" altLang="zh-CN" sz="1400" b="1">
                <a:solidFill>
                  <a:srgbClr val="000000"/>
                </a:solidFill>
                <a:latin typeface="宋体" panose="02000500000000000000" pitchFamily="2" charset="-122"/>
              </a:rPr>
              <a:t>64</a:t>
            </a:r>
            <a:r>
              <a:rPr lang="zh-CN" altLang="en-US" sz="1400" b="1">
                <a:solidFill>
                  <a:srgbClr val="000000"/>
                </a:solidFill>
                <a:latin typeface="宋体" panose="02000500000000000000" pitchFamily="2" charset="-122"/>
              </a:rPr>
              <a:t>：</a:t>
            </a:r>
            <a:r>
              <a:rPr lang="en-US" altLang="zh-CN" sz="1400" b="1">
                <a:solidFill>
                  <a:srgbClr val="000000"/>
                </a:solidFill>
                <a:latin typeface="宋体" panose="02000500000000000000" pitchFamily="2" charset="-122"/>
              </a:rPr>
              <a:t>IO</a:t>
            </a:r>
            <a:r>
              <a:rPr lang="zh-CN" altLang="en-US" sz="1400" b="1">
                <a:solidFill>
                  <a:srgbClr val="000000"/>
                </a:solidFill>
                <a:latin typeface="宋体" panose="02000500000000000000" pitchFamily="2" charset="-122"/>
              </a:rPr>
              <a:t>性能比上一代</a:t>
            </a:r>
            <a:r>
              <a:rPr lang="en-US" altLang="zh-CN" sz="1400" b="1">
                <a:solidFill>
                  <a:srgbClr val="000000"/>
                </a:solidFill>
                <a:latin typeface="宋体" panose="02000500000000000000" pitchFamily="2" charset="-122"/>
              </a:rPr>
              <a:t>3C5000</a:t>
            </a:r>
            <a:r>
              <a:rPr lang="zh-CN" altLang="en-US" sz="1400" b="1">
                <a:solidFill>
                  <a:srgbClr val="000000"/>
                </a:solidFill>
                <a:latin typeface="宋体" panose="02000500000000000000" pitchFamily="2" charset="-122"/>
              </a:rPr>
              <a:t>成</a:t>
            </a:r>
            <a:r>
              <a:rPr lang="zh-CN" altLang="en-US" sz="1400" b="1">
                <a:solidFill>
                  <a:schemeClr val="accent2"/>
                </a:solidFill>
                <a:latin typeface="宋体" panose="02000500000000000000" pitchFamily="2" charset="-122"/>
              </a:rPr>
              <a:t>数量级提高</a:t>
            </a:r>
            <a:endParaRPr lang="en-US" altLang="zh-CN" sz="1400" b="1">
              <a:solidFill>
                <a:schemeClr val="accent2"/>
              </a:solidFill>
              <a:latin typeface="宋体" panose="02000500000000000000" pitchFamily="2" charset="-122"/>
            </a:endParaRPr>
          </a:p>
          <a:p>
            <a:pPr marL="742950" lvl="1" indent="-285750" hangingPunct="0">
              <a:lnSpc>
                <a:spcPct val="150000"/>
              </a:lnSpc>
              <a:spcBef>
                <a:spcPts val="300"/>
              </a:spcBef>
              <a:buFont typeface="Arial" panose="02080604020202020204" pitchFamily="34" charset="0"/>
              <a:buChar char="•"/>
            </a:pPr>
            <a:r>
              <a:rPr lang="zh-CN" altLang="en-US" sz="1400" b="1">
                <a:solidFill>
                  <a:srgbClr val="000000"/>
                </a:solidFill>
                <a:latin typeface="宋体" panose="02000500000000000000" pitchFamily="2" charset="-122"/>
                <a:sym typeface="+mn-ea"/>
              </a:rPr>
              <a:t>支持高性能国密标准加解密算法：</a:t>
            </a:r>
            <a:r>
              <a:rPr lang="en-US" altLang="zh-CN" sz="1400" b="1">
                <a:solidFill>
                  <a:schemeClr val="accent2"/>
                </a:solidFill>
                <a:latin typeface="宋体" panose="02000500000000000000" pitchFamily="2" charset="-122"/>
                <a:sym typeface="+mn-ea"/>
              </a:rPr>
              <a:t>SM4</a:t>
            </a:r>
            <a:r>
              <a:rPr lang="zh-CN" altLang="en-US" sz="1400" b="1">
                <a:solidFill>
                  <a:schemeClr val="accent2"/>
                </a:solidFill>
                <a:latin typeface="宋体" panose="02000500000000000000" pitchFamily="2" charset="-122"/>
                <a:sym typeface="+mn-ea"/>
              </a:rPr>
              <a:t>带宽</a:t>
            </a:r>
            <a:r>
              <a:rPr lang="en-US" altLang="zh-CN" sz="1400" b="1">
                <a:solidFill>
                  <a:schemeClr val="accent2"/>
                </a:solidFill>
                <a:latin typeface="宋体" panose="02000500000000000000" pitchFamily="2" charset="-122"/>
                <a:sym typeface="+mn-ea"/>
              </a:rPr>
              <a:t>&gt;30Gbps</a:t>
            </a:r>
            <a:endParaRPr lang="en-US" altLang="zh-CN" sz="1400" b="1">
              <a:solidFill>
                <a:schemeClr val="accent2"/>
              </a:solidFill>
              <a:latin typeface="宋体" panose="02000500000000000000" pitchFamily="2" charset="-122"/>
              <a:sym typeface="+mn-ea"/>
            </a:endParaRPr>
          </a:p>
          <a:p>
            <a:pPr marL="742950" lvl="1" indent="-285750" hangingPunct="0">
              <a:lnSpc>
                <a:spcPct val="150000"/>
              </a:lnSpc>
              <a:spcBef>
                <a:spcPts val="300"/>
              </a:spcBef>
              <a:buFont typeface="Arial" panose="02080604020202020204" pitchFamily="34" charset="0"/>
              <a:buChar char="•"/>
            </a:pPr>
            <a:r>
              <a:rPr lang="zh-CN" altLang="en-US" sz="1400" b="1">
                <a:solidFill>
                  <a:schemeClr val="accent2"/>
                </a:solidFill>
                <a:latin typeface="宋体" panose="02000500000000000000" pitchFamily="2" charset="-122"/>
                <a:sym typeface="+mn-ea"/>
              </a:rPr>
              <a:t>峰值运算速度</a:t>
            </a:r>
            <a:r>
              <a:rPr lang="en-US" altLang="zh-CN" sz="1400" b="1">
                <a:solidFill>
                  <a:schemeClr val="accent2"/>
                </a:solidFill>
                <a:latin typeface="宋体" panose="02000500000000000000" pitchFamily="2" charset="-122"/>
                <a:sym typeface="+mn-ea"/>
              </a:rPr>
              <a:t>512GFLOPS</a:t>
            </a:r>
            <a:r>
              <a:rPr lang="zh-CN" altLang="en-US" sz="1400" b="1">
                <a:solidFill>
                  <a:schemeClr val="accent2"/>
                </a:solidFill>
                <a:latin typeface="宋体" panose="02000500000000000000" pitchFamily="2" charset="-122"/>
                <a:sym typeface="+mn-ea"/>
              </a:rPr>
              <a:t>，访存峰值带宽</a:t>
            </a:r>
            <a:r>
              <a:rPr lang="en-US" altLang="zh-CN" sz="1400" b="1">
                <a:solidFill>
                  <a:schemeClr val="accent2"/>
                </a:solidFill>
                <a:latin typeface="宋体" panose="02000500000000000000" pitchFamily="2" charset="-122"/>
                <a:sym typeface="+mn-ea"/>
              </a:rPr>
              <a:t>102.4GBps</a:t>
            </a:r>
            <a:endParaRPr lang="zh-CN" altLang="en-US" sz="1800" b="1">
              <a:solidFill>
                <a:schemeClr val="accent2"/>
              </a:solidFill>
              <a:latin typeface="宋体" panose="02000500000000000000" pitchFamily="2" charset="-122"/>
            </a:endParaRPr>
          </a:p>
          <a:p>
            <a:pPr marL="342900" indent="-342900" hangingPunct="0">
              <a:lnSpc>
                <a:spcPct val="150000"/>
              </a:lnSpc>
              <a:spcBef>
                <a:spcPts val="300"/>
              </a:spcBef>
              <a:buFont typeface="Arial" panose="02080604020202020204" pitchFamily="34" charset="0"/>
              <a:buChar char="•"/>
            </a:pPr>
            <a:r>
              <a:rPr lang="zh-CN" altLang="en-US" sz="1800" b="1">
                <a:solidFill>
                  <a:srgbClr val="000000"/>
                </a:solidFill>
                <a:latin typeface="宋体" panose="02000500000000000000" pitchFamily="2" charset="-122"/>
                <a:sym typeface="+mn-ea"/>
              </a:rPr>
              <a:t>片内采用类</a:t>
            </a:r>
            <a:r>
              <a:rPr lang="en-US" altLang="zh-CN" sz="1800" b="1">
                <a:solidFill>
                  <a:srgbClr val="000000"/>
                </a:solidFill>
                <a:latin typeface="宋体" panose="02000500000000000000" pitchFamily="2" charset="-122"/>
                <a:sym typeface="+mn-ea"/>
              </a:rPr>
              <a:t>Mesh</a:t>
            </a:r>
            <a:r>
              <a:rPr lang="zh-CN" altLang="en-US" sz="1800" b="1">
                <a:solidFill>
                  <a:srgbClr val="000000"/>
                </a:solidFill>
                <a:latin typeface="宋体" panose="02000500000000000000" pitchFamily="2" charset="-122"/>
                <a:sym typeface="+mn-ea"/>
              </a:rPr>
              <a:t>结构（</a:t>
            </a:r>
            <a:r>
              <a:rPr lang="en-US" altLang="zh-CN" sz="1800" b="1">
                <a:solidFill>
                  <a:srgbClr val="000000"/>
                </a:solidFill>
                <a:latin typeface="宋体" panose="02000500000000000000" pitchFamily="2" charset="-122"/>
                <a:sym typeface="+mn-ea"/>
              </a:rPr>
              <a:t>2</a:t>
            </a:r>
            <a:r>
              <a:rPr lang="zh-CN" altLang="en-US" sz="1800" b="1">
                <a:solidFill>
                  <a:srgbClr val="000000"/>
                </a:solidFill>
                <a:latin typeface="宋体" panose="02000500000000000000" pitchFamily="2" charset="-122"/>
                <a:sym typeface="+mn-ea"/>
              </a:rPr>
              <a:t>*</a:t>
            </a:r>
            <a:r>
              <a:rPr lang="en-US" altLang="zh-CN" sz="1800" b="1">
                <a:solidFill>
                  <a:srgbClr val="000000"/>
                </a:solidFill>
                <a:latin typeface="宋体" panose="02000500000000000000" pitchFamily="2" charset="-122"/>
                <a:sym typeface="+mn-ea"/>
              </a:rPr>
              <a:t>11</a:t>
            </a:r>
            <a:r>
              <a:rPr lang="zh-CN" altLang="en-US" sz="1800" b="1">
                <a:solidFill>
                  <a:srgbClr val="000000"/>
                </a:solidFill>
                <a:latin typeface="宋体" panose="02000500000000000000" pitchFamily="2" charset="-122"/>
                <a:sym typeface="+mn-ea"/>
              </a:rPr>
              <a:t>）互连</a:t>
            </a:r>
            <a:endParaRPr lang="en-US" altLang="zh-CN" sz="1800" b="1">
              <a:solidFill>
                <a:srgbClr val="000000"/>
              </a:solidFill>
              <a:latin typeface="宋体" panose="02000500000000000000" pitchFamily="2" charset="-122"/>
              <a:sym typeface="+mn-ea"/>
            </a:endParaRPr>
          </a:p>
          <a:p>
            <a:pPr marL="742950" lvl="1" indent="-285750" hangingPunct="0">
              <a:lnSpc>
                <a:spcPct val="150000"/>
              </a:lnSpc>
              <a:spcBef>
                <a:spcPts val="300"/>
              </a:spcBef>
              <a:buFont typeface="Arial" panose="02080604020202020204" pitchFamily="34" charset="0"/>
              <a:buChar char="•"/>
            </a:pPr>
            <a:r>
              <a:rPr lang="zh-CN" altLang="en-US" sz="1400" b="1">
                <a:solidFill>
                  <a:srgbClr val="000000"/>
                </a:solidFill>
                <a:latin typeface="宋体" panose="02000500000000000000" pitchFamily="2" charset="-122"/>
                <a:sym typeface="+mn-ea"/>
              </a:rPr>
              <a:t>为了降低延迟，纵向加拍</a:t>
            </a:r>
            <a:endParaRPr lang="en-US" altLang="zh-CN" sz="1400" b="1">
              <a:solidFill>
                <a:srgbClr val="000000"/>
              </a:solidFill>
              <a:latin typeface="宋体" panose="02000500000000000000" pitchFamily="2" charset="-122"/>
              <a:sym typeface="+mn-ea"/>
            </a:endParaRPr>
          </a:p>
          <a:p>
            <a:pPr marL="742950" lvl="1" indent="-285750" hangingPunct="0">
              <a:lnSpc>
                <a:spcPct val="150000"/>
              </a:lnSpc>
              <a:spcBef>
                <a:spcPts val="300"/>
              </a:spcBef>
              <a:buFont typeface="Arial" panose="02080604020202020204" pitchFamily="34" charset="0"/>
              <a:buChar char="•"/>
            </a:pPr>
            <a:r>
              <a:rPr lang="zh-CN" altLang="en-US" sz="1400" b="1">
                <a:solidFill>
                  <a:srgbClr val="000000"/>
                </a:solidFill>
                <a:latin typeface="宋体" panose="02000500000000000000" pitchFamily="2" charset="-122"/>
                <a:sym typeface="+mn-ea"/>
              </a:rPr>
              <a:t>内存控制器结点在中间位置</a:t>
            </a:r>
            <a:endParaRPr lang="en-US" altLang="zh-CN" sz="1400" b="1">
              <a:solidFill>
                <a:srgbClr val="000000"/>
              </a:solidFill>
              <a:latin typeface="宋体" panose="02000500000000000000" pitchFamily="2" charset="-122"/>
              <a:sym typeface="+mn-ea"/>
            </a:endParaRPr>
          </a:p>
          <a:p>
            <a:pPr marL="742950" lvl="1" indent="-285750" hangingPunct="0">
              <a:lnSpc>
                <a:spcPct val="150000"/>
              </a:lnSpc>
              <a:spcBef>
                <a:spcPts val="300"/>
              </a:spcBef>
              <a:buFont typeface="Arial" panose="02080604020202020204" pitchFamily="34" charset="0"/>
              <a:buChar char="•"/>
            </a:pPr>
            <a:r>
              <a:rPr lang="en-US" altLang="zh-CN" sz="1400" b="1">
                <a:solidFill>
                  <a:srgbClr val="000000"/>
                </a:solidFill>
                <a:latin typeface="宋体" panose="02000500000000000000" pitchFamily="2" charset="-122"/>
                <a:sym typeface="+mn-ea"/>
              </a:rPr>
              <a:t>IO</a:t>
            </a:r>
            <a:r>
              <a:rPr lang="zh-CN" altLang="en-US" sz="1400" b="1">
                <a:solidFill>
                  <a:srgbClr val="000000"/>
                </a:solidFill>
                <a:latin typeface="宋体" panose="02000500000000000000" pitchFamily="2" charset="-122"/>
                <a:sym typeface="+mn-ea"/>
              </a:rPr>
              <a:t>结点在两边位置</a:t>
            </a:r>
            <a:endParaRPr lang="en-US" altLang="zh-CN" sz="1400" b="1">
              <a:solidFill>
                <a:srgbClr val="000000"/>
              </a:solidFill>
              <a:latin typeface="宋体" panose="02000500000000000000" pitchFamily="2" charset="-122"/>
              <a:sym typeface="+mn-ea"/>
            </a:endParaRPr>
          </a:p>
          <a:p>
            <a:pPr marL="342900" indent="-342900" hangingPunct="0">
              <a:lnSpc>
                <a:spcPct val="150000"/>
              </a:lnSpc>
              <a:spcBef>
                <a:spcPts val="300"/>
              </a:spcBef>
              <a:buFont typeface="Arial" panose="02080604020202020204" pitchFamily="34" charset="0"/>
              <a:buChar char="•"/>
            </a:pPr>
            <a:r>
              <a:rPr lang="zh-CN" altLang="en-US" sz="1800" b="1">
                <a:solidFill>
                  <a:srgbClr val="000000"/>
                </a:solidFill>
                <a:latin typeface="宋体" panose="02000500000000000000" pitchFamily="2" charset="-122"/>
                <a:sym typeface="+mn-ea"/>
              </a:rPr>
              <a:t>通过</a:t>
            </a:r>
            <a:r>
              <a:rPr lang="zh-CN" altLang="en-US" sz="1800" b="1">
                <a:solidFill>
                  <a:srgbClr val="FF0000"/>
                </a:solidFill>
                <a:latin typeface="宋体" panose="02000500000000000000" pitchFamily="2" charset="-122"/>
                <a:sym typeface="+mn-ea"/>
              </a:rPr>
              <a:t>龙链</a:t>
            </a:r>
            <a:r>
              <a:rPr lang="zh-CN" altLang="en-US" sz="1800" b="1">
                <a:solidFill>
                  <a:srgbClr val="000000"/>
                </a:solidFill>
                <a:latin typeface="宋体" panose="02000500000000000000" pitchFamily="2" charset="-122"/>
                <a:sym typeface="+mn-ea"/>
              </a:rPr>
              <a:t>（Loongson Coherent Link）实现片间互连</a:t>
            </a:r>
            <a:endParaRPr lang="zh-CN" altLang="en-US" sz="1800" b="1">
              <a:solidFill>
                <a:srgbClr val="000000"/>
              </a:solidFill>
              <a:latin typeface="宋体" panose="02000500000000000000" pitchFamily="2" charset="-122"/>
            </a:endParaRPr>
          </a:p>
          <a:p>
            <a:pPr marL="742950" lvl="1" indent="-285750" hangingPunct="0">
              <a:lnSpc>
                <a:spcPct val="150000"/>
              </a:lnSpc>
              <a:spcBef>
                <a:spcPts val="300"/>
              </a:spcBef>
              <a:buFont typeface="Arial" panose="02080604020202020204" pitchFamily="34" charset="0"/>
              <a:buChar char="•"/>
            </a:pPr>
            <a:r>
              <a:rPr lang="zh-CN" altLang="en-US" sz="1400" b="1">
                <a:solidFill>
                  <a:srgbClr val="FF0000"/>
                </a:solidFill>
                <a:latin typeface="宋体" panose="02000500000000000000" pitchFamily="2" charset="-122"/>
                <a:sym typeface="+mn-ea"/>
              </a:rPr>
              <a:t>跨片延迟是</a:t>
            </a:r>
            <a:r>
              <a:rPr lang="en-US" altLang="zh-CN" sz="1400" b="1">
                <a:solidFill>
                  <a:srgbClr val="FF0000"/>
                </a:solidFill>
                <a:latin typeface="宋体" panose="02000500000000000000" pitchFamily="2" charset="-122"/>
                <a:sym typeface="+mn-ea"/>
              </a:rPr>
              <a:t>PCIE</a:t>
            </a:r>
            <a:r>
              <a:rPr lang="zh-CN" altLang="en-US" sz="1400" b="1">
                <a:solidFill>
                  <a:srgbClr val="FF0000"/>
                </a:solidFill>
                <a:latin typeface="宋体" panose="02000500000000000000" pitchFamily="2" charset="-122"/>
                <a:sym typeface="+mn-ea"/>
              </a:rPr>
              <a:t>的一半左右</a:t>
            </a:r>
            <a:endParaRPr lang="en-US" altLang="zh-CN" sz="1400" b="1">
              <a:solidFill>
                <a:srgbClr val="FF0000"/>
              </a:solidFill>
              <a:latin typeface="宋体" panose="02000500000000000000" pitchFamily="2" charset="-122"/>
              <a:sym typeface="+mn-ea"/>
            </a:endParaRPr>
          </a:p>
          <a:p>
            <a:pPr marL="742950" lvl="1" indent="-285750" hangingPunct="0">
              <a:lnSpc>
                <a:spcPct val="150000"/>
              </a:lnSpc>
              <a:spcBef>
                <a:spcPts val="300"/>
              </a:spcBef>
              <a:buFont typeface="Arial" panose="02080604020202020204" pitchFamily="34" charset="0"/>
              <a:buChar char="•"/>
            </a:pPr>
            <a:r>
              <a:rPr lang="zh-CN" altLang="en-US" sz="1400" b="1">
                <a:solidFill>
                  <a:schemeClr val="accent2"/>
                </a:solidFill>
                <a:latin typeface="宋体" panose="02000500000000000000" pitchFamily="2" charset="-122"/>
                <a:sym typeface="+mn-ea"/>
              </a:rPr>
              <a:t>LS3D6000</a:t>
            </a:r>
            <a:r>
              <a:rPr lang="zh-CN" altLang="en-US" sz="1400" b="1">
                <a:solidFill>
                  <a:srgbClr val="000000"/>
                </a:solidFill>
                <a:latin typeface="宋体" panose="02000500000000000000" pitchFamily="2" charset="-122"/>
                <a:sym typeface="+mn-ea"/>
              </a:rPr>
              <a:t>双硅片32核64线程</a:t>
            </a:r>
            <a:endParaRPr lang="en-US" altLang="zh-CN" sz="1400" b="1">
              <a:solidFill>
                <a:srgbClr val="000000"/>
              </a:solidFill>
              <a:latin typeface="宋体" panose="02000500000000000000" pitchFamily="2" charset="-122"/>
              <a:sym typeface="+mn-ea"/>
            </a:endParaRPr>
          </a:p>
          <a:p>
            <a:pPr marL="742950" lvl="1" indent="-285750" hangingPunct="0">
              <a:lnSpc>
                <a:spcPct val="150000"/>
              </a:lnSpc>
              <a:spcBef>
                <a:spcPts val="300"/>
              </a:spcBef>
              <a:buFont typeface="Arial" panose="02080604020202020204" pitchFamily="34" charset="0"/>
              <a:buChar char="•"/>
            </a:pPr>
            <a:r>
              <a:rPr lang="zh-CN" altLang="en-US" sz="1400" b="1">
                <a:solidFill>
                  <a:schemeClr val="accent2"/>
                </a:solidFill>
                <a:latin typeface="宋体" panose="02000500000000000000" pitchFamily="2" charset="-122"/>
                <a:sym typeface="+mn-ea"/>
              </a:rPr>
              <a:t>LS3E6000</a:t>
            </a:r>
            <a:r>
              <a:rPr lang="zh-CN" altLang="en-US" sz="1400" b="1">
                <a:solidFill>
                  <a:srgbClr val="000000"/>
                </a:solidFill>
                <a:latin typeface="宋体" panose="02000500000000000000" pitchFamily="2" charset="-122"/>
                <a:sym typeface="+mn-ea"/>
              </a:rPr>
              <a:t>四硅片64核128线程</a:t>
            </a:r>
            <a:endParaRPr lang="zh-CN" altLang="en-US" sz="1400" b="1">
              <a:solidFill>
                <a:srgbClr val="000000"/>
              </a:solidFill>
              <a:latin typeface="宋体" panose="02000500000000000000" pitchFamily="2" charset="-122"/>
              <a:sym typeface="+mn-ea"/>
            </a:endParaRPr>
          </a:p>
        </p:txBody>
      </p:sp>
      <p:sp>
        <p:nvSpPr>
          <p:cNvPr id="70662" name="页脚占位符 6"/>
          <p:cNvSpPr>
            <a:spLocks noGrp="1"/>
          </p:cNvSpPr>
          <p:nvPr/>
        </p:nvSpPr>
        <p:spPr bwMode="auto">
          <a:xfrm>
            <a:off x="8180706" y="6356350"/>
            <a:ext cx="3862387" cy="365125"/>
          </a:xfrm>
          <a:prstGeom prst="rect">
            <a:avLst/>
          </a:prstGeom>
          <a:noFill/>
          <a:ln w="9525">
            <a:noFill/>
            <a:miter lim="800000"/>
          </a:ln>
        </p:spPr>
        <p:txBody>
          <a:bodyPr anchor="ctr"/>
          <a:lstStyle/>
          <a:p>
            <a:pPr algn="ctr" defTabSz="449580">
              <a:buClr>
                <a:srgbClr val="000000"/>
              </a:buClr>
            </a:pPr>
            <a:r>
              <a:rPr lang="zh-CN" altLang="en-US" sz="1600">
                <a:solidFill>
                  <a:srgbClr val="898989"/>
                </a:solidFill>
              </a:rPr>
              <a:t>龙芯中科内部资料</a:t>
            </a:r>
            <a:endParaRPr lang="zh-CN" altLang="en-US" sz="16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wipe(down)">
                                      <p:cBhvr>
                                        <p:cTn id="13" dur="500"/>
                                        <p:tgtEl>
                                          <p:spTgt spid="6">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wipe(down)">
                                      <p:cBhvr>
                                        <p:cTn id="16" dur="500"/>
                                        <p:tgtEl>
                                          <p:spTgt spid="6">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wipe(down)">
                                      <p:cBhvr>
                                        <p:cTn id="19" dur="500"/>
                                        <p:tgtEl>
                                          <p:spTgt spid="6">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wipe(down)">
                                      <p:cBhvr>
                                        <p:cTn id="24" dur="500"/>
                                        <p:tgtEl>
                                          <p:spTgt spid="6">
                                            <p:txEl>
                                              <p:pRg st="5" end="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wipe(down)">
                                      <p:cBhvr>
                                        <p:cTn id="27" dur="500"/>
                                        <p:tgtEl>
                                          <p:spTgt spid="6">
                                            <p:txEl>
                                              <p:pRg st="6" end="6"/>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6">
                                            <p:txEl>
                                              <p:pRg st="7" end="7"/>
                                            </p:txEl>
                                          </p:spTgt>
                                        </p:tgtEl>
                                        <p:attrNameLst>
                                          <p:attrName>style.visibility</p:attrName>
                                        </p:attrNameLst>
                                      </p:cBhvr>
                                      <p:to>
                                        <p:strVal val="visible"/>
                                      </p:to>
                                    </p:set>
                                    <p:animEffect transition="in" filter="wipe(down)">
                                      <p:cBhvr>
                                        <p:cTn id="30" dur="500"/>
                                        <p:tgtEl>
                                          <p:spTgt spid="6">
                                            <p:txEl>
                                              <p:pRg st="7" end="7"/>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6">
                                            <p:txEl>
                                              <p:pRg st="8" end="8"/>
                                            </p:txEl>
                                          </p:spTgt>
                                        </p:tgtEl>
                                        <p:attrNameLst>
                                          <p:attrName>style.visibility</p:attrName>
                                        </p:attrNameLst>
                                      </p:cBhvr>
                                      <p:to>
                                        <p:strVal val="visible"/>
                                      </p:to>
                                    </p:set>
                                    <p:animEffect transition="in" filter="wipe(down)">
                                      <p:cBhvr>
                                        <p:cTn id="33" dur="500"/>
                                        <p:tgtEl>
                                          <p:spTgt spid="6">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6">
                                            <p:txEl>
                                              <p:pRg st="9" end="9"/>
                                            </p:txEl>
                                          </p:spTgt>
                                        </p:tgtEl>
                                        <p:attrNameLst>
                                          <p:attrName>style.visibility</p:attrName>
                                        </p:attrNameLst>
                                      </p:cBhvr>
                                      <p:to>
                                        <p:strVal val="visible"/>
                                      </p:to>
                                    </p:set>
                                    <p:animEffect transition="in" filter="wipe(down)">
                                      <p:cBhvr>
                                        <p:cTn id="38" dur="500"/>
                                        <p:tgtEl>
                                          <p:spTgt spid="6">
                                            <p:txEl>
                                              <p:pRg st="9" end="9"/>
                                            </p:tx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6">
                                            <p:txEl>
                                              <p:pRg st="10" end="10"/>
                                            </p:txEl>
                                          </p:spTgt>
                                        </p:tgtEl>
                                        <p:attrNameLst>
                                          <p:attrName>style.visibility</p:attrName>
                                        </p:attrNameLst>
                                      </p:cBhvr>
                                      <p:to>
                                        <p:strVal val="visible"/>
                                      </p:to>
                                    </p:set>
                                    <p:animEffect transition="in" filter="wipe(down)">
                                      <p:cBhvr>
                                        <p:cTn id="41" dur="500"/>
                                        <p:tgtEl>
                                          <p:spTgt spid="6">
                                            <p:txEl>
                                              <p:pRg st="10" end="10"/>
                                            </p:txEl>
                                          </p:spTgt>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6">
                                            <p:txEl>
                                              <p:pRg st="11" end="11"/>
                                            </p:txEl>
                                          </p:spTgt>
                                        </p:tgtEl>
                                        <p:attrNameLst>
                                          <p:attrName>style.visibility</p:attrName>
                                        </p:attrNameLst>
                                      </p:cBhvr>
                                      <p:to>
                                        <p:strVal val="visible"/>
                                      </p:to>
                                    </p:set>
                                    <p:animEffect transition="in" filter="wipe(down)">
                                      <p:cBhvr>
                                        <p:cTn id="44" dur="500"/>
                                        <p:tgtEl>
                                          <p:spTgt spid="6">
                                            <p:txEl>
                                              <p:pRg st="11" end="11"/>
                                            </p:txEl>
                                          </p:spTgt>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6">
                                            <p:txEl>
                                              <p:pRg st="12" end="12"/>
                                            </p:txEl>
                                          </p:spTgt>
                                        </p:tgtEl>
                                        <p:attrNameLst>
                                          <p:attrName>style.visibility</p:attrName>
                                        </p:attrNameLst>
                                      </p:cBhvr>
                                      <p:to>
                                        <p:strVal val="visible"/>
                                      </p:to>
                                    </p:set>
                                    <p:animEffect transition="in" filter="wipe(down)">
                                      <p:cBhvr>
                                        <p:cTn id="47"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noChangeArrowheads="1"/>
          </p:cNvSpPr>
          <p:nvPr>
            <p:ph type="sldNum" sz="quarter" idx="12"/>
          </p:nvPr>
        </p:nvSpPr>
        <p:spPr>
          <a:noFill/>
        </p:spPr>
        <p:txBody>
          <a:bodyPr/>
          <a:lstStyle/>
          <a:p>
            <a:fld id="{C9EEF4E3-66F4-4646-9AF3-6EE889398979}" type="slidenum">
              <a:rPr lang="en-US" altLang="zh-CN" smtClean="0"/>
            </a:fld>
            <a:endParaRPr lang="en-US" altLang="zh-CN" smtClean="0"/>
          </a:p>
        </p:txBody>
      </p:sp>
      <p:sp>
        <p:nvSpPr>
          <p:cNvPr id="71683" name="Rectangle 2"/>
          <p:cNvSpPr>
            <a:spLocks noGrp="1" noChangeArrowheads="1"/>
          </p:cNvSpPr>
          <p:nvPr>
            <p:ph type="title"/>
          </p:nvPr>
        </p:nvSpPr>
        <p:spPr>
          <a:xfrm>
            <a:off x="855981" y="1429"/>
            <a:ext cx="10363200" cy="681355"/>
          </a:xfrm>
        </p:spPr>
        <p:txBody>
          <a:bodyPr tIns="82080">
            <a:spAutoFit/>
          </a:bodyPr>
          <a:lstStyle/>
          <a:p>
            <a:pP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 pos="5791200" algn="l"/>
                <a:tab pos="6515100" algn="l"/>
                <a:tab pos="7239000" algn="l"/>
                <a:tab pos="7962900" algn="l"/>
                <a:tab pos="8686800" algn="l"/>
              </a:tabLst>
            </a:pPr>
            <a:r>
              <a:rPr lang="en-US" altLang="zh-CN" smtClean="0"/>
              <a:t>TILE64</a:t>
            </a:r>
            <a:r>
              <a:rPr lang="zh-CN" altLang="en-US" smtClean="0"/>
              <a:t>众核处理器</a:t>
            </a:r>
            <a:endParaRPr lang="en-US" altLang="zh-CN" smtClean="0"/>
          </a:p>
        </p:txBody>
      </p:sp>
      <p:sp>
        <p:nvSpPr>
          <p:cNvPr id="71684" name="内容占位符 12"/>
          <p:cNvSpPr>
            <a:spLocks noGrp="1" noChangeArrowheads="1"/>
          </p:cNvSpPr>
          <p:nvPr>
            <p:ph idx="1"/>
          </p:nvPr>
        </p:nvSpPr>
        <p:spPr>
          <a:xfrm>
            <a:off x="474981" y="1163638"/>
            <a:ext cx="11430000" cy="5059362"/>
          </a:xfrm>
        </p:spPr>
        <p:txBody>
          <a:bodyPr/>
          <a:lstStyle/>
          <a:p>
            <a:r>
              <a:rPr lang="en-US" altLang="zh-CN" sz="2000" smtClean="0">
                <a:latin typeface="宋体" panose="02000500000000000000" pitchFamily="2" charset="-122"/>
                <a:ea typeface="宋体" panose="02000500000000000000" pitchFamily="2" charset="-122"/>
                <a:cs typeface="宋体" panose="02000500000000000000" pitchFamily="2" charset="-122"/>
              </a:rPr>
              <a:t>Tilera</a:t>
            </a:r>
            <a:r>
              <a:rPr lang="zh-CN" altLang="en-US" sz="2000" smtClean="0">
                <a:latin typeface="宋体" panose="02000500000000000000" pitchFamily="2" charset="-122"/>
                <a:ea typeface="宋体" panose="02000500000000000000" pitchFamily="2" charset="-122"/>
                <a:cs typeface="宋体" panose="02000500000000000000" pitchFamily="2" charset="-122"/>
              </a:rPr>
              <a:t>公司于</a:t>
            </a:r>
            <a:r>
              <a:rPr lang="en-US" altLang="zh-CN" sz="2000" smtClean="0">
                <a:latin typeface="宋体" panose="02000500000000000000" pitchFamily="2" charset="-122"/>
                <a:ea typeface="宋体" panose="02000500000000000000" pitchFamily="2" charset="-122"/>
                <a:cs typeface="宋体" panose="02000500000000000000" pitchFamily="2" charset="-122"/>
              </a:rPr>
              <a:t>2007</a:t>
            </a:r>
            <a:r>
              <a:rPr lang="zh-CN" altLang="en-US" sz="2000" smtClean="0">
                <a:latin typeface="宋体" panose="02000500000000000000" pitchFamily="2" charset="-122"/>
                <a:ea typeface="宋体" panose="02000500000000000000" pitchFamily="2" charset="-122"/>
                <a:cs typeface="宋体" panose="02000500000000000000" pitchFamily="2" charset="-122"/>
              </a:rPr>
              <a:t>推出，面向网络和视频处理等领域</a:t>
            </a:r>
            <a:endParaRPr lang="en-US" altLang="zh-CN" sz="2000" smtClean="0">
              <a:latin typeface="宋体" panose="02000500000000000000" pitchFamily="2" charset="-122"/>
              <a:ea typeface="宋体" panose="02000500000000000000" pitchFamily="2" charset="-122"/>
              <a:cs typeface="宋体" panose="02000500000000000000" pitchFamily="2" charset="-122"/>
            </a:endParaRPr>
          </a:p>
          <a:p>
            <a:r>
              <a:rPr lang="zh-CN" altLang="en-US" sz="2000" smtClean="0">
                <a:latin typeface="宋体" panose="02000500000000000000" pitchFamily="2" charset="-122"/>
                <a:ea typeface="宋体" panose="02000500000000000000" pitchFamily="2" charset="-122"/>
                <a:cs typeface="宋体" panose="02000500000000000000" pitchFamily="2" charset="-122"/>
              </a:rPr>
              <a:t>支持</a:t>
            </a:r>
            <a:r>
              <a:rPr lang="en-US" altLang="zh-CN" sz="2000" smtClean="0">
                <a:latin typeface="宋体" panose="02000500000000000000" pitchFamily="2" charset="-122"/>
                <a:ea typeface="宋体" panose="02000500000000000000" pitchFamily="2" charset="-122"/>
                <a:cs typeface="宋体" panose="02000500000000000000" pitchFamily="2" charset="-122"/>
              </a:rPr>
              <a:t>64</a:t>
            </a:r>
            <a:r>
              <a:rPr lang="zh-CN" altLang="en-US" sz="2000" smtClean="0">
                <a:latin typeface="宋体" panose="02000500000000000000" pitchFamily="2" charset="-122"/>
                <a:ea typeface="宋体" panose="02000500000000000000" pitchFamily="2" charset="-122"/>
                <a:cs typeface="宋体" panose="02000500000000000000" pitchFamily="2" charset="-122"/>
              </a:rPr>
              <a:t>个</a:t>
            </a:r>
            <a:r>
              <a:rPr lang="en-US" altLang="zh-CN" sz="2000" smtClean="0">
                <a:latin typeface="宋体" panose="02000500000000000000" pitchFamily="2" charset="-122"/>
                <a:ea typeface="宋体" panose="02000500000000000000" pitchFamily="2" charset="-122"/>
                <a:cs typeface="宋体" panose="02000500000000000000" pitchFamily="2" charset="-122"/>
              </a:rPr>
              <a:t>tile</a:t>
            </a:r>
            <a:r>
              <a:rPr lang="zh-CN" altLang="en-US" sz="2000" smtClean="0">
                <a:latin typeface="宋体" panose="02000500000000000000" pitchFamily="2" charset="-122"/>
                <a:ea typeface="宋体" panose="02000500000000000000" pitchFamily="2" charset="-122"/>
                <a:cs typeface="宋体" panose="02000500000000000000" pitchFamily="2" charset="-122"/>
              </a:rPr>
              <a:t>（瓦片），组成</a:t>
            </a:r>
            <a:r>
              <a:rPr lang="en-US" altLang="zh-CN" sz="2000" smtClean="0">
                <a:latin typeface="宋体" panose="02000500000000000000" pitchFamily="2" charset="-122"/>
                <a:ea typeface="宋体" panose="02000500000000000000" pitchFamily="2" charset="-122"/>
                <a:cs typeface="宋体" panose="02000500000000000000" pitchFamily="2" charset="-122"/>
              </a:rPr>
              <a:t>8</a:t>
            </a:r>
            <a:r>
              <a:rPr lang="zh-CN" altLang="en-US" sz="2000" smtClean="0">
                <a:latin typeface="宋体" panose="02000500000000000000" pitchFamily="2" charset="-122"/>
                <a:ea typeface="宋体" panose="02000500000000000000" pitchFamily="2" charset="-122"/>
                <a:cs typeface="宋体" panose="02000500000000000000" pitchFamily="2" charset="-122"/>
              </a:rPr>
              <a:t>*</a:t>
            </a:r>
            <a:r>
              <a:rPr lang="en-US" altLang="zh-CN" sz="2000" smtClean="0">
                <a:latin typeface="宋体" panose="02000500000000000000" pitchFamily="2" charset="-122"/>
                <a:ea typeface="宋体" panose="02000500000000000000" pitchFamily="2" charset="-122"/>
                <a:cs typeface="宋体" panose="02000500000000000000" pitchFamily="2" charset="-122"/>
              </a:rPr>
              <a:t>8</a:t>
            </a:r>
            <a:r>
              <a:rPr lang="zh-CN" altLang="en-US" sz="2000" smtClean="0">
                <a:latin typeface="宋体" panose="02000500000000000000" pitchFamily="2" charset="-122"/>
                <a:ea typeface="宋体" panose="02000500000000000000" pitchFamily="2" charset="-122"/>
                <a:cs typeface="宋体" panose="02000500000000000000" pitchFamily="2" charset="-122"/>
              </a:rPr>
              <a:t>的</a:t>
            </a:r>
            <a:r>
              <a:rPr lang="en-US" altLang="zh-CN" sz="2000" smtClean="0">
                <a:latin typeface="宋体" panose="02000500000000000000" pitchFamily="2" charset="-122"/>
                <a:ea typeface="宋体" panose="02000500000000000000" pitchFamily="2" charset="-122"/>
                <a:cs typeface="宋体" panose="02000500000000000000" pitchFamily="2" charset="-122"/>
              </a:rPr>
              <a:t>MESH</a:t>
            </a:r>
            <a:r>
              <a:rPr lang="zh-CN" altLang="en-US" sz="2000" smtClean="0">
                <a:latin typeface="宋体" panose="02000500000000000000" pitchFamily="2" charset="-122"/>
                <a:ea typeface="宋体" panose="02000500000000000000" pitchFamily="2" charset="-122"/>
                <a:cs typeface="宋体" panose="02000500000000000000" pitchFamily="2" charset="-122"/>
              </a:rPr>
              <a:t>，每个</a:t>
            </a:r>
            <a:r>
              <a:rPr lang="en-US" altLang="zh-CN" sz="2000" smtClean="0">
                <a:latin typeface="宋体" panose="02000500000000000000" pitchFamily="2" charset="-122"/>
                <a:ea typeface="宋体" panose="02000500000000000000" pitchFamily="2" charset="-122"/>
                <a:cs typeface="宋体" panose="02000500000000000000" pitchFamily="2" charset="-122"/>
              </a:rPr>
              <a:t>tile</a:t>
            </a:r>
            <a:r>
              <a:rPr lang="zh-CN" altLang="en-US" sz="2000" smtClean="0">
                <a:latin typeface="宋体" panose="02000500000000000000" pitchFamily="2" charset="-122"/>
                <a:ea typeface="宋体" panose="02000500000000000000" pitchFamily="2" charset="-122"/>
                <a:cs typeface="宋体" panose="02000500000000000000" pitchFamily="2" charset="-122"/>
              </a:rPr>
              <a:t>包含通用</a:t>
            </a:r>
            <a:r>
              <a:rPr lang="en-US" altLang="zh-CN" sz="2000" smtClean="0">
                <a:latin typeface="宋体" panose="02000500000000000000" pitchFamily="2" charset="-122"/>
                <a:ea typeface="宋体" panose="02000500000000000000" pitchFamily="2" charset="-122"/>
                <a:cs typeface="宋体" panose="02000500000000000000" pitchFamily="2" charset="-122"/>
              </a:rPr>
              <a:t>CPU</a:t>
            </a:r>
            <a:r>
              <a:rPr lang="zh-CN" altLang="en-US" sz="2000" smtClean="0">
                <a:latin typeface="宋体" panose="02000500000000000000" pitchFamily="2" charset="-122"/>
                <a:ea typeface="宋体" panose="02000500000000000000" pitchFamily="2" charset="-122"/>
                <a:cs typeface="宋体" panose="02000500000000000000" pitchFamily="2" charset="-122"/>
              </a:rPr>
              <a:t>核、</a:t>
            </a:r>
            <a:r>
              <a:rPr lang="en-US" altLang="zh-CN" sz="2000" smtClean="0">
                <a:latin typeface="宋体" panose="02000500000000000000" pitchFamily="2" charset="-122"/>
                <a:ea typeface="宋体" panose="02000500000000000000" pitchFamily="2" charset="-122"/>
                <a:cs typeface="宋体" panose="02000500000000000000" pitchFamily="2" charset="-122"/>
              </a:rPr>
              <a:t>Cache</a:t>
            </a:r>
            <a:r>
              <a:rPr lang="zh-CN" altLang="en-US" sz="2000" smtClean="0">
                <a:latin typeface="宋体" panose="02000500000000000000" pitchFamily="2" charset="-122"/>
                <a:ea typeface="宋体" panose="02000500000000000000" pitchFamily="2" charset="-122"/>
                <a:cs typeface="宋体" panose="02000500000000000000" pitchFamily="2" charset="-122"/>
              </a:rPr>
              <a:t>和路由器</a:t>
            </a:r>
            <a:endParaRPr lang="en-US" altLang="zh-CN" sz="2000" smtClean="0">
              <a:latin typeface="宋体" panose="02000500000000000000" pitchFamily="2" charset="-122"/>
              <a:ea typeface="宋体" panose="02000500000000000000" pitchFamily="2" charset="-122"/>
              <a:cs typeface="宋体" panose="02000500000000000000" pitchFamily="2" charset="-122"/>
            </a:endParaRPr>
          </a:p>
          <a:p>
            <a:pPr lvl="1"/>
            <a:r>
              <a:rPr lang="en-US" altLang="zh-CN" sz="1800" smtClean="0">
                <a:latin typeface="宋体" panose="02000500000000000000" pitchFamily="2" charset="-122"/>
                <a:ea typeface="宋体" panose="02000500000000000000" pitchFamily="2" charset="-122"/>
                <a:cs typeface="宋体" panose="02000500000000000000" pitchFamily="2" charset="-122"/>
              </a:rPr>
              <a:t>CPU</a:t>
            </a:r>
            <a:r>
              <a:rPr lang="zh-CN" altLang="en-US" sz="1800" smtClean="0">
                <a:latin typeface="宋体" panose="02000500000000000000" pitchFamily="2" charset="-122"/>
                <a:ea typeface="宋体" panose="02000500000000000000" pitchFamily="2" charset="-122"/>
                <a:cs typeface="宋体" panose="02000500000000000000" pitchFamily="2" charset="-122"/>
              </a:rPr>
              <a:t>核：支持</a:t>
            </a:r>
            <a:r>
              <a:rPr lang="en-US" altLang="zh-CN" sz="1800" smtClean="0">
                <a:latin typeface="宋体" panose="02000500000000000000" pitchFamily="2" charset="-122"/>
                <a:ea typeface="宋体" panose="02000500000000000000" pitchFamily="2" charset="-122"/>
                <a:cs typeface="宋体" panose="02000500000000000000" pitchFamily="2" charset="-122"/>
              </a:rPr>
              <a:t>MIPS</a:t>
            </a:r>
            <a:r>
              <a:rPr lang="zh-CN" altLang="en-US" sz="1800" smtClean="0">
                <a:latin typeface="宋体" panose="02000500000000000000" pitchFamily="2" charset="-122"/>
                <a:ea typeface="宋体" panose="02000500000000000000" pitchFamily="2" charset="-122"/>
                <a:cs typeface="宋体" panose="02000500000000000000" pitchFamily="2" charset="-122"/>
              </a:rPr>
              <a:t>类</a:t>
            </a:r>
            <a:r>
              <a:rPr lang="en-US" altLang="zh-CN" sz="1800" smtClean="0">
                <a:latin typeface="宋体" panose="02000500000000000000" pitchFamily="2" charset="-122"/>
                <a:ea typeface="宋体" panose="02000500000000000000" pitchFamily="2" charset="-122"/>
                <a:cs typeface="宋体" panose="02000500000000000000" pitchFamily="2" charset="-122"/>
              </a:rPr>
              <a:t>VLIW</a:t>
            </a:r>
            <a:r>
              <a:rPr lang="zh-CN" altLang="en-US" sz="1800" smtClean="0">
                <a:latin typeface="宋体" panose="02000500000000000000" pitchFamily="2" charset="-122"/>
                <a:ea typeface="宋体" panose="02000500000000000000" pitchFamily="2" charset="-122"/>
                <a:cs typeface="宋体" panose="02000500000000000000" pitchFamily="2" charset="-122"/>
              </a:rPr>
              <a:t>指令集、三发射、按序、短流水</a:t>
            </a:r>
            <a:endParaRPr lang="en-US" altLang="zh-CN" sz="1800" smtClean="0">
              <a:latin typeface="宋体" panose="02000500000000000000" pitchFamily="2" charset="-122"/>
              <a:ea typeface="宋体" panose="02000500000000000000" pitchFamily="2" charset="-122"/>
              <a:cs typeface="宋体" panose="02000500000000000000" pitchFamily="2" charset="-122"/>
            </a:endParaRPr>
          </a:p>
          <a:p>
            <a:pPr lvl="1"/>
            <a:r>
              <a:rPr lang="zh-CN" altLang="en-US" sz="1800" smtClean="0">
                <a:latin typeface="宋体" panose="02000500000000000000" pitchFamily="2" charset="-122"/>
                <a:ea typeface="宋体" panose="02000500000000000000" pitchFamily="2" charset="-122"/>
                <a:cs typeface="宋体" panose="02000500000000000000" pitchFamily="2" charset="-122"/>
              </a:rPr>
              <a:t>每个</a:t>
            </a:r>
            <a:r>
              <a:rPr lang="en-US" altLang="zh-CN" sz="1800" smtClean="0">
                <a:latin typeface="宋体" panose="02000500000000000000" pitchFamily="2" charset="-122"/>
                <a:ea typeface="宋体" panose="02000500000000000000" pitchFamily="2" charset="-122"/>
                <a:cs typeface="宋体" panose="02000500000000000000" pitchFamily="2" charset="-122"/>
              </a:rPr>
              <a:t>Tile</a:t>
            </a:r>
            <a:r>
              <a:rPr lang="zh-CN" altLang="en-US" sz="1800" smtClean="0">
                <a:latin typeface="宋体" panose="02000500000000000000" pitchFamily="2" charset="-122"/>
                <a:ea typeface="宋体" panose="02000500000000000000" pitchFamily="2" charset="-122"/>
                <a:cs typeface="宋体" panose="02000500000000000000" pitchFamily="2" charset="-122"/>
              </a:rPr>
              <a:t>有私有</a:t>
            </a:r>
            <a:r>
              <a:rPr lang="en-US" altLang="zh-CN" sz="1800" smtClean="0">
                <a:latin typeface="宋体" panose="02000500000000000000" pitchFamily="2" charset="-122"/>
                <a:ea typeface="宋体" panose="02000500000000000000" pitchFamily="2" charset="-122"/>
                <a:cs typeface="宋体" panose="02000500000000000000" pitchFamily="2" charset="-122"/>
              </a:rPr>
              <a:t>L1</a:t>
            </a:r>
            <a:r>
              <a:rPr lang="zh-CN" altLang="en-US" sz="1800" smtClean="0">
                <a:latin typeface="宋体" panose="02000500000000000000" pitchFamily="2" charset="-122"/>
                <a:ea typeface="宋体" panose="02000500000000000000" pitchFamily="2" charset="-122"/>
                <a:cs typeface="宋体" panose="02000500000000000000" pitchFamily="2" charset="-122"/>
              </a:rPr>
              <a:t>（</a:t>
            </a:r>
            <a:r>
              <a:rPr lang="en-US" altLang="zh-CN" sz="1800" smtClean="0">
                <a:latin typeface="宋体" panose="02000500000000000000" pitchFamily="2" charset="-122"/>
                <a:ea typeface="宋体" panose="02000500000000000000" pitchFamily="2" charset="-122"/>
                <a:cs typeface="宋体" panose="02000500000000000000" pitchFamily="2" charset="-122"/>
              </a:rPr>
              <a:t>16KB</a:t>
            </a:r>
            <a:r>
              <a:rPr lang="zh-CN" altLang="en-US" sz="1800" smtClean="0">
                <a:latin typeface="宋体" panose="02000500000000000000" pitchFamily="2" charset="-122"/>
                <a:ea typeface="宋体" panose="02000500000000000000" pitchFamily="2" charset="-122"/>
                <a:cs typeface="宋体" panose="02000500000000000000" pitchFamily="2" charset="-122"/>
              </a:rPr>
              <a:t>）和私有</a:t>
            </a:r>
            <a:r>
              <a:rPr lang="en-US" altLang="zh-CN" sz="1800" smtClean="0">
                <a:latin typeface="宋体" panose="02000500000000000000" pitchFamily="2" charset="-122"/>
                <a:ea typeface="宋体" panose="02000500000000000000" pitchFamily="2" charset="-122"/>
                <a:cs typeface="宋体" panose="02000500000000000000" pitchFamily="2" charset="-122"/>
              </a:rPr>
              <a:t>L2 Cache</a:t>
            </a:r>
            <a:r>
              <a:rPr lang="zh-CN" altLang="en-US" sz="1800" smtClean="0">
                <a:latin typeface="宋体" panose="02000500000000000000" pitchFamily="2" charset="-122"/>
                <a:ea typeface="宋体" panose="02000500000000000000" pitchFamily="2" charset="-122"/>
                <a:cs typeface="宋体" panose="02000500000000000000" pitchFamily="2" charset="-122"/>
              </a:rPr>
              <a:t>（</a:t>
            </a:r>
            <a:r>
              <a:rPr lang="en-US" altLang="zh-CN" sz="1800" smtClean="0">
                <a:latin typeface="宋体" panose="02000500000000000000" pitchFamily="2" charset="-122"/>
                <a:ea typeface="宋体" panose="02000500000000000000" pitchFamily="2" charset="-122"/>
                <a:cs typeface="宋体" panose="02000500000000000000" pitchFamily="2" charset="-122"/>
              </a:rPr>
              <a:t>64KB</a:t>
            </a:r>
            <a:r>
              <a:rPr lang="zh-CN" altLang="en-US" sz="1800" smtClean="0">
                <a:latin typeface="宋体" panose="02000500000000000000" pitchFamily="2" charset="-122"/>
                <a:ea typeface="宋体" panose="02000500000000000000" pitchFamily="2" charset="-122"/>
                <a:cs typeface="宋体" panose="02000500000000000000" pitchFamily="2" charset="-122"/>
              </a:rPr>
              <a:t>）、虚拟的</a:t>
            </a:r>
            <a:r>
              <a:rPr lang="en-US" altLang="zh-CN" sz="1800" smtClean="0">
                <a:latin typeface="宋体" panose="02000500000000000000" pitchFamily="2" charset="-122"/>
                <a:ea typeface="宋体" panose="02000500000000000000" pitchFamily="2" charset="-122"/>
                <a:cs typeface="宋体" panose="02000500000000000000" pitchFamily="2" charset="-122"/>
              </a:rPr>
              <a:t>L3 Cache</a:t>
            </a:r>
            <a:r>
              <a:rPr lang="zh-CN" altLang="en-US" sz="1800" smtClean="0">
                <a:latin typeface="宋体" panose="02000500000000000000" pitchFamily="2" charset="-122"/>
                <a:ea typeface="宋体" panose="02000500000000000000" pitchFamily="2" charset="-122"/>
                <a:cs typeface="宋体" panose="02000500000000000000" pitchFamily="2" charset="-122"/>
              </a:rPr>
              <a:t>（所有</a:t>
            </a:r>
            <a:r>
              <a:rPr lang="en-US" altLang="zh-CN" sz="1800" smtClean="0">
                <a:latin typeface="宋体" panose="02000500000000000000" pitchFamily="2" charset="-122"/>
                <a:ea typeface="宋体" panose="02000500000000000000" pitchFamily="2" charset="-122"/>
                <a:cs typeface="宋体" panose="02000500000000000000" pitchFamily="2" charset="-122"/>
              </a:rPr>
              <a:t>tile</a:t>
            </a:r>
            <a:r>
              <a:rPr lang="zh-CN" altLang="en-US" sz="1800" smtClean="0">
                <a:latin typeface="宋体" panose="02000500000000000000" pitchFamily="2" charset="-122"/>
                <a:ea typeface="宋体" panose="02000500000000000000" pitchFamily="2" charset="-122"/>
                <a:cs typeface="宋体" panose="02000500000000000000" pitchFamily="2" charset="-122"/>
              </a:rPr>
              <a:t>的</a:t>
            </a:r>
            <a:r>
              <a:rPr lang="en-US" altLang="zh-CN" sz="1800" smtClean="0">
                <a:latin typeface="宋体" panose="02000500000000000000" pitchFamily="2" charset="-122"/>
                <a:ea typeface="宋体" panose="02000500000000000000" pitchFamily="2" charset="-122"/>
                <a:cs typeface="宋体" panose="02000500000000000000" pitchFamily="2" charset="-122"/>
              </a:rPr>
              <a:t>L2 Cache</a:t>
            </a:r>
            <a:r>
              <a:rPr lang="zh-CN" altLang="en-US" sz="1800" smtClean="0">
                <a:latin typeface="宋体" panose="02000500000000000000" pitchFamily="2" charset="-122"/>
                <a:ea typeface="宋体" panose="02000500000000000000" pitchFamily="2" charset="-122"/>
                <a:cs typeface="宋体" panose="02000500000000000000" pitchFamily="2" charset="-122"/>
              </a:rPr>
              <a:t>聚合）</a:t>
            </a:r>
            <a:endParaRPr lang="en-US" altLang="zh-CN" sz="1800" smtClean="0">
              <a:latin typeface="宋体" panose="02000500000000000000" pitchFamily="2" charset="-122"/>
              <a:ea typeface="宋体" panose="02000500000000000000" pitchFamily="2" charset="-122"/>
              <a:cs typeface="宋体" panose="02000500000000000000" pitchFamily="2" charset="-122"/>
            </a:endParaRPr>
          </a:p>
          <a:p>
            <a:pPr lvl="1"/>
            <a:r>
              <a:rPr lang="zh-CN" altLang="en-US" sz="1800" smtClean="0">
                <a:latin typeface="宋体" panose="02000500000000000000" pitchFamily="2" charset="-122"/>
                <a:ea typeface="宋体" panose="02000500000000000000" pitchFamily="2" charset="-122"/>
                <a:cs typeface="宋体" panose="02000500000000000000" pitchFamily="2" charset="-122"/>
              </a:rPr>
              <a:t>路由器实现</a:t>
            </a:r>
            <a:r>
              <a:rPr lang="en-US" altLang="zh-CN" sz="1800" smtClean="0">
                <a:latin typeface="宋体" panose="02000500000000000000" pitchFamily="2" charset="-122"/>
                <a:ea typeface="宋体" panose="02000500000000000000" pitchFamily="2" charset="-122"/>
                <a:cs typeface="宋体" panose="02000500000000000000" pitchFamily="2" charset="-122"/>
              </a:rPr>
              <a:t>tile</a:t>
            </a:r>
            <a:r>
              <a:rPr lang="zh-CN" altLang="en-US" sz="1800" smtClean="0">
                <a:latin typeface="宋体" panose="02000500000000000000" pitchFamily="2" charset="-122"/>
                <a:ea typeface="宋体" panose="02000500000000000000" pitchFamily="2" charset="-122"/>
                <a:cs typeface="宋体" panose="02000500000000000000" pitchFamily="2" charset="-122"/>
              </a:rPr>
              <a:t>间的</a:t>
            </a:r>
            <a:r>
              <a:rPr lang="en-US" altLang="zh-CN" sz="1800" smtClean="0">
                <a:latin typeface="宋体" panose="02000500000000000000" pitchFamily="2" charset="-122"/>
                <a:ea typeface="宋体" panose="02000500000000000000" pitchFamily="2" charset="-122"/>
                <a:cs typeface="宋体" panose="02000500000000000000" pitchFamily="2" charset="-122"/>
              </a:rPr>
              <a:t>MESH</a:t>
            </a:r>
            <a:r>
              <a:rPr lang="zh-CN" altLang="en-US" sz="1800" smtClean="0">
                <a:latin typeface="宋体" panose="02000500000000000000" pitchFamily="2" charset="-122"/>
                <a:ea typeface="宋体" panose="02000500000000000000" pitchFamily="2" charset="-122"/>
                <a:cs typeface="宋体" panose="02000500000000000000" pitchFamily="2" charset="-122"/>
              </a:rPr>
              <a:t>结构</a:t>
            </a:r>
            <a:endParaRPr lang="en-US" altLang="zh-CN" sz="1600" smtClean="0">
              <a:latin typeface="宋体" panose="02000500000000000000" pitchFamily="2" charset="-122"/>
              <a:ea typeface="宋体" panose="02000500000000000000" pitchFamily="2" charset="-122"/>
              <a:cs typeface="宋体" panose="02000500000000000000" pitchFamily="2" charset="-122"/>
            </a:endParaRPr>
          </a:p>
          <a:p>
            <a:r>
              <a:rPr lang="zh-CN" altLang="en-US" sz="2000" smtClean="0">
                <a:latin typeface="宋体" panose="02000500000000000000" pitchFamily="2" charset="-122"/>
                <a:ea typeface="宋体" panose="02000500000000000000" pitchFamily="2" charset="-122"/>
                <a:cs typeface="宋体" panose="02000500000000000000" pitchFamily="2" charset="-122"/>
              </a:rPr>
              <a:t>采用</a:t>
            </a:r>
            <a:r>
              <a:rPr lang="en-US" altLang="zh-CN" sz="2000" smtClean="0">
                <a:latin typeface="宋体" panose="02000500000000000000" pitchFamily="2" charset="-122"/>
                <a:ea typeface="宋体" panose="02000500000000000000" pitchFamily="2" charset="-122"/>
                <a:cs typeface="宋体" panose="02000500000000000000" pitchFamily="2" charset="-122"/>
              </a:rPr>
              <a:t>Neighborhood</a:t>
            </a:r>
            <a:r>
              <a:rPr lang="zh-CN" altLang="en-US" sz="2000" smtClean="0">
                <a:latin typeface="宋体" panose="02000500000000000000" pitchFamily="2" charset="-122"/>
                <a:ea typeface="宋体" panose="02000500000000000000" pitchFamily="2" charset="-122"/>
                <a:cs typeface="宋体" panose="02000500000000000000" pitchFamily="2" charset="-122"/>
              </a:rPr>
              <a:t>缓存机制实现片上分布式共享</a:t>
            </a:r>
            <a:r>
              <a:rPr lang="en-US" altLang="zh-CN" sz="2000" smtClean="0">
                <a:latin typeface="宋体" panose="02000500000000000000" pitchFamily="2" charset="-122"/>
                <a:ea typeface="宋体" panose="02000500000000000000" pitchFamily="2" charset="-122"/>
                <a:cs typeface="宋体" panose="02000500000000000000" pitchFamily="2" charset="-122"/>
              </a:rPr>
              <a:t>Cache</a:t>
            </a:r>
            <a:endParaRPr lang="en-US" altLang="zh-CN" sz="2000" smtClean="0">
              <a:latin typeface="宋体" panose="02000500000000000000" pitchFamily="2" charset="-122"/>
              <a:ea typeface="宋体" panose="02000500000000000000" pitchFamily="2" charset="-122"/>
              <a:cs typeface="宋体" panose="02000500000000000000" pitchFamily="2" charset="-122"/>
            </a:endParaRPr>
          </a:p>
          <a:p>
            <a:pPr lvl="1"/>
            <a:r>
              <a:rPr lang="zh-CN" altLang="en-US" sz="1800" smtClean="0">
                <a:latin typeface="宋体" panose="02000500000000000000" pitchFamily="2" charset="-122"/>
                <a:ea typeface="宋体" panose="02000500000000000000" pitchFamily="2" charset="-122"/>
                <a:cs typeface="宋体" panose="02000500000000000000" pitchFamily="2" charset="-122"/>
              </a:rPr>
              <a:t>每个虚拟地址对应一个</a:t>
            </a:r>
            <a:r>
              <a:rPr lang="en-US" altLang="zh-CN" sz="1800" smtClean="0">
                <a:latin typeface="宋体" panose="02000500000000000000" pitchFamily="2" charset="-122"/>
                <a:ea typeface="宋体" panose="02000500000000000000" pitchFamily="2" charset="-122"/>
                <a:cs typeface="宋体" panose="02000500000000000000" pitchFamily="2" charset="-122"/>
              </a:rPr>
              <a:t>Home</a:t>
            </a:r>
            <a:r>
              <a:rPr lang="zh-CN" altLang="en-US" sz="1800" smtClean="0">
                <a:latin typeface="宋体" panose="02000500000000000000" pitchFamily="2" charset="-122"/>
                <a:ea typeface="宋体" panose="02000500000000000000" pitchFamily="2" charset="-122"/>
                <a:cs typeface="宋体" panose="02000500000000000000" pitchFamily="2" charset="-122"/>
              </a:rPr>
              <a:t> </a:t>
            </a:r>
            <a:r>
              <a:rPr lang="en-US" altLang="zh-CN" sz="1800" smtClean="0">
                <a:latin typeface="宋体" panose="02000500000000000000" pitchFamily="2" charset="-122"/>
                <a:ea typeface="宋体" panose="02000500000000000000" pitchFamily="2" charset="-122"/>
                <a:cs typeface="宋体" panose="02000500000000000000" pitchFamily="2" charset="-122"/>
              </a:rPr>
              <a:t>tile</a:t>
            </a:r>
            <a:r>
              <a:rPr lang="zh-CN" altLang="en-US" sz="1800" smtClean="0">
                <a:latin typeface="宋体" panose="02000500000000000000" pitchFamily="2" charset="-122"/>
                <a:ea typeface="宋体" panose="02000500000000000000" pitchFamily="2" charset="-122"/>
                <a:cs typeface="宋体" panose="02000500000000000000" pitchFamily="2" charset="-122"/>
              </a:rPr>
              <a:t>，先访问该</a:t>
            </a:r>
            <a:r>
              <a:rPr lang="en-US" altLang="zh-CN" sz="1800" smtClean="0">
                <a:latin typeface="宋体" panose="02000500000000000000" pitchFamily="2" charset="-122"/>
                <a:ea typeface="宋体" panose="02000500000000000000" pitchFamily="2" charset="-122"/>
                <a:cs typeface="宋体" panose="02000500000000000000" pitchFamily="2" charset="-122"/>
              </a:rPr>
              <a:t>Home</a:t>
            </a:r>
            <a:r>
              <a:rPr lang="zh-CN" altLang="en-US" sz="1800" smtClean="0">
                <a:latin typeface="宋体" panose="02000500000000000000" pitchFamily="2" charset="-122"/>
                <a:ea typeface="宋体" panose="02000500000000000000" pitchFamily="2" charset="-122"/>
                <a:cs typeface="宋体" panose="02000500000000000000" pitchFamily="2" charset="-122"/>
              </a:rPr>
              <a:t> </a:t>
            </a:r>
            <a:r>
              <a:rPr lang="en-US" altLang="zh-CN" sz="1800" smtClean="0">
                <a:latin typeface="宋体" panose="02000500000000000000" pitchFamily="2" charset="-122"/>
                <a:ea typeface="宋体" panose="02000500000000000000" pitchFamily="2" charset="-122"/>
                <a:cs typeface="宋体" panose="02000500000000000000" pitchFamily="2" charset="-122"/>
              </a:rPr>
              <a:t>tile</a:t>
            </a:r>
            <a:r>
              <a:rPr lang="zh-CN" altLang="en-US" sz="1800" smtClean="0">
                <a:latin typeface="宋体" panose="02000500000000000000" pitchFamily="2" charset="-122"/>
                <a:ea typeface="宋体" panose="02000500000000000000" pitchFamily="2" charset="-122"/>
                <a:cs typeface="宋体" panose="02000500000000000000" pitchFamily="2" charset="-122"/>
              </a:rPr>
              <a:t>的私有</a:t>
            </a:r>
            <a:r>
              <a:rPr lang="en-US" altLang="zh-CN" sz="1800" smtClean="0">
                <a:latin typeface="宋体" panose="02000500000000000000" pitchFamily="2" charset="-122"/>
                <a:ea typeface="宋体" panose="02000500000000000000" pitchFamily="2" charset="-122"/>
                <a:cs typeface="宋体" panose="02000500000000000000" pitchFamily="2" charset="-122"/>
              </a:rPr>
              <a:t>Cache</a:t>
            </a:r>
            <a:r>
              <a:rPr lang="zh-CN" altLang="en-US" sz="1800" smtClean="0">
                <a:latin typeface="宋体" panose="02000500000000000000" pitchFamily="2" charset="-122"/>
                <a:ea typeface="宋体" panose="02000500000000000000" pitchFamily="2" charset="-122"/>
                <a:cs typeface="宋体" panose="02000500000000000000" pitchFamily="2" charset="-122"/>
              </a:rPr>
              <a:t>，如果不命中则访问内存；</a:t>
            </a:r>
            <a:r>
              <a:rPr lang="en-US" altLang="zh-CN" sz="1800" smtClean="0">
                <a:latin typeface="宋体" panose="02000500000000000000" pitchFamily="2" charset="-122"/>
                <a:ea typeface="宋体" panose="02000500000000000000" pitchFamily="2" charset="-122"/>
                <a:cs typeface="宋体" panose="02000500000000000000" pitchFamily="2" charset="-122"/>
              </a:rPr>
              <a:t>Home  tile</a:t>
            </a:r>
            <a:r>
              <a:rPr lang="zh-CN" altLang="en-US" sz="1800" smtClean="0">
                <a:latin typeface="宋体" panose="02000500000000000000" pitchFamily="2" charset="-122"/>
                <a:ea typeface="宋体" panose="02000500000000000000" pitchFamily="2" charset="-122"/>
                <a:cs typeface="宋体" panose="02000500000000000000" pitchFamily="2" charset="-122"/>
              </a:rPr>
              <a:t>负责维护一致性</a:t>
            </a:r>
            <a:endParaRPr lang="en-US" altLang="zh-CN" sz="1800" smtClean="0">
              <a:latin typeface="宋体" panose="02000500000000000000" pitchFamily="2" charset="-122"/>
              <a:ea typeface="宋体" panose="02000500000000000000" pitchFamily="2" charset="-122"/>
              <a:cs typeface="宋体" panose="02000500000000000000" pitchFamily="2" charset="-122"/>
            </a:endParaRPr>
          </a:p>
          <a:p>
            <a:r>
              <a:rPr lang="zh-CN" altLang="en-US" sz="2000" smtClean="0">
                <a:latin typeface="宋体" panose="02000500000000000000" pitchFamily="2" charset="-122"/>
                <a:ea typeface="宋体" panose="02000500000000000000" pitchFamily="2" charset="-122"/>
                <a:cs typeface="宋体" panose="02000500000000000000" pitchFamily="2" charset="-122"/>
              </a:rPr>
              <a:t>峰值性能为</a:t>
            </a:r>
            <a:r>
              <a:rPr lang="en-US" altLang="zh-CN" sz="2000" smtClean="0">
                <a:solidFill>
                  <a:schemeClr val="accent2"/>
                </a:solidFill>
                <a:latin typeface="宋体" panose="02000500000000000000" pitchFamily="2" charset="-122"/>
                <a:ea typeface="宋体" panose="02000500000000000000" pitchFamily="2" charset="-122"/>
                <a:cs typeface="宋体" panose="02000500000000000000" pitchFamily="2" charset="-122"/>
              </a:rPr>
              <a:t>192GFLOPS</a:t>
            </a:r>
            <a:r>
              <a:rPr lang="zh-CN" altLang="en-US" sz="2000" smtClean="0">
                <a:latin typeface="宋体" panose="02000500000000000000" pitchFamily="2" charset="-122"/>
                <a:ea typeface="宋体" panose="02000500000000000000" pitchFamily="2" charset="-122"/>
                <a:cs typeface="宋体" panose="02000500000000000000" pitchFamily="2" charset="-122"/>
              </a:rPr>
              <a:t>（单精度、</a:t>
            </a:r>
            <a:r>
              <a:rPr lang="en-US" altLang="zh-CN" sz="2000" smtClean="0">
                <a:latin typeface="宋体" panose="02000500000000000000" pitchFamily="2" charset="-122"/>
                <a:ea typeface="宋体" panose="02000500000000000000" pitchFamily="2" charset="-122"/>
                <a:cs typeface="宋体" panose="02000500000000000000" pitchFamily="2" charset="-122"/>
              </a:rPr>
              <a:t>1GHz</a:t>
            </a:r>
            <a:r>
              <a:rPr lang="zh-CN" altLang="en-US" sz="2000" smtClean="0">
                <a:latin typeface="宋体" panose="02000500000000000000" pitchFamily="2" charset="-122"/>
                <a:ea typeface="宋体" panose="02000500000000000000" pitchFamily="2" charset="-122"/>
                <a:cs typeface="宋体" panose="02000500000000000000" pitchFamily="2" charset="-122"/>
              </a:rPr>
              <a:t>），理论访存带宽为</a:t>
            </a:r>
            <a:r>
              <a:rPr lang="en-US" altLang="zh-CN" sz="2000" smtClean="0">
                <a:solidFill>
                  <a:schemeClr val="accent2"/>
                </a:solidFill>
                <a:latin typeface="宋体" panose="02000500000000000000" pitchFamily="2" charset="-122"/>
                <a:ea typeface="宋体" panose="02000500000000000000" pitchFamily="2" charset="-122"/>
                <a:cs typeface="宋体" panose="02000500000000000000" pitchFamily="2" charset="-122"/>
              </a:rPr>
              <a:t>25GBPS</a:t>
            </a:r>
            <a:endParaRPr lang="en-US" altLang="zh-CN" sz="2000" smtClean="0">
              <a:solidFill>
                <a:schemeClr val="accent2"/>
              </a:solidFill>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transition spd="med"/>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a:spLocks noGrp="1" noChangeArrowheads="1"/>
          </p:cNvSpPr>
          <p:nvPr>
            <p:ph type="sldNum" sz="quarter" idx="12"/>
          </p:nvPr>
        </p:nvSpPr>
        <p:spPr>
          <a:noFill/>
        </p:spPr>
        <p:txBody>
          <a:bodyPr/>
          <a:lstStyle/>
          <a:p>
            <a:fld id="{27509507-03B3-41D0-B8FF-8EBEAAAAAC90}" type="slidenum">
              <a:rPr lang="en-US" altLang="zh-CN" smtClean="0"/>
            </a:fld>
            <a:endParaRPr lang="en-US" altLang="zh-CN" smtClean="0"/>
          </a:p>
        </p:txBody>
      </p:sp>
      <p:sp>
        <p:nvSpPr>
          <p:cNvPr id="72707" name="Rectangle 2"/>
          <p:cNvSpPr>
            <a:spLocks noGrp="1" noChangeArrowheads="1"/>
          </p:cNvSpPr>
          <p:nvPr>
            <p:ph type="title"/>
          </p:nvPr>
        </p:nvSpPr>
        <p:spPr>
          <a:xfrm>
            <a:off x="855981" y="1429"/>
            <a:ext cx="10363200" cy="681355"/>
          </a:xfrm>
        </p:spPr>
        <p:txBody>
          <a:bodyPr tIns="82080">
            <a:spAutoFit/>
          </a:bodyPr>
          <a:lstStyle/>
          <a:p>
            <a:pP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 pos="5791200" algn="l"/>
                <a:tab pos="6515100" algn="l"/>
                <a:tab pos="7239000" algn="l"/>
                <a:tab pos="7962900" algn="l"/>
                <a:tab pos="8686800" algn="l"/>
              </a:tabLst>
            </a:pPr>
            <a:r>
              <a:rPr lang="en-US" altLang="zh-CN" smtClean="0"/>
              <a:t>TILE64</a:t>
            </a:r>
            <a:r>
              <a:rPr lang="zh-CN" altLang="en-US" smtClean="0"/>
              <a:t>众核处理器（</a:t>
            </a:r>
            <a:r>
              <a:rPr lang="en-US" altLang="zh-CN" smtClean="0"/>
              <a:t>cont.</a:t>
            </a:r>
            <a:r>
              <a:rPr lang="zh-CN" altLang="en-US" smtClean="0"/>
              <a:t>）</a:t>
            </a:r>
            <a:endParaRPr lang="en-US" altLang="zh-CN" smtClean="0"/>
          </a:p>
        </p:txBody>
      </p:sp>
      <p:grpSp>
        <p:nvGrpSpPr>
          <p:cNvPr id="72708" name="Group 3"/>
          <p:cNvGrpSpPr/>
          <p:nvPr/>
        </p:nvGrpSpPr>
        <p:grpSpPr bwMode="auto">
          <a:xfrm>
            <a:off x="563881" y="1298575"/>
            <a:ext cx="11079162" cy="4946650"/>
            <a:chOff x="345" y="864"/>
            <a:chExt cx="6305" cy="3259"/>
          </a:xfrm>
        </p:grpSpPr>
        <p:sp>
          <p:nvSpPr>
            <p:cNvPr id="72709" name="Rectangle 4"/>
            <p:cNvSpPr>
              <a:spLocks noChangeArrowheads="1"/>
            </p:cNvSpPr>
            <p:nvPr/>
          </p:nvSpPr>
          <p:spPr bwMode="auto">
            <a:xfrm>
              <a:off x="534" y="1029"/>
              <a:ext cx="4105" cy="2934"/>
            </a:xfrm>
            <a:prstGeom prst="rect">
              <a:avLst/>
            </a:prstGeom>
            <a:solidFill>
              <a:srgbClr val="C0C0C0"/>
            </a:solidFill>
            <a:ln w="9360">
              <a:solidFill>
                <a:srgbClr val="000000"/>
              </a:solidFill>
              <a:miter lim="800000"/>
            </a:ln>
          </p:spPr>
          <p:txBody>
            <a:bodyPr wrap="none" anchor="ctr"/>
            <a:lstStyle/>
            <a:p>
              <a:pPr algn="ctr"/>
              <a:endParaRPr lang="zh-CN" altLang="en-US"/>
            </a:p>
          </p:txBody>
        </p:sp>
        <p:sp>
          <p:nvSpPr>
            <p:cNvPr id="78853" name="Rectangle 5"/>
            <p:cNvSpPr>
              <a:spLocks noChangeArrowheads="1"/>
            </p:cNvSpPr>
            <p:nvPr/>
          </p:nvSpPr>
          <p:spPr bwMode="auto">
            <a:xfrm>
              <a:off x="636" y="2812"/>
              <a:ext cx="401" cy="752"/>
            </a:xfrm>
            <a:prstGeom prst="rect">
              <a:avLst/>
            </a:prstGeom>
            <a:solidFill>
              <a:srgbClr val="89B0FF"/>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PCIe 1</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MAC</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PHY</a:t>
              </a:r>
              <a:endParaRPr lang="en-US" altLang="zh-CN" sz="900">
                <a:solidFill>
                  <a:srgbClr val="000000"/>
                </a:solidFill>
                <a:latin typeface="Arial Narrow" pitchFamily="34" charset="0"/>
              </a:endParaRPr>
            </a:p>
          </p:txBody>
        </p:sp>
        <p:sp>
          <p:nvSpPr>
            <p:cNvPr id="78854" name="Rectangle 6"/>
            <p:cNvSpPr>
              <a:spLocks noChangeArrowheads="1"/>
            </p:cNvSpPr>
            <p:nvPr/>
          </p:nvSpPr>
          <p:spPr bwMode="auto">
            <a:xfrm>
              <a:off x="626" y="1438"/>
              <a:ext cx="430" cy="681"/>
            </a:xfrm>
            <a:prstGeom prst="rect">
              <a:avLst/>
            </a:prstGeom>
            <a:solidFill>
              <a:srgbClr val="89B0FF"/>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PCIe 0</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MAC</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PHY</a:t>
              </a:r>
              <a:endParaRPr lang="en-US" altLang="zh-CN" sz="900">
                <a:solidFill>
                  <a:srgbClr val="000000"/>
                </a:solidFill>
                <a:latin typeface="Arial Narrow" pitchFamily="34" charset="0"/>
              </a:endParaRPr>
            </a:p>
          </p:txBody>
        </p:sp>
        <p:grpSp>
          <p:nvGrpSpPr>
            <p:cNvPr id="72712" name="Group 7"/>
            <p:cNvGrpSpPr/>
            <p:nvPr/>
          </p:nvGrpSpPr>
          <p:grpSpPr bwMode="auto">
            <a:xfrm>
              <a:off x="1194" y="1423"/>
              <a:ext cx="2769" cy="2131"/>
              <a:chOff x="1194" y="1423"/>
              <a:chExt cx="2769" cy="2131"/>
            </a:xfrm>
          </p:grpSpPr>
          <p:sp>
            <p:nvSpPr>
              <p:cNvPr id="72895" name="Line 8"/>
              <p:cNvSpPr>
                <a:spLocks noChangeShapeType="1"/>
              </p:cNvSpPr>
              <p:nvPr/>
            </p:nvSpPr>
            <p:spPr bwMode="auto">
              <a:xfrm flipV="1">
                <a:off x="3066" y="1422"/>
                <a:ext cx="1" cy="2130"/>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896" name="Line 9"/>
              <p:cNvSpPr>
                <a:spLocks noChangeShapeType="1"/>
              </p:cNvSpPr>
              <p:nvPr/>
            </p:nvSpPr>
            <p:spPr bwMode="auto">
              <a:xfrm flipV="1">
                <a:off x="2351" y="1422"/>
                <a:ext cx="1" cy="2130"/>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897" name="Line 10"/>
              <p:cNvSpPr>
                <a:spLocks noChangeShapeType="1"/>
              </p:cNvSpPr>
              <p:nvPr/>
            </p:nvSpPr>
            <p:spPr bwMode="auto">
              <a:xfrm flipV="1">
                <a:off x="1626" y="1422"/>
                <a:ext cx="1" cy="2130"/>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898" name="Line 11"/>
              <p:cNvSpPr>
                <a:spLocks noChangeShapeType="1"/>
              </p:cNvSpPr>
              <p:nvPr/>
            </p:nvSpPr>
            <p:spPr bwMode="auto">
              <a:xfrm flipV="1">
                <a:off x="3781" y="1422"/>
                <a:ext cx="1" cy="2130"/>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899" name="Line 12"/>
              <p:cNvSpPr>
                <a:spLocks noChangeShapeType="1"/>
              </p:cNvSpPr>
              <p:nvPr/>
            </p:nvSpPr>
            <p:spPr bwMode="auto">
              <a:xfrm flipV="1">
                <a:off x="3808" y="1422"/>
                <a:ext cx="1" cy="2130"/>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00" name="Line 13"/>
              <p:cNvSpPr>
                <a:spLocks noChangeShapeType="1"/>
              </p:cNvSpPr>
              <p:nvPr/>
            </p:nvSpPr>
            <p:spPr bwMode="auto">
              <a:xfrm flipV="1">
                <a:off x="3119" y="1422"/>
                <a:ext cx="1" cy="2130"/>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01" name="Line 14"/>
              <p:cNvSpPr>
                <a:spLocks noChangeShapeType="1"/>
              </p:cNvSpPr>
              <p:nvPr/>
            </p:nvSpPr>
            <p:spPr bwMode="auto">
              <a:xfrm flipV="1">
                <a:off x="2404" y="1422"/>
                <a:ext cx="1" cy="2130"/>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02" name="Line 15"/>
              <p:cNvSpPr>
                <a:spLocks noChangeShapeType="1"/>
              </p:cNvSpPr>
              <p:nvPr/>
            </p:nvSpPr>
            <p:spPr bwMode="auto">
              <a:xfrm flipV="1">
                <a:off x="3835" y="1422"/>
                <a:ext cx="1" cy="2130"/>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03" name="Line 16"/>
              <p:cNvSpPr>
                <a:spLocks noChangeShapeType="1"/>
              </p:cNvSpPr>
              <p:nvPr/>
            </p:nvSpPr>
            <p:spPr bwMode="auto">
              <a:xfrm flipV="1">
                <a:off x="3147" y="1422"/>
                <a:ext cx="1" cy="2130"/>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04" name="Line 17"/>
              <p:cNvSpPr>
                <a:spLocks noChangeShapeType="1"/>
              </p:cNvSpPr>
              <p:nvPr/>
            </p:nvSpPr>
            <p:spPr bwMode="auto">
              <a:xfrm flipV="1">
                <a:off x="2431" y="1422"/>
                <a:ext cx="1" cy="2130"/>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05" name="Line 18"/>
              <p:cNvSpPr>
                <a:spLocks noChangeShapeType="1"/>
              </p:cNvSpPr>
              <p:nvPr/>
            </p:nvSpPr>
            <p:spPr bwMode="auto">
              <a:xfrm flipV="1">
                <a:off x="1707" y="1422"/>
                <a:ext cx="1" cy="2130"/>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06" name="Line 19"/>
              <p:cNvSpPr>
                <a:spLocks noChangeShapeType="1"/>
              </p:cNvSpPr>
              <p:nvPr/>
            </p:nvSpPr>
            <p:spPr bwMode="auto">
              <a:xfrm flipV="1">
                <a:off x="3862" y="1422"/>
                <a:ext cx="1" cy="2130"/>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07" name="Line 20"/>
              <p:cNvSpPr>
                <a:spLocks noChangeShapeType="1"/>
              </p:cNvSpPr>
              <p:nvPr/>
            </p:nvSpPr>
            <p:spPr bwMode="auto">
              <a:xfrm flipV="1">
                <a:off x="3175" y="1422"/>
                <a:ext cx="1" cy="2130"/>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08" name="Line 21"/>
              <p:cNvSpPr>
                <a:spLocks noChangeShapeType="1"/>
              </p:cNvSpPr>
              <p:nvPr/>
            </p:nvSpPr>
            <p:spPr bwMode="auto">
              <a:xfrm flipV="1">
                <a:off x="2459" y="1422"/>
                <a:ext cx="1" cy="2130"/>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09" name="Line 22"/>
              <p:cNvSpPr>
                <a:spLocks noChangeShapeType="1"/>
              </p:cNvSpPr>
              <p:nvPr/>
            </p:nvSpPr>
            <p:spPr bwMode="auto">
              <a:xfrm flipV="1">
                <a:off x="1733" y="1422"/>
                <a:ext cx="1" cy="2130"/>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10" name="Line 23"/>
              <p:cNvSpPr>
                <a:spLocks noChangeShapeType="1"/>
              </p:cNvSpPr>
              <p:nvPr/>
            </p:nvSpPr>
            <p:spPr bwMode="auto">
              <a:xfrm flipV="1">
                <a:off x="3892" y="1422"/>
                <a:ext cx="1" cy="2130"/>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11" name="Line 24"/>
              <p:cNvSpPr>
                <a:spLocks noChangeShapeType="1"/>
              </p:cNvSpPr>
              <p:nvPr/>
            </p:nvSpPr>
            <p:spPr bwMode="auto">
              <a:xfrm flipV="1">
                <a:off x="2713" y="1422"/>
                <a:ext cx="1" cy="2130"/>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12" name="Line 25"/>
              <p:cNvSpPr>
                <a:spLocks noChangeShapeType="1"/>
              </p:cNvSpPr>
              <p:nvPr/>
            </p:nvSpPr>
            <p:spPr bwMode="auto">
              <a:xfrm flipV="1">
                <a:off x="1996" y="1422"/>
                <a:ext cx="1" cy="2130"/>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13" name="Line 26"/>
              <p:cNvSpPr>
                <a:spLocks noChangeShapeType="1"/>
              </p:cNvSpPr>
              <p:nvPr/>
            </p:nvSpPr>
            <p:spPr bwMode="auto">
              <a:xfrm flipV="1">
                <a:off x="1273" y="1422"/>
                <a:ext cx="1" cy="2130"/>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14" name="Line 27"/>
              <p:cNvSpPr>
                <a:spLocks noChangeShapeType="1"/>
              </p:cNvSpPr>
              <p:nvPr/>
            </p:nvSpPr>
            <p:spPr bwMode="auto">
              <a:xfrm flipV="1">
                <a:off x="3428" y="1422"/>
                <a:ext cx="1" cy="2130"/>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15" name="Line 28"/>
              <p:cNvSpPr>
                <a:spLocks noChangeShapeType="1"/>
              </p:cNvSpPr>
              <p:nvPr/>
            </p:nvSpPr>
            <p:spPr bwMode="auto">
              <a:xfrm flipV="1">
                <a:off x="1298" y="1422"/>
                <a:ext cx="1" cy="2130"/>
              </a:xfrm>
              <a:prstGeom prst="line">
                <a:avLst/>
              </a:prstGeom>
              <a:noFill/>
              <a:ln w="19080">
                <a:solidFill>
                  <a:srgbClr val="CCCCFF"/>
                </a:solidFill>
                <a:miter lim="800000"/>
                <a:headEnd type="triangle" w="med" len="med"/>
                <a:tailEnd type="triangle" w="med" len="med"/>
              </a:ln>
            </p:spPr>
            <p:txBody>
              <a:bodyPr/>
              <a:lstStyle/>
              <a:p>
                <a:endParaRPr lang="zh-CN" altLang="en-US"/>
              </a:p>
            </p:txBody>
          </p:sp>
          <p:grpSp>
            <p:nvGrpSpPr>
              <p:cNvPr id="72916" name="Group 29"/>
              <p:cNvGrpSpPr/>
              <p:nvPr/>
            </p:nvGrpSpPr>
            <p:grpSpPr bwMode="auto">
              <a:xfrm>
                <a:off x="1651" y="1437"/>
                <a:ext cx="1804" cy="2117"/>
                <a:chOff x="1651" y="1437"/>
                <a:chExt cx="1804" cy="2117"/>
              </a:xfrm>
            </p:grpSpPr>
            <p:sp>
              <p:nvSpPr>
                <p:cNvPr id="72971" name="Line 30"/>
                <p:cNvSpPr>
                  <a:spLocks noChangeShapeType="1"/>
                </p:cNvSpPr>
                <p:nvPr/>
              </p:nvSpPr>
              <p:spPr bwMode="auto">
                <a:xfrm flipV="1">
                  <a:off x="3092" y="1436"/>
                  <a:ext cx="1" cy="2120"/>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72" name="Line 31"/>
                <p:cNvSpPr>
                  <a:spLocks noChangeShapeType="1"/>
                </p:cNvSpPr>
                <p:nvPr/>
              </p:nvSpPr>
              <p:spPr bwMode="auto">
                <a:xfrm flipV="1">
                  <a:off x="2375" y="1436"/>
                  <a:ext cx="1" cy="2120"/>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73" name="Line 32"/>
                <p:cNvSpPr>
                  <a:spLocks noChangeShapeType="1"/>
                </p:cNvSpPr>
                <p:nvPr/>
              </p:nvSpPr>
              <p:spPr bwMode="auto">
                <a:xfrm flipV="1">
                  <a:off x="1651" y="1436"/>
                  <a:ext cx="1" cy="2120"/>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74" name="Line 33"/>
                <p:cNvSpPr>
                  <a:spLocks noChangeShapeType="1"/>
                </p:cNvSpPr>
                <p:nvPr/>
              </p:nvSpPr>
              <p:spPr bwMode="auto">
                <a:xfrm flipV="1">
                  <a:off x="1679" y="1436"/>
                  <a:ext cx="1" cy="2120"/>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75" name="Line 34"/>
                <p:cNvSpPr>
                  <a:spLocks noChangeShapeType="1"/>
                </p:cNvSpPr>
                <p:nvPr/>
              </p:nvSpPr>
              <p:spPr bwMode="auto">
                <a:xfrm flipV="1">
                  <a:off x="2738" y="1436"/>
                  <a:ext cx="1" cy="2120"/>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76" name="Line 35"/>
                <p:cNvSpPr>
                  <a:spLocks noChangeShapeType="1"/>
                </p:cNvSpPr>
                <p:nvPr/>
              </p:nvSpPr>
              <p:spPr bwMode="auto">
                <a:xfrm flipV="1">
                  <a:off x="2023" y="1436"/>
                  <a:ext cx="1" cy="2120"/>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77" name="Line 36"/>
                <p:cNvSpPr>
                  <a:spLocks noChangeShapeType="1"/>
                </p:cNvSpPr>
                <p:nvPr/>
              </p:nvSpPr>
              <p:spPr bwMode="auto">
                <a:xfrm flipV="1">
                  <a:off x="3455" y="1436"/>
                  <a:ext cx="1" cy="2120"/>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78" name="Line 37"/>
                <p:cNvSpPr>
                  <a:spLocks noChangeShapeType="1"/>
                </p:cNvSpPr>
                <p:nvPr/>
              </p:nvSpPr>
              <p:spPr bwMode="auto">
                <a:xfrm flipV="1">
                  <a:off x="2767" y="1436"/>
                  <a:ext cx="1" cy="2120"/>
                </a:xfrm>
                <a:prstGeom prst="line">
                  <a:avLst/>
                </a:prstGeom>
                <a:noFill/>
                <a:ln w="19080">
                  <a:solidFill>
                    <a:srgbClr val="0000FF"/>
                  </a:solidFill>
                  <a:miter lim="800000"/>
                  <a:headEnd type="triangle" w="med" len="med"/>
                  <a:tailEnd type="triangle" w="med" len="med"/>
                </a:ln>
              </p:spPr>
              <p:txBody>
                <a:bodyPr/>
                <a:lstStyle/>
                <a:p>
                  <a:endParaRPr lang="zh-CN" altLang="en-US"/>
                </a:p>
              </p:txBody>
            </p:sp>
          </p:grpSp>
          <p:sp>
            <p:nvSpPr>
              <p:cNvPr id="72917" name="Line 38"/>
              <p:cNvSpPr>
                <a:spLocks noChangeShapeType="1"/>
              </p:cNvSpPr>
              <p:nvPr/>
            </p:nvSpPr>
            <p:spPr bwMode="auto">
              <a:xfrm flipV="1">
                <a:off x="2053" y="1422"/>
                <a:ext cx="1" cy="2130"/>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18" name="Line 39"/>
              <p:cNvSpPr>
                <a:spLocks noChangeShapeType="1"/>
              </p:cNvSpPr>
              <p:nvPr/>
            </p:nvSpPr>
            <p:spPr bwMode="auto">
              <a:xfrm flipV="1">
                <a:off x="1327" y="1422"/>
                <a:ext cx="1" cy="2130"/>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19" name="Line 40"/>
              <p:cNvSpPr>
                <a:spLocks noChangeShapeType="1"/>
              </p:cNvSpPr>
              <p:nvPr/>
            </p:nvSpPr>
            <p:spPr bwMode="auto">
              <a:xfrm flipV="1">
                <a:off x="3483" y="1422"/>
                <a:ext cx="1" cy="2130"/>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20" name="Line 41"/>
              <p:cNvSpPr>
                <a:spLocks noChangeShapeType="1"/>
              </p:cNvSpPr>
              <p:nvPr/>
            </p:nvSpPr>
            <p:spPr bwMode="auto">
              <a:xfrm flipV="1">
                <a:off x="2794" y="1422"/>
                <a:ext cx="1" cy="2130"/>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21" name="Line 42"/>
              <p:cNvSpPr>
                <a:spLocks noChangeShapeType="1"/>
              </p:cNvSpPr>
              <p:nvPr/>
            </p:nvSpPr>
            <p:spPr bwMode="auto">
              <a:xfrm flipV="1">
                <a:off x="2078" y="1422"/>
                <a:ext cx="1" cy="2130"/>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22" name="Line 43"/>
              <p:cNvSpPr>
                <a:spLocks noChangeShapeType="1"/>
              </p:cNvSpPr>
              <p:nvPr/>
            </p:nvSpPr>
            <p:spPr bwMode="auto">
              <a:xfrm flipV="1">
                <a:off x="1353" y="1422"/>
                <a:ext cx="1" cy="2130"/>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23" name="Line 44"/>
              <p:cNvSpPr>
                <a:spLocks noChangeShapeType="1"/>
              </p:cNvSpPr>
              <p:nvPr/>
            </p:nvSpPr>
            <p:spPr bwMode="auto">
              <a:xfrm flipV="1">
                <a:off x="3509" y="1422"/>
                <a:ext cx="1" cy="2130"/>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24" name="Line 45"/>
              <p:cNvSpPr>
                <a:spLocks noChangeShapeType="1"/>
              </p:cNvSpPr>
              <p:nvPr/>
            </p:nvSpPr>
            <p:spPr bwMode="auto">
              <a:xfrm flipV="1">
                <a:off x="2822" y="1422"/>
                <a:ext cx="1" cy="2130"/>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25" name="Line 46"/>
              <p:cNvSpPr>
                <a:spLocks noChangeShapeType="1"/>
              </p:cNvSpPr>
              <p:nvPr/>
            </p:nvSpPr>
            <p:spPr bwMode="auto">
              <a:xfrm flipV="1">
                <a:off x="2106" y="1422"/>
                <a:ext cx="1" cy="2130"/>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26" name="Line 47"/>
              <p:cNvSpPr>
                <a:spLocks noChangeShapeType="1"/>
              </p:cNvSpPr>
              <p:nvPr/>
            </p:nvSpPr>
            <p:spPr bwMode="auto">
              <a:xfrm flipV="1">
                <a:off x="1381" y="1422"/>
                <a:ext cx="1" cy="2130"/>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27" name="Line 48"/>
              <p:cNvSpPr>
                <a:spLocks noChangeShapeType="1"/>
              </p:cNvSpPr>
              <p:nvPr/>
            </p:nvSpPr>
            <p:spPr bwMode="auto">
              <a:xfrm flipV="1">
                <a:off x="3537" y="1422"/>
                <a:ext cx="1" cy="2130"/>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28" name="Line 49"/>
              <p:cNvSpPr>
                <a:spLocks noChangeShapeType="1"/>
              </p:cNvSpPr>
              <p:nvPr/>
            </p:nvSpPr>
            <p:spPr bwMode="auto">
              <a:xfrm>
                <a:off x="1196" y="1466"/>
                <a:ext cx="2765" cy="1"/>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29" name="Line 50"/>
              <p:cNvSpPr>
                <a:spLocks noChangeShapeType="1"/>
              </p:cNvSpPr>
              <p:nvPr/>
            </p:nvSpPr>
            <p:spPr bwMode="auto">
              <a:xfrm>
                <a:off x="1196" y="2041"/>
                <a:ext cx="2765" cy="1"/>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30" name="Line 51"/>
              <p:cNvSpPr>
                <a:spLocks noChangeShapeType="1"/>
              </p:cNvSpPr>
              <p:nvPr/>
            </p:nvSpPr>
            <p:spPr bwMode="auto">
              <a:xfrm>
                <a:off x="1196" y="2589"/>
                <a:ext cx="2765" cy="1"/>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31" name="Line 52"/>
              <p:cNvSpPr>
                <a:spLocks noChangeShapeType="1"/>
              </p:cNvSpPr>
              <p:nvPr/>
            </p:nvSpPr>
            <p:spPr bwMode="auto">
              <a:xfrm>
                <a:off x="1196" y="3147"/>
                <a:ext cx="2765" cy="1"/>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32" name="Line 53"/>
              <p:cNvSpPr>
                <a:spLocks noChangeShapeType="1"/>
              </p:cNvSpPr>
              <p:nvPr/>
            </p:nvSpPr>
            <p:spPr bwMode="auto">
              <a:xfrm>
                <a:off x="1196" y="1486"/>
                <a:ext cx="2765" cy="1"/>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33" name="Line 54"/>
              <p:cNvSpPr>
                <a:spLocks noChangeShapeType="1"/>
              </p:cNvSpPr>
              <p:nvPr/>
            </p:nvSpPr>
            <p:spPr bwMode="auto">
              <a:xfrm>
                <a:off x="1196" y="1508"/>
                <a:ext cx="2765" cy="1"/>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34" name="Line 55"/>
              <p:cNvSpPr>
                <a:spLocks noChangeShapeType="1"/>
              </p:cNvSpPr>
              <p:nvPr/>
            </p:nvSpPr>
            <p:spPr bwMode="auto">
              <a:xfrm>
                <a:off x="1196" y="1529"/>
                <a:ext cx="2765" cy="1"/>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35" name="Line 56"/>
              <p:cNvSpPr>
                <a:spLocks noChangeShapeType="1"/>
              </p:cNvSpPr>
              <p:nvPr/>
            </p:nvSpPr>
            <p:spPr bwMode="auto">
              <a:xfrm>
                <a:off x="1196" y="2105"/>
                <a:ext cx="2765" cy="1"/>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36" name="Line 57"/>
              <p:cNvSpPr>
                <a:spLocks noChangeShapeType="1"/>
              </p:cNvSpPr>
              <p:nvPr/>
            </p:nvSpPr>
            <p:spPr bwMode="auto">
              <a:xfrm>
                <a:off x="1196" y="2650"/>
                <a:ext cx="2765" cy="1"/>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37" name="Line 58"/>
              <p:cNvSpPr>
                <a:spLocks noChangeShapeType="1"/>
              </p:cNvSpPr>
              <p:nvPr/>
            </p:nvSpPr>
            <p:spPr bwMode="auto">
              <a:xfrm>
                <a:off x="1196" y="3209"/>
                <a:ext cx="2765" cy="1"/>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38" name="Line 59"/>
              <p:cNvSpPr>
                <a:spLocks noChangeShapeType="1"/>
              </p:cNvSpPr>
              <p:nvPr/>
            </p:nvSpPr>
            <p:spPr bwMode="auto">
              <a:xfrm>
                <a:off x="1199" y="1548"/>
                <a:ext cx="2765" cy="1"/>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39" name="Line 60"/>
              <p:cNvSpPr>
                <a:spLocks noChangeShapeType="1"/>
              </p:cNvSpPr>
              <p:nvPr/>
            </p:nvSpPr>
            <p:spPr bwMode="auto">
              <a:xfrm>
                <a:off x="1199" y="2126"/>
                <a:ext cx="2765" cy="1"/>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40" name="Line 61"/>
              <p:cNvSpPr>
                <a:spLocks noChangeShapeType="1"/>
              </p:cNvSpPr>
              <p:nvPr/>
            </p:nvSpPr>
            <p:spPr bwMode="auto">
              <a:xfrm>
                <a:off x="1199" y="2671"/>
                <a:ext cx="2765" cy="1"/>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41" name="Line 62"/>
              <p:cNvSpPr>
                <a:spLocks noChangeShapeType="1"/>
              </p:cNvSpPr>
              <p:nvPr/>
            </p:nvSpPr>
            <p:spPr bwMode="auto">
              <a:xfrm>
                <a:off x="1199" y="3230"/>
                <a:ext cx="2765" cy="1"/>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42" name="Line 63"/>
              <p:cNvSpPr>
                <a:spLocks noChangeShapeType="1"/>
              </p:cNvSpPr>
              <p:nvPr/>
            </p:nvSpPr>
            <p:spPr bwMode="auto">
              <a:xfrm>
                <a:off x="1199" y="1738"/>
                <a:ext cx="2765" cy="1"/>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43" name="Line 64"/>
              <p:cNvSpPr>
                <a:spLocks noChangeShapeType="1"/>
              </p:cNvSpPr>
              <p:nvPr/>
            </p:nvSpPr>
            <p:spPr bwMode="auto">
              <a:xfrm>
                <a:off x="1199" y="2313"/>
                <a:ext cx="2765" cy="1"/>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44" name="Line 65"/>
              <p:cNvSpPr>
                <a:spLocks noChangeShapeType="1"/>
              </p:cNvSpPr>
              <p:nvPr/>
            </p:nvSpPr>
            <p:spPr bwMode="auto">
              <a:xfrm>
                <a:off x="1199" y="2861"/>
                <a:ext cx="2765" cy="1"/>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45" name="Line 66"/>
              <p:cNvSpPr>
                <a:spLocks noChangeShapeType="1"/>
              </p:cNvSpPr>
              <p:nvPr/>
            </p:nvSpPr>
            <p:spPr bwMode="auto">
              <a:xfrm>
                <a:off x="1199" y="3419"/>
                <a:ext cx="2765" cy="1"/>
              </a:xfrm>
              <a:prstGeom prst="line">
                <a:avLst/>
              </a:prstGeom>
              <a:noFill/>
              <a:ln w="19080">
                <a:solidFill>
                  <a:srgbClr val="FFFF00"/>
                </a:solidFill>
                <a:miter lim="800000"/>
                <a:headEnd type="triangle" w="med" len="med"/>
                <a:tailEnd type="triangle" w="med" len="med"/>
              </a:ln>
            </p:spPr>
            <p:txBody>
              <a:bodyPr/>
              <a:lstStyle/>
              <a:p>
                <a:endParaRPr lang="zh-CN" altLang="en-US"/>
              </a:p>
            </p:txBody>
          </p:sp>
          <p:sp>
            <p:nvSpPr>
              <p:cNvPr id="72946" name="Line 67"/>
              <p:cNvSpPr>
                <a:spLocks noChangeShapeType="1"/>
              </p:cNvSpPr>
              <p:nvPr/>
            </p:nvSpPr>
            <p:spPr bwMode="auto">
              <a:xfrm>
                <a:off x="1196" y="2882"/>
                <a:ext cx="2765" cy="1"/>
              </a:xfrm>
              <a:prstGeom prst="line">
                <a:avLst/>
              </a:prstGeom>
              <a:noFill/>
              <a:ln w="19080">
                <a:solidFill>
                  <a:srgbClr val="CCCCFF"/>
                </a:solidFill>
                <a:miter lim="800000"/>
                <a:headEnd type="triangle" w="med" len="med"/>
                <a:tailEnd type="triangle" w="med" len="med"/>
              </a:ln>
            </p:spPr>
            <p:txBody>
              <a:bodyPr/>
              <a:lstStyle/>
              <a:p>
                <a:endParaRPr lang="zh-CN" altLang="en-US"/>
              </a:p>
            </p:txBody>
          </p:sp>
          <p:grpSp>
            <p:nvGrpSpPr>
              <p:cNvPr id="72947" name="Group 68"/>
              <p:cNvGrpSpPr/>
              <p:nvPr/>
            </p:nvGrpSpPr>
            <p:grpSpPr bwMode="auto">
              <a:xfrm>
                <a:off x="1229" y="1762"/>
                <a:ext cx="2716" cy="1427"/>
                <a:chOff x="1229" y="1762"/>
                <a:chExt cx="2716" cy="1427"/>
              </a:xfrm>
            </p:grpSpPr>
            <p:sp>
              <p:nvSpPr>
                <p:cNvPr id="72965" name="Line 69"/>
                <p:cNvSpPr>
                  <a:spLocks noChangeShapeType="1"/>
                </p:cNvSpPr>
                <p:nvPr/>
              </p:nvSpPr>
              <p:spPr bwMode="auto">
                <a:xfrm>
                  <a:off x="1229" y="2064"/>
                  <a:ext cx="2717" cy="1"/>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66" name="Line 70"/>
                <p:cNvSpPr>
                  <a:spLocks noChangeShapeType="1"/>
                </p:cNvSpPr>
                <p:nvPr/>
              </p:nvSpPr>
              <p:spPr bwMode="auto">
                <a:xfrm>
                  <a:off x="1229" y="3167"/>
                  <a:ext cx="2717" cy="1"/>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67" name="Line 71"/>
                <p:cNvSpPr>
                  <a:spLocks noChangeShapeType="1"/>
                </p:cNvSpPr>
                <p:nvPr/>
              </p:nvSpPr>
              <p:spPr bwMode="auto">
                <a:xfrm>
                  <a:off x="1229" y="2086"/>
                  <a:ext cx="2717" cy="1"/>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68" name="Line 72"/>
                <p:cNvSpPr>
                  <a:spLocks noChangeShapeType="1"/>
                </p:cNvSpPr>
                <p:nvPr/>
              </p:nvSpPr>
              <p:spPr bwMode="auto">
                <a:xfrm>
                  <a:off x="1229" y="3189"/>
                  <a:ext cx="2717" cy="1"/>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69" name="Line 73"/>
                <p:cNvSpPr>
                  <a:spLocks noChangeShapeType="1"/>
                </p:cNvSpPr>
                <p:nvPr/>
              </p:nvSpPr>
              <p:spPr bwMode="auto">
                <a:xfrm>
                  <a:off x="1229" y="1762"/>
                  <a:ext cx="2717" cy="1"/>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70" name="Line 74"/>
                <p:cNvSpPr>
                  <a:spLocks noChangeShapeType="1"/>
                </p:cNvSpPr>
                <p:nvPr/>
              </p:nvSpPr>
              <p:spPr bwMode="auto">
                <a:xfrm>
                  <a:off x="1229" y="1783"/>
                  <a:ext cx="2717" cy="1"/>
                </a:xfrm>
                <a:prstGeom prst="line">
                  <a:avLst/>
                </a:prstGeom>
                <a:noFill/>
                <a:ln w="19080">
                  <a:solidFill>
                    <a:srgbClr val="0000FF"/>
                  </a:solidFill>
                  <a:miter lim="800000"/>
                  <a:headEnd type="triangle" w="med" len="med"/>
                  <a:tailEnd type="triangle" w="med" len="med"/>
                </a:ln>
              </p:spPr>
              <p:txBody>
                <a:bodyPr/>
                <a:lstStyle/>
                <a:p>
                  <a:endParaRPr lang="zh-CN" altLang="en-US"/>
                </a:p>
              </p:txBody>
            </p:sp>
          </p:grpSp>
          <p:sp>
            <p:nvSpPr>
              <p:cNvPr id="72948" name="Line 75"/>
              <p:cNvSpPr>
                <a:spLocks noChangeShapeType="1"/>
              </p:cNvSpPr>
              <p:nvPr/>
            </p:nvSpPr>
            <p:spPr bwMode="auto">
              <a:xfrm>
                <a:off x="1197" y="2331"/>
                <a:ext cx="2761" cy="1"/>
              </a:xfrm>
              <a:prstGeom prst="line">
                <a:avLst/>
              </a:prstGeom>
              <a:noFill/>
              <a:ln w="19080">
                <a:solidFill>
                  <a:srgbClr val="CCCCFF"/>
                </a:solidFill>
                <a:miter lim="800000"/>
                <a:headEnd type="triangle" w="med" len="med"/>
                <a:tailEnd type="triangle" w="med" len="med"/>
              </a:ln>
            </p:spPr>
            <p:txBody>
              <a:bodyPr/>
              <a:lstStyle/>
              <a:p>
                <a:endParaRPr lang="zh-CN" altLang="en-US"/>
              </a:p>
            </p:txBody>
          </p:sp>
          <p:grpSp>
            <p:nvGrpSpPr>
              <p:cNvPr id="72949" name="Group 76"/>
              <p:cNvGrpSpPr/>
              <p:nvPr/>
            </p:nvGrpSpPr>
            <p:grpSpPr bwMode="auto">
              <a:xfrm>
                <a:off x="1202" y="2353"/>
                <a:ext cx="2755" cy="550"/>
                <a:chOff x="1202" y="2353"/>
                <a:chExt cx="2755" cy="550"/>
              </a:xfrm>
            </p:grpSpPr>
            <p:sp>
              <p:nvSpPr>
                <p:cNvPr id="72963" name="Line 77"/>
                <p:cNvSpPr>
                  <a:spLocks noChangeShapeType="1"/>
                </p:cNvSpPr>
                <p:nvPr/>
              </p:nvSpPr>
              <p:spPr bwMode="auto">
                <a:xfrm>
                  <a:off x="1202" y="2353"/>
                  <a:ext cx="2756" cy="1"/>
                </a:xfrm>
                <a:prstGeom prst="line">
                  <a:avLst/>
                </a:prstGeom>
                <a:noFill/>
                <a:ln w="19080">
                  <a:solidFill>
                    <a:srgbClr val="0000FF"/>
                  </a:solidFill>
                  <a:miter lim="800000"/>
                  <a:headEnd type="triangle" w="med" len="med"/>
                  <a:tailEnd type="triangle" w="med" len="med"/>
                </a:ln>
              </p:spPr>
              <p:txBody>
                <a:bodyPr/>
                <a:lstStyle/>
                <a:p>
                  <a:endParaRPr lang="zh-CN" altLang="en-US"/>
                </a:p>
              </p:txBody>
            </p:sp>
            <p:sp>
              <p:nvSpPr>
                <p:cNvPr id="72964" name="Line 78"/>
                <p:cNvSpPr>
                  <a:spLocks noChangeShapeType="1"/>
                </p:cNvSpPr>
                <p:nvPr/>
              </p:nvSpPr>
              <p:spPr bwMode="auto">
                <a:xfrm>
                  <a:off x="1202" y="2903"/>
                  <a:ext cx="2756" cy="1"/>
                </a:xfrm>
                <a:prstGeom prst="line">
                  <a:avLst/>
                </a:prstGeom>
                <a:noFill/>
                <a:ln w="19080">
                  <a:solidFill>
                    <a:srgbClr val="0000FF"/>
                  </a:solidFill>
                  <a:miter lim="800000"/>
                  <a:headEnd type="triangle" w="med" len="med"/>
                  <a:tailEnd type="triangle" w="med" len="med"/>
                </a:ln>
              </p:spPr>
              <p:txBody>
                <a:bodyPr/>
                <a:lstStyle/>
                <a:p>
                  <a:endParaRPr lang="zh-CN" altLang="en-US"/>
                </a:p>
              </p:txBody>
            </p:sp>
          </p:grpSp>
          <p:sp>
            <p:nvSpPr>
              <p:cNvPr id="72950" name="Line 79"/>
              <p:cNvSpPr>
                <a:spLocks noChangeShapeType="1"/>
              </p:cNvSpPr>
              <p:nvPr/>
            </p:nvSpPr>
            <p:spPr bwMode="auto">
              <a:xfrm>
                <a:off x="1194" y="2607"/>
                <a:ext cx="2764" cy="1"/>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51" name="Line 80"/>
              <p:cNvSpPr>
                <a:spLocks noChangeShapeType="1"/>
              </p:cNvSpPr>
              <p:nvPr/>
            </p:nvSpPr>
            <p:spPr bwMode="auto">
              <a:xfrm>
                <a:off x="1194" y="2630"/>
                <a:ext cx="2764" cy="1"/>
              </a:xfrm>
              <a:prstGeom prst="line">
                <a:avLst/>
              </a:prstGeom>
              <a:noFill/>
              <a:ln w="19080">
                <a:solidFill>
                  <a:srgbClr val="0000FF"/>
                </a:solidFill>
                <a:miter lim="800000"/>
                <a:headEnd type="triangle" w="med" len="med"/>
                <a:tailEnd type="triangle" w="med" len="med"/>
              </a:ln>
            </p:spPr>
            <p:txBody>
              <a:bodyPr/>
              <a:lstStyle/>
              <a:p>
                <a:endParaRPr lang="zh-CN" altLang="en-US"/>
              </a:p>
            </p:txBody>
          </p:sp>
          <p:grpSp>
            <p:nvGrpSpPr>
              <p:cNvPr id="72952" name="Group 81"/>
              <p:cNvGrpSpPr/>
              <p:nvPr/>
            </p:nvGrpSpPr>
            <p:grpSpPr bwMode="auto">
              <a:xfrm>
                <a:off x="1194" y="3439"/>
                <a:ext cx="2767" cy="22"/>
                <a:chOff x="1194" y="3439"/>
                <a:chExt cx="2767" cy="22"/>
              </a:xfrm>
            </p:grpSpPr>
            <p:sp>
              <p:nvSpPr>
                <p:cNvPr id="72961" name="Line 82"/>
                <p:cNvSpPr>
                  <a:spLocks noChangeShapeType="1"/>
                </p:cNvSpPr>
                <p:nvPr/>
              </p:nvSpPr>
              <p:spPr bwMode="auto">
                <a:xfrm>
                  <a:off x="1194" y="3439"/>
                  <a:ext cx="2768" cy="1"/>
                </a:xfrm>
                <a:prstGeom prst="line">
                  <a:avLst/>
                </a:prstGeom>
                <a:noFill/>
                <a:ln w="19080">
                  <a:solidFill>
                    <a:srgbClr val="CCCCFF"/>
                  </a:solidFill>
                  <a:miter lim="800000"/>
                  <a:headEnd type="triangle" w="med" len="med"/>
                  <a:tailEnd type="triangle" w="med" len="med"/>
                </a:ln>
              </p:spPr>
              <p:txBody>
                <a:bodyPr/>
                <a:lstStyle/>
                <a:p>
                  <a:endParaRPr lang="zh-CN" altLang="en-US"/>
                </a:p>
              </p:txBody>
            </p:sp>
            <p:sp>
              <p:nvSpPr>
                <p:cNvPr id="72962" name="Line 83"/>
                <p:cNvSpPr>
                  <a:spLocks noChangeShapeType="1"/>
                </p:cNvSpPr>
                <p:nvPr/>
              </p:nvSpPr>
              <p:spPr bwMode="auto">
                <a:xfrm>
                  <a:off x="1194" y="3461"/>
                  <a:ext cx="2768" cy="1"/>
                </a:xfrm>
                <a:prstGeom prst="line">
                  <a:avLst/>
                </a:prstGeom>
                <a:noFill/>
                <a:ln w="19080">
                  <a:solidFill>
                    <a:srgbClr val="0000FF"/>
                  </a:solidFill>
                  <a:miter lim="800000"/>
                  <a:headEnd type="triangle" w="med" len="med"/>
                  <a:tailEnd type="triangle" w="med" len="med"/>
                </a:ln>
              </p:spPr>
              <p:txBody>
                <a:bodyPr/>
                <a:lstStyle/>
                <a:p>
                  <a:endParaRPr lang="zh-CN" altLang="en-US"/>
                </a:p>
              </p:txBody>
            </p:sp>
          </p:grpSp>
          <p:sp>
            <p:nvSpPr>
              <p:cNvPr id="72953" name="Line 84"/>
              <p:cNvSpPr>
                <a:spLocks noChangeShapeType="1"/>
              </p:cNvSpPr>
              <p:nvPr/>
            </p:nvSpPr>
            <p:spPr bwMode="auto">
              <a:xfrm>
                <a:off x="1196" y="1801"/>
                <a:ext cx="2765" cy="1"/>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54" name="Line 85"/>
              <p:cNvSpPr>
                <a:spLocks noChangeShapeType="1"/>
              </p:cNvSpPr>
              <p:nvPr/>
            </p:nvSpPr>
            <p:spPr bwMode="auto">
              <a:xfrm>
                <a:off x="1196" y="2376"/>
                <a:ext cx="2765" cy="1"/>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55" name="Line 86"/>
              <p:cNvSpPr>
                <a:spLocks noChangeShapeType="1"/>
              </p:cNvSpPr>
              <p:nvPr/>
            </p:nvSpPr>
            <p:spPr bwMode="auto">
              <a:xfrm>
                <a:off x="1196" y="2924"/>
                <a:ext cx="2765" cy="1"/>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56" name="Line 87"/>
              <p:cNvSpPr>
                <a:spLocks noChangeShapeType="1"/>
              </p:cNvSpPr>
              <p:nvPr/>
            </p:nvSpPr>
            <p:spPr bwMode="auto">
              <a:xfrm>
                <a:off x="1196" y="3481"/>
                <a:ext cx="2765" cy="1"/>
              </a:xfrm>
              <a:prstGeom prst="line">
                <a:avLst/>
              </a:prstGeom>
              <a:noFill/>
              <a:ln w="19080">
                <a:solidFill>
                  <a:srgbClr val="000000"/>
                </a:solidFill>
                <a:miter lim="800000"/>
                <a:headEnd type="triangle" w="med" len="med"/>
                <a:tailEnd type="triangle" w="med" len="med"/>
              </a:ln>
            </p:spPr>
            <p:txBody>
              <a:bodyPr/>
              <a:lstStyle/>
              <a:p>
                <a:endParaRPr lang="zh-CN" altLang="en-US"/>
              </a:p>
            </p:txBody>
          </p:sp>
          <p:sp>
            <p:nvSpPr>
              <p:cNvPr id="72957" name="Line 88"/>
              <p:cNvSpPr>
                <a:spLocks noChangeShapeType="1"/>
              </p:cNvSpPr>
              <p:nvPr/>
            </p:nvSpPr>
            <p:spPr bwMode="auto">
              <a:xfrm>
                <a:off x="1199" y="1822"/>
                <a:ext cx="2765" cy="1"/>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58" name="Line 89"/>
              <p:cNvSpPr>
                <a:spLocks noChangeShapeType="1"/>
              </p:cNvSpPr>
              <p:nvPr/>
            </p:nvSpPr>
            <p:spPr bwMode="auto">
              <a:xfrm>
                <a:off x="1199" y="2396"/>
                <a:ext cx="2765" cy="1"/>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59" name="Line 90"/>
              <p:cNvSpPr>
                <a:spLocks noChangeShapeType="1"/>
              </p:cNvSpPr>
              <p:nvPr/>
            </p:nvSpPr>
            <p:spPr bwMode="auto">
              <a:xfrm>
                <a:off x="1199" y="2944"/>
                <a:ext cx="2765" cy="1"/>
              </a:xfrm>
              <a:prstGeom prst="line">
                <a:avLst/>
              </a:prstGeom>
              <a:noFill/>
              <a:ln w="19080">
                <a:solidFill>
                  <a:srgbClr val="00FF00"/>
                </a:solidFill>
                <a:miter lim="800000"/>
                <a:headEnd type="triangle" w="med" len="med"/>
                <a:tailEnd type="triangle" w="med" len="med"/>
              </a:ln>
            </p:spPr>
            <p:txBody>
              <a:bodyPr/>
              <a:lstStyle/>
              <a:p>
                <a:endParaRPr lang="zh-CN" altLang="en-US"/>
              </a:p>
            </p:txBody>
          </p:sp>
          <p:sp>
            <p:nvSpPr>
              <p:cNvPr id="72960" name="Line 91"/>
              <p:cNvSpPr>
                <a:spLocks noChangeShapeType="1"/>
              </p:cNvSpPr>
              <p:nvPr/>
            </p:nvSpPr>
            <p:spPr bwMode="auto">
              <a:xfrm>
                <a:off x="1199" y="3502"/>
                <a:ext cx="2765" cy="1"/>
              </a:xfrm>
              <a:prstGeom prst="line">
                <a:avLst/>
              </a:prstGeom>
              <a:noFill/>
              <a:ln w="19080">
                <a:solidFill>
                  <a:srgbClr val="00FF00"/>
                </a:solidFill>
                <a:miter lim="800000"/>
                <a:headEnd type="triangle" w="med" len="med"/>
                <a:tailEnd type="triangle" w="med" len="med"/>
              </a:ln>
            </p:spPr>
            <p:txBody>
              <a:bodyPr/>
              <a:lstStyle/>
              <a:p>
                <a:endParaRPr lang="zh-CN" altLang="en-US"/>
              </a:p>
            </p:txBody>
          </p:sp>
        </p:grpSp>
        <p:grpSp>
          <p:nvGrpSpPr>
            <p:cNvPr id="72713" name="Group 92"/>
            <p:cNvGrpSpPr/>
            <p:nvPr/>
          </p:nvGrpSpPr>
          <p:grpSpPr bwMode="auto">
            <a:xfrm>
              <a:off x="1197" y="1415"/>
              <a:ext cx="2769" cy="2150"/>
              <a:chOff x="1197" y="1415"/>
              <a:chExt cx="2769" cy="2150"/>
            </a:xfrm>
          </p:grpSpPr>
          <p:sp>
            <p:nvSpPr>
              <p:cNvPr id="78941" name="Rectangle 93"/>
              <p:cNvSpPr>
                <a:spLocks noChangeArrowheads="1"/>
              </p:cNvSpPr>
              <p:nvPr/>
            </p:nvSpPr>
            <p:spPr bwMode="auto">
              <a:xfrm>
                <a:off x="1197" y="1419"/>
                <a:ext cx="236"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42" name="Rectangle 94"/>
              <p:cNvSpPr>
                <a:spLocks noChangeArrowheads="1"/>
              </p:cNvSpPr>
              <p:nvPr/>
            </p:nvSpPr>
            <p:spPr bwMode="auto">
              <a:xfrm>
                <a:off x="1918" y="1420"/>
                <a:ext cx="242" cy="187"/>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43" name="Rectangle 95"/>
              <p:cNvSpPr>
                <a:spLocks noChangeArrowheads="1"/>
              </p:cNvSpPr>
              <p:nvPr/>
            </p:nvSpPr>
            <p:spPr bwMode="auto">
              <a:xfrm>
                <a:off x="2278" y="1420"/>
                <a:ext cx="239" cy="187"/>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44" name="Rectangle 96"/>
              <p:cNvSpPr>
                <a:spLocks noChangeArrowheads="1"/>
              </p:cNvSpPr>
              <p:nvPr/>
            </p:nvSpPr>
            <p:spPr bwMode="auto">
              <a:xfrm>
                <a:off x="2631" y="1416"/>
                <a:ext cx="238"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45" name="Rectangle 97"/>
              <p:cNvSpPr>
                <a:spLocks noChangeArrowheads="1"/>
              </p:cNvSpPr>
              <p:nvPr/>
            </p:nvSpPr>
            <p:spPr bwMode="auto">
              <a:xfrm>
                <a:off x="2990" y="1419"/>
                <a:ext cx="236"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46" name="Rectangle 98"/>
              <p:cNvSpPr>
                <a:spLocks noChangeArrowheads="1"/>
              </p:cNvSpPr>
              <p:nvPr/>
            </p:nvSpPr>
            <p:spPr bwMode="auto">
              <a:xfrm>
                <a:off x="3354" y="1419"/>
                <a:ext cx="237"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47" name="Rectangle 99"/>
              <p:cNvSpPr>
                <a:spLocks noChangeArrowheads="1"/>
              </p:cNvSpPr>
              <p:nvPr/>
            </p:nvSpPr>
            <p:spPr bwMode="auto">
              <a:xfrm>
                <a:off x="3727" y="1415"/>
                <a:ext cx="238"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48" name="Rectangle 100"/>
              <p:cNvSpPr>
                <a:spLocks noChangeArrowheads="1"/>
              </p:cNvSpPr>
              <p:nvPr/>
            </p:nvSpPr>
            <p:spPr bwMode="auto">
              <a:xfrm>
                <a:off x="1197" y="1701"/>
                <a:ext cx="238" cy="185"/>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49" name="Rectangle 101"/>
              <p:cNvSpPr>
                <a:spLocks noChangeArrowheads="1"/>
              </p:cNvSpPr>
              <p:nvPr/>
            </p:nvSpPr>
            <p:spPr bwMode="auto">
              <a:xfrm>
                <a:off x="1559" y="1701"/>
                <a:ext cx="235" cy="185"/>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50" name="Rectangle 102"/>
              <p:cNvSpPr>
                <a:spLocks noChangeArrowheads="1"/>
              </p:cNvSpPr>
              <p:nvPr/>
            </p:nvSpPr>
            <p:spPr bwMode="auto">
              <a:xfrm>
                <a:off x="1918" y="1701"/>
                <a:ext cx="236"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51" name="Rectangle 103"/>
              <p:cNvSpPr>
                <a:spLocks noChangeArrowheads="1"/>
              </p:cNvSpPr>
              <p:nvPr/>
            </p:nvSpPr>
            <p:spPr bwMode="auto">
              <a:xfrm>
                <a:off x="2278" y="1701"/>
                <a:ext cx="239"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52" name="Rectangle 104"/>
              <p:cNvSpPr>
                <a:spLocks noChangeArrowheads="1"/>
              </p:cNvSpPr>
              <p:nvPr/>
            </p:nvSpPr>
            <p:spPr bwMode="auto">
              <a:xfrm>
                <a:off x="2631" y="1694"/>
                <a:ext cx="238" cy="187"/>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53" name="Rectangle 105"/>
              <p:cNvSpPr>
                <a:spLocks noChangeArrowheads="1"/>
              </p:cNvSpPr>
              <p:nvPr/>
            </p:nvSpPr>
            <p:spPr bwMode="auto">
              <a:xfrm>
                <a:off x="2990" y="1701"/>
                <a:ext cx="236" cy="185"/>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54" name="Rectangle 106"/>
              <p:cNvSpPr>
                <a:spLocks noChangeArrowheads="1"/>
              </p:cNvSpPr>
              <p:nvPr/>
            </p:nvSpPr>
            <p:spPr bwMode="auto">
              <a:xfrm>
                <a:off x="3727" y="1692"/>
                <a:ext cx="238" cy="189"/>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55" name="Rectangle 107"/>
              <p:cNvSpPr>
                <a:spLocks noChangeArrowheads="1"/>
              </p:cNvSpPr>
              <p:nvPr/>
            </p:nvSpPr>
            <p:spPr bwMode="auto">
              <a:xfrm>
                <a:off x="1197" y="1977"/>
                <a:ext cx="238"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56" name="Rectangle 108"/>
              <p:cNvSpPr>
                <a:spLocks noChangeArrowheads="1"/>
              </p:cNvSpPr>
              <p:nvPr/>
            </p:nvSpPr>
            <p:spPr bwMode="auto">
              <a:xfrm>
                <a:off x="1559" y="1976"/>
                <a:ext cx="235"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57" name="Rectangle 109"/>
              <p:cNvSpPr>
                <a:spLocks noChangeArrowheads="1"/>
              </p:cNvSpPr>
              <p:nvPr/>
            </p:nvSpPr>
            <p:spPr bwMode="auto">
              <a:xfrm>
                <a:off x="1918" y="1978"/>
                <a:ext cx="242" cy="190"/>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58" name="Rectangle 110"/>
              <p:cNvSpPr>
                <a:spLocks noChangeArrowheads="1"/>
              </p:cNvSpPr>
              <p:nvPr/>
            </p:nvSpPr>
            <p:spPr bwMode="auto">
              <a:xfrm>
                <a:off x="2631" y="1976"/>
                <a:ext cx="238" cy="189"/>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59" name="Rectangle 111"/>
              <p:cNvSpPr>
                <a:spLocks noChangeArrowheads="1"/>
              </p:cNvSpPr>
              <p:nvPr/>
            </p:nvSpPr>
            <p:spPr bwMode="auto">
              <a:xfrm>
                <a:off x="2990" y="1977"/>
                <a:ext cx="239"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60" name="Rectangle 112"/>
              <p:cNvSpPr>
                <a:spLocks noChangeArrowheads="1"/>
              </p:cNvSpPr>
              <p:nvPr/>
            </p:nvSpPr>
            <p:spPr bwMode="auto">
              <a:xfrm>
                <a:off x="3354" y="1977"/>
                <a:ext cx="237"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61" name="Rectangle 113"/>
              <p:cNvSpPr>
                <a:spLocks noChangeArrowheads="1"/>
              </p:cNvSpPr>
              <p:nvPr/>
            </p:nvSpPr>
            <p:spPr bwMode="auto">
              <a:xfrm>
                <a:off x="3727" y="1976"/>
                <a:ext cx="238" cy="186"/>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62" name="Rectangle 114"/>
              <p:cNvSpPr>
                <a:spLocks noChangeArrowheads="1"/>
              </p:cNvSpPr>
              <p:nvPr/>
            </p:nvSpPr>
            <p:spPr bwMode="auto">
              <a:xfrm>
                <a:off x="1197" y="2255"/>
                <a:ext cx="238"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63" name="Rectangle 115"/>
              <p:cNvSpPr>
                <a:spLocks noChangeArrowheads="1"/>
              </p:cNvSpPr>
              <p:nvPr/>
            </p:nvSpPr>
            <p:spPr bwMode="auto">
              <a:xfrm>
                <a:off x="1918" y="2258"/>
                <a:ext cx="242" cy="187"/>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64" name="Rectangle 116"/>
              <p:cNvSpPr>
                <a:spLocks noChangeArrowheads="1"/>
              </p:cNvSpPr>
              <p:nvPr/>
            </p:nvSpPr>
            <p:spPr bwMode="auto">
              <a:xfrm>
                <a:off x="2278" y="2258"/>
                <a:ext cx="235" cy="187"/>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65" name="Rectangle 117"/>
              <p:cNvSpPr>
                <a:spLocks noChangeArrowheads="1"/>
              </p:cNvSpPr>
              <p:nvPr/>
            </p:nvSpPr>
            <p:spPr bwMode="auto">
              <a:xfrm>
                <a:off x="2631" y="2254"/>
                <a:ext cx="238" cy="190"/>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66" name="Rectangle 118"/>
              <p:cNvSpPr>
                <a:spLocks noChangeArrowheads="1"/>
              </p:cNvSpPr>
              <p:nvPr/>
            </p:nvSpPr>
            <p:spPr bwMode="auto">
              <a:xfrm>
                <a:off x="3354" y="2255"/>
                <a:ext cx="237"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67" name="Rectangle 119"/>
              <p:cNvSpPr>
                <a:spLocks noChangeArrowheads="1"/>
              </p:cNvSpPr>
              <p:nvPr/>
            </p:nvSpPr>
            <p:spPr bwMode="auto">
              <a:xfrm>
                <a:off x="3727" y="2252"/>
                <a:ext cx="238"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68" name="Rectangle 120"/>
              <p:cNvSpPr>
                <a:spLocks noChangeArrowheads="1"/>
              </p:cNvSpPr>
              <p:nvPr/>
            </p:nvSpPr>
            <p:spPr bwMode="auto">
              <a:xfrm>
                <a:off x="1197" y="2533"/>
                <a:ext cx="238" cy="186"/>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69" name="Rectangle 121"/>
              <p:cNvSpPr>
                <a:spLocks noChangeArrowheads="1"/>
              </p:cNvSpPr>
              <p:nvPr/>
            </p:nvSpPr>
            <p:spPr bwMode="auto">
              <a:xfrm>
                <a:off x="1559" y="2533"/>
                <a:ext cx="235" cy="186"/>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70" name="Rectangle 122"/>
              <p:cNvSpPr>
                <a:spLocks noChangeArrowheads="1"/>
              </p:cNvSpPr>
              <p:nvPr/>
            </p:nvSpPr>
            <p:spPr bwMode="auto">
              <a:xfrm>
                <a:off x="1918" y="2535"/>
                <a:ext cx="236" cy="191"/>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71" name="Rectangle 123"/>
              <p:cNvSpPr>
                <a:spLocks noChangeArrowheads="1"/>
              </p:cNvSpPr>
              <p:nvPr/>
            </p:nvSpPr>
            <p:spPr bwMode="auto">
              <a:xfrm>
                <a:off x="2278" y="2535"/>
                <a:ext cx="235" cy="192"/>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72" name="Rectangle 124"/>
              <p:cNvSpPr>
                <a:spLocks noChangeArrowheads="1"/>
              </p:cNvSpPr>
              <p:nvPr/>
            </p:nvSpPr>
            <p:spPr bwMode="auto">
              <a:xfrm>
                <a:off x="2631" y="2533"/>
                <a:ext cx="238" cy="187"/>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73" name="Rectangle 125"/>
              <p:cNvSpPr>
                <a:spLocks noChangeArrowheads="1"/>
              </p:cNvSpPr>
              <p:nvPr/>
            </p:nvSpPr>
            <p:spPr bwMode="auto">
              <a:xfrm>
                <a:off x="2990" y="2533"/>
                <a:ext cx="239" cy="186"/>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74" name="Rectangle 126"/>
              <p:cNvSpPr>
                <a:spLocks noChangeArrowheads="1"/>
              </p:cNvSpPr>
              <p:nvPr/>
            </p:nvSpPr>
            <p:spPr bwMode="auto">
              <a:xfrm>
                <a:off x="3727" y="2530"/>
                <a:ext cx="238" cy="187"/>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75" name="Rectangle 127"/>
              <p:cNvSpPr>
                <a:spLocks noChangeArrowheads="1"/>
              </p:cNvSpPr>
              <p:nvPr/>
            </p:nvSpPr>
            <p:spPr bwMode="auto">
              <a:xfrm>
                <a:off x="1197" y="2810"/>
                <a:ext cx="238" cy="191"/>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76" name="Rectangle 128"/>
              <p:cNvSpPr>
                <a:spLocks noChangeArrowheads="1"/>
              </p:cNvSpPr>
              <p:nvPr/>
            </p:nvSpPr>
            <p:spPr bwMode="auto">
              <a:xfrm>
                <a:off x="1559" y="2810"/>
                <a:ext cx="235" cy="191"/>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77" name="Rectangle 129"/>
              <p:cNvSpPr>
                <a:spLocks noChangeArrowheads="1"/>
              </p:cNvSpPr>
              <p:nvPr/>
            </p:nvSpPr>
            <p:spPr bwMode="auto">
              <a:xfrm>
                <a:off x="1918" y="2822"/>
                <a:ext cx="242" cy="183"/>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78" name="Rectangle 130"/>
              <p:cNvSpPr>
                <a:spLocks noChangeArrowheads="1"/>
              </p:cNvSpPr>
              <p:nvPr/>
            </p:nvSpPr>
            <p:spPr bwMode="auto">
              <a:xfrm>
                <a:off x="2278" y="2822"/>
                <a:ext cx="235" cy="183"/>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79" name="Rectangle 131"/>
              <p:cNvSpPr>
                <a:spLocks noChangeArrowheads="1"/>
              </p:cNvSpPr>
              <p:nvPr/>
            </p:nvSpPr>
            <p:spPr bwMode="auto">
              <a:xfrm>
                <a:off x="2631" y="2811"/>
                <a:ext cx="238"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80" name="Rectangle 132"/>
              <p:cNvSpPr>
                <a:spLocks noChangeArrowheads="1"/>
              </p:cNvSpPr>
              <p:nvPr/>
            </p:nvSpPr>
            <p:spPr bwMode="auto">
              <a:xfrm>
                <a:off x="2990" y="2810"/>
                <a:ext cx="239" cy="191"/>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81" name="Rectangle 133"/>
              <p:cNvSpPr>
                <a:spLocks noChangeArrowheads="1"/>
              </p:cNvSpPr>
              <p:nvPr/>
            </p:nvSpPr>
            <p:spPr bwMode="auto">
              <a:xfrm>
                <a:off x="3354" y="2810"/>
                <a:ext cx="237" cy="191"/>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82" name="Rectangle 134"/>
              <p:cNvSpPr>
                <a:spLocks noChangeArrowheads="1"/>
              </p:cNvSpPr>
              <p:nvPr/>
            </p:nvSpPr>
            <p:spPr bwMode="auto">
              <a:xfrm>
                <a:off x="3727" y="2807"/>
                <a:ext cx="238"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83" name="Rectangle 135"/>
              <p:cNvSpPr>
                <a:spLocks noChangeArrowheads="1"/>
              </p:cNvSpPr>
              <p:nvPr/>
            </p:nvSpPr>
            <p:spPr bwMode="auto">
              <a:xfrm>
                <a:off x="1197" y="3097"/>
                <a:ext cx="238" cy="185"/>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84" name="Rectangle 136"/>
              <p:cNvSpPr>
                <a:spLocks noChangeArrowheads="1"/>
              </p:cNvSpPr>
              <p:nvPr/>
            </p:nvSpPr>
            <p:spPr bwMode="auto">
              <a:xfrm>
                <a:off x="1918" y="3097"/>
                <a:ext cx="236" cy="186"/>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85" name="Rectangle 137"/>
              <p:cNvSpPr>
                <a:spLocks noChangeArrowheads="1"/>
              </p:cNvSpPr>
              <p:nvPr/>
            </p:nvSpPr>
            <p:spPr bwMode="auto">
              <a:xfrm>
                <a:off x="2278" y="3097"/>
                <a:ext cx="235" cy="186"/>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86" name="Rectangle 138"/>
              <p:cNvSpPr>
                <a:spLocks noChangeArrowheads="1"/>
              </p:cNvSpPr>
              <p:nvPr/>
            </p:nvSpPr>
            <p:spPr bwMode="auto">
              <a:xfrm>
                <a:off x="2631" y="3097"/>
                <a:ext cx="238" cy="183"/>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87" name="Rectangle 139"/>
              <p:cNvSpPr>
                <a:spLocks noChangeArrowheads="1"/>
              </p:cNvSpPr>
              <p:nvPr/>
            </p:nvSpPr>
            <p:spPr bwMode="auto">
              <a:xfrm>
                <a:off x="2990" y="3097"/>
                <a:ext cx="236" cy="185"/>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88" name="Rectangle 140"/>
              <p:cNvSpPr>
                <a:spLocks noChangeArrowheads="1"/>
              </p:cNvSpPr>
              <p:nvPr/>
            </p:nvSpPr>
            <p:spPr bwMode="auto">
              <a:xfrm>
                <a:off x="3727" y="3095"/>
                <a:ext cx="240" cy="185"/>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89" name="Rectangle 141"/>
              <p:cNvSpPr>
                <a:spLocks noChangeArrowheads="1"/>
              </p:cNvSpPr>
              <p:nvPr/>
            </p:nvSpPr>
            <p:spPr bwMode="auto">
              <a:xfrm>
                <a:off x="1197" y="3372"/>
                <a:ext cx="238" cy="190"/>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90" name="Rectangle 142"/>
              <p:cNvSpPr>
                <a:spLocks noChangeArrowheads="1"/>
              </p:cNvSpPr>
              <p:nvPr/>
            </p:nvSpPr>
            <p:spPr bwMode="auto">
              <a:xfrm>
                <a:off x="1559" y="3372"/>
                <a:ext cx="235" cy="190"/>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91" name="Rectangle 143"/>
              <p:cNvSpPr>
                <a:spLocks noChangeArrowheads="1"/>
              </p:cNvSpPr>
              <p:nvPr/>
            </p:nvSpPr>
            <p:spPr bwMode="auto">
              <a:xfrm>
                <a:off x="1918" y="3372"/>
                <a:ext cx="242" cy="192"/>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92" name="Rectangle 144"/>
              <p:cNvSpPr>
                <a:spLocks noChangeArrowheads="1"/>
              </p:cNvSpPr>
              <p:nvPr/>
            </p:nvSpPr>
            <p:spPr bwMode="auto">
              <a:xfrm>
                <a:off x="2278" y="3372"/>
                <a:ext cx="235" cy="192"/>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93" name="Rectangle 145"/>
              <p:cNvSpPr>
                <a:spLocks noChangeArrowheads="1"/>
              </p:cNvSpPr>
              <p:nvPr/>
            </p:nvSpPr>
            <p:spPr bwMode="auto">
              <a:xfrm>
                <a:off x="2631" y="3371"/>
                <a:ext cx="238"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94" name="Rectangle 146"/>
              <p:cNvSpPr>
                <a:spLocks noChangeArrowheads="1"/>
              </p:cNvSpPr>
              <p:nvPr/>
            </p:nvSpPr>
            <p:spPr bwMode="auto">
              <a:xfrm>
                <a:off x="2990" y="3372"/>
                <a:ext cx="239" cy="190"/>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95" name="Rectangle 147"/>
              <p:cNvSpPr>
                <a:spLocks noChangeArrowheads="1"/>
              </p:cNvSpPr>
              <p:nvPr/>
            </p:nvSpPr>
            <p:spPr bwMode="auto">
              <a:xfrm>
                <a:off x="3354" y="3372"/>
                <a:ext cx="237" cy="190"/>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96" name="Rectangle 148"/>
              <p:cNvSpPr>
                <a:spLocks noChangeArrowheads="1"/>
              </p:cNvSpPr>
              <p:nvPr/>
            </p:nvSpPr>
            <p:spPr bwMode="auto">
              <a:xfrm>
                <a:off x="3727" y="3371"/>
                <a:ext cx="238" cy="185"/>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97" name="Rectangle 149"/>
              <p:cNvSpPr>
                <a:spLocks noChangeArrowheads="1"/>
              </p:cNvSpPr>
              <p:nvPr/>
            </p:nvSpPr>
            <p:spPr bwMode="auto">
              <a:xfrm>
                <a:off x="1559" y="1419"/>
                <a:ext cx="235"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98" name="Rectangle 150"/>
              <p:cNvSpPr>
                <a:spLocks noChangeArrowheads="1"/>
              </p:cNvSpPr>
              <p:nvPr/>
            </p:nvSpPr>
            <p:spPr bwMode="auto">
              <a:xfrm>
                <a:off x="3354" y="1701"/>
                <a:ext cx="237" cy="185"/>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8999" name="Rectangle 151"/>
              <p:cNvSpPr>
                <a:spLocks noChangeArrowheads="1"/>
              </p:cNvSpPr>
              <p:nvPr/>
            </p:nvSpPr>
            <p:spPr bwMode="auto">
              <a:xfrm>
                <a:off x="2278" y="1978"/>
                <a:ext cx="239" cy="190"/>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9000" name="Rectangle 152"/>
              <p:cNvSpPr>
                <a:spLocks noChangeArrowheads="1"/>
              </p:cNvSpPr>
              <p:nvPr/>
            </p:nvSpPr>
            <p:spPr bwMode="auto">
              <a:xfrm>
                <a:off x="1559" y="2254"/>
                <a:ext cx="235"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9001" name="Rectangle 153"/>
              <p:cNvSpPr>
                <a:spLocks noChangeArrowheads="1"/>
              </p:cNvSpPr>
              <p:nvPr/>
            </p:nvSpPr>
            <p:spPr bwMode="auto">
              <a:xfrm>
                <a:off x="2990" y="2255"/>
                <a:ext cx="239" cy="188"/>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9002" name="Rectangle 154"/>
              <p:cNvSpPr>
                <a:spLocks noChangeArrowheads="1"/>
              </p:cNvSpPr>
              <p:nvPr/>
            </p:nvSpPr>
            <p:spPr bwMode="auto">
              <a:xfrm>
                <a:off x="3354" y="2533"/>
                <a:ext cx="237" cy="186"/>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9003" name="Rectangle 155"/>
              <p:cNvSpPr>
                <a:spLocks noChangeArrowheads="1"/>
              </p:cNvSpPr>
              <p:nvPr/>
            </p:nvSpPr>
            <p:spPr bwMode="auto">
              <a:xfrm>
                <a:off x="1559" y="3097"/>
                <a:ext cx="235" cy="185"/>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sp>
            <p:nvSpPr>
              <p:cNvPr id="79004" name="Rectangle 156"/>
              <p:cNvSpPr>
                <a:spLocks noChangeArrowheads="1"/>
              </p:cNvSpPr>
              <p:nvPr/>
            </p:nvSpPr>
            <p:spPr bwMode="auto">
              <a:xfrm>
                <a:off x="3354" y="3097"/>
                <a:ext cx="237" cy="185"/>
              </a:xfrm>
              <a:prstGeom prst="rect">
                <a:avLst/>
              </a:prstGeom>
              <a:gradFill rotWithShape="0">
                <a:gsLst>
                  <a:gs pos="0">
                    <a:srgbClr val="C0C0C0"/>
                  </a:gs>
                  <a:gs pos="100000">
                    <a:srgbClr val="EAEAEA"/>
                  </a:gs>
                </a:gsLst>
                <a:lin ang="13500000" scaled="1"/>
              </a:gradFill>
              <a:ln w="9360">
                <a:solidFill>
                  <a:srgbClr val="6699FF"/>
                </a:solidFill>
                <a:miter lim="800000"/>
              </a:ln>
              <a:effectLst>
                <a:outerShdw dist="17819" dir="2700000" algn="ctr" rotWithShape="0">
                  <a:srgbClr val="808080"/>
                </a:outerShdw>
              </a:effectLst>
            </p:spPr>
            <p:txBody>
              <a:bodyPr wrap="none" anchor="ctr"/>
              <a:lstStyle/>
              <a:p>
                <a:pPr algn="ctr">
                  <a:defRPr/>
                </a:pPr>
                <a:endParaRPr lang="zh-CN" altLang="en-US"/>
              </a:p>
            </p:txBody>
          </p:sp>
        </p:grpSp>
        <p:sp>
          <p:nvSpPr>
            <p:cNvPr id="79005" name="Rectangle 157"/>
            <p:cNvSpPr>
              <a:spLocks noChangeArrowheads="1"/>
            </p:cNvSpPr>
            <p:nvPr/>
          </p:nvSpPr>
          <p:spPr bwMode="auto">
            <a:xfrm>
              <a:off x="626" y="1997"/>
              <a:ext cx="430" cy="120"/>
            </a:xfrm>
            <a:prstGeom prst="rect">
              <a:avLst/>
            </a:prstGeom>
            <a:solidFill>
              <a:srgbClr val="00FF00"/>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Serdes</a:t>
              </a:r>
              <a:endParaRPr lang="en-US" altLang="zh-CN" sz="900">
                <a:solidFill>
                  <a:srgbClr val="000000"/>
                </a:solidFill>
                <a:latin typeface="Arial Narrow" pitchFamily="34" charset="0"/>
              </a:endParaRPr>
            </a:p>
          </p:txBody>
        </p:sp>
        <p:sp>
          <p:nvSpPr>
            <p:cNvPr id="79006" name="Rectangle 158"/>
            <p:cNvSpPr>
              <a:spLocks noChangeArrowheads="1"/>
            </p:cNvSpPr>
            <p:nvPr/>
          </p:nvSpPr>
          <p:spPr bwMode="auto">
            <a:xfrm>
              <a:off x="626" y="3433"/>
              <a:ext cx="431" cy="120"/>
            </a:xfrm>
            <a:prstGeom prst="rect">
              <a:avLst/>
            </a:prstGeom>
            <a:solidFill>
              <a:srgbClr val="00FF00"/>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Serdes</a:t>
              </a:r>
              <a:endParaRPr lang="en-US" altLang="zh-CN" sz="900">
                <a:solidFill>
                  <a:srgbClr val="000000"/>
                </a:solidFill>
                <a:latin typeface="Arial Narrow" pitchFamily="34" charset="0"/>
              </a:endParaRPr>
            </a:p>
          </p:txBody>
        </p:sp>
        <p:sp>
          <p:nvSpPr>
            <p:cNvPr id="79007" name="Rectangle 159"/>
            <p:cNvSpPr>
              <a:spLocks noChangeArrowheads="1"/>
            </p:cNvSpPr>
            <p:nvPr/>
          </p:nvSpPr>
          <p:spPr bwMode="auto">
            <a:xfrm>
              <a:off x="4112" y="2773"/>
              <a:ext cx="417" cy="202"/>
            </a:xfrm>
            <a:prstGeom prst="rect">
              <a:avLst/>
            </a:prstGeom>
            <a:solidFill>
              <a:srgbClr val="89B0FF"/>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Flexible IO</a:t>
              </a:r>
              <a:endParaRPr lang="en-US" altLang="zh-CN" sz="900">
                <a:solidFill>
                  <a:srgbClr val="000000"/>
                </a:solidFill>
                <a:latin typeface="Arial Narrow" pitchFamily="34" charset="0"/>
              </a:endParaRPr>
            </a:p>
          </p:txBody>
        </p:sp>
        <p:sp>
          <p:nvSpPr>
            <p:cNvPr id="79008" name="Rectangle 160"/>
            <p:cNvSpPr>
              <a:spLocks noChangeArrowheads="1"/>
            </p:cNvSpPr>
            <p:nvPr/>
          </p:nvSpPr>
          <p:spPr bwMode="auto">
            <a:xfrm>
              <a:off x="4110" y="2231"/>
              <a:ext cx="426" cy="189"/>
            </a:xfrm>
            <a:prstGeom prst="rect">
              <a:avLst/>
            </a:prstGeom>
            <a:solidFill>
              <a:srgbClr val="89B0FF"/>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GbE 0</a:t>
              </a:r>
              <a:endParaRPr lang="en-US" altLang="zh-CN" sz="900">
                <a:solidFill>
                  <a:srgbClr val="000000"/>
                </a:solidFill>
                <a:latin typeface="Arial Narrow" pitchFamily="34" charset="0"/>
              </a:endParaRPr>
            </a:p>
          </p:txBody>
        </p:sp>
        <p:sp>
          <p:nvSpPr>
            <p:cNvPr id="79009" name="Rectangle 161"/>
            <p:cNvSpPr>
              <a:spLocks noChangeArrowheads="1"/>
            </p:cNvSpPr>
            <p:nvPr/>
          </p:nvSpPr>
          <p:spPr bwMode="auto">
            <a:xfrm>
              <a:off x="4110" y="2514"/>
              <a:ext cx="426" cy="199"/>
            </a:xfrm>
            <a:prstGeom prst="rect">
              <a:avLst/>
            </a:prstGeom>
            <a:solidFill>
              <a:srgbClr val="89B0FF"/>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GbE 1</a:t>
              </a:r>
              <a:endParaRPr lang="en-US" altLang="zh-CN" sz="900">
                <a:solidFill>
                  <a:srgbClr val="000000"/>
                </a:solidFill>
                <a:latin typeface="Arial Narrow" pitchFamily="34" charset="0"/>
              </a:endParaRPr>
            </a:p>
          </p:txBody>
        </p:sp>
        <p:sp>
          <p:nvSpPr>
            <p:cNvPr id="79010" name="Rectangle 162"/>
            <p:cNvSpPr>
              <a:spLocks noChangeArrowheads="1"/>
            </p:cNvSpPr>
            <p:nvPr/>
          </p:nvSpPr>
          <p:spPr bwMode="auto">
            <a:xfrm>
              <a:off x="622" y="2514"/>
              <a:ext cx="425" cy="241"/>
            </a:xfrm>
            <a:prstGeom prst="rect">
              <a:avLst/>
            </a:prstGeom>
            <a:solidFill>
              <a:srgbClr val="89B0FF"/>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Flexible IO</a:t>
              </a:r>
              <a:endParaRPr lang="en-US" altLang="zh-CN" sz="900">
                <a:solidFill>
                  <a:srgbClr val="000000"/>
                </a:solidFill>
                <a:latin typeface="Arial Narrow" pitchFamily="34" charset="0"/>
              </a:endParaRPr>
            </a:p>
          </p:txBody>
        </p:sp>
        <p:sp>
          <p:nvSpPr>
            <p:cNvPr id="79011" name="Rectangle 163"/>
            <p:cNvSpPr>
              <a:spLocks noChangeArrowheads="1"/>
            </p:cNvSpPr>
            <p:nvPr/>
          </p:nvSpPr>
          <p:spPr bwMode="auto">
            <a:xfrm>
              <a:off x="622" y="2151"/>
              <a:ext cx="413" cy="334"/>
            </a:xfrm>
            <a:prstGeom prst="rect">
              <a:avLst/>
            </a:prstGeom>
            <a:solidFill>
              <a:srgbClr val="89B0FF"/>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UART, HPI</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JTAG, I2C,</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SPI</a:t>
              </a:r>
              <a:endParaRPr lang="en-US" altLang="zh-CN" sz="900">
                <a:solidFill>
                  <a:srgbClr val="000000"/>
                </a:solidFill>
                <a:latin typeface="Arial Narrow" pitchFamily="34" charset="0"/>
              </a:endParaRPr>
            </a:p>
          </p:txBody>
        </p:sp>
        <p:sp>
          <p:nvSpPr>
            <p:cNvPr id="72721" name="AutoShape 164"/>
            <p:cNvSpPr>
              <a:spLocks noChangeArrowheads="1"/>
            </p:cNvSpPr>
            <p:nvPr/>
          </p:nvSpPr>
          <p:spPr bwMode="auto">
            <a:xfrm rot="5400000">
              <a:off x="3456" y="870"/>
              <a:ext cx="236" cy="242"/>
            </a:xfrm>
            <a:prstGeom prst="leftRightArrow">
              <a:avLst>
                <a:gd name="adj1" fmla="val 50000"/>
                <a:gd name="adj2" fmla="val 19898"/>
              </a:avLst>
            </a:prstGeom>
            <a:solidFill>
              <a:srgbClr val="FBE09D"/>
            </a:solidFill>
            <a:ln w="9360">
              <a:solidFill>
                <a:srgbClr val="000000"/>
              </a:solidFill>
              <a:miter lim="800000"/>
            </a:ln>
          </p:spPr>
          <p:txBody>
            <a:bodyPr wrap="none" anchor="ctr"/>
            <a:lstStyle/>
            <a:p>
              <a:pPr algn="ctr"/>
              <a:endParaRPr lang="zh-CN" altLang="en-US"/>
            </a:p>
          </p:txBody>
        </p:sp>
        <p:sp>
          <p:nvSpPr>
            <p:cNvPr id="72722" name="AutoShape 165"/>
            <p:cNvSpPr>
              <a:spLocks noChangeArrowheads="1"/>
            </p:cNvSpPr>
            <p:nvPr/>
          </p:nvSpPr>
          <p:spPr bwMode="auto">
            <a:xfrm>
              <a:off x="345" y="1678"/>
              <a:ext cx="285" cy="201"/>
            </a:xfrm>
            <a:prstGeom prst="leftRightArrow">
              <a:avLst>
                <a:gd name="adj1" fmla="val 50000"/>
                <a:gd name="adj2" fmla="val 28214"/>
              </a:avLst>
            </a:prstGeom>
            <a:solidFill>
              <a:srgbClr val="FBE09D"/>
            </a:solidFill>
            <a:ln w="9360">
              <a:solidFill>
                <a:srgbClr val="000000"/>
              </a:solidFill>
              <a:miter lim="800000"/>
            </a:ln>
          </p:spPr>
          <p:txBody>
            <a:bodyPr wrap="none" anchor="ctr"/>
            <a:lstStyle/>
            <a:p>
              <a:pPr algn="ctr"/>
              <a:endParaRPr lang="zh-CN" altLang="en-US"/>
            </a:p>
          </p:txBody>
        </p:sp>
        <p:sp>
          <p:nvSpPr>
            <p:cNvPr id="72723" name="AutoShape 166"/>
            <p:cNvSpPr>
              <a:spLocks noChangeArrowheads="1"/>
            </p:cNvSpPr>
            <p:nvPr/>
          </p:nvSpPr>
          <p:spPr bwMode="auto">
            <a:xfrm>
              <a:off x="345" y="3087"/>
              <a:ext cx="285" cy="201"/>
            </a:xfrm>
            <a:prstGeom prst="leftRightArrow">
              <a:avLst>
                <a:gd name="adj1" fmla="val 50000"/>
                <a:gd name="adj2" fmla="val 28214"/>
              </a:avLst>
            </a:prstGeom>
            <a:solidFill>
              <a:srgbClr val="FBE09D"/>
            </a:solidFill>
            <a:ln w="9360">
              <a:solidFill>
                <a:srgbClr val="000000"/>
              </a:solidFill>
              <a:miter lim="800000"/>
            </a:ln>
          </p:spPr>
          <p:txBody>
            <a:bodyPr wrap="none" anchor="ctr"/>
            <a:lstStyle/>
            <a:p>
              <a:pPr algn="ctr"/>
              <a:endParaRPr lang="zh-CN" altLang="en-US"/>
            </a:p>
          </p:txBody>
        </p:sp>
        <p:sp>
          <p:nvSpPr>
            <p:cNvPr id="72724" name="AutoShape 167"/>
            <p:cNvSpPr>
              <a:spLocks noChangeArrowheads="1"/>
            </p:cNvSpPr>
            <p:nvPr/>
          </p:nvSpPr>
          <p:spPr bwMode="auto">
            <a:xfrm>
              <a:off x="345" y="2227"/>
              <a:ext cx="285" cy="201"/>
            </a:xfrm>
            <a:prstGeom prst="leftRightArrow">
              <a:avLst>
                <a:gd name="adj1" fmla="val 50000"/>
                <a:gd name="adj2" fmla="val 28214"/>
              </a:avLst>
            </a:prstGeom>
            <a:solidFill>
              <a:srgbClr val="FBE09D"/>
            </a:solidFill>
            <a:ln w="9360">
              <a:solidFill>
                <a:srgbClr val="000000"/>
              </a:solidFill>
              <a:miter lim="800000"/>
            </a:ln>
          </p:spPr>
          <p:txBody>
            <a:bodyPr wrap="none" anchor="ctr"/>
            <a:lstStyle/>
            <a:p>
              <a:pPr algn="ctr"/>
              <a:endParaRPr lang="zh-CN" altLang="en-US"/>
            </a:p>
          </p:txBody>
        </p:sp>
        <p:sp>
          <p:nvSpPr>
            <p:cNvPr id="72725" name="AutoShape 168"/>
            <p:cNvSpPr>
              <a:spLocks noChangeArrowheads="1"/>
            </p:cNvSpPr>
            <p:nvPr/>
          </p:nvSpPr>
          <p:spPr bwMode="auto">
            <a:xfrm>
              <a:off x="345" y="2534"/>
              <a:ext cx="285" cy="201"/>
            </a:xfrm>
            <a:prstGeom prst="leftRightArrow">
              <a:avLst>
                <a:gd name="adj1" fmla="val 50000"/>
                <a:gd name="adj2" fmla="val 28214"/>
              </a:avLst>
            </a:prstGeom>
            <a:solidFill>
              <a:srgbClr val="FBE09D"/>
            </a:solidFill>
            <a:ln w="9360">
              <a:solidFill>
                <a:srgbClr val="000000"/>
              </a:solidFill>
              <a:miter lim="800000"/>
            </a:ln>
          </p:spPr>
          <p:txBody>
            <a:bodyPr wrap="none" anchor="ctr"/>
            <a:lstStyle/>
            <a:p>
              <a:pPr algn="ctr"/>
              <a:endParaRPr lang="zh-CN" altLang="en-US"/>
            </a:p>
          </p:txBody>
        </p:sp>
        <p:sp>
          <p:nvSpPr>
            <p:cNvPr id="72726" name="AutoShape 169"/>
            <p:cNvSpPr>
              <a:spLocks noChangeArrowheads="1"/>
            </p:cNvSpPr>
            <p:nvPr/>
          </p:nvSpPr>
          <p:spPr bwMode="auto">
            <a:xfrm>
              <a:off x="4542" y="1628"/>
              <a:ext cx="285" cy="202"/>
            </a:xfrm>
            <a:prstGeom prst="leftRightArrow">
              <a:avLst>
                <a:gd name="adj1" fmla="val 50000"/>
                <a:gd name="adj2" fmla="val 28074"/>
              </a:avLst>
            </a:prstGeom>
            <a:solidFill>
              <a:srgbClr val="FBE09D"/>
            </a:solidFill>
            <a:ln w="9360">
              <a:solidFill>
                <a:srgbClr val="000000"/>
              </a:solidFill>
              <a:miter lim="800000"/>
            </a:ln>
          </p:spPr>
          <p:txBody>
            <a:bodyPr wrap="none" anchor="ctr"/>
            <a:lstStyle/>
            <a:p>
              <a:pPr algn="ctr"/>
              <a:endParaRPr lang="zh-CN" altLang="en-US"/>
            </a:p>
          </p:txBody>
        </p:sp>
        <p:sp>
          <p:nvSpPr>
            <p:cNvPr id="72727" name="AutoShape 170"/>
            <p:cNvSpPr>
              <a:spLocks noChangeArrowheads="1"/>
            </p:cNvSpPr>
            <p:nvPr/>
          </p:nvSpPr>
          <p:spPr bwMode="auto">
            <a:xfrm>
              <a:off x="4542" y="3228"/>
              <a:ext cx="285" cy="202"/>
            </a:xfrm>
            <a:prstGeom prst="leftRightArrow">
              <a:avLst>
                <a:gd name="adj1" fmla="val 50000"/>
                <a:gd name="adj2" fmla="val 28074"/>
              </a:avLst>
            </a:prstGeom>
            <a:solidFill>
              <a:srgbClr val="FBE09D"/>
            </a:solidFill>
            <a:ln w="9360">
              <a:solidFill>
                <a:srgbClr val="000000"/>
              </a:solidFill>
              <a:miter lim="800000"/>
            </a:ln>
          </p:spPr>
          <p:txBody>
            <a:bodyPr wrap="none" anchor="ctr"/>
            <a:lstStyle/>
            <a:p>
              <a:pPr algn="ctr"/>
              <a:endParaRPr lang="zh-CN" altLang="en-US"/>
            </a:p>
          </p:txBody>
        </p:sp>
        <p:sp>
          <p:nvSpPr>
            <p:cNvPr id="72728" name="AutoShape 171"/>
            <p:cNvSpPr>
              <a:spLocks noChangeArrowheads="1"/>
            </p:cNvSpPr>
            <p:nvPr/>
          </p:nvSpPr>
          <p:spPr bwMode="auto">
            <a:xfrm>
              <a:off x="4542" y="2222"/>
              <a:ext cx="285" cy="200"/>
            </a:xfrm>
            <a:prstGeom prst="leftRightArrow">
              <a:avLst>
                <a:gd name="adj1" fmla="val 50000"/>
                <a:gd name="adj2" fmla="val 28355"/>
              </a:avLst>
            </a:prstGeom>
            <a:solidFill>
              <a:srgbClr val="FBE09D"/>
            </a:solidFill>
            <a:ln w="9360">
              <a:solidFill>
                <a:srgbClr val="000000"/>
              </a:solidFill>
              <a:miter lim="800000"/>
            </a:ln>
          </p:spPr>
          <p:txBody>
            <a:bodyPr wrap="none" anchor="ctr"/>
            <a:lstStyle/>
            <a:p>
              <a:pPr algn="ctr"/>
              <a:endParaRPr lang="zh-CN" altLang="en-US"/>
            </a:p>
          </p:txBody>
        </p:sp>
        <p:sp>
          <p:nvSpPr>
            <p:cNvPr id="72729" name="AutoShape 172"/>
            <p:cNvSpPr>
              <a:spLocks noChangeArrowheads="1"/>
            </p:cNvSpPr>
            <p:nvPr/>
          </p:nvSpPr>
          <p:spPr bwMode="auto">
            <a:xfrm>
              <a:off x="4542" y="2516"/>
              <a:ext cx="285" cy="201"/>
            </a:xfrm>
            <a:prstGeom prst="leftRightArrow">
              <a:avLst>
                <a:gd name="adj1" fmla="val 50000"/>
                <a:gd name="adj2" fmla="val 28214"/>
              </a:avLst>
            </a:prstGeom>
            <a:solidFill>
              <a:srgbClr val="FBE09D"/>
            </a:solidFill>
            <a:ln w="9360">
              <a:solidFill>
                <a:srgbClr val="000000"/>
              </a:solidFill>
              <a:miter lim="800000"/>
            </a:ln>
          </p:spPr>
          <p:txBody>
            <a:bodyPr wrap="none" anchor="ctr"/>
            <a:lstStyle/>
            <a:p>
              <a:pPr algn="ctr"/>
              <a:endParaRPr lang="zh-CN" altLang="en-US"/>
            </a:p>
          </p:txBody>
        </p:sp>
        <p:sp>
          <p:nvSpPr>
            <p:cNvPr id="72730" name="AutoShape 173"/>
            <p:cNvSpPr>
              <a:spLocks noChangeArrowheads="1"/>
            </p:cNvSpPr>
            <p:nvPr/>
          </p:nvSpPr>
          <p:spPr bwMode="auto">
            <a:xfrm>
              <a:off x="4542" y="2766"/>
              <a:ext cx="285" cy="202"/>
            </a:xfrm>
            <a:prstGeom prst="leftRightArrow">
              <a:avLst>
                <a:gd name="adj1" fmla="val 50000"/>
                <a:gd name="adj2" fmla="val 28074"/>
              </a:avLst>
            </a:prstGeom>
            <a:solidFill>
              <a:srgbClr val="FBE09D"/>
            </a:solidFill>
            <a:ln w="9360">
              <a:solidFill>
                <a:srgbClr val="000000"/>
              </a:solidFill>
              <a:miter lim="800000"/>
            </a:ln>
          </p:spPr>
          <p:txBody>
            <a:bodyPr wrap="none" anchor="ctr"/>
            <a:lstStyle/>
            <a:p>
              <a:pPr algn="ctr"/>
              <a:endParaRPr lang="zh-CN" altLang="en-US"/>
            </a:p>
          </p:txBody>
        </p:sp>
        <p:sp>
          <p:nvSpPr>
            <p:cNvPr id="72731" name="AutoShape 174"/>
            <p:cNvSpPr>
              <a:spLocks noChangeArrowheads="1"/>
            </p:cNvSpPr>
            <p:nvPr/>
          </p:nvSpPr>
          <p:spPr bwMode="auto">
            <a:xfrm rot="5400000">
              <a:off x="1465" y="3883"/>
              <a:ext cx="237" cy="244"/>
            </a:xfrm>
            <a:prstGeom prst="leftRightArrow">
              <a:avLst>
                <a:gd name="adj1" fmla="val 50000"/>
                <a:gd name="adj2" fmla="val 19898"/>
              </a:avLst>
            </a:prstGeom>
            <a:solidFill>
              <a:srgbClr val="FBE09D"/>
            </a:solidFill>
            <a:ln w="9360">
              <a:solidFill>
                <a:srgbClr val="000000"/>
              </a:solidFill>
              <a:miter lim="800000"/>
            </a:ln>
          </p:spPr>
          <p:txBody>
            <a:bodyPr wrap="none" anchor="ctr"/>
            <a:lstStyle/>
            <a:p>
              <a:pPr algn="ctr"/>
              <a:endParaRPr lang="zh-CN" altLang="en-US"/>
            </a:p>
          </p:txBody>
        </p:sp>
        <p:sp>
          <p:nvSpPr>
            <p:cNvPr id="72732" name="AutoShape 175"/>
            <p:cNvSpPr>
              <a:spLocks noChangeArrowheads="1"/>
            </p:cNvSpPr>
            <p:nvPr/>
          </p:nvSpPr>
          <p:spPr bwMode="auto">
            <a:xfrm rot="5400000">
              <a:off x="3454" y="3883"/>
              <a:ext cx="237" cy="244"/>
            </a:xfrm>
            <a:prstGeom prst="leftRightArrow">
              <a:avLst>
                <a:gd name="adj1" fmla="val 50000"/>
                <a:gd name="adj2" fmla="val 19898"/>
              </a:avLst>
            </a:prstGeom>
            <a:solidFill>
              <a:srgbClr val="FBE09D"/>
            </a:solidFill>
            <a:ln w="9360">
              <a:solidFill>
                <a:srgbClr val="000000"/>
              </a:solidFill>
              <a:miter lim="800000"/>
            </a:ln>
          </p:spPr>
          <p:txBody>
            <a:bodyPr wrap="none" anchor="ctr"/>
            <a:lstStyle/>
            <a:p>
              <a:pPr algn="ctr"/>
              <a:endParaRPr lang="zh-CN" altLang="en-US"/>
            </a:p>
          </p:txBody>
        </p:sp>
        <p:sp>
          <p:nvSpPr>
            <p:cNvPr id="72733" name="AutoShape 176"/>
            <p:cNvSpPr>
              <a:spLocks noChangeArrowheads="1"/>
            </p:cNvSpPr>
            <p:nvPr/>
          </p:nvSpPr>
          <p:spPr bwMode="auto">
            <a:xfrm rot="5400000">
              <a:off x="1467" y="861"/>
              <a:ext cx="237" cy="243"/>
            </a:xfrm>
            <a:prstGeom prst="leftRightArrow">
              <a:avLst>
                <a:gd name="adj1" fmla="val 50000"/>
                <a:gd name="adj2" fmla="val 19898"/>
              </a:avLst>
            </a:prstGeom>
            <a:solidFill>
              <a:srgbClr val="FBE09D"/>
            </a:solidFill>
            <a:ln w="9360">
              <a:solidFill>
                <a:srgbClr val="000000"/>
              </a:solidFill>
              <a:miter lim="800000"/>
            </a:ln>
          </p:spPr>
          <p:txBody>
            <a:bodyPr wrap="none" anchor="ctr"/>
            <a:lstStyle/>
            <a:p>
              <a:pPr algn="ctr"/>
              <a:endParaRPr lang="zh-CN" altLang="en-US"/>
            </a:p>
          </p:txBody>
        </p:sp>
        <p:grpSp>
          <p:nvGrpSpPr>
            <p:cNvPr id="72734" name="Group 177"/>
            <p:cNvGrpSpPr/>
            <p:nvPr/>
          </p:nvGrpSpPr>
          <p:grpSpPr bwMode="auto">
            <a:xfrm>
              <a:off x="1581" y="3574"/>
              <a:ext cx="1971" cy="100"/>
              <a:chOff x="1581" y="3574"/>
              <a:chExt cx="1971" cy="100"/>
            </a:xfrm>
          </p:grpSpPr>
          <p:sp>
            <p:nvSpPr>
              <p:cNvPr id="72823" name="AutoShape 178"/>
              <p:cNvSpPr>
                <a:spLocks noChangeArrowheads="1"/>
              </p:cNvSpPr>
              <p:nvPr/>
            </p:nvSpPr>
            <p:spPr bwMode="auto">
              <a:xfrm rot="5400000">
                <a:off x="3450" y="3571"/>
                <a:ext cx="97" cy="109"/>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sp>
            <p:nvSpPr>
              <p:cNvPr id="72824" name="AutoShape 179"/>
              <p:cNvSpPr>
                <a:spLocks noChangeArrowheads="1"/>
              </p:cNvSpPr>
              <p:nvPr/>
            </p:nvSpPr>
            <p:spPr bwMode="auto">
              <a:xfrm rot="5400000">
                <a:off x="3077" y="3572"/>
                <a:ext cx="97" cy="107"/>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sp>
            <p:nvSpPr>
              <p:cNvPr id="72825" name="AutoShape 180"/>
              <p:cNvSpPr>
                <a:spLocks noChangeArrowheads="1"/>
              </p:cNvSpPr>
              <p:nvPr/>
            </p:nvSpPr>
            <p:spPr bwMode="auto">
              <a:xfrm rot="5400000">
                <a:off x="2678" y="3568"/>
                <a:ext cx="97" cy="107"/>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sp>
            <p:nvSpPr>
              <p:cNvPr id="72826" name="AutoShape 181"/>
              <p:cNvSpPr>
                <a:spLocks noChangeArrowheads="1"/>
              </p:cNvSpPr>
              <p:nvPr/>
            </p:nvSpPr>
            <p:spPr bwMode="auto">
              <a:xfrm rot="5400000">
                <a:off x="2766" y="3567"/>
                <a:ext cx="97" cy="109"/>
              </a:xfrm>
              <a:prstGeom prst="leftRightArrow">
                <a:avLst>
                  <a:gd name="adj1" fmla="val 50000"/>
                  <a:gd name="adj2" fmla="val 19898"/>
                </a:avLst>
              </a:prstGeom>
              <a:solidFill>
                <a:srgbClr val="0000FF"/>
              </a:solidFill>
              <a:ln w="9360">
                <a:solidFill>
                  <a:srgbClr val="000000"/>
                </a:solidFill>
                <a:miter lim="800000"/>
              </a:ln>
            </p:spPr>
            <p:txBody>
              <a:bodyPr wrap="none" anchor="ctr"/>
              <a:lstStyle/>
              <a:p>
                <a:pPr algn="ctr"/>
                <a:endParaRPr lang="zh-CN" altLang="en-US"/>
              </a:p>
            </p:txBody>
          </p:sp>
          <p:sp>
            <p:nvSpPr>
              <p:cNvPr id="72827" name="AutoShape 182"/>
              <p:cNvSpPr>
                <a:spLocks noChangeArrowheads="1"/>
              </p:cNvSpPr>
              <p:nvPr/>
            </p:nvSpPr>
            <p:spPr bwMode="auto">
              <a:xfrm rot="5400000">
                <a:off x="1996" y="3571"/>
                <a:ext cx="97" cy="109"/>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sp>
            <p:nvSpPr>
              <p:cNvPr id="72828" name="AutoShape 183"/>
              <p:cNvSpPr>
                <a:spLocks noChangeArrowheads="1"/>
              </p:cNvSpPr>
              <p:nvPr/>
            </p:nvSpPr>
            <p:spPr bwMode="auto">
              <a:xfrm rot="5400000">
                <a:off x="1693" y="3571"/>
                <a:ext cx="97" cy="109"/>
              </a:xfrm>
              <a:prstGeom prst="leftRightArrow">
                <a:avLst>
                  <a:gd name="adj1" fmla="val 50000"/>
                  <a:gd name="adj2" fmla="val 19898"/>
                </a:avLst>
              </a:prstGeom>
              <a:solidFill>
                <a:srgbClr val="0000FF"/>
              </a:solidFill>
              <a:ln w="9360">
                <a:solidFill>
                  <a:srgbClr val="000000"/>
                </a:solidFill>
                <a:miter lim="800000"/>
              </a:ln>
            </p:spPr>
            <p:txBody>
              <a:bodyPr wrap="none" anchor="ctr"/>
              <a:lstStyle/>
              <a:p>
                <a:pPr algn="ctr"/>
                <a:endParaRPr lang="zh-CN" altLang="en-US"/>
              </a:p>
            </p:txBody>
          </p:sp>
          <p:sp>
            <p:nvSpPr>
              <p:cNvPr id="72829" name="AutoShape 184"/>
              <p:cNvSpPr>
                <a:spLocks noChangeArrowheads="1"/>
              </p:cNvSpPr>
              <p:nvPr/>
            </p:nvSpPr>
            <p:spPr bwMode="auto">
              <a:xfrm rot="5400000">
                <a:off x="1587" y="3571"/>
                <a:ext cx="97" cy="109"/>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sp>
            <p:nvSpPr>
              <p:cNvPr id="72830" name="AutoShape 185"/>
              <p:cNvSpPr>
                <a:spLocks noChangeArrowheads="1"/>
              </p:cNvSpPr>
              <p:nvPr/>
            </p:nvSpPr>
            <p:spPr bwMode="auto">
              <a:xfrm rot="5400000">
                <a:off x="2349" y="3571"/>
                <a:ext cx="97" cy="109"/>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grpSp>
        <p:sp>
          <p:nvSpPr>
            <p:cNvPr id="72735" name="AutoShape 186"/>
            <p:cNvSpPr>
              <a:spLocks noChangeArrowheads="1"/>
            </p:cNvSpPr>
            <p:nvPr/>
          </p:nvSpPr>
          <p:spPr bwMode="auto">
            <a:xfrm>
              <a:off x="1072" y="1713"/>
              <a:ext cx="120" cy="90"/>
            </a:xfrm>
            <a:prstGeom prst="leftRightArrow">
              <a:avLst>
                <a:gd name="adj1" fmla="val 50000"/>
                <a:gd name="adj2" fmla="val 26531"/>
              </a:avLst>
            </a:prstGeom>
            <a:solidFill>
              <a:srgbClr val="CCCCFF"/>
            </a:solidFill>
            <a:ln w="9360">
              <a:solidFill>
                <a:srgbClr val="000000"/>
              </a:solidFill>
              <a:miter lim="800000"/>
            </a:ln>
          </p:spPr>
          <p:txBody>
            <a:bodyPr wrap="none" anchor="ctr"/>
            <a:lstStyle/>
            <a:p>
              <a:pPr algn="ctr"/>
              <a:endParaRPr lang="zh-CN" altLang="en-US"/>
            </a:p>
          </p:txBody>
        </p:sp>
        <p:sp>
          <p:nvSpPr>
            <p:cNvPr id="72736" name="AutoShape 187"/>
            <p:cNvSpPr>
              <a:spLocks noChangeArrowheads="1"/>
            </p:cNvSpPr>
            <p:nvPr/>
          </p:nvSpPr>
          <p:spPr bwMode="auto">
            <a:xfrm>
              <a:off x="1072" y="1789"/>
              <a:ext cx="120" cy="89"/>
            </a:xfrm>
            <a:prstGeom prst="leftRightArrow">
              <a:avLst>
                <a:gd name="adj1" fmla="val 50000"/>
                <a:gd name="adj2" fmla="val 26829"/>
              </a:avLst>
            </a:prstGeom>
            <a:solidFill>
              <a:srgbClr val="0000FF"/>
            </a:solidFill>
            <a:ln w="9360">
              <a:solidFill>
                <a:srgbClr val="000000"/>
              </a:solidFill>
              <a:miter lim="800000"/>
            </a:ln>
          </p:spPr>
          <p:txBody>
            <a:bodyPr wrap="none" anchor="ctr"/>
            <a:lstStyle/>
            <a:p>
              <a:pPr algn="ctr"/>
              <a:endParaRPr lang="zh-CN" altLang="en-US"/>
            </a:p>
          </p:txBody>
        </p:sp>
        <p:sp>
          <p:nvSpPr>
            <p:cNvPr id="72737" name="AutoShape 188"/>
            <p:cNvSpPr>
              <a:spLocks noChangeArrowheads="1"/>
            </p:cNvSpPr>
            <p:nvPr/>
          </p:nvSpPr>
          <p:spPr bwMode="auto">
            <a:xfrm>
              <a:off x="1072" y="1962"/>
              <a:ext cx="120" cy="90"/>
            </a:xfrm>
            <a:prstGeom prst="leftRightArrow">
              <a:avLst>
                <a:gd name="adj1" fmla="val 50000"/>
                <a:gd name="adj2" fmla="val 26531"/>
              </a:avLst>
            </a:prstGeom>
            <a:solidFill>
              <a:srgbClr val="CCCCFF"/>
            </a:solidFill>
            <a:ln w="9360">
              <a:solidFill>
                <a:srgbClr val="000000"/>
              </a:solidFill>
              <a:miter lim="800000"/>
            </a:ln>
          </p:spPr>
          <p:txBody>
            <a:bodyPr wrap="none" anchor="ctr"/>
            <a:lstStyle/>
            <a:p>
              <a:pPr algn="ctr"/>
              <a:endParaRPr lang="zh-CN" altLang="en-US"/>
            </a:p>
          </p:txBody>
        </p:sp>
        <p:sp>
          <p:nvSpPr>
            <p:cNvPr id="72738" name="AutoShape 189"/>
            <p:cNvSpPr>
              <a:spLocks noChangeArrowheads="1"/>
            </p:cNvSpPr>
            <p:nvPr/>
          </p:nvSpPr>
          <p:spPr bwMode="auto">
            <a:xfrm>
              <a:off x="1072" y="2038"/>
              <a:ext cx="120" cy="89"/>
            </a:xfrm>
            <a:prstGeom prst="leftRightArrow">
              <a:avLst>
                <a:gd name="adj1" fmla="val 50000"/>
                <a:gd name="adj2" fmla="val 26829"/>
              </a:avLst>
            </a:prstGeom>
            <a:solidFill>
              <a:srgbClr val="0000FF"/>
            </a:solidFill>
            <a:ln w="9360">
              <a:solidFill>
                <a:srgbClr val="000000"/>
              </a:solidFill>
              <a:miter lim="800000"/>
            </a:ln>
          </p:spPr>
          <p:txBody>
            <a:bodyPr wrap="none" anchor="ctr"/>
            <a:lstStyle/>
            <a:p>
              <a:pPr algn="ctr"/>
              <a:endParaRPr lang="zh-CN" altLang="en-US"/>
            </a:p>
          </p:txBody>
        </p:sp>
        <p:sp>
          <p:nvSpPr>
            <p:cNvPr id="72739" name="AutoShape 190"/>
            <p:cNvSpPr>
              <a:spLocks noChangeArrowheads="1"/>
            </p:cNvSpPr>
            <p:nvPr/>
          </p:nvSpPr>
          <p:spPr bwMode="auto">
            <a:xfrm>
              <a:off x="1072" y="2294"/>
              <a:ext cx="120" cy="90"/>
            </a:xfrm>
            <a:prstGeom prst="leftRightArrow">
              <a:avLst>
                <a:gd name="adj1" fmla="val 50000"/>
                <a:gd name="adj2" fmla="val 26531"/>
              </a:avLst>
            </a:prstGeom>
            <a:solidFill>
              <a:srgbClr val="0000FF"/>
            </a:solidFill>
            <a:ln w="9360">
              <a:solidFill>
                <a:srgbClr val="000000"/>
              </a:solidFill>
              <a:miter lim="800000"/>
            </a:ln>
          </p:spPr>
          <p:txBody>
            <a:bodyPr wrap="none" anchor="ctr"/>
            <a:lstStyle/>
            <a:p>
              <a:pPr algn="ctr"/>
              <a:endParaRPr lang="zh-CN" altLang="en-US"/>
            </a:p>
          </p:txBody>
        </p:sp>
        <p:sp>
          <p:nvSpPr>
            <p:cNvPr id="72740" name="AutoShape 191"/>
            <p:cNvSpPr>
              <a:spLocks noChangeArrowheads="1"/>
            </p:cNvSpPr>
            <p:nvPr/>
          </p:nvSpPr>
          <p:spPr bwMode="auto">
            <a:xfrm>
              <a:off x="1072" y="2589"/>
              <a:ext cx="120" cy="90"/>
            </a:xfrm>
            <a:prstGeom prst="leftRightArrow">
              <a:avLst>
                <a:gd name="adj1" fmla="val 50000"/>
                <a:gd name="adj2" fmla="val 26531"/>
              </a:avLst>
            </a:prstGeom>
            <a:solidFill>
              <a:srgbClr val="0000FF"/>
            </a:solidFill>
            <a:ln w="9360">
              <a:solidFill>
                <a:srgbClr val="000000"/>
              </a:solidFill>
              <a:miter lim="800000"/>
            </a:ln>
          </p:spPr>
          <p:txBody>
            <a:bodyPr wrap="none" anchor="ctr"/>
            <a:lstStyle/>
            <a:p>
              <a:pPr algn="ctr"/>
              <a:endParaRPr lang="zh-CN" altLang="en-US"/>
            </a:p>
          </p:txBody>
        </p:sp>
        <p:sp>
          <p:nvSpPr>
            <p:cNvPr id="72741" name="AutoShape 192"/>
            <p:cNvSpPr>
              <a:spLocks noChangeArrowheads="1"/>
            </p:cNvSpPr>
            <p:nvPr/>
          </p:nvSpPr>
          <p:spPr bwMode="auto">
            <a:xfrm>
              <a:off x="1072" y="2930"/>
              <a:ext cx="120" cy="89"/>
            </a:xfrm>
            <a:prstGeom prst="leftRightArrow">
              <a:avLst>
                <a:gd name="adj1" fmla="val 50000"/>
                <a:gd name="adj2" fmla="val 26829"/>
              </a:avLst>
            </a:prstGeom>
            <a:solidFill>
              <a:srgbClr val="0000FF"/>
            </a:solidFill>
            <a:ln w="9360">
              <a:solidFill>
                <a:srgbClr val="000000"/>
              </a:solidFill>
              <a:miter lim="800000"/>
            </a:ln>
          </p:spPr>
          <p:txBody>
            <a:bodyPr wrap="none" anchor="ctr"/>
            <a:lstStyle/>
            <a:p>
              <a:pPr algn="ctr"/>
              <a:endParaRPr lang="zh-CN" altLang="en-US"/>
            </a:p>
          </p:txBody>
        </p:sp>
        <p:sp>
          <p:nvSpPr>
            <p:cNvPr id="72742" name="AutoShape 193"/>
            <p:cNvSpPr>
              <a:spLocks noChangeArrowheads="1"/>
            </p:cNvSpPr>
            <p:nvPr/>
          </p:nvSpPr>
          <p:spPr bwMode="auto">
            <a:xfrm>
              <a:off x="1072" y="2868"/>
              <a:ext cx="120" cy="90"/>
            </a:xfrm>
            <a:prstGeom prst="leftRightArrow">
              <a:avLst>
                <a:gd name="adj1" fmla="val 50000"/>
                <a:gd name="adj2" fmla="val 26531"/>
              </a:avLst>
            </a:prstGeom>
            <a:solidFill>
              <a:srgbClr val="CCCCFF"/>
            </a:solidFill>
            <a:ln w="9360">
              <a:solidFill>
                <a:srgbClr val="000000"/>
              </a:solidFill>
              <a:miter lim="800000"/>
            </a:ln>
          </p:spPr>
          <p:txBody>
            <a:bodyPr wrap="none" anchor="ctr"/>
            <a:lstStyle/>
            <a:p>
              <a:pPr algn="ctr"/>
              <a:endParaRPr lang="zh-CN" altLang="en-US"/>
            </a:p>
          </p:txBody>
        </p:sp>
        <p:sp>
          <p:nvSpPr>
            <p:cNvPr id="72743" name="AutoShape 194"/>
            <p:cNvSpPr>
              <a:spLocks noChangeArrowheads="1"/>
            </p:cNvSpPr>
            <p:nvPr/>
          </p:nvSpPr>
          <p:spPr bwMode="auto">
            <a:xfrm>
              <a:off x="1072" y="3194"/>
              <a:ext cx="120" cy="90"/>
            </a:xfrm>
            <a:prstGeom prst="leftRightArrow">
              <a:avLst>
                <a:gd name="adj1" fmla="val 50000"/>
                <a:gd name="adj2" fmla="val 26531"/>
              </a:avLst>
            </a:prstGeom>
            <a:solidFill>
              <a:srgbClr val="0000FF"/>
            </a:solidFill>
            <a:ln w="9360">
              <a:solidFill>
                <a:srgbClr val="000000"/>
              </a:solidFill>
              <a:miter lim="800000"/>
            </a:ln>
          </p:spPr>
          <p:txBody>
            <a:bodyPr wrap="none" anchor="ctr"/>
            <a:lstStyle/>
            <a:p>
              <a:pPr algn="ctr"/>
              <a:endParaRPr lang="zh-CN" altLang="en-US"/>
            </a:p>
          </p:txBody>
        </p:sp>
        <p:sp>
          <p:nvSpPr>
            <p:cNvPr id="72744" name="AutoShape 195"/>
            <p:cNvSpPr>
              <a:spLocks noChangeArrowheads="1"/>
            </p:cNvSpPr>
            <p:nvPr/>
          </p:nvSpPr>
          <p:spPr bwMode="auto">
            <a:xfrm>
              <a:off x="1072" y="3132"/>
              <a:ext cx="120" cy="89"/>
            </a:xfrm>
            <a:prstGeom prst="leftRightArrow">
              <a:avLst>
                <a:gd name="adj1" fmla="val 50000"/>
                <a:gd name="adj2" fmla="val 26829"/>
              </a:avLst>
            </a:prstGeom>
            <a:solidFill>
              <a:srgbClr val="CCCCFF"/>
            </a:solidFill>
            <a:ln w="9360">
              <a:solidFill>
                <a:srgbClr val="000000"/>
              </a:solidFill>
              <a:miter lim="800000"/>
            </a:ln>
          </p:spPr>
          <p:txBody>
            <a:bodyPr wrap="none" anchor="ctr"/>
            <a:lstStyle/>
            <a:p>
              <a:pPr algn="ctr"/>
              <a:endParaRPr lang="zh-CN" altLang="en-US"/>
            </a:p>
          </p:txBody>
        </p:sp>
        <p:grpSp>
          <p:nvGrpSpPr>
            <p:cNvPr id="72745" name="Group 196"/>
            <p:cNvGrpSpPr/>
            <p:nvPr/>
          </p:nvGrpSpPr>
          <p:grpSpPr bwMode="auto">
            <a:xfrm>
              <a:off x="1588" y="1315"/>
              <a:ext cx="1969" cy="102"/>
              <a:chOff x="1588" y="1315"/>
              <a:chExt cx="1969" cy="102"/>
            </a:xfrm>
          </p:grpSpPr>
          <p:sp>
            <p:nvSpPr>
              <p:cNvPr id="72815" name="AutoShape 197"/>
              <p:cNvSpPr>
                <a:spLocks noChangeArrowheads="1"/>
              </p:cNvSpPr>
              <p:nvPr/>
            </p:nvSpPr>
            <p:spPr bwMode="auto">
              <a:xfrm rot="5400000">
                <a:off x="3454" y="1313"/>
                <a:ext cx="99" cy="109"/>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sp>
            <p:nvSpPr>
              <p:cNvPr id="72816" name="AutoShape 198"/>
              <p:cNvSpPr>
                <a:spLocks noChangeArrowheads="1"/>
              </p:cNvSpPr>
              <p:nvPr/>
            </p:nvSpPr>
            <p:spPr bwMode="auto">
              <a:xfrm rot="5400000">
                <a:off x="3083" y="1313"/>
                <a:ext cx="99" cy="109"/>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sp>
            <p:nvSpPr>
              <p:cNvPr id="72817" name="AutoShape 199"/>
              <p:cNvSpPr>
                <a:spLocks noChangeArrowheads="1"/>
              </p:cNvSpPr>
              <p:nvPr/>
            </p:nvSpPr>
            <p:spPr bwMode="auto">
              <a:xfrm rot="5400000">
                <a:off x="2684" y="1308"/>
                <a:ext cx="98" cy="109"/>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sp>
            <p:nvSpPr>
              <p:cNvPr id="72818" name="AutoShape 200"/>
              <p:cNvSpPr>
                <a:spLocks noChangeArrowheads="1"/>
              </p:cNvSpPr>
              <p:nvPr/>
            </p:nvSpPr>
            <p:spPr bwMode="auto">
              <a:xfrm rot="5400000">
                <a:off x="2773" y="1309"/>
                <a:ext cx="98" cy="107"/>
              </a:xfrm>
              <a:prstGeom prst="leftRightArrow">
                <a:avLst>
                  <a:gd name="adj1" fmla="val 50000"/>
                  <a:gd name="adj2" fmla="val 19898"/>
                </a:avLst>
              </a:prstGeom>
              <a:solidFill>
                <a:srgbClr val="0000FF"/>
              </a:solidFill>
              <a:ln w="9360">
                <a:solidFill>
                  <a:srgbClr val="000000"/>
                </a:solidFill>
                <a:miter lim="800000"/>
              </a:ln>
            </p:spPr>
            <p:txBody>
              <a:bodyPr wrap="none" anchor="ctr"/>
              <a:lstStyle/>
              <a:p>
                <a:pPr algn="ctr"/>
                <a:endParaRPr lang="zh-CN" altLang="en-US"/>
              </a:p>
            </p:txBody>
          </p:sp>
          <p:sp>
            <p:nvSpPr>
              <p:cNvPr id="72819" name="AutoShape 201"/>
              <p:cNvSpPr>
                <a:spLocks noChangeArrowheads="1"/>
              </p:cNvSpPr>
              <p:nvPr/>
            </p:nvSpPr>
            <p:spPr bwMode="auto">
              <a:xfrm rot="5400000">
                <a:off x="2002" y="1313"/>
                <a:ext cx="99" cy="109"/>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sp>
            <p:nvSpPr>
              <p:cNvPr id="72820" name="AutoShape 202"/>
              <p:cNvSpPr>
                <a:spLocks noChangeArrowheads="1"/>
              </p:cNvSpPr>
              <p:nvPr/>
            </p:nvSpPr>
            <p:spPr bwMode="auto">
              <a:xfrm rot="5400000">
                <a:off x="1697" y="1314"/>
                <a:ext cx="99" cy="108"/>
              </a:xfrm>
              <a:prstGeom prst="leftRightArrow">
                <a:avLst>
                  <a:gd name="adj1" fmla="val 50000"/>
                  <a:gd name="adj2" fmla="val 19898"/>
                </a:avLst>
              </a:prstGeom>
              <a:solidFill>
                <a:srgbClr val="0000FF"/>
              </a:solidFill>
              <a:ln w="9360">
                <a:solidFill>
                  <a:srgbClr val="000000"/>
                </a:solidFill>
                <a:miter lim="800000"/>
              </a:ln>
            </p:spPr>
            <p:txBody>
              <a:bodyPr wrap="none" anchor="ctr"/>
              <a:lstStyle/>
              <a:p>
                <a:pPr algn="ctr"/>
                <a:endParaRPr lang="zh-CN" altLang="en-US"/>
              </a:p>
            </p:txBody>
          </p:sp>
          <p:sp>
            <p:nvSpPr>
              <p:cNvPr id="72821" name="AutoShape 203"/>
              <p:cNvSpPr>
                <a:spLocks noChangeArrowheads="1"/>
              </p:cNvSpPr>
              <p:nvPr/>
            </p:nvSpPr>
            <p:spPr bwMode="auto">
              <a:xfrm rot="5400000">
                <a:off x="1593" y="1313"/>
                <a:ext cx="99" cy="109"/>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sp>
            <p:nvSpPr>
              <p:cNvPr id="72822" name="AutoShape 204"/>
              <p:cNvSpPr>
                <a:spLocks noChangeArrowheads="1"/>
              </p:cNvSpPr>
              <p:nvPr/>
            </p:nvSpPr>
            <p:spPr bwMode="auto">
              <a:xfrm rot="5400000">
                <a:off x="2355" y="1314"/>
                <a:ext cx="99" cy="107"/>
              </a:xfrm>
              <a:prstGeom prst="leftRightArrow">
                <a:avLst>
                  <a:gd name="adj1" fmla="val 50000"/>
                  <a:gd name="adj2" fmla="val 19898"/>
                </a:avLst>
              </a:prstGeom>
              <a:solidFill>
                <a:srgbClr val="CCCCFF"/>
              </a:solidFill>
              <a:ln w="9360">
                <a:solidFill>
                  <a:srgbClr val="000000"/>
                </a:solidFill>
                <a:miter lim="800000"/>
              </a:ln>
            </p:spPr>
            <p:txBody>
              <a:bodyPr wrap="none" anchor="ctr"/>
              <a:lstStyle/>
              <a:p>
                <a:pPr algn="ctr"/>
                <a:endParaRPr lang="zh-CN" altLang="en-US"/>
              </a:p>
            </p:txBody>
          </p:sp>
        </p:grpSp>
        <p:sp>
          <p:nvSpPr>
            <p:cNvPr id="72746" name="AutoShape 205"/>
            <p:cNvSpPr>
              <a:spLocks noChangeArrowheads="1"/>
            </p:cNvSpPr>
            <p:nvPr/>
          </p:nvSpPr>
          <p:spPr bwMode="auto">
            <a:xfrm>
              <a:off x="3987" y="1451"/>
              <a:ext cx="120" cy="89"/>
            </a:xfrm>
            <a:prstGeom prst="leftRightArrow">
              <a:avLst>
                <a:gd name="adj1" fmla="val 50000"/>
                <a:gd name="adj2" fmla="val 26829"/>
              </a:avLst>
            </a:prstGeom>
            <a:solidFill>
              <a:srgbClr val="CCCCFF"/>
            </a:solidFill>
            <a:ln w="9360">
              <a:solidFill>
                <a:srgbClr val="000000"/>
              </a:solidFill>
              <a:miter lim="800000"/>
            </a:ln>
          </p:spPr>
          <p:txBody>
            <a:bodyPr wrap="none" anchor="ctr"/>
            <a:lstStyle/>
            <a:p>
              <a:pPr algn="ctr"/>
              <a:endParaRPr lang="zh-CN" altLang="en-US"/>
            </a:p>
          </p:txBody>
        </p:sp>
        <p:sp>
          <p:nvSpPr>
            <p:cNvPr id="72747" name="AutoShape 206"/>
            <p:cNvSpPr>
              <a:spLocks noChangeArrowheads="1"/>
            </p:cNvSpPr>
            <p:nvPr/>
          </p:nvSpPr>
          <p:spPr bwMode="auto">
            <a:xfrm>
              <a:off x="3987" y="1526"/>
              <a:ext cx="120" cy="89"/>
            </a:xfrm>
            <a:prstGeom prst="leftRightArrow">
              <a:avLst>
                <a:gd name="adj1" fmla="val 50000"/>
                <a:gd name="adj2" fmla="val 26829"/>
              </a:avLst>
            </a:prstGeom>
            <a:solidFill>
              <a:srgbClr val="0000FF"/>
            </a:solidFill>
            <a:ln w="9360">
              <a:solidFill>
                <a:srgbClr val="000000"/>
              </a:solidFill>
              <a:miter lim="800000"/>
            </a:ln>
          </p:spPr>
          <p:txBody>
            <a:bodyPr wrap="none" anchor="ctr"/>
            <a:lstStyle/>
            <a:p>
              <a:pPr algn="ctr"/>
              <a:endParaRPr lang="zh-CN" altLang="en-US"/>
            </a:p>
          </p:txBody>
        </p:sp>
        <p:sp>
          <p:nvSpPr>
            <p:cNvPr id="72748" name="AutoShape 207"/>
            <p:cNvSpPr>
              <a:spLocks noChangeArrowheads="1"/>
            </p:cNvSpPr>
            <p:nvPr/>
          </p:nvSpPr>
          <p:spPr bwMode="auto">
            <a:xfrm>
              <a:off x="3987" y="1723"/>
              <a:ext cx="120" cy="90"/>
            </a:xfrm>
            <a:prstGeom prst="leftRightArrow">
              <a:avLst>
                <a:gd name="adj1" fmla="val 50000"/>
                <a:gd name="adj2" fmla="val 26531"/>
              </a:avLst>
            </a:prstGeom>
            <a:solidFill>
              <a:srgbClr val="CCCCFF"/>
            </a:solidFill>
            <a:ln w="9360">
              <a:solidFill>
                <a:srgbClr val="000000"/>
              </a:solidFill>
              <a:miter lim="800000"/>
            </a:ln>
          </p:spPr>
          <p:txBody>
            <a:bodyPr wrap="none" anchor="ctr"/>
            <a:lstStyle/>
            <a:p>
              <a:pPr algn="ctr"/>
              <a:endParaRPr lang="zh-CN" altLang="en-US"/>
            </a:p>
          </p:txBody>
        </p:sp>
        <p:sp>
          <p:nvSpPr>
            <p:cNvPr id="72749" name="AutoShape 208"/>
            <p:cNvSpPr>
              <a:spLocks noChangeArrowheads="1"/>
            </p:cNvSpPr>
            <p:nvPr/>
          </p:nvSpPr>
          <p:spPr bwMode="auto">
            <a:xfrm>
              <a:off x="3987" y="1800"/>
              <a:ext cx="120" cy="90"/>
            </a:xfrm>
            <a:prstGeom prst="leftRightArrow">
              <a:avLst>
                <a:gd name="adj1" fmla="val 50000"/>
                <a:gd name="adj2" fmla="val 26531"/>
              </a:avLst>
            </a:prstGeom>
            <a:solidFill>
              <a:srgbClr val="0000FF"/>
            </a:solidFill>
            <a:ln w="9360">
              <a:solidFill>
                <a:srgbClr val="000000"/>
              </a:solidFill>
              <a:miter lim="800000"/>
            </a:ln>
          </p:spPr>
          <p:txBody>
            <a:bodyPr wrap="none" anchor="ctr"/>
            <a:lstStyle/>
            <a:p>
              <a:pPr algn="ctr"/>
              <a:endParaRPr lang="zh-CN" altLang="en-US"/>
            </a:p>
          </p:txBody>
        </p:sp>
        <p:sp>
          <p:nvSpPr>
            <p:cNvPr id="72750" name="AutoShape 209"/>
            <p:cNvSpPr>
              <a:spLocks noChangeArrowheads="1"/>
            </p:cNvSpPr>
            <p:nvPr/>
          </p:nvSpPr>
          <p:spPr bwMode="auto">
            <a:xfrm flipV="1">
              <a:off x="3987" y="2260"/>
              <a:ext cx="120" cy="90"/>
            </a:xfrm>
            <a:prstGeom prst="leftRightArrow">
              <a:avLst>
                <a:gd name="adj1" fmla="val 50000"/>
                <a:gd name="adj2" fmla="val 26531"/>
              </a:avLst>
            </a:prstGeom>
            <a:solidFill>
              <a:srgbClr val="CCCCFF"/>
            </a:solidFill>
            <a:ln w="9360">
              <a:solidFill>
                <a:srgbClr val="000000"/>
              </a:solidFill>
              <a:miter lim="800000"/>
            </a:ln>
          </p:spPr>
          <p:txBody>
            <a:bodyPr wrap="none" anchor="ctr"/>
            <a:lstStyle/>
            <a:p>
              <a:pPr algn="ctr"/>
              <a:endParaRPr lang="zh-CN" altLang="en-US"/>
            </a:p>
          </p:txBody>
        </p:sp>
        <p:sp>
          <p:nvSpPr>
            <p:cNvPr id="72751" name="AutoShape 210"/>
            <p:cNvSpPr>
              <a:spLocks noChangeArrowheads="1"/>
            </p:cNvSpPr>
            <p:nvPr/>
          </p:nvSpPr>
          <p:spPr bwMode="auto">
            <a:xfrm flipV="1">
              <a:off x="3987" y="2347"/>
              <a:ext cx="120" cy="89"/>
            </a:xfrm>
            <a:prstGeom prst="leftRightArrow">
              <a:avLst>
                <a:gd name="adj1" fmla="val 50000"/>
                <a:gd name="adj2" fmla="val 26829"/>
              </a:avLst>
            </a:prstGeom>
            <a:solidFill>
              <a:srgbClr val="0000FF"/>
            </a:solidFill>
            <a:ln w="9360">
              <a:solidFill>
                <a:srgbClr val="000000"/>
              </a:solidFill>
              <a:miter lim="800000"/>
            </a:ln>
          </p:spPr>
          <p:txBody>
            <a:bodyPr wrap="none" anchor="ctr"/>
            <a:lstStyle/>
            <a:p>
              <a:pPr algn="ctr"/>
              <a:endParaRPr lang="zh-CN" altLang="en-US"/>
            </a:p>
          </p:txBody>
        </p:sp>
        <p:sp>
          <p:nvSpPr>
            <p:cNvPr id="72752" name="AutoShape 211"/>
            <p:cNvSpPr>
              <a:spLocks noChangeArrowheads="1"/>
            </p:cNvSpPr>
            <p:nvPr/>
          </p:nvSpPr>
          <p:spPr bwMode="auto">
            <a:xfrm>
              <a:off x="3987" y="2839"/>
              <a:ext cx="120" cy="90"/>
            </a:xfrm>
            <a:prstGeom prst="leftRightArrow">
              <a:avLst>
                <a:gd name="adj1" fmla="val 50000"/>
                <a:gd name="adj2" fmla="val 26531"/>
              </a:avLst>
            </a:prstGeom>
            <a:solidFill>
              <a:srgbClr val="0000FF"/>
            </a:solidFill>
            <a:ln w="9360">
              <a:solidFill>
                <a:srgbClr val="000000"/>
              </a:solidFill>
              <a:miter lim="800000"/>
            </a:ln>
          </p:spPr>
          <p:txBody>
            <a:bodyPr wrap="none" anchor="ctr"/>
            <a:lstStyle/>
            <a:p>
              <a:pPr algn="ctr"/>
              <a:endParaRPr lang="zh-CN" altLang="en-US"/>
            </a:p>
          </p:txBody>
        </p:sp>
        <p:sp>
          <p:nvSpPr>
            <p:cNvPr id="72753" name="AutoShape 212"/>
            <p:cNvSpPr>
              <a:spLocks noChangeArrowheads="1"/>
            </p:cNvSpPr>
            <p:nvPr/>
          </p:nvSpPr>
          <p:spPr bwMode="auto">
            <a:xfrm>
              <a:off x="3987" y="3179"/>
              <a:ext cx="120" cy="90"/>
            </a:xfrm>
            <a:prstGeom prst="leftRightArrow">
              <a:avLst>
                <a:gd name="adj1" fmla="val 50000"/>
                <a:gd name="adj2" fmla="val 26531"/>
              </a:avLst>
            </a:prstGeom>
            <a:solidFill>
              <a:srgbClr val="0000FF"/>
            </a:solidFill>
            <a:ln w="9360">
              <a:solidFill>
                <a:srgbClr val="000000"/>
              </a:solidFill>
              <a:miter lim="800000"/>
            </a:ln>
          </p:spPr>
          <p:txBody>
            <a:bodyPr wrap="none" anchor="ctr"/>
            <a:lstStyle/>
            <a:p>
              <a:pPr algn="ctr"/>
              <a:endParaRPr lang="zh-CN" altLang="en-US"/>
            </a:p>
          </p:txBody>
        </p:sp>
        <p:sp>
          <p:nvSpPr>
            <p:cNvPr id="72754" name="AutoShape 213"/>
            <p:cNvSpPr>
              <a:spLocks noChangeArrowheads="1"/>
            </p:cNvSpPr>
            <p:nvPr/>
          </p:nvSpPr>
          <p:spPr bwMode="auto">
            <a:xfrm>
              <a:off x="3987" y="3117"/>
              <a:ext cx="120" cy="90"/>
            </a:xfrm>
            <a:prstGeom prst="leftRightArrow">
              <a:avLst>
                <a:gd name="adj1" fmla="val 50000"/>
                <a:gd name="adj2" fmla="val 26531"/>
              </a:avLst>
            </a:prstGeom>
            <a:solidFill>
              <a:srgbClr val="CCCCFF"/>
            </a:solidFill>
            <a:ln w="9360">
              <a:solidFill>
                <a:srgbClr val="000000"/>
              </a:solidFill>
              <a:miter lim="800000"/>
            </a:ln>
          </p:spPr>
          <p:txBody>
            <a:bodyPr wrap="none" anchor="ctr"/>
            <a:lstStyle/>
            <a:p>
              <a:pPr algn="ctr"/>
              <a:endParaRPr lang="zh-CN" altLang="en-US"/>
            </a:p>
          </p:txBody>
        </p:sp>
        <p:sp>
          <p:nvSpPr>
            <p:cNvPr id="72755" name="AutoShape 214"/>
            <p:cNvSpPr>
              <a:spLocks noChangeArrowheads="1"/>
            </p:cNvSpPr>
            <p:nvPr/>
          </p:nvSpPr>
          <p:spPr bwMode="auto">
            <a:xfrm>
              <a:off x="3987" y="3444"/>
              <a:ext cx="120" cy="89"/>
            </a:xfrm>
            <a:prstGeom prst="leftRightArrow">
              <a:avLst>
                <a:gd name="adj1" fmla="val 50000"/>
                <a:gd name="adj2" fmla="val 26829"/>
              </a:avLst>
            </a:prstGeom>
            <a:solidFill>
              <a:srgbClr val="0000FF"/>
            </a:solidFill>
            <a:ln w="9360">
              <a:solidFill>
                <a:srgbClr val="000000"/>
              </a:solidFill>
              <a:miter lim="800000"/>
            </a:ln>
          </p:spPr>
          <p:txBody>
            <a:bodyPr wrap="none" anchor="ctr"/>
            <a:lstStyle/>
            <a:p>
              <a:pPr algn="ctr"/>
              <a:endParaRPr lang="zh-CN" altLang="en-US"/>
            </a:p>
          </p:txBody>
        </p:sp>
        <p:sp>
          <p:nvSpPr>
            <p:cNvPr id="72756" name="AutoShape 215"/>
            <p:cNvSpPr>
              <a:spLocks noChangeArrowheads="1"/>
            </p:cNvSpPr>
            <p:nvPr/>
          </p:nvSpPr>
          <p:spPr bwMode="auto">
            <a:xfrm>
              <a:off x="3987" y="3382"/>
              <a:ext cx="120" cy="90"/>
            </a:xfrm>
            <a:prstGeom prst="leftRightArrow">
              <a:avLst>
                <a:gd name="adj1" fmla="val 50000"/>
                <a:gd name="adj2" fmla="val 26531"/>
              </a:avLst>
            </a:prstGeom>
            <a:solidFill>
              <a:srgbClr val="CCCCFF"/>
            </a:solidFill>
            <a:ln w="9360">
              <a:solidFill>
                <a:srgbClr val="000000"/>
              </a:solidFill>
              <a:miter lim="800000"/>
            </a:ln>
          </p:spPr>
          <p:txBody>
            <a:bodyPr wrap="none" anchor="ctr"/>
            <a:lstStyle/>
            <a:p>
              <a:pPr algn="ctr"/>
              <a:endParaRPr lang="zh-CN" altLang="en-US"/>
            </a:p>
          </p:txBody>
        </p:sp>
        <p:sp>
          <p:nvSpPr>
            <p:cNvPr id="72757" name="AutoShape 216"/>
            <p:cNvSpPr>
              <a:spLocks noChangeArrowheads="1"/>
            </p:cNvSpPr>
            <p:nvPr/>
          </p:nvSpPr>
          <p:spPr bwMode="auto">
            <a:xfrm flipV="1">
              <a:off x="3987" y="2542"/>
              <a:ext cx="120" cy="90"/>
            </a:xfrm>
            <a:prstGeom prst="leftRightArrow">
              <a:avLst>
                <a:gd name="adj1" fmla="val 50000"/>
                <a:gd name="adj2" fmla="val 26531"/>
              </a:avLst>
            </a:prstGeom>
            <a:solidFill>
              <a:srgbClr val="CCCCFF"/>
            </a:solidFill>
            <a:ln w="9360">
              <a:solidFill>
                <a:srgbClr val="000000"/>
              </a:solidFill>
              <a:miter lim="800000"/>
            </a:ln>
          </p:spPr>
          <p:txBody>
            <a:bodyPr wrap="none" anchor="ctr"/>
            <a:lstStyle/>
            <a:p>
              <a:pPr algn="ctr"/>
              <a:endParaRPr lang="zh-CN" altLang="en-US"/>
            </a:p>
          </p:txBody>
        </p:sp>
        <p:sp>
          <p:nvSpPr>
            <p:cNvPr id="72758" name="AutoShape 217"/>
            <p:cNvSpPr>
              <a:spLocks noChangeArrowheads="1"/>
            </p:cNvSpPr>
            <p:nvPr/>
          </p:nvSpPr>
          <p:spPr bwMode="auto">
            <a:xfrm flipV="1">
              <a:off x="3987" y="2628"/>
              <a:ext cx="120" cy="89"/>
            </a:xfrm>
            <a:prstGeom prst="leftRightArrow">
              <a:avLst>
                <a:gd name="adj1" fmla="val 50000"/>
                <a:gd name="adj2" fmla="val 26829"/>
              </a:avLst>
            </a:prstGeom>
            <a:solidFill>
              <a:srgbClr val="0000FF"/>
            </a:solidFill>
            <a:ln w="9360">
              <a:solidFill>
                <a:srgbClr val="000000"/>
              </a:solidFill>
              <a:miter lim="800000"/>
            </a:ln>
          </p:spPr>
          <p:txBody>
            <a:bodyPr wrap="none" anchor="ctr"/>
            <a:lstStyle/>
            <a:p>
              <a:pPr algn="ctr"/>
              <a:endParaRPr lang="zh-CN" altLang="en-US"/>
            </a:p>
          </p:txBody>
        </p:sp>
        <p:sp>
          <p:nvSpPr>
            <p:cNvPr id="79066" name="Rectangle 218"/>
            <p:cNvSpPr>
              <a:spLocks noChangeArrowheads="1"/>
            </p:cNvSpPr>
            <p:nvPr/>
          </p:nvSpPr>
          <p:spPr bwMode="auto">
            <a:xfrm>
              <a:off x="662" y="3684"/>
              <a:ext cx="1843" cy="190"/>
            </a:xfrm>
            <a:prstGeom prst="rect">
              <a:avLst/>
            </a:prstGeom>
            <a:solidFill>
              <a:srgbClr val="00CC99"/>
            </a:solidFill>
            <a:ln w="9360">
              <a:solidFill>
                <a:srgbClr val="80808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FFFFFF"/>
                  </a:solidFill>
                  <a:latin typeface="Arial Narrow" pitchFamily="34" charset="0"/>
                </a:rPr>
                <a:t>DDR2 Memory Controller 3</a:t>
              </a:r>
              <a:endParaRPr lang="en-US" altLang="zh-CN" sz="900">
                <a:solidFill>
                  <a:srgbClr val="FFFFFF"/>
                </a:solidFill>
                <a:latin typeface="Arial Narrow" pitchFamily="34" charset="0"/>
              </a:endParaRPr>
            </a:p>
          </p:txBody>
        </p:sp>
        <p:sp>
          <p:nvSpPr>
            <p:cNvPr id="79067" name="Rectangle 219"/>
            <p:cNvSpPr>
              <a:spLocks noChangeArrowheads="1"/>
            </p:cNvSpPr>
            <p:nvPr/>
          </p:nvSpPr>
          <p:spPr bwMode="auto">
            <a:xfrm>
              <a:off x="628" y="1102"/>
              <a:ext cx="1913" cy="183"/>
            </a:xfrm>
            <a:prstGeom prst="rect">
              <a:avLst/>
            </a:prstGeom>
            <a:solidFill>
              <a:srgbClr val="00CC99"/>
            </a:solidFill>
            <a:ln w="9360">
              <a:solidFill>
                <a:srgbClr val="80808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FFFFFF"/>
                  </a:solidFill>
                  <a:latin typeface="Arial Narrow" pitchFamily="34" charset="0"/>
                </a:rPr>
                <a:t>DDR2 Memory Controller 0</a:t>
              </a:r>
              <a:endParaRPr lang="en-US" altLang="zh-CN" sz="900">
                <a:solidFill>
                  <a:srgbClr val="FFFFFF"/>
                </a:solidFill>
                <a:latin typeface="Arial Narrow" pitchFamily="34" charset="0"/>
              </a:endParaRPr>
            </a:p>
          </p:txBody>
        </p:sp>
        <p:grpSp>
          <p:nvGrpSpPr>
            <p:cNvPr id="72761" name="Group 220"/>
            <p:cNvGrpSpPr/>
            <p:nvPr/>
          </p:nvGrpSpPr>
          <p:grpSpPr bwMode="auto">
            <a:xfrm>
              <a:off x="2619" y="1102"/>
              <a:ext cx="1905" cy="2771"/>
              <a:chOff x="2619" y="1102"/>
              <a:chExt cx="1905" cy="2771"/>
            </a:xfrm>
          </p:grpSpPr>
          <p:sp>
            <p:nvSpPr>
              <p:cNvPr id="79069" name="Rectangle 221"/>
              <p:cNvSpPr>
                <a:spLocks noChangeArrowheads="1"/>
              </p:cNvSpPr>
              <p:nvPr/>
            </p:nvSpPr>
            <p:spPr bwMode="auto">
              <a:xfrm>
                <a:off x="2619" y="3684"/>
                <a:ext cx="1897" cy="190"/>
              </a:xfrm>
              <a:prstGeom prst="rect">
                <a:avLst/>
              </a:prstGeom>
              <a:solidFill>
                <a:srgbClr val="00CC99"/>
              </a:solidFill>
              <a:ln w="9360">
                <a:solidFill>
                  <a:srgbClr val="80808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FFFFFF"/>
                    </a:solidFill>
                    <a:latin typeface="Arial Narrow" pitchFamily="34" charset="0"/>
                  </a:rPr>
                  <a:t>DDR2 Memory Controller 2</a:t>
                </a:r>
                <a:endParaRPr lang="en-US" altLang="zh-CN" sz="900">
                  <a:solidFill>
                    <a:srgbClr val="FFFFFF"/>
                  </a:solidFill>
                  <a:latin typeface="Arial Narrow" pitchFamily="34" charset="0"/>
                </a:endParaRPr>
              </a:p>
            </p:txBody>
          </p:sp>
          <p:sp>
            <p:nvSpPr>
              <p:cNvPr id="79070" name="Rectangle 222"/>
              <p:cNvSpPr>
                <a:spLocks noChangeArrowheads="1"/>
              </p:cNvSpPr>
              <p:nvPr/>
            </p:nvSpPr>
            <p:spPr bwMode="auto">
              <a:xfrm>
                <a:off x="2619" y="1102"/>
                <a:ext cx="1885" cy="190"/>
              </a:xfrm>
              <a:prstGeom prst="rect">
                <a:avLst/>
              </a:prstGeom>
              <a:solidFill>
                <a:srgbClr val="00CC99"/>
              </a:solidFill>
              <a:ln w="9360">
                <a:solidFill>
                  <a:srgbClr val="80808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FFFFFF"/>
                    </a:solidFill>
                    <a:latin typeface="Arial Narrow" pitchFamily="34" charset="0"/>
                  </a:rPr>
                  <a:t>DDR2 Memory Controller 1</a:t>
                </a:r>
                <a:endParaRPr lang="en-US" altLang="zh-CN" sz="900">
                  <a:solidFill>
                    <a:srgbClr val="FFFFFF"/>
                  </a:solidFill>
                  <a:latin typeface="Arial Narrow" pitchFamily="34" charset="0"/>
                </a:endParaRPr>
              </a:p>
            </p:txBody>
          </p:sp>
        </p:grpSp>
        <p:grpSp>
          <p:nvGrpSpPr>
            <p:cNvPr id="72762" name="Group 223"/>
            <p:cNvGrpSpPr/>
            <p:nvPr/>
          </p:nvGrpSpPr>
          <p:grpSpPr bwMode="auto">
            <a:xfrm>
              <a:off x="4109" y="1559"/>
              <a:ext cx="411" cy="473"/>
              <a:chOff x="4109" y="1559"/>
              <a:chExt cx="411" cy="473"/>
            </a:xfrm>
          </p:grpSpPr>
          <p:sp>
            <p:nvSpPr>
              <p:cNvPr id="79072" name="Rectangle 224"/>
              <p:cNvSpPr>
                <a:spLocks noChangeArrowheads="1"/>
              </p:cNvSpPr>
              <p:nvPr/>
            </p:nvSpPr>
            <p:spPr bwMode="auto">
              <a:xfrm>
                <a:off x="4109" y="1561"/>
                <a:ext cx="413" cy="474"/>
              </a:xfrm>
              <a:prstGeom prst="rect">
                <a:avLst/>
              </a:prstGeom>
              <a:solidFill>
                <a:srgbClr val="89B0FF"/>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XAUI</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MAC</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PHY 0</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lang="en-US" altLang="zh-CN" sz="900">
                  <a:solidFill>
                    <a:srgbClr val="000000"/>
                  </a:solidFill>
                  <a:latin typeface="Arial Narrow" pitchFamily="34" charset="0"/>
                </a:endParaRPr>
              </a:p>
            </p:txBody>
          </p:sp>
          <p:sp>
            <p:nvSpPr>
              <p:cNvPr id="79073" name="Rectangle 225"/>
              <p:cNvSpPr>
                <a:spLocks noChangeArrowheads="1"/>
              </p:cNvSpPr>
              <p:nvPr/>
            </p:nvSpPr>
            <p:spPr bwMode="auto">
              <a:xfrm>
                <a:off x="4109" y="1913"/>
                <a:ext cx="413" cy="120"/>
              </a:xfrm>
              <a:prstGeom prst="rect">
                <a:avLst/>
              </a:prstGeom>
              <a:solidFill>
                <a:srgbClr val="00FF00"/>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Serdes</a:t>
                </a:r>
                <a:endParaRPr lang="en-US" altLang="zh-CN" sz="900">
                  <a:solidFill>
                    <a:srgbClr val="000000"/>
                  </a:solidFill>
                  <a:latin typeface="Arial Narrow" pitchFamily="34" charset="0"/>
                </a:endParaRPr>
              </a:p>
            </p:txBody>
          </p:sp>
        </p:grpSp>
        <p:grpSp>
          <p:nvGrpSpPr>
            <p:cNvPr id="72763" name="Group 226"/>
            <p:cNvGrpSpPr/>
            <p:nvPr/>
          </p:nvGrpSpPr>
          <p:grpSpPr bwMode="auto">
            <a:xfrm>
              <a:off x="4108" y="3155"/>
              <a:ext cx="422" cy="472"/>
              <a:chOff x="4108" y="3155"/>
              <a:chExt cx="422" cy="472"/>
            </a:xfrm>
          </p:grpSpPr>
          <p:sp>
            <p:nvSpPr>
              <p:cNvPr id="79075" name="Rectangle 227"/>
              <p:cNvSpPr>
                <a:spLocks noChangeArrowheads="1"/>
              </p:cNvSpPr>
              <p:nvPr/>
            </p:nvSpPr>
            <p:spPr bwMode="auto">
              <a:xfrm>
                <a:off x="4104" y="3155"/>
                <a:ext cx="427" cy="475"/>
              </a:xfrm>
              <a:prstGeom prst="rect">
                <a:avLst/>
              </a:prstGeom>
              <a:solidFill>
                <a:srgbClr val="89B0FF"/>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XAUI</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MAC</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PHY 1</a:t>
                </a:r>
                <a:endParaRPr lang="en-US" altLang="zh-CN" sz="900">
                  <a:solidFill>
                    <a:srgbClr val="000000"/>
                  </a:solidFill>
                  <a:latin typeface="Arial Narrow" pitchFamily="34" charset="0"/>
                </a:endParaRPr>
              </a:p>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endParaRPr lang="en-US" altLang="zh-CN" sz="900">
                  <a:solidFill>
                    <a:srgbClr val="000000"/>
                  </a:solidFill>
                  <a:latin typeface="Arial Narrow" pitchFamily="34" charset="0"/>
                </a:endParaRPr>
              </a:p>
            </p:txBody>
          </p:sp>
          <p:sp>
            <p:nvSpPr>
              <p:cNvPr id="79076" name="Rectangle 228"/>
              <p:cNvSpPr>
                <a:spLocks noChangeArrowheads="1"/>
              </p:cNvSpPr>
              <p:nvPr/>
            </p:nvSpPr>
            <p:spPr bwMode="auto">
              <a:xfrm>
                <a:off x="4104" y="3509"/>
                <a:ext cx="427" cy="119"/>
              </a:xfrm>
              <a:prstGeom prst="rect">
                <a:avLst/>
              </a:prstGeom>
              <a:solidFill>
                <a:srgbClr val="00FF00"/>
              </a:solidFill>
              <a:ln w="9360">
                <a:solidFill>
                  <a:srgbClr val="C0C0C0"/>
                </a:solidFill>
                <a:miter lim="800000"/>
              </a:ln>
              <a:effectLst>
                <a:outerShdw dist="17819" dir="2700000" algn="ctr" rotWithShape="0">
                  <a:srgbClr val="808080"/>
                </a:outerShdw>
              </a:effectLst>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defRPr/>
                </a:pPr>
                <a:r>
                  <a:rPr lang="en-US" altLang="zh-CN" sz="900">
                    <a:solidFill>
                      <a:srgbClr val="000000"/>
                    </a:solidFill>
                    <a:latin typeface="Arial Narrow" pitchFamily="34" charset="0"/>
                  </a:rPr>
                  <a:t>Serdes</a:t>
                </a:r>
                <a:endParaRPr lang="en-US" altLang="zh-CN" sz="900">
                  <a:solidFill>
                    <a:srgbClr val="000000"/>
                  </a:solidFill>
                  <a:latin typeface="Arial Narrow" pitchFamily="34" charset="0"/>
                </a:endParaRPr>
              </a:p>
            </p:txBody>
          </p:sp>
        </p:grpSp>
        <p:sp>
          <p:nvSpPr>
            <p:cNvPr id="72764" name="AutoShape 229"/>
            <p:cNvSpPr>
              <a:spLocks noChangeArrowheads="1"/>
            </p:cNvSpPr>
            <p:nvPr/>
          </p:nvSpPr>
          <p:spPr bwMode="auto">
            <a:xfrm rot="5400000">
              <a:off x="4150" y="1420"/>
              <a:ext cx="928" cy="127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 name="T15" fmla="*/ 0 w 21600"/>
                <a:gd name="T16" fmla="*/ 0 h 21600"/>
                <a:gd name="T17" fmla="*/ 2160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0" y="0"/>
                  </a:moveTo>
                  <a:lnTo>
                    <a:pt x="8275" y="21600"/>
                  </a:lnTo>
                  <a:lnTo>
                    <a:pt x="13325" y="21600"/>
                  </a:lnTo>
                  <a:lnTo>
                    <a:pt x="21600" y="0"/>
                  </a:lnTo>
                  <a:lnTo>
                    <a:pt x="0" y="0"/>
                  </a:lnTo>
                  <a:close/>
                </a:path>
              </a:pathLst>
            </a:custGeom>
            <a:solidFill>
              <a:srgbClr val="EAEAEA">
                <a:alpha val="54117"/>
              </a:srgbClr>
            </a:solidFill>
            <a:ln w="12600">
              <a:solidFill>
                <a:srgbClr val="808080"/>
              </a:solidFill>
              <a:prstDash val="dash"/>
              <a:miter lim="800000"/>
            </a:ln>
          </p:spPr>
          <p:txBody>
            <a:bodyPr/>
            <a:lstStyle/>
            <a:p>
              <a:endParaRPr lang="zh-CN" altLang="en-US"/>
            </a:p>
          </p:txBody>
        </p:sp>
        <p:grpSp>
          <p:nvGrpSpPr>
            <p:cNvPr id="72765" name="Group 230"/>
            <p:cNvGrpSpPr/>
            <p:nvPr/>
          </p:nvGrpSpPr>
          <p:grpSpPr bwMode="auto">
            <a:xfrm>
              <a:off x="5125" y="1463"/>
              <a:ext cx="1525" cy="1180"/>
              <a:chOff x="5125" y="1463"/>
              <a:chExt cx="1525" cy="1180"/>
            </a:xfrm>
          </p:grpSpPr>
          <p:sp>
            <p:nvSpPr>
              <p:cNvPr id="72766" name="Rectangle 231"/>
              <p:cNvSpPr>
                <a:spLocks noChangeArrowheads="1"/>
              </p:cNvSpPr>
              <p:nvPr/>
            </p:nvSpPr>
            <p:spPr bwMode="auto">
              <a:xfrm>
                <a:off x="5232" y="1547"/>
                <a:ext cx="1305" cy="1007"/>
              </a:xfrm>
              <a:prstGeom prst="rect">
                <a:avLst/>
              </a:prstGeom>
              <a:gradFill rotWithShape="0">
                <a:gsLst>
                  <a:gs pos="0">
                    <a:srgbClr val="C0C0C0"/>
                  </a:gs>
                  <a:gs pos="100000">
                    <a:srgbClr val="EAEAEA"/>
                  </a:gs>
                </a:gsLst>
                <a:lin ang="13500000" scaled="1"/>
              </a:gradFill>
              <a:ln w="9360">
                <a:solidFill>
                  <a:srgbClr val="808080"/>
                </a:solidFill>
                <a:miter lim="800000"/>
              </a:ln>
            </p:spPr>
            <p:txBody>
              <a:bodyPr wrap="none" anchor="ctr"/>
              <a:lstStyle/>
              <a:p>
                <a:pPr algn="ctr"/>
                <a:endParaRPr lang="zh-CN" altLang="en-US"/>
              </a:p>
            </p:txBody>
          </p:sp>
          <p:sp>
            <p:nvSpPr>
              <p:cNvPr id="72767" name="Line 232"/>
              <p:cNvSpPr>
                <a:spLocks noChangeShapeType="1"/>
              </p:cNvSpPr>
              <p:nvPr/>
            </p:nvSpPr>
            <p:spPr bwMode="auto">
              <a:xfrm flipV="1">
                <a:off x="5801" y="1463"/>
                <a:ext cx="1" cy="1180"/>
              </a:xfrm>
              <a:prstGeom prst="line">
                <a:avLst/>
              </a:prstGeom>
              <a:noFill/>
              <a:ln w="28440">
                <a:solidFill>
                  <a:srgbClr val="FFFF00"/>
                </a:solidFill>
                <a:miter lim="800000"/>
                <a:headEnd type="triangle" w="med" len="med"/>
                <a:tailEnd type="triangle" w="med" len="med"/>
              </a:ln>
            </p:spPr>
            <p:txBody>
              <a:bodyPr/>
              <a:lstStyle/>
              <a:p>
                <a:endParaRPr lang="zh-CN" altLang="en-US"/>
              </a:p>
            </p:txBody>
          </p:sp>
          <p:sp>
            <p:nvSpPr>
              <p:cNvPr id="72768" name="Line 233"/>
              <p:cNvSpPr>
                <a:spLocks noChangeShapeType="1"/>
              </p:cNvSpPr>
              <p:nvPr/>
            </p:nvSpPr>
            <p:spPr bwMode="auto">
              <a:xfrm flipV="1">
                <a:off x="5852" y="1463"/>
                <a:ext cx="1" cy="1180"/>
              </a:xfrm>
              <a:prstGeom prst="line">
                <a:avLst/>
              </a:prstGeom>
              <a:noFill/>
              <a:ln w="28440">
                <a:solidFill>
                  <a:srgbClr val="CCCCFF"/>
                </a:solidFill>
                <a:miter lim="800000"/>
                <a:headEnd type="triangle" w="med" len="med"/>
                <a:tailEnd type="triangle" w="med" len="med"/>
              </a:ln>
            </p:spPr>
            <p:txBody>
              <a:bodyPr/>
              <a:lstStyle/>
              <a:p>
                <a:endParaRPr lang="zh-CN" altLang="en-US"/>
              </a:p>
            </p:txBody>
          </p:sp>
          <p:sp>
            <p:nvSpPr>
              <p:cNvPr id="72769" name="Line 234"/>
              <p:cNvSpPr>
                <a:spLocks noChangeShapeType="1"/>
              </p:cNvSpPr>
              <p:nvPr/>
            </p:nvSpPr>
            <p:spPr bwMode="auto">
              <a:xfrm flipV="1">
                <a:off x="5903" y="1463"/>
                <a:ext cx="1" cy="1180"/>
              </a:xfrm>
              <a:prstGeom prst="line">
                <a:avLst/>
              </a:prstGeom>
              <a:noFill/>
              <a:ln w="28440">
                <a:solidFill>
                  <a:srgbClr val="0000FF"/>
                </a:solidFill>
                <a:miter lim="800000"/>
                <a:headEnd type="triangle" w="med" len="med"/>
                <a:tailEnd type="triangle" w="med" len="med"/>
              </a:ln>
            </p:spPr>
            <p:txBody>
              <a:bodyPr/>
              <a:lstStyle/>
              <a:p>
                <a:endParaRPr lang="zh-CN" altLang="en-US"/>
              </a:p>
            </p:txBody>
          </p:sp>
          <p:sp>
            <p:nvSpPr>
              <p:cNvPr id="72770" name="Line 235"/>
              <p:cNvSpPr>
                <a:spLocks noChangeShapeType="1"/>
              </p:cNvSpPr>
              <p:nvPr/>
            </p:nvSpPr>
            <p:spPr bwMode="auto">
              <a:xfrm flipV="1">
                <a:off x="5953" y="1463"/>
                <a:ext cx="1" cy="1180"/>
              </a:xfrm>
              <a:prstGeom prst="line">
                <a:avLst/>
              </a:prstGeom>
              <a:noFill/>
              <a:ln w="28440">
                <a:solidFill>
                  <a:srgbClr val="000000"/>
                </a:solidFill>
                <a:miter lim="800000"/>
                <a:headEnd type="triangle" w="med" len="med"/>
                <a:tailEnd type="triangle" w="med" len="med"/>
              </a:ln>
            </p:spPr>
            <p:txBody>
              <a:bodyPr/>
              <a:lstStyle/>
              <a:p>
                <a:endParaRPr lang="zh-CN" altLang="en-US"/>
              </a:p>
            </p:txBody>
          </p:sp>
          <p:sp>
            <p:nvSpPr>
              <p:cNvPr id="72771" name="Line 236"/>
              <p:cNvSpPr>
                <a:spLocks noChangeShapeType="1"/>
              </p:cNvSpPr>
              <p:nvPr/>
            </p:nvSpPr>
            <p:spPr bwMode="auto">
              <a:xfrm flipV="1">
                <a:off x="6004" y="1463"/>
                <a:ext cx="1" cy="1180"/>
              </a:xfrm>
              <a:prstGeom prst="line">
                <a:avLst/>
              </a:prstGeom>
              <a:noFill/>
              <a:ln w="28440">
                <a:solidFill>
                  <a:srgbClr val="00FF00"/>
                </a:solidFill>
                <a:miter lim="800000"/>
                <a:headEnd type="triangle" w="med" len="med"/>
                <a:tailEnd type="triangle" w="med" len="med"/>
              </a:ln>
            </p:spPr>
            <p:txBody>
              <a:bodyPr/>
              <a:lstStyle/>
              <a:p>
                <a:endParaRPr lang="zh-CN" altLang="en-US"/>
              </a:p>
            </p:txBody>
          </p:sp>
          <p:sp>
            <p:nvSpPr>
              <p:cNvPr id="72772" name="Text Box 237"/>
              <p:cNvSpPr txBox="1">
                <a:spLocks noChangeArrowheads="1"/>
              </p:cNvSpPr>
              <p:nvPr/>
            </p:nvSpPr>
            <p:spPr bwMode="auto">
              <a:xfrm>
                <a:off x="5132" y="1534"/>
                <a:ext cx="763" cy="152"/>
              </a:xfrm>
              <a:prstGeom prst="rect">
                <a:avLst/>
              </a:prstGeom>
              <a:noFill/>
              <a:ln w="9525">
                <a:noFill/>
                <a:miter lim="800000"/>
              </a:ln>
            </p:spPr>
            <p:txBody>
              <a:bodyPr lIns="90000" tIns="46800" rIns="90000" bIns="46800">
                <a:spAutoFit/>
              </a:bodyP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900">
                    <a:solidFill>
                      <a:srgbClr val="009900"/>
                    </a:solidFill>
                    <a:latin typeface="Arial" panose="02080604020202020204" pitchFamily="34" charset="0"/>
                  </a:rPr>
                  <a:t>PROCESSOR</a:t>
                </a:r>
                <a:endParaRPr lang="en-US" altLang="zh-CN" sz="900">
                  <a:solidFill>
                    <a:srgbClr val="009900"/>
                  </a:solidFill>
                  <a:latin typeface="Arial" panose="02080604020202020204" pitchFamily="34" charset="0"/>
                </a:endParaRPr>
              </a:p>
            </p:txBody>
          </p:sp>
          <p:grpSp>
            <p:nvGrpSpPr>
              <p:cNvPr id="72773" name="Group 238"/>
              <p:cNvGrpSpPr/>
              <p:nvPr/>
            </p:nvGrpSpPr>
            <p:grpSpPr bwMode="auto">
              <a:xfrm>
                <a:off x="5265" y="1681"/>
                <a:ext cx="477" cy="341"/>
                <a:chOff x="5265" y="1681"/>
                <a:chExt cx="477" cy="341"/>
              </a:xfrm>
            </p:grpSpPr>
            <p:sp>
              <p:nvSpPr>
                <p:cNvPr id="72804" name="Rectangle 239"/>
                <p:cNvSpPr>
                  <a:spLocks noChangeArrowheads="1"/>
                </p:cNvSpPr>
                <p:nvPr/>
              </p:nvSpPr>
              <p:spPr bwMode="auto">
                <a:xfrm>
                  <a:off x="5265" y="1681"/>
                  <a:ext cx="478" cy="342"/>
                </a:xfrm>
                <a:prstGeom prst="rect">
                  <a:avLst/>
                </a:prstGeom>
                <a:gradFill rotWithShape="0">
                  <a:gsLst>
                    <a:gs pos="0">
                      <a:srgbClr val="00CC66"/>
                    </a:gs>
                    <a:gs pos="100000">
                      <a:srgbClr val="00CC99"/>
                    </a:gs>
                  </a:gsLst>
                  <a:lin ang="13500000" scaled="1"/>
                </a:gradFill>
                <a:ln w="12600">
                  <a:solidFill>
                    <a:srgbClr val="339966"/>
                  </a:solidFill>
                  <a:miter lim="800000"/>
                </a:ln>
              </p:spPr>
              <p:txBody>
                <a:bodyPr wrap="none" anchor="ctr"/>
                <a:lstStyle/>
                <a:p>
                  <a:pPr algn="ctr"/>
                  <a:endParaRPr lang="zh-CN" altLang="en-US"/>
                </a:p>
              </p:txBody>
            </p:sp>
            <p:sp>
              <p:nvSpPr>
                <p:cNvPr id="72805" name="Rectangle 240"/>
                <p:cNvSpPr>
                  <a:spLocks noChangeArrowheads="1"/>
                </p:cNvSpPr>
                <p:nvPr/>
              </p:nvSpPr>
              <p:spPr bwMode="auto">
                <a:xfrm>
                  <a:off x="5281" y="1838"/>
                  <a:ext cx="137" cy="162"/>
                </a:xfrm>
                <a:prstGeom prst="rect">
                  <a:avLst/>
                </a:prstGeom>
                <a:gradFill rotWithShape="0">
                  <a:gsLst>
                    <a:gs pos="0">
                      <a:srgbClr val="00CC66"/>
                    </a:gs>
                    <a:gs pos="100000">
                      <a:srgbClr val="00CC99"/>
                    </a:gs>
                  </a:gsLst>
                  <a:lin ang="13500000" scaled="1"/>
                </a:gradFill>
                <a:ln w="12600">
                  <a:solidFill>
                    <a:srgbClr val="339966"/>
                  </a:solidFill>
                  <a:miter lim="800000"/>
                </a:ln>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008000"/>
                      </a:solidFill>
                      <a:latin typeface="Arial" panose="02080604020202020204" pitchFamily="34" charset="0"/>
                    </a:rPr>
                    <a:t>P2</a:t>
                  </a:r>
                  <a:endParaRPr lang="en-US" altLang="zh-CN" sz="500">
                    <a:solidFill>
                      <a:srgbClr val="008000"/>
                    </a:solidFill>
                    <a:latin typeface="Arial" panose="02080604020202020204" pitchFamily="34" charset="0"/>
                  </a:endParaRPr>
                </a:p>
              </p:txBody>
            </p:sp>
            <p:sp>
              <p:nvSpPr>
                <p:cNvPr id="72806" name="Rectangle 241"/>
                <p:cNvSpPr>
                  <a:spLocks noChangeArrowheads="1"/>
                </p:cNvSpPr>
                <p:nvPr/>
              </p:nvSpPr>
              <p:spPr bwMode="auto">
                <a:xfrm>
                  <a:off x="5362" y="1701"/>
                  <a:ext cx="276" cy="94"/>
                </a:xfrm>
                <a:prstGeom prst="rect">
                  <a:avLst/>
                </a:prstGeom>
                <a:gradFill rotWithShape="0">
                  <a:gsLst>
                    <a:gs pos="0">
                      <a:srgbClr val="00CC66"/>
                    </a:gs>
                    <a:gs pos="100000">
                      <a:srgbClr val="00CC99"/>
                    </a:gs>
                  </a:gsLst>
                  <a:lin ang="13500000" scaled="1"/>
                </a:gradFill>
                <a:ln w="12600">
                  <a:solidFill>
                    <a:srgbClr val="339966"/>
                  </a:solidFill>
                  <a:miter lim="800000"/>
                </a:ln>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008000"/>
                      </a:solidFill>
                      <a:latin typeface="Arial" panose="02080604020202020204" pitchFamily="34" charset="0"/>
                    </a:rPr>
                    <a:t>Reg File</a:t>
                  </a:r>
                  <a:endParaRPr lang="en-US" altLang="zh-CN" sz="500">
                    <a:solidFill>
                      <a:srgbClr val="008000"/>
                    </a:solidFill>
                    <a:latin typeface="Arial" panose="02080604020202020204" pitchFamily="34" charset="0"/>
                  </a:endParaRPr>
                </a:p>
              </p:txBody>
            </p:sp>
            <p:sp>
              <p:nvSpPr>
                <p:cNvPr id="72807" name="Rectangle 242"/>
                <p:cNvSpPr>
                  <a:spLocks noChangeArrowheads="1"/>
                </p:cNvSpPr>
                <p:nvPr/>
              </p:nvSpPr>
              <p:spPr bwMode="auto">
                <a:xfrm>
                  <a:off x="5428" y="1838"/>
                  <a:ext cx="136" cy="162"/>
                </a:xfrm>
                <a:prstGeom prst="rect">
                  <a:avLst/>
                </a:prstGeom>
                <a:gradFill rotWithShape="0">
                  <a:gsLst>
                    <a:gs pos="0">
                      <a:srgbClr val="00CC66"/>
                    </a:gs>
                    <a:gs pos="100000">
                      <a:srgbClr val="00CC99"/>
                    </a:gs>
                  </a:gsLst>
                  <a:lin ang="13500000" scaled="1"/>
                </a:gradFill>
                <a:ln w="12600">
                  <a:solidFill>
                    <a:srgbClr val="339966"/>
                  </a:solidFill>
                  <a:miter lim="800000"/>
                </a:ln>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008000"/>
                      </a:solidFill>
                      <a:latin typeface="Arial" panose="02080604020202020204" pitchFamily="34" charset="0"/>
                    </a:rPr>
                    <a:t>P1</a:t>
                  </a:r>
                  <a:endParaRPr lang="en-US" altLang="zh-CN" sz="500">
                    <a:solidFill>
                      <a:srgbClr val="008000"/>
                    </a:solidFill>
                    <a:latin typeface="Arial" panose="02080604020202020204" pitchFamily="34" charset="0"/>
                  </a:endParaRPr>
                </a:p>
              </p:txBody>
            </p:sp>
            <p:sp>
              <p:nvSpPr>
                <p:cNvPr id="72808" name="Rectangle 243"/>
                <p:cNvSpPr>
                  <a:spLocks noChangeArrowheads="1"/>
                </p:cNvSpPr>
                <p:nvPr/>
              </p:nvSpPr>
              <p:spPr bwMode="auto">
                <a:xfrm>
                  <a:off x="5576" y="1838"/>
                  <a:ext cx="136" cy="162"/>
                </a:xfrm>
                <a:prstGeom prst="rect">
                  <a:avLst/>
                </a:prstGeom>
                <a:gradFill rotWithShape="0">
                  <a:gsLst>
                    <a:gs pos="0">
                      <a:srgbClr val="00CC66"/>
                    </a:gs>
                    <a:gs pos="100000">
                      <a:srgbClr val="00CC99"/>
                    </a:gs>
                  </a:gsLst>
                  <a:lin ang="13500000" scaled="1"/>
                </a:gradFill>
                <a:ln w="12600">
                  <a:solidFill>
                    <a:srgbClr val="339966"/>
                  </a:solidFill>
                  <a:miter lim="800000"/>
                </a:ln>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008000"/>
                      </a:solidFill>
                      <a:latin typeface="Arial" panose="02080604020202020204" pitchFamily="34" charset="0"/>
                    </a:rPr>
                    <a:t>P0</a:t>
                  </a:r>
                  <a:endParaRPr lang="en-US" altLang="zh-CN" sz="500">
                    <a:solidFill>
                      <a:srgbClr val="008000"/>
                    </a:solidFill>
                    <a:latin typeface="Arial" panose="02080604020202020204" pitchFamily="34" charset="0"/>
                  </a:endParaRPr>
                </a:p>
              </p:txBody>
            </p:sp>
          </p:grpSp>
          <p:sp>
            <p:nvSpPr>
              <p:cNvPr id="72774" name="Text Box 244"/>
              <p:cNvSpPr txBox="1">
                <a:spLocks noChangeArrowheads="1"/>
              </p:cNvSpPr>
              <p:nvPr/>
            </p:nvSpPr>
            <p:spPr bwMode="auto">
              <a:xfrm>
                <a:off x="5993" y="1545"/>
                <a:ext cx="570" cy="152"/>
              </a:xfrm>
              <a:prstGeom prst="rect">
                <a:avLst/>
              </a:prstGeom>
              <a:noFill/>
              <a:ln w="9525">
                <a:noFill/>
                <a:miter lim="800000"/>
              </a:ln>
            </p:spPr>
            <p:txBody>
              <a:bodyPr lIns="90000" tIns="46800" rIns="90000" bIns="46800">
                <a:spAutoFit/>
              </a:bodyP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900">
                    <a:solidFill>
                      <a:srgbClr val="3333FF"/>
                    </a:solidFill>
                    <a:latin typeface="Arial" panose="02080604020202020204" pitchFamily="34" charset="0"/>
                  </a:rPr>
                  <a:t>CACHE</a:t>
                </a:r>
                <a:endParaRPr lang="en-US" altLang="zh-CN" sz="900">
                  <a:solidFill>
                    <a:srgbClr val="3333FF"/>
                  </a:solidFill>
                  <a:latin typeface="Arial" panose="02080604020202020204" pitchFamily="34" charset="0"/>
                </a:endParaRPr>
              </a:p>
            </p:txBody>
          </p:sp>
          <p:grpSp>
            <p:nvGrpSpPr>
              <p:cNvPr id="72775" name="Group 245"/>
              <p:cNvGrpSpPr/>
              <p:nvPr/>
            </p:nvGrpSpPr>
            <p:grpSpPr bwMode="auto">
              <a:xfrm>
                <a:off x="6042" y="1685"/>
                <a:ext cx="472" cy="333"/>
                <a:chOff x="6042" y="1685"/>
                <a:chExt cx="472" cy="333"/>
              </a:xfrm>
            </p:grpSpPr>
            <p:sp>
              <p:nvSpPr>
                <p:cNvPr id="72797" name="Rectangle 246"/>
                <p:cNvSpPr>
                  <a:spLocks noChangeArrowheads="1"/>
                </p:cNvSpPr>
                <p:nvPr/>
              </p:nvSpPr>
              <p:spPr bwMode="auto">
                <a:xfrm>
                  <a:off x="6042" y="1685"/>
                  <a:ext cx="473" cy="334"/>
                </a:xfrm>
                <a:prstGeom prst="rect">
                  <a:avLst/>
                </a:prstGeom>
                <a:gradFill rotWithShape="0">
                  <a:gsLst>
                    <a:gs pos="0">
                      <a:srgbClr val="0000FF"/>
                    </a:gs>
                    <a:gs pos="100000">
                      <a:srgbClr val="33CCFF">
                        <a:alpha val="50000"/>
                      </a:srgbClr>
                    </a:gs>
                  </a:gsLst>
                  <a:lin ang="13500000" scaled="1"/>
                </a:gradFill>
                <a:ln w="12600">
                  <a:solidFill>
                    <a:srgbClr val="6699FF"/>
                  </a:solidFill>
                  <a:miter lim="800000"/>
                </a:ln>
              </p:spPr>
              <p:txBody>
                <a:bodyPr wrap="none" anchor="ctr"/>
                <a:lstStyle/>
                <a:p>
                  <a:pPr algn="ctr"/>
                  <a:endParaRPr lang="zh-CN" altLang="en-US"/>
                </a:p>
              </p:txBody>
            </p:sp>
            <p:sp>
              <p:nvSpPr>
                <p:cNvPr id="72798" name="Rectangle 247"/>
                <p:cNvSpPr>
                  <a:spLocks noChangeArrowheads="1"/>
                </p:cNvSpPr>
                <p:nvPr/>
              </p:nvSpPr>
              <p:spPr bwMode="auto">
                <a:xfrm>
                  <a:off x="6053" y="1696"/>
                  <a:ext cx="457" cy="88"/>
                </a:xfrm>
                <a:prstGeom prst="rect">
                  <a:avLst/>
                </a:prstGeom>
                <a:gradFill rotWithShape="0">
                  <a:gsLst>
                    <a:gs pos="0">
                      <a:srgbClr val="0000FF"/>
                    </a:gs>
                    <a:gs pos="100000">
                      <a:srgbClr val="33CCFF">
                        <a:alpha val="50000"/>
                      </a:srgbClr>
                    </a:gs>
                  </a:gsLst>
                  <a:lin ang="13500000" scaled="1"/>
                </a:gradFill>
                <a:ln w="12600">
                  <a:solidFill>
                    <a:srgbClr val="6699FF"/>
                  </a:solidFill>
                  <a:miter lim="800000"/>
                </a:ln>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3333FF"/>
                      </a:solidFill>
                      <a:latin typeface="Arial" panose="02080604020202020204" pitchFamily="34" charset="0"/>
                    </a:rPr>
                    <a:t>L2 CACHE</a:t>
                  </a:r>
                  <a:endParaRPr lang="en-US" altLang="zh-CN" sz="500">
                    <a:solidFill>
                      <a:srgbClr val="3333FF"/>
                    </a:solidFill>
                    <a:latin typeface="Arial" panose="02080604020202020204" pitchFamily="34" charset="0"/>
                  </a:endParaRPr>
                </a:p>
              </p:txBody>
            </p:sp>
            <p:sp>
              <p:nvSpPr>
                <p:cNvPr id="72799" name="Rectangle 248"/>
                <p:cNvSpPr>
                  <a:spLocks noChangeArrowheads="1"/>
                </p:cNvSpPr>
                <p:nvPr/>
              </p:nvSpPr>
              <p:spPr bwMode="auto">
                <a:xfrm>
                  <a:off x="6065" y="1794"/>
                  <a:ext cx="201" cy="70"/>
                </a:xfrm>
                <a:prstGeom prst="rect">
                  <a:avLst/>
                </a:prstGeom>
                <a:gradFill rotWithShape="0">
                  <a:gsLst>
                    <a:gs pos="0">
                      <a:srgbClr val="0000FF"/>
                    </a:gs>
                    <a:gs pos="100000">
                      <a:srgbClr val="33CCFF">
                        <a:alpha val="50000"/>
                      </a:srgbClr>
                    </a:gs>
                  </a:gsLst>
                  <a:lin ang="13500000" scaled="1"/>
                </a:gradFill>
                <a:ln w="12600">
                  <a:solidFill>
                    <a:srgbClr val="6699FF"/>
                  </a:solidFill>
                  <a:miter lim="800000"/>
                </a:ln>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3333FF"/>
                      </a:solidFill>
                      <a:latin typeface="Arial" panose="02080604020202020204" pitchFamily="34" charset="0"/>
                    </a:rPr>
                    <a:t>L1I</a:t>
                  </a:r>
                  <a:endParaRPr lang="en-US" altLang="zh-CN" sz="500">
                    <a:solidFill>
                      <a:srgbClr val="3333FF"/>
                    </a:solidFill>
                    <a:latin typeface="Arial" panose="02080604020202020204" pitchFamily="34" charset="0"/>
                  </a:endParaRPr>
                </a:p>
              </p:txBody>
            </p:sp>
            <p:sp>
              <p:nvSpPr>
                <p:cNvPr id="72800" name="Rectangle 249"/>
                <p:cNvSpPr>
                  <a:spLocks noChangeArrowheads="1"/>
                </p:cNvSpPr>
                <p:nvPr/>
              </p:nvSpPr>
              <p:spPr bwMode="auto">
                <a:xfrm>
                  <a:off x="6288" y="1794"/>
                  <a:ext cx="201" cy="70"/>
                </a:xfrm>
                <a:prstGeom prst="rect">
                  <a:avLst/>
                </a:prstGeom>
                <a:gradFill rotWithShape="0">
                  <a:gsLst>
                    <a:gs pos="0">
                      <a:srgbClr val="0000FF"/>
                    </a:gs>
                    <a:gs pos="100000">
                      <a:srgbClr val="33CCFF">
                        <a:alpha val="50000"/>
                      </a:srgbClr>
                    </a:gs>
                  </a:gsLst>
                  <a:lin ang="13500000" scaled="1"/>
                </a:gradFill>
                <a:ln w="12600">
                  <a:solidFill>
                    <a:srgbClr val="6699FF"/>
                  </a:solidFill>
                  <a:miter lim="800000"/>
                </a:ln>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3333FF"/>
                      </a:solidFill>
                      <a:latin typeface="Arial" panose="02080604020202020204" pitchFamily="34" charset="0"/>
                    </a:rPr>
                    <a:t>L1D</a:t>
                  </a:r>
                  <a:endParaRPr lang="en-US" altLang="zh-CN" sz="500">
                    <a:solidFill>
                      <a:srgbClr val="3333FF"/>
                    </a:solidFill>
                    <a:latin typeface="Arial" panose="02080604020202020204" pitchFamily="34" charset="0"/>
                  </a:endParaRPr>
                </a:p>
              </p:txBody>
            </p:sp>
            <p:sp>
              <p:nvSpPr>
                <p:cNvPr id="72801" name="Rectangle 250"/>
                <p:cNvSpPr>
                  <a:spLocks noChangeArrowheads="1"/>
                </p:cNvSpPr>
                <p:nvPr/>
              </p:nvSpPr>
              <p:spPr bwMode="auto">
                <a:xfrm>
                  <a:off x="6065" y="1874"/>
                  <a:ext cx="201" cy="54"/>
                </a:xfrm>
                <a:prstGeom prst="rect">
                  <a:avLst/>
                </a:prstGeom>
                <a:gradFill rotWithShape="0">
                  <a:gsLst>
                    <a:gs pos="0">
                      <a:srgbClr val="0000FF"/>
                    </a:gs>
                    <a:gs pos="100000">
                      <a:srgbClr val="33CCFF">
                        <a:alpha val="50000"/>
                      </a:srgbClr>
                    </a:gs>
                  </a:gsLst>
                  <a:lin ang="13500000" scaled="1"/>
                </a:gradFill>
                <a:ln w="12600">
                  <a:solidFill>
                    <a:srgbClr val="6699FF"/>
                  </a:solidFill>
                  <a:miter lim="800000"/>
                </a:ln>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3333FF"/>
                      </a:solidFill>
                      <a:latin typeface="Arial" panose="02080604020202020204" pitchFamily="34" charset="0"/>
                    </a:rPr>
                    <a:t>ITLB</a:t>
                  </a:r>
                  <a:endParaRPr lang="en-US" altLang="zh-CN" sz="500">
                    <a:solidFill>
                      <a:srgbClr val="3333FF"/>
                    </a:solidFill>
                    <a:latin typeface="Arial" panose="02080604020202020204" pitchFamily="34" charset="0"/>
                  </a:endParaRPr>
                </a:p>
              </p:txBody>
            </p:sp>
            <p:sp>
              <p:nvSpPr>
                <p:cNvPr id="72802" name="Rectangle 251"/>
                <p:cNvSpPr>
                  <a:spLocks noChangeArrowheads="1"/>
                </p:cNvSpPr>
                <p:nvPr/>
              </p:nvSpPr>
              <p:spPr bwMode="auto">
                <a:xfrm>
                  <a:off x="6288" y="1874"/>
                  <a:ext cx="201" cy="54"/>
                </a:xfrm>
                <a:prstGeom prst="rect">
                  <a:avLst/>
                </a:prstGeom>
                <a:gradFill rotWithShape="0">
                  <a:gsLst>
                    <a:gs pos="0">
                      <a:srgbClr val="0000FF"/>
                    </a:gs>
                    <a:gs pos="100000">
                      <a:srgbClr val="33CCFF">
                        <a:alpha val="50000"/>
                      </a:srgbClr>
                    </a:gs>
                  </a:gsLst>
                  <a:lin ang="13500000" scaled="1"/>
                </a:gradFill>
                <a:ln w="12600">
                  <a:solidFill>
                    <a:srgbClr val="6699FF"/>
                  </a:solidFill>
                  <a:miter lim="800000"/>
                </a:ln>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3333FF"/>
                      </a:solidFill>
                      <a:latin typeface="Arial" panose="02080604020202020204" pitchFamily="34" charset="0"/>
                    </a:rPr>
                    <a:t>DTLB</a:t>
                  </a:r>
                  <a:endParaRPr lang="en-US" altLang="zh-CN" sz="500">
                    <a:solidFill>
                      <a:srgbClr val="3333FF"/>
                    </a:solidFill>
                    <a:latin typeface="Arial" panose="02080604020202020204" pitchFamily="34" charset="0"/>
                  </a:endParaRPr>
                </a:p>
              </p:txBody>
            </p:sp>
            <p:sp>
              <p:nvSpPr>
                <p:cNvPr id="72803" name="Rectangle 252"/>
                <p:cNvSpPr>
                  <a:spLocks noChangeArrowheads="1"/>
                </p:cNvSpPr>
                <p:nvPr/>
              </p:nvSpPr>
              <p:spPr bwMode="auto">
                <a:xfrm>
                  <a:off x="6118" y="1940"/>
                  <a:ext cx="327" cy="65"/>
                </a:xfrm>
                <a:prstGeom prst="rect">
                  <a:avLst/>
                </a:prstGeom>
                <a:gradFill rotWithShape="0">
                  <a:gsLst>
                    <a:gs pos="0">
                      <a:srgbClr val="0000FF"/>
                    </a:gs>
                    <a:gs pos="100000">
                      <a:srgbClr val="33CCFF">
                        <a:alpha val="50000"/>
                      </a:srgbClr>
                    </a:gs>
                  </a:gsLst>
                  <a:lin ang="13500000" scaled="1"/>
                </a:gradFill>
                <a:ln w="12600">
                  <a:solidFill>
                    <a:srgbClr val="6699FF"/>
                  </a:solidFill>
                  <a:miter lim="800000"/>
                </a:ln>
              </p:spPr>
              <p:txBody>
                <a:bodyPr wrap="none" lIns="90000" tIns="46800" rIns="90000" bIns="46800" anchor="ct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3333FF"/>
                      </a:solidFill>
                      <a:latin typeface="Arial" panose="02080604020202020204" pitchFamily="34" charset="0"/>
                    </a:rPr>
                    <a:t>2D DMA</a:t>
                  </a:r>
                  <a:endParaRPr lang="en-US" altLang="zh-CN" sz="500">
                    <a:solidFill>
                      <a:srgbClr val="3333FF"/>
                    </a:solidFill>
                    <a:latin typeface="Arial" panose="02080604020202020204" pitchFamily="34" charset="0"/>
                  </a:endParaRPr>
                </a:p>
              </p:txBody>
            </p:sp>
          </p:grpSp>
          <p:sp>
            <p:nvSpPr>
              <p:cNvPr id="72776" name="AutoShape 253"/>
              <p:cNvSpPr>
                <a:spLocks noChangeArrowheads="1"/>
              </p:cNvSpPr>
              <p:nvPr/>
            </p:nvSpPr>
            <p:spPr bwMode="auto">
              <a:xfrm>
                <a:off x="5749" y="1767"/>
                <a:ext cx="299" cy="84"/>
              </a:xfrm>
              <a:prstGeom prst="leftRightArrow">
                <a:avLst>
                  <a:gd name="adj1" fmla="val 50000"/>
                  <a:gd name="adj2" fmla="val 70828"/>
                </a:avLst>
              </a:prstGeom>
              <a:solidFill>
                <a:srgbClr val="B2B2B2">
                  <a:alpha val="50195"/>
                </a:srgbClr>
              </a:solidFill>
              <a:ln w="9360">
                <a:solidFill>
                  <a:srgbClr val="000000"/>
                </a:solidFill>
                <a:miter lim="800000"/>
              </a:ln>
            </p:spPr>
            <p:txBody>
              <a:bodyPr wrap="none" anchor="ctr"/>
              <a:lstStyle/>
              <a:p>
                <a:pPr algn="ctr"/>
                <a:endParaRPr lang="zh-CN" altLang="en-US"/>
              </a:p>
            </p:txBody>
          </p:sp>
          <p:sp>
            <p:nvSpPr>
              <p:cNvPr id="72777" name="AutoShape 254"/>
              <p:cNvSpPr>
                <a:spLocks noChangeArrowheads="1"/>
              </p:cNvSpPr>
              <p:nvPr/>
            </p:nvSpPr>
            <p:spPr bwMode="auto">
              <a:xfrm rot="2700000">
                <a:off x="5390" y="2076"/>
                <a:ext cx="254" cy="98"/>
              </a:xfrm>
              <a:prstGeom prst="leftRightArrow">
                <a:avLst>
                  <a:gd name="adj1" fmla="val 50000"/>
                  <a:gd name="adj2" fmla="val 51573"/>
                </a:avLst>
              </a:prstGeom>
              <a:solidFill>
                <a:srgbClr val="B2B2B2"/>
              </a:solidFill>
              <a:ln w="9360">
                <a:solidFill>
                  <a:srgbClr val="000000"/>
                </a:solidFill>
                <a:miter lim="800000"/>
              </a:ln>
            </p:spPr>
            <p:txBody>
              <a:bodyPr wrap="none" anchor="ctr"/>
              <a:lstStyle/>
              <a:p>
                <a:pPr algn="ctr"/>
                <a:endParaRPr lang="zh-CN" altLang="en-US"/>
              </a:p>
            </p:txBody>
          </p:sp>
          <p:sp>
            <p:nvSpPr>
              <p:cNvPr id="72778" name="AutoShape 255"/>
              <p:cNvSpPr>
                <a:spLocks noChangeArrowheads="1"/>
              </p:cNvSpPr>
              <p:nvPr/>
            </p:nvSpPr>
            <p:spPr bwMode="auto">
              <a:xfrm rot="18900000" flipH="1">
                <a:off x="6114" y="2071"/>
                <a:ext cx="254" cy="99"/>
              </a:xfrm>
              <a:prstGeom prst="leftRightArrow">
                <a:avLst>
                  <a:gd name="adj1" fmla="val 50000"/>
                  <a:gd name="adj2" fmla="val 51052"/>
                </a:avLst>
              </a:prstGeom>
              <a:solidFill>
                <a:srgbClr val="B2B2B2"/>
              </a:solidFill>
              <a:ln w="9360">
                <a:solidFill>
                  <a:srgbClr val="000000"/>
                </a:solidFill>
                <a:miter lim="800000"/>
              </a:ln>
            </p:spPr>
            <p:txBody>
              <a:bodyPr wrap="none" anchor="ctr"/>
              <a:lstStyle/>
              <a:p>
                <a:pPr algn="ctr"/>
                <a:endParaRPr lang="zh-CN" altLang="en-US"/>
              </a:p>
            </p:txBody>
          </p:sp>
          <p:sp>
            <p:nvSpPr>
              <p:cNvPr id="72779" name="Line 256"/>
              <p:cNvSpPr>
                <a:spLocks noChangeShapeType="1"/>
              </p:cNvSpPr>
              <p:nvPr/>
            </p:nvSpPr>
            <p:spPr bwMode="auto">
              <a:xfrm flipH="1">
                <a:off x="5125" y="2289"/>
                <a:ext cx="1525" cy="1"/>
              </a:xfrm>
              <a:prstGeom prst="line">
                <a:avLst/>
              </a:prstGeom>
              <a:noFill/>
              <a:ln w="28440">
                <a:solidFill>
                  <a:srgbClr val="FFFF00"/>
                </a:solidFill>
                <a:miter lim="800000"/>
                <a:headEnd type="triangle" w="med" len="med"/>
                <a:tailEnd type="triangle" w="med" len="med"/>
              </a:ln>
            </p:spPr>
            <p:txBody>
              <a:bodyPr/>
              <a:lstStyle/>
              <a:p>
                <a:endParaRPr lang="zh-CN" altLang="en-US"/>
              </a:p>
            </p:txBody>
          </p:sp>
          <p:sp>
            <p:nvSpPr>
              <p:cNvPr id="72780" name="Line 257"/>
              <p:cNvSpPr>
                <a:spLocks noChangeShapeType="1"/>
              </p:cNvSpPr>
              <p:nvPr/>
            </p:nvSpPr>
            <p:spPr bwMode="auto">
              <a:xfrm flipH="1">
                <a:off x="5125" y="2328"/>
                <a:ext cx="1525" cy="1"/>
              </a:xfrm>
              <a:prstGeom prst="line">
                <a:avLst/>
              </a:prstGeom>
              <a:noFill/>
              <a:ln w="28440">
                <a:solidFill>
                  <a:srgbClr val="CCCCFF"/>
                </a:solidFill>
                <a:miter lim="800000"/>
                <a:headEnd type="triangle" w="med" len="med"/>
                <a:tailEnd type="triangle" w="med" len="med"/>
              </a:ln>
            </p:spPr>
            <p:txBody>
              <a:bodyPr/>
              <a:lstStyle/>
              <a:p>
                <a:endParaRPr lang="zh-CN" altLang="en-US"/>
              </a:p>
            </p:txBody>
          </p:sp>
          <p:sp>
            <p:nvSpPr>
              <p:cNvPr id="72781" name="Line 258"/>
              <p:cNvSpPr>
                <a:spLocks noChangeShapeType="1"/>
              </p:cNvSpPr>
              <p:nvPr/>
            </p:nvSpPr>
            <p:spPr bwMode="auto">
              <a:xfrm flipH="1">
                <a:off x="5125" y="2367"/>
                <a:ext cx="1525" cy="1"/>
              </a:xfrm>
              <a:prstGeom prst="line">
                <a:avLst/>
              </a:prstGeom>
              <a:noFill/>
              <a:ln w="28440">
                <a:solidFill>
                  <a:srgbClr val="0000FF"/>
                </a:solidFill>
                <a:miter lim="800000"/>
                <a:headEnd type="triangle" w="med" len="med"/>
                <a:tailEnd type="triangle" w="med" len="med"/>
              </a:ln>
            </p:spPr>
            <p:txBody>
              <a:bodyPr/>
              <a:lstStyle/>
              <a:p>
                <a:endParaRPr lang="zh-CN" altLang="en-US"/>
              </a:p>
            </p:txBody>
          </p:sp>
          <p:sp>
            <p:nvSpPr>
              <p:cNvPr id="72782" name="Line 259"/>
              <p:cNvSpPr>
                <a:spLocks noChangeShapeType="1"/>
              </p:cNvSpPr>
              <p:nvPr/>
            </p:nvSpPr>
            <p:spPr bwMode="auto">
              <a:xfrm flipH="1">
                <a:off x="5125" y="2407"/>
                <a:ext cx="1525" cy="1"/>
              </a:xfrm>
              <a:prstGeom prst="line">
                <a:avLst/>
              </a:prstGeom>
              <a:noFill/>
              <a:ln w="28440">
                <a:solidFill>
                  <a:srgbClr val="000000"/>
                </a:solidFill>
                <a:miter lim="800000"/>
                <a:headEnd type="triangle" w="med" len="med"/>
                <a:tailEnd type="triangle" w="med" len="med"/>
              </a:ln>
            </p:spPr>
            <p:txBody>
              <a:bodyPr/>
              <a:lstStyle/>
              <a:p>
                <a:endParaRPr lang="zh-CN" altLang="en-US"/>
              </a:p>
            </p:txBody>
          </p:sp>
          <p:sp>
            <p:nvSpPr>
              <p:cNvPr id="72783" name="Line 260"/>
              <p:cNvSpPr>
                <a:spLocks noChangeShapeType="1"/>
              </p:cNvSpPr>
              <p:nvPr/>
            </p:nvSpPr>
            <p:spPr bwMode="auto">
              <a:xfrm flipH="1">
                <a:off x="5125" y="2446"/>
                <a:ext cx="1525" cy="1"/>
              </a:xfrm>
              <a:prstGeom prst="line">
                <a:avLst/>
              </a:prstGeom>
              <a:noFill/>
              <a:ln w="28440">
                <a:solidFill>
                  <a:srgbClr val="00FF00"/>
                </a:solidFill>
                <a:miter lim="800000"/>
                <a:headEnd type="triangle" w="med" len="med"/>
                <a:tailEnd type="triangle" w="med" len="med"/>
              </a:ln>
            </p:spPr>
            <p:txBody>
              <a:bodyPr/>
              <a:lstStyle/>
              <a:p>
                <a:endParaRPr lang="zh-CN" altLang="en-US"/>
              </a:p>
            </p:txBody>
          </p:sp>
          <p:sp>
            <p:nvSpPr>
              <p:cNvPr id="72784" name="Oval 261"/>
              <p:cNvSpPr>
                <a:spLocks noChangeArrowheads="1"/>
              </p:cNvSpPr>
              <p:nvPr/>
            </p:nvSpPr>
            <p:spPr bwMode="auto">
              <a:xfrm>
                <a:off x="5782" y="2273"/>
                <a:ext cx="44" cy="34"/>
              </a:xfrm>
              <a:prstGeom prst="ellipse">
                <a:avLst/>
              </a:prstGeom>
              <a:solidFill>
                <a:srgbClr val="FFFF00"/>
              </a:solidFill>
              <a:ln w="9525">
                <a:noFill/>
                <a:round/>
              </a:ln>
            </p:spPr>
            <p:txBody>
              <a:bodyPr wrap="none" anchor="ctr"/>
              <a:lstStyle/>
              <a:p>
                <a:pPr algn="ctr"/>
                <a:endParaRPr lang="zh-CN" altLang="en-US"/>
              </a:p>
            </p:txBody>
          </p:sp>
          <p:sp>
            <p:nvSpPr>
              <p:cNvPr id="72785" name="Oval 262"/>
              <p:cNvSpPr>
                <a:spLocks noChangeArrowheads="1"/>
              </p:cNvSpPr>
              <p:nvPr/>
            </p:nvSpPr>
            <p:spPr bwMode="auto">
              <a:xfrm>
                <a:off x="5830" y="2307"/>
                <a:ext cx="44" cy="33"/>
              </a:xfrm>
              <a:prstGeom prst="ellipse">
                <a:avLst/>
              </a:prstGeom>
              <a:solidFill>
                <a:srgbClr val="FF6600"/>
              </a:solidFill>
              <a:ln w="9525">
                <a:noFill/>
                <a:round/>
              </a:ln>
            </p:spPr>
            <p:txBody>
              <a:bodyPr wrap="none" anchor="ctr"/>
              <a:lstStyle/>
              <a:p>
                <a:pPr algn="ctr"/>
                <a:endParaRPr lang="zh-CN" altLang="en-US"/>
              </a:p>
            </p:txBody>
          </p:sp>
          <p:sp>
            <p:nvSpPr>
              <p:cNvPr id="72786" name="Oval 263"/>
              <p:cNvSpPr>
                <a:spLocks noChangeArrowheads="1"/>
              </p:cNvSpPr>
              <p:nvPr/>
            </p:nvSpPr>
            <p:spPr bwMode="auto">
              <a:xfrm>
                <a:off x="5879" y="2347"/>
                <a:ext cx="43" cy="34"/>
              </a:xfrm>
              <a:prstGeom prst="ellipse">
                <a:avLst/>
              </a:prstGeom>
              <a:solidFill>
                <a:srgbClr val="3333CC"/>
              </a:solidFill>
              <a:ln w="9525">
                <a:noFill/>
                <a:round/>
              </a:ln>
            </p:spPr>
            <p:txBody>
              <a:bodyPr wrap="none" anchor="ctr"/>
              <a:lstStyle/>
              <a:p>
                <a:pPr algn="ctr"/>
                <a:endParaRPr lang="zh-CN" altLang="en-US"/>
              </a:p>
            </p:txBody>
          </p:sp>
          <p:sp>
            <p:nvSpPr>
              <p:cNvPr id="72787" name="Oval 264"/>
              <p:cNvSpPr>
                <a:spLocks noChangeArrowheads="1"/>
              </p:cNvSpPr>
              <p:nvPr/>
            </p:nvSpPr>
            <p:spPr bwMode="auto">
              <a:xfrm>
                <a:off x="5931" y="2388"/>
                <a:ext cx="44" cy="33"/>
              </a:xfrm>
              <a:prstGeom prst="ellipse">
                <a:avLst/>
              </a:prstGeom>
              <a:solidFill>
                <a:srgbClr val="000000"/>
              </a:solidFill>
              <a:ln w="9525">
                <a:noFill/>
                <a:round/>
              </a:ln>
            </p:spPr>
            <p:txBody>
              <a:bodyPr wrap="none" anchor="ctr"/>
              <a:lstStyle/>
              <a:p>
                <a:pPr algn="ctr"/>
                <a:endParaRPr lang="zh-CN" altLang="en-US"/>
              </a:p>
            </p:txBody>
          </p:sp>
          <p:sp>
            <p:nvSpPr>
              <p:cNvPr id="72788" name="Oval 265"/>
              <p:cNvSpPr>
                <a:spLocks noChangeArrowheads="1"/>
              </p:cNvSpPr>
              <p:nvPr/>
            </p:nvSpPr>
            <p:spPr bwMode="auto">
              <a:xfrm>
                <a:off x="5977" y="2431"/>
                <a:ext cx="42" cy="33"/>
              </a:xfrm>
              <a:prstGeom prst="ellipse">
                <a:avLst/>
              </a:prstGeom>
              <a:solidFill>
                <a:srgbClr val="00FF00"/>
              </a:solidFill>
              <a:ln w="9525">
                <a:noFill/>
                <a:round/>
              </a:ln>
            </p:spPr>
            <p:txBody>
              <a:bodyPr wrap="none" anchor="ctr"/>
              <a:lstStyle/>
              <a:p>
                <a:pPr algn="ctr"/>
                <a:endParaRPr lang="zh-CN" altLang="en-US"/>
              </a:p>
            </p:txBody>
          </p:sp>
          <p:grpSp>
            <p:nvGrpSpPr>
              <p:cNvPr id="72789" name="Group 266"/>
              <p:cNvGrpSpPr/>
              <p:nvPr/>
            </p:nvGrpSpPr>
            <p:grpSpPr bwMode="auto">
              <a:xfrm>
                <a:off x="5641" y="2171"/>
                <a:ext cx="488" cy="350"/>
                <a:chOff x="5641" y="2171"/>
                <a:chExt cx="488" cy="350"/>
              </a:xfrm>
            </p:grpSpPr>
            <p:sp>
              <p:nvSpPr>
                <p:cNvPr id="72791" name="Rectangle 267"/>
                <p:cNvSpPr>
                  <a:spLocks noChangeArrowheads="1"/>
                </p:cNvSpPr>
                <p:nvPr/>
              </p:nvSpPr>
              <p:spPr bwMode="auto">
                <a:xfrm>
                  <a:off x="5641" y="2171"/>
                  <a:ext cx="489" cy="351"/>
                </a:xfrm>
                <a:prstGeom prst="rect">
                  <a:avLst/>
                </a:prstGeom>
                <a:gradFill rotWithShape="0">
                  <a:gsLst>
                    <a:gs pos="0">
                      <a:srgbClr val="FF9900"/>
                    </a:gs>
                    <a:gs pos="100000">
                      <a:srgbClr val="FF9966"/>
                    </a:gs>
                  </a:gsLst>
                  <a:lin ang="13500000" scaled="1"/>
                </a:gradFill>
                <a:ln w="12600">
                  <a:solidFill>
                    <a:srgbClr val="FF6600"/>
                  </a:solidFill>
                  <a:miter lim="800000"/>
                </a:ln>
              </p:spPr>
              <p:txBody>
                <a:bodyPr wrap="none" anchor="ctr"/>
                <a:lstStyle/>
                <a:p>
                  <a:pPr algn="ctr"/>
                  <a:endParaRPr lang="zh-CN" altLang="en-US"/>
                </a:p>
              </p:txBody>
            </p:sp>
            <p:sp>
              <p:nvSpPr>
                <p:cNvPr id="72792" name="Rectangle 268"/>
                <p:cNvSpPr>
                  <a:spLocks noChangeArrowheads="1"/>
                </p:cNvSpPr>
                <p:nvPr/>
              </p:nvSpPr>
              <p:spPr bwMode="auto">
                <a:xfrm rot="5400000">
                  <a:off x="5858" y="2325"/>
                  <a:ext cx="66" cy="281"/>
                </a:xfrm>
                <a:prstGeom prst="rect">
                  <a:avLst/>
                </a:prstGeom>
                <a:gradFill rotWithShape="0">
                  <a:gsLst>
                    <a:gs pos="0">
                      <a:srgbClr val="FF9900"/>
                    </a:gs>
                    <a:gs pos="100000">
                      <a:srgbClr val="FF9966"/>
                    </a:gs>
                  </a:gsLst>
                  <a:lin ang="13500000" scaled="1"/>
                </a:gradFill>
                <a:ln w="12600">
                  <a:solidFill>
                    <a:srgbClr val="FF6600"/>
                  </a:solidFill>
                  <a:miter lim="800000"/>
                </a:ln>
              </p:spPr>
              <p:txBody>
                <a:bodyPr rot="10800000" vert="eaVert" wrap="none" lIns="90000" tIns="46800" rIns="90000" bIns="46800" anchor="ctr"/>
                <a:lstStyle/>
                <a:p>
                  <a:pPr algn="ctr" rtl="1">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CC0000"/>
                      </a:solidFill>
                      <a:latin typeface="Arial" panose="02080604020202020204" pitchFamily="34" charset="0"/>
                    </a:rPr>
                    <a:t>STN</a:t>
                  </a:r>
                  <a:endParaRPr lang="en-US" altLang="zh-CN" sz="500">
                    <a:solidFill>
                      <a:srgbClr val="CC0000"/>
                    </a:solidFill>
                    <a:latin typeface="Arial" panose="02080604020202020204" pitchFamily="34" charset="0"/>
                  </a:endParaRPr>
                </a:p>
              </p:txBody>
            </p:sp>
            <p:sp>
              <p:nvSpPr>
                <p:cNvPr id="72793" name="Rectangle 269"/>
                <p:cNvSpPr>
                  <a:spLocks noChangeArrowheads="1"/>
                </p:cNvSpPr>
                <p:nvPr/>
              </p:nvSpPr>
              <p:spPr bwMode="auto">
                <a:xfrm rot="5400000">
                  <a:off x="5729" y="2151"/>
                  <a:ext cx="88" cy="187"/>
                </a:xfrm>
                <a:prstGeom prst="rect">
                  <a:avLst/>
                </a:prstGeom>
                <a:gradFill rotWithShape="0">
                  <a:gsLst>
                    <a:gs pos="0">
                      <a:srgbClr val="FF9900"/>
                    </a:gs>
                    <a:gs pos="100000">
                      <a:srgbClr val="FF9966"/>
                    </a:gs>
                  </a:gsLst>
                  <a:lin ang="13500000" scaled="1"/>
                </a:gradFill>
                <a:ln w="12600">
                  <a:solidFill>
                    <a:srgbClr val="FF6600"/>
                  </a:solidFill>
                  <a:miter lim="800000"/>
                </a:ln>
              </p:spPr>
              <p:txBody>
                <a:bodyPr rot="10800000" vert="eaVert" wrap="none" lIns="90000" tIns="46800" rIns="90000" bIns="46800" anchor="ctr"/>
                <a:lstStyle/>
                <a:p>
                  <a:pPr algn="ctr" rtl="1">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CC0000"/>
                      </a:solidFill>
                      <a:latin typeface="Arial" panose="02080604020202020204" pitchFamily="34" charset="0"/>
                    </a:rPr>
                    <a:t>MDN</a:t>
                  </a:r>
                  <a:endParaRPr lang="en-US" altLang="zh-CN" sz="500">
                    <a:solidFill>
                      <a:srgbClr val="CC0000"/>
                    </a:solidFill>
                    <a:latin typeface="Arial" panose="02080604020202020204" pitchFamily="34" charset="0"/>
                  </a:endParaRPr>
                </a:p>
              </p:txBody>
            </p:sp>
            <p:sp>
              <p:nvSpPr>
                <p:cNvPr id="72794" name="Rectangle 270"/>
                <p:cNvSpPr>
                  <a:spLocks noChangeArrowheads="1"/>
                </p:cNvSpPr>
                <p:nvPr/>
              </p:nvSpPr>
              <p:spPr bwMode="auto">
                <a:xfrm rot="5400000">
                  <a:off x="5954" y="2151"/>
                  <a:ext cx="88" cy="187"/>
                </a:xfrm>
                <a:prstGeom prst="rect">
                  <a:avLst/>
                </a:prstGeom>
                <a:gradFill rotWithShape="0">
                  <a:gsLst>
                    <a:gs pos="0">
                      <a:srgbClr val="FF9900"/>
                    </a:gs>
                    <a:gs pos="100000">
                      <a:srgbClr val="FF9966"/>
                    </a:gs>
                  </a:gsLst>
                  <a:lin ang="13500000" scaled="1"/>
                </a:gradFill>
                <a:ln w="12600">
                  <a:solidFill>
                    <a:srgbClr val="FF6600"/>
                  </a:solidFill>
                  <a:miter lim="800000"/>
                </a:ln>
              </p:spPr>
              <p:txBody>
                <a:bodyPr rot="10800000" vert="eaVert" wrap="none" lIns="90000" tIns="46800" rIns="90000" bIns="46800" anchor="ctr"/>
                <a:lstStyle/>
                <a:p>
                  <a:pPr algn="ctr" rtl="1">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CC0000"/>
                      </a:solidFill>
                      <a:latin typeface="Arial" panose="02080604020202020204" pitchFamily="34" charset="0"/>
                    </a:rPr>
                    <a:t>TDN</a:t>
                  </a:r>
                  <a:endParaRPr lang="en-US" altLang="zh-CN" sz="500">
                    <a:solidFill>
                      <a:srgbClr val="CC0000"/>
                    </a:solidFill>
                    <a:latin typeface="Arial" panose="02080604020202020204" pitchFamily="34" charset="0"/>
                  </a:endParaRPr>
                </a:p>
              </p:txBody>
            </p:sp>
            <p:sp>
              <p:nvSpPr>
                <p:cNvPr id="72795" name="Rectangle 271"/>
                <p:cNvSpPr>
                  <a:spLocks noChangeArrowheads="1"/>
                </p:cNvSpPr>
                <p:nvPr/>
              </p:nvSpPr>
              <p:spPr bwMode="auto">
                <a:xfrm rot="5400000">
                  <a:off x="5726" y="2272"/>
                  <a:ext cx="88" cy="186"/>
                </a:xfrm>
                <a:prstGeom prst="rect">
                  <a:avLst/>
                </a:prstGeom>
                <a:gradFill rotWithShape="0">
                  <a:gsLst>
                    <a:gs pos="0">
                      <a:srgbClr val="FF9900"/>
                    </a:gs>
                    <a:gs pos="100000">
                      <a:srgbClr val="FF9966"/>
                    </a:gs>
                  </a:gsLst>
                  <a:lin ang="13500000" scaled="1"/>
                </a:gradFill>
                <a:ln w="12600">
                  <a:solidFill>
                    <a:srgbClr val="FF6600"/>
                  </a:solidFill>
                  <a:miter lim="800000"/>
                </a:ln>
              </p:spPr>
              <p:txBody>
                <a:bodyPr rot="10800000" vert="eaVert" wrap="none" lIns="90000" tIns="46800" rIns="90000" bIns="46800" anchor="ctr"/>
                <a:lstStyle/>
                <a:p>
                  <a:pPr algn="ctr" rtl="1">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CC0000"/>
                      </a:solidFill>
                      <a:latin typeface="Arial" panose="02080604020202020204" pitchFamily="34" charset="0"/>
                    </a:rPr>
                    <a:t>UDN</a:t>
                  </a:r>
                  <a:endParaRPr lang="en-US" altLang="zh-CN" sz="500">
                    <a:solidFill>
                      <a:srgbClr val="CC0000"/>
                    </a:solidFill>
                    <a:latin typeface="Arial" panose="02080604020202020204" pitchFamily="34" charset="0"/>
                  </a:endParaRPr>
                </a:p>
              </p:txBody>
            </p:sp>
            <p:sp>
              <p:nvSpPr>
                <p:cNvPr id="72796" name="Rectangle 272"/>
                <p:cNvSpPr>
                  <a:spLocks noChangeArrowheads="1"/>
                </p:cNvSpPr>
                <p:nvPr/>
              </p:nvSpPr>
              <p:spPr bwMode="auto">
                <a:xfrm rot="5400000">
                  <a:off x="5952" y="2269"/>
                  <a:ext cx="88" cy="187"/>
                </a:xfrm>
                <a:prstGeom prst="rect">
                  <a:avLst/>
                </a:prstGeom>
                <a:gradFill rotWithShape="0">
                  <a:gsLst>
                    <a:gs pos="0">
                      <a:srgbClr val="FF9900"/>
                    </a:gs>
                    <a:gs pos="100000">
                      <a:srgbClr val="FF9966"/>
                    </a:gs>
                  </a:gsLst>
                  <a:lin ang="13500000" scaled="1"/>
                </a:gradFill>
                <a:ln w="12600">
                  <a:solidFill>
                    <a:srgbClr val="FF6600"/>
                  </a:solidFill>
                  <a:miter lim="800000"/>
                </a:ln>
              </p:spPr>
              <p:txBody>
                <a:bodyPr rot="10800000" vert="eaVert" wrap="none" lIns="90000" tIns="46800" rIns="90000" bIns="46800" anchor="ctr"/>
                <a:lstStyle/>
                <a:p>
                  <a:pPr algn="ctr" rtl="1">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500">
                      <a:solidFill>
                        <a:srgbClr val="CC0000"/>
                      </a:solidFill>
                      <a:latin typeface="Arial" panose="02080604020202020204" pitchFamily="34" charset="0"/>
                    </a:rPr>
                    <a:t>IDN</a:t>
                  </a:r>
                  <a:endParaRPr lang="en-US" altLang="zh-CN" sz="500">
                    <a:solidFill>
                      <a:srgbClr val="CC0000"/>
                    </a:solidFill>
                    <a:latin typeface="Arial" panose="02080604020202020204" pitchFamily="34" charset="0"/>
                  </a:endParaRPr>
                </a:p>
              </p:txBody>
            </p:sp>
          </p:grpSp>
          <p:sp>
            <p:nvSpPr>
              <p:cNvPr id="72790" name="Text Box 273"/>
              <p:cNvSpPr txBox="1">
                <a:spLocks noChangeArrowheads="1"/>
              </p:cNvSpPr>
              <p:nvPr/>
            </p:nvSpPr>
            <p:spPr bwMode="auto">
              <a:xfrm>
                <a:off x="5197" y="2413"/>
                <a:ext cx="480" cy="152"/>
              </a:xfrm>
              <a:prstGeom prst="rect">
                <a:avLst/>
              </a:prstGeom>
              <a:noFill/>
              <a:ln w="9525">
                <a:noFill/>
                <a:miter lim="800000"/>
              </a:ln>
            </p:spPr>
            <p:txBody>
              <a:bodyPr lIns="90000" tIns="46800" rIns="90000" bIns="46800">
                <a:spAutoFit/>
              </a:bodyPr>
              <a:lstStyle/>
              <a:p>
                <a:pPr algn="ctr">
                  <a:tabLst>
                    <a:tab pos="0" algn="l"/>
                    <a:tab pos="263525" algn="l"/>
                    <a:tab pos="528320" algn="l"/>
                    <a:tab pos="793750" algn="l"/>
                    <a:tab pos="1058545" algn="l"/>
                    <a:tab pos="1323975" algn="l"/>
                    <a:tab pos="1588770" algn="l"/>
                    <a:tab pos="1854200" algn="l"/>
                    <a:tab pos="2118995" algn="l"/>
                    <a:tab pos="2384425" algn="l"/>
                    <a:tab pos="2649220" algn="l"/>
                    <a:tab pos="2914650" algn="l"/>
                    <a:tab pos="3179445" algn="l"/>
                    <a:tab pos="3444875" algn="l"/>
                    <a:tab pos="3709670" algn="l"/>
                    <a:tab pos="3975100" algn="l"/>
                    <a:tab pos="4239895" algn="l"/>
                    <a:tab pos="4505325" algn="l"/>
                    <a:tab pos="4770120" algn="l"/>
                    <a:tab pos="5035550" algn="l"/>
                    <a:tab pos="5300345" algn="l"/>
                  </a:tabLst>
                </a:pPr>
                <a:r>
                  <a:rPr lang="en-US" altLang="zh-CN" sz="900">
                    <a:solidFill>
                      <a:srgbClr val="FF0000"/>
                    </a:solidFill>
                    <a:latin typeface="Arial" panose="02080604020202020204" pitchFamily="34" charset="0"/>
                  </a:rPr>
                  <a:t>SWITCH</a:t>
                </a:r>
                <a:endParaRPr lang="en-US" altLang="zh-CN" sz="900">
                  <a:solidFill>
                    <a:srgbClr val="FF0000"/>
                  </a:solidFill>
                  <a:latin typeface="Arial" panose="02080604020202020204" pitchFamily="34" charset="0"/>
                </a:endParaRPr>
              </a:p>
            </p:txBody>
          </p:sp>
        </p:grpSp>
      </p:grpSp>
    </p:spTree>
  </p:cSld>
  <p:clrMapOvr>
    <a:masterClrMapping/>
  </p:clrMapOvr>
  <p:transition spd="med"/>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noChangeArrowheads="1"/>
          </p:cNvSpPr>
          <p:nvPr>
            <p:ph type="title"/>
          </p:nvPr>
        </p:nvSpPr>
        <p:spPr>
          <a:xfrm>
            <a:off x="914718" y="87313"/>
            <a:ext cx="10361613" cy="1143000"/>
          </a:xfrm>
        </p:spPr>
        <p:txBody>
          <a:bodyPr/>
          <a:lstStyle/>
          <a:p>
            <a:r>
              <a:rPr lang="en-US" altLang="zh-CN" smtClean="0"/>
              <a:t>IBM CELL</a:t>
            </a:r>
            <a:endParaRPr lang="zh-CN" altLang="en-US" smtClean="0"/>
          </a:p>
        </p:txBody>
      </p:sp>
      <p:sp>
        <p:nvSpPr>
          <p:cNvPr id="22531" name="内容占位符 2"/>
          <p:cNvSpPr>
            <a:spLocks noGrp="1"/>
          </p:cNvSpPr>
          <p:nvPr>
            <p:ph idx="1"/>
          </p:nvPr>
        </p:nvSpPr>
        <p:spPr>
          <a:xfrm>
            <a:off x="-29845" y="1068388"/>
            <a:ext cx="12220576" cy="3386137"/>
          </a:xfrm>
        </p:spPr>
        <p:txBody>
          <a:bodyPr/>
          <a:lstStyle/>
          <a:p>
            <a:pPr marL="342900" lvl="1" indent="-342900">
              <a:defRPr/>
            </a:pPr>
            <a:r>
              <a:rPr kumimoji="1" lang="zh-CN" altLang="zh-CN" sz="2000" dirty="0">
                <a:latin typeface="宋体" panose="02000500000000000000" pitchFamily="2" charset="-122"/>
                <a:ea typeface="宋体" panose="02000500000000000000" pitchFamily="2" charset="-122"/>
                <a:cs typeface="宋体" panose="02000500000000000000" pitchFamily="2" charset="-122"/>
              </a:rPr>
              <a:t>由</a:t>
            </a:r>
            <a:r>
              <a:rPr kumimoji="1" lang="en-US" altLang="zh-CN" sz="2000" dirty="0">
                <a:latin typeface="宋体" panose="02000500000000000000" pitchFamily="2" charset="-122"/>
                <a:ea typeface="宋体" panose="02000500000000000000" pitchFamily="2" charset="-122"/>
                <a:cs typeface="宋体" panose="02000500000000000000" pitchFamily="2" charset="-122"/>
              </a:rPr>
              <a:t>IBM</a:t>
            </a:r>
            <a:r>
              <a:rPr kumimoji="1" lang="zh-CN" altLang="zh-CN" sz="2000" dirty="0">
                <a:latin typeface="宋体" panose="02000500000000000000" pitchFamily="2" charset="-122"/>
                <a:ea typeface="宋体" panose="02000500000000000000" pitchFamily="2" charset="-122"/>
                <a:cs typeface="宋体" panose="02000500000000000000" pitchFamily="2" charset="-122"/>
              </a:rPr>
              <a:t>、索尼和东芝联合研发，在</a:t>
            </a:r>
            <a:r>
              <a:rPr kumimoji="1" lang="en-US" altLang="zh-CN" sz="2000" dirty="0">
                <a:latin typeface="宋体" panose="02000500000000000000" pitchFamily="2" charset="-122"/>
                <a:ea typeface="宋体" panose="02000500000000000000" pitchFamily="2" charset="-122"/>
                <a:cs typeface="宋体" panose="02000500000000000000" pitchFamily="2" charset="-122"/>
              </a:rPr>
              <a:t>ISSCC2005</a:t>
            </a:r>
            <a:r>
              <a:rPr kumimoji="1" lang="zh-CN" altLang="zh-CN" sz="2000" dirty="0">
                <a:latin typeface="宋体" panose="02000500000000000000" pitchFamily="2" charset="-122"/>
                <a:ea typeface="宋体" panose="02000500000000000000" pitchFamily="2" charset="-122"/>
                <a:cs typeface="宋体" panose="02000500000000000000" pitchFamily="2" charset="-122"/>
              </a:rPr>
              <a:t>上首次公开</a:t>
            </a:r>
            <a:endParaRPr kumimoji="1" lang="en-US" altLang="zh-CN" sz="2000" dirty="0">
              <a:latin typeface="宋体" panose="02000500000000000000" pitchFamily="2" charset="-122"/>
              <a:ea typeface="宋体" panose="02000500000000000000" pitchFamily="2" charset="-122"/>
              <a:cs typeface="宋体" panose="02000500000000000000" pitchFamily="2" charset="-122"/>
            </a:endParaRPr>
          </a:p>
          <a:p>
            <a:pPr lvl="1">
              <a:defRPr/>
            </a:pPr>
            <a:r>
              <a:rPr kumimoji="1" lang="zh-CN" altLang="en-US" dirty="0">
                <a:latin typeface="宋体" panose="02000500000000000000" pitchFamily="2" charset="-122"/>
                <a:ea typeface="宋体" panose="02000500000000000000" pitchFamily="2" charset="-122"/>
                <a:cs typeface="宋体" panose="02000500000000000000" pitchFamily="2" charset="-122"/>
              </a:rPr>
              <a:t>峰值性能</a:t>
            </a:r>
            <a:r>
              <a:rPr kumimoji="1" lang="en-US" altLang="zh-CN" dirty="0">
                <a:solidFill>
                  <a:schemeClr val="accent2"/>
                </a:solidFill>
                <a:latin typeface="宋体" panose="02000500000000000000" pitchFamily="2" charset="-122"/>
                <a:ea typeface="宋体" panose="02000500000000000000" pitchFamily="2" charset="-122"/>
                <a:cs typeface="宋体" panose="02000500000000000000" pitchFamily="2" charset="-122"/>
              </a:rPr>
              <a:t>256GFLOPS</a:t>
            </a:r>
            <a:r>
              <a:rPr kumimoji="1" lang="en-US" altLang="zh-CN" dirty="0">
                <a:latin typeface="宋体" panose="02000500000000000000" pitchFamily="2" charset="-122"/>
                <a:ea typeface="宋体" panose="02000500000000000000" pitchFamily="2" charset="-122"/>
                <a:cs typeface="宋体" panose="02000500000000000000" pitchFamily="2" charset="-122"/>
              </a:rPr>
              <a:t>@4GHz</a:t>
            </a:r>
            <a:r>
              <a:rPr kumimoji="1" lang="zh-CN" altLang="en-US" dirty="0">
                <a:latin typeface="宋体" panose="02000500000000000000" pitchFamily="2" charset="-122"/>
                <a:ea typeface="宋体" panose="02000500000000000000" pitchFamily="2" charset="-122"/>
                <a:cs typeface="宋体" panose="02000500000000000000" pitchFamily="2" charset="-122"/>
              </a:rPr>
              <a:t>，访存带宽</a:t>
            </a:r>
            <a:r>
              <a:rPr kumimoji="1" lang="en-US" altLang="zh-CN" dirty="0">
                <a:solidFill>
                  <a:schemeClr val="accent2"/>
                </a:solidFill>
                <a:latin typeface="宋体" panose="02000500000000000000" pitchFamily="2" charset="-122"/>
                <a:ea typeface="宋体" panose="02000500000000000000" pitchFamily="2" charset="-122"/>
                <a:cs typeface="宋体" panose="02000500000000000000" pitchFamily="2" charset="-122"/>
              </a:rPr>
              <a:t>25.6GBPS</a:t>
            </a:r>
            <a:r>
              <a:rPr kumimoji="1" lang="zh-CN" altLang="en-US" dirty="0">
                <a:latin typeface="宋体" panose="02000500000000000000" pitchFamily="2" charset="-122"/>
                <a:ea typeface="宋体" panose="02000500000000000000" pitchFamily="2" charset="-122"/>
                <a:cs typeface="宋体" panose="02000500000000000000" pitchFamily="2" charset="-122"/>
              </a:rPr>
              <a:t>，面向游戏、超算等</a:t>
            </a:r>
            <a:endParaRPr kumimoji="1" lang="en-US" altLang="zh-CN" dirty="0">
              <a:latin typeface="宋体" panose="02000500000000000000" pitchFamily="2" charset="-122"/>
              <a:ea typeface="宋体" panose="02000500000000000000" pitchFamily="2" charset="-122"/>
              <a:cs typeface="宋体" panose="02000500000000000000" pitchFamily="2" charset="-122"/>
            </a:endParaRPr>
          </a:p>
          <a:p>
            <a:pPr marL="342900" lvl="1" indent="-342900">
              <a:defRPr/>
            </a:pPr>
            <a:r>
              <a:rPr kumimoji="1" lang="zh-CN" altLang="en-US" sz="2000" dirty="0">
                <a:latin typeface="宋体" panose="02000500000000000000" pitchFamily="2" charset="-122"/>
                <a:ea typeface="宋体" panose="02000500000000000000" pitchFamily="2" charset="-122"/>
                <a:cs typeface="宋体" panose="02000500000000000000" pitchFamily="2" charset="-122"/>
              </a:rPr>
              <a:t>采用异构多核结构</a:t>
            </a:r>
            <a:endParaRPr kumimoji="1" lang="en-US" altLang="zh-CN" sz="2000" dirty="0">
              <a:latin typeface="宋体" panose="02000500000000000000" pitchFamily="2" charset="-122"/>
              <a:ea typeface="宋体" panose="02000500000000000000" pitchFamily="2" charset="-122"/>
              <a:cs typeface="宋体" panose="02000500000000000000" pitchFamily="2" charset="-122"/>
            </a:endParaRPr>
          </a:p>
          <a:p>
            <a:pPr marL="742950" lvl="2" indent="-342900">
              <a:defRPr/>
            </a:pPr>
            <a:r>
              <a:rPr kumimoji="1" lang="en-US" altLang="zh-CN" sz="1600" dirty="0">
                <a:latin typeface="宋体" panose="02000500000000000000" pitchFamily="2" charset="-122"/>
                <a:ea typeface="宋体" panose="02000500000000000000" pitchFamily="2" charset="-122"/>
                <a:cs typeface="宋体" panose="02000500000000000000" pitchFamily="2" charset="-122"/>
              </a:rPr>
              <a:t>1</a:t>
            </a:r>
            <a:r>
              <a:rPr kumimoji="1" lang="zh-CN" altLang="zh-CN" sz="1600" dirty="0">
                <a:latin typeface="宋体" panose="02000500000000000000" pitchFamily="2" charset="-122"/>
                <a:ea typeface="宋体" panose="02000500000000000000" pitchFamily="2" charset="-122"/>
                <a:cs typeface="宋体" panose="02000500000000000000" pitchFamily="2" charset="-122"/>
              </a:rPr>
              <a:t>个双发射</a:t>
            </a:r>
            <a:r>
              <a:rPr kumimoji="1" lang="en-US" altLang="zh-CN" sz="1600" dirty="0">
                <a:latin typeface="宋体" panose="02000500000000000000" pitchFamily="2" charset="-122"/>
                <a:ea typeface="宋体" panose="02000500000000000000" pitchFamily="2" charset="-122"/>
                <a:cs typeface="宋体" panose="02000500000000000000" pitchFamily="2" charset="-122"/>
              </a:rPr>
              <a:t>64</a:t>
            </a:r>
            <a:r>
              <a:rPr kumimoji="1" lang="zh-CN" altLang="zh-CN" sz="1600" dirty="0">
                <a:latin typeface="宋体" panose="02000500000000000000" pitchFamily="2" charset="-122"/>
                <a:ea typeface="宋体" panose="02000500000000000000" pitchFamily="2" charset="-122"/>
                <a:cs typeface="宋体" panose="02000500000000000000" pitchFamily="2" charset="-122"/>
              </a:rPr>
              <a:t>位</a:t>
            </a:r>
            <a:r>
              <a:rPr kumimoji="1" lang="en-US" altLang="zh-CN" sz="1600" dirty="0">
                <a:latin typeface="宋体" panose="02000500000000000000" pitchFamily="2" charset="-122"/>
                <a:ea typeface="宋体" panose="02000500000000000000" pitchFamily="2" charset="-122"/>
                <a:cs typeface="宋体" panose="02000500000000000000" pitchFamily="2" charset="-122"/>
              </a:rPr>
              <a:t>PowerPC</a:t>
            </a:r>
            <a:r>
              <a:rPr kumimoji="1" lang="zh-CN" altLang="zh-CN" sz="1600" dirty="0">
                <a:latin typeface="宋体" panose="02000500000000000000" pitchFamily="2" charset="-122"/>
                <a:ea typeface="宋体" panose="02000500000000000000" pitchFamily="2" charset="-122"/>
                <a:cs typeface="宋体" panose="02000500000000000000" pitchFamily="2" charset="-122"/>
              </a:rPr>
              <a:t>核（</a:t>
            </a:r>
            <a:r>
              <a:rPr kumimoji="1" lang="en-US" altLang="zh-CN" sz="1600" dirty="0">
                <a:latin typeface="宋体" panose="02000500000000000000" pitchFamily="2" charset="-122"/>
                <a:ea typeface="宋体" panose="02000500000000000000" pitchFamily="2" charset="-122"/>
                <a:cs typeface="宋体" panose="02000500000000000000" pitchFamily="2" charset="-122"/>
              </a:rPr>
              <a:t>PPE</a:t>
            </a:r>
            <a:r>
              <a:rPr kumimoji="1" lang="zh-CN" altLang="zh-CN" sz="1600" dirty="0">
                <a:latin typeface="宋体" panose="02000500000000000000" pitchFamily="2" charset="-122"/>
                <a:ea typeface="宋体" panose="02000500000000000000" pitchFamily="2" charset="-122"/>
                <a:cs typeface="宋体" panose="02000500000000000000" pitchFamily="2" charset="-122"/>
              </a:rPr>
              <a:t>）</a:t>
            </a:r>
            <a:r>
              <a:rPr kumimoji="1" lang="zh-CN" altLang="en-US" sz="1600" dirty="0">
                <a:latin typeface="宋体" panose="02000500000000000000" pitchFamily="2" charset="-122"/>
                <a:ea typeface="宋体" panose="02000500000000000000" pitchFamily="2" charset="-122"/>
                <a:cs typeface="宋体" panose="02000500000000000000" pitchFamily="2" charset="-122"/>
              </a:rPr>
              <a:t>和</a:t>
            </a:r>
            <a:r>
              <a:rPr kumimoji="1" lang="en-US" altLang="zh-CN" sz="1600" dirty="0">
                <a:latin typeface="宋体" panose="02000500000000000000" pitchFamily="2" charset="-122"/>
                <a:ea typeface="宋体" panose="02000500000000000000" pitchFamily="2" charset="-122"/>
                <a:cs typeface="宋体" panose="02000500000000000000" pitchFamily="2" charset="-122"/>
              </a:rPr>
              <a:t>8</a:t>
            </a:r>
            <a:r>
              <a:rPr kumimoji="1" lang="zh-CN" altLang="zh-CN" sz="1600" dirty="0">
                <a:latin typeface="宋体" panose="02000500000000000000" pitchFamily="2" charset="-122"/>
                <a:ea typeface="宋体" panose="02000500000000000000" pitchFamily="2" charset="-122"/>
                <a:cs typeface="宋体" panose="02000500000000000000" pitchFamily="2" charset="-122"/>
              </a:rPr>
              <a:t>个</a:t>
            </a:r>
            <a:r>
              <a:rPr kumimoji="1" lang="en-US" altLang="zh-CN" sz="1600" dirty="0">
                <a:latin typeface="宋体" panose="02000500000000000000" pitchFamily="2" charset="-122"/>
                <a:ea typeface="宋体" panose="02000500000000000000" pitchFamily="2" charset="-122"/>
                <a:cs typeface="宋体" panose="02000500000000000000" pitchFamily="2" charset="-122"/>
              </a:rPr>
              <a:t>SIMD</a:t>
            </a:r>
            <a:r>
              <a:rPr kumimoji="1" lang="zh-CN" altLang="zh-CN" sz="1600" dirty="0">
                <a:latin typeface="宋体" panose="02000500000000000000" pitchFamily="2" charset="-122"/>
                <a:ea typeface="宋体" panose="02000500000000000000" pitchFamily="2" charset="-122"/>
                <a:cs typeface="宋体" panose="02000500000000000000" pitchFamily="2" charset="-122"/>
              </a:rPr>
              <a:t>向量协处理器（</a:t>
            </a:r>
            <a:r>
              <a:rPr kumimoji="1" lang="en-US" altLang="zh-CN" sz="1600" dirty="0">
                <a:latin typeface="宋体" panose="02000500000000000000" pitchFamily="2" charset="-122"/>
                <a:ea typeface="宋体" panose="02000500000000000000" pitchFamily="2" charset="-122"/>
                <a:cs typeface="宋体" panose="02000500000000000000" pitchFamily="2" charset="-122"/>
              </a:rPr>
              <a:t>SPE</a:t>
            </a:r>
            <a:r>
              <a:rPr kumimoji="1" lang="zh-CN" altLang="en-US" sz="1600" dirty="0">
                <a:latin typeface="宋体" panose="02000500000000000000" pitchFamily="2" charset="-122"/>
                <a:ea typeface="宋体" panose="02000500000000000000" pitchFamily="2" charset="-122"/>
                <a:cs typeface="宋体" panose="02000500000000000000" pitchFamily="2" charset="-122"/>
              </a:rPr>
              <a:t>）</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742950" lvl="2" indent="-342900">
              <a:defRPr/>
            </a:pPr>
            <a:r>
              <a:rPr kumimoji="1" lang="zh-CN" altLang="zh-CN" sz="1600" dirty="0">
                <a:latin typeface="宋体" panose="02000500000000000000" pitchFamily="2" charset="-122"/>
                <a:ea typeface="宋体" panose="02000500000000000000" pitchFamily="2" charset="-122"/>
                <a:cs typeface="宋体" panose="02000500000000000000" pitchFamily="2" charset="-122"/>
              </a:rPr>
              <a:t>高带宽的环状高速总线（</a:t>
            </a:r>
            <a:r>
              <a:rPr kumimoji="1" lang="en-US" altLang="zh-CN" sz="1600" dirty="0">
                <a:latin typeface="宋体" panose="02000500000000000000" pitchFamily="2" charset="-122"/>
                <a:ea typeface="宋体" panose="02000500000000000000" pitchFamily="2" charset="-122"/>
                <a:cs typeface="宋体" panose="02000500000000000000" pitchFamily="2" charset="-122"/>
              </a:rPr>
              <a:t>EIB</a:t>
            </a:r>
            <a:r>
              <a:rPr kumimoji="1" lang="zh-CN" altLang="zh-CN" sz="1600" dirty="0">
                <a:latin typeface="宋体" panose="02000500000000000000" pitchFamily="2" charset="-122"/>
                <a:ea typeface="宋体" panose="02000500000000000000" pitchFamily="2" charset="-122"/>
                <a:cs typeface="宋体" panose="02000500000000000000" pitchFamily="2" charset="-122"/>
              </a:rPr>
              <a:t>）把</a:t>
            </a:r>
            <a:r>
              <a:rPr kumimoji="1" lang="en-US" altLang="zh-CN" sz="1600" dirty="0">
                <a:latin typeface="宋体" panose="02000500000000000000" pitchFamily="2" charset="-122"/>
                <a:ea typeface="宋体" panose="02000500000000000000" pitchFamily="2" charset="-122"/>
                <a:cs typeface="宋体" panose="02000500000000000000" pitchFamily="2" charset="-122"/>
              </a:rPr>
              <a:t>PPE</a:t>
            </a:r>
            <a:r>
              <a:rPr kumimoji="1" lang="zh-CN" altLang="zh-CN" sz="1600" dirty="0">
                <a:latin typeface="宋体" panose="02000500000000000000" pitchFamily="2" charset="-122"/>
                <a:ea typeface="宋体" panose="02000500000000000000" pitchFamily="2" charset="-122"/>
                <a:cs typeface="宋体" panose="02000500000000000000" pitchFamily="2" charset="-122"/>
              </a:rPr>
              <a:t>、</a:t>
            </a:r>
            <a:r>
              <a:rPr kumimoji="1" lang="en-US" altLang="zh-CN" sz="1600" dirty="0">
                <a:latin typeface="宋体" panose="02000500000000000000" pitchFamily="2" charset="-122"/>
                <a:ea typeface="宋体" panose="02000500000000000000" pitchFamily="2" charset="-122"/>
                <a:cs typeface="宋体" panose="02000500000000000000" pitchFamily="2" charset="-122"/>
              </a:rPr>
              <a:t>SPE</a:t>
            </a:r>
            <a:r>
              <a:rPr kumimoji="1" lang="zh-CN" altLang="zh-CN" sz="1600" dirty="0">
                <a:latin typeface="宋体" panose="02000500000000000000" pitchFamily="2" charset="-122"/>
                <a:ea typeface="宋体" panose="02000500000000000000" pitchFamily="2" charset="-122"/>
                <a:cs typeface="宋体" panose="02000500000000000000" pitchFamily="2" charset="-122"/>
              </a:rPr>
              <a:t>及</a:t>
            </a:r>
            <a:r>
              <a:rPr kumimoji="1" lang="en-US" altLang="zh-CN" sz="1600" dirty="0">
                <a:latin typeface="宋体" panose="02000500000000000000" pitchFamily="2" charset="-122"/>
                <a:ea typeface="宋体" panose="02000500000000000000" pitchFamily="2" charset="-122"/>
                <a:cs typeface="宋体" panose="02000500000000000000" pitchFamily="2" charset="-122"/>
              </a:rPr>
              <a:t>RAMBUS</a:t>
            </a:r>
            <a:r>
              <a:rPr kumimoji="1" lang="zh-CN" altLang="zh-CN" sz="1600" dirty="0">
                <a:latin typeface="宋体" panose="02000500000000000000" pitchFamily="2" charset="-122"/>
                <a:ea typeface="宋体" panose="02000500000000000000" pitchFamily="2" charset="-122"/>
                <a:cs typeface="宋体" panose="02000500000000000000" pitchFamily="2" charset="-122"/>
              </a:rPr>
              <a:t>内存接口控制器（</a:t>
            </a:r>
            <a:r>
              <a:rPr kumimoji="1" lang="en-US" altLang="zh-CN" sz="1600" dirty="0">
                <a:latin typeface="宋体" panose="02000500000000000000" pitchFamily="2" charset="-122"/>
                <a:ea typeface="宋体" panose="02000500000000000000" pitchFamily="2" charset="-122"/>
                <a:cs typeface="宋体" panose="02000500000000000000" pitchFamily="2" charset="-122"/>
              </a:rPr>
              <a:t>MIC</a:t>
            </a:r>
            <a:r>
              <a:rPr kumimoji="1" lang="zh-CN" altLang="zh-CN" sz="1600" dirty="0">
                <a:latin typeface="宋体" panose="02000500000000000000" pitchFamily="2" charset="-122"/>
                <a:ea typeface="宋体" panose="02000500000000000000" pitchFamily="2" charset="-122"/>
                <a:cs typeface="宋体" panose="02000500000000000000" pitchFamily="2" charset="-122"/>
              </a:rPr>
              <a:t>）、</a:t>
            </a:r>
            <a:r>
              <a:rPr kumimoji="1" lang="en-US" altLang="zh-CN" sz="1600" dirty="0" err="1">
                <a:latin typeface="宋体" panose="02000500000000000000" pitchFamily="2" charset="-122"/>
                <a:ea typeface="宋体" panose="02000500000000000000" pitchFamily="2" charset="-122"/>
                <a:cs typeface="宋体" panose="02000500000000000000" pitchFamily="2" charset="-122"/>
              </a:rPr>
              <a:t>FlexI</a:t>
            </a:r>
            <a:r>
              <a:rPr kumimoji="1" lang="en-US" altLang="zh-CN" sz="1600" dirty="0">
                <a:latin typeface="宋体" panose="02000500000000000000" pitchFamily="2" charset="-122"/>
                <a:ea typeface="宋体" panose="02000500000000000000" pitchFamily="2" charset="-122"/>
                <a:cs typeface="宋体" panose="02000500000000000000" pitchFamily="2" charset="-122"/>
              </a:rPr>
              <a:t>/O</a:t>
            </a:r>
            <a:r>
              <a:rPr kumimoji="1" lang="zh-CN" altLang="zh-CN" sz="1600" dirty="0">
                <a:latin typeface="宋体" panose="02000500000000000000" pitchFamily="2" charset="-122"/>
                <a:ea typeface="宋体" panose="02000500000000000000" pitchFamily="2" charset="-122"/>
                <a:cs typeface="宋体" panose="02000500000000000000" pitchFamily="2" charset="-122"/>
              </a:rPr>
              <a:t>外部总线接口控制器（</a:t>
            </a:r>
            <a:r>
              <a:rPr kumimoji="1" lang="en-US" altLang="zh-CN" sz="1600" dirty="0">
                <a:latin typeface="宋体" panose="02000500000000000000" pitchFamily="2" charset="-122"/>
                <a:ea typeface="宋体" panose="02000500000000000000" pitchFamily="2" charset="-122"/>
                <a:cs typeface="宋体" panose="02000500000000000000" pitchFamily="2" charset="-122"/>
              </a:rPr>
              <a:t>BIC</a:t>
            </a:r>
            <a:r>
              <a:rPr kumimoji="1" lang="zh-CN" altLang="zh-CN" sz="1600" dirty="0">
                <a:latin typeface="宋体" panose="02000500000000000000" pitchFamily="2" charset="-122"/>
                <a:ea typeface="宋体" panose="02000500000000000000" pitchFamily="2" charset="-122"/>
                <a:cs typeface="宋体" panose="02000500000000000000" pitchFamily="2" charset="-122"/>
              </a:rPr>
              <a:t>）连接起来</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742950" lvl="2" indent="-342900">
              <a:defRPr/>
            </a:pP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每个</a:t>
            </a:r>
            <a:r>
              <a:rPr kumimoji="1"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SPE</a:t>
            </a: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有</a:t>
            </a:r>
            <a:r>
              <a:rPr kumimoji="1"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256KB</a:t>
            </a: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的</a:t>
            </a:r>
            <a:r>
              <a:rPr kumimoji="1"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LS</a:t>
            </a: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a:t>
            </a:r>
            <a:r>
              <a:rPr kumimoji="1"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Local  Storage</a:t>
            </a: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a:t>
            </a:r>
            <a:r>
              <a:rPr kumimoji="1"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LS</a:t>
            </a: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与内存间通信必须通过</a:t>
            </a:r>
            <a:r>
              <a:rPr kumimoji="1"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DMA</a:t>
            </a: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进行，</a:t>
            </a:r>
            <a:r>
              <a:rPr kumimoji="1"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LS</a:t>
            </a: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对</a:t>
            </a:r>
            <a:r>
              <a:rPr kumimoji="1"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PPE</a:t>
            </a: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可见（</a:t>
            </a:r>
            <a:r>
              <a:rPr kumimoji="1"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PPE</a:t>
            </a: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任务是运行</a:t>
            </a:r>
            <a:r>
              <a:rPr kumimoji="1"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OS</a:t>
            </a:r>
            <a:r>
              <a:rPr kumimoji="1"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p:txBody>
      </p:sp>
      <p:sp>
        <p:nvSpPr>
          <p:cNvPr id="73732" name="灯片编号占位符 3"/>
          <p:cNvSpPr>
            <a:spLocks noGrp="1" noChangeArrowheads="1"/>
          </p:cNvSpPr>
          <p:nvPr>
            <p:ph type="sldNum" sz="quarter" idx="12"/>
          </p:nvPr>
        </p:nvSpPr>
        <p:spPr>
          <a:noFill/>
        </p:spPr>
        <p:txBody>
          <a:bodyPr/>
          <a:lstStyle/>
          <a:p>
            <a:fld id="{F4FCDFFA-50BC-496A-B482-F627B97026C5}" type="slidenum">
              <a:rPr lang="en-US" altLang="zh-CN" smtClean="0"/>
            </a:fld>
            <a:endParaRPr lang="en-US" altLang="zh-CN" smtClean="0"/>
          </a:p>
        </p:txBody>
      </p:sp>
      <p:sp>
        <p:nvSpPr>
          <p:cNvPr id="73733" name="Rectangle 2"/>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73734"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73735" name="Rectangle 8"/>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
        <p:nvSpPr>
          <p:cNvPr id="73736"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73737" name="Rectangle 4"/>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
        <p:nvSpPr>
          <p:cNvPr id="73738" name="Rectangle 4"/>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pic>
        <p:nvPicPr>
          <p:cNvPr id="73739" name="Picture 3"/>
          <p:cNvPicPr>
            <a:picLocks noChangeAspect="1" noChangeArrowheads="1"/>
          </p:cNvPicPr>
          <p:nvPr/>
        </p:nvPicPr>
        <p:blipFill>
          <a:blip r:embed="rId1" cstate="print"/>
          <a:srcRect/>
          <a:stretch>
            <a:fillRect/>
          </a:stretch>
        </p:blipFill>
        <p:spPr bwMode="auto">
          <a:xfrm>
            <a:off x="6917056" y="4791075"/>
            <a:ext cx="4727575" cy="1863725"/>
          </a:xfrm>
          <a:prstGeom prst="rect">
            <a:avLst/>
          </a:prstGeom>
          <a:noFill/>
          <a:ln w="9525">
            <a:noFill/>
            <a:miter lim="800000"/>
            <a:headEnd/>
            <a:tailEnd/>
          </a:ln>
        </p:spPr>
      </p:pic>
      <p:pic>
        <p:nvPicPr>
          <p:cNvPr id="73740" name="Picture 4"/>
          <p:cNvPicPr>
            <a:picLocks noChangeAspect="1" noChangeArrowheads="1"/>
          </p:cNvPicPr>
          <p:nvPr/>
        </p:nvPicPr>
        <p:blipFill>
          <a:blip r:embed="rId2" cstate="print"/>
          <a:srcRect/>
          <a:stretch>
            <a:fillRect/>
          </a:stretch>
        </p:blipFill>
        <p:spPr bwMode="auto">
          <a:xfrm rot="5400000">
            <a:off x="2963387" y="3598069"/>
            <a:ext cx="1835150" cy="43576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noChangeArrowheads="1"/>
          </p:cNvSpPr>
          <p:nvPr>
            <p:ph type="title"/>
          </p:nvPr>
        </p:nvSpPr>
        <p:spPr>
          <a:xfrm>
            <a:off x="929006" y="0"/>
            <a:ext cx="10361612" cy="925513"/>
          </a:xfrm>
        </p:spPr>
        <p:txBody>
          <a:bodyPr/>
          <a:lstStyle/>
          <a:p>
            <a:r>
              <a:rPr lang="en-US" altLang="zh-CN" smtClean="0"/>
              <a:t>NVIDIA Fermi GPU</a:t>
            </a:r>
            <a:endParaRPr lang="zh-CN" altLang="en-US" smtClean="0"/>
          </a:p>
        </p:txBody>
      </p:sp>
      <p:sp>
        <p:nvSpPr>
          <p:cNvPr id="74755" name="内容占位符 2"/>
          <p:cNvSpPr>
            <a:spLocks noGrp="1" noChangeArrowheads="1"/>
          </p:cNvSpPr>
          <p:nvPr>
            <p:ph idx="1"/>
          </p:nvPr>
        </p:nvSpPr>
        <p:spPr>
          <a:xfrm>
            <a:off x="76518" y="996950"/>
            <a:ext cx="11860213" cy="5861050"/>
          </a:xfrm>
        </p:spPr>
        <p:txBody>
          <a:bodyPr/>
          <a:lstStyle/>
          <a:p>
            <a:pPr marL="342900" lvl="1" indent="-342900"/>
            <a:r>
              <a:rPr lang="zh-CN" altLang="zh-CN" sz="2000" smtClean="0">
                <a:latin typeface="宋体" panose="02000500000000000000" pitchFamily="2" charset="-122"/>
                <a:ea typeface="宋体" panose="02000500000000000000" pitchFamily="2" charset="-122"/>
                <a:cs typeface="宋体" panose="02000500000000000000" pitchFamily="2" charset="-122"/>
              </a:rPr>
              <a:t>现代</a:t>
            </a:r>
            <a:r>
              <a:rPr lang="en-US" altLang="zh-CN" sz="2000" smtClean="0">
                <a:latin typeface="宋体" panose="02000500000000000000" pitchFamily="2" charset="-122"/>
                <a:ea typeface="宋体" panose="02000500000000000000" pitchFamily="2" charset="-122"/>
                <a:cs typeface="宋体" panose="02000500000000000000" pitchFamily="2" charset="-122"/>
              </a:rPr>
              <a:t>GPU</a:t>
            </a:r>
            <a:r>
              <a:rPr lang="zh-CN" altLang="zh-CN" sz="2000" smtClean="0">
                <a:latin typeface="宋体" panose="02000500000000000000" pitchFamily="2" charset="-122"/>
                <a:ea typeface="宋体" panose="02000500000000000000" pitchFamily="2" charset="-122"/>
                <a:cs typeface="宋体" panose="02000500000000000000" pitchFamily="2" charset="-122"/>
              </a:rPr>
              <a:t>包括数百个并行浮点运算单元，是典型众核处理器</a:t>
            </a:r>
            <a:endParaRPr lang="en-US" altLang="zh-CN" sz="2000" smtClean="0">
              <a:latin typeface="宋体" panose="02000500000000000000" pitchFamily="2" charset="-122"/>
              <a:ea typeface="宋体" panose="02000500000000000000" pitchFamily="2" charset="-122"/>
              <a:cs typeface="宋体" panose="02000500000000000000" pitchFamily="2" charset="-122"/>
            </a:endParaRPr>
          </a:p>
          <a:p>
            <a:pPr marL="342900" lvl="1" indent="-342900"/>
            <a:r>
              <a:rPr lang="zh-CN" altLang="en-US" sz="2000" smtClean="0">
                <a:latin typeface="宋体" panose="02000500000000000000" pitchFamily="2" charset="-122"/>
                <a:ea typeface="宋体" panose="02000500000000000000" pitchFamily="2" charset="-122"/>
                <a:cs typeface="宋体" panose="02000500000000000000" pitchFamily="2" charset="-122"/>
              </a:rPr>
              <a:t>例：</a:t>
            </a:r>
            <a:r>
              <a:rPr lang="en-US" altLang="zh-CN" sz="2000" smtClean="0">
                <a:latin typeface="宋体" panose="02000500000000000000" pitchFamily="2" charset="-122"/>
                <a:ea typeface="宋体" panose="02000500000000000000" pitchFamily="2" charset="-122"/>
                <a:cs typeface="宋体" panose="02000500000000000000" pitchFamily="2" charset="-122"/>
              </a:rPr>
              <a:t>NVIDIA</a:t>
            </a:r>
            <a:r>
              <a:rPr lang="zh-CN" altLang="en-US" sz="2000" smtClean="0">
                <a:latin typeface="宋体" panose="02000500000000000000" pitchFamily="2" charset="-122"/>
                <a:ea typeface="宋体" panose="02000500000000000000" pitchFamily="2" charset="-122"/>
                <a:cs typeface="宋体" panose="02000500000000000000" pitchFamily="2" charset="-122"/>
              </a:rPr>
              <a:t>公司</a:t>
            </a:r>
            <a:r>
              <a:rPr lang="zh-CN" altLang="zh-CN" sz="2000" smtClean="0">
                <a:latin typeface="宋体" panose="02000500000000000000" pitchFamily="2" charset="-122"/>
                <a:ea typeface="宋体" panose="02000500000000000000" pitchFamily="2" charset="-122"/>
                <a:cs typeface="宋体" panose="02000500000000000000" pitchFamily="2" charset="-122"/>
              </a:rPr>
              <a:t>的</a:t>
            </a:r>
            <a:r>
              <a:rPr lang="en-US" altLang="zh-CN" sz="2000" smtClean="0">
                <a:latin typeface="宋体" panose="02000500000000000000" pitchFamily="2" charset="-122"/>
                <a:ea typeface="宋体" panose="02000500000000000000" pitchFamily="2" charset="-122"/>
                <a:cs typeface="宋体" panose="02000500000000000000" pitchFamily="2" charset="-122"/>
              </a:rPr>
              <a:t>Fermi GPU</a:t>
            </a:r>
            <a:r>
              <a:rPr lang="zh-CN" altLang="zh-CN" sz="2000" smtClean="0">
                <a:latin typeface="宋体" panose="02000500000000000000" pitchFamily="2" charset="-122"/>
                <a:ea typeface="宋体" panose="02000500000000000000" pitchFamily="2" charset="-122"/>
                <a:cs typeface="宋体" panose="02000500000000000000" pitchFamily="2" charset="-122"/>
              </a:rPr>
              <a:t>体系结构</a:t>
            </a:r>
            <a:endParaRPr lang="en-US" altLang="zh-CN" sz="2000" smtClean="0">
              <a:latin typeface="宋体" panose="02000500000000000000" pitchFamily="2" charset="-122"/>
              <a:ea typeface="宋体" panose="02000500000000000000" pitchFamily="2" charset="-122"/>
              <a:cs typeface="宋体" panose="02000500000000000000" pitchFamily="2" charset="-122"/>
            </a:endParaRPr>
          </a:p>
          <a:p>
            <a:pPr marL="742950" lvl="2" indent="-342900"/>
            <a:r>
              <a:rPr lang="zh-CN" altLang="zh-CN" sz="1600" smtClean="0">
                <a:latin typeface="宋体" panose="02000500000000000000" pitchFamily="2" charset="-122"/>
                <a:ea typeface="宋体" panose="02000500000000000000" pitchFamily="2" charset="-122"/>
                <a:cs typeface="宋体" panose="02000500000000000000" pitchFamily="2" charset="-122"/>
              </a:rPr>
              <a:t>第一个基于</a:t>
            </a:r>
            <a:r>
              <a:rPr lang="en-US" altLang="zh-CN" sz="1600" smtClean="0">
                <a:latin typeface="宋体" panose="02000500000000000000" pitchFamily="2" charset="-122"/>
                <a:ea typeface="宋体" panose="02000500000000000000" pitchFamily="2" charset="-122"/>
                <a:cs typeface="宋体" panose="02000500000000000000" pitchFamily="2" charset="-122"/>
              </a:rPr>
              <a:t>Fermi</a:t>
            </a:r>
            <a:r>
              <a:rPr lang="zh-CN" altLang="zh-CN" sz="1600" smtClean="0">
                <a:latin typeface="宋体" panose="02000500000000000000" pitchFamily="2" charset="-122"/>
                <a:ea typeface="宋体" panose="02000500000000000000" pitchFamily="2" charset="-122"/>
                <a:cs typeface="宋体" panose="02000500000000000000" pitchFamily="2" charset="-122"/>
              </a:rPr>
              <a:t>体系结构的</a:t>
            </a:r>
            <a:r>
              <a:rPr lang="en-US" altLang="zh-CN" sz="1600" smtClean="0">
                <a:latin typeface="宋体" panose="02000500000000000000" pitchFamily="2" charset="-122"/>
                <a:ea typeface="宋体" panose="02000500000000000000" pitchFamily="2" charset="-122"/>
                <a:cs typeface="宋体" panose="02000500000000000000" pitchFamily="2" charset="-122"/>
              </a:rPr>
              <a:t>GPU</a:t>
            </a:r>
            <a:r>
              <a:rPr lang="zh-CN" altLang="zh-CN" sz="1600" smtClean="0">
                <a:latin typeface="宋体" panose="02000500000000000000" pitchFamily="2" charset="-122"/>
                <a:ea typeface="宋体" panose="02000500000000000000" pitchFamily="2" charset="-122"/>
                <a:cs typeface="宋体" panose="02000500000000000000" pitchFamily="2" charset="-122"/>
              </a:rPr>
              <a:t>芯片有</a:t>
            </a:r>
            <a:r>
              <a:rPr lang="en-US" altLang="zh-CN" sz="1600" smtClean="0">
                <a:latin typeface="宋体" panose="02000500000000000000" pitchFamily="2" charset="-122"/>
                <a:ea typeface="宋体" panose="02000500000000000000" pitchFamily="2" charset="-122"/>
                <a:cs typeface="宋体" panose="02000500000000000000" pitchFamily="2" charset="-122"/>
              </a:rPr>
              <a:t>30</a:t>
            </a:r>
            <a:r>
              <a:rPr lang="zh-CN" altLang="zh-CN" sz="1600" smtClean="0">
                <a:latin typeface="宋体" panose="02000500000000000000" pitchFamily="2" charset="-122"/>
                <a:ea typeface="宋体" panose="02000500000000000000" pitchFamily="2" charset="-122"/>
                <a:cs typeface="宋体" panose="02000500000000000000" pitchFamily="2" charset="-122"/>
              </a:rPr>
              <a:t>亿个晶体管，支持</a:t>
            </a:r>
            <a:r>
              <a:rPr lang="en-US" altLang="zh-CN" sz="1600" smtClean="0">
                <a:latin typeface="宋体" panose="02000500000000000000" pitchFamily="2" charset="-122"/>
                <a:ea typeface="宋体" panose="02000500000000000000" pitchFamily="2" charset="-122"/>
                <a:cs typeface="宋体" panose="02000500000000000000" pitchFamily="2" charset="-122"/>
              </a:rPr>
              <a:t>512</a:t>
            </a:r>
            <a:r>
              <a:rPr lang="zh-CN" altLang="zh-CN" sz="1600" smtClean="0">
                <a:latin typeface="宋体" panose="02000500000000000000" pitchFamily="2" charset="-122"/>
                <a:ea typeface="宋体" panose="02000500000000000000" pitchFamily="2" charset="-122"/>
                <a:cs typeface="宋体" panose="02000500000000000000" pitchFamily="2" charset="-122"/>
              </a:rPr>
              <a:t>个</a:t>
            </a:r>
            <a:r>
              <a:rPr lang="en-US" altLang="zh-CN" sz="1600" smtClean="0">
                <a:latin typeface="宋体" panose="02000500000000000000" pitchFamily="2" charset="-122"/>
                <a:ea typeface="宋体" panose="02000500000000000000" pitchFamily="2" charset="-122"/>
                <a:cs typeface="宋体" panose="02000500000000000000" pitchFamily="2" charset="-122"/>
              </a:rPr>
              <a:t>CUDA</a:t>
            </a:r>
            <a:r>
              <a:rPr lang="zh-CN" altLang="zh-CN" sz="1600" smtClean="0">
                <a:latin typeface="宋体" panose="02000500000000000000" pitchFamily="2" charset="-122"/>
                <a:ea typeface="宋体" panose="02000500000000000000" pitchFamily="2" charset="-122"/>
                <a:cs typeface="宋体" panose="02000500000000000000" pitchFamily="2" charset="-122"/>
              </a:rPr>
              <a:t>核心，组织成</a:t>
            </a:r>
            <a:r>
              <a:rPr lang="en-US" altLang="zh-CN" sz="1600" smtClean="0">
                <a:latin typeface="宋体" panose="02000500000000000000" pitchFamily="2" charset="-122"/>
                <a:ea typeface="宋体" panose="02000500000000000000" pitchFamily="2" charset="-122"/>
                <a:cs typeface="宋体" panose="02000500000000000000" pitchFamily="2" charset="-122"/>
              </a:rPr>
              <a:t>16</a:t>
            </a:r>
            <a:r>
              <a:rPr lang="zh-CN" altLang="zh-CN" sz="1600" smtClean="0">
                <a:latin typeface="宋体" panose="02000500000000000000" pitchFamily="2" charset="-122"/>
                <a:ea typeface="宋体" panose="02000500000000000000" pitchFamily="2" charset="-122"/>
                <a:cs typeface="宋体" panose="02000500000000000000" pitchFamily="2" charset="-122"/>
              </a:rPr>
              <a:t>个流多处理器（</a:t>
            </a:r>
            <a:r>
              <a:rPr lang="en-US" altLang="zh-CN" sz="1600" smtClean="0">
                <a:latin typeface="宋体" panose="02000500000000000000" pitchFamily="2" charset="-122"/>
                <a:ea typeface="宋体" panose="02000500000000000000" pitchFamily="2" charset="-122"/>
                <a:cs typeface="宋体" panose="02000500000000000000" pitchFamily="2" charset="-122"/>
              </a:rPr>
              <a:t>Stream Multiprocessor</a:t>
            </a:r>
            <a:r>
              <a:rPr lang="zh-CN" altLang="zh-CN" sz="1600" smtClean="0">
                <a:latin typeface="宋体" panose="02000500000000000000" pitchFamily="2" charset="-122"/>
                <a:ea typeface="宋体" panose="02000500000000000000" pitchFamily="2" charset="-122"/>
                <a:cs typeface="宋体" panose="02000500000000000000" pitchFamily="2" charset="-122"/>
              </a:rPr>
              <a:t>，</a:t>
            </a:r>
            <a:r>
              <a:rPr lang="en-US" altLang="zh-CN" sz="1600" smtClean="0">
                <a:latin typeface="宋体" panose="02000500000000000000" pitchFamily="2" charset="-122"/>
                <a:ea typeface="宋体" panose="02000500000000000000" pitchFamily="2" charset="-122"/>
                <a:cs typeface="宋体" panose="02000500000000000000" pitchFamily="2" charset="-122"/>
              </a:rPr>
              <a:t>SM</a:t>
            </a:r>
            <a:r>
              <a:rPr lang="zh-CN" altLang="zh-CN" sz="1600" smtClean="0">
                <a:latin typeface="宋体" panose="02000500000000000000" pitchFamily="2" charset="-122"/>
                <a:ea typeface="宋体" panose="02000500000000000000" pitchFamily="2" charset="-122"/>
                <a:cs typeface="宋体" panose="02000500000000000000" pitchFamily="2" charset="-122"/>
              </a:rPr>
              <a:t>）</a:t>
            </a:r>
            <a:endParaRPr lang="en-US" altLang="zh-CN" sz="1600" smtClean="0">
              <a:latin typeface="宋体" panose="02000500000000000000" pitchFamily="2" charset="-122"/>
              <a:ea typeface="宋体" panose="02000500000000000000" pitchFamily="2" charset="-122"/>
              <a:cs typeface="宋体" panose="02000500000000000000" pitchFamily="2" charset="-122"/>
            </a:endParaRPr>
          </a:p>
          <a:p>
            <a:pPr marL="742950" lvl="2" indent="-342900"/>
            <a:r>
              <a:rPr lang="zh-CN" altLang="zh-CN" sz="1600" smtClean="0">
                <a:latin typeface="宋体" panose="02000500000000000000" pitchFamily="2" charset="-122"/>
                <a:ea typeface="宋体" panose="02000500000000000000" pitchFamily="2" charset="-122"/>
                <a:cs typeface="宋体" panose="02000500000000000000" pitchFamily="2" charset="-122"/>
              </a:rPr>
              <a:t>每个</a:t>
            </a:r>
            <a:r>
              <a:rPr lang="en-US" altLang="zh-CN" sz="1600" smtClean="0">
                <a:latin typeface="宋体" panose="02000500000000000000" pitchFamily="2" charset="-122"/>
                <a:ea typeface="宋体" panose="02000500000000000000" pitchFamily="2" charset="-122"/>
                <a:cs typeface="宋体" panose="02000500000000000000" pitchFamily="2" charset="-122"/>
              </a:rPr>
              <a:t>SM</a:t>
            </a:r>
            <a:r>
              <a:rPr lang="zh-CN" altLang="zh-CN" sz="1600" smtClean="0">
                <a:latin typeface="宋体" panose="02000500000000000000" pitchFamily="2" charset="-122"/>
                <a:ea typeface="宋体" panose="02000500000000000000" pitchFamily="2" charset="-122"/>
                <a:cs typeface="宋体" panose="02000500000000000000" pitchFamily="2" charset="-122"/>
              </a:rPr>
              <a:t>包含</a:t>
            </a:r>
            <a:r>
              <a:rPr lang="en-US" altLang="zh-CN" sz="1600" smtClean="0">
                <a:latin typeface="宋体" panose="02000500000000000000" pitchFamily="2" charset="-122"/>
                <a:ea typeface="宋体" panose="02000500000000000000" pitchFamily="2" charset="-122"/>
                <a:cs typeface="宋体" panose="02000500000000000000" pitchFamily="2" charset="-122"/>
              </a:rPr>
              <a:t>32</a:t>
            </a:r>
            <a:r>
              <a:rPr lang="zh-CN" altLang="zh-CN" sz="1600" smtClean="0">
                <a:latin typeface="宋体" panose="02000500000000000000" pitchFamily="2" charset="-122"/>
                <a:ea typeface="宋体" panose="02000500000000000000" pitchFamily="2" charset="-122"/>
                <a:cs typeface="宋体" panose="02000500000000000000" pitchFamily="2" charset="-122"/>
              </a:rPr>
              <a:t>个</a:t>
            </a:r>
            <a:r>
              <a:rPr lang="en-US" altLang="zh-CN" sz="1600" smtClean="0">
                <a:latin typeface="宋体" panose="02000500000000000000" pitchFamily="2" charset="-122"/>
                <a:ea typeface="宋体" panose="02000500000000000000" pitchFamily="2" charset="-122"/>
                <a:cs typeface="宋体" panose="02000500000000000000" pitchFamily="2" charset="-122"/>
              </a:rPr>
              <a:t>CUDA</a:t>
            </a:r>
            <a:r>
              <a:rPr lang="zh-CN" altLang="zh-CN" sz="1600" smtClean="0">
                <a:latin typeface="宋体" panose="02000500000000000000" pitchFamily="2" charset="-122"/>
                <a:ea typeface="宋体" panose="02000500000000000000" pitchFamily="2" charset="-122"/>
                <a:cs typeface="宋体" panose="02000500000000000000" pitchFamily="2" charset="-122"/>
              </a:rPr>
              <a:t>核心、</a:t>
            </a:r>
            <a:r>
              <a:rPr lang="en-US" altLang="zh-CN" sz="1600" smtClean="0">
                <a:latin typeface="宋体" panose="02000500000000000000" pitchFamily="2" charset="-122"/>
                <a:ea typeface="宋体" panose="02000500000000000000" pitchFamily="2" charset="-122"/>
                <a:cs typeface="宋体" panose="02000500000000000000" pitchFamily="2" charset="-122"/>
              </a:rPr>
              <a:t>16</a:t>
            </a:r>
            <a:r>
              <a:rPr lang="zh-CN" altLang="zh-CN" sz="1600" smtClean="0">
                <a:latin typeface="宋体" panose="02000500000000000000" pitchFamily="2" charset="-122"/>
                <a:ea typeface="宋体" panose="02000500000000000000" pitchFamily="2" charset="-122"/>
                <a:cs typeface="宋体" panose="02000500000000000000" pitchFamily="2" charset="-122"/>
              </a:rPr>
              <a:t>个</a:t>
            </a:r>
            <a:r>
              <a:rPr lang="en-US" altLang="zh-CN" sz="1600" smtClean="0">
                <a:latin typeface="宋体" panose="02000500000000000000" pitchFamily="2" charset="-122"/>
                <a:ea typeface="宋体" panose="02000500000000000000" pitchFamily="2" charset="-122"/>
                <a:cs typeface="宋体" panose="02000500000000000000" pitchFamily="2" charset="-122"/>
              </a:rPr>
              <a:t>Load/store</a:t>
            </a:r>
            <a:r>
              <a:rPr lang="zh-CN" altLang="zh-CN" sz="1600" smtClean="0">
                <a:latin typeface="宋体" panose="02000500000000000000" pitchFamily="2" charset="-122"/>
                <a:ea typeface="宋体" panose="02000500000000000000" pitchFamily="2" charset="-122"/>
                <a:cs typeface="宋体" panose="02000500000000000000" pitchFamily="2" charset="-122"/>
              </a:rPr>
              <a:t>单元、</a:t>
            </a:r>
            <a:r>
              <a:rPr lang="en-US" altLang="zh-CN" sz="1600" smtClean="0">
                <a:latin typeface="宋体" panose="02000500000000000000" pitchFamily="2" charset="-122"/>
                <a:ea typeface="宋体" panose="02000500000000000000" pitchFamily="2" charset="-122"/>
                <a:cs typeface="宋体" panose="02000500000000000000" pitchFamily="2" charset="-122"/>
              </a:rPr>
              <a:t>4</a:t>
            </a:r>
            <a:r>
              <a:rPr lang="zh-CN" altLang="zh-CN" sz="1600" smtClean="0">
                <a:latin typeface="宋体" panose="02000500000000000000" pitchFamily="2" charset="-122"/>
                <a:ea typeface="宋体" panose="02000500000000000000" pitchFamily="2" charset="-122"/>
                <a:cs typeface="宋体" panose="02000500000000000000" pitchFamily="2" charset="-122"/>
              </a:rPr>
              <a:t>个特殊处理单元（</a:t>
            </a:r>
            <a:r>
              <a:rPr lang="en-US" altLang="zh-CN" sz="1600" smtClean="0">
                <a:latin typeface="宋体" panose="02000500000000000000" pitchFamily="2" charset="-122"/>
                <a:ea typeface="宋体" panose="02000500000000000000" pitchFamily="2" charset="-122"/>
                <a:cs typeface="宋体" panose="02000500000000000000" pitchFamily="2" charset="-122"/>
              </a:rPr>
              <a:t>Special Function Unit</a:t>
            </a:r>
            <a:r>
              <a:rPr lang="zh-CN" altLang="zh-CN" sz="1600" smtClean="0">
                <a:latin typeface="宋体" panose="02000500000000000000" pitchFamily="2" charset="-122"/>
                <a:ea typeface="宋体" panose="02000500000000000000" pitchFamily="2" charset="-122"/>
                <a:cs typeface="宋体" panose="02000500000000000000" pitchFamily="2" charset="-122"/>
              </a:rPr>
              <a:t>，</a:t>
            </a:r>
            <a:r>
              <a:rPr lang="en-US" altLang="zh-CN" sz="1600" smtClean="0">
                <a:latin typeface="宋体" panose="02000500000000000000" pitchFamily="2" charset="-122"/>
                <a:ea typeface="宋体" panose="02000500000000000000" pitchFamily="2" charset="-122"/>
                <a:cs typeface="宋体" panose="02000500000000000000" pitchFamily="2" charset="-122"/>
              </a:rPr>
              <a:t>SPU</a:t>
            </a:r>
            <a:r>
              <a:rPr lang="zh-CN" altLang="zh-CN" sz="1600" smtClean="0">
                <a:latin typeface="宋体" panose="02000500000000000000" pitchFamily="2" charset="-122"/>
                <a:ea typeface="宋体" panose="02000500000000000000" pitchFamily="2" charset="-122"/>
                <a:cs typeface="宋体" panose="02000500000000000000" pitchFamily="2" charset="-122"/>
              </a:rPr>
              <a:t>）、</a:t>
            </a:r>
            <a:r>
              <a:rPr lang="en-US" altLang="zh-CN" sz="1600" smtClean="0">
                <a:latin typeface="宋体" panose="02000500000000000000" pitchFamily="2" charset="-122"/>
                <a:ea typeface="宋体" panose="02000500000000000000" pitchFamily="2" charset="-122"/>
                <a:cs typeface="宋体" panose="02000500000000000000" pitchFamily="2" charset="-122"/>
              </a:rPr>
              <a:t>64KB</a:t>
            </a:r>
            <a:r>
              <a:rPr lang="zh-CN" altLang="zh-CN" sz="1600" smtClean="0">
                <a:latin typeface="宋体" panose="02000500000000000000" pitchFamily="2" charset="-122"/>
                <a:ea typeface="宋体" panose="02000500000000000000" pitchFamily="2" charset="-122"/>
                <a:cs typeface="宋体" panose="02000500000000000000" pitchFamily="2" charset="-122"/>
              </a:rPr>
              <a:t>的片上高速存储</a:t>
            </a:r>
            <a:endParaRPr lang="en-US" altLang="zh-CN" sz="1600" smtClean="0">
              <a:latin typeface="宋体" panose="02000500000000000000" pitchFamily="2" charset="-122"/>
              <a:ea typeface="宋体" panose="02000500000000000000" pitchFamily="2" charset="-122"/>
              <a:cs typeface="宋体" panose="02000500000000000000" pitchFamily="2" charset="-122"/>
            </a:endParaRPr>
          </a:p>
          <a:p>
            <a:pPr marL="742950" lvl="2" indent="-342900"/>
            <a:r>
              <a:rPr lang="en-US" altLang="zh-CN" sz="1600" smtClean="0">
                <a:latin typeface="宋体" panose="02000500000000000000" pitchFamily="2" charset="-122"/>
                <a:ea typeface="宋体" panose="02000500000000000000" pitchFamily="2" charset="-122"/>
                <a:cs typeface="宋体" panose="02000500000000000000" pitchFamily="2" charset="-122"/>
              </a:rPr>
              <a:t>CUDA</a:t>
            </a:r>
            <a:r>
              <a:rPr lang="zh-CN" altLang="zh-CN" sz="1600" smtClean="0">
                <a:latin typeface="宋体" panose="02000500000000000000" pitchFamily="2" charset="-122"/>
                <a:ea typeface="宋体" panose="02000500000000000000" pitchFamily="2" charset="-122"/>
                <a:cs typeface="宋体" panose="02000500000000000000" pitchFamily="2" charset="-122"/>
              </a:rPr>
              <a:t>核心支持一个全流水定点</a:t>
            </a:r>
            <a:r>
              <a:rPr lang="en-US" altLang="zh-CN" sz="1600" smtClean="0">
                <a:latin typeface="宋体" panose="02000500000000000000" pitchFamily="2" charset="-122"/>
                <a:ea typeface="宋体" panose="02000500000000000000" pitchFamily="2" charset="-122"/>
                <a:cs typeface="宋体" panose="02000500000000000000" pitchFamily="2" charset="-122"/>
              </a:rPr>
              <a:t>ALU</a:t>
            </a:r>
            <a:r>
              <a:rPr lang="zh-CN" altLang="zh-CN" sz="1600" smtClean="0">
                <a:latin typeface="宋体" panose="02000500000000000000" pitchFamily="2" charset="-122"/>
                <a:ea typeface="宋体" panose="02000500000000000000" pitchFamily="2" charset="-122"/>
                <a:cs typeface="宋体" panose="02000500000000000000" pitchFamily="2" charset="-122"/>
              </a:rPr>
              <a:t>和浮点单元（</a:t>
            </a:r>
            <a:r>
              <a:rPr lang="en-US" altLang="zh-CN" sz="1600" smtClean="0">
                <a:latin typeface="宋体" panose="02000500000000000000" pitchFamily="2" charset="-122"/>
                <a:ea typeface="宋体" panose="02000500000000000000" pitchFamily="2" charset="-122"/>
                <a:cs typeface="宋体" panose="02000500000000000000" pitchFamily="2" charset="-122"/>
              </a:rPr>
              <a:t>FPU</a:t>
            </a:r>
            <a:r>
              <a:rPr lang="zh-CN" altLang="zh-CN" sz="1600" smtClean="0">
                <a:latin typeface="宋体" panose="02000500000000000000" pitchFamily="2" charset="-122"/>
                <a:ea typeface="宋体" panose="02000500000000000000" pitchFamily="2" charset="-122"/>
                <a:cs typeface="宋体" panose="02000500000000000000" pitchFamily="2" charset="-122"/>
              </a:rPr>
              <a:t>）</a:t>
            </a:r>
            <a:endParaRPr lang="en-US" altLang="zh-CN" sz="1600" smtClean="0">
              <a:latin typeface="宋体" panose="02000500000000000000" pitchFamily="2" charset="-122"/>
              <a:ea typeface="宋体" panose="02000500000000000000" pitchFamily="2" charset="-122"/>
              <a:cs typeface="宋体" panose="02000500000000000000" pitchFamily="2" charset="-122"/>
            </a:endParaRPr>
          </a:p>
          <a:p>
            <a:pPr marL="742950" lvl="2" indent="-342900"/>
            <a:r>
              <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64KB</a:t>
            </a:r>
            <a:r>
              <a:rPr lang="zh-CN"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片上</a:t>
            </a:r>
            <a:r>
              <a:rPr lang="zh-CN" altLang="en-US"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高速</a:t>
            </a:r>
            <a:r>
              <a:rPr lang="zh-CN"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存储可配置</a:t>
            </a:r>
            <a:r>
              <a:rPr lang="zh-CN" altLang="en-US"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a:t>
            </a:r>
            <a:r>
              <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48KB/16KB</a:t>
            </a:r>
            <a:r>
              <a:rPr lang="zh-CN"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共享存储</a:t>
            </a:r>
            <a:r>
              <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+16KB/48KB L1 Cache</a:t>
            </a:r>
            <a:r>
              <a:rPr lang="zh-CN" altLang="en-US"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a:t>
            </a:r>
            <a:endPar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marL="742950" lvl="2" indent="-342900"/>
            <a:r>
              <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768KB</a:t>
            </a:r>
            <a:r>
              <a:rPr lang="zh-CN"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统一</a:t>
            </a:r>
            <a:r>
              <a:rPr lang="zh-CN" altLang="en-US"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的片上</a:t>
            </a:r>
            <a:r>
              <a:rPr lang="zh-CN"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二级</a:t>
            </a:r>
            <a:r>
              <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Cache</a:t>
            </a:r>
            <a:r>
              <a:rPr lang="zh-CN" altLang="en-US"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a:t>
            </a:r>
            <a:r>
              <a:rPr lang="zh-CN"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在</a:t>
            </a:r>
            <a:r>
              <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16</a:t>
            </a:r>
            <a:r>
              <a:rPr lang="zh-CN"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个</a:t>
            </a:r>
            <a:r>
              <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SM</a:t>
            </a:r>
            <a:r>
              <a:rPr lang="zh-CN"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间共享</a:t>
            </a:r>
            <a:endPar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marL="742950" lvl="2" indent="-342900"/>
            <a:r>
              <a:rPr lang="zh-CN" altLang="zh-CN" sz="1600" smtClean="0">
                <a:latin typeface="宋体" panose="02000500000000000000" pitchFamily="2" charset="-122"/>
                <a:ea typeface="宋体" panose="02000500000000000000" pitchFamily="2" charset="-122"/>
                <a:cs typeface="宋体" panose="02000500000000000000" pitchFamily="2" charset="-122"/>
              </a:rPr>
              <a:t>采用</a:t>
            </a:r>
            <a:r>
              <a:rPr lang="en-US" altLang="zh-CN" sz="1600" smtClean="0">
                <a:latin typeface="宋体" panose="02000500000000000000" pitchFamily="2" charset="-122"/>
                <a:ea typeface="宋体" panose="02000500000000000000" pitchFamily="2" charset="-122"/>
                <a:cs typeface="宋体" panose="02000500000000000000" pitchFamily="2" charset="-122"/>
              </a:rPr>
              <a:t>CUDA</a:t>
            </a:r>
            <a:r>
              <a:rPr lang="zh-CN" altLang="zh-CN" sz="1600" smtClean="0">
                <a:latin typeface="宋体" panose="02000500000000000000" pitchFamily="2" charset="-122"/>
                <a:ea typeface="宋体" panose="02000500000000000000" pitchFamily="2" charset="-122"/>
                <a:cs typeface="宋体" panose="02000500000000000000" pitchFamily="2" charset="-122"/>
              </a:rPr>
              <a:t>（</a:t>
            </a:r>
            <a:r>
              <a:rPr lang="en-US" altLang="zh-CN" sz="1600" smtClean="0">
                <a:latin typeface="宋体" panose="02000500000000000000" pitchFamily="2" charset="-122"/>
                <a:ea typeface="宋体" panose="02000500000000000000" pitchFamily="2" charset="-122"/>
                <a:cs typeface="宋体" panose="02000500000000000000" pitchFamily="2" charset="-122"/>
              </a:rPr>
              <a:t>Compute Unified Device Architecture</a:t>
            </a:r>
            <a:r>
              <a:rPr lang="zh-CN" altLang="zh-CN" sz="1600" smtClean="0">
                <a:latin typeface="宋体" panose="02000500000000000000" pitchFamily="2" charset="-122"/>
                <a:ea typeface="宋体" panose="02000500000000000000" pitchFamily="2" charset="-122"/>
                <a:cs typeface="宋体" panose="02000500000000000000" pitchFamily="2" charset="-122"/>
              </a:rPr>
              <a:t>）编程环境，可以采用类</a:t>
            </a:r>
            <a:r>
              <a:rPr lang="en-US" altLang="zh-CN" sz="1600" smtClean="0">
                <a:latin typeface="宋体" panose="02000500000000000000" pitchFamily="2" charset="-122"/>
                <a:ea typeface="宋体" panose="02000500000000000000" pitchFamily="2" charset="-122"/>
                <a:cs typeface="宋体" panose="02000500000000000000" pitchFamily="2" charset="-122"/>
              </a:rPr>
              <a:t>C</a:t>
            </a:r>
            <a:r>
              <a:rPr lang="zh-CN" altLang="zh-CN" sz="1600" smtClean="0">
                <a:latin typeface="宋体" panose="02000500000000000000" pitchFamily="2" charset="-122"/>
                <a:ea typeface="宋体" panose="02000500000000000000" pitchFamily="2" charset="-122"/>
                <a:cs typeface="宋体" panose="02000500000000000000" pitchFamily="2" charset="-122"/>
              </a:rPr>
              <a:t>语言开发程序</a:t>
            </a:r>
            <a:r>
              <a:rPr lang="zh-CN" altLang="en-US" sz="1600" smtClean="0">
                <a:latin typeface="宋体" panose="02000500000000000000" pitchFamily="2" charset="-122"/>
                <a:ea typeface="宋体" panose="02000500000000000000" pitchFamily="2" charset="-122"/>
                <a:cs typeface="宋体" panose="02000500000000000000" pitchFamily="2" charset="-122"/>
              </a:rPr>
              <a:t>，</a:t>
            </a:r>
            <a:r>
              <a:rPr lang="zh-CN" altLang="zh-CN" sz="1600" smtClean="0">
                <a:latin typeface="宋体" panose="02000500000000000000" pitchFamily="2" charset="-122"/>
                <a:ea typeface="宋体" panose="02000500000000000000" pitchFamily="2" charset="-122"/>
                <a:cs typeface="宋体" panose="02000500000000000000" pitchFamily="2" charset="-122"/>
              </a:rPr>
              <a:t>编译器和硬件可以在</a:t>
            </a:r>
            <a:r>
              <a:rPr lang="en-US" altLang="zh-CN" sz="1600" smtClean="0">
                <a:latin typeface="宋体" panose="02000500000000000000" pitchFamily="2" charset="-122"/>
                <a:ea typeface="宋体" panose="02000500000000000000" pitchFamily="2" charset="-122"/>
                <a:cs typeface="宋体" panose="02000500000000000000" pitchFamily="2" charset="-122"/>
              </a:rPr>
              <a:t>GPU</a:t>
            </a:r>
            <a:r>
              <a:rPr lang="zh-CN" altLang="zh-CN" sz="1600" smtClean="0">
                <a:latin typeface="宋体" panose="02000500000000000000" pitchFamily="2" charset="-122"/>
                <a:ea typeface="宋体" panose="02000500000000000000" pitchFamily="2" charset="-122"/>
                <a:cs typeface="宋体" panose="02000500000000000000" pitchFamily="2" charset="-122"/>
              </a:rPr>
              <a:t>上将上千个</a:t>
            </a:r>
            <a:r>
              <a:rPr lang="en-US" altLang="zh-CN" sz="1600" smtClean="0">
                <a:latin typeface="宋体" panose="02000500000000000000" pitchFamily="2" charset="-122"/>
                <a:ea typeface="宋体" panose="02000500000000000000" pitchFamily="2" charset="-122"/>
                <a:cs typeface="宋体" panose="02000500000000000000" pitchFamily="2" charset="-122"/>
              </a:rPr>
              <a:t>CUDA</a:t>
            </a:r>
            <a:r>
              <a:rPr lang="zh-CN" altLang="zh-CN" sz="1600" smtClean="0">
                <a:latin typeface="宋体" panose="02000500000000000000" pitchFamily="2" charset="-122"/>
                <a:ea typeface="宋体" panose="02000500000000000000" pitchFamily="2" charset="-122"/>
                <a:cs typeface="宋体" panose="02000500000000000000" pitchFamily="2" charset="-122"/>
              </a:rPr>
              <a:t>线程并行执行</a:t>
            </a:r>
            <a:endParaRPr lang="en-US" altLang="zh-CN" sz="1600" smtClean="0">
              <a:latin typeface="宋体" panose="02000500000000000000" pitchFamily="2" charset="-122"/>
              <a:ea typeface="宋体" panose="02000500000000000000" pitchFamily="2" charset="-122"/>
              <a:cs typeface="宋体" panose="02000500000000000000" pitchFamily="2" charset="-122"/>
            </a:endParaRPr>
          </a:p>
          <a:p>
            <a:pPr marL="742950" lvl="2" indent="-342900"/>
            <a:r>
              <a:rPr lang="zh-CN" altLang="en-US" sz="1600" smtClean="0">
                <a:latin typeface="宋体" panose="02000500000000000000" pitchFamily="2" charset="-122"/>
                <a:ea typeface="宋体" panose="02000500000000000000" pitchFamily="2" charset="-122"/>
                <a:cs typeface="宋体" panose="02000500000000000000" pitchFamily="2" charset="-122"/>
              </a:rPr>
              <a:t>不仅用作</a:t>
            </a:r>
            <a:r>
              <a:rPr lang="en-US" altLang="zh-CN" sz="1600" smtClean="0">
                <a:latin typeface="宋体" panose="02000500000000000000" pitchFamily="2" charset="-122"/>
                <a:ea typeface="宋体" panose="02000500000000000000" pitchFamily="2" charset="-122"/>
                <a:cs typeface="宋体" panose="02000500000000000000" pitchFamily="2" charset="-122"/>
              </a:rPr>
              <a:t>GPU</a:t>
            </a:r>
            <a:r>
              <a:rPr lang="zh-CN" altLang="en-US" sz="1600" smtClean="0">
                <a:latin typeface="宋体" panose="02000500000000000000" pitchFamily="2" charset="-122"/>
                <a:ea typeface="宋体" panose="02000500000000000000" pitchFamily="2" charset="-122"/>
                <a:cs typeface="宋体" panose="02000500000000000000" pitchFamily="2" charset="-122"/>
              </a:rPr>
              <a:t>，还用于高性能计算</a:t>
            </a:r>
            <a:endParaRPr lang="en-US" altLang="zh-CN" sz="1600" smtClean="0">
              <a:latin typeface="宋体" panose="02000500000000000000" pitchFamily="2" charset="-122"/>
              <a:ea typeface="宋体" panose="02000500000000000000" pitchFamily="2" charset="-122"/>
              <a:cs typeface="宋体" panose="02000500000000000000" pitchFamily="2" charset="-122"/>
            </a:endParaRPr>
          </a:p>
          <a:p>
            <a:pPr marL="742950" lvl="2" indent="-342900"/>
            <a:r>
              <a:rPr lang="en-US" altLang="zh-CN" sz="1600" smtClean="0">
                <a:latin typeface="宋体" panose="02000500000000000000" pitchFamily="2" charset="-122"/>
                <a:ea typeface="宋体" panose="02000500000000000000" pitchFamily="2" charset="-122"/>
                <a:cs typeface="宋体" panose="02000500000000000000" pitchFamily="2" charset="-122"/>
              </a:rPr>
              <a:t>480</a:t>
            </a:r>
            <a:r>
              <a:rPr lang="zh-CN" altLang="en-US" sz="1600" smtClean="0">
                <a:latin typeface="宋体" panose="02000500000000000000" pitchFamily="2" charset="-122"/>
                <a:ea typeface="宋体" panose="02000500000000000000" pitchFamily="2" charset="-122"/>
                <a:cs typeface="宋体" panose="02000500000000000000" pitchFamily="2" charset="-122"/>
              </a:rPr>
              <a:t>核的</a:t>
            </a:r>
            <a:r>
              <a:rPr lang="en-US" altLang="zh-CN" sz="1600" smtClean="0">
                <a:latin typeface="宋体" panose="02000500000000000000" pitchFamily="2" charset="-122"/>
                <a:ea typeface="宋体" panose="02000500000000000000" pitchFamily="2" charset="-122"/>
                <a:cs typeface="宋体" panose="02000500000000000000" pitchFamily="2" charset="-122"/>
              </a:rPr>
              <a:t>GeForce GTX 480</a:t>
            </a:r>
            <a:r>
              <a:rPr lang="zh-CN" altLang="en-US" sz="1600" smtClean="0">
                <a:latin typeface="宋体" panose="02000500000000000000" pitchFamily="2" charset="-122"/>
                <a:ea typeface="宋体" panose="02000500000000000000" pitchFamily="2" charset="-122"/>
                <a:cs typeface="宋体" panose="02000500000000000000" pitchFamily="2" charset="-122"/>
              </a:rPr>
              <a:t>，</a:t>
            </a:r>
            <a:r>
              <a:rPr lang="en-US" altLang="zh-CN" sz="1600" smtClean="0">
                <a:latin typeface="宋体" panose="02000500000000000000" pitchFamily="2" charset="-122"/>
                <a:ea typeface="宋体" panose="02000500000000000000" pitchFamily="2" charset="-122"/>
                <a:cs typeface="宋体" panose="02000500000000000000" pitchFamily="2" charset="-122"/>
              </a:rPr>
              <a:t>700MHz</a:t>
            </a:r>
            <a:r>
              <a:rPr lang="zh-CN" altLang="en-US" sz="1600" smtClean="0">
                <a:latin typeface="宋体" panose="02000500000000000000" pitchFamily="2" charset="-122"/>
                <a:ea typeface="宋体" panose="02000500000000000000" pitchFamily="2" charset="-122"/>
                <a:cs typeface="宋体" panose="02000500000000000000" pitchFamily="2" charset="-122"/>
              </a:rPr>
              <a:t>，</a:t>
            </a:r>
            <a:r>
              <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1.536TFLOPS</a:t>
            </a:r>
            <a:r>
              <a:rPr lang="zh-CN" altLang="en-US"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a:t>
            </a:r>
            <a:r>
              <a:rPr lang="zh-CN" altLang="en-US" sz="1600" smtClean="0">
                <a:latin typeface="宋体" panose="02000500000000000000" pitchFamily="2" charset="-122"/>
                <a:ea typeface="宋体" panose="02000500000000000000" pitchFamily="2" charset="-122"/>
                <a:cs typeface="宋体" panose="02000500000000000000" pitchFamily="2" charset="-122"/>
              </a:rPr>
              <a:t>单精度），带宽</a:t>
            </a:r>
            <a:r>
              <a:rPr lang="en-US" altLang="zh-CN" sz="1600" smtClean="0">
                <a:solidFill>
                  <a:schemeClr val="accent2"/>
                </a:solidFill>
                <a:latin typeface="宋体" panose="02000500000000000000" pitchFamily="2" charset="-122"/>
                <a:ea typeface="宋体" panose="02000500000000000000" pitchFamily="2" charset="-122"/>
                <a:cs typeface="宋体" panose="02000500000000000000" pitchFamily="2" charset="-122"/>
              </a:rPr>
              <a:t>177.4GBPS</a:t>
            </a:r>
            <a:endParaRPr lang="en-US" altLang="zh-CN" sz="1800" smtClean="0">
              <a:latin typeface="宋体" panose="02000500000000000000" pitchFamily="2" charset="-122"/>
              <a:ea typeface="宋体" panose="02000500000000000000" pitchFamily="2" charset="-122"/>
              <a:cs typeface="宋体" panose="02000500000000000000" pitchFamily="2" charset="-122"/>
            </a:endParaRPr>
          </a:p>
        </p:txBody>
      </p:sp>
      <p:sp>
        <p:nvSpPr>
          <p:cNvPr id="74756" name="Rectangle 2"/>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74757"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74758" name="Rectangle 8"/>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
        <p:nvSpPr>
          <p:cNvPr id="74759" name="Rectangle 4"/>
          <p:cNvSpPr>
            <a:spLocks noChangeArrowheads="1"/>
          </p:cNvSpPr>
          <p:nvPr/>
        </p:nvSpPr>
        <p:spPr bwMode="auto">
          <a:xfrm>
            <a:off x="318" y="-184150"/>
            <a:ext cx="12190413" cy="368300"/>
          </a:xfrm>
          <a:prstGeom prst="rect">
            <a:avLst/>
          </a:prstGeom>
          <a:noFill/>
          <a:ln w="9525">
            <a:noFill/>
            <a:miter lim="800000"/>
          </a:ln>
        </p:spPr>
        <p:txBody>
          <a:bodyPr anchor="ctr">
            <a:spAutoFit/>
          </a:bodyPr>
          <a:lstStyle/>
          <a:p>
            <a:pPr algn="ctr"/>
            <a:endParaRPr lang="zh-CN" altLang="en-US"/>
          </a:p>
        </p:txBody>
      </p:sp>
      <p:sp>
        <p:nvSpPr>
          <p:cNvPr id="74760" name="Rectangle 4"/>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
        <p:nvSpPr>
          <p:cNvPr id="74761" name="Rectangle 4"/>
          <p:cNvSpPr>
            <a:spLocks noChangeArrowheads="1"/>
          </p:cNvSpPr>
          <p:nvPr/>
        </p:nvSpPr>
        <p:spPr bwMode="auto">
          <a:xfrm>
            <a:off x="5940584" y="-184150"/>
            <a:ext cx="309880" cy="368300"/>
          </a:xfrm>
          <a:prstGeom prst="rect">
            <a:avLst/>
          </a:prstGeom>
          <a:noFill/>
          <a:ln w="9525">
            <a:noFill/>
            <a:miter lim="800000"/>
          </a:ln>
        </p:spPr>
        <p:txBody>
          <a:bodyPr wrap="none" anchor="ctr">
            <a:spAutoFit/>
          </a:bodyPr>
          <a:lstStyle/>
          <a:p>
            <a:pPr algn="ctr"/>
            <a:endParaRPr lang="zh-CN" alt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noChangeArrowheads="1"/>
          </p:cNvSpPr>
          <p:nvPr>
            <p:ph type="title"/>
          </p:nvPr>
        </p:nvSpPr>
        <p:spPr>
          <a:xfrm>
            <a:off x="929006" y="131763"/>
            <a:ext cx="10361612" cy="1143000"/>
          </a:xfrm>
        </p:spPr>
        <p:txBody>
          <a:bodyPr/>
          <a:lstStyle/>
          <a:p>
            <a:r>
              <a:rPr lang="en-US" altLang="zh-CN" smtClean="0"/>
              <a:t>NVIDIA Fermi</a:t>
            </a:r>
            <a:r>
              <a:rPr lang="zh-CN" altLang="en-US" smtClean="0"/>
              <a:t>结构</a:t>
            </a:r>
            <a:endParaRPr lang="zh-CN" altLang="en-US" smtClean="0"/>
          </a:p>
        </p:txBody>
      </p:sp>
      <p:sp>
        <p:nvSpPr>
          <p:cNvPr id="75779" name="灯片编号占位符 2"/>
          <p:cNvSpPr>
            <a:spLocks noGrp="1" noChangeArrowheads="1"/>
          </p:cNvSpPr>
          <p:nvPr>
            <p:ph type="sldNum" sz="quarter" idx="12"/>
          </p:nvPr>
        </p:nvSpPr>
        <p:spPr>
          <a:noFill/>
        </p:spPr>
        <p:txBody>
          <a:bodyPr/>
          <a:lstStyle/>
          <a:p>
            <a:fld id="{1227C7F0-3AB1-4142-A219-3F49C034613B}" type="slidenum">
              <a:rPr lang="en-US" altLang="zh-CN" smtClean="0"/>
            </a:fld>
            <a:endParaRPr lang="en-US" altLang="zh-CN" smtClean="0"/>
          </a:p>
        </p:txBody>
      </p:sp>
      <p:grpSp>
        <p:nvGrpSpPr>
          <p:cNvPr id="75780" name="组合 3"/>
          <p:cNvGrpSpPr/>
          <p:nvPr/>
        </p:nvGrpSpPr>
        <p:grpSpPr bwMode="auto">
          <a:xfrm>
            <a:off x="5843906" y="1401763"/>
            <a:ext cx="1974850" cy="5244782"/>
            <a:chOff x="8221663" y="349250"/>
            <a:chExt cx="1481137" cy="5245426"/>
          </a:xfrm>
        </p:grpSpPr>
        <p:grpSp>
          <p:nvGrpSpPr>
            <p:cNvPr id="75832" name="Group 73"/>
            <p:cNvGrpSpPr/>
            <p:nvPr/>
          </p:nvGrpSpPr>
          <p:grpSpPr bwMode="auto">
            <a:xfrm>
              <a:off x="8262938" y="349250"/>
              <a:ext cx="1419225" cy="5221288"/>
              <a:chOff x="8566253" y="787401"/>
              <a:chExt cx="1301440" cy="4792132"/>
            </a:xfrm>
          </p:grpSpPr>
          <p:pic>
            <p:nvPicPr>
              <p:cNvPr id="49" name="Picture 7"/>
              <p:cNvPicPr>
                <a:picLocks noChangeAspect="1"/>
              </p:cNvPicPr>
              <p:nvPr/>
            </p:nvPicPr>
            <p:blipFill>
              <a:blip r:embed="rId1" cstate="print"/>
              <a:srcRect/>
              <a:stretch>
                <a:fillRect/>
              </a:stretch>
            </p:blipFill>
            <p:spPr>
              <a:xfrm>
                <a:off x="8566253" y="4377267"/>
                <a:ext cx="1301440" cy="1202266"/>
              </a:xfrm>
              <a:prstGeom prst="rect">
                <a:avLst/>
              </a:prstGeom>
              <a:effectLst>
                <a:reflection blurRad="6350" stA="50000" endA="300" endPos="38500" dist="50800" dir="5400000" sy="-100000" algn="bl" rotWithShape="0"/>
              </a:effectLst>
            </p:spPr>
          </p:pic>
          <p:pic>
            <p:nvPicPr>
              <p:cNvPr id="75877" name="Picture 8" descr="Cores_4blownupVersion.png"/>
              <p:cNvPicPr>
                <a:picLocks noChangeAspect="1" noChangeArrowheads="1"/>
              </p:cNvPicPr>
              <p:nvPr/>
            </p:nvPicPr>
            <p:blipFill>
              <a:blip r:embed="rId2" cstate="print"/>
              <a:srcRect l="39111" t="5927" r="42223" b="2429"/>
              <a:stretch>
                <a:fillRect/>
              </a:stretch>
            </p:blipFill>
            <p:spPr bwMode="auto">
              <a:xfrm>
                <a:off x="8566253" y="787401"/>
                <a:ext cx="1301440" cy="4792132"/>
              </a:xfrm>
              <a:prstGeom prst="rect">
                <a:avLst/>
              </a:prstGeom>
              <a:noFill/>
              <a:ln w="9525">
                <a:noFill/>
                <a:miter lim="800000"/>
                <a:headEnd/>
                <a:tailEnd/>
              </a:ln>
            </p:spPr>
          </p:pic>
        </p:grpSp>
        <p:sp>
          <p:nvSpPr>
            <p:cNvPr id="6" name="TextBox 5"/>
            <p:cNvSpPr txBox="1"/>
            <p:nvPr/>
          </p:nvSpPr>
          <p:spPr>
            <a:xfrm>
              <a:off x="8681125" y="1224069"/>
              <a:ext cx="577691" cy="229898"/>
            </a:xfrm>
            <a:prstGeom prst="rect">
              <a:avLst/>
            </a:prstGeom>
            <a:noFill/>
          </p:spPr>
          <p:txBody>
            <a:bodyPr wrap="none">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Register File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7" name="TextBox 6"/>
            <p:cNvSpPr txBox="1"/>
            <p:nvPr/>
          </p:nvSpPr>
          <p:spPr>
            <a:xfrm>
              <a:off x="8221663" y="617570"/>
              <a:ext cx="813196"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Scheduler</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8" name="TextBox 7"/>
            <p:cNvSpPr txBox="1"/>
            <p:nvPr/>
          </p:nvSpPr>
          <p:spPr>
            <a:xfrm>
              <a:off x="8221663" y="965276"/>
              <a:ext cx="813196"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Dispatch</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9" name="TextBox 8"/>
            <p:cNvSpPr txBox="1"/>
            <p:nvPr/>
          </p:nvSpPr>
          <p:spPr>
            <a:xfrm>
              <a:off x="8872934" y="617570"/>
              <a:ext cx="812006"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Scheduler</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0" name="TextBox 9"/>
            <p:cNvSpPr txBox="1"/>
            <p:nvPr/>
          </p:nvSpPr>
          <p:spPr>
            <a:xfrm>
              <a:off x="8882459" y="965276"/>
              <a:ext cx="812006"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Dispatch</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75838" name="TextBox 19"/>
            <p:cNvSpPr txBox="1">
              <a:spLocks noChangeArrowheads="1"/>
            </p:cNvSpPr>
            <p:nvPr/>
          </p:nvSpPr>
          <p:spPr bwMode="auto">
            <a:xfrm>
              <a:off x="8493999" y="4237038"/>
              <a:ext cx="939641" cy="229898"/>
            </a:xfrm>
            <a:prstGeom prst="rect">
              <a:avLst/>
            </a:prstGeom>
            <a:noFill/>
            <a:ln w="9525">
              <a:noFill/>
              <a:miter lim="800000"/>
            </a:ln>
          </p:spPr>
          <p:txBody>
            <a:bodyPr wrap="none">
              <a:spAutoFit/>
            </a:bodyPr>
            <a:lstStyle/>
            <a:p>
              <a:pPr algn="ctr"/>
              <a:r>
                <a:rPr lang="en-US" altLang="zh-CN" sz="900">
                  <a:solidFill>
                    <a:srgbClr val="000000"/>
                  </a:solidFill>
                </a:rPr>
                <a:t>Load/Store Units × 16</a:t>
              </a:r>
              <a:endParaRPr lang="en-US" altLang="zh-CN" sz="900">
                <a:solidFill>
                  <a:srgbClr val="000000"/>
                </a:solidFill>
              </a:endParaRPr>
            </a:p>
          </p:txBody>
        </p:sp>
        <p:sp>
          <p:nvSpPr>
            <p:cNvPr id="75839" name="TextBox 20"/>
            <p:cNvSpPr txBox="1">
              <a:spLocks noChangeArrowheads="1"/>
            </p:cNvSpPr>
            <p:nvPr/>
          </p:nvSpPr>
          <p:spPr bwMode="auto">
            <a:xfrm>
              <a:off x="8480902" y="4424363"/>
              <a:ext cx="961072" cy="229898"/>
            </a:xfrm>
            <a:prstGeom prst="rect">
              <a:avLst/>
            </a:prstGeom>
            <a:noFill/>
            <a:ln w="9525">
              <a:noFill/>
              <a:miter lim="800000"/>
            </a:ln>
          </p:spPr>
          <p:txBody>
            <a:bodyPr wrap="none">
              <a:spAutoFit/>
            </a:bodyPr>
            <a:lstStyle/>
            <a:p>
              <a:pPr algn="ctr"/>
              <a:r>
                <a:rPr lang="en-US" altLang="zh-CN" sz="900">
                  <a:solidFill>
                    <a:srgbClr val="000000"/>
                  </a:solidFill>
                </a:rPr>
                <a:t>Special Func Units × 4</a:t>
              </a:r>
              <a:endParaRPr lang="en-US" altLang="zh-CN" sz="900">
                <a:solidFill>
                  <a:srgbClr val="000000"/>
                </a:solidFill>
              </a:endParaRPr>
            </a:p>
          </p:txBody>
        </p:sp>
        <p:sp>
          <p:nvSpPr>
            <p:cNvPr id="13" name="TextBox 12"/>
            <p:cNvSpPr txBox="1"/>
            <p:nvPr/>
          </p:nvSpPr>
          <p:spPr>
            <a:xfrm>
              <a:off x="8518605" y="4653490"/>
              <a:ext cx="887253" cy="229898"/>
            </a:xfrm>
            <a:prstGeom prst="rect">
              <a:avLst/>
            </a:prstGeom>
            <a:noFill/>
          </p:spPr>
          <p:txBody>
            <a:bodyPr wrap="none">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Interconnect Network</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4" name="TextBox 13"/>
            <p:cNvSpPr txBox="1"/>
            <p:nvPr/>
          </p:nvSpPr>
          <p:spPr>
            <a:xfrm>
              <a:off x="8554324" y="4948802"/>
              <a:ext cx="815816" cy="368345"/>
            </a:xfrm>
            <a:prstGeom prst="rect">
              <a:avLst/>
            </a:prstGeom>
            <a:noFill/>
          </p:spPr>
          <p:txBody>
            <a:bodyPr wrap="none">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64K Configurable</a:t>
              </a:r>
              <a:b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b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Cache/Shared </a:t>
              </a:r>
              <a:r>
                <a:rPr kumimoji="1" lang="en-US" sz="900" dirty="0" err="1">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Mem</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5" name="TextBox 14"/>
            <p:cNvSpPr txBox="1"/>
            <p:nvPr/>
          </p:nvSpPr>
          <p:spPr>
            <a:xfrm>
              <a:off x="8628142" y="5364778"/>
              <a:ext cx="668179" cy="229898"/>
            </a:xfrm>
            <a:prstGeom prst="rect">
              <a:avLst/>
            </a:prstGeom>
            <a:noFill/>
          </p:spPr>
          <p:txBody>
            <a:bodyPr wrap="none">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Uniform Cache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6" name="TextBox 15"/>
            <p:cNvSpPr txBox="1"/>
            <p:nvPr/>
          </p:nvSpPr>
          <p:spPr>
            <a:xfrm>
              <a:off x="8255000" y="1528907"/>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7" name="TextBox 16"/>
            <p:cNvSpPr txBox="1"/>
            <p:nvPr/>
          </p:nvSpPr>
          <p:spPr>
            <a:xfrm>
              <a:off x="8255000" y="1867086"/>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8" name="TextBox 17"/>
            <p:cNvSpPr txBox="1"/>
            <p:nvPr/>
          </p:nvSpPr>
          <p:spPr>
            <a:xfrm>
              <a:off x="8255000" y="2205265"/>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9" name="TextBox 18"/>
            <p:cNvSpPr txBox="1"/>
            <p:nvPr/>
          </p:nvSpPr>
          <p:spPr>
            <a:xfrm>
              <a:off x="8255000" y="2545032"/>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20" name="TextBox 19"/>
            <p:cNvSpPr txBox="1"/>
            <p:nvPr/>
          </p:nvSpPr>
          <p:spPr>
            <a:xfrm>
              <a:off x="8577659" y="1528907"/>
              <a:ext cx="46434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21" name="TextBox 20"/>
            <p:cNvSpPr txBox="1"/>
            <p:nvPr/>
          </p:nvSpPr>
          <p:spPr>
            <a:xfrm>
              <a:off x="8577659" y="1867086"/>
              <a:ext cx="46434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22" name="TextBox 21"/>
            <p:cNvSpPr txBox="1"/>
            <p:nvPr/>
          </p:nvSpPr>
          <p:spPr>
            <a:xfrm>
              <a:off x="8577659" y="2205265"/>
              <a:ext cx="46434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23" name="TextBox 22"/>
            <p:cNvSpPr txBox="1"/>
            <p:nvPr/>
          </p:nvSpPr>
          <p:spPr>
            <a:xfrm>
              <a:off x="8577659" y="2545032"/>
              <a:ext cx="46434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24" name="TextBox 23"/>
            <p:cNvSpPr txBox="1"/>
            <p:nvPr/>
          </p:nvSpPr>
          <p:spPr>
            <a:xfrm>
              <a:off x="8907463" y="1528907"/>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25" name="TextBox 24"/>
            <p:cNvSpPr txBox="1"/>
            <p:nvPr/>
          </p:nvSpPr>
          <p:spPr>
            <a:xfrm>
              <a:off x="8907463" y="1867086"/>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26" name="TextBox 25"/>
            <p:cNvSpPr txBox="1"/>
            <p:nvPr/>
          </p:nvSpPr>
          <p:spPr>
            <a:xfrm>
              <a:off x="8907463" y="2205265"/>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27" name="TextBox 26"/>
            <p:cNvSpPr txBox="1"/>
            <p:nvPr/>
          </p:nvSpPr>
          <p:spPr>
            <a:xfrm>
              <a:off x="8907463" y="2545032"/>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28" name="TextBox 27"/>
            <p:cNvSpPr txBox="1"/>
            <p:nvPr/>
          </p:nvSpPr>
          <p:spPr>
            <a:xfrm>
              <a:off x="9237265" y="1528907"/>
              <a:ext cx="465535"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29" name="TextBox 28"/>
            <p:cNvSpPr txBox="1"/>
            <p:nvPr/>
          </p:nvSpPr>
          <p:spPr>
            <a:xfrm>
              <a:off x="9237265" y="1867086"/>
              <a:ext cx="465535"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30" name="TextBox 29"/>
            <p:cNvSpPr txBox="1"/>
            <p:nvPr/>
          </p:nvSpPr>
          <p:spPr>
            <a:xfrm>
              <a:off x="9237265" y="2205265"/>
              <a:ext cx="465535"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31" name="TextBox 30"/>
            <p:cNvSpPr txBox="1"/>
            <p:nvPr/>
          </p:nvSpPr>
          <p:spPr>
            <a:xfrm>
              <a:off x="9237265" y="2545032"/>
              <a:ext cx="465535"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32" name="TextBox 31"/>
            <p:cNvSpPr txBox="1"/>
            <p:nvPr/>
          </p:nvSpPr>
          <p:spPr>
            <a:xfrm>
              <a:off x="8255000" y="2916552"/>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33" name="TextBox 32"/>
            <p:cNvSpPr txBox="1"/>
            <p:nvPr/>
          </p:nvSpPr>
          <p:spPr>
            <a:xfrm>
              <a:off x="8255000" y="3256319"/>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34" name="TextBox 33"/>
            <p:cNvSpPr txBox="1"/>
            <p:nvPr/>
          </p:nvSpPr>
          <p:spPr>
            <a:xfrm>
              <a:off x="8255000" y="3594498"/>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35" name="TextBox 34"/>
            <p:cNvSpPr txBox="1"/>
            <p:nvPr/>
          </p:nvSpPr>
          <p:spPr>
            <a:xfrm>
              <a:off x="8255000" y="3932677"/>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36" name="TextBox 35"/>
            <p:cNvSpPr txBox="1"/>
            <p:nvPr/>
          </p:nvSpPr>
          <p:spPr>
            <a:xfrm>
              <a:off x="8577659" y="2916552"/>
              <a:ext cx="46434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37" name="TextBox 36"/>
            <p:cNvSpPr txBox="1"/>
            <p:nvPr/>
          </p:nvSpPr>
          <p:spPr>
            <a:xfrm>
              <a:off x="8577659" y="3256319"/>
              <a:ext cx="46434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38" name="TextBox 37"/>
            <p:cNvSpPr txBox="1"/>
            <p:nvPr/>
          </p:nvSpPr>
          <p:spPr>
            <a:xfrm>
              <a:off x="8577659" y="3594498"/>
              <a:ext cx="46434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39" name="TextBox 38"/>
            <p:cNvSpPr txBox="1"/>
            <p:nvPr/>
          </p:nvSpPr>
          <p:spPr>
            <a:xfrm>
              <a:off x="8577659" y="3932677"/>
              <a:ext cx="46434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40" name="TextBox 39"/>
            <p:cNvSpPr txBox="1"/>
            <p:nvPr/>
          </p:nvSpPr>
          <p:spPr>
            <a:xfrm>
              <a:off x="8907463" y="2916552"/>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41" name="TextBox 40"/>
            <p:cNvSpPr txBox="1"/>
            <p:nvPr/>
          </p:nvSpPr>
          <p:spPr>
            <a:xfrm>
              <a:off x="8907463" y="3256319"/>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42" name="TextBox 41"/>
            <p:cNvSpPr txBox="1"/>
            <p:nvPr/>
          </p:nvSpPr>
          <p:spPr>
            <a:xfrm>
              <a:off x="8907463" y="3594498"/>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43" name="TextBox 42"/>
            <p:cNvSpPr txBox="1"/>
            <p:nvPr/>
          </p:nvSpPr>
          <p:spPr>
            <a:xfrm>
              <a:off x="8907463" y="3932677"/>
              <a:ext cx="465534"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44" name="TextBox 43"/>
            <p:cNvSpPr txBox="1"/>
            <p:nvPr/>
          </p:nvSpPr>
          <p:spPr>
            <a:xfrm>
              <a:off x="9237265" y="2916552"/>
              <a:ext cx="465535"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45" name="TextBox 44"/>
            <p:cNvSpPr txBox="1"/>
            <p:nvPr/>
          </p:nvSpPr>
          <p:spPr>
            <a:xfrm>
              <a:off x="9237265" y="3256319"/>
              <a:ext cx="465535"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46" name="TextBox 45"/>
            <p:cNvSpPr txBox="1"/>
            <p:nvPr/>
          </p:nvSpPr>
          <p:spPr>
            <a:xfrm>
              <a:off x="9237265" y="3594498"/>
              <a:ext cx="465535"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47" name="TextBox 46"/>
            <p:cNvSpPr txBox="1"/>
            <p:nvPr/>
          </p:nvSpPr>
          <p:spPr>
            <a:xfrm>
              <a:off x="9237265" y="3932677"/>
              <a:ext cx="465535" cy="229898"/>
            </a:xfrm>
            <a:prstGeom prst="rect">
              <a:avLst/>
            </a:prstGeom>
            <a:noFill/>
          </p:spPr>
          <p:txBody>
            <a:bodyPr>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Core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48" name="TextBox 47"/>
            <p:cNvSpPr txBox="1"/>
            <p:nvPr/>
          </p:nvSpPr>
          <p:spPr>
            <a:xfrm>
              <a:off x="8598972" y="360363"/>
              <a:ext cx="744378" cy="229898"/>
            </a:xfrm>
            <a:prstGeom prst="rect">
              <a:avLst/>
            </a:prstGeom>
            <a:noFill/>
          </p:spPr>
          <p:txBody>
            <a:bodyPr wrap="none">
              <a:spAutoFit/>
            </a:bodyPr>
            <a:lstStyle/>
            <a:p>
              <a:pPr algn="ctr">
                <a:defRPr/>
              </a:pPr>
              <a:r>
                <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Instruction Cache</a:t>
              </a:r>
              <a:endParaRPr kumimoji="1" lang="en-US" sz="9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grpSp>
      <p:grpSp>
        <p:nvGrpSpPr>
          <p:cNvPr id="75781" name="组合 91"/>
          <p:cNvGrpSpPr/>
          <p:nvPr/>
        </p:nvGrpSpPr>
        <p:grpSpPr bwMode="auto">
          <a:xfrm>
            <a:off x="8209281" y="3152775"/>
            <a:ext cx="3098800" cy="2336800"/>
            <a:chOff x="5541963" y="2557463"/>
            <a:chExt cx="2324100" cy="2336800"/>
          </a:xfrm>
        </p:grpSpPr>
        <p:pic>
          <p:nvPicPr>
            <p:cNvPr id="75821" name="Picture 158" descr="Cores_4greenCore.png"/>
            <p:cNvPicPr>
              <a:picLocks noChangeAspect="1" noChangeArrowheads="1"/>
            </p:cNvPicPr>
            <p:nvPr/>
          </p:nvPicPr>
          <p:blipFill>
            <a:blip r:embed="rId3" cstate="print"/>
            <a:srcRect l="26556" t="21777" r="33665" b="24889"/>
            <a:stretch>
              <a:fillRect/>
            </a:stretch>
          </p:blipFill>
          <p:spPr bwMode="auto">
            <a:xfrm>
              <a:off x="5541963" y="2557463"/>
              <a:ext cx="2324100" cy="2336800"/>
            </a:xfrm>
            <a:prstGeom prst="rect">
              <a:avLst/>
            </a:prstGeom>
            <a:noFill/>
            <a:ln w="9525">
              <a:noFill/>
              <a:miter lim="800000"/>
              <a:headEnd/>
              <a:tailEnd/>
            </a:ln>
          </p:spPr>
        </p:pic>
        <p:sp>
          <p:nvSpPr>
            <p:cNvPr id="94" name="TextBox 93"/>
            <p:cNvSpPr txBox="1"/>
            <p:nvPr/>
          </p:nvSpPr>
          <p:spPr>
            <a:xfrm>
              <a:off x="5824141" y="2611438"/>
              <a:ext cx="1795463" cy="398780"/>
            </a:xfrm>
            <a:prstGeom prst="rect">
              <a:avLst/>
            </a:prstGeom>
            <a:noFill/>
          </p:spPr>
          <p:txBody>
            <a:bodyPr>
              <a:spAutoFit/>
            </a:bodyPr>
            <a:lstStyle/>
            <a:p>
              <a:pPr algn="ctr">
                <a:defRPr/>
              </a:pPr>
              <a:r>
                <a:rPr kumimoji="1" lang="en-US" sz="20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CUDA Core</a:t>
              </a:r>
              <a:endParaRPr kumimoji="1" lang="en-US" sz="20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95" name="TextBox 94"/>
            <p:cNvSpPr txBox="1"/>
            <p:nvPr/>
          </p:nvSpPr>
          <p:spPr>
            <a:xfrm>
              <a:off x="5824141" y="2959101"/>
              <a:ext cx="1795463" cy="306705"/>
            </a:xfrm>
            <a:prstGeom prst="rect">
              <a:avLst/>
            </a:prstGeom>
            <a:noFill/>
          </p:spPr>
          <p:txBody>
            <a:bodyPr>
              <a:spAutoFit/>
            </a:bodyPr>
            <a:lstStyle/>
            <a:p>
              <a:pPr algn="ctr">
                <a:defRPr/>
              </a:pPr>
              <a:r>
                <a:rPr kumimoji="1" lang="en-US" sz="14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Dispatch Port</a:t>
              </a:r>
              <a:endParaRPr kumimoji="1" lang="en-US" sz="14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96" name="TextBox 95"/>
            <p:cNvSpPr txBox="1"/>
            <p:nvPr/>
          </p:nvSpPr>
          <p:spPr>
            <a:xfrm>
              <a:off x="5824141" y="3246438"/>
              <a:ext cx="1795463" cy="306705"/>
            </a:xfrm>
            <a:prstGeom prst="rect">
              <a:avLst/>
            </a:prstGeom>
            <a:noFill/>
          </p:spPr>
          <p:txBody>
            <a:bodyPr>
              <a:spAutoFit/>
            </a:bodyPr>
            <a:lstStyle/>
            <a:p>
              <a:pPr algn="ctr">
                <a:defRPr/>
              </a:pPr>
              <a:r>
                <a:rPr kumimoji="1" lang="en-US" sz="14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Operand Collector</a:t>
              </a:r>
              <a:endParaRPr kumimoji="1" lang="en-US" sz="14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97" name="TextBox 96"/>
            <p:cNvSpPr txBox="1"/>
            <p:nvPr/>
          </p:nvSpPr>
          <p:spPr>
            <a:xfrm>
              <a:off x="5824141" y="4381501"/>
              <a:ext cx="1795463" cy="306705"/>
            </a:xfrm>
            <a:prstGeom prst="rect">
              <a:avLst/>
            </a:prstGeom>
            <a:noFill/>
          </p:spPr>
          <p:txBody>
            <a:bodyPr>
              <a:spAutoFit/>
            </a:bodyPr>
            <a:lstStyle/>
            <a:p>
              <a:pPr algn="ctr">
                <a:defRPr/>
              </a:pPr>
              <a:r>
                <a:rPr kumimoji="1" lang="en-US" sz="14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Result Queue</a:t>
              </a:r>
              <a:endParaRPr kumimoji="1" lang="en-US" sz="14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75826" name="TextBox 167"/>
            <p:cNvSpPr txBox="1">
              <a:spLocks noChangeArrowheads="1"/>
            </p:cNvSpPr>
            <p:nvPr/>
          </p:nvSpPr>
          <p:spPr bwMode="auto">
            <a:xfrm>
              <a:off x="5842000" y="3827463"/>
              <a:ext cx="838200" cy="284480"/>
            </a:xfrm>
            <a:prstGeom prst="rect">
              <a:avLst/>
            </a:prstGeom>
            <a:noFill/>
            <a:ln w="9525">
              <a:noFill/>
              <a:miter lim="800000"/>
            </a:ln>
          </p:spPr>
          <p:txBody>
            <a:bodyPr>
              <a:spAutoFit/>
            </a:bodyPr>
            <a:lstStyle/>
            <a:p>
              <a:pPr algn="ctr">
                <a:lnSpc>
                  <a:spcPct val="90000"/>
                </a:lnSpc>
              </a:pPr>
              <a:r>
                <a:rPr lang="en-US" altLang="zh-CN" sz="1400"/>
                <a:t>FP Unit</a:t>
              </a:r>
              <a:endParaRPr lang="en-US" altLang="zh-CN" sz="1400"/>
            </a:p>
          </p:txBody>
        </p:sp>
        <p:sp>
          <p:nvSpPr>
            <p:cNvPr id="75827" name="TextBox 168"/>
            <p:cNvSpPr txBox="1">
              <a:spLocks noChangeArrowheads="1"/>
            </p:cNvSpPr>
            <p:nvPr/>
          </p:nvSpPr>
          <p:spPr bwMode="auto">
            <a:xfrm>
              <a:off x="6738938" y="3827463"/>
              <a:ext cx="906462" cy="284480"/>
            </a:xfrm>
            <a:prstGeom prst="rect">
              <a:avLst/>
            </a:prstGeom>
            <a:noFill/>
            <a:ln w="9525">
              <a:noFill/>
              <a:miter lim="800000"/>
            </a:ln>
          </p:spPr>
          <p:txBody>
            <a:bodyPr>
              <a:spAutoFit/>
            </a:bodyPr>
            <a:lstStyle/>
            <a:p>
              <a:pPr algn="ctr">
                <a:lnSpc>
                  <a:spcPct val="90000"/>
                </a:lnSpc>
              </a:pPr>
              <a:r>
                <a:rPr lang="en-US" altLang="zh-CN" sz="1400"/>
                <a:t>INT Unit</a:t>
              </a:r>
              <a:endParaRPr lang="en-US" altLang="zh-CN" sz="1400"/>
            </a:p>
          </p:txBody>
        </p:sp>
        <p:cxnSp>
          <p:nvCxnSpPr>
            <p:cNvPr id="100" name="Straight Arrow Connector 170"/>
            <p:cNvCxnSpPr/>
            <p:nvPr/>
          </p:nvCxnSpPr>
          <p:spPr>
            <a:xfrm rot="5400000">
              <a:off x="6183511" y="3622875"/>
              <a:ext cx="182563" cy="1191"/>
            </a:xfrm>
            <a:prstGeom prst="straightConnector1">
              <a:avLst/>
            </a:prstGeom>
            <a:ln w="22225">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1" name="Straight Arrow Connector 171"/>
            <p:cNvCxnSpPr/>
            <p:nvPr/>
          </p:nvCxnSpPr>
          <p:spPr>
            <a:xfrm rot="5400000">
              <a:off x="7113389" y="3622874"/>
              <a:ext cx="182563" cy="1190"/>
            </a:xfrm>
            <a:prstGeom prst="straightConnector1">
              <a:avLst/>
            </a:prstGeom>
            <a:ln w="22225">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2" name="Straight Arrow Connector 172"/>
            <p:cNvCxnSpPr/>
            <p:nvPr/>
          </p:nvCxnSpPr>
          <p:spPr>
            <a:xfrm rot="5400000">
              <a:off x="6183511" y="4299150"/>
              <a:ext cx="182563" cy="1191"/>
            </a:xfrm>
            <a:prstGeom prst="straightConnector1">
              <a:avLst/>
            </a:prstGeom>
            <a:ln w="22225">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3" name="Straight Arrow Connector 173"/>
            <p:cNvCxnSpPr/>
            <p:nvPr/>
          </p:nvCxnSpPr>
          <p:spPr>
            <a:xfrm rot="5400000">
              <a:off x="7113389" y="4299149"/>
              <a:ext cx="182563" cy="1190"/>
            </a:xfrm>
            <a:prstGeom prst="straightConnector1">
              <a:avLst/>
            </a:prstGeom>
            <a:ln w="22225">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grpSp>
        <p:nvGrpSpPr>
          <p:cNvPr id="75782" name="Group 62"/>
          <p:cNvGrpSpPr/>
          <p:nvPr/>
        </p:nvGrpSpPr>
        <p:grpSpPr bwMode="auto">
          <a:xfrm>
            <a:off x="250349" y="2530475"/>
            <a:ext cx="5014912" cy="3248025"/>
            <a:chOff x="4919437" y="1004243"/>
            <a:chExt cx="5479648" cy="4602287"/>
          </a:xfrm>
        </p:grpSpPr>
        <p:pic>
          <p:nvPicPr>
            <p:cNvPr id="75783" name="Picture 12" descr="Cores_4orangeBoxes.png"/>
            <p:cNvPicPr>
              <a:picLocks noChangeAspect="1" noChangeArrowheads="1"/>
            </p:cNvPicPr>
            <p:nvPr/>
          </p:nvPicPr>
          <p:blipFill>
            <a:blip r:embed="rId4" cstate="print"/>
            <a:srcRect l="32443" t="41333" r="22890" b="38667"/>
            <a:stretch>
              <a:fillRect/>
            </a:stretch>
          </p:blipFill>
          <p:spPr bwMode="auto">
            <a:xfrm rot="-5400000">
              <a:off x="4611841" y="3704528"/>
              <a:ext cx="1126067" cy="378157"/>
            </a:xfrm>
            <a:prstGeom prst="rect">
              <a:avLst/>
            </a:prstGeom>
            <a:noFill/>
            <a:ln w="9525">
              <a:noFill/>
              <a:miter lim="800000"/>
              <a:headEnd/>
              <a:tailEnd/>
            </a:ln>
          </p:spPr>
        </p:pic>
        <p:pic>
          <p:nvPicPr>
            <p:cNvPr id="106" name="Picture 2"/>
            <p:cNvPicPr>
              <a:picLocks noChangeAspect="1" noChangeArrowheads="1"/>
            </p:cNvPicPr>
            <p:nvPr/>
          </p:nvPicPr>
          <p:blipFill>
            <a:blip r:embed="rId5" cstate="print"/>
            <a:srcRect/>
            <a:stretch>
              <a:fillRect/>
            </a:stretch>
          </p:blipFill>
          <p:spPr bwMode="auto">
            <a:xfrm>
              <a:off x="4995863" y="4462463"/>
              <a:ext cx="5353052" cy="1144067"/>
            </a:xfrm>
            <a:prstGeom prst="rect">
              <a:avLst/>
            </a:prstGeom>
            <a:noFill/>
            <a:ln w="9525">
              <a:noFill/>
              <a:miter lim="800000"/>
              <a:headEnd/>
              <a:tailEnd/>
            </a:ln>
            <a:effectLst>
              <a:reflection blurRad="6350" stA="52000" endA="300" endPos="35000" dir="5400000" sy="-100000" algn="bl" rotWithShape="0"/>
            </a:effectLst>
          </p:spPr>
        </p:pic>
        <p:grpSp>
          <p:nvGrpSpPr>
            <p:cNvPr id="75785" name="Group 20"/>
            <p:cNvGrpSpPr/>
            <p:nvPr/>
          </p:nvGrpSpPr>
          <p:grpSpPr bwMode="auto">
            <a:xfrm>
              <a:off x="5413047" y="1035388"/>
              <a:ext cx="4514904" cy="2017130"/>
              <a:chOff x="4885125" y="1178896"/>
              <a:chExt cx="4695249" cy="2097704"/>
            </a:xfrm>
          </p:grpSpPr>
          <p:pic>
            <p:nvPicPr>
              <p:cNvPr id="75813" name="Picture 42" descr="Cores_3.png"/>
              <p:cNvPicPr>
                <a:picLocks noChangeAspect="1" noChangeArrowheads="1"/>
              </p:cNvPicPr>
              <p:nvPr/>
            </p:nvPicPr>
            <p:blipFill>
              <a:blip r:embed="rId6" cstate="print"/>
              <a:srcRect/>
              <a:stretch>
                <a:fillRect/>
              </a:stretch>
            </p:blipFill>
            <p:spPr bwMode="auto">
              <a:xfrm>
                <a:off x="5473929" y="1178896"/>
                <a:ext cx="573624" cy="2097704"/>
              </a:xfrm>
              <a:prstGeom prst="rect">
                <a:avLst/>
              </a:prstGeom>
              <a:noFill/>
              <a:ln w="9525">
                <a:noFill/>
                <a:miter lim="800000"/>
                <a:headEnd/>
                <a:tailEnd/>
              </a:ln>
            </p:spPr>
          </p:pic>
          <p:pic>
            <p:nvPicPr>
              <p:cNvPr id="75814" name="Picture 43" descr="Cores_3.png"/>
              <p:cNvPicPr>
                <a:picLocks noChangeAspect="1" noChangeArrowheads="1"/>
              </p:cNvPicPr>
              <p:nvPr/>
            </p:nvPicPr>
            <p:blipFill>
              <a:blip r:embed="rId6" cstate="print"/>
              <a:srcRect/>
              <a:stretch>
                <a:fillRect/>
              </a:stretch>
            </p:blipFill>
            <p:spPr bwMode="auto">
              <a:xfrm>
                <a:off x="4885125" y="1178896"/>
                <a:ext cx="573624" cy="2097704"/>
              </a:xfrm>
              <a:prstGeom prst="rect">
                <a:avLst/>
              </a:prstGeom>
              <a:noFill/>
              <a:ln w="9525">
                <a:noFill/>
                <a:miter lim="800000"/>
                <a:headEnd/>
                <a:tailEnd/>
              </a:ln>
            </p:spPr>
          </p:pic>
          <p:pic>
            <p:nvPicPr>
              <p:cNvPr id="75815" name="Picture 44" descr="Cores_3.png"/>
              <p:cNvPicPr>
                <a:picLocks noChangeAspect="1" noChangeArrowheads="1"/>
              </p:cNvPicPr>
              <p:nvPr/>
            </p:nvPicPr>
            <p:blipFill>
              <a:blip r:embed="rId6" cstate="print"/>
              <a:srcRect/>
              <a:stretch>
                <a:fillRect/>
              </a:stretch>
            </p:blipFill>
            <p:spPr bwMode="auto">
              <a:xfrm>
                <a:off x="6062733" y="1178896"/>
                <a:ext cx="573624" cy="2097704"/>
              </a:xfrm>
              <a:prstGeom prst="rect">
                <a:avLst/>
              </a:prstGeom>
              <a:noFill/>
              <a:ln w="9525">
                <a:noFill/>
                <a:miter lim="800000"/>
                <a:headEnd/>
                <a:tailEnd/>
              </a:ln>
            </p:spPr>
          </p:pic>
          <p:pic>
            <p:nvPicPr>
              <p:cNvPr id="75816" name="Picture 45" descr="Cores_3.png"/>
              <p:cNvPicPr>
                <a:picLocks noChangeAspect="1" noChangeArrowheads="1"/>
              </p:cNvPicPr>
              <p:nvPr/>
            </p:nvPicPr>
            <p:blipFill>
              <a:blip r:embed="rId6" cstate="print"/>
              <a:srcRect/>
              <a:stretch>
                <a:fillRect/>
              </a:stretch>
            </p:blipFill>
            <p:spPr bwMode="auto">
              <a:xfrm>
                <a:off x="6651537" y="1178896"/>
                <a:ext cx="573624" cy="2097704"/>
              </a:xfrm>
              <a:prstGeom prst="rect">
                <a:avLst/>
              </a:prstGeom>
              <a:noFill/>
              <a:ln w="9525">
                <a:noFill/>
                <a:miter lim="800000"/>
                <a:headEnd/>
                <a:tailEnd/>
              </a:ln>
            </p:spPr>
          </p:pic>
          <p:pic>
            <p:nvPicPr>
              <p:cNvPr id="75817" name="Picture 46" descr="Cores_3.png"/>
              <p:cNvPicPr>
                <a:picLocks noChangeAspect="1" noChangeArrowheads="1"/>
              </p:cNvPicPr>
              <p:nvPr/>
            </p:nvPicPr>
            <p:blipFill>
              <a:blip r:embed="rId6" cstate="print"/>
              <a:srcRect/>
              <a:stretch>
                <a:fillRect/>
              </a:stretch>
            </p:blipFill>
            <p:spPr bwMode="auto">
              <a:xfrm>
                <a:off x="7240341" y="1178896"/>
                <a:ext cx="573624" cy="2097704"/>
              </a:xfrm>
              <a:prstGeom prst="rect">
                <a:avLst/>
              </a:prstGeom>
              <a:noFill/>
              <a:ln w="9525">
                <a:noFill/>
                <a:miter lim="800000"/>
                <a:headEnd/>
                <a:tailEnd/>
              </a:ln>
            </p:spPr>
          </p:pic>
          <p:pic>
            <p:nvPicPr>
              <p:cNvPr id="75818" name="Picture 47" descr="Cores_3.png"/>
              <p:cNvPicPr>
                <a:picLocks noChangeAspect="1" noChangeArrowheads="1"/>
              </p:cNvPicPr>
              <p:nvPr/>
            </p:nvPicPr>
            <p:blipFill>
              <a:blip r:embed="rId6" cstate="print"/>
              <a:srcRect/>
              <a:stretch>
                <a:fillRect/>
              </a:stretch>
            </p:blipFill>
            <p:spPr bwMode="auto">
              <a:xfrm>
                <a:off x="7829145" y="1178896"/>
                <a:ext cx="573624" cy="2097704"/>
              </a:xfrm>
              <a:prstGeom prst="rect">
                <a:avLst/>
              </a:prstGeom>
              <a:noFill/>
              <a:ln w="9525">
                <a:noFill/>
                <a:miter lim="800000"/>
                <a:headEnd/>
                <a:tailEnd/>
              </a:ln>
            </p:spPr>
          </p:pic>
          <p:pic>
            <p:nvPicPr>
              <p:cNvPr id="75819" name="Picture 48" descr="Cores_3.png"/>
              <p:cNvPicPr>
                <a:picLocks noChangeAspect="1" noChangeArrowheads="1"/>
              </p:cNvPicPr>
              <p:nvPr/>
            </p:nvPicPr>
            <p:blipFill>
              <a:blip r:embed="rId6" cstate="print"/>
              <a:srcRect/>
              <a:stretch>
                <a:fillRect/>
              </a:stretch>
            </p:blipFill>
            <p:spPr bwMode="auto">
              <a:xfrm>
                <a:off x="8417949" y="1178896"/>
                <a:ext cx="573624" cy="2097704"/>
              </a:xfrm>
              <a:prstGeom prst="rect">
                <a:avLst/>
              </a:prstGeom>
              <a:noFill/>
              <a:ln w="9525">
                <a:noFill/>
                <a:miter lim="800000"/>
                <a:headEnd/>
                <a:tailEnd/>
              </a:ln>
            </p:spPr>
          </p:pic>
          <p:pic>
            <p:nvPicPr>
              <p:cNvPr id="75820" name="Picture 49" descr="Cores_3.png"/>
              <p:cNvPicPr>
                <a:picLocks noChangeAspect="1" noChangeArrowheads="1"/>
              </p:cNvPicPr>
              <p:nvPr/>
            </p:nvPicPr>
            <p:blipFill>
              <a:blip r:embed="rId6" cstate="print"/>
              <a:srcRect/>
              <a:stretch>
                <a:fillRect/>
              </a:stretch>
            </p:blipFill>
            <p:spPr bwMode="auto">
              <a:xfrm>
                <a:off x="9006750" y="1178896"/>
                <a:ext cx="573624" cy="2097704"/>
              </a:xfrm>
              <a:prstGeom prst="rect">
                <a:avLst/>
              </a:prstGeom>
              <a:noFill/>
              <a:ln w="9525">
                <a:noFill/>
                <a:miter lim="800000"/>
                <a:headEnd/>
                <a:tailEnd/>
              </a:ln>
            </p:spPr>
          </p:pic>
        </p:grpSp>
        <p:grpSp>
          <p:nvGrpSpPr>
            <p:cNvPr id="75786" name="Group 29"/>
            <p:cNvGrpSpPr/>
            <p:nvPr/>
          </p:nvGrpSpPr>
          <p:grpSpPr bwMode="auto">
            <a:xfrm flipV="1">
              <a:off x="5413047" y="3546579"/>
              <a:ext cx="4514904" cy="2017130"/>
              <a:chOff x="4885125" y="1178896"/>
              <a:chExt cx="4695249" cy="2097704"/>
            </a:xfrm>
          </p:grpSpPr>
          <p:pic>
            <p:nvPicPr>
              <p:cNvPr id="75805" name="Picture 34" descr="Cores_3.png"/>
              <p:cNvPicPr>
                <a:picLocks noChangeAspect="1" noChangeArrowheads="1"/>
              </p:cNvPicPr>
              <p:nvPr/>
            </p:nvPicPr>
            <p:blipFill>
              <a:blip r:embed="rId6" cstate="print"/>
              <a:srcRect/>
              <a:stretch>
                <a:fillRect/>
              </a:stretch>
            </p:blipFill>
            <p:spPr bwMode="auto">
              <a:xfrm>
                <a:off x="5473929" y="1178896"/>
                <a:ext cx="573624" cy="2097704"/>
              </a:xfrm>
              <a:prstGeom prst="rect">
                <a:avLst/>
              </a:prstGeom>
              <a:noFill/>
              <a:ln w="9525">
                <a:noFill/>
                <a:miter lim="800000"/>
                <a:headEnd/>
                <a:tailEnd/>
              </a:ln>
            </p:spPr>
          </p:pic>
          <p:pic>
            <p:nvPicPr>
              <p:cNvPr id="75806" name="Picture 35" descr="Cores_3.png"/>
              <p:cNvPicPr>
                <a:picLocks noChangeAspect="1" noChangeArrowheads="1"/>
              </p:cNvPicPr>
              <p:nvPr/>
            </p:nvPicPr>
            <p:blipFill>
              <a:blip r:embed="rId6" cstate="print"/>
              <a:srcRect/>
              <a:stretch>
                <a:fillRect/>
              </a:stretch>
            </p:blipFill>
            <p:spPr bwMode="auto">
              <a:xfrm>
                <a:off x="4885125" y="1178896"/>
                <a:ext cx="573624" cy="2097704"/>
              </a:xfrm>
              <a:prstGeom prst="rect">
                <a:avLst/>
              </a:prstGeom>
              <a:noFill/>
              <a:ln w="9525">
                <a:noFill/>
                <a:miter lim="800000"/>
                <a:headEnd/>
                <a:tailEnd/>
              </a:ln>
            </p:spPr>
          </p:pic>
          <p:pic>
            <p:nvPicPr>
              <p:cNvPr id="75807" name="Picture 36" descr="Cores_3.png"/>
              <p:cNvPicPr>
                <a:picLocks noChangeAspect="1" noChangeArrowheads="1"/>
              </p:cNvPicPr>
              <p:nvPr/>
            </p:nvPicPr>
            <p:blipFill>
              <a:blip r:embed="rId6" cstate="print"/>
              <a:srcRect/>
              <a:stretch>
                <a:fillRect/>
              </a:stretch>
            </p:blipFill>
            <p:spPr bwMode="auto">
              <a:xfrm>
                <a:off x="6062733" y="1178896"/>
                <a:ext cx="573624" cy="2097704"/>
              </a:xfrm>
              <a:prstGeom prst="rect">
                <a:avLst/>
              </a:prstGeom>
              <a:noFill/>
              <a:ln w="9525">
                <a:noFill/>
                <a:miter lim="800000"/>
                <a:headEnd/>
                <a:tailEnd/>
              </a:ln>
            </p:spPr>
          </p:pic>
          <p:pic>
            <p:nvPicPr>
              <p:cNvPr id="75808" name="Picture 37" descr="Cores_3.png"/>
              <p:cNvPicPr>
                <a:picLocks noChangeAspect="1" noChangeArrowheads="1"/>
              </p:cNvPicPr>
              <p:nvPr/>
            </p:nvPicPr>
            <p:blipFill>
              <a:blip r:embed="rId6" cstate="print"/>
              <a:srcRect/>
              <a:stretch>
                <a:fillRect/>
              </a:stretch>
            </p:blipFill>
            <p:spPr bwMode="auto">
              <a:xfrm>
                <a:off x="6651537" y="1178896"/>
                <a:ext cx="573624" cy="2097704"/>
              </a:xfrm>
              <a:prstGeom prst="rect">
                <a:avLst/>
              </a:prstGeom>
              <a:noFill/>
              <a:ln w="9525">
                <a:noFill/>
                <a:miter lim="800000"/>
                <a:headEnd/>
                <a:tailEnd/>
              </a:ln>
            </p:spPr>
          </p:pic>
          <p:pic>
            <p:nvPicPr>
              <p:cNvPr id="75809" name="Picture 38" descr="Cores_3.png"/>
              <p:cNvPicPr>
                <a:picLocks noChangeAspect="1" noChangeArrowheads="1"/>
              </p:cNvPicPr>
              <p:nvPr/>
            </p:nvPicPr>
            <p:blipFill>
              <a:blip r:embed="rId6" cstate="print"/>
              <a:srcRect/>
              <a:stretch>
                <a:fillRect/>
              </a:stretch>
            </p:blipFill>
            <p:spPr bwMode="auto">
              <a:xfrm>
                <a:off x="7240341" y="1178896"/>
                <a:ext cx="573624" cy="2097704"/>
              </a:xfrm>
              <a:prstGeom prst="rect">
                <a:avLst/>
              </a:prstGeom>
              <a:noFill/>
              <a:ln w="9525">
                <a:noFill/>
                <a:miter lim="800000"/>
                <a:headEnd/>
                <a:tailEnd/>
              </a:ln>
            </p:spPr>
          </p:pic>
          <p:pic>
            <p:nvPicPr>
              <p:cNvPr id="75810" name="Picture 39" descr="Cores_3.png"/>
              <p:cNvPicPr>
                <a:picLocks noChangeAspect="1" noChangeArrowheads="1"/>
              </p:cNvPicPr>
              <p:nvPr/>
            </p:nvPicPr>
            <p:blipFill>
              <a:blip r:embed="rId6" cstate="print"/>
              <a:srcRect/>
              <a:stretch>
                <a:fillRect/>
              </a:stretch>
            </p:blipFill>
            <p:spPr bwMode="auto">
              <a:xfrm>
                <a:off x="7829145" y="1178896"/>
                <a:ext cx="573624" cy="2097704"/>
              </a:xfrm>
              <a:prstGeom prst="rect">
                <a:avLst/>
              </a:prstGeom>
              <a:noFill/>
              <a:ln w="9525">
                <a:noFill/>
                <a:miter lim="800000"/>
                <a:headEnd/>
                <a:tailEnd/>
              </a:ln>
            </p:spPr>
          </p:pic>
          <p:pic>
            <p:nvPicPr>
              <p:cNvPr id="75811" name="Picture 40" descr="Cores_3.png"/>
              <p:cNvPicPr>
                <a:picLocks noChangeAspect="1" noChangeArrowheads="1"/>
              </p:cNvPicPr>
              <p:nvPr/>
            </p:nvPicPr>
            <p:blipFill>
              <a:blip r:embed="rId6" cstate="print"/>
              <a:srcRect/>
              <a:stretch>
                <a:fillRect/>
              </a:stretch>
            </p:blipFill>
            <p:spPr bwMode="auto">
              <a:xfrm>
                <a:off x="8417949" y="1178896"/>
                <a:ext cx="573624" cy="2097704"/>
              </a:xfrm>
              <a:prstGeom prst="rect">
                <a:avLst/>
              </a:prstGeom>
              <a:noFill/>
              <a:ln w="9525">
                <a:noFill/>
                <a:miter lim="800000"/>
                <a:headEnd/>
                <a:tailEnd/>
              </a:ln>
            </p:spPr>
          </p:pic>
          <p:pic>
            <p:nvPicPr>
              <p:cNvPr id="75812" name="Picture 41" descr="Cores_3.png"/>
              <p:cNvPicPr>
                <a:picLocks noChangeAspect="1" noChangeArrowheads="1"/>
              </p:cNvPicPr>
              <p:nvPr/>
            </p:nvPicPr>
            <p:blipFill>
              <a:blip r:embed="rId6" cstate="print"/>
              <a:srcRect/>
              <a:stretch>
                <a:fillRect/>
              </a:stretch>
            </p:blipFill>
            <p:spPr bwMode="auto">
              <a:xfrm>
                <a:off x="9006750" y="1178896"/>
                <a:ext cx="573624" cy="2097704"/>
              </a:xfrm>
              <a:prstGeom prst="rect">
                <a:avLst/>
              </a:prstGeom>
              <a:noFill/>
              <a:ln w="9525">
                <a:noFill/>
                <a:miter lim="800000"/>
                <a:headEnd/>
                <a:tailEnd/>
              </a:ln>
            </p:spPr>
          </p:pic>
        </p:grpSp>
        <p:pic>
          <p:nvPicPr>
            <p:cNvPr id="75787" name="Picture 16" descr="Cores_4blue.png"/>
            <p:cNvPicPr>
              <a:picLocks noChangeAspect="1" noChangeArrowheads="1"/>
            </p:cNvPicPr>
            <p:nvPr/>
          </p:nvPicPr>
          <p:blipFill>
            <a:blip r:embed="rId7" cstate="print"/>
            <a:srcRect/>
            <a:stretch>
              <a:fillRect/>
            </a:stretch>
          </p:blipFill>
          <p:spPr bwMode="auto">
            <a:xfrm rot="-5400000">
              <a:off x="4628843" y="1401089"/>
              <a:ext cx="1091602" cy="358624"/>
            </a:xfrm>
            <a:prstGeom prst="rect">
              <a:avLst/>
            </a:prstGeom>
            <a:noFill/>
            <a:ln w="9525">
              <a:noFill/>
              <a:miter lim="800000"/>
              <a:headEnd/>
              <a:tailEnd/>
            </a:ln>
          </p:spPr>
        </p:pic>
        <p:pic>
          <p:nvPicPr>
            <p:cNvPr id="75788" name="Picture 17" descr="Cores_4blue.png"/>
            <p:cNvPicPr>
              <a:picLocks noChangeAspect="1" noChangeArrowheads="1"/>
            </p:cNvPicPr>
            <p:nvPr/>
          </p:nvPicPr>
          <p:blipFill>
            <a:blip r:embed="rId7" cstate="print"/>
            <a:srcRect/>
            <a:stretch>
              <a:fillRect/>
            </a:stretch>
          </p:blipFill>
          <p:spPr bwMode="auto">
            <a:xfrm rot="-5400000">
              <a:off x="4628843" y="4854388"/>
              <a:ext cx="1091602" cy="358624"/>
            </a:xfrm>
            <a:prstGeom prst="rect">
              <a:avLst/>
            </a:prstGeom>
            <a:noFill/>
            <a:ln w="9525">
              <a:noFill/>
              <a:miter lim="800000"/>
              <a:headEnd/>
              <a:tailEnd/>
            </a:ln>
          </p:spPr>
        </p:pic>
        <p:pic>
          <p:nvPicPr>
            <p:cNvPr id="75789" name="Picture 18" descr="Cores_4blue.png"/>
            <p:cNvPicPr>
              <a:picLocks noChangeAspect="1" noChangeArrowheads="1"/>
            </p:cNvPicPr>
            <p:nvPr/>
          </p:nvPicPr>
          <p:blipFill>
            <a:blip r:embed="rId7" cstate="print"/>
            <a:srcRect/>
            <a:stretch>
              <a:fillRect/>
            </a:stretch>
          </p:blipFill>
          <p:spPr bwMode="auto">
            <a:xfrm rot="-5400000">
              <a:off x="4628843" y="2552189"/>
              <a:ext cx="1091602" cy="358624"/>
            </a:xfrm>
            <a:prstGeom prst="rect">
              <a:avLst/>
            </a:prstGeom>
            <a:noFill/>
            <a:ln w="9525">
              <a:noFill/>
              <a:miter lim="800000"/>
              <a:headEnd/>
              <a:tailEnd/>
            </a:ln>
          </p:spPr>
        </p:pic>
        <p:pic>
          <p:nvPicPr>
            <p:cNvPr id="75790" name="Picture 19" descr="Cores_4blue.png"/>
            <p:cNvPicPr>
              <a:picLocks noChangeAspect="1" noChangeArrowheads="1"/>
            </p:cNvPicPr>
            <p:nvPr/>
          </p:nvPicPr>
          <p:blipFill>
            <a:blip r:embed="rId7" cstate="print"/>
            <a:srcRect/>
            <a:stretch>
              <a:fillRect/>
            </a:stretch>
          </p:blipFill>
          <p:spPr bwMode="auto">
            <a:xfrm rot="5400000" flipH="1">
              <a:off x="9621153" y="1401090"/>
              <a:ext cx="1091602" cy="358624"/>
            </a:xfrm>
            <a:prstGeom prst="rect">
              <a:avLst/>
            </a:prstGeom>
            <a:noFill/>
            <a:ln w="9525">
              <a:noFill/>
              <a:miter lim="800000"/>
              <a:headEnd/>
              <a:tailEnd/>
            </a:ln>
          </p:spPr>
        </p:pic>
        <p:pic>
          <p:nvPicPr>
            <p:cNvPr id="75791" name="Picture 20" descr="Cores_4blue.png"/>
            <p:cNvPicPr>
              <a:picLocks noChangeAspect="1" noChangeArrowheads="1"/>
            </p:cNvPicPr>
            <p:nvPr/>
          </p:nvPicPr>
          <p:blipFill>
            <a:blip r:embed="rId7" cstate="print"/>
            <a:srcRect/>
            <a:stretch>
              <a:fillRect/>
            </a:stretch>
          </p:blipFill>
          <p:spPr bwMode="auto">
            <a:xfrm rot="5400000" flipH="1">
              <a:off x="9621153" y="4854389"/>
              <a:ext cx="1091602" cy="358624"/>
            </a:xfrm>
            <a:prstGeom prst="rect">
              <a:avLst/>
            </a:prstGeom>
            <a:noFill/>
            <a:ln w="9525">
              <a:noFill/>
              <a:miter lim="800000"/>
              <a:headEnd/>
              <a:tailEnd/>
            </a:ln>
          </p:spPr>
        </p:pic>
        <p:pic>
          <p:nvPicPr>
            <p:cNvPr id="75792" name="Picture 21" descr="Cores_4blue.png"/>
            <p:cNvPicPr>
              <a:picLocks noChangeAspect="1" noChangeArrowheads="1"/>
            </p:cNvPicPr>
            <p:nvPr/>
          </p:nvPicPr>
          <p:blipFill>
            <a:blip r:embed="rId7" cstate="print"/>
            <a:srcRect/>
            <a:stretch>
              <a:fillRect/>
            </a:stretch>
          </p:blipFill>
          <p:spPr bwMode="auto">
            <a:xfrm rot="5400000" flipH="1">
              <a:off x="9621153" y="2552190"/>
              <a:ext cx="1091602" cy="358624"/>
            </a:xfrm>
            <a:prstGeom prst="rect">
              <a:avLst/>
            </a:prstGeom>
            <a:noFill/>
            <a:ln w="9525">
              <a:noFill/>
              <a:miter lim="800000"/>
              <a:headEnd/>
              <a:tailEnd/>
            </a:ln>
          </p:spPr>
        </p:pic>
        <p:pic>
          <p:nvPicPr>
            <p:cNvPr id="75793" name="Picture 22" descr="Cores_4blue.png"/>
            <p:cNvPicPr>
              <a:picLocks noChangeAspect="1" noChangeArrowheads="1"/>
            </p:cNvPicPr>
            <p:nvPr/>
          </p:nvPicPr>
          <p:blipFill>
            <a:blip r:embed="rId7" cstate="print"/>
            <a:srcRect/>
            <a:stretch>
              <a:fillRect/>
            </a:stretch>
          </p:blipFill>
          <p:spPr bwMode="auto">
            <a:xfrm rot="5400000" flipH="1">
              <a:off x="9621153" y="3703290"/>
              <a:ext cx="1091602" cy="358624"/>
            </a:xfrm>
            <a:prstGeom prst="rect">
              <a:avLst/>
            </a:prstGeom>
            <a:noFill/>
            <a:ln w="9525">
              <a:noFill/>
              <a:miter lim="800000"/>
              <a:headEnd/>
              <a:tailEnd/>
            </a:ln>
          </p:spPr>
        </p:pic>
        <p:pic>
          <p:nvPicPr>
            <p:cNvPr id="75794" name="Picture 23" descr="Cores_4longblue.png"/>
            <p:cNvPicPr>
              <a:picLocks noChangeAspect="1" noChangeArrowheads="1"/>
            </p:cNvPicPr>
            <p:nvPr/>
          </p:nvPicPr>
          <p:blipFill>
            <a:blip r:embed="rId8" cstate="print"/>
            <a:srcRect t="45255" r="3709" b="41501"/>
            <a:stretch>
              <a:fillRect/>
            </a:stretch>
          </p:blipFill>
          <p:spPr bwMode="auto">
            <a:xfrm>
              <a:off x="5371173" y="3065649"/>
              <a:ext cx="4579583" cy="472447"/>
            </a:xfrm>
            <a:prstGeom prst="rect">
              <a:avLst/>
            </a:prstGeom>
            <a:noFill/>
            <a:ln w="9525">
              <a:noFill/>
              <a:miter lim="800000"/>
              <a:headEnd/>
              <a:tailEnd/>
            </a:ln>
          </p:spPr>
        </p:pic>
        <p:pic>
          <p:nvPicPr>
            <p:cNvPr id="75795" name="Picture 24" descr="Half_Gloss.png"/>
            <p:cNvPicPr>
              <a:picLocks noChangeAspect="1" noChangeArrowheads="1"/>
            </p:cNvPicPr>
            <p:nvPr/>
          </p:nvPicPr>
          <p:blipFill>
            <a:blip r:embed="rId9" cstate="print"/>
            <a:srcRect l="29443" t="17332" r="20778" b="17482"/>
            <a:stretch>
              <a:fillRect/>
            </a:stretch>
          </p:blipFill>
          <p:spPr bwMode="auto">
            <a:xfrm>
              <a:off x="5347886" y="1004243"/>
              <a:ext cx="4587341" cy="4505425"/>
            </a:xfrm>
            <a:prstGeom prst="rect">
              <a:avLst/>
            </a:prstGeom>
            <a:noFill/>
            <a:ln w="9525">
              <a:noFill/>
              <a:miter lim="800000"/>
              <a:headEnd/>
              <a:tailEnd/>
            </a:ln>
          </p:spPr>
        </p:pic>
        <p:sp>
          <p:nvSpPr>
            <p:cNvPr id="118" name="TextBox 117"/>
            <p:cNvSpPr txBox="1"/>
            <p:nvPr/>
          </p:nvSpPr>
          <p:spPr>
            <a:xfrm rot="16200000">
              <a:off x="4624350" y="1322951"/>
              <a:ext cx="1093212" cy="503038"/>
            </a:xfrm>
            <a:prstGeom prst="rect">
              <a:avLst/>
            </a:prstGeom>
            <a:noFill/>
          </p:spPr>
          <p:txBody>
            <a:bodyPr>
              <a:spAutoFit/>
            </a:bodyPr>
            <a:lstStyle/>
            <a:p>
              <a:pPr algn="ctr">
                <a:defRPr/>
              </a:pPr>
              <a:r>
                <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DRAM I/F</a:t>
              </a:r>
              <a:endPar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19" name="TextBox 118"/>
            <p:cNvSpPr txBox="1"/>
            <p:nvPr/>
          </p:nvSpPr>
          <p:spPr>
            <a:xfrm rot="16200000">
              <a:off x="4624350" y="2497141"/>
              <a:ext cx="1093212" cy="503038"/>
            </a:xfrm>
            <a:prstGeom prst="rect">
              <a:avLst/>
            </a:prstGeom>
            <a:noFill/>
          </p:spPr>
          <p:txBody>
            <a:bodyPr>
              <a:spAutoFit/>
            </a:bodyPr>
            <a:lstStyle/>
            <a:p>
              <a:pPr algn="ctr">
                <a:defRPr/>
              </a:pPr>
              <a:r>
                <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HOST I/F</a:t>
              </a:r>
              <a:endPar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20" name="TextBox 119"/>
            <p:cNvSpPr txBox="1"/>
            <p:nvPr/>
          </p:nvSpPr>
          <p:spPr>
            <a:xfrm rot="16200000">
              <a:off x="4439898" y="3757603"/>
              <a:ext cx="1462115" cy="281008"/>
            </a:xfrm>
            <a:prstGeom prst="rect">
              <a:avLst/>
            </a:prstGeom>
            <a:noFill/>
          </p:spPr>
          <p:txBody>
            <a:bodyPr>
              <a:spAutoFit/>
            </a:bodyPr>
            <a:lstStyle/>
            <a:p>
              <a:pPr algn="ctr">
                <a:lnSpc>
                  <a:spcPct val="90000"/>
                </a:lnSpc>
                <a:defRPr/>
              </a:pPr>
              <a:r>
                <a:rPr kumimoji="1" lang="en-US" sz="1200" kern="1100" spc="-50" dirty="0">
                  <a:solidFill>
                    <a:schemeClr val="bg1"/>
                  </a:solidFill>
                  <a:latin typeface="Arial" panose="02080604020202020204" pitchFamily="34" charset="0"/>
                  <a:ea typeface="+mn-ea"/>
                  <a:cs typeface="Arial" panose="02080604020202020204" pitchFamily="34" charset="0"/>
                </a:rPr>
                <a:t>Giga Thread</a:t>
              </a:r>
              <a:endParaRPr kumimoji="1" lang="en-US" sz="1200" kern="1100" spc="-50" dirty="0">
                <a:solidFill>
                  <a:schemeClr val="bg1"/>
                </a:solidFill>
                <a:latin typeface="Arial" panose="02080604020202020204" pitchFamily="34" charset="0"/>
                <a:ea typeface="+mn-ea"/>
                <a:cs typeface="Arial" panose="02080604020202020204" pitchFamily="34" charset="0"/>
              </a:endParaRPr>
            </a:p>
          </p:txBody>
        </p:sp>
        <p:sp>
          <p:nvSpPr>
            <p:cNvPr id="121" name="TextBox 120"/>
            <p:cNvSpPr txBox="1"/>
            <p:nvPr/>
          </p:nvSpPr>
          <p:spPr>
            <a:xfrm rot="16200000">
              <a:off x="4623226" y="4797159"/>
              <a:ext cx="1095461" cy="503038"/>
            </a:xfrm>
            <a:prstGeom prst="rect">
              <a:avLst/>
            </a:prstGeom>
            <a:noFill/>
          </p:spPr>
          <p:txBody>
            <a:bodyPr>
              <a:spAutoFit/>
            </a:bodyPr>
            <a:lstStyle/>
            <a:p>
              <a:pPr algn="ctr">
                <a:defRPr/>
              </a:pPr>
              <a:r>
                <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DRAM I/F</a:t>
              </a:r>
              <a:endPar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22" name="TextBox 121"/>
            <p:cNvSpPr txBox="1"/>
            <p:nvPr/>
          </p:nvSpPr>
          <p:spPr>
            <a:xfrm rot="5400000">
              <a:off x="9600960" y="4789285"/>
              <a:ext cx="1093212" cy="503038"/>
            </a:xfrm>
            <a:prstGeom prst="rect">
              <a:avLst/>
            </a:prstGeom>
            <a:noFill/>
          </p:spPr>
          <p:txBody>
            <a:bodyPr>
              <a:spAutoFit/>
            </a:bodyPr>
            <a:lstStyle/>
            <a:p>
              <a:pPr algn="ctr">
                <a:defRPr/>
              </a:pPr>
              <a:r>
                <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DRAM I/F</a:t>
              </a:r>
              <a:endPar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23" name="TextBox 122"/>
            <p:cNvSpPr txBox="1"/>
            <p:nvPr/>
          </p:nvSpPr>
          <p:spPr>
            <a:xfrm rot="5400000">
              <a:off x="9600960" y="3646586"/>
              <a:ext cx="1093212" cy="503038"/>
            </a:xfrm>
            <a:prstGeom prst="rect">
              <a:avLst/>
            </a:prstGeom>
            <a:noFill/>
          </p:spPr>
          <p:txBody>
            <a:bodyPr>
              <a:spAutoFit/>
            </a:bodyPr>
            <a:lstStyle/>
            <a:p>
              <a:pPr algn="ctr">
                <a:defRPr/>
              </a:pPr>
              <a:r>
                <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DRAM I/F</a:t>
              </a:r>
              <a:endPar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24" name="TextBox 123"/>
            <p:cNvSpPr txBox="1"/>
            <p:nvPr/>
          </p:nvSpPr>
          <p:spPr>
            <a:xfrm rot="5400000">
              <a:off x="9600960" y="2481393"/>
              <a:ext cx="1093212" cy="503038"/>
            </a:xfrm>
            <a:prstGeom prst="rect">
              <a:avLst/>
            </a:prstGeom>
            <a:noFill/>
          </p:spPr>
          <p:txBody>
            <a:bodyPr>
              <a:spAutoFit/>
            </a:bodyPr>
            <a:lstStyle/>
            <a:p>
              <a:pPr algn="ctr">
                <a:defRPr/>
              </a:pPr>
              <a:r>
                <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DRAM I/F</a:t>
              </a:r>
              <a:endPar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25" name="TextBox 124"/>
            <p:cNvSpPr txBox="1"/>
            <p:nvPr/>
          </p:nvSpPr>
          <p:spPr>
            <a:xfrm rot="5400000">
              <a:off x="9599835" y="1330822"/>
              <a:ext cx="1095462" cy="503038"/>
            </a:xfrm>
            <a:prstGeom prst="rect">
              <a:avLst/>
            </a:prstGeom>
            <a:noFill/>
          </p:spPr>
          <p:txBody>
            <a:bodyPr>
              <a:spAutoFit/>
            </a:bodyPr>
            <a:lstStyle/>
            <a:p>
              <a:pPr algn="ctr">
                <a:defRPr/>
              </a:pPr>
              <a:r>
                <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DRAM I/F</a:t>
              </a:r>
              <a:endPar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sp>
          <p:nvSpPr>
            <p:cNvPr id="126" name="TextBox 125"/>
            <p:cNvSpPr txBox="1"/>
            <p:nvPr/>
          </p:nvSpPr>
          <p:spPr>
            <a:xfrm>
              <a:off x="5412935" y="3150177"/>
              <a:ext cx="4509999" cy="390497"/>
            </a:xfrm>
            <a:prstGeom prst="rect">
              <a:avLst/>
            </a:prstGeom>
            <a:noFill/>
          </p:spPr>
          <p:txBody>
            <a:bodyPr>
              <a:spAutoFit/>
            </a:bodyPr>
            <a:lstStyle/>
            <a:p>
              <a:pPr algn="ctr">
                <a:defRPr/>
              </a:pPr>
              <a:r>
                <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rPr>
                <a:t>L2</a:t>
              </a:r>
              <a:endParaRPr kumimoji="1" lang="en-US" sz="1200" dirty="0">
                <a:effectLst>
                  <a:outerShdw blurRad="38100" dist="38100" dir="2700000" algn="tl">
                    <a:srgbClr val="000000">
                      <a:alpha val="43137"/>
                    </a:srgbClr>
                  </a:outerShdw>
                </a:effectLst>
                <a:latin typeface="Arial" panose="02080604020202020204" pitchFamily="34" charset="0"/>
                <a:ea typeface="+mn-ea"/>
                <a:cs typeface="Arial" panose="02080604020202020204" pitchFamily="34" charset="0"/>
              </a:endParaRPr>
            </a:p>
          </p:txBody>
        </p:sp>
      </p:gr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5"/>
          <p:cNvSpPr txBox="1">
            <a:spLocks noChangeArrowheads="1"/>
          </p:cNvSpPr>
          <p:nvPr/>
        </p:nvSpPr>
        <p:spPr bwMode="auto">
          <a:xfrm>
            <a:off x="1202056" y="95250"/>
            <a:ext cx="9786937" cy="450850"/>
          </a:xfrm>
          <a:prstGeom prst="rect">
            <a:avLst/>
          </a:prstGeom>
          <a:noFill/>
          <a:ln w="9525">
            <a:noFill/>
            <a:miter lim="800000"/>
          </a:ln>
        </p:spPr>
        <p:txBody>
          <a:bodyPr anchor="ctr">
            <a:spAutoFit/>
          </a:bodyPr>
          <a:lstStyle/>
          <a:p>
            <a:pPr algn="ctr">
              <a:lnSpc>
                <a:spcPct val="90000"/>
              </a:lnSpc>
            </a:pPr>
            <a:r>
              <a:rPr lang="zh-CN" altLang="en-US" sz="2600">
                <a:solidFill>
                  <a:srgbClr val="FF0000"/>
                </a:solidFill>
                <a:latin typeface="黑体" panose="02000500000000000000" pitchFamily="49" charset="-122"/>
                <a:ea typeface="黑体" panose="02000500000000000000" pitchFamily="49" charset="-122"/>
                <a:cs typeface="Times New Roman" pitchFamily="18" charset="0"/>
              </a:rPr>
              <a:t>龙芯</a:t>
            </a:r>
            <a:r>
              <a:rPr lang="en-US" altLang="zh-CN" sz="2600">
                <a:solidFill>
                  <a:srgbClr val="FF0000"/>
                </a:solidFill>
                <a:latin typeface="黑体" panose="02000500000000000000" pitchFamily="49" charset="-122"/>
                <a:ea typeface="黑体" panose="02000500000000000000" pitchFamily="49" charset="-122"/>
                <a:cs typeface="Times New Roman" pitchFamily="18" charset="0"/>
              </a:rPr>
              <a:t>9A2000 GPGPU</a:t>
            </a:r>
            <a:r>
              <a:rPr lang="zh-CN" altLang="en-US" sz="2600">
                <a:solidFill>
                  <a:srgbClr val="FF0000"/>
                </a:solidFill>
                <a:latin typeface="黑体" panose="02000500000000000000" pitchFamily="49" charset="-122"/>
                <a:ea typeface="黑体" panose="02000500000000000000" pitchFamily="49" charset="-122"/>
                <a:cs typeface="Times New Roman" pitchFamily="18" charset="0"/>
              </a:rPr>
              <a:t>：整体架构设计</a:t>
            </a:r>
            <a:endParaRPr lang="zh-CN" altLang="en-US" sz="2600">
              <a:solidFill>
                <a:srgbClr val="FF0000"/>
              </a:solidFill>
              <a:latin typeface="黑体" panose="02000500000000000000" pitchFamily="49" charset="-122"/>
              <a:ea typeface="黑体" panose="02000500000000000000" pitchFamily="49" charset="-122"/>
              <a:cs typeface="Times New Roman" pitchFamily="18" charset="0"/>
            </a:endParaRPr>
          </a:p>
        </p:txBody>
      </p:sp>
      <p:sp>
        <p:nvSpPr>
          <p:cNvPr id="2" name="文本框 1"/>
          <p:cNvSpPr txBox="1">
            <a:spLocks noChangeArrowheads="1"/>
          </p:cNvSpPr>
          <p:nvPr/>
        </p:nvSpPr>
        <p:spPr bwMode="auto">
          <a:xfrm>
            <a:off x="247968" y="1008063"/>
            <a:ext cx="11442700" cy="998855"/>
          </a:xfrm>
          <a:prstGeom prst="rect">
            <a:avLst/>
          </a:prstGeom>
          <a:noFill/>
          <a:ln w="9525">
            <a:noFill/>
            <a:miter lim="800000"/>
          </a:ln>
        </p:spPr>
        <p:txBody>
          <a:bodyPr>
            <a:spAutoFit/>
          </a:bodyPr>
          <a:lstStyle/>
          <a:p>
            <a:pPr marL="285750" indent="-285750">
              <a:lnSpc>
                <a:spcPct val="150000"/>
              </a:lnSpc>
              <a:spcBef>
                <a:spcPts val="600"/>
              </a:spcBef>
              <a:buFont typeface="Arial" panose="02080604020202020204" pitchFamily="34" charset="0"/>
              <a:buChar char="•"/>
              <a:defRPr/>
            </a:pPr>
            <a:r>
              <a:rPr lang="en-US" altLang="zh-CN" sz="2000" b="1" dirty="0">
                <a:latin typeface="宋体" panose="02000500000000000000" pitchFamily="2" charset="-122"/>
                <a:ea typeface="宋体" panose="02000500000000000000" pitchFamily="2" charset="-122"/>
                <a:cs typeface="宋体" panose="02000500000000000000" pitchFamily="2" charset="-122"/>
              </a:rPr>
              <a:t>IP</a:t>
            </a:r>
            <a:r>
              <a:rPr lang="zh-CN" altLang="en-US" sz="2000" b="1" dirty="0">
                <a:latin typeface="宋体" panose="02000500000000000000" pitchFamily="2" charset="-122"/>
                <a:ea typeface="宋体" panose="02000500000000000000" pitchFamily="2" charset="-122"/>
                <a:cs typeface="宋体" panose="02000500000000000000" pitchFamily="2" charset="-122"/>
              </a:rPr>
              <a:t>均自主研发</a:t>
            </a:r>
            <a:endParaRPr lang="en-US" altLang="zh-CN"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nSpc>
                <a:spcPct val="150000"/>
              </a:lnSpc>
              <a:spcBef>
                <a:spcPts val="600"/>
              </a:spcBef>
              <a:buFont typeface="Arial" panose="02080604020202020204" pitchFamily="34" charset="0"/>
              <a:buChar char="•"/>
              <a:defRPr/>
            </a:pPr>
            <a:r>
              <a:rPr lang="en-US" altLang="zh-CN" sz="1600" b="1" dirty="0">
                <a:latin typeface="宋体" panose="02000500000000000000" pitchFamily="2" charset="-122"/>
                <a:ea typeface="宋体" panose="02000500000000000000" pitchFamily="2" charset="-122"/>
                <a:cs typeface="宋体" panose="02000500000000000000" pitchFamily="2" charset="-122"/>
              </a:rPr>
              <a:t>LG210 GPGPU</a:t>
            </a:r>
            <a:r>
              <a:rPr lang="zh-CN" altLang="en-US" sz="1600" b="1" dirty="0">
                <a:latin typeface="宋体" panose="02000500000000000000" pitchFamily="2" charset="-122"/>
                <a:ea typeface="宋体" panose="02000500000000000000" pitchFamily="2" charset="-122"/>
                <a:cs typeface="宋体" panose="02000500000000000000" pitchFamily="2" charset="-122"/>
              </a:rPr>
              <a:t>、</a:t>
            </a:r>
            <a:r>
              <a:rPr lang="en-US" altLang="zh-CN" sz="1600" b="1" dirty="0">
                <a:latin typeface="宋体" panose="02000500000000000000" pitchFamily="2" charset="-122"/>
                <a:ea typeface="宋体" panose="02000500000000000000" pitchFamily="2" charset="-122"/>
                <a:cs typeface="宋体" panose="02000500000000000000" pitchFamily="2" charset="-122"/>
              </a:rPr>
              <a:t>PCIE</a:t>
            </a:r>
            <a:r>
              <a:rPr lang="zh-CN" altLang="en-US" sz="1600" b="1" dirty="0">
                <a:latin typeface="宋体" panose="02000500000000000000" pitchFamily="2" charset="-122"/>
                <a:ea typeface="宋体" panose="02000500000000000000" pitchFamily="2" charset="-122"/>
                <a:cs typeface="宋体" panose="02000500000000000000" pitchFamily="2" charset="-122"/>
              </a:rPr>
              <a:t>、</a:t>
            </a:r>
            <a:r>
              <a:rPr lang="en-US" altLang="zh-CN" sz="1600" b="1" dirty="0">
                <a:latin typeface="宋体" panose="02000500000000000000" pitchFamily="2" charset="-122"/>
                <a:ea typeface="宋体" panose="02000500000000000000" pitchFamily="2" charset="-122"/>
                <a:cs typeface="宋体" panose="02000500000000000000" pitchFamily="2" charset="-122"/>
              </a:rPr>
              <a:t>LPDDR4</a:t>
            </a:r>
            <a:r>
              <a:rPr lang="zh-CN" altLang="en-US" sz="1600" b="1" dirty="0">
                <a:latin typeface="宋体" panose="02000500000000000000" pitchFamily="2" charset="-122"/>
                <a:ea typeface="宋体" panose="02000500000000000000" pitchFamily="2" charset="-122"/>
                <a:cs typeface="宋体" panose="02000500000000000000" pitchFamily="2" charset="-122"/>
              </a:rPr>
              <a:t>、</a:t>
            </a:r>
            <a:r>
              <a:rPr lang="en-US" altLang="zh-CN" sz="1600" b="1" dirty="0">
                <a:latin typeface="宋体" panose="02000500000000000000" pitchFamily="2" charset="-122"/>
                <a:ea typeface="宋体" panose="02000500000000000000" pitchFamily="2" charset="-122"/>
                <a:cs typeface="宋体" panose="02000500000000000000" pitchFamily="2" charset="-122"/>
              </a:rPr>
              <a:t>DC</a:t>
            </a:r>
            <a:r>
              <a:rPr lang="zh-CN" altLang="en-US" sz="1600" b="1" dirty="0">
                <a:latin typeface="宋体" panose="02000500000000000000" pitchFamily="2" charset="-122"/>
                <a:ea typeface="宋体" panose="02000500000000000000" pitchFamily="2" charset="-122"/>
                <a:cs typeface="宋体" panose="02000500000000000000" pitchFamily="2" charset="-122"/>
              </a:rPr>
              <a:t>、</a:t>
            </a:r>
            <a:r>
              <a:rPr lang="en-US" altLang="zh-CN" sz="1600" b="1" dirty="0">
                <a:latin typeface="宋体" panose="02000500000000000000" pitchFamily="2" charset="-122"/>
                <a:ea typeface="宋体" panose="02000500000000000000" pitchFamily="2" charset="-122"/>
                <a:cs typeface="宋体" panose="02000500000000000000" pitchFamily="2" charset="-122"/>
              </a:rPr>
              <a:t>HDA</a:t>
            </a:r>
            <a:r>
              <a:rPr lang="zh-CN" altLang="en-US" sz="1600" b="1" dirty="0">
                <a:latin typeface="宋体" panose="02000500000000000000" pitchFamily="2" charset="-122"/>
                <a:ea typeface="宋体" panose="02000500000000000000" pitchFamily="2" charset="-122"/>
                <a:cs typeface="宋体" panose="02000500000000000000" pitchFamily="2" charset="-122"/>
              </a:rPr>
              <a:t>、</a:t>
            </a:r>
            <a:r>
              <a:rPr lang="en-US" altLang="zh-CN" sz="1600" b="1" dirty="0">
                <a:latin typeface="宋体" panose="02000500000000000000" pitchFamily="2" charset="-122"/>
                <a:ea typeface="宋体" panose="02000500000000000000" pitchFamily="2" charset="-122"/>
                <a:cs typeface="宋体" panose="02000500000000000000" pitchFamily="2" charset="-122"/>
              </a:rPr>
              <a:t>……</a:t>
            </a:r>
            <a:endParaRPr lang="en-US" altLang="zh-CN" sz="1600" b="1" dirty="0">
              <a:latin typeface="宋体" panose="02000500000000000000" pitchFamily="2" charset="-122"/>
              <a:ea typeface="宋体" panose="02000500000000000000" pitchFamily="2" charset="-122"/>
              <a:cs typeface="宋体" panose="02000500000000000000" pitchFamily="2" charset="-122"/>
            </a:endParaRPr>
          </a:p>
        </p:txBody>
      </p:sp>
      <p:pic>
        <p:nvPicPr>
          <p:cNvPr id="43" name="内容占位符 4"/>
          <p:cNvPicPr>
            <a:picLocks noChangeAspect="1"/>
          </p:cNvPicPr>
          <p:nvPr/>
        </p:nvPicPr>
        <p:blipFill>
          <a:blip r:embed="rId1" cstate="print"/>
          <a:srcRect/>
          <a:stretch>
            <a:fillRect/>
          </a:stretch>
        </p:blipFill>
        <p:spPr bwMode="auto">
          <a:xfrm>
            <a:off x="3315018" y="2152650"/>
            <a:ext cx="5553075" cy="44942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down)">
                                      <p:cBhvr>
                                        <p:cTn id="12" dur="500"/>
                                        <p:tgtEl>
                                          <p:spTgt spid="2">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down)">
                                      <p:cBhvr>
                                        <p:cTn id="1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nvSpPr>
        <p:spPr bwMode="auto">
          <a:xfrm>
            <a:off x="318" y="-26988"/>
            <a:ext cx="12190413" cy="971551"/>
          </a:xfrm>
          <a:prstGeom prst="rect">
            <a:avLst/>
          </a:prstGeom>
          <a:noFill/>
          <a:ln w="9525">
            <a:noFill/>
            <a:miter lim="800000"/>
          </a:ln>
        </p:spPr>
        <p:txBody>
          <a:bodyPr lIns="90000" tIns="46800" rIns="90000" bIns="46800" anchor="ctr"/>
          <a:lstStyle/>
          <a:p>
            <a:pPr algn="ctr" defTabSz="449580" eaLnBrk="0" hangingPunct="0">
              <a:buSzPct val="100000"/>
              <a:buFont typeface="Times New Roman" pitchFamily="18" charset="0"/>
              <a:buNone/>
            </a:pPr>
            <a:r>
              <a:rPr lang="zh-CN" altLang="en-US" sz="4000">
                <a:solidFill>
                  <a:srgbClr val="FF0000"/>
                </a:solidFill>
                <a:latin typeface="黑体" panose="02000500000000000000" pitchFamily="49" charset="-122"/>
                <a:ea typeface="黑体" panose="02000500000000000000" pitchFamily="49" charset="-122"/>
              </a:rPr>
              <a:t>关键核心技术：</a:t>
            </a:r>
            <a:r>
              <a:rPr lang="en-GB" altLang="zh-CN" sz="4000">
                <a:solidFill>
                  <a:srgbClr val="FF0000"/>
                </a:solidFill>
                <a:latin typeface="黑体" panose="02000500000000000000" pitchFamily="49" charset="-122"/>
                <a:ea typeface="黑体" panose="02000500000000000000" pitchFamily="49" charset="-122"/>
              </a:rPr>
              <a:t>GPGPU</a:t>
            </a:r>
            <a:r>
              <a:rPr lang="zh-CN" altLang="en-US" sz="4000">
                <a:solidFill>
                  <a:srgbClr val="FF0000"/>
                </a:solidFill>
                <a:latin typeface="黑体" panose="02000500000000000000" pitchFamily="49" charset="-122"/>
                <a:ea typeface="黑体" panose="02000500000000000000" pitchFamily="49" charset="-122"/>
              </a:rPr>
              <a:t>架构设计</a:t>
            </a:r>
            <a:endParaRPr lang="zh-CN" altLang="en-US" sz="4000">
              <a:solidFill>
                <a:srgbClr val="FF0000"/>
              </a:solidFill>
              <a:latin typeface="黑体" panose="02000500000000000000" pitchFamily="49" charset="-122"/>
              <a:ea typeface="黑体" panose="02000500000000000000" pitchFamily="49" charset="-122"/>
            </a:endParaRPr>
          </a:p>
        </p:txBody>
      </p:sp>
      <p:sp>
        <p:nvSpPr>
          <p:cNvPr id="4" name="文本框 1"/>
          <p:cNvSpPr txBox="1">
            <a:spLocks noChangeArrowheads="1"/>
          </p:cNvSpPr>
          <p:nvPr/>
        </p:nvSpPr>
        <p:spPr bwMode="auto">
          <a:xfrm>
            <a:off x="894081" y="944563"/>
            <a:ext cx="4538662" cy="5954395"/>
          </a:xfrm>
          <a:prstGeom prst="rect">
            <a:avLst/>
          </a:prstGeom>
          <a:noFill/>
          <a:ln w="9525">
            <a:noFill/>
            <a:miter lim="800000"/>
          </a:ln>
        </p:spPr>
        <p:txBody>
          <a:bodyPr>
            <a:spAutoFit/>
          </a:bodyPr>
          <a:lstStyle/>
          <a:p>
            <a:pPr marL="285750" indent="-285750" defTabSz="449580">
              <a:lnSpc>
                <a:spcPct val="150000"/>
              </a:lnSpc>
              <a:buSzPct val="100000"/>
              <a:buFont typeface="Arial" panose="02080604020202020204" pitchFamily="34" charset="0"/>
              <a:buChar char="•"/>
            </a:pPr>
            <a:r>
              <a:rPr lang="zh-CN" altLang="en-US" sz="1800" b="1" dirty="0">
                <a:latin typeface="宋体" panose="02000500000000000000" pitchFamily="2" charset="-122"/>
                <a:ea typeface="宋体" panose="02000500000000000000" pitchFamily="2" charset="-122"/>
                <a:cs typeface="宋体" panose="02000500000000000000" pitchFamily="2" charset="-122"/>
              </a:rPr>
              <a:t>每个硅片包含</a:t>
            </a:r>
            <a:r>
              <a:rPr lang="en-US" altLang="zh-CN" sz="1800" b="1" dirty="0">
                <a:solidFill>
                  <a:srgbClr val="FF0000"/>
                </a:solidFill>
                <a:latin typeface="宋体" panose="02000500000000000000" pitchFamily="2" charset="-122"/>
                <a:ea typeface="宋体" panose="02000500000000000000" pitchFamily="2" charset="-122"/>
                <a:cs typeface="宋体" panose="02000500000000000000" pitchFamily="2" charset="-122"/>
              </a:rPr>
              <a:t>X</a:t>
            </a:r>
            <a:r>
              <a:rPr lang="zh-CN" altLang="en-US" sz="1800" b="1" dirty="0">
                <a:solidFill>
                  <a:srgbClr val="FF0000"/>
                </a:solidFill>
                <a:latin typeface="宋体" panose="02000500000000000000" pitchFamily="2" charset="-122"/>
                <a:ea typeface="宋体" panose="02000500000000000000" pitchFamily="2" charset="-122"/>
                <a:cs typeface="宋体" panose="02000500000000000000" pitchFamily="2" charset="-122"/>
              </a:rPr>
              <a:t>个</a:t>
            </a:r>
            <a:r>
              <a:rPr lang="en-US" altLang="zh-CN" sz="1800" b="1" dirty="0">
                <a:solidFill>
                  <a:srgbClr val="FF0000"/>
                </a:solidFill>
                <a:latin typeface="宋体" panose="02000500000000000000" pitchFamily="2" charset="-122"/>
                <a:ea typeface="宋体" panose="02000500000000000000" pitchFamily="2" charset="-122"/>
                <a:cs typeface="宋体" panose="02000500000000000000" pitchFamily="2" charset="-122"/>
              </a:rPr>
              <a:t>GPC</a:t>
            </a:r>
            <a:r>
              <a:rPr lang="zh-CN" altLang="en-US" sz="1800" b="1" dirty="0">
                <a:latin typeface="宋体" panose="02000500000000000000" pitchFamily="2" charset="-122"/>
                <a:ea typeface="宋体" panose="02000500000000000000" pitchFamily="2" charset="-122"/>
                <a:cs typeface="宋体" panose="02000500000000000000" pitchFamily="2" charset="-122"/>
              </a:rPr>
              <a:t>，多层次互连</a:t>
            </a:r>
            <a:endParaRPr lang="en-US" altLang="zh-CN" sz="1800" b="1" dirty="0">
              <a:latin typeface="宋体" panose="02000500000000000000" pitchFamily="2" charset="-122"/>
              <a:ea typeface="宋体" panose="02000500000000000000" pitchFamily="2" charset="-122"/>
              <a:cs typeface="宋体" panose="02000500000000000000" pitchFamily="2" charset="-122"/>
            </a:endParaRPr>
          </a:p>
          <a:p>
            <a:pPr marL="742950" lvl="1" indent="-285750" defTabSz="449580">
              <a:lnSpc>
                <a:spcPct val="150000"/>
              </a:lnSpc>
              <a:buSzPct val="100000"/>
              <a:buFont typeface="Arial" panose="02080604020202020204" pitchFamily="34" charset="0"/>
              <a:buChar char="•"/>
            </a:pPr>
            <a:r>
              <a:rPr lang="en-US" altLang="zh-CN" sz="1400" b="1" dirty="0">
                <a:latin typeface="宋体" panose="02000500000000000000" pitchFamily="2" charset="-122"/>
                <a:ea typeface="宋体" panose="02000500000000000000" pitchFamily="2" charset="-122"/>
                <a:cs typeface="宋体" panose="02000500000000000000" pitchFamily="2" charset="-122"/>
                <a:sym typeface="+mn-ea"/>
              </a:rPr>
              <a:t>L1Network：连接GPCs</a:t>
            </a:r>
            <a:endParaRPr lang="en-US" altLang="zh-CN"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defTabSz="449580">
              <a:lnSpc>
                <a:spcPct val="150000"/>
              </a:lnSpc>
              <a:buSzPct val="100000"/>
              <a:buFont typeface="Arial" panose="02080604020202020204" pitchFamily="34" charset="0"/>
              <a:buChar char="•"/>
            </a:pPr>
            <a:r>
              <a:rPr lang="en-US" altLang="zh-CN" sz="1400" b="1" dirty="0">
                <a:latin typeface="宋体" panose="02000500000000000000" pitchFamily="2" charset="-122"/>
                <a:ea typeface="宋体" panose="02000500000000000000" pitchFamily="2" charset="-122"/>
                <a:cs typeface="宋体" panose="02000500000000000000" pitchFamily="2" charset="-122"/>
                <a:sym typeface="+mn-ea"/>
              </a:rPr>
              <a:t>L2Network：连接L2 </a:t>
            </a:r>
            <a:r>
              <a:rPr lang="en-US" altLang="zh-CN" sz="1400" b="1" dirty="0" err="1">
                <a:latin typeface="宋体" panose="02000500000000000000" pitchFamily="2" charset="-122"/>
                <a:ea typeface="宋体" panose="02000500000000000000" pitchFamily="2" charset="-122"/>
                <a:cs typeface="宋体" panose="02000500000000000000" pitchFamily="2" charset="-122"/>
                <a:sym typeface="+mn-ea"/>
              </a:rPr>
              <a:t>Cache和顶层模块</a:t>
            </a:r>
            <a:endParaRPr lang="en-US" altLang="zh-CN" sz="1400" b="1" dirty="0">
              <a:latin typeface="宋体" panose="02000500000000000000" pitchFamily="2" charset="-122"/>
              <a:ea typeface="宋体" panose="02000500000000000000" pitchFamily="2" charset="-122"/>
              <a:cs typeface="宋体" panose="02000500000000000000" pitchFamily="2" charset="-122"/>
              <a:sym typeface="+mn-ea"/>
            </a:endParaRPr>
          </a:p>
          <a:p>
            <a:pPr marL="742950" lvl="1" indent="-285750" defTabSz="449580">
              <a:lnSpc>
                <a:spcPct val="150000"/>
              </a:lnSpc>
              <a:buSzPct val="100000"/>
              <a:buFont typeface="Arial" panose="02080604020202020204" pitchFamily="34" charset="0"/>
              <a:buChar char="•"/>
            </a:pPr>
            <a:r>
              <a:rPr lang="en-US" altLang="zh-CN" sz="1400" b="1" dirty="0" err="1">
                <a:latin typeface="宋体" panose="02000500000000000000" pitchFamily="2" charset="-122"/>
                <a:ea typeface="宋体" panose="02000500000000000000" pitchFamily="2" charset="-122"/>
                <a:cs typeface="宋体" panose="02000500000000000000" pitchFamily="2" charset="-122"/>
                <a:sym typeface="+mn-ea"/>
              </a:rPr>
              <a:t>LoongLink</a:t>
            </a:r>
            <a:r>
              <a:rPr lang="zh-CN" altLang="en-US" sz="1400" b="1" dirty="0">
                <a:latin typeface="宋体" panose="02000500000000000000" pitchFamily="2" charset="-122"/>
                <a:ea typeface="宋体" panose="02000500000000000000" pitchFamily="2" charset="-122"/>
                <a:cs typeface="宋体" panose="02000500000000000000" pitchFamily="2" charset="-122"/>
                <a:sym typeface="+mn-ea"/>
              </a:rPr>
              <a:t>：片间互连，连接到</a:t>
            </a:r>
            <a:r>
              <a:rPr lang="en-US" altLang="zh-CN" sz="1400" b="1" dirty="0">
                <a:latin typeface="宋体" panose="02000500000000000000" pitchFamily="2" charset="-122"/>
                <a:ea typeface="宋体" panose="02000500000000000000" pitchFamily="2" charset="-122"/>
                <a:cs typeface="宋体" panose="02000500000000000000" pitchFamily="2" charset="-122"/>
                <a:sym typeface="+mn-ea"/>
              </a:rPr>
              <a:t>L1Network</a:t>
            </a:r>
            <a:endParaRPr lang="en-US" altLang="zh-CN" sz="1400" b="1" dirty="0">
              <a:latin typeface="宋体" panose="02000500000000000000" pitchFamily="2" charset="-122"/>
              <a:ea typeface="宋体" panose="02000500000000000000" pitchFamily="2" charset="-122"/>
              <a:cs typeface="宋体" panose="02000500000000000000" pitchFamily="2" charset="-122"/>
              <a:sym typeface="+mn-ea"/>
            </a:endParaRPr>
          </a:p>
          <a:p>
            <a:pPr marL="285750" indent="-285750" defTabSz="449580">
              <a:lnSpc>
                <a:spcPct val="150000"/>
              </a:lnSpc>
              <a:buSzPct val="100000"/>
              <a:buFont typeface="Arial" panose="02080604020202020204" pitchFamily="34" charset="0"/>
              <a:buChar char="•"/>
            </a:pPr>
            <a:r>
              <a:rPr lang="en-US" altLang="zh-CN" sz="1800" b="1" dirty="0">
                <a:latin typeface="宋体" panose="02000500000000000000" pitchFamily="2" charset="-122"/>
                <a:ea typeface="宋体" panose="02000500000000000000" pitchFamily="2" charset="-122"/>
                <a:cs typeface="宋体" panose="02000500000000000000" pitchFamily="2" charset="-122"/>
              </a:rPr>
              <a:t>GPC = 1</a:t>
            </a:r>
            <a:r>
              <a:rPr lang="zh-CN" altLang="en-US" sz="1800" b="1" dirty="0">
                <a:latin typeface="宋体" panose="02000500000000000000" pitchFamily="2" charset="-122"/>
                <a:ea typeface="宋体" panose="02000500000000000000" pitchFamily="2" charset="-122"/>
                <a:cs typeface="宋体" panose="02000500000000000000" pitchFamily="2" charset="-122"/>
              </a:rPr>
              <a:t>个</a:t>
            </a:r>
            <a:r>
              <a:rPr lang="en-US" altLang="zh-CN" sz="1800" b="1" dirty="0">
                <a:latin typeface="宋体" panose="02000500000000000000" pitchFamily="2" charset="-122"/>
                <a:ea typeface="宋体" panose="02000500000000000000" pitchFamily="2" charset="-122"/>
                <a:cs typeface="宋体" panose="02000500000000000000" pitchFamily="2" charset="-122"/>
              </a:rPr>
              <a:t>GP + </a:t>
            </a:r>
            <a:r>
              <a:rPr lang="en-US" altLang="zh-CN" sz="1800" b="1" dirty="0">
                <a:solidFill>
                  <a:schemeClr val="accent2"/>
                </a:solidFill>
                <a:latin typeface="宋体" panose="02000500000000000000" pitchFamily="2" charset="-122"/>
                <a:ea typeface="宋体" panose="02000500000000000000" pitchFamily="2" charset="-122"/>
                <a:cs typeface="宋体" panose="02000500000000000000" pitchFamily="2" charset="-122"/>
              </a:rPr>
              <a:t>Y</a:t>
            </a:r>
            <a:r>
              <a:rPr lang="zh-CN" altLang="en-US" sz="1800" b="1" dirty="0">
                <a:solidFill>
                  <a:schemeClr val="accent2"/>
                </a:solidFill>
                <a:latin typeface="宋体" panose="02000500000000000000" pitchFamily="2" charset="-122"/>
                <a:ea typeface="宋体" panose="02000500000000000000" pitchFamily="2" charset="-122"/>
                <a:cs typeface="宋体" panose="02000500000000000000" pitchFamily="2" charset="-122"/>
              </a:rPr>
              <a:t>个</a:t>
            </a:r>
            <a:r>
              <a:rPr lang="en-US" altLang="zh-CN" sz="1800" b="1" dirty="0">
                <a:solidFill>
                  <a:schemeClr val="accent2"/>
                </a:solidFill>
                <a:latin typeface="宋体" panose="02000500000000000000" pitchFamily="2" charset="-122"/>
                <a:ea typeface="宋体" panose="02000500000000000000" pitchFamily="2" charset="-122"/>
                <a:cs typeface="宋体" panose="02000500000000000000" pitchFamily="2" charset="-122"/>
              </a:rPr>
              <a:t>SP</a:t>
            </a:r>
            <a:endParaRPr lang="en-US" altLang="zh-CN" sz="1800" b="1"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marL="742950" lvl="1" indent="-285750" defTabSz="449580">
              <a:lnSpc>
                <a:spcPct val="150000"/>
              </a:lnSpc>
              <a:buSzPct val="100000"/>
              <a:buFont typeface="Arial" panose="02080604020202020204" pitchFamily="34" charset="0"/>
              <a:buChar char="•"/>
            </a:pPr>
            <a:r>
              <a:rPr lang="en-US" altLang="zh-CN" sz="1400" b="1" dirty="0">
                <a:latin typeface="宋体" panose="02000500000000000000" pitchFamily="2" charset="-122"/>
                <a:ea typeface="宋体" panose="02000500000000000000" pitchFamily="2" charset="-122"/>
                <a:cs typeface="宋体" panose="02000500000000000000" pitchFamily="2" charset="-122"/>
              </a:rPr>
              <a:t>GP: Graphics Pipeline</a:t>
            </a:r>
            <a:r>
              <a:rPr lang="zh-CN" altLang="en-US" sz="1400" b="1" dirty="0">
                <a:latin typeface="宋体" panose="02000500000000000000" pitchFamily="2" charset="-122"/>
                <a:ea typeface="宋体" panose="02000500000000000000" pitchFamily="2" charset="-122"/>
                <a:cs typeface="宋体" panose="02000500000000000000" pitchFamily="2" charset="-122"/>
              </a:rPr>
              <a:t>，</a:t>
            </a:r>
            <a:r>
              <a:rPr lang="en-US" altLang="zh-CN" sz="1400" b="1" dirty="0">
                <a:latin typeface="宋体" panose="02000500000000000000" pitchFamily="2" charset="-122"/>
                <a:ea typeface="宋体" panose="02000500000000000000" pitchFamily="2" charset="-122"/>
                <a:cs typeface="宋体" panose="02000500000000000000" pitchFamily="2" charset="-122"/>
              </a:rPr>
              <a:t>16pixel/cycle</a:t>
            </a:r>
            <a:endParaRPr lang="en-US" altLang="zh-CN"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defTabSz="449580">
              <a:lnSpc>
                <a:spcPct val="150000"/>
              </a:lnSpc>
              <a:buSzPct val="100000"/>
              <a:buFont typeface="Arial" panose="02080604020202020204" pitchFamily="34" charset="0"/>
              <a:buChar char="•"/>
            </a:pPr>
            <a:r>
              <a:rPr lang="en-US" altLang="zh-CN" sz="1400" b="1" dirty="0">
                <a:latin typeface="宋体" panose="02000500000000000000" pitchFamily="2" charset="-122"/>
                <a:ea typeface="宋体" panose="02000500000000000000" pitchFamily="2" charset="-122"/>
                <a:cs typeface="宋体" panose="02000500000000000000" pitchFamily="2" charset="-122"/>
              </a:rPr>
              <a:t>SP: Stream Processor</a:t>
            </a:r>
            <a:endParaRPr lang="en-US" altLang="zh-CN" sz="1400" b="1" dirty="0">
              <a:latin typeface="宋体" panose="02000500000000000000" pitchFamily="2" charset="-122"/>
              <a:ea typeface="宋体" panose="02000500000000000000" pitchFamily="2" charset="-122"/>
              <a:cs typeface="宋体" panose="02000500000000000000" pitchFamily="2" charset="-122"/>
            </a:endParaRPr>
          </a:p>
          <a:p>
            <a:pPr marL="285750" indent="-285750" defTabSz="449580">
              <a:lnSpc>
                <a:spcPct val="150000"/>
              </a:lnSpc>
              <a:buSzPct val="100000"/>
              <a:buFont typeface="Arial" panose="02080604020202020204" pitchFamily="34" charset="0"/>
              <a:buChar char="•"/>
            </a:pPr>
            <a:r>
              <a:rPr lang="en-US" altLang="zh-CN" sz="1800" b="1" dirty="0">
                <a:latin typeface="宋体" panose="02000500000000000000" pitchFamily="2" charset="-122"/>
                <a:ea typeface="宋体" panose="02000500000000000000" pitchFamily="2" charset="-122"/>
                <a:cs typeface="宋体" panose="02000500000000000000" pitchFamily="2" charset="-122"/>
              </a:rPr>
              <a:t>SP = 1</a:t>
            </a:r>
            <a:r>
              <a:rPr lang="zh-CN" altLang="en-US" sz="1800" b="1" dirty="0">
                <a:latin typeface="宋体" panose="02000500000000000000" pitchFamily="2" charset="-122"/>
                <a:ea typeface="宋体" panose="02000500000000000000" pitchFamily="2" charset="-122"/>
                <a:cs typeface="宋体" panose="02000500000000000000" pitchFamily="2" charset="-122"/>
              </a:rPr>
              <a:t>个纹理单元 </a:t>
            </a:r>
            <a:r>
              <a:rPr lang="en-US" altLang="zh-CN" sz="1800" b="1" dirty="0">
                <a:latin typeface="宋体" panose="02000500000000000000" pitchFamily="2" charset="-122"/>
                <a:ea typeface="宋体" panose="02000500000000000000" pitchFamily="2" charset="-122"/>
                <a:cs typeface="宋体" panose="02000500000000000000" pitchFamily="2" charset="-122"/>
              </a:rPr>
              <a:t>+ </a:t>
            </a:r>
            <a:r>
              <a:rPr lang="en-US" altLang="zh-CN" sz="1800" b="1" dirty="0">
                <a:solidFill>
                  <a:srgbClr val="00B050"/>
                </a:solidFill>
                <a:latin typeface="宋体" panose="02000500000000000000" pitchFamily="2" charset="-122"/>
                <a:ea typeface="宋体" panose="02000500000000000000" pitchFamily="2" charset="-122"/>
                <a:cs typeface="宋体" panose="02000500000000000000" pitchFamily="2" charset="-122"/>
              </a:rPr>
              <a:t>Z</a:t>
            </a:r>
            <a:r>
              <a:rPr lang="zh-CN" altLang="en-US" sz="1800" b="1" dirty="0">
                <a:solidFill>
                  <a:srgbClr val="00B050"/>
                </a:solidFill>
                <a:latin typeface="宋体" panose="02000500000000000000" pitchFamily="2" charset="-122"/>
                <a:ea typeface="宋体" panose="02000500000000000000" pitchFamily="2" charset="-122"/>
                <a:cs typeface="宋体" panose="02000500000000000000" pitchFamily="2" charset="-122"/>
              </a:rPr>
              <a:t>个</a:t>
            </a:r>
            <a:r>
              <a:rPr lang="en-US" altLang="zh-CN" sz="1800" b="1" dirty="0">
                <a:solidFill>
                  <a:srgbClr val="00B050"/>
                </a:solidFill>
                <a:latin typeface="宋体" panose="02000500000000000000" pitchFamily="2" charset="-122"/>
                <a:ea typeface="宋体" panose="02000500000000000000" pitchFamily="2" charset="-122"/>
                <a:cs typeface="宋体" panose="02000500000000000000" pitchFamily="2" charset="-122"/>
              </a:rPr>
              <a:t>Vector Unit</a:t>
            </a:r>
            <a:endParaRPr lang="en-US" altLang="zh-CN" sz="1800" b="1" dirty="0">
              <a:solidFill>
                <a:srgbClr val="00B050"/>
              </a:solidFill>
              <a:latin typeface="宋体" panose="02000500000000000000" pitchFamily="2" charset="-122"/>
              <a:ea typeface="宋体" panose="02000500000000000000" pitchFamily="2" charset="-122"/>
              <a:cs typeface="宋体" panose="02000500000000000000" pitchFamily="2" charset="-122"/>
            </a:endParaRPr>
          </a:p>
          <a:p>
            <a:pPr marL="742950" lvl="1" indent="-285750" defTabSz="449580">
              <a:lnSpc>
                <a:spcPct val="150000"/>
              </a:lnSpc>
              <a:buSzPct val="100000"/>
              <a:buFont typeface="Arial" panose="02080604020202020204" pitchFamily="34" charset="0"/>
              <a:buChar char="•"/>
            </a:pPr>
            <a:r>
              <a:rPr lang="zh-CN" altLang="en-US" sz="1400" b="1" dirty="0">
                <a:latin typeface="宋体" panose="02000500000000000000" pitchFamily="2" charset="-122"/>
                <a:ea typeface="宋体" panose="02000500000000000000" pitchFamily="2" charset="-122"/>
                <a:cs typeface="宋体" panose="02000500000000000000" pitchFamily="2" charset="-122"/>
              </a:rPr>
              <a:t>纹理单元：</a:t>
            </a:r>
            <a:r>
              <a:rPr lang="en-US" altLang="zh-CN" sz="1400" b="1" dirty="0">
                <a:latin typeface="宋体" panose="02000500000000000000" pitchFamily="2" charset="-122"/>
                <a:ea typeface="宋体" panose="02000500000000000000" pitchFamily="2" charset="-122"/>
                <a:cs typeface="宋体" panose="02000500000000000000" pitchFamily="2" charset="-122"/>
              </a:rPr>
              <a:t>4texel/cycle (bilinear)</a:t>
            </a:r>
            <a:endParaRPr lang="en-US" altLang="zh-CN"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defTabSz="449580">
              <a:lnSpc>
                <a:spcPct val="150000"/>
              </a:lnSpc>
              <a:buSzPct val="100000"/>
              <a:buFont typeface="Arial" panose="02080604020202020204" pitchFamily="34" charset="0"/>
              <a:buChar char="•"/>
            </a:pPr>
            <a:r>
              <a:rPr lang="en-US" altLang="zh-CN" sz="1400" b="1" dirty="0">
                <a:latin typeface="宋体" panose="02000500000000000000" pitchFamily="2" charset="-122"/>
                <a:ea typeface="宋体" panose="02000500000000000000" pitchFamily="2" charset="-122"/>
                <a:cs typeface="宋体" panose="02000500000000000000" pitchFamily="2" charset="-122"/>
              </a:rPr>
              <a:t>VU</a:t>
            </a:r>
            <a:r>
              <a:rPr lang="zh-CN" altLang="en-US" sz="1400" b="1" dirty="0">
                <a:latin typeface="宋体" panose="02000500000000000000" pitchFamily="2" charset="-122"/>
                <a:ea typeface="宋体" panose="02000500000000000000" pitchFamily="2" charset="-122"/>
                <a:cs typeface="宋体" panose="02000500000000000000" pitchFamily="2" charset="-122"/>
              </a:rPr>
              <a:t>：</a:t>
            </a:r>
            <a:r>
              <a:rPr lang="en-US" altLang="zh-CN" sz="1400" b="1" dirty="0">
                <a:latin typeface="宋体" panose="02000500000000000000" pitchFamily="2" charset="-122"/>
                <a:ea typeface="宋体" panose="02000500000000000000" pitchFamily="2" charset="-122"/>
                <a:cs typeface="宋体" panose="02000500000000000000" pitchFamily="2" charset="-122"/>
              </a:rPr>
              <a:t>Vector Unit</a:t>
            </a:r>
            <a:endParaRPr lang="en-US" altLang="zh-CN" sz="1400" b="1" dirty="0">
              <a:latin typeface="宋体" panose="02000500000000000000" pitchFamily="2" charset="-122"/>
              <a:ea typeface="宋体" panose="02000500000000000000" pitchFamily="2" charset="-122"/>
              <a:cs typeface="宋体" panose="02000500000000000000" pitchFamily="2" charset="-122"/>
            </a:endParaRPr>
          </a:p>
          <a:p>
            <a:pPr marL="285750" indent="-285750" defTabSz="449580">
              <a:lnSpc>
                <a:spcPct val="150000"/>
              </a:lnSpc>
              <a:buSzPct val="100000"/>
              <a:buFont typeface="Arial" panose="02080604020202020204" pitchFamily="34" charset="0"/>
              <a:buChar char="•"/>
            </a:pPr>
            <a:r>
              <a:rPr lang="zh-CN" altLang="en-US" sz="1800" b="1" dirty="0">
                <a:latin typeface="宋体" panose="02000500000000000000" pitchFamily="2" charset="-122"/>
                <a:ea typeface="宋体" panose="02000500000000000000" pitchFamily="2" charset="-122"/>
                <a:cs typeface="宋体" panose="02000500000000000000" pitchFamily="2" charset="-122"/>
              </a:rPr>
              <a:t>每个</a:t>
            </a:r>
            <a:r>
              <a:rPr lang="en-US" altLang="zh-CN" sz="1800" b="1" dirty="0">
                <a:latin typeface="宋体" panose="02000500000000000000" pitchFamily="2" charset="-122"/>
                <a:ea typeface="宋体" panose="02000500000000000000" pitchFamily="2" charset="-122"/>
                <a:cs typeface="宋体" panose="02000500000000000000" pitchFamily="2" charset="-122"/>
              </a:rPr>
              <a:t>VU</a:t>
            </a:r>
            <a:r>
              <a:rPr lang="zh-CN" altLang="en-US" sz="1800" b="1" dirty="0">
                <a:latin typeface="宋体" panose="02000500000000000000" pitchFamily="2" charset="-122"/>
                <a:ea typeface="宋体" panose="02000500000000000000" pitchFamily="2" charset="-122"/>
                <a:cs typeface="宋体" panose="02000500000000000000" pitchFamily="2" charset="-122"/>
              </a:rPr>
              <a:t>包含</a:t>
            </a:r>
            <a:endParaRPr lang="en-US" altLang="zh-CN" sz="1800" b="1" dirty="0">
              <a:latin typeface="宋体" panose="02000500000000000000" pitchFamily="2" charset="-122"/>
              <a:ea typeface="宋体" panose="02000500000000000000" pitchFamily="2" charset="-122"/>
              <a:cs typeface="宋体" panose="02000500000000000000" pitchFamily="2" charset="-122"/>
            </a:endParaRPr>
          </a:p>
          <a:p>
            <a:pPr marL="742950" lvl="1" indent="-285750" defTabSz="449580">
              <a:lnSpc>
                <a:spcPct val="150000"/>
              </a:lnSpc>
              <a:buSzPct val="100000"/>
              <a:buFont typeface="Arial" panose="02080604020202020204" pitchFamily="34" charset="0"/>
              <a:buChar char="•"/>
            </a:pPr>
            <a:r>
              <a:rPr lang="en-US" altLang="zh-CN" sz="1400" b="1" dirty="0">
                <a:latin typeface="宋体" panose="02000500000000000000" pitchFamily="2" charset="-122"/>
                <a:ea typeface="宋体" panose="02000500000000000000" pitchFamily="2" charset="-122"/>
                <a:cs typeface="宋体" panose="02000500000000000000" pitchFamily="2" charset="-122"/>
              </a:rPr>
              <a:t>16</a:t>
            </a:r>
            <a:r>
              <a:rPr lang="zh-CN" altLang="en-US" sz="1400" b="1" dirty="0">
                <a:latin typeface="宋体" panose="02000500000000000000" pitchFamily="2" charset="-122"/>
                <a:ea typeface="宋体" panose="02000500000000000000" pitchFamily="2" charset="-122"/>
                <a:cs typeface="宋体" panose="02000500000000000000" pitchFamily="2" charset="-122"/>
              </a:rPr>
              <a:t>个单精度浮点</a:t>
            </a:r>
            <a:r>
              <a:rPr lang="en-US" altLang="zh-CN" sz="1400" b="1" dirty="0">
                <a:latin typeface="宋体" panose="02000500000000000000" pitchFamily="2" charset="-122"/>
                <a:ea typeface="宋体" panose="02000500000000000000" pitchFamily="2" charset="-122"/>
                <a:cs typeface="宋体" panose="02000500000000000000" pitchFamily="2" charset="-122"/>
              </a:rPr>
              <a:t>ALU</a:t>
            </a:r>
            <a:r>
              <a:rPr lang="zh-CN" altLang="en-US" sz="1400" b="1" dirty="0">
                <a:latin typeface="宋体" panose="02000500000000000000" pitchFamily="2" charset="-122"/>
                <a:ea typeface="宋体" panose="02000500000000000000" pitchFamily="2" charset="-122"/>
                <a:cs typeface="宋体" panose="02000500000000000000" pitchFamily="2" charset="-122"/>
              </a:rPr>
              <a:t>：</a:t>
            </a:r>
            <a:r>
              <a:rPr lang="en-US" altLang="zh-CN" sz="1400" b="1" dirty="0">
                <a:latin typeface="宋体" panose="02000500000000000000" pitchFamily="2" charset="-122"/>
                <a:ea typeface="宋体" panose="02000500000000000000" pitchFamily="2" charset="-122"/>
                <a:cs typeface="宋体" panose="02000500000000000000" pitchFamily="2" charset="-122"/>
              </a:rPr>
              <a:t>32FLOP/cycle</a:t>
            </a:r>
            <a:endParaRPr lang="en-US" altLang="zh-CN"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defTabSz="449580">
              <a:lnSpc>
                <a:spcPct val="150000"/>
              </a:lnSpc>
              <a:buSzPct val="100000"/>
              <a:buFont typeface="Arial" panose="02080604020202020204" pitchFamily="34" charset="0"/>
              <a:buChar char="•"/>
            </a:pPr>
            <a:r>
              <a:rPr lang="en-US" altLang="zh-CN" sz="1400" b="1" dirty="0">
                <a:latin typeface="宋体" panose="02000500000000000000" pitchFamily="2" charset="-122"/>
                <a:ea typeface="宋体" panose="02000500000000000000" pitchFamily="2" charset="-122"/>
                <a:cs typeface="宋体" panose="02000500000000000000" pitchFamily="2" charset="-122"/>
              </a:rPr>
              <a:t>1</a:t>
            </a:r>
            <a:r>
              <a:rPr lang="zh-CN" altLang="en-US" sz="1400" b="1" dirty="0">
                <a:latin typeface="宋体" panose="02000500000000000000" pitchFamily="2" charset="-122"/>
                <a:ea typeface="宋体" panose="02000500000000000000" pitchFamily="2" charset="-122"/>
                <a:cs typeface="宋体" panose="02000500000000000000" pitchFamily="2" charset="-122"/>
              </a:rPr>
              <a:t>个双精度浮点</a:t>
            </a:r>
            <a:r>
              <a:rPr lang="en-US" altLang="zh-CN" sz="1400" b="1" dirty="0">
                <a:latin typeface="宋体" panose="02000500000000000000" pitchFamily="2" charset="-122"/>
                <a:ea typeface="宋体" panose="02000500000000000000" pitchFamily="2" charset="-122"/>
                <a:cs typeface="宋体" panose="02000500000000000000" pitchFamily="2" charset="-122"/>
              </a:rPr>
              <a:t>ALU</a:t>
            </a:r>
            <a:r>
              <a:rPr lang="zh-CN" altLang="en-US" sz="1400" b="1" dirty="0">
                <a:latin typeface="宋体" panose="02000500000000000000" pitchFamily="2" charset="-122"/>
                <a:ea typeface="宋体" panose="02000500000000000000" pitchFamily="2" charset="-122"/>
                <a:cs typeface="宋体" panose="02000500000000000000" pitchFamily="2" charset="-122"/>
              </a:rPr>
              <a:t>：</a:t>
            </a:r>
            <a:r>
              <a:rPr lang="en-US" altLang="zh-CN" sz="1400" b="1" dirty="0">
                <a:latin typeface="宋体" panose="02000500000000000000" pitchFamily="2" charset="-122"/>
                <a:ea typeface="宋体" panose="02000500000000000000" pitchFamily="2" charset="-122"/>
                <a:cs typeface="宋体" panose="02000500000000000000" pitchFamily="2" charset="-122"/>
              </a:rPr>
              <a:t>2FLOP/cycle</a:t>
            </a:r>
            <a:endParaRPr lang="en-US" altLang="zh-CN"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defTabSz="449580">
              <a:lnSpc>
                <a:spcPct val="150000"/>
              </a:lnSpc>
              <a:buSzPct val="100000"/>
              <a:buFont typeface="Arial" panose="02080604020202020204" pitchFamily="34" charset="0"/>
              <a:buChar char="•"/>
            </a:pPr>
            <a:r>
              <a:rPr lang="en-US" altLang="zh-CN" sz="1400" b="1" dirty="0">
                <a:latin typeface="宋体" panose="02000500000000000000" pitchFamily="2" charset="-122"/>
                <a:ea typeface="宋体" panose="02000500000000000000" pitchFamily="2" charset="-122"/>
                <a:cs typeface="宋体" panose="02000500000000000000" pitchFamily="2" charset="-122"/>
              </a:rPr>
              <a:t>1</a:t>
            </a:r>
            <a:r>
              <a:rPr lang="zh-CN" altLang="en-US" sz="1400" b="1" dirty="0">
                <a:latin typeface="宋体" panose="02000500000000000000" pitchFamily="2" charset="-122"/>
                <a:ea typeface="宋体" panose="02000500000000000000" pitchFamily="2" charset="-122"/>
                <a:cs typeface="宋体" panose="02000500000000000000" pitchFamily="2" charset="-122"/>
              </a:rPr>
              <a:t>个张量单元：</a:t>
            </a:r>
            <a:r>
              <a:rPr lang="en-US" altLang="zh-CN" sz="1400" b="1" dirty="0">
                <a:latin typeface="宋体" panose="02000500000000000000" pitchFamily="2" charset="-122"/>
                <a:ea typeface="宋体" panose="02000500000000000000" pitchFamily="2" charset="-122"/>
                <a:cs typeface="宋体" panose="02000500000000000000" pitchFamily="2" charset="-122"/>
              </a:rPr>
              <a:t>1024OP </a:t>
            </a:r>
            <a:r>
              <a:rPr lang="en-US" altLang="zh-CN" sz="1400" b="1" dirty="0">
                <a:latin typeface="宋体" panose="02000500000000000000" pitchFamily="2" charset="-122"/>
                <a:ea typeface="宋体" panose="02000500000000000000" pitchFamily="2" charset="-122"/>
                <a:cs typeface="宋体" panose="02000500000000000000" pitchFamily="2" charset="-122"/>
                <a:sym typeface="+mn-ea"/>
              </a:rPr>
              <a:t>+ 512BF16</a:t>
            </a:r>
            <a:r>
              <a:rPr lang="en-US" altLang="zh-CN" sz="1400" b="1" dirty="0">
                <a:latin typeface="宋体" panose="02000500000000000000" pitchFamily="2" charset="-122"/>
                <a:ea typeface="宋体" panose="02000500000000000000" pitchFamily="2" charset="-122"/>
                <a:cs typeface="宋体" panose="02000500000000000000" pitchFamily="2" charset="-122"/>
              </a:rPr>
              <a:t>/cycle </a:t>
            </a:r>
            <a:endParaRPr lang="en-US" altLang="zh-CN" sz="1200" b="1" dirty="0">
              <a:latin typeface="宋体" panose="02000500000000000000" pitchFamily="2" charset="-122"/>
              <a:ea typeface="宋体" panose="02000500000000000000" pitchFamily="2" charset="-122"/>
              <a:cs typeface="宋体" panose="02000500000000000000" pitchFamily="2" charset="-122"/>
            </a:endParaRPr>
          </a:p>
          <a:p>
            <a:pPr marL="285750" indent="-285750" defTabSz="449580">
              <a:lnSpc>
                <a:spcPct val="150000"/>
              </a:lnSpc>
              <a:buSzPct val="100000"/>
              <a:buFont typeface="Arial" panose="02080604020202020204" pitchFamily="34" charset="0"/>
              <a:buChar char="•"/>
            </a:pPr>
            <a:r>
              <a:rPr lang="zh-CN" altLang="en-US" sz="1800" b="1" dirty="0">
                <a:latin typeface="宋体" panose="02000500000000000000" pitchFamily="2" charset="-122"/>
                <a:ea typeface="宋体" panose="02000500000000000000" pitchFamily="2" charset="-122"/>
                <a:cs typeface="宋体" panose="02000500000000000000" pitchFamily="2" charset="-122"/>
                <a:sym typeface="+mn-ea"/>
              </a:rPr>
              <a:t>算力扩展路径：</a:t>
            </a:r>
            <a:r>
              <a:rPr lang="en-US" altLang="zh-CN" sz="1800" b="1" dirty="0">
                <a:latin typeface="宋体" panose="02000500000000000000" pitchFamily="2" charset="-122"/>
                <a:ea typeface="宋体" panose="02000500000000000000" pitchFamily="2" charset="-122"/>
                <a:cs typeface="宋体" panose="02000500000000000000" pitchFamily="2" charset="-122"/>
                <a:sym typeface="+mn-ea"/>
              </a:rPr>
              <a:t>X</a:t>
            </a:r>
            <a:r>
              <a:rPr lang="zh-CN" altLang="en-US" sz="1800" b="1"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sz="1800" b="1" dirty="0">
                <a:latin typeface="宋体" panose="02000500000000000000" pitchFamily="2" charset="-122"/>
                <a:ea typeface="宋体" panose="02000500000000000000" pitchFamily="2" charset="-122"/>
                <a:cs typeface="宋体" panose="02000500000000000000" pitchFamily="2" charset="-122"/>
                <a:sym typeface="+mn-ea"/>
              </a:rPr>
              <a:t>Y</a:t>
            </a:r>
            <a:r>
              <a:rPr lang="zh-CN" altLang="en-US" sz="1800" b="1"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sz="1800" b="1" dirty="0">
                <a:latin typeface="宋体" panose="02000500000000000000" pitchFamily="2" charset="-122"/>
                <a:ea typeface="宋体" panose="02000500000000000000" pitchFamily="2" charset="-122"/>
                <a:cs typeface="宋体" panose="02000500000000000000" pitchFamily="2" charset="-122"/>
                <a:sym typeface="+mn-ea"/>
              </a:rPr>
              <a:t>Z*F</a:t>
            </a:r>
            <a:r>
              <a:rPr lang="zh-CN" altLang="en-US" sz="1800" b="1"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sz="1800" b="1" dirty="0">
                <a:latin typeface="宋体" panose="02000500000000000000" pitchFamily="2" charset="-122"/>
                <a:ea typeface="宋体" panose="02000500000000000000" pitchFamily="2" charset="-122"/>
                <a:cs typeface="宋体" panose="02000500000000000000" pitchFamily="2" charset="-122"/>
                <a:sym typeface="+mn-ea"/>
              </a:rPr>
              <a:t>F</a:t>
            </a:r>
            <a:r>
              <a:rPr lang="zh-CN" altLang="en-US" sz="1800" b="1" dirty="0">
                <a:latin typeface="宋体" panose="02000500000000000000" pitchFamily="2" charset="-122"/>
                <a:ea typeface="宋体" panose="02000500000000000000" pitchFamily="2" charset="-122"/>
                <a:cs typeface="宋体" panose="02000500000000000000" pitchFamily="2" charset="-122"/>
                <a:sym typeface="+mn-ea"/>
              </a:rPr>
              <a:t>为频率</a:t>
            </a:r>
            <a:endParaRPr lang="zh-CN" altLang="en-US" sz="1800" b="1" dirty="0">
              <a:latin typeface="宋体" panose="02000500000000000000" pitchFamily="2" charset="-122"/>
              <a:ea typeface="宋体" panose="02000500000000000000" pitchFamily="2" charset="-122"/>
              <a:cs typeface="宋体" panose="02000500000000000000" pitchFamily="2" charset="-122"/>
            </a:endParaRPr>
          </a:p>
          <a:p>
            <a:pPr marL="742950" lvl="1" indent="-285750" defTabSz="449580">
              <a:lnSpc>
                <a:spcPct val="150000"/>
              </a:lnSpc>
              <a:buSzPct val="100000"/>
              <a:buFont typeface="Arial" panose="02080604020202020204" pitchFamily="34" charset="0"/>
              <a:buChar char="•"/>
            </a:pPr>
            <a:r>
              <a:rPr lang="en-US" altLang="zh-CN" sz="1200" b="1" dirty="0">
                <a:latin typeface="宋体" panose="02000500000000000000" pitchFamily="2" charset="-122"/>
                <a:ea typeface="宋体" panose="02000500000000000000" pitchFamily="2" charset="-122"/>
                <a:cs typeface="宋体" panose="02000500000000000000" pitchFamily="2" charset="-122"/>
                <a:sym typeface="+mn-ea"/>
              </a:rPr>
              <a:t>2K3000</a:t>
            </a:r>
            <a:r>
              <a:rPr lang="zh-CN" altLang="en-US" sz="1200" b="1"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sz="1200" b="1" dirty="0">
                <a:latin typeface="宋体" panose="02000500000000000000" pitchFamily="2" charset="-122"/>
                <a:ea typeface="宋体" panose="02000500000000000000" pitchFamily="2" charset="-122"/>
                <a:cs typeface="宋体" panose="02000500000000000000" pitchFamily="2" charset="-122"/>
                <a:sym typeface="+mn-ea"/>
              </a:rPr>
              <a:t>X=1</a:t>
            </a:r>
            <a:r>
              <a:rPr lang="zh-CN" altLang="en-US" sz="1200" b="1"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sz="1200" b="1" dirty="0">
                <a:latin typeface="宋体" panose="02000500000000000000" pitchFamily="2" charset="-122"/>
                <a:ea typeface="宋体" panose="02000500000000000000" pitchFamily="2" charset="-122"/>
                <a:cs typeface="宋体" panose="02000500000000000000" pitchFamily="2" charset="-122"/>
                <a:sym typeface="+mn-ea"/>
              </a:rPr>
              <a:t>Y=2</a:t>
            </a:r>
            <a:r>
              <a:rPr lang="zh-CN" altLang="en-US" sz="1200" b="1"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sz="1200" b="1" dirty="0">
                <a:latin typeface="宋体" panose="02000500000000000000" pitchFamily="2" charset="-122"/>
                <a:ea typeface="宋体" panose="02000500000000000000" pitchFamily="2" charset="-122"/>
                <a:cs typeface="宋体" panose="02000500000000000000" pitchFamily="2" charset="-122"/>
                <a:sym typeface="+mn-ea"/>
              </a:rPr>
              <a:t>Z=4</a:t>
            </a:r>
            <a:endParaRPr lang="en-US" altLang="zh-CN" sz="1200" b="1" dirty="0">
              <a:latin typeface="宋体" panose="02000500000000000000" pitchFamily="2" charset="-122"/>
              <a:ea typeface="宋体" panose="02000500000000000000" pitchFamily="2" charset="-122"/>
              <a:cs typeface="宋体" panose="02000500000000000000" pitchFamily="2" charset="-122"/>
              <a:sym typeface="+mn-ea"/>
            </a:endParaRPr>
          </a:p>
          <a:p>
            <a:pPr marL="742950" lvl="1" indent="-285750" defTabSz="449580">
              <a:lnSpc>
                <a:spcPct val="150000"/>
              </a:lnSpc>
              <a:buSzPct val="100000"/>
              <a:buFont typeface="Arial" panose="02080604020202020204" pitchFamily="34" charset="0"/>
              <a:buChar char="•"/>
            </a:pPr>
            <a:r>
              <a:rPr lang="en-US" altLang="zh-CN" sz="1200" b="1" dirty="0">
                <a:latin typeface="宋体" panose="02000500000000000000" pitchFamily="2" charset="-122"/>
                <a:ea typeface="宋体" panose="02000500000000000000" pitchFamily="2" charset="-122"/>
                <a:cs typeface="宋体" panose="02000500000000000000" pitchFamily="2" charset="-122"/>
                <a:sym typeface="+mn-ea"/>
              </a:rPr>
              <a:t>9A1000</a:t>
            </a:r>
            <a:r>
              <a:rPr lang="zh-CN" altLang="en-US" sz="1200" b="1"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sz="1200" b="1" dirty="0">
                <a:latin typeface="宋体" panose="02000500000000000000" pitchFamily="2" charset="-122"/>
                <a:ea typeface="宋体" panose="02000500000000000000" pitchFamily="2" charset="-122"/>
                <a:cs typeface="宋体" panose="02000500000000000000" pitchFamily="2" charset="-122"/>
                <a:sym typeface="+mn-ea"/>
              </a:rPr>
              <a:t>X=2</a:t>
            </a:r>
            <a:r>
              <a:rPr lang="zh-CN" altLang="en-US" sz="1200" b="1"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sz="1200" b="1" dirty="0">
                <a:latin typeface="宋体" panose="02000500000000000000" pitchFamily="2" charset="-122"/>
                <a:ea typeface="宋体" panose="02000500000000000000" pitchFamily="2" charset="-122"/>
                <a:cs typeface="宋体" panose="02000500000000000000" pitchFamily="2" charset="-122"/>
                <a:sym typeface="+mn-ea"/>
              </a:rPr>
              <a:t>Y=4</a:t>
            </a:r>
            <a:r>
              <a:rPr lang="zh-CN" altLang="en-US" sz="1200" b="1" dirty="0">
                <a:latin typeface="宋体" panose="02000500000000000000" pitchFamily="2" charset="-122"/>
                <a:ea typeface="宋体" panose="02000500000000000000" pitchFamily="2" charset="-122"/>
                <a:cs typeface="宋体" panose="02000500000000000000" pitchFamily="2" charset="-122"/>
                <a:sym typeface="+mn-ea"/>
              </a:rPr>
              <a:t>，</a:t>
            </a:r>
            <a:r>
              <a:rPr lang="en-US" altLang="zh-CN" sz="1200" b="1" dirty="0">
                <a:latin typeface="宋体" panose="02000500000000000000" pitchFamily="2" charset="-122"/>
                <a:ea typeface="宋体" panose="02000500000000000000" pitchFamily="2" charset="-122"/>
                <a:cs typeface="宋体" panose="02000500000000000000" pitchFamily="2" charset="-122"/>
                <a:sym typeface="+mn-ea"/>
              </a:rPr>
              <a:t>Z=4 </a:t>
            </a:r>
            <a:endParaRPr lang="en-US" altLang="zh-CN" sz="1200" b="1" dirty="0">
              <a:latin typeface="宋体" panose="02000500000000000000" pitchFamily="2" charset="-122"/>
              <a:ea typeface="宋体" panose="02000500000000000000" pitchFamily="2" charset="-122"/>
              <a:cs typeface="宋体" panose="02000500000000000000" pitchFamily="2" charset="-122"/>
              <a:sym typeface="+mn-ea"/>
            </a:endParaRPr>
          </a:p>
        </p:txBody>
      </p:sp>
      <p:grpSp>
        <p:nvGrpSpPr>
          <p:cNvPr id="3" name="组合 4"/>
          <p:cNvGrpSpPr/>
          <p:nvPr/>
        </p:nvGrpSpPr>
        <p:grpSpPr bwMode="auto">
          <a:xfrm>
            <a:off x="6590031" y="1938338"/>
            <a:ext cx="1660525" cy="1506537"/>
            <a:chOff x="5980987" y="1903667"/>
            <a:chExt cx="1659967" cy="1505671"/>
          </a:xfrm>
        </p:grpSpPr>
        <p:sp>
          <p:nvSpPr>
            <p:cNvPr id="37" name="文本框 14"/>
            <p:cNvSpPr txBox="1"/>
            <p:nvPr/>
          </p:nvSpPr>
          <p:spPr>
            <a:xfrm>
              <a:off x="5980987" y="1903667"/>
              <a:ext cx="1002963" cy="243065"/>
            </a:xfrm>
            <a:prstGeom prst="rect">
              <a:avLst/>
            </a:prstGeom>
            <a:noFill/>
          </p:spPr>
          <p:txBody>
            <a:bodyPr>
              <a:spAutoFit/>
            </a:bodyPr>
            <a:lstStyle>
              <a:defPPr>
                <a:defRPr lang="en-GB"/>
              </a:defPPr>
              <a:lvl1pPr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5pPr>
              <a:lvl6pPr marL="22860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6pPr>
              <a:lvl7pPr marL="27432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7pPr>
              <a:lvl8pPr marL="32004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8pPr>
              <a:lvl9pPr marL="36576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9pPr>
            </a:lstStyle>
            <a:p>
              <a:pPr>
                <a:defRPr/>
              </a:pPr>
              <a:r>
                <a:rPr lang="en-US" altLang="zh-CN" sz="985" dirty="0">
                  <a:solidFill>
                    <a:srgbClr val="00B050"/>
                  </a:solidFill>
                  <a:latin typeface="宋体" panose="02000500000000000000" pitchFamily="2" charset="-122"/>
                </a:rPr>
                <a:t>Vector Unit</a:t>
              </a:r>
              <a:endParaRPr lang="en-US" altLang="zh-CN" sz="985" dirty="0">
                <a:solidFill>
                  <a:srgbClr val="00B050"/>
                </a:solidFill>
                <a:latin typeface="宋体" panose="02000500000000000000" pitchFamily="2" charset="-122"/>
              </a:endParaRPr>
            </a:p>
          </p:txBody>
        </p:sp>
        <p:grpSp>
          <p:nvGrpSpPr>
            <p:cNvPr id="77861" name="组合 37"/>
            <p:cNvGrpSpPr/>
            <p:nvPr/>
          </p:nvGrpSpPr>
          <p:grpSpPr bwMode="auto">
            <a:xfrm>
              <a:off x="5980987" y="1903667"/>
              <a:ext cx="1659967" cy="1505671"/>
              <a:chOff x="5980987" y="1903667"/>
              <a:chExt cx="1659967" cy="1505671"/>
            </a:xfrm>
          </p:grpSpPr>
          <p:grpSp>
            <p:nvGrpSpPr>
              <p:cNvPr id="77862" name="组合 38"/>
              <p:cNvGrpSpPr/>
              <p:nvPr/>
            </p:nvGrpSpPr>
            <p:grpSpPr bwMode="auto">
              <a:xfrm>
                <a:off x="5980987" y="1903667"/>
                <a:ext cx="1049636" cy="1505671"/>
                <a:chOff x="5980987" y="1903667"/>
                <a:chExt cx="1049636" cy="1505671"/>
              </a:xfrm>
            </p:grpSpPr>
            <p:sp>
              <p:nvSpPr>
                <p:cNvPr id="43" name="矩形 42"/>
                <p:cNvSpPr/>
                <p:nvPr/>
              </p:nvSpPr>
              <p:spPr>
                <a:xfrm>
                  <a:off x="5980987" y="1903667"/>
                  <a:ext cx="1048984" cy="150567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endParaRPr lang="zh-CN" altLang="en-US" sz="810" dirty="0">
                    <a:solidFill>
                      <a:schemeClr val="tx1"/>
                    </a:solidFill>
                    <a:latin typeface="宋体" panose="02000500000000000000" pitchFamily="2" charset="-122"/>
                  </a:endParaRPr>
                </a:p>
              </p:txBody>
            </p:sp>
            <p:sp>
              <p:nvSpPr>
                <p:cNvPr id="44" name="矩形 43"/>
                <p:cNvSpPr/>
                <p:nvPr/>
              </p:nvSpPr>
              <p:spPr>
                <a:xfrm>
                  <a:off x="6036530" y="2184492"/>
                  <a:ext cx="941072" cy="15389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810" dirty="0">
                      <a:solidFill>
                        <a:schemeClr val="tx1"/>
                      </a:solidFill>
                      <a:latin typeface="宋体" panose="02000500000000000000" pitchFamily="2" charset="-122"/>
                    </a:rPr>
                    <a:t>Scheduler</a:t>
                  </a:r>
                  <a:endParaRPr lang="en-US" altLang="zh-CN" sz="810" dirty="0">
                    <a:solidFill>
                      <a:schemeClr val="tx1"/>
                    </a:solidFill>
                    <a:latin typeface="宋体" panose="02000500000000000000" pitchFamily="2" charset="-122"/>
                  </a:endParaRPr>
                </a:p>
              </p:txBody>
            </p:sp>
            <p:sp>
              <p:nvSpPr>
                <p:cNvPr id="45" name="矩形 44"/>
                <p:cNvSpPr/>
                <p:nvPr/>
              </p:nvSpPr>
              <p:spPr>
                <a:xfrm>
                  <a:off x="6034944" y="2338392"/>
                  <a:ext cx="942658" cy="19356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810" dirty="0">
                      <a:solidFill>
                        <a:schemeClr val="tx1"/>
                      </a:solidFill>
                      <a:latin typeface="宋体" panose="02000500000000000000" pitchFamily="2" charset="-122"/>
                    </a:rPr>
                    <a:t>Registers</a:t>
                  </a:r>
                  <a:endParaRPr lang="en-US" altLang="zh-CN" sz="810" dirty="0">
                    <a:solidFill>
                      <a:schemeClr val="tx1"/>
                    </a:solidFill>
                    <a:latin typeface="宋体" panose="02000500000000000000" pitchFamily="2" charset="-122"/>
                  </a:endParaRPr>
                </a:p>
              </p:txBody>
            </p:sp>
            <p:sp>
              <p:nvSpPr>
                <p:cNvPr id="46" name="矩形 45"/>
                <p:cNvSpPr/>
                <p:nvPr/>
              </p:nvSpPr>
              <p:spPr>
                <a:xfrm>
                  <a:off x="6034944" y="2533542"/>
                  <a:ext cx="482438" cy="82978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810" dirty="0">
                      <a:solidFill>
                        <a:schemeClr val="tx1"/>
                      </a:solidFill>
                      <a:latin typeface="宋体" panose="02000500000000000000" pitchFamily="2" charset="-122"/>
                    </a:rPr>
                    <a:t>ALUs</a:t>
                  </a:r>
                  <a:endParaRPr lang="en-US" altLang="zh-CN" sz="810" dirty="0">
                    <a:solidFill>
                      <a:schemeClr val="tx1"/>
                    </a:solidFill>
                    <a:latin typeface="宋体" panose="02000500000000000000" pitchFamily="2" charset="-122"/>
                  </a:endParaRPr>
                </a:p>
              </p:txBody>
            </p:sp>
            <p:sp>
              <p:nvSpPr>
                <p:cNvPr id="47" name="矩形 46"/>
                <p:cNvSpPr/>
                <p:nvPr/>
              </p:nvSpPr>
              <p:spPr>
                <a:xfrm>
                  <a:off x="6517382" y="2533542"/>
                  <a:ext cx="461807" cy="83137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810" dirty="0">
                      <a:solidFill>
                        <a:schemeClr val="tx1"/>
                      </a:solidFill>
                      <a:latin typeface="宋体" panose="02000500000000000000" pitchFamily="2" charset="-122"/>
                    </a:rPr>
                    <a:t>Tensor</a:t>
                  </a:r>
                  <a:endParaRPr lang="en-US" altLang="zh-CN" sz="810" dirty="0">
                    <a:solidFill>
                      <a:schemeClr val="tx1"/>
                    </a:solidFill>
                    <a:latin typeface="宋体" panose="02000500000000000000" pitchFamily="2" charset="-122"/>
                  </a:endParaRPr>
                </a:p>
                <a:p>
                  <a:pPr algn="ctr">
                    <a:lnSpc>
                      <a:spcPct val="120000"/>
                    </a:lnSpc>
                    <a:defRPr/>
                  </a:pPr>
                  <a:r>
                    <a:rPr lang="en-US" altLang="zh-CN" sz="810" dirty="0">
                      <a:solidFill>
                        <a:schemeClr val="tx1"/>
                      </a:solidFill>
                      <a:latin typeface="宋体" panose="02000500000000000000" pitchFamily="2" charset="-122"/>
                    </a:rPr>
                    <a:t>Unit</a:t>
                  </a:r>
                  <a:endParaRPr lang="en-US" altLang="zh-CN" sz="810" dirty="0">
                    <a:solidFill>
                      <a:schemeClr val="tx1"/>
                    </a:solidFill>
                    <a:latin typeface="宋体" panose="02000500000000000000" pitchFamily="2" charset="-122"/>
                  </a:endParaRPr>
                </a:p>
              </p:txBody>
            </p:sp>
          </p:grpSp>
          <p:sp>
            <p:nvSpPr>
              <p:cNvPr id="40" name="矩形 39"/>
              <p:cNvSpPr/>
              <p:nvPr/>
            </p:nvSpPr>
            <p:spPr>
              <a:xfrm>
                <a:off x="7080754" y="1903667"/>
                <a:ext cx="152349" cy="150567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endParaRPr lang="zh-CN" altLang="en-US" sz="810" dirty="0">
                  <a:solidFill>
                    <a:schemeClr val="tx1"/>
                  </a:solidFill>
                  <a:latin typeface="宋体" panose="02000500000000000000" pitchFamily="2" charset="-122"/>
                </a:endParaRPr>
              </a:p>
            </p:txBody>
          </p:sp>
          <p:sp>
            <p:nvSpPr>
              <p:cNvPr id="41" name="矩形 40"/>
              <p:cNvSpPr/>
              <p:nvPr/>
            </p:nvSpPr>
            <p:spPr>
              <a:xfrm>
                <a:off x="7283886" y="1903667"/>
                <a:ext cx="152349" cy="150567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endParaRPr lang="zh-CN" altLang="en-US" sz="810" dirty="0">
                  <a:solidFill>
                    <a:schemeClr val="tx1"/>
                  </a:solidFill>
                  <a:latin typeface="宋体" panose="02000500000000000000" pitchFamily="2" charset="-122"/>
                </a:endParaRPr>
              </a:p>
            </p:txBody>
          </p:sp>
          <p:sp>
            <p:nvSpPr>
              <p:cNvPr id="42" name="矩形 41"/>
              <p:cNvSpPr/>
              <p:nvPr/>
            </p:nvSpPr>
            <p:spPr>
              <a:xfrm>
                <a:off x="7488605" y="1903667"/>
                <a:ext cx="152349" cy="150567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endParaRPr lang="zh-CN" altLang="en-US" sz="810" dirty="0">
                  <a:solidFill>
                    <a:schemeClr val="tx1"/>
                  </a:solidFill>
                  <a:latin typeface="宋体" panose="02000500000000000000" pitchFamily="2" charset="-122"/>
                </a:endParaRPr>
              </a:p>
            </p:txBody>
          </p:sp>
        </p:grpSp>
      </p:grpSp>
      <p:grpSp>
        <p:nvGrpSpPr>
          <p:cNvPr id="8" name="组合 5"/>
          <p:cNvGrpSpPr/>
          <p:nvPr/>
        </p:nvGrpSpPr>
        <p:grpSpPr bwMode="auto">
          <a:xfrm>
            <a:off x="6526531" y="1685925"/>
            <a:ext cx="2895600" cy="2420938"/>
            <a:chOff x="5916600" y="1651432"/>
            <a:chExt cx="2897397" cy="2419781"/>
          </a:xfrm>
        </p:grpSpPr>
        <p:sp>
          <p:nvSpPr>
            <p:cNvPr id="30" name="矩形 29"/>
            <p:cNvSpPr/>
            <p:nvPr/>
          </p:nvSpPr>
          <p:spPr>
            <a:xfrm>
              <a:off x="5916600" y="1687928"/>
              <a:ext cx="2897397" cy="177397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endParaRPr lang="zh-CN" altLang="en-US" sz="985" dirty="0">
                <a:solidFill>
                  <a:schemeClr val="accent2"/>
                </a:solidFill>
                <a:latin typeface="宋体" panose="02000500000000000000" pitchFamily="2" charset="-122"/>
              </a:endParaRPr>
            </a:p>
          </p:txBody>
        </p:sp>
        <p:grpSp>
          <p:nvGrpSpPr>
            <p:cNvPr id="77854" name="组合 30"/>
            <p:cNvGrpSpPr/>
            <p:nvPr/>
          </p:nvGrpSpPr>
          <p:grpSpPr bwMode="auto">
            <a:xfrm>
              <a:off x="5916600" y="1651432"/>
              <a:ext cx="2897397" cy="2419781"/>
              <a:chOff x="5916600" y="1651432"/>
              <a:chExt cx="2897397" cy="2419781"/>
            </a:xfrm>
          </p:grpSpPr>
          <p:sp>
            <p:nvSpPr>
              <p:cNvPr id="32" name="矩形 31"/>
              <p:cNvSpPr/>
              <p:nvPr/>
            </p:nvSpPr>
            <p:spPr>
              <a:xfrm>
                <a:off x="7694114" y="1903724"/>
                <a:ext cx="497196" cy="15058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810" dirty="0">
                    <a:solidFill>
                      <a:schemeClr val="tx1"/>
                    </a:solidFill>
                    <a:latin typeface="宋体" panose="02000500000000000000" pitchFamily="2" charset="-122"/>
                  </a:rPr>
                  <a:t>Shared</a:t>
                </a:r>
                <a:endParaRPr lang="en-US" altLang="zh-CN" sz="810" dirty="0">
                  <a:solidFill>
                    <a:schemeClr val="tx1"/>
                  </a:solidFill>
                  <a:latin typeface="宋体" panose="02000500000000000000" pitchFamily="2" charset="-122"/>
                </a:endParaRPr>
              </a:p>
              <a:p>
                <a:pPr algn="ctr">
                  <a:lnSpc>
                    <a:spcPct val="120000"/>
                  </a:lnSpc>
                  <a:defRPr/>
                </a:pPr>
                <a:r>
                  <a:rPr lang="en-US" altLang="zh-CN" sz="810" dirty="0">
                    <a:solidFill>
                      <a:schemeClr val="tx1"/>
                    </a:solidFill>
                    <a:latin typeface="宋体" panose="02000500000000000000" pitchFamily="2" charset="-122"/>
                  </a:rPr>
                  <a:t>Memory</a:t>
                </a:r>
                <a:endParaRPr lang="en-US" altLang="zh-CN" sz="810" dirty="0">
                  <a:solidFill>
                    <a:schemeClr val="tx1"/>
                  </a:solidFill>
                  <a:latin typeface="宋体" panose="02000500000000000000" pitchFamily="2" charset="-122"/>
                </a:endParaRPr>
              </a:p>
            </p:txBody>
          </p:sp>
          <p:sp>
            <p:nvSpPr>
              <p:cNvPr id="33" name="矩形 32"/>
              <p:cNvSpPr/>
              <p:nvPr/>
            </p:nvSpPr>
            <p:spPr>
              <a:xfrm>
                <a:off x="8245319" y="1903724"/>
                <a:ext cx="497195" cy="15058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810" dirty="0">
                    <a:solidFill>
                      <a:schemeClr val="tx1"/>
                    </a:solidFill>
                    <a:latin typeface="宋体" panose="02000500000000000000" pitchFamily="2" charset="-122"/>
                  </a:rPr>
                  <a:t>Cache</a:t>
                </a:r>
                <a:endParaRPr lang="en-US" altLang="zh-CN" sz="810" dirty="0">
                  <a:solidFill>
                    <a:schemeClr val="tx1"/>
                  </a:solidFill>
                  <a:latin typeface="宋体" panose="02000500000000000000" pitchFamily="2" charset="-122"/>
                </a:endParaRPr>
              </a:p>
              <a:p>
                <a:pPr algn="ctr">
                  <a:lnSpc>
                    <a:spcPct val="120000"/>
                  </a:lnSpc>
                  <a:defRPr/>
                </a:pPr>
                <a:r>
                  <a:rPr lang="en-US" altLang="zh-CN" sz="810" dirty="0">
                    <a:solidFill>
                      <a:schemeClr val="tx1"/>
                    </a:solidFill>
                    <a:latin typeface="宋体" panose="02000500000000000000" pitchFamily="2" charset="-122"/>
                  </a:rPr>
                  <a:t>Texture</a:t>
                </a:r>
                <a:endParaRPr lang="en-US" altLang="zh-CN" sz="810" dirty="0">
                  <a:solidFill>
                    <a:schemeClr val="tx1"/>
                  </a:solidFill>
                  <a:latin typeface="宋体" panose="02000500000000000000" pitchFamily="2" charset="-122"/>
                </a:endParaRPr>
              </a:p>
              <a:p>
                <a:pPr algn="ctr">
                  <a:lnSpc>
                    <a:spcPct val="120000"/>
                  </a:lnSpc>
                  <a:defRPr/>
                </a:pPr>
                <a:r>
                  <a:rPr lang="en-US" altLang="zh-CN" sz="810" dirty="0">
                    <a:solidFill>
                      <a:schemeClr val="tx1"/>
                    </a:solidFill>
                    <a:latin typeface="宋体" panose="02000500000000000000" pitchFamily="2" charset="-122"/>
                  </a:rPr>
                  <a:t>Raytrace</a:t>
                </a:r>
                <a:endParaRPr lang="en-US" altLang="zh-CN" sz="810" dirty="0">
                  <a:solidFill>
                    <a:schemeClr val="tx1"/>
                  </a:solidFill>
                  <a:latin typeface="宋体" panose="02000500000000000000" pitchFamily="2" charset="-122"/>
                </a:endParaRPr>
              </a:p>
            </p:txBody>
          </p:sp>
          <p:sp>
            <p:nvSpPr>
              <p:cNvPr id="34" name="文本框 30"/>
              <p:cNvSpPr txBox="1"/>
              <p:nvPr/>
            </p:nvSpPr>
            <p:spPr>
              <a:xfrm>
                <a:off x="5916600" y="1651432"/>
                <a:ext cx="1634551" cy="243089"/>
              </a:xfrm>
              <a:prstGeom prst="rect">
                <a:avLst/>
              </a:prstGeom>
              <a:noFill/>
            </p:spPr>
            <p:txBody>
              <a:bodyPr>
                <a:spAutoFit/>
              </a:bodyPr>
              <a:lstStyle>
                <a:defPPr>
                  <a:defRPr lang="en-GB"/>
                </a:defPPr>
                <a:lvl1pPr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5pPr>
                <a:lvl6pPr marL="22860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6pPr>
                <a:lvl7pPr marL="27432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7pPr>
                <a:lvl8pPr marL="32004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8pPr>
                <a:lvl9pPr marL="36576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9pPr>
              </a:lstStyle>
              <a:p>
                <a:pPr>
                  <a:defRPr/>
                </a:pPr>
                <a:r>
                  <a:rPr lang="en-US" altLang="zh-CN" sz="985" dirty="0">
                    <a:solidFill>
                      <a:schemeClr val="accent2"/>
                    </a:solidFill>
                    <a:latin typeface="宋体" panose="02000500000000000000" pitchFamily="2" charset="-122"/>
                  </a:rPr>
                  <a:t>Stream Processor</a:t>
                </a:r>
                <a:endParaRPr lang="en-US" altLang="zh-CN" sz="985" dirty="0">
                  <a:solidFill>
                    <a:schemeClr val="accent2"/>
                  </a:solidFill>
                  <a:latin typeface="宋体" panose="02000500000000000000" pitchFamily="2" charset="-122"/>
                </a:endParaRPr>
              </a:p>
            </p:txBody>
          </p:sp>
          <p:sp>
            <p:nvSpPr>
              <p:cNvPr id="35" name="矩形 34"/>
              <p:cNvSpPr/>
              <p:nvPr/>
            </p:nvSpPr>
            <p:spPr>
              <a:xfrm>
                <a:off x="5916600" y="3880804"/>
                <a:ext cx="2897397" cy="190409"/>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SP</a:t>
                </a:r>
                <a:endParaRPr lang="en-US" altLang="zh-CN" sz="985" dirty="0">
                  <a:solidFill>
                    <a:schemeClr val="tx1"/>
                  </a:solidFill>
                  <a:latin typeface="宋体" panose="02000500000000000000" pitchFamily="2" charset="-122"/>
                </a:endParaRPr>
              </a:p>
            </p:txBody>
          </p:sp>
          <p:sp>
            <p:nvSpPr>
              <p:cNvPr id="36" name="矩形 35"/>
              <p:cNvSpPr/>
              <p:nvPr/>
            </p:nvSpPr>
            <p:spPr>
              <a:xfrm>
                <a:off x="5916600" y="3509507"/>
                <a:ext cx="2897397" cy="18882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SP</a:t>
                </a:r>
                <a:endParaRPr lang="en-US" altLang="zh-CN" sz="985" dirty="0">
                  <a:solidFill>
                    <a:schemeClr val="tx1"/>
                  </a:solidFill>
                  <a:latin typeface="宋体" panose="02000500000000000000" pitchFamily="2" charset="-122"/>
                </a:endParaRPr>
              </a:p>
            </p:txBody>
          </p:sp>
        </p:grpSp>
      </p:grpSp>
      <p:sp>
        <p:nvSpPr>
          <p:cNvPr id="7" name="矩形 6"/>
          <p:cNvSpPr/>
          <p:nvPr/>
        </p:nvSpPr>
        <p:spPr>
          <a:xfrm>
            <a:off x="6431281" y="4679950"/>
            <a:ext cx="4865687" cy="341313"/>
          </a:xfrm>
          <a:prstGeom prst="rect">
            <a:avLst/>
          </a:prstGeom>
          <a:noFill/>
          <a:ln w="19050">
            <a:solidFill>
              <a:srgbClr val="A618A7"/>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Interconnect Network</a:t>
            </a:r>
            <a:r>
              <a:rPr lang="zh-CN" altLang="en-US" sz="985" dirty="0">
                <a:solidFill>
                  <a:schemeClr val="tx1"/>
                </a:solidFill>
                <a:latin typeface="宋体" panose="02000500000000000000" pitchFamily="2" charset="-122"/>
              </a:rPr>
              <a:t>（</a:t>
            </a:r>
            <a:r>
              <a:rPr lang="en-US" altLang="zh-CN" sz="985" dirty="0">
                <a:solidFill>
                  <a:schemeClr val="tx1"/>
                </a:solidFill>
                <a:latin typeface="宋体" panose="02000500000000000000" pitchFamily="2" charset="-122"/>
              </a:rPr>
              <a:t>L1N</a:t>
            </a:r>
            <a:r>
              <a:rPr lang="zh-CN" altLang="en-US" sz="985" dirty="0">
                <a:solidFill>
                  <a:schemeClr val="tx1"/>
                </a:solidFill>
                <a:latin typeface="宋体" panose="02000500000000000000" pitchFamily="2" charset="-122"/>
              </a:rPr>
              <a:t>）</a:t>
            </a:r>
            <a:endParaRPr lang="zh-CN" altLang="en-US" sz="985" dirty="0">
              <a:solidFill>
                <a:schemeClr val="tx1"/>
              </a:solidFill>
              <a:latin typeface="宋体" panose="02000500000000000000" pitchFamily="2" charset="-122"/>
            </a:endParaRPr>
          </a:p>
        </p:txBody>
      </p:sp>
      <p:grpSp>
        <p:nvGrpSpPr>
          <p:cNvPr id="38" name="组合 7"/>
          <p:cNvGrpSpPr/>
          <p:nvPr/>
        </p:nvGrpSpPr>
        <p:grpSpPr bwMode="auto">
          <a:xfrm>
            <a:off x="6431281" y="1411288"/>
            <a:ext cx="4865687" cy="3143250"/>
            <a:chOff x="5821362" y="1375973"/>
            <a:chExt cx="4866554" cy="3142943"/>
          </a:xfrm>
        </p:grpSpPr>
        <p:sp>
          <p:nvSpPr>
            <p:cNvPr id="25" name="矩形 24"/>
            <p:cNvSpPr/>
            <p:nvPr/>
          </p:nvSpPr>
          <p:spPr>
            <a:xfrm>
              <a:off x="5821362" y="1399783"/>
              <a:ext cx="3069184" cy="31191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endParaRPr lang="zh-CN" altLang="en-US" sz="985" dirty="0">
                <a:solidFill>
                  <a:schemeClr val="tx1"/>
                </a:solidFill>
                <a:latin typeface="宋体" panose="02000500000000000000" pitchFamily="2" charset="-122"/>
              </a:endParaRPr>
            </a:p>
          </p:txBody>
        </p:sp>
        <p:sp>
          <p:nvSpPr>
            <p:cNvPr id="26" name="文本框 35"/>
            <p:cNvSpPr txBox="1"/>
            <p:nvPr/>
          </p:nvSpPr>
          <p:spPr>
            <a:xfrm>
              <a:off x="5910278" y="1375973"/>
              <a:ext cx="2280056" cy="243181"/>
            </a:xfrm>
            <a:prstGeom prst="rect">
              <a:avLst/>
            </a:prstGeom>
            <a:noFill/>
          </p:spPr>
          <p:txBody>
            <a:bodyPr>
              <a:spAutoFit/>
            </a:bodyPr>
            <a:lstStyle>
              <a:defPPr>
                <a:defRPr lang="en-GB"/>
              </a:defPPr>
              <a:lvl1pPr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5pPr>
              <a:lvl6pPr marL="22860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6pPr>
              <a:lvl7pPr marL="27432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7pPr>
              <a:lvl8pPr marL="32004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8pPr>
              <a:lvl9pPr marL="36576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9pPr>
            </a:lstStyle>
            <a:p>
              <a:pPr>
                <a:defRPr/>
              </a:pPr>
              <a:r>
                <a:rPr lang="en-US" altLang="zh-CN" sz="985" dirty="0">
                  <a:solidFill>
                    <a:srgbClr val="FF0000"/>
                  </a:solidFill>
                  <a:latin typeface="宋体" panose="02000500000000000000" pitchFamily="2" charset="-122"/>
                </a:rPr>
                <a:t>Graphics Process Cluster</a:t>
              </a:r>
              <a:endParaRPr lang="en-US" altLang="zh-CN" sz="985" dirty="0">
                <a:solidFill>
                  <a:srgbClr val="FF0000"/>
                </a:solidFill>
                <a:latin typeface="宋体" panose="02000500000000000000" pitchFamily="2" charset="-122"/>
              </a:endParaRPr>
            </a:p>
          </p:txBody>
        </p:sp>
        <p:sp>
          <p:nvSpPr>
            <p:cNvPr id="27" name="矩形 26"/>
            <p:cNvSpPr/>
            <p:nvPr/>
          </p:nvSpPr>
          <p:spPr>
            <a:xfrm>
              <a:off x="5916629" y="4171287"/>
              <a:ext cx="2897703" cy="2746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Graphics Pipeline</a:t>
              </a:r>
              <a:endParaRPr lang="en-US" altLang="zh-CN" sz="985" dirty="0">
                <a:solidFill>
                  <a:schemeClr val="tx1"/>
                </a:solidFill>
                <a:latin typeface="宋体" panose="02000500000000000000" pitchFamily="2" charset="-122"/>
              </a:endParaRPr>
            </a:p>
          </p:txBody>
        </p:sp>
        <p:sp>
          <p:nvSpPr>
            <p:cNvPr id="28" name="矩形 27"/>
            <p:cNvSpPr/>
            <p:nvPr/>
          </p:nvSpPr>
          <p:spPr>
            <a:xfrm>
              <a:off x="9031859" y="1399783"/>
              <a:ext cx="616060" cy="31191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GPC</a:t>
              </a:r>
              <a:endParaRPr lang="en-US" altLang="zh-CN" sz="985" dirty="0">
                <a:solidFill>
                  <a:schemeClr val="tx1"/>
                </a:solidFill>
                <a:latin typeface="宋体" panose="02000500000000000000" pitchFamily="2" charset="-122"/>
              </a:endParaRPr>
            </a:p>
          </p:txBody>
        </p:sp>
        <p:sp>
          <p:nvSpPr>
            <p:cNvPr id="29" name="矩形 28"/>
            <p:cNvSpPr/>
            <p:nvPr/>
          </p:nvSpPr>
          <p:spPr>
            <a:xfrm>
              <a:off x="10071856" y="1395021"/>
              <a:ext cx="616060" cy="31191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GPC</a:t>
              </a:r>
              <a:endParaRPr lang="en-US" altLang="zh-CN" sz="985" dirty="0">
                <a:solidFill>
                  <a:schemeClr val="tx1"/>
                </a:solidFill>
                <a:latin typeface="宋体" panose="02000500000000000000" pitchFamily="2" charset="-122"/>
              </a:endParaRPr>
            </a:p>
          </p:txBody>
        </p:sp>
      </p:grpSp>
      <p:sp>
        <p:nvSpPr>
          <p:cNvPr id="9" name="文本框 40"/>
          <p:cNvSpPr txBox="1"/>
          <p:nvPr/>
        </p:nvSpPr>
        <p:spPr>
          <a:xfrm>
            <a:off x="7809231" y="3624263"/>
            <a:ext cx="350837" cy="257175"/>
          </a:xfrm>
          <a:prstGeom prst="rect">
            <a:avLst/>
          </a:prstGeom>
          <a:noFill/>
        </p:spPr>
        <p:txBody>
          <a:bodyPr>
            <a:spAutoFit/>
          </a:bodyPr>
          <a:lstStyle>
            <a:defPPr>
              <a:defRPr lang="en-GB"/>
            </a:defPPr>
            <a:lvl1pPr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5pPr>
            <a:lvl6pPr marL="22860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6pPr>
            <a:lvl7pPr marL="27432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7pPr>
            <a:lvl8pPr marL="32004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8pPr>
            <a:lvl9pPr marL="36576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9pPr>
          </a:lstStyle>
          <a:p>
            <a:pPr>
              <a:defRPr/>
            </a:pPr>
            <a:r>
              <a:rPr lang="en-US" altLang="zh-CN" sz="1075">
                <a:latin typeface="宋体" panose="02000500000000000000" pitchFamily="2" charset="-122"/>
              </a:rPr>
              <a:t>...</a:t>
            </a:r>
            <a:endParaRPr lang="en-US" altLang="zh-CN" sz="1075">
              <a:latin typeface="宋体" panose="02000500000000000000" pitchFamily="2" charset="-122"/>
            </a:endParaRPr>
          </a:p>
        </p:txBody>
      </p:sp>
      <p:sp>
        <p:nvSpPr>
          <p:cNvPr id="10" name="文本框 41"/>
          <p:cNvSpPr txBox="1"/>
          <p:nvPr/>
        </p:nvSpPr>
        <p:spPr>
          <a:xfrm>
            <a:off x="10331768" y="2814638"/>
            <a:ext cx="352425" cy="257175"/>
          </a:xfrm>
          <a:prstGeom prst="rect">
            <a:avLst/>
          </a:prstGeom>
          <a:noFill/>
        </p:spPr>
        <p:txBody>
          <a:bodyPr>
            <a:spAutoFit/>
          </a:bodyPr>
          <a:lstStyle>
            <a:defPPr>
              <a:defRPr lang="en-GB"/>
            </a:defPPr>
            <a:lvl1pPr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5pPr>
            <a:lvl6pPr marL="22860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6pPr>
            <a:lvl7pPr marL="27432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7pPr>
            <a:lvl8pPr marL="32004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8pPr>
            <a:lvl9pPr marL="36576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9pPr>
          </a:lstStyle>
          <a:p>
            <a:pPr>
              <a:defRPr/>
            </a:pPr>
            <a:r>
              <a:rPr lang="en-US" altLang="zh-CN" sz="1075">
                <a:latin typeface="宋体" panose="02000500000000000000" pitchFamily="2" charset="-122"/>
              </a:rPr>
              <a:t>...</a:t>
            </a:r>
            <a:endParaRPr lang="en-US" altLang="zh-CN" sz="1075">
              <a:latin typeface="宋体" panose="02000500000000000000" pitchFamily="2" charset="-122"/>
            </a:endParaRPr>
          </a:p>
        </p:txBody>
      </p:sp>
      <p:sp>
        <p:nvSpPr>
          <p:cNvPr id="11" name="矩形 10"/>
          <p:cNvSpPr/>
          <p:nvPr/>
        </p:nvSpPr>
        <p:spPr>
          <a:xfrm>
            <a:off x="6431281" y="5113338"/>
            <a:ext cx="1460500" cy="3540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L2 cache</a:t>
            </a:r>
            <a:endParaRPr lang="en-US" altLang="zh-CN" sz="985" dirty="0">
              <a:solidFill>
                <a:schemeClr val="tx1"/>
              </a:solidFill>
              <a:latin typeface="宋体" panose="02000500000000000000" pitchFamily="2" charset="-122"/>
            </a:endParaRPr>
          </a:p>
        </p:txBody>
      </p:sp>
      <p:sp>
        <p:nvSpPr>
          <p:cNvPr id="12" name="矩形 11"/>
          <p:cNvSpPr/>
          <p:nvPr/>
        </p:nvSpPr>
        <p:spPr>
          <a:xfrm>
            <a:off x="7961631" y="5116513"/>
            <a:ext cx="1460500" cy="3524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L2 cache</a:t>
            </a:r>
            <a:endParaRPr lang="en-US" altLang="zh-CN" sz="985" dirty="0">
              <a:solidFill>
                <a:schemeClr val="tx1"/>
              </a:solidFill>
              <a:latin typeface="宋体" panose="02000500000000000000" pitchFamily="2" charset="-122"/>
            </a:endParaRPr>
          </a:p>
        </p:txBody>
      </p:sp>
      <p:sp>
        <p:nvSpPr>
          <p:cNvPr id="13" name="矩形 12"/>
          <p:cNvSpPr/>
          <p:nvPr/>
        </p:nvSpPr>
        <p:spPr>
          <a:xfrm>
            <a:off x="9834881" y="5116513"/>
            <a:ext cx="1462087" cy="3540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L2 cache</a:t>
            </a:r>
            <a:endParaRPr lang="en-US" altLang="zh-CN" sz="985" dirty="0">
              <a:solidFill>
                <a:schemeClr val="tx1"/>
              </a:solidFill>
              <a:latin typeface="宋体" panose="02000500000000000000" pitchFamily="2" charset="-122"/>
            </a:endParaRPr>
          </a:p>
        </p:txBody>
      </p:sp>
      <p:sp>
        <p:nvSpPr>
          <p:cNvPr id="14" name="文本框 48"/>
          <p:cNvSpPr txBox="1"/>
          <p:nvPr/>
        </p:nvSpPr>
        <p:spPr>
          <a:xfrm>
            <a:off x="9474518" y="5084763"/>
            <a:ext cx="350838" cy="257175"/>
          </a:xfrm>
          <a:prstGeom prst="rect">
            <a:avLst/>
          </a:prstGeom>
          <a:noFill/>
        </p:spPr>
        <p:txBody>
          <a:bodyPr>
            <a:spAutoFit/>
          </a:bodyPr>
          <a:lstStyle>
            <a:defPPr>
              <a:defRPr lang="en-GB"/>
            </a:defPPr>
            <a:lvl1pPr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5pPr>
            <a:lvl6pPr marL="22860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6pPr>
            <a:lvl7pPr marL="27432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7pPr>
            <a:lvl8pPr marL="32004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8pPr>
            <a:lvl9pPr marL="36576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9pPr>
          </a:lstStyle>
          <a:p>
            <a:pPr>
              <a:defRPr/>
            </a:pPr>
            <a:r>
              <a:rPr lang="en-US" altLang="zh-CN" sz="1075">
                <a:latin typeface="宋体" panose="02000500000000000000" pitchFamily="2" charset="-122"/>
              </a:rPr>
              <a:t>...</a:t>
            </a:r>
            <a:endParaRPr lang="en-US" altLang="zh-CN" sz="1075">
              <a:latin typeface="宋体" panose="02000500000000000000" pitchFamily="2" charset="-122"/>
            </a:endParaRPr>
          </a:p>
        </p:txBody>
      </p:sp>
      <p:sp>
        <p:nvSpPr>
          <p:cNvPr id="15" name="矩形 14"/>
          <p:cNvSpPr/>
          <p:nvPr/>
        </p:nvSpPr>
        <p:spPr>
          <a:xfrm>
            <a:off x="5432743" y="5595938"/>
            <a:ext cx="5864225" cy="341312"/>
          </a:xfrm>
          <a:prstGeom prst="rect">
            <a:avLst/>
          </a:prstGeom>
          <a:noFill/>
          <a:ln w="19050">
            <a:solidFill>
              <a:srgbClr val="A618A7"/>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Interconnect Network</a:t>
            </a:r>
            <a:r>
              <a:rPr lang="zh-CN" altLang="en-US" sz="985" dirty="0">
                <a:solidFill>
                  <a:schemeClr val="tx1"/>
                </a:solidFill>
                <a:latin typeface="宋体" panose="02000500000000000000" pitchFamily="2" charset="-122"/>
              </a:rPr>
              <a:t>（</a:t>
            </a:r>
            <a:r>
              <a:rPr lang="en-US" altLang="zh-CN" sz="985" dirty="0">
                <a:solidFill>
                  <a:schemeClr val="tx1"/>
                </a:solidFill>
                <a:latin typeface="宋体" panose="02000500000000000000" pitchFamily="2" charset="-122"/>
              </a:rPr>
              <a:t>L2N</a:t>
            </a:r>
            <a:r>
              <a:rPr lang="zh-CN" altLang="en-US" sz="985" dirty="0">
                <a:solidFill>
                  <a:schemeClr val="tx1"/>
                </a:solidFill>
                <a:latin typeface="宋体" panose="02000500000000000000" pitchFamily="2" charset="-122"/>
              </a:rPr>
              <a:t>）</a:t>
            </a:r>
            <a:endParaRPr lang="zh-CN" altLang="en-US" sz="985" dirty="0">
              <a:solidFill>
                <a:schemeClr val="tx1"/>
              </a:solidFill>
              <a:latin typeface="宋体" panose="02000500000000000000" pitchFamily="2" charset="-122"/>
            </a:endParaRPr>
          </a:p>
        </p:txBody>
      </p:sp>
      <p:sp>
        <p:nvSpPr>
          <p:cNvPr id="16" name="矩形 15"/>
          <p:cNvSpPr/>
          <p:nvPr/>
        </p:nvSpPr>
        <p:spPr>
          <a:xfrm>
            <a:off x="5432743" y="6062663"/>
            <a:ext cx="1462088" cy="3540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Memory Controller</a:t>
            </a:r>
            <a:endParaRPr lang="en-US" altLang="zh-CN" sz="985" dirty="0">
              <a:solidFill>
                <a:schemeClr val="tx1"/>
              </a:solidFill>
              <a:latin typeface="宋体" panose="02000500000000000000" pitchFamily="2" charset="-122"/>
            </a:endParaRPr>
          </a:p>
        </p:txBody>
      </p:sp>
      <p:sp>
        <p:nvSpPr>
          <p:cNvPr id="17" name="矩形 16"/>
          <p:cNvSpPr/>
          <p:nvPr/>
        </p:nvSpPr>
        <p:spPr>
          <a:xfrm>
            <a:off x="7126606" y="6062663"/>
            <a:ext cx="1462087" cy="3540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Memory Contoller</a:t>
            </a:r>
            <a:endParaRPr lang="en-US" altLang="zh-CN" sz="985" dirty="0">
              <a:solidFill>
                <a:schemeClr val="tx1"/>
              </a:solidFill>
              <a:latin typeface="宋体" panose="02000500000000000000" pitchFamily="2" charset="-122"/>
            </a:endParaRPr>
          </a:p>
        </p:txBody>
      </p:sp>
      <p:sp>
        <p:nvSpPr>
          <p:cNvPr id="18" name="矩形 17"/>
          <p:cNvSpPr/>
          <p:nvPr/>
        </p:nvSpPr>
        <p:spPr>
          <a:xfrm>
            <a:off x="9834881" y="6062663"/>
            <a:ext cx="1462087" cy="3540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Memory Controller</a:t>
            </a:r>
            <a:endParaRPr lang="en-US" altLang="zh-CN" sz="985" dirty="0">
              <a:solidFill>
                <a:schemeClr val="tx1"/>
              </a:solidFill>
              <a:latin typeface="宋体" panose="02000500000000000000" pitchFamily="2" charset="-122"/>
            </a:endParaRPr>
          </a:p>
        </p:txBody>
      </p:sp>
      <p:sp>
        <p:nvSpPr>
          <p:cNvPr id="19" name="文本框 53"/>
          <p:cNvSpPr txBox="1"/>
          <p:nvPr/>
        </p:nvSpPr>
        <p:spPr>
          <a:xfrm>
            <a:off x="9101456" y="6029325"/>
            <a:ext cx="352425" cy="257175"/>
          </a:xfrm>
          <a:prstGeom prst="rect">
            <a:avLst/>
          </a:prstGeom>
          <a:noFill/>
        </p:spPr>
        <p:txBody>
          <a:bodyPr>
            <a:spAutoFit/>
          </a:bodyPr>
          <a:lstStyle>
            <a:defPPr>
              <a:defRPr lang="en-GB"/>
            </a:defPPr>
            <a:lvl1pPr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bg1"/>
                </a:solidFill>
                <a:latin typeface="Times New Roman" pitchFamily="18" charset="0"/>
                <a:ea typeface="宋体" panose="02000500000000000000" pitchFamily="2" charset="-122"/>
                <a:cs typeface="+mn-cs"/>
              </a:defRPr>
            </a:lvl5pPr>
            <a:lvl6pPr marL="22860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6pPr>
            <a:lvl7pPr marL="27432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7pPr>
            <a:lvl8pPr marL="32004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8pPr>
            <a:lvl9pPr marL="3657600" algn="l" defTabSz="914400" rtl="0" eaLnBrk="1" latinLnBrk="0" hangingPunct="1">
              <a:defRPr sz="2400" kern="1200">
                <a:solidFill>
                  <a:schemeClr val="bg1"/>
                </a:solidFill>
                <a:latin typeface="Times New Roman" pitchFamily="18" charset="0"/>
                <a:ea typeface="宋体" panose="02000500000000000000" pitchFamily="2" charset="-122"/>
                <a:cs typeface="+mn-cs"/>
              </a:defRPr>
            </a:lvl9pPr>
          </a:lstStyle>
          <a:p>
            <a:pPr>
              <a:defRPr/>
            </a:pPr>
            <a:r>
              <a:rPr lang="en-US" altLang="zh-CN" sz="1075">
                <a:latin typeface="宋体" panose="02000500000000000000" pitchFamily="2" charset="-122"/>
              </a:rPr>
              <a:t>...</a:t>
            </a:r>
            <a:endParaRPr lang="en-US" altLang="zh-CN" sz="1075">
              <a:latin typeface="宋体" panose="02000500000000000000" pitchFamily="2" charset="-122"/>
            </a:endParaRPr>
          </a:p>
        </p:txBody>
      </p:sp>
      <p:sp>
        <p:nvSpPr>
          <p:cNvPr id="20" name="矩形 19"/>
          <p:cNvSpPr/>
          <p:nvPr/>
        </p:nvSpPr>
        <p:spPr>
          <a:xfrm>
            <a:off x="5442268" y="1446213"/>
            <a:ext cx="814388" cy="682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Command</a:t>
            </a:r>
            <a:endParaRPr lang="en-US" altLang="zh-CN" sz="985" dirty="0">
              <a:solidFill>
                <a:schemeClr val="tx1"/>
              </a:solidFill>
              <a:latin typeface="宋体" panose="02000500000000000000" pitchFamily="2" charset="-122"/>
            </a:endParaRPr>
          </a:p>
          <a:p>
            <a:pPr algn="ctr">
              <a:lnSpc>
                <a:spcPct val="120000"/>
              </a:lnSpc>
              <a:defRPr/>
            </a:pPr>
            <a:r>
              <a:rPr lang="en-US" altLang="zh-CN" sz="985" dirty="0">
                <a:solidFill>
                  <a:schemeClr val="tx1"/>
                </a:solidFill>
                <a:latin typeface="宋体" panose="02000500000000000000" pitchFamily="2" charset="-122"/>
              </a:rPr>
              <a:t>Processor</a:t>
            </a:r>
            <a:endParaRPr lang="en-US" altLang="zh-CN" sz="985" dirty="0">
              <a:solidFill>
                <a:schemeClr val="tx1"/>
              </a:solidFill>
              <a:latin typeface="宋体" panose="02000500000000000000" pitchFamily="2" charset="-122"/>
            </a:endParaRPr>
          </a:p>
        </p:txBody>
      </p:sp>
      <p:sp>
        <p:nvSpPr>
          <p:cNvPr id="21" name="矩形 20"/>
          <p:cNvSpPr/>
          <p:nvPr/>
        </p:nvSpPr>
        <p:spPr>
          <a:xfrm>
            <a:off x="5434331" y="2282825"/>
            <a:ext cx="814387" cy="682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Display</a:t>
            </a:r>
            <a:endParaRPr lang="en-US" altLang="zh-CN" sz="985" dirty="0">
              <a:solidFill>
                <a:schemeClr val="tx1"/>
              </a:solidFill>
              <a:latin typeface="宋体" panose="02000500000000000000" pitchFamily="2" charset="-122"/>
            </a:endParaRPr>
          </a:p>
          <a:p>
            <a:pPr algn="ctr">
              <a:lnSpc>
                <a:spcPct val="120000"/>
              </a:lnSpc>
              <a:defRPr/>
            </a:pPr>
            <a:r>
              <a:rPr lang="en-US" altLang="zh-CN" sz="985" dirty="0">
                <a:solidFill>
                  <a:schemeClr val="tx1"/>
                </a:solidFill>
                <a:latin typeface="宋体" panose="02000500000000000000" pitchFamily="2" charset="-122"/>
              </a:rPr>
              <a:t>Controller</a:t>
            </a:r>
            <a:endParaRPr lang="en-US" altLang="zh-CN" sz="985" dirty="0">
              <a:solidFill>
                <a:schemeClr val="tx1"/>
              </a:solidFill>
              <a:latin typeface="宋体" panose="02000500000000000000" pitchFamily="2" charset="-122"/>
            </a:endParaRPr>
          </a:p>
        </p:txBody>
      </p:sp>
      <p:sp>
        <p:nvSpPr>
          <p:cNvPr id="22" name="矩形 21"/>
          <p:cNvSpPr/>
          <p:nvPr/>
        </p:nvSpPr>
        <p:spPr>
          <a:xfrm>
            <a:off x="5434331" y="3119438"/>
            <a:ext cx="814387" cy="682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VIDEO</a:t>
            </a:r>
            <a:endParaRPr lang="en-US" altLang="zh-CN" sz="985" dirty="0">
              <a:solidFill>
                <a:schemeClr val="tx1"/>
              </a:solidFill>
              <a:latin typeface="宋体" panose="02000500000000000000" pitchFamily="2" charset="-122"/>
            </a:endParaRPr>
          </a:p>
          <a:p>
            <a:pPr algn="ctr">
              <a:lnSpc>
                <a:spcPct val="120000"/>
              </a:lnSpc>
              <a:defRPr/>
            </a:pPr>
            <a:r>
              <a:rPr lang="en-US" altLang="zh-CN" sz="985" dirty="0">
                <a:solidFill>
                  <a:schemeClr val="tx1"/>
                </a:solidFill>
                <a:latin typeface="宋体" panose="02000500000000000000" pitchFamily="2" charset="-122"/>
              </a:rPr>
              <a:t>dec/enc</a:t>
            </a:r>
            <a:endParaRPr lang="en-US" altLang="zh-CN" sz="985" dirty="0">
              <a:solidFill>
                <a:schemeClr val="tx1"/>
              </a:solidFill>
              <a:latin typeface="宋体" panose="02000500000000000000" pitchFamily="2" charset="-122"/>
            </a:endParaRPr>
          </a:p>
        </p:txBody>
      </p:sp>
      <p:sp>
        <p:nvSpPr>
          <p:cNvPr id="23" name="矩形 22"/>
          <p:cNvSpPr/>
          <p:nvPr/>
        </p:nvSpPr>
        <p:spPr>
          <a:xfrm>
            <a:off x="5434331" y="3932238"/>
            <a:ext cx="814387" cy="6842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1"/>
                </a:solidFill>
                <a:latin typeface="宋体" panose="02000500000000000000" pitchFamily="2" charset="-122"/>
              </a:rPr>
              <a:t>PCIE</a:t>
            </a:r>
            <a:endParaRPr lang="en-US" altLang="zh-CN" sz="985" dirty="0">
              <a:solidFill>
                <a:schemeClr val="tx1"/>
              </a:solidFill>
              <a:latin typeface="宋体" panose="02000500000000000000" pitchFamily="2" charset="-122"/>
            </a:endParaRPr>
          </a:p>
        </p:txBody>
      </p:sp>
      <p:sp>
        <p:nvSpPr>
          <p:cNvPr id="24" name="矩形 23"/>
          <p:cNvSpPr/>
          <p:nvPr/>
        </p:nvSpPr>
        <p:spPr>
          <a:xfrm>
            <a:off x="5434331" y="4724400"/>
            <a:ext cx="814387" cy="684213"/>
          </a:xfrm>
          <a:prstGeom prst="rect">
            <a:avLst/>
          </a:prstGeom>
          <a:noFill/>
          <a:ln w="19050">
            <a:solidFill>
              <a:srgbClr val="A618A7"/>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defPPr>
              <a:defRPr lang="en-GB"/>
            </a:defPPr>
            <a:lvl1pPr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1pPr>
            <a:lvl2pPr marL="742950" indent="-28575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2pPr>
            <a:lvl3pPr marL="11430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3pPr>
            <a:lvl4pPr marL="16002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4pPr>
            <a:lvl5pPr marL="2057400" indent="-228600" algn="l" defTabSz="449580" rtl="0" fontAlgn="base">
              <a:spcBef>
                <a:spcPct val="0"/>
              </a:spcBef>
              <a:spcAft>
                <a:spcPct val="0"/>
              </a:spcAft>
              <a:buSzPct val="100000"/>
              <a:buFont typeface="Times New Roman" pitchFamily="18" charset="0"/>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lnSpc>
                <a:spcPct val="120000"/>
              </a:lnSpc>
              <a:defRPr/>
            </a:pPr>
            <a:r>
              <a:rPr lang="en-US" altLang="zh-CN" sz="985" dirty="0">
                <a:solidFill>
                  <a:schemeClr val="tx2"/>
                </a:solidFill>
                <a:latin typeface="宋体" panose="02000500000000000000" pitchFamily="2" charset="-122"/>
              </a:rPr>
              <a:t>Inter-Chip</a:t>
            </a:r>
            <a:endParaRPr lang="en-US" altLang="zh-CN" sz="985" dirty="0">
              <a:solidFill>
                <a:schemeClr val="tx2"/>
              </a:solidFill>
              <a:latin typeface="宋体" panose="02000500000000000000" pitchFamily="2" charset="-122"/>
            </a:endParaRPr>
          </a:p>
          <a:p>
            <a:pPr algn="ctr">
              <a:lnSpc>
                <a:spcPct val="120000"/>
              </a:lnSpc>
              <a:defRPr/>
            </a:pPr>
            <a:r>
              <a:rPr lang="en-US" altLang="zh-CN" sz="985" dirty="0">
                <a:solidFill>
                  <a:schemeClr val="tx2"/>
                </a:solidFill>
                <a:latin typeface="宋体" panose="02000500000000000000" pitchFamily="2" charset="-122"/>
              </a:rPr>
              <a:t>Link</a:t>
            </a:r>
            <a:endParaRPr lang="en-US" altLang="zh-CN" sz="985" dirty="0">
              <a:solidFill>
                <a:schemeClr val="tx2"/>
              </a:solidFill>
              <a:latin typeface="宋体"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down)">
                                      <p:cBhvr>
                                        <p:cTn id="10" dur="500"/>
                                        <p:tgtEl>
                                          <p:spTgt spid="4">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wipe(down)">
                                      <p:cBhvr>
                                        <p:cTn id="13" dur="500"/>
                                        <p:tgtEl>
                                          <p:spTgt spid="4">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wipe(down)">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500" fill="hold"/>
                                        <p:tgtEl>
                                          <p:spTgt spid="38"/>
                                        </p:tgtEl>
                                        <p:attrNameLst>
                                          <p:attrName>ppt_x</p:attrName>
                                        </p:attrNameLst>
                                      </p:cBhvr>
                                      <p:tavLst>
                                        <p:tav tm="0">
                                          <p:val>
                                            <p:strVal val="1+#ppt_w/2"/>
                                          </p:val>
                                        </p:tav>
                                        <p:tav tm="100000">
                                          <p:val>
                                            <p:strVal val="#ppt_x"/>
                                          </p:val>
                                        </p:tav>
                                      </p:tavLst>
                                    </p:anim>
                                    <p:anim calcmode="lin" valueType="num">
                                      <p:cBhvr additive="base">
                                        <p:cTn id="22"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down)">
                                      <p:cBhvr>
                                        <p:cTn id="27" dur="500"/>
                                        <p:tgtEl>
                                          <p:spTgt spid="4">
                                            <p:txEl>
                                              <p:pRg st="4" end="4"/>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wipe(down)">
                                      <p:cBhvr>
                                        <p:cTn id="30" dur="500"/>
                                        <p:tgtEl>
                                          <p:spTgt spid="4">
                                            <p:txEl>
                                              <p:pRg st="5" end="5"/>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wipe(down)">
                                      <p:cBhvr>
                                        <p:cTn id="33" dur="500"/>
                                        <p:tgtEl>
                                          <p:spTgt spid="4">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1+#ppt_w/2"/>
                                          </p:val>
                                        </p:tav>
                                        <p:tav tm="100000">
                                          <p:val>
                                            <p:strVal val="#ppt_x"/>
                                          </p:val>
                                        </p:tav>
                                      </p:tavLst>
                                    </p:anim>
                                    <p:anim calcmode="lin" valueType="num">
                                      <p:cBhvr additive="base">
                                        <p:cTn id="39"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4">
                                            <p:txEl>
                                              <p:pRg st="7" end="7"/>
                                            </p:txEl>
                                          </p:spTgt>
                                        </p:tgtEl>
                                        <p:attrNameLst>
                                          <p:attrName>style.visibility</p:attrName>
                                        </p:attrNameLst>
                                      </p:cBhvr>
                                      <p:to>
                                        <p:strVal val="visible"/>
                                      </p:to>
                                    </p:set>
                                    <p:animEffect transition="in" filter="wipe(down)">
                                      <p:cBhvr>
                                        <p:cTn id="44" dur="500"/>
                                        <p:tgtEl>
                                          <p:spTgt spid="4">
                                            <p:txEl>
                                              <p:pRg st="7" end="7"/>
                                            </p:txEl>
                                          </p:spTgt>
                                        </p:tgtEl>
                                      </p:cBhvr>
                                    </p:animEffect>
                                  </p:childTnLst>
                                </p:cTn>
                              </p:par>
                              <p:par>
                                <p:cTn id="45" presetID="22" presetClass="entr" presetSubtype="4" fill="hold" nodeType="with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wipe(down)">
                                      <p:cBhvr>
                                        <p:cTn id="47" dur="500"/>
                                        <p:tgtEl>
                                          <p:spTgt spid="4">
                                            <p:txEl>
                                              <p:pRg st="8" end="8"/>
                                            </p:txEl>
                                          </p:spTgt>
                                        </p:tgtEl>
                                      </p:cBhvr>
                                    </p:animEffect>
                                  </p:childTnLst>
                                </p:cTn>
                              </p:par>
                              <p:par>
                                <p:cTn id="48" presetID="22" presetClass="entr" presetSubtype="4" fill="hold" nodeType="withEffect">
                                  <p:stCondLst>
                                    <p:cond delay="0"/>
                                  </p:stCondLst>
                                  <p:childTnLst>
                                    <p:set>
                                      <p:cBhvr>
                                        <p:cTn id="49" dur="1" fill="hold">
                                          <p:stCondLst>
                                            <p:cond delay="0"/>
                                          </p:stCondLst>
                                        </p:cTn>
                                        <p:tgtEl>
                                          <p:spTgt spid="4">
                                            <p:txEl>
                                              <p:pRg st="9" end="9"/>
                                            </p:txEl>
                                          </p:spTgt>
                                        </p:tgtEl>
                                        <p:attrNameLst>
                                          <p:attrName>style.visibility</p:attrName>
                                        </p:attrNameLst>
                                      </p:cBhvr>
                                      <p:to>
                                        <p:strVal val="visible"/>
                                      </p:to>
                                    </p:set>
                                    <p:animEffect transition="in" filter="wipe(down)">
                                      <p:cBhvr>
                                        <p:cTn id="50" dur="500"/>
                                        <p:tgtEl>
                                          <p:spTgt spid="4">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 calcmode="lin" valueType="num">
                                      <p:cBhvr additive="base">
                                        <p:cTn id="55" dur="500" fill="hold"/>
                                        <p:tgtEl>
                                          <p:spTgt spid="3"/>
                                        </p:tgtEl>
                                        <p:attrNameLst>
                                          <p:attrName>ppt_x</p:attrName>
                                        </p:attrNameLst>
                                      </p:cBhvr>
                                      <p:tavLst>
                                        <p:tav tm="0">
                                          <p:val>
                                            <p:strVal val="1+#ppt_w/2"/>
                                          </p:val>
                                        </p:tav>
                                        <p:tav tm="100000">
                                          <p:val>
                                            <p:strVal val="#ppt_x"/>
                                          </p:val>
                                        </p:tav>
                                      </p:tavLst>
                                    </p:anim>
                                    <p:anim calcmode="lin" valueType="num">
                                      <p:cBhvr additive="base">
                                        <p:cTn id="5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wipe(down)">
                                      <p:cBhvr>
                                        <p:cTn id="61" dur="500"/>
                                        <p:tgtEl>
                                          <p:spTgt spid="4">
                                            <p:txEl>
                                              <p:pRg st="10" end="10"/>
                                            </p:txEl>
                                          </p:spTgt>
                                        </p:tgtEl>
                                      </p:cBhvr>
                                    </p:animEffect>
                                  </p:childTnLst>
                                </p:cTn>
                              </p:par>
                              <p:par>
                                <p:cTn id="62" presetID="22" presetClass="entr" presetSubtype="4" fill="hold" nodeType="withEffect">
                                  <p:stCondLst>
                                    <p:cond delay="0"/>
                                  </p:stCondLst>
                                  <p:childTnLst>
                                    <p:set>
                                      <p:cBhvr>
                                        <p:cTn id="63" dur="1" fill="hold">
                                          <p:stCondLst>
                                            <p:cond delay="0"/>
                                          </p:stCondLst>
                                        </p:cTn>
                                        <p:tgtEl>
                                          <p:spTgt spid="4">
                                            <p:txEl>
                                              <p:pRg st="11" end="11"/>
                                            </p:txEl>
                                          </p:spTgt>
                                        </p:tgtEl>
                                        <p:attrNameLst>
                                          <p:attrName>style.visibility</p:attrName>
                                        </p:attrNameLst>
                                      </p:cBhvr>
                                      <p:to>
                                        <p:strVal val="visible"/>
                                      </p:to>
                                    </p:set>
                                    <p:animEffect transition="in" filter="wipe(down)">
                                      <p:cBhvr>
                                        <p:cTn id="64" dur="500"/>
                                        <p:tgtEl>
                                          <p:spTgt spid="4">
                                            <p:txEl>
                                              <p:pRg st="11" end="11"/>
                                            </p:txEl>
                                          </p:spTgt>
                                        </p:tgtEl>
                                      </p:cBhvr>
                                    </p:animEffect>
                                  </p:childTnLst>
                                </p:cTn>
                              </p:par>
                              <p:par>
                                <p:cTn id="65" presetID="22" presetClass="entr" presetSubtype="4" fill="hold" nodeType="with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wipe(down)">
                                      <p:cBhvr>
                                        <p:cTn id="67" dur="500"/>
                                        <p:tgtEl>
                                          <p:spTgt spid="4">
                                            <p:txEl>
                                              <p:pRg st="12" end="12"/>
                                            </p:txEl>
                                          </p:spTgt>
                                        </p:tgtEl>
                                      </p:cBhvr>
                                    </p:animEffect>
                                  </p:childTnLst>
                                </p:cTn>
                              </p:par>
                              <p:par>
                                <p:cTn id="68" presetID="22" presetClass="entr" presetSubtype="4" fill="hold" nodeType="withEffect">
                                  <p:stCondLst>
                                    <p:cond delay="0"/>
                                  </p:stCondLst>
                                  <p:childTnLst>
                                    <p:set>
                                      <p:cBhvr>
                                        <p:cTn id="69" dur="1" fill="hold">
                                          <p:stCondLst>
                                            <p:cond delay="0"/>
                                          </p:stCondLst>
                                        </p:cTn>
                                        <p:tgtEl>
                                          <p:spTgt spid="4">
                                            <p:txEl>
                                              <p:pRg st="13" end="13"/>
                                            </p:txEl>
                                          </p:spTgt>
                                        </p:tgtEl>
                                        <p:attrNameLst>
                                          <p:attrName>style.visibility</p:attrName>
                                        </p:attrNameLst>
                                      </p:cBhvr>
                                      <p:to>
                                        <p:strVal val="visible"/>
                                      </p:to>
                                    </p:set>
                                    <p:animEffect transition="in" filter="wipe(down)">
                                      <p:cBhvr>
                                        <p:cTn id="70" dur="500"/>
                                        <p:tgtEl>
                                          <p:spTgt spid="4">
                                            <p:txEl>
                                              <p:pRg st="13" end="13"/>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4">
                                            <p:txEl>
                                              <p:pRg st="14" end="14"/>
                                            </p:txEl>
                                          </p:spTgt>
                                        </p:tgtEl>
                                        <p:attrNameLst>
                                          <p:attrName>style.visibility</p:attrName>
                                        </p:attrNameLst>
                                      </p:cBhvr>
                                      <p:to>
                                        <p:strVal val="visible"/>
                                      </p:to>
                                    </p:set>
                                    <p:animEffect transition="in" filter="wipe(down)">
                                      <p:cBhvr>
                                        <p:cTn id="75" dur="500"/>
                                        <p:tgtEl>
                                          <p:spTgt spid="4">
                                            <p:txEl>
                                              <p:pRg st="14" end="14"/>
                                            </p:txEl>
                                          </p:spTgt>
                                        </p:tgtEl>
                                      </p:cBhvr>
                                    </p:animEffect>
                                  </p:childTnLst>
                                </p:cTn>
                              </p:par>
                              <p:par>
                                <p:cTn id="76" presetID="22" presetClass="entr" presetSubtype="4" fill="hold" nodeType="withEffect">
                                  <p:stCondLst>
                                    <p:cond delay="0"/>
                                  </p:stCondLst>
                                  <p:childTnLst>
                                    <p:set>
                                      <p:cBhvr>
                                        <p:cTn id="77" dur="1" fill="hold">
                                          <p:stCondLst>
                                            <p:cond delay="0"/>
                                          </p:stCondLst>
                                        </p:cTn>
                                        <p:tgtEl>
                                          <p:spTgt spid="4">
                                            <p:txEl>
                                              <p:pRg st="15" end="15"/>
                                            </p:txEl>
                                          </p:spTgt>
                                        </p:tgtEl>
                                        <p:attrNameLst>
                                          <p:attrName>style.visibility</p:attrName>
                                        </p:attrNameLst>
                                      </p:cBhvr>
                                      <p:to>
                                        <p:strVal val="visible"/>
                                      </p:to>
                                    </p:set>
                                    <p:animEffect transition="in" filter="wipe(down)">
                                      <p:cBhvr>
                                        <p:cTn id="78" dur="500"/>
                                        <p:tgtEl>
                                          <p:spTgt spid="4">
                                            <p:txEl>
                                              <p:pRg st="15" end="15"/>
                                            </p:txEl>
                                          </p:spTgt>
                                        </p:tgtEl>
                                      </p:cBhvr>
                                    </p:animEffect>
                                  </p:childTnLst>
                                </p:cTn>
                              </p:par>
                              <p:par>
                                <p:cTn id="79" presetID="22" presetClass="entr" presetSubtype="4" fill="hold" nodeType="withEffect">
                                  <p:stCondLst>
                                    <p:cond delay="0"/>
                                  </p:stCondLst>
                                  <p:childTnLst>
                                    <p:set>
                                      <p:cBhvr>
                                        <p:cTn id="80" dur="1" fill="hold">
                                          <p:stCondLst>
                                            <p:cond delay="0"/>
                                          </p:stCondLst>
                                        </p:cTn>
                                        <p:tgtEl>
                                          <p:spTgt spid="4">
                                            <p:txEl>
                                              <p:pRg st="16" end="16"/>
                                            </p:txEl>
                                          </p:spTgt>
                                        </p:tgtEl>
                                        <p:attrNameLst>
                                          <p:attrName>style.visibility</p:attrName>
                                        </p:attrNameLst>
                                      </p:cBhvr>
                                      <p:to>
                                        <p:strVal val="visible"/>
                                      </p:to>
                                    </p:set>
                                    <p:animEffect transition="in" filter="wipe(down)">
                                      <p:cBhvr>
                                        <p:cTn id="81" dur="500"/>
                                        <p:tgtEl>
                                          <p:spTgt spid="4">
                                            <p:txEl>
                                              <p:pRg st="16" end="16"/>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ntr" presetSubtype="2" fill="hold" nodeType="clickEffect">
                                  <p:stCondLst>
                                    <p:cond delay="0"/>
                                  </p:stCondLst>
                                  <p:childTnLst>
                                    <p:set>
                                      <p:cBhvr>
                                        <p:cTn id="85" dur="1" fill="hold">
                                          <p:stCondLst>
                                            <p:cond delay="0"/>
                                          </p:stCondLst>
                                        </p:cTn>
                                        <p:tgtEl>
                                          <p:spTgt spid="3"/>
                                        </p:tgtEl>
                                        <p:attrNameLst>
                                          <p:attrName>style.visibility</p:attrName>
                                        </p:attrNameLst>
                                      </p:cBhvr>
                                      <p:to>
                                        <p:strVal val="visible"/>
                                      </p:to>
                                    </p:set>
                                    <p:anim calcmode="lin" valueType="num">
                                      <p:cBhvr additive="base">
                                        <p:cTn id="86" dur="500" fill="hold"/>
                                        <p:tgtEl>
                                          <p:spTgt spid="3"/>
                                        </p:tgtEl>
                                        <p:attrNameLst>
                                          <p:attrName>ppt_x</p:attrName>
                                        </p:attrNameLst>
                                      </p:cBhvr>
                                      <p:tavLst>
                                        <p:tav tm="0">
                                          <p:val>
                                            <p:strVal val="1+#ppt_w/2"/>
                                          </p:val>
                                        </p:tav>
                                        <p:tav tm="100000">
                                          <p:val>
                                            <p:strVal val="#ppt_x"/>
                                          </p:val>
                                        </p:tav>
                                      </p:tavLst>
                                    </p:anim>
                                    <p:anim calcmode="lin" valueType="num">
                                      <p:cBhvr additive="base">
                                        <p:cTn id="87"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5"/>
          <p:cNvSpPr txBox="1">
            <a:spLocks noChangeArrowheads="1"/>
          </p:cNvSpPr>
          <p:nvPr/>
        </p:nvSpPr>
        <p:spPr bwMode="auto">
          <a:xfrm>
            <a:off x="1202056" y="95250"/>
            <a:ext cx="9786937" cy="450850"/>
          </a:xfrm>
          <a:prstGeom prst="rect">
            <a:avLst/>
          </a:prstGeom>
          <a:noFill/>
          <a:ln w="9525">
            <a:noFill/>
            <a:miter lim="800000"/>
          </a:ln>
        </p:spPr>
        <p:txBody>
          <a:bodyPr anchor="ctr">
            <a:spAutoFit/>
          </a:bodyPr>
          <a:lstStyle/>
          <a:p>
            <a:pPr algn="ctr">
              <a:lnSpc>
                <a:spcPct val="90000"/>
              </a:lnSpc>
            </a:pPr>
            <a:r>
              <a:rPr lang="en-US" altLang="zh-CN" sz="2600">
                <a:solidFill>
                  <a:srgbClr val="FF0000"/>
                </a:solidFill>
                <a:latin typeface="黑体" panose="02000500000000000000" pitchFamily="49" charset="-122"/>
                <a:ea typeface="黑体" panose="02000500000000000000" pitchFamily="49" charset="-122"/>
              </a:rPr>
              <a:t>SP</a:t>
            </a:r>
            <a:r>
              <a:rPr lang="zh-CN" altLang="en-US" sz="2600">
                <a:solidFill>
                  <a:srgbClr val="FF0000"/>
                </a:solidFill>
                <a:latin typeface="黑体" panose="02000500000000000000" pitchFamily="49" charset="-122"/>
                <a:ea typeface="黑体" panose="02000500000000000000" pitchFamily="49" charset="-122"/>
              </a:rPr>
              <a:t>（</a:t>
            </a:r>
            <a:r>
              <a:rPr lang="en-US" altLang="zh-CN" sz="2600">
                <a:solidFill>
                  <a:srgbClr val="FF0000"/>
                </a:solidFill>
                <a:latin typeface="黑体" panose="02000500000000000000" pitchFamily="49" charset="-122"/>
                <a:ea typeface="黑体" panose="02000500000000000000" pitchFamily="49" charset="-122"/>
              </a:rPr>
              <a:t>Stream Processor</a:t>
            </a:r>
            <a:r>
              <a:rPr lang="zh-CN" altLang="en-US" sz="2600">
                <a:solidFill>
                  <a:srgbClr val="FF0000"/>
                </a:solidFill>
                <a:latin typeface="黑体" panose="02000500000000000000" pitchFamily="49" charset="-122"/>
                <a:ea typeface="黑体" panose="02000500000000000000" pitchFamily="49" charset="-122"/>
              </a:rPr>
              <a:t>）结构设计</a:t>
            </a:r>
            <a:endParaRPr lang="zh-CN" altLang="en-US" sz="2600">
              <a:solidFill>
                <a:srgbClr val="FF0000"/>
              </a:solidFill>
              <a:latin typeface="黑体" panose="02000500000000000000" pitchFamily="49" charset="-122"/>
              <a:ea typeface="黑体" panose="02000500000000000000" pitchFamily="49" charset="-122"/>
            </a:endParaRPr>
          </a:p>
        </p:txBody>
      </p:sp>
      <p:grpSp>
        <p:nvGrpSpPr>
          <p:cNvPr id="78851" name="组合 119"/>
          <p:cNvGrpSpPr/>
          <p:nvPr/>
        </p:nvGrpSpPr>
        <p:grpSpPr bwMode="auto">
          <a:xfrm>
            <a:off x="7496493" y="890588"/>
            <a:ext cx="4133850" cy="5583237"/>
            <a:chOff x="10994" y="1402"/>
            <a:chExt cx="6512" cy="8793"/>
          </a:xfrm>
        </p:grpSpPr>
        <p:grpSp>
          <p:nvGrpSpPr>
            <p:cNvPr id="78853" name="组合 29"/>
            <p:cNvGrpSpPr/>
            <p:nvPr/>
          </p:nvGrpSpPr>
          <p:grpSpPr bwMode="auto">
            <a:xfrm>
              <a:off x="10994" y="1752"/>
              <a:ext cx="3163" cy="3387"/>
              <a:chOff x="8099" y="2769"/>
              <a:chExt cx="3803" cy="4110"/>
            </a:xfrm>
          </p:grpSpPr>
          <p:sp>
            <p:nvSpPr>
              <p:cNvPr id="2" name="矩形 1"/>
              <p:cNvSpPr/>
              <p:nvPr/>
            </p:nvSpPr>
            <p:spPr>
              <a:xfrm>
                <a:off x="8252" y="3176"/>
                <a:ext cx="3518" cy="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Scheduler</a:t>
                </a:r>
                <a:endParaRPr lang="en-US" altLang="zh-CN" sz="1000" dirty="0">
                  <a:solidFill>
                    <a:schemeClr val="tx1"/>
                  </a:solidFill>
                </a:endParaRPr>
              </a:p>
            </p:txBody>
          </p:sp>
          <p:sp>
            <p:nvSpPr>
              <p:cNvPr id="4" name="矩形 3"/>
              <p:cNvSpPr/>
              <p:nvPr/>
            </p:nvSpPr>
            <p:spPr>
              <a:xfrm>
                <a:off x="8252" y="3591"/>
                <a:ext cx="3518" cy="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RegFile</a:t>
                </a:r>
                <a:endParaRPr lang="en-US" altLang="zh-CN" sz="1000" dirty="0">
                  <a:solidFill>
                    <a:schemeClr val="tx1"/>
                  </a:solidFill>
                </a:endParaRPr>
              </a:p>
            </p:txBody>
          </p:sp>
          <p:sp>
            <p:nvSpPr>
              <p:cNvPr id="5" name="矩形 4"/>
              <p:cNvSpPr/>
              <p:nvPr/>
            </p:nvSpPr>
            <p:spPr>
              <a:xfrm>
                <a:off x="8252" y="4231"/>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6" name="矩形 5"/>
              <p:cNvSpPr/>
              <p:nvPr/>
            </p:nvSpPr>
            <p:spPr>
              <a:xfrm>
                <a:off x="8986" y="4231"/>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7" name="矩形 6"/>
              <p:cNvSpPr/>
              <p:nvPr/>
            </p:nvSpPr>
            <p:spPr>
              <a:xfrm>
                <a:off x="8252" y="4544"/>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8" name="矩形 7"/>
              <p:cNvSpPr/>
              <p:nvPr/>
            </p:nvSpPr>
            <p:spPr>
              <a:xfrm>
                <a:off x="8986" y="4544"/>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 name="矩形 8"/>
              <p:cNvSpPr/>
              <p:nvPr/>
            </p:nvSpPr>
            <p:spPr>
              <a:xfrm>
                <a:off x="8252" y="4856"/>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0" name="矩形 9"/>
              <p:cNvSpPr/>
              <p:nvPr/>
            </p:nvSpPr>
            <p:spPr>
              <a:xfrm>
                <a:off x="8986" y="4856"/>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1" name="矩形 10"/>
              <p:cNvSpPr/>
              <p:nvPr/>
            </p:nvSpPr>
            <p:spPr>
              <a:xfrm>
                <a:off x="8252" y="5169"/>
                <a:ext cx="734"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2" name="矩形 11"/>
              <p:cNvSpPr/>
              <p:nvPr/>
            </p:nvSpPr>
            <p:spPr>
              <a:xfrm>
                <a:off x="8986" y="5169"/>
                <a:ext cx="728"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3" name="矩形 12"/>
              <p:cNvSpPr/>
              <p:nvPr/>
            </p:nvSpPr>
            <p:spPr>
              <a:xfrm>
                <a:off x="8252" y="5478"/>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4" name="矩形 13"/>
              <p:cNvSpPr/>
              <p:nvPr/>
            </p:nvSpPr>
            <p:spPr>
              <a:xfrm>
                <a:off x="8986" y="5478"/>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5" name="矩形 14"/>
              <p:cNvSpPr/>
              <p:nvPr/>
            </p:nvSpPr>
            <p:spPr>
              <a:xfrm>
                <a:off x="8252" y="5791"/>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6" name="矩形 15"/>
              <p:cNvSpPr/>
              <p:nvPr/>
            </p:nvSpPr>
            <p:spPr>
              <a:xfrm>
                <a:off x="8986" y="5791"/>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7" name="矩形 16"/>
              <p:cNvSpPr/>
              <p:nvPr/>
            </p:nvSpPr>
            <p:spPr>
              <a:xfrm>
                <a:off x="8252" y="6103"/>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8" name="矩形 17"/>
              <p:cNvSpPr/>
              <p:nvPr/>
            </p:nvSpPr>
            <p:spPr>
              <a:xfrm>
                <a:off x="8986" y="6103"/>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9" name="矩形 18"/>
              <p:cNvSpPr/>
              <p:nvPr/>
            </p:nvSpPr>
            <p:spPr>
              <a:xfrm>
                <a:off x="8252" y="6416"/>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20" name="矩形 19"/>
              <p:cNvSpPr/>
              <p:nvPr/>
            </p:nvSpPr>
            <p:spPr>
              <a:xfrm>
                <a:off x="8986" y="6416"/>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21" name="矩形 20"/>
              <p:cNvSpPr/>
              <p:nvPr/>
            </p:nvSpPr>
            <p:spPr>
              <a:xfrm>
                <a:off x="9843" y="4231"/>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22" name="矩形 21"/>
              <p:cNvSpPr/>
              <p:nvPr/>
            </p:nvSpPr>
            <p:spPr>
              <a:xfrm>
                <a:off x="9843" y="4853"/>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24" name="矩形 23"/>
              <p:cNvSpPr/>
              <p:nvPr/>
            </p:nvSpPr>
            <p:spPr>
              <a:xfrm>
                <a:off x="9843" y="5478"/>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25" name="矩形 24"/>
              <p:cNvSpPr/>
              <p:nvPr/>
            </p:nvSpPr>
            <p:spPr>
              <a:xfrm>
                <a:off x="9843" y="6103"/>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26" name="矩形 25"/>
              <p:cNvSpPr/>
              <p:nvPr/>
            </p:nvSpPr>
            <p:spPr>
              <a:xfrm>
                <a:off x="10706" y="5011"/>
                <a:ext cx="1052" cy="17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Tensor</a:t>
                </a:r>
                <a:endParaRPr lang="en-US" altLang="zh-CN" sz="1000" dirty="0">
                  <a:solidFill>
                    <a:schemeClr val="tx1"/>
                  </a:solidFill>
                </a:endParaRPr>
              </a:p>
              <a:p>
                <a:pPr algn="ctr">
                  <a:lnSpc>
                    <a:spcPct val="120000"/>
                  </a:lnSpc>
                  <a:defRPr/>
                </a:pPr>
                <a:r>
                  <a:rPr lang="en-US" altLang="zh-CN" sz="1000" dirty="0">
                    <a:solidFill>
                      <a:schemeClr val="tx1"/>
                    </a:solidFill>
                  </a:rPr>
                  <a:t>Unit</a:t>
                </a:r>
                <a:endParaRPr lang="en-US" altLang="zh-CN" sz="1000" dirty="0">
                  <a:solidFill>
                    <a:schemeClr val="tx1"/>
                  </a:solidFill>
                </a:endParaRPr>
              </a:p>
            </p:txBody>
          </p:sp>
          <p:sp>
            <p:nvSpPr>
              <p:cNvPr id="27" name="矩形 26"/>
              <p:cNvSpPr/>
              <p:nvPr/>
            </p:nvSpPr>
            <p:spPr>
              <a:xfrm>
                <a:off x="10706" y="4228"/>
                <a:ext cx="106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DPU</a:t>
                </a:r>
                <a:endParaRPr lang="en-US" altLang="zh-CN" sz="1000" dirty="0">
                  <a:solidFill>
                    <a:schemeClr val="tx1"/>
                  </a:solidFill>
                </a:endParaRPr>
              </a:p>
            </p:txBody>
          </p:sp>
          <p:sp>
            <p:nvSpPr>
              <p:cNvPr id="28" name="矩形 27"/>
              <p:cNvSpPr/>
              <p:nvPr/>
            </p:nvSpPr>
            <p:spPr>
              <a:xfrm>
                <a:off x="8099" y="2799"/>
                <a:ext cx="3803" cy="4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endParaRPr lang="zh-CN" altLang="en-US" sz="1000" dirty="0">
                  <a:solidFill>
                    <a:schemeClr val="tx1"/>
                  </a:solidFill>
                </a:endParaRPr>
              </a:p>
            </p:txBody>
          </p:sp>
          <p:sp>
            <p:nvSpPr>
              <p:cNvPr id="78968" name="文本框 28"/>
              <p:cNvSpPr txBox="1">
                <a:spLocks noChangeArrowheads="1"/>
              </p:cNvSpPr>
              <p:nvPr/>
            </p:nvSpPr>
            <p:spPr bwMode="auto">
              <a:xfrm>
                <a:off x="8228" y="2769"/>
                <a:ext cx="2244" cy="527"/>
              </a:xfrm>
              <a:prstGeom prst="rect">
                <a:avLst/>
              </a:prstGeom>
              <a:noFill/>
              <a:ln w="9525">
                <a:noFill/>
                <a:miter lim="800000"/>
              </a:ln>
            </p:spPr>
            <p:txBody>
              <a:bodyPr>
                <a:spAutoFit/>
              </a:bodyPr>
              <a:lstStyle/>
              <a:p>
                <a:r>
                  <a:rPr lang="en-US" altLang="zh-CN" sz="1200"/>
                  <a:t>Vector Unit</a:t>
                </a:r>
                <a:endParaRPr lang="en-US" altLang="zh-CN" sz="1200"/>
              </a:p>
            </p:txBody>
          </p:sp>
        </p:grpSp>
        <p:grpSp>
          <p:nvGrpSpPr>
            <p:cNvPr id="78854" name="组合 30"/>
            <p:cNvGrpSpPr/>
            <p:nvPr/>
          </p:nvGrpSpPr>
          <p:grpSpPr bwMode="auto">
            <a:xfrm>
              <a:off x="14335" y="1752"/>
              <a:ext cx="3163" cy="3387"/>
              <a:chOff x="8100" y="2769"/>
              <a:chExt cx="3803" cy="4110"/>
            </a:xfrm>
          </p:grpSpPr>
          <p:sp>
            <p:nvSpPr>
              <p:cNvPr id="32" name="矩形 31"/>
              <p:cNvSpPr/>
              <p:nvPr/>
            </p:nvSpPr>
            <p:spPr>
              <a:xfrm>
                <a:off x="8253" y="3176"/>
                <a:ext cx="3524" cy="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Scheduler</a:t>
                </a:r>
                <a:endParaRPr lang="en-US" altLang="zh-CN" sz="1000" dirty="0">
                  <a:solidFill>
                    <a:schemeClr val="tx1"/>
                  </a:solidFill>
                </a:endParaRPr>
              </a:p>
            </p:txBody>
          </p:sp>
          <p:sp>
            <p:nvSpPr>
              <p:cNvPr id="33" name="矩形 32"/>
              <p:cNvSpPr/>
              <p:nvPr/>
            </p:nvSpPr>
            <p:spPr>
              <a:xfrm>
                <a:off x="8253" y="3591"/>
                <a:ext cx="3524" cy="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RegFile</a:t>
                </a:r>
                <a:endParaRPr lang="en-US" altLang="zh-CN" sz="1000" dirty="0">
                  <a:solidFill>
                    <a:schemeClr val="tx1"/>
                  </a:solidFill>
                </a:endParaRPr>
              </a:p>
            </p:txBody>
          </p:sp>
          <p:sp>
            <p:nvSpPr>
              <p:cNvPr id="34" name="矩形 33"/>
              <p:cNvSpPr/>
              <p:nvPr/>
            </p:nvSpPr>
            <p:spPr>
              <a:xfrm>
                <a:off x="8253" y="4231"/>
                <a:ext cx="737"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35" name="矩形 34"/>
              <p:cNvSpPr/>
              <p:nvPr/>
            </p:nvSpPr>
            <p:spPr>
              <a:xfrm>
                <a:off x="8987" y="4231"/>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36" name="矩形 35"/>
              <p:cNvSpPr/>
              <p:nvPr/>
            </p:nvSpPr>
            <p:spPr>
              <a:xfrm>
                <a:off x="8253" y="4544"/>
                <a:ext cx="737"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37" name="矩形 36"/>
              <p:cNvSpPr/>
              <p:nvPr/>
            </p:nvSpPr>
            <p:spPr>
              <a:xfrm>
                <a:off x="8987" y="4544"/>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38" name="矩形 37"/>
              <p:cNvSpPr/>
              <p:nvPr/>
            </p:nvSpPr>
            <p:spPr>
              <a:xfrm>
                <a:off x="8253" y="4856"/>
                <a:ext cx="737"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39" name="矩形 38"/>
              <p:cNvSpPr/>
              <p:nvPr/>
            </p:nvSpPr>
            <p:spPr>
              <a:xfrm>
                <a:off x="8987" y="4856"/>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40" name="矩形 39"/>
              <p:cNvSpPr/>
              <p:nvPr/>
            </p:nvSpPr>
            <p:spPr>
              <a:xfrm>
                <a:off x="8253" y="5169"/>
                <a:ext cx="737"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41" name="矩形 40"/>
              <p:cNvSpPr/>
              <p:nvPr/>
            </p:nvSpPr>
            <p:spPr>
              <a:xfrm>
                <a:off x="8987" y="5169"/>
                <a:ext cx="728"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42" name="矩形 41"/>
              <p:cNvSpPr/>
              <p:nvPr/>
            </p:nvSpPr>
            <p:spPr>
              <a:xfrm>
                <a:off x="8253" y="5478"/>
                <a:ext cx="737"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43" name="矩形 42"/>
              <p:cNvSpPr/>
              <p:nvPr/>
            </p:nvSpPr>
            <p:spPr>
              <a:xfrm>
                <a:off x="8987" y="5478"/>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44" name="矩形 43"/>
              <p:cNvSpPr/>
              <p:nvPr/>
            </p:nvSpPr>
            <p:spPr>
              <a:xfrm>
                <a:off x="8253" y="5791"/>
                <a:ext cx="737"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45" name="矩形 44"/>
              <p:cNvSpPr/>
              <p:nvPr/>
            </p:nvSpPr>
            <p:spPr>
              <a:xfrm>
                <a:off x="8987" y="5791"/>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46" name="矩形 45"/>
              <p:cNvSpPr/>
              <p:nvPr/>
            </p:nvSpPr>
            <p:spPr>
              <a:xfrm>
                <a:off x="8253" y="6103"/>
                <a:ext cx="737"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47" name="矩形 46"/>
              <p:cNvSpPr/>
              <p:nvPr/>
            </p:nvSpPr>
            <p:spPr>
              <a:xfrm>
                <a:off x="8987" y="6103"/>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48" name="矩形 47"/>
              <p:cNvSpPr/>
              <p:nvPr/>
            </p:nvSpPr>
            <p:spPr>
              <a:xfrm>
                <a:off x="8253" y="6416"/>
                <a:ext cx="737"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49" name="矩形 48"/>
              <p:cNvSpPr/>
              <p:nvPr/>
            </p:nvSpPr>
            <p:spPr>
              <a:xfrm>
                <a:off x="8987" y="6416"/>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50" name="矩形 49"/>
              <p:cNvSpPr/>
              <p:nvPr/>
            </p:nvSpPr>
            <p:spPr>
              <a:xfrm>
                <a:off x="9844" y="4231"/>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51" name="矩形 50"/>
              <p:cNvSpPr/>
              <p:nvPr/>
            </p:nvSpPr>
            <p:spPr>
              <a:xfrm>
                <a:off x="9844" y="4853"/>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52" name="矩形 51"/>
              <p:cNvSpPr/>
              <p:nvPr/>
            </p:nvSpPr>
            <p:spPr>
              <a:xfrm>
                <a:off x="9844" y="5478"/>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53" name="矩形 52"/>
              <p:cNvSpPr/>
              <p:nvPr/>
            </p:nvSpPr>
            <p:spPr>
              <a:xfrm>
                <a:off x="9844" y="6103"/>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54" name="矩形 53"/>
              <p:cNvSpPr/>
              <p:nvPr/>
            </p:nvSpPr>
            <p:spPr>
              <a:xfrm>
                <a:off x="10707" y="5011"/>
                <a:ext cx="1052" cy="17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Tensor</a:t>
                </a:r>
                <a:endParaRPr lang="en-US" altLang="zh-CN" sz="1000" dirty="0">
                  <a:solidFill>
                    <a:schemeClr val="tx1"/>
                  </a:solidFill>
                </a:endParaRPr>
              </a:p>
              <a:p>
                <a:pPr algn="ctr">
                  <a:lnSpc>
                    <a:spcPct val="120000"/>
                  </a:lnSpc>
                  <a:defRPr/>
                </a:pPr>
                <a:r>
                  <a:rPr lang="en-US" altLang="zh-CN" sz="1000" dirty="0">
                    <a:solidFill>
                      <a:schemeClr val="tx1"/>
                    </a:solidFill>
                  </a:rPr>
                  <a:t>Unit</a:t>
                </a:r>
                <a:endParaRPr lang="en-US" altLang="zh-CN" sz="1000" dirty="0">
                  <a:solidFill>
                    <a:schemeClr val="tx1"/>
                  </a:solidFill>
                </a:endParaRPr>
              </a:p>
            </p:txBody>
          </p:sp>
          <p:sp>
            <p:nvSpPr>
              <p:cNvPr id="55" name="矩形 54"/>
              <p:cNvSpPr/>
              <p:nvPr/>
            </p:nvSpPr>
            <p:spPr>
              <a:xfrm>
                <a:off x="10707" y="4228"/>
                <a:ext cx="106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DPU</a:t>
                </a:r>
                <a:endParaRPr lang="en-US" altLang="zh-CN" sz="1000" dirty="0">
                  <a:solidFill>
                    <a:schemeClr val="tx1"/>
                  </a:solidFill>
                </a:endParaRPr>
              </a:p>
            </p:txBody>
          </p:sp>
          <p:sp>
            <p:nvSpPr>
              <p:cNvPr id="56" name="矩形 55"/>
              <p:cNvSpPr/>
              <p:nvPr/>
            </p:nvSpPr>
            <p:spPr>
              <a:xfrm>
                <a:off x="8100" y="2799"/>
                <a:ext cx="3803" cy="4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endParaRPr lang="zh-CN" altLang="en-US" sz="1000" dirty="0">
                  <a:solidFill>
                    <a:schemeClr val="tx1"/>
                  </a:solidFill>
                </a:endParaRPr>
              </a:p>
            </p:txBody>
          </p:sp>
          <p:sp>
            <p:nvSpPr>
              <p:cNvPr id="78942" name="文本框 56"/>
              <p:cNvSpPr txBox="1">
                <a:spLocks noChangeArrowheads="1"/>
              </p:cNvSpPr>
              <p:nvPr/>
            </p:nvSpPr>
            <p:spPr bwMode="auto">
              <a:xfrm>
                <a:off x="8228" y="2769"/>
                <a:ext cx="2244" cy="527"/>
              </a:xfrm>
              <a:prstGeom prst="rect">
                <a:avLst/>
              </a:prstGeom>
              <a:noFill/>
              <a:ln w="9525">
                <a:noFill/>
                <a:miter lim="800000"/>
              </a:ln>
            </p:spPr>
            <p:txBody>
              <a:bodyPr>
                <a:spAutoFit/>
              </a:bodyPr>
              <a:lstStyle/>
              <a:p>
                <a:r>
                  <a:rPr lang="en-US" altLang="zh-CN" sz="1200"/>
                  <a:t>Vector Unit</a:t>
                </a:r>
                <a:endParaRPr lang="en-US" altLang="zh-CN" sz="1200"/>
              </a:p>
            </p:txBody>
          </p:sp>
        </p:grpSp>
        <p:grpSp>
          <p:nvGrpSpPr>
            <p:cNvPr id="78855" name="组合 57"/>
            <p:cNvGrpSpPr/>
            <p:nvPr/>
          </p:nvGrpSpPr>
          <p:grpSpPr bwMode="auto">
            <a:xfrm>
              <a:off x="10994" y="5207"/>
              <a:ext cx="3163" cy="3391"/>
              <a:chOff x="8099" y="2769"/>
              <a:chExt cx="3803" cy="4115"/>
            </a:xfrm>
          </p:grpSpPr>
          <p:sp>
            <p:nvSpPr>
              <p:cNvPr id="59" name="矩形 58"/>
              <p:cNvSpPr/>
              <p:nvPr/>
            </p:nvSpPr>
            <p:spPr>
              <a:xfrm>
                <a:off x="8252" y="3176"/>
                <a:ext cx="3518" cy="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Scheduler</a:t>
                </a:r>
                <a:endParaRPr lang="en-US" altLang="zh-CN" sz="1000" dirty="0">
                  <a:solidFill>
                    <a:schemeClr val="tx1"/>
                  </a:solidFill>
                </a:endParaRPr>
              </a:p>
            </p:txBody>
          </p:sp>
          <p:sp>
            <p:nvSpPr>
              <p:cNvPr id="60" name="矩形 59"/>
              <p:cNvSpPr/>
              <p:nvPr/>
            </p:nvSpPr>
            <p:spPr>
              <a:xfrm>
                <a:off x="8252" y="3591"/>
                <a:ext cx="3518" cy="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RegFile</a:t>
                </a:r>
                <a:endParaRPr lang="en-US" altLang="zh-CN" sz="1000" dirty="0">
                  <a:solidFill>
                    <a:schemeClr val="tx1"/>
                  </a:solidFill>
                </a:endParaRPr>
              </a:p>
            </p:txBody>
          </p:sp>
          <p:sp>
            <p:nvSpPr>
              <p:cNvPr id="61" name="矩形 60"/>
              <p:cNvSpPr/>
              <p:nvPr/>
            </p:nvSpPr>
            <p:spPr>
              <a:xfrm>
                <a:off x="8252" y="4232"/>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62" name="矩形 61"/>
              <p:cNvSpPr/>
              <p:nvPr/>
            </p:nvSpPr>
            <p:spPr>
              <a:xfrm>
                <a:off x="8986" y="4232"/>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63" name="矩形 62"/>
              <p:cNvSpPr/>
              <p:nvPr/>
            </p:nvSpPr>
            <p:spPr>
              <a:xfrm>
                <a:off x="8252" y="4544"/>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64" name="矩形 63"/>
              <p:cNvSpPr/>
              <p:nvPr/>
            </p:nvSpPr>
            <p:spPr>
              <a:xfrm>
                <a:off x="8986" y="4544"/>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65" name="矩形 64"/>
              <p:cNvSpPr/>
              <p:nvPr/>
            </p:nvSpPr>
            <p:spPr>
              <a:xfrm>
                <a:off x="8252" y="4857"/>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66" name="矩形 65"/>
              <p:cNvSpPr/>
              <p:nvPr/>
            </p:nvSpPr>
            <p:spPr>
              <a:xfrm>
                <a:off x="8986" y="4857"/>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67" name="矩形 66"/>
              <p:cNvSpPr/>
              <p:nvPr/>
            </p:nvSpPr>
            <p:spPr>
              <a:xfrm>
                <a:off x="8252" y="5169"/>
                <a:ext cx="734"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68" name="矩形 67"/>
              <p:cNvSpPr/>
              <p:nvPr/>
            </p:nvSpPr>
            <p:spPr>
              <a:xfrm>
                <a:off x="8986" y="5169"/>
                <a:ext cx="728"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69" name="矩形 68"/>
              <p:cNvSpPr/>
              <p:nvPr/>
            </p:nvSpPr>
            <p:spPr>
              <a:xfrm>
                <a:off x="8252" y="5479"/>
                <a:ext cx="734"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70" name="矩形 69"/>
              <p:cNvSpPr/>
              <p:nvPr/>
            </p:nvSpPr>
            <p:spPr>
              <a:xfrm>
                <a:off x="8986" y="5479"/>
                <a:ext cx="728"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71" name="矩形 70"/>
              <p:cNvSpPr/>
              <p:nvPr/>
            </p:nvSpPr>
            <p:spPr>
              <a:xfrm>
                <a:off x="8252" y="5791"/>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72" name="矩形 71"/>
              <p:cNvSpPr/>
              <p:nvPr/>
            </p:nvSpPr>
            <p:spPr>
              <a:xfrm>
                <a:off x="8986" y="5791"/>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73" name="矩形 72"/>
              <p:cNvSpPr/>
              <p:nvPr/>
            </p:nvSpPr>
            <p:spPr>
              <a:xfrm>
                <a:off x="8252" y="6104"/>
                <a:ext cx="734"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74" name="矩形 73"/>
              <p:cNvSpPr/>
              <p:nvPr/>
            </p:nvSpPr>
            <p:spPr>
              <a:xfrm>
                <a:off x="8986" y="6104"/>
                <a:ext cx="728"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75" name="矩形 74"/>
              <p:cNvSpPr/>
              <p:nvPr/>
            </p:nvSpPr>
            <p:spPr>
              <a:xfrm>
                <a:off x="8252" y="6416"/>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76" name="矩形 75"/>
              <p:cNvSpPr/>
              <p:nvPr/>
            </p:nvSpPr>
            <p:spPr>
              <a:xfrm>
                <a:off x="8986" y="6416"/>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77" name="矩形 76"/>
              <p:cNvSpPr/>
              <p:nvPr/>
            </p:nvSpPr>
            <p:spPr>
              <a:xfrm>
                <a:off x="9843" y="4232"/>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78" name="矩形 77"/>
              <p:cNvSpPr/>
              <p:nvPr/>
            </p:nvSpPr>
            <p:spPr>
              <a:xfrm>
                <a:off x="9843" y="4854"/>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79" name="矩形 78"/>
              <p:cNvSpPr/>
              <p:nvPr/>
            </p:nvSpPr>
            <p:spPr>
              <a:xfrm>
                <a:off x="9843" y="5479"/>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80" name="矩形 79"/>
              <p:cNvSpPr/>
              <p:nvPr/>
            </p:nvSpPr>
            <p:spPr>
              <a:xfrm>
                <a:off x="9843" y="6104"/>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81" name="矩形 80"/>
              <p:cNvSpPr/>
              <p:nvPr/>
            </p:nvSpPr>
            <p:spPr>
              <a:xfrm>
                <a:off x="10706" y="5011"/>
                <a:ext cx="1052" cy="17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Tensor</a:t>
                </a:r>
                <a:endParaRPr lang="en-US" altLang="zh-CN" sz="1000" dirty="0">
                  <a:solidFill>
                    <a:schemeClr val="tx1"/>
                  </a:solidFill>
                </a:endParaRPr>
              </a:p>
              <a:p>
                <a:pPr algn="ctr">
                  <a:lnSpc>
                    <a:spcPct val="120000"/>
                  </a:lnSpc>
                  <a:defRPr/>
                </a:pPr>
                <a:r>
                  <a:rPr lang="en-US" altLang="zh-CN" sz="1000" dirty="0">
                    <a:solidFill>
                      <a:schemeClr val="tx1"/>
                    </a:solidFill>
                  </a:rPr>
                  <a:t>Unit</a:t>
                </a:r>
                <a:endParaRPr lang="en-US" altLang="zh-CN" sz="1000" dirty="0">
                  <a:solidFill>
                    <a:schemeClr val="tx1"/>
                  </a:solidFill>
                </a:endParaRPr>
              </a:p>
            </p:txBody>
          </p:sp>
          <p:sp>
            <p:nvSpPr>
              <p:cNvPr id="82" name="矩形 81"/>
              <p:cNvSpPr/>
              <p:nvPr/>
            </p:nvSpPr>
            <p:spPr>
              <a:xfrm>
                <a:off x="10706" y="4229"/>
                <a:ext cx="106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DPU</a:t>
                </a:r>
                <a:endParaRPr lang="en-US" altLang="zh-CN" sz="1000" dirty="0">
                  <a:solidFill>
                    <a:schemeClr val="tx1"/>
                  </a:solidFill>
                </a:endParaRPr>
              </a:p>
            </p:txBody>
          </p:sp>
          <p:sp>
            <p:nvSpPr>
              <p:cNvPr id="83" name="矩形 82"/>
              <p:cNvSpPr/>
              <p:nvPr/>
            </p:nvSpPr>
            <p:spPr>
              <a:xfrm>
                <a:off x="8099" y="2800"/>
                <a:ext cx="3803" cy="40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endParaRPr lang="zh-CN" altLang="en-US" sz="1000" dirty="0">
                  <a:solidFill>
                    <a:schemeClr val="tx1"/>
                  </a:solidFill>
                </a:endParaRPr>
              </a:p>
            </p:txBody>
          </p:sp>
          <p:sp>
            <p:nvSpPr>
              <p:cNvPr id="78916" name="文本框 83"/>
              <p:cNvSpPr txBox="1">
                <a:spLocks noChangeArrowheads="1"/>
              </p:cNvSpPr>
              <p:nvPr/>
            </p:nvSpPr>
            <p:spPr bwMode="auto">
              <a:xfrm>
                <a:off x="8228" y="2769"/>
                <a:ext cx="2244" cy="527"/>
              </a:xfrm>
              <a:prstGeom prst="rect">
                <a:avLst/>
              </a:prstGeom>
              <a:noFill/>
              <a:ln w="9525">
                <a:noFill/>
                <a:miter lim="800000"/>
              </a:ln>
            </p:spPr>
            <p:txBody>
              <a:bodyPr>
                <a:spAutoFit/>
              </a:bodyPr>
              <a:lstStyle/>
              <a:p>
                <a:r>
                  <a:rPr lang="en-US" altLang="zh-CN" sz="1200"/>
                  <a:t>Vector Unit</a:t>
                </a:r>
                <a:endParaRPr lang="en-US" altLang="zh-CN" sz="1200"/>
              </a:p>
            </p:txBody>
          </p:sp>
        </p:grpSp>
        <p:grpSp>
          <p:nvGrpSpPr>
            <p:cNvPr id="78856" name="组合 84"/>
            <p:cNvGrpSpPr/>
            <p:nvPr/>
          </p:nvGrpSpPr>
          <p:grpSpPr bwMode="auto">
            <a:xfrm>
              <a:off x="14343" y="5207"/>
              <a:ext cx="3163" cy="3391"/>
              <a:chOff x="8100" y="2769"/>
              <a:chExt cx="3803" cy="4115"/>
            </a:xfrm>
          </p:grpSpPr>
          <p:sp>
            <p:nvSpPr>
              <p:cNvPr id="86" name="矩形 85"/>
              <p:cNvSpPr/>
              <p:nvPr/>
            </p:nvSpPr>
            <p:spPr>
              <a:xfrm>
                <a:off x="8253" y="3176"/>
                <a:ext cx="3518" cy="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Scheduler</a:t>
                </a:r>
                <a:endParaRPr lang="en-US" altLang="zh-CN" sz="1000" dirty="0">
                  <a:solidFill>
                    <a:schemeClr val="tx1"/>
                  </a:solidFill>
                </a:endParaRPr>
              </a:p>
            </p:txBody>
          </p:sp>
          <p:sp>
            <p:nvSpPr>
              <p:cNvPr id="87" name="矩形 86"/>
              <p:cNvSpPr/>
              <p:nvPr/>
            </p:nvSpPr>
            <p:spPr>
              <a:xfrm>
                <a:off x="8253" y="3591"/>
                <a:ext cx="3518" cy="4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RegFile</a:t>
                </a:r>
                <a:endParaRPr lang="en-US" altLang="zh-CN" sz="1000" dirty="0">
                  <a:solidFill>
                    <a:schemeClr val="tx1"/>
                  </a:solidFill>
                </a:endParaRPr>
              </a:p>
            </p:txBody>
          </p:sp>
          <p:sp>
            <p:nvSpPr>
              <p:cNvPr id="88" name="矩形 87"/>
              <p:cNvSpPr/>
              <p:nvPr/>
            </p:nvSpPr>
            <p:spPr>
              <a:xfrm>
                <a:off x="8253" y="4232"/>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89" name="矩形 88"/>
              <p:cNvSpPr/>
              <p:nvPr/>
            </p:nvSpPr>
            <p:spPr>
              <a:xfrm>
                <a:off x="8987" y="4232"/>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0" name="矩形 89"/>
              <p:cNvSpPr/>
              <p:nvPr/>
            </p:nvSpPr>
            <p:spPr>
              <a:xfrm>
                <a:off x="8253" y="4544"/>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1" name="矩形 90"/>
              <p:cNvSpPr/>
              <p:nvPr/>
            </p:nvSpPr>
            <p:spPr>
              <a:xfrm>
                <a:off x="8987" y="4544"/>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2" name="矩形 91"/>
              <p:cNvSpPr/>
              <p:nvPr/>
            </p:nvSpPr>
            <p:spPr>
              <a:xfrm>
                <a:off x="8253" y="4857"/>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3" name="矩形 92"/>
              <p:cNvSpPr/>
              <p:nvPr/>
            </p:nvSpPr>
            <p:spPr>
              <a:xfrm>
                <a:off x="8987" y="4857"/>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4" name="矩形 93"/>
              <p:cNvSpPr/>
              <p:nvPr/>
            </p:nvSpPr>
            <p:spPr>
              <a:xfrm>
                <a:off x="8253" y="5169"/>
                <a:ext cx="734"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5" name="矩形 94"/>
              <p:cNvSpPr/>
              <p:nvPr/>
            </p:nvSpPr>
            <p:spPr>
              <a:xfrm>
                <a:off x="8987" y="5169"/>
                <a:ext cx="728"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6" name="矩形 95"/>
              <p:cNvSpPr/>
              <p:nvPr/>
            </p:nvSpPr>
            <p:spPr>
              <a:xfrm>
                <a:off x="8253" y="5479"/>
                <a:ext cx="734"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7" name="矩形 96"/>
              <p:cNvSpPr/>
              <p:nvPr/>
            </p:nvSpPr>
            <p:spPr>
              <a:xfrm>
                <a:off x="8987" y="5479"/>
                <a:ext cx="728"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8" name="矩形 97"/>
              <p:cNvSpPr/>
              <p:nvPr/>
            </p:nvSpPr>
            <p:spPr>
              <a:xfrm>
                <a:off x="8253" y="5791"/>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99" name="矩形 98"/>
              <p:cNvSpPr/>
              <p:nvPr/>
            </p:nvSpPr>
            <p:spPr>
              <a:xfrm>
                <a:off x="8987" y="5791"/>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00" name="矩形 99"/>
              <p:cNvSpPr/>
              <p:nvPr/>
            </p:nvSpPr>
            <p:spPr>
              <a:xfrm>
                <a:off x="8253" y="6104"/>
                <a:ext cx="734"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01" name="矩形 100"/>
              <p:cNvSpPr/>
              <p:nvPr/>
            </p:nvSpPr>
            <p:spPr>
              <a:xfrm>
                <a:off x="8987" y="6104"/>
                <a:ext cx="728" cy="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02" name="矩形 101"/>
              <p:cNvSpPr/>
              <p:nvPr/>
            </p:nvSpPr>
            <p:spPr>
              <a:xfrm>
                <a:off x="8253" y="6416"/>
                <a:ext cx="734"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03" name="矩形 102"/>
              <p:cNvSpPr/>
              <p:nvPr/>
            </p:nvSpPr>
            <p:spPr>
              <a:xfrm>
                <a:off x="8987" y="6416"/>
                <a:ext cx="728" cy="3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ALU</a:t>
                </a:r>
                <a:endParaRPr lang="en-US" altLang="zh-CN" sz="1000" dirty="0">
                  <a:solidFill>
                    <a:schemeClr val="tx1"/>
                  </a:solidFill>
                </a:endParaRPr>
              </a:p>
            </p:txBody>
          </p:sp>
          <p:sp>
            <p:nvSpPr>
              <p:cNvPr id="104" name="矩形 103"/>
              <p:cNvSpPr/>
              <p:nvPr/>
            </p:nvSpPr>
            <p:spPr>
              <a:xfrm>
                <a:off x="9843" y="4232"/>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105" name="矩形 104"/>
              <p:cNvSpPr/>
              <p:nvPr/>
            </p:nvSpPr>
            <p:spPr>
              <a:xfrm>
                <a:off x="9843" y="4854"/>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106" name="矩形 105"/>
              <p:cNvSpPr/>
              <p:nvPr/>
            </p:nvSpPr>
            <p:spPr>
              <a:xfrm>
                <a:off x="9843" y="5479"/>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107" name="矩形 106"/>
              <p:cNvSpPr/>
              <p:nvPr/>
            </p:nvSpPr>
            <p:spPr>
              <a:xfrm>
                <a:off x="9843" y="6104"/>
                <a:ext cx="734"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SFU</a:t>
                </a:r>
                <a:endParaRPr lang="en-US" altLang="zh-CN" sz="1000" dirty="0">
                  <a:solidFill>
                    <a:schemeClr val="tx1"/>
                  </a:solidFill>
                </a:endParaRPr>
              </a:p>
            </p:txBody>
          </p:sp>
          <p:sp>
            <p:nvSpPr>
              <p:cNvPr id="108" name="矩形 107"/>
              <p:cNvSpPr/>
              <p:nvPr/>
            </p:nvSpPr>
            <p:spPr>
              <a:xfrm>
                <a:off x="10703" y="5011"/>
                <a:ext cx="1055" cy="17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Tensor</a:t>
                </a:r>
                <a:endParaRPr lang="en-US" altLang="zh-CN" sz="1000" dirty="0">
                  <a:solidFill>
                    <a:schemeClr val="tx1"/>
                  </a:solidFill>
                </a:endParaRPr>
              </a:p>
              <a:p>
                <a:pPr algn="ctr">
                  <a:lnSpc>
                    <a:spcPct val="120000"/>
                  </a:lnSpc>
                  <a:defRPr/>
                </a:pPr>
                <a:r>
                  <a:rPr lang="en-US" altLang="zh-CN" sz="1000" dirty="0">
                    <a:solidFill>
                      <a:schemeClr val="tx1"/>
                    </a:solidFill>
                  </a:rPr>
                  <a:t>Unit</a:t>
                </a:r>
                <a:endParaRPr lang="en-US" altLang="zh-CN" sz="1000" dirty="0">
                  <a:solidFill>
                    <a:schemeClr val="tx1"/>
                  </a:solidFill>
                </a:endParaRPr>
              </a:p>
            </p:txBody>
          </p:sp>
          <p:sp>
            <p:nvSpPr>
              <p:cNvPr id="109" name="矩形 108"/>
              <p:cNvSpPr/>
              <p:nvPr/>
            </p:nvSpPr>
            <p:spPr>
              <a:xfrm>
                <a:off x="10703" y="4229"/>
                <a:ext cx="1067" cy="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DPU</a:t>
                </a:r>
                <a:endParaRPr lang="en-US" altLang="zh-CN" sz="1000" dirty="0">
                  <a:solidFill>
                    <a:schemeClr val="tx1"/>
                  </a:solidFill>
                </a:endParaRPr>
              </a:p>
            </p:txBody>
          </p:sp>
          <p:sp>
            <p:nvSpPr>
              <p:cNvPr id="110" name="矩形 109"/>
              <p:cNvSpPr/>
              <p:nvPr/>
            </p:nvSpPr>
            <p:spPr>
              <a:xfrm>
                <a:off x="8100" y="2800"/>
                <a:ext cx="3803" cy="40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endParaRPr lang="zh-CN" altLang="en-US" sz="1000" dirty="0">
                  <a:solidFill>
                    <a:schemeClr val="tx1"/>
                  </a:solidFill>
                </a:endParaRPr>
              </a:p>
            </p:txBody>
          </p:sp>
          <p:sp>
            <p:nvSpPr>
              <p:cNvPr id="78890" name="文本框 110"/>
              <p:cNvSpPr txBox="1">
                <a:spLocks noChangeArrowheads="1"/>
              </p:cNvSpPr>
              <p:nvPr/>
            </p:nvSpPr>
            <p:spPr bwMode="auto">
              <a:xfrm>
                <a:off x="8228" y="2769"/>
                <a:ext cx="2244" cy="527"/>
              </a:xfrm>
              <a:prstGeom prst="rect">
                <a:avLst/>
              </a:prstGeom>
              <a:noFill/>
              <a:ln w="9525">
                <a:noFill/>
                <a:miter lim="800000"/>
              </a:ln>
            </p:spPr>
            <p:txBody>
              <a:bodyPr>
                <a:spAutoFit/>
              </a:bodyPr>
              <a:lstStyle/>
              <a:p>
                <a:r>
                  <a:rPr lang="en-US" altLang="zh-CN" sz="1200"/>
                  <a:t>Vector Unit</a:t>
                </a:r>
                <a:endParaRPr lang="en-US" altLang="zh-CN" sz="1200"/>
              </a:p>
            </p:txBody>
          </p:sp>
        </p:grpSp>
        <p:sp>
          <p:nvSpPr>
            <p:cNvPr id="112" name="矩形 111"/>
            <p:cNvSpPr/>
            <p:nvPr/>
          </p:nvSpPr>
          <p:spPr>
            <a:xfrm>
              <a:off x="10994" y="1402"/>
              <a:ext cx="6502" cy="2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Instruction Cache</a:t>
              </a:r>
              <a:endParaRPr lang="en-US" altLang="zh-CN" sz="1000" dirty="0">
                <a:solidFill>
                  <a:schemeClr val="tx1"/>
                </a:solidFill>
              </a:endParaRPr>
            </a:p>
          </p:txBody>
        </p:sp>
        <p:sp>
          <p:nvSpPr>
            <p:cNvPr id="113" name="矩形 112"/>
            <p:cNvSpPr/>
            <p:nvPr/>
          </p:nvSpPr>
          <p:spPr>
            <a:xfrm>
              <a:off x="10994" y="8740"/>
              <a:ext cx="6504" cy="2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Vector Memory/RayTracing Unit</a:t>
              </a:r>
              <a:endParaRPr lang="en-US" altLang="zh-CN" sz="1000" dirty="0">
                <a:solidFill>
                  <a:schemeClr val="tx1"/>
                </a:solidFill>
              </a:endParaRPr>
            </a:p>
          </p:txBody>
        </p:sp>
        <p:sp>
          <p:nvSpPr>
            <p:cNvPr id="114" name="矩形 113"/>
            <p:cNvSpPr/>
            <p:nvPr/>
          </p:nvSpPr>
          <p:spPr>
            <a:xfrm>
              <a:off x="10994" y="9135"/>
              <a:ext cx="6502" cy="2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Data Cache</a:t>
              </a:r>
              <a:endParaRPr lang="en-US" altLang="zh-CN" sz="1000" dirty="0">
                <a:solidFill>
                  <a:schemeClr val="tx1"/>
                </a:solidFill>
              </a:endParaRPr>
            </a:p>
          </p:txBody>
        </p:sp>
        <p:sp>
          <p:nvSpPr>
            <p:cNvPr id="115" name="矩形 114"/>
            <p:cNvSpPr/>
            <p:nvPr/>
          </p:nvSpPr>
          <p:spPr>
            <a:xfrm>
              <a:off x="11004" y="9545"/>
              <a:ext cx="1440" cy="2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Texture Unit</a:t>
              </a:r>
              <a:endParaRPr lang="en-US" altLang="zh-CN" sz="1000" dirty="0">
                <a:solidFill>
                  <a:schemeClr val="tx1"/>
                </a:solidFill>
              </a:endParaRPr>
            </a:p>
          </p:txBody>
        </p:sp>
        <p:sp>
          <p:nvSpPr>
            <p:cNvPr id="116" name="矩形 115"/>
            <p:cNvSpPr/>
            <p:nvPr/>
          </p:nvSpPr>
          <p:spPr>
            <a:xfrm>
              <a:off x="12677" y="9545"/>
              <a:ext cx="1445" cy="2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Texture Unit</a:t>
              </a:r>
              <a:endParaRPr lang="en-US" altLang="zh-CN" sz="1000" dirty="0">
                <a:solidFill>
                  <a:schemeClr val="tx1"/>
                </a:solidFill>
              </a:endParaRPr>
            </a:p>
          </p:txBody>
        </p:sp>
        <p:sp>
          <p:nvSpPr>
            <p:cNvPr id="117" name="矩形 116"/>
            <p:cNvSpPr/>
            <p:nvPr/>
          </p:nvSpPr>
          <p:spPr>
            <a:xfrm>
              <a:off x="14383" y="9545"/>
              <a:ext cx="1443" cy="2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Texture Unit</a:t>
              </a:r>
              <a:endParaRPr lang="en-US" altLang="zh-CN" sz="1000" dirty="0">
                <a:solidFill>
                  <a:schemeClr val="tx1"/>
                </a:solidFill>
              </a:endParaRPr>
            </a:p>
          </p:txBody>
        </p:sp>
        <p:sp>
          <p:nvSpPr>
            <p:cNvPr id="118" name="矩形 117"/>
            <p:cNvSpPr/>
            <p:nvPr/>
          </p:nvSpPr>
          <p:spPr>
            <a:xfrm>
              <a:off x="16063" y="9545"/>
              <a:ext cx="1443" cy="2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Texture Unit</a:t>
              </a:r>
              <a:endParaRPr lang="en-US" altLang="zh-CN" sz="1000" dirty="0">
                <a:solidFill>
                  <a:schemeClr val="tx1"/>
                </a:solidFill>
              </a:endParaRPr>
            </a:p>
          </p:txBody>
        </p:sp>
        <p:sp>
          <p:nvSpPr>
            <p:cNvPr id="119" name="矩形 118"/>
            <p:cNvSpPr/>
            <p:nvPr/>
          </p:nvSpPr>
          <p:spPr>
            <a:xfrm>
              <a:off x="11004" y="9950"/>
              <a:ext cx="6502" cy="24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lnSpc>
                  <a:spcPct val="120000"/>
                </a:lnSpc>
                <a:defRPr/>
              </a:pPr>
              <a:r>
                <a:rPr lang="en-US" altLang="zh-CN" sz="1000" dirty="0">
                  <a:solidFill>
                    <a:schemeClr val="tx1"/>
                  </a:solidFill>
                </a:rPr>
                <a:t>Shared Memory</a:t>
              </a:r>
              <a:endParaRPr lang="en-US" altLang="zh-CN" sz="1000" dirty="0">
                <a:solidFill>
                  <a:schemeClr val="tx1"/>
                </a:solidFill>
              </a:endParaRPr>
            </a:p>
          </p:txBody>
        </p:sp>
      </p:grpSp>
      <p:sp>
        <p:nvSpPr>
          <p:cNvPr id="121" name="文本框 120"/>
          <p:cNvSpPr txBox="1">
            <a:spLocks noChangeArrowheads="1"/>
          </p:cNvSpPr>
          <p:nvPr/>
        </p:nvSpPr>
        <p:spPr bwMode="auto">
          <a:xfrm>
            <a:off x="216218" y="873125"/>
            <a:ext cx="6918325" cy="5031105"/>
          </a:xfrm>
          <a:prstGeom prst="rect">
            <a:avLst/>
          </a:prstGeom>
          <a:noFill/>
          <a:ln w="9525">
            <a:noFill/>
            <a:miter lim="800000"/>
          </a:ln>
        </p:spPr>
        <p:txBody>
          <a:bodyPr>
            <a:spAutoFit/>
          </a:bodyPr>
          <a:lstStyle/>
          <a:p>
            <a:pPr marL="285750" indent="-285750" algn="just">
              <a:lnSpc>
                <a:spcPct val="150000"/>
              </a:lnSpc>
              <a:spcBef>
                <a:spcPts val="300"/>
              </a:spcBef>
              <a:buFont typeface="Arial" panose="02080604020202020204" pitchFamily="34" charset="0"/>
              <a:buChar char="•"/>
              <a:defRPr/>
            </a:pPr>
            <a:r>
              <a:rPr lang="zh-CN" altLang="en-US" sz="1800" b="1" dirty="0">
                <a:latin typeface="宋体" panose="02000500000000000000" pitchFamily="2" charset="-122"/>
                <a:ea typeface="宋体" panose="02000500000000000000" pitchFamily="2" charset="-122"/>
                <a:cs typeface="宋体" panose="02000500000000000000" pitchFamily="2" charset="-122"/>
              </a:rPr>
              <a:t>每个</a:t>
            </a:r>
            <a:r>
              <a:rPr lang="en-US" altLang="zh-CN" sz="1800" b="1" dirty="0">
                <a:latin typeface="宋体" panose="02000500000000000000" pitchFamily="2" charset="-122"/>
                <a:ea typeface="宋体" panose="02000500000000000000" pitchFamily="2" charset="-122"/>
                <a:cs typeface="宋体" panose="02000500000000000000" pitchFamily="2" charset="-122"/>
              </a:rPr>
              <a:t>Vector Unit</a:t>
            </a:r>
            <a:r>
              <a:rPr lang="zh-CN" altLang="en-US" sz="1800" b="1" dirty="0">
                <a:latin typeface="宋体" panose="02000500000000000000" pitchFamily="2" charset="-122"/>
                <a:ea typeface="宋体" panose="02000500000000000000" pitchFamily="2" charset="-122"/>
                <a:cs typeface="宋体" panose="02000500000000000000" pitchFamily="2" charset="-122"/>
              </a:rPr>
              <a:t>中包含一条</a:t>
            </a:r>
            <a:r>
              <a:rPr lang="zh-CN" altLang="en-US" sz="1800" b="1" dirty="0">
                <a:solidFill>
                  <a:srgbClr val="FF0000"/>
                </a:solidFill>
                <a:latin typeface="宋体" panose="02000500000000000000" pitchFamily="2" charset="-122"/>
                <a:ea typeface="宋体" panose="02000500000000000000" pitchFamily="2" charset="-122"/>
                <a:cs typeface="宋体" panose="02000500000000000000" pitchFamily="2" charset="-122"/>
              </a:rPr>
              <a:t>计算流水线</a:t>
            </a:r>
            <a:endParaRPr lang="en-US" altLang="zh-CN" sz="1800" b="1"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300"/>
              </a:spcBef>
              <a:buFont typeface="Arial" panose="02080604020202020204" pitchFamily="34" charset="0"/>
              <a:buChar char="•"/>
              <a:defRPr/>
            </a:pPr>
            <a:r>
              <a:rPr lang="zh-CN" altLang="en-US" sz="1400" b="1" dirty="0">
                <a:latin typeface="宋体" panose="02000500000000000000" pitchFamily="2" charset="-122"/>
                <a:ea typeface="宋体" panose="02000500000000000000" pitchFamily="2" charset="-122"/>
                <a:cs typeface="宋体" panose="02000500000000000000" pitchFamily="2" charset="-122"/>
              </a:rPr>
              <a:t>流水线：取指</a:t>
            </a:r>
            <a:r>
              <a:rPr lang="en-US" altLang="zh-CN" sz="1400" b="1" dirty="0">
                <a:latin typeface="宋体" panose="02000500000000000000" pitchFamily="2" charset="-122"/>
                <a:ea typeface="宋体" panose="02000500000000000000" pitchFamily="2" charset="-122"/>
                <a:cs typeface="宋体" panose="02000500000000000000" pitchFamily="2" charset="-122"/>
              </a:rPr>
              <a:t>-</a:t>
            </a:r>
            <a:r>
              <a:rPr lang="zh-CN" altLang="en-US" sz="1400" b="1" dirty="0">
                <a:latin typeface="宋体" panose="02000500000000000000" pitchFamily="2" charset="-122"/>
                <a:ea typeface="宋体" panose="02000500000000000000" pitchFamily="2" charset="-122"/>
                <a:cs typeface="宋体" panose="02000500000000000000" pitchFamily="2" charset="-122"/>
              </a:rPr>
              <a:t>译码</a:t>
            </a:r>
            <a:r>
              <a:rPr lang="en-US" altLang="zh-CN" sz="1400" b="1" dirty="0">
                <a:latin typeface="宋体" panose="02000500000000000000" pitchFamily="2" charset="-122"/>
                <a:ea typeface="宋体" panose="02000500000000000000" pitchFamily="2" charset="-122"/>
                <a:cs typeface="宋体" panose="02000500000000000000" pitchFamily="2" charset="-122"/>
              </a:rPr>
              <a:t>-</a:t>
            </a:r>
            <a:r>
              <a:rPr lang="zh-CN" altLang="en-US" sz="1400" b="1" dirty="0">
                <a:latin typeface="宋体" panose="02000500000000000000" pitchFamily="2" charset="-122"/>
                <a:ea typeface="宋体" panose="02000500000000000000" pitchFamily="2" charset="-122"/>
                <a:cs typeface="宋体" panose="02000500000000000000" pitchFamily="2" charset="-122"/>
              </a:rPr>
              <a:t>发射</a:t>
            </a:r>
            <a:r>
              <a:rPr lang="en-US" altLang="zh-CN" sz="1400" b="1" dirty="0">
                <a:latin typeface="宋体" panose="02000500000000000000" pitchFamily="2" charset="-122"/>
                <a:ea typeface="宋体" panose="02000500000000000000" pitchFamily="2" charset="-122"/>
                <a:cs typeface="宋体" panose="02000500000000000000" pitchFamily="2" charset="-122"/>
              </a:rPr>
              <a:t>-</a:t>
            </a:r>
            <a:r>
              <a:rPr lang="zh-CN" altLang="en-US" sz="1400" b="1" dirty="0">
                <a:latin typeface="宋体" panose="02000500000000000000" pitchFamily="2" charset="-122"/>
                <a:ea typeface="宋体" panose="02000500000000000000" pitchFamily="2" charset="-122"/>
                <a:cs typeface="宋体" panose="02000500000000000000" pitchFamily="2" charset="-122"/>
              </a:rPr>
              <a:t>读寄存器</a:t>
            </a:r>
            <a:r>
              <a:rPr lang="en-US" altLang="zh-CN" sz="1400" b="1" dirty="0">
                <a:latin typeface="宋体" panose="02000500000000000000" pitchFamily="2" charset="-122"/>
                <a:ea typeface="宋体" panose="02000500000000000000" pitchFamily="2" charset="-122"/>
                <a:cs typeface="宋体" panose="02000500000000000000" pitchFamily="2" charset="-122"/>
              </a:rPr>
              <a:t>-</a:t>
            </a:r>
            <a:r>
              <a:rPr lang="zh-CN" altLang="en-US" sz="1400" b="1" dirty="0">
                <a:latin typeface="宋体" panose="02000500000000000000" pitchFamily="2" charset="-122"/>
                <a:ea typeface="宋体" panose="02000500000000000000" pitchFamily="2" charset="-122"/>
                <a:cs typeface="宋体" panose="02000500000000000000" pitchFamily="2" charset="-122"/>
              </a:rPr>
              <a:t>执行</a:t>
            </a:r>
            <a:r>
              <a:rPr lang="en-US" altLang="zh-CN" sz="1400" b="1" dirty="0">
                <a:latin typeface="宋体" panose="02000500000000000000" pitchFamily="2" charset="-122"/>
                <a:ea typeface="宋体" panose="02000500000000000000" pitchFamily="2" charset="-122"/>
                <a:cs typeface="宋体" panose="02000500000000000000" pitchFamily="2" charset="-122"/>
              </a:rPr>
              <a:t>-</a:t>
            </a:r>
            <a:r>
              <a:rPr lang="zh-CN" altLang="en-US" sz="1400" b="1" dirty="0">
                <a:latin typeface="宋体" panose="02000500000000000000" pitchFamily="2" charset="-122"/>
                <a:ea typeface="宋体" panose="02000500000000000000" pitchFamily="2" charset="-122"/>
                <a:cs typeface="宋体" panose="02000500000000000000" pitchFamily="2" charset="-122"/>
              </a:rPr>
              <a:t>写回</a:t>
            </a:r>
            <a:endParaRPr lang="en-US" altLang="zh-CN"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300"/>
              </a:spcBef>
              <a:buFont typeface="Arial" panose="02080604020202020204" pitchFamily="34" charset="0"/>
              <a:buChar char="•"/>
              <a:defRPr/>
            </a:pPr>
            <a:r>
              <a:rPr lang="zh-CN" altLang="en-US" sz="1400" b="1" dirty="0">
                <a:latin typeface="宋体" panose="02000500000000000000" pitchFamily="2" charset="-122"/>
                <a:ea typeface="宋体" panose="02000500000000000000" pitchFamily="2" charset="-122"/>
                <a:cs typeface="宋体" panose="02000500000000000000" pitchFamily="2" charset="-122"/>
              </a:rPr>
              <a:t>每个任务最小单位</a:t>
            </a:r>
            <a:r>
              <a:rPr lang="en-US" altLang="zh-CN" sz="1400" b="1" dirty="0">
                <a:latin typeface="宋体" panose="02000500000000000000" pitchFamily="2" charset="-122"/>
                <a:ea typeface="宋体" panose="02000500000000000000" pitchFamily="2" charset="-122"/>
                <a:cs typeface="宋体" panose="02000500000000000000" pitchFamily="2" charset="-122"/>
              </a:rPr>
              <a:t>wave</a:t>
            </a:r>
            <a:r>
              <a:rPr lang="zh-CN" altLang="en-US" sz="1400" b="1" dirty="0">
                <a:latin typeface="宋体" panose="02000500000000000000" pitchFamily="2" charset="-122"/>
                <a:ea typeface="宋体" panose="02000500000000000000" pitchFamily="2" charset="-122"/>
                <a:cs typeface="宋体" panose="02000500000000000000" pitchFamily="2" charset="-122"/>
              </a:rPr>
              <a:t>包含</a:t>
            </a:r>
            <a:r>
              <a:rPr lang="en-US" altLang="zh-CN" sz="1400" b="1" dirty="0">
                <a:latin typeface="宋体" panose="02000500000000000000" pitchFamily="2" charset="-122"/>
                <a:ea typeface="宋体" panose="02000500000000000000" pitchFamily="2" charset="-122"/>
                <a:cs typeface="宋体" panose="02000500000000000000" pitchFamily="2" charset="-122"/>
              </a:rPr>
              <a:t>32</a:t>
            </a:r>
            <a:r>
              <a:rPr lang="zh-CN" altLang="en-US" sz="1400" b="1" dirty="0">
                <a:latin typeface="宋体" panose="02000500000000000000" pitchFamily="2" charset="-122"/>
                <a:ea typeface="宋体" panose="02000500000000000000" pitchFamily="2" charset="-122"/>
                <a:cs typeface="宋体" panose="02000500000000000000" pitchFamily="2" charset="-122"/>
              </a:rPr>
              <a:t>个线程</a:t>
            </a:r>
            <a:endParaRPr lang="zh-CN" altLang="en-US"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300"/>
              </a:spcBef>
              <a:buFont typeface="Arial" panose="02080604020202020204" pitchFamily="34" charset="0"/>
              <a:buChar char="•"/>
              <a:defRPr/>
            </a:pPr>
            <a:r>
              <a:rPr lang="zh-CN" altLang="en-US" sz="1400" b="1" dirty="0">
                <a:latin typeface="宋体" panose="02000500000000000000" pitchFamily="2" charset="-122"/>
                <a:ea typeface="宋体" panose="02000500000000000000" pitchFamily="2" charset="-122"/>
                <a:cs typeface="宋体" panose="02000500000000000000" pitchFamily="2" charset="-122"/>
              </a:rPr>
              <a:t>每个</a:t>
            </a:r>
            <a:r>
              <a:rPr lang="en-US" altLang="zh-CN" sz="1400" b="1" dirty="0">
                <a:latin typeface="宋体" panose="02000500000000000000" pitchFamily="2" charset="-122"/>
                <a:ea typeface="宋体" panose="02000500000000000000" pitchFamily="2" charset="-122"/>
                <a:cs typeface="宋体" panose="02000500000000000000" pitchFamily="2" charset="-122"/>
              </a:rPr>
              <a:t>VU</a:t>
            </a:r>
            <a:r>
              <a:rPr lang="zh-CN" altLang="en-US" sz="1400" b="1" dirty="0">
                <a:latin typeface="宋体" panose="02000500000000000000" pitchFamily="2" charset="-122"/>
                <a:ea typeface="宋体" panose="02000500000000000000" pitchFamily="2" charset="-122"/>
                <a:cs typeface="宋体" panose="02000500000000000000" pitchFamily="2" charset="-122"/>
              </a:rPr>
              <a:t>包含</a:t>
            </a:r>
            <a:r>
              <a:rPr lang="en-US" altLang="zh-CN" sz="1400" b="1" dirty="0">
                <a:latin typeface="宋体" panose="02000500000000000000" pitchFamily="2" charset="-122"/>
                <a:ea typeface="宋体" panose="02000500000000000000" pitchFamily="2" charset="-122"/>
                <a:cs typeface="宋体" panose="02000500000000000000" pitchFamily="2" charset="-122"/>
              </a:rPr>
              <a:t>10</a:t>
            </a:r>
            <a:r>
              <a:rPr lang="zh-CN" altLang="en-US" sz="1400" b="1" dirty="0">
                <a:latin typeface="宋体" panose="02000500000000000000" pitchFamily="2" charset="-122"/>
                <a:ea typeface="宋体" panose="02000500000000000000" pitchFamily="2" charset="-122"/>
                <a:cs typeface="宋体" panose="02000500000000000000" pitchFamily="2" charset="-122"/>
              </a:rPr>
              <a:t>个</a:t>
            </a:r>
            <a:r>
              <a:rPr lang="en-US" altLang="zh-CN" sz="1400" b="1" dirty="0">
                <a:latin typeface="宋体" panose="02000500000000000000" pitchFamily="2" charset="-122"/>
                <a:ea typeface="宋体" panose="02000500000000000000" pitchFamily="2" charset="-122"/>
                <a:cs typeface="宋体" panose="02000500000000000000" pitchFamily="2" charset="-122"/>
              </a:rPr>
              <a:t>wave</a:t>
            </a:r>
            <a:r>
              <a:rPr lang="zh-CN" altLang="en-US" sz="1400" b="1" dirty="0">
                <a:latin typeface="宋体" panose="02000500000000000000" pitchFamily="2" charset="-122"/>
                <a:ea typeface="宋体" panose="02000500000000000000" pitchFamily="2" charset="-122"/>
                <a:cs typeface="宋体" panose="02000500000000000000" pitchFamily="2" charset="-122"/>
              </a:rPr>
              <a:t>槽位，每拍从</a:t>
            </a:r>
            <a:r>
              <a:rPr lang="en-US" altLang="zh-CN" sz="1400" b="1" dirty="0">
                <a:latin typeface="宋体" panose="02000500000000000000" pitchFamily="2" charset="-122"/>
                <a:ea typeface="宋体" panose="02000500000000000000" pitchFamily="2" charset="-122"/>
                <a:cs typeface="宋体" panose="02000500000000000000" pitchFamily="2" charset="-122"/>
              </a:rPr>
              <a:t>10</a:t>
            </a:r>
            <a:r>
              <a:rPr lang="zh-CN" altLang="en-US" sz="1400" b="1" dirty="0">
                <a:latin typeface="宋体" panose="02000500000000000000" pitchFamily="2" charset="-122"/>
                <a:ea typeface="宋体" panose="02000500000000000000" pitchFamily="2" charset="-122"/>
                <a:cs typeface="宋体" panose="02000500000000000000" pitchFamily="2" charset="-122"/>
              </a:rPr>
              <a:t>个</a:t>
            </a:r>
            <a:r>
              <a:rPr lang="en-US" altLang="zh-CN" sz="1400" b="1" dirty="0">
                <a:latin typeface="宋体" panose="02000500000000000000" pitchFamily="2" charset="-122"/>
                <a:ea typeface="宋体" panose="02000500000000000000" pitchFamily="2" charset="-122"/>
                <a:cs typeface="宋体" panose="02000500000000000000" pitchFamily="2" charset="-122"/>
              </a:rPr>
              <a:t>wave</a:t>
            </a:r>
            <a:r>
              <a:rPr lang="zh-CN" altLang="en-US" sz="1400" b="1" dirty="0">
                <a:latin typeface="宋体" panose="02000500000000000000" pitchFamily="2" charset="-122"/>
                <a:ea typeface="宋体" panose="02000500000000000000" pitchFamily="2" charset="-122"/>
                <a:cs typeface="宋体" panose="02000500000000000000" pitchFamily="2" charset="-122"/>
              </a:rPr>
              <a:t>中选择</a:t>
            </a:r>
            <a:r>
              <a:rPr lang="en-US" altLang="zh-CN" sz="1400" b="1" dirty="0">
                <a:latin typeface="宋体" panose="02000500000000000000" pitchFamily="2" charset="-122"/>
                <a:ea typeface="宋体" panose="02000500000000000000" pitchFamily="2" charset="-122"/>
                <a:cs typeface="宋体" panose="02000500000000000000" pitchFamily="2" charset="-122"/>
              </a:rPr>
              <a:t>5</a:t>
            </a:r>
            <a:r>
              <a:rPr lang="zh-CN" altLang="en-US" sz="1400" b="1" dirty="0">
                <a:latin typeface="宋体" panose="02000500000000000000" pitchFamily="2" charset="-122"/>
                <a:ea typeface="宋体" panose="02000500000000000000" pitchFamily="2" charset="-122"/>
                <a:cs typeface="宋体" panose="02000500000000000000" pitchFamily="2" charset="-122"/>
              </a:rPr>
              <a:t>条不同类型指令进行发射</a:t>
            </a:r>
            <a:endParaRPr lang="zh-CN" altLang="en-US"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300"/>
              </a:spcBef>
              <a:buFont typeface="Arial" panose="02080604020202020204" pitchFamily="34" charset="0"/>
              <a:buChar char="•"/>
              <a:defRPr/>
            </a:pPr>
            <a:r>
              <a:rPr lang="en-US" altLang="zh-CN" sz="1400" b="1" dirty="0" err="1">
                <a:latin typeface="宋体" panose="02000500000000000000" pitchFamily="2" charset="-122"/>
                <a:ea typeface="宋体" panose="02000500000000000000" pitchFamily="2" charset="-122"/>
                <a:cs typeface="宋体" panose="02000500000000000000" pitchFamily="2" charset="-122"/>
              </a:rPr>
              <a:t>ALU:SFU:DPU:Tensor</a:t>
            </a:r>
            <a:r>
              <a:rPr lang="en-US" altLang="zh-CN" sz="1400" b="1" dirty="0">
                <a:latin typeface="宋体" panose="02000500000000000000" pitchFamily="2" charset="-122"/>
                <a:ea typeface="宋体" panose="02000500000000000000" pitchFamily="2" charset="-122"/>
                <a:cs typeface="宋体" panose="02000500000000000000" pitchFamily="2" charset="-122"/>
              </a:rPr>
              <a:t> = 16:4:1:1</a:t>
            </a:r>
            <a:endParaRPr lang="zh-CN" altLang="en-US" sz="1400" b="1" dirty="0">
              <a:latin typeface="宋体" panose="02000500000000000000" pitchFamily="2" charset="-122"/>
              <a:ea typeface="宋体" panose="02000500000000000000" pitchFamily="2" charset="-122"/>
              <a:cs typeface="宋体" panose="02000500000000000000" pitchFamily="2" charset="-122"/>
            </a:endParaRPr>
          </a:p>
          <a:p>
            <a:pPr marL="285750" indent="-285750" algn="just">
              <a:lnSpc>
                <a:spcPct val="150000"/>
              </a:lnSpc>
              <a:spcBef>
                <a:spcPts val="300"/>
              </a:spcBef>
              <a:buFont typeface="Arial" panose="02080604020202020204" pitchFamily="34" charset="0"/>
              <a:buChar char="•"/>
              <a:defRPr/>
            </a:pPr>
            <a:r>
              <a:rPr lang="en-US" altLang="zh-CN" sz="1800" b="1" dirty="0">
                <a:latin typeface="宋体" panose="02000500000000000000" pitchFamily="2" charset="-122"/>
                <a:ea typeface="宋体" panose="02000500000000000000" pitchFamily="2" charset="-122"/>
                <a:cs typeface="宋体" panose="02000500000000000000" pitchFamily="2" charset="-122"/>
              </a:rPr>
              <a:t>SP</a:t>
            </a:r>
            <a:r>
              <a:rPr lang="zh-CN" altLang="en-US" sz="1800" b="1" dirty="0">
                <a:latin typeface="宋体" panose="02000500000000000000" pitchFamily="2" charset="-122"/>
                <a:ea typeface="宋体" panose="02000500000000000000" pitchFamily="2" charset="-122"/>
                <a:cs typeface="宋体" panose="02000500000000000000" pitchFamily="2" charset="-122"/>
              </a:rPr>
              <a:t>内的</a:t>
            </a:r>
            <a:r>
              <a:rPr lang="zh-CN" altLang="en-US" sz="1800" b="1" dirty="0">
                <a:solidFill>
                  <a:srgbClr val="FF0000"/>
                </a:solidFill>
                <a:latin typeface="宋体" panose="02000500000000000000" pitchFamily="2" charset="-122"/>
                <a:ea typeface="宋体" panose="02000500000000000000" pitchFamily="2" charset="-122"/>
                <a:cs typeface="宋体" panose="02000500000000000000" pitchFamily="2" charset="-122"/>
              </a:rPr>
              <a:t>存储层次</a:t>
            </a:r>
            <a:r>
              <a:rPr lang="zh-CN" altLang="en-US" sz="1800" b="1" dirty="0">
                <a:latin typeface="宋体" panose="02000500000000000000" pitchFamily="2" charset="-122"/>
                <a:ea typeface="宋体" panose="02000500000000000000" pitchFamily="2" charset="-122"/>
                <a:cs typeface="宋体" panose="02000500000000000000" pitchFamily="2" charset="-122"/>
              </a:rPr>
              <a:t>设计</a:t>
            </a:r>
            <a:endParaRPr lang="zh-CN" altLang="en-US" sz="18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300"/>
              </a:spcBef>
              <a:buFont typeface="Arial" panose="02080604020202020204" pitchFamily="34" charset="0"/>
              <a:buChar char="•"/>
              <a:defRPr/>
            </a:pPr>
            <a:r>
              <a:rPr lang="zh-CN" altLang="en-US" sz="1400" b="1" dirty="0">
                <a:latin typeface="宋体" panose="02000500000000000000" pitchFamily="2" charset="-122"/>
                <a:ea typeface="宋体" panose="02000500000000000000" pitchFamily="2" charset="-122"/>
                <a:cs typeface="宋体" panose="02000500000000000000" pitchFamily="2" charset="-122"/>
              </a:rPr>
              <a:t>存储空间：</a:t>
            </a:r>
            <a:r>
              <a:rPr lang="en-US" altLang="zh-CN" sz="1400" b="1" dirty="0" err="1">
                <a:latin typeface="宋体" panose="02000500000000000000" pitchFamily="2" charset="-122"/>
                <a:ea typeface="宋体" panose="02000500000000000000" pitchFamily="2" charset="-122"/>
                <a:cs typeface="宋体" panose="02000500000000000000" pitchFamily="2" charset="-122"/>
              </a:rPr>
              <a:t>RegFile</a:t>
            </a:r>
            <a:r>
              <a:rPr lang="zh-CN" altLang="en-US" sz="1400" b="1" dirty="0">
                <a:latin typeface="宋体" panose="02000500000000000000" pitchFamily="2" charset="-122"/>
                <a:ea typeface="宋体" panose="02000500000000000000" pitchFamily="2" charset="-122"/>
                <a:cs typeface="宋体" panose="02000500000000000000" pitchFamily="2" charset="-122"/>
              </a:rPr>
              <a:t>、</a:t>
            </a:r>
            <a:r>
              <a:rPr lang="en-US" altLang="zh-CN" sz="1400" b="1" dirty="0" err="1">
                <a:latin typeface="宋体" panose="02000500000000000000" pitchFamily="2" charset="-122"/>
                <a:ea typeface="宋体" panose="02000500000000000000" pitchFamily="2" charset="-122"/>
                <a:cs typeface="宋体" panose="02000500000000000000" pitchFamily="2" charset="-122"/>
              </a:rPr>
              <a:t>SharedMemory</a:t>
            </a:r>
            <a:r>
              <a:rPr lang="zh-CN" altLang="en-US" sz="1400" b="1" dirty="0">
                <a:latin typeface="宋体" panose="02000500000000000000" pitchFamily="2" charset="-122"/>
                <a:ea typeface="宋体" panose="02000500000000000000" pitchFamily="2" charset="-122"/>
                <a:cs typeface="宋体" panose="02000500000000000000" pitchFamily="2" charset="-122"/>
              </a:rPr>
              <a:t>、</a:t>
            </a:r>
            <a:r>
              <a:rPr lang="en-US" altLang="zh-CN" sz="1400" b="1" dirty="0">
                <a:latin typeface="宋体" panose="02000500000000000000" pitchFamily="2" charset="-122"/>
                <a:ea typeface="宋体" panose="02000500000000000000" pitchFamily="2" charset="-122"/>
                <a:cs typeface="宋体" panose="02000500000000000000" pitchFamily="2" charset="-122"/>
              </a:rPr>
              <a:t>Cache(</a:t>
            </a:r>
            <a:r>
              <a:rPr lang="zh-CN" altLang="en-US" sz="1400" b="1" dirty="0">
                <a:latin typeface="宋体" panose="02000500000000000000" pitchFamily="2" charset="-122"/>
                <a:ea typeface="宋体" panose="02000500000000000000" pitchFamily="2" charset="-122"/>
                <a:cs typeface="宋体" panose="02000500000000000000" pitchFamily="2" charset="-122"/>
              </a:rPr>
              <a:t>内存）</a:t>
            </a:r>
            <a:endParaRPr lang="zh-CN" altLang="en-US"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300"/>
              </a:spcBef>
              <a:buFont typeface="Arial" panose="02080604020202020204" pitchFamily="34" charset="0"/>
              <a:buChar char="•"/>
              <a:defRPr/>
            </a:pPr>
            <a:r>
              <a:rPr lang="zh-CN" altLang="en-US" sz="1400" b="1" dirty="0">
                <a:latin typeface="宋体" panose="02000500000000000000" pitchFamily="2" charset="-122"/>
                <a:ea typeface="宋体" panose="02000500000000000000" pitchFamily="2" charset="-122"/>
                <a:cs typeface="宋体" panose="02000500000000000000" pitchFamily="2" charset="-122"/>
              </a:rPr>
              <a:t>包含丰富的指令来支持</a:t>
            </a:r>
            <a:r>
              <a:rPr lang="en-US" altLang="zh-CN" sz="1400" b="1" dirty="0">
                <a:latin typeface="宋体" panose="02000500000000000000" pitchFamily="2" charset="-122"/>
                <a:ea typeface="宋体" panose="02000500000000000000" pitchFamily="2" charset="-122"/>
                <a:cs typeface="宋体" panose="02000500000000000000" pitchFamily="2" charset="-122"/>
              </a:rPr>
              <a:t>3</a:t>
            </a:r>
            <a:r>
              <a:rPr lang="zh-CN" altLang="en-US" sz="1400" b="1" dirty="0">
                <a:latin typeface="宋体" panose="02000500000000000000" pitchFamily="2" charset="-122"/>
                <a:ea typeface="宋体" panose="02000500000000000000" pitchFamily="2" charset="-122"/>
                <a:cs typeface="宋体" panose="02000500000000000000" pitchFamily="2" charset="-122"/>
              </a:rPr>
              <a:t>个空间之间的数据传输</a:t>
            </a:r>
            <a:endParaRPr lang="zh-CN" altLang="en-US"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300"/>
              </a:spcBef>
              <a:buFont typeface="Arial" panose="02080604020202020204" pitchFamily="34" charset="0"/>
              <a:buChar char="•"/>
              <a:defRPr/>
            </a:pPr>
            <a:r>
              <a:rPr lang="zh-CN" altLang="en-US" sz="1400" b="1" dirty="0">
                <a:latin typeface="宋体" panose="02000500000000000000" pitchFamily="2" charset="-122"/>
                <a:ea typeface="宋体" panose="02000500000000000000" pitchFamily="2" charset="-122"/>
                <a:cs typeface="宋体" panose="02000500000000000000" pitchFamily="2" charset="-122"/>
              </a:rPr>
              <a:t>数据</a:t>
            </a:r>
            <a:r>
              <a:rPr lang="en-US" altLang="zh-CN" sz="1400" b="1" dirty="0">
                <a:latin typeface="宋体" panose="02000500000000000000" pitchFamily="2" charset="-122"/>
                <a:ea typeface="宋体" panose="02000500000000000000" pitchFamily="2" charset="-122"/>
                <a:cs typeface="宋体" panose="02000500000000000000" pitchFamily="2" charset="-122"/>
              </a:rPr>
              <a:t>cache</a:t>
            </a:r>
            <a:r>
              <a:rPr lang="zh-CN" altLang="en-US" sz="1400" b="1" dirty="0">
                <a:latin typeface="宋体" panose="02000500000000000000" pitchFamily="2" charset="-122"/>
                <a:ea typeface="宋体" panose="02000500000000000000" pitchFamily="2" charset="-122"/>
                <a:cs typeface="宋体" panose="02000500000000000000" pitchFamily="2" charset="-122"/>
              </a:rPr>
              <a:t>写穿透、写不分配、与</a:t>
            </a:r>
            <a:r>
              <a:rPr lang="en-US" altLang="zh-CN" sz="1400" b="1" dirty="0">
                <a:latin typeface="宋体" panose="02000500000000000000" pitchFamily="2" charset="-122"/>
                <a:ea typeface="宋体" panose="02000500000000000000" pitchFamily="2" charset="-122"/>
                <a:cs typeface="宋体" panose="02000500000000000000" pitchFamily="2" charset="-122"/>
              </a:rPr>
              <a:t>L2cache</a:t>
            </a:r>
            <a:r>
              <a:rPr lang="zh-CN" altLang="en-US" sz="1400" b="1" dirty="0">
                <a:latin typeface="宋体" panose="02000500000000000000" pitchFamily="2" charset="-122"/>
                <a:ea typeface="宋体" panose="02000500000000000000" pitchFamily="2" charset="-122"/>
                <a:cs typeface="宋体" panose="02000500000000000000" pitchFamily="2" charset="-122"/>
              </a:rPr>
              <a:t>非包含</a:t>
            </a:r>
            <a:endParaRPr lang="zh-CN" altLang="en-US" sz="1400" b="1" dirty="0">
              <a:latin typeface="宋体" panose="02000500000000000000" pitchFamily="2" charset="-122"/>
              <a:ea typeface="宋体" panose="02000500000000000000" pitchFamily="2" charset="-122"/>
              <a:cs typeface="宋体" panose="02000500000000000000" pitchFamily="2" charset="-122"/>
            </a:endParaRPr>
          </a:p>
          <a:p>
            <a:pPr marL="285750" indent="-285750" algn="just">
              <a:lnSpc>
                <a:spcPct val="150000"/>
              </a:lnSpc>
              <a:spcBef>
                <a:spcPts val="300"/>
              </a:spcBef>
              <a:buFont typeface="Arial" panose="02080604020202020204" pitchFamily="34" charset="0"/>
              <a:buChar char="•"/>
              <a:defRPr/>
            </a:pPr>
            <a:r>
              <a:rPr lang="zh-CN" altLang="en-US" sz="1800" b="1" dirty="0">
                <a:solidFill>
                  <a:srgbClr val="FF0000"/>
                </a:solidFill>
                <a:latin typeface="宋体" panose="02000500000000000000" pitchFamily="2" charset="-122"/>
                <a:ea typeface="宋体" panose="02000500000000000000" pitchFamily="2" charset="-122"/>
                <a:cs typeface="宋体" panose="02000500000000000000" pitchFamily="2" charset="-122"/>
              </a:rPr>
              <a:t>内部互联</a:t>
            </a:r>
            <a:r>
              <a:rPr lang="zh-CN" altLang="en-US" sz="1800" b="1" dirty="0">
                <a:latin typeface="宋体" panose="02000500000000000000" pitchFamily="2" charset="-122"/>
                <a:ea typeface="宋体" panose="02000500000000000000" pitchFamily="2" charset="-122"/>
                <a:cs typeface="宋体" panose="02000500000000000000" pitchFamily="2" charset="-122"/>
              </a:rPr>
              <a:t>总线</a:t>
            </a:r>
            <a:r>
              <a:rPr lang="en-US" altLang="zh-CN" sz="1800" b="1" dirty="0">
                <a:latin typeface="宋体" panose="02000500000000000000" pitchFamily="2" charset="-122"/>
                <a:ea typeface="宋体" panose="02000500000000000000" pitchFamily="2" charset="-122"/>
                <a:cs typeface="宋体" panose="02000500000000000000" pitchFamily="2" charset="-122"/>
              </a:rPr>
              <a:t>PBUS</a:t>
            </a:r>
            <a:endParaRPr lang="zh-CN" altLang="en-US" sz="18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300"/>
              </a:spcBef>
              <a:buFont typeface="Arial" panose="02080604020202020204" pitchFamily="34" charset="0"/>
              <a:buChar char="•"/>
              <a:defRPr/>
            </a:pPr>
            <a:r>
              <a:rPr lang="zh-CN" altLang="en-US" sz="1400" b="1" dirty="0">
                <a:latin typeface="宋体" panose="02000500000000000000" pitchFamily="2" charset="-122"/>
                <a:ea typeface="宋体" panose="02000500000000000000" pitchFamily="2" charset="-122"/>
                <a:cs typeface="宋体" panose="02000500000000000000" pitchFamily="2" charset="-122"/>
              </a:rPr>
              <a:t>基于令牌的全局流控</a:t>
            </a:r>
            <a:endParaRPr lang="zh-CN" altLang="en-US"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300"/>
              </a:spcBef>
              <a:buFont typeface="Arial" panose="02080604020202020204" pitchFamily="34" charset="0"/>
              <a:buChar char="•"/>
              <a:defRPr/>
            </a:pPr>
            <a:r>
              <a:rPr lang="zh-CN" altLang="en-US" sz="1400" b="1" dirty="0">
                <a:latin typeface="宋体" panose="02000500000000000000" pitchFamily="2" charset="-122"/>
                <a:ea typeface="宋体" panose="02000500000000000000" pitchFamily="2" charset="-122"/>
                <a:cs typeface="宋体" panose="02000500000000000000" pitchFamily="2" charset="-122"/>
              </a:rPr>
              <a:t>请求感知的高效均衡调度策略</a:t>
            </a:r>
            <a:endParaRPr lang="zh-CN" altLang="en-US" sz="14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300"/>
              </a:spcBef>
              <a:buFont typeface="Arial" panose="02080604020202020204" pitchFamily="34" charset="0"/>
              <a:buChar char="•"/>
              <a:defRPr/>
            </a:pPr>
            <a:r>
              <a:rPr lang="zh-CN" altLang="en-US" sz="1400" b="1" dirty="0">
                <a:latin typeface="宋体" panose="02000500000000000000" pitchFamily="2" charset="-122"/>
                <a:ea typeface="宋体" panose="02000500000000000000" pitchFamily="2" charset="-122"/>
                <a:cs typeface="宋体" panose="02000500000000000000" pitchFamily="2" charset="-122"/>
              </a:rPr>
              <a:t>物理设计亲和</a:t>
            </a:r>
            <a:endParaRPr lang="zh-CN" altLang="en-US" sz="1400" b="1"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animEffect transition="in" filter="wipe(down)">
                                      <p:cBhvr>
                                        <p:cTn id="7" dur="500"/>
                                        <p:tgtEl>
                                          <p:spTgt spid="121">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21">
                                            <p:txEl>
                                              <p:pRg st="1" end="1"/>
                                            </p:txEl>
                                          </p:spTgt>
                                        </p:tgtEl>
                                        <p:attrNameLst>
                                          <p:attrName>style.visibility</p:attrName>
                                        </p:attrNameLst>
                                      </p:cBhvr>
                                      <p:to>
                                        <p:strVal val="visible"/>
                                      </p:to>
                                    </p:set>
                                    <p:animEffect transition="in" filter="wipe(down)">
                                      <p:cBhvr>
                                        <p:cTn id="10" dur="500"/>
                                        <p:tgtEl>
                                          <p:spTgt spid="121">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21">
                                            <p:txEl>
                                              <p:pRg st="2" end="2"/>
                                            </p:txEl>
                                          </p:spTgt>
                                        </p:tgtEl>
                                        <p:attrNameLst>
                                          <p:attrName>style.visibility</p:attrName>
                                        </p:attrNameLst>
                                      </p:cBhvr>
                                      <p:to>
                                        <p:strVal val="visible"/>
                                      </p:to>
                                    </p:set>
                                    <p:animEffect transition="in" filter="wipe(down)">
                                      <p:cBhvr>
                                        <p:cTn id="13" dur="500"/>
                                        <p:tgtEl>
                                          <p:spTgt spid="121">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21">
                                            <p:txEl>
                                              <p:pRg st="3" end="3"/>
                                            </p:txEl>
                                          </p:spTgt>
                                        </p:tgtEl>
                                        <p:attrNameLst>
                                          <p:attrName>style.visibility</p:attrName>
                                        </p:attrNameLst>
                                      </p:cBhvr>
                                      <p:to>
                                        <p:strVal val="visible"/>
                                      </p:to>
                                    </p:set>
                                    <p:animEffect transition="in" filter="wipe(down)">
                                      <p:cBhvr>
                                        <p:cTn id="16" dur="500"/>
                                        <p:tgtEl>
                                          <p:spTgt spid="121">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21">
                                            <p:txEl>
                                              <p:pRg st="4" end="4"/>
                                            </p:txEl>
                                          </p:spTgt>
                                        </p:tgtEl>
                                        <p:attrNameLst>
                                          <p:attrName>style.visibility</p:attrName>
                                        </p:attrNameLst>
                                      </p:cBhvr>
                                      <p:to>
                                        <p:strVal val="visible"/>
                                      </p:to>
                                    </p:set>
                                    <p:animEffect transition="in" filter="wipe(down)">
                                      <p:cBhvr>
                                        <p:cTn id="19" dur="500"/>
                                        <p:tgtEl>
                                          <p:spTgt spid="121">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21">
                                            <p:txEl>
                                              <p:pRg st="5" end="5"/>
                                            </p:txEl>
                                          </p:spTgt>
                                        </p:tgtEl>
                                        <p:attrNameLst>
                                          <p:attrName>style.visibility</p:attrName>
                                        </p:attrNameLst>
                                      </p:cBhvr>
                                      <p:to>
                                        <p:strVal val="visible"/>
                                      </p:to>
                                    </p:set>
                                    <p:animEffect transition="in" filter="wipe(down)">
                                      <p:cBhvr>
                                        <p:cTn id="24" dur="500"/>
                                        <p:tgtEl>
                                          <p:spTgt spid="121">
                                            <p:txEl>
                                              <p:pRg st="5" end="5"/>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121">
                                            <p:txEl>
                                              <p:pRg st="6" end="6"/>
                                            </p:txEl>
                                          </p:spTgt>
                                        </p:tgtEl>
                                        <p:attrNameLst>
                                          <p:attrName>style.visibility</p:attrName>
                                        </p:attrNameLst>
                                      </p:cBhvr>
                                      <p:to>
                                        <p:strVal val="visible"/>
                                      </p:to>
                                    </p:set>
                                    <p:animEffect transition="in" filter="wipe(down)">
                                      <p:cBhvr>
                                        <p:cTn id="27" dur="500"/>
                                        <p:tgtEl>
                                          <p:spTgt spid="121">
                                            <p:txEl>
                                              <p:pRg st="6" end="6"/>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121">
                                            <p:txEl>
                                              <p:pRg st="7" end="7"/>
                                            </p:txEl>
                                          </p:spTgt>
                                        </p:tgtEl>
                                        <p:attrNameLst>
                                          <p:attrName>style.visibility</p:attrName>
                                        </p:attrNameLst>
                                      </p:cBhvr>
                                      <p:to>
                                        <p:strVal val="visible"/>
                                      </p:to>
                                    </p:set>
                                    <p:animEffect transition="in" filter="wipe(down)">
                                      <p:cBhvr>
                                        <p:cTn id="30" dur="500"/>
                                        <p:tgtEl>
                                          <p:spTgt spid="121">
                                            <p:txEl>
                                              <p:pRg st="7" end="7"/>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121">
                                            <p:txEl>
                                              <p:pRg st="8" end="8"/>
                                            </p:txEl>
                                          </p:spTgt>
                                        </p:tgtEl>
                                        <p:attrNameLst>
                                          <p:attrName>style.visibility</p:attrName>
                                        </p:attrNameLst>
                                      </p:cBhvr>
                                      <p:to>
                                        <p:strVal val="visible"/>
                                      </p:to>
                                    </p:set>
                                    <p:animEffect transition="in" filter="wipe(down)">
                                      <p:cBhvr>
                                        <p:cTn id="33" dur="500"/>
                                        <p:tgtEl>
                                          <p:spTgt spid="121">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21">
                                            <p:txEl>
                                              <p:pRg st="9" end="9"/>
                                            </p:txEl>
                                          </p:spTgt>
                                        </p:tgtEl>
                                        <p:attrNameLst>
                                          <p:attrName>style.visibility</p:attrName>
                                        </p:attrNameLst>
                                      </p:cBhvr>
                                      <p:to>
                                        <p:strVal val="visible"/>
                                      </p:to>
                                    </p:set>
                                    <p:animEffect transition="in" filter="wipe(down)">
                                      <p:cBhvr>
                                        <p:cTn id="38" dur="500"/>
                                        <p:tgtEl>
                                          <p:spTgt spid="121">
                                            <p:txEl>
                                              <p:pRg st="9" end="9"/>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121">
                                            <p:txEl>
                                              <p:pRg st="10" end="10"/>
                                            </p:txEl>
                                          </p:spTgt>
                                        </p:tgtEl>
                                        <p:attrNameLst>
                                          <p:attrName>style.visibility</p:attrName>
                                        </p:attrNameLst>
                                      </p:cBhvr>
                                      <p:to>
                                        <p:strVal val="visible"/>
                                      </p:to>
                                    </p:set>
                                    <p:animEffect transition="in" filter="wipe(down)">
                                      <p:cBhvr>
                                        <p:cTn id="41" dur="500"/>
                                        <p:tgtEl>
                                          <p:spTgt spid="121">
                                            <p:txEl>
                                              <p:pRg st="10" end="10"/>
                                            </p:txEl>
                                          </p:spTgt>
                                        </p:tgtEl>
                                      </p:cBhvr>
                                    </p:animEffect>
                                  </p:childTnLst>
                                </p:cTn>
                              </p:par>
                              <p:par>
                                <p:cTn id="42" presetID="22" presetClass="entr" presetSubtype="4" fill="hold" nodeType="withEffect">
                                  <p:stCondLst>
                                    <p:cond delay="0"/>
                                  </p:stCondLst>
                                  <p:childTnLst>
                                    <p:set>
                                      <p:cBhvr>
                                        <p:cTn id="43" dur="1" fill="hold">
                                          <p:stCondLst>
                                            <p:cond delay="0"/>
                                          </p:stCondLst>
                                        </p:cTn>
                                        <p:tgtEl>
                                          <p:spTgt spid="121">
                                            <p:txEl>
                                              <p:pRg st="11" end="11"/>
                                            </p:txEl>
                                          </p:spTgt>
                                        </p:tgtEl>
                                        <p:attrNameLst>
                                          <p:attrName>style.visibility</p:attrName>
                                        </p:attrNameLst>
                                      </p:cBhvr>
                                      <p:to>
                                        <p:strVal val="visible"/>
                                      </p:to>
                                    </p:set>
                                    <p:animEffect transition="in" filter="wipe(down)">
                                      <p:cBhvr>
                                        <p:cTn id="44" dur="500"/>
                                        <p:tgtEl>
                                          <p:spTgt spid="121">
                                            <p:txEl>
                                              <p:pRg st="11" end="11"/>
                                            </p:txEl>
                                          </p:spTgt>
                                        </p:tgtEl>
                                      </p:cBhvr>
                                    </p:animEffect>
                                  </p:childTnLst>
                                </p:cTn>
                              </p:par>
                              <p:par>
                                <p:cTn id="45" presetID="22" presetClass="entr" presetSubtype="4" fill="hold" nodeType="withEffect">
                                  <p:stCondLst>
                                    <p:cond delay="0"/>
                                  </p:stCondLst>
                                  <p:childTnLst>
                                    <p:set>
                                      <p:cBhvr>
                                        <p:cTn id="46" dur="1" fill="hold">
                                          <p:stCondLst>
                                            <p:cond delay="0"/>
                                          </p:stCondLst>
                                        </p:cTn>
                                        <p:tgtEl>
                                          <p:spTgt spid="121">
                                            <p:txEl>
                                              <p:pRg st="12" end="12"/>
                                            </p:txEl>
                                          </p:spTgt>
                                        </p:tgtEl>
                                        <p:attrNameLst>
                                          <p:attrName>style.visibility</p:attrName>
                                        </p:attrNameLst>
                                      </p:cBhvr>
                                      <p:to>
                                        <p:strVal val="visible"/>
                                      </p:to>
                                    </p:set>
                                    <p:animEffect transition="in" filter="wipe(down)">
                                      <p:cBhvr>
                                        <p:cTn id="47" dur="500"/>
                                        <p:tgtEl>
                                          <p:spTgt spid="12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7347" name="Rectangle 2"/>
          <p:cNvSpPr>
            <a:spLocks noGrp="1"/>
          </p:cNvSpPr>
          <p:nvPr>
            <p:ph type="title"/>
          </p:nvPr>
        </p:nvSpPr>
        <p:spPr>
          <a:xfrm>
            <a:off x="777875" y="0"/>
            <a:ext cx="10971213" cy="1052513"/>
          </a:xfrm>
        </p:spPr>
        <p:txBody>
          <a:bodyPr vert="horz" wrap="square" lIns="91440" tIns="45720" rIns="91440" bIns="45720" anchor="ctr" anchorCtr="0"/>
          <a:lstStyle/>
          <a:p>
            <a:pPr eaLnBrk="1" hangingPunct="1"/>
            <a:r>
              <a:rPr lang="zh-CN" altLang="en-US" dirty="0"/>
              <a:t>参考文献</a:t>
            </a:r>
            <a:endParaRPr lang="zh-CN" altLang="en-US" dirty="0"/>
          </a:p>
        </p:txBody>
      </p:sp>
      <p:sp>
        <p:nvSpPr>
          <p:cNvPr id="54276" name="Rectangle 3"/>
          <p:cNvSpPr>
            <a:spLocks noGrp="1" noChangeArrowheads="1"/>
          </p:cNvSpPr>
          <p:nvPr>
            <p:ph idx="1"/>
          </p:nvPr>
        </p:nvSpPr>
        <p:spPr>
          <a:xfrm>
            <a:off x="601663" y="1484313"/>
            <a:ext cx="10899775" cy="417671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ts val="600"/>
              </a:spcBef>
              <a:spcAft>
                <a:spcPct val="0"/>
              </a:spcAft>
              <a:buClrTx/>
              <a:buSzTx/>
              <a:buFontTx/>
              <a:buNone/>
              <a:defRPr/>
            </a:pP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[1] </a:t>
            </a:r>
            <a:r>
              <a:rPr kumimoji="0" lang="zh-CN" altLang="en-US" sz="1800" b="1" i="0" u="none" strike="noStrike" kern="0" cap="none" spc="0" normalizeH="0" baseline="0" noProof="0" dirty="0" smtClean="0">
                <a:ln>
                  <a:noFill/>
                </a:ln>
                <a:solidFill>
                  <a:schemeClr val="tx1"/>
                </a:solidFill>
                <a:effectLst/>
                <a:uLnTx/>
                <a:uFillTx/>
                <a:latin typeface="+mn-ea"/>
                <a:ea typeface="+mn-ea"/>
                <a:cs typeface="+mn-cs"/>
              </a:rPr>
              <a:t>胡伟武</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a:t>
            </a:r>
            <a:r>
              <a:rPr kumimoji="0" lang="zh-CN" altLang="en-US" sz="1800" b="1" i="0" u="none" strike="noStrike" kern="0" cap="none" spc="0" normalizeH="0" baseline="0" noProof="0" dirty="0" smtClean="0">
                <a:ln>
                  <a:noFill/>
                </a:ln>
                <a:solidFill>
                  <a:schemeClr val="tx1"/>
                </a:solidFill>
                <a:effectLst/>
                <a:uLnTx/>
                <a:uFillTx/>
                <a:latin typeface="+mn-ea"/>
                <a:ea typeface="+mn-ea"/>
                <a:cs typeface="+mn-cs"/>
              </a:rPr>
              <a:t>共享存储系统结构</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a:t>
            </a:r>
            <a:r>
              <a:rPr kumimoji="0" lang="zh-CN" altLang="en-US" sz="1800" b="1" i="0" u="none" strike="noStrike" kern="0" cap="none" spc="0" normalizeH="0" baseline="0" noProof="0" dirty="0" smtClean="0">
                <a:ln>
                  <a:noFill/>
                </a:ln>
                <a:solidFill>
                  <a:schemeClr val="tx1"/>
                </a:solidFill>
                <a:effectLst/>
                <a:uLnTx/>
                <a:uFillTx/>
                <a:latin typeface="+mn-ea"/>
                <a:ea typeface="+mn-ea"/>
                <a:cs typeface="+mn-cs"/>
              </a:rPr>
              <a:t>高等教育出版社</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2001</a:t>
            </a:r>
            <a:endParaRPr kumimoji="0" lang="en-US" altLang="zh-CN" sz="18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None/>
              <a:defRPr/>
            </a:pP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[2] </a:t>
            </a:r>
            <a:r>
              <a:rPr kumimoji="0" lang="en-US" altLang="zh-CN" sz="1800" b="1" i="0" u="none" strike="noStrike" kern="0" cap="none" spc="0" normalizeH="0" baseline="0" noProof="0" dirty="0" err="1" smtClean="0">
                <a:ln>
                  <a:noFill/>
                </a:ln>
                <a:solidFill>
                  <a:schemeClr val="tx1"/>
                </a:solidFill>
                <a:effectLst/>
                <a:uLnTx/>
                <a:uFillTx/>
                <a:latin typeface="+mn-ea"/>
                <a:ea typeface="+mn-ea"/>
                <a:cs typeface="+mn-cs"/>
              </a:rPr>
              <a:t>Weiwu</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a:t>
            </a:r>
            <a:r>
              <a:rPr kumimoji="0" lang="en-US" altLang="zh-CN" sz="1800" b="1" i="0" u="none" strike="noStrike" kern="0" cap="none" spc="0" normalizeH="0" baseline="0" noProof="0" dirty="0" err="1" smtClean="0">
                <a:ln>
                  <a:noFill/>
                </a:ln>
                <a:solidFill>
                  <a:schemeClr val="tx1"/>
                </a:solidFill>
                <a:effectLst/>
                <a:uLnTx/>
                <a:uFillTx/>
                <a:latin typeface="+mn-ea"/>
                <a:ea typeface="+mn-ea"/>
                <a:cs typeface="+mn-cs"/>
              </a:rPr>
              <a:t>Hu</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“Correct Event Ordering in Shared Memory </a:t>
            </a:r>
            <a:r>
              <a:rPr kumimoji="0" lang="en-US" altLang="zh-CN" sz="1800" b="1" i="0" u="none" strike="noStrike" kern="0" cap="none" spc="0" normalizeH="0" baseline="0" noProof="0" dirty="0" err="1" smtClean="0">
                <a:ln>
                  <a:noFill/>
                </a:ln>
                <a:solidFill>
                  <a:schemeClr val="tx1"/>
                </a:solidFill>
                <a:effectLst/>
                <a:uLnTx/>
                <a:uFillTx/>
                <a:latin typeface="+mn-ea"/>
                <a:ea typeface="+mn-ea"/>
                <a:cs typeface="+mn-cs"/>
              </a:rPr>
              <a:t>Syetems</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Ph.D. Thesis, Institute of Computing Technology, CAS, March, 1996.</a:t>
            </a:r>
            <a:endParaRPr kumimoji="0" lang="en-US" altLang="zh-CN" sz="18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None/>
              <a:defRPr/>
            </a:pP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[3] </a:t>
            </a:r>
            <a:r>
              <a:rPr kumimoji="0" lang="en-US" altLang="zh-CN" sz="1800" b="1" i="0" u="none" strike="noStrike" kern="0" cap="none" spc="0" normalizeH="0" baseline="0" noProof="0" dirty="0" err="1" smtClean="0">
                <a:ln>
                  <a:noFill/>
                </a:ln>
                <a:solidFill>
                  <a:schemeClr val="tx1"/>
                </a:solidFill>
                <a:effectLst/>
                <a:uLnTx/>
                <a:uFillTx/>
                <a:latin typeface="+mn-ea"/>
                <a:ea typeface="+mn-ea"/>
                <a:cs typeface="+mn-cs"/>
              </a:rPr>
              <a:t>Weiwu</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a:t>
            </a:r>
            <a:r>
              <a:rPr kumimoji="0" lang="en-US" altLang="zh-CN" sz="1800" b="1" i="0" u="none" strike="noStrike" kern="0" cap="none" spc="0" normalizeH="0" baseline="0" noProof="0" dirty="0" err="1" smtClean="0">
                <a:ln>
                  <a:noFill/>
                </a:ln>
                <a:solidFill>
                  <a:schemeClr val="tx1"/>
                </a:solidFill>
                <a:effectLst/>
                <a:uLnTx/>
                <a:uFillTx/>
                <a:latin typeface="+mn-ea"/>
                <a:ea typeface="+mn-ea"/>
                <a:cs typeface="+mn-cs"/>
              </a:rPr>
              <a:t>Hu</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and </a:t>
            </a:r>
            <a:r>
              <a:rPr kumimoji="0" lang="en-US" altLang="zh-CN" sz="1800" b="1" i="0" u="none" strike="noStrike" kern="0" cap="none" spc="0" normalizeH="0" baseline="0" noProof="0" dirty="0" err="1" smtClean="0">
                <a:ln>
                  <a:noFill/>
                </a:ln>
                <a:solidFill>
                  <a:schemeClr val="tx1"/>
                </a:solidFill>
                <a:effectLst/>
                <a:uLnTx/>
                <a:uFillTx/>
                <a:latin typeface="+mn-ea"/>
                <a:ea typeface="+mn-ea"/>
                <a:cs typeface="+mn-cs"/>
              </a:rPr>
              <a:t>Peisu</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Xia, “Out-of-Order Execution in Sequentially Consistent Shared Memory Systems: Theory and Experiments, </a:t>
            </a:r>
            <a:r>
              <a:rPr kumimoji="0" lang="en-US" altLang="zh-CN" sz="1800" b="1" i="1" u="none" strike="noStrike" kern="0" cap="none" spc="0" normalizeH="0" baseline="0" noProof="0" dirty="0" smtClean="0">
                <a:ln>
                  <a:noFill/>
                </a:ln>
                <a:solidFill>
                  <a:schemeClr val="tx1"/>
                </a:solidFill>
                <a:effectLst/>
                <a:uLnTx/>
                <a:uFillTx/>
                <a:latin typeface="+mn-ea"/>
                <a:ea typeface="+mn-ea"/>
                <a:cs typeface="+mn-cs"/>
              </a:rPr>
              <a:t>Journal of Computer Science and Technology</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Vol. 13, No. 2, pp. 125-140, Mar. 1998.</a:t>
            </a:r>
            <a:endParaRPr kumimoji="0" lang="en-US" altLang="zh-CN" sz="18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None/>
              <a:defRPr/>
            </a:pP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[4] </a:t>
            </a:r>
            <a:r>
              <a:rPr kumimoji="0" lang="en-US" altLang="zh-CN" sz="1800" b="1" i="0" u="none" strike="noStrike" kern="0" cap="none" spc="0" normalizeH="0" baseline="0" noProof="0" dirty="0" err="1" smtClean="0">
                <a:ln>
                  <a:noFill/>
                </a:ln>
                <a:solidFill>
                  <a:schemeClr val="tx1"/>
                </a:solidFill>
                <a:effectLst/>
                <a:uLnTx/>
                <a:uFillTx/>
                <a:latin typeface="+mn-ea"/>
                <a:ea typeface="+mn-ea"/>
                <a:cs typeface="+mn-cs"/>
              </a:rPr>
              <a:t>Weiwu</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a:t>
            </a:r>
            <a:r>
              <a:rPr kumimoji="0" lang="en-US" altLang="zh-CN" sz="1800" b="1" i="0" u="none" strike="noStrike" kern="0" cap="none" spc="0" normalizeH="0" baseline="0" noProof="0" dirty="0" err="1" smtClean="0">
                <a:ln>
                  <a:noFill/>
                </a:ln>
                <a:solidFill>
                  <a:schemeClr val="tx1"/>
                </a:solidFill>
                <a:effectLst/>
                <a:uLnTx/>
                <a:uFillTx/>
                <a:latin typeface="+mn-ea"/>
                <a:ea typeface="+mn-ea"/>
                <a:cs typeface="+mn-cs"/>
              </a:rPr>
              <a:t>Hu</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a:t>
            </a:r>
            <a:r>
              <a:rPr kumimoji="0" lang="en-US" altLang="zh-CN" sz="1800" b="1" i="0" u="none" strike="noStrike" kern="0" cap="none" spc="0" normalizeH="0" baseline="0" noProof="0" dirty="0" err="1" smtClean="0">
                <a:ln>
                  <a:noFill/>
                </a:ln>
                <a:solidFill>
                  <a:schemeClr val="tx1"/>
                </a:solidFill>
                <a:effectLst/>
                <a:uLnTx/>
                <a:uFillTx/>
                <a:latin typeface="+mn-ea"/>
                <a:ea typeface="+mn-ea"/>
                <a:cs typeface="+mn-cs"/>
              </a:rPr>
              <a:t>Weisong</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Shi, and </a:t>
            </a:r>
            <a:r>
              <a:rPr kumimoji="0" lang="en-US" altLang="zh-CN" sz="1800" b="1" i="0" u="none" strike="noStrike" kern="0" cap="none" spc="0" normalizeH="0" baseline="0" noProof="0" dirty="0" err="1" smtClean="0">
                <a:ln>
                  <a:noFill/>
                </a:ln>
                <a:solidFill>
                  <a:schemeClr val="tx1"/>
                </a:solidFill>
                <a:effectLst/>
                <a:uLnTx/>
                <a:uFillTx/>
                <a:latin typeface="+mn-ea"/>
                <a:ea typeface="+mn-ea"/>
                <a:cs typeface="+mn-cs"/>
              </a:rPr>
              <a:t>Zhimin</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Tang, “A Framework of Memory Consistency Models”, </a:t>
            </a:r>
            <a:r>
              <a:rPr kumimoji="0" lang="en-US" altLang="zh-CN" sz="1800" b="1" i="1" u="none" strike="noStrike" kern="0" cap="none" spc="0" normalizeH="0" baseline="0" noProof="0" dirty="0" smtClean="0">
                <a:ln>
                  <a:noFill/>
                </a:ln>
                <a:solidFill>
                  <a:schemeClr val="tx1"/>
                </a:solidFill>
                <a:effectLst/>
                <a:uLnTx/>
                <a:uFillTx/>
                <a:latin typeface="+mn-ea"/>
                <a:ea typeface="+mn-ea"/>
                <a:cs typeface="+mn-cs"/>
              </a:rPr>
              <a:t>Journal of Computer Science and Technology</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cs"/>
              </a:rPr>
              <a:t>, Vol. 13, No. 2, pp. 110-124, Mar. 1998. </a:t>
            </a:r>
            <a:endParaRPr kumimoji="0" lang="en-US" altLang="zh-CN" sz="2400" b="1" i="0" u="none" strike="noStrike" kern="0" cap="none" spc="0" normalizeH="0" baseline="0" noProof="0" dirty="0" smtClean="0">
              <a:ln>
                <a:noFill/>
              </a:ln>
              <a:solidFill>
                <a:schemeClr val="tx1"/>
              </a:solidFill>
              <a:effectLst/>
              <a:uLnTx/>
              <a:uFillTx/>
              <a:latin typeface="+mn-ea"/>
              <a:ea typeface="+mn-ea"/>
              <a:cs typeface="+mn-c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xfrm>
            <a:off x="609600" y="-12382"/>
            <a:ext cx="10971213" cy="1143000"/>
          </a:xfrm>
        </p:spPr>
        <p:txBody>
          <a:bodyPr vert="horz" wrap="square" lIns="92070" tIns="46035" rIns="92070" bIns="46035" anchor="ctr" anchorCtr="0"/>
          <a:p>
            <a:pPr eaLnBrk="1" hangingPunct="1"/>
            <a:r>
              <a:rPr lang="zh-CN" altLang="en-US" sz="4000" dirty="0"/>
              <a:t>多核处理器小结</a:t>
            </a:r>
            <a:endParaRPr lang="zh-CN" altLang="en-US" sz="3200" dirty="0"/>
          </a:p>
        </p:txBody>
      </p:sp>
      <p:sp>
        <p:nvSpPr>
          <p:cNvPr id="14339" name="Rectangle 3"/>
          <p:cNvSpPr>
            <a:spLocks noGrp="1"/>
          </p:cNvSpPr>
          <p:nvPr>
            <p:ph idx="1"/>
          </p:nvPr>
        </p:nvSpPr>
        <p:spPr>
          <a:xfrm>
            <a:off x="280020" y="993902"/>
            <a:ext cx="11665612" cy="5863920"/>
          </a:xfrm>
        </p:spPr>
        <p:txBody>
          <a:bodyPr vert="horz" wrap="square" lIns="92070" tIns="46035" rIns="92070" bIns="46035" anchor="t" anchorCtr="0"/>
          <a:p>
            <a:pPr eaLnBrk="1" hangingPunct="1">
              <a:lnSpc>
                <a:spcPct val="150000"/>
              </a:lnSpc>
              <a:spcBef>
                <a:spcPct val="0"/>
              </a:spcBef>
            </a:pPr>
            <a:r>
              <a:rPr lang="zh-CN" altLang="en-US" sz="1800" dirty="0">
                <a:latin typeface="宋体" panose="02000500000000000000" pitchFamily="2" charset="-122"/>
                <a:ea typeface="宋体" panose="02000500000000000000" pitchFamily="2" charset="-122"/>
                <a:cs typeface="宋体" panose="02000500000000000000" pitchFamily="2" charset="-122"/>
              </a:rPr>
              <a:t>消息传递与共享存储：可伸缩性和通用性的权衡</a:t>
            </a:r>
            <a:endParaRPr lang="zh-CN" altLang="en-US" sz="18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zh-CN" altLang="en-US" sz="1400" dirty="0">
                <a:latin typeface="宋体" panose="02000500000000000000" pitchFamily="2" charset="-122"/>
                <a:ea typeface="宋体" panose="02000500000000000000" pitchFamily="2" charset="-122"/>
                <a:cs typeface="宋体" panose="02000500000000000000" pitchFamily="2" charset="-122"/>
              </a:rPr>
              <a:t>常见的共享存储系统：</a:t>
            </a:r>
            <a:r>
              <a:rPr lang="en-US" altLang="zh-CN" sz="1400" dirty="0">
                <a:latin typeface="宋体" panose="02000500000000000000" pitchFamily="2" charset="-122"/>
                <a:ea typeface="宋体" panose="02000500000000000000" pitchFamily="2" charset="-122"/>
                <a:cs typeface="宋体" panose="02000500000000000000" pitchFamily="2" charset="-122"/>
              </a:rPr>
              <a:t>SMP</a:t>
            </a:r>
            <a:r>
              <a:rPr lang="zh-CN" altLang="en-US" sz="1400" dirty="0">
                <a:latin typeface="宋体" panose="02000500000000000000" pitchFamily="2" charset="-122"/>
                <a:ea typeface="宋体" panose="02000500000000000000" pitchFamily="2" charset="-122"/>
                <a:cs typeface="宋体" panose="02000500000000000000" pitchFamily="2" charset="-122"/>
              </a:rPr>
              <a:t>、</a:t>
            </a:r>
            <a:r>
              <a:rPr lang="en-US" altLang="zh-CN" sz="1400" dirty="0">
                <a:latin typeface="宋体" panose="02000500000000000000" pitchFamily="2" charset="-122"/>
                <a:ea typeface="宋体" panose="02000500000000000000" pitchFamily="2" charset="-122"/>
                <a:cs typeface="宋体" panose="02000500000000000000" pitchFamily="2" charset="-122"/>
              </a:rPr>
              <a:t>CC-NUMA</a:t>
            </a:r>
            <a:r>
              <a:rPr lang="zh-CN" altLang="en-US" sz="1400" dirty="0">
                <a:latin typeface="宋体" panose="02000500000000000000" pitchFamily="2" charset="-122"/>
                <a:ea typeface="宋体" panose="02000500000000000000" pitchFamily="2" charset="-122"/>
                <a:cs typeface="宋体" panose="02000500000000000000" pitchFamily="2" charset="-122"/>
              </a:rPr>
              <a:t>、</a:t>
            </a:r>
            <a:r>
              <a:rPr lang="en-US" altLang="zh-CN" sz="1400" dirty="0">
                <a:latin typeface="宋体" panose="02000500000000000000" pitchFamily="2" charset="-122"/>
                <a:ea typeface="宋体" panose="02000500000000000000" pitchFamily="2" charset="-122"/>
                <a:cs typeface="宋体" panose="02000500000000000000" pitchFamily="2" charset="-122"/>
              </a:rPr>
              <a:t>NCC-NUMA</a:t>
            </a:r>
            <a:r>
              <a:rPr lang="zh-CN" altLang="en-US" sz="1400" dirty="0">
                <a:latin typeface="宋体" panose="02000500000000000000" pitchFamily="2" charset="-122"/>
                <a:ea typeface="宋体" panose="02000500000000000000" pitchFamily="2" charset="-122"/>
                <a:cs typeface="宋体" panose="02000500000000000000" pitchFamily="2" charset="-122"/>
              </a:rPr>
              <a:t>、</a:t>
            </a:r>
            <a:r>
              <a:rPr lang="en-US" altLang="zh-CN" sz="1400" dirty="0">
                <a:latin typeface="宋体" panose="02000500000000000000" pitchFamily="2" charset="-122"/>
                <a:ea typeface="宋体" panose="02000500000000000000" pitchFamily="2" charset="-122"/>
                <a:cs typeface="宋体" panose="02000500000000000000" pitchFamily="2" charset="-122"/>
              </a:rPr>
              <a:t>SVM</a:t>
            </a:r>
            <a:endParaRPr lang="en-US" altLang="zh-CN" sz="14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50000"/>
              </a:lnSpc>
              <a:spcBef>
                <a:spcPct val="0"/>
              </a:spcBef>
            </a:pPr>
            <a:r>
              <a:rPr lang="zh-CN" altLang="en-US" sz="1800" dirty="0">
                <a:latin typeface="宋体" panose="02000500000000000000" pitchFamily="2" charset="-122"/>
                <a:ea typeface="宋体" panose="02000500000000000000" pitchFamily="2" charset="-122"/>
                <a:cs typeface="宋体" panose="02000500000000000000" pitchFamily="2" charset="-122"/>
              </a:rPr>
              <a:t>共享存储系统的访存相关性</a:t>
            </a:r>
            <a:endParaRPr lang="zh-CN" altLang="en-US" sz="18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程序</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PRG</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的执行</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E(PRG)</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正确的充要条件是</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E(PRG) ∪ PO(PRG)</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无圈</a:t>
            </a:r>
            <a:endPar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eaLnBrk="1" hangingPunct="1">
              <a:lnSpc>
                <a:spcPct val="150000"/>
              </a:lnSpc>
              <a:spcBef>
                <a:spcPct val="0"/>
              </a:spcBef>
            </a:pPr>
            <a:r>
              <a:rPr lang="zh-CN" altLang="en-US" sz="1800" dirty="0">
                <a:latin typeface="宋体" panose="02000500000000000000" pitchFamily="2" charset="-122"/>
                <a:ea typeface="宋体" panose="02000500000000000000" pitchFamily="2" charset="-122"/>
                <a:cs typeface="宋体" panose="02000500000000000000" pitchFamily="2" charset="-122"/>
              </a:rPr>
              <a:t>共享存储系统的访存事件次序</a:t>
            </a:r>
            <a:endParaRPr lang="zh-CN" altLang="en-US" sz="18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zh-CN" altLang="en-US" sz="1400" dirty="0">
                <a:latin typeface="宋体" panose="02000500000000000000" pitchFamily="2" charset="-122"/>
                <a:ea typeface="宋体" panose="02000500000000000000" pitchFamily="2" charset="-122"/>
                <a:cs typeface="宋体" panose="02000500000000000000" pitchFamily="2" charset="-122"/>
              </a:rPr>
              <a:t>任一访存操作</a:t>
            </a:r>
            <a:r>
              <a:rPr lang="en-US" altLang="zh-CN" sz="1400" dirty="0">
                <a:latin typeface="宋体" panose="02000500000000000000" pitchFamily="2" charset="-122"/>
                <a:ea typeface="宋体" panose="02000500000000000000" pitchFamily="2" charset="-122"/>
                <a:cs typeface="宋体" panose="02000500000000000000" pitchFamily="2" charset="-122"/>
              </a:rPr>
              <a:t>u</a:t>
            </a:r>
            <a:r>
              <a:rPr lang="zh-CN" altLang="en-US" sz="1400" dirty="0">
                <a:latin typeface="宋体" panose="02000500000000000000" pitchFamily="2" charset="-122"/>
                <a:ea typeface="宋体" panose="02000500000000000000" pitchFamily="2" charset="-122"/>
                <a:cs typeface="宋体" panose="02000500000000000000" pitchFamily="2" charset="-122"/>
              </a:rPr>
              <a:t>被分割成</a:t>
            </a:r>
            <a:r>
              <a:rPr lang="en-US" altLang="zh-CN" sz="1400" dirty="0">
                <a:latin typeface="宋体" panose="02000500000000000000" pitchFamily="2" charset="-122"/>
                <a:ea typeface="宋体" panose="02000500000000000000" pitchFamily="2" charset="-122"/>
                <a:cs typeface="宋体" panose="02000500000000000000" pitchFamily="2" charset="-122"/>
              </a:rPr>
              <a:t>N</a:t>
            </a:r>
            <a:r>
              <a:rPr lang="zh-CN" altLang="en-US" sz="1400" dirty="0">
                <a:latin typeface="宋体" panose="02000500000000000000" pitchFamily="2" charset="-122"/>
                <a:ea typeface="宋体" panose="02000500000000000000" pitchFamily="2" charset="-122"/>
                <a:cs typeface="宋体" panose="02000500000000000000" pitchFamily="2" charset="-122"/>
              </a:rPr>
              <a:t>个子操作，</a:t>
            </a:r>
            <a:r>
              <a:rPr lang="en-US" altLang="zh-CN" sz="1400" dirty="0">
                <a:latin typeface="宋体" panose="02000500000000000000" pitchFamily="2" charset="-122"/>
                <a:ea typeface="宋体" panose="02000500000000000000" pitchFamily="2" charset="-122"/>
                <a:cs typeface="宋体" panose="02000500000000000000" pitchFamily="2" charset="-122"/>
              </a:rPr>
              <a:t>N</a:t>
            </a:r>
            <a:r>
              <a:rPr lang="zh-CN" altLang="en-US" sz="1400" dirty="0">
                <a:latin typeface="宋体" panose="02000500000000000000" pitchFamily="2" charset="-122"/>
                <a:ea typeface="宋体" panose="02000500000000000000" pitchFamily="2" charset="-122"/>
                <a:cs typeface="宋体" panose="02000500000000000000" pitchFamily="2" charset="-122"/>
              </a:rPr>
              <a:t>为处理器个数</a:t>
            </a:r>
            <a:endParaRPr lang="zh-CN" altLang="en-US" sz="14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50000"/>
              </a:lnSpc>
              <a:spcBef>
                <a:spcPct val="0"/>
              </a:spcBef>
            </a:pPr>
            <a:r>
              <a:rPr lang="zh-CN" altLang="en-US" sz="1800" dirty="0">
                <a:latin typeface="宋体" panose="02000500000000000000" pitchFamily="2" charset="-122"/>
                <a:ea typeface="宋体" panose="02000500000000000000" pitchFamily="2" charset="-122"/>
                <a:cs typeface="宋体" panose="02000500000000000000" pitchFamily="2" charset="-122"/>
              </a:rPr>
              <a:t>存储一致性模型</a:t>
            </a:r>
            <a:endParaRPr lang="zh-CN" altLang="en-US" sz="18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zh-CN" altLang="en-US" sz="1400" dirty="0">
                <a:latin typeface="宋体" panose="02000500000000000000" pitchFamily="2" charset="-122"/>
                <a:ea typeface="宋体" panose="02000500000000000000" pitchFamily="2" charset="-122"/>
                <a:cs typeface="宋体" panose="02000500000000000000" pitchFamily="2" charset="-122"/>
              </a:rPr>
              <a:t>结构设计者与应用程序员之间的一种约定，程序的正确性标准：顺序一致性模型</a:t>
            </a:r>
            <a:endParaRPr lang="zh-CN" altLang="en-US" sz="14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zh-CN" altLang="en-US" sz="1400" dirty="0">
                <a:latin typeface="宋体" panose="02000500000000000000" pitchFamily="2" charset="-122"/>
                <a:ea typeface="宋体" panose="02000500000000000000" pitchFamily="2" charset="-122"/>
                <a:cs typeface="宋体" panose="02000500000000000000" pitchFamily="2" charset="-122"/>
              </a:rPr>
              <a:t>弱一致性模型：同步操作在共享存储系统中的作用，</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用同步指令（如</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LL/SC</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）实现锁和</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Barrier</a:t>
            </a:r>
            <a:endPar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eaLnBrk="1" hangingPunct="1">
              <a:lnSpc>
                <a:spcPct val="150000"/>
              </a:lnSpc>
              <a:spcBef>
                <a:spcPct val="0"/>
              </a:spcBef>
            </a:pPr>
            <a:r>
              <a:rPr lang="en-US" altLang="zh-CN" sz="1800" dirty="0">
                <a:latin typeface="宋体" panose="02000500000000000000" pitchFamily="2" charset="-122"/>
                <a:ea typeface="宋体" panose="02000500000000000000" pitchFamily="2" charset="-122"/>
                <a:cs typeface="宋体" panose="02000500000000000000" pitchFamily="2" charset="-122"/>
              </a:rPr>
              <a:t>Cache</a:t>
            </a:r>
            <a:r>
              <a:rPr lang="zh-CN" altLang="en-US" sz="1800" dirty="0">
                <a:latin typeface="宋体" panose="02000500000000000000" pitchFamily="2" charset="-122"/>
                <a:ea typeface="宋体" panose="02000500000000000000" pitchFamily="2" charset="-122"/>
                <a:cs typeface="宋体" panose="02000500000000000000" pitchFamily="2" charset="-122"/>
              </a:rPr>
              <a:t>一致性协议</a:t>
            </a:r>
            <a:endParaRPr lang="zh-CN" altLang="en-US" sz="1800" dirty="0">
              <a:latin typeface="宋体" panose="02000500000000000000" pitchFamily="2" charset="-122"/>
              <a:ea typeface="宋体" panose="02000500000000000000" pitchFamily="2" charset="-122"/>
              <a:cs typeface="宋体" panose="02000500000000000000" pitchFamily="2" charset="-122"/>
            </a:endParaRPr>
          </a:p>
          <a:p>
            <a:pPr marL="800100" lvl="2" indent="-342900" eaLnBrk="1" hangingPunct="1">
              <a:lnSpc>
                <a:spcPct val="150000"/>
              </a:lnSpc>
              <a:spcBef>
                <a:spcPct val="0"/>
              </a:spcBef>
              <a:buFont typeface="Arial" panose="02080604020202020204" pitchFamily="34" charset="0"/>
              <a:buChar char="•"/>
            </a:pPr>
            <a:r>
              <a:rPr lang="zh-CN" altLang="en-US" sz="1400" dirty="0" smtClean="0">
                <a:latin typeface="宋体" panose="02000500000000000000" pitchFamily="2" charset="-122"/>
                <a:ea typeface="宋体" panose="02000500000000000000" pitchFamily="2" charset="-122"/>
                <a:cs typeface="宋体" panose="02000500000000000000" pitchFamily="2" charset="-122"/>
                <a:sym typeface="+mn-ea"/>
              </a:rPr>
              <a:t>现代通用</a:t>
            </a:r>
            <a:r>
              <a:rPr lang="en-US" altLang="zh-CN" sz="1400" dirty="0" smtClean="0">
                <a:latin typeface="宋体" panose="02000500000000000000" pitchFamily="2" charset="-122"/>
                <a:ea typeface="宋体" panose="02000500000000000000" pitchFamily="2" charset="-122"/>
                <a:cs typeface="宋体" panose="02000500000000000000" pitchFamily="2" charset="-122"/>
                <a:sym typeface="+mn-ea"/>
              </a:rPr>
              <a:t>CPU</a:t>
            </a:r>
            <a:r>
              <a:rPr lang="zh-CN" altLang="en-US" sz="1400" dirty="0" smtClean="0">
                <a:latin typeface="宋体" panose="02000500000000000000" pitchFamily="2" charset="-122"/>
                <a:ea typeface="宋体" panose="02000500000000000000" pitchFamily="2" charset="-122"/>
                <a:cs typeface="宋体" panose="02000500000000000000" pitchFamily="2" charset="-122"/>
                <a:sym typeface="+mn-ea"/>
              </a:rPr>
              <a:t>存储结构：核内</a:t>
            </a:r>
            <a:r>
              <a:rPr lang="en-US" altLang="zh-CN" sz="1400" dirty="0" smtClean="0">
                <a:latin typeface="宋体" panose="02000500000000000000" pitchFamily="2" charset="-122"/>
                <a:ea typeface="宋体" panose="02000500000000000000" pitchFamily="2" charset="-122"/>
                <a:cs typeface="宋体" panose="02000500000000000000" pitchFamily="2" charset="-122"/>
                <a:sym typeface="+mn-ea"/>
              </a:rPr>
              <a:t>L1D</a:t>
            </a:r>
            <a:r>
              <a:rPr lang="zh-CN" altLang="en-US" sz="1400" dirty="0" smtClean="0">
                <a:latin typeface="宋体" panose="02000500000000000000" pitchFamily="2" charset="-122"/>
                <a:ea typeface="宋体" panose="02000500000000000000" pitchFamily="2" charset="-122"/>
                <a:cs typeface="宋体" panose="02000500000000000000" pitchFamily="2" charset="-122"/>
                <a:sym typeface="+mn-ea"/>
              </a:rPr>
              <a:t>、</a:t>
            </a:r>
            <a:r>
              <a:rPr lang="en-US" altLang="zh-CN" sz="1400" dirty="0" smtClean="0">
                <a:latin typeface="宋体" panose="02000500000000000000" pitchFamily="2" charset="-122"/>
                <a:ea typeface="宋体" panose="02000500000000000000" pitchFamily="2" charset="-122"/>
                <a:cs typeface="宋体" panose="02000500000000000000" pitchFamily="2" charset="-122"/>
                <a:sym typeface="+mn-ea"/>
              </a:rPr>
              <a:t>L1I</a:t>
            </a:r>
            <a:r>
              <a:rPr lang="zh-CN" altLang="en-US" sz="1400" dirty="0" smtClean="0">
                <a:latin typeface="宋体" panose="02000500000000000000" pitchFamily="2" charset="-122"/>
                <a:ea typeface="宋体" panose="02000500000000000000" pitchFamily="2" charset="-122"/>
                <a:cs typeface="宋体" panose="02000500000000000000" pitchFamily="2" charset="-122"/>
                <a:sym typeface="+mn-ea"/>
              </a:rPr>
              <a:t>（几十</a:t>
            </a:r>
            <a:r>
              <a:rPr lang="en-US" altLang="zh-CN" sz="1400" dirty="0" smtClean="0">
                <a:latin typeface="宋体" panose="02000500000000000000" pitchFamily="2" charset="-122"/>
                <a:ea typeface="宋体" panose="02000500000000000000" pitchFamily="2" charset="-122"/>
                <a:cs typeface="宋体" panose="02000500000000000000" pitchFamily="2" charset="-122"/>
                <a:sym typeface="+mn-ea"/>
              </a:rPr>
              <a:t>KB</a:t>
            </a:r>
            <a:r>
              <a:rPr lang="zh-CN" altLang="en-US" sz="1400" dirty="0" smtClean="0">
                <a:latin typeface="宋体" panose="02000500000000000000" pitchFamily="2" charset="-122"/>
                <a:ea typeface="宋体" panose="02000500000000000000" pitchFamily="2" charset="-122"/>
                <a:cs typeface="宋体" panose="02000500000000000000" pitchFamily="2" charset="-122"/>
                <a:sym typeface="+mn-ea"/>
              </a:rPr>
              <a:t>），核内</a:t>
            </a:r>
            <a:r>
              <a:rPr lang="en-US" altLang="zh-CN" sz="1400" dirty="0" smtClean="0">
                <a:latin typeface="宋体" panose="02000500000000000000" pitchFamily="2" charset="-122"/>
                <a:ea typeface="宋体" panose="02000500000000000000" pitchFamily="2" charset="-122"/>
                <a:cs typeface="宋体" panose="02000500000000000000" pitchFamily="2" charset="-122"/>
                <a:sym typeface="+mn-ea"/>
              </a:rPr>
              <a:t>L2</a:t>
            </a:r>
            <a:r>
              <a:rPr lang="zh-CN" altLang="en-US" sz="1400" dirty="0" smtClean="0">
                <a:latin typeface="宋体" panose="02000500000000000000" pitchFamily="2" charset="-122"/>
                <a:ea typeface="宋体" panose="02000500000000000000" pitchFamily="2" charset="-122"/>
                <a:cs typeface="宋体" panose="02000500000000000000" pitchFamily="2" charset="-122"/>
                <a:sym typeface="+mn-ea"/>
              </a:rPr>
              <a:t>（几百</a:t>
            </a:r>
            <a:r>
              <a:rPr lang="en-US" altLang="zh-CN" sz="1400" dirty="0" smtClean="0">
                <a:latin typeface="宋体" panose="02000500000000000000" pitchFamily="2" charset="-122"/>
                <a:ea typeface="宋体" panose="02000500000000000000" pitchFamily="2" charset="-122"/>
                <a:cs typeface="宋体" panose="02000500000000000000" pitchFamily="2" charset="-122"/>
                <a:sym typeface="+mn-ea"/>
              </a:rPr>
              <a:t>KB-1MB</a:t>
            </a:r>
            <a:r>
              <a:rPr lang="zh-CN" altLang="en-US" sz="1400" dirty="0" smtClean="0">
                <a:latin typeface="宋体" panose="02000500000000000000" pitchFamily="2" charset="-122"/>
                <a:ea typeface="宋体" panose="02000500000000000000" pitchFamily="2" charset="-122"/>
                <a:cs typeface="宋体" panose="02000500000000000000" pitchFamily="2" charset="-122"/>
                <a:sym typeface="+mn-ea"/>
              </a:rPr>
              <a:t>），核间共享</a:t>
            </a:r>
            <a:r>
              <a:rPr lang="en-US" altLang="zh-CN" sz="1400" dirty="0" smtClean="0">
                <a:latin typeface="宋体" panose="02000500000000000000" pitchFamily="2" charset="-122"/>
                <a:ea typeface="宋体" panose="02000500000000000000" pitchFamily="2" charset="-122"/>
                <a:cs typeface="宋体" panose="02000500000000000000" pitchFamily="2" charset="-122"/>
                <a:sym typeface="+mn-ea"/>
              </a:rPr>
              <a:t>LLC</a:t>
            </a:r>
            <a:r>
              <a:rPr lang="zh-CN" altLang="en-US" sz="1400" dirty="0" smtClean="0">
                <a:latin typeface="宋体" panose="02000500000000000000" pitchFamily="2" charset="-122"/>
                <a:ea typeface="宋体" panose="02000500000000000000" pitchFamily="2" charset="-122"/>
                <a:cs typeface="宋体" panose="02000500000000000000" pitchFamily="2" charset="-122"/>
                <a:sym typeface="+mn-ea"/>
              </a:rPr>
              <a:t>（几十</a:t>
            </a:r>
            <a:r>
              <a:rPr lang="en-US" altLang="zh-CN" sz="1400" dirty="0" smtClean="0">
                <a:latin typeface="宋体" panose="02000500000000000000" pitchFamily="2" charset="-122"/>
                <a:ea typeface="宋体" panose="02000500000000000000" pitchFamily="2" charset="-122"/>
                <a:cs typeface="宋体" panose="02000500000000000000" pitchFamily="2" charset="-122"/>
                <a:sym typeface="+mn-ea"/>
              </a:rPr>
              <a:t>MB</a:t>
            </a:r>
            <a:r>
              <a:rPr lang="zh-CN" altLang="en-US" sz="1400" dirty="0" smtClean="0">
                <a:latin typeface="宋体" panose="02000500000000000000" pitchFamily="2" charset="-122"/>
                <a:ea typeface="宋体" panose="02000500000000000000" pitchFamily="2" charset="-122"/>
                <a:cs typeface="宋体" panose="02000500000000000000" pitchFamily="2" charset="-122"/>
                <a:sym typeface="+mn-ea"/>
              </a:rPr>
              <a:t>），多路共享内存</a:t>
            </a:r>
            <a:endParaRPr lang="zh-CN" altLang="en-US" sz="14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en-US" altLang="zh-CN" sz="1400" dirty="0">
                <a:latin typeface="宋体" panose="02000500000000000000" pitchFamily="2" charset="-122"/>
                <a:ea typeface="宋体" panose="02000500000000000000" pitchFamily="2" charset="-122"/>
                <a:cs typeface="宋体" panose="02000500000000000000" pitchFamily="2" charset="-122"/>
              </a:rPr>
              <a:t>Cache</a:t>
            </a:r>
            <a:r>
              <a:rPr lang="zh-CN" altLang="en-US" sz="1400" dirty="0">
                <a:latin typeface="宋体" panose="02000500000000000000" pitchFamily="2" charset="-122"/>
                <a:ea typeface="宋体" panose="02000500000000000000" pitchFamily="2" charset="-122"/>
                <a:cs typeface="宋体" panose="02000500000000000000" pitchFamily="2" charset="-122"/>
              </a:rPr>
              <a:t>一致性协议是一种把新写的值传播到其他处理机的机制：</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侦听</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目录、写更新</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a:t>
            </a:r>
            <a:r>
              <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rPr>
              <a:t>写无效</a:t>
            </a:r>
            <a:r>
              <a:rPr lang="en-US" altLang="zh-CN" sz="1400" dirty="0">
                <a:solidFill>
                  <a:srgbClr val="FF0000"/>
                </a:solidFill>
                <a:latin typeface="宋体" panose="02000500000000000000" pitchFamily="2" charset="-122"/>
                <a:ea typeface="宋体" panose="02000500000000000000" pitchFamily="2" charset="-122"/>
                <a:cs typeface="宋体" panose="02000500000000000000" pitchFamily="2" charset="-122"/>
              </a:rPr>
              <a:t>......</a:t>
            </a:r>
            <a:endParaRPr lang="zh-CN" altLang="en-US" sz="1400"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lvl="0" eaLnBrk="1" hangingPunct="1">
              <a:lnSpc>
                <a:spcPct val="150000"/>
              </a:lnSpc>
              <a:spcBef>
                <a:spcPct val="0"/>
              </a:spcBef>
            </a:pPr>
            <a:r>
              <a:rPr lang="zh-CN" altLang="en-US" sz="1800" dirty="0">
                <a:latin typeface="宋体" panose="02000500000000000000" pitchFamily="2" charset="-122"/>
                <a:ea typeface="宋体" panose="02000500000000000000" pitchFamily="2" charset="-122"/>
                <a:cs typeface="宋体" panose="02000500000000000000" pitchFamily="2" charset="-122"/>
              </a:rPr>
              <a:t>典型多核处理器分析</a:t>
            </a:r>
            <a:endParaRPr lang="zh-CN" altLang="en-US" sz="18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处理器核（异</a:t>
            </a:r>
            <a:r>
              <a:rPr lang="en-US" altLang="zh-CN" sz="1400" smtClean="0">
                <a:latin typeface="宋体" panose="02000500000000000000" pitchFamily="2" charset="-122"/>
                <a:ea typeface="宋体" panose="02000500000000000000" pitchFamily="2" charset="-122"/>
                <a:cs typeface="宋体" panose="02000500000000000000" pitchFamily="2" charset="-122"/>
                <a:sym typeface="+mn-ea"/>
              </a:rPr>
              <a:t>/</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同构、通</a:t>
            </a:r>
            <a:r>
              <a:rPr lang="en-US" altLang="zh-CN" sz="1400" smtClean="0">
                <a:latin typeface="宋体" panose="02000500000000000000" pitchFamily="2" charset="-122"/>
                <a:ea typeface="宋体" panose="02000500000000000000" pitchFamily="2" charset="-122"/>
                <a:cs typeface="宋体" panose="02000500000000000000" pitchFamily="2" charset="-122"/>
                <a:sym typeface="+mn-ea"/>
              </a:rPr>
              <a:t>/</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专用、重</a:t>
            </a:r>
            <a:r>
              <a:rPr lang="en-US" altLang="zh-CN" sz="1400" smtClean="0">
                <a:latin typeface="宋体" panose="02000500000000000000" pitchFamily="2" charset="-122"/>
                <a:ea typeface="宋体" panose="02000500000000000000" pitchFamily="2" charset="-122"/>
                <a:cs typeface="宋体" panose="02000500000000000000" pitchFamily="2" charset="-122"/>
                <a:sym typeface="+mn-ea"/>
              </a:rPr>
              <a:t>/</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轻核、多</a:t>
            </a:r>
            <a:r>
              <a:rPr lang="en-US" altLang="zh-CN" sz="1400" smtClean="0">
                <a:latin typeface="宋体" panose="02000500000000000000" pitchFamily="2" charset="-122"/>
                <a:ea typeface="宋体" panose="02000500000000000000" pitchFamily="2" charset="-122"/>
                <a:cs typeface="宋体" panose="02000500000000000000" pitchFamily="2" charset="-122"/>
                <a:sym typeface="+mn-ea"/>
              </a:rPr>
              <a:t>/</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众核），互连结构（可伸缩性），访存结构（是否共享存储、</a:t>
            </a:r>
            <a:r>
              <a:rPr lang="en-US" altLang="zh-CN" sz="1400" smtClean="0">
                <a:latin typeface="宋体" panose="02000500000000000000" pitchFamily="2" charset="-122"/>
                <a:ea typeface="宋体" panose="02000500000000000000" pitchFamily="2" charset="-122"/>
                <a:cs typeface="宋体" panose="02000500000000000000" pitchFamily="2" charset="-122"/>
                <a:sym typeface="+mn-ea"/>
              </a:rPr>
              <a:t>Cache</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一致性协议），峰值性能和访存带宽及</a:t>
            </a:r>
            <a:r>
              <a:rPr lang="en-US" altLang="zh-CN" sz="1400" smtClean="0">
                <a:latin typeface="宋体" panose="02000500000000000000" pitchFamily="2" charset="-122"/>
                <a:ea typeface="宋体" panose="02000500000000000000" pitchFamily="2" charset="-122"/>
                <a:cs typeface="宋体" panose="02000500000000000000" pitchFamily="2" charset="-122"/>
                <a:sym typeface="+mn-ea"/>
              </a:rPr>
              <a:t>IO</a:t>
            </a:r>
            <a:r>
              <a:rPr lang="zh-CN" altLang="en-US" sz="1400" smtClean="0">
                <a:latin typeface="宋体" panose="02000500000000000000" pitchFamily="2" charset="-122"/>
                <a:ea typeface="宋体" panose="02000500000000000000" pitchFamily="2" charset="-122"/>
                <a:cs typeface="宋体" panose="02000500000000000000" pitchFamily="2" charset="-122"/>
                <a:sym typeface="+mn-ea"/>
              </a:rPr>
              <a:t>带宽比例（避免茶壶里面倒饺子）</a:t>
            </a:r>
            <a:endParaRPr lang="zh-CN" altLang="en-US" sz="1400" smtClean="0">
              <a:latin typeface="宋体" panose="02000500000000000000" pitchFamily="2" charset="-122"/>
              <a:ea typeface="宋体" panose="02000500000000000000" pitchFamily="2" charset="-122"/>
              <a:cs typeface="宋体" panose="02000500000000000000" pitchFamily="2" charset="-122"/>
              <a:sym typeface="+mn-ea"/>
            </a:endParaRPr>
          </a:p>
          <a:p>
            <a:pPr lvl="1" eaLnBrk="1" hangingPunct="1">
              <a:lnSpc>
                <a:spcPct val="135000"/>
              </a:lnSpc>
              <a:spcBef>
                <a:spcPct val="0"/>
              </a:spcBef>
            </a:pPr>
            <a:endParaRPr lang="zh-CN" altLang="en-US" sz="1400" dirty="0" smtClean="0">
              <a:latin typeface="宋体" panose="02000500000000000000" pitchFamily="2" charset="-122"/>
              <a:ea typeface="宋体" panose="02000500000000000000" pitchFamily="2" charset="-122"/>
              <a:cs typeface="宋体" panose="02000500000000000000" pitchFamily="2" charset="-122"/>
              <a:sym typeface="+mn-ea"/>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8371" name="Rectangle 2"/>
          <p:cNvSpPr>
            <a:spLocks noGrp="1"/>
          </p:cNvSpPr>
          <p:nvPr>
            <p:ph type="title"/>
          </p:nvPr>
        </p:nvSpPr>
        <p:spPr/>
        <p:txBody>
          <a:bodyPr vert="horz" wrap="square" lIns="91440" tIns="45720" rIns="91440" bIns="45720" anchor="ctr" anchorCtr="0"/>
          <a:lstStyle/>
          <a:p>
            <a:pPr eaLnBrk="1" hangingPunct="1"/>
            <a:r>
              <a:rPr lang="zh-CN" altLang="en-US" sz="4400" dirty="0"/>
              <a:t>作  业</a:t>
            </a:r>
            <a:endParaRPr lang="zh-CN" altLang="en-US" sz="4400" dirty="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80604020202020204" pitchFamily="34" charset="0"/>
            <a:ea typeface="宋体" panose="02000500000000000000"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80604020202020204" pitchFamily="34"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20358</Words>
  <Application>WPS 演示</Application>
  <PresentationFormat>自定义</PresentationFormat>
  <Paragraphs>1938</Paragraphs>
  <Slides>77</Slides>
  <Notes>9</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77</vt:i4>
      </vt:variant>
    </vt:vector>
  </HeadingPairs>
  <TitlesOfParts>
    <vt:vector size="95" baseType="lpstr">
      <vt:lpstr>Arial</vt:lpstr>
      <vt:lpstr>宋体</vt:lpstr>
      <vt:lpstr>Wingdings</vt:lpstr>
      <vt:lpstr>Nimbus Roman No9 L</vt:lpstr>
      <vt:lpstr>黑体</vt:lpstr>
      <vt:lpstr>Times New Roman</vt:lpstr>
      <vt:lpstr>微软雅黑</vt:lpstr>
      <vt:lpstr>Arial Unicode MS</vt:lpstr>
      <vt:lpstr>Symbol</vt:lpstr>
      <vt:lpstr>Quicksand Light</vt:lpstr>
      <vt:lpstr>Courier New</vt:lpstr>
      <vt:lpstr>DejaVu Sans</vt:lpstr>
      <vt:lpstr>Calibri</vt:lpstr>
      <vt:lpstr>Arial Narrow</vt:lpstr>
      <vt:lpstr>文泉驿正黑</vt:lpstr>
      <vt:lpstr>MathJax_Vector</vt:lpstr>
      <vt:lpstr>默认设计模板</vt:lpstr>
      <vt:lpstr>Word.Picture.8</vt:lpstr>
      <vt:lpstr>计算机体系结构</vt:lpstr>
      <vt:lpstr>多处理器</vt:lpstr>
      <vt:lpstr>消息传递与共享存储</vt:lpstr>
      <vt:lpstr>两种并行系统：消息传递与共享存储</vt:lpstr>
      <vt:lpstr>PowerPoint 演示文稿</vt:lpstr>
      <vt:lpstr>PowerPoint 演示文稿</vt:lpstr>
      <vt:lpstr>积分求p的并行程序</vt:lpstr>
      <vt:lpstr>PowerPoint 演示文稿</vt:lpstr>
      <vt:lpstr>矩阵乘法的并行程序</vt:lpstr>
      <vt:lpstr>比较：Pthreads并行程序举例-矩阵乘法</vt:lpstr>
      <vt:lpstr>比较：OpenMP并行矩阵乘法</vt:lpstr>
      <vt:lpstr>MPI程序例子-矩阵乘法</vt:lpstr>
      <vt:lpstr>并行程序的例子：图象纠正</vt:lpstr>
      <vt:lpstr>常见的并行处理结构</vt:lpstr>
      <vt:lpstr>PowerPoint 演示文稿</vt:lpstr>
      <vt:lpstr>共享存储多核处理器的关键问题</vt:lpstr>
      <vt:lpstr>共享存储系统中的访存相关性</vt:lpstr>
      <vt:lpstr>一致性问题</vt:lpstr>
      <vt:lpstr>一致性问题（cont.）</vt:lpstr>
      <vt:lpstr>什么是正确的执行？</vt:lpstr>
      <vt:lpstr>并行程序的顺序执行</vt:lpstr>
      <vt:lpstr>并行程序模型</vt:lpstr>
      <vt:lpstr>程序执行的正确性</vt:lpstr>
      <vt:lpstr>PowerPoint 演示文稿</vt:lpstr>
      <vt:lpstr>共享存储系统的访存事件次序</vt:lpstr>
      <vt:lpstr>满足顺序一致的访存事件次序</vt:lpstr>
      <vt:lpstr>PowerPoint 演示文稿</vt:lpstr>
      <vt:lpstr>顺序一致系统中的乱序执行</vt:lpstr>
      <vt:lpstr>存储一致性模型</vt:lpstr>
      <vt:lpstr>PowerPoint 演示文稿</vt:lpstr>
      <vt:lpstr>PowerPoint 演示文稿</vt:lpstr>
      <vt:lpstr>顺序一致性模型</vt:lpstr>
      <vt:lpstr>处理机一致性模型</vt:lpstr>
      <vt:lpstr>PowerPoint 演示文稿</vt:lpstr>
      <vt:lpstr>PowerPoint 演示文稿</vt:lpstr>
      <vt:lpstr>释放一致性模型（Release Consistency）</vt:lpstr>
      <vt:lpstr>PowerPoint 演示文稿</vt:lpstr>
      <vt:lpstr>单项一致性模型（Entry Consistency）</vt:lpstr>
      <vt:lpstr>多核处理器的同步机制</vt:lpstr>
      <vt:lpstr>多核处理器的同步问题</vt:lpstr>
      <vt:lpstr>同步机制</vt:lpstr>
      <vt:lpstr>“读-改-写”原子指令</vt:lpstr>
      <vt:lpstr>LL/SC原子指令对</vt:lpstr>
      <vt:lpstr>实现同步机制</vt:lpstr>
      <vt:lpstr>CACHE一致性协议</vt:lpstr>
      <vt:lpstr>通用多核处理器的片上Cache结构</vt:lpstr>
      <vt:lpstr>PowerPoint 演示文稿</vt:lpstr>
      <vt:lpstr>PowerPoint 演示文稿</vt:lpstr>
      <vt:lpstr>Write-Invalidate和Write Update</vt:lpstr>
      <vt:lpstr>单写和多写</vt:lpstr>
      <vt:lpstr>急切更新与懒惰更新</vt:lpstr>
      <vt:lpstr>PowerPoint 演示文稿</vt:lpstr>
      <vt:lpstr>基于目录的协议</vt:lpstr>
      <vt:lpstr>ESI协议的状态</vt:lpstr>
      <vt:lpstr>协议举例</vt:lpstr>
      <vt:lpstr>PowerPoint 演示文稿</vt:lpstr>
      <vt:lpstr>PowerPoint 演示文稿</vt:lpstr>
      <vt:lpstr>PowerPoint 演示文稿</vt:lpstr>
      <vt:lpstr>访存事件次序在微结构中的实现</vt:lpstr>
      <vt:lpstr>不忘初心：提高性能</vt:lpstr>
      <vt:lpstr>分析多核CPU的要素</vt:lpstr>
      <vt:lpstr>典型多核处理器</vt:lpstr>
      <vt:lpstr>分析多核CPU的要素</vt:lpstr>
      <vt:lpstr>龙芯3号多核处理器</vt:lpstr>
      <vt:lpstr>Intel Sandybridge架构</vt:lpstr>
      <vt:lpstr>龙芯3C6000多核处理器</vt:lpstr>
      <vt:lpstr>TILE64众核处理器</vt:lpstr>
      <vt:lpstr>TILE64众核处理器（cont.）</vt:lpstr>
      <vt:lpstr>IBM CELL</vt:lpstr>
      <vt:lpstr>NVIDIA Fermi GPU</vt:lpstr>
      <vt:lpstr>NVIDIA Fermi结构</vt:lpstr>
      <vt:lpstr>PowerPoint 演示文稿</vt:lpstr>
      <vt:lpstr>PowerPoint 演示文稿</vt:lpstr>
      <vt:lpstr>PowerPoint 演示文稿</vt:lpstr>
      <vt:lpstr>参考文献</vt:lpstr>
      <vt:lpstr>多核处理器小结</vt:lpstr>
      <vt:lpstr>作  业</vt:lpstr>
    </vt:vector>
  </TitlesOfParts>
  <LinksUpToDate>false</LinksUpToDate>
  <SharedDoc>false</SharedDoc>
  <HyperlinksChanged>false</HyperlinksChanged>
  <AppVersion>14.0000</AppVersion>
  <Pages>14</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一种基于锁的cache一致性协议 及其分布式共享存储验证环境</dc:title>
  <dc:creator>Tang Zhimin</dc:creator>
  <cp:lastModifiedBy>loongson</cp:lastModifiedBy>
  <cp:revision>508</cp:revision>
  <cp:lastPrinted>2025-10-05T01:26:47Z</cp:lastPrinted>
  <dcterms:created xsi:type="dcterms:W3CDTF">2025-10-05T01:26:47Z</dcterms:created>
  <dcterms:modified xsi:type="dcterms:W3CDTF">2025-10-05T01:26:47Z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2052-11.1.0.11719</vt:lpwstr>
  </property>
</Properties>
</file>