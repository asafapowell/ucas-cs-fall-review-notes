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257" r:id="rId3"/>
    <p:sldId id="407" r:id="rId4"/>
    <p:sldId id="261" r:id="rId5"/>
    <p:sldId id="408" r:id="rId6"/>
    <p:sldId id="409" r:id="rId7"/>
    <p:sldId id="380" r:id="rId8"/>
    <p:sldId id="432" r:id="rId9"/>
    <p:sldId id="433" r:id="rId10"/>
    <p:sldId id="342" r:id="rId11"/>
    <p:sldId id="343" r:id="rId12"/>
    <p:sldId id="344" r:id="rId13"/>
    <p:sldId id="435" r:id="rId14"/>
    <p:sldId id="487" r:id="rId15"/>
    <p:sldId id="410" r:id="rId16"/>
    <p:sldId id="381" r:id="rId17"/>
    <p:sldId id="329" r:id="rId18"/>
    <p:sldId id="346" r:id="rId19"/>
    <p:sldId id="345" r:id="rId20"/>
    <p:sldId id="429" r:id="rId21"/>
    <p:sldId id="387" r:id="rId22"/>
    <p:sldId id="388" r:id="rId23"/>
    <p:sldId id="349" r:id="rId24"/>
    <p:sldId id="348" r:id="rId25"/>
    <p:sldId id="389" r:id="rId26"/>
    <p:sldId id="355" r:id="rId27"/>
    <p:sldId id="353" r:id="rId28"/>
    <p:sldId id="354" r:id="rId29"/>
    <p:sldId id="384" r:id="rId30"/>
    <p:sldId id="430" r:id="rId31"/>
    <p:sldId id="338" r:id="rId32"/>
    <p:sldId id="350" r:id="rId33"/>
    <p:sldId id="377" r:id="rId34"/>
    <p:sldId id="402" r:id="rId35"/>
    <p:sldId id="411" r:id="rId36"/>
    <p:sldId id="412" r:id="rId37"/>
    <p:sldId id="413" r:id="rId38"/>
    <p:sldId id="414" r:id="rId39"/>
    <p:sldId id="415" r:id="rId40"/>
    <p:sldId id="417" r:id="rId41"/>
    <p:sldId id="418" r:id="rId42"/>
    <p:sldId id="419" r:id="rId43"/>
    <p:sldId id="420" r:id="rId44"/>
    <p:sldId id="425" r:id="rId45"/>
    <p:sldId id="434" r:id="rId46"/>
    <p:sldId id="431" r:id="rId47"/>
    <p:sldId id="426" r:id="rId48"/>
    <p:sldId id="427" r:id="rId49"/>
    <p:sldId id="406" r:id="rId50"/>
    <p:sldId id="383" r:id="rId51"/>
    <p:sldId id="363" r:id="rId52"/>
    <p:sldId id="403" r:id="rId53"/>
    <p:sldId id="399" r:id="rId54"/>
    <p:sldId id="400" r:id="rId55"/>
    <p:sldId id="370" r:id="rId56"/>
    <p:sldId id="371" r:id="rId57"/>
    <p:sldId id="372" r:id="rId58"/>
    <p:sldId id="374" r:id="rId59"/>
    <p:sldId id="375" r:id="rId60"/>
    <p:sldId id="393" r:id="rId61"/>
    <p:sldId id="394" r:id="rId62"/>
    <p:sldId id="537" r:id="rId63"/>
    <p:sldId id="365" r:id="rId64"/>
  </p:sldIdLst>
  <p:sldSz cx="12190730" cy="6858000"/>
  <p:notesSz cx="6858000" cy="9144000"/>
  <p:defaultTextStyle>
    <a:defPPr>
      <a:defRPr lang="zh-CN"/>
    </a:defPPr>
    <a:lvl1pPr marL="0" lvl="0"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vl6pPr marL="2286000" lvl="5"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6pPr>
    <a:lvl7pPr marL="2743200" lvl="6"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7pPr>
    <a:lvl8pPr marL="3200400" lvl="7"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8pPr>
    <a:lvl9pPr marL="3657600" lvl="8"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wx" initials="w" lastIdx="2" clrIdx="0"/>
  <p:cmAuthor id="0" name="user" initials="u" lastIdx="1" clrIdx="0"/>
  <p:cmAuthor id="2" name="Athene" initials="A" lastIdx="2" clrIdx="1"/>
  <p:cmAuthor id="3" name="Microsoft Office User" initials="M" lastIdx="1" clrIdx="2"/>
  <p:cmAuthor id="4" name="loongson" initials="l" lastIdx="19" clrIdx="3"/>
  <p:cmAuthor id="5" name=" " initials=" " lastIdx="1" clrIdx="3"/>
  <p:cmAuthor id="6" name="liulili" initials="l" lastIdx="13" clrIdx="5"/>
  <p:cmAuthor id="7" name="WenWen" initials="W" lastIdx="1" clrIdx="6"/>
  <p:cmAuthor id="8" name="姜伟光" initials="姜" lastIdx="1" clrIdx="0"/>
  <p:cmAuthor id="9" name="宋洁然" initials="宋" lastIdx="2" clrIdx="1"/>
  <p:cmAuthor id="10" name="ming qiu" initials="m" lastIdx="17" clrIdx="1"/>
  <p:cmAuthor id="11" name="沈霄雷" initials="沈" lastIdx="833089" clrIdx="0"/>
  <p:cmAuthor id="12" name="韩雨" initials="韩" lastIdx="0" clrIdx="0"/>
  <p:cmAuthor id="13" name="仇怿俊" initials="仇" lastIdx="0" clrIdx="0"/>
  <p:cmAuthor id="14" name="D" initials="D" lastIdx="1" clrIdx="13"/>
  <p:cmAuthor id="15" name="于晖_zy632mY3" initials="authorId_387757713" lastIdx="0" clrIdx="0"/>
  <p:cmAuthor id="16" name="YM.Leo" initials="Y" lastIdx="20" clrIdx="13"/>
  <p:cmAuthor id="17" name="李臻_jiai6ZRr" initials="authorId_192999303" lastIdx="0" clrIdx="0"/>
  <p:cmAuthor id="18" name="robin.song" initials="r [3]" lastIdx="1" clrIdx="17"/>
  <p:cmAuthor id="19" name="孙军_a2y2UrEv" initials="authorId_524475945" lastIdx="0" clrIdx="0"/>
  <p:cmAuthor id="20" name="KSOGZD21000128" initials="K" lastIdx="1" clrIdx="19"/>
  <p:cmAuthor id="21" name="Microsoft Office 用户" initials="Office [10]" lastIdx="1" clrIdx="20"/>
  <p:cmAuthor id="22" name="grace" initials="g" lastIdx="1" clrIdx="21"/>
  <p:cmAuthor id="23" name="张 令旗" initials="张" lastIdx="6" clrIdx="22"/>
  <p:cmAuthor id="24" name="Liu Ym" initials="LY" lastIdx="3" clrIdx="23"/>
  <p:cmAuthor id="25" name="李蕾00009994" initials="" lastIdx="6" clrIdx="17"/>
  <p:cmAuthor id="26" name="yangkun" initials="y" lastIdx="1" clrIdx="25"/>
  <p:cmAuthor id="27" name="10270945" initials="" lastIdx="2" clrIdx="25"/>
  <p:cmAuthor id="28" name="10073006" initials="" lastIdx="4" clrIdx="26"/>
  <p:cmAuthor id="29" name="Hou Yingfeng" initials="" lastIdx="10" clrIdx="23"/>
  <p:cmAuthor id="30" name="赵诚荣10027092" initials="" lastIdx="2" clrIdx="25"/>
  <p:cmAuthor id="31" name="10056791" initials="" lastIdx="1" clrIdx="29"/>
  <p:cmAuthor id="32" name="10033224" initials="" lastIdx="1" clrIdx="31"/>
  <p:cmAuthor id="33" name="10045953" initials="" lastIdx="1" clrIdx="32"/>
  <p:cmAuthor id="34" name="关全全10258021" initials="" lastIdx="1" clrIdx="36"/>
  <p:cmAuthor id="35" name="suny hong" initials="sh" lastIdx="1" clrIdx="34"/>
  <p:cmAuthor id="36" name="Charley" initials="C" lastIdx="1" clrIdx="0"/>
  <p:cmAuthor id="37" name="tangj" initials="t" lastIdx="1" clrIdx="36"/>
  <p:cmAuthor id="38" name="鞠瑞" initials="鞠" lastIdx="1" clrIdx="37"/>
  <p:cmAuthor id="39" name="Hi" initials="H" lastIdx="1" clrIdx="38"/>
  <p:cmAuthor id="40" name="P1063cindychen" initials="P" lastIdx="6" clrIdx="0"/>
  <p:cmAuthor id="41" name="Pueschner, Franziska {FA~Shanghai}" initials="P" lastIdx="5" clrIdx="0"/>
  <p:cmAuthor id="691587970" name="小延魔法师" initials="小" lastIdx="1126286" clrIdx="0"/>
  <p:cmAuthor id="42" name="jianbest" initials="j" lastIdx="1" clrIdx="41"/>
  <p:cmAuthor id="691587971" name="刘春杰10244342" initials="刘春杰10244342" lastIdx="1" clrIdx="41"/>
  <p:cmAuthor id="43" name="王静" initials="王" lastIdx="1" clrIdx="42"/>
  <p:cmAuthor id="44" name="P00035_jeremy" initials="P" lastIdx="1" clrIdx="0"/>
  <p:cmAuthor id="45" name="未知的使用者12" initials="未" lastIdx="1" clrIdx="0"/>
  <p:cmAuthor id="46" name="未知的使用者13" initials="未" lastIdx="5" clrIdx="1"/>
  <p:cmAuthor id="47" name="未知的使用者14" initials="未" lastIdx="0" clrIdx="1"/>
  <p:cmAuthor id="49" name="cui yun" initials="cy" lastIdx="1" clrIdx="22"/>
  <p:cmAuthor id="50" name="未知的使用者9" initials="未" lastIdx="1" clrIdx="0"/>
  <p:cmAuthor id="51" name="未知的使用者11" initials="未" lastIdx="0" clrIdx="1"/>
  <p:cmAuthor id="52" name="未知的使用者27" initials="未" lastIdx="1" clrIdx="0"/>
  <p:cmAuthor id="53" name="未知的使用者28" initials="未" lastIdx="3" clrIdx="1"/>
  <p:cmAuthor id="54" name="未知的使用者29" initials="未" lastIdx="1" clrIdx="1"/>
  <p:cmAuthor id="55" name="未知的使用者21" initials="未" lastIdx="1" clrIdx="0"/>
  <p:cmAuthor id="2000" name="梁亚栋" initials="authorId_233440905" lastIdx="776053" clrIdx="0"/>
  <p:cmAuthor id="56" name="未知的使用者22" initials="未" lastIdx="3" clrIdx="1"/>
  <p:cmAuthor id="57" name="未知的使用者23" initials="未" lastIdx="1" clrIdx="1"/>
  <p:cmAuthor id="58" name="未知的使用者24" initials="未" lastIdx="1" clrIdx="0"/>
  <p:cmAuthor id="59" name="未知的使用者25" initials="未" lastIdx="3" clrIdx="1"/>
  <p:cmAuthor id="60" name="未知的使用者26" initials="未" lastIdx="1" clrIdx="1"/>
  <p:cmAuthor id="61" name="August" initials="A" lastIdx="1" clrIdx="0"/>
  <p:cmAuthor id="62" name="qihua-DCMS" initials="q" lastIdx="0" clrIdx="0"/>
  <p:cmAuthor id="63" name="未知用户5" initials="未" lastIdx="1" clrIdx="0"/>
  <p:cmAuthor id="64" name="YUMINGNJ" initials="Y" lastIdx="3" clrIdx="0"/>
  <p:cmAuthor id="65" name="daphne" initials="d" lastIdx="1" clrIdx="0"/>
  <p:cmAuthor id="66" name="未知用户8" initials="未" lastIdx="1" clrIdx="0"/>
  <p:cmAuthor id="67" name="Unknown User7" initials="U" lastIdx="1" clrIdx="0"/>
  <p:cmAuthor id="68" name="Unknown User8" initials="U" lastIdx="1" clrIdx="0"/>
  <p:cmAuthor id="69" name="未知用户15" initials="未" lastIdx="1" clrIdx="0"/>
  <p:cmAuthor id="70" name="未知用户13" initials="未" lastIdx="1" clrIdx="0"/>
  <p:cmAuthor id="71" name="未知用户14" initials="未" lastIdx="1" clrIdx="0"/>
  <p:cmAuthor id="72" name="Jason Wang" initials="J" lastIdx="1" clrIdx="0"/>
  <p:cmAuthor id="73" name="未知的使用者3" initials="未" lastIdx="0" clrIdx="1"/>
  <p:cmAuthor id="74" name="qiantong" initials="q" lastIdx="3" clrIdx="1"/>
  <p:cmAuthor id="75" name="作者" initials="A" lastIdx="0" clrIdx="24"/>
  <p:cmAuthor id="76" name="wang wei" initials="ww" lastIdx="1" clrIdx="25"/>
  <p:cmAuthor id="77" name="张 波" initials="张" lastIdx="1" clrIdx="26"/>
  <p:cmAuthor id="78" name="JIANG DY" initials="JD" lastIdx="7" clrIdx="27"/>
  <p:cmAuthor id="79" name="YANG Yaqin" initials="YY" lastIdx="1" clrIdx="28"/>
  <p:cmAuthor id="80" name="钱福利" initials="Q" lastIdx="1" clrIdx="29"/>
  <p:cmAuthor id="81" name="未知的使用者53" initials="未" lastIdx="1" clrIdx="0"/>
  <p:cmAuthor id="82" name="未知的使用者46" initials="未" lastIdx="1" clrIdx="1"/>
  <p:cmAuthor id="83" name="yuanzh" initials="y" lastIdx="1" clrIdx="1"/>
  <p:cmAuthor id="84" name="曾红" initials="曾" lastIdx="0" clrIdx="0"/>
  <p:cmAuthor id="85" name="未知用户16" initials="未" lastIdx="1" clrIdx="0"/>
  <p:cmAuthor id="86" name="未知用户17" initials="未" lastIdx="0" clrIdx="1"/>
  <p:cmAuthor id="87" name="mm" initials="m" lastIdx="1" clrIdx="0"/>
  <p:cmAuthor id="88" name="liupeng" initials="l" lastIdx="1" clrIdx="1"/>
  <p:cmAuthor id="89" name="周宏達JerryChou" initials="周" lastIdx="6" clrIdx="2"/>
  <p:cmAuthor id="90" name="luxu" initials="l" lastIdx="22" clrIdx="0"/>
  <p:cmAuthor id="91" name="hl sun" initials="h" lastIdx="1" clrIdx="0"/>
  <p:cmAuthor id="92" name="未知的使用者50" initials="未" lastIdx="1" clrIdx="0"/>
  <p:cmAuthor id="93" name="未知的使用者48" initials="未" lastIdx="1" clrIdx="0"/>
  <p:cmAuthor id="94" name="未知的使用者49" initials="未" lastIdx="1" clrIdx="0"/>
  <p:cmAuthor id="95" name="未知用户22" initials="未" lastIdx="1" clrIdx="0"/>
  <p:cmAuthor id="96" name="未知用户24" initials="未" lastIdx="1" clrIdx="0"/>
  <p:cmAuthor id="97" name="Mary Feil-Jacobs" initials="M" lastIdx="43" clrIdx="1"/>
  <p:cmAuthor id="511165158" name="Eva bling bling" initials="E" lastIdx="1" clrIdx="31"/>
  <p:cmAuthor id="98" name="朱晓瑜" initials="朱" lastIdx="54" clrIdx="0"/>
  <p:cmAuthor id="100" name="djj" initials="d" lastIdx="2" clrIdx="0"/>
  <p:cmAuthor id="101" name="張秀娟" initials="張" lastIdx="1" clrIdx="2"/>
  <p:cmAuthor id="102" name="lianghb" initials="l" lastIdx="19" clrIdx="0"/>
  <p:cmAuthor id="103" name="Shawna Strickland" initials="S" lastIdx="2" clrIdx="0"/>
  <p:cmAuthor id="104" name="linyd" initials="l" lastIdx="3" clrIdx="1"/>
  <p:cmAuthor id="105" name="Ashley Eberenz" initials="A" lastIdx="7" clrIdx="1"/>
  <p:cmAuthor id="106" name="muzi wei" initials="m" lastIdx="1" clrIdx="0"/>
  <p:cmAuthor id="107" name="周元元" initials="" lastIdx="5" clrIdx="0"/>
  <p:cmAuthor id="108" name="未知用户56" initials="未" lastIdx="1" clrIdx="0"/>
  <p:cmAuthor id="109" name="未知用户55" initials="未" lastIdx="1" clrIdx="0"/>
  <p:cmAuthor id="110" name="未知用户51" initials="未" lastIdx="1" clrIdx="1"/>
  <p:cmAuthor id="111" name="LeeElva" initials="L" lastIdx="1" clrIdx="0"/>
  <p:cmAuthor id="21433622" name="悠真" initials="悠" lastIdx="4" clrIdx="26"/>
  <p:cmAuthor id="112" name="唐可欣" initials="唐" lastIdx="1" clrIdx="0"/>
  <p:cmAuthor id="113" name="未知的使用者36" initials="未" lastIdx="10" clrIdx="0"/>
  <p:cmAuthor id="114" name="未知的使用者35" initials="未" lastIdx="1" clrIdx="0"/>
  <p:cmAuthor id="115" name="未知的使用者33" initials="未" lastIdx="1" clrIdx="0"/>
  <p:cmAuthor id="116" name="王鹏凯" initials="王" lastIdx="1" clrIdx="0"/>
  <p:cmAuthor id="117" name="未知的使用者34" initials="未" lastIdx="1" clrIdx="0"/>
  <p:cmAuthor id="119" name="未知用户66" initials="" lastIdx="1" clrIdx="0"/>
  <p:cmAuthor id="121" name="未知用户12" initials="未" lastIdx="8" clrIdx="0"/>
  <p:cmAuthor id="122" name="未知的使用者37" initials="未" lastIdx="8" clrIdx="0"/>
  <p:cmAuthor id="123" name="Harry xu" initials="H" lastIdx="1" clrIdx="0"/>
  <p:cmAuthor id="124" name="未知的使用者59" initials="未" lastIdx="8" clrIdx="0"/>
  <p:cmAuthor id="125" name="未知的使用者60" initials="未" lastIdx="1" clrIdx="0"/>
  <p:cmAuthor id="126" name="未知的使用者54" initials="未" lastIdx="1" clrIdx="0"/>
  <p:cmAuthor id="127" name="未知用户47" initials="未" lastIdx="6" clrIdx="0"/>
  <p:cmAuthor id="128" name="未知用户53" initials="未" lastIdx="10" clrIdx="0"/>
  <p:cmAuthor id="129" name="未知用户48" initials="未" lastIdx="1" clrIdx="0"/>
  <p:cmAuthor id="130" name="未知用户49" initials="未" lastIdx="1" clrIdx="0"/>
  <p:cmAuthor id="131" name="未知的使用者56" initials="未" lastIdx="6" clrIdx="0"/>
  <p:cmAuthor id="132" name="未知的使用者61" initials="未" lastIdx="1" clrIdx="0"/>
  <p:cmAuthor id="133" name="未知的使用者62" initials="未" lastIdx="1" clrIdx="1"/>
  <p:cmAuthor id="134" name="未知的使用者58" initials="未" lastIdx="1" clrIdx="0"/>
  <p:cmAuthor id="135" name="未知用户50" initials="未" lastIdx="1" clrIdx="0"/>
  <p:cmAuthor id="136" name="未知用户52" initials="未" lastIdx="1" clrIdx="0"/>
  <p:cmAuthor id="137" name="未知的使用者120" initials="未" lastIdx="1" clrIdx="0"/>
  <p:cmAuthor id="138" name="未知的使用者109" initials="未" lastIdx="5" clrIdx="1"/>
  <p:cmAuthor id="139" name="未知的使用者110" initials="未" lastIdx="1" clrIdx="1"/>
  <p:cmAuthor id="140" name="未知的使用者111" initials="未" lastIdx="1" clrIdx="0"/>
  <p:cmAuthor id="141" name="未知的使用者121" initials="未" lastIdx="1" clrIdx="0"/>
  <p:cmAuthor id="142" name="thomas" initials="t" lastIdx="1" clrIdx="49"/>
  <p:cmAuthor id="143" name="未知的使用者113" initials="未" lastIdx="1" clrIdx="0"/>
  <p:cmAuthor id="144" name="未知的使用者122" initials="未" lastIdx="1" clrIdx="0"/>
  <p:cmAuthor id="145" name="未知的使用者123" initials="未" lastIdx="8" clrIdx="0"/>
  <p:cmAuthor id="146" name="未知的使用者124" initials="未" lastIdx="8" clrIdx="0"/>
  <p:cmAuthor id="1411827" name="黄晓平" initials="黄" lastIdx="0" clrIdx="0"/>
  <p:cmAuthor id="147" name="未知的使用者125" initials="未" lastIdx="1" clrIdx="0"/>
  <p:cmAuthor id="1411828" name="Xmj" initials="X" lastIdx="3" clrIdx="85"/>
  <p:cmAuthor id="148" name="未知的使用者118" initials="未" lastIdx="1" clrIdx="0"/>
  <p:cmAuthor id="1411829" name="张静_Anua7Nne" initials="authorId_935319063" lastIdx="0" clrIdx="0"/>
  <p:cmAuthor id="149" name="未知的使用者126" initials="未" lastIdx="1" clrIdx="0"/>
  <p:cmAuthor id="1411830" name="晶 王" initials="晶王" lastIdx="1" clrIdx="46"/>
  <p:cmAuthor id="150" name="未知用户57" initials="未" lastIdx="1" clrIdx="0"/>
  <p:cmAuthor id="151" name="未知用户58" initials="未" lastIdx="5" clrIdx="1"/>
  <p:cmAuthor id="152" name="未知用户59" initials="未" lastIdx="0" clrIdx="1"/>
  <p:cmAuthor id="153" name="yuexuejun" initials="y" lastIdx="3" clrIdx="0"/>
  <p:cmAuthor id="154" name="未知的使用者74" initials="未" lastIdx="8" clrIdx="0"/>
  <p:cmAuthor id="155" name="未知的使用者76" initials="未" lastIdx="1" clrIdx="0"/>
  <p:cmAuthor id="156" name="未知的使用者70" initials="未" lastIdx="1" clrIdx="0"/>
  <p:cmAuthor id="157" name="未知的使用者73" initials="未" lastIdx="1" clrIdx="0"/>
  <p:cmAuthor id="158" name="未知的使用者67" initials="未" lastIdx="8" clrIdx="0"/>
  <p:cmAuthor id="159" name="未知的使用者68" initials="未" lastIdx="1" clrIdx="0"/>
  <p:cmAuthor id="160" name="未知的使用者69" initials="未" lastIdx="1" clrIdx="0"/>
  <p:cmAuthor id="161" name="未知的使用者43" initials="未" lastIdx="1" clrIdx="0"/>
  <p:cmAuthor id="162" name="未知的使用者40" initials="未" lastIdx="1" clrIdx="0"/>
  <p:cmAuthor id="163" name="未知的使用者55" initials="未" lastIdx="1" clrIdx="0"/>
  <p:cmAuthor id="164" name="未知的使用者52" initials="未" lastIdx="1" clrIdx="1"/>
  <p:cmAuthor id="165" name="未知的使用者72" initials="未" lastIdx="1" clrIdx="0"/>
  <p:cmAuthor id="166" name="未知的使用者71" initials="未" lastIdx="1" clrIdx="1"/>
  <p:cmAuthor id="167" name="不明使用者20" initials="不" lastIdx="1" clrIdx="0"/>
  <p:cmAuthor id="168" name="不明使用者21" initials="不" lastIdx="1" clrIdx="0"/>
  <p:cmAuthor id="169" name="不明使用者18" initials="不" lastIdx="0" clrIdx="1"/>
  <p:cmAuthor id="170" name="不明使用者19" initials="不" lastIdx="1" clrIdx="0"/>
  <p:cmAuthor id="171" name="未知用户2" initials="未" lastIdx="1" clrIdx="0"/>
  <p:cmAuthor id="172" name="未知用户93" initials="未" lastIdx="1" clrIdx="0"/>
  <p:cmAuthor id="173" name="未知用户90" initials="未" lastIdx="5" clrIdx="1"/>
  <p:cmAuthor id="174" name="未知用户91" initials="未" lastIdx="0" clrIdx="1"/>
  <p:cmAuthor id="175" name="未知用户92" initials="未" lastIdx="1" clrIdx="0"/>
  <p:cmAuthor id="176" name="未知用户74" initials="未" lastIdx="5" clrIdx="1"/>
  <p:cmAuthor id="177" name="未知用户75" initials="未" lastIdx="8" clrIdx="0"/>
  <p:cmAuthor id="178" name="未知用户76" initials="未" lastIdx="1" clrIdx="0"/>
  <p:cmAuthor id="179" name="未知用户77" initials="未" lastIdx="8" clrIdx="0"/>
  <p:cmAuthor id="180" name="未知用户78" initials="未" lastIdx="8" clrIdx="0"/>
  <p:cmAuthor id="181" name="未知用户79" initials="未" lastIdx="1" clrIdx="0"/>
  <p:cmAuthor id="182" name="未知用户80" initials="未" lastIdx="1" clrIdx="0"/>
  <p:cmAuthor id="183" name="未知用户81" initials="未" lastIdx="1" clrIdx="0"/>
  <p:cmAuthor id="184" name="未知的使用者95" initials="未" lastIdx="1" clrIdx="0"/>
  <p:cmAuthor id="185" name="未知的使用者92" initials="未" lastIdx="1" clrIdx="0"/>
  <p:cmAuthor id="186" name="未知的使用者93" initials="未" lastIdx="1" clrIdx="1"/>
  <p:cmAuthor id="187" name="未知的使用者94" initials="未" lastIdx="1" clrIdx="2"/>
  <p:cmAuthor id="188" name="Christina" initials="C" lastIdx="0" clrIdx="0"/>
  <p:cmAuthor id="189" name="jet" initials="j" lastIdx="1" clrIdx="0"/>
  <p:cmAuthor id="190" name="未知用户61" initials="未" lastIdx="8" clrIdx="0"/>
  <p:cmAuthor id="191" name="未知用户60" initials="未" lastIdx="1" clrIdx="0"/>
  <p:cmAuthor id="192" name="Unknown User24" initials="U" lastIdx="1" clrIdx="0"/>
  <p:cmAuthor id="193" name="Unknown User25" initials="U" lastIdx="1" clrIdx="0"/>
  <p:cmAuthor id="194" name="Unknown User26" initials="U" lastIdx="1" clrIdx="1"/>
  <p:cmAuthor id="195" name="Unknown User27" initials="U" lastIdx="1" clrIdx="0"/>
  <p:cmAuthor id="196" name="Unknown User28" initials="U" lastIdx="3" clrIdx="1"/>
  <p:cmAuthor id="197" name="Unknown User11" initials="U" lastIdx="0" clrIdx="1"/>
  <p:cmAuthor id="198" name="Unknown User22" initials="U" lastIdx="1" clrIdx="0"/>
  <p:cmAuthor id="199" name="Unknown User23" initials="U" lastIdx="1" clrIdx="0"/>
  <p:cmAuthor id="200" name="未知的使用者112" initials="未" lastIdx="1" clrIdx="1"/>
  <p:cmAuthor id="201" name="未知的使用者107" initials="未" lastIdx="1" clrIdx="0"/>
  <p:cmAuthor id="202" name="未知的使用者108" initials="未" lastIdx="1" clrIdx="1"/>
  <p:cmAuthor id="203" name="未知的使用者98" initials="未" lastIdx="1" clrIdx="2"/>
  <p:cmAuthor id="204" name="未知的使用者145" initials="未" lastIdx="1" clrIdx="0"/>
  <p:cmAuthor id="205" name="未知的使用者146" initials="未" lastIdx="1" clrIdx="0"/>
  <p:cmAuthor id="206" name="未知的使用者147" initials="未" lastIdx="1" clrIdx="1"/>
  <p:cmAuthor id="207" name="未知的使用者144" initials="未" lastIdx="1" clrIdx="2"/>
  <p:cmAuthor id="208" name="未知的使用者133" initials="未" lastIdx="1" clrIdx="0"/>
  <p:cmAuthor id="209" name="未知的使用者134" initials="未" lastIdx="1" clrIdx="0"/>
  <p:cmAuthor id="210" name="未知的使用者135" initials="未" lastIdx="2" clrIdx="0"/>
  <p:cmAuthor id="211" name="未知的使用者136" initials="未" lastIdx="1" clrIdx="0"/>
  <p:cmAuthor id="212" name="未知的使用者137" initials="未" lastIdx="5" clrIdx="0"/>
  <p:cmAuthor id="47245819" name="群智集" initials="群" lastIdx="0" clrIdx="0"/>
  <p:cmAuthor id="213" name="未知的使用者138" initials="未" lastIdx="10" clrIdx="0"/>
  <p:cmAuthor id="47245820" name="18937034561@189.cn" initials="1" lastIdx="1" clrIdx="16"/>
  <p:cmAuthor id="214" name="未知的使用者139" initials="未" lastIdx="1" clrIdx="0"/>
  <p:cmAuthor id="47245821" name="宋玉坤" initials="W用" lastIdx="1" clrIdx="24"/>
  <p:cmAuthor id="215" name="未知的使用者140" initials="未" lastIdx="1" clrIdx="1"/>
  <p:cmAuthor id="47245822" name="xw" initials="x" lastIdx="4" clrIdx="42"/>
  <p:cmAuthor id="216" name="未知的使用者197" initials="未" lastIdx="8" clrIdx="0"/>
  <p:cmAuthor id="47245823" name="tangjp@mvtech.com.cn" initials="t" lastIdx="14" clrIdx="37"/>
  <p:cmAuthor id="217" name="未知的使用者162" initials="未" lastIdx="8" clrIdx="0"/>
  <p:cmAuthor id="218" name="未知的使用者163" initials="未" lastIdx="1" clrIdx="0"/>
  <p:cmAuthor id="219" name="未知的使用者170" initials="未" lastIdx="0" clrIdx="1"/>
  <p:cmAuthor id="220" name="未知的使用者165" initials="未" lastIdx="1" clrIdx="0"/>
  <p:cmAuthor id="221" name="未知的使用者158" initials="未" lastIdx="1" clrIdx="0"/>
  <p:cmAuthor id="222" name="未知的使用者148" initials="未" lastIdx="5" clrIdx="0"/>
  <p:cmAuthor id="223" name="未知的使用者149" initials="未" lastIdx="10" clrIdx="0"/>
  <p:cmAuthor id="224" name="未知的使用者150" initials="未" lastIdx="1" clrIdx="0"/>
  <p:cmAuthor id="225" name="未知的使用者166" initials="未" lastIdx="8" clrIdx="0"/>
  <p:cmAuthor id="226" name="未知的使用者167" initials="未" lastIdx="0" clrIdx="1"/>
  <p:cmAuthor id="227" name="未知的使用者159" initials="未" lastIdx="1" clrIdx="1"/>
  <p:cmAuthor id="228" name="未知的使用者160" initials="未" lastIdx="1" clrIdx="0"/>
  <p:cmAuthor id="229" name="未知的使用者168" initials="未" lastIdx="1" clrIdx="0"/>
  <p:cmAuthor id="230" name="未知的使用者169" initials="未" lastIdx="1" clrIdx="0"/>
  <p:cmAuthor id="231" name="未知的使用者117" initials="未" lastIdx="1" clrIdx="0"/>
  <p:cmAuthor id="232" name="未知的使用者115" initials="未" lastIdx="1" clrIdx="1"/>
  <p:cmAuthor id="233" name="未知的使用者119" initials="未" lastIdx="1" clrIdx="2"/>
  <p:cmAuthor id="234" name="clinchen" initials="c" lastIdx="0" clrIdx="1"/>
  <p:cmAuthor id="235" name="未知用户6" initials="未" lastIdx="1" clrIdx="0"/>
  <p:cmAuthor id="236" name="未知用户7" initials="未" lastIdx="1" clrIdx="0"/>
  <p:cmAuthor id="237" name="未知的使用者198" initials="未" lastIdx="1" clrIdx="0"/>
  <p:cmAuthor id="238" name="未知的使用者205" initials="未" lastIdx="0" clrIdx="1"/>
  <p:cmAuthor id="239" name="未知的使用者200" initials="未" lastIdx="1" clrIdx="0"/>
  <p:cmAuthor id="240" name="未知的使用者181" initials="未" lastIdx="1" clrIdx="0"/>
  <p:cmAuthor id="241" name="未知的使用者194" initials="未" lastIdx="1" clrIdx="0"/>
  <p:cmAuthor id="242" name="未知的使用者182" initials="未" lastIdx="1" clrIdx="0"/>
  <p:cmAuthor id="243" name="未知的使用者183" initials="未" lastIdx="2" clrIdx="0"/>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4" name="未知用户39" initials="未" lastIdx="1" clrIdx="0"/>
  <p:cmAuthor id="265" name="Admin" initials="A" lastIdx="1" clrIdx="2"/>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0" name="未知用户35" initials="未" lastIdx="1" clrIdx="0"/>
  <p:cmAuthor id="271" name="未知用户36" initials="未" lastIdx="1" clrIdx="0"/>
  <p:cmAuthor id="272" name="未知用户154" initials="" lastIdx="1" clrIdx="0"/>
  <p:cmAuthor id="273" name="未知用户23" initials="未"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33" initials="未" lastIdx="1" clrIdx="0"/>
  <p:cmAuthor id="279" name="未知用户34" initials="未" lastIdx="2" clrIdx="0"/>
  <p:cmAuthor id="280" name="huang gerrard" initials="h" lastIdx="2" clrIdx="0"/>
  <p:cmAuthor id="281" name="未知用户98" initials="未" lastIdx="8" clrIdx="0"/>
  <p:cmAuthor id="282" name="未知用户100" initials="未" lastIdx="1" clrIdx="0"/>
  <p:cmAuthor id="283" name="未知用户101" initials="未" lastIdx="1" clrIdx="0"/>
  <p:cmAuthor id="284" name="未知用户72" initials="" lastIdx="1" clrIdx="0"/>
  <p:cmAuthor id="285" name="未知用户73" initials="" lastIdx="2" clrIdx="0"/>
  <p:cmAuthor id="289" name="未知用户42" initials="未" lastIdx="1" clrIdx="0"/>
  <p:cmAuthor id="291" name="未知用户96" initials="" lastIdx="1" clrIdx="0"/>
  <p:cmAuthor id="565656472" name="Lijx" initials="L" lastIdx="6" clrIdx="4"/>
  <p:cmAuthor id="293" name="未知用户97" initials="" lastIdx="2" clrIdx="0"/>
  <p:cmAuthor id="294" name="未知用户40" initials="" lastIdx="5" clrIdx="1"/>
  <p:cmAuthor id="295" name="未知用户43" initials="" lastIdx="1" clrIdx="0"/>
  <p:cmAuthor id="298" name="未知用户26" initials="" lastIdx="1" clrIdx="0"/>
  <p:cmAuthor id="309" name="mapengcheng" initials="m" lastIdx="1" clrIdx="308"/>
  <p:cmAuthor id="311" name="郎蕊" initials="郎" lastIdx="4" clrIdx="310"/>
  <p:cmAuthor id="312" name="Chun Chung YEH" initials="C" lastIdx="2" clrIdx="0"/>
  <p:cmAuthor id="314" name="Vicky" initials="V" lastIdx="2" clrIdx="1"/>
  <p:cmAuthor id="315" name="刘云轩" initials="刘" lastIdx="2" clrIdx="0"/>
  <p:cmAuthor id="316" name="sharon" initials="s" lastIdx="5" clrIdx="84"/>
  <p:cmAuthor id="317" name="未知的使用者81" initials="未" lastIdx="1" clrIdx="0"/>
  <p:cmAuthor id="318" name="仝德志" initials="仝" lastIdx="1" clrIdx="0"/>
  <p:cmAuthor id="1554701838" name="宗哲" initials="宗" lastIdx="1" clrIdx="337"/>
  <p:cmAuthor id="321" name="未知用户111" initials="未" lastIdx="1" clrIdx="1"/>
  <p:cmAuthor id="322" name="alpha" initials="a" lastIdx="1" clrIdx="0"/>
  <p:cmAuthor id="326" name="未知的使用者75" initials="未" lastIdx="1" clrIdx="0"/>
  <p:cmAuthor id="327" name="未知的使用者77" initials="未" lastIdx="1" clrIdx="0"/>
  <p:cmAuthor id="328" name="未知的使用者78" initials="未" lastIdx="5" clrIdx="1"/>
  <p:cmAuthor id="329" name="未知的使用者79" initials="未" lastIdx="0" clrIdx="1"/>
  <p:cmAuthor id="330" name="未知的使用者80" initials="未" lastIdx="0" clrIdx="0"/>
  <p:cmAuthor id="331" name="未知的使用者82" initials="未" lastIdx="1" clrIdx="0"/>
  <p:cmAuthor id="332" name="未知的使用者83" initials="未" lastIdx="1" clrIdx="0"/>
  <p:cmAuthor id="333" name="未知的使用者84" initials="未" lastIdx="1" clrIdx="1"/>
  <p:cmAuthor id="1483810881" name="WPS_1679281038" initials="W" lastIdx="1" clrIdx="2"/>
  <p:cmAuthor id="334" name="未知的使用者85" initials="未" lastIdx="1" clrIdx="0"/>
  <p:cmAuthor id="335" name="未知的使用者87" initials="未" lastIdx="1" clrIdx="0"/>
  <p:cmAuthor id="336" name="未知的使用者90" initials="未" lastIdx="8" clrIdx="0"/>
  <p:cmAuthor id="337" name="未知的使用者91" initials="未" lastIdx="1" clrIdx="0"/>
  <p:cmAuthor id="338" name="CHRISYU" initials="C" lastIdx="1" clrIdx="0"/>
  <p:cmAuthor id="339" name="liucunri" initials="l" lastIdx="1" clrIdx="0"/>
  <p:cmAuthor id="340" name="Unknown User48" initials="U" lastIdx="8" clrIdx="0"/>
  <p:cmAuthor id="341" name="Unknown User52" initials="U" lastIdx="1" clrIdx="0"/>
  <p:cmAuthor id="342" name="Unknown User50" initials="U" lastIdx="1" clrIdx="0"/>
  <p:cmAuthor id="346" name="PC" initials="P" lastIdx="4" clrIdx="0"/>
  <p:cmAuthor id="352" name="未知的使用者161" initials="未" lastIdx="1" clrIdx="0"/>
  <p:cmAuthor id="355" name="未知的使用者152" initials="未" lastIdx="1" clrIdx="0"/>
  <p:cmAuthor id="360" name="未知的使用者176" initials="未" lastIdx="1" clrIdx="0"/>
  <p:cmAuthor id="362" name="未知的使用者178" initials="未" lastIdx="1" clrIdx="0"/>
  <p:cmAuthor id="363" name="未知的使用者179" initials="未" lastIdx="1" clrIdx="0"/>
  <p:cmAuthor id="364" name="未知的使用者180" initials="未" lastIdx="2" clrIdx="0"/>
  <p:cmAuthor id="475196944" name="姚琳" initials="姚" lastIdx="1133934" clrIdx="0"/>
  <p:cmAuthor id="475196945" name="chen" initials="c"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6FFCC"/>
    <a:srgbClr val="FFFFCC"/>
    <a:srgbClr val="FFFF66"/>
    <a:srgbClr val="00CC00"/>
    <a:srgbClr val="FF33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952"/>
    <p:restoredTop sz="94682"/>
  </p:normalViewPr>
  <p:slideViewPr>
    <p:cSldViewPr snapToGrid="0" showGuides="1">
      <p:cViewPr varScale="1">
        <p:scale>
          <a:sx n="63" d="100"/>
          <a:sy n="63" d="100"/>
        </p:scale>
        <p:origin x="-586" y="-77"/>
      </p:cViewPr>
      <p:guideLst>
        <p:guide orient="horz" pos="2136"/>
        <p:guide pos="383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commentAuthors" Target="commentAuthors.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notesMaster" Target="notesMasters/notesMaster1.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105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105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a:ea typeface="宋体" panose="02000500000000000000"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4516" name="Rectangle 4"/>
          <p:cNvSpPr>
            <a:spLocks noTextEdit="1"/>
          </p:cNvSpPr>
          <p:nvPr>
            <p:ph type="sldImg" idx="2"/>
          </p:nvPr>
        </p:nvSpPr>
        <p:spPr>
          <a:xfrm>
            <a:off x="382588" y="685800"/>
            <a:ext cx="6092825" cy="3429000"/>
          </a:xfrm>
          <a:prstGeom prst="rect">
            <a:avLst/>
          </a:prstGeom>
          <a:noFill/>
          <a:ln w="9525" cap="flat" cmpd="sng">
            <a:solidFill>
              <a:srgbClr val="000000"/>
            </a:solidFill>
            <a:prstDash val="solid"/>
            <a:miter/>
            <a:headEnd type="none" w="med" len="med"/>
            <a:tailEnd type="none" w="med" len="med"/>
          </a:ln>
        </p:spPr>
      </p:sp>
      <p:sp>
        <p:nvSpPr>
          <p:cNvPr id="1105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第二级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第三级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第四级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rPr>
              <a:t>第五级</a:t>
            </a:r>
            <a:endPar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anose="02000500000000000000" pitchFamily="2" charset="-122"/>
              <a:cs typeface="+mn-cs"/>
            </a:endParaRPr>
          </a:p>
        </p:txBody>
      </p:sp>
      <p:sp>
        <p:nvSpPr>
          <p:cNvPr id="1105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105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dirty="0"/>
            </a:fld>
            <a:endParaRPr lang="en-US" altLang="zh-CN"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anose="02000500000000000000"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281" y="2130426"/>
            <a:ext cx="10361851"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562" y="3886200"/>
            <a:ext cx="853328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lnSpc>
                <a:spcPct val="150000"/>
              </a:lnSpc>
              <a:spcBef>
                <a:spcPts val="0"/>
              </a:spcBef>
              <a:defRPr sz="2400"/>
            </a:lvl1pPr>
            <a:lvl2pPr>
              <a:lnSpc>
                <a:spcPct val="150000"/>
              </a:lnSpc>
              <a:spcBef>
                <a:spcPts val="0"/>
              </a:spcBef>
              <a:defRPr sz="2000"/>
            </a:lvl2pPr>
            <a:lvl3pPr>
              <a:lnSpc>
                <a:spcPct val="150000"/>
              </a:lnSpc>
              <a:spcBef>
                <a:spcPts val="0"/>
              </a:spcBef>
              <a:defRPr sz="1800"/>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6901"/>
            <a:ext cx="10361851"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2959" y="2906713"/>
            <a:ext cx="10361851"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281" y="1504950"/>
            <a:ext cx="5079339" cy="4591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96793" y="1504950"/>
            <a:ext cx="5079339" cy="4591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521" y="274638"/>
            <a:ext cx="10971372"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521" y="1535113"/>
            <a:ext cx="53862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521" y="2174875"/>
            <a:ext cx="53862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2561" y="1535113"/>
            <a:ext cx="538833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2561" y="2174875"/>
            <a:ext cx="53883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9" name="灯片编号占位符 8"/>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灯片编号占位符 4"/>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4" name="灯片编号占位符 3"/>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3050"/>
            <a:ext cx="4010562"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113" y="273051"/>
            <a:ext cx="681477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521" y="1435101"/>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06" y="4800600"/>
            <a:ext cx="7314248"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406" y="612775"/>
            <a:ext cx="7314248"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10000"/>
              </a:lnSpc>
              <a:spcBef>
                <a:spcPct val="10000"/>
              </a:spcBef>
              <a:spcAft>
                <a:spcPct val="0"/>
              </a:spcAft>
              <a:buClrTx/>
              <a:buSzTx/>
              <a:buFontTx/>
              <a:buNone/>
              <a:defRPr/>
            </a:pPr>
            <a:endParaRPr kumimoji="1"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406" y="5367338"/>
            <a:ext cx="731424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7" name="灯片编号占位符 6"/>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04718" y="76200"/>
            <a:ext cx="2596811" cy="6019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14281" y="76200"/>
            <a:ext cx="7587263" cy="60198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39678" y="76200"/>
            <a:ext cx="10361851"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914281" y="1504950"/>
            <a:ext cx="10361851" cy="4591050"/>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10000"/>
              </a:spcBef>
              <a:spcAft>
                <a:spcPct val="0"/>
              </a:spcAft>
              <a:buClrTx/>
              <a:buSzTx/>
              <a:buFontTx/>
              <a:buChar char="•"/>
              <a:defRPr/>
            </a:pPr>
            <a:endParaRPr kumimoji="1" lang="zh-CN" altLang="en-US" sz="28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6" name="灯片编号占位符 5"/>
          <p:cNvSpPr>
            <a:spLocks noGrp="1"/>
          </p:cNvSpPr>
          <p:nvPr>
            <p:ph type="sldNum" sz="quarter" idx="12"/>
          </p:nvPr>
        </p:nvSpPr>
        <p:spPr/>
        <p:txBody>
          <a:bodyPr/>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Rectangle 2"/>
          <p:cNvSpPr>
            <a:spLocks noGrp="1"/>
          </p:cNvSpPr>
          <p:nvPr>
            <p:ph type="title"/>
          </p:nvPr>
        </p:nvSpPr>
        <p:spPr>
          <a:xfrm>
            <a:off x="939800" y="76200"/>
            <a:ext cx="10361613"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43" name="Rectangle 3"/>
          <p:cNvSpPr>
            <a:spLocks noGrp="1"/>
          </p:cNvSpPr>
          <p:nvPr>
            <p:ph type="body" idx="1"/>
          </p:nvPr>
        </p:nvSpPr>
        <p:spPr>
          <a:xfrm>
            <a:off x="914400" y="1504950"/>
            <a:ext cx="10361613" cy="45910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400">
                <a:ea typeface="宋体" panose="02000500000000000000"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29" name="Rectangle 5"/>
          <p:cNvSpPr>
            <a:spLocks noGrp="1" noChangeArrowheads="1"/>
          </p:cNvSpPr>
          <p:nvPr>
            <p:ph type="ftr" sz="quarter" idx="3"/>
          </p:nvPr>
        </p:nvSpPr>
        <p:spPr bwMode="auto">
          <a:xfrm>
            <a:off x="4165600" y="6248400"/>
            <a:ext cx="3859213" cy="457200"/>
          </a:xfrm>
          <a:prstGeom prst="rect">
            <a:avLst/>
          </a:prstGeom>
          <a:noFill/>
          <a:ln w="9525">
            <a:noFill/>
            <a:miter lim="800000"/>
          </a:ln>
          <a:effectLst/>
        </p:spPr>
        <p:txBody>
          <a:bodyPr vert="horz" wrap="square" lIns="91440" tIns="45720" rIns="91440" bIns="45720" numCol="1" anchor="t" anchorCtr="0" compatLnSpc="1"/>
          <a:lstStyle>
            <a:lvl1pPr algn="ctr">
              <a:spcBef>
                <a:spcPct val="0"/>
              </a:spcBef>
              <a:defRPr sz="1400">
                <a:ea typeface="宋体" panose="02000500000000000000"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030" name="Rectangle 6"/>
          <p:cNvSpPr>
            <a:spLocks noGrp="1" noChangeArrowheads="1"/>
          </p:cNvSpPr>
          <p:nvPr>
            <p:ph type="sldNum" sz="quarter" idx="4"/>
          </p:nvPr>
        </p:nvSpPr>
        <p:spPr bwMode="auto">
          <a:xfrm>
            <a:off x="8736013"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spcBef>
                <a:spcPct val="0"/>
              </a:spcBef>
              <a:buNone/>
            </a:pPr>
            <a:fld id="{9A0DB2DC-4C9A-4742-B13C-FB6460FD3503}" type="slidenum">
              <a:rPr lang="en-US" altLang="zh-CN" dirty="0">
                <a:latin typeface="Times New Roman" pitchFamily="18" charset="0"/>
              </a:rPr>
            </a:fld>
            <a:endParaRPr lang="en-US" altLang="zh-CN" dirty="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kumimoji="1" sz="3200">
          <a:solidFill>
            <a:srgbClr val="FF0000"/>
          </a:solidFill>
          <a:latin typeface="+mj-lt"/>
          <a:ea typeface="+mj-ea"/>
          <a:cs typeface="+mj-cs"/>
        </a:defRPr>
      </a:lvl1pPr>
      <a:lvl2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2pPr>
      <a:lvl3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3pPr>
      <a:lvl4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4pPr>
      <a:lvl5pPr algn="ctr" rtl="0" eaLnBrk="0" fontAlgn="base" hangingPunct="0">
        <a:spcBef>
          <a:spcPct val="0"/>
        </a:spcBef>
        <a:spcAft>
          <a:spcPct val="0"/>
        </a:spcAft>
        <a:defRPr kumimoji="1" sz="3200">
          <a:solidFill>
            <a:srgbClr val="FF0000"/>
          </a:solidFill>
          <a:latin typeface="Arial" panose="02080604020202020204" pitchFamily="34" charset="0"/>
          <a:ea typeface="黑体" panose="02000500000000000000" pitchFamily="49" charset="-122"/>
        </a:defRPr>
      </a:lvl5pPr>
      <a:lvl6pPr marL="4572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6pPr>
      <a:lvl7pPr marL="9144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7pPr>
      <a:lvl8pPr marL="13716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8pPr>
      <a:lvl9pPr marL="1828800" algn="ctr" rtl="0" fontAlgn="base">
        <a:spcBef>
          <a:spcPct val="0"/>
        </a:spcBef>
        <a:spcAft>
          <a:spcPct val="0"/>
        </a:spcAft>
        <a:defRPr kumimoji="1" sz="3200">
          <a:solidFill>
            <a:srgbClr val="FF0000"/>
          </a:solidFill>
          <a:latin typeface="Arial" panose="02080604020202020204" pitchFamily="34" charset="0"/>
          <a:ea typeface="黑体" panose="02000500000000000000" pitchFamily="49" charset="-122"/>
        </a:defRPr>
      </a:lvl9pPr>
    </p:titleStyle>
    <p:bodyStyle>
      <a:lvl1pPr marL="342900" indent="-342900" algn="l" rtl="0" eaLnBrk="0" fontAlgn="base" hangingPunct="0">
        <a:lnSpc>
          <a:spcPct val="110000"/>
        </a:lnSpc>
        <a:spcBef>
          <a:spcPct val="10000"/>
        </a:spcBef>
        <a:spcAft>
          <a:spcPct val="0"/>
        </a:spcAft>
        <a:buChar char="•"/>
        <a:defRPr kumimoji="1" sz="2800" b="1">
          <a:solidFill>
            <a:schemeClr val="tx1"/>
          </a:solidFill>
          <a:latin typeface="+mn-lt"/>
          <a:ea typeface="+mn-ea"/>
          <a:cs typeface="+mn-cs"/>
        </a:defRPr>
      </a:lvl1pPr>
      <a:lvl2pPr marL="742950" indent="-285750" algn="l" rtl="0" eaLnBrk="0" fontAlgn="base" hangingPunct="0">
        <a:lnSpc>
          <a:spcPct val="110000"/>
        </a:lnSpc>
        <a:spcBef>
          <a:spcPct val="10000"/>
        </a:spcBef>
        <a:spcAft>
          <a:spcPct val="0"/>
        </a:spcAft>
        <a:buChar char="•"/>
        <a:defRPr kumimoji="1" sz="2400" b="1">
          <a:solidFill>
            <a:schemeClr val="tx1"/>
          </a:solidFill>
          <a:latin typeface="+mn-lt"/>
          <a:ea typeface="+mn-ea"/>
        </a:defRPr>
      </a:lvl2pPr>
      <a:lvl3pPr marL="1143000" indent="-228600" algn="l" rtl="0" eaLnBrk="0" fontAlgn="base" hangingPunct="0">
        <a:lnSpc>
          <a:spcPct val="110000"/>
        </a:lnSpc>
        <a:spcBef>
          <a:spcPct val="10000"/>
        </a:spcBef>
        <a:spcAft>
          <a:spcPct val="0"/>
        </a:spcAft>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3.bin"/></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oleObject" Target="../embeddings/oleObject4.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5.emf"/><Relationship Id="rId3" Type="http://schemas.openxmlformats.org/officeDocument/2006/relationships/oleObject" Target="../embeddings/oleObject6.bin"/><Relationship Id="rId2" Type="http://schemas.openxmlformats.org/officeDocument/2006/relationships/image" Target="../media/image14.emf"/><Relationship Id="rId1" Type="http://schemas.openxmlformats.org/officeDocument/2006/relationships/oleObject" Target="../embeddings/oleObject5.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7.bin"/></Relationships>
</file>

<file path=ppt/slides/_rels/slide5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8.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9.bin"/></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10.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11267" name="Rectangle 2"/>
          <p:cNvSpPr/>
          <p:nvPr/>
        </p:nvSpPr>
        <p:spPr>
          <a:xfrm>
            <a:off x="814388" y="1311275"/>
            <a:ext cx="10361612" cy="1143000"/>
          </a:xfrm>
          <a:prstGeom prst="rect">
            <a:avLst/>
          </a:prstGeom>
          <a:noFill/>
          <a:ln w="9525">
            <a:noFill/>
          </a:ln>
        </p:spPr>
        <p:txBody>
          <a:bodyPr anchor="ctr" anchorCtr="0"/>
          <a:p>
            <a:pPr algn="ctr">
              <a:spcBef>
                <a:spcPct val="0"/>
              </a:spcBef>
            </a:pPr>
            <a:r>
              <a:rPr lang="zh-CN" altLang="en-US" sz="4400" dirty="0">
                <a:solidFill>
                  <a:srgbClr val="FF0000"/>
                </a:solidFill>
                <a:latin typeface="Arial" panose="02080604020202020204" pitchFamily="34" charset="0"/>
                <a:ea typeface="黑体" panose="02000500000000000000" pitchFamily="49" charset="-122"/>
              </a:rPr>
              <a:t>计算机体系结构</a:t>
            </a:r>
            <a:endParaRPr lang="zh-CN" altLang="en-US" sz="3600" dirty="0">
              <a:solidFill>
                <a:srgbClr val="FF0000"/>
              </a:solidFill>
              <a:latin typeface="Arial" panose="02080604020202020204" pitchFamily="34" charset="0"/>
              <a:ea typeface="黑体" panose="02000500000000000000" pitchFamily="49" charset="-122"/>
            </a:endParaRPr>
          </a:p>
        </p:txBody>
      </p:sp>
      <p:sp>
        <p:nvSpPr>
          <p:cNvPr id="11268" name="Rectangle 3"/>
          <p:cNvSpPr/>
          <p:nvPr/>
        </p:nvSpPr>
        <p:spPr>
          <a:xfrm>
            <a:off x="1752600" y="4438650"/>
            <a:ext cx="8532813" cy="838200"/>
          </a:xfrm>
          <a:prstGeom prst="rect">
            <a:avLst/>
          </a:prstGeom>
          <a:noFill/>
          <a:ln w="9525">
            <a:noFill/>
          </a:ln>
        </p:spPr>
        <p:txBody>
          <a:bodyPr/>
          <a:p>
            <a:pPr algn="ctr">
              <a:lnSpc>
                <a:spcPct val="110000"/>
              </a:lnSpc>
              <a:spcBef>
                <a:spcPct val="10000"/>
              </a:spcBef>
            </a:pPr>
            <a:r>
              <a:rPr lang="zh-CN" altLang="en-US" sz="2800" b="1" dirty="0">
                <a:latin typeface="Times New Roman" pitchFamily="18" charset="0"/>
              </a:rPr>
              <a:t>胡伟武、汪文祥</a:t>
            </a:r>
            <a:endParaRPr lang="zh-CN" altLang="en-US" sz="2800" b="1"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pic>
        <p:nvPicPr>
          <p:cNvPr id="12291" name="Picture 2" descr="841286100824181"/>
          <p:cNvPicPr>
            <a:picLocks noChangeAspect="1"/>
          </p:cNvPicPr>
          <p:nvPr/>
        </p:nvPicPr>
        <p:blipFill>
          <a:blip r:embed="rId1"/>
          <a:stretch>
            <a:fillRect/>
          </a:stretch>
        </p:blipFill>
        <p:spPr>
          <a:xfrm>
            <a:off x="563563" y="1306513"/>
            <a:ext cx="11123612" cy="5173662"/>
          </a:xfrm>
          <a:prstGeom prst="rect">
            <a:avLst/>
          </a:prstGeom>
          <a:noFill/>
          <a:ln w="9525">
            <a:noFill/>
          </a:ln>
        </p:spPr>
      </p:pic>
      <p:sp>
        <p:nvSpPr>
          <p:cNvPr id="12292" name="Rectangle 3"/>
          <p:cNvSpPr/>
          <p:nvPr/>
        </p:nvSpPr>
        <p:spPr>
          <a:xfrm>
            <a:off x="914400" y="95250"/>
            <a:ext cx="10361613" cy="1143000"/>
          </a:xfrm>
          <a:prstGeom prst="rect">
            <a:avLst/>
          </a:prstGeom>
          <a:noFill/>
          <a:ln w="9525">
            <a:noFill/>
          </a:ln>
        </p:spPr>
        <p:txBody>
          <a:bodyPr anchor="ctr" anchorCtr="0"/>
          <a:p>
            <a:pPr algn="ctr"/>
            <a:r>
              <a:rPr lang="zh-CN" altLang="en-US" sz="3600" dirty="0">
                <a:solidFill>
                  <a:srgbClr val="FF3300"/>
                </a:solidFill>
                <a:latin typeface="Times New Roman" pitchFamily="18" charset="0"/>
                <a:ea typeface="黑体" panose="02000500000000000000" pitchFamily="49" charset="-122"/>
              </a:rPr>
              <a:t>龙芯</a:t>
            </a:r>
            <a:r>
              <a:rPr lang="en-US" altLang="zh-CN" sz="3600" dirty="0">
                <a:solidFill>
                  <a:srgbClr val="FF3300"/>
                </a:solidFill>
                <a:latin typeface="Times New Roman" pitchFamily="18" charset="0"/>
                <a:ea typeface="黑体" panose="02000500000000000000" pitchFamily="49" charset="-122"/>
              </a:rPr>
              <a:t>2</a:t>
            </a:r>
            <a:r>
              <a:rPr lang="zh-CN" altLang="en-US" sz="3600" dirty="0">
                <a:solidFill>
                  <a:srgbClr val="FF3300"/>
                </a:solidFill>
                <a:latin typeface="Times New Roman" pitchFamily="18" charset="0"/>
                <a:ea typeface="黑体" panose="02000500000000000000" pitchFamily="49" charset="-122"/>
              </a:rPr>
              <a:t>号处理器核结构图</a:t>
            </a:r>
            <a:endParaRPr lang="zh-CN" altLang="en-US" sz="3600" dirty="0">
              <a:solidFill>
                <a:srgbClr val="FF3300"/>
              </a:solidFill>
              <a:latin typeface="Times New Roman" pitchFamily="18" charset="0"/>
              <a:ea typeface="黑体" panose="02000500000000000000" pitchFamily="49" charset="-122"/>
            </a:endParaRPr>
          </a:p>
        </p:txBody>
      </p:sp>
      <p:sp>
        <p:nvSpPr>
          <p:cNvPr id="6" name="椭圆 5"/>
          <p:cNvSpPr/>
          <p:nvPr/>
        </p:nvSpPr>
        <p:spPr bwMode="auto">
          <a:xfrm>
            <a:off x="4078288" y="1416050"/>
            <a:ext cx="3482975" cy="4154488"/>
          </a:xfrm>
          <a:prstGeom prst="ellipse">
            <a:avLst/>
          </a:prstGeom>
          <a:noFill/>
          <a:ln w="38100" cap="flat" cmpd="sng" algn="ctr">
            <a:solidFill>
              <a:schemeClr val="accent6"/>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
        <p:nvSpPr>
          <p:cNvPr id="12294" name="椭圆 6"/>
          <p:cNvSpPr/>
          <p:nvPr/>
        </p:nvSpPr>
        <p:spPr>
          <a:xfrm>
            <a:off x="7637463" y="1404938"/>
            <a:ext cx="790575" cy="4154487"/>
          </a:xfrm>
          <a:prstGeom prst="ellipse">
            <a:avLst/>
          </a:prstGeom>
          <a:noFill/>
          <a:ln w="38100" cap="flat" cmpd="sng">
            <a:solidFill>
              <a:schemeClr val="accent2"/>
            </a:solidFill>
            <a:prstDash val="solid"/>
            <a:headEnd type="none" w="med" len="med"/>
            <a:tailEnd type="none" w="med" len="med"/>
          </a:ln>
        </p:spPr>
        <p:txBody>
          <a:bodyPr/>
          <a:p>
            <a:endParaRPr lang="zh-CN" altLang="en-US" dirty="0">
              <a:latin typeface="Times New Roman" pitchFamily="18" charset="0"/>
            </a:endParaRPr>
          </a:p>
        </p:txBody>
      </p:sp>
      <p:sp>
        <p:nvSpPr>
          <p:cNvPr id="12295" name="椭圆 7"/>
          <p:cNvSpPr/>
          <p:nvPr/>
        </p:nvSpPr>
        <p:spPr>
          <a:xfrm>
            <a:off x="8999538" y="3679825"/>
            <a:ext cx="933450" cy="1592263"/>
          </a:xfrm>
          <a:prstGeom prst="ellipse">
            <a:avLst/>
          </a:prstGeom>
          <a:noFill/>
          <a:ln w="38100" cap="flat" cmpd="sng">
            <a:solidFill>
              <a:srgbClr val="FF0000"/>
            </a:solidFill>
            <a:prstDash val="solid"/>
            <a:headEnd type="none" w="med" len="med"/>
            <a:tailEnd type="none" w="med" len="med"/>
          </a:ln>
        </p:spPr>
        <p:txBody>
          <a:bodyPr/>
          <a:p>
            <a:endParaRPr lang="zh-CN" altLang="en-US" dirty="0">
              <a:latin typeface="Times New Roman" pitchFamily="18" charset="0"/>
            </a:endParaRPr>
          </a:p>
        </p:txBody>
      </p:sp>
      <p:sp>
        <p:nvSpPr>
          <p:cNvPr id="12296" name="椭圆 7"/>
          <p:cNvSpPr/>
          <p:nvPr/>
        </p:nvSpPr>
        <p:spPr>
          <a:xfrm>
            <a:off x="1820863" y="3725863"/>
            <a:ext cx="1189037" cy="700087"/>
          </a:xfrm>
          <a:prstGeom prst="ellipse">
            <a:avLst/>
          </a:prstGeom>
          <a:noFill/>
          <a:ln w="38100" cap="flat" cmpd="sng">
            <a:solidFill>
              <a:srgbClr val="FF0000"/>
            </a:solidFill>
            <a:prstDash val="solid"/>
            <a:headEnd type="none" w="med" len="med"/>
            <a:tailEnd type="none" w="med" len="med"/>
          </a:ln>
        </p:spPr>
        <p:txBody>
          <a:bodyPr/>
          <a:p>
            <a:endParaRPr lang="zh-CN" altLang="en-US" dirty="0">
              <a:latin typeface="Times New Roman" pitchFamily="18" charset="0"/>
            </a:endParaRPr>
          </a:p>
        </p:txBody>
      </p:sp>
      <p:sp>
        <p:nvSpPr>
          <p:cNvPr id="9" name="椭圆 8"/>
          <p:cNvSpPr/>
          <p:nvPr/>
        </p:nvSpPr>
        <p:spPr bwMode="auto">
          <a:xfrm>
            <a:off x="1790700" y="2493963"/>
            <a:ext cx="1384300" cy="1141413"/>
          </a:xfrm>
          <a:prstGeom prst="ellipse">
            <a:avLst/>
          </a:prstGeom>
          <a:noFill/>
          <a:ln w="38100" cap="flat" cmpd="sng" algn="ctr">
            <a:solidFill>
              <a:schemeClr val="accent6"/>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itchFamily="18" charset="0"/>
              <a:ea typeface="宋体" panose="02000500000000000000" pitchFamily="2"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13315" name="Rectangle 2"/>
          <p:cNvSpPr>
            <a:spLocks noGrp="1"/>
          </p:cNvSpPr>
          <p:nvPr>
            <p:ph type="title"/>
          </p:nvPr>
        </p:nvSpPr>
        <p:spPr>
          <a:xfrm>
            <a:off x="914400" y="409575"/>
            <a:ext cx="10361613" cy="1143000"/>
          </a:xfrm>
        </p:spPr>
        <p:txBody>
          <a:bodyPr vert="horz" wrap="square" lIns="91440" tIns="45720" rIns="91440" bIns="45720" anchor="ctr" anchorCtr="0"/>
          <a:p>
            <a:pPr eaLnBrk="1" hangingPunct="1"/>
            <a:r>
              <a:rPr lang="zh-CN" altLang="en-US" dirty="0"/>
              <a:t>存储管理</a:t>
            </a:r>
            <a:endParaRPr lang="zh-CN" altLang="en-US" dirty="0"/>
          </a:p>
        </p:txBody>
      </p:sp>
      <p:sp>
        <p:nvSpPr>
          <p:cNvPr id="11268" name="Rectangle 3"/>
          <p:cNvSpPr>
            <a:spLocks noGrp="1" noChangeArrowheads="1"/>
          </p:cNvSpPr>
          <p:nvPr>
            <p:ph idx="1"/>
          </p:nvPr>
        </p:nvSpPr>
        <p:spPr>
          <a:xfrm>
            <a:off x="914400" y="1770063"/>
            <a:ext cx="10361613" cy="4325938"/>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400" b="1" i="0" u="none" strike="noStrike" kern="0" cap="none" spc="0" normalizeH="0" baseline="0" noProof="0" dirty="0" smtClean="0">
                <a:ln>
                  <a:noFill/>
                </a:ln>
                <a:solidFill>
                  <a:schemeClr val="tx1"/>
                </a:solidFill>
                <a:effectLst/>
                <a:uLnTx/>
                <a:uFillTx/>
                <a:latin typeface="+mn-ea"/>
                <a:ea typeface="+mn-ea"/>
                <a:cs typeface="+mn-cs"/>
              </a:rPr>
              <a:t>虚拟存储的基本原理</a:t>
            </a:r>
            <a:endParaRPr kumimoji="1"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400" b="1" i="0" u="none" strike="noStrike" kern="0" cap="none" spc="0" normalizeH="0" baseline="0" noProof="0" dirty="0" smtClean="0">
                <a:ln>
                  <a:noFill/>
                </a:ln>
                <a:solidFill>
                  <a:schemeClr val="tx1"/>
                </a:solidFill>
                <a:effectLst/>
                <a:uLnTx/>
                <a:uFillTx/>
                <a:latin typeface="+mn-ea"/>
                <a:ea typeface="+mn-ea"/>
                <a:cs typeface="+mn-cs"/>
              </a:rPr>
              <a:t>MIPS</a:t>
            </a:r>
            <a:r>
              <a:rPr kumimoji="1" lang="zh-CN" altLang="en-US" sz="2400" b="1" i="0" u="none" strike="noStrike" kern="0" cap="none" spc="0" normalizeH="0" baseline="0" noProof="0" dirty="0" smtClean="0">
                <a:ln>
                  <a:noFill/>
                </a:ln>
                <a:solidFill>
                  <a:schemeClr val="tx1"/>
                </a:solidFill>
                <a:effectLst/>
                <a:uLnTx/>
                <a:uFillTx/>
                <a:latin typeface="+mn-ea"/>
                <a:ea typeface="+mn-ea"/>
                <a:cs typeface="+mn-cs"/>
              </a:rPr>
              <a:t>对虚存系统的支持</a:t>
            </a:r>
            <a:endParaRPr kumimoji="1"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400" b="1" i="0" u="none" strike="noStrike" kern="0" cap="none" spc="0" normalizeH="0" baseline="0" noProof="0" dirty="0" smtClean="0">
                <a:ln>
                  <a:noFill/>
                </a:ln>
                <a:solidFill>
                  <a:schemeClr val="tx1"/>
                </a:solidFill>
                <a:effectLst/>
                <a:uLnTx/>
                <a:uFillTx/>
                <a:latin typeface="+mn-ea"/>
                <a:ea typeface="+mn-ea"/>
                <a:cs typeface="+mn-cs"/>
              </a:rPr>
              <a:t>LoongArch</a:t>
            </a:r>
            <a:r>
              <a:rPr kumimoji="1" lang="zh-CN" altLang="en-US" sz="2400" b="1" i="0" u="none" strike="noStrike" kern="0" cap="none" spc="0" normalizeH="0" baseline="0" noProof="0" dirty="0" smtClean="0">
                <a:ln>
                  <a:noFill/>
                </a:ln>
                <a:solidFill>
                  <a:schemeClr val="tx1"/>
                </a:solidFill>
                <a:effectLst/>
                <a:uLnTx/>
                <a:uFillTx/>
                <a:latin typeface="+mn-ea"/>
                <a:ea typeface="+mn-ea"/>
                <a:cs typeface="+mn-cs"/>
              </a:rPr>
              <a:t>对虚存系统的支持</a:t>
            </a:r>
            <a:endParaRPr kumimoji="1" lang="zh-CN" altLang="en-US" sz="24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4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2400" b="1" i="0" u="none" strike="noStrike" kern="0" cap="none" spc="0" normalizeH="0" baseline="0" noProof="0" dirty="0" smtClean="0">
                <a:ln>
                  <a:noFill/>
                </a:ln>
                <a:solidFill>
                  <a:schemeClr val="tx1"/>
                </a:solidFill>
                <a:effectLst/>
                <a:uLnTx/>
                <a:uFillTx/>
                <a:latin typeface="+mn-ea"/>
                <a:ea typeface="+mn-ea"/>
                <a:cs typeface="+mn-cs"/>
              </a:rPr>
              <a:t>的性能分析和优化</a:t>
            </a:r>
            <a:endParaRPr kumimoji="1" lang="zh-CN" altLang="en-US" sz="24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wrap="square" lIns="91440" tIns="45720" rIns="91440" bIns="45720" anchor="ctr" anchorCtr="0"/>
          <a:p>
            <a:r>
              <a:rPr lang="zh-CN" altLang="en-US" dirty="0"/>
              <a:t>一个访存例子</a:t>
            </a:r>
            <a:endParaRPr lang="zh-CN" altLang="en-US" dirty="0"/>
          </a:p>
        </p:txBody>
      </p:sp>
      <p:sp>
        <p:nvSpPr>
          <p:cNvPr id="14339" name="内容占位符 2"/>
          <p:cNvSpPr>
            <a:spLocks noGrp="1"/>
          </p:cNvSpPr>
          <p:nvPr>
            <p:ph idx="1"/>
          </p:nvPr>
        </p:nvSpPr>
        <p:spPr>
          <a:xfrm>
            <a:off x="914400" y="1504950"/>
            <a:ext cx="10361613" cy="5087938"/>
          </a:xfrm>
        </p:spPr>
        <p:txBody>
          <a:bodyPr vert="horz" wrap="square" lIns="91440" tIns="45720" rIns="91440" bIns="45720" anchor="t" anchorCtr="0"/>
          <a:p>
            <a:pPr marL="360680" indent="-360680" eaLnBrk="1" hangingPunct="1">
              <a:spcBef>
                <a:spcPct val="0"/>
              </a:spcBef>
            </a:pPr>
            <a:r>
              <a:rPr kumimoji="1" lang="zh-CN" altLang="en-US" sz="2000" dirty="0">
                <a:latin typeface="宋体" panose="02000500000000000000" pitchFamily="2" charset="-122"/>
                <a:ea typeface="宋体" panose="02000500000000000000" pitchFamily="2" charset="-122"/>
                <a:cs typeface="宋体" panose="02000500000000000000" pitchFamily="2" charset="-122"/>
              </a:rPr>
              <a:t>一个程序片段</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20725" lvl="1" indent="-360045" eaLnBrk="1" hangingPunct="1">
              <a:spcBef>
                <a:spcPct val="0"/>
              </a:spcBef>
            </a:pPr>
            <a:r>
              <a:rPr kumimoji="1" lang="en-US" altLang="zh-CN" sz="1600" dirty="0">
                <a:latin typeface="宋体" panose="02000500000000000000" pitchFamily="2" charset="-122"/>
                <a:ea typeface="宋体" panose="02000500000000000000" pitchFamily="2" charset="-122"/>
                <a:cs typeface="宋体" panose="02000500000000000000" pitchFamily="2" charset="-122"/>
              </a:rPr>
              <a:t>array = (int*)malloc(0x1000);</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720725" lvl="1" indent="-360045" eaLnBrk="1" hangingPunct="1">
              <a:spcBef>
                <a:spcPct val="0"/>
              </a:spcBef>
            </a:pPr>
            <a:r>
              <a:rPr kumimoji="1" lang="en-US" altLang="zh-CN" sz="1600" dirty="0">
                <a:latin typeface="宋体" panose="02000500000000000000" pitchFamily="2" charset="-122"/>
                <a:ea typeface="宋体" panose="02000500000000000000" pitchFamily="2" charset="-122"/>
                <a:cs typeface="宋体" panose="02000500000000000000" pitchFamily="2" charset="-122"/>
              </a:rPr>
              <a:t>For (i=0;i&lt;1024;i++) array[i] = 0;</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360680" indent="-360680" eaLnBrk="1" hangingPunct="1">
              <a:spcBef>
                <a:spcPct val="0"/>
              </a:spcBef>
            </a:pPr>
            <a:r>
              <a:rPr kumimoji="1" lang="zh-CN" altLang="en-US" sz="2000" dirty="0">
                <a:latin typeface="宋体" panose="02000500000000000000" pitchFamily="2" charset="-122"/>
                <a:ea typeface="宋体" panose="02000500000000000000" pitchFamily="2" charset="-122"/>
                <a:cs typeface="宋体" panose="02000500000000000000" pitchFamily="2" charset="-122"/>
              </a:rPr>
              <a:t>软件功能</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20725" lvl="1" indent="-360045" eaLnBrk="1" hangingPunct="1">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分配一个</a:t>
            </a:r>
            <a:r>
              <a:rPr kumimoji="1" lang="en-US" altLang="zh-CN" sz="1600" dirty="0">
                <a:latin typeface="宋体" panose="02000500000000000000" pitchFamily="2" charset="-122"/>
                <a:ea typeface="宋体" panose="02000500000000000000" pitchFamily="2" charset="-122"/>
                <a:cs typeface="宋体" panose="02000500000000000000" pitchFamily="2" charset="-122"/>
              </a:rPr>
              <a:t>1024</a:t>
            </a:r>
            <a:r>
              <a:rPr kumimoji="1" lang="zh-CN" altLang="en-US" sz="1600" dirty="0">
                <a:latin typeface="宋体" panose="02000500000000000000" pitchFamily="2" charset="-122"/>
                <a:ea typeface="宋体" panose="02000500000000000000" pitchFamily="2" charset="-122"/>
                <a:cs typeface="宋体" panose="02000500000000000000" pitchFamily="2" charset="-122"/>
              </a:rPr>
              <a:t>项的一维整数数组</a:t>
            </a:r>
            <a:r>
              <a:rPr kumimoji="1" lang="en-US" altLang="zh-CN" sz="1600" dirty="0">
                <a:latin typeface="宋体" panose="02000500000000000000" pitchFamily="2" charset="-122"/>
                <a:ea typeface="宋体" panose="02000500000000000000" pitchFamily="2" charset="-122"/>
                <a:cs typeface="宋体" panose="02000500000000000000" pitchFamily="2" charset="-122"/>
              </a:rPr>
              <a:t>array</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，并初始化为</a:t>
            </a:r>
            <a:r>
              <a:rPr kumimoji="1" lang="en-US" altLang="zh-CN" sz="1600" dirty="0">
                <a:latin typeface="宋体" panose="02000500000000000000" pitchFamily="2" charset="-122"/>
                <a:ea typeface="宋体" panose="02000500000000000000" pitchFamily="2" charset="-122"/>
                <a:cs typeface="宋体" panose="02000500000000000000" pitchFamily="2" charset="-122"/>
              </a:rPr>
              <a:t>0</a:t>
            </a:r>
            <a:r>
              <a:rPr kumimoji="1" lang="zh-CN" altLang="en-US" sz="1600" dirty="0">
                <a:latin typeface="宋体" panose="02000500000000000000" pitchFamily="2" charset="-122"/>
                <a:ea typeface="宋体" panose="02000500000000000000" pitchFamily="2" charset="-122"/>
                <a:cs typeface="宋体" panose="02000500000000000000" pitchFamily="2" charset="-122"/>
              </a:rPr>
              <a:t>；</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360680" indent="-360680" eaLnBrk="1" hangingPunct="1">
              <a:spcBef>
                <a:spcPct val="0"/>
              </a:spcBef>
            </a:pPr>
            <a:r>
              <a:rPr kumimoji="1" lang="zh-CN" altLang="en-US" sz="2000" dirty="0">
                <a:latin typeface="宋体" panose="02000500000000000000" pitchFamily="2" charset="-122"/>
                <a:ea typeface="宋体" panose="02000500000000000000" pitchFamily="2" charset="-122"/>
                <a:cs typeface="宋体" panose="02000500000000000000" pitchFamily="2" charset="-122"/>
              </a:rPr>
              <a:t>硬件过程？</a:t>
            </a:r>
            <a:endParaRPr kumimoji="1" lang="en-US" altLang="zh-CN" sz="2000" dirty="0">
              <a:latin typeface="宋体" panose="02000500000000000000" pitchFamily="2" charset="-122"/>
              <a:ea typeface="宋体" panose="02000500000000000000" pitchFamily="2" charset="-122"/>
              <a:cs typeface="宋体" panose="02000500000000000000" pitchFamily="2" charset="-122"/>
            </a:endParaRPr>
          </a:p>
          <a:p>
            <a:pPr marL="720725" lvl="1" indent="-360045" eaLnBrk="1" hangingPunct="1">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数组地址分配在什么地址？</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720725" lvl="1" indent="-360045" eaLnBrk="1" hangingPunct="1">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数组存在什么地方（内存</a:t>
            </a:r>
            <a:r>
              <a:rPr kumimoji="1" lang="en-US" altLang="zh-CN" sz="1600" dirty="0">
                <a:latin typeface="宋体" panose="02000500000000000000" pitchFamily="2" charset="-122"/>
                <a:ea typeface="宋体" panose="02000500000000000000" pitchFamily="2" charset="-122"/>
                <a:cs typeface="宋体" panose="02000500000000000000" pitchFamily="2" charset="-122"/>
              </a:rPr>
              <a:t>/</a:t>
            </a:r>
            <a:r>
              <a:rPr kumimoji="1" lang="zh-CN" altLang="en-US" sz="1600" dirty="0">
                <a:latin typeface="宋体" panose="02000500000000000000" pitchFamily="2" charset="-122"/>
                <a:ea typeface="宋体" panose="02000500000000000000" pitchFamily="2" charset="-122"/>
                <a:cs typeface="宋体" panose="02000500000000000000" pitchFamily="2" charset="-122"/>
              </a:rPr>
              <a:t>硬盘）？</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720725" lvl="1" indent="-360045" eaLnBrk="1" hangingPunct="1">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什么时候分配？什么时候存？</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720725" lvl="1" indent="-360045" eaLnBrk="1" hangingPunct="1">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虚地址和物理地址如何转换？</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marL="360680" indent="-360680">
              <a:spcBef>
                <a:spcPct val="0"/>
              </a:spcBef>
            </a:pP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p:txBody>
      </p:sp>
      <p:sp>
        <p:nvSpPr>
          <p:cNvPr id="1434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graphicFrame>
        <p:nvGraphicFramePr>
          <p:cNvPr id="1026" name="Object 2"/>
          <p:cNvGraphicFramePr/>
          <p:nvPr/>
        </p:nvGraphicFramePr>
        <p:xfrm>
          <a:off x="1087120" y="3167380"/>
          <a:ext cx="10487660" cy="3419475"/>
        </p:xfrm>
        <a:graphic>
          <a:graphicData uri="http://schemas.openxmlformats.org/presentationml/2006/ole">
            <mc:AlternateContent xmlns:mc="http://schemas.openxmlformats.org/markup-compatibility/2006">
              <mc:Choice xmlns:v="urn:schemas-microsoft-com:vml" Requires="v">
                <p:oleObj spid="_x0000_s3076" name="" r:id="rId1" imgW="8410575" imgH="3419475" progId="Paint.Picture">
                  <p:embed/>
                </p:oleObj>
              </mc:Choice>
              <mc:Fallback>
                <p:oleObj name="" r:id="rId1" imgW="8410575" imgH="3419475" progId="Paint.Picture">
                  <p:embed/>
                  <p:pic>
                    <p:nvPicPr>
                      <p:cNvPr id="0" name="图片 3075"/>
                      <p:cNvPicPr/>
                      <p:nvPr/>
                    </p:nvPicPr>
                    <p:blipFill>
                      <a:blip r:embed="rId2"/>
                      <a:stretch>
                        <a:fillRect/>
                      </a:stretch>
                    </p:blipFill>
                    <p:spPr>
                      <a:xfrm>
                        <a:off x="1087120" y="3167380"/>
                        <a:ext cx="10487660" cy="3419475"/>
                      </a:xfrm>
                      <a:prstGeom prst="rect">
                        <a:avLst/>
                      </a:prstGeom>
                      <a:noFill/>
                      <a:ln w="38100">
                        <a:noFill/>
                        <a:miter/>
                      </a:ln>
                    </p:spPr>
                  </p:pic>
                </p:oleObj>
              </mc:Fallback>
            </mc:AlternateContent>
          </a:graphicData>
        </a:graphic>
      </p:graphicFrame>
      <p:sp>
        <p:nvSpPr>
          <p:cNvPr id="1028" name="Rectangle 3"/>
          <p:cNvSpPr/>
          <p:nvPr/>
        </p:nvSpPr>
        <p:spPr>
          <a:xfrm>
            <a:off x="996950" y="214313"/>
            <a:ext cx="10361613" cy="760412"/>
          </a:xfrm>
          <a:prstGeom prst="rect">
            <a:avLst/>
          </a:prstGeom>
          <a:noFill/>
          <a:ln w="9525">
            <a:noFill/>
          </a:ln>
        </p:spPr>
        <p:txBody>
          <a:bodyPr anchor="ctr" anchorCtr="0"/>
          <a:p>
            <a:pPr algn="ctr" eaLnBrk="0" hangingPunct="0"/>
            <a:r>
              <a:rPr lang="zh-CN" altLang="en-US" sz="3200" dirty="0">
                <a:solidFill>
                  <a:srgbClr val="FF0000"/>
                </a:solidFill>
                <a:latin typeface="Arial" panose="02080604020202020204" pitchFamily="34" charset="0"/>
                <a:ea typeface="黑体" panose="02000500000000000000" pitchFamily="49" charset="-122"/>
              </a:rPr>
              <a:t>利用存储空间分布进行攻击的例子</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1029" name="Rectangle 4"/>
          <p:cNvSpPr/>
          <p:nvPr/>
        </p:nvSpPr>
        <p:spPr>
          <a:xfrm>
            <a:off x="711200" y="1234440"/>
            <a:ext cx="10712450" cy="1447165"/>
          </a:xfrm>
          <a:prstGeom prst="rect">
            <a:avLst/>
          </a:prstGeom>
          <a:noFill/>
          <a:ln w="9525">
            <a:noFill/>
          </a:ln>
        </p:spPr>
        <p:txBody>
          <a:bodyPr/>
          <a:p>
            <a:pPr marL="342900" indent="-342900" eaLnBrk="0" hangingPunct="0">
              <a:lnSpc>
                <a:spcPct val="150000"/>
              </a:lnSpc>
              <a:buFont typeface="Arial" panose="02080604020202020204" pitchFamily="34" charset="0"/>
              <a:buChar char="•"/>
            </a:pPr>
            <a:r>
              <a:rPr lang="zh-CN" altLang="en-US" sz="2000" b="1" dirty="0">
                <a:latin typeface="Times New Roman" pitchFamily="18" charset="0"/>
              </a:rPr>
              <a:t>利用缓冲区溢出进行攻击的例子</a:t>
            </a:r>
            <a:endParaRPr lang="en-US" altLang="zh-CN" sz="2000" b="1" dirty="0">
              <a:latin typeface="Times New Roman" pitchFamily="18" charset="0"/>
            </a:endParaRPr>
          </a:p>
          <a:p>
            <a:pPr marL="342900" indent="-342900" eaLnBrk="0" hangingPunct="0">
              <a:lnSpc>
                <a:spcPct val="150000"/>
              </a:lnSpc>
              <a:buFont typeface="Arial" panose="02080604020202020204" pitchFamily="34" charset="0"/>
              <a:buChar char="•"/>
            </a:pPr>
            <a:r>
              <a:rPr lang="zh-CN" altLang="en-US" sz="2000" b="1" dirty="0">
                <a:solidFill>
                  <a:srgbClr val="FF0000"/>
                </a:solidFill>
                <a:latin typeface="Times New Roman" pitchFamily="18" charset="0"/>
              </a:rPr>
              <a:t>怎么防范？</a:t>
            </a:r>
            <a:endParaRPr lang="zh-CN" altLang="en-US" sz="2000" b="1" dirty="0">
              <a:solidFill>
                <a:srgbClr val="FF0000"/>
              </a:solidFill>
              <a:latin typeface="Times New Roman" pitchFamily="18" charset="0"/>
            </a:endParaRPr>
          </a:p>
        </p:txBody>
      </p:sp>
      <p:sp>
        <p:nvSpPr>
          <p:cNvPr id="1030" name="Rectangle 5"/>
          <p:cNvSpPr/>
          <p:nvPr/>
        </p:nvSpPr>
        <p:spPr>
          <a:xfrm>
            <a:off x="5030788" y="3711575"/>
            <a:ext cx="2439987" cy="173038"/>
          </a:xfrm>
          <a:prstGeom prst="rect">
            <a:avLst/>
          </a:prstGeom>
          <a:noFill/>
          <a:ln w="19050" cap="flat" cmpd="sng">
            <a:solidFill>
              <a:srgbClr val="FF3300"/>
            </a:solidFill>
            <a:prstDash val="solid"/>
            <a:miter/>
            <a:headEnd type="none" w="med" len="med"/>
            <a:tailEnd type="none" w="med" len="med"/>
          </a:ln>
        </p:spPr>
        <p:txBody>
          <a:bodyPr wrap="none" anchor="ctr" anchorCtr="0"/>
          <a:p>
            <a:pPr eaLnBrk="0" hangingPunct="0"/>
            <a:endParaRPr lang="zh-CN" altLang="en-US" dirty="0">
              <a:latin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15363" name="Rectangle 2"/>
          <p:cNvSpPr>
            <a:spLocks noGrp="1"/>
          </p:cNvSpPr>
          <p:nvPr>
            <p:ph type="title"/>
          </p:nvPr>
        </p:nvSpPr>
        <p:spPr>
          <a:xfrm>
            <a:off x="1049338" y="2797175"/>
            <a:ext cx="10361612" cy="1143000"/>
          </a:xfrm>
        </p:spPr>
        <p:txBody>
          <a:bodyPr vert="horz" wrap="square" lIns="91440" tIns="45720" rIns="91440" bIns="45720" anchor="ctr" anchorCtr="0"/>
          <a:p>
            <a:pPr eaLnBrk="1" hangingPunct="1"/>
            <a:r>
              <a:rPr lang="zh-CN" altLang="en-US" sz="3600" dirty="0"/>
              <a:t>虚拟存储的基本原理</a:t>
            </a:r>
            <a:endParaRPr lang="zh-CN" alt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16387" name="Rectangle 2"/>
          <p:cNvSpPr>
            <a:spLocks noGrp="1"/>
          </p:cNvSpPr>
          <p:nvPr>
            <p:ph type="title"/>
          </p:nvPr>
        </p:nvSpPr>
        <p:spPr>
          <a:xfrm>
            <a:off x="877888" y="358775"/>
            <a:ext cx="10361612" cy="865188"/>
          </a:xfrm>
        </p:spPr>
        <p:txBody>
          <a:bodyPr vert="horz" wrap="square" lIns="91440" tIns="45720" rIns="91440" bIns="45720" anchor="ctr" anchorCtr="0"/>
          <a:p>
            <a:pPr eaLnBrk="1" hangingPunct="1"/>
            <a:r>
              <a:rPr lang="zh-CN" altLang="en-US" dirty="0"/>
              <a:t>虚拟存储原理</a:t>
            </a:r>
            <a:endParaRPr lang="zh-CN" altLang="en-US" dirty="0"/>
          </a:p>
        </p:txBody>
      </p:sp>
      <p:sp>
        <p:nvSpPr>
          <p:cNvPr id="16388" name="Rectangle 3"/>
          <p:cNvSpPr>
            <a:spLocks noGrp="1"/>
          </p:cNvSpPr>
          <p:nvPr>
            <p:ph idx="1"/>
          </p:nvPr>
        </p:nvSpPr>
        <p:spPr>
          <a:xfrm>
            <a:off x="697865" y="1492250"/>
            <a:ext cx="11492865" cy="4603750"/>
          </a:xfrm>
        </p:spPr>
        <p:txBody>
          <a:bodyPr vert="horz" wrap="square" lIns="91440" tIns="45720" rIns="91440" bIns="45720" anchor="t" anchorCtr="0"/>
          <a:p>
            <a:pPr marL="360680" indent="-360680" eaLnBrk="1" latinLnBrk="0" hangingPunct="1">
              <a:spcBef>
                <a:spcPts val="600"/>
              </a:spcBef>
            </a:pPr>
            <a:r>
              <a:rPr kumimoji="1" lang="zh-CN" altLang="en-US" sz="2000" dirty="0">
                <a:latin typeface="+mn-lt"/>
                <a:ea typeface="+mn-ea"/>
                <a:cs typeface="+mn-cs"/>
              </a:rPr>
              <a:t>虚拟存储是计算机系统发展过程中有里程碑作用的事件</a:t>
            </a:r>
            <a:endParaRPr kumimoji="1" lang="zh-CN" altLang="en-US" sz="2000" dirty="0">
              <a:latin typeface="+mn-lt"/>
              <a:ea typeface="+mn-ea"/>
              <a:cs typeface="+mn-cs"/>
            </a:endParaRPr>
          </a:p>
          <a:p>
            <a:pPr marL="720725" lvl="1" indent="-360045" eaLnBrk="1" latinLnBrk="0" hangingPunct="1">
              <a:spcBef>
                <a:spcPts val="600"/>
              </a:spcBef>
            </a:pPr>
            <a:r>
              <a:rPr kumimoji="1" lang="zh-CN" altLang="en-US" sz="1800" dirty="0">
                <a:latin typeface="+mn-lt"/>
                <a:ea typeface="+mn-ea"/>
              </a:rPr>
              <a:t>多进程环境下统一的编程空间</a:t>
            </a:r>
            <a:endParaRPr kumimoji="1" lang="zh-CN" altLang="en-US" sz="1800" dirty="0">
              <a:latin typeface="+mn-lt"/>
              <a:ea typeface="+mn-ea"/>
            </a:endParaRPr>
          </a:p>
          <a:p>
            <a:pPr marL="720725" lvl="1" indent="-360045" eaLnBrk="1" latinLnBrk="0" hangingPunct="1">
              <a:spcBef>
                <a:spcPts val="600"/>
              </a:spcBef>
            </a:pPr>
            <a:r>
              <a:rPr kumimoji="1" lang="zh-CN" altLang="en-US" sz="1800" dirty="0">
                <a:latin typeface="+mn-lt"/>
                <a:ea typeface="+mn-ea"/>
              </a:rPr>
              <a:t>多进程环境下的共享与保护</a:t>
            </a:r>
            <a:endParaRPr kumimoji="1" lang="zh-CN" altLang="en-US" sz="1800" dirty="0">
              <a:latin typeface="+mn-lt"/>
              <a:ea typeface="+mn-ea"/>
            </a:endParaRPr>
          </a:p>
          <a:p>
            <a:pPr marL="720725" lvl="1" indent="-360045" eaLnBrk="1" latinLnBrk="0" hangingPunct="1">
              <a:spcBef>
                <a:spcPts val="600"/>
              </a:spcBef>
            </a:pPr>
            <a:r>
              <a:rPr kumimoji="1" lang="zh-CN" altLang="en-US" sz="1800" dirty="0">
                <a:latin typeface="+mn-lt"/>
                <a:ea typeface="+mn-ea"/>
              </a:rPr>
              <a:t>支持大于实际物理内存的编程空间</a:t>
            </a:r>
            <a:endParaRPr kumimoji="1" lang="zh-CN" altLang="en-US" sz="1800" dirty="0">
              <a:latin typeface="+mn-lt"/>
              <a:ea typeface="+mn-ea"/>
            </a:endParaRPr>
          </a:p>
          <a:p>
            <a:pPr marL="360680" indent="-360680" eaLnBrk="1" latinLnBrk="0" hangingPunct="1">
              <a:spcBef>
                <a:spcPts val="600"/>
              </a:spcBef>
            </a:pPr>
            <a:r>
              <a:rPr kumimoji="1" lang="zh-CN" altLang="en-US" sz="2000" dirty="0">
                <a:latin typeface="+mn-lt"/>
                <a:ea typeface="+mn-ea"/>
                <a:cs typeface="+mn-cs"/>
              </a:rPr>
              <a:t>虚实地址分开，建立一种从虚地址空间映射到物理内存的机制</a:t>
            </a:r>
            <a:endParaRPr kumimoji="1" lang="zh-CN" altLang="en-US" sz="2000" dirty="0">
              <a:latin typeface="+mn-lt"/>
              <a:ea typeface="+mn-ea"/>
              <a:cs typeface="+mn-cs"/>
            </a:endParaRPr>
          </a:p>
          <a:p>
            <a:pPr marL="720725" lvl="1" indent="-360045" eaLnBrk="1" latinLnBrk="0" hangingPunct="1">
              <a:spcBef>
                <a:spcPts val="600"/>
              </a:spcBef>
            </a:pPr>
            <a:r>
              <a:rPr kumimoji="1" lang="zh-CN" altLang="en-US" sz="1800" dirty="0">
                <a:latin typeface="+mn-lt"/>
                <a:ea typeface="+mn-ea"/>
              </a:rPr>
              <a:t>操作系统以页为单位进行内存管理</a:t>
            </a:r>
            <a:endParaRPr kumimoji="1" lang="zh-CN" altLang="en-US" sz="1800" dirty="0">
              <a:latin typeface="+mn-lt"/>
              <a:ea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a:xfrm>
            <a:off x="982663" y="0"/>
            <a:ext cx="10361612" cy="1143000"/>
          </a:xfrm>
        </p:spPr>
        <p:txBody>
          <a:bodyPr vert="horz" wrap="square" lIns="91440" tIns="45720" rIns="91440" bIns="45720" anchor="ctr" anchorCtr="0"/>
          <a:p>
            <a:r>
              <a:rPr lang="zh-CN" altLang="en-US" dirty="0"/>
              <a:t>页式内存管理举例</a:t>
            </a:r>
            <a:endParaRPr lang="zh-CN" altLang="en-US" dirty="0"/>
          </a:p>
        </p:txBody>
      </p:sp>
      <p:graphicFrame>
        <p:nvGraphicFramePr>
          <p:cNvPr id="17411" name="内容占位符 17410"/>
          <p:cNvGraphicFramePr/>
          <p:nvPr>
            <p:ph idx="1"/>
          </p:nvPr>
        </p:nvGraphicFramePr>
        <p:xfrm>
          <a:off x="9161463" y="2093913"/>
          <a:ext cx="2478088" cy="4734242"/>
        </p:xfrm>
        <a:graphic>
          <a:graphicData uri="http://schemas.openxmlformats.org/drawingml/2006/table">
            <a:tbl>
              <a:tblPr/>
              <a:tblGrid>
                <a:gridCol w="404813"/>
                <a:gridCol w="2073275"/>
              </a:tblGrid>
              <a:tr h="182880">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en-US" altLang="zh-CN" sz="800" b="1" dirty="0">
                        <a:latin typeface="宋体" panose="02000500000000000000" pitchFamily="2" charset="-122"/>
                      </a:endParaRPr>
                    </a:p>
                  </a:txBody>
                  <a:tcPr marL="48254" marR="48254"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zh-CN" altLang="en-US" b="1" dirty="0">
                          <a:solidFill>
                            <a:srgbClr val="FF0000"/>
                          </a:solidFill>
                          <a:latin typeface="宋体" panose="02000500000000000000" pitchFamily="2" charset="-122"/>
                        </a:rPr>
                        <a:t>物理内存（内存条）</a:t>
                      </a:r>
                      <a:endParaRPr lang="zh-CN" altLang="en-US" b="1" dirty="0">
                        <a:solidFill>
                          <a:srgbClr val="FF0000"/>
                        </a:solidFill>
                        <a:latin typeface="宋体" panose="02000500000000000000" pitchFamily="2" charset="-122"/>
                      </a:endParaRPr>
                    </a:p>
                  </a:txBody>
                  <a:tcPr marL="48254" marR="48254" marT="0" marB="0">
                    <a:lnL>
                      <a:noFill/>
                    </a:lnL>
                    <a:lnR>
                      <a:noFill/>
                    </a:lnR>
                    <a:lnT>
                      <a:noFill/>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latin typeface="宋体" panose="02000500000000000000" pitchFamily="2" charset="-122"/>
                        </a:rPr>
                        <a:t>P-1</a:t>
                      </a:r>
                      <a:endParaRPr lang="en-US" altLang="zh-CN"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b9</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c2</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b10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a11</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a99</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a100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c100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c99</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c0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b1</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a2</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b100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c1</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latin typeface="宋体" panose="02000500000000000000" pitchFamily="2" charset="-122"/>
                        </a:rPr>
                        <a:t>0</a:t>
                      </a:r>
                      <a:endParaRPr lang="en-US" altLang="zh-CN"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c3</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bl>
          </a:graphicData>
        </a:graphic>
      </p:graphicFrame>
      <p:graphicFrame>
        <p:nvGraphicFramePr>
          <p:cNvPr id="17513" name="表格 17512"/>
          <p:cNvGraphicFramePr/>
          <p:nvPr/>
        </p:nvGraphicFramePr>
        <p:xfrm>
          <a:off x="914400" y="2106613"/>
          <a:ext cx="2478088" cy="4734242"/>
        </p:xfrm>
        <a:graphic>
          <a:graphicData uri="http://schemas.openxmlformats.org/drawingml/2006/table">
            <a:tbl>
              <a:tblPr/>
              <a:tblGrid>
                <a:gridCol w="404813"/>
                <a:gridCol w="2073275"/>
              </a:tblGrid>
              <a:tr h="182880">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en-US" altLang="zh-CN" sz="800" b="1" dirty="0">
                        <a:latin typeface="宋体" panose="02000500000000000000" pitchFamily="2" charset="-122"/>
                      </a:endParaRPr>
                    </a:p>
                  </a:txBody>
                  <a:tcPr marL="48254" marR="48254"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zh-CN" altLang="en-US" b="1" dirty="0">
                          <a:solidFill>
                            <a:schemeClr val="accent2"/>
                          </a:solidFill>
                          <a:latin typeface="宋体" panose="02000500000000000000" pitchFamily="2" charset="-122"/>
                          <a:cs typeface="宋体" panose="02000500000000000000" pitchFamily="2" charset="-122"/>
                        </a:rPr>
                        <a:t>进程</a:t>
                      </a:r>
                      <a:r>
                        <a:rPr lang="en-US" altLang="zh-CN" b="1" dirty="0">
                          <a:solidFill>
                            <a:schemeClr val="accent2"/>
                          </a:solidFill>
                          <a:latin typeface="宋体" panose="02000500000000000000" pitchFamily="2" charset="-122"/>
                          <a:cs typeface="宋体" panose="02000500000000000000" pitchFamily="2" charset="-122"/>
                        </a:rPr>
                        <a:t>a</a:t>
                      </a:r>
                      <a:r>
                        <a:rPr lang="zh-CN" altLang="en-US" b="1" dirty="0">
                          <a:solidFill>
                            <a:schemeClr val="accent2"/>
                          </a:solidFill>
                          <a:latin typeface="宋体" panose="02000500000000000000" pitchFamily="2" charset="-122"/>
                          <a:cs typeface="宋体" panose="02000500000000000000" pitchFamily="2" charset="-122"/>
                        </a:rPr>
                        <a:t>（</a:t>
                      </a:r>
                      <a:r>
                        <a:rPr lang="en-US" altLang="zh-CN" b="1" dirty="0">
                          <a:solidFill>
                            <a:schemeClr val="accent2"/>
                          </a:solidFill>
                          <a:latin typeface="宋体" panose="02000500000000000000" pitchFamily="2" charset="-122"/>
                          <a:cs typeface="宋体" panose="02000500000000000000" pitchFamily="2" charset="-122"/>
                        </a:rPr>
                        <a:t>Word</a:t>
                      </a:r>
                      <a:r>
                        <a:rPr lang="zh-CN" altLang="en-US" b="1" dirty="0">
                          <a:solidFill>
                            <a:schemeClr val="accent2"/>
                          </a:solidFill>
                          <a:latin typeface="宋体" panose="02000500000000000000" pitchFamily="2" charset="-122"/>
                          <a:cs typeface="宋体" panose="02000500000000000000" pitchFamily="2" charset="-122"/>
                        </a:rPr>
                        <a:t>）</a:t>
                      </a:r>
                      <a:endParaRPr lang="zh-CN" altLang="en-US" b="1" dirty="0">
                        <a:solidFill>
                          <a:schemeClr val="accent2"/>
                        </a:solidFill>
                        <a:latin typeface="宋体" panose="02000500000000000000" pitchFamily="2" charset="-122"/>
                        <a:cs typeface="宋体" panose="02000500000000000000" pitchFamily="2" charset="-122"/>
                      </a:endParaRPr>
                    </a:p>
                  </a:txBody>
                  <a:tcPr marL="48254" marR="48254" marT="0" marB="0">
                    <a:lnL>
                      <a:noFill/>
                    </a:lnL>
                    <a:lnR>
                      <a:noFill/>
                    </a:lnR>
                    <a:lnT>
                      <a:noFill/>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latin typeface="宋体" panose="02000500000000000000" pitchFamily="2" charset="-122"/>
                        </a:rPr>
                        <a:t>V-1</a:t>
                      </a:r>
                      <a:endParaRPr lang="en-US" altLang="zh-CN"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a100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a99</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a11</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a2</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a1</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latin typeface="宋体" panose="02000500000000000000" pitchFamily="2" charset="-122"/>
                        </a:rPr>
                        <a:t>0</a:t>
                      </a:r>
                      <a:endParaRPr lang="en-US" altLang="zh-CN"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a0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FFF00"/>
                    </a:solidFill>
                  </a:tcPr>
                </a:tc>
              </a:tr>
            </a:tbl>
          </a:graphicData>
        </a:graphic>
      </p:graphicFrame>
      <p:graphicFrame>
        <p:nvGraphicFramePr>
          <p:cNvPr id="17615" name="表格 17614"/>
          <p:cNvGraphicFramePr/>
          <p:nvPr/>
        </p:nvGraphicFramePr>
        <p:xfrm>
          <a:off x="6002338" y="2109788"/>
          <a:ext cx="2479675" cy="4733925"/>
        </p:xfrm>
        <a:graphic>
          <a:graphicData uri="http://schemas.openxmlformats.org/drawingml/2006/table">
            <a:tbl>
              <a:tblPr/>
              <a:tblGrid>
                <a:gridCol w="403225"/>
                <a:gridCol w="2076450"/>
              </a:tblGrid>
              <a:tr h="182563">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en-US" altLang="zh-CN" sz="800" b="1" dirty="0">
                        <a:solidFill>
                          <a:schemeClr val="accent2"/>
                        </a:solidFill>
                        <a:latin typeface="宋体" panose="02000500000000000000" pitchFamily="2" charset="-122"/>
                      </a:endParaRPr>
                    </a:p>
                  </a:txBody>
                  <a:tcPr marL="48254" marR="48254"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zh-CN" altLang="en-US" b="1" dirty="0">
                          <a:solidFill>
                            <a:schemeClr val="accent2"/>
                          </a:solidFill>
                          <a:latin typeface="宋体" panose="02000500000000000000" pitchFamily="2" charset="-122"/>
                          <a:cs typeface="宋体" panose="02000500000000000000" pitchFamily="2" charset="-122"/>
                        </a:rPr>
                        <a:t>进程</a:t>
                      </a:r>
                      <a:r>
                        <a:rPr lang="en-US" altLang="zh-CN" b="1" dirty="0">
                          <a:solidFill>
                            <a:schemeClr val="accent2"/>
                          </a:solidFill>
                          <a:latin typeface="宋体" panose="02000500000000000000" pitchFamily="2" charset="-122"/>
                          <a:cs typeface="宋体" panose="02000500000000000000" pitchFamily="2" charset="-122"/>
                        </a:rPr>
                        <a:t>c</a:t>
                      </a:r>
                      <a:r>
                        <a:rPr lang="zh-CN" altLang="en-US" b="1" dirty="0">
                          <a:solidFill>
                            <a:schemeClr val="accent2"/>
                          </a:solidFill>
                          <a:latin typeface="宋体" panose="02000500000000000000" pitchFamily="2" charset="-122"/>
                          <a:cs typeface="宋体" panose="02000500000000000000" pitchFamily="2" charset="-122"/>
                        </a:rPr>
                        <a:t>（</a:t>
                      </a:r>
                      <a:r>
                        <a:rPr lang="en-US" altLang="zh-CN" b="1" dirty="0">
                          <a:solidFill>
                            <a:schemeClr val="accent2"/>
                          </a:solidFill>
                          <a:latin typeface="宋体" panose="02000500000000000000" pitchFamily="2" charset="-122"/>
                          <a:cs typeface="宋体" panose="02000500000000000000" pitchFamily="2" charset="-122"/>
                        </a:rPr>
                        <a:t>Excel</a:t>
                      </a:r>
                      <a:r>
                        <a:rPr lang="zh-CN" altLang="en-US" b="1" dirty="0">
                          <a:solidFill>
                            <a:schemeClr val="accent2"/>
                          </a:solidFill>
                          <a:latin typeface="宋体" panose="02000500000000000000" pitchFamily="2" charset="-122"/>
                          <a:cs typeface="宋体" panose="02000500000000000000" pitchFamily="2" charset="-122"/>
                        </a:rPr>
                        <a:t>）</a:t>
                      </a:r>
                      <a:endParaRPr lang="zh-CN" altLang="en-US" b="1" dirty="0">
                        <a:solidFill>
                          <a:schemeClr val="accent2"/>
                        </a:solidFill>
                        <a:latin typeface="宋体" panose="02000500000000000000" pitchFamily="2" charset="-122"/>
                        <a:cs typeface="宋体" panose="02000500000000000000" pitchFamily="2" charset="-122"/>
                      </a:endParaRPr>
                    </a:p>
                  </a:txBody>
                  <a:tcPr marL="48254" marR="48254" marT="0" marB="0">
                    <a:lnL>
                      <a:noFill/>
                    </a:lnL>
                    <a:lnR>
                      <a:noFill/>
                    </a:lnR>
                    <a:lnT>
                      <a:noFill/>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solidFill>
                            <a:schemeClr val="accent2"/>
                          </a:solidFill>
                          <a:latin typeface="宋体" panose="02000500000000000000" pitchFamily="2" charset="-122"/>
                        </a:rPr>
                        <a:t>V-1</a:t>
                      </a:r>
                      <a:endParaRPr lang="en-US" altLang="zh-CN"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solidFill>
                            <a:schemeClr val="accent2"/>
                          </a:solidFill>
                          <a:latin typeface="宋体" panose="02000500000000000000" pitchFamily="2" charset="-122"/>
                        </a:rPr>
                        <a:t>c100</a:t>
                      </a:r>
                      <a:endParaRPr lang="en-US" altLang="zh-CN"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solidFill>
                            <a:schemeClr val="accent2"/>
                          </a:solidFill>
                          <a:latin typeface="宋体" panose="02000500000000000000" pitchFamily="2" charset="-122"/>
                        </a:rPr>
                        <a:t>c99</a:t>
                      </a:r>
                      <a:endParaRPr lang="en-US" altLang="zh-CN"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solidFill>
                            <a:schemeClr val="accent2"/>
                          </a:solidFill>
                          <a:latin typeface="宋体" panose="02000500000000000000" pitchFamily="2" charset="-122"/>
                        </a:rPr>
                        <a:t>c3</a:t>
                      </a:r>
                      <a:endParaRPr lang="en-US" altLang="zh-CN"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solidFill>
                            <a:schemeClr val="accent2"/>
                          </a:solidFill>
                          <a:latin typeface="宋体" panose="02000500000000000000" pitchFamily="2" charset="-122"/>
                        </a:rPr>
                        <a:t>c2</a:t>
                      </a:r>
                      <a:endParaRPr lang="en-US" altLang="zh-CN"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solidFill>
                            <a:schemeClr val="accent2"/>
                          </a:solidFill>
                          <a:latin typeface="宋体" panose="02000500000000000000" pitchFamily="2" charset="-122"/>
                        </a:rPr>
                        <a:t>c1</a:t>
                      </a:r>
                      <a:endParaRPr lang="en-US" altLang="zh-CN"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solidFill>
                            <a:schemeClr val="accent2"/>
                          </a:solidFill>
                          <a:latin typeface="宋体" panose="02000500000000000000" pitchFamily="2" charset="-122"/>
                        </a:rPr>
                        <a:t>0</a:t>
                      </a:r>
                      <a:endParaRPr lang="en-US" altLang="zh-CN" sz="800" b="1" dirty="0">
                        <a:solidFill>
                          <a:schemeClr val="accent2"/>
                        </a:solidFill>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solidFill>
                            <a:schemeClr val="accent2"/>
                          </a:solidFill>
                          <a:latin typeface="宋体" panose="02000500000000000000" pitchFamily="2" charset="-122"/>
                        </a:rPr>
                        <a:t>c0</a:t>
                      </a:r>
                      <a:endParaRPr lang="en-US" altLang="zh-CN" sz="800" b="1" dirty="0">
                        <a:solidFill>
                          <a:schemeClr val="accent2"/>
                        </a:solidFill>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D6D6F5"/>
                    </a:solidFill>
                  </a:tcPr>
                </a:tc>
              </a:tr>
            </a:tbl>
          </a:graphicData>
        </a:graphic>
      </p:graphicFrame>
      <p:graphicFrame>
        <p:nvGraphicFramePr>
          <p:cNvPr id="17717" name="表格 17716"/>
          <p:cNvGraphicFramePr/>
          <p:nvPr/>
        </p:nvGraphicFramePr>
        <p:xfrm>
          <a:off x="3432175" y="2105025"/>
          <a:ext cx="2479675" cy="4734242"/>
        </p:xfrm>
        <a:graphic>
          <a:graphicData uri="http://schemas.openxmlformats.org/drawingml/2006/table">
            <a:tbl>
              <a:tblPr/>
              <a:tblGrid>
                <a:gridCol w="404813"/>
                <a:gridCol w="2074862"/>
              </a:tblGrid>
              <a:tr h="182880">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en-US" altLang="zh-CN" sz="800" b="1" dirty="0">
                        <a:latin typeface="宋体" panose="02000500000000000000" pitchFamily="2" charset="-122"/>
                      </a:endParaRPr>
                    </a:p>
                  </a:txBody>
                  <a:tcPr marL="48254" marR="48254" marT="0" marB="0">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zh-CN" altLang="en-US" b="1" dirty="0">
                          <a:solidFill>
                            <a:schemeClr val="accent2"/>
                          </a:solidFill>
                          <a:latin typeface="宋体" panose="02000500000000000000" pitchFamily="2" charset="-122"/>
                          <a:cs typeface="宋体" panose="02000500000000000000" pitchFamily="2" charset="-122"/>
                        </a:rPr>
                        <a:t>进程</a:t>
                      </a:r>
                      <a:r>
                        <a:rPr lang="en-US" altLang="zh-CN" b="1" dirty="0">
                          <a:solidFill>
                            <a:schemeClr val="accent2"/>
                          </a:solidFill>
                          <a:latin typeface="宋体" panose="02000500000000000000" pitchFamily="2" charset="-122"/>
                          <a:cs typeface="宋体" panose="02000500000000000000" pitchFamily="2" charset="-122"/>
                        </a:rPr>
                        <a:t>b</a:t>
                      </a:r>
                      <a:r>
                        <a:rPr lang="zh-CN" altLang="en-US" b="1" dirty="0">
                          <a:solidFill>
                            <a:schemeClr val="accent2"/>
                          </a:solidFill>
                          <a:latin typeface="宋体" panose="02000500000000000000" pitchFamily="2" charset="-122"/>
                          <a:cs typeface="宋体" panose="02000500000000000000" pitchFamily="2" charset="-122"/>
                        </a:rPr>
                        <a:t>（</a:t>
                      </a:r>
                      <a:r>
                        <a:rPr lang="en-US" altLang="zh-CN" b="1" dirty="0">
                          <a:solidFill>
                            <a:schemeClr val="accent2"/>
                          </a:solidFill>
                          <a:latin typeface="宋体" panose="02000500000000000000" pitchFamily="2" charset="-122"/>
                          <a:cs typeface="宋体" panose="02000500000000000000" pitchFamily="2" charset="-122"/>
                        </a:rPr>
                        <a:t>PPT</a:t>
                      </a:r>
                      <a:r>
                        <a:rPr lang="zh-CN" altLang="en-US" b="1" dirty="0">
                          <a:solidFill>
                            <a:schemeClr val="accent2"/>
                          </a:solidFill>
                          <a:latin typeface="宋体" panose="02000500000000000000" pitchFamily="2" charset="-122"/>
                          <a:cs typeface="宋体" panose="02000500000000000000" pitchFamily="2" charset="-122"/>
                        </a:rPr>
                        <a:t>）</a:t>
                      </a:r>
                      <a:endParaRPr lang="zh-CN" altLang="en-US" b="1" dirty="0">
                        <a:solidFill>
                          <a:schemeClr val="accent2"/>
                        </a:solidFill>
                        <a:latin typeface="宋体" panose="02000500000000000000" pitchFamily="2" charset="-122"/>
                        <a:cs typeface="宋体" panose="02000500000000000000" pitchFamily="2" charset="-122"/>
                      </a:endParaRPr>
                    </a:p>
                  </a:txBody>
                  <a:tcPr marL="48254" marR="48254" marT="0" marB="0">
                    <a:lnL>
                      <a:noFill/>
                    </a:lnL>
                    <a:lnR>
                      <a:noFill/>
                    </a:lnR>
                    <a:lnT>
                      <a:noFill/>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latin typeface="宋体" panose="02000500000000000000" pitchFamily="2" charset="-122"/>
                        </a:rPr>
                        <a:t>V-1</a:t>
                      </a:r>
                      <a:endParaRPr lang="en-US" altLang="zh-CN"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b100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b10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b9</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1288">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endParaRPr lang="zh-CN" altLang="en-US"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42875">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endParaRPr lang="zh-CN" altLang="en-US"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b1</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r h="141287">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buNone/>
                      </a:pPr>
                      <a:r>
                        <a:rPr lang="en-US" altLang="zh-CN" sz="800" b="1" dirty="0">
                          <a:latin typeface="宋体" panose="02000500000000000000" pitchFamily="2" charset="-122"/>
                        </a:rPr>
                        <a:t>0</a:t>
                      </a:r>
                      <a:endParaRPr lang="en-US" altLang="zh-CN" sz="800" b="1" dirty="0">
                        <a:latin typeface="宋体" panose="02000500000000000000" pitchFamily="2" charset="-122"/>
                      </a:endParaRPr>
                    </a:p>
                  </a:txBody>
                  <a:tcPr marL="48254" marR="48254" marT="0" marB="0">
                    <a:lnL>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ctr" eaLnBrk="1" hangingPunct="1">
                        <a:spcBef>
                          <a:spcPct val="0"/>
                        </a:spcBef>
                        <a:buNone/>
                      </a:pPr>
                      <a:r>
                        <a:rPr lang="en-US" altLang="zh-CN" sz="800" b="1" dirty="0">
                          <a:latin typeface="宋体" panose="02000500000000000000" pitchFamily="2" charset="-122"/>
                        </a:rPr>
                        <a:t>b0</a:t>
                      </a:r>
                      <a:endParaRPr lang="en-US" altLang="zh-CN" sz="800" b="1" dirty="0">
                        <a:latin typeface="宋体" panose="02000500000000000000" pitchFamily="2" charset="-122"/>
                      </a:endParaRPr>
                    </a:p>
                  </a:txBody>
                  <a:tcPr marL="48254" marR="48254" marT="0" marB="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C2FFF0"/>
                    </a:solidFill>
                  </a:tcPr>
                </a:tc>
              </a:tr>
            </a:tbl>
          </a:graphicData>
        </a:graphic>
      </p:graphicFrame>
      <p:sp>
        <p:nvSpPr>
          <p:cNvPr id="51203" name="Rectangle 3"/>
          <p:cNvSpPr>
            <a:spLocks noGrp="1" noChangeArrowheads="1"/>
          </p:cNvSpPr>
          <p:nvPr/>
        </p:nvSpPr>
        <p:spPr>
          <a:xfrm>
            <a:off x="368300" y="1038225"/>
            <a:ext cx="11949113" cy="990600"/>
          </a:xfrm>
          <a:prstGeom prst="rect">
            <a:avLst/>
          </a:prstGeom>
          <a:noFill/>
          <a:ln w="9525">
            <a:noFill/>
          </a:ln>
        </p:spPr>
        <p:txBody>
          <a:bodyPr/>
          <a:lstStyle>
            <a:lvl1pPr marL="360045" indent="-360045" algn="l" rtl="0" eaLnBrk="0" fontAlgn="base" latinLnBrk="0" hangingPunct="0">
              <a:lnSpc>
                <a:spcPct val="150000"/>
              </a:lnSpc>
              <a:spcBef>
                <a:spcPts val="600"/>
              </a:spcBef>
              <a:spcAft>
                <a:spcPct val="0"/>
              </a:spcAft>
              <a:buChar char="•"/>
              <a:defRPr sz="2000" b="1">
                <a:solidFill>
                  <a:schemeClr val="tx1"/>
                </a:solidFill>
                <a:latin typeface="+mn-ea"/>
                <a:ea typeface="+mn-ea"/>
                <a:cs typeface="+mn-cs"/>
              </a:defRPr>
            </a:lvl1pPr>
            <a:lvl2pPr marL="720090" indent="-360045" algn="l" rtl="0" eaLnBrk="0" fontAlgn="base" latinLnBrk="0" hangingPunct="0">
              <a:lnSpc>
                <a:spcPct val="150000"/>
              </a:lnSpc>
              <a:spcBef>
                <a:spcPts val="600"/>
              </a:spcBef>
              <a:spcAft>
                <a:spcPct val="0"/>
              </a:spcAft>
              <a:buChar char="•"/>
              <a:defRPr sz="1800" b="1">
                <a:solidFill>
                  <a:schemeClr val="tx1"/>
                </a:solidFill>
                <a:latin typeface="+mn-ea"/>
                <a:ea typeface="+mn-ea"/>
              </a:defRPr>
            </a:lvl2pPr>
            <a:lvl3pPr marL="1080135" indent="-360045" algn="l" rtl="0" eaLnBrk="0" fontAlgn="base" latinLnBrk="0" hangingPunct="0">
              <a:lnSpc>
                <a:spcPct val="150000"/>
              </a:lnSpc>
              <a:spcBef>
                <a:spcPts val="600"/>
              </a:spcBef>
              <a:spcAft>
                <a:spcPct val="0"/>
              </a:spcAft>
              <a:buChar char="•"/>
              <a:defRPr sz="1400" b="1">
                <a:solidFill>
                  <a:schemeClr val="tx1"/>
                </a:solidFill>
                <a:latin typeface="+mn-ea"/>
                <a:ea typeface="+mn-ea"/>
              </a:defRPr>
            </a:lvl3pPr>
            <a:lvl4pPr marL="1371600" indent="0" algn="l" rtl="0" eaLnBrk="0" fontAlgn="base" hangingPunct="0">
              <a:lnSpc>
                <a:spcPct val="150000"/>
              </a:lnSpc>
              <a:spcBef>
                <a:spcPct val="20000"/>
              </a:spcBef>
              <a:spcAft>
                <a:spcPct val="0"/>
              </a:spcAft>
              <a:buNone/>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360680" marR="0" lvl="0" indent="-36068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0" cap="none" spc="0" normalizeH="0" baseline="0" noProof="0" smtClean="0">
                <a:ln>
                  <a:noFill/>
                </a:ln>
                <a:solidFill>
                  <a:schemeClr val="tx1"/>
                </a:solidFill>
                <a:effectLst/>
                <a:uLnTx/>
                <a:uFillTx/>
                <a:latin typeface="+mn-ea"/>
                <a:ea typeface="+mn-ea"/>
                <a:cs typeface="+mn-cs"/>
              </a:rPr>
              <a:t>操作系统以页（一般为</a:t>
            </a:r>
            <a:r>
              <a:rPr kumimoji="1" lang="en-US" altLang="zh-CN" sz="1600" b="1" i="0" u="none" strike="noStrike" kern="0" cap="none" spc="0" normalizeH="0" baseline="0" noProof="0" smtClean="0">
                <a:ln>
                  <a:noFill/>
                </a:ln>
                <a:solidFill>
                  <a:schemeClr val="tx1"/>
                </a:solidFill>
                <a:effectLst/>
                <a:uLnTx/>
                <a:uFillTx/>
                <a:latin typeface="+mn-ea"/>
                <a:ea typeface="+mn-ea"/>
                <a:cs typeface="+mn-cs"/>
              </a:rPr>
              <a:t>4KB</a:t>
            </a:r>
            <a:r>
              <a:rPr kumimoji="1" lang="zh-CN" altLang="en-US" sz="1600" b="1" i="0" u="none" strike="noStrike" kern="0" cap="none" spc="0" normalizeH="0" baseline="0" noProof="0" smtClean="0">
                <a:ln>
                  <a:noFill/>
                </a:ln>
                <a:solidFill>
                  <a:schemeClr val="tx1"/>
                </a:solidFill>
                <a:effectLst/>
                <a:uLnTx/>
                <a:uFillTx/>
                <a:latin typeface="+mn-ea"/>
                <a:ea typeface="+mn-ea"/>
                <a:cs typeface="+mn-cs"/>
              </a:rPr>
              <a:t>或以上）为单位对内存进行管理，为进程空间动态分配物理内存</a:t>
            </a:r>
            <a:endParaRPr kumimoji="1" lang="zh-CN" altLang="en-US" sz="1600" b="1" i="0" u="none" strike="noStrike" kern="0" cap="none" spc="0" normalizeH="0" baseline="0" noProof="0" smtClean="0">
              <a:ln>
                <a:noFill/>
              </a:ln>
              <a:solidFill>
                <a:schemeClr val="tx1"/>
              </a:solidFill>
              <a:effectLst/>
              <a:uLnTx/>
              <a:uFillTx/>
              <a:latin typeface="+mn-ea"/>
              <a:ea typeface="+mn-ea"/>
              <a:cs typeface="+mn-cs"/>
            </a:endParaRPr>
          </a:p>
          <a:p>
            <a:pPr marL="360680" marR="0" lvl="0" indent="-360680" algn="l" defTabSz="914400" rtl="0" eaLnBrk="1" fontAlgn="base" latinLnBrk="0" hangingPunct="1">
              <a:lnSpc>
                <a:spcPct val="150000"/>
              </a:lnSpc>
              <a:spcBef>
                <a:spcPts val="600"/>
              </a:spcBef>
              <a:spcAft>
                <a:spcPct val="0"/>
              </a:spcAft>
              <a:buClrTx/>
              <a:buSzTx/>
              <a:buFontTx/>
              <a:buChar char="•"/>
              <a:defRPr/>
            </a:pPr>
            <a:r>
              <a:rPr kumimoji="1" lang="zh-CN" altLang="en-US" sz="1600" b="1" i="0" u="none" strike="noStrike" kern="0" cap="none" spc="0" normalizeH="0" baseline="0" noProof="0" smtClean="0">
                <a:ln>
                  <a:noFill/>
                </a:ln>
                <a:solidFill>
                  <a:schemeClr val="tx1"/>
                </a:solidFill>
                <a:effectLst/>
                <a:uLnTx/>
                <a:uFillTx/>
                <a:latin typeface="+mn-ea"/>
                <a:ea typeface="+mn-ea"/>
                <a:cs typeface="+mn-cs"/>
              </a:rPr>
              <a:t>虚实地址分开，建立一种从虚地址空间映射到物理内存的机制：页表</a:t>
            </a:r>
            <a:endParaRPr kumimoji="1" lang="en-US" altLang="zh-CN" sz="1400" b="1" i="0" u="none" strike="noStrike" kern="0" cap="none" spc="0" normalizeH="0" baseline="0" noProof="0" smtClean="0">
              <a:ln>
                <a:noFill/>
              </a:ln>
              <a:solidFill>
                <a:schemeClr val="tx1"/>
              </a:solidFill>
              <a:effectLst/>
              <a:uLnTx/>
              <a:uFillTx/>
              <a:latin typeface="+mn-ea"/>
              <a:ea typeface="+mn-ea"/>
              <a:cs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18435" name="Rectangle 2"/>
          <p:cNvSpPr>
            <a:spLocks noGrp="1"/>
          </p:cNvSpPr>
          <p:nvPr>
            <p:ph type="title"/>
          </p:nvPr>
        </p:nvSpPr>
        <p:spPr>
          <a:xfrm>
            <a:off x="1096963" y="0"/>
            <a:ext cx="10361612" cy="969963"/>
          </a:xfrm>
        </p:spPr>
        <p:txBody>
          <a:bodyPr vert="horz" wrap="square" lIns="91440" tIns="45720" rIns="91440" bIns="45720" anchor="ctr" anchorCtr="0"/>
          <a:p>
            <a:pPr eaLnBrk="1" hangingPunct="1"/>
            <a:r>
              <a:rPr lang="zh-CN" altLang="en-US" dirty="0"/>
              <a:t>虚实地址转换与页表</a:t>
            </a:r>
            <a:endParaRPr lang="zh-CN" altLang="en-US" dirty="0"/>
          </a:p>
        </p:txBody>
      </p:sp>
      <p:sp>
        <p:nvSpPr>
          <p:cNvPr id="15364" name="Rectangle 21"/>
          <p:cNvSpPr>
            <a:spLocks noGrp="1" noChangeArrowheads="1"/>
          </p:cNvSpPr>
          <p:nvPr>
            <p:ph idx="1"/>
          </p:nvPr>
        </p:nvSpPr>
        <p:spPr>
          <a:xfrm>
            <a:off x="1350963" y="1279525"/>
            <a:ext cx="8999538" cy="136207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在页的范围内，虚实地址相等</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是页表的</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Cache</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p:txBody>
      </p:sp>
      <p:grpSp>
        <p:nvGrpSpPr>
          <p:cNvPr id="18437" name="Group 24"/>
          <p:cNvGrpSpPr/>
          <p:nvPr/>
        </p:nvGrpSpPr>
        <p:grpSpPr>
          <a:xfrm>
            <a:off x="1643063" y="3471863"/>
            <a:ext cx="7485062" cy="2995612"/>
            <a:chOff x="776" y="2187"/>
            <a:chExt cx="3537" cy="1887"/>
          </a:xfrm>
        </p:grpSpPr>
        <p:grpSp>
          <p:nvGrpSpPr>
            <p:cNvPr id="18438" name="Group 20"/>
            <p:cNvGrpSpPr/>
            <p:nvPr/>
          </p:nvGrpSpPr>
          <p:grpSpPr>
            <a:xfrm>
              <a:off x="776" y="2187"/>
              <a:ext cx="3537" cy="1887"/>
              <a:chOff x="618" y="1156"/>
              <a:chExt cx="3537" cy="1887"/>
            </a:xfrm>
          </p:grpSpPr>
          <p:grpSp>
            <p:nvGrpSpPr>
              <p:cNvPr id="18440" name="Group 9"/>
              <p:cNvGrpSpPr/>
              <p:nvPr/>
            </p:nvGrpSpPr>
            <p:grpSpPr>
              <a:xfrm>
                <a:off x="618" y="1169"/>
                <a:ext cx="1995" cy="242"/>
                <a:chOff x="618" y="1169"/>
                <a:chExt cx="1995" cy="242"/>
              </a:xfrm>
            </p:grpSpPr>
            <p:grpSp>
              <p:nvGrpSpPr>
                <p:cNvPr id="18451" name="Group 7"/>
                <p:cNvGrpSpPr/>
                <p:nvPr/>
              </p:nvGrpSpPr>
              <p:grpSpPr>
                <a:xfrm>
                  <a:off x="618" y="1177"/>
                  <a:ext cx="1995" cy="234"/>
                  <a:chOff x="618" y="1177"/>
                  <a:chExt cx="1995" cy="234"/>
                </a:xfrm>
              </p:grpSpPr>
              <p:sp>
                <p:nvSpPr>
                  <p:cNvPr id="18453" name="Rectangle 4"/>
                  <p:cNvSpPr/>
                  <p:nvPr/>
                </p:nvSpPr>
                <p:spPr>
                  <a:xfrm>
                    <a:off x="618" y="1177"/>
                    <a:ext cx="1995" cy="234"/>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宋体" panose="02000500000000000000" pitchFamily="2" charset="-122"/>
                    </a:endParaRPr>
                  </a:p>
                </p:txBody>
              </p:sp>
              <p:sp>
                <p:nvSpPr>
                  <p:cNvPr id="18454" name="Text Box 5"/>
                  <p:cNvSpPr txBox="1"/>
                  <p:nvPr/>
                </p:nvSpPr>
                <p:spPr>
                  <a:xfrm>
                    <a:off x="697" y="1210"/>
                    <a:ext cx="1201" cy="149"/>
                  </a:xfrm>
                  <a:prstGeom prst="rect">
                    <a:avLst/>
                  </a:prstGeom>
                  <a:noFill/>
                  <a:ln w="9525">
                    <a:noFill/>
                  </a:ln>
                </p:spPr>
                <p:txBody>
                  <a:bodyPr lIns="18000" tIns="10800" rIns="18000" bIns="10800">
                    <a:spAutoFit/>
                  </a:bodyPr>
                  <a:p>
                    <a:r>
                      <a:rPr lang="en-US" altLang="zh-CN" sz="1400" b="1" dirty="0">
                        <a:solidFill>
                          <a:schemeClr val="accent2"/>
                        </a:solidFill>
                        <a:latin typeface="宋体" panose="02000500000000000000" pitchFamily="2" charset="-122"/>
                      </a:rPr>
                      <a:t>Virtual Page Number </a:t>
                    </a:r>
                    <a:endParaRPr lang="en-US" altLang="zh-CN" sz="1400" b="1" dirty="0">
                      <a:solidFill>
                        <a:schemeClr val="accent2"/>
                      </a:solidFill>
                      <a:latin typeface="宋体" panose="02000500000000000000" pitchFamily="2" charset="-122"/>
                    </a:endParaRPr>
                  </a:p>
                </p:txBody>
              </p:sp>
              <p:sp>
                <p:nvSpPr>
                  <p:cNvPr id="18455" name="Text Box 6"/>
                  <p:cNvSpPr txBox="1"/>
                  <p:nvPr/>
                </p:nvSpPr>
                <p:spPr>
                  <a:xfrm>
                    <a:off x="1973" y="1212"/>
                    <a:ext cx="626" cy="149"/>
                  </a:xfrm>
                  <a:prstGeom prst="rect">
                    <a:avLst/>
                  </a:prstGeom>
                  <a:noFill/>
                  <a:ln w="9525">
                    <a:noFill/>
                  </a:ln>
                </p:spPr>
                <p:txBody>
                  <a:bodyPr lIns="18000" tIns="10800" rIns="18000" bIns="10800">
                    <a:spAutoFit/>
                  </a:bodyPr>
                  <a:p>
                    <a:r>
                      <a:rPr lang="en-US" altLang="zh-CN" sz="1400" b="1" dirty="0">
                        <a:solidFill>
                          <a:schemeClr val="accent2"/>
                        </a:solidFill>
                        <a:latin typeface="宋体" panose="02000500000000000000" pitchFamily="2" charset="-122"/>
                      </a:rPr>
                      <a:t>Page Offset</a:t>
                    </a:r>
                    <a:endParaRPr lang="en-US" altLang="zh-CN" sz="1400" b="1" dirty="0">
                      <a:solidFill>
                        <a:schemeClr val="accent2"/>
                      </a:solidFill>
                      <a:latin typeface="宋体" panose="02000500000000000000" pitchFamily="2" charset="-122"/>
                    </a:endParaRPr>
                  </a:p>
                </p:txBody>
              </p:sp>
            </p:grpSp>
            <p:sp>
              <p:nvSpPr>
                <p:cNvPr id="18452" name="Line 8"/>
                <p:cNvSpPr/>
                <p:nvPr/>
              </p:nvSpPr>
              <p:spPr>
                <a:xfrm>
                  <a:off x="1944" y="1169"/>
                  <a:ext cx="0" cy="242"/>
                </a:xfrm>
                <a:prstGeom prst="line">
                  <a:avLst/>
                </a:prstGeom>
                <a:ln w="9525" cap="flat" cmpd="sng">
                  <a:solidFill>
                    <a:schemeClr val="tx1"/>
                  </a:solidFill>
                  <a:prstDash val="solid"/>
                  <a:headEnd type="none" w="med" len="med"/>
                  <a:tailEnd type="none" w="med" len="med"/>
                </a:ln>
              </p:spPr>
            </p:sp>
          </p:grpSp>
          <p:grpSp>
            <p:nvGrpSpPr>
              <p:cNvPr id="18441" name="Group 12"/>
              <p:cNvGrpSpPr/>
              <p:nvPr/>
            </p:nvGrpSpPr>
            <p:grpSpPr>
              <a:xfrm>
                <a:off x="826" y="1745"/>
                <a:ext cx="885" cy="1244"/>
                <a:chOff x="826" y="1753"/>
                <a:chExt cx="885" cy="1244"/>
              </a:xfrm>
            </p:grpSpPr>
            <p:sp>
              <p:nvSpPr>
                <p:cNvPr id="18449" name="Rectangle 10"/>
                <p:cNvSpPr/>
                <p:nvPr/>
              </p:nvSpPr>
              <p:spPr>
                <a:xfrm>
                  <a:off x="826" y="1753"/>
                  <a:ext cx="885" cy="1244"/>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宋体" panose="02000500000000000000" pitchFamily="2" charset="-122"/>
                  </a:endParaRPr>
                </a:p>
              </p:txBody>
            </p:sp>
            <p:sp>
              <p:nvSpPr>
                <p:cNvPr id="18450" name="Text Box 11"/>
                <p:cNvSpPr txBox="1"/>
                <p:nvPr/>
              </p:nvSpPr>
              <p:spPr>
                <a:xfrm>
                  <a:off x="926" y="2228"/>
                  <a:ext cx="651" cy="149"/>
                </a:xfrm>
                <a:prstGeom prst="rect">
                  <a:avLst/>
                </a:prstGeom>
                <a:noFill/>
                <a:ln w="9525">
                  <a:noFill/>
                </a:ln>
              </p:spPr>
              <p:txBody>
                <a:bodyPr lIns="18000" tIns="10800" rIns="18000" bIns="10800">
                  <a:spAutoFit/>
                </a:bodyPr>
                <a:p>
                  <a:r>
                    <a:rPr lang="en-US" altLang="zh-CN" sz="1400" b="1" dirty="0">
                      <a:latin typeface="宋体" panose="02000500000000000000" pitchFamily="2" charset="-122"/>
                    </a:rPr>
                    <a:t>  Page Table</a:t>
                  </a:r>
                  <a:endParaRPr lang="en-US" altLang="zh-CN" sz="1400" b="1" dirty="0">
                    <a:latin typeface="宋体" panose="02000500000000000000" pitchFamily="2" charset="-122"/>
                  </a:endParaRPr>
                </a:p>
              </p:txBody>
            </p:sp>
          </p:grpSp>
          <p:sp>
            <p:nvSpPr>
              <p:cNvPr id="18442" name="Line 13"/>
              <p:cNvSpPr/>
              <p:nvPr/>
            </p:nvSpPr>
            <p:spPr>
              <a:xfrm>
                <a:off x="1269" y="1411"/>
                <a:ext cx="0" cy="325"/>
              </a:xfrm>
              <a:prstGeom prst="line">
                <a:avLst/>
              </a:prstGeom>
              <a:ln w="9525" cap="flat" cmpd="sng">
                <a:solidFill>
                  <a:schemeClr val="tx1"/>
                </a:solidFill>
                <a:prstDash val="solid"/>
                <a:headEnd type="none" w="med" len="med"/>
                <a:tailEnd type="triangle" w="med" len="med"/>
              </a:ln>
            </p:spPr>
          </p:sp>
          <p:sp>
            <p:nvSpPr>
              <p:cNvPr id="18443" name="Line 14"/>
              <p:cNvSpPr/>
              <p:nvPr/>
            </p:nvSpPr>
            <p:spPr>
              <a:xfrm>
                <a:off x="1703" y="2393"/>
                <a:ext cx="1285" cy="0"/>
              </a:xfrm>
              <a:prstGeom prst="line">
                <a:avLst/>
              </a:prstGeom>
              <a:ln w="9525" cap="flat" cmpd="sng">
                <a:solidFill>
                  <a:schemeClr val="tx1"/>
                </a:solidFill>
                <a:prstDash val="solid"/>
                <a:headEnd type="none" w="med" len="med"/>
                <a:tailEnd type="triangle" w="med" len="med"/>
              </a:ln>
            </p:spPr>
          </p:sp>
          <p:sp>
            <p:nvSpPr>
              <p:cNvPr id="18444" name="Line 15"/>
              <p:cNvSpPr/>
              <p:nvPr/>
            </p:nvSpPr>
            <p:spPr>
              <a:xfrm>
                <a:off x="2255" y="1411"/>
                <a:ext cx="0" cy="860"/>
              </a:xfrm>
              <a:prstGeom prst="line">
                <a:avLst/>
              </a:prstGeom>
              <a:ln w="9525" cap="flat" cmpd="sng">
                <a:solidFill>
                  <a:schemeClr val="tx1"/>
                </a:solidFill>
                <a:prstDash val="solid"/>
                <a:headEnd type="none" w="med" len="med"/>
                <a:tailEnd type="none" w="med" len="med"/>
              </a:ln>
            </p:spPr>
          </p:sp>
          <p:sp>
            <p:nvSpPr>
              <p:cNvPr id="18445" name="Line 16"/>
              <p:cNvSpPr/>
              <p:nvPr/>
            </p:nvSpPr>
            <p:spPr>
              <a:xfrm>
                <a:off x="2261" y="2271"/>
                <a:ext cx="726" cy="0"/>
              </a:xfrm>
              <a:prstGeom prst="line">
                <a:avLst/>
              </a:prstGeom>
              <a:ln w="9525" cap="flat" cmpd="sng">
                <a:solidFill>
                  <a:schemeClr val="tx1"/>
                </a:solidFill>
                <a:prstDash val="solid"/>
                <a:headEnd type="none" w="med" len="med"/>
                <a:tailEnd type="triangle" w="med" len="med"/>
              </a:ln>
            </p:spPr>
          </p:sp>
          <p:sp>
            <p:nvSpPr>
              <p:cNvPr id="18446" name="Rectangle 17"/>
              <p:cNvSpPr/>
              <p:nvPr/>
            </p:nvSpPr>
            <p:spPr>
              <a:xfrm>
                <a:off x="2995" y="1156"/>
                <a:ext cx="1160" cy="1887"/>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宋体" panose="02000500000000000000" pitchFamily="2" charset="-122"/>
                </a:endParaRPr>
              </a:p>
            </p:txBody>
          </p:sp>
          <p:sp>
            <p:nvSpPr>
              <p:cNvPr id="18447" name="Text Box 18"/>
              <p:cNvSpPr txBox="1"/>
              <p:nvPr/>
            </p:nvSpPr>
            <p:spPr>
              <a:xfrm>
                <a:off x="3172" y="1862"/>
                <a:ext cx="827" cy="192"/>
              </a:xfrm>
              <a:prstGeom prst="rect">
                <a:avLst/>
              </a:prstGeom>
              <a:noFill/>
              <a:ln w="9525">
                <a:noFill/>
              </a:ln>
            </p:spPr>
            <p:txBody>
              <a:bodyPr>
                <a:spAutoFit/>
              </a:bodyPr>
              <a:p>
                <a:r>
                  <a:rPr lang="en-US" altLang="zh-CN" sz="1400" b="1" dirty="0">
                    <a:latin typeface="宋体" panose="02000500000000000000" pitchFamily="2" charset="-122"/>
                  </a:rPr>
                  <a:t>Main Memory</a:t>
                </a:r>
                <a:endParaRPr lang="en-US" altLang="zh-CN" sz="1400" b="1" dirty="0">
                  <a:latin typeface="宋体" panose="02000500000000000000" pitchFamily="2" charset="-122"/>
                </a:endParaRPr>
              </a:p>
            </p:txBody>
          </p:sp>
          <p:sp>
            <p:nvSpPr>
              <p:cNvPr id="18448" name="Text Box 19"/>
              <p:cNvSpPr txBox="1"/>
              <p:nvPr/>
            </p:nvSpPr>
            <p:spPr>
              <a:xfrm>
                <a:off x="1909" y="2398"/>
                <a:ext cx="1086" cy="129"/>
              </a:xfrm>
              <a:prstGeom prst="rect">
                <a:avLst/>
              </a:prstGeom>
              <a:noFill/>
              <a:ln w="9525">
                <a:noFill/>
              </a:ln>
            </p:spPr>
            <p:txBody>
              <a:bodyPr lIns="18000" tIns="10800" rIns="18000" bIns="10800">
                <a:spAutoFit/>
              </a:bodyPr>
              <a:p>
                <a:r>
                  <a:rPr lang="en-US" altLang="zh-CN" b="1" dirty="0">
                    <a:solidFill>
                      <a:schemeClr val="accent2"/>
                    </a:solidFill>
                    <a:latin typeface="宋体" panose="02000500000000000000" pitchFamily="2" charset="-122"/>
                  </a:rPr>
                  <a:t>Physical Page Frame</a:t>
                </a:r>
                <a:endParaRPr lang="en-US" altLang="zh-CN" b="1" dirty="0">
                  <a:solidFill>
                    <a:schemeClr val="accent2"/>
                  </a:solidFill>
                  <a:latin typeface="宋体" panose="02000500000000000000" pitchFamily="2" charset="-122"/>
                </a:endParaRPr>
              </a:p>
            </p:txBody>
          </p:sp>
        </p:grpSp>
        <p:sp>
          <p:nvSpPr>
            <p:cNvPr id="18439" name="Text Box 23"/>
            <p:cNvSpPr txBox="1"/>
            <p:nvPr/>
          </p:nvSpPr>
          <p:spPr>
            <a:xfrm>
              <a:off x="1194" y="3017"/>
              <a:ext cx="451" cy="192"/>
            </a:xfrm>
            <a:prstGeom prst="rect">
              <a:avLst/>
            </a:prstGeom>
            <a:solidFill>
              <a:srgbClr val="FF0000"/>
            </a:solidFill>
            <a:ln w="9525">
              <a:noFill/>
            </a:ln>
          </p:spPr>
          <p:txBody>
            <a:bodyPr>
              <a:spAutoFit/>
            </a:bodyPr>
            <a:p>
              <a:r>
                <a:rPr lang="en-US" altLang="zh-CN" sz="1400" dirty="0">
                  <a:latin typeface="宋体" panose="02000500000000000000" pitchFamily="2" charset="-122"/>
                </a:rPr>
                <a:t>   </a:t>
              </a:r>
              <a:r>
                <a:rPr lang="en-US" altLang="zh-CN" sz="1400" dirty="0">
                  <a:solidFill>
                    <a:srgbClr val="FFFFCC"/>
                  </a:solidFill>
                  <a:latin typeface="宋体" panose="02000500000000000000" pitchFamily="2" charset="-122"/>
                </a:rPr>
                <a:t>TLB</a:t>
              </a:r>
              <a:endParaRPr lang="en-US" altLang="zh-CN" sz="1400" dirty="0">
                <a:solidFill>
                  <a:srgbClr val="FFFFCC"/>
                </a:solidFill>
                <a:latin typeface="宋体" panose="02000500000000000000" pitchFamily="2"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19459" name="Rectangle 2"/>
          <p:cNvSpPr>
            <a:spLocks noGrp="1"/>
          </p:cNvSpPr>
          <p:nvPr>
            <p:ph type="title"/>
          </p:nvPr>
        </p:nvSpPr>
        <p:spPr>
          <a:xfrm>
            <a:off x="914400" y="317500"/>
            <a:ext cx="10361613" cy="1011238"/>
          </a:xfrm>
        </p:spPr>
        <p:txBody>
          <a:bodyPr vert="horz" wrap="square" lIns="91440" tIns="45720" rIns="91440" bIns="45720" anchor="ctr" anchorCtr="0"/>
          <a:p>
            <a:pPr eaLnBrk="1" hangingPunct="1"/>
            <a:r>
              <a:rPr lang="zh-CN" altLang="en-US" dirty="0"/>
              <a:t>多级页表</a:t>
            </a:r>
            <a:endParaRPr lang="zh-CN" altLang="en-US" dirty="0"/>
          </a:p>
        </p:txBody>
      </p:sp>
      <p:sp>
        <p:nvSpPr>
          <p:cNvPr id="19460" name="Rectangle 4"/>
          <p:cNvSpPr/>
          <p:nvPr/>
        </p:nvSpPr>
        <p:spPr>
          <a:xfrm>
            <a:off x="1563688" y="1682750"/>
            <a:ext cx="8710612" cy="358775"/>
          </a:xfrm>
          <a:prstGeom prst="rect">
            <a:avLst/>
          </a:prstGeom>
          <a:noFill/>
          <a:ln w="19050" cap="flat" cmpd="sng">
            <a:solidFill>
              <a:schemeClr val="tx1"/>
            </a:solidFill>
            <a:prstDash val="solid"/>
            <a:miter/>
            <a:headEnd type="none" w="med" len="med"/>
            <a:tailEnd type="none" w="med" len="med"/>
          </a:ln>
        </p:spPr>
        <p:txBody>
          <a:bodyPr wrap="none" anchor="ctr" anchorCtr="0"/>
          <a:p>
            <a:endParaRPr lang="zh-CN" altLang="en-US" b="1" dirty="0">
              <a:latin typeface="宋体" panose="02000500000000000000" pitchFamily="2" charset="-122"/>
            </a:endParaRPr>
          </a:p>
        </p:txBody>
      </p:sp>
      <p:sp>
        <p:nvSpPr>
          <p:cNvPr id="19461" name="Text Box 5"/>
          <p:cNvSpPr txBox="1"/>
          <p:nvPr/>
        </p:nvSpPr>
        <p:spPr>
          <a:xfrm>
            <a:off x="1657350" y="1736725"/>
            <a:ext cx="2051050" cy="236855"/>
          </a:xfrm>
          <a:prstGeom prst="rect">
            <a:avLst/>
          </a:prstGeom>
          <a:noFill/>
          <a:ln w="9525">
            <a:noFill/>
          </a:ln>
        </p:spPr>
        <p:txBody>
          <a:bodyPr lIns="18000" tIns="10800" rIns="18000" bIns="10800">
            <a:spAutoFit/>
          </a:bodyPr>
          <a:p>
            <a:r>
              <a:rPr lang="en-US" altLang="zh-CN" sz="1400" b="1" dirty="0">
                <a:latin typeface="宋体" panose="02000500000000000000" pitchFamily="2" charset="-122"/>
              </a:rPr>
              <a:t>Segment Selector</a:t>
            </a:r>
            <a:endParaRPr lang="en-US" altLang="zh-CN" sz="1400" b="1" dirty="0">
              <a:latin typeface="宋体" panose="02000500000000000000" pitchFamily="2" charset="-122"/>
            </a:endParaRPr>
          </a:p>
        </p:txBody>
      </p:sp>
      <p:sp>
        <p:nvSpPr>
          <p:cNvPr id="19462" name="Text Box 6"/>
          <p:cNvSpPr txBox="1"/>
          <p:nvPr/>
        </p:nvSpPr>
        <p:spPr>
          <a:xfrm>
            <a:off x="4238625" y="1741488"/>
            <a:ext cx="1008063" cy="236855"/>
          </a:xfrm>
          <a:prstGeom prst="rect">
            <a:avLst/>
          </a:prstGeom>
          <a:noFill/>
          <a:ln w="9525">
            <a:noFill/>
          </a:ln>
        </p:spPr>
        <p:txBody>
          <a:bodyPr lIns="18000" tIns="10800" rIns="18000" bIns="10800">
            <a:spAutoFit/>
          </a:bodyPr>
          <a:p>
            <a:r>
              <a:rPr lang="en-US" altLang="zh-CN" sz="1400" b="1" dirty="0">
                <a:latin typeface="宋体" panose="02000500000000000000" pitchFamily="2" charset="-122"/>
              </a:rPr>
              <a:t>Level 1</a:t>
            </a:r>
            <a:endParaRPr lang="en-US" altLang="zh-CN" sz="1400" b="1" dirty="0">
              <a:latin typeface="宋体" panose="02000500000000000000" pitchFamily="2" charset="-122"/>
            </a:endParaRPr>
          </a:p>
        </p:txBody>
      </p:sp>
      <p:sp>
        <p:nvSpPr>
          <p:cNvPr id="19463" name="Text Box 7"/>
          <p:cNvSpPr txBox="1"/>
          <p:nvPr/>
        </p:nvSpPr>
        <p:spPr>
          <a:xfrm>
            <a:off x="5684838" y="1743075"/>
            <a:ext cx="1006475" cy="236855"/>
          </a:xfrm>
          <a:prstGeom prst="rect">
            <a:avLst/>
          </a:prstGeom>
          <a:noFill/>
          <a:ln w="9525">
            <a:noFill/>
          </a:ln>
        </p:spPr>
        <p:txBody>
          <a:bodyPr lIns="18000" tIns="10800" rIns="18000" bIns="10800">
            <a:spAutoFit/>
          </a:bodyPr>
          <a:p>
            <a:r>
              <a:rPr lang="en-US" altLang="zh-CN" sz="1400" b="1" dirty="0">
                <a:latin typeface="宋体" panose="02000500000000000000" pitchFamily="2" charset="-122"/>
              </a:rPr>
              <a:t>Level 2</a:t>
            </a:r>
            <a:endParaRPr lang="en-US" altLang="zh-CN" sz="1400" b="1" dirty="0">
              <a:latin typeface="宋体" panose="02000500000000000000" pitchFamily="2" charset="-122"/>
            </a:endParaRPr>
          </a:p>
        </p:txBody>
      </p:sp>
      <p:sp>
        <p:nvSpPr>
          <p:cNvPr id="19464" name="Text Box 8"/>
          <p:cNvSpPr txBox="1"/>
          <p:nvPr/>
        </p:nvSpPr>
        <p:spPr>
          <a:xfrm>
            <a:off x="7197725" y="1733550"/>
            <a:ext cx="1008063" cy="236855"/>
          </a:xfrm>
          <a:prstGeom prst="rect">
            <a:avLst/>
          </a:prstGeom>
          <a:noFill/>
          <a:ln w="9525">
            <a:noFill/>
          </a:ln>
        </p:spPr>
        <p:txBody>
          <a:bodyPr lIns="18000" tIns="10800" rIns="18000" bIns="10800">
            <a:spAutoFit/>
          </a:bodyPr>
          <a:p>
            <a:r>
              <a:rPr lang="en-US" altLang="zh-CN" sz="1400" b="1" dirty="0">
                <a:latin typeface="宋体" panose="02000500000000000000" pitchFamily="2" charset="-122"/>
              </a:rPr>
              <a:t>Level 3</a:t>
            </a:r>
            <a:endParaRPr lang="en-US" altLang="zh-CN" sz="1400" b="1" dirty="0">
              <a:latin typeface="宋体" panose="02000500000000000000" pitchFamily="2" charset="-122"/>
            </a:endParaRPr>
          </a:p>
        </p:txBody>
      </p:sp>
      <p:sp>
        <p:nvSpPr>
          <p:cNvPr id="19465" name="Text Box 9"/>
          <p:cNvSpPr txBox="1"/>
          <p:nvPr/>
        </p:nvSpPr>
        <p:spPr>
          <a:xfrm>
            <a:off x="8615363" y="1738313"/>
            <a:ext cx="1503362" cy="236855"/>
          </a:xfrm>
          <a:prstGeom prst="rect">
            <a:avLst/>
          </a:prstGeom>
          <a:noFill/>
          <a:ln w="9525">
            <a:noFill/>
          </a:ln>
        </p:spPr>
        <p:txBody>
          <a:bodyPr lIns="18000" tIns="10800" rIns="18000" bIns="10800">
            <a:spAutoFit/>
          </a:bodyPr>
          <a:p>
            <a:r>
              <a:rPr lang="en-US" altLang="zh-CN" sz="1400" b="1" dirty="0">
                <a:latin typeface="宋体" panose="02000500000000000000" pitchFamily="2" charset="-122"/>
              </a:rPr>
              <a:t>Page Offset</a:t>
            </a:r>
            <a:endParaRPr lang="en-US" altLang="zh-CN" sz="1400" b="1" dirty="0">
              <a:latin typeface="宋体" panose="02000500000000000000" pitchFamily="2" charset="-122"/>
            </a:endParaRPr>
          </a:p>
        </p:txBody>
      </p:sp>
      <p:sp>
        <p:nvSpPr>
          <p:cNvPr id="19466" name="Line 10"/>
          <p:cNvSpPr/>
          <p:nvPr/>
        </p:nvSpPr>
        <p:spPr>
          <a:xfrm>
            <a:off x="3740150" y="1681163"/>
            <a:ext cx="0" cy="360362"/>
          </a:xfrm>
          <a:prstGeom prst="line">
            <a:avLst/>
          </a:prstGeom>
          <a:ln w="9525" cap="flat" cmpd="sng">
            <a:solidFill>
              <a:schemeClr val="tx1"/>
            </a:solidFill>
            <a:prstDash val="solid"/>
            <a:headEnd type="none" w="med" len="med"/>
            <a:tailEnd type="none" w="med" len="med"/>
          </a:ln>
        </p:spPr>
      </p:sp>
      <p:sp>
        <p:nvSpPr>
          <p:cNvPr id="19467" name="Line 11"/>
          <p:cNvSpPr/>
          <p:nvPr/>
        </p:nvSpPr>
        <p:spPr>
          <a:xfrm>
            <a:off x="5226050" y="1684338"/>
            <a:ext cx="0" cy="360362"/>
          </a:xfrm>
          <a:prstGeom prst="line">
            <a:avLst/>
          </a:prstGeom>
          <a:ln w="9525" cap="flat" cmpd="sng">
            <a:solidFill>
              <a:schemeClr val="tx1"/>
            </a:solidFill>
            <a:prstDash val="solid"/>
            <a:headEnd type="none" w="med" len="med"/>
            <a:tailEnd type="none" w="med" len="med"/>
          </a:ln>
        </p:spPr>
      </p:sp>
      <p:sp>
        <p:nvSpPr>
          <p:cNvPr id="19468" name="Line 12"/>
          <p:cNvSpPr/>
          <p:nvPr/>
        </p:nvSpPr>
        <p:spPr>
          <a:xfrm>
            <a:off x="6719888" y="1663700"/>
            <a:ext cx="0" cy="360363"/>
          </a:xfrm>
          <a:prstGeom prst="line">
            <a:avLst/>
          </a:prstGeom>
          <a:ln w="9525" cap="flat" cmpd="sng">
            <a:solidFill>
              <a:schemeClr val="tx1"/>
            </a:solidFill>
            <a:prstDash val="solid"/>
            <a:headEnd type="none" w="med" len="med"/>
            <a:tailEnd type="none" w="med" len="med"/>
          </a:ln>
        </p:spPr>
      </p:sp>
      <p:sp>
        <p:nvSpPr>
          <p:cNvPr id="19469" name="Line 13"/>
          <p:cNvSpPr/>
          <p:nvPr/>
        </p:nvSpPr>
        <p:spPr>
          <a:xfrm>
            <a:off x="8294688" y="1692275"/>
            <a:ext cx="0" cy="360363"/>
          </a:xfrm>
          <a:prstGeom prst="line">
            <a:avLst/>
          </a:prstGeom>
          <a:ln w="9525" cap="flat" cmpd="sng">
            <a:solidFill>
              <a:schemeClr val="tx1"/>
            </a:solidFill>
            <a:prstDash val="solid"/>
            <a:headEnd type="none" w="med" len="med"/>
            <a:tailEnd type="none" w="med" len="med"/>
          </a:ln>
        </p:spPr>
      </p:sp>
      <p:graphicFrame>
        <p:nvGraphicFramePr>
          <p:cNvPr id="502950" name="Group 166"/>
          <p:cNvGraphicFramePr>
            <a:graphicFrameLocks noGrp="1"/>
          </p:cNvGraphicFramePr>
          <p:nvPr>
            <p:ph idx="1"/>
          </p:nvPr>
        </p:nvGraphicFramePr>
        <p:xfrm>
          <a:off x="5391150" y="2425700"/>
          <a:ext cx="1367189" cy="2041525"/>
        </p:xfrm>
        <a:graphic>
          <a:graphicData uri="http://schemas.openxmlformats.org/drawingml/2006/table">
            <a:tbl>
              <a:tblPr/>
              <a:tblGrid>
                <a:gridCol w="1367189"/>
              </a:tblGrid>
              <a:tr h="27146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L2 page table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619125">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3495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PT entry</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92175">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19481" name="Group 67"/>
          <p:cNvGrpSpPr/>
          <p:nvPr/>
        </p:nvGrpSpPr>
        <p:grpSpPr>
          <a:xfrm>
            <a:off x="4714875" y="3282950"/>
            <a:ext cx="666750" cy="307975"/>
            <a:chOff x="1972" y="2348"/>
            <a:chExt cx="315" cy="194"/>
          </a:xfrm>
        </p:grpSpPr>
        <p:grpSp>
          <p:nvGrpSpPr>
            <p:cNvPr id="19535" name="Group 63"/>
            <p:cNvGrpSpPr/>
            <p:nvPr/>
          </p:nvGrpSpPr>
          <p:grpSpPr>
            <a:xfrm>
              <a:off x="1972" y="2348"/>
              <a:ext cx="158" cy="194"/>
              <a:chOff x="785" y="2705"/>
              <a:chExt cx="158" cy="194"/>
            </a:xfrm>
          </p:grpSpPr>
          <p:sp>
            <p:nvSpPr>
              <p:cNvPr id="19537" name="Oval 61"/>
              <p:cNvSpPr/>
              <p:nvPr/>
            </p:nvSpPr>
            <p:spPr>
              <a:xfrm>
                <a:off x="785" y="2730"/>
                <a:ext cx="158" cy="1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b="1" dirty="0">
                  <a:latin typeface="宋体" panose="02000500000000000000" pitchFamily="2" charset="-122"/>
                </a:endParaRPr>
              </a:p>
            </p:txBody>
          </p:sp>
          <p:sp>
            <p:nvSpPr>
              <p:cNvPr id="19538" name="Text Box 62"/>
              <p:cNvSpPr txBox="1"/>
              <p:nvPr/>
            </p:nvSpPr>
            <p:spPr>
              <a:xfrm>
                <a:off x="818" y="2705"/>
                <a:ext cx="92" cy="194"/>
              </a:xfrm>
              <a:prstGeom prst="rect">
                <a:avLst/>
              </a:prstGeom>
              <a:noFill/>
              <a:ln w="9525">
                <a:noFill/>
              </a:ln>
            </p:spPr>
            <p:txBody>
              <a:bodyPr lIns="0" tIns="0" rIns="0" bIns="0">
                <a:spAutoFit/>
              </a:bodyPr>
              <a:p>
                <a:r>
                  <a:rPr lang="en-US" altLang="zh-CN" sz="2000" b="1" dirty="0">
                    <a:latin typeface="宋体" panose="02000500000000000000" pitchFamily="2" charset="-122"/>
                  </a:rPr>
                  <a:t>+</a:t>
                </a:r>
                <a:endParaRPr lang="en-US" altLang="zh-CN" sz="2000" b="1" dirty="0">
                  <a:latin typeface="宋体" panose="02000500000000000000" pitchFamily="2" charset="-122"/>
                </a:endParaRPr>
              </a:p>
            </p:txBody>
          </p:sp>
        </p:grpSp>
        <p:sp>
          <p:nvSpPr>
            <p:cNvPr id="19536" name="Line 64"/>
            <p:cNvSpPr/>
            <p:nvPr/>
          </p:nvSpPr>
          <p:spPr>
            <a:xfrm>
              <a:off x="2129" y="2447"/>
              <a:ext cx="158" cy="0"/>
            </a:xfrm>
            <a:prstGeom prst="line">
              <a:avLst/>
            </a:prstGeom>
            <a:ln w="9525" cap="flat" cmpd="sng">
              <a:solidFill>
                <a:schemeClr val="tx1"/>
              </a:solidFill>
              <a:prstDash val="solid"/>
              <a:headEnd type="none" w="med" len="med"/>
              <a:tailEnd type="triangle" w="med" len="med"/>
            </a:ln>
          </p:spPr>
        </p:sp>
      </p:grpSp>
      <p:sp>
        <p:nvSpPr>
          <p:cNvPr id="19482" name="Line 66"/>
          <p:cNvSpPr/>
          <p:nvPr/>
        </p:nvSpPr>
        <p:spPr>
          <a:xfrm>
            <a:off x="4886325" y="2438400"/>
            <a:ext cx="0" cy="862013"/>
          </a:xfrm>
          <a:prstGeom prst="line">
            <a:avLst/>
          </a:prstGeom>
          <a:ln w="9525" cap="flat" cmpd="sng">
            <a:solidFill>
              <a:schemeClr val="tx1"/>
            </a:solidFill>
            <a:prstDash val="solid"/>
            <a:headEnd type="none" w="med" len="med"/>
            <a:tailEnd type="triangle" w="med" len="med"/>
          </a:ln>
        </p:spPr>
      </p:sp>
      <p:graphicFrame>
        <p:nvGraphicFramePr>
          <p:cNvPr id="502943" name="Group 159"/>
          <p:cNvGraphicFramePr>
            <a:graphicFrameLocks noGrp="1"/>
          </p:cNvGraphicFramePr>
          <p:nvPr/>
        </p:nvGraphicFramePr>
        <p:xfrm>
          <a:off x="7859713" y="2503488"/>
          <a:ext cx="1368425" cy="1873250"/>
        </p:xfrm>
        <a:graphic>
          <a:graphicData uri="http://schemas.openxmlformats.org/drawingml/2006/table">
            <a:tbl>
              <a:tblPr/>
              <a:tblGrid>
                <a:gridCol w="1367189"/>
              </a:tblGrid>
              <a:tr h="23495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L3 page table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PT entry</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00100">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19494" name="Group 82"/>
          <p:cNvGrpSpPr/>
          <p:nvPr/>
        </p:nvGrpSpPr>
        <p:grpSpPr>
          <a:xfrm>
            <a:off x="7185025" y="3276600"/>
            <a:ext cx="666750" cy="307975"/>
            <a:chOff x="1972" y="2348"/>
            <a:chExt cx="315" cy="194"/>
          </a:xfrm>
        </p:grpSpPr>
        <p:grpSp>
          <p:nvGrpSpPr>
            <p:cNvPr id="19531" name="Group 83"/>
            <p:cNvGrpSpPr/>
            <p:nvPr/>
          </p:nvGrpSpPr>
          <p:grpSpPr>
            <a:xfrm>
              <a:off x="1972" y="2348"/>
              <a:ext cx="158" cy="194"/>
              <a:chOff x="785" y="2705"/>
              <a:chExt cx="158" cy="194"/>
            </a:xfrm>
          </p:grpSpPr>
          <p:sp>
            <p:nvSpPr>
              <p:cNvPr id="19533" name="Oval 84"/>
              <p:cNvSpPr/>
              <p:nvPr/>
            </p:nvSpPr>
            <p:spPr>
              <a:xfrm>
                <a:off x="785" y="2730"/>
                <a:ext cx="158" cy="1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b="1" dirty="0">
                  <a:latin typeface="宋体" panose="02000500000000000000" pitchFamily="2" charset="-122"/>
                </a:endParaRPr>
              </a:p>
            </p:txBody>
          </p:sp>
          <p:sp>
            <p:nvSpPr>
              <p:cNvPr id="19534" name="Text Box 85"/>
              <p:cNvSpPr txBox="1"/>
              <p:nvPr/>
            </p:nvSpPr>
            <p:spPr>
              <a:xfrm>
                <a:off x="818" y="2705"/>
                <a:ext cx="92" cy="194"/>
              </a:xfrm>
              <a:prstGeom prst="rect">
                <a:avLst/>
              </a:prstGeom>
              <a:noFill/>
              <a:ln w="9525">
                <a:noFill/>
              </a:ln>
            </p:spPr>
            <p:txBody>
              <a:bodyPr lIns="0" tIns="0" rIns="0" bIns="0">
                <a:spAutoFit/>
              </a:bodyPr>
              <a:p>
                <a:r>
                  <a:rPr lang="en-US" altLang="zh-CN" sz="2000" b="1" dirty="0">
                    <a:latin typeface="宋体" panose="02000500000000000000" pitchFamily="2" charset="-122"/>
                  </a:rPr>
                  <a:t>+</a:t>
                </a:r>
                <a:endParaRPr lang="en-US" altLang="zh-CN" sz="2000" b="1" dirty="0">
                  <a:latin typeface="宋体" panose="02000500000000000000" pitchFamily="2" charset="-122"/>
                </a:endParaRPr>
              </a:p>
            </p:txBody>
          </p:sp>
        </p:grpSp>
        <p:sp>
          <p:nvSpPr>
            <p:cNvPr id="19532" name="Line 86"/>
            <p:cNvSpPr/>
            <p:nvPr/>
          </p:nvSpPr>
          <p:spPr>
            <a:xfrm>
              <a:off x="2129" y="2447"/>
              <a:ext cx="158" cy="0"/>
            </a:xfrm>
            <a:prstGeom prst="line">
              <a:avLst/>
            </a:prstGeom>
            <a:ln w="9525" cap="flat" cmpd="sng">
              <a:solidFill>
                <a:schemeClr val="tx1"/>
              </a:solidFill>
              <a:prstDash val="solid"/>
              <a:headEnd type="none" w="med" len="med"/>
              <a:tailEnd type="triangle" w="med" len="med"/>
            </a:ln>
          </p:spPr>
        </p:sp>
      </p:grpSp>
      <p:sp>
        <p:nvSpPr>
          <p:cNvPr id="19495" name="Line 87"/>
          <p:cNvSpPr/>
          <p:nvPr/>
        </p:nvSpPr>
        <p:spPr>
          <a:xfrm>
            <a:off x="7348538" y="2044700"/>
            <a:ext cx="0" cy="1257300"/>
          </a:xfrm>
          <a:prstGeom prst="line">
            <a:avLst/>
          </a:prstGeom>
          <a:ln w="9525" cap="flat" cmpd="sng">
            <a:solidFill>
              <a:schemeClr val="tx1"/>
            </a:solidFill>
            <a:prstDash val="solid"/>
            <a:headEnd type="none" w="med" len="med"/>
            <a:tailEnd type="triangle" w="med" len="med"/>
          </a:ln>
        </p:spPr>
      </p:sp>
      <p:graphicFrame>
        <p:nvGraphicFramePr>
          <p:cNvPr id="502929" name="Group 145"/>
          <p:cNvGraphicFramePr>
            <a:graphicFrameLocks noGrp="1"/>
          </p:cNvGraphicFramePr>
          <p:nvPr/>
        </p:nvGraphicFramePr>
        <p:xfrm>
          <a:off x="2921000" y="2516188"/>
          <a:ext cx="1350258" cy="1873250"/>
        </p:xfrm>
        <a:graphic>
          <a:graphicData uri="http://schemas.openxmlformats.org/drawingml/2006/table">
            <a:tbl>
              <a:tblPr/>
              <a:tblGrid>
                <a:gridCol w="1350258"/>
              </a:tblGrid>
              <a:tr h="23495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L1 page table</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555625">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PT entry</a:t>
                      </a:r>
                      <a:endParaRPr kumimoji="1" lang="en-US" altLang="zh-CN" sz="10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00100">
                <a:tc>
                  <a:txBody>
                    <a:bodyPr/>
                    <a:lstStyle/>
                    <a:p>
                      <a:pPr marL="0" marR="0" lvl="0" indent="0" algn="l" defTabSz="914400" rtl="0" eaLnBrk="1" fontAlgn="base" latinLnBrk="0" hangingPunct="1">
                        <a:lnSpc>
                          <a:spcPct val="110000"/>
                        </a:lnSpc>
                        <a:spcBef>
                          <a:spcPct val="10000"/>
                        </a:spcBef>
                        <a:spcAft>
                          <a:spcPct val="0"/>
                        </a:spcAft>
                        <a:buClrTx/>
                        <a:buSzTx/>
                        <a:buFontTx/>
                        <a:buNone/>
                      </a:pPr>
                      <a:endParaRPr kumimoji="1" lang="zh-CN"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19507" name="Group 102"/>
          <p:cNvGrpSpPr/>
          <p:nvPr/>
        </p:nvGrpSpPr>
        <p:grpSpPr>
          <a:xfrm>
            <a:off x="2244725" y="3289300"/>
            <a:ext cx="666750" cy="307975"/>
            <a:chOff x="1972" y="2348"/>
            <a:chExt cx="315" cy="194"/>
          </a:xfrm>
        </p:grpSpPr>
        <p:grpSp>
          <p:nvGrpSpPr>
            <p:cNvPr id="19527" name="Group 103"/>
            <p:cNvGrpSpPr/>
            <p:nvPr/>
          </p:nvGrpSpPr>
          <p:grpSpPr>
            <a:xfrm>
              <a:off x="1972" y="2348"/>
              <a:ext cx="158" cy="194"/>
              <a:chOff x="785" y="2705"/>
              <a:chExt cx="158" cy="194"/>
            </a:xfrm>
          </p:grpSpPr>
          <p:sp>
            <p:nvSpPr>
              <p:cNvPr id="19529" name="Oval 104"/>
              <p:cNvSpPr/>
              <p:nvPr/>
            </p:nvSpPr>
            <p:spPr>
              <a:xfrm>
                <a:off x="785" y="2730"/>
                <a:ext cx="158" cy="1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p>
                <a:endParaRPr lang="zh-CN" altLang="en-US" b="1" dirty="0">
                  <a:latin typeface="宋体" panose="02000500000000000000" pitchFamily="2" charset="-122"/>
                </a:endParaRPr>
              </a:p>
            </p:txBody>
          </p:sp>
          <p:sp>
            <p:nvSpPr>
              <p:cNvPr id="19530" name="Text Box 105"/>
              <p:cNvSpPr txBox="1"/>
              <p:nvPr/>
            </p:nvSpPr>
            <p:spPr>
              <a:xfrm>
                <a:off x="818" y="2705"/>
                <a:ext cx="92" cy="194"/>
              </a:xfrm>
              <a:prstGeom prst="rect">
                <a:avLst/>
              </a:prstGeom>
              <a:noFill/>
              <a:ln w="9525">
                <a:noFill/>
              </a:ln>
            </p:spPr>
            <p:txBody>
              <a:bodyPr lIns="0" tIns="0" rIns="0" bIns="0">
                <a:spAutoFit/>
              </a:bodyPr>
              <a:p>
                <a:r>
                  <a:rPr lang="en-US" altLang="zh-CN" sz="2000" b="1" dirty="0">
                    <a:latin typeface="宋体" panose="02000500000000000000" pitchFamily="2" charset="-122"/>
                  </a:rPr>
                  <a:t>+</a:t>
                </a:r>
                <a:endParaRPr lang="en-US" altLang="zh-CN" sz="2000" b="1" dirty="0">
                  <a:latin typeface="宋体" panose="02000500000000000000" pitchFamily="2" charset="-122"/>
                </a:endParaRPr>
              </a:p>
            </p:txBody>
          </p:sp>
        </p:grpSp>
        <p:sp>
          <p:nvSpPr>
            <p:cNvPr id="19528" name="Line 106"/>
            <p:cNvSpPr/>
            <p:nvPr/>
          </p:nvSpPr>
          <p:spPr>
            <a:xfrm>
              <a:off x="2129" y="2447"/>
              <a:ext cx="158" cy="0"/>
            </a:xfrm>
            <a:prstGeom prst="line">
              <a:avLst/>
            </a:prstGeom>
            <a:ln w="9525" cap="flat" cmpd="sng">
              <a:solidFill>
                <a:schemeClr val="tx1"/>
              </a:solidFill>
              <a:prstDash val="solid"/>
              <a:headEnd type="none" w="med" len="med"/>
              <a:tailEnd type="triangle" w="med" len="med"/>
            </a:ln>
          </p:spPr>
        </p:sp>
      </p:grpSp>
      <p:sp>
        <p:nvSpPr>
          <p:cNvPr id="19508" name="Line 107"/>
          <p:cNvSpPr/>
          <p:nvPr/>
        </p:nvSpPr>
        <p:spPr>
          <a:xfrm>
            <a:off x="2419350" y="2455863"/>
            <a:ext cx="0" cy="876300"/>
          </a:xfrm>
          <a:prstGeom prst="line">
            <a:avLst/>
          </a:prstGeom>
          <a:ln w="9525" cap="flat" cmpd="sng">
            <a:solidFill>
              <a:schemeClr val="tx1"/>
            </a:solidFill>
            <a:prstDash val="solid"/>
            <a:headEnd type="none" w="med" len="med"/>
            <a:tailEnd type="triangle" w="med" len="med"/>
          </a:ln>
        </p:spPr>
      </p:sp>
      <p:sp>
        <p:nvSpPr>
          <p:cNvPr id="19509" name="Line 108"/>
          <p:cNvSpPr/>
          <p:nvPr/>
        </p:nvSpPr>
        <p:spPr>
          <a:xfrm>
            <a:off x="4286250" y="3449638"/>
            <a:ext cx="441325" cy="0"/>
          </a:xfrm>
          <a:prstGeom prst="line">
            <a:avLst/>
          </a:prstGeom>
          <a:ln w="9525" cap="flat" cmpd="sng">
            <a:solidFill>
              <a:schemeClr val="tx1"/>
            </a:solidFill>
            <a:prstDash val="solid"/>
            <a:headEnd type="none" w="med" len="med"/>
            <a:tailEnd type="triangle" w="med" len="med"/>
          </a:ln>
        </p:spPr>
      </p:sp>
      <p:sp>
        <p:nvSpPr>
          <p:cNvPr id="19510" name="Line 109"/>
          <p:cNvSpPr/>
          <p:nvPr/>
        </p:nvSpPr>
        <p:spPr>
          <a:xfrm>
            <a:off x="6746875" y="3440113"/>
            <a:ext cx="442913" cy="0"/>
          </a:xfrm>
          <a:prstGeom prst="line">
            <a:avLst/>
          </a:prstGeom>
          <a:ln w="9525" cap="flat" cmpd="sng">
            <a:solidFill>
              <a:schemeClr val="tx1"/>
            </a:solidFill>
            <a:prstDash val="solid"/>
            <a:headEnd type="none" w="med" len="med"/>
            <a:tailEnd type="triangle" w="med" len="med"/>
          </a:ln>
        </p:spPr>
      </p:sp>
      <p:sp>
        <p:nvSpPr>
          <p:cNvPr id="19511" name="Line 110"/>
          <p:cNvSpPr/>
          <p:nvPr/>
        </p:nvSpPr>
        <p:spPr>
          <a:xfrm flipV="1">
            <a:off x="9228138" y="3416300"/>
            <a:ext cx="1573212" cy="1588"/>
          </a:xfrm>
          <a:prstGeom prst="line">
            <a:avLst/>
          </a:prstGeom>
          <a:ln w="9525" cap="flat" cmpd="sng">
            <a:solidFill>
              <a:schemeClr val="tx1"/>
            </a:solidFill>
            <a:prstDash val="solid"/>
            <a:headEnd type="none" w="med" len="med"/>
            <a:tailEnd type="triangle" w="med" len="med"/>
          </a:ln>
        </p:spPr>
      </p:sp>
      <p:sp>
        <p:nvSpPr>
          <p:cNvPr id="19512" name="Line 111"/>
          <p:cNvSpPr/>
          <p:nvPr/>
        </p:nvSpPr>
        <p:spPr>
          <a:xfrm>
            <a:off x="9831388" y="3240088"/>
            <a:ext cx="954087" cy="0"/>
          </a:xfrm>
          <a:prstGeom prst="line">
            <a:avLst/>
          </a:prstGeom>
          <a:ln w="9525" cap="flat" cmpd="sng">
            <a:solidFill>
              <a:schemeClr val="tx1"/>
            </a:solidFill>
            <a:prstDash val="solid"/>
            <a:headEnd type="none" w="med" len="med"/>
            <a:tailEnd type="triangle" w="med" len="med"/>
          </a:ln>
        </p:spPr>
      </p:sp>
      <p:sp>
        <p:nvSpPr>
          <p:cNvPr id="19513" name="Line 112"/>
          <p:cNvSpPr/>
          <p:nvPr/>
        </p:nvSpPr>
        <p:spPr>
          <a:xfrm>
            <a:off x="9818688" y="2041525"/>
            <a:ext cx="0" cy="1179513"/>
          </a:xfrm>
          <a:prstGeom prst="line">
            <a:avLst/>
          </a:prstGeom>
          <a:ln w="9525" cap="flat" cmpd="sng">
            <a:solidFill>
              <a:schemeClr val="tx1"/>
            </a:solidFill>
            <a:prstDash val="solid"/>
            <a:headEnd type="none" w="med" len="med"/>
            <a:tailEnd type="none" w="med" len="med"/>
          </a:ln>
        </p:spPr>
      </p:sp>
      <p:sp>
        <p:nvSpPr>
          <p:cNvPr id="19514" name="Line 113"/>
          <p:cNvSpPr/>
          <p:nvPr/>
        </p:nvSpPr>
        <p:spPr>
          <a:xfrm>
            <a:off x="4886325" y="2451100"/>
            <a:ext cx="1008063" cy="0"/>
          </a:xfrm>
          <a:prstGeom prst="line">
            <a:avLst/>
          </a:prstGeom>
          <a:ln w="9525" cap="flat" cmpd="sng">
            <a:solidFill>
              <a:schemeClr val="tx1"/>
            </a:solidFill>
            <a:prstDash val="solid"/>
            <a:headEnd type="none" w="med" len="med"/>
            <a:tailEnd type="none" w="med" len="med"/>
          </a:ln>
        </p:spPr>
      </p:sp>
      <p:sp>
        <p:nvSpPr>
          <p:cNvPr id="19515" name="Line 114"/>
          <p:cNvSpPr/>
          <p:nvPr/>
        </p:nvSpPr>
        <p:spPr>
          <a:xfrm>
            <a:off x="5895975" y="2041525"/>
            <a:ext cx="0" cy="396875"/>
          </a:xfrm>
          <a:prstGeom prst="line">
            <a:avLst/>
          </a:prstGeom>
          <a:ln w="9525" cap="flat" cmpd="sng">
            <a:solidFill>
              <a:schemeClr val="tx1"/>
            </a:solidFill>
            <a:prstDash val="solid"/>
            <a:headEnd type="none" w="med" len="med"/>
            <a:tailEnd type="none" w="med" len="med"/>
          </a:ln>
        </p:spPr>
      </p:sp>
      <p:sp>
        <p:nvSpPr>
          <p:cNvPr id="19516" name="Line 115"/>
          <p:cNvSpPr/>
          <p:nvPr/>
        </p:nvSpPr>
        <p:spPr>
          <a:xfrm>
            <a:off x="4364038" y="2044700"/>
            <a:ext cx="0" cy="396875"/>
          </a:xfrm>
          <a:prstGeom prst="line">
            <a:avLst/>
          </a:prstGeom>
          <a:ln w="9525" cap="flat" cmpd="sng">
            <a:solidFill>
              <a:schemeClr val="tx1"/>
            </a:solidFill>
            <a:prstDash val="solid"/>
            <a:headEnd type="none" w="med" len="med"/>
            <a:tailEnd type="none" w="med" len="med"/>
          </a:ln>
        </p:spPr>
      </p:sp>
      <p:sp>
        <p:nvSpPr>
          <p:cNvPr id="19517" name="Line 116"/>
          <p:cNvSpPr/>
          <p:nvPr/>
        </p:nvSpPr>
        <p:spPr>
          <a:xfrm>
            <a:off x="2435225" y="2454275"/>
            <a:ext cx="1927225" cy="0"/>
          </a:xfrm>
          <a:prstGeom prst="line">
            <a:avLst/>
          </a:prstGeom>
          <a:ln w="9525" cap="flat" cmpd="sng">
            <a:solidFill>
              <a:schemeClr val="tx1"/>
            </a:solidFill>
            <a:prstDash val="solid"/>
            <a:headEnd type="none" w="med" len="med"/>
            <a:tailEnd type="none" w="med" len="med"/>
          </a:ln>
        </p:spPr>
      </p:sp>
      <p:grpSp>
        <p:nvGrpSpPr>
          <p:cNvPr id="19518" name="Group 119"/>
          <p:cNvGrpSpPr/>
          <p:nvPr/>
        </p:nvGrpSpPr>
        <p:grpSpPr>
          <a:xfrm>
            <a:off x="2162175" y="4565650"/>
            <a:ext cx="1273175" cy="422275"/>
            <a:chOff x="326" y="3239"/>
            <a:chExt cx="601" cy="266"/>
          </a:xfrm>
        </p:grpSpPr>
        <p:sp>
          <p:nvSpPr>
            <p:cNvPr id="19525" name="Rectangle 117"/>
            <p:cNvSpPr/>
            <p:nvPr/>
          </p:nvSpPr>
          <p:spPr>
            <a:xfrm>
              <a:off x="326" y="3239"/>
              <a:ext cx="601" cy="266"/>
            </a:xfrm>
            <a:prstGeom prst="rect">
              <a:avLst/>
            </a:prstGeom>
            <a:noFill/>
            <a:ln w="9525" cap="flat" cmpd="sng">
              <a:solidFill>
                <a:schemeClr val="tx1"/>
              </a:solidFill>
              <a:prstDash val="solid"/>
              <a:miter/>
              <a:headEnd type="none" w="med" len="med"/>
              <a:tailEnd type="none" w="med" len="med"/>
            </a:ln>
          </p:spPr>
          <p:txBody>
            <a:bodyPr wrap="none" anchor="ctr" anchorCtr="0"/>
            <a:p>
              <a:endParaRPr lang="zh-CN" altLang="en-US" b="1" dirty="0">
                <a:latin typeface="宋体" panose="02000500000000000000" pitchFamily="2" charset="-122"/>
              </a:endParaRPr>
            </a:p>
          </p:txBody>
        </p:sp>
        <p:sp>
          <p:nvSpPr>
            <p:cNvPr id="19526" name="Text Box 118"/>
            <p:cNvSpPr txBox="1"/>
            <p:nvPr/>
          </p:nvSpPr>
          <p:spPr>
            <a:xfrm>
              <a:off x="367" y="3248"/>
              <a:ext cx="516" cy="246"/>
            </a:xfrm>
            <a:prstGeom prst="rect">
              <a:avLst/>
            </a:prstGeom>
            <a:noFill/>
            <a:ln w="9525">
              <a:noFill/>
            </a:ln>
          </p:spPr>
          <p:txBody>
            <a:bodyPr lIns="18000" tIns="10800" rIns="18000" bIns="10800">
              <a:spAutoFit/>
            </a:bodyPr>
            <a:p>
              <a:r>
                <a:rPr lang="en-US" altLang="zh-CN" b="1" dirty="0">
                  <a:solidFill>
                    <a:srgbClr val="FF0000"/>
                  </a:solidFill>
                  <a:latin typeface="宋体" panose="02000500000000000000" pitchFamily="2" charset="-122"/>
                </a:rPr>
                <a:t>Page table base register</a:t>
              </a:r>
              <a:endParaRPr lang="en-US" altLang="zh-CN" b="1" dirty="0">
                <a:solidFill>
                  <a:srgbClr val="FF0000"/>
                </a:solidFill>
                <a:latin typeface="宋体" panose="02000500000000000000" pitchFamily="2" charset="-122"/>
              </a:endParaRPr>
            </a:p>
          </p:txBody>
        </p:sp>
      </p:grpSp>
      <p:sp>
        <p:nvSpPr>
          <p:cNvPr id="19519" name="Line 120"/>
          <p:cNvSpPr/>
          <p:nvPr/>
        </p:nvSpPr>
        <p:spPr>
          <a:xfrm flipH="1" flipV="1">
            <a:off x="2420938" y="3571875"/>
            <a:ext cx="12700" cy="982663"/>
          </a:xfrm>
          <a:prstGeom prst="line">
            <a:avLst/>
          </a:prstGeom>
          <a:ln w="9525" cap="flat" cmpd="sng">
            <a:solidFill>
              <a:schemeClr val="tx1"/>
            </a:solidFill>
            <a:prstDash val="solid"/>
            <a:headEnd type="none" w="med" len="med"/>
            <a:tailEnd type="triangle" w="med" len="med"/>
          </a:ln>
        </p:spPr>
      </p:sp>
      <p:sp>
        <p:nvSpPr>
          <p:cNvPr id="19520" name="Line 160"/>
          <p:cNvSpPr/>
          <p:nvPr/>
        </p:nvSpPr>
        <p:spPr>
          <a:xfrm>
            <a:off x="1979613" y="2041525"/>
            <a:ext cx="0" cy="3630613"/>
          </a:xfrm>
          <a:prstGeom prst="line">
            <a:avLst/>
          </a:prstGeom>
          <a:ln w="9525" cap="flat" cmpd="sng">
            <a:solidFill>
              <a:srgbClr val="FF0000"/>
            </a:solidFill>
            <a:prstDash val="solid"/>
            <a:headEnd type="none" w="med" len="med"/>
            <a:tailEnd type="none" w="med" len="med"/>
          </a:ln>
        </p:spPr>
      </p:sp>
      <p:sp>
        <p:nvSpPr>
          <p:cNvPr id="19521" name="Line 161"/>
          <p:cNvSpPr/>
          <p:nvPr/>
        </p:nvSpPr>
        <p:spPr>
          <a:xfrm flipV="1">
            <a:off x="1979613" y="5684838"/>
            <a:ext cx="7331075" cy="0"/>
          </a:xfrm>
          <a:prstGeom prst="line">
            <a:avLst/>
          </a:prstGeom>
          <a:ln w="9525" cap="flat" cmpd="sng">
            <a:solidFill>
              <a:srgbClr val="FF0000"/>
            </a:solidFill>
            <a:prstDash val="solid"/>
            <a:headEnd type="none" w="med" len="med"/>
            <a:tailEnd type="triangle" w="med" len="med"/>
          </a:ln>
        </p:spPr>
      </p:sp>
      <p:sp>
        <p:nvSpPr>
          <p:cNvPr id="19522" name="Text Box 162"/>
          <p:cNvSpPr txBox="1"/>
          <p:nvPr/>
        </p:nvSpPr>
        <p:spPr>
          <a:xfrm>
            <a:off x="9305925" y="5427663"/>
            <a:ext cx="954088" cy="275590"/>
          </a:xfrm>
          <a:prstGeom prst="rect">
            <a:avLst/>
          </a:prstGeom>
          <a:noFill/>
          <a:ln w="9525" cap="flat" cmpd="sng">
            <a:solidFill>
              <a:srgbClr val="FF0000"/>
            </a:solidFill>
            <a:prstDash val="solid"/>
            <a:miter/>
            <a:headEnd type="none" w="med" len="med"/>
            <a:tailEnd type="none" w="med" len="med"/>
          </a:ln>
        </p:spPr>
        <p:txBody>
          <a:bodyPr>
            <a:spAutoFit/>
          </a:bodyPr>
          <a:p>
            <a:pPr algn="ctr"/>
            <a:r>
              <a:rPr lang="zh-CN" altLang="en-US" b="1" dirty="0">
                <a:latin typeface="宋体" panose="02000500000000000000" pitchFamily="2" charset="-122"/>
              </a:rPr>
              <a:t>合法性检查</a:t>
            </a:r>
            <a:endParaRPr lang="zh-CN" altLang="en-US" b="1" dirty="0">
              <a:latin typeface="宋体" panose="02000500000000000000" pitchFamily="2" charset="-122"/>
            </a:endParaRPr>
          </a:p>
        </p:txBody>
      </p:sp>
      <p:sp>
        <p:nvSpPr>
          <p:cNvPr id="19523" name="Line 163"/>
          <p:cNvSpPr/>
          <p:nvPr/>
        </p:nvSpPr>
        <p:spPr>
          <a:xfrm flipH="1">
            <a:off x="9796463" y="3425825"/>
            <a:ext cx="19050" cy="1987550"/>
          </a:xfrm>
          <a:prstGeom prst="line">
            <a:avLst/>
          </a:prstGeom>
          <a:ln w="9525" cap="flat" cmpd="sng">
            <a:solidFill>
              <a:srgbClr val="FF0000"/>
            </a:solidFill>
            <a:prstDash val="solid"/>
            <a:headEnd type="none" w="med" len="med"/>
            <a:tailEnd type="triangle" w="med" len="med"/>
          </a:ln>
        </p:spPr>
      </p:sp>
      <p:sp>
        <p:nvSpPr>
          <p:cNvPr id="19524" name="Line 165"/>
          <p:cNvSpPr/>
          <p:nvPr/>
        </p:nvSpPr>
        <p:spPr>
          <a:xfrm>
            <a:off x="10247313" y="5645150"/>
            <a:ext cx="439737" cy="0"/>
          </a:xfrm>
          <a:prstGeom prst="line">
            <a:avLst/>
          </a:prstGeom>
          <a:ln w="9525" cap="flat" cmpd="sng">
            <a:solidFill>
              <a:srgbClr val="FF0000"/>
            </a:solidFill>
            <a:prstDash val="solid"/>
            <a:headEnd type="none" w="med" len="med"/>
            <a:tailEnd type="triangle" w="med" len="me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0483" name="Rectangle 2"/>
          <p:cNvSpPr>
            <a:spLocks noGrp="1"/>
          </p:cNvSpPr>
          <p:nvPr>
            <p:ph type="title"/>
          </p:nvPr>
        </p:nvSpPr>
        <p:spPr/>
        <p:txBody>
          <a:bodyPr vert="horz" wrap="square" lIns="91440" tIns="45720" rIns="91440" bIns="45720" anchor="ctr" anchorCtr="0"/>
          <a:p>
            <a:pPr eaLnBrk="1" hangingPunct="1"/>
            <a:r>
              <a:rPr lang="en-US" altLang="zh-CN" dirty="0"/>
              <a:t>TLB</a:t>
            </a:r>
            <a:endParaRPr lang="en-US" altLang="zh-CN" dirty="0"/>
          </a:p>
        </p:txBody>
      </p:sp>
      <p:sp>
        <p:nvSpPr>
          <p:cNvPr id="17412" name="Rectangle 3"/>
          <p:cNvSpPr>
            <a:spLocks noGrp="1" noChangeArrowheads="1"/>
          </p:cNvSpPr>
          <p:nvPr>
            <p:ph idx="1"/>
          </p:nvPr>
        </p:nvSpPr>
        <p:spPr>
          <a:xfrm>
            <a:off x="914400" y="1287463"/>
            <a:ext cx="10361613" cy="4808538"/>
          </a:xfrm>
        </p:spPr>
        <p:txBody>
          <a:bodyPr vert="horz" wrap="square" lIns="91440" tIns="45720" rIns="91440" bIns="45720" numCol="1" anchor="t" anchorCtr="0" compatLnSpc="1"/>
          <a:lstStyle/>
          <a:p>
            <a:pPr marL="342900" marR="0" lvl="0" indent="-342900" algn="l" defTabSz="914400" rtl="0" eaLnBrk="1" latinLnBrk="0" hangingPunct="1">
              <a:lnSpc>
                <a:spcPct val="150000"/>
              </a:lnSpc>
              <a:spcBef>
                <a:spcPts val="60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实际上是操作系统中页表的</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Cache</a:t>
            </a: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主要负责完成用户空间到物理空间的转化</a:t>
            </a:r>
            <a:endPar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一般与</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Cache</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访问同时进行</a:t>
            </a:r>
            <a:endPar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内容：虚地址（</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Cache</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Tag</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），物理地址（</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Cache</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Data</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），保护位（</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Cache</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的状态）</a:t>
            </a:r>
            <a:endPar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latinLnBrk="0" hangingPunct="1">
              <a:lnSpc>
                <a:spcPct val="150000"/>
              </a:lnSpc>
              <a:spcBef>
                <a:spcPts val="60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失效处理</a:t>
            </a: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失效时需要把相应页表内容从内存取到</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endPar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失效时硬件（如</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X86</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page walker</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）和软件（如</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MIPS</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的特殊例外）来填充</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endPar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1507" name="Rectangle 2"/>
          <p:cNvSpPr>
            <a:spLocks noGrp="1"/>
          </p:cNvSpPr>
          <p:nvPr>
            <p:ph type="title"/>
          </p:nvPr>
        </p:nvSpPr>
        <p:spPr>
          <a:xfrm>
            <a:off x="939800" y="76200"/>
            <a:ext cx="10361613" cy="669925"/>
          </a:xfrm>
        </p:spPr>
        <p:txBody>
          <a:bodyPr vert="horz" wrap="square" lIns="91440" tIns="45720" rIns="91440" bIns="45720" anchor="ctr" anchorCtr="0"/>
          <a:p>
            <a:pPr eaLnBrk="1" hangingPunct="1"/>
            <a:r>
              <a:rPr lang="zh-CN" altLang="en-US" dirty="0"/>
              <a:t>虚拟存储的内存失效</a:t>
            </a:r>
            <a:r>
              <a:rPr lang="en-US" altLang="zh-CN" dirty="0"/>
              <a:t> vs. </a:t>
            </a:r>
            <a:r>
              <a:rPr lang="zh-CN" altLang="en-US" dirty="0"/>
              <a:t>高速缓存失效</a:t>
            </a:r>
            <a:endParaRPr lang="zh-CN" altLang="en-US" dirty="0"/>
          </a:p>
        </p:txBody>
      </p:sp>
      <p:graphicFrame>
        <p:nvGraphicFramePr>
          <p:cNvPr id="499801" name="Group 89"/>
          <p:cNvGraphicFramePr>
            <a:graphicFrameLocks noGrp="1"/>
          </p:cNvGraphicFramePr>
          <p:nvPr>
            <p:ph idx="1"/>
          </p:nvPr>
        </p:nvGraphicFramePr>
        <p:xfrm>
          <a:off x="1627505" y="3001645"/>
          <a:ext cx="9329420" cy="3593465"/>
        </p:xfrm>
        <a:graphic>
          <a:graphicData uri="http://schemas.openxmlformats.org/drawingml/2006/table">
            <a:tbl>
              <a:tblPr/>
              <a:tblGrid>
                <a:gridCol w="2385060"/>
                <a:gridCol w="3138170"/>
                <a:gridCol w="3806190"/>
              </a:tblGrid>
              <a:tr h="325755">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dirty="0" smtClean="0">
                          <a:ln>
                            <a:noFill/>
                          </a:ln>
                          <a:solidFill>
                            <a:srgbClr val="FF0000"/>
                          </a:solidFill>
                          <a:effectLst/>
                          <a:latin typeface="+mn-ea"/>
                        </a:rPr>
                        <a:t>比较内容</a:t>
                      </a:r>
                      <a:endParaRPr kumimoji="1" lang="zh-CN" altLang="en-US" sz="1400" b="1" i="0" u="none" strike="noStrike" cap="none" normalizeH="0" baseline="0" dirty="0" smtClean="0">
                        <a:ln>
                          <a:noFill/>
                        </a:ln>
                        <a:solidFill>
                          <a:srgbClr val="FF0000"/>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rgbClr val="FF0000"/>
                          </a:solidFill>
                          <a:effectLst/>
                          <a:latin typeface="+mn-ea"/>
                        </a:rPr>
                        <a:t>Cache</a:t>
                      </a:r>
                      <a:r>
                        <a:rPr kumimoji="1" lang="zh-CN" altLang="en-US" sz="1400" b="1" i="0" u="none" strike="noStrike" cap="none" normalizeH="0" baseline="0" dirty="0" smtClean="0">
                          <a:ln>
                            <a:noFill/>
                          </a:ln>
                          <a:solidFill>
                            <a:srgbClr val="FF0000"/>
                          </a:solidFill>
                          <a:effectLst/>
                          <a:latin typeface="+mn-ea"/>
                        </a:rPr>
                        <a:t>失效到内存访问</a:t>
                      </a:r>
                      <a:endParaRPr kumimoji="1" lang="en-US" altLang="zh-CN" sz="1400" b="1" i="0" u="none" strike="noStrike" cap="none" normalizeH="0" baseline="0" dirty="0" smtClean="0">
                        <a:ln>
                          <a:noFill/>
                        </a:ln>
                        <a:solidFill>
                          <a:srgbClr val="FF0000"/>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dirty="0" smtClean="0">
                          <a:ln>
                            <a:noFill/>
                          </a:ln>
                          <a:solidFill>
                            <a:srgbClr val="FF0000"/>
                          </a:solidFill>
                          <a:effectLst/>
                          <a:latin typeface="+mn-ea"/>
                        </a:rPr>
                        <a:t>内存失效到硬盘访问</a:t>
                      </a:r>
                      <a:endParaRPr kumimoji="1" lang="zh-CN" altLang="en-US" sz="1400" b="1" i="0" u="none" strike="noStrike" cap="none" normalizeH="0" baseline="0" dirty="0" smtClean="0">
                        <a:ln>
                          <a:noFill/>
                        </a:ln>
                        <a:solidFill>
                          <a:srgbClr val="FF0000"/>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调度单位</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cs typeface="+mn-ea"/>
                        </a:rPr>
                        <a:t>块（</a:t>
                      </a:r>
                      <a:r>
                        <a:rPr kumimoji="1" lang="en-US" altLang="zh-CN" sz="1400" b="1" i="0" u="none" strike="noStrike" cap="none" normalizeH="0" baseline="0" smtClean="0">
                          <a:ln>
                            <a:noFill/>
                          </a:ln>
                          <a:solidFill>
                            <a:schemeClr val="tx1"/>
                          </a:solidFill>
                          <a:effectLst/>
                          <a:latin typeface="+mn-ea"/>
                          <a:cs typeface="+mn-ea"/>
                        </a:rPr>
                        <a:t>16B-128B</a:t>
                      </a:r>
                      <a:r>
                        <a:rPr kumimoji="1" lang="zh-CN" altLang="en-US" sz="1400" b="1" i="0" u="none" strike="noStrike" cap="none" normalizeH="0" baseline="0" smtClean="0">
                          <a:ln>
                            <a:noFill/>
                          </a:ln>
                          <a:solidFill>
                            <a:schemeClr val="tx1"/>
                          </a:solidFill>
                          <a:effectLst/>
                          <a:latin typeface="+mn-ea"/>
                          <a:cs typeface="+mn-ea"/>
                        </a:rPr>
                        <a:t>）</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cs typeface="+mn-ea"/>
                        </a:rPr>
                        <a:t>页（</a:t>
                      </a:r>
                      <a:r>
                        <a:rPr kumimoji="1" lang="en-US" altLang="zh-CN" sz="1400" b="1" i="0" u="none" strike="noStrike" cap="none" normalizeH="0" baseline="0" smtClean="0">
                          <a:ln>
                            <a:noFill/>
                          </a:ln>
                          <a:solidFill>
                            <a:schemeClr val="tx1"/>
                          </a:solidFill>
                          <a:effectLst/>
                          <a:latin typeface="+mn-ea"/>
                          <a:cs typeface="+mn-ea"/>
                        </a:rPr>
                        <a:t>4KB-64KB</a:t>
                      </a:r>
                      <a:r>
                        <a:rPr kumimoji="1" lang="zh-CN" altLang="en-US" sz="1400" b="1" i="0" u="none" strike="noStrike" cap="none" normalizeH="0" baseline="0" smtClean="0">
                          <a:ln>
                            <a:noFill/>
                          </a:ln>
                          <a:solidFill>
                            <a:schemeClr val="tx1"/>
                          </a:solidFill>
                          <a:effectLst/>
                          <a:latin typeface="+mn-ea"/>
                          <a:cs typeface="+mn-ea"/>
                        </a:rPr>
                        <a:t>）</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命中延迟</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mn-ea"/>
                          <a:cs typeface="+mn-ea"/>
                        </a:rPr>
                        <a:t>1-3</a:t>
                      </a:r>
                      <a:r>
                        <a:rPr kumimoji="1" lang="zh-CN" altLang="en-US" sz="1400" b="1" i="0" u="none" strike="noStrike" cap="none" normalizeH="0" baseline="0" smtClean="0">
                          <a:ln>
                            <a:noFill/>
                          </a:ln>
                          <a:solidFill>
                            <a:schemeClr val="tx1"/>
                          </a:solidFill>
                          <a:effectLst/>
                          <a:latin typeface="+mn-ea"/>
                          <a:cs typeface="+mn-ea"/>
                        </a:rPr>
                        <a:t>时钟周期</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mn-ea"/>
                          <a:cs typeface="+mn-ea"/>
                        </a:rPr>
                        <a:t>100-300</a:t>
                      </a:r>
                      <a:r>
                        <a:rPr kumimoji="1" lang="zh-CN" altLang="en-US" sz="1400" b="1" i="0" u="none" strike="noStrike" cap="none" normalizeH="0" baseline="0" smtClean="0">
                          <a:ln>
                            <a:noFill/>
                          </a:ln>
                          <a:solidFill>
                            <a:schemeClr val="tx1"/>
                          </a:solidFill>
                          <a:effectLst/>
                          <a:latin typeface="+mn-ea"/>
                          <a:cs typeface="+mn-ea"/>
                        </a:rPr>
                        <a:t>时钟周期</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rgbClr val="FF0000"/>
                          </a:solidFill>
                          <a:effectLst/>
                          <a:latin typeface="+mn-ea"/>
                        </a:rPr>
                        <a:t>失效延迟</a:t>
                      </a:r>
                      <a:endParaRPr kumimoji="1" lang="zh-CN" altLang="en-US" sz="1400" b="1" i="0" u="none" strike="noStrike" cap="none" normalizeH="0" baseline="0" smtClean="0">
                        <a:ln>
                          <a:noFill/>
                        </a:ln>
                        <a:solidFill>
                          <a:srgbClr val="FF0000"/>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rgbClr val="FF0000"/>
                          </a:solidFill>
                          <a:effectLst/>
                          <a:latin typeface="+mn-ea"/>
                          <a:cs typeface="+mn-ea"/>
                        </a:rPr>
                        <a:t>8-150</a:t>
                      </a:r>
                      <a:r>
                        <a:rPr kumimoji="1" lang="zh-CN" altLang="en-US" sz="1400" b="1" i="0" u="none" strike="noStrike" cap="none" normalizeH="0" baseline="0" smtClean="0">
                          <a:ln>
                            <a:noFill/>
                          </a:ln>
                          <a:solidFill>
                            <a:srgbClr val="FF0000"/>
                          </a:solidFill>
                          <a:effectLst/>
                          <a:latin typeface="+mn-ea"/>
                          <a:cs typeface="+mn-ea"/>
                        </a:rPr>
                        <a:t>时钟周期</a:t>
                      </a:r>
                      <a:endParaRPr kumimoji="1" lang="zh-CN" altLang="en-US" sz="1400" b="1" i="0" u="none" strike="noStrike" cap="none" normalizeH="0" baseline="0" smtClean="0">
                        <a:ln>
                          <a:noFill/>
                        </a:ln>
                        <a:solidFill>
                          <a:srgbClr val="FF0000"/>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rgbClr val="FF0000"/>
                          </a:solidFill>
                          <a:effectLst/>
                          <a:latin typeface="+mn-ea"/>
                          <a:cs typeface="+mn-ea"/>
                        </a:rPr>
                        <a:t>1,000,000-10,000,000</a:t>
                      </a:r>
                      <a:r>
                        <a:rPr kumimoji="1" lang="zh-CN" altLang="en-US" sz="1400" b="1" i="0" u="none" strike="noStrike" cap="none" normalizeH="0" baseline="0" smtClean="0">
                          <a:ln>
                            <a:noFill/>
                          </a:ln>
                          <a:solidFill>
                            <a:srgbClr val="FF0000"/>
                          </a:solidFill>
                          <a:effectLst/>
                          <a:latin typeface="+mn-ea"/>
                          <a:cs typeface="+mn-ea"/>
                        </a:rPr>
                        <a:t>时钟周期</a:t>
                      </a:r>
                      <a:endParaRPr kumimoji="1" lang="zh-CN" altLang="en-US" sz="1400" b="1" i="0" u="none" strike="noStrike" cap="none" normalizeH="0" baseline="0" smtClean="0">
                        <a:ln>
                          <a:noFill/>
                        </a:ln>
                        <a:solidFill>
                          <a:srgbClr val="FF0000"/>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rgbClr val="FF0000"/>
                          </a:solidFill>
                          <a:effectLst/>
                          <a:latin typeface="+mn-ea"/>
                        </a:rPr>
                        <a:t>失效率</a:t>
                      </a:r>
                      <a:endParaRPr kumimoji="1" lang="zh-CN" altLang="en-US" sz="1400" b="1" i="0" u="none" strike="noStrike" cap="none" normalizeH="0" baseline="0" smtClean="0">
                        <a:ln>
                          <a:noFill/>
                        </a:ln>
                        <a:solidFill>
                          <a:srgbClr val="FF0000"/>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rgbClr val="FF0000"/>
                          </a:solidFill>
                          <a:effectLst/>
                          <a:latin typeface="+mn-ea"/>
                        </a:rPr>
                        <a:t>0.1-10%</a:t>
                      </a:r>
                      <a:endParaRPr kumimoji="1" lang="en-US" altLang="zh-CN" sz="1400" b="1" i="0" u="none" strike="noStrike" cap="none" normalizeH="0" baseline="0" smtClean="0">
                        <a:ln>
                          <a:noFill/>
                        </a:ln>
                        <a:solidFill>
                          <a:srgbClr val="FF0000"/>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rgbClr val="FF0000"/>
                          </a:solidFill>
                          <a:effectLst/>
                          <a:latin typeface="+mn-ea"/>
                        </a:rPr>
                        <a:t>0.00001-0.001%</a:t>
                      </a:r>
                      <a:endParaRPr kumimoji="1" lang="en-US" altLang="zh-CN" sz="1400" b="1" i="0" u="none" strike="noStrike" cap="none" normalizeH="0" baseline="0" smtClean="0">
                        <a:ln>
                          <a:noFill/>
                        </a:ln>
                        <a:solidFill>
                          <a:srgbClr val="FF0000"/>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映射前地址</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mn-ea"/>
                          <a:cs typeface="+mn-ea"/>
                        </a:rPr>
                        <a:t>25-45</a:t>
                      </a:r>
                      <a:r>
                        <a:rPr kumimoji="1" lang="zh-CN" altLang="en-US" sz="1400" b="1" i="0" u="none" strike="noStrike" cap="none" normalizeH="0" baseline="0" smtClean="0">
                          <a:ln>
                            <a:noFill/>
                          </a:ln>
                          <a:solidFill>
                            <a:schemeClr val="tx1"/>
                          </a:solidFill>
                          <a:effectLst/>
                          <a:latin typeface="+mn-ea"/>
                          <a:cs typeface="+mn-ea"/>
                        </a:rPr>
                        <a:t>位物理地址</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mn-ea"/>
                          <a:cs typeface="+mn-ea"/>
                        </a:rPr>
                        <a:t>32-64</a:t>
                      </a:r>
                      <a:r>
                        <a:rPr kumimoji="1" lang="zh-CN" altLang="en-US" sz="1400" b="1" i="0" u="none" strike="noStrike" cap="none" normalizeH="0" baseline="0" smtClean="0">
                          <a:ln>
                            <a:noFill/>
                          </a:ln>
                          <a:solidFill>
                            <a:schemeClr val="tx1"/>
                          </a:solidFill>
                          <a:effectLst/>
                          <a:latin typeface="+mn-ea"/>
                          <a:cs typeface="+mn-ea"/>
                        </a:rPr>
                        <a:t>位虚地址</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映射后地址</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mn-ea"/>
                          <a:cs typeface="+mn-ea"/>
                        </a:rPr>
                        <a:t>14-20</a:t>
                      </a:r>
                      <a:r>
                        <a:rPr kumimoji="1" lang="zh-CN" altLang="en-US" sz="1400" b="1" i="0" u="none" strike="noStrike" cap="none" normalizeH="0" baseline="0" smtClean="0">
                          <a:ln>
                            <a:noFill/>
                          </a:ln>
                          <a:solidFill>
                            <a:schemeClr val="tx1"/>
                          </a:solidFill>
                          <a:effectLst/>
                          <a:latin typeface="+mn-ea"/>
                          <a:cs typeface="+mn-ea"/>
                        </a:rPr>
                        <a:t>位</a:t>
                      </a:r>
                      <a:r>
                        <a:rPr kumimoji="1" lang="en-US" altLang="zh-CN" sz="1400" b="1" i="0" u="none" strike="noStrike" cap="none" normalizeH="0" baseline="0" smtClean="0">
                          <a:ln>
                            <a:noFill/>
                          </a:ln>
                          <a:solidFill>
                            <a:schemeClr val="tx1"/>
                          </a:solidFill>
                          <a:effectLst/>
                          <a:latin typeface="+mn-ea"/>
                          <a:cs typeface="+mn-ea"/>
                        </a:rPr>
                        <a:t>cache</a:t>
                      </a:r>
                      <a:r>
                        <a:rPr kumimoji="1" lang="zh-CN" altLang="en-US" sz="1400" b="1" i="0" u="none" strike="noStrike" cap="none" normalizeH="0" baseline="0" smtClean="0">
                          <a:ln>
                            <a:noFill/>
                          </a:ln>
                          <a:solidFill>
                            <a:schemeClr val="tx1"/>
                          </a:solidFill>
                          <a:effectLst/>
                          <a:latin typeface="+mn-ea"/>
                          <a:cs typeface="+mn-ea"/>
                        </a:rPr>
                        <a:t>地址</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mn-ea"/>
                          <a:cs typeface="+mn-ea"/>
                        </a:rPr>
                        <a:t>25-45</a:t>
                      </a:r>
                      <a:r>
                        <a:rPr kumimoji="1" lang="zh-CN" altLang="en-US" sz="1400" b="1" i="0" u="none" strike="noStrike" cap="none" normalizeH="0" baseline="0" smtClean="0">
                          <a:ln>
                            <a:noFill/>
                          </a:ln>
                          <a:solidFill>
                            <a:schemeClr val="tx1"/>
                          </a:solidFill>
                          <a:effectLst/>
                          <a:latin typeface="+mn-ea"/>
                          <a:cs typeface="+mn-ea"/>
                        </a:rPr>
                        <a:t>位物理地址</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639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映射者</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硬件</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cs typeface="+mn-ea"/>
                        </a:rPr>
                        <a:t>硬件（</a:t>
                      </a:r>
                      <a:r>
                        <a:rPr kumimoji="1" lang="en-US" altLang="zh-CN" sz="1400" b="1" i="0" u="none" strike="noStrike" cap="none" normalizeH="0" baseline="0" smtClean="0">
                          <a:ln>
                            <a:noFill/>
                          </a:ln>
                          <a:solidFill>
                            <a:schemeClr val="tx1"/>
                          </a:solidFill>
                          <a:effectLst/>
                          <a:latin typeface="+mn-ea"/>
                          <a:cs typeface="+mn-ea"/>
                        </a:rPr>
                        <a:t>TLB</a:t>
                      </a:r>
                      <a:r>
                        <a:rPr kumimoji="1" lang="zh-CN" altLang="en-US" sz="1400" b="1" i="0" u="none" strike="noStrike" cap="none" normalizeH="0" baseline="0" smtClean="0">
                          <a:ln>
                            <a:noFill/>
                          </a:ln>
                          <a:solidFill>
                            <a:schemeClr val="tx1"/>
                          </a:solidFill>
                          <a:effectLst/>
                          <a:latin typeface="+mn-ea"/>
                          <a:cs typeface="+mn-ea"/>
                        </a:rPr>
                        <a:t>）</a:t>
                      </a:r>
                      <a:r>
                        <a:rPr kumimoji="1" lang="en-US" altLang="zh-CN" sz="1400" b="1" i="0" u="none" strike="noStrike" cap="none" normalizeH="0" baseline="0" smtClean="0">
                          <a:ln>
                            <a:noFill/>
                          </a:ln>
                          <a:solidFill>
                            <a:schemeClr val="tx1"/>
                          </a:solidFill>
                          <a:effectLst/>
                          <a:latin typeface="+mn-ea"/>
                          <a:cs typeface="+mn-ea"/>
                        </a:rPr>
                        <a:t>+</a:t>
                      </a:r>
                      <a:r>
                        <a:rPr kumimoji="1" lang="zh-CN" altLang="en-US" sz="1400" b="1" i="0" u="none" strike="noStrike" cap="none" normalizeH="0" baseline="0" smtClean="0">
                          <a:ln>
                            <a:noFill/>
                          </a:ln>
                          <a:solidFill>
                            <a:schemeClr val="tx1"/>
                          </a:solidFill>
                          <a:effectLst/>
                          <a:latin typeface="+mn-ea"/>
                          <a:cs typeface="+mn-ea"/>
                        </a:rPr>
                        <a:t>操作系统</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组织方式</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直接相联、组相联、全相联</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cs typeface="+mn-ea"/>
                        </a:rPr>
                        <a:t>全相联、组相联（</a:t>
                      </a:r>
                      <a:r>
                        <a:rPr kumimoji="1" lang="en-US" altLang="zh-CN" sz="1400" b="1" i="0" u="none" strike="noStrike" cap="none" normalizeH="0" baseline="0" smtClean="0">
                          <a:ln>
                            <a:noFill/>
                          </a:ln>
                          <a:solidFill>
                            <a:schemeClr val="tx1"/>
                          </a:solidFill>
                          <a:effectLst/>
                          <a:latin typeface="+mn-ea"/>
                          <a:cs typeface="+mn-ea"/>
                        </a:rPr>
                        <a:t>Page Coloring</a:t>
                      </a:r>
                      <a:r>
                        <a:rPr kumimoji="1" lang="zh-CN" altLang="en-US" sz="1400" b="1" i="0" u="none" strike="noStrike" cap="none" normalizeH="0" baseline="0" smtClean="0">
                          <a:ln>
                            <a:noFill/>
                          </a:ln>
                          <a:solidFill>
                            <a:schemeClr val="tx1"/>
                          </a:solidFill>
                          <a:effectLst/>
                          <a:latin typeface="+mn-ea"/>
                          <a:cs typeface="+mn-ea"/>
                        </a:rPr>
                        <a:t>）</a:t>
                      </a:r>
                      <a:endParaRPr kumimoji="1" lang="zh-CN" altLang="en-US"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80">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替换方式</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cs typeface="+mn-ea"/>
                        </a:rPr>
                        <a:t>随机、</a:t>
                      </a:r>
                      <a:r>
                        <a:rPr kumimoji="1" lang="en-US" altLang="zh-CN" sz="1400" b="1" i="0" u="none" strike="noStrike" cap="none" normalizeH="0" baseline="0" smtClean="0">
                          <a:ln>
                            <a:noFill/>
                          </a:ln>
                          <a:solidFill>
                            <a:schemeClr val="tx1"/>
                          </a:solidFill>
                          <a:effectLst/>
                          <a:latin typeface="+mn-ea"/>
                          <a:cs typeface="+mn-ea"/>
                        </a:rPr>
                        <a:t>FIFO</a:t>
                      </a:r>
                      <a:r>
                        <a:rPr kumimoji="1" lang="zh-CN" altLang="en-US" sz="1400" b="1" i="0" u="none" strike="noStrike" cap="none" normalizeH="0" baseline="0" smtClean="0">
                          <a:ln>
                            <a:noFill/>
                          </a:ln>
                          <a:solidFill>
                            <a:schemeClr val="tx1"/>
                          </a:solidFill>
                          <a:effectLst/>
                          <a:latin typeface="+mn-ea"/>
                          <a:cs typeface="+mn-ea"/>
                        </a:rPr>
                        <a:t>、</a:t>
                      </a:r>
                      <a:r>
                        <a:rPr kumimoji="1" lang="en-US" altLang="zh-CN" sz="1400" b="1" i="0" u="none" strike="noStrike" cap="none" normalizeH="0" baseline="0" smtClean="0">
                          <a:ln>
                            <a:noFill/>
                          </a:ln>
                          <a:solidFill>
                            <a:schemeClr val="tx1"/>
                          </a:solidFill>
                          <a:effectLst/>
                          <a:latin typeface="+mn-ea"/>
                          <a:cs typeface="+mn-ea"/>
                        </a:rPr>
                        <a:t>LRU</a:t>
                      </a:r>
                      <a:endParaRPr kumimoji="1" lang="en-US" altLang="zh-CN" sz="1400" b="1" i="0" u="none" strike="noStrike" cap="none" normalizeH="0" baseline="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mn-ea"/>
                        </a:rPr>
                        <a:t>LRU</a:t>
                      </a:r>
                      <a:endParaRPr kumimoji="1" lang="en-US" altLang="zh-CN" sz="1400" b="1" i="0" u="none" strike="noStrike" cap="none" normalizeH="0" baseline="0" smtClean="0">
                        <a:ln>
                          <a:noFill/>
                        </a:ln>
                        <a:solidFill>
                          <a:schemeClr val="tx1"/>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575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mn-ea"/>
                        </a:rPr>
                        <a:t>写回方式</a:t>
                      </a:r>
                      <a:endParaRPr kumimoji="1" lang="zh-CN" altLang="en-US" sz="1400" b="1" i="0" u="none" strike="noStrike" cap="none" normalizeH="0" baseline="0" smtClean="0">
                        <a:ln>
                          <a:noFill/>
                        </a:ln>
                        <a:solidFill>
                          <a:schemeClr val="tx1"/>
                        </a:solidFill>
                        <a:effectLst/>
                        <a:latin typeface="+mn-ea"/>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mn-ea"/>
                          <a:cs typeface="+mn-ea"/>
                        </a:rPr>
                        <a:t>Write-back</a:t>
                      </a:r>
                      <a:r>
                        <a:rPr kumimoji="1" lang="zh-CN" altLang="en-US" sz="1400" b="1" i="0" u="none" strike="noStrike" cap="none" normalizeH="0" baseline="0" dirty="0" smtClean="0">
                          <a:ln>
                            <a:noFill/>
                          </a:ln>
                          <a:solidFill>
                            <a:schemeClr val="tx1"/>
                          </a:solidFill>
                          <a:effectLst/>
                          <a:latin typeface="+mn-ea"/>
                          <a:cs typeface="+mn-ea"/>
                        </a:rPr>
                        <a:t>、</a:t>
                      </a:r>
                      <a:r>
                        <a:rPr kumimoji="1" lang="en-US" altLang="zh-CN" sz="1400" b="1" i="0" u="none" strike="noStrike" cap="none" normalizeH="0" baseline="0" dirty="0" smtClean="0">
                          <a:ln>
                            <a:noFill/>
                          </a:ln>
                          <a:solidFill>
                            <a:schemeClr val="tx1"/>
                          </a:solidFill>
                          <a:effectLst/>
                          <a:latin typeface="+mn-ea"/>
                          <a:cs typeface="+mn-ea"/>
                        </a:rPr>
                        <a:t>Write-through</a:t>
                      </a:r>
                      <a:endParaRPr kumimoji="1" lang="en-US" altLang="zh-CN" sz="1400" b="1" i="0" u="none" strike="noStrike" cap="none" normalizeH="0" baseline="0" dirty="0" smtClean="0">
                        <a:ln>
                          <a:noFill/>
                        </a:ln>
                        <a:solidFill>
                          <a:schemeClr val="tx1"/>
                        </a:solidFill>
                        <a:effectLst/>
                        <a:latin typeface="+mn-ea"/>
                        <a:cs typeface="+mn-ea"/>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dirty="0" smtClean="0">
                          <a:ln>
                            <a:noFill/>
                          </a:ln>
                          <a:solidFill>
                            <a:schemeClr val="tx1"/>
                          </a:solidFill>
                          <a:effectLst/>
                          <a:latin typeface="+mn-ea"/>
                        </a:rPr>
                        <a:t>Write-back</a:t>
                      </a:r>
                      <a:endParaRPr kumimoji="1" lang="en-US" altLang="zh-CN" sz="1400" b="1" i="0" u="none" strike="noStrike" cap="none" normalizeH="0" baseline="0" dirty="0" smtClean="0">
                        <a:ln>
                          <a:noFill/>
                        </a:ln>
                        <a:solidFill>
                          <a:schemeClr val="tx1"/>
                        </a:solidFill>
                        <a:effectLst/>
                        <a:latin typeface="+mn-ea"/>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内容占位符 2"/>
          <p:cNvSpPr txBox="1">
            <a:spLocks noChangeArrowheads="1"/>
          </p:cNvSpPr>
          <p:nvPr/>
        </p:nvSpPr>
        <p:spPr bwMode="auto">
          <a:xfrm>
            <a:off x="858838" y="830263"/>
            <a:ext cx="10850563" cy="2030413"/>
          </a:xfrm>
          <a:prstGeom prst="rect">
            <a:avLst/>
          </a:prstGeom>
          <a:noFill/>
          <a:ln w="9525">
            <a:noFill/>
            <a:miter lim="800000"/>
          </a:ln>
        </p:spPr>
        <p:txBody>
          <a:bodyPr/>
          <a:lstStyle/>
          <a:p>
            <a:pPr marL="360680" marR="0" indent="-360680" defTabSz="914400" eaLnBrk="0" hangingPunct="0">
              <a:lnSpc>
                <a:spcPct val="150000"/>
              </a:lnSpc>
              <a:spcBef>
                <a:spcPct val="0"/>
              </a:spcBef>
              <a:buClrTx/>
              <a:buSzTx/>
              <a:buFontTx/>
              <a:buChar char="•"/>
              <a:defRPr/>
            </a:pPr>
            <a:r>
              <a:rPr kumimoji="1" lang="zh-CN" altLang="en-US" sz="2000" b="1" kern="0" cap="none" spc="0" normalizeH="0" baseline="0" noProof="0" dirty="0">
                <a:latin typeface="+mn-ea"/>
                <a:ea typeface="+mn-ea"/>
                <a:cs typeface="+mn-cs"/>
              </a:rPr>
              <a:t>当物理内存容量不足时，当前不常用的页被调出到硬盘的交换区，该页倍访问时再由操作系统从硬盘调入到物理内存</a:t>
            </a:r>
            <a:endParaRPr kumimoji="0" lang="en-US" altLang="zh-CN" sz="2000" b="1" kern="0" cap="none" spc="0" normalizeH="0" baseline="0" noProof="0" dirty="0">
              <a:latin typeface="+mn-ea"/>
              <a:ea typeface="+mn-ea"/>
              <a:cs typeface="+mn-cs"/>
            </a:endParaRPr>
          </a:p>
          <a:p>
            <a:pPr marL="720725" marR="0" lvl="1" indent="-360680" algn="l" defTabSz="914400" rtl="0" eaLnBrk="0" fontAlgn="base" latinLnBrk="0" hangingPunct="0">
              <a:lnSpc>
                <a:spcPct val="150000"/>
              </a:lnSpc>
              <a:spcBef>
                <a:spcPct val="50000"/>
              </a:spcBef>
              <a:spcAft>
                <a:spcPct val="0"/>
              </a:spcAft>
              <a:buClrTx/>
              <a:buSzTx/>
              <a:buFontTx/>
              <a:buChar char="•"/>
              <a:defRPr/>
            </a:pPr>
            <a:r>
              <a:rPr kumimoji="1" lang="zh-CN" altLang="en-US" sz="1600" b="1" i="0" u="none" strike="noStrike" kern="0" cap="none" spc="0" normalizeH="0" baseline="0" noProof="0" dirty="0">
                <a:ln>
                  <a:noFill/>
                </a:ln>
                <a:solidFill>
                  <a:schemeClr val="tx1"/>
                </a:solidFill>
                <a:effectLst/>
                <a:uLnTx/>
                <a:uFillTx/>
                <a:latin typeface="+mn-ea"/>
                <a:ea typeface="+mn-ea"/>
                <a:cs typeface="+mn-ea"/>
              </a:rPr>
              <a:t>一般硬盘数据交换区是内存容量的</a:t>
            </a:r>
            <a:r>
              <a:rPr kumimoji="1" lang="en-US" altLang="zh-CN" sz="1600" b="1" i="0" u="none" strike="noStrike" kern="0" cap="none" spc="0" normalizeH="0" baseline="0" noProof="0" dirty="0">
                <a:ln>
                  <a:noFill/>
                </a:ln>
                <a:solidFill>
                  <a:schemeClr val="tx1"/>
                </a:solidFill>
                <a:effectLst/>
                <a:uLnTx/>
                <a:uFillTx/>
                <a:latin typeface="+mn-ea"/>
                <a:ea typeface="+mn-ea"/>
                <a:cs typeface="+mn-ea"/>
              </a:rPr>
              <a:t>1-2</a:t>
            </a:r>
            <a:r>
              <a:rPr kumimoji="1" lang="zh-CN" altLang="en-US" sz="1600" b="1" i="0" u="none" strike="noStrike" kern="0" cap="none" spc="0" normalizeH="0" baseline="0" noProof="0" dirty="0">
                <a:ln>
                  <a:noFill/>
                </a:ln>
                <a:solidFill>
                  <a:schemeClr val="tx1"/>
                </a:solidFill>
                <a:effectLst/>
                <a:uLnTx/>
                <a:uFillTx/>
                <a:latin typeface="+mn-ea"/>
                <a:ea typeface="+mn-ea"/>
                <a:cs typeface="+mn-ea"/>
              </a:rPr>
              <a:t>倍，在安装操作系统时配置</a:t>
            </a:r>
            <a:endParaRPr kumimoji="1" lang="en-US" altLang="zh-CN" sz="1600" b="1" i="0" u="none" strike="noStrike" kern="0" cap="none" spc="0" normalizeH="0" baseline="0" noProof="0" dirty="0">
              <a:ln>
                <a:noFill/>
              </a:ln>
              <a:solidFill>
                <a:schemeClr val="tx1"/>
              </a:solidFill>
              <a:effectLst/>
              <a:uLnTx/>
              <a:uFillTx/>
              <a:latin typeface="+mn-ea"/>
              <a:ea typeface="+mn-ea"/>
              <a:cs typeface="+mn-ea"/>
            </a:endParaRPr>
          </a:p>
          <a:p>
            <a:pPr marL="720725" marR="0" lvl="1" indent="-360680" algn="l" defTabSz="914400" rtl="0" eaLnBrk="0" fontAlgn="base" latinLnBrk="0" hangingPunct="0">
              <a:lnSpc>
                <a:spcPct val="150000"/>
              </a:lnSpc>
              <a:spcBef>
                <a:spcPct val="50000"/>
              </a:spcBef>
              <a:spcAft>
                <a:spcPct val="0"/>
              </a:spcAft>
              <a:buClrTx/>
              <a:buSzTx/>
              <a:buFontTx/>
              <a:buChar char="•"/>
              <a:defRPr/>
            </a:pPr>
            <a:r>
              <a:rPr kumimoji="1" lang="en-US" altLang="zh-CN" sz="1600" b="1" i="0" u="none" strike="noStrike" kern="0" cap="none" spc="0" normalizeH="0" baseline="0" noProof="0" dirty="0">
                <a:ln>
                  <a:noFill/>
                </a:ln>
                <a:solidFill>
                  <a:schemeClr val="tx1"/>
                </a:solidFill>
                <a:effectLst/>
                <a:uLnTx/>
                <a:uFillTx/>
                <a:latin typeface="+mn-ea"/>
                <a:ea typeface="+mn-ea"/>
                <a:cs typeface="+mn-ea"/>
              </a:rPr>
              <a:t>Linux</a:t>
            </a:r>
            <a:r>
              <a:rPr kumimoji="1" lang="zh-CN" altLang="en-US" sz="1600" b="1" i="0" u="none" strike="noStrike" kern="0" cap="none" spc="0" normalizeH="0" baseline="0" noProof="0" dirty="0">
                <a:ln>
                  <a:noFill/>
                </a:ln>
                <a:solidFill>
                  <a:schemeClr val="tx1"/>
                </a:solidFill>
                <a:effectLst/>
                <a:uLnTx/>
                <a:uFillTx/>
                <a:latin typeface="+mn-ea"/>
                <a:ea typeface="+mn-ea"/>
                <a:cs typeface="+mn-ea"/>
              </a:rPr>
              <a:t>操作系统的</a:t>
            </a:r>
            <a:r>
              <a:rPr kumimoji="1" lang="en-US" altLang="zh-CN" sz="1600" b="1" i="0" u="none" strike="noStrike" kern="0" cap="none" spc="0" normalizeH="0" baseline="0" noProof="0" dirty="0">
                <a:ln>
                  <a:noFill/>
                </a:ln>
                <a:solidFill>
                  <a:schemeClr val="tx1"/>
                </a:solidFill>
                <a:effectLst/>
                <a:uLnTx/>
                <a:uFillTx/>
                <a:latin typeface="+mn-ea"/>
                <a:ea typeface="+mn-ea"/>
                <a:cs typeface="+mn-ea"/>
              </a:rPr>
              <a:t>/swap</a:t>
            </a:r>
            <a:r>
              <a:rPr kumimoji="1" lang="zh-CN" altLang="en-US" sz="1600" b="1" i="0" u="none" strike="noStrike" kern="0" cap="none" spc="0" normalizeH="0" baseline="0" noProof="0" dirty="0">
                <a:ln>
                  <a:noFill/>
                </a:ln>
                <a:solidFill>
                  <a:schemeClr val="tx1"/>
                </a:solidFill>
                <a:effectLst/>
                <a:uLnTx/>
                <a:uFillTx/>
                <a:latin typeface="+mn-ea"/>
                <a:ea typeface="+mn-ea"/>
                <a:cs typeface="+mn-ea"/>
              </a:rPr>
              <a:t>目录</a:t>
            </a:r>
            <a:endParaRPr kumimoji="1" lang="en-US" altLang="zh-CN" sz="1600" b="1" i="0" u="none" strike="noStrike" kern="0" cap="none" spc="0" normalizeH="0" baseline="0" noProof="0" dirty="0">
              <a:ln>
                <a:noFill/>
              </a:ln>
              <a:solidFill>
                <a:schemeClr val="tx1"/>
              </a:solidFill>
              <a:effectLst/>
              <a:uLnTx/>
              <a:uFillTx/>
              <a:latin typeface="+mn-ea"/>
              <a:ea typeface="+mn-ea"/>
              <a:cs typeface="+mn-ea"/>
            </a:endParaRPr>
          </a:p>
          <a:p>
            <a:pPr marL="720725" marR="0" lvl="1" indent="-360680" algn="l" defTabSz="914400" rtl="0" eaLnBrk="0" fontAlgn="base" latinLnBrk="0" hangingPunct="0">
              <a:lnSpc>
                <a:spcPct val="150000"/>
              </a:lnSpc>
              <a:spcBef>
                <a:spcPct val="0"/>
              </a:spcBef>
              <a:spcAft>
                <a:spcPct val="0"/>
              </a:spcAft>
              <a:buClrTx/>
              <a:buSzTx/>
              <a:buFontTx/>
              <a:buChar char="•"/>
              <a:defRPr/>
            </a:pPr>
            <a:endParaRPr kumimoji="0" lang="en-US" altLang="zh-CN" sz="1200" b="1" i="0" u="none" strike="noStrike" kern="0" cap="none" spc="0" normalizeH="0" baseline="0" noProof="0" dirty="0">
              <a:ln>
                <a:noFill/>
              </a:ln>
              <a:solidFill>
                <a:schemeClr val="tx1"/>
              </a:solidFill>
              <a:effectLst/>
              <a:uLnTx/>
              <a:uFillTx/>
              <a:latin typeface="+mn-ea"/>
              <a:ea typeface="+mn-ea"/>
              <a:cs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857457" y="0"/>
            <a:ext cx="10361851" cy="1143000"/>
          </a:xfrm>
        </p:spPr>
        <p:txBody>
          <a:bodyPr vert="horz" wrap="square" lIns="91440" tIns="45720" rIns="91440" bIns="45720" anchor="ctr" anchorCtr="0"/>
          <a:lstStyle/>
          <a:p>
            <a:r>
              <a:rPr lang="zh-CN" altLang="en-US" dirty="0"/>
              <a:t>分清两种映射关系</a:t>
            </a:r>
            <a:endParaRPr lang="zh-CN" altLang="en-US" dirty="0"/>
          </a:p>
        </p:txBody>
      </p:sp>
      <p:sp>
        <p:nvSpPr>
          <p:cNvPr id="56322" name="内容占位符 2"/>
          <p:cNvSpPr>
            <a:spLocks noGrp="1" noChangeArrowheads="1"/>
          </p:cNvSpPr>
          <p:nvPr>
            <p:ph idx="1"/>
          </p:nvPr>
        </p:nvSpPr>
        <p:spPr>
          <a:xfrm>
            <a:off x="914599" y="1312863"/>
            <a:ext cx="10361851" cy="4783138"/>
          </a:xfrm>
        </p:spPr>
        <p:txBody>
          <a:bodyPr vert="horz" wrap="square" lIns="91440" tIns="45720" rIns="91440" bIns="45720" numCol="1" anchor="t" anchorCtr="0" compatLnSpc="1"/>
          <a:lstStyle/>
          <a:p>
            <a:pPr marL="360680" marR="0" lvl="0" indent="-360680" algn="l" defTabSz="914400" rtl="0" eaLnBrk="0" fontAlgn="base" latinLnBrk="0" hangingPunct="0">
              <a:lnSpc>
                <a:spcPct val="150000"/>
              </a:lnSpc>
              <a:spcBef>
                <a:spcPts val="600"/>
              </a:spcBef>
              <a:spcAft>
                <a:spcPct val="0"/>
              </a:spcAft>
              <a:buClrTx/>
              <a:buSzTx/>
              <a:buFontTx/>
              <a:buChar char="•"/>
              <a:defRPr/>
            </a:pP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TLB</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是页表的</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Cache</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cs typeface="+mn-ea"/>
              </a:rPr>
              <a:t>负责地址转换，一页管</a:t>
            </a:r>
            <a:r>
              <a:rPr kumimoji="0" lang="en-US" altLang="zh-CN" sz="1800" b="1" i="0" u="none" strike="noStrike" kern="0" cap="none" spc="0" normalizeH="0" baseline="0" noProof="0" dirty="0" smtClean="0">
                <a:ln>
                  <a:noFill/>
                </a:ln>
                <a:solidFill>
                  <a:schemeClr val="tx1"/>
                </a:solidFill>
                <a:effectLst/>
                <a:uLnTx/>
                <a:uFillTx/>
                <a:latin typeface="+mn-ea"/>
                <a:ea typeface="+mn-ea"/>
                <a:cs typeface="+mn-ea"/>
              </a:rPr>
              <a:t>4KB</a:t>
            </a:r>
            <a:r>
              <a:rPr kumimoji="0" lang="zh-CN" altLang="en-US" sz="1800" b="1" i="0" u="none" strike="noStrike" kern="0" cap="none" spc="0" normalizeH="0" baseline="0" noProof="0" dirty="0" smtClean="0">
                <a:ln>
                  <a:noFill/>
                </a:ln>
                <a:solidFill>
                  <a:schemeClr val="tx1"/>
                </a:solidFill>
                <a:effectLst/>
                <a:uLnTx/>
                <a:uFillTx/>
                <a:latin typeface="+mn-ea"/>
                <a:ea typeface="+mn-ea"/>
                <a:cs typeface="+mn-ea"/>
              </a:rPr>
              <a:t>以上数据</a:t>
            </a:r>
            <a:endParaRPr kumimoji="0" lang="en-US" altLang="zh-CN" sz="1800" b="1" i="0" u="none" strike="noStrike" kern="0" cap="none" spc="0" normalizeH="0" baseline="0" noProof="0" dirty="0" smtClean="0">
              <a:ln>
                <a:noFill/>
              </a:ln>
              <a:solidFill>
                <a:schemeClr val="tx1"/>
              </a:solidFill>
              <a:effectLst/>
              <a:uLnTx/>
              <a:uFillTx/>
              <a:latin typeface="+mn-ea"/>
              <a:ea typeface="+mn-ea"/>
              <a:cs typeface="+mn-ea"/>
            </a:endParaRPr>
          </a:p>
          <a:p>
            <a:pPr marL="720725" marR="0" lvl="1" indent="-36068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cs typeface="+mn-ea"/>
              </a:rPr>
              <a:t>页表由操作系统管理，存在系统空间</a:t>
            </a:r>
            <a:endParaRPr kumimoji="0" lang="en-US" altLang="zh-CN" sz="18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内存是硬盘的“</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Cache</a:t>
            </a:r>
            <a:r>
              <a:rPr kumimoji="0" lang="zh-CN" altLang="en-US" sz="2000" b="1" i="0" u="none" strike="noStrike" kern="0" cap="none" spc="0" normalizeH="0" baseline="0" noProof="0" dirty="0" smtClean="0">
                <a:ln>
                  <a:noFill/>
                </a:ln>
                <a:solidFill>
                  <a:schemeClr val="tx1"/>
                </a:solidFill>
                <a:effectLst/>
                <a:uLnTx/>
                <a:uFillTx/>
                <a:latin typeface="+mn-ea"/>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cs typeface="+mn-ea"/>
              </a:rPr>
              <a:t>负责数据缓存，一字节就是一字节</a:t>
            </a:r>
            <a:endParaRPr kumimoji="0" lang="en-US" altLang="zh-CN" sz="1800" b="1" i="0" u="none" strike="noStrike" kern="0" cap="none" spc="0" normalizeH="0" baseline="0" noProof="0" dirty="0" smtClean="0">
              <a:ln>
                <a:noFill/>
              </a:ln>
              <a:solidFill>
                <a:schemeClr val="tx1"/>
              </a:solidFill>
              <a:effectLst/>
              <a:uLnTx/>
              <a:uFillTx/>
              <a:latin typeface="+mn-ea"/>
              <a:ea typeface="+mn-ea"/>
              <a:cs typeface="+mn-ea"/>
            </a:endParaRPr>
          </a:p>
          <a:p>
            <a:pPr marL="720725" marR="0" lvl="1" indent="-36068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chemeClr val="tx1"/>
                </a:solidFill>
                <a:effectLst/>
                <a:uLnTx/>
                <a:uFillTx/>
                <a:latin typeface="+mn-ea"/>
                <a:ea typeface="+mn-ea"/>
                <a:cs typeface="+mn-ea"/>
              </a:rPr>
              <a:t>用户程序的数据在用户空间</a:t>
            </a:r>
            <a:endParaRPr kumimoji="0" lang="en-US" altLang="zh-CN" sz="18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0" fontAlgn="base" latinLnBrk="0" hangingPunct="0">
              <a:lnSpc>
                <a:spcPct val="150000"/>
              </a:lnSpc>
              <a:spcBef>
                <a:spcPts val="600"/>
              </a:spcBef>
              <a:spcAft>
                <a:spcPct val="0"/>
              </a:spcAft>
              <a:buClrTx/>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mn-ea"/>
                <a:ea typeface="+mn-ea"/>
                <a:cs typeface="+mn-ea"/>
              </a:rPr>
              <a:t>对应两种</a:t>
            </a:r>
            <a:r>
              <a:rPr kumimoji="0" lang="en-US" altLang="zh-CN" sz="2000" b="1" i="0" u="none" strike="noStrike" kern="0" cap="none" spc="0" normalizeH="0" baseline="0" noProof="0" dirty="0" smtClean="0">
                <a:ln>
                  <a:noFill/>
                </a:ln>
                <a:solidFill>
                  <a:srgbClr val="FF0000"/>
                </a:solidFill>
                <a:effectLst/>
                <a:uLnTx/>
                <a:uFillTx/>
                <a:latin typeface="+mn-ea"/>
                <a:ea typeface="+mn-ea"/>
                <a:cs typeface="+mn-ea"/>
              </a:rPr>
              <a:t>TLB</a:t>
            </a:r>
            <a:r>
              <a:rPr kumimoji="0" lang="zh-CN" altLang="en-US" sz="2000" b="1" i="0" u="none" strike="noStrike" kern="0" cap="none" spc="0" normalizeH="0" baseline="0" noProof="0" dirty="0" smtClean="0">
                <a:ln>
                  <a:noFill/>
                </a:ln>
                <a:solidFill>
                  <a:srgbClr val="FF0000"/>
                </a:solidFill>
                <a:effectLst/>
                <a:uLnTx/>
                <a:uFillTx/>
                <a:latin typeface="+mn-ea"/>
                <a:ea typeface="+mn-ea"/>
                <a:cs typeface="+mn-ea"/>
              </a:rPr>
              <a:t>访问失效</a:t>
            </a:r>
            <a:endParaRPr kumimoji="0" lang="en-US" altLang="zh-CN" sz="2000" b="1" i="0" u="none" strike="noStrike" kern="0" cap="none" spc="0" normalizeH="0" baseline="0" noProof="0" dirty="0" smtClean="0">
              <a:ln>
                <a:noFill/>
              </a:ln>
              <a:solidFill>
                <a:srgbClr val="FF0000"/>
              </a:solidFill>
              <a:effectLst/>
              <a:uLnTx/>
              <a:uFillTx/>
              <a:latin typeface="+mn-ea"/>
              <a:ea typeface="+mn-ea"/>
              <a:cs typeface="+mn-ea"/>
            </a:endParaRPr>
          </a:p>
          <a:p>
            <a:pPr marL="720725" marR="0" lvl="1" indent="-36068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rgbClr val="FF0000"/>
                </a:solidFill>
                <a:effectLst/>
                <a:uLnTx/>
                <a:uFillTx/>
                <a:latin typeface="+mn-ea"/>
                <a:ea typeface="+mn-ea"/>
                <a:cs typeface="+mn-ea"/>
              </a:rPr>
              <a:t>在</a:t>
            </a:r>
            <a:r>
              <a:rPr kumimoji="0" lang="en-US" altLang="zh-CN" sz="1800" b="1" i="0" u="none" strike="noStrike" kern="0" cap="none" spc="0" normalizeH="0" baseline="0" noProof="0" dirty="0" smtClean="0">
                <a:ln>
                  <a:noFill/>
                </a:ln>
                <a:solidFill>
                  <a:srgbClr val="FF0000"/>
                </a:solidFill>
                <a:effectLst/>
                <a:uLnTx/>
                <a:uFillTx/>
                <a:latin typeface="+mn-ea"/>
                <a:ea typeface="+mn-ea"/>
                <a:cs typeface="+mn-ea"/>
              </a:rPr>
              <a:t>TLB</a:t>
            </a:r>
            <a:r>
              <a:rPr kumimoji="0" lang="zh-CN" altLang="en-US" sz="1800" b="1" i="0" u="none" strike="noStrike" kern="0" cap="none" spc="0" normalizeH="0" baseline="0" noProof="0" dirty="0" smtClean="0">
                <a:ln>
                  <a:noFill/>
                </a:ln>
                <a:solidFill>
                  <a:srgbClr val="FF0000"/>
                </a:solidFill>
                <a:effectLst/>
                <a:uLnTx/>
                <a:uFillTx/>
                <a:latin typeface="+mn-ea"/>
                <a:ea typeface="+mn-ea"/>
                <a:cs typeface="+mn-ea"/>
              </a:rPr>
              <a:t>中找不到对应项，需要查找页表</a:t>
            </a:r>
            <a:endParaRPr kumimoji="0" lang="en-US" altLang="zh-CN" sz="1800" b="1" i="0" u="none" strike="noStrike" kern="0" cap="none" spc="0" normalizeH="0" baseline="0" noProof="0" dirty="0" smtClean="0">
              <a:ln>
                <a:noFill/>
              </a:ln>
              <a:solidFill>
                <a:srgbClr val="FF0000"/>
              </a:solidFill>
              <a:effectLst/>
              <a:uLnTx/>
              <a:uFillTx/>
              <a:latin typeface="+mn-ea"/>
              <a:ea typeface="+mn-ea"/>
              <a:cs typeface="+mn-ea"/>
            </a:endParaRPr>
          </a:p>
          <a:p>
            <a:pPr marL="720725" marR="0" lvl="1" indent="-360680" algn="l" defTabSz="914400" rtl="0" eaLnBrk="0" fontAlgn="base" latinLnBrk="0" hangingPunct="0">
              <a:lnSpc>
                <a:spcPct val="150000"/>
              </a:lnSpc>
              <a:spcBef>
                <a:spcPts val="600"/>
              </a:spcBef>
              <a:spcAft>
                <a:spcPct val="0"/>
              </a:spcAft>
              <a:buClrTx/>
              <a:buSzTx/>
              <a:buFontTx/>
              <a:buChar char="•"/>
              <a:defRPr/>
            </a:pPr>
            <a:r>
              <a:rPr kumimoji="0" lang="zh-CN" altLang="en-US" sz="1800" b="1" i="0" u="none" strike="noStrike" kern="0" cap="none" spc="0" normalizeH="0" baseline="0" noProof="0" dirty="0" smtClean="0">
                <a:ln>
                  <a:noFill/>
                </a:ln>
                <a:solidFill>
                  <a:srgbClr val="FF0000"/>
                </a:solidFill>
                <a:effectLst/>
                <a:uLnTx/>
                <a:uFillTx/>
                <a:latin typeface="+mn-ea"/>
                <a:ea typeface="+mn-ea"/>
                <a:cs typeface="+mn-ea"/>
              </a:rPr>
              <a:t>在</a:t>
            </a:r>
            <a:r>
              <a:rPr kumimoji="0" lang="en-US" altLang="zh-CN" sz="1800" b="1" i="0" u="none" strike="noStrike" kern="0" cap="none" spc="0" normalizeH="0" baseline="0" noProof="0" dirty="0" smtClean="0">
                <a:ln>
                  <a:noFill/>
                </a:ln>
                <a:solidFill>
                  <a:srgbClr val="FF0000"/>
                </a:solidFill>
                <a:effectLst/>
                <a:uLnTx/>
                <a:uFillTx/>
                <a:latin typeface="+mn-ea"/>
                <a:ea typeface="+mn-ea"/>
                <a:cs typeface="+mn-ea"/>
              </a:rPr>
              <a:t>TLB</a:t>
            </a:r>
            <a:r>
              <a:rPr kumimoji="0" lang="zh-CN" altLang="en-US" sz="1800" b="1" i="0" u="none" strike="noStrike" kern="0" cap="none" spc="0" normalizeH="0" baseline="0" noProof="0" dirty="0" smtClean="0">
                <a:ln>
                  <a:noFill/>
                </a:ln>
                <a:solidFill>
                  <a:srgbClr val="FF0000"/>
                </a:solidFill>
                <a:effectLst/>
                <a:uLnTx/>
                <a:uFillTx/>
                <a:latin typeface="+mn-ea"/>
                <a:ea typeface="+mn-ea"/>
                <a:cs typeface="+mn-ea"/>
              </a:rPr>
              <a:t>中找到对应项，但相应页不在内存（未分配或已调出内存）</a:t>
            </a:r>
            <a:endParaRPr kumimoji="0" lang="zh-CN" altLang="en-US" sz="1800" b="1" i="0" u="none" strike="noStrike" kern="0" cap="none" spc="0" normalizeH="0" baseline="0" noProof="0" dirty="0" smtClean="0">
              <a:ln>
                <a:noFill/>
              </a:ln>
              <a:solidFill>
                <a:srgbClr val="FF0000"/>
              </a:solidFill>
              <a:effectLst/>
              <a:uLnTx/>
              <a:uFillTx/>
              <a:latin typeface="+mn-ea"/>
              <a:ea typeface="+mn-ea"/>
              <a:cs typeface="+mn-ea"/>
            </a:endParaRPr>
          </a:p>
        </p:txBody>
      </p:sp>
      <p:sp>
        <p:nvSpPr>
          <p:cNvPr id="64516"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Font typeface="Arial" panose="02080604020202020204" pitchFamily="34" charset="0"/>
              <a:buNone/>
              <a:defRPr sz="18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80604020202020204" pitchFamily="34" charset="0"/>
              <a:buNone/>
              <a:defRPr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fld id="{9A0DB2DC-4C9A-4742-B13C-FB6460FD3503}" type="slidenum">
              <a:rPr lang="en-US" altLang="zh-CN" sz="1400" dirty="0"/>
            </a:fld>
            <a:endParaRPr lang="en-US" altLang="zh-CN" sz="1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3555" name="Rectangle 2"/>
          <p:cNvSpPr>
            <a:spLocks noGrp="1"/>
          </p:cNvSpPr>
          <p:nvPr>
            <p:ph type="title"/>
          </p:nvPr>
        </p:nvSpPr>
        <p:spPr>
          <a:xfrm>
            <a:off x="863600" y="0"/>
            <a:ext cx="10361613" cy="565150"/>
          </a:xfrm>
        </p:spPr>
        <p:txBody>
          <a:bodyPr vert="horz" wrap="square" lIns="91440" tIns="45720" rIns="91440" bIns="45720" anchor="ctr" anchorCtr="0"/>
          <a:p>
            <a:pPr eaLnBrk="1" hangingPunct="1"/>
            <a:r>
              <a:rPr lang="zh-CN" altLang="en-US" dirty="0"/>
              <a:t>例子</a:t>
            </a:r>
            <a:endParaRPr lang="zh-CN" altLang="en-US" dirty="0"/>
          </a:p>
        </p:txBody>
      </p:sp>
      <p:sp>
        <p:nvSpPr>
          <p:cNvPr id="38916" name="Rectangle 3"/>
          <p:cNvSpPr>
            <a:spLocks noGrp="1" noChangeArrowheads="1"/>
          </p:cNvSpPr>
          <p:nvPr>
            <p:ph idx="1"/>
          </p:nvPr>
        </p:nvSpPr>
        <p:spPr>
          <a:xfrm>
            <a:off x="127000" y="784225"/>
            <a:ext cx="11961813" cy="6054725"/>
          </a:xfrm>
        </p:spPr>
        <p:txBody>
          <a:bodyPr vert="horz" wrap="square" lIns="91440" tIns="45720" rIns="91440" bIns="45720" numCol="1" anchor="t" anchorCtr="0" compatLnSpc="1"/>
          <a:lstStyle/>
          <a:p>
            <a:pPr marL="342900" marR="0" lvl="0" indent="-342900" algn="l" defTabSz="914400" rtl="0" eaLnBrk="1"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array = (</a:t>
            </a:r>
            <a:r>
              <a:rPr kumimoji="1" lang="en-US" altLang="zh-CN" sz="20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int</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20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malloc</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(0x1000);</a:t>
            </a: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用户程序</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malloc</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(0x1000)</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返回虚地址</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0x450000</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操作系统在该进程的</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vma_struct</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链表中记录地址范围</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0x450000-0x451000</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为已分配地址，可读可写</a:t>
            </a:r>
            <a:endPar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for (i=0; i&lt;1024; i++) Array[</a:t>
            </a:r>
            <a:r>
              <a:rPr kumimoji="1" lang="en-US" altLang="zh-CN" sz="20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 = 0;</a:t>
            </a: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用户程序试图写</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0x450000</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查找失败，引起</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 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endPar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 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从相应页表位置取入页表内容填入</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。但该页表还没初始化</a:t>
            </a:r>
            <a:endPar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例外返回到用户程序，重新开始访问</a:t>
            </a:r>
            <a:endPar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表项找到，但是无效，发生</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 Invalid</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endPar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操作系统查找</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vma_struct</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，判断该地址已分配，处于可写状态，因此为它分配物理页面，并将物理地址填入页表，更新</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例外返回，写操作再次重试，成功。</a:t>
            </a:r>
            <a:endPar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Bef>
                <a:spcPct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用户程序继续写</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0x450004,008…</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，因为</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项已经存在，将全速运行，除非中间发生进程切换导致其</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项被换出。如果发生被换出的情况，再次运行时将发生</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例外从页表取得有效内容，不会再发生</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invalid</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因此</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频率</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&gt;&gt;invalid)</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为什么要分成两次例外？</a:t>
            </a:r>
            <a:endPar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4579" name="Rectangle 2"/>
          <p:cNvSpPr>
            <a:spLocks noGrp="1"/>
          </p:cNvSpPr>
          <p:nvPr>
            <p:ph type="title"/>
          </p:nvPr>
        </p:nvSpPr>
        <p:spPr>
          <a:xfrm>
            <a:off x="1049338" y="2797175"/>
            <a:ext cx="10361612" cy="1143000"/>
          </a:xfrm>
        </p:spPr>
        <p:txBody>
          <a:bodyPr vert="horz" wrap="square" lIns="91440" tIns="45720" rIns="91440" bIns="45720" anchor="ctr" anchorCtr="0"/>
          <a:p>
            <a:pPr eaLnBrk="1" hangingPunct="1"/>
            <a:r>
              <a:rPr lang="en-US" altLang="zh-CN" sz="3600" dirty="0"/>
              <a:t>MIPS</a:t>
            </a:r>
            <a:r>
              <a:rPr lang="zh-CN" altLang="en-US" sz="3600" dirty="0"/>
              <a:t>处理器对虚存系统的支持</a:t>
            </a:r>
            <a:endParaRPr lang="zh-CN" alt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5603" name="Rectangle 2"/>
          <p:cNvSpPr>
            <a:spLocks noGrp="1"/>
          </p:cNvSpPr>
          <p:nvPr>
            <p:ph type="title"/>
          </p:nvPr>
        </p:nvSpPr>
        <p:spPr>
          <a:xfrm>
            <a:off x="1162050" y="373063"/>
            <a:ext cx="10361613" cy="700087"/>
          </a:xfrm>
        </p:spPr>
        <p:txBody>
          <a:bodyPr vert="horz" wrap="square" lIns="91440" tIns="45720" rIns="91440" bIns="45720" anchor="ctr" anchorCtr="0"/>
          <a:p>
            <a:pPr eaLnBrk="1" hangingPunct="1"/>
            <a:r>
              <a:rPr lang="en-US" altLang="zh-CN" dirty="0"/>
              <a:t>MIPS</a:t>
            </a:r>
            <a:r>
              <a:rPr lang="zh-CN" altLang="en-US" dirty="0"/>
              <a:t>处理器对虚拟存储的支持</a:t>
            </a:r>
            <a:endParaRPr lang="zh-CN" altLang="en-US" dirty="0"/>
          </a:p>
        </p:txBody>
      </p:sp>
      <p:sp>
        <p:nvSpPr>
          <p:cNvPr id="21508" name="Rectangle 3"/>
          <p:cNvSpPr>
            <a:spLocks noGrp="1" noChangeArrowheads="1"/>
          </p:cNvSpPr>
          <p:nvPr>
            <p:ph idx="1"/>
          </p:nvPr>
        </p:nvSpPr>
        <p:spPr>
          <a:xfrm>
            <a:off x="1130300" y="1547813"/>
            <a:ext cx="10361613" cy="44815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b="1" i="0" u="none" strike="noStrike" kern="0" cap="none" spc="0" normalizeH="0" baseline="0" noProof="0" dirty="0" smtClean="0">
                <a:ln>
                  <a:noFill/>
                </a:ln>
                <a:solidFill>
                  <a:schemeClr val="tx1"/>
                </a:solidFill>
                <a:effectLst/>
                <a:uLnTx/>
                <a:uFillTx/>
                <a:latin typeface="+mn-ea"/>
                <a:ea typeface="+mn-ea"/>
                <a:cs typeface="+mn-cs"/>
              </a:rPr>
              <a:t>分段，段内分页</a:t>
            </a:r>
            <a:endParaRPr kumimoji="1" lang="zh-CN" altLang="en-US"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b="1" i="0" u="none" strike="noStrike" kern="0" cap="none" spc="0" normalizeH="0" baseline="0" noProof="0" dirty="0" smtClean="0">
                <a:ln>
                  <a:noFill/>
                </a:ln>
                <a:solidFill>
                  <a:schemeClr val="tx1"/>
                </a:solidFill>
                <a:effectLst/>
                <a:uLnTx/>
                <a:uFillTx/>
                <a:latin typeface="+mn-ea"/>
                <a:ea typeface="+mn-ea"/>
                <a:cs typeface="+mn-cs"/>
              </a:rPr>
              <a:t>TLB</a:t>
            </a:r>
            <a:endParaRPr kumimoji="1" lang="en-US" altLang="zh-CN"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b="1" i="0" u="none" strike="noStrike" kern="0" cap="none" spc="0" normalizeH="0" baseline="0" noProof="0" dirty="0" smtClean="0">
                <a:ln>
                  <a:noFill/>
                </a:ln>
                <a:solidFill>
                  <a:schemeClr val="tx1"/>
                </a:solidFill>
                <a:effectLst/>
                <a:uLnTx/>
                <a:uFillTx/>
                <a:latin typeface="+mn-ea"/>
                <a:ea typeface="+mn-ea"/>
                <a:cs typeface="+mn-cs"/>
              </a:rPr>
              <a:t>特殊的控制寄存器</a:t>
            </a:r>
            <a:endParaRPr kumimoji="1" lang="zh-CN" altLang="en-US"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b="1" i="0" u="none" strike="noStrike" kern="0" cap="none" spc="0" normalizeH="0" baseline="0" noProof="0" dirty="0" smtClean="0">
                <a:ln>
                  <a:noFill/>
                </a:ln>
                <a:solidFill>
                  <a:schemeClr val="tx1"/>
                </a:solidFill>
                <a:effectLst/>
                <a:uLnTx/>
                <a:uFillTx/>
                <a:latin typeface="+mn-ea"/>
                <a:ea typeface="+mn-ea"/>
                <a:cs typeface="+mn-cs"/>
              </a:rPr>
              <a:t>特殊指令</a:t>
            </a:r>
            <a:endParaRPr kumimoji="1" lang="zh-CN" altLang="en-US"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b="1" i="0" u="none" strike="noStrike" kern="0" cap="none" spc="0" normalizeH="0" baseline="0" noProof="0" dirty="0" smtClean="0">
                <a:ln>
                  <a:noFill/>
                </a:ln>
                <a:solidFill>
                  <a:schemeClr val="tx1"/>
                </a:solidFill>
                <a:effectLst/>
                <a:uLnTx/>
                <a:uFillTx/>
                <a:latin typeface="+mn-ea"/>
                <a:ea typeface="+mn-ea"/>
                <a:cs typeface="+mn-cs"/>
              </a:rPr>
              <a:t>专用的例外入口</a:t>
            </a:r>
            <a:endParaRPr kumimoji="1" lang="zh-CN" altLang="zh-CN"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endParaRPr kumimoji="1" lang="zh-CN" altLang="zh-CN"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6627" name="Rectangle 2"/>
          <p:cNvSpPr>
            <a:spLocks noGrp="1"/>
          </p:cNvSpPr>
          <p:nvPr>
            <p:ph type="title"/>
          </p:nvPr>
        </p:nvSpPr>
        <p:spPr/>
        <p:txBody>
          <a:bodyPr vert="horz" wrap="square" lIns="91440" tIns="45720" rIns="91440" bIns="45720" anchor="ctr" anchorCtr="0"/>
          <a:p>
            <a:pPr eaLnBrk="1" hangingPunct="1"/>
            <a:r>
              <a:rPr lang="en-US" altLang="zh-CN" dirty="0"/>
              <a:t>MIPS</a:t>
            </a:r>
            <a:r>
              <a:rPr lang="zh-CN" altLang="en-US" dirty="0"/>
              <a:t>的访问权限</a:t>
            </a:r>
            <a:endParaRPr lang="zh-CN" altLang="en-US" dirty="0"/>
          </a:p>
        </p:txBody>
      </p:sp>
      <p:sp>
        <p:nvSpPr>
          <p:cNvPr id="26628" name="Rectangle 3"/>
          <p:cNvSpPr>
            <a:spLocks noGrp="1"/>
          </p:cNvSpPr>
          <p:nvPr>
            <p:ph idx="1"/>
          </p:nvPr>
        </p:nvSpPr>
        <p:spPr/>
        <p:txBody>
          <a:bodyPr vert="horz" wrap="square" lIns="91440" tIns="45720" rIns="91440" bIns="45720" anchor="t" anchorCtr="0"/>
          <a:p>
            <a:pPr eaLnBrk="1" hangingPunct="1">
              <a:spcBef>
                <a:spcPct val="0"/>
              </a:spcBef>
            </a:pPr>
            <a:r>
              <a:rPr kumimoji="1" lang="en-US" altLang="zh-CN" dirty="0">
                <a:latin typeface="宋体" panose="02000500000000000000" pitchFamily="2" charset="-122"/>
                <a:ea typeface="宋体" panose="02000500000000000000" pitchFamily="2" charset="-122"/>
                <a:cs typeface="+mn-cs"/>
              </a:rPr>
              <a:t>User mode</a:t>
            </a:r>
            <a:endParaRPr kumimoji="1" lang="en-US" altLang="zh-CN" dirty="0">
              <a:latin typeface="宋体" panose="02000500000000000000" pitchFamily="2" charset="-122"/>
              <a:ea typeface="宋体" panose="02000500000000000000" pitchFamily="2" charset="-122"/>
              <a:cs typeface="+mn-cs"/>
            </a:endParaRPr>
          </a:p>
          <a:p>
            <a:pPr lvl="1" eaLnBrk="1" hangingPunct="1">
              <a:spcBef>
                <a:spcPct val="0"/>
              </a:spcBef>
            </a:pPr>
            <a:r>
              <a:rPr kumimoji="1" lang="en-US" altLang="zh-CN" dirty="0">
                <a:latin typeface="宋体" panose="02000500000000000000" pitchFamily="2" charset="-122"/>
                <a:ea typeface="宋体" panose="02000500000000000000" pitchFamily="2" charset="-122"/>
              </a:rPr>
              <a:t>EXL=0 and ERL=0 and KSU=10</a:t>
            </a:r>
            <a:endParaRPr kumimoji="1" lang="en-US" altLang="zh-CN" dirty="0">
              <a:latin typeface="宋体" panose="02000500000000000000" pitchFamily="2" charset="-122"/>
              <a:ea typeface="宋体" panose="02000500000000000000" pitchFamily="2" charset="-122"/>
            </a:endParaRPr>
          </a:p>
          <a:p>
            <a:pPr eaLnBrk="1" hangingPunct="1">
              <a:spcBef>
                <a:spcPct val="0"/>
              </a:spcBef>
            </a:pPr>
            <a:r>
              <a:rPr kumimoji="1" lang="en-US" altLang="zh-CN" dirty="0">
                <a:latin typeface="宋体" panose="02000500000000000000" pitchFamily="2" charset="-122"/>
                <a:ea typeface="宋体" panose="02000500000000000000" pitchFamily="2" charset="-122"/>
                <a:cs typeface="+mn-cs"/>
              </a:rPr>
              <a:t>Supervisor mode</a:t>
            </a:r>
            <a:endParaRPr kumimoji="1" lang="en-US" altLang="zh-CN" dirty="0">
              <a:latin typeface="宋体" panose="02000500000000000000" pitchFamily="2" charset="-122"/>
              <a:ea typeface="宋体" panose="02000500000000000000" pitchFamily="2" charset="-122"/>
              <a:cs typeface="+mn-cs"/>
            </a:endParaRPr>
          </a:p>
          <a:p>
            <a:pPr lvl="1" eaLnBrk="1" hangingPunct="1">
              <a:spcBef>
                <a:spcPct val="0"/>
              </a:spcBef>
            </a:pPr>
            <a:r>
              <a:rPr kumimoji="1" lang="en-US" altLang="zh-CN" dirty="0">
                <a:latin typeface="宋体" panose="02000500000000000000" pitchFamily="2" charset="-122"/>
                <a:ea typeface="宋体" panose="02000500000000000000" pitchFamily="2" charset="-122"/>
              </a:rPr>
              <a:t>EXL=0 and ERL=0 and KSU=01</a:t>
            </a:r>
            <a:endParaRPr kumimoji="1" lang="en-US" altLang="zh-CN" dirty="0">
              <a:latin typeface="宋体" panose="02000500000000000000" pitchFamily="2" charset="-122"/>
              <a:ea typeface="宋体" panose="02000500000000000000" pitchFamily="2" charset="-122"/>
            </a:endParaRPr>
          </a:p>
          <a:p>
            <a:pPr eaLnBrk="1" hangingPunct="1">
              <a:spcBef>
                <a:spcPct val="0"/>
              </a:spcBef>
            </a:pPr>
            <a:r>
              <a:rPr kumimoji="1" lang="en-US" altLang="zh-CN" dirty="0">
                <a:latin typeface="宋体" panose="02000500000000000000" pitchFamily="2" charset="-122"/>
                <a:ea typeface="宋体" panose="02000500000000000000" pitchFamily="2" charset="-122"/>
                <a:cs typeface="+mn-cs"/>
              </a:rPr>
              <a:t>Kernel mode</a:t>
            </a:r>
            <a:endParaRPr kumimoji="1" lang="en-US" altLang="zh-CN" dirty="0">
              <a:latin typeface="宋体" panose="02000500000000000000" pitchFamily="2" charset="-122"/>
              <a:ea typeface="宋体" panose="02000500000000000000" pitchFamily="2" charset="-122"/>
              <a:cs typeface="+mn-cs"/>
            </a:endParaRPr>
          </a:p>
          <a:p>
            <a:pPr lvl="1" eaLnBrk="1" hangingPunct="1">
              <a:spcBef>
                <a:spcPct val="0"/>
              </a:spcBef>
            </a:pPr>
            <a:r>
              <a:rPr kumimoji="1" lang="en-US" altLang="zh-CN" dirty="0">
                <a:latin typeface="宋体" panose="02000500000000000000" pitchFamily="2" charset="-122"/>
                <a:ea typeface="宋体" panose="02000500000000000000" pitchFamily="2" charset="-122"/>
              </a:rPr>
              <a:t>EXL=1 or ERL=1 or KSU=00</a:t>
            </a:r>
            <a:endParaRPr kumimoji="1" lang="en-US" altLang="zh-CN" dirty="0">
              <a:latin typeface="宋体" panose="02000500000000000000" pitchFamily="2" charset="-122"/>
              <a:ea typeface="宋体" panose="02000500000000000000" pitchFamily="2" charset="-122"/>
            </a:endParaRPr>
          </a:p>
          <a:p>
            <a:pPr eaLnBrk="1" hangingPunct="1">
              <a:spcBef>
                <a:spcPct val="0"/>
              </a:spcBef>
            </a:pPr>
            <a:endParaRPr kumimoji="1" lang="en-US" altLang="zh-CN" dirty="0">
              <a:latin typeface="宋体" panose="02000500000000000000" pitchFamily="2" charset="-122"/>
              <a:ea typeface="宋体" panose="02000500000000000000" pitchFamily="2" charset="-122"/>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7651" name="Rectangle 2"/>
          <p:cNvSpPr>
            <a:spLocks noGrp="1"/>
          </p:cNvSpPr>
          <p:nvPr>
            <p:ph type="title"/>
          </p:nvPr>
        </p:nvSpPr>
        <p:spPr>
          <a:xfrm>
            <a:off x="939800" y="76200"/>
            <a:ext cx="10361613" cy="744538"/>
          </a:xfrm>
        </p:spPr>
        <p:txBody>
          <a:bodyPr vert="horz" wrap="square" lIns="91440" tIns="45720" rIns="91440" bIns="45720" anchor="ctr" anchorCtr="0"/>
          <a:p>
            <a:pPr eaLnBrk="1" hangingPunct="1"/>
            <a:r>
              <a:rPr lang="en-US" altLang="zh-CN" dirty="0"/>
              <a:t>MIPS</a:t>
            </a:r>
            <a:r>
              <a:rPr lang="zh-CN" altLang="en-US" dirty="0"/>
              <a:t>存储空间分段情况</a:t>
            </a:r>
            <a:endParaRPr lang="zh-CN" altLang="en-US" dirty="0"/>
          </a:p>
        </p:txBody>
      </p:sp>
      <p:graphicFrame>
        <p:nvGraphicFramePr>
          <p:cNvPr id="505978" name="Group 122"/>
          <p:cNvGraphicFramePr>
            <a:graphicFrameLocks noGrp="1"/>
          </p:cNvGraphicFramePr>
          <p:nvPr>
            <p:ph idx="1"/>
          </p:nvPr>
        </p:nvGraphicFramePr>
        <p:xfrm>
          <a:off x="1100138" y="2203450"/>
          <a:ext cx="9485666" cy="3216277"/>
        </p:xfrm>
        <a:graphic>
          <a:graphicData uri="http://schemas.openxmlformats.org/drawingml/2006/table">
            <a:tbl>
              <a:tblPr/>
              <a:tblGrid>
                <a:gridCol w="1894171"/>
                <a:gridCol w="996820"/>
                <a:gridCol w="2105810"/>
                <a:gridCol w="1661366"/>
                <a:gridCol w="2827499"/>
              </a:tblGrid>
              <a:tr h="338138">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地址范围</a:t>
                      </a:r>
                      <a:endPar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容量</a:t>
                      </a:r>
                      <a:endPar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映射方式</a:t>
                      </a:r>
                      <a:endPar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Cached</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访问权限</a:t>
                      </a:r>
                      <a:endPar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0xe0000000-0xffffffff</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0.5GB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查找</a:t>
                      </a: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TLB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Yes (TLB)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Kernel</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0xc0000000-0xdfffffff</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0.5GB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查找</a:t>
                      </a: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TLB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Yes (TLB)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Kernel, Supervisor</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0xa0000000-0xbfffffff</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0.5GB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地址</a:t>
                      </a: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-0xa0000000</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No</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Kernel</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0x80000000-0x9fffffff</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0.5GB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地址</a:t>
                      </a: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-0x80000000</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Yes (Config)</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Kernel</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6263">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0x00000000-0x7fffffff</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2GB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zh-CN" altLang="en-US"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查找</a:t>
                      </a: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TLB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Yes (TLB)</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10000"/>
                        </a:spcBef>
                        <a:spcAft>
                          <a:spcPct val="0"/>
                        </a:spcAft>
                        <a:buClrTx/>
                        <a:buSzTx/>
                        <a:buFontTx/>
                        <a:buNone/>
                      </a:pPr>
                      <a:r>
                        <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Kernel, Supervisor, User</a:t>
                      </a:r>
                      <a:endParaRPr kumimoji="1" lang="en-US" altLang="zh-CN" sz="14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7696" name="Rectangle 120"/>
          <p:cNvSpPr/>
          <p:nvPr/>
        </p:nvSpPr>
        <p:spPr>
          <a:xfrm>
            <a:off x="989013" y="1481138"/>
            <a:ext cx="10361612" cy="771525"/>
          </a:xfrm>
          <a:prstGeom prst="rect">
            <a:avLst/>
          </a:prstGeom>
          <a:noFill/>
          <a:ln w="9525">
            <a:noFill/>
          </a:ln>
        </p:spPr>
        <p:txBody>
          <a:bodyPr/>
          <a:p>
            <a:pPr marL="342900" indent="-342900">
              <a:lnSpc>
                <a:spcPct val="110000"/>
              </a:lnSpc>
              <a:spcBef>
                <a:spcPct val="10000"/>
              </a:spcBef>
              <a:buChar char="•"/>
            </a:pPr>
            <a:r>
              <a:rPr lang="en-US" altLang="zh-CN" sz="2400" b="1" dirty="0">
                <a:latin typeface="宋体" panose="02000500000000000000" pitchFamily="2" charset="-122"/>
                <a:cs typeface="宋体" panose="02000500000000000000" pitchFamily="2" charset="-122"/>
              </a:rPr>
              <a:t>32</a:t>
            </a:r>
            <a:r>
              <a:rPr lang="zh-CN" altLang="en-US" sz="2400" b="1" dirty="0">
                <a:latin typeface="宋体" panose="02000500000000000000" pitchFamily="2" charset="-122"/>
                <a:cs typeface="宋体" panose="02000500000000000000" pitchFamily="2" charset="-122"/>
              </a:rPr>
              <a:t>位模式</a:t>
            </a:r>
            <a:endParaRPr lang="zh-CN" altLang="en-US" sz="2400" b="1" dirty="0">
              <a:latin typeface="宋体" panose="02000500000000000000" pitchFamily="2" charset="-122"/>
              <a:cs typeface="宋体" panose="02000500000000000000"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8675" name="Rectangle 2"/>
          <p:cNvSpPr>
            <a:spLocks noGrp="1"/>
          </p:cNvSpPr>
          <p:nvPr>
            <p:ph type="title"/>
          </p:nvPr>
        </p:nvSpPr>
        <p:spPr>
          <a:xfrm>
            <a:off x="938213" y="293688"/>
            <a:ext cx="10361612" cy="695325"/>
          </a:xfrm>
        </p:spPr>
        <p:txBody>
          <a:bodyPr vert="horz" wrap="square" lIns="91440" tIns="45720" rIns="91440" bIns="45720" anchor="ctr" anchorCtr="0"/>
          <a:p>
            <a:pPr eaLnBrk="1" hangingPunct="1"/>
            <a:r>
              <a:rPr lang="en-US" altLang="zh-CN" dirty="0"/>
              <a:t>Linux/MIPS</a:t>
            </a:r>
            <a:r>
              <a:rPr lang="zh-CN" altLang="en-US" dirty="0"/>
              <a:t>虚拟地址空间安排</a:t>
            </a:r>
            <a:endParaRPr lang="zh-CN" altLang="en-US" dirty="0"/>
          </a:p>
        </p:txBody>
      </p:sp>
      <p:graphicFrame>
        <p:nvGraphicFramePr>
          <p:cNvPr id="526416" name="Group 80"/>
          <p:cNvGraphicFramePr>
            <a:graphicFrameLocks noGrp="1"/>
          </p:cNvGraphicFramePr>
          <p:nvPr/>
        </p:nvGraphicFramePr>
        <p:xfrm>
          <a:off x="2726055" y="1325880"/>
          <a:ext cx="6786245" cy="5031741"/>
        </p:xfrm>
        <a:graphic>
          <a:graphicData uri="http://schemas.openxmlformats.org/drawingml/2006/table">
            <a:tbl>
              <a:tblPr/>
              <a:tblGrid>
                <a:gridCol w="2012315"/>
                <a:gridCol w="4773930"/>
              </a:tblGrid>
              <a:tr h="1158240">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0xFFFFFFFF</a:t>
                      </a:r>
                      <a:endParaRPr kumimoji="1" lang="en-US" altLang="zh-CN"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endParaRPr kumimoji="1" lang="en-US" altLang="zh-CN"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0xC000 0000</a:t>
                      </a:r>
                      <a:endParaRPr kumimoji="1" lang="en-US" altLang="zh-CN" sz="18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anchor="b"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accent2"/>
                          </a:solidFill>
                          <a:effectLst/>
                          <a:latin typeface="宋体" panose="02000500000000000000" pitchFamily="2" charset="-122"/>
                          <a:ea typeface="宋体" panose="02000500000000000000" pitchFamily="2" charset="-122"/>
                          <a:cs typeface="宋体" panose="02000500000000000000" pitchFamily="2" charset="-122"/>
                        </a:rPr>
                        <a:t>mapped(kseg2/3)</a:t>
                      </a:r>
                      <a:endParaRPr kumimoji="1" lang="en-US" altLang="zh-CN" sz="1600" b="1" i="0" u="none" strike="noStrike" cap="none" normalizeH="0" baseline="0" dirty="0" smtClean="0">
                        <a:ln>
                          <a:noFill/>
                        </a:ln>
                        <a:solidFill>
                          <a:schemeClr val="accent2"/>
                        </a:solidFill>
                        <a:effectLst/>
                        <a:latin typeface="宋体" panose="02000500000000000000" pitchFamily="2" charset="-122"/>
                        <a:ea typeface="宋体" panose="02000500000000000000" pitchFamily="2" charset="-122"/>
                        <a:cs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1" lang="zh-CN" altLang="en-US"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内核模块 </a:t>
                      </a:r>
                      <a:r>
                        <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vmalloc</a:t>
                      </a:r>
                      <a:endPar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74738">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8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0xA000 0000</a:t>
                      </a:r>
                      <a:endParaRPr kumimoji="1" lang="en-US" altLang="zh-CN" sz="18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b" horzOverflow="overflow">
                    <a:lnL cap="flat">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accent2"/>
                          </a:solidFill>
                          <a:effectLst/>
                          <a:latin typeface="宋体" panose="02000500000000000000" pitchFamily="2" charset="-122"/>
                          <a:ea typeface="宋体" panose="02000500000000000000" pitchFamily="2" charset="-122"/>
                        </a:rPr>
                        <a:t>Unmapped </a:t>
                      </a:r>
                      <a:r>
                        <a:rPr kumimoji="1" lang="en-US" altLang="zh-CN" sz="1600" b="1" i="0" u="none" strike="noStrike" cap="none" normalizeH="0" baseline="0" dirty="0" err="1" smtClean="0">
                          <a:ln>
                            <a:noFill/>
                          </a:ln>
                          <a:solidFill>
                            <a:schemeClr val="accent2"/>
                          </a:solidFill>
                          <a:effectLst/>
                          <a:latin typeface="宋体" panose="02000500000000000000" pitchFamily="2" charset="-122"/>
                          <a:ea typeface="宋体" panose="02000500000000000000" pitchFamily="2" charset="-122"/>
                        </a:rPr>
                        <a:t>uncached</a:t>
                      </a:r>
                      <a:r>
                        <a:rPr kumimoji="1" lang="en-US" altLang="zh-CN" sz="1600" b="1" i="0" u="none" strike="noStrike" cap="none" normalizeH="0" baseline="0" dirty="0" smtClean="0">
                          <a:ln>
                            <a:noFill/>
                          </a:ln>
                          <a:solidFill>
                            <a:schemeClr val="accent2"/>
                          </a:solidFill>
                          <a:effectLst/>
                          <a:latin typeface="宋体" panose="02000500000000000000" pitchFamily="2" charset="-122"/>
                          <a:ea typeface="宋体" panose="02000500000000000000" pitchFamily="2" charset="-122"/>
                        </a:rPr>
                        <a:t>(kseg1)</a:t>
                      </a:r>
                      <a:endParaRPr kumimoji="1" lang="en-US" altLang="zh-CN" sz="1600" b="1" i="0" u="none" strike="noStrike" cap="none" normalizeH="0" baseline="0" dirty="0" smtClean="0">
                        <a:ln>
                          <a:noFill/>
                        </a:ln>
                        <a:solidFill>
                          <a:schemeClr val="accent2"/>
                        </a:solidFill>
                        <a:effectLst/>
                        <a:latin typeface="宋体" panose="02000500000000000000" pitchFamily="2" charset="-122"/>
                        <a:ea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Uncached</a:t>
                      </a: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phy</a:t>
                      </a: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mem</a:t>
                      </a: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r>
                        <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ROM, Register, </a:t>
                      </a:r>
                      <a:endPar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PCI</a:t>
                      </a: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IO/MEM etc.</a:t>
                      </a:r>
                      <a:endPar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62050">
                <a:tc>
                  <a:txBody>
                    <a:bodyPr/>
                    <a:lstStyle/>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a:t>
                      </a:r>
                      <a:r>
                        <a:rPr kumimoji="1" lang="en-US" altLang="zh-CN" sz="18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0x8000 0000</a:t>
                      </a:r>
                      <a:endParaRPr kumimoji="1" lang="en-US" altLang="zh-CN" sz="18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b"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accent2"/>
                          </a:solidFill>
                          <a:effectLst/>
                          <a:latin typeface="宋体" panose="02000500000000000000" pitchFamily="2" charset="-122"/>
                          <a:ea typeface="宋体" panose="02000500000000000000" pitchFamily="2" charset="-122"/>
                          <a:cs typeface="宋体" panose="02000500000000000000" pitchFamily="2" charset="-122"/>
                        </a:rPr>
                        <a:t>Unmapped cached(kseg0)</a:t>
                      </a:r>
                      <a:endParaRPr kumimoji="1" lang="en-US" altLang="zh-CN" sz="1600" b="1" i="0" u="none" strike="noStrike" cap="none" normalizeH="0" baseline="0" dirty="0" smtClean="0">
                        <a:ln>
                          <a:noFill/>
                        </a:ln>
                        <a:solidFill>
                          <a:schemeClr val="accent2"/>
                        </a:solidFill>
                        <a:effectLst/>
                        <a:latin typeface="宋体" panose="02000500000000000000" pitchFamily="2" charset="-122"/>
                        <a:ea typeface="宋体" panose="02000500000000000000" pitchFamily="2" charset="-122"/>
                        <a:cs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      </a:t>
                      </a:r>
                      <a:r>
                        <a:rPr kumimoji="1" lang="zh-CN" altLang="en-US"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rPr>
                        <a:t>内核数据和代码</a:t>
                      </a:r>
                      <a:endParaRPr kumimoji="1" lang="zh-CN" altLang="en-US"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cs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636713">
                <a:tc>
                  <a:txBody>
                    <a:bodyPr/>
                    <a:lstStyle/>
                    <a:p>
                      <a:pPr marL="0" marR="0" lvl="0" indent="0" algn="r" defTabSz="914400" rtl="0" eaLnBrk="1" fontAlgn="base" latinLnBrk="0" hangingPunct="1">
                        <a:lnSpc>
                          <a:spcPct val="110000"/>
                        </a:lnSpc>
                        <a:spcBef>
                          <a:spcPct val="10000"/>
                        </a:spcBef>
                        <a:spcAft>
                          <a:spcPct val="0"/>
                        </a:spcAft>
                        <a:buClrTx/>
                        <a:buSzTx/>
                        <a:buFontTx/>
                        <a:buNone/>
                      </a:pP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    </a:t>
                      </a: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p>
                      <a:pPr marL="0" marR="0" lvl="0" indent="0" algn="r" defTabSz="914400" rtl="0" eaLnBrk="1" fontAlgn="base" latinLnBrk="0" hangingPunct="1">
                        <a:lnSpc>
                          <a:spcPct val="110000"/>
                        </a:lnSpc>
                        <a:spcBef>
                          <a:spcPct val="10000"/>
                        </a:spcBef>
                        <a:spcAft>
                          <a:spcPct val="0"/>
                        </a:spcAft>
                        <a:buClrTx/>
                        <a:buSzTx/>
                        <a:buFontTx/>
                        <a:buNone/>
                      </a:pPr>
                      <a:endParaRPr kumimoji="1" lang="en-US" altLang="zh-CN" sz="16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p>
                      <a:pPr marL="0" marR="0" lvl="0" indent="0" algn="r" defTabSz="914400" rtl="0" eaLnBrk="1" fontAlgn="base" latinLnBrk="0" hangingPunct="1">
                        <a:lnSpc>
                          <a:spcPct val="110000"/>
                        </a:lnSpc>
                        <a:spcBef>
                          <a:spcPct val="10000"/>
                        </a:spcBef>
                        <a:spcAft>
                          <a:spcPct val="0"/>
                        </a:spcAft>
                        <a:buClrTx/>
                        <a:buSzTx/>
                        <a:buFontTx/>
                        <a:buNone/>
                      </a:pPr>
                      <a:r>
                        <a:rPr kumimoji="1" lang="en-US" altLang="zh-CN" sz="18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rPr>
                        <a:t>0x0000 0000</a:t>
                      </a:r>
                      <a:endParaRPr kumimoji="1" lang="en-US" altLang="zh-CN" sz="1800" b="1" i="0" u="none" strike="noStrike" cap="none" normalizeH="0" baseline="0" smtClean="0">
                        <a:ln>
                          <a:noFill/>
                        </a:ln>
                        <a:solidFill>
                          <a:schemeClr val="tx1"/>
                        </a:solidFill>
                        <a:effectLst/>
                        <a:latin typeface="宋体" panose="02000500000000000000" pitchFamily="2" charset="-122"/>
                        <a:ea typeface="宋体" panose="02000500000000000000" pitchFamily="2" charset="-122"/>
                      </a:endParaRPr>
                    </a:p>
                  </a:txBody>
                  <a:tcPr marL="121904" marR="121904" anchor="b"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32-bit user space(</a:t>
                      </a:r>
                      <a:r>
                        <a:rPr kumimoji="1" lang="en-US" altLang="zh-CN" sz="1600" b="1" i="0" u="none" strike="noStrike" cap="none" normalizeH="0" baseline="0" dirty="0" err="1" smtClean="0">
                          <a:ln>
                            <a:noFill/>
                          </a:ln>
                          <a:solidFill>
                            <a:schemeClr val="tx1"/>
                          </a:solidFill>
                          <a:effectLst/>
                          <a:latin typeface="宋体" panose="02000500000000000000" pitchFamily="2" charset="-122"/>
                          <a:ea typeface="宋体" panose="02000500000000000000" pitchFamily="2" charset="-122"/>
                        </a:rPr>
                        <a:t>kuseg</a:t>
                      </a: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 </a:t>
                      </a:r>
                      <a:endPar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p>
                      <a:pPr marL="0" marR="0" lvl="0" indent="0" algn="ctr" defTabSz="914400" rtl="0" eaLnBrk="1" fontAlgn="base" latinLnBrk="0" hangingPunct="1">
                        <a:lnSpc>
                          <a:spcPct val="110000"/>
                        </a:lnSpc>
                        <a:spcBef>
                          <a:spcPct val="10000"/>
                        </a:spcBef>
                        <a:spcAft>
                          <a:spcPct val="0"/>
                        </a:spcAft>
                        <a:buClrTx/>
                        <a:buSzTx/>
                        <a:buFontTx/>
                        <a:buNone/>
                      </a:pPr>
                      <a:r>
                        <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rPr>
                        <a:t>(2GB)</a:t>
                      </a:r>
                      <a:endParaRPr kumimoji="1" lang="en-US" altLang="zh-CN" sz="1600" b="1" i="0" u="none" strike="noStrike" cap="none" normalizeH="0" baseline="0" dirty="0" smtClean="0">
                        <a:ln>
                          <a:noFill/>
                        </a:ln>
                        <a:solidFill>
                          <a:schemeClr val="tx1"/>
                        </a:solidFill>
                        <a:effectLst/>
                        <a:latin typeface="宋体" panose="02000500000000000000" pitchFamily="2" charset="-122"/>
                        <a:ea typeface="宋体" panose="02000500000000000000" pitchFamily="2" charset="-122"/>
                      </a:endParaRPr>
                    </a:p>
                  </a:txBody>
                  <a:tcPr marL="121904" marR="12190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9699" name="Rectangle 2"/>
          <p:cNvSpPr>
            <a:spLocks noGrp="1"/>
          </p:cNvSpPr>
          <p:nvPr>
            <p:ph type="title"/>
          </p:nvPr>
        </p:nvSpPr>
        <p:spPr/>
        <p:txBody>
          <a:bodyPr vert="horz" wrap="square" lIns="91440" tIns="45720" rIns="91440" bIns="45720" anchor="ctr" anchorCtr="0"/>
          <a:p>
            <a:pPr eaLnBrk="1" hangingPunct="1"/>
            <a:r>
              <a:rPr lang="en-US" altLang="zh-CN" dirty="0"/>
              <a:t>MIPS</a:t>
            </a:r>
            <a:r>
              <a:rPr lang="zh-CN" altLang="en-US" dirty="0"/>
              <a:t>的</a:t>
            </a:r>
            <a:r>
              <a:rPr lang="en-US" altLang="zh-CN" dirty="0"/>
              <a:t>TLB</a:t>
            </a:r>
            <a:r>
              <a:rPr lang="zh-CN" altLang="en-US" dirty="0"/>
              <a:t>及相关控制寄存器</a:t>
            </a:r>
            <a:endParaRPr lang="zh-CN" altLang="en-US" dirty="0"/>
          </a:p>
        </p:txBody>
      </p:sp>
      <p:pic>
        <p:nvPicPr>
          <p:cNvPr id="29700" name="Picture 3"/>
          <p:cNvPicPr>
            <a:picLocks noChangeAspect="1"/>
          </p:cNvPicPr>
          <p:nvPr/>
        </p:nvPicPr>
        <p:blipFill>
          <a:blip r:embed="rId1"/>
          <a:stretch>
            <a:fillRect/>
          </a:stretch>
        </p:blipFill>
        <p:spPr>
          <a:xfrm>
            <a:off x="3133090" y="3406140"/>
            <a:ext cx="8712835" cy="3239135"/>
          </a:xfrm>
          <a:prstGeom prst="rect">
            <a:avLst/>
          </a:prstGeom>
          <a:noFill/>
          <a:ln w="9525">
            <a:noFill/>
          </a:ln>
        </p:spPr>
      </p:pic>
      <p:pic>
        <p:nvPicPr>
          <p:cNvPr id="29701" name="Picture 4"/>
          <p:cNvPicPr>
            <a:picLocks noChangeAspect="1"/>
          </p:cNvPicPr>
          <p:nvPr/>
        </p:nvPicPr>
        <p:blipFill>
          <a:blip r:embed="rId2"/>
          <a:stretch>
            <a:fillRect/>
          </a:stretch>
        </p:blipFill>
        <p:spPr>
          <a:xfrm>
            <a:off x="4752340" y="1478280"/>
            <a:ext cx="7055485" cy="1547495"/>
          </a:xfrm>
          <a:prstGeom prst="rect">
            <a:avLst/>
          </a:prstGeom>
          <a:noFill/>
          <a:ln w="9525">
            <a:noFill/>
          </a:ln>
        </p:spPr>
      </p:pic>
      <p:sp>
        <p:nvSpPr>
          <p:cNvPr id="24582" name="Rectangle 5"/>
          <p:cNvSpPr>
            <a:spLocks noGrp="1" noChangeArrowheads="1"/>
          </p:cNvSpPr>
          <p:nvPr>
            <p:ph idx="1"/>
          </p:nvPr>
        </p:nvSpPr>
        <p:spPr>
          <a:xfrm>
            <a:off x="653415" y="1697355"/>
            <a:ext cx="3547745" cy="172402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32</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位模式</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全相联</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32-64</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项</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0723" name="Rectangle 2"/>
          <p:cNvSpPr>
            <a:spLocks noGrp="1"/>
          </p:cNvSpPr>
          <p:nvPr>
            <p:ph type="title"/>
          </p:nvPr>
        </p:nvSpPr>
        <p:spPr/>
        <p:txBody>
          <a:bodyPr vert="horz" wrap="square" lIns="91440" tIns="45720" rIns="91440" bIns="45720" anchor="ctr" anchorCtr="0"/>
          <a:p>
            <a:pPr eaLnBrk="1" hangingPunct="1"/>
            <a:r>
              <a:rPr lang="zh-CN" altLang="en-US" dirty="0"/>
              <a:t>与</a:t>
            </a:r>
            <a:r>
              <a:rPr lang="en-US" altLang="zh-CN" dirty="0"/>
              <a:t>TLB</a:t>
            </a:r>
            <a:r>
              <a:rPr lang="zh-CN" altLang="en-US" dirty="0"/>
              <a:t>管理有关的指令</a:t>
            </a:r>
            <a:endParaRPr lang="zh-CN" altLang="en-US" dirty="0"/>
          </a:p>
        </p:txBody>
      </p:sp>
      <p:sp>
        <p:nvSpPr>
          <p:cNvPr id="25604" name="Rectangle 3"/>
          <p:cNvSpPr>
            <a:spLocks noGrp="1" noChangeArrowheads="1"/>
          </p:cNvSpPr>
          <p:nvPr>
            <p:ph idx="1"/>
          </p:nvPr>
        </p:nvSpPr>
        <p:spPr>
          <a:xfrm>
            <a:off x="525463" y="1317625"/>
            <a:ext cx="11303000" cy="510381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MFC0, MTC0</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在通用寄存器和控制寄存器之间搬运数据</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TLBR</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以</a:t>
            </a:r>
            <a:r>
              <a:rPr kumimoji="1" lang="en-US" altLang="zh-CN" sz="1800" b="1" i="0" u="none" strike="noStrike" kern="0" cap="none" spc="0" normalizeH="0" baseline="0" noProof="0" dirty="0" smtClean="0">
                <a:ln>
                  <a:noFill/>
                </a:ln>
                <a:solidFill>
                  <a:schemeClr val="tx1"/>
                </a:solidFill>
                <a:effectLst/>
                <a:uLnTx/>
                <a:uFillTx/>
                <a:latin typeface="+mn-ea"/>
                <a:ea typeface="+mn-ea"/>
              </a:rPr>
              <a:t>Index</a:t>
            </a:r>
            <a:r>
              <a:rPr kumimoji="1" lang="zh-CN" altLang="en-US" sz="1800" b="1" i="0" u="none" strike="noStrike" kern="0" cap="none" spc="0" normalizeH="0" baseline="0" noProof="0" dirty="0" smtClean="0">
                <a:ln>
                  <a:noFill/>
                </a:ln>
                <a:solidFill>
                  <a:schemeClr val="tx1"/>
                </a:solidFill>
                <a:effectLst/>
                <a:uLnTx/>
                <a:uFillTx/>
                <a:latin typeface="+mn-ea"/>
                <a:ea typeface="+mn-ea"/>
              </a:rPr>
              <a:t>寄存器为索引把</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r>
              <a:rPr kumimoji="1" lang="zh-CN" altLang="en-US" sz="1800" b="1" i="0" u="none" strike="noStrike" kern="0" cap="none" spc="0" normalizeH="0" baseline="0" noProof="0" dirty="0" smtClean="0">
                <a:ln>
                  <a:noFill/>
                </a:ln>
                <a:solidFill>
                  <a:schemeClr val="tx1"/>
                </a:solidFill>
                <a:effectLst/>
                <a:uLnTx/>
                <a:uFillTx/>
                <a:latin typeface="+mn-ea"/>
                <a:ea typeface="+mn-ea"/>
              </a:rPr>
              <a:t>内容读到</a:t>
            </a:r>
            <a:r>
              <a:rPr kumimoji="1" lang="en-US" altLang="zh-CN" sz="1800" b="1" i="0" u="none" strike="noStrike" kern="0" cap="none" spc="0" normalizeH="0" baseline="0" noProof="0" dirty="0" err="1" smtClean="0">
                <a:ln>
                  <a:noFill/>
                </a:ln>
                <a:solidFill>
                  <a:schemeClr val="tx1"/>
                </a:solidFill>
                <a:effectLst/>
                <a:uLnTx/>
                <a:uFillTx/>
                <a:latin typeface="+mn-ea"/>
                <a:ea typeface="+mn-ea"/>
              </a:rPr>
              <a:t>PageMask</a:t>
            </a:r>
            <a:r>
              <a:rPr kumimoji="1" lang="zh-CN" altLang="en-US" sz="1800" b="1" i="0" u="none" strike="noStrike" kern="0" cap="none" spc="0" normalizeH="0" baseline="0" noProof="0" dirty="0" smtClean="0">
                <a:ln>
                  <a:noFill/>
                </a:ln>
                <a:solidFill>
                  <a:schemeClr val="tx1"/>
                </a:solidFill>
                <a:effectLst/>
                <a:uLnTx/>
                <a:uFillTx/>
                <a:latin typeface="+mn-ea"/>
                <a:ea typeface="+mn-ea"/>
              </a:rPr>
              <a:t>、</a:t>
            </a:r>
            <a:r>
              <a:rPr kumimoji="1" lang="en-US" altLang="zh-CN" sz="1800" b="1" i="0" u="none" strike="noStrike" kern="0" cap="none" spc="0" normalizeH="0" baseline="0" noProof="0" dirty="0" err="1" smtClean="0">
                <a:ln>
                  <a:noFill/>
                </a:ln>
                <a:solidFill>
                  <a:schemeClr val="tx1"/>
                </a:solidFill>
                <a:effectLst/>
                <a:uLnTx/>
                <a:uFillTx/>
                <a:latin typeface="+mn-ea"/>
                <a:ea typeface="+mn-ea"/>
              </a:rPr>
              <a:t>EntryHi</a:t>
            </a:r>
            <a:r>
              <a:rPr kumimoji="1" lang="zh-CN" altLang="en-US" sz="1800" b="1" i="0" u="none" strike="noStrike" kern="0" cap="none" spc="0" normalizeH="0" baseline="0" noProof="0" dirty="0" smtClean="0">
                <a:ln>
                  <a:noFill/>
                </a:ln>
                <a:solidFill>
                  <a:schemeClr val="tx1"/>
                </a:solidFill>
                <a:effectLst/>
                <a:uLnTx/>
                <a:uFillTx/>
                <a:latin typeface="+mn-ea"/>
                <a:ea typeface="+mn-ea"/>
              </a:rPr>
              <a:t>和</a:t>
            </a:r>
            <a:r>
              <a:rPr kumimoji="1" lang="en-US" altLang="zh-CN" sz="1800" b="1" i="0" u="none" strike="noStrike" kern="0" cap="none" spc="0" normalizeH="0" baseline="0" noProof="0" dirty="0" smtClean="0">
                <a:ln>
                  <a:noFill/>
                </a:ln>
                <a:solidFill>
                  <a:schemeClr val="tx1"/>
                </a:solidFill>
                <a:effectLst/>
                <a:uLnTx/>
                <a:uFillTx/>
                <a:latin typeface="+mn-ea"/>
                <a:ea typeface="+mn-ea"/>
              </a:rPr>
              <a:t>EntryLo0/1</a:t>
            </a:r>
            <a:r>
              <a:rPr kumimoji="1" lang="zh-CN" altLang="en-US" sz="1800" b="1" i="0" u="none" strike="noStrike" kern="0" cap="none" spc="0" normalizeH="0" baseline="0" noProof="0" dirty="0" smtClean="0">
                <a:ln>
                  <a:noFill/>
                </a:ln>
                <a:solidFill>
                  <a:schemeClr val="tx1"/>
                </a:solidFill>
                <a:effectLst/>
                <a:uLnTx/>
                <a:uFillTx/>
                <a:latin typeface="+mn-ea"/>
                <a:ea typeface="+mn-ea"/>
              </a:rPr>
              <a:t>等寄存器</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TLBP</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检查</a:t>
            </a:r>
            <a:r>
              <a:rPr kumimoji="1" lang="en-US" altLang="zh-CN" sz="1800" b="1" i="0" u="none" strike="noStrike" kern="0" cap="none" spc="0" normalizeH="0" baseline="0" noProof="0" dirty="0" err="1" smtClean="0">
                <a:ln>
                  <a:noFill/>
                </a:ln>
                <a:solidFill>
                  <a:schemeClr val="tx1"/>
                </a:solidFill>
                <a:effectLst/>
                <a:uLnTx/>
                <a:uFillTx/>
                <a:latin typeface="+mn-ea"/>
                <a:ea typeface="+mn-ea"/>
              </a:rPr>
              <a:t>EntryHi</a:t>
            </a:r>
            <a:r>
              <a:rPr kumimoji="1" lang="zh-CN" altLang="en-US" sz="1800" b="1" i="0" u="none" strike="noStrike" kern="0" cap="none" spc="0" normalizeH="0" baseline="0" noProof="0" dirty="0" smtClean="0">
                <a:ln>
                  <a:noFill/>
                </a:ln>
                <a:solidFill>
                  <a:schemeClr val="tx1"/>
                </a:solidFill>
                <a:effectLst/>
                <a:uLnTx/>
                <a:uFillTx/>
                <a:latin typeface="+mn-ea"/>
                <a:ea typeface="+mn-ea"/>
              </a:rPr>
              <a:t>中指定的虚页是否在</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r>
              <a:rPr kumimoji="1" lang="zh-CN" altLang="en-US" sz="1800" b="1" i="0" u="none" strike="noStrike" kern="0" cap="none" spc="0" normalizeH="0" baseline="0" noProof="0" dirty="0" smtClean="0">
                <a:ln>
                  <a:noFill/>
                </a:ln>
                <a:solidFill>
                  <a:schemeClr val="tx1"/>
                </a:solidFill>
                <a:effectLst/>
                <a:uLnTx/>
                <a:uFillTx/>
                <a:latin typeface="+mn-ea"/>
                <a:ea typeface="+mn-ea"/>
              </a:rPr>
              <a:t>中</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TLBWR, TLBWI</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分别以</a:t>
            </a:r>
            <a:r>
              <a:rPr kumimoji="1" lang="en-US" altLang="zh-CN" sz="1800" b="1" i="0" u="none" strike="noStrike" kern="0" cap="none" spc="0" normalizeH="0" baseline="0" noProof="0" dirty="0" smtClean="0">
                <a:ln>
                  <a:noFill/>
                </a:ln>
                <a:solidFill>
                  <a:schemeClr val="tx1"/>
                </a:solidFill>
                <a:effectLst/>
                <a:uLnTx/>
                <a:uFillTx/>
                <a:latin typeface="+mn-ea"/>
                <a:ea typeface="+mn-ea"/>
              </a:rPr>
              <a:t>Random</a:t>
            </a:r>
            <a:r>
              <a:rPr kumimoji="1" lang="zh-CN" altLang="en-US" sz="1800" b="1" i="0" u="none" strike="noStrike" kern="0" cap="none" spc="0" normalizeH="0" baseline="0" noProof="0" dirty="0" smtClean="0">
                <a:ln>
                  <a:noFill/>
                </a:ln>
                <a:solidFill>
                  <a:schemeClr val="tx1"/>
                </a:solidFill>
                <a:effectLst/>
                <a:uLnTx/>
                <a:uFillTx/>
                <a:latin typeface="+mn-ea"/>
                <a:ea typeface="+mn-ea"/>
              </a:rPr>
              <a:t>和</a:t>
            </a:r>
            <a:r>
              <a:rPr kumimoji="1" lang="en-US" altLang="zh-CN" sz="1800" b="1" i="0" u="none" strike="noStrike" kern="0" cap="none" spc="0" normalizeH="0" baseline="0" noProof="0" dirty="0" smtClean="0">
                <a:ln>
                  <a:noFill/>
                </a:ln>
                <a:solidFill>
                  <a:schemeClr val="tx1"/>
                </a:solidFill>
                <a:effectLst/>
                <a:uLnTx/>
                <a:uFillTx/>
                <a:latin typeface="+mn-ea"/>
                <a:ea typeface="+mn-ea"/>
              </a:rPr>
              <a:t>Index</a:t>
            </a:r>
            <a:r>
              <a:rPr kumimoji="1" lang="zh-CN" altLang="en-US" sz="1800" b="1" i="0" u="none" strike="noStrike" kern="0" cap="none" spc="0" normalizeH="0" baseline="0" noProof="0" dirty="0" smtClean="0">
                <a:ln>
                  <a:noFill/>
                </a:ln>
                <a:solidFill>
                  <a:schemeClr val="tx1"/>
                </a:solidFill>
                <a:effectLst/>
                <a:uLnTx/>
                <a:uFillTx/>
                <a:latin typeface="+mn-ea"/>
                <a:ea typeface="+mn-ea"/>
              </a:rPr>
              <a:t>寄存器为索引把</a:t>
            </a:r>
            <a:r>
              <a:rPr kumimoji="1" lang="en-US" altLang="zh-CN" sz="1800" b="1" i="0" u="none" strike="noStrike" kern="0" cap="none" spc="0" normalizeH="0" baseline="0" noProof="0" dirty="0" err="1" smtClean="0">
                <a:ln>
                  <a:noFill/>
                </a:ln>
                <a:solidFill>
                  <a:schemeClr val="tx1"/>
                </a:solidFill>
                <a:effectLst/>
                <a:uLnTx/>
                <a:uFillTx/>
                <a:latin typeface="+mn-ea"/>
                <a:ea typeface="+mn-ea"/>
              </a:rPr>
              <a:t>Pagemask</a:t>
            </a:r>
            <a:r>
              <a:rPr kumimoji="1" lang="zh-CN" altLang="en-US" sz="1800" b="1" i="0" u="none" strike="noStrike" kern="0" cap="none" spc="0" normalizeH="0" baseline="0" noProof="0" dirty="0" smtClean="0">
                <a:ln>
                  <a:noFill/>
                </a:ln>
                <a:solidFill>
                  <a:schemeClr val="tx1"/>
                </a:solidFill>
                <a:effectLst/>
                <a:uLnTx/>
                <a:uFillTx/>
                <a:latin typeface="+mn-ea"/>
                <a:ea typeface="+mn-ea"/>
              </a:rPr>
              <a:t>、</a:t>
            </a:r>
            <a:r>
              <a:rPr kumimoji="1" lang="en-US" altLang="zh-CN" sz="1800" b="1" i="0" u="none" strike="noStrike" kern="0" cap="none" spc="0" normalizeH="0" baseline="0" noProof="0" dirty="0" err="1" smtClean="0">
                <a:ln>
                  <a:noFill/>
                </a:ln>
                <a:solidFill>
                  <a:schemeClr val="tx1"/>
                </a:solidFill>
                <a:effectLst/>
                <a:uLnTx/>
                <a:uFillTx/>
                <a:latin typeface="+mn-ea"/>
                <a:ea typeface="+mn-ea"/>
              </a:rPr>
              <a:t>EntryHi</a:t>
            </a:r>
            <a:r>
              <a:rPr kumimoji="1" lang="zh-CN" altLang="en-US" sz="1800" b="1" i="0" u="none" strike="noStrike" kern="0" cap="none" spc="0" normalizeH="0" baseline="0" noProof="0" dirty="0" smtClean="0">
                <a:ln>
                  <a:noFill/>
                </a:ln>
                <a:solidFill>
                  <a:schemeClr val="tx1"/>
                </a:solidFill>
                <a:effectLst/>
                <a:uLnTx/>
                <a:uFillTx/>
                <a:latin typeface="+mn-ea"/>
                <a:ea typeface="+mn-ea"/>
              </a:rPr>
              <a:t>和</a:t>
            </a:r>
            <a:r>
              <a:rPr kumimoji="1" lang="en-US" altLang="zh-CN" sz="1800" b="1" i="0" u="none" strike="noStrike" kern="0" cap="none" spc="0" normalizeH="0" baseline="0" noProof="0" dirty="0" smtClean="0">
                <a:ln>
                  <a:noFill/>
                </a:ln>
                <a:solidFill>
                  <a:schemeClr val="tx1"/>
                </a:solidFill>
                <a:effectLst/>
                <a:uLnTx/>
                <a:uFillTx/>
                <a:latin typeface="+mn-ea"/>
                <a:ea typeface="+mn-ea"/>
              </a:rPr>
              <a:t>EntryLo0/1</a:t>
            </a:r>
            <a:r>
              <a:rPr kumimoji="1" lang="zh-CN" altLang="en-US" sz="1800" b="1" i="0" u="none" strike="noStrike" kern="0" cap="none" spc="0" normalizeH="0" baseline="0" noProof="0" dirty="0" smtClean="0">
                <a:ln>
                  <a:noFill/>
                </a:ln>
                <a:solidFill>
                  <a:schemeClr val="tx1"/>
                </a:solidFill>
                <a:effectLst/>
                <a:uLnTx/>
                <a:uFillTx/>
                <a:latin typeface="+mn-ea"/>
                <a:ea typeface="+mn-ea"/>
              </a:rPr>
              <a:t>寄存器的内容写入</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1747" name="Rectangle 2"/>
          <p:cNvSpPr>
            <a:spLocks noGrp="1"/>
          </p:cNvSpPr>
          <p:nvPr>
            <p:ph type="title"/>
          </p:nvPr>
        </p:nvSpPr>
        <p:spPr/>
        <p:txBody>
          <a:bodyPr vert="horz" wrap="square" lIns="91440" tIns="45720" rIns="91440" bIns="45720" anchor="ctr" anchorCtr="0"/>
          <a:p>
            <a:pPr eaLnBrk="1" hangingPunct="1"/>
            <a:r>
              <a:rPr lang="zh-CN" altLang="en-US" dirty="0"/>
              <a:t>发生</a:t>
            </a:r>
            <a:r>
              <a:rPr lang="en-US" altLang="zh-CN" dirty="0"/>
              <a:t>TLB</a:t>
            </a:r>
            <a:r>
              <a:rPr lang="zh-CN" altLang="en-US" dirty="0"/>
              <a:t>例外时硬件处理过程</a:t>
            </a:r>
            <a:endParaRPr lang="zh-CN" altLang="en-US" dirty="0"/>
          </a:p>
        </p:txBody>
      </p:sp>
      <p:sp>
        <p:nvSpPr>
          <p:cNvPr id="26628" name="Rectangle 3"/>
          <p:cNvSpPr>
            <a:spLocks noGrp="1" noChangeArrowheads="1"/>
          </p:cNvSpPr>
          <p:nvPr>
            <p:ph idx="1"/>
          </p:nvPr>
        </p:nvSpPr>
        <p:spPr>
          <a:xfrm>
            <a:off x="914400" y="1270000"/>
            <a:ext cx="10361613" cy="263366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置</a:t>
            </a:r>
            <a:r>
              <a:rPr kumimoji="1" lang="en-US" altLang="zh-CN" sz="2000" b="1" i="0" u="none" strike="noStrike" kern="0" cap="none" spc="0" normalizeH="0" baseline="0" noProof="0" dirty="0" err="1" smtClean="0">
                <a:ln>
                  <a:noFill/>
                </a:ln>
                <a:solidFill>
                  <a:schemeClr val="tx1"/>
                </a:solidFill>
                <a:effectLst/>
                <a:uLnTx/>
                <a:uFillTx/>
                <a:latin typeface="+mn-ea"/>
                <a:ea typeface="+mn-ea"/>
                <a:cs typeface="+mn-cs"/>
              </a:rPr>
              <a:t>BadVaddr</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 Context, </a:t>
            </a:r>
            <a:r>
              <a:rPr kumimoji="1" lang="en-US" altLang="zh-CN" sz="2000" b="1" i="0" u="none" strike="noStrike" kern="0" cap="none" spc="0" normalizeH="0" baseline="0" noProof="0" dirty="0" err="1" smtClean="0">
                <a:ln>
                  <a:noFill/>
                </a:ln>
                <a:solidFill>
                  <a:schemeClr val="tx1"/>
                </a:solidFill>
                <a:effectLst/>
                <a:uLnTx/>
                <a:uFillTx/>
                <a:latin typeface="+mn-ea"/>
                <a:ea typeface="+mn-ea"/>
                <a:cs typeface="+mn-cs"/>
              </a:rPr>
              <a:t>EntryHi</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PC=</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例外入口地址</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rPr>
              <a:t>TLB Refill</a:t>
            </a:r>
            <a:r>
              <a:rPr kumimoji="1" lang="zh-CN" altLang="zh-CN" sz="1800" b="1" i="0" u="none" strike="noStrike" kern="0" cap="none" spc="0" normalizeH="0" baseline="0" noProof="0" dirty="0" smtClean="0">
                <a:ln>
                  <a:noFill/>
                </a:ln>
                <a:solidFill>
                  <a:schemeClr val="tx1"/>
                </a:solidFill>
                <a:effectLst/>
                <a:uLnTx/>
                <a:uFillTx/>
                <a:latin typeface="+mn-ea"/>
                <a:ea typeface="+mn-ea"/>
              </a:rPr>
              <a:t>入口=0</a:t>
            </a:r>
            <a:r>
              <a:rPr kumimoji="1" lang="en-US" altLang="zh-CN" sz="1800" b="1" i="0" u="none" strike="noStrike" kern="0" cap="none" spc="0" normalizeH="0" baseline="0" noProof="0" dirty="0" smtClean="0">
                <a:ln>
                  <a:noFill/>
                </a:ln>
                <a:solidFill>
                  <a:schemeClr val="tx1"/>
                </a:solidFill>
                <a:effectLst/>
                <a:uLnTx/>
                <a:uFillTx/>
                <a:latin typeface="+mn-ea"/>
                <a:ea typeface="+mn-ea"/>
              </a:rPr>
              <a:t>x80000000</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zh-CN" sz="1800" b="1" i="0" u="none" strike="noStrike" kern="0" cap="none" spc="0" normalizeH="0" baseline="0" noProof="0" dirty="0" smtClean="0">
                <a:ln>
                  <a:noFill/>
                </a:ln>
                <a:solidFill>
                  <a:schemeClr val="tx1"/>
                </a:solidFill>
                <a:effectLst/>
                <a:uLnTx/>
                <a:uFillTx/>
                <a:latin typeface="+mn-ea"/>
                <a:ea typeface="+mn-ea"/>
              </a:rPr>
              <a:t>其它入口=</a:t>
            </a:r>
            <a:r>
              <a:rPr kumimoji="1" lang="en-US" altLang="zh-CN" sz="1800" b="1" i="0" u="none" strike="noStrike" kern="0" cap="none" spc="0" normalizeH="0" baseline="0" noProof="0" dirty="0" smtClean="0">
                <a:ln>
                  <a:noFill/>
                </a:ln>
                <a:solidFill>
                  <a:schemeClr val="tx1"/>
                </a:solidFill>
                <a:effectLst/>
                <a:uLnTx/>
                <a:uFillTx/>
                <a:latin typeface="+mn-ea"/>
                <a:ea typeface="+mn-ea"/>
              </a:rPr>
              <a:t>0x80000180 </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置</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Status, Cause</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p:txBody>
      </p:sp>
      <p:grpSp>
        <p:nvGrpSpPr>
          <p:cNvPr id="31749" name="Group 11"/>
          <p:cNvGrpSpPr/>
          <p:nvPr/>
        </p:nvGrpSpPr>
        <p:grpSpPr>
          <a:xfrm>
            <a:off x="1917700" y="3786188"/>
            <a:ext cx="8129588" cy="2628900"/>
            <a:chOff x="1122" y="2175"/>
            <a:chExt cx="3841" cy="1656"/>
          </a:xfrm>
        </p:grpSpPr>
        <p:pic>
          <p:nvPicPr>
            <p:cNvPr id="31750" name="Picture 9"/>
            <p:cNvPicPr>
              <a:picLocks noChangeAspect="1"/>
            </p:cNvPicPr>
            <p:nvPr/>
          </p:nvPicPr>
          <p:blipFill>
            <a:blip r:embed="rId1"/>
            <a:stretch>
              <a:fillRect/>
            </a:stretch>
          </p:blipFill>
          <p:spPr>
            <a:xfrm>
              <a:off x="1133" y="3027"/>
              <a:ext cx="3813" cy="804"/>
            </a:xfrm>
            <a:prstGeom prst="rect">
              <a:avLst/>
            </a:prstGeom>
            <a:noFill/>
            <a:ln w="9525">
              <a:noFill/>
            </a:ln>
          </p:spPr>
        </p:pic>
        <p:pic>
          <p:nvPicPr>
            <p:cNvPr id="31751" name="Picture 10"/>
            <p:cNvPicPr>
              <a:picLocks noChangeAspect="1"/>
            </p:cNvPicPr>
            <p:nvPr/>
          </p:nvPicPr>
          <p:blipFill>
            <a:blip r:embed="rId2"/>
            <a:stretch>
              <a:fillRect/>
            </a:stretch>
          </p:blipFill>
          <p:spPr>
            <a:xfrm>
              <a:off x="1122" y="2175"/>
              <a:ext cx="3841" cy="798"/>
            </a:xfrm>
            <a:prstGeom prst="rect">
              <a:avLst/>
            </a:prstGeom>
            <a:noFill/>
            <a:ln w="9525">
              <a:noFill/>
            </a:ln>
          </p:spPr>
        </p:pic>
        <p:sp>
          <p:nvSpPr>
            <p:cNvPr id="31752" name="Oval 6"/>
            <p:cNvSpPr/>
            <p:nvPr/>
          </p:nvSpPr>
          <p:spPr>
            <a:xfrm>
              <a:off x="4099" y="2486"/>
              <a:ext cx="609" cy="292"/>
            </a:xfrm>
            <a:prstGeom prst="ellipse">
              <a:avLst/>
            </a:prstGeom>
            <a:noFill/>
            <a:ln w="19050" cap="flat" cmpd="sng">
              <a:solidFill>
                <a:srgbClr val="FF0000"/>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31753" name="Oval 7"/>
            <p:cNvSpPr/>
            <p:nvPr/>
          </p:nvSpPr>
          <p:spPr>
            <a:xfrm>
              <a:off x="4354" y="3342"/>
              <a:ext cx="342" cy="292"/>
            </a:xfrm>
            <a:prstGeom prst="ellipse">
              <a:avLst/>
            </a:prstGeom>
            <a:noFill/>
            <a:ln w="19050" cap="flat" cmpd="sng">
              <a:solidFill>
                <a:srgbClr val="FF0000"/>
              </a:solidFill>
              <a:prstDash val="solid"/>
              <a:headEnd type="none" w="med" len="med"/>
              <a:tailEnd type="none" w="med" len="med"/>
            </a:ln>
          </p:spPr>
          <p:txBody>
            <a:bodyPr wrap="none" anchor="ctr" anchorCtr="0"/>
            <a:p>
              <a:endParaRPr lang="zh-CN" altLang="en-US" dirty="0">
                <a:latin typeface="Times New Roman" pitchFamily="18" charset="0"/>
              </a:endParaRPr>
            </a:p>
          </p:txBody>
        </p:sp>
        <p:sp>
          <p:nvSpPr>
            <p:cNvPr id="31754" name="Oval 8"/>
            <p:cNvSpPr/>
            <p:nvPr/>
          </p:nvSpPr>
          <p:spPr>
            <a:xfrm>
              <a:off x="1141" y="3316"/>
              <a:ext cx="250" cy="292"/>
            </a:xfrm>
            <a:prstGeom prst="ellipse">
              <a:avLst/>
            </a:prstGeom>
            <a:noFill/>
            <a:ln w="19050" cap="flat" cmpd="sng">
              <a:solidFill>
                <a:srgbClr val="FF0000"/>
              </a:solidFill>
              <a:prstDash val="solid"/>
              <a:headEnd type="none" w="med" len="med"/>
              <a:tailEnd type="none" w="med" len="med"/>
            </a:ln>
          </p:spPr>
          <p:txBody>
            <a:bodyPr wrap="none" anchor="ctr" anchorCtr="0"/>
            <a:p>
              <a:endParaRPr lang="zh-CN" altLang="en-US" dirty="0">
                <a:latin typeface="Times New Roman" pitchFamily="18"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2771" name="Rectangle 2"/>
          <p:cNvSpPr>
            <a:spLocks noGrp="1"/>
          </p:cNvSpPr>
          <p:nvPr>
            <p:ph type="title"/>
          </p:nvPr>
        </p:nvSpPr>
        <p:spPr/>
        <p:txBody>
          <a:bodyPr vert="horz" wrap="square" lIns="91440" tIns="45720" rIns="91440" bIns="45720" anchor="ctr" anchorCtr="0"/>
          <a:p>
            <a:pPr eaLnBrk="1" hangingPunct="1"/>
            <a:r>
              <a:rPr lang="en-US" altLang="zh-CN" dirty="0"/>
              <a:t>TLB</a:t>
            </a:r>
            <a:r>
              <a:rPr lang="zh-CN" altLang="en-US" dirty="0"/>
              <a:t>例外类型</a:t>
            </a:r>
            <a:endParaRPr lang="zh-CN" altLang="en-US" dirty="0"/>
          </a:p>
        </p:txBody>
      </p:sp>
      <p:sp>
        <p:nvSpPr>
          <p:cNvPr id="27652" name="Rectangle 3"/>
          <p:cNvSpPr>
            <a:spLocks noGrp="1" noChangeArrowheads="1"/>
          </p:cNvSpPr>
          <p:nvPr>
            <p:ph idx="1"/>
          </p:nvPr>
        </p:nvSpPr>
        <p:spPr>
          <a:xfrm>
            <a:off x="914400" y="1504950"/>
            <a:ext cx="10361613" cy="4945063"/>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Refill</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如果查找</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r>
              <a:rPr kumimoji="1" lang="zh-CN" altLang="en-US" sz="1800" b="1" i="0" u="none" strike="noStrike" kern="0" cap="none" spc="0" normalizeH="0" baseline="0" noProof="0" dirty="0" smtClean="0">
                <a:ln>
                  <a:noFill/>
                </a:ln>
                <a:solidFill>
                  <a:schemeClr val="tx1"/>
                </a:solidFill>
                <a:effectLst/>
                <a:uLnTx/>
                <a:uFillTx/>
                <a:latin typeface="+mn-ea"/>
                <a:ea typeface="+mn-ea"/>
              </a:rPr>
              <a:t>没有找到一个虚地址匹配（</a:t>
            </a:r>
            <a:r>
              <a:rPr kumimoji="1" lang="en-US" altLang="zh-CN" sz="1800" b="1" i="0" u="none" strike="noStrike" kern="0" cap="none" spc="0" normalizeH="0" baseline="0" noProof="0" dirty="0" smtClean="0">
                <a:ln>
                  <a:noFill/>
                </a:ln>
                <a:solidFill>
                  <a:schemeClr val="tx1"/>
                </a:solidFill>
                <a:effectLst/>
                <a:uLnTx/>
                <a:uFillTx/>
                <a:latin typeface="+mn-ea"/>
                <a:ea typeface="+mn-ea"/>
              </a:rPr>
              <a:t>VPN2+ASID/G</a:t>
            </a:r>
            <a:r>
              <a:rPr kumimoji="1" lang="zh-CN" altLang="en-US" sz="1800" b="1" i="0" u="none" strike="noStrike" kern="0" cap="none" spc="0" normalizeH="0" baseline="0" noProof="0" dirty="0" smtClean="0">
                <a:ln>
                  <a:noFill/>
                </a:ln>
                <a:solidFill>
                  <a:schemeClr val="tx1"/>
                </a:solidFill>
                <a:effectLst/>
                <a:uLnTx/>
                <a:uFillTx/>
                <a:latin typeface="+mn-ea"/>
                <a:ea typeface="+mn-ea"/>
              </a:rPr>
              <a:t>）</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例外入口：</a:t>
            </a:r>
            <a:r>
              <a:rPr kumimoji="1" lang="en-US" altLang="zh-CN" sz="1800" b="1" i="0" u="none" strike="noStrike" kern="0" cap="none" spc="0" normalizeH="0" baseline="0" noProof="0" dirty="0" smtClean="0">
                <a:ln>
                  <a:noFill/>
                </a:ln>
                <a:solidFill>
                  <a:schemeClr val="tx1"/>
                </a:solidFill>
                <a:effectLst/>
                <a:uLnTx/>
                <a:uFillTx/>
                <a:latin typeface="+mn-ea"/>
                <a:ea typeface="+mn-ea"/>
              </a:rPr>
              <a:t>80000000 </a:t>
            </a:r>
            <a:r>
              <a:rPr kumimoji="1" lang="zh-CN" altLang="en-US" sz="1800" b="1" i="0" u="none" strike="noStrike" kern="0" cap="none" spc="0" normalizeH="0" baseline="0" noProof="0" dirty="0" smtClean="0">
                <a:ln>
                  <a:noFill/>
                </a:ln>
                <a:solidFill>
                  <a:schemeClr val="tx1"/>
                </a:solidFill>
                <a:effectLst/>
                <a:uLnTx/>
                <a:uFillTx/>
                <a:latin typeface="+mn-ea"/>
                <a:ea typeface="+mn-ea"/>
              </a:rPr>
              <a:t>（除非</a:t>
            </a:r>
            <a:r>
              <a:rPr kumimoji="1" lang="en-US" altLang="zh-CN" sz="1800" b="1" i="0" u="none" strike="noStrike" kern="0" cap="none" spc="0" normalizeH="0" baseline="0" noProof="0" dirty="0" err="1" smtClean="0">
                <a:ln>
                  <a:noFill/>
                </a:ln>
                <a:solidFill>
                  <a:schemeClr val="tx1"/>
                </a:solidFill>
                <a:effectLst/>
                <a:uLnTx/>
                <a:uFillTx/>
                <a:latin typeface="+mn-ea"/>
                <a:ea typeface="+mn-ea"/>
              </a:rPr>
              <a:t>exl</a:t>
            </a:r>
            <a:r>
              <a:rPr kumimoji="1" lang="en-US" altLang="zh-CN" sz="1800" b="1" i="0" u="none" strike="noStrike" kern="0" cap="none" spc="0" normalizeH="0" baseline="0" noProof="0" dirty="0" smtClean="0">
                <a:ln>
                  <a:noFill/>
                </a:ln>
                <a:solidFill>
                  <a:schemeClr val="tx1"/>
                </a:solidFill>
                <a:effectLst/>
                <a:uLnTx/>
                <a:uFillTx/>
                <a:latin typeface="+mn-ea"/>
                <a:ea typeface="+mn-ea"/>
              </a:rPr>
              <a:t>=1</a:t>
            </a:r>
            <a:r>
              <a:rPr kumimoji="1" lang="zh-CN" altLang="en-US" sz="1800" b="1" i="0" u="none" strike="noStrike" kern="0" cap="none" spc="0" normalizeH="0" baseline="0" noProof="0" dirty="0" smtClean="0">
                <a:ln>
                  <a:noFill/>
                </a:ln>
                <a:solidFill>
                  <a:schemeClr val="tx1"/>
                </a:solidFill>
                <a:effectLst/>
                <a:uLnTx/>
                <a:uFillTx/>
                <a:latin typeface="+mn-ea"/>
                <a:ea typeface="+mn-ea"/>
              </a:rPr>
              <a:t>）</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 invalid</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如果找到一个虚地址匹配项，但其</a:t>
            </a:r>
            <a:r>
              <a:rPr kumimoji="1" lang="en-US" altLang="zh-CN" sz="1800" b="1" i="0" u="none" strike="noStrike" kern="0" cap="none" spc="0" normalizeH="0" baseline="0" noProof="0" dirty="0" smtClean="0">
                <a:ln>
                  <a:noFill/>
                </a:ln>
                <a:solidFill>
                  <a:schemeClr val="tx1"/>
                </a:solidFill>
                <a:effectLst/>
                <a:uLnTx/>
                <a:uFillTx/>
                <a:latin typeface="+mn-ea"/>
                <a:ea typeface="+mn-ea"/>
              </a:rPr>
              <a:t>v=0</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例外入口：</a:t>
            </a:r>
            <a:r>
              <a:rPr kumimoji="1" lang="en-US" altLang="zh-CN" sz="1800" b="1" i="0" u="none" strike="noStrike" kern="0" cap="none" spc="0" normalizeH="0" baseline="0" noProof="0" dirty="0" smtClean="0">
                <a:ln>
                  <a:noFill/>
                </a:ln>
                <a:solidFill>
                  <a:schemeClr val="tx1"/>
                </a:solidFill>
                <a:effectLst/>
                <a:uLnTx/>
                <a:uFillTx/>
                <a:latin typeface="+mn-ea"/>
                <a:ea typeface="+mn-ea"/>
              </a:rPr>
              <a:t>80000180</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细分为两种：</a:t>
            </a:r>
            <a:r>
              <a:rPr kumimoji="1" lang="en-US" altLang="zh-CN" sz="1800" b="1" i="0" u="none" strike="noStrike" kern="0" cap="none" spc="0" normalizeH="0" baseline="0" noProof="0" dirty="0" smtClean="0">
                <a:ln>
                  <a:noFill/>
                </a:ln>
                <a:solidFill>
                  <a:schemeClr val="tx1"/>
                </a:solidFill>
                <a:effectLst/>
                <a:uLnTx/>
                <a:uFillTx/>
                <a:latin typeface="+mn-ea"/>
                <a:ea typeface="+mn-ea"/>
              </a:rPr>
              <a:t>TLBL for loads, TLBS for stores</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 modify</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如果找到一个虚地址匹配项，其</a:t>
            </a:r>
            <a:r>
              <a:rPr kumimoji="1" lang="en-US" altLang="zh-CN" sz="1800" b="1" i="0" u="none" strike="noStrike" kern="0" cap="none" spc="0" normalizeH="0" baseline="0" noProof="0" dirty="0" smtClean="0">
                <a:ln>
                  <a:noFill/>
                </a:ln>
                <a:solidFill>
                  <a:schemeClr val="tx1"/>
                </a:solidFill>
                <a:effectLst/>
                <a:uLnTx/>
                <a:uFillTx/>
                <a:latin typeface="+mn-ea"/>
                <a:ea typeface="+mn-ea"/>
              </a:rPr>
              <a:t>v=1</a:t>
            </a:r>
            <a:r>
              <a:rPr kumimoji="1" lang="zh-CN" altLang="en-US" sz="1800" b="1" i="0" u="none" strike="noStrike" kern="0" cap="none" spc="0" normalizeH="0" baseline="0" noProof="0" dirty="0" smtClean="0">
                <a:ln>
                  <a:noFill/>
                </a:ln>
                <a:solidFill>
                  <a:schemeClr val="tx1"/>
                </a:solidFill>
                <a:effectLst/>
                <a:uLnTx/>
                <a:uFillTx/>
                <a:latin typeface="+mn-ea"/>
                <a:ea typeface="+mn-ea"/>
              </a:rPr>
              <a:t>，但</a:t>
            </a:r>
            <a:r>
              <a:rPr kumimoji="1" lang="en-US" altLang="zh-CN" sz="1800" b="1" i="0" u="none" strike="noStrike" kern="0" cap="none" spc="0" normalizeH="0" baseline="0" noProof="0" dirty="0" smtClean="0">
                <a:ln>
                  <a:noFill/>
                </a:ln>
                <a:solidFill>
                  <a:schemeClr val="tx1"/>
                </a:solidFill>
                <a:effectLst/>
                <a:uLnTx/>
                <a:uFillTx/>
                <a:latin typeface="+mn-ea"/>
                <a:ea typeface="+mn-ea"/>
              </a:rPr>
              <a:t>D=0</a:t>
            </a:r>
            <a:r>
              <a:rPr kumimoji="1" lang="zh-CN" altLang="en-US" sz="1800" b="1" i="0" u="none" strike="noStrike" kern="0" cap="none" spc="0" normalizeH="0" baseline="0" noProof="0" dirty="0" smtClean="0">
                <a:ln>
                  <a:noFill/>
                </a:ln>
                <a:solidFill>
                  <a:schemeClr val="tx1"/>
                </a:solidFill>
                <a:effectLst/>
                <a:uLnTx/>
                <a:uFillTx/>
                <a:latin typeface="+mn-ea"/>
                <a:ea typeface="+mn-ea"/>
              </a:rPr>
              <a:t>且访问为</a:t>
            </a:r>
            <a:r>
              <a:rPr kumimoji="1" lang="en-US" altLang="zh-CN" sz="1800" b="1" i="0" u="none" strike="noStrike" kern="0" cap="none" spc="0" normalizeH="0" baseline="0" noProof="0" dirty="0" smtClean="0">
                <a:ln>
                  <a:noFill/>
                </a:ln>
                <a:solidFill>
                  <a:schemeClr val="tx1"/>
                </a:solidFill>
                <a:effectLst/>
                <a:uLnTx/>
                <a:uFillTx/>
                <a:latin typeface="+mn-ea"/>
                <a:ea typeface="+mn-ea"/>
              </a:rPr>
              <a:t>store</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例外入口</a:t>
            </a:r>
            <a:r>
              <a:rPr kumimoji="1" lang="en-US" altLang="zh-CN" sz="1800" b="1" i="0" u="none" strike="noStrike" kern="0" cap="none" spc="0" normalizeH="0" baseline="0" noProof="0" dirty="0" smtClean="0">
                <a:ln>
                  <a:noFill/>
                </a:ln>
                <a:solidFill>
                  <a:schemeClr val="tx1"/>
                </a:solidFill>
                <a:effectLst/>
                <a:uLnTx/>
                <a:uFillTx/>
                <a:latin typeface="+mn-ea"/>
                <a:ea typeface="+mn-ea"/>
              </a:rPr>
              <a:t>80000180</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3795" name="Rectangle 2"/>
          <p:cNvSpPr>
            <a:spLocks noGrp="1"/>
          </p:cNvSpPr>
          <p:nvPr>
            <p:ph type="title"/>
          </p:nvPr>
        </p:nvSpPr>
        <p:spPr/>
        <p:txBody>
          <a:bodyPr vert="horz" wrap="square" lIns="91440" tIns="45720" rIns="91440" bIns="45720" anchor="ctr" anchorCtr="0"/>
          <a:p>
            <a:pPr eaLnBrk="1" hangingPunct="1"/>
            <a:r>
              <a:rPr lang="zh-CN" altLang="en-US" dirty="0"/>
              <a:t>例外返回</a:t>
            </a:r>
            <a:endParaRPr lang="zh-CN" altLang="en-US" dirty="0"/>
          </a:p>
        </p:txBody>
      </p:sp>
      <p:sp>
        <p:nvSpPr>
          <p:cNvPr id="28676"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例外处理器在核心态下进行</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不允许在核心态下执行一条用户指令</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不允许在用户态下执行指令核心指令</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例外返回的两种方式</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rPr>
              <a:t>jr+mtc0: mtc0</a:t>
            </a:r>
            <a:r>
              <a:rPr kumimoji="1" lang="zh-CN" altLang="zh-CN" sz="1800" b="1" i="0" u="none" strike="noStrike" kern="0" cap="none" spc="0" normalizeH="0" baseline="0" noProof="0" dirty="0" smtClean="0">
                <a:ln>
                  <a:noFill/>
                </a:ln>
                <a:solidFill>
                  <a:schemeClr val="tx1"/>
                </a:solidFill>
                <a:effectLst/>
                <a:uLnTx/>
                <a:uFillTx/>
                <a:latin typeface="+mn-ea"/>
                <a:ea typeface="+mn-ea"/>
              </a:rPr>
              <a:t>必须在</a:t>
            </a:r>
            <a:r>
              <a:rPr kumimoji="1" lang="en-US" altLang="zh-CN" sz="1800" b="1" i="0" u="none" strike="noStrike" kern="0" cap="none" spc="0" normalizeH="0" baseline="0" noProof="0" dirty="0" err="1" smtClean="0">
                <a:ln>
                  <a:noFill/>
                </a:ln>
                <a:solidFill>
                  <a:schemeClr val="tx1"/>
                </a:solidFill>
                <a:effectLst/>
                <a:uLnTx/>
                <a:uFillTx/>
                <a:latin typeface="+mn-ea"/>
                <a:ea typeface="+mn-ea"/>
              </a:rPr>
              <a:t>jr</a:t>
            </a:r>
            <a:r>
              <a:rPr kumimoji="1" lang="zh-CN" altLang="zh-CN" sz="1800" b="1" i="0" u="none" strike="noStrike" kern="0" cap="none" spc="0" normalizeH="0" baseline="0" noProof="0" dirty="0" smtClean="0">
                <a:ln>
                  <a:noFill/>
                </a:ln>
                <a:solidFill>
                  <a:schemeClr val="tx1"/>
                </a:solidFill>
                <a:effectLst/>
                <a:uLnTx/>
                <a:uFillTx/>
                <a:latin typeface="+mn-ea"/>
                <a:ea typeface="+mn-ea"/>
              </a:rPr>
              <a:t>的延迟槽中</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1800" b="1" i="0" u="none" strike="noStrike" kern="0" cap="none" spc="0" normalizeH="0" baseline="0" noProof="0" dirty="0" err="1" smtClean="0">
                <a:ln>
                  <a:noFill/>
                </a:ln>
                <a:solidFill>
                  <a:schemeClr val="tx1"/>
                </a:solidFill>
                <a:effectLst/>
                <a:uLnTx/>
                <a:uFillTx/>
                <a:latin typeface="+mn-ea"/>
                <a:ea typeface="+mn-ea"/>
              </a:rPr>
              <a:t>eret</a:t>
            </a:r>
            <a:r>
              <a:rPr kumimoji="1" lang="en-US" altLang="zh-CN" sz="1800" b="1" i="0" u="none" strike="noStrike" kern="0" cap="none" spc="0" normalizeH="0" baseline="0" noProof="0" dirty="0" smtClean="0">
                <a:ln>
                  <a:noFill/>
                </a:ln>
                <a:solidFill>
                  <a:schemeClr val="tx1"/>
                </a:solidFill>
                <a:effectLst/>
                <a:uLnTx/>
                <a:uFillTx/>
                <a:latin typeface="+mn-ea"/>
                <a:ea typeface="+mn-ea"/>
              </a:rPr>
              <a:t>: </a:t>
            </a:r>
            <a:r>
              <a:rPr kumimoji="1" lang="en-US" altLang="zh-CN" sz="1800" b="1" i="0" u="none" strike="noStrike" kern="0" cap="none" spc="0" normalizeH="0" baseline="0" noProof="0" dirty="0" err="1" smtClean="0">
                <a:ln>
                  <a:noFill/>
                </a:ln>
                <a:solidFill>
                  <a:schemeClr val="tx1"/>
                </a:solidFill>
                <a:effectLst/>
                <a:uLnTx/>
                <a:uFillTx/>
                <a:latin typeface="+mn-ea"/>
                <a:ea typeface="+mn-ea"/>
              </a:rPr>
              <a:t>eret</a:t>
            </a:r>
            <a:r>
              <a:rPr kumimoji="1" lang="zh-CN" altLang="zh-CN" sz="1800" b="1" i="0" u="none" strike="noStrike" kern="0" cap="none" spc="0" normalizeH="0" baseline="0" noProof="0" dirty="0" smtClean="0">
                <a:ln>
                  <a:noFill/>
                </a:ln>
                <a:solidFill>
                  <a:schemeClr val="tx1"/>
                </a:solidFill>
                <a:effectLst/>
                <a:uLnTx/>
                <a:uFillTx/>
                <a:latin typeface="+mn-ea"/>
                <a:ea typeface="+mn-ea"/>
              </a:rPr>
              <a:t>没有延迟槽</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4819" name="Rectangle 2"/>
          <p:cNvSpPr>
            <a:spLocks noGrp="1"/>
          </p:cNvSpPr>
          <p:nvPr>
            <p:ph type="title"/>
          </p:nvPr>
        </p:nvSpPr>
        <p:spPr/>
        <p:txBody>
          <a:bodyPr vert="horz" wrap="square" lIns="91440" tIns="45720" rIns="91440" bIns="45720" anchor="ctr" anchorCtr="0"/>
          <a:p>
            <a:pPr eaLnBrk="1" hangingPunct="1"/>
            <a:r>
              <a:rPr lang="zh-CN" altLang="en-US" dirty="0"/>
              <a:t>一种虚拟存储实现方式</a:t>
            </a:r>
            <a:endParaRPr lang="zh-CN" altLang="en-US" dirty="0"/>
          </a:p>
        </p:txBody>
      </p:sp>
      <p:sp>
        <p:nvSpPr>
          <p:cNvPr id="29700" name="Rectangle 3"/>
          <p:cNvSpPr>
            <a:spLocks noGrp="1" noChangeArrowheads="1"/>
          </p:cNvSpPr>
          <p:nvPr>
            <p:ph idx="1"/>
          </p:nvPr>
        </p:nvSpPr>
        <p:spPr>
          <a:xfrm>
            <a:off x="554038" y="1504950"/>
            <a:ext cx="11222038" cy="4591050"/>
          </a:xfrm>
        </p:spPr>
        <p:txBody>
          <a:bodyPr vert="horz" wrap="square" lIns="91440" tIns="45720" rIns="91440" bIns="45720" numCol="1" anchor="t" anchorCtr="0" compatLnSpc="1"/>
          <a:lstStyle/>
          <a:p>
            <a:pPr marL="342900" marR="0" lvl="0" indent="-342900" algn="l" defTabSz="914400" rtl="0" eaLnBrk="1" latinLnBrk="0" hangingPunct="1">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使得发生例外时</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context</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寄存器指向页表中相应项</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一维线性页表</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内存页表每项</a:t>
            </a:r>
            <a:r>
              <a:rPr kumimoji="1" lang="en-US" altLang="zh-CN" sz="1800" b="1" i="0" u="none" strike="noStrike" kern="0" cap="none" spc="0" normalizeH="0" baseline="0" noProof="0" dirty="0" smtClean="0">
                <a:ln>
                  <a:noFill/>
                </a:ln>
                <a:solidFill>
                  <a:schemeClr val="tx1"/>
                </a:solidFill>
                <a:effectLst/>
                <a:uLnTx/>
                <a:uFillTx/>
                <a:latin typeface="+mn-ea"/>
                <a:ea typeface="+mn-ea"/>
              </a:rPr>
              <a:t>8</a:t>
            </a:r>
            <a:r>
              <a:rPr kumimoji="1" lang="zh-CN" altLang="en-US" sz="1800" b="1" i="0" u="none" strike="noStrike" kern="0" cap="none" spc="0" normalizeH="0" baseline="0" noProof="0" dirty="0" smtClean="0">
                <a:ln>
                  <a:noFill/>
                </a:ln>
                <a:solidFill>
                  <a:schemeClr val="tx1"/>
                </a:solidFill>
                <a:effectLst/>
                <a:uLnTx/>
                <a:uFillTx/>
                <a:latin typeface="+mn-ea"/>
                <a:ea typeface="+mn-ea"/>
              </a:rPr>
              <a:t>个字节，每对页面占用</a:t>
            </a:r>
            <a:r>
              <a:rPr kumimoji="1" lang="en-US" altLang="zh-CN" sz="1800" b="1" i="0" u="none" strike="noStrike" kern="0" cap="none" spc="0" normalizeH="0" baseline="0" noProof="0" dirty="0" smtClean="0">
                <a:ln>
                  <a:noFill/>
                </a:ln>
                <a:solidFill>
                  <a:schemeClr val="tx1"/>
                </a:solidFill>
                <a:effectLst/>
                <a:uLnTx/>
                <a:uFillTx/>
                <a:latin typeface="+mn-ea"/>
                <a:ea typeface="+mn-ea"/>
              </a:rPr>
              <a:t>16</a:t>
            </a:r>
            <a:r>
              <a:rPr kumimoji="1" lang="zh-CN" altLang="en-US" sz="1800" b="1" i="0" u="none" strike="noStrike" kern="0" cap="none" spc="0" normalizeH="0" baseline="0" noProof="0" dirty="0" smtClean="0">
                <a:ln>
                  <a:noFill/>
                </a:ln>
                <a:solidFill>
                  <a:schemeClr val="tx1"/>
                </a:solidFill>
                <a:effectLst/>
                <a:uLnTx/>
                <a:uFillTx/>
                <a:latin typeface="+mn-ea"/>
                <a:ea typeface="+mn-ea"/>
              </a:rPr>
              <a:t>字节页表</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进程切换时操作系统更改</a:t>
            </a:r>
            <a:r>
              <a:rPr kumimoji="1" lang="en-US" altLang="zh-CN" sz="1800" b="1" i="0" u="none" strike="noStrike" kern="0" cap="none" spc="0" normalizeH="0" baseline="0" noProof="0" dirty="0" smtClean="0">
                <a:ln>
                  <a:noFill/>
                </a:ln>
                <a:solidFill>
                  <a:schemeClr val="tx1"/>
                </a:solidFill>
                <a:effectLst/>
                <a:uLnTx/>
                <a:uFillTx/>
                <a:latin typeface="+mn-ea"/>
                <a:ea typeface="+mn-ea"/>
              </a:rPr>
              <a:t>context</a:t>
            </a:r>
            <a:r>
              <a:rPr kumimoji="1" lang="zh-CN" altLang="en-US" sz="1800" b="1" i="0" u="none" strike="noStrike" kern="0" cap="none" spc="0" normalizeH="0" baseline="0" noProof="0" dirty="0" smtClean="0">
                <a:ln>
                  <a:noFill/>
                </a:ln>
                <a:solidFill>
                  <a:schemeClr val="tx1"/>
                </a:solidFill>
                <a:effectLst/>
                <a:uLnTx/>
                <a:uFillTx/>
                <a:latin typeface="+mn-ea"/>
                <a:ea typeface="+mn-ea"/>
              </a:rPr>
              <a:t>寄存器中</a:t>
            </a:r>
            <a:r>
              <a:rPr kumimoji="1" lang="en-US" altLang="zh-CN" sz="1800" b="1" i="0" u="none" strike="noStrike" kern="0" cap="none" spc="0" normalizeH="0" baseline="0" noProof="0" dirty="0" err="1" smtClean="0">
                <a:ln>
                  <a:noFill/>
                </a:ln>
                <a:solidFill>
                  <a:schemeClr val="tx1"/>
                </a:solidFill>
                <a:effectLst/>
                <a:uLnTx/>
                <a:uFillTx/>
                <a:latin typeface="+mn-ea"/>
                <a:ea typeface="+mn-ea"/>
              </a:rPr>
              <a:t>pte_base</a:t>
            </a:r>
            <a:r>
              <a:rPr kumimoji="1" lang="zh-CN" altLang="en-US" sz="1800" b="1" i="0" u="none" strike="noStrike" kern="0" cap="none" spc="0" normalizeH="0" baseline="0" noProof="0" dirty="0" smtClean="0">
                <a:ln>
                  <a:noFill/>
                </a:ln>
                <a:solidFill>
                  <a:schemeClr val="tx1"/>
                </a:solidFill>
                <a:effectLst/>
                <a:uLnTx/>
                <a:uFillTx/>
                <a:latin typeface="+mn-ea"/>
                <a:ea typeface="+mn-ea"/>
              </a:rPr>
              <a:t>域，使其指向该进程的页表基地址（</a:t>
            </a:r>
            <a:r>
              <a:rPr kumimoji="1" lang="en-US" altLang="zh-CN" sz="1800" b="1" i="0" u="none" strike="noStrike" kern="0" cap="none" spc="0" normalizeH="0" baseline="0" noProof="0" dirty="0" err="1" smtClean="0">
                <a:ln>
                  <a:noFill/>
                </a:ln>
                <a:solidFill>
                  <a:srgbClr val="FF0000"/>
                </a:solidFill>
                <a:effectLst/>
                <a:uLnTx/>
                <a:uFillTx/>
                <a:latin typeface="+mn-ea"/>
                <a:ea typeface="+mn-ea"/>
              </a:rPr>
              <a:t>pte_base</a:t>
            </a:r>
            <a:r>
              <a:rPr kumimoji="1" lang="zh-CN" altLang="en-US" sz="1800" b="1" i="0" u="none" strike="noStrike" kern="0" cap="none" spc="0" normalizeH="0" baseline="0" noProof="0" dirty="0" smtClean="0">
                <a:ln>
                  <a:noFill/>
                </a:ln>
                <a:solidFill>
                  <a:srgbClr val="FF0000"/>
                </a:solidFill>
                <a:effectLst/>
                <a:uLnTx/>
                <a:uFillTx/>
                <a:latin typeface="+mn-ea"/>
                <a:ea typeface="+mn-ea"/>
              </a:rPr>
              <a:t>是进程上下文的一部分</a:t>
            </a:r>
            <a:r>
              <a:rPr kumimoji="1" lang="zh-CN" altLang="en-US" sz="1800" b="1" i="0" u="none" strike="noStrike" kern="0" cap="none" spc="0" normalizeH="0" baseline="0" noProof="0" dirty="0" smtClean="0">
                <a:ln>
                  <a:noFill/>
                </a:ln>
                <a:solidFill>
                  <a:schemeClr val="tx1"/>
                </a:solidFill>
                <a:effectLst/>
                <a:uLnTx/>
                <a:uFillTx/>
                <a:latin typeface="+mn-ea"/>
                <a:ea typeface="+mn-ea"/>
              </a:rPr>
              <a:t>）</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latinLnBrk="0" hangingPunct="1">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一维线性页表需要很大的空间，不能全部分配物理内存</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放在</a:t>
            </a:r>
            <a:r>
              <a:rPr kumimoji="1" lang="en-US" altLang="zh-CN" sz="1800" b="1" i="0" u="none" strike="noStrike" kern="0" cap="none" spc="0" normalizeH="0" baseline="0" noProof="0" dirty="0" smtClean="0">
                <a:ln>
                  <a:noFill/>
                </a:ln>
                <a:solidFill>
                  <a:schemeClr val="tx1"/>
                </a:solidFill>
                <a:effectLst/>
                <a:uLnTx/>
                <a:uFillTx/>
                <a:latin typeface="+mn-ea"/>
                <a:ea typeface="+mn-ea"/>
              </a:rPr>
              <a:t>kernel mapped</a:t>
            </a:r>
            <a:r>
              <a:rPr kumimoji="1" lang="zh-CN" altLang="en-US" sz="1800" b="1" i="0" u="none" strike="noStrike" kern="0" cap="none" spc="0" normalizeH="0" baseline="0" noProof="0" dirty="0" smtClean="0">
                <a:ln>
                  <a:noFill/>
                </a:ln>
                <a:solidFill>
                  <a:schemeClr val="tx1"/>
                </a:solidFill>
                <a:effectLst/>
                <a:uLnTx/>
                <a:uFillTx/>
                <a:latin typeface="+mn-ea"/>
                <a:ea typeface="+mn-ea"/>
              </a:rPr>
              <a:t>的</a:t>
            </a:r>
            <a:r>
              <a:rPr kumimoji="1" lang="en-US" altLang="zh-CN" sz="1800" b="1" i="0" u="none" strike="noStrike" kern="0" cap="none" spc="0" normalizeH="0" baseline="0" noProof="0" dirty="0" smtClean="0">
                <a:ln>
                  <a:noFill/>
                </a:ln>
                <a:solidFill>
                  <a:schemeClr val="tx1"/>
                </a:solidFill>
                <a:effectLst/>
                <a:uLnTx/>
                <a:uFillTx/>
                <a:latin typeface="+mn-ea"/>
                <a:ea typeface="+mn-ea"/>
              </a:rPr>
              <a:t>kseg2/kseg3</a:t>
            </a:r>
            <a:r>
              <a:rPr kumimoji="1" lang="zh-CN" altLang="en-US" sz="1800" b="1" i="0" u="none" strike="noStrike" kern="0" cap="none" spc="0" normalizeH="0" baseline="0" noProof="0" dirty="0" smtClean="0">
                <a:ln>
                  <a:noFill/>
                </a:ln>
                <a:solidFill>
                  <a:schemeClr val="tx1"/>
                </a:solidFill>
                <a:effectLst/>
                <a:uLnTx/>
                <a:uFillTx/>
                <a:latin typeface="+mn-ea"/>
                <a:ea typeface="+mn-ea"/>
              </a:rPr>
              <a:t>段</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需要解决</a:t>
            </a:r>
            <a:r>
              <a:rPr kumimoji="1" lang="en-US" altLang="zh-CN" sz="1800" b="1" i="0" u="none" strike="noStrike" kern="0" cap="none" spc="0" normalizeH="0" baseline="0" noProof="0" dirty="0" smtClean="0">
                <a:ln>
                  <a:noFill/>
                </a:ln>
                <a:solidFill>
                  <a:schemeClr val="tx1"/>
                </a:solidFill>
                <a:effectLst/>
                <a:uLnTx/>
                <a:uFillTx/>
                <a:latin typeface="+mn-ea"/>
                <a:ea typeface="+mn-ea"/>
              </a:rPr>
              <a:t>TLB refill</a:t>
            </a:r>
            <a:r>
              <a:rPr kumimoji="1" lang="zh-CN" altLang="en-US" sz="1800" b="1" i="0" u="none" strike="noStrike" kern="0" cap="none" spc="0" normalizeH="0" baseline="0" noProof="0" dirty="0" smtClean="0">
                <a:ln>
                  <a:noFill/>
                </a:ln>
                <a:solidFill>
                  <a:schemeClr val="tx1"/>
                </a:solidFill>
                <a:effectLst/>
                <a:uLnTx/>
                <a:uFillTx/>
                <a:latin typeface="+mn-ea"/>
                <a:ea typeface="+mn-ea"/>
              </a:rPr>
              <a:t>重入问题</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685925" y="905510"/>
            <a:ext cx="8694420" cy="4566285"/>
          </a:xfrm>
          <a:prstGeom prst="rect">
            <a:avLst/>
          </a:prstGeom>
        </p:spPr>
      </p:pic>
      <p:sp>
        <p:nvSpPr>
          <p:cNvPr id="3584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5843" name="Rectangle 2"/>
          <p:cNvSpPr>
            <a:spLocks noGrp="1"/>
          </p:cNvSpPr>
          <p:nvPr>
            <p:ph type="title"/>
          </p:nvPr>
        </p:nvSpPr>
        <p:spPr>
          <a:xfrm>
            <a:off x="989013" y="142875"/>
            <a:ext cx="10361612" cy="527050"/>
          </a:xfrm>
        </p:spPr>
        <p:txBody>
          <a:bodyPr vert="horz" wrap="square" lIns="91440" tIns="45720" rIns="91440" bIns="45720" anchor="ctr" anchorCtr="0"/>
          <a:p>
            <a:pPr eaLnBrk="1" hangingPunct="1"/>
            <a:r>
              <a:rPr lang="en-US" altLang="zh-CN" dirty="0"/>
              <a:t>TLB refill</a:t>
            </a:r>
            <a:r>
              <a:rPr lang="zh-CN" altLang="en-US" dirty="0"/>
              <a:t>过程</a:t>
            </a:r>
            <a:endParaRPr lang="zh-CN" altLang="en-US" dirty="0"/>
          </a:p>
        </p:txBody>
      </p:sp>
      <p:sp>
        <p:nvSpPr>
          <p:cNvPr id="35873" name="TextBox 32"/>
          <p:cNvSpPr txBox="1"/>
          <p:nvPr/>
        </p:nvSpPr>
        <p:spPr>
          <a:xfrm>
            <a:off x="1760855" y="5044440"/>
            <a:ext cx="6828790" cy="1076325"/>
          </a:xfrm>
          <a:prstGeom prst="rect">
            <a:avLst/>
          </a:prstGeom>
          <a:noFill/>
          <a:ln w="9525">
            <a:noFill/>
          </a:ln>
        </p:spPr>
        <p:txBody>
          <a:bodyPr wrap="square">
            <a:spAutoFit/>
          </a:bodyPr>
          <a:p>
            <a:r>
              <a:rPr lang="en-US" altLang="zh-CN" sz="1600" b="1" dirty="0">
                <a:solidFill>
                  <a:srgbClr val="FF0000"/>
                </a:solidFill>
                <a:latin typeface="宋体" panose="02000500000000000000" pitchFamily="2" charset="-122"/>
                <a:cs typeface="宋体" panose="02000500000000000000" pitchFamily="2" charset="-122"/>
              </a:rPr>
              <a:t>Pagemask</a:t>
            </a:r>
            <a:r>
              <a:rPr lang="zh-CN" altLang="en-US" sz="1600" b="1" dirty="0">
                <a:solidFill>
                  <a:srgbClr val="FF0000"/>
                </a:solidFill>
                <a:latin typeface="宋体" panose="02000500000000000000" pitchFamily="2" charset="-122"/>
                <a:cs typeface="宋体" panose="02000500000000000000" pitchFamily="2" charset="-122"/>
              </a:rPr>
              <a:t>在操作系统初始化时由</a:t>
            </a:r>
            <a:r>
              <a:rPr lang="en-US" altLang="zh-CN" sz="1600" b="1" dirty="0">
                <a:solidFill>
                  <a:srgbClr val="FF0000"/>
                </a:solidFill>
                <a:latin typeface="宋体" panose="02000500000000000000" pitchFamily="2" charset="-122"/>
                <a:cs typeface="宋体" panose="02000500000000000000" pitchFamily="2" charset="-122"/>
              </a:rPr>
              <a:t>OS</a:t>
            </a:r>
            <a:r>
              <a:rPr lang="zh-CN" altLang="en-US" sz="1600" b="1" dirty="0">
                <a:solidFill>
                  <a:srgbClr val="FF0000"/>
                </a:solidFill>
                <a:latin typeface="宋体" panose="02000500000000000000" pitchFamily="2" charset="-122"/>
                <a:cs typeface="宋体" panose="02000500000000000000" pitchFamily="2" charset="-122"/>
              </a:rPr>
              <a:t>设置（固定页操作系统）</a:t>
            </a:r>
            <a:endParaRPr lang="en-US" altLang="zh-CN" sz="1600" b="1" dirty="0">
              <a:solidFill>
                <a:srgbClr val="FF0000"/>
              </a:solidFill>
              <a:latin typeface="宋体" panose="02000500000000000000" pitchFamily="2" charset="-122"/>
              <a:cs typeface="宋体" panose="02000500000000000000" pitchFamily="2" charset="-122"/>
            </a:endParaRPr>
          </a:p>
          <a:p>
            <a:r>
              <a:rPr lang="en-US" altLang="zh-CN" sz="1600" b="1" dirty="0">
                <a:solidFill>
                  <a:srgbClr val="FF0000"/>
                </a:solidFill>
                <a:latin typeface="宋体" panose="02000500000000000000" pitchFamily="2" charset="-122"/>
                <a:cs typeface="宋体" panose="02000500000000000000" pitchFamily="2" charset="-122"/>
              </a:rPr>
              <a:t>Pte_base</a:t>
            </a:r>
            <a:r>
              <a:rPr lang="zh-CN" altLang="en-US" sz="1600" b="1" dirty="0">
                <a:solidFill>
                  <a:srgbClr val="FF0000"/>
                </a:solidFill>
                <a:latin typeface="宋体" panose="02000500000000000000" pitchFamily="2" charset="-122"/>
                <a:cs typeface="宋体" panose="02000500000000000000" pitchFamily="2" charset="-122"/>
              </a:rPr>
              <a:t>在进程切换时由</a:t>
            </a:r>
            <a:r>
              <a:rPr lang="en-US" altLang="zh-CN" sz="1600" b="1" dirty="0">
                <a:solidFill>
                  <a:srgbClr val="FF0000"/>
                </a:solidFill>
                <a:latin typeface="宋体" panose="02000500000000000000" pitchFamily="2" charset="-122"/>
                <a:cs typeface="宋体" panose="02000500000000000000" pitchFamily="2" charset="-122"/>
              </a:rPr>
              <a:t>OS</a:t>
            </a:r>
            <a:r>
              <a:rPr lang="zh-CN" altLang="en-US" sz="1600" b="1" dirty="0">
                <a:solidFill>
                  <a:srgbClr val="FF0000"/>
                </a:solidFill>
                <a:latin typeface="宋体" panose="02000500000000000000" pitchFamily="2" charset="-122"/>
                <a:cs typeface="宋体" panose="02000500000000000000" pitchFamily="2" charset="-122"/>
              </a:rPr>
              <a:t>设置</a:t>
            </a:r>
            <a:endParaRPr lang="en-US" altLang="zh-CN" sz="1600" b="1" dirty="0">
              <a:solidFill>
                <a:srgbClr val="FF0000"/>
              </a:solidFill>
              <a:latin typeface="宋体" panose="02000500000000000000" pitchFamily="2" charset="-122"/>
              <a:cs typeface="宋体" panose="02000500000000000000" pitchFamily="2" charset="-122"/>
            </a:endParaRPr>
          </a:p>
          <a:p>
            <a:r>
              <a:rPr lang="en-US" altLang="zh-CN" sz="1600" b="1" dirty="0">
                <a:solidFill>
                  <a:srgbClr val="FF0000"/>
                </a:solidFill>
                <a:latin typeface="宋体" panose="02000500000000000000" pitchFamily="2" charset="-122"/>
                <a:cs typeface="宋体" panose="02000500000000000000" pitchFamily="2" charset="-122"/>
              </a:rPr>
              <a:t>Vpn2</a:t>
            </a:r>
            <a:r>
              <a:rPr lang="zh-CN" altLang="en-US" sz="1600" b="1" dirty="0">
                <a:solidFill>
                  <a:srgbClr val="FF0000"/>
                </a:solidFill>
                <a:latin typeface="宋体" panose="02000500000000000000" pitchFamily="2" charset="-122"/>
                <a:cs typeface="宋体" panose="02000500000000000000" pitchFamily="2" charset="-122"/>
              </a:rPr>
              <a:t>和</a:t>
            </a:r>
            <a:r>
              <a:rPr lang="en-US" altLang="zh-CN" sz="1600" b="1" dirty="0">
                <a:solidFill>
                  <a:srgbClr val="FF0000"/>
                </a:solidFill>
                <a:latin typeface="宋体" panose="02000500000000000000" pitchFamily="2" charset="-122"/>
                <a:cs typeface="宋体" panose="02000500000000000000" pitchFamily="2" charset="-122"/>
              </a:rPr>
              <a:t>EntryHi</a:t>
            </a:r>
            <a:r>
              <a:rPr lang="zh-CN" altLang="en-US" sz="1600" b="1" dirty="0">
                <a:solidFill>
                  <a:srgbClr val="FF0000"/>
                </a:solidFill>
                <a:latin typeface="宋体" panose="02000500000000000000" pitchFamily="2" charset="-122"/>
                <a:cs typeface="宋体" panose="02000500000000000000" pitchFamily="2" charset="-122"/>
              </a:rPr>
              <a:t>在缺页时由</a:t>
            </a:r>
            <a:r>
              <a:rPr lang="en-US" altLang="zh-CN" sz="1600" b="1" dirty="0">
                <a:solidFill>
                  <a:srgbClr val="FF0000"/>
                </a:solidFill>
                <a:latin typeface="宋体" panose="02000500000000000000" pitchFamily="2" charset="-122"/>
                <a:cs typeface="宋体" panose="02000500000000000000" pitchFamily="2" charset="-122"/>
              </a:rPr>
              <a:t>CPU</a:t>
            </a:r>
            <a:r>
              <a:rPr lang="zh-CN" altLang="en-US" sz="1600" b="1" dirty="0">
                <a:solidFill>
                  <a:srgbClr val="FF0000"/>
                </a:solidFill>
                <a:latin typeface="宋体" panose="02000500000000000000" pitchFamily="2" charset="-122"/>
                <a:cs typeface="宋体" panose="02000500000000000000" pitchFamily="2" charset="-122"/>
              </a:rPr>
              <a:t>设置</a:t>
            </a:r>
            <a:endParaRPr lang="zh-CN" altLang="en-US" sz="1600" b="1" dirty="0">
              <a:solidFill>
                <a:srgbClr val="FF0000"/>
              </a:solidFill>
              <a:latin typeface="宋体" panose="02000500000000000000" pitchFamily="2" charset="-122"/>
              <a:cs typeface="宋体" panose="02000500000000000000"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6867" name="Rectangle 2"/>
          <p:cNvSpPr>
            <a:spLocks noGrp="1"/>
          </p:cNvSpPr>
          <p:nvPr>
            <p:ph type="title"/>
          </p:nvPr>
        </p:nvSpPr>
        <p:spPr>
          <a:xfrm>
            <a:off x="963613" y="0"/>
            <a:ext cx="10361612" cy="788988"/>
          </a:xfrm>
        </p:spPr>
        <p:txBody>
          <a:bodyPr vert="horz" wrap="square" lIns="91440" tIns="45720" rIns="91440" bIns="45720" anchor="ctr" anchorCtr="0"/>
          <a:p>
            <a:pPr eaLnBrk="1" hangingPunct="1"/>
            <a:r>
              <a:rPr lang="en-US" altLang="zh-CN" dirty="0"/>
              <a:t>TLB refill</a:t>
            </a:r>
            <a:r>
              <a:rPr lang="zh-CN" altLang="en-US" dirty="0"/>
              <a:t>代码</a:t>
            </a:r>
            <a:endParaRPr lang="zh-CN" altLang="en-US" dirty="0"/>
          </a:p>
        </p:txBody>
      </p:sp>
      <p:sp>
        <p:nvSpPr>
          <p:cNvPr id="36868" name="Rectangle 3"/>
          <p:cNvSpPr>
            <a:spLocks noGrp="1"/>
          </p:cNvSpPr>
          <p:nvPr>
            <p:ph idx="1"/>
          </p:nvPr>
        </p:nvSpPr>
        <p:spPr>
          <a:xfrm>
            <a:off x="1649730" y="1501140"/>
            <a:ext cx="8791575" cy="5023485"/>
          </a:xfrm>
        </p:spPr>
        <p:txBody>
          <a:bodyPr vert="horz" wrap="square" lIns="91440" tIns="45720" rIns="91440" bIns="45720" anchor="t" anchorCtr="0"/>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set  noreorder</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.set  noat</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TLBmissR4K:</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DMFC0   k1,C0_CONTEXT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1</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NOP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2</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LW      k0,0(k1)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3</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LW      k1,8(k1)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4</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MTC0    k0,C0_ENTRYLO0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5</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MTC0    k1,C0_ENTRYLO1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6</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NOP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7</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TLBWR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8</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ERET                      </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r>
              <a:rPr kumimoji="1" lang="en-US" altLang="zh-CN" sz="1800" dirty="0">
                <a:latin typeface="宋体" panose="02000500000000000000" pitchFamily="2" charset="-122"/>
                <a:ea typeface="宋体" panose="02000500000000000000" pitchFamily="2" charset="-122"/>
                <a:cs typeface="宋体" panose="02000500000000000000" pitchFamily="2" charset="-122"/>
              </a:rPr>
              <a:t>9</a:t>
            </a:r>
            <a:r>
              <a:rPr kumimoji="1" lang="zh-CN" altLang="en-US" sz="1800" dirty="0">
                <a:latin typeface="宋体" panose="02000500000000000000" pitchFamily="2" charset="-122"/>
                <a:ea typeface="宋体" panose="02000500000000000000" pitchFamily="2" charset="-122"/>
                <a:cs typeface="宋体" panose="02000500000000000000" pitchFamily="2" charset="-122"/>
              </a:rPr>
              <a:t>）</a:t>
            </a:r>
            <a:endParaRPr kumimoji="1" lang="zh-CN" altLang="en-US" sz="18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.set  at</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00000"/>
              </a:lnSpc>
              <a:spcBef>
                <a:spcPct val="0"/>
              </a:spcBef>
              <a:buNone/>
            </a:pPr>
            <a:r>
              <a:rPr kumimoji="1" lang="en-US" altLang="zh-CN" sz="1800" dirty="0">
                <a:latin typeface="宋体" panose="02000500000000000000" pitchFamily="2" charset="-122"/>
                <a:ea typeface="宋体" panose="02000500000000000000" pitchFamily="2" charset="-122"/>
                <a:cs typeface="宋体" panose="02000500000000000000" pitchFamily="2" charset="-122"/>
              </a:rPr>
              <a:t>.set  reorder</a:t>
            </a: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00000"/>
              </a:lnSpc>
              <a:spcBef>
                <a:spcPct val="0"/>
              </a:spcBef>
              <a:buNone/>
            </a:pPr>
            <a:endParaRPr kumimoji="1" lang="en-US" altLang="zh-CN" sz="18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00000"/>
              </a:lnSpc>
              <a:spcBef>
                <a:spcPct val="0"/>
              </a:spcBef>
              <a:buNone/>
            </a:pPr>
            <a:r>
              <a:rPr kumimoji="1" lang="zh-CN" altLang="en-US" sz="1800" dirty="0">
                <a:solidFill>
                  <a:srgbClr val="FF0000"/>
                </a:solidFill>
                <a:latin typeface="宋体" panose="02000500000000000000" pitchFamily="2" charset="-122"/>
                <a:ea typeface="宋体" panose="02000500000000000000" pitchFamily="2" charset="-122"/>
                <a:cs typeface="宋体" panose="02000500000000000000" pitchFamily="2" charset="-122"/>
              </a:rPr>
              <a:t>每个页表项两页为</a:t>
            </a:r>
            <a:r>
              <a:rPr kumimoji="1" lang="en-US" altLang="zh-CN" sz="1800" dirty="0">
                <a:solidFill>
                  <a:srgbClr val="FF0000"/>
                </a:solidFill>
                <a:latin typeface="宋体" panose="02000500000000000000" pitchFamily="2" charset="-122"/>
                <a:ea typeface="宋体" panose="02000500000000000000" pitchFamily="2" charset="-122"/>
                <a:cs typeface="宋体" panose="02000500000000000000" pitchFamily="2" charset="-122"/>
              </a:rPr>
              <a:t>16</a:t>
            </a:r>
            <a:r>
              <a:rPr kumimoji="1" lang="zh-CN" altLang="en-US" sz="1800" dirty="0">
                <a:solidFill>
                  <a:srgbClr val="FF0000"/>
                </a:solidFill>
                <a:latin typeface="宋体" panose="02000500000000000000" pitchFamily="2" charset="-122"/>
                <a:ea typeface="宋体" panose="02000500000000000000" pitchFamily="2" charset="-122"/>
                <a:cs typeface="宋体" panose="02000500000000000000" pitchFamily="2" charset="-122"/>
              </a:rPr>
              <a:t>字节</a:t>
            </a:r>
            <a:r>
              <a:rPr kumimoji="1" lang="en-US" altLang="zh-CN" sz="1800" dirty="0">
                <a:solidFill>
                  <a:srgbClr val="FF0000"/>
                </a:solidFill>
                <a:latin typeface="宋体" panose="02000500000000000000" pitchFamily="2" charset="-122"/>
                <a:ea typeface="宋体" panose="02000500000000000000" pitchFamily="2" charset="-122"/>
                <a:cs typeface="宋体" panose="02000500000000000000" pitchFamily="2" charset="-122"/>
              </a:rPr>
              <a:t> </a:t>
            </a:r>
            <a:endParaRPr kumimoji="1" lang="en-US" altLang="zh-CN" sz="1800" dirty="0">
              <a:solidFill>
                <a:srgbClr val="FF0000"/>
              </a:solidFill>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7891" name="Rectangle 2"/>
          <p:cNvSpPr>
            <a:spLocks noGrp="1"/>
          </p:cNvSpPr>
          <p:nvPr>
            <p:ph type="title"/>
          </p:nvPr>
        </p:nvSpPr>
        <p:spPr/>
        <p:txBody>
          <a:bodyPr vert="horz" wrap="square" lIns="91440" tIns="45720" rIns="91440" bIns="45720" anchor="ctr" anchorCtr="0"/>
          <a:p>
            <a:pPr eaLnBrk="1" hangingPunct="1"/>
            <a:r>
              <a:rPr lang="en-US" altLang="zh-CN" dirty="0"/>
              <a:t>Linux/MIPS</a:t>
            </a:r>
            <a:r>
              <a:rPr lang="zh-CN" altLang="en-US" dirty="0"/>
              <a:t>的两层页表</a:t>
            </a:r>
            <a:endParaRPr lang="zh-CN" altLang="en-US" dirty="0"/>
          </a:p>
        </p:txBody>
      </p:sp>
      <p:pic>
        <p:nvPicPr>
          <p:cNvPr id="37892" name="Picture 4" descr="1291286100824181"/>
          <p:cNvPicPr>
            <a:picLocks noChangeAspect="1"/>
          </p:cNvPicPr>
          <p:nvPr/>
        </p:nvPicPr>
        <p:blipFill>
          <a:blip r:embed="rId1"/>
          <a:stretch>
            <a:fillRect/>
          </a:stretch>
        </p:blipFill>
        <p:spPr>
          <a:xfrm>
            <a:off x="1598613" y="1516063"/>
            <a:ext cx="9531350" cy="5049837"/>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8915" name="Rectangle 2"/>
          <p:cNvSpPr>
            <a:spLocks noGrp="1"/>
          </p:cNvSpPr>
          <p:nvPr>
            <p:ph type="title"/>
          </p:nvPr>
        </p:nvSpPr>
        <p:spPr/>
        <p:txBody>
          <a:bodyPr vert="horz" wrap="square" lIns="91440" tIns="45720" rIns="91440" bIns="45720" anchor="ctr" anchorCtr="0"/>
          <a:p>
            <a:pPr eaLnBrk="1" hangingPunct="1"/>
            <a:r>
              <a:rPr lang="zh-CN" altLang="en-US" dirty="0"/>
              <a:t>内存中的页表组织（</a:t>
            </a:r>
            <a:r>
              <a:rPr lang="en-US" altLang="zh-CN" dirty="0"/>
              <a:t>32</a:t>
            </a:r>
            <a:r>
              <a:rPr lang="zh-CN" altLang="en-US" dirty="0"/>
              <a:t>位情况）</a:t>
            </a:r>
            <a:endParaRPr lang="zh-CN" altLang="en-US" dirty="0"/>
          </a:p>
        </p:txBody>
      </p:sp>
      <p:sp>
        <p:nvSpPr>
          <p:cNvPr id="35844"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两级页表，每项</a:t>
            </a:r>
            <a:r>
              <a:rPr kumimoji="1" lang="en-US" altLang="zh-CN"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4</a:t>
            </a:r>
            <a:r>
              <a:rPr kumimoji="1" lang="zh-CN" altLang="en-US"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个字节</a:t>
            </a:r>
            <a:endParaRPr kumimoji="1" lang="zh-CN" altLang="en-US"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PFN</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：物理帧号</a:t>
            </a:r>
            <a:endPar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Flags</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V</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C</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D</a:t>
            </a: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20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Exts</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：软件扩展位，用于维护一些硬件没有实现的功能，例如</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ref</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位，</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modified</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位</a:t>
            </a:r>
            <a:endPar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页表存放在</a:t>
            </a:r>
            <a:r>
              <a:rPr kumimoji="1" lang="en-US" altLang="zh-CN"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kseg0</a:t>
            </a:r>
            <a:endParaRPr kumimoji="1" lang="en-US" altLang="zh-CN"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页表访问不引起</a:t>
            </a:r>
            <a:r>
              <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endPar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页表存储空间在使用到的时候分配</a:t>
            </a:r>
            <a:endPar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每个进程的页表基地址存放在进程上下文中</a:t>
            </a:r>
            <a:endParaRPr kumimoji="1" lang="zh-CN" altLang="en-US" sz="2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fontAlgn="base" latinLnBrk="0" hangingPunct="1">
              <a:lnSpc>
                <a:spcPct val="150000"/>
              </a:lnSpc>
              <a:spcBef>
                <a:spcPct val="0"/>
              </a:spcBef>
              <a:spcAft>
                <a:spcPct val="0"/>
              </a:spcAft>
              <a:buClrTx/>
              <a:buSzTx/>
              <a:buFontTx/>
              <a:buChar char="•"/>
              <a:defRPr/>
            </a:pP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9939" name="Rectangle 2"/>
          <p:cNvSpPr/>
          <p:nvPr/>
        </p:nvSpPr>
        <p:spPr>
          <a:xfrm>
            <a:off x="914400" y="0"/>
            <a:ext cx="10361613" cy="838200"/>
          </a:xfrm>
          <a:prstGeom prst="rect">
            <a:avLst/>
          </a:prstGeom>
          <a:noFill/>
          <a:ln w="9525">
            <a:noFill/>
          </a:ln>
        </p:spPr>
        <p:txBody>
          <a:bodyPr anchor="ctr" anchorCtr="0"/>
          <a:p>
            <a:pPr algn="ctr">
              <a:spcBef>
                <a:spcPct val="0"/>
              </a:spcBef>
            </a:pPr>
            <a:r>
              <a:rPr lang="en-US" altLang="zh-CN" sz="3200" dirty="0">
                <a:solidFill>
                  <a:srgbClr val="FF0000"/>
                </a:solidFill>
                <a:latin typeface="Arial" panose="02080604020202020204" pitchFamily="34" charset="0"/>
                <a:ea typeface="黑体" panose="02000500000000000000" pitchFamily="49" charset="-122"/>
              </a:rPr>
              <a:t>Linux</a:t>
            </a:r>
            <a:r>
              <a:rPr lang="zh-CN" altLang="en-US" sz="3200" dirty="0">
                <a:solidFill>
                  <a:srgbClr val="FF0000"/>
                </a:solidFill>
                <a:latin typeface="Arial" panose="02080604020202020204" pitchFamily="34" charset="0"/>
                <a:ea typeface="黑体" panose="02000500000000000000" pitchFamily="49" charset="-122"/>
              </a:rPr>
              <a:t>的</a:t>
            </a:r>
            <a:r>
              <a:rPr lang="en-US" altLang="zh-CN" sz="3200" dirty="0">
                <a:solidFill>
                  <a:srgbClr val="FF0000"/>
                </a:solidFill>
                <a:latin typeface="Arial" panose="02080604020202020204" pitchFamily="34" charset="0"/>
                <a:ea typeface="黑体" panose="02000500000000000000" pitchFamily="49" charset="-122"/>
              </a:rPr>
              <a:t>TLB</a:t>
            </a:r>
            <a:r>
              <a:rPr lang="zh-CN" altLang="en-US" sz="3200" dirty="0">
                <a:solidFill>
                  <a:srgbClr val="FF0000"/>
                </a:solidFill>
                <a:latin typeface="Arial" panose="02080604020202020204" pitchFamily="34" charset="0"/>
                <a:ea typeface="黑体" panose="02000500000000000000" pitchFamily="49" charset="-122"/>
              </a:rPr>
              <a:t>重填代码（共</a:t>
            </a:r>
            <a:r>
              <a:rPr lang="en-US" altLang="zh-CN" sz="3200" dirty="0">
                <a:solidFill>
                  <a:srgbClr val="FF0000"/>
                </a:solidFill>
                <a:latin typeface="Arial" panose="02080604020202020204" pitchFamily="34" charset="0"/>
                <a:ea typeface="黑体" panose="02000500000000000000" pitchFamily="49" charset="-122"/>
              </a:rPr>
              <a:t>18</a:t>
            </a:r>
            <a:r>
              <a:rPr lang="zh-CN" altLang="en-US" sz="3200" dirty="0">
                <a:solidFill>
                  <a:srgbClr val="FF0000"/>
                </a:solidFill>
                <a:latin typeface="Arial" panose="02080604020202020204" pitchFamily="34" charset="0"/>
                <a:ea typeface="黑体" panose="02000500000000000000" pitchFamily="49" charset="-122"/>
              </a:rPr>
              <a:t>条指令）</a:t>
            </a:r>
            <a:endParaRPr lang="zh-CN" altLang="en-US" sz="1800" dirty="0">
              <a:solidFill>
                <a:srgbClr val="FF0000"/>
              </a:solidFill>
              <a:latin typeface="Arial" panose="02080604020202020204" pitchFamily="34" charset="0"/>
              <a:ea typeface="黑体" panose="02000500000000000000" pitchFamily="49" charset="-122"/>
            </a:endParaRPr>
          </a:p>
        </p:txBody>
      </p:sp>
      <p:sp>
        <p:nvSpPr>
          <p:cNvPr id="39940" name="Rectangle 3"/>
          <p:cNvSpPr/>
          <p:nvPr/>
        </p:nvSpPr>
        <p:spPr>
          <a:xfrm>
            <a:off x="588645" y="1445260"/>
            <a:ext cx="6991985" cy="5053330"/>
          </a:xfrm>
          <a:prstGeom prst="rect">
            <a:avLst/>
          </a:prstGeom>
          <a:solidFill>
            <a:schemeClr val="bg1">
              <a:lumMod val="95000"/>
            </a:schemeClr>
          </a:solidFill>
          <a:ln w="9525">
            <a:noFill/>
          </a:ln>
        </p:spPr>
        <p:txBody>
          <a:bodyPr/>
          <a:p>
            <a:pPr marL="342900" indent="-342900">
              <a:lnSpc>
                <a:spcPct val="90000"/>
              </a:lnSpc>
              <a:spcBef>
                <a:spcPct val="10000"/>
              </a:spcBef>
            </a:pPr>
            <a:r>
              <a:rPr lang="en-US" altLang="zh-CN" sz="1600" b="1" dirty="0">
                <a:latin typeface="宋体" panose="02000500000000000000" pitchFamily="2" charset="-122"/>
                <a:cs typeface="宋体" panose="02000500000000000000" pitchFamily="2" charset="-122"/>
              </a:rPr>
              <a:t>	mfc0	k0, CP0_BADVADDR        #</a:t>
            </a:r>
            <a:r>
              <a:rPr lang="zh-CN" altLang="en-US" sz="1600" b="1" dirty="0">
                <a:latin typeface="宋体" panose="02000500000000000000" pitchFamily="2" charset="-122"/>
                <a:cs typeface="宋体" panose="02000500000000000000" pitchFamily="2" charset="-122"/>
              </a:rPr>
              <a:t>取发生</a:t>
            </a:r>
            <a:r>
              <a:rPr lang="en-US" altLang="zh-CN" sz="1600" b="1" dirty="0">
                <a:latin typeface="宋体" panose="02000500000000000000" pitchFamily="2" charset="-122"/>
                <a:cs typeface="宋体" panose="02000500000000000000" pitchFamily="2" charset="-122"/>
              </a:rPr>
              <a:t>tlb miss</a:t>
            </a:r>
            <a:r>
              <a:rPr lang="zh-CN" altLang="en-US" sz="1600" b="1" dirty="0">
                <a:latin typeface="宋体" panose="02000500000000000000" pitchFamily="2" charset="-122"/>
                <a:cs typeface="宋体" panose="02000500000000000000" pitchFamily="2" charset="-122"/>
              </a:rPr>
              <a:t>的地址</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srl	k0, k0, 22                 #</a:t>
            </a:r>
            <a:r>
              <a:rPr lang="zh-CN" altLang="en-US" sz="1600" b="1" dirty="0">
                <a:latin typeface="宋体" panose="02000500000000000000" pitchFamily="2" charset="-122"/>
                <a:cs typeface="宋体" panose="02000500000000000000" pitchFamily="2" charset="-122"/>
              </a:rPr>
              <a:t>最高</a:t>
            </a:r>
            <a:r>
              <a:rPr lang="en-US" altLang="zh-CN" sz="1600" b="1" dirty="0">
                <a:latin typeface="宋体" panose="02000500000000000000" pitchFamily="2" charset="-122"/>
                <a:cs typeface="宋体" panose="02000500000000000000" pitchFamily="2" charset="-122"/>
              </a:rPr>
              <a:t>10</a:t>
            </a:r>
            <a:r>
              <a:rPr lang="zh-CN" altLang="en-US" sz="1600" b="1" dirty="0">
                <a:latin typeface="宋体" panose="02000500000000000000" pitchFamily="2" charset="-122"/>
                <a:cs typeface="宋体" panose="02000500000000000000" pitchFamily="2" charset="-122"/>
              </a:rPr>
              <a:t>位是第一级页表的索引</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lw	k1, pgd_current	        #</a:t>
            </a:r>
            <a:r>
              <a:rPr lang="zh-CN" altLang="en-US" sz="1600" b="1" dirty="0">
                <a:latin typeface="宋体" panose="02000500000000000000" pitchFamily="2" charset="-122"/>
                <a:cs typeface="宋体" panose="02000500000000000000" pitchFamily="2" charset="-122"/>
              </a:rPr>
              <a:t>取页表入口指针 </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sll	k0, k0, 2                  #</a:t>
            </a:r>
            <a:r>
              <a:rPr lang="zh-CN" altLang="en-US" sz="1600" b="1" dirty="0">
                <a:latin typeface="宋体" panose="02000500000000000000" pitchFamily="2" charset="-122"/>
                <a:cs typeface="宋体" panose="02000500000000000000" pitchFamily="2" charset="-122"/>
              </a:rPr>
              <a:t>每项</a:t>
            </a:r>
            <a:r>
              <a:rPr lang="en-US" altLang="zh-CN" sz="1600" b="1" dirty="0">
                <a:latin typeface="宋体" panose="02000500000000000000" pitchFamily="2" charset="-122"/>
                <a:cs typeface="宋体" panose="02000500000000000000" pitchFamily="2" charset="-122"/>
              </a:rPr>
              <a:t>4</a:t>
            </a:r>
            <a:r>
              <a:rPr lang="zh-CN" altLang="en-US" sz="1600" b="1" dirty="0">
                <a:latin typeface="宋体" panose="02000500000000000000" pitchFamily="2" charset="-122"/>
                <a:cs typeface="宋体" panose="02000500000000000000" pitchFamily="2" charset="-122"/>
              </a:rPr>
              <a:t>个字节</a:t>
            </a:r>
            <a:r>
              <a:rPr lang="en-US" altLang="zh-CN" sz="1600" b="1" dirty="0">
                <a:latin typeface="宋体" panose="02000500000000000000" pitchFamily="2" charset="-122"/>
                <a:cs typeface="宋体" panose="02000500000000000000" pitchFamily="2" charset="-122"/>
              </a:rPr>
              <a:t>,</a:t>
            </a:r>
            <a:r>
              <a:rPr lang="zh-CN" altLang="en-US" sz="1600" b="1" dirty="0">
                <a:latin typeface="宋体" panose="02000500000000000000" pitchFamily="2" charset="-122"/>
                <a:cs typeface="宋体" panose="02000500000000000000" pitchFamily="2" charset="-122"/>
              </a:rPr>
              <a:t>所以索引*</a:t>
            </a:r>
            <a:r>
              <a:rPr lang="en-US" altLang="zh-CN" sz="1600" b="1" dirty="0">
                <a:latin typeface="宋体" panose="02000500000000000000" pitchFamily="2" charset="-122"/>
                <a:cs typeface="宋体" panose="02000500000000000000" pitchFamily="2" charset="-122"/>
              </a:rPr>
              <a:t>4=</a:t>
            </a:r>
            <a:r>
              <a:rPr lang="zh-CN" altLang="en-US" sz="1600" b="1" dirty="0">
                <a:latin typeface="宋体" panose="02000500000000000000" pitchFamily="2" charset="-122"/>
                <a:cs typeface="宋体" panose="02000500000000000000" pitchFamily="2" charset="-122"/>
              </a:rPr>
              <a:t>偏移</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addu	k1, k1, k0                  #*k1</a:t>
            </a:r>
            <a:r>
              <a:rPr lang="zh-CN" altLang="en-US" sz="1600" b="1" dirty="0">
                <a:latin typeface="宋体" panose="02000500000000000000" pitchFamily="2" charset="-122"/>
                <a:cs typeface="宋体" panose="02000500000000000000" pitchFamily="2" charset="-122"/>
              </a:rPr>
              <a:t>指向下一级页表入口</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mfc0	k0, CP0_CONTEXT          #context</a:t>
            </a:r>
            <a:r>
              <a:rPr lang="zh-CN" altLang="en-US" sz="1600" b="1" dirty="0">
                <a:latin typeface="宋体" panose="02000500000000000000" pitchFamily="2" charset="-122"/>
                <a:cs typeface="宋体" panose="02000500000000000000" pitchFamily="2" charset="-122"/>
              </a:rPr>
              <a:t>包含失效的虚页号</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lw	k1, (k1)                    #</a:t>
            </a:r>
            <a:r>
              <a:rPr lang="zh-CN" altLang="en-US" sz="1600" b="1" dirty="0">
                <a:latin typeface="宋体" panose="02000500000000000000" pitchFamily="2" charset="-122"/>
                <a:cs typeface="宋体" panose="02000500000000000000" pitchFamily="2" charset="-122"/>
              </a:rPr>
              <a:t>取出第二级页表</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srl	k0, k0, 1</a:t>
            </a:r>
            <a:endParaRPr lang="en-US" altLang="zh-CN"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en-US" altLang="zh-CN" sz="1600" b="1" dirty="0">
                <a:latin typeface="宋体" panose="02000500000000000000" pitchFamily="2" charset="-122"/>
                <a:cs typeface="宋体" panose="02000500000000000000" pitchFamily="2" charset="-122"/>
              </a:rPr>
              <a:t>	and	k0, k0, 0xff8               #</a:t>
            </a:r>
            <a:r>
              <a:rPr lang="zh-CN" altLang="en-US" sz="1600" b="1" dirty="0">
                <a:latin typeface="宋体" panose="02000500000000000000" pitchFamily="2" charset="-122"/>
                <a:cs typeface="宋体" panose="02000500000000000000" pitchFamily="2" charset="-122"/>
              </a:rPr>
              <a:t>算出第二级页表的偏移</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addu	k1, k1, k0</a:t>
            </a:r>
            <a:endParaRPr lang="en-US" altLang="zh-CN"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en-US" altLang="zh-CN" sz="1600" b="1" dirty="0">
                <a:latin typeface="宋体" panose="02000500000000000000" pitchFamily="2" charset="-122"/>
                <a:cs typeface="宋体" panose="02000500000000000000" pitchFamily="2" charset="-122"/>
              </a:rPr>
              <a:t>	lw	k0, 0(k1)                  #</a:t>
            </a:r>
            <a:r>
              <a:rPr lang="zh-CN" altLang="en-US" sz="1600" b="1" dirty="0">
                <a:latin typeface="宋体" panose="02000500000000000000" pitchFamily="2" charset="-122"/>
                <a:cs typeface="宋体" panose="02000500000000000000" pitchFamily="2" charset="-122"/>
              </a:rPr>
              <a:t>成对存放</a:t>
            </a:r>
            <a:r>
              <a:rPr lang="en-US" altLang="zh-CN" sz="1600" b="1" dirty="0">
                <a:latin typeface="宋体" panose="02000500000000000000" pitchFamily="2" charset="-122"/>
                <a:cs typeface="宋体" panose="02000500000000000000" pitchFamily="2" charset="-122"/>
              </a:rPr>
              <a:t>,</a:t>
            </a:r>
            <a:r>
              <a:rPr lang="zh-CN" altLang="en-US" sz="1600" b="1" dirty="0">
                <a:latin typeface="宋体" panose="02000500000000000000" pitchFamily="2" charset="-122"/>
                <a:cs typeface="宋体" panose="02000500000000000000" pitchFamily="2" charset="-122"/>
              </a:rPr>
              <a:t>一个偶数页</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lw	k1, 4(k1)                   #</a:t>
            </a:r>
            <a:r>
              <a:rPr lang="zh-CN" altLang="en-US" sz="1600" b="1" dirty="0">
                <a:latin typeface="宋体" panose="02000500000000000000" pitchFamily="2" charset="-122"/>
                <a:cs typeface="宋体" panose="02000500000000000000" pitchFamily="2" charset="-122"/>
              </a:rPr>
              <a:t>加一个奇数页</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srl	k0, k0, 6                  #</a:t>
            </a:r>
            <a:r>
              <a:rPr lang="zh-CN" altLang="en-US" sz="1600" b="1" dirty="0">
                <a:latin typeface="宋体" panose="02000500000000000000" pitchFamily="2" charset="-122"/>
                <a:cs typeface="宋体" panose="02000500000000000000" pitchFamily="2" charset="-122"/>
              </a:rPr>
              <a:t>移出</a:t>
            </a:r>
            <a:r>
              <a:rPr lang="en-US" altLang="zh-CN" sz="1600" b="1" dirty="0">
                <a:latin typeface="宋体" panose="02000500000000000000" pitchFamily="2" charset="-122"/>
                <a:cs typeface="宋体" panose="02000500000000000000" pitchFamily="2" charset="-122"/>
              </a:rPr>
              <a:t>6</a:t>
            </a:r>
            <a:r>
              <a:rPr lang="zh-CN" altLang="en-US" sz="1600" b="1" dirty="0">
                <a:latin typeface="宋体" panose="02000500000000000000" pitchFamily="2" charset="-122"/>
                <a:cs typeface="宋体" panose="02000500000000000000" pitchFamily="2" charset="-122"/>
              </a:rPr>
              <a:t>位软件用的位</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mtc0	k0, CP0_ENTRYLO0         #</a:t>
            </a:r>
            <a:r>
              <a:rPr lang="zh-CN" altLang="en-US" sz="1600" b="1" dirty="0">
                <a:latin typeface="宋体" panose="02000500000000000000" pitchFamily="2" charset="-122"/>
                <a:cs typeface="宋体" panose="02000500000000000000" pitchFamily="2" charset="-122"/>
              </a:rPr>
              <a:t>写入偶数页表项</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srl	k1, k1, 6</a:t>
            </a:r>
            <a:endParaRPr lang="en-US" altLang="zh-CN"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en-US" altLang="zh-CN" sz="1600" b="1" dirty="0">
                <a:latin typeface="宋体" panose="02000500000000000000" pitchFamily="2" charset="-122"/>
                <a:cs typeface="宋体" panose="02000500000000000000" pitchFamily="2" charset="-122"/>
              </a:rPr>
              <a:t>	mtc0	k1, CP0_ENTRYLO1          #</a:t>
            </a:r>
            <a:r>
              <a:rPr lang="zh-CN" altLang="en-US" sz="1600" b="1" dirty="0">
                <a:latin typeface="宋体" panose="02000500000000000000" pitchFamily="2" charset="-122"/>
                <a:cs typeface="宋体" panose="02000500000000000000" pitchFamily="2" charset="-122"/>
              </a:rPr>
              <a:t>写入奇数页表项</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tlbwr                            #</a:t>
            </a:r>
            <a:r>
              <a:rPr lang="zh-CN" altLang="en-US" sz="1600" b="1" dirty="0">
                <a:latin typeface="宋体" panose="02000500000000000000" pitchFamily="2" charset="-122"/>
                <a:cs typeface="宋体" panose="02000500000000000000" pitchFamily="2" charset="-122"/>
              </a:rPr>
              <a:t>写入</a:t>
            </a:r>
            <a:r>
              <a:rPr lang="en-US" altLang="zh-CN" sz="1600" b="1" dirty="0">
                <a:latin typeface="宋体" panose="02000500000000000000" pitchFamily="2" charset="-122"/>
                <a:cs typeface="宋体" panose="02000500000000000000" pitchFamily="2" charset="-122"/>
              </a:rPr>
              <a:t>TLB</a:t>
            </a:r>
            <a:r>
              <a:rPr lang="zh-CN" altLang="en-US" sz="1600" b="1" dirty="0">
                <a:latin typeface="宋体" panose="02000500000000000000" pitchFamily="2" charset="-122"/>
                <a:cs typeface="宋体" panose="02000500000000000000" pitchFamily="2" charset="-122"/>
              </a:rPr>
              <a:t>的一个随机项</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zh-CN" altLang="en-US" sz="1600" b="1" dirty="0">
                <a:latin typeface="宋体" panose="02000500000000000000" pitchFamily="2" charset="-122"/>
                <a:cs typeface="宋体" panose="02000500000000000000" pitchFamily="2" charset="-122"/>
              </a:rPr>
              <a:t>	</a:t>
            </a:r>
            <a:r>
              <a:rPr lang="en-US" altLang="zh-CN" sz="1600" b="1" dirty="0">
                <a:latin typeface="宋体" panose="02000500000000000000" pitchFamily="2" charset="-122"/>
                <a:cs typeface="宋体" panose="02000500000000000000" pitchFamily="2" charset="-122"/>
              </a:rPr>
              <a:t>eret                             #</a:t>
            </a:r>
            <a:r>
              <a:rPr lang="zh-CN" altLang="en-US" sz="1600" b="1" dirty="0">
                <a:latin typeface="宋体" panose="02000500000000000000" pitchFamily="2" charset="-122"/>
                <a:cs typeface="宋体" panose="02000500000000000000" pitchFamily="2" charset="-122"/>
              </a:rPr>
              <a:t>异常返回</a:t>
            </a: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endParaRPr lang="zh-CN" altLang="en-US" sz="1600" b="1" dirty="0">
              <a:latin typeface="宋体" panose="02000500000000000000" pitchFamily="2" charset="-122"/>
              <a:cs typeface="宋体" panose="02000500000000000000" pitchFamily="2" charset="-122"/>
            </a:endParaRPr>
          </a:p>
          <a:p>
            <a:pPr marL="342900" indent="-342900">
              <a:lnSpc>
                <a:spcPct val="90000"/>
              </a:lnSpc>
              <a:spcBef>
                <a:spcPct val="10000"/>
              </a:spcBef>
            </a:pPr>
            <a:r>
              <a:rPr lang="en-US" altLang="zh-CN" sz="1600" b="1" dirty="0">
                <a:solidFill>
                  <a:srgbClr val="FF0000"/>
                </a:solidFill>
                <a:latin typeface="宋体" panose="02000500000000000000" pitchFamily="2" charset="-122"/>
                <a:cs typeface="宋体" panose="02000500000000000000" pitchFamily="2" charset="-122"/>
              </a:rPr>
              <a:t>MIPS</a:t>
            </a:r>
            <a:r>
              <a:rPr lang="zh-CN" altLang="en-US" sz="1600" b="1" dirty="0">
                <a:solidFill>
                  <a:srgbClr val="FF0000"/>
                </a:solidFill>
                <a:latin typeface="宋体" panose="02000500000000000000" pitchFamily="2" charset="-122"/>
                <a:cs typeface="宋体" panose="02000500000000000000" pitchFamily="2" charset="-122"/>
              </a:rPr>
              <a:t>的硬件结构为一级页表设计，两级页表需要“拼凑”页表地址</a:t>
            </a:r>
            <a:endParaRPr lang="zh-CN" altLang="en-US" sz="1600" b="1" dirty="0">
              <a:solidFill>
                <a:srgbClr val="FF0000"/>
              </a:solidFill>
              <a:latin typeface="宋体" panose="02000500000000000000" pitchFamily="2" charset="-122"/>
              <a:cs typeface="宋体" panose="02000500000000000000" pitchFamily="2" charset="-122"/>
            </a:endParaRPr>
          </a:p>
        </p:txBody>
      </p:sp>
      <p:sp>
        <p:nvSpPr>
          <p:cNvPr id="36868" name="Rectangle 3"/>
          <p:cNvSpPr>
            <a:spLocks noGrp="1"/>
          </p:cNvSpPr>
          <p:nvPr/>
        </p:nvSpPr>
        <p:spPr>
          <a:xfrm>
            <a:off x="8276590" y="1445895"/>
            <a:ext cx="3636645" cy="3925570"/>
          </a:xfrm>
          <a:prstGeom prst="rect">
            <a:avLst/>
          </a:prstGeom>
          <a:solidFill>
            <a:schemeClr val="accent2">
              <a:lumMod val="20000"/>
              <a:lumOff val="80000"/>
            </a:schemeClr>
          </a:solidFill>
          <a:ln w="9525">
            <a:noFill/>
          </a:ln>
        </p:spPr>
        <p:txBody>
          <a:bodyPr vert="horz" wrap="square" lIns="91440" tIns="45720" rIns="91440" bIns="45720" anchor="t" anchorCtr="0"/>
          <a:lstStyle>
            <a:lvl1pPr marL="342900" indent="-342900" algn="l" rtl="0" eaLnBrk="0" fontAlgn="base" hangingPunct="0">
              <a:lnSpc>
                <a:spcPct val="150000"/>
              </a:lnSpc>
              <a:spcBef>
                <a:spcPts val="0"/>
              </a:spcBef>
              <a:spcAft>
                <a:spcPct val="0"/>
              </a:spcAft>
              <a:buChar char="•"/>
              <a:defRPr kumimoji="1" sz="2400" b="1">
                <a:solidFill>
                  <a:schemeClr val="tx1"/>
                </a:solidFill>
                <a:latin typeface="+mn-lt"/>
                <a:ea typeface="+mn-ea"/>
                <a:cs typeface="+mn-cs"/>
              </a:defRPr>
            </a:lvl1pPr>
            <a:lvl2pPr marL="742950" indent="-285750" algn="l" rtl="0" eaLnBrk="0" fontAlgn="base" hangingPunct="0">
              <a:lnSpc>
                <a:spcPct val="150000"/>
              </a:lnSpc>
              <a:spcBef>
                <a:spcPts val="0"/>
              </a:spcBef>
              <a:spcAft>
                <a:spcPct val="0"/>
              </a:spcAft>
              <a:buChar char="•"/>
              <a:defRPr kumimoji="1" sz="2000" b="1">
                <a:solidFill>
                  <a:schemeClr val="tx1"/>
                </a:solidFill>
                <a:latin typeface="+mn-lt"/>
                <a:ea typeface="+mn-ea"/>
              </a:defRPr>
            </a:lvl2pPr>
            <a:lvl3pPr marL="1143000" indent="-228600" algn="l" rtl="0" eaLnBrk="0" fontAlgn="base" hangingPunct="0">
              <a:lnSpc>
                <a:spcPct val="150000"/>
              </a:lnSpc>
              <a:spcBef>
                <a:spcPts val="0"/>
              </a:spcBef>
              <a:spcAft>
                <a:spcPct val="0"/>
              </a:spcAft>
              <a:buChar char="•"/>
              <a:defRPr kumimoji="1" sz="18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set  noreorder</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.set  noat</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TLBmissR4K:</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DMFC0   k1,C0_CONTEXT     </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LW      k0,0(k1)            </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LW      k1,8(k1)            </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MTC0    k0,C0_ENTRYLO0   </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MTC0    k1,C0_ENTRYLO1    </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TLBWR                    </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ERET                      </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algn="just"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.set  at</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00000"/>
              </a:lnSpc>
              <a:spcBef>
                <a:spcPct val="0"/>
              </a:spcBef>
              <a:buNone/>
            </a:pPr>
            <a:r>
              <a:rPr kumimoji="1" lang="en-US" altLang="zh-CN" sz="1600" dirty="0">
                <a:latin typeface="宋体" panose="02000500000000000000" pitchFamily="2" charset="-122"/>
                <a:ea typeface="宋体" panose="02000500000000000000" pitchFamily="2" charset="-122"/>
                <a:cs typeface="宋体" panose="02000500000000000000" pitchFamily="2" charset="-122"/>
              </a:rPr>
              <a:t>.set  reorder </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868"/>
                                        </p:tgtEl>
                                        <p:attrNameLst>
                                          <p:attrName>style.visibility</p:attrName>
                                        </p:attrNameLst>
                                      </p:cBhvr>
                                      <p:to>
                                        <p:strVal val="visible"/>
                                      </p:to>
                                    </p:set>
                                    <p:animEffect transition="in" filter="wipe(down)">
                                      <p:cBhvr>
                                        <p:cTn id="7"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bldLvl="0" animBg="1"/>
      <p:bldP spid="36868"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0963" name="Rectangle 2"/>
          <p:cNvSpPr>
            <a:spLocks noGrp="1"/>
          </p:cNvSpPr>
          <p:nvPr>
            <p:ph type="title"/>
          </p:nvPr>
        </p:nvSpPr>
        <p:spPr>
          <a:xfrm>
            <a:off x="863600" y="0"/>
            <a:ext cx="10361613" cy="565150"/>
          </a:xfrm>
        </p:spPr>
        <p:txBody>
          <a:bodyPr vert="horz" wrap="square" lIns="91440" tIns="45720" rIns="91440" bIns="45720" anchor="ctr" anchorCtr="0"/>
          <a:p>
            <a:pPr eaLnBrk="1" hangingPunct="1"/>
            <a:r>
              <a:rPr lang="zh-CN" altLang="en-US" dirty="0"/>
              <a:t>例子</a:t>
            </a:r>
            <a:endParaRPr lang="zh-CN" altLang="en-US" dirty="0"/>
          </a:p>
        </p:txBody>
      </p:sp>
      <p:sp>
        <p:nvSpPr>
          <p:cNvPr id="40964" name="Rectangle 3"/>
          <p:cNvSpPr>
            <a:spLocks noGrp="1"/>
          </p:cNvSpPr>
          <p:nvPr>
            <p:ph idx="1"/>
          </p:nvPr>
        </p:nvSpPr>
        <p:spPr>
          <a:xfrm>
            <a:off x="127000" y="784225"/>
            <a:ext cx="11961813" cy="6054725"/>
          </a:xfrm>
        </p:spPr>
        <p:txBody>
          <a:bodyPr vert="horz" wrap="square" lIns="91440" tIns="45720" rIns="91440" bIns="45720" anchor="t" anchorCtr="0"/>
          <a:p>
            <a:pPr eaLnBrk="1" latinLnBrk="0" hangingPunct="1">
              <a:lnSpc>
                <a:spcPct val="150000"/>
              </a:lnSpc>
              <a:spcBef>
                <a:spcPct val="0"/>
              </a:spcBef>
            </a:pPr>
            <a:r>
              <a:rPr kumimoji="1" lang="en-US" altLang="zh-CN" sz="2000" dirty="0">
                <a:solidFill>
                  <a:schemeClr val="accent2"/>
                </a:solidFill>
                <a:latin typeface="宋体" panose="02000500000000000000" pitchFamily="2" charset="-122"/>
                <a:ea typeface="宋体" panose="02000500000000000000" pitchFamily="2" charset="-122"/>
                <a:cs typeface="宋体" panose="02000500000000000000" pitchFamily="2" charset="-122"/>
              </a:rPr>
              <a:t>array = (int*)malloc(0x1000);</a:t>
            </a:r>
            <a:endParaRPr kumimoji="1" lang="en-US" altLang="zh-CN" sz="20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用户程序</a:t>
            </a:r>
            <a:r>
              <a:rPr kumimoji="1" lang="en-US" altLang="zh-CN" sz="1600" dirty="0">
                <a:latin typeface="宋体" panose="02000500000000000000" pitchFamily="2" charset="-122"/>
                <a:ea typeface="宋体" panose="02000500000000000000" pitchFamily="2" charset="-122"/>
                <a:cs typeface="宋体" panose="02000500000000000000" pitchFamily="2" charset="-122"/>
              </a:rPr>
              <a:t>malloc(0x1000)</a:t>
            </a:r>
            <a:r>
              <a:rPr kumimoji="1" lang="zh-CN" altLang="en-US" sz="1600" dirty="0">
                <a:latin typeface="宋体" panose="02000500000000000000" pitchFamily="2" charset="-122"/>
                <a:ea typeface="宋体" panose="02000500000000000000" pitchFamily="2" charset="-122"/>
                <a:cs typeface="宋体" panose="02000500000000000000" pitchFamily="2" charset="-122"/>
              </a:rPr>
              <a:t>返回虚地址</a:t>
            </a:r>
            <a:r>
              <a:rPr kumimoji="1" lang="en-US" altLang="zh-CN" sz="1600" dirty="0">
                <a:latin typeface="宋体" panose="02000500000000000000" pitchFamily="2" charset="-122"/>
                <a:ea typeface="宋体" panose="02000500000000000000" pitchFamily="2" charset="-122"/>
                <a:cs typeface="宋体" panose="02000500000000000000" pitchFamily="2" charset="-122"/>
              </a:rPr>
              <a:t>0x450000</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操作系统在该进程的</a:t>
            </a:r>
            <a:r>
              <a:rPr kumimoji="1" lang="en-US" altLang="zh-CN" sz="1600" dirty="0">
                <a:latin typeface="宋体" panose="02000500000000000000" pitchFamily="2" charset="-122"/>
                <a:ea typeface="宋体" panose="02000500000000000000" pitchFamily="2" charset="-122"/>
                <a:cs typeface="宋体" panose="02000500000000000000" pitchFamily="2" charset="-122"/>
              </a:rPr>
              <a:t>vma_struct</a:t>
            </a:r>
            <a:r>
              <a:rPr kumimoji="1" lang="zh-CN" altLang="en-US" sz="1600" dirty="0">
                <a:latin typeface="宋体" panose="02000500000000000000" pitchFamily="2" charset="-122"/>
                <a:ea typeface="宋体" panose="02000500000000000000" pitchFamily="2" charset="-122"/>
                <a:cs typeface="宋体" panose="02000500000000000000" pitchFamily="2" charset="-122"/>
              </a:rPr>
              <a:t>链表中记录地址范围</a:t>
            </a:r>
            <a:r>
              <a:rPr kumimoji="1" lang="en-US" altLang="zh-CN" sz="1600" dirty="0">
                <a:latin typeface="宋体" panose="02000500000000000000" pitchFamily="2" charset="-122"/>
                <a:ea typeface="宋体" panose="02000500000000000000" pitchFamily="2" charset="-122"/>
                <a:cs typeface="宋体" panose="02000500000000000000" pitchFamily="2" charset="-122"/>
              </a:rPr>
              <a:t>0x450000-0x451000</a:t>
            </a:r>
            <a:r>
              <a:rPr kumimoji="1" lang="zh-CN" altLang="en-US" sz="1600" dirty="0">
                <a:latin typeface="宋体" panose="02000500000000000000" pitchFamily="2" charset="-122"/>
                <a:ea typeface="宋体" panose="02000500000000000000" pitchFamily="2" charset="-122"/>
                <a:cs typeface="宋体" panose="02000500000000000000" pitchFamily="2" charset="-122"/>
              </a:rPr>
              <a:t>为已分配地址，可读可写</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eaLnBrk="1" latinLnBrk="0" hangingPunct="1">
              <a:lnSpc>
                <a:spcPct val="150000"/>
              </a:lnSpc>
              <a:spcBef>
                <a:spcPct val="0"/>
              </a:spcBef>
            </a:pPr>
            <a:r>
              <a:rPr kumimoji="1" lang="en-US" altLang="zh-CN" sz="2000" dirty="0">
                <a:solidFill>
                  <a:schemeClr val="accent2"/>
                </a:solidFill>
                <a:latin typeface="宋体" panose="02000500000000000000" pitchFamily="2" charset="-122"/>
                <a:ea typeface="宋体" panose="02000500000000000000" pitchFamily="2" charset="-122"/>
                <a:cs typeface="宋体" panose="02000500000000000000" pitchFamily="2" charset="-122"/>
              </a:rPr>
              <a:t>for (i=0; i&lt;1024; i++) array[i] = 0;</a:t>
            </a:r>
            <a:endParaRPr kumimoji="1" lang="en-US" altLang="zh-CN" sz="20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用户程序试图写</a:t>
            </a:r>
            <a:r>
              <a:rPr kumimoji="1" lang="en-US" altLang="zh-CN" sz="1600" dirty="0">
                <a:latin typeface="宋体" panose="02000500000000000000" pitchFamily="2" charset="-122"/>
                <a:ea typeface="宋体" panose="02000500000000000000" pitchFamily="2" charset="-122"/>
                <a:cs typeface="宋体" panose="02000500000000000000" pitchFamily="2" charset="-122"/>
              </a:rPr>
              <a:t>0x450000</a:t>
            </a:r>
            <a:r>
              <a:rPr kumimoji="1" lang="zh-CN" altLang="en-US" sz="1600" dirty="0">
                <a:latin typeface="宋体" panose="02000500000000000000" pitchFamily="2" charset="-122"/>
                <a:ea typeface="宋体" panose="02000500000000000000" pitchFamily="2" charset="-122"/>
                <a:cs typeface="宋体" panose="02000500000000000000" pitchFamily="2" charset="-122"/>
              </a:rPr>
              <a:t>，</a:t>
            </a:r>
            <a:r>
              <a:rPr kumimoji="1" lang="en-US" altLang="zh-CN" sz="1600" dirty="0">
                <a:latin typeface="宋体" panose="02000500000000000000" pitchFamily="2" charset="-122"/>
                <a:ea typeface="宋体" panose="02000500000000000000" pitchFamily="2" charset="-122"/>
                <a:cs typeface="宋体" panose="02000500000000000000" pitchFamily="2" charset="-122"/>
              </a:rPr>
              <a:t>TLB</a:t>
            </a:r>
            <a:r>
              <a:rPr kumimoji="1" lang="zh-CN" altLang="en-US" sz="1600" dirty="0">
                <a:latin typeface="宋体" panose="02000500000000000000" pitchFamily="2" charset="-122"/>
                <a:ea typeface="宋体" panose="02000500000000000000" pitchFamily="2" charset="-122"/>
                <a:cs typeface="宋体" panose="02000500000000000000" pitchFamily="2" charset="-122"/>
              </a:rPr>
              <a:t>查找失败，引起</a:t>
            </a:r>
            <a:r>
              <a:rPr kumimoji="1" lang="en-US" altLang="zh-CN" sz="1600" dirty="0">
                <a:latin typeface="宋体" panose="02000500000000000000" pitchFamily="2" charset="-122"/>
                <a:ea typeface="宋体" panose="02000500000000000000" pitchFamily="2" charset="-122"/>
                <a:cs typeface="宋体" panose="02000500000000000000" pitchFamily="2" charset="-122"/>
              </a:rPr>
              <a:t>tlb refill</a:t>
            </a:r>
            <a:r>
              <a:rPr kumimoji="1" lang="zh-CN" altLang="en-US" sz="1600" dirty="0">
                <a:latin typeface="宋体" panose="02000500000000000000" pitchFamily="2" charset="-122"/>
                <a:ea typeface="宋体" panose="02000500000000000000" pitchFamily="2" charset="-122"/>
                <a:cs typeface="宋体" panose="02000500000000000000" pitchFamily="2" charset="-122"/>
              </a:rPr>
              <a:t>例外</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en-US" altLang="zh-CN" sz="1600" dirty="0">
                <a:latin typeface="宋体" panose="02000500000000000000" pitchFamily="2" charset="-122"/>
                <a:ea typeface="宋体" panose="02000500000000000000" pitchFamily="2" charset="-122"/>
                <a:cs typeface="宋体" panose="02000500000000000000" pitchFamily="2" charset="-122"/>
              </a:rPr>
              <a:t>Tlb refill</a:t>
            </a:r>
            <a:r>
              <a:rPr kumimoji="1" lang="zh-CN" altLang="en-US" sz="1600" dirty="0">
                <a:latin typeface="宋体" panose="02000500000000000000" pitchFamily="2" charset="-122"/>
                <a:ea typeface="宋体" panose="02000500000000000000" pitchFamily="2" charset="-122"/>
                <a:cs typeface="宋体" panose="02000500000000000000" pitchFamily="2" charset="-122"/>
              </a:rPr>
              <a:t>从相应页表位置取入页表内容填入</a:t>
            </a:r>
            <a:r>
              <a:rPr kumimoji="1" lang="en-US" altLang="zh-CN" sz="1600" dirty="0">
                <a:latin typeface="宋体" panose="02000500000000000000" pitchFamily="2" charset="-122"/>
                <a:ea typeface="宋体" panose="02000500000000000000" pitchFamily="2" charset="-122"/>
                <a:cs typeface="宋体" panose="02000500000000000000" pitchFamily="2" charset="-122"/>
              </a:rPr>
              <a:t>TLB</a:t>
            </a:r>
            <a:r>
              <a:rPr kumimoji="1" lang="zh-CN" altLang="en-US" sz="1600" dirty="0">
                <a:latin typeface="宋体" panose="02000500000000000000" pitchFamily="2" charset="-122"/>
                <a:ea typeface="宋体" panose="02000500000000000000" pitchFamily="2" charset="-122"/>
                <a:cs typeface="宋体" panose="02000500000000000000" pitchFamily="2" charset="-122"/>
              </a:rPr>
              <a:t>。但该页表还没初始化</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例外返回到用户程序，重新开始访问</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en-US" altLang="zh-CN" sz="1600" dirty="0">
                <a:latin typeface="宋体" panose="02000500000000000000" pitchFamily="2" charset="-122"/>
                <a:ea typeface="宋体" panose="02000500000000000000" pitchFamily="2" charset="-122"/>
                <a:cs typeface="宋体" panose="02000500000000000000" pitchFamily="2" charset="-122"/>
              </a:rPr>
              <a:t>TLB</a:t>
            </a:r>
            <a:r>
              <a:rPr kumimoji="1" lang="zh-CN" altLang="en-US" sz="1600" dirty="0">
                <a:latin typeface="宋体" panose="02000500000000000000" pitchFamily="2" charset="-122"/>
                <a:ea typeface="宋体" panose="02000500000000000000" pitchFamily="2" charset="-122"/>
                <a:cs typeface="宋体" panose="02000500000000000000" pitchFamily="2" charset="-122"/>
              </a:rPr>
              <a:t>表项找到，但是无效，发生</a:t>
            </a:r>
            <a:r>
              <a:rPr kumimoji="1" lang="en-US" altLang="zh-CN" sz="1600" dirty="0">
                <a:latin typeface="宋体" panose="02000500000000000000" pitchFamily="2" charset="-122"/>
                <a:ea typeface="宋体" panose="02000500000000000000" pitchFamily="2" charset="-122"/>
                <a:cs typeface="宋体" panose="02000500000000000000" pitchFamily="2" charset="-122"/>
              </a:rPr>
              <a:t>TLB Invalid</a:t>
            </a:r>
            <a:r>
              <a:rPr kumimoji="1" lang="zh-CN" altLang="en-US" sz="1600" dirty="0">
                <a:latin typeface="宋体" panose="02000500000000000000" pitchFamily="2" charset="-122"/>
                <a:ea typeface="宋体" panose="02000500000000000000" pitchFamily="2" charset="-122"/>
                <a:cs typeface="宋体" panose="02000500000000000000" pitchFamily="2" charset="-122"/>
              </a:rPr>
              <a:t>例外</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操作系统查找</a:t>
            </a:r>
            <a:r>
              <a:rPr kumimoji="1" lang="en-US" altLang="zh-CN" sz="1600" dirty="0">
                <a:latin typeface="宋体" panose="02000500000000000000" pitchFamily="2" charset="-122"/>
                <a:ea typeface="宋体" panose="02000500000000000000" pitchFamily="2" charset="-122"/>
                <a:cs typeface="宋体" panose="02000500000000000000" pitchFamily="2" charset="-122"/>
              </a:rPr>
              <a:t>vma_struct</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，判断该地址已分配，处于可写状态，因此为它分配物理页面，并将物理地址填入页表，更新</a:t>
            </a:r>
            <a:r>
              <a:rPr kumimoji="1" lang="en-US" altLang="zh-CN" sz="1600" dirty="0">
                <a:latin typeface="宋体" panose="02000500000000000000" pitchFamily="2" charset="-122"/>
                <a:ea typeface="宋体" panose="02000500000000000000" pitchFamily="2" charset="-122"/>
                <a:cs typeface="宋体" panose="02000500000000000000" pitchFamily="2" charset="-122"/>
              </a:rPr>
              <a:t>TLB</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例外返回，写操作再次重试，成功。</a:t>
            </a:r>
            <a:endParaRPr kumimoji="1"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latinLnBrk="0" hangingPunct="1">
              <a:lnSpc>
                <a:spcPct val="150000"/>
              </a:lnSpc>
              <a:spcBef>
                <a:spcPct val="0"/>
              </a:spcBef>
            </a:pPr>
            <a:r>
              <a:rPr kumimoji="1" lang="zh-CN" altLang="en-US" sz="1600" dirty="0">
                <a:latin typeface="宋体" panose="02000500000000000000" pitchFamily="2" charset="-122"/>
                <a:ea typeface="宋体" panose="02000500000000000000" pitchFamily="2" charset="-122"/>
                <a:cs typeface="宋体" panose="02000500000000000000" pitchFamily="2" charset="-122"/>
              </a:rPr>
              <a:t>用户程序继续写</a:t>
            </a:r>
            <a:r>
              <a:rPr kumimoji="1" lang="en-US" altLang="zh-CN" sz="1600" dirty="0">
                <a:latin typeface="宋体" panose="02000500000000000000" pitchFamily="2" charset="-122"/>
                <a:ea typeface="宋体" panose="02000500000000000000" pitchFamily="2" charset="-122"/>
                <a:cs typeface="宋体" panose="02000500000000000000" pitchFamily="2" charset="-122"/>
              </a:rPr>
              <a:t>0x450004,008…</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，因为</a:t>
            </a:r>
            <a:r>
              <a:rPr kumimoji="1" lang="en-US" altLang="zh-CN" sz="1600" dirty="0">
                <a:latin typeface="宋体" panose="02000500000000000000" pitchFamily="2" charset="-122"/>
                <a:ea typeface="宋体" panose="02000500000000000000" pitchFamily="2" charset="-122"/>
                <a:cs typeface="宋体" panose="02000500000000000000" pitchFamily="2" charset="-122"/>
              </a:rPr>
              <a:t>TLB</a:t>
            </a:r>
            <a:r>
              <a:rPr kumimoji="1" lang="zh-CN" altLang="en-US" sz="1600" dirty="0">
                <a:latin typeface="宋体" panose="02000500000000000000" pitchFamily="2" charset="-122"/>
                <a:ea typeface="宋体" panose="02000500000000000000" pitchFamily="2" charset="-122"/>
                <a:cs typeface="宋体" panose="02000500000000000000" pitchFamily="2" charset="-122"/>
              </a:rPr>
              <a:t>项已经存在，将全速运行，除非中间发生进程切换导致其</a:t>
            </a:r>
            <a:r>
              <a:rPr kumimoji="1" lang="en-US" altLang="zh-CN" sz="1600" dirty="0">
                <a:latin typeface="宋体" panose="02000500000000000000" pitchFamily="2" charset="-122"/>
                <a:ea typeface="宋体" panose="02000500000000000000" pitchFamily="2" charset="-122"/>
                <a:cs typeface="宋体" panose="02000500000000000000" pitchFamily="2" charset="-122"/>
              </a:rPr>
              <a:t>TLB</a:t>
            </a:r>
            <a:r>
              <a:rPr kumimoji="1" lang="zh-CN" altLang="en-US" sz="1600" dirty="0">
                <a:latin typeface="宋体" panose="02000500000000000000" pitchFamily="2" charset="-122"/>
                <a:ea typeface="宋体" panose="02000500000000000000" pitchFamily="2" charset="-122"/>
                <a:cs typeface="宋体" panose="02000500000000000000" pitchFamily="2" charset="-122"/>
              </a:rPr>
              <a:t>项被换出。如果发生被换出的情况，再次运行时将发生</a:t>
            </a:r>
            <a:r>
              <a:rPr kumimoji="1" lang="en-US" altLang="zh-CN" sz="1600" dirty="0">
                <a:latin typeface="宋体" panose="02000500000000000000" pitchFamily="2" charset="-122"/>
                <a:ea typeface="宋体" panose="02000500000000000000" pitchFamily="2" charset="-122"/>
                <a:cs typeface="宋体" panose="02000500000000000000" pitchFamily="2" charset="-122"/>
              </a:rPr>
              <a:t>refill</a:t>
            </a:r>
            <a:r>
              <a:rPr kumimoji="1" lang="zh-CN" altLang="en-US" sz="1600" dirty="0">
                <a:latin typeface="宋体" panose="02000500000000000000" pitchFamily="2" charset="-122"/>
                <a:ea typeface="宋体" panose="02000500000000000000" pitchFamily="2" charset="-122"/>
                <a:cs typeface="宋体" panose="02000500000000000000" pitchFamily="2" charset="-122"/>
              </a:rPr>
              <a:t>例外从页表取得有效内容，不会再发生</a:t>
            </a:r>
            <a:r>
              <a:rPr kumimoji="1" lang="en-US" altLang="zh-CN" sz="1600" dirty="0">
                <a:latin typeface="宋体" panose="02000500000000000000" pitchFamily="2" charset="-122"/>
                <a:ea typeface="宋体" panose="02000500000000000000" pitchFamily="2" charset="-122"/>
                <a:cs typeface="宋体" panose="02000500000000000000" pitchFamily="2" charset="-122"/>
              </a:rPr>
              <a:t>invalid</a:t>
            </a:r>
            <a:r>
              <a:rPr kumimoji="1" lang="zh-CN" altLang="en-US" sz="1600" dirty="0">
                <a:latin typeface="宋体" panose="02000500000000000000" pitchFamily="2" charset="-122"/>
                <a:ea typeface="宋体" panose="02000500000000000000" pitchFamily="2" charset="-122"/>
                <a:cs typeface="宋体" panose="02000500000000000000" pitchFamily="2" charset="-122"/>
              </a:rPr>
              <a:t>例外</a:t>
            </a:r>
            <a:r>
              <a:rPr kumimoji="1" lang="en-US" altLang="zh-CN" sz="1600" dirty="0">
                <a:latin typeface="宋体" panose="02000500000000000000" pitchFamily="2" charset="-122"/>
                <a:ea typeface="宋体" panose="02000500000000000000" pitchFamily="2" charset="-122"/>
                <a:cs typeface="宋体" panose="02000500000000000000" pitchFamily="2" charset="-122"/>
              </a:rPr>
              <a:t>(</a:t>
            </a:r>
            <a:r>
              <a:rPr kumimoji="1" lang="zh-CN" altLang="en-US" sz="1600" dirty="0">
                <a:latin typeface="宋体" panose="02000500000000000000" pitchFamily="2" charset="-122"/>
                <a:ea typeface="宋体" panose="02000500000000000000" pitchFamily="2" charset="-122"/>
                <a:cs typeface="宋体" panose="02000500000000000000" pitchFamily="2" charset="-122"/>
              </a:rPr>
              <a:t>因此</a:t>
            </a:r>
            <a:r>
              <a:rPr kumimoji="1" lang="en-US" altLang="zh-CN" sz="1600" dirty="0">
                <a:latin typeface="宋体" panose="02000500000000000000" pitchFamily="2" charset="-122"/>
                <a:ea typeface="宋体" panose="02000500000000000000" pitchFamily="2" charset="-122"/>
                <a:cs typeface="宋体" panose="02000500000000000000" pitchFamily="2" charset="-122"/>
              </a:rPr>
              <a:t>refill</a:t>
            </a:r>
            <a:r>
              <a:rPr kumimoji="1" lang="zh-CN" altLang="en-US" sz="1600" dirty="0">
                <a:latin typeface="宋体" panose="02000500000000000000" pitchFamily="2" charset="-122"/>
                <a:ea typeface="宋体" panose="02000500000000000000" pitchFamily="2" charset="-122"/>
                <a:cs typeface="宋体" panose="02000500000000000000" pitchFamily="2" charset="-122"/>
              </a:rPr>
              <a:t>频率</a:t>
            </a:r>
            <a:r>
              <a:rPr kumimoji="1" lang="en-US" altLang="zh-CN" sz="1600" dirty="0">
                <a:latin typeface="宋体" panose="02000500000000000000" pitchFamily="2" charset="-122"/>
                <a:ea typeface="宋体" panose="02000500000000000000" pitchFamily="2" charset="-122"/>
                <a:cs typeface="宋体" panose="02000500000000000000" pitchFamily="2" charset="-122"/>
              </a:rPr>
              <a:t>&gt;&gt;invalid)</a:t>
            </a:r>
            <a:endParaRPr kumimoji="1" lang="en-US" altLang="zh-CN" sz="1600" dirty="0">
              <a:latin typeface="宋体" panose="02000500000000000000" pitchFamily="2" charset="-122"/>
              <a:ea typeface="宋体" panose="02000500000000000000" pitchFamily="2" charset="-122"/>
              <a:cs typeface="宋体" panose="02000500000000000000" pitchFamily="2" charset="-122"/>
            </a:endParaRPr>
          </a:p>
          <a:p>
            <a:pPr eaLnBrk="1" latinLnBrk="0" hangingPunct="1">
              <a:lnSpc>
                <a:spcPct val="150000"/>
              </a:lnSpc>
              <a:spcBef>
                <a:spcPct val="0"/>
              </a:spcBef>
            </a:pPr>
            <a:r>
              <a:rPr kumimoji="1" lang="zh-CN" altLang="en-US" sz="2000" dirty="0">
                <a:latin typeface="宋体" panose="02000500000000000000" pitchFamily="2" charset="-122"/>
                <a:ea typeface="宋体" panose="02000500000000000000" pitchFamily="2" charset="-122"/>
                <a:cs typeface="宋体" panose="02000500000000000000" pitchFamily="2" charset="-122"/>
              </a:rPr>
              <a:t>为什么要分成两次例外？</a:t>
            </a:r>
            <a:endParaRPr kumimoji="1" lang="zh-CN" altLang="en-US" sz="2000"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1987" name="Rectangle 2"/>
          <p:cNvSpPr>
            <a:spLocks noGrp="1"/>
          </p:cNvSpPr>
          <p:nvPr>
            <p:ph type="title"/>
          </p:nvPr>
        </p:nvSpPr>
        <p:spPr>
          <a:xfrm>
            <a:off x="995363" y="198438"/>
            <a:ext cx="10361612" cy="944562"/>
          </a:xfrm>
        </p:spPr>
        <p:txBody>
          <a:bodyPr vert="horz" wrap="square" lIns="91440" tIns="45720" rIns="91440" bIns="45720" anchor="ctr" anchorCtr="0"/>
          <a:p>
            <a:pPr eaLnBrk="1" hangingPunct="1"/>
            <a:r>
              <a:rPr lang="en-US" altLang="zh-CN" dirty="0"/>
              <a:t>Linux/MIPS</a:t>
            </a:r>
            <a:r>
              <a:rPr lang="zh-CN" altLang="zh-CN" dirty="0"/>
              <a:t>中</a:t>
            </a:r>
            <a:r>
              <a:rPr lang="en-US" altLang="zh-CN" dirty="0"/>
              <a:t>TLB</a:t>
            </a:r>
            <a:r>
              <a:rPr lang="zh-CN" altLang="zh-CN" dirty="0"/>
              <a:t>例外的处理</a:t>
            </a:r>
            <a:endParaRPr lang="zh-CN" altLang="en-US" dirty="0"/>
          </a:p>
        </p:txBody>
      </p:sp>
      <p:sp>
        <p:nvSpPr>
          <p:cNvPr id="41988" name="Rectangle 3"/>
          <p:cNvSpPr>
            <a:spLocks noGrp="1"/>
          </p:cNvSpPr>
          <p:nvPr>
            <p:ph idx="1"/>
          </p:nvPr>
        </p:nvSpPr>
        <p:spPr>
          <a:xfrm>
            <a:off x="533400" y="1106488"/>
            <a:ext cx="11403013" cy="5583237"/>
          </a:xfrm>
        </p:spPr>
        <p:txBody>
          <a:bodyPr vert="horz" wrap="square" lIns="91440" tIns="45720" rIns="91440" bIns="45720" anchor="t" anchorCtr="0"/>
          <a:p>
            <a:pPr eaLnBrk="1" hangingPunct="1">
              <a:lnSpc>
                <a:spcPct val="120000"/>
              </a:lnSpc>
              <a:spcBef>
                <a:spcPct val="0"/>
              </a:spcBef>
            </a:pPr>
            <a:r>
              <a:rPr kumimoji="1" lang="en-US" altLang="zh-CN" sz="1600" dirty="0">
                <a:latin typeface="宋体" panose="02000500000000000000" pitchFamily="2" charset="-122"/>
                <a:ea typeface="+mn-ea"/>
                <a:cs typeface="+mn-cs"/>
              </a:rPr>
              <a:t> tlb refill exception(0x80000000):</a:t>
            </a:r>
            <a:endParaRPr kumimoji="1" lang="en-US" altLang="zh-CN" sz="1600" dirty="0">
              <a:latin typeface="宋体" panose="02000500000000000000" pitchFamily="2" charset="-122"/>
              <a:ea typeface="+mn-ea"/>
              <a:cs typeface="+mn-cs"/>
            </a:endParaRPr>
          </a:p>
          <a:p>
            <a:pPr lvl="1" eaLnBrk="1" hangingPunct="1">
              <a:lnSpc>
                <a:spcPct val="120000"/>
              </a:lnSpc>
              <a:spcBef>
                <a:spcPct val="0"/>
              </a:spcBef>
              <a:buNone/>
            </a:pPr>
            <a:r>
              <a:rPr kumimoji="1" lang="en-US" altLang="zh-CN" sz="1400" dirty="0">
                <a:latin typeface="宋体" panose="02000500000000000000" pitchFamily="2" charset="-122"/>
                <a:ea typeface="+mn-ea"/>
              </a:rPr>
              <a:t>     (1) get badvaddr,pgd </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(2) </a:t>
            </a:r>
            <a:r>
              <a:rPr kumimoji="1" lang="en-US" altLang="zh-CN" sz="1400" dirty="0">
                <a:solidFill>
                  <a:schemeClr val="accent2"/>
                </a:solidFill>
                <a:latin typeface="宋体" panose="02000500000000000000" pitchFamily="2" charset="-122"/>
                <a:ea typeface="+mn-ea"/>
              </a:rPr>
              <a:t>pte table ptr</a:t>
            </a:r>
            <a:r>
              <a:rPr kumimoji="1" lang="en-US" altLang="zh-CN" sz="1400" dirty="0">
                <a:latin typeface="宋体" panose="02000500000000000000" pitchFamily="2" charset="-122"/>
                <a:ea typeface="+mn-ea"/>
              </a:rPr>
              <a:t> = badvaddr&gt;&gt;22 &lt; 2 + pgd ,</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(3) get context,</a:t>
            </a:r>
            <a:r>
              <a:rPr kumimoji="1" lang="en-US" altLang="zh-CN" sz="1400" dirty="0">
                <a:solidFill>
                  <a:schemeClr val="accent2"/>
                </a:solidFill>
                <a:latin typeface="宋体" panose="02000500000000000000" pitchFamily="2" charset="-122"/>
                <a:ea typeface="+mn-ea"/>
              </a:rPr>
              <a:t>offset</a:t>
            </a:r>
            <a:r>
              <a:rPr kumimoji="1" lang="en-US" altLang="zh-CN" sz="1400" dirty="0">
                <a:latin typeface="宋体" panose="02000500000000000000" pitchFamily="2" charset="-122"/>
                <a:ea typeface="+mn-ea"/>
              </a:rPr>
              <a:t> = context &gt;&gt; 1 &amp; 0xff8 (bit 21-13 + three zero), </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(4) load offset(pte table ptr) and offset+4(pte table ptr),</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*(5) right shift 6 bits,write to entrylo[01],</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(6) tlbwr</a:t>
            </a:r>
            <a:endParaRPr kumimoji="1" lang="en-US" altLang="zh-CN" sz="1400" dirty="0">
              <a:latin typeface="宋体" panose="02000500000000000000" pitchFamily="2" charset="-122"/>
              <a:ea typeface="+mn-ea"/>
            </a:endParaRPr>
          </a:p>
          <a:p>
            <a:pPr eaLnBrk="1" hangingPunct="1">
              <a:lnSpc>
                <a:spcPct val="120000"/>
              </a:lnSpc>
              <a:spcBef>
                <a:spcPct val="0"/>
              </a:spcBef>
            </a:pPr>
            <a:r>
              <a:rPr kumimoji="1" lang="en-US" altLang="zh-CN" sz="1600" dirty="0">
                <a:latin typeface="宋体" panose="02000500000000000000" pitchFamily="2" charset="-122"/>
                <a:ea typeface="+mn-ea"/>
                <a:cs typeface="+mn-cs"/>
              </a:rPr>
              <a:t>  tlb modified exception(handle_mod):</a:t>
            </a:r>
            <a:endParaRPr kumimoji="1" lang="en-US" altLang="zh-CN" sz="1600" dirty="0">
              <a:latin typeface="宋体" panose="02000500000000000000" pitchFamily="2" charset="-122"/>
              <a:ea typeface="+mn-ea"/>
              <a:cs typeface="+mn-cs"/>
            </a:endParaRPr>
          </a:p>
          <a:p>
            <a:pPr lvl="1" eaLnBrk="1" hangingPunct="1">
              <a:lnSpc>
                <a:spcPct val="120000"/>
              </a:lnSpc>
              <a:spcBef>
                <a:spcPct val="0"/>
              </a:spcBef>
              <a:buNone/>
            </a:pPr>
            <a:r>
              <a:rPr kumimoji="1" lang="en-US" altLang="zh-CN" sz="1400" dirty="0">
                <a:latin typeface="宋体" panose="02000500000000000000" pitchFamily="2" charset="-122"/>
                <a:ea typeface="+mn-ea"/>
              </a:rPr>
              <a:t>     (1) load pte,</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*(2) if _PAGE_WRITE set,set ACCESSED | MODIFIED | VALID | DIRTY,</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reload tlb,tlbwi</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else DO_FAULT(1)</a:t>
            </a:r>
            <a:endParaRPr kumimoji="1" lang="en-US" altLang="zh-CN" sz="1400" dirty="0">
              <a:latin typeface="宋体" panose="02000500000000000000" pitchFamily="2" charset="-122"/>
              <a:ea typeface="+mn-ea"/>
            </a:endParaRPr>
          </a:p>
          <a:p>
            <a:pPr eaLnBrk="1" hangingPunct="1">
              <a:lnSpc>
                <a:spcPct val="120000"/>
              </a:lnSpc>
              <a:spcBef>
                <a:spcPct val="0"/>
              </a:spcBef>
            </a:pPr>
            <a:r>
              <a:rPr kumimoji="1" lang="en-US" altLang="zh-CN" sz="1600" dirty="0">
                <a:latin typeface="宋体" panose="02000500000000000000" pitchFamily="2" charset="-122"/>
                <a:ea typeface="+mn-ea"/>
                <a:cs typeface="+mn-cs"/>
              </a:rPr>
              <a:t>  tlb load exception(handle_tlbl):</a:t>
            </a:r>
            <a:endParaRPr kumimoji="1" lang="en-US" altLang="zh-CN" sz="1600" dirty="0">
              <a:latin typeface="宋体" panose="02000500000000000000" pitchFamily="2" charset="-122"/>
              <a:ea typeface="+mn-ea"/>
              <a:cs typeface="+mn-cs"/>
            </a:endParaRPr>
          </a:p>
          <a:p>
            <a:pPr lvl="1" eaLnBrk="1" hangingPunct="1">
              <a:lnSpc>
                <a:spcPct val="120000"/>
              </a:lnSpc>
              <a:spcBef>
                <a:spcPct val="0"/>
              </a:spcBef>
              <a:buNone/>
            </a:pPr>
            <a:r>
              <a:rPr kumimoji="1" lang="en-US" altLang="zh-CN" sz="1400" dirty="0">
                <a:latin typeface="宋体" panose="02000500000000000000" pitchFamily="2" charset="-122"/>
                <a:ea typeface="+mn-ea"/>
              </a:rPr>
              <a:t>     (1) load pte</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(2) if _PAGE_PRESENT &amp;&amp; _PAGE_READ, set ACCESSED | VALID</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else DO_FAULT(0)</a:t>
            </a:r>
            <a:endParaRPr kumimoji="1" lang="en-US" altLang="zh-CN" sz="1400" dirty="0">
              <a:latin typeface="宋体" panose="02000500000000000000" pitchFamily="2" charset="-122"/>
              <a:ea typeface="+mn-ea"/>
            </a:endParaRPr>
          </a:p>
          <a:p>
            <a:pPr eaLnBrk="1" hangingPunct="1">
              <a:lnSpc>
                <a:spcPct val="120000"/>
              </a:lnSpc>
              <a:spcBef>
                <a:spcPct val="0"/>
              </a:spcBef>
            </a:pPr>
            <a:r>
              <a:rPr kumimoji="1" lang="en-US" altLang="zh-CN" sz="1600" dirty="0">
                <a:latin typeface="宋体" panose="02000500000000000000" pitchFamily="2" charset="-122"/>
                <a:ea typeface="+mn-ea"/>
                <a:cs typeface="+mn-cs"/>
              </a:rPr>
              <a:t>  tlb store exception(handle_tlbs):</a:t>
            </a:r>
            <a:endParaRPr kumimoji="1" lang="en-US" altLang="zh-CN" sz="1600" dirty="0">
              <a:latin typeface="宋体" panose="02000500000000000000" pitchFamily="2" charset="-122"/>
              <a:ea typeface="+mn-ea"/>
              <a:cs typeface="+mn-cs"/>
            </a:endParaRPr>
          </a:p>
          <a:p>
            <a:pPr lvl="1" eaLnBrk="1" hangingPunct="1">
              <a:lnSpc>
                <a:spcPct val="120000"/>
              </a:lnSpc>
              <a:spcBef>
                <a:spcPct val="0"/>
              </a:spcBef>
              <a:buNone/>
            </a:pPr>
            <a:r>
              <a:rPr kumimoji="1" lang="en-US" altLang="zh-CN" sz="1400" dirty="0">
                <a:latin typeface="宋体" panose="02000500000000000000" pitchFamily="2" charset="-122"/>
                <a:ea typeface="+mn-ea"/>
              </a:rPr>
              <a:t>     (1) load pte</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*(2) if _PAGE_PRESENT &amp;&amp; _PAGE_WRITE,set ACCESSED | MODIFIED | VALID | DIRTY</a:t>
            </a:r>
            <a:endParaRPr kumimoji="1" lang="en-US" altLang="zh-CN" sz="1400" dirty="0">
              <a:latin typeface="宋体" panose="02000500000000000000" pitchFamily="2" charset="-122"/>
              <a:ea typeface="+mn-ea"/>
            </a:endParaRPr>
          </a:p>
          <a:p>
            <a:pPr lvl="1" eaLnBrk="1" hangingPunct="1">
              <a:lnSpc>
                <a:spcPct val="120000"/>
              </a:lnSpc>
              <a:spcBef>
                <a:spcPct val="0"/>
              </a:spcBef>
              <a:buNone/>
            </a:pPr>
            <a:r>
              <a:rPr kumimoji="1" lang="en-US" altLang="zh-CN" sz="1400" dirty="0">
                <a:latin typeface="宋体" panose="02000500000000000000" pitchFamily="2" charset="-122"/>
                <a:ea typeface="+mn-ea"/>
              </a:rPr>
              <a:t>         else DO_FAULT(1)</a:t>
            </a:r>
            <a:endParaRPr kumimoji="1" lang="en-US" altLang="zh-CN" sz="1400" dirty="0">
              <a:latin typeface="+mn-lt"/>
              <a:ea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xfrm>
            <a:off x="939800" y="0"/>
            <a:ext cx="10361613" cy="993775"/>
          </a:xfrm>
        </p:spPr>
        <p:txBody>
          <a:bodyPr vert="horz" wrap="square" lIns="91440" tIns="45720" rIns="91440" bIns="45720" anchor="ctr" anchorCtr="0"/>
          <a:p>
            <a:r>
              <a:rPr lang="zh-CN" altLang="en-US" dirty="0"/>
              <a:t>例子</a:t>
            </a:r>
            <a:endParaRPr lang="zh-CN" altLang="en-US" dirty="0"/>
          </a:p>
        </p:txBody>
      </p:sp>
      <p:sp>
        <p:nvSpPr>
          <p:cNvPr id="3" name="内容占位符 2"/>
          <p:cNvSpPr>
            <a:spLocks noGrp="1"/>
          </p:cNvSpPr>
          <p:nvPr>
            <p:ph idx="1"/>
          </p:nvPr>
        </p:nvSpPr>
        <p:spPr>
          <a:xfrm>
            <a:off x="347663" y="890588"/>
            <a:ext cx="11842750" cy="5899150"/>
          </a:xfrm>
        </p:spPr>
        <p:txBody>
          <a:bodyPr vert="horz" wrap="square" lIns="91440" tIns="45720" rIns="91440" bIns="45720" numCol="1" anchor="t" anchorCtr="0" compatLnSpc="1"/>
          <a:lstStyle/>
          <a:p>
            <a:pPr marL="342900" marR="0" lvl="0" indent="-342900" algn="l" defTabSz="914400" rtl="0" eaLnBrk="1" latinLnBrk="0" hangingPunct="1">
              <a:lnSpc>
                <a:spcPct val="150000"/>
              </a:lnSpc>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程序段</a:t>
            </a:r>
            <a:endPar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array = (</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int</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malloc</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(0x10000);</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1" latinLnBrk="0" hangingPunct="1">
              <a:lnSpc>
                <a:spcPct val="150000"/>
              </a:lnSpc>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for (</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=0;i&lt;16384;i++) array[</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 = 0;</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0" latinLnBrk="0" hangingPunct="0">
              <a:lnSpc>
                <a:spcPct val="150000"/>
              </a:lnSpc>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页大小为</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4KB</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，发生了多少次例外？</a:t>
            </a:r>
            <a:endPar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0" latinLnBrk="0" hangingPunct="0">
              <a:lnSpc>
                <a:spcPct val="150000"/>
              </a:lnSpc>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地址空间为</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64KB</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16</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1" indent="-285750" algn="l" defTabSz="914400" rtl="0" eaLnBrk="0" latinLnBrk="0" hangingPunct="0">
              <a:lnSpc>
                <a:spcPct val="150000"/>
              </a:lnSpc>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发生</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8</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次</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 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1600" b="1" i="0" u="none" strike="noStrike" kern="0" cap="none" spc="0" normalizeH="0" baseline="0" noProof="0" dirty="0" smtClean="0">
                <a:ln>
                  <a:noFill/>
                </a:ln>
                <a:solidFill>
                  <a:schemeClr val="accent2"/>
                </a:solidFill>
                <a:effectLst/>
                <a:uLnTx/>
                <a:uFillTx/>
                <a:latin typeface="宋体" panose="02000500000000000000" pitchFamily="2" charset="-122"/>
                <a:ea typeface="宋体" panose="02000500000000000000" pitchFamily="2" charset="-122"/>
                <a:cs typeface="宋体" panose="02000500000000000000" pitchFamily="2" charset="-122"/>
              </a:rPr>
              <a:t>MIPS TLB</a:t>
            </a:r>
            <a:r>
              <a:rPr kumimoji="1" lang="zh-CN" altLang="en-US" sz="1600" b="1" i="0" u="none" strike="noStrike" kern="0" cap="none" spc="0" normalizeH="0" baseline="0" noProof="0" dirty="0" smtClean="0">
                <a:ln>
                  <a:noFill/>
                </a:ln>
                <a:solidFill>
                  <a:schemeClr val="accent2"/>
                </a:solidFill>
                <a:effectLst/>
                <a:uLnTx/>
                <a:uFillTx/>
                <a:latin typeface="宋体" panose="02000500000000000000" pitchFamily="2" charset="-122"/>
                <a:ea typeface="宋体" panose="02000500000000000000" pitchFamily="2" charset="-122"/>
                <a:cs typeface="宋体" panose="02000500000000000000" pitchFamily="2" charset="-122"/>
              </a:rPr>
              <a:t>一项两个连续虚页</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）和</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16</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次</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 Invalid</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0" latinLnBrk="0" hangingPunct="0">
              <a:lnSpc>
                <a:spcPct val="150000"/>
              </a:lnSpc>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页大小为</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16KB</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，发生了多少次例外？</a:t>
            </a:r>
            <a:endPar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2" indent="-342900" algn="l" defTabSz="914400" rtl="0" eaLnBrk="0" latinLnBrk="0" hangingPunct="0">
              <a:lnSpc>
                <a:spcPct val="150000"/>
              </a:lnSpc>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发生</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2</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次</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 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和</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4</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次</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 Invalid</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1" indent="-342900" algn="l" defTabSz="914400" rtl="0" eaLnBrk="0" latinLnBrk="0" hangingPunct="0">
              <a:lnSpc>
                <a:spcPct val="150000"/>
              </a:lnSpc>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页大小为</a:t>
            </a:r>
            <a:r>
              <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4KB</a:t>
            </a:r>
            <a:r>
              <a:rPr kumimoji="1" lang="zh-CN" altLang="en-US"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，上述程序段执行完后发生进程切换</a:t>
            </a:r>
            <a:endParaRPr kumimoji="1" lang="en-US" altLang="zh-CN" sz="18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2" indent="-342900" algn="l" defTabSz="914400" rtl="0" eaLnBrk="0" latinLnBrk="0" hangingPunct="0">
              <a:lnSpc>
                <a:spcPct val="150000"/>
              </a:lnSpc>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切换后再执行</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for (</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=0;i&lt;16384;i++) array[</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 = </a:t>
            </a: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2" indent="-342900" algn="l" defTabSz="914400" rtl="0" eaLnBrk="0" latinLnBrk="0" hangingPunct="0">
              <a:lnSpc>
                <a:spcPct val="150000"/>
              </a:lnSpc>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如果进程切换时</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项被替换，只发生</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8</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次</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2" indent="-342900" algn="l" defTabSz="914400" rtl="0" eaLnBrk="0" latinLnBrk="0" hangingPunct="0">
              <a:lnSpc>
                <a:spcPct val="150000"/>
              </a:lnSpc>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如果进程切换时，</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array</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被调出内存，发生</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8</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次</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 Refill</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和</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16</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次</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TLB Invalid</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invalid</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例外处理时把</a:t>
            </a: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array</a:t>
            </a:r>
            <a:r>
              <a:rPr kumimoji="1" lang="zh-CN" altLang="en-US"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从硬盘调到内存</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2" indent="-342900" algn="l" defTabSz="914400" rtl="0" eaLnBrk="0" latinLnBrk="0" hangingPunct="0">
              <a:lnSpc>
                <a:spcPct val="150000"/>
              </a:lnSpc>
              <a:spcAft>
                <a:spcPct val="0"/>
              </a:spcAft>
              <a:buClrTx/>
              <a:buSzTx/>
              <a:buFontTx/>
              <a:buChar char="•"/>
              <a:defRPr/>
            </a:pPr>
            <a:r>
              <a:rPr kumimoji="1" lang="zh-CN" altLang="en-US" sz="16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rPr>
              <a:t>如果页表也被调出内存？</a:t>
            </a:r>
            <a:endParaRPr kumimoji="1" lang="en-US" altLang="zh-CN" sz="1600" b="1" i="0" u="none" strike="noStrike" kern="0" cap="none" spc="0" normalizeH="0" baseline="0" noProof="0" dirty="0" smtClean="0">
              <a:ln>
                <a:noFill/>
              </a:ln>
              <a:solidFill>
                <a:srgbClr val="FF0000"/>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42950" marR="0" lvl="2" indent="-342900" algn="l" defTabSz="914400" rtl="0" eaLnBrk="0" latinLnBrk="0" hangingPunct="0">
              <a:lnSpc>
                <a:spcPct val="150000"/>
              </a:lnSpc>
              <a:spcAft>
                <a:spcPct val="0"/>
              </a:spcAft>
              <a:buClrTx/>
              <a:buSzTx/>
              <a:buFontTx/>
              <a:buChar char="•"/>
              <a:defRPr/>
            </a:pPr>
            <a:endParaRPr kumimoji="1" lang="en-US" altLang="zh-CN" sz="1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42900" marR="0" lvl="0" indent="-342900" algn="l" defTabSz="914400" rtl="0" eaLnBrk="0" fontAlgn="base" latinLnBrk="0" hangingPunct="0">
              <a:lnSpc>
                <a:spcPct val="150000"/>
              </a:lnSpc>
              <a:spcBef>
                <a:spcPts val="0"/>
              </a:spcBef>
              <a:spcAft>
                <a:spcPct val="0"/>
              </a:spcAft>
              <a:buClrTx/>
              <a:buSzTx/>
              <a:buFontTx/>
              <a:buChar char="•"/>
              <a:defRPr/>
            </a:pPr>
            <a:endParaRPr kumimoji="1" lang="en-US" altLang="zh-CN" sz="14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sp>
        <p:nvSpPr>
          <p:cNvPr id="43012"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4035" name="Rectangle 2"/>
          <p:cNvSpPr>
            <a:spLocks noGrp="1"/>
          </p:cNvSpPr>
          <p:nvPr>
            <p:ph type="title"/>
          </p:nvPr>
        </p:nvSpPr>
        <p:spPr>
          <a:xfrm>
            <a:off x="1049338" y="2797175"/>
            <a:ext cx="10361612" cy="1814513"/>
          </a:xfrm>
        </p:spPr>
        <p:txBody>
          <a:bodyPr vert="horz" wrap="square" lIns="91440" tIns="45720" rIns="91440" bIns="45720" anchor="ctr" anchorCtr="0"/>
          <a:p>
            <a:pPr eaLnBrk="1" hangingPunct="1">
              <a:lnSpc>
                <a:spcPct val="150000"/>
              </a:lnSpc>
            </a:pPr>
            <a:r>
              <a:rPr lang="en-US" altLang="zh-CN" dirty="0"/>
              <a:t>---</a:t>
            </a:r>
            <a:r>
              <a:rPr lang="zh-CN" altLang="en-US" dirty="0"/>
              <a:t>LoongArch处理器对虚存系统的支持</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5059" name="Rectangle 2"/>
          <p:cNvSpPr>
            <a:spLocks noGrp="1"/>
          </p:cNvSpPr>
          <p:nvPr>
            <p:ph type="title"/>
          </p:nvPr>
        </p:nvSpPr>
        <p:spPr>
          <a:xfrm>
            <a:off x="1162050" y="373063"/>
            <a:ext cx="10361613" cy="700087"/>
          </a:xfrm>
        </p:spPr>
        <p:txBody>
          <a:bodyPr vert="horz" wrap="square" lIns="91440" tIns="45720" rIns="91440" bIns="45720" anchor="ctr" anchorCtr="0"/>
          <a:p>
            <a:pPr eaLnBrk="1" hangingPunct="1"/>
            <a:r>
              <a:rPr lang="en-US" altLang="zh-CN" dirty="0"/>
              <a:t>LoongArch</a:t>
            </a:r>
            <a:r>
              <a:rPr lang="zh-CN" altLang="en-US" dirty="0"/>
              <a:t>处理器对虚拟存储的支持</a:t>
            </a:r>
            <a:endParaRPr lang="zh-CN" altLang="en-US" dirty="0"/>
          </a:p>
        </p:txBody>
      </p:sp>
      <p:sp>
        <p:nvSpPr>
          <p:cNvPr id="45060" name="Rectangle 3"/>
          <p:cNvSpPr>
            <a:spLocks noGrp="1"/>
          </p:cNvSpPr>
          <p:nvPr>
            <p:ph idx="1"/>
          </p:nvPr>
        </p:nvSpPr>
        <p:spPr>
          <a:xfrm>
            <a:off x="1130300" y="1547813"/>
            <a:ext cx="10361613" cy="4481512"/>
          </a:xfrm>
        </p:spPr>
        <p:txBody>
          <a:bodyPr vert="horz" wrap="square" lIns="91440" tIns="45720" rIns="91440" bIns="45720" anchor="t" anchorCtr="0"/>
          <a:p>
            <a:pPr marL="360680" indent="-360680" eaLnBrk="1" hangingPunct="1">
              <a:spcBef>
                <a:spcPct val="0"/>
              </a:spcBef>
            </a:pPr>
            <a:r>
              <a:rPr kumimoji="1" lang="zh-CN" altLang="en-US" dirty="0">
                <a:latin typeface="宋体" panose="02000500000000000000" pitchFamily="2" charset="-122"/>
                <a:ea typeface="宋体" panose="02000500000000000000" pitchFamily="2" charset="-122"/>
                <a:cs typeface="宋体" panose="02000500000000000000" pitchFamily="2" charset="-122"/>
              </a:rPr>
              <a:t>页式存储管理</a:t>
            </a:r>
            <a:endParaRPr kumimoji="1" lang="zh-CN" altLang="en-US" dirty="0">
              <a:latin typeface="宋体" panose="02000500000000000000" pitchFamily="2" charset="-122"/>
              <a:ea typeface="宋体" panose="02000500000000000000" pitchFamily="2" charset="-122"/>
              <a:cs typeface="宋体" panose="02000500000000000000" pitchFamily="2" charset="-122"/>
            </a:endParaRPr>
          </a:p>
          <a:p>
            <a:pPr marL="360680" indent="-360680" eaLnBrk="1" hangingPunct="1">
              <a:spcBef>
                <a:spcPct val="0"/>
              </a:spcBef>
            </a:pPr>
            <a:r>
              <a:rPr kumimoji="1" lang="en-US" altLang="zh-CN" dirty="0">
                <a:latin typeface="宋体" panose="02000500000000000000" pitchFamily="2" charset="-122"/>
                <a:ea typeface="宋体" panose="02000500000000000000" pitchFamily="2" charset="-122"/>
                <a:cs typeface="宋体" panose="02000500000000000000" pitchFamily="2" charset="-122"/>
              </a:rPr>
              <a:t>TLB</a:t>
            </a:r>
            <a:endParaRPr kumimoji="1" lang="en-US" altLang="zh-CN" dirty="0">
              <a:latin typeface="宋体" panose="02000500000000000000" pitchFamily="2" charset="-122"/>
              <a:ea typeface="宋体" panose="02000500000000000000" pitchFamily="2" charset="-122"/>
              <a:cs typeface="宋体" panose="02000500000000000000" pitchFamily="2" charset="-122"/>
            </a:endParaRPr>
          </a:p>
          <a:p>
            <a:pPr marL="360680" indent="-360680" eaLnBrk="1" hangingPunct="1">
              <a:spcBef>
                <a:spcPct val="0"/>
              </a:spcBef>
            </a:pPr>
            <a:r>
              <a:rPr kumimoji="1" lang="zh-CN" altLang="en-US" dirty="0">
                <a:latin typeface="宋体" panose="02000500000000000000" pitchFamily="2" charset="-122"/>
                <a:ea typeface="宋体" panose="02000500000000000000" pitchFamily="2" charset="-122"/>
                <a:cs typeface="宋体" panose="02000500000000000000" pitchFamily="2" charset="-122"/>
              </a:rPr>
              <a:t>专用的控制寄存器</a:t>
            </a:r>
            <a:endParaRPr kumimoji="1" lang="zh-CN" altLang="en-US" dirty="0">
              <a:latin typeface="宋体" panose="02000500000000000000" pitchFamily="2" charset="-122"/>
              <a:ea typeface="宋体" panose="02000500000000000000" pitchFamily="2" charset="-122"/>
              <a:cs typeface="宋体" panose="02000500000000000000" pitchFamily="2" charset="-122"/>
            </a:endParaRPr>
          </a:p>
          <a:p>
            <a:pPr marL="360680" indent="-360680" eaLnBrk="1" hangingPunct="1">
              <a:spcBef>
                <a:spcPct val="0"/>
              </a:spcBef>
            </a:pPr>
            <a:r>
              <a:rPr kumimoji="1" lang="zh-CN" altLang="en-US" dirty="0">
                <a:latin typeface="宋体" panose="02000500000000000000" pitchFamily="2" charset="-122"/>
                <a:ea typeface="宋体" panose="02000500000000000000" pitchFamily="2" charset="-122"/>
                <a:cs typeface="宋体" panose="02000500000000000000" pitchFamily="2" charset="-122"/>
              </a:rPr>
              <a:t>专用的访问指令</a:t>
            </a:r>
            <a:endParaRPr kumimoji="1" lang="zh-CN" altLang="en-US" dirty="0">
              <a:latin typeface="宋体" panose="02000500000000000000" pitchFamily="2" charset="-122"/>
              <a:ea typeface="宋体" panose="02000500000000000000" pitchFamily="2" charset="-122"/>
              <a:cs typeface="宋体" panose="02000500000000000000" pitchFamily="2" charset="-122"/>
            </a:endParaRPr>
          </a:p>
          <a:p>
            <a:pPr marL="360680" indent="-360680" eaLnBrk="1" hangingPunct="1">
              <a:spcBef>
                <a:spcPct val="0"/>
              </a:spcBef>
            </a:pPr>
            <a:r>
              <a:rPr kumimoji="1" lang="zh-CN" altLang="en-US" dirty="0">
                <a:latin typeface="宋体" panose="02000500000000000000" pitchFamily="2" charset="-122"/>
                <a:ea typeface="宋体" panose="02000500000000000000" pitchFamily="2" charset="-122"/>
                <a:cs typeface="宋体" panose="02000500000000000000" pitchFamily="2" charset="-122"/>
              </a:rPr>
              <a:t>专用的异常入口</a:t>
            </a:r>
            <a:endParaRPr kumimoji="1" lang="zh-CN" altLang="zh-CN" dirty="0">
              <a:latin typeface="宋体" panose="02000500000000000000" pitchFamily="2" charset="-122"/>
              <a:ea typeface="宋体" panose="02000500000000000000" pitchFamily="2" charset="-122"/>
              <a:cs typeface="宋体" panose="02000500000000000000" pitchFamily="2" charset="-122"/>
            </a:endParaRPr>
          </a:p>
          <a:p>
            <a:pPr marL="360680" indent="-360680" eaLnBrk="1" hangingPunct="1">
              <a:spcBef>
                <a:spcPct val="0"/>
              </a:spcBef>
            </a:pPr>
            <a:endParaRPr kumimoji="1" lang="en-US" altLang="zh-CN"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6083" name="Rectangle 2"/>
          <p:cNvSpPr>
            <a:spLocks noGrp="1"/>
          </p:cNvSpPr>
          <p:nvPr>
            <p:ph type="title"/>
          </p:nvPr>
        </p:nvSpPr>
        <p:spPr/>
        <p:txBody>
          <a:bodyPr vert="horz" wrap="square" lIns="91440" tIns="45720" rIns="91440" bIns="45720" anchor="ctr" anchorCtr="0"/>
          <a:p>
            <a:pPr eaLnBrk="1" hangingPunct="1"/>
            <a:r>
              <a:rPr lang="zh-CN" altLang="en-US" dirty="0"/>
              <a:t>LoongArch的地址空间</a:t>
            </a:r>
            <a:endParaRPr lang="zh-CN" altLang="zh-CN" dirty="0"/>
          </a:p>
        </p:txBody>
      </p:sp>
      <p:sp>
        <p:nvSpPr>
          <p:cNvPr id="59395" name="Rectangle 3"/>
          <p:cNvSpPr>
            <a:spLocks noGrp="1" noChangeArrowheads="1"/>
          </p:cNvSpPr>
          <p:nvPr>
            <p:ph idx="1"/>
          </p:nvPr>
        </p:nvSpPr>
        <p:spPr/>
        <p:txBody>
          <a:bodyPr vert="horz" wrap="square" lIns="91440" tIns="45720" rIns="91440" bIns="45720" numCol="1" anchor="t" anchorCtr="0" compatLnSpc="1"/>
          <a:lstStyle/>
          <a:p>
            <a:pPr marL="360680" marR="0" lvl="0" indent="-360680" algn="l" defTabSz="914400" rtl="0" eaLnBrk="1" latinLnBrk="0" hangingPunct="1">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sym typeface="+mn-ea"/>
              </a:rPr>
              <a:t>LoongArch指令系统中虚拟地址空间是线性平整的</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ea"/>
                <a:sym typeface="+mn-ea"/>
              </a:rPr>
              <a:t>LA32架构下虚拟地址空间大小为2</a:t>
            </a:r>
            <a:r>
              <a:rPr kumimoji="1" lang="en-US" altLang="zh-CN" sz="1800" b="1" i="0" u="none" strike="noStrike" kern="0" cap="none" spc="0" normalizeH="0" baseline="30000" noProof="0" dirty="0" smtClean="0">
                <a:ln>
                  <a:noFill/>
                </a:ln>
                <a:solidFill>
                  <a:schemeClr val="tx1"/>
                </a:solidFill>
                <a:effectLst/>
                <a:uLnTx/>
                <a:uFillTx/>
                <a:latin typeface="+mn-ea"/>
                <a:ea typeface="+mn-ea"/>
                <a:cs typeface="+mn-ea"/>
                <a:sym typeface="+mn-ea"/>
              </a:rPr>
              <a:t>32</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ea"/>
                <a:sym typeface="+mn-ea"/>
              </a:rPr>
              <a:t>字节，</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ea"/>
              <a:sym typeface="+mn-ea"/>
            </a:endParaRPr>
          </a:p>
          <a:p>
            <a:pPr marL="720725" marR="0" lvl="1" indent="-36068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ea"/>
                <a:sym typeface="+mn-ea"/>
              </a:rPr>
              <a:t>LA64架构下虚拟地址空间大小为2</a:t>
            </a:r>
            <a:r>
              <a:rPr kumimoji="1" lang="en-US" altLang="zh-CN" sz="1800" b="1" i="0" u="none" strike="noStrike" kern="0" cap="none" spc="0" normalizeH="0" baseline="30000" noProof="0" dirty="0" smtClean="0">
                <a:ln>
                  <a:noFill/>
                </a:ln>
                <a:solidFill>
                  <a:schemeClr val="tx1"/>
                </a:solidFill>
                <a:effectLst/>
                <a:uLnTx/>
                <a:uFillTx/>
                <a:latin typeface="+mn-ea"/>
                <a:ea typeface="+mn-ea"/>
                <a:cs typeface="+mn-ea"/>
                <a:sym typeface="+mn-ea"/>
              </a:rPr>
              <a:t>64</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ea"/>
                <a:sym typeface="+mn-ea"/>
              </a:rPr>
              <a:t>字节</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ea"/>
                <a:sym typeface="+mn-ea"/>
              </a:rPr>
              <a:t>，但存在一些非法的虚拟地址空洞，其与地址映射模式紧密相关</a:t>
            </a:r>
            <a:endParaRPr kumimoji="1" lang="zh-CN" altLang="en-US" sz="1800" b="1" i="0" u="none" strike="noStrike" kern="0" cap="none" spc="0" normalizeH="0" baseline="0" noProof="0" dirty="0" smtClean="0">
              <a:ln>
                <a:noFill/>
              </a:ln>
              <a:solidFill>
                <a:schemeClr val="tx1"/>
              </a:solidFill>
              <a:effectLst/>
              <a:uLnTx/>
              <a:uFillTx/>
              <a:latin typeface="+mn-ea"/>
              <a:ea typeface="+mn-ea"/>
              <a:cs typeface="+mn-ea"/>
              <a:sym typeface="+mn-ea"/>
            </a:endParaRPr>
          </a:p>
          <a:p>
            <a:pPr marL="360680" marR="0" lvl="0" indent="-360680" algn="l" defTabSz="914400" rtl="0" eaLnBrk="1" latinLnBrk="0" hangingPunct="1">
              <a:lnSpc>
                <a:spcPct val="150000"/>
              </a:lnSpc>
              <a:spcBef>
                <a:spcPts val="60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LoongArch支持的内存物理地址空间范围表示为0~2</a:t>
            </a:r>
            <a:r>
              <a:rPr kumimoji="1" lang="en-US" altLang="zh-CN" sz="2000" b="1" i="0" u="none" strike="noStrike" kern="0" cap="none" spc="0" normalizeH="0" baseline="30000" noProof="0" dirty="0" smtClean="0">
                <a:ln>
                  <a:noFill/>
                </a:ln>
                <a:solidFill>
                  <a:schemeClr val="tx1"/>
                </a:solidFill>
                <a:effectLst/>
                <a:uLnTx/>
                <a:uFillTx/>
                <a:latin typeface="+mn-ea"/>
                <a:ea typeface="+mn-ea"/>
                <a:cs typeface="+mn-cs"/>
              </a:rPr>
              <a:t>PALEN</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-1</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ea"/>
              </a:rPr>
              <a:t>LA32架构下，PALEN理论上是一个不超过36的正整数</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ea"/>
            </a:endParaRPr>
          </a:p>
          <a:p>
            <a:pPr marL="720725" marR="0" lvl="1" indent="-360680" algn="l" defTabSz="914400" rtl="0" eaLnBrk="1" latinLnBrk="0" hangingPunct="1">
              <a:lnSpc>
                <a:spcPct val="150000"/>
              </a:lnSpc>
              <a:spcBef>
                <a:spcPts val="60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ea"/>
              </a:rPr>
              <a:t>LA64架构下，PALEN理论上是一个不超过60的正整数。</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latinLnBrk="0" hangingPunct="1">
              <a:lnSpc>
                <a:spcPct val="150000"/>
              </a:lnSpc>
              <a:spcBef>
                <a:spcPts val="600"/>
              </a:spcBef>
              <a:spcAft>
                <a:spcPct val="0"/>
              </a:spcAft>
              <a:buClrTx/>
              <a:buSzTx/>
              <a:buFontTx/>
              <a:buChar char="•"/>
              <a:defRPr/>
            </a:pP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2052" name="Rectangle 2"/>
          <p:cNvSpPr>
            <a:spLocks noGrp="1"/>
          </p:cNvSpPr>
          <p:nvPr>
            <p:ph type="title"/>
          </p:nvPr>
        </p:nvSpPr>
        <p:spPr>
          <a:xfrm>
            <a:off x="939800" y="76200"/>
            <a:ext cx="10361613" cy="838200"/>
          </a:xfrm>
        </p:spPr>
        <p:txBody>
          <a:bodyPr vert="horz" wrap="square" lIns="91440" tIns="45720" rIns="91440" bIns="45720" anchor="ctr" anchorCtr="0"/>
          <a:p>
            <a:pPr eaLnBrk="1" hangingPunct="1"/>
            <a:r>
              <a:rPr lang="en-US" altLang="en-US" dirty="0"/>
              <a:t>LoongArch</a:t>
            </a:r>
            <a:r>
              <a:rPr lang="zh-CN" altLang="en-US" dirty="0"/>
              <a:t>的地址翻译模式</a:t>
            </a:r>
            <a:endParaRPr lang="en-US" altLang="zh-CN" dirty="0"/>
          </a:p>
        </p:txBody>
      </p:sp>
      <p:sp>
        <p:nvSpPr>
          <p:cNvPr id="59395" name="Rectangle 3"/>
          <p:cNvSpPr>
            <a:spLocks noGrp="1" noChangeArrowheads="1"/>
          </p:cNvSpPr>
          <p:nvPr>
            <p:ph idx="1"/>
          </p:nvPr>
        </p:nvSpPr>
        <p:spPr>
          <a:xfrm>
            <a:off x="838200" y="1084263"/>
            <a:ext cx="10361613" cy="2235200"/>
          </a:xfrm>
        </p:spPr>
        <p:txBody>
          <a:bodyPr vert="horz" wrap="square" lIns="91440" tIns="45720" rIns="91440" bIns="45720" numCol="1" anchor="t" anchorCtr="0" compatLnSpc="1"/>
          <a:lstStyle/>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20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直接地址翻译模式</a:t>
            </a: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60730" marR="0" lvl="1" indent="-360680" algn="l" defTabSz="914400" rtl="0" eaLnBrk="1" fontAlgn="base"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物理地址默认直接等于虚拟地址（高位不足补0、超出截断）</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20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映射地址翻译模式</a:t>
            </a:r>
            <a:r>
              <a:rPr kumimoji="1" lang="zh-CN" altLang="en-US"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a:t>
            </a:r>
            <a:r>
              <a:rPr kumimoji="1" lang="en-US" altLang="zh-CN" sz="20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直接映射模式和页表映射模式</a:t>
            </a:r>
            <a:endParaRPr kumimoji="1" lang="en-US" altLang="zh-CN" sz="20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77875" marR="0" lvl="1" indent="-360680" algn="l" defTabSz="914400" rtl="0" eaLnBrk="1" fontAlgn="base"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直接映射模式通过直接映射配置窗口机制完成虚实地址翻译</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a:p>
            <a:pPr marL="777875" marR="0" lvl="1" indent="-360680" algn="l" defTabSz="914400" rtl="0" eaLnBrk="1" fontAlgn="base"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err="1"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rPr>
              <a:t>页表映射模式通过页表映射完成虚实地址转换</a:t>
            </a:r>
            <a:endParaRPr kumimoji="1" lang="en-US" altLang="zh-CN" sz="1600" b="1" i="0" u="none" strike="noStrike" kern="0" cap="none" spc="0" normalizeH="0" baseline="0" noProof="0" dirty="0" smtClean="0">
              <a:ln>
                <a:noFill/>
              </a:ln>
              <a:solidFill>
                <a:schemeClr val="tx1"/>
              </a:solidFill>
              <a:effectLst/>
              <a:uLnTx/>
              <a:uFillTx/>
              <a:latin typeface="宋体" panose="02000500000000000000" pitchFamily="2" charset="-122"/>
              <a:ea typeface="宋体" panose="02000500000000000000" pitchFamily="2" charset="-122"/>
              <a:cs typeface="宋体" panose="02000500000000000000" pitchFamily="2" charset="-122"/>
            </a:endParaRPr>
          </a:p>
        </p:txBody>
      </p:sp>
      <p:graphicFrame>
        <p:nvGraphicFramePr>
          <p:cNvPr id="2050" name="对象 -2147482624"/>
          <p:cNvGraphicFramePr>
            <a:graphicFrameLocks noChangeAspect="1"/>
          </p:cNvGraphicFramePr>
          <p:nvPr/>
        </p:nvGraphicFramePr>
        <p:xfrm>
          <a:off x="2649538" y="3389313"/>
          <a:ext cx="7840662" cy="3373437"/>
        </p:xfrm>
        <a:graphic>
          <a:graphicData uri="http://schemas.openxmlformats.org/presentationml/2006/ole">
            <mc:AlternateContent xmlns:mc="http://schemas.openxmlformats.org/markup-compatibility/2006">
              <mc:Choice xmlns:v="urn:schemas-microsoft-com:vml" Requires="v">
                <p:oleObj spid="_x0000_s3077" name="" r:id="rId1" imgW="3886200" imgH="2228850" progId="Visio.Drawing.15">
                  <p:embed/>
                </p:oleObj>
              </mc:Choice>
              <mc:Fallback>
                <p:oleObj name="" r:id="rId1" imgW="3886200" imgH="2228850" progId="Visio.Drawing.15">
                  <p:embed/>
                  <p:pic>
                    <p:nvPicPr>
                      <p:cNvPr id="0" name="图片 3076"/>
                      <p:cNvPicPr/>
                      <p:nvPr/>
                    </p:nvPicPr>
                    <p:blipFill>
                      <a:blip r:embed="rId2"/>
                      <a:stretch>
                        <a:fillRect/>
                      </a:stretch>
                    </p:blipFill>
                    <p:spPr>
                      <a:xfrm>
                        <a:off x="2649538" y="3389313"/>
                        <a:ext cx="7840662" cy="3373437"/>
                      </a:xfrm>
                      <a:prstGeom prst="rect">
                        <a:avLst/>
                      </a:prstGeom>
                      <a:noFill/>
                      <a:ln w="38100">
                        <a:noFill/>
                        <a:miter/>
                      </a:ln>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3076" name="Rectangle 2"/>
          <p:cNvSpPr>
            <a:spLocks noGrp="1"/>
          </p:cNvSpPr>
          <p:nvPr>
            <p:ph type="title"/>
          </p:nvPr>
        </p:nvSpPr>
        <p:spPr>
          <a:xfrm>
            <a:off x="1016000" y="0"/>
            <a:ext cx="10361613" cy="768350"/>
          </a:xfrm>
        </p:spPr>
        <p:txBody>
          <a:bodyPr vert="horz" wrap="square" lIns="91440" tIns="45720" rIns="91440" bIns="45720" anchor="ctr" anchorCtr="0"/>
          <a:p>
            <a:pPr eaLnBrk="1" hangingPunct="1"/>
            <a:r>
              <a:rPr lang="zh-CN" altLang="zh-CN" dirty="0"/>
              <a:t>LoongArch</a:t>
            </a:r>
            <a:r>
              <a:rPr lang="zh-CN" altLang="en-US" dirty="0"/>
              <a:t>的</a:t>
            </a:r>
            <a:r>
              <a:rPr lang="en-US" altLang="zh-CN" dirty="0"/>
              <a:t>TLB</a:t>
            </a:r>
            <a:r>
              <a:rPr lang="zh-CN" altLang="en-US" dirty="0"/>
              <a:t>结构</a:t>
            </a:r>
            <a:endParaRPr lang="zh-CN" altLang="en-US" dirty="0"/>
          </a:p>
        </p:txBody>
      </p:sp>
      <p:sp>
        <p:nvSpPr>
          <p:cNvPr id="61445" name="Rectangle 5"/>
          <p:cNvSpPr>
            <a:spLocks noGrp="1" noChangeArrowheads="1"/>
          </p:cNvSpPr>
          <p:nvPr>
            <p:ph idx="1"/>
          </p:nvPr>
        </p:nvSpPr>
        <p:spPr>
          <a:xfrm>
            <a:off x="660400" y="936625"/>
            <a:ext cx="10928350" cy="1908175"/>
          </a:xfrm>
        </p:spPr>
        <p:txBody>
          <a:bodyPr vert="horz" wrap="square" lIns="91440" tIns="45720" rIns="91440" bIns="45720" numCol="1" anchor="t" anchorCtr="0" compatLnSpc="1"/>
          <a:lstStyle/>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LoongArch的TLB分为两个部分</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817880"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单一页大小TLB（</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STLB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），多路组相联</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cs"/>
            </a:endParaRPr>
          </a:p>
          <a:p>
            <a:pPr marL="817880"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多重页大小TLB（</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MTLB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），全相联</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endParaRPr>
          </a:p>
          <a:p>
            <a:pPr marL="817880"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在虚实地址转换过程中，STLB和MTLB同时查找</a:t>
            </a:r>
            <a:endParaRPr kumimoji="1" lang="en-US" altLang="zh-CN" sz="1600" b="1" i="0" u="none" strike="noStrike" kern="0" cap="none" spc="0" normalizeH="0" baseline="0" noProof="0" dirty="0" smtClean="0">
              <a:ln>
                <a:noFill/>
              </a:ln>
              <a:solidFill>
                <a:schemeClr val="tx1"/>
              </a:solidFill>
              <a:effectLst/>
              <a:uLnTx/>
              <a:uFillTx/>
              <a:latin typeface="+mn-ea"/>
              <a:ea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LoongArch</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的</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表项结构</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p:txBody>
      </p:sp>
      <p:sp>
        <p:nvSpPr>
          <p:cNvPr id="5" name="Rectangle 5"/>
          <p:cNvSpPr txBox="1">
            <a:spLocks noChangeArrowheads="1"/>
          </p:cNvSpPr>
          <p:nvPr/>
        </p:nvSpPr>
        <p:spPr bwMode="auto">
          <a:xfrm>
            <a:off x="1370330" y="4111625"/>
            <a:ext cx="10414000" cy="2594610"/>
          </a:xfrm>
          <a:prstGeom prst="rect">
            <a:avLst/>
          </a:prstGeom>
          <a:noFill/>
          <a:ln w="9525">
            <a:noFill/>
            <a:miter lim="800000"/>
          </a:ln>
        </p:spPr>
        <p:txBody>
          <a:bodyPr/>
          <a:lstStyle/>
          <a:p>
            <a:pPr marL="360680" marR="0" indent="-360680" defTabSz="914400">
              <a:lnSpc>
                <a:spcPct val="150000"/>
              </a:lnSpc>
              <a:spcBef>
                <a:spcPts val="0"/>
              </a:spcBef>
              <a:buClrTx/>
              <a:buSzTx/>
              <a:buFontTx/>
              <a:buChar char="•"/>
              <a:defRPr/>
            </a:pPr>
            <a:r>
              <a:rPr kumimoji="1" lang="zh-CN" altLang="en-US" sz="1400" b="1" kern="0" cap="none" spc="0" normalizeH="0" baseline="0" noProof="0" dirty="0">
                <a:latin typeface="宋体" panose="02000500000000000000" pitchFamily="2" charset="-122"/>
                <a:cs typeface="宋体" panose="02000500000000000000" pitchFamily="2" charset="-122"/>
              </a:rPr>
              <a:t>E：该TLB表项是否存在</a:t>
            </a:r>
            <a:endParaRPr kumimoji="1" lang="zh-CN" altLang="en-US" sz="1400" b="1" kern="0" cap="none" spc="0" normalizeH="0" baseline="0" noProof="0" dirty="0">
              <a:latin typeface="宋体" panose="02000500000000000000" pitchFamily="2" charset="-122"/>
              <a:cs typeface="宋体" panose="02000500000000000000" pitchFamily="2" charset="-122"/>
            </a:endParaRPr>
          </a:p>
          <a:p>
            <a:pPr marL="360680" marR="0" indent="-360680" defTabSz="914400">
              <a:lnSpc>
                <a:spcPct val="150000"/>
              </a:lnSpc>
              <a:spcBef>
                <a:spcPts val="0"/>
              </a:spcBef>
              <a:buClrTx/>
              <a:buSzTx/>
              <a:buFontTx/>
              <a:buChar char="•"/>
              <a:defRPr/>
            </a:pPr>
            <a:r>
              <a:rPr kumimoji="1" lang="zh-CN" altLang="en-US" sz="1400" b="1" kern="0" cap="none" spc="0" normalizeH="0" baseline="0" noProof="0" dirty="0">
                <a:latin typeface="宋体" panose="02000500000000000000" pitchFamily="2" charset="-122"/>
                <a:cs typeface="宋体" panose="02000500000000000000" pitchFamily="2" charset="-122"/>
              </a:rPr>
              <a:t>ASID标记该TLB表项属于哪个地址空间；</a:t>
            </a:r>
            <a:r>
              <a:rPr kumimoji="1" lang="en-US" altLang="zh-CN" sz="1400" b="1" kern="0" cap="none" spc="0" normalizeH="0" baseline="0" noProof="0" dirty="0">
                <a:latin typeface="宋体" panose="02000500000000000000" pitchFamily="2" charset="-122"/>
                <a:cs typeface="宋体" panose="02000500000000000000" pitchFamily="2" charset="-122"/>
              </a:rPr>
              <a:t>G</a:t>
            </a:r>
            <a:r>
              <a:rPr kumimoji="1" lang="zh-CN" altLang="en-US" sz="1400" b="1" kern="0" cap="none" spc="0" normalizeH="0" baseline="0" noProof="0" dirty="0">
                <a:latin typeface="宋体" panose="02000500000000000000" pitchFamily="2" charset="-122"/>
                <a:cs typeface="宋体" panose="02000500000000000000" pitchFamily="2" charset="-122"/>
              </a:rPr>
              <a:t>为</a:t>
            </a:r>
            <a:r>
              <a:rPr kumimoji="1" lang="en-US" altLang="zh-CN" sz="1400" b="1" kern="0" cap="none" spc="0" normalizeH="0" baseline="0" noProof="0" dirty="0">
                <a:latin typeface="宋体" panose="02000500000000000000" pitchFamily="2" charset="-122"/>
                <a:cs typeface="宋体" panose="02000500000000000000" pitchFamily="2" charset="-122"/>
              </a:rPr>
              <a:t>全局域，为1时</a:t>
            </a:r>
            <a:r>
              <a:rPr kumimoji="1" lang="zh-CN" altLang="en-US" sz="1400" b="1" kern="0" cap="none" spc="0" normalizeH="0" baseline="0" noProof="0" dirty="0">
                <a:latin typeface="宋体" panose="02000500000000000000" pitchFamily="2" charset="-122"/>
                <a:cs typeface="宋体" panose="02000500000000000000" pitchFamily="2" charset="-122"/>
              </a:rPr>
              <a:t>表示属于</a:t>
            </a:r>
            <a:r>
              <a:rPr kumimoji="1" lang="en-US" altLang="zh-CN" sz="1400" b="1" kern="0" cap="none" spc="0" normalizeH="0" baseline="0" noProof="0" dirty="0" err="1">
                <a:latin typeface="宋体" panose="02000500000000000000" pitchFamily="2" charset="-122"/>
                <a:cs typeface="宋体" panose="02000500000000000000" pitchFamily="2" charset="-122"/>
              </a:rPr>
              <a:t>所有的地址空间</a:t>
            </a:r>
            <a:endParaRPr kumimoji="1" lang="en-US" altLang="zh-CN" sz="1400" b="1" kern="0" cap="none" spc="0" normalizeH="0" baseline="0" noProof="0" dirty="0">
              <a:latin typeface="宋体" panose="02000500000000000000" pitchFamily="2" charset="-122"/>
              <a:cs typeface="宋体" panose="02000500000000000000" pitchFamily="2" charset="-122"/>
            </a:endParaRPr>
          </a:p>
          <a:p>
            <a:pPr marL="360680" marR="0" indent="-360680" defTabSz="914400">
              <a:lnSpc>
                <a:spcPct val="150000"/>
              </a:lnSpc>
              <a:spcBef>
                <a:spcPts val="0"/>
              </a:spcBef>
              <a:buClrTx/>
              <a:buSzTx/>
              <a:buFontTx/>
              <a:buChar char="•"/>
              <a:defRPr/>
            </a:pPr>
            <a:r>
              <a:rPr kumimoji="1" lang="en-US" altLang="zh-CN" sz="1400" b="1" kern="0" cap="none" spc="0" normalizeH="0" baseline="0" noProof="0" dirty="0" err="1">
                <a:latin typeface="宋体" panose="02000500000000000000" pitchFamily="2" charset="-122"/>
                <a:cs typeface="宋体" panose="02000500000000000000" pitchFamily="2" charset="-122"/>
              </a:rPr>
              <a:t>PS表示该页表项中存放的页大小</a:t>
            </a:r>
            <a:endParaRPr kumimoji="1" lang="en-US" altLang="zh-CN" sz="1400" b="1" kern="0" cap="none" spc="0" normalizeH="0" baseline="0" noProof="0" dirty="0">
              <a:latin typeface="宋体" panose="02000500000000000000" pitchFamily="2" charset="-122"/>
              <a:cs typeface="宋体" panose="02000500000000000000" pitchFamily="2" charset="-122"/>
            </a:endParaRPr>
          </a:p>
          <a:p>
            <a:pPr marL="360680" marR="0" indent="-360680" defTabSz="914400">
              <a:lnSpc>
                <a:spcPct val="150000"/>
              </a:lnSpc>
              <a:spcBef>
                <a:spcPts val="0"/>
              </a:spcBef>
              <a:buClrTx/>
              <a:buSzTx/>
              <a:buFontTx/>
              <a:buChar char="•"/>
              <a:defRPr/>
            </a:pPr>
            <a:r>
              <a:rPr kumimoji="1" lang="en-US" altLang="zh-CN" sz="1400" b="1" kern="0" cap="none" spc="0" normalizeH="0" baseline="0" noProof="0" dirty="0" err="1">
                <a:latin typeface="宋体" panose="02000500000000000000" pitchFamily="2" charset="-122"/>
                <a:cs typeface="宋体" panose="02000500000000000000" pitchFamily="2" charset="-122"/>
              </a:rPr>
              <a:t>VPPN表示虚双页号</a:t>
            </a:r>
            <a:endParaRPr kumimoji="1" lang="en-US" altLang="zh-CN" sz="1400" b="1" kern="0" cap="none" spc="0" normalizeH="0" baseline="0" noProof="0" dirty="0">
              <a:latin typeface="宋体" panose="02000500000000000000" pitchFamily="2" charset="-122"/>
              <a:cs typeface="宋体" panose="02000500000000000000" pitchFamily="2" charset="-122"/>
            </a:endParaRPr>
          </a:p>
          <a:p>
            <a:pPr marL="360680" marR="0" indent="-360680" defTabSz="914400">
              <a:lnSpc>
                <a:spcPct val="150000"/>
              </a:lnSpc>
              <a:spcBef>
                <a:spcPts val="0"/>
              </a:spcBef>
              <a:buClrTx/>
              <a:buSzTx/>
              <a:buFontTx/>
              <a:buChar char="•"/>
              <a:defRPr/>
            </a:pPr>
            <a:r>
              <a:rPr kumimoji="1" lang="en-US" altLang="zh-CN" sz="1400" b="1" kern="0" cap="none" spc="0" normalizeH="0" baseline="0" noProof="0" dirty="0" err="1">
                <a:latin typeface="宋体" panose="02000500000000000000" pitchFamily="2" charset="-122"/>
                <a:cs typeface="宋体" panose="02000500000000000000" pitchFamily="2" charset="-122"/>
              </a:rPr>
              <a:t>PPN为物理页号</a:t>
            </a:r>
            <a:endParaRPr kumimoji="1" lang="en-US" altLang="zh-CN" sz="1400" b="1" kern="0" cap="none" spc="0" normalizeH="0" baseline="0" noProof="0" dirty="0">
              <a:latin typeface="宋体" panose="02000500000000000000" pitchFamily="2" charset="-122"/>
              <a:cs typeface="宋体" panose="02000500000000000000" pitchFamily="2" charset="-122"/>
            </a:endParaRPr>
          </a:p>
          <a:p>
            <a:pPr marL="360680" marR="0" indent="-360680" defTabSz="914400">
              <a:lnSpc>
                <a:spcPct val="150000"/>
              </a:lnSpc>
              <a:spcBef>
                <a:spcPts val="0"/>
              </a:spcBef>
              <a:buClrTx/>
              <a:buSzTx/>
              <a:buFontTx/>
              <a:buChar char="•"/>
              <a:defRPr/>
            </a:pPr>
            <a:r>
              <a:rPr kumimoji="1" lang="en-US" altLang="zh-CN" sz="1400" b="1" kern="0" cap="none" spc="0" normalizeH="0" baseline="0" noProof="0" dirty="0" err="1">
                <a:latin typeface="宋体" panose="02000500000000000000" pitchFamily="2" charset="-122"/>
                <a:cs typeface="宋体" panose="02000500000000000000" pitchFamily="2" charset="-122"/>
              </a:rPr>
              <a:t>PLV表示该页表项对应的权限等级；RPLV为受限权限等级使能</a:t>
            </a:r>
            <a:endParaRPr kumimoji="1" lang="en-US" altLang="zh-CN" sz="1400" b="1" kern="0" cap="none" spc="0" normalizeH="0" baseline="0" noProof="0" dirty="0">
              <a:latin typeface="宋体" panose="02000500000000000000" pitchFamily="2" charset="-122"/>
              <a:cs typeface="宋体" panose="02000500000000000000" pitchFamily="2" charset="-122"/>
            </a:endParaRPr>
          </a:p>
          <a:p>
            <a:pPr marL="360680" marR="0" indent="-360680" defTabSz="914400">
              <a:lnSpc>
                <a:spcPct val="150000"/>
              </a:lnSpc>
              <a:spcBef>
                <a:spcPts val="0"/>
              </a:spcBef>
              <a:buClrTx/>
              <a:buSzTx/>
              <a:buFontTx/>
              <a:buChar char="•"/>
              <a:defRPr/>
            </a:pPr>
            <a:r>
              <a:rPr kumimoji="1" lang="en-US" altLang="zh-CN" sz="1400" b="1" kern="0" cap="none" spc="0" normalizeH="0" baseline="0" noProof="0" dirty="0" err="1">
                <a:latin typeface="宋体" panose="02000500000000000000" pitchFamily="2" charset="-122"/>
                <a:cs typeface="宋体" panose="02000500000000000000" pitchFamily="2" charset="-122"/>
              </a:rPr>
              <a:t>MAT控制落在该页表项所在地址空间上访存操作的存储访问类型</a:t>
            </a:r>
            <a:endParaRPr kumimoji="1" lang="en-US" altLang="zh-CN" sz="1400" b="1" kern="0" cap="none" spc="0" normalizeH="0" baseline="0" noProof="0" dirty="0">
              <a:latin typeface="宋体" panose="02000500000000000000" pitchFamily="2" charset="-122"/>
              <a:cs typeface="宋体" panose="02000500000000000000" pitchFamily="2" charset="-122"/>
            </a:endParaRPr>
          </a:p>
          <a:p>
            <a:pPr marL="360680" marR="0" indent="-360680" defTabSz="914400">
              <a:lnSpc>
                <a:spcPct val="150000"/>
              </a:lnSpc>
              <a:spcBef>
                <a:spcPts val="0"/>
              </a:spcBef>
              <a:buClrTx/>
              <a:buSzTx/>
              <a:buFontTx/>
              <a:buChar char="•"/>
              <a:defRPr/>
            </a:pPr>
            <a:r>
              <a:rPr kumimoji="1" lang="en-US" altLang="zh-CN" sz="1400" b="1" kern="0" cap="none" spc="0" normalizeH="0" baseline="0" noProof="0" dirty="0" err="1">
                <a:latin typeface="宋体" panose="02000500000000000000" pitchFamily="2" charset="-122"/>
                <a:cs typeface="宋体" panose="02000500000000000000" pitchFamily="2" charset="-122"/>
              </a:rPr>
              <a:t>NX为不可执行位；NR为不可读位；D称为“脏（Dirty</a:t>
            </a:r>
            <a:r>
              <a:rPr kumimoji="1" lang="en-US" altLang="zh-CN" sz="1400" b="1" kern="0" cap="none" spc="0" normalizeH="0" baseline="0" noProof="0" dirty="0">
                <a:latin typeface="宋体" panose="02000500000000000000" pitchFamily="2" charset="-122"/>
                <a:cs typeface="宋体" panose="02000500000000000000" pitchFamily="2" charset="-122"/>
              </a:rPr>
              <a:t>）”位</a:t>
            </a:r>
            <a:endParaRPr kumimoji="1" lang="en-US" altLang="zh-CN" sz="1400" b="1" kern="0" cap="none" spc="0" normalizeH="0" baseline="0" noProof="0" dirty="0">
              <a:latin typeface="宋体" panose="02000500000000000000" pitchFamily="2" charset="-122"/>
              <a:cs typeface="宋体" panose="02000500000000000000" pitchFamily="2" charset="-122"/>
            </a:endParaRPr>
          </a:p>
        </p:txBody>
      </p:sp>
      <p:graphicFrame>
        <p:nvGraphicFramePr>
          <p:cNvPr id="3074" name="对象 -2147482624"/>
          <p:cNvGraphicFramePr>
            <a:graphicFrameLocks noChangeAspect="1"/>
          </p:cNvGraphicFramePr>
          <p:nvPr/>
        </p:nvGraphicFramePr>
        <p:xfrm>
          <a:off x="1257300" y="3070225"/>
          <a:ext cx="10175875" cy="990600"/>
        </p:xfrm>
        <a:graphic>
          <a:graphicData uri="http://schemas.openxmlformats.org/presentationml/2006/ole">
            <mc:AlternateContent xmlns:mc="http://schemas.openxmlformats.org/markup-compatibility/2006">
              <mc:Choice xmlns:v="urn:schemas-microsoft-com:vml" Requires="v">
                <p:oleObj spid="_x0000_s2" name="" r:id="rId1" imgW="4224655" imgH="727075" progId="Visio.Drawing.15">
                  <p:embed/>
                </p:oleObj>
              </mc:Choice>
              <mc:Fallback>
                <p:oleObj name="" r:id="rId1" imgW="4224655" imgH="727075" progId="Visio.Drawing.15">
                  <p:embed/>
                  <p:pic>
                    <p:nvPicPr>
                      <p:cNvPr id="0" name="图片 1"/>
                      <p:cNvPicPr/>
                      <p:nvPr/>
                    </p:nvPicPr>
                    <p:blipFill>
                      <a:blip r:embed="rId2"/>
                      <a:stretch>
                        <a:fillRect/>
                      </a:stretch>
                    </p:blipFill>
                    <p:spPr>
                      <a:xfrm>
                        <a:off x="1257300" y="3070225"/>
                        <a:ext cx="10175875" cy="990600"/>
                      </a:xfrm>
                      <a:prstGeom prst="rect">
                        <a:avLst/>
                      </a:prstGeom>
                      <a:noFill/>
                      <a:ln w="38100">
                        <a:noFill/>
                        <a:miter/>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7107" name="Rectangle 2"/>
          <p:cNvSpPr>
            <a:spLocks noGrp="1"/>
          </p:cNvSpPr>
          <p:nvPr>
            <p:ph type="title"/>
          </p:nvPr>
        </p:nvSpPr>
        <p:spPr>
          <a:xfrm>
            <a:off x="971550" y="200025"/>
            <a:ext cx="10361613" cy="1143000"/>
          </a:xfrm>
        </p:spPr>
        <p:txBody>
          <a:bodyPr vert="horz" wrap="square" lIns="91440" tIns="45720" rIns="91440" bIns="45720" anchor="ctr" anchorCtr="0"/>
          <a:p>
            <a:pPr eaLnBrk="1" hangingPunct="1"/>
            <a:r>
              <a:rPr lang="zh-CN" altLang="zh-CN" dirty="0"/>
              <a:t>LoongArch</a:t>
            </a:r>
            <a:r>
              <a:rPr lang="zh-CN" altLang="en-US" dirty="0"/>
              <a:t>与</a:t>
            </a:r>
            <a:r>
              <a:rPr lang="en-US" altLang="zh-CN" dirty="0"/>
              <a:t>TLB</a:t>
            </a:r>
            <a:r>
              <a:rPr lang="zh-CN" altLang="en-US" dirty="0"/>
              <a:t>有关的控制寄存器</a:t>
            </a:r>
            <a:endParaRPr lang="zh-CN" altLang="en-US" dirty="0"/>
          </a:p>
        </p:txBody>
      </p:sp>
      <p:pic>
        <p:nvPicPr>
          <p:cNvPr id="47108" name="图片 3" descr="Screenshot_副本"/>
          <p:cNvPicPr>
            <a:picLocks noChangeAspect="1"/>
          </p:cNvPicPr>
          <p:nvPr/>
        </p:nvPicPr>
        <p:blipFill>
          <a:blip r:embed="rId1"/>
          <a:stretch>
            <a:fillRect/>
          </a:stretch>
        </p:blipFill>
        <p:spPr>
          <a:xfrm>
            <a:off x="628650" y="1343025"/>
            <a:ext cx="11360150" cy="5273675"/>
          </a:xfrm>
          <a:prstGeom prst="rect">
            <a:avLst/>
          </a:prstGeom>
          <a:noFill/>
          <a:ln w="9525">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8131" name="Rectangle 2"/>
          <p:cNvSpPr>
            <a:spLocks noGrp="1"/>
          </p:cNvSpPr>
          <p:nvPr>
            <p:ph type="title"/>
          </p:nvPr>
        </p:nvSpPr>
        <p:spPr>
          <a:xfrm>
            <a:off x="914400" y="233363"/>
            <a:ext cx="10361613" cy="1143000"/>
          </a:xfrm>
        </p:spPr>
        <p:txBody>
          <a:bodyPr vert="horz" wrap="square" lIns="91440" tIns="45720" rIns="91440" bIns="45720" anchor="ctr" anchorCtr="0"/>
          <a:p>
            <a:pPr eaLnBrk="1" hangingPunct="1"/>
            <a:r>
              <a:rPr lang="en-US" altLang="zh-CN" dirty="0"/>
              <a:t>LoongArch</a:t>
            </a:r>
            <a:r>
              <a:rPr lang="zh-CN" altLang="en-US" dirty="0"/>
              <a:t>与</a:t>
            </a:r>
            <a:r>
              <a:rPr lang="en-US" altLang="zh-CN" dirty="0"/>
              <a:t>TLB</a:t>
            </a:r>
            <a:r>
              <a:rPr lang="zh-CN" altLang="en-US" dirty="0"/>
              <a:t>管理有关的指令</a:t>
            </a:r>
            <a:endParaRPr lang="zh-CN" altLang="en-US" dirty="0"/>
          </a:p>
        </p:txBody>
      </p:sp>
      <p:sp>
        <p:nvSpPr>
          <p:cNvPr id="62467" name="Rectangle 3"/>
          <p:cNvSpPr>
            <a:spLocks noGrp="1" noChangeArrowheads="1"/>
          </p:cNvSpPr>
          <p:nvPr>
            <p:ph idx="1"/>
          </p:nvPr>
        </p:nvSpPr>
        <p:spPr>
          <a:xfrm>
            <a:off x="279400" y="1192213"/>
            <a:ext cx="11549063" cy="5229225"/>
          </a:xfrm>
        </p:spPr>
        <p:txBody>
          <a:bodyPr vert="horz" wrap="square" lIns="91440" tIns="45720" rIns="91440" bIns="45720" numCol="1" anchor="t" anchorCtr="0" compatLnSpc="1"/>
          <a:lstStyle/>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TLBR</a:t>
            </a:r>
            <a:r>
              <a:rPr kumimoji="1" lang="en-US" altLang="en-US" sz="1800" b="1" i="0" u="none" strike="noStrike" kern="0" cap="none" spc="0" normalizeH="0" baseline="0" noProof="0" dirty="0" smtClean="0">
                <a:ln>
                  <a:noFill/>
                </a:ln>
                <a:solidFill>
                  <a:schemeClr val="tx1"/>
                </a:solidFill>
                <a:effectLst/>
                <a:uLnTx/>
                <a:uFillTx/>
                <a:latin typeface="+mn-ea"/>
                <a:ea typeface="+mn-ea"/>
                <a:cs typeface="+mn-cs"/>
              </a:rPr>
              <a:t>D</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以TLBIDX中Index域的值为索引</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把</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内容读</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到TLBEHI、TLBELO0</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1、</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TLBIDX</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等</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CSR</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中</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TLBS</a:t>
            </a:r>
            <a:r>
              <a:rPr kumimoji="1" lang="en-US" altLang="en-US" sz="1800" b="1" i="0" u="none" strike="noStrike" kern="0" cap="none" spc="0" normalizeH="0" baseline="0" noProof="0" dirty="0" smtClean="0">
                <a:ln>
                  <a:noFill/>
                </a:ln>
                <a:solidFill>
                  <a:schemeClr val="tx1"/>
                </a:solidFill>
                <a:effectLst/>
                <a:uLnTx/>
                <a:uFillTx/>
                <a:latin typeface="+mn-ea"/>
                <a:ea typeface="+mn-ea"/>
                <a:cs typeface="+mn-cs"/>
              </a:rPr>
              <a:t>R</a:t>
            </a: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CH</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检查</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ASID</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和</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TLBEHI</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中指定的虚页是否在</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中</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sym typeface="+mn-ea"/>
              </a:rPr>
              <a:t>TLBWR</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以TLBIDX中Index域的值为索引把</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P</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TLBEHI、TLBELO0</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1、</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TLBIDX</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等</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CSR</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中内容写入</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TLB</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sym typeface="+mn-ea"/>
              </a:rPr>
              <a:t>TLBFILL</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把</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P</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TLBEHI、TLBELO0</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1、</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TLBIDX</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等</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CSR</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中内容填入</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的一个随机位置</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INVTLB</a:t>
            </a: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从通用寄存器rj和rk得到用于比较的ASID和虚地址信息，依照指令op立即数指示的无效规则，对TLB中的表项逐一进行判定，符合条件的TLB表项将被无效掉</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49155" name="Rectangle 2"/>
          <p:cNvSpPr>
            <a:spLocks noGrp="1"/>
          </p:cNvSpPr>
          <p:nvPr>
            <p:ph type="title"/>
          </p:nvPr>
        </p:nvSpPr>
        <p:spPr>
          <a:xfrm>
            <a:off x="914400" y="265113"/>
            <a:ext cx="10361613" cy="1143000"/>
          </a:xfrm>
        </p:spPr>
        <p:txBody>
          <a:bodyPr vert="horz" wrap="square" lIns="91440" tIns="45720" rIns="91440" bIns="45720" anchor="ctr" anchorCtr="0"/>
          <a:p>
            <a:pPr eaLnBrk="1" hangingPunct="1"/>
            <a:r>
              <a:rPr lang="en-US" altLang="zh-CN" dirty="0"/>
              <a:t>TLB</a:t>
            </a:r>
            <a:r>
              <a:rPr lang="zh-CN" altLang="en-US" dirty="0"/>
              <a:t>相关异常类型</a:t>
            </a:r>
            <a:endParaRPr lang="zh-CN" altLang="en-US" dirty="0"/>
          </a:p>
        </p:txBody>
      </p:sp>
      <p:sp>
        <p:nvSpPr>
          <p:cNvPr id="64515" name="Rectangle 3"/>
          <p:cNvSpPr>
            <a:spLocks noGrp="1" noChangeArrowheads="1"/>
          </p:cNvSpPr>
          <p:nvPr>
            <p:ph idx="1"/>
          </p:nvPr>
        </p:nvSpPr>
        <p:spPr>
          <a:xfrm>
            <a:off x="914400" y="1343025"/>
            <a:ext cx="10361613" cy="2751138"/>
          </a:xfrm>
        </p:spPr>
        <p:txBody>
          <a:bodyPr vert="horz" wrap="square" lIns="91440" tIns="45720" rIns="91440" bIns="45720" numCol="1" anchor="t" anchorCtr="0" compatLnSpc="1"/>
          <a:lstStyle/>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en-US" altLang="zh-CN" sz="18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重填异常：</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如果查找</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没有找到一个虚地址匹配（</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VPPN+ASID/G</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页无效异常：</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如果找到一个虚地址匹配项，但其</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V=0</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ea"/>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细分为</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3</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种：取指操作（</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PIF</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load</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操作（</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PIL</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store</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操作（</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PIS</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sym typeface="+mn-ea"/>
              </a:rPr>
              <a:t>页修改异常：</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如果找到一个虚地址匹配项且其</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V=1</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，但</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D=0</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且访问为</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store</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sym typeface="+mn-ea"/>
              </a:rPr>
              <a:t>页不可读异常：</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如果找到一个虚地址匹配项且其</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V=1</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，但</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sym typeface="+mn-ea"/>
              </a:rPr>
              <a:t>NR=1</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sym typeface="+mn-ea"/>
              </a:rPr>
              <a:t>且访问为</a:t>
            </a:r>
            <a:r>
              <a:rPr kumimoji="1" lang="en-US" altLang="en-US" sz="1600" b="1" i="0" u="none" strike="noStrike" kern="0" cap="none" spc="0" normalizeH="0" baseline="0" noProof="0" dirty="0" smtClean="0">
                <a:ln>
                  <a:noFill/>
                </a:ln>
                <a:solidFill>
                  <a:schemeClr val="tx1"/>
                </a:solidFill>
                <a:effectLst/>
                <a:uLnTx/>
                <a:uFillTx/>
                <a:latin typeface="+mn-ea"/>
                <a:ea typeface="+mn-ea"/>
                <a:cs typeface="+mn-ea"/>
                <a:sym typeface="+mn-ea"/>
              </a:rPr>
              <a:t>load</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cs typeface="+mn-cs"/>
              </a:rPr>
              <a:t>页不可执行异常：</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如果找到一个虚地址匹配项且其</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V=1</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，但</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NX=1</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且访问为取指</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p:txBody>
      </p:sp>
      <p:pic>
        <p:nvPicPr>
          <p:cNvPr id="49157" name="内容占位符 3" descr="Screenshot-1_副本"/>
          <p:cNvPicPr>
            <a:picLocks noChangeAspect="1"/>
          </p:cNvPicPr>
          <p:nvPr/>
        </p:nvPicPr>
        <p:blipFill>
          <a:blip r:embed="rId1"/>
          <a:stretch>
            <a:fillRect/>
          </a:stretch>
        </p:blipFill>
        <p:spPr>
          <a:xfrm>
            <a:off x="1149350" y="4171950"/>
            <a:ext cx="9713913" cy="2382838"/>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0179" name="Rectangle 2"/>
          <p:cNvSpPr>
            <a:spLocks noGrp="1"/>
          </p:cNvSpPr>
          <p:nvPr>
            <p:ph type="title"/>
          </p:nvPr>
        </p:nvSpPr>
        <p:spPr>
          <a:xfrm>
            <a:off x="800100" y="11430"/>
            <a:ext cx="10361930" cy="994410"/>
          </a:xfrm>
        </p:spPr>
        <p:txBody>
          <a:bodyPr vert="horz" wrap="square" lIns="91440" tIns="45720" rIns="91440" bIns="45720" anchor="ctr" anchorCtr="0"/>
          <a:p>
            <a:pPr eaLnBrk="1" hangingPunct="1"/>
            <a:r>
              <a:rPr lang="zh-CN" altLang="en-US" dirty="0"/>
              <a:t>发生</a:t>
            </a:r>
            <a:r>
              <a:rPr lang="en-US" altLang="zh-CN" dirty="0"/>
              <a:t>TLB</a:t>
            </a:r>
            <a:r>
              <a:rPr lang="zh-CN" altLang="en-US" dirty="0"/>
              <a:t>异常时硬件处理过程</a:t>
            </a:r>
            <a:endParaRPr lang="zh-CN" altLang="en-US" dirty="0"/>
          </a:p>
        </p:txBody>
      </p:sp>
      <p:sp>
        <p:nvSpPr>
          <p:cNvPr id="63491" name="Rectangle 3"/>
          <p:cNvSpPr>
            <a:spLocks noGrp="1" noChangeArrowheads="1"/>
          </p:cNvSpPr>
          <p:nvPr>
            <p:ph idx="1"/>
          </p:nvPr>
        </p:nvSpPr>
        <p:spPr>
          <a:xfrm>
            <a:off x="715645" y="1270000"/>
            <a:ext cx="5391785" cy="5088255"/>
          </a:xfrm>
        </p:spPr>
        <p:txBody>
          <a:bodyPr vert="horz" wrap="square" lIns="91440" tIns="45720" rIns="91440" bIns="45720" numCol="1" anchor="t" anchorCtr="0" compatLnSpc="1"/>
          <a:lstStyle/>
          <a:p>
            <a:pPr marL="0" marR="0" lvl="0" indent="0" algn="ctr" defTabSz="914400" rtl="0" eaLnBrk="1" latinLnBrk="0" hangingPunct="1">
              <a:lnSpc>
                <a:spcPct val="150000"/>
              </a:lnSpc>
              <a:spcBef>
                <a:spcPts val="0"/>
              </a:spcBef>
              <a:spcAft>
                <a:spcPct val="0"/>
              </a:spcAft>
              <a:buClrTx/>
              <a:buSzTx/>
              <a:buFontTx/>
              <a:buNone/>
              <a:defRPr/>
            </a:pPr>
            <a:r>
              <a:rPr kumimoji="1" lang="en-US" altLang="zh-CN" sz="2000" b="1" i="0" u="none" strike="noStrike" kern="0" cap="none" spc="0" normalizeH="0" baseline="0" noProof="0" dirty="0" smtClean="0">
                <a:ln>
                  <a:noFill/>
                </a:ln>
                <a:solidFill>
                  <a:srgbClr val="FF0000"/>
                </a:solidFill>
                <a:effectLst/>
                <a:uLnTx/>
                <a:uFillTx/>
                <a:latin typeface="+mn-ea"/>
                <a:ea typeface="+mn-ea"/>
                <a:cs typeface="+mn-cs"/>
              </a:rPr>
              <a:t>TLB</a:t>
            </a:r>
            <a:r>
              <a:rPr kumimoji="1" lang="zh-CN" altLang="en-US" sz="2000" b="1" i="0" u="none" strike="noStrike" kern="0" cap="none" spc="0" normalizeH="0" baseline="0" noProof="0" dirty="0" smtClean="0">
                <a:ln>
                  <a:noFill/>
                </a:ln>
                <a:solidFill>
                  <a:srgbClr val="FF0000"/>
                </a:solidFill>
                <a:effectLst/>
                <a:uLnTx/>
                <a:uFillTx/>
                <a:latin typeface="+mn-ea"/>
                <a:ea typeface="+mn-ea"/>
                <a:cs typeface="+mn-cs"/>
              </a:rPr>
              <a:t>重填异常</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更新</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CSR.CRMD</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，其中PLV、IE域的旧值被记录至CSR.TLBRPRMD</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触发异常指令</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PC</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填入</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CSR</a:t>
            </a:r>
            <a:r>
              <a:rPr kumimoji="1" lang="en-US" altLang="en-US" sz="1600" b="1" i="0" u="none" strike="noStrike" kern="0" cap="none" spc="0" normalizeH="0" baseline="0" noProof="0" dirty="0" smtClean="0">
                <a:ln>
                  <a:noFill/>
                </a:ln>
                <a:solidFill>
                  <a:schemeClr val="tx1"/>
                </a:solidFill>
                <a:effectLst/>
                <a:uLnTx/>
                <a:uFillTx/>
                <a:latin typeface="+mn-ea"/>
                <a:ea typeface="+mn-ea"/>
                <a:cs typeface="+mn-cs"/>
              </a:rPr>
              <a:t>.TLBRERA</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的</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PC</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域，并将其</a:t>
            </a:r>
            <a:r>
              <a:rPr kumimoji="1" lang="en-US" altLang="zh-CN" sz="1600" b="1" i="0" u="none" strike="noStrike" kern="0" cap="none" spc="0" normalizeH="0" baseline="0" noProof="0" dirty="0" err="1" smtClean="0">
                <a:ln>
                  <a:noFill/>
                </a:ln>
                <a:solidFill>
                  <a:srgbClr val="FF0000"/>
                </a:solidFill>
                <a:effectLst/>
                <a:uLnTx/>
                <a:uFillTx/>
                <a:latin typeface="+mn-ea"/>
                <a:ea typeface="+mn-ea"/>
                <a:cs typeface="+mn-cs"/>
              </a:rPr>
              <a:t>IsTLBR</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置</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1</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err="1" smtClean="0">
                <a:ln>
                  <a:noFill/>
                </a:ln>
                <a:solidFill>
                  <a:schemeClr val="tx1"/>
                </a:solidFill>
                <a:effectLst/>
                <a:uLnTx/>
                <a:uFillTx/>
                <a:latin typeface="+mn-ea"/>
                <a:ea typeface="+mn-ea"/>
                <a:cs typeface="+mn-cs"/>
              </a:rPr>
              <a:t>引发该异常的访存虚地址填入CSR.TLBRBAV的VAddr域</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err="1" smtClean="0">
                <a:ln>
                  <a:noFill/>
                </a:ln>
                <a:solidFill>
                  <a:schemeClr val="tx1"/>
                </a:solidFill>
                <a:effectLst/>
                <a:uLnTx/>
                <a:uFillTx/>
                <a:latin typeface="+mn-ea"/>
                <a:ea typeface="+mn-ea"/>
                <a:cs typeface="+mn-cs"/>
              </a:rPr>
              <a:t>从该虚地址中提取出虚双页号填入到</a:t>
            </a:r>
            <a:r>
              <a:rPr kumimoji="1" lang="en-US" altLang="zh-CN" sz="1600" b="1" i="0" u="none" strike="noStrike" kern="0" cap="none" spc="0" normalizeH="0" baseline="0" noProof="0" dirty="0" err="1" smtClean="0">
                <a:ln>
                  <a:noFill/>
                </a:ln>
                <a:solidFill>
                  <a:srgbClr val="FF0000"/>
                </a:solidFill>
                <a:effectLst/>
                <a:uLnTx/>
                <a:uFillTx/>
                <a:latin typeface="+mn-ea"/>
                <a:ea typeface="+mn-ea"/>
                <a:cs typeface="+mn-cs"/>
              </a:rPr>
              <a:t>CSR.TLBREHI</a:t>
            </a:r>
            <a:r>
              <a:rPr kumimoji="1" lang="en-US" altLang="zh-CN" sz="1600" b="1" i="0" u="none" strike="noStrike" kern="0" cap="none" spc="0" normalizeH="0" baseline="0" noProof="0" dirty="0" err="1" smtClean="0">
                <a:ln>
                  <a:noFill/>
                </a:ln>
                <a:solidFill>
                  <a:schemeClr val="tx1"/>
                </a:solidFill>
                <a:effectLst/>
                <a:uLnTx/>
                <a:uFillTx/>
                <a:latin typeface="+mn-ea"/>
                <a:ea typeface="+mn-ea"/>
                <a:cs typeface="+mn-cs"/>
              </a:rPr>
              <a:t>的VPPN域</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PC=TLB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重填异常入口地址（由</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CSR</a:t>
            </a:r>
            <a:r>
              <a:rPr kumimoji="1" lang="en-US" altLang="en-US" sz="1600" b="1" i="0" u="none" strike="noStrike" kern="0" cap="none" spc="0" normalizeH="0" baseline="0" noProof="0" dirty="0" smtClean="0">
                <a:ln>
                  <a:noFill/>
                </a:ln>
                <a:solidFill>
                  <a:schemeClr val="tx1"/>
                </a:solidFill>
                <a:effectLst/>
                <a:uLnTx/>
                <a:uFillTx/>
                <a:latin typeface="+mn-ea"/>
                <a:ea typeface="+mn-ea"/>
                <a:cs typeface="+mn-cs"/>
              </a:rPr>
              <a:t>.TLBRENTRY</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配置）</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cs"/>
            </a:endParaRPr>
          </a:p>
        </p:txBody>
      </p:sp>
      <p:sp>
        <p:nvSpPr>
          <p:cNvPr id="3" name="Rectangle 3"/>
          <p:cNvSpPr>
            <a:spLocks noGrp="1" noChangeArrowheads="1"/>
          </p:cNvSpPr>
          <p:nvPr/>
        </p:nvSpPr>
        <p:spPr>
          <a:xfrm>
            <a:off x="6467475" y="1270000"/>
            <a:ext cx="5194300" cy="4862513"/>
          </a:xfrm>
          <a:prstGeom prst="rect">
            <a:avLst/>
          </a:prstGeom>
          <a:noFill/>
          <a:ln w="9525">
            <a:noFill/>
          </a:ln>
        </p:spPr>
        <p:txBody>
          <a:bodyPr/>
          <a:lstStyle>
            <a:lvl1pPr marL="360045" indent="-360045" algn="l" rtl="0" eaLnBrk="0" fontAlgn="base" latinLnBrk="0" hangingPunct="0">
              <a:lnSpc>
                <a:spcPct val="150000"/>
              </a:lnSpc>
              <a:spcBef>
                <a:spcPts val="600"/>
              </a:spcBef>
              <a:spcAft>
                <a:spcPct val="0"/>
              </a:spcAft>
              <a:buChar char="•"/>
              <a:defRPr sz="2000" b="1">
                <a:solidFill>
                  <a:schemeClr val="tx1"/>
                </a:solidFill>
                <a:latin typeface="+mn-ea"/>
                <a:ea typeface="+mn-ea"/>
                <a:cs typeface="+mn-cs"/>
              </a:defRPr>
            </a:lvl1pPr>
            <a:lvl2pPr marL="720090" indent="-360045" algn="l" rtl="0" eaLnBrk="0" fontAlgn="base" latinLnBrk="0" hangingPunct="0">
              <a:lnSpc>
                <a:spcPct val="150000"/>
              </a:lnSpc>
              <a:spcBef>
                <a:spcPts val="600"/>
              </a:spcBef>
              <a:spcAft>
                <a:spcPct val="0"/>
              </a:spcAft>
              <a:buChar char="•"/>
              <a:defRPr sz="1800" b="1">
                <a:solidFill>
                  <a:schemeClr val="tx1"/>
                </a:solidFill>
                <a:latin typeface="+mn-ea"/>
                <a:ea typeface="+mn-ea"/>
              </a:defRPr>
            </a:lvl2pPr>
            <a:lvl3pPr marL="1080135" indent="-360045" algn="l" rtl="0" eaLnBrk="0" fontAlgn="base" latinLnBrk="0" hangingPunct="0">
              <a:lnSpc>
                <a:spcPct val="150000"/>
              </a:lnSpc>
              <a:spcBef>
                <a:spcPts val="600"/>
              </a:spcBef>
              <a:spcAft>
                <a:spcPct val="0"/>
              </a:spcAft>
              <a:buChar char="•"/>
              <a:defRPr sz="1400" b="1">
                <a:solidFill>
                  <a:schemeClr val="tx1"/>
                </a:solidFill>
                <a:latin typeface="+mn-ea"/>
                <a:ea typeface="+mn-ea"/>
              </a:defRPr>
            </a:lvl3pPr>
            <a:lvl4pPr marL="1371600" indent="0" algn="l" rtl="0" eaLnBrk="0" fontAlgn="base" hangingPunct="0">
              <a:lnSpc>
                <a:spcPct val="150000"/>
              </a:lnSpc>
              <a:spcBef>
                <a:spcPct val="20000"/>
              </a:spcBef>
              <a:spcAft>
                <a:spcPct val="0"/>
              </a:spcAft>
              <a:buNone/>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a:lstStyle>
          <a:p>
            <a:pPr marL="0" marR="0" lvl="0" indent="0" algn="ctr" defTabSz="914400" rtl="0" eaLnBrk="1" hangingPunct="1">
              <a:lnSpc>
                <a:spcPct val="150000"/>
              </a:lnSpc>
              <a:spcBef>
                <a:spcPts val="0"/>
              </a:spcBef>
              <a:spcAft>
                <a:spcPct val="0"/>
              </a:spcAft>
              <a:buClrTx/>
              <a:buSzTx/>
              <a:buFontTx/>
              <a:buNone/>
              <a:defRPr/>
            </a:pPr>
            <a:r>
              <a:rPr kumimoji="1" lang="zh-CN" altLang="en-US" b="1" i="0" u="none" strike="noStrike" kern="0" cap="none" spc="0" normalizeH="0" baseline="0" noProof="0" dirty="0" smtClean="0">
                <a:ln>
                  <a:noFill/>
                </a:ln>
                <a:solidFill>
                  <a:srgbClr val="FF0000"/>
                </a:solidFill>
                <a:effectLst/>
                <a:uLnTx/>
                <a:uFillTx/>
                <a:latin typeface="+mn-ea"/>
                <a:ea typeface="+mn-ea"/>
                <a:cs typeface="+mn-cs"/>
              </a:rPr>
              <a:t>其它</a:t>
            </a:r>
            <a:r>
              <a:rPr kumimoji="1" lang="en-US" altLang="zh-CN" b="1" i="0" u="none" strike="noStrike" kern="0" cap="none" spc="0" normalizeH="0" baseline="0" noProof="0" dirty="0" smtClean="0">
                <a:ln>
                  <a:noFill/>
                </a:ln>
                <a:solidFill>
                  <a:srgbClr val="FF0000"/>
                </a:solidFill>
                <a:effectLst/>
                <a:uLnTx/>
                <a:uFillTx/>
                <a:latin typeface="+mn-ea"/>
                <a:ea typeface="+mn-ea"/>
                <a:cs typeface="+mn-cs"/>
              </a:rPr>
              <a:t>TLB</a:t>
            </a:r>
            <a:r>
              <a:rPr kumimoji="1" lang="zh-CN" altLang="en-US" b="1" i="0" u="none" strike="noStrike" kern="0" cap="none" spc="0" normalizeH="0" baseline="0" noProof="0" dirty="0" smtClean="0">
                <a:ln>
                  <a:noFill/>
                </a:ln>
                <a:solidFill>
                  <a:srgbClr val="FF0000"/>
                </a:solidFill>
                <a:effectLst/>
                <a:uLnTx/>
                <a:uFillTx/>
                <a:latin typeface="+mn-ea"/>
                <a:ea typeface="+mn-ea"/>
                <a:cs typeface="+mn-cs"/>
              </a:rPr>
              <a:t>异常</a:t>
            </a:r>
            <a:endParaRPr kumimoji="1" lang="zh-CN" altLang="en-US"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更新</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CSR.CRMD</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，其中PLV、IE域的旧值被记录至CSR.PRMD</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触发异常指令</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PC</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填入</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CSR</a:t>
            </a:r>
            <a:r>
              <a:rPr kumimoji="1" lang="en-US" altLang="en-US" sz="1600" b="1" i="0" u="none" strike="noStrike" kern="0" cap="none" spc="0" normalizeH="0" baseline="0" noProof="0" dirty="0" smtClean="0">
                <a:ln>
                  <a:noFill/>
                </a:ln>
                <a:solidFill>
                  <a:schemeClr val="tx1"/>
                </a:solidFill>
                <a:effectLst/>
                <a:uLnTx/>
                <a:uFillTx/>
                <a:latin typeface="+mn-ea"/>
                <a:ea typeface="+mn-ea"/>
                <a:cs typeface="+mn-cs"/>
              </a:rPr>
              <a:t>.ERA</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的</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PC</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域</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hangingPunct="1">
              <a:lnSpc>
                <a:spcPct val="150000"/>
              </a:lnSpc>
              <a:spcBef>
                <a:spcPts val="0"/>
              </a:spcBef>
              <a:spcAft>
                <a:spcPct val="0"/>
              </a:spcAft>
              <a:buClrTx/>
              <a:buSzTx/>
              <a:buFontTx/>
              <a:buChar char="•"/>
              <a:defRPr/>
            </a:pP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err="1" smtClean="0">
                <a:ln>
                  <a:noFill/>
                </a:ln>
                <a:solidFill>
                  <a:schemeClr val="tx1"/>
                </a:solidFill>
                <a:effectLst/>
                <a:uLnTx/>
                <a:uFillTx/>
                <a:latin typeface="+mn-ea"/>
                <a:ea typeface="+mn-ea"/>
                <a:cs typeface="+mn-cs"/>
              </a:rPr>
              <a:t>引发该异常的访存虚地址填入CSR.BAV的VAddr域</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hangingPunct="1">
              <a:lnSpc>
                <a:spcPct val="150000"/>
              </a:lnSpc>
              <a:spcBef>
                <a:spcPts val="0"/>
              </a:spcBef>
              <a:spcAft>
                <a:spcPct val="0"/>
              </a:spcAft>
              <a:buClrTx/>
              <a:buSzTx/>
              <a:buFontTx/>
              <a:buChar char="•"/>
              <a:defRPr/>
            </a:pP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hangingPunct="1">
              <a:lnSpc>
                <a:spcPct val="150000"/>
              </a:lnSpc>
              <a:spcBef>
                <a:spcPts val="0"/>
              </a:spcBef>
              <a:spcAft>
                <a:spcPct val="0"/>
              </a:spcAft>
              <a:buClrTx/>
              <a:buSzTx/>
              <a:buFontTx/>
              <a:buChar char="•"/>
              <a:defRPr/>
            </a:pP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cs"/>
              </a:rPr>
              <a:t>PC=</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cs"/>
              </a:rPr>
              <a:t>对应异常入口地址</a:t>
            </a:r>
            <a:endParaRPr kumimoji="1" lang="en-US" altLang="zh-CN" sz="16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1203" name="Rectangle 2"/>
          <p:cNvSpPr>
            <a:spLocks noGrp="1"/>
          </p:cNvSpPr>
          <p:nvPr>
            <p:ph type="title"/>
          </p:nvPr>
        </p:nvSpPr>
        <p:spPr>
          <a:xfrm>
            <a:off x="330200" y="190500"/>
            <a:ext cx="11461750" cy="1143000"/>
          </a:xfrm>
        </p:spPr>
        <p:txBody>
          <a:bodyPr vert="horz" wrap="square" lIns="91440" tIns="45720" rIns="91440" bIns="45720" anchor="ctr" anchorCtr="0"/>
          <a:p>
            <a:pPr eaLnBrk="1" hangingPunct="1"/>
            <a:r>
              <a:rPr lang="en-US" altLang="zh-CN" dirty="0"/>
              <a:t>Linux/</a:t>
            </a:r>
            <a:r>
              <a:rPr lang="zh-CN" altLang="en-US" dirty="0"/>
              <a:t>LoongArch的三级页表及其查找过程</a:t>
            </a:r>
            <a:endParaRPr lang="zh-CN" altLang="en-US" dirty="0"/>
          </a:p>
        </p:txBody>
      </p:sp>
      <p:pic>
        <p:nvPicPr>
          <p:cNvPr id="51204" name="图片 1" descr="图3.5改V3"/>
          <p:cNvPicPr>
            <a:picLocks noChangeAspect="1"/>
          </p:cNvPicPr>
          <p:nvPr/>
        </p:nvPicPr>
        <p:blipFill>
          <a:blip r:embed="rId1"/>
          <a:stretch>
            <a:fillRect/>
          </a:stretch>
        </p:blipFill>
        <p:spPr>
          <a:xfrm>
            <a:off x="476250" y="1812925"/>
            <a:ext cx="11237913" cy="3840163"/>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2227" name="Rectangle 2"/>
          <p:cNvSpPr>
            <a:spLocks noGrp="1"/>
          </p:cNvSpPr>
          <p:nvPr>
            <p:ph type="title"/>
          </p:nvPr>
        </p:nvSpPr>
        <p:spPr>
          <a:xfrm>
            <a:off x="971550" y="200025"/>
            <a:ext cx="10361613" cy="1143000"/>
          </a:xfrm>
        </p:spPr>
        <p:txBody>
          <a:bodyPr vert="horz" wrap="square" lIns="91440" tIns="45720" rIns="91440" bIns="45720" anchor="ctr" anchorCtr="0"/>
          <a:p>
            <a:pPr eaLnBrk="1" hangingPunct="1"/>
            <a:r>
              <a:rPr lang="zh-CN" altLang="zh-CN" dirty="0"/>
              <a:t>LoongArch</a:t>
            </a:r>
            <a:r>
              <a:rPr lang="zh-CN" altLang="en-US" dirty="0"/>
              <a:t>与</a:t>
            </a:r>
            <a:r>
              <a:rPr lang="en-US" altLang="zh-CN" dirty="0"/>
              <a:t>TLB</a:t>
            </a:r>
            <a:r>
              <a:rPr lang="zh-CN" altLang="en-US" dirty="0"/>
              <a:t>有关的控制寄存器</a:t>
            </a:r>
            <a:endParaRPr lang="zh-CN" altLang="en-US" dirty="0"/>
          </a:p>
        </p:txBody>
      </p:sp>
      <p:pic>
        <p:nvPicPr>
          <p:cNvPr id="52228" name="图片 3" descr="Screenshot_副本"/>
          <p:cNvPicPr>
            <a:picLocks noChangeAspect="1"/>
          </p:cNvPicPr>
          <p:nvPr/>
        </p:nvPicPr>
        <p:blipFill>
          <a:blip r:embed="rId1"/>
          <a:stretch>
            <a:fillRect/>
          </a:stretch>
        </p:blipFill>
        <p:spPr>
          <a:xfrm>
            <a:off x="628650" y="1343025"/>
            <a:ext cx="11360150" cy="5273675"/>
          </a:xfrm>
          <a:prstGeom prst="rect">
            <a:avLst/>
          </a:prstGeom>
          <a:noFill/>
          <a:ln w="9525">
            <a:noFill/>
          </a:ln>
        </p:spPr>
      </p:pic>
      <p:grpSp>
        <p:nvGrpSpPr>
          <p:cNvPr id="2" name="组合 13"/>
          <p:cNvGrpSpPr/>
          <p:nvPr/>
        </p:nvGrpSpPr>
        <p:grpSpPr>
          <a:xfrm>
            <a:off x="4440238" y="3960818"/>
            <a:ext cx="7104062" cy="2124070"/>
            <a:chOff x="3330429" y="3960632"/>
            <a:chExt cx="5329806" cy="2124312"/>
          </a:xfrm>
        </p:grpSpPr>
        <p:sp>
          <p:nvSpPr>
            <p:cNvPr id="52230" name="TextBox 4"/>
            <p:cNvSpPr txBox="1"/>
            <p:nvPr/>
          </p:nvSpPr>
          <p:spPr>
            <a:xfrm>
              <a:off x="8137321" y="5629015"/>
              <a:ext cx="520117" cy="214019"/>
            </a:xfrm>
            <a:prstGeom prst="rect">
              <a:avLst/>
            </a:prstGeom>
            <a:solidFill>
              <a:srgbClr val="FFFF00"/>
            </a:solidFill>
            <a:ln w="9525">
              <a:noFill/>
            </a:ln>
          </p:spPr>
          <p:txBody>
            <a:bodyPr>
              <a:spAutoFit/>
            </a:bodyPr>
            <a:p>
              <a:pPr algn="ctr"/>
              <a:r>
                <a:rPr lang="en-US" altLang="zh-CN" sz="800" b="1" dirty="0">
                  <a:solidFill>
                    <a:srgbClr val="FF0000"/>
                  </a:solidFill>
                  <a:latin typeface="宋体" panose="02000500000000000000" pitchFamily="2" charset="-122"/>
                </a:rPr>
                <a:t>14</a:t>
              </a:r>
              <a:endParaRPr lang="en-US" altLang="zh-CN" sz="800" b="1" dirty="0">
                <a:solidFill>
                  <a:srgbClr val="FF0000"/>
                </a:solidFill>
                <a:latin typeface="宋体" panose="02000500000000000000" pitchFamily="2" charset="-122"/>
              </a:endParaRPr>
            </a:p>
          </p:txBody>
        </p:sp>
        <p:sp>
          <p:nvSpPr>
            <p:cNvPr id="52231" name="TextBox 5"/>
            <p:cNvSpPr txBox="1"/>
            <p:nvPr/>
          </p:nvSpPr>
          <p:spPr>
            <a:xfrm>
              <a:off x="6997815" y="5622024"/>
              <a:ext cx="520117" cy="215444"/>
            </a:xfrm>
            <a:prstGeom prst="rect">
              <a:avLst/>
            </a:prstGeom>
            <a:solidFill>
              <a:srgbClr val="FFFF00"/>
            </a:solidFill>
            <a:ln w="9525">
              <a:noFill/>
            </a:ln>
          </p:spPr>
          <p:txBody>
            <a:bodyPr>
              <a:spAutoFit/>
            </a:bodyPr>
            <a:p>
              <a:pPr algn="ctr"/>
              <a:r>
                <a:rPr lang="en-US" altLang="zh-CN" sz="800" b="1" dirty="0">
                  <a:solidFill>
                    <a:srgbClr val="FF0000"/>
                  </a:solidFill>
                  <a:latin typeface="宋体" panose="02000500000000000000" pitchFamily="2" charset="-122"/>
                </a:rPr>
                <a:t>25</a:t>
              </a:r>
              <a:endParaRPr lang="en-US" altLang="zh-CN" sz="800" b="1" dirty="0">
                <a:solidFill>
                  <a:srgbClr val="FF0000"/>
                </a:solidFill>
                <a:latin typeface="宋体" panose="02000500000000000000" pitchFamily="2" charset="-122"/>
              </a:endParaRPr>
            </a:p>
          </p:txBody>
        </p:sp>
        <p:sp>
          <p:nvSpPr>
            <p:cNvPr id="52232" name="TextBox 6"/>
            <p:cNvSpPr txBox="1"/>
            <p:nvPr/>
          </p:nvSpPr>
          <p:spPr>
            <a:xfrm>
              <a:off x="8045043" y="5866703"/>
              <a:ext cx="615192" cy="215444"/>
            </a:xfrm>
            <a:prstGeom prst="rect">
              <a:avLst/>
            </a:prstGeom>
            <a:solidFill>
              <a:srgbClr val="FFFF00"/>
            </a:solidFill>
            <a:ln w="9525">
              <a:noFill/>
            </a:ln>
          </p:spPr>
          <p:txBody>
            <a:bodyPr>
              <a:spAutoFit/>
            </a:bodyPr>
            <a:p>
              <a:pPr algn="ctr"/>
              <a:r>
                <a:rPr lang="en-US" altLang="zh-CN" sz="800" b="1" dirty="0">
                  <a:solidFill>
                    <a:srgbClr val="FF0000"/>
                  </a:solidFill>
                  <a:latin typeface="宋体" panose="02000500000000000000" pitchFamily="2" charset="-122"/>
                </a:rPr>
                <a:t>36</a:t>
              </a:r>
              <a:endParaRPr lang="en-US" altLang="zh-CN" sz="800" b="1" dirty="0">
                <a:solidFill>
                  <a:srgbClr val="FF0000"/>
                </a:solidFill>
                <a:latin typeface="宋体" panose="02000500000000000000" pitchFamily="2" charset="-122"/>
              </a:endParaRPr>
            </a:p>
          </p:txBody>
        </p:sp>
        <p:sp>
          <p:nvSpPr>
            <p:cNvPr id="52233" name="TextBox 7"/>
            <p:cNvSpPr txBox="1"/>
            <p:nvPr/>
          </p:nvSpPr>
          <p:spPr>
            <a:xfrm>
              <a:off x="7571063" y="5624821"/>
              <a:ext cx="520117" cy="215444"/>
            </a:xfrm>
            <a:prstGeom prst="rect">
              <a:avLst/>
            </a:prstGeom>
            <a:solidFill>
              <a:srgbClr val="FFFF00"/>
            </a:solidFill>
            <a:ln w="9525">
              <a:noFill/>
            </a:ln>
          </p:spPr>
          <p:txBody>
            <a:bodyPr>
              <a:spAutoFit/>
            </a:bodyPr>
            <a:p>
              <a:pPr algn="ctr"/>
              <a:r>
                <a:rPr lang="en-US" altLang="zh-CN" sz="800" b="1" dirty="0">
                  <a:solidFill>
                    <a:srgbClr val="FF0000"/>
                  </a:solidFill>
                  <a:latin typeface="宋体" panose="02000500000000000000" pitchFamily="2" charset="-122"/>
                </a:rPr>
                <a:t>11</a:t>
              </a:r>
              <a:endParaRPr lang="en-US" altLang="zh-CN" sz="800" b="1" dirty="0">
                <a:solidFill>
                  <a:srgbClr val="FF0000"/>
                </a:solidFill>
                <a:latin typeface="宋体" panose="02000500000000000000" pitchFamily="2" charset="-122"/>
              </a:endParaRPr>
            </a:p>
          </p:txBody>
        </p:sp>
        <p:sp>
          <p:nvSpPr>
            <p:cNvPr id="52234" name="TextBox 8"/>
            <p:cNvSpPr txBox="1"/>
            <p:nvPr/>
          </p:nvSpPr>
          <p:spPr>
            <a:xfrm>
              <a:off x="7331978" y="5869500"/>
              <a:ext cx="629174" cy="215444"/>
            </a:xfrm>
            <a:prstGeom prst="rect">
              <a:avLst/>
            </a:prstGeom>
            <a:solidFill>
              <a:srgbClr val="FFFF00"/>
            </a:solidFill>
            <a:ln w="9525">
              <a:noFill/>
            </a:ln>
          </p:spPr>
          <p:txBody>
            <a:bodyPr>
              <a:spAutoFit/>
            </a:bodyPr>
            <a:p>
              <a:pPr algn="ctr"/>
              <a:r>
                <a:rPr lang="en-US" altLang="zh-CN" sz="800" b="1" dirty="0">
                  <a:solidFill>
                    <a:srgbClr val="FF0000"/>
                  </a:solidFill>
                  <a:latin typeface="宋体" panose="02000500000000000000" pitchFamily="2" charset="-122"/>
                </a:rPr>
                <a:t>11</a:t>
              </a:r>
              <a:endParaRPr lang="en-US" altLang="zh-CN" sz="800" b="1" dirty="0">
                <a:solidFill>
                  <a:srgbClr val="FF0000"/>
                </a:solidFill>
                <a:latin typeface="宋体" panose="02000500000000000000" pitchFamily="2" charset="-122"/>
              </a:endParaRPr>
            </a:p>
          </p:txBody>
        </p:sp>
        <p:sp>
          <p:nvSpPr>
            <p:cNvPr id="52235" name="TextBox 9"/>
            <p:cNvSpPr txBox="1"/>
            <p:nvPr/>
          </p:nvSpPr>
          <p:spPr>
            <a:xfrm>
              <a:off x="6409189" y="5627617"/>
              <a:ext cx="543883" cy="215444"/>
            </a:xfrm>
            <a:prstGeom prst="rect">
              <a:avLst/>
            </a:prstGeom>
            <a:solidFill>
              <a:srgbClr val="FFFF00"/>
            </a:solidFill>
            <a:ln w="9525">
              <a:noFill/>
            </a:ln>
          </p:spPr>
          <p:txBody>
            <a:bodyPr>
              <a:spAutoFit/>
            </a:bodyPr>
            <a:p>
              <a:pPr algn="ctr"/>
              <a:r>
                <a:rPr lang="en-US" altLang="zh-CN" sz="800" b="1" dirty="0">
                  <a:solidFill>
                    <a:srgbClr val="FF0000"/>
                  </a:solidFill>
                  <a:latin typeface="宋体" panose="02000500000000000000" pitchFamily="2" charset="-122"/>
                </a:rPr>
                <a:t>11</a:t>
              </a:r>
              <a:endParaRPr lang="en-US" altLang="zh-CN" sz="800" b="1" dirty="0">
                <a:solidFill>
                  <a:srgbClr val="FF0000"/>
                </a:solidFill>
                <a:latin typeface="宋体" panose="02000500000000000000" pitchFamily="2" charset="-122"/>
              </a:endParaRPr>
            </a:p>
          </p:txBody>
        </p:sp>
        <p:sp>
          <p:nvSpPr>
            <p:cNvPr id="52236" name="TextBox 10"/>
            <p:cNvSpPr txBox="1"/>
            <p:nvPr/>
          </p:nvSpPr>
          <p:spPr>
            <a:xfrm>
              <a:off x="5786661" y="3960632"/>
              <a:ext cx="1288054" cy="214019"/>
            </a:xfrm>
            <a:prstGeom prst="rect">
              <a:avLst/>
            </a:prstGeom>
            <a:solidFill>
              <a:srgbClr val="FFFF00"/>
            </a:solidFill>
            <a:ln w="9525" cap="flat" cmpd="sng">
              <a:solidFill>
                <a:srgbClr val="FF0000"/>
              </a:solidFill>
              <a:prstDash val="solid"/>
              <a:miter/>
              <a:headEnd type="none" w="med" len="med"/>
              <a:tailEnd type="none" w="med" len="med"/>
            </a:ln>
          </p:spPr>
          <p:txBody>
            <a:bodyPr>
              <a:spAutoFit/>
            </a:bodyPr>
            <a:p>
              <a:pPr algn="ctr"/>
              <a:r>
                <a:rPr lang="zh-CN" altLang="en-US" sz="800" b="1" dirty="0">
                  <a:solidFill>
                    <a:srgbClr val="FF0000"/>
                  </a:solidFill>
                  <a:latin typeface="宋体" panose="02000500000000000000" pitchFamily="2" charset="-122"/>
                  <a:cs typeface="宋体" panose="02000500000000000000" pitchFamily="2" charset="-122"/>
                </a:rPr>
                <a:t>三级页表（</a:t>
              </a:r>
              <a:r>
                <a:rPr lang="en-US" altLang="zh-CN" sz="800" b="1" dirty="0">
                  <a:solidFill>
                    <a:srgbClr val="FF0000"/>
                  </a:solidFill>
                  <a:latin typeface="宋体" panose="02000500000000000000" pitchFamily="2" charset="-122"/>
                  <a:cs typeface="宋体" panose="02000500000000000000" pitchFamily="2" charset="-122"/>
                </a:rPr>
                <a:t>PTE</a:t>
              </a:r>
              <a:r>
                <a:rPr lang="zh-CN" altLang="en-US" sz="800" b="1" dirty="0">
                  <a:solidFill>
                    <a:srgbClr val="FF0000"/>
                  </a:solidFill>
                  <a:latin typeface="宋体" panose="02000500000000000000" pitchFamily="2" charset="-122"/>
                  <a:cs typeface="宋体" panose="02000500000000000000" pitchFamily="2" charset="-122"/>
                </a:rPr>
                <a:t>）地址</a:t>
              </a:r>
              <a:endParaRPr lang="zh-CN" altLang="en-US" sz="800" b="1" dirty="0">
                <a:solidFill>
                  <a:srgbClr val="FF0000"/>
                </a:solidFill>
                <a:latin typeface="宋体" panose="02000500000000000000" pitchFamily="2" charset="-122"/>
                <a:cs typeface="宋体" panose="02000500000000000000" pitchFamily="2" charset="-122"/>
              </a:endParaRPr>
            </a:p>
          </p:txBody>
        </p:sp>
        <p:sp>
          <p:nvSpPr>
            <p:cNvPr id="52237" name="TextBox 11"/>
            <p:cNvSpPr txBox="1"/>
            <p:nvPr/>
          </p:nvSpPr>
          <p:spPr>
            <a:xfrm>
              <a:off x="4562212" y="3963802"/>
              <a:ext cx="1280718" cy="214019"/>
            </a:xfrm>
            <a:prstGeom prst="rect">
              <a:avLst/>
            </a:prstGeom>
            <a:solidFill>
              <a:srgbClr val="FFFF00"/>
            </a:solidFill>
            <a:ln w="9525" cap="flat" cmpd="sng">
              <a:solidFill>
                <a:srgbClr val="FF0000"/>
              </a:solidFill>
              <a:prstDash val="solid"/>
              <a:miter/>
              <a:headEnd type="none" w="med" len="med"/>
              <a:tailEnd type="none" w="med" len="med"/>
            </a:ln>
          </p:spPr>
          <p:txBody>
            <a:bodyPr>
              <a:spAutoFit/>
            </a:bodyPr>
            <a:p>
              <a:pPr algn="ctr"/>
              <a:r>
                <a:rPr lang="zh-CN" altLang="en-US" sz="800" b="1" dirty="0">
                  <a:solidFill>
                    <a:srgbClr val="FF0000"/>
                  </a:solidFill>
                  <a:latin typeface="宋体" panose="02000500000000000000" pitchFamily="2" charset="-122"/>
                  <a:cs typeface="宋体" panose="02000500000000000000" pitchFamily="2" charset="-122"/>
                </a:rPr>
                <a:t>二级页表（</a:t>
              </a:r>
              <a:r>
                <a:rPr lang="en-US" altLang="zh-CN" sz="800" b="1" dirty="0">
                  <a:solidFill>
                    <a:srgbClr val="FF0000"/>
                  </a:solidFill>
                  <a:latin typeface="宋体" panose="02000500000000000000" pitchFamily="2" charset="-122"/>
                  <a:cs typeface="宋体" panose="02000500000000000000" pitchFamily="2" charset="-122"/>
                </a:rPr>
                <a:t>PMD</a:t>
              </a:r>
              <a:r>
                <a:rPr lang="zh-CN" altLang="en-US" sz="800" b="1" dirty="0">
                  <a:solidFill>
                    <a:srgbClr val="FF0000"/>
                  </a:solidFill>
                  <a:latin typeface="宋体" panose="02000500000000000000" pitchFamily="2" charset="-122"/>
                  <a:cs typeface="宋体" panose="02000500000000000000" pitchFamily="2" charset="-122"/>
                </a:rPr>
                <a:t>）地址</a:t>
              </a:r>
              <a:endParaRPr lang="zh-CN" altLang="en-US" sz="800" b="1" dirty="0">
                <a:solidFill>
                  <a:srgbClr val="FF0000"/>
                </a:solidFill>
                <a:latin typeface="宋体" panose="02000500000000000000" pitchFamily="2" charset="-122"/>
                <a:cs typeface="宋体" panose="02000500000000000000" pitchFamily="2" charset="-122"/>
              </a:endParaRPr>
            </a:p>
          </p:txBody>
        </p:sp>
        <p:sp>
          <p:nvSpPr>
            <p:cNvPr id="52238" name="TextBox 12"/>
            <p:cNvSpPr txBox="1"/>
            <p:nvPr/>
          </p:nvSpPr>
          <p:spPr>
            <a:xfrm>
              <a:off x="3330429" y="3965200"/>
              <a:ext cx="1280718" cy="214019"/>
            </a:xfrm>
            <a:prstGeom prst="rect">
              <a:avLst/>
            </a:prstGeom>
            <a:solidFill>
              <a:srgbClr val="FFFF00"/>
            </a:solidFill>
            <a:ln w="9525" cap="flat" cmpd="sng">
              <a:solidFill>
                <a:srgbClr val="FF0000"/>
              </a:solidFill>
              <a:prstDash val="solid"/>
              <a:miter/>
              <a:headEnd type="none" w="med" len="med"/>
              <a:tailEnd type="none" w="med" len="med"/>
            </a:ln>
          </p:spPr>
          <p:txBody>
            <a:bodyPr>
              <a:spAutoFit/>
            </a:bodyPr>
            <a:p>
              <a:pPr algn="ctr"/>
              <a:r>
                <a:rPr lang="zh-CN" altLang="en-US" sz="800" b="1" dirty="0">
                  <a:solidFill>
                    <a:srgbClr val="FF0000"/>
                  </a:solidFill>
                  <a:latin typeface="宋体" panose="02000500000000000000" pitchFamily="2" charset="-122"/>
                  <a:cs typeface="宋体" panose="02000500000000000000" pitchFamily="2" charset="-122"/>
                </a:rPr>
                <a:t>二级页表（</a:t>
              </a:r>
              <a:r>
                <a:rPr lang="en-US" altLang="zh-CN" sz="800" b="1" dirty="0">
                  <a:solidFill>
                    <a:srgbClr val="FF0000"/>
                  </a:solidFill>
                  <a:latin typeface="宋体" panose="02000500000000000000" pitchFamily="2" charset="-122"/>
                  <a:cs typeface="宋体" panose="02000500000000000000" pitchFamily="2" charset="-122"/>
                </a:rPr>
                <a:t>PGD</a:t>
              </a:r>
              <a:r>
                <a:rPr lang="zh-CN" altLang="en-US" sz="800" b="1" dirty="0">
                  <a:solidFill>
                    <a:srgbClr val="FF0000"/>
                  </a:solidFill>
                  <a:latin typeface="宋体" panose="02000500000000000000" pitchFamily="2" charset="-122"/>
                  <a:cs typeface="宋体" panose="02000500000000000000" pitchFamily="2" charset="-122"/>
                </a:rPr>
                <a:t>）地址</a:t>
              </a:r>
              <a:endParaRPr lang="zh-CN" altLang="en-US" sz="800" b="1" dirty="0">
                <a:solidFill>
                  <a:srgbClr val="FF0000"/>
                </a:solidFill>
                <a:latin typeface="宋体" panose="02000500000000000000" pitchFamily="2" charset="-122"/>
                <a:cs typeface="宋体" panose="02000500000000000000"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3251" name="Rectangle 2"/>
          <p:cNvSpPr>
            <a:spLocks noGrp="1"/>
          </p:cNvSpPr>
          <p:nvPr>
            <p:ph type="title"/>
          </p:nvPr>
        </p:nvSpPr>
        <p:spPr>
          <a:xfrm>
            <a:off x="900113" y="200025"/>
            <a:ext cx="10361612" cy="1143000"/>
          </a:xfrm>
        </p:spPr>
        <p:txBody>
          <a:bodyPr vert="horz" wrap="square" lIns="91440" tIns="45720" rIns="91440" bIns="45720" anchor="ctr" anchorCtr="0"/>
          <a:p>
            <a:pPr eaLnBrk="1" hangingPunct="1"/>
            <a:r>
              <a:rPr lang="en-US" altLang="zh-CN" dirty="0"/>
              <a:t>Linux/</a:t>
            </a:r>
            <a:r>
              <a:rPr lang="zh-CN" altLang="en-US" dirty="0"/>
              <a:t>LoongArch内存中的页表组织</a:t>
            </a:r>
            <a:endParaRPr lang="zh-CN" altLang="en-US" dirty="0"/>
          </a:p>
        </p:txBody>
      </p:sp>
      <p:sp>
        <p:nvSpPr>
          <p:cNvPr id="72707" name="Rectangle 3"/>
          <p:cNvSpPr>
            <a:spLocks noGrp="1" noChangeArrowheads="1"/>
          </p:cNvSpPr>
          <p:nvPr>
            <p:ph idx="1"/>
          </p:nvPr>
        </p:nvSpPr>
        <p:spPr>
          <a:xfrm>
            <a:off x="914400" y="1495425"/>
            <a:ext cx="10361613" cy="4600575"/>
          </a:xfrm>
        </p:spPr>
        <p:txBody>
          <a:bodyPr vert="horz" wrap="square" lIns="91440" tIns="45720" rIns="91440" bIns="45720" numCol="1" anchor="t" anchorCtr="0" compatLnSpc="1"/>
          <a:lstStyle/>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三级页表，每项</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8</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个字节</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页表项内容</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PPN</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：物理页号</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Flags</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：RPLV、NX、NR、PPN、W、P、G、MAT、PLV、D、V</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en-US" altLang="zh-CN" sz="1600" b="1" i="0" u="none" strike="noStrike" kern="0" cap="none" spc="0" normalizeH="0" baseline="0" noProof="0" dirty="0" err="1" smtClean="0">
                <a:ln>
                  <a:noFill/>
                </a:ln>
                <a:solidFill>
                  <a:schemeClr val="tx1"/>
                </a:solidFill>
                <a:effectLst/>
                <a:uLnTx/>
                <a:uFillTx/>
                <a:latin typeface="+mn-ea"/>
                <a:ea typeface="+mn-ea"/>
                <a:cs typeface="+mn-ea"/>
              </a:rPr>
              <a:t>exts</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：软件扩展位，用于维护一些硬件没有实现的功能</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页表通过直接映射方式访问</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页表访问不引起</a:t>
            </a:r>
            <a:r>
              <a:rPr kumimoji="1" lang="en-US" altLang="zh-CN" sz="1600" b="1" i="0" u="none" strike="noStrike" kern="0" cap="none" spc="0" normalizeH="0" baseline="0" noProof="0" dirty="0" smtClean="0">
                <a:ln>
                  <a:noFill/>
                </a:ln>
                <a:solidFill>
                  <a:schemeClr val="tx1"/>
                </a:solidFill>
                <a:effectLst/>
                <a:uLnTx/>
                <a:uFillTx/>
                <a:latin typeface="+mn-ea"/>
                <a:ea typeface="+mn-ea"/>
                <a:cs typeface="+mn-ea"/>
              </a:rPr>
              <a:t>TLB</a:t>
            </a: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相关异常</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720725" marR="0" lvl="1" indent="-360680" algn="l" defTabSz="914400" rtl="0" eaLnBrk="1" fontAlgn="base" latinLnBrk="0" hangingPunct="1">
              <a:lnSpc>
                <a:spcPct val="150000"/>
              </a:lnSpc>
              <a:spcBef>
                <a:spcPts val="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cs typeface="+mn-ea"/>
              </a:rPr>
              <a:t>页表存储空间在使用到的时候分配</a:t>
            </a:r>
            <a:endParaRPr kumimoji="1" lang="zh-CN" altLang="en-US" sz="1600" b="1" i="0" u="none" strike="noStrike" kern="0" cap="none" spc="0" normalizeH="0" baseline="0" noProof="0" dirty="0" smtClean="0">
              <a:ln>
                <a:noFill/>
              </a:ln>
              <a:solidFill>
                <a:schemeClr val="tx1"/>
              </a:solidFill>
              <a:effectLst/>
              <a:uLnTx/>
              <a:uFillTx/>
              <a:latin typeface="+mn-ea"/>
              <a:ea typeface="+mn-ea"/>
              <a:cs typeface="+mn-ea"/>
            </a:endParaRPr>
          </a:p>
          <a:p>
            <a:pPr marL="360680" marR="0" lvl="0" indent="-360680" algn="l" defTabSz="914400" rtl="0" eaLnBrk="1" fontAlgn="base" latinLnBrk="0" hangingPunct="1">
              <a:lnSpc>
                <a:spcPct val="150000"/>
              </a:lnSpc>
              <a:spcBef>
                <a:spcPts val="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每个进程的页表基地址存放在进程上下文中</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720725" marR="0" lvl="1" indent="-360680" algn="l" defTabSz="914400" rtl="0" eaLnBrk="1" fontAlgn="base" latinLnBrk="0" hangingPunct="1">
              <a:lnSpc>
                <a:spcPct val="150000"/>
              </a:lnSpc>
              <a:spcBef>
                <a:spcPts val="0"/>
              </a:spcBef>
              <a:spcAft>
                <a:spcPct val="0"/>
              </a:spcAft>
              <a:buClrTx/>
              <a:buSzTx/>
              <a:buFontTx/>
              <a:buChar char="•"/>
              <a:defRPr/>
            </a:pPr>
            <a:endParaRPr kumimoji="1" lang="en-US" altLang="zh-CN" sz="1800" b="1" i="0" u="none" strike="noStrike" kern="0" cap="none" spc="0" normalizeH="0" baseline="0" noProof="0" dirty="0" smtClean="0">
              <a:ln>
                <a:noFill/>
              </a:ln>
              <a:solidFill>
                <a:schemeClr val="tx1"/>
              </a:solidFill>
              <a:effectLst/>
              <a:uLnTx/>
              <a:uFillTx/>
              <a:latin typeface="+mn-ea"/>
              <a:ea typeface="+mn-ea"/>
              <a:cs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4275" name="Rectangle 2"/>
          <p:cNvSpPr>
            <a:spLocks noGrp="1"/>
          </p:cNvSpPr>
          <p:nvPr>
            <p:ph type="title"/>
          </p:nvPr>
        </p:nvSpPr>
        <p:spPr>
          <a:xfrm>
            <a:off x="884238" y="0"/>
            <a:ext cx="10361612" cy="1011238"/>
          </a:xfrm>
        </p:spPr>
        <p:txBody>
          <a:bodyPr vert="horz" wrap="square" lIns="91440" tIns="45720" rIns="91440" bIns="45720" anchor="ctr" anchorCtr="0"/>
          <a:p>
            <a:pPr eaLnBrk="1" hangingPunct="1"/>
            <a:r>
              <a:rPr lang="zh-CN" altLang="en-US" dirty="0"/>
              <a:t>加速多级页表遍历</a:t>
            </a:r>
            <a:endParaRPr lang="zh-CN" altLang="en-US" dirty="0"/>
          </a:p>
        </p:txBody>
      </p:sp>
      <p:sp>
        <p:nvSpPr>
          <p:cNvPr id="54276" name="Rectangle 4"/>
          <p:cNvSpPr/>
          <p:nvPr/>
        </p:nvSpPr>
        <p:spPr>
          <a:xfrm>
            <a:off x="914400" y="869950"/>
            <a:ext cx="10331450" cy="5836285"/>
          </a:xfrm>
          <a:prstGeom prst="rect">
            <a:avLst/>
          </a:prstGeom>
          <a:noFill/>
          <a:ln w="9525">
            <a:noFill/>
          </a:ln>
        </p:spPr>
        <p:txBody>
          <a:bodyPr/>
          <a:p>
            <a:pPr marL="342900" indent="-342900" fontAlgn="base" hangingPunct="0">
              <a:lnSpc>
                <a:spcPct val="150000"/>
              </a:lnSpc>
              <a:spcBef>
                <a:spcPts val="0"/>
              </a:spcBef>
              <a:buFont typeface="Arial" panose="02080604020202020204" pitchFamily="34" charset="0"/>
              <a:buChar char="•"/>
            </a:pPr>
            <a:r>
              <a:rPr lang="zh-CN" altLang="en-US" sz="1800" b="1" dirty="0">
                <a:latin typeface="宋体" panose="02000500000000000000" pitchFamily="2" charset="-122"/>
              </a:rPr>
              <a:t>定义LDDIR和LDPTE指令以及PWCL和PWCH</a:t>
            </a:r>
            <a:r>
              <a:rPr lang="en-US" altLang="zh-CN" sz="1800" b="1" dirty="0">
                <a:latin typeface="宋体" panose="02000500000000000000" pitchFamily="2" charset="-122"/>
              </a:rPr>
              <a:t> CSR</a:t>
            </a:r>
            <a:r>
              <a:rPr lang="zh-CN" altLang="en-US" sz="1800" b="1" dirty="0">
                <a:latin typeface="宋体" panose="02000500000000000000" pitchFamily="2" charset="-122"/>
              </a:rPr>
              <a:t>加速多级页表遍历</a:t>
            </a:r>
            <a:endParaRPr lang="zh-CN" altLang="en-US" sz="1800" b="1" dirty="0">
              <a:latin typeface="宋体" panose="02000500000000000000" pitchFamily="2" charset="-122"/>
            </a:endParaRPr>
          </a:p>
          <a:p>
            <a:pPr marL="342900" indent="-342900" fontAlgn="base" hangingPunct="0">
              <a:lnSpc>
                <a:spcPct val="150000"/>
              </a:lnSpc>
              <a:spcBef>
                <a:spcPts val="0"/>
              </a:spcBef>
              <a:buFont typeface="Arial" panose="02080604020202020204" pitchFamily="34" charset="0"/>
              <a:buChar char="•"/>
            </a:pPr>
            <a:r>
              <a:rPr lang="zh-CN" altLang="en-US" sz="1600" b="1" smtClean="0">
                <a:ln>
                  <a:noFill/>
                </a:ln>
                <a:solidFill>
                  <a:srgbClr val="FF0000"/>
                </a:solidFill>
                <a:effectLst/>
                <a:latin typeface="宋体" panose="02000500000000000000" pitchFamily="2" charset="-122"/>
                <a:sym typeface="+mn-ea"/>
              </a:rPr>
              <a:t>“</a:t>
            </a:r>
            <a:r>
              <a:rPr lang="en-US" altLang="zh-CN" sz="1600" b="1" smtClean="0">
                <a:ln>
                  <a:noFill/>
                </a:ln>
                <a:solidFill>
                  <a:srgbClr val="FF0000"/>
                </a:solidFill>
                <a:effectLst/>
                <a:latin typeface="宋体" panose="02000500000000000000" pitchFamily="2" charset="-122"/>
                <a:sym typeface="+mn-ea"/>
              </a:rPr>
              <a:t>LDDIR rd, rj, level</a:t>
            </a:r>
            <a:r>
              <a:rPr lang="zh-CN" altLang="en-US" sz="1600" b="1" smtClean="0">
                <a:ln>
                  <a:noFill/>
                </a:ln>
                <a:solidFill>
                  <a:srgbClr val="FF0000"/>
                </a:solidFill>
                <a:effectLst/>
                <a:latin typeface="宋体" panose="02000500000000000000" pitchFamily="2" charset="-122"/>
                <a:sym typeface="+mn-ea"/>
              </a:rPr>
              <a:t>”指令</a:t>
            </a:r>
            <a:endParaRPr lang="zh-CN" altLang="en-US" sz="1600" b="1" smtClean="0">
              <a:ln>
                <a:noFill/>
              </a:ln>
              <a:solidFill>
                <a:srgbClr val="FF0000"/>
              </a:solidFill>
              <a:effectLst/>
              <a:latin typeface="宋体" panose="02000500000000000000" pitchFamily="2" charset="-122"/>
              <a:sym typeface="+mn-ea"/>
            </a:endParaRPr>
          </a:p>
          <a:p>
            <a:pPr marL="800100" lvl="1" indent="-342900" fontAlgn="base" hangingPunct="0">
              <a:lnSpc>
                <a:spcPct val="150000"/>
              </a:lnSpc>
              <a:spcBef>
                <a:spcPts val="0"/>
              </a:spcBef>
              <a:buFont typeface="Arial" panose="02080604020202020204" pitchFamily="34" charset="0"/>
              <a:buChar char="•"/>
            </a:pPr>
            <a:r>
              <a:rPr lang="en-US" altLang="zh-CN" sz="1400" b="1" smtClean="0">
                <a:ln>
                  <a:noFill/>
                </a:ln>
                <a:solidFill>
                  <a:srgbClr val="000000"/>
                </a:solidFill>
                <a:effectLst/>
                <a:latin typeface="宋体" panose="02000500000000000000" pitchFamily="2" charset="-122"/>
                <a:sym typeface="+mn-ea"/>
              </a:rPr>
              <a:t>将rj寄存器中的值作为当前页目录表的基地址，同时根据CSR.TLBRBADV中VAddr域存放的TLB缺失地址以及PWCL、PWCH寄存器中定义的页目录表level的索引的起始位置和位宽信息计算出当前目录页表的偏移量，两者相加作为访存地址，从内存中读取第待访问页目录表/页表的基址，写入到rd寄存器中。</a:t>
            </a:r>
            <a:endParaRPr lang="en-US" altLang="zh-CN" sz="1400" b="1" smtClean="0">
              <a:ln>
                <a:noFill/>
              </a:ln>
              <a:solidFill>
                <a:srgbClr val="000000"/>
              </a:solidFill>
              <a:effectLst/>
              <a:latin typeface="宋体" panose="02000500000000000000" pitchFamily="2" charset="-122"/>
              <a:sym typeface="+mn-ea"/>
            </a:endParaRPr>
          </a:p>
          <a:p>
            <a:pPr marL="342900" indent="-342900" fontAlgn="base" hangingPunct="0">
              <a:lnSpc>
                <a:spcPct val="150000"/>
              </a:lnSpc>
              <a:spcBef>
                <a:spcPts val="0"/>
              </a:spcBef>
              <a:buFont typeface="Arial" panose="02080604020202020204" pitchFamily="34" charset="0"/>
              <a:buChar char="•"/>
            </a:pPr>
            <a:r>
              <a:rPr lang="zh-CN" altLang="en-US" sz="1600" b="1" smtClean="0">
                <a:ln>
                  <a:noFill/>
                </a:ln>
                <a:solidFill>
                  <a:srgbClr val="FF0000"/>
                </a:solidFill>
                <a:effectLst/>
                <a:latin typeface="宋体" panose="02000500000000000000" pitchFamily="2" charset="-122"/>
                <a:sym typeface="+mn-ea"/>
              </a:rPr>
              <a:t>“</a:t>
            </a:r>
            <a:r>
              <a:rPr lang="en-US" altLang="zh-CN" sz="1600" b="1" smtClean="0">
                <a:ln>
                  <a:noFill/>
                </a:ln>
                <a:solidFill>
                  <a:srgbClr val="FF0000"/>
                </a:solidFill>
                <a:effectLst/>
                <a:latin typeface="宋体" panose="02000500000000000000" pitchFamily="2" charset="-122"/>
                <a:sym typeface="+mn-ea"/>
              </a:rPr>
              <a:t>LDPTE rj, seq</a:t>
            </a:r>
            <a:r>
              <a:rPr lang="zh-CN" altLang="en-US" sz="1600" b="1" smtClean="0">
                <a:ln>
                  <a:noFill/>
                </a:ln>
                <a:solidFill>
                  <a:srgbClr val="FF0000"/>
                </a:solidFill>
                <a:effectLst/>
                <a:latin typeface="宋体" panose="02000500000000000000" pitchFamily="2" charset="-122"/>
                <a:sym typeface="+mn-ea"/>
              </a:rPr>
              <a:t>”指令</a:t>
            </a:r>
            <a:endParaRPr lang="zh-CN" altLang="en-US" sz="1600" b="1" smtClean="0">
              <a:ln>
                <a:noFill/>
              </a:ln>
              <a:solidFill>
                <a:srgbClr val="FF0000"/>
              </a:solidFill>
              <a:effectLst/>
              <a:latin typeface="宋体" panose="02000500000000000000" pitchFamily="2" charset="-122"/>
              <a:sym typeface="+mn-ea"/>
            </a:endParaRPr>
          </a:p>
          <a:p>
            <a:pPr marL="800100" lvl="1" indent="-342900" fontAlgn="base" hangingPunct="0">
              <a:lnSpc>
                <a:spcPct val="150000"/>
              </a:lnSpc>
              <a:spcBef>
                <a:spcPts val="0"/>
              </a:spcBef>
              <a:buFont typeface="Arial" panose="02080604020202020204" pitchFamily="34" charset="0"/>
              <a:buChar char="•"/>
            </a:pPr>
            <a:r>
              <a:rPr lang="en-US" altLang="zh-CN" sz="1400" b="1" dirty="0" smtClean="0">
                <a:ln>
                  <a:noFill/>
                </a:ln>
                <a:solidFill>
                  <a:srgbClr val="000000"/>
                </a:solidFill>
                <a:effectLst/>
                <a:latin typeface="宋体" panose="02000500000000000000" pitchFamily="2" charset="-122"/>
                <a:sym typeface="+mn-ea"/>
              </a:rPr>
              <a:t>将rj寄存器中的值作为末级页表的基地址，同时根据CSR.TLBRBADV中VAddr域存放的TLB缺失地址以及PWCL、PWCH寄存器中定义的末级页表索引的起始位置和位宽信息计算出末级页表的偏移量，两者相加作为访存地址，从内存中读取偶数号(</a:t>
            </a:r>
            <a:r>
              <a:rPr lang="en-US" altLang="zh-CN" sz="1400" b="1" dirty="0" err="1" smtClean="0">
                <a:ln>
                  <a:noFill/>
                </a:ln>
                <a:solidFill>
                  <a:srgbClr val="000000"/>
                </a:solidFill>
                <a:effectLst/>
                <a:latin typeface="宋体" panose="02000500000000000000" pitchFamily="2" charset="-122"/>
                <a:sym typeface="+mn-ea"/>
              </a:rPr>
              <a:t>seq</a:t>
            </a:r>
            <a:r>
              <a:rPr lang="en-US" altLang="zh-CN" sz="1400" b="1" dirty="0" smtClean="0">
                <a:ln>
                  <a:noFill/>
                </a:ln>
                <a:solidFill>
                  <a:srgbClr val="000000"/>
                </a:solidFill>
                <a:effectLst/>
                <a:latin typeface="宋体" panose="02000500000000000000" pitchFamily="2" charset="-122"/>
                <a:sym typeface="+mn-ea"/>
              </a:rPr>
              <a:t>=0)</a:t>
            </a:r>
            <a:r>
              <a:rPr lang="en-US" altLang="zh-CN" sz="1400" b="1" dirty="0" err="1" smtClean="0">
                <a:ln>
                  <a:noFill/>
                </a:ln>
                <a:solidFill>
                  <a:srgbClr val="000000"/>
                </a:solidFill>
                <a:effectLst/>
                <a:latin typeface="宋体" panose="02000500000000000000" pitchFamily="2" charset="-122"/>
                <a:sym typeface="+mn-ea"/>
              </a:rPr>
              <a:t>或奇数号</a:t>
            </a:r>
            <a:r>
              <a:rPr lang="en-US" altLang="zh-CN" sz="1400" b="1" dirty="0" smtClean="0">
                <a:ln>
                  <a:noFill/>
                </a:ln>
                <a:solidFill>
                  <a:srgbClr val="000000"/>
                </a:solidFill>
                <a:effectLst/>
                <a:latin typeface="宋体" panose="02000500000000000000" pitchFamily="2" charset="-122"/>
                <a:sym typeface="+mn-ea"/>
              </a:rPr>
              <a:t>(</a:t>
            </a:r>
            <a:r>
              <a:rPr lang="en-US" altLang="zh-CN" sz="1400" b="1" dirty="0" err="1" smtClean="0">
                <a:ln>
                  <a:noFill/>
                </a:ln>
                <a:solidFill>
                  <a:srgbClr val="000000"/>
                </a:solidFill>
                <a:effectLst/>
                <a:latin typeface="宋体" panose="02000500000000000000" pitchFamily="2" charset="-122"/>
                <a:sym typeface="+mn-ea"/>
              </a:rPr>
              <a:t>seq</a:t>
            </a:r>
            <a:r>
              <a:rPr lang="en-US" altLang="zh-CN" sz="1400" b="1" dirty="0" smtClean="0">
                <a:ln>
                  <a:noFill/>
                </a:ln>
                <a:solidFill>
                  <a:srgbClr val="000000"/>
                </a:solidFill>
                <a:effectLst/>
                <a:latin typeface="宋体" panose="02000500000000000000" pitchFamily="2" charset="-122"/>
                <a:sym typeface="+mn-ea"/>
              </a:rPr>
              <a:t>=1)页表项的内容，将其写入到TLBRELO0或TLBRELO1寄存器中。</a:t>
            </a:r>
            <a:endParaRPr lang="en-US" altLang="zh-CN" sz="1400" b="1" dirty="0" smtClean="0">
              <a:ln>
                <a:noFill/>
              </a:ln>
              <a:solidFill>
                <a:srgbClr val="000000"/>
              </a:solidFill>
              <a:effectLst/>
              <a:latin typeface="宋体" panose="02000500000000000000" pitchFamily="2" charset="-122"/>
              <a:sym typeface="+mn-ea"/>
            </a:endParaRPr>
          </a:p>
          <a:p>
            <a:pPr marL="342900" indent="-342900" fontAlgn="base" hangingPunct="0">
              <a:lnSpc>
                <a:spcPct val="150000"/>
              </a:lnSpc>
              <a:spcBef>
                <a:spcPts val="0"/>
              </a:spcBef>
              <a:buFont typeface="Arial" panose="02080604020202020204" pitchFamily="34" charset="0"/>
              <a:buChar char="•"/>
            </a:pPr>
            <a:r>
              <a:rPr lang="en-US" altLang="zh-CN" sz="1600" b="1" dirty="0">
                <a:solidFill>
                  <a:srgbClr val="FF0000"/>
                </a:solidFill>
                <a:latin typeface="宋体" panose="02000500000000000000" pitchFamily="2" charset="-122"/>
                <a:sym typeface="+mn-ea"/>
              </a:rPr>
              <a:t>CSR</a:t>
            </a:r>
            <a:r>
              <a:rPr lang="zh-CN" altLang="en-US" sz="1600" b="1" dirty="0">
                <a:solidFill>
                  <a:srgbClr val="FF0000"/>
                </a:solidFill>
                <a:latin typeface="宋体" panose="02000500000000000000" pitchFamily="2" charset="-122"/>
                <a:sym typeface="+mn-ea"/>
              </a:rPr>
              <a:t>.</a:t>
            </a:r>
            <a:r>
              <a:rPr lang="en-US" altLang="zh-CN" sz="1600" b="1" dirty="0">
                <a:solidFill>
                  <a:srgbClr val="FF0000"/>
                </a:solidFill>
                <a:latin typeface="宋体" panose="02000500000000000000" pitchFamily="2" charset="-122"/>
                <a:sym typeface="+mn-ea"/>
              </a:rPr>
              <a:t>PWCL</a:t>
            </a:r>
            <a:r>
              <a:rPr lang="zh-CN" altLang="en-US" sz="1600" b="1" dirty="0">
                <a:solidFill>
                  <a:srgbClr val="FF0000"/>
                </a:solidFill>
                <a:latin typeface="宋体" panose="02000500000000000000" pitchFamily="2" charset="-122"/>
                <a:sym typeface="+mn-ea"/>
              </a:rPr>
              <a:t>控制寄存器</a:t>
            </a:r>
            <a:endParaRPr lang="en-US" altLang="zh-CN" sz="1600" b="1" dirty="0">
              <a:solidFill>
                <a:srgbClr val="FF0000"/>
              </a:solidFill>
              <a:latin typeface="宋体" panose="02000500000000000000" pitchFamily="2" charset="-122"/>
            </a:endParaRPr>
          </a:p>
          <a:p>
            <a:pPr marL="742950" lvl="1" indent="-285750" fontAlgn="base" hangingPunct="0">
              <a:lnSpc>
                <a:spcPct val="150000"/>
              </a:lnSpc>
              <a:spcBef>
                <a:spcPts val="0"/>
              </a:spcBef>
              <a:buFont typeface="Arial" panose="02080604020202020204" pitchFamily="34" charset="0"/>
              <a:buChar char="•"/>
            </a:pPr>
            <a:r>
              <a:rPr lang="en-US" altLang="zh-CN" sz="1400" b="1" dirty="0">
                <a:solidFill>
                  <a:schemeClr val="accent2"/>
                </a:solidFill>
                <a:latin typeface="宋体" panose="02000500000000000000" pitchFamily="2" charset="-122"/>
              </a:rPr>
              <a:t>PTEWidth域</a:t>
            </a:r>
            <a:r>
              <a:rPr lang="zh-CN" altLang="en-US" sz="1400" b="1" dirty="0">
                <a:latin typeface="宋体" panose="02000500000000000000" pitchFamily="2" charset="-122"/>
              </a:rPr>
              <a:t>：</a:t>
            </a:r>
            <a:r>
              <a:rPr lang="en-US" altLang="zh-CN" sz="1400" b="1" dirty="0">
                <a:latin typeface="宋体" panose="02000500000000000000" pitchFamily="2" charset="-122"/>
              </a:rPr>
              <a:t>每个页表项的宽度</a:t>
            </a:r>
            <a:endParaRPr lang="en-US" altLang="zh-CN" sz="1400" b="1" dirty="0">
              <a:latin typeface="宋体" panose="02000500000000000000" pitchFamily="2" charset="-122"/>
            </a:endParaRPr>
          </a:p>
          <a:p>
            <a:pPr marL="742950" lvl="1" indent="-285750" fontAlgn="base" hangingPunct="0">
              <a:lnSpc>
                <a:spcPct val="150000"/>
              </a:lnSpc>
              <a:spcBef>
                <a:spcPts val="0"/>
              </a:spcBef>
              <a:buFont typeface="Arial" panose="02080604020202020204" pitchFamily="34" charset="0"/>
              <a:buChar char="•"/>
            </a:pPr>
            <a:r>
              <a:rPr lang="en-US" altLang="zh-CN" sz="1400" b="1" dirty="0">
                <a:solidFill>
                  <a:schemeClr val="accent2"/>
                </a:solidFill>
                <a:latin typeface="宋体" panose="02000500000000000000" pitchFamily="2" charset="-122"/>
              </a:rPr>
              <a:t>PTbase和PTwidth域</a:t>
            </a:r>
            <a:r>
              <a:rPr lang="zh-CN" altLang="en-US" sz="1400" b="1" dirty="0">
                <a:latin typeface="宋体" panose="02000500000000000000" pitchFamily="2" charset="-122"/>
              </a:rPr>
              <a:t>：</a:t>
            </a:r>
            <a:r>
              <a:rPr lang="en-US" altLang="zh-CN" sz="1400" b="1" dirty="0">
                <a:latin typeface="宋体" panose="02000500000000000000" pitchFamily="2" charset="-122"/>
              </a:rPr>
              <a:t>末级页表索引起始位置和位宽</a:t>
            </a:r>
            <a:endParaRPr lang="en-US" altLang="zh-CN" sz="1400" b="1" dirty="0">
              <a:latin typeface="宋体" panose="02000500000000000000" pitchFamily="2" charset="-122"/>
            </a:endParaRPr>
          </a:p>
          <a:p>
            <a:pPr marL="742950" lvl="1" indent="-285750" fontAlgn="base" hangingPunct="0">
              <a:lnSpc>
                <a:spcPct val="150000"/>
              </a:lnSpc>
              <a:spcBef>
                <a:spcPts val="0"/>
              </a:spcBef>
              <a:buFont typeface="Arial" panose="02080604020202020204" pitchFamily="34" charset="0"/>
              <a:buChar char="•"/>
            </a:pPr>
            <a:r>
              <a:rPr lang="en-US" altLang="zh-CN" sz="1400" b="1" dirty="0">
                <a:solidFill>
                  <a:schemeClr val="accent2"/>
                </a:solidFill>
                <a:latin typeface="宋体" panose="02000500000000000000" pitchFamily="2" charset="-122"/>
              </a:rPr>
              <a:t>Dir1_base和Dir1_width域</a:t>
            </a:r>
            <a:r>
              <a:rPr lang="zh-CN" altLang="en-US" sz="1400" b="1" dirty="0">
                <a:latin typeface="宋体" panose="02000500000000000000" pitchFamily="2" charset="-122"/>
              </a:rPr>
              <a:t>：</a:t>
            </a:r>
            <a:r>
              <a:rPr lang="en-US" altLang="zh-CN" sz="1400" b="1" dirty="0">
                <a:latin typeface="宋体" panose="02000500000000000000" pitchFamily="2" charset="-122"/>
              </a:rPr>
              <a:t>页目录表1索引的起始位置和位宽</a:t>
            </a:r>
            <a:endParaRPr lang="en-US" altLang="zh-CN" sz="1400" b="1" dirty="0">
              <a:latin typeface="宋体" panose="02000500000000000000" pitchFamily="2" charset="-122"/>
            </a:endParaRPr>
          </a:p>
          <a:p>
            <a:pPr marL="742950" lvl="1" indent="-285750" fontAlgn="base" hangingPunct="0">
              <a:lnSpc>
                <a:spcPct val="150000"/>
              </a:lnSpc>
              <a:spcBef>
                <a:spcPts val="0"/>
              </a:spcBef>
              <a:buFont typeface="Arial" panose="02080604020202020204" pitchFamily="34" charset="0"/>
              <a:buChar char="•"/>
            </a:pPr>
            <a:r>
              <a:rPr lang="en-US" altLang="zh-CN" sz="1400" b="1" dirty="0">
                <a:solidFill>
                  <a:schemeClr val="accent2"/>
                </a:solidFill>
                <a:latin typeface="宋体" panose="02000500000000000000" pitchFamily="2" charset="-122"/>
              </a:rPr>
              <a:t>Dir2_base和Dir2_width域</a:t>
            </a:r>
            <a:r>
              <a:rPr lang="zh-CN" altLang="en-US" sz="1400" b="1" dirty="0">
                <a:latin typeface="宋体" panose="02000500000000000000" pitchFamily="2" charset="-122"/>
              </a:rPr>
              <a:t>：</a:t>
            </a:r>
            <a:r>
              <a:rPr lang="en-US" altLang="zh-CN" sz="1400" b="1" dirty="0">
                <a:latin typeface="宋体" panose="02000500000000000000" pitchFamily="2" charset="-122"/>
              </a:rPr>
              <a:t>页目录表2索引的起始位置和位宽</a:t>
            </a:r>
            <a:endParaRPr lang="en-US" altLang="zh-CN" sz="1400" b="1" dirty="0">
              <a:latin typeface="宋体" panose="02000500000000000000" pitchFamily="2" charset="-122"/>
            </a:endParaRPr>
          </a:p>
          <a:p>
            <a:pPr marL="342900" lvl="0" indent="-342900" algn="l" fontAlgn="base" hangingPunct="0">
              <a:lnSpc>
                <a:spcPct val="150000"/>
              </a:lnSpc>
              <a:spcBef>
                <a:spcPts val="0"/>
              </a:spcBef>
              <a:buClrTx/>
              <a:buSzTx/>
              <a:buFont typeface="Arial" panose="02080604020202020204" pitchFamily="34" charset="0"/>
              <a:buChar char="•"/>
            </a:pPr>
            <a:r>
              <a:rPr lang="en-US" altLang="zh-CN" sz="1600" b="1" dirty="0">
                <a:solidFill>
                  <a:srgbClr val="FF0000"/>
                </a:solidFill>
                <a:latin typeface="宋体" panose="02000500000000000000" pitchFamily="2" charset="-122"/>
                <a:sym typeface="+mn-ea"/>
              </a:rPr>
              <a:t>CSR.PWCH</a:t>
            </a:r>
            <a:r>
              <a:rPr lang="zh-CN" altLang="en-US" sz="1600" b="1" dirty="0">
                <a:solidFill>
                  <a:srgbClr val="FF0000"/>
                </a:solidFill>
                <a:latin typeface="宋体" panose="02000500000000000000" pitchFamily="2" charset="-122"/>
                <a:sym typeface="+mn-ea"/>
              </a:rPr>
              <a:t>控制寄存器</a:t>
            </a:r>
            <a:endParaRPr lang="en-US" altLang="zh-CN" sz="1600" b="1" dirty="0">
              <a:solidFill>
                <a:srgbClr val="FF0000"/>
              </a:solidFill>
              <a:latin typeface="宋体" panose="02000500000000000000" pitchFamily="2" charset="-122"/>
            </a:endParaRPr>
          </a:p>
          <a:p>
            <a:pPr marL="742950" lvl="1" indent="-285750" fontAlgn="base" hangingPunct="0">
              <a:lnSpc>
                <a:spcPct val="150000"/>
              </a:lnSpc>
              <a:spcBef>
                <a:spcPts val="0"/>
              </a:spcBef>
              <a:buFont typeface="Arial" panose="02080604020202020204" pitchFamily="34" charset="0"/>
              <a:buChar char="•"/>
            </a:pPr>
            <a:r>
              <a:rPr lang="zh-CN" altLang="en-US" sz="1400" b="1" dirty="0">
                <a:solidFill>
                  <a:schemeClr val="accent2"/>
                </a:solidFill>
                <a:latin typeface="宋体" panose="02000500000000000000" pitchFamily="2" charset="-122"/>
              </a:rPr>
              <a:t>Dir3_base和Dir3_width域</a:t>
            </a:r>
            <a:r>
              <a:rPr lang="zh-CN" altLang="en-US" sz="1400" b="1" dirty="0">
                <a:latin typeface="宋体" panose="02000500000000000000" pitchFamily="2" charset="-122"/>
              </a:rPr>
              <a:t>：页目录表3索的引起始位置和位宽</a:t>
            </a:r>
            <a:endParaRPr lang="zh-CN" altLang="en-US" sz="1400" b="1" dirty="0">
              <a:latin typeface="宋体" panose="02000500000000000000" pitchFamily="2" charset="-122"/>
            </a:endParaRPr>
          </a:p>
          <a:p>
            <a:pPr marL="742950" lvl="1" indent="-285750" fontAlgn="base" hangingPunct="0">
              <a:lnSpc>
                <a:spcPct val="150000"/>
              </a:lnSpc>
              <a:spcBef>
                <a:spcPts val="0"/>
              </a:spcBef>
              <a:buFont typeface="Arial" panose="02080604020202020204" pitchFamily="34" charset="0"/>
              <a:buChar char="•"/>
            </a:pPr>
            <a:r>
              <a:rPr lang="zh-CN" altLang="en-US" sz="1400" b="1" dirty="0">
                <a:solidFill>
                  <a:schemeClr val="accent2"/>
                </a:solidFill>
                <a:latin typeface="宋体" panose="02000500000000000000" pitchFamily="2" charset="-122"/>
              </a:rPr>
              <a:t>Dir4_base和Dir4_width域</a:t>
            </a:r>
            <a:r>
              <a:rPr lang="zh-CN" altLang="en-US" sz="1400" b="1" dirty="0">
                <a:latin typeface="宋体" panose="02000500000000000000" pitchFamily="2" charset="-122"/>
              </a:rPr>
              <a:t>：页目录表4索引的起始位置和位宽</a:t>
            </a:r>
            <a:endParaRPr lang="zh-CN" altLang="en-US" sz="1400" b="1" dirty="0">
              <a:latin typeface="宋体" panose="02000500000000000000"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5299" name="Rectangle 2"/>
          <p:cNvSpPr/>
          <p:nvPr/>
        </p:nvSpPr>
        <p:spPr>
          <a:xfrm>
            <a:off x="914400" y="0"/>
            <a:ext cx="10361613" cy="838200"/>
          </a:xfrm>
          <a:prstGeom prst="rect">
            <a:avLst/>
          </a:prstGeom>
          <a:noFill/>
          <a:ln w="9525">
            <a:noFill/>
          </a:ln>
        </p:spPr>
        <p:txBody>
          <a:bodyPr anchor="ctr" anchorCtr="0"/>
          <a:p>
            <a:pPr algn="ctr" eaLnBrk="0" hangingPunct="0"/>
            <a:r>
              <a:rPr lang="zh-CN" altLang="en-US" sz="3200" dirty="0">
                <a:solidFill>
                  <a:srgbClr val="FF0000"/>
                </a:solidFill>
                <a:latin typeface="Arial" panose="02080604020202020204" pitchFamily="34" charset="0"/>
                <a:ea typeface="黑体" panose="02000500000000000000" pitchFamily="49" charset="-122"/>
              </a:rPr>
              <a:t>Linux/LoongArch中</a:t>
            </a:r>
            <a:r>
              <a:rPr lang="en-US" altLang="zh-CN" sz="3200" dirty="0">
                <a:solidFill>
                  <a:srgbClr val="FF0000"/>
                </a:solidFill>
                <a:latin typeface="Arial" panose="02080604020202020204" pitchFamily="34" charset="0"/>
                <a:ea typeface="黑体" panose="02000500000000000000" pitchFamily="49" charset="-122"/>
              </a:rPr>
              <a:t>TLB</a:t>
            </a:r>
            <a:r>
              <a:rPr lang="zh-CN" altLang="en-US" sz="3200" dirty="0">
                <a:solidFill>
                  <a:srgbClr val="FF0000"/>
                </a:solidFill>
                <a:latin typeface="Arial" panose="02080604020202020204" pitchFamily="34" charset="0"/>
                <a:ea typeface="黑体" panose="02000500000000000000" pitchFamily="49" charset="-122"/>
              </a:rPr>
              <a:t>重填代码</a:t>
            </a:r>
            <a:endParaRPr lang="zh-CN" altLang="en-US" dirty="0">
              <a:solidFill>
                <a:srgbClr val="FF0000"/>
              </a:solidFill>
              <a:latin typeface="Arial" panose="02080604020202020204" pitchFamily="34" charset="0"/>
              <a:ea typeface="黑体" panose="02000500000000000000" pitchFamily="49" charset="-122"/>
            </a:endParaRPr>
          </a:p>
        </p:txBody>
      </p:sp>
      <p:sp>
        <p:nvSpPr>
          <p:cNvPr id="55300" name="Rectangle 3"/>
          <p:cNvSpPr/>
          <p:nvPr/>
        </p:nvSpPr>
        <p:spPr>
          <a:xfrm>
            <a:off x="1582738" y="1042988"/>
            <a:ext cx="8977312" cy="2979737"/>
          </a:xfrm>
          <a:prstGeom prst="rect">
            <a:avLst/>
          </a:prstGeom>
          <a:noFill/>
          <a:ln w="9525" cap="flat" cmpd="sng">
            <a:solidFill>
              <a:srgbClr val="000000"/>
            </a:solidFill>
            <a:prstDash val="solid"/>
            <a:miter/>
            <a:headEnd type="none" w="med" len="med"/>
            <a:tailEnd type="none" w="med" len="med"/>
          </a:ln>
        </p:spPr>
        <p:txBody>
          <a:bodyPr/>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csrwr	$t0, CSR_TLBRSAVE</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csrrd	$t0, CSR_PGD</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lddir	$t0, $t0, 3		#访问页目录表PGD</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lddir	$t0, $t0, 1		         #访问页目录表PMD</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ldpte	$t0, 0			#取回偶数号页表项</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ldpte	$t0, 1			#取回奇数号页表项</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tlbfill</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csrrd	$t0, CSR_TLBRSAVE</a:t>
            </a:r>
            <a:endParaRPr lang="en-US" altLang="zh-CN" sz="1600" b="1" dirty="0">
              <a:latin typeface="宋体" panose="02000500000000000000" pitchFamily="2" charset="-122"/>
              <a:cs typeface="宋体" panose="02000500000000000000" pitchFamily="2" charset="-122"/>
            </a:endParaRPr>
          </a:p>
          <a:p>
            <a:pPr marL="342900" indent="-342900" eaLnBrk="0" hangingPunct="0">
              <a:lnSpc>
                <a:spcPct val="90000"/>
              </a:lnSpc>
              <a:spcBef>
                <a:spcPct val="10000"/>
              </a:spcBef>
            </a:pPr>
            <a:r>
              <a:rPr lang="en-US" altLang="zh-CN" sz="1600" b="1" dirty="0">
                <a:latin typeface="宋体" panose="02000500000000000000" pitchFamily="2" charset="-122"/>
                <a:cs typeface="宋体" panose="02000500000000000000" pitchFamily="2" charset="-122"/>
              </a:rPr>
              <a:t>	ertn                   </a:t>
            </a:r>
            <a:endParaRPr lang="en-US" altLang="zh-CN" sz="1600" b="1" dirty="0">
              <a:latin typeface="宋体" panose="02000500000000000000" pitchFamily="2" charset="-122"/>
              <a:cs typeface="宋体" panose="02000500000000000000" pitchFamily="2" charset="-122"/>
            </a:endParaRPr>
          </a:p>
        </p:txBody>
      </p:sp>
      <p:sp>
        <p:nvSpPr>
          <p:cNvPr id="55301" name="文本框 2"/>
          <p:cNvSpPr txBox="1"/>
          <p:nvPr/>
        </p:nvSpPr>
        <p:spPr>
          <a:xfrm>
            <a:off x="1358900" y="4343400"/>
            <a:ext cx="9472613" cy="2061210"/>
          </a:xfrm>
          <a:prstGeom prst="rect">
            <a:avLst/>
          </a:prstGeom>
          <a:noFill/>
          <a:ln w="9525">
            <a:noFill/>
          </a:ln>
        </p:spPr>
        <p:txBody>
          <a:bodyPr>
            <a:spAutoFit/>
          </a:bodyPr>
          <a:p>
            <a:pPr marL="342900" indent="-342900" eaLnBrk="0" hangingPunct="0">
              <a:lnSpc>
                <a:spcPct val="150000"/>
              </a:lnSpc>
              <a:buFont typeface="Arial" panose="02080604020202020204" pitchFamily="34" charset="0"/>
              <a:buChar char="•"/>
            </a:pPr>
            <a:r>
              <a:rPr lang="zh-CN" altLang="en-US" sz="1600" b="1" dirty="0">
                <a:latin typeface="宋体" panose="02000500000000000000" pitchFamily="2" charset="-122"/>
              </a:rPr>
              <a:t>在Linux/LoongArch64中，当进行三级页表的遍历时，通常用Dir1_base和Dir1_width域来配置页目录表PMD索引的起始位置和位宽，用Dir3_base和Dir3_width域来配置页目录表PGD索引的起始位置和位宽，Dir</a:t>
            </a:r>
            <a:r>
              <a:rPr lang="en-US" altLang="zh-CN" sz="1600" b="1" dirty="0">
                <a:latin typeface="宋体" panose="02000500000000000000" pitchFamily="2" charset="-122"/>
              </a:rPr>
              <a:t>2</a:t>
            </a:r>
            <a:r>
              <a:rPr lang="zh-CN" altLang="en-US" sz="1600" b="1" dirty="0">
                <a:latin typeface="宋体" panose="02000500000000000000" pitchFamily="2" charset="-122"/>
              </a:rPr>
              <a:t>_base和Dir</a:t>
            </a:r>
            <a:r>
              <a:rPr lang="en-US" altLang="zh-CN" sz="1600" b="1" dirty="0">
                <a:latin typeface="宋体" panose="02000500000000000000" pitchFamily="2" charset="-122"/>
              </a:rPr>
              <a:t>2</a:t>
            </a:r>
            <a:r>
              <a:rPr lang="zh-CN" altLang="en-US" sz="1600" b="1" dirty="0">
                <a:latin typeface="宋体" panose="02000500000000000000" pitchFamily="2" charset="-122"/>
              </a:rPr>
              <a:t>_width域、Dir4_base和Dir4_width域空闲不用。</a:t>
            </a:r>
            <a:endParaRPr lang="zh-CN" altLang="en-US" sz="1600" b="1" dirty="0">
              <a:latin typeface="宋体" panose="02000500000000000000" pitchFamily="2" charset="-122"/>
            </a:endParaRPr>
          </a:p>
          <a:p>
            <a:pPr marL="342900" indent="-342900" eaLnBrk="0" hangingPunct="0">
              <a:lnSpc>
                <a:spcPct val="150000"/>
              </a:lnSpc>
              <a:buFont typeface="Arial" panose="02080604020202020204" pitchFamily="34" charset="0"/>
              <a:buChar char="•"/>
            </a:pPr>
            <a:r>
              <a:rPr lang="en-US" altLang="zh-CN" sz="1600" b="1" dirty="0">
                <a:solidFill>
                  <a:srgbClr val="FF0000"/>
                </a:solidFill>
                <a:latin typeface="宋体" panose="02000500000000000000" pitchFamily="2" charset="-122"/>
              </a:rPr>
              <a:t>LoongArch</a:t>
            </a:r>
            <a:r>
              <a:rPr lang="zh-CN" altLang="en-US" sz="1600" b="1" dirty="0">
                <a:solidFill>
                  <a:srgbClr val="FF0000"/>
                </a:solidFill>
                <a:latin typeface="宋体" panose="02000500000000000000" pitchFamily="2" charset="-122"/>
              </a:rPr>
              <a:t>吸取</a:t>
            </a:r>
            <a:r>
              <a:rPr lang="en-US" altLang="zh-CN" sz="1600" b="1" dirty="0">
                <a:solidFill>
                  <a:srgbClr val="FF0000"/>
                </a:solidFill>
                <a:latin typeface="宋体" panose="02000500000000000000" pitchFamily="2" charset="-122"/>
              </a:rPr>
              <a:t>MIPS</a:t>
            </a:r>
            <a:r>
              <a:rPr lang="zh-CN" altLang="en-US" sz="1600" b="1" dirty="0">
                <a:solidFill>
                  <a:srgbClr val="FF0000"/>
                </a:solidFill>
                <a:latin typeface="宋体" panose="02000500000000000000" pitchFamily="2" charset="-122"/>
              </a:rPr>
              <a:t>教训，硬件可灵活配置访问页表地址（</a:t>
            </a:r>
            <a:r>
              <a:rPr lang="en-US" altLang="zh-CN" sz="1600" b="1" dirty="0">
                <a:solidFill>
                  <a:srgbClr val="FF0000"/>
                </a:solidFill>
                <a:latin typeface="宋体" panose="02000500000000000000" pitchFamily="2" charset="-122"/>
              </a:rPr>
              <a:t>PWCL</a:t>
            </a:r>
            <a:r>
              <a:rPr lang="zh-CN" altLang="en-US" sz="1600" b="1" dirty="0">
                <a:solidFill>
                  <a:srgbClr val="FF0000"/>
                </a:solidFill>
                <a:latin typeface="宋体" panose="02000500000000000000" pitchFamily="2" charset="-122"/>
              </a:rPr>
              <a:t>、</a:t>
            </a:r>
            <a:r>
              <a:rPr lang="en-US" altLang="zh-CN" sz="1600" b="1" dirty="0">
                <a:solidFill>
                  <a:srgbClr val="FF0000"/>
                </a:solidFill>
                <a:latin typeface="宋体" panose="02000500000000000000" pitchFamily="2" charset="-122"/>
              </a:rPr>
              <a:t>PWCH</a:t>
            </a:r>
            <a:r>
              <a:rPr lang="zh-CN" altLang="en-US" sz="1600" b="1" dirty="0">
                <a:solidFill>
                  <a:srgbClr val="FF0000"/>
                </a:solidFill>
                <a:latin typeface="宋体" panose="02000500000000000000" pitchFamily="2" charset="-122"/>
              </a:rPr>
              <a:t>），三级页表只需</a:t>
            </a:r>
            <a:r>
              <a:rPr lang="en-US" altLang="zh-CN" sz="1600" b="1" dirty="0">
                <a:solidFill>
                  <a:srgbClr val="FF0000"/>
                </a:solidFill>
                <a:latin typeface="宋体" panose="02000500000000000000" pitchFamily="2" charset="-122"/>
              </a:rPr>
              <a:t>9</a:t>
            </a:r>
            <a:r>
              <a:rPr lang="zh-CN" altLang="en-US" sz="1600" b="1" dirty="0">
                <a:solidFill>
                  <a:srgbClr val="FF0000"/>
                </a:solidFill>
                <a:latin typeface="宋体" panose="02000500000000000000" pitchFamily="2" charset="-122"/>
              </a:rPr>
              <a:t>条指令，每增加一级页表只需增加</a:t>
            </a:r>
            <a:r>
              <a:rPr lang="en-US" altLang="zh-CN" sz="1600" b="1" dirty="0">
                <a:solidFill>
                  <a:srgbClr val="FF0000"/>
                </a:solidFill>
                <a:latin typeface="宋体" panose="02000500000000000000" pitchFamily="2" charset="-122"/>
              </a:rPr>
              <a:t>1</a:t>
            </a:r>
            <a:r>
              <a:rPr lang="zh-CN" altLang="en-US" sz="1600" b="1" dirty="0">
                <a:solidFill>
                  <a:srgbClr val="FF0000"/>
                </a:solidFill>
                <a:latin typeface="宋体" panose="02000500000000000000" pitchFamily="2" charset="-122"/>
              </a:rPr>
              <a:t>条指令</a:t>
            </a:r>
            <a:endParaRPr lang="zh-CN" altLang="en-US" sz="1600" b="1" dirty="0">
              <a:solidFill>
                <a:srgbClr val="FF0000"/>
              </a:solidFill>
              <a:latin typeface="宋体" panose="02000500000000000000"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xfrm>
            <a:off x="939800" y="76200"/>
            <a:ext cx="10361613" cy="962025"/>
          </a:xfrm>
        </p:spPr>
        <p:txBody>
          <a:bodyPr vert="horz" wrap="square" lIns="91440" tIns="45720" rIns="91440" bIns="45720" anchor="ctr" anchorCtr="0"/>
          <a:p>
            <a:r>
              <a:rPr lang="zh-CN" altLang="en-US" dirty="0"/>
              <a:t>不忘初心</a:t>
            </a:r>
            <a:endParaRPr lang="zh-CN" altLang="en-US" dirty="0"/>
          </a:p>
        </p:txBody>
      </p:sp>
      <p:sp>
        <p:nvSpPr>
          <p:cNvPr id="41987" name="内容占位符 2"/>
          <p:cNvSpPr>
            <a:spLocks noGrp="1"/>
          </p:cNvSpPr>
          <p:nvPr>
            <p:ph idx="1"/>
          </p:nvPr>
        </p:nvSpPr>
        <p:spPr>
          <a:xfrm>
            <a:off x="601663" y="1073150"/>
            <a:ext cx="11047413" cy="5486400"/>
          </a:xfrm>
        </p:spPr>
        <p:txBody>
          <a:bodyPr vert="horz" wrap="square" lIns="91440" tIns="45720" rIns="91440" bIns="45720" numCol="1" anchor="t" anchorCtr="0" compatLnSpc="1"/>
          <a:lstStyle/>
          <a:p>
            <a:pPr marL="342900" marR="0" lvl="0" indent="-342900" algn="l" defTabSz="914400" rtl="0" eaLnBrk="0" fontAlgn="base" latinLnBrk="0" hangingPunct="0">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为什么访存指令的执行这么复杂？</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虚拟化：结构设计复杂一些，用户用起来简单一些</a:t>
            </a:r>
            <a:endParaRPr kumimoji="1"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结构设计：虚实地址转换，支持比实际内存容量更大的访问空间</a:t>
            </a:r>
            <a:endParaRPr kumimoji="1"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用户程序：每个进程都感到整个</a:t>
            </a:r>
            <a:r>
              <a:rPr kumimoji="1" lang="en-US" altLang="zh-CN" sz="1600" b="1" i="0" u="none" strike="noStrike" kern="0" cap="none" spc="0" normalizeH="0" baseline="0" noProof="0" dirty="0" smtClean="0">
                <a:ln>
                  <a:noFill/>
                </a:ln>
                <a:solidFill>
                  <a:schemeClr val="tx1"/>
                </a:solidFill>
                <a:effectLst/>
                <a:uLnTx/>
                <a:uFillTx/>
                <a:latin typeface="+mn-ea"/>
                <a:ea typeface="+mn-ea"/>
              </a:rPr>
              <a:t>CPU</a:t>
            </a:r>
            <a:r>
              <a:rPr kumimoji="1" lang="zh-CN" altLang="en-US" sz="1600" b="1" i="0" u="none" strike="noStrike" kern="0" cap="none" spc="0" normalizeH="0" baseline="0" noProof="0" dirty="0" smtClean="0">
                <a:ln>
                  <a:noFill/>
                </a:ln>
                <a:solidFill>
                  <a:schemeClr val="tx1"/>
                </a:solidFill>
                <a:effectLst/>
                <a:uLnTx/>
                <a:uFillTx/>
                <a:latin typeface="+mn-ea"/>
                <a:ea typeface="+mn-ea"/>
              </a:rPr>
              <a:t>和内存都是“我的”</a:t>
            </a:r>
            <a:endParaRPr kumimoji="1" lang="en-US" altLang="zh-CN" sz="16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进一步虚拟化</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运行多个</a:t>
            </a:r>
            <a:r>
              <a:rPr kumimoji="1" lang="en-US" altLang="zh-CN" sz="1600" b="1" i="0" u="none" strike="noStrike" kern="0" cap="none" spc="0" normalizeH="0" baseline="0" noProof="0" dirty="0" smtClean="0">
                <a:ln>
                  <a:noFill/>
                </a:ln>
                <a:solidFill>
                  <a:schemeClr val="tx1"/>
                </a:solidFill>
                <a:effectLst/>
                <a:uLnTx/>
                <a:uFillTx/>
                <a:latin typeface="+mn-ea"/>
                <a:ea typeface="+mn-ea"/>
              </a:rPr>
              <a:t>OS</a:t>
            </a:r>
            <a:r>
              <a:rPr kumimoji="1" lang="zh-CN" altLang="en-US" sz="1600" b="1" i="0" u="none" strike="noStrike" kern="0" cap="none" spc="0" normalizeH="0" baseline="0" noProof="0" dirty="0" smtClean="0">
                <a:ln>
                  <a:noFill/>
                </a:ln>
                <a:solidFill>
                  <a:schemeClr val="tx1"/>
                </a:solidFill>
                <a:effectLst/>
                <a:uLnTx/>
                <a:uFillTx/>
                <a:latin typeface="+mn-ea"/>
                <a:ea typeface="+mn-ea"/>
              </a:rPr>
              <a:t>，让每个</a:t>
            </a:r>
            <a:r>
              <a:rPr kumimoji="1" lang="en-US" altLang="zh-CN" sz="1600" b="1" i="0" u="none" strike="noStrike" kern="0" cap="none" spc="0" normalizeH="0" baseline="0" noProof="0" dirty="0" smtClean="0">
                <a:ln>
                  <a:noFill/>
                </a:ln>
                <a:solidFill>
                  <a:schemeClr val="tx1"/>
                </a:solidFill>
                <a:effectLst/>
                <a:uLnTx/>
                <a:uFillTx/>
                <a:latin typeface="+mn-ea"/>
                <a:ea typeface="+mn-ea"/>
              </a:rPr>
              <a:t>OS</a:t>
            </a:r>
            <a:r>
              <a:rPr kumimoji="1" lang="zh-CN" altLang="en-US" sz="1600" b="1" i="0" u="none" strike="noStrike" kern="0" cap="none" spc="0" normalizeH="0" baseline="0" noProof="0" dirty="0" smtClean="0">
                <a:ln>
                  <a:noFill/>
                </a:ln>
                <a:solidFill>
                  <a:schemeClr val="tx1"/>
                </a:solidFill>
                <a:effectLst/>
                <a:uLnTx/>
                <a:uFillTx/>
                <a:latin typeface="+mn-ea"/>
                <a:ea typeface="+mn-ea"/>
              </a:rPr>
              <a:t>都感到整个</a:t>
            </a:r>
            <a:r>
              <a:rPr kumimoji="1" lang="en-US" altLang="zh-CN" sz="1600" b="1" i="0" u="none" strike="noStrike" kern="0" cap="none" spc="0" normalizeH="0" baseline="0" noProof="0" dirty="0" smtClean="0">
                <a:ln>
                  <a:noFill/>
                </a:ln>
                <a:solidFill>
                  <a:schemeClr val="tx1"/>
                </a:solidFill>
                <a:effectLst/>
                <a:uLnTx/>
                <a:uFillTx/>
                <a:latin typeface="+mn-ea"/>
                <a:ea typeface="+mn-ea"/>
              </a:rPr>
              <a:t>CPU</a:t>
            </a:r>
            <a:r>
              <a:rPr kumimoji="1" lang="zh-CN" altLang="en-US" sz="1600" b="1" i="0" u="none" strike="noStrike" kern="0" cap="none" spc="0" normalizeH="0" baseline="0" noProof="0" dirty="0" smtClean="0">
                <a:ln>
                  <a:noFill/>
                </a:ln>
                <a:solidFill>
                  <a:schemeClr val="tx1"/>
                </a:solidFill>
                <a:effectLst/>
                <a:uLnTx/>
                <a:uFillTx/>
                <a:latin typeface="+mn-ea"/>
                <a:ea typeface="+mn-ea"/>
              </a:rPr>
              <a:t>和内存都是“我的”</a:t>
            </a:r>
            <a:endParaRPr kumimoji="1"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两次地址转换：</a:t>
            </a:r>
            <a:r>
              <a:rPr kumimoji="1" lang="en-US" altLang="zh-CN" sz="1600" b="1" i="0" u="none" strike="noStrike" kern="0" cap="none" spc="0" normalizeH="0" baseline="0" noProof="0" dirty="0" smtClean="0">
                <a:ln>
                  <a:noFill/>
                </a:ln>
                <a:solidFill>
                  <a:schemeClr val="tx1"/>
                </a:solidFill>
                <a:effectLst/>
                <a:uLnTx/>
                <a:uFillTx/>
                <a:latin typeface="+mn-ea"/>
                <a:ea typeface="+mn-ea"/>
              </a:rPr>
              <a:t>guest  VA =&gt; guest PA (host VA) =&gt; host PA</a:t>
            </a:r>
            <a:r>
              <a:rPr kumimoji="1" lang="zh-CN" altLang="en-US" sz="1600" b="1" i="0" u="none" strike="noStrike" kern="0" cap="none" spc="0" normalizeH="0" baseline="0" noProof="0" dirty="0" smtClean="0">
                <a:ln>
                  <a:noFill/>
                </a:ln>
                <a:solidFill>
                  <a:schemeClr val="tx1"/>
                </a:solidFill>
                <a:effectLst/>
                <a:uLnTx/>
                <a:uFillTx/>
                <a:latin typeface="+mn-ea"/>
                <a:ea typeface="+mn-ea"/>
              </a:rPr>
              <a:t>，两个不同的</a:t>
            </a:r>
            <a:r>
              <a:rPr kumimoji="1" lang="en-US" altLang="zh-CN" sz="1600" b="1" i="0" u="none" strike="noStrike" kern="0" cap="none" spc="0" normalizeH="0" baseline="0" noProof="0" dirty="0" smtClean="0">
                <a:ln>
                  <a:noFill/>
                </a:ln>
                <a:solidFill>
                  <a:schemeClr val="tx1"/>
                </a:solidFill>
                <a:effectLst/>
                <a:uLnTx/>
                <a:uFillTx/>
                <a:latin typeface="+mn-ea"/>
                <a:ea typeface="+mn-ea"/>
              </a:rPr>
              <a:t>TLB</a:t>
            </a:r>
            <a:r>
              <a:rPr kumimoji="1" lang="zh-CN" altLang="en-US" sz="1600" b="1" i="0" u="none" strike="noStrike" kern="0" cap="none" spc="0" normalizeH="0" baseline="0" noProof="0" dirty="0" smtClean="0">
                <a:ln>
                  <a:noFill/>
                </a:ln>
                <a:solidFill>
                  <a:schemeClr val="tx1"/>
                </a:solidFill>
                <a:effectLst/>
                <a:uLnTx/>
                <a:uFillTx/>
                <a:latin typeface="+mn-ea"/>
                <a:ea typeface="+mn-ea"/>
              </a:rPr>
              <a:t>以及一个“影子</a:t>
            </a:r>
            <a:r>
              <a:rPr kumimoji="1" lang="en-US" altLang="zh-CN" sz="1600" b="1" i="0" u="none" strike="noStrike" kern="0" cap="none" spc="0" normalizeH="0" baseline="0" noProof="0" dirty="0" smtClean="0">
                <a:ln>
                  <a:noFill/>
                </a:ln>
                <a:solidFill>
                  <a:schemeClr val="tx1"/>
                </a:solidFill>
                <a:effectLst/>
                <a:uLnTx/>
                <a:uFillTx/>
                <a:latin typeface="+mn-ea"/>
                <a:ea typeface="+mn-ea"/>
              </a:rPr>
              <a:t>TLB</a:t>
            </a:r>
            <a:r>
              <a:rPr kumimoji="1" lang="zh-CN" altLang="en-US" sz="1600" b="1" i="0" u="none" strike="noStrike" kern="0" cap="none" spc="0" normalizeH="0" baseline="0" noProof="0" dirty="0" smtClean="0">
                <a:ln>
                  <a:noFill/>
                </a:ln>
                <a:solidFill>
                  <a:schemeClr val="tx1"/>
                </a:solidFill>
                <a:effectLst/>
                <a:uLnTx/>
                <a:uFillTx/>
                <a:latin typeface="+mn-ea"/>
                <a:ea typeface="+mn-ea"/>
              </a:rPr>
              <a:t>”</a:t>
            </a:r>
            <a:r>
              <a:rPr kumimoji="1" lang="en-US" altLang="zh-CN" sz="1600" b="1" i="0" u="none" strike="noStrike" kern="0" cap="none" spc="0" normalizeH="0" baseline="0" noProof="0" dirty="0" smtClean="0">
                <a:ln>
                  <a:noFill/>
                </a:ln>
                <a:solidFill>
                  <a:schemeClr val="tx1"/>
                </a:solidFill>
                <a:effectLst/>
                <a:uLnTx/>
                <a:uFillTx/>
                <a:latin typeface="+mn-ea"/>
                <a:ea typeface="+mn-ea"/>
              </a:rPr>
              <a:t>(guest VA =&gt; host PA)</a:t>
            </a:r>
            <a:endParaRPr kumimoji="1" lang="en-US" altLang="zh-CN" sz="16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地址例外时</a:t>
            </a:r>
            <a:r>
              <a:rPr kumimoji="1" lang="en-US" altLang="zh-CN" sz="1600" b="1" i="0" u="none" strike="noStrike" kern="0" cap="none" spc="0" normalizeH="0" baseline="0" noProof="0" dirty="0" smtClean="0">
                <a:ln>
                  <a:noFill/>
                </a:ln>
                <a:solidFill>
                  <a:schemeClr val="tx1"/>
                </a:solidFill>
                <a:effectLst/>
                <a:uLnTx/>
                <a:uFillTx/>
                <a:latin typeface="+mn-ea"/>
                <a:ea typeface="+mn-ea"/>
              </a:rPr>
              <a:t>guest  OS</a:t>
            </a:r>
            <a:r>
              <a:rPr kumimoji="1" lang="zh-CN" altLang="en-US" sz="1600" b="1" i="0" u="none" strike="noStrike" kern="0" cap="none" spc="0" normalizeH="0" baseline="0" noProof="0" dirty="0" smtClean="0">
                <a:ln>
                  <a:noFill/>
                </a:ln>
                <a:solidFill>
                  <a:schemeClr val="tx1"/>
                </a:solidFill>
                <a:effectLst/>
                <a:uLnTx/>
                <a:uFillTx/>
                <a:latin typeface="+mn-ea"/>
                <a:ea typeface="+mn-ea"/>
              </a:rPr>
              <a:t>和</a:t>
            </a:r>
            <a:r>
              <a:rPr kumimoji="1" lang="en-US" altLang="zh-CN" sz="1600" b="1" i="0" u="none" strike="noStrike" kern="0" cap="none" spc="0" normalizeH="0" baseline="0" noProof="0" dirty="0" smtClean="0">
                <a:ln>
                  <a:noFill/>
                </a:ln>
                <a:solidFill>
                  <a:schemeClr val="tx1"/>
                </a:solidFill>
                <a:effectLst/>
                <a:uLnTx/>
                <a:uFillTx/>
                <a:latin typeface="+mn-ea"/>
                <a:ea typeface="+mn-ea"/>
              </a:rPr>
              <a:t>host OS</a:t>
            </a:r>
            <a:r>
              <a:rPr kumimoji="1" lang="zh-CN" altLang="en-US" sz="1600" b="1" i="0" u="none" strike="noStrike" kern="0" cap="none" spc="0" normalizeH="0" baseline="0" noProof="0" dirty="0" smtClean="0">
                <a:ln>
                  <a:noFill/>
                </a:ln>
                <a:solidFill>
                  <a:schemeClr val="tx1"/>
                </a:solidFill>
                <a:effectLst/>
                <a:uLnTx/>
                <a:uFillTx/>
                <a:latin typeface="+mn-ea"/>
                <a:ea typeface="+mn-ea"/>
              </a:rPr>
              <a:t>切换</a:t>
            </a:r>
            <a:endParaRPr kumimoji="1" lang="en-US" altLang="zh-CN" sz="16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0" fontAlgn="base" latinLnBrk="0" hangingPunct="0">
              <a:lnSpc>
                <a:spcPct val="150000"/>
              </a:lnSpc>
              <a:spcBef>
                <a:spcPts val="60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OS</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的“摩尔定律”终结：</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2020</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年</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OS</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的复杂度也到头了</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0" fontAlgn="base" latinLnBrk="0" hangingPunct="0">
              <a:lnSpc>
                <a:spcPct val="150000"/>
              </a:lnSpc>
              <a:spcBef>
                <a:spcPts val="600"/>
              </a:spcBef>
              <a:spcAft>
                <a:spcPct val="0"/>
              </a:spcAft>
              <a:buClrTx/>
              <a:buSzTx/>
              <a:buFontTx/>
              <a:buChar char="•"/>
              <a:defRPr/>
            </a:pPr>
            <a:r>
              <a:rPr kumimoji="1" lang="zh-CN" altLang="en-US" sz="1600" b="1" i="0" u="none" strike="noStrike" kern="0" cap="none" spc="0" normalizeH="0" baseline="0" noProof="0" dirty="0" smtClean="0">
                <a:ln>
                  <a:noFill/>
                </a:ln>
                <a:solidFill>
                  <a:schemeClr val="tx1"/>
                </a:solidFill>
                <a:effectLst/>
                <a:uLnTx/>
                <a:uFillTx/>
                <a:latin typeface="+mn-ea"/>
                <a:ea typeface="+mn-ea"/>
              </a:rPr>
              <a:t>把</a:t>
            </a:r>
            <a:r>
              <a:rPr kumimoji="1" lang="en-US" altLang="zh-CN" sz="1600" b="1" i="0" u="none" strike="noStrike" kern="0" cap="none" spc="0" normalizeH="0" baseline="0" noProof="0" dirty="0" smtClean="0">
                <a:ln>
                  <a:noFill/>
                </a:ln>
                <a:solidFill>
                  <a:schemeClr val="tx1"/>
                </a:solidFill>
                <a:effectLst/>
                <a:uLnTx/>
                <a:uFillTx/>
                <a:latin typeface="+mn-ea"/>
                <a:ea typeface="+mn-ea"/>
              </a:rPr>
              <a:t>CPU</a:t>
            </a:r>
            <a:r>
              <a:rPr kumimoji="1" lang="zh-CN" altLang="en-US" sz="1600" b="1" i="0" u="none" strike="noStrike" kern="0" cap="none" spc="0" normalizeH="0" baseline="0" noProof="0" dirty="0" smtClean="0">
                <a:ln>
                  <a:noFill/>
                </a:ln>
                <a:solidFill>
                  <a:schemeClr val="tx1"/>
                </a:solidFill>
                <a:effectLst/>
                <a:uLnTx/>
                <a:uFillTx/>
                <a:latin typeface="+mn-ea"/>
                <a:ea typeface="+mn-ea"/>
              </a:rPr>
              <a:t>最后一点“家当”（核心态功能）也虚拟化掉了</a:t>
            </a:r>
            <a:endParaRPr kumimoji="1" lang="zh-CN" altLang="en-US" sz="1600" b="1" i="0" u="none" strike="noStrike" kern="0" cap="none" spc="0" normalizeH="0" baseline="0" noProof="0" dirty="0" smtClean="0">
              <a:ln>
                <a:noFill/>
              </a:ln>
              <a:solidFill>
                <a:schemeClr val="tx1"/>
              </a:solidFill>
              <a:effectLst/>
              <a:uLnTx/>
              <a:uFillTx/>
              <a:latin typeface="+mn-ea"/>
              <a:ea typeface="+mn-ea"/>
            </a:endParaRPr>
          </a:p>
        </p:txBody>
      </p:sp>
      <p:sp>
        <p:nvSpPr>
          <p:cNvPr id="56324"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7347" name="Rectangle 2"/>
          <p:cNvSpPr>
            <a:spLocks noGrp="1"/>
          </p:cNvSpPr>
          <p:nvPr>
            <p:ph type="title"/>
          </p:nvPr>
        </p:nvSpPr>
        <p:spPr>
          <a:xfrm>
            <a:off x="1049338" y="2797175"/>
            <a:ext cx="10361612" cy="1143000"/>
          </a:xfrm>
        </p:spPr>
        <p:txBody>
          <a:bodyPr vert="horz" wrap="square" lIns="91440" tIns="45720" rIns="91440" bIns="45720" anchor="ctr" anchorCtr="0"/>
          <a:p>
            <a:pPr eaLnBrk="1" hangingPunct="1"/>
            <a:r>
              <a:rPr lang="en-US" altLang="zh-CN" sz="3600" dirty="0"/>
              <a:t>TLB</a:t>
            </a:r>
            <a:r>
              <a:rPr lang="zh-CN" altLang="en-US" sz="3600" dirty="0"/>
              <a:t>的优化</a:t>
            </a:r>
            <a:endParaRPr lang="zh-CN" altLang="en-US" sz="3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8371" name="Rectangle 2"/>
          <p:cNvSpPr>
            <a:spLocks noGrp="1"/>
          </p:cNvSpPr>
          <p:nvPr>
            <p:ph type="title"/>
          </p:nvPr>
        </p:nvSpPr>
        <p:spPr/>
        <p:txBody>
          <a:bodyPr vert="horz" wrap="square" lIns="91440" tIns="45720" rIns="91440" bIns="45720" anchor="ctr" anchorCtr="0"/>
          <a:p>
            <a:pPr eaLnBrk="1" hangingPunct="1"/>
            <a:r>
              <a:rPr lang="en-US" altLang="zh-CN" dirty="0"/>
              <a:t>TLB</a:t>
            </a:r>
            <a:r>
              <a:rPr lang="zh-CN" altLang="en-US" dirty="0"/>
              <a:t>性能分析和一些优化</a:t>
            </a:r>
            <a:endParaRPr lang="zh-CN" altLang="en-US" dirty="0"/>
          </a:p>
        </p:txBody>
      </p:sp>
      <p:sp>
        <p:nvSpPr>
          <p:cNvPr id="58372" name="Rectangle 3"/>
          <p:cNvSpPr>
            <a:spLocks noGrp="1"/>
          </p:cNvSpPr>
          <p:nvPr>
            <p:ph idx="1"/>
          </p:nvPr>
        </p:nvSpPr>
        <p:spPr/>
        <p:txBody>
          <a:bodyPr vert="horz" wrap="square" lIns="91440" tIns="45720" rIns="91440" bIns="45720" anchor="t" anchorCtr="0"/>
          <a:p>
            <a:pPr eaLnBrk="1" hangingPunct="1">
              <a:spcBef>
                <a:spcPct val="0"/>
              </a:spcBef>
            </a:pPr>
            <a:endParaRPr kumimoji="1" lang="en-US" altLang="zh-CN" dirty="0">
              <a:latin typeface="+mn-lt"/>
              <a:ea typeface="+mn-ea"/>
              <a:cs typeface="+mn-cs"/>
            </a:endParaRPr>
          </a:p>
          <a:p>
            <a:pPr eaLnBrk="1" hangingPunct="1">
              <a:spcBef>
                <a:spcPct val="0"/>
              </a:spcBef>
            </a:pPr>
            <a:r>
              <a:rPr kumimoji="1" lang="zh-CN" altLang="en-US" dirty="0">
                <a:latin typeface="+mn-lt"/>
                <a:ea typeface="+mn-ea"/>
                <a:cs typeface="+mn-cs"/>
              </a:rPr>
              <a:t>防缓冲区溢出攻击优化</a:t>
            </a:r>
            <a:endParaRPr kumimoji="1" lang="zh-CN" altLang="en-US" dirty="0">
              <a:latin typeface="+mn-lt"/>
              <a:ea typeface="+mn-ea"/>
              <a:cs typeface="+mn-cs"/>
            </a:endParaRPr>
          </a:p>
          <a:p>
            <a:pPr eaLnBrk="1" hangingPunct="1">
              <a:spcBef>
                <a:spcPct val="0"/>
              </a:spcBef>
            </a:pPr>
            <a:r>
              <a:rPr kumimoji="1" lang="zh-CN" altLang="en-US" dirty="0">
                <a:latin typeface="+mn-lt"/>
                <a:ea typeface="+mn-ea"/>
                <a:cs typeface="+mn-cs"/>
              </a:rPr>
              <a:t>软件性能优化</a:t>
            </a:r>
            <a:endParaRPr kumimoji="1" lang="zh-CN" altLang="en-US" dirty="0">
              <a:latin typeface="+mn-lt"/>
              <a:ea typeface="+mn-ea"/>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graphicFrame>
        <p:nvGraphicFramePr>
          <p:cNvPr id="4098" name="Object 2"/>
          <p:cNvGraphicFramePr/>
          <p:nvPr/>
        </p:nvGraphicFramePr>
        <p:xfrm>
          <a:off x="539750" y="3167063"/>
          <a:ext cx="11214100" cy="3419475"/>
        </p:xfrm>
        <a:graphic>
          <a:graphicData uri="http://schemas.openxmlformats.org/presentationml/2006/ole">
            <mc:AlternateContent xmlns:mc="http://schemas.openxmlformats.org/markup-compatibility/2006">
              <mc:Choice xmlns:v="urn:schemas-microsoft-com:vml" Requires="v">
                <p:oleObj spid="_x0000_s3078" name="" r:id="rId1" imgW="8410575" imgH="3419475" progId="Paint.Picture">
                  <p:embed/>
                </p:oleObj>
              </mc:Choice>
              <mc:Fallback>
                <p:oleObj name="" r:id="rId1" imgW="8410575" imgH="3419475" progId="Paint.Picture">
                  <p:embed/>
                  <p:pic>
                    <p:nvPicPr>
                      <p:cNvPr id="0" name="图片 3077"/>
                      <p:cNvPicPr/>
                      <p:nvPr/>
                    </p:nvPicPr>
                    <p:blipFill>
                      <a:blip r:embed="rId2"/>
                      <a:stretch>
                        <a:fillRect/>
                      </a:stretch>
                    </p:blipFill>
                    <p:spPr>
                      <a:xfrm>
                        <a:off x="539750" y="3167063"/>
                        <a:ext cx="11214100" cy="3419475"/>
                      </a:xfrm>
                      <a:prstGeom prst="rect">
                        <a:avLst/>
                      </a:prstGeom>
                      <a:noFill/>
                      <a:ln w="38100">
                        <a:noFill/>
                        <a:miter/>
                      </a:ln>
                    </p:spPr>
                  </p:pic>
                </p:oleObj>
              </mc:Fallback>
            </mc:AlternateContent>
          </a:graphicData>
        </a:graphic>
      </p:graphicFrame>
      <p:sp>
        <p:nvSpPr>
          <p:cNvPr id="4100" name="Rectangle 3"/>
          <p:cNvSpPr/>
          <p:nvPr/>
        </p:nvSpPr>
        <p:spPr>
          <a:xfrm>
            <a:off x="996950" y="214313"/>
            <a:ext cx="10361613" cy="760412"/>
          </a:xfrm>
          <a:prstGeom prst="rect">
            <a:avLst/>
          </a:prstGeom>
          <a:noFill/>
          <a:ln w="9525">
            <a:noFill/>
          </a:ln>
        </p:spPr>
        <p:txBody>
          <a:bodyPr anchor="ctr" anchorCtr="0"/>
          <a:p>
            <a:pPr algn="ctr">
              <a:spcBef>
                <a:spcPct val="0"/>
              </a:spcBef>
            </a:pPr>
            <a:r>
              <a:rPr lang="zh-CN" altLang="en-US" sz="3200" dirty="0">
                <a:solidFill>
                  <a:srgbClr val="FF0000"/>
                </a:solidFill>
                <a:latin typeface="Arial" panose="02080604020202020204" pitchFamily="34" charset="0"/>
                <a:ea typeface="黑体" panose="02000500000000000000" pitchFamily="49" charset="-122"/>
              </a:rPr>
              <a:t>利用</a:t>
            </a:r>
            <a:r>
              <a:rPr lang="en-US" altLang="zh-CN" sz="3200" dirty="0">
                <a:solidFill>
                  <a:srgbClr val="FF0000"/>
                </a:solidFill>
                <a:latin typeface="Arial" panose="02080604020202020204" pitchFamily="34" charset="0"/>
                <a:ea typeface="黑体" panose="02000500000000000000" pitchFamily="49" charset="-122"/>
              </a:rPr>
              <a:t>TLB</a:t>
            </a:r>
            <a:r>
              <a:rPr lang="zh-CN" altLang="zh-CN" sz="3200" dirty="0">
                <a:solidFill>
                  <a:srgbClr val="FF0000"/>
                </a:solidFill>
                <a:latin typeface="Arial" panose="02080604020202020204" pitchFamily="34" charset="0"/>
                <a:ea typeface="黑体" panose="02000500000000000000" pitchFamily="49" charset="-122"/>
              </a:rPr>
              <a:t>的</a:t>
            </a:r>
            <a:r>
              <a:rPr lang="zh-CN" altLang="en-US" sz="3200" dirty="0">
                <a:solidFill>
                  <a:srgbClr val="FF0000"/>
                </a:solidFill>
                <a:latin typeface="Arial" panose="02080604020202020204" pitchFamily="34" charset="0"/>
                <a:ea typeface="黑体" panose="02000500000000000000" pitchFamily="49" charset="-122"/>
              </a:rPr>
              <a:t>保护</a:t>
            </a:r>
            <a:r>
              <a:rPr lang="zh-CN" altLang="zh-CN" sz="3200" dirty="0">
                <a:solidFill>
                  <a:srgbClr val="FF0000"/>
                </a:solidFill>
                <a:latin typeface="Arial" panose="02080604020202020204" pitchFamily="34" charset="0"/>
                <a:ea typeface="黑体" panose="02000500000000000000" pitchFamily="49" charset="-122"/>
              </a:rPr>
              <a:t>机制</a:t>
            </a:r>
            <a:r>
              <a:rPr lang="zh-CN" altLang="en-US" sz="3200" dirty="0">
                <a:solidFill>
                  <a:srgbClr val="FF0000"/>
                </a:solidFill>
                <a:latin typeface="Arial" panose="02080604020202020204" pitchFamily="34" charset="0"/>
                <a:ea typeface="黑体" panose="02000500000000000000" pitchFamily="49" charset="-122"/>
              </a:rPr>
              <a:t>防范攻击</a:t>
            </a:r>
            <a:endParaRPr lang="zh-CN" altLang="en-US" sz="3200" dirty="0">
              <a:solidFill>
                <a:srgbClr val="FF0000"/>
              </a:solidFill>
              <a:latin typeface="Arial" panose="02080604020202020204" pitchFamily="34" charset="0"/>
              <a:ea typeface="黑体" panose="02000500000000000000" pitchFamily="49" charset="-122"/>
            </a:endParaRPr>
          </a:p>
        </p:txBody>
      </p:sp>
      <p:sp>
        <p:nvSpPr>
          <p:cNvPr id="2053" name="Rectangle 4"/>
          <p:cNvSpPr>
            <a:spLocks noChangeArrowheads="1"/>
          </p:cNvSpPr>
          <p:nvPr/>
        </p:nvSpPr>
        <p:spPr bwMode="auto">
          <a:xfrm>
            <a:off x="711200" y="1065213"/>
            <a:ext cx="10712450" cy="1616075"/>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利用缓冲区溢出进行攻击的例子</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1200" cap="none" spc="0" normalizeH="0" baseline="0" noProof="0" dirty="0">
                <a:ln>
                  <a:noFill/>
                </a:ln>
                <a:solidFill>
                  <a:schemeClr val="tx1"/>
                </a:solidFill>
                <a:effectLst/>
                <a:uLnTx/>
                <a:uFillTx/>
                <a:latin typeface="+mn-ea"/>
                <a:ea typeface="+mn-ea"/>
                <a:cs typeface="+mn-cs"/>
              </a:rPr>
              <a:t>龙芯处理器</a:t>
            </a:r>
            <a:r>
              <a:rPr kumimoji="1" lang="zh-CN" altLang="zh-CN" sz="2000" b="1" i="0" u="none" strike="noStrike" kern="1200" cap="none" spc="0" normalizeH="0" baseline="0" noProof="0" dirty="0">
                <a:ln>
                  <a:noFill/>
                </a:ln>
                <a:solidFill>
                  <a:schemeClr val="tx1"/>
                </a:solidFill>
                <a:effectLst/>
                <a:uLnTx/>
                <a:uFillTx/>
                <a:latin typeface="+mn-ea"/>
                <a:ea typeface="+mn-ea"/>
                <a:cs typeface="+mn-cs"/>
              </a:rPr>
              <a:t>通过可执行保护防止缓冲区溢出攻击</a:t>
            </a:r>
            <a:endParaRPr kumimoji="1" lang="zh-CN" altLang="en-US" sz="2000" b="1" i="0" u="none" strike="noStrike" kern="1200" cap="none" spc="0" normalizeH="0" baseline="0" noProof="0" dirty="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1800" b="1" i="0" u="none" strike="noStrike" kern="1200" cap="none" spc="0" normalizeH="0" baseline="0" noProof="0" dirty="0">
                <a:ln>
                  <a:noFill/>
                </a:ln>
                <a:solidFill>
                  <a:schemeClr val="tx1"/>
                </a:solidFill>
                <a:effectLst/>
                <a:uLnTx/>
                <a:uFillTx/>
                <a:latin typeface="+mn-ea"/>
                <a:ea typeface="+mn-ea"/>
                <a:cs typeface="+mn-cs"/>
              </a:rPr>
              <a:t>TLB</a:t>
            </a:r>
            <a:r>
              <a:rPr kumimoji="1" lang="zh-CN" altLang="zh-CN" sz="1800" b="1" i="0" u="none" strike="noStrike" kern="1200" cap="none" spc="0" normalizeH="0" baseline="0" noProof="0" dirty="0">
                <a:ln>
                  <a:noFill/>
                </a:ln>
                <a:solidFill>
                  <a:schemeClr val="tx1"/>
                </a:solidFill>
                <a:effectLst/>
                <a:uLnTx/>
                <a:uFillTx/>
                <a:latin typeface="+mn-ea"/>
                <a:ea typeface="+mn-ea"/>
                <a:cs typeface="+mn-cs"/>
              </a:rPr>
              <a:t>增加可执行位</a:t>
            </a:r>
            <a:endParaRPr kumimoji="1" lang="zh-CN" altLang="zh-CN" sz="1800" b="1" i="0" u="none" strike="noStrike" kern="1200" cap="none" spc="0" normalizeH="0" baseline="0" noProof="0" dirty="0">
              <a:ln>
                <a:noFill/>
              </a:ln>
              <a:solidFill>
                <a:schemeClr val="tx1"/>
              </a:solidFill>
              <a:effectLst/>
              <a:uLnTx/>
              <a:uFillTx/>
              <a:latin typeface="+mn-ea"/>
              <a:ea typeface="+mn-ea"/>
              <a:cs typeface="+mn-cs"/>
            </a:endParaRPr>
          </a:p>
        </p:txBody>
      </p:sp>
      <p:sp>
        <p:nvSpPr>
          <p:cNvPr id="4102" name="Rectangle 5"/>
          <p:cNvSpPr/>
          <p:nvPr/>
        </p:nvSpPr>
        <p:spPr>
          <a:xfrm>
            <a:off x="5030788" y="3711575"/>
            <a:ext cx="2439987" cy="173038"/>
          </a:xfrm>
          <a:prstGeom prst="rect">
            <a:avLst/>
          </a:prstGeom>
          <a:noFill/>
          <a:ln w="19050" cap="flat" cmpd="sng">
            <a:solidFill>
              <a:srgbClr val="FF3300"/>
            </a:solidFill>
            <a:prstDash val="solid"/>
            <a:miter/>
            <a:headEnd type="none" w="med" len="med"/>
            <a:tailEnd type="none" w="med" len="med"/>
          </a:ln>
        </p:spPr>
        <p:txBody>
          <a:bodyPr wrap="none" anchor="ctr" anchorCtr="0"/>
          <a:p>
            <a:endParaRPr lang="zh-CN" altLang="en-US" dirty="0">
              <a:latin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9395" name="Rectangle 2"/>
          <p:cNvSpPr>
            <a:spLocks noGrp="1"/>
          </p:cNvSpPr>
          <p:nvPr>
            <p:ph type="title"/>
          </p:nvPr>
        </p:nvSpPr>
        <p:spPr>
          <a:xfrm>
            <a:off x="939800" y="76200"/>
            <a:ext cx="10361613" cy="871538"/>
          </a:xfrm>
        </p:spPr>
        <p:txBody>
          <a:bodyPr vert="horz" wrap="square" lIns="91440" tIns="45720" rIns="91440" bIns="45720" anchor="ctr" anchorCtr="0"/>
          <a:p>
            <a:pPr eaLnBrk="1" hangingPunct="1"/>
            <a:r>
              <a:rPr lang="en-US" altLang="zh-CN" dirty="0"/>
              <a:t>TLB</a:t>
            </a:r>
            <a:r>
              <a:rPr lang="zh-CN" altLang="en-US" dirty="0"/>
              <a:t>相关性能数据</a:t>
            </a:r>
            <a:endParaRPr lang="zh-CN" altLang="en-US" dirty="0"/>
          </a:p>
        </p:txBody>
      </p:sp>
      <p:sp>
        <p:nvSpPr>
          <p:cNvPr id="45060" name="Rectangle 3"/>
          <p:cNvSpPr>
            <a:spLocks noGrp="1" noChangeArrowheads="1"/>
          </p:cNvSpPr>
          <p:nvPr>
            <p:ph idx="1"/>
          </p:nvPr>
        </p:nvSpPr>
        <p:spPr>
          <a:xfrm>
            <a:off x="914400" y="1128713"/>
            <a:ext cx="10825163" cy="4967288"/>
          </a:xfrm>
        </p:spPr>
        <p:txBody>
          <a:bodyPr vert="horz" wrap="square" lIns="91440" tIns="45720" rIns="91440" bIns="45720" numCol="1" anchor="t" anchorCtr="0" compatLnSpc="1"/>
          <a:lstStyle/>
          <a:p>
            <a:pPr marL="342900" marR="0" lvl="0" indent="-342900" algn="l" defTabSz="914400" rtl="0" eaLnBrk="1" latinLnBrk="0" hangingPunct="1">
              <a:lnSpc>
                <a:spcPct val="150000"/>
              </a:lnSpc>
              <a:spcBef>
                <a:spcPts val="60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 miss</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处理的时间可以占到高达</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40%</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的运行时间，占</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40~90%</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的内核运行时间</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latinLnBrk="0" hangingPunct="1">
              <a:lnSpc>
                <a:spcPct val="150000"/>
              </a:lnSpc>
              <a:spcBef>
                <a:spcPts val="600"/>
              </a:spcBef>
              <a:spcAft>
                <a:spcPct val="0"/>
              </a:spcAft>
              <a:buClrTx/>
              <a:buSzTx/>
              <a:buFontTx/>
              <a:buChar char="•"/>
              <a:defRPr/>
            </a:pP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SPEC CPU2000</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大约</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1/4</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的程序有比较显著的</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 miss</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早期多数</a:t>
            </a:r>
            <a:r>
              <a:rPr kumimoji="1" lang="en-US" altLang="zh-CN" sz="1800" b="1" i="0" u="none" strike="noStrike" kern="0" cap="none" spc="0" normalizeH="0" baseline="0" noProof="0" dirty="0" smtClean="0">
                <a:ln>
                  <a:noFill/>
                </a:ln>
                <a:solidFill>
                  <a:schemeClr val="tx1"/>
                </a:solidFill>
                <a:effectLst/>
                <a:uLnTx/>
                <a:uFillTx/>
                <a:latin typeface="+mn-ea"/>
                <a:ea typeface="+mn-ea"/>
              </a:rPr>
              <a:t>CPU</a:t>
            </a:r>
            <a:r>
              <a:rPr kumimoji="1" lang="zh-CN" altLang="en-US" sz="1800" b="1" i="0" u="none" strike="noStrike" kern="0" cap="none" spc="0" normalizeH="0" baseline="0" noProof="0" dirty="0" smtClean="0">
                <a:ln>
                  <a:noFill/>
                </a:ln>
                <a:solidFill>
                  <a:schemeClr val="tx1"/>
                </a:solidFill>
                <a:effectLst/>
                <a:uLnTx/>
                <a:uFillTx/>
                <a:latin typeface="+mn-ea"/>
                <a:ea typeface="+mn-ea"/>
              </a:rPr>
              <a:t>的</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r>
              <a:rPr kumimoji="1" lang="zh-CN" altLang="en-US" sz="1800" b="1" i="0" u="none" strike="noStrike" kern="0" cap="none" spc="0" normalizeH="0" baseline="0" noProof="0" dirty="0" smtClean="0">
                <a:ln>
                  <a:noFill/>
                </a:ln>
                <a:solidFill>
                  <a:schemeClr val="tx1"/>
                </a:solidFill>
                <a:effectLst/>
                <a:uLnTx/>
                <a:uFillTx/>
                <a:latin typeface="+mn-ea"/>
                <a:ea typeface="+mn-ea"/>
              </a:rPr>
              <a:t>是全相连的</a:t>
            </a:r>
            <a:r>
              <a:rPr kumimoji="1" lang="en-US" altLang="zh-CN" sz="1800" b="1" i="0" u="none" strike="noStrike" kern="0" cap="none" spc="0" normalizeH="0" baseline="0" noProof="0" dirty="0" smtClean="0">
                <a:ln>
                  <a:noFill/>
                </a:ln>
                <a:solidFill>
                  <a:schemeClr val="tx1"/>
                </a:solidFill>
                <a:effectLst/>
                <a:uLnTx/>
                <a:uFillTx/>
                <a:latin typeface="+mn-ea"/>
                <a:ea typeface="+mn-ea"/>
              </a:rPr>
              <a:t>32-128</a:t>
            </a:r>
            <a:r>
              <a:rPr kumimoji="1" lang="zh-CN" altLang="en-US" sz="1800" b="1" i="0" u="none" strike="noStrike" kern="0" cap="none" spc="0" normalizeH="0" baseline="0" noProof="0" dirty="0" smtClean="0">
                <a:ln>
                  <a:noFill/>
                </a:ln>
                <a:solidFill>
                  <a:schemeClr val="tx1"/>
                </a:solidFill>
                <a:effectLst/>
                <a:uLnTx/>
                <a:uFillTx/>
                <a:latin typeface="+mn-ea"/>
                <a:ea typeface="+mn-ea"/>
              </a:rPr>
              <a:t>项，如果每项</a:t>
            </a:r>
            <a:r>
              <a:rPr kumimoji="1" lang="en-US" altLang="zh-CN" sz="1800" b="1" i="0" u="none" strike="noStrike" kern="0" cap="none" spc="0" normalizeH="0" baseline="0" noProof="0" dirty="0" smtClean="0">
                <a:ln>
                  <a:noFill/>
                </a:ln>
                <a:solidFill>
                  <a:schemeClr val="tx1"/>
                </a:solidFill>
                <a:effectLst/>
                <a:uLnTx/>
                <a:uFillTx/>
                <a:latin typeface="+mn-ea"/>
                <a:ea typeface="+mn-ea"/>
              </a:rPr>
              <a:t>4KB</a:t>
            </a:r>
            <a:r>
              <a:rPr kumimoji="1" lang="zh-CN" altLang="en-US" sz="1800" b="1" i="0" u="none" strike="noStrike" kern="0" cap="none" spc="0" normalizeH="0" baseline="0" noProof="0" dirty="0" smtClean="0">
                <a:ln>
                  <a:noFill/>
                </a:ln>
                <a:solidFill>
                  <a:schemeClr val="tx1"/>
                </a:solidFill>
                <a:effectLst/>
                <a:uLnTx/>
                <a:uFillTx/>
                <a:latin typeface="+mn-ea"/>
                <a:ea typeface="+mn-ea"/>
              </a:rPr>
              <a:t>，能映射的空间只有几百</a:t>
            </a:r>
            <a:r>
              <a:rPr kumimoji="1" lang="en-US" altLang="zh-CN" sz="1800" b="1" i="0" u="none" strike="noStrike" kern="0" cap="none" spc="0" normalizeH="0" baseline="0" noProof="0" dirty="0" smtClean="0">
                <a:ln>
                  <a:noFill/>
                </a:ln>
                <a:solidFill>
                  <a:schemeClr val="tx1"/>
                </a:solidFill>
                <a:effectLst/>
                <a:uLnTx/>
                <a:uFillTx/>
                <a:latin typeface="+mn-ea"/>
                <a:ea typeface="+mn-ea"/>
              </a:rPr>
              <a:t>KB</a:t>
            </a:r>
            <a:r>
              <a:rPr kumimoji="1" lang="zh-CN" altLang="en-US" sz="1800" b="1" i="0" u="none" strike="noStrike" kern="0" cap="none" spc="0" normalizeH="0" baseline="0" noProof="0" dirty="0" smtClean="0">
                <a:ln>
                  <a:noFill/>
                </a:ln>
                <a:solidFill>
                  <a:schemeClr val="tx1"/>
                </a:solidFill>
                <a:effectLst/>
                <a:uLnTx/>
                <a:uFillTx/>
                <a:latin typeface="+mn-ea"/>
                <a:ea typeface="+mn-ea"/>
              </a:rPr>
              <a:t>，越来越难满足现代程序的需求</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latinLnBrk="0" hangingPunct="1">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性能优化方法</a:t>
            </a:r>
            <a:endParaRPr kumimoji="1" lang="en-US" altLang="zh-CN" sz="2000" b="1" i="0" u="none" strike="noStrike" kern="0" cap="none" spc="0" normalizeH="0" baseline="0" noProof="0" dirty="0" smtClean="0">
              <a:ln>
                <a:noFill/>
              </a:ln>
              <a:solidFill>
                <a:schemeClr val="tx1"/>
              </a:solidFill>
              <a:effectLst/>
              <a:uLnTx/>
              <a:uFillTx/>
              <a:latin typeface="+mn-ea"/>
              <a:ea typeface="+mn-ea"/>
              <a:cs typeface="+mn-cs"/>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增加</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r>
              <a:rPr kumimoji="1" lang="zh-CN" altLang="en-US" sz="1800" b="1" i="0" u="none" strike="noStrike" kern="0" cap="none" spc="0" normalizeH="0" baseline="0" noProof="0" dirty="0" smtClean="0">
                <a:ln>
                  <a:noFill/>
                </a:ln>
                <a:solidFill>
                  <a:schemeClr val="tx1"/>
                </a:solidFill>
                <a:effectLst/>
                <a:uLnTx/>
                <a:uFillTx/>
                <a:latin typeface="+mn-ea"/>
                <a:ea typeface="+mn-ea"/>
              </a:rPr>
              <a:t>覆盖空间大小，降低</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r>
              <a:rPr kumimoji="1" lang="zh-CN" altLang="en-US" sz="1800" b="1" i="0" u="none" strike="noStrike" kern="0" cap="none" spc="0" normalizeH="0" baseline="0" noProof="0" dirty="0" smtClean="0">
                <a:ln>
                  <a:noFill/>
                </a:ln>
                <a:solidFill>
                  <a:schemeClr val="tx1"/>
                </a:solidFill>
                <a:effectLst/>
                <a:uLnTx/>
                <a:uFillTx/>
                <a:latin typeface="+mn-ea"/>
                <a:ea typeface="+mn-ea"/>
              </a:rPr>
              <a:t>失效概率</a:t>
            </a:r>
            <a:endParaRPr kumimoji="1" lang="en-US" altLang="zh-CN" sz="1800" b="1" i="0" u="none" strike="noStrike" kern="0" cap="none" spc="0" normalizeH="0" baseline="0" noProof="0" dirty="0" smtClean="0">
              <a:ln>
                <a:noFill/>
              </a:ln>
              <a:solidFill>
                <a:schemeClr val="tx1"/>
              </a:solidFill>
              <a:effectLst/>
              <a:uLnTx/>
              <a:uFillTx/>
              <a:latin typeface="+mn-ea"/>
              <a:ea typeface="+mn-ea"/>
            </a:endParaRPr>
          </a:p>
          <a:p>
            <a:pPr marL="742950" marR="0" lvl="1" indent="-285750" algn="l" defTabSz="914400" rtl="0" eaLnBrk="1" latinLnBrk="0" hangingPunct="1">
              <a:lnSpc>
                <a:spcPct val="150000"/>
              </a:lnSpc>
              <a:spcBef>
                <a:spcPts val="600"/>
              </a:spcBef>
              <a:spcAft>
                <a:spcPct val="0"/>
              </a:spcAft>
              <a:buClrTx/>
              <a:buSzTx/>
              <a:buFontTx/>
              <a:buChar char="•"/>
              <a:defRPr/>
            </a:pPr>
            <a:r>
              <a:rPr kumimoji="1" lang="zh-CN" altLang="en-US" sz="1800" b="1" i="0" u="none" strike="noStrike" kern="0" cap="none" spc="0" normalizeH="0" baseline="0" noProof="0" dirty="0" smtClean="0">
                <a:ln>
                  <a:noFill/>
                </a:ln>
                <a:solidFill>
                  <a:schemeClr val="tx1"/>
                </a:solidFill>
                <a:effectLst/>
                <a:uLnTx/>
                <a:uFillTx/>
                <a:latin typeface="+mn-ea"/>
                <a:ea typeface="+mn-ea"/>
              </a:rPr>
              <a:t>降低</a:t>
            </a:r>
            <a:r>
              <a:rPr kumimoji="1" lang="en-US" altLang="zh-CN" sz="1800" b="1" i="0" u="none" strike="noStrike" kern="0" cap="none" spc="0" normalizeH="0" baseline="0" noProof="0" dirty="0" smtClean="0">
                <a:ln>
                  <a:noFill/>
                </a:ln>
                <a:solidFill>
                  <a:schemeClr val="tx1"/>
                </a:solidFill>
                <a:effectLst/>
                <a:uLnTx/>
                <a:uFillTx/>
                <a:latin typeface="+mn-ea"/>
                <a:ea typeface="+mn-ea"/>
              </a:rPr>
              <a:t>TLB</a:t>
            </a:r>
            <a:r>
              <a:rPr kumimoji="1" lang="zh-CN" altLang="en-US" sz="1800" b="1" i="0" u="none" strike="noStrike" kern="0" cap="none" spc="0" normalizeH="0" baseline="0" noProof="0" dirty="0" smtClean="0">
                <a:ln>
                  <a:noFill/>
                </a:ln>
                <a:solidFill>
                  <a:schemeClr val="tx1"/>
                </a:solidFill>
                <a:effectLst/>
                <a:uLnTx/>
                <a:uFillTx/>
                <a:latin typeface="+mn-ea"/>
                <a:ea typeface="+mn-ea"/>
              </a:rPr>
              <a:t>失效开销</a:t>
            </a:r>
            <a:endParaRPr kumimoji="1" lang="zh-CN" altLang="en-US" sz="1800" b="1" i="0" u="none" strike="noStrike" kern="0" cap="none" spc="0" normalizeH="0" baseline="0" noProof="0" dirty="0" smtClean="0">
              <a:ln>
                <a:noFill/>
              </a:ln>
              <a:solidFill>
                <a:schemeClr val="tx1"/>
              </a:solidFill>
              <a:effectLst/>
              <a:uLnTx/>
              <a:uFillTx/>
              <a:latin typeface="+mn-ea"/>
              <a:ea typeface="+mn-ea"/>
            </a:endParaRPr>
          </a:p>
          <a:p>
            <a:pPr marL="342900" marR="0" lvl="0" indent="-342900" algn="l" defTabSz="914400" rtl="0" eaLnBrk="1" fontAlgn="base" latinLnBrk="0" hangingPunct="1">
              <a:lnSpc>
                <a:spcPct val="150000"/>
              </a:lnSpc>
              <a:spcBef>
                <a:spcPts val="600"/>
              </a:spcBef>
              <a:spcAft>
                <a:spcPct val="0"/>
              </a:spcAft>
              <a:buClrTx/>
              <a:buSzTx/>
              <a:buFontTx/>
              <a:buChar char="•"/>
              <a:defRPr/>
            </a:pPr>
            <a:endParaRPr kumimoji="1" lang="zh-CN" altLang="en-US" sz="18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4"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5125" name="Rectangle 2"/>
          <p:cNvSpPr>
            <a:spLocks noGrp="1"/>
          </p:cNvSpPr>
          <p:nvPr>
            <p:ph type="title"/>
          </p:nvPr>
        </p:nvSpPr>
        <p:spPr>
          <a:xfrm>
            <a:off x="900113" y="63500"/>
            <a:ext cx="10361612" cy="1058863"/>
          </a:xfrm>
        </p:spPr>
        <p:txBody>
          <a:bodyPr vert="horz" wrap="square" lIns="91440" tIns="45720" rIns="91440" bIns="45720" anchor="ctr" anchorCtr="0"/>
          <a:p>
            <a:pPr eaLnBrk="1" hangingPunct="1"/>
            <a:r>
              <a:rPr lang="zh-CN" altLang="en-US" dirty="0"/>
              <a:t>增加页大小后性能显著提高</a:t>
            </a:r>
            <a:endParaRPr lang="zh-CN" altLang="en-US" dirty="0"/>
          </a:p>
        </p:txBody>
      </p:sp>
      <p:sp>
        <p:nvSpPr>
          <p:cNvPr id="3078" name="Rectangle 3"/>
          <p:cNvSpPr>
            <a:spLocks noGrp="1" noChangeArrowheads="1"/>
          </p:cNvSpPr>
          <p:nvPr>
            <p:ph idx="1"/>
          </p:nvPr>
        </p:nvSpPr>
        <p:spPr>
          <a:xfrm>
            <a:off x="914400" y="1139825"/>
            <a:ext cx="10361613" cy="1666875"/>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0"/>
              </a:spcBef>
              <a:spcAft>
                <a:spcPct val="0"/>
              </a:spcAft>
              <a:buClrTx/>
              <a:buSzTx/>
              <a:buFontTx/>
              <a:buChar char="•"/>
              <a:defRPr/>
            </a:pPr>
            <a:r>
              <a:rPr kumimoji="1" lang="zh-CN" altLang="en-US" sz="2000" b="1" i="0" u="none" strike="noStrike" kern="0" cap="none" spc="0" normalizeH="0" baseline="0" noProof="0" smtClean="0">
                <a:ln>
                  <a:noFill/>
                </a:ln>
                <a:solidFill>
                  <a:schemeClr val="tx1"/>
                </a:solidFill>
                <a:effectLst/>
                <a:uLnTx/>
                <a:uFillTx/>
                <a:latin typeface="+mn-ea"/>
                <a:ea typeface="+mn-ea"/>
                <a:cs typeface="+mn-cs"/>
              </a:rPr>
              <a:t>增加页大小后，</a:t>
            </a:r>
            <a:r>
              <a:rPr kumimoji="1" lang="en-US" altLang="zh-CN" sz="2000" b="1" i="0" u="none" strike="noStrike" kern="0" cap="none" spc="0" normalizeH="0" baseline="0" noProof="0" smtClean="0">
                <a:ln>
                  <a:noFill/>
                </a:ln>
                <a:solidFill>
                  <a:schemeClr val="tx1"/>
                </a:solidFill>
                <a:effectLst/>
                <a:uLnTx/>
                <a:uFillTx/>
                <a:latin typeface="+mn-ea"/>
                <a:ea typeface="+mn-ea"/>
                <a:cs typeface="+mn-cs"/>
              </a:rPr>
              <a:t>TLB</a:t>
            </a:r>
            <a:r>
              <a:rPr kumimoji="1" lang="zh-CN" altLang="en-US" sz="2000" b="1" i="0" u="none" strike="noStrike" kern="0" cap="none" spc="0" normalizeH="0" baseline="0" noProof="0" smtClean="0">
                <a:ln>
                  <a:noFill/>
                </a:ln>
                <a:solidFill>
                  <a:schemeClr val="tx1"/>
                </a:solidFill>
                <a:effectLst/>
                <a:uLnTx/>
                <a:uFillTx/>
                <a:latin typeface="+mn-ea"/>
                <a:ea typeface="+mn-ea"/>
                <a:cs typeface="+mn-cs"/>
              </a:rPr>
              <a:t>失效明显减少</a:t>
            </a:r>
            <a:endParaRPr kumimoji="1" lang="zh-CN" altLang="en-US" sz="2000" b="1" i="0" u="none" strike="noStrike" kern="0" cap="none" spc="0" normalizeH="0" baseline="0" noProof="0" smtClean="0">
              <a:ln>
                <a:noFill/>
              </a:ln>
              <a:solidFill>
                <a:schemeClr val="tx1"/>
              </a:solidFill>
              <a:effectLst/>
              <a:uLnTx/>
              <a:uFillTx/>
              <a:latin typeface="+mn-ea"/>
              <a:ea typeface="+mn-ea"/>
              <a:cs typeface="+mn-cs"/>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en-US" altLang="zh-CN" sz="1800" b="1" i="0" u="none" strike="noStrike" kern="0" cap="none" spc="0" normalizeH="0" baseline="0" noProof="0" smtClean="0">
                <a:ln>
                  <a:noFill/>
                </a:ln>
                <a:solidFill>
                  <a:schemeClr val="tx1"/>
                </a:solidFill>
                <a:effectLst/>
                <a:uLnTx/>
                <a:uFillTx/>
                <a:latin typeface="+mn-ea"/>
                <a:ea typeface="+mn-ea"/>
              </a:rPr>
              <a:t>16KB</a:t>
            </a:r>
            <a:r>
              <a:rPr kumimoji="1" lang="zh-CN" altLang="en-US" sz="1800" b="1" i="0" u="none" strike="noStrike" kern="0" cap="none" spc="0" normalizeH="0" baseline="0" noProof="0" smtClean="0">
                <a:ln>
                  <a:noFill/>
                </a:ln>
                <a:solidFill>
                  <a:schemeClr val="tx1"/>
                </a:solidFill>
                <a:effectLst/>
                <a:uLnTx/>
                <a:uFillTx/>
                <a:latin typeface="+mn-ea"/>
                <a:ea typeface="+mn-ea"/>
              </a:rPr>
              <a:t>页时</a:t>
            </a:r>
            <a:r>
              <a:rPr kumimoji="1" lang="en-US" altLang="zh-CN" sz="1800" b="1" i="0" u="none" strike="noStrike" kern="0" cap="none" spc="0" normalizeH="0" baseline="0" noProof="0" smtClean="0">
                <a:ln>
                  <a:noFill/>
                </a:ln>
                <a:solidFill>
                  <a:schemeClr val="tx1"/>
                </a:solidFill>
                <a:effectLst/>
                <a:uLnTx/>
                <a:uFillTx/>
                <a:latin typeface="+mn-ea"/>
                <a:ea typeface="+mn-ea"/>
              </a:rPr>
              <a:t>128</a:t>
            </a:r>
            <a:r>
              <a:rPr kumimoji="1" lang="zh-CN" altLang="en-US" sz="1800" b="1" i="0" u="none" strike="noStrike" kern="0" cap="none" spc="0" normalizeH="0" baseline="0" noProof="0" smtClean="0">
                <a:ln>
                  <a:noFill/>
                </a:ln>
                <a:solidFill>
                  <a:schemeClr val="tx1"/>
                </a:solidFill>
                <a:effectLst/>
                <a:uLnTx/>
                <a:uFillTx/>
                <a:latin typeface="+mn-ea"/>
                <a:ea typeface="+mn-ea"/>
              </a:rPr>
              <a:t>页有</a:t>
            </a:r>
            <a:r>
              <a:rPr kumimoji="1" lang="en-US" altLang="zh-CN" sz="1800" b="1" i="0" u="none" strike="noStrike" kern="0" cap="none" spc="0" normalizeH="0" baseline="0" noProof="0" smtClean="0">
                <a:ln>
                  <a:noFill/>
                </a:ln>
                <a:solidFill>
                  <a:schemeClr val="tx1"/>
                </a:solidFill>
                <a:effectLst/>
                <a:uLnTx/>
                <a:uFillTx/>
                <a:latin typeface="+mn-ea"/>
                <a:ea typeface="+mn-ea"/>
              </a:rPr>
              <a:t>2MB</a:t>
            </a:r>
            <a:endParaRPr kumimoji="1" lang="en-US" altLang="zh-CN" sz="1800" b="1" i="0" u="none" strike="noStrike" kern="0" cap="none" spc="0" normalizeH="0" baseline="0" noProof="0" smtClean="0">
              <a:ln>
                <a:noFill/>
              </a:ln>
              <a:solidFill>
                <a:schemeClr val="tx1"/>
              </a:solidFill>
              <a:effectLst/>
              <a:uLnTx/>
              <a:uFillTx/>
              <a:latin typeface="+mn-ea"/>
              <a:ea typeface="+mn-ea"/>
            </a:endParaRPr>
          </a:p>
          <a:p>
            <a:pPr marL="742950" marR="0" lvl="1" indent="-285750" algn="l" defTabSz="914400" rtl="0" eaLnBrk="1" fontAlgn="base" latinLnBrk="0" hangingPunct="1">
              <a:lnSpc>
                <a:spcPct val="150000"/>
              </a:lnSpc>
              <a:spcBef>
                <a:spcPct val="0"/>
              </a:spcBef>
              <a:spcAft>
                <a:spcPct val="0"/>
              </a:spcAft>
              <a:buClrTx/>
              <a:buSzTx/>
              <a:buFontTx/>
              <a:buChar char="•"/>
              <a:defRPr/>
            </a:pPr>
            <a:r>
              <a:rPr kumimoji="1" lang="zh-CN" altLang="en-US" sz="1800" b="1" i="0" u="none" strike="noStrike" kern="0" cap="none" spc="0" normalizeH="0" baseline="0" noProof="0" smtClean="0">
                <a:ln>
                  <a:noFill/>
                </a:ln>
                <a:solidFill>
                  <a:schemeClr val="tx1"/>
                </a:solidFill>
                <a:effectLst/>
                <a:uLnTx/>
                <a:uFillTx/>
                <a:latin typeface="+mn-ea"/>
                <a:ea typeface="+mn-ea"/>
              </a:rPr>
              <a:t>通过软件配置</a:t>
            </a:r>
            <a:r>
              <a:rPr kumimoji="1" lang="en-US" altLang="zh-CN" sz="1800" b="1" i="0" u="none" strike="noStrike" kern="0" cap="none" spc="0" normalizeH="0" baseline="0" noProof="0" smtClean="0">
                <a:ln>
                  <a:noFill/>
                </a:ln>
                <a:solidFill>
                  <a:schemeClr val="tx1"/>
                </a:solidFill>
                <a:effectLst/>
                <a:uLnTx/>
                <a:uFillTx/>
                <a:latin typeface="+mn-ea"/>
                <a:ea typeface="+mn-ea"/>
              </a:rPr>
              <a:t>pagemask</a:t>
            </a:r>
            <a:r>
              <a:rPr kumimoji="1" lang="zh-CN" altLang="en-US" sz="1800" b="1" i="0" u="none" strike="noStrike" kern="0" cap="none" spc="0" normalizeH="0" baseline="0" noProof="0" smtClean="0">
                <a:ln>
                  <a:noFill/>
                </a:ln>
                <a:solidFill>
                  <a:schemeClr val="tx1"/>
                </a:solidFill>
                <a:effectLst/>
                <a:uLnTx/>
                <a:uFillTx/>
                <a:latin typeface="+mn-ea"/>
                <a:ea typeface="+mn-ea"/>
              </a:rPr>
              <a:t>可以增加</a:t>
            </a:r>
            <a:r>
              <a:rPr kumimoji="1" lang="en-US" altLang="zh-CN" sz="1800" b="1" i="0" u="none" strike="noStrike" kern="0" cap="none" spc="0" normalizeH="0" baseline="0" noProof="0" smtClean="0">
                <a:ln>
                  <a:noFill/>
                </a:ln>
                <a:solidFill>
                  <a:schemeClr val="tx1"/>
                </a:solidFill>
                <a:effectLst/>
                <a:uLnTx/>
                <a:uFillTx/>
                <a:latin typeface="+mn-ea"/>
                <a:ea typeface="+mn-ea"/>
              </a:rPr>
              <a:t>/</a:t>
            </a:r>
            <a:r>
              <a:rPr kumimoji="1" lang="zh-CN" altLang="en-US" sz="1800" b="1" i="0" u="none" strike="noStrike" kern="0" cap="none" spc="0" normalizeH="0" baseline="0" noProof="0" smtClean="0">
                <a:ln>
                  <a:noFill/>
                </a:ln>
                <a:solidFill>
                  <a:schemeClr val="tx1"/>
                </a:solidFill>
                <a:effectLst/>
                <a:uLnTx/>
                <a:uFillTx/>
                <a:latin typeface="+mn-ea"/>
                <a:ea typeface="+mn-ea"/>
              </a:rPr>
              <a:t>减少页大小</a:t>
            </a:r>
            <a:endParaRPr kumimoji="1" lang="zh-CN" altLang="en-US" sz="1800" b="1" i="0" u="none" strike="noStrike" kern="0" cap="none" spc="0" normalizeH="0" baseline="0" noProof="0" smtClean="0">
              <a:ln>
                <a:noFill/>
              </a:ln>
              <a:solidFill>
                <a:schemeClr val="tx1"/>
              </a:solidFill>
              <a:effectLst/>
              <a:uLnTx/>
              <a:uFillTx/>
              <a:latin typeface="+mn-ea"/>
              <a:ea typeface="+mn-ea"/>
            </a:endParaRPr>
          </a:p>
        </p:txBody>
      </p:sp>
      <p:sp>
        <p:nvSpPr>
          <p:cNvPr id="5127" name="Rectangle 11"/>
          <p:cNvSpPr/>
          <p:nvPr/>
        </p:nvSpPr>
        <p:spPr>
          <a:xfrm>
            <a:off x="0" y="406400"/>
            <a:ext cx="184150" cy="276225"/>
          </a:xfrm>
          <a:prstGeom prst="rect">
            <a:avLst/>
          </a:prstGeom>
          <a:noFill/>
          <a:ln w="9525">
            <a:noFill/>
          </a:ln>
        </p:spPr>
        <p:txBody>
          <a:bodyPr wrap="none" anchor="ctr" anchorCtr="0">
            <a:spAutoFit/>
          </a:bodyPr>
          <a:p>
            <a:endParaRPr lang="zh-CN" altLang="en-US" dirty="0">
              <a:latin typeface="Times New Roman" pitchFamily="18" charset="0"/>
            </a:endParaRPr>
          </a:p>
        </p:txBody>
      </p:sp>
      <p:sp>
        <p:nvSpPr>
          <p:cNvPr id="5128" name="Rectangle 12"/>
          <p:cNvSpPr/>
          <p:nvPr/>
        </p:nvSpPr>
        <p:spPr>
          <a:xfrm>
            <a:off x="0" y="5445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p>
            <a:endParaRPr lang="zh-CN" altLang="en-US" dirty="0">
              <a:latin typeface="Times New Roman" pitchFamily="18" charset="0"/>
            </a:endParaRPr>
          </a:p>
        </p:txBody>
      </p:sp>
      <p:sp>
        <p:nvSpPr>
          <p:cNvPr id="5129" name="Rectangle 13"/>
          <p:cNvSpPr/>
          <p:nvPr/>
        </p:nvSpPr>
        <p:spPr>
          <a:xfrm>
            <a:off x="0" y="2287588"/>
            <a:ext cx="0" cy="0"/>
          </a:xfrm>
          <a:prstGeom prst="rect">
            <a:avLst/>
          </a:prstGeom>
          <a:noFill/>
          <a:ln w="9525">
            <a:noFill/>
          </a:ln>
        </p:spPr>
        <p:txBody>
          <a:bodyPr wrap="none" anchor="ctr" anchorCtr="0">
            <a:spAutoFit/>
          </a:bodyPr>
          <a:p>
            <a:endParaRPr lang="zh-CN" altLang="en-US" dirty="0">
              <a:latin typeface="Times New Roman" pitchFamily="18" charset="0"/>
            </a:endParaRPr>
          </a:p>
        </p:txBody>
      </p:sp>
      <p:grpSp>
        <p:nvGrpSpPr>
          <p:cNvPr id="5130" name="Group 16"/>
          <p:cNvGrpSpPr/>
          <p:nvPr/>
        </p:nvGrpSpPr>
        <p:grpSpPr>
          <a:xfrm>
            <a:off x="0" y="3295650"/>
            <a:ext cx="12190413" cy="3562350"/>
            <a:chOff x="0" y="2076"/>
            <a:chExt cx="5760" cy="2244"/>
          </a:xfrm>
        </p:grpSpPr>
        <p:sp>
          <p:nvSpPr>
            <p:cNvPr id="5131" name="AutoShape 5"/>
            <p:cNvSpPr>
              <a:spLocks noChangeAspect="1" noTextEdit="1"/>
            </p:cNvSpPr>
            <p:nvPr/>
          </p:nvSpPr>
          <p:spPr>
            <a:xfrm>
              <a:off x="0" y="2076"/>
              <a:ext cx="5760" cy="2244"/>
            </a:xfrm>
            <a:prstGeom prst="rect">
              <a:avLst/>
            </a:prstGeom>
            <a:noFill/>
            <a:ln w="9525">
              <a:noFill/>
            </a:ln>
          </p:spPr>
          <p:txBody>
            <a:bodyPr/>
            <a:p>
              <a:endParaRPr lang="zh-CN" altLang="en-US"/>
            </a:p>
          </p:txBody>
        </p:sp>
        <p:sp>
          <p:nvSpPr>
            <p:cNvPr id="5132" name="Text Box 6"/>
            <p:cNvSpPr txBox="1"/>
            <p:nvPr/>
          </p:nvSpPr>
          <p:spPr>
            <a:xfrm>
              <a:off x="110" y="2076"/>
              <a:ext cx="87" cy="174"/>
            </a:xfrm>
            <a:prstGeom prst="rect">
              <a:avLst/>
            </a:prstGeom>
            <a:solidFill>
              <a:srgbClr val="FFFFFF"/>
            </a:solidFill>
            <a:ln w="9525" cap="flat" cmpd="sng">
              <a:solidFill>
                <a:srgbClr val="000000"/>
              </a:solidFill>
              <a:prstDash val="solid"/>
              <a:miter/>
              <a:headEnd type="none" w="med" len="med"/>
              <a:tailEnd type="none" w="med" len="med"/>
            </a:ln>
          </p:spPr>
          <p:txBody>
            <a:bodyPr wrap="none">
              <a:spAutoFit/>
            </a:bodyPr>
            <a:p>
              <a:endParaRPr lang="zh-CN" altLang="en-US" dirty="0">
                <a:latin typeface="Times New Roman" pitchFamily="18" charset="0"/>
              </a:endParaRPr>
            </a:p>
          </p:txBody>
        </p:sp>
        <p:sp>
          <p:nvSpPr>
            <p:cNvPr id="5133" name="Text Box 7"/>
            <p:cNvSpPr txBox="1"/>
            <p:nvPr/>
          </p:nvSpPr>
          <p:spPr>
            <a:xfrm>
              <a:off x="2949" y="2076"/>
              <a:ext cx="87" cy="174"/>
            </a:xfrm>
            <a:prstGeom prst="rect">
              <a:avLst/>
            </a:prstGeom>
            <a:solidFill>
              <a:srgbClr val="FFFFFF"/>
            </a:solidFill>
            <a:ln w="9525" cap="flat" cmpd="sng">
              <a:solidFill>
                <a:srgbClr val="000000"/>
              </a:solidFill>
              <a:prstDash val="solid"/>
              <a:miter/>
              <a:headEnd type="none" w="med" len="med"/>
              <a:tailEnd type="none" w="med" len="med"/>
            </a:ln>
          </p:spPr>
          <p:txBody>
            <a:bodyPr wrap="none">
              <a:spAutoFit/>
            </a:bodyPr>
            <a:p>
              <a:endParaRPr lang="zh-CN" altLang="en-US" dirty="0">
                <a:latin typeface="Times New Roman" pitchFamily="18" charset="0"/>
              </a:endParaRPr>
            </a:p>
          </p:txBody>
        </p:sp>
        <p:sp>
          <p:nvSpPr>
            <p:cNvPr id="5134" name="Text Box 8"/>
            <p:cNvSpPr txBox="1"/>
            <p:nvPr/>
          </p:nvSpPr>
          <p:spPr>
            <a:xfrm>
              <a:off x="107" y="3843"/>
              <a:ext cx="2770" cy="250"/>
            </a:xfrm>
            <a:prstGeom prst="rect">
              <a:avLst/>
            </a:prstGeom>
            <a:noFill/>
            <a:ln w="9525">
              <a:noFill/>
            </a:ln>
          </p:spPr>
          <p:txBody>
            <a:bodyPr/>
            <a:p>
              <a:pPr algn="ctr">
                <a:spcBef>
                  <a:spcPct val="0"/>
                </a:spcBef>
              </a:pPr>
              <a:r>
                <a:rPr lang="en-US" altLang="zh-CN" dirty="0">
                  <a:latin typeface="Times New Roman" pitchFamily="18" charset="0"/>
                </a:rPr>
                <a:t>(a) TLB refills of 4KB, 16KB, and 64KB page size</a:t>
              </a:r>
              <a:endParaRPr lang="en-US" altLang="zh-CN" sz="3600" dirty="0">
                <a:latin typeface="Times New Roman" pitchFamily="18" charset="0"/>
              </a:endParaRPr>
            </a:p>
          </p:txBody>
        </p:sp>
        <p:sp>
          <p:nvSpPr>
            <p:cNvPr id="5135" name="Text Box 9"/>
            <p:cNvSpPr txBox="1"/>
            <p:nvPr/>
          </p:nvSpPr>
          <p:spPr>
            <a:xfrm>
              <a:off x="2865" y="3843"/>
              <a:ext cx="2829" cy="250"/>
            </a:xfrm>
            <a:prstGeom prst="rect">
              <a:avLst/>
            </a:prstGeom>
            <a:noFill/>
            <a:ln w="9525">
              <a:noFill/>
            </a:ln>
          </p:spPr>
          <p:txBody>
            <a:bodyPr/>
            <a:p>
              <a:pPr algn="ctr">
                <a:spcBef>
                  <a:spcPct val="0"/>
                </a:spcBef>
              </a:pPr>
              <a:r>
                <a:rPr lang="en-US" altLang="zh-CN" dirty="0">
                  <a:latin typeface="Times New Roman" pitchFamily="18" charset="0"/>
                </a:rPr>
                <a:t>(b) Performance of 4KB, 16KB, and 64KB page size</a:t>
              </a:r>
              <a:endParaRPr lang="en-US" altLang="zh-CN" sz="3600" dirty="0">
                <a:latin typeface="Times New Roman" pitchFamily="18" charset="0"/>
              </a:endParaRPr>
            </a:p>
          </p:txBody>
        </p:sp>
        <p:graphicFrame>
          <p:nvGraphicFramePr>
            <p:cNvPr id="5122" name="Object 14"/>
            <p:cNvGraphicFramePr/>
            <p:nvPr/>
          </p:nvGraphicFramePr>
          <p:xfrm>
            <a:off x="166" y="2130"/>
            <a:ext cx="2555" cy="1635"/>
          </p:xfrm>
          <a:graphic>
            <a:graphicData uri="http://schemas.openxmlformats.org/presentationml/2006/ole">
              <mc:AlternateContent xmlns:mc="http://schemas.openxmlformats.org/markup-compatibility/2006">
                <mc:Choice xmlns:v="urn:schemas-microsoft-com:vml" Requires="v">
                  <p:oleObj spid="_x0000_s3080" name="" r:id="rId1" imgW="3228340" imgH="2065655" progId="Excel.Chart.8">
                    <p:embed/>
                  </p:oleObj>
                </mc:Choice>
                <mc:Fallback>
                  <p:oleObj name="" r:id="rId1" imgW="3228340" imgH="2065655" progId="Excel.Chart.8">
                    <p:embed/>
                    <p:pic>
                      <p:nvPicPr>
                        <p:cNvPr id="0" name="图片 3079"/>
                        <p:cNvPicPr/>
                        <p:nvPr/>
                      </p:nvPicPr>
                      <p:blipFill>
                        <a:blip r:embed="rId2"/>
                        <a:stretch>
                          <a:fillRect/>
                        </a:stretch>
                      </p:blipFill>
                      <p:spPr>
                        <a:xfrm>
                          <a:off x="166" y="2130"/>
                          <a:ext cx="2555" cy="1635"/>
                        </a:xfrm>
                        <a:prstGeom prst="rect">
                          <a:avLst/>
                        </a:prstGeom>
                        <a:noFill/>
                        <a:ln w="38100">
                          <a:noFill/>
                          <a:miter/>
                        </a:ln>
                      </p:spPr>
                    </p:pic>
                  </p:oleObj>
                </mc:Fallback>
              </mc:AlternateContent>
            </a:graphicData>
          </a:graphic>
        </p:graphicFrame>
        <p:graphicFrame>
          <p:nvGraphicFramePr>
            <p:cNvPr id="5123" name="Object 15"/>
            <p:cNvGraphicFramePr/>
            <p:nvPr/>
          </p:nvGraphicFramePr>
          <p:xfrm>
            <a:off x="2997" y="2139"/>
            <a:ext cx="2621" cy="1544"/>
          </p:xfrm>
          <a:graphic>
            <a:graphicData uri="http://schemas.openxmlformats.org/presentationml/2006/ole">
              <mc:AlternateContent xmlns:mc="http://schemas.openxmlformats.org/markup-compatibility/2006">
                <mc:Choice xmlns:v="urn:schemas-microsoft-com:vml" Requires="v">
                  <p:oleObj spid="_x0000_s3079" name="" r:id="rId3" imgW="3296285" imgH="1941830" progId="Excel.Chart.8">
                    <p:embed/>
                  </p:oleObj>
                </mc:Choice>
                <mc:Fallback>
                  <p:oleObj name="" r:id="rId3" imgW="3296285" imgH="1941830" progId="Excel.Chart.8">
                    <p:embed/>
                    <p:pic>
                      <p:nvPicPr>
                        <p:cNvPr id="0" name="图片 3078"/>
                        <p:cNvPicPr/>
                        <p:nvPr/>
                      </p:nvPicPr>
                      <p:blipFill>
                        <a:blip r:embed="rId4"/>
                        <a:stretch>
                          <a:fillRect/>
                        </a:stretch>
                      </p:blipFill>
                      <p:spPr>
                        <a:xfrm>
                          <a:off x="2997" y="2139"/>
                          <a:ext cx="2621" cy="1544"/>
                        </a:xfrm>
                        <a:prstGeom prst="rect">
                          <a:avLst/>
                        </a:prstGeom>
                        <a:noFill/>
                        <a:ln w="38100">
                          <a:noFill/>
                          <a:miter/>
                        </a:ln>
                      </p:spPr>
                    </p:pic>
                  </p:oleObj>
                </mc:Fallback>
              </mc:AlternateContent>
            </a:graphicData>
          </a:graphic>
        </p:graphicFrame>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60419" name="Rectangle 2"/>
          <p:cNvSpPr>
            <a:spLocks noGrp="1"/>
          </p:cNvSpPr>
          <p:nvPr>
            <p:ph type="title"/>
          </p:nvPr>
        </p:nvSpPr>
        <p:spPr/>
        <p:txBody>
          <a:bodyPr vert="horz" wrap="square" lIns="91440" tIns="45720" rIns="91440" bIns="45720" anchor="ctr" anchorCtr="0"/>
          <a:p>
            <a:pPr eaLnBrk="1" hangingPunct="1"/>
            <a:r>
              <a:rPr lang="zh-CN" altLang="en-US" dirty="0"/>
              <a:t>软</a:t>
            </a:r>
            <a:r>
              <a:rPr lang="en-US" altLang="zh-CN" dirty="0"/>
              <a:t>TLB</a:t>
            </a:r>
            <a:r>
              <a:rPr lang="zh-CN" altLang="en-US" dirty="0"/>
              <a:t>的方案</a:t>
            </a:r>
            <a:endParaRPr lang="zh-CN" altLang="en-US" dirty="0"/>
          </a:p>
        </p:txBody>
      </p:sp>
      <p:sp>
        <p:nvSpPr>
          <p:cNvPr id="50180"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latinLnBrk="0" hangingPunct="1">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目的：主要减少</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重载入异常处理的时间，提高</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重载入异常处理的效率。</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latinLnBrk="0" hangingPunct="1">
              <a:lnSpc>
                <a:spcPct val="150000"/>
              </a:lnSpc>
              <a:spcBef>
                <a:spcPts val="600"/>
              </a:spcBef>
              <a:spcAft>
                <a:spcPct val="0"/>
              </a:spcAft>
              <a:buClrTx/>
              <a:buSzTx/>
              <a:buFontTx/>
              <a:buChar char="•"/>
              <a:defRPr/>
            </a:pP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原理：通过减少</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重载入异常处理过程</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Cache Miss</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的次数来减少</a:t>
            </a:r>
            <a:r>
              <a:rPr kumimoji="1" lang="en-US" altLang="zh-CN" sz="2000" b="1" i="0" u="none" strike="noStrike" kern="0" cap="none" spc="0" normalizeH="0" baseline="0" noProof="0" dirty="0" smtClean="0">
                <a:ln>
                  <a:noFill/>
                </a:ln>
                <a:solidFill>
                  <a:schemeClr val="tx1"/>
                </a:solidFill>
                <a:effectLst/>
                <a:uLnTx/>
                <a:uFillTx/>
                <a:latin typeface="+mn-ea"/>
                <a:ea typeface="+mn-ea"/>
                <a:cs typeface="+mn-cs"/>
              </a:rPr>
              <a:t>TLB</a:t>
            </a:r>
            <a:r>
              <a:rPr kumimoji="1" lang="zh-CN" altLang="en-US" sz="2000" b="1" i="0" u="none" strike="noStrike" kern="0" cap="none" spc="0" normalizeH="0" baseline="0" noProof="0" dirty="0" smtClean="0">
                <a:ln>
                  <a:noFill/>
                </a:ln>
                <a:solidFill>
                  <a:schemeClr val="tx1"/>
                </a:solidFill>
                <a:effectLst/>
                <a:uLnTx/>
                <a:uFillTx/>
                <a:latin typeface="+mn-ea"/>
                <a:ea typeface="+mn-ea"/>
                <a:cs typeface="+mn-cs"/>
              </a:rPr>
              <a:t>重载入异常处理的时间</a:t>
            </a: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50000"/>
              </a:lnSpc>
              <a:spcBef>
                <a:spcPct val="0"/>
              </a:spcBef>
              <a:spcAft>
                <a:spcPct val="0"/>
              </a:spcAft>
              <a:buClrTx/>
              <a:buSzTx/>
              <a:buFontTx/>
              <a:buNone/>
              <a:defRPr/>
            </a:pPr>
            <a:endParaRPr kumimoji="1" lang="zh-CN" altLang="en-US" sz="2000" b="1" i="0" u="none" strike="noStrike" kern="0" cap="none" spc="0" normalizeH="0" baseline="0" noProof="0" dirty="0" smtClean="0">
              <a:ln>
                <a:noFill/>
              </a:ln>
              <a:solidFill>
                <a:schemeClr val="tx1"/>
              </a:solidFill>
              <a:effectLst/>
              <a:uLnTx/>
              <a:uFillTx/>
              <a:latin typeface="+mn-ea"/>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6148" name="Rectangle 2"/>
          <p:cNvSpPr>
            <a:spLocks noGrp="1"/>
          </p:cNvSpPr>
          <p:nvPr>
            <p:ph type="title"/>
          </p:nvPr>
        </p:nvSpPr>
        <p:spPr/>
        <p:txBody>
          <a:bodyPr vert="horz" wrap="square" lIns="91440" tIns="45720" rIns="91440" bIns="45720" anchor="ctr" anchorCtr="0"/>
          <a:p>
            <a:pPr eaLnBrk="1" hangingPunct="1"/>
            <a:r>
              <a:rPr lang="zh-CN" altLang="en-US" dirty="0"/>
              <a:t>软</a:t>
            </a:r>
            <a:r>
              <a:rPr lang="en-US" altLang="zh-CN" dirty="0"/>
              <a:t>TLB</a:t>
            </a:r>
            <a:r>
              <a:rPr lang="zh-CN" altLang="en-US" dirty="0"/>
              <a:t>的方案（续）</a:t>
            </a:r>
            <a:endParaRPr lang="zh-CN" altLang="en-US" dirty="0"/>
          </a:p>
        </p:txBody>
      </p:sp>
      <p:sp>
        <p:nvSpPr>
          <p:cNvPr id="6149" name="Rectangle 3"/>
          <p:cNvSpPr/>
          <p:nvPr/>
        </p:nvSpPr>
        <p:spPr>
          <a:xfrm>
            <a:off x="0" y="-138112"/>
            <a:ext cx="184150" cy="276225"/>
          </a:xfrm>
          <a:prstGeom prst="rect">
            <a:avLst/>
          </a:prstGeom>
          <a:noFill/>
          <a:ln w="9525">
            <a:noFill/>
          </a:ln>
        </p:spPr>
        <p:txBody>
          <a:bodyPr wrap="none" anchor="ctr" anchorCtr="0">
            <a:spAutoFit/>
          </a:bodyPr>
          <a:p>
            <a:endParaRPr lang="zh-CN" altLang="en-US" dirty="0">
              <a:latin typeface="Times New Roman" pitchFamily="18" charset="0"/>
            </a:endParaRPr>
          </a:p>
        </p:txBody>
      </p:sp>
      <p:graphicFrame>
        <p:nvGraphicFramePr>
          <p:cNvPr id="6146" name="Object 4"/>
          <p:cNvGraphicFramePr/>
          <p:nvPr/>
        </p:nvGraphicFramePr>
        <p:xfrm>
          <a:off x="1582738" y="1844675"/>
          <a:ext cx="8159750" cy="4729163"/>
        </p:xfrm>
        <a:graphic>
          <a:graphicData uri="http://schemas.openxmlformats.org/presentationml/2006/ole">
            <mc:AlternateContent xmlns:mc="http://schemas.openxmlformats.org/markup-compatibility/2006">
              <mc:Choice xmlns:v="urn:schemas-microsoft-com:vml" Requires="v">
                <p:oleObj spid="_x0000_s3081" name="" r:id="rId1" imgW="5759450" imgH="4192270" progId="Visio.Drawing.6">
                  <p:embed/>
                </p:oleObj>
              </mc:Choice>
              <mc:Fallback>
                <p:oleObj name="" r:id="rId1" imgW="5759450" imgH="4192270" progId="Visio.Drawing.6">
                  <p:embed/>
                  <p:pic>
                    <p:nvPicPr>
                      <p:cNvPr id="0" name="图片 3080"/>
                      <p:cNvPicPr/>
                      <p:nvPr/>
                    </p:nvPicPr>
                    <p:blipFill>
                      <a:blip r:embed="rId2"/>
                      <a:stretch>
                        <a:fillRect/>
                      </a:stretch>
                    </p:blipFill>
                    <p:spPr>
                      <a:xfrm>
                        <a:off x="1582738" y="1844675"/>
                        <a:ext cx="8159750" cy="4729163"/>
                      </a:xfrm>
                      <a:prstGeom prst="rect">
                        <a:avLst/>
                      </a:prstGeom>
                      <a:noFill/>
                      <a:ln w="38100">
                        <a:noFill/>
                        <a:miter/>
                      </a:ln>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7172" name="Rectangle 2"/>
          <p:cNvSpPr>
            <a:spLocks noGrp="1"/>
          </p:cNvSpPr>
          <p:nvPr>
            <p:ph type="title"/>
          </p:nvPr>
        </p:nvSpPr>
        <p:spPr/>
        <p:txBody>
          <a:bodyPr vert="horz" wrap="square" lIns="91440" tIns="45720" rIns="91440" bIns="45720" anchor="ctr" anchorCtr="0"/>
          <a:p>
            <a:pPr eaLnBrk="1" hangingPunct="1"/>
            <a:r>
              <a:rPr lang="zh-CN" altLang="en-US" dirty="0"/>
              <a:t>软</a:t>
            </a:r>
            <a:r>
              <a:rPr lang="en-US" altLang="zh-CN" dirty="0"/>
              <a:t>TLB</a:t>
            </a:r>
            <a:r>
              <a:rPr lang="zh-CN" altLang="en-US" dirty="0"/>
              <a:t>的命中率</a:t>
            </a:r>
            <a:endParaRPr lang="zh-CN" altLang="en-US" dirty="0"/>
          </a:p>
        </p:txBody>
      </p:sp>
      <p:sp>
        <p:nvSpPr>
          <p:cNvPr id="7173" name="Rectangle 3"/>
          <p:cNvSpPr/>
          <p:nvPr/>
        </p:nvSpPr>
        <p:spPr>
          <a:xfrm>
            <a:off x="0" y="-138112"/>
            <a:ext cx="184150" cy="276225"/>
          </a:xfrm>
          <a:prstGeom prst="rect">
            <a:avLst/>
          </a:prstGeom>
          <a:noFill/>
          <a:ln w="9525">
            <a:noFill/>
          </a:ln>
        </p:spPr>
        <p:txBody>
          <a:bodyPr wrap="none" anchor="ctr" anchorCtr="0">
            <a:spAutoFit/>
          </a:bodyPr>
          <a:p>
            <a:endParaRPr lang="zh-CN" altLang="en-US" dirty="0">
              <a:latin typeface="Times New Roman" pitchFamily="18" charset="0"/>
            </a:endParaRPr>
          </a:p>
        </p:txBody>
      </p:sp>
      <p:graphicFrame>
        <p:nvGraphicFramePr>
          <p:cNvPr id="7170" name="Object 5"/>
          <p:cNvGraphicFramePr/>
          <p:nvPr/>
        </p:nvGraphicFramePr>
        <p:xfrm>
          <a:off x="1219200" y="2057400"/>
          <a:ext cx="8532813" cy="3657600"/>
        </p:xfrm>
        <a:graphic>
          <a:graphicData uri="http://schemas.openxmlformats.org/presentationml/2006/ole">
            <mc:AlternateContent xmlns:mc="http://schemas.openxmlformats.org/markup-compatibility/2006">
              <mc:Choice xmlns:v="urn:schemas-microsoft-com:vml" Requires="v">
                <p:oleObj spid="_x0000_s3083" name="" r:id="rId1" imgW="5177790" imgH="2891790" progId="Excel.Chart.8">
                  <p:embed/>
                </p:oleObj>
              </mc:Choice>
              <mc:Fallback>
                <p:oleObj name="" r:id="rId1" imgW="5177790" imgH="2891790" progId="Excel.Chart.8">
                  <p:embed/>
                  <p:pic>
                    <p:nvPicPr>
                      <p:cNvPr id="0" name="图片 3082"/>
                      <p:cNvPicPr/>
                      <p:nvPr/>
                    </p:nvPicPr>
                    <p:blipFill>
                      <a:blip r:embed="rId2"/>
                      <a:stretch>
                        <a:fillRect/>
                      </a:stretch>
                    </p:blipFill>
                    <p:spPr>
                      <a:xfrm>
                        <a:off x="1219200" y="2057400"/>
                        <a:ext cx="8532813" cy="3657600"/>
                      </a:xfrm>
                      <a:prstGeom prst="rect">
                        <a:avLst/>
                      </a:prstGeom>
                      <a:noFill/>
                      <a:ln w="38100">
                        <a:noFill/>
                        <a:miter/>
                      </a:ln>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8196" name="Rectangle 2"/>
          <p:cNvSpPr>
            <a:spLocks noGrp="1"/>
          </p:cNvSpPr>
          <p:nvPr>
            <p:ph type="title"/>
          </p:nvPr>
        </p:nvSpPr>
        <p:spPr/>
        <p:txBody>
          <a:bodyPr vert="horz" wrap="square" lIns="91440" tIns="45720" rIns="91440" bIns="45720" anchor="ctr" anchorCtr="0"/>
          <a:p>
            <a:pPr eaLnBrk="1" hangingPunct="1"/>
            <a:r>
              <a:rPr lang="zh-CN" altLang="en-US" dirty="0"/>
              <a:t>缓冲区大小对软</a:t>
            </a:r>
            <a:r>
              <a:rPr lang="en-US" altLang="zh-CN" dirty="0"/>
              <a:t>TLB</a:t>
            </a:r>
            <a:r>
              <a:rPr lang="zh-CN" altLang="en-US" dirty="0"/>
              <a:t>命中率的影响</a:t>
            </a:r>
            <a:endParaRPr lang="zh-CN" altLang="en-US" dirty="0"/>
          </a:p>
        </p:txBody>
      </p:sp>
      <p:sp>
        <p:nvSpPr>
          <p:cNvPr id="8197" name="Rectangle 3"/>
          <p:cNvSpPr/>
          <p:nvPr/>
        </p:nvSpPr>
        <p:spPr>
          <a:xfrm>
            <a:off x="0" y="-138112"/>
            <a:ext cx="184150" cy="276225"/>
          </a:xfrm>
          <a:prstGeom prst="rect">
            <a:avLst/>
          </a:prstGeom>
          <a:noFill/>
          <a:ln w="9525">
            <a:noFill/>
          </a:ln>
        </p:spPr>
        <p:txBody>
          <a:bodyPr wrap="none" anchor="ctr" anchorCtr="0">
            <a:spAutoFit/>
          </a:bodyPr>
          <a:p>
            <a:endParaRPr lang="zh-CN" altLang="en-US" dirty="0">
              <a:latin typeface="Times New Roman" pitchFamily="18" charset="0"/>
            </a:endParaRPr>
          </a:p>
        </p:txBody>
      </p:sp>
      <p:graphicFrame>
        <p:nvGraphicFramePr>
          <p:cNvPr id="8194" name="Object 5"/>
          <p:cNvGraphicFramePr/>
          <p:nvPr/>
        </p:nvGraphicFramePr>
        <p:xfrm>
          <a:off x="1524000" y="2133600"/>
          <a:ext cx="9544050" cy="4013200"/>
        </p:xfrm>
        <a:graphic>
          <a:graphicData uri="http://schemas.openxmlformats.org/presentationml/2006/ole">
            <mc:AlternateContent xmlns:mc="http://schemas.openxmlformats.org/markup-compatibility/2006">
              <mc:Choice xmlns:v="urn:schemas-microsoft-com:vml" Requires="v">
                <p:oleObj spid="_x0000_s3082" name="" r:id="rId1" imgW="7995920" imgH="4476115" progId="Excel.Chart.8">
                  <p:embed/>
                </p:oleObj>
              </mc:Choice>
              <mc:Fallback>
                <p:oleObj name="" r:id="rId1" imgW="7995920" imgH="4476115" progId="Excel.Chart.8">
                  <p:embed/>
                  <p:pic>
                    <p:nvPicPr>
                      <p:cNvPr id="0" name="图片 3081"/>
                      <p:cNvPicPr/>
                      <p:nvPr/>
                    </p:nvPicPr>
                    <p:blipFill>
                      <a:blip r:embed="rId2"/>
                      <a:stretch>
                        <a:fillRect/>
                      </a:stretch>
                    </p:blipFill>
                    <p:spPr>
                      <a:xfrm>
                        <a:off x="1524000" y="2133600"/>
                        <a:ext cx="9544050" cy="4013200"/>
                      </a:xfrm>
                      <a:prstGeom prst="rect">
                        <a:avLst/>
                      </a:prstGeom>
                      <a:noFill/>
                      <a:ln w="38100">
                        <a:noFill/>
                        <a:miter/>
                      </a:ln>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9220" name="Rectangle 2"/>
          <p:cNvSpPr>
            <a:spLocks noGrp="1"/>
          </p:cNvSpPr>
          <p:nvPr>
            <p:ph type="title"/>
          </p:nvPr>
        </p:nvSpPr>
        <p:spPr/>
        <p:txBody>
          <a:bodyPr vert="horz" wrap="square" lIns="91440" tIns="45720" rIns="91440" bIns="45720" anchor="ctr" anchorCtr="0"/>
          <a:p>
            <a:pPr eaLnBrk="1" hangingPunct="1"/>
            <a:r>
              <a:rPr lang="zh-CN" altLang="en-US" dirty="0"/>
              <a:t>软</a:t>
            </a:r>
            <a:r>
              <a:rPr lang="en-US" altLang="zh-CN" dirty="0"/>
              <a:t>TLB</a:t>
            </a:r>
            <a:r>
              <a:rPr lang="zh-CN" altLang="en-US" dirty="0"/>
              <a:t>对</a:t>
            </a:r>
            <a:r>
              <a:rPr lang="en-US" altLang="zh-CN" dirty="0"/>
              <a:t>SPEC</a:t>
            </a:r>
            <a:r>
              <a:rPr lang="zh-CN" altLang="en-US" dirty="0"/>
              <a:t>性能的提高</a:t>
            </a:r>
            <a:endParaRPr lang="zh-CN" altLang="en-US" dirty="0"/>
          </a:p>
        </p:txBody>
      </p:sp>
      <p:sp>
        <p:nvSpPr>
          <p:cNvPr id="9221" name="Rectangle 3"/>
          <p:cNvSpPr/>
          <p:nvPr/>
        </p:nvSpPr>
        <p:spPr>
          <a:xfrm>
            <a:off x="0" y="-138112"/>
            <a:ext cx="184150" cy="276225"/>
          </a:xfrm>
          <a:prstGeom prst="rect">
            <a:avLst/>
          </a:prstGeom>
          <a:noFill/>
          <a:ln w="9525">
            <a:noFill/>
          </a:ln>
        </p:spPr>
        <p:txBody>
          <a:bodyPr wrap="none" anchor="ctr" anchorCtr="0">
            <a:spAutoFit/>
          </a:bodyPr>
          <a:p>
            <a:endParaRPr lang="zh-CN" altLang="en-US" dirty="0">
              <a:latin typeface="Times New Roman" pitchFamily="18" charset="0"/>
            </a:endParaRPr>
          </a:p>
        </p:txBody>
      </p:sp>
      <p:graphicFrame>
        <p:nvGraphicFramePr>
          <p:cNvPr id="9218" name="Object 4"/>
          <p:cNvGraphicFramePr/>
          <p:nvPr/>
        </p:nvGraphicFramePr>
        <p:xfrm>
          <a:off x="1103313" y="1916113"/>
          <a:ext cx="9983787" cy="4184650"/>
        </p:xfrm>
        <a:graphic>
          <a:graphicData uri="http://schemas.openxmlformats.org/presentationml/2006/ole">
            <mc:AlternateContent xmlns:mc="http://schemas.openxmlformats.org/markup-compatibility/2006">
              <mc:Choice xmlns:v="urn:schemas-microsoft-com:vml" Requires="v">
                <p:oleObj spid="_x0000_s3084" name="" r:id="rId1" imgW="5783580" imgH="3230245" progId="Excel.Chart.8">
                  <p:embed/>
                </p:oleObj>
              </mc:Choice>
              <mc:Fallback>
                <p:oleObj name="" r:id="rId1" imgW="5783580" imgH="3230245" progId="Excel.Chart.8">
                  <p:embed/>
                  <p:pic>
                    <p:nvPicPr>
                      <p:cNvPr id="0" name="图片 3083"/>
                      <p:cNvPicPr/>
                      <p:nvPr/>
                    </p:nvPicPr>
                    <p:blipFill>
                      <a:blip r:embed="rId2"/>
                      <a:stretch>
                        <a:fillRect/>
                      </a:stretch>
                    </p:blipFill>
                    <p:spPr>
                      <a:xfrm>
                        <a:off x="1103313" y="1916113"/>
                        <a:ext cx="9983787" cy="4184650"/>
                      </a:xfrm>
                      <a:prstGeom prst="rect">
                        <a:avLst/>
                      </a:prstGeom>
                      <a:noFill/>
                      <a:ln w="38100">
                        <a:noFill/>
                        <a:miter/>
                      </a:ln>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xfrm>
            <a:off x="914400" y="44450"/>
            <a:ext cx="10361613" cy="819150"/>
          </a:xfrm>
        </p:spPr>
        <p:txBody>
          <a:bodyPr vert="horz" wrap="square" lIns="91440" tIns="45720" rIns="91440" bIns="45720" anchor="ctr" anchorCtr="0"/>
          <a:p>
            <a:r>
              <a:rPr lang="zh-CN" altLang="en-US" dirty="0"/>
              <a:t>典型处理器的结构参数</a:t>
            </a:r>
            <a:endParaRPr lang="zh-CN" altLang="en-US" dirty="0"/>
          </a:p>
        </p:txBody>
      </p:sp>
      <p:graphicFrame>
        <p:nvGraphicFramePr>
          <p:cNvPr id="4" name="内容占位符 3"/>
          <p:cNvGraphicFramePr>
            <a:graphicFrameLocks noGrp="1"/>
          </p:cNvGraphicFramePr>
          <p:nvPr>
            <p:ph idx="1"/>
          </p:nvPr>
        </p:nvGraphicFramePr>
        <p:xfrm>
          <a:off x="315913" y="804863"/>
          <a:ext cx="11633569" cy="5764213"/>
        </p:xfrm>
        <a:graphic>
          <a:graphicData uri="http://schemas.openxmlformats.org/drawingml/2006/table">
            <a:tbl>
              <a:tblPr/>
              <a:tblGrid>
                <a:gridCol w="339666"/>
                <a:gridCol w="1515623"/>
                <a:gridCol w="3041455"/>
                <a:gridCol w="2402749"/>
                <a:gridCol w="2272242"/>
                <a:gridCol w="2061834"/>
              </a:tblGrid>
              <a:tr h="250300">
                <a:tc gridSpan="2">
                  <a:txBody>
                    <a:bodyPr/>
                    <a:lstStyle/>
                    <a:p>
                      <a:pPr algn="ctr">
                        <a:spcBef>
                          <a:spcPts val="100"/>
                        </a:spcBef>
                        <a:spcAft>
                          <a:spcPts val="0"/>
                        </a:spcAft>
                      </a:pPr>
                      <a:endParaRPr lang="zh-CN" sz="1200"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hMerge="1">
                  <a:tcPr/>
                </a:tc>
                <a:tc>
                  <a:txBody>
                    <a:bodyPr/>
                    <a:lstStyle/>
                    <a:p>
                      <a:pPr algn="ctr">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Times New Roman"/>
                        </a:rPr>
                        <a:t>Intel </a:t>
                      </a:r>
                      <a:r>
                        <a:rPr lang="en-US" altLang="zh-CN" sz="1200" b="1" kern="100" dirty="0" err="1" smtClean="0">
                          <a:solidFill>
                            <a:schemeClr val="accent2"/>
                          </a:solidFill>
                          <a:latin typeface="宋体" panose="02000500000000000000" pitchFamily="2" charset="-122"/>
                          <a:ea typeface="宋体" panose="02000500000000000000" pitchFamily="2" charset="-122"/>
                          <a:cs typeface="Times New Roman"/>
                        </a:rPr>
                        <a:t>Iv</a:t>
                      </a:r>
                      <a:r>
                        <a:rPr lang="en-US" sz="1200" b="1" kern="100" dirty="0" err="1" smtClean="0">
                          <a:solidFill>
                            <a:schemeClr val="accent2"/>
                          </a:solidFill>
                          <a:latin typeface="宋体" panose="02000500000000000000" pitchFamily="2" charset="-122"/>
                          <a:ea typeface="宋体" panose="02000500000000000000" pitchFamily="2" charset="-122"/>
                          <a:cs typeface="Times New Roman"/>
                        </a:rPr>
                        <a:t>ybridge</a:t>
                      </a:r>
                      <a:endParaRPr lang="zh-CN" sz="1200"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ctr">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Times New Roman"/>
                        </a:rPr>
                        <a:t>AMD </a:t>
                      </a:r>
                      <a:r>
                        <a:rPr lang="en-US" sz="1200" b="1" kern="100" dirty="0" err="1">
                          <a:solidFill>
                            <a:schemeClr val="accent2"/>
                          </a:solidFill>
                          <a:latin typeface="宋体" panose="02000500000000000000" pitchFamily="2" charset="-122"/>
                          <a:ea typeface="宋体" panose="02000500000000000000" pitchFamily="2" charset="-122"/>
                          <a:cs typeface="Times New Roman"/>
                        </a:rPr>
                        <a:t>BullDozer</a:t>
                      </a:r>
                      <a:endParaRPr lang="zh-CN" sz="1200"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ctr">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Times New Roman"/>
                        </a:rPr>
                        <a:t>IBM Power7</a:t>
                      </a:r>
                      <a:endParaRPr lang="en-US"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ctr">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GS464E</a:t>
                      </a: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r>
              <a:tr h="321184">
                <a:tc rowSpan="3">
                  <a:txBody>
                    <a:bodyPr/>
                    <a:lstStyle/>
                    <a:p>
                      <a:pPr algn="l">
                        <a:spcBef>
                          <a:spcPts val="100"/>
                        </a:spcBef>
                        <a:spcAft>
                          <a:spcPts val="0"/>
                        </a:spcAft>
                      </a:pP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前端</a:t>
                      </a:r>
                      <a:endParaRPr lang="zh-CN" altLang="en-US"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zh-CN" altLang="zh-CN" sz="1200" b="1" kern="100" dirty="0" smtClean="0">
                          <a:solidFill>
                            <a:schemeClr val="accent2"/>
                          </a:solidFill>
                          <a:latin typeface="宋体" panose="02000500000000000000" pitchFamily="2" charset="-122"/>
                          <a:ea typeface="宋体" panose="02000500000000000000" pitchFamily="2" charset="-122"/>
                          <a:cs typeface="Times New Roman"/>
                        </a:rPr>
                        <a:t>一级指令缓存</a:t>
                      </a:r>
                      <a:endParaRPr lang="zh-CN"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32KB, 8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64B/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64KB, 2</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64B/</a:t>
                      </a:r>
                      <a:r>
                        <a:rPr lang="zh-CN" sz="1200" b="1" kern="100" dirty="0" smtClean="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32KB, 4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128B/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64KB, 4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64B/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1649">
                <a:tc vMerge="1">
                  <a:tcPr marL="38075" marR="38075"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zh-CN" altLang="zh-CN"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指令</a:t>
                      </a:r>
                      <a:r>
                        <a:rPr lang="en-US" altLang="zh-CN"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TLB</a:t>
                      </a:r>
                      <a:endParaRPr lang="zh-CN" altLang="zh-CN" sz="1200"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endParaRPr lang="zh-CN" sz="1200"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4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L1 ITLB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72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zh-CN" sz="1200" b="1" kern="100" dirty="0">
                          <a:latin typeface="宋体" panose="02000500000000000000" pitchFamily="2" charset="-122"/>
                          <a:ea typeface="宋体" panose="02000500000000000000" pitchFamily="2" charset="-122"/>
                          <a:cs typeface="宋体" panose="02000500000000000000" pitchFamily="2" charset="-122"/>
                        </a:rPr>
                        <a:t>全相联</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smtClean="0">
                          <a:latin typeface="宋体" panose="02000500000000000000" pitchFamily="2" charset="-122"/>
                          <a:ea typeface="宋体" panose="02000500000000000000" pitchFamily="2" charset="-122"/>
                          <a:cs typeface="宋体" panose="02000500000000000000" pitchFamily="2" charset="-122"/>
                        </a:rPr>
                        <a:t>L1 ITLB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512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4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L2 ITLB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64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2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L1 ITLB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64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zh-CN" sz="1200" b="1" kern="100" dirty="0">
                          <a:latin typeface="宋体" panose="02000500000000000000" pitchFamily="2" charset="-122"/>
                          <a:ea typeface="宋体" panose="02000500000000000000" pitchFamily="2" charset="-122"/>
                          <a:cs typeface="宋体" panose="02000500000000000000" pitchFamily="2" charset="-122"/>
                        </a:rPr>
                        <a:t>全相联</a:t>
                      </a:r>
                      <a:r>
                        <a:rPr lang="en-US" sz="1200" b="1" kern="100" dirty="0">
                          <a:latin typeface="宋体" panose="02000500000000000000" pitchFamily="2" charset="-122"/>
                          <a:ea typeface="宋体" panose="02000500000000000000" pitchFamily="2" charset="-122"/>
                          <a:cs typeface="宋体" panose="02000500000000000000" pitchFamily="2" charset="-122"/>
                        </a:rPr>
                        <a:t>, L1 ITLB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r>
              <a:tr h="1126247">
                <a:tc vMerge="1">
                  <a:tcPr marL="38075" marR="38075"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zh-CN" altLang="zh-CN" sz="1200" b="1" kern="100" dirty="0" smtClean="0">
                          <a:solidFill>
                            <a:schemeClr val="accent2"/>
                          </a:solidFill>
                          <a:latin typeface="宋体" panose="02000500000000000000" pitchFamily="2" charset="-122"/>
                          <a:ea typeface="宋体" panose="02000500000000000000" pitchFamily="2" charset="-122"/>
                          <a:cs typeface="Times New Roman"/>
                        </a:rPr>
                        <a:t>分支预取</a:t>
                      </a:r>
                      <a:endParaRPr lang="zh-CN" altLang="zh-CN" sz="1200" kern="100" dirty="0" smtClean="0">
                        <a:solidFill>
                          <a:schemeClr val="accent2"/>
                        </a:solidFill>
                        <a:latin typeface="宋体" panose="02000500000000000000" pitchFamily="2" charset="-122"/>
                        <a:ea typeface="宋体" panose="02000500000000000000" pitchFamily="2" charset="-122"/>
                        <a:cs typeface="Times New Roman"/>
                      </a:endParaRPr>
                    </a:p>
                    <a:p>
                      <a:pPr algn="l">
                        <a:spcBef>
                          <a:spcPts val="100"/>
                        </a:spcBef>
                        <a:spcAft>
                          <a:spcPts val="0"/>
                        </a:spcAft>
                      </a:pPr>
                      <a:endParaRPr lang="zh-CN" sz="1200"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BTB (8K-16K?</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间接目标队列</a:t>
                      </a:r>
                      <a:r>
                        <a:rPr lang="en-US" sz="1200" b="1" kern="100" dirty="0">
                          <a:latin typeface="宋体" panose="02000500000000000000" pitchFamily="2" charset="-122"/>
                          <a:ea typeface="宋体" panose="02000500000000000000" pitchFamily="2" charset="-122"/>
                          <a:cs typeface="宋体" panose="02000500000000000000" pitchFamily="2" charset="-122"/>
                        </a:rPr>
                        <a:t> (?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RAS (?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循环检测</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512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4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L1 BTB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5120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5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L2 BTB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512 </a:t>
                      </a:r>
                      <a:r>
                        <a:rPr lang="zh-CN" sz="1200" b="1" kern="100" dirty="0">
                          <a:latin typeface="宋体" panose="02000500000000000000" pitchFamily="2" charset="-122"/>
                          <a:ea typeface="宋体" panose="02000500000000000000" pitchFamily="2" charset="-122"/>
                          <a:cs typeface="宋体" panose="02000500000000000000" pitchFamily="2" charset="-122"/>
                        </a:rPr>
                        <a:t>项 间接目标队列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24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RAS</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循环检测</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8K </a:t>
                      </a:r>
                      <a:r>
                        <a:rPr lang="zh-CN" sz="1200" b="1" kern="100" dirty="0">
                          <a:latin typeface="宋体" panose="02000500000000000000" pitchFamily="2" charset="-122"/>
                          <a:ea typeface="宋体" panose="02000500000000000000" pitchFamily="2" charset="-122"/>
                          <a:cs typeface="宋体" panose="02000500000000000000" pitchFamily="2" charset="-122"/>
                        </a:rPr>
                        <a:t>项本地</a:t>
                      </a:r>
                      <a:r>
                        <a:rPr lang="en-US" sz="1200" b="1" kern="100" dirty="0">
                          <a:latin typeface="宋体" panose="02000500000000000000" pitchFamily="2" charset="-122"/>
                          <a:ea typeface="宋体" panose="02000500000000000000" pitchFamily="2" charset="-122"/>
                          <a:cs typeface="宋体" panose="02000500000000000000" pitchFamily="2" charset="-122"/>
                        </a:rPr>
                        <a:t> BHT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16K </a:t>
                      </a:r>
                      <a:r>
                        <a:rPr lang="zh-CN" sz="1200" b="1" kern="100" dirty="0">
                          <a:latin typeface="宋体" panose="02000500000000000000" pitchFamily="2" charset="-122"/>
                          <a:ea typeface="宋体" panose="02000500000000000000" pitchFamily="2" charset="-122"/>
                          <a:cs typeface="宋体" panose="02000500000000000000" pitchFamily="2" charset="-122"/>
                        </a:rPr>
                        <a:t>项全局</a:t>
                      </a:r>
                      <a:r>
                        <a:rPr lang="en-US" sz="1200" b="1" kern="100" dirty="0">
                          <a:latin typeface="宋体" panose="02000500000000000000" pitchFamily="2" charset="-122"/>
                          <a:ea typeface="宋体" panose="02000500000000000000" pitchFamily="2" charset="-122"/>
                          <a:cs typeface="宋体" panose="02000500000000000000" pitchFamily="2" charset="-122"/>
                        </a:rPr>
                        <a:t>BHT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8K </a:t>
                      </a:r>
                      <a:r>
                        <a:rPr lang="zh-CN" sz="1200" b="1" kern="100" dirty="0">
                          <a:latin typeface="宋体" panose="02000500000000000000" pitchFamily="2" charset="-122"/>
                          <a:ea typeface="宋体" panose="02000500000000000000" pitchFamily="2" charset="-122"/>
                          <a:cs typeface="宋体" panose="02000500000000000000" pitchFamily="2" charset="-122"/>
                        </a:rPr>
                        <a:t>项 全局</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err="1">
                          <a:latin typeface="宋体" panose="02000500000000000000" pitchFamily="2" charset="-122"/>
                          <a:ea typeface="宋体" panose="02000500000000000000" pitchFamily="2" charset="-122"/>
                          <a:cs typeface="宋体" panose="02000500000000000000" pitchFamily="2" charset="-122"/>
                        </a:rPr>
                        <a:t>sel</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项间接目标队列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 </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RAS</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8K</a:t>
                      </a:r>
                      <a:r>
                        <a:rPr lang="zh-CN" sz="1200" b="1" kern="100" dirty="0">
                          <a:latin typeface="宋体" panose="02000500000000000000" pitchFamily="2" charset="-122"/>
                          <a:ea typeface="宋体" panose="02000500000000000000" pitchFamily="2" charset="-122"/>
                          <a:cs typeface="宋体" panose="02000500000000000000" pitchFamily="2" charset="-122"/>
                        </a:rPr>
                        <a:t>项本地</a:t>
                      </a:r>
                      <a:r>
                        <a:rPr lang="en-US" sz="1200" b="1" kern="100" dirty="0">
                          <a:latin typeface="宋体" panose="02000500000000000000" pitchFamily="2" charset="-122"/>
                          <a:ea typeface="宋体" panose="02000500000000000000" pitchFamily="2" charset="-122"/>
                          <a:cs typeface="宋体" panose="02000500000000000000" pitchFamily="2" charset="-122"/>
                        </a:rPr>
                        <a:t> BHT </a:t>
                      </a:r>
                      <a:r>
                        <a:rPr lang="zh-CN" sz="1200" b="1" kern="100" dirty="0" smtClean="0">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8K</a:t>
                      </a:r>
                      <a:r>
                        <a:rPr lang="zh-CN" sz="1200" b="1" kern="100" dirty="0">
                          <a:latin typeface="宋体" panose="02000500000000000000" pitchFamily="2" charset="-122"/>
                          <a:ea typeface="宋体" panose="02000500000000000000" pitchFamily="2" charset="-122"/>
                          <a:cs typeface="宋体" panose="02000500000000000000" pitchFamily="2" charset="-122"/>
                        </a:rPr>
                        <a:t>项全局</a:t>
                      </a:r>
                      <a:r>
                        <a:rPr lang="en-US" sz="1200" b="1" kern="100" dirty="0">
                          <a:latin typeface="宋体" panose="02000500000000000000" pitchFamily="2" charset="-122"/>
                          <a:ea typeface="宋体" panose="02000500000000000000" pitchFamily="2" charset="-122"/>
                          <a:cs typeface="宋体" panose="02000500000000000000" pitchFamily="2" charset="-122"/>
                        </a:rPr>
                        <a:t>BHT </a:t>
                      </a:r>
                      <a:r>
                        <a:rPr lang="zh-CN" sz="1200" b="1" kern="100" dirty="0" smtClean="0">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8K</a:t>
                      </a:r>
                      <a:r>
                        <a:rPr lang="zh-CN" sz="1200" b="1" kern="100" dirty="0">
                          <a:latin typeface="宋体" panose="02000500000000000000" pitchFamily="2" charset="-122"/>
                          <a:ea typeface="宋体" panose="02000500000000000000" pitchFamily="2" charset="-122"/>
                          <a:cs typeface="宋体" panose="02000500000000000000" pitchFamily="2" charset="-122"/>
                        </a:rPr>
                        <a:t>项 全局</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err="1">
                          <a:latin typeface="宋体" panose="02000500000000000000" pitchFamily="2" charset="-122"/>
                          <a:ea typeface="宋体" panose="02000500000000000000" pitchFamily="2" charset="-122"/>
                          <a:cs typeface="宋体" panose="02000500000000000000" pitchFamily="2" charset="-122"/>
                        </a:rPr>
                        <a:t>sel</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1</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K</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a:t>
                      </a:r>
                      <a:r>
                        <a:rPr lang="zh-CN" sz="1200" b="1" kern="100" dirty="0">
                          <a:latin typeface="宋体" panose="02000500000000000000" pitchFamily="2" charset="-122"/>
                          <a:ea typeface="宋体" panose="02000500000000000000" pitchFamily="2" charset="-122"/>
                          <a:cs typeface="宋体" panose="02000500000000000000" pitchFamily="2" charset="-122"/>
                        </a:rPr>
                        <a:t>间接目标队列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RAS</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循环检测</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7724">
                <a:tc rowSpan="3">
                  <a:txBody>
                    <a:bodyPr/>
                    <a:lstStyle/>
                    <a:p>
                      <a:pPr algn="l">
                        <a:spcBef>
                          <a:spcPts val="100"/>
                        </a:spcBef>
                        <a:spcAft>
                          <a:spcPts val="0"/>
                        </a:spcAft>
                      </a:pP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乱序执行</a:t>
                      </a:r>
                      <a:endParaRPr lang="zh-CN" altLang="en-US"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ROB</a:t>
                      </a: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168 </a:t>
                      </a:r>
                      <a:r>
                        <a:rPr lang="zh-CN" sz="1200" b="1" kern="100" dirty="0">
                          <a:latin typeface="宋体" panose="02000500000000000000" pitchFamily="2" charset="-122"/>
                          <a:ea typeface="宋体" panose="02000500000000000000" pitchFamily="2" charset="-122"/>
                          <a:cs typeface="宋体" panose="02000500000000000000" pitchFamily="2" charset="-122"/>
                        </a:rPr>
                        <a:t>项</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项</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120 </a:t>
                      </a:r>
                      <a:r>
                        <a:rPr lang="zh-CN" sz="1200" b="1" kern="100" dirty="0">
                          <a:latin typeface="宋体" panose="02000500000000000000" pitchFamily="2" charset="-122"/>
                          <a:ea typeface="宋体" panose="02000500000000000000" pitchFamily="2" charset="-122"/>
                          <a:cs typeface="宋体" panose="02000500000000000000" pitchFamily="2" charset="-122"/>
                        </a:rPr>
                        <a:t>项</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项</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97799">
                <a:tc vMerge="1">
                  <a:tcPr marL="38075" marR="38075"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zh-CN" altLang="zh-CN" sz="1200" b="1" kern="100" dirty="0" smtClean="0">
                          <a:solidFill>
                            <a:schemeClr val="accent2"/>
                          </a:solidFill>
                          <a:latin typeface="宋体" panose="02000500000000000000" pitchFamily="2" charset="-122"/>
                          <a:ea typeface="宋体" panose="02000500000000000000" pitchFamily="2" charset="-122"/>
                          <a:cs typeface="Times New Roman"/>
                        </a:rPr>
                        <a:t>发射队列</a:t>
                      </a:r>
                      <a:endParaRPr lang="zh-CN" altLang="zh-CN" sz="1200" kern="100" dirty="0" smtClean="0">
                        <a:solidFill>
                          <a:schemeClr val="accent2"/>
                        </a:solidFill>
                        <a:latin typeface="宋体" panose="02000500000000000000" pitchFamily="2" charset="-122"/>
                        <a:ea typeface="宋体" panose="02000500000000000000" pitchFamily="2" charset="-122"/>
                        <a:cs typeface="Times New Roman"/>
                      </a:endParaRPr>
                    </a:p>
                    <a:p>
                      <a:pPr algn="l">
                        <a:spcBef>
                          <a:spcPts val="100"/>
                        </a:spcBef>
                        <a:spcAft>
                          <a:spcPts val="0"/>
                        </a:spcAft>
                      </a:pPr>
                      <a:endParaRPr lang="zh-CN" sz="1200"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54-</a:t>
                      </a:r>
                      <a:r>
                        <a:rPr lang="zh-CN" sz="1200" b="1" kern="100" dirty="0">
                          <a:latin typeface="宋体" panose="02000500000000000000" pitchFamily="2" charset="-122"/>
                          <a:ea typeface="宋体" panose="02000500000000000000" pitchFamily="2" charset="-122"/>
                          <a:cs typeface="宋体" panose="02000500000000000000" pitchFamily="2" charset="-122"/>
                        </a:rPr>
                        <a:t>项 统一</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60-</a:t>
                      </a:r>
                      <a:r>
                        <a:rPr lang="zh-CN" sz="1200" b="1" kern="100" dirty="0">
                          <a:latin typeface="宋体" panose="02000500000000000000" pitchFamily="2" charset="-122"/>
                          <a:ea typeface="宋体" panose="02000500000000000000" pitchFamily="2" charset="-122"/>
                          <a:cs typeface="宋体" panose="02000500000000000000" pitchFamily="2" charset="-122"/>
                        </a:rPr>
                        <a:t>项 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共享</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40-</a:t>
                      </a:r>
                      <a:r>
                        <a:rPr lang="zh-CN" sz="1200" b="1" kern="100" dirty="0">
                          <a:latin typeface="宋体" panose="02000500000000000000" pitchFamily="2" charset="-122"/>
                          <a:ea typeface="宋体" panose="02000500000000000000" pitchFamily="2" charset="-122"/>
                          <a:cs typeface="宋体" panose="02000500000000000000" pitchFamily="2" charset="-122"/>
                        </a:rPr>
                        <a:t>项 定点</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zh-CN" sz="1200" b="1" kern="100" dirty="0">
                          <a:latin typeface="宋体" panose="02000500000000000000" pitchFamily="2" charset="-122"/>
                          <a:ea typeface="宋体" panose="02000500000000000000" pitchFamily="2" charset="-122"/>
                          <a:cs typeface="宋体" panose="02000500000000000000" pitchFamily="2" charset="-122"/>
                        </a:rPr>
                        <a:t>访存</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48-</a:t>
                      </a:r>
                      <a:r>
                        <a:rPr lang="zh-CN" sz="1200" b="1" kern="100" dirty="0">
                          <a:latin typeface="宋体" panose="02000500000000000000" pitchFamily="2" charset="-122"/>
                          <a:ea typeface="宋体" panose="02000500000000000000" pitchFamily="2" charset="-122"/>
                          <a:cs typeface="宋体" panose="02000500000000000000" pitchFamily="2" charset="-122"/>
                        </a:rPr>
                        <a:t>项 标准</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32-</a:t>
                      </a:r>
                      <a:r>
                        <a:rPr lang="zh-CN" sz="1200" b="1" kern="100" dirty="0">
                          <a:latin typeface="宋体" panose="02000500000000000000" pitchFamily="2" charset="-122"/>
                          <a:ea typeface="宋体" panose="02000500000000000000" pitchFamily="2" charset="-122"/>
                          <a:cs typeface="宋体" panose="02000500000000000000" pitchFamily="2" charset="-122"/>
                        </a:rPr>
                        <a:t>项 </a:t>
                      </a:r>
                      <a:r>
                        <a:rPr lang="zh-CN" sz="1200" b="1" kern="100" dirty="0" smtClean="0">
                          <a:latin typeface="宋体" panose="02000500000000000000" pitchFamily="2" charset="-122"/>
                          <a:ea typeface="宋体" panose="02000500000000000000" pitchFamily="2" charset="-122"/>
                          <a:cs typeface="宋体" panose="02000500000000000000" pitchFamily="2" charset="-122"/>
                        </a:rPr>
                        <a:t>浮点</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32-</a:t>
                      </a:r>
                      <a:r>
                        <a:rPr lang="zh-CN" sz="1200" b="1" kern="100" dirty="0">
                          <a:latin typeface="宋体" panose="02000500000000000000" pitchFamily="2" charset="-122"/>
                          <a:ea typeface="宋体" panose="02000500000000000000" pitchFamily="2" charset="-122"/>
                          <a:cs typeface="宋体" panose="02000500000000000000" pitchFamily="2" charset="-122"/>
                        </a:rPr>
                        <a:t>项 </a:t>
                      </a:r>
                      <a:r>
                        <a:rPr lang="zh-CN" sz="1200" b="1" kern="100" dirty="0" smtClean="0">
                          <a:latin typeface="宋体" panose="02000500000000000000" pitchFamily="2" charset="-122"/>
                          <a:ea typeface="宋体" panose="02000500000000000000" pitchFamily="2" charset="-122"/>
                          <a:cs typeface="宋体" panose="02000500000000000000" pitchFamily="2" charset="-122"/>
                        </a:rPr>
                        <a:t>定点</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32-</a:t>
                      </a:r>
                      <a:r>
                        <a:rPr lang="zh-CN" sz="1200" b="1" kern="100" dirty="0">
                          <a:latin typeface="宋体" panose="02000500000000000000" pitchFamily="2" charset="-122"/>
                          <a:ea typeface="宋体" panose="02000500000000000000" pitchFamily="2" charset="-122"/>
                          <a:cs typeface="宋体" panose="02000500000000000000" pitchFamily="2" charset="-122"/>
                        </a:rPr>
                        <a:t>项 访</a:t>
                      </a:r>
                      <a:r>
                        <a:rPr lang="zh-CN" sz="1200" b="1" kern="100" dirty="0" smtClean="0">
                          <a:latin typeface="宋体" panose="02000500000000000000" pitchFamily="2" charset="-122"/>
                          <a:ea typeface="宋体" panose="02000500000000000000" pitchFamily="2" charset="-122"/>
                          <a:cs typeface="宋体" panose="02000500000000000000" pitchFamily="2" charset="-122"/>
                        </a:rPr>
                        <a:t>存</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865248">
                <a:tc vMerge="1">
                  <a:tcPr marL="38075" marR="38075"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zh-CN" altLang="zh-CN" sz="1200" b="1" kern="100" dirty="0" smtClean="0">
                          <a:solidFill>
                            <a:schemeClr val="accent2"/>
                          </a:solidFill>
                          <a:latin typeface="宋体" panose="02000500000000000000" pitchFamily="2" charset="-122"/>
                          <a:ea typeface="宋体" panose="02000500000000000000" pitchFamily="2" charset="-122"/>
                          <a:cs typeface="Times New Roman"/>
                        </a:rPr>
                        <a:t>寄存器重命名</a:t>
                      </a:r>
                      <a:endParaRPr lang="zh-CN" altLang="zh-CN" sz="1200" kern="100" dirty="0" smtClean="0">
                        <a:solidFill>
                          <a:schemeClr val="accent2"/>
                        </a:solidFill>
                        <a:latin typeface="宋体" panose="02000500000000000000" pitchFamily="2" charset="-122"/>
                        <a:ea typeface="宋体" panose="02000500000000000000" pitchFamily="2" charset="-122"/>
                        <a:cs typeface="Times New Roman"/>
                      </a:endParaRPr>
                    </a:p>
                    <a:p>
                      <a:pPr algn="l">
                        <a:spcBef>
                          <a:spcPts val="100"/>
                        </a:spcBef>
                        <a:spcAft>
                          <a:spcPts val="0"/>
                        </a:spcAft>
                      </a:pPr>
                      <a:endParaRPr lang="zh-CN" sz="1200"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160 </a:t>
                      </a: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144 </a:t>
                      </a:r>
                      <a:r>
                        <a:rPr lang="zh-CN" sz="1200" b="1" kern="100" dirty="0">
                          <a:latin typeface="宋体" panose="02000500000000000000" pitchFamily="2" charset="-122"/>
                          <a:ea typeface="宋体" panose="02000500000000000000" pitchFamily="2" charset="-122"/>
                          <a:cs typeface="宋体" panose="02000500000000000000" pitchFamily="2" charset="-122"/>
                        </a:rPr>
                        <a:t>浮点</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96 </a:t>
                      </a: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 </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160 </a:t>
                      </a: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双核共享</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80 </a:t>
                      </a: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56 CR; </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40 XER,</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24 </a:t>
                      </a:r>
                      <a:r>
                        <a:rPr lang="en-US" sz="1200" b="1" kern="100" dirty="0" err="1">
                          <a:latin typeface="宋体" panose="02000500000000000000" pitchFamily="2" charset="-122"/>
                          <a:ea typeface="宋体" panose="02000500000000000000" pitchFamily="2" charset="-122"/>
                          <a:cs typeface="宋体" panose="02000500000000000000" pitchFamily="2" charset="-122"/>
                        </a:rPr>
                        <a:t>Link&amp;Count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 </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向量</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 Acc; </a:t>
                      </a:r>
                      <a:endParaRPr lang="en-US" sz="1200" b="1" kern="100" dirty="0" smtClean="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32 </a:t>
                      </a:r>
                      <a:r>
                        <a:rPr lang="en-US" sz="1200" b="1" kern="100" dirty="0" err="1">
                          <a:latin typeface="宋体" panose="02000500000000000000" pitchFamily="2" charset="-122"/>
                          <a:ea typeface="宋体" panose="02000500000000000000" pitchFamily="2" charset="-122"/>
                          <a:cs typeface="宋体" panose="02000500000000000000" pitchFamily="2" charset="-122"/>
                        </a:rPr>
                        <a:t>DSPCtrl</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smtClean="0">
                          <a:latin typeface="宋体" panose="02000500000000000000" pitchFamily="2" charset="-122"/>
                          <a:ea typeface="宋体" panose="02000500000000000000" pitchFamily="2" charset="-122"/>
                          <a:cs typeface="宋体" panose="02000500000000000000" pitchFamily="2" charset="-122"/>
                        </a:rPr>
                        <a:t>32 </a:t>
                      </a:r>
                      <a:r>
                        <a:rPr lang="en-US" sz="1200" b="1" kern="100" dirty="0">
                          <a:latin typeface="宋体" panose="02000500000000000000" pitchFamily="2" charset="-122"/>
                          <a:ea typeface="宋体" panose="02000500000000000000" pitchFamily="2" charset="-122"/>
                          <a:cs typeface="宋体" panose="02000500000000000000" pitchFamily="2" charset="-122"/>
                        </a:rPr>
                        <a:t>FCR</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1302397">
                <a:tc rowSpan="2">
                  <a:txBody>
                    <a:bodyPr/>
                    <a:lstStyle/>
                    <a:p>
                      <a:pPr algn="l">
                        <a:spcBef>
                          <a:spcPts val="100"/>
                        </a:spcBef>
                        <a:spcAft>
                          <a:spcPts val="0"/>
                        </a:spcAft>
                      </a:pP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运算部件</a:t>
                      </a:r>
                      <a:endParaRPr lang="zh-CN" altLang="en-US"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执行单元</a:t>
                      </a:r>
                      <a:endParaRPr lang="zh-CN" altLang="zh-CN" sz="1200" kern="100" dirty="0" smtClean="0">
                        <a:solidFill>
                          <a:schemeClr val="accent2"/>
                        </a:solidFill>
                        <a:latin typeface="宋体" panose="02000500000000000000" pitchFamily="2" charset="-122"/>
                        <a:ea typeface="宋体" panose="02000500000000000000" pitchFamily="2" charset="-122"/>
                        <a:cs typeface="Times New Roman"/>
                      </a:endParaRPr>
                    </a:p>
                    <a:p>
                      <a:pPr algn="l">
                        <a:spcBef>
                          <a:spcPts val="100"/>
                        </a:spcBef>
                        <a:spcAft>
                          <a:spcPts val="0"/>
                        </a:spcAft>
                      </a:pPr>
                      <a:endParaRPr lang="zh-CN" sz="1200"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ALU/LEA/Shift/128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MUL/128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Shift/256</a:t>
                      </a:r>
                      <a:r>
                        <a:rPr lang="zh-CN" sz="1200" b="1" kern="100" dirty="0" smtClean="0">
                          <a:latin typeface="宋体" panose="02000500000000000000" pitchFamily="2" charset="-122"/>
                          <a:ea typeface="宋体" panose="02000500000000000000" pitchFamily="2" charset="-122"/>
                          <a:cs typeface="宋体" panose="02000500000000000000" pitchFamily="2" charset="-122"/>
                        </a:rPr>
                        <a:t>位</a:t>
                      </a:r>
                      <a:r>
                        <a:rPr lang="en-US" sz="1200" b="1" kern="100" dirty="0" smtClean="0">
                          <a:latin typeface="宋体" panose="02000500000000000000" pitchFamily="2" charset="-122"/>
                          <a:ea typeface="宋体" panose="02000500000000000000" pitchFamily="2" charset="-122"/>
                          <a:cs typeface="宋体" panose="02000500000000000000" pitchFamily="2" charset="-122"/>
                        </a:rPr>
                        <a:t>FMUL/256</a:t>
                      </a:r>
                      <a:r>
                        <a:rPr lang="zh-CN" sz="1200" b="1" kern="100" dirty="0" smtClean="0">
                          <a:latin typeface="宋体" panose="02000500000000000000" pitchFamily="2" charset="-122"/>
                          <a:ea typeface="宋体" panose="02000500000000000000" pitchFamily="2" charset="-122"/>
                          <a:cs typeface="宋体" panose="02000500000000000000" pitchFamily="2" charset="-122"/>
                        </a:rPr>
                        <a:t>位</a:t>
                      </a:r>
                      <a:r>
                        <a:rPr lang="en-US" sz="1200" b="1" kern="100" dirty="0" smtClean="0">
                          <a:latin typeface="宋体" panose="02000500000000000000" pitchFamily="2" charset="-122"/>
                          <a:ea typeface="宋体" panose="02000500000000000000" pitchFamily="2" charset="-122"/>
                          <a:cs typeface="宋体" panose="02000500000000000000" pitchFamily="2" charset="-122"/>
                        </a:rPr>
                        <a:t>Blend </a:t>
                      </a:r>
                      <a:r>
                        <a:rPr lang="en-US"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a:t>
                      </a:r>
                      <a:r>
                        <a:rPr lang="en-US" sz="1200" b="1" kern="100" dirty="0" smtClean="0">
                          <a:latin typeface="宋体" panose="02000500000000000000" pitchFamily="2" charset="-122"/>
                          <a:ea typeface="宋体" panose="02000500000000000000" pitchFamily="2" charset="-122"/>
                          <a:cs typeface="宋体" panose="02000500000000000000" pitchFamily="2" charset="-122"/>
                        </a:rPr>
                        <a:t> </a:t>
                      </a:r>
                      <a:endParaRPr lang="en-US" sz="1200" b="1" kern="100" dirty="0" smtClean="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ALU/LEA/Shift/128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smtClean="0">
                          <a:latin typeface="宋体" panose="02000500000000000000" pitchFamily="2" charset="-122"/>
                          <a:ea typeface="宋体" panose="02000500000000000000" pitchFamily="2" charset="-122"/>
                          <a:cs typeface="宋体" panose="02000500000000000000" pitchFamily="2" charset="-122"/>
                        </a:rPr>
                        <a:t>ALU /</a:t>
                      </a:r>
                      <a:r>
                        <a:rPr lang="en-US" sz="1200" b="1" kern="100" dirty="0">
                          <a:latin typeface="宋体" panose="02000500000000000000" pitchFamily="2" charset="-122"/>
                          <a:ea typeface="宋体" panose="02000500000000000000" pitchFamily="2" charset="-122"/>
                          <a:cs typeface="宋体" panose="02000500000000000000" pitchFamily="2" charset="-122"/>
                        </a:rPr>
                        <a:t>128bit Shuffle/256</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FADD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ALU/Shift/Branch</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ALU/128bit Shuffle/256</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Shuffle/256</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Blend</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ALU/IMUL/Branch </a:t>
                      </a:r>
                      <a:r>
                        <a:rPr lang="en-US"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 </a:t>
                      </a:r>
                      <a:r>
                        <a:rPr lang="en-US" sz="1200" b="1" kern="100" dirty="0" smtClean="0">
                          <a:latin typeface="宋体" panose="02000500000000000000" pitchFamily="2" charset="-122"/>
                          <a:ea typeface="宋体" panose="02000500000000000000" pitchFamily="2" charset="-122"/>
                          <a:cs typeface="宋体" panose="02000500000000000000" pitchFamily="2" charset="-122"/>
                        </a:rPr>
                        <a:t>ALU/IDIV/Count </a:t>
                      </a:r>
                      <a:r>
                        <a:rPr lang="en-US"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 </a:t>
                      </a:r>
                      <a:endParaRPr lang="en-US"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FMAC/128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IMAC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a:t>
                      </a:r>
                      <a:r>
                        <a:rPr lang="en-US" sz="1200" b="1" kern="100" dirty="0">
                          <a:latin typeface="宋体" panose="02000500000000000000" pitchFamily="2" charset="-122"/>
                          <a:ea typeface="宋体" panose="02000500000000000000" pitchFamily="2" charset="-122"/>
                          <a:cs typeface="宋体" panose="02000500000000000000" pitchFamily="2" charset="-122"/>
                        </a:rPr>
                        <a:t> </a:t>
                      </a:r>
                      <a:endParaRPr lang="en-US" sz="1200" b="1" kern="100" dirty="0" smtClean="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128</a:t>
                      </a:r>
                      <a:r>
                        <a:rPr lang="zh-CN" sz="1200" b="1" kern="100" dirty="0" smtClean="0">
                          <a:latin typeface="宋体" panose="02000500000000000000" pitchFamily="2" charset="-122"/>
                          <a:ea typeface="宋体" panose="02000500000000000000" pitchFamily="2" charset="-122"/>
                          <a:cs typeface="宋体" panose="02000500000000000000" pitchFamily="2" charset="-122"/>
                        </a:rPr>
                        <a:t>位</a:t>
                      </a:r>
                      <a:r>
                        <a:rPr lang="en-US" sz="1200" b="1" kern="100" dirty="0" smtClean="0">
                          <a:latin typeface="宋体" panose="02000500000000000000" pitchFamily="2" charset="-122"/>
                          <a:ea typeface="宋体" panose="02000500000000000000" pitchFamily="2" charset="-122"/>
                          <a:cs typeface="宋体" panose="02000500000000000000" pitchFamily="2" charset="-122"/>
                        </a:rPr>
                        <a:t>FMAC/128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XBAR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a:t>
                      </a:r>
                      <a:r>
                        <a:rPr lang="en-US" sz="1200" b="1" kern="100" dirty="0">
                          <a:latin typeface="宋体" panose="02000500000000000000" pitchFamily="2" charset="-122"/>
                          <a:ea typeface="宋体" panose="02000500000000000000" pitchFamily="2" charset="-122"/>
                          <a:cs typeface="宋体" panose="02000500000000000000" pitchFamily="2" charset="-122"/>
                        </a:rPr>
                        <a:t> </a:t>
                      </a:r>
                      <a:endParaRPr lang="en-US" sz="1200" b="1" kern="100" dirty="0" smtClean="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MMX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 </a:t>
                      </a:r>
                      <a:endParaRPr lang="en-US"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MMX/128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FSTO</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 </a:t>
                      </a: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 </a:t>
                      </a: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向量</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 </a:t>
                      </a:r>
                      <a:r>
                        <a:rPr lang="zh-CN" sz="1200" b="1" kern="100" dirty="0">
                          <a:latin typeface="宋体" panose="02000500000000000000" pitchFamily="2" charset="-122"/>
                          <a:ea typeface="宋体" panose="02000500000000000000" pitchFamily="2" charset="-122"/>
                          <a:cs typeface="宋体" panose="02000500000000000000" pitchFamily="2" charset="-122"/>
                        </a:rPr>
                        <a:t>转移</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 CR</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 </a:t>
                      </a: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转移</a:t>
                      </a:r>
                      <a:r>
                        <a:rPr lang="en-US" sz="1200" b="1" kern="100" dirty="0">
                          <a:latin typeface="宋体" panose="02000500000000000000" pitchFamily="2" charset="-122"/>
                          <a:ea typeface="宋体" panose="02000500000000000000" pitchFamily="2" charset="-122"/>
                          <a:cs typeface="宋体" panose="02000500000000000000" pitchFamily="2" charset="-122"/>
                        </a:rPr>
                        <a:t>/DSP </a:t>
                      </a: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 </a:t>
                      </a: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向量</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4181">
                <a:tc vMerge="1">
                  <a:tcPr marL="38075" marR="38075" marT="0"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100"/>
                        </a:spcBef>
                        <a:spcAft>
                          <a:spcPts val="0"/>
                        </a:spcAft>
                        <a:buClrTx/>
                        <a:buSzTx/>
                        <a:buFontTx/>
                        <a:buNone/>
                        <a:defRPr/>
                      </a:pPr>
                      <a:r>
                        <a:rPr lang="zh-CN" altLang="zh-CN" sz="1200" b="1" kern="100" dirty="0" smtClean="0">
                          <a:solidFill>
                            <a:schemeClr val="accent2"/>
                          </a:solidFill>
                          <a:latin typeface="宋体" panose="02000500000000000000" pitchFamily="2" charset="-122"/>
                          <a:ea typeface="宋体" panose="02000500000000000000" pitchFamily="2" charset="-122"/>
                          <a:cs typeface="Times New Roman"/>
                        </a:rPr>
                        <a:t>向量宽度</a:t>
                      </a:r>
                      <a:endParaRPr lang="zh-CN"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ctr">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256</a:t>
                      </a:r>
                      <a:r>
                        <a:rPr lang="zh-CN" sz="1200" b="1" kern="100" dirty="0">
                          <a:latin typeface="宋体" panose="02000500000000000000" pitchFamily="2" charset="-122"/>
                          <a:ea typeface="宋体" panose="02000500000000000000" pitchFamily="2" charset="-122"/>
                          <a:cs typeface="宋体" panose="02000500000000000000" pitchFamily="2" charset="-122"/>
                        </a:rPr>
                        <a:t>位</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a:t>
                      </a:r>
                      <a:r>
                        <a:rPr lang="zh-CN" sz="1200" b="1" kern="100" dirty="0">
                          <a:latin typeface="宋体" panose="02000500000000000000" pitchFamily="2" charset="-122"/>
                          <a:ea typeface="宋体" panose="02000500000000000000" pitchFamily="2" charset="-122"/>
                          <a:cs typeface="宋体" panose="02000500000000000000" pitchFamily="2" charset="-122"/>
                        </a:rPr>
                        <a:t>位</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00"/>
                        </a:spcBef>
                        <a:spcAft>
                          <a:spcPts val="0"/>
                        </a:spcAft>
                      </a:pPr>
                      <a:r>
                        <a:rPr lang="en-US" sz="1200" b="1" kern="100">
                          <a:latin typeface="宋体" panose="02000500000000000000" pitchFamily="2" charset="-122"/>
                          <a:ea typeface="宋体" panose="02000500000000000000" pitchFamily="2" charset="-122"/>
                          <a:cs typeface="宋体" panose="02000500000000000000" pitchFamily="2" charset="-122"/>
                        </a:rPr>
                        <a:t>128</a:t>
                      </a:r>
                      <a:r>
                        <a:rPr lang="zh-CN" sz="1200" b="1" kern="100">
                          <a:latin typeface="宋体" panose="02000500000000000000" pitchFamily="2" charset="-122"/>
                          <a:ea typeface="宋体" panose="02000500000000000000" pitchFamily="2" charset="-122"/>
                          <a:cs typeface="宋体" panose="02000500000000000000" pitchFamily="2" charset="-122"/>
                        </a:rPr>
                        <a:t>位</a:t>
                      </a:r>
                      <a:endParaRPr lang="zh-CN" sz="1200" b="1" kern="10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256</a:t>
                      </a:r>
                      <a:r>
                        <a:rPr lang="zh-CN" sz="1200" b="1" kern="100" dirty="0">
                          <a:latin typeface="宋体" panose="02000500000000000000" pitchFamily="2" charset="-122"/>
                          <a:ea typeface="宋体" panose="02000500000000000000" pitchFamily="2" charset="-122"/>
                          <a:cs typeface="宋体" panose="02000500000000000000" pitchFamily="2" charset="-122"/>
                        </a:rPr>
                        <a:t>位</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p:txBody>
          <a:bodyPr vert="horz" wrap="square" lIns="91440" tIns="45720" rIns="91440" bIns="45720" anchor="ctr" anchorCtr="0"/>
          <a:p>
            <a:r>
              <a:rPr lang="zh-CN" altLang="en-US" dirty="0"/>
              <a:t>典型处理器的结构参数</a:t>
            </a:r>
            <a:endParaRPr lang="zh-CN" altLang="en-US" dirty="0"/>
          </a:p>
        </p:txBody>
      </p:sp>
      <p:graphicFrame>
        <p:nvGraphicFramePr>
          <p:cNvPr id="4" name="内容占位符 3"/>
          <p:cNvGraphicFramePr>
            <a:graphicFrameLocks noGrp="1"/>
          </p:cNvGraphicFramePr>
          <p:nvPr>
            <p:ph idx="1"/>
          </p:nvPr>
        </p:nvGraphicFramePr>
        <p:xfrm>
          <a:off x="150813" y="1158875"/>
          <a:ext cx="11904663" cy="5184775"/>
        </p:xfrm>
        <a:graphic>
          <a:graphicData uri="http://schemas.openxmlformats.org/drawingml/2006/table">
            <a:tbl>
              <a:tblPr/>
              <a:tblGrid>
                <a:gridCol w="348712"/>
                <a:gridCol w="1773326"/>
                <a:gridCol w="2227383"/>
                <a:gridCol w="2188922"/>
                <a:gridCol w="2356147"/>
                <a:gridCol w="3009979"/>
              </a:tblGrid>
              <a:tr h="358775">
                <a:tc gridSpan="2">
                  <a:txBody>
                    <a:bodyPr/>
                    <a:lstStyle/>
                    <a:p>
                      <a:pPr algn="ctr">
                        <a:spcBef>
                          <a:spcPts val="100"/>
                        </a:spcBef>
                        <a:spcAft>
                          <a:spcPts val="0"/>
                        </a:spcAft>
                      </a:pPr>
                      <a:endParaRPr lang="zh-CN"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h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Times New Roman"/>
                        </a:rPr>
                        <a:t>Intel </a:t>
                      </a:r>
                      <a:r>
                        <a:rPr lang="en-US" altLang="zh-CN" sz="1200" b="1" kern="100" dirty="0" err="1" smtClean="0">
                          <a:solidFill>
                            <a:schemeClr val="accent2"/>
                          </a:solidFill>
                          <a:latin typeface="宋体" panose="02000500000000000000" pitchFamily="2" charset="-122"/>
                          <a:ea typeface="宋体" panose="02000500000000000000" pitchFamily="2" charset="-122"/>
                          <a:cs typeface="Times New Roman"/>
                        </a:rPr>
                        <a:t>Iv</a:t>
                      </a:r>
                      <a:r>
                        <a:rPr lang="en-US" sz="1200" b="1" kern="100" dirty="0" err="1" smtClean="0">
                          <a:solidFill>
                            <a:schemeClr val="accent2"/>
                          </a:solidFill>
                          <a:latin typeface="宋体" panose="02000500000000000000" pitchFamily="2" charset="-122"/>
                          <a:ea typeface="宋体" panose="02000500000000000000" pitchFamily="2" charset="-122"/>
                          <a:cs typeface="Times New Roman"/>
                        </a:rPr>
                        <a:t>ybridge</a:t>
                      </a:r>
                      <a:endParaRPr lang="zh-CN"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ctr">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Times New Roman"/>
                        </a:rPr>
                        <a:t>AMD </a:t>
                      </a:r>
                      <a:r>
                        <a:rPr lang="en-US" sz="1200" b="1" kern="100" dirty="0" err="1">
                          <a:solidFill>
                            <a:schemeClr val="accent2"/>
                          </a:solidFill>
                          <a:latin typeface="宋体" panose="02000500000000000000" pitchFamily="2" charset="-122"/>
                          <a:ea typeface="宋体" panose="02000500000000000000" pitchFamily="2" charset="-122"/>
                          <a:cs typeface="Times New Roman"/>
                        </a:rPr>
                        <a:t>BullDozer</a:t>
                      </a:r>
                      <a:endParaRPr lang="zh-CN"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T w="12700" cap="flat" cmpd="sng" algn="ctr">
                      <a:solidFill>
                        <a:srgbClr val="000000"/>
                      </a:solidFill>
                      <a:prstDash val="solid"/>
                      <a:round/>
                      <a:headEnd type="none" w="med" len="med"/>
                      <a:tailEnd type="none" w="med" len="med"/>
                    </a:lnT>
                    <a:solidFill>
                      <a:schemeClr val="accent3">
                        <a:lumMod val="95000"/>
                      </a:schemeClr>
                    </a:solidFill>
                  </a:tcPr>
                </a:tc>
                <a:tc>
                  <a:txBody>
                    <a:bodyPr/>
                    <a:lstStyle/>
                    <a:p>
                      <a:pPr algn="ctr">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Times New Roman"/>
                        </a:rPr>
                        <a:t>IBM Power7</a:t>
                      </a:r>
                      <a:endParaRPr lang="en-US"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T w="12700" cap="flat" cmpd="sng" algn="ctr">
                      <a:solidFill>
                        <a:srgbClr val="000000"/>
                      </a:solidFill>
                      <a:prstDash val="solid"/>
                      <a:round/>
                      <a:headEnd type="none" w="med" len="med"/>
                      <a:tailEnd type="none" w="med" len="med"/>
                    </a:lnT>
                    <a:solidFill>
                      <a:schemeClr val="accent3">
                        <a:lumMod val="95000"/>
                      </a:schemeClr>
                    </a:solidFill>
                  </a:tcPr>
                </a:tc>
                <a:tc>
                  <a:txBody>
                    <a:bodyPr/>
                    <a:lstStyle/>
                    <a:p>
                      <a:pPr algn="ctr">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GS464E</a:t>
                      </a: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solidFill>
                      <a:schemeClr val="accent3">
                        <a:lumMod val="95000"/>
                      </a:schemeClr>
                    </a:solidFill>
                  </a:tcPr>
                </a:tc>
              </a:tr>
              <a:tr h="320928">
                <a:tc rowSpan="12">
                  <a:txBody>
                    <a:bodyPr/>
                    <a:lstStyle/>
                    <a:p>
                      <a:pPr algn="l">
                        <a:spcBef>
                          <a:spcPts val="100"/>
                        </a:spcBef>
                        <a:spcAft>
                          <a:spcPts val="0"/>
                        </a:spcAft>
                      </a:pP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访</a:t>
                      </a: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p>
                      <a:pPr algn="l">
                        <a:spcBef>
                          <a:spcPts val="100"/>
                        </a:spcBef>
                        <a:spcAft>
                          <a:spcPts val="0"/>
                        </a:spcAft>
                      </a:pP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p>
                      <a:pPr algn="l">
                        <a:spcBef>
                          <a:spcPts val="100"/>
                        </a:spcBef>
                        <a:spcAft>
                          <a:spcPts val="0"/>
                        </a:spcAft>
                      </a:pP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存</a:t>
                      </a:r>
                      <a:endParaRPr lang="zh-CN"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zh-CN" sz="1200" b="1" kern="100" dirty="0">
                          <a:solidFill>
                            <a:schemeClr val="accent2"/>
                          </a:solidFill>
                          <a:latin typeface="宋体" panose="02000500000000000000" pitchFamily="2" charset="-122"/>
                          <a:ea typeface="宋体" panose="02000500000000000000" pitchFamily="2" charset="-122"/>
                          <a:cs typeface="Times New Roman"/>
                        </a:rPr>
                        <a:t>访</a:t>
                      </a:r>
                      <a:r>
                        <a:rPr lang="zh-CN" sz="1200" b="1" kern="100" dirty="0" smtClean="0">
                          <a:solidFill>
                            <a:schemeClr val="accent2"/>
                          </a:solidFill>
                          <a:latin typeface="宋体" panose="02000500000000000000" pitchFamily="2" charset="-122"/>
                          <a:ea typeface="宋体" panose="02000500000000000000" pitchFamily="2" charset="-122"/>
                          <a:cs typeface="Times New Roman"/>
                        </a:rPr>
                        <a:t>存单元</a:t>
                      </a: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个数</a:t>
                      </a:r>
                      <a:endParaRPr lang="zh-CN"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 </a:t>
                      </a:r>
                      <a:r>
                        <a:rPr lang="zh-CN" sz="1200" b="1" kern="100" dirty="0">
                          <a:latin typeface="宋体" panose="02000500000000000000" pitchFamily="2" charset="-122"/>
                          <a:ea typeface="宋体" panose="02000500000000000000" pitchFamily="2" charset="-122"/>
                          <a:cs typeface="宋体" panose="02000500000000000000" pitchFamily="2" charset="-122"/>
                        </a:rPr>
                        <a:t>取</a:t>
                      </a:r>
                      <a:r>
                        <a:rPr lang="en-US" sz="1200" b="1" kern="100" dirty="0">
                          <a:latin typeface="宋体" panose="02000500000000000000" pitchFamily="2" charset="-122"/>
                          <a:ea typeface="宋体" panose="02000500000000000000" pitchFamily="2" charset="-122"/>
                          <a:cs typeface="宋体" panose="02000500000000000000" pitchFamily="2" charset="-122"/>
                        </a:rPr>
                        <a:t>+ 1 </a:t>
                      </a:r>
                      <a:r>
                        <a:rPr lang="zh-CN" sz="1200" b="1" kern="100" dirty="0">
                          <a:latin typeface="宋体" panose="02000500000000000000" pitchFamily="2" charset="-122"/>
                          <a:ea typeface="宋体" panose="02000500000000000000" pitchFamily="2" charset="-122"/>
                          <a:cs typeface="宋体" panose="02000500000000000000" pitchFamily="2" charset="-122"/>
                        </a:rPr>
                        <a:t>存</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 </a:t>
                      </a:r>
                      <a:r>
                        <a:rPr lang="zh-CN" sz="1200" b="1" kern="100" dirty="0">
                          <a:latin typeface="宋体" panose="02000500000000000000" pitchFamily="2" charset="-122"/>
                          <a:ea typeface="宋体" panose="02000500000000000000" pitchFamily="2" charset="-122"/>
                          <a:cs typeface="宋体" panose="02000500000000000000" pitchFamily="2" charset="-122"/>
                        </a:rPr>
                        <a:t>取</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存</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 </a:t>
                      </a:r>
                      <a:r>
                        <a:rPr lang="zh-CN" sz="1200" b="1" kern="100" dirty="0">
                          <a:latin typeface="宋体" panose="02000500000000000000" pitchFamily="2" charset="-122"/>
                          <a:ea typeface="宋体" panose="02000500000000000000" pitchFamily="2" charset="-122"/>
                          <a:cs typeface="宋体" panose="02000500000000000000" pitchFamily="2" charset="-122"/>
                        </a:rPr>
                        <a:t>取</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存</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a:latin typeface="宋体" panose="02000500000000000000" pitchFamily="2" charset="-122"/>
                          <a:ea typeface="宋体" panose="02000500000000000000" pitchFamily="2" charset="-122"/>
                          <a:cs typeface="宋体" panose="02000500000000000000" pitchFamily="2" charset="-122"/>
                        </a:rPr>
                        <a:t>2 </a:t>
                      </a:r>
                      <a:r>
                        <a:rPr lang="zh-CN" sz="1200" b="1" kern="100">
                          <a:latin typeface="宋体" panose="02000500000000000000" pitchFamily="2" charset="-122"/>
                          <a:ea typeface="宋体" panose="02000500000000000000" pitchFamily="2" charset="-122"/>
                          <a:cs typeface="宋体" panose="02000500000000000000" pitchFamily="2" charset="-122"/>
                        </a:rPr>
                        <a:t>取</a:t>
                      </a:r>
                      <a:r>
                        <a:rPr lang="en-US" sz="1200" b="1" kern="100">
                          <a:latin typeface="宋体" panose="02000500000000000000" pitchFamily="2" charset="-122"/>
                          <a:ea typeface="宋体" panose="02000500000000000000" pitchFamily="2" charset="-122"/>
                          <a:cs typeface="宋体" panose="02000500000000000000" pitchFamily="2" charset="-122"/>
                        </a:rPr>
                        <a:t>/</a:t>
                      </a:r>
                      <a:r>
                        <a:rPr lang="zh-CN" sz="1200" b="1" kern="100">
                          <a:latin typeface="宋体" panose="02000500000000000000" pitchFamily="2" charset="-122"/>
                          <a:ea typeface="宋体" panose="02000500000000000000" pitchFamily="2" charset="-122"/>
                          <a:cs typeface="宋体" panose="02000500000000000000" pitchFamily="2" charset="-122"/>
                        </a:rPr>
                        <a:t>存</a:t>
                      </a:r>
                      <a:endParaRPr lang="zh-CN" sz="1200" b="1" kern="10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r>
              <a:tr h="641855">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Load/Store</a:t>
                      </a:r>
                      <a:r>
                        <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64-</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Load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36-</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Store</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40-</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Load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24-</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Store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32-</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Load</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32-</a:t>
                      </a:r>
                      <a:r>
                        <a:rPr lang="zh-CN" sz="1200" b="1" kern="100" dirty="0">
                          <a:latin typeface="宋体" panose="02000500000000000000" pitchFamily="2" charset="-122"/>
                          <a:ea typeface="宋体" panose="02000500000000000000" pitchFamily="2" charset="-122"/>
                          <a:cs typeface="宋体" panose="02000500000000000000" pitchFamily="2" charset="-122"/>
                        </a:rPr>
                        <a:t>项</a:t>
                      </a:r>
                      <a:r>
                        <a:rPr lang="en-US" sz="1200" b="1" kern="100" dirty="0">
                          <a:latin typeface="宋体" panose="02000500000000000000" pitchFamily="2" charset="-122"/>
                          <a:ea typeface="宋体" panose="02000500000000000000" pitchFamily="2" charset="-122"/>
                          <a:cs typeface="宋体" panose="02000500000000000000" pitchFamily="2" charset="-122"/>
                        </a:rPr>
                        <a:t> Store </a:t>
                      </a:r>
                      <a:r>
                        <a:rPr lang="zh-CN" sz="1200" b="1" kern="100" dirty="0">
                          <a:latin typeface="宋体" panose="02000500000000000000" pitchFamily="2" charset="-122"/>
                          <a:ea typeface="宋体" panose="02000500000000000000" pitchFamily="2" charset="-122"/>
                          <a:cs typeface="宋体" panose="02000500000000000000" pitchFamily="2" charset="-122"/>
                        </a:rPr>
                        <a:t>队列</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a:latin typeface="宋体" panose="02000500000000000000" pitchFamily="2" charset="-122"/>
                          <a:ea typeface="宋体" panose="02000500000000000000" pitchFamily="2" charset="-122"/>
                          <a:cs typeface="宋体" panose="02000500000000000000" pitchFamily="2" charset="-122"/>
                        </a:rPr>
                        <a:t>64-</a:t>
                      </a:r>
                      <a:r>
                        <a:rPr lang="zh-CN" sz="1200" b="1" kern="100">
                          <a:latin typeface="宋体" panose="02000500000000000000" pitchFamily="2" charset="-122"/>
                          <a:ea typeface="宋体" panose="02000500000000000000" pitchFamily="2" charset="-122"/>
                          <a:cs typeface="宋体" panose="02000500000000000000" pitchFamily="2" charset="-122"/>
                        </a:rPr>
                        <a:t>项 取</a:t>
                      </a:r>
                      <a:r>
                        <a:rPr lang="en-US" sz="1200" b="1" kern="100">
                          <a:latin typeface="宋体" panose="02000500000000000000" pitchFamily="2" charset="-122"/>
                          <a:ea typeface="宋体" panose="02000500000000000000" pitchFamily="2" charset="-122"/>
                          <a:cs typeface="宋体" panose="02000500000000000000" pitchFamily="2" charset="-122"/>
                        </a:rPr>
                        <a:t>/</a:t>
                      </a:r>
                      <a:r>
                        <a:rPr lang="zh-CN" sz="1200" b="1" kern="100">
                          <a:latin typeface="宋体" panose="02000500000000000000" pitchFamily="2" charset="-122"/>
                          <a:ea typeface="宋体" panose="02000500000000000000" pitchFamily="2" charset="-122"/>
                          <a:cs typeface="宋体" panose="02000500000000000000" pitchFamily="2" charset="-122"/>
                        </a:rPr>
                        <a:t>存 队列</a:t>
                      </a:r>
                      <a:endParaRPr lang="zh-CN" sz="1200" b="1" kern="10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Load/Store </a:t>
                      </a:r>
                      <a:r>
                        <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rPr>
                        <a:t>宽度</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位</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位</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256 </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load,</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128 </a:t>
                      </a:r>
                      <a:r>
                        <a:rPr lang="zh-CN" sz="1200" b="1" kern="100" dirty="0">
                          <a:latin typeface="宋体" panose="02000500000000000000" pitchFamily="2" charset="-122"/>
                          <a:ea typeface="宋体" panose="02000500000000000000" pitchFamily="2" charset="-122"/>
                          <a:cs typeface="宋体" panose="02000500000000000000" pitchFamily="2" charset="-122"/>
                        </a:rPr>
                        <a:t>位</a:t>
                      </a:r>
                      <a:r>
                        <a:rPr lang="en-US" sz="1200" b="1" kern="100" dirty="0">
                          <a:latin typeface="宋体" panose="02000500000000000000" pitchFamily="2" charset="-122"/>
                          <a:ea typeface="宋体" panose="02000500000000000000" pitchFamily="2" charset="-122"/>
                          <a:cs typeface="宋体" panose="02000500000000000000" pitchFamily="2" charset="-122"/>
                        </a:rPr>
                        <a:t> Store</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a:latin typeface="宋体" panose="02000500000000000000" pitchFamily="2" charset="-122"/>
                          <a:ea typeface="宋体" panose="02000500000000000000" pitchFamily="2" charset="-122"/>
                          <a:cs typeface="宋体" panose="02000500000000000000" pitchFamily="2" charset="-122"/>
                        </a:rPr>
                        <a:t>256 </a:t>
                      </a:r>
                      <a:r>
                        <a:rPr lang="zh-CN" sz="1200" b="1" kern="100">
                          <a:latin typeface="宋体" panose="02000500000000000000" pitchFamily="2" charset="-122"/>
                          <a:ea typeface="宋体" panose="02000500000000000000" pitchFamily="2" charset="-122"/>
                          <a:cs typeface="宋体" panose="02000500000000000000" pitchFamily="2" charset="-122"/>
                        </a:rPr>
                        <a:t>位</a:t>
                      </a:r>
                      <a:endParaRPr lang="zh-CN" sz="1200" b="1" kern="10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3731">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solidFill>
                            <a:schemeClr val="accent2"/>
                          </a:solidFill>
                          <a:latin typeface="宋体" panose="02000500000000000000" pitchFamily="2" charset="-122"/>
                          <a:ea typeface="宋体" panose="02000500000000000000" pitchFamily="2" charset="-122"/>
                          <a:cs typeface="Times New Roman"/>
                        </a:rPr>
                        <a:t>TLB</a:t>
                      </a:r>
                      <a:endParaRPr lang="en-US"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CC"/>
                    </a:solidFill>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100</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项全</a:t>
                      </a:r>
                      <a:r>
                        <a:rPr lang="zh-CN" sz="1200" b="1" kern="100" dirty="0">
                          <a:latin typeface="宋体" panose="02000500000000000000" pitchFamily="2" charset="-122"/>
                          <a:ea typeface="宋体" panose="02000500000000000000" pitchFamily="2" charset="-122"/>
                          <a:cs typeface="宋体" panose="02000500000000000000" pitchFamily="2" charset="-122"/>
                        </a:rPr>
                        <a:t>相联</a:t>
                      </a:r>
                      <a:r>
                        <a:rPr lang="en-US" sz="1200" b="1" kern="100" dirty="0">
                          <a:latin typeface="宋体" panose="02000500000000000000" pitchFamily="2" charset="-122"/>
                          <a:ea typeface="宋体" panose="02000500000000000000" pitchFamily="2" charset="-122"/>
                          <a:cs typeface="宋体" panose="02000500000000000000" pitchFamily="2" charset="-122"/>
                        </a:rPr>
                        <a:t>, L1 DTLB,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512</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a:t>
                      </a:r>
                      <a:r>
                        <a:rPr lang="en-US" sz="1200" b="1" kern="100" dirty="0" smtClean="0">
                          <a:latin typeface="宋体" panose="02000500000000000000" pitchFamily="2" charset="-122"/>
                          <a:ea typeface="宋体" panose="02000500000000000000" pitchFamily="2" charset="-122"/>
                          <a:cs typeface="宋体" panose="02000500000000000000" pitchFamily="2" charset="-122"/>
                        </a:rPr>
                        <a:t>4</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L2 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CC"/>
                    </a:solidFill>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32</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项全</a:t>
                      </a:r>
                      <a:r>
                        <a:rPr lang="zh-CN" sz="1200" b="1" kern="100" dirty="0">
                          <a:latin typeface="宋体" panose="02000500000000000000" pitchFamily="2" charset="-122"/>
                          <a:ea typeface="宋体" panose="02000500000000000000" pitchFamily="2" charset="-122"/>
                          <a:cs typeface="宋体" panose="02000500000000000000" pitchFamily="2" charset="-122"/>
                        </a:rPr>
                        <a:t>相联</a:t>
                      </a:r>
                      <a:r>
                        <a:rPr lang="en-US" sz="1200" b="1" kern="100" dirty="0">
                          <a:latin typeface="宋体" panose="02000500000000000000" pitchFamily="2" charset="-122"/>
                          <a:ea typeface="宋体" panose="02000500000000000000" pitchFamily="2" charset="-122"/>
                          <a:cs typeface="宋体" panose="02000500000000000000" pitchFamily="2" charset="-122"/>
                        </a:rPr>
                        <a:t>, L1 DTLB,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1024</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a:t>
                      </a:r>
                      <a:r>
                        <a:rPr lang="en-US" sz="1200" b="1" kern="100" dirty="0" smtClean="0">
                          <a:latin typeface="宋体" panose="02000500000000000000" pitchFamily="2" charset="-122"/>
                          <a:ea typeface="宋体" panose="02000500000000000000" pitchFamily="2" charset="-122"/>
                          <a:cs typeface="宋体" panose="02000500000000000000" pitchFamily="2" charset="-122"/>
                        </a:rPr>
                        <a:t>8</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L2 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CC"/>
                    </a:solidFill>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64</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项全</a:t>
                      </a:r>
                      <a:r>
                        <a:rPr lang="zh-CN" sz="1200" b="1" kern="100" dirty="0">
                          <a:latin typeface="宋体" panose="02000500000000000000" pitchFamily="2" charset="-122"/>
                          <a:ea typeface="宋体" panose="02000500000000000000" pitchFamily="2" charset="-122"/>
                          <a:cs typeface="宋体" panose="02000500000000000000" pitchFamily="2" charset="-122"/>
                        </a:rPr>
                        <a:t>相联</a:t>
                      </a:r>
                      <a:r>
                        <a:rPr lang="en-US" sz="1200" b="1" kern="100" dirty="0">
                          <a:latin typeface="宋体" panose="02000500000000000000" pitchFamily="2" charset="-122"/>
                          <a:ea typeface="宋体" panose="02000500000000000000" pitchFamily="2" charset="-122"/>
                          <a:cs typeface="宋体" panose="02000500000000000000" pitchFamily="2" charset="-122"/>
                        </a:rPr>
                        <a:t>, L1 DTLB,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512</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a:t>
                      </a:r>
                      <a:r>
                        <a:rPr lang="en-US" sz="1200" b="1" kern="100" dirty="0" smtClean="0">
                          <a:latin typeface="宋体" panose="02000500000000000000" pitchFamily="2" charset="-122"/>
                          <a:ea typeface="宋体" panose="02000500000000000000" pitchFamily="2" charset="-122"/>
                          <a:cs typeface="宋体" panose="02000500000000000000" pitchFamily="2" charset="-122"/>
                        </a:rPr>
                        <a:t>4</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L2 TLB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CC"/>
                    </a:solidFill>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32-</a:t>
                      </a:r>
                      <a:r>
                        <a:rPr lang="zh-CN" sz="1200" b="1" kern="100" dirty="0" smtClean="0">
                          <a:latin typeface="宋体" panose="02000500000000000000" pitchFamily="2" charset="-122"/>
                          <a:ea typeface="宋体" panose="02000500000000000000" pitchFamily="2" charset="-122"/>
                          <a:cs typeface="宋体" panose="02000500000000000000" pitchFamily="2" charset="-122"/>
                        </a:rPr>
                        <a:t>项全</a:t>
                      </a:r>
                      <a:r>
                        <a:rPr lang="zh-CN" sz="1200" b="1" kern="100" dirty="0">
                          <a:latin typeface="宋体" panose="02000500000000000000" pitchFamily="2" charset="-122"/>
                          <a:ea typeface="宋体" panose="02000500000000000000" pitchFamily="2" charset="-122"/>
                          <a:cs typeface="宋体" panose="02000500000000000000" pitchFamily="2" charset="-122"/>
                        </a:rPr>
                        <a:t>相</a:t>
                      </a:r>
                      <a:r>
                        <a:rPr lang="zh-CN" sz="1200" b="1" kern="100" dirty="0" smtClean="0">
                          <a:latin typeface="宋体" panose="02000500000000000000" pitchFamily="2" charset="-122"/>
                          <a:ea typeface="宋体" panose="02000500000000000000" pitchFamily="2" charset="-122"/>
                          <a:cs typeface="宋体" panose="02000500000000000000" pitchFamily="2" charset="-122"/>
                        </a:rPr>
                        <a:t>联</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L1D</a:t>
                      </a:r>
                      <a:r>
                        <a:rPr lang="en-US" sz="1200" b="1" kern="100" dirty="0" smtClean="0">
                          <a:latin typeface="宋体" panose="02000500000000000000" pitchFamily="2" charset="-122"/>
                          <a:ea typeface="宋体" panose="02000500000000000000" pitchFamily="2" charset="-122"/>
                          <a:cs typeface="宋体" panose="02000500000000000000" pitchFamily="2" charset="-122"/>
                        </a:rPr>
                        <a:t>TLB</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，每项两页</a:t>
                      </a:r>
                      <a:endParaRPr lang="en-US" altLang="zh-CN" sz="1200" b="1" kern="100" dirty="0" smtClean="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1024</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项</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8</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路</a:t>
                      </a:r>
                      <a:r>
                        <a:rPr lang="en-US" altLang="zh-CN" sz="1200" b="1" kern="100" dirty="0" smtClean="0">
                          <a:latin typeface="宋体" panose="02000500000000000000" pitchFamily="2" charset="-122"/>
                          <a:ea typeface="宋体" panose="02000500000000000000" pitchFamily="2" charset="-122"/>
                          <a:cs typeface="宋体" panose="02000500000000000000" pitchFamily="2" charset="-122"/>
                        </a:rPr>
                        <a:t>L2 TLB</a:t>
                      </a: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，每项两页</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66FFCC"/>
                    </a:solidFill>
                  </a:tcPr>
                </a:tc>
              </a:tr>
              <a:tr h="317484">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L1D</a:t>
                      </a: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32KB, 8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64B/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16KB, 4</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64B/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32KB, 8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128B/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每核</a:t>
                      </a:r>
                      <a:r>
                        <a:rPr lang="en-US" sz="1200" b="1" kern="100" dirty="0" smtClean="0">
                          <a:latin typeface="宋体" panose="02000500000000000000" pitchFamily="2" charset="-122"/>
                          <a:ea typeface="宋体" panose="02000500000000000000" pitchFamily="2" charset="-122"/>
                          <a:cs typeface="宋体" panose="02000500000000000000" pitchFamily="2" charset="-122"/>
                        </a:rPr>
                        <a:t>64KB</a:t>
                      </a:r>
                      <a:r>
                        <a:rPr lang="en-US" sz="1200" b="1" kern="100" dirty="0">
                          <a:latin typeface="宋体" panose="02000500000000000000" pitchFamily="2" charset="-122"/>
                          <a:ea typeface="宋体" panose="02000500000000000000" pitchFamily="2" charset="-122"/>
                          <a:cs typeface="宋体" panose="02000500000000000000" pitchFamily="2" charset="-122"/>
                        </a:rPr>
                        <a:t>, 4 </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64B/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17484">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L2</a:t>
                      </a: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zh-CN" sz="1200" b="1" kern="100" dirty="0" smtClean="0">
                          <a:latin typeface="宋体" panose="02000500000000000000" pitchFamily="2" charset="-122"/>
                          <a:ea typeface="宋体" panose="02000500000000000000" pitchFamily="2" charset="-122"/>
                          <a:cs typeface="宋体" panose="02000500000000000000" pitchFamily="2" charset="-122"/>
                        </a:rPr>
                        <a:t>每核</a:t>
                      </a:r>
                      <a:r>
                        <a:rPr lang="en-US" sz="1200" b="1" kern="100" dirty="0">
                          <a:latin typeface="宋体" panose="02000500000000000000" pitchFamily="2" charset="-122"/>
                          <a:ea typeface="宋体" panose="02000500000000000000" pitchFamily="2" charset="-122"/>
                          <a:cs typeface="宋体" panose="02000500000000000000" pitchFamily="2" charset="-122"/>
                        </a:rPr>
                        <a:t>256KB, 8</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64B/</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zh-CN" altLang="en-US" sz="1200" b="1" kern="100" dirty="0" smtClean="0">
                          <a:latin typeface="宋体" panose="02000500000000000000" pitchFamily="2" charset="-122"/>
                          <a:ea typeface="宋体" panose="02000500000000000000" pitchFamily="2" charset="-122"/>
                          <a:cs typeface="宋体" panose="02000500000000000000" pitchFamily="2" charset="-122"/>
                        </a:rPr>
                        <a:t>双</a:t>
                      </a:r>
                      <a:r>
                        <a:rPr lang="zh-CN" sz="1200" b="1" kern="100" dirty="0" smtClean="0">
                          <a:latin typeface="宋体" panose="02000500000000000000" pitchFamily="2" charset="-122"/>
                          <a:ea typeface="宋体" panose="02000500000000000000" pitchFamily="2" charset="-122"/>
                          <a:cs typeface="宋体" panose="02000500000000000000" pitchFamily="2" charset="-122"/>
                        </a:rPr>
                        <a:t>核</a:t>
                      </a:r>
                      <a:r>
                        <a:rPr lang="zh-CN" sz="1200" b="1" kern="100" dirty="0">
                          <a:latin typeface="宋体" panose="02000500000000000000" pitchFamily="2" charset="-122"/>
                          <a:ea typeface="宋体" panose="02000500000000000000" pitchFamily="2" charset="-122"/>
                          <a:cs typeface="宋体" panose="02000500000000000000" pitchFamily="2" charset="-122"/>
                        </a:rPr>
                        <a:t>共享</a:t>
                      </a:r>
                      <a:r>
                        <a:rPr lang="en-US" sz="1200" b="1" kern="100" dirty="0">
                          <a:latin typeface="宋体" panose="02000500000000000000" pitchFamily="2" charset="-122"/>
                          <a:ea typeface="宋体" panose="02000500000000000000" pitchFamily="2" charset="-122"/>
                          <a:cs typeface="宋体" panose="02000500000000000000" pitchFamily="2" charset="-122"/>
                        </a:rPr>
                        <a:t>2MB, 16 </a:t>
                      </a:r>
                      <a:r>
                        <a:rPr lang="zh-CN" sz="1200" b="1" kern="100" dirty="0" smtClean="0">
                          <a:latin typeface="宋体" panose="02000500000000000000" pitchFamily="2" charset="-122"/>
                          <a:ea typeface="宋体" panose="02000500000000000000" pitchFamily="2" charset="-122"/>
                          <a:cs typeface="宋体" panose="02000500000000000000" pitchFamily="2" charset="-122"/>
                        </a:rPr>
                        <a:t>路</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zh-CN" sz="1200" b="1" kern="100" dirty="0" smtClean="0">
                          <a:latin typeface="宋体" panose="02000500000000000000" pitchFamily="2" charset="-122"/>
                          <a:ea typeface="宋体" panose="02000500000000000000" pitchFamily="2" charset="-122"/>
                          <a:cs typeface="宋体" panose="02000500000000000000" pitchFamily="2" charset="-122"/>
                        </a:rPr>
                        <a:t>每核</a:t>
                      </a:r>
                      <a:r>
                        <a:rPr lang="en-US" sz="1200" b="1" kern="100" dirty="0">
                          <a:latin typeface="宋体" panose="02000500000000000000" pitchFamily="2" charset="-122"/>
                          <a:ea typeface="宋体" panose="02000500000000000000" pitchFamily="2" charset="-122"/>
                          <a:cs typeface="宋体" panose="02000500000000000000" pitchFamily="2" charset="-122"/>
                        </a:rPr>
                        <a:t>256KB, 8</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a:latin typeface="宋体" panose="02000500000000000000" pitchFamily="2" charset="-122"/>
                          <a:ea typeface="宋体" panose="02000500000000000000" pitchFamily="2" charset="-122"/>
                          <a:cs typeface="宋体" panose="02000500000000000000" pitchFamily="2" charset="-122"/>
                        </a:rPr>
                        <a:t>, </a:t>
                      </a:r>
                      <a:r>
                        <a:rPr lang="en-US" sz="1200" b="1" kern="100" dirty="0" smtClean="0">
                          <a:latin typeface="宋体" panose="02000500000000000000" pitchFamily="2" charset="-122"/>
                          <a:ea typeface="宋体" panose="02000500000000000000" pitchFamily="2" charset="-122"/>
                          <a:cs typeface="宋体" panose="02000500000000000000" pitchFamily="2" charset="-122"/>
                        </a:rPr>
                        <a:t>28B</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zh-CN" sz="1200" b="1" kern="100" dirty="0" smtClean="0">
                          <a:latin typeface="宋体" panose="02000500000000000000" pitchFamily="2" charset="-122"/>
                          <a:ea typeface="宋体" panose="02000500000000000000" pitchFamily="2" charset="-122"/>
                          <a:cs typeface="宋体" panose="02000500000000000000" pitchFamily="2" charset="-122"/>
                        </a:rPr>
                        <a:t>每核</a:t>
                      </a:r>
                      <a:r>
                        <a:rPr lang="en-US" sz="1200" b="1" kern="100" dirty="0">
                          <a:latin typeface="宋体" panose="02000500000000000000" pitchFamily="2" charset="-122"/>
                          <a:ea typeface="宋体" panose="02000500000000000000" pitchFamily="2" charset="-122"/>
                          <a:cs typeface="宋体" panose="02000500000000000000" pitchFamily="2" charset="-122"/>
                        </a:rPr>
                        <a:t>256KB, 16</a:t>
                      </a:r>
                      <a:r>
                        <a:rPr lang="zh-CN" sz="1200" b="1" kern="100" dirty="0">
                          <a:latin typeface="宋体" panose="02000500000000000000" pitchFamily="2" charset="-122"/>
                          <a:ea typeface="宋体" panose="02000500000000000000" pitchFamily="2" charset="-122"/>
                          <a:cs typeface="宋体" panose="02000500000000000000" pitchFamily="2" charset="-122"/>
                        </a:rPr>
                        <a:t>路</a:t>
                      </a:r>
                      <a:r>
                        <a:rPr lang="en-US" sz="1200" b="1" kern="100" dirty="0" smtClean="0">
                          <a:latin typeface="宋体" panose="02000500000000000000" pitchFamily="2" charset="-122"/>
                          <a:ea typeface="宋体" panose="02000500000000000000" pitchFamily="2" charset="-122"/>
                          <a:cs typeface="宋体" panose="02000500000000000000" pitchFamily="2" charset="-122"/>
                        </a:rPr>
                        <a:t>,64B</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行</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20928">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LLC</a:t>
                      </a:r>
                      <a:endParaRPr lang="en-US" altLang="zh-CN"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a:t>
                      </a:r>
                      <a:r>
                        <a:rPr lang="zh-CN" sz="1200" b="1" kern="100" dirty="0">
                          <a:latin typeface="宋体" panose="02000500000000000000" pitchFamily="2" charset="-122"/>
                          <a:ea typeface="宋体" panose="02000500000000000000" pitchFamily="2" charset="-122"/>
                          <a:cs typeface="宋体" panose="02000500000000000000" pitchFamily="2" charset="-122"/>
                        </a:rPr>
                        <a:t>个核</a:t>
                      </a:r>
                      <a:r>
                        <a:rPr lang="en-US" sz="1200" b="1" kern="100" dirty="0">
                          <a:latin typeface="宋体" panose="02000500000000000000" pitchFamily="2" charset="-122"/>
                          <a:ea typeface="宋体" panose="02000500000000000000" pitchFamily="2" charset="-122"/>
                          <a:cs typeface="宋体" panose="02000500000000000000" pitchFamily="2" charset="-122"/>
                        </a:rPr>
                        <a:t>20 MB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4</a:t>
                      </a:r>
                      <a:r>
                        <a:rPr lang="zh-CN" sz="1200" b="1" kern="100" dirty="0">
                          <a:latin typeface="宋体" panose="02000500000000000000" pitchFamily="2" charset="-122"/>
                          <a:ea typeface="宋体" panose="02000500000000000000" pitchFamily="2" charset="-122"/>
                          <a:cs typeface="宋体" panose="02000500000000000000" pitchFamily="2" charset="-122"/>
                        </a:rPr>
                        <a:t>个核</a:t>
                      </a:r>
                      <a:r>
                        <a:rPr lang="en-US" sz="1200" b="1" kern="100" dirty="0">
                          <a:latin typeface="宋体" panose="02000500000000000000" pitchFamily="2" charset="-122"/>
                          <a:ea typeface="宋体" panose="02000500000000000000" pitchFamily="2" charset="-122"/>
                          <a:cs typeface="宋体" panose="02000500000000000000" pitchFamily="2" charset="-122"/>
                        </a:rPr>
                        <a:t>8 MB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8</a:t>
                      </a:r>
                      <a:r>
                        <a:rPr lang="zh-CN" sz="1200" b="1" kern="100" dirty="0">
                          <a:latin typeface="宋体" panose="02000500000000000000" pitchFamily="2" charset="-122"/>
                          <a:ea typeface="宋体" panose="02000500000000000000" pitchFamily="2" charset="-122"/>
                          <a:cs typeface="宋体" panose="02000500000000000000" pitchFamily="2" charset="-122"/>
                        </a:rPr>
                        <a:t>个核</a:t>
                      </a:r>
                      <a:r>
                        <a:rPr lang="en-US" sz="1200" b="1" kern="100" dirty="0">
                          <a:latin typeface="宋体" panose="02000500000000000000" pitchFamily="2" charset="-122"/>
                          <a:ea typeface="宋体" panose="02000500000000000000" pitchFamily="2" charset="-122"/>
                          <a:cs typeface="宋体" panose="02000500000000000000" pitchFamily="2" charset="-122"/>
                        </a:rPr>
                        <a:t>32 MB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4</a:t>
                      </a:r>
                      <a:r>
                        <a:rPr lang="zh-CN" sz="1200" b="1" kern="100" dirty="0">
                          <a:latin typeface="宋体" panose="02000500000000000000" pitchFamily="2" charset="-122"/>
                          <a:ea typeface="宋体" panose="02000500000000000000" pitchFamily="2" charset="-122"/>
                          <a:cs typeface="宋体" panose="02000500000000000000" pitchFamily="2" charset="-122"/>
                        </a:rPr>
                        <a:t>个核</a:t>
                      </a:r>
                      <a:r>
                        <a:rPr lang="en-US" sz="1200" b="1" kern="100" dirty="0">
                          <a:latin typeface="宋体" panose="02000500000000000000" pitchFamily="2" charset="-122"/>
                          <a:ea typeface="宋体" panose="02000500000000000000" pitchFamily="2" charset="-122"/>
                          <a:cs typeface="宋体" panose="02000500000000000000" pitchFamily="2" charset="-122"/>
                        </a:rPr>
                        <a:t>4 MB</a:t>
                      </a:r>
                      <a:r>
                        <a:rPr lang="zh-CN" sz="1200" b="1" kern="100" dirty="0">
                          <a:latin typeface="宋体" panose="02000500000000000000" pitchFamily="2" charset="-122"/>
                          <a:ea typeface="宋体" panose="02000500000000000000" pitchFamily="2" charset="-122"/>
                          <a:cs typeface="宋体" panose="02000500000000000000" pitchFamily="2" charset="-122"/>
                        </a:rPr>
                        <a:t>～</a:t>
                      </a:r>
                      <a:r>
                        <a:rPr lang="en-US" sz="1200" b="1" kern="100" dirty="0">
                          <a:latin typeface="宋体" panose="02000500000000000000" pitchFamily="2" charset="-122"/>
                          <a:ea typeface="宋体" panose="02000500000000000000" pitchFamily="2" charset="-122"/>
                          <a:cs typeface="宋体" panose="02000500000000000000" pitchFamily="2" charset="-122"/>
                        </a:rPr>
                        <a:t>8MB</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17484">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L1</a:t>
                      </a:r>
                      <a:r>
                        <a:rPr lang="zh-CN" altLang="en-US"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失效队列</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a:latin typeface="宋体" panose="02000500000000000000" pitchFamily="2" charset="-122"/>
                          <a:ea typeface="宋体" panose="02000500000000000000" pitchFamily="2" charset="-122"/>
                          <a:cs typeface="Times New Roman"/>
                        </a:rPr>
                        <a:t>10</a:t>
                      </a:r>
                      <a:endParaRPr lang="en-US" sz="1200" b="1" kern="10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Times New Roman"/>
                        </a:rPr>
                        <a:t>?</a:t>
                      </a:r>
                      <a:endParaRPr lang="en-US" sz="1200" b="1" kern="100" dirty="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Times New Roman"/>
                        </a:rPr>
                        <a:t>8</a:t>
                      </a:r>
                      <a:endParaRPr lang="en-US" sz="1200" b="1" kern="100" dirty="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Times New Roman"/>
                        </a:rPr>
                        <a:t>Unified 16</a:t>
                      </a:r>
                      <a:endParaRPr lang="en-US" sz="1200" b="1" kern="100" dirty="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484">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L2</a:t>
                      </a:r>
                      <a:r>
                        <a:rPr lang="zh-CN" altLang="en-US" sz="1200" b="1" kern="100" dirty="0" smtClean="0">
                          <a:solidFill>
                            <a:schemeClr val="accent2"/>
                          </a:solidFill>
                          <a:latin typeface="宋体" panose="02000500000000000000" pitchFamily="2" charset="-122"/>
                          <a:ea typeface="宋体" panose="02000500000000000000" pitchFamily="2" charset="-122"/>
                          <a:cs typeface="宋体" panose="02000500000000000000" pitchFamily="2" charset="-122"/>
                        </a:rPr>
                        <a:t>失效队列</a:t>
                      </a:r>
                      <a:endParaRPr lang="zh-CN" sz="1200" b="1" kern="100" dirty="0">
                        <a:solidFill>
                          <a:schemeClr val="accent2"/>
                        </a:solidFill>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Times New Roman"/>
                        </a:rPr>
                        <a:t>16</a:t>
                      </a:r>
                      <a:endParaRPr lang="en-US" sz="1200" b="1" kern="100" dirty="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Times New Roman"/>
                        </a:rPr>
                        <a:t>23</a:t>
                      </a:r>
                      <a:endParaRPr lang="en-US" sz="1200" b="1" kern="100" dirty="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Times New Roman"/>
                        </a:rPr>
                        <a:t>24</a:t>
                      </a:r>
                      <a:endParaRPr lang="en-US" sz="1200" b="1" kern="100" dirty="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a:tc>
              </a:tr>
              <a:tr h="593731">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L1</a:t>
                      </a:r>
                      <a:r>
                        <a:rPr lang="en-US" sz="1200" b="1" kern="100" dirty="0" smtClean="0">
                          <a:solidFill>
                            <a:schemeClr val="accent2"/>
                          </a:solidFill>
                          <a:latin typeface="宋体" panose="02000500000000000000" pitchFamily="2" charset="-122"/>
                          <a:ea typeface="宋体" panose="02000500000000000000" pitchFamily="2" charset="-122"/>
                          <a:cs typeface="Times New Roman"/>
                        </a:rPr>
                        <a:t> </a:t>
                      </a:r>
                      <a:r>
                        <a:rPr lang="en-US" sz="1200" b="1" kern="100" dirty="0">
                          <a:solidFill>
                            <a:schemeClr val="accent2"/>
                          </a:solidFill>
                          <a:latin typeface="宋体" panose="02000500000000000000" pitchFamily="2" charset="-122"/>
                          <a:ea typeface="宋体" panose="02000500000000000000" pitchFamily="2" charset="-122"/>
                          <a:cs typeface="Times New Roman"/>
                        </a:rPr>
                        <a:t>Load-to-use </a:t>
                      </a:r>
                      <a:endParaRPr lang="zh-CN"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4</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向量</a:t>
                      </a:r>
                      <a:r>
                        <a:rPr lang="en-US" sz="1200" b="1" kern="100" dirty="0">
                          <a:latin typeface="宋体" panose="02000500000000000000" pitchFamily="2" charset="-122"/>
                          <a:ea typeface="宋体" panose="02000500000000000000" pitchFamily="2" charset="-122"/>
                          <a:cs typeface="宋体" panose="02000500000000000000" pitchFamily="2" charset="-122"/>
                        </a:rPr>
                        <a:t>5</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a:latin typeface="宋体" panose="02000500000000000000" pitchFamily="2" charset="-122"/>
                          <a:ea typeface="宋体" panose="02000500000000000000" pitchFamily="2" charset="-122"/>
                          <a:cs typeface="宋体" panose="02000500000000000000" pitchFamily="2" charset="-122"/>
                        </a:rPr>
                        <a:t>4</a:t>
                      </a:r>
                      <a:r>
                        <a:rPr lang="zh-CN" sz="1200" b="1" kern="100">
                          <a:latin typeface="宋体" panose="02000500000000000000" pitchFamily="2" charset="-122"/>
                          <a:ea typeface="宋体" panose="02000500000000000000" pitchFamily="2" charset="-122"/>
                          <a:cs typeface="宋体" panose="02000500000000000000" pitchFamily="2" charset="-122"/>
                        </a:rPr>
                        <a:t>时钟周期</a:t>
                      </a:r>
                      <a:endParaRPr lang="zh-CN" sz="1200" b="1" kern="10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2</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向量</a:t>
                      </a:r>
                      <a:r>
                        <a:rPr lang="en-US" sz="1200" b="1" kern="100" dirty="0">
                          <a:latin typeface="宋体" panose="02000500000000000000" pitchFamily="2" charset="-122"/>
                          <a:ea typeface="宋体" panose="02000500000000000000" pitchFamily="2" charset="-122"/>
                          <a:cs typeface="宋体" panose="02000500000000000000" pitchFamily="2" charset="-122"/>
                        </a:rPr>
                        <a:t>3 </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定点</a:t>
                      </a:r>
                      <a:r>
                        <a:rPr lang="en-US" sz="1200" b="1" kern="100" dirty="0">
                          <a:latin typeface="宋体" panose="02000500000000000000" pitchFamily="2" charset="-122"/>
                          <a:ea typeface="宋体" panose="02000500000000000000" pitchFamily="2" charset="-122"/>
                          <a:cs typeface="宋体" panose="02000500000000000000" pitchFamily="2" charset="-122"/>
                        </a:rPr>
                        <a:t>3</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r>
                        <a:rPr lang="en-US" sz="1200" b="1" kern="100" dirty="0">
                          <a:latin typeface="宋体" panose="02000500000000000000" pitchFamily="2" charset="-122"/>
                          <a:ea typeface="宋体" panose="02000500000000000000" pitchFamily="2" charset="-122"/>
                          <a:cs typeface="宋体" panose="02000500000000000000" pitchFamily="2" charset="-122"/>
                        </a:rPr>
                        <a:t>,</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p>
                      <a:pPr algn="l">
                        <a:spcBef>
                          <a:spcPts val="100"/>
                        </a:spcBef>
                        <a:spcAft>
                          <a:spcPts val="0"/>
                        </a:spcAft>
                      </a:pPr>
                      <a:r>
                        <a:rPr lang="zh-CN" sz="1200" b="1" kern="100" dirty="0">
                          <a:latin typeface="宋体" panose="02000500000000000000" pitchFamily="2" charset="-122"/>
                          <a:ea typeface="宋体" panose="02000500000000000000" pitchFamily="2" charset="-122"/>
                          <a:cs typeface="宋体" panose="02000500000000000000" pitchFamily="2" charset="-122"/>
                        </a:rPr>
                        <a:t>浮点</a:t>
                      </a:r>
                      <a:r>
                        <a:rPr lang="en-US" sz="1200" b="1" kern="100" dirty="0">
                          <a:latin typeface="宋体" panose="02000500000000000000" pitchFamily="2" charset="-122"/>
                          <a:ea typeface="宋体" panose="02000500000000000000" pitchFamily="2" charset="-122"/>
                          <a:cs typeface="宋体" panose="02000500000000000000" pitchFamily="2" charset="-122"/>
                        </a:rPr>
                        <a:t>/</a:t>
                      </a:r>
                      <a:r>
                        <a:rPr lang="zh-CN" sz="1200" b="1" kern="100" dirty="0">
                          <a:latin typeface="宋体" panose="02000500000000000000" pitchFamily="2" charset="-122"/>
                          <a:ea typeface="宋体" panose="02000500000000000000" pitchFamily="2" charset="-122"/>
                          <a:cs typeface="宋体" panose="02000500000000000000" pitchFamily="2" charset="-122"/>
                        </a:rPr>
                        <a:t>向量</a:t>
                      </a:r>
                      <a:r>
                        <a:rPr lang="en-US" sz="1200" b="1" kern="100" dirty="0">
                          <a:latin typeface="宋体" panose="02000500000000000000" pitchFamily="2" charset="-122"/>
                          <a:ea typeface="宋体" panose="02000500000000000000" pitchFamily="2" charset="-122"/>
                          <a:cs typeface="宋体" panose="02000500000000000000" pitchFamily="2" charset="-122"/>
                        </a:rPr>
                        <a:t>5 </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484">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altLang="zh-CN" sz="1200" b="1" kern="100" dirty="0" smtClean="0">
                          <a:solidFill>
                            <a:schemeClr val="accent2"/>
                          </a:solidFill>
                          <a:latin typeface="宋体" panose="02000500000000000000" pitchFamily="2" charset="-122"/>
                          <a:ea typeface="宋体" panose="02000500000000000000" pitchFamily="2" charset="-122"/>
                          <a:cs typeface="Times New Roman"/>
                        </a:rPr>
                        <a:t>L2</a:t>
                      </a:r>
                      <a:r>
                        <a:rPr lang="en-US" sz="1200" b="1" kern="100" dirty="0" smtClean="0">
                          <a:solidFill>
                            <a:schemeClr val="accent2"/>
                          </a:solidFill>
                          <a:latin typeface="宋体" panose="02000500000000000000" pitchFamily="2" charset="-122"/>
                          <a:ea typeface="宋体" panose="02000500000000000000" pitchFamily="2" charset="-122"/>
                          <a:cs typeface="Times New Roman"/>
                        </a:rPr>
                        <a:t> </a:t>
                      </a:r>
                      <a:r>
                        <a:rPr lang="en-US" sz="1200" b="1" kern="100" dirty="0">
                          <a:solidFill>
                            <a:schemeClr val="accent2"/>
                          </a:solidFill>
                          <a:latin typeface="宋体" panose="02000500000000000000" pitchFamily="2" charset="-122"/>
                          <a:ea typeface="宋体" panose="02000500000000000000" pitchFamily="2" charset="-122"/>
                          <a:cs typeface="Times New Roman"/>
                        </a:rPr>
                        <a:t>Load-to-use </a:t>
                      </a:r>
                      <a:endParaRPr lang="zh-CN" sz="1200" b="1" kern="100" dirty="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宋体" panose="02000500000000000000" pitchFamily="2" charset="-122"/>
                        </a:rPr>
                        <a:t>12 </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a:latin typeface="宋体" panose="02000500000000000000" pitchFamily="2" charset="-122"/>
                          <a:ea typeface="宋体" panose="02000500000000000000" pitchFamily="2" charset="-122"/>
                          <a:cs typeface="宋体" panose="02000500000000000000" pitchFamily="2" charset="-122"/>
                        </a:rPr>
                        <a:t>18-20 </a:t>
                      </a:r>
                      <a:r>
                        <a:rPr lang="zh-CN" sz="1200" b="1" kern="100">
                          <a:latin typeface="宋体" panose="02000500000000000000" pitchFamily="2" charset="-122"/>
                          <a:ea typeface="宋体" panose="02000500000000000000" pitchFamily="2" charset="-122"/>
                          <a:cs typeface="宋体" panose="02000500000000000000" pitchFamily="2" charset="-122"/>
                        </a:rPr>
                        <a:t>时钟周期</a:t>
                      </a:r>
                      <a:endParaRPr lang="zh-CN" sz="1200" b="1" kern="10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a:latin typeface="宋体" panose="02000500000000000000" pitchFamily="2" charset="-122"/>
                          <a:ea typeface="宋体" panose="02000500000000000000" pitchFamily="2" charset="-122"/>
                          <a:cs typeface="Times New Roman"/>
                        </a:rPr>
                        <a:t>8</a:t>
                      </a:r>
                      <a:endParaRPr lang="en-US" sz="1200" b="1" kern="100" dirty="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en-US" sz="1200" b="1" kern="100" dirty="0" smtClean="0">
                          <a:latin typeface="宋体" panose="02000500000000000000" pitchFamily="2" charset="-122"/>
                          <a:ea typeface="宋体" panose="02000500000000000000" pitchFamily="2" charset="-122"/>
                          <a:cs typeface="宋体" panose="02000500000000000000" pitchFamily="2" charset="-122"/>
                        </a:rPr>
                        <a:t>22 </a:t>
                      </a:r>
                      <a:r>
                        <a:rPr lang="zh-CN" sz="1200" b="1" kern="100" dirty="0">
                          <a:latin typeface="宋体" panose="02000500000000000000" pitchFamily="2" charset="-122"/>
                          <a:ea typeface="宋体" panose="02000500000000000000" pitchFamily="2" charset="-122"/>
                          <a:cs typeface="宋体" panose="02000500000000000000" pitchFamily="2" charset="-122"/>
                        </a:rPr>
                        <a:t>时钟周期</a:t>
                      </a:r>
                      <a:endParaRPr lang="zh-CN" sz="1200" b="1" kern="100" dirty="0">
                        <a:latin typeface="宋体" panose="02000500000000000000" pitchFamily="2" charset="-122"/>
                        <a:ea typeface="宋体" panose="02000500000000000000" pitchFamily="2" charset="-122"/>
                        <a:cs typeface="宋体" panose="02000500000000000000" pitchFamily="2" charset="-122"/>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7484">
                <a:tc vMerge="1">
                  <a:tcPr marL="38075" marR="3807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zh-CN" altLang="en-US" sz="1200" b="1" kern="100" dirty="0" smtClean="0">
                          <a:solidFill>
                            <a:schemeClr val="accent2"/>
                          </a:solidFill>
                          <a:latin typeface="宋体" panose="02000500000000000000" pitchFamily="2" charset="-122"/>
                          <a:ea typeface="宋体" panose="02000500000000000000" pitchFamily="2" charset="-122"/>
                          <a:cs typeface="Times New Roman"/>
                        </a:rPr>
                        <a:t>多层次硬件预取</a:t>
                      </a:r>
                      <a:endParaRPr lang="zh-CN" altLang="en-US" sz="1200" b="1" kern="100" dirty="0" smtClean="0">
                        <a:solidFill>
                          <a:schemeClr val="accent2"/>
                        </a:solidFill>
                        <a:latin typeface="宋体" panose="02000500000000000000" pitchFamily="2" charset="-122"/>
                        <a:ea typeface="宋体" panose="02000500000000000000" pitchFamily="2" charset="-122"/>
                        <a:cs typeface="Times New Roman"/>
                      </a:endParaRPr>
                    </a:p>
                  </a:txBody>
                  <a:tcPr marL="80199" marR="80199" marT="36000" marB="360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lumMod val="95000"/>
                      </a:schemeClr>
                    </a:solidFill>
                  </a:tcPr>
                </a:tc>
                <a:tc>
                  <a:txBody>
                    <a:bodyPr/>
                    <a:lstStyle/>
                    <a:p>
                      <a:pPr algn="l">
                        <a:spcBef>
                          <a:spcPts val="100"/>
                        </a:spcBef>
                        <a:spcAft>
                          <a:spcPts val="0"/>
                        </a:spcAft>
                      </a:pPr>
                      <a:r>
                        <a:rPr lang="zh-CN" altLang="en-US" sz="1200" b="1" kern="100" dirty="0" smtClean="0">
                          <a:latin typeface="宋体" panose="02000500000000000000" pitchFamily="2" charset="-122"/>
                          <a:ea typeface="宋体" panose="02000500000000000000" pitchFamily="2" charset="-122"/>
                          <a:cs typeface="Times New Roman"/>
                        </a:rPr>
                        <a:t>有</a:t>
                      </a:r>
                      <a:endParaRPr lang="zh-CN" altLang="en-US" sz="1200" b="1" kern="100" dirty="0" smtClean="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zh-CN" altLang="en-US" sz="1200" b="1" kern="100" dirty="0" smtClean="0">
                          <a:latin typeface="宋体" panose="02000500000000000000" pitchFamily="2" charset="-122"/>
                          <a:ea typeface="宋体" panose="02000500000000000000" pitchFamily="2" charset="-122"/>
                          <a:cs typeface="Times New Roman"/>
                        </a:rPr>
                        <a:t>有</a:t>
                      </a:r>
                      <a:endParaRPr lang="zh-CN" altLang="en-US" sz="1200" b="1" kern="100" dirty="0" smtClean="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zh-CN" altLang="en-US" sz="1200" b="1" kern="100" dirty="0" smtClean="0">
                          <a:latin typeface="宋体" panose="02000500000000000000" pitchFamily="2" charset="-122"/>
                          <a:ea typeface="宋体" panose="02000500000000000000" pitchFamily="2" charset="-122"/>
                          <a:cs typeface="Times New Roman"/>
                        </a:rPr>
                        <a:t>有</a:t>
                      </a:r>
                      <a:endParaRPr lang="zh-CN" altLang="en-US" sz="1200" b="1" kern="100" dirty="0" smtClean="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Bef>
                          <a:spcPts val="100"/>
                        </a:spcBef>
                        <a:spcAft>
                          <a:spcPts val="0"/>
                        </a:spcAft>
                      </a:pPr>
                      <a:r>
                        <a:rPr lang="zh-CN" altLang="en-US" sz="1200" b="1" kern="100" dirty="0" smtClean="0">
                          <a:latin typeface="宋体" panose="02000500000000000000" pitchFamily="2" charset="-122"/>
                          <a:ea typeface="宋体" panose="02000500000000000000" pitchFamily="2" charset="-122"/>
                          <a:cs typeface="Times New Roman"/>
                        </a:rPr>
                        <a:t>有</a:t>
                      </a:r>
                      <a:endParaRPr lang="zh-CN" altLang="en-US" sz="1200" b="1" kern="100" dirty="0" smtClean="0">
                        <a:latin typeface="宋体" panose="02000500000000000000" pitchFamily="2" charset="-122"/>
                        <a:ea typeface="宋体" panose="02000500000000000000" pitchFamily="2" charset="-122"/>
                        <a:cs typeface="Times New Roman"/>
                      </a:endParaRPr>
                    </a:p>
                  </a:txBody>
                  <a:tcPr marL="80199" marR="80199" marT="36000" marB="360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xfrm>
            <a:off x="952500" y="0"/>
            <a:ext cx="10361613" cy="1143000"/>
          </a:xfrm>
        </p:spPr>
        <p:txBody>
          <a:bodyPr vert="horz" wrap="square" lIns="91440" tIns="45720" rIns="91440" bIns="45720" anchor="ctr" anchorCtr="0"/>
          <a:p>
            <a:pPr eaLnBrk="1" hangingPunct="1"/>
            <a:r>
              <a:rPr lang="zh-CN" altLang="en-US" dirty="0"/>
              <a:t>存储管理小结</a:t>
            </a:r>
            <a:endParaRPr lang="zh-CN" altLang="en-US" dirty="0"/>
          </a:p>
        </p:txBody>
      </p:sp>
      <p:sp>
        <p:nvSpPr>
          <p:cNvPr id="13315" name="Rectangle 3"/>
          <p:cNvSpPr>
            <a:spLocks noGrp="1"/>
          </p:cNvSpPr>
          <p:nvPr>
            <p:ph idx="1"/>
          </p:nvPr>
        </p:nvSpPr>
        <p:spPr>
          <a:xfrm>
            <a:off x="481013" y="1104900"/>
            <a:ext cx="11133137" cy="5438775"/>
          </a:xfrm>
        </p:spPr>
        <p:txBody>
          <a:bodyPr vert="horz" wrap="square" lIns="91440" tIns="45720" rIns="91440" bIns="45720" anchor="t" anchorCtr="0"/>
          <a:p>
            <a:pPr eaLnBrk="1" hangingPunct="1">
              <a:lnSpc>
                <a:spcPct val="150000"/>
              </a:lnSpc>
              <a:spcBef>
                <a:spcPct val="0"/>
              </a:spcBef>
            </a:pPr>
            <a:r>
              <a:rPr lang="zh-CN" altLang="en-US" sz="2000" dirty="0">
                <a:latin typeface="宋体" panose="02000500000000000000" pitchFamily="2" charset="-122"/>
                <a:ea typeface="宋体" panose="02000500000000000000" pitchFamily="2" charset="-122"/>
                <a:cs typeface="宋体" panose="02000500000000000000" pitchFamily="2" charset="-122"/>
              </a:rPr>
              <a:t>虚拟存储的基本原理</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en-US" altLang="zh-CN" sz="1600" dirty="0">
                <a:latin typeface="宋体" panose="02000500000000000000" pitchFamily="2" charset="-122"/>
                <a:ea typeface="宋体" panose="02000500000000000000" pitchFamily="2" charset="-122"/>
                <a:cs typeface="宋体" panose="02000500000000000000" pitchFamily="2" charset="-122"/>
              </a:rPr>
              <a:t>TLB</a:t>
            </a:r>
            <a:r>
              <a:rPr lang="zh-CN" altLang="en-US" sz="1600" dirty="0">
                <a:latin typeface="宋体" panose="02000500000000000000" pitchFamily="2" charset="-122"/>
                <a:ea typeface="宋体" panose="02000500000000000000" pitchFamily="2" charset="-122"/>
                <a:cs typeface="宋体" panose="02000500000000000000" pitchFamily="2" charset="-122"/>
              </a:rPr>
              <a:t>的原理和逻辑</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en-US" altLang="zh-CN" sz="1600" dirty="0">
                <a:latin typeface="宋体" panose="02000500000000000000" pitchFamily="2" charset="-122"/>
                <a:ea typeface="宋体" panose="02000500000000000000" pitchFamily="2" charset="-122"/>
                <a:cs typeface="宋体" panose="02000500000000000000" pitchFamily="2" charset="-122"/>
              </a:rPr>
              <a:t>LINUX</a:t>
            </a:r>
            <a:r>
              <a:rPr lang="zh-CN" altLang="en-US" sz="1600" dirty="0">
                <a:latin typeface="宋体" panose="02000500000000000000" pitchFamily="2" charset="-122"/>
                <a:ea typeface="宋体" panose="02000500000000000000" pitchFamily="2" charset="-122"/>
                <a:cs typeface="宋体" panose="02000500000000000000" pitchFamily="2" charset="-122"/>
              </a:rPr>
              <a:t>操作系统的存储管理：</a:t>
            </a:r>
            <a:r>
              <a:rPr lang="en-US" altLang="zh-CN" sz="1600" dirty="0">
                <a:latin typeface="宋体" panose="02000500000000000000" pitchFamily="2" charset="-122"/>
                <a:ea typeface="宋体" panose="02000500000000000000" pitchFamily="2" charset="-122"/>
                <a:cs typeface="宋体" panose="02000500000000000000" pitchFamily="2" charset="-122"/>
              </a:rPr>
              <a:t>TLB</a:t>
            </a:r>
            <a:r>
              <a:rPr lang="zh-CN" altLang="en-US" sz="1600" dirty="0">
                <a:latin typeface="宋体" panose="02000500000000000000" pitchFamily="2" charset="-122"/>
                <a:ea typeface="宋体" panose="02000500000000000000" pitchFamily="2" charset="-122"/>
                <a:cs typeface="宋体" panose="02000500000000000000" pitchFamily="2" charset="-122"/>
              </a:rPr>
              <a:t>、页表和内存分配过程</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rPr>
              <a:t>例：</a:t>
            </a:r>
            <a:r>
              <a:rPr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array=(int*)malloc(0x1000); </a:t>
            </a:r>
            <a:endParaRPr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buNone/>
            </a:pPr>
            <a:r>
              <a:rPr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rPr>
              <a:t>       for (i=0;i&lt;1024;i++) array[i] = 0;</a:t>
            </a:r>
            <a:endParaRPr lang="en-US" altLang="zh-CN" sz="16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eaLnBrk="1" hangingPunct="1">
              <a:lnSpc>
                <a:spcPct val="150000"/>
              </a:lnSpc>
              <a:spcBef>
                <a:spcPct val="0"/>
              </a:spcBef>
            </a:pPr>
            <a:r>
              <a:rPr lang="en-US" altLang="zh-CN" sz="1800" dirty="0">
                <a:latin typeface="宋体" panose="02000500000000000000" pitchFamily="2" charset="-122"/>
                <a:ea typeface="宋体" panose="02000500000000000000" pitchFamily="2" charset="-122"/>
                <a:cs typeface="宋体" panose="02000500000000000000" pitchFamily="2" charset="-122"/>
                <a:sym typeface="+mn-ea"/>
              </a:rPr>
              <a:t>MIPS</a:t>
            </a:r>
            <a:r>
              <a:rPr lang="zh-CN" altLang="en-US" sz="1800" dirty="0">
                <a:latin typeface="宋体" panose="02000500000000000000" pitchFamily="2" charset="-122"/>
                <a:ea typeface="宋体" panose="02000500000000000000" pitchFamily="2" charset="-122"/>
                <a:cs typeface="宋体" panose="02000500000000000000" pitchFamily="2" charset="-122"/>
                <a:sym typeface="+mn-ea"/>
              </a:rPr>
              <a:t>对虚存系统的支持：</a:t>
            </a:r>
            <a:r>
              <a:rPr lang="en-US" altLang="zh-CN" sz="2000" dirty="0">
                <a:latin typeface="宋体" panose="02000500000000000000" pitchFamily="2" charset="-122"/>
                <a:ea typeface="宋体" panose="02000500000000000000" pitchFamily="2" charset="-122"/>
                <a:cs typeface="宋体" panose="02000500000000000000" pitchFamily="2" charset="-122"/>
                <a:sym typeface="+mn-ea"/>
              </a:rPr>
              <a:t>TLB</a:t>
            </a:r>
            <a:r>
              <a:rPr lang="zh-CN" altLang="en-US" sz="2000" dirty="0">
                <a:latin typeface="宋体" panose="02000500000000000000" pitchFamily="2" charset="-122"/>
                <a:ea typeface="宋体" panose="02000500000000000000" pitchFamily="2" charset="-122"/>
                <a:cs typeface="宋体" panose="02000500000000000000" pitchFamily="2" charset="-122"/>
                <a:sym typeface="+mn-ea"/>
              </a:rPr>
              <a:t>、控制寄存器、专用指令、专用例外</a:t>
            </a:r>
            <a:endParaRPr lang="zh-CN" altLang="en-US" sz="2000" dirty="0">
              <a:latin typeface="宋体" panose="02000500000000000000" pitchFamily="2" charset="-122"/>
              <a:ea typeface="宋体" panose="02000500000000000000" pitchFamily="2" charset="-122"/>
              <a:cs typeface="宋体" panose="02000500000000000000" pitchFamily="2" charset="-122"/>
              <a:sym typeface="+mn-ea"/>
            </a:endParaRPr>
          </a:p>
          <a:p>
            <a:pPr lvl="1" eaLnBrk="1" hangingPunct="1">
              <a:lnSpc>
                <a:spcPct val="150000"/>
              </a:lnSpc>
              <a:spcBef>
                <a:spcPct val="0"/>
              </a:spcBef>
            </a:pPr>
            <a:r>
              <a:rPr lang="en-US" altLang="zh-CN" sz="1600" dirty="0">
                <a:solidFill>
                  <a:srgbClr val="FF0000"/>
                </a:solidFill>
                <a:latin typeface="宋体" panose="02000500000000000000" pitchFamily="2" charset="-122"/>
                <a:cs typeface="宋体" panose="02000500000000000000" pitchFamily="2" charset="-122"/>
                <a:sym typeface="+mn-ea"/>
              </a:rPr>
              <a:t>MIPS</a:t>
            </a:r>
            <a:r>
              <a:rPr lang="zh-CN" altLang="en-US" sz="1600" dirty="0">
                <a:solidFill>
                  <a:srgbClr val="FF0000"/>
                </a:solidFill>
                <a:latin typeface="宋体" panose="02000500000000000000" pitchFamily="2" charset="-122"/>
                <a:cs typeface="宋体" panose="02000500000000000000" pitchFamily="2" charset="-122"/>
                <a:sym typeface="+mn-ea"/>
              </a:rPr>
              <a:t>的硬件结构为一级页表设计，两级页表重填需要“拼凑”页表地址（一级页表</a:t>
            </a:r>
            <a:r>
              <a:rPr lang="en-US" altLang="zh-CN" sz="1600" dirty="0">
                <a:solidFill>
                  <a:srgbClr val="FF0000"/>
                </a:solidFill>
                <a:latin typeface="宋体" panose="02000500000000000000" pitchFamily="2" charset="-122"/>
                <a:cs typeface="宋体" panose="02000500000000000000" pitchFamily="2" charset="-122"/>
                <a:sym typeface="+mn-ea"/>
              </a:rPr>
              <a:t>7</a:t>
            </a:r>
            <a:r>
              <a:rPr lang="zh-CN" altLang="en-US" sz="1600" dirty="0">
                <a:solidFill>
                  <a:srgbClr val="FF0000"/>
                </a:solidFill>
                <a:latin typeface="宋体" panose="02000500000000000000" pitchFamily="2" charset="-122"/>
                <a:cs typeface="宋体" panose="02000500000000000000" pitchFamily="2" charset="-122"/>
                <a:sym typeface="+mn-ea"/>
              </a:rPr>
              <a:t>条指令，两级页表</a:t>
            </a:r>
            <a:r>
              <a:rPr lang="en-US" altLang="zh-CN" sz="1600" dirty="0">
                <a:solidFill>
                  <a:srgbClr val="FF0000"/>
                </a:solidFill>
                <a:latin typeface="宋体" panose="02000500000000000000" pitchFamily="2" charset="-122"/>
                <a:cs typeface="宋体" panose="02000500000000000000" pitchFamily="2" charset="-122"/>
                <a:sym typeface="+mn-ea"/>
              </a:rPr>
              <a:t>18</a:t>
            </a:r>
            <a:r>
              <a:rPr lang="zh-CN" altLang="en-US" sz="1600" dirty="0">
                <a:solidFill>
                  <a:srgbClr val="FF0000"/>
                </a:solidFill>
                <a:latin typeface="宋体" panose="02000500000000000000" pitchFamily="2" charset="-122"/>
                <a:cs typeface="宋体" panose="02000500000000000000" pitchFamily="2" charset="-122"/>
                <a:sym typeface="+mn-ea"/>
              </a:rPr>
              <a:t>条指令）</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eaLnBrk="1" hangingPunct="1">
              <a:lnSpc>
                <a:spcPct val="150000"/>
              </a:lnSpc>
              <a:spcBef>
                <a:spcPct val="0"/>
              </a:spcBef>
            </a:pPr>
            <a:r>
              <a:rPr lang="zh-CN" altLang="en-US" sz="1800" dirty="0">
                <a:latin typeface="宋体" panose="02000500000000000000" pitchFamily="2" charset="-122"/>
                <a:ea typeface="宋体" panose="02000500000000000000" pitchFamily="2" charset="-122"/>
                <a:cs typeface="宋体" panose="02000500000000000000" pitchFamily="2" charset="-122"/>
                <a:sym typeface="+mn-ea"/>
              </a:rPr>
              <a:t>龙架构对虚存系统的支持：</a:t>
            </a:r>
            <a:r>
              <a:rPr lang="en-US" altLang="zh-CN" sz="2000" dirty="0">
                <a:latin typeface="宋体" panose="02000500000000000000" pitchFamily="2" charset="-122"/>
                <a:ea typeface="宋体" panose="02000500000000000000" pitchFamily="2" charset="-122"/>
                <a:cs typeface="宋体" panose="02000500000000000000" pitchFamily="2" charset="-122"/>
                <a:sym typeface="+mn-ea"/>
              </a:rPr>
              <a:t>TLB</a:t>
            </a:r>
            <a:r>
              <a:rPr lang="zh-CN" altLang="en-US" sz="2000" dirty="0">
                <a:latin typeface="宋体" panose="02000500000000000000" pitchFamily="2" charset="-122"/>
                <a:ea typeface="宋体" panose="02000500000000000000" pitchFamily="2" charset="-122"/>
                <a:cs typeface="宋体" panose="02000500000000000000" pitchFamily="2" charset="-122"/>
                <a:sym typeface="+mn-ea"/>
              </a:rPr>
              <a:t>、控制寄存器、专用指令、专用例外</a:t>
            </a:r>
            <a:endParaRPr lang="zh-CN" altLang="en-US" sz="2000" dirty="0">
              <a:latin typeface="宋体" panose="02000500000000000000" pitchFamily="2" charset="-122"/>
              <a:ea typeface="宋体" panose="02000500000000000000" pitchFamily="2" charset="-122"/>
              <a:cs typeface="宋体" panose="02000500000000000000" pitchFamily="2" charset="-122"/>
              <a:sym typeface="+mn-ea"/>
            </a:endParaRPr>
          </a:p>
          <a:p>
            <a:pPr lvl="1" eaLnBrk="1" hangingPunct="1">
              <a:lnSpc>
                <a:spcPct val="150000"/>
              </a:lnSpc>
              <a:spcBef>
                <a:spcPct val="0"/>
              </a:spcBef>
            </a:pPr>
            <a:r>
              <a:rPr lang="en-US" altLang="zh-CN" sz="1600" dirty="0">
                <a:solidFill>
                  <a:srgbClr val="FF0000"/>
                </a:solidFill>
                <a:latin typeface="宋体" panose="02000500000000000000" pitchFamily="2" charset="-122"/>
                <a:sym typeface="+mn-ea"/>
              </a:rPr>
              <a:t>LoongArch</a:t>
            </a:r>
            <a:r>
              <a:rPr lang="zh-CN" altLang="en-US" sz="1600" dirty="0">
                <a:solidFill>
                  <a:srgbClr val="FF0000"/>
                </a:solidFill>
                <a:latin typeface="宋体" panose="02000500000000000000" pitchFamily="2" charset="-122"/>
                <a:sym typeface="+mn-ea"/>
              </a:rPr>
              <a:t>吸取</a:t>
            </a:r>
            <a:r>
              <a:rPr lang="en-US" altLang="zh-CN" sz="1600" dirty="0">
                <a:solidFill>
                  <a:srgbClr val="FF0000"/>
                </a:solidFill>
                <a:latin typeface="宋体" panose="02000500000000000000" pitchFamily="2" charset="-122"/>
                <a:sym typeface="+mn-ea"/>
              </a:rPr>
              <a:t>MIPS</a:t>
            </a:r>
            <a:r>
              <a:rPr lang="zh-CN" altLang="en-US" sz="1600" dirty="0">
                <a:solidFill>
                  <a:srgbClr val="FF0000"/>
                </a:solidFill>
                <a:latin typeface="宋体" panose="02000500000000000000" pitchFamily="2" charset="-122"/>
                <a:sym typeface="+mn-ea"/>
              </a:rPr>
              <a:t>教训，硬件可灵活配置多级页表访问地址（</a:t>
            </a:r>
            <a:r>
              <a:rPr lang="en-US" altLang="zh-CN" sz="1600" dirty="0">
                <a:solidFill>
                  <a:srgbClr val="FF0000"/>
                </a:solidFill>
                <a:latin typeface="宋体" panose="02000500000000000000" pitchFamily="2" charset="-122"/>
                <a:sym typeface="+mn-ea"/>
              </a:rPr>
              <a:t>PWCL</a:t>
            </a:r>
            <a:r>
              <a:rPr lang="zh-CN" altLang="en-US" sz="1600" dirty="0">
                <a:solidFill>
                  <a:srgbClr val="FF0000"/>
                </a:solidFill>
                <a:latin typeface="宋体" panose="02000500000000000000" pitchFamily="2" charset="-122"/>
                <a:sym typeface="+mn-ea"/>
              </a:rPr>
              <a:t>、</a:t>
            </a:r>
            <a:r>
              <a:rPr lang="en-US" altLang="zh-CN" sz="1600" dirty="0">
                <a:solidFill>
                  <a:srgbClr val="FF0000"/>
                </a:solidFill>
                <a:latin typeface="宋体" panose="02000500000000000000" pitchFamily="2" charset="-122"/>
                <a:sym typeface="+mn-ea"/>
              </a:rPr>
              <a:t>PWCH</a:t>
            </a:r>
            <a:r>
              <a:rPr lang="zh-CN" altLang="en-US" sz="1600" dirty="0">
                <a:solidFill>
                  <a:srgbClr val="FF0000"/>
                </a:solidFill>
                <a:latin typeface="宋体" panose="02000500000000000000" pitchFamily="2" charset="-122"/>
                <a:sym typeface="+mn-ea"/>
              </a:rPr>
              <a:t>），三级页表重填只需</a:t>
            </a:r>
            <a:r>
              <a:rPr lang="en-US" altLang="zh-CN" sz="1600" dirty="0">
                <a:solidFill>
                  <a:srgbClr val="FF0000"/>
                </a:solidFill>
                <a:latin typeface="宋体" panose="02000500000000000000" pitchFamily="2" charset="-122"/>
                <a:sym typeface="+mn-ea"/>
              </a:rPr>
              <a:t>9</a:t>
            </a:r>
            <a:r>
              <a:rPr lang="zh-CN" altLang="en-US" sz="1600" dirty="0">
                <a:solidFill>
                  <a:srgbClr val="FF0000"/>
                </a:solidFill>
                <a:latin typeface="宋体" panose="02000500000000000000" pitchFamily="2" charset="-122"/>
                <a:sym typeface="+mn-ea"/>
              </a:rPr>
              <a:t>条指令</a:t>
            </a:r>
            <a:endParaRPr lang="zh-CN" altLang="en-US" sz="1600" dirty="0">
              <a:solidFill>
                <a:srgbClr val="FF0000"/>
              </a:solidFill>
              <a:latin typeface="宋体" panose="02000500000000000000" pitchFamily="2" charset="-122"/>
              <a:ea typeface="宋体" panose="02000500000000000000" pitchFamily="2" charset="-122"/>
              <a:cs typeface="宋体" panose="02000500000000000000" pitchFamily="2" charset="-122"/>
            </a:endParaRPr>
          </a:p>
          <a:p>
            <a:pPr eaLnBrk="1" hangingPunct="1">
              <a:lnSpc>
                <a:spcPct val="150000"/>
              </a:lnSpc>
              <a:spcBef>
                <a:spcPct val="0"/>
              </a:spcBef>
            </a:pPr>
            <a:r>
              <a:rPr lang="en-US" altLang="zh-CN" sz="2000" dirty="0">
                <a:latin typeface="宋体" panose="02000500000000000000" pitchFamily="2" charset="-122"/>
                <a:ea typeface="宋体" panose="02000500000000000000" pitchFamily="2" charset="-122"/>
                <a:cs typeface="宋体" panose="02000500000000000000" pitchFamily="2" charset="-122"/>
              </a:rPr>
              <a:t>TLB</a:t>
            </a:r>
            <a:r>
              <a:rPr lang="zh-CN" altLang="en-US" sz="2000" dirty="0">
                <a:latin typeface="宋体" panose="02000500000000000000" pitchFamily="2" charset="-122"/>
                <a:ea typeface="宋体" panose="02000500000000000000" pitchFamily="2" charset="-122"/>
                <a:cs typeface="宋体" panose="02000500000000000000" pitchFamily="2" charset="-122"/>
              </a:rPr>
              <a:t>的性能分析和优化</a:t>
            </a:r>
            <a:endParaRPr lang="zh-CN" altLang="en-US" sz="20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提高</a:t>
            </a:r>
            <a:r>
              <a:rPr lang="en-US" altLang="zh-CN" sz="1600" dirty="0">
                <a:latin typeface="宋体" panose="02000500000000000000" pitchFamily="2" charset="-122"/>
                <a:ea typeface="宋体" panose="02000500000000000000" pitchFamily="2" charset="-122"/>
                <a:cs typeface="宋体" panose="02000500000000000000" pitchFamily="2" charset="-122"/>
              </a:rPr>
              <a:t>TLB</a:t>
            </a:r>
            <a:r>
              <a:rPr lang="zh-CN" altLang="en-US" sz="1600" dirty="0">
                <a:latin typeface="宋体" panose="02000500000000000000" pitchFamily="2" charset="-122"/>
                <a:ea typeface="宋体" panose="02000500000000000000" pitchFamily="2" charset="-122"/>
                <a:cs typeface="宋体" panose="02000500000000000000" pitchFamily="2" charset="-122"/>
              </a:rPr>
              <a:t>覆盖空间的大小（多页支持）</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a:p>
            <a:pPr lvl="1" eaLnBrk="1" hangingPunct="1">
              <a:lnSpc>
                <a:spcPct val="150000"/>
              </a:lnSpc>
              <a:spcBef>
                <a:spcPct val="0"/>
              </a:spcBef>
            </a:pPr>
            <a:r>
              <a:rPr lang="zh-CN" altLang="en-US" sz="1600" dirty="0">
                <a:latin typeface="宋体" panose="02000500000000000000" pitchFamily="2" charset="-122"/>
                <a:ea typeface="宋体" panose="02000500000000000000" pitchFamily="2" charset="-122"/>
                <a:cs typeface="宋体" panose="02000500000000000000" pitchFamily="2" charset="-122"/>
              </a:rPr>
              <a:t>提高</a:t>
            </a:r>
            <a:r>
              <a:rPr lang="en-US" altLang="zh-CN" sz="1600" dirty="0">
                <a:latin typeface="宋体" panose="02000500000000000000" pitchFamily="2" charset="-122"/>
                <a:ea typeface="宋体" panose="02000500000000000000" pitchFamily="2" charset="-122"/>
                <a:cs typeface="宋体" panose="02000500000000000000" pitchFamily="2" charset="-122"/>
              </a:rPr>
              <a:t>TLB</a:t>
            </a:r>
            <a:r>
              <a:rPr lang="zh-CN" altLang="en-US" sz="1600" dirty="0">
                <a:latin typeface="宋体" panose="02000500000000000000" pitchFamily="2" charset="-122"/>
                <a:ea typeface="宋体" panose="02000500000000000000" pitchFamily="2" charset="-122"/>
                <a:cs typeface="宋体" panose="02000500000000000000" pitchFamily="2" charset="-122"/>
              </a:rPr>
              <a:t>异常处理的效率（软</a:t>
            </a:r>
            <a:r>
              <a:rPr lang="en-US" altLang="zh-CN" sz="1600" dirty="0">
                <a:latin typeface="宋体" panose="02000500000000000000" pitchFamily="2" charset="-122"/>
                <a:ea typeface="宋体" panose="02000500000000000000" pitchFamily="2" charset="-122"/>
                <a:cs typeface="宋体" panose="02000500000000000000" pitchFamily="2" charset="-122"/>
              </a:rPr>
              <a:t>TLB</a:t>
            </a:r>
            <a:r>
              <a:rPr lang="zh-CN" altLang="en-US" sz="1600" dirty="0">
                <a:latin typeface="宋体" panose="02000500000000000000" pitchFamily="2" charset="-122"/>
                <a:ea typeface="宋体" panose="02000500000000000000" pitchFamily="2" charset="-122"/>
                <a:cs typeface="宋体" panose="02000500000000000000" pitchFamily="2" charset="-122"/>
              </a:rPr>
              <a:t>等缓存技术）</a:t>
            </a:r>
            <a:endParaRPr lang="zh-CN" altLang="en-US" sz="1600" dirty="0">
              <a:latin typeface="宋体" panose="02000500000000000000" pitchFamily="2" charset="-122"/>
              <a:ea typeface="宋体" panose="02000500000000000000" pitchFamily="2" charset="-122"/>
              <a:cs typeface="宋体" panose="02000500000000000000"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灯片编号占位符 5"/>
          <p:cNvSpPr txBox="1">
            <a:spLocks noGrp="1"/>
          </p:cNvSpPr>
          <p:nvPr>
            <p:ph type="sldNum" sz="quarter" idx="12"/>
          </p:nvPr>
        </p:nvSpPr>
        <p:spPr/>
        <p:txBody>
          <a:bodyPr/>
          <a:lstStyle>
            <a:lvl1pPr marL="0" lvl="0" indent="0" algn="l" defTabSz="914400" rtl="0" eaLnBrk="0" fontAlgn="base" latinLnBrk="0" hangingPunct="0">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defRPr>
            </a:lvl1pPr>
            <a:lvl2pPr marL="457200" lvl="1"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2pPr>
            <a:lvl3pPr marL="914400" lvl="2"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3pPr>
            <a:lvl4pPr marL="1371600" lvl="3"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4pPr>
            <a:lvl5pPr marL="1828800" lvl="4" indent="0" algn="l" defTabSz="914400" rtl="0" eaLnBrk="1" fontAlgn="base" latinLnBrk="0" hangingPunct="1">
              <a:lnSpc>
                <a:spcPct val="100000"/>
              </a:lnSpc>
              <a:spcBef>
                <a:spcPct val="50000"/>
              </a:spcBef>
              <a:spcAft>
                <a:spcPct val="0"/>
              </a:spcAft>
              <a:buNone/>
              <a:defRPr sz="1200" b="0" i="0" u="none" kern="1200" baseline="0">
                <a:solidFill>
                  <a:schemeClr val="tx1"/>
                </a:solidFill>
                <a:latin typeface="Times New Roman" pitchFamily="18" charset="0"/>
                <a:ea typeface="宋体" panose="02000500000000000000" pitchFamily="2" charset="-122"/>
                <a:cs typeface="+mn-cs"/>
              </a:defRPr>
            </a:lvl5pPr>
          </a:lstStyle>
          <a:p>
            <a:pPr lvl="0" algn="r" eaLnBrk="1" hangingPunct="1">
              <a:spcBef>
                <a:spcPct val="0"/>
              </a:spcBef>
            </a:pPr>
            <a:fld id="{9A0DB2DC-4C9A-4742-B13C-FB6460FD3503}" type="slidenum">
              <a:rPr lang="en-US" altLang="zh-CN" sz="1400" dirty="0"/>
            </a:fld>
            <a:endParaRPr lang="en-US" altLang="zh-CN" sz="1400" dirty="0"/>
          </a:p>
        </p:txBody>
      </p:sp>
      <p:sp>
        <p:nvSpPr>
          <p:cNvPr id="63491" name="Rectangle 2"/>
          <p:cNvSpPr>
            <a:spLocks noGrp="1"/>
          </p:cNvSpPr>
          <p:nvPr>
            <p:ph type="title"/>
          </p:nvPr>
        </p:nvSpPr>
        <p:spPr>
          <a:xfrm>
            <a:off x="877888" y="304800"/>
            <a:ext cx="10361612" cy="719138"/>
          </a:xfrm>
        </p:spPr>
        <p:txBody>
          <a:bodyPr vert="horz" wrap="square" lIns="91440" tIns="45720" rIns="91440" bIns="45720" anchor="ctr" anchorCtr="0"/>
          <a:p>
            <a:pPr eaLnBrk="1" hangingPunct="1"/>
            <a:r>
              <a:rPr lang="zh-CN" altLang="en-US" sz="3600" dirty="0"/>
              <a:t>作  业</a:t>
            </a:r>
            <a:endParaRPr lang="zh-CN" altLang="en-US" sz="3600" dirty="0"/>
          </a:p>
        </p:txBody>
      </p:sp>
      <p:sp>
        <p:nvSpPr>
          <p:cNvPr id="63492" name="Rectangle 3"/>
          <p:cNvSpPr>
            <a:spLocks noGrp="1"/>
          </p:cNvSpPr>
          <p:nvPr>
            <p:ph idx="1"/>
          </p:nvPr>
        </p:nvSpPr>
        <p:spPr>
          <a:xfrm>
            <a:off x="914400" y="1358900"/>
            <a:ext cx="10361613" cy="4737100"/>
          </a:xfrm>
        </p:spPr>
        <p:txBody>
          <a:bodyPr vert="horz" wrap="square" lIns="91440" tIns="45720" rIns="91440" bIns="45720" anchor="t" anchorCtr="0"/>
          <a:p>
            <a:pPr eaLnBrk="1" hangingPunct="1">
              <a:spcBef>
                <a:spcPct val="0"/>
              </a:spcBef>
            </a:pPr>
            <a:endParaRPr kumimoji="1" lang="zh-CN" altLang="zh-CN" dirty="0">
              <a:latin typeface="+mn-lt"/>
              <a:ea typeface="+mn-ea"/>
              <a:cs typeface="+mn-cs"/>
            </a:endParaRP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1200" b="0" i="0" u="none" strike="noStrike" cap="none" normalizeH="0" baseline="0" smtClean="0">
            <a:ln>
              <a:noFill/>
            </a:ln>
            <a:solidFill>
              <a:schemeClr val="tx1"/>
            </a:solidFill>
            <a:effectLst/>
            <a:latin typeface="Times New Roman" pitchFamily="18" charset="0"/>
            <a:ea typeface="宋体" panose="02000500000000000000"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12856</Words>
  <Application>WPS 演示</Application>
  <PresentationFormat>自定义</PresentationFormat>
  <Paragraphs>1294</Paragraphs>
  <Slides>62</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10</vt:i4>
      </vt:variant>
      <vt:variant>
        <vt:lpstr>幻灯片标题</vt:lpstr>
      </vt:variant>
      <vt:variant>
        <vt:i4>62</vt:i4>
      </vt:variant>
    </vt:vector>
  </HeadingPairs>
  <TitlesOfParts>
    <vt:vector size="83" baseType="lpstr">
      <vt:lpstr>Arial</vt:lpstr>
      <vt:lpstr>宋体</vt:lpstr>
      <vt:lpstr>Wingdings</vt:lpstr>
      <vt:lpstr>Times New Roman</vt:lpstr>
      <vt:lpstr>Nimbus Roman No9 L</vt:lpstr>
      <vt:lpstr>黑体</vt:lpstr>
      <vt:lpstr>微软雅黑</vt:lpstr>
      <vt:lpstr>Arial Unicode MS</vt:lpstr>
      <vt:lpstr>Times New Roman</vt:lpstr>
      <vt:lpstr>MathJax_Vector</vt:lpstr>
      <vt:lpstr>默认设计模板</vt:lpstr>
      <vt:lpstr>Paint.Picture</vt:lpstr>
      <vt:lpstr>Excel.Chart.8</vt:lpstr>
      <vt:lpstr>Visio.Drawing.15</vt:lpstr>
      <vt:lpstr>Visio.Drawing.15</vt:lpstr>
      <vt:lpstr>Paint.Picture</vt:lpstr>
      <vt:lpstr>Excel.Chart.8</vt:lpstr>
      <vt:lpstr>Excel.Chart.8</vt:lpstr>
      <vt:lpstr>Visio.Drawing.6</vt:lpstr>
      <vt:lpstr>Excel.Chart.8</vt:lpstr>
      <vt:lpstr>Excel.Chart.8</vt:lpstr>
      <vt:lpstr>PowerPoint 演示文稿</vt:lpstr>
      <vt:lpstr>PowerPoint 演示文稿</vt:lpstr>
      <vt:lpstr>存储管理</vt:lpstr>
      <vt:lpstr>一个访存例子</vt:lpstr>
      <vt:lpstr>PowerPoint 演示文稿</vt:lpstr>
      <vt:lpstr>虚拟存储的基本原理</vt:lpstr>
      <vt:lpstr>虚拟存储原理</vt:lpstr>
      <vt:lpstr>页式内存管理举例</vt:lpstr>
      <vt:lpstr>虚实地址转换与页表</vt:lpstr>
      <vt:lpstr>多级页表</vt:lpstr>
      <vt:lpstr>TLB</vt:lpstr>
      <vt:lpstr>虚拟存储的内存失效 vs. 高速缓存失效</vt:lpstr>
      <vt:lpstr>分清两种映射关系</vt:lpstr>
      <vt:lpstr>例子</vt:lpstr>
      <vt:lpstr>MIPS处理器对虚存系统的支持</vt:lpstr>
      <vt:lpstr>MIPS处理器对虚拟存储的支持</vt:lpstr>
      <vt:lpstr>MIPS的访问权限</vt:lpstr>
      <vt:lpstr>MIPS存储空间分段情况</vt:lpstr>
      <vt:lpstr>Linux/MIPS虚拟地址空间安排</vt:lpstr>
      <vt:lpstr>MIPS的TLB及相关控制寄存器</vt:lpstr>
      <vt:lpstr>与TLB管理有关的指令</vt:lpstr>
      <vt:lpstr>发生TLB例外时硬件处理过程</vt:lpstr>
      <vt:lpstr>TLB例外类型</vt:lpstr>
      <vt:lpstr>例外返回</vt:lpstr>
      <vt:lpstr>一种虚拟存储实现方式</vt:lpstr>
      <vt:lpstr>TLB refill过程</vt:lpstr>
      <vt:lpstr>TLB refill代码</vt:lpstr>
      <vt:lpstr>Linux/MIPS的两层页表</vt:lpstr>
      <vt:lpstr>内存中的页表组织（32位情况）</vt:lpstr>
      <vt:lpstr>PowerPoint 演示文稿</vt:lpstr>
      <vt:lpstr>例子</vt:lpstr>
      <vt:lpstr>Linux/MIPS中TLB例外的处理</vt:lpstr>
      <vt:lpstr>例子</vt:lpstr>
      <vt:lpstr>---LoongArch处理器对虚存系统的支持</vt:lpstr>
      <vt:lpstr>LoongArch处理器对虚拟存储的支持</vt:lpstr>
      <vt:lpstr>LoongArch的地址空间</vt:lpstr>
      <vt:lpstr>LoongArch的地址翻译模式</vt:lpstr>
      <vt:lpstr>LoongArch的TLB结构</vt:lpstr>
      <vt:lpstr>LoongArch与TLB有关的控制寄存器</vt:lpstr>
      <vt:lpstr>LoongArch与TLB管理有关的指令</vt:lpstr>
      <vt:lpstr>TLB相关异常类型</vt:lpstr>
      <vt:lpstr>发生TLB异常时硬件处理过程</vt:lpstr>
      <vt:lpstr>Linux/LoongArch的三级页表及其查找过程</vt:lpstr>
      <vt:lpstr>LoongArch与TLB有关的控制寄存器</vt:lpstr>
      <vt:lpstr>Linux/LoongArch内存中的页表组织</vt:lpstr>
      <vt:lpstr>加速多级页表遍历</vt:lpstr>
      <vt:lpstr>PowerPoint 演示文稿</vt:lpstr>
      <vt:lpstr>不忘初心</vt:lpstr>
      <vt:lpstr>TLB的优化</vt:lpstr>
      <vt:lpstr>TLB性能分析和一些优化</vt:lpstr>
      <vt:lpstr>PowerPoint 演示文稿</vt:lpstr>
      <vt:lpstr>TLB相关性能数据</vt:lpstr>
      <vt:lpstr>增加页大小后性能显著提高</vt:lpstr>
      <vt:lpstr>软TLB的方案</vt:lpstr>
      <vt:lpstr>软TLB的方案（续）</vt:lpstr>
      <vt:lpstr>软TLB的命中率</vt:lpstr>
      <vt:lpstr>缓冲区大小对软TLB命中率的影响</vt:lpstr>
      <vt:lpstr>软TLB对SPEC性能的提高</vt:lpstr>
      <vt:lpstr>典型处理器的结构参数</vt:lpstr>
      <vt:lpstr>典型处理器的结构参数</vt:lpstr>
      <vt:lpstr>存储管理小结</vt:lpstr>
      <vt:lpstr>作  业</vt:lpstr>
    </vt:vector>
  </TitlesOfParts>
  <Company>chpc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RISC处理器设计</dc:title>
  <dc:creator>Weiwu Hu</dc:creator>
  <cp:lastModifiedBy>loongson</cp:lastModifiedBy>
  <cp:revision>889</cp:revision>
  <dcterms:created xsi:type="dcterms:W3CDTF">2025-10-04T01:02:29Z</dcterms:created>
  <dcterms:modified xsi:type="dcterms:W3CDTF">2025-10-04T01:02:29Z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2052-11.1.0.11719</vt:lpwstr>
  </property>
</Properties>
</file>