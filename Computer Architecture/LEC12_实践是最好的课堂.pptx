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92" r:id="rId6"/>
    <p:sldId id="258" r:id="rId7"/>
    <p:sldId id="261" r:id="rId8"/>
    <p:sldId id="266" r:id="rId9"/>
    <p:sldId id="267" r:id="rId10"/>
    <p:sldId id="303" r:id="rId11"/>
    <p:sldId id="304" r:id="rId12"/>
    <p:sldId id="334" r:id="rId13"/>
    <p:sldId id="335" r:id="rId14"/>
    <p:sldId id="336" r:id="rId15"/>
    <p:sldId id="337" r:id="rId16"/>
    <p:sldId id="300" r:id="rId17"/>
    <p:sldId id="293" r:id="rId18"/>
    <p:sldId id="268" r:id="rId19"/>
    <p:sldId id="269" r:id="rId20"/>
    <p:sldId id="270" r:id="rId21"/>
    <p:sldId id="271" r:id="rId22"/>
    <p:sldId id="272" r:id="rId23"/>
    <p:sldId id="297" r:id="rId24"/>
    <p:sldId id="294" r:id="rId25"/>
    <p:sldId id="273" r:id="rId26"/>
    <p:sldId id="274" r:id="rId27"/>
    <p:sldId id="338" r:id="rId28"/>
    <p:sldId id="275" r:id="rId29"/>
    <p:sldId id="276" r:id="rId30"/>
    <p:sldId id="277" r:id="rId31"/>
    <p:sldId id="278" r:id="rId32"/>
    <p:sldId id="295" r:id="rId33"/>
    <p:sldId id="279" r:id="rId34"/>
    <p:sldId id="280" r:id="rId35"/>
    <p:sldId id="281" r:id="rId36"/>
    <p:sldId id="282" r:id="rId37"/>
    <p:sldId id="283" r:id="rId38"/>
    <p:sldId id="296" r:id="rId39"/>
    <p:sldId id="284" r:id="rId40"/>
    <p:sldId id="298" r:id="rId41"/>
    <p:sldId id="286" r:id="rId42"/>
    <p:sldId id="288" r:id="rId43"/>
    <p:sldId id="289" r:id="rId44"/>
    <p:sldId id="290" r:id="rId45"/>
  </p:sldIdLst>
  <p:sldSz cx="12190730" cy="6858000"/>
  <p:notesSz cx="6858000" cy="9144000"/>
  <p:defaultTextStyle>
    <a:defPPr>
      <a:defRPr lang="en-GB"/>
    </a:defPPr>
    <a:lvl1pPr marL="0" lvl="0"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vl6pPr marL="2286000" lvl="5"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6pPr>
    <a:lvl7pPr marL="2743200" lvl="6"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7pPr>
    <a:lvl8pPr marL="3200400" lvl="7"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8pPr>
    <a:lvl9pPr marL="3657600" lvl="8"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howGuides="1">
      <p:cViewPr varScale="1">
        <p:scale>
          <a:sx n="63" d="100"/>
          <a:sy n="63" d="100"/>
        </p:scale>
        <p:origin x="-749" y="-77"/>
      </p:cViewPr>
      <p:guideLst>
        <p:guide orient="horz" pos="2160"/>
        <p:guide pos="3208"/>
      </p:guideLst>
    </p:cSldViewPr>
  </p:slideViewPr>
  <p:outlineViewPr>
    <p:cViewPr varScale="1">
      <p:scale>
        <a:sx n="170" d="200"/>
        <a:sy n="170" d="200"/>
      </p:scale>
      <p:origin x="-780" y="-84"/>
    </p:cViewPr>
  </p:outlin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oleObject" Target="/home/wangwenxiang/00WORK/03LA664/LA864/&#38454;&#27573;&#24615;&#33021;&#19982;3A5000&#23545;&#27604;.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a:lstStyle/>
          <a:p>
            <a:pPr defTabSz="914400">
              <a:defRPr lang="zh-CN" sz="1400" b="1" i="0" u="none" strike="noStrike" kern="1200" spc="0" baseline="0">
                <a:solidFill>
                  <a:sysClr val="windowText" lastClr="000000">
                    <a:lumMod val="65000"/>
                    <a:lumOff val="35000"/>
                  </a:sysClr>
                </a:solidFill>
                <a:latin typeface="FreeSans" panose="020B0504020202020204" charset="0"/>
                <a:ea typeface="FreeSans" panose="020B0504020202020204" charset="0"/>
                <a:cs typeface="FreeSans" panose="020B0504020202020204" charset="0"/>
                <a:sym typeface="FreeSans" panose="020B0504020202020204" charset="0"/>
              </a:defRPr>
            </a:pPr>
            <a:r>
              <a:rPr lang="en-US" altLang="zh-CN" b="1">
                <a:latin typeface="FreeSans" panose="020B0504020202020204" charset="0"/>
                <a:ea typeface="FreeSans" panose="020B0504020202020204" charset="0"/>
                <a:cs typeface="FreeSans" panose="020B0504020202020204" charset="0"/>
                <a:sym typeface="FreeSans" panose="020B0504020202020204" charset="0"/>
              </a:rPr>
              <a:t>SPEC CPU 2006 INT</a:t>
            </a:r>
            <a:endParaRPr lang="en-US" altLang="zh-CN" b="1">
              <a:latin typeface="FreeSans" panose="020B0504020202020204" charset="0"/>
              <a:ea typeface="FreeSans" panose="020B0504020202020204" charset="0"/>
              <a:cs typeface="FreeSans" panose="020B0504020202020204" charset="0"/>
              <a:sym typeface="FreeSans" panose="020B0504020202020204" charset="0"/>
            </a:endParaRPr>
          </a:p>
        </c:rich>
      </c:tx>
      <c:layout/>
      <c:overlay val="0"/>
      <c:spPr>
        <a:noFill/>
        <a:ln>
          <a:noFill/>
        </a:ln>
        <a:effectLst/>
      </c:spPr>
    </c:title>
    <c:autoTitleDeleted val="0"/>
    <c:plotArea>
      <c:layout/>
      <c:barChart>
        <c:barDir val="col"/>
        <c:grouping val="clustered"/>
        <c:varyColors val="0"/>
        <c:ser>
          <c:idx val="0"/>
          <c:order val="0"/>
          <c:tx>
            <c:strRef>
              <c:f>[阶段性能与3A5000对比.xlsx]Sheet1!$B$2</c:f>
              <c:strCache>
                <c:ptCount val="1"/>
                <c:pt idx="0">
                  <c:v>LA664</c:v>
                </c:pt>
              </c:strCache>
            </c:strRef>
          </c:tx>
          <c:spPr>
            <a:solidFill>
              <a:srgbClr val="F79646">
                <a:lumMod val="60000"/>
                <a:lumOff val="40000"/>
              </a:srgbClr>
            </a:solidFill>
            <a:ln>
              <a:noFill/>
            </a:ln>
            <a:effectLst/>
          </c:spPr>
          <c:invertIfNegative val="0"/>
          <c:dLbls>
            <c:delete val="1"/>
          </c:dLbls>
          <c:cat>
            <c:strRef>
              <c:f>[阶段性能与3A5000对比.xlsx]Sheet1!$A$3:$A$15</c:f>
              <c:strCache>
                <c:ptCount val="13"/>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 GEO</c:v>
                </c:pt>
              </c:strCache>
            </c:strRef>
          </c:cat>
          <c:val>
            <c:numRef>
              <c:f>[阶段性能与3A5000对比.xlsx]Sheet1!$B$3:$B$15</c:f>
              <c:numCache>
                <c:formatCode>General</c:formatCode>
                <c:ptCount val="13"/>
                <c:pt idx="0">
                  <c:v>37.1</c:v>
                </c:pt>
                <c:pt idx="1">
                  <c:v>22.9</c:v>
                </c:pt>
                <c:pt idx="2">
                  <c:v>31.7</c:v>
                </c:pt>
                <c:pt idx="3">
                  <c:v>38.7</c:v>
                </c:pt>
                <c:pt idx="4">
                  <c:v>30.5</c:v>
                </c:pt>
                <c:pt idx="5">
                  <c:v>62.6</c:v>
                </c:pt>
                <c:pt idx="6">
                  <c:v>28.1</c:v>
                </c:pt>
                <c:pt idx="7">
                  <c:v>110</c:v>
                </c:pt>
                <c:pt idx="8">
                  <c:v>61.1</c:v>
                </c:pt>
                <c:pt idx="9">
                  <c:v>40.7</c:v>
                </c:pt>
                <c:pt idx="10">
                  <c:v>26.7</c:v>
                </c:pt>
                <c:pt idx="11">
                  <c:v>60.3</c:v>
                </c:pt>
                <c:pt idx="12" c:formatCode="0.0_ ">
                  <c:v>41.3001297273091</c:v>
                </c:pt>
              </c:numCache>
            </c:numRef>
          </c:val>
        </c:ser>
        <c:ser>
          <c:idx val="1"/>
          <c:order val="1"/>
          <c:tx>
            <c:strRef>
              <c:f>[阶段性能与3A5000对比.xlsx]Sheet1!$C$2</c:f>
              <c:strCache>
                <c:ptCount val="1"/>
                <c:pt idx="0">
                  <c:v>LA864</c:v>
                </c:pt>
              </c:strCache>
            </c:strRef>
          </c:tx>
          <c:spPr>
            <a:gradFill>
              <a:gsLst>
                <a:gs pos="0">
                  <a:srgbClr val="FF0000">
                    <a:alpha val="70000"/>
                  </a:srgbClr>
                </a:gs>
                <a:gs pos="100000">
                  <a:srgbClr val="C00000"/>
                </a:gs>
              </a:gsLst>
              <a:lin ang="5400000" scaled="0"/>
            </a:gradFill>
            <a:ln>
              <a:noFill/>
            </a:ln>
            <a:effectLst/>
          </c:spPr>
          <c:invertIfNegative val="0"/>
          <c:dLbls>
            <c:delete val="1"/>
          </c:dLbls>
          <c:cat>
            <c:strRef>
              <c:f>[阶段性能与3A5000对比.xlsx]Sheet1!$A$3:$A$15</c:f>
              <c:strCache>
                <c:ptCount val="13"/>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 GEO</c:v>
                </c:pt>
              </c:strCache>
            </c:strRef>
          </c:cat>
          <c:val>
            <c:numRef>
              <c:f>[阶段性能与3A5000对比.xlsx]Sheet1!$C$3:$C$15</c:f>
              <c:numCache>
                <c:formatCode>General</c:formatCode>
                <c:ptCount val="13"/>
                <c:pt idx="0">
                  <c:v>46.6</c:v>
                </c:pt>
                <c:pt idx="1">
                  <c:v>27.5</c:v>
                </c:pt>
                <c:pt idx="2">
                  <c:v>47.8</c:v>
                </c:pt>
                <c:pt idx="3">
                  <c:v>78.8</c:v>
                </c:pt>
                <c:pt idx="4">
                  <c:v>43.1</c:v>
                </c:pt>
                <c:pt idx="5">
                  <c:v>66.9</c:v>
                </c:pt>
                <c:pt idx="6">
                  <c:v>39.1</c:v>
                </c:pt>
                <c:pt idx="7">
                  <c:v>148</c:v>
                </c:pt>
                <c:pt idx="8">
                  <c:v>66.8</c:v>
                </c:pt>
                <c:pt idx="9">
                  <c:v>56.3</c:v>
                </c:pt>
                <c:pt idx="10">
                  <c:v>33.4</c:v>
                </c:pt>
                <c:pt idx="11">
                  <c:v>73.3</c:v>
                </c:pt>
                <c:pt idx="12" c:formatCode="0.0_ ">
                  <c:v>54.8503189128751</c:v>
                </c:pt>
              </c:numCache>
            </c:numRef>
          </c:val>
        </c:ser>
        <c:dLbls>
          <c:showLegendKey val="0"/>
          <c:showVal val="0"/>
          <c:showCatName val="0"/>
          <c:showSerName val="0"/>
          <c:showPercent val="0"/>
          <c:showBubbleSize val="0"/>
        </c:dLbls>
        <c:gapWidth val="150"/>
        <c:axId val="206328960"/>
        <c:axId val="206330496"/>
      </c:barChart>
      <c:lineChart>
        <c:grouping val="standard"/>
        <c:varyColors val="0"/>
        <c:ser>
          <c:idx val="2"/>
          <c:order val="2"/>
          <c:tx>
            <c:strRef>
              <c:f>[阶段性能与3A5000对比.xlsx]Sheet1!$D$2</c:f>
              <c:strCache>
                <c:ptCount val="1"/>
                <c:pt idx="0">
                  <c:v>IPC提升</c:v>
                </c:pt>
              </c:strCache>
            </c:strRef>
          </c:tx>
          <c:spPr>
            <a:ln w="28575" cap="rnd" cmpd="sng" algn="ctr">
              <a:solidFill>
                <a:srgbClr val="1F497D">
                  <a:lumMod val="40000"/>
                  <a:lumOff val="60000"/>
                </a:srgbClr>
              </a:solidFill>
              <a:prstDash val="solid"/>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rgbClr val="1F497D">
                        <a:lumMod val="75000"/>
                      </a:srgbClr>
                    </a:solidFill>
                    <a:latin typeface="FreeSans" panose="020B0504020202020204" charset="0"/>
                    <a:ea typeface="FreeSans" panose="020B0504020202020204" charset="0"/>
                    <a:cs typeface="FreeSans" panose="020B0504020202020204" charset="0"/>
                    <a:sym typeface="FreeSans" panose="020B0504020202020204" charset="0"/>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ysClr val="windowText" lastClr="000000">
                          <a:lumMod val="35000"/>
                          <a:lumOff val="65000"/>
                        </a:sysClr>
                      </a:solidFill>
                      <a:prstDash val="solid"/>
                      <a:round/>
                    </a:ln>
                    <a:effectLst/>
                  </c:spPr>
                </c15:leaderLines>
              </c:ext>
            </c:extLst>
          </c:dLbls>
          <c:cat>
            <c:strRef>
              <c:f>[阶段性能与3A5000对比.xlsx]Sheet1!$A$3:$A$15</c:f>
              <c:strCache>
                <c:ptCount val="13"/>
                <c:pt idx="0">
                  <c:v>400.perlbench</c:v>
                </c:pt>
                <c:pt idx="1">
                  <c:v>401.bzip2</c:v>
                </c:pt>
                <c:pt idx="2">
                  <c:v>403.gcc</c:v>
                </c:pt>
                <c:pt idx="3">
                  <c:v>429.mcf</c:v>
                </c:pt>
                <c:pt idx="4">
                  <c:v>445.gobmk</c:v>
                </c:pt>
                <c:pt idx="5">
                  <c:v>456.hmmer</c:v>
                </c:pt>
                <c:pt idx="6">
                  <c:v>458.sjeng</c:v>
                </c:pt>
                <c:pt idx="7">
                  <c:v>462.libquantum</c:v>
                </c:pt>
                <c:pt idx="8">
                  <c:v>464.h264ref</c:v>
                </c:pt>
                <c:pt idx="9">
                  <c:v>471.omnetpp</c:v>
                </c:pt>
                <c:pt idx="10">
                  <c:v>473.astar</c:v>
                </c:pt>
                <c:pt idx="11">
                  <c:v>483.xalancbmk</c:v>
                </c:pt>
                <c:pt idx="12">
                  <c:v>INT GEO</c:v>
                </c:pt>
              </c:strCache>
            </c:strRef>
          </c:cat>
          <c:val>
            <c:numRef>
              <c:f>[阶段性能与3A5000对比.xlsx]Sheet1!$D$3:$D$15</c:f>
              <c:numCache>
                <c:formatCode>0%</c:formatCode>
                <c:ptCount val="13"/>
                <c:pt idx="0">
                  <c:v>0.256064690026954</c:v>
                </c:pt>
                <c:pt idx="1">
                  <c:v>0.200873362445415</c:v>
                </c:pt>
                <c:pt idx="2">
                  <c:v>0.50788643533123</c:v>
                </c:pt>
                <c:pt idx="3">
                  <c:v>1.03617571059432</c:v>
                </c:pt>
                <c:pt idx="4">
                  <c:v>0.413114754098361</c:v>
                </c:pt>
                <c:pt idx="5">
                  <c:v>0.0686900958466459</c:v>
                </c:pt>
                <c:pt idx="6">
                  <c:v>0.391459074733096</c:v>
                </c:pt>
                <c:pt idx="7">
                  <c:v>0.345454545454547</c:v>
                </c:pt>
                <c:pt idx="8">
                  <c:v>0.0932896890343697</c:v>
                </c:pt>
                <c:pt idx="9">
                  <c:v>0.383292383292385</c:v>
                </c:pt>
                <c:pt idx="10">
                  <c:v>0.250936329588015</c:v>
                </c:pt>
                <c:pt idx="11">
                  <c:v>0.21558872305141</c:v>
                </c:pt>
                <c:pt idx="12">
                  <c:v>0.32809071726973</c:v>
                </c:pt>
              </c:numCache>
            </c:numRef>
          </c:val>
          <c:smooth val="0"/>
        </c:ser>
        <c:dLbls>
          <c:showLegendKey val="0"/>
          <c:showVal val="1"/>
          <c:showCatName val="0"/>
          <c:showSerName val="0"/>
          <c:showPercent val="0"/>
          <c:showBubbleSize val="0"/>
        </c:dLbls>
        <c:marker val="0"/>
        <c:smooth val="0"/>
        <c:axId val="206336384"/>
        <c:axId val="206337920"/>
      </c:lineChart>
      <c:catAx>
        <c:axId val="206328960"/>
        <c:scaling>
          <c:orientation val="minMax"/>
        </c:scaling>
        <c:delete val="0"/>
        <c:axPos val="b"/>
        <c:majorTickMark val="none"/>
        <c:minorTickMark val="none"/>
        <c:tickLblPos val="nextTo"/>
        <c:spPr>
          <a:noFill/>
          <a:ln w="9525" cap="flat" cmpd="sng" algn="ctr">
            <a:solidFill>
              <a:sysClr val="windowText" lastClr="000000">
                <a:lumMod val="15000"/>
                <a:lumOff val="85000"/>
              </a:sysClr>
            </a:solidFill>
            <a:prstDash val="solid"/>
            <a:round/>
          </a:ln>
          <a:effectLst/>
        </c:spPr>
        <c:txPr>
          <a:bodyPr rot="-60000000" spcFirstLastPara="0" vertOverflow="ellipsis" vert="horz" wrap="square" anchor="ctr" anchorCtr="1"/>
          <a:lstStyle/>
          <a:p>
            <a:pPr>
              <a:defRPr lang="zh-CN" sz="600" b="0" i="0" u="none" strike="noStrike" kern="1200" baseline="0">
                <a:solidFill>
                  <a:sysClr val="windowText" lastClr="000000">
                    <a:lumMod val="65000"/>
                    <a:lumOff val="35000"/>
                  </a:sysClr>
                </a:solidFill>
                <a:latin typeface="FreeSans" panose="020B0504020202020204" charset="0"/>
                <a:ea typeface="FreeSans" panose="020B0504020202020204" charset="0"/>
                <a:cs typeface="FreeSans" panose="020B0504020202020204" charset="0"/>
                <a:sym typeface="FreeSans" panose="020B0504020202020204" charset="0"/>
              </a:defRPr>
            </a:pPr>
          </a:p>
        </c:txPr>
        <c:crossAx val="206330496"/>
        <c:crosses val="autoZero"/>
        <c:auto val="1"/>
        <c:lblAlgn val="ctr"/>
        <c:lblOffset val="100"/>
        <c:noMultiLvlLbl val="0"/>
      </c:catAx>
      <c:valAx>
        <c:axId val="206330496"/>
        <c:scaling>
          <c:orientation val="minMax"/>
          <c:max val="200"/>
          <c:min val="0"/>
        </c:scaling>
        <c:delete val="0"/>
        <c:axPos val="l"/>
        <c:majorGridlines>
          <c:spPr>
            <a:ln w="9525" cap="flat" cmpd="sng" algn="ctr">
              <a:solidFill>
                <a:sysClr val="windowText" lastClr="000000">
                  <a:lumMod val="15000"/>
                  <a:lumOff val="85000"/>
                </a:sysClr>
              </a:solidFill>
              <a:prstDash val="solid"/>
              <a:round/>
            </a:ln>
            <a:effectLst/>
          </c:spPr>
        </c:majorGridlines>
        <c:numFmt formatCode="General" sourceLinked="1"/>
        <c:majorTickMark val="none"/>
        <c:minorTickMark val="none"/>
        <c:tickLblPos val="nextTo"/>
        <c:spPr>
          <a:noFill/>
          <a:ln w="9525" cap="flat" cmpd="sng" algn="ctr">
            <a:noFill/>
            <a:prstDash val="solid"/>
            <a:round/>
          </a:ln>
          <a:effectLst/>
        </c:spPr>
        <c:txPr>
          <a:bodyPr rot="-6000000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FreeSans" panose="020B0504020202020204" charset="0"/>
                <a:ea typeface="FreeSans" panose="020B0504020202020204" charset="0"/>
                <a:cs typeface="FreeSans" panose="020B0504020202020204" charset="0"/>
                <a:sym typeface="FreeSans" panose="020B0504020202020204" charset="0"/>
              </a:defRPr>
            </a:pPr>
          </a:p>
        </c:txPr>
        <c:crossAx val="206328960"/>
        <c:crosses val="autoZero"/>
        <c:crossBetween val="between"/>
        <c:majorUnit val="40"/>
      </c:valAx>
      <c:catAx>
        <c:axId val="206336384"/>
        <c:scaling>
          <c:orientation val="minMax"/>
        </c:scaling>
        <c:delete val="1"/>
        <c:axPos val="b"/>
        <c:majorTickMark val="out"/>
        <c:minorTickMark val="none"/>
        <c:tickLblPos val="none"/>
        <c:txPr>
          <a:bodyPr rot="-60000000" spcFirstLastPara="0" vertOverflow="ellipsis" vert="horz" wrap="square" anchor="ctr" anchorCtr="1"/>
          <a:lstStyle/>
          <a:p>
            <a:pPr>
              <a:defRPr lang="zh-CN" sz="1000" b="0" i="0" u="none" strike="noStrike" kern="1200" baseline="0">
                <a:solidFill>
                  <a:schemeClr val="tx1"/>
                </a:solidFill>
                <a:latin typeface="FreeSans" panose="020B0504020202020204" charset="0"/>
                <a:ea typeface="FreeSans" panose="020B0504020202020204" charset="0"/>
                <a:cs typeface="FreeSans" panose="020B0504020202020204" charset="0"/>
                <a:sym typeface="FreeSans" panose="020B0504020202020204" charset="0"/>
              </a:defRPr>
            </a:pPr>
          </a:p>
        </c:txPr>
        <c:crossAx val="206337920"/>
        <c:crosses val="autoZero"/>
        <c:auto val="1"/>
        <c:lblAlgn val="ctr"/>
        <c:lblOffset val="100"/>
        <c:noMultiLvlLbl val="0"/>
      </c:catAx>
      <c:valAx>
        <c:axId val="206337920"/>
        <c:scaling>
          <c:orientation val="minMax"/>
          <c:min val="-2.5"/>
        </c:scaling>
        <c:delete val="0"/>
        <c:axPos val="r"/>
        <c:numFmt formatCode="0%" sourceLinked="1"/>
        <c:majorTickMark val="out"/>
        <c:minorTickMark val="none"/>
        <c:tickLblPos val="none"/>
        <c:spPr>
          <a:noFill/>
          <a:ln w="9525" cap="flat" cmpd="sng" algn="ctr">
            <a:noFill/>
            <a:prstDash val="solid"/>
            <a:round/>
          </a:ln>
          <a:effectLst/>
        </c:spPr>
        <c:txPr>
          <a:bodyPr rot="-6000000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FreeSans" panose="020B0504020202020204" charset="0"/>
                <a:ea typeface="FreeSans" panose="020B0504020202020204" charset="0"/>
                <a:cs typeface="FreeSans" panose="020B0504020202020204" charset="0"/>
                <a:sym typeface="FreeSans" panose="020B0504020202020204" charset="0"/>
              </a:defRPr>
            </a:pPr>
          </a:p>
        </c:txPr>
        <c:crossAx val="206336384"/>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FreeSans" panose="020B0504020202020204" charset="0"/>
                <a:ea typeface="FreeSans" panose="020B0504020202020204" charset="0"/>
                <a:cs typeface="FreeSans" panose="020B0504020202020204" charset="0"/>
                <a:sym typeface="FreeSans" panose="020B0504020202020204" charset="0"/>
              </a:defRPr>
            </a:pPr>
          </a:p>
        </c:txPr>
      </c:legendEntry>
      <c:legendEntry>
        <c:idx val="1"/>
        <c:txPr>
          <a:bodyPr rot="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FreeSans" panose="020B0504020202020204" charset="0"/>
                <a:ea typeface="FreeSans" panose="020B0504020202020204" charset="0"/>
                <a:cs typeface="FreeSans" panose="020B0504020202020204" charset="0"/>
                <a:sym typeface="FreeSans" panose="020B0504020202020204" charset="0"/>
              </a:defRPr>
            </a:pPr>
          </a:p>
        </c:txPr>
      </c:legendEntry>
      <c:legendEntry>
        <c:idx val="2"/>
        <c:txPr>
          <a:bodyPr rot="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FreeSans" panose="020B0504020202020204" charset="0"/>
                <a:ea typeface="FreeSans" panose="020B0504020202020204" charset="0"/>
                <a:cs typeface="FreeSans" panose="020B0504020202020204" charset="0"/>
                <a:sym typeface="FreeSans" panose="020B0504020202020204" charset="0"/>
              </a:defRPr>
            </a:pPr>
          </a:p>
        </c:txPr>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ysClr val="windowText" lastClr="000000">
                  <a:lumMod val="65000"/>
                  <a:lumOff val="35000"/>
                </a:sysClr>
              </a:solidFill>
              <a:latin typeface="FreeSans" panose="020B0504020202020204" charset="0"/>
              <a:ea typeface="FreeSans" panose="020B0504020202020204" charset="0"/>
              <a:cs typeface="FreeSans" panose="020B0504020202020204" charset="0"/>
              <a:sym typeface="FreeSans" panose="020B0504020202020204" charset="0"/>
            </a:defRPr>
          </a:pPr>
        </a:p>
      </c:txPr>
    </c:legend>
    <c:plotVisOnly val="1"/>
    <c:dispBlanksAs val="gap"/>
    <c:showDLblsOverMax val="0"/>
  </c:chart>
  <c:spPr>
    <a:solidFill>
      <a:sysClr val="window" lastClr="FFFFFF"/>
    </a:solidFill>
    <a:ln w="9525" cap="flat" cmpd="sng" algn="ctr">
      <a:solidFill>
        <a:sysClr val="windowText" lastClr="000000">
          <a:lumMod val="15000"/>
          <a:lumOff val="85000"/>
        </a:sysClr>
      </a:solidFill>
      <a:round/>
    </a:ln>
    <a:effectLst/>
  </c:spPr>
  <c:txPr>
    <a:bodyPr/>
    <a:lstStyle/>
    <a:p>
      <a:pPr>
        <a:defRPr lang="zh-CN">
          <a:latin typeface="FreeSans" panose="020B0504020202020204" charset="0"/>
          <a:ea typeface="FreeSans" panose="020B0504020202020204" charset="0"/>
          <a:cs typeface="FreeSans" panose="020B0504020202020204" charset="0"/>
          <a:sym typeface="FreeSans" panose="020B0504020202020204" charset="0"/>
        </a:defRPr>
      </a:pPr>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34.emf"/><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073" name="AutoShape 1"/>
          <p:cNvSpPr>
            <a:spLocks noChangeArrowheads="1"/>
          </p:cNvSpPr>
          <p:nvPr/>
        </p:nvSpPr>
        <p:spPr bwMode="auto">
          <a:xfrm>
            <a:off x="0" y="0"/>
            <a:ext cx="6858000" cy="9144000"/>
          </a:xfrm>
          <a:prstGeom prst="roundRect">
            <a:avLst>
              <a:gd name="adj" fmla="val 23"/>
            </a:avLst>
          </a:prstGeom>
          <a:solidFill>
            <a:srgbClr val="FFFFFF"/>
          </a:solidFill>
          <a:ln w="9360">
            <a:noFill/>
            <a:miter lim="800000"/>
          </a:ln>
          <a:effectLst/>
        </p:spPr>
        <p:txBody>
          <a:bodyPr wrap="none" anchor="ctr"/>
          <a:lstStyle/>
          <a:p>
            <a:pPr marL="0" marR="0" lvl="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defRPr/>
            </a:pPr>
            <a:endParaRPr kumimoji="0" lang="zh-CN" altLang="en-US" sz="2400" b="0" i="0" u="none" strike="noStrike" kern="1200" cap="none" spc="0" normalizeH="0" baseline="0" noProof="0">
              <a:ln>
                <a:noFill/>
              </a:ln>
              <a:solidFill>
                <a:schemeClr val="bg1"/>
              </a:solidFill>
              <a:effectLst/>
              <a:uLnTx/>
              <a:uFillTx/>
              <a:latin typeface="Times New Roman" pitchFamily="18" charset="0"/>
              <a:ea typeface="宋体" panose="02000500000000000000" pitchFamily="2" charset="-122"/>
              <a:cs typeface="+mn-cs"/>
            </a:endParaRPr>
          </a:p>
        </p:txBody>
      </p:sp>
      <p:sp>
        <p:nvSpPr>
          <p:cNvPr id="3074" name="AutoShape 2"/>
          <p:cNvSpPr>
            <a:spLocks noChangeArrowheads="1"/>
          </p:cNvSpPr>
          <p:nvPr/>
        </p:nvSpPr>
        <p:spPr bwMode="auto">
          <a:xfrm>
            <a:off x="0" y="0"/>
            <a:ext cx="6858000" cy="9144000"/>
          </a:xfrm>
          <a:prstGeom prst="roundRect">
            <a:avLst>
              <a:gd name="adj" fmla="val 23"/>
            </a:avLst>
          </a:prstGeom>
          <a:solidFill>
            <a:srgbClr val="FFFFFF"/>
          </a:solidFill>
          <a:ln w="9525">
            <a:noFill/>
            <a:round/>
          </a:ln>
          <a:effectLst/>
        </p:spPr>
        <p:txBody>
          <a:bodyPr wrap="none" anchor="ctr"/>
          <a:lstStyle/>
          <a:p>
            <a:pPr marL="0" marR="0" lvl="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defRPr/>
            </a:pPr>
            <a:endParaRPr kumimoji="0" lang="zh-CN" altLang="en-US" sz="2400" b="0" i="0" u="none" strike="noStrike" kern="1200" cap="none" spc="0" normalizeH="0" baseline="0" noProof="0">
              <a:ln>
                <a:noFill/>
              </a:ln>
              <a:solidFill>
                <a:schemeClr val="bg1"/>
              </a:solidFill>
              <a:effectLst/>
              <a:uLnTx/>
              <a:uFillTx/>
              <a:latin typeface="Times New Roman" pitchFamily="18" charset="0"/>
              <a:ea typeface="宋体" panose="02000500000000000000" pitchFamily="2" charset="-122"/>
              <a:cs typeface="+mn-cs"/>
            </a:endParaRPr>
          </a:p>
        </p:txBody>
      </p:sp>
      <p:sp>
        <p:nvSpPr>
          <p:cNvPr id="3075" name="AutoShape 3"/>
          <p:cNvSpPr>
            <a:spLocks noChangeArrowheads="1"/>
          </p:cNvSpPr>
          <p:nvPr/>
        </p:nvSpPr>
        <p:spPr bwMode="auto">
          <a:xfrm>
            <a:off x="0" y="0"/>
            <a:ext cx="6858000" cy="9144000"/>
          </a:xfrm>
          <a:prstGeom prst="roundRect">
            <a:avLst>
              <a:gd name="adj" fmla="val 23"/>
            </a:avLst>
          </a:prstGeom>
          <a:solidFill>
            <a:srgbClr val="FFFFFF"/>
          </a:solidFill>
          <a:ln w="9525">
            <a:noFill/>
            <a:round/>
          </a:ln>
          <a:effectLst/>
        </p:spPr>
        <p:txBody>
          <a:bodyPr wrap="none" anchor="ctr"/>
          <a:lstStyle/>
          <a:p>
            <a:pPr marL="0" marR="0" lvl="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defRPr/>
            </a:pPr>
            <a:endParaRPr kumimoji="0" lang="zh-CN" altLang="en-US" sz="2400" b="0" i="0" u="none" strike="noStrike" kern="1200" cap="none" spc="0" normalizeH="0" baseline="0" noProof="0">
              <a:ln>
                <a:noFill/>
              </a:ln>
              <a:solidFill>
                <a:schemeClr val="bg1"/>
              </a:solidFill>
              <a:effectLst/>
              <a:uLnTx/>
              <a:uFillTx/>
              <a:latin typeface="Times New Roman" pitchFamily="18" charset="0"/>
              <a:ea typeface="宋体" panose="02000500000000000000" pitchFamily="2" charset="-122"/>
              <a:cs typeface="+mn-cs"/>
            </a:endParaRPr>
          </a:p>
        </p:txBody>
      </p:sp>
      <p:sp>
        <p:nvSpPr>
          <p:cNvPr id="3076" name="Rectangle 4"/>
          <p:cNvSpPr>
            <a:spLocks noGrp="1" noChangeArrowheads="1"/>
          </p:cNvSpPr>
          <p:nvPr>
            <p:ph type="hdr"/>
          </p:nvPr>
        </p:nvSpPr>
        <p:spPr bwMode="auto">
          <a:xfrm>
            <a:off x="0" y="0"/>
            <a:ext cx="2967038" cy="452438"/>
          </a:xfrm>
          <a:prstGeom prst="rect">
            <a:avLst/>
          </a:prstGeom>
          <a:noFill/>
          <a:ln w="9525">
            <a:noFill/>
            <a:round/>
          </a:ln>
          <a:effectLst/>
        </p:spPr>
        <p:txBody>
          <a:bodyPr vert="horz" wrap="square" lIns="90000" tIns="46800" rIns="90000" bIns="46800" numCol="1" anchor="t" anchorCtr="0" compatLnSpc="1"/>
          <a:lstStyle>
            <a:lvl1pPr defTabSz="265430">
              <a:buClr>
                <a:srgbClr val="000000"/>
              </a:buCl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sz="1200">
                <a:solidFill>
                  <a:srgbClr val="000000"/>
                </a:solidFill>
              </a:defRPr>
            </a:lvl1pPr>
          </a:lstStyle>
          <a:p>
            <a:pPr marL="0" marR="0" lvl="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zh-CN" altLang="en-GB" sz="12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3077" name="Rectangle 5"/>
          <p:cNvSpPr>
            <a:spLocks noGrp="1" noChangeArrowheads="1"/>
          </p:cNvSpPr>
          <p:nvPr>
            <p:ph type="dt"/>
          </p:nvPr>
        </p:nvSpPr>
        <p:spPr bwMode="auto">
          <a:xfrm>
            <a:off x="3884613" y="0"/>
            <a:ext cx="2967038" cy="452438"/>
          </a:xfrm>
          <a:prstGeom prst="rect">
            <a:avLst/>
          </a:prstGeom>
          <a:noFill/>
          <a:ln w="9525">
            <a:noFill/>
            <a:round/>
          </a:ln>
          <a:effectLst/>
        </p:spPr>
        <p:txBody>
          <a:bodyPr vert="horz" wrap="square" lIns="90000" tIns="46800" rIns="90000" bIns="46800" numCol="1" anchor="t" anchorCtr="0" compatLnSpc="1"/>
          <a:lstStyle>
            <a:lvl1pPr algn="r" defTabSz="265430">
              <a:buClr>
                <a:srgbClr val="000000"/>
              </a:buCl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sz="1200">
                <a:solidFill>
                  <a:srgbClr val="000000"/>
                </a:solidFill>
              </a:defRPr>
            </a:lvl1pPr>
          </a:lstStyle>
          <a:p>
            <a:pPr marL="0" marR="0" lvl="0" indent="0" algn="r"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2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47111" name="Rectangle 6"/>
          <p:cNvSpPr>
            <a:spLocks noGrp="1"/>
          </p:cNvSpPr>
          <p:nvPr>
            <p:ph type="sldImg"/>
          </p:nvPr>
        </p:nvSpPr>
        <p:spPr>
          <a:xfrm>
            <a:off x="384175" y="685800"/>
            <a:ext cx="6084888" cy="3424238"/>
          </a:xfrm>
          <a:prstGeom prst="rect">
            <a:avLst/>
          </a:prstGeom>
          <a:solidFill>
            <a:srgbClr val="FFFFFF"/>
          </a:solidFill>
          <a:ln w="9360" cap="flat" cmpd="sng">
            <a:solidFill>
              <a:srgbClr val="000000"/>
            </a:solidFill>
            <a:prstDash val="solid"/>
            <a:miter/>
            <a:headEnd type="none" w="med" len="med"/>
            <a:tailEnd type="none" w="med" len="med"/>
          </a:ln>
        </p:spPr>
      </p:sp>
      <p:sp>
        <p:nvSpPr>
          <p:cNvPr id="3080" name="Rectangle 7"/>
          <p:cNvSpPr>
            <a:spLocks noGrp="1" noChangeArrowheads="1"/>
          </p:cNvSpPr>
          <p:nvPr>
            <p:ph type="body" idx="4294967295"/>
          </p:nvPr>
        </p:nvSpPr>
        <p:spPr bwMode="auto">
          <a:xfrm>
            <a:off x="685800" y="4343400"/>
            <a:ext cx="5481638" cy="4110038"/>
          </a:xfrm>
          <a:prstGeom prst="rect">
            <a:avLst/>
          </a:prstGeom>
          <a:noFill/>
          <a:ln w="9525">
            <a:noFill/>
            <a:round/>
          </a:ln>
        </p:spPr>
        <p:txBody>
          <a:bodyPr vert="horz" wrap="square" lIns="90000" tIns="46800" rIns="90000" bIns="46800" numCol="1" anchor="t" anchorCtr="0" compatLnSpc="1"/>
          <a:p>
            <a:pPr lvl="0"/>
            <a:endParaRPr lang="zh-CN" altLang="en-US" dirty="0"/>
          </a:p>
        </p:txBody>
      </p:sp>
      <p:sp>
        <p:nvSpPr>
          <p:cNvPr id="2" name="Rectangle 8"/>
          <p:cNvSpPr>
            <a:spLocks noGrp="1" noChangeArrowheads="1"/>
          </p:cNvSpPr>
          <p:nvPr>
            <p:ph type="ftr"/>
          </p:nvPr>
        </p:nvSpPr>
        <p:spPr bwMode="auto">
          <a:xfrm>
            <a:off x="0" y="8685213"/>
            <a:ext cx="2967038" cy="452438"/>
          </a:xfrm>
          <a:prstGeom prst="rect">
            <a:avLst/>
          </a:prstGeom>
          <a:noFill/>
          <a:ln w="9525">
            <a:noFill/>
            <a:round/>
          </a:ln>
          <a:effectLst/>
        </p:spPr>
        <p:txBody>
          <a:bodyPr vert="horz" wrap="square" lIns="90000" tIns="46800" rIns="90000" bIns="46800" numCol="1" anchor="b" anchorCtr="0" compatLnSpc="1"/>
          <a:lstStyle>
            <a:lvl1pPr defTabSz="265430">
              <a:buClr>
                <a:srgbClr val="000000"/>
              </a:buCl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sz="1200">
                <a:solidFill>
                  <a:srgbClr val="000000"/>
                </a:solidFill>
              </a:defRPr>
            </a:lvl1pPr>
          </a:lstStyle>
          <a:p>
            <a:pPr marL="0" marR="0" lvl="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2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3081" name="Rectangle 9"/>
          <p:cNvSpPr>
            <a:spLocks noGrp="1" noChangeArrowheads="1"/>
          </p:cNvSpPr>
          <p:nvPr>
            <p:ph type="sldNum"/>
          </p:nvPr>
        </p:nvSpPr>
        <p:spPr bwMode="auto">
          <a:xfrm>
            <a:off x="3884613" y="8685213"/>
            <a:ext cx="2967038" cy="452438"/>
          </a:xfrm>
          <a:prstGeom prst="rect">
            <a:avLst/>
          </a:prstGeom>
          <a:noFill/>
          <a:ln w="9525">
            <a:noFill/>
            <a:round/>
          </a:ln>
          <a:effectLst/>
        </p:spPr>
        <p:txBody>
          <a:bodyPr vert="horz" wrap="square" lIns="90000" tIns="46800" rIns="90000" bIns="46800" numCol="1" anchor="b" anchorCtr="0" compatLnSpc="1"/>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Tree>
  </p:cSld>
  <p:clrMap bg1="lt1" tx1="dk1" bg2="lt2" tx2="dk2" accent1="accent1" accent2="accent2" accent3="accent3" accent4="accent4" accent5="accent5" accent6="accent6" hlink="hlink" folHlink="folHlink"/>
  <p:hf sldNum="0" hdr="0" ftr="0" dt="0"/>
  <p:notesStyle>
    <a:lvl1pPr algn="l" defTabSz="265430" rtl="0" eaLnBrk="0" fontAlgn="base" hangingPunct="0">
      <a:spcBef>
        <a:spcPct val="30000"/>
      </a:spcBef>
      <a:spcAft>
        <a:spcPct val="0"/>
      </a:spcAft>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265430" rtl="0" eaLnBrk="0" fontAlgn="base" hangingPunct="0">
      <a:spcBef>
        <a:spcPct val="30000"/>
      </a:spcBef>
      <a:spcAft>
        <a:spcPct val="0"/>
      </a:spcAft>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265430" rtl="0" eaLnBrk="0" fontAlgn="base" hangingPunct="0">
      <a:spcBef>
        <a:spcPct val="30000"/>
      </a:spcBef>
      <a:spcAft>
        <a:spcPct val="0"/>
      </a:spcAft>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265430" rtl="0" eaLnBrk="0" fontAlgn="base" hangingPunct="0">
      <a:spcBef>
        <a:spcPct val="30000"/>
      </a:spcBef>
      <a:spcAft>
        <a:spcPct val="0"/>
      </a:spcAft>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265430" rtl="0" eaLnBrk="0" fontAlgn="base" hangingPunct="0">
      <a:spcBef>
        <a:spcPct val="30000"/>
      </a:spcBef>
      <a:spcAft>
        <a:spcPct val="0"/>
      </a:spcAft>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8130"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48131"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48132"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9154"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49155"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49156"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0178"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50179" name="Text Box 1"/>
          <p:cNvSpPr txBox="1"/>
          <p:nvPr/>
        </p:nvSpPr>
        <p:spPr>
          <a:xfrm>
            <a:off x="1003300" y="695325"/>
            <a:ext cx="4851400" cy="3427413"/>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50180" name="Rectangle 2"/>
          <p:cNvSpPr/>
          <p:nvPr>
            <p:ph type="body"/>
          </p:nvPr>
        </p:nvSpPr>
        <p:spPr>
          <a:xfrm>
            <a:off x="685800" y="4343400"/>
            <a:ext cx="5457825" cy="4087813"/>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2226"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52227"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52228"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3250"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53251"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53252"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4274"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54275"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54276"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幻灯片图像占位符 1"/>
          <p:cNvSpPr>
            <a:spLocks noGrp="1" noRot="1" noChangeAspect="1" noTextEdit="1"/>
          </p:cNvSpPr>
          <p:nvPr>
            <p:ph type="sldImg"/>
          </p:nvPr>
        </p:nvSpPr>
        <p:spPr/>
      </p:sp>
      <p:sp>
        <p:nvSpPr>
          <p:cNvPr id="55299" name="备注占位符 2"/>
          <p:cNvSpPr>
            <a:spLocks noGrp="1"/>
          </p:cNvSpPr>
          <p:nvPr>
            <p:ph type="body"/>
          </p:nvPr>
        </p:nvSpPr>
        <p:spPr/>
        <p:txBody>
          <a:bodyPr wrap="square" lIns="90000" tIns="46800" rIns="90000" bIns="46800" anchor="t" anchorCtr="0"/>
          <a:p>
            <a:pPr lvl="0"/>
            <a:endParaRPr lang="zh-CN" altLang="en-US" dirty="0">
              <a:ea typeface="宋体" panose="02000500000000000000" pitchFamily="2" charset="-122"/>
            </a:endParaRPr>
          </a:p>
        </p:txBody>
      </p:sp>
      <p:sp>
        <p:nvSpPr>
          <p:cNvPr id="55300" name="灯片编号占位符 3"/>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eaLnBrk="1" hangingPunct="1"/>
            <a:fld id="{9A0DB2DC-4C9A-4742-B13C-FB6460FD3503}" type="slidenum">
              <a:rPr lang="en-GB" altLang="zh-CN" dirty="0"/>
            </a:fld>
            <a:endParaRPr lang="en-GB"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6322"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56323"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56324"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7346"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57347"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57348"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8370"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58371"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58372"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9394"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59395"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59396"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0418"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60419"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60420"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1442"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61443" name="Text Box 2"/>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61444" name="Rectangle 3"/>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2466"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62467"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62468"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3490"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63491"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63492"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4514"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64515"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64516"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5538"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65539"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65540"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6562"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66563"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66564"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7586"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67587"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67588"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8610"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68611"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68612"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9634"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69635"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69636"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0658"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70659"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70660"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1682"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71683"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71684"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2706"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72707"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72708"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3730"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73731"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73732"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4754"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74755" name="Text Box 2"/>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74756" name="Rectangle 3"/>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5778"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75779"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75780"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6802"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76803"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76804"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7826"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77827"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77828"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8850" name="Rectangle 9"/>
          <p:cNvSpPr txBox="1">
            <a:spLocks noGrp="1"/>
          </p:cNvSpPr>
          <p:nvPr>
            <p:ph type="sldNum" sz="quarter"/>
          </p:nvPr>
        </p:nvSpPr>
        <p:spPr>
          <a:xfrm>
            <a:off x="3884613" y="8685213"/>
            <a:ext cx="2967037" cy="452437"/>
          </a:xfrm>
          <a:prstGeom prst="rect">
            <a:avLst/>
          </a:prstGeom>
          <a:noFill/>
          <a:ln w="9525">
            <a:noFill/>
          </a:ln>
        </p:spPr>
        <p:txBody>
          <a:bodyPr lIns="90000" tIns="46800" rIns="90000" bIns="46800" anchor="b" anchorCtr="0"/>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200" dirty="0">
                <a:solidFill>
                  <a:srgbClr val="000000"/>
                </a:solidFill>
              </a:rPr>
            </a:fld>
            <a:endParaRPr lang="zh-CN" altLang="en-GB" sz="1200" dirty="0">
              <a:solidFill>
                <a:srgbClr val="000000"/>
              </a:solidFill>
            </a:endParaRPr>
          </a:p>
        </p:txBody>
      </p:sp>
      <p:sp>
        <p:nvSpPr>
          <p:cNvPr id="78851" name="Text Box 1"/>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pPr lvl="0" eaLnBrk="1" hangingPunct="1"/>
            <a:endParaRPr lang="zh-CN" altLang="en-US" dirty="0"/>
          </a:p>
        </p:txBody>
      </p:sp>
      <p:sp>
        <p:nvSpPr>
          <p:cNvPr id="78852" name="Rectangle 2"/>
          <p:cNvSpPr/>
          <p:nvPr>
            <p:ph type="body"/>
          </p:nvPr>
        </p:nvSpPr>
        <p:spPr>
          <a:xfrm>
            <a:off x="685800" y="4343400"/>
            <a:ext cx="5483225" cy="4111625"/>
          </a:xfrm>
        </p:spPr>
        <p:txBody>
          <a:bodyPr wrap="none" lIns="90000" tIns="46800" rIns="90000" bIns="46800" anchor="ctr" anchorCtr="0"/>
          <a:p>
            <a:pPr lvl="0"/>
            <a:endParaRPr lang="zh-CN" altLang="en-US" dirty="0">
              <a:ea typeface="宋体" panose="02000500000000000000"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lvl1pPr>
              <a:lnSpc>
                <a:spcPct val="150000"/>
              </a:lnSpc>
              <a:spcBef>
                <a:spcPts val="0"/>
              </a:spcBef>
              <a:defRPr sz="2400"/>
            </a:lvl1pPr>
            <a:lvl2pPr>
              <a:lnSpc>
                <a:spcPct val="150000"/>
              </a:lnSpc>
              <a:spcBef>
                <a:spcPts val="0"/>
              </a:spcBef>
              <a:defRPr sz="2000"/>
            </a:lvl2pPr>
            <a:lvl3pPr>
              <a:lnSpc>
                <a:spcPct val="150000"/>
              </a:lnSpc>
              <a:spcBef>
                <a:spcPts val="0"/>
              </a:spcBef>
              <a:defRPr sz="1800"/>
            </a:lvl3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p:txBody>
      </p:sp>
      <p:sp>
        <p:nvSpPr>
          <p:cNvPr id="4" name="日期占位符 3"/>
          <p:cNvSpPr>
            <a:spLocks noGrp="1"/>
          </p:cNvSpPr>
          <p:nvPr>
            <p:ph type="dt" idx="10"/>
          </p:nvPr>
        </p:nvSpPr>
        <p:spPr/>
        <p:txBody>
          <a:bodyPr/>
          <a:p>
            <a:pPr marL="0" marR="0" lvl="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idx="11"/>
          </p:nvPr>
        </p:nvSpPr>
        <p:spPr/>
        <p:txBody>
          <a:bodyPr/>
          <a:p>
            <a:pPr marL="0" marR="0" lvl="0" indent="0" algn="ctr"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idx="12"/>
          </p:nvPr>
        </p:nvSpPr>
        <p:spPr/>
        <p:txBody>
          <a:bodyPr/>
          <a:p>
            <a:pPr lvl="0" eaLnBrk="1" hangingPunct="1"/>
            <a:fld id="{9A0DB2DC-4C9A-4742-B13C-FB6460FD3503}" type="slidenum">
              <a:rPr lang="zh-CN" altLang="en-GB" dirty="0">
                <a:latin typeface="Times New Roman" pitchFamily="18" charset="0"/>
              </a:rPr>
            </a:fld>
            <a:endParaRPr lang="zh-CN" altLang="en-GB" dirty="0">
              <a:latin typeface="Times New Roman"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idx="10"/>
          </p:nvPr>
        </p:nvSpPr>
        <p:spPr/>
        <p:txBody>
          <a:bodyPr/>
          <a:p>
            <a:pPr marL="0" marR="0" lvl="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4" name="页脚占位符 3"/>
          <p:cNvSpPr>
            <a:spLocks noGrp="1"/>
          </p:cNvSpPr>
          <p:nvPr>
            <p:ph type="ftr" idx="11"/>
          </p:nvPr>
        </p:nvSpPr>
        <p:spPr/>
        <p:txBody>
          <a:bodyPr/>
          <a:p>
            <a:pPr marL="0" marR="0" lvl="0" indent="0" algn="ctr"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5" name="灯片编号占位符 4"/>
          <p:cNvSpPr>
            <a:spLocks noGrp="1"/>
          </p:cNvSpPr>
          <p:nvPr>
            <p:ph type="sldNum" idx="12"/>
          </p:nvPr>
        </p:nvSpPr>
        <p:spPr/>
        <p:txBody>
          <a:bodyPr/>
          <a:p>
            <a:pPr lvl="0" eaLnBrk="1" hangingPunct="1"/>
            <a:fld id="{9A0DB2DC-4C9A-4742-B13C-FB6460FD3503}" type="slidenum">
              <a:rPr lang="zh-CN" altLang="en-GB" dirty="0">
                <a:latin typeface="Times New Roman" pitchFamily="18" charset="0"/>
              </a:rPr>
            </a:fld>
            <a:endParaRPr lang="zh-CN" altLang="en-GB" dirty="0">
              <a:latin typeface="Times New Roman"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idx="10"/>
          </p:nvPr>
        </p:nvSpPr>
        <p:spPr/>
        <p:txBody>
          <a:bodyPr/>
          <a:p>
            <a:pPr marL="0" marR="0" lvl="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3" name="页脚占位符 2"/>
          <p:cNvSpPr>
            <a:spLocks noGrp="1"/>
          </p:cNvSpPr>
          <p:nvPr>
            <p:ph type="ftr" idx="11"/>
          </p:nvPr>
        </p:nvSpPr>
        <p:spPr/>
        <p:txBody>
          <a:bodyPr/>
          <a:p>
            <a:pPr marL="0" marR="0" lvl="0" indent="0" algn="ctr"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4" name="灯片编号占位符 3"/>
          <p:cNvSpPr>
            <a:spLocks noGrp="1"/>
          </p:cNvSpPr>
          <p:nvPr>
            <p:ph type="sldNum" idx="12"/>
          </p:nvPr>
        </p:nvSpPr>
        <p:spPr/>
        <p:txBody>
          <a:bodyPr/>
          <a:p>
            <a:pPr lvl="0" eaLnBrk="1" hangingPunct="1"/>
            <a:fld id="{9A0DB2DC-4C9A-4742-B13C-FB6460FD3503}" type="slidenum">
              <a:rPr lang="zh-CN" altLang="en-GB" dirty="0">
                <a:latin typeface="Times New Roman" pitchFamily="18" charset="0"/>
              </a:rPr>
            </a:fld>
            <a:endParaRPr lang="zh-CN" altLang="en-GB" dirty="0">
              <a:latin typeface="Times New Roman"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96511" y="284163"/>
            <a:ext cx="10358491" cy="1054100"/>
          </a:xfrm>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idx="10"/>
          </p:nvPr>
        </p:nvSpPr>
        <p:spPr/>
        <p:txBody>
          <a:bodyPr/>
          <a:p>
            <a:pPr marL="0" marR="0" lvl="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4" name="页脚占位符 3"/>
          <p:cNvSpPr>
            <a:spLocks noGrp="1"/>
          </p:cNvSpPr>
          <p:nvPr>
            <p:ph type="ftr" idx="11"/>
          </p:nvPr>
        </p:nvSpPr>
        <p:spPr/>
        <p:txBody>
          <a:bodyPr/>
          <a:p>
            <a:pPr marL="0" marR="0" lvl="0" indent="0" algn="ctr"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5" name="灯片编号占位符 4"/>
          <p:cNvSpPr>
            <a:spLocks noGrp="1"/>
          </p:cNvSpPr>
          <p:nvPr>
            <p:ph type="sldNum" idx="12"/>
          </p:nvPr>
        </p:nvSpPr>
        <p:spPr/>
        <p:txBody>
          <a:bodyPr/>
          <a:p>
            <a:pPr lvl="0" eaLnBrk="1" hangingPunct="1"/>
            <a:fld id="{9A0DB2DC-4C9A-4742-B13C-FB6460FD3503}" type="slidenum">
              <a:rPr lang="zh-CN" altLang="en-GB" dirty="0">
                <a:latin typeface="Times New Roman" pitchFamily="18" charset="0"/>
              </a:rPr>
            </a:fld>
            <a:endParaRPr lang="zh-CN" altLang="en-GB" dirty="0">
              <a:latin typeface="Times New Roman"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96511" y="284163"/>
            <a:ext cx="10358491" cy="1054100"/>
          </a:xfrm>
        </p:spPr>
        <p:txBody>
          <a:bodyPr/>
          <a:lstStyle/>
          <a:p>
            <a:r>
              <a:rPr lang="zh-CN" altLang="en-US" noProof="1" smtClean="0"/>
              <a:t>单击此处编辑母版标题样式</a:t>
            </a:r>
            <a:endParaRPr lang="zh-CN" altLang="en-US" noProof="1"/>
          </a:p>
        </p:txBody>
      </p:sp>
      <p:sp>
        <p:nvSpPr>
          <p:cNvPr id="3" name="表格占位符 2"/>
          <p:cNvSpPr>
            <a:spLocks noGrp="1"/>
          </p:cNvSpPr>
          <p:nvPr>
            <p:ph type="tbl" idx="1"/>
          </p:nvPr>
        </p:nvSpPr>
        <p:spPr>
          <a:xfrm>
            <a:off x="914194" y="1717675"/>
            <a:ext cx="10358491" cy="4719638"/>
          </a:xfrm>
        </p:spPr>
        <p:txBody>
          <a:bodyPr vert="horz" wrap="square" lIns="90000" tIns="46800" rIns="90000" bIns="46800" numCol="1" anchor="t" anchorCtr="0" compatLnSpc="1"/>
          <a:lstStyle/>
          <a:p>
            <a:pPr marL="338455" marR="0" lvl="0" indent="-338455" algn="l" defTabSz="265430" rtl="0" eaLnBrk="0" fontAlgn="base" latinLnBrk="0" hangingPunct="0">
              <a:lnSpc>
                <a:spcPct val="110000"/>
              </a:lnSpc>
              <a:spcBef>
                <a:spcPct val="10000"/>
              </a:spcBef>
              <a:spcAft>
                <a:spcPct val="0"/>
              </a:spcAft>
              <a:buClrTx/>
              <a:buSzPct val="100000"/>
              <a:buFontTx/>
              <a:buChar char="•"/>
              <a:defRPr/>
            </a:pPr>
            <a:endParaRPr kumimoji="0" lang="zh-CN" altLang="en-US" sz="2800" b="1" i="0" u="none" strike="noStrike" kern="0" cap="none" spc="0" normalizeH="0" baseline="0" noProof="0" smtClean="0">
              <a:ln>
                <a:noFill/>
              </a:ln>
              <a:solidFill>
                <a:srgbClr val="000000"/>
              </a:solidFill>
              <a:effectLst/>
              <a:uLnTx/>
              <a:uFillTx/>
              <a:latin typeface="+mn-lt"/>
              <a:ea typeface="+mn-ea"/>
              <a:cs typeface="+mn-cs"/>
            </a:endParaRPr>
          </a:p>
        </p:txBody>
      </p:sp>
      <p:sp>
        <p:nvSpPr>
          <p:cNvPr id="4" name="日期占位符 3"/>
          <p:cNvSpPr>
            <a:spLocks noGrp="1"/>
          </p:cNvSpPr>
          <p:nvPr>
            <p:ph type="dt" idx="10"/>
          </p:nvPr>
        </p:nvSpPr>
        <p:spPr/>
        <p:txBody>
          <a:bodyPr/>
          <a:p>
            <a:pPr marL="0" marR="0" lvl="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idx="11"/>
          </p:nvPr>
        </p:nvSpPr>
        <p:spPr/>
        <p:txBody>
          <a:bodyPr/>
          <a:p>
            <a:pPr marL="0" marR="0" lvl="0" indent="0" algn="ctr"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idx="12"/>
          </p:nvPr>
        </p:nvSpPr>
        <p:spPr/>
        <p:txBody>
          <a:bodyPr/>
          <a:p>
            <a:pPr lvl="0" eaLnBrk="1" hangingPunct="1"/>
            <a:fld id="{9A0DB2DC-4C9A-4742-B13C-FB6460FD3503}" type="slidenum">
              <a:rPr lang="zh-CN" altLang="en-GB" dirty="0">
                <a:latin typeface="Times New Roman" pitchFamily="18" charset="0"/>
              </a:rPr>
            </a:fld>
            <a:endParaRPr lang="zh-CN" altLang="en-GB" dirty="0">
              <a:latin typeface="Times New Roman"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Grp="1"/>
          </p:cNvSpPr>
          <p:nvPr>
            <p:ph type="title"/>
          </p:nvPr>
        </p:nvSpPr>
        <p:spPr>
          <a:xfrm>
            <a:off x="896938" y="284163"/>
            <a:ext cx="10358437" cy="1054100"/>
          </a:xfrm>
          <a:prstGeom prst="rect">
            <a:avLst/>
          </a:prstGeom>
          <a:noFill/>
          <a:ln w="9525">
            <a:noFill/>
          </a:ln>
        </p:spPr>
        <p:txBody>
          <a:bodyPr lIns="90000" tIns="46800" rIns="90000" bIns="46800" anchor="ctr" anchorCtr="0"/>
          <a:p>
            <a:pPr lvl="0"/>
            <a:r>
              <a:rPr lang="zh-CN" altLang="en-GB" dirty="0"/>
              <a:t>单击鼠标编辑标题文的格式</a:t>
            </a:r>
            <a:endParaRPr lang="zh-CN" altLang="en-GB" dirty="0"/>
          </a:p>
        </p:txBody>
      </p:sp>
      <p:sp>
        <p:nvSpPr>
          <p:cNvPr id="8195" name="Rectangle 2"/>
          <p:cNvSpPr>
            <a:spLocks noGrp="1"/>
          </p:cNvSpPr>
          <p:nvPr>
            <p:ph type="body"/>
          </p:nvPr>
        </p:nvSpPr>
        <p:spPr>
          <a:xfrm>
            <a:off x="914400" y="1717675"/>
            <a:ext cx="10358438" cy="4719638"/>
          </a:xfrm>
          <a:prstGeom prst="rect">
            <a:avLst/>
          </a:prstGeom>
          <a:noFill/>
          <a:ln w="9525">
            <a:noFill/>
          </a:ln>
        </p:spPr>
        <p:txBody>
          <a:bodyPr lIns="90000" tIns="46800" rIns="90000" bIns="46800"/>
          <a:p>
            <a:pPr lvl="0"/>
            <a:r>
              <a:rPr lang="zh-CN" altLang="en-GB" dirty="0"/>
              <a:t>单击鼠标编辑大纲正文格式</a:t>
            </a:r>
            <a:endParaRPr lang="zh-CN" altLang="en-GB" dirty="0"/>
          </a:p>
          <a:p>
            <a:pPr lvl="1"/>
            <a:r>
              <a:rPr lang="zh-CN" altLang="en-GB" dirty="0"/>
              <a:t>第二个大纲级</a:t>
            </a:r>
            <a:endParaRPr lang="zh-CN" altLang="en-GB" dirty="0"/>
          </a:p>
        </p:txBody>
      </p:sp>
      <p:sp>
        <p:nvSpPr>
          <p:cNvPr id="2" name="Rectangle 3"/>
          <p:cNvSpPr>
            <a:spLocks noGrp="1" noChangeArrowheads="1"/>
          </p:cNvSpPr>
          <p:nvPr>
            <p:ph type="dt"/>
          </p:nvPr>
        </p:nvSpPr>
        <p:spPr bwMode="auto">
          <a:xfrm>
            <a:off x="914400" y="6248400"/>
            <a:ext cx="2533650" cy="452438"/>
          </a:xfrm>
          <a:prstGeom prst="rect">
            <a:avLst/>
          </a:prstGeom>
          <a:noFill/>
          <a:ln w="9525">
            <a:noFill/>
            <a:round/>
          </a:ln>
          <a:effectLst/>
        </p:spPr>
        <p:txBody>
          <a:bodyPr vert="horz" wrap="square" lIns="90000" tIns="46800" rIns="90000" bIns="46800" numCol="1" anchor="t" anchorCtr="0" compatLnSpc="1"/>
          <a:lstStyle>
            <a:lvl1pPr defTabSz="265430">
              <a:buClr>
                <a:srgbClr val="000000"/>
              </a:buCl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sz="1400">
                <a:solidFill>
                  <a:srgbClr val="000000"/>
                </a:solidFill>
              </a:defRPr>
            </a:lvl1pPr>
          </a:lstStyle>
          <a:p>
            <a:pPr marL="0" marR="0" lvl="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1028" name="Rectangle 4"/>
          <p:cNvSpPr>
            <a:spLocks noGrp="1" noChangeArrowheads="1"/>
          </p:cNvSpPr>
          <p:nvPr>
            <p:ph type="ftr"/>
          </p:nvPr>
        </p:nvSpPr>
        <p:spPr bwMode="auto">
          <a:xfrm>
            <a:off x="4164013" y="6248400"/>
            <a:ext cx="3854450" cy="452438"/>
          </a:xfrm>
          <a:prstGeom prst="rect">
            <a:avLst/>
          </a:prstGeom>
          <a:noFill/>
          <a:ln w="9525">
            <a:noFill/>
            <a:round/>
          </a:ln>
          <a:effectLst/>
        </p:spPr>
        <p:txBody>
          <a:bodyPr vert="horz" wrap="square" lIns="90000" tIns="46800" rIns="90000" bIns="46800" numCol="1" anchor="t" anchorCtr="0" compatLnSpc="1"/>
          <a:lstStyle>
            <a:lvl1pPr algn="ctr" defTabSz="265430">
              <a:buClr>
                <a:srgbClr val="000000"/>
              </a:buCl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sz="1400">
                <a:solidFill>
                  <a:srgbClr val="000000"/>
                </a:solidFill>
              </a:defRPr>
            </a:lvl1pPr>
          </a:lstStyle>
          <a:p>
            <a:pPr marL="0" marR="0" lvl="0" indent="0" algn="ctr" defTabSz="265430" rtl="0" eaLnBrk="1" fontAlgn="base" latinLnBrk="0" hangingPunct="1">
              <a:lnSpc>
                <a:spcPct val="100000"/>
              </a:lnSpc>
              <a:spcBef>
                <a:spcPct val="0"/>
              </a:spcBef>
              <a:spcAft>
                <a:spcPct val="0"/>
              </a:spcAft>
              <a:buClr>
                <a:srgbClr val="000000"/>
              </a:buClr>
              <a:buSzPct val="100000"/>
              <a:buFont typeface="Times New Roman" pitchFamily="18"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kumimoji="0" lang="en-GB" altLang="zh-CN" sz="1400" b="0" i="0" u="none" strike="noStrike" kern="1200" cap="none" spc="0" normalizeH="0" baseline="0" noProof="0">
              <a:ln>
                <a:noFill/>
              </a:ln>
              <a:solidFill>
                <a:srgbClr val="000000"/>
              </a:solidFill>
              <a:effectLst/>
              <a:uLnTx/>
              <a:uFillTx/>
              <a:latin typeface="Times New Roman" pitchFamily="18" charset="0"/>
              <a:ea typeface="宋体" panose="02000500000000000000" pitchFamily="2" charset="-122"/>
              <a:cs typeface="+mn-cs"/>
            </a:endParaRPr>
          </a:p>
        </p:txBody>
      </p:sp>
      <p:sp>
        <p:nvSpPr>
          <p:cNvPr id="1029" name="Rectangle 5"/>
          <p:cNvSpPr>
            <a:spLocks noGrp="1" noChangeArrowheads="1"/>
          </p:cNvSpPr>
          <p:nvPr>
            <p:ph type="sldNum"/>
          </p:nvPr>
        </p:nvSpPr>
        <p:spPr bwMode="auto">
          <a:xfrm>
            <a:off x="8736013" y="6248400"/>
            <a:ext cx="2533650" cy="452438"/>
          </a:xfrm>
          <a:prstGeom prst="rect">
            <a:avLst/>
          </a:prstGeom>
          <a:noFill/>
          <a:ln w="9525">
            <a:noFill/>
            <a:round/>
          </a:ln>
          <a:effectLst/>
        </p:spPr>
        <p:txBody>
          <a:bodyPr vert="horz" wrap="square" lIns="90000" tIns="46800" rIns="90000" bIns="46800" numCol="1" anchor="t" anchorCtr="0" compatLnSpc="1"/>
          <a:lstStyle>
            <a:lvl1pPr algn="r">
              <a:defRPr sz="1400">
                <a:solidFill>
                  <a:srgbClr val="000000"/>
                </a:solidFill>
              </a:defRPr>
            </a:lvl1pPr>
          </a:lstStyle>
          <a:p>
            <a:pPr lvl="0" eaLnBrk="1" hangingPunct="1"/>
            <a:fld id="{9A0DB2DC-4C9A-4742-B13C-FB6460FD3503}" type="slidenum">
              <a:rPr lang="zh-CN" altLang="en-GB" dirty="0">
                <a:latin typeface="Times New Roman" pitchFamily="18" charset="0"/>
              </a:rPr>
            </a:fld>
            <a:endParaRPr lang="zh-CN" altLang="en-GB" dirty="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265430" rtl="0" eaLnBrk="0" fontAlgn="base" hangingPunct="0">
        <a:spcBef>
          <a:spcPct val="0"/>
        </a:spcBef>
        <a:spcAft>
          <a:spcPct val="0"/>
        </a:spcAft>
        <a:buClr>
          <a:srgbClr val="FF0000"/>
        </a:buClr>
        <a:buSzPct val="100000"/>
        <a:buFont typeface="Arial" panose="02080604020202020204" pitchFamily="34" charset="0"/>
        <a:defRPr sz="4000">
          <a:solidFill>
            <a:srgbClr val="FF0000"/>
          </a:solidFill>
          <a:latin typeface="+mj-lt"/>
          <a:ea typeface="+mj-ea"/>
          <a:cs typeface="+mj-cs"/>
        </a:defRPr>
      </a:lvl1pPr>
      <a:lvl2pPr algn="ctr" defTabSz="265430" rtl="0" eaLnBrk="0" fontAlgn="base" hangingPunct="0">
        <a:spcBef>
          <a:spcPct val="0"/>
        </a:spcBef>
        <a:spcAft>
          <a:spcPct val="0"/>
        </a:spcAft>
        <a:buClr>
          <a:srgbClr val="FF0000"/>
        </a:buClr>
        <a:buSzPct val="100000"/>
        <a:buFont typeface="Arial" panose="02080604020202020204" pitchFamily="34" charset="0"/>
        <a:defRPr sz="4000">
          <a:solidFill>
            <a:srgbClr val="FF0000"/>
          </a:solidFill>
          <a:latin typeface="Arial" panose="02080604020202020204" pitchFamily="34" charset="0"/>
          <a:ea typeface="黑体" panose="02000500000000000000" pitchFamily="49" charset="-122"/>
        </a:defRPr>
      </a:lvl2pPr>
      <a:lvl3pPr algn="ctr" defTabSz="265430" rtl="0" eaLnBrk="0" fontAlgn="base" hangingPunct="0">
        <a:spcBef>
          <a:spcPct val="0"/>
        </a:spcBef>
        <a:spcAft>
          <a:spcPct val="0"/>
        </a:spcAft>
        <a:buClr>
          <a:srgbClr val="FF0000"/>
        </a:buClr>
        <a:buSzPct val="100000"/>
        <a:buFont typeface="Arial" panose="02080604020202020204" pitchFamily="34" charset="0"/>
        <a:defRPr sz="4000">
          <a:solidFill>
            <a:srgbClr val="FF0000"/>
          </a:solidFill>
          <a:latin typeface="Arial" panose="02080604020202020204" pitchFamily="34" charset="0"/>
          <a:ea typeface="黑体" panose="02000500000000000000" pitchFamily="49" charset="-122"/>
        </a:defRPr>
      </a:lvl3pPr>
      <a:lvl4pPr algn="ctr" defTabSz="265430" rtl="0" eaLnBrk="0" fontAlgn="base" hangingPunct="0">
        <a:spcBef>
          <a:spcPct val="0"/>
        </a:spcBef>
        <a:spcAft>
          <a:spcPct val="0"/>
        </a:spcAft>
        <a:buClr>
          <a:srgbClr val="FF0000"/>
        </a:buClr>
        <a:buSzPct val="100000"/>
        <a:buFont typeface="Arial" panose="02080604020202020204" pitchFamily="34" charset="0"/>
        <a:defRPr sz="4000">
          <a:solidFill>
            <a:srgbClr val="FF0000"/>
          </a:solidFill>
          <a:latin typeface="Arial" panose="02080604020202020204" pitchFamily="34" charset="0"/>
          <a:ea typeface="黑体" panose="02000500000000000000" pitchFamily="49" charset="-122"/>
        </a:defRPr>
      </a:lvl4pPr>
      <a:lvl5pPr algn="ctr" defTabSz="265430" rtl="0" eaLnBrk="0" fontAlgn="base" hangingPunct="0">
        <a:spcBef>
          <a:spcPct val="0"/>
        </a:spcBef>
        <a:spcAft>
          <a:spcPct val="0"/>
        </a:spcAft>
        <a:buClr>
          <a:srgbClr val="FF0000"/>
        </a:buClr>
        <a:buSzPct val="100000"/>
        <a:buFont typeface="Arial" panose="02080604020202020204" pitchFamily="34" charset="0"/>
        <a:defRPr sz="4000">
          <a:solidFill>
            <a:srgbClr val="FF0000"/>
          </a:solidFill>
          <a:latin typeface="Arial" panose="02080604020202020204" pitchFamily="34" charset="0"/>
          <a:ea typeface="黑体" panose="02000500000000000000" pitchFamily="49" charset="-122"/>
        </a:defRPr>
      </a:lvl5pPr>
      <a:lvl6pPr marL="457200" algn="ctr" defTabSz="265430" rtl="0" fontAlgn="base">
        <a:spcBef>
          <a:spcPct val="0"/>
        </a:spcBef>
        <a:spcAft>
          <a:spcPct val="0"/>
        </a:spcAft>
        <a:buClr>
          <a:srgbClr val="FF0000"/>
        </a:buClr>
        <a:buSzPct val="100000"/>
        <a:buFont typeface="Arial" panose="02080604020202020204" pitchFamily="34" charset="0"/>
        <a:defRPr sz="4000">
          <a:solidFill>
            <a:srgbClr val="FF0000"/>
          </a:solidFill>
          <a:latin typeface="Arial" panose="02080604020202020204" pitchFamily="34" charset="0"/>
          <a:ea typeface="黑体" panose="02000500000000000000" pitchFamily="49" charset="-122"/>
        </a:defRPr>
      </a:lvl6pPr>
      <a:lvl7pPr marL="914400" algn="ctr" defTabSz="265430" rtl="0" fontAlgn="base">
        <a:spcBef>
          <a:spcPct val="0"/>
        </a:spcBef>
        <a:spcAft>
          <a:spcPct val="0"/>
        </a:spcAft>
        <a:buClr>
          <a:srgbClr val="FF0000"/>
        </a:buClr>
        <a:buSzPct val="100000"/>
        <a:buFont typeface="Arial" panose="02080604020202020204" pitchFamily="34" charset="0"/>
        <a:defRPr sz="4000">
          <a:solidFill>
            <a:srgbClr val="FF0000"/>
          </a:solidFill>
          <a:latin typeface="Arial" panose="02080604020202020204" pitchFamily="34" charset="0"/>
          <a:ea typeface="黑体" panose="02000500000000000000" pitchFamily="49" charset="-122"/>
        </a:defRPr>
      </a:lvl7pPr>
      <a:lvl8pPr marL="1371600" algn="ctr" defTabSz="265430" rtl="0" fontAlgn="base">
        <a:spcBef>
          <a:spcPct val="0"/>
        </a:spcBef>
        <a:spcAft>
          <a:spcPct val="0"/>
        </a:spcAft>
        <a:buClr>
          <a:srgbClr val="FF0000"/>
        </a:buClr>
        <a:buSzPct val="100000"/>
        <a:buFont typeface="Arial" panose="02080604020202020204" pitchFamily="34" charset="0"/>
        <a:defRPr sz="4000">
          <a:solidFill>
            <a:srgbClr val="FF0000"/>
          </a:solidFill>
          <a:latin typeface="Arial" panose="02080604020202020204" pitchFamily="34" charset="0"/>
          <a:ea typeface="黑体" panose="02000500000000000000" pitchFamily="49" charset="-122"/>
        </a:defRPr>
      </a:lvl8pPr>
      <a:lvl9pPr marL="1828800" algn="ctr" defTabSz="265430" rtl="0" fontAlgn="base">
        <a:spcBef>
          <a:spcPct val="0"/>
        </a:spcBef>
        <a:spcAft>
          <a:spcPct val="0"/>
        </a:spcAft>
        <a:buClr>
          <a:srgbClr val="FF0000"/>
        </a:buClr>
        <a:buSzPct val="100000"/>
        <a:buFont typeface="Arial" panose="02080604020202020204" pitchFamily="34" charset="0"/>
        <a:defRPr sz="4000">
          <a:solidFill>
            <a:srgbClr val="FF0000"/>
          </a:solidFill>
          <a:latin typeface="Arial" panose="02080604020202020204" pitchFamily="34" charset="0"/>
          <a:ea typeface="黑体" panose="02000500000000000000" pitchFamily="49" charset="-122"/>
        </a:defRPr>
      </a:lvl9pPr>
    </p:titleStyle>
    <p:bodyStyle>
      <a:lvl1pPr marL="338455" indent="-338455" algn="l" defTabSz="265430" rtl="0" eaLnBrk="0" fontAlgn="base" latinLnBrk="0" hangingPunct="0">
        <a:lnSpc>
          <a:spcPct val="150000"/>
        </a:lnSpc>
        <a:spcBef>
          <a:spcPts val="600"/>
        </a:spcBef>
        <a:spcAft>
          <a:spcPct val="0"/>
        </a:spcAft>
        <a:buSzPct val="100000"/>
        <a:buChar char="•"/>
        <a:defRPr sz="2000" b="1">
          <a:solidFill>
            <a:srgbClr val="000000"/>
          </a:solidFill>
          <a:latin typeface="宋体" panose="02000500000000000000" pitchFamily="2" charset="-122"/>
          <a:ea typeface="宋体" panose="02000500000000000000" pitchFamily="2" charset="-122"/>
          <a:cs typeface="+mn-cs"/>
        </a:defRPr>
      </a:lvl1pPr>
      <a:lvl2pPr marL="738505" indent="-281305" algn="l" defTabSz="265430" rtl="0" eaLnBrk="0" fontAlgn="base" latinLnBrk="0" hangingPunct="0">
        <a:lnSpc>
          <a:spcPct val="150000"/>
        </a:lnSpc>
        <a:spcBef>
          <a:spcPts val="600"/>
        </a:spcBef>
        <a:spcAft>
          <a:spcPct val="0"/>
        </a:spcAft>
        <a:buSzPct val="100000"/>
        <a:buChar char="•"/>
        <a:defRPr sz="1600" b="1">
          <a:solidFill>
            <a:srgbClr val="000000"/>
          </a:solidFill>
          <a:latin typeface="宋体" panose="02000500000000000000" pitchFamily="2" charset="-122"/>
          <a:ea typeface="宋体" panose="02000500000000000000" pitchFamily="2" charset="-122"/>
        </a:defRPr>
      </a:lvl2pPr>
      <a:lvl3pPr marL="914400" indent="0" algn="l" defTabSz="265430" rtl="0" eaLnBrk="0" fontAlgn="base" latinLnBrk="0" hangingPunct="0">
        <a:lnSpc>
          <a:spcPct val="150000"/>
        </a:lnSpc>
        <a:spcBef>
          <a:spcPts val="0"/>
        </a:spcBef>
        <a:spcAft>
          <a:spcPct val="0"/>
        </a:spcAft>
        <a:buSzPct val="100000"/>
        <a:buNone/>
        <a:defRPr sz="1600" b="1">
          <a:solidFill>
            <a:srgbClr val="000000"/>
          </a:solidFill>
          <a:latin typeface="宋体" panose="02000500000000000000" pitchFamily="2" charset="-122"/>
          <a:ea typeface="宋体" panose="02000500000000000000" pitchFamily="2" charset="-122"/>
        </a:defRPr>
      </a:lvl3pPr>
      <a:lvl4pPr marL="1600200" indent="-228600" algn="l" defTabSz="265430" rtl="0" eaLnBrk="0" fontAlgn="base" hangingPunct="0">
        <a:lnSpc>
          <a:spcPct val="110000"/>
        </a:lnSpc>
        <a:spcBef>
          <a:spcPts val="500"/>
        </a:spcBef>
        <a:spcAft>
          <a:spcPct val="0"/>
        </a:spcAft>
        <a:buSzPct val="100000"/>
        <a:buFont typeface="Times New Roman" pitchFamily="18" charset="0"/>
        <a:buChar char="–"/>
        <a:defRPr sz="2000">
          <a:solidFill>
            <a:srgbClr val="000000"/>
          </a:solidFill>
          <a:latin typeface="+mn-lt"/>
          <a:ea typeface="+mn-ea"/>
        </a:defRPr>
      </a:lvl4pPr>
      <a:lvl5pPr marL="2057400" indent="-228600" algn="l" defTabSz="265430" rtl="0" eaLnBrk="0" fontAlgn="base" hangingPunct="0">
        <a:lnSpc>
          <a:spcPct val="110000"/>
        </a:lnSpc>
        <a:spcBef>
          <a:spcPts val="500"/>
        </a:spcBef>
        <a:spcAft>
          <a:spcPct val="0"/>
        </a:spcAft>
        <a:buSzPct val="100000"/>
        <a:buFont typeface="Times New Roman" pitchFamily="18" charset="0"/>
        <a:buChar char="»"/>
        <a:defRPr sz="2000">
          <a:solidFill>
            <a:srgbClr val="000000"/>
          </a:solidFill>
          <a:latin typeface="+mn-lt"/>
          <a:ea typeface="+mn-ea"/>
        </a:defRPr>
      </a:lvl5pPr>
      <a:lvl6pPr marL="2514600" indent="-228600" algn="l" defTabSz="265430" rtl="0" fontAlgn="base">
        <a:spcBef>
          <a:spcPts val="500"/>
        </a:spcBef>
        <a:spcAft>
          <a:spcPct val="0"/>
        </a:spcAft>
        <a:buClr>
          <a:srgbClr val="000000"/>
        </a:buClr>
        <a:buSzPct val="100000"/>
        <a:buFont typeface="Times New Roman" pitchFamily="18" charset="0"/>
        <a:buChar char="»"/>
        <a:defRPr sz="2000">
          <a:solidFill>
            <a:srgbClr val="000000"/>
          </a:solidFill>
          <a:latin typeface="+mn-lt"/>
          <a:ea typeface="+mn-ea"/>
        </a:defRPr>
      </a:lvl6pPr>
      <a:lvl7pPr marL="2971800" indent="-228600" algn="l" defTabSz="265430" rtl="0" fontAlgn="base">
        <a:spcBef>
          <a:spcPts val="500"/>
        </a:spcBef>
        <a:spcAft>
          <a:spcPct val="0"/>
        </a:spcAft>
        <a:buClr>
          <a:srgbClr val="000000"/>
        </a:buClr>
        <a:buSzPct val="100000"/>
        <a:buFont typeface="Times New Roman" pitchFamily="18" charset="0"/>
        <a:buChar char="»"/>
        <a:defRPr sz="2000">
          <a:solidFill>
            <a:srgbClr val="000000"/>
          </a:solidFill>
          <a:latin typeface="+mn-lt"/>
          <a:ea typeface="+mn-ea"/>
        </a:defRPr>
      </a:lvl7pPr>
      <a:lvl8pPr marL="3429000" indent="-228600" algn="l" defTabSz="265430" rtl="0" fontAlgn="base">
        <a:spcBef>
          <a:spcPts val="500"/>
        </a:spcBef>
        <a:spcAft>
          <a:spcPct val="0"/>
        </a:spcAft>
        <a:buClr>
          <a:srgbClr val="000000"/>
        </a:buClr>
        <a:buSzPct val="100000"/>
        <a:buFont typeface="Times New Roman" pitchFamily="18" charset="0"/>
        <a:buChar char="»"/>
        <a:defRPr sz="2000">
          <a:solidFill>
            <a:srgbClr val="000000"/>
          </a:solidFill>
          <a:latin typeface="+mn-lt"/>
          <a:ea typeface="+mn-ea"/>
        </a:defRPr>
      </a:lvl8pPr>
      <a:lvl9pPr marL="3886200" indent="-228600" algn="l" defTabSz="265430" rtl="0" fontAlgn="base">
        <a:spcBef>
          <a:spcPts val="500"/>
        </a:spcBef>
        <a:spcAft>
          <a:spcPct val="0"/>
        </a:spcAft>
        <a:buClr>
          <a:srgbClr val="000000"/>
        </a:buClr>
        <a:buSzPct val="100000"/>
        <a:buFont typeface="Times New Roman" pitchFamily="18" charset="0"/>
        <a:buChar char="»"/>
        <a:defRPr sz="2000">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18.wmf"/><Relationship Id="rId1"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2.vml"/><Relationship Id="rId3" Type="http://schemas.openxmlformats.org/officeDocument/2006/relationships/slideLayout" Target="../slideLayouts/slideLayout1.xml"/><Relationship Id="rId2" Type="http://schemas.openxmlformats.org/officeDocument/2006/relationships/image" Target="../media/image19.emf"/><Relationship Id="rId1"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vmlDrawing" Target="../drawings/vmlDrawing3.vml"/><Relationship Id="rId5" Type="http://schemas.openxmlformats.org/officeDocument/2006/relationships/slideLayout" Target="../slideLayouts/slideLayout1.xml"/><Relationship Id="rId4" Type="http://schemas.openxmlformats.org/officeDocument/2006/relationships/image" Target="../media/image25.emf"/><Relationship Id="rId3" Type="http://schemas.openxmlformats.org/officeDocument/2006/relationships/oleObject" Target="../embeddings/oleObject4.bin"/><Relationship Id="rId2" Type="http://schemas.openxmlformats.org/officeDocument/2006/relationships/image" Target="../media/image24.emf"/><Relationship Id="rId1"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vmlDrawing" Target="../drawings/vmlDrawing4.vml"/><Relationship Id="rId5" Type="http://schemas.openxmlformats.org/officeDocument/2006/relationships/slideLayout" Target="../slideLayouts/slideLayout1.xml"/><Relationship Id="rId4" Type="http://schemas.openxmlformats.org/officeDocument/2006/relationships/image" Target="../media/image27.emf"/><Relationship Id="rId3" Type="http://schemas.openxmlformats.org/officeDocument/2006/relationships/oleObject" Target="../embeddings/oleObject6.bin"/><Relationship Id="rId2" Type="http://schemas.openxmlformats.org/officeDocument/2006/relationships/image" Target="../media/image26.wmf"/><Relationship Id="rId1" Type="http://schemas.openxmlformats.org/officeDocument/2006/relationships/oleObject" Target="../embeddings/oleObject5.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vmlDrawing" Target="../drawings/vmlDrawing5.vml"/><Relationship Id="rId5" Type="http://schemas.openxmlformats.org/officeDocument/2006/relationships/slideLayout" Target="../slideLayouts/slideLayout1.xml"/><Relationship Id="rId4" Type="http://schemas.openxmlformats.org/officeDocument/2006/relationships/image" Target="../media/image29.emf"/><Relationship Id="rId3" Type="http://schemas.openxmlformats.org/officeDocument/2006/relationships/oleObject" Target="../embeddings/oleObject8.bin"/><Relationship Id="rId2" Type="http://schemas.openxmlformats.org/officeDocument/2006/relationships/image" Target="../media/image28.emf"/><Relationship Id="rId1" Type="http://schemas.openxmlformats.org/officeDocument/2006/relationships/oleObject" Target="../embeddings/oleObject7.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vmlDrawing" Target="../drawings/vmlDrawing6.vml"/><Relationship Id="rId3" Type="http://schemas.openxmlformats.org/officeDocument/2006/relationships/slideLayout" Target="../slideLayouts/slideLayout1.xml"/><Relationship Id="rId2" Type="http://schemas.openxmlformats.org/officeDocument/2006/relationships/image" Target="../media/image30.wmf"/><Relationship Id="rId1" Type="http://schemas.openxmlformats.org/officeDocument/2006/relationships/oleObject" Target="../embeddings/oleObject9.bin"/></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4.emf"/><Relationship Id="rId7" Type="http://schemas.openxmlformats.org/officeDocument/2006/relationships/oleObject" Target="../embeddings/oleObject13.bin"/><Relationship Id="rId6" Type="http://schemas.openxmlformats.org/officeDocument/2006/relationships/image" Target="../media/image33.emf"/><Relationship Id="rId5" Type="http://schemas.openxmlformats.org/officeDocument/2006/relationships/oleObject" Target="../embeddings/oleObject12.bin"/><Relationship Id="rId4" Type="http://schemas.openxmlformats.org/officeDocument/2006/relationships/image" Target="../media/image32.emf"/><Relationship Id="rId3" Type="http://schemas.openxmlformats.org/officeDocument/2006/relationships/oleObject" Target="../embeddings/oleObject11.bin"/><Relationship Id="rId2" Type="http://schemas.openxmlformats.org/officeDocument/2006/relationships/image" Target="../media/image31.emf"/><Relationship Id="rId11" Type="http://schemas.openxmlformats.org/officeDocument/2006/relationships/notesSlide" Target="../notesSlides/notesSlide24.xml"/><Relationship Id="rId10" Type="http://schemas.openxmlformats.org/officeDocument/2006/relationships/vmlDrawing" Target="../drawings/vmlDrawing7.vml"/><Relationship Id="rId1" Type="http://schemas.openxmlformats.org/officeDocument/2006/relationships/oleObject" Target="../embeddings/oleObject10.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242" name="灯片编号占位符 4"/>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10243" name="Rectangle 1"/>
          <p:cNvSpPr/>
          <p:nvPr>
            <p:ph type="title"/>
          </p:nvPr>
        </p:nvSpPr>
        <p:spPr>
          <a:xfrm>
            <a:off x="654050" y="892175"/>
            <a:ext cx="11096625" cy="1862138"/>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 pos="9410700" algn="l"/>
              </a:tabLst>
            </a:pPr>
            <a:r>
              <a:rPr lang="zh-CN" altLang="en-GB" sz="4800" dirty="0">
                <a:latin typeface="黑体" panose="02000500000000000000" pitchFamily="49" charset="-122"/>
              </a:rPr>
              <a:t>实践是最好的课堂</a:t>
            </a:r>
            <a:br>
              <a:rPr lang="zh-CN" altLang="en-GB" sz="4800" dirty="0">
                <a:latin typeface="黑体" panose="02000500000000000000" pitchFamily="49" charset="-122"/>
              </a:rPr>
            </a:br>
            <a:r>
              <a:rPr lang="en-GB" altLang="zh-CN" sz="4800" dirty="0">
                <a:latin typeface="黑体" panose="02000500000000000000" pitchFamily="49" charset="-122"/>
              </a:rPr>
              <a:t>---</a:t>
            </a:r>
            <a:r>
              <a:rPr lang="zh-CN" altLang="en-GB" sz="3200" dirty="0">
                <a:latin typeface="黑体" panose="02000500000000000000" pitchFamily="49" charset="-122"/>
              </a:rPr>
              <a:t>龙芯处理器设计的启示</a:t>
            </a:r>
            <a:endParaRPr lang="zh-CN" altLang="en-GB" sz="3200" dirty="0">
              <a:latin typeface="黑体" panose="02000500000000000000" pitchFamily="49" charset="-122"/>
            </a:endParaRPr>
          </a:p>
        </p:txBody>
      </p:sp>
      <p:sp>
        <p:nvSpPr>
          <p:cNvPr id="10244" name="Rectangle 2"/>
          <p:cNvSpPr/>
          <p:nvPr>
            <p:ph type="subTitle"/>
          </p:nvPr>
        </p:nvSpPr>
        <p:spPr>
          <a:xfrm>
            <a:off x="1957388" y="4130675"/>
            <a:ext cx="8534400" cy="1801813"/>
          </a:xfrm>
        </p:spPr>
        <p:txBody>
          <a:bodyPr vert="horz" wrap="square" lIns="90000" tIns="46800" rIns="90000" bIns="46800" anchor="t" anchorCtr="0"/>
          <a:lstStyle>
            <a:lvl1pPr marL="0" lvl="0" indent="0" algn="ctr">
              <a:buClrTx/>
              <a:buSzPct val="100000"/>
              <a:buFontTx/>
              <a:buNone/>
              <a:defRPr/>
            </a:lvl1pPr>
            <a:lvl2pPr marL="457200" lvl="1" indent="0" algn="ctr">
              <a:buClrTx/>
              <a:buSzPct val="100000"/>
              <a:buFontTx/>
              <a:buNone/>
              <a:defRPr/>
            </a:lvl2pPr>
            <a:lvl3pPr marL="914400" lvl="2" indent="0" algn="ctr">
              <a:buClrTx/>
              <a:buSzPct val="100000"/>
              <a:buFontTx/>
              <a:buNone/>
              <a:defRPr/>
            </a:lvl3pPr>
            <a:lvl4pPr marL="1371600" lvl="3" indent="0" algn="ctr">
              <a:buClrTx/>
              <a:buSzPct val="100000"/>
              <a:buFont typeface="Times New Roman" pitchFamily="18" charset="0"/>
              <a:buNone/>
              <a:defRPr/>
            </a:lvl4pPr>
            <a:lvl5pPr marL="1828800" lvl="4" indent="0" algn="ctr">
              <a:buClrTx/>
              <a:buSzPct val="100000"/>
              <a:buFont typeface="Times New Roman" pitchFamily="18" charset="0"/>
              <a:buNone/>
              <a:defRPr/>
            </a:lvl5pPr>
          </a:lstStyle>
          <a:p>
            <a:pPr lvl="0"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Lst>
            </a:pPr>
            <a:r>
              <a:rPr lang="zh-CN" altLang="en-GB" sz="2400" dirty="0">
                <a:latin typeface="华文新魏" pitchFamily="2" charset="-122"/>
              </a:rPr>
              <a:t>胡伟武、汪文祥</a:t>
            </a:r>
            <a:endParaRPr lang="en-US" altLang="zh-CN" sz="2400" dirty="0">
              <a:latin typeface="华文新魏" pitchFamily="2" charset="-122"/>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11267" name="Rectangle 1"/>
          <p:cNvSpPr/>
          <p:nvPr>
            <p:ph type="title"/>
          </p:nvPr>
        </p:nvSpPr>
        <p:spPr>
          <a:xfrm>
            <a:off x="896938" y="284163"/>
            <a:ext cx="10364787" cy="1058862"/>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latin typeface="黑体" panose="02000500000000000000" pitchFamily="49" charset="-122"/>
              </a:rPr>
              <a:t>提  纲</a:t>
            </a:r>
            <a:endParaRPr lang="zh-CN" altLang="en-GB" dirty="0">
              <a:latin typeface="黑体" panose="02000500000000000000" pitchFamily="49" charset="-122"/>
            </a:endParaRPr>
          </a:p>
        </p:txBody>
      </p:sp>
      <p:sp>
        <p:nvSpPr>
          <p:cNvPr id="11268" name="Rectangle 2"/>
          <p:cNvSpPr/>
          <p:nvPr>
            <p:ph idx="1"/>
          </p:nvPr>
        </p:nvSpPr>
        <p:spPr>
          <a:xfrm>
            <a:off x="400050" y="1581150"/>
            <a:ext cx="11390313" cy="4932363"/>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龙芯处理器简介</a:t>
            </a:r>
            <a:endParaRPr lang="zh-CN" altLang="en-GB"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知耻而后勇的性能提高过程</a:t>
            </a:r>
            <a:endParaRPr lang="zh-CN" altLang="en-GB"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en-GB" altLang="zh-CN" dirty="0">
                <a:cs typeface="宋体" panose="02000500000000000000" pitchFamily="2" charset="-122"/>
              </a:rPr>
              <a:t>Simulation-Silicon Correlation</a:t>
            </a:r>
            <a:r>
              <a:rPr lang="zh-CN" altLang="en-GB" dirty="0">
                <a:cs typeface="宋体" panose="02000500000000000000" pitchFamily="2" charset="-122"/>
              </a:rPr>
              <a:t>（硅是检验设计的唯一标准）</a:t>
            </a:r>
            <a:endParaRPr lang="zh-CN" altLang="en-GB"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en-GB" altLang="zh-CN" dirty="0">
                <a:cs typeface="宋体" panose="02000500000000000000" pitchFamily="2" charset="-122"/>
              </a:rPr>
              <a:t>Balanced Design</a:t>
            </a:r>
            <a:r>
              <a:rPr lang="zh-CN" altLang="en-GB" dirty="0">
                <a:cs typeface="宋体" panose="02000500000000000000" pitchFamily="2" charset="-122"/>
              </a:rPr>
              <a:t>（结构设计要统筹兼顾）</a:t>
            </a:r>
            <a:endParaRPr lang="zh-CN" altLang="en-GB"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en-GB" altLang="zh-CN" dirty="0">
                <a:cs typeface="宋体" panose="02000500000000000000" pitchFamily="2" charset="-122"/>
              </a:rPr>
              <a:t>Optimization</a:t>
            </a:r>
            <a:r>
              <a:rPr lang="zh-CN" altLang="en-GB" dirty="0">
                <a:cs typeface="宋体" panose="02000500000000000000" pitchFamily="2" charset="-122"/>
              </a:rPr>
              <a:t>（结构设计要重点突出）</a:t>
            </a:r>
            <a:endParaRPr lang="zh-CN" altLang="en-GB"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en-GB" altLang="zh-CN" dirty="0">
                <a:cs typeface="宋体" panose="02000500000000000000" pitchFamily="2" charset="-122"/>
              </a:rPr>
              <a:t>Pico-Architecture Design</a:t>
            </a:r>
            <a:r>
              <a:rPr lang="zh-CN" altLang="en-GB" dirty="0">
                <a:cs typeface="宋体" panose="02000500000000000000" pitchFamily="2" charset="-122"/>
              </a:rPr>
              <a:t>（面向工艺的结构设计）</a:t>
            </a:r>
            <a:endParaRPr lang="zh-CN" altLang="en-GB" dirty="0">
              <a:cs typeface="宋体" panose="02000500000000000000" pitchFamily="2" charset="-122"/>
            </a:endParaRPr>
          </a:p>
          <a:p>
            <a:pPr defTabSz="265430" eaLnBrk="1" hangingPunct="1">
              <a:spcBef>
                <a:spcPct val="0"/>
              </a:spcBef>
              <a:buSzPct val="100000"/>
              <a:buNone/>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endParaRPr lang="zh-CN" altLang="en-GB" dirty="0">
              <a:cs typeface="宋体" panose="02000500000000000000" pitchFamily="2" charset="-122"/>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882650" y="2924175"/>
            <a:ext cx="10358438" cy="1054100"/>
          </a:xfrm>
        </p:spPr>
        <p:txBody>
          <a:bodyPr vert="horz" wrap="square" lIns="90000" tIns="46800" rIns="90000" bIns="46800" anchor="ctr" anchorCtr="0"/>
          <a:p>
            <a:pPr eaLnBrk="1" hangingPunct="1"/>
            <a:r>
              <a:rPr lang="zh-CN" altLang="en-GB" dirty="0"/>
              <a:t>龙芯处理器简介</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13315" name="Rectangle 1"/>
          <p:cNvSpPr/>
          <p:nvPr>
            <p:ph type="title"/>
          </p:nvPr>
        </p:nvSpPr>
        <p:spPr>
          <a:xfrm>
            <a:off x="0" y="1588"/>
            <a:ext cx="12190413" cy="1144587"/>
          </a:xfrm>
        </p:spPr>
        <p:txBody>
          <a:bodyPr vert="horz" wrap="square" lIns="90000" tIns="46800" rIns="90000" bIns="46800" anchor="ctr" anchorCtr="0"/>
          <a:p>
            <a:pPr defTabSz="265430" eaLnBrk="1" hangingPunct="1">
              <a:lnSpc>
                <a:spcPct val="95000"/>
              </a:lnSpc>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 pos="9410700" algn="l"/>
                <a:tab pos="10134600" algn="l"/>
                <a:tab pos="10858500" algn="l"/>
              </a:tabLst>
            </a:pPr>
            <a:r>
              <a:rPr lang="zh-CN" altLang="en-GB" dirty="0"/>
              <a:t>持续改进的过程</a:t>
            </a:r>
            <a:endParaRPr lang="zh-CN" altLang="en-GB" dirty="0"/>
          </a:p>
        </p:txBody>
      </p:sp>
      <p:sp>
        <p:nvSpPr>
          <p:cNvPr id="13316" name="Rectangle 2"/>
          <p:cNvSpPr/>
          <p:nvPr>
            <p:ph idx="1"/>
          </p:nvPr>
        </p:nvSpPr>
        <p:spPr>
          <a:xfrm>
            <a:off x="127000" y="974725"/>
            <a:ext cx="11911013" cy="4637088"/>
          </a:xfrm>
        </p:spPr>
        <p:txBody>
          <a:bodyPr vert="horz" wrap="square" lIns="90000" tIns="46800" rIns="90000" bIns="46800" anchor="t" anchorCtr="0"/>
          <a:p>
            <a:pPr marL="250825" indent="-250825" defTabSz="265430" eaLnBrk="1" hangingPunct="1">
              <a:lnSpc>
                <a:spcPct val="135000"/>
              </a:lnSpc>
              <a:spcBef>
                <a:spcPct val="0"/>
              </a:spcBef>
              <a:buClr>
                <a:srgbClr val="FF0000"/>
              </a:buClr>
              <a:buSzPct val="100000"/>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r>
              <a:rPr lang="zh-CN" altLang="en-GB" sz="2000" dirty="0">
                <a:solidFill>
                  <a:srgbClr val="0000FF"/>
                </a:solidFill>
                <a:cs typeface="宋体" panose="02000500000000000000" pitchFamily="2" charset="-122"/>
              </a:rPr>
              <a:t>龙芯</a:t>
            </a:r>
            <a:r>
              <a:rPr lang="en-GB" altLang="zh-CN" sz="2000" dirty="0">
                <a:solidFill>
                  <a:srgbClr val="0000FF"/>
                </a:solidFill>
                <a:cs typeface="宋体" panose="02000500000000000000" pitchFamily="2" charset="-122"/>
              </a:rPr>
              <a:t>1</a:t>
            </a:r>
            <a:r>
              <a:rPr lang="zh-CN" altLang="en-GB" sz="2000" dirty="0">
                <a:solidFill>
                  <a:srgbClr val="0000FF"/>
                </a:solidFill>
                <a:cs typeface="宋体" panose="02000500000000000000" pitchFamily="2" charset="-122"/>
              </a:rPr>
              <a:t>号：有了</a:t>
            </a:r>
            <a:endParaRPr lang="zh-CN" altLang="en-GB" sz="2000" dirty="0">
              <a:solidFill>
                <a:srgbClr val="0000FF"/>
              </a:solidFill>
              <a:cs typeface="宋体" panose="02000500000000000000" pitchFamily="2" charset="-122"/>
            </a:endParaRPr>
          </a:p>
          <a:p>
            <a:pPr marL="685800" lvl="1" indent="-228600" defTabSz="265430" eaLnBrk="1" hangingPunct="1">
              <a:lnSpc>
                <a:spcPct val="135000"/>
              </a:lnSpc>
              <a:spcBef>
                <a:spcPct val="0"/>
              </a:spcBef>
              <a:buSzPct val="100000"/>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r>
              <a:rPr lang="en-GB" altLang="zh-CN" sz="1600" dirty="0">
                <a:cs typeface="宋体" panose="02000500000000000000" pitchFamily="2" charset="-122"/>
              </a:rPr>
              <a:t>2001</a:t>
            </a:r>
            <a:r>
              <a:rPr lang="zh-CN" altLang="en-GB" sz="1600" dirty="0">
                <a:cs typeface="宋体" panose="02000500000000000000" pitchFamily="2" charset="-122"/>
              </a:rPr>
              <a:t>年</a:t>
            </a:r>
            <a:r>
              <a:rPr lang="en-GB" altLang="zh-CN" sz="1600" dirty="0">
                <a:cs typeface="宋体" panose="02000500000000000000" pitchFamily="2" charset="-122"/>
              </a:rPr>
              <a:t>5</a:t>
            </a:r>
            <a:r>
              <a:rPr lang="zh-CN" altLang="en-GB" sz="1600" dirty="0">
                <a:cs typeface="宋体" panose="02000500000000000000" pitchFamily="2" charset="-122"/>
              </a:rPr>
              <a:t>月正式启动龙芯</a:t>
            </a:r>
            <a:r>
              <a:rPr lang="en-GB" altLang="zh-CN" sz="1600" dirty="0">
                <a:cs typeface="宋体" panose="02000500000000000000" pitchFamily="2" charset="-122"/>
              </a:rPr>
              <a:t>CPU</a:t>
            </a:r>
            <a:r>
              <a:rPr lang="zh-CN" altLang="en-GB" sz="1600" dirty="0">
                <a:cs typeface="宋体" panose="02000500000000000000" pitchFamily="2" charset="-122"/>
              </a:rPr>
              <a:t>的研制</a:t>
            </a:r>
            <a:endParaRPr lang="zh-CN" altLang="en-GB" sz="1600" dirty="0">
              <a:cs typeface="宋体" panose="02000500000000000000" pitchFamily="2" charset="-122"/>
            </a:endParaRPr>
          </a:p>
          <a:p>
            <a:pPr marL="685800" lvl="1" indent="-228600" defTabSz="265430" eaLnBrk="1" hangingPunct="1">
              <a:lnSpc>
                <a:spcPct val="135000"/>
              </a:lnSpc>
              <a:spcBef>
                <a:spcPct val="0"/>
              </a:spcBef>
              <a:buSzPct val="100000"/>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r>
              <a:rPr lang="en-GB" altLang="zh-CN" sz="1600" dirty="0">
                <a:cs typeface="宋体" panose="02000500000000000000" pitchFamily="2" charset="-122"/>
              </a:rPr>
              <a:t>2002</a:t>
            </a:r>
            <a:r>
              <a:rPr lang="zh-CN" altLang="en-GB" sz="1600" dirty="0">
                <a:cs typeface="宋体" panose="02000500000000000000" pitchFamily="2" charset="-122"/>
              </a:rPr>
              <a:t>年</a:t>
            </a:r>
            <a:r>
              <a:rPr lang="en-GB" altLang="zh-CN" sz="1600" dirty="0">
                <a:cs typeface="宋体" panose="02000500000000000000" pitchFamily="2" charset="-122"/>
              </a:rPr>
              <a:t>8</a:t>
            </a:r>
            <a:r>
              <a:rPr lang="zh-CN" altLang="en-GB" sz="1600" dirty="0">
                <a:cs typeface="宋体" panose="02000500000000000000" pitchFamily="2" charset="-122"/>
              </a:rPr>
              <a:t>月研制成功龙芯</a:t>
            </a:r>
            <a:r>
              <a:rPr lang="en-GB" altLang="zh-CN" sz="1600" dirty="0">
                <a:cs typeface="宋体" panose="02000500000000000000" pitchFamily="2" charset="-122"/>
              </a:rPr>
              <a:t>1</a:t>
            </a:r>
            <a:r>
              <a:rPr lang="zh-CN" altLang="en-GB" sz="1600" dirty="0">
                <a:cs typeface="宋体" panose="02000500000000000000" pitchFamily="2" charset="-122"/>
              </a:rPr>
              <a:t>号是我国第一个通用处理器芯片</a:t>
            </a:r>
            <a:endParaRPr lang="zh-CN" altLang="en-GB" sz="1600" dirty="0">
              <a:cs typeface="宋体" panose="02000500000000000000" pitchFamily="2" charset="-122"/>
            </a:endParaRPr>
          </a:p>
          <a:p>
            <a:pPr marL="250825" indent="-250825" defTabSz="265430" eaLnBrk="1" hangingPunct="1">
              <a:lnSpc>
                <a:spcPct val="135000"/>
              </a:lnSpc>
              <a:spcBef>
                <a:spcPct val="0"/>
              </a:spcBef>
              <a:buClr>
                <a:srgbClr val="FF0000"/>
              </a:buClr>
              <a:buSzPct val="100000"/>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r>
              <a:rPr lang="zh-CN" altLang="en-GB" sz="2000" dirty="0">
                <a:solidFill>
                  <a:srgbClr val="0000FF"/>
                </a:solidFill>
                <a:cs typeface="宋体" panose="02000500000000000000" pitchFamily="2" charset="-122"/>
              </a:rPr>
              <a:t>龙芯</a:t>
            </a:r>
            <a:r>
              <a:rPr lang="en-GB" altLang="zh-CN" sz="2000" dirty="0">
                <a:solidFill>
                  <a:srgbClr val="0000FF"/>
                </a:solidFill>
                <a:cs typeface="宋体" panose="02000500000000000000" pitchFamily="2" charset="-122"/>
              </a:rPr>
              <a:t>2</a:t>
            </a:r>
            <a:r>
              <a:rPr lang="zh-CN" altLang="en-GB" sz="2000" dirty="0">
                <a:solidFill>
                  <a:srgbClr val="0000FF"/>
                </a:solidFill>
                <a:cs typeface="宋体" panose="02000500000000000000" pitchFamily="2" charset="-122"/>
              </a:rPr>
              <a:t>号：积累</a:t>
            </a:r>
            <a:endParaRPr lang="zh-CN" altLang="en-GB" sz="2000" dirty="0">
              <a:solidFill>
                <a:srgbClr val="0000FF"/>
              </a:solidFill>
              <a:cs typeface="宋体" panose="02000500000000000000" pitchFamily="2" charset="-122"/>
            </a:endParaRPr>
          </a:p>
          <a:p>
            <a:pPr marL="685800" lvl="1" indent="-228600" defTabSz="265430" eaLnBrk="1" hangingPunct="1">
              <a:lnSpc>
                <a:spcPct val="135000"/>
              </a:lnSpc>
              <a:spcBef>
                <a:spcPct val="0"/>
              </a:spcBef>
              <a:buSzPct val="100000"/>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处理器的每年</a:t>
            </a:r>
            <a:r>
              <a:rPr lang="zh-CN" altLang="en-US" sz="1600" dirty="0">
                <a:cs typeface="宋体" panose="02000500000000000000" pitchFamily="2" charset="-122"/>
              </a:rPr>
              <a:t>（大约</a:t>
            </a:r>
            <a:r>
              <a:rPr lang="en-US" altLang="zh-CN" sz="1600" dirty="0">
                <a:cs typeface="宋体" panose="02000500000000000000" pitchFamily="2" charset="-122"/>
              </a:rPr>
              <a:t>14</a:t>
            </a:r>
            <a:r>
              <a:rPr lang="zh-CN" altLang="en-US" sz="1600" dirty="0">
                <a:cs typeface="宋体" panose="02000500000000000000" pitchFamily="2" charset="-122"/>
              </a:rPr>
              <a:t>个月）</a:t>
            </a:r>
            <a:r>
              <a:rPr lang="zh-CN" altLang="en-GB" sz="1600" dirty="0">
                <a:cs typeface="宋体" panose="02000500000000000000" pitchFamily="2" charset="-122"/>
              </a:rPr>
              <a:t>性能提高三倍；</a:t>
            </a:r>
            <a:endParaRPr lang="zh-CN" altLang="en-GB" sz="1600" dirty="0">
              <a:cs typeface="宋体" panose="02000500000000000000" pitchFamily="2" charset="-122"/>
            </a:endParaRPr>
          </a:p>
          <a:p>
            <a:pPr marL="685800" lvl="1" indent="-228600" defTabSz="265430" eaLnBrk="1" hangingPunct="1">
              <a:lnSpc>
                <a:spcPct val="135000"/>
              </a:lnSpc>
              <a:spcBef>
                <a:spcPct val="0"/>
              </a:spcBef>
              <a:buSzPct val="100000"/>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龙芯</a:t>
            </a:r>
            <a:r>
              <a:rPr lang="en-GB" altLang="zh-CN" sz="1600" dirty="0">
                <a:cs typeface="宋体" panose="02000500000000000000" pitchFamily="2" charset="-122"/>
              </a:rPr>
              <a:t>2E/2F</a:t>
            </a:r>
            <a:r>
              <a:rPr lang="zh-CN" altLang="en-GB" sz="1600" dirty="0">
                <a:cs typeface="宋体" panose="02000500000000000000" pitchFamily="2" charset="-122"/>
              </a:rPr>
              <a:t>主频</a:t>
            </a:r>
            <a:r>
              <a:rPr lang="en-GB" altLang="zh-CN" sz="1600" dirty="0">
                <a:cs typeface="宋体" panose="02000500000000000000" pitchFamily="2" charset="-122"/>
              </a:rPr>
              <a:t>1GHz</a:t>
            </a:r>
            <a:r>
              <a:rPr lang="zh-CN" altLang="en-GB" sz="1600" dirty="0">
                <a:cs typeface="宋体" panose="02000500000000000000" pitchFamily="2" charset="-122"/>
              </a:rPr>
              <a:t>，在</a:t>
            </a:r>
            <a:r>
              <a:rPr lang="en-GB" altLang="zh-CN" sz="1600" dirty="0">
                <a:cs typeface="宋体" panose="02000500000000000000" pitchFamily="2" charset="-122"/>
              </a:rPr>
              <a:t>64</a:t>
            </a:r>
            <a:r>
              <a:rPr lang="zh-CN" altLang="en-GB" sz="1600" dirty="0">
                <a:cs typeface="宋体" panose="02000500000000000000" pitchFamily="2" charset="-122"/>
              </a:rPr>
              <a:t>位单处理器设计方面达到世界先进水平</a:t>
            </a:r>
            <a:endParaRPr lang="zh-CN" altLang="en-GB" sz="1600" dirty="0">
              <a:cs typeface="宋体" panose="02000500000000000000" pitchFamily="2" charset="-122"/>
            </a:endParaRPr>
          </a:p>
          <a:p>
            <a:pPr marL="685800" lvl="1" indent="-228600" defTabSz="265430" eaLnBrk="1" hangingPunct="1">
              <a:lnSpc>
                <a:spcPct val="135000"/>
              </a:lnSpc>
              <a:spcBef>
                <a:spcPct val="0"/>
              </a:spcBef>
              <a:buSzPct val="100000"/>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龙芯</a:t>
            </a:r>
            <a:r>
              <a:rPr lang="en-GB" altLang="zh-CN" sz="1600" dirty="0">
                <a:cs typeface="宋体" panose="02000500000000000000" pitchFamily="2" charset="-122"/>
              </a:rPr>
              <a:t>2</a:t>
            </a:r>
            <a:r>
              <a:rPr lang="en-US" altLang="zh-CN" sz="1600" dirty="0">
                <a:cs typeface="宋体" panose="02000500000000000000" pitchFamily="2" charset="-122"/>
              </a:rPr>
              <a:t>F</a:t>
            </a:r>
            <a:r>
              <a:rPr lang="zh-CN" altLang="en-US" sz="1600" dirty="0">
                <a:cs typeface="宋体" panose="02000500000000000000" pitchFamily="2" charset="-122"/>
              </a:rPr>
              <a:t>批量生产，几十个应用</a:t>
            </a:r>
            <a:endParaRPr lang="zh-CN" altLang="en-GB" sz="1600" dirty="0">
              <a:cs typeface="宋体" panose="02000500000000000000" pitchFamily="2" charset="-122"/>
            </a:endParaRPr>
          </a:p>
          <a:p>
            <a:pPr marL="250825" indent="-250825" defTabSz="265430" eaLnBrk="1" hangingPunct="1">
              <a:lnSpc>
                <a:spcPct val="135000"/>
              </a:lnSpc>
              <a:spcBef>
                <a:spcPct val="0"/>
              </a:spcBef>
              <a:buClr>
                <a:srgbClr val="FF0000"/>
              </a:buClr>
              <a:buSzPct val="100000"/>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r>
              <a:rPr lang="zh-CN" altLang="en-GB" sz="2000" dirty="0">
                <a:solidFill>
                  <a:srgbClr val="0000FF"/>
                </a:solidFill>
                <a:cs typeface="宋体" panose="02000500000000000000" pitchFamily="2" charset="-122"/>
              </a:rPr>
              <a:t>龙芯</a:t>
            </a:r>
            <a:r>
              <a:rPr lang="en-GB" altLang="zh-CN" sz="2000" dirty="0">
                <a:solidFill>
                  <a:srgbClr val="0000FF"/>
                </a:solidFill>
                <a:cs typeface="宋体" panose="02000500000000000000" pitchFamily="2" charset="-122"/>
              </a:rPr>
              <a:t>3</a:t>
            </a:r>
            <a:r>
              <a:rPr lang="zh-CN" altLang="en-GB" sz="2000" dirty="0">
                <a:solidFill>
                  <a:srgbClr val="0000FF"/>
                </a:solidFill>
                <a:cs typeface="宋体" panose="02000500000000000000" pitchFamily="2" charset="-122"/>
              </a:rPr>
              <a:t>号：跨越</a:t>
            </a:r>
            <a:r>
              <a:rPr lang="zh-CN" altLang="en-US" sz="2000" dirty="0">
                <a:solidFill>
                  <a:srgbClr val="0000FF"/>
                </a:solidFill>
                <a:cs typeface="宋体" panose="02000500000000000000" pitchFamily="2" charset="-122"/>
              </a:rPr>
              <a:t>、弯路、再跨越</a:t>
            </a:r>
            <a:endParaRPr lang="zh-CN" altLang="en-GB" sz="2000" dirty="0">
              <a:solidFill>
                <a:srgbClr val="0000FF"/>
              </a:solidFill>
              <a:cs typeface="宋体" panose="02000500000000000000" pitchFamily="2" charset="-122"/>
            </a:endParaRPr>
          </a:p>
          <a:p>
            <a:pPr marL="685800" lvl="1" indent="-228600" defTabSz="265430" eaLnBrk="1" hangingPunct="1">
              <a:lnSpc>
                <a:spcPct val="135000"/>
              </a:lnSpc>
              <a:spcBef>
                <a:spcPct val="0"/>
              </a:spcBef>
              <a:buSzPct val="100000"/>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四核龙芯</a:t>
            </a:r>
            <a:r>
              <a:rPr lang="en-GB" altLang="zh-CN" sz="1600" dirty="0">
                <a:cs typeface="宋体" panose="02000500000000000000" pitchFamily="2" charset="-122"/>
              </a:rPr>
              <a:t>3</a:t>
            </a:r>
            <a:r>
              <a:rPr lang="en-US" altLang="zh-CN" sz="1600" dirty="0">
                <a:cs typeface="宋体" panose="02000500000000000000" pitchFamily="2" charset="-122"/>
              </a:rPr>
              <a:t>A1000</a:t>
            </a:r>
            <a:r>
              <a:rPr lang="zh-CN" altLang="en-US" sz="1600" dirty="0">
                <a:cs typeface="宋体" panose="02000500000000000000" pitchFamily="2" charset="-122"/>
              </a:rPr>
              <a:t>是个跨越，</a:t>
            </a:r>
            <a:r>
              <a:rPr lang="en-US" altLang="zh-CN" sz="1600" dirty="0">
                <a:cs typeface="宋体" panose="02000500000000000000" pitchFamily="2" charset="-122"/>
              </a:rPr>
              <a:t>8</a:t>
            </a:r>
            <a:r>
              <a:rPr lang="zh-CN" altLang="en-US" sz="1600" dirty="0">
                <a:cs typeface="宋体" panose="02000500000000000000" pitchFamily="2" charset="-122"/>
              </a:rPr>
              <a:t>核龙芯</a:t>
            </a:r>
            <a:r>
              <a:rPr lang="en-US" altLang="zh-CN" sz="1600" dirty="0">
                <a:cs typeface="宋体" panose="02000500000000000000" pitchFamily="2" charset="-122"/>
              </a:rPr>
              <a:t>3B</a:t>
            </a:r>
            <a:r>
              <a:rPr lang="zh-CN" altLang="en-US" sz="1600" dirty="0">
                <a:cs typeface="宋体" panose="02000500000000000000" pitchFamily="2" charset="-122"/>
              </a:rPr>
              <a:t>走弯路</a:t>
            </a:r>
            <a:endParaRPr lang="zh-CN" altLang="en-GB" sz="1600" dirty="0">
              <a:cs typeface="宋体" panose="02000500000000000000" pitchFamily="2" charset="-122"/>
            </a:endParaRPr>
          </a:p>
          <a:p>
            <a:pPr marL="685800" lvl="1" indent="-228600" defTabSz="265430" eaLnBrk="1" hangingPunct="1">
              <a:lnSpc>
                <a:spcPct val="135000"/>
              </a:lnSpc>
              <a:spcBef>
                <a:spcPct val="0"/>
              </a:spcBef>
              <a:buSzPct val="100000"/>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r>
              <a:rPr lang="en-GB" altLang="zh-CN" sz="1600" dirty="0">
                <a:cs typeface="宋体" panose="02000500000000000000" pitchFamily="2" charset="-122"/>
                <a:sym typeface="+mn-ea"/>
              </a:rPr>
              <a:t>HotChips, IEEE Micro, </a:t>
            </a:r>
            <a:r>
              <a:rPr lang="en-US" altLang="zh-CN" sz="1600" dirty="0">
                <a:cs typeface="宋体" panose="02000500000000000000" pitchFamily="2" charset="-122"/>
                <a:sym typeface="+mn-ea"/>
              </a:rPr>
              <a:t>ISCA</a:t>
            </a:r>
            <a:r>
              <a:rPr lang="zh-CN" altLang="en-US" sz="1600" dirty="0">
                <a:cs typeface="宋体" panose="02000500000000000000" pitchFamily="2" charset="-122"/>
                <a:sym typeface="+mn-ea"/>
              </a:rPr>
              <a:t>、</a:t>
            </a:r>
            <a:r>
              <a:rPr lang="en-US" altLang="zh-CN" sz="1600" dirty="0">
                <a:cs typeface="宋体" panose="02000500000000000000" pitchFamily="2" charset="-122"/>
                <a:sym typeface="+mn-ea"/>
              </a:rPr>
              <a:t>HPCA</a:t>
            </a:r>
            <a:r>
              <a:rPr lang="zh-CN" altLang="en-US" sz="1600" dirty="0">
                <a:cs typeface="宋体" panose="02000500000000000000" pitchFamily="2" charset="-122"/>
                <a:sym typeface="+mn-ea"/>
              </a:rPr>
              <a:t>、</a:t>
            </a:r>
            <a:r>
              <a:rPr lang="en-US" altLang="zh-CN" sz="1600" dirty="0">
                <a:cs typeface="宋体" panose="02000500000000000000" pitchFamily="2" charset="-122"/>
                <a:sym typeface="+mn-ea"/>
              </a:rPr>
              <a:t>ISSCC</a:t>
            </a:r>
            <a:r>
              <a:rPr lang="zh-CN" altLang="en-GB" sz="1600" dirty="0">
                <a:cs typeface="宋体" panose="02000500000000000000" pitchFamily="2" charset="-122"/>
                <a:sym typeface="+mn-ea"/>
              </a:rPr>
              <a:t>等国际著名刊物和会议发表龙芯</a:t>
            </a:r>
            <a:r>
              <a:rPr lang="en-GB" altLang="zh-CN" sz="1600" dirty="0">
                <a:cs typeface="宋体" panose="02000500000000000000" pitchFamily="2" charset="-122"/>
                <a:sym typeface="+mn-ea"/>
              </a:rPr>
              <a:t>3</a:t>
            </a:r>
            <a:r>
              <a:rPr lang="zh-CN" altLang="en-GB" sz="1600" dirty="0">
                <a:cs typeface="宋体" panose="02000500000000000000" pitchFamily="2" charset="-122"/>
                <a:sym typeface="+mn-ea"/>
              </a:rPr>
              <a:t>号结构</a:t>
            </a:r>
            <a:endParaRPr lang="en-US" altLang="zh-CN" sz="1600" dirty="0">
              <a:cs typeface="宋体" panose="02000500000000000000" pitchFamily="2" charset="-122"/>
            </a:endParaRPr>
          </a:p>
          <a:p>
            <a:pPr marL="685800" lvl="1" indent="-228600" defTabSz="265430" eaLnBrk="1" hangingPunct="1">
              <a:lnSpc>
                <a:spcPct val="135000"/>
              </a:lnSpc>
              <a:spcBef>
                <a:spcPct val="0"/>
              </a:spcBef>
              <a:buSzPct val="100000"/>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r>
              <a:rPr lang="en-US" altLang="zh-CN" sz="1600" dirty="0">
                <a:cs typeface="宋体" panose="02000500000000000000" pitchFamily="2" charset="-122"/>
              </a:rPr>
              <a:t>3A2000/3A3000</a:t>
            </a:r>
            <a:r>
              <a:rPr lang="zh-CN" altLang="en-US" sz="1600" dirty="0">
                <a:cs typeface="宋体" panose="02000500000000000000" pitchFamily="2" charset="-122"/>
              </a:rPr>
              <a:t>纠正，</a:t>
            </a:r>
            <a:r>
              <a:rPr lang="en-US" altLang="zh-CN" sz="1600" dirty="0">
                <a:cs typeface="宋体" panose="02000500000000000000" pitchFamily="2" charset="-122"/>
              </a:rPr>
              <a:t>3A4000/3A5000</a:t>
            </a:r>
            <a:r>
              <a:rPr lang="zh-CN" altLang="en-US" sz="1600" dirty="0">
                <a:cs typeface="宋体" panose="02000500000000000000" pitchFamily="2" charset="-122"/>
              </a:rPr>
              <a:t>再跨越，</a:t>
            </a:r>
            <a:r>
              <a:rPr lang="en-US" altLang="zh-CN" sz="1600" dirty="0">
                <a:cs typeface="宋体" panose="02000500000000000000" pitchFamily="2" charset="-122"/>
              </a:rPr>
              <a:t>3A6000</a:t>
            </a:r>
            <a:r>
              <a:rPr lang="zh-CN" altLang="en-US" sz="1600" dirty="0">
                <a:cs typeface="宋体" panose="02000500000000000000" pitchFamily="2" charset="-122"/>
              </a:rPr>
              <a:t>达到市场主流产品水平</a:t>
            </a:r>
            <a:endParaRPr lang="zh-CN" altLang="en-GB" sz="1600" dirty="0">
              <a:cs typeface="宋体" panose="02000500000000000000" pitchFamily="2" charset="-122"/>
            </a:endParaRPr>
          </a:p>
          <a:p>
            <a:pPr marL="685800" lvl="1" indent="-228600" defTabSz="265430" eaLnBrk="1" hangingPunct="1">
              <a:lnSpc>
                <a:spcPct val="135000"/>
              </a:lnSpc>
              <a:spcBef>
                <a:spcPct val="0"/>
              </a:spcBef>
              <a:buSzPct val="100000"/>
              <a:buNone/>
              <a:tabLst>
                <a:tab pos="440055" algn="l"/>
                <a:tab pos="704850" algn="l"/>
                <a:tab pos="970280" algn="l"/>
                <a:tab pos="1235075" algn="l"/>
                <a:tab pos="1500505" algn="l"/>
                <a:tab pos="1765300" algn="l"/>
                <a:tab pos="2030730" algn="l"/>
                <a:tab pos="2295525" algn="l"/>
                <a:tab pos="2560955" algn="l"/>
                <a:tab pos="2825750" algn="l"/>
                <a:tab pos="3091180" algn="l"/>
                <a:tab pos="3355975" algn="l"/>
                <a:tab pos="3621405" algn="l"/>
                <a:tab pos="3886200" algn="l"/>
                <a:tab pos="4151630" algn="l"/>
                <a:tab pos="4416425" algn="l"/>
                <a:tab pos="4681855" algn="l"/>
                <a:tab pos="4946650" algn="l"/>
                <a:tab pos="5212080" algn="l"/>
                <a:tab pos="5476875" algn="l"/>
                <a:tab pos="5791200" algn="l"/>
                <a:tab pos="6515100" algn="l"/>
                <a:tab pos="7239000" algn="l"/>
                <a:tab pos="7962900" algn="l"/>
                <a:tab pos="8686800" algn="l"/>
                <a:tab pos="9410700" algn="l"/>
                <a:tab pos="10134600" algn="l"/>
              </a:tabLst>
            </a:pPr>
            <a:endParaRPr lang="zh-CN" altLang="en-GB" sz="1600" dirty="0">
              <a:cs typeface="宋体" panose="02000500000000000000" pitchFamily="2" charset="-122"/>
            </a:endParaRPr>
          </a:p>
        </p:txBody>
      </p:sp>
      <p:pic>
        <p:nvPicPr>
          <p:cNvPr id="13317" name="Picture 3"/>
          <p:cNvPicPr>
            <a:picLocks noChangeAspect="1"/>
          </p:cNvPicPr>
          <p:nvPr/>
        </p:nvPicPr>
        <p:blipFill>
          <a:blip r:embed="rId1"/>
          <a:stretch>
            <a:fillRect/>
          </a:stretch>
        </p:blipFill>
        <p:spPr>
          <a:xfrm>
            <a:off x="3683000" y="5543550"/>
            <a:ext cx="1731963" cy="1298575"/>
          </a:xfrm>
          <a:prstGeom prst="rect">
            <a:avLst/>
          </a:prstGeom>
          <a:noFill/>
          <a:ln w="9525">
            <a:noFill/>
          </a:ln>
        </p:spPr>
      </p:pic>
      <p:pic>
        <p:nvPicPr>
          <p:cNvPr id="13318" name="Picture 4"/>
          <p:cNvPicPr>
            <a:picLocks noChangeAspect="1"/>
          </p:cNvPicPr>
          <p:nvPr/>
        </p:nvPicPr>
        <p:blipFill>
          <a:blip r:embed="rId2"/>
          <a:stretch>
            <a:fillRect/>
          </a:stretch>
        </p:blipFill>
        <p:spPr>
          <a:xfrm>
            <a:off x="7138988" y="5562600"/>
            <a:ext cx="1727200" cy="1295400"/>
          </a:xfrm>
          <a:prstGeom prst="rect">
            <a:avLst/>
          </a:prstGeom>
          <a:noFill/>
          <a:ln w="9525">
            <a:noFill/>
          </a:ln>
        </p:spPr>
      </p:pic>
      <p:pic>
        <p:nvPicPr>
          <p:cNvPr id="13319" name="Picture 5"/>
          <p:cNvPicPr>
            <a:picLocks noChangeAspect="1"/>
          </p:cNvPicPr>
          <p:nvPr/>
        </p:nvPicPr>
        <p:blipFill>
          <a:blip r:embed="rId3"/>
          <a:stretch>
            <a:fillRect/>
          </a:stretch>
        </p:blipFill>
        <p:spPr>
          <a:xfrm>
            <a:off x="10425113" y="5580063"/>
            <a:ext cx="1697037" cy="1271587"/>
          </a:xfrm>
          <a:prstGeom prst="rect">
            <a:avLst/>
          </a:prstGeom>
          <a:noFill/>
          <a:ln w="9525">
            <a:noFill/>
          </a:ln>
        </p:spPr>
      </p:pic>
      <p:pic>
        <p:nvPicPr>
          <p:cNvPr id="13320" name="Picture 6"/>
          <p:cNvPicPr>
            <a:picLocks noChangeAspect="1"/>
          </p:cNvPicPr>
          <p:nvPr/>
        </p:nvPicPr>
        <p:blipFill>
          <a:blip r:embed="rId4"/>
          <a:stretch>
            <a:fillRect/>
          </a:stretch>
        </p:blipFill>
        <p:spPr>
          <a:xfrm>
            <a:off x="506413" y="5651500"/>
            <a:ext cx="1698625" cy="1131888"/>
          </a:xfrm>
          <a:prstGeom prst="rect">
            <a:avLst/>
          </a:prstGeom>
          <a:noFill/>
          <a:ln w="9525">
            <a:noFill/>
          </a:ln>
        </p:spPr>
      </p:pic>
      <p:sp>
        <p:nvSpPr>
          <p:cNvPr id="13321" name="Text Box 7"/>
          <p:cNvSpPr txBox="1"/>
          <p:nvPr/>
        </p:nvSpPr>
        <p:spPr>
          <a:xfrm>
            <a:off x="2406650" y="5651500"/>
            <a:ext cx="1003300" cy="455613"/>
          </a:xfrm>
          <a:prstGeom prst="rect">
            <a:avLst/>
          </a:prstGeom>
          <a:noFill/>
          <a:ln w="9525">
            <a:noFill/>
          </a:ln>
        </p:spPr>
        <p:txBody>
          <a:bodyPr lIns="90000" tIns="45000" rIns="90000" bIns="4500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b="1" dirty="0">
                <a:solidFill>
                  <a:srgbClr val="FF0000"/>
                </a:solidFill>
                <a:latin typeface="Times New Roman" pitchFamily="18" charset="0"/>
              </a:rPr>
              <a:t>X3</a:t>
            </a:r>
            <a:endParaRPr lang="en-GB" altLang="zh-CN" b="1" dirty="0">
              <a:solidFill>
                <a:srgbClr val="FF0000"/>
              </a:solidFill>
              <a:latin typeface="Times New Roman" pitchFamily="18" charset="0"/>
            </a:endParaRPr>
          </a:p>
        </p:txBody>
      </p:sp>
      <p:sp>
        <p:nvSpPr>
          <p:cNvPr id="13322" name="Line 8"/>
          <p:cNvSpPr/>
          <p:nvPr/>
        </p:nvSpPr>
        <p:spPr>
          <a:xfrm>
            <a:off x="2447925" y="6191250"/>
            <a:ext cx="1000125" cy="1588"/>
          </a:xfrm>
          <a:prstGeom prst="line">
            <a:avLst/>
          </a:prstGeom>
          <a:ln w="72000" cap="flat" cmpd="sng">
            <a:solidFill>
              <a:srgbClr val="FF0000"/>
            </a:solidFill>
            <a:prstDash val="solid"/>
            <a:miter/>
            <a:headEnd type="none" w="med" len="med"/>
            <a:tailEnd type="triangle" w="med" len="med"/>
          </a:ln>
        </p:spPr>
      </p:sp>
      <p:sp>
        <p:nvSpPr>
          <p:cNvPr id="13323" name="Text Box 9"/>
          <p:cNvSpPr txBox="1"/>
          <p:nvPr/>
        </p:nvSpPr>
        <p:spPr>
          <a:xfrm>
            <a:off x="2406650" y="5651500"/>
            <a:ext cx="1003300" cy="455613"/>
          </a:xfrm>
          <a:prstGeom prst="rect">
            <a:avLst/>
          </a:prstGeom>
          <a:noFill/>
          <a:ln w="9525">
            <a:noFill/>
          </a:ln>
        </p:spPr>
        <p:txBody>
          <a:bodyPr lIns="90000" tIns="45000" rIns="90000" bIns="4500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b="1" dirty="0">
                <a:solidFill>
                  <a:srgbClr val="FF0000"/>
                </a:solidFill>
                <a:latin typeface="Times New Roman" pitchFamily="18" charset="0"/>
              </a:rPr>
              <a:t>X3</a:t>
            </a:r>
            <a:endParaRPr lang="en-GB" altLang="zh-CN" b="1" dirty="0">
              <a:solidFill>
                <a:srgbClr val="FF0000"/>
              </a:solidFill>
              <a:latin typeface="Times New Roman" pitchFamily="18" charset="0"/>
            </a:endParaRPr>
          </a:p>
        </p:txBody>
      </p:sp>
      <p:sp>
        <p:nvSpPr>
          <p:cNvPr id="13324" name="Text Box 10"/>
          <p:cNvSpPr txBox="1"/>
          <p:nvPr/>
        </p:nvSpPr>
        <p:spPr>
          <a:xfrm>
            <a:off x="5614988" y="5688013"/>
            <a:ext cx="1000125" cy="455612"/>
          </a:xfrm>
          <a:prstGeom prst="rect">
            <a:avLst/>
          </a:prstGeom>
          <a:noFill/>
          <a:ln w="9525">
            <a:noFill/>
          </a:ln>
        </p:spPr>
        <p:txBody>
          <a:bodyPr lIns="90000" tIns="45000" rIns="90000" bIns="4500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b="1" dirty="0">
                <a:solidFill>
                  <a:srgbClr val="FF0000"/>
                </a:solidFill>
                <a:latin typeface="Times New Roman" pitchFamily="18" charset="0"/>
              </a:rPr>
              <a:t>X3</a:t>
            </a:r>
            <a:endParaRPr lang="en-GB" altLang="zh-CN" b="1" dirty="0">
              <a:solidFill>
                <a:srgbClr val="FF0000"/>
              </a:solidFill>
              <a:latin typeface="Times New Roman" pitchFamily="18" charset="0"/>
            </a:endParaRPr>
          </a:p>
        </p:txBody>
      </p:sp>
      <p:sp>
        <p:nvSpPr>
          <p:cNvPr id="13325" name="Line 11"/>
          <p:cNvSpPr/>
          <p:nvPr/>
        </p:nvSpPr>
        <p:spPr>
          <a:xfrm>
            <a:off x="5735638" y="6191250"/>
            <a:ext cx="1001712" cy="1588"/>
          </a:xfrm>
          <a:prstGeom prst="line">
            <a:avLst/>
          </a:prstGeom>
          <a:ln w="72000" cap="flat" cmpd="sng">
            <a:solidFill>
              <a:srgbClr val="FF0000"/>
            </a:solidFill>
            <a:prstDash val="solid"/>
            <a:miter/>
            <a:headEnd type="none" w="med" len="med"/>
            <a:tailEnd type="triangle" w="med" len="med"/>
          </a:ln>
        </p:spPr>
      </p:sp>
      <p:sp>
        <p:nvSpPr>
          <p:cNvPr id="13326" name="Text Box 12"/>
          <p:cNvSpPr txBox="1"/>
          <p:nvPr/>
        </p:nvSpPr>
        <p:spPr>
          <a:xfrm>
            <a:off x="9021763" y="5688013"/>
            <a:ext cx="1004887" cy="455612"/>
          </a:xfrm>
          <a:prstGeom prst="rect">
            <a:avLst/>
          </a:prstGeom>
          <a:noFill/>
          <a:ln w="9525">
            <a:noFill/>
          </a:ln>
        </p:spPr>
        <p:txBody>
          <a:bodyPr lIns="90000" tIns="45000" rIns="90000" bIns="4500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b="1" dirty="0">
                <a:solidFill>
                  <a:srgbClr val="FF0000"/>
                </a:solidFill>
                <a:latin typeface="Times New Roman" pitchFamily="18" charset="0"/>
              </a:rPr>
              <a:t>X3</a:t>
            </a:r>
            <a:endParaRPr lang="en-GB" altLang="zh-CN" b="1" dirty="0">
              <a:solidFill>
                <a:srgbClr val="FF0000"/>
              </a:solidFill>
              <a:latin typeface="Times New Roman" pitchFamily="18" charset="0"/>
            </a:endParaRPr>
          </a:p>
        </p:txBody>
      </p:sp>
      <p:sp>
        <p:nvSpPr>
          <p:cNvPr id="13327" name="Line 13"/>
          <p:cNvSpPr/>
          <p:nvPr/>
        </p:nvSpPr>
        <p:spPr>
          <a:xfrm>
            <a:off x="9102725" y="6227763"/>
            <a:ext cx="1003300" cy="1587"/>
          </a:xfrm>
          <a:prstGeom prst="line">
            <a:avLst/>
          </a:prstGeom>
          <a:ln w="72000" cap="flat" cmpd="sng">
            <a:solidFill>
              <a:srgbClr val="FF0000"/>
            </a:solidFill>
            <a:prstDash val="solid"/>
            <a:miter/>
            <a:headEnd type="none" w="med" len="med"/>
            <a:tailEnd type="triangle" w="med" len="med"/>
          </a:ln>
        </p:spPr>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15363" name="Rectangle 1"/>
          <p:cNvSpPr/>
          <p:nvPr>
            <p:ph type="title"/>
          </p:nvPr>
        </p:nvSpPr>
        <p:spPr>
          <a:xfrm>
            <a:off x="1003300" y="0"/>
            <a:ext cx="10364788"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t>龙芯</a:t>
            </a:r>
            <a:r>
              <a:rPr lang="en-GB" altLang="zh-CN" dirty="0"/>
              <a:t>2</a:t>
            </a:r>
            <a:r>
              <a:rPr lang="zh-CN" altLang="en-GB" dirty="0"/>
              <a:t>号处理器核（</a:t>
            </a:r>
            <a:r>
              <a:rPr lang="en-GB" altLang="zh-CN" dirty="0"/>
              <a:t>GS464</a:t>
            </a:r>
            <a:r>
              <a:rPr lang="zh-CN" altLang="en-GB" dirty="0"/>
              <a:t>）</a:t>
            </a:r>
            <a:endParaRPr lang="zh-CN" altLang="en-GB" dirty="0"/>
          </a:p>
        </p:txBody>
      </p:sp>
      <p:pic>
        <p:nvPicPr>
          <p:cNvPr id="15364" name="Picture 215" descr="841286100824181"/>
          <p:cNvPicPr>
            <a:picLocks noChangeAspect="1"/>
          </p:cNvPicPr>
          <p:nvPr/>
        </p:nvPicPr>
        <p:blipFill>
          <a:blip r:embed="rId1"/>
          <a:stretch>
            <a:fillRect/>
          </a:stretch>
        </p:blipFill>
        <p:spPr>
          <a:xfrm>
            <a:off x="1282700" y="1376363"/>
            <a:ext cx="9293225" cy="5173662"/>
          </a:xfrm>
          <a:prstGeom prst="rect">
            <a:avLst/>
          </a:prstGeom>
          <a:noFill/>
          <a:ln w="9525">
            <a:noFill/>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16387" name="Rectangle 1"/>
          <p:cNvSpPr/>
          <p:nvPr>
            <p:ph type="title"/>
          </p:nvPr>
        </p:nvSpPr>
        <p:spPr>
          <a:xfrm>
            <a:off x="882650" y="0"/>
            <a:ext cx="10364788"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t>龙芯处理器结构设计心得</a:t>
            </a:r>
            <a:endParaRPr lang="zh-CN" altLang="en-GB" dirty="0"/>
          </a:p>
        </p:txBody>
      </p:sp>
      <p:sp>
        <p:nvSpPr>
          <p:cNvPr id="16388" name="Rectangle 2"/>
          <p:cNvSpPr/>
          <p:nvPr>
            <p:ph idx="1"/>
          </p:nvPr>
        </p:nvSpPr>
        <p:spPr>
          <a:xfrm>
            <a:off x="498475" y="1506538"/>
            <a:ext cx="11253788" cy="4935537"/>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en-US" altLang="zh-CN" sz="2000" dirty="0">
                <a:cs typeface="宋体" panose="02000500000000000000" pitchFamily="2" charset="-122"/>
              </a:rPr>
              <a:t>2001-2005</a:t>
            </a:r>
            <a:r>
              <a:rPr lang="zh-CN" altLang="en-GB" sz="2000" dirty="0">
                <a:cs typeface="宋体" panose="02000500000000000000" pitchFamily="2" charset="-122"/>
              </a:rPr>
              <a:t>年走过了处理器结构设计近二、三十年的发展历程，难得有这样的经历</a:t>
            </a:r>
            <a:endParaRPr lang="zh-CN" altLang="en-GB" sz="20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2000" dirty="0">
                <a:cs typeface="宋体" panose="02000500000000000000" pitchFamily="2" charset="-122"/>
              </a:rPr>
              <a:t>结构设计可以采用跨越的方法（如龙芯</a:t>
            </a:r>
            <a:r>
              <a:rPr lang="en-GB" altLang="zh-CN" sz="2000" dirty="0">
                <a:cs typeface="宋体" panose="02000500000000000000" pitchFamily="2" charset="-122"/>
              </a:rPr>
              <a:t>1</a:t>
            </a:r>
            <a:r>
              <a:rPr lang="zh-CN" altLang="en-GB" sz="2000" dirty="0">
                <a:cs typeface="宋体" panose="02000500000000000000" pitchFamily="2" charset="-122"/>
              </a:rPr>
              <a:t>号采用动态调度、龙芯</a:t>
            </a:r>
            <a:r>
              <a:rPr lang="en-GB" altLang="zh-CN" sz="2000" dirty="0">
                <a:cs typeface="宋体" panose="02000500000000000000" pitchFamily="2" charset="-122"/>
              </a:rPr>
              <a:t>2</a:t>
            </a:r>
            <a:r>
              <a:rPr lang="zh-CN" altLang="en-GB" sz="2000" dirty="0">
                <a:cs typeface="宋体" panose="02000500000000000000" pitchFamily="2" charset="-122"/>
              </a:rPr>
              <a:t>号采用四发射乱序执行），但认识的提高，经验的增长是无法跨越的</a:t>
            </a:r>
            <a:endParaRPr lang="zh-CN" altLang="en-GB" sz="20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2000" dirty="0">
                <a:cs typeface="宋体" panose="02000500000000000000" pitchFamily="2" charset="-122"/>
              </a:rPr>
              <a:t>“小步快跑”的技术路线加速了认识提高和经验增长的过程</a:t>
            </a:r>
            <a:endParaRPr lang="zh-CN" altLang="en-GB" sz="20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2000" dirty="0">
                <a:cs typeface="宋体" panose="02000500000000000000" pitchFamily="2" charset="-122"/>
              </a:rPr>
              <a:t>寓乐于苦，每个芯片流片成功只能有</a:t>
            </a:r>
            <a:r>
              <a:rPr lang="en-GB" altLang="zh-CN" sz="2000" dirty="0">
                <a:cs typeface="宋体" panose="02000500000000000000" pitchFamily="2" charset="-122"/>
              </a:rPr>
              <a:t>1-2</a:t>
            </a:r>
            <a:r>
              <a:rPr lang="zh-CN" altLang="en-GB" sz="2000" dirty="0">
                <a:cs typeface="宋体" panose="02000500000000000000" pitchFamily="2" charset="-122"/>
              </a:rPr>
              <a:t>天的短暂欢乐，但是够了</a:t>
            </a:r>
            <a:endParaRPr lang="zh-CN" altLang="en-GB" sz="2000" dirty="0">
              <a:cs typeface="宋体" panose="02000500000000000000" pitchFamily="2" charset="-122"/>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grpSp>
        <p:nvGrpSpPr>
          <p:cNvPr id="17411" name="Group 1"/>
          <p:cNvGrpSpPr/>
          <p:nvPr/>
        </p:nvGrpSpPr>
        <p:grpSpPr>
          <a:xfrm>
            <a:off x="1917065" y="1104265"/>
            <a:ext cx="8267065" cy="5674360"/>
            <a:chOff x="517" y="3"/>
            <a:chExt cx="5860" cy="4267"/>
          </a:xfrm>
        </p:grpSpPr>
        <p:sp>
          <p:nvSpPr>
            <p:cNvPr id="17412" name="Rectangle 2"/>
            <p:cNvSpPr/>
            <p:nvPr/>
          </p:nvSpPr>
          <p:spPr>
            <a:xfrm>
              <a:off x="5219" y="4127"/>
              <a:ext cx="1157" cy="143"/>
            </a:xfrm>
            <a:prstGeom prst="rect">
              <a:avLst/>
            </a:prstGeom>
            <a:noFill/>
            <a:ln w="9525">
              <a:noFill/>
            </a:ln>
          </p:spPr>
          <p:txBody>
            <a:bodyPr lIns="90000" tIns="0" rIns="90000" bIns="0"/>
            <a:p>
              <a:pPr marL="338455" indent="-338455" algn="ctr" defTabSz="265430">
                <a:buClr>
                  <a:srgbClr val="0000FF"/>
                </a:buCl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FF"/>
                  </a:solidFill>
                  <a:latin typeface="宋体" panose="02000500000000000000" pitchFamily="2" charset="-122"/>
                </a:rPr>
                <a:t>503</a:t>
              </a:r>
              <a:endParaRPr lang="en-GB" altLang="zh-CN" sz="1200" b="1" dirty="0">
                <a:solidFill>
                  <a:srgbClr val="0000FF"/>
                </a:solidFill>
                <a:latin typeface="宋体" panose="02000500000000000000" pitchFamily="2" charset="-122"/>
              </a:endParaRPr>
            </a:p>
          </p:txBody>
        </p:sp>
        <p:sp>
          <p:nvSpPr>
            <p:cNvPr id="17413" name="Rectangle 3"/>
            <p:cNvSpPr/>
            <p:nvPr/>
          </p:nvSpPr>
          <p:spPr>
            <a:xfrm>
              <a:off x="3963" y="4127"/>
              <a:ext cx="1257" cy="143"/>
            </a:xfrm>
            <a:prstGeom prst="rect">
              <a:avLst/>
            </a:prstGeom>
            <a:noFill/>
            <a:ln w="9525">
              <a:noFill/>
            </a:ln>
          </p:spPr>
          <p:txBody>
            <a:bodyPr lIns="90000" tIns="0" rIns="90000" bIns="0"/>
            <a:p>
              <a:pPr marL="338455" indent="-338455" algn="ctr" defTabSz="265430">
                <a:buClr>
                  <a:srgbClr val="0000FF"/>
                </a:buCl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FF"/>
                  </a:solidFill>
                  <a:latin typeface="宋体" panose="02000500000000000000" pitchFamily="2" charset="-122"/>
                </a:rPr>
                <a:t>114</a:t>
              </a:r>
              <a:endParaRPr lang="en-GB" altLang="zh-CN" sz="1200" b="1" dirty="0">
                <a:solidFill>
                  <a:srgbClr val="0000FF"/>
                </a:solidFill>
                <a:latin typeface="宋体" panose="02000500000000000000" pitchFamily="2" charset="-122"/>
              </a:endParaRPr>
            </a:p>
          </p:txBody>
        </p:sp>
        <p:sp>
          <p:nvSpPr>
            <p:cNvPr id="17414" name="Rectangle 4"/>
            <p:cNvSpPr/>
            <p:nvPr/>
          </p:nvSpPr>
          <p:spPr>
            <a:xfrm>
              <a:off x="2762" y="4127"/>
              <a:ext cx="1201" cy="143"/>
            </a:xfrm>
            <a:prstGeom prst="rect">
              <a:avLst/>
            </a:prstGeom>
            <a:noFill/>
            <a:ln w="9525">
              <a:noFill/>
            </a:ln>
          </p:spPr>
          <p:txBody>
            <a:bodyPr lIns="90000" tIns="0" rIns="90000" bIns="0"/>
            <a:p>
              <a:pPr marL="338455" indent="-338455" algn="ctr" defTabSz="265430">
                <a:buClr>
                  <a:srgbClr val="0000FF"/>
                </a:buCl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FF"/>
                  </a:solidFill>
                  <a:latin typeface="宋体" panose="02000500000000000000" pitchFamily="2" charset="-122"/>
                </a:rPr>
                <a:t>58</a:t>
              </a:r>
              <a:endParaRPr lang="en-GB" altLang="zh-CN" sz="1200" b="1" dirty="0">
                <a:solidFill>
                  <a:srgbClr val="0000FF"/>
                </a:solidFill>
                <a:latin typeface="宋体" panose="02000500000000000000" pitchFamily="2" charset="-122"/>
              </a:endParaRPr>
            </a:p>
          </p:txBody>
        </p:sp>
        <p:sp>
          <p:nvSpPr>
            <p:cNvPr id="17415" name="Rectangle 5"/>
            <p:cNvSpPr/>
            <p:nvPr/>
          </p:nvSpPr>
          <p:spPr>
            <a:xfrm>
              <a:off x="1650" y="4127"/>
              <a:ext cx="1112" cy="143"/>
            </a:xfrm>
            <a:prstGeom prst="rect">
              <a:avLst/>
            </a:prstGeom>
            <a:noFill/>
            <a:ln w="9525">
              <a:noFill/>
            </a:ln>
          </p:spPr>
          <p:txBody>
            <a:bodyPr lIns="90000" tIns="0" rIns="90000" bIns="0" anchor="ctr" anchorCtr="0"/>
            <a:p>
              <a:pPr marL="338455" indent="-338455" algn="ctr" defTabSz="265430">
                <a:buClr>
                  <a:srgbClr val="0000FF"/>
                </a:buCl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FF"/>
                  </a:solidFill>
                  <a:latin typeface="宋体" panose="02000500000000000000" pitchFamily="2" charset="-122"/>
                </a:rPr>
                <a:t>24.8</a:t>
              </a:r>
              <a:endParaRPr lang="en-GB" altLang="zh-CN" sz="1200" b="1" dirty="0">
                <a:solidFill>
                  <a:srgbClr val="0000FF"/>
                </a:solidFill>
                <a:latin typeface="宋体" panose="02000500000000000000" pitchFamily="2" charset="-122"/>
              </a:endParaRPr>
            </a:p>
          </p:txBody>
        </p:sp>
        <p:sp>
          <p:nvSpPr>
            <p:cNvPr id="17416" name="Rectangle 6"/>
            <p:cNvSpPr/>
            <p:nvPr/>
          </p:nvSpPr>
          <p:spPr>
            <a:xfrm>
              <a:off x="517" y="4127"/>
              <a:ext cx="1133" cy="143"/>
            </a:xfrm>
            <a:prstGeom prst="rect">
              <a:avLst/>
            </a:prstGeom>
            <a:noFill/>
            <a:ln w="9525">
              <a:noFill/>
            </a:ln>
          </p:spPr>
          <p:txBody>
            <a:bodyPr lIns="90000" tIns="0" rIns="90000" bIns="0"/>
            <a:p>
              <a:pPr marL="338455" indent="-338455" defTabSz="265430">
                <a:buClr>
                  <a:srgbClr val="0000FF"/>
                </a:buCl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FF"/>
                  </a:solidFill>
                  <a:latin typeface="宋体" panose="02000500000000000000" pitchFamily="2" charset="-122"/>
                </a:rPr>
                <a:t>SPEC_FP2000</a:t>
              </a:r>
              <a:endParaRPr lang="en-GB" altLang="zh-CN" sz="1200" b="1" dirty="0">
                <a:solidFill>
                  <a:srgbClr val="0000FF"/>
                </a:solidFill>
                <a:latin typeface="宋体" panose="02000500000000000000" pitchFamily="2" charset="-122"/>
              </a:endParaRPr>
            </a:p>
          </p:txBody>
        </p:sp>
        <p:sp>
          <p:nvSpPr>
            <p:cNvPr id="17417" name="Rectangle 7"/>
            <p:cNvSpPr/>
            <p:nvPr/>
          </p:nvSpPr>
          <p:spPr>
            <a:xfrm>
              <a:off x="5219" y="3984"/>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493</a:t>
              </a:r>
              <a:endParaRPr lang="en-GB" altLang="zh-CN" sz="1200" b="1" dirty="0">
                <a:solidFill>
                  <a:srgbClr val="000000"/>
                </a:solidFill>
                <a:latin typeface="宋体" panose="02000500000000000000" pitchFamily="2" charset="-122"/>
              </a:endParaRPr>
            </a:p>
          </p:txBody>
        </p:sp>
        <p:sp>
          <p:nvSpPr>
            <p:cNvPr id="17418" name="Rectangle 8"/>
            <p:cNvSpPr/>
            <p:nvPr/>
          </p:nvSpPr>
          <p:spPr>
            <a:xfrm>
              <a:off x="3963" y="3984"/>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115</a:t>
              </a:r>
              <a:endParaRPr lang="en-GB" altLang="zh-CN" sz="1200" b="1" dirty="0">
                <a:solidFill>
                  <a:srgbClr val="000000"/>
                </a:solidFill>
                <a:latin typeface="宋体" panose="02000500000000000000" pitchFamily="2" charset="-122"/>
              </a:endParaRPr>
            </a:p>
          </p:txBody>
        </p:sp>
        <p:sp>
          <p:nvSpPr>
            <p:cNvPr id="17419" name="Rectangle 9"/>
            <p:cNvSpPr/>
            <p:nvPr/>
          </p:nvSpPr>
          <p:spPr>
            <a:xfrm>
              <a:off x="2762" y="3984"/>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46</a:t>
              </a:r>
              <a:endParaRPr lang="en-GB" altLang="zh-CN" sz="1200" b="1" dirty="0">
                <a:solidFill>
                  <a:srgbClr val="000000"/>
                </a:solidFill>
                <a:latin typeface="宋体" panose="02000500000000000000" pitchFamily="2" charset="-122"/>
              </a:endParaRPr>
            </a:p>
          </p:txBody>
        </p:sp>
        <p:sp>
          <p:nvSpPr>
            <p:cNvPr id="17420" name="Rectangle 10"/>
            <p:cNvSpPr/>
            <p:nvPr/>
          </p:nvSpPr>
          <p:spPr>
            <a:xfrm>
              <a:off x="1650" y="3984"/>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20.4</a:t>
              </a:r>
              <a:endParaRPr lang="en-GB" altLang="zh-CN" sz="1200" b="1" dirty="0">
                <a:solidFill>
                  <a:srgbClr val="000000"/>
                </a:solidFill>
                <a:latin typeface="宋体" panose="02000500000000000000" pitchFamily="2" charset="-122"/>
              </a:endParaRPr>
            </a:p>
          </p:txBody>
        </p:sp>
        <p:sp>
          <p:nvSpPr>
            <p:cNvPr id="17421" name="Rectangle 11"/>
            <p:cNvSpPr/>
            <p:nvPr/>
          </p:nvSpPr>
          <p:spPr>
            <a:xfrm>
              <a:off x="517" y="3984"/>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301.apsi</a:t>
              </a:r>
              <a:endParaRPr lang="en-GB" altLang="zh-CN" sz="1200" b="1" dirty="0">
                <a:solidFill>
                  <a:srgbClr val="000000"/>
                </a:solidFill>
                <a:latin typeface="宋体" panose="02000500000000000000" pitchFamily="2" charset="-122"/>
              </a:endParaRPr>
            </a:p>
          </p:txBody>
        </p:sp>
        <p:sp>
          <p:nvSpPr>
            <p:cNvPr id="17422" name="Rectangle 12"/>
            <p:cNvSpPr/>
            <p:nvPr/>
          </p:nvSpPr>
          <p:spPr>
            <a:xfrm>
              <a:off x="5219" y="3841"/>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319</a:t>
              </a:r>
              <a:endParaRPr lang="en-GB" altLang="zh-CN" sz="1200" b="1" dirty="0">
                <a:solidFill>
                  <a:srgbClr val="000000"/>
                </a:solidFill>
                <a:latin typeface="宋体" panose="02000500000000000000" pitchFamily="2" charset="-122"/>
              </a:endParaRPr>
            </a:p>
          </p:txBody>
        </p:sp>
        <p:sp>
          <p:nvSpPr>
            <p:cNvPr id="17423" name="Rectangle 13"/>
            <p:cNvSpPr/>
            <p:nvPr/>
          </p:nvSpPr>
          <p:spPr>
            <a:xfrm>
              <a:off x="3963" y="3841"/>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zh-CN" altLang="en-GB" sz="1200" b="1" dirty="0">
                  <a:solidFill>
                    <a:srgbClr val="000000"/>
                  </a:solidFill>
                  <a:latin typeface="宋体" panose="02000500000000000000" pitchFamily="2" charset="-122"/>
                </a:rPr>
                <a:t> </a:t>
              </a:r>
              <a:r>
                <a:rPr lang="en-GB" altLang="zh-CN" sz="1200" b="1" dirty="0">
                  <a:solidFill>
                    <a:srgbClr val="000000"/>
                  </a:solidFill>
                  <a:latin typeface="宋体" panose="02000500000000000000" pitchFamily="2" charset="-122"/>
                </a:rPr>
                <a:t>92</a:t>
              </a:r>
              <a:endParaRPr lang="en-GB" altLang="zh-CN" sz="1200" b="1" dirty="0">
                <a:solidFill>
                  <a:srgbClr val="000000"/>
                </a:solidFill>
                <a:latin typeface="宋体" panose="02000500000000000000" pitchFamily="2" charset="-122"/>
              </a:endParaRPr>
            </a:p>
          </p:txBody>
        </p:sp>
        <p:sp>
          <p:nvSpPr>
            <p:cNvPr id="17424" name="Rectangle 14"/>
            <p:cNvSpPr/>
            <p:nvPr/>
          </p:nvSpPr>
          <p:spPr>
            <a:xfrm>
              <a:off x="2762" y="3841"/>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46</a:t>
              </a:r>
              <a:endParaRPr lang="en-GB" altLang="zh-CN" sz="1200" b="1" dirty="0">
                <a:solidFill>
                  <a:srgbClr val="000000"/>
                </a:solidFill>
                <a:latin typeface="宋体" panose="02000500000000000000" pitchFamily="2" charset="-122"/>
              </a:endParaRPr>
            </a:p>
          </p:txBody>
        </p:sp>
        <p:sp>
          <p:nvSpPr>
            <p:cNvPr id="17425" name="Rectangle 15"/>
            <p:cNvSpPr/>
            <p:nvPr/>
          </p:nvSpPr>
          <p:spPr>
            <a:xfrm>
              <a:off x="1650" y="3841"/>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16.6</a:t>
              </a:r>
              <a:endParaRPr lang="en-GB" altLang="zh-CN" sz="1200" b="1" dirty="0">
                <a:solidFill>
                  <a:srgbClr val="000000"/>
                </a:solidFill>
                <a:latin typeface="宋体" panose="02000500000000000000" pitchFamily="2" charset="-122"/>
              </a:endParaRPr>
            </a:p>
          </p:txBody>
        </p:sp>
        <p:sp>
          <p:nvSpPr>
            <p:cNvPr id="17426" name="Rectangle 16"/>
            <p:cNvSpPr/>
            <p:nvPr/>
          </p:nvSpPr>
          <p:spPr>
            <a:xfrm>
              <a:off x="517" y="3841"/>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200.sixtrack</a:t>
              </a:r>
              <a:endParaRPr lang="en-GB" altLang="zh-CN" sz="1200" b="1" dirty="0">
                <a:solidFill>
                  <a:srgbClr val="000000"/>
                </a:solidFill>
                <a:latin typeface="宋体" panose="02000500000000000000" pitchFamily="2" charset="-122"/>
              </a:endParaRPr>
            </a:p>
          </p:txBody>
        </p:sp>
        <p:sp>
          <p:nvSpPr>
            <p:cNvPr id="17427" name="Rectangle 17"/>
            <p:cNvSpPr/>
            <p:nvPr/>
          </p:nvSpPr>
          <p:spPr>
            <a:xfrm>
              <a:off x="5219" y="3698"/>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395</a:t>
              </a:r>
              <a:endParaRPr lang="en-GB" altLang="zh-CN" sz="1200" b="1" dirty="0">
                <a:solidFill>
                  <a:srgbClr val="000000"/>
                </a:solidFill>
                <a:latin typeface="宋体" panose="02000500000000000000" pitchFamily="2" charset="-122"/>
              </a:endParaRPr>
            </a:p>
          </p:txBody>
        </p:sp>
        <p:sp>
          <p:nvSpPr>
            <p:cNvPr id="17428" name="Rectangle 18"/>
            <p:cNvSpPr/>
            <p:nvPr/>
          </p:nvSpPr>
          <p:spPr>
            <a:xfrm>
              <a:off x="3963" y="3698"/>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a:t>
              </a:r>
              <a:endParaRPr lang="en-GB" altLang="zh-CN" sz="1200" b="1" dirty="0">
                <a:solidFill>
                  <a:srgbClr val="000000"/>
                </a:solidFill>
                <a:latin typeface="宋体" panose="02000500000000000000" pitchFamily="2" charset="-122"/>
              </a:endParaRPr>
            </a:p>
          </p:txBody>
        </p:sp>
        <p:sp>
          <p:nvSpPr>
            <p:cNvPr id="17429" name="Rectangle 19"/>
            <p:cNvSpPr/>
            <p:nvPr/>
          </p:nvSpPr>
          <p:spPr>
            <a:xfrm>
              <a:off x="2762" y="3698"/>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a:t>
              </a:r>
              <a:endParaRPr lang="en-GB" altLang="zh-CN" sz="1200" b="1" dirty="0">
                <a:solidFill>
                  <a:srgbClr val="000000"/>
                </a:solidFill>
                <a:latin typeface="宋体" panose="02000500000000000000" pitchFamily="2" charset="-122"/>
              </a:endParaRPr>
            </a:p>
          </p:txBody>
        </p:sp>
        <p:sp>
          <p:nvSpPr>
            <p:cNvPr id="17430" name="Rectangle 20"/>
            <p:cNvSpPr/>
            <p:nvPr/>
          </p:nvSpPr>
          <p:spPr>
            <a:xfrm>
              <a:off x="1650" y="3698"/>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a:t>
              </a:r>
              <a:endParaRPr lang="en-GB" altLang="zh-CN" sz="1200" b="1" dirty="0">
                <a:solidFill>
                  <a:srgbClr val="000000"/>
                </a:solidFill>
                <a:latin typeface="宋体" panose="02000500000000000000" pitchFamily="2" charset="-122"/>
              </a:endParaRPr>
            </a:p>
          </p:txBody>
        </p:sp>
        <p:sp>
          <p:nvSpPr>
            <p:cNvPr id="17431" name="Rectangle 21"/>
            <p:cNvSpPr/>
            <p:nvPr/>
          </p:nvSpPr>
          <p:spPr>
            <a:xfrm>
              <a:off x="517" y="3698"/>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191.fma3d</a:t>
              </a:r>
              <a:endParaRPr lang="en-GB" altLang="zh-CN" sz="1200" b="1" dirty="0">
                <a:solidFill>
                  <a:srgbClr val="000000"/>
                </a:solidFill>
                <a:latin typeface="宋体" panose="02000500000000000000" pitchFamily="2" charset="-122"/>
              </a:endParaRPr>
            </a:p>
          </p:txBody>
        </p:sp>
        <p:sp>
          <p:nvSpPr>
            <p:cNvPr id="17432" name="Rectangle 22"/>
            <p:cNvSpPr/>
            <p:nvPr/>
          </p:nvSpPr>
          <p:spPr>
            <a:xfrm>
              <a:off x="5219" y="3555"/>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506</a:t>
              </a:r>
              <a:endParaRPr lang="en-GB" altLang="zh-CN" sz="1200" b="1" dirty="0">
                <a:solidFill>
                  <a:srgbClr val="000000"/>
                </a:solidFill>
                <a:latin typeface="宋体" panose="02000500000000000000" pitchFamily="2" charset="-122"/>
              </a:endParaRPr>
            </a:p>
          </p:txBody>
        </p:sp>
        <p:sp>
          <p:nvSpPr>
            <p:cNvPr id="17433" name="Rectangle 23"/>
            <p:cNvSpPr/>
            <p:nvPr/>
          </p:nvSpPr>
          <p:spPr>
            <a:xfrm>
              <a:off x="3963" y="3555"/>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a:t>
              </a:r>
              <a:endParaRPr lang="en-GB" altLang="zh-CN" sz="1200" b="1" dirty="0">
                <a:solidFill>
                  <a:srgbClr val="000000"/>
                </a:solidFill>
                <a:latin typeface="宋体" panose="02000500000000000000" pitchFamily="2" charset="-122"/>
              </a:endParaRPr>
            </a:p>
          </p:txBody>
        </p:sp>
        <p:sp>
          <p:nvSpPr>
            <p:cNvPr id="17434" name="Rectangle 24"/>
            <p:cNvSpPr/>
            <p:nvPr/>
          </p:nvSpPr>
          <p:spPr>
            <a:xfrm>
              <a:off x="2762" y="3555"/>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a:t>
              </a:r>
              <a:endParaRPr lang="en-GB" altLang="zh-CN" sz="1200" b="1" dirty="0">
                <a:solidFill>
                  <a:srgbClr val="000000"/>
                </a:solidFill>
                <a:latin typeface="宋体" panose="02000500000000000000" pitchFamily="2" charset="-122"/>
              </a:endParaRPr>
            </a:p>
          </p:txBody>
        </p:sp>
        <p:sp>
          <p:nvSpPr>
            <p:cNvPr id="17435" name="Rectangle 25"/>
            <p:cNvSpPr/>
            <p:nvPr/>
          </p:nvSpPr>
          <p:spPr>
            <a:xfrm>
              <a:off x="1650" y="3555"/>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a:t>
              </a:r>
              <a:endParaRPr lang="en-GB" altLang="zh-CN" sz="1200" b="1" dirty="0">
                <a:solidFill>
                  <a:srgbClr val="000000"/>
                </a:solidFill>
                <a:latin typeface="宋体" panose="02000500000000000000" pitchFamily="2" charset="-122"/>
              </a:endParaRPr>
            </a:p>
          </p:txBody>
        </p:sp>
        <p:sp>
          <p:nvSpPr>
            <p:cNvPr id="17436" name="Rectangle 26"/>
            <p:cNvSpPr/>
            <p:nvPr/>
          </p:nvSpPr>
          <p:spPr>
            <a:xfrm>
              <a:off x="517" y="3555"/>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189.lucas</a:t>
              </a:r>
              <a:endParaRPr lang="en-GB" altLang="zh-CN" sz="1200" b="1" dirty="0">
                <a:solidFill>
                  <a:srgbClr val="000000"/>
                </a:solidFill>
                <a:latin typeface="宋体" panose="02000500000000000000" pitchFamily="2" charset="-122"/>
              </a:endParaRPr>
            </a:p>
          </p:txBody>
        </p:sp>
        <p:sp>
          <p:nvSpPr>
            <p:cNvPr id="17437" name="Rectangle 27"/>
            <p:cNvSpPr/>
            <p:nvPr/>
          </p:nvSpPr>
          <p:spPr>
            <a:xfrm>
              <a:off x="5219" y="3412"/>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509</a:t>
              </a:r>
              <a:endParaRPr lang="en-GB" altLang="zh-CN" sz="1200" b="1" dirty="0">
                <a:solidFill>
                  <a:srgbClr val="000000"/>
                </a:solidFill>
                <a:latin typeface="宋体" panose="02000500000000000000" pitchFamily="2" charset="-122"/>
              </a:endParaRPr>
            </a:p>
          </p:txBody>
        </p:sp>
        <p:sp>
          <p:nvSpPr>
            <p:cNvPr id="17438" name="Rectangle 28"/>
            <p:cNvSpPr/>
            <p:nvPr/>
          </p:nvSpPr>
          <p:spPr>
            <a:xfrm>
              <a:off x="3963" y="3412"/>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147</a:t>
              </a:r>
              <a:endParaRPr lang="en-GB" altLang="zh-CN" sz="1200" b="1" dirty="0">
                <a:solidFill>
                  <a:srgbClr val="000000"/>
                </a:solidFill>
                <a:latin typeface="宋体" panose="02000500000000000000" pitchFamily="2" charset="-122"/>
              </a:endParaRPr>
            </a:p>
          </p:txBody>
        </p:sp>
        <p:sp>
          <p:nvSpPr>
            <p:cNvPr id="17439" name="Rectangle 29"/>
            <p:cNvSpPr/>
            <p:nvPr/>
          </p:nvSpPr>
          <p:spPr>
            <a:xfrm>
              <a:off x="2762" y="3412"/>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62</a:t>
              </a:r>
              <a:endParaRPr lang="en-GB" altLang="zh-CN" sz="1200" b="1" dirty="0">
                <a:solidFill>
                  <a:srgbClr val="000000"/>
                </a:solidFill>
                <a:latin typeface="宋体" panose="02000500000000000000" pitchFamily="2" charset="-122"/>
              </a:endParaRPr>
            </a:p>
          </p:txBody>
        </p:sp>
        <p:sp>
          <p:nvSpPr>
            <p:cNvPr id="17440" name="Rectangle 30"/>
            <p:cNvSpPr/>
            <p:nvPr/>
          </p:nvSpPr>
          <p:spPr>
            <a:xfrm>
              <a:off x="1650" y="3412"/>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12.3</a:t>
              </a:r>
              <a:endParaRPr lang="en-GB" altLang="zh-CN" sz="1200" b="1" dirty="0">
                <a:solidFill>
                  <a:srgbClr val="000000"/>
                </a:solidFill>
                <a:latin typeface="宋体" panose="02000500000000000000" pitchFamily="2" charset="-122"/>
              </a:endParaRPr>
            </a:p>
          </p:txBody>
        </p:sp>
        <p:sp>
          <p:nvSpPr>
            <p:cNvPr id="17441" name="Rectangle 31"/>
            <p:cNvSpPr/>
            <p:nvPr/>
          </p:nvSpPr>
          <p:spPr>
            <a:xfrm>
              <a:off x="517" y="3412"/>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188.ammp</a:t>
              </a:r>
              <a:endParaRPr lang="en-GB" altLang="zh-CN" sz="1200" b="1" dirty="0">
                <a:solidFill>
                  <a:srgbClr val="000000"/>
                </a:solidFill>
                <a:latin typeface="宋体" panose="02000500000000000000" pitchFamily="2" charset="-122"/>
              </a:endParaRPr>
            </a:p>
          </p:txBody>
        </p:sp>
        <p:sp>
          <p:nvSpPr>
            <p:cNvPr id="17442" name="Rectangle 32"/>
            <p:cNvSpPr/>
            <p:nvPr/>
          </p:nvSpPr>
          <p:spPr>
            <a:xfrm>
              <a:off x="5219" y="3269"/>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632</a:t>
              </a:r>
              <a:endParaRPr lang="en-GB" altLang="zh-CN" sz="1200" b="1" dirty="0">
                <a:solidFill>
                  <a:srgbClr val="000000"/>
                </a:solidFill>
                <a:latin typeface="宋体" panose="02000500000000000000" pitchFamily="2" charset="-122"/>
              </a:endParaRPr>
            </a:p>
          </p:txBody>
        </p:sp>
        <p:sp>
          <p:nvSpPr>
            <p:cNvPr id="17443" name="Rectangle 33"/>
            <p:cNvSpPr/>
            <p:nvPr/>
          </p:nvSpPr>
          <p:spPr>
            <a:xfrm>
              <a:off x="3963" y="3269"/>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a:t>
              </a:r>
              <a:endParaRPr lang="en-GB" altLang="zh-CN" sz="1200" b="1" dirty="0">
                <a:solidFill>
                  <a:srgbClr val="000000"/>
                </a:solidFill>
                <a:latin typeface="宋体" panose="02000500000000000000" pitchFamily="2" charset="-122"/>
              </a:endParaRPr>
            </a:p>
          </p:txBody>
        </p:sp>
        <p:sp>
          <p:nvSpPr>
            <p:cNvPr id="17444" name="Rectangle 34"/>
            <p:cNvSpPr/>
            <p:nvPr/>
          </p:nvSpPr>
          <p:spPr>
            <a:xfrm>
              <a:off x="2762" y="3269"/>
              <a:ext cx="1201" cy="143"/>
            </a:xfrm>
            <a:prstGeom prst="rect">
              <a:avLst/>
            </a:prstGeom>
            <a:noFill/>
            <a:ln w="9525">
              <a:noFill/>
            </a:ln>
          </p:spPr>
          <p:txBody>
            <a:bodyPr wrap="none" anchor="ctr" anchorCtr="0"/>
            <a:p>
              <a:endParaRPr lang="zh-CN" altLang="en-US" sz="1200" b="1" dirty="0">
                <a:latin typeface="宋体" panose="02000500000000000000" pitchFamily="2" charset="-122"/>
              </a:endParaRPr>
            </a:p>
          </p:txBody>
        </p:sp>
        <p:sp>
          <p:nvSpPr>
            <p:cNvPr id="17445" name="Rectangle 35"/>
            <p:cNvSpPr/>
            <p:nvPr/>
          </p:nvSpPr>
          <p:spPr>
            <a:xfrm>
              <a:off x="1650" y="3269"/>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a:t>
              </a:r>
              <a:endParaRPr lang="en-GB" altLang="zh-CN" sz="1200" b="1" dirty="0">
                <a:solidFill>
                  <a:srgbClr val="000000"/>
                </a:solidFill>
                <a:latin typeface="宋体" panose="02000500000000000000" pitchFamily="2" charset="-122"/>
              </a:endParaRPr>
            </a:p>
          </p:txBody>
        </p:sp>
        <p:sp>
          <p:nvSpPr>
            <p:cNvPr id="17446" name="Rectangle 36"/>
            <p:cNvSpPr/>
            <p:nvPr/>
          </p:nvSpPr>
          <p:spPr>
            <a:xfrm>
              <a:off x="517" y="3269"/>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187.facerec</a:t>
              </a:r>
              <a:endParaRPr lang="en-GB" altLang="zh-CN" sz="1200" b="1" dirty="0">
                <a:solidFill>
                  <a:srgbClr val="000000"/>
                </a:solidFill>
                <a:latin typeface="宋体" panose="02000500000000000000" pitchFamily="2" charset="-122"/>
              </a:endParaRPr>
            </a:p>
          </p:txBody>
        </p:sp>
        <p:sp>
          <p:nvSpPr>
            <p:cNvPr id="17447" name="Rectangle 37"/>
            <p:cNvSpPr/>
            <p:nvPr/>
          </p:nvSpPr>
          <p:spPr>
            <a:xfrm>
              <a:off x="5219" y="3126"/>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624</a:t>
              </a:r>
              <a:endParaRPr lang="en-GB" altLang="zh-CN" sz="1200" b="1" dirty="0">
                <a:solidFill>
                  <a:srgbClr val="000000"/>
                </a:solidFill>
                <a:latin typeface="宋体" panose="02000500000000000000" pitchFamily="2" charset="-122"/>
              </a:endParaRPr>
            </a:p>
          </p:txBody>
        </p:sp>
        <p:sp>
          <p:nvSpPr>
            <p:cNvPr id="17448" name="Rectangle 38"/>
            <p:cNvSpPr/>
            <p:nvPr/>
          </p:nvSpPr>
          <p:spPr>
            <a:xfrm>
              <a:off x="3963" y="3126"/>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100</a:t>
              </a:r>
              <a:endParaRPr lang="en-GB" altLang="zh-CN" sz="1200" b="1" dirty="0">
                <a:solidFill>
                  <a:srgbClr val="000000"/>
                </a:solidFill>
                <a:latin typeface="宋体" panose="02000500000000000000" pitchFamily="2" charset="-122"/>
              </a:endParaRPr>
            </a:p>
          </p:txBody>
        </p:sp>
        <p:sp>
          <p:nvSpPr>
            <p:cNvPr id="17449" name="Rectangle 39"/>
            <p:cNvSpPr/>
            <p:nvPr/>
          </p:nvSpPr>
          <p:spPr>
            <a:xfrm>
              <a:off x="2762" y="3126"/>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58</a:t>
              </a:r>
              <a:endParaRPr lang="en-GB" altLang="zh-CN" sz="1200" b="1" dirty="0">
                <a:solidFill>
                  <a:srgbClr val="000000"/>
                </a:solidFill>
                <a:latin typeface="宋体" panose="02000500000000000000" pitchFamily="2" charset="-122"/>
              </a:endParaRPr>
            </a:p>
          </p:txBody>
        </p:sp>
        <p:sp>
          <p:nvSpPr>
            <p:cNvPr id="17450" name="Rectangle 40"/>
            <p:cNvSpPr/>
            <p:nvPr/>
          </p:nvSpPr>
          <p:spPr>
            <a:xfrm>
              <a:off x="1650" y="3126"/>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35.5</a:t>
              </a:r>
              <a:endParaRPr lang="en-GB" altLang="zh-CN" sz="1200" b="1" dirty="0">
                <a:solidFill>
                  <a:srgbClr val="000000"/>
                </a:solidFill>
                <a:latin typeface="宋体" panose="02000500000000000000" pitchFamily="2" charset="-122"/>
              </a:endParaRPr>
            </a:p>
          </p:txBody>
        </p:sp>
        <p:sp>
          <p:nvSpPr>
            <p:cNvPr id="17451" name="Rectangle 41"/>
            <p:cNvSpPr/>
            <p:nvPr/>
          </p:nvSpPr>
          <p:spPr>
            <a:xfrm>
              <a:off x="517" y="3126"/>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183.equake</a:t>
              </a:r>
              <a:endParaRPr lang="en-GB" altLang="zh-CN" sz="1200" b="1" dirty="0">
                <a:solidFill>
                  <a:srgbClr val="000000"/>
                </a:solidFill>
                <a:latin typeface="宋体" panose="02000500000000000000" pitchFamily="2" charset="-122"/>
              </a:endParaRPr>
            </a:p>
          </p:txBody>
        </p:sp>
        <p:sp>
          <p:nvSpPr>
            <p:cNvPr id="17452" name="Rectangle 42"/>
            <p:cNvSpPr/>
            <p:nvPr/>
          </p:nvSpPr>
          <p:spPr>
            <a:xfrm>
              <a:off x="5219" y="2983"/>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624</a:t>
              </a:r>
              <a:endParaRPr lang="en-GB" altLang="zh-CN" sz="1200" b="1" dirty="0">
                <a:solidFill>
                  <a:srgbClr val="000000"/>
                </a:solidFill>
                <a:latin typeface="宋体" panose="02000500000000000000" pitchFamily="2" charset="-122"/>
              </a:endParaRPr>
            </a:p>
          </p:txBody>
        </p:sp>
        <p:sp>
          <p:nvSpPr>
            <p:cNvPr id="17453" name="Rectangle 43"/>
            <p:cNvSpPr/>
            <p:nvPr/>
          </p:nvSpPr>
          <p:spPr>
            <a:xfrm>
              <a:off x="3963" y="2983"/>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125</a:t>
              </a:r>
              <a:endParaRPr lang="en-GB" altLang="zh-CN" sz="1200" b="1" dirty="0">
                <a:solidFill>
                  <a:srgbClr val="000000"/>
                </a:solidFill>
                <a:latin typeface="宋体" panose="02000500000000000000" pitchFamily="2" charset="-122"/>
              </a:endParaRPr>
            </a:p>
          </p:txBody>
        </p:sp>
        <p:sp>
          <p:nvSpPr>
            <p:cNvPr id="17454" name="Rectangle 44"/>
            <p:cNvSpPr/>
            <p:nvPr/>
          </p:nvSpPr>
          <p:spPr>
            <a:xfrm>
              <a:off x="2762" y="2983"/>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66</a:t>
              </a:r>
              <a:endParaRPr lang="en-GB" altLang="zh-CN" sz="1200" b="1" dirty="0">
                <a:solidFill>
                  <a:srgbClr val="000000"/>
                </a:solidFill>
                <a:latin typeface="宋体" panose="02000500000000000000" pitchFamily="2" charset="-122"/>
              </a:endParaRPr>
            </a:p>
          </p:txBody>
        </p:sp>
        <p:sp>
          <p:nvSpPr>
            <p:cNvPr id="17455" name="Rectangle 45"/>
            <p:cNvSpPr/>
            <p:nvPr/>
          </p:nvSpPr>
          <p:spPr>
            <a:xfrm>
              <a:off x="1650" y="2983"/>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55.3</a:t>
              </a:r>
              <a:endParaRPr lang="en-GB" altLang="zh-CN" sz="1200" b="1" dirty="0">
                <a:solidFill>
                  <a:srgbClr val="000000"/>
                </a:solidFill>
                <a:latin typeface="宋体" panose="02000500000000000000" pitchFamily="2" charset="-122"/>
              </a:endParaRPr>
            </a:p>
          </p:txBody>
        </p:sp>
        <p:sp>
          <p:nvSpPr>
            <p:cNvPr id="17456" name="Rectangle 46"/>
            <p:cNvSpPr/>
            <p:nvPr/>
          </p:nvSpPr>
          <p:spPr>
            <a:xfrm>
              <a:off x="517" y="2983"/>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179.art</a:t>
              </a:r>
              <a:endParaRPr lang="en-GB" altLang="zh-CN" sz="1200" b="1" dirty="0">
                <a:solidFill>
                  <a:srgbClr val="000000"/>
                </a:solidFill>
                <a:latin typeface="宋体" panose="02000500000000000000" pitchFamily="2" charset="-122"/>
              </a:endParaRPr>
            </a:p>
          </p:txBody>
        </p:sp>
        <p:sp>
          <p:nvSpPr>
            <p:cNvPr id="17457" name="Rectangle 47"/>
            <p:cNvSpPr/>
            <p:nvPr/>
          </p:nvSpPr>
          <p:spPr>
            <a:xfrm>
              <a:off x="5219" y="2840"/>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704</a:t>
              </a:r>
              <a:endParaRPr lang="en-GB" altLang="zh-CN" sz="1200" b="1" dirty="0">
                <a:solidFill>
                  <a:srgbClr val="000000"/>
                </a:solidFill>
                <a:latin typeface="宋体" panose="02000500000000000000" pitchFamily="2" charset="-122"/>
              </a:endParaRPr>
            </a:p>
          </p:txBody>
        </p:sp>
        <p:sp>
          <p:nvSpPr>
            <p:cNvPr id="17458" name="Rectangle 48"/>
            <p:cNvSpPr/>
            <p:nvPr/>
          </p:nvSpPr>
          <p:spPr>
            <a:xfrm>
              <a:off x="3963" y="2840"/>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a:t>
              </a:r>
              <a:endParaRPr lang="en-GB" altLang="zh-CN" sz="1200" b="1" dirty="0">
                <a:solidFill>
                  <a:srgbClr val="000000"/>
                </a:solidFill>
                <a:latin typeface="宋体" panose="02000500000000000000" pitchFamily="2" charset="-122"/>
              </a:endParaRPr>
            </a:p>
          </p:txBody>
        </p:sp>
        <p:sp>
          <p:nvSpPr>
            <p:cNvPr id="17459" name="Rectangle 49"/>
            <p:cNvSpPr/>
            <p:nvPr/>
          </p:nvSpPr>
          <p:spPr>
            <a:xfrm>
              <a:off x="2762" y="2840"/>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a:t>
              </a:r>
              <a:endParaRPr lang="en-GB" altLang="zh-CN" sz="1200" b="1" dirty="0">
                <a:solidFill>
                  <a:srgbClr val="000000"/>
                </a:solidFill>
                <a:latin typeface="宋体" panose="02000500000000000000" pitchFamily="2" charset="-122"/>
              </a:endParaRPr>
            </a:p>
          </p:txBody>
        </p:sp>
        <p:sp>
          <p:nvSpPr>
            <p:cNvPr id="17460" name="Rectangle 50"/>
            <p:cNvSpPr/>
            <p:nvPr/>
          </p:nvSpPr>
          <p:spPr>
            <a:xfrm>
              <a:off x="1650" y="2840"/>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a:t>
              </a:r>
              <a:endParaRPr lang="en-GB" altLang="zh-CN" sz="1200" b="1" dirty="0">
                <a:solidFill>
                  <a:srgbClr val="000000"/>
                </a:solidFill>
                <a:latin typeface="宋体" panose="02000500000000000000" pitchFamily="2" charset="-122"/>
              </a:endParaRPr>
            </a:p>
          </p:txBody>
        </p:sp>
        <p:sp>
          <p:nvSpPr>
            <p:cNvPr id="17461" name="Rectangle 51"/>
            <p:cNvSpPr/>
            <p:nvPr/>
          </p:nvSpPr>
          <p:spPr>
            <a:xfrm>
              <a:off x="517" y="2840"/>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178.galgel</a:t>
              </a:r>
              <a:endParaRPr lang="en-GB" altLang="zh-CN" sz="1200" b="1" dirty="0">
                <a:solidFill>
                  <a:srgbClr val="000000"/>
                </a:solidFill>
                <a:latin typeface="宋体" panose="02000500000000000000" pitchFamily="2" charset="-122"/>
              </a:endParaRPr>
            </a:p>
          </p:txBody>
        </p:sp>
        <p:sp>
          <p:nvSpPr>
            <p:cNvPr id="17462" name="Rectangle 52"/>
            <p:cNvSpPr/>
            <p:nvPr/>
          </p:nvSpPr>
          <p:spPr>
            <a:xfrm>
              <a:off x="5219" y="2697"/>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634</a:t>
              </a:r>
              <a:endParaRPr lang="en-GB" altLang="zh-CN" sz="1200" b="1" dirty="0">
                <a:solidFill>
                  <a:srgbClr val="000000"/>
                </a:solidFill>
                <a:latin typeface="宋体" panose="02000500000000000000" pitchFamily="2" charset="-122"/>
              </a:endParaRPr>
            </a:p>
          </p:txBody>
        </p:sp>
        <p:sp>
          <p:nvSpPr>
            <p:cNvPr id="17463" name="Rectangle 53"/>
            <p:cNvSpPr/>
            <p:nvPr/>
          </p:nvSpPr>
          <p:spPr>
            <a:xfrm>
              <a:off x="3963" y="2697"/>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215</a:t>
              </a:r>
              <a:endParaRPr lang="en-GB" altLang="zh-CN" sz="1200" b="1" dirty="0">
                <a:solidFill>
                  <a:srgbClr val="000000"/>
                </a:solidFill>
                <a:latin typeface="宋体" panose="02000500000000000000" pitchFamily="2" charset="-122"/>
              </a:endParaRPr>
            </a:p>
          </p:txBody>
        </p:sp>
        <p:sp>
          <p:nvSpPr>
            <p:cNvPr id="17464" name="Rectangle 54"/>
            <p:cNvSpPr/>
            <p:nvPr/>
          </p:nvSpPr>
          <p:spPr>
            <a:xfrm>
              <a:off x="2762" y="2697"/>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100</a:t>
              </a:r>
              <a:endParaRPr lang="en-GB" altLang="zh-CN" sz="1200" b="1" dirty="0">
                <a:solidFill>
                  <a:srgbClr val="000000"/>
                </a:solidFill>
                <a:latin typeface="宋体" panose="02000500000000000000" pitchFamily="2" charset="-122"/>
              </a:endParaRPr>
            </a:p>
          </p:txBody>
        </p:sp>
        <p:sp>
          <p:nvSpPr>
            <p:cNvPr id="17465" name="Rectangle 55"/>
            <p:cNvSpPr/>
            <p:nvPr/>
          </p:nvSpPr>
          <p:spPr>
            <a:xfrm>
              <a:off x="1650" y="2697"/>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22.7</a:t>
              </a:r>
              <a:endParaRPr lang="en-GB" altLang="zh-CN" sz="1200" b="1" dirty="0">
                <a:solidFill>
                  <a:srgbClr val="000000"/>
                </a:solidFill>
                <a:latin typeface="宋体" panose="02000500000000000000" pitchFamily="2" charset="-122"/>
              </a:endParaRPr>
            </a:p>
          </p:txBody>
        </p:sp>
        <p:sp>
          <p:nvSpPr>
            <p:cNvPr id="17466" name="Rectangle 56"/>
            <p:cNvSpPr/>
            <p:nvPr/>
          </p:nvSpPr>
          <p:spPr>
            <a:xfrm>
              <a:off x="517" y="2697"/>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177.mesa</a:t>
              </a:r>
              <a:endParaRPr lang="en-GB" altLang="zh-CN" sz="1200" b="1" dirty="0">
                <a:solidFill>
                  <a:srgbClr val="000000"/>
                </a:solidFill>
                <a:latin typeface="宋体" panose="02000500000000000000" pitchFamily="2" charset="-122"/>
              </a:endParaRPr>
            </a:p>
          </p:txBody>
        </p:sp>
        <p:sp>
          <p:nvSpPr>
            <p:cNvPr id="17467" name="Rectangle 57"/>
            <p:cNvSpPr/>
            <p:nvPr/>
          </p:nvSpPr>
          <p:spPr>
            <a:xfrm>
              <a:off x="5219" y="2554"/>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382</a:t>
              </a:r>
              <a:endParaRPr lang="en-GB" altLang="zh-CN" sz="1200" b="1" dirty="0">
                <a:solidFill>
                  <a:srgbClr val="000000"/>
                </a:solidFill>
                <a:latin typeface="宋体" panose="02000500000000000000" pitchFamily="2" charset="-122"/>
              </a:endParaRPr>
            </a:p>
          </p:txBody>
        </p:sp>
        <p:sp>
          <p:nvSpPr>
            <p:cNvPr id="17468" name="Rectangle 58"/>
            <p:cNvSpPr/>
            <p:nvPr/>
          </p:nvSpPr>
          <p:spPr>
            <a:xfrm>
              <a:off x="3963" y="2554"/>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zh-CN" altLang="en-GB" sz="1200" b="1" dirty="0">
                  <a:solidFill>
                    <a:srgbClr val="000000"/>
                  </a:solidFill>
                  <a:latin typeface="宋体" panose="02000500000000000000" pitchFamily="2" charset="-122"/>
                </a:rPr>
                <a:t> </a:t>
              </a:r>
              <a:r>
                <a:rPr lang="en-GB" altLang="zh-CN" sz="1200" b="1" dirty="0">
                  <a:solidFill>
                    <a:srgbClr val="000000"/>
                  </a:solidFill>
                  <a:latin typeface="宋体" panose="02000500000000000000" pitchFamily="2" charset="-122"/>
                </a:rPr>
                <a:t>77</a:t>
              </a:r>
              <a:endParaRPr lang="en-GB" altLang="zh-CN" sz="1200" b="1" dirty="0">
                <a:solidFill>
                  <a:srgbClr val="000000"/>
                </a:solidFill>
                <a:latin typeface="宋体" panose="02000500000000000000" pitchFamily="2" charset="-122"/>
              </a:endParaRPr>
            </a:p>
          </p:txBody>
        </p:sp>
        <p:sp>
          <p:nvSpPr>
            <p:cNvPr id="17469" name="Rectangle 59"/>
            <p:cNvSpPr/>
            <p:nvPr/>
          </p:nvSpPr>
          <p:spPr>
            <a:xfrm>
              <a:off x="2762" y="2554"/>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45</a:t>
              </a:r>
              <a:endParaRPr lang="en-GB" altLang="zh-CN" sz="1200" b="1" dirty="0">
                <a:solidFill>
                  <a:srgbClr val="000000"/>
                </a:solidFill>
                <a:latin typeface="宋体" panose="02000500000000000000" pitchFamily="2" charset="-122"/>
              </a:endParaRPr>
            </a:p>
          </p:txBody>
        </p:sp>
        <p:sp>
          <p:nvSpPr>
            <p:cNvPr id="17470" name="Rectangle 60"/>
            <p:cNvSpPr/>
            <p:nvPr/>
          </p:nvSpPr>
          <p:spPr>
            <a:xfrm>
              <a:off x="1650" y="2554"/>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24.3</a:t>
              </a:r>
              <a:endParaRPr lang="en-GB" altLang="zh-CN" sz="1200" b="1" dirty="0">
                <a:solidFill>
                  <a:srgbClr val="000000"/>
                </a:solidFill>
                <a:latin typeface="宋体" panose="02000500000000000000" pitchFamily="2" charset="-122"/>
              </a:endParaRPr>
            </a:p>
          </p:txBody>
        </p:sp>
        <p:sp>
          <p:nvSpPr>
            <p:cNvPr id="17471" name="Rectangle 61"/>
            <p:cNvSpPr/>
            <p:nvPr/>
          </p:nvSpPr>
          <p:spPr>
            <a:xfrm>
              <a:off x="517" y="2554"/>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173.applu</a:t>
              </a:r>
              <a:endParaRPr lang="en-GB" altLang="zh-CN" sz="1200" b="1" dirty="0">
                <a:solidFill>
                  <a:srgbClr val="000000"/>
                </a:solidFill>
                <a:latin typeface="宋体" panose="02000500000000000000" pitchFamily="2" charset="-122"/>
              </a:endParaRPr>
            </a:p>
          </p:txBody>
        </p:sp>
        <p:sp>
          <p:nvSpPr>
            <p:cNvPr id="17472" name="Rectangle 62"/>
            <p:cNvSpPr/>
            <p:nvPr/>
          </p:nvSpPr>
          <p:spPr>
            <a:xfrm>
              <a:off x="5219" y="2411"/>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311</a:t>
              </a:r>
              <a:endParaRPr lang="en-GB" altLang="zh-CN" sz="1200" b="1" dirty="0">
                <a:solidFill>
                  <a:srgbClr val="000000"/>
                </a:solidFill>
                <a:latin typeface="宋体" panose="02000500000000000000" pitchFamily="2" charset="-122"/>
              </a:endParaRPr>
            </a:p>
          </p:txBody>
        </p:sp>
        <p:sp>
          <p:nvSpPr>
            <p:cNvPr id="17473" name="Rectangle 63"/>
            <p:cNvSpPr/>
            <p:nvPr/>
          </p:nvSpPr>
          <p:spPr>
            <a:xfrm>
              <a:off x="3963" y="2411"/>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zh-CN" altLang="en-GB" sz="1200" b="1" dirty="0">
                  <a:solidFill>
                    <a:srgbClr val="000000"/>
                  </a:solidFill>
                  <a:latin typeface="宋体" panose="02000500000000000000" pitchFamily="2" charset="-122"/>
                </a:rPr>
                <a:t> </a:t>
              </a:r>
              <a:r>
                <a:rPr lang="en-GB" altLang="zh-CN" sz="1200" b="1" dirty="0">
                  <a:solidFill>
                    <a:srgbClr val="000000"/>
                  </a:solidFill>
                  <a:latin typeface="宋体" panose="02000500000000000000" pitchFamily="2" charset="-122"/>
                </a:rPr>
                <a:t>69</a:t>
              </a:r>
              <a:endParaRPr lang="en-GB" altLang="zh-CN" sz="1200" b="1" dirty="0">
                <a:solidFill>
                  <a:srgbClr val="000000"/>
                </a:solidFill>
                <a:latin typeface="宋体" panose="02000500000000000000" pitchFamily="2" charset="-122"/>
              </a:endParaRPr>
            </a:p>
          </p:txBody>
        </p:sp>
        <p:sp>
          <p:nvSpPr>
            <p:cNvPr id="17474" name="Rectangle 64"/>
            <p:cNvSpPr/>
            <p:nvPr/>
          </p:nvSpPr>
          <p:spPr>
            <a:xfrm>
              <a:off x="2762" y="2411"/>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40</a:t>
              </a:r>
              <a:endParaRPr lang="en-GB" altLang="zh-CN" sz="1200" b="1" dirty="0">
                <a:solidFill>
                  <a:srgbClr val="000000"/>
                </a:solidFill>
                <a:latin typeface="宋体" panose="02000500000000000000" pitchFamily="2" charset="-122"/>
              </a:endParaRPr>
            </a:p>
          </p:txBody>
        </p:sp>
        <p:sp>
          <p:nvSpPr>
            <p:cNvPr id="17475" name="Rectangle 65"/>
            <p:cNvSpPr/>
            <p:nvPr/>
          </p:nvSpPr>
          <p:spPr>
            <a:xfrm>
              <a:off x="1650" y="2411"/>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14.7</a:t>
              </a:r>
              <a:endParaRPr lang="en-GB" altLang="zh-CN" sz="1200" b="1" dirty="0">
                <a:solidFill>
                  <a:srgbClr val="000000"/>
                </a:solidFill>
                <a:latin typeface="宋体" panose="02000500000000000000" pitchFamily="2" charset="-122"/>
              </a:endParaRPr>
            </a:p>
          </p:txBody>
        </p:sp>
        <p:sp>
          <p:nvSpPr>
            <p:cNvPr id="17476" name="Rectangle 66"/>
            <p:cNvSpPr/>
            <p:nvPr/>
          </p:nvSpPr>
          <p:spPr>
            <a:xfrm>
              <a:off x="517" y="2411"/>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172.mgrid</a:t>
              </a:r>
              <a:endParaRPr lang="en-GB" altLang="zh-CN" sz="1200" b="1" dirty="0">
                <a:solidFill>
                  <a:srgbClr val="000000"/>
                </a:solidFill>
                <a:latin typeface="宋体" panose="02000500000000000000" pitchFamily="2" charset="-122"/>
              </a:endParaRPr>
            </a:p>
          </p:txBody>
        </p:sp>
        <p:sp>
          <p:nvSpPr>
            <p:cNvPr id="17477" name="Rectangle 67"/>
            <p:cNvSpPr/>
            <p:nvPr/>
          </p:nvSpPr>
          <p:spPr>
            <a:xfrm>
              <a:off x="5219" y="2268"/>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469</a:t>
              </a:r>
              <a:endParaRPr lang="en-GB" altLang="zh-CN" sz="1200" b="1" dirty="0">
                <a:solidFill>
                  <a:srgbClr val="000000"/>
                </a:solidFill>
                <a:latin typeface="宋体" panose="02000500000000000000" pitchFamily="2" charset="-122"/>
              </a:endParaRPr>
            </a:p>
          </p:txBody>
        </p:sp>
        <p:sp>
          <p:nvSpPr>
            <p:cNvPr id="17478" name="Rectangle 68"/>
            <p:cNvSpPr/>
            <p:nvPr/>
          </p:nvSpPr>
          <p:spPr>
            <a:xfrm>
              <a:off x="3963" y="2268"/>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116</a:t>
              </a:r>
              <a:endParaRPr lang="en-GB" altLang="zh-CN" sz="1200" b="1" dirty="0">
                <a:solidFill>
                  <a:srgbClr val="000000"/>
                </a:solidFill>
                <a:latin typeface="宋体" panose="02000500000000000000" pitchFamily="2" charset="-122"/>
              </a:endParaRPr>
            </a:p>
          </p:txBody>
        </p:sp>
        <p:sp>
          <p:nvSpPr>
            <p:cNvPr id="17479" name="Rectangle 69"/>
            <p:cNvSpPr/>
            <p:nvPr/>
          </p:nvSpPr>
          <p:spPr>
            <a:xfrm>
              <a:off x="2762" y="2268"/>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55</a:t>
              </a:r>
              <a:endParaRPr lang="en-GB" altLang="zh-CN" sz="1200" b="1" dirty="0">
                <a:solidFill>
                  <a:srgbClr val="000000"/>
                </a:solidFill>
                <a:latin typeface="宋体" panose="02000500000000000000" pitchFamily="2" charset="-122"/>
              </a:endParaRPr>
            </a:p>
          </p:txBody>
        </p:sp>
        <p:sp>
          <p:nvSpPr>
            <p:cNvPr id="17480" name="Rectangle 70"/>
            <p:cNvSpPr/>
            <p:nvPr/>
          </p:nvSpPr>
          <p:spPr>
            <a:xfrm>
              <a:off x="1650" y="2268"/>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37.7</a:t>
              </a:r>
              <a:endParaRPr lang="en-GB" altLang="zh-CN" sz="1200" b="1" dirty="0">
                <a:solidFill>
                  <a:srgbClr val="000000"/>
                </a:solidFill>
                <a:latin typeface="宋体" panose="02000500000000000000" pitchFamily="2" charset="-122"/>
              </a:endParaRPr>
            </a:p>
          </p:txBody>
        </p:sp>
        <p:sp>
          <p:nvSpPr>
            <p:cNvPr id="17481" name="Rectangle 71"/>
            <p:cNvSpPr/>
            <p:nvPr/>
          </p:nvSpPr>
          <p:spPr>
            <a:xfrm>
              <a:off x="517" y="2268"/>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171.swim</a:t>
              </a:r>
              <a:endParaRPr lang="en-GB" altLang="zh-CN" sz="1200" b="1" dirty="0">
                <a:solidFill>
                  <a:srgbClr val="000000"/>
                </a:solidFill>
                <a:latin typeface="宋体" panose="02000500000000000000" pitchFamily="2" charset="-122"/>
              </a:endParaRPr>
            </a:p>
          </p:txBody>
        </p:sp>
        <p:sp>
          <p:nvSpPr>
            <p:cNvPr id="17482" name="Rectangle 72"/>
            <p:cNvSpPr/>
            <p:nvPr/>
          </p:nvSpPr>
          <p:spPr>
            <a:xfrm>
              <a:off x="5219" y="2125"/>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672</a:t>
              </a:r>
              <a:endParaRPr lang="en-GB" altLang="zh-CN" sz="1200" b="1" dirty="0">
                <a:solidFill>
                  <a:srgbClr val="000000"/>
                </a:solidFill>
                <a:latin typeface="宋体" panose="02000500000000000000" pitchFamily="2" charset="-122"/>
              </a:endParaRPr>
            </a:p>
          </p:txBody>
        </p:sp>
        <p:sp>
          <p:nvSpPr>
            <p:cNvPr id="17483" name="Rectangle 73"/>
            <p:cNvSpPr/>
            <p:nvPr/>
          </p:nvSpPr>
          <p:spPr>
            <a:xfrm>
              <a:off x="3963" y="2125"/>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145</a:t>
              </a:r>
              <a:endParaRPr lang="en-GB" altLang="zh-CN" sz="1200" b="1" dirty="0">
                <a:solidFill>
                  <a:srgbClr val="000000"/>
                </a:solidFill>
                <a:latin typeface="宋体" panose="02000500000000000000" pitchFamily="2" charset="-122"/>
              </a:endParaRPr>
            </a:p>
          </p:txBody>
        </p:sp>
        <p:sp>
          <p:nvSpPr>
            <p:cNvPr id="17484" name="Rectangle 74"/>
            <p:cNvSpPr/>
            <p:nvPr/>
          </p:nvSpPr>
          <p:spPr>
            <a:xfrm>
              <a:off x="2762" y="2125"/>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88</a:t>
              </a:r>
              <a:endParaRPr lang="en-GB" altLang="zh-CN" sz="1200" b="1" dirty="0">
                <a:solidFill>
                  <a:srgbClr val="000000"/>
                </a:solidFill>
                <a:latin typeface="宋体" panose="02000500000000000000" pitchFamily="2" charset="-122"/>
              </a:endParaRPr>
            </a:p>
          </p:txBody>
        </p:sp>
        <p:sp>
          <p:nvSpPr>
            <p:cNvPr id="17485" name="Rectangle 75"/>
            <p:cNvSpPr/>
            <p:nvPr/>
          </p:nvSpPr>
          <p:spPr>
            <a:xfrm>
              <a:off x="1650" y="2125"/>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35.6</a:t>
              </a:r>
              <a:endParaRPr lang="en-GB" altLang="zh-CN" sz="1200" b="1" dirty="0">
                <a:solidFill>
                  <a:srgbClr val="000000"/>
                </a:solidFill>
                <a:latin typeface="宋体" panose="02000500000000000000" pitchFamily="2" charset="-122"/>
              </a:endParaRPr>
            </a:p>
          </p:txBody>
        </p:sp>
        <p:sp>
          <p:nvSpPr>
            <p:cNvPr id="17486" name="Rectangle 76"/>
            <p:cNvSpPr/>
            <p:nvPr/>
          </p:nvSpPr>
          <p:spPr>
            <a:xfrm>
              <a:off x="517" y="2125"/>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168.wupwise</a:t>
              </a:r>
              <a:endParaRPr lang="en-GB" altLang="zh-CN" sz="1200" b="1" dirty="0">
                <a:solidFill>
                  <a:srgbClr val="000000"/>
                </a:solidFill>
                <a:latin typeface="宋体" panose="02000500000000000000" pitchFamily="2" charset="-122"/>
              </a:endParaRPr>
            </a:p>
          </p:txBody>
        </p:sp>
        <p:sp>
          <p:nvSpPr>
            <p:cNvPr id="17487" name="Rectangle 77"/>
            <p:cNvSpPr/>
            <p:nvPr/>
          </p:nvSpPr>
          <p:spPr>
            <a:xfrm>
              <a:off x="5219" y="1982"/>
              <a:ext cx="1157" cy="143"/>
            </a:xfrm>
            <a:prstGeom prst="rect">
              <a:avLst/>
            </a:prstGeom>
            <a:noFill/>
            <a:ln w="9525">
              <a:noFill/>
            </a:ln>
          </p:spPr>
          <p:txBody>
            <a:bodyPr lIns="90000" tIns="0" rIns="90000" bIns="0"/>
            <a:p>
              <a:pPr marL="338455" indent="-338455" algn="ctr" defTabSz="265430">
                <a:buClr>
                  <a:srgbClr val="0000FF"/>
                </a:buCl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FF"/>
                  </a:solidFill>
                  <a:latin typeface="宋体" panose="02000500000000000000" pitchFamily="2" charset="-122"/>
                </a:rPr>
                <a:t>503</a:t>
              </a:r>
              <a:endParaRPr lang="en-GB" altLang="zh-CN" sz="1200" b="1" dirty="0">
                <a:solidFill>
                  <a:srgbClr val="0000FF"/>
                </a:solidFill>
                <a:latin typeface="宋体" panose="02000500000000000000" pitchFamily="2" charset="-122"/>
              </a:endParaRPr>
            </a:p>
          </p:txBody>
        </p:sp>
        <p:sp>
          <p:nvSpPr>
            <p:cNvPr id="17488" name="Rectangle 78"/>
            <p:cNvSpPr/>
            <p:nvPr/>
          </p:nvSpPr>
          <p:spPr>
            <a:xfrm>
              <a:off x="3963" y="1982"/>
              <a:ext cx="1257" cy="143"/>
            </a:xfrm>
            <a:prstGeom prst="rect">
              <a:avLst/>
            </a:prstGeom>
            <a:noFill/>
            <a:ln w="9525">
              <a:noFill/>
            </a:ln>
          </p:spPr>
          <p:txBody>
            <a:bodyPr lIns="90000" tIns="0" rIns="90000" bIns="0"/>
            <a:p>
              <a:pPr marL="338455" indent="-338455" algn="ctr" defTabSz="265430">
                <a:buClr>
                  <a:srgbClr val="0000FF"/>
                </a:buCl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FF"/>
                  </a:solidFill>
                  <a:latin typeface="宋体" panose="02000500000000000000" pitchFamily="2" charset="-122"/>
                </a:rPr>
                <a:t>159</a:t>
              </a:r>
              <a:endParaRPr lang="en-GB" altLang="zh-CN" sz="1200" b="1" dirty="0">
                <a:solidFill>
                  <a:srgbClr val="0000FF"/>
                </a:solidFill>
                <a:latin typeface="宋体" panose="02000500000000000000" pitchFamily="2" charset="-122"/>
              </a:endParaRPr>
            </a:p>
          </p:txBody>
        </p:sp>
        <p:sp>
          <p:nvSpPr>
            <p:cNvPr id="17489" name="Rectangle 79"/>
            <p:cNvSpPr/>
            <p:nvPr/>
          </p:nvSpPr>
          <p:spPr>
            <a:xfrm>
              <a:off x="2762" y="1982"/>
              <a:ext cx="1201" cy="143"/>
            </a:xfrm>
            <a:prstGeom prst="rect">
              <a:avLst/>
            </a:prstGeom>
            <a:noFill/>
            <a:ln w="9525">
              <a:noFill/>
            </a:ln>
          </p:spPr>
          <p:txBody>
            <a:bodyPr lIns="90000" tIns="0" rIns="90000" bIns="0"/>
            <a:p>
              <a:pPr marL="338455" indent="-338455" algn="ctr" defTabSz="265430">
                <a:buClr>
                  <a:srgbClr val="0000FF"/>
                </a:buCl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FF"/>
                  </a:solidFill>
                  <a:latin typeface="宋体" panose="02000500000000000000" pitchFamily="2" charset="-122"/>
                </a:rPr>
                <a:t>52</a:t>
              </a:r>
              <a:endParaRPr lang="en-GB" altLang="zh-CN" sz="1200" b="1" dirty="0">
                <a:solidFill>
                  <a:srgbClr val="0000FF"/>
                </a:solidFill>
                <a:latin typeface="宋体" panose="02000500000000000000" pitchFamily="2" charset="-122"/>
              </a:endParaRPr>
            </a:p>
          </p:txBody>
        </p:sp>
        <p:sp>
          <p:nvSpPr>
            <p:cNvPr id="17490" name="Rectangle 80"/>
            <p:cNvSpPr/>
            <p:nvPr/>
          </p:nvSpPr>
          <p:spPr>
            <a:xfrm>
              <a:off x="1650" y="1982"/>
              <a:ext cx="1112" cy="143"/>
            </a:xfrm>
            <a:prstGeom prst="rect">
              <a:avLst/>
            </a:prstGeom>
            <a:noFill/>
            <a:ln w="9525">
              <a:noFill/>
            </a:ln>
          </p:spPr>
          <p:txBody>
            <a:bodyPr lIns="90000" tIns="0" rIns="90000" bIns="0" anchor="ctr" anchorCtr="0"/>
            <a:p>
              <a:pPr marL="338455" indent="-338455" algn="ctr" defTabSz="265430">
                <a:buClr>
                  <a:srgbClr val="0000FF"/>
                </a:buCl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FF"/>
                  </a:solidFill>
                  <a:latin typeface="宋体" panose="02000500000000000000" pitchFamily="2" charset="-122"/>
                </a:rPr>
                <a:t>18.5</a:t>
              </a:r>
              <a:endParaRPr lang="en-GB" altLang="zh-CN" sz="1200" b="1" dirty="0">
                <a:solidFill>
                  <a:srgbClr val="0000FF"/>
                </a:solidFill>
                <a:latin typeface="宋体" panose="02000500000000000000" pitchFamily="2" charset="-122"/>
              </a:endParaRPr>
            </a:p>
          </p:txBody>
        </p:sp>
        <p:sp>
          <p:nvSpPr>
            <p:cNvPr id="17491" name="Rectangle 81"/>
            <p:cNvSpPr/>
            <p:nvPr/>
          </p:nvSpPr>
          <p:spPr>
            <a:xfrm>
              <a:off x="517" y="1982"/>
              <a:ext cx="1133" cy="143"/>
            </a:xfrm>
            <a:prstGeom prst="rect">
              <a:avLst/>
            </a:prstGeom>
            <a:noFill/>
            <a:ln w="9525">
              <a:noFill/>
            </a:ln>
          </p:spPr>
          <p:txBody>
            <a:bodyPr lIns="90000" tIns="0" rIns="90000" bIns="0"/>
            <a:p>
              <a:pPr marL="338455" indent="-338455" defTabSz="265430">
                <a:buClr>
                  <a:srgbClr val="0000FF"/>
                </a:buCl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FF"/>
                  </a:solidFill>
                  <a:latin typeface="宋体" panose="02000500000000000000" pitchFamily="2" charset="-122"/>
                </a:rPr>
                <a:t>SPEC_INT2000</a:t>
              </a:r>
              <a:endParaRPr lang="en-GB" altLang="zh-CN" sz="1200" b="1" dirty="0">
                <a:solidFill>
                  <a:srgbClr val="0000FF"/>
                </a:solidFill>
                <a:latin typeface="宋体" panose="02000500000000000000" pitchFamily="2" charset="-122"/>
              </a:endParaRPr>
            </a:p>
          </p:txBody>
        </p:sp>
        <p:sp>
          <p:nvSpPr>
            <p:cNvPr id="17492" name="Rectangle 82"/>
            <p:cNvSpPr/>
            <p:nvPr/>
          </p:nvSpPr>
          <p:spPr>
            <a:xfrm>
              <a:off x="5219" y="1839"/>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465</a:t>
              </a:r>
              <a:endParaRPr lang="en-GB" altLang="zh-CN" sz="1200" b="1" dirty="0">
                <a:solidFill>
                  <a:srgbClr val="000000"/>
                </a:solidFill>
                <a:latin typeface="宋体" panose="02000500000000000000" pitchFamily="2" charset="-122"/>
              </a:endParaRPr>
            </a:p>
          </p:txBody>
        </p:sp>
        <p:sp>
          <p:nvSpPr>
            <p:cNvPr id="17493" name="Rectangle 83"/>
            <p:cNvSpPr/>
            <p:nvPr/>
          </p:nvSpPr>
          <p:spPr>
            <a:xfrm>
              <a:off x="3963" y="1839"/>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158</a:t>
              </a:r>
              <a:endParaRPr lang="en-GB" altLang="zh-CN" sz="1200" b="1" dirty="0">
                <a:solidFill>
                  <a:srgbClr val="000000"/>
                </a:solidFill>
                <a:latin typeface="宋体" panose="02000500000000000000" pitchFamily="2" charset="-122"/>
              </a:endParaRPr>
            </a:p>
          </p:txBody>
        </p:sp>
        <p:sp>
          <p:nvSpPr>
            <p:cNvPr id="17494" name="Rectangle 84"/>
            <p:cNvSpPr/>
            <p:nvPr/>
          </p:nvSpPr>
          <p:spPr>
            <a:xfrm>
              <a:off x="2762" y="1839"/>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68</a:t>
              </a:r>
              <a:endParaRPr lang="en-GB" altLang="zh-CN" sz="1200" b="1" dirty="0">
                <a:solidFill>
                  <a:srgbClr val="000000"/>
                </a:solidFill>
                <a:latin typeface="宋体" panose="02000500000000000000" pitchFamily="2" charset="-122"/>
              </a:endParaRPr>
            </a:p>
          </p:txBody>
        </p:sp>
        <p:sp>
          <p:nvSpPr>
            <p:cNvPr id="17495" name="Rectangle 85"/>
            <p:cNvSpPr/>
            <p:nvPr/>
          </p:nvSpPr>
          <p:spPr>
            <a:xfrm>
              <a:off x="1650" y="1839"/>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25.2</a:t>
              </a:r>
              <a:endParaRPr lang="en-GB" altLang="zh-CN" sz="1200" b="1" dirty="0">
                <a:solidFill>
                  <a:srgbClr val="000000"/>
                </a:solidFill>
                <a:latin typeface="宋体" panose="02000500000000000000" pitchFamily="2" charset="-122"/>
              </a:endParaRPr>
            </a:p>
          </p:txBody>
        </p:sp>
        <p:sp>
          <p:nvSpPr>
            <p:cNvPr id="17496" name="Rectangle 86"/>
            <p:cNvSpPr/>
            <p:nvPr/>
          </p:nvSpPr>
          <p:spPr>
            <a:xfrm>
              <a:off x="517" y="1839"/>
              <a:ext cx="1133" cy="143"/>
            </a:xfrm>
            <a:prstGeom prst="rect">
              <a:avLst/>
            </a:prstGeom>
            <a:noFill/>
            <a:ln w="9525">
              <a:noFill/>
            </a:ln>
          </p:spPr>
          <p:txBody>
            <a:bodyPr lIns="90000" tIns="0" rIns="90000" bIns="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300.twolf</a:t>
              </a:r>
              <a:endParaRPr lang="en-GB" altLang="zh-CN" sz="1200" b="1" dirty="0">
                <a:solidFill>
                  <a:srgbClr val="000000"/>
                </a:solidFill>
                <a:latin typeface="宋体" panose="02000500000000000000" pitchFamily="2" charset="-122"/>
              </a:endParaRPr>
            </a:p>
          </p:txBody>
        </p:sp>
        <p:sp>
          <p:nvSpPr>
            <p:cNvPr id="17497" name="Rectangle 87"/>
            <p:cNvSpPr/>
            <p:nvPr/>
          </p:nvSpPr>
          <p:spPr>
            <a:xfrm>
              <a:off x="5219" y="1696"/>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411</a:t>
              </a:r>
              <a:endParaRPr lang="en-GB" altLang="zh-CN" sz="1200" b="1" dirty="0">
                <a:solidFill>
                  <a:srgbClr val="000000"/>
                </a:solidFill>
                <a:latin typeface="宋体" panose="02000500000000000000" pitchFamily="2" charset="-122"/>
              </a:endParaRPr>
            </a:p>
          </p:txBody>
        </p:sp>
        <p:sp>
          <p:nvSpPr>
            <p:cNvPr id="17498" name="Rectangle 88"/>
            <p:cNvSpPr/>
            <p:nvPr/>
          </p:nvSpPr>
          <p:spPr>
            <a:xfrm>
              <a:off x="3963" y="1696"/>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155</a:t>
              </a:r>
              <a:endParaRPr lang="en-GB" altLang="zh-CN" sz="1200" b="1" dirty="0">
                <a:solidFill>
                  <a:srgbClr val="000000"/>
                </a:solidFill>
                <a:latin typeface="宋体" panose="02000500000000000000" pitchFamily="2" charset="-122"/>
              </a:endParaRPr>
            </a:p>
          </p:txBody>
        </p:sp>
        <p:sp>
          <p:nvSpPr>
            <p:cNvPr id="17499" name="Rectangle 89"/>
            <p:cNvSpPr/>
            <p:nvPr/>
          </p:nvSpPr>
          <p:spPr>
            <a:xfrm>
              <a:off x="2762" y="1696"/>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67</a:t>
              </a:r>
              <a:endParaRPr lang="en-GB" altLang="zh-CN" sz="1200" b="1" dirty="0">
                <a:solidFill>
                  <a:srgbClr val="000000"/>
                </a:solidFill>
                <a:latin typeface="宋体" panose="02000500000000000000" pitchFamily="2" charset="-122"/>
              </a:endParaRPr>
            </a:p>
          </p:txBody>
        </p:sp>
        <p:sp>
          <p:nvSpPr>
            <p:cNvPr id="17500" name="Rectangle 90"/>
            <p:cNvSpPr/>
            <p:nvPr/>
          </p:nvSpPr>
          <p:spPr>
            <a:xfrm>
              <a:off x="1650" y="1696"/>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29.1</a:t>
              </a:r>
              <a:endParaRPr lang="en-GB" altLang="zh-CN" sz="1200" b="1" dirty="0">
                <a:solidFill>
                  <a:srgbClr val="000000"/>
                </a:solidFill>
                <a:latin typeface="宋体" panose="02000500000000000000" pitchFamily="2" charset="-122"/>
              </a:endParaRPr>
            </a:p>
          </p:txBody>
        </p:sp>
        <p:sp>
          <p:nvSpPr>
            <p:cNvPr id="17501" name="Rectangle 91"/>
            <p:cNvSpPr/>
            <p:nvPr/>
          </p:nvSpPr>
          <p:spPr>
            <a:xfrm>
              <a:off x="517" y="1696"/>
              <a:ext cx="1133" cy="143"/>
            </a:xfrm>
            <a:prstGeom prst="rect">
              <a:avLst/>
            </a:prstGeom>
            <a:noFill/>
            <a:ln w="9525">
              <a:noFill/>
            </a:ln>
          </p:spPr>
          <p:txBody>
            <a:bodyPr lIns="90000" tIns="0" rIns="90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256.bzip2</a:t>
              </a:r>
              <a:endParaRPr lang="en-GB" altLang="zh-CN" sz="1200" b="1" dirty="0">
                <a:solidFill>
                  <a:srgbClr val="000000"/>
                </a:solidFill>
                <a:latin typeface="宋体" panose="02000500000000000000" pitchFamily="2" charset="-122"/>
              </a:endParaRPr>
            </a:p>
          </p:txBody>
        </p:sp>
        <p:sp>
          <p:nvSpPr>
            <p:cNvPr id="17502" name="Rectangle 92"/>
            <p:cNvSpPr/>
            <p:nvPr/>
          </p:nvSpPr>
          <p:spPr>
            <a:xfrm>
              <a:off x="5219" y="1553"/>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722</a:t>
              </a:r>
              <a:endParaRPr lang="en-GB" altLang="zh-CN" sz="1200" b="1" dirty="0">
                <a:solidFill>
                  <a:srgbClr val="000000"/>
                </a:solidFill>
                <a:latin typeface="宋体" panose="02000500000000000000" pitchFamily="2" charset="-122"/>
              </a:endParaRPr>
            </a:p>
          </p:txBody>
        </p:sp>
        <p:sp>
          <p:nvSpPr>
            <p:cNvPr id="17503" name="Rectangle 93"/>
            <p:cNvSpPr/>
            <p:nvPr/>
          </p:nvSpPr>
          <p:spPr>
            <a:xfrm>
              <a:off x="3963" y="1553"/>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180</a:t>
              </a:r>
              <a:endParaRPr lang="en-GB" altLang="zh-CN" sz="1200" b="1" dirty="0">
                <a:solidFill>
                  <a:srgbClr val="000000"/>
                </a:solidFill>
                <a:latin typeface="宋体" panose="02000500000000000000" pitchFamily="2" charset="-122"/>
              </a:endParaRPr>
            </a:p>
          </p:txBody>
        </p:sp>
        <p:sp>
          <p:nvSpPr>
            <p:cNvPr id="17504" name="Rectangle 94"/>
            <p:cNvSpPr/>
            <p:nvPr/>
          </p:nvSpPr>
          <p:spPr>
            <a:xfrm>
              <a:off x="2762" y="1553"/>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43</a:t>
              </a:r>
              <a:endParaRPr lang="en-GB" altLang="zh-CN" sz="1200" b="1" dirty="0">
                <a:solidFill>
                  <a:srgbClr val="000000"/>
                </a:solidFill>
                <a:latin typeface="宋体" panose="02000500000000000000" pitchFamily="2" charset="-122"/>
              </a:endParaRPr>
            </a:p>
          </p:txBody>
        </p:sp>
        <p:sp>
          <p:nvSpPr>
            <p:cNvPr id="17505" name="Rectangle 95"/>
            <p:cNvSpPr/>
            <p:nvPr/>
          </p:nvSpPr>
          <p:spPr>
            <a:xfrm>
              <a:off x="1650" y="1553"/>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12.4</a:t>
              </a:r>
              <a:endParaRPr lang="en-GB" altLang="zh-CN" sz="1200" b="1" dirty="0">
                <a:solidFill>
                  <a:srgbClr val="000000"/>
                </a:solidFill>
                <a:latin typeface="宋体" panose="02000500000000000000" pitchFamily="2" charset="-122"/>
              </a:endParaRPr>
            </a:p>
          </p:txBody>
        </p:sp>
        <p:sp>
          <p:nvSpPr>
            <p:cNvPr id="17506" name="Rectangle 96"/>
            <p:cNvSpPr/>
            <p:nvPr/>
          </p:nvSpPr>
          <p:spPr>
            <a:xfrm>
              <a:off x="517" y="1553"/>
              <a:ext cx="1133" cy="143"/>
            </a:xfrm>
            <a:prstGeom prst="rect">
              <a:avLst/>
            </a:prstGeom>
            <a:noFill/>
            <a:ln w="9525">
              <a:noFill/>
            </a:ln>
          </p:spPr>
          <p:txBody>
            <a:bodyPr lIns="90000" tIns="0" rIns="90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255.vortex</a:t>
              </a:r>
              <a:endParaRPr lang="en-GB" altLang="zh-CN" sz="1200" b="1" dirty="0">
                <a:solidFill>
                  <a:srgbClr val="000000"/>
                </a:solidFill>
                <a:latin typeface="宋体" panose="02000500000000000000" pitchFamily="2" charset="-122"/>
              </a:endParaRPr>
            </a:p>
          </p:txBody>
        </p:sp>
        <p:sp>
          <p:nvSpPr>
            <p:cNvPr id="17507" name="Rectangle 97"/>
            <p:cNvSpPr/>
            <p:nvPr/>
          </p:nvSpPr>
          <p:spPr>
            <a:xfrm>
              <a:off x="5219" y="1410"/>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458</a:t>
              </a:r>
              <a:endParaRPr lang="en-GB" altLang="zh-CN" sz="1200" b="1" dirty="0">
                <a:solidFill>
                  <a:srgbClr val="000000"/>
                </a:solidFill>
                <a:latin typeface="宋体" panose="02000500000000000000" pitchFamily="2" charset="-122"/>
              </a:endParaRPr>
            </a:p>
          </p:txBody>
        </p:sp>
        <p:sp>
          <p:nvSpPr>
            <p:cNvPr id="17508" name="Rectangle 98"/>
            <p:cNvSpPr/>
            <p:nvPr/>
          </p:nvSpPr>
          <p:spPr>
            <a:xfrm>
              <a:off x="3963" y="1410"/>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135</a:t>
              </a:r>
              <a:endParaRPr lang="en-GB" altLang="zh-CN" sz="1200" b="1" dirty="0">
                <a:solidFill>
                  <a:srgbClr val="000000"/>
                </a:solidFill>
                <a:latin typeface="宋体" panose="02000500000000000000" pitchFamily="2" charset="-122"/>
              </a:endParaRPr>
            </a:p>
          </p:txBody>
        </p:sp>
        <p:sp>
          <p:nvSpPr>
            <p:cNvPr id="17509" name="Rectangle 99"/>
            <p:cNvSpPr/>
            <p:nvPr/>
          </p:nvSpPr>
          <p:spPr>
            <a:xfrm>
              <a:off x="2762" y="1410"/>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67</a:t>
              </a:r>
              <a:endParaRPr lang="en-GB" altLang="zh-CN" sz="1200" b="1" dirty="0">
                <a:solidFill>
                  <a:srgbClr val="000000"/>
                </a:solidFill>
                <a:latin typeface="宋体" panose="02000500000000000000" pitchFamily="2" charset="-122"/>
              </a:endParaRPr>
            </a:p>
          </p:txBody>
        </p:sp>
        <p:sp>
          <p:nvSpPr>
            <p:cNvPr id="17510" name="Rectangle 100"/>
            <p:cNvSpPr/>
            <p:nvPr/>
          </p:nvSpPr>
          <p:spPr>
            <a:xfrm>
              <a:off x="1650" y="1410"/>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20.2</a:t>
              </a:r>
              <a:endParaRPr lang="en-GB" altLang="zh-CN" sz="1200" b="1" dirty="0">
                <a:solidFill>
                  <a:srgbClr val="000000"/>
                </a:solidFill>
                <a:latin typeface="宋体" panose="02000500000000000000" pitchFamily="2" charset="-122"/>
              </a:endParaRPr>
            </a:p>
          </p:txBody>
        </p:sp>
        <p:sp>
          <p:nvSpPr>
            <p:cNvPr id="17511" name="Rectangle 101"/>
            <p:cNvSpPr/>
            <p:nvPr/>
          </p:nvSpPr>
          <p:spPr>
            <a:xfrm>
              <a:off x="517" y="1410"/>
              <a:ext cx="1133" cy="143"/>
            </a:xfrm>
            <a:prstGeom prst="rect">
              <a:avLst/>
            </a:prstGeom>
            <a:noFill/>
            <a:ln w="9525">
              <a:noFill/>
            </a:ln>
          </p:spPr>
          <p:txBody>
            <a:bodyPr lIns="90000" tIns="0" rIns="90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254.gap</a:t>
              </a:r>
              <a:endParaRPr lang="en-GB" altLang="zh-CN" sz="1200" b="1" dirty="0">
                <a:solidFill>
                  <a:srgbClr val="000000"/>
                </a:solidFill>
                <a:latin typeface="宋体" panose="02000500000000000000" pitchFamily="2" charset="-122"/>
              </a:endParaRPr>
            </a:p>
          </p:txBody>
        </p:sp>
        <p:sp>
          <p:nvSpPr>
            <p:cNvPr id="17512" name="Rectangle 102"/>
            <p:cNvSpPr/>
            <p:nvPr/>
          </p:nvSpPr>
          <p:spPr>
            <a:xfrm>
              <a:off x="5219" y="1267"/>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508</a:t>
              </a:r>
              <a:endParaRPr lang="en-GB" altLang="zh-CN" sz="1200" b="1" dirty="0">
                <a:solidFill>
                  <a:srgbClr val="000000"/>
                </a:solidFill>
                <a:latin typeface="宋体" panose="02000500000000000000" pitchFamily="2" charset="-122"/>
              </a:endParaRPr>
            </a:p>
          </p:txBody>
        </p:sp>
        <p:sp>
          <p:nvSpPr>
            <p:cNvPr id="17513" name="Rectangle 103"/>
            <p:cNvSpPr/>
            <p:nvPr/>
          </p:nvSpPr>
          <p:spPr>
            <a:xfrm>
              <a:off x="3963" y="1267"/>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172</a:t>
              </a:r>
              <a:endParaRPr lang="en-GB" altLang="zh-CN" sz="1200" b="1" dirty="0">
                <a:solidFill>
                  <a:srgbClr val="000000"/>
                </a:solidFill>
                <a:latin typeface="宋体" panose="02000500000000000000" pitchFamily="2" charset="-122"/>
              </a:endParaRPr>
            </a:p>
          </p:txBody>
        </p:sp>
        <p:sp>
          <p:nvSpPr>
            <p:cNvPr id="17514" name="Rectangle 104"/>
            <p:cNvSpPr/>
            <p:nvPr/>
          </p:nvSpPr>
          <p:spPr>
            <a:xfrm>
              <a:off x="2762" y="1267"/>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53</a:t>
              </a:r>
              <a:endParaRPr lang="en-GB" altLang="zh-CN" sz="1200" b="1" dirty="0">
                <a:solidFill>
                  <a:srgbClr val="000000"/>
                </a:solidFill>
                <a:latin typeface="宋体" panose="02000500000000000000" pitchFamily="2" charset="-122"/>
              </a:endParaRPr>
            </a:p>
          </p:txBody>
        </p:sp>
        <p:sp>
          <p:nvSpPr>
            <p:cNvPr id="17515" name="Rectangle 105"/>
            <p:cNvSpPr/>
            <p:nvPr/>
          </p:nvSpPr>
          <p:spPr>
            <a:xfrm>
              <a:off x="1650" y="1267"/>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17.2</a:t>
              </a:r>
              <a:endParaRPr lang="en-GB" altLang="zh-CN" sz="1200" b="1" dirty="0">
                <a:solidFill>
                  <a:srgbClr val="000000"/>
                </a:solidFill>
                <a:latin typeface="宋体" panose="02000500000000000000" pitchFamily="2" charset="-122"/>
              </a:endParaRPr>
            </a:p>
          </p:txBody>
        </p:sp>
        <p:sp>
          <p:nvSpPr>
            <p:cNvPr id="17516" name="Rectangle 106"/>
            <p:cNvSpPr/>
            <p:nvPr/>
          </p:nvSpPr>
          <p:spPr>
            <a:xfrm>
              <a:off x="517" y="1267"/>
              <a:ext cx="1133" cy="143"/>
            </a:xfrm>
            <a:prstGeom prst="rect">
              <a:avLst/>
            </a:prstGeom>
            <a:noFill/>
            <a:ln w="9525">
              <a:noFill/>
            </a:ln>
          </p:spPr>
          <p:txBody>
            <a:bodyPr lIns="90000" tIns="0" rIns="90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253.perlbmk</a:t>
              </a:r>
              <a:endParaRPr lang="en-GB" altLang="zh-CN" sz="1200" b="1" dirty="0">
                <a:solidFill>
                  <a:srgbClr val="000000"/>
                </a:solidFill>
                <a:latin typeface="宋体" panose="02000500000000000000" pitchFamily="2" charset="-122"/>
              </a:endParaRPr>
            </a:p>
          </p:txBody>
        </p:sp>
        <p:sp>
          <p:nvSpPr>
            <p:cNvPr id="17517" name="Rectangle 107"/>
            <p:cNvSpPr/>
            <p:nvPr/>
          </p:nvSpPr>
          <p:spPr>
            <a:xfrm>
              <a:off x="5219" y="1124"/>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690</a:t>
              </a:r>
              <a:endParaRPr lang="en-GB" altLang="zh-CN" sz="1200" b="1" dirty="0">
                <a:solidFill>
                  <a:srgbClr val="000000"/>
                </a:solidFill>
                <a:latin typeface="宋体" panose="02000500000000000000" pitchFamily="2" charset="-122"/>
              </a:endParaRPr>
            </a:p>
          </p:txBody>
        </p:sp>
        <p:sp>
          <p:nvSpPr>
            <p:cNvPr id="17518" name="Rectangle 108"/>
            <p:cNvSpPr/>
            <p:nvPr/>
          </p:nvSpPr>
          <p:spPr>
            <a:xfrm>
              <a:off x="3963" y="1124"/>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287</a:t>
              </a:r>
              <a:endParaRPr lang="en-GB" altLang="zh-CN" sz="1200" b="1" dirty="0">
                <a:solidFill>
                  <a:srgbClr val="000000"/>
                </a:solidFill>
                <a:latin typeface="宋体" panose="02000500000000000000" pitchFamily="2" charset="-122"/>
              </a:endParaRPr>
            </a:p>
          </p:txBody>
        </p:sp>
        <p:sp>
          <p:nvSpPr>
            <p:cNvPr id="17519" name="Rectangle 109"/>
            <p:cNvSpPr/>
            <p:nvPr/>
          </p:nvSpPr>
          <p:spPr>
            <a:xfrm>
              <a:off x="2762" y="1124"/>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57</a:t>
              </a:r>
              <a:endParaRPr lang="en-GB" altLang="zh-CN" sz="1200" b="1" dirty="0">
                <a:solidFill>
                  <a:srgbClr val="000000"/>
                </a:solidFill>
                <a:latin typeface="宋体" panose="02000500000000000000" pitchFamily="2" charset="-122"/>
              </a:endParaRPr>
            </a:p>
          </p:txBody>
        </p:sp>
        <p:sp>
          <p:nvSpPr>
            <p:cNvPr id="17520" name="Rectangle 110"/>
            <p:cNvSpPr/>
            <p:nvPr/>
          </p:nvSpPr>
          <p:spPr>
            <a:xfrm>
              <a:off x="1650" y="1124"/>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11.3</a:t>
              </a:r>
              <a:endParaRPr lang="en-GB" altLang="zh-CN" sz="1200" b="1" dirty="0">
                <a:solidFill>
                  <a:srgbClr val="000000"/>
                </a:solidFill>
                <a:latin typeface="宋体" panose="02000500000000000000" pitchFamily="2" charset="-122"/>
              </a:endParaRPr>
            </a:p>
          </p:txBody>
        </p:sp>
        <p:sp>
          <p:nvSpPr>
            <p:cNvPr id="17521" name="Rectangle 111"/>
            <p:cNvSpPr/>
            <p:nvPr/>
          </p:nvSpPr>
          <p:spPr>
            <a:xfrm>
              <a:off x="517" y="1124"/>
              <a:ext cx="1133" cy="143"/>
            </a:xfrm>
            <a:prstGeom prst="rect">
              <a:avLst/>
            </a:prstGeom>
            <a:noFill/>
            <a:ln w="9525">
              <a:noFill/>
            </a:ln>
          </p:spPr>
          <p:txBody>
            <a:bodyPr lIns="90000" tIns="0" rIns="90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252.eon</a:t>
              </a:r>
              <a:endParaRPr lang="en-GB" altLang="zh-CN" sz="1200" b="1" dirty="0">
                <a:solidFill>
                  <a:srgbClr val="000000"/>
                </a:solidFill>
                <a:latin typeface="宋体" panose="02000500000000000000" pitchFamily="2" charset="-122"/>
              </a:endParaRPr>
            </a:p>
          </p:txBody>
        </p:sp>
        <p:sp>
          <p:nvSpPr>
            <p:cNvPr id="17522" name="Rectangle 112"/>
            <p:cNvSpPr/>
            <p:nvPr/>
          </p:nvSpPr>
          <p:spPr>
            <a:xfrm>
              <a:off x="5219" y="981"/>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382</a:t>
              </a:r>
              <a:endParaRPr lang="en-GB" altLang="zh-CN" sz="1200" b="1" dirty="0">
                <a:solidFill>
                  <a:srgbClr val="000000"/>
                </a:solidFill>
                <a:latin typeface="宋体" panose="02000500000000000000" pitchFamily="2" charset="-122"/>
              </a:endParaRPr>
            </a:p>
          </p:txBody>
        </p:sp>
        <p:sp>
          <p:nvSpPr>
            <p:cNvPr id="17523" name="Rectangle 113"/>
            <p:cNvSpPr/>
            <p:nvPr/>
          </p:nvSpPr>
          <p:spPr>
            <a:xfrm>
              <a:off x="3963" y="981"/>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136</a:t>
              </a:r>
              <a:endParaRPr lang="en-GB" altLang="zh-CN" sz="1200" b="1" dirty="0">
                <a:solidFill>
                  <a:srgbClr val="000000"/>
                </a:solidFill>
                <a:latin typeface="宋体" panose="02000500000000000000" pitchFamily="2" charset="-122"/>
              </a:endParaRPr>
            </a:p>
          </p:txBody>
        </p:sp>
        <p:sp>
          <p:nvSpPr>
            <p:cNvPr id="17524" name="Rectangle 114"/>
            <p:cNvSpPr/>
            <p:nvPr/>
          </p:nvSpPr>
          <p:spPr>
            <a:xfrm>
              <a:off x="2762" y="981"/>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49</a:t>
              </a:r>
              <a:endParaRPr lang="en-GB" altLang="zh-CN" sz="1200" b="1" dirty="0">
                <a:solidFill>
                  <a:srgbClr val="000000"/>
                </a:solidFill>
                <a:latin typeface="宋体" panose="02000500000000000000" pitchFamily="2" charset="-122"/>
              </a:endParaRPr>
            </a:p>
          </p:txBody>
        </p:sp>
        <p:sp>
          <p:nvSpPr>
            <p:cNvPr id="17525" name="Rectangle 115"/>
            <p:cNvSpPr/>
            <p:nvPr/>
          </p:nvSpPr>
          <p:spPr>
            <a:xfrm>
              <a:off x="1650" y="981"/>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24.1</a:t>
              </a:r>
              <a:endParaRPr lang="en-GB" altLang="zh-CN" sz="1200" b="1" dirty="0">
                <a:solidFill>
                  <a:srgbClr val="000000"/>
                </a:solidFill>
                <a:latin typeface="宋体" panose="02000500000000000000" pitchFamily="2" charset="-122"/>
              </a:endParaRPr>
            </a:p>
          </p:txBody>
        </p:sp>
        <p:sp>
          <p:nvSpPr>
            <p:cNvPr id="17526" name="Rectangle 116"/>
            <p:cNvSpPr/>
            <p:nvPr/>
          </p:nvSpPr>
          <p:spPr>
            <a:xfrm>
              <a:off x="517" y="981"/>
              <a:ext cx="1133" cy="143"/>
            </a:xfrm>
            <a:prstGeom prst="rect">
              <a:avLst/>
            </a:prstGeom>
            <a:noFill/>
            <a:ln w="9525">
              <a:noFill/>
            </a:ln>
          </p:spPr>
          <p:txBody>
            <a:bodyPr lIns="90000" tIns="0" rIns="90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197.parser</a:t>
              </a:r>
              <a:endParaRPr lang="en-GB" altLang="zh-CN" sz="1200" b="1" dirty="0">
                <a:solidFill>
                  <a:srgbClr val="000000"/>
                </a:solidFill>
                <a:latin typeface="宋体" panose="02000500000000000000" pitchFamily="2" charset="-122"/>
              </a:endParaRPr>
            </a:p>
          </p:txBody>
        </p:sp>
        <p:sp>
          <p:nvSpPr>
            <p:cNvPr id="17527" name="Rectangle 117"/>
            <p:cNvSpPr/>
            <p:nvPr/>
          </p:nvSpPr>
          <p:spPr>
            <a:xfrm>
              <a:off x="5219" y="837"/>
              <a:ext cx="1157" cy="144"/>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598</a:t>
              </a:r>
              <a:endParaRPr lang="en-GB" altLang="zh-CN" sz="1200" b="1" dirty="0">
                <a:solidFill>
                  <a:srgbClr val="000000"/>
                </a:solidFill>
                <a:latin typeface="宋体" panose="02000500000000000000" pitchFamily="2" charset="-122"/>
              </a:endParaRPr>
            </a:p>
          </p:txBody>
        </p:sp>
        <p:sp>
          <p:nvSpPr>
            <p:cNvPr id="17528" name="Rectangle 118"/>
            <p:cNvSpPr/>
            <p:nvPr/>
          </p:nvSpPr>
          <p:spPr>
            <a:xfrm>
              <a:off x="3963" y="837"/>
              <a:ext cx="1257" cy="144"/>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234</a:t>
              </a:r>
              <a:endParaRPr lang="en-GB" altLang="zh-CN" sz="1200" b="1" dirty="0">
                <a:solidFill>
                  <a:srgbClr val="000000"/>
                </a:solidFill>
                <a:latin typeface="宋体" panose="02000500000000000000" pitchFamily="2" charset="-122"/>
              </a:endParaRPr>
            </a:p>
          </p:txBody>
        </p:sp>
        <p:sp>
          <p:nvSpPr>
            <p:cNvPr id="17529" name="Rectangle 119"/>
            <p:cNvSpPr/>
            <p:nvPr/>
          </p:nvSpPr>
          <p:spPr>
            <a:xfrm>
              <a:off x="2762" y="837"/>
              <a:ext cx="1201" cy="144"/>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36</a:t>
              </a:r>
              <a:endParaRPr lang="en-GB" altLang="zh-CN" sz="1200" b="1" dirty="0">
                <a:solidFill>
                  <a:srgbClr val="000000"/>
                </a:solidFill>
                <a:latin typeface="宋体" panose="02000500000000000000" pitchFamily="2" charset="-122"/>
              </a:endParaRPr>
            </a:p>
          </p:txBody>
        </p:sp>
        <p:sp>
          <p:nvSpPr>
            <p:cNvPr id="17530" name="Rectangle 120"/>
            <p:cNvSpPr/>
            <p:nvPr/>
          </p:nvSpPr>
          <p:spPr>
            <a:xfrm>
              <a:off x="1650" y="837"/>
              <a:ext cx="1112" cy="144"/>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7.6</a:t>
              </a:r>
              <a:endParaRPr lang="en-GB" altLang="zh-CN" sz="1200" b="1" dirty="0">
                <a:solidFill>
                  <a:srgbClr val="000000"/>
                </a:solidFill>
                <a:latin typeface="宋体" panose="02000500000000000000" pitchFamily="2" charset="-122"/>
              </a:endParaRPr>
            </a:p>
          </p:txBody>
        </p:sp>
        <p:sp>
          <p:nvSpPr>
            <p:cNvPr id="17531" name="Rectangle 121"/>
            <p:cNvSpPr/>
            <p:nvPr/>
          </p:nvSpPr>
          <p:spPr>
            <a:xfrm>
              <a:off x="517" y="837"/>
              <a:ext cx="1133" cy="144"/>
            </a:xfrm>
            <a:prstGeom prst="rect">
              <a:avLst/>
            </a:prstGeom>
            <a:noFill/>
            <a:ln w="9525">
              <a:noFill/>
            </a:ln>
          </p:spPr>
          <p:txBody>
            <a:bodyPr lIns="90000" tIns="0" rIns="90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186.crafty</a:t>
              </a:r>
              <a:endParaRPr lang="en-GB" altLang="zh-CN" sz="1200" b="1" dirty="0">
                <a:solidFill>
                  <a:srgbClr val="000000"/>
                </a:solidFill>
                <a:latin typeface="宋体" panose="02000500000000000000" pitchFamily="2" charset="-122"/>
              </a:endParaRPr>
            </a:p>
          </p:txBody>
        </p:sp>
        <p:sp>
          <p:nvSpPr>
            <p:cNvPr id="17532" name="Rectangle 122"/>
            <p:cNvSpPr/>
            <p:nvPr/>
          </p:nvSpPr>
          <p:spPr>
            <a:xfrm>
              <a:off x="5219" y="694"/>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586</a:t>
              </a:r>
              <a:endParaRPr lang="en-GB" altLang="zh-CN" sz="1200" b="1" dirty="0">
                <a:solidFill>
                  <a:srgbClr val="000000"/>
                </a:solidFill>
                <a:latin typeface="宋体" panose="02000500000000000000" pitchFamily="2" charset="-122"/>
              </a:endParaRPr>
            </a:p>
          </p:txBody>
        </p:sp>
        <p:sp>
          <p:nvSpPr>
            <p:cNvPr id="17533" name="Rectangle 123"/>
            <p:cNvSpPr/>
            <p:nvPr/>
          </p:nvSpPr>
          <p:spPr>
            <a:xfrm>
              <a:off x="3963" y="694"/>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156</a:t>
              </a:r>
              <a:endParaRPr lang="en-GB" altLang="zh-CN" sz="1200" b="1" dirty="0">
                <a:solidFill>
                  <a:srgbClr val="000000"/>
                </a:solidFill>
                <a:latin typeface="宋体" panose="02000500000000000000" pitchFamily="2" charset="-122"/>
              </a:endParaRPr>
            </a:p>
          </p:txBody>
        </p:sp>
        <p:sp>
          <p:nvSpPr>
            <p:cNvPr id="17534" name="Rectangle 124"/>
            <p:cNvSpPr/>
            <p:nvPr/>
          </p:nvSpPr>
          <p:spPr>
            <a:xfrm>
              <a:off x="2762" y="694"/>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64</a:t>
              </a:r>
              <a:endParaRPr lang="en-GB" altLang="zh-CN" sz="1200" b="1" dirty="0">
                <a:solidFill>
                  <a:srgbClr val="000000"/>
                </a:solidFill>
                <a:latin typeface="宋体" panose="02000500000000000000" pitchFamily="2" charset="-122"/>
              </a:endParaRPr>
            </a:p>
          </p:txBody>
        </p:sp>
        <p:sp>
          <p:nvSpPr>
            <p:cNvPr id="17535" name="Rectangle 125"/>
            <p:cNvSpPr/>
            <p:nvPr/>
          </p:nvSpPr>
          <p:spPr>
            <a:xfrm>
              <a:off x="1650" y="694"/>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49.4</a:t>
              </a:r>
              <a:endParaRPr lang="en-GB" altLang="zh-CN" sz="1200" b="1" dirty="0">
                <a:solidFill>
                  <a:srgbClr val="000000"/>
                </a:solidFill>
                <a:latin typeface="宋体" panose="02000500000000000000" pitchFamily="2" charset="-122"/>
              </a:endParaRPr>
            </a:p>
          </p:txBody>
        </p:sp>
        <p:sp>
          <p:nvSpPr>
            <p:cNvPr id="17536" name="Rectangle 126"/>
            <p:cNvSpPr/>
            <p:nvPr/>
          </p:nvSpPr>
          <p:spPr>
            <a:xfrm>
              <a:off x="517" y="694"/>
              <a:ext cx="1133" cy="143"/>
            </a:xfrm>
            <a:prstGeom prst="rect">
              <a:avLst/>
            </a:prstGeom>
            <a:noFill/>
            <a:ln w="9525">
              <a:noFill/>
            </a:ln>
          </p:spPr>
          <p:txBody>
            <a:bodyPr lIns="90000" tIns="0" rIns="90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181.mcf</a:t>
              </a:r>
              <a:endParaRPr lang="en-GB" altLang="zh-CN" sz="1200" b="1" dirty="0">
                <a:solidFill>
                  <a:srgbClr val="000000"/>
                </a:solidFill>
                <a:latin typeface="宋体" panose="02000500000000000000" pitchFamily="2" charset="-122"/>
              </a:endParaRPr>
            </a:p>
          </p:txBody>
        </p:sp>
        <p:sp>
          <p:nvSpPr>
            <p:cNvPr id="17537" name="Rectangle 127"/>
            <p:cNvSpPr/>
            <p:nvPr/>
          </p:nvSpPr>
          <p:spPr>
            <a:xfrm>
              <a:off x="5219" y="551"/>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497</a:t>
              </a:r>
              <a:endParaRPr lang="en-GB" altLang="zh-CN" sz="1200" b="1" dirty="0">
                <a:solidFill>
                  <a:srgbClr val="000000"/>
                </a:solidFill>
                <a:latin typeface="宋体" panose="02000500000000000000" pitchFamily="2" charset="-122"/>
              </a:endParaRPr>
            </a:p>
          </p:txBody>
        </p:sp>
        <p:sp>
          <p:nvSpPr>
            <p:cNvPr id="17538" name="Rectangle 128"/>
            <p:cNvSpPr/>
            <p:nvPr/>
          </p:nvSpPr>
          <p:spPr>
            <a:xfrm>
              <a:off x="3963" y="551"/>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103</a:t>
              </a:r>
              <a:endParaRPr lang="en-GB" altLang="zh-CN" sz="1200" b="1" dirty="0">
                <a:solidFill>
                  <a:srgbClr val="000000"/>
                </a:solidFill>
                <a:latin typeface="宋体" panose="02000500000000000000" pitchFamily="2" charset="-122"/>
              </a:endParaRPr>
            </a:p>
          </p:txBody>
        </p:sp>
        <p:sp>
          <p:nvSpPr>
            <p:cNvPr id="17539" name="Rectangle 129"/>
            <p:cNvSpPr/>
            <p:nvPr/>
          </p:nvSpPr>
          <p:spPr>
            <a:xfrm>
              <a:off x="2762" y="551"/>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39</a:t>
              </a:r>
              <a:endParaRPr lang="en-GB" altLang="zh-CN" sz="1200" b="1" dirty="0">
                <a:solidFill>
                  <a:srgbClr val="000000"/>
                </a:solidFill>
                <a:latin typeface="宋体" panose="02000500000000000000" pitchFamily="2" charset="-122"/>
              </a:endParaRPr>
            </a:p>
          </p:txBody>
        </p:sp>
        <p:sp>
          <p:nvSpPr>
            <p:cNvPr id="17540" name="Rectangle 130"/>
            <p:cNvSpPr/>
            <p:nvPr/>
          </p:nvSpPr>
          <p:spPr>
            <a:xfrm>
              <a:off x="1650" y="551"/>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13.3</a:t>
              </a:r>
              <a:endParaRPr lang="en-GB" altLang="zh-CN" sz="1200" b="1" dirty="0">
                <a:solidFill>
                  <a:srgbClr val="000000"/>
                </a:solidFill>
                <a:latin typeface="宋体" panose="02000500000000000000" pitchFamily="2" charset="-122"/>
              </a:endParaRPr>
            </a:p>
          </p:txBody>
        </p:sp>
        <p:sp>
          <p:nvSpPr>
            <p:cNvPr id="17541" name="Rectangle 131"/>
            <p:cNvSpPr/>
            <p:nvPr/>
          </p:nvSpPr>
          <p:spPr>
            <a:xfrm>
              <a:off x="517" y="551"/>
              <a:ext cx="1133" cy="143"/>
            </a:xfrm>
            <a:prstGeom prst="rect">
              <a:avLst/>
            </a:prstGeom>
            <a:noFill/>
            <a:ln w="9525">
              <a:noFill/>
            </a:ln>
          </p:spPr>
          <p:txBody>
            <a:bodyPr lIns="90000" tIns="0" rIns="90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176.gcc</a:t>
              </a:r>
              <a:endParaRPr lang="en-GB" altLang="zh-CN" sz="1200" b="1" dirty="0">
                <a:solidFill>
                  <a:srgbClr val="000000"/>
                </a:solidFill>
                <a:latin typeface="宋体" panose="02000500000000000000" pitchFamily="2" charset="-122"/>
              </a:endParaRPr>
            </a:p>
          </p:txBody>
        </p:sp>
        <p:sp>
          <p:nvSpPr>
            <p:cNvPr id="17542" name="Rectangle 132"/>
            <p:cNvSpPr/>
            <p:nvPr/>
          </p:nvSpPr>
          <p:spPr>
            <a:xfrm>
              <a:off x="5219" y="408"/>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512</a:t>
              </a:r>
              <a:endParaRPr lang="en-GB" altLang="zh-CN" sz="1200" b="1" dirty="0">
                <a:solidFill>
                  <a:srgbClr val="000000"/>
                </a:solidFill>
                <a:latin typeface="宋体" panose="02000500000000000000" pitchFamily="2" charset="-122"/>
              </a:endParaRPr>
            </a:p>
          </p:txBody>
        </p:sp>
        <p:sp>
          <p:nvSpPr>
            <p:cNvPr id="17543" name="Rectangle 133"/>
            <p:cNvSpPr/>
            <p:nvPr/>
          </p:nvSpPr>
          <p:spPr>
            <a:xfrm>
              <a:off x="3963" y="408"/>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169</a:t>
              </a:r>
              <a:endParaRPr lang="en-GB" altLang="zh-CN" sz="1200" b="1" dirty="0">
                <a:solidFill>
                  <a:srgbClr val="000000"/>
                </a:solidFill>
                <a:latin typeface="宋体" panose="02000500000000000000" pitchFamily="2" charset="-122"/>
              </a:endParaRPr>
            </a:p>
          </p:txBody>
        </p:sp>
        <p:sp>
          <p:nvSpPr>
            <p:cNvPr id="17544" name="Rectangle 134"/>
            <p:cNvSpPr/>
            <p:nvPr/>
          </p:nvSpPr>
          <p:spPr>
            <a:xfrm>
              <a:off x="2762" y="408"/>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57</a:t>
              </a:r>
              <a:endParaRPr lang="en-GB" altLang="zh-CN" sz="1200" b="1" dirty="0">
                <a:solidFill>
                  <a:srgbClr val="000000"/>
                </a:solidFill>
                <a:latin typeface="宋体" panose="02000500000000000000" pitchFamily="2" charset="-122"/>
              </a:endParaRPr>
            </a:p>
          </p:txBody>
        </p:sp>
        <p:sp>
          <p:nvSpPr>
            <p:cNvPr id="17545" name="Rectangle 135"/>
            <p:cNvSpPr/>
            <p:nvPr/>
          </p:nvSpPr>
          <p:spPr>
            <a:xfrm>
              <a:off x="1650" y="408"/>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20.8</a:t>
              </a:r>
              <a:endParaRPr lang="en-GB" altLang="zh-CN" sz="1200" b="1" dirty="0">
                <a:solidFill>
                  <a:srgbClr val="000000"/>
                </a:solidFill>
                <a:latin typeface="宋体" panose="02000500000000000000" pitchFamily="2" charset="-122"/>
              </a:endParaRPr>
            </a:p>
          </p:txBody>
        </p:sp>
        <p:sp>
          <p:nvSpPr>
            <p:cNvPr id="17546" name="Rectangle 136"/>
            <p:cNvSpPr/>
            <p:nvPr/>
          </p:nvSpPr>
          <p:spPr>
            <a:xfrm>
              <a:off x="517" y="408"/>
              <a:ext cx="1133" cy="143"/>
            </a:xfrm>
            <a:prstGeom prst="rect">
              <a:avLst/>
            </a:prstGeom>
            <a:noFill/>
            <a:ln w="9525">
              <a:noFill/>
            </a:ln>
          </p:spPr>
          <p:txBody>
            <a:bodyPr lIns="90000" tIns="0" rIns="90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175.vpr</a:t>
              </a:r>
              <a:endParaRPr lang="en-GB" altLang="zh-CN" sz="1200" b="1" dirty="0">
                <a:solidFill>
                  <a:srgbClr val="000000"/>
                </a:solidFill>
                <a:latin typeface="宋体" panose="02000500000000000000" pitchFamily="2" charset="-122"/>
              </a:endParaRPr>
            </a:p>
          </p:txBody>
        </p:sp>
        <p:sp>
          <p:nvSpPr>
            <p:cNvPr id="17547" name="Rectangle 137"/>
            <p:cNvSpPr/>
            <p:nvPr/>
          </p:nvSpPr>
          <p:spPr>
            <a:xfrm>
              <a:off x="5219" y="265"/>
              <a:ext cx="11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347</a:t>
              </a:r>
              <a:endParaRPr lang="en-GB" altLang="zh-CN" sz="1200" b="1" dirty="0">
                <a:solidFill>
                  <a:srgbClr val="000000"/>
                </a:solidFill>
                <a:latin typeface="宋体" panose="02000500000000000000" pitchFamily="2" charset="-122"/>
              </a:endParaRPr>
            </a:p>
          </p:txBody>
        </p:sp>
        <p:sp>
          <p:nvSpPr>
            <p:cNvPr id="17548" name="Rectangle 138"/>
            <p:cNvSpPr/>
            <p:nvPr/>
          </p:nvSpPr>
          <p:spPr>
            <a:xfrm>
              <a:off x="3963" y="265"/>
              <a:ext cx="1257"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104</a:t>
              </a:r>
              <a:endParaRPr lang="en-GB" altLang="zh-CN" sz="1200" b="1" dirty="0">
                <a:solidFill>
                  <a:srgbClr val="000000"/>
                </a:solidFill>
                <a:latin typeface="宋体" panose="02000500000000000000" pitchFamily="2" charset="-122"/>
              </a:endParaRPr>
            </a:p>
          </p:txBody>
        </p:sp>
        <p:sp>
          <p:nvSpPr>
            <p:cNvPr id="17549" name="Rectangle 139"/>
            <p:cNvSpPr/>
            <p:nvPr/>
          </p:nvSpPr>
          <p:spPr>
            <a:xfrm>
              <a:off x="2762" y="265"/>
              <a:ext cx="1201"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39</a:t>
              </a:r>
              <a:endParaRPr lang="en-GB" altLang="zh-CN" sz="1200" b="1" dirty="0">
                <a:solidFill>
                  <a:srgbClr val="000000"/>
                </a:solidFill>
                <a:latin typeface="宋体" panose="02000500000000000000" pitchFamily="2" charset="-122"/>
              </a:endParaRPr>
            </a:p>
          </p:txBody>
        </p:sp>
        <p:sp>
          <p:nvSpPr>
            <p:cNvPr id="17550" name="Rectangle 140"/>
            <p:cNvSpPr/>
            <p:nvPr/>
          </p:nvSpPr>
          <p:spPr>
            <a:xfrm>
              <a:off x="1650" y="265"/>
              <a:ext cx="1112" cy="143"/>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18.3</a:t>
              </a:r>
              <a:endParaRPr lang="en-GB" altLang="zh-CN" sz="1200" b="1" dirty="0">
                <a:solidFill>
                  <a:srgbClr val="000000"/>
                </a:solidFill>
                <a:latin typeface="宋体" panose="02000500000000000000" pitchFamily="2" charset="-122"/>
              </a:endParaRPr>
            </a:p>
          </p:txBody>
        </p:sp>
        <p:sp>
          <p:nvSpPr>
            <p:cNvPr id="17551" name="Rectangle 141"/>
            <p:cNvSpPr/>
            <p:nvPr/>
          </p:nvSpPr>
          <p:spPr>
            <a:xfrm>
              <a:off x="517" y="265"/>
              <a:ext cx="1133" cy="143"/>
            </a:xfrm>
            <a:prstGeom prst="rect">
              <a:avLst/>
            </a:prstGeom>
            <a:noFill/>
            <a:ln w="9525">
              <a:noFill/>
            </a:ln>
          </p:spPr>
          <p:txBody>
            <a:bodyPr lIns="90000" tIns="0" rIns="90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164.gzip</a:t>
              </a:r>
              <a:endParaRPr lang="en-GB" altLang="zh-CN" sz="1200" b="1" dirty="0">
                <a:solidFill>
                  <a:srgbClr val="000000"/>
                </a:solidFill>
                <a:latin typeface="宋体" panose="02000500000000000000" pitchFamily="2" charset="-122"/>
              </a:endParaRPr>
            </a:p>
          </p:txBody>
        </p:sp>
        <p:sp>
          <p:nvSpPr>
            <p:cNvPr id="17552" name="Rectangle 142"/>
            <p:cNvSpPr/>
            <p:nvPr/>
          </p:nvSpPr>
          <p:spPr>
            <a:xfrm>
              <a:off x="5219" y="146"/>
              <a:ext cx="1157" cy="119"/>
            </a:xfrm>
            <a:prstGeom prst="rect">
              <a:avLst/>
            </a:prstGeom>
            <a:noFill/>
            <a:ln w="9525">
              <a:noFill/>
            </a:ln>
          </p:spPr>
          <p:txBody>
            <a:bodyPr lIns="90000" tIns="0" rIns="90000" bIns="0"/>
            <a:p>
              <a:pPr marL="338455" indent="-338455" algn="ctr" defTabSz="265430">
                <a:buNone/>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cs typeface="宋体" panose="02000500000000000000" pitchFamily="2" charset="-122"/>
                </a:rPr>
                <a:t>Godson-2E (1GHz)</a:t>
              </a:r>
              <a:r>
                <a:rPr lang="ar-SA" altLang="zh-CN" sz="1200" b="1" dirty="0">
                  <a:solidFill>
                    <a:srgbClr val="000000"/>
                  </a:solidFill>
                  <a:latin typeface="宋体" panose="02000500000000000000" pitchFamily="2" charset="-122"/>
                  <a:cs typeface="宋体" panose="02000500000000000000" pitchFamily="2" charset="-122"/>
                </a:rPr>
                <a:t>‏</a:t>
              </a:r>
              <a:endParaRPr lang="en-GB" altLang="zh-CN" sz="1200" b="1" dirty="0">
                <a:solidFill>
                  <a:srgbClr val="000000"/>
                </a:solidFill>
                <a:latin typeface="宋体" panose="02000500000000000000" pitchFamily="2" charset="-122"/>
                <a:cs typeface="宋体" panose="02000500000000000000" pitchFamily="2" charset="-122"/>
              </a:endParaRPr>
            </a:p>
          </p:txBody>
        </p:sp>
        <p:sp>
          <p:nvSpPr>
            <p:cNvPr id="17553" name="Rectangle 143"/>
            <p:cNvSpPr/>
            <p:nvPr/>
          </p:nvSpPr>
          <p:spPr>
            <a:xfrm>
              <a:off x="3963" y="146"/>
              <a:ext cx="1257" cy="119"/>
            </a:xfrm>
            <a:prstGeom prst="rect">
              <a:avLst/>
            </a:prstGeom>
            <a:noFill/>
            <a:ln w="9525">
              <a:noFill/>
            </a:ln>
          </p:spPr>
          <p:txBody>
            <a:bodyPr lIns="90000" tIns="0" rIns="90000" bIns="0"/>
            <a:p>
              <a:pPr marL="338455" indent="-338455" algn="ctr" defTabSz="265430">
                <a:buNone/>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cs typeface="宋体" panose="02000500000000000000" pitchFamily="2" charset="-122"/>
                </a:rPr>
                <a:t>Godson-2C (450MHz)</a:t>
              </a:r>
              <a:r>
                <a:rPr lang="ar-SA" altLang="zh-CN" sz="1200" b="1" dirty="0">
                  <a:solidFill>
                    <a:srgbClr val="000000"/>
                  </a:solidFill>
                  <a:latin typeface="宋体" panose="02000500000000000000" pitchFamily="2" charset="-122"/>
                  <a:cs typeface="宋体" panose="02000500000000000000" pitchFamily="2" charset="-122"/>
                </a:rPr>
                <a:t>‏</a:t>
              </a:r>
              <a:endParaRPr lang="en-GB" altLang="zh-CN" sz="1200" b="1" dirty="0">
                <a:solidFill>
                  <a:srgbClr val="000000"/>
                </a:solidFill>
                <a:latin typeface="宋体" panose="02000500000000000000" pitchFamily="2" charset="-122"/>
                <a:cs typeface="宋体" panose="02000500000000000000" pitchFamily="2" charset="-122"/>
              </a:endParaRPr>
            </a:p>
          </p:txBody>
        </p:sp>
        <p:sp>
          <p:nvSpPr>
            <p:cNvPr id="17554" name="Rectangle 144"/>
            <p:cNvSpPr/>
            <p:nvPr/>
          </p:nvSpPr>
          <p:spPr>
            <a:xfrm>
              <a:off x="2762" y="146"/>
              <a:ext cx="1201" cy="119"/>
            </a:xfrm>
            <a:prstGeom prst="rect">
              <a:avLst/>
            </a:prstGeom>
            <a:noFill/>
            <a:ln w="9525">
              <a:noFill/>
            </a:ln>
          </p:spPr>
          <p:txBody>
            <a:bodyPr lIns="90000" tIns="0" rIns="90000" bIns="0"/>
            <a:p>
              <a:pPr marL="338455" indent="-338455" algn="ctr" defTabSz="265430">
                <a:buNone/>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cs typeface="宋体" panose="02000500000000000000" pitchFamily="2" charset="-122"/>
                </a:rPr>
                <a:t>Godson-2B(250MHz)</a:t>
              </a:r>
              <a:r>
                <a:rPr lang="ar-SA" altLang="zh-CN" sz="1200" b="1" dirty="0">
                  <a:solidFill>
                    <a:srgbClr val="000000"/>
                  </a:solidFill>
                  <a:latin typeface="宋体" panose="02000500000000000000" pitchFamily="2" charset="-122"/>
                  <a:cs typeface="宋体" panose="02000500000000000000" pitchFamily="2" charset="-122"/>
                </a:rPr>
                <a:t>‏</a:t>
              </a:r>
              <a:endParaRPr lang="en-GB" altLang="zh-CN" sz="1200" b="1" dirty="0">
                <a:solidFill>
                  <a:srgbClr val="000000"/>
                </a:solidFill>
                <a:latin typeface="宋体" panose="02000500000000000000" pitchFamily="2" charset="-122"/>
                <a:cs typeface="宋体" panose="02000500000000000000" pitchFamily="2" charset="-122"/>
              </a:endParaRPr>
            </a:p>
          </p:txBody>
        </p:sp>
        <p:sp>
          <p:nvSpPr>
            <p:cNvPr id="17555" name="Rectangle 145"/>
            <p:cNvSpPr/>
            <p:nvPr/>
          </p:nvSpPr>
          <p:spPr>
            <a:xfrm>
              <a:off x="1650" y="146"/>
              <a:ext cx="1112" cy="119"/>
            </a:xfrm>
            <a:prstGeom prst="rect">
              <a:avLst/>
            </a:prstGeom>
            <a:noFill/>
            <a:ln w="9525">
              <a:noFill/>
            </a:ln>
          </p:spPr>
          <p:txBody>
            <a:bodyPr lIns="90000" tIns="0" rIns="90000" bIns="0"/>
            <a:p>
              <a:pPr marL="338455" indent="-338455" algn="ctr" defTabSz="265430">
                <a:buNone/>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cs typeface="宋体" panose="02000500000000000000" pitchFamily="2" charset="-122"/>
                </a:rPr>
                <a:t>Godson-1(200MHz)</a:t>
              </a:r>
              <a:r>
                <a:rPr lang="ar-SA" altLang="zh-CN" sz="1200" b="1" dirty="0">
                  <a:solidFill>
                    <a:srgbClr val="000000"/>
                  </a:solidFill>
                  <a:latin typeface="宋体" panose="02000500000000000000" pitchFamily="2" charset="-122"/>
                  <a:cs typeface="宋体" panose="02000500000000000000" pitchFamily="2" charset="-122"/>
                </a:rPr>
                <a:t>‏</a:t>
              </a:r>
              <a:endParaRPr lang="en-GB" altLang="zh-CN" sz="1200" b="1" dirty="0">
                <a:solidFill>
                  <a:srgbClr val="000000"/>
                </a:solidFill>
                <a:latin typeface="宋体" panose="02000500000000000000" pitchFamily="2" charset="-122"/>
                <a:cs typeface="宋体" panose="02000500000000000000" pitchFamily="2" charset="-122"/>
              </a:endParaRPr>
            </a:p>
          </p:txBody>
        </p:sp>
        <p:sp>
          <p:nvSpPr>
            <p:cNvPr id="17556" name="Rectangle 146"/>
            <p:cNvSpPr/>
            <p:nvPr/>
          </p:nvSpPr>
          <p:spPr>
            <a:xfrm>
              <a:off x="517" y="146"/>
              <a:ext cx="1133" cy="119"/>
            </a:xfrm>
            <a:prstGeom prst="rect">
              <a:avLst/>
            </a:prstGeom>
            <a:noFill/>
            <a:ln w="9525">
              <a:noFill/>
            </a:ln>
          </p:spPr>
          <p:txBody>
            <a:bodyPr lIns="90000" tIns="0" rIns="90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200" b="1" dirty="0">
                  <a:solidFill>
                    <a:srgbClr val="000000"/>
                  </a:solidFill>
                  <a:latin typeface="宋体" panose="02000500000000000000" pitchFamily="2" charset="-122"/>
                </a:rPr>
                <a:t>SPEC Programs</a:t>
              </a:r>
              <a:endParaRPr lang="en-GB" altLang="zh-CN" sz="1200" b="1" dirty="0">
                <a:solidFill>
                  <a:srgbClr val="000000"/>
                </a:solidFill>
                <a:latin typeface="宋体" panose="02000500000000000000" pitchFamily="2" charset="-122"/>
              </a:endParaRPr>
            </a:p>
          </p:txBody>
        </p:sp>
        <p:sp>
          <p:nvSpPr>
            <p:cNvPr id="17557" name="Rectangle 147"/>
            <p:cNvSpPr/>
            <p:nvPr/>
          </p:nvSpPr>
          <p:spPr>
            <a:xfrm>
              <a:off x="517" y="3"/>
              <a:ext cx="5860" cy="143"/>
            </a:xfrm>
            <a:prstGeom prst="rect">
              <a:avLst/>
            </a:prstGeom>
            <a:noFill/>
            <a:ln w="9525">
              <a:noFill/>
            </a:ln>
          </p:spPr>
          <p:txBody>
            <a:bodyPr lIns="90000" tIns="0" rIns="90000" bIns="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 pos="5791200" algn="l"/>
                  <a:tab pos="6515100" algn="l"/>
                  <a:tab pos="7239000" algn="l"/>
                  <a:tab pos="7962900" algn="l"/>
                  <a:tab pos="8686800" algn="l"/>
                </a:tabLst>
              </a:pPr>
              <a:r>
                <a:rPr lang="en-GB" altLang="zh-CN" sz="1200" b="1" dirty="0">
                  <a:solidFill>
                    <a:srgbClr val="000000"/>
                  </a:solidFill>
                  <a:latin typeface="宋体" panose="02000500000000000000" pitchFamily="2" charset="-122"/>
                </a:rPr>
                <a:t>Table 1. SPEC_int2000 and SPEC_fp2000 of Godson Processors</a:t>
              </a:r>
              <a:endParaRPr lang="en-GB" altLang="zh-CN" sz="1200" b="1" dirty="0">
                <a:solidFill>
                  <a:srgbClr val="000000"/>
                </a:solidFill>
                <a:latin typeface="宋体" panose="02000500000000000000" pitchFamily="2" charset="-122"/>
              </a:endParaRPr>
            </a:p>
          </p:txBody>
        </p:sp>
        <p:sp>
          <p:nvSpPr>
            <p:cNvPr id="17558" name="Line 148"/>
            <p:cNvSpPr/>
            <p:nvPr/>
          </p:nvSpPr>
          <p:spPr>
            <a:xfrm>
              <a:off x="517" y="3"/>
              <a:ext cx="5860" cy="1"/>
            </a:xfrm>
            <a:prstGeom prst="line">
              <a:avLst/>
            </a:prstGeom>
            <a:ln w="9360" cap="flat" cmpd="sng">
              <a:solidFill>
                <a:srgbClr val="000000"/>
              </a:solidFill>
              <a:prstDash val="solid"/>
              <a:miter/>
              <a:headEnd type="none" w="med" len="med"/>
              <a:tailEnd type="none" w="med" len="med"/>
            </a:ln>
          </p:spPr>
        </p:sp>
        <p:sp>
          <p:nvSpPr>
            <p:cNvPr id="17559" name="Line 149"/>
            <p:cNvSpPr/>
            <p:nvPr/>
          </p:nvSpPr>
          <p:spPr>
            <a:xfrm>
              <a:off x="517" y="4270"/>
              <a:ext cx="5860" cy="1"/>
            </a:xfrm>
            <a:prstGeom prst="line">
              <a:avLst/>
            </a:prstGeom>
            <a:ln w="9360" cap="flat" cmpd="sng">
              <a:solidFill>
                <a:srgbClr val="000000"/>
              </a:solidFill>
              <a:prstDash val="solid"/>
              <a:miter/>
              <a:headEnd type="none" w="med" len="med"/>
              <a:tailEnd type="none" w="med" len="med"/>
            </a:ln>
          </p:spPr>
        </p:sp>
        <p:sp>
          <p:nvSpPr>
            <p:cNvPr id="17560" name="Line 150"/>
            <p:cNvSpPr/>
            <p:nvPr/>
          </p:nvSpPr>
          <p:spPr>
            <a:xfrm>
              <a:off x="517" y="3"/>
              <a:ext cx="1" cy="143"/>
            </a:xfrm>
            <a:prstGeom prst="line">
              <a:avLst/>
            </a:prstGeom>
            <a:ln w="9360" cap="flat" cmpd="sng">
              <a:solidFill>
                <a:srgbClr val="000000"/>
              </a:solidFill>
              <a:prstDash val="solid"/>
              <a:miter/>
              <a:headEnd type="none" w="med" len="med"/>
              <a:tailEnd type="none" w="med" len="med"/>
            </a:ln>
          </p:spPr>
        </p:sp>
        <p:sp>
          <p:nvSpPr>
            <p:cNvPr id="17561" name="Line 151"/>
            <p:cNvSpPr/>
            <p:nvPr/>
          </p:nvSpPr>
          <p:spPr>
            <a:xfrm>
              <a:off x="6377" y="3"/>
              <a:ext cx="1" cy="143"/>
            </a:xfrm>
            <a:prstGeom prst="line">
              <a:avLst/>
            </a:prstGeom>
            <a:ln w="9360" cap="flat" cmpd="sng">
              <a:solidFill>
                <a:srgbClr val="000000"/>
              </a:solidFill>
              <a:prstDash val="solid"/>
              <a:miter/>
              <a:headEnd type="none" w="med" len="med"/>
              <a:tailEnd type="none" w="med" len="med"/>
            </a:ln>
          </p:spPr>
        </p:sp>
        <p:sp>
          <p:nvSpPr>
            <p:cNvPr id="17562" name="Line 152"/>
            <p:cNvSpPr/>
            <p:nvPr/>
          </p:nvSpPr>
          <p:spPr>
            <a:xfrm>
              <a:off x="517" y="146"/>
              <a:ext cx="5860" cy="1"/>
            </a:xfrm>
            <a:prstGeom prst="line">
              <a:avLst/>
            </a:prstGeom>
            <a:ln w="9360" cap="flat" cmpd="sng">
              <a:solidFill>
                <a:srgbClr val="000000"/>
              </a:solidFill>
              <a:prstDash val="solid"/>
              <a:miter/>
              <a:headEnd type="none" w="med" len="med"/>
              <a:tailEnd type="none" w="med" len="med"/>
            </a:ln>
          </p:spPr>
        </p:sp>
        <p:sp>
          <p:nvSpPr>
            <p:cNvPr id="17563" name="Line 153"/>
            <p:cNvSpPr/>
            <p:nvPr/>
          </p:nvSpPr>
          <p:spPr>
            <a:xfrm>
              <a:off x="517" y="146"/>
              <a:ext cx="1" cy="4124"/>
            </a:xfrm>
            <a:prstGeom prst="line">
              <a:avLst/>
            </a:prstGeom>
            <a:ln w="9360" cap="flat" cmpd="sng">
              <a:solidFill>
                <a:srgbClr val="000000"/>
              </a:solidFill>
              <a:prstDash val="solid"/>
              <a:miter/>
              <a:headEnd type="none" w="med" len="med"/>
              <a:tailEnd type="none" w="med" len="med"/>
            </a:ln>
          </p:spPr>
        </p:sp>
        <p:sp>
          <p:nvSpPr>
            <p:cNvPr id="17564" name="Line 154"/>
            <p:cNvSpPr/>
            <p:nvPr/>
          </p:nvSpPr>
          <p:spPr>
            <a:xfrm>
              <a:off x="6377" y="146"/>
              <a:ext cx="1" cy="4124"/>
            </a:xfrm>
            <a:prstGeom prst="line">
              <a:avLst/>
            </a:prstGeom>
            <a:ln w="9360" cap="flat" cmpd="sng">
              <a:solidFill>
                <a:srgbClr val="000000"/>
              </a:solidFill>
              <a:prstDash val="solid"/>
              <a:miter/>
              <a:headEnd type="none" w="med" len="med"/>
              <a:tailEnd type="none" w="med" len="med"/>
            </a:ln>
          </p:spPr>
        </p:sp>
        <p:sp>
          <p:nvSpPr>
            <p:cNvPr id="17565" name="Line 155"/>
            <p:cNvSpPr/>
            <p:nvPr/>
          </p:nvSpPr>
          <p:spPr>
            <a:xfrm>
              <a:off x="517" y="265"/>
              <a:ext cx="5860" cy="1"/>
            </a:xfrm>
            <a:prstGeom prst="line">
              <a:avLst/>
            </a:prstGeom>
            <a:ln w="9360" cap="flat" cmpd="sng">
              <a:solidFill>
                <a:srgbClr val="000000"/>
              </a:solidFill>
              <a:prstDash val="solid"/>
              <a:miter/>
              <a:headEnd type="none" w="med" len="med"/>
              <a:tailEnd type="none" w="med" len="med"/>
            </a:ln>
          </p:spPr>
        </p:sp>
        <p:sp>
          <p:nvSpPr>
            <p:cNvPr id="17566" name="Line 156"/>
            <p:cNvSpPr/>
            <p:nvPr/>
          </p:nvSpPr>
          <p:spPr>
            <a:xfrm>
              <a:off x="1650" y="146"/>
              <a:ext cx="1" cy="4124"/>
            </a:xfrm>
            <a:prstGeom prst="line">
              <a:avLst/>
            </a:prstGeom>
            <a:ln w="9360" cap="flat" cmpd="sng">
              <a:solidFill>
                <a:srgbClr val="000000"/>
              </a:solidFill>
              <a:prstDash val="solid"/>
              <a:miter/>
              <a:headEnd type="none" w="med" len="med"/>
              <a:tailEnd type="none" w="med" len="med"/>
            </a:ln>
          </p:spPr>
        </p:sp>
        <p:sp>
          <p:nvSpPr>
            <p:cNvPr id="17567" name="Line 157"/>
            <p:cNvSpPr/>
            <p:nvPr/>
          </p:nvSpPr>
          <p:spPr>
            <a:xfrm>
              <a:off x="2762" y="146"/>
              <a:ext cx="1" cy="4124"/>
            </a:xfrm>
            <a:prstGeom prst="line">
              <a:avLst/>
            </a:prstGeom>
            <a:ln w="9360" cap="flat" cmpd="sng">
              <a:solidFill>
                <a:srgbClr val="000000"/>
              </a:solidFill>
              <a:prstDash val="solid"/>
              <a:miter/>
              <a:headEnd type="none" w="med" len="med"/>
              <a:tailEnd type="none" w="med" len="med"/>
            </a:ln>
          </p:spPr>
        </p:sp>
        <p:sp>
          <p:nvSpPr>
            <p:cNvPr id="17568" name="Line 158"/>
            <p:cNvSpPr/>
            <p:nvPr/>
          </p:nvSpPr>
          <p:spPr>
            <a:xfrm>
              <a:off x="3963" y="146"/>
              <a:ext cx="1" cy="4124"/>
            </a:xfrm>
            <a:prstGeom prst="line">
              <a:avLst/>
            </a:prstGeom>
            <a:ln w="9360" cap="flat" cmpd="sng">
              <a:solidFill>
                <a:srgbClr val="000000"/>
              </a:solidFill>
              <a:prstDash val="solid"/>
              <a:miter/>
              <a:headEnd type="none" w="med" len="med"/>
              <a:tailEnd type="none" w="med" len="med"/>
            </a:ln>
          </p:spPr>
        </p:sp>
        <p:sp>
          <p:nvSpPr>
            <p:cNvPr id="17569" name="Line 159"/>
            <p:cNvSpPr/>
            <p:nvPr/>
          </p:nvSpPr>
          <p:spPr>
            <a:xfrm>
              <a:off x="5219" y="146"/>
              <a:ext cx="1" cy="4124"/>
            </a:xfrm>
            <a:prstGeom prst="line">
              <a:avLst/>
            </a:prstGeom>
            <a:ln w="9360" cap="flat" cmpd="sng">
              <a:solidFill>
                <a:srgbClr val="000000"/>
              </a:solidFill>
              <a:prstDash val="solid"/>
              <a:miter/>
              <a:headEnd type="none" w="med" len="med"/>
              <a:tailEnd type="none" w="med" len="med"/>
            </a:ln>
          </p:spPr>
        </p:sp>
        <p:sp>
          <p:nvSpPr>
            <p:cNvPr id="17570" name="Line 160"/>
            <p:cNvSpPr/>
            <p:nvPr/>
          </p:nvSpPr>
          <p:spPr>
            <a:xfrm>
              <a:off x="517" y="408"/>
              <a:ext cx="5860" cy="1"/>
            </a:xfrm>
            <a:prstGeom prst="line">
              <a:avLst/>
            </a:prstGeom>
            <a:ln w="9360" cap="flat" cmpd="sng">
              <a:solidFill>
                <a:srgbClr val="000000"/>
              </a:solidFill>
              <a:prstDash val="solid"/>
              <a:miter/>
              <a:headEnd type="none" w="med" len="med"/>
              <a:tailEnd type="none" w="med" len="med"/>
            </a:ln>
          </p:spPr>
        </p:sp>
        <p:sp>
          <p:nvSpPr>
            <p:cNvPr id="17571" name="Line 161"/>
            <p:cNvSpPr/>
            <p:nvPr/>
          </p:nvSpPr>
          <p:spPr>
            <a:xfrm>
              <a:off x="517" y="551"/>
              <a:ext cx="5860" cy="1"/>
            </a:xfrm>
            <a:prstGeom prst="line">
              <a:avLst/>
            </a:prstGeom>
            <a:ln w="9360" cap="flat" cmpd="sng">
              <a:solidFill>
                <a:srgbClr val="000000"/>
              </a:solidFill>
              <a:prstDash val="solid"/>
              <a:miter/>
              <a:headEnd type="none" w="med" len="med"/>
              <a:tailEnd type="none" w="med" len="med"/>
            </a:ln>
          </p:spPr>
        </p:sp>
        <p:sp>
          <p:nvSpPr>
            <p:cNvPr id="17572" name="Line 162"/>
            <p:cNvSpPr/>
            <p:nvPr/>
          </p:nvSpPr>
          <p:spPr>
            <a:xfrm>
              <a:off x="517" y="694"/>
              <a:ext cx="5860" cy="1"/>
            </a:xfrm>
            <a:prstGeom prst="line">
              <a:avLst/>
            </a:prstGeom>
            <a:ln w="9360" cap="flat" cmpd="sng">
              <a:solidFill>
                <a:srgbClr val="000000"/>
              </a:solidFill>
              <a:prstDash val="solid"/>
              <a:miter/>
              <a:headEnd type="none" w="med" len="med"/>
              <a:tailEnd type="none" w="med" len="med"/>
            </a:ln>
          </p:spPr>
        </p:sp>
        <p:sp>
          <p:nvSpPr>
            <p:cNvPr id="17573" name="Line 163"/>
            <p:cNvSpPr/>
            <p:nvPr/>
          </p:nvSpPr>
          <p:spPr>
            <a:xfrm>
              <a:off x="517" y="837"/>
              <a:ext cx="5860" cy="1"/>
            </a:xfrm>
            <a:prstGeom prst="line">
              <a:avLst/>
            </a:prstGeom>
            <a:ln w="9360" cap="flat" cmpd="sng">
              <a:solidFill>
                <a:srgbClr val="000000"/>
              </a:solidFill>
              <a:prstDash val="solid"/>
              <a:miter/>
              <a:headEnd type="none" w="med" len="med"/>
              <a:tailEnd type="none" w="med" len="med"/>
            </a:ln>
          </p:spPr>
        </p:sp>
        <p:sp>
          <p:nvSpPr>
            <p:cNvPr id="17574" name="Line 164"/>
            <p:cNvSpPr/>
            <p:nvPr/>
          </p:nvSpPr>
          <p:spPr>
            <a:xfrm>
              <a:off x="517" y="981"/>
              <a:ext cx="5860" cy="1"/>
            </a:xfrm>
            <a:prstGeom prst="line">
              <a:avLst/>
            </a:prstGeom>
            <a:ln w="9360" cap="flat" cmpd="sng">
              <a:solidFill>
                <a:srgbClr val="000000"/>
              </a:solidFill>
              <a:prstDash val="solid"/>
              <a:miter/>
              <a:headEnd type="none" w="med" len="med"/>
              <a:tailEnd type="none" w="med" len="med"/>
            </a:ln>
          </p:spPr>
        </p:sp>
        <p:sp>
          <p:nvSpPr>
            <p:cNvPr id="17575" name="Line 165"/>
            <p:cNvSpPr/>
            <p:nvPr/>
          </p:nvSpPr>
          <p:spPr>
            <a:xfrm>
              <a:off x="517" y="1124"/>
              <a:ext cx="5860" cy="1"/>
            </a:xfrm>
            <a:prstGeom prst="line">
              <a:avLst/>
            </a:prstGeom>
            <a:ln w="9360" cap="flat" cmpd="sng">
              <a:solidFill>
                <a:srgbClr val="000000"/>
              </a:solidFill>
              <a:prstDash val="solid"/>
              <a:miter/>
              <a:headEnd type="none" w="med" len="med"/>
              <a:tailEnd type="none" w="med" len="med"/>
            </a:ln>
          </p:spPr>
        </p:sp>
        <p:sp>
          <p:nvSpPr>
            <p:cNvPr id="17576" name="Line 166"/>
            <p:cNvSpPr/>
            <p:nvPr/>
          </p:nvSpPr>
          <p:spPr>
            <a:xfrm>
              <a:off x="517" y="1267"/>
              <a:ext cx="5860" cy="1"/>
            </a:xfrm>
            <a:prstGeom prst="line">
              <a:avLst/>
            </a:prstGeom>
            <a:ln w="9360" cap="flat" cmpd="sng">
              <a:solidFill>
                <a:srgbClr val="000000"/>
              </a:solidFill>
              <a:prstDash val="solid"/>
              <a:miter/>
              <a:headEnd type="none" w="med" len="med"/>
              <a:tailEnd type="none" w="med" len="med"/>
            </a:ln>
          </p:spPr>
        </p:sp>
        <p:sp>
          <p:nvSpPr>
            <p:cNvPr id="17577" name="Line 167"/>
            <p:cNvSpPr/>
            <p:nvPr/>
          </p:nvSpPr>
          <p:spPr>
            <a:xfrm>
              <a:off x="517" y="1410"/>
              <a:ext cx="5860" cy="1"/>
            </a:xfrm>
            <a:prstGeom prst="line">
              <a:avLst/>
            </a:prstGeom>
            <a:ln w="9360" cap="flat" cmpd="sng">
              <a:solidFill>
                <a:srgbClr val="000000"/>
              </a:solidFill>
              <a:prstDash val="solid"/>
              <a:miter/>
              <a:headEnd type="none" w="med" len="med"/>
              <a:tailEnd type="none" w="med" len="med"/>
            </a:ln>
          </p:spPr>
        </p:sp>
        <p:sp>
          <p:nvSpPr>
            <p:cNvPr id="17578" name="Line 168"/>
            <p:cNvSpPr/>
            <p:nvPr/>
          </p:nvSpPr>
          <p:spPr>
            <a:xfrm>
              <a:off x="517" y="1553"/>
              <a:ext cx="5860" cy="1"/>
            </a:xfrm>
            <a:prstGeom prst="line">
              <a:avLst/>
            </a:prstGeom>
            <a:ln w="9360" cap="flat" cmpd="sng">
              <a:solidFill>
                <a:srgbClr val="000000"/>
              </a:solidFill>
              <a:prstDash val="solid"/>
              <a:miter/>
              <a:headEnd type="none" w="med" len="med"/>
              <a:tailEnd type="none" w="med" len="med"/>
            </a:ln>
          </p:spPr>
        </p:sp>
        <p:sp>
          <p:nvSpPr>
            <p:cNvPr id="17579" name="Line 169"/>
            <p:cNvSpPr/>
            <p:nvPr/>
          </p:nvSpPr>
          <p:spPr>
            <a:xfrm>
              <a:off x="517" y="1696"/>
              <a:ext cx="5860" cy="1"/>
            </a:xfrm>
            <a:prstGeom prst="line">
              <a:avLst/>
            </a:prstGeom>
            <a:ln w="9360" cap="flat" cmpd="sng">
              <a:solidFill>
                <a:srgbClr val="000000"/>
              </a:solidFill>
              <a:prstDash val="solid"/>
              <a:miter/>
              <a:headEnd type="none" w="med" len="med"/>
              <a:tailEnd type="none" w="med" len="med"/>
            </a:ln>
          </p:spPr>
        </p:sp>
        <p:sp>
          <p:nvSpPr>
            <p:cNvPr id="17580" name="Line 170"/>
            <p:cNvSpPr/>
            <p:nvPr/>
          </p:nvSpPr>
          <p:spPr>
            <a:xfrm>
              <a:off x="517" y="1839"/>
              <a:ext cx="5860" cy="1"/>
            </a:xfrm>
            <a:prstGeom prst="line">
              <a:avLst/>
            </a:prstGeom>
            <a:ln w="9360" cap="flat" cmpd="sng">
              <a:solidFill>
                <a:srgbClr val="000000"/>
              </a:solidFill>
              <a:prstDash val="solid"/>
              <a:miter/>
              <a:headEnd type="none" w="med" len="med"/>
              <a:tailEnd type="none" w="med" len="med"/>
            </a:ln>
          </p:spPr>
        </p:sp>
        <p:sp>
          <p:nvSpPr>
            <p:cNvPr id="17581" name="Line 171"/>
            <p:cNvSpPr/>
            <p:nvPr/>
          </p:nvSpPr>
          <p:spPr>
            <a:xfrm>
              <a:off x="517" y="1982"/>
              <a:ext cx="5860" cy="1"/>
            </a:xfrm>
            <a:prstGeom prst="line">
              <a:avLst/>
            </a:prstGeom>
            <a:ln w="9360" cap="flat" cmpd="sng">
              <a:solidFill>
                <a:srgbClr val="000000"/>
              </a:solidFill>
              <a:prstDash val="solid"/>
              <a:miter/>
              <a:headEnd type="none" w="med" len="med"/>
              <a:tailEnd type="none" w="med" len="med"/>
            </a:ln>
          </p:spPr>
        </p:sp>
        <p:sp>
          <p:nvSpPr>
            <p:cNvPr id="17582" name="Line 172"/>
            <p:cNvSpPr/>
            <p:nvPr/>
          </p:nvSpPr>
          <p:spPr>
            <a:xfrm>
              <a:off x="517" y="2125"/>
              <a:ext cx="5860" cy="1"/>
            </a:xfrm>
            <a:prstGeom prst="line">
              <a:avLst/>
            </a:prstGeom>
            <a:ln w="9360" cap="flat" cmpd="sng">
              <a:solidFill>
                <a:srgbClr val="000000"/>
              </a:solidFill>
              <a:prstDash val="solid"/>
              <a:miter/>
              <a:headEnd type="none" w="med" len="med"/>
              <a:tailEnd type="none" w="med" len="med"/>
            </a:ln>
          </p:spPr>
        </p:sp>
        <p:sp>
          <p:nvSpPr>
            <p:cNvPr id="17583" name="Line 173"/>
            <p:cNvSpPr/>
            <p:nvPr/>
          </p:nvSpPr>
          <p:spPr>
            <a:xfrm>
              <a:off x="517" y="2268"/>
              <a:ext cx="5860" cy="1"/>
            </a:xfrm>
            <a:prstGeom prst="line">
              <a:avLst/>
            </a:prstGeom>
            <a:ln w="9360" cap="flat" cmpd="sng">
              <a:solidFill>
                <a:srgbClr val="000000"/>
              </a:solidFill>
              <a:prstDash val="solid"/>
              <a:miter/>
              <a:headEnd type="none" w="med" len="med"/>
              <a:tailEnd type="none" w="med" len="med"/>
            </a:ln>
          </p:spPr>
        </p:sp>
        <p:sp>
          <p:nvSpPr>
            <p:cNvPr id="17584" name="Line 174"/>
            <p:cNvSpPr/>
            <p:nvPr/>
          </p:nvSpPr>
          <p:spPr>
            <a:xfrm>
              <a:off x="517" y="2411"/>
              <a:ext cx="5860" cy="1"/>
            </a:xfrm>
            <a:prstGeom prst="line">
              <a:avLst/>
            </a:prstGeom>
            <a:ln w="9360" cap="flat" cmpd="sng">
              <a:solidFill>
                <a:srgbClr val="000000"/>
              </a:solidFill>
              <a:prstDash val="solid"/>
              <a:miter/>
              <a:headEnd type="none" w="med" len="med"/>
              <a:tailEnd type="none" w="med" len="med"/>
            </a:ln>
          </p:spPr>
        </p:sp>
        <p:sp>
          <p:nvSpPr>
            <p:cNvPr id="17585" name="Line 175"/>
            <p:cNvSpPr/>
            <p:nvPr/>
          </p:nvSpPr>
          <p:spPr>
            <a:xfrm>
              <a:off x="517" y="2554"/>
              <a:ext cx="5860" cy="1"/>
            </a:xfrm>
            <a:prstGeom prst="line">
              <a:avLst/>
            </a:prstGeom>
            <a:ln w="9360" cap="flat" cmpd="sng">
              <a:solidFill>
                <a:srgbClr val="000000"/>
              </a:solidFill>
              <a:prstDash val="solid"/>
              <a:miter/>
              <a:headEnd type="none" w="med" len="med"/>
              <a:tailEnd type="none" w="med" len="med"/>
            </a:ln>
          </p:spPr>
        </p:sp>
        <p:sp>
          <p:nvSpPr>
            <p:cNvPr id="17586" name="Line 176"/>
            <p:cNvSpPr/>
            <p:nvPr/>
          </p:nvSpPr>
          <p:spPr>
            <a:xfrm>
              <a:off x="517" y="2697"/>
              <a:ext cx="5860" cy="1"/>
            </a:xfrm>
            <a:prstGeom prst="line">
              <a:avLst/>
            </a:prstGeom>
            <a:ln w="9360" cap="flat" cmpd="sng">
              <a:solidFill>
                <a:srgbClr val="000000"/>
              </a:solidFill>
              <a:prstDash val="solid"/>
              <a:miter/>
              <a:headEnd type="none" w="med" len="med"/>
              <a:tailEnd type="none" w="med" len="med"/>
            </a:ln>
          </p:spPr>
        </p:sp>
        <p:sp>
          <p:nvSpPr>
            <p:cNvPr id="17587" name="Line 177"/>
            <p:cNvSpPr/>
            <p:nvPr/>
          </p:nvSpPr>
          <p:spPr>
            <a:xfrm>
              <a:off x="517" y="2840"/>
              <a:ext cx="5860" cy="1"/>
            </a:xfrm>
            <a:prstGeom prst="line">
              <a:avLst/>
            </a:prstGeom>
            <a:ln w="9360" cap="flat" cmpd="sng">
              <a:solidFill>
                <a:srgbClr val="000000"/>
              </a:solidFill>
              <a:prstDash val="solid"/>
              <a:miter/>
              <a:headEnd type="none" w="med" len="med"/>
              <a:tailEnd type="none" w="med" len="med"/>
            </a:ln>
          </p:spPr>
        </p:sp>
        <p:sp>
          <p:nvSpPr>
            <p:cNvPr id="17588" name="Line 178"/>
            <p:cNvSpPr/>
            <p:nvPr/>
          </p:nvSpPr>
          <p:spPr>
            <a:xfrm>
              <a:off x="517" y="2983"/>
              <a:ext cx="5860" cy="1"/>
            </a:xfrm>
            <a:prstGeom prst="line">
              <a:avLst/>
            </a:prstGeom>
            <a:ln w="9360" cap="flat" cmpd="sng">
              <a:solidFill>
                <a:srgbClr val="000000"/>
              </a:solidFill>
              <a:prstDash val="solid"/>
              <a:miter/>
              <a:headEnd type="none" w="med" len="med"/>
              <a:tailEnd type="none" w="med" len="med"/>
            </a:ln>
          </p:spPr>
        </p:sp>
        <p:sp>
          <p:nvSpPr>
            <p:cNvPr id="17589" name="Line 179"/>
            <p:cNvSpPr/>
            <p:nvPr/>
          </p:nvSpPr>
          <p:spPr>
            <a:xfrm>
              <a:off x="517" y="3126"/>
              <a:ext cx="5860" cy="1"/>
            </a:xfrm>
            <a:prstGeom prst="line">
              <a:avLst/>
            </a:prstGeom>
            <a:ln w="9360" cap="flat" cmpd="sng">
              <a:solidFill>
                <a:srgbClr val="000000"/>
              </a:solidFill>
              <a:prstDash val="solid"/>
              <a:miter/>
              <a:headEnd type="none" w="med" len="med"/>
              <a:tailEnd type="none" w="med" len="med"/>
            </a:ln>
          </p:spPr>
        </p:sp>
        <p:sp>
          <p:nvSpPr>
            <p:cNvPr id="17590" name="Line 180"/>
            <p:cNvSpPr/>
            <p:nvPr/>
          </p:nvSpPr>
          <p:spPr>
            <a:xfrm>
              <a:off x="517" y="3269"/>
              <a:ext cx="5860" cy="1"/>
            </a:xfrm>
            <a:prstGeom prst="line">
              <a:avLst/>
            </a:prstGeom>
            <a:ln w="9360" cap="flat" cmpd="sng">
              <a:solidFill>
                <a:srgbClr val="000000"/>
              </a:solidFill>
              <a:prstDash val="solid"/>
              <a:miter/>
              <a:headEnd type="none" w="med" len="med"/>
              <a:tailEnd type="none" w="med" len="med"/>
            </a:ln>
          </p:spPr>
        </p:sp>
        <p:sp>
          <p:nvSpPr>
            <p:cNvPr id="17591" name="Line 181"/>
            <p:cNvSpPr/>
            <p:nvPr/>
          </p:nvSpPr>
          <p:spPr>
            <a:xfrm>
              <a:off x="517" y="3412"/>
              <a:ext cx="5860" cy="1"/>
            </a:xfrm>
            <a:prstGeom prst="line">
              <a:avLst/>
            </a:prstGeom>
            <a:ln w="9360" cap="flat" cmpd="sng">
              <a:solidFill>
                <a:srgbClr val="000000"/>
              </a:solidFill>
              <a:prstDash val="solid"/>
              <a:miter/>
              <a:headEnd type="none" w="med" len="med"/>
              <a:tailEnd type="none" w="med" len="med"/>
            </a:ln>
          </p:spPr>
        </p:sp>
        <p:sp>
          <p:nvSpPr>
            <p:cNvPr id="17592" name="Line 182"/>
            <p:cNvSpPr/>
            <p:nvPr/>
          </p:nvSpPr>
          <p:spPr>
            <a:xfrm>
              <a:off x="517" y="3555"/>
              <a:ext cx="5860" cy="1"/>
            </a:xfrm>
            <a:prstGeom prst="line">
              <a:avLst/>
            </a:prstGeom>
            <a:ln w="9360" cap="flat" cmpd="sng">
              <a:solidFill>
                <a:srgbClr val="000000"/>
              </a:solidFill>
              <a:prstDash val="solid"/>
              <a:miter/>
              <a:headEnd type="none" w="med" len="med"/>
              <a:tailEnd type="none" w="med" len="med"/>
            </a:ln>
          </p:spPr>
        </p:sp>
        <p:sp>
          <p:nvSpPr>
            <p:cNvPr id="17593" name="Line 183"/>
            <p:cNvSpPr/>
            <p:nvPr/>
          </p:nvSpPr>
          <p:spPr>
            <a:xfrm>
              <a:off x="517" y="3698"/>
              <a:ext cx="5860" cy="1"/>
            </a:xfrm>
            <a:prstGeom prst="line">
              <a:avLst/>
            </a:prstGeom>
            <a:ln w="9360" cap="flat" cmpd="sng">
              <a:solidFill>
                <a:srgbClr val="000000"/>
              </a:solidFill>
              <a:prstDash val="solid"/>
              <a:miter/>
              <a:headEnd type="none" w="med" len="med"/>
              <a:tailEnd type="none" w="med" len="med"/>
            </a:ln>
          </p:spPr>
        </p:sp>
        <p:sp>
          <p:nvSpPr>
            <p:cNvPr id="17594" name="Line 184"/>
            <p:cNvSpPr/>
            <p:nvPr/>
          </p:nvSpPr>
          <p:spPr>
            <a:xfrm>
              <a:off x="517" y="3841"/>
              <a:ext cx="5860" cy="1"/>
            </a:xfrm>
            <a:prstGeom prst="line">
              <a:avLst/>
            </a:prstGeom>
            <a:ln w="9360" cap="flat" cmpd="sng">
              <a:solidFill>
                <a:srgbClr val="000000"/>
              </a:solidFill>
              <a:prstDash val="solid"/>
              <a:miter/>
              <a:headEnd type="none" w="med" len="med"/>
              <a:tailEnd type="none" w="med" len="med"/>
            </a:ln>
          </p:spPr>
        </p:sp>
        <p:sp>
          <p:nvSpPr>
            <p:cNvPr id="17595" name="Line 185"/>
            <p:cNvSpPr/>
            <p:nvPr/>
          </p:nvSpPr>
          <p:spPr>
            <a:xfrm>
              <a:off x="517" y="3984"/>
              <a:ext cx="5860" cy="1"/>
            </a:xfrm>
            <a:prstGeom prst="line">
              <a:avLst/>
            </a:prstGeom>
            <a:ln w="9360" cap="flat" cmpd="sng">
              <a:solidFill>
                <a:srgbClr val="000000"/>
              </a:solidFill>
              <a:prstDash val="solid"/>
              <a:miter/>
              <a:headEnd type="none" w="med" len="med"/>
              <a:tailEnd type="none" w="med" len="med"/>
            </a:ln>
          </p:spPr>
        </p:sp>
        <p:sp>
          <p:nvSpPr>
            <p:cNvPr id="17596" name="Line 186"/>
            <p:cNvSpPr/>
            <p:nvPr/>
          </p:nvSpPr>
          <p:spPr>
            <a:xfrm>
              <a:off x="517" y="4127"/>
              <a:ext cx="5860" cy="1"/>
            </a:xfrm>
            <a:prstGeom prst="line">
              <a:avLst/>
            </a:prstGeom>
            <a:ln w="9360" cap="flat" cmpd="sng">
              <a:solidFill>
                <a:srgbClr val="000000"/>
              </a:solidFill>
              <a:prstDash val="solid"/>
              <a:miter/>
              <a:headEnd type="none" w="med" len="med"/>
              <a:tailEnd type="none" w="med" len="med"/>
            </a:ln>
          </p:spPr>
        </p:sp>
      </p:grpSp>
      <p:sp>
        <p:nvSpPr>
          <p:cNvPr id="18434" name="标题 1"/>
          <p:cNvSpPr>
            <a:spLocks noGrp="1"/>
          </p:cNvSpPr>
          <p:nvPr>
            <p:ph type="title"/>
          </p:nvPr>
        </p:nvSpPr>
        <p:spPr>
          <a:xfrm>
            <a:off x="0" y="0"/>
            <a:ext cx="12190413" cy="744538"/>
          </a:xfrm>
        </p:spPr>
        <p:txBody>
          <a:bodyPr vert="horz" wrap="square" lIns="90000" tIns="46800" rIns="90000" bIns="46800" anchor="ctr" anchorCtr="0"/>
          <a:p>
            <a:r>
              <a:rPr lang="zh-CN" altLang="en-US" dirty="0">
                <a:latin typeface="黑体" panose="02000500000000000000" pitchFamily="49" charset="-122"/>
              </a:rPr>
              <a:t>龙芯</a:t>
            </a:r>
            <a:r>
              <a:rPr lang="en-US" altLang="zh-CN" dirty="0">
                <a:latin typeface="黑体" panose="02000500000000000000" pitchFamily="49" charset="-122"/>
              </a:rPr>
              <a:t>2B</a:t>
            </a:r>
            <a:r>
              <a:rPr lang="zh-CN" altLang="en-US" dirty="0">
                <a:latin typeface="黑体" panose="02000500000000000000" pitchFamily="49" charset="-122"/>
              </a:rPr>
              <a:t>、</a:t>
            </a:r>
            <a:r>
              <a:rPr lang="en-US" altLang="zh-CN" dirty="0">
                <a:latin typeface="黑体" panose="02000500000000000000" pitchFamily="49" charset="-122"/>
              </a:rPr>
              <a:t>2C</a:t>
            </a:r>
            <a:r>
              <a:rPr lang="zh-CN" altLang="en-US" dirty="0">
                <a:latin typeface="黑体" panose="02000500000000000000" pitchFamily="49" charset="-122"/>
              </a:rPr>
              <a:t>、</a:t>
            </a:r>
            <a:r>
              <a:rPr lang="en-US" altLang="zh-CN" dirty="0">
                <a:latin typeface="黑体" panose="02000500000000000000" pitchFamily="49" charset="-122"/>
              </a:rPr>
              <a:t>2E</a:t>
            </a:r>
            <a:r>
              <a:rPr lang="zh-CN" altLang="en-US" dirty="0">
                <a:latin typeface="黑体" panose="02000500000000000000" pitchFamily="49" charset="-122"/>
              </a:rPr>
              <a:t>的“三级跳”</a:t>
            </a:r>
            <a:endParaRPr lang="zh-CN" altLang="en-US" dirty="0">
              <a:latin typeface="黑体" panose="02000500000000000000" pitchFamily="49" charset="-122"/>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
          <p:cNvSpPr>
            <a:spLocks noGrp="1"/>
          </p:cNvSpPr>
          <p:nvPr>
            <p:ph type="title"/>
          </p:nvPr>
        </p:nvSpPr>
        <p:spPr>
          <a:xfrm>
            <a:off x="0" y="0"/>
            <a:ext cx="12190413" cy="744538"/>
          </a:xfrm>
        </p:spPr>
        <p:txBody>
          <a:bodyPr vert="horz" wrap="square" lIns="90000" tIns="46800" rIns="90000" bIns="46800" anchor="ctr" anchorCtr="0"/>
          <a:p>
            <a:r>
              <a:rPr lang="zh-CN" altLang="en-US" dirty="0">
                <a:latin typeface="黑体" panose="02000500000000000000" pitchFamily="49" charset="-122"/>
              </a:rPr>
              <a:t>龙芯</a:t>
            </a:r>
            <a:r>
              <a:rPr lang="en-US" altLang="zh-CN" dirty="0">
                <a:latin typeface="黑体" panose="02000500000000000000" pitchFamily="49" charset="-122"/>
              </a:rPr>
              <a:t>3A2000/3000</a:t>
            </a:r>
            <a:r>
              <a:rPr lang="zh-CN" altLang="en-US" dirty="0">
                <a:latin typeface="黑体" panose="02000500000000000000" pitchFamily="49" charset="-122"/>
              </a:rPr>
              <a:t>的</a:t>
            </a:r>
            <a:r>
              <a:rPr lang="en-US" altLang="zh-CN" dirty="0">
                <a:latin typeface="黑体" panose="02000500000000000000" pitchFamily="49" charset="-122"/>
              </a:rPr>
              <a:t>SPEC CPU2000</a:t>
            </a:r>
            <a:r>
              <a:rPr lang="zh-CN" altLang="en-US" dirty="0">
                <a:latin typeface="黑体" panose="02000500000000000000" pitchFamily="49" charset="-122"/>
              </a:rPr>
              <a:t>分值</a:t>
            </a:r>
            <a:endParaRPr lang="zh-CN" altLang="en-US" dirty="0">
              <a:latin typeface="黑体" panose="02000500000000000000" pitchFamily="49" charset="-122"/>
            </a:endParaRPr>
          </a:p>
        </p:txBody>
      </p:sp>
      <p:sp>
        <p:nvSpPr>
          <p:cNvPr id="18435" name="灯片编号占位符 2"/>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en-US" altLang="zh-CN" sz="1400" dirty="0">
                <a:solidFill>
                  <a:srgbClr val="000000"/>
                </a:solidFill>
              </a:rPr>
            </a:fld>
            <a:endParaRPr lang="en-US" altLang="zh-CN" sz="1400" dirty="0">
              <a:solidFill>
                <a:srgbClr val="000000"/>
              </a:solidFill>
            </a:endParaRPr>
          </a:p>
        </p:txBody>
      </p:sp>
      <p:graphicFrame>
        <p:nvGraphicFramePr>
          <p:cNvPr id="4" name="表格 3"/>
          <p:cNvGraphicFramePr>
            <a:graphicFrameLocks noGrp="1"/>
          </p:cNvGraphicFramePr>
          <p:nvPr/>
        </p:nvGraphicFramePr>
        <p:xfrm>
          <a:off x="1122363" y="944563"/>
          <a:ext cx="9664985" cy="5554663"/>
        </p:xfrm>
        <a:graphic>
          <a:graphicData uri="http://schemas.openxmlformats.org/drawingml/2006/table">
            <a:tbl>
              <a:tblPr/>
              <a:tblGrid>
                <a:gridCol w="1379086"/>
                <a:gridCol w="1436223"/>
                <a:gridCol w="1473049"/>
                <a:gridCol w="1509876"/>
                <a:gridCol w="1288917"/>
                <a:gridCol w="1288917"/>
                <a:gridCol w="1288917"/>
              </a:tblGrid>
              <a:tr h="125876">
                <a:tc rowSpan="2">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SPEC</a:t>
                      </a:r>
                      <a:r>
                        <a:rPr lang="zh-CN" sz="1200" b="1" kern="100" dirty="0">
                          <a:latin typeface="宋体" panose="02000500000000000000" pitchFamily="2" charset="-122"/>
                          <a:ea typeface="宋体" panose="02000500000000000000" pitchFamily="2" charset="-122"/>
                          <a:cs typeface="宋体" panose="02000500000000000000" pitchFamily="2" charset="-122"/>
                        </a:rPr>
                        <a:t>程序</a:t>
                      </a:r>
                      <a:endParaRPr lang="zh-CN" sz="1200" kern="100" dirty="0">
                        <a:latin typeface="宋体" panose="02000500000000000000" pitchFamily="2" charset="-122"/>
                        <a:ea typeface="宋体" panose="02000500000000000000" pitchFamily="2" charset="-122"/>
                        <a:cs typeface="宋体" panose="02000500000000000000" pitchFamily="2" charset="-122"/>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00000"/>
                        </a:lnSpc>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3A1000</a:t>
                      </a: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a:t>
                      </a:r>
                      <a:r>
                        <a:rPr lang="en-US" altLang="zh-CN" sz="1200" b="1" kern="100" dirty="0" smtClean="0">
                          <a:latin typeface="宋体" panose="02000500000000000000" pitchFamily="2" charset="-122"/>
                          <a:ea typeface="宋体" panose="02000500000000000000" pitchFamily="2" charset="-122"/>
                          <a:cs typeface="宋体" panose="02000500000000000000" pitchFamily="2" charset="-122"/>
                        </a:rPr>
                        <a:t>1GHz</a:t>
                      </a: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a:t>
                      </a:r>
                      <a:endParaRPr lang="zh-CN" sz="1200" kern="100" dirty="0">
                        <a:latin typeface="宋体" panose="02000500000000000000" pitchFamily="2" charset="-122"/>
                        <a:ea typeface="宋体" panose="02000500000000000000" pitchFamily="2" charset="-122"/>
                        <a:cs typeface="宋体" panose="02000500000000000000" pitchFamily="2" charset="-122"/>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gridSpan="2">
                  <a:txBody>
                    <a:bodyPr/>
                    <a:lstStyle/>
                    <a:p>
                      <a:pPr algn="ctr">
                        <a:lnSpc>
                          <a:spcPct val="100000"/>
                        </a:lnSpc>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3A2000</a:t>
                      </a: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a:t>
                      </a:r>
                      <a:r>
                        <a:rPr lang="en-US" altLang="zh-CN" sz="1200" b="1" kern="100" dirty="0" smtClean="0">
                          <a:latin typeface="宋体" panose="02000500000000000000" pitchFamily="2" charset="-122"/>
                          <a:ea typeface="宋体" panose="02000500000000000000" pitchFamily="2" charset="-122"/>
                          <a:cs typeface="宋体" panose="02000500000000000000" pitchFamily="2" charset="-122"/>
                        </a:rPr>
                        <a:t>1GHz</a:t>
                      </a: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a:t>
                      </a:r>
                      <a:endParaRPr lang="zh-CN" sz="1200" kern="100" dirty="0">
                        <a:latin typeface="宋体" panose="02000500000000000000" pitchFamily="2" charset="-122"/>
                        <a:ea typeface="宋体" panose="02000500000000000000" pitchFamily="2" charset="-122"/>
                        <a:cs typeface="宋体" panose="02000500000000000000" pitchFamily="2" charset="-122"/>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gridSpan="2">
                  <a:txBody>
                    <a:bodyPr/>
                    <a:lstStyle/>
                    <a:p>
                      <a:pPr algn="ctr">
                        <a:lnSpc>
                          <a:spcPct val="100000"/>
                        </a:lnSpc>
                        <a:spcAft>
                          <a:spcPts val="0"/>
                        </a:spcAft>
                      </a:pPr>
                      <a:r>
                        <a:rPr lang="en-US" altLang="zh-CN" sz="1200" b="1" kern="100" dirty="0" smtClean="0">
                          <a:latin typeface="宋体" panose="02000500000000000000" pitchFamily="2" charset="-122"/>
                          <a:ea typeface="宋体" panose="02000500000000000000" pitchFamily="2" charset="-122"/>
                          <a:cs typeface="宋体" panose="02000500000000000000" pitchFamily="2" charset="-122"/>
                        </a:rPr>
                        <a:t>3A3000</a:t>
                      </a: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a:t>
                      </a:r>
                      <a:r>
                        <a:rPr lang="en-US" altLang="zh-CN" sz="1200" b="1" kern="100" dirty="0" smtClean="0">
                          <a:latin typeface="宋体" panose="02000500000000000000" pitchFamily="2" charset="-122"/>
                          <a:ea typeface="宋体" panose="02000500000000000000" pitchFamily="2" charset="-122"/>
                          <a:cs typeface="宋体" panose="02000500000000000000" pitchFamily="2" charset="-122"/>
                        </a:rPr>
                        <a:t>1.5GHz</a:t>
                      </a: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22718" marR="227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1752">
                <a:tc vMerge="1">
                  <a:tcPr/>
                </a:tc>
                <a:tc>
                  <a:txBody>
                    <a:bodyPr/>
                    <a:lstStyle/>
                    <a:p>
                      <a:pPr algn="ctr">
                        <a:lnSpc>
                          <a:spcPct val="100000"/>
                        </a:lnSpc>
                        <a:spcAft>
                          <a:spcPts val="0"/>
                        </a:spcAft>
                      </a:pPr>
                      <a:r>
                        <a:rPr lang="zh-CN" sz="1200" b="1" kern="100" dirty="0">
                          <a:latin typeface="宋体" panose="02000500000000000000" pitchFamily="2" charset="-122"/>
                          <a:ea typeface="宋体" panose="02000500000000000000" pitchFamily="2" charset="-122"/>
                          <a:cs typeface="Times New Roman" pitchFamily="18" charset="0"/>
                        </a:rPr>
                        <a:t>运行时间（秒）</a:t>
                      </a:r>
                      <a:endParaRPr lang="zh-CN"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1200" b="1" kern="100" dirty="0">
                          <a:latin typeface="宋体" panose="02000500000000000000" pitchFamily="2" charset="-122"/>
                          <a:ea typeface="宋体" panose="02000500000000000000" pitchFamily="2" charset="-122"/>
                          <a:cs typeface="Times New Roman" pitchFamily="18" charset="0"/>
                        </a:rPr>
                        <a:t>分值</a:t>
                      </a:r>
                      <a:endParaRPr lang="zh-CN"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1200" b="1" kern="100" dirty="0">
                          <a:latin typeface="宋体" panose="02000500000000000000" pitchFamily="2" charset="-122"/>
                          <a:ea typeface="宋体" panose="02000500000000000000" pitchFamily="2" charset="-122"/>
                          <a:cs typeface="Times New Roman" pitchFamily="18" charset="0"/>
                        </a:rPr>
                        <a:t>运行时间（秒）</a:t>
                      </a:r>
                      <a:endParaRPr lang="zh-CN"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1200" b="1" kern="100" dirty="0">
                          <a:latin typeface="宋体" panose="02000500000000000000" pitchFamily="2" charset="-122"/>
                          <a:ea typeface="宋体" panose="02000500000000000000" pitchFamily="2" charset="-122"/>
                          <a:cs typeface="Times New Roman" pitchFamily="18" charset="0"/>
                        </a:rPr>
                        <a:t>分值</a:t>
                      </a:r>
                      <a:endParaRPr lang="zh-CN"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1200" b="1" kern="100" dirty="0">
                          <a:latin typeface="宋体" panose="02000500000000000000" pitchFamily="2" charset="-122"/>
                          <a:ea typeface="宋体" panose="02000500000000000000" pitchFamily="2" charset="-122"/>
                          <a:cs typeface="Times New Roman" pitchFamily="18" charset="0"/>
                        </a:rPr>
                        <a:t>运行时间（秒）</a:t>
                      </a:r>
                      <a:endParaRPr lang="zh-CN"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zh-CN" sz="1200" b="1" kern="100" dirty="0">
                          <a:latin typeface="宋体" panose="02000500000000000000" pitchFamily="2" charset="-122"/>
                          <a:ea typeface="宋体" panose="02000500000000000000" pitchFamily="2" charset="-122"/>
                          <a:cs typeface="Times New Roman" pitchFamily="18" charset="0"/>
                        </a:rPr>
                        <a:t>分值</a:t>
                      </a:r>
                      <a:endParaRPr lang="zh-CN"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164.gzip</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503</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279</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323</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433</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214  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653</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175.vpr</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389</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360</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222</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632</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146  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957</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176.gcc</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206</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533</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110</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1003</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74.1</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1485</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181.mcf</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480</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375</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195</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925</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68.8</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2618</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186.crafty</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166</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604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122</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822</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68.9</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1452</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197.parser</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707</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254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266</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676</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179  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1007</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252.eon</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159</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815</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141</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924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123  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1055</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253.perlbmk</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418</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431</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279</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644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196  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918</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254.gap</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338</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325</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155</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711</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104  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1057</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255.vortex</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291</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652</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125</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1520</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80.4</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2362</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256.bzip2</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383</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391</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285</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527</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139  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1077</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300.twolf</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421</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712</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364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824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243  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1234</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3858">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SPEC_INT2000</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endParaRPr lang="zh-CN"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447</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endParaRPr lang="zh-CN"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764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endParaRPr lang="zh-CN"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altLang="zh-CN" sz="1200" b="1" kern="100" dirty="0" smtClean="0">
                          <a:latin typeface="宋体" panose="02000500000000000000" pitchFamily="2" charset="-122"/>
                          <a:ea typeface="宋体" panose="02000500000000000000" pitchFamily="2" charset="-122"/>
                          <a:cs typeface="Times New Roman" pitchFamily="18" charset="0"/>
                        </a:rPr>
                        <a:t>1225</a:t>
                      </a:r>
                      <a:endParaRPr lang="en-US" altLang="zh-CN" sz="1200" b="1" kern="100" dirty="0" smtClean="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168.wupwise</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338</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473</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123</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1296</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50.2</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3188</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171.swim</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1299</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239</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324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957</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122  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2546</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172.mgrid</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1045</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172</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169</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1062</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118  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1526</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173.applu</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900</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233</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197</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1067</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79.1</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2653</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177.mesa</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244</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574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156</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896</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89.5</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1565</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178.galgel</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507</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572</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143</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2022</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49.9</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5810</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179.art</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173</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1504</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97</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2686</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15.8</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16451</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183.equake</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457</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285</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96</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1353</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41.8</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3109</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187.facerec</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288</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659</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146</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1306</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108  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1753</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188.ammp</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538</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409</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274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803</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180  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1219</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189.lucas</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716</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279</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181</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1104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88.0</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2273</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191.fma3d</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550</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382</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203</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1034</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137  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1530</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200.sixtrack</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553</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199</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276</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399</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151  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730</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5876">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301.apsi</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1159</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224</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235</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1108</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rPr>
                        <a:t>130  </a:t>
                      </a:r>
                      <a:endParaRPr lang="en-US" altLang="zh-CN" sz="1200" b="1" kern="100" dirty="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lnSpc>
                          <a:spcPct val="100000"/>
                        </a:lnSpc>
                        <a:spcAft>
                          <a:spcPts val="0"/>
                        </a:spcAft>
                      </a:pPr>
                      <a:r>
                        <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rPr>
                        <a:t>2006</a:t>
                      </a:r>
                      <a:endParaRPr lang="en-US" altLang="zh-CN" sz="1200" b="1" kern="100" dirty="0" smtClean="0">
                        <a:solidFill>
                          <a:schemeClr val="tx1"/>
                        </a:solidFill>
                        <a:latin typeface="宋体" panose="02000500000000000000" pitchFamily="2" charset="-122"/>
                        <a:ea typeface="宋体" panose="02000500000000000000" pitchFamily="2" charset="-122"/>
                        <a:cs typeface="Times New Roman" pitchFamily="18" charset="0"/>
                      </a:endParaRPr>
                    </a:p>
                  </a:txBody>
                  <a:tcPr marL="40099" marR="4009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3858">
                <a:tc>
                  <a:txBody>
                    <a:bodyPr/>
                    <a:lstStyle/>
                    <a:p>
                      <a:pPr algn="l">
                        <a:lnSpc>
                          <a:spcPct val="100000"/>
                        </a:lnSpc>
                        <a:spcAft>
                          <a:spcPts val="0"/>
                        </a:spcAft>
                      </a:pPr>
                      <a:r>
                        <a:rPr lang="en-US" sz="1200" b="1" kern="100">
                          <a:latin typeface="宋体" panose="02000500000000000000" pitchFamily="2" charset="-122"/>
                          <a:ea typeface="宋体" panose="02000500000000000000" pitchFamily="2" charset="-122"/>
                          <a:cs typeface="Times New Roman" pitchFamily="18" charset="0"/>
                        </a:rPr>
                        <a:t>SPEC_FP2000</a:t>
                      </a:r>
                      <a:endParaRPr lang="en-US"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endParaRPr lang="zh-CN"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367</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endParaRPr lang="zh-CN" sz="1200" b="1" kern="10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200" b="1" kern="100" dirty="0">
                          <a:latin typeface="宋体" panose="02000500000000000000" pitchFamily="2" charset="-122"/>
                          <a:ea typeface="宋体" panose="02000500000000000000" pitchFamily="2" charset="-122"/>
                          <a:cs typeface="Times New Roman" pitchFamily="18" charset="0"/>
                        </a:rPr>
                        <a:t>1120</a:t>
                      </a:r>
                      <a:endParaRPr lang="en-US"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endParaRPr lang="zh-CN" sz="1200" b="1" kern="100" dirty="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altLang="zh-CN" sz="1200" b="1" kern="100" dirty="0" smtClean="0">
                          <a:latin typeface="宋体" panose="02000500000000000000" pitchFamily="2" charset="-122"/>
                          <a:ea typeface="宋体" panose="02000500000000000000" pitchFamily="2" charset="-122"/>
                          <a:cs typeface="Times New Roman" pitchFamily="18" charset="0"/>
                        </a:rPr>
                        <a:t>2360</a:t>
                      </a:r>
                      <a:endParaRPr lang="en-US" altLang="zh-CN" sz="1200" b="1" kern="100" dirty="0" smtClean="0">
                        <a:latin typeface="宋体" panose="02000500000000000000" pitchFamily="2" charset="-122"/>
                        <a:ea typeface="宋体" panose="02000500000000000000" pitchFamily="2" charset="-122"/>
                        <a:cs typeface="Times New Roman" pitchFamily="18" charset="0"/>
                      </a:endParaRPr>
                    </a:p>
                  </a:txBody>
                  <a:tcPr marL="25305" marR="2530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p:cNvSpPr>
          <p:nvPr>
            <p:ph type="title"/>
          </p:nvPr>
        </p:nvSpPr>
        <p:spPr/>
        <p:txBody>
          <a:bodyPr vert="horz" wrap="square" lIns="90000" tIns="46800" rIns="90000" bIns="46800" anchor="ctr" anchorCtr="0"/>
          <a:p>
            <a:r>
              <a:rPr lang="zh-CN" altLang="en-US" dirty="0"/>
              <a:t>做</a:t>
            </a:r>
            <a:r>
              <a:rPr lang="en-US" altLang="zh-CN" dirty="0"/>
              <a:t>CPU</a:t>
            </a:r>
            <a:r>
              <a:rPr lang="zh-CN" altLang="en-US" dirty="0"/>
              <a:t>有感</a:t>
            </a:r>
            <a:endParaRPr lang="zh-CN" altLang="en-US" dirty="0"/>
          </a:p>
        </p:txBody>
      </p:sp>
      <p:sp>
        <p:nvSpPr>
          <p:cNvPr id="19459" name="内容占位符 2"/>
          <p:cNvSpPr>
            <a:spLocks noGrp="1"/>
          </p:cNvSpPr>
          <p:nvPr>
            <p:ph idx="1"/>
          </p:nvPr>
        </p:nvSpPr>
        <p:spPr/>
        <p:txBody>
          <a:bodyPr vert="horz" wrap="square" lIns="90000" tIns="46800" rIns="90000" bIns="46800" anchor="t" anchorCtr="0"/>
          <a:p>
            <a:pPr defTabSz="265430">
              <a:spcBef>
                <a:spcPct val="0"/>
              </a:spcBef>
              <a:buSzPct val="100000"/>
            </a:pPr>
            <a:r>
              <a:rPr lang="zh-CN" altLang="en-US" dirty="0">
                <a:latin typeface="+mn-lt"/>
                <a:ea typeface="+mn-ea"/>
                <a:cs typeface="+mn-cs"/>
              </a:rPr>
              <a:t>昨夜江边春水生</a:t>
            </a:r>
            <a:endParaRPr lang="en-US" altLang="zh-CN" dirty="0">
              <a:latin typeface="+mn-lt"/>
              <a:ea typeface="+mn-ea"/>
              <a:cs typeface="+mn-cs"/>
            </a:endParaRPr>
          </a:p>
          <a:p>
            <a:pPr defTabSz="265430">
              <a:spcBef>
                <a:spcPct val="0"/>
              </a:spcBef>
              <a:buSzPct val="100000"/>
            </a:pPr>
            <a:r>
              <a:rPr lang="zh-CN" altLang="en-US" dirty="0">
                <a:latin typeface="+mn-lt"/>
                <a:ea typeface="+mn-ea"/>
                <a:cs typeface="+mn-cs"/>
              </a:rPr>
              <a:t>艨艟巨舰一毛轻</a:t>
            </a:r>
            <a:endParaRPr lang="en-US" altLang="zh-CN" dirty="0">
              <a:latin typeface="+mn-lt"/>
              <a:ea typeface="+mn-ea"/>
              <a:cs typeface="+mn-cs"/>
            </a:endParaRPr>
          </a:p>
          <a:p>
            <a:pPr defTabSz="265430">
              <a:spcBef>
                <a:spcPct val="0"/>
              </a:spcBef>
              <a:buSzPct val="100000"/>
            </a:pPr>
            <a:r>
              <a:rPr lang="zh-CN" altLang="en-US" dirty="0">
                <a:latin typeface="+mn-lt"/>
                <a:ea typeface="+mn-ea"/>
                <a:cs typeface="+mn-cs"/>
              </a:rPr>
              <a:t>向来枉费推移力</a:t>
            </a:r>
            <a:endParaRPr lang="en-US" altLang="zh-CN" dirty="0">
              <a:latin typeface="+mn-lt"/>
              <a:ea typeface="+mn-ea"/>
              <a:cs typeface="+mn-cs"/>
            </a:endParaRPr>
          </a:p>
          <a:p>
            <a:pPr defTabSz="265430">
              <a:spcBef>
                <a:spcPct val="0"/>
              </a:spcBef>
              <a:buSzPct val="100000"/>
            </a:pPr>
            <a:r>
              <a:rPr lang="zh-CN" altLang="en-US" dirty="0">
                <a:latin typeface="+mn-lt"/>
                <a:ea typeface="+mn-ea"/>
                <a:cs typeface="+mn-cs"/>
              </a:rPr>
              <a:t>今日中流自在行</a:t>
            </a:r>
            <a:endParaRPr lang="en-US" altLang="zh-CN" dirty="0">
              <a:latin typeface="+mn-lt"/>
              <a:ea typeface="+mn-ea"/>
              <a:cs typeface="+mn-cs"/>
            </a:endParaRPr>
          </a:p>
          <a:p>
            <a:pPr defTabSz="265430">
              <a:spcBef>
                <a:spcPct val="0"/>
              </a:spcBef>
              <a:buSzPct val="100000"/>
            </a:pPr>
            <a:endParaRPr lang="zh-CN" altLang="en-US" dirty="0">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a:xfrm>
            <a:off x="882650" y="115888"/>
            <a:ext cx="10358438" cy="1054100"/>
          </a:xfrm>
        </p:spPr>
        <p:txBody>
          <a:bodyPr vert="horz" wrap="square" lIns="90000" tIns="46800" rIns="90000" bIns="46800" anchor="ctr" anchorCtr="0"/>
          <a:p>
            <a:r>
              <a:rPr lang="en-US" altLang="zh-CN" dirty="0"/>
              <a:t>20</a:t>
            </a:r>
            <a:r>
              <a:rPr lang="zh-CN" altLang="en-US" dirty="0"/>
              <a:t>年迭代完成通用</a:t>
            </a:r>
            <a:r>
              <a:rPr lang="en-US" altLang="zh-CN" dirty="0"/>
              <a:t>CPU</a:t>
            </a:r>
            <a:r>
              <a:rPr lang="zh-CN" altLang="en-US" dirty="0"/>
              <a:t>性能“补课”</a:t>
            </a:r>
            <a:endParaRPr lang="zh-CN" altLang="en-US" dirty="0"/>
          </a:p>
        </p:txBody>
      </p:sp>
      <p:pic>
        <p:nvPicPr>
          <p:cNvPr id="20483" name="图片 3"/>
          <p:cNvPicPr>
            <a:picLocks noChangeAspect="1"/>
          </p:cNvPicPr>
          <p:nvPr>
            <p:custDataLst>
              <p:tags r:id="rId1"/>
            </p:custDataLst>
          </p:nvPr>
        </p:nvPicPr>
        <p:blipFill>
          <a:blip r:embed="rId2"/>
          <a:stretch>
            <a:fillRect/>
          </a:stretch>
        </p:blipFill>
        <p:spPr>
          <a:xfrm>
            <a:off x="4330700" y="2568575"/>
            <a:ext cx="7058025" cy="3857625"/>
          </a:xfrm>
          <a:prstGeom prst="rect">
            <a:avLst/>
          </a:prstGeom>
          <a:noFill/>
          <a:ln w="9525">
            <a:noFill/>
          </a:ln>
        </p:spPr>
      </p:pic>
      <p:sp>
        <p:nvSpPr>
          <p:cNvPr id="5" name="矩形标注 4"/>
          <p:cNvSpPr/>
          <p:nvPr/>
        </p:nvSpPr>
        <p:spPr>
          <a:xfrm>
            <a:off x="5373688" y="3933825"/>
            <a:ext cx="1524000" cy="503238"/>
          </a:xfrm>
          <a:prstGeom prst="wedgeRectCallout">
            <a:avLst>
              <a:gd name="adj1" fmla="val 82662"/>
              <a:gd name="adj2" fmla="val 35625"/>
            </a:avLst>
          </a:prstGeom>
          <a:solidFill>
            <a:srgbClr val="FFFF00"/>
          </a:solidFill>
          <a:ln w="9525">
            <a:noFill/>
          </a:ln>
        </p:spPr>
        <p:txBody>
          <a:bodyPr lIns="36000" rIns="36000"/>
          <a:p>
            <a:pPr defTabSz="449580">
              <a:lnSpc>
                <a:spcPct val="135000"/>
              </a:lnSpc>
            </a:pPr>
            <a:r>
              <a:rPr lang="en-US" altLang="zh-CN" sz="1000" b="1" dirty="0">
                <a:solidFill>
                  <a:schemeClr val="tx1"/>
                </a:solidFill>
                <a:latin typeface="宋体" panose="02000500000000000000" pitchFamily="2" charset="-122"/>
              </a:rPr>
              <a:t>2002</a:t>
            </a:r>
            <a:r>
              <a:rPr lang="zh-CN" altLang="en-US" sz="1000" b="1" dirty="0">
                <a:solidFill>
                  <a:schemeClr val="tx1"/>
                </a:solidFill>
                <a:latin typeface="宋体" panose="02000500000000000000" pitchFamily="2" charset="-122"/>
              </a:rPr>
              <a:t>年</a:t>
            </a:r>
            <a:r>
              <a:rPr lang="zh-CN" altLang="en-US" sz="1000" b="1" dirty="0">
                <a:solidFill>
                  <a:schemeClr val="accent2"/>
                </a:solidFill>
                <a:latin typeface="宋体" panose="02000500000000000000" pitchFamily="2" charset="-122"/>
              </a:rPr>
              <a:t>龙芯</a:t>
            </a:r>
            <a:r>
              <a:rPr lang="en-US" altLang="zh-CN" sz="1000" b="1" dirty="0">
                <a:solidFill>
                  <a:schemeClr val="accent2"/>
                </a:solidFill>
                <a:latin typeface="宋体" panose="02000500000000000000" pitchFamily="2" charset="-122"/>
              </a:rPr>
              <a:t>1</a:t>
            </a:r>
            <a:r>
              <a:rPr lang="zh-CN" altLang="en-US" sz="1000" b="1" dirty="0">
                <a:solidFill>
                  <a:schemeClr val="accent2"/>
                </a:solidFill>
                <a:latin typeface="宋体" panose="02000500000000000000" pitchFamily="2" charset="-122"/>
              </a:rPr>
              <a:t>号</a:t>
            </a:r>
            <a:r>
              <a:rPr lang="zh-CN" altLang="en-US" sz="1000" b="1" dirty="0">
                <a:solidFill>
                  <a:schemeClr val="tx1"/>
                </a:solidFill>
                <a:latin typeface="宋体" panose="02000500000000000000" pitchFamily="2" charset="-122"/>
              </a:rPr>
              <a:t>，我国首款通用</a:t>
            </a:r>
            <a:r>
              <a:rPr lang="en-US" altLang="zh-CN" sz="1000" b="1" dirty="0">
                <a:solidFill>
                  <a:schemeClr val="tx1"/>
                </a:solidFill>
                <a:latin typeface="宋体" panose="02000500000000000000" pitchFamily="2" charset="-122"/>
              </a:rPr>
              <a:t>CPU</a:t>
            </a:r>
            <a:endParaRPr lang="en-US" altLang="zh-CN" sz="1000" b="1" dirty="0">
              <a:solidFill>
                <a:schemeClr val="tx1"/>
              </a:solidFill>
              <a:latin typeface="宋体" panose="02000500000000000000" pitchFamily="2" charset="-122"/>
            </a:endParaRPr>
          </a:p>
        </p:txBody>
      </p:sp>
      <p:sp>
        <p:nvSpPr>
          <p:cNvPr id="6" name="矩形标注 5"/>
          <p:cNvSpPr/>
          <p:nvPr/>
        </p:nvSpPr>
        <p:spPr>
          <a:xfrm>
            <a:off x="5373688" y="3357563"/>
            <a:ext cx="1524000" cy="503237"/>
          </a:xfrm>
          <a:prstGeom prst="wedgeRectCallout">
            <a:avLst>
              <a:gd name="adj1" fmla="val 118968"/>
              <a:gd name="adj2" fmla="val 35625"/>
            </a:avLst>
          </a:prstGeom>
          <a:solidFill>
            <a:srgbClr val="FFFF00"/>
          </a:solidFill>
          <a:ln w="9525">
            <a:noFill/>
          </a:ln>
        </p:spPr>
        <p:txBody>
          <a:bodyPr lIns="36000" rIns="36000"/>
          <a:p>
            <a:pPr defTabSz="449580">
              <a:lnSpc>
                <a:spcPct val="135000"/>
              </a:lnSpc>
            </a:pPr>
            <a:r>
              <a:rPr lang="en-US" altLang="zh-CN" sz="1000" b="1" dirty="0">
                <a:solidFill>
                  <a:schemeClr val="tx1"/>
                </a:solidFill>
                <a:latin typeface="宋体" panose="02000500000000000000" pitchFamily="2" charset="-122"/>
              </a:rPr>
              <a:t>2012</a:t>
            </a:r>
            <a:r>
              <a:rPr lang="zh-CN" altLang="en-US" sz="1000" b="1" dirty="0">
                <a:solidFill>
                  <a:schemeClr val="tx1"/>
                </a:solidFill>
                <a:latin typeface="宋体" panose="02000500000000000000" pitchFamily="2" charset="-122"/>
              </a:rPr>
              <a:t>年</a:t>
            </a:r>
            <a:r>
              <a:rPr lang="zh-CN" altLang="en-US" sz="1000" b="1" dirty="0">
                <a:solidFill>
                  <a:schemeClr val="accent2"/>
                </a:solidFill>
                <a:latin typeface="宋体" panose="02000500000000000000" pitchFamily="2" charset="-122"/>
              </a:rPr>
              <a:t>龙芯</a:t>
            </a:r>
            <a:r>
              <a:rPr lang="en-US" altLang="zh-CN" sz="1000" b="1" dirty="0">
                <a:solidFill>
                  <a:schemeClr val="accent2"/>
                </a:solidFill>
                <a:latin typeface="宋体" panose="02000500000000000000" pitchFamily="2" charset="-122"/>
              </a:rPr>
              <a:t>3A1000</a:t>
            </a:r>
            <a:r>
              <a:rPr lang="zh-CN" altLang="en-US" sz="1000" b="1" dirty="0">
                <a:solidFill>
                  <a:schemeClr val="tx1"/>
                </a:solidFill>
                <a:latin typeface="宋体" panose="02000500000000000000" pitchFamily="2" charset="-122"/>
              </a:rPr>
              <a:t>，性能是酷睿</a:t>
            </a:r>
            <a:r>
              <a:rPr lang="en-US" altLang="zh-CN" sz="1000" b="1" dirty="0">
                <a:solidFill>
                  <a:schemeClr val="tx1"/>
                </a:solidFill>
                <a:latin typeface="宋体" panose="02000500000000000000" pitchFamily="2" charset="-122"/>
              </a:rPr>
              <a:t>3</a:t>
            </a:r>
            <a:r>
              <a:rPr lang="zh-CN" altLang="en-US" sz="1000" b="1" dirty="0">
                <a:solidFill>
                  <a:schemeClr val="tx1"/>
                </a:solidFill>
                <a:latin typeface="宋体" panose="02000500000000000000" pitchFamily="2" charset="-122"/>
              </a:rPr>
              <a:t>代的</a:t>
            </a:r>
            <a:r>
              <a:rPr lang="en-US" altLang="zh-CN" sz="1000" b="1" dirty="0">
                <a:solidFill>
                  <a:srgbClr val="FF0000"/>
                </a:solidFill>
                <a:latin typeface="宋体" panose="02000500000000000000" pitchFamily="2" charset="-122"/>
              </a:rPr>
              <a:t>1/10</a:t>
            </a:r>
            <a:endParaRPr lang="en-US" altLang="zh-CN" sz="1000" b="1" dirty="0">
              <a:solidFill>
                <a:srgbClr val="FF0000"/>
              </a:solidFill>
              <a:latin typeface="宋体" panose="02000500000000000000" pitchFamily="2" charset="-122"/>
            </a:endParaRPr>
          </a:p>
        </p:txBody>
      </p:sp>
      <p:sp>
        <p:nvSpPr>
          <p:cNvPr id="7" name="矩形标注 6"/>
          <p:cNvSpPr/>
          <p:nvPr/>
        </p:nvSpPr>
        <p:spPr>
          <a:xfrm>
            <a:off x="5373688" y="2781300"/>
            <a:ext cx="1524000" cy="503238"/>
          </a:xfrm>
          <a:prstGeom prst="wedgeRectCallout">
            <a:avLst>
              <a:gd name="adj1" fmla="val 147847"/>
              <a:gd name="adj2" fmla="val 69218"/>
            </a:avLst>
          </a:prstGeom>
          <a:solidFill>
            <a:srgbClr val="FFFF00"/>
          </a:solidFill>
          <a:ln w="9525">
            <a:noFill/>
          </a:ln>
        </p:spPr>
        <p:txBody>
          <a:bodyPr lIns="36000" rIns="36000"/>
          <a:p>
            <a:pPr defTabSz="449580">
              <a:lnSpc>
                <a:spcPct val="135000"/>
              </a:lnSpc>
            </a:pPr>
            <a:r>
              <a:rPr lang="en-US" altLang="zh-CN" sz="1000" b="1" dirty="0">
                <a:solidFill>
                  <a:schemeClr val="tx1"/>
                </a:solidFill>
                <a:latin typeface="宋体" panose="02000500000000000000" pitchFamily="2" charset="-122"/>
              </a:rPr>
              <a:t>2016</a:t>
            </a:r>
            <a:r>
              <a:rPr lang="zh-CN" altLang="en-US" sz="1000" b="1" dirty="0">
                <a:solidFill>
                  <a:schemeClr val="tx1"/>
                </a:solidFill>
                <a:latin typeface="宋体" panose="02000500000000000000" pitchFamily="2" charset="-122"/>
              </a:rPr>
              <a:t>年</a:t>
            </a:r>
            <a:r>
              <a:rPr lang="zh-CN" altLang="en-US" sz="1000" b="1" dirty="0">
                <a:solidFill>
                  <a:schemeClr val="accent2"/>
                </a:solidFill>
                <a:latin typeface="宋体" panose="02000500000000000000" pitchFamily="2" charset="-122"/>
              </a:rPr>
              <a:t>龙芯</a:t>
            </a:r>
            <a:r>
              <a:rPr lang="en-US" altLang="zh-CN" sz="1000" b="1" dirty="0">
                <a:solidFill>
                  <a:schemeClr val="accent2"/>
                </a:solidFill>
                <a:latin typeface="宋体" panose="02000500000000000000" pitchFamily="2" charset="-122"/>
              </a:rPr>
              <a:t>3A2000</a:t>
            </a:r>
            <a:r>
              <a:rPr lang="zh-CN" altLang="en-US" sz="1000" b="1" dirty="0">
                <a:solidFill>
                  <a:schemeClr val="tx1"/>
                </a:solidFill>
                <a:latin typeface="宋体" panose="02000500000000000000" pitchFamily="2" charset="-122"/>
              </a:rPr>
              <a:t>，设计优化，性能</a:t>
            </a:r>
            <a:r>
              <a:rPr lang="zh-CN" altLang="en-US" sz="1000" b="1" dirty="0">
                <a:solidFill>
                  <a:srgbClr val="FF0000"/>
                </a:solidFill>
                <a:latin typeface="宋体" panose="02000500000000000000" pitchFamily="2" charset="-122"/>
              </a:rPr>
              <a:t>×</a:t>
            </a:r>
            <a:r>
              <a:rPr lang="en-US" altLang="zh-CN" sz="1000" b="1" dirty="0">
                <a:solidFill>
                  <a:srgbClr val="FF0000"/>
                </a:solidFill>
                <a:latin typeface="宋体" panose="02000500000000000000" pitchFamily="2" charset="-122"/>
              </a:rPr>
              <a:t>2.5 </a:t>
            </a:r>
            <a:endParaRPr lang="en-US" altLang="zh-CN" sz="1000" b="1" dirty="0">
              <a:solidFill>
                <a:srgbClr val="FF0000"/>
              </a:solidFill>
              <a:latin typeface="宋体" panose="02000500000000000000" pitchFamily="2" charset="-122"/>
            </a:endParaRPr>
          </a:p>
        </p:txBody>
      </p:sp>
      <p:sp>
        <p:nvSpPr>
          <p:cNvPr id="8" name="矩形标注 7"/>
          <p:cNvSpPr/>
          <p:nvPr/>
        </p:nvSpPr>
        <p:spPr>
          <a:xfrm>
            <a:off x="6256338" y="2205038"/>
            <a:ext cx="1524000" cy="503237"/>
          </a:xfrm>
          <a:prstGeom prst="wedgeRectCallout">
            <a:avLst>
              <a:gd name="adj1" fmla="val 118968"/>
              <a:gd name="adj2" fmla="val 156565"/>
            </a:avLst>
          </a:prstGeom>
          <a:solidFill>
            <a:srgbClr val="FFFF00"/>
          </a:solidFill>
          <a:ln w="9525">
            <a:noFill/>
          </a:ln>
        </p:spPr>
        <p:txBody>
          <a:bodyPr lIns="36000" rIns="36000"/>
          <a:p>
            <a:pPr defTabSz="449580">
              <a:lnSpc>
                <a:spcPct val="135000"/>
              </a:lnSpc>
            </a:pPr>
            <a:r>
              <a:rPr lang="en-US" altLang="zh-CN" sz="1000" b="1" dirty="0">
                <a:solidFill>
                  <a:schemeClr val="tx1"/>
                </a:solidFill>
                <a:latin typeface="宋体" panose="02000500000000000000" pitchFamily="2" charset="-122"/>
              </a:rPr>
              <a:t>2017</a:t>
            </a:r>
            <a:r>
              <a:rPr lang="zh-CN" altLang="en-US" sz="1000" b="1" dirty="0">
                <a:solidFill>
                  <a:schemeClr val="tx1"/>
                </a:solidFill>
                <a:latin typeface="宋体" panose="02000500000000000000" pitchFamily="2" charset="-122"/>
              </a:rPr>
              <a:t>年龙芯</a:t>
            </a:r>
            <a:r>
              <a:rPr lang="en-US" altLang="zh-CN" sz="1000" b="1" dirty="0">
                <a:solidFill>
                  <a:schemeClr val="accent2"/>
                </a:solidFill>
                <a:latin typeface="宋体" panose="02000500000000000000" pitchFamily="2" charset="-122"/>
              </a:rPr>
              <a:t>3A3000</a:t>
            </a:r>
            <a:r>
              <a:rPr lang="zh-CN" altLang="en-US" sz="1000" b="1" dirty="0">
                <a:solidFill>
                  <a:schemeClr val="tx1"/>
                </a:solidFill>
                <a:latin typeface="宋体" panose="02000500000000000000" pitchFamily="2" charset="-122"/>
              </a:rPr>
              <a:t>，工艺升级，性能</a:t>
            </a:r>
            <a:r>
              <a:rPr lang="zh-CN" altLang="en-US" sz="1000" b="1" dirty="0">
                <a:solidFill>
                  <a:srgbClr val="FF0000"/>
                </a:solidFill>
                <a:latin typeface="宋体" panose="02000500000000000000" pitchFamily="2" charset="-122"/>
              </a:rPr>
              <a:t>×</a:t>
            </a:r>
            <a:r>
              <a:rPr lang="en-US" altLang="zh-CN" sz="1000" b="1" dirty="0">
                <a:solidFill>
                  <a:srgbClr val="FF0000"/>
                </a:solidFill>
                <a:latin typeface="宋体" panose="02000500000000000000" pitchFamily="2" charset="-122"/>
              </a:rPr>
              <a:t>1.6 </a:t>
            </a:r>
            <a:endParaRPr lang="en-US" altLang="zh-CN" sz="1000" b="1" dirty="0">
              <a:solidFill>
                <a:srgbClr val="FF0000"/>
              </a:solidFill>
              <a:latin typeface="宋体" panose="02000500000000000000" pitchFamily="2" charset="-122"/>
            </a:endParaRPr>
          </a:p>
        </p:txBody>
      </p:sp>
      <p:sp>
        <p:nvSpPr>
          <p:cNvPr id="9" name="矩形标注 8"/>
          <p:cNvSpPr/>
          <p:nvPr/>
        </p:nvSpPr>
        <p:spPr>
          <a:xfrm>
            <a:off x="6897688" y="1557338"/>
            <a:ext cx="1522412" cy="503237"/>
          </a:xfrm>
          <a:prstGeom prst="wedgeRectCallout">
            <a:avLst>
              <a:gd name="adj1" fmla="val 99986"/>
              <a:gd name="adj2" fmla="val 255106"/>
            </a:avLst>
          </a:prstGeom>
          <a:solidFill>
            <a:srgbClr val="FFFF00"/>
          </a:solidFill>
          <a:ln w="9525">
            <a:noFill/>
          </a:ln>
        </p:spPr>
        <p:txBody>
          <a:bodyPr lIns="36000" rIns="36000"/>
          <a:p>
            <a:pPr defTabSz="449580">
              <a:lnSpc>
                <a:spcPct val="135000"/>
              </a:lnSpc>
            </a:pPr>
            <a:r>
              <a:rPr lang="en-US" altLang="zh-CN" sz="1000" b="1" dirty="0">
                <a:solidFill>
                  <a:schemeClr val="tx1"/>
                </a:solidFill>
                <a:latin typeface="宋体" panose="02000500000000000000" pitchFamily="2" charset="-122"/>
              </a:rPr>
              <a:t>2019</a:t>
            </a:r>
            <a:r>
              <a:rPr lang="zh-CN" altLang="en-US" sz="1000" b="1" dirty="0">
                <a:solidFill>
                  <a:schemeClr val="tx1"/>
                </a:solidFill>
                <a:latin typeface="宋体" panose="02000500000000000000" pitchFamily="2" charset="-122"/>
              </a:rPr>
              <a:t>年</a:t>
            </a:r>
            <a:r>
              <a:rPr lang="zh-CN" altLang="en-US" sz="1000" b="1" dirty="0">
                <a:solidFill>
                  <a:schemeClr val="accent2"/>
                </a:solidFill>
                <a:latin typeface="宋体" panose="02000500000000000000" pitchFamily="2" charset="-122"/>
              </a:rPr>
              <a:t>龙芯</a:t>
            </a:r>
            <a:r>
              <a:rPr lang="en-US" altLang="zh-CN" sz="1000" b="1" dirty="0">
                <a:solidFill>
                  <a:schemeClr val="accent2"/>
                </a:solidFill>
                <a:latin typeface="宋体" panose="02000500000000000000" pitchFamily="2" charset="-122"/>
              </a:rPr>
              <a:t>3A4000</a:t>
            </a:r>
            <a:r>
              <a:rPr lang="zh-CN" altLang="en-US" sz="1000" b="1" dirty="0">
                <a:solidFill>
                  <a:schemeClr val="tx1"/>
                </a:solidFill>
                <a:latin typeface="宋体" panose="02000500000000000000" pitchFamily="2" charset="-122"/>
              </a:rPr>
              <a:t>，设计优化，性能</a:t>
            </a:r>
            <a:r>
              <a:rPr lang="zh-CN" altLang="en-US" sz="1000" b="1" dirty="0">
                <a:solidFill>
                  <a:srgbClr val="FF0000"/>
                </a:solidFill>
                <a:latin typeface="宋体" panose="02000500000000000000" pitchFamily="2" charset="-122"/>
              </a:rPr>
              <a:t>×</a:t>
            </a:r>
            <a:r>
              <a:rPr lang="en-US" altLang="zh-CN" sz="1000" b="1" dirty="0">
                <a:solidFill>
                  <a:srgbClr val="FF0000"/>
                </a:solidFill>
                <a:latin typeface="宋体" panose="02000500000000000000" pitchFamily="2" charset="-122"/>
              </a:rPr>
              <a:t>2.0 </a:t>
            </a:r>
            <a:endParaRPr lang="en-US" altLang="zh-CN" sz="1000" b="1" dirty="0">
              <a:solidFill>
                <a:srgbClr val="FF0000"/>
              </a:solidFill>
              <a:latin typeface="宋体" panose="02000500000000000000" pitchFamily="2" charset="-122"/>
            </a:endParaRPr>
          </a:p>
        </p:txBody>
      </p:sp>
      <p:sp>
        <p:nvSpPr>
          <p:cNvPr id="10" name="矩形标注 9"/>
          <p:cNvSpPr/>
          <p:nvPr/>
        </p:nvSpPr>
        <p:spPr>
          <a:xfrm>
            <a:off x="8501063" y="1557338"/>
            <a:ext cx="1525587" cy="503237"/>
          </a:xfrm>
          <a:prstGeom prst="wedgeRectCallout">
            <a:avLst>
              <a:gd name="adj1" fmla="val 35630"/>
              <a:gd name="adj2" fmla="val 210315"/>
            </a:avLst>
          </a:prstGeom>
          <a:solidFill>
            <a:srgbClr val="FFFF00"/>
          </a:solidFill>
          <a:ln w="9525">
            <a:noFill/>
          </a:ln>
        </p:spPr>
        <p:txBody>
          <a:bodyPr lIns="36000" rIns="36000"/>
          <a:p>
            <a:pPr defTabSz="449580">
              <a:lnSpc>
                <a:spcPct val="135000"/>
              </a:lnSpc>
            </a:pPr>
            <a:r>
              <a:rPr lang="en-US" altLang="zh-CN" sz="1000" b="1" dirty="0">
                <a:solidFill>
                  <a:schemeClr val="tx1"/>
                </a:solidFill>
                <a:latin typeface="宋体" panose="02000500000000000000" pitchFamily="2" charset="-122"/>
              </a:rPr>
              <a:t>2021</a:t>
            </a:r>
            <a:r>
              <a:rPr lang="zh-CN" altLang="en-US" sz="1000" b="1" dirty="0">
                <a:solidFill>
                  <a:schemeClr val="tx1"/>
                </a:solidFill>
                <a:latin typeface="宋体" panose="02000500000000000000" pitchFamily="2" charset="-122"/>
              </a:rPr>
              <a:t>年</a:t>
            </a:r>
            <a:r>
              <a:rPr lang="zh-CN" altLang="en-US" sz="1000" b="1" dirty="0">
                <a:solidFill>
                  <a:schemeClr val="accent2"/>
                </a:solidFill>
                <a:latin typeface="宋体" panose="02000500000000000000" pitchFamily="2" charset="-122"/>
              </a:rPr>
              <a:t>龙芯</a:t>
            </a:r>
            <a:r>
              <a:rPr lang="en-US" altLang="zh-CN" sz="1000" b="1" dirty="0">
                <a:solidFill>
                  <a:schemeClr val="accent2"/>
                </a:solidFill>
                <a:latin typeface="宋体" panose="02000500000000000000" pitchFamily="2" charset="-122"/>
              </a:rPr>
              <a:t>3A5000</a:t>
            </a:r>
            <a:r>
              <a:rPr lang="zh-CN" altLang="en-US" sz="1000" b="1" dirty="0">
                <a:solidFill>
                  <a:schemeClr val="tx1"/>
                </a:solidFill>
                <a:latin typeface="宋体" panose="02000500000000000000" pitchFamily="2" charset="-122"/>
              </a:rPr>
              <a:t>，工艺升级，性能</a:t>
            </a:r>
            <a:r>
              <a:rPr lang="zh-CN" altLang="en-US" sz="1000" b="1" dirty="0">
                <a:solidFill>
                  <a:srgbClr val="FF0000"/>
                </a:solidFill>
                <a:latin typeface="宋体" panose="02000500000000000000" pitchFamily="2" charset="-122"/>
              </a:rPr>
              <a:t>×</a:t>
            </a:r>
            <a:r>
              <a:rPr lang="en-US" altLang="zh-CN" sz="1000" b="1" dirty="0">
                <a:solidFill>
                  <a:srgbClr val="FF0000"/>
                </a:solidFill>
                <a:latin typeface="宋体" panose="02000500000000000000" pitchFamily="2" charset="-122"/>
              </a:rPr>
              <a:t>1.5 </a:t>
            </a:r>
            <a:endParaRPr lang="en-US" altLang="zh-CN" sz="1000" b="1" dirty="0">
              <a:solidFill>
                <a:srgbClr val="FF0000"/>
              </a:solidFill>
              <a:latin typeface="宋体" panose="02000500000000000000" pitchFamily="2" charset="-122"/>
            </a:endParaRPr>
          </a:p>
        </p:txBody>
      </p:sp>
      <p:sp>
        <p:nvSpPr>
          <p:cNvPr id="11" name="矩形标注 10"/>
          <p:cNvSpPr/>
          <p:nvPr/>
        </p:nvSpPr>
        <p:spPr>
          <a:xfrm>
            <a:off x="10106025" y="1557338"/>
            <a:ext cx="1524000" cy="503237"/>
          </a:xfrm>
          <a:prstGeom prst="wedgeRectCallout">
            <a:avLst>
              <a:gd name="adj1" fmla="val -1500"/>
              <a:gd name="adj2" fmla="val 194639"/>
            </a:avLst>
          </a:prstGeom>
          <a:solidFill>
            <a:srgbClr val="FFFF00"/>
          </a:solidFill>
          <a:ln w="9525">
            <a:noFill/>
          </a:ln>
        </p:spPr>
        <p:txBody>
          <a:bodyPr lIns="36000" rIns="36000"/>
          <a:p>
            <a:pPr defTabSz="449580">
              <a:lnSpc>
                <a:spcPct val="135000"/>
              </a:lnSpc>
            </a:pPr>
            <a:r>
              <a:rPr lang="en-US" altLang="zh-CN" sz="1000" b="1" dirty="0">
                <a:solidFill>
                  <a:schemeClr val="tx1"/>
                </a:solidFill>
                <a:latin typeface="宋体" panose="02000500000000000000" pitchFamily="2" charset="-122"/>
              </a:rPr>
              <a:t>2023</a:t>
            </a:r>
            <a:r>
              <a:rPr lang="zh-CN" altLang="en-US" sz="1000" b="1" dirty="0">
                <a:solidFill>
                  <a:schemeClr val="tx1"/>
                </a:solidFill>
                <a:latin typeface="宋体" panose="02000500000000000000" pitchFamily="2" charset="-122"/>
              </a:rPr>
              <a:t>年</a:t>
            </a:r>
            <a:r>
              <a:rPr lang="zh-CN" altLang="en-US" sz="1000" b="1" dirty="0">
                <a:solidFill>
                  <a:schemeClr val="accent2"/>
                </a:solidFill>
                <a:latin typeface="宋体" panose="02000500000000000000" pitchFamily="2" charset="-122"/>
              </a:rPr>
              <a:t>龙芯</a:t>
            </a:r>
            <a:r>
              <a:rPr lang="en-US" altLang="zh-CN" sz="1000" b="1" dirty="0">
                <a:solidFill>
                  <a:schemeClr val="accent2"/>
                </a:solidFill>
                <a:latin typeface="宋体" panose="02000500000000000000" pitchFamily="2" charset="-122"/>
              </a:rPr>
              <a:t>3A6000</a:t>
            </a:r>
            <a:r>
              <a:rPr lang="zh-CN" altLang="en-US" sz="1000" b="1" dirty="0">
                <a:solidFill>
                  <a:schemeClr val="tx1"/>
                </a:solidFill>
                <a:latin typeface="宋体" panose="02000500000000000000" pitchFamily="2" charset="-122"/>
              </a:rPr>
              <a:t>，设计优化，性能</a:t>
            </a:r>
            <a:r>
              <a:rPr lang="zh-CN" altLang="en-US" sz="1000" b="1" dirty="0">
                <a:solidFill>
                  <a:srgbClr val="FF0000"/>
                </a:solidFill>
                <a:latin typeface="宋体" panose="02000500000000000000" pitchFamily="2" charset="-122"/>
              </a:rPr>
              <a:t>×</a:t>
            </a:r>
            <a:r>
              <a:rPr lang="en-US" altLang="zh-CN" sz="1000" b="1" dirty="0">
                <a:solidFill>
                  <a:srgbClr val="FF0000"/>
                </a:solidFill>
                <a:latin typeface="宋体" panose="02000500000000000000" pitchFamily="2" charset="-122"/>
              </a:rPr>
              <a:t>1.6 </a:t>
            </a:r>
            <a:endParaRPr lang="en-US" altLang="zh-CN" sz="1000" b="1" dirty="0">
              <a:solidFill>
                <a:srgbClr val="FF0000"/>
              </a:solidFill>
              <a:latin typeface="宋体" panose="02000500000000000000" pitchFamily="2" charset="-122"/>
            </a:endParaRPr>
          </a:p>
        </p:txBody>
      </p:sp>
      <p:pic>
        <p:nvPicPr>
          <p:cNvPr id="20491" name="Picture 2"/>
          <p:cNvPicPr>
            <a:picLocks noChangeAspect="1"/>
          </p:cNvPicPr>
          <p:nvPr/>
        </p:nvPicPr>
        <p:blipFill>
          <a:blip r:embed="rId3"/>
          <a:stretch>
            <a:fillRect/>
          </a:stretch>
        </p:blipFill>
        <p:spPr>
          <a:xfrm>
            <a:off x="481013" y="3716338"/>
            <a:ext cx="3608387" cy="2533650"/>
          </a:xfrm>
          <a:prstGeom prst="rect">
            <a:avLst/>
          </a:prstGeom>
          <a:noFill/>
          <a:ln w="9525">
            <a:noFill/>
          </a:ln>
        </p:spPr>
      </p:pic>
      <p:sp>
        <p:nvSpPr>
          <p:cNvPr id="20492" name="内容占位符 15"/>
          <p:cNvSpPr>
            <a:spLocks noGrp="1"/>
          </p:cNvSpPr>
          <p:nvPr>
            <p:ph idx="1"/>
          </p:nvPr>
        </p:nvSpPr>
        <p:spPr>
          <a:xfrm>
            <a:off x="481013" y="1239838"/>
            <a:ext cx="4251325" cy="2117725"/>
          </a:xfrm>
        </p:spPr>
        <p:txBody>
          <a:bodyPr vert="horz" wrap="square" lIns="90000" tIns="46800" rIns="90000" bIns="46800" anchor="t" anchorCtr="0"/>
          <a:p>
            <a:pPr defTabSz="265430" eaLnBrk="1">
              <a:spcBef>
                <a:spcPct val="0"/>
              </a:spcBef>
              <a:buSzPct val="100000"/>
            </a:pPr>
            <a:r>
              <a:rPr lang="zh-CN" altLang="en-US" sz="2000" dirty="0">
                <a:cs typeface="宋体" panose="02000500000000000000" pitchFamily="2" charset="-122"/>
              </a:rPr>
              <a:t>通过核心</a:t>
            </a:r>
            <a:r>
              <a:rPr lang="en-US" altLang="zh-CN" sz="2000" dirty="0">
                <a:cs typeface="宋体" panose="02000500000000000000" pitchFamily="2" charset="-122"/>
              </a:rPr>
              <a:t>IP</a:t>
            </a:r>
            <a:r>
              <a:rPr lang="zh-CN" altLang="en-US" sz="2000" dirty="0">
                <a:cs typeface="宋体" panose="02000500000000000000" pitchFamily="2" charset="-122"/>
              </a:rPr>
              <a:t>自主研发</a:t>
            </a:r>
            <a:r>
              <a:rPr lang="zh-CN" altLang="en-US" sz="2000" dirty="0">
                <a:solidFill>
                  <a:schemeClr val="tx1"/>
                </a:solidFill>
                <a:cs typeface="宋体" panose="02000500000000000000" pitchFamily="2" charset="-122"/>
                <a:sym typeface="宋体" panose="02000500000000000000" pitchFamily="2" charset="-122"/>
              </a:rPr>
              <a:t>提高</a:t>
            </a:r>
            <a:r>
              <a:rPr lang="zh-CN" altLang="en-US" sz="2000" dirty="0">
                <a:solidFill>
                  <a:srgbClr val="FF0000"/>
                </a:solidFill>
                <a:cs typeface="宋体" panose="02000500000000000000" pitchFamily="2" charset="-122"/>
                <a:sym typeface="宋体" panose="02000500000000000000" pitchFamily="2" charset="-122"/>
              </a:rPr>
              <a:t>单核通用处理性能</a:t>
            </a:r>
            <a:endParaRPr lang="zh-CN" altLang="en-US" sz="2000" dirty="0">
              <a:cs typeface="宋体" panose="02000500000000000000" pitchFamily="2" charset="-122"/>
            </a:endParaRPr>
          </a:p>
          <a:p>
            <a:pPr defTabSz="265430" eaLnBrk="1">
              <a:spcBef>
                <a:spcPct val="0"/>
              </a:spcBef>
              <a:buSzPct val="100000"/>
            </a:pPr>
            <a:r>
              <a:rPr lang="zh-CN" altLang="en-US" sz="2000" dirty="0">
                <a:cs typeface="宋体" panose="02000500000000000000" pitchFamily="2" charset="-122"/>
              </a:rPr>
              <a:t>通过</a:t>
            </a:r>
            <a:r>
              <a:rPr lang="zh-CN" altLang="en-US" sz="2000" dirty="0">
                <a:solidFill>
                  <a:schemeClr val="accent2"/>
                </a:solidFill>
                <a:cs typeface="宋体" panose="02000500000000000000" pitchFamily="2" charset="-122"/>
              </a:rPr>
              <a:t>设计优化（</a:t>
            </a:r>
            <a:r>
              <a:rPr lang="en-US" altLang="zh-CN" sz="2000" dirty="0">
                <a:solidFill>
                  <a:schemeClr val="accent2"/>
                </a:solidFill>
                <a:cs typeface="宋体" panose="02000500000000000000" pitchFamily="2" charset="-122"/>
              </a:rPr>
              <a:t>Tock</a:t>
            </a:r>
            <a:r>
              <a:rPr lang="zh-CN" altLang="en-US" sz="2000" dirty="0">
                <a:solidFill>
                  <a:schemeClr val="accent2"/>
                </a:solidFill>
                <a:cs typeface="宋体" panose="02000500000000000000" pitchFamily="2" charset="-122"/>
              </a:rPr>
              <a:t>）</a:t>
            </a:r>
            <a:r>
              <a:rPr lang="zh-CN" altLang="en-US" sz="2000" dirty="0">
                <a:cs typeface="宋体" panose="02000500000000000000" pitchFamily="2" charset="-122"/>
              </a:rPr>
              <a:t>和</a:t>
            </a:r>
            <a:r>
              <a:rPr lang="zh-CN" altLang="en-US" sz="2000" dirty="0">
                <a:solidFill>
                  <a:schemeClr val="accent2"/>
                </a:solidFill>
                <a:cs typeface="宋体" panose="02000500000000000000" pitchFamily="2" charset="-122"/>
              </a:rPr>
              <a:t>工艺迭代（</a:t>
            </a:r>
            <a:r>
              <a:rPr lang="en-US" altLang="zh-CN" sz="2000" dirty="0">
                <a:solidFill>
                  <a:schemeClr val="accent2"/>
                </a:solidFill>
                <a:cs typeface="宋体" panose="02000500000000000000" pitchFamily="2" charset="-122"/>
              </a:rPr>
              <a:t>Tick</a:t>
            </a:r>
            <a:r>
              <a:rPr lang="zh-CN" altLang="en-US" sz="2000" dirty="0">
                <a:solidFill>
                  <a:schemeClr val="accent2"/>
                </a:solidFill>
                <a:cs typeface="宋体" panose="02000500000000000000" pitchFamily="2" charset="-122"/>
              </a:rPr>
              <a:t>）</a:t>
            </a:r>
            <a:r>
              <a:rPr lang="zh-CN" altLang="en-US" sz="2000" dirty="0">
                <a:cs typeface="宋体" panose="02000500000000000000" pitchFamily="2" charset="-122"/>
              </a:rPr>
              <a:t>提高性能</a:t>
            </a:r>
            <a:endParaRPr lang="zh-CN" altLang="en-US" sz="2000" dirty="0">
              <a:cs typeface="宋体" panose="02000500000000000000" pitchFamily="2" charset="-122"/>
            </a:endParaRPr>
          </a:p>
          <a:p>
            <a:pPr defTabSz="265430" eaLnBrk="1">
              <a:spcBef>
                <a:spcPct val="0"/>
              </a:spcBef>
              <a:buSzPct val="100000"/>
            </a:pPr>
            <a:endParaRPr lang="zh-CN" altLang="en-US" sz="2000" dirty="0">
              <a:solidFill>
                <a:srgbClr val="FF0000"/>
              </a:solidFill>
              <a:cs typeface="宋体"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1" nodeType="clickEffect">
                                  <p:stCondLst>
                                    <p:cond delay="0"/>
                                  </p:stCondLst>
                                  <p:childTnLst>
                                    <p:set>
                                      <p:cBhvr>
                                        <p:cTn id="12" dur="1" fill="hold">
                                          <p:stCondLst>
                                            <p:cond delay="0"/>
                                          </p:stCondLst>
                                        </p:cTn>
                                        <p:tgtEl>
                                          <p:spTgt spid="5">
                                            <p:txEl>
                                              <p:charRg st="0" end="20"/>
                                            </p:txEl>
                                          </p:spTgt>
                                        </p:tgtEl>
                                        <p:attrNameLst>
                                          <p:attrName>style.visibility</p:attrName>
                                        </p:attrNameLst>
                                      </p:cBhvr>
                                      <p:to>
                                        <p:strVal val="visible"/>
                                      </p:to>
                                    </p:set>
                                    <p:anim calcmode="lin" valueType="num">
                                      <p:cBhvr additive="base">
                                        <p:cTn id="13" dur="500" fill="hold"/>
                                        <p:tgtEl>
                                          <p:spTgt spid="5">
                                            <p:txEl>
                                              <p:charRg st="0" end="2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charRg st="0" end="20"/>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1"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1" nodeType="clickEffect">
                                  <p:stCondLst>
                                    <p:cond delay="0"/>
                                  </p:stCondLst>
                                  <p:childTnLst>
                                    <p:set>
                                      <p:cBhvr>
                                        <p:cTn id="24" dur="1" fill="hold">
                                          <p:stCondLst>
                                            <p:cond delay="0"/>
                                          </p:stCondLst>
                                        </p:cTn>
                                        <p:tgtEl>
                                          <p:spTgt spid="6">
                                            <p:txEl>
                                              <p:charRg st="0" end="27"/>
                                            </p:txEl>
                                          </p:spTgt>
                                        </p:tgtEl>
                                        <p:attrNameLst>
                                          <p:attrName>style.visibility</p:attrName>
                                        </p:attrNameLst>
                                      </p:cBhvr>
                                      <p:to>
                                        <p:strVal val="visible"/>
                                      </p:to>
                                    </p:set>
                                    <p:anim calcmode="lin" valueType="num">
                                      <p:cBhvr additive="base">
                                        <p:cTn id="25" dur="500" fill="hold"/>
                                        <p:tgtEl>
                                          <p:spTgt spid="6">
                                            <p:txEl>
                                              <p:charRg st="0" end="2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charRg st="0" end="27"/>
                                            </p:txEl>
                                          </p:spTgt>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1"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grpId="1" nodeType="clickEffect">
                                  <p:stCondLst>
                                    <p:cond delay="0"/>
                                  </p:stCondLst>
                                  <p:childTnLst>
                                    <p:set>
                                      <p:cBhvr>
                                        <p:cTn id="36" dur="1" fill="hold">
                                          <p:stCondLst>
                                            <p:cond delay="0"/>
                                          </p:stCondLst>
                                        </p:cTn>
                                        <p:tgtEl>
                                          <p:spTgt spid="7">
                                            <p:txEl>
                                              <p:charRg st="0" end="27"/>
                                            </p:txEl>
                                          </p:spTgt>
                                        </p:tgtEl>
                                        <p:attrNameLst>
                                          <p:attrName>style.visibility</p:attrName>
                                        </p:attrNameLst>
                                      </p:cBhvr>
                                      <p:to>
                                        <p:strVal val="visible"/>
                                      </p:to>
                                    </p:set>
                                    <p:anim calcmode="lin" valueType="num">
                                      <p:cBhvr additive="base">
                                        <p:cTn id="37" dur="500" fill="hold"/>
                                        <p:tgtEl>
                                          <p:spTgt spid="7">
                                            <p:txEl>
                                              <p:charRg st="0" end="2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charRg st="0" end="27"/>
                                            </p:txEl>
                                          </p:spTgt>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grpId="1"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1" fill="hold" grpId="1" nodeType="clickEffect">
                                  <p:stCondLst>
                                    <p:cond delay="0"/>
                                  </p:stCondLst>
                                  <p:childTnLst>
                                    <p:set>
                                      <p:cBhvr>
                                        <p:cTn id="48" dur="1" fill="hold">
                                          <p:stCondLst>
                                            <p:cond delay="0"/>
                                          </p:stCondLst>
                                        </p:cTn>
                                        <p:tgtEl>
                                          <p:spTgt spid="8">
                                            <p:txEl>
                                              <p:charRg st="0" end="27"/>
                                            </p:txEl>
                                          </p:spTgt>
                                        </p:tgtEl>
                                        <p:attrNameLst>
                                          <p:attrName>style.visibility</p:attrName>
                                        </p:attrNameLst>
                                      </p:cBhvr>
                                      <p:to>
                                        <p:strVal val="visible"/>
                                      </p:to>
                                    </p:set>
                                    <p:anim calcmode="lin" valueType="num">
                                      <p:cBhvr additive="base">
                                        <p:cTn id="49" dur="500" fill="hold"/>
                                        <p:tgtEl>
                                          <p:spTgt spid="8">
                                            <p:txEl>
                                              <p:charRg st="0" end="2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charRg st="0" end="27"/>
                                            </p:txEl>
                                          </p:spTgt>
                                        </p:tgtEl>
                                        <p:attrNameLst>
                                          <p:attrName>ppt_y</p:attrName>
                                        </p:attrNameLst>
                                      </p:cBhvr>
                                      <p:tavLst>
                                        <p:tav tm="0">
                                          <p:val>
                                            <p:strVal val="0-#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1" fill="hold" grpId="1"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1" fill="hold" grpId="1" nodeType="clickEffect">
                                  <p:stCondLst>
                                    <p:cond delay="0"/>
                                  </p:stCondLst>
                                  <p:childTnLst>
                                    <p:set>
                                      <p:cBhvr>
                                        <p:cTn id="60" dur="1" fill="hold">
                                          <p:stCondLst>
                                            <p:cond delay="0"/>
                                          </p:stCondLst>
                                        </p:cTn>
                                        <p:tgtEl>
                                          <p:spTgt spid="9">
                                            <p:txEl>
                                              <p:charRg st="0" end="27"/>
                                            </p:txEl>
                                          </p:spTgt>
                                        </p:tgtEl>
                                        <p:attrNameLst>
                                          <p:attrName>style.visibility</p:attrName>
                                        </p:attrNameLst>
                                      </p:cBhvr>
                                      <p:to>
                                        <p:strVal val="visible"/>
                                      </p:to>
                                    </p:set>
                                    <p:anim calcmode="lin" valueType="num">
                                      <p:cBhvr additive="base">
                                        <p:cTn id="61" dur="500" fill="hold"/>
                                        <p:tgtEl>
                                          <p:spTgt spid="9">
                                            <p:txEl>
                                              <p:charRg st="0" end="27"/>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charRg st="0" end="27"/>
                                            </p:txEl>
                                          </p:spTgt>
                                        </p:tgtEl>
                                        <p:attrNameLst>
                                          <p:attrName>ppt_y</p:attrName>
                                        </p:attrNameLst>
                                      </p:cBhvr>
                                      <p:tavLst>
                                        <p:tav tm="0">
                                          <p:val>
                                            <p:strVal val="0-#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1" fill="hold" grpId="1" nodeType="clickEffect">
                                  <p:stCondLst>
                                    <p:cond delay="0"/>
                                  </p:stCondLst>
                                  <p:childTnLst>
                                    <p:set>
                                      <p:cBhvr>
                                        <p:cTn id="66" dur="1" fill="hold">
                                          <p:stCondLst>
                                            <p:cond delay="0"/>
                                          </p:stCondLst>
                                        </p:cTn>
                                        <p:tgtEl>
                                          <p:spTgt spid="10"/>
                                        </p:tgtEl>
                                        <p:attrNameLst>
                                          <p:attrName>style.visibility</p:attrName>
                                        </p:attrNameLst>
                                      </p:cBhvr>
                                      <p:to>
                                        <p:strVal val="visible"/>
                                      </p:to>
                                    </p:set>
                                    <p:anim calcmode="lin" valueType="num">
                                      <p:cBhvr additive="base">
                                        <p:cTn id="67" dur="500" fill="hold"/>
                                        <p:tgtEl>
                                          <p:spTgt spid="10"/>
                                        </p:tgtEl>
                                        <p:attrNameLst>
                                          <p:attrName>ppt_x</p:attrName>
                                        </p:attrNameLst>
                                      </p:cBhvr>
                                      <p:tavLst>
                                        <p:tav tm="0">
                                          <p:val>
                                            <p:strVal val="#ppt_x"/>
                                          </p:val>
                                        </p:tav>
                                        <p:tav tm="100000">
                                          <p:val>
                                            <p:strVal val="#ppt_x"/>
                                          </p:val>
                                        </p:tav>
                                      </p:tavLst>
                                    </p:anim>
                                    <p:anim calcmode="lin" valueType="num">
                                      <p:cBhvr additive="base">
                                        <p:cTn id="6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1" fill="hold" grpId="1" nodeType="clickEffect">
                                  <p:stCondLst>
                                    <p:cond delay="0"/>
                                  </p:stCondLst>
                                  <p:childTnLst>
                                    <p:set>
                                      <p:cBhvr>
                                        <p:cTn id="72" dur="1" fill="hold">
                                          <p:stCondLst>
                                            <p:cond delay="0"/>
                                          </p:stCondLst>
                                        </p:cTn>
                                        <p:tgtEl>
                                          <p:spTgt spid="10">
                                            <p:txEl>
                                              <p:charRg st="0" end="27"/>
                                            </p:txEl>
                                          </p:spTgt>
                                        </p:tgtEl>
                                        <p:attrNameLst>
                                          <p:attrName>style.visibility</p:attrName>
                                        </p:attrNameLst>
                                      </p:cBhvr>
                                      <p:to>
                                        <p:strVal val="visible"/>
                                      </p:to>
                                    </p:set>
                                    <p:anim calcmode="lin" valueType="num">
                                      <p:cBhvr additive="base">
                                        <p:cTn id="73" dur="500" fill="hold"/>
                                        <p:tgtEl>
                                          <p:spTgt spid="10">
                                            <p:txEl>
                                              <p:charRg st="0" end="2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
                                            <p:txEl>
                                              <p:charRg st="0" end="27"/>
                                            </p:txEl>
                                          </p:spTgt>
                                        </p:tgtEl>
                                        <p:attrNameLst>
                                          <p:attrName>ppt_y</p:attrName>
                                        </p:attrNameLst>
                                      </p:cBhvr>
                                      <p:tavLst>
                                        <p:tav tm="0">
                                          <p:val>
                                            <p:strVal val="0-#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1" fill="hold" grpId="1" nodeType="clickEffect">
                                  <p:stCondLst>
                                    <p:cond delay="0"/>
                                  </p:stCondLst>
                                  <p:childTnLst>
                                    <p:set>
                                      <p:cBhvr>
                                        <p:cTn id="78" dur="1" fill="hold">
                                          <p:stCondLst>
                                            <p:cond delay="0"/>
                                          </p:stCondLst>
                                        </p:cTn>
                                        <p:tgtEl>
                                          <p:spTgt spid="11"/>
                                        </p:tgtEl>
                                        <p:attrNameLst>
                                          <p:attrName>style.visibility</p:attrName>
                                        </p:attrNameLst>
                                      </p:cBhvr>
                                      <p:to>
                                        <p:strVal val="visible"/>
                                      </p:to>
                                    </p:set>
                                    <p:anim calcmode="lin" valueType="num">
                                      <p:cBhvr additive="base">
                                        <p:cTn id="79" dur="500" fill="hold"/>
                                        <p:tgtEl>
                                          <p:spTgt spid="11"/>
                                        </p:tgtEl>
                                        <p:attrNameLst>
                                          <p:attrName>ppt_x</p:attrName>
                                        </p:attrNameLst>
                                      </p:cBhvr>
                                      <p:tavLst>
                                        <p:tav tm="0">
                                          <p:val>
                                            <p:strVal val="#ppt_x"/>
                                          </p:val>
                                        </p:tav>
                                        <p:tav tm="100000">
                                          <p:val>
                                            <p:strVal val="#ppt_x"/>
                                          </p:val>
                                        </p:tav>
                                      </p:tavLst>
                                    </p:anim>
                                    <p:anim calcmode="lin" valueType="num">
                                      <p:cBhvr additive="base">
                                        <p:cTn id="80"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1" fill="hold" grpId="1" nodeType="clickEffect">
                                  <p:stCondLst>
                                    <p:cond delay="0"/>
                                  </p:stCondLst>
                                  <p:childTnLst>
                                    <p:set>
                                      <p:cBhvr>
                                        <p:cTn id="84" dur="1" fill="hold">
                                          <p:stCondLst>
                                            <p:cond delay="0"/>
                                          </p:stCondLst>
                                        </p:cTn>
                                        <p:tgtEl>
                                          <p:spTgt spid="11">
                                            <p:txEl>
                                              <p:charRg st="0" end="27"/>
                                            </p:txEl>
                                          </p:spTgt>
                                        </p:tgtEl>
                                        <p:attrNameLst>
                                          <p:attrName>style.visibility</p:attrName>
                                        </p:attrNameLst>
                                      </p:cBhvr>
                                      <p:to>
                                        <p:strVal val="visible"/>
                                      </p:to>
                                    </p:set>
                                    <p:anim calcmode="lin" valueType="num">
                                      <p:cBhvr additive="base">
                                        <p:cTn id="85" dur="500" fill="hold"/>
                                        <p:tgtEl>
                                          <p:spTgt spid="11">
                                            <p:txEl>
                                              <p:charRg st="0" end="27"/>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1">
                                            <p:txEl>
                                              <p:charRg st="0" end="27"/>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build="p"/>
      <p:bldP spid="6" grpId="0" animBg="1"/>
      <p:bldP spid="6" grpId="1" animBg="1" build="p"/>
      <p:bldP spid="7" grpId="0" animBg="1"/>
      <p:bldP spid="7" grpId="1" animBg="1" build="p"/>
      <p:bldP spid="8" grpId="0" animBg="1"/>
      <p:bldP spid="8" grpId="1" animBg="1" build="p"/>
      <p:bldP spid="9" grpId="0" animBg="1"/>
      <p:bldP spid="9" grpId="1" animBg="1" build="p"/>
      <p:bldP spid="10" grpId="0" animBg="1"/>
      <p:bldP spid="10" grpId="1" animBg="1" build="p"/>
      <p:bldP spid="11" grpId="0" animBg="1"/>
      <p:bldP spid="11" grpId="1" animBg="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内容占位符 2"/>
          <p:cNvSpPr txBox="1"/>
          <p:nvPr/>
        </p:nvSpPr>
        <p:spPr>
          <a:xfrm>
            <a:off x="481013" y="908050"/>
            <a:ext cx="11069638" cy="2736850"/>
          </a:xfrm>
          <a:prstGeom prst="rect">
            <a:avLst/>
          </a:prstGeom>
        </p:spPr>
        <p:txBody>
          <a:bodyPr/>
          <a:p>
            <a:pPr marL="342900" lvl="1" indent="-360680" eaLnBrk="1" hangingPunct="0">
              <a:lnSpc>
                <a:spcPct val="150000"/>
              </a:lnSpc>
              <a:spcBef>
                <a:spcPts val="500"/>
              </a:spcBef>
              <a:buFont typeface="Times New Roman" pitchFamily="18" charset="0"/>
              <a:buChar char="•"/>
            </a:pPr>
            <a:r>
              <a:rPr lang="en-US" altLang="en-US" sz="1800" b="1" dirty="0">
                <a:solidFill>
                  <a:schemeClr val="accent2"/>
                </a:solidFill>
                <a:latin typeface="宋体" panose="02000500000000000000" pitchFamily="2" charset="-122"/>
              </a:rPr>
              <a:t>相同工艺下</a:t>
            </a:r>
            <a:r>
              <a:rPr lang="en-US" altLang="en-US" sz="1800" b="1" dirty="0">
                <a:solidFill>
                  <a:schemeClr val="tx1"/>
                </a:solidFill>
                <a:latin typeface="宋体" panose="02000500000000000000" pitchFamily="2" charset="-122"/>
              </a:rPr>
              <a:t>性能比上一代产品大幅提高</a:t>
            </a:r>
            <a:endParaRPr lang="en-US" altLang="zh-CN" sz="1800" b="1" dirty="0">
              <a:solidFill>
                <a:schemeClr val="tx1"/>
              </a:solidFill>
              <a:latin typeface="宋体" panose="02000500000000000000" pitchFamily="2" charset="-122"/>
              <a:sym typeface="+mn-ea"/>
            </a:endParaRPr>
          </a:p>
          <a:p>
            <a:pPr marL="742950" lvl="2" indent="-360045" eaLnBrk="1" hangingPunct="0">
              <a:lnSpc>
                <a:spcPct val="150000"/>
              </a:lnSpc>
              <a:spcBef>
                <a:spcPts val="500"/>
              </a:spcBef>
              <a:buFont typeface="Times New Roman" pitchFamily="18" charset="0"/>
              <a:buChar char="•"/>
            </a:pPr>
            <a:r>
              <a:rPr lang="en-US" altLang="en-US" sz="1400" b="1" dirty="0">
                <a:solidFill>
                  <a:srgbClr val="000000"/>
                </a:solidFill>
                <a:latin typeface="宋体" panose="02000500000000000000" pitchFamily="2" charset="-122"/>
                <a:ea typeface="国标宋体" panose="02000500000000000000" charset="-122"/>
              </a:rPr>
              <a:t>单线程通用处理性能提升</a:t>
            </a:r>
            <a:r>
              <a:rPr lang="en-US" altLang="zh-CN" sz="1400" b="1" dirty="0">
                <a:solidFill>
                  <a:srgbClr val="FF0000"/>
                </a:solidFill>
                <a:latin typeface="宋体" panose="02000500000000000000" pitchFamily="2" charset="-122"/>
                <a:ea typeface="国标宋体" panose="02000500000000000000" charset="-122"/>
              </a:rPr>
              <a:t>60%</a:t>
            </a:r>
            <a:r>
              <a:rPr lang="en-US" altLang="en-US" sz="1400" b="1" dirty="0">
                <a:solidFill>
                  <a:srgbClr val="000000"/>
                </a:solidFill>
                <a:latin typeface="宋体" panose="02000500000000000000" pitchFamily="2" charset="-122"/>
                <a:ea typeface="国标宋体" panose="02000500000000000000" charset="-122"/>
              </a:rPr>
              <a:t>，多进程通用处理性能提升</a:t>
            </a:r>
            <a:r>
              <a:rPr lang="en-US" altLang="zh-CN" sz="1400" b="1" dirty="0">
                <a:solidFill>
                  <a:srgbClr val="FF0000"/>
                </a:solidFill>
                <a:latin typeface="宋体" panose="02000500000000000000" pitchFamily="2" charset="-122"/>
                <a:ea typeface="国标宋体" panose="02000500000000000000" charset="-122"/>
              </a:rPr>
              <a:t>100%</a:t>
            </a:r>
            <a:endParaRPr lang="en-US" altLang="zh-CN" sz="1400" b="1" dirty="0">
              <a:solidFill>
                <a:srgbClr val="FF0000"/>
              </a:solidFill>
              <a:latin typeface="宋体" panose="02000500000000000000" pitchFamily="2" charset="-122"/>
              <a:ea typeface="国标宋体" panose="02000500000000000000" charset="-122"/>
            </a:endParaRPr>
          </a:p>
          <a:p>
            <a:pPr marL="285750" lvl="1" indent="-360045" eaLnBrk="0" hangingPunct="1">
              <a:lnSpc>
                <a:spcPct val="150000"/>
              </a:lnSpc>
              <a:spcBef>
                <a:spcPts val="500"/>
              </a:spcBef>
              <a:buSzTx/>
              <a:buFont typeface="Times New Roman" pitchFamily="18" charset="0"/>
              <a:buChar char="•"/>
            </a:pPr>
            <a:r>
              <a:rPr lang="en-US" altLang="en-US" sz="1800" b="1" dirty="0">
                <a:solidFill>
                  <a:schemeClr val="tx1"/>
                </a:solidFill>
                <a:latin typeface="宋体" panose="02000500000000000000" pitchFamily="2" charset="-122"/>
              </a:rPr>
              <a:t>性能达到酷睿</a:t>
            </a:r>
            <a:r>
              <a:rPr lang="en-US" altLang="zh-CN" sz="1800" b="1" dirty="0">
                <a:solidFill>
                  <a:schemeClr val="tx1"/>
                </a:solidFill>
                <a:latin typeface="宋体" panose="02000500000000000000" pitchFamily="2" charset="-122"/>
              </a:rPr>
              <a:t>10</a:t>
            </a:r>
            <a:r>
              <a:rPr lang="en-US" altLang="en-US" sz="1800" b="1" dirty="0">
                <a:solidFill>
                  <a:schemeClr val="tx1"/>
                </a:solidFill>
                <a:latin typeface="宋体" panose="02000500000000000000" pitchFamily="2" charset="-122"/>
              </a:rPr>
              <a:t>/11</a:t>
            </a:r>
            <a:r>
              <a:rPr lang="en-US" altLang="en-US" sz="1800" b="1" dirty="0">
                <a:solidFill>
                  <a:schemeClr val="tx1"/>
                </a:solidFill>
                <a:latin typeface="宋体" panose="02000500000000000000" pitchFamily="2" charset="-122"/>
              </a:rPr>
              <a:t>代四核</a:t>
            </a:r>
            <a:r>
              <a:rPr lang="en-US" altLang="zh-CN" sz="1800" b="1" dirty="0">
                <a:solidFill>
                  <a:schemeClr val="tx1"/>
                </a:solidFill>
                <a:latin typeface="宋体" panose="02000500000000000000" pitchFamily="2" charset="-122"/>
              </a:rPr>
              <a:t>CPU</a:t>
            </a:r>
            <a:r>
              <a:rPr lang="en-US" altLang="en-US" sz="1800" b="1" dirty="0">
                <a:solidFill>
                  <a:schemeClr val="tx1"/>
                </a:solidFill>
                <a:latin typeface="宋体" panose="02000500000000000000" pitchFamily="2" charset="-122"/>
              </a:rPr>
              <a:t>水平（</a:t>
            </a:r>
            <a:r>
              <a:rPr lang="en-US" altLang="zh-CN" sz="1800" b="1" dirty="0">
                <a:solidFill>
                  <a:schemeClr val="tx1"/>
                </a:solidFill>
                <a:latin typeface="宋体" panose="02000500000000000000" pitchFamily="2" charset="-122"/>
              </a:rPr>
              <a:t>2020</a:t>
            </a:r>
            <a:r>
              <a:rPr lang="en-US" altLang="en-US" sz="1800" b="1" dirty="0">
                <a:solidFill>
                  <a:schemeClr val="tx1"/>
                </a:solidFill>
                <a:latin typeface="宋体" panose="02000500000000000000" pitchFamily="2" charset="-122"/>
              </a:rPr>
              <a:t>年）</a:t>
            </a:r>
            <a:endParaRPr lang="en-US" altLang="zh-CN" sz="1800" b="1" dirty="0">
              <a:solidFill>
                <a:schemeClr val="tx1"/>
              </a:solidFill>
              <a:latin typeface="宋体" panose="02000500000000000000" pitchFamily="2" charset="-122"/>
            </a:endParaRPr>
          </a:p>
          <a:p>
            <a:pPr marL="742950" lvl="2" indent="-360045" eaLnBrk="1" hangingPunct="0">
              <a:lnSpc>
                <a:spcPct val="150000"/>
              </a:lnSpc>
              <a:spcBef>
                <a:spcPts val="500"/>
              </a:spcBef>
              <a:buFont typeface="Times New Roman" pitchFamily="18" charset="0"/>
              <a:buChar char="•"/>
            </a:pPr>
            <a:r>
              <a:rPr lang="en-US" altLang="zh-CN" sz="1400" b="1" dirty="0">
                <a:solidFill>
                  <a:srgbClr val="000000"/>
                </a:solidFill>
                <a:latin typeface="宋体" panose="02000500000000000000" pitchFamily="2" charset="-122"/>
                <a:ea typeface="国标宋体" panose="02000500000000000000" charset="-122"/>
                <a:sym typeface="+mn-ea"/>
              </a:rPr>
              <a:t>2.5GHz</a:t>
            </a:r>
            <a:r>
              <a:rPr lang="en-US" altLang="en-US" sz="1400" b="1" dirty="0">
                <a:solidFill>
                  <a:srgbClr val="000000"/>
                </a:solidFill>
                <a:latin typeface="宋体" panose="02000500000000000000" pitchFamily="2" charset="-122"/>
                <a:ea typeface="国标宋体" panose="02000500000000000000" charset="-122"/>
                <a:sym typeface="+mn-ea"/>
              </a:rPr>
              <a:t>龙芯</a:t>
            </a:r>
            <a:r>
              <a:rPr lang="en-US" altLang="zh-CN" sz="1400" b="1" dirty="0">
                <a:solidFill>
                  <a:srgbClr val="000000"/>
                </a:solidFill>
                <a:latin typeface="宋体" panose="02000500000000000000" pitchFamily="2" charset="-122"/>
                <a:ea typeface="国标宋体" panose="02000500000000000000" charset="-122"/>
                <a:sym typeface="+mn-ea"/>
              </a:rPr>
              <a:t>3A6000</a:t>
            </a:r>
            <a:r>
              <a:rPr lang="en-US" altLang="en-US" sz="1400" b="1" dirty="0">
                <a:solidFill>
                  <a:srgbClr val="000000"/>
                </a:solidFill>
                <a:latin typeface="宋体" panose="02000500000000000000" pitchFamily="2" charset="-122"/>
                <a:ea typeface="国标宋体" panose="02000500000000000000" charset="-122"/>
                <a:sym typeface="+mn-ea"/>
              </a:rPr>
              <a:t>（效率高）</a:t>
            </a:r>
            <a:r>
              <a:rPr lang="en-US" altLang="zh-CN" sz="1400" b="1" dirty="0">
                <a:solidFill>
                  <a:srgbClr val="000000"/>
                </a:solidFill>
                <a:latin typeface="宋体" panose="02000500000000000000" pitchFamily="2" charset="-122"/>
                <a:ea typeface="国标宋体" panose="02000500000000000000" charset="-122"/>
                <a:sym typeface="+mn-ea"/>
              </a:rPr>
              <a:t> vs. 3.6GHz i3-10100 </a:t>
            </a:r>
            <a:r>
              <a:rPr lang="en-US" altLang="en-US" sz="1400" b="1" dirty="0">
                <a:solidFill>
                  <a:srgbClr val="000000"/>
                </a:solidFill>
                <a:latin typeface="宋体" panose="02000500000000000000" pitchFamily="2" charset="-122"/>
                <a:ea typeface="国标宋体" panose="02000500000000000000" charset="-122"/>
                <a:sym typeface="+mn-ea"/>
              </a:rPr>
              <a:t>（频率高）（</a:t>
            </a:r>
            <a:r>
              <a:rPr lang="en-US" altLang="zh-CN" sz="1400" b="1" dirty="0">
                <a:solidFill>
                  <a:srgbClr val="FF0000"/>
                </a:solidFill>
                <a:latin typeface="宋体" panose="02000500000000000000" pitchFamily="2" charset="-122"/>
                <a:ea typeface="国标宋体" panose="02000500000000000000" charset="-122"/>
                <a:sym typeface="+mn-ea"/>
              </a:rPr>
              <a:t>14nm++</a:t>
            </a:r>
            <a:r>
              <a:rPr lang="en-US" altLang="en-US" sz="1400" b="1" dirty="0">
                <a:solidFill>
                  <a:srgbClr val="000000"/>
                </a:solidFill>
                <a:latin typeface="宋体" panose="02000500000000000000" pitchFamily="2" charset="-122"/>
                <a:ea typeface="国标宋体" panose="02000500000000000000" charset="-122"/>
                <a:sym typeface="+mn-ea"/>
              </a:rPr>
              <a:t>）</a:t>
            </a:r>
            <a:endParaRPr lang="en-US" altLang="zh-CN" sz="1400" b="1" dirty="0">
              <a:solidFill>
                <a:srgbClr val="000000"/>
              </a:solidFill>
              <a:latin typeface="宋体" panose="02000500000000000000" pitchFamily="2" charset="-122"/>
              <a:ea typeface="国标宋体" panose="02000500000000000000" charset="-122"/>
            </a:endParaRPr>
          </a:p>
          <a:p>
            <a:pPr marL="285750" lvl="1" indent="-360045" eaLnBrk="0" hangingPunct="1">
              <a:lnSpc>
                <a:spcPct val="150000"/>
              </a:lnSpc>
              <a:spcBef>
                <a:spcPts val="500"/>
              </a:spcBef>
              <a:buFont typeface="Times New Roman" pitchFamily="18" charset="0"/>
              <a:buChar char="•"/>
            </a:pPr>
            <a:r>
              <a:rPr lang="en-US" altLang="en-US" sz="1800" b="1" dirty="0">
                <a:solidFill>
                  <a:schemeClr val="tx1"/>
                </a:solidFill>
                <a:latin typeface="宋体" panose="02000500000000000000" pitchFamily="2" charset="-122"/>
              </a:rPr>
              <a:t>走出一条</a:t>
            </a:r>
            <a:r>
              <a:rPr lang="en-US" altLang="en-US" sz="1800" b="1" dirty="0">
                <a:solidFill>
                  <a:srgbClr val="FF0000"/>
                </a:solidFill>
                <a:latin typeface="宋体" panose="02000500000000000000" pitchFamily="2" charset="-122"/>
              </a:rPr>
              <a:t>基于成熟工艺、通过设计优化提升性能的道路</a:t>
            </a:r>
            <a:endParaRPr lang="en-US" altLang="zh-CN" sz="1800" b="1" dirty="0">
              <a:solidFill>
                <a:srgbClr val="FF0000"/>
              </a:solidFill>
              <a:latin typeface="宋体" panose="02000500000000000000" pitchFamily="2" charset="-122"/>
            </a:endParaRPr>
          </a:p>
          <a:p>
            <a:pPr marL="742950" lvl="2" indent="-360045" eaLnBrk="1" hangingPunct="0">
              <a:lnSpc>
                <a:spcPct val="150000"/>
              </a:lnSpc>
              <a:spcBef>
                <a:spcPts val="500"/>
              </a:spcBef>
              <a:buFont typeface="Times New Roman" pitchFamily="18" charset="0"/>
              <a:buChar char="•"/>
            </a:pPr>
            <a:r>
              <a:rPr lang="en-US" altLang="en-US" sz="1400" b="1" dirty="0">
                <a:solidFill>
                  <a:srgbClr val="000000"/>
                </a:solidFill>
                <a:latin typeface="宋体" panose="02000500000000000000" pitchFamily="2" charset="-122"/>
                <a:ea typeface="国标宋体" panose="02000500000000000000" charset="-122"/>
                <a:sym typeface="+mn-ea"/>
              </a:rPr>
              <a:t>相同工艺条件下，性能与</a:t>
            </a:r>
            <a:r>
              <a:rPr lang="en-US" altLang="zh-CN" sz="1400" b="1" dirty="0">
                <a:solidFill>
                  <a:srgbClr val="000000"/>
                </a:solidFill>
                <a:latin typeface="宋体" panose="02000500000000000000" pitchFamily="2" charset="-122"/>
                <a:ea typeface="国标宋体" panose="02000500000000000000" charset="-122"/>
                <a:sym typeface="+mn-ea"/>
              </a:rPr>
              <a:t>Intel</a:t>
            </a:r>
            <a:r>
              <a:rPr lang="en-US" altLang="en-US" sz="1400" b="1" dirty="0">
                <a:solidFill>
                  <a:srgbClr val="000000"/>
                </a:solidFill>
                <a:latin typeface="宋体" panose="02000500000000000000" pitchFamily="2" charset="-122"/>
                <a:ea typeface="国标宋体" panose="02000500000000000000" charset="-122"/>
                <a:sym typeface="+mn-ea"/>
              </a:rPr>
              <a:t>、</a:t>
            </a:r>
            <a:r>
              <a:rPr lang="en-US" altLang="zh-CN" sz="1400" b="1" dirty="0">
                <a:solidFill>
                  <a:srgbClr val="000000"/>
                </a:solidFill>
                <a:latin typeface="宋体" panose="02000500000000000000" pitchFamily="2" charset="-122"/>
                <a:ea typeface="国标宋体" panose="02000500000000000000" charset="-122"/>
                <a:sym typeface="+mn-ea"/>
              </a:rPr>
              <a:t>AMD</a:t>
            </a:r>
            <a:r>
              <a:rPr lang="en-US" altLang="en-US" sz="1400" b="1" dirty="0">
                <a:solidFill>
                  <a:srgbClr val="000000"/>
                </a:solidFill>
                <a:latin typeface="宋体" panose="02000500000000000000" pitchFamily="2" charset="-122"/>
                <a:ea typeface="国标宋体" panose="02000500000000000000" charset="-122"/>
                <a:sym typeface="+mn-ea"/>
              </a:rPr>
              <a:t>相当，下一步争取使用成熟工艺达到</a:t>
            </a:r>
            <a:r>
              <a:rPr lang="en-US" altLang="zh-CN" sz="1400" b="1" dirty="0">
                <a:solidFill>
                  <a:srgbClr val="000000"/>
                </a:solidFill>
                <a:latin typeface="宋体" panose="02000500000000000000" pitchFamily="2" charset="-122"/>
                <a:ea typeface="国标宋体" panose="02000500000000000000" charset="-122"/>
                <a:sym typeface="+mn-ea"/>
              </a:rPr>
              <a:t>Intel</a:t>
            </a:r>
            <a:r>
              <a:rPr lang="en-US" altLang="en-US" sz="1400" b="1" dirty="0">
                <a:solidFill>
                  <a:srgbClr val="000000"/>
                </a:solidFill>
                <a:latin typeface="宋体" panose="02000500000000000000" pitchFamily="2" charset="-122"/>
                <a:ea typeface="国标宋体" panose="02000500000000000000" charset="-122"/>
                <a:sym typeface="+mn-ea"/>
              </a:rPr>
              <a:t>、</a:t>
            </a:r>
            <a:r>
              <a:rPr lang="en-US" altLang="zh-CN" sz="1400" b="1" dirty="0">
                <a:solidFill>
                  <a:srgbClr val="000000"/>
                </a:solidFill>
                <a:latin typeface="宋体" panose="02000500000000000000" pitchFamily="2" charset="-122"/>
                <a:ea typeface="国标宋体" panose="02000500000000000000" charset="-122"/>
                <a:sym typeface="+mn-ea"/>
              </a:rPr>
              <a:t>AMD</a:t>
            </a:r>
            <a:r>
              <a:rPr lang="en-US" altLang="en-US" sz="1400" b="1" dirty="0">
                <a:solidFill>
                  <a:srgbClr val="000000"/>
                </a:solidFill>
                <a:latin typeface="宋体" panose="02000500000000000000" pitchFamily="2" charset="-122"/>
                <a:ea typeface="国标宋体" panose="02000500000000000000" charset="-122"/>
                <a:sym typeface="+mn-ea"/>
              </a:rPr>
              <a:t>先进工艺</a:t>
            </a:r>
            <a:r>
              <a:rPr lang="en-US" altLang="zh-CN" sz="1400" b="1" dirty="0">
                <a:solidFill>
                  <a:srgbClr val="000000"/>
                </a:solidFill>
                <a:latin typeface="宋体" panose="02000500000000000000" pitchFamily="2" charset="-122"/>
                <a:ea typeface="国标宋体" panose="02000500000000000000" charset="-122"/>
                <a:sym typeface="+mn-ea"/>
              </a:rPr>
              <a:t>CPU</a:t>
            </a:r>
            <a:r>
              <a:rPr lang="en-US" altLang="en-US" sz="1400" b="1" dirty="0">
                <a:solidFill>
                  <a:srgbClr val="000000"/>
                </a:solidFill>
                <a:latin typeface="宋体" panose="02000500000000000000" pitchFamily="2" charset="-122"/>
                <a:ea typeface="国标宋体" panose="02000500000000000000" charset="-122"/>
                <a:sym typeface="+mn-ea"/>
              </a:rPr>
              <a:t>的性能</a:t>
            </a:r>
            <a:endParaRPr lang="en-US" altLang="en-US" sz="1400" b="1" dirty="0">
              <a:solidFill>
                <a:srgbClr val="000000"/>
              </a:solidFill>
              <a:latin typeface="宋体" panose="02000500000000000000" pitchFamily="2" charset="-122"/>
              <a:ea typeface="国标宋体" panose="02000500000000000000" charset="-122"/>
              <a:sym typeface="+mn-ea"/>
            </a:endParaRPr>
          </a:p>
        </p:txBody>
      </p:sp>
      <p:sp>
        <p:nvSpPr>
          <p:cNvPr id="8" name="标题 1"/>
          <p:cNvSpPr txBox="1">
            <a:spLocks noChangeArrowheads="1"/>
          </p:cNvSpPr>
          <p:nvPr/>
        </p:nvSpPr>
        <p:spPr>
          <a:xfrm>
            <a:off x="0" y="71438"/>
            <a:ext cx="12118975" cy="836613"/>
          </a:xfrm>
          <a:prstGeom prst="rect">
            <a:avLst/>
          </a:prstGeom>
        </p:spPr>
        <p:txBody>
          <a:bodyPr/>
          <a:lstStyle/>
          <a:p>
            <a:pPr marR="0" algn="ctr" defTabSz="265430" eaLnBrk="0" hangingPunct="0">
              <a:buClrTx/>
              <a:buSzPct val="100000"/>
              <a:buFont typeface="Times New Roman" pitchFamily="18" charset="0"/>
              <a:buNone/>
              <a:defRPr/>
            </a:pPr>
            <a:r>
              <a:rPr kumimoji="0" lang="zh-CN" altLang="en-US" sz="4000" kern="1200" cap="none" spc="0" normalizeH="0" baseline="0" noProof="1">
                <a:solidFill>
                  <a:srgbClr val="FF0000"/>
                </a:solidFill>
                <a:latin typeface="+mj-ea"/>
                <a:ea typeface="+mj-ea"/>
                <a:cs typeface="+mn-cs"/>
              </a:rPr>
              <a:t>龙芯</a:t>
            </a:r>
            <a:r>
              <a:rPr kumimoji="0" lang="en-US" altLang="zh-CN" sz="4000" kern="1200" cap="none" spc="0" normalizeH="0" baseline="0" noProof="1">
                <a:solidFill>
                  <a:srgbClr val="FF0000"/>
                </a:solidFill>
                <a:latin typeface="+mj-lt"/>
                <a:ea typeface="+mj-ea"/>
                <a:cs typeface="+mn-cs"/>
              </a:rPr>
              <a:t>3A6000</a:t>
            </a:r>
            <a:r>
              <a:rPr kumimoji="0" lang="zh-CN" altLang="en-US" sz="4000" kern="1200" cap="none" spc="0" normalizeH="0" baseline="0" noProof="1">
                <a:solidFill>
                  <a:srgbClr val="FF0000"/>
                </a:solidFill>
                <a:latin typeface="+mj-lt"/>
                <a:ea typeface="+mj-ea"/>
                <a:cs typeface="+mn-cs"/>
              </a:rPr>
              <a:t>桌面</a:t>
            </a:r>
            <a:r>
              <a:rPr kumimoji="0" lang="en-US" altLang="zh-CN" sz="4000" kern="1200" cap="none" spc="0" normalizeH="0" baseline="0" noProof="1">
                <a:solidFill>
                  <a:srgbClr val="FF0000"/>
                </a:solidFill>
                <a:latin typeface="+mj-lt"/>
                <a:ea typeface="+mj-ea"/>
                <a:cs typeface="+mn-cs"/>
              </a:rPr>
              <a:t>CPU</a:t>
            </a:r>
            <a:r>
              <a:rPr kumimoji="0" lang="zh-CN" altLang="en-US" sz="4000" kern="1200" cap="none" spc="0" normalizeH="0" baseline="0" noProof="1">
                <a:solidFill>
                  <a:srgbClr val="FF0000"/>
                </a:solidFill>
                <a:latin typeface="+mj-lt"/>
                <a:ea typeface="+mj-ea"/>
                <a:cs typeface="+mn-cs"/>
              </a:rPr>
              <a:t>（产品阶段）</a:t>
            </a:r>
            <a:endParaRPr kumimoji="0" lang="zh-CN" altLang="en-US" sz="4000" kern="0" cap="none" spc="0" normalizeH="0" baseline="0" noProof="0" dirty="0">
              <a:solidFill>
                <a:srgbClr val="FF0000"/>
              </a:solidFill>
              <a:latin typeface="+mj-ea"/>
              <a:ea typeface="+mj-ea"/>
              <a:cs typeface="+mj-cs"/>
            </a:endParaRPr>
          </a:p>
        </p:txBody>
      </p:sp>
      <p:pic>
        <p:nvPicPr>
          <p:cNvPr id="32770" name="Picture 2"/>
          <p:cNvPicPr>
            <a:picLocks noChangeAspect="1"/>
          </p:cNvPicPr>
          <p:nvPr/>
        </p:nvPicPr>
        <p:blipFill>
          <a:blip r:embed="rId1"/>
          <a:stretch>
            <a:fillRect/>
          </a:stretch>
        </p:blipFill>
        <p:spPr>
          <a:xfrm>
            <a:off x="801688" y="3775075"/>
            <a:ext cx="4813300" cy="2832100"/>
          </a:xfrm>
          <a:prstGeom prst="rect">
            <a:avLst/>
          </a:prstGeom>
          <a:noFill/>
          <a:ln w="9525">
            <a:noFill/>
          </a:ln>
        </p:spPr>
      </p:pic>
      <p:pic>
        <p:nvPicPr>
          <p:cNvPr id="32771" name="Picture 3"/>
          <p:cNvPicPr>
            <a:picLocks noChangeAspect="1"/>
          </p:cNvPicPr>
          <p:nvPr/>
        </p:nvPicPr>
        <p:blipFill>
          <a:blip r:embed="rId2"/>
          <a:stretch>
            <a:fillRect/>
          </a:stretch>
        </p:blipFill>
        <p:spPr>
          <a:xfrm>
            <a:off x="6575425" y="3789363"/>
            <a:ext cx="4843463" cy="2838450"/>
          </a:xfrm>
          <a:prstGeom prst="rect">
            <a:avLst/>
          </a:prstGeom>
          <a:noFill/>
          <a:ln w="9525">
            <a:noFill/>
          </a:ln>
        </p:spPr>
      </p:pic>
      <p:pic>
        <p:nvPicPr>
          <p:cNvPr id="21510" name="图片 5"/>
          <p:cNvPicPr>
            <a:picLocks noChangeAspect="1"/>
          </p:cNvPicPr>
          <p:nvPr/>
        </p:nvPicPr>
        <p:blipFill>
          <a:blip r:embed="rId3"/>
          <a:stretch>
            <a:fillRect/>
          </a:stretch>
        </p:blipFill>
        <p:spPr>
          <a:xfrm>
            <a:off x="8661400" y="1268413"/>
            <a:ext cx="2701925" cy="1344612"/>
          </a:xfrm>
          <a:prstGeom prst="rect">
            <a:avLst/>
          </a:prstGeom>
          <a:noFill/>
          <a:ln w="9525">
            <a:noFill/>
          </a:ln>
        </p:spPr>
      </p:pic>
      <p:sp>
        <p:nvSpPr>
          <p:cNvPr id="7" name="内容占位符 15"/>
          <p:cNvSpPr txBox="1"/>
          <p:nvPr/>
        </p:nvSpPr>
        <p:spPr bwMode="auto">
          <a:xfrm>
            <a:off x="1090930" y="2687955"/>
            <a:ext cx="9866313" cy="1079500"/>
          </a:xfrm>
          <a:prstGeom prst="rect">
            <a:avLst/>
          </a:prstGeom>
          <a:solidFill>
            <a:srgbClr val="FFFF00"/>
          </a:solidFill>
          <a:ln w="9525">
            <a:noFill/>
            <a:miter lim="800000"/>
          </a:ln>
        </p:spPr>
        <p:txBody>
          <a:bodyPr lIns="90000" tIns="46800" rIns="90000" bIns="46800"/>
          <a:lstStyle/>
          <a:p>
            <a:pPr marL="342900" marR="0" indent="-342900" algn="ctr" defTabSz="449580" hangingPunct="0">
              <a:lnSpc>
                <a:spcPct val="150000"/>
              </a:lnSpc>
              <a:spcBef>
                <a:spcPts val="600"/>
              </a:spcBef>
              <a:buClrTx/>
              <a:buSzPct val="100000"/>
              <a:buFont typeface="Arial" panose="02080604020202020204" pitchFamily="34" charset="0"/>
              <a:buNone/>
              <a:defRPr/>
            </a:pPr>
            <a:r>
              <a:rPr kumimoji="0" lang="zh-CN" altLang="en-US" sz="4000" b="1" kern="0" cap="none" spc="0" normalizeH="0" baseline="0" noProof="1">
                <a:solidFill>
                  <a:srgbClr val="FF0000"/>
                </a:solidFill>
                <a:latin typeface="宋体" panose="02000500000000000000" pitchFamily="2" charset="-122"/>
                <a:ea typeface="宋体" panose="02000500000000000000" pitchFamily="2" charset="-122"/>
                <a:cs typeface="+mn-cs"/>
              </a:rPr>
              <a:t>通过设计优化达到</a:t>
            </a:r>
            <a:r>
              <a:rPr kumimoji="0" lang="en-US" altLang="zh-CN" sz="4000" b="1" kern="0" cap="none" spc="0" normalizeH="0" baseline="0" noProof="1">
                <a:solidFill>
                  <a:srgbClr val="FF0000"/>
                </a:solidFill>
                <a:latin typeface="宋体" panose="02000500000000000000" pitchFamily="2" charset="-122"/>
                <a:ea typeface="宋体" panose="02000500000000000000" pitchFamily="2" charset="-122"/>
                <a:cs typeface="+mn-cs"/>
              </a:rPr>
              <a:t>X86 14nm++</a:t>
            </a:r>
            <a:r>
              <a:rPr kumimoji="0" lang="zh-CN" altLang="en-US" sz="4000" b="1" kern="0" cap="none" spc="0" normalizeH="0" baseline="0" noProof="1">
                <a:solidFill>
                  <a:srgbClr val="FF0000"/>
                </a:solidFill>
                <a:latin typeface="宋体" panose="02000500000000000000" pitchFamily="2" charset="-122"/>
                <a:ea typeface="宋体" panose="02000500000000000000" pitchFamily="2" charset="-122"/>
                <a:cs typeface="+mn-cs"/>
              </a:rPr>
              <a:t>性能</a:t>
            </a:r>
            <a:r>
              <a:rPr kumimoji="0" lang="zh-CN" altLang="en-US" sz="4000" b="1" kern="0" cap="none" spc="0" normalizeH="0" baseline="0" noProof="0" dirty="0">
                <a:solidFill>
                  <a:srgbClr val="FF0000"/>
                </a:solidFill>
                <a:latin typeface="宋体" panose="02000500000000000000" pitchFamily="2" charset="-122"/>
                <a:ea typeface="宋体" panose="02000500000000000000" pitchFamily="2" charset="-122"/>
                <a:cs typeface="+mn-cs"/>
              </a:rPr>
              <a:t>！</a:t>
            </a:r>
            <a:endParaRPr kumimoji="0" lang="zh-CN" altLang="en-US" sz="4000" b="1" kern="0" cap="none" spc="0" normalizeH="0" baseline="0" noProof="0" dirty="0">
              <a:solidFill>
                <a:srgbClr val="FF0000"/>
              </a:solidFill>
              <a:latin typeface="宋体" panose="02000500000000000000" pitchFamily="2" charset="-122"/>
              <a:ea typeface="宋体" panose="02000500000000000000"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770"/>
                                        </p:tgtEl>
                                        <p:attrNameLst>
                                          <p:attrName>style.visibility</p:attrName>
                                        </p:attrNameLst>
                                      </p:cBhvr>
                                      <p:to>
                                        <p:strVal val="visible"/>
                                      </p:to>
                                    </p:set>
                                    <p:anim calcmode="lin" valueType="num">
                                      <p:cBhvr additive="base">
                                        <p:cTn id="13" dur="500" fill="hold"/>
                                        <p:tgtEl>
                                          <p:spTgt spid="32770"/>
                                        </p:tgtEl>
                                        <p:attrNameLst>
                                          <p:attrName>ppt_x</p:attrName>
                                        </p:attrNameLst>
                                      </p:cBhvr>
                                      <p:tavLst>
                                        <p:tav tm="0">
                                          <p:val>
                                            <p:strVal val="#ppt_x"/>
                                          </p:val>
                                        </p:tav>
                                        <p:tav tm="100000">
                                          <p:val>
                                            <p:strVal val="#ppt_x"/>
                                          </p:val>
                                        </p:tav>
                                      </p:tavLst>
                                    </p:anim>
                                    <p:anim calcmode="lin" valueType="num">
                                      <p:cBhvr additive="base">
                                        <p:cTn id="14" dur="500" fill="hold"/>
                                        <p:tgtEl>
                                          <p:spTgt spid="3277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771"/>
                                        </p:tgtEl>
                                        <p:attrNameLst>
                                          <p:attrName>style.visibility</p:attrName>
                                        </p:attrNameLst>
                                      </p:cBhvr>
                                      <p:to>
                                        <p:strVal val="visible"/>
                                      </p:to>
                                    </p:set>
                                    <p:anim calcmode="lin" valueType="num">
                                      <p:cBhvr additive="base">
                                        <p:cTn id="19" dur="500" fill="hold"/>
                                        <p:tgtEl>
                                          <p:spTgt spid="32771"/>
                                        </p:tgtEl>
                                        <p:attrNameLst>
                                          <p:attrName>ppt_x</p:attrName>
                                        </p:attrNameLst>
                                      </p:cBhvr>
                                      <p:tavLst>
                                        <p:tav tm="0">
                                          <p:val>
                                            <p:strVal val="#ppt_x"/>
                                          </p:val>
                                        </p:tav>
                                        <p:tav tm="100000">
                                          <p:val>
                                            <p:strVal val="#ppt_x"/>
                                          </p:val>
                                        </p:tav>
                                      </p:tavLst>
                                    </p:anim>
                                    <p:anim calcmode="lin" valueType="num">
                                      <p:cBhvr additive="base">
                                        <p:cTn id="20" dur="500" fill="hold"/>
                                        <p:tgtEl>
                                          <p:spTgt spid="3277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7">
                                            <p:txEl>
                                              <p:charRg st="0" end="22"/>
                                            </p:txEl>
                                          </p:spTgt>
                                        </p:tgtEl>
                                        <p:attrNameLst>
                                          <p:attrName>style.visibility</p:attrName>
                                        </p:attrNameLst>
                                      </p:cBhvr>
                                      <p:to>
                                        <p:strVal val="visible"/>
                                      </p:to>
                                    </p:set>
                                    <p:anim calcmode="lin" valueType="num">
                                      <p:cBhvr additive="base">
                                        <p:cTn id="31" dur="500" fill="hold"/>
                                        <p:tgtEl>
                                          <p:spTgt spid="7">
                                            <p:txEl>
                                              <p:charRg st="0" end="2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charRg st="0" end="22"/>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 grpId="0" animBg="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0000" tIns="46800" rIns="90000" bIns="46800" anchor="ctr" anchorCtr="0"/>
          <a:p>
            <a:r>
              <a:rPr lang="zh-CN" altLang="en-US" dirty="0"/>
              <a:t>龙芯</a:t>
            </a:r>
            <a:r>
              <a:rPr lang="en-US" altLang="zh-CN" dirty="0"/>
              <a:t>3C6000</a:t>
            </a:r>
            <a:r>
              <a:rPr lang="zh-CN" altLang="en-US" dirty="0"/>
              <a:t>服务器</a:t>
            </a:r>
            <a:r>
              <a:rPr lang="en-US" altLang="zh-CN" dirty="0"/>
              <a:t>CPU</a:t>
            </a:r>
            <a:r>
              <a:rPr lang="zh-CN" altLang="en-US" dirty="0"/>
              <a:t>（样片阶段）</a:t>
            </a:r>
            <a:endParaRPr lang="zh-CN" altLang="en-US" dirty="0"/>
          </a:p>
        </p:txBody>
      </p:sp>
      <p:sp>
        <p:nvSpPr>
          <p:cNvPr id="6" name="Rectangle 3"/>
          <p:cNvSpPr txBox="1"/>
          <p:nvPr/>
        </p:nvSpPr>
        <p:spPr>
          <a:xfrm>
            <a:off x="360363" y="981075"/>
            <a:ext cx="10306050" cy="3419475"/>
          </a:xfrm>
          <a:prstGeom prst="rect">
            <a:avLst/>
          </a:prstGeom>
          <a:noFill/>
          <a:ln w="9525">
            <a:noFill/>
          </a:ln>
        </p:spPr>
        <p:txBody>
          <a:bodyPr lIns="82081" tIns="41040" rIns="82081" bIns="41040"/>
          <a:p>
            <a:pPr marL="342900" indent="-342900" hangingPunct="0">
              <a:lnSpc>
                <a:spcPct val="150000"/>
              </a:lnSpc>
              <a:spcBef>
                <a:spcPts val="600"/>
              </a:spcBef>
              <a:buFont typeface="Arial" panose="02080604020202020204" pitchFamily="34" charset="0"/>
              <a:buChar char="•"/>
            </a:pPr>
            <a:r>
              <a:rPr lang="zh-CN" altLang="en-US" sz="1800" b="1" dirty="0">
                <a:solidFill>
                  <a:srgbClr val="000000"/>
                </a:solidFill>
                <a:latin typeface="宋体" panose="02000500000000000000" pitchFamily="2" charset="-122"/>
              </a:rPr>
              <a:t>单硅片</a:t>
            </a:r>
            <a:r>
              <a:rPr lang="en-US" altLang="zh-CN" sz="1800" b="1" dirty="0">
                <a:solidFill>
                  <a:srgbClr val="000000"/>
                </a:solidFill>
                <a:latin typeface="宋体" panose="02000500000000000000" pitchFamily="2" charset="-122"/>
              </a:rPr>
              <a:t>16</a:t>
            </a:r>
            <a:r>
              <a:rPr lang="zh-CN" altLang="en-US" sz="1800" b="1" dirty="0">
                <a:solidFill>
                  <a:srgbClr val="000000"/>
                </a:solidFill>
                <a:latin typeface="宋体" panose="02000500000000000000" pitchFamily="2" charset="-122"/>
              </a:rPr>
              <a:t>核</a:t>
            </a:r>
            <a:r>
              <a:rPr lang="en-US" altLang="zh-CN" sz="1800" b="1" dirty="0">
                <a:solidFill>
                  <a:srgbClr val="000000"/>
                </a:solidFill>
                <a:latin typeface="宋体" panose="02000500000000000000" pitchFamily="2" charset="-122"/>
              </a:rPr>
              <a:t>32</a:t>
            </a:r>
            <a:r>
              <a:rPr lang="zh-CN" altLang="en-US" sz="1800" b="1" dirty="0">
                <a:solidFill>
                  <a:srgbClr val="000000"/>
                </a:solidFill>
                <a:latin typeface="宋体" panose="02000500000000000000" pitchFamily="2" charset="-122"/>
              </a:rPr>
              <a:t>线程（</a:t>
            </a:r>
            <a:r>
              <a:rPr lang="en-US" altLang="zh-CN" sz="1800" b="1" dirty="0">
                <a:solidFill>
                  <a:srgbClr val="000000"/>
                </a:solidFill>
                <a:latin typeface="宋体" panose="02000500000000000000" pitchFamily="2" charset="-122"/>
              </a:rPr>
              <a:t>LA664</a:t>
            </a:r>
            <a:r>
              <a:rPr lang="zh-CN" altLang="en-US" sz="1800" b="1" dirty="0">
                <a:solidFill>
                  <a:srgbClr val="000000"/>
                </a:solidFill>
                <a:latin typeface="宋体" panose="02000500000000000000" pitchFamily="2" charset="-122"/>
              </a:rPr>
              <a:t>），</a:t>
            </a:r>
            <a:r>
              <a:rPr lang="zh-CN" altLang="en-US" sz="1800" b="1" dirty="0">
                <a:solidFill>
                  <a:schemeClr val="accent2"/>
                </a:solidFill>
                <a:latin typeface="宋体" panose="02000500000000000000" pitchFamily="2" charset="-122"/>
              </a:rPr>
              <a:t>实测结果表明（比上一代</a:t>
            </a:r>
            <a:r>
              <a:rPr lang="en-US" altLang="zh-CN" sz="1800" b="1" dirty="0">
                <a:solidFill>
                  <a:schemeClr val="accent2"/>
                </a:solidFill>
                <a:latin typeface="宋体" panose="02000500000000000000" pitchFamily="2" charset="-122"/>
              </a:rPr>
              <a:t>3C5000 </a:t>
            </a:r>
            <a:r>
              <a:rPr lang="zh-CN" altLang="en-US" sz="1800" b="1" dirty="0">
                <a:solidFill>
                  <a:schemeClr val="accent2"/>
                </a:solidFill>
                <a:latin typeface="宋体" panose="02000500000000000000" pitchFamily="2" charset="-122"/>
              </a:rPr>
              <a:t>）：</a:t>
            </a:r>
            <a:endParaRPr lang="en-US" altLang="zh-CN" sz="1800" b="1" dirty="0">
              <a:solidFill>
                <a:schemeClr val="accent2"/>
              </a:solidFill>
              <a:latin typeface="宋体" panose="02000500000000000000" pitchFamily="2" charset="-122"/>
            </a:endParaRPr>
          </a:p>
          <a:p>
            <a:pPr marL="742950" lvl="1" indent="-285750" eaLnBrk="1" hangingPunct="0">
              <a:lnSpc>
                <a:spcPct val="150000"/>
              </a:lnSpc>
              <a:spcBef>
                <a:spcPts val="600"/>
              </a:spcBef>
              <a:buFont typeface="Arial" panose="02080604020202020204" pitchFamily="34" charset="0"/>
              <a:buChar char="•"/>
            </a:pPr>
            <a:r>
              <a:rPr lang="zh-CN" altLang="en-US" sz="1400" b="1" dirty="0">
                <a:solidFill>
                  <a:srgbClr val="000000"/>
                </a:solidFill>
                <a:latin typeface="宋体" panose="02000500000000000000" pitchFamily="2" charset="-122"/>
              </a:rPr>
              <a:t>通用处理性能</a:t>
            </a:r>
            <a:r>
              <a:rPr lang="zh-CN" altLang="en-US" sz="1400" b="1" dirty="0">
                <a:solidFill>
                  <a:schemeClr val="accent2"/>
                </a:solidFill>
                <a:latin typeface="宋体" panose="02000500000000000000" pitchFamily="2" charset="-122"/>
              </a:rPr>
              <a:t>成倍提高，达到</a:t>
            </a:r>
            <a:r>
              <a:rPr lang="en-US" altLang="zh-CN" sz="1400" b="1" dirty="0">
                <a:solidFill>
                  <a:schemeClr val="accent2"/>
                </a:solidFill>
                <a:latin typeface="宋体" panose="02000500000000000000" pitchFamily="2" charset="-122"/>
              </a:rPr>
              <a:t>Xeon Silver 4314</a:t>
            </a:r>
            <a:r>
              <a:rPr lang="zh-CN" altLang="en-US" sz="1400" b="1" dirty="0">
                <a:solidFill>
                  <a:schemeClr val="accent2"/>
                </a:solidFill>
                <a:latin typeface="宋体" panose="02000500000000000000" pitchFamily="2" charset="-122"/>
              </a:rPr>
              <a:t>的水平，</a:t>
            </a:r>
            <a:r>
              <a:rPr lang="zh-CN" altLang="en-US" sz="1400" b="1" dirty="0">
                <a:solidFill>
                  <a:schemeClr val="tx2"/>
                </a:solidFill>
                <a:latin typeface="宋体" panose="02000500000000000000" pitchFamily="2" charset="-122"/>
              </a:rPr>
              <a:t>支持双路、四路、八路直连</a:t>
            </a:r>
            <a:endParaRPr lang="zh-CN" altLang="en-US" sz="1400" b="1" dirty="0">
              <a:solidFill>
                <a:schemeClr val="tx2"/>
              </a:solidFill>
              <a:latin typeface="宋体" panose="02000500000000000000" pitchFamily="2" charset="-122"/>
            </a:endParaRPr>
          </a:p>
          <a:p>
            <a:pPr marL="342900" indent="-342900" hangingPunct="0">
              <a:lnSpc>
                <a:spcPct val="150000"/>
              </a:lnSpc>
              <a:spcBef>
                <a:spcPts val="600"/>
              </a:spcBef>
              <a:buFont typeface="Arial" panose="02080604020202020204" pitchFamily="34" charset="0"/>
              <a:buChar char="•"/>
            </a:pPr>
            <a:r>
              <a:rPr lang="zh-CN" altLang="en-US" sz="1800" b="1" dirty="0">
                <a:solidFill>
                  <a:srgbClr val="000000"/>
                </a:solidFill>
                <a:latin typeface="宋体" panose="02000500000000000000" pitchFamily="2" charset="-122"/>
                <a:sym typeface="宋体" panose="02000500000000000000" pitchFamily="2" charset="-122"/>
              </a:rPr>
              <a:t>通过</a:t>
            </a:r>
            <a:r>
              <a:rPr lang="zh-CN" altLang="en-US" sz="1800" b="1" dirty="0">
                <a:solidFill>
                  <a:srgbClr val="FF0000"/>
                </a:solidFill>
                <a:latin typeface="宋体" panose="02000500000000000000" pitchFamily="2" charset="-122"/>
                <a:sym typeface="宋体" panose="02000500000000000000" pitchFamily="2" charset="-122"/>
              </a:rPr>
              <a:t>龙链技术</a:t>
            </a:r>
            <a:r>
              <a:rPr lang="zh-CN" altLang="en-US" sz="1800" b="1" dirty="0">
                <a:solidFill>
                  <a:srgbClr val="000000"/>
                </a:solidFill>
                <a:latin typeface="宋体" panose="02000500000000000000" pitchFamily="2" charset="-122"/>
                <a:sym typeface="宋体" panose="02000500000000000000" pitchFamily="2" charset="-122"/>
              </a:rPr>
              <a:t>（Loongson Coherent Link）实现片间互连，成倍降低</a:t>
            </a:r>
            <a:r>
              <a:rPr lang="zh-CN" altLang="en-US" sz="1800" b="1" dirty="0">
                <a:solidFill>
                  <a:schemeClr val="tx2"/>
                </a:solidFill>
                <a:latin typeface="宋体" panose="02000500000000000000" pitchFamily="2" charset="-122"/>
                <a:sym typeface="宋体" panose="02000500000000000000" pitchFamily="2" charset="-122"/>
              </a:rPr>
              <a:t>片间访问延迟</a:t>
            </a:r>
            <a:endParaRPr lang="en-US" altLang="zh-CN" sz="1400" b="1" dirty="0">
              <a:solidFill>
                <a:schemeClr val="tx2"/>
              </a:solidFill>
              <a:latin typeface="宋体" panose="02000500000000000000" pitchFamily="2" charset="-122"/>
              <a:sym typeface="宋体" panose="02000500000000000000" pitchFamily="2" charset="-122"/>
            </a:endParaRPr>
          </a:p>
          <a:p>
            <a:pPr marL="742950" lvl="1" indent="-285750" eaLnBrk="1" hangingPunct="0">
              <a:lnSpc>
                <a:spcPct val="150000"/>
              </a:lnSpc>
              <a:spcBef>
                <a:spcPts val="600"/>
              </a:spcBef>
              <a:buFont typeface="Arial" panose="02080604020202020204" pitchFamily="34" charset="0"/>
              <a:buChar char="•"/>
            </a:pPr>
            <a:r>
              <a:rPr lang="zh-CN" altLang="en-US" sz="1400" b="1" dirty="0">
                <a:solidFill>
                  <a:schemeClr val="accent2"/>
                </a:solidFill>
                <a:latin typeface="宋体" panose="02000500000000000000" pitchFamily="2" charset="-122"/>
                <a:sym typeface="宋体" panose="02000500000000000000" pitchFamily="2" charset="-122"/>
              </a:rPr>
              <a:t>LS3D6000（</a:t>
            </a:r>
            <a:r>
              <a:rPr lang="en-US" altLang="zh-CN" sz="1400" b="1" dirty="0">
                <a:solidFill>
                  <a:schemeClr val="accent2"/>
                </a:solidFill>
                <a:latin typeface="宋体" panose="02000500000000000000" pitchFamily="2" charset="-122"/>
                <a:sym typeface="宋体" panose="02000500000000000000" pitchFamily="2" charset="-122"/>
              </a:rPr>
              <a:t>LS3C6000/D</a:t>
            </a:r>
            <a:r>
              <a:rPr lang="zh-CN" altLang="en-US" sz="1400" b="1" dirty="0">
                <a:solidFill>
                  <a:schemeClr val="accent2"/>
                </a:solidFill>
                <a:latin typeface="宋体" panose="02000500000000000000" pitchFamily="2" charset="-122"/>
                <a:sym typeface="宋体" panose="02000500000000000000" pitchFamily="2" charset="-122"/>
              </a:rPr>
              <a:t>）</a:t>
            </a:r>
            <a:r>
              <a:rPr lang="zh-CN" altLang="en-US" sz="1400" b="1" dirty="0">
                <a:solidFill>
                  <a:srgbClr val="000000"/>
                </a:solidFill>
                <a:latin typeface="宋体" panose="02000500000000000000" pitchFamily="2" charset="-122"/>
                <a:sym typeface="宋体" panose="02000500000000000000" pitchFamily="2" charset="-122"/>
              </a:rPr>
              <a:t>双硅片32核64线程，</a:t>
            </a:r>
            <a:r>
              <a:rPr lang="zh-CN" altLang="en-US" sz="1400" b="1" dirty="0">
                <a:solidFill>
                  <a:schemeClr val="accent2"/>
                </a:solidFill>
                <a:latin typeface="宋体" panose="02000500000000000000" pitchFamily="2" charset="-122"/>
              </a:rPr>
              <a:t>达到</a:t>
            </a:r>
            <a:r>
              <a:rPr lang="en-US" altLang="zh-CN" sz="1400" b="1" dirty="0">
                <a:solidFill>
                  <a:schemeClr val="accent2"/>
                </a:solidFill>
                <a:latin typeface="宋体" panose="02000500000000000000" pitchFamily="2" charset="-122"/>
              </a:rPr>
              <a:t>Xeon Gold 6338</a:t>
            </a:r>
            <a:r>
              <a:rPr lang="zh-CN" altLang="en-US" sz="1400" b="1" dirty="0">
                <a:solidFill>
                  <a:schemeClr val="accent2"/>
                </a:solidFill>
                <a:latin typeface="宋体" panose="02000500000000000000" pitchFamily="2" charset="-122"/>
              </a:rPr>
              <a:t>的水平（</a:t>
            </a:r>
            <a:r>
              <a:rPr lang="en-US" altLang="zh-CN" sz="1400" b="1" dirty="0">
                <a:solidFill>
                  <a:schemeClr val="accent2"/>
                </a:solidFill>
                <a:latin typeface="宋体" panose="02000500000000000000" pitchFamily="2" charset="-122"/>
              </a:rPr>
              <a:t>10nm</a:t>
            </a:r>
            <a:r>
              <a:rPr lang="zh-CN" altLang="en-US" sz="1400" b="1" dirty="0">
                <a:solidFill>
                  <a:schemeClr val="accent2"/>
                </a:solidFill>
                <a:latin typeface="宋体" panose="02000500000000000000" pitchFamily="2" charset="-122"/>
              </a:rPr>
              <a:t>），</a:t>
            </a:r>
            <a:r>
              <a:rPr lang="zh-CN" altLang="en-US" sz="1400" b="1" dirty="0">
                <a:solidFill>
                  <a:srgbClr val="000000"/>
                </a:solidFill>
                <a:latin typeface="宋体" panose="02000500000000000000" pitchFamily="2" charset="-122"/>
                <a:sym typeface="宋体" panose="02000500000000000000" pitchFamily="2" charset="-122"/>
              </a:rPr>
              <a:t>支持双路、四路直连</a:t>
            </a:r>
            <a:endParaRPr lang="en-US" altLang="zh-CN" sz="1400" b="1" dirty="0">
              <a:solidFill>
                <a:schemeClr val="tx1"/>
              </a:solidFill>
              <a:latin typeface="宋体" panose="02000500000000000000" pitchFamily="2" charset="-122"/>
              <a:sym typeface="宋体" panose="02000500000000000000" pitchFamily="2" charset="-122"/>
            </a:endParaRPr>
          </a:p>
          <a:p>
            <a:pPr marL="742950" lvl="1" indent="-285750" eaLnBrk="1" hangingPunct="0">
              <a:lnSpc>
                <a:spcPct val="150000"/>
              </a:lnSpc>
              <a:spcBef>
                <a:spcPts val="600"/>
              </a:spcBef>
              <a:buFont typeface="Arial" panose="02080604020202020204" pitchFamily="34" charset="0"/>
              <a:buChar char="•"/>
            </a:pPr>
            <a:r>
              <a:rPr lang="zh-CN" altLang="en-US" sz="1400" b="1" dirty="0">
                <a:solidFill>
                  <a:schemeClr val="accent2"/>
                </a:solidFill>
                <a:latin typeface="宋体" panose="02000500000000000000" pitchFamily="2" charset="-122"/>
                <a:sym typeface="宋体" panose="02000500000000000000" pitchFamily="2" charset="-122"/>
              </a:rPr>
              <a:t>LS3E6000（</a:t>
            </a:r>
            <a:r>
              <a:rPr lang="en-US" altLang="zh-CN" sz="1400" b="1" dirty="0">
                <a:solidFill>
                  <a:schemeClr val="accent2"/>
                </a:solidFill>
                <a:latin typeface="宋体" panose="02000500000000000000" pitchFamily="2" charset="-122"/>
                <a:sym typeface="宋体" panose="02000500000000000000" pitchFamily="2" charset="-122"/>
              </a:rPr>
              <a:t>LS3C6000/Q</a:t>
            </a:r>
            <a:r>
              <a:rPr lang="zh-CN" altLang="en-US" sz="1400" b="1" dirty="0">
                <a:solidFill>
                  <a:schemeClr val="accent2"/>
                </a:solidFill>
                <a:latin typeface="宋体" panose="02000500000000000000" pitchFamily="2" charset="-122"/>
                <a:sym typeface="宋体" panose="02000500000000000000" pitchFamily="2" charset="-122"/>
              </a:rPr>
              <a:t>）</a:t>
            </a:r>
            <a:r>
              <a:rPr lang="zh-CN" altLang="en-US" sz="1400" b="1" dirty="0">
                <a:solidFill>
                  <a:srgbClr val="000000"/>
                </a:solidFill>
                <a:latin typeface="宋体" panose="02000500000000000000" pitchFamily="2" charset="-122"/>
                <a:sym typeface="宋体" panose="02000500000000000000" pitchFamily="2" charset="-122"/>
              </a:rPr>
              <a:t>四硅片6</a:t>
            </a:r>
            <a:r>
              <a:rPr lang="en-US" altLang="zh-CN" sz="1400" b="1" dirty="0">
                <a:solidFill>
                  <a:srgbClr val="000000"/>
                </a:solidFill>
                <a:latin typeface="宋体" panose="02000500000000000000" pitchFamily="2" charset="-122"/>
                <a:sym typeface="宋体" panose="02000500000000000000" pitchFamily="2" charset="-122"/>
              </a:rPr>
              <a:t>0/64</a:t>
            </a:r>
            <a:r>
              <a:rPr lang="zh-CN" altLang="en-US" sz="1400" b="1" dirty="0">
                <a:solidFill>
                  <a:srgbClr val="000000"/>
                </a:solidFill>
                <a:latin typeface="宋体" panose="02000500000000000000" pitchFamily="2" charset="-122"/>
                <a:sym typeface="宋体" panose="02000500000000000000" pitchFamily="2" charset="-122"/>
              </a:rPr>
              <a:t>核12</a:t>
            </a:r>
            <a:r>
              <a:rPr lang="en-US" altLang="zh-CN" sz="1400" b="1" dirty="0">
                <a:solidFill>
                  <a:srgbClr val="000000"/>
                </a:solidFill>
                <a:latin typeface="宋体" panose="02000500000000000000" pitchFamily="2" charset="-122"/>
                <a:sym typeface="宋体" panose="02000500000000000000" pitchFamily="2" charset="-122"/>
              </a:rPr>
              <a:t>0/128</a:t>
            </a:r>
            <a:r>
              <a:rPr lang="zh-CN" altLang="en-US" sz="1400" b="1" dirty="0">
                <a:solidFill>
                  <a:srgbClr val="000000"/>
                </a:solidFill>
                <a:latin typeface="宋体" panose="02000500000000000000" pitchFamily="2" charset="-122"/>
                <a:sym typeface="宋体" panose="02000500000000000000" pitchFamily="2" charset="-122"/>
              </a:rPr>
              <a:t>线程，支持双路直连</a:t>
            </a:r>
            <a:endParaRPr lang="zh-CN" altLang="en-US" sz="1400" b="1" dirty="0">
              <a:solidFill>
                <a:schemeClr val="tx1"/>
              </a:solidFill>
              <a:latin typeface="宋体" panose="02000500000000000000" pitchFamily="2" charset="-122"/>
              <a:sym typeface="宋体" panose="02000500000000000000" pitchFamily="2" charset="-122"/>
            </a:endParaRPr>
          </a:p>
          <a:p>
            <a:pPr marL="342900" indent="-342900" hangingPunct="0">
              <a:lnSpc>
                <a:spcPct val="150000"/>
              </a:lnSpc>
              <a:spcBef>
                <a:spcPts val="600"/>
              </a:spcBef>
              <a:buFont typeface="Arial" panose="02080604020202020204" pitchFamily="34" charset="0"/>
              <a:buChar char="•"/>
            </a:pPr>
            <a:r>
              <a:rPr lang="zh-CN" altLang="en-US" sz="1800" b="1" dirty="0">
                <a:solidFill>
                  <a:srgbClr val="000000"/>
                </a:solidFill>
                <a:latin typeface="宋体" panose="02000500000000000000" pitchFamily="2" charset="-122"/>
                <a:sym typeface="宋体" panose="02000500000000000000" pitchFamily="2" charset="-122"/>
              </a:rPr>
              <a:t>内置</a:t>
            </a:r>
            <a:r>
              <a:rPr lang="zh-CN" altLang="en-US" sz="1800" b="1" dirty="0">
                <a:solidFill>
                  <a:srgbClr val="FF0000"/>
                </a:solidFill>
                <a:latin typeface="宋体" panose="02000500000000000000" pitchFamily="2" charset="-122"/>
                <a:sym typeface="宋体" panose="02000500000000000000" pitchFamily="2" charset="-122"/>
              </a:rPr>
              <a:t>安全模块</a:t>
            </a:r>
            <a:endParaRPr lang="en-US" altLang="zh-CN" sz="1800" b="1" dirty="0">
              <a:solidFill>
                <a:srgbClr val="FF0000"/>
              </a:solidFill>
              <a:latin typeface="宋体" panose="02000500000000000000" pitchFamily="2" charset="-122"/>
              <a:sym typeface="宋体" panose="02000500000000000000" pitchFamily="2" charset="-122"/>
            </a:endParaRPr>
          </a:p>
          <a:p>
            <a:pPr marL="742950" lvl="1" indent="-285750" eaLnBrk="1" hangingPunct="0">
              <a:lnSpc>
                <a:spcPct val="150000"/>
              </a:lnSpc>
              <a:spcBef>
                <a:spcPts val="600"/>
              </a:spcBef>
              <a:buFont typeface="Arial" panose="02080604020202020204" pitchFamily="34" charset="0"/>
              <a:buChar char="•"/>
            </a:pPr>
            <a:r>
              <a:rPr lang="zh-CN" altLang="en-US" sz="1400" b="1" dirty="0">
                <a:solidFill>
                  <a:srgbClr val="000000"/>
                </a:solidFill>
                <a:latin typeface="宋体" panose="02000500000000000000" pitchFamily="2" charset="-122"/>
                <a:sym typeface="宋体" panose="02000500000000000000" pitchFamily="2" charset="-122"/>
              </a:rPr>
              <a:t>国密标准加解密算法：</a:t>
            </a:r>
            <a:r>
              <a:rPr lang="zh-CN" altLang="en-US" sz="1400" b="1" dirty="0">
                <a:solidFill>
                  <a:schemeClr val="accent2"/>
                </a:solidFill>
                <a:latin typeface="宋体" panose="02000500000000000000" pitchFamily="2" charset="-122"/>
                <a:sym typeface="宋体" panose="02000500000000000000" pitchFamily="2" charset="-122"/>
              </a:rPr>
              <a:t>单硅片</a:t>
            </a:r>
            <a:r>
              <a:rPr lang="en-US" altLang="zh-CN" sz="1400" b="1" dirty="0">
                <a:solidFill>
                  <a:schemeClr val="accent2"/>
                </a:solidFill>
                <a:latin typeface="宋体" panose="02000500000000000000" pitchFamily="2" charset="-122"/>
                <a:sym typeface="宋体" panose="02000500000000000000" pitchFamily="2" charset="-122"/>
              </a:rPr>
              <a:t>SM4</a:t>
            </a:r>
            <a:r>
              <a:rPr lang="zh-CN" altLang="en-US" sz="1400" b="1" dirty="0">
                <a:solidFill>
                  <a:schemeClr val="accent2"/>
                </a:solidFill>
                <a:latin typeface="宋体" panose="02000500000000000000" pitchFamily="2" charset="-122"/>
                <a:sym typeface="宋体" panose="02000500000000000000" pitchFamily="2" charset="-122"/>
              </a:rPr>
              <a:t>带宽 </a:t>
            </a:r>
            <a:r>
              <a:rPr lang="en-US" altLang="zh-CN" sz="1400" b="1" dirty="0">
                <a:solidFill>
                  <a:schemeClr val="accent2"/>
                </a:solidFill>
                <a:latin typeface="宋体" panose="02000500000000000000" pitchFamily="2" charset="-122"/>
                <a:sym typeface="宋体" panose="02000500000000000000" pitchFamily="2" charset="-122"/>
              </a:rPr>
              <a:t>&gt; 30Gbps</a:t>
            </a:r>
            <a:r>
              <a:rPr lang="zh-CN" altLang="en-US" sz="1400" b="1" dirty="0">
                <a:solidFill>
                  <a:schemeClr val="accent2"/>
                </a:solidFill>
                <a:latin typeface="宋体" panose="02000500000000000000" pitchFamily="2" charset="-122"/>
                <a:sym typeface="宋体" panose="02000500000000000000" pitchFamily="2" charset="-122"/>
              </a:rPr>
              <a:t>，多硅片可并行处理</a:t>
            </a:r>
            <a:r>
              <a:rPr lang="en-US" altLang="zh-CN" sz="1400" b="1" dirty="0">
                <a:solidFill>
                  <a:schemeClr val="accent2"/>
                </a:solidFill>
                <a:latin typeface="宋体" panose="02000500000000000000" pitchFamily="2" charset="-122"/>
                <a:sym typeface="宋体" panose="02000500000000000000" pitchFamily="2" charset="-122"/>
              </a:rPr>
              <a:t> </a:t>
            </a:r>
            <a:endParaRPr lang="en-US" altLang="zh-CN" sz="1400" b="1" dirty="0">
              <a:solidFill>
                <a:schemeClr val="accent2"/>
              </a:solidFill>
              <a:latin typeface="宋体" panose="02000500000000000000" pitchFamily="2" charset="-122"/>
              <a:sym typeface="宋体" panose="02000500000000000000" pitchFamily="2" charset="-122"/>
            </a:endParaRPr>
          </a:p>
        </p:txBody>
      </p:sp>
      <p:grpSp>
        <p:nvGrpSpPr>
          <p:cNvPr id="2" name="组合 10"/>
          <p:cNvGrpSpPr/>
          <p:nvPr/>
        </p:nvGrpSpPr>
        <p:grpSpPr>
          <a:xfrm>
            <a:off x="6335713" y="2276475"/>
            <a:ext cx="5743575" cy="4427538"/>
            <a:chOff x="5688136" y="2276872"/>
            <a:chExt cx="5156036" cy="4427755"/>
          </a:xfrm>
        </p:grpSpPr>
        <p:pic>
          <p:nvPicPr>
            <p:cNvPr id="22537" name="Picture 3"/>
            <p:cNvPicPr>
              <a:picLocks noChangeAspect="1"/>
            </p:cNvPicPr>
            <p:nvPr/>
          </p:nvPicPr>
          <p:blipFill>
            <a:blip r:embed="rId1"/>
            <a:stretch>
              <a:fillRect/>
            </a:stretch>
          </p:blipFill>
          <p:spPr>
            <a:xfrm>
              <a:off x="9356992" y="2276872"/>
              <a:ext cx="1487180" cy="1153804"/>
            </a:xfrm>
            <a:prstGeom prst="rect">
              <a:avLst/>
            </a:prstGeom>
            <a:noFill/>
            <a:ln w="9525">
              <a:noFill/>
            </a:ln>
          </p:spPr>
        </p:pic>
        <p:pic>
          <p:nvPicPr>
            <p:cNvPr id="22538" name="Picture 3"/>
            <p:cNvPicPr>
              <a:picLocks noChangeAspect="1"/>
            </p:cNvPicPr>
            <p:nvPr/>
          </p:nvPicPr>
          <p:blipFill>
            <a:blip r:embed="rId2"/>
            <a:stretch>
              <a:fillRect/>
            </a:stretch>
          </p:blipFill>
          <p:spPr>
            <a:xfrm>
              <a:off x="5688136" y="4224319"/>
              <a:ext cx="4500500" cy="2480308"/>
            </a:xfrm>
            <a:prstGeom prst="rect">
              <a:avLst/>
            </a:prstGeom>
            <a:noFill/>
            <a:ln w="9525">
              <a:noFill/>
            </a:ln>
          </p:spPr>
        </p:pic>
      </p:grpSp>
      <p:grpSp>
        <p:nvGrpSpPr>
          <p:cNvPr id="3" name="组合 11"/>
          <p:cNvGrpSpPr/>
          <p:nvPr/>
        </p:nvGrpSpPr>
        <p:grpSpPr>
          <a:xfrm>
            <a:off x="1082675" y="1233488"/>
            <a:ext cx="10626725" cy="5483225"/>
            <a:chOff x="971612" y="1232756"/>
            <a:chExt cx="9541059" cy="5484515"/>
          </a:xfrm>
        </p:grpSpPr>
        <p:pic>
          <p:nvPicPr>
            <p:cNvPr id="22535" name="Picture 2"/>
            <p:cNvPicPr>
              <a:picLocks noChangeAspect="1"/>
            </p:cNvPicPr>
            <p:nvPr/>
          </p:nvPicPr>
          <p:blipFill>
            <a:blip r:embed="rId3"/>
            <a:stretch>
              <a:fillRect/>
            </a:stretch>
          </p:blipFill>
          <p:spPr>
            <a:xfrm>
              <a:off x="9611760" y="1232756"/>
              <a:ext cx="900911" cy="903820"/>
            </a:xfrm>
            <a:prstGeom prst="rect">
              <a:avLst/>
            </a:prstGeom>
            <a:noFill/>
            <a:ln w="9525">
              <a:noFill/>
            </a:ln>
          </p:spPr>
        </p:pic>
        <p:pic>
          <p:nvPicPr>
            <p:cNvPr id="22536" name="Picture 1"/>
            <p:cNvPicPr>
              <a:picLocks noChangeAspect="1"/>
            </p:cNvPicPr>
            <p:nvPr/>
          </p:nvPicPr>
          <p:blipFill>
            <a:blip r:embed="rId4"/>
            <a:stretch>
              <a:fillRect/>
            </a:stretch>
          </p:blipFill>
          <p:spPr>
            <a:xfrm>
              <a:off x="971612" y="4154756"/>
              <a:ext cx="4427124" cy="2562515"/>
            </a:xfrm>
            <a:prstGeom prst="rect">
              <a:avLst/>
            </a:prstGeom>
            <a:noFill/>
            <a:ln w="9525">
              <a:noFill/>
            </a:ln>
          </p:spPr>
        </p:pic>
      </p:grpSp>
      <p:sp>
        <p:nvSpPr>
          <p:cNvPr id="11" name="内容占位符 15"/>
          <p:cNvSpPr txBox="1"/>
          <p:nvPr/>
        </p:nvSpPr>
        <p:spPr bwMode="auto">
          <a:xfrm>
            <a:off x="1041400" y="3213100"/>
            <a:ext cx="9866313" cy="1079500"/>
          </a:xfrm>
          <a:prstGeom prst="rect">
            <a:avLst/>
          </a:prstGeom>
          <a:solidFill>
            <a:srgbClr val="FFFF00"/>
          </a:solidFill>
          <a:ln w="9525">
            <a:noFill/>
            <a:miter lim="800000"/>
          </a:ln>
        </p:spPr>
        <p:txBody>
          <a:bodyPr lIns="90000" tIns="46800" rIns="90000" bIns="46800"/>
          <a:lstStyle/>
          <a:p>
            <a:pPr marL="342900" marR="0" indent="-342900" algn="ctr" defTabSz="449580" hangingPunct="0">
              <a:lnSpc>
                <a:spcPct val="150000"/>
              </a:lnSpc>
              <a:spcBef>
                <a:spcPts val="600"/>
              </a:spcBef>
              <a:buClrTx/>
              <a:buSzPct val="100000"/>
              <a:buFont typeface="Arial" panose="02080604020202020204" pitchFamily="34" charset="0"/>
              <a:buNone/>
              <a:defRPr/>
            </a:pPr>
            <a:r>
              <a:rPr kumimoji="0" lang="zh-CN" altLang="en-US" sz="4000" b="1" kern="0" cap="none" spc="0" normalizeH="0" baseline="0" noProof="1">
                <a:solidFill>
                  <a:srgbClr val="FF0000"/>
                </a:solidFill>
                <a:latin typeface="宋体" panose="02000500000000000000" pitchFamily="2" charset="-122"/>
                <a:ea typeface="宋体" panose="02000500000000000000" pitchFamily="2" charset="-122"/>
                <a:cs typeface="+mn-cs"/>
              </a:rPr>
              <a:t>通过设计优化达到</a:t>
            </a:r>
            <a:r>
              <a:rPr kumimoji="0" lang="en-US" altLang="zh-CN" sz="4000" b="1" kern="0" cap="none" spc="0" normalizeH="0" baseline="0" noProof="1">
                <a:solidFill>
                  <a:srgbClr val="FF0000"/>
                </a:solidFill>
                <a:latin typeface="宋体" panose="02000500000000000000" pitchFamily="2" charset="-122"/>
                <a:ea typeface="宋体" panose="02000500000000000000" pitchFamily="2" charset="-122"/>
                <a:cs typeface="+mn-cs"/>
              </a:rPr>
              <a:t>X86 10nm</a:t>
            </a:r>
            <a:r>
              <a:rPr kumimoji="0" lang="zh-CN" altLang="en-US" sz="4000" b="1" kern="0" cap="none" spc="0" normalizeH="0" baseline="0" noProof="1">
                <a:solidFill>
                  <a:srgbClr val="FF0000"/>
                </a:solidFill>
                <a:latin typeface="宋体" panose="02000500000000000000" pitchFamily="2" charset="-122"/>
                <a:ea typeface="宋体" panose="02000500000000000000" pitchFamily="2" charset="-122"/>
                <a:cs typeface="+mn-cs"/>
              </a:rPr>
              <a:t>性能</a:t>
            </a:r>
            <a:r>
              <a:rPr kumimoji="0" lang="zh-CN" altLang="en-US" sz="4000" b="1" kern="0" cap="none" spc="0" normalizeH="0" baseline="0" noProof="0" dirty="0">
                <a:solidFill>
                  <a:srgbClr val="FF0000"/>
                </a:solidFill>
                <a:latin typeface="宋体" panose="02000500000000000000" pitchFamily="2" charset="-122"/>
                <a:ea typeface="宋体" panose="02000500000000000000" pitchFamily="2" charset="-122"/>
                <a:cs typeface="+mn-cs"/>
              </a:rPr>
              <a:t>！</a:t>
            </a:r>
            <a:endParaRPr kumimoji="0" lang="zh-CN" altLang="en-US" sz="4000" b="1" kern="0" cap="none" spc="0" normalizeH="0" baseline="0" noProof="0" dirty="0">
              <a:solidFill>
                <a:srgbClr val="FF0000"/>
              </a:solidFill>
              <a:latin typeface="宋体" panose="02000500000000000000" pitchFamily="2" charset="-122"/>
              <a:ea typeface="宋体" panose="02000500000000000000"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charRg st="0" end="39"/>
                                            </p:txEl>
                                          </p:spTgt>
                                        </p:tgtEl>
                                        <p:attrNameLst>
                                          <p:attrName>style.visibility</p:attrName>
                                        </p:attrNameLst>
                                      </p:cBhvr>
                                      <p:to>
                                        <p:strVal val="visible"/>
                                      </p:to>
                                    </p:set>
                                    <p:animEffect transition="in" filter="wipe(down)">
                                      <p:cBhvr>
                                        <p:cTn id="7" dur="500"/>
                                        <p:tgtEl>
                                          <p:spTgt spid="6">
                                            <p:txEl>
                                              <p:charRg st="0" end="39"/>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xEl>
                                              <p:charRg st="39" end="85"/>
                                            </p:txEl>
                                          </p:spTgt>
                                        </p:tgtEl>
                                        <p:attrNameLst>
                                          <p:attrName>style.visibility</p:attrName>
                                        </p:attrNameLst>
                                      </p:cBhvr>
                                      <p:to>
                                        <p:strVal val="visible"/>
                                      </p:to>
                                    </p:set>
                                    <p:animEffect transition="in" filter="wipe(down)">
                                      <p:cBhvr>
                                        <p:cTn id="10" dur="500"/>
                                        <p:tgtEl>
                                          <p:spTgt spid="6">
                                            <p:txEl>
                                              <p:charRg st="39" end="8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6">
                                            <p:txEl>
                                              <p:charRg st="85" end="133"/>
                                            </p:txEl>
                                          </p:spTgt>
                                        </p:tgtEl>
                                        <p:attrNameLst>
                                          <p:attrName>style.visibility</p:attrName>
                                        </p:attrNameLst>
                                      </p:cBhvr>
                                      <p:to>
                                        <p:strVal val="visible"/>
                                      </p:to>
                                    </p:set>
                                    <p:animEffect transition="in" filter="wipe(down)">
                                      <p:cBhvr>
                                        <p:cTn id="15" dur="500"/>
                                        <p:tgtEl>
                                          <p:spTgt spid="6">
                                            <p:txEl>
                                              <p:charRg st="85" end="133"/>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6">
                                            <p:txEl>
                                              <p:charRg st="133" end="200"/>
                                            </p:txEl>
                                          </p:spTgt>
                                        </p:tgtEl>
                                        <p:attrNameLst>
                                          <p:attrName>style.visibility</p:attrName>
                                        </p:attrNameLst>
                                      </p:cBhvr>
                                      <p:to>
                                        <p:strVal val="visible"/>
                                      </p:to>
                                    </p:set>
                                    <p:animEffect transition="in" filter="wipe(down)">
                                      <p:cBhvr>
                                        <p:cTn id="18" dur="500"/>
                                        <p:tgtEl>
                                          <p:spTgt spid="6">
                                            <p:txEl>
                                              <p:charRg st="133" end="200"/>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6">
                                            <p:txEl>
                                              <p:charRg st="200" end="246"/>
                                            </p:txEl>
                                          </p:spTgt>
                                        </p:tgtEl>
                                        <p:attrNameLst>
                                          <p:attrName>style.visibility</p:attrName>
                                        </p:attrNameLst>
                                      </p:cBhvr>
                                      <p:to>
                                        <p:strVal val="visible"/>
                                      </p:to>
                                    </p:set>
                                    <p:animEffect transition="in" filter="wipe(down)">
                                      <p:cBhvr>
                                        <p:cTn id="21" dur="500"/>
                                        <p:tgtEl>
                                          <p:spTgt spid="6">
                                            <p:txEl>
                                              <p:charRg st="200" end="24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6">
                                            <p:txEl>
                                              <p:charRg st="246" end="253"/>
                                            </p:txEl>
                                          </p:spTgt>
                                        </p:tgtEl>
                                        <p:attrNameLst>
                                          <p:attrName>style.visibility</p:attrName>
                                        </p:attrNameLst>
                                      </p:cBhvr>
                                      <p:to>
                                        <p:strVal val="visible"/>
                                      </p:to>
                                    </p:set>
                                    <p:animEffect transition="in" filter="wipe(down)">
                                      <p:cBhvr>
                                        <p:cTn id="26" dur="500"/>
                                        <p:tgtEl>
                                          <p:spTgt spid="6">
                                            <p:txEl>
                                              <p:charRg st="246" end="253"/>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6">
                                            <p:txEl>
                                              <p:charRg st="253" end="291"/>
                                            </p:txEl>
                                          </p:spTgt>
                                        </p:tgtEl>
                                        <p:attrNameLst>
                                          <p:attrName>style.visibility</p:attrName>
                                        </p:attrNameLst>
                                      </p:cBhvr>
                                      <p:to>
                                        <p:strVal val="visible"/>
                                      </p:to>
                                    </p:set>
                                    <p:animEffect transition="in" filter="wipe(down)">
                                      <p:cBhvr>
                                        <p:cTn id="29" dur="500"/>
                                        <p:tgtEl>
                                          <p:spTgt spid="6">
                                            <p:txEl>
                                              <p:charRg st="253" end="29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down)">
                                      <p:cBhvr>
                                        <p:cTn id="39" dur="500"/>
                                        <p:tgtEl>
                                          <p:spTgt spid="2"/>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1"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1" fill="hold" grpId="0" nodeType="clickEffect">
                                  <p:stCondLst>
                                    <p:cond delay="0"/>
                                  </p:stCondLst>
                                  <p:childTnLst>
                                    <p:set>
                                      <p:cBhvr>
                                        <p:cTn id="49" dur="1" fill="hold">
                                          <p:stCondLst>
                                            <p:cond delay="0"/>
                                          </p:stCondLst>
                                        </p:cTn>
                                        <p:tgtEl>
                                          <p:spTgt spid="11">
                                            <p:txEl>
                                              <p:charRg st="0" end="20"/>
                                            </p:txEl>
                                          </p:spTgt>
                                        </p:tgtEl>
                                        <p:attrNameLst>
                                          <p:attrName>style.visibility</p:attrName>
                                        </p:attrNameLst>
                                      </p:cBhvr>
                                      <p:to>
                                        <p:strVal val="visible"/>
                                      </p:to>
                                    </p:set>
                                    <p:anim calcmode="lin" valueType="num">
                                      <p:cBhvr additive="base">
                                        <p:cTn id="50" dur="500" fill="hold"/>
                                        <p:tgtEl>
                                          <p:spTgt spid="11">
                                            <p:txEl>
                                              <p:charRg st="0" end="20"/>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11">
                                            <p:txEl>
                                              <p:charRg st="0" end="2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1" grpId="0" animBg="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a:xfrm>
            <a:off x="0" y="0"/>
            <a:ext cx="12118975" cy="765175"/>
          </a:xfrm>
        </p:spPr>
        <p:txBody>
          <a:bodyPr vert="horz" wrap="square" lIns="90000" tIns="46800" rIns="90000" bIns="46800" anchor="ctr" anchorCtr="0"/>
          <a:p>
            <a:r>
              <a:rPr lang="en-US" altLang="zh-CN" dirty="0"/>
              <a:t>3B6600</a:t>
            </a:r>
            <a:r>
              <a:rPr lang="zh-CN" altLang="en-US" dirty="0"/>
              <a:t>桌面</a:t>
            </a:r>
            <a:r>
              <a:rPr lang="en-US" altLang="zh-CN" dirty="0"/>
              <a:t>CPU</a:t>
            </a:r>
            <a:r>
              <a:rPr lang="zh-CN" altLang="en-US" dirty="0"/>
              <a:t>（研制阶段）</a:t>
            </a:r>
            <a:endParaRPr lang="zh-CN" altLang="en-US" dirty="0"/>
          </a:p>
        </p:txBody>
      </p:sp>
      <p:sp>
        <p:nvSpPr>
          <p:cNvPr id="6" name="内容占位符 2"/>
          <p:cNvSpPr txBox="1"/>
          <p:nvPr/>
        </p:nvSpPr>
        <p:spPr bwMode="auto">
          <a:xfrm>
            <a:off x="400050" y="944563"/>
            <a:ext cx="11631613" cy="3205163"/>
          </a:xfrm>
          <a:prstGeom prst="rect">
            <a:avLst/>
          </a:prstGeom>
          <a:noFill/>
          <a:ln w="9525">
            <a:noFill/>
            <a:miter lim="800000"/>
          </a:ln>
        </p:spPr>
        <p:txBody>
          <a:bodyPr lIns="90000" tIns="46800" rIns="90000" bIns="46800"/>
          <a:p>
            <a:pPr marL="342900" indent="-342900" hangingPunct="0">
              <a:lnSpc>
                <a:spcPct val="150000"/>
              </a:lnSpc>
              <a:spcBef>
                <a:spcPts val="600"/>
              </a:spcBef>
              <a:buFont typeface="Arial" panose="02080604020202020204" pitchFamily="34" charset="0"/>
              <a:buChar char="•"/>
            </a:pPr>
            <a:r>
              <a:rPr lang="en-US" altLang="zh-CN" sz="1800" b="1" dirty="0">
                <a:solidFill>
                  <a:schemeClr val="tx1"/>
                </a:solidFill>
                <a:latin typeface="宋体" panose="02000500000000000000" pitchFamily="2" charset="-122"/>
              </a:rPr>
              <a:t>3B6600</a:t>
            </a:r>
            <a:r>
              <a:rPr lang="en-US" altLang="en-US" sz="1800" b="1" dirty="0">
                <a:solidFill>
                  <a:schemeClr val="tx1"/>
                </a:solidFill>
                <a:latin typeface="宋体" panose="02000500000000000000" pitchFamily="2" charset="-122"/>
              </a:rPr>
              <a:t>：八核（</a:t>
            </a:r>
            <a:r>
              <a:rPr lang="en-US" altLang="zh-CN" sz="1800" b="1" dirty="0">
                <a:solidFill>
                  <a:schemeClr val="tx1"/>
                </a:solidFill>
                <a:latin typeface="宋体" panose="02000500000000000000" pitchFamily="2" charset="-122"/>
              </a:rPr>
              <a:t>LA864</a:t>
            </a:r>
            <a:r>
              <a:rPr lang="en-US" altLang="en-US" sz="1800" b="1" dirty="0">
                <a:solidFill>
                  <a:schemeClr val="tx1"/>
                </a:solidFill>
                <a:latin typeface="宋体" panose="02000500000000000000" pitchFamily="2" charset="-122"/>
              </a:rPr>
              <a:t>）</a:t>
            </a:r>
            <a:r>
              <a:rPr lang="en-US" altLang="zh-CN" sz="1800" b="1" dirty="0">
                <a:solidFill>
                  <a:schemeClr val="tx1"/>
                </a:solidFill>
                <a:latin typeface="宋体" panose="02000500000000000000" pitchFamily="2" charset="-122"/>
              </a:rPr>
              <a:t>+ GPGPU</a:t>
            </a:r>
            <a:r>
              <a:rPr lang="en-US" altLang="en-US" sz="1800" b="1" dirty="0">
                <a:solidFill>
                  <a:schemeClr val="tx1"/>
                </a:solidFill>
                <a:latin typeface="宋体" panose="02000500000000000000" pitchFamily="2" charset="-122"/>
              </a:rPr>
              <a:t>，</a:t>
            </a:r>
            <a:r>
              <a:rPr lang="en-US" altLang="zh-CN" sz="1800" b="1" dirty="0">
                <a:solidFill>
                  <a:schemeClr val="tx1"/>
                </a:solidFill>
                <a:latin typeface="宋体" panose="02000500000000000000" pitchFamily="2" charset="-122"/>
              </a:rPr>
              <a:t>DDR5</a:t>
            </a:r>
            <a:r>
              <a:rPr lang="en-US" altLang="en-US" sz="1800" b="1" dirty="0">
                <a:solidFill>
                  <a:schemeClr val="tx1"/>
                </a:solidFill>
                <a:latin typeface="宋体" panose="02000500000000000000" pitchFamily="2" charset="-122"/>
              </a:rPr>
              <a:t>、</a:t>
            </a:r>
            <a:r>
              <a:rPr lang="en-US" altLang="zh-CN" sz="1800" b="1" dirty="0">
                <a:solidFill>
                  <a:schemeClr val="tx1"/>
                </a:solidFill>
                <a:latin typeface="宋体" panose="02000500000000000000" pitchFamily="2" charset="-122"/>
              </a:rPr>
              <a:t>PCIE4</a:t>
            </a:r>
            <a:r>
              <a:rPr lang="en-US" altLang="en-US" sz="1800" b="1" dirty="0">
                <a:solidFill>
                  <a:schemeClr val="tx1"/>
                </a:solidFill>
                <a:latin typeface="宋体" panose="02000500000000000000" pitchFamily="2" charset="-122"/>
              </a:rPr>
              <a:t>、</a:t>
            </a:r>
            <a:r>
              <a:rPr lang="en-US" altLang="zh-CN" sz="1800" b="1" dirty="0">
                <a:solidFill>
                  <a:schemeClr val="tx1"/>
                </a:solidFill>
                <a:latin typeface="宋体" panose="02000500000000000000" pitchFamily="2" charset="-122"/>
              </a:rPr>
              <a:t>HDMI2.1</a:t>
            </a:r>
            <a:endParaRPr lang="en-US" altLang="zh-CN" sz="1800" b="1" dirty="0">
              <a:solidFill>
                <a:schemeClr val="tx1"/>
              </a:solidFill>
              <a:latin typeface="宋体" panose="02000500000000000000" pitchFamily="2" charset="-122"/>
            </a:endParaRPr>
          </a:p>
          <a:p>
            <a:pPr marL="742950" lvl="1" indent="-285750" algn="l" eaLnBrk="1" hangingPunct="0">
              <a:lnSpc>
                <a:spcPct val="150000"/>
              </a:lnSpc>
              <a:spcBef>
                <a:spcPts val="600"/>
              </a:spcBef>
              <a:buClrTx/>
              <a:buSzTx/>
              <a:buFont typeface="Arial" panose="02080604020202020204" pitchFamily="34" charset="0"/>
              <a:buChar char="•"/>
            </a:pPr>
            <a:r>
              <a:rPr lang="zh-CN" altLang="en-US" sz="1400" b="1" dirty="0">
                <a:solidFill>
                  <a:srgbClr val="000000"/>
                </a:solidFill>
                <a:latin typeface="宋体" panose="02000500000000000000" pitchFamily="2" charset="-122"/>
              </a:rPr>
              <a:t>比3A6000（LA664）同频性能提高30%左右（SPEC CPU2006 int base &gt; 2</a:t>
            </a:r>
            <a:r>
              <a:rPr lang="en-US" altLang="zh-CN" sz="1400" b="1" dirty="0">
                <a:solidFill>
                  <a:srgbClr val="000000"/>
                </a:solidFill>
                <a:latin typeface="宋体" panose="02000500000000000000" pitchFamily="2" charset="-122"/>
              </a:rPr>
              <a:t>5</a:t>
            </a:r>
            <a:r>
              <a:rPr lang="zh-CN" altLang="en-US" sz="1400" b="1" dirty="0">
                <a:solidFill>
                  <a:srgbClr val="000000"/>
                </a:solidFill>
                <a:latin typeface="宋体" panose="02000500000000000000" pitchFamily="2" charset="-122"/>
              </a:rPr>
              <a:t>分/GHz），处于世界领先行列</a:t>
            </a:r>
            <a:endParaRPr lang="zh-CN" altLang="en-US" sz="1400" b="1" dirty="0">
              <a:solidFill>
                <a:srgbClr val="000000"/>
              </a:solidFill>
              <a:latin typeface="宋体" panose="02000500000000000000" pitchFamily="2" charset="-122"/>
            </a:endParaRPr>
          </a:p>
          <a:p>
            <a:pPr marL="742950" lvl="1" indent="-285750" algn="l" eaLnBrk="1" hangingPunct="0">
              <a:lnSpc>
                <a:spcPct val="150000"/>
              </a:lnSpc>
              <a:spcBef>
                <a:spcPts val="600"/>
              </a:spcBef>
              <a:buClrTx/>
              <a:buSzTx/>
              <a:buFont typeface="Arial" panose="02080604020202020204" pitchFamily="34" charset="0"/>
              <a:buChar char="•"/>
            </a:pPr>
            <a:r>
              <a:rPr lang="zh-CN" altLang="en-US" sz="1400" b="1" dirty="0">
                <a:solidFill>
                  <a:srgbClr val="000000"/>
                </a:solidFill>
                <a:latin typeface="宋体" panose="02000500000000000000" pitchFamily="2" charset="-122"/>
                <a:sym typeface="+mn-ea"/>
              </a:rPr>
              <a:t>基频 &gt; 2.5GHz，争取单核睿频到3.0GHz，SPEC INT2006单核分值60-70分</a:t>
            </a:r>
            <a:endParaRPr lang="zh-CN" altLang="en-US" sz="1400" b="1" dirty="0">
              <a:solidFill>
                <a:srgbClr val="000000"/>
              </a:solidFill>
              <a:latin typeface="宋体" panose="02000500000000000000" pitchFamily="2" charset="-122"/>
            </a:endParaRPr>
          </a:p>
          <a:p>
            <a:pPr marL="742950" lvl="1" indent="-285750" algn="l" eaLnBrk="1" hangingPunct="0">
              <a:lnSpc>
                <a:spcPct val="150000"/>
              </a:lnSpc>
              <a:spcBef>
                <a:spcPts val="600"/>
              </a:spcBef>
              <a:buClrTx/>
              <a:buSzTx/>
              <a:buFont typeface="Arial" panose="02080604020202020204" pitchFamily="34" charset="0"/>
              <a:buChar char="•"/>
            </a:pPr>
            <a:r>
              <a:rPr lang="zh-CN" altLang="en-US" sz="1400" b="1" dirty="0">
                <a:solidFill>
                  <a:srgbClr val="000000"/>
                </a:solidFill>
                <a:latin typeface="宋体" panose="02000500000000000000" pitchFamily="2" charset="-122"/>
              </a:rPr>
              <a:t>实测单核/多核性能达到12-1</a:t>
            </a:r>
            <a:r>
              <a:rPr lang="en-US" altLang="zh-CN" sz="1400" b="1" dirty="0">
                <a:solidFill>
                  <a:srgbClr val="000000"/>
                </a:solidFill>
                <a:latin typeface="宋体" panose="02000500000000000000" pitchFamily="2" charset="-122"/>
              </a:rPr>
              <a:t>4</a:t>
            </a:r>
            <a:r>
              <a:rPr lang="zh-CN" altLang="en-US" sz="1400" b="1" dirty="0">
                <a:solidFill>
                  <a:srgbClr val="000000"/>
                </a:solidFill>
                <a:latin typeface="宋体" panose="02000500000000000000" pitchFamily="2" charset="-122"/>
              </a:rPr>
              <a:t>代中高端酷睿（7nm）水平，超过当时市场销售的50%以上桌面CPU</a:t>
            </a:r>
            <a:endParaRPr lang="zh-CN" altLang="en-US" sz="1400" b="1" dirty="0">
              <a:solidFill>
                <a:srgbClr val="000000"/>
              </a:solidFill>
              <a:latin typeface="宋体" panose="02000500000000000000" pitchFamily="2" charset="-122"/>
            </a:endParaRPr>
          </a:p>
          <a:p>
            <a:pPr marL="342900" indent="-342900" hangingPunct="0">
              <a:lnSpc>
                <a:spcPct val="150000"/>
              </a:lnSpc>
              <a:spcBef>
                <a:spcPts val="600"/>
              </a:spcBef>
              <a:buFont typeface="Arial" panose="02080604020202020204" pitchFamily="34" charset="0"/>
              <a:buChar char="•"/>
            </a:pPr>
            <a:r>
              <a:rPr lang="en-US" altLang="en-US" sz="1800" b="1" dirty="0">
                <a:solidFill>
                  <a:schemeClr val="tx1"/>
                </a:solidFill>
                <a:latin typeface="宋体" panose="02000500000000000000" pitchFamily="2" charset="-122"/>
              </a:rPr>
              <a:t>走向桌面</a:t>
            </a:r>
            <a:r>
              <a:rPr lang="en-US" altLang="zh-CN" sz="1800" b="1" dirty="0">
                <a:solidFill>
                  <a:schemeClr val="tx1"/>
                </a:solidFill>
                <a:latin typeface="宋体" panose="02000500000000000000" pitchFamily="2" charset="-122"/>
              </a:rPr>
              <a:t>CPU</a:t>
            </a:r>
            <a:r>
              <a:rPr lang="en-US" altLang="en-US" sz="1800" b="1" dirty="0">
                <a:solidFill>
                  <a:schemeClr val="tx1"/>
                </a:solidFill>
                <a:latin typeface="宋体" panose="02000500000000000000" pitchFamily="2" charset="-122"/>
              </a:rPr>
              <a:t>开放市场</a:t>
            </a:r>
            <a:endParaRPr lang="en-US" altLang="zh-CN" sz="1800" b="1" dirty="0">
              <a:solidFill>
                <a:schemeClr val="tx1"/>
              </a:solidFill>
              <a:latin typeface="宋体" panose="02000500000000000000" pitchFamily="2" charset="-122"/>
            </a:endParaRPr>
          </a:p>
          <a:p>
            <a:pPr marL="742950" lvl="1" indent="-285750" algn="l" eaLnBrk="1" hangingPunct="0">
              <a:lnSpc>
                <a:spcPct val="150000"/>
              </a:lnSpc>
              <a:spcBef>
                <a:spcPts val="600"/>
              </a:spcBef>
              <a:buClrTx/>
              <a:buSzTx/>
              <a:buFont typeface="Arial" panose="02080604020202020204" pitchFamily="34" charset="0"/>
              <a:buChar char="•"/>
            </a:pPr>
            <a:r>
              <a:rPr lang="zh-CN" altLang="en-US" sz="1400" b="1" dirty="0">
                <a:solidFill>
                  <a:srgbClr val="000000"/>
                </a:solidFill>
                <a:latin typeface="宋体" panose="02000500000000000000" pitchFamily="2" charset="-122"/>
              </a:rPr>
              <a:t>增加X86二进制翻译指令，通过二进制翻译流畅运行Windows系统和应用</a:t>
            </a:r>
            <a:endParaRPr lang="zh-CN" altLang="en-US" sz="1400" b="1" dirty="0">
              <a:solidFill>
                <a:srgbClr val="000000"/>
              </a:solidFill>
              <a:latin typeface="宋体" panose="02000500000000000000" pitchFamily="2" charset="-122"/>
            </a:endParaRPr>
          </a:p>
        </p:txBody>
      </p:sp>
      <p:graphicFrame>
        <p:nvGraphicFramePr>
          <p:cNvPr id="10" name="图表 9"/>
          <p:cNvGraphicFramePr/>
          <p:nvPr/>
        </p:nvGraphicFramePr>
        <p:xfrm>
          <a:off x="1202558" y="4293096"/>
          <a:ext cx="5076410" cy="2366104"/>
        </p:xfrm>
        <a:graphic>
          <a:graphicData uri="http://schemas.openxmlformats.org/drawingml/2006/chart">
            <c:chart xmlns:c="http://schemas.openxmlformats.org/drawingml/2006/chart" xmlns:r="http://schemas.openxmlformats.org/officeDocument/2006/relationships" r:id="rId1"/>
          </a:graphicData>
        </a:graphic>
      </p:graphicFrame>
      <p:sp>
        <p:nvSpPr>
          <p:cNvPr id="12" name="椭圆 11"/>
          <p:cNvSpPr/>
          <p:nvPr/>
        </p:nvSpPr>
        <p:spPr>
          <a:xfrm>
            <a:off x="5694363" y="4724400"/>
            <a:ext cx="441325" cy="360363"/>
          </a:xfrm>
          <a:prstGeom prst="ellipse">
            <a:avLst/>
          </a:prstGeom>
          <a:noFill/>
          <a:ln w="38100" cap="flat" cmpd="sng">
            <a:solidFill>
              <a:srgbClr val="FF0000"/>
            </a:solidFill>
            <a:prstDash val="solid"/>
            <a:headEnd type="none" w="med" len="med"/>
            <a:tailEnd type="none" w="med" len="med"/>
          </a:ln>
        </p:spPr>
        <p:txBody>
          <a:bodyPr/>
          <a:p>
            <a:pPr defTabSz="449580"/>
            <a:endParaRPr lang="zh-CN" altLang="en-US" dirty="0">
              <a:latin typeface="Times New Roman" pitchFamily="18" charset="0"/>
            </a:endParaRPr>
          </a:p>
        </p:txBody>
      </p:sp>
      <p:pic>
        <p:nvPicPr>
          <p:cNvPr id="9" name="Picture 2"/>
          <p:cNvPicPr>
            <a:picLocks noChangeAspect="1"/>
          </p:cNvPicPr>
          <p:nvPr/>
        </p:nvPicPr>
        <p:blipFill>
          <a:blip r:embed="rId2"/>
          <a:stretch>
            <a:fillRect/>
          </a:stretch>
        </p:blipFill>
        <p:spPr>
          <a:xfrm>
            <a:off x="6657975" y="4292600"/>
            <a:ext cx="4876800" cy="2413000"/>
          </a:xfrm>
          <a:prstGeom prst="rect">
            <a:avLst/>
          </a:prstGeom>
          <a:noFill/>
          <a:ln w="9525">
            <a:noFill/>
          </a:ln>
        </p:spPr>
      </p:pic>
      <p:sp>
        <p:nvSpPr>
          <p:cNvPr id="8" name="内容占位符 15"/>
          <p:cNvSpPr txBox="1"/>
          <p:nvPr/>
        </p:nvSpPr>
        <p:spPr bwMode="auto">
          <a:xfrm>
            <a:off x="982980" y="3070225"/>
            <a:ext cx="9866313" cy="1079500"/>
          </a:xfrm>
          <a:prstGeom prst="rect">
            <a:avLst/>
          </a:prstGeom>
          <a:solidFill>
            <a:srgbClr val="FFFF00"/>
          </a:solidFill>
          <a:ln w="9525">
            <a:noFill/>
            <a:miter lim="800000"/>
          </a:ln>
        </p:spPr>
        <p:txBody>
          <a:bodyPr lIns="90000" tIns="46800" rIns="90000" bIns="46800"/>
          <a:lstStyle/>
          <a:p>
            <a:pPr marL="342900" marR="0" indent="-342900" algn="ctr" defTabSz="449580" hangingPunct="0">
              <a:lnSpc>
                <a:spcPct val="150000"/>
              </a:lnSpc>
              <a:spcBef>
                <a:spcPts val="600"/>
              </a:spcBef>
              <a:buClrTx/>
              <a:buSzPct val="100000"/>
              <a:buFont typeface="Arial" panose="02080604020202020204" pitchFamily="34" charset="0"/>
              <a:buNone/>
              <a:defRPr/>
            </a:pPr>
            <a:r>
              <a:rPr kumimoji="0" lang="zh-CN" altLang="en-US" sz="4000" b="1" kern="0" cap="none" spc="0" normalizeH="0" baseline="0" noProof="1">
                <a:solidFill>
                  <a:srgbClr val="FF0000"/>
                </a:solidFill>
                <a:latin typeface="宋体" panose="02000500000000000000" pitchFamily="2" charset="-122"/>
                <a:ea typeface="宋体" panose="02000500000000000000" pitchFamily="2" charset="-122"/>
                <a:cs typeface="+mn-cs"/>
              </a:rPr>
              <a:t>通过设计优化达到</a:t>
            </a:r>
            <a:r>
              <a:rPr kumimoji="0" lang="en-US" altLang="zh-CN" sz="4000" b="1" kern="0" cap="none" spc="0" normalizeH="0" baseline="0" noProof="1">
                <a:solidFill>
                  <a:srgbClr val="FF0000"/>
                </a:solidFill>
                <a:latin typeface="宋体" panose="02000500000000000000" pitchFamily="2" charset="-122"/>
                <a:ea typeface="宋体" panose="02000500000000000000" pitchFamily="2" charset="-122"/>
                <a:cs typeface="+mn-cs"/>
              </a:rPr>
              <a:t>X86 7nm</a:t>
            </a:r>
            <a:r>
              <a:rPr kumimoji="0" lang="zh-CN" altLang="en-US" sz="4000" b="1" kern="0" cap="none" spc="0" normalizeH="0" baseline="0" noProof="1">
                <a:solidFill>
                  <a:srgbClr val="FF0000"/>
                </a:solidFill>
                <a:latin typeface="宋体" panose="02000500000000000000" pitchFamily="2" charset="-122"/>
                <a:ea typeface="宋体" panose="02000500000000000000" pitchFamily="2" charset="-122"/>
                <a:cs typeface="+mn-cs"/>
              </a:rPr>
              <a:t>性能</a:t>
            </a:r>
            <a:r>
              <a:rPr kumimoji="0" lang="zh-CN" altLang="en-US" sz="4000" b="1" kern="0" cap="none" spc="0" normalizeH="0" baseline="0" noProof="0" dirty="0">
                <a:solidFill>
                  <a:srgbClr val="FF0000"/>
                </a:solidFill>
                <a:latin typeface="宋体" panose="02000500000000000000" pitchFamily="2" charset="-122"/>
                <a:ea typeface="宋体" panose="02000500000000000000" pitchFamily="2" charset="-122"/>
                <a:cs typeface="+mn-cs"/>
              </a:rPr>
              <a:t>！</a:t>
            </a:r>
            <a:endParaRPr kumimoji="0" lang="zh-CN" altLang="en-US" sz="4000" b="1" kern="0" cap="none" spc="0" normalizeH="0" baseline="0" noProof="0" dirty="0">
              <a:solidFill>
                <a:srgbClr val="FF0000"/>
              </a:solidFill>
              <a:latin typeface="宋体" panose="02000500000000000000" pitchFamily="2" charset="-122"/>
              <a:ea typeface="宋体" panose="02000500000000000000"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charRg st="0" end="43"/>
                                            </p:txEl>
                                          </p:spTgt>
                                        </p:tgtEl>
                                        <p:attrNameLst>
                                          <p:attrName>style.visibility</p:attrName>
                                        </p:attrNameLst>
                                      </p:cBhvr>
                                      <p:to>
                                        <p:strVal val="visible"/>
                                      </p:to>
                                    </p:set>
                                    <p:anim calcmode="lin" valueType="num">
                                      <p:cBhvr additive="base">
                                        <p:cTn id="7" dur="500" fill="hold"/>
                                        <p:tgtEl>
                                          <p:spTgt spid="6">
                                            <p:txEl>
                                              <p:charRg st="0" end="4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charRg st="0" end="43"/>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xEl>
                                              <p:charRg st="43" end="111"/>
                                            </p:txEl>
                                          </p:spTgt>
                                        </p:tgtEl>
                                        <p:attrNameLst>
                                          <p:attrName>style.visibility</p:attrName>
                                        </p:attrNameLst>
                                      </p:cBhvr>
                                      <p:to>
                                        <p:strVal val="visible"/>
                                      </p:to>
                                    </p:set>
                                    <p:anim calcmode="lin" valueType="num">
                                      <p:cBhvr additive="base">
                                        <p:cTn id="11" dur="500" fill="hold"/>
                                        <p:tgtEl>
                                          <p:spTgt spid="6">
                                            <p:txEl>
                                              <p:charRg st="43" end="1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charRg st="43" end="11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xEl>
                                              <p:charRg st="111" end="160"/>
                                            </p:txEl>
                                          </p:spTgt>
                                        </p:tgtEl>
                                        <p:attrNameLst>
                                          <p:attrName>style.visibility</p:attrName>
                                        </p:attrNameLst>
                                      </p:cBhvr>
                                      <p:to>
                                        <p:strVal val="visible"/>
                                      </p:to>
                                    </p:set>
                                    <p:anim calcmode="lin" valueType="num">
                                      <p:cBhvr additive="base">
                                        <p:cTn id="15" dur="500" fill="hold"/>
                                        <p:tgtEl>
                                          <p:spTgt spid="6">
                                            <p:txEl>
                                              <p:charRg st="111" end="16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charRg st="111" end="160"/>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xEl>
                                              <p:charRg st="160" end="210"/>
                                            </p:txEl>
                                          </p:spTgt>
                                        </p:tgtEl>
                                        <p:attrNameLst>
                                          <p:attrName>style.visibility</p:attrName>
                                        </p:attrNameLst>
                                      </p:cBhvr>
                                      <p:to>
                                        <p:strVal val="visible"/>
                                      </p:to>
                                    </p:set>
                                    <p:anim calcmode="lin" valueType="num">
                                      <p:cBhvr additive="base">
                                        <p:cTn id="19" dur="500" fill="hold"/>
                                        <p:tgtEl>
                                          <p:spTgt spid="6">
                                            <p:txEl>
                                              <p:charRg st="160" end="2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charRg st="160" end="21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charRg st="210" end="222"/>
                                            </p:txEl>
                                          </p:spTgt>
                                        </p:tgtEl>
                                        <p:attrNameLst>
                                          <p:attrName>style.visibility</p:attrName>
                                        </p:attrNameLst>
                                      </p:cBhvr>
                                      <p:to>
                                        <p:strVal val="visible"/>
                                      </p:to>
                                    </p:set>
                                    <p:anim calcmode="lin" valueType="num">
                                      <p:cBhvr additive="base">
                                        <p:cTn id="25" dur="500" fill="hold"/>
                                        <p:tgtEl>
                                          <p:spTgt spid="6">
                                            <p:txEl>
                                              <p:charRg st="210" end="22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charRg st="210" end="22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
                                            <p:txEl>
                                              <p:charRg st="222" end="259"/>
                                            </p:txEl>
                                          </p:spTgt>
                                        </p:tgtEl>
                                        <p:attrNameLst>
                                          <p:attrName>style.visibility</p:attrName>
                                        </p:attrNameLst>
                                      </p:cBhvr>
                                      <p:to>
                                        <p:strVal val="visible"/>
                                      </p:to>
                                    </p:set>
                                    <p:anim calcmode="lin" valueType="num">
                                      <p:cBhvr additive="base">
                                        <p:cTn id="29" dur="500" fill="hold"/>
                                        <p:tgtEl>
                                          <p:spTgt spid="6">
                                            <p:txEl>
                                              <p:charRg st="222" end="25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charRg st="222" end="259"/>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down)">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1" fill="hold" grpId="0" nodeType="click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additive="base">
                                        <p:cTn id="46" dur="500" fill="hold"/>
                                        <p:tgtEl>
                                          <p:spTgt spid="8"/>
                                        </p:tgtEl>
                                        <p:attrNameLst>
                                          <p:attrName>ppt_x</p:attrName>
                                        </p:attrNameLst>
                                      </p:cBhvr>
                                      <p:tavLst>
                                        <p:tav tm="0">
                                          <p:val>
                                            <p:strVal val="#ppt_x"/>
                                          </p:val>
                                        </p:tav>
                                        <p:tav tm="100000">
                                          <p:val>
                                            <p:strVal val="#ppt_x"/>
                                          </p:val>
                                        </p:tav>
                                      </p:tavLst>
                                    </p:anim>
                                    <p:anim calcmode="lin" valueType="num">
                                      <p:cBhvr additive="base">
                                        <p:cTn id="47"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1" fill="hold" grpId="0" nodeType="clickEffect">
                                  <p:stCondLst>
                                    <p:cond delay="0"/>
                                  </p:stCondLst>
                                  <p:childTnLst>
                                    <p:set>
                                      <p:cBhvr>
                                        <p:cTn id="51" dur="1" fill="hold">
                                          <p:stCondLst>
                                            <p:cond delay="0"/>
                                          </p:stCondLst>
                                        </p:cTn>
                                        <p:tgtEl>
                                          <p:spTgt spid="8">
                                            <p:txEl>
                                              <p:charRg st="0" end="19"/>
                                            </p:txEl>
                                          </p:spTgt>
                                        </p:tgtEl>
                                        <p:attrNameLst>
                                          <p:attrName>style.visibility</p:attrName>
                                        </p:attrNameLst>
                                      </p:cBhvr>
                                      <p:to>
                                        <p:strVal val="visible"/>
                                      </p:to>
                                    </p:set>
                                    <p:anim calcmode="lin" valueType="num">
                                      <p:cBhvr additive="base">
                                        <p:cTn id="52" dur="500" fill="hold"/>
                                        <p:tgtEl>
                                          <p:spTgt spid="8">
                                            <p:txEl>
                                              <p:charRg st="0" end="19"/>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8">
                                            <p:txEl>
                                              <p:charRg st="0" end="19"/>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OleChart spid="10" grpId="0"/>
      <p:bldP spid="12" grpId="0" animBg="1"/>
      <p:bldP spid="8" grpId="0" animBg="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a:xfrm>
            <a:off x="896938" y="34925"/>
            <a:ext cx="10358437" cy="1054100"/>
          </a:xfrm>
        </p:spPr>
        <p:txBody>
          <a:bodyPr vert="horz" wrap="square" lIns="90000" tIns="46800" rIns="90000" bIns="46800" anchor="ctr" anchorCtr="0"/>
          <a:p>
            <a:r>
              <a:rPr lang="zh-CN" altLang="en-US" dirty="0"/>
              <a:t>龙芯</a:t>
            </a:r>
            <a:r>
              <a:rPr lang="en-US" altLang="zh-CN" dirty="0"/>
              <a:t>CPU</a:t>
            </a:r>
            <a:r>
              <a:rPr lang="zh-CN" altLang="en-US" dirty="0"/>
              <a:t>的</a:t>
            </a:r>
            <a:r>
              <a:rPr lang="en-US" altLang="zh-CN" dirty="0"/>
              <a:t>SPEC CPU2006</a:t>
            </a:r>
            <a:r>
              <a:rPr lang="zh-CN" altLang="en-US" dirty="0"/>
              <a:t>性能</a:t>
            </a:r>
            <a:endParaRPr lang="zh-CN" altLang="en-US" dirty="0"/>
          </a:p>
        </p:txBody>
      </p:sp>
      <p:sp>
        <p:nvSpPr>
          <p:cNvPr id="6" name="内容占位符 2"/>
          <p:cNvSpPr txBox="1"/>
          <p:nvPr/>
        </p:nvSpPr>
        <p:spPr bwMode="auto">
          <a:xfrm>
            <a:off x="720725" y="1125538"/>
            <a:ext cx="10283825" cy="1727200"/>
          </a:xfrm>
          <a:prstGeom prst="rect">
            <a:avLst/>
          </a:prstGeom>
          <a:noFill/>
          <a:ln w="9525">
            <a:noFill/>
            <a:round/>
          </a:ln>
        </p:spPr>
        <p:txBody>
          <a:bodyPr lIns="90000" tIns="46800" rIns="90000" bIns="46800"/>
          <a:lstStyle/>
          <a:p>
            <a:pPr marL="342900" marR="0" indent="-342900" defTabSz="265430" eaLnBrk="0" hangingPunct="0">
              <a:lnSpc>
                <a:spcPct val="150000"/>
              </a:lnSpc>
              <a:buClr>
                <a:srgbClr val="000000"/>
              </a:buClr>
              <a:buSzPct val="100000"/>
              <a:buFont typeface="Arial" panose="02080604020202020204" pitchFamily="34" charset="0"/>
              <a:buChar char="•"/>
              <a:defRPr/>
            </a:pPr>
            <a:r>
              <a:rPr kumimoji="0" lang="zh-CN" altLang="en-US" sz="2000" b="1" kern="1200" cap="none" spc="0" normalizeH="0" baseline="0" noProof="0" dirty="0">
                <a:solidFill>
                  <a:schemeClr val="tx1"/>
                </a:solidFill>
                <a:latin typeface="宋体" panose="02000500000000000000" pitchFamily="2" charset="-122"/>
                <a:ea typeface="宋体" panose="02000500000000000000" pitchFamily="2" charset="-122"/>
                <a:cs typeface="宋体" panose="02000500000000000000" pitchFamily="2" charset="-122"/>
              </a:rPr>
              <a:t>测试运算性能和访存带宽</a:t>
            </a:r>
            <a:endParaRPr kumimoji="0" lang="en-US" altLang="zh-CN" sz="2000" b="1" kern="1200" cap="none" spc="0" normalizeH="0" baseline="0" noProof="0" dirty="0">
              <a:solidFill>
                <a:schemeClr val="tx1"/>
              </a:solidFill>
              <a:latin typeface="宋体" panose="02000500000000000000" pitchFamily="2" charset="-122"/>
              <a:ea typeface="宋体" panose="02000500000000000000" pitchFamily="2" charset="-122"/>
              <a:cs typeface="宋体" panose="02000500000000000000" pitchFamily="2" charset="-122"/>
            </a:endParaRPr>
          </a:p>
          <a:p>
            <a:pPr marL="1085850" marR="0" lvl="1" indent="-342900" algn="l" defTabSz="265430" rtl="0" eaLnBrk="0" fontAlgn="base" latinLnBrk="0" hangingPunct="0">
              <a:lnSpc>
                <a:spcPct val="150000"/>
              </a:lnSpc>
              <a:spcBef>
                <a:spcPct val="0"/>
              </a:spcBef>
              <a:spcAft>
                <a:spcPct val="0"/>
              </a:spcAft>
              <a:buClr>
                <a:srgbClr val="000000"/>
              </a:buClr>
              <a:buSzPct val="100000"/>
              <a:buFont typeface="Arial" panose="02080604020202020204" pitchFamily="34" charset="0"/>
              <a:buChar char="•"/>
              <a:defRPr/>
            </a:pPr>
            <a:r>
              <a:rPr kumimoji="0" lang="en-US" altLang="zh-CN"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SPEC INT2006</a:t>
            </a:r>
            <a:r>
              <a:rPr kumimoji="0"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测试定点运算性能，</a:t>
            </a:r>
            <a:r>
              <a:rPr kumimoji="0" lang="en-US" altLang="zh-CN"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SPEC FP2006</a:t>
            </a:r>
            <a:r>
              <a:rPr kumimoji="0"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测试浮点运算性能（</a:t>
            </a:r>
            <a:r>
              <a:rPr kumimoji="0" lang="en-US" altLang="zh-CN"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3A1000-3A4000</a:t>
            </a:r>
            <a:r>
              <a:rPr kumimoji="0"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为</a:t>
            </a:r>
            <a:r>
              <a:rPr kumimoji="0" lang="en-US" altLang="zh-CN"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peak</a:t>
            </a:r>
            <a:r>
              <a:rPr kumimoji="0"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分值，</a:t>
            </a:r>
            <a:r>
              <a:rPr kumimoji="0" lang="en-US" altLang="zh-CN"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3A5000-3A6000</a:t>
            </a:r>
            <a:r>
              <a:rPr kumimoji="0"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为</a:t>
            </a:r>
            <a:r>
              <a:rPr kumimoji="0" lang="en-US" altLang="zh-CN"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base</a:t>
            </a:r>
            <a:r>
              <a:rPr kumimoji="0"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分值）</a:t>
            </a:r>
            <a:endParaRPr kumimoji="0" lang="en-US" altLang="zh-CN"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1085850" marR="0" lvl="1" indent="-342900" algn="l" defTabSz="265430" rtl="0" eaLnBrk="0" fontAlgn="base" latinLnBrk="0" hangingPunct="0">
              <a:lnSpc>
                <a:spcPct val="150000"/>
              </a:lnSpc>
              <a:spcBef>
                <a:spcPct val="0"/>
              </a:spcBef>
              <a:spcAft>
                <a:spcPct val="0"/>
              </a:spcAft>
              <a:buClr>
                <a:srgbClr val="000000"/>
              </a:buClr>
              <a:buSzPct val="100000"/>
              <a:buFont typeface="Arial" panose="02080604020202020204" pitchFamily="34" charset="0"/>
              <a:buChar char="•"/>
              <a:defRPr/>
            </a:pPr>
            <a:r>
              <a:rPr kumimoji="0" lang="en-US" altLang="zh-CN"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STREAM</a:t>
            </a:r>
            <a:r>
              <a:rPr kumimoji="0"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测试访存带宽</a:t>
            </a:r>
            <a:endParaRPr kumimoji="0"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graphicFrame>
        <p:nvGraphicFramePr>
          <p:cNvPr id="3" name="内容占位符 2"/>
          <p:cNvGraphicFramePr>
            <a:graphicFrameLocks noGrp="1"/>
          </p:cNvGraphicFramePr>
          <p:nvPr>
            <p:ph idx="4294967295"/>
          </p:nvPr>
        </p:nvGraphicFramePr>
        <p:xfrm>
          <a:off x="914400" y="3352800"/>
          <a:ext cx="10358492" cy="3057528"/>
        </p:xfrm>
        <a:graphic>
          <a:graphicData uri="http://schemas.openxmlformats.org/drawingml/2006/table">
            <a:tbl>
              <a:tblPr/>
              <a:tblGrid>
                <a:gridCol w="2436668"/>
                <a:gridCol w="1292601"/>
                <a:gridCol w="1274919"/>
                <a:gridCol w="1377477"/>
                <a:gridCol w="1267846"/>
                <a:gridCol w="1274918"/>
                <a:gridCol w="1434063"/>
              </a:tblGrid>
              <a:tr h="290513">
                <a:tc rowSpan="2">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endPar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gridSpan="3">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单核性能</a:t>
                      </a:r>
                      <a:endPar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hMerge="1">
                  <a:tcPr/>
                </a:tc>
                <a:tc hMerge="1">
                  <a:tcPr/>
                </a:tc>
                <a:tc gridSpan="3">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四核性能</a:t>
                      </a:r>
                      <a:endPar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hMerge="1">
                  <a:tcPr/>
                </a:tc>
                <a:tc hMerge="1">
                  <a:tcPr/>
                </a:tc>
              </a:tr>
              <a:tr h="438150">
                <a:tc vMerge="1">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SPEC INT2006</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SPEC FP2006</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STREAM</a:t>
                      </a:r>
                      <a:r>
                        <a:rPr kumimoji="0" lang="en-US"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 Copy</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GB</a:t>
                      </a:r>
                      <a:r>
                        <a:rPr kumimoji="0" lang="en-US"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SPEC INT2006</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SPEC FP2006</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STREAM</a:t>
                      </a:r>
                      <a:r>
                        <a:rPr kumimoji="0" lang="en-US"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 Copy</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GB</a:t>
                      </a:r>
                      <a:r>
                        <a:rPr kumimoji="0" lang="en-US"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92100">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LS 3A1000</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,1.0GHz</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endPar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2.7</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0.30</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9.0</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7.7</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0.71</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0513">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LS 3A2000</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,1.0GHz</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endPar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6.9</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6.3</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6.1</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22.5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22.2</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9.7</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0513">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LS 3A3000</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,1.5GHz</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11.1</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10.1</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8.8</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36.2</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32.9</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13.2</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r>
              <a:tr h="290513">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LS 3A</a:t>
                      </a:r>
                      <a:r>
                        <a:rPr kumimoji="0" lang="en-US"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4</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000</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r>
                        <a:rPr kumimoji="0" lang="en-US"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2.0</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GHz</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endPar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21.1</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21.2</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12.8</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61.7</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58.1</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19.1</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2100">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LS 3A</a:t>
                      </a:r>
                      <a:r>
                        <a:rPr kumimoji="0" lang="en-US"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5</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000</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r>
                        <a:rPr kumimoji="0" lang="en-US"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2.5</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GHz</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endPar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a:t>
                      </a: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6.9</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28.9</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16.5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79.4</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78.7</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22.3</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r>
              <a:tr h="290513">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LS 3A6000</a:t>
                      </a:r>
                      <a:r>
                        <a:rPr kumimoji="0" lang="zh-CN"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,2.5GHz</a:t>
                      </a:r>
                      <a:r>
                        <a:rPr kumimoji="0" lang="zh-CN"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endPar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43.1</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54.5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32.2</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155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140</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42.5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VIA C-4600</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,2.0GHz</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10.8</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9.8</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4.5</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27.5</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23.2</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3.3</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AMD K10</a:t>
                      </a:r>
                      <a:r>
                        <a:rPr kumimoji="0" lang="en-US"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  </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,1.5GHz</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11.3</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11.3</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4.5</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36.6</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34.0</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6.0</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882650" y="2924175"/>
            <a:ext cx="10358438" cy="1054100"/>
          </a:xfrm>
        </p:spPr>
        <p:txBody>
          <a:bodyPr vert="horz" wrap="square" lIns="90000" tIns="46800" rIns="90000" bIns="46800" anchor="ctr" anchorCtr="0"/>
          <a:p>
            <a:pPr eaLnBrk="1" hangingPunct="1"/>
            <a:r>
              <a:rPr lang="zh-CN" altLang="en-GB" dirty="0"/>
              <a:t>硅是检验设计的唯一标准</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26627" name="Rectangle 1"/>
          <p:cNvSpPr/>
          <p:nvPr>
            <p:ph type="title"/>
          </p:nvPr>
        </p:nvSpPr>
        <p:spPr>
          <a:xfrm>
            <a:off x="896938" y="63500"/>
            <a:ext cx="10364787"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t>硅是检验结构设计的唯一标准</a:t>
            </a:r>
            <a:endParaRPr lang="zh-CN" altLang="en-GB" dirty="0"/>
          </a:p>
        </p:txBody>
      </p:sp>
      <p:sp>
        <p:nvSpPr>
          <p:cNvPr id="26628" name="Rectangle 2"/>
          <p:cNvSpPr/>
          <p:nvPr>
            <p:ph idx="1"/>
          </p:nvPr>
        </p:nvSpPr>
        <p:spPr>
          <a:xfrm>
            <a:off x="239713" y="1168400"/>
            <a:ext cx="11582400" cy="5451475"/>
          </a:xfrm>
        </p:spPr>
        <p:txBody>
          <a:bodyPr vert="horz" wrap="square" lIns="90000" tIns="46800" rIns="90000" bIns="46800" anchor="t" anchorCtr="0"/>
          <a:p>
            <a:pPr defTabSz="265430" eaLnBrk="1" hangingPunct="1">
              <a:spcBef>
                <a:spcPts val="6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2000" dirty="0">
                <a:cs typeface="宋体" panose="02000500000000000000" pitchFamily="2" charset="-122"/>
              </a:rPr>
              <a:t>模拟器是处理器结构设计的重要平台</a:t>
            </a:r>
            <a:endParaRPr lang="zh-CN" altLang="en-GB" sz="2000" dirty="0">
              <a:cs typeface="宋体" panose="02000500000000000000" pitchFamily="2" charset="-122"/>
            </a:endParaRPr>
          </a:p>
          <a:p>
            <a:pPr lvl="1" defTabSz="265430" eaLnBrk="1" hangingPunct="1">
              <a:spcBef>
                <a:spcPts val="6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龙芯</a:t>
            </a:r>
            <a:r>
              <a:rPr lang="en-GB" altLang="zh-CN" sz="1600" dirty="0">
                <a:cs typeface="宋体" panose="02000500000000000000" pitchFamily="2" charset="-122"/>
              </a:rPr>
              <a:t>1</a:t>
            </a:r>
            <a:r>
              <a:rPr lang="zh-CN" altLang="en-GB" sz="1600" dirty="0">
                <a:cs typeface="宋体" panose="02000500000000000000" pitchFamily="2" charset="-122"/>
              </a:rPr>
              <a:t>号和龙芯</a:t>
            </a:r>
            <a:r>
              <a:rPr lang="en-GB" altLang="zh-CN" sz="1600" dirty="0">
                <a:cs typeface="宋体" panose="02000500000000000000" pitchFamily="2" charset="-122"/>
              </a:rPr>
              <a:t>2</a:t>
            </a:r>
            <a:r>
              <a:rPr lang="zh-CN" altLang="en-GB" sz="1600" dirty="0">
                <a:cs typeface="宋体" panose="02000500000000000000" pitchFamily="2" charset="-122"/>
              </a:rPr>
              <a:t>号采用“可执行”的结构设计的理念，以模拟器作为结构设计的文挡</a:t>
            </a:r>
            <a:endParaRPr lang="zh-CN" altLang="en-GB" sz="1600" dirty="0">
              <a:cs typeface="宋体" panose="02000500000000000000" pitchFamily="2" charset="-122"/>
            </a:endParaRPr>
          </a:p>
          <a:p>
            <a:pPr defTabSz="265430" eaLnBrk="1" hangingPunct="1">
              <a:spcBef>
                <a:spcPts val="6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en-GB" altLang="zh-CN" sz="2000" dirty="0">
                <a:cs typeface="宋体" panose="02000500000000000000" pitchFamily="2" charset="-122"/>
              </a:rPr>
              <a:t>FPGA</a:t>
            </a:r>
            <a:r>
              <a:rPr lang="zh-CN" altLang="en-GB" sz="2000" dirty="0">
                <a:cs typeface="宋体" panose="02000500000000000000" pitchFamily="2" charset="-122"/>
              </a:rPr>
              <a:t>验证是龙芯流片前的支柱性验证平台</a:t>
            </a:r>
            <a:endParaRPr lang="zh-CN" altLang="en-GB" sz="2000" dirty="0">
              <a:cs typeface="宋体" panose="02000500000000000000" pitchFamily="2" charset="-122"/>
            </a:endParaRPr>
          </a:p>
          <a:p>
            <a:pPr lvl="1" defTabSz="265430" eaLnBrk="1" hangingPunct="1">
              <a:spcBef>
                <a:spcPts val="6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可以在真实的主板上运行，因而更加准确</a:t>
            </a:r>
            <a:endParaRPr lang="zh-CN" altLang="en-GB" sz="1600" dirty="0">
              <a:cs typeface="宋体" panose="02000500000000000000" pitchFamily="2" charset="-122"/>
            </a:endParaRPr>
          </a:p>
          <a:p>
            <a:pPr defTabSz="265430" eaLnBrk="1" hangingPunct="1">
              <a:spcBef>
                <a:spcPts val="6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2000" dirty="0">
                <a:cs typeface="宋体" panose="02000500000000000000" pitchFamily="2" charset="-122"/>
              </a:rPr>
              <a:t>模拟器和</a:t>
            </a:r>
            <a:r>
              <a:rPr lang="en-GB" altLang="zh-CN" sz="2000" dirty="0">
                <a:cs typeface="宋体" panose="02000500000000000000" pitchFamily="2" charset="-122"/>
              </a:rPr>
              <a:t>FPGA</a:t>
            </a:r>
            <a:r>
              <a:rPr lang="zh-CN" altLang="en-GB" sz="2000" dirty="0">
                <a:cs typeface="宋体" panose="02000500000000000000" pitchFamily="2" charset="-122"/>
              </a:rPr>
              <a:t>在性能分析方面的欺骗性</a:t>
            </a:r>
            <a:endParaRPr lang="zh-CN" altLang="en-GB" sz="2000" dirty="0">
              <a:cs typeface="宋体" panose="02000500000000000000" pitchFamily="2" charset="-122"/>
            </a:endParaRPr>
          </a:p>
          <a:p>
            <a:pPr lvl="1" defTabSz="265430" eaLnBrk="1" hangingPunct="1">
              <a:spcBef>
                <a:spcPts val="6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影响性能的结构参数相当复杂，模拟和仿真一般集中在几个“重要”参数</a:t>
            </a:r>
            <a:endParaRPr lang="zh-CN" altLang="en-GB" sz="1600" dirty="0">
              <a:cs typeface="宋体" panose="02000500000000000000" pitchFamily="2" charset="-122"/>
            </a:endParaRPr>
          </a:p>
          <a:p>
            <a:pPr lvl="1" defTabSz="265430" eaLnBrk="1" hangingPunct="1">
              <a:spcBef>
                <a:spcPts val="6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设计人员的经验不足导致参数的设置不准确</a:t>
            </a:r>
            <a:endParaRPr lang="zh-CN" altLang="en-GB" sz="1600" dirty="0">
              <a:cs typeface="宋体" panose="02000500000000000000" pitchFamily="2" charset="-122"/>
            </a:endParaRPr>
          </a:p>
          <a:p>
            <a:pPr lvl="1" defTabSz="265430" eaLnBrk="1" hangingPunct="1">
              <a:spcBef>
                <a:spcPts val="6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设计人员的良好愿望导致倾向性，忽略对自己不利的因素，挖掘对自己有利的因素</a:t>
            </a:r>
            <a:endParaRPr lang="zh-CN" altLang="en-GB" sz="1600" dirty="0">
              <a:cs typeface="宋体" panose="02000500000000000000" pitchFamily="2" charset="-122"/>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27651" name="Rectangle 1"/>
          <p:cNvSpPr/>
          <p:nvPr>
            <p:ph type="title"/>
          </p:nvPr>
        </p:nvSpPr>
        <p:spPr>
          <a:xfrm>
            <a:off x="896938" y="41275"/>
            <a:ext cx="10364787" cy="1068388"/>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sz="3600" dirty="0"/>
              <a:t>故事</a:t>
            </a:r>
            <a:r>
              <a:rPr lang="en-GB" altLang="zh-CN" sz="3600" dirty="0"/>
              <a:t>1</a:t>
            </a:r>
            <a:r>
              <a:rPr lang="zh-CN" altLang="en-GB" sz="3600" dirty="0"/>
              <a:t>：模拟器和硅的校准</a:t>
            </a:r>
            <a:endParaRPr lang="en-GB" altLang="zh-CN" sz="3600" dirty="0"/>
          </a:p>
        </p:txBody>
      </p:sp>
      <p:sp>
        <p:nvSpPr>
          <p:cNvPr id="27652" name="Rectangle 2"/>
          <p:cNvSpPr/>
          <p:nvPr>
            <p:ph idx="1"/>
          </p:nvPr>
        </p:nvSpPr>
        <p:spPr>
          <a:xfrm>
            <a:off x="561975" y="1089025"/>
            <a:ext cx="11190288" cy="3509963"/>
          </a:xfrm>
        </p:spPr>
        <p:txBody>
          <a:bodyPr vert="horz" wrap="square" lIns="90000" tIns="46800" rIns="90000" bIns="46800" anchor="t" anchorCtr="0"/>
          <a:p>
            <a:pPr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1800" dirty="0">
                <a:cs typeface="宋体" panose="02000500000000000000" pitchFamily="2" charset="-122"/>
              </a:rPr>
              <a:t>龙芯</a:t>
            </a:r>
            <a:r>
              <a:rPr lang="en-GB" altLang="zh-CN" sz="1800" dirty="0">
                <a:cs typeface="宋体" panose="02000500000000000000" pitchFamily="2" charset="-122"/>
              </a:rPr>
              <a:t>1</a:t>
            </a:r>
            <a:r>
              <a:rPr lang="zh-CN" altLang="en-GB" sz="1800" dirty="0">
                <a:cs typeface="宋体" panose="02000500000000000000" pitchFamily="2" charset="-122"/>
              </a:rPr>
              <a:t>号</a:t>
            </a:r>
            <a:r>
              <a:rPr lang="en-GB" altLang="zh-CN" sz="1800" dirty="0">
                <a:cs typeface="宋体" panose="02000500000000000000" pitchFamily="2" charset="-122"/>
              </a:rPr>
              <a:t>FPGA</a:t>
            </a:r>
            <a:r>
              <a:rPr lang="zh-CN" altLang="en-GB" sz="1800" dirty="0">
                <a:cs typeface="宋体" panose="02000500000000000000" pitchFamily="2" charset="-122"/>
              </a:rPr>
              <a:t>性能可比</a:t>
            </a:r>
            <a:r>
              <a:rPr lang="en-GB" altLang="zh-CN" sz="1800" dirty="0">
                <a:cs typeface="宋体" panose="02000500000000000000" pitchFamily="2" charset="-122"/>
              </a:rPr>
              <a:t>50MHz</a:t>
            </a:r>
            <a:r>
              <a:rPr lang="zh-CN" altLang="en-GB" sz="1800" dirty="0">
                <a:cs typeface="宋体" panose="02000500000000000000" pitchFamily="2" charset="-122"/>
              </a:rPr>
              <a:t>的</a:t>
            </a:r>
            <a:r>
              <a:rPr lang="en-GB" altLang="zh-CN" sz="1800" dirty="0">
                <a:cs typeface="宋体" panose="02000500000000000000" pitchFamily="2" charset="-122"/>
              </a:rPr>
              <a:t>Intel 486</a:t>
            </a:r>
            <a:endParaRPr lang="en-GB" altLang="zh-CN" sz="1800" dirty="0">
              <a:cs typeface="宋体" panose="02000500000000000000" pitchFamily="2" charset="-122"/>
            </a:endParaRPr>
          </a:p>
          <a:p>
            <a:pPr lvl="1"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1600" dirty="0">
                <a:cs typeface="宋体" panose="02000500000000000000" pitchFamily="2" charset="-122"/>
              </a:rPr>
              <a:t>预期</a:t>
            </a:r>
            <a:r>
              <a:rPr lang="en-GB" altLang="zh-CN" sz="1600" dirty="0">
                <a:cs typeface="宋体" panose="02000500000000000000" pitchFamily="2" charset="-122"/>
              </a:rPr>
              <a:t>200MHz</a:t>
            </a:r>
            <a:r>
              <a:rPr lang="zh-CN" altLang="en-GB" sz="1600" dirty="0">
                <a:cs typeface="宋体" panose="02000500000000000000" pitchFamily="2" charset="-122"/>
              </a:rPr>
              <a:t>的龙芯</a:t>
            </a:r>
            <a:r>
              <a:rPr lang="en-GB" altLang="zh-CN" sz="1600" dirty="0">
                <a:cs typeface="宋体" panose="02000500000000000000" pitchFamily="2" charset="-122"/>
              </a:rPr>
              <a:t>1</a:t>
            </a:r>
            <a:r>
              <a:rPr lang="zh-CN" altLang="en-GB" sz="1600" dirty="0">
                <a:cs typeface="宋体" panose="02000500000000000000" pitchFamily="2" charset="-122"/>
              </a:rPr>
              <a:t>号性能可比</a:t>
            </a:r>
            <a:r>
              <a:rPr lang="en-GB" altLang="zh-CN" sz="1600" dirty="0">
                <a:cs typeface="宋体" panose="02000500000000000000" pitchFamily="2" charset="-122"/>
              </a:rPr>
              <a:t>200MHz</a:t>
            </a:r>
            <a:r>
              <a:rPr lang="zh-CN" altLang="en-GB" sz="1600" dirty="0">
                <a:cs typeface="宋体" panose="02000500000000000000" pitchFamily="2" charset="-122"/>
              </a:rPr>
              <a:t>的</a:t>
            </a:r>
            <a:r>
              <a:rPr lang="en-GB" altLang="zh-CN" sz="1600" dirty="0">
                <a:cs typeface="宋体" panose="02000500000000000000" pitchFamily="2" charset="-122"/>
              </a:rPr>
              <a:t>P2</a:t>
            </a:r>
            <a:endParaRPr lang="en-GB" altLang="zh-CN" sz="1600" dirty="0">
              <a:cs typeface="宋体" panose="02000500000000000000" pitchFamily="2" charset="-122"/>
            </a:endParaRPr>
          </a:p>
          <a:p>
            <a:pPr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en-GB" altLang="zh-CN" sz="1800" dirty="0">
                <a:cs typeface="宋体" panose="02000500000000000000" pitchFamily="2" charset="-122"/>
              </a:rPr>
              <a:t>500MHz</a:t>
            </a:r>
            <a:r>
              <a:rPr lang="zh-CN" altLang="en-GB" sz="1800" dirty="0">
                <a:cs typeface="宋体" panose="02000500000000000000" pitchFamily="2" charset="-122"/>
              </a:rPr>
              <a:t>龙芯</a:t>
            </a:r>
            <a:r>
              <a:rPr lang="en-GB" altLang="zh-CN" sz="1800" dirty="0">
                <a:cs typeface="宋体" panose="02000500000000000000" pitchFamily="2" charset="-122"/>
              </a:rPr>
              <a:t>2C</a:t>
            </a:r>
            <a:r>
              <a:rPr lang="zh-CN" altLang="en-GB" sz="1800" dirty="0">
                <a:cs typeface="宋体" panose="02000500000000000000" pitchFamily="2" charset="-122"/>
              </a:rPr>
              <a:t>的性能预期为</a:t>
            </a:r>
            <a:r>
              <a:rPr lang="en-GB" altLang="zh-CN" sz="1800" dirty="0">
                <a:cs typeface="宋体" panose="02000500000000000000" pitchFamily="2" charset="-122"/>
              </a:rPr>
              <a:t>1GHz</a:t>
            </a:r>
            <a:r>
              <a:rPr lang="zh-CN" altLang="en-GB" sz="1800" dirty="0">
                <a:cs typeface="宋体" panose="02000500000000000000" pitchFamily="2" charset="-122"/>
              </a:rPr>
              <a:t>的</a:t>
            </a:r>
            <a:r>
              <a:rPr lang="en-GB" altLang="zh-CN" sz="1800" dirty="0">
                <a:cs typeface="宋体" panose="02000500000000000000" pitchFamily="2" charset="-122"/>
              </a:rPr>
              <a:t>P3</a:t>
            </a:r>
            <a:endParaRPr lang="en-GB" altLang="zh-CN" sz="1800" dirty="0">
              <a:cs typeface="宋体" panose="02000500000000000000" pitchFamily="2" charset="-122"/>
            </a:endParaRPr>
          </a:p>
          <a:p>
            <a:pPr lvl="1"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en-GB" altLang="zh-CN" sz="1600" dirty="0">
                <a:cs typeface="宋体" panose="02000500000000000000" pitchFamily="2" charset="-122"/>
              </a:rPr>
              <a:t>500MHz</a:t>
            </a:r>
            <a:r>
              <a:rPr lang="zh-CN" altLang="en-GB" sz="1600" dirty="0">
                <a:cs typeface="宋体" panose="02000500000000000000" pitchFamily="2" charset="-122"/>
              </a:rPr>
              <a:t>的</a:t>
            </a:r>
            <a:r>
              <a:rPr lang="en-GB" altLang="zh-CN" sz="1600" dirty="0">
                <a:cs typeface="宋体" panose="02000500000000000000" pitchFamily="2" charset="-122"/>
              </a:rPr>
              <a:t>MIPS R10000</a:t>
            </a:r>
            <a:r>
              <a:rPr lang="zh-CN" altLang="en-GB" sz="1600" dirty="0">
                <a:cs typeface="宋体" panose="02000500000000000000" pitchFamily="2" charset="-122"/>
              </a:rPr>
              <a:t>和</a:t>
            </a:r>
            <a:r>
              <a:rPr lang="en-GB" altLang="zh-CN" sz="1600" dirty="0">
                <a:cs typeface="宋体" panose="02000500000000000000" pitchFamily="2" charset="-122"/>
              </a:rPr>
              <a:t>Alpha 21264</a:t>
            </a:r>
            <a:r>
              <a:rPr lang="zh-CN" altLang="en-GB" sz="1600" dirty="0">
                <a:cs typeface="宋体" panose="02000500000000000000" pitchFamily="2" charset="-122"/>
              </a:rPr>
              <a:t>能够达到</a:t>
            </a:r>
            <a:endParaRPr lang="zh-CN" altLang="en-GB" sz="1600" dirty="0">
              <a:cs typeface="宋体" panose="02000500000000000000" pitchFamily="2" charset="-122"/>
            </a:endParaRPr>
          </a:p>
          <a:p>
            <a:pPr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1800" dirty="0">
                <a:cs typeface="宋体" panose="02000500000000000000" pitchFamily="2" charset="-122"/>
              </a:rPr>
              <a:t>实际都比预期的性能低</a:t>
            </a:r>
            <a:r>
              <a:rPr lang="en-GB" altLang="zh-CN" sz="1800" dirty="0">
                <a:cs typeface="宋体" panose="02000500000000000000" pitchFamily="2" charset="-122"/>
              </a:rPr>
              <a:t>1</a:t>
            </a:r>
            <a:r>
              <a:rPr lang="zh-CN" altLang="en-GB" sz="1800" dirty="0">
                <a:cs typeface="宋体" panose="02000500000000000000" pitchFamily="2" charset="-122"/>
              </a:rPr>
              <a:t>倍</a:t>
            </a:r>
            <a:endParaRPr lang="zh-CN" altLang="en-GB" sz="1800" dirty="0">
              <a:cs typeface="宋体" panose="02000500000000000000" pitchFamily="2" charset="-122"/>
            </a:endParaRPr>
          </a:p>
          <a:p>
            <a:pPr lvl="1"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en-GB" altLang="zh-CN" sz="1600" dirty="0">
                <a:cs typeface="宋体" panose="02000500000000000000" pitchFamily="2" charset="-122"/>
              </a:rPr>
              <a:t>FPGA</a:t>
            </a:r>
            <a:r>
              <a:rPr lang="zh-CN" altLang="en-GB" sz="1600" dirty="0">
                <a:cs typeface="宋体" panose="02000500000000000000" pitchFamily="2" charset="-122"/>
              </a:rPr>
              <a:t>的访存延迟过于乐观</a:t>
            </a:r>
            <a:endParaRPr lang="zh-CN" altLang="en-GB" sz="1600" dirty="0">
              <a:cs typeface="宋体" panose="02000500000000000000" pitchFamily="2" charset="-122"/>
            </a:endParaRPr>
          </a:p>
          <a:p>
            <a:pPr lvl="1"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1600" dirty="0">
                <a:cs typeface="宋体" panose="02000500000000000000" pitchFamily="2" charset="-122"/>
              </a:rPr>
              <a:t>龙芯</a:t>
            </a:r>
            <a:r>
              <a:rPr lang="en-GB" altLang="zh-CN" sz="1600" dirty="0">
                <a:cs typeface="宋体" panose="02000500000000000000" pitchFamily="2" charset="-122"/>
              </a:rPr>
              <a:t>2C</a:t>
            </a:r>
            <a:r>
              <a:rPr lang="zh-CN" altLang="en-GB" sz="1600" dirty="0">
                <a:cs typeface="宋体" panose="02000500000000000000" pitchFamily="2" charset="-122"/>
              </a:rPr>
              <a:t>的项目没有验收</a:t>
            </a:r>
            <a:endParaRPr lang="zh-CN" altLang="en-GB" sz="1600" dirty="0">
              <a:cs typeface="宋体" panose="02000500000000000000" pitchFamily="2" charset="-122"/>
            </a:endParaRPr>
          </a:p>
          <a:p>
            <a:pPr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1800" dirty="0">
                <a:cs typeface="宋体" panose="02000500000000000000" pitchFamily="2" charset="-122"/>
              </a:rPr>
              <a:t>龙芯</a:t>
            </a:r>
            <a:r>
              <a:rPr lang="en-GB" altLang="zh-CN" sz="1800" dirty="0">
                <a:cs typeface="宋体" panose="02000500000000000000" pitchFamily="2" charset="-122"/>
              </a:rPr>
              <a:t>2E</a:t>
            </a:r>
            <a:r>
              <a:rPr lang="zh-CN" altLang="en-GB" sz="1800" dirty="0">
                <a:cs typeface="宋体" panose="02000500000000000000" pitchFamily="2" charset="-122"/>
              </a:rPr>
              <a:t>比龙芯</a:t>
            </a:r>
            <a:r>
              <a:rPr lang="en-GB" altLang="zh-CN" sz="1800" dirty="0">
                <a:cs typeface="宋体" panose="02000500000000000000" pitchFamily="2" charset="-122"/>
              </a:rPr>
              <a:t>2C</a:t>
            </a:r>
            <a:r>
              <a:rPr lang="zh-CN" altLang="en-GB" sz="1800" dirty="0">
                <a:cs typeface="宋体" panose="02000500000000000000" pitchFamily="2" charset="-122"/>
              </a:rPr>
              <a:t>主频提高</a:t>
            </a:r>
            <a:r>
              <a:rPr lang="en-GB" altLang="zh-CN" sz="1800" dirty="0">
                <a:cs typeface="宋体" panose="02000500000000000000" pitchFamily="2" charset="-122"/>
              </a:rPr>
              <a:t>1</a:t>
            </a:r>
            <a:r>
              <a:rPr lang="zh-CN" altLang="en-GB" sz="1800" dirty="0">
                <a:cs typeface="宋体" panose="02000500000000000000" pitchFamily="2" charset="-122"/>
              </a:rPr>
              <a:t>倍，性能提高</a:t>
            </a:r>
            <a:r>
              <a:rPr lang="en-GB" altLang="zh-CN" sz="1800" dirty="0">
                <a:cs typeface="宋体" panose="02000500000000000000" pitchFamily="2" charset="-122"/>
              </a:rPr>
              <a:t>2</a:t>
            </a:r>
            <a:r>
              <a:rPr lang="zh-CN" altLang="en-GB" sz="1800" dirty="0">
                <a:cs typeface="宋体" panose="02000500000000000000" pitchFamily="2" charset="-122"/>
              </a:rPr>
              <a:t>倍</a:t>
            </a:r>
            <a:endParaRPr lang="zh-CN" altLang="en-GB" sz="1800" dirty="0">
              <a:cs typeface="宋体" panose="02000500000000000000" pitchFamily="2" charset="-122"/>
            </a:endParaRPr>
          </a:p>
        </p:txBody>
      </p:sp>
      <p:grpSp>
        <p:nvGrpSpPr>
          <p:cNvPr id="27653" name="Group 3"/>
          <p:cNvGrpSpPr/>
          <p:nvPr/>
        </p:nvGrpSpPr>
        <p:grpSpPr>
          <a:xfrm>
            <a:off x="1691640" y="4692650"/>
            <a:ext cx="9187815" cy="1914525"/>
            <a:chOff x="549" y="2956"/>
            <a:chExt cx="5860" cy="1206"/>
          </a:xfrm>
        </p:grpSpPr>
        <p:sp>
          <p:nvSpPr>
            <p:cNvPr id="27654" name="Rectangle 4"/>
            <p:cNvSpPr/>
            <p:nvPr/>
          </p:nvSpPr>
          <p:spPr>
            <a:xfrm>
              <a:off x="5842" y="4028"/>
              <a:ext cx="567"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0.13</a:t>
              </a:r>
              <a:endParaRPr lang="en-GB" altLang="zh-CN" sz="1400" b="1" dirty="0">
                <a:solidFill>
                  <a:srgbClr val="000000"/>
                </a:solidFill>
                <a:latin typeface="宋体" panose="02000500000000000000" pitchFamily="2" charset="-122"/>
              </a:endParaRPr>
            </a:p>
          </p:txBody>
        </p:sp>
        <p:sp>
          <p:nvSpPr>
            <p:cNvPr id="27655" name="Rectangle 5"/>
            <p:cNvSpPr/>
            <p:nvPr/>
          </p:nvSpPr>
          <p:spPr>
            <a:xfrm>
              <a:off x="5272" y="4028"/>
              <a:ext cx="570"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0.59</a:t>
              </a:r>
              <a:endParaRPr lang="en-GB" altLang="zh-CN" sz="1400" b="1" dirty="0">
                <a:solidFill>
                  <a:srgbClr val="000000"/>
                </a:solidFill>
                <a:latin typeface="宋体" panose="02000500000000000000" pitchFamily="2" charset="-122"/>
              </a:endParaRPr>
            </a:p>
          </p:txBody>
        </p:sp>
        <p:sp>
          <p:nvSpPr>
            <p:cNvPr id="27656" name="Rectangle 6"/>
            <p:cNvSpPr/>
            <p:nvPr/>
          </p:nvSpPr>
          <p:spPr>
            <a:xfrm>
              <a:off x="4382" y="4028"/>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1.00</a:t>
              </a:r>
              <a:endParaRPr lang="en-GB" altLang="zh-CN" sz="1400" b="1" dirty="0">
                <a:solidFill>
                  <a:srgbClr val="000000"/>
                </a:solidFill>
                <a:latin typeface="宋体" panose="02000500000000000000" pitchFamily="2" charset="-122"/>
              </a:endParaRPr>
            </a:p>
          </p:txBody>
        </p:sp>
        <p:sp>
          <p:nvSpPr>
            <p:cNvPr id="27657" name="Rectangle 7"/>
            <p:cNvSpPr/>
            <p:nvPr/>
          </p:nvSpPr>
          <p:spPr>
            <a:xfrm>
              <a:off x="3758" y="4028"/>
              <a:ext cx="624"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5.49</a:t>
              </a:r>
              <a:endParaRPr lang="en-GB" altLang="zh-CN" sz="1400" b="1" dirty="0">
                <a:solidFill>
                  <a:srgbClr val="000000"/>
                </a:solidFill>
                <a:latin typeface="宋体" panose="02000500000000000000" pitchFamily="2" charset="-122"/>
              </a:endParaRPr>
            </a:p>
          </p:txBody>
        </p:sp>
        <p:sp>
          <p:nvSpPr>
            <p:cNvPr id="27658" name="Rectangle 8"/>
            <p:cNvSpPr/>
            <p:nvPr/>
          </p:nvSpPr>
          <p:spPr>
            <a:xfrm>
              <a:off x="3046" y="4028"/>
              <a:ext cx="712"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24.17</a:t>
              </a:r>
              <a:endParaRPr lang="en-GB" altLang="zh-CN" sz="1400" b="1" dirty="0">
                <a:solidFill>
                  <a:srgbClr val="000000"/>
                </a:solidFill>
                <a:latin typeface="宋体" panose="02000500000000000000" pitchFamily="2" charset="-122"/>
              </a:endParaRPr>
            </a:p>
          </p:txBody>
        </p:sp>
        <p:sp>
          <p:nvSpPr>
            <p:cNvPr id="27659" name="Rectangle 9"/>
            <p:cNvSpPr/>
            <p:nvPr/>
          </p:nvSpPr>
          <p:spPr>
            <a:xfrm>
              <a:off x="2155" y="4028"/>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41.21</a:t>
              </a:r>
              <a:endParaRPr lang="en-GB" altLang="zh-CN" sz="1400" b="1" dirty="0">
                <a:solidFill>
                  <a:srgbClr val="000000"/>
                </a:solidFill>
                <a:latin typeface="宋体" panose="02000500000000000000" pitchFamily="2" charset="-122"/>
              </a:endParaRPr>
            </a:p>
          </p:txBody>
        </p:sp>
        <p:sp>
          <p:nvSpPr>
            <p:cNvPr id="27660" name="Rectangle 10"/>
            <p:cNvSpPr/>
            <p:nvPr/>
          </p:nvSpPr>
          <p:spPr>
            <a:xfrm>
              <a:off x="549" y="4028"/>
              <a:ext cx="1606" cy="13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164.gzip</a:t>
              </a:r>
              <a:endParaRPr lang="en-GB" altLang="zh-CN" sz="1400" b="1" dirty="0">
                <a:solidFill>
                  <a:srgbClr val="000000"/>
                </a:solidFill>
                <a:latin typeface="宋体" panose="02000500000000000000" pitchFamily="2" charset="-122"/>
              </a:endParaRPr>
            </a:p>
          </p:txBody>
        </p:sp>
        <p:sp>
          <p:nvSpPr>
            <p:cNvPr id="27661" name="Rectangle 11"/>
            <p:cNvSpPr/>
            <p:nvPr/>
          </p:nvSpPr>
          <p:spPr>
            <a:xfrm>
              <a:off x="5842" y="3894"/>
              <a:ext cx="567"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0.33</a:t>
              </a:r>
              <a:endParaRPr lang="en-GB" altLang="zh-CN" sz="1400" b="1" dirty="0">
                <a:solidFill>
                  <a:srgbClr val="000000"/>
                </a:solidFill>
                <a:latin typeface="宋体" panose="02000500000000000000" pitchFamily="2" charset="-122"/>
              </a:endParaRPr>
            </a:p>
          </p:txBody>
        </p:sp>
        <p:sp>
          <p:nvSpPr>
            <p:cNvPr id="27662" name="Rectangle 12"/>
            <p:cNvSpPr/>
            <p:nvPr/>
          </p:nvSpPr>
          <p:spPr>
            <a:xfrm>
              <a:off x="5272" y="3894"/>
              <a:ext cx="570"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0.55</a:t>
              </a:r>
              <a:endParaRPr lang="en-GB" altLang="zh-CN" sz="1400" b="1" dirty="0">
                <a:solidFill>
                  <a:srgbClr val="000000"/>
                </a:solidFill>
                <a:latin typeface="宋体" panose="02000500000000000000" pitchFamily="2" charset="-122"/>
              </a:endParaRPr>
            </a:p>
          </p:txBody>
        </p:sp>
        <p:sp>
          <p:nvSpPr>
            <p:cNvPr id="27663" name="Rectangle 13"/>
            <p:cNvSpPr/>
            <p:nvPr/>
          </p:nvSpPr>
          <p:spPr>
            <a:xfrm>
              <a:off x="4382" y="3894"/>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1.00</a:t>
              </a:r>
              <a:endParaRPr lang="en-GB" altLang="zh-CN" sz="1400" b="1" dirty="0">
                <a:solidFill>
                  <a:srgbClr val="000000"/>
                </a:solidFill>
                <a:latin typeface="宋体" panose="02000500000000000000" pitchFamily="2" charset="-122"/>
              </a:endParaRPr>
            </a:p>
          </p:txBody>
        </p:sp>
        <p:sp>
          <p:nvSpPr>
            <p:cNvPr id="27664" name="Rectangle 14"/>
            <p:cNvSpPr/>
            <p:nvPr/>
          </p:nvSpPr>
          <p:spPr>
            <a:xfrm>
              <a:off x="3758" y="3894"/>
              <a:ext cx="624"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16.61</a:t>
              </a:r>
              <a:endParaRPr lang="en-GB" altLang="zh-CN" sz="1400" b="1" dirty="0">
                <a:solidFill>
                  <a:srgbClr val="000000"/>
                </a:solidFill>
                <a:latin typeface="宋体" panose="02000500000000000000" pitchFamily="2" charset="-122"/>
              </a:endParaRPr>
            </a:p>
          </p:txBody>
        </p:sp>
        <p:sp>
          <p:nvSpPr>
            <p:cNvPr id="27665" name="Rectangle 15"/>
            <p:cNvSpPr/>
            <p:nvPr/>
          </p:nvSpPr>
          <p:spPr>
            <a:xfrm>
              <a:off x="3046" y="3894"/>
              <a:ext cx="712"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28.08</a:t>
              </a:r>
              <a:endParaRPr lang="en-GB" altLang="zh-CN" sz="1400" b="1" dirty="0">
                <a:solidFill>
                  <a:srgbClr val="000000"/>
                </a:solidFill>
                <a:latin typeface="宋体" panose="02000500000000000000" pitchFamily="2" charset="-122"/>
              </a:endParaRPr>
            </a:p>
          </p:txBody>
        </p:sp>
        <p:sp>
          <p:nvSpPr>
            <p:cNvPr id="27666" name="Rectangle 16"/>
            <p:cNvSpPr/>
            <p:nvPr/>
          </p:nvSpPr>
          <p:spPr>
            <a:xfrm>
              <a:off x="2155" y="3894"/>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50.61</a:t>
              </a:r>
              <a:endParaRPr lang="en-GB" altLang="zh-CN" sz="1400" b="1" dirty="0">
                <a:solidFill>
                  <a:srgbClr val="000000"/>
                </a:solidFill>
                <a:latin typeface="宋体" panose="02000500000000000000" pitchFamily="2" charset="-122"/>
              </a:endParaRPr>
            </a:p>
          </p:txBody>
        </p:sp>
        <p:sp>
          <p:nvSpPr>
            <p:cNvPr id="27667" name="Rectangle 17"/>
            <p:cNvSpPr/>
            <p:nvPr/>
          </p:nvSpPr>
          <p:spPr>
            <a:xfrm>
              <a:off x="549" y="3894"/>
              <a:ext cx="1606" cy="13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zh-CN" altLang="en-GB" sz="1400" b="1" dirty="0">
                  <a:solidFill>
                    <a:srgbClr val="000000"/>
                  </a:solidFill>
                  <a:latin typeface="宋体" panose="02000500000000000000" pitchFamily="2" charset="-122"/>
                </a:rPr>
                <a:t>定点矩阵乘法</a:t>
              </a:r>
              <a:endParaRPr lang="zh-CN" altLang="en-GB" sz="1400" b="1" dirty="0">
                <a:solidFill>
                  <a:srgbClr val="000000"/>
                </a:solidFill>
                <a:latin typeface="宋体" panose="02000500000000000000" pitchFamily="2" charset="-122"/>
              </a:endParaRPr>
            </a:p>
          </p:txBody>
        </p:sp>
        <p:sp>
          <p:nvSpPr>
            <p:cNvPr id="27668" name="Rectangle 18"/>
            <p:cNvSpPr/>
            <p:nvPr/>
          </p:nvSpPr>
          <p:spPr>
            <a:xfrm>
              <a:off x="5842" y="3760"/>
              <a:ext cx="567"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0.12</a:t>
              </a:r>
              <a:endParaRPr lang="en-GB" altLang="zh-CN" sz="1400" b="1" dirty="0">
                <a:solidFill>
                  <a:srgbClr val="000000"/>
                </a:solidFill>
                <a:latin typeface="宋体" panose="02000500000000000000" pitchFamily="2" charset="-122"/>
              </a:endParaRPr>
            </a:p>
          </p:txBody>
        </p:sp>
        <p:sp>
          <p:nvSpPr>
            <p:cNvPr id="27669" name="Rectangle 19"/>
            <p:cNvSpPr/>
            <p:nvPr/>
          </p:nvSpPr>
          <p:spPr>
            <a:xfrm>
              <a:off x="5272" y="3760"/>
              <a:ext cx="570"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0.78</a:t>
              </a:r>
              <a:endParaRPr lang="en-GB" altLang="zh-CN" sz="1400" b="1" dirty="0">
                <a:solidFill>
                  <a:srgbClr val="000000"/>
                </a:solidFill>
                <a:latin typeface="宋体" panose="02000500000000000000" pitchFamily="2" charset="-122"/>
              </a:endParaRPr>
            </a:p>
          </p:txBody>
        </p:sp>
        <p:sp>
          <p:nvSpPr>
            <p:cNvPr id="27670" name="Rectangle 20"/>
            <p:cNvSpPr/>
            <p:nvPr/>
          </p:nvSpPr>
          <p:spPr>
            <a:xfrm>
              <a:off x="4382" y="3760"/>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1.00</a:t>
              </a:r>
              <a:endParaRPr lang="en-GB" altLang="zh-CN" sz="1400" b="1" dirty="0">
                <a:solidFill>
                  <a:srgbClr val="000000"/>
                </a:solidFill>
                <a:latin typeface="宋体" panose="02000500000000000000" pitchFamily="2" charset="-122"/>
              </a:endParaRPr>
            </a:p>
          </p:txBody>
        </p:sp>
        <p:sp>
          <p:nvSpPr>
            <p:cNvPr id="27671" name="Rectangle 21"/>
            <p:cNvSpPr/>
            <p:nvPr/>
          </p:nvSpPr>
          <p:spPr>
            <a:xfrm>
              <a:off x="3758" y="3760"/>
              <a:ext cx="624"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1.07</a:t>
              </a:r>
              <a:endParaRPr lang="en-GB" altLang="zh-CN" sz="1400" b="1" dirty="0">
                <a:solidFill>
                  <a:srgbClr val="000000"/>
                </a:solidFill>
                <a:latin typeface="宋体" panose="02000500000000000000" pitchFamily="2" charset="-122"/>
              </a:endParaRPr>
            </a:p>
          </p:txBody>
        </p:sp>
        <p:sp>
          <p:nvSpPr>
            <p:cNvPr id="27672" name="Rectangle 22"/>
            <p:cNvSpPr/>
            <p:nvPr/>
          </p:nvSpPr>
          <p:spPr>
            <a:xfrm>
              <a:off x="3046" y="3760"/>
              <a:ext cx="712"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7.15</a:t>
              </a:r>
              <a:endParaRPr lang="en-GB" altLang="zh-CN" sz="1400" b="1" dirty="0">
                <a:solidFill>
                  <a:srgbClr val="000000"/>
                </a:solidFill>
                <a:latin typeface="宋体" panose="02000500000000000000" pitchFamily="2" charset="-122"/>
              </a:endParaRPr>
            </a:p>
          </p:txBody>
        </p:sp>
        <p:sp>
          <p:nvSpPr>
            <p:cNvPr id="27673" name="Rectangle 23"/>
            <p:cNvSpPr/>
            <p:nvPr/>
          </p:nvSpPr>
          <p:spPr>
            <a:xfrm>
              <a:off x="2155" y="3760"/>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9.11</a:t>
              </a:r>
              <a:endParaRPr lang="en-GB" altLang="zh-CN" sz="1400" b="1" dirty="0">
                <a:solidFill>
                  <a:srgbClr val="000000"/>
                </a:solidFill>
                <a:latin typeface="宋体" panose="02000500000000000000" pitchFamily="2" charset="-122"/>
              </a:endParaRPr>
            </a:p>
          </p:txBody>
        </p:sp>
        <p:sp>
          <p:nvSpPr>
            <p:cNvPr id="27674" name="Rectangle 24"/>
            <p:cNvSpPr/>
            <p:nvPr/>
          </p:nvSpPr>
          <p:spPr>
            <a:xfrm>
              <a:off x="549" y="3760"/>
              <a:ext cx="1606" cy="13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Whetstone</a:t>
              </a:r>
              <a:endParaRPr lang="en-GB" altLang="zh-CN" sz="1400" b="1" dirty="0">
                <a:solidFill>
                  <a:srgbClr val="000000"/>
                </a:solidFill>
                <a:latin typeface="宋体" panose="02000500000000000000" pitchFamily="2" charset="-122"/>
              </a:endParaRPr>
            </a:p>
          </p:txBody>
        </p:sp>
        <p:sp>
          <p:nvSpPr>
            <p:cNvPr id="27675" name="Rectangle 25"/>
            <p:cNvSpPr/>
            <p:nvPr/>
          </p:nvSpPr>
          <p:spPr>
            <a:xfrm>
              <a:off x="5842" y="3626"/>
              <a:ext cx="567"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0.20</a:t>
              </a:r>
              <a:endParaRPr lang="en-GB" altLang="zh-CN" sz="1400" b="1" dirty="0">
                <a:solidFill>
                  <a:srgbClr val="000000"/>
                </a:solidFill>
                <a:latin typeface="宋体" panose="02000500000000000000" pitchFamily="2" charset="-122"/>
              </a:endParaRPr>
            </a:p>
          </p:txBody>
        </p:sp>
        <p:sp>
          <p:nvSpPr>
            <p:cNvPr id="27676" name="Rectangle 26"/>
            <p:cNvSpPr/>
            <p:nvPr/>
          </p:nvSpPr>
          <p:spPr>
            <a:xfrm>
              <a:off x="5272" y="3626"/>
              <a:ext cx="570"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2.84</a:t>
              </a:r>
              <a:endParaRPr lang="en-GB" altLang="zh-CN" sz="1400" b="1" dirty="0">
                <a:solidFill>
                  <a:srgbClr val="000000"/>
                </a:solidFill>
                <a:latin typeface="宋体" panose="02000500000000000000" pitchFamily="2" charset="-122"/>
              </a:endParaRPr>
            </a:p>
          </p:txBody>
        </p:sp>
        <p:sp>
          <p:nvSpPr>
            <p:cNvPr id="27677" name="Rectangle 27"/>
            <p:cNvSpPr/>
            <p:nvPr/>
          </p:nvSpPr>
          <p:spPr>
            <a:xfrm>
              <a:off x="4382" y="3626"/>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1.00</a:t>
              </a:r>
              <a:endParaRPr lang="en-GB" altLang="zh-CN" sz="1400" b="1" dirty="0">
                <a:solidFill>
                  <a:srgbClr val="000000"/>
                </a:solidFill>
                <a:latin typeface="宋体" panose="02000500000000000000" pitchFamily="2" charset="-122"/>
              </a:endParaRPr>
            </a:p>
          </p:txBody>
        </p:sp>
        <p:sp>
          <p:nvSpPr>
            <p:cNvPr id="27678" name="Rectangle 28"/>
            <p:cNvSpPr/>
            <p:nvPr/>
          </p:nvSpPr>
          <p:spPr>
            <a:xfrm>
              <a:off x="3758" y="3626"/>
              <a:ext cx="624"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11.57</a:t>
              </a:r>
              <a:endParaRPr lang="en-GB" altLang="zh-CN" sz="1400" b="1" dirty="0">
                <a:solidFill>
                  <a:srgbClr val="000000"/>
                </a:solidFill>
                <a:latin typeface="宋体" panose="02000500000000000000" pitchFamily="2" charset="-122"/>
              </a:endParaRPr>
            </a:p>
          </p:txBody>
        </p:sp>
        <p:sp>
          <p:nvSpPr>
            <p:cNvPr id="27679" name="Rectangle 29"/>
            <p:cNvSpPr/>
            <p:nvPr/>
          </p:nvSpPr>
          <p:spPr>
            <a:xfrm>
              <a:off x="3046" y="3626"/>
              <a:ext cx="712"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164.71</a:t>
              </a:r>
              <a:endParaRPr lang="en-GB" altLang="zh-CN" sz="1400" b="1" dirty="0">
                <a:solidFill>
                  <a:srgbClr val="000000"/>
                </a:solidFill>
                <a:latin typeface="宋体" panose="02000500000000000000" pitchFamily="2" charset="-122"/>
              </a:endParaRPr>
            </a:p>
          </p:txBody>
        </p:sp>
        <p:sp>
          <p:nvSpPr>
            <p:cNvPr id="27680" name="Rectangle 30"/>
            <p:cNvSpPr/>
            <p:nvPr/>
          </p:nvSpPr>
          <p:spPr>
            <a:xfrm>
              <a:off x="2155" y="3626"/>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58.03</a:t>
              </a:r>
              <a:endParaRPr lang="en-GB" altLang="zh-CN" sz="1400" b="1" dirty="0">
                <a:solidFill>
                  <a:srgbClr val="000000"/>
                </a:solidFill>
                <a:latin typeface="宋体" panose="02000500000000000000" pitchFamily="2" charset="-122"/>
              </a:endParaRPr>
            </a:p>
          </p:txBody>
        </p:sp>
        <p:sp>
          <p:nvSpPr>
            <p:cNvPr id="27681" name="Rectangle 31"/>
            <p:cNvSpPr/>
            <p:nvPr/>
          </p:nvSpPr>
          <p:spPr>
            <a:xfrm>
              <a:off x="549" y="3626"/>
              <a:ext cx="1606" cy="13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zh-CN" altLang="en-GB" sz="1400" b="1" dirty="0">
                  <a:solidFill>
                    <a:srgbClr val="000000"/>
                  </a:solidFill>
                  <a:latin typeface="宋体" panose="02000500000000000000" pitchFamily="2" charset="-122"/>
                  <a:cs typeface="宋体" panose="02000500000000000000" pitchFamily="2" charset="-122"/>
                </a:rPr>
                <a:t>计算</a:t>
              </a:r>
              <a:endParaRPr lang="zh-CN" altLang="en-GB" sz="1400" b="1" dirty="0">
                <a:solidFill>
                  <a:srgbClr val="000000"/>
                </a:solidFill>
                <a:latin typeface="宋体" panose="02000500000000000000" pitchFamily="2" charset="-122"/>
                <a:cs typeface="宋体" panose="02000500000000000000" pitchFamily="2" charset="-122"/>
              </a:endParaRPr>
            </a:p>
          </p:txBody>
        </p:sp>
        <p:sp>
          <p:nvSpPr>
            <p:cNvPr id="27682" name="Rectangle 32"/>
            <p:cNvSpPr/>
            <p:nvPr/>
          </p:nvSpPr>
          <p:spPr>
            <a:xfrm>
              <a:off x="5842" y="3492"/>
              <a:ext cx="567"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0.16</a:t>
              </a:r>
              <a:endParaRPr lang="en-GB" altLang="zh-CN" sz="1400" b="1" dirty="0">
                <a:solidFill>
                  <a:srgbClr val="000000"/>
                </a:solidFill>
                <a:latin typeface="宋体" panose="02000500000000000000" pitchFamily="2" charset="-122"/>
              </a:endParaRPr>
            </a:p>
          </p:txBody>
        </p:sp>
        <p:sp>
          <p:nvSpPr>
            <p:cNvPr id="27683" name="Rectangle 33"/>
            <p:cNvSpPr/>
            <p:nvPr/>
          </p:nvSpPr>
          <p:spPr>
            <a:xfrm>
              <a:off x="5272" y="3492"/>
              <a:ext cx="570"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1.00</a:t>
              </a:r>
              <a:endParaRPr lang="en-GB" altLang="zh-CN" sz="1400" b="1" dirty="0">
                <a:solidFill>
                  <a:srgbClr val="000000"/>
                </a:solidFill>
                <a:latin typeface="宋体" panose="02000500000000000000" pitchFamily="2" charset="-122"/>
              </a:endParaRPr>
            </a:p>
          </p:txBody>
        </p:sp>
        <p:sp>
          <p:nvSpPr>
            <p:cNvPr id="27684" name="Rectangle 34"/>
            <p:cNvSpPr/>
            <p:nvPr/>
          </p:nvSpPr>
          <p:spPr>
            <a:xfrm>
              <a:off x="4382" y="3492"/>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1.00</a:t>
              </a:r>
              <a:endParaRPr lang="en-GB" altLang="zh-CN" sz="1400" b="1" dirty="0">
                <a:solidFill>
                  <a:srgbClr val="000000"/>
                </a:solidFill>
                <a:latin typeface="宋体" panose="02000500000000000000" pitchFamily="2" charset="-122"/>
              </a:endParaRPr>
            </a:p>
          </p:txBody>
        </p:sp>
        <p:sp>
          <p:nvSpPr>
            <p:cNvPr id="27685" name="Rectangle 35"/>
            <p:cNvSpPr/>
            <p:nvPr/>
          </p:nvSpPr>
          <p:spPr>
            <a:xfrm>
              <a:off x="3758" y="3492"/>
              <a:ext cx="624"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0.91</a:t>
              </a:r>
              <a:endParaRPr lang="en-GB" altLang="zh-CN" sz="1400" b="1" dirty="0">
                <a:solidFill>
                  <a:srgbClr val="000000"/>
                </a:solidFill>
                <a:latin typeface="宋体" panose="02000500000000000000" pitchFamily="2" charset="-122"/>
              </a:endParaRPr>
            </a:p>
          </p:txBody>
        </p:sp>
        <p:sp>
          <p:nvSpPr>
            <p:cNvPr id="27686" name="Rectangle 36"/>
            <p:cNvSpPr/>
            <p:nvPr/>
          </p:nvSpPr>
          <p:spPr>
            <a:xfrm>
              <a:off x="3046" y="3492"/>
              <a:ext cx="712"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5.60</a:t>
              </a:r>
              <a:endParaRPr lang="en-GB" altLang="zh-CN" sz="1400" b="1" dirty="0">
                <a:solidFill>
                  <a:srgbClr val="000000"/>
                </a:solidFill>
                <a:latin typeface="宋体" panose="02000500000000000000" pitchFamily="2" charset="-122"/>
              </a:endParaRPr>
            </a:p>
          </p:txBody>
        </p:sp>
        <p:sp>
          <p:nvSpPr>
            <p:cNvPr id="27687" name="Rectangle 37"/>
            <p:cNvSpPr/>
            <p:nvPr/>
          </p:nvSpPr>
          <p:spPr>
            <a:xfrm>
              <a:off x="2155" y="3492"/>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5.59</a:t>
              </a:r>
              <a:endParaRPr lang="en-GB" altLang="zh-CN" sz="1400" b="1" dirty="0">
                <a:solidFill>
                  <a:srgbClr val="000000"/>
                </a:solidFill>
                <a:latin typeface="宋体" panose="02000500000000000000" pitchFamily="2" charset="-122"/>
              </a:endParaRPr>
            </a:p>
          </p:txBody>
        </p:sp>
        <p:sp>
          <p:nvSpPr>
            <p:cNvPr id="27688" name="Rectangle 38"/>
            <p:cNvSpPr/>
            <p:nvPr/>
          </p:nvSpPr>
          <p:spPr>
            <a:xfrm>
              <a:off x="549" y="3492"/>
              <a:ext cx="1606" cy="13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SOR</a:t>
              </a:r>
              <a:endParaRPr lang="en-GB" altLang="zh-CN" sz="1400" b="1" dirty="0">
                <a:solidFill>
                  <a:srgbClr val="000000"/>
                </a:solidFill>
                <a:latin typeface="宋体" panose="02000500000000000000" pitchFamily="2" charset="-122"/>
              </a:endParaRPr>
            </a:p>
          </p:txBody>
        </p:sp>
        <p:sp>
          <p:nvSpPr>
            <p:cNvPr id="27689" name="Rectangle 39"/>
            <p:cNvSpPr/>
            <p:nvPr/>
          </p:nvSpPr>
          <p:spPr>
            <a:xfrm>
              <a:off x="5842" y="3358"/>
              <a:ext cx="567"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0.15</a:t>
              </a:r>
              <a:endParaRPr lang="en-GB" altLang="zh-CN" sz="1400" b="1" dirty="0">
                <a:solidFill>
                  <a:srgbClr val="000000"/>
                </a:solidFill>
                <a:latin typeface="宋体" panose="02000500000000000000" pitchFamily="2" charset="-122"/>
              </a:endParaRPr>
            </a:p>
          </p:txBody>
        </p:sp>
        <p:sp>
          <p:nvSpPr>
            <p:cNvPr id="27690" name="Rectangle 40"/>
            <p:cNvSpPr/>
            <p:nvPr/>
          </p:nvSpPr>
          <p:spPr>
            <a:xfrm>
              <a:off x="5272" y="3358"/>
              <a:ext cx="570"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1.06</a:t>
              </a:r>
              <a:endParaRPr lang="en-GB" altLang="zh-CN" sz="1400" b="1" dirty="0">
                <a:solidFill>
                  <a:srgbClr val="000000"/>
                </a:solidFill>
                <a:latin typeface="宋体" panose="02000500000000000000" pitchFamily="2" charset="-122"/>
              </a:endParaRPr>
            </a:p>
          </p:txBody>
        </p:sp>
        <p:sp>
          <p:nvSpPr>
            <p:cNvPr id="27691" name="Rectangle 41"/>
            <p:cNvSpPr/>
            <p:nvPr/>
          </p:nvSpPr>
          <p:spPr>
            <a:xfrm>
              <a:off x="4382" y="3358"/>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1.00</a:t>
              </a:r>
              <a:endParaRPr lang="en-GB" altLang="zh-CN" sz="1400" b="1" dirty="0">
                <a:solidFill>
                  <a:srgbClr val="000000"/>
                </a:solidFill>
                <a:latin typeface="宋体" panose="02000500000000000000" pitchFamily="2" charset="-122"/>
              </a:endParaRPr>
            </a:p>
          </p:txBody>
        </p:sp>
        <p:sp>
          <p:nvSpPr>
            <p:cNvPr id="27692" name="Rectangle 42"/>
            <p:cNvSpPr/>
            <p:nvPr/>
          </p:nvSpPr>
          <p:spPr>
            <a:xfrm>
              <a:off x="3758" y="3358"/>
              <a:ext cx="624"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7.97</a:t>
              </a:r>
              <a:endParaRPr lang="en-GB" altLang="zh-CN" sz="1400" b="1" dirty="0">
                <a:solidFill>
                  <a:srgbClr val="000000"/>
                </a:solidFill>
                <a:latin typeface="宋体" panose="02000500000000000000" pitchFamily="2" charset="-122"/>
              </a:endParaRPr>
            </a:p>
          </p:txBody>
        </p:sp>
        <p:sp>
          <p:nvSpPr>
            <p:cNvPr id="27693" name="Rectangle 43"/>
            <p:cNvSpPr/>
            <p:nvPr/>
          </p:nvSpPr>
          <p:spPr>
            <a:xfrm>
              <a:off x="3046" y="3358"/>
              <a:ext cx="712"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56.02</a:t>
              </a:r>
              <a:endParaRPr lang="en-GB" altLang="zh-CN" sz="1400" b="1" dirty="0">
                <a:solidFill>
                  <a:srgbClr val="000000"/>
                </a:solidFill>
                <a:latin typeface="宋体" panose="02000500000000000000" pitchFamily="2" charset="-122"/>
              </a:endParaRPr>
            </a:p>
          </p:txBody>
        </p:sp>
        <p:sp>
          <p:nvSpPr>
            <p:cNvPr id="27694" name="Rectangle 44"/>
            <p:cNvSpPr/>
            <p:nvPr/>
          </p:nvSpPr>
          <p:spPr>
            <a:xfrm>
              <a:off x="2155" y="3358"/>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52.89</a:t>
              </a:r>
              <a:endParaRPr lang="en-GB" altLang="zh-CN" sz="1400" b="1" dirty="0">
                <a:solidFill>
                  <a:srgbClr val="000000"/>
                </a:solidFill>
                <a:latin typeface="宋体" panose="02000500000000000000" pitchFamily="2" charset="-122"/>
              </a:endParaRPr>
            </a:p>
          </p:txBody>
        </p:sp>
        <p:sp>
          <p:nvSpPr>
            <p:cNvPr id="27695" name="Rectangle 45"/>
            <p:cNvSpPr/>
            <p:nvPr/>
          </p:nvSpPr>
          <p:spPr>
            <a:xfrm>
              <a:off x="549" y="3358"/>
              <a:ext cx="1606" cy="13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FFT</a:t>
              </a:r>
              <a:endParaRPr lang="en-GB" altLang="zh-CN" sz="1400" b="1" dirty="0">
                <a:solidFill>
                  <a:srgbClr val="000000"/>
                </a:solidFill>
                <a:latin typeface="宋体" panose="02000500000000000000" pitchFamily="2" charset="-122"/>
              </a:endParaRPr>
            </a:p>
          </p:txBody>
        </p:sp>
        <p:sp>
          <p:nvSpPr>
            <p:cNvPr id="27696" name="Rectangle 46"/>
            <p:cNvSpPr/>
            <p:nvPr/>
          </p:nvSpPr>
          <p:spPr>
            <a:xfrm>
              <a:off x="5842" y="3224"/>
              <a:ext cx="567"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0.18</a:t>
              </a:r>
              <a:endParaRPr lang="en-GB" altLang="zh-CN" sz="1400" b="1" dirty="0">
                <a:solidFill>
                  <a:srgbClr val="000000"/>
                </a:solidFill>
                <a:latin typeface="宋体" panose="02000500000000000000" pitchFamily="2" charset="-122"/>
              </a:endParaRPr>
            </a:p>
          </p:txBody>
        </p:sp>
        <p:sp>
          <p:nvSpPr>
            <p:cNvPr id="27697" name="Rectangle 47"/>
            <p:cNvSpPr/>
            <p:nvPr/>
          </p:nvSpPr>
          <p:spPr>
            <a:xfrm>
              <a:off x="5272" y="3224"/>
              <a:ext cx="570"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0.99</a:t>
              </a:r>
              <a:endParaRPr lang="en-GB" altLang="zh-CN" sz="1400" b="1" dirty="0">
                <a:solidFill>
                  <a:srgbClr val="000000"/>
                </a:solidFill>
                <a:latin typeface="宋体" panose="02000500000000000000" pitchFamily="2" charset="-122"/>
              </a:endParaRPr>
            </a:p>
          </p:txBody>
        </p:sp>
        <p:sp>
          <p:nvSpPr>
            <p:cNvPr id="27698" name="Rectangle 48"/>
            <p:cNvSpPr/>
            <p:nvPr/>
          </p:nvSpPr>
          <p:spPr>
            <a:xfrm>
              <a:off x="4382" y="3224"/>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1.00</a:t>
              </a:r>
              <a:endParaRPr lang="en-GB" altLang="zh-CN" sz="1400" b="1" dirty="0">
                <a:solidFill>
                  <a:srgbClr val="000000"/>
                </a:solidFill>
                <a:latin typeface="宋体" panose="02000500000000000000" pitchFamily="2" charset="-122"/>
              </a:endParaRPr>
            </a:p>
          </p:txBody>
        </p:sp>
        <p:sp>
          <p:nvSpPr>
            <p:cNvPr id="27699" name="Rectangle 49"/>
            <p:cNvSpPr/>
            <p:nvPr/>
          </p:nvSpPr>
          <p:spPr>
            <a:xfrm>
              <a:off x="3758" y="3224"/>
              <a:ext cx="624"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0.37</a:t>
              </a:r>
              <a:endParaRPr lang="en-GB" altLang="zh-CN" sz="1400" b="1" dirty="0">
                <a:solidFill>
                  <a:srgbClr val="000000"/>
                </a:solidFill>
                <a:latin typeface="宋体" panose="02000500000000000000" pitchFamily="2" charset="-122"/>
              </a:endParaRPr>
            </a:p>
          </p:txBody>
        </p:sp>
        <p:sp>
          <p:nvSpPr>
            <p:cNvPr id="27700" name="Rectangle 50"/>
            <p:cNvSpPr/>
            <p:nvPr/>
          </p:nvSpPr>
          <p:spPr>
            <a:xfrm>
              <a:off x="3046" y="3224"/>
              <a:ext cx="712"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2.68</a:t>
              </a:r>
              <a:endParaRPr lang="en-GB" altLang="zh-CN" sz="1400" b="1" dirty="0">
                <a:solidFill>
                  <a:srgbClr val="000000"/>
                </a:solidFill>
                <a:latin typeface="宋体" panose="02000500000000000000" pitchFamily="2" charset="-122"/>
              </a:endParaRPr>
            </a:p>
          </p:txBody>
        </p:sp>
        <p:sp>
          <p:nvSpPr>
            <p:cNvPr id="27701" name="Rectangle 51"/>
            <p:cNvSpPr/>
            <p:nvPr/>
          </p:nvSpPr>
          <p:spPr>
            <a:xfrm>
              <a:off x="2155" y="3224"/>
              <a:ext cx="891" cy="13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1.99</a:t>
              </a:r>
              <a:endParaRPr lang="en-GB" altLang="zh-CN" sz="1400" b="1" dirty="0">
                <a:solidFill>
                  <a:srgbClr val="000000"/>
                </a:solidFill>
                <a:latin typeface="宋体" panose="02000500000000000000" pitchFamily="2" charset="-122"/>
              </a:endParaRPr>
            </a:p>
          </p:txBody>
        </p:sp>
        <p:sp>
          <p:nvSpPr>
            <p:cNvPr id="27702" name="Rectangle 52"/>
            <p:cNvSpPr/>
            <p:nvPr/>
          </p:nvSpPr>
          <p:spPr>
            <a:xfrm>
              <a:off x="549" y="3224"/>
              <a:ext cx="1606" cy="13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zh-CN" altLang="en-GB" sz="1400" b="1" dirty="0">
                  <a:solidFill>
                    <a:srgbClr val="000000"/>
                  </a:solidFill>
                  <a:latin typeface="宋体" panose="02000500000000000000" pitchFamily="2" charset="-122"/>
                </a:rPr>
                <a:t>浮点矩阵乘法</a:t>
              </a:r>
              <a:endParaRPr lang="zh-CN" altLang="en-GB" sz="1400" b="1" dirty="0">
                <a:solidFill>
                  <a:srgbClr val="000000"/>
                </a:solidFill>
                <a:latin typeface="宋体" panose="02000500000000000000" pitchFamily="2" charset="-122"/>
              </a:endParaRPr>
            </a:p>
          </p:txBody>
        </p:sp>
        <p:sp>
          <p:nvSpPr>
            <p:cNvPr id="27703" name="Rectangle 53"/>
            <p:cNvSpPr/>
            <p:nvPr/>
          </p:nvSpPr>
          <p:spPr>
            <a:xfrm>
              <a:off x="5842" y="3090"/>
              <a:ext cx="567" cy="13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IDT</a:t>
              </a:r>
              <a:endParaRPr lang="en-GB" altLang="zh-CN" sz="1400" b="1" dirty="0">
                <a:solidFill>
                  <a:srgbClr val="000000"/>
                </a:solidFill>
                <a:latin typeface="宋体" panose="02000500000000000000" pitchFamily="2" charset="-122"/>
              </a:endParaRPr>
            </a:p>
          </p:txBody>
        </p:sp>
        <p:sp>
          <p:nvSpPr>
            <p:cNvPr id="27704" name="Rectangle 54"/>
            <p:cNvSpPr/>
            <p:nvPr/>
          </p:nvSpPr>
          <p:spPr>
            <a:xfrm>
              <a:off x="5272" y="3090"/>
              <a:ext cx="570" cy="13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486</a:t>
              </a:r>
              <a:endParaRPr lang="en-GB" altLang="zh-CN" sz="1400" b="1" dirty="0">
                <a:solidFill>
                  <a:srgbClr val="000000"/>
                </a:solidFill>
                <a:latin typeface="宋体" panose="02000500000000000000" pitchFamily="2" charset="-122"/>
              </a:endParaRPr>
            </a:p>
          </p:txBody>
        </p:sp>
        <p:sp>
          <p:nvSpPr>
            <p:cNvPr id="27705" name="Rectangle 55"/>
            <p:cNvSpPr/>
            <p:nvPr/>
          </p:nvSpPr>
          <p:spPr>
            <a:xfrm>
              <a:off x="4382" y="3090"/>
              <a:ext cx="891" cy="13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Godson</a:t>
              </a:r>
              <a:endParaRPr lang="en-GB" altLang="zh-CN" sz="1400" b="1" dirty="0">
                <a:solidFill>
                  <a:srgbClr val="000000"/>
                </a:solidFill>
                <a:latin typeface="宋体" panose="02000500000000000000" pitchFamily="2" charset="-122"/>
              </a:endParaRPr>
            </a:p>
          </p:txBody>
        </p:sp>
        <p:sp>
          <p:nvSpPr>
            <p:cNvPr id="27706" name="Rectangle 56"/>
            <p:cNvSpPr/>
            <p:nvPr/>
          </p:nvSpPr>
          <p:spPr>
            <a:xfrm>
              <a:off x="3758" y="3090"/>
              <a:ext cx="624" cy="13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IDT</a:t>
              </a:r>
              <a:endParaRPr lang="en-GB" altLang="zh-CN" sz="1400" b="1" dirty="0">
                <a:solidFill>
                  <a:srgbClr val="000000"/>
                </a:solidFill>
                <a:latin typeface="宋体" panose="02000500000000000000" pitchFamily="2" charset="-122"/>
              </a:endParaRPr>
            </a:p>
          </p:txBody>
        </p:sp>
        <p:sp>
          <p:nvSpPr>
            <p:cNvPr id="27707" name="Rectangle 57"/>
            <p:cNvSpPr/>
            <p:nvPr/>
          </p:nvSpPr>
          <p:spPr>
            <a:xfrm>
              <a:off x="3046" y="3090"/>
              <a:ext cx="712" cy="13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486</a:t>
              </a:r>
              <a:endParaRPr lang="en-GB" altLang="zh-CN" sz="1400" b="1" dirty="0">
                <a:solidFill>
                  <a:srgbClr val="000000"/>
                </a:solidFill>
                <a:latin typeface="宋体" panose="02000500000000000000" pitchFamily="2" charset="-122"/>
              </a:endParaRPr>
            </a:p>
          </p:txBody>
        </p:sp>
        <p:sp>
          <p:nvSpPr>
            <p:cNvPr id="27708" name="Rectangle 58"/>
            <p:cNvSpPr/>
            <p:nvPr/>
          </p:nvSpPr>
          <p:spPr>
            <a:xfrm>
              <a:off x="2155" y="3090"/>
              <a:ext cx="891" cy="13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b="1" dirty="0">
                  <a:solidFill>
                    <a:srgbClr val="000000"/>
                  </a:solidFill>
                  <a:latin typeface="宋体" panose="02000500000000000000" pitchFamily="2" charset="-122"/>
                </a:rPr>
                <a:t>Godson</a:t>
              </a:r>
              <a:endParaRPr lang="en-GB" altLang="zh-CN" sz="1400" b="1" dirty="0">
                <a:solidFill>
                  <a:srgbClr val="000000"/>
                </a:solidFill>
                <a:latin typeface="宋体" panose="02000500000000000000" pitchFamily="2" charset="-122"/>
              </a:endParaRPr>
            </a:p>
          </p:txBody>
        </p:sp>
        <p:sp>
          <p:nvSpPr>
            <p:cNvPr id="27709" name="Rectangle 59"/>
            <p:cNvSpPr/>
            <p:nvPr/>
          </p:nvSpPr>
          <p:spPr>
            <a:xfrm>
              <a:off x="4382" y="2956"/>
              <a:ext cx="2027" cy="13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zh-CN" altLang="en-GB" sz="1400" b="1" dirty="0">
                  <a:solidFill>
                    <a:srgbClr val="000000"/>
                  </a:solidFill>
                  <a:latin typeface="宋体" panose="02000500000000000000" pitchFamily="2" charset="-122"/>
                </a:rPr>
                <a:t>相对时间</a:t>
              </a:r>
              <a:endParaRPr lang="zh-CN" altLang="en-GB" sz="1400" b="1" dirty="0">
                <a:solidFill>
                  <a:srgbClr val="000000"/>
                </a:solidFill>
                <a:latin typeface="宋体" panose="02000500000000000000" pitchFamily="2" charset="-122"/>
              </a:endParaRPr>
            </a:p>
          </p:txBody>
        </p:sp>
        <p:sp>
          <p:nvSpPr>
            <p:cNvPr id="27710" name="Rectangle 60"/>
            <p:cNvSpPr/>
            <p:nvPr/>
          </p:nvSpPr>
          <p:spPr>
            <a:xfrm>
              <a:off x="2155" y="2956"/>
              <a:ext cx="2226" cy="13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zh-CN" altLang="en-GB" sz="1400" b="1" dirty="0">
                  <a:solidFill>
                    <a:srgbClr val="000000"/>
                  </a:solidFill>
                  <a:latin typeface="宋体" panose="02000500000000000000" pitchFamily="2" charset="-122"/>
                </a:rPr>
                <a:t>运行时间（秒）</a:t>
              </a:r>
              <a:endParaRPr lang="zh-CN" altLang="en-GB" sz="1400" b="1" dirty="0">
                <a:solidFill>
                  <a:srgbClr val="000000"/>
                </a:solidFill>
                <a:latin typeface="宋体" panose="02000500000000000000" pitchFamily="2" charset="-122"/>
              </a:endParaRPr>
            </a:p>
          </p:txBody>
        </p:sp>
        <p:sp>
          <p:nvSpPr>
            <p:cNvPr id="27711" name="Rectangle 61"/>
            <p:cNvSpPr/>
            <p:nvPr/>
          </p:nvSpPr>
          <p:spPr>
            <a:xfrm>
              <a:off x="549" y="2956"/>
              <a:ext cx="1606" cy="268"/>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zh-CN" altLang="en-GB" sz="1400" b="1" dirty="0">
                  <a:solidFill>
                    <a:srgbClr val="000000"/>
                  </a:solidFill>
                  <a:latin typeface="宋体" panose="02000500000000000000" pitchFamily="2" charset="-122"/>
                </a:rPr>
                <a:t>测试程序</a:t>
              </a:r>
              <a:endParaRPr lang="zh-CN" altLang="en-GB" sz="1400" b="1" dirty="0">
                <a:solidFill>
                  <a:srgbClr val="000000"/>
                </a:solidFill>
                <a:latin typeface="宋体" panose="02000500000000000000" pitchFamily="2" charset="-122"/>
              </a:endParaRPr>
            </a:p>
          </p:txBody>
        </p:sp>
        <p:sp>
          <p:nvSpPr>
            <p:cNvPr id="27712" name="Line 62"/>
            <p:cNvSpPr/>
            <p:nvPr/>
          </p:nvSpPr>
          <p:spPr>
            <a:xfrm>
              <a:off x="549" y="2956"/>
              <a:ext cx="5860" cy="1"/>
            </a:xfrm>
            <a:prstGeom prst="line">
              <a:avLst/>
            </a:prstGeom>
            <a:ln w="12600" cap="flat" cmpd="sng">
              <a:solidFill>
                <a:srgbClr val="000000"/>
              </a:solidFill>
              <a:prstDash val="solid"/>
              <a:miter/>
              <a:headEnd type="none" w="med" len="med"/>
              <a:tailEnd type="none" w="med" len="med"/>
            </a:ln>
          </p:spPr>
        </p:sp>
        <p:sp>
          <p:nvSpPr>
            <p:cNvPr id="27713" name="Line 63"/>
            <p:cNvSpPr/>
            <p:nvPr/>
          </p:nvSpPr>
          <p:spPr>
            <a:xfrm>
              <a:off x="549" y="4162"/>
              <a:ext cx="5860" cy="1"/>
            </a:xfrm>
            <a:prstGeom prst="line">
              <a:avLst/>
            </a:prstGeom>
            <a:ln w="12600" cap="flat" cmpd="sng">
              <a:solidFill>
                <a:srgbClr val="000000"/>
              </a:solidFill>
              <a:prstDash val="solid"/>
              <a:miter/>
              <a:headEnd type="none" w="med" len="med"/>
              <a:tailEnd type="none" w="med" len="med"/>
            </a:ln>
          </p:spPr>
        </p:sp>
        <p:sp>
          <p:nvSpPr>
            <p:cNvPr id="27714" name="Line 64"/>
            <p:cNvSpPr/>
            <p:nvPr/>
          </p:nvSpPr>
          <p:spPr>
            <a:xfrm>
              <a:off x="549" y="2956"/>
              <a:ext cx="1" cy="1206"/>
            </a:xfrm>
            <a:prstGeom prst="line">
              <a:avLst/>
            </a:prstGeom>
            <a:ln w="12600" cap="flat" cmpd="sng">
              <a:solidFill>
                <a:srgbClr val="000000"/>
              </a:solidFill>
              <a:prstDash val="solid"/>
              <a:miter/>
              <a:headEnd type="none" w="med" len="med"/>
              <a:tailEnd type="none" w="med" len="med"/>
            </a:ln>
          </p:spPr>
        </p:sp>
        <p:sp>
          <p:nvSpPr>
            <p:cNvPr id="27715" name="Line 65"/>
            <p:cNvSpPr/>
            <p:nvPr/>
          </p:nvSpPr>
          <p:spPr>
            <a:xfrm>
              <a:off x="6409" y="2956"/>
              <a:ext cx="1" cy="1206"/>
            </a:xfrm>
            <a:prstGeom prst="line">
              <a:avLst/>
            </a:prstGeom>
            <a:ln w="12600" cap="flat" cmpd="sng">
              <a:solidFill>
                <a:srgbClr val="000000"/>
              </a:solidFill>
              <a:prstDash val="solid"/>
              <a:miter/>
              <a:headEnd type="none" w="med" len="med"/>
              <a:tailEnd type="none" w="med" len="med"/>
            </a:ln>
          </p:spPr>
        </p:sp>
        <p:sp>
          <p:nvSpPr>
            <p:cNvPr id="27716" name="Line 66"/>
            <p:cNvSpPr/>
            <p:nvPr/>
          </p:nvSpPr>
          <p:spPr>
            <a:xfrm>
              <a:off x="549" y="3224"/>
              <a:ext cx="5860" cy="1"/>
            </a:xfrm>
            <a:prstGeom prst="line">
              <a:avLst/>
            </a:prstGeom>
            <a:ln w="12600" cap="flat" cmpd="sng">
              <a:solidFill>
                <a:srgbClr val="000000"/>
              </a:solidFill>
              <a:prstDash val="solid"/>
              <a:miter/>
              <a:headEnd type="none" w="med" len="med"/>
              <a:tailEnd type="none" w="med" len="med"/>
            </a:ln>
          </p:spPr>
        </p:sp>
        <p:sp>
          <p:nvSpPr>
            <p:cNvPr id="27717" name="Line 67"/>
            <p:cNvSpPr/>
            <p:nvPr/>
          </p:nvSpPr>
          <p:spPr>
            <a:xfrm>
              <a:off x="2155" y="2956"/>
              <a:ext cx="1" cy="1206"/>
            </a:xfrm>
            <a:prstGeom prst="line">
              <a:avLst/>
            </a:prstGeom>
            <a:ln w="12600" cap="flat" cmpd="sng">
              <a:solidFill>
                <a:srgbClr val="000000"/>
              </a:solidFill>
              <a:prstDash val="solid"/>
              <a:miter/>
              <a:headEnd type="none" w="med" len="med"/>
              <a:tailEnd type="none" w="med" len="med"/>
            </a:ln>
          </p:spPr>
        </p:sp>
        <p:sp>
          <p:nvSpPr>
            <p:cNvPr id="27718" name="Line 68"/>
            <p:cNvSpPr/>
            <p:nvPr/>
          </p:nvSpPr>
          <p:spPr>
            <a:xfrm>
              <a:off x="3046" y="3090"/>
              <a:ext cx="1" cy="1072"/>
            </a:xfrm>
            <a:prstGeom prst="line">
              <a:avLst/>
            </a:prstGeom>
            <a:ln w="12600" cap="flat" cmpd="sng">
              <a:solidFill>
                <a:srgbClr val="000000"/>
              </a:solidFill>
              <a:prstDash val="solid"/>
              <a:miter/>
              <a:headEnd type="none" w="med" len="med"/>
              <a:tailEnd type="none" w="med" len="med"/>
            </a:ln>
          </p:spPr>
        </p:sp>
        <p:sp>
          <p:nvSpPr>
            <p:cNvPr id="27719" name="Line 69"/>
            <p:cNvSpPr/>
            <p:nvPr/>
          </p:nvSpPr>
          <p:spPr>
            <a:xfrm>
              <a:off x="2155" y="3090"/>
              <a:ext cx="4254" cy="1"/>
            </a:xfrm>
            <a:prstGeom prst="line">
              <a:avLst/>
            </a:prstGeom>
            <a:ln w="12600" cap="flat" cmpd="sng">
              <a:solidFill>
                <a:srgbClr val="000000"/>
              </a:solidFill>
              <a:prstDash val="solid"/>
              <a:miter/>
              <a:headEnd type="none" w="med" len="med"/>
              <a:tailEnd type="none" w="med" len="med"/>
            </a:ln>
          </p:spPr>
        </p:sp>
        <p:sp>
          <p:nvSpPr>
            <p:cNvPr id="27720" name="Line 70"/>
            <p:cNvSpPr/>
            <p:nvPr/>
          </p:nvSpPr>
          <p:spPr>
            <a:xfrm>
              <a:off x="4382" y="2956"/>
              <a:ext cx="1" cy="1206"/>
            </a:xfrm>
            <a:prstGeom prst="line">
              <a:avLst/>
            </a:prstGeom>
            <a:ln w="12600" cap="flat" cmpd="sng">
              <a:solidFill>
                <a:srgbClr val="000000"/>
              </a:solidFill>
              <a:prstDash val="solid"/>
              <a:miter/>
              <a:headEnd type="none" w="med" len="med"/>
              <a:tailEnd type="none" w="med" len="med"/>
            </a:ln>
          </p:spPr>
        </p:sp>
        <p:sp>
          <p:nvSpPr>
            <p:cNvPr id="27721" name="Line 71"/>
            <p:cNvSpPr/>
            <p:nvPr/>
          </p:nvSpPr>
          <p:spPr>
            <a:xfrm>
              <a:off x="3758" y="3090"/>
              <a:ext cx="1" cy="1072"/>
            </a:xfrm>
            <a:prstGeom prst="line">
              <a:avLst/>
            </a:prstGeom>
            <a:ln w="12600" cap="flat" cmpd="sng">
              <a:solidFill>
                <a:srgbClr val="000000"/>
              </a:solidFill>
              <a:prstDash val="solid"/>
              <a:miter/>
              <a:headEnd type="none" w="med" len="med"/>
              <a:tailEnd type="none" w="med" len="med"/>
            </a:ln>
          </p:spPr>
        </p:sp>
        <p:sp>
          <p:nvSpPr>
            <p:cNvPr id="27722" name="Line 72"/>
            <p:cNvSpPr/>
            <p:nvPr/>
          </p:nvSpPr>
          <p:spPr>
            <a:xfrm>
              <a:off x="5272" y="3090"/>
              <a:ext cx="1" cy="1072"/>
            </a:xfrm>
            <a:prstGeom prst="line">
              <a:avLst/>
            </a:prstGeom>
            <a:ln w="12600" cap="flat" cmpd="sng">
              <a:solidFill>
                <a:srgbClr val="000000"/>
              </a:solidFill>
              <a:prstDash val="solid"/>
              <a:miter/>
              <a:headEnd type="none" w="med" len="med"/>
              <a:tailEnd type="none" w="med" len="med"/>
            </a:ln>
          </p:spPr>
        </p:sp>
        <p:sp>
          <p:nvSpPr>
            <p:cNvPr id="27723" name="Line 73"/>
            <p:cNvSpPr/>
            <p:nvPr/>
          </p:nvSpPr>
          <p:spPr>
            <a:xfrm>
              <a:off x="5842" y="3090"/>
              <a:ext cx="1" cy="1072"/>
            </a:xfrm>
            <a:prstGeom prst="line">
              <a:avLst/>
            </a:prstGeom>
            <a:ln w="12600" cap="flat" cmpd="sng">
              <a:solidFill>
                <a:srgbClr val="000000"/>
              </a:solidFill>
              <a:prstDash val="solid"/>
              <a:miter/>
              <a:headEnd type="none" w="med" len="med"/>
              <a:tailEnd type="none" w="med" len="med"/>
            </a:ln>
          </p:spPr>
        </p:sp>
        <p:sp>
          <p:nvSpPr>
            <p:cNvPr id="27724" name="Line 74"/>
            <p:cNvSpPr/>
            <p:nvPr/>
          </p:nvSpPr>
          <p:spPr>
            <a:xfrm>
              <a:off x="549" y="3358"/>
              <a:ext cx="5860" cy="1"/>
            </a:xfrm>
            <a:prstGeom prst="line">
              <a:avLst/>
            </a:prstGeom>
            <a:ln w="12600" cap="flat" cmpd="sng">
              <a:solidFill>
                <a:srgbClr val="000000"/>
              </a:solidFill>
              <a:prstDash val="solid"/>
              <a:miter/>
              <a:headEnd type="none" w="med" len="med"/>
              <a:tailEnd type="none" w="med" len="med"/>
            </a:ln>
          </p:spPr>
        </p:sp>
        <p:sp>
          <p:nvSpPr>
            <p:cNvPr id="27725" name="Line 75"/>
            <p:cNvSpPr/>
            <p:nvPr/>
          </p:nvSpPr>
          <p:spPr>
            <a:xfrm>
              <a:off x="549" y="3492"/>
              <a:ext cx="5860" cy="1"/>
            </a:xfrm>
            <a:prstGeom prst="line">
              <a:avLst/>
            </a:prstGeom>
            <a:ln w="12600" cap="flat" cmpd="sng">
              <a:solidFill>
                <a:srgbClr val="000000"/>
              </a:solidFill>
              <a:prstDash val="solid"/>
              <a:miter/>
              <a:headEnd type="none" w="med" len="med"/>
              <a:tailEnd type="none" w="med" len="med"/>
            </a:ln>
          </p:spPr>
        </p:sp>
        <p:sp>
          <p:nvSpPr>
            <p:cNvPr id="27726" name="Line 76"/>
            <p:cNvSpPr/>
            <p:nvPr/>
          </p:nvSpPr>
          <p:spPr>
            <a:xfrm>
              <a:off x="549" y="3626"/>
              <a:ext cx="5860" cy="1"/>
            </a:xfrm>
            <a:prstGeom prst="line">
              <a:avLst/>
            </a:prstGeom>
            <a:ln w="12600" cap="flat" cmpd="sng">
              <a:solidFill>
                <a:srgbClr val="000000"/>
              </a:solidFill>
              <a:prstDash val="solid"/>
              <a:miter/>
              <a:headEnd type="none" w="med" len="med"/>
              <a:tailEnd type="none" w="med" len="med"/>
            </a:ln>
          </p:spPr>
        </p:sp>
        <p:sp>
          <p:nvSpPr>
            <p:cNvPr id="27727" name="Line 77"/>
            <p:cNvSpPr/>
            <p:nvPr/>
          </p:nvSpPr>
          <p:spPr>
            <a:xfrm>
              <a:off x="549" y="3760"/>
              <a:ext cx="5860" cy="1"/>
            </a:xfrm>
            <a:prstGeom prst="line">
              <a:avLst/>
            </a:prstGeom>
            <a:ln w="12600" cap="flat" cmpd="sng">
              <a:solidFill>
                <a:srgbClr val="000000"/>
              </a:solidFill>
              <a:prstDash val="solid"/>
              <a:miter/>
              <a:headEnd type="none" w="med" len="med"/>
              <a:tailEnd type="none" w="med" len="med"/>
            </a:ln>
          </p:spPr>
        </p:sp>
        <p:sp>
          <p:nvSpPr>
            <p:cNvPr id="27728" name="Line 78"/>
            <p:cNvSpPr/>
            <p:nvPr/>
          </p:nvSpPr>
          <p:spPr>
            <a:xfrm>
              <a:off x="549" y="3894"/>
              <a:ext cx="5860" cy="1"/>
            </a:xfrm>
            <a:prstGeom prst="line">
              <a:avLst/>
            </a:prstGeom>
            <a:ln w="12600" cap="flat" cmpd="sng">
              <a:solidFill>
                <a:srgbClr val="000000"/>
              </a:solidFill>
              <a:prstDash val="solid"/>
              <a:miter/>
              <a:headEnd type="none" w="med" len="med"/>
              <a:tailEnd type="none" w="med" len="med"/>
            </a:ln>
          </p:spPr>
        </p:sp>
        <p:sp>
          <p:nvSpPr>
            <p:cNvPr id="27729" name="Line 79"/>
            <p:cNvSpPr/>
            <p:nvPr/>
          </p:nvSpPr>
          <p:spPr>
            <a:xfrm>
              <a:off x="549" y="4028"/>
              <a:ext cx="5860" cy="1"/>
            </a:xfrm>
            <a:prstGeom prst="line">
              <a:avLst/>
            </a:prstGeom>
            <a:ln w="12600" cap="flat" cmpd="sng">
              <a:solidFill>
                <a:srgbClr val="000000"/>
              </a:solidFill>
              <a:prstDash val="solid"/>
              <a:miter/>
              <a:headEnd type="none" w="med" len="med"/>
              <a:tailEnd type="none" w="med" len="med"/>
            </a:ln>
          </p:spPr>
        </p:sp>
      </p:gr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28675" name="Rectangle 1"/>
          <p:cNvSpPr/>
          <p:nvPr>
            <p:ph type="title"/>
          </p:nvPr>
        </p:nvSpPr>
        <p:spPr>
          <a:xfrm>
            <a:off x="896938" y="0"/>
            <a:ext cx="10364787"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en-GB" altLang="zh-CN" dirty="0">
                <a:ea typeface="宋体" panose="02000500000000000000" pitchFamily="2" charset="-122"/>
              </a:rPr>
              <a:t>FPGA</a:t>
            </a:r>
            <a:r>
              <a:rPr lang="zh-CN" altLang="en-GB" dirty="0"/>
              <a:t>和硅片的参数校准</a:t>
            </a:r>
            <a:endParaRPr lang="zh-CN" altLang="en-GB" dirty="0"/>
          </a:p>
        </p:txBody>
      </p:sp>
      <p:sp>
        <p:nvSpPr>
          <p:cNvPr id="28676" name="Rectangle 2"/>
          <p:cNvSpPr/>
          <p:nvPr>
            <p:ph idx="1"/>
          </p:nvPr>
        </p:nvSpPr>
        <p:spPr>
          <a:xfrm>
            <a:off x="239713" y="1304925"/>
            <a:ext cx="5340350" cy="4443413"/>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Lst>
            </a:pPr>
            <a:r>
              <a:rPr lang="zh-CN" altLang="en-GB" sz="2000" dirty="0">
                <a:cs typeface="宋体" panose="02000500000000000000" pitchFamily="2" charset="-122"/>
              </a:rPr>
              <a:t>在龙芯</a:t>
            </a:r>
            <a:r>
              <a:rPr lang="en-GB" altLang="zh-CN" sz="2000" dirty="0">
                <a:cs typeface="宋体" panose="02000500000000000000" pitchFamily="2" charset="-122"/>
              </a:rPr>
              <a:t>2C</a:t>
            </a:r>
            <a:r>
              <a:rPr lang="zh-CN" altLang="en-GB" sz="2000" dirty="0">
                <a:cs typeface="宋体" panose="02000500000000000000" pitchFamily="2" charset="-122"/>
              </a:rPr>
              <a:t>中，对</a:t>
            </a:r>
            <a:r>
              <a:rPr lang="en-GB" altLang="zh-CN" sz="2000" dirty="0">
                <a:cs typeface="宋体" panose="02000500000000000000" pitchFamily="2" charset="-122"/>
              </a:rPr>
              <a:t>FPGA</a:t>
            </a:r>
            <a:r>
              <a:rPr lang="zh-CN" altLang="en-GB" sz="2000" dirty="0">
                <a:cs typeface="宋体" panose="02000500000000000000" pitchFamily="2" charset="-122"/>
              </a:rPr>
              <a:t>和真实芯片性能进行了认真的校准</a:t>
            </a:r>
            <a:endParaRPr lang="zh-CN" altLang="en-GB" sz="20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Lst>
            </a:pPr>
            <a:r>
              <a:rPr lang="zh-CN" altLang="en-GB" sz="1600" dirty="0">
                <a:cs typeface="宋体" panose="02000500000000000000" pitchFamily="2" charset="-122"/>
              </a:rPr>
              <a:t>即便如此，部分程序仍有</a:t>
            </a:r>
            <a:r>
              <a:rPr lang="en-GB" altLang="zh-CN" sz="1600" dirty="0">
                <a:cs typeface="宋体" panose="02000500000000000000" pitchFamily="2" charset="-122"/>
              </a:rPr>
              <a:t>10%</a:t>
            </a:r>
            <a:r>
              <a:rPr lang="zh-CN" altLang="en-GB" sz="1600" dirty="0">
                <a:cs typeface="宋体" panose="02000500000000000000" pitchFamily="2" charset="-122"/>
              </a:rPr>
              <a:t>的差距</a:t>
            </a:r>
            <a:endParaRPr lang="zh-CN" altLang="en-GB" sz="16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Lst>
            </a:pPr>
            <a:r>
              <a:rPr lang="zh-CN" altLang="en-GB" sz="2000" dirty="0">
                <a:cs typeface="宋体" panose="02000500000000000000" pitchFamily="2" charset="-122"/>
              </a:rPr>
              <a:t>龙芯</a:t>
            </a:r>
            <a:r>
              <a:rPr lang="en-GB" altLang="zh-CN" sz="2000" dirty="0">
                <a:cs typeface="宋体" panose="02000500000000000000" pitchFamily="2" charset="-122"/>
              </a:rPr>
              <a:t>2E</a:t>
            </a:r>
            <a:r>
              <a:rPr lang="zh-CN" altLang="en-GB" sz="2000" dirty="0">
                <a:cs typeface="宋体" panose="02000500000000000000" pitchFamily="2" charset="-122"/>
              </a:rPr>
              <a:t>在</a:t>
            </a:r>
            <a:r>
              <a:rPr lang="en-GB" altLang="zh-CN" sz="2000" dirty="0">
                <a:cs typeface="宋体" panose="02000500000000000000" pitchFamily="2" charset="-122"/>
              </a:rPr>
              <a:t>FPGA</a:t>
            </a:r>
            <a:r>
              <a:rPr lang="zh-CN" altLang="en-GB" sz="2000" dirty="0">
                <a:cs typeface="宋体" panose="02000500000000000000" pitchFamily="2" charset="-122"/>
              </a:rPr>
              <a:t>阶段对</a:t>
            </a:r>
            <a:r>
              <a:rPr lang="en-GB" altLang="zh-CN" sz="2000" dirty="0">
                <a:cs typeface="宋体" panose="02000500000000000000" pitchFamily="2" charset="-122"/>
              </a:rPr>
              <a:t>SPEC CPU2000</a:t>
            </a:r>
            <a:r>
              <a:rPr lang="zh-CN" altLang="en-GB" sz="2000" dirty="0">
                <a:cs typeface="宋体" panose="02000500000000000000" pitchFamily="2" charset="-122"/>
              </a:rPr>
              <a:t>分值进行评估，使用了比较保守的延迟参数后，性能仍然高估</a:t>
            </a:r>
            <a:r>
              <a:rPr lang="en-GB" altLang="zh-CN" sz="2000" dirty="0">
                <a:cs typeface="宋体" panose="02000500000000000000" pitchFamily="2" charset="-122"/>
              </a:rPr>
              <a:t>10%-20%</a:t>
            </a:r>
            <a:endParaRPr lang="en-GB" altLang="zh-CN" sz="20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Lst>
            </a:pPr>
            <a:r>
              <a:rPr lang="zh-CN" altLang="en-GB" sz="1600" dirty="0">
                <a:cs typeface="宋体" panose="02000500000000000000" pitchFamily="2" charset="-122"/>
              </a:rPr>
              <a:t>忽略了访存冲突</a:t>
            </a:r>
            <a:endParaRPr lang="zh-CN" altLang="en-GB" sz="16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Lst>
            </a:pPr>
            <a:r>
              <a:rPr lang="zh-CN" altLang="en-GB" sz="1600" dirty="0">
                <a:cs typeface="宋体" panose="02000500000000000000" pitchFamily="2" charset="-122"/>
              </a:rPr>
              <a:t>良好的愿望</a:t>
            </a:r>
            <a:endParaRPr lang="zh-CN" altLang="en-GB" sz="1600" dirty="0">
              <a:cs typeface="宋体" panose="02000500000000000000" pitchFamily="2" charset="-122"/>
            </a:endParaRPr>
          </a:p>
        </p:txBody>
      </p:sp>
      <p:grpSp>
        <p:nvGrpSpPr>
          <p:cNvPr id="28677" name="Group 3"/>
          <p:cNvGrpSpPr/>
          <p:nvPr/>
        </p:nvGrpSpPr>
        <p:grpSpPr>
          <a:xfrm>
            <a:off x="2066925" y="5781675"/>
            <a:ext cx="9771063" cy="869950"/>
            <a:chOff x="1169" y="3642"/>
            <a:chExt cx="5526" cy="548"/>
          </a:xfrm>
        </p:grpSpPr>
        <p:sp>
          <p:nvSpPr>
            <p:cNvPr id="28828" name="Rectangle 4"/>
            <p:cNvSpPr/>
            <p:nvPr/>
          </p:nvSpPr>
          <p:spPr>
            <a:xfrm>
              <a:off x="5941" y="4053"/>
              <a:ext cx="754"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77.20</a:t>
              </a:r>
              <a:endParaRPr lang="en-GB" altLang="zh-CN" sz="1200" dirty="0">
                <a:solidFill>
                  <a:srgbClr val="000000"/>
                </a:solidFill>
                <a:latin typeface="Times New Roman" pitchFamily="18" charset="0"/>
              </a:endParaRPr>
            </a:p>
          </p:txBody>
        </p:sp>
        <p:sp>
          <p:nvSpPr>
            <p:cNvPr id="28829" name="Rectangle 5"/>
            <p:cNvSpPr/>
            <p:nvPr/>
          </p:nvSpPr>
          <p:spPr>
            <a:xfrm>
              <a:off x="5243" y="4053"/>
              <a:ext cx="698"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76.20</a:t>
              </a:r>
              <a:endParaRPr lang="en-GB" altLang="zh-CN" sz="1200" dirty="0">
                <a:solidFill>
                  <a:srgbClr val="000000"/>
                </a:solidFill>
                <a:latin typeface="Times New Roman" pitchFamily="18" charset="0"/>
              </a:endParaRPr>
            </a:p>
          </p:txBody>
        </p:sp>
        <p:sp>
          <p:nvSpPr>
            <p:cNvPr id="28830" name="Rectangle 6"/>
            <p:cNvSpPr/>
            <p:nvPr/>
          </p:nvSpPr>
          <p:spPr>
            <a:xfrm>
              <a:off x="4391" y="4053"/>
              <a:ext cx="852"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70.30</a:t>
              </a:r>
              <a:endParaRPr lang="en-GB" altLang="zh-CN" sz="1200" dirty="0">
                <a:solidFill>
                  <a:srgbClr val="000000"/>
                </a:solidFill>
                <a:latin typeface="Times New Roman" pitchFamily="18" charset="0"/>
              </a:endParaRPr>
            </a:p>
          </p:txBody>
        </p:sp>
        <p:sp>
          <p:nvSpPr>
            <p:cNvPr id="28831" name="Rectangle 7"/>
            <p:cNvSpPr/>
            <p:nvPr/>
          </p:nvSpPr>
          <p:spPr>
            <a:xfrm>
              <a:off x="3611" y="4053"/>
              <a:ext cx="780"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71.70</a:t>
              </a:r>
              <a:endParaRPr lang="en-GB" altLang="zh-CN" sz="1200" dirty="0">
                <a:solidFill>
                  <a:srgbClr val="000000"/>
                </a:solidFill>
                <a:latin typeface="Times New Roman" pitchFamily="18" charset="0"/>
              </a:endParaRPr>
            </a:p>
          </p:txBody>
        </p:sp>
        <p:sp>
          <p:nvSpPr>
            <p:cNvPr id="28832" name="Rectangle 8"/>
            <p:cNvSpPr/>
            <p:nvPr/>
          </p:nvSpPr>
          <p:spPr>
            <a:xfrm>
              <a:off x="2773" y="4053"/>
              <a:ext cx="838"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37.98</a:t>
              </a:r>
              <a:endParaRPr lang="en-GB" altLang="zh-CN" sz="1200" dirty="0">
                <a:solidFill>
                  <a:srgbClr val="000000"/>
                </a:solidFill>
                <a:latin typeface="Times New Roman" pitchFamily="18" charset="0"/>
              </a:endParaRPr>
            </a:p>
          </p:txBody>
        </p:sp>
        <p:sp>
          <p:nvSpPr>
            <p:cNvPr id="28833" name="Rectangle 9"/>
            <p:cNvSpPr/>
            <p:nvPr/>
          </p:nvSpPr>
          <p:spPr>
            <a:xfrm>
              <a:off x="1979" y="4053"/>
              <a:ext cx="794"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25.97</a:t>
              </a:r>
              <a:endParaRPr lang="en-GB" altLang="zh-CN" sz="1200" dirty="0">
                <a:solidFill>
                  <a:srgbClr val="000000"/>
                </a:solidFill>
                <a:latin typeface="Times New Roman" pitchFamily="18" charset="0"/>
              </a:endParaRPr>
            </a:p>
          </p:txBody>
        </p:sp>
        <p:sp>
          <p:nvSpPr>
            <p:cNvPr id="28834" name="Rectangle 10"/>
            <p:cNvSpPr/>
            <p:nvPr/>
          </p:nvSpPr>
          <p:spPr>
            <a:xfrm>
              <a:off x="1169" y="4053"/>
              <a:ext cx="810" cy="137"/>
            </a:xfrm>
            <a:prstGeom prst="rect">
              <a:avLst/>
            </a:prstGeom>
            <a:noFill/>
            <a:ln w="9525">
              <a:noFill/>
            </a:ln>
          </p:spPr>
          <p:txBody>
            <a:bodyPr lIns="18000" tIns="18000" rIns="18000" bIns="18000" anchor="b" anchorCtr="0"/>
            <a:p>
              <a:pPr algn="just"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FPGA</a:t>
              </a:r>
              <a:endParaRPr lang="en-GB" altLang="zh-CN" sz="1200" dirty="0">
                <a:solidFill>
                  <a:srgbClr val="000000"/>
                </a:solidFill>
                <a:latin typeface="Times New Roman" pitchFamily="18" charset="0"/>
              </a:endParaRPr>
            </a:p>
          </p:txBody>
        </p:sp>
        <p:sp>
          <p:nvSpPr>
            <p:cNvPr id="28835" name="Rectangle 11"/>
            <p:cNvSpPr/>
            <p:nvPr/>
          </p:nvSpPr>
          <p:spPr>
            <a:xfrm>
              <a:off x="5941" y="3916"/>
              <a:ext cx="754"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76.09</a:t>
              </a:r>
              <a:endParaRPr lang="en-GB" altLang="zh-CN" sz="1200" dirty="0">
                <a:solidFill>
                  <a:srgbClr val="000000"/>
                </a:solidFill>
                <a:latin typeface="Times New Roman" pitchFamily="18" charset="0"/>
              </a:endParaRPr>
            </a:p>
          </p:txBody>
        </p:sp>
        <p:sp>
          <p:nvSpPr>
            <p:cNvPr id="28836" name="Rectangle 12"/>
            <p:cNvSpPr/>
            <p:nvPr/>
          </p:nvSpPr>
          <p:spPr>
            <a:xfrm>
              <a:off x="5243" y="3916"/>
              <a:ext cx="698"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75.12</a:t>
              </a:r>
              <a:endParaRPr lang="en-GB" altLang="zh-CN" sz="1200" dirty="0">
                <a:solidFill>
                  <a:srgbClr val="000000"/>
                </a:solidFill>
                <a:latin typeface="Times New Roman" pitchFamily="18" charset="0"/>
              </a:endParaRPr>
            </a:p>
          </p:txBody>
        </p:sp>
        <p:sp>
          <p:nvSpPr>
            <p:cNvPr id="28837" name="Rectangle 13"/>
            <p:cNvSpPr/>
            <p:nvPr/>
          </p:nvSpPr>
          <p:spPr>
            <a:xfrm>
              <a:off x="4391" y="3916"/>
              <a:ext cx="852"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70.00</a:t>
              </a:r>
              <a:endParaRPr lang="en-GB" altLang="zh-CN" sz="1200" dirty="0">
                <a:solidFill>
                  <a:srgbClr val="000000"/>
                </a:solidFill>
                <a:latin typeface="Times New Roman" pitchFamily="18" charset="0"/>
              </a:endParaRPr>
            </a:p>
          </p:txBody>
        </p:sp>
        <p:sp>
          <p:nvSpPr>
            <p:cNvPr id="28838" name="Rectangle 14"/>
            <p:cNvSpPr/>
            <p:nvPr/>
          </p:nvSpPr>
          <p:spPr>
            <a:xfrm>
              <a:off x="3611" y="3916"/>
              <a:ext cx="780"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71.88</a:t>
              </a:r>
              <a:endParaRPr lang="en-GB" altLang="zh-CN" sz="1200" dirty="0">
                <a:solidFill>
                  <a:srgbClr val="000000"/>
                </a:solidFill>
                <a:latin typeface="Times New Roman" pitchFamily="18" charset="0"/>
              </a:endParaRPr>
            </a:p>
          </p:txBody>
        </p:sp>
        <p:sp>
          <p:nvSpPr>
            <p:cNvPr id="28839" name="Rectangle 15"/>
            <p:cNvSpPr/>
            <p:nvPr/>
          </p:nvSpPr>
          <p:spPr>
            <a:xfrm>
              <a:off x="2773" y="3916"/>
              <a:ext cx="838"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37.88</a:t>
              </a:r>
              <a:endParaRPr lang="en-GB" altLang="zh-CN" sz="1200" dirty="0">
                <a:solidFill>
                  <a:srgbClr val="000000"/>
                </a:solidFill>
                <a:latin typeface="Times New Roman" pitchFamily="18" charset="0"/>
              </a:endParaRPr>
            </a:p>
          </p:txBody>
        </p:sp>
        <p:sp>
          <p:nvSpPr>
            <p:cNvPr id="28840" name="Rectangle 16"/>
            <p:cNvSpPr/>
            <p:nvPr/>
          </p:nvSpPr>
          <p:spPr>
            <a:xfrm>
              <a:off x="1979" y="3916"/>
              <a:ext cx="794"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26.00</a:t>
              </a:r>
              <a:endParaRPr lang="en-GB" altLang="zh-CN" sz="1200" dirty="0">
                <a:solidFill>
                  <a:srgbClr val="000000"/>
                </a:solidFill>
                <a:latin typeface="Times New Roman" pitchFamily="18" charset="0"/>
              </a:endParaRPr>
            </a:p>
          </p:txBody>
        </p:sp>
        <p:sp>
          <p:nvSpPr>
            <p:cNvPr id="28841" name="Rectangle 17"/>
            <p:cNvSpPr/>
            <p:nvPr/>
          </p:nvSpPr>
          <p:spPr>
            <a:xfrm>
              <a:off x="1169" y="3916"/>
              <a:ext cx="810" cy="137"/>
            </a:xfrm>
            <a:prstGeom prst="rect">
              <a:avLst/>
            </a:prstGeom>
            <a:noFill/>
            <a:ln w="9525">
              <a:noFill/>
            </a:ln>
          </p:spPr>
          <p:txBody>
            <a:bodyPr lIns="18000" tIns="18000" rIns="18000" bIns="18000" anchor="b" anchorCtr="0"/>
            <a:p>
              <a:pPr algn="just"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Godson-2C</a:t>
              </a:r>
              <a:endParaRPr lang="en-GB" altLang="zh-CN" sz="1200" dirty="0">
                <a:solidFill>
                  <a:srgbClr val="000000"/>
                </a:solidFill>
                <a:latin typeface="Times New Roman" pitchFamily="18" charset="0"/>
              </a:endParaRPr>
            </a:p>
          </p:txBody>
        </p:sp>
        <p:sp>
          <p:nvSpPr>
            <p:cNvPr id="28842" name="Rectangle 18"/>
            <p:cNvSpPr/>
            <p:nvPr/>
          </p:nvSpPr>
          <p:spPr>
            <a:xfrm>
              <a:off x="5941" y="3779"/>
              <a:ext cx="754" cy="137"/>
            </a:xfrm>
            <a:prstGeom prst="rect">
              <a:avLst/>
            </a:prstGeom>
            <a:noFill/>
            <a:ln w="9525">
              <a:noFill/>
            </a:ln>
          </p:spPr>
          <p:txBody>
            <a:bodyPr lIns="18000" tIns="18000" rIns="18000" bIns="18000" anchor="b" anchorCtr="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Triad (MB/s)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843" name="Rectangle 19"/>
            <p:cNvSpPr/>
            <p:nvPr/>
          </p:nvSpPr>
          <p:spPr>
            <a:xfrm>
              <a:off x="5243" y="3779"/>
              <a:ext cx="698" cy="137"/>
            </a:xfrm>
            <a:prstGeom prst="rect">
              <a:avLst/>
            </a:prstGeom>
            <a:noFill/>
            <a:ln w="9525">
              <a:noFill/>
            </a:ln>
          </p:spPr>
          <p:txBody>
            <a:bodyPr lIns="18000" tIns="18000" rIns="18000" bIns="18000" anchor="b" anchorCtr="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Add (MB/s)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844" name="Rectangle 20"/>
            <p:cNvSpPr/>
            <p:nvPr/>
          </p:nvSpPr>
          <p:spPr>
            <a:xfrm>
              <a:off x="4391" y="3779"/>
              <a:ext cx="852" cy="137"/>
            </a:xfrm>
            <a:prstGeom prst="rect">
              <a:avLst/>
            </a:prstGeom>
            <a:noFill/>
            <a:ln w="9525">
              <a:noFill/>
            </a:ln>
          </p:spPr>
          <p:txBody>
            <a:bodyPr lIns="18000" tIns="18000" rIns="18000" bIns="18000" anchor="b" anchorCtr="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Scale (MB/s)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845" name="Rectangle 21"/>
            <p:cNvSpPr/>
            <p:nvPr/>
          </p:nvSpPr>
          <p:spPr>
            <a:xfrm>
              <a:off x="3611" y="3779"/>
              <a:ext cx="780" cy="137"/>
            </a:xfrm>
            <a:prstGeom prst="rect">
              <a:avLst/>
            </a:prstGeom>
            <a:noFill/>
            <a:ln w="9525">
              <a:noFill/>
            </a:ln>
          </p:spPr>
          <p:txBody>
            <a:bodyPr lIns="18000" tIns="18000" rIns="18000" bIns="18000" anchor="b" anchorCtr="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Copy (MB/s)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846" name="Rectangle 22"/>
            <p:cNvSpPr/>
            <p:nvPr/>
          </p:nvSpPr>
          <p:spPr>
            <a:xfrm>
              <a:off x="2773" y="3779"/>
              <a:ext cx="838" cy="137"/>
            </a:xfrm>
            <a:prstGeom prst="rect">
              <a:avLst/>
            </a:prstGeom>
            <a:noFill/>
            <a:ln w="9525">
              <a:noFill/>
            </a:ln>
          </p:spPr>
          <p:txBody>
            <a:bodyPr lIns="18000" tIns="18000" rIns="18000" bIns="18000" anchor="b" anchorCtr="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Write (cycles)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847" name="Rectangle 23"/>
            <p:cNvSpPr/>
            <p:nvPr/>
          </p:nvSpPr>
          <p:spPr>
            <a:xfrm>
              <a:off x="1979" y="3779"/>
              <a:ext cx="794" cy="137"/>
            </a:xfrm>
            <a:prstGeom prst="rect">
              <a:avLst/>
            </a:prstGeom>
            <a:noFill/>
            <a:ln w="9525">
              <a:noFill/>
            </a:ln>
          </p:spPr>
          <p:txBody>
            <a:bodyPr lIns="18000" tIns="18000" rIns="18000" bIns="18000" anchor="b" anchorCtr="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Read (cycles)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848" name="Rectangle 24"/>
            <p:cNvSpPr/>
            <p:nvPr/>
          </p:nvSpPr>
          <p:spPr>
            <a:xfrm>
              <a:off x="1169" y="3779"/>
              <a:ext cx="810" cy="137"/>
            </a:xfrm>
            <a:prstGeom prst="rect">
              <a:avLst/>
            </a:prstGeom>
            <a:noFill/>
            <a:ln w="9525">
              <a:noFill/>
            </a:ln>
          </p:spPr>
          <p:txBody>
            <a:bodyPr wrap="none" anchor="ctr" anchorCtr="0"/>
            <a:p>
              <a:endParaRPr lang="zh-CN" altLang="en-US" dirty="0">
                <a:latin typeface="Times New Roman" pitchFamily="18" charset="0"/>
              </a:endParaRPr>
            </a:p>
          </p:txBody>
        </p:sp>
        <p:sp>
          <p:nvSpPr>
            <p:cNvPr id="28849" name="Rectangle 25"/>
            <p:cNvSpPr/>
            <p:nvPr/>
          </p:nvSpPr>
          <p:spPr>
            <a:xfrm>
              <a:off x="1169" y="3642"/>
              <a:ext cx="5526" cy="137"/>
            </a:xfrm>
            <a:prstGeom prst="rect">
              <a:avLst/>
            </a:prstGeom>
            <a:noFill/>
            <a:ln w="9525">
              <a:noFill/>
            </a:ln>
          </p:spPr>
          <p:txBody>
            <a:bodyPr lIns="18000" tIns="18000" rIns="18000" bIns="1800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en-GB" altLang="zh-CN" sz="1200" dirty="0">
                  <a:solidFill>
                    <a:srgbClr val="000000"/>
                  </a:solidFill>
                  <a:latin typeface="Times New Roman" pitchFamily="18" charset="0"/>
                </a:rPr>
                <a:t>Table 2 Memory Access Correlation between Godson-2C and FPGA</a:t>
              </a:r>
              <a:endParaRPr lang="en-GB" altLang="zh-CN" sz="1200" dirty="0">
                <a:solidFill>
                  <a:srgbClr val="000000"/>
                </a:solidFill>
                <a:latin typeface="Times New Roman" pitchFamily="18" charset="0"/>
              </a:endParaRPr>
            </a:p>
          </p:txBody>
        </p:sp>
        <p:sp>
          <p:nvSpPr>
            <p:cNvPr id="28850" name="Line 26"/>
            <p:cNvSpPr/>
            <p:nvPr/>
          </p:nvSpPr>
          <p:spPr>
            <a:xfrm>
              <a:off x="1169" y="3642"/>
              <a:ext cx="5526" cy="1"/>
            </a:xfrm>
            <a:prstGeom prst="line">
              <a:avLst/>
            </a:prstGeom>
            <a:ln w="9360" cap="flat" cmpd="sng">
              <a:solidFill>
                <a:srgbClr val="000000"/>
              </a:solidFill>
              <a:prstDash val="solid"/>
              <a:miter/>
              <a:headEnd type="none" w="med" len="med"/>
              <a:tailEnd type="none" w="med" len="med"/>
            </a:ln>
          </p:spPr>
        </p:sp>
        <p:sp>
          <p:nvSpPr>
            <p:cNvPr id="28851" name="Line 27"/>
            <p:cNvSpPr/>
            <p:nvPr/>
          </p:nvSpPr>
          <p:spPr>
            <a:xfrm>
              <a:off x="1169" y="4190"/>
              <a:ext cx="5526" cy="1"/>
            </a:xfrm>
            <a:prstGeom prst="line">
              <a:avLst/>
            </a:prstGeom>
            <a:ln w="12600" cap="flat" cmpd="sng">
              <a:solidFill>
                <a:srgbClr val="000000"/>
              </a:solidFill>
              <a:prstDash val="solid"/>
              <a:miter/>
              <a:headEnd type="none" w="med" len="med"/>
              <a:tailEnd type="none" w="med" len="med"/>
            </a:ln>
          </p:spPr>
        </p:sp>
        <p:sp>
          <p:nvSpPr>
            <p:cNvPr id="28852" name="Line 28"/>
            <p:cNvSpPr/>
            <p:nvPr/>
          </p:nvSpPr>
          <p:spPr>
            <a:xfrm>
              <a:off x="1169" y="3642"/>
              <a:ext cx="1" cy="137"/>
            </a:xfrm>
            <a:prstGeom prst="line">
              <a:avLst/>
            </a:prstGeom>
            <a:ln w="9360" cap="flat" cmpd="sng">
              <a:solidFill>
                <a:srgbClr val="000000"/>
              </a:solidFill>
              <a:prstDash val="solid"/>
              <a:miter/>
              <a:headEnd type="none" w="med" len="med"/>
              <a:tailEnd type="none" w="med" len="med"/>
            </a:ln>
          </p:spPr>
        </p:sp>
        <p:sp>
          <p:nvSpPr>
            <p:cNvPr id="28853" name="Line 29"/>
            <p:cNvSpPr/>
            <p:nvPr/>
          </p:nvSpPr>
          <p:spPr>
            <a:xfrm>
              <a:off x="6695" y="3642"/>
              <a:ext cx="1" cy="137"/>
            </a:xfrm>
            <a:prstGeom prst="line">
              <a:avLst/>
            </a:prstGeom>
            <a:ln w="9360" cap="flat" cmpd="sng">
              <a:solidFill>
                <a:srgbClr val="000000"/>
              </a:solidFill>
              <a:prstDash val="solid"/>
              <a:miter/>
              <a:headEnd type="none" w="med" len="med"/>
              <a:tailEnd type="none" w="med" len="med"/>
            </a:ln>
          </p:spPr>
        </p:sp>
        <p:sp>
          <p:nvSpPr>
            <p:cNvPr id="28854" name="Line 30"/>
            <p:cNvSpPr/>
            <p:nvPr/>
          </p:nvSpPr>
          <p:spPr>
            <a:xfrm>
              <a:off x="1169" y="3779"/>
              <a:ext cx="5526" cy="1"/>
            </a:xfrm>
            <a:prstGeom prst="line">
              <a:avLst/>
            </a:prstGeom>
            <a:ln w="12600" cap="flat" cmpd="sng">
              <a:solidFill>
                <a:srgbClr val="000000"/>
              </a:solidFill>
              <a:prstDash val="solid"/>
              <a:miter/>
              <a:headEnd type="none" w="med" len="med"/>
              <a:tailEnd type="none" w="med" len="med"/>
            </a:ln>
          </p:spPr>
        </p:sp>
        <p:sp>
          <p:nvSpPr>
            <p:cNvPr id="28855" name="Line 31"/>
            <p:cNvSpPr/>
            <p:nvPr/>
          </p:nvSpPr>
          <p:spPr>
            <a:xfrm>
              <a:off x="1169" y="3779"/>
              <a:ext cx="1" cy="411"/>
            </a:xfrm>
            <a:prstGeom prst="line">
              <a:avLst/>
            </a:prstGeom>
            <a:ln w="12600" cap="flat" cmpd="sng">
              <a:solidFill>
                <a:srgbClr val="000000"/>
              </a:solidFill>
              <a:prstDash val="solid"/>
              <a:miter/>
              <a:headEnd type="none" w="med" len="med"/>
              <a:tailEnd type="none" w="med" len="med"/>
            </a:ln>
          </p:spPr>
        </p:sp>
        <p:sp>
          <p:nvSpPr>
            <p:cNvPr id="28856" name="Line 32"/>
            <p:cNvSpPr/>
            <p:nvPr/>
          </p:nvSpPr>
          <p:spPr>
            <a:xfrm>
              <a:off x="6695" y="3779"/>
              <a:ext cx="1" cy="411"/>
            </a:xfrm>
            <a:prstGeom prst="line">
              <a:avLst/>
            </a:prstGeom>
            <a:ln w="12600" cap="flat" cmpd="sng">
              <a:solidFill>
                <a:srgbClr val="000000"/>
              </a:solidFill>
              <a:prstDash val="solid"/>
              <a:miter/>
              <a:headEnd type="none" w="med" len="med"/>
              <a:tailEnd type="none" w="med" len="med"/>
            </a:ln>
          </p:spPr>
        </p:sp>
        <p:sp>
          <p:nvSpPr>
            <p:cNvPr id="28857" name="Line 33"/>
            <p:cNvSpPr/>
            <p:nvPr/>
          </p:nvSpPr>
          <p:spPr>
            <a:xfrm>
              <a:off x="1169" y="3916"/>
              <a:ext cx="5526" cy="1"/>
            </a:xfrm>
            <a:prstGeom prst="line">
              <a:avLst/>
            </a:prstGeom>
            <a:ln w="12600" cap="flat" cmpd="sng">
              <a:solidFill>
                <a:srgbClr val="000000"/>
              </a:solidFill>
              <a:prstDash val="solid"/>
              <a:miter/>
              <a:headEnd type="none" w="med" len="med"/>
              <a:tailEnd type="none" w="med" len="med"/>
            </a:ln>
          </p:spPr>
        </p:sp>
        <p:sp>
          <p:nvSpPr>
            <p:cNvPr id="28858" name="Line 34"/>
            <p:cNvSpPr/>
            <p:nvPr/>
          </p:nvSpPr>
          <p:spPr>
            <a:xfrm>
              <a:off x="1979" y="3779"/>
              <a:ext cx="1" cy="411"/>
            </a:xfrm>
            <a:prstGeom prst="line">
              <a:avLst/>
            </a:prstGeom>
            <a:ln w="12600" cap="flat" cmpd="sng">
              <a:solidFill>
                <a:srgbClr val="000000"/>
              </a:solidFill>
              <a:prstDash val="solid"/>
              <a:miter/>
              <a:headEnd type="none" w="med" len="med"/>
              <a:tailEnd type="none" w="med" len="med"/>
            </a:ln>
          </p:spPr>
        </p:sp>
        <p:sp>
          <p:nvSpPr>
            <p:cNvPr id="28859" name="Line 35"/>
            <p:cNvSpPr/>
            <p:nvPr/>
          </p:nvSpPr>
          <p:spPr>
            <a:xfrm>
              <a:off x="2773" y="3779"/>
              <a:ext cx="1" cy="411"/>
            </a:xfrm>
            <a:prstGeom prst="line">
              <a:avLst/>
            </a:prstGeom>
            <a:ln w="9360" cap="flat" cmpd="sng">
              <a:solidFill>
                <a:srgbClr val="000000"/>
              </a:solidFill>
              <a:prstDash val="solid"/>
              <a:miter/>
              <a:headEnd type="none" w="med" len="med"/>
              <a:tailEnd type="none" w="med" len="med"/>
            </a:ln>
          </p:spPr>
        </p:sp>
        <p:sp>
          <p:nvSpPr>
            <p:cNvPr id="28860" name="Line 36"/>
            <p:cNvSpPr/>
            <p:nvPr/>
          </p:nvSpPr>
          <p:spPr>
            <a:xfrm>
              <a:off x="3611" y="3779"/>
              <a:ext cx="1" cy="411"/>
            </a:xfrm>
            <a:prstGeom prst="line">
              <a:avLst/>
            </a:prstGeom>
            <a:ln w="9360" cap="flat" cmpd="sng">
              <a:solidFill>
                <a:srgbClr val="000000"/>
              </a:solidFill>
              <a:prstDash val="solid"/>
              <a:miter/>
              <a:headEnd type="none" w="med" len="med"/>
              <a:tailEnd type="none" w="med" len="med"/>
            </a:ln>
          </p:spPr>
        </p:sp>
        <p:sp>
          <p:nvSpPr>
            <p:cNvPr id="28861" name="Line 37"/>
            <p:cNvSpPr/>
            <p:nvPr/>
          </p:nvSpPr>
          <p:spPr>
            <a:xfrm>
              <a:off x="4391" y="3779"/>
              <a:ext cx="1" cy="411"/>
            </a:xfrm>
            <a:prstGeom prst="line">
              <a:avLst/>
            </a:prstGeom>
            <a:ln w="12600" cap="flat" cmpd="sng">
              <a:solidFill>
                <a:srgbClr val="000000"/>
              </a:solidFill>
              <a:prstDash val="solid"/>
              <a:miter/>
              <a:headEnd type="none" w="med" len="med"/>
              <a:tailEnd type="none" w="med" len="med"/>
            </a:ln>
          </p:spPr>
        </p:sp>
        <p:sp>
          <p:nvSpPr>
            <p:cNvPr id="28862" name="Line 38"/>
            <p:cNvSpPr/>
            <p:nvPr/>
          </p:nvSpPr>
          <p:spPr>
            <a:xfrm>
              <a:off x="5243" y="3779"/>
              <a:ext cx="1" cy="411"/>
            </a:xfrm>
            <a:prstGeom prst="line">
              <a:avLst/>
            </a:prstGeom>
            <a:ln w="9360" cap="flat" cmpd="sng">
              <a:solidFill>
                <a:srgbClr val="000000"/>
              </a:solidFill>
              <a:prstDash val="solid"/>
              <a:miter/>
              <a:headEnd type="none" w="med" len="med"/>
              <a:tailEnd type="none" w="med" len="med"/>
            </a:ln>
          </p:spPr>
        </p:sp>
        <p:sp>
          <p:nvSpPr>
            <p:cNvPr id="28863" name="Line 39"/>
            <p:cNvSpPr/>
            <p:nvPr/>
          </p:nvSpPr>
          <p:spPr>
            <a:xfrm>
              <a:off x="5941" y="3779"/>
              <a:ext cx="1" cy="411"/>
            </a:xfrm>
            <a:prstGeom prst="line">
              <a:avLst/>
            </a:prstGeom>
            <a:ln w="9360" cap="flat" cmpd="sng">
              <a:solidFill>
                <a:srgbClr val="000000"/>
              </a:solidFill>
              <a:prstDash val="solid"/>
              <a:miter/>
              <a:headEnd type="none" w="med" len="med"/>
              <a:tailEnd type="none" w="med" len="med"/>
            </a:ln>
          </p:spPr>
        </p:sp>
        <p:sp>
          <p:nvSpPr>
            <p:cNvPr id="28864" name="Line 40"/>
            <p:cNvSpPr/>
            <p:nvPr/>
          </p:nvSpPr>
          <p:spPr>
            <a:xfrm>
              <a:off x="1169" y="4053"/>
              <a:ext cx="5526" cy="1"/>
            </a:xfrm>
            <a:prstGeom prst="line">
              <a:avLst/>
            </a:prstGeom>
            <a:ln w="12600" cap="flat" cmpd="sng">
              <a:solidFill>
                <a:srgbClr val="000000"/>
              </a:solidFill>
              <a:prstDash val="solid"/>
              <a:miter/>
              <a:headEnd type="none" w="med" len="med"/>
              <a:tailEnd type="none" w="med" len="med"/>
            </a:ln>
          </p:spPr>
        </p:sp>
      </p:grpSp>
      <p:sp>
        <p:nvSpPr>
          <p:cNvPr id="28678" name="Rectangle 41"/>
          <p:cNvSpPr/>
          <p:nvPr/>
        </p:nvSpPr>
        <p:spPr>
          <a:xfrm>
            <a:off x="0" y="893763"/>
            <a:ext cx="12190413" cy="1587"/>
          </a:xfrm>
          <a:prstGeom prst="rect">
            <a:avLst/>
          </a:prstGeom>
          <a:noFill/>
          <a:ln w="9525">
            <a:noFill/>
          </a:ln>
        </p:spPr>
        <p:txBody>
          <a:bodyPr wrap="none" anchor="ctr" anchorCtr="0"/>
          <a:p>
            <a:endParaRPr lang="zh-CN" altLang="en-US" dirty="0">
              <a:latin typeface="Times New Roman" pitchFamily="18" charset="0"/>
            </a:endParaRPr>
          </a:p>
        </p:txBody>
      </p:sp>
      <p:grpSp>
        <p:nvGrpSpPr>
          <p:cNvPr id="28679" name="Group 42"/>
          <p:cNvGrpSpPr/>
          <p:nvPr/>
        </p:nvGrpSpPr>
        <p:grpSpPr>
          <a:xfrm>
            <a:off x="5619750" y="1179513"/>
            <a:ext cx="6134100" cy="4411662"/>
            <a:chOff x="3178" y="743"/>
            <a:chExt cx="3470" cy="2779"/>
          </a:xfrm>
        </p:grpSpPr>
        <p:sp>
          <p:nvSpPr>
            <p:cNvPr id="28680" name="Rectangle 43"/>
            <p:cNvSpPr/>
            <p:nvPr/>
          </p:nvSpPr>
          <p:spPr>
            <a:xfrm>
              <a:off x="5982" y="3407"/>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16.7</a:t>
              </a:r>
              <a:endParaRPr lang="en-GB" altLang="zh-CN" sz="1200" dirty="0">
                <a:solidFill>
                  <a:srgbClr val="000000"/>
                </a:solidFill>
                <a:latin typeface="Times New Roman" pitchFamily="18" charset="0"/>
              </a:endParaRPr>
            </a:p>
          </p:txBody>
        </p:sp>
        <p:sp>
          <p:nvSpPr>
            <p:cNvPr id="28681" name="Rectangle 44"/>
            <p:cNvSpPr/>
            <p:nvPr/>
          </p:nvSpPr>
          <p:spPr>
            <a:xfrm>
              <a:off x="5444" y="3407"/>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19.5</a:t>
              </a:r>
              <a:endParaRPr lang="en-GB" altLang="zh-CN" sz="1200" dirty="0">
                <a:solidFill>
                  <a:srgbClr val="000000"/>
                </a:solidFill>
                <a:latin typeface="Times New Roman" pitchFamily="18" charset="0"/>
              </a:endParaRPr>
            </a:p>
          </p:txBody>
        </p:sp>
        <p:sp>
          <p:nvSpPr>
            <p:cNvPr id="28682" name="Rectangle 45"/>
            <p:cNvSpPr/>
            <p:nvPr/>
          </p:nvSpPr>
          <p:spPr>
            <a:xfrm>
              <a:off x="4855" y="3407"/>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78.9</a:t>
              </a:r>
              <a:endParaRPr lang="en-GB" altLang="zh-CN" sz="1200" dirty="0">
                <a:solidFill>
                  <a:srgbClr val="000000"/>
                </a:solidFill>
                <a:latin typeface="Times New Roman" pitchFamily="18" charset="0"/>
              </a:endParaRPr>
            </a:p>
          </p:txBody>
        </p:sp>
        <p:sp>
          <p:nvSpPr>
            <p:cNvPr id="28683" name="Rectangle 46"/>
            <p:cNvSpPr/>
            <p:nvPr/>
          </p:nvSpPr>
          <p:spPr>
            <a:xfrm>
              <a:off x="4354" y="3407"/>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82.4</a:t>
              </a:r>
              <a:endParaRPr lang="en-GB" altLang="zh-CN" sz="1200" dirty="0">
                <a:solidFill>
                  <a:srgbClr val="000000"/>
                </a:solidFill>
                <a:latin typeface="Times New Roman" pitchFamily="18" charset="0"/>
              </a:endParaRPr>
            </a:p>
          </p:txBody>
        </p:sp>
        <p:sp>
          <p:nvSpPr>
            <p:cNvPr id="28684" name="Rectangle 47"/>
            <p:cNvSpPr/>
            <p:nvPr/>
          </p:nvSpPr>
          <p:spPr>
            <a:xfrm>
              <a:off x="3178" y="3407"/>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301.apsi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685" name="Rectangle 48"/>
            <p:cNvSpPr/>
            <p:nvPr/>
          </p:nvSpPr>
          <p:spPr>
            <a:xfrm>
              <a:off x="5982" y="3292"/>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161.6</a:t>
              </a:r>
              <a:endParaRPr lang="en-GB" altLang="zh-CN" sz="1200" dirty="0">
                <a:solidFill>
                  <a:srgbClr val="000000"/>
                </a:solidFill>
                <a:latin typeface="Times New Roman" pitchFamily="18" charset="0"/>
              </a:endParaRPr>
            </a:p>
          </p:txBody>
        </p:sp>
        <p:sp>
          <p:nvSpPr>
            <p:cNvPr id="28686" name="Rectangle 49"/>
            <p:cNvSpPr/>
            <p:nvPr/>
          </p:nvSpPr>
          <p:spPr>
            <a:xfrm>
              <a:off x="5444" y="3292"/>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133.9</a:t>
              </a:r>
              <a:endParaRPr lang="en-GB" altLang="zh-CN" sz="1200" dirty="0">
                <a:solidFill>
                  <a:srgbClr val="000000"/>
                </a:solidFill>
                <a:latin typeface="Times New Roman" pitchFamily="18" charset="0"/>
              </a:endParaRPr>
            </a:p>
          </p:txBody>
        </p:sp>
        <p:sp>
          <p:nvSpPr>
            <p:cNvPr id="28687" name="Rectangle 50"/>
            <p:cNvSpPr/>
            <p:nvPr/>
          </p:nvSpPr>
          <p:spPr>
            <a:xfrm>
              <a:off x="4855" y="3292"/>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94.3</a:t>
              </a:r>
              <a:endParaRPr lang="en-GB" altLang="zh-CN" sz="1200" dirty="0">
                <a:solidFill>
                  <a:srgbClr val="000000"/>
                </a:solidFill>
                <a:latin typeface="Times New Roman" pitchFamily="18" charset="0"/>
              </a:endParaRPr>
            </a:p>
          </p:txBody>
        </p:sp>
        <p:sp>
          <p:nvSpPr>
            <p:cNvPr id="28688" name="Rectangle 51"/>
            <p:cNvSpPr/>
            <p:nvPr/>
          </p:nvSpPr>
          <p:spPr>
            <a:xfrm>
              <a:off x="4354" y="3292"/>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96.5</a:t>
              </a:r>
              <a:endParaRPr lang="en-GB" altLang="zh-CN" sz="1200" dirty="0">
                <a:solidFill>
                  <a:srgbClr val="000000"/>
                </a:solidFill>
                <a:latin typeface="Times New Roman" pitchFamily="18" charset="0"/>
              </a:endParaRPr>
            </a:p>
          </p:txBody>
        </p:sp>
        <p:sp>
          <p:nvSpPr>
            <p:cNvPr id="28689" name="Rectangle 52"/>
            <p:cNvSpPr/>
            <p:nvPr/>
          </p:nvSpPr>
          <p:spPr>
            <a:xfrm>
              <a:off x="3178" y="3292"/>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200.sixtrack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690" name="Rectangle 53"/>
            <p:cNvSpPr/>
            <p:nvPr/>
          </p:nvSpPr>
          <p:spPr>
            <a:xfrm>
              <a:off x="5982" y="3177"/>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80.6</a:t>
              </a:r>
              <a:endParaRPr lang="en-GB" altLang="zh-CN" sz="1200" dirty="0">
                <a:solidFill>
                  <a:srgbClr val="000000"/>
                </a:solidFill>
                <a:latin typeface="Times New Roman" pitchFamily="18" charset="0"/>
              </a:endParaRPr>
            </a:p>
          </p:txBody>
        </p:sp>
        <p:sp>
          <p:nvSpPr>
            <p:cNvPr id="28691" name="Rectangle 54"/>
            <p:cNvSpPr/>
            <p:nvPr/>
          </p:nvSpPr>
          <p:spPr>
            <a:xfrm>
              <a:off x="5444" y="3177"/>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70.7</a:t>
              </a:r>
              <a:endParaRPr lang="en-GB" altLang="zh-CN" sz="1200" dirty="0">
                <a:solidFill>
                  <a:srgbClr val="000000"/>
                </a:solidFill>
                <a:latin typeface="Times New Roman" pitchFamily="18" charset="0"/>
              </a:endParaRPr>
            </a:p>
          </p:txBody>
        </p:sp>
        <p:sp>
          <p:nvSpPr>
            <p:cNvPr id="28692" name="Rectangle 55"/>
            <p:cNvSpPr/>
            <p:nvPr/>
          </p:nvSpPr>
          <p:spPr>
            <a:xfrm>
              <a:off x="4855" y="3177"/>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127</a:t>
              </a:r>
              <a:endParaRPr lang="en-GB" altLang="zh-CN" sz="1200" dirty="0">
                <a:solidFill>
                  <a:srgbClr val="000000"/>
                </a:solidFill>
                <a:latin typeface="Times New Roman" pitchFamily="18" charset="0"/>
              </a:endParaRPr>
            </a:p>
          </p:txBody>
        </p:sp>
        <p:sp>
          <p:nvSpPr>
            <p:cNvPr id="28693" name="Rectangle 56"/>
            <p:cNvSpPr/>
            <p:nvPr/>
          </p:nvSpPr>
          <p:spPr>
            <a:xfrm>
              <a:off x="4354" y="3177"/>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130</a:t>
              </a:r>
              <a:endParaRPr lang="en-GB" altLang="zh-CN" sz="1200" dirty="0">
                <a:solidFill>
                  <a:srgbClr val="000000"/>
                </a:solidFill>
                <a:latin typeface="Times New Roman" pitchFamily="18" charset="0"/>
              </a:endParaRPr>
            </a:p>
          </p:txBody>
        </p:sp>
        <p:sp>
          <p:nvSpPr>
            <p:cNvPr id="28694" name="Rectangle 57"/>
            <p:cNvSpPr/>
            <p:nvPr/>
          </p:nvSpPr>
          <p:spPr>
            <a:xfrm>
              <a:off x="3178" y="3177"/>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188.ammp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695" name="Rectangle 58"/>
            <p:cNvSpPr/>
            <p:nvPr/>
          </p:nvSpPr>
          <p:spPr>
            <a:xfrm>
              <a:off x="5982" y="3062"/>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42.9</a:t>
              </a:r>
              <a:endParaRPr lang="en-GB" altLang="zh-CN" sz="1200" dirty="0">
                <a:solidFill>
                  <a:srgbClr val="000000"/>
                </a:solidFill>
                <a:latin typeface="Times New Roman" pitchFamily="18" charset="0"/>
              </a:endParaRPr>
            </a:p>
          </p:txBody>
        </p:sp>
        <p:sp>
          <p:nvSpPr>
            <p:cNvPr id="28696" name="Rectangle 59"/>
            <p:cNvSpPr/>
            <p:nvPr/>
          </p:nvSpPr>
          <p:spPr>
            <a:xfrm>
              <a:off x="5444" y="3062"/>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59.4</a:t>
              </a:r>
              <a:endParaRPr lang="en-GB" altLang="zh-CN" sz="1200" dirty="0">
                <a:solidFill>
                  <a:srgbClr val="000000"/>
                </a:solidFill>
                <a:latin typeface="Times New Roman" pitchFamily="18" charset="0"/>
              </a:endParaRPr>
            </a:p>
          </p:txBody>
        </p:sp>
        <p:sp>
          <p:nvSpPr>
            <p:cNvPr id="28697" name="Rectangle 60"/>
            <p:cNvSpPr/>
            <p:nvPr/>
          </p:nvSpPr>
          <p:spPr>
            <a:xfrm>
              <a:off x="4855" y="3062"/>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12.1</a:t>
              </a:r>
              <a:endParaRPr lang="en-GB" altLang="zh-CN" sz="1200" dirty="0">
                <a:solidFill>
                  <a:srgbClr val="000000"/>
                </a:solidFill>
                <a:latin typeface="Times New Roman" pitchFamily="18" charset="0"/>
              </a:endParaRPr>
            </a:p>
          </p:txBody>
        </p:sp>
        <p:sp>
          <p:nvSpPr>
            <p:cNvPr id="28698" name="Rectangle 61"/>
            <p:cNvSpPr/>
            <p:nvPr/>
          </p:nvSpPr>
          <p:spPr>
            <a:xfrm>
              <a:off x="4354" y="3062"/>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12.3</a:t>
              </a:r>
              <a:endParaRPr lang="en-GB" altLang="zh-CN" sz="1200" dirty="0">
                <a:solidFill>
                  <a:srgbClr val="000000"/>
                </a:solidFill>
                <a:latin typeface="Times New Roman" pitchFamily="18" charset="0"/>
              </a:endParaRPr>
            </a:p>
          </p:txBody>
        </p:sp>
        <p:sp>
          <p:nvSpPr>
            <p:cNvPr id="28699" name="Rectangle 62"/>
            <p:cNvSpPr/>
            <p:nvPr/>
          </p:nvSpPr>
          <p:spPr>
            <a:xfrm>
              <a:off x="3178" y="3062"/>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183.equake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00" name="Rectangle 63"/>
            <p:cNvSpPr/>
            <p:nvPr/>
          </p:nvSpPr>
          <p:spPr>
            <a:xfrm>
              <a:off x="5982" y="2947"/>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13.6</a:t>
              </a:r>
              <a:endParaRPr lang="en-GB" altLang="zh-CN" sz="1200" dirty="0">
                <a:solidFill>
                  <a:srgbClr val="000000"/>
                </a:solidFill>
                <a:latin typeface="Times New Roman" pitchFamily="18" charset="0"/>
              </a:endParaRPr>
            </a:p>
          </p:txBody>
        </p:sp>
        <p:sp>
          <p:nvSpPr>
            <p:cNvPr id="28701" name="Rectangle 64"/>
            <p:cNvSpPr/>
            <p:nvPr/>
          </p:nvSpPr>
          <p:spPr>
            <a:xfrm>
              <a:off x="5444" y="2947"/>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27.4</a:t>
              </a:r>
              <a:endParaRPr lang="en-GB" altLang="zh-CN" sz="1200" dirty="0">
                <a:solidFill>
                  <a:srgbClr val="000000"/>
                </a:solidFill>
                <a:latin typeface="Times New Roman" pitchFamily="18" charset="0"/>
              </a:endParaRPr>
            </a:p>
          </p:txBody>
        </p:sp>
        <p:sp>
          <p:nvSpPr>
            <p:cNvPr id="28702" name="Rectangle 65"/>
            <p:cNvSpPr/>
            <p:nvPr/>
          </p:nvSpPr>
          <p:spPr>
            <a:xfrm>
              <a:off x="4855" y="2947"/>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91.3</a:t>
              </a:r>
              <a:endParaRPr lang="en-GB" altLang="zh-CN" sz="1200" dirty="0">
                <a:solidFill>
                  <a:srgbClr val="000000"/>
                </a:solidFill>
                <a:latin typeface="Times New Roman" pitchFamily="18" charset="0"/>
              </a:endParaRPr>
            </a:p>
          </p:txBody>
        </p:sp>
        <p:sp>
          <p:nvSpPr>
            <p:cNvPr id="28703" name="Rectangle 66"/>
            <p:cNvSpPr/>
            <p:nvPr/>
          </p:nvSpPr>
          <p:spPr>
            <a:xfrm>
              <a:off x="4354" y="2947"/>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96.7</a:t>
              </a:r>
              <a:endParaRPr lang="en-GB" altLang="zh-CN" sz="1200" dirty="0">
                <a:solidFill>
                  <a:srgbClr val="000000"/>
                </a:solidFill>
                <a:latin typeface="Times New Roman" pitchFamily="18" charset="0"/>
              </a:endParaRPr>
            </a:p>
          </p:txBody>
        </p:sp>
        <p:sp>
          <p:nvSpPr>
            <p:cNvPr id="28704" name="Rectangle 67"/>
            <p:cNvSpPr/>
            <p:nvPr/>
          </p:nvSpPr>
          <p:spPr>
            <a:xfrm>
              <a:off x="3178" y="2947"/>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179.art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05" name="Rectangle 68"/>
            <p:cNvSpPr/>
            <p:nvPr/>
          </p:nvSpPr>
          <p:spPr>
            <a:xfrm>
              <a:off x="5982" y="2832"/>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76.2</a:t>
              </a:r>
              <a:endParaRPr lang="en-GB" altLang="zh-CN" sz="1200" dirty="0">
                <a:solidFill>
                  <a:srgbClr val="000000"/>
                </a:solidFill>
                <a:latin typeface="Times New Roman" pitchFamily="18" charset="0"/>
              </a:endParaRPr>
            </a:p>
          </p:txBody>
        </p:sp>
        <p:sp>
          <p:nvSpPr>
            <p:cNvPr id="28706" name="Rectangle 69"/>
            <p:cNvSpPr/>
            <p:nvPr/>
          </p:nvSpPr>
          <p:spPr>
            <a:xfrm>
              <a:off x="5444" y="2832"/>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67.4</a:t>
              </a:r>
              <a:endParaRPr lang="en-GB" altLang="zh-CN" sz="1200" dirty="0">
                <a:solidFill>
                  <a:srgbClr val="000000"/>
                </a:solidFill>
                <a:latin typeface="Times New Roman" pitchFamily="18" charset="0"/>
              </a:endParaRPr>
            </a:p>
          </p:txBody>
        </p:sp>
        <p:sp>
          <p:nvSpPr>
            <p:cNvPr id="28707" name="Rectangle 70"/>
            <p:cNvSpPr/>
            <p:nvPr/>
          </p:nvSpPr>
          <p:spPr>
            <a:xfrm>
              <a:off x="4855" y="2832"/>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16.0</a:t>
              </a:r>
              <a:endParaRPr lang="en-GB" altLang="zh-CN" sz="1200" dirty="0">
                <a:solidFill>
                  <a:srgbClr val="000000"/>
                </a:solidFill>
                <a:latin typeface="Times New Roman" pitchFamily="18" charset="0"/>
              </a:endParaRPr>
            </a:p>
          </p:txBody>
        </p:sp>
        <p:sp>
          <p:nvSpPr>
            <p:cNvPr id="28708" name="Rectangle 71"/>
            <p:cNvSpPr/>
            <p:nvPr/>
          </p:nvSpPr>
          <p:spPr>
            <a:xfrm>
              <a:off x="4354" y="2832"/>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15.7</a:t>
              </a:r>
              <a:endParaRPr lang="en-GB" altLang="zh-CN" sz="1200" dirty="0">
                <a:solidFill>
                  <a:srgbClr val="000000"/>
                </a:solidFill>
                <a:latin typeface="Times New Roman" pitchFamily="18" charset="0"/>
              </a:endParaRPr>
            </a:p>
          </p:txBody>
        </p:sp>
        <p:sp>
          <p:nvSpPr>
            <p:cNvPr id="28709" name="Rectangle 72"/>
            <p:cNvSpPr/>
            <p:nvPr/>
          </p:nvSpPr>
          <p:spPr>
            <a:xfrm>
              <a:off x="3178" y="2832"/>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177.mesa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10" name="Rectangle 73"/>
            <p:cNvSpPr/>
            <p:nvPr/>
          </p:nvSpPr>
          <p:spPr>
            <a:xfrm>
              <a:off x="5982" y="2717"/>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19.0</a:t>
              </a:r>
              <a:endParaRPr lang="en-GB" altLang="zh-CN" sz="1200" dirty="0">
                <a:solidFill>
                  <a:srgbClr val="000000"/>
                </a:solidFill>
                <a:latin typeface="Times New Roman" pitchFamily="18" charset="0"/>
              </a:endParaRPr>
            </a:p>
          </p:txBody>
        </p:sp>
        <p:sp>
          <p:nvSpPr>
            <p:cNvPr id="28711" name="Rectangle 74"/>
            <p:cNvSpPr/>
            <p:nvPr/>
          </p:nvSpPr>
          <p:spPr>
            <a:xfrm>
              <a:off x="5444" y="2717"/>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26.8</a:t>
              </a:r>
              <a:endParaRPr lang="en-GB" altLang="zh-CN" sz="1200" dirty="0">
                <a:solidFill>
                  <a:srgbClr val="000000"/>
                </a:solidFill>
                <a:latin typeface="Times New Roman" pitchFamily="18" charset="0"/>
              </a:endParaRPr>
            </a:p>
          </p:txBody>
        </p:sp>
        <p:sp>
          <p:nvSpPr>
            <p:cNvPr id="28712" name="Rectangle 75"/>
            <p:cNvSpPr/>
            <p:nvPr/>
          </p:nvSpPr>
          <p:spPr>
            <a:xfrm>
              <a:off x="4855" y="2717"/>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4.06</a:t>
              </a:r>
              <a:endParaRPr lang="en-GB" altLang="zh-CN" sz="1200" dirty="0">
                <a:solidFill>
                  <a:srgbClr val="000000"/>
                </a:solidFill>
                <a:latin typeface="Times New Roman" pitchFamily="18" charset="0"/>
              </a:endParaRPr>
            </a:p>
          </p:txBody>
        </p:sp>
        <p:sp>
          <p:nvSpPr>
            <p:cNvPr id="28713" name="Rectangle 76"/>
            <p:cNvSpPr/>
            <p:nvPr/>
          </p:nvSpPr>
          <p:spPr>
            <a:xfrm>
              <a:off x="4354" y="2717"/>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4.28</a:t>
              </a:r>
              <a:endParaRPr lang="en-GB" altLang="zh-CN" sz="1200" dirty="0">
                <a:solidFill>
                  <a:srgbClr val="000000"/>
                </a:solidFill>
                <a:latin typeface="Times New Roman" pitchFamily="18" charset="0"/>
              </a:endParaRPr>
            </a:p>
          </p:txBody>
        </p:sp>
        <p:sp>
          <p:nvSpPr>
            <p:cNvPr id="28714" name="Rectangle 77"/>
            <p:cNvSpPr/>
            <p:nvPr/>
          </p:nvSpPr>
          <p:spPr>
            <a:xfrm>
              <a:off x="3178" y="2717"/>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173.applu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15" name="Rectangle 78"/>
            <p:cNvSpPr/>
            <p:nvPr/>
          </p:nvSpPr>
          <p:spPr>
            <a:xfrm>
              <a:off x="5982" y="2602"/>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28.9</a:t>
              </a:r>
              <a:endParaRPr lang="en-GB" altLang="zh-CN" sz="1200" dirty="0">
                <a:solidFill>
                  <a:srgbClr val="000000"/>
                </a:solidFill>
                <a:latin typeface="Times New Roman" pitchFamily="18" charset="0"/>
              </a:endParaRPr>
            </a:p>
          </p:txBody>
        </p:sp>
        <p:sp>
          <p:nvSpPr>
            <p:cNvPr id="28716" name="Rectangle 79"/>
            <p:cNvSpPr/>
            <p:nvPr/>
          </p:nvSpPr>
          <p:spPr>
            <a:xfrm>
              <a:off x="5444" y="2602"/>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37.4</a:t>
              </a:r>
              <a:endParaRPr lang="en-GB" altLang="zh-CN" sz="1200" dirty="0">
                <a:solidFill>
                  <a:srgbClr val="000000"/>
                </a:solidFill>
                <a:latin typeface="Times New Roman" pitchFamily="18" charset="0"/>
              </a:endParaRPr>
            </a:p>
          </p:txBody>
        </p:sp>
        <p:sp>
          <p:nvSpPr>
            <p:cNvPr id="28717" name="Rectangle 80"/>
            <p:cNvSpPr/>
            <p:nvPr/>
          </p:nvSpPr>
          <p:spPr>
            <a:xfrm>
              <a:off x="4855" y="2602"/>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229</a:t>
              </a:r>
              <a:endParaRPr lang="en-GB" altLang="zh-CN" sz="1200" dirty="0">
                <a:solidFill>
                  <a:srgbClr val="000000"/>
                </a:solidFill>
                <a:latin typeface="Times New Roman" pitchFamily="18" charset="0"/>
              </a:endParaRPr>
            </a:p>
          </p:txBody>
        </p:sp>
        <p:sp>
          <p:nvSpPr>
            <p:cNvPr id="28718" name="Rectangle 81"/>
            <p:cNvSpPr/>
            <p:nvPr/>
          </p:nvSpPr>
          <p:spPr>
            <a:xfrm>
              <a:off x="4354" y="2602"/>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213</a:t>
              </a:r>
              <a:endParaRPr lang="en-GB" altLang="zh-CN" sz="1200" dirty="0">
                <a:solidFill>
                  <a:srgbClr val="000000"/>
                </a:solidFill>
                <a:latin typeface="Times New Roman" pitchFamily="18" charset="0"/>
              </a:endParaRPr>
            </a:p>
          </p:txBody>
        </p:sp>
        <p:sp>
          <p:nvSpPr>
            <p:cNvPr id="28719" name="Rectangle 82"/>
            <p:cNvSpPr/>
            <p:nvPr/>
          </p:nvSpPr>
          <p:spPr>
            <a:xfrm>
              <a:off x="3178" y="2602"/>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172.mgrid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20" name="Rectangle 83"/>
            <p:cNvSpPr/>
            <p:nvPr/>
          </p:nvSpPr>
          <p:spPr>
            <a:xfrm>
              <a:off x="5982" y="2487"/>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15.2</a:t>
              </a:r>
              <a:endParaRPr lang="en-GB" altLang="zh-CN" sz="1200" dirty="0">
                <a:solidFill>
                  <a:srgbClr val="000000"/>
                </a:solidFill>
                <a:latin typeface="Times New Roman" pitchFamily="18" charset="0"/>
              </a:endParaRPr>
            </a:p>
          </p:txBody>
        </p:sp>
        <p:sp>
          <p:nvSpPr>
            <p:cNvPr id="28721" name="Rectangle 84"/>
            <p:cNvSpPr/>
            <p:nvPr/>
          </p:nvSpPr>
          <p:spPr>
            <a:xfrm>
              <a:off x="5444" y="2487"/>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26.9</a:t>
              </a:r>
              <a:endParaRPr lang="en-GB" altLang="zh-CN" sz="1200" dirty="0">
                <a:solidFill>
                  <a:srgbClr val="000000"/>
                </a:solidFill>
                <a:latin typeface="Times New Roman" pitchFamily="18" charset="0"/>
              </a:endParaRPr>
            </a:p>
          </p:txBody>
        </p:sp>
        <p:sp>
          <p:nvSpPr>
            <p:cNvPr id="28722" name="Rectangle 85"/>
            <p:cNvSpPr/>
            <p:nvPr/>
          </p:nvSpPr>
          <p:spPr>
            <a:xfrm>
              <a:off x="4855" y="2487"/>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10.6</a:t>
              </a:r>
              <a:endParaRPr lang="en-GB" altLang="zh-CN" sz="1200" dirty="0">
                <a:solidFill>
                  <a:srgbClr val="000000"/>
                </a:solidFill>
                <a:latin typeface="Times New Roman" pitchFamily="18" charset="0"/>
              </a:endParaRPr>
            </a:p>
          </p:txBody>
        </p:sp>
        <p:sp>
          <p:nvSpPr>
            <p:cNvPr id="28723" name="Rectangle 86"/>
            <p:cNvSpPr/>
            <p:nvPr/>
          </p:nvSpPr>
          <p:spPr>
            <a:xfrm>
              <a:off x="4354" y="2487"/>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11</a:t>
              </a:r>
              <a:endParaRPr lang="en-GB" altLang="zh-CN" sz="1200" dirty="0">
                <a:solidFill>
                  <a:srgbClr val="000000"/>
                </a:solidFill>
                <a:latin typeface="Times New Roman" pitchFamily="18" charset="0"/>
              </a:endParaRPr>
            </a:p>
          </p:txBody>
        </p:sp>
        <p:sp>
          <p:nvSpPr>
            <p:cNvPr id="28724" name="Rectangle 87"/>
            <p:cNvSpPr/>
            <p:nvPr/>
          </p:nvSpPr>
          <p:spPr>
            <a:xfrm>
              <a:off x="3178" y="2487"/>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171.swim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25" name="Rectangle 88"/>
            <p:cNvSpPr/>
            <p:nvPr/>
          </p:nvSpPr>
          <p:spPr>
            <a:xfrm>
              <a:off x="5982" y="2372"/>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53.1</a:t>
              </a:r>
              <a:endParaRPr lang="en-GB" altLang="zh-CN" sz="1200" dirty="0">
                <a:solidFill>
                  <a:srgbClr val="000000"/>
                </a:solidFill>
                <a:latin typeface="Times New Roman" pitchFamily="18" charset="0"/>
              </a:endParaRPr>
            </a:p>
          </p:txBody>
        </p:sp>
        <p:sp>
          <p:nvSpPr>
            <p:cNvPr id="28726" name="Rectangle 89"/>
            <p:cNvSpPr/>
            <p:nvPr/>
          </p:nvSpPr>
          <p:spPr>
            <a:xfrm>
              <a:off x="5444" y="2372"/>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63.2</a:t>
              </a:r>
              <a:endParaRPr lang="en-GB" altLang="zh-CN" sz="1200" dirty="0">
                <a:solidFill>
                  <a:srgbClr val="000000"/>
                </a:solidFill>
                <a:latin typeface="Times New Roman" pitchFamily="18" charset="0"/>
              </a:endParaRPr>
            </a:p>
          </p:txBody>
        </p:sp>
        <p:sp>
          <p:nvSpPr>
            <p:cNvPr id="28727" name="Rectangle 90"/>
            <p:cNvSpPr/>
            <p:nvPr/>
          </p:nvSpPr>
          <p:spPr>
            <a:xfrm>
              <a:off x="4855" y="2372"/>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63.0</a:t>
              </a:r>
              <a:endParaRPr lang="en-GB" altLang="zh-CN" sz="1200" dirty="0">
                <a:solidFill>
                  <a:srgbClr val="000000"/>
                </a:solidFill>
                <a:latin typeface="Times New Roman" pitchFamily="18" charset="0"/>
              </a:endParaRPr>
            </a:p>
          </p:txBody>
        </p:sp>
        <p:sp>
          <p:nvSpPr>
            <p:cNvPr id="28728" name="Rectangle 91"/>
            <p:cNvSpPr/>
            <p:nvPr/>
          </p:nvSpPr>
          <p:spPr>
            <a:xfrm>
              <a:off x="4354" y="2372"/>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66.1</a:t>
              </a:r>
              <a:endParaRPr lang="en-GB" altLang="zh-CN" sz="1200" dirty="0">
                <a:solidFill>
                  <a:srgbClr val="000000"/>
                </a:solidFill>
                <a:latin typeface="Times New Roman" pitchFamily="18" charset="0"/>
              </a:endParaRPr>
            </a:p>
          </p:txBody>
        </p:sp>
        <p:sp>
          <p:nvSpPr>
            <p:cNvPr id="28729" name="Rectangle 92"/>
            <p:cNvSpPr/>
            <p:nvPr/>
          </p:nvSpPr>
          <p:spPr>
            <a:xfrm>
              <a:off x="3178" y="2372"/>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168.wupwise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30" name="Rectangle 93"/>
            <p:cNvSpPr/>
            <p:nvPr/>
          </p:nvSpPr>
          <p:spPr>
            <a:xfrm>
              <a:off x="5982" y="2257"/>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20.5</a:t>
              </a:r>
              <a:endParaRPr lang="en-GB" altLang="zh-CN" sz="1200" dirty="0">
                <a:solidFill>
                  <a:srgbClr val="000000"/>
                </a:solidFill>
                <a:latin typeface="Times New Roman" pitchFamily="18" charset="0"/>
              </a:endParaRPr>
            </a:p>
          </p:txBody>
        </p:sp>
        <p:sp>
          <p:nvSpPr>
            <p:cNvPr id="28731" name="Rectangle 94"/>
            <p:cNvSpPr/>
            <p:nvPr/>
          </p:nvSpPr>
          <p:spPr>
            <a:xfrm>
              <a:off x="5444" y="2257"/>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a:t>
              </a:r>
              <a:endParaRPr lang="en-GB" altLang="zh-CN" sz="1200" dirty="0">
                <a:solidFill>
                  <a:srgbClr val="000000"/>
                </a:solidFill>
                <a:latin typeface="Times New Roman" pitchFamily="18" charset="0"/>
              </a:endParaRPr>
            </a:p>
          </p:txBody>
        </p:sp>
        <p:sp>
          <p:nvSpPr>
            <p:cNvPr id="28732" name="Rectangle 95"/>
            <p:cNvSpPr/>
            <p:nvPr/>
          </p:nvSpPr>
          <p:spPr>
            <a:xfrm>
              <a:off x="4855" y="2257"/>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2.10</a:t>
              </a:r>
              <a:endParaRPr lang="en-GB" altLang="zh-CN" sz="1200" dirty="0">
                <a:solidFill>
                  <a:srgbClr val="000000"/>
                </a:solidFill>
                <a:latin typeface="Times New Roman" pitchFamily="18" charset="0"/>
              </a:endParaRPr>
            </a:p>
          </p:txBody>
        </p:sp>
        <p:sp>
          <p:nvSpPr>
            <p:cNvPr id="28733" name="Rectangle 96"/>
            <p:cNvSpPr/>
            <p:nvPr/>
          </p:nvSpPr>
          <p:spPr>
            <a:xfrm>
              <a:off x="4354" y="2257"/>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1.92</a:t>
              </a:r>
              <a:endParaRPr lang="en-GB" altLang="zh-CN" sz="1200" dirty="0">
                <a:solidFill>
                  <a:srgbClr val="000000"/>
                </a:solidFill>
                <a:latin typeface="Times New Roman" pitchFamily="18" charset="0"/>
              </a:endParaRPr>
            </a:p>
          </p:txBody>
        </p:sp>
        <p:sp>
          <p:nvSpPr>
            <p:cNvPr id="28734" name="Rectangle 97"/>
            <p:cNvSpPr/>
            <p:nvPr/>
          </p:nvSpPr>
          <p:spPr>
            <a:xfrm>
              <a:off x="3178" y="2257"/>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300.twolf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35" name="Rectangle 98"/>
            <p:cNvSpPr/>
            <p:nvPr/>
          </p:nvSpPr>
          <p:spPr>
            <a:xfrm>
              <a:off x="5982" y="2142"/>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68.5</a:t>
              </a:r>
              <a:endParaRPr lang="en-GB" altLang="zh-CN" sz="1200" dirty="0">
                <a:solidFill>
                  <a:srgbClr val="000000"/>
                </a:solidFill>
                <a:latin typeface="Times New Roman" pitchFamily="18" charset="0"/>
              </a:endParaRPr>
            </a:p>
          </p:txBody>
        </p:sp>
        <p:sp>
          <p:nvSpPr>
            <p:cNvPr id="28736" name="Rectangle 99"/>
            <p:cNvSpPr/>
            <p:nvPr/>
          </p:nvSpPr>
          <p:spPr>
            <a:xfrm>
              <a:off x="5444" y="2142"/>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63.4</a:t>
              </a:r>
              <a:endParaRPr lang="en-GB" altLang="zh-CN" sz="1200" dirty="0">
                <a:solidFill>
                  <a:srgbClr val="000000"/>
                </a:solidFill>
                <a:latin typeface="Times New Roman" pitchFamily="18" charset="0"/>
              </a:endParaRPr>
            </a:p>
          </p:txBody>
        </p:sp>
        <p:sp>
          <p:nvSpPr>
            <p:cNvPr id="28737" name="Rectangle 100"/>
            <p:cNvSpPr/>
            <p:nvPr/>
          </p:nvSpPr>
          <p:spPr>
            <a:xfrm>
              <a:off x="4855" y="2142"/>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60.9</a:t>
              </a:r>
              <a:endParaRPr lang="en-GB" altLang="zh-CN" sz="1200" dirty="0">
                <a:solidFill>
                  <a:srgbClr val="000000"/>
                </a:solidFill>
                <a:latin typeface="Times New Roman" pitchFamily="18" charset="0"/>
              </a:endParaRPr>
            </a:p>
          </p:txBody>
        </p:sp>
        <p:sp>
          <p:nvSpPr>
            <p:cNvPr id="28738" name="Rectangle 101"/>
            <p:cNvSpPr/>
            <p:nvPr/>
          </p:nvSpPr>
          <p:spPr>
            <a:xfrm>
              <a:off x="4354" y="2142"/>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58.9</a:t>
              </a:r>
              <a:endParaRPr lang="en-GB" altLang="zh-CN" sz="1200" dirty="0">
                <a:solidFill>
                  <a:srgbClr val="000000"/>
                </a:solidFill>
                <a:latin typeface="Times New Roman" pitchFamily="18" charset="0"/>
              </a:endParaRPr>
            </a:p>
          </p:txBody>
        </p:sp>
        <p:sp>
          <p:nvSpPr>
            <p:cNvPr id="28739" name="Rectangle 102"/>
            <p:cNvSpPr/>
            <p:nvPr/>
          </p:nvSpPr>
          <p:spPr>
            <a:xfrm>
              <a:off x="3178" y="2142"/>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256.bzip2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40" name="Rectangle 103"/>
            <p:cNvSpPr/>
            <p:nvPr/>
          </p:nvSpPr>
          <p:spPr>
            <a:xfrm>
              <a:off x="5982" y="2027"/>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19.6</a:t>
              </a:r>
              <a:endParaRPr lang="en-GB" altLang="zh-CN" sz="1200" dirty="0">
                <a:solidFill>
                  <a:srgbClr val="000000"/>
                </a:solidFill>
                <a:latin typeface="Times New Roman" pitchFamily="18" charset="0"/>
              </a:endParaRPr>
            </a:p>
          </p:txBody>
        </p:sp>
        <p:sp>
          <p:nvSpPr>
            <p:cNvPr id="28741" name="Rectangle 104"/>
            <p:cNvSpPr/>
            <p:nvPr/>
          </p:nvSpPr>
          <p:spPr>
            <a:xfrm>
              <a:off x="5444" y="2027"/>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18.6</a:t>
              </a:r>
              <a:endParaRPr lang="en-GB" altLang="zh-CN" sz="1200" dirty="0">
                <a:solidFill>
                  <a:srgbClr val="000000"/>
                </a:solidFill>
                <a:latin typeface="Times New Roman" pitchFamily="18" charset="0"/>
              </a:endParaRPr>
            </a:p>
          </p:txBody>
        </p:sp>
        <p:sp>
          <p:nvSpPr>
            <p:cNvPr id="28742" name="Rectangle 105"/>
            <p:cNvSpPr/>
            <p:nvPr/>
          </p:nvSpPr>
          <p:spPr>
            <a:xfrm>
              <a:off x="4855" y="2027"/>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144.6</a:t>
              </a:r>
              <a:endParaRPr lang="en-GB" altLang="zh-CN" sz="1200" dirty="0">
                <a:solidFill>
                  <a:srgbClr val="000000"/>
                </a:solidFill>
                <a:latin typeface="Times New Roman" pitchFamily="18" charset="0"/>
              </a:endParaRPr>
            </a:p>
          </p:txBody>
        </p:sp>
        <p:sp>
          <p:nvSpPr>
            <p:cNvPr id="28743" name="Rectangle 106"/>
            <p:cNvSpPr/>
            <p:nvPr/>
          </p:nvSpPr>
          <p:spPr>
            <a:xfrm>
              <a:off x="4354" y="2027"/>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134</a:t>
              </a:r>
              <a:endParaRPr lang="en-GB" altLang="zh-CN" sz="1200" dirty="0">
                <a:solidFill>
                  <a:srgbClr val="000000"/>
                </a:solidFill>
                <a:latin typeface="Times New Roman" pitchFamily="18" charset="0"/>
              </a:endParaRPr>
            </a:p>
          </p:txBody>
        </p:sp>
        <p:sp>
          <p:nvSpPr>
            <p:cNvPr id="28744" name="Rectangle 107"/>
            <p:cNvSpPr/>
            <p:nvPr/>
          </p:nvSpPr>
          <p:spPr>
            <a:xfrm>
              <a:off x="3178" y="2027"/>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255.vortex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45" name="Rectangle 108"/>
            <p:cNvSpPr/>
            <p:nvPr/>
          </p:nvSpPr>
          <p:spPr>
            <a:xfrm>
              <a:off x="5982" y="1912"/>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10.2</a:t>
              </a:r>
              <a:endParaRPr lang="en-GB" altLang="zh-CN" sz="1200" dirty="0">
                <a:solidFill>
                  <a:srgbClr val="000000"/>
                </a:solidFill>
                <a:latin typeface="Times New Roman" pitchFamily="18" charset="0"/>
              </a:endParaRPr>
            </a:p>
          </p:txBody>
        </p:sp>
        <p:sp>
          <p:nvSpPr>
            <p:cNvPr id="28746" name="Rectangle 109"/>
            <p:cNvSpPr/>
            <p:nvPr/>
          </p:nvSpPr>
          <p:spPr>
            <a:xfrm>
              <a:off x="5444" y="1912"/>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11.0</a:t>
              </a:r>
              <a:endParaRPr lang="en-GB" altLang="zh-CN" sz="1200" dirty="0">
                <a:solidFill>
                  <a:srgbClr val="000000"/>
                </a:solidFill>
                <a:latin typeface="Times New Roman" pitchFamily="18" charset="0"/>
              </a:endParaRPr>
            </a:p>
          </p:txBody>
        </p:sp>
        <p:sp>
          <p:nvSpPr>
            <p:cNvPr id="28747" name="Rectangle 110"/>
            <p:cNvSpPr/>
            <p:nvPr/>
          </p:nvSpPr>
          <p:spPr>
            <a:xfrm>
              <a:off x="4855" y="1912"/>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11.3</a:t>
              </a:r>
              <a:endParaRPr lang="en-GB" altLang="zh-CN" sz="1200" dirty="0">
                <a:solidFill>
                  <a:srgbClr val="000000"/>
                </a:solidFill>
                <a:latin typeface="Times New Roman" pitchFamily="18" charset="0"/>
              </a:endParaRPr>
            </a:p>
          </p:txBody>
        </p:sp>
        <p:sp>
          <p:nvSpPr>
            <p:cNvPr id="28748" name="Rectangle 111"/>
            <p:cNvSpPr/>
            <p:nvPr/>
          </p:nvSpPr>
          <p:spPr>
            <a:xfrm>
              <a:off x="4354" y="1912"/>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11.4</a:t>
              </a:r>
              <a:endParaRPr lang="en-GB" altLang="zh-CN" sz="1200" dirty="0">
                <a:solidFill>
                  <a:srgbClr val="000000"/>
                </a:solidFill>
                <a:latin typeface="Times New Roman" pitchFamily="18" charset="0"/>
              </a:endParaRPr>
            </a:p>
          </p:txBody>
        </p:sp>
        <p:sp>
          <p:nvSpPr>
            <p:cNvPr id="28749" name="Rectangle 112"/>
            <p:cNvSpPr/>
            <p:nvPr/>
          </p:nvSpPr>
          <p:spPr>
            <a:xfrm>
              <a:off x="3178" y="1912"/>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254.gap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50" name="Rectangle 113"/>
            <p:cNvSpPr/>
            <p:nvPr/>
          </p:nvSpPr>
          <p:spPr>
            <a:xfrm>
              <a:off x="5982" y="1797"/>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93.4</a:t>
              </a:r>
              <a:endParaRPr lang="en-GB" altLang="zh-CN" sz="1200" dirty="0">
                <a:solidFill>
                  <a:srgbClr val="000000"/>
                </a:solidFill>
                <a:latin typeface="Times New Roman" pitchFamily="18" charset="0"/>
              </a:endParaRPr>
            </a:p>
          </p:txBody>
        </p:sp>
        <p:sp>
          <p:nvSpPr>
            <p:cNvPr id="28751" name="Rectangle 114"/>
            <p:cNvSpPr/>
            <p:nvPr/>
          </p:nvSpPr>
          <p:spPr>
            <a:xfrm>
              <a:off x="5444" y="1797"/>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85.6</a:t>
              </a:r>
              <a:endParaRPr lang="en-GB" altLang="zh-CN" sz="1200" dirty="0">
                <a:solidFill>
                  <a:srgbClr val="000000"/>
                </a:solidFill>
                <a:latin typeface="Times New Roman" pitchFamily="18" charset="0"/>
              </a:endParaRPr>
            </a:p>
          </p:txBody>
        </p:sp>
        <p:sp>
          <p:nvSpPr>
            <p:cNvPr id="28752" name="Rectangle 115"/>
            <p:cNvSpPr/>
            <p:nvPr/>
          </p:nvSpPr>
          <p:spPr>
            <a:xfrm>
              <a:off x="4855" y="1797"/>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19.0</a:t>
              </a:r>
              <a:endParaRPr lang="en-GB" altLang="zh-CN" sz="1200" dirty="0">
                <a:solidFill>
                  <a:srgbClr val="000000"/>
                </a:solidFill>
                <a:latin typeface="Times New Roman" pitchFamily="18" charset="0"/>
              </a:endParaRPr>
            </a:p>
          </p:txBody>
        </p:sp>
        <p:sp>
          <p:nvSpPr>
            <p:cNvPr id="28753" name="Rectangle 116"/>
            <p:cNvSpPr/>
            <p:nvPr/>
          </p:nvSpPr>
          <p:spPr>
            <a:xfrm>
              <a:off x="4354" y="1797"/>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19.3</a:t>
              </a:r>
              <a:endParaRPr lang="en-GB" altLang="zh-CN" sz="1200" dirty="0">
                <a:solidFill>
                  <a:srgbClr val="000000"/>
                </a:solidFill>
                <a:latin typeface="Times New Roman" pitchFamily="18" charset="0"/>
              </a:endParaRPr>
            </a:p>
          </p:txBody>
        </p:sp>
        <p:sp>
          <p:nvSpPr>
            <p:cNvPr id="28754" name="Rectangle 117"/>
            <p:cNvSpPr/>
            <p:nvPr/>
          </p:nvSpPr>
          <p:spPr>
            <a:xfrm>
              <a:off x="3178" y="1797"/>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253.perl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55" name="Rectangle 118"/>
            <p:cNvSpPr/>
            <p:nvPr/>
          </p:nvSpPr>
          <p:spPr>
            <a:xfrm>
              <a:off x="5982" y="1682"/>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12.1</a:t>
              </a:r>
              <a:endParaRPr lang="en-GB" altLang="zh-CN" sz="1200" dirty="0">
                <a:solidFill>
                  <a:srgbClr val="000000"/>
                </a:solidFill>
                <a:latin typeface="Times New Roman" pitchFamily="18" charset="0"/>
              </a:endParaRPr>
            </a:p>
          </p:txBody>
        </p:sp>
        <p:sp>
          <p:nvSpPr>
            <p:cNvPr id="28756" name="Rectangle 119"/>
            <p:cNvSpPr/>
            <p:nvPr/>
          </p:nvSpPr>
          <p:spPr>
            <a:xfrm>
              <a:off x="5444" y="1682"/>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12.5</a:t>
              </a:r>
              <a:endParaRPr lang="en-GB" altLang="zh-CN" sz="1200" dirty="0">
                <a:solidFill>
                  <a:srgbClr val="000000"/>
                </a:solidFill>
                <a:latin typeface="Times New Roman" pitchFamily="18" charset="0"/>
              </a:endParaRPr>
            </a:p>
          </p:txBody>
        </p:sp>
        <p:sp>
          <p:nvSpPr>
            <p:cNvPr id="28757" name="Rectangle 120"/>
            <p:cNvSpPr/>
            <p:nvPr/>
          </p:nvSpPr>
          <p:spPr>
            <a:xfrm>
              <a:off x="4855" y="1682"/>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35.9</a:t>
              </a:r>
              <a:endParaRPr lang="en-GB" altLang="zh-CN" sz="1200" dirty="0">
                <a:solidFill>
                  <a:srgbClr val="000000"/>
                </a:solidFill>
                <a:latin typeface="Times New Roman" pitchFamily="18" charset="0"/>
              </a:endParaRPr>
            </a:p>
          </p:txBody>
        </p:sp>
        <p:sp>
          <p:nvSpPr>
            <p:cNvPr id="28758" name="Rectangle 121"/>
            <p:cNvSpPr/>
            <p:nvPr/>
          </p:nvSpPr>
          <p:spPr>
            <a:xfrm>
              <a:off x="4354" y="1682"/>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37.3</a:t>
              </a:r>
              <a:endParaRPr lang="en-GB" altLang="zh-CN" sz="1200" dirty="0">
                <a:solidFill>
                  <a:srgbClr val="000000"/>
                </a:solidFill>
                <a:latin typeface="Times New Roman" pitchFamily="18" charset="0"/>
              </a:endParaRPr>
            </a:p>
          </p:txBody>
        </p:sp>
        <p:sp>
          <p:nvSpPr>
            <p:cNvPr id="28759" name="Rectangle 122"/>
            <p:cNvSpPr/>
            <p:nvPr/>
          </p:nvSpPr>
          <p:spPr>
            <a:xfrm>
              <a:off x="3178" y="1682"/>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197.parser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60" name="Rectangle 123"/>
            <p:cNvSpPr/>
            <p:nvPr/>
          </p:nvSpPr>
          <p:spPr>
            <a:xfrm>
              <a:off x="5982" y="1567"/>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26.9</a:t>
              </a:r>
              <a:endParaRPr lang="en-GB" altLang="zh-CN" sz="1200" dirty="0">
                <a:solidFill>
                  <a:srgbClr val="000000"/>
                </a:solidFill>
                <a:latin typeface="Times New Roman" pitchFamily="18" charset="0"/>
              </a:endParaRPr>
            </a:p>
          </p:txBody>
        </p:sp>
        <p:sp>
          <p:nvSpPr>
            <p:cNvPr id="28761" name="Rectangle 124"/>
            <p:cNvSpPr/>
            <p:nvPr/>
          </p:nvSpPr>
          <p:spPr>
            <a:xfrm>
              <a:off x="5444" y="1567"/>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25.3</a:t>
              </a:r>
              <a:endParaRPr lang="en-GB" altLang="zh-CN" sz="1200" dirty="0">
                <a:solidFill>
                  <a:srgbClr val="000000"/>
                </a:solidFill>
                <a:latin typeface="Times New Roman" pitchFamily="18" charset="0"/>
              </a:endParaRPr>
            </a:p>
          </p:txBody>
        </p:sp>
        <p:sp>
          <p:nvSpPr>
            <p:cNvPr id="28762" name="Rectangle 125"/>
            <p:cNvSpPr/>
            <p:nvPr/>
          </p:nvSpPr>
          <p:spPr>
            <a:xfrm>
              <a:off x="4855" y="1567"/>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69.3</a:t>
              </a:r>
              <a:endParaRPr lang="en-GB" altLang="zh-CN" sz="1200" dirty="0">
                <a:solidFill>
                  <a:srgbClr val="000000"/>
                </a:solidFill>
                <a:latin typeface="Times New Roman" pitchFamily="18" charset="0"/>
              </a:endParaRPr>
            </a:p>
          </p:txBody>
        </p:sp>
        <p:sp>
          <p:nvSpPr>
            <p:cNvPr id="28763" name="Rectangle 126"/>
            <p:cNvSpPr/>
            <p:nvPr/>
          </p:nvSpPr>
          <p:spPr>
            <a:xfrm>
              <a:off x="4354" y="1567"/>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73.1</a:t>
              </a:r>
              <a:endParaRPr lang="en-GB" altLang="zh-CN" sz="1200" dirty="0">
                <a:solidFill>
                  <a:srgbClr val="000000"/>
                </a:solidFill>
                <a:latin typeface="Times New Roman" pitchFamily="18" charset="0"/>
              </a:endParaRPr>
            </a:p>
          </p:txBody>
        </p:sp>
        <p:sp>
          <p:nvSpPr>
            <p:cNvPr id="28764" name="Rectangle 127"/>
            <p:cNvSpPr/>
            <p:nvPr/>
          </p:nvSpPr>
          <p:spPr>
            <a:xfrm>
              <a:off x="3178" y="1567"/>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186.crafty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65" name="Rectangle 128"/>
            <p:cNvSpPr/>
            <p:nvPr/>
          </p:nvSpPr>
          <p:spPr>
            <a:xfrm>
              <a:off x="5982" y="1433"/>
              <a:ext cx="667" cy="134"/>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41.6</a:t>
              </a:r>
              <a:endParaRPr lang="en-GB" altLang="zh-CN" sz="1200" dirty="0">
                <a:solidFill>
                  <a:srgbClr val="000000"/>
                </a:solidFill>
                <a:latin typeface="Times New Roman" pitchFamily="18" charset="0"/>
              </a:endParaRPr>
            </a:p>
          </p:txBody>
        </p:sp>
        <p:sp>
          <p:nvSpPr>
            <p:cNvPr id="28766" name="Rectangle 129"/>
            <p:cNvSpPr/>
            <p:nvPr/>
          </p:nvSpPr>
          <p:spPr>
            <a:xfrm>
              <a:off x="5444" y="1433"/>
              <a:ext cx="537" cy="134"/>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48.1</a:t>
              </a:r>
              <a:endParaRPr lang="en-GB" altLang="zh-CN" sz="1200" dirty="0">
                <a:solidFill>
                  <a:srgbClr val="000000"/>
                </a:solidFill>
                <a:latin typeface="Times New Roman" pitchFamily="18" charset="0"/>
              </a:endParaRPr>
            </a:p>
          </p:txBody>
        </p:sp>
        <p:sp>
          <p:nvSpPr>
            <p:cNvPr id="28767" name="Rectangle 130"/>
            <p:cNvSpPr/>
            <p:nvPr/>
          </p:nvSpPr>
          <p:spPr>
            <a:xfrm>
              <a:off x="4855" y="1433"/>
              <a:ext cx="589" cy="134"/>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3.79</a:t>
              </a:r>
              <a:endParaRPr lang="en-GB" altLang="zh-CN" sz="1200" dirty="0">
                <a:solidFill>
                  <a:srgbClr val="000000"/>
                </a:solidFill>
                <a:latin typeface="Times New Roman" pitchFamily="18" charset="0"/>
              </a:endParaRPr>
            </a:p>
          </p:txBody>
        </p:sp>
        <p:sp>
          <p:nvSpPr>
            <p:cNvPr id="28768" name="Rectangle 131"/>
            <p:cNvSpPr/>
            <p:nvPr/>
          </p:nvSpPr>
          <p:spPr>
            <a:xfrm>
              <a:off x="4354" y="1433"/>
              <a:ext cx="501" cy="134"/>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3.91</a:t>
              </a:r>
              <a:endParaRPr lang="en-GB" altLang="zh-CN" sz="1200" dirty="0">
                <a:solidFill>
                  <a:srgbClr val="000000"/>
                </a:solidFill>
                <a:latin typeface="Times New Roman" pitchFamily="18" charset="0"/>
              </a:endParaRPr>
            </a:p>
          </p:txBody>
        </p:sp>
        <p:sp>
          <p:nvSpPr>
            <p:cNvPr id="28769" name="Rectangle 132"/>
            <p:cNvSpPr/>
            <p:nvPr/>
          </p:nvSpPr>
          <p:spPr>
            <a:xfrm>
              <a:off x="3178" y="1433"/>
              <a:ext cx="1177" cy="134"/>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181.mcf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70" name="Rectangle 133"/>
            <p:cNvSpPr/>
            <p:nvPr/>
          </p:nvSpPr>
          <p:spPr>
            <a:xfrm>
              <a:off x="5982" y="1318"/>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5.4</a:t>
              </a:r>
              <a:endParaRPr lang="en-GB" altLang="zh-CN" sz="1200" dirty="0">
                <a:solidFill>
                  <a:srgbClr val="000000"/>
                </a:solidFill>
                <a:latin typeface="Times New Roman" pitchFamily="18" charset="0"/>
              </a:endParaRPr>
            </a:p>
          </p:txBody>
        </p:sp>
        <p:sp>
          <p:nvSpPr>
            <p:cNvPr id="28771" name="Rectangle 134"/>
            <p:cNvSpPr/>
            <p:nvPr/>
          </p:nvSpPr>
          <p:spPr>
            <a:xfrm>
              <a:off x="5444" y="1318"/>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5.3</a:t>
              </a:r>
              <a:endParaRPr lang="en-GB" altLang="zh-CN" sz="1200" dirty="0">
                <a:solidFill>
                  <a:srgbClr val="000000"/>
                </a:solidFill>
                <a:latin typeface="Times New Roman" pitchFamily="18" charset="0"/>
              </a:endParaRPr>
            </a:p>
          </p:txBody>
        </p:sp>
        <p:sp>
          <p:nvSpPr>
            <p:cNvPr id="28772" name="Rectangle 135"/>
            <p:cNvSpPr/>
            <p:nvPr/>
          </p:nvSpPr>
          <p:spPr>
            <a:xfrm>
              <a:off x="4855" y="1318"/>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24.6</a:t>
              </a:r>
              <a:endParaRPr lang="en-GB" altLang="zh-CN" sz="1200" dirty="0">
                <a:solidFill>
                  <a:srgbClr val="000000"/>
                </a:solidFill>
                <a:latin typeface="Times New Roman" pitchFamily="18" charset="0"/>
              </a:endParaRPr>
            </a:p>
          </p:txBody>
        </p:sp>
        <p:sp>
          <p:nvSpPr>
            <p:cNvPr id="28773" name="Rectangle 136"/>
            <p:cNvSpPr/>
            <p:nvPr/>
          </p:nvSpPr>
          <p:spPr>
            <a:xfrm>
              <a:off x="4354" y="1318"/>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25.1</a:t>
              </a:r>
              <a:endParaRPr lang="en-GB" altLang="zh-CN" sz="1200" dirty="0">
                <a:solidFill>
                  <a:srgbClr val="000000"/>
                </a:solidFill>
                <a:latin typeface="Times New Roman" pitchFamily="18" charset="0"/>
              </a:endParaRPr>
            </a:p>
          </p:txBody>
        </p:sp>
        <p:sp>
          <p:nvSpPr>
            <p:cNvPr id="28774" name="Rectangle 137"/>
            <p:cNvSpPr/>
            <p:nvPr/>
          </p:nvSpPr>
          <p:spPr>
            <a:xfrm>
              <a:off x="3178" y="1318"/>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176.gcc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75" name="Rectangle 138"/>
            <p:cNvSpPr/>
            <p:nvPr/>
          </p:nvSpPr>
          <p:spPr>
            <a:xfrm>
              <a:off x="5982" y="1203"/>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30.8</a:t>
              </a:r>
              <a:endParaRPr lang="en-GB" altLang="zh-CN" sz="1200" dirty="0">
                <a:solidFill>
                  <a:srgbClr val="000000"/>
                </a:solidFill>
                <a:latin typeface="Times New Roman" pitchFamily="18" charset="0"/>
              </a:endParaRPr>
            </a:p>
          </p:txBody>
        </p:sp>
        <p:sp>
          <p:nvSpPr>
            <p:cNvPr id="28776" name="Rectangle 139"/>
            <p:cNvSpPr/>
            <p:nvPr/>
          </p:nvSpPr>
          <p:spPr>
            <a:xfrm>
              <a:off x="5444" y="1203"/>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30.5</a:t>
              </a:r>
              <a:endParaRPr lang="en-GB" altLang="zh-CN" sz="1200" dirty="0">
                <a:solidFill>
                  <a:srgbClr val="000000"/>
                </a:solidFill>
                <a:latin typeface="Times New Roman" pitchFamily="18" charset="0"/>
              </a:endParaRPr>
            </a:p>
          </p:txBody>
        </p:sp>
        <p:sp>
          <p:nvSpPr>
            <p:cNvPr id="28777" name="Rectangle 140"/>
            <p:cNvSpPr/>
            <p:nvPr/>
          </p:nvSpPr>
          <p:spPr>
            <a:xfrm>
              <a:off x="4855" y="1203"/>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19.9</a:t>
              </a:r>
              <a:endParaRPr lang="en-GB" altLang="zh-CN" sz="1200" dirty="0">
                <a:solidFill>
                  <a:srgbClr val="000000"/>
                </a:solidFill>
                <a:latin typeface="Times New Roman" pitchFamily="18" charset="0"/>
              </a:endParaRPr>
            </a:p>
          </p:txBody>
        </p:sp>
        <p:sp>
          <p:nvSpPr>
            <p:cNvPr id="28778" name="Rectangle 141"/>
            <p:cNvSpPr/>
            <p:nvPr/>
          </p:nvSpPr>
          <p:spPr>
            <a:xfrm>
              <a:off x="4354" y="1203"/>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20.0</a:t>
              </a:r>
              <a:endParaRPr lang="en-GB" altLang="zh-CN" sz="1200" dirty="0">
                <a:solidFill>
                  <a:srgbClr val="000000"/>
                </a:solidFill>
                <a:latin typeface="Times New Roman" pitchFamily="18" charset="0"/>
              </a:endParaRPr>
            </a:p>
          </p:txBody>
        </p:sp>
        <p:sp>
          <p:nvSpPr>
            <p:cNvPr id="28779" name="Rectangle 142"/>
            <p:cNvSpPr/>
            <p:nvPr/>
          </p:nvSpPr>
          <p:spPr>
            <a:xfrm>
              <a:off x="3178" y="1203"/>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175.vpr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80" name="Rectangle 143"/>
            <p:cNvSpPr/>
            <p:nvPr/>
          </p:nvSpPr>
          <p:spPr>
            <a:xfrm>
              <a:off x="5982" y="1088"/>
              <a:ext cx="66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53</a:t>
              </a:r>
              <a:endParaRPr lang="en-GB" altLang="zh-CN" sz="1200" dirty="0">
                <a:solidFill>
                  <a:srgbClr val="000000"/>
                </a:solidFill>
                <a:latin typeface="Times New Roman" pitchFamily="18" charset="0"/>
              </a:endParaRPr>
            </a:p>
          </p:txBody>
        </p:sp>
        <p:sp>
          <p:nvSpPr>
            <p:cNvPr id="28781" name="Rectangle 144"/>
            <p:cNvSpPr/>
            <p:nvPr/>
          </p:nvSpPr>
          <p:spPr>
            <a:xfrm>
              <a:off x="5444" y="1088"/>
              <a:ext cx="537" cy="115"/>
            </a:xfrm>
            <a:prstGeom prst="rect">
              <a:avLst/>
            </a:prstGeom>
            <a:noFill/>
            <a:ln w="9525">
              <a:noFill/>
            </a:ln>
          </p:spPr>
          <p:txBody>
            <a:bodyPr lIns="18000" tIns="0" rIns="18000" bIns="0" anchor="ctr"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52.5</a:t>
              </a:r>
              <a:endParaRPr lang="en-GB" altLang="zh-CN" sz="1200" dirty="0">
                <a:solidFill>
                  <a:srgbClr val="000000"/>
                </a:solidFill>
                <a:latin typeface="Times New Roman" pitchFamily="18" charset="0"/>
              </a:endParaRPr>
            </a:p>
          </p:txBody>
        </p:sp>
        <p:sp>
          <p:nvSpPr>
            <p:cNvPr id="28782" name="Rectangle 145"/>
            <p:cNvSpPr/>
            <p:nvPr/>
          </p:nvSpPr>
          <p:spPr>
            <a:xfrm>
              <a:off x="4855" y="1088"/>
              <a:ext cx="589"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23.4</a:t>
              </a:r>
              <a:endParaRPr lang="en-GB" altLang="zh-CN" sz="1200" dirty="0">
                <a:solidFill>
                  <a:srgbClr val="000000"/>
                </a:solidFill>
                <a:latin typeface="Times New Roman" pitchFamily="18" charset="0"/>
              </a:endParaRPr>
            </a:p>
          </p:txBody>
        </p:sp>
        <p:sp>
          <p:nvSpPr>
            <p:cNvPr id="28783" name="Rectangle 146"/>
            <p:cNvSpPr/>
            <p:nvPr/>
          </p:nvSpPr>
          <p:spPr>
            <a:xfrm>
              <a:off x="4354" y="1088"/>
              <a:ext cx="501" cy="115"/>
            </a:xfrm>
            <a:prstGeom prst="rect">
              <a:avLst/>
            </a:prstGeom>
            <a:noFill/>
            <a:ln w="9525">
              <a:noFill/>
            </a:ln>
          </p:spPr>
          <p:txBody>
            <a:bodyPr lIns="18000" tIns="0" rIns="18000" bIns="0" anchor="b" anchorCtr="0"/>
            <a:p>
              <a:pPr algn="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23.9</a:t>
              </a:r>
              <a:endParaRPr lang="en-GB" altLang="zh-CN" sz="1200" dirty="0">
                <a:solidFill>
                  <a:srgbClr val="000000"/>
                </a:solidFill>
                <a:latin typeface="Times New Roman" pitchFamily="18" charset="0"/>
              </a:endParaRPr>
            </a:p>
          </p:txBody>
        </p:sp>
        <p:sp>
          <p:nvSpPr>
            <p:cNvPr id="28784" name="Rectangle 147"/>
            <p:cNvSpPr/>
            <p:nvPr/>
          </p:nvSpPr>
          <p:spPr>
            <a:xfrm>
              <a:off x="3178" y="1088"/>
              <a:ext cx="1177" cy="115"/>
            </a:xfrm>
            <a:prstGeom prst="rect">
              <a:avLst/>
            </a:prstGeom>
            <a:noFill/>
            <a:ln w="9525">
              <a:noFill/>
            </a:ln>
          </p:spPr>
          <p:txBody>
            <a:bodyPr lIns="18000" tIns="0" rIns="18000" bIns="0" anchor="b" anchorCtr="0"/>
            <a:p>
              <a:pP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164.gzip run time(s)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85" name="Rectangle 148"/>
            <p:cNvSpPr/>
            <p:nvPr/>
          </p:nvSpPr>
          <p:spPr>
            <a:xfrm>
              <a:off x="5982" y="973"/>
              <a:ext cx="667" cy="115"/>
            </a:xfrm>
            <a:prstGeom prst="rect">
              <a:avLst/>
            </a:prstGeom>
            <a:noFill/>
            <a:ln w="9525">
              <a:noFill/>
            </a:ln>
          </p:spPr>
          <p:txBody>
            <a:bodyPr lIns="18000" tIns="0" rIns="18000" bIns="0" anchor="ctr" anchorCtr="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FPGA(s)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86" name="Rectangle 149"/>
            <p:cNvSpPr/>
            <p:nvPr/>
          </p:nvSpPr>
          <p:spPr>
            <a:xfrm>
              <a:off x="5444" y="973"/>
              <a:ext cx="537" cy="115"/>
            </a:xfrm>
            <a:prstGeom prst="rect">
              <a:avLst/>
            </a:prstGeom>
            <a:noFill/>
            <a:ln w="9525">
              <a:noFill/>
            </a:ln>
          </p:spPr>
          <p:txBody>
            <a:bodyPr lIns="18000" tIns="0" rIns="18000" bIns="0" anchor="ctr" anchorCtr="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Real(s)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87" name="Rectangle 150"/>
            <p:cNvSpPr/>
            <p:nvPr/>
          </p:nvSpPr>
          <p:spPr>
            <a:xfrm>
              <a:off x="4855" y="973"/>
              <a:ext cx="589" cy="115"/>
            </a:xfrm>
            <a:prstGeom prst="rect">
              <a:avLst/>
            </a:prstGeom>
            <a:noFill/>
            <a:ln w="9525">
              <a:noFill/>
            </a:ln>
          </p:spPr>
          <p:txBody>
            <a:bodyPr lIns="18000" tIns="0" rIns="18000" bIns="0" anchor="ctr" anchorCtr="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FPGA(s)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88" name="Rectangle 151"/>
            <p:cNvSpPr/>
            <p:nvPr/>
          </p:nvSpPr>
          <p:spPr>
            <a:xfrm>
              <a:off x="4354" y="973"/>
              <a:ext cx="501" cy="115"/>
            </a:xfrm>
            <a:prstGeom prst="rect">
              <a:avLst/>
            </a:prstGeom>
            <a:noFill/>
            <a:ln w="9525">
              <a:noFill/>
            </a:ln>
          </p:spPr>
          <p:txBody>
            <a:bodyPr lIns="18000" tIns="0" rIns="18000" bIns="0" anchor="ctr" anchorCtr="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Real(s)</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89" name="Rectangle 152"/>
            <p:cNvSpPr/>
            <p:nvPr/>
          </p:nvSpPr>
          <p:spPr>
            <a:xfrm>
              <a:off x="3178" y="973"/>
              <a:ext cx="1177" cy="115"/>
            </a:xfrm>
            <a:prstGeom prst="rect">
              <a:avLst/>
            </a:prstGeom>
            <a:noFill/>
            <a:ln w="9525">
              <a:noFill/>
            </a:ln>
          </p:spPr>
          <p:txBody>
            <a:bodyPr wrap="none" anchor="ctr" anchorCtr="0"/>
            <a:p>
              <a:endParaRPr lang="zh-CN" altLang="en-US" dirty="0">
                <a:latin typeface="Times New Roman" pitchFamily="18" charset="0"/>
              </a:endParaRPr>
            </a:p>
          </p:txBody>
        </p:sp>
        <p:sp>
          <p:nvSpPr>
            <p:cNvPr id="28790" name="Rectangle 153"/>
            <p:cNvSpPr/>
            <p:nvPr/>
          </p:nvSpPr>
          <p:spPr>
            <a:xfrm>
              <a:off x="5444" y="858"/>
              <a:ext cx="1204" cy="115"/>
            </a:xfrm>
            <a:prstGeom prst="rect">
              <a:avLst/>
            </a:prstGeom>
            <a:noFill/>
            <a:ln w="9525">
              <a:noFill/>
            </a:ln>
          </p:spPr>
          <p:txBody>
            <a:bodyPr lIns="18000" tIns="0" rIns="18000" bIns="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2E (train data set)</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91" name="Rectangle 154"/>
            <p:cNvSpPr/>
            <p:nvPr/>
          </p:nvSpPr>
          <p:spPr>
            <a:xfrm>
              <a:off x="4354" y="858"/>
              <a:ext cx="1090" cy="115"/>
            </a:xfrm>
            <a:prstGeom prst="rect">
              <a:avLst/>
            </a:prstGeom>
            <a:noFill/>
            <a:ln w="9525">
              <a:noFill/>
            </a:ln>
          </p:spPr>
          <p:txBody>
            <a:bodyPr lIns="18000" tIns="0" rIns="18000" bIns="0" anchor="b" anchorCtr="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2C (test data set)</a:t>
              </a:r>
              <a:r>
                <a:rPr lang="ar-SA" altLang="zh-CN" sz="1200" dirty="0">
                  <a:solidFill>
                    <a:srgbClr val="000000"/>
                  </a:solidFill>
                  <a:latin typeface="Times New Roman" pitchFamily="18" charset="0"/>
                  <a:cs typeface="Times New Roman" pitchFamily="18" charset="0"/>
                </a:rPr>
                <a:t>‏</a:t>
              </a:r>
              <a:endParaRPr lang="en-GB" altLang="zh-CN" sz="1200" dirty="0">
                <a:solidFill>
                  <a:srgbClr val="000000"/>
                </a:solidFill>
                <a:latin typeface="Times New Roman" pitchFamily="18" charset="0"/>
              </a:endParaRPr>
            </a:p>
          </p:txBody>
        </p:sp>
        <p:sp>
          <p:nvSpPr>
            <p:cNvPr id="28792" name="Rectangle 155"/>
            <p:cNvSpPr/>
            <p:nvPr/>
          </p:nvSpPr>
          <p:spPr>
            <a:xfrm>
              <a:off x="3178" y="858"/>
              <a:ext cx="1177" cy="115"/>
            </a:xfrm>
            <a:prstGeom prst="rect">
              <a:avLst/>
            </a:prstGeom>
            <a:noFill/>
            <a:ln w="9525">
              <a:noFill/>
            </a:ln>
          </p:spPr>
          <p:txBody>
            <a:bodyPr wrap="none" anchor="ctr" anchorCtr="0"/>
            <a:p>
              <a:endParaRPr lang="zh-CN" altLang="en-US" dirty="0">
                <a:latin typeface="Times New Roman" pitchFamily="18" charset="0"/>
              </a:endParaRPr>
            </a:p>
          </p:txBody>
        </p:sp>
        <p:sp>
          <p:nvSpPr>
            <p:cNvPr id="28793" name="Rectangle 156"/>
            <p:cNvSpPr/>
            <p:nvPr/>
          </p:nvSpPr>
          <p:spPr>
            <a:xfrm>
              <a:off x="3178" y="743"/>
              <a:ext cx="3471" cy="115"/>
            </a:xfrm>
            <a:prstGeom prst="rect">
              <a:avLst/>
            </a:prstGeom>
            <a:noFill/>
            <a:ln w="9525">
              <a:noFill/>
            </a:ln>
          </p:spPr>
          <p:txBody>
            <a:bodyPr lIns="18000" tIns="0" rIns="18000" bIns="0" anchor="b" anchorCtr="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Table 3 SPEC CPU2000 Correlation between Silicon and FPGA</a:t>
              </a:r>
              <a:endParaRPr lang="en-GB" altLang="zh-CN" sz="1200" dirty="0">
                <a:solidFill>
                  <a:srgbClr val="000000"/>
                </a:solidFill>
                <a:latin typeface="Times New Roman" pitchFamily="18" charset="0"/>
              </a:endParaRPr>
            </a:p>
          </p:txBody>
        </p:sp>
        <p:sp>
          <p:nvSpPr>
            <p:cNvPr id="28794" name="Line 157"/>
            <p:cNvSpPr/>
            <p:nvPr/>
          </p:nvSpPr>
          <p:spPr>
            <a:xfrm>
              <a:off x="3178" y="743"/>
              <a:ext cx="3471" cy="1"/>
            </a:xfrm>
            <a:prstGeom prst="line">
              <a:avLst/>
            </a:prstGeom>
            <a:ln w="9360" cap="flat" cmpd="sng">
              <a:solidFill>
                <a:srgbClr val="000000"/>
              </a:solidFill>
              <a:prstDash val="solid"/>
              <a:miter/>
              <a:headEnd type="none" w="med" len="med"/>
              <a:tailEnd type="none" w="med" len="med"/>
            </a:ln>
          </p:spPr>
        </p:sp>
        <p:sp>
          <p:nvSpPr>
            <p:cNvPr id="28795" name="Line 158"/>
            <p:cNvSpPr/>
            <p:nvPr/>
          </p:nvSpPr>
          <p:spPr>
            <a:xfrm>
              <a:off x="3178" y="3522"/>
              <a:ext cx="3471" cy="1"/>
            </a:xfrm>
            <a:prstGeom prst="line">
              <a:avLst/>
            </a:prstGeom>
            <a:ln w="12600" cap="flat" cmpd="sng">
              <a:solidFill>
                <a:srgbClr val="000000"/>
              </a:solidFill>
              <a:prstDash val="solid"/>
              <a:miter/>
              <a:headEnd type="none" w="med" len="med"/>
              <a:tailEnd type="none" w="med" len="med"/>
            </a:ln>
          </p:spPr>
        </p:sp>
        <p:sp>
          <p:nvSpPr>
            <p:cNvPr id="28796" name="Line 159"/>
            <p:cNvSpPr/>
            <p:nvPr/>
          </p:nvSpPr>
          <p:spPr>
            <a:xfrm>
              <a:off x="3178" y="743"/>
              <a:ext cx="1" cy="115"/>
            </a:xfrm>
            <a:prstGeom prst="line">
              <a:avLst/>
            </a:prstGeom>
            <a:ln w="9360" cap="flat" cmpd="sng">
              <a:solidFill>
                <a:srgbClr val="000000"/>
              </a:solidFill>
              <a:prstDash val="solid"/>
              <a:miter/>
              <a:headEnd type="none" w="med" len="med"/>
              <a:tailEnd type="none" w="med" len="med"/>
            </a:ln>
          </p:spPr>
        </p:sp>
        <p:sp>
          <p:nvSpPr>
            <p:cNvPr id="28797" name="Line 160"/>
            <p:cNvSpPr/>
            <p:nvPr/>
          </p:nvSpPr>
          <p:spPr>
            <a:xfrm>
              <a:off x="6648" y="743"/>
              <a:ext cx="1" cy="115"/>
            </a:xfrm>
            <a:prstGeom prst="line">
              <a:avLst/>
            </a:prstGeom>
            <a:ln w="9360" cap="flat" cmpd="sng">
              <a:solidFill>
                <a:srgbClr val="000000"/>
              </a:solidFill>
              <a:prstDash val="solid"/>
              <a:miter/>
              <a:headEnd type="none" w="med" len="med"/>
              <a:tailEnd type="none" w="med" len="med"/>
            </a:ln>
          </p:spPr>
        </p:sp>
        <p:sp>
          <p:nvSpPr>
            <p:cNvPr id="28798" name="Line 161"/>
            <p:cNvSpPr/>
            <p:nvPr/>
          </p:nvSpPr>
          <p:spPr>
            <a:xfrm>
              <a:off x="3178" y="858"/>
              <a:ext cx="3471" cy="1"/>
            </a:xfrm>
            <a:prstGeom prst="line">
              <a:avLst/>
            </a:prstGeom>
            <a:ln w="12600" cap="flat" cmpd="sng">
              <a:solidFill>
                <a:srgbClr val="000000"/>
              </a:solidFill>
              <a:prstDash val="solid"/>
              <a:miter/>
              <a:headEnd type="none" w="med" len="med"/>
              <a:tailEnd type="none" w="med" len="med"/>
            </a:ln>
          </p:spPr>
        </p:sp>
        <p:sp>
          <p:nvSpPr>
            <p:cNvPr id="28799" name="Line 162"/>
            <p:cNvSpPr/>
            <p:nvPr/>
          </p:nvSpPr>
          <p:spPr>
            <a:xfrm>
              <a:off x="3178" y="858"/>
              <a:ext cx="1" cy="2664"/>
            </a:xfrm>
            <a:prstGeom prst="line">
              <a:avLst/>
            </a:prstGeom>
            <a:ln w="12600" cap="flat" cmpd="sng">
              <a:solidFill>
                <a:srgbClr val="000000"/>
              </a:solidFill>
              <a:prstDash val="solid"/>
              <a:miter/>
              <a:headEnd type="none" w="med" len="med"/>
              <a:tailEnd type="none" w="med" len="med"/>
            </a:ln>
          </p:spPr>
        </p:sp>
        <p:sp>
          <p:nvSpPr>
            <p:cNvPr id="28800" name="Line 163"/>
            <p:cNvSpPr/>
            <p:nvPr/>
          </p:nvSpPr>
          <p:spPr>
            <a:xfrm>
              <a:off x="6648" y="858"/>
              <a:ext cx="1" cy="2664"/>
            </a:xfrm>
            <a:prstGeom prst="line">
              <a:avLst/>
            </a:prstGeom>
            <a:ln w="12600" cap="flat" cmpd="sng">
              <a:solidFill>
                <a:srgbClr val="000000"/>
              </a:solidFill>
              <a:prstDash val="solid"/>
              <a:miter/>
              <a:headEnd type="none" w="med" len="med"/>
              <a:tailEnd type="none" w="med" len="med"/>
            </a:ln>
          </p:spPr>
        </p:sp>
        <p:sp>
          <p:nvSpPr>
            <p:cNvPr id="28801" name="Line 164"/>
            <p:cNvSpPr/>
            <p:nvPr/>
          </p:nvSpPr>
          <p:spPr>
            <a:xfrm>
              <a:off x="3178" y="973"/>
              <a:ext cx="3471" cy="1"/>
            </a:xfrm>
            <a:prstGeom prst="line">
              <a:avLst/>
            </a:prstGeom>
            <a:ln w="12600" cap="flat" cmpd="sng">
              <a:solidFill>
                <a:srgbClr val="000000"/>
              </a:solidFill>
              <a:prstDash val="solid"/>
              <a:miter/>
              <a:headEnd type="none" w="med" len="med"/>
              <a:tailEnd type="none" w="med" len="med"/>
            </a:ln>
          </p:spPr>
        </p:sp>
        <p:sp>
          <p:nvSpPr>
            <p:cNvPr id="28802" name="Line 165"/>
            <p:cNvSpPr/>
            <p:nvPr/>
          </p:nvSpPr>
          <p:spPr>
            <a:xfrm>
              <a:off x="4354" y="858"/>
              <a:ext cx="1" cy="2664"/>
            </a:xfrm>
            <a:prstGeom prst="line">
              <a:avLst/>
            </a:prstGeom>
            <a:ln w="12600" cap="flat" cmpd="sng">
              <a:solidFill>
                <a:srgbClr val="000000"/>
              </a:solidFill>
              <a:prstDash val="solid"/>
              <a:miter/>
              <a:headEnd type="none" w="med" len="med"/>
              <a:tailEnd type="none" w="med" len="med"/>
            </a:ln>
          </p:spPr>
        </p:sp>
        <p:sp>
          <p:nvSpPr>
            <p:cNvPr id="28803" name="Line 166"/>
            <p:cNvSpPr/>
            <p:nvPr/>
          </p:nvSpPr>
          <p:spPr>
            <a:xfrm>
              <a:off x="5444" y="858"/>
              <a:ext cx="1" cy="2664"/>
            </a:xfrm>
            <a:prstGeom prst="line">
              <a:avLst/>
            </a:prstGeom>
            <a:ln w="12600" cap="flat" cmpd="sng">
              <a:solidFill>
                <a:srgbClr val="000000"/>
              </a:solidFill>
              <a:prstDash val="solid"/>
              <a:miter/>
              <a:headEnd type="none" w="med" len="med"/>
              <a:tailEnd type="none" w="med" len="med"/>
            </a:ln>
          </p:spPr>
        </p:sp>
        <p:sp>
          <p:nvSpPr>
            <p:cNvPr id="28804" name="Line 167"/>
            <p:cNvSpPr/>
            <p:nvPr/>
          </p:nvSpPr>
          <p:spPr>
            <a:xfrm>
              <a:off x="3178" y="1088"/>
              <a:ext cx="3471" cy="1"/>
            </a:xfrm>
            <a:prstGeom prst="line">
              <a:avLst/>
            </a:prstGeom>
            <a:ln w="12600" cap="flat" cmpd="sng">
              <a:solidFill>
                <a:srgbClr val="000000"/>
              </a:solidFill>
              <a:prstDash val="solid"/>
              <a:miter/>
              <a:headEnd type="none" w="med" len="med"/>
              <a:tailEnd type="none" w="med" len="med"/>
            </a:ln>
          </p:spPr>
        </p:sp>
        <p:sp>
          <p:nvSpPr>
            <p:cNvPr id="28805" name="Line 168"/>
            <p:cNvSpPr/>
            <p:nvPr/>
          </p:nvSpPr>
          <p:spPr>
            <a:xfrm>
              <a:off x="4855" y="973"/>
              <a:ext cx="1" cy="2549"/>
            </a:xfrm>
            <a:prstGeom prst="line">
              <a:avLst/>
            </a:prstGeom>
            <a:ln w="12600" cap="flat" cmpd="sng">
              <a:solidFill>
                <a:srgbClr val="000000"/>
              </a:solidFill>
              <a:prstDash val="solid"/>
              <a:miter/>
              <a:headEnd type="none" w="med" len="med"/>
              <a:tailEnd type="none" w="med" len="med"/>
            </a:ln>
          </p:spPr>
        </p:sp>
        <p:sp>
          <p:nvSpPr>
            <p:cNvPr id="28806" name="Line 169"/>
            <p:cNvSpPr/>
            <p:nvPr/>
          </p:nvSpPr>
          <p:spPr>
            <a:xfrm>
              <a:off x="5982" y="973"/>
              <a:ext cx="1" cy="115"/>
            </a:xfrm>
            <a:prstGeom prst="line">
              <a:avLst/>
            </a:prstGeom>
            <a:ln w="9360" cap="flat" cmpd="sng">
              <a:solidFill>
                <a:srgbClr val="000000"/>
              </a:solidFill>
              <a:prstDash val="solid"/>
              <a:miter/>
              <a:headEnd type="none" w="med" len="med"/>
              <a:tailEnd type="none" w="med" len="med"/>
            </a:ln>
          </p:spPr>
        </p:sp>
        <p:sp>
          <p:nvSpPr>
            <p:cNvPr id="28807" name="Line 170"/>
            <p:cNvSpPr/>
            <p:nvPr/>
          </p:nvSpPr>
          <p:spPr>
            <a:xfrm>
              <a:off x="3178" y="1203"/>
              <a:ext cx="3471" cy="1"/>
            </a:xfrm>
            <a:prstGeom prst="line">
              <a:avLst/>
            </a:prstGeom>
            <a:ln w="12600" cap="flat" cmpd="sng">
              <a:solidFill>
                <a:srgbClr val="000000"/>
              </a:solidFill>
              <a:prstDash val="solid"/>
              <a:miter/>
              <a:headEnd type="none" w="med" len="med"/>
              <a:tailEnd type="none" w="med" len="med"/>
            </a:ln>
          </p:spPr>
        </p:sp>
        <p:sp>
          <p:nvSpPr>
            <p:cNvPr id="28808" name="Line 171"/>
            <p:cNvSpPr/>
            <p:nvPr/>
          </p:nvSpPr>
          <p:spPr>
            <a:xfrm>
              <a:off x="5982" y="1088"/>
              <a:ext cx="1" cy="2434"/>
            </a:xfrm>
            <a:prstGeom prst="line">
              <a:avLst/>
            </a:prstGeom>
            <a:ln w="12600" cap="flat" cmpd="sng">
              <a:solidFill>
                <a:srgbClr val="000000"/>
              </a:solidFill>
              <a:prstDash val="solid"/>
              <a:miter/>
              <a:headEnd type="none" w="med" len="med"/>
              <a:tailEnd type="none" w="med" len="med"/>
            </a:ln>
          </p:spPr>
        </p:sp>
        <p:sp>
          <p:nvSpPr>
            <p:cNvPr id="28809" name="Line 172"/>
            <p:cNvSpPr/>
            <p:nvPr/>
          </p:nvSpPr>
          <p:spPr>
            <a:xfrm>
              <a:off x="3178" y="1318"/>
              <a:ext cx="3471" cy="1"/>
            </a:xfrm>
            <a:prstGeom prst="line">
              <a:avLst/>
            </a:prstGeom>
            <a:ln w="12600" cap="flat" cmpd="sng">
              <a:solidFill>
                <a:srgbClr val="000000"/>
              </a:solidFill>
              <a:prstDash val="solid"/>
              <a:miter/>
              <a:headEnd type="none" w="med" len="med"/>
              <a:tailEnd type="none" w="med" len="med"/>
            </a:ln>
          </p:spPr>
        </p:sp>
        <p:sp>
          <p:nvSpPr>
            <p:cNvPr id="28810" name="Line 173"/>
            <p:cNvSpPr/>
            <p:nvPr/>
          </p:nvSpPr>
          <p:spPr>
            <a:xfrm>
              <a:off x="3178" y="1433"/>
              <a:ext cx="3471" cy="1"/>
            </a:xfrm>
            <a:prstGeom prst="line">
              <a:avLst/>
            </a:prstGeom>
            <a:ln w="12600" cap="flat" cmpd="sng">
              <a:solidFill>
                <a:srgbClr val="000000"/>
              </a:solidFill>
              <a:prstDash val="solid"/>
              <a:miter/>
              <a:headEnd type="none" w="med" len="med"/>
              <a:tailEnd type="none" w="med" len="med"/>
            </a:ln>
          </p:spPr>
        </p:sp>
        <p:sp>
          <p:nvSpPr>
            <p:cNvPr id="28811" name="Line 174"/>
            <p:cNvSpPr/>
            <p:nvPr/>
          </p:nvSpPr>
          <p:spPr>
            <a:xfrm>
              <a:off x="3178" y="1567"/>
              <a:ext cx="3471" cy="1"/>
            </a:xfrm>
            <a:prstGeom prst="line">
              <a:avLst/>
            </a:prstGeom>
            <a:ln w="12600" cap="flat" cmpd="sng">
              <a:solidFill>
                <a:srgbClr val="000000"/>
              </a:solidFill>
              <a:prstDash val="solid"/>
              <a:miter/>
              <a:headEnd type="none" w="med" len="med"/>
              <a:tailEnd type="none" w="med" len="med"/>
            </a:ln>
          </p:spPr>
        </p:sp>
        <p:sp>
          <p:nvSpPr>
            <p:cNvPr id="28812" name="Line 175"/>
            <p:cNvSpPr/>
            <p:nvPr/>
          </p:nvSpPr>
          <p:spPr>
            <a:xfrm>
              <a:off x="3178" y="1682"/>
              <a:ext cx="3471" cy="1"/>
            </a:xfrm>
            <a:prstGeom prst="line">
              <a:avLst/>
            </a:prstGeom>
            <a:ln w="12600" cap="flat" cmpd="sng">
              <a:solidFill>
                <a:srgbClr val="000000"/>
              </a:solidFill>
              <a:prstDash val="solid"/>
              <a:miter/>
              <a:headEnd type="none" w="med" len="med"/>
              <a:tailEnd type="none" w="med" len="med"/>
            </a:ln>
          </p:spPr>
        </p:sp>
        <p:sp>
          <p:nvSpPr>
            <p:cNvPr id="28813" name="Line 176"/>
            <p:cNvSpPr/>
            <p:nvPr/>
          </p:nvSpPr>
          <p:spPr>
            <a:xfrm>
              <a:off x="3178" y="1797"/>
              <a:ext cx="3471" cy="1"/>
            </a:xfrm>
            <a:prstGeom prst="line">
              <a:avLst/>
            </a:prstGeom>
            <a:ln w="12600" cap="flat" cmpd="sng">
              <a:solidFill>
                <a:srgbClr val="000000"/>
              </a:solidFill>
              <a:prstDash val="solid"/>
              <a:miter/>
              <a:headEnd type="none" w="med" len="med"/>
              <a:tailEnd type="none" w="med" len="med"/>
            </a:ln>
          </p:spPr>
        </p:sp>
        <p:sp>
          <p:nvSpPr>
            <p:cNvPr id="28814" name="Line 177"/>
            <p:cNvSpPr/>
            <p:nvPr/>
          </p:nvSpPr>
          <p:spPr>
            <a:xfrm>
              <a:off x="3178" y="1912"/>
              <a:ext cx="3471" cy="1"/>
            </a:xfrm>
            <a:prstGeom prst="line">
              <a:avLst/>
            </a:prstGeom>
            <a:ln w="12600" cap="flat" cmpd="sng">
              <a:solidFill>
                <a:srgbClr val="000000"/>
              </a:solidFill>
              <a:prstDash val="solid"/>
              <a:miter/>
              <a:headEnd type="none" w="med" len="med"/>
              <a:tailEnd type="none" w="med" len="med"/>
            </a:ln>
          </p:spPr>
        </p:sp>
        <p:sp>
          <p:nvSpPr>
            <p:cNvPr id="28815" name="Line 178"/>
            <p:cNvSpPr/>
            <p:nvPr/>
          </p:nvSpPr>
          <p:spPr>
            <a:xfrm>
              <a:off x="3178" y="2027"/>
              <a:ext cx="3471" cy="1"/>
            </a:xfrm>
            <a:prstGeom prst="line">
              <a:avLst/>
            </a:prstGeom>
            <a:ln w="12600" cap="flat" cmpd="sng">
              <a:solidFill>
                <a:srgbClr val="000000"/>
              </a:solidFill>
              <a:prstDash val="solid"/>
              <a:miter/>
              <a:headEnd type="none" w="med" len="med"/>
              <a:tailEnd type="none" w="med" len="med"/>
            </a:ln>
          </p:spPr>
        </p:sp>
        <p:sp>
          <p:nvSpPr>
            <p:cNvPr id="28816" name="Line 179"/>
            <p:cNvSpPr/>
            <p:nvPr/>
          </p:nvSpPr>
          <p:spPr>
            <a:xfrm>
              <a:off x="3178" y="2142"/>
              <a:ext cx="3471" cy="1"/>
            </a:xfrm>
            <a:prstGeom prst="line">
              <a:avLst/>
            </a:prstGeom>
            <a:ln w="12600" cap="flat" cmpd="sng">
              <a:solidFill>
                <a:srgbClr val="000000"/>
              </a:solidFill>
              <a:prstDash val="solid"/>
              <a:miter/>
              <a:headEnd type="none" w="med" len="med"/>
              <a:tailEnd type="none" w="med" len="med"/>
            </a:ln>
          </p:spPr>
        </p:sp>
        <p:sp>
          <p:nvSpPr>
            <p:cNvPr id="28817" name="Line 180"/>
            <p:cNvSpPr/>
            <p:nvPr/>
          </p:nvSpPr>
          <p:spPr>
            <a:xfrm>
              <a:off x="3178" y="2257"/>
              <a:ext cx="3471" cy="1"/>
            </a:xfrm>
            <a:prstGeom prst="line">
              <a:avLst/>
            </a:prstGeom>
            <a:ln w="12600" cap="flat" cmpd="sng">
              <a:solidFill>
                <a:srgbClr val="000000"/>
              </a:solidFill>
              <a:prstDash val="solid"/>
              <a:miter/>
              <a:headEnd type="none" w="med" len="med"/>
              <a:tailEnd type="none" w="med" len="med"/>
            </a:ln>
          </p:spPr>
        </p:sp>
        <p:sp>
          <p:nvSpPr>
            <p:cNvPr id="28818" name="Line 181"/>
            <p:cNvSpPr/>
            <p:nvPr/>
          </p:nvSpPr>
          <p:spPr>
            <a:xfrm>
              <a:off x="3178" y="2372"/>
              <a:ext cx="3471" cy="1"/>
            </a:xfrm>
            <a:prstGeom prst="line">
              <a:avLst/>
            </a:prstGeom>
            <a:ln w="12600" cap="flat" cmpd="sng">
              <a:solidFill>
                <a:srgbClr val="000000"/>
              </a:solidFill>
              <a:prstDash val="solid"/>
              <a:miter/>
              <a:headEnd type="none" w="med" len="med"/>
              <a:tailEnd type="none" w="med" len="med"/>
            </a:ln>
          </p:spPr>
        </p:sp>
        <p:sp>
          <p:nvSpPr>
            <p:cNvPr id="28819" name="Line 182"/>
            <p:cNvSpPr/>
            <p:nvPr/>
          </p:nvSpPr>
          <p:spPr>
            <a:xfrm>
              <a:off x="3178" y="2487"/>
              <a:ext cx="3471" cy="1"/>
            </a:xfrm>
            <a:prstGeom prst="line">
              <a:avLst/>
            </a:prstGeom>
            <a:ln w="12600" cap="flat" cmpd="sng">
              <a:solidFill>
                <a:srgbClr val="000000"/>
              </a:solidFill>
              <a:prstDash val="solid"/>
              <a:miter/>
              <a:headEnd type="none" w="med" len="med"/>
              <a:tailEnd type="none" w="med" len="med"/>
            </a:ln>
          </p:spPr>
        </p:sp>
        <p:sp>
          <p:nvSpPr>
            <p:cNvPr id="28820" name="Line 183"/>
            <p:cNvSpPr/>
            <p:nvPr/>
          </p:nvSpPr>
          <p:spPr>
            <a:xfrm>
              <a:off x="3178" y="2602"/>
              <a:ext cx="3471" cy="1"/>
            </a:xfrm>
            <a:prstGeom prst="line">
              <a:avLst/>
            </a:prstGeom>
            <a:ln w="12600" cap="flat" cmpd="sng">
              <a:solidFill>
                <a:srgbClr val="000000"/>
              </a:solidFill>
              <a:prstDash val="solid"/>
              <a:miter/>
              <a:headEnd type="none" w="med" len="med"/>
              <a:tailEnd type="none" w="med" len="med"/>
            </a:ln>
          </p:spPr>
        </p:sp>
        <p:sp>
          <p:nvSpPr>
            <p:cNvPr id="28821" name="Line 184"/>
            <p:cNvSpPr/>
            <p:nvPr/>
          </p:nvSpPr>
          <p:spPr>
            <a:xfrm>
              <a:off x="3178" y="2717"/>
              <a:ext cx="3471" cy="1"/>
            </a:xfrm>
            <a:prstGeom prst="line">
              <a:avLst/>
            </a:prstGeom>
            <a:ln w="12600" cap="flat" cmpd="sng">
              <a:solidFill>
                <a:srgbClr val="000000"/>
              </a:solidFill>
              <a:prstDash val="solid"/>
              <a:miter/>
              <a:headEnd type="none" w="med" len="med"/>
              <a:tailEnd type="none" w="med" len="med"/>
            </a:ln>
          </p:spPr>
        </p:sp>
        <p:sp>
          <p:nvSpPr>
            <p:cNvPr id="28822" name="Line 185"/>
            <p:cNvSpPr/>
            <p:nvPr/>
          </p:nvSpPr>
          <p:spPr>
            <a:xfrm>
              <a:off x="3178" y="2832"/>
              <a:ext cx="3471" cy="1"/>
            </a:xfrm>
            <a:prstGeom prst="line">
              <a:avLst/>
            </a:prstGeom>
            <a:ln w="12600" cap="flat" cmpd="sng">
              <a:solidFill>
                <a:srgbClr val="000000"/>
              </a:solidFill>
              <a:prstDash val="solid"/>
              <a:miter/>
              <a:headEnd type="none" w="med" len="med"/>
              <a:tailEnd type="none" w="med" len="med"/>
            </a:ln>
          </p:spPr>
        </p:sp>
        <p:sp>
          <p:nvSpPr>
            <p:cNvPr id="28823" name="Line 186"/>
            <p:cNvSpPr/>
            <p:nvPr/>
          </p:nvSpPr>
          <p:spPr>
            <a:xfrm>
              <a:off x="3178" y="2947"/>
              <a:ext cx="3471" cy="1"/>
            </a:xfrm>
            <a:prstGeom prst="line">
              <a:avLst/>
            </a:prstGeom>
            <a:ln w="12600" cap="flat" cmpd="sng">
              <a:solidFill>
                <a:srgbClr val="000000"/>
              </a:solidFill>
              <a:prstDash val="solid"/>
              <a:miter/>
              <a:headEnd type="none" w="med" len="med"/>
              <a:tailEnd type="none" w="med" len="med"/>
            </a:ln>
          </p:spPr>
        </p:sp>
        <p:sp>
          <p:nvSpPr>
            <p:cNvPr id="28824" name="Line 187"/>
            <p:cNvSpPr/>
            <p:nvPr/>
          </p:nvSpPr>
          <p:spPr>
            <a:xfrm>
              <a:off x="3178" y="3062"/>
              <a:ext cx="3471" cy="1"/>
            </a:xfrm>
            <a:prstGeom prst="line">
              <a:avLst/>
            </a:prstGeom>
            <a:ln w="12600" cap="flat" cmpd="sng">
              <a:solidFill>
                <a:srgbClr val="000000"/>
              </a:solidFill>
              <a:prstDash val="solid"/>
              <a:miter/>
              <a:headEnd type="none" w="med" len="med"/>
              <a:tailEnd type="none" w="med" len="med"/>
            </a:ln>
          </p:spPr>
        </p:sp>
        <p:sp>
          <p:nvSpPr>
            <p:cNvPr id="28825" name="Line 188"/>
            <p:cNvSpPr/>
            <p:nvPr/>
          </p:nvSpPr>
          <p:spPr>
            <a:xfrm>
              <a:off x="3178" y="3177"/>
              <a:ext cx="3471" cy="1"/>
            </a:xfrm>
            <a:prstGeom prst="line">
              <a:avLst/>
            </a:prstGeom>
            <a:ln w="12600" cap="flat" cmpd="sng">
              <a:solidFill>
                <a:srgbClr val="000000"/>
              </a:solidFill>
              <a:prstDash val="solid"/>
              <a:miter/>
              <a:headEnd type="none" w="med" len="med"/>
              <a:tailEnd type="none" w="med" len="med"/>
            </a:ln>
          </p:spPr>
        </p:sp>
        <p:sp>
          <p:nvSpPr>
            <p:cNvPr id="28826" name="Line 189"/>
            <p:cNvSpPr/>
            <p:nvPr/>
          </p:nvSpPr>
          <p:spPr>
            <a:xfrm>
              <a:off x="3178" y="3292"/>
              <a:ext cx="3471" cy="1"/>
            </a:xfrm>
            <a:prstGeom prst="line">
              <a:avLst/>
            </a:prstGeom>
            <a:ln w="12600" cap="flat" cmpd="sng">
              <a:solidFill>
                <a:srgbClr val="000000"/>
              </a:solidFill>
              <a:prstDash val="solid"/>
              <a:miter/>
              <a:headEnd type="none" w="med" len="med"/>
              <a:tailEnd type="none" w="med" len="med"/>
            </a:ln>
          </p:spPr>
        </p:sp>
        <p:sp>
          <p:nvSpPr>
            <p:cNvPr id="28827" name="Line 190"/>
            <p:cNvSpPr/>
            <p:nvPr/>
          </p:nvSpPr>
          <p:spPr>
            <a:xfrm>
              <a:off x="3178" y="3407"/>
              <a:ext cx="3471" cy="1"/>
            </a:xfrm>
            <a:prstGeom prst="line">
              <a:avLst/>
            </a:prstGeom>
            <a:ln w="12600" cap="flat" cmpd="sng">
              <a:solidFill>
                <a:srgbClr val="000000"/>
              </a:solidFill>
              <a:prstDash val="solid"/>
              <a:miter/>
              <a:headEnd type="none" w="med" len="med"/>
              <a:tailEnd type="none" w="med" len="med"/>
            </a:ln>
          </p:spPr>
        </p:sp>
      </p:gr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29699" name="Rectangle 1"/>
          <p:cNvSpPr/>
          <p:nvPr>
            <p:ph type="title"/>
          </p:nvPr>
        </p:nvSpPr>
        <p:spPr>
          <a:xfrm>
            <a:off x="917575" y="0"/>
            <a:ext cx="10366375"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t>故事</a:t>
            </a:r>
            <a:r>
              <a:rPr lang="en-GB" altLang="zh-CN" dirty="0"/>
              <a:t>2</a:t>
            </a:r>
            <a:r>
              <a:rPr lang="zh-CN" altLang="en-GB" dirty="0"/>
              <a:t>：细节决定成败</a:t>
            </a:r>
            <a:endParaRPr lang="zh-CN" altLang="en-GB" dirty="0"/>
          </a:p>
        </p:txBody>
      </p:sp>
      <p:sp>
        <p:nvSpPr>
          <p:cNvPr id="29700" name="Rectangle 2"/>
          <p:cNvSpPr/>
          <p:nvPr>
            <p:ph idx="1"/>
          </p:nvPr>
        </p:nvSpPr>
        <p:spPr>
          <a:xfrm>
            <a:off x="914400" y="1160463"/>
            <a:ext cx="10361613" cy="1841500"/>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Lst>
            </a:pPr>
            <a:r>
              <a:rPr lang="zh-CN" altLang="en-GB" dirty="0">
                <a:cs typeface="宋体" panose="02000500000000000000" pitchFamily="2" charset="-122"/>
              </a:rPr>
              <a:t>龙芯</a:t>
            </a:r>
            <a:r>
              <a:rPr lang="en-GB" altLang="zh-CN" dirty="0">
                <a:cs typeface="宋体" panose="02000500000000000000" pitchFamily="2" charset="-122"/>
              </a:rPr>
              <a:t>2C</a:t>
            </a:r>
            <a:r>
              <a:rPr lang="zh-CN" altLang="en-GB" dirty="0">
                <a:cs typeface="宋体" panose="02000500000000000000" pitchFamily="2" charset="-122"/>
              </a:rPr>
              <a:t>的四路</a:t>
            </a:r>
            <a:r>
              <a:rPr lang="en-GB" altLang="zh-CN" dirty="0">
                <a:cs typeface="宋体" panose="02000500000000000000" pitchFamily="2" charset="-122"/>
              </a:rPr>
              <a:t>Cache</a:t>
            </a:r>
            <a:r>
              <a:rPr lang="zh-CN" altLang="en-GB" dirty="0">
                <a:cs typeface="宋体" panose="02000500000000000000" pitchFamily="2" charset="-122"/>
              </a:rPr>
              <a:t>随机替换计数器问题</a:t>
            </a:r>
            <a:endParaRPr lang="zh-CN" altLang="en-GB"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Lst>
            </a:pPr>
            <a:r>
              <a:rPr lang="en-GB" altLang="zh-CN" dirty="0">
                <a:cs typeface="宋体" panose="02000500000000000000" pitchFamily="2" charset="-122"/>
              </a:rPr>
              <a:t>2</a:t>
            </a:r>
            <a:r>
              <a:rPr lang="zh-CN" altLang="en-GB" dirty="0">
                <a:cs typeface="宋体" panose="02000500000000000000" pitchFamily="2" charset="-122"/>
              </a:rPr>
              <a:t>倍频和</a:t>
            </a:r>
            <a:r>
              <a:rPr lang="en-GB" altLang="zh-CN" dirty="0">
                <a:cs typeface="宋体" panose="02000500000000000000" pitchFamily="2" charset="-122"/>
              </a:rPr>
              <a:t>4</a:t>
            </a:r>
            <a:r>
              <a:rPr lang="zh-CN" altLang="en-GB" dirty="0">
                <a:cs typeface="宋体" panose="02000500000000000000" pitchFamily="2" charset="-122"/>
              </a:rPr>
              <a:t>倍频的时候四路变成二路</a:t>
            </a:r>
            <a:endParaRPr lang="zh-CN" altLang="en-GB" dirty="0">
              <a:cs typeface="宋体" panose="02000500000000000000" pitchFamily="2" charset="-122"/>
            </a:endParaRPr>
          </a:p>
        </p:txBody>
      </p:sp>
      <p:sp>
        <p:nvSpPr>
          <p:cNvPr id="29701" name="Rectangle 3"/>
          <p:cNvSpPr/>
          <p:nvPr/>
        </p:nvSpPr>
        <p:spPr>
          <a:xfrm>
            <a:off x="0" y="2305050"/>
            <a:ext cx="12190413" cy="1588"/>
          </a:xfrm>
          <a:prstGeom prst="rect">
            <a:avLst/>
          </a:prstGeom>
          <a:noFill/>
          <a:ln w="9525">
            <a:noFill/>
          </a:ln>
        </p:spPr>
        <p:txBody>
          <a:bodyPr wrap="none" anchor="ctr" anchorCtr="0"/>
          <a:p>
            <a:endParaRPr lang="zh-CN" altLang="en-US" dirty="0">
              <a:latin typeface="Times New Roman" pitchFamily="18" charset="0"/>
            </a:endParaRPr>
          </a:p>
        </p:txBody>
      </p:sp>
      <p:grpSp>
        <p:nvGrpSpPr>
          <p:cNvPr id="29702" name="Group 4"/>
          <p:cNvGrpSpPr/>
          <p:nvPr/>
        </p:nvGrpSpPr>
        <p:grpSpPr>
          <a:xfrm>
            <a:off x="0" y="3125788"/>
            <a:ext cx="12188825" cy="3457575"/>
            <a:chOff x="0" y="1969"/>
            <a:chExt cx="6893" cy="2178"/>
          </a:xfrm>
        </p:grpSpPr>
        <p:sp>
          <p:nvSpPr>
            <p:cNvPr id="29703" name="AutoShape 5"/>
            <p:cNvSpPr/>
            <p:nvPr/>
          </p:nvSpPr>
          <p:spPr>
            <a:xfrm>
              <a:off x="0" y="1969"/>
              <a:ext cx="6894" cy="2179"/>
            </a:xfrm>
            <a:prstGeom prst="roundRect">
              <a:avLst>
                <a:gd name="adj" fmla="val 42"/>
              </a:avLst>
            </a:prstGeom>
            <a:noFill/>
            <a:ln w="9525">
              <a:noFill/>
            </a:ln>
          </p:spPr>
          <p:txBody>
            <a:bodyPr wrap="none" anchor="ctr" anchorCtr="0"/>
            <a:p>
              <a:endParaRPr lang="zh-CN" altLang="en-US" dirty="0">
                <a:latin typeface="Times New Roman" pitchFamily="18" charset="0"/>
              </a:endParaRPr>
            </a:p>
          </p:txBody>
        </p:sp>
        <p:sp>
          <p:nvSpPr>
            <p:cNvPr id="29704" name="Text Box 6"/>
            <p:cNvSpPr txBox="1"/>
            <p:nvPr/>
          </p:nvSpPr>
          <p:spPr>
            <a:xfrm>
              <a:off x="707" y="3926"/>
              <a:ext cx="5304" cy="172"/>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Lst>
              </a:pPr>
              <a:r>
                <a:rPr lang="en-GB" altLang="zh-CN" sz="1000" dirty="0">
                  <a:solidFill>
                    <a:srgbClr val="000000"/>
                  </a:solidFill>
                  <a:latin typeface="Times New Roman" pitchFamily="18" charset="0"/>
                </a:rPr>
                <a:t>Figure 2. Bandwidth of Godson-2C machine with coreclock/memclock of 3/1 and 4/1</a:t>
              </a:r>
              <a:endParaRPr lang="en-GB" altLang="zh-CN" sz="1000" dirty="0">
                <a:solidFill>
                  <a:srgbClr val="000000"/>
                </a:solidFill>
                <a:latin typeface="Times New Roman" pitchFamily="18" charset="0"/>
              </a:endParaRPr>
            </a:p>
          </p:txBody>
        </p:sp>
        <p:pic>
          <p:nvPicPr>
            <p:cNvPr id="29705" name="Picture 7"/>
            <p:cNvPicPr>
              <a:picLocks noChangeAspect="1"/>
            </p:cNvPicPr>
            <p:nvPr/>
          </p:nvPicPr>
          <p:blipFill>
            <a:blip r:embed="rId1"/>
            <a:stretch>
              <a:fillRect/>
            </a:stretch>
          </p:blipFill>
          <p:spPr>
            <a:xfrm>
              <a:off x="206" y="2055"/>
              <a:ext cx="3241" cy="1674"/>
            </a:xfrm>
            <a:prstGeom prst="rect">
              <a:avLst/>
            </a:prstGeom>
            <a:noFill/>
            <a:ln w="9525">
              <a:noFill/>
            </a:ln>
          </p:spPr>
        </p:pic>
        <p:pic>
          <p:nvPicPr>
            <p:cNvPr id="29706" name="Picture 8"/>
            <p:cNvPicPr>
              <a:picLocks noChangeAspect="1"/>
            </p:cNvPicPr>
            <p:nvPr/>
          </p:nvPicPr>
          <p:blipFill>
            <a:blip r:embed="rId2"/>
            <a:stretch>
              <a:fillRect/>
            </a:stretch>
          </p:blipFill>
          <p:spPr>
            <a:xfrm>
              <a:off x="3506" y="2092"/>
              <a:ext cx="3122" cy="1625"/>
            </a:xfrm>
            <a:prstGeom prst="rect">
              <a:avLst/>
            </a:prstGeom>
            <a:noFill/>
            <a:ln w="9525">
              <a:noFill/>
            </a:ln>
          </p:spPr>
        </p:pic>
        <p:sp>
          <p:nvSpPr>
            <p:cNvPr id="29707" name="Text Box 9"/>
            <p:cNvSpPr txBox="1"/>
            <p:nvPr/>
          </p:nvSpPr>
          <p:spPr>
            <a:xfrm>
              <a:off x="574" y="3668"/>
              <a:ext cx="2504" cy="172"/>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(a) coreclock / memclock = 3 / 1</a:t>
              </a:r>
              <a:endParaRPr lang="en-GB" altLang="zh-CN" sz="800" dirty="0">
                <a:solidFill>
                  <a:srgbClr val="000000"/>
                </a:solidFill>
                <a:latin typeface="Times New Roman" pitchFamily="18" charset="0"/>
              </a:endParaRPr>
            </a:p>
          </p:txBody>
        </p:sp>
        <p:sp>
          <p:nvSpPr>
            <p:cNvPr id="29708" name="Text Box 10"/>
            <p:cNvSpPr txBox="1"/>
            <p:nvPr/>
          </p:nvSpPr>
          <p:spPr>
            <a:xfrm>
              <a:off x="3903" y="3705"/>
              <a:ext cx="2504" cy="172"/>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(b) coreclock / memclock = 4 / 1</a:t>
              </a:r>
              <a:endParaRPr lang="en-GB" altLang="zh-CN" sz="800" dirty="0">
                <a:solidFill>
                  <a:srgbClr val="000000"/>
                </a:solidFill>
                <a:latin typeface="Times New Roman" pitchFamily="18" charset="0"/>
              </a:endParaRPr>
            </a:p>
          </p:txBody>
        </p:sp>
      </p:gr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7"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1028" name="Rectangle 1"/>
          <p:cNvSpPr/>
          <p:nvPr>
            <p:ph type="title"/>
          </p:nvPr>
        </p:nvSpPr>
        <p:spPr>
          <a:xfrm>
            <a:off x="896938" y="3175"/>
            <a:ext cx="10364787" cy="1068388"/>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sz="3600" dirty="0">
                <a:latin typeface="黑体" panose="02000500000000000000" pitchFamily="49" charset="-122"/>
              </a:rPr>
              <a:t>故事</a:t>
            </a:r>
            <a:r>
              <a:rPr lang="en-GB" altLang="zh-CN" sz="3600" dirty="0"/>
              <a:t>3</a:t>
            </a:r>
            <a:r>
              <a:rPr lang="zh-CN" altLang="en-GB" sz="3600" dirty="0">
                <a:latin typeface="黑体" panose="02000500000000000000" pitchFamily="49" charset="-122"/>
              </a:rPr>
              <a:t>：正确对待前人的做法和结果</a:t>
            </a:r>
            <a:endParaRPr lang="en-GB" altLang="zh-CN" sz="3600" dirty="0">
              <a:latin typeface="黑体" panose="02000500000000000000" pitchFamily="49" charset="-122"/>
            </a:endParaRPr>
          </a:p>
        </p:txBody>
      </p:sp>
      <p:sp>
        <p:nvSpPr>
          <p:cNvPr id="1029" name="Rectangle 2"/>
          <p:cNvSpPr/>
          <p:nvPr>
            <p:ph idx="1"/>
          </p:nvPr>
        </p:nvSpPr>
        <p:spPr>
          <a:xfrm>
            <a:off x="320675" y="1085850"/>
            <a:ext cx="11549063" cy="2722563"/>
          </a:xfrm>
        </p:spPr>
        <p:txBody>
          <a:bodyPr vert="horz" wrap="square" lIns="90000" tIns="46800" rIns="90000" bIns="46800" anchor="t" anchorCtr="0"/>
          <a:p>
            <a:pPr defTabSz="265430" eaLnBrk="1" hangingPunct="1">
              <a:spcBef>
                <a:spcPts val="5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Lst>
            </a:pPr>
            <a:r>
              <a:rPr lang="zh-CN" altLang="en-GB" sz="2000" dirty="0">
                <a:cs typeface="宋体" panose="02000500000000000000" pitchFamily="2" charset="-122"/>
              </a:rPr>
              <a:t>功能部件的调度</a:t>
            </a:r>
            <a:endParaRPr lang="zh-CN" altLang="en-GB" sz="2000" dirty="0">
              <a:cs typeface="宋体" panose="02000500000000000000" pitchFamily="2" charset="-122"/>
            </a:endParaRPr>
          </a:p>
          <a:p>
            <a:pPr lvl="1" defTabSz="265430" eaLnBrk="1" hangingPunct="1">
              <a:spcBef>
                <a:spcPts val="45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Lst>
            </a:pPr>
            <a:r>
              <a:rPr lang="en-GB" altLang="zh-CN" sz="1800" dirty="0">
                <a:cs typeface="宋体" panose="02000500000000000000" pitchFamily="2" charset="-122"/>
              </a:rPr>
              <a:t>ALU1</a:t>
            </a:r>
            <a:r>
              <a:rPr lang="zh-CN" altLang="en-GB" sz="1800" dirty="0">
                <a:cs typeface="宋体" panose="02000500000000000000" pitchFamily="2" charset="-122"/>
              </a:rPr>
              <a:t>和</a:t>
            </a:r>
            <a:r>
              <a:rPr lang="en-GB" altLang="zh-CN" sz="1800" dirty="0">
                <a:cs typeface="宋体" panose="02000500000000000000" pitchFamily="2" charset="-122"/>
              </a:rPr>
              <a:t>ALU2</a:t>
            </a:r>
            <a:r>
              <a:rPr lang="zh-CN" altLang="en-GB" sz="1800" dirty="0">
                <a:cs typeface="宋体" panose="02000500000000000000" pitchFamily="2" charset="-122"/>
              </a:rPr>
              <a:t>公共指令：加减、逻辑运算</a:t>
            </a:r>
            <a:endParaRPr lang="zh-CN" altLang="en-GB" sz="1800" dirty="0">
              <a:cs typeface="宋体" panose="02000500000000000000" pitchFamily="2" charset="-122"/>
            </a:endParaRPr>
          </a:p>
          <a:p>
            <a:pPr lvl="1" defTabSz="265430" eaLnBrk="1" hangingPunct="1">
              <a:spcBef>
                <a:spcPts val="45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Lst>
            </a:pPr>
            <a:r>
              <a:rPr lang="zh-CN" altLang="en-GB" sz="1800" dirty="0">
                <a:cs typeface="宋体" panose="02000500000000000000" pitchFamily="2" charset="-122"/>
              </a:rPr>
              <a:t>前人的结果移位指令使用不多，但</a:t>
            </a:r>
            <a:r>
              <a:rPr lang="en-GB" altLang="zh-CN" sz="1800" dirty="0">
                <a:cs typeface="宋体" panose="02000500000000000000" pitchFamily="2" charset="-122"/>
              </a:rPr>
              <a:t>gcc</a:t>
            </a:r>
            <a:r>
              <a:rPr lang="zh-CN" altLang="en-GB" sz="1800" dirty="0">
                <a:cs typeface="宋体" panose="02000500000000000000" pitchFamily="2" charset="-122"/>
              </a:rPr>
              <a:t>使用移位指令实现简单乘法</a:t>
            </a:r>
            <a:endParaRPr lang="zh-CN" altLang="en-GB" sz="1800" dirty="0">
              <a:cs typeface="宋体" panose="02000500000000000000" pitchFamily="2" charset="-122"/>
            </a:endParaRPr>
          </a:p>
          <a:p>
            <a:pPr lvl="1" defTabSz="265430" eaLnBrk="1" hangingPunct="1">
              <a:spcBef>
                <a:spcPts val="45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Lst>
            </a:pPr>
            <a:r>
              <a:rPr lang="zh-CN" altLang="en-GB" sz="1800" dirty="0">
                <a:cs typeface="宋体" panose="02000500000000000000" pitchFamily="2" charset="-122"/>
              </a:rPr>
              <a:t>公共指令的调度：</a:t>
            </a:r>
            <a:r>
              <a:rPr lang="en-GB" altLang="zh-CN" sz="1800" dirty="0">
                <a:cs typeface="宋体" panose="02000500000000000000" pitchFamily="2" charset="-122"/>
              </a:rPr>
              <a:t>R10000</a:t>
            </a:r>
            <a:r>
              <a:rPr lang="zh-CN" altLang="en-GB" sz="1800" dirty="0">
                <a:cs typeface="宋体" panose="02000500000000000000" pitchFamily="2" charset="-122"/>
              </a:rPr>
              <a:t>根据目标寄存器号调度，导致不平衡</a:t>
            </a:r>
            <a:endParaRPr lang="zh-CN" altLang="en-GB" sz="1800" dirty="0">
              <a:cs typeface="宋体" panose="02000500000000000000" pitchFamily="2" charset="-122"/>
            </a:endParaRPr>
          </a:p>
          <a:p>
            <a:pPr lvl="1" defTabSz="265430" eaLnBrk="1" hangingPunct="1">
              <a:spcBef>
                <a:spcPts val="45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Lst>
            </a:pPr>
            <a:r>
              <a:rPr lang="zh-CN" altLang="en-GB" sz="1800" dirty="0">
                <a:cs typeface="宋体" panose="02000500000000000000" pitchFamily="2" charset="-122"/>
              </a:rPr>
              <a:t>性能提高</a:t>
            </a:r>
            <a:r>
              <a:rPr lang="en-GB" altLang="zh-CN" sz="1800" dirty="0">
                <a:cs typeface="宋体" panose="02000500000000000000" pitchFamily="2" charset="-122"/>
              </a:rPr>
              <a:t>5%</a:t>
            </a:r>
            <a:r>
              <a:rPr lang="zh-CN" altLang="en-GB" sz="1800" dirty="0">
                <a:cs typeface="宋体" panose="02000500000000000000" pitchFamily="2" charset="-122"/>
              </a:rPr>
              <a:t>以上</a:t>
            </a:r>
            <a:endParaRPr lang="zh-CN" altLang="en-GB" sz="1800" dirty="0">
              <a:cs typeface="宋体" panose="02000500000000000000" pitchFamily="2" charset="-122"/>
            </a:endParaRPr>
          </a:p>
        </p:txBody>
      </p:sp>
      <p:graphicFrame>
        <p:nvGraphicFramePr>
          <p:cNvPr id="1026" name="Object 3"/>
          <p:cNvGraphicFramePr>
            <a:graphicFrameLocks noChangeAspect="1"/>
          </p:cNvGraphicFramePr>
          <p:nvPr/>
        </p:nvGraphicFramePr>
        <p:xfrm>
          <a:off x="2527300" y="3767138"/>
          <a:ext cx="5867400" cy="3090862"/>
        </p:xfrm>
        <a:graphic>
          <a:graphicData uri="http://schemas.openxmlformats.org/presentationml/2006/ole">
            <mc:AlternateContent xmlns:mc="http://schemas.openxmlformats.org/markup-compatibility/2006">
              <mc:Choice xmlns:v="urn:schemas-microsoft-com:vml" Requires="v">
                <p:oleObj spid="_x0000_s3076" name="" r:id="rId1" imgW="2438400" imgH="1818005" progId="Excel.Sheet.5">
                  <p:embed/>
                </p:oleObj>
              </mc:Choice>
              <mc:Fallback>
                <p:oleObj name="" r:id="rId1" imgW="2438400" imgH="1818005" progId="Excel.Sheet.5">
                  <p:embed/>
                  <p:pic>
                    <p:nvPicPr>
                      <p:cNvPr id="0" name="图片 3075"/>
                      <p:cNvPicPr/>
                      <p:nvPr/>
                    </p:nvPicPr>
                    <p:blipFill>
                      <a:blip r:embed="rId2"/>
                      <a:stretch>
                        <a:fillRect/>
                      </a:stretch>
                    </p:blipFill>
                    <p:spPr>
                      <a:xfrm>
                        <a:off x="2527300" y="3767138"/>
                        <a:ext cx="5867400" cy="3090862"/>
                      </a:xfrm>
                      <a:prstGeom prst="rect">
                        <a:avLst/>
                      </a:prstGeom>
                      <a:noFill/>
                      <a:ln w="38100">
                        <a:noFill/>
                        <a:miter/>
                      </a:ln>
                    </p:spPr>
                  </p:pic>
                </p:oleObj>
              </mc:Fallback>
            </mc:AlternateContent>
          </a:graphicData>
        </a:graphic>
      </p:graphicFrame>
      <p:sp>
        <p:nvSpPr>
          <p:cNvPr id="1030" name="Rectangle 5"/>
          <p:cNvSpPr/>
          <p:nvPr/>
        </p:nvSpPr>
        <p:spPr>
          <a:xfrm>
            <a:off x="0" y="346075"/>
            <a:ext cx="12190413" cy="1588"/>
          </a:xfrm>
          <a:prstGeom prst="rect">
            <a:avLst/>
          </a:prstGeom>
          <a:noFill/>
          <a:ln w="9525">
            <a:noFill/>
          </a:ln>
        </p:spPr>
        <p:txBody>
          <a:bodyPr wrap="none" anchor="ctr" anchorCtr="0"/>
          <a:p>
            <a:endParaRPr lang="zh-CN" altLang="en-US" dirty="0">
              <a:latin typeface="Times New Roman" pitchFamily="18" charset="0"/>
            </a:endParaRPr>
          </a:p>
        </p:txBody>
      </p:sp>
      <p:sp>
        <p:nvSpPr>
          <p:cNvPr id="1031" name="Rectangle 6"/>
          <p:cNvSpPr/>
          <p:nvPr/>
        </p:nvSpPr>
        <p:spPr>
          <a:xfrm>
            <a:off x="6096000" y="346075"/>
            <a:ext cx="1588" cy="1588"/>
          </a:xfrm>
          <a:prstGeom prst="rect">
            <a:avLst/>
          </a:prstGeom>
          <a:solidFill>
            <a:srgbClr val="00CC99"/>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1032" name="Rectangle 7"/>
          <p:cNvSpPr/>
          <p:nvPr/>
        </p:nvSpPr>
        <p:spPr>
          <a:xfrm>
            <a:off x="6096000" y="2317750"/>
            <a:ext cx="1588" cy="1588"/>
          </a:xfrm>
          <a:prstGeom prst="rect">
            <a:avLst/>
          </a:prstGeom>
          <a:noFill/>
          <a:ln w="9525">
            <a:noFill/>
          </a:ln>
        </p:spPr>
        <p:txBody>
          <a:bodyPr wrap="none" anchor="ctr" anchorCtr="0"/>
          <a:p>
            <a:endParaRPr lang="zh-CN" altLang="en-US" dirty="0">
              <a:latin typeface="Times New Roman" pitchFamily="18" charset="0"/>
            </a:endParaRPr>
          </a:p>
        </p:txBody>
      </p:sp>
      <p:sp>
        <p:nvSpPr>
          <p:cNvPr id="1033" name="Rectangle 8"/>
          <p:cNvSpPr/>
          <p:nvPr/>
        </p:nvSpPr>
        <p:spPr>
          <a:xfrm>
            <a:off x="0" y="6511925"/>
            <a:ext cx="12190413" cy="1588"/>
          </a:xfrm>
          <a:prstGeom prst="rect">
            <a:avLst/>
          </a:prstGeom>
          <a:noFill/>
          <a:ln w="9525">
            <a:noFill/>
          </a:ln>
        </p:spPr>
        <p:txBody>
          <a:bodyPr wrap="none" anchor="ctr" anchorCtr="0"/>
          <a:p>
            <a:endParaRPr lang="zh-CN" altLang="en-US" dirty="0">
              <a:latin typeface="Times New Roman" pitchFamily="18" charset="0"/>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2052" name="Rectangle 2"/>
          <p:cNvSpPr>
            <a:spLocks noGrp="1"/>
          </p:cNvSpPr>
          <p:nvPr>
            <p:ph type="title"/>
          </p:nvPr>
        </p:nvSpPr>
        <p:spPr>
          <a:xfrm>
            <a:off x="896938" y="3175"/>
            <a:ext cx="10364787" cy="1068388"/>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sz="3600" dirty="0">
                <a:latin typeface="黑体" panose="02000500000000000000" pitchFamily="49" charset="-122"/>
              </a:rPr>
              <a:t>故事</a:t>
            </a:r>
            <a:r>
              <a:rPr lang="en-GB" altLang="zh-CN" sz="3600" dirty="0"/>
              <a:t>4</a:t>
            </a:r>
            <a:r>
              <a:rPr lang="zh-CN" altLang="en-GB" sz="3600" dirty="0">
                <a:latin typeface="黑体" panose="02000500000000000000" pitchFamily="49" charset="-122"/>
              </a:rPr>
              <a:t>：编译器和硬件的磨合</a:t>
            </a:r>
            <a:endParaRPr lang="en-GB" altLang="zh-CN" sz="3600" dirty="0">
              <a:latin typeface="黑体" panose="02000500000000000000" pitchFamily="49" charset="-122"/>
            </a:endParaRPr>
          </a:p>
        </p:txBody>
      </p:sp>
      <p:graphicFrame>
        <p:nvGraphicFramePr>
          <p:cNvPr id="2050" name="Object 5"/>
          <p:cNvGraphicFramePr>
            <a:graphicFrameLocks noChangeAspect="1"/>
          </p:cNvGraphicFramePr>
          <p:nvPr/>
        </p:nvGraphicFramePr>
        <p:xfrm>
          <a:off x="3448050" y="3835400"/>
          <a:ext cx="6205538" cy="3022600"/>
        </p:xfrm>
        <a:graphic>
          <a:graphicData uri="http://schemas.openxmlformats.org/presentationml/2006/ole">
            <mc:AlternateContent xmlns:mc="http://schemas.openxmlformats.org/markup-compatibility/2006">
              <mc:Choice xmlns:v="urn:schemas-microsoft-com:vml" Requires="v">
                <p:oleObj spid="_x0000_s3077" name="" r:id="rId1" imgW="10772775" imgH="8991600" progId="Excel.Sheet.5">
                  <p:embed/>
                </p:oleObj>
              </mc:Choice>
              <mc:Fallback>
                <p:oleObj name="" r:id="rId1" imgW="10772775" imgH="8991600" progId="Excel.Sheet.5">
                  <p:embed/>
                  <p:pic>
                    <p:nvPicPr>
                      <p:cNvPr id="0" name="图片 3076"/>
                      <p:cNvPicPr/>
                      <p:nvPr/>
                    </p:nvPicPr>
                    <p:blipFill>
                      <a:blip r:embed="rId2"/>
                      <a:stretch>
                        <a:fillRect/>
                      </a:stretch>
                    </p:blipFill>
                    <p:spPr>
                      <a:xfrm>
                        <a:off x="3448050" y="3835400"/>
                        <a:ext cx="6205538" cy="3022600"/>
                      </a:xfrm>
                      <a:prstGeom prst="rect">
                        <a:avLst/>
                      </a:prstGeom>
                      <a:noFill/>
                      <a:ln w="38100">
                        <a:noFill/>
                        <a:miter/>
                      </a:ln>
                    </p:spPr>
                  </p:pic>
                </p:oleObj>
              </mc:Fallback>
            </mc:AlternateContent>
          </a:graphicData>
        </a:graphic>
      </p:graphicFrame>
      <p:sp>
        <p:nvSpPr>
          <p:cNvPr id="2053" name="Rectangle 6"/>
          <p:cNvSpPr/>
          <p:nvPr/>
        </p:nvSpPr>
        <p:spPr>
          <a:xfrm>
            <a:off x="0" y="346075"/>
            <a:ext cx="12190413" cy="1588"/>
          </a:xfrm>
          <a:prstGeom prst="rect">
            <a:avLst/>
          </a:prstGeom>
          <a:noFill/>
          <a:ln w="9525">
            <a:noFill/>
          </a:ln>
        </p:spPr>
        <p:txBody>
          <a:bodyPr wrap="none" anchor="ctr" anchorCtr="0"/>
          <a:p>
            <a:endParaRPr lang="zh-CN" altLang="en-US" dirty="0">
              <a:latin typeface="Times New Roman" pitchFamily="18" charset="0"/>
            </a:endParaRPr>
          </a:p>
        </p:txBody>
      </p:sp>
      <p:sp>
        <p:nvSpPr>
          <p:cNvPr id="2054" name="Rectangle 7"/>
          <p:cNvSpPr/>
          <p:nvPr/>
        </p:nvSpPr>
        <p:spPr>
          <a:xfrm>
            <a:off x="6096000" y="346075"/>
            <a:ext cx="1588" cy="1588"/>
          </a:xfrm>
          <a:prstGeom prst="rect">
            <a:avLst/>
          </a:prstGeom>
          <a:solidFill>
            <a:srgbClr val="00CC99"/>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2055" name="Rectangle 8"/>
          <p:cNvSpPr/>
          <p:nvPr/>
        </p:nvSpPr>
        <p:spPr>
          <a:xfrm>
            <a:off x="6096000" y="2317750"/>
            <a:ext cx="1588" cy="1588"/>
          </a:xfrm>
          <a:prstGeom prst="rect">
            <a:avLst/>
          </a:prstGeom>
          <a:noFill/>
          <a:ln w="9525">
            <a:noFill/>
          </a:ln>
        </p:spPr>
        <p:txBody>
          <a:bodyPr wrap="none" anchor="ctr" anchorCtr="0"/>
          <a:p>
            <a:endParaRPr lang="zh-CN" altLang="en-US" dirty="0">
              <a:latin typeface="Times New Roman" pitchFamily="18" charset="0"/>
            </a:endParaRPr>
          </a:p>
        </p:txBody>
      </p:sp>
      <p:sp>
        <p:nvSpPr>
          <p:cNvPr id="2056" name="Rectangle 9"/>
          <p:cNvSpPr/>
          <p:nvPr/>
        </p:nvSpPr>
        <p:spPr>
          <a:xfrm>
            <a:off x="0" y="6511925"/>
            <a:ext cx="12190413" cy="1588"/>
          </a:xfrm>
          <a:prstGeom prst="rect">
            <a:avLst/>
          </a:prstGeom>
          <a:noFill/>
          <a:ln w="9525">
            <a:noFill/>
          </a:ln>
        </p:spPr>
        <p:txBody>
          <a:bodyPr wrap="none" anchor="ctr" anchorCtr="0"/>
          <a:p>
            <a:endParaRPr lang="zh-CN" altLang="en-US" dirty="0">
              <a:latin typeface="Times New Roman" pitchFamily="18" charset="0"/>
            </a:endParaRPr>
          </a:p>
        </p:txBody>
      </p:sp>
      <p:sp>
        <p:nvSpPr>
          <p:cNvPr id="2057" name="Rectangle 11"/>
          <p:cNvSpPr>
            <a:spLocks noGrp="1"/>
          </p:cNvSpPr>
          <p:nvPr>
            <p:ph idx="1"/>
          </p:nvPr>
        </p:nvSpPr>
        <p:spPr>
          <a:xfrm>
            <a:off x="962025" y="1304925"/>
            <a:ext cx="10358438" cy="2627313"/>
          </a:xfrm>
        </p:spPr>
        <p:txBody>
          <a:bodyPr vert="horz" wrap="square" lIns="90000" tIns="46800" rIns="90000" bIns="46800" anchor="t" anchorCtr="0"/>
          <a:p>
            <a:pPr defTabSz="265430" eaLnBrk="1" hangingPunct="1">
              <a:spcBef>
                <a:spcPct val="0"/>
              </a:spcBef>
              <a:buSzPct val="100000"/>
            </a:pPr>
            <a:r>
              <a:rPr lang="zh-CN" altLang="en-GB" sz="2000" dirty="0">
                <a:cs typeface="宋体" panose="02000500000000000000" pitchFamily="2" charset="-122"/>
              </a:rPr>
              <a:t>转移指令的编译</a:t>
            </a:r>
            <a:endParaRPr lang="zh-CN" altLang="en-GB" sz="2000" dirty="0">
              <a:cs typeface="宋体" panose="02000500000000000000" pitchFamily="2" charset="-122"/>
            </a:endParaRPr>
          </a:p>
          <a:p>
            <a:pPr lvl="1" defTabSz="265430" eaLnBrk="1" hangingPunct="1">
              <a:spcBef>
                <a:spcPct val="0"/>
              </a:spcBef>
              <a:buSzPct val="100000"/>
            </a:pPr>
            <a:r>
              <a:rPr lang="en-GB" altLang="zh-CN" sz="1800" dirty="0">
                <a:cs typeface="宋体" panose="02000500000000000000" pitchFamily="2" charset="-122"/>
              </a:rPr>
              <a:t>Branch</a:t>
            </a:r>
            <a:r>
              <a:rPr lang="zh-CN" altLang="en-GB" sz="1800" dirty="0">
                <a:cs typeface="宋体" panose="02000500000000000000" pitchFamily="2" charset="-122"/>
              </a:rPr>
              <a:t>指令和</a:t>
            </a:r>
            <a:r>
              <a:rPr lang="en-GB" altLang="zh-CN" sz="1800" dirty="0">
                <a:cs typeface="宋体" panose="02000500000000000000" pitchFamily="2" charset="-122"/>
              </a:rPr>
              <a:t>Branch likely</a:t>
            </a:r>
            <a:r>
              <a:rPr lang="zh-CN" altLang="en-GB" sz="1800" dirty="0">
                <a:cs typeface="宋体" panose="02000500000000000000" pitchFamily="2" charset="-122"/>
              </a:rPr>
              <a:t>指令</a:t>
            </a:r>
            <a:endParaRPr lang="zh-CN" altLang="en-GB" sz="1800" dirty="0">
              <a:cs typeface="宋体" panose="02000500000000000000" pitchFamily="2" charset="-122"/>
            </a:endParaRPr>
          </a:p>
          <a:p>
            <a:pPr lvl="1" defTabSz="265430" eaLnBrk="1" hangingPunct="1">
              <a:spcBef>
                <a:spcPct val="0"/>
              </a:spcBef>
              <a:buSzPct val="100000"/>
            </a:pPr>
            <a:r>
              <a:rPr lang="zh-CN" altLang="en-GB" sz="1800" dirty="0">
                <a:cs typeface="宋体" panose="02000500000000000000" pitchFamily="2" charset="-122"/>
              </a:rPr>
              <a:t>硬件不猜</a:t>
            </a:r>
            <a:r>
              <a:rPr lang="en-GB" altLang="zh-CN" sz="1800" dirty="0">
                <a:cs typeface="宋体" panose="02000500000000000000" pitchFamily="2" charset="-122"/>
              </a:rPr>
              <a:t>Branch likely</a:t>
            </a:r>
            <a:r>
              <a:rPr lang="zh-CN" altLang="en-GB" sz="1800" dirty="0">
                <a:cs typeface="宋体" panose="02000500000000000000" pitchFamily="2" charset="-122"/>
              </a:rPr>
              <a:t>指令</a:t>
            </a:r>
            <a:endParaRPr lang="zh-CN" altLang="en-GB" sz="1800" dirty="0">
              <a:cs typeface="宋体" panose="02000500000000000000" pitchFamily="2" charset="-122"/>
            </a:endParaRPr>
          </a:p>
          <a:p>
            <a:pPr lvl="1" defTabSz="265430" eaLnBrk="1" hangingPunct="1">
              <a:spcBef>
                <a:spcPct val="0"/>
              </a:spcBef>
              <a:buSzPct val="100000"/>
            </a:pPr>
            <a:r>
              <a:rPr lang="zh-CN" altLang="en-GB" sz="1800" dirty="0">
                <a:cs typeface="宋体" panose="02000500000000000000" pitchFamily="2" charset="-122"/>
              </a:rPr>
              <a:t>编译器“滥用”</a:t>
            </a:r>
            <a:r>
              <a:rPr lang="en-GB" altLang="zh-CN" sz="1800" dirty="0">
                <a:cs typeface="宋体" panose="02000500000000000000" pitchFamily="2" charset="-122"/>
              </a:rPr>
              <a:t>branch likely</a:t>
            </a:r>
            <a:r>
              <a:rPr lang="zh-CN" altLang="en-GB" sz="1800" dirty="0">
                <a:cs typeface="宋体" panose="02000500000000000000" pitchFamily="2" charset="-122"/>
              </a:rPr>
              <a:t>指令</a:t>
            </a:r>
            <a:endParaRPr lang="zh-CN" altLang="en-GB" sz="1800" dirty="0">
              <a:cs typeface="宋体" panose="02000500000000000000" pitchFamily="2" charset="-122"/>
            </a:endParaRPr>
          </a:p>
          <a:p>
            <a:pPr lvl="1" defTabSz="265430" eaLnBrk="1" hangingPunct="1">
              <a:spcBef>
                <a:spcPct val="0"/>
              </a:spcBef>
              <a:buSzPct val="100000"/>
            </a:pPr>
            <a:r>
              <a:rPr lang="zh-CN" altLang="en-GB" sz="1800" dirty="0">
                <a:cs typeface="宋体" panose="02000500000000000000" pitchFamily="2" charset="-122"/>
              </a:rPr>
              <a:t>禁用</a:t>
            </a:r>
            <a:r>
              <a:rPr lang="en-GB" altLang="zh-CN" sz="1800" dirty="0">
                <a:cs typeface="宋体" panose="02000500000000000000" pitchFamily="2" charset="-122"/>
              </a:rPr>
              <a:t>branch likely</a:t>
            </a:r>
            <a:r>
              <a:rPr lang="zh-CN" altLang="en-GB" sz="1800" dirty="0">
                <a:cs typeface="宋体" panose="02000500000000000000" pitchFamily="2" charset="-122"/>
              </a:rPr>
              <a:t>指令后性能显著提高</a:t>
            </a:r>
            <a:endParaRPr lang="zh-CN" altLang="en-GB" sz="1800" dirty="0">
              <a:cs typeface="宋体" panose="02000500000000000000" pitchFamily="2" charset="-122"/>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882650" y="2924175"/>
            <a:ext cx="10358438" cy="1054100"/>
          </a:xfrm>
        </p:spPr>
        <p:txBody>
          <a:bodyPr vert="horz" wrap="square" lIns="90000" tIns="46800" rIns="90000" bIns="46800" anchor="ctr" anchorCtr="0"/>
          <a:p>
            <a:pPr eaLnBrk="1" hangingPunct="1"/>
            <a:r>
              <a:rPr lang="zh-CN" altLang="en-GB" dirty="0"/>
              <a:t>结构设计要统筹兼顾</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31747" name="Rectangle 1"/>
          <p:cNvSpPr/>
          <p:nvPr>
            <p:ph type="title"/>
          </p:nvPr>
        </p:nvSpPr>
        <p:spPr>
          <a:xfrm>
            <a:off x="817563" y="0"/>
            <a:ext cx="10361612"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t>设计要统筹兼顾</a:t>
            </a:r>
            <a:endParaRPr lang="zh-CN" altLang="en-GB" dirty="0"/>
          </a:p>
        </p:txBody>
      </p:sp>
      <p:sp>
        <p:nvSpPr>
          <p:cNvPr id="31748" name="Rectangle 2"/>
          <p:cNvSpPr/>
          <p:nvPr>
            <p:ph idx="1"/>
          </p:nvPr>
        </p:nvSpPr>
        <p:spPr>
          <a:xfrm>
            <a:off x="541338" y="1114425"/>
            <a:ext cx="11312525" cy="5327650"/>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一般的结构研究专注于考虑结构中某些重要因素的改善，但在一个通用的设计中，影响性能的因素非常复杂</a:t>
            </a:r>
            <a:endParaRPr lang="zh-CN" altLang="en-GB"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一些次要因素往往成为整个设计的瓶颈，或当重要的瓶颈问题解决后，原来不是瓶颈的次要的因素成为瓶颈</a:t>
            </a:r>
            <a:endParaRPr lang="zh-CN" altLang="en-GB"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800" dirty="0">
                <a:cs typeface="宋体" panose="02000500000000000000" pitchFamily="2" charset="-122"/>
              </a:rPr>
              <a:t>例如，龙芯</a:t>
            </a:r>
            <a:r>
              <a:rPr lang="en-GB" altLang="zh-CN" sz="1800" dirty="0">
                <a:cs typeface="宋体" panose="02000500000000000000" pitchFamily="2" charset="-122"/>
              </a:rPr>
              <a:t>1</a:t>
            </a:r>
            <a:r>
              <a:rPr lang="zh-CN" altLang="en-GB" sz="1800" dirty="0">
                <a:cs typeface="宋体" panose="02000500000000000000" pitchFamily="2" charset="-122"/>
              </a:rPr>
              <a:t>号的瓶颈在片内的</a:t>
            </a:r>
            <a:r>
              <a:rPr lang="en-GB" altLang="zh-CN" sz="1800" dirty="0">
                <a:cs typeface="宋体" panose="02000500000000000000" pitchFamily="2" charset="-122"/>
              </a:rPr>
              <a:t>L1</a:t>
            </a:r>
            <a:r>
              <a:rPr lang="zh-CN" altLang="en-GB" sz="1800" dirty="0">
                <a:cs typeface="宋体" panose="02000500000000000000" pitchFamily="2" charset="-122"/>
              </a:rPr>
              <a:t>和转移猜测，而龙芯</a:t>
            </a:r>
            <a:r>
              <a:rPr lang="en-GB" altLang="zh-CN" sz="1800" dirty="0">
                <a:cs typeface="宋体" panose="02000500000000000000" pitchFamily="2" charset="-122"/>
              </a:rPr>
              <a:t>2C</a:t>
            </a:r>
            <a:r>
              <a:rPr lang="zh-CN" altLang="en-GB" sz="1800" dirty="0">
                <a:cs typeface="宋体" panose="02000500000000000000" pitchFamily="2" charset="-122"/>
              </a:rPr>
              <a:t>在解决这些问题后，访存带宽成为系统瓶颈</a:t>
            </a:r>
            <a:endParaRPr lang="zh-CN" altLang="en-GB" sz="18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设计者经验的缺乏也往往会忽视一些瓶颈问题，等到发现时，已经晚了</a:t>
            </a:r>
            <a:endParaRPr lang="zh-CN" altLang="en-GB"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800" dirty="0">
                <a:cs typeface="宋体" panose="02000500000000000000" pitchFamily="2" charset="-122"/>
              </a:rPr>
              <a:t>象龙芯这样具有持续改善的机会的设计机会不多</a:t>
            </a:r>
            <a:endParaRPr lang="zh-CN" altLang="en-GB" sz="1800" dirty="0">
              <a:cs typeface="宋体" panose="02000500000000000000" pitchFamily="2" charset="-122"/>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32771" name="Rectangle 1"/>
          <p:cNvSpPr/>
          <p:nvPr>
            <p:ph type="title"/>
          </p:nvPr>
        </p:nvSpPr>
        <p:spPr>
          <a:xfrm>
            <a:off x="896938" y="26988"/>
            <a:ext cx="10364787" cy="1190625"/>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t>故事</a:t>
            </a:r>
            <a:r>
              <a:rPr lang="en-GB" altLang="zh-CN" dirty="0">
                <a:ea typeface="宋体" panose="02000500000000000000" pitchFamily="2" charset="-122"/>
              </a:rPr>
              <a:t>5</a:t>
            </a:r>
            <a:r>
              <a:rPr lang="zh-CN" altLang="en-GB" dirty="0">
                <a:ea typeface="宋体" panose="02000500000000000000" pitchFamily="2" charset="-122"/>
              </a:rPr>
              <a:t>：</a:t>
            </a:r>
            <a:r>
              <a:rPr lang="zh-CN" altLang="en-GB" dirty="0"/>
              <a:t>访存带宽瓶颈</a:t>
            </a:r>
            <a:endParaRPr lang="en-GB" altLang="zh-CN" dirty="0"/>
          </a:p>
        </p:txBody>
      </p:sp>
      <p:sp>
        <p:nvSpPr>
          <p:cNvPr id="32772" name="Rectangle 2"/>
          <p:cNvSpPr/>
          <p:nvPr/>
        </p:nvSpPr>
        <p:spPr>
          <a:xfrm>
            <a:off x="0" y="1447800"/>
            <a:ext cx="12190413" cy="1588"/>
          </a:xfrm>
          <a:prstGeom prst="rect">
            <a:avLst/>
          </a:prstGeom>
          <a:noFill/>
          <a:ln w="9525">
            <a:noFill/>
          </a:ln>
        </p:spPr>
        <p:txBody>
          <a:bodyPr wrap="none" anchor="ctr" anchorCtr="0"/>
          <a:p>
            <a:endParaRPr lang="zh-CN" altLang="en-US" dirty="0">
              <a:latin typeface="Times New Roman" pitchFamily="18" charset="0"/>
            </a:endParaRPr>
          </a:p>
        </p:txBody>
      </p:sp>
      <p:grpSp>
        <p:nvGrpSpPr>
          <p:cNvPr id="32773" name="Group 3"/>
          <p:cNvGrpSpPr/>
          <p:nvPr/>
        </p:nvGrpSpPr>
        <p:grpSpPr>
          <a:xfrm>
            <a:off x="995363" y="1446213"/>
            <a:ext cx="10334625" cy="5410200"/>
            <a:chOff x="563" y="911"/>
            <a:chExt cx="5844" cy="3408"/>
          </a:xfrm>
        </p:grpSpPr>
        <p:sp>
          <p:nvSpPr>
            <p:cNvPr id="32774" name="AutoShape 4"/>
            <p:cNvSpPr/>
            <p:nvPr/>
          </p:nvSpPr>
          <p:spPr>
            <a:xfrm>
              <a:off x="563" y="911"/>
              <a:ext cx="5845" cy="3409"/>
            </a:xfrm>
            <a:prstGeom prst="roundRect">
              <a:avLst>
                <a:gd name="adj" fmla="val 28"/>
              </a:avLst>
            </a:prstGeom>
            <a:noFill/>
            <a:ln w="9525">
              <a:noFill/>
            </a:ln>
          </p:spPr>
          <p:txBody>
            <a:bodyPr wrap="none" anchor="ctr" anchorCtr="0"/>
            <a:p>
              <a:endParaRPr lang="zh-CN" altLang="en-US" dirty="0">
                <a:latin typeface="Times New Roman" pitchFamily="18" charset="0"/>
              </a:endParaRPr>
            </a:p>
          </p:txBody>
        </p:sp>
        <p:pic>
          <p:nvPicPr>
            <p:cNvPr id="32775" name="Picture 5"/>
            <p:cNvPicPr>
              <a:picLocks noChangeAspect="1"/>
            </p:cNvPicPr>
            <p:nvPr/>
          </p:nvPicPr>
          <p:blipFill>
            <a:blip r:embed="rId1"/>
            <a:stretch>
              <a:fillRect/>
            </a:stretch>
          </p:blipFill>
          <p:spPr>
            <a:xfrm>
              <a:off x="654" y="2506"/>
              <a:ext cx="2786" cy="1377"/>
            </a:xfrm>
            <a:prstGeom prst="rect">
              <a:avLst/>
            </a:prstGeom>
            <a:noFill/>
            <a:ln w="9525">
              <a:noFill/>
            </a:ln>
          </p:spPr>
        </p:pic>
        <p:pic>
          <p:nvPicPr>
            <p:cNvPr id="32776" name="Picture 6"/>
            <p:cNvPicPr>
              <a:picLocks noChangeAspect="1"/>
            </p:cNvPicPr>
            <p:nvPr/>
          </p:nvPicPr>
          <p:blipFill>
            <a:blip r:embed="rId2"/>
            <a:stretch>
              <a:fillRect/>
            </a:stretch>
          </p:blipFill>
          <p:spPr>
            <a:xfrm>
              <a:off x="667" y="987"/>
              <a:ext cx="2733" cy="1278"/>
            </a:xfrm>
            <a:prstGeom prst="rect">
              <a:avLst/>
            </a:prstGeom>
            <a:noFill/>
            <a:ln w="9525">
              <a:noFill/>
            </a:ln>
          </p:spPr>
        </p:pic>
        <p:sp>
          <p:nvSpPr>
            <p:cNvPr id="32777" name="Text Box 7"/>
            <p:cNvSpPr txBox="1"/>
            <p:nvPr/>
          </p:nvSpPr>
          <p:spPr>
            <a:xfrm>
              <a:off x="1242" y="4112"/>
              <a:ext cx="4525" cy="207"/>
            </a:xfrm>
            <a:prstGeom prst="rect">
              <a:avLst/>
            </a:prstGeom>
            <a:solidFill>
              <a:srgbClr val="FFFFFF"/>
            </a:solidFill>
            <a:ln w="9525">
              <a:noFill/>
            </a:ln>
          </p:spPr>
          <p:txBody>
            <a:bodyPr lIns="18000" tIns="10800" rIns="18000" bIns="1080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Lst>
              </a:pPr>
              <a:r>
                <a:rPr lang="en-GB" altLang="zh-CN" sz="1400" dirty="0">
                  <a:solidFill>
                    <a:srgbClr val="000000"/>
                  </a:solidFill>
                  <a:latin typeface="Times New Roman" pitchFamily="18" charset="0"/>
                </a:rPr>
                <a:t>Figure 4. Memory bandwidth of Godson-2C, Godson-2E, and Pentium III</a:t>
              </a:r>
              <a:endParaRPr lang="en-GB" altLang="zh-CN" sz="1400" dirty="0">
                <a:solidFill>
                  <a:srgbClr val="000000"/>
                </a:solidFill>
                <a:latin typeface="Times New Roman" pitchFamily="18" charset="0"/>
              </a:endParaRPr>
            </a:p>
          </p:txBody>
        </p:sp>
        <p:sp>
          <p:nvSpPr>
            <p:cNvPr id="32778" name="Text Box 8"/>
            <p:cNvSpPr txBox="1"/>
            <p:nvPr/>
          </p:nvSpPr>
          <p:spPr>
            <a:xfrm>
              <a:off x="1203" y="2309"/>
              <a:ext cx="1857" cy="164"/>
            </a:xfrm>
            <a:prstGeom prst="rect">
              <a:avLst/>
            </a:prstGeom>
            <a:solidFill>
              <a:srgbClr val="FFFFFF"/>
            </a:solid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(a) 450MHz Godson-2C bandwidth</a:t>
              </a:r>
              <a:endParaRPr lang="en-GB" altLang="zh-CN" sz="1200" dirty="0">
                <a:solidFill>
                  <a:srgbClr val="000000"/>
                </a:solidFill>
                <a:latin typeface="Times New Roman" pitchFamily="18" charset="0"/>
              </a:endParaRPr>
            </a:p>
          </p:txBody>
        </p:sp>
        <p:sp>
          <p:nvSpPr>
            <p:cNvPr id="32779" name="Text Box 9"/>
            <p:cNvSpPr txBox="1"/>
            <p:nvPr/>
          </p:nvSpPr>
          <p:spPr>
            <a:xfrm>
              <a:off x="4237" y="2309"/>
              <a:ext cx="1726" cy="164"/>
            </a:xfrm>
            <a:prstGeom prst="rect">
              <a:avLst/>
            </a:prstGeom>
            <a:solidFill>
              <a:srgbClr val="FFFFFF"/>
            </a:solidFill>
            <a:ln w="9525">
              <a:noFill/>
            </a:ln>
          </p:spPr>
          <p:txBody>
            <a:bodyPr lIns="0" tIns="0" rIns="0" bIns="0"/>
            <a:p>
              <a:pP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(b) 450MHz Pentium III bandwidth</a:t>
              </a:r>
              <a:endParaRPr lang="en-GB" altLang="zh-CN" sz="1200" dirty="0">
                <a:solidFill>
                  <a:srgbClr val="000000"/>
                </a:solidFill>
                <a:latin typeface="Times New Roman" pitchFamily="18" charset="0"/>
              </a:endParaRPr>
            </a:p>
          </p:txBody>
        </p:sp>
        <p:pic>
          <p:nvPicPr>
            <p:cNvPr id="32780" name="Picture 10"/>
            <p:cNvPicPr>
              <a:picLocks noChangeAspect="1"/>
            </p:cNvPicPr>
            <p:nvPr/>
          </p:nvPicPr>
          <p:blipFill>
            <a:blip r:embed="rId3"/>
            <a:stretch>
              <a:fillRect/>
            </a:stretch>
          </p:blipFill>
          <p:spPr>
            <a:xfrm>
              <a:off x="3610" y="954"/>
              <a:ext cx="2720" cy="1322"/>
            </a:xfrm>
            <a:prstGeom prst="rect">
              <a:avLst/>
            </a:prstGeom>
            <a:noFill/>
            <a:ln w="9525">
              <a:noFill/>
            </a:ln>
          </p:spPr>
        </p:pic>
        <p:sp>
          <p:nvSpPr>
            <p:cNvPr id="32781" name="Text Box 11"/>
            <p:cNvSpPr txBox="1"/>
            <p:nvPr/>
          </p:nvSpPr>
          <p:spPr>
            <a:xfrm>
              <a:off x="1256" y="3905"/>
              <a:ext cx="1687" cy="164"/>
            </a:xfrm>
            <a:prstGeom prst="rect">
              <a:avLst/>
            </a:prstGeom>
            <a:solidFill>
              <a:srgbClr val="FFFFFF"/>
            </a:solid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(c) 1GHz Godson-2E bandwidth</a:t>
              </a:r>
              <a:endParaRPr lang="en-GB" altLang="zh-CN" sz="1200" dirty="0">
                <a:solidFill>
                  <a:srgbClr val="000000"/>
                </a:solidFill>
                <a:latin typeface="Times New Roman" pitchFamily="18" charset="0"/>
              </a:endParaRPr>
            </a:p>
          </p:txBody>
        </p:sp>
        <p:pic>
          <p:nvPicPr>
            <p:cNvPr id="32782" name="Picture 12"/>
            <p:cNvPicPr>
              <a:picLocks noChangeAspect="1"/>
            </p:cNvPicPr>
            <p:nvPr/>
          </p:nvPicPr>
          <p:blipFill>
            <a:blip r:embed="rId4"/>
            <a:stretch>
              <a:fillRect/>
            </a:stretch>
          </p:blipFill>
          <p:spPr>
            <a:xfrm>
              <a:off x="3596" y="2484"/>
              <a:ext cx="2785" cy="1409"/>
            </a:xfrm>
            <a:prstGeom prst="rect">
              <a:avLst/>
            </a:prstGeom>
            <a:noFill/>
            <a:ln w="9525">
              <a:noFill/>
            </a:ln>
          </p:spPr>
        </p:pic>
        <p:sp>
          <p:nvSpPr>
            <p:cNvPr id="32783" name="Text Box 13"/>
            <p:cNvSpPr txBox="1"/>
            <p:nvPr/>
          </p:nvSpPr>
          <p:spPr>
            <a:xfrm>
              <a:off x="4237" y="3883"/>
              <a:ext cx="1687" cy="164"/>
            </a:xfrm>
            <a:prstGeom prst="rect">
              <a:avLst/>
            </a:prstGeom>
            <a:solidFill>
              <a:srgbClr val="FFFFFF"/>
            </a:solid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(d) 1GHz Pentium III bandwidth</a:t>
              </a:r>
              <a:endParaRPr lang="en-GB" altLang="zh-CN" sz="1200" dirty="0">
                <a:solidFill>
                  <a:srgbClr val="000000"/>
                </a:solidFill>
                <a:latin typeface="Times New Roman" pitchFamily="18" charset="0"/>
              </a:endParaRPr>
            </a:p>
          </p:txBody>
        </p:sp>
      </p:gr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a:xfrm>
            <a:off x="896938" y="34925"/>
            <a:ext cx="10358437" cy="1054100"/>
          </a:xfrm>
        </p:spPr>
        <p:txBody>
          <a:bodyPr vert="horz" wrap="square" lIns="90000" tIns="46800" rIns="90000" bIns="46800" anchor="ctr" anchorCtr="0"/>
          <a:p>
            <a:r>
              <a:rPr lang="zh-CN" altLang="en-US" dirty="0"/>
              <a:t>访存带宽和性能</a:t>
            </a:r>
            <a:endParaRPr lang="zh-CN" altLang="en-US" dirty="0"/>
          </a:p>
        </p:txBody>
      </p:sp>
      <p:sp>
        <p:nvSpPr>
          <p:cNvPr id="6" name="内容占位符 2"/>
          <p:cNvSpPr txBox="1"/>
          <p:nvPr/>
        </p:nvSpPr>
        <p:spPr bwMode="auto">
          <a:xfrm>
            <a:off x="720725" y="1125538"/>
            <a:ext cx="10283825" cy="1727200"/>
          </a:xfrm>
          <a:prstGeom prst="rect">
            <a:avLst/>
          </a:prstGeom>
          <a:noFill/>
          <a:ln w="9525">
            <a:noFill/>
            <a:round/>
          </a:ln>
        </p:spPr>
        <p:txBody>
          <a:bodyPr lIns="90000" tIns="46800" rIns="90000" bIns="46800"/>
          <a:lstStyle/>
          <a:p>
            <a:pPr marL="628650" marR="0" indent="-342900" defTabSz="265430" eaLnBrk="0" hangingPunct="0">
              <a:lnSpc>
                <a:spcPct val="150000"/>
              </a:lnSpc>
              <a:buClr>
                <a:srgbClr val="000000"/>
              </a:buClr>
              <a:buSzPct val="100000"/>
              <a:buFont typeface="Arial" panose="02080604020202020204" pitchFamily="34" charset="0"/>
              <a:buChar char="•"/>
              <a:defRPr/>
            </a:pPr>
            <a:r>
              <a:rPr kumimoji="0" lang="en-US" altLang="zh-CN" sz="2000" b="1" kern="1200" cap="none" spc="0" normalizeH="0" baseline="0" noProof="0" dirty="0">
                <a:solidFill>
                  <a:schemeClr val="tx1"/>
                </a:solidFill>
                <a:latin typeface="宋体" panose="02000500000000000000" pitchFamily="2" charset="-122"/>
                <a:ea typeface="宋体" panose="02000500000000000000" pitchFamily="2" charset="-122"/>
                <a:cs typeface="宋体" panose="02000500000000000000" pitchFamily="2" charset="-122"/>
              </a:rPr>
              <a:t>SPEC INT2006</a:t>
            </a:r>
            <a:r>
              <a:rPr kumimoji="0" lang="zh-CN" altLang="en-US" sz="2000" b="1" kern="1200" cap="none" spc="0" normalizeH="0" baseline="0" noProof="0" dirty="0">
                <a:solidFill>
                  <a:schemeClr val="tx1"/>
                </a:solidFill>
                <a:latin typeface="宋体" panose="02000500000000000000" pitchFamily="2" charset="-122"/>
                <a:ea typeface="宋体" panose="02000500000000000000" pitchFamily="2" charset="-122"/>
                <a:cs typeface="宋体" panose="02000500000000000000" pitchFamily="2" charset="-122"/>
              </a:rPr>
              <a:t>测试定点运算性能，</a:t>
            </a:r>
            <a:r>
              <a:rPr kumimoji="0" lang="en-US" altLang="zh-CN" sz="2000" b="1" kern="1200" cap="none" spc="0" normalizeH="0" baseline="0" noProof="0" dirty="0">
                <a:solidFill>
                  <a:schemeClr val="tx1"/>
                </a:solidFill>
                <a:latin typeface="宋体" panose="02000500000000000000" pitchFamily="2" charset="-122"/>
                <a:ea typeface="宋体" panose="02000500000000000000" pitchFamily="2" charset="-122"/>
                <a:cs typeface="宋体" panose="02000500000000000000" pitchFamily="2" charset="-122"/>
              </a:rPr>
              <a:t>SPEC FP2006</a:t>
            </a:r>
            <a:r>
              <a:rPr kumimoji="0" lang="zh-CN" altLang="en-US" sz="2000" b="1" kern="1200" cap="none" spc="0" normalizeH="0" baseline="0" noProof="0" dirty="0">
                <a:solidFill>
                  <a:schemeClr val="tx1"/>
                </a:solidFill>
                <a:latin typeface="宋体" panose="02000500000000000000" pitchFamily="2" charset="-122"/>
                <a:ea typeface="宋体" panose="02000500000000000000" pitchFamily="2" charset="-122"/>
                <a:cs typeface="宋体" panose="02000500000000000000" pitchFamily="2" charset="-122"/>
              </a:rPr>
              <a:t>测试浮点运算性能</a:t>
            </a:r>
            <a:endParaRPr kumimoji="0" lang="zh-CN" altLang="en-US" sz="2000" b="1" kern="1200" cap="none" spc="0" normalizeH="0" baseline="0" noProof="0" dirty="0">
              <a:solidFill>
                <a:schemeClr val="tx1"/>
              </a:solidFill>
              <a:latin typeface="宋体" panose="02000500000000000000" pitchFamily="2" charset="-122"/>
              <a:ea typeface="宋体" panose="02000500000000000000" pitchFamily="2" charset="-122"/>
              <a:cs typeface="宋体" panose="02000500000000000000" pitchFamily="2" charset="-122"/>
            </a:endParaRPr>
          </a:p>
          <a:p>
            <a:pPr marL="1085850" marR="0" lvl="1" indent="-342900" algn="l" defTabSz="265430" rtl="0" eaLnBrk="0" fontAlgn="base" latinLnBrk="0" hangingPunct="0">
              <a:lnSpc>
                <a:spcPct val="150000"/>
              </a:lnSpc>
              <a:spcBef>
                <a:spcPct val="0"/>
              </a:spcBef>
              <a:spcAft>
                <a:spcPct val="0"/>
              </a:spcAft>
              <a:buClr>
                <a:srgbClr val="000000"/>
              </a:buClr>
              <a:buSzPct val="100000"/>
              <a:buFont typeface="Arial" panose="02080604020202020204" pitchFamily="34" charset="0"/>
              <a:buChar char="•"/>
              <a:defRPr/>
            </a:pPr>
            <a:r>
              <a:rPr kumimoji="0"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3A1000-3A4000</a:t>
            </a:r>
            <a:r>
              <a:rPr kumimoji="0"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为</a:t>
            </a:r>
            <a:r>
              <a:rPr kumimoji="0"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peak</a:t>
            </a:r>
            <a:r>
              <a:rPr kumimoji="0"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分值，</a:t>
            </a:r>
            <a:r>
              <a:rPr kumimoji="0"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3A5000-3A6000</a:t>
            </a:r>
            <a:r>
              <a:rPr kumimoji="0"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为</a:t>
            </a:r>
            <a:r>
              <a:rPr kumimoji="0"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base</a:t>
            </a:r>
            <a:r>
              <a:rPr kumimoji="0"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分值</a:t>
            </a:r>
            <a:endParaRPr kumimoji="0"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628650" marR="0" indent="-342900" defTabSz="265430" eaLnBrk="0" hangingPunct="0">
              <a:lnSpc>
                <a:spcPct val="150000"/>
              </a:lnSpc>
              <a:buClr>
                <a:srgbClr val="000000"/>
              </a:buClr>
              <a:buSzPct val="100000"/>
              <a:buFont typeface="Arial" panose="02080604020202020204" pitchFamily="34" charset="0"/>
              <a:buChar char="•"/>
              <a:defRPr/>
            </a:pPr>
            <a:r>
              <a:rPr kumimoji="0" lang="en-US" altLang="zh-CN" sz="2000" b="1" kern="1200" cap="none" spc="0" normalizeH="0" baseline="0" noProof="0" dirty="0">
                <a:solidFill>
                  <a:schemeClr val="tx1"/>
                </a:solidFill>
                <a:latin typeface="宋体" panose="02000500000000000000" pitchFamily="2" charset="-122"/>
                <a:ea typeface="宋体" panose="02000500000000000000" pitchFamily="2" charset="-122"/>
                <a:cs typeface="宋体" panose="02000500000000000000" pitchFamily="2" charset="-122"/>
              </a:rPr>
              <a:t>STREAM</a:t>
            </a:r>
            <a:r>
              <a:rPr kumimoji="0" lang="zh-CN" altLang="en-US" sz="2000" b="1" kern="1200" cap="none" spc="0" normalizeH="0" baseline="0" noProof="0" dirty="0">
                <a:solidFill>
                  <a:schemeClr val="tx1"/>
                </a:solidFill>
                <a:latin typeface="宋体" panose="02000500000000000000" pitchFamily="2" charset="-122"/>
                <a:ea typeface="宋体" panose="02000500000000000000" pitchFamily="2" charset="-122"/>
                <a:cs typeface="宋体" panose="02000500000000000000" pitchFamily="2" charset="-122"/>
              </a:rPr>
              <a:t>测试访存带宽</a:t>
            </a:r>
            <a:endParaRPr kumimoji="0" lang="zh-CN" altLang="en-US" sz="2000" b="1" kern="1200" cap="none" spc="0" normalizeH="0" baseline="0" noProof="0" dirty="0">
              <a:solidFill>
                <a:schemeClr val="tx1"/>
              </a:solidFill>
              <a:latin typeface="宋体" panose="02000500000000000000" pitchFamily="2" charset="-122"/>
              <a:ea typeface="宋体" panose="02000500000000000000" pitchFamily="2" charset="-122"/>
              <a:cs typeface="宋体" panose="02000500000000000000" pitchFamily="2" charset="-122"/>
            </a:endParaRPr>
          </a:p>
        </p:txBody>
      </p:sp>
      <p:graphicFrame>
        <p:nvGraphicFramePr>
          <p:cNvPr id="3" name="内容占位符 2"/>
          <p:cNvGraphicFramePr>
            <a:graphicFrameLocks noGrp="1"/>
          </p:cNvGraphicFramePr>
          <p:nvPr>
            <p:ph idx="4294967295"/>
          </p:nvPr>
        </p:nvGraphicFramePr>
        <p:xfrm>
          <a:off x="914400" y="3352800"/>
          <a:ext cx="10358492" cy="3057528"/>
        </p:xfrm>
        <a:graphic>
          <a:graphicData uri="http://schemas.openxmlformats.org/drawingml/2006/table">
            <a:tbl>
              <a:tblPr/>
              <a:tblGrid>
                <a:gridCol w="2436668"/>
                <a:gridCol w="1292601"/>
                <a:gridCol w="1274919"/>
                <a:gridCol w="1377477"/>
                <a:gridCol w="1267846"/>
                <a:gridCol w="1274918"/>
                <a:gridCol w="1434063"/>
              </a:tblGrid>
              <a:tr h="290513">
                <a:tc rowSpan="2">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endPar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gridSpan="3">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单核性能</a:t>
                      </a:r>
                      <a:endPar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hMerge="1">
                  <a:tcPr/>
                </a:tc>
                <a:tc hMerge="1">
                  <a:tcPr/>
                </a:tc>
                <a:tc gridSpan="3">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四核性能</a:t>
                      </a:r>
                      <a:endPar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hMerge="1">
                  <a:tcPr/>
                </a:tc>
                <a:tc hMerge="1">
                  <a:tcPr/>
                </a:tc>
              </a:tr>
              <a:tr h="438150">
                <a:tc vMerge="1">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SPEC INT2006</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SPEC FP2006</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STREAM</a:t>
                      </a:r>
                      <a:r>
                        <a:rPr kumimoji="0" lang="en-US"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 Copy</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GB</a:t>
                      </a:r>
                      <a:r>
                        <a:rPr kumimoji="0" lang="en-US"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SPEC INT2006</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SPEC FP2006</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STREAM</a:t>
                      </a:r>
                      <a:r>
                        <a:rPr kumimoji="0" lang="en-US"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 Copy</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GB</a:t>
                      </a:r>
                      <a:r>
                        <a:rPr kumimoji="0" lang="en-US"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92100">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LS 3A1000</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,1.0GHz</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endPar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2.7</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0.30</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9.0</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7.7</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0.71</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0513">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LS 3A2000</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,1.0GHz</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endPar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6.9</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6.3</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6.1</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22.5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22.2</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9.7</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0513">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LS 3A3000</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,1.5GHz</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11.1</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10.1</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8.8</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36.2</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32.9</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13.2</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r>
              <a:tr h="290513">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LS 3A</a:t>
                      </a:r>
                      <a:r>
                        <a:rPr kumimoji="0" lang="en-US"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4</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000</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r>
                        <a:rPr kumimoji="0" lang="en-US"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2.0</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GHz</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endPar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21.1</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21.2</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12.8</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61.7</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58.1</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19.1</a:t>
                      </a:r>
                      <a:endPar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2100">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LS 3A</a:t>
                      </a:r>
                      <a:r>
                        <a:rPr kumimoji="0" lang="en-US"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5</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000</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r>
                        <a:rPr kumimoji="0" lang="en-US"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2.5</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GHz</a:t>
                      </a:r>
                      <a:r>
                        <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endPar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en-US"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a:t>
                      </a: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6.9</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28.9</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16.5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79.4</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78.7</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22.3</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r>
              <a:tr h="290513">
                <a:tc>
                  <a:txBody>
                    <a:bodyPr/>
                    <a:lstStyle/>
                    <a:p>
                      <a:pPr marL="0" marR="0" lvl="0" indent="0" algn="l"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LS 3A6000</a:t>
                      </a:r>
                      <a:r>
                        <a:rPr kumimoji="0" lang="zh-CN"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,2.5GHz</a:t>
                      </a:r>
                      <a:r>
                        <a:rPr kumimoji="0" lang="zh-CN" altLang="en-US"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a:t>
                      </a:r>
                      <a:endParaRPr kumimoji="0" lang="zh-CN" altLang="zh-CN" sz="12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43.1</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54.5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32.2</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155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140</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rPr>
                        <a:t>42.5</a:t>
                      </a:r>
                      <a:endParaRPr kumimoji="0" lang="en-US" altLang="zh-CN" sz="1400" b="1"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314" marR="40314" marT="36205" marB="362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VIA C-4600</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,2.0GHz</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10.8</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9.8</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4.5</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27.5</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23.2</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3.3</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AMD K10</a:t>
                      </a:r>
                      <a:r>
                        <a:rPr kumimoji="0" lang="en-US"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  </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（四核</a:t>
                      </a:r>
                      <a:r>
                        <a:rPr kumimoji="0" lang="en-US" altLang="zh-CN"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,1.5GHz</a:t>
                      </a:r>
                      <a:r>
                        <a:rPr kumimoji="0" lang="zh-CN" altLang="en-US" sz="12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t>
                      </a:r>
                      <a:endParaRPr kumimoji="0" lang="en-GB" sz="1600" b="0" i="0" u="none" strike="noStrike" cap="none" normalizeH="0" baseline="0" smtClean="0">
                        <a:ln>
                          <a:noFill/>
                        </a:ln>
                        <a:solidFill>
                          <a:srgbClr val="000000"/>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11.3</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11.3</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4.5</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36.6</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34.0</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Times New Roman" pitchFamily="18" charset="0"/>
                        <a:buNone/>
                      </a:pPr>
                      <a:r>
                        <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6.0</a:t>
                      </a:r>
                      <a:endParaRPr kumimoji="0"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40097" marR="40097" marT="36010" marB="360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6"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3077" name="Rectangle 1"/>
          <p:cNvSpPr/>
          <p:nvPr>
            <p:ph type="title"/>
          </p:nvPr>
        </p:nvSpPr>
        <p:spPr>
          <a:xfrm>
            <a:off x="896938" y="0"/>
            <a:ext cx="10364787"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t>龙芯</a:t>
            </a:r>
            <a:r>
              <a:rPr lang="en-GB" altLang="zh-CN" dirty="0">
                <a:ea typeface="宋体" panose="02000500000000000000" pitchFamily="2" charset="-122"/>
              </a:rPr>
              <a:t>2C/2E vs. Pentium III</a:t>
            </a:r>
            <a:endParaRPr lang="en-GB" altLang="zh-CN" dirty="0">
              <a:ea typeface="宋体" panose="02000500000000000000" pitchFamily="2" charset="-122"/>
            </a:endParaRPr>
          </a:p>
        </p:txBody>
      </p:sp>
      <p:sp>
        <p:nvSpPr>
          <p:cNvPr id="3078" name="Rectangle 2"/>
          <p:cNvSpPr/>
          <p:nvPr>
            <p:ph idx="1"/>
          </p:nvPr>
        </p:nvSpPr>
        <p:spPr>
          <a:xfrm>
            <a:off x="914400" y="1717675"/>
            <a:ext cx="10361613" cy="1563688"/>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Lst>
            </a:pPr>
            <a:r>
              <a:rPr lang="zh-CN" altLang="en-GB" dirty="0">
                <a:cs typeface="宋体" panose="02000500000000000000" pitchFamily="2" charset="-122"/>
              </a:rPr>
              <a:t>龙芯</a:t>
            </a:r>
            <a:r>
              <a:rPr lang="en-GB" altLang="zh-CN" dirty="0">
                <a:cs typeface="宋体" panose="02000500000000000000" pitchFamily="2" charset="-122"/>
              </a:rPr>
              <a:t>2E</a:t>
            </a:r>
            <a:r>
              <a:rPr lang="zh-CN" altLang="en-GB" dirty="0">
                <a:cs typeface="宋体" panose="02000500000000000000" pitchFamily="2" charset="-122"/>
              </a:rPr>
              <a:t>的主频是龙芯</a:t>
            </a:r>
            <a:r>
              <a:rPr lang="en-GB" altLang="zh-CN" dirty="0">
                <a:cs typeface="宋体" panose="02000500000000000000" pitchFamily="2" charset="-122"/>
              </a:rPr>
              <a:t>2C</a:t>
            </a:r>
            <a:r>
              <a:rPr lang="zh-CN" altLang="en-GB" dirty="0">
                <a:cs typeface="宋体" panose="02000500000000000000" pitchFamily="2" charset="-122"/>
              </a:rPr>
              <a:t>的</a:t>
            </a:r>
            <a:r>
              <a:rPr lang="en-GB" altLang="zh-CN" dirty="0">
                <a:cs typeface="宋体" panose="02000500000000000000" pitchFamily="2" charset="-122"/>
              </a:rPr>
              <a:t>2</a:t>
            </a:r>
            <a:r>
              <a:rPr lang="zh-CN" altLang="en-GB" dirty="0">
                <a:cs typeface="宋体" panose="02000500000000000000" pitchFamily="2" charset="-122"/>
              </a:rPr>
              <a:t>倍，性能是龙芯</a:t>
            </a:r>
            <a:r>
              <a:rPr lang="en-GB" altLang="zh-CN" dirty="0">
                <a:cs typeface="宋体" panose="02000500000000000000" pitchFamily="2" charset="-122"/>
              </a:rPr>
              <a:t>2C</a:t>
            </a:r>
            <a:r>
              <a:rPr lang="zh-CN" altLang="en-GB" dirty="0">
                <a:cs typeface="宋体" panose="02000500000000000000" pitchFamily="2" charset="-122"/>
              </a:rPr>
              <a:t>的三倍，主要是由于</a:t>
            </a:r>
            <a:r>
              <a:rPr lang="en-GB" altLang="zh-CN" dirty="0">
                <a:cs typeface="宋体" panose="02000500000000000000" pitchFamily="2" charset="-122"/>
              </a:rPr>
              <a:t>L2</a:t>
            </a:r>
            <a:r>
              <a:rPr lang="zh-CN" altLang="en-GB" dirty="0">
                <a:cs typeface="宋体" panose="02000500000000000000" pitchFamily="2" charset="-122"/>
              </a:rPr>
              <a:t>和内存控制器在片内</a:t>
            </a:r>
            <a:endParaRPr lang="zh-CN" altLang="en-GB" dirty="0">
              <a:cs typeface="宋体" panose="02000500000000000000" pitchFamily="2" charset="-122"/>
            </a:endParaRPr>
          </a:p>
        </p:txBody>
      </p:sp>
      <p:grpSp>
        <p:nvGrpSpPr>
          <p:cNvPr id="3079" name="Group 3"/>
          <p:cNvGrpSpPr/>
          <p:nvPr/>
        </p:nvGrpSpPr>
        <p:grpSpPr>
          <a:xfrm>
            <a:off x="330200" y="3806825"/>
            <a:ext cx="11391900" cy="2847975"/>
            <a:chOff x="187" y="2398"/>
            <a:chExt cx="6443" cy="1794"/>
          </a:xfrm>
        </p:grpSpPr>
        <p:sp>
          <p:nvSpPr>
            <p:cNvPr id="3083" name="AutoShape 4"/>
            <p:cNvSpPr/>
            <p:nvPr/>
          </p:nvSpPr>
          <p:spPr>
            <a:xfrm>
              <a:off x="187" y="2398"/>
              <a:ext cx="6444" cy="1795"/>
            </a:xfrm>
            <a:prstGeom prst="roundRect">
              <a:avLst>
                <a:gd name="adj" fmla="val 56"/>
              </a:avLst>
            </a:prstGeom>
            <a:noFill/>
            <a:ln w="9525">
              <a:noFill/>
            </a:ln>
          </p:spPr>
          <p:txBody>
            <a:bodyPr wrap="none" anchor="ctr" anchorCtr="0"/>
            <a:p>
              <a:endParaRPr lang="zh-CN" altLang="en-US" dirty="0">
                <a:latin typeface="Times New Roman" pitchFamily="18" charset="0"/>
              </a:endParaRPr>
            </a:p>
          </p:txBody>
        </p:sp>
        <p:sp>
          <p:nvSpPr>
            <p:cNvPr id="3084" name="Text Box 5"/>
            <p:cNvSpPr txBox="1"/>
            <p:nvPr/>
          </p:nvSpPr>
          <p:spPr>
            <a:xfrm>
              <a:off x="489" y="2398"/>
              <a:ext cx="2788" cy="1381"/>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3085" name="Text Box 6"/>
            <p:cNvSpPr txBox="1"/>
            <p:nvPr/>
          </p:nvSpPr>
          <p:spPr>
            <a:xfrm>
              <a:off x="503" y="3836"/>
              <a:ext cx="2823" cy="183"/>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(a) Performance of Godson-2C and Pentium III</a:t>
              </a:r>
              <a:endParaRPr lang="en-GB" altLang="zh-CN" sz="1200" dirty="0">
                <a:solidFill>
                  <a:srgbClr val="000000"/>
                </a:solidFill>
                <a:latin typeface="Times New Roman" pitchFamily="18" charset="0"/>
              </a:endParaRPr>
            </a:p>
          </p:txBody>
        </p:sp>
        <p:sp>
          <p:nvSpPr>
            <p:cNvPr id="3086" name="Text Box 7"/>
            <p:cNvSpPr txBox="1"/>
            <p:nvPr/>
          </p:nvSpPr>
          <p:spPr>
            <a:xfrm>
              <a:off x="3574" y="2410"/>
              <a:ext cx="2799" cy="1357"/>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3087" name="Text Box 8"/>
            <p:cNvSpPr txBox="1"/>
            <p:nvPr/>
          </p:nvSpPr>
          <p:spPr>
            <a:xfrm>
              <a:off x="3601" y="3825"/>
              <a:ext cx="2616" cy="173"/>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(b) Performance of Godson-2E and Pentium III</a:t>
              </a:r>
              <a:endParaRPr lang="en-GB" altLang="zh-CN" sz="1200" dirty="0">
                <a:solidFill>
                  <a:srgbClr val="000000"/>
                </a:solidFill>
                <a:latin typeface="Times New Roman" pitchFamily="18" charset="0"/>
              </a:endParaRPr>
            </a:p>
          </p:txBody>
        </p:sp>
        <p:sp>
          <p:nvSpPr>
            <p:cNvPr id="3088" name="Text Box 9"/>
            <p:cNvSpPr txBox="1"/>
            <p:nvPr/>
          </p:nvSpPr>
          <p:spPr>
            <a:xfrm>
              <a:off x="544" y="4020"/>
              <a:ext cx="5990" cy="173"/>
            </a:xfrm>
            <a:prstGeom prst="rect">
              <a:avLst/>
            </a:prstGeom>
            <a:solidFill>
              <a:srgbClr val="FFFFFF"/>
            </a:solidFill>
            <a:ln w="9525">
              <a:noFill/>
            </a:ln>
          </p:spPr>
          <p:txBody>
            <a:bodyPr lIns="0" tIns="0" rIns="0" bIns="0"/>
            <a:p>
              <a:pPr algn="ctr" defTabSz="265430">
                <a:buNone/>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 pos="9410700" algn="l"/>
                </a:tabLst>
              </a:pPr>
              <a:r>
                <a:rPr lang="en-GB" altLang="zh-CN" sz="1400" dirty="0">
                  <a:solidFill>
                    <a:srgbClr val="000000"/>
                  </a:solidFill>
                  <a:latin typeface="Times New Roman" pitchFamily="18" charset="0"/>
                </a:rPr>
                <a:t>Figure 5. Performance Comparison of Godson-2C, Godson-2E and Pentium III (with GCC -O2 compiler)</a:t>
              </a:r>
              <a:r>
                <a:rPr lang="ar-SA" altLang="zh-CN" sz="1400" dirty="0">
                  <a:solidFill>
                    <a:srgbClr val="000000"/>
                  </a:solidFill>
                  <a:latin typeface="Times New Roman" pitchFamily="18" charset="0"/>
                  <a:cs typeface="Times New Roman" pitchFamily="18" charset="0"/>
                </a:rPr>
                <a:t>‏</a:t>
              </a:r>
              <a:endParaRPr lang="en-GB" altLang="zh-CN" sz="1400" dirty="0">
                <a:solidFill>
                  <a:srgbClr val="000000"/>
                </a:solidFill>
                <a:latin typeface="Times New Roman" pitchFamily="18" charset="0"/>
              </a:endParaRPr>
            </a:p>
          </p:txBody>
        </p:sp>
      </p:grpSp>
      <p:sp>
        <p:nvSpPr>
          <p:cNvPr id="3080" name="Rectangle 10"/>
          <p:cNvSpPr/>
          <p:nvPr/>
        </p:nvSpPr>
        <p:spPr>
          <a:xfrm>
            <a:off x="0" y="776288"/>
            <a:ext cx="12190413" cy="1587"/>
          </a:xfrm>
          <a:prstGeom prst="rect">
            <a:avLst/>
          </a:prstGeom>
          <a:noFill/>
          <a:ln w="9525">
            <a:noFill/>
          </a:ln>
        </p:spPr>
        <p:txBody>
          <a:bodyPr wrap="none" anchor="ctr" anchorCtr="0"/>
          <a:p>
            <a:endParaRPr lang="zh-CN" altLang="en-US" dirty="0">
              <a:latin typeface="Times New Roman" pitchFamily="18" charset="0"/>
            </a:endParaRPr>
          </a:p>
        </p:txBody>
      </p:sp>
      <p:sp>
        <p:nvSpPr>
          <p:cNvPr id="3081" name="Rectangle 11"/>
          <p:cNvSpPr/>
          <p:nvPr/>
        </p:nvSpPr>
        <p:spPr>
          <a:xfrm>
            <a:off x="6350" y="776288"/>
            <a:ext cx="0" cy="1587"/>
          </a:xfrm>
          <a:prstGeom prst="rect">
            <a:avLst/>
          </a:prstGeom>
          <a:solidFill>
            <a:srgbClr val="00CC99"/>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3082" name="Rectangle 12"/>
          <p:cNvSpPr/>
          <p:nvPr/>
        </p:nvSpPr>
        <p:spPr>
          <a:xfrm>
            <a:off x="6350" y="2395538"/>
            <a:ext cx="0" cy="1587"/>
          </a:xfrm>
          <a:prstGeom prst="rect">
            <a:avLst/>
          </a:prstGeom>
          <a:solidFill>
            <a:srgbClr val="00CC99"/>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graphicFrame>
        <p:nvGraphicFramePr>
          <p:cNvPr id="3074" name="Object 13"/>
          <p:cNvGraphicFramePr>
            <a:graphicFrameLocks noChangeAspect="1"/>
          </p:cNvGraphicFramePr>
          <p:nvPr/>
        </p:nvGraphicFramePr>
        <p:xfrm>
          <a:off x="1454150" y="3841750"/>
          <a:ext cx="3695700" cy="2089150"/>
        </p:xfrm>
        <a:graphic>
          <a:graphicData uri="http://schemas.openxmlformats.org/presentationml/2006/ole">
            <mc:AlternateContent xmlns:mc="http://schemas.openxmlformats.org/markup-compatibility/2006">
              <mc:Choice xmlns:v="urn:schemas-microsoft-com:vml" Requires="v">
                <p:oleObj spid="_x0000_s3" name="" r:id="rId1" imgW="2571750" imgH="1619250" progId="MSGraph.Chart">
                  <p:embed/>
                </p:oleObj>
              </mc:Choice>
              <mc:Fallback>
                <p:oleObj name="" r:id="rId1" imgW="2571750" imgH="1619250" progId="MSGraph.Chart">
                  <p:embed/>
                  <p:pic>
                    <p:nvPicPr>
                      <p:cNvPr id="0" name="图片 2"/>
                      <p:cNvPicPr/>
                      <p:nvPr/>
                    </p:nvPicPr>
                    <p:blipFill>
                      <a:blip r:embed="rId2"/>
                      <a:stretch>
                        <a:fillRect/>
                      </a:stretch>
                    </p:blipFill>
                    <p:spPr>
                      <a:xfrm>
                        <a:off x="1454150" y="3841750"/>
                        <a:ext cx="3695700" cy="2089150"/>
                      </a:xfrm>
                      <a:prstGeom prst="rect">
                        <a:avLst/>
                      </a:prstGeom>
                      <a:noFill/>
                      <a:ln w="38100">
                        <a:noFill/>
                        <a:miter/>
                      </a:ln>
                    </p:spPr>
                  </p:pic>
                </p:oleObj>
              </mc:Fallback>
            </mc:AlternateContent>
          </a:graphicData>
        </a:graphic>
      </p:graphicFrame>
      <p:graphicFrame>
        <p:nvGraphicFramePr>
          <p:cNvPr id="3075" name="Object 14"/>
          <p:cNvGraphicFramePr>
            <a:graphicFrameLocks noChangeAspect="1"/>
          </p:cNvGraphicFramePr>
          <p:nvPr/>
        </p:nvGraphicFramePr>
        <p:xfrm>
          <a:off x="6916738" y="3836988"/>
          <a:ext cx="3516312" cy="2092325"/>
        </p:xfrm>
        <a:graphic>
          <a:graphicData uri="http://schemas.openxmlformats.org/presentationml/2006/ole">
            <mc:AlternateContent xmlns:mc="http://schemas.openxmlformats.org/markup-compatibility/2006">
              <mc:Choice xmlns:v="urn:schemas-microsoft-com:vml" Requires="v">
                <p:oleObj spid="_x0000_s2" name="" r:id="rId3" imgW="2571750" imgH="1704975" progId="MSGraph.Chart">
                  <p:embed/>
                </p:oleObj>
              </mc:Choice>
              <mc:Fallback>
                <p:oleObj name="" r:id="rId3" imgW="2571750" imgH="1704975" progId="MSGraph.Chart">
                  <p:embed/>
                  <p:pic>
                    <p:nvPicPr>
                      <p:cNvPr id="0" name="图片 1"/>
                      <p:cNvPicPr/>
                      <p:nvPr/>
                    </p:nvPicPr>
                    <p:blipFill>
                      <a:blip r:embed="rId4"/>
                      <a:stretch>
                        <a:fillRect/>
                      </a:stretch>
                    </p:blipFill>
                    <p:spPr>
                      <a:xfrm>
                        <a:off x="6916738" y="3836988"/>
                        <a:ext cx="3516312" cy="2092325"/>
                      </a:xfrm>
                      <a:prstGeom prst="rect">
                        <a:avLst/>
                      </a:prstGeom>
                      <a:noFill/>
                      <a:ln w="38100">
                        <a:noFill/>
                        <a:miter/>
                      </a:ln>
                    </p:spPr>
                  </p:pic>
                </p:oleObj>
              </mc:Fallback>
            </mc:AlternateContent>
          </a:graphicData>
        </a:graphic>
      </p:graphicFrame>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0"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4102" name="Rectangle 8"/>
          <p:cNvSpPr/>
          <p:nvPr>
            <p:ph type="title"/>
          </p:nvPr>
        </p:nvSpPr>
        <p:spPr>
          <a:xfrm>
            <a:off x="896938" y="0"/>
            <a:ext cx="10364787" cy="1068388"/>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t>故事</a:t>
            </a:r>
            <a:r>
              <a:rPr lang="en-GB" altLang="zh-CN" dirty="0">
                <a:ea typeface="宋体" panose="02000500000000000000" pitchFamily="2" charset="-122"/>
              </a:rPr>
              <a:t>6</a:t>
            </a:r>
            <a:r>
              <a:rPr lang="zh-CN" altLang="en-GB" dirty="0">
                <a:ea typeface="宋体" panose="02000500000000000000" pitchFamily="2" charset="-122"/>
              </a:rPr>
              <a:t>：</a:t>
            </a:r>
            <a:r>
              <a:rPr lang="zh-CN" altLang="en-GB" dirty="0"/>
              <a:t>间接转移猜测</a:t>
            </a:r>
            <a:endParaRPr lang="en-GB" altLang="zh-CN" dirty="0"/>
          </a:p>
        </p:txBody>
      </p:sp>
      <p:sp>
        <p:nvSpPr>
          <p:cNvPr id="4103" name="Rectangle 9"/>
          <p:cNvSpPr/>
          <p:nvPr>
            <p:ph idx="1"/>
          </p:nvPr>
        </p:nvSpPr>
        <p:spPr>
          <a:xfrm>
            <a:off x="604838" y="873125"/>
            <a:ext cx="11125200" cy="2376488"/>
          </a:xfrm>
        </p:spPr>
        <p:txBody>
          <a:bodyPr vert="horz" wrap="square" lIns="90000" tIns="46800" rIns="90000" bIns="46800" anchor="t" anchorCtr="0"/>
          <a:p>
            <a:pPr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2000" dirty="0">
                <a:cs typeface="宋体" panose="02000500000000000000" pitchFamily="2" charset="-122"/>
              </a:rPr>
              <a:t>转移猜测对处理器的性能至关重要</a:t>
            </a:r>
            <a:endParaRPr lang="zh-CN" altLang="en-GB" sz="2000" dirty="0">
              <a:cs typeface="宋体" panose="02000500000000000000" pitchFamily="2" charset="-122"/>
            </a:endParaRPr>
          </a:p>
          <a:p>
            <a:pPr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2000" dirty="0">
                <a:cs typeface="宋体" panose="02000500000000000000" pitchFamily="2" charset="-122"/>
              </a:rPr>
              <a:t>条件转移指令占</a:t>
            </a:r>
            <a:r>
              <a:rPr lang="en-GB" altLang="zh-CN" sz="2000" dirty="0">
                <a:cs typeface="宋体" panose="02000500000000000000" pitchFamily="2" charset="-122"/>
              </a:rPr>
              <a:t>90%</a:t>
            </a:r>
            <a:r>
              <a:rPr lang="zh-CN" altLang="en-GB" sz="2000" dirty="0">
                <a:cs typeface="宋体" panose="02000500000000000000" pitchFamily="2" charset="-122"/>
              </a:rPr>
              <a:t>，间接转移指令站</a:t>
            </a:r>
            <a:r>
              <a:rPr lang="en-GB" altLang="zh-CN" sz="2000" dirty="0">
                <a:cs typeface="宋体" panose="02000500000000000000" pitchFamily="2" charset="-122"/>
              </a:rPr>
              <a:t>10%</a:t>
            </a:r>
            <a:endParaRPr lang="en-GB" altLang="zh-CN" sz="2000" dirty="0">
              <a:cs typeface="宋体" panose="02000500000000000000" pitchFamily="2" charset="-122"/>
            </a:endParaRPr>
          </a:p>
          <a:p>
            <a:pPr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2000" dirty="0">
                <a:cs typeface="宋体" panose="02000500000000000000" pitchFamily="2" charset="-122"/>
              </a:rPr>
              <a:t>龙芯</a:t>
            </a:r>
            <a:r>
              <a:rPr lang="en-GB" altLang="zh-CN" sz="2000" dirty="0">
                <a:cs typeface="宋体" panose="02000500000000000000" pitchFamily="2" charset="-122"/>
              </a:rPr>
              <a:t>2B</a:t>
            </a:r>
            <a:r>
              <a:rPr lang="zh-CN" altLang="en-GB" sz="2000" dirty="0">
                <a:cs typeface="宋体" panose="02000500000000000000" pitchFamily="2" charset="-122"/>
              </a:rPr>
              <a:t>实现了</a:t>
            </a:r>
            <a:r>
              <a:rPr lang="en-GB" altLang="zh-CN" sz="2000" dirty="0">
                <a:cs typeface="宋体" panose="02000500000000000000" pitchFamily="2" charset="-122"/>
              </a:rPr>
              <a:t>2048</a:t>
            </a:r>
            <a:r>
              <a:rPr lang="zh-CN" altLang="en-GB" sz="2000" dirty="0">
                <a:cs typeface="宋体" panose="02000500000000000000" pitchFamily="2" charset="-122"/>
              </a:rPr>
              <a:t>项的</a:t>
            </a:r>
            <a:r>
              <a:rPr lang="en-GB" altLang="zh-CN" sz="2000" dirty="0">
                <a:cs typeface="宋体" panose="02000500000000000000" pitchFamily="2" charset="-122"/>
              </a:rPr>
              <a:t>PHT</a:t>
            </a:r>
            <a:r>
              <a:rPr lang="zh-CN" altLang="en-GB" sz="2000" dirty="0">
                <a:cs typeface="宋体" panose="02000500000000000000" pitchFamily="2" charset="-122"/>
              </a:rPr>
              <a:t>表用于条件转移猜测</a:t>
            </a:r>
            <a:endParaRPr lang="zh-CN" altLang="en-GB" sz="2000" dirty="0">
              <a:cs typeface="宋体" panose="02000500000000000000" pitchFamily="2" charset="-122"/>
            </a:endParaRPr>
          </a:p>
          <a:p>
            <a:pPr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2000" dirty="0">
                <a:cs typeface="宋体" panose="02000500000000000000" pitchFamily="2" charset="-122"/>
              </a:rPr>
              <a:t>龙芯</a:t>
            </a:r>
            <a:r>
              <a:rPr lang="en-GB" altLang="zh-CN" sz="2000" dirty="0">
                <a:cs typeface="宋体" panose="02000500000000000000" pitchFamily="2" charset="-122"/>
              </a:rPr>
              <a:t>2C/2E</a:t>
            </a:r>
            <a:r>
              <a:rPr lang="zh-CN" altLang="en-GB" sz="2000" dirty="0">
                <a:cs typeface="宋体" panose="02000500000000000000" pitchFamily="2" charset="-122"/>
              </a:rPr>
              <a:t>增加了</a:t>
            </a:r>
            <a:r>
              <a:rPr lang="en-GB" altLang="zh-CN" sz="2000" dirty="0">
                <a:cs typeface="宋体" panose="02000500000000000000" pitchFamily="2" charset="-122"/>
              </a:rPr>
              <a:t>16</a:t>
            </a:r>
            <a:r>
              <a:rPr lang="zh-CN" altLang="en-GB" sz="2000" dirty="0">
                <a:cs typeface="宋体" panose="02000500000000000000" pitchFamily="2" charset="-122"/>
              </a:rPr>
              <a:t>项</a:t>
            </a:r>
            <a:r>
              <a:rPr lang="en-GB" altLang="zh-CN" sz="2000" dirty="0">
                <a:cs typeface="宋体" panose="02000500000000000000" pitchFamily="2" charset="-122"/>
              </a:rPr>
              <a:t>BTB</a:t>
            </a:r>
            <a:r>
              <a:rPr lang="zh-CN" altLang="en-GB" sz="2000" dirty="0">
                <a:cs typeface="宋体" panose="02000500000000000000" pitchFamily="2" charset="-122"/>
              </a:rPr>
              <a:t>和</a:t>
            </a:r>
            <a:r>
              <a:rPr lang="en-GB" altLang="zh-CN" sz="2000" dirty="0">
                <a:cs typeface="宋体" panose="02000500000000000000" pitchFamily="2" charset="-122"/>
              </a:rPr>
              <a:t>4</a:t>
            </a:r>
            <a:r>
              <a:rPr lang="zh-CN" altLang="en-GB" sz="2000" dirty="0">
                <a:cs typeface="宋体" panose="02000500000000000000" pitchFamily="2" charset="-122"/>
              </a:rPr>
              <a:t>项</a:t>
            </a:r>
            <a:r>
              <a:rPr lang="en-GB" altLang="zh-CN" sz="2000" dirty="0">
                <a:cs typeface="宋体" panose="02000500000000000000" pitchFamily="2" charset="-122"/>
              </a:rPr>
              <a:t>RAS</a:t>
            </a:r>
            <a:endParaRPr lang="en-GB" altLang="zh-CN" sz="2000" dirty="0">
              <a:cs typeface="宋体" panose="02000500000000000000" pitchFamily="2" charset="-122"/>
            </a:endParaRPr>
          </a:p>
          <a:p>
            <a:pPr lvl="1" defTabSz="265430" eaLnBrk="1" hangingPunct="1">
              <a:lnSpc>
                <a:spcPct val="150000"/>
              </a:lnSpc>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1600" dirty="0">
                <a:cs typeface="宋体" panose="02000500000000000000" pitchFamily="2" charset="-122"/>
              </a:rPr>
              <a:t>定点性能提高</a:t>
            </a:r>
            <a:r>
              <a:rPr lang="en-GB" altLang="zh-CN" sz="1600" dirty="0">
                <a:cs typeface="宋体" panose="02000500000000000000" pitchFamily="2" charset="-122"/>
              </a:rPr>
              <a:t>11.7%</a:t>
            </a:r>
            <a:r>
              <a:rPr lang="zh-CN" altLang="en-GB" sz="1600" dirty="0">
                <a:cs typeface="宋体" panose="02000500000000000000" pitchFamily="2" charset="-122"/>
              </a:rPr>
              <a:t>，浮点性能提高</a:t>
            </a:r>
            <a:r>
              <a:rPr lang="en-GB" altLang="zh-CN" sz="1600" dirty="0">
                <a:cs typeface="宋体" panose="02000500000000000000" pitchFamily="2" charset="-122"/>
              </a:rPr>
              <a:t>6.2%</a:t>
            </a:r>
            <a:endParaRPr lang="en-GB" altLang="zh-CN" sz="1600" dirty="0">
              <a:cs typeface="宋体" panose="02000500000000000000" pitchFamily="2" charset="-122"/>
            </a:endParaRPr>
          </a:p>
        </p:txBody>
      </p:sp>
      <p:grpSp>
        <p:nvGrpSpPr>
          <p:cNvPr id="2" name="组合 1"/>
          <p:cNvGrpSpPr/>
          <p:nvPr/>
        </p:nvGrpSpPr>
        <p:grpSpPr>
          <a:xfrm>
            <a:off x="182245" y="3676650"/>
            <a:ext cx="11722100" cy="3021330"/>
            <a:chOff x="287" y="5286"/>
            <a:chExt cx="18460" cy="4758"/>
          </a:xfrm>
        </p:grpSpPr>
        <p:sp>
          <p:nvSpPr>
            <p:cNvPr id="4107" name="Text Box 3"/>
            <p:cNvSpPr txBox="1"/>
            <p:nvPr/>
          </p:nvSpPr>
          <p:spPr>
            <a:xfrm>
              <a:off x="287" y="5286"/>
              <a:ext cx="9229" cy="4356"/>
            </a:xfrm>
            <a:prstGeom prst="rect">
              <a:avLst/>
            </a:prstGeom>
            <a:noFill/>
            <a:ln w="9360" cap="flat" cmpd="sng">
              <a:solidFill>
                <a:srgbClr val="000000"/>
              </a:solidFill>
              <a:prstDash val="solid"/>
              <a:miter/>
              <a:headEnd type="none" w="med" len="med"/>
              <a:tailEnd type="none" w="med" len="med"/>
            </a:ln>
          </p:spPr>
          <p:txBody>
            <a:bodyPr lIns="0" tIns="0" rIns="0" bIns="0"/>
            <a:p>
              <a:pP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zh-CN" altLang="en-GB" sz="1000" dirty="0">
                  <a:solidFill>
                    <a:srgbClr val="000000"/>
                  </a:solidFill>
                  <a:latin typeface="Times New Roman" pitchFamily="18" charset="0"/>
                </a:rPr>
                <a:t> </a:t>
              </a:r>
              <a:endParaRPr lang="zh-CN" altLang="en-GB" sz="1000" dirty="0">
                <a:solidFill>
                  <a:srgbClr val="000000"/>
                </a:solidFill>
                <a:latin typeface="Times New Roman" pitchFamily="18" charset="0"/>
              </a:endParaRPr>
            </a:p>
          </p:txBody>
        </p:sp>
        <p:sp>
          <p:nvSpPr>
            <p:cNvPr id="4108" name="Text Box 4"/>
            <p:cNvSpPr txBox="1"/>
            <p:nvPr/>
          </p:nvSpPr>
          <p:spPr>
            <a:xfrm>
              <a:off x="1231" y="9612"/>
              <a:ext cx="7260" cy="433"/>
            </a:xfrm>
            <a:prstGeom prst="rect">
              <a:avLst/>
            </a:prstGeom>
            <a:noFill/>
            <a:ln w="9525">
              <a:noFill/>
            </a:ln>
          </p:spPr>
          <p:txBody>
            <a:bodyPr lIns="90000" tIns="46800" rIns="90000" bIns="4680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(a) Branch misprediction rate</a:t>
              </a:r>
              <a:endParaRPr lang="en-GB" altLang="zh-CN" sz="1200" dirty="0">
                <a:solidFill>
                  <a:srgbClr val="000000"/>
                </a:solidFill>
                <a:latin typeface="Times New Roman" pitchFamily="18" charset="0"/>
              </a:endParaRPr>
            </a:p>
          </p:txBody>
        </p:sp>
        <p:sp>
          <p:nvSpPr>
            <p:cNvPr id="4109" name="Text Box 5"/>
            <p:cNvSpPr txBox="1"/>
            <p:nvPr/>
          </p:nvSpPr>
          <p:spPr>
            <a:xfrm>
              <a:off x="10501" y="9580"/>
              <a:ext cx="7794" cy="465"/>
            </a:xfrm>
            <a:prstGeom prst="rect">
              <a:avLst/>
            </a:prstGeom>
            <a:noFill/>
            <a:ln w="9525">
              <a:noFill/>
            </a:ln>
          </p:spPr>
          <p:txBody>
            <a:bodyPr lIns="90000" tIns="46800" rIns="90000" bIns="4680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(b) IPC without and with BTB and RAS</a:t>
              </a:r>
              <a:endParaRPr lang="en-GB" altLang="zh-CN" sz="1200" dirty="0">
                <a:solidFill>
                  <a:srgbClr val="000000"/>
                </a:solidFill>
                <a:latin typeface="Times New Roman" pitchFamily="18" charset="0"/>
              </a:endParaRPr>
            </a:p>
          </p:txBody>
        </p:sp>
        <p:sp>
          <p:nvSpPr>
            <p:cNvPr id="4111" name="Text Box 7"/>
            <p:cNvSpPr txBox="1"/>
            <p:nvPr/>
          </p:nvSpPr>
          <p:spPr>
            <a:xfrm>
              <a:off x="10173" y="5316"/>
              <a:ext cx="8574" cy="4264"/>
            </a:xfrm>
            <a:prstGeom prst="rect">
              <a:avLst/>
            </a:prstGeom>
            <a:no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graphicFrame>
          <p:nvGraphicFramePr>
            <p:cNvPr id="4098" name="Object 10"/>
            <p:cNvGraphicFramePr>
              <a:graphicFrameLocks noChangeAspect="1"/>
            </p:cNvGraphicFramePr>
            <p:nvPr/>
          </p:nvGraphicFramePr>
          <p:xfrm>
            <a:off x="523" y="5440"/>
            <a:ext cx="8580" cy="4005"/>
          </p:xfrm>
          <a:graphic>
            <a:graphicData uri="http://schemas.openxmlformats.org/presentationml/2006/ole">
              <mc:AlternateContent xmlns:mc="http://schemas.openxmlformats.org/markup-compatibility/2006">
                <mc:Choice xmlns:v="urn:schemas-microsoft-com:vml" Requires="v">
                  <p:oleObj spid="_x0000_s3080" name="" r:id="rId1" imgW="2439035" imgH="1521460" progId="Excel.Sheet.5">
                    <p:embed/>
                  </p:oleObj>
                </mc:Choice>
                <mc:Fallback>
                  <p:oleObj name="" r:id="rId1" imgW="2439035" imgH="1521460" progId="Excel.Sheet.5">
                    <p:embed/>
                    <p:pic>
                      <p:nvPicPr>
                        <p:cNvPr id="0" name="图片 3079"/>
                        <p:cNvPicPr/>
                        <p:nvPr/>
                      </p:nvPicPr>
                      <p:blipFill>
                        <a:blip r:embed="rId2"/>
                        <a:stretch>
                          <a:fillRect/>
                        </a:stretch>
                      </p:blipFill>
                      <p:spPr>
                        <a:xfrm>
                          <a:off x="523" y="5440"/>
                          <a:ext cx="8580" cy="4005"/>
                        </a:xfrm>
                        <a:prstGeom prst="rect">
                          <a:avLst/>
                        </a:prstGeom>
                        <a:noFill/>
                        <a:ln w="38100">
                          <a:noFill/>
                          <a:miter/>
                        </a:ln>
                      </p:spPr>
                    </p:pic>
                  </p:oleObj>
                </mc:Fallback>
              </mc:AlternateContent>
            </a:graphicData>
          </a:graphic>
        </p:graphicFrame>
        <p:graphicFrame>
          <p:nvGraphicFramePr>
            <p:cNvPr id="4099" name="Object 11"/>
            <p:cNvGraphicFramePr>
              <a:graphicFrameLocks noChangeAspect="1"/>
            </p:cNvGraphicFramePr>
            <p:nvPr/>
          </p:nvGraphicFramePr>
          <p:xfrm>
            <a:off x="10378" y="5623"/>
            <a:ext cx="8095" cy="3715"/>
          </p:xfrm>
          <a:graphic>
            <a:graphicData uri="http://schemas.openxmlformats.org/presentationml/2006/ole">
              <mc:AlternateContent xmlns:mc="http://schemas.openxmlformats.org/markup-compatibility/2006">
                <mc:Choice xmlns:v="urn:schemas-microsoft-com:vml" Requires="v">
                  <p:oleObj spid="_x0000_s3081" name="" r:id="rId3" imgW="9782175" imgH="7534275" progId="Excel.Sheet.5">
                    <p:embed/>
                  </p:oleObj>
                </mc:Choice>
                <mc:Fallback>
                  <p:oleObj name="" r:id="rId3" imgW="9782175" imgH="7534275" progId="Excel.Sheet.5">
                    <p:embed/>
                    <p:pic>
                      <p:nvPicPr>
                        <p:cNvPr id="0" name="图片 3080"/>
                        <p:cNvPicPr/>
                        <p:nvPr/>
                      </p:nvPicPr>
                      <p:blipFill>
                        <a:blip r:embed="rId4"/>
                        <a:stretch>
                          <a:fillRect/>
                        </a:stretch>
                      </p:blipFill>
                      <p:spPr>
                        <a:xfrm>
                          <a:off x="10378" y="5623"/>
                          <a:ext cx="8095" cy="3715"/>
                        </a:xfrm>
                        <a:prstGeom prst="rect">
                          <a:avLst/>
                        </a:prstGeom>
                        <a:noFill/>
                        <a:ln w="38100">
                          <a:noFill/>
                          <a:miter/>
                        </a:ln>
                      </p:spPr>
                    </p:pic>
                  </p:oleObj>
                </mc:Fallback>
              </mc:AlternateContent>
            </a:graphicData>
          </a:graphic>
        </p:graphicFrame>
      </p:grpSp>
      <p:sp>
        <p:nvSpPr>
          <p:cNvPr id="4104" name="Rectangle 12"/>
          <p:cNvSpPr/>
          <p:nvPr/>
        </p:nvSpPr>
        <p:spPr>
          <a:xfrm>
            <a:off x="6350" y="612775"/>
            <a:ext cx="0" cy="1588"/>
          </a:xfrm>
          <a:prstGeom prst="rect">
            <a:avLst/>
          </a:prstGeom>
          <a:solidFill>
            <a:srgbClr val="00CC99"/>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4105" name="Rectangle 13"/>
          <p:cNvSpPr/>
          <p:nvPr/>
        </p:nvSpPr>
        <p:spPr>
          <a:xfrm>
            <a:off x="6350" y="2355850"/>
            <a:ext cx="0" cy="1588"/>
          </a:xfrm>
          <a:prstGeom prst="rect">
            <a:avLst/>
          </a:prstGeom>
          <a:solidFill>
            <a:srgbClr val="00CC99"/>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34819" name="Rectangle 1"/>
          <p:cNvSpPr/>
          <p:nvPr>
            <p:ph type="title"/>
          </p:nvPr>
        </p:nvSpPr>
        <p:spPr>
          <a:xfrm>
            <a:off x="896938" y="0"/>
            <a:ext cx="10364787" cy="1068388"/>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sz="3600" dirty="0"/>
              <a:t>故事</a:t>
            </a:r>
            <a:r>
              <a:rPr lang="en-GB" altLang="zh-CN" sz="3600" dirty="0"/>
              <a:t>7: TLB</a:t>
            </a:r>
            <a:r>
              <a:rPr lang="zh-CN" altLang="en-GB" sz="3600" dirty="0"/>
              <a:t>例外开销 </a:t>
            </a:r>
            <a:endParaRPr lang="zh-CN" altLang="en-GB" sz="3600" dirty="0"/>
          </a:p>
        </p:txBody>
      </p:sp>
      <p:sp>
        <p:nvSpPr>
          <p:cNvPr id="34820" name="Rectangle 2"/>
          <p:cNvSpPr/>
          <p:nvPr>
            <p:ph idx="1"/>
          </p:nvPr>
        </p:nvSpPr>
        <p:spPr>
          <a:xfrm>
            <a:off x="314325" y="1376363"/>
            <a:ext cx="11395075" cy="2120900"/>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2000" dirty="0">
                <a:cs typeface="宋体" panose="02000500000000000000" pitchFamily="2" charset="-122"/>
              </a:rPr>
              <a:t>应用程序运行时，</a:t>
            </a:r>
            <a:r>
              <a:rPr lang="en-GB" altLang="zh-CN" sz="2000" dirty="0">
                <a:cs typeface="宋体" panose="02000500000000000000" pitchFamily="2" charset="-122"/>
              </a:rPr>
              <a:t>OS</a:t>
            </a:r>
            <a:r>
              <a:rPr lang="zh-CN" altLang="en-GB" sz="2000" dirty="0">
                <a:cs typeface="宋体" panose="02000500000000000000" pitchFamily="2" charset="-122"/>
              </a:rPr>
              <a:t>时间很少，主要是用户程序在“干活”</a:t>
            </a:r>
            <a:endParaRPr lang="zh-CN" altLang="en-GB" sz="20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2000" dirty="0">
                <a:cs typeface="宋体" panose="02000500000000000000" pitchFamily="2" charset="-122"/>
              </a:rPr>
              <a:t>有些程序</a:t>
            </a:r>
            <a:r>
              <a:rPr lang="en-GB" altLang="zh-CN" sz="2000" dirty="0">
                <a:cs typeface="宋体" panose="02000500000000000000" pitchFamily="2" charset="-122"/>
              </a:rPr>
              <a:t>OS</a:t>
            </a:r>
            <a:r>
              <a:rPr lang="zh-CN" altLang="en-GB" sz="2000" dirty="0">
                <a:cs typeface="宋体" panose="02000500000000000000" pitchFamily="2" charset="-122"/>
              </a:rPr>
              <a:t>时间占</a:t>
            </a:r>
            <a:r>
              <a:rPr lang="en-GB" altLang="zh-CN" sz="2000" dirty="0">
                <a:cs typeface="宋体" panose="02000500000000000000" pitchFamily="2" charset="-122"/>
              </a:rPr>
              <a:t>30%</a:t>
            </a:r>
            <a:r>
              <a:rPr lang="zh-CN" altLang="en-GB" sz="2000" dirty="0">
                <a:cs typeface="宋体" panose="02000500000000000000" pitchFamily="2" charset="-122"/>
              </a:rPr>
              <a:t>以上，主要由于缺页例外处理造成</a:t>
            </a:r>
            <a:endParaRPr lang="zh-CN" altLang="en-GB" sz="20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en-GB" altLang="zh-CN" sz="2000" dirty="0">
                <a:cs typeface="宋体" panose="02000500000000000000" pitchFamily="2" charset="-122"/>
              </a:rPr>
              <a:t>TLB</a:t>
            </a:r>
            <a:r>
              <a:rPr lang="zh-CN" altLang="en-GB" sz="2000" dirty="0">
                <a:cs typeface="宋体" panose="02000500000000000000" pitchFamily="2" charset="-122"/>
              </a:rPr>
              <a:t>失效的概率远远小于</a:t>
            </a:r>
            <a:r>
              <a:rPr lang="en-GB" altLang="zh-CN" sz="2000" dirty="0">
                <a:cs typeface="宋体" panose="02000500000000000000" pitchFamily="2" charset="-122"/>
              </a:rPr>
              <a:t>Cache</a:t>
            </a:r>
            <a:r>
              <a:rPr lang="zh-CN" altLang="en-GB" sz="2000" dirty="0">
                <a:cs typeface="宋体" panose="02000500000000000000" pitchFamily="2" charset="-122"/>
              </a:rPr>
              <a:t>失效的概率，但由于失效开销大，仍成为系统瓶颈</a:t>
            </a:r>
            <a:endParaRPr lang="zh-CN" altLang="en-GB" sz="2000" dirty="0">
              <a:cs typeface="宋体" panose="02000500000000000000" pitchFamily="2" charset="-122"/>
            </a:endParaRPr>
          </a:p>
        </p:txBody>
      </p:sp>
      <p:grpSp>
        <p:nvGrpSpPr>
          <p:cNvPr id="34821" name="Group 3"/>
          <p:cNvGrpSpPr/>
          <p:nvPr/>
        </p:nvGrpSpPr>
        <p:grpSpPr>
          <a:xfrm>
            <a:off x="889000" y="3811588"/>
            <a:ext cx="10363200" cy="2689225"/>
            <a:chOff x="503" y="2401"/>
            <a:chExt cx="5859" cy="1694"/>
          </a:xfrm>
        </p:grpSpPr>
        <p:sp>
          <p:nvSpPr>
            <p:cNvPr id="34822" name="Rectangle 4"/>
            <p:cNvSpPr/>
            <p:nvPr/>
          </p:nvSpPr>
          <p:spPr>
            <a:xfrm>
              <a:off x="5161" y="3941"/>
              <a:ext cx="1201" cy="15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2,526,992</a:t>
              </a:r>
              <a:endParaRPr lang="en-GB" altLang="zh-CN" sz="1600" dirty="0">
                <a:solidFill>
                  <a:srgbClr val="000000"/>
                </a:solidFill>
                <a:latin typeface="Times New Roman" pitchFamily="18" charset="0"/>
              </a:endParaRPr>
            </a:p>
          </p:txBody>
        </p:sp>
        <p:sp>
          <p:nvSpPr>
            <p:cNvPr id="34823" name="Rectangle 5"/>
            <p:cNvSpPr/>
            <p:nvPr/>
          </p:nvSpPr>
          <p:spPr>
            <a:xfrm>
              <a:off x="3839" y="3941"/>
              <a:ext cx="1322"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30.44%</a:t>
              </a:r>
              <a:endParaRPr lang="en-GB" altLang="zh-CN" sz="1600" dirty="0">
                <a:solidFill>
                  <a:srgbClr val="000000"/>
                </a:solidFill>
                <a:latin typeface="Times New Roman" pitchFamily="18" charset="0"/>
              </a:endParaRPr>
            </a:p>
          </p:txBody>
        </p:sp>
        <p:sp>
          <p:nvSpPr>
            <p:cNvPr id="34824" name="Rectangle 6"/>
            <p:cNvSpPr/>
            <p:nvPr/>
          </p:nvSpPr>
          <p:spPr>
            <a:xfrm>
              <a:off x="2649" y="3941"/>
              <a:ext cx="1191"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326,063,247</a:t>
              </a:r>
              <a:endParaRPr lang="en-GB" altLang="zh-CN" sz="1600" dirty="0">
                <a:solidFill>
                  <a:srgbClr val="000000"/>
                </a:solidFill>
                <a:latin typeface="Times New Roman" pitchFamily="18" charset="0"/>
              </a:endParaRPr>
            </a:p>
          </p:txBody>
        </p:sp>
        <p:sp>
          <p:nvSpPr>
            <p:cNvPr id="34825" name="Rectangle 7"/>
            <p:cNvSpPr/>
            <p:nvPr/>
          </p:nvSpPr>
          <p:spPr>
            <a:xfrm>
              <a:off x="1375" y="3941"/>
              <a:ext cx="1274"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1,071,228,969</a:t>
              </a:r>
              <a:endParaRPr lang="en-GB" altLang="zh-CN" sz="1600" dirty="0">
                <a:solidFill>
                  <a:srgbClr val="000000"/>
                </a:solidFill>
                <a:latin typeface="Times New Roman" pitchFamily="18" charset="0"/>
              </a:endParaRPr>
            </a:p>
          </p:txBody>
        </p:sp>
        <p:sp>
          <p:nvSpPr>
            <p:cNvPr id="34826" name="Rectangle 8"/>
            <p:cNvSpPr/>
            <p:nvPr/>
          </p:nvSpPr>
          <p:spPr>
            <a:xfrm>
              <a:off x="503" y="3941"/>
              <a:ext cx="873" cy="15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Bzip</a:t>
              </a:r>
              <a:endParaRPr lang="en-GB" altLang="zh-CN" sz="1600" dirty="0">
                <a:solidFill>
                  <a:srgbClr val="000000"/>
                </a:solidFill>
                <a:latin typeface="Times New Roman" pitchFamily="18" charset="0"/>
              </a:endParaRPr>
            </a:p>
          </p:txBody>
        </p:sp>
        <p:sp>
          <p:nvSpPr>
            <p:cNvPr id="34827" name="Rectangle 9"/>
            <p:cNvSpPr/>
            <p:nvPr/>
          </p:nvSpPr>
          <p:spPr>
            <a:xfrm>
              <a:off x="5161" y="3787"/>
              <a:ext cx="1201" cy="15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1,412,038</a:t>
              </a:r>
              <a:endParaRPr lang="en-GB" altLang="zh-CN" sz="1600" dirty="0">
                <a:solidFill>
                  <a:srgbClr val="000000"/>
                </a:solidFill>
                <a:latin typeface="Times New Roman" pitchFamily="18" charset="0"/>
              </a:endParaRPr>
            </a:p>
          </p:txBody>
        </p:sp>
        <p:sp>
          <p:nvSpPr>
            <p:cNvPr id="34828" name="Rectangle 10"/>
            <p:cNvSpPr/>
            <p:nvPr/>
          </p:nvSpPr>
          <p:spPr>
            <a:xfrm>
              <a:off x="3839" y="3787"/>
              <a:ext cx="1322"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20.02%</a:t>
              </a:r>
              <a:endParaRPr lang="en-GB" altLang="zh-CN" sz="1600" dirty="0">
                <a:solidFill>
                  <a:srgbClr val="000000"/>
                </a:solidFill>
                <a:latin typeface="Times New Roman" pitchFamily="18" charset="0"/>
              </a:endParaRPr>
            </a:p>
          </p:txBody>
        </p:sp>
        <p:sp>
          <p:nvSpPr>
            <p:cNvPr id="34829" name="Rectangle 11"/>
            <p:cNvSpPr/>
            <p:nvPr/>
          </p:nvSpPr>
          <p:spPr>
            <a:xfrm>
              <a:off x="2649" y="3787"/>
              <a:ext cx="1191"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214,648,139</a:t>
              </a:r>
              <a:endParaRPr lang="en-GB" altLang="zh-CN" sz="1600" dirty="0">
                <a:solidFill>
                  <a:srgbClr val="000000"/>
                </a:solidFill>
                <a:latin typeface="Times New Roman" pitchFamily="18" charset="0"/>
              </a:endParaRPr>
            </a:p>
          </p:txBody>
        </p:sp>
        <p:sp>
          <p:nvSpPr>
            <p:cNvPr id="34830" name="Rectangle 12"/>
            <p:cNvSpPr/>
            <p:nvPr/>
          </p:nvSpPr>
          <p:spPr>
            <a:xfrm>
              <a:off x="1375" y="3787"/>
              <a:ext cx="1274"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1,072,127,164</a:t>
              </a:r>
              <a:endParaRPr lang="en-GB" altLang="zh-CN" sz="1600" dirty="0">
                <a:solidFill>
                  <a:srgbClr val="000000"/>
                </a:solidFill>
                <a:latin typeface="Times New Roman" pitchFamily="18" charset="0"/>
              </a:endParaRPr>
            </a:p>
          </p:txBody>
        </p:sp>
        <p:sp>
          <p:nvSpPr>
            <p:cNvPr id="34831" name="Rectangle 13"/>
            <p:cNvSpPr/>
            <p:nvPr/>
          </p:nvSpPr>
          <p:spPr>
            <a:xfrm>
              <a:off x="503" y="3787"/>
              <a:ext cx="873" cy="15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Vortex</a:t>
              </a:r>
              <a:endParaRPr lang="en-GB" altLang="zh-CN" sz="1600" dirty="0">
                <a:solidFill>
                  <a:srgbClr val="000000"/>
                </a:solidFill>
                <a:latin typeface="Times New Roman" pitchFamily="18" charset="0"/>
              </a:endParaRPr>
            </a:p>
          </p:txBody>
        </p:sp>
        <p:sp>
          <p:nvSpPr>
            <p:cNvPr id="34832" name="Rectangle 14"/>
            <p:cNvSpPr/>
            <p:nvPr/>
          </p:nvSpPr>
          <p:spPr>
            <a:xfrm>
              <a:off x="5161" y="3633"/>
              <a:ext cx="1201" cy="15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1,305,843</a:t>
              </a:r>
              <a:endParaRPr lang="en-GB" altLang="zh-CN" sz="1600" dirty="0">
                <a:solidFill>
                  <a:srgbClr val="000000"/>
                </a:solidFill>
                <a:latin typeface="Times New Roman" pitchFamily="18" charset="0"/>
              </a:endParaRPr>
            </a:p>
          </p:txBody>
        </p:sp>
        <p:sp>
          <p:nvSpPr>
            <p:cNvPr id="34833" name="Rectangle 15"/>
            <p:cNvSpPr/>
            <p:nvPr/>
          </p:nvSpPr>
          <p:spPr>
            <a:xfrm>
              <a:off x="3839" y="3633"/>
              <a:ext cx="1322"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19.29%</a:t>
              </a:r>
              <a:endParaRPr lang="en-GB" altLang="zh-CN" sz="1600" dirty="0">
                <a:solidFill>
                  <a:srgbClr val="000000"/>
                </a:solidFill>
                <a:latin typeface="Times New Roman" pitchFamily="18" charset="0"/>
              </a:endParaRPr>
            </a:p>
          </p:txBody>
        </p:sp>
        <p:sp>
          <p:nvSpPr>
            <p:cNvPr id="34834" name="Rectangle 16"/>
            <p:cNvSpPr/>
            <p:nvPr/>
          </p:nvSpPr>
          <p:spPr>
            <a:xfrm>
              <a:off x="2649" y="3633"/>
              <a:ext cx="1191"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196,088,410</a:t>
              </a:r>
              <a:endParaRPr lang="en-GB" altLang="zh-CN" sz="1600" dirty="0">
                <a:solidFill>
                  <a:srgbClr val="000000"/>
                </a:solidFill>
                <a:latin typeface="Times New Roman" pitchFamily="18" charset="0"/>
              </a:endParaRPr>
            </a:p>
          </p:txBody>
        </p:sp>
        <p:sp>
          <p:nvSpPr>
            <p:cNvPr id="34835" name="Rectangle 17"/>
            <p:cNvSpPr/>
            <p:nvPr/>
          </p:nvSpPr>
          <p:spPr>
            <a:xfrm>
              <a:off x="1375" y="3633"/>
              <a:ext cx="1274"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1,071,869,442</a:t>
              </a:r>
              <a:endParaRPr lang="en-GB" altLang="zh-CN" sz="1600" dirty="0">
                <a:solidFill>
                  <a:srgbClr val="000000"/>
                </a:solidFill>
                <a:latin typeface="Times New Roman" pitchFamily="18" charset="0"/>
              </a:endParaRPr>
            </a:p>
          </p:txBody>
        </p:sp>
        <p:sp>
          <p:nvSpPr>
            <p:cNvPr id="34836" name="Rectangle 18"/>
            <p:cNvSpPr/>
            <p:nvPr/>
          </p:nvSpPr>
          <p:spPr>
            <a:xfrm>
              <a:off x="503" y="3633"/>
              <a:ext cx="873" cy="15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Mesa</a:t>
              </a:r>
              <a:endParaRPr lang="en-GB" altLang="zh-CN" sz="1600" dirty="0">
                <a:solidFill>
                  <a:srgbClr val="000000"/>
                </a:solidFill>
                <a:latin typeface="Times New Roman" pitchFamily="18" charset="0"/>
              </a:endParaRPr>
            </a:p>
          </p:txBody>
        </p:sp>
        <p:sp>
          <p:nvSpPr>
            <p:cNvPr id="34837" name="Rectangle 19"/>
            <p:cNvSpPr/>
            <p:nvPr/>
          </p:nvSpPr>
          <p:spPr>
            <a:xfrm>
              <a:off x="5161" y="3479"/>
              <a:ext cx="1201" cy="15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1,061,420</a:t>
              </a:r>
              <a:endParaRPr lang="en-GB" altLang="zh-CN" sz="1600" dirty="0">
                <a:solidFill>
                  <a:srgbClr val="000000"/>
                </a:solidFill>
                <a:latin typeface="Times New Roman" pitchFamily="18" charset="0"/>
              </a:endParaRPr>
            </a:p>
          </p:txBody>
        </p:sp>
        <p:sp>
          <p:nvSpPr>
            <p:cNvPr id="34838" name="Rectangle 20"/>
            <p:cNvSpPr/>
            <p:nvPr/>
          </p:nvSpPr>
          <p:spPr>
            <a:xfrm>
              <a:off x="3839" y="3479"/>
              <a:ext cx="1322"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11.67%</a:t>
              </a:r>
              <a:endParaRPr lang="en-GB" altLang="zh-CN" sz="1600" dirty="0">
                <a:solidFill>
                  <a:srgbClr val="000000"/>
                </a:solidFill>
                <a:latin typeface="Times New Roman" pitchFamily="18" charset="0"/>
              </a:endParaRPr>
            </a:p>
          </p:txBody>
        </p:sp>
        <p:sp>
          <p:nvSpPr>
            <p:cNvPr id="34839" name="Rectangle 21"/>
            <p:cNvSpPr/>
            <p:nvPr/>
          </p:nvSpPr>
          <p:spPr>
            <a:xfrm>
              <a:off x="2649" y="3479"/>
              <a:ext cx="1191"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125,172,455</a:t>
              </a:r>
              <a:endParaRPr lang="en-GB" altLang="zh-CN" sz="1600" dirty="0">
                <a:solidFill>
                  <a:srgbClr val="000000"/>
                </a:solidFill>
                <a:latin typeface="Times New Roman" pitchFamily="18" charset="0"/>
              </a:endParaRPr>
            </a:p>
          </p:txBody>
        </p:sp>
        <p:sp>
          <p:nvSpPr>
            <p:cNvPr id="34840" name="Rectangle 22"/>
            <p:cNvSpPr/>
            <p:nvPr/>
          </p:nvSpPr>
          <p:spPr>
            <a:xfrm>
              <a:off x="1375" y="3479"/>
              <a:ext cx="1274"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1,072,161,097</a:t>
              </a:r>
              <a:endParaRPr lang="en-GB" altLang="zh-CN" sz="1600" dirty="0">
                <a:solidFill>
                  <a:srgbClr val="000000"/>
                </a:solidFill>
                <a:latin typeface="Times New Roman" pitchFamily="18" charset="0"/>
              </a:endParaRPr>
            </a:p>
          </p:txBody>
        </p:sp>
        <p:sp>
          <p:nvSpPr>
            <p:cNvPr id="34841" name="Rectangle 23"/>
            <p:cNvSpPr/>
            <p:nvPr/>
          </p:nvSpPr>
          <p:spPr>
            <a:xfrm>
              <a:off x="503" y="3479"/>
              <a:ext cx="873" cy="15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Crafty</a:t>
              </a:r>
              <a:endParaRPr lang="en-GB" altLang="zh-CN" sz="1600" dirty="0">
                <a:solidFill>
                  <a:srgbClr val="000000"/>
                </a:solidFill>
                <a:latin typeface="Times New Roman" pitchFamily="18" charset="0"/>
              </a:endParaRPr>
            </a:p>
          </p:txBody>
        </p:sp>
        <p:sp>
          <p:nvSpPr>
            <p:cNvPr id="34842" name="Rectangle 24"/>
            <p:cNvSpPr/>
            <p:nvPr/>
          </p:nvSpPr>
          <p:spPr>
            <a:xfrm>
              <a:off x="5161" y="3325"/>
              <a:ext cx="1201" cy="15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557,814</a:t>
              </a:r>
              <a:endParaRPr lang="en-GB" altLang="zh-CN" sz="1600" dirty="0">
                <a:solidFill>
                  <a:srgbClr val="000000"/>
                </a:solidFill>
                <a:latin typeface="Times New Roman" pitchFamily="18" charset="0"/>
              </a:endParaRPr>
            </a:p>
          </p:txBody>
        </p:sp>
        <p:sp>
          <p:nvSpPr>
            <p:cNvPr id="34843" name="Rectangle 25"/>
            <p:cNvSpPr/>
            <p:nvPr/>
          </p:nvSpPr>
          <p:spPr>
            <a:xfrm>
              <a:off x="3839" y="3325"/>
              <a:ext cx="1322"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9.26%</a:t>
              </a:r>
              <a:endParaRPr lang="en-GB" altLang="zh-CN" sz="1600" dirty="0">
                <a:solidFill>
                  <a:srgbClr val="000000"/>
                </a:solidFill>
                <a:latin typeface="Times New Roman" pitchFamily="18" charset="0"/>
              </a:endParaRPr>
            </a:p>
          </p:txBody>
        </p:sp>
        <p:sp>
          <p:nvSpPr>
            <p:cNvPr id="34844" name="Rectangle 26"/>
            <p:cNvSpPr/>
            <p:nvPr/>
          </p:nvSpPr>
          <p:spPr>
            <a:xfrm>
              <a:off x="2649" y="3325"/>
              <a:ext cx="1191"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63,143,562</a:t>
              </a:r>
              <a:endParaRPr lang="en-GB" altLang="zh-CN" sz="1600" dirty="0">
                <a:solidFill>
                  <a:srgbClr val="000000"/>
                </a:solidFill>
                <a:latin typeface="Times New Roman" pitchFamily="18" charset="0"/>
              </a:endParaRPr>
            </a:p>
          </p:txBody>
        </p:sp>
        <p:sp>
          <p:nvSpPr>
            <p:cNvPr id="34845" name="Rectangle 27"/>
            <p:cNvSpPr/>
            <p:nvPr/>
          </p:nvSpPr>
          <p:spPr>
            <a:xfrm>
              <a:off x="1375" y="3325"/>
              <a:ext cx="1274"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681,765,369</a:t>
              </a:r>
              <a:endParaRPr lang="en-GB" altLang="zh-CN" sz="1600" dirty="0">
                <a:solidFill>
                  <a:srgbClr val="000000"/>
                </a:solidFill>
                <a:latin typeface="Times New Roman" pitchFamily="18" charset="0"/>
              </a:endParaRPr>
            </a:p>
          </p:txBody>
        </p:sp>
        <p:sp>
          <p:nvSpPr>
            <p:cNvPr id="34846" name="Rectangle 28"/>
            <p:cNvSpPr/>
            <p:nvPr/>
          </p:nvSpPr>
          <p:spPr>
            <a:xfrm>
              <a:off x="503" y="3325"/>
              <a:ext cx="873" cy="15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Mcf</a:t>
              </a:r>
              <a:endParaRPr lang="en-GB" altLang="zh-CN" sz="1600" dirty="0">
                <a:solidFill>
                  <a:srgbClr val="000000"/>
                </a:solidFill>
                <a:latin typeface="Times New Roman" pitchFamily="18" charset="0"/>
              </a:endParaRPr>
            </a:p>
          </p:txBody>
        </p:sp>
        <p:sp>
          <p:nvSpPr>
            <p:cNvPr id="34847" name="Rectangle 29"/>
            <p:cNvSpPr/>
            <p:nvPr/>
          </p:nvSpPr>
          <p:spPr>
            <a:xfrm>
              <a:off x="5161" y="3171"/>
              <a:ext cx="1201" cy="15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284,122</a:t>
              </a:r>
              <a:endParaRPr lang="en-GB" altLang="zh-CN" sz="1600" dirty="0">
                <a:solidFill>
                  <a:srgbClr val="000000"/>
                </a:solidFill>
                <a:latin typeface="Times New Roman" pitchFamily="18" charset="0"/>
              </a:endParaRPr>
            </a:p>
          </p:txBody>
        </p:sp>
        <p:sp>
          <p:nvSpPr>
            <p:cNvPr id="34848" name="Rectangle 30"/>
            <p:cNvSpPr/>
            <p:nvPr/>
          </p:nvSpPr>
          <p:spPr>
            <a:xfrm>
              <a:off x="3839" y="3171"/>
              <a:ext cx="1322"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6.81%</a:t>
              </a:r>
              <a:endParaRPr lang="en-GB" altLang="zh-CN" sz="1600" dirty="0">
                <a:solidFill>
                  <a:srgbClr val="000000"/>
                </a:solidFill>
                <a:latin typeface="Times New Roman" pitchFamily="18" charset="0"/>
              </a:endParaRPr>
            </a:p>
          </p:txBody>
        </p:sp>
        <p:sp>
          <p:nvSpPr>
            <p:cNvPr id="34849" name="Rectangle 31"/>
            <p:cNvSpPr/>
            <p:nvPr/>
          </p:nvSpPr>
          <p:spPr>
            <a:xfrm>
              <a:off x="2649" y="3171"/>
              <a:ext cx="1191"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73,025,370</a:t>
              </a:r>
              <a:endParaRPr lang="en-GB" altLang="zh-CN" sz="1600" dirty="0">
                <a:solidFill>
                  <a:srgbClr val="000000"/>
                </a:solidFill>
                <a:latin typeface="Times New Roman" pitchFamily="18" charset="0"/>
              </a:endParaRPr>
            </a:p>
          </p:txBody>
        </p:sp>
        <p:sp>
          <p:nvSpPr>
            <p:cNvPr id="34850" name="Rectangle 32"/>
            <p:cNvSpPr/>
            <p:nvPr/>
          </p:nvSpPr>
          <p:spPr>
            <a:xfrm>
              <a:off x="1375" y="3171"/>
              <a:ext cx="1274"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1,072,539,177</a:t>
              </a:r>
              <a:endParaRPr lang="en-GB" altLang="zh-CN" sz="1600" dirty="0">
                <a:solidFill>
                  <a:srgbClr val="000000"/>
                </a:solidFill>
                <a:latin typeface="Times New Roman" pitchFamily="18" charset="0"/>
              </a:endParaRPr>
            </a:p>
          </p:txBody>
        </p:sp>
        <p:sp>
          <p:nvSpPr>
            <p:cNvPr id="34851" name="Rectangle 33"/>
            <p:cNvSpPr/>
            <p:nvPr/>
          </p:nvSpPr>
          <p:spPr>
            <a:xfrm>
              <a:off x="503" y="3171"/>
              <a:ext cx="873" cy="15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Gcc</a:t>
              </a:r>
              <a:endParaRPr lang="en-GB" altLang="zh-CN" sz="1600" dirty="0">
                <a:solidFill>
                  <a:srgbClr val="000000"/>
                </a:solidFill>
                <a:latin typeface="Times New Roman" pitchFamily="18" charset="0"/>
              </a:endParaRPr>
            </a:p>
          </p:txBody>
        </p:sp>
        <p:sp>
          <p:nvSpPr>
            <p:cNvPr id="34852" name="Rectangle 34"/>
            <p:cNvSpPr/>
            <p:nvPr/>
          </p:nvSpPr>
          <p:spPr>
            <a:xfrm>
              <a:off x="5161" y="3017"/>
              <a:ext cx="1201" cy="15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107,727</a:t>
              </a:r>
              <a:endParaRPr lang="en-GB" altLang="zh-CN" sz="1600" dirty="0">
                <a:solidFill>
                  <a:srgbClr val="000000"/>
                </a:solidFill>
                <a:latin typeface="Times New Roman" pitchFamily="18" charset="0"/>
              </a:endParaRPr>
            </a:p>
          </p:txBody>
        </p:sp>
        <p:sp>
          <p:nvSpPr>
            <p:cNvPr id="34853" name="Rectangle 35"/>
            <p:cNvSpPr/>
            <p:nvPr/>
          </p:nvSpPr>
          <p:spPr>
            <a:xfrm>
              <a:off x="3839" y="3017"/>
              <a:ext cx="1322"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6.42%</a:t>
              </a:r>
              <a:endParaRPr lang="en-GB" altLang="zh-CN" sz="1600" dirty="0">
                <a:solidFill>
                  <a:srgbClr val="000000"/>
                </a:solidFill>
                <a:latin typeface="Times New Roman" pitchFamily="18" charset="0"/>
              </a:endParaRPr>
            </a:p>
          </p:txBody>
        </p:sp>
        <p:sp>
          <p:nvSpPr>
            <p:cNvPr id="34854" name="Rectangle 36"/>
            <p:cNvSpPr/>
            <p:nvPr/>
          </p:nvSpPr>
          <p:spPr>
            <a:xfrm>
              <a:off x="2649" y="3017"/>
              <a:ext cx="1191"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68,737,907</a:t>
              </a:r>
              <a:endParaRPr lang="en-GB" altLang="zh-CN" sz="1600" dirty="0">
                <a:solidFill>
                  <a:srgbClr val="000000"/>
                </a:solidFill>
                <a:latin typeface="Times New Roman" pitchFamily="18" charset="0"/>
              </a:endParaRPr>
            </a:p>
          </p:txBody>
        </p:sp>
        <p:sp>
          <p:nvSpPr>
            <p:cNvPr id="34855" name="Rectangle 37"/>
            <p:cNvSpPr/>
            <p:nvPr/>
          </p:nvSpPr>
          <p:spPr>
            <a:xfrm>
              <a:off x="1375" y="3017"/>
              <a:ext cx="1274"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1,071,008,004</a:t>
              </a:r>
              <a:endParaRPr lang="en-GB" altLang="zh-CN" sz="1600" dirty="0">
                <a:solidFill>
                  <a:srgbClr val="000000"/>
                </a:solidFill>
                <a:latin typeface="Times New Roman" pitchFamily="18" charset="0"/>
              </a:endParaRPr>
            </a:p>
          </p:txBody>
        </p:sp>
        <p:sp>
          <p:nvSpPr>
            <p:cNvPr id="34856" name="Rectangle 38"/>
            <p:cNvSpPr/>
            <p:nvPr/>
          </p:nvSpPr>
          <p:spPr>
            <a:xfrm>
              <a:off x="503" y="3017"/>
              <a:ext cx="873" cy="15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Equake</a:t>
              </a:r>
              <a:endParaRPr lang="en-GB" altLang="zh-CN" sz="1600" dirty="0">
                <a:solidFill>
                  <a:srgbClr val="000000"/>
                </a:solidFill>
                <a:latin typeface="Times New Roman" pitchFamily="18" charset="0"/>
              </a:endParaRPr>
            </a:p>
          </p:txBody>
        </p:sp>
        <p:sp>
          <p:nvSpPr>
            <p:cNvPr id="34857" name="Rectangle 39"/>
            <p:cNvSpPr/>
            <p:nvPr/>
          </p:nvSpPr>
          <p:spPr>
            <a:xfrm>
              <a:off x="5161" y="2863"/>
              <a:ext cx="1201" cy="15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98,976</a:t>
              </a:r>
              <a:endParaRPr lang="en-GB" altLang="zh-CN" sz="1600" dirty="0">
                <a:solidFill>
                  <a:srgbClr val="000000"/>
                </a:solidFill>
                <a:latin typeface="Times New Roman" pitchFamily="18" charset="0"/>
              </a:endParaRPr>
            </a:p>
          </p:txBody>
        </p:sp>
        <p:sp>
          <p:nvSpPr>
            <p:cNvPr id="34858" name="Rectangle 40"/>
            <p:cNvSpPr/>
            <p:nvPr/>
          </p:nvSpPr>
          <p:spPr>
            <a:xfrm>
              <a:off x="3839" y="2863"/>
              <a:ext cx="1322"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4.79%</a:t>
              </a:r>
              <a:endParaRPr lang="en-GB" altLang="zh-CN" sz="1600" dirty="0">
                <a:solidFill>
                  <a:srgbClr val="000000"/>
                </a:solidFill>
                <a:latin typeface="Times New Roman" pitchFamily="18" charset="0"/>
              </a:endParaRPr>
            </a:p>
          </p:txBody>
        </p:sp>
        <p:sp>
          <p:nvSpPr>
            <p:cNvPr id="34859" name="Rectangle 41"/>
            <p:cNvSpPr/>
            <p:nvPr/>
          </p:nvSpPr>
          <p:spPr>
            <a:xfrm>
              <a:off x="2649" y="2863"/>
              <a:ext cx="1191"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51,328,234</a:t>
              </a:r>
              <a:endParaRPr lang="en-GB" altLang="zh-CN" sz="1600" dirty="0">
                <a:solidFill>
                  <a:srgbClr val="000000"/>
                </a:solidFill>
                <a:latin typeface="Times New Roman" pitchFamily="18" charset="0"/>
              </a:endParaRPr>
            </a:p>
          </p:txBody>
        </p:sp>
        <p:sp>
          <p:nvSpPr>
            <p:cNvPr id="34860" name="Rectangle 42"/>
            <p:cNvSpPr/>
            <p:nvPr/>
          </p:nvSpPr>
          <p:spPr>
            <a:xfrm>
              <a:off x="1375" y="2863"/>
              <a:ext cx="1274"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1,071,248,381</a:t>
              </a:r>
              <a:endParaRPr lang="en-GB" altLang="zh-CN" sz="1600" dirty="0">
                <a:solidFill>
                  <a:srgbClr val="000000"/>
                </a:solidFill>
                <a:latin typeface="Times New Roman" pitchFamily="18" charset="0"/>
              </a:endParaRPr>
            </a:p>
          </p:txBody>
        </p:sp>
        <p:sp>
          <p:nvSpPr>
            <p:cNvPr id="34861" name="Rectangle 43"/>
            <p:cNvSpPr/>
            <p:nvPr/>
          </p:nvSpPr>
          <p:spPr>
            <a:xfrm>
              <a:off x="503" y="2863"/>
              <a:ext cx="873" cy="15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Parser</a:t>
              </a:r>
              <a:endParaRPr lang="en-GB" altLang="zh-CN" sz="1600" dirty="0">
                <a:solidFill>
                  <a:srgbClr val="000000"/>
                </a:solidFill>
                <a:latin typeface="Times New Roman" pitchFamily="18" charset="0"/>
              </a:endParaRPr>
            </a:p>
          </p:txBody>
        </p:sp>
        <p:sp>
          <p:nvSpPr>
            <p:cNvPr id="34862" name="Rectangle 44"/>
            <p:cNvSpPr/>
            <p:nvPr/>
          </p:nvSpPr>
          <p:spPr>
            <a:xfrm>
              <a:off x="5161" y="2709"/>
              <a:ext cx="1201" cy="15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2,147</a:t>
              </a:r>
              <a:endParaRPr lang="en-GB" altLang="zh-CN" sz="1600" dirty="0">
                <a:solidFill>
                  <a:srgbClr val="000000"/>
                </a:solidFill>
                <a:latin typeface="Times New Roman" pitchFamily="18" charset="0"/>
              </a:endParaRPr>
            </a:p>
          </p:txBody>
        </p:sp>
        <p:sp>
          <p:nvSpPr>
            <p:cNvPr id="34863" name="Rectangle 45"/>
            <p:cNvSpPr/>
            <p:nvPr/>
          </p:nvSpPr>
          <p:spPr>
            <a:xfrm>
              <a:off x="3839" y="2709"/>
              <a:ext cx="1322"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0.90%</a:t>
              </a:r>
              <a:endParaRPr lang="en-GB" altLang="zh-CN" sz="1600" dirty="0">
                <a:solidFill>
                  <a:srgbClr val="000000"/>
                </a:solidFill>
                <a:latin typeface="Times New Roman" pitchFamily="18" charset="0"/>
              </a:endParaRPr>
            </a:p>
          </p:txBody>
        </p:sp>
        <p:sp>
          <p:nvSpPr>
            <p:cNvPr id="34864" name="Rectangle 46"/>
            <p:cNvSpPr/>
            <p:nvPr/>
          </p:nvSpPr>
          <p:spPr>
            <a:xfrm>
              <a:off x="2649" y="2709"/>
              <a:ext cx="1191"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8,478,817</a:t>
              </a:r>
              <a:endParaRPr lang="en-GB" altLang="zh-CN" sz="1600" dirty="0">
                <a:solidFill>
                  <a:srgbClr val="000000"/>
                </a:solidFill>
                <a:latin typeface="Times New Roman" pitchFamily="18" charset="0"/>
              </a:endParaRPr>
            </a:p>
          </p:txBody>
        </p:sp>
        <p:sp>
          <p:nvSpPr>
            <p:cNvPr id="34865" name="Rectangle 47"/>
            <p:cNvSpPr/>
            <p:nvPr/>
          </p:nvSpPr>
          <p:spPr>
            <a:xfrm>
              <a:off x="1375" y="2709"/>
              <a:ext cx="1274" cy="154"/>
            </a:xfrm>
            <a:prstGeom prst="rect">
              <a:avLst/>
            </a:prstGeom>
            <a:noFill/>
            <a:ln w="9525">
              <a:noFill/>
            </a:ln>
          </p:spPr>
          <p:txBody>
            <a:bodyPr lIns="18000" tIns="0" rIns="18000" bIns="0" anchor="ctr" anchorCtr="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941,904,123</a:t>
              </a:r>
              <a:endParaRPr lang="en-GB" altLang="zh-CN" sz="1600" dirty="0">
                <a:solidFill>
                  <a:srgbClr val="000000"/>
                </a:solidFill>
                <a:latin typeface="Times New Roman" pitchFamily="18" charset="0"/>
              </a:endParaRPr>
            </a:p>
          </p:txBody>
        </p:sp>
        <p:sp>
          <p:nvSpPr>
            <p:cNvPr id="34866" name="Rectangle 48"/>
            <p:cNvSpPr/>
            <p:nvPr/>
          </p:nvSpPr>
          <p:spPr>
            <a:xfrm>
              <a:off x="503" y="2709"/>
              <a:ext cx="873" cy="154"/>
            </a:xfrm>
            <a:prstGeom prst="rect">
              <a:avLst/>
            </a:prstGeom>
            <a:noFill/>
            <a:ln w="9525">
              <a:noFill/>
            </a:ln>
          </p:spPr>
          <p:txBody>
            <a:bodyPr lIns="18000" tIns="0" rIns="18000" bIns="0" anchor="ctr" anchorCtr="0"/>
            <a:p>
              <a:pPr marL="338455" indent="-338455"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Eon</a:t>
              </a:r>
              <a:endParaRPr lang="en-GB" altLang="zh-CN" sz="1600" dirty="0">
                <a:solidFill>
                  <a:srgbClr val="000000"/>
                </a:solidFill>
                <a:latin typeface="Times New Roman" pitchFamily="18" charset="0"/>
              </a:endParaRPr>
            </a:p>
          </p:txBody>
        </p:sp>
        <p:sp>
          <p:nvSpPr>
            <p:cNvPr id="34867" name="Rectangle 49"/>
            <p:cNvSpPr/>
            <p:nvPr/>
          </p:nvSpPr>
          <p:spPr>
            <a:xfrm>
              <a:off x="5161" y="2555"/>
              <a:ext cx="1201" cy="15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TLB misses</a:t>
              </a:r>
              <a:endParaRPr lang="en-GB" altLang="zh-CN" sz="1600" dirty="0">
                <a:solidFill>
                  <a:srgbClr val="000000"/>
                </a:solidFill>
                <a:latin typeface="Times New Roman" pitchFamily="18" charset="0"/>
              </a:endParaRPr>
            </a:p>
          </p:txBody>
        </p:sp>
        <p:sp>
          <p:nvSpPr>
            <p:cNvPr id="34868" name="Rectangle 50"/>
            <p:cNvSpPr/>
            <p:nvPr/>
          </p:nvSpPr>
          <p:spPr>
            <a:xfrm>
              <a:off x="3839" y="2555"/>
              <a:ext cx="1322" cy="15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OS percentage</a:t>
              </a:r>
              <a:endParaRPr lang="en-GB" altLang="zh-CN" sz="1600" dirty="0">
                <a:solidFill>
                  <a:srgbClr val="000000"/>
                </a:solidFill>
                <a:latin typeface="Times New Roman" pitchFamily="18" charset="0"/>
              </a:endParaRPr>
            </a:p>
          </p:txBody>
        </p:sp>
        <p:sp>
          <p:nvSpPr>
            <p:cNvPr id="34869" name="Rectangle 51"/>
            <p:cNvSpPr/>
            <p:nvPr/>
          </p:nvSpPr>
          <p:spPr>
            <a:xfrm>
              <a:off x="2649" y="2555"/>
              <a:ext cx="1191" cy="15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OS cycles</a:t>
              </a:r>
              <a:endParaRPr lang="en-GB" altLang="zh-CN" sz="1600" dirty="0">
                <a:solidFill>
                  <a:srgbClr val="000000"/>
                </a:solidFill>
                <a:latin typeface="Times New Roman" pitchFamily="18" charset="0"/>
              </a:endParaRPr>
            </a:p>
          </p:txBody>
        </p:sp>
        <p:sp>
          <p:nvSpPr>
            <p:cNvPr id="34870" name="Rectangle 52"/>
            <p:cNvSpPr/>
            <p:nvPr/>
          </p:nvSpPr>
          <p:spPr>
            <a:xfrm>
              <a:off x="1375" y="2555"/>
              <a:ext cx="1274" cy="15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600" dirty="0">
                  <a:solidFill>
                    <a:srgbClr val="000000"/>
                  </a:solidFill>
                  <a:latin typeface="Times New Roman" pitchFamily="18" charset="0"/>
                </a:rPr>
                <a:t>Total cycles</a:t>
              </a:r>
              <a:endParaRPr lang="en-GB" altLang="zh-CN" sz="1600" dirty="0">
                <a:solidFill>
                  <a:srgbClr val="000000"/>
                </a:solidFill>
                <a:latin typeface="Times New Roman" pitchFamily="18" charset="0"/>
              </a:endParaRPr>
            </a:p>
          </p:txBody>
        </p:sp>
        <p:sp>
          <p:nvSpPr>
            <p:cNvPr id="34871" name="Rectangle 53"/>
            <p:cNvSpPr/>
            <p:nvPr/>
          </p:nvSpPr>
          <p:spPr>
            <a:xfrm>
              <a:off x="503" y="2555"/>
              <a:ext cx="873" cy="154"/>
            </a:xfrm>
            <a:prstGeom prst="rect">
              <a:avLst/>
            </a:prstGeom>
            <a:noFill/>
            <a:ln w="9525">
              <a:noFill/>
            </a:ln>
          </p:spPr>
          <p:txBody>
            <a:bodyPr wrap="none" anchor="ctr" anchorCtr="0"/>
            <a:p>
              <a:endParaRPr lang="zh-CN" altLang="en-US" dirty="0">
                <a:latin typeface="Times New Roman" pitchFamily="18" charset="0"/>
              </a:endParaRPr>
            </a:p>
          </p:txBody>
        </p:sp>
        <p:sp>
          <p:nvSpPr>
            <p:cNvPr id="34872" name="Rectangle 54"/>
            <p:cNvSpPr/>
            <p:nvPr/>
          </p:nvSpPr>
          <p:spPr>
            <a:xfrm>
              <a:off x="503" y="2401"/>
              <a:ext cx="5860" cy="15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 pos="5791200" algn="l"/>
                  <a:tab pos="6515100" algn="l"/>
                  <a:tab pos="7239000" algn="l"/>
                  <a:tab pos="7962900" algn="l"/>
                  <a:tab pos="8686800" algn="l"/>
                </a:tabLst>
              </a:pPr>
              <a:r>
                <a:rPr lang="en-GB" altLang="zh-CN" sz="1600" dirty="0">
                  <a:solidFill>
                    <a:srgbClr val="000000"/>
                  </a:solidFill>
                  <a:latin typeface="Times New Roman" pitchFamily="18" charset="0"/>
                </a:rPr>
                <a:t>Table 4. Operating System Overhead for part of SPEC CPU2000 programs</a:t>
              </a:r>
              <a:endParaRPr lang="en-GB" altLang="zh-CN" sz="1600" dirty="0">
                <a:solidFill>
                  <a:srgbClr val="000000"/>
                </a:solidFill>
                <a:latin typeface="Times New Roman" pitchFamily="18" charset="0"/>
              </a:endParaRPr>
            </a:p>
          </p:txBody>
        </p:sp>
        <p:sp>
          <p:nvSpPr>
            <p:cNvPr id="34873" name="Line 55"/>
            <p:cNvSpPr/>
            <p:nvPr/>
          </p:nvSpPr>
          <p:spPr>
            <a:xfrm>
              <a:off x="503" y="2401"/>
              <a:ext cx="5860" cy="1"/>
            </a:xfrm>
            <a:prstGeom prst="line">
              <a:avLst/>
            </a:prstGeom>
            <a:ln w="9360" cap="flat" cmpd="sng">
              <a:solidFill>
                <a:srgbClr val="000000"/>
              </a:solidFill>
              <a:prstDash val="solid"/>
              <a:miter/>
              <a:headEnd type="none" w="med" len="med"/>
              <a:tailEnd type="none" w="med" len="med"/>
            </a:ln>
          </p:spPr>
        </p:sp>
        <p:sp>
          <p:nvSpPr>
            <p:cNvPr id="34874" name="Line 56"/>
            <p:cNvSpPr/>
            <p:nvPr/>
          </p:nvSpPr>
          <p:spPr>
            <a:xfrm>
              <a:off x="503" y="4095"/>
              <a:ext cx="5860" cy="1"/>
            </a:xfrm>
            <a:prstGeom prst="line">
              <a:avLst/>
            </a:prstGeom>
            <a:ln w="12600" cap="flat" cmpd="sng">
              <a:solidFill>
                <a:srgbClr val="000000"/>
              </a:solidFill>
              <a:prstDash val="solid"/>
              <a:miter/>
              <a:headEnd type="none" w="med" len="med"/>
              <a:tailEnd type="none" w="med" len="med"/>
            </a:ln>
          </p:spPr>
        </p:sp>
        <p:sp>
          <p:nvSpPr>
            <p:cNvPr id="34875" name="Line 57"/>
            <p:cNvSpPr/>
            <p:nvPr/>
          </p:nvSpPr>
          <p:spPr>
            <a:xfrm>
              <a:off x="503" y="2401"/>
              <a:ext cx="1" cy="154"/>
            </a:xfrm>
            <a:prstGeom prst="line">
              <a:avLst/>
            </a:prstGeom>
            <a:ln w="9360" cap="flat" cmpd="sng">
              <a:solidFill>
                <a:srgbClr val="000000"/>
              </a:solidFill>
              <a:prstDash val="solid"/>
              <a:miter/>
              <a:headEnd type="none" w="med" len="med"/>
              <a:tailEnd type="none" w="med" len="med"/>
            </a:ln>
          </p:spPr>
        </p:sp>
        <p:sp>
          <p:nvSpPr>
            <p:cNvPr id="34876" name="Line 58"/>
            <p:cNvSpPr/>
            <p:nvPr/>
          </p:nvSpPr>
          <p:spPr>
            <a:xfrm>
              <a:off x="6362" y="2401"/>
              <a:ext cx="1" cy="154"/>
            </a:xfrm>
            <a:prstGeom prst="line">
              <a:avLst/>
            </a:prstGeom>
            <a:ln w="9360" cap="flat" cmpd="sng">
              <a:solidFill>
                <a:srgbClr val="000000"/>
              </a:solidFill>
              <a:prstDash val="solid"/>
              <a:miter/>
              <a:headEnd type="none" w="med" len="med"/>
              <a:tailEnd type="none" w="med" len="med"/>
            </a:ln>
          </p:spPr>
        </p:sp>
        <p:sp>
          <p:nvSpPr>
            <p:cNvPr id="34877" name="Line 59"/>
            <p:cNvSpPr/>
            <p:nvPr/>
          </p:nvSpPr>
          <p:spPr>
            <a:xfrm>
              <a:off x="503" y="2555"/>
              <a:ext cx="5860" cy="1"/>
            </a:xfrm>
            <a:prstGeom prst="line">
              <a:avLst/>
            </a:prstGeom>
            <a:ln w="12600" cap="flat" cmpd="sng">
              <a:solidFill>
                <a:srgbClr val="000000"/>
              </a:solidFill>
              <a:prstDash val="solid"/>
              <a:miter/>
              <a:headEnd type="none" w="med" len="med"/>
              <a:tailEnd type="none" w="med" len="med"/>
            </a:ln>
          </p:spPr>
        </p:sp>
        <p:sp>
          <p:nvSpPr>
            <p:cNvPr id="34878" name="Line 60"/>
            <p:cNvSpPr/>
            <p:nvPr/>
          </p:nvSpPr>
          <p:spPr>
            <a:xfrm>
              <a:off x="503" y="2555"/>
              <a:ext cx="1" cy="1540"/>
            </a:xfrm>
            <a:prstGeom prst="line">
              <a:avLst/>
            </a:prstGeom>
            <a:ln w="12600" cap="flat" cmpd="sng">
              <a:solidFill>
                <a:srgbClr val="000000"/>
              </a:solidFill>
              <a:prstDash val="solid"/>
              <a:miter/>
              <a:headEnd type="none" w="med" len="med"/>
              <a:tailEnd type="none" w="med" len="med"/>
            </a:ln>
          </p:spPr>
        </p:sp>
        <p:sp>
          <p:nvSpPr>
            <p:cNvPr id="34879" name="Line 61"/>
            <p:cNvSpPr/>
            <p:nvPr/>
          </p:nvSpPr>
          <p:spPr>
            <a:xfrm>
              <a:off x="6362" y="2555"/>
              <a:ext cx="1" cy="1540"/>
            </a:xfrm>
            <a:prstGeom prst="line">
              <a:avLst/>
            </a:prstGeom>
            <a:ln w="12600" cap="flat" cmpd="sng">
              <a:solidFill>
                <a:srgbClr val="000000"/>
              </a:solidFill>
              <a:prstDash val="solid"/>
              <a:miter/>
              <a:headEnd type="none" w="med" len="med"/>
              <a:tailEnd type="none" w="med" len="med"/>
            </a:ln>
          </p:spPr>
        </p:sp>
        <p:sp>
          <p:nvSpPr>
            <p:cNvPr id="34880" name="Line 62"/>
            <p:cNvSpPr/>
            <p:nvPr/>
          </p:nvSpPr>
          <p:spPr>
            <a:xfrm>
              <a:off x="503" y="2709"/>
              <a:ext cx="5860" cy="1"/>
            </a:xfrm>
            <a:prstGeom prst="line">
              <a:avLst/>
            </a:prstGeom>
            <a:ln w="12600" cap="flat" cmpd="sng">
              <a:solidFill>
                <a:srgbClr val="000000"/>
              </a:solidFill>
              <a:prstDash val="solid"/>
              <a:miter/>
              <a:headEnd type="none" w="med" len="med"/>
              <a:tailEnd type="none" w="med" len="med"/>
            </a:ln>
          </p:spPr>
        </p:sp>
        <p:sp>
          <p:nvSpPr>
            <p:cNvPr id="34881" name="Line 63"/>
            <p:cNvSpPr/>
            <p:nvPr/>
          </p:nvSpPr>
          <p:spPr>
            <a:xfrm>
              <a:off x="1375" y="2555"/>
              <a:ext cx="1" cy="1540"/>
            </a:xfrm>
            <a:prstGeom prst="line">
              <a:avLst/>
            </a:prstGeom>
            <a:ln w="12600" cap="flat" cmpd="sng">
              <a:solidFill>
                <a:srgbClr val="000000"/>
              </a:solidFill>
              <a:prstDash val="solid"/>
              <a:miter/>
              <a:headEnd type="none" w="med" len="med"/>
              <a:tailEnd type="none" w="med" len="med"/>
            </a:ln>
          </p:spPr>
        </p:sp>
        <p:sp>
          <p:nvSpPr>
            <p:cNvPr id="34882" name="Line 64"/>
            <p:cNvSpPr/>
            <p:nvPr/>
          </p:nvSpPr>
          <p:spPr>
            <a:xfrm>
              <a:off x="2649" y="2555"/>
              <a:ext cx="1" cy="1540"/>
            </a:xfrm>
            <a:prstGeom prst="line">
              <a:avLst/>
            </a:prstGeom>
            <a:ln w="12600" cap="flat" cmpd="sng">
              <a:solidFill>
                <a:srgbClr val="000000"/>
              </a:solidFill>
              <a:prstDash val="solid"/>
              <a:miter/>
              <a:headEnd type="none" w="med" len="med"/>
              <a:tailEnd type="none" w="med" len="med"/>
            </a:ln>
          </p:spPr>
        </p:sp>
        <p:sp>
          <p:nvSpPr>
            <p:cNvPr id="34883" name="Line 65"/>
            <p:cNvSpPr/>
            <p:nvPr/>
          </p:nvSpPr>
          <p:spPr>
            <a:xfrm>
              <a:off x="3839" y="2555"/>
              <a:ext cx="1" cy="1540"/>
            </a:xfrm>
            <a:prstGeom prst="line">
              <a:avLst/>
            </a:prstGeom>
            <a:ln w="12600" cap="flat" cmpd="sng">
              <a:solidFill>
                <a:srgbClr val="000000"/>
              </a:solidFill>
              <a:prstDash val="solid"/>
              <a:miter/>
              <a:headEnd type="none" w="med" len="med"/>
              <a:tailEnd type="none" w="med" len="med"/>
            </a:ln>
          </p:spPr>
        </p:sp>
        <p:sp>
          <p:nvSpPr>
            <p:cNvPr id="34884" name="Line 66"/>
            <p:cNvSpPr/>
            <p:nvPr/>
          </p:nvSpPr>
          <p:spPr>
            <a:xfrm>
              <a:off x="5161" y="2555"/>
              <a:ext cx="1" cy="1540"/>
            </a:xfrm>
            <a:prstGeom prst="line">
              <a:avLst/>
            </a:prstGeom>
            <a:ln w="12600" cap="flat" cmpd="sng">
              <a:solidFill>
                <a:srgbClr val="000000"/>
              </a:solidFill>
              <a:prstDash val="solid"/>
              <a:miter/>
              <a:headEnd type="none" w="med" len="med"/>
              <a:tailEnd type="none" w="med" len="med"/>
            </a:ln>
          </p:spPr>
        </p:sp>
        <p:sp>
          <p:nvSpPr>
            <p:cNvPr id="34885" name="Line 67"/>
            <p:cNvSpPr/>
            <p:nvPr/>
          </p:nvSpPr>
          <p:spPr>
            <a:xfrm>
              <a:off x="503" y="2863"/>
              <a:ext cx="5860" cy="1"/>
            </a:xfrm>
            <a:prstGeom prst="line">
              <a:avLst/>
            </a:prstGeom>
            <a:ln w="12600" cap="flat" cmpd="sng">
              <a:solidFill>
                <a:srgbClr val="000000"/>
              </a:solidFill>
              <a:prstDash val="solid"/>
              <a:miter/>
              <a:headEnd type="none" w="med" len="med"/>
              <a:tailEnd type="none" w="med" len="med"/>
            </a:ln>
          </p:spPr>
        </p:sp>
        <p:sp>
          <p:nvSpPr>
            <p:cNvPr id="34886" name="Line 68"/>
            <p:cNvSpPr/>
            <p:nvPr/>
          </p:nvSpPr>
          <p:spPr>
            <a:xfrm>
              <a:off x="503" y="3017"/>
              <a:ext cx="5860" cy="1"/>
            </a:xfrm>
            <a:prstGeom prst="line">
              <a:avLst/>
            </a:prstGeom>
            <a:ln w="12600" cap="flat" cmpd="sng">
              <a:solidFill>
                <a:srgbClr val="000000"/>
              </a:solidFill>
              <a:prstDash val="solid"/>
              <a:miter/>
              <a:headEnd type="none" w="med" len="med"/>
              <a:tailEnd type="none" w="med" len="med"/>
            </a:ln>
          </p:spPr>
        </p:sp>
        <p:sp>
          <p:nvSpPr>
            <p:cNvPr id="34887" name="Line 69"/>
            <p:cNvSpPr/>
            <p:nvPr/>
          </p:nvSpPr>
          <p:spPr>
            <a:xfrm>
              <a:off x="503" y="3171"/>
              <a:ext cx="5860" cy="1"/>
            </a:xfrm>
            <a:prstGeom prst="line">
              <a:avLst/>
            </a:prstGeom>
            <a:ln w="12600" cap="flat" cmpd="sng">
              <a:solidFill>
                <a:srgbClr val="000000"/>
              </a:solidFill>
              <a:prstDash val="solid"/>
              <a:miter/>
              <a:headEnd type="none" w="med" len="med"/>
              <a:tailEnd type="none" w="med" len="med"/>
            </a:ln>
          </p:spPr>
        </p:sp>
        <p:sp>
          <p:nvSpPr>
            <p:cNvPr id="34888" name="Line 70"/>
            <p:cNvSpPr/>
            <p:nvPr/>
          </p:nvSpPr>
          <p:spPr>
            <a:xfrm>
              <a:off x="503" y="3325"/>
              <a:ext cx="5860" cy="1"/>
            </a:xfrm>
            <a:prstGeom prst="line">
              <a:avLst/>
            </a:prstGeom>
            <a:ln w="12600" cap="flat" cmpd="sng">
              <a:solidFill>
                <a:srgbClr val="000000"/>
              </a:solidFill>
              <a:prstDash val="solid"/>
              <a:miter/>
              <a:headEnd type="none" w="med" len="med"/>
              <a:tailEnd type="none" w="med" len="med"/>
            </a:ln>
          </p:spPr>
        </p:sp>
        <p:sp>
          <p:nvSpPr>
            <p:cNvPr id="34889" name="Line 71"/>
            <p:cNvSpPr/>
            <p:nvPr/>
          </p:nvSpPr>
          <p:spPr>
            <a:xfrm>
              <a:off x="503" y="3479"/>
              <a:ext cx="5860" cy="1"/>
            </a:xfrm>
            <a:prstGeom prst="line">
              <a:avLst/>
            </a:prstGeom>
            <a:ln w="12600" cap="flat" cmpd="sng">
              <a:solidFill>
                <a:srgbClr val="000000"/>
              </a:solidFill>
              <a:prstDash val="solid"/>
              <a:miter/>
              <a:headEnd type="none" w="med" len="med"/>
              <a:tailEnd type="none" w="med" len="med"/>
            </a:ln>
          </p:spPr>
        </p:sp>
        <p:sp>
          <p:nvSpPr>
            <p:cNvPr id="34890" name="Line 72"/>
            <p:cNvSpPr/>
            <p:nvPr/>
          </p:nvSpPr>
          <p:spPr>
            <a:xfrm>
              <a:off x="503" y="3633"/>
              <a:ext cx="5860" cy="1"/>
            </a:xfrm>
            <a:prstGeom prst="line">
              <a:avLst/>
            </a:prstGeom>
            <a:ln w="12600" cap="flat" cmpd="sng">
              <a:solidFill>
                <a:srgbClr val="000000"/>
              </a:solidFill>
              <a:prstDash val="solid"/>
              <a:miter/>
              <a:headEnd type="none" w="med" len="med"/>
              <a:tailEnd type="none" w="med" len="med"/>
            </a:ln>
          </p:spPr>
        </p:sp>
        <p:sp>
          <p:nvSpPr>
            <p:cNvPr id="34891" name="Line 73"/>
            <p:cNvSpPr/>
            <p:nvPr/>
          </p:nvSpPr>
          <p:spPr>
            <a:xfrm>
              <a:off x="503" y="3787"/>
              <a:ext cx="5860" cy="1"/>
            </a:xfrm>
            <a:prstGeom prst="line">
              <a:avLst/>
            </a:prstGeom>
            <a:ln w="12600" cap="flat" cmpd="sng">
              <a:solidFill>
                <a:srgbClr val="000000"/>
              </a:solidFill>
              <a:prstDash val="solid"/>
              <a:miter/>
              <a:headEnd type="none" w="med" len="med"/>
              <a:tailEnd type="none" w="med" len="med"/>
            </a:ln>
          </p:spPr>
        </p:sp>
        <p:sp>
          <p:nvSpPr>
            <p:cNvPr id="34892" name="Line 74"/>
            <p:cNvSpPr/>
            <p:nvPr/>
          </p:nvSpPr>
          <p:spPr>
            <a:xfrm>
              <a:off x="503" y="3941"/>
              <a:ext cx="5860" cy="1"/>
            </a:xfrm>
            <a:prstGeom prst="line">
              <a:avLst/>
            </a:prstGeom>
            <a:ln w="12600" cap="flat" cmpd="sng">
              <a:solidFill>
                <a:srgbClr val="000000"/>
              </a:solidFill>
              <a:prstDash val="solid"/>
              <a:miter/>
              <a:headEnd type="none" w="med" len="med"/>
              <a:tailEnd type="none" w="med" len="med"/>
            </a:ln>
          </p:spPr>
        </p:sp>
      </p:gr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4"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5125" name="Rectangle 1"/>
          <p:cNvSpPr/>
          <p:nvPr>
            <p:ph type="title"/>
          </p:nvPr>
        </p:nvSpPr>
        <p:spPr>
          <a:xfrm>
            <a:off x="896938" y="63500"/>
            <a:ext cx="10364787"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t>增加页大小后性能显著提高</a:t>
            </a:r>
            <a:endParaRPr lang="zh-CN" altLang="en-GB" dirty="0"/>
          </a:p>
        </p:txBody>
      </p:sp>
      <p:sp>
        <p:nvSpPr>
          <p:cNvPr id="5126" name="Rectangle 2"/>
          <p:cNvSpPr/>
          <p:nvPr>
            <p:ph idx="1"/>
          </p:nvPr>
        </p:nvSpPr>
        <p:spPr>
          <a:xfrm>
            <a:off x="914400" y="1392238"/>
            <a:ext cx="10361613" cy="1795462"/>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Lst>
            </a:pPr>
            <a:r>
              <a:rPr lang="en-GB" altLang="zh-CN" sz="2000" dirty="0">
                <a:cs typeface="宋体" panose="02000500000000000000" pitchFamily="2" charset="-122"/>
              </a:rPr>
              <a:t>TLB</a:t>
            </a:r>
            <a:r>
              <a:rPr lang="zh-CN" altLang="en-GB" sz="2000" dirty="0">
                <a:cs typeface="宋体" panose="02000500000000000000" pitchFamily="2" charset="-122"/>
              </a:rPr>
              <a:t>失效明显减少，</a:t>
            </a:r>
            <a:r>
              <a:rPr lang="en-GB" altLang="zh-CN" sz="2000" dirty="0">
                <a:cs typeface="宋体" panose="02000500000000000000" pitchFamily="2" charset="-122"/>
              </a:rPr>
              <a:t>16KB</a:t>
            </a:r>
            <a:r>
              <a:rPr lang="zh-CN" altLang="en-GB" sz="2000" dirty="0">
                <a:cs typeface="宋体" panose="02000500000000000000" pitchFamily="2" charset="-122"/>
              </a:rPr>
              <a:t>页时</a:t>
            </a:r>
            <a:r>
              <a:rPr lang="en-GB" altLang="zh-CN" sz="2000" dirty="0">
                <a:cs typeface="宋体" panose="02000500000000000000" pitchFamily="2" charset="-122"/>
              </a:rPr>
              <a:t>128</a:t>
            </a:r>
            <a:r>
              <a:rPr lang="zh-CN" altLang="en-GB" sz="2000" dirty="0">
                <a:cs typeface="宋体" panose="02000500000000000000" pitchFamily="2" charset="-122"/>
              </a:rPr>
              <a:t>页有</a:t>
            </a:r>
            <a:r>
              <a:rPr lang="en-GB" altLang="zh-CN" sz="2000" dirty="0">
                <a:cs typeface="宋体" panose="02000500000000000000" pitchFamily="2" charset="-122"/>
              </a:rPr>
              <a:t>2MB</a:t>
            </a:r>
            <a:endParaRPr lang="en-GB" altLang="zh-CN" sz="20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Lst>
            </a:pPr>
            <a:r>
              <a:rPr lang="zh-CN" altLang="en-GB" sz="2000" dirty="0">
                <a:cs typeface="宋体" panose="02000500000000000000" pitchFamily="2" charset="-122"/>
              </a:rPr>
              <a:t>龙芯</a:t>
            </a:r>
            <a:r>
              <a:rPr lang="en-GB" altLang="zh-CN" sz="2000" dirty="0">
                <a:cs typeface="宋体" panose="02000500000000000000" pitchFamily="2" charset="-122"/>
              </a:rPr>
              <a:t>3</a:t>
            </a:r>
            <a:r>
              <a:rPr lang="zh-CN" altLang="en-GB" sz="2000" dirty="0">
                <a:cs typeface="宋体" panose="02000500000000000000" pitchFamily="2" charset="-122"/>
              </a:rPr>
              <a:t>号页大小动态可变</a:t>
            </a:r>
            <a:endParaRPr lang="zh-CN" altLang="en-GB" sz="2000" dirty="0">
              <a:cs typeface="宋体" panose="02000500000000000000" pitchFamily="2" charset="-122"/>
            </a:endParaRPr>
          </a:p>
        </p:txBody>
      </p:sp>
      <p:sp>
        <p:nvSpPr>
          <p:cNvPr id="5127" name="Rectangle 10"/>
          <p:cNvSpPr/>
          <p:nvPr/>
        </p:nvSpPr>
        <p:spPr>
          <a:xfrm>
            <a:off x="0" y="544513"/>
            <a:ext cx="12190413" cy="1587"/>
          </a:xfrm>
          <a:prstGeom prst="rect">
            <a:avLst/>
          </a:prstGeom>
          <a:noFill/>
          <a:ln w="9525">
            <a:noFill/>
          </a:ln>
        </p:spPr>
        <p:txBody>
          <a:bodyPr wrap="none" anchor="ctr" anchorCtr="0"/>
          <a:p>
            <a:endParaRPr lang="zh-CN" altLang="en-US" dirty="0">
              <a:latin typeface="Times New Roman" pitchFamily="18" charset="0"/>
            </a:endParaRPr>
          </a:p>
        </p:txBody>
      </p:sp>
      <p:sp>
        <p:nvSpPr>
          <p:cNvPr id="5128" name="Rectangle 11"/>
          <p:cNvSpPr/>
          <p:nvPr/>
        </p:nvSpPr>
        <p:spPr>
          <a:xfrm>
            <a:off x="6350" y="544513"/>
            <a:ext cx="0" cy="1587"/>
          </a:xfrm>
          <a:prstGeom prst="rect">
            <a:avLst/>
          </a:prstGeom>
          <a:solidFill>
            <a:srgbClr val="00CC99"/>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5129" name="Rectangle 12"/>
          <p:cNvSpPr/>
          <p:nvPr/>
        </p:nvSpPr>
        <p:spPr>
          <a:xfrm>
            <a:off x="0" y="2287588"/>
            <a:ext cx="1588" cy="1587"/>
          </a:xfrm>
          <a:prstGeom prst="rect">
            <a:avLst/>
          </a:prstGeom>
          <a:noFill/>
          <a:ln w="9525">
            <a:noFill/>
          </a:ln>
        </p:spPr>
        <p:txBody>
          <a:bodyPr wrap="none" anchor="ctr" anchorCtr="0"/>
          <a:p>
            <a:endParaRPr lang="zh-CN" altLang="en-US" dirty="0">
              <a:latin typeface="Times New Roman" pitchFamily="18" charset="0"/>
            </a:endParaRPr>
          </a:p>
        </p:txBody>
      </p:sp>
      <p:grpSp>
        <p:nvGrpSpPr>
          <p:cNvPr id="5130" name="Group 16"/>
          <p:cNvGrpSpPr>
            <a:grpSpLocks noChangeAspect="1"/>
          </p:cNvGrpSpPr>
          <p:nvPr/>
        </p:nvGrpSpPr>
        <p:grpSpPr>
          <a:xfrm>
            <a:off x="844550" y="2924175"/>
            <a:ext cx="10183813" cy="3562350"/>
            <a:chOff x="1440" y="1821"/>
            <a:chExt cx="9650" cy="3760"/>
          </a:xfrm>
        </p:grpSpPr>
        <p:sp>
          <p:nvSpPr>
            <p:cNvPr id="5131" name="AutoShape 17"/>
            <p:cNvSpPr>
              <a:spLocks noChangeAspect="1" noTextEdit="1"/>
            </p:cNvSpPr>
            <p:nvPr/>
          </p:nvSpPr>
          <p:spPr>
            <a:xfrm>
              <a:off x="1440" y="1821"/>
              <a:ext cx="9650" cy="3760"/>
            </a:xfrm>
            <a:prstGeom prst="rect">
              <a:avLst/>
            </a:prstGeom>
            <a:noFill/>
            <a:ln w="9525">
              <a:noFill/>
            </a:ln>
          </p:spPr>
          <p:txBody>
            <a:bodyPr/>
            <a:p>
              <a:endParaRPr lang="zh-CN" altLang="en-US"/>
            </a:p>
          </p:txBody>
        </p:sp>
        <p:sp>
          <p:nvSpPr>
            <p:cNvPr id="5134" name="Text Box 20"/>
            <p:cNvSpPr txBox="1"/>
            <p:nvPr/>
          </p:nvSpPr>
          <p:spPr>
            <a:xfrm>
              <a:off x="1620" y="4781"/>
              <a:ext cx="4640" cy="420"/>
            </a:xfrm>
            <a:prstGeom prst="rect">
              <a:avLst/>
            </a:prstGeom>
            <a:noFill/>
            <a:ln w="9525">
              <a:noFill/>
            </a:ln>
          </p:spPr>
          <p:txBody>
            <a:bodyPr/>
            <a:p>
              <a:pPr algn="ctr">
                <a:buSzTx/>
                <a:buFontTx/>
              </a:pPr>
              <a:r>
                <a:rPr lang="en-US" altLang="zh-CN" sz="1200" dirty="0">
                  <a:solidFill>
                    <a:schemeClr val="tx1"/>
                  </a:solidFill>
                  <a:latin typeface="Times New Roman" pitchFamily="18" charset="0"/>
                </a:rPr>
                <a:t>(a) TLB refills of 4KB, 16KB, and 64KB page size</a:t>
              </a:r>
              <a:endParaRPr lang="en-US" altLang="zh-CN" sz="3600" dirty="0">
                <a:solidFill>
                  <a:schemeClr val="tx1"/>
                </a:solidFill>
                <a:latin typeface="Times New Roman" pitchFamily="18" charset="0"/>
              </a:endParaRPr>
            </a:p>
          </p:txBody>
        </p:sp>
        <p:sp>
          <p:nvSpPr>
            <p:cNvPr id="5135" name="Text Box 21"/>
            <p:cNvSpPr txBox="1"/>
            <p:nvPr/>
          </p:nvSpPr>
          <p:spPr>
            <a:xfrm>
              <a:off x="6240" y="4781"/>
              <a:ext cx="4740" cy="420"/>
            </a:xfrm>
            <a:prstGeom prst="rect">
              <a:avLst/>
            </a:prstGeom>
            <a:noFill/>
            <a:ln w="9525">
              <a:noFill/>
            </a:ln>
          </p:spPr>
          <p:txBody>
            <a:bodyPr/>
            <a:p>
              <a:pPr algn="ctr">
                <a:buSzTx/>
                <a:buFontTx/>
              </a:pPr>
              <a:r>
                <a:rPr lang="en-US" altLang="zh-CN" sz="1200" dirty="0">
                  <a:solidFill>
                    <a:schemeClr val="tx1"/>
                  </a:solidFill>
                  <a:latin typeface="Times New Roman" pitchFamily="18" charset="0"/>
                </a:rPr>
                <a:t>(b) Performance of 4KB, 16KB, and 64KB page size</a:t>
              </a:r>
              <a:endParaRPr lang="en-US" altLang="zh-CN" sz="3600" dirty="0">
                <a:solidFill>
                  <a:schemeClr val="tx1"/>
                </a:solidFill>
                <a:latin typeface="Times New Roman" pitchFamily="18" charset="0"/>
              </a:endParaRPr>
            </a:p>
          </p:txBody>
        </p:sp>
        <p:sp>
          <p:nvSpPr>
            <p:cNvPr id="5136" name="Text Box 22"/>
            <p:cNvSpPr txBox="1"/>
            <p:nvPr/>
          </p:nvSpPr>
          <p:spPr>
            <a:xfrm>
              <a:off x="2260" y="5161"/>
              <a:ext cx="7800" cy="420"/>
            </a:xfrm>
            <a:prstGeom prst="rect">
              <a:avLst/>
            </a:prstGeom>
            <a:solidFill>
              <a:srgbClr val="FFFFFF"/>
            </a:solidFill>
            <a:ln w="9525">
              <a:noFill/>
            </a:ln>
          </p:spPr>
          <p:txBody>
            <a:bodyPr/>
            <a:p>
              <a:pPr algn="ctr">
                <a:buSzTx/>
                <a:buFontTx/>
              </a:pPr>
              <a:r>
                <a:rPr lang="en-US" altLang="zh-CN" sz="1600" dirty="0">
                  <a:solidFill>
                    <a:schemeClr val="tx1"/>
                  </a:solidFill>
                  <a:latin typeface="Times New Roman" pitchFamily="18" charset="0"/>
                </a:rPr>
                <a:t>Figure 7. TLB refills and relative performance of 4KB, 16KB, and 64KB page size</a:t>
              </a:r>
              <a:endParaRPr lang="en-US" altLang="zh-CN" sz="3600" dirty="0">
                <a:solidFill>
                  <a:schemeClr val="tx1"/>
                </a:solidFill>
                <a:latin typeface="Times New Roman" pitchFamily="18" charset="0"/>
              </a:endParaRPr>
            </a:p>
          </p:txBody>
        </p:sp>
      </p:grpSp>
      <p:graphicFrame>
        <p:nvGraphicFramePr>
          <p:cNvPr id="5122" name="Object 23"/>
          <p:cNvGraphicFramePr/>
          <p:nvPr/>
        </p:nvGraphicFramePr>
        <p:xfrm>
          <a:off x="1135063" y="3009900"/>
          <a:ext cx="4519612" cy="2595563"/>
        </p:xfrm>
        <a:graphic>
          <a:graphicData uri="http://schemas.openxmlformats.org/presentationml/2006/ole">
            <mc:AlternateContent xmlns:mc="http://schemas.openxmlformats.org/markup-compatibility/2006">
              <mc:Choice xmlns:v="urn:schemas-microsoft-com:vml" Requires="v">
                <p:oleObj spid="_x0000_s3082" name="" r:id="rId1" imgW="3228340" imgH="2065655" progId="Excel.Chart.8">
                  <p:embed/>
                </p:oleObj>
              </mc:Choice>
              <mc:Fallback>
                <p:oleObj name="" r:id="rId1" imgW="3228340" imgH="2065655" progId="Excel.Chart.8">
                  <p:embed/>
                  <p:pic>
                    <p:nvPicPr>
                      <p:cNvPr id="0" name="图片 3081"/>
                      <p:cNvPicPr/>
                      <p:nvPr/>
                    </p:nvPicPr>
                    <p:blipFill>
                      <a:blip r:embed="rId2"/>
                      <a:stretch>
                        <a:fillRect/>
                      </a:stretch>
                    </p:blipFill>
                    <p:spPr>
                      <a:xfrm>
                        <a:off x="1135063" y="3009900"/>
                        <a:ext cx="4519612" cy="2595563"/>
                      </a:xfrm>
                      <a:prstGeom prst="rect">
                        <a:avLst/>
                      </a:prstGeom>
                      <a:noFill/>
                      <a:ln w="38100">
                        <a:noFill/>
                        <a:miter/>
                      </a:ln>
                    </p:spPr>
                  </p:pic>
                </p:oleObj>
              </mc:Fallback>
            </mc:AlternateContent>
          </a:graphicData>
        </a:graphic>
      </p:graphicFrame>
      <p:graphicFrame>
        <p:nvGraphicFramePr>
          <p:cNvPr id="5123" name="Object 24"/>
          <p:cNvGraphicFramePr/>
          <p:nvPr/>
        </p:nvGraphicFramePr>
        <p:xfrm>
          <a:off x="6143625" y="3024188"/>
          <a:ext cx="4633913" cy="2451100"/>
        </p:xfrm>
        <a:graphic>
          <a:graphicData uri="http://schemas.openxmlformats.org/presentationml/2006/ole">
            <mc:AlternateContent xmlns:mc="http://schemas.openxmlformats.org/markup-compatibility/2006">
              <mc:Choice xmlns:v="urn:schemas-microsoft-com:vml" Requires="v">
                <p:oleObj spid="_x0000_s3083" name="" r:id="rId3" imgW="3296285" imgH="1941830" progId="Excel.Chart.8">
                  <p:embed/>
                </p:oleObj>
              </mc:Choice>
              <mc:Fallback>
                <p:oleObj name="" r:id="rId3" imgW="3296285" imgH="1941830" progId="Excel.Chart.8">
                  <p:embed/>
                  <p:pic>
                    <p:nvPicPr>
                      <p:cNvPr id="0" name="图片 3082"/>
                      <p:cNvPicPr/>
                      <p:nvPr/>
                    </p:nvPicPr>
                    <p:blipFill>
                      <a:blip r:embed="rId4"/>
                      <a:stretch>
                        <a:fillRect/>
                      </a:stretch>
                    </p:blipFill>
                    <p:spPr>
                      <a:xfrm>
                        <a:off x="6143625" y="3024188"/>
                        <a:ext cx="4633913" cy="2451100"/>
                      </a:xfrm>
                      <a:prstGeom prst="rect">
                        <a:avLst/>
                      </a:prstGeom>
                      <a:noFill/>
                      <a:ln w="38100">
                        <a:noFill/>
                        <a:miter/>
                      </a:ln>
                    </p:spPr>
                  </p:pic>
                </p:oleObj>
              </mc:Fallback>
            </mc:AlternateContent>
          </a:graphicData>
        </a:graphic>
      </p:graphicFrame>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882650" y="2924175"/>
            <a:ext cx="10358438" cy="1054100"/>
          </a:xfrm>
        </p:spPr>
        <p:txBody>
          <a:bodyPr vert="horz" wrap="square" lIns="90000" tIns="46800" rIns="90000" bIns="46800" anchor="ctr" anchorCtr="0"/>
          <a:p>
            <a:pPr eaLnBrk="1" hangingPunct="1"/>
            <a:r>
              <a:rPr lang="zh-CN" altLang="en-GB" dirty="0"/>
              <a:t>结构设计要重点突出</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36867" name="Rectangle 1"/>
          <p:cNvSpPr/>
          <p:nvPr>
            <p:ph type="title"/>
          </p:nvPr>
        </p:nvSpPr>
        <p:spPr>
          <a:xfrm>
            <a:off x="896938" y="0"/>
            <a:ext cx="10364787"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t>设计要重点突出</a:t>
            </a:r>
            <a:endParaRPr lang="zh-CN" altLang="en-GB" dirty="0"/>
          </a:p>
        </p:txBody>
      </p:sp>
      <p:sp>
        <p:nvSpPr>
          <p:cNvPr id="36868" name="Rectangle 2"/>
          <p:cNvSpPr/>
          <p:nvPr>
            <p:ph idx="1"/>
          </p:nvPr>
        </p:nvSpPr>
        <p:spPr>
          <a:xfrm>
            <a:off x="646113" y="1220788"/>
            <a:ext cx="10629900" cy="5221287"/>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dirty="0">
                <a:cs typeface="宋体" panose="02000500000000000000" pitchFamily="2" charset="-122"/>
              </a:rPr>
              <a:t>系统性能基本平衡后，要把有限的资源投入到优化效果最明显的地方：好钢用在刀刃上</a:t>
            </a:r>
            <a:endParaRPr lang="zh-CN" altLang="en-GB"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dirty="0">
                <a:cs typeface="宋体" panose="02000500000000000000" pitchFamily="2" charset="-122"/>
              </a:rPr>
              <a:t>优化在程序运行中最经常发生的事件</a:t>
            </a:r>
            <a:endParaRPr lang="zh-CN" altLang="en-GB"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dirty="0">
                <a:cs typeface="宋体" panose="02000500000000000000" pitchFamily="2" charset="-122"/>
              </a:rPr>
              <a:t>龙芯</a:t>
            </a:r>
            <a:r>
              <a:rPr lang="en-GB" altLang="zh-CN" dirty="0">
                <a:cs typeface="宋体" panose="02000500000000000000" pitchFamily="2" charset="-122"/>
              </a:rPr>
              <a:t>2</a:t>
            </a:r>
            <a:r>
              <a:rPr lang="zh-CN" altLang="en-GB" dirty="0">
                <a:cs typeface="宋体" panose="02000500000000000000" pitchFamily="2" charset="-122"/>
              </a:rPr>
              <a:t>号设计过程中进行了大大小小几百处优化</a:t>
            </a:r>
            <a:endParaRPr lang="zh-CN" altLang="en-GB"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dirty="0">
                <a:cs typeface="宋体" panose="02000500000000000000" pitchFamily="2" charset="-122"/>
              </a:rPr>
              <a:t>性能是一点点“抠”出来的</a:t>
            </a:r>
            <a:endParaRPr lang="zh-CN" altLang="en-GB" dirty="0">
              <a:cs typeface="宋体" panose="02000500000000000000" pitchFamily="2" charset="-122"/>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37891" name="Rectangle 1"/>
          <p:cNvSpPr/>
          <p:nvPr>
            <p:ph type="title"/>
          </p:nvPr>
        </p:nvSpPr>
        <p:spPr>
          <a:xfrm>
            <a:off x="896938" y="0"/>
            <a:ext cx="10364787" cy="1068388"/>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sz="3600" dirty="0"/>
              <a:t>故事</a:t>
            </a:r>
            <a:r>
              <a:rPr lang="en-GB" altLang="zh-CN" sz="3600" dirty="0"/>
              <a:t>8: </a:t>
            </a:r>
            <a:r>
              <a:rPr lang="zh-CN" altLang="en-GB" sz="3600" dirty="0"/>
              <a:t>降低</a:t>
            </a:r>
            <a:r>
              <a:rPr lang="en-US" altLang="zh-CN" sz="3600" dirty="0"/>
              <a:t>Load-to-Use</a:t>
            </a:r>
            <a:r>
              <a:rPr lang="zh-CN" altLang="en-US" sz="3600" dirty="0"/>
              <a:t>延迟</a:t>
            </a:r>
            <a:endParaRPr lang="en-GB" altLang="zh-CN" sz="3600" dirty="0"/>
          </a:p>
        </p:txBody>
      </p:sp>
      <p:sp>
        <p:nvSpPr>
          <p:cNvPr id="37892" name="Rectangle 2"/>
          <p:cNvSpPr/>
          <p:nvPr>
            <p:ph idx="1"/>
          </p:nvPr>
        </p:nvSpPr>
        <p:spPr>
          <a:xfrm>
            <a:off x="481013" y="1360488"/>
            <a:ext cx="11252200" cy="3252787"/>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en-GB" altLang="zh-CN" sz="2000" dirty="0">
                <a:cs typeface="宋体" panose="02000500000000000000" pitchFamily="2" charset="-122"/>
              </a:rPr>
              <a:t>Load-to-use</a:t>
            </a:r>
            <a:r>
              <a:rPr lang="zh-CN" altLang="en-GB" sz="2000" dirty="0">
                <a:cs typeface="宋体" panose="02000500000000000000" pitchFamily="2" charset="-122"/>
              </a:rPr>
              <a:t>延迟对性能非常重要</a:t>
            </a:r>
            <a:endParaRPr lang="zh-CN" altLang="en-GB" sz="20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en-GB" altLang="zh-CN" sz="1800" dirty="0">
                <a:cs typeface="宋体" panose="02000500000000000000" pitchFamily="2" charset="-122"/>
              </a:rPr>
              <a:t>Load</a:t>
            </a:r>
            <a:r>
              <a:rPr lang="zh-CN" altLang="en-GB" sz="1800" dirty="0">
                <a:cs typeface="宋体" panose="02000500000000000000" pitchFamily="2" charset="-122"/>
              </a:rPr>
              <a:t>指令占所有指令的</a:t>
            </a:r>
            <a:r>
              <a:rPr lang="en-GB" altLang="zh-CN" sz="1800" dirty="0">
                <a:cs typeface="宋体" panose="02000500000000000000" pitchFamily="2" charset="-122"/>
              </a:rPr>
              <a:t>30%</a:t>
            </a:r>
            <a:r>
              <a:rPr lang="zh-CN" altLang="en-GB" sz="1800" dirty="0">
                <a:cs typeface="宋体" panose="02000500000000000000" pitchFamily="2" charset="-122"/>
              </a:rPr>
              <a:t>以上</a:t>
            </a:r>
            <a:endParaRPr lang="zh-CN" altLang="en-GB" sz="18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en-GB" altLang="zh-CN" sz="1800" dirty="0">
                <a:cs typeface="宋体" panose="02000500000000000000" pitchFamily="2" charset="-122"/>
              </a:rPr>
              <a:t>Load</a:t>
            </a:r>
            <a:r>
              <a:rPr lang="zh-CN" altLang="en-GB" sz="1800" dirty="0">
                <a:cs typeface="宋体" panose="02000500000000000000" pitchFamily="2" charset="-122"/>
              </a:rPr>
              <a:t>指令与使用其结果的指令需要隔几拍</a:t>
            </a:r>
            <a:endParaRPr lang="zh-CN" altLang="en-GB" sz="18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2000" dirty="0">
                <a:cs typeface="宋体" panose="02000500000000000000" pitchFamily="2" charset="-122"/>
              </a:rPr>
              <a:t>龙芯的</a:t>
            </a:r>
            <a:r>
              <a:rPr lang="en-GB" altLang="zh-CN" sz="2000" dirty="0">
                <a:cs typeface="宋体" panose="02000500000000000000" pitchFamily="2" charset="-122"/>
              </a:rPr>
              <a:t>9</a:t>
            </a:r>
            <a:r>
              <a:rPr lang="zh-CN" altLang="en-GB" sz="2000" dirty="0">
                <a:cs typeface="宋体" panose="02000500000000000000" pitchFamily="2" charset="-122"/>
              </a:rPr>
              <a:t>级流水线以及读</a:t>
            </a:r>
            <a:r>
              <a:rPr lang="en-GB" altLang="zh-CN" sz="2000" dirty="0">
                <a:cs typeface="宋体" panose="02000500000000000000" pitchFamily="2" charset="-122"/>
              </a:rPr>
              <a:t>Cache</a:t>
            </a:r>
            <a:r>
              <a:rPr lang="zh-CN" altLang="en-GB" sz="2000" dirty="0">
                <a:cs typeface="宋体" panose="02000500000000000000" pitchFamily="2" charset="-122"/>
              </a:rPr>
              <a:t>和</a:t>
            </a:r>
            <a:r>
              <a:rPr lang="en-GB" altLang="zh-CN" sz="2000" dirty="0">
                <a:cs typeface="宋体" panose="02000500000000000000" pitchFamily="2" charset="-122"/>
              </a:rPr>
              <a:t>tag</a:t>
            </a:r>
            <a:r>
              <a:rPr lang="zh-CN" altLang="en-GB" sz="2000" dirty="0">
                <a:cs typeface="宋体" panose="02000500000000000000" pitchFamily="2" charset="-122"/>
              </a:rPr>
              <a:t>比较分开导致</a:t>
            </a:r>
            <a:r>
              <a:rPr lang="en-GB" altLang="zh-CN" sz="2000" dirty="0">
                <a:cs typeface="宋体" panose="02000500000000000000" pitchFamily="2" charset="-122"/>
              </a:rPr>
              <a:t>load-to-use</a:t>
            </a:r>
            <a:r>
              <a:rPr lang="zh-CN" altLang="en-GB" sz="2000" dirty="0">
                <a:cs typeface="宋体" panose="02000500000000000000" pitchFamily="2" charset="-122"/>
              </a:rPr>
              <a:t>偏大：</a:t>
            </a:r>
            <a:r>
              <a:rPr lang="en-GB" altLang="zh-CN" sz="2000" dirty="0">
                <a:cs typeface="宋体" panose="02000500000000000000" pitchFamily="2" charset="-122"/>
              </a:rPr>
              <a:t>4</a:t>
            </a:r>
            <a:r>
              <a:rPr lang="zh-CN" altLang="en-GB" sz="2000" dirty="0">
                <a:cs typeface="宋体" panose="02000500000000000000" pitchFamily="2" charset="-122"/>
              </a:rPr>
              <a:t>拍</a:t>
            </a:r>
            <a:endParaRPr lang="zh-CN" altLang="en-GB" sz="20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1800" dirty="0">
                <a:cs typeface="宋体" panose="02000500000000000000" pitchFamily="2" charset="-122"/>
              </a:rPr>
              <a:t>使用</a:t>
            </a:r>
            <a:r>
              <a:rPr lang="en-GB" altLang="zh-CN" sz="1800" dirty="0">
                <a:cs typeface="宋体" panose="02000500000000000000" pitchFamily="2" charset="-122"/>
              </a:rPr>
              <a:t>speculative forward</a:t>
            </a:r>
            <a:r>
              <a:rPr lang="zh-CN" altLang="en-GB" sz="1800" dirty="0">
                <a:cs typeface="宋体" panose="02000500000000000000" pitchFamily="2" charset="-122"/>
              </a:rPr>
              <a:t>和</a:t>
            </a:r>
            <a:r>
              <a:rPr lang="en-GB" altLang="zh-CN" sz="1800" dirty="0">
                <a:cs typeface="宋体" panose="02000500000000000000" pitchFamily="2" charset="-122"/>
              </a:rPr>
              <a:t>load speculation</a:t>
            </a:r>
            <a:r>
              <a:rPr lang="zh-CN" altLang="en-GB" sz="1800" dirty="0">
                <a:cs typeface="宋体" panose="02000500000000000000" pitchFamily="2" charset="-122"/>
              </a:rPr>
              <a:t>优化</a:t>
            </a:r>
            <a:endParaRPr lang="zh-CN" altLang="en-GB" sz="18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2000" dirty="0">
                <a:cs typeface="宋体" panose="02000500000000000000" pitchFamily="2" charset="-122"/>
              </a:rPr>
              <a:t>例：</a:t>
            </a:r>
            <a:r>
              <a:rPr lang="en-GB" altLang="zh-CN" sz="2000" dirty="0">
                <a:cs typeface="宋体" panose="02000500000000000000" pitchFamily="2" charset="-122"/>
              </a:rPr>
              <a:t>memcpy</a:t>
            </a:r>
            <a:r>
              <a:rPr lang="zh-CN" altLang="en-GB" sz="2000" dirty="0">
                <a:cs typeface="宋体" panose="02000500000000000000" pitchFamily="2" charset="-122"/>
              </a:rPr>
              <a:t>的</a:t>
            </a:r>
            <a:r>
              <a:rPr lang="en-GB" altLang="zh-CN" sz="2000" dirty="0">
                <a:cs typeface="宋体" panose="02000500000000000000" pitchFamily="2" charset="-122"/>
              </a:rPr>
              <a:t>load</a:t>
            </a:r>
            <a:r>
              <a:rPr lang="zh-CN" altLang="en-GB" sz="2000" dirty="0">
                <a:cs typeface="宋体" panose="02000500000000000000" pitchFamily="2" charset="-122"/>
              </a:rPr>
              <a:t>等待</a:t>
            </a:r>
            <a:endParaRPr lang="zh-CN" altLang="en-GB" sz="2000" dirty="0">
              <a:cs typeface="宋体" panose="02000500000000000000" pitchFamily="2" charset="-122"/>
            </a:endParaRPr>
          </a:p>
        </p:txBody>
      </p:sp>
      <p:sp>
        <p:nvSpPr>
          <p:cNvPr id="37893" name="Rectangle 4"/>
          <p:cNvSpPr/>
          <p:nvPr/>
        </p:nvSpPr>
        <p:spPr>
          <a:xfrm>
            <a:off x="6096000" y="1577975"/>
            <a:ext cx="1588" cy="1588"/>
          </a:xfrm>
          <a:prstGeom prst="rect">
            <a:avLst/>
          </a:prstGeom>
          <a:solidFill>
            <a:srgbClr val="00CC99"/>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grpSp>
        <p:nvGrpSpPr>
          <p:cNvPr id="37894" name="Group 5"/>
          <p:cNvGrpSpPr/>
          <p:nvPr/>
        </p:nvGrpSpPr>
        <p:grpSpPr>
          <a:xfrm>
            <a:off x="223838" y="4819650"/>
            <a:ext cx="11882437" cy="1927225"/>
            <a:chOff x="127" y="3036"/>
            <a:chExt cx="6719" cy="1214"/>
          </a:xfrm>
        </p:grpSpPr>
        <p:sp>
          <p:nvSpPr>
            <p:cNvPr id="37895" name="Rectangle 6"/>
            <p:cNvSpPr/>
            <p:nvPr/>
          </p:nvSpPr>
          <p:spPr>
            <a:xfrm>
              <a:off x="6260" y="4116"/>
              <a:ext cx="585"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0</a:t>
              </a:r>
              <a:endParaRPr lang="en-GB" altLang="zh-CN" sz="1400" dirty="0">
                <a:solidFill>
                  <a:srgbClr val="000000"/>
                </a:solidFill>
                <a:latin typeface="Times New Roman" pitchFamily="18" charset="0"/>
              </a:endParaRPr>
            </a:p>
          </p:txBody>
        </p:sp>
        <p:sp>
          <p:nvSpPr>
            <p:cNvPr id="37896" name="Rectangle 7"/>
            <p:cNvSpPr/>
            <p:nvPr/>
          </p:nvSpPr>
          <p:spPr>
            <a:xfrm>
              <a:off x="5607" y="4116"/>
              <a:ext cx="654"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0</a:t>
              </a:r>
              <a:endParaRPr lang="en-GB" altLang="zh-CN" sz="1400" dirty="0">
                <a:solidFill>
                  <a:srgbClr val="000000"/>
                </a:solidFill>
                <a:latin typeface="Times New Roman" pitchFamily="18" charset="0"/>
              </a:endParaRPr>
            </a:p>
          </p:txBody>
        </p:sp>
        <p:sp>
          <p:nvSpPr>
            <p:cNvPr id="37897" name="Rectangle 8"/>
            <p:cNvSpPr/>
            <p:nvPr/>
          </p:nvSpPr>
          <p:spPr>
            <a:xfrm>
              <a:off x="5034" y="4116"/>
              <a:ext cx="573"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21.5</a:t>
              </a:r>
              <a:endParaRPr lang="en-GB" altLang="zh-CN" sz="1400" dirty="0">
                <a:solidFill>
                  <a:srgbClr val="000000"/>
                </a:solidFill>
                <a:latin typeface="Times New Roman" pitchFamily="18" charset="0"/>
              </a:endParaRPr>
            </a:p>
          </p:txBody>
        </p:sp>
        <p:sp>
          <p:nvSpPr>
            <p:cNvPr id="37898" name="Rectangle 9"/>
            <p:cNvSpPr/>
            <p:nvPr/>
          </p:nvSpPr>
          <p:spPr>
            <a:xfrm>
              <a:off x="4356" y="4116"/>
              <a:ext cx="678"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1.0</a:t>
              </a:r>
              <a:endParaRPr lang="en-GB" altLang="zh-CN" sz="1400" dirty="0">
                <a:solidFill>
                  <a:srgbClr val="000000"/>
                </a:solidFill>
                <a:latin typeface="Times New Roman" pitchFamily="18" charset="0"/>
              </a:endParaRPr>
            </a:p>
          </p:txBody>
        </p:sp>
        <p:sp>
          <p:nvSpPr>
            <p:cNvPr id="37899" name="Rectangle 10"/>
            <p:cNvSpPr/>
            <p:nvPr/>
          </p:nvSpPr>
          <p:spPr>
            <a:xfrm>
              <a:off x="3878" y="4116"/>
              <a:ext cx="479"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3.4</a:t>
              </a:r>
              <a:endParaRPr lang="en-GB" altLang="zh-CN" sz="1400" dirty="0">
                <a:solidFill>
                  <a:srgbClr val="000000"/>
                </a:solidFill>
                <a:latin typeface="Times New Roman" pitchFamily="18" charset="0"/>
              </a:endParaRPr>
            </a:p>
          </p:txBody>
        </p:sp>
        <p:sp>
          <p:nvSpPr>
            <p:cNvPr id="37900" name="Rectangle 11"/>
            <p:cNvSpPr/>
            <p:nvPr/>
          </p:nvSpPr>
          <p:spPr>
            <a:xfrm>
              <a:off x="3352" y="4116"/>
              <a:ext cx="525"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1.0</a:t>
              </a:r>
              <a:endParaRPr lang="en-GB" altLang="zh-CN" sz="1400" dirty="0">
                <a:solidFill>
                  <a:srgbClr val="000000"/>
                </a:solidFill>
                <a:latin typeface="Times New Roman" pitchFamily="18" charset="0"/>
              </a:endParaRPr>
            </a:p>
          </p:txBody>
        </p:sp>
        <p:sp>
          <p:nvSpPr>
            <p:cNvPr id="37901" name="Rectangle 12"/>
            <p:cNvSpPr/>
            <p:nvPr/>
          </p:nvSpPr>
          <p:spPr>
            <a:xfrm>
              <a:off x="2794" y="4116"/>
              <a:ext cx="558"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2.6</a:t>
              </a:r>
              <a:endParaRPr lang="en-GB" altLang="zh-CN" sz="1400" dirty="0">
                <a:solidFill>
                  <a:srgbClr val="000000"/>
                </a:solidFill>
                <a:latin typeface="Times New Roman" pitchFamily="18" charset="0"/>
              </a:endParaRPr>
            </a:p>
          </p:txBody>
        </p:sp>
        <p:sp>
          <p:nvSpPr>
            <p:cNvPr id="37902" name="Rectangle 13"/>
            <p:cNvSpPr/>
            <p:nvPr/>
          </p:nvSpPr>
          <p:spPr>
            <a:xfrm>
              <a:off x="2219" y="4116"/>
              <a:ext cx="576"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290096</a:t>
              </a:r>
              <a:endParaRPr lang="en-GB" altLang="zh-CN" sz="1400" dirty="0">
                <a:solidFill>
                  <a:srgbClr val="000000"/>
                </a:solidFill>
                <a:latin typeface="Times New Roman" pitchFamily="18" charset="0"/>
              </a:endParaRPr>
            </a:p>
          </p:txBody>
        </p:sp>
        <p:sp>
          <p:nvSpPr>
            <p:cNvPr id="37903" name="Rectangle 14"/>
            <p:cNvSpPr/>
            <p:nvPr/>
          </p:nvSpPr>
          <p:spPr>
            <a:xfrm>
              <a:off x="127" y="4116"/>
              <a:ext cx="2092" cy="134"/>
            </a:xfrm>
            <a:prstGeom prst="rect">
              <a:avLst/>
            </a:prstGeom>
            <a:noFill/>
            <a:ln w="9525">
              <a:noFill/>
            </a:ln>
          </p:spPr>
          <p:txBody>
            <a:bodyPr lIns="18000" tIns="0" rIns="18000" bIns="0"/>
            <a:p>
              <a:pPr marL="338455" indent="-338455" defTabSz="265430">
                <a:buFont typeface="BatangChe" pitchFamily="49" charset="-127"/>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BatangChe" pitchFamily="49" charset="-127"/>
                </a:rPr>
                <a:t>433e6c:  addiu   $v1,$v1,4</a:t>
              </a:r>
              <a:endParaRPr lang="en-GB" altLang="zh-CN" sz="1400" dirty="0">
                <a:solidFill>
                  <a:srgbClr val="000000"/>
                </a:solidFill>
                <a:latin typeface="BatangChe" pitchFamily="49" charset="-127"/>
              </a:endParaRPr>
            </a:p>
          </p:txBody>
        </p:sp>
        <p:sp>
          <p:nvSpPr>
            <p:cNvPr id="37904" name="Rectangle 15"/>
            <p:cNvSpPr/>
            <p:nvPr/>
          </p:nvSpPr>
          <p:spPr>
            <a:xfrm>
              <a:off x="6260" y="3982"/>
              <a:ext cx="585"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0</a:t>
              </a:r>
              <a:endParaRPr lang="en-GB" altLang="zh-CN" sz="1400" dirty="0">
                <a:solidFill>
                  <a:srgbClr val="000000"/>
                </a:solidFill>
                <a:latin typeface="Times New Roman" pitchFamily="18" charset="0"/>
              </a:endParaRPr>
            </a:p>
          </p:txBody>
        </p:sp>
        <p:sp>
          <p:nvSpPr>
            <p:cNvPr id="37905" name="Rectangle 16"/>
            <p:cNvSpPr/>
            <p:nvPr/>
          </p:nvSpPr>
          <p:spPr>
            <a:xfrm>
              <a:off x="5607" y="3982"/>
              <a:ext cx="654"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27181</a:t>
              </a:r>
              <a:endParaRPr lang="en-GB" altLang="zh-CN" sz="1400" dirty="0">
                <a:solidFill>
                  <a:srgbClr val="000000"/>
                </a:solidFill>
                <a:latin typeface="Times New Roman" pitchFamily="18" charset="0"/>
              </a:endParaRPr>
            </a:p>
          </p:txBody>
        </p:sp>
        <p:sp>
          <p:nvSpPr>
            <p:cNvPr id="37906" name="Rectangle 17"/>
            <p:cNvSpPr/>
            <p:nvPr/>
          </p:nvSpPr>
          <p:spPr>
            <a:xfrm>
              <a:off x="5034" y="3982"/>
              <a:ext cx="573"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21.9</a:t>
              </a:r>
              <a:endParaRPr lang="en-GB" altLang="zh-CN" sz="1400" dirty="0">
                <a:solidFill>
                  <a:srgbClr val="000000"/>
                </a:solidFill>
                <a:latin typeface="Times New Roman" pitchFamily="18" charset="0"/>
              </a:endParaRPr>
            </a:p>
          </p:txBody>
        </p:sp>
        <p:sp>
          <p:nvSpPr>
            <p:cNvPr id="37907" name="Rectangle 18"/>
            <p:cNvSpPr/>
            <p:nvPr/>
          </p:nvSpPr>
          <p:spPr>
            <a:xfrm>
              <a:off x="4356" y="3982"/>
              <a:ext cx="678"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1.0</a:t>
              </a:r>
              <a:endParaRPr lang="en-GB" altLang="zh-CN" sz="1400" dirty="0">
                <a:solidFill>
                  <a:srgbClr val="000000"/>
                </a:solidFill>
                <a:latin typeface="Times New Roman" pitchFamily="18" charset="0"/>
              </a:endParaRPr>
            </a:p>
          </p:txBody>
        </p:sp>
        <p:sp>
          <p:nvSpPr>
            <p:cNvPr id="37908" name="Rectangle 19"/>
            <p:cNvSpPr/>
            <p:nvPr/>
          </p:nvSpPr>
          <p:spPr>
            <a:xfrm>
              <a:off x="3878" y="3982"/>
              <a:ext cx="479"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2.9</a:t>
              </a:r>
              <a:endParaRPr lang="en-GB" altLang="zh-CN" sz="1400" dirty="0">
                <a:solidFill>
                  <a:srgbClr val="000000"/>
                </a:solidFill>
                <a:latin typeface="Times New Roman" pitchFamily="18" charset="0"/>
              </a:endParaRPr>
            </a:p>
          </p:txBody>
        </p:sp>
        <p:sp>
          <p:nvSpPr>
            <p:cNvPr id="37909" name="Rectangle 20"/>
            <p:cNvSpPr/>
            <p:nvPr/>
          </p:nvSpPr>
          <p:spPr>
            <a:xfrm>
              <a:off x="3352" y="3982"/>
              <a:ext cx="525"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1.0</a:t>
              </a:r>
              <a:endParaRPr lang="en-GB" altLang="zh-CN" sz="1400" dirty="0">
                <a:solidFill>
                  <a:srgbClr val="000000"/>
                </a:solidFill>
                <a:latin typeface="Times New Roman" pitchFamily="18" charset="0"/>
              </a:endParaRPr>
            </a:p>
          </p:txBody>
        </p:sp>
        <p:sp>
          <p:nvSpPr>
            <p:cNvPr id="37910" name="Rectangle 21"/>
            <p:cNvSpPr/>
            <p:nvPr/>
          </p:nvSpPr>
          <p:spPr>
            <a:xfrm>
              <a:off x="2794" y="3982"/>
              <a:ext cx="558"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2.6</a:t>
              </a:r>
              <a:endParaRPr lang="en-GB" altLang="zh-CN" sz="1400" dirty="0">
                <a:solidFill>
                  <a:srgbClr val="000000"/>
                </a:solidFill>
                <a:latin typeface="Times New Roman" pitchFamily="18" charset="0"/>
              </a:endParaRPr>
            </a:p>
          </p:txBody>
        </p:sp>
        <p:sp>
          <p:nvSpPr>
            <p:cNvPr id="37911" name="Rectangle 22"/>
            <p:cNvSpPr/>
            <p:nvPr/>
          </p:nvSpPr>
          <p:spPr>
            <a:xfrm>
              <a:off x="2219" y="3982"/>
              <a:ext cx="576"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290096</a:t>
              </a:r>
              <a:endParaRPr lang="en-GB" altLang="zh-CN" sz="1400" dirty="0">
                <a:solidFill>
                  <a:srgbClr val="000000"/>
                </a:solidFill>
                <a:latin typeface="Times New Roman" pitchFamily="18" charset="0"/>
              </a:endParaRPr>
            </a:p>
          </p:txBody>
        </p:sp>
        <p:sp>
          <p:nvSpPr>
            <p:cNvPr id="37912" name="Rectangle 23"/>
            <p:cNvSpPr/>
            <p:nvPr/>
          </p:nvSpPr>
          <p:spPr>
            <a:xfrm>
              <a:off x="127" y="3982"/>
              <a:ext cx="2092" cy="134"/>
            </a:xfrm>
            <a:prstGeom prst="rect">
              <a:avLst/>
            </a:prstGeom>
            <a:noFill/>
            <a:ln w="9525">
              <a:noFill/>
            </a:ln>
          </p:spPr>
          <p:txBody>
            <a:bodyPr lIns="18000" tIns="0" rIns="18000" bIns="0"/>
            <a:p>
              <a:pPr marL="338455" indent="-338455" defTabSz="265430">
                <a:buFont typeface="BatangChe" pitchFamily="49" charset="-127"/>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BatangChe" pitchFamily="49" charset="-127"/>
                </a:rPr>
                <a:t>433e68:  bgez    $a2,433e58</a:t>
              </a:r>
              <a:endParaRPr lang="en-GB" altLang="zh-CN" sz="1400" dirty="0">
                <a:solidFill>
                  <a:srgbClr val="000000"/>
                </a:solidFill>
                <a:latin typeface="BatangChe" pitchFamily="49" charset="-127"/>
              </a:endParaRPr>
            </a:p>
          </p:txBody>
        </p:sp>
        <p:sp>
          <p:nvSpPr>
            <p:cNvPr id="37913" name="Rectangle 24"/>
            <p:cNvSpPr/>
            <p:nvPr/>
          </p:nvSpPr>
          <p:spPr>
            <a:xfrm>
              <a:off x="6260" y="3848"/>
              <a:ext cx="585"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15105</a:t>
              </a:r>
              <a:endParaRPr lang="en-GB" altLang="zh-CN" sz="1400" dirty="0">
                <a:solidFill>
                  <a:srgbClr val="000000"/>
                </a:solidFill>
                <a:latin typeface="Times New Roman" pitchFamily="18" charset="0"/>
              </a:endParaRPr>
            </a:p>
          </p:txBody>
        </p:sp>
        <p:sp>
          <p:nvSpPr>
            <p:cNvPr id="37914" name="Rectangle 25"/>
            <p:cNvSpPr/>
            <p:nvPr/>
          </p:nvSpPr>
          <p:spPr>
            <a:xfrm>
              <a:off x="5607" y="3848"/>
              <a:ext cx="654"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0</a:t>
              </a:r>
              <a:endParaRPr lang="en-GB" altLang="zh-CN" sz="1400" dirty="0">
                <a:solidFill>
                  <a:srgbClr val="000000"/>
                </a:solidFill>
                <a:latin typeface="Times New Roman" pitchFamily="18" charset="0"/>
              </a:endParaRPr>
            </a:p>
          </p:txBody>
        </p:sp>
        <p:sp>
          <p:nvSpPr>
            <p:cNvPr id="37915" name="Rectangle 26"/>
            <p:cNvSpPr/>
            <p:nvPr/>
          </p:nvSpPr>
          <p:spPr>
            <a:xfrm>
              <a:off x="5034" y="3848"/>
              <a:ext cx="573"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0.0</a:t>
              </a:r>
              <a:endParaRPr lang="en-GB" altLang="zh-CN" sz="1400" dirty="0">
                <a:solidFill>
                  <a:srgbClr val="000000"/>
                </a:solidFill>
                <a:latin typeface="Times New Roman" pitchFamily="18" charset="0"/>
              </a:endParaRPr>
            </a:p>
          </p:txBody>
        </p:sp>
        <p:sp>
          <p:nvSpPr>
            <p:cNvPr id="37916" name="Rectangle 27"/>
            <p:cNvSpPr/>
            <p:nvPr/>
          </p:nvSpPr>
          <p:spPr>
            <a:xfrm>
              <a:off x="4356" y="3848"/>
              <a:ext cx="678"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5.0</a:t>
              </a:r>
              <a:endParaRPr lang="en-GB" altLang="zh-CN" sz="1400" dirty="0">
                <a:solidFill>
                  <a:srgbClr val="000000"/>
                </a:solidFill>
                <a:latin typeface="Times New Roman" pitchFamily="18" charset="0"/>
              </a:endParaRPr>
            </a:p>
          </p:txBody>
        </p:sp>
        <p:sp>
          <p:nvSpPr>
            <p:cNvPr id="37917" name="Rectangle 28"/>
            <p:cNvSpPr/>
            <p:nvPr/>
          </p:nvSpPr>
          <p:spPr>
            <a:xfrm>
              <a:off x="3878" y="3848"/>
              <a:ext cx="479"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20.8</a:t>
              </a:r>
              <a:endParaRPr lang="en-GB" altLang="zh-CN" sz="1400" dirty="0">
                <a:solidFill>
                  <a:srgbClr val="000000"/>
                </a:solidFill>
                <a:latin typeface="Times New Roman" pitchFamily="18" charset="0"/>
              </a:endParaRPr>
            </a:p>
          </p:txBody>
        </p:sp>
        <p:sp>
          <p:nvSpPr>
            <p:cNvPr id="37918" name="Rectangle 29"/>
            <p:cNvSpPr/>
            <p:nvPr/>
          </p:nvSpPr>
          <p:spPr>
            <a:xfrm>
              <a:off x="3352" y="3848"/>
              <a:ext cx="525"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1.0</a:t>
              </a:r>
              <a:endParaRPr lang="en-GB" altLang="zh-CN" sz="1400" dirty="0">
                <a:solidFill>
                  <a:srgbClr val="000000"/>
                </a:solidFill>
                <a:latin typeface="Times New Roman" pitchFamily="18" charset="0"/>
              </a:endParaRPr>
            </a:p>
          </p:txBody>
        </p:sp>
        <p:sp>
          <p:nvSpPr>
            <p:cNvPr id="37919" name="Rectangle 30"/>
            <p:cNvSpPr/>
            <p:nvPr/>
          </p:nvSpPr>
          <p:spPr>
            <a:xfrm>
              <a:off x="2794" y="3848"/>
              <a:ext cx="558"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2.6</a:t>
              </a:r>
              <a:endParaRPr lang="en-GB" altLang="zh-CN" sz="1400" dirty="0">
                <a:solidFill>
                  <a:srgbClr val="000000"/>
                </a:solidFill>
                <a:latin typeface="Times New Roman" pitchFamily="18" charset="0"/>
              </a:endParaRPr>
            </a:p>
          </p:txBody>
        </p:sp>
        <p:sp>
          <p:nvSpPr>
            <p:cNvPr id="37920" name="Rectangle 31"/>
            <p:cNvSpPr/>
            <p:nvPr/>
          </p:nvSpPr>
          <p:spPr>
            <a:xfrm>
              <a:off x="2219" y="3848"/>
              <a:ext cx="576"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290096</a:t>
              </a:r>
              <a:endParaRPr lang="en-GB" altLang="zh-CN" sz="1400" dirty="0">
                <a:solidFill>
                  <a:srgbClr val="000000"/>
                </a:solidFill>
                <a:latin typeface="Times New Roman" pitchFamily="18" charset="0"/>
              </a:endParaRPr>
            </a:p>
          </p:txBody>
        </p:sp>
        <p:sp>
          <p:nvSpPr>
            <p:cNvPr id="37921" name="Rectangle 32"/>
            <p:cNvSpPr/>
            <p:nvPr/>
          </p:nvSpPr>
          <p:spPr>
            <a:xfrm>
              <a:off x="127" y="3848"/>
              <a:ext cx="2092" cy="134"/>
            </a:xfrm>
            <a:prstGeom prst="rect">
              <a:avLst/>
            </a:prstGeom>
            <a:noFill/>
            <a:ln w="9525">
              <a:noFill/>
            </a:ln>
          </p:spPr>
          <p:txBody>
            <a:bodyPr lIns="18000" tIns="0" rIns="18000" bIns="0"/>
            <a:p>
              <a:pPr marL="338455" indent="-338455" defTabSz="265430">
                <a:buFont typeface="BatangChe" pitchFamily="49" charset="-127"/>
                <a:buNone/>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BatangChe" pitchFamily="49" charset="-127"/>
                </a:rPr>
                <a:t>433e64:  sw      $v0,0($v1)</a:t>
              </a:r>
              <a:r>
                <a:rPr lang="ar-SA" altLang="zh-CN" sz="1400" dirty="0">
                  <a:solidFill>
                    <a:srgbClr val="000000"/>
                  </a:solidFill>
                  <a:latin typeface="BatangChe" pitchFamily="49" charset="-127"/>
                  <a:cs typeface="Arial" panose="02080604020202020204" pitchFamily="34" charset="0"/>
                </a:rPr>
                <a:t>‏</a:t>
              </a:r>
              <a:endParaRPr lang="en-GB" altLang="zh-CN" sz="1400" dirty="0">
                <a:solidFill>
                  <a:srgbClr val="000000"/>
                </a:solidFill>
                <a:latin typeface="BatangChe" pitchFamily="49" charset="-127"/>
              </a:endParaRPr>
            </a:p>
          </p:txBody>
        </p:sp>
        <p:sp>
          <p:nvSpPr>
            <p:cNvPr id="37922" name="Rectangle 33"/>
            <p:cNvSpPr/>
            <p:nvPr/>
          </p:nvSpPr>
          <p:spPr>
            <a:xfrm>
              <a:off x="6260" y="3714"/>
              <a:ext cx="585"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0</a:t>
              </a:r>
              <a:endParaRPr lang="en-GB" altLang="zh-CN" sz="1400" dirty="0">
                <a:solidFill>
                  <a:srgbClr val="000000"/>
                </a:solidFill>
                <a:latin typeface="Times New Roman" pitchFamily="18" charset="0"/>
              </a:endParaRPr>
            </a:p>
          </p:txBody>
        </p:sp>
        <p:sp>
          <p:nvSpPr>
            <p:cNvPr id="37923" name="Rectangle 34"/>
            <p:cNvSpPr/>
            <p:nvPr/>
          </p:nvSpPr>
          <p:spPr>
            <a:xfrm>
              <a:off x="5607" y="3714"/>
              <a:ext cx="654"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0</a:t>
              </a:r>
              <a:endParaRPr lang="en-GB" altLang="zh-CN" sz="1400" dirty="0">
                <a:solidFill>
                  <a:srgbClr val="000000"/>
                </a:solidFill>
                <a:latin typeface="Times New Roman" pitchFamily="18" charset="0"/>
              </a:endParaRPr>
            </a:p>
          </p:txBody>
        </p:sp>
        <p:sp>
          <p:nvSpPr>
            <p:cNvPr id="37924" name="Rectangle 35"/>
            <p:cNvSpPr/>
            <p:nvPr/>
          </p:nvSpPr>
          <p:spPr>
            <a:xfrm>
              <a:off x="5034" y="3714"/>
              <a:ext cx="573"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16.5</a:t>
              </a:r>
              <a:endParaRPr lang="en-GB" altLang="zh-CN" sz="1400" dirty="0">
                <a:solidFill>
                  <a:srgbClr val="000000"/>
                </a:solidFill>
                <a:latin typeface="Times New Roman" pitchFamily="18" charset="0"/>
              </a:endParaRPr>
            </a:p>
          </p:txBody>
        </p:sp>
        <p:sp>
          <p:nvSpPr>
            <p:cNvPr id="37925" name="Rectangle 36"/>
            <p:cNvSpPr/>
            <p:nvPr/>
          </p:nvSpPr>
          <p:spPr>
            <a:xfrm>
              <a:off x="4356" y="3714"/>
              <a:ext cx="678"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1.0</a:t>
              </a:r>
              <a:endParaRPr lang="en-GB" altLang="zh-CN" sz="1400" dirty="0">
                <a:solidFill>
                  <a:srgbClr val="000000"/>
                </a:solidFill>
                <a:latin typeface="Times New Roman" pitchFamily="18" charset="0"/>
              </a:endParaRPr>
            </a:p>
          </p:txBody>
        </p:sp>
        <p:sp>
          <p:nvSpPr>
            <p:cNvPr id="37926" name="Rectangle 37"/>
            <p:cNvSpPr/>
            <p:nvPr/>
          </p:nvSpPr>
          <p:spPr>
            <a:xfrm>
              <a:off x="3878" y="3714"/>
              <a:ext cx="479"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2.4</a:t>
              </a:r>
              <a:endParaRPr lang="en-GB" altLang="zh-CN" sz="1400" dirty="0">
                <a:solidFill>
                  <a:srgbClr val="000000"/>
                </a:solidFill>
                <a:latin typeface="Times New Roman" pitchFamily="18" charset="0"/>
              </a:endParaRPr>
            </a:p>
          </p:txBody>
        </p:sp>
        <p:sp>
          <p:nvSpPr>
            <p:cNvPr id="37927" name="Rectangle 38"/>
            <p:cNvSpPr/>
            <p:nvPr/>
          </p:nvSpPr>
          <p:spPr>
            <a:xfrm>
              <a:off x="3352" y="3714"/>
              <a:ext cx="525"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1.0</a:t>
              </a:r>
              <a:endParaRPr lang="en-GB" altLang="zh-CN" sz="1400" dirty="0">
                <a:solidFill>
                  <a:srgbClr val="000000"/>
                </a:solidFill>
                <a:latin typeface="Times New Roman" pitchFamily="18" charset="0"/>
              </a:endParaRPr>
            </a:p>
          </p:txBody>
        </p:sp>
        <p:sp>
          <p:nvSpPr>
            <p:cNvPr id="37928" name="Rectangle 39"/>
            <p:cNvSpPr/>
            <p:nvPr/>
          </p:nvSpPr>
          <p:spPr>
            <a:xfrm>
              <a:off x="2794" y="3714"/>
              <a:ext cx="558"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2.6</a:t>
              </a:r>
              <a:endParaRPr lang="en-GB" altLang="zh-CN" sz="1400" dirty="0">
                <a:solidFill>
                  <a:srgbClr val="000000"/>
                </a:solidFill>
                <a:latin typeface="Times New Roman" pitchFamily="18" charset="0"/>
              </a:endParaRPr>
            </a:p>
          </p:txBody>
        </p:sp>
        <p:sp>
          <p:nvSpPr>
            <p:cNvPr id="37929" name="Rectangle 40"/>
            <p:cNvSpPr/>
            <p:nvPr/>
          </p:nvSpPr>
          <p:spPr>
            <a:xfrm>
              <a:off x="2219" y="3714"/>
              <a:ext cx="576"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290096</a:t>
              </a:r>
              <a:endParaRPr lang="en-GB" altLang="zh-CN" sz="1400" dirty="0">
                <a:solidFill>
                  <a:srgbClr val="000000"/>
                </a:solidFill>
                <a:latin typeface="Times New Roman" pitchFamily="18" charset="0"/>
              </a:endParaRPr>
            </a:p>
          </p:txBody>
        </p:sp>
        <p:sp>
          <p:nvSpPr>
            <p:cNvPr id="37930" name="Rectangle 41"/>
            <p:cNvSpPr/>
            <p:nvPr/>
          </p:nvSpPr>
          <p:spPr>
            <a:xfrm>
              <a:off x="127" y="3714"/>
              <a:ext cx="2092" cy="134"/>
            </a:xfrm>
            <a:prstGeom prst="rect">
              <a:avLst/>
            </a:prstGeom>
            <a:noFill/>
            <a:ln w="9525">
              <a:noFill/>
            </a:ln>
          </p:spPr>
          <p:txBody>
            <a:bodyPr lIns="18000" tIns="0" rIns="18000" bIns="0"/>
            <a:p>
              <a:pPr marL="338455" indent="-338455" defTabSz="265430">
                <a:buFont typeface="BatangChe" pitchFamily="49" charset="-127"/>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BatangChe" pitchFamily="49" charset="-127"/>
                </a:rPr>
                <a:t>433e60:  addiu   $a1,$a1,4</a:t>
              </a:r>
              <a:endParaRPr lang="en-GB" altLang="zh-CN" sz="1400" dirty="0">
                <a:solidFill>
                  <a:srgbClr val="000000"/>
                </a:solidFill>
                <a:latin typeface="BatangChe" pitchFamily="49" charset="-127"/>
              </a:endParaRPr>
            </a:p>
          </p:txBody>
        </p:sp>
        <p:sp>
          <p:nvSpPr>
            <p:cNvPr id="37931" name="Rectangle 42"/>
            <p:cNvSpPr/>
            <p:nvPr/>
          </p:nvSpPr>
          <p:spPr>
            <a:xfrm>
              <a:off x="6260" y="3572"/>
              <a:ext cx="585" cy="142"/>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0</a:t>
              </a:r>
              <a:endParaRPr lang="en-GB" altLang="zh-CN" sz="1400" dirty="0">
                <a:solidFill>
                  <a:srgbClr val="000000"/>
                </a:solidFill>
                <a:latin typeface="Times New Roman" pitchFamily="18" charset="0"/>
              </a:endParaRPr>
            </a:p>
          </p:txBody>
        </p:sp>
        <p:sp>
          <p:nvSpPr>
            <p:cNvPr id="37932" name="Rectangle 43"/>
            <p:cNvSpPr/>
            <p:nvPr/>
          </p:nvSpPr>
          <p:spPr>
            <a:xfrm>
              <a:off x="5607" y="3572"/>
              <a:ext cx="654" cy="142"/>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0</a:t>
              </a:r>
              <a:endParaRPr lang="en-GB" altLang="zh-CN" sz="1400" dirty="0">
                <a:solidFill>
                  <a:srgbClr val="000000"/>
                </a:solidFill>
                <a:latin typeface="Times New Roman" pitchFamily="18" charset="0"/>
              </a:endParaRPr>
            </a:p>
          </p:txBody>
        </p:sp>
        <p:sp>
          <p:nvSpPr>
            <p:cNvPr id="37933" name="Rectangle 44"/>
            <p:cNvSpPr/>
            <p:nvPr/>
          </p:nvSpPr>
          <p:spPr>
            <a:xfrm>
              <a:off x="5034" y="3572"/>
              <a:ext cx="573" cy="142"/>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17.3</a:t>
              </a:r>
              <a:endParaRPr lang="en-GB" altLang="zh-CN" sz="1400" dirty="0">
                <a:solidFill>
                  <a:srgbClr val="000000"/>
                </a:solidFill>
                <a:latin typeface="Times New Roman" pitchFamily="18" charset="0"/>
              </a:endParaRPr>
            </a:p>
          </p:txBody>
        </p:sp>
        <p:sp>
          <p:nvSpPr>
            <p:cNvPr id="37934" name="Rectangle 45"/>
            <p:cNvSpPr/>
            <p:nvPr/>
          </p:nvSpPr>
          <p:spPr>
            <a:xfrm>
              <a:off x="4356" y="3572"/>
              <a:ext cx="678" cy="142"/>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1.0</a:t>
              </a:r>
              <a:endParaRPr lang="en-GB" altLang="zh-CN" sz="1400" dirty="0">
                <a:solidFill>
                  <a:srgbClr val="000000"/>
                </a:solidFill>
                <a:latin typeface="Times New Roman" pitchFamily="18" charset="0"/>
              </a:endParaRPr>
            </a:p>
          </p:txBody>
        </p:sp>
        <p:sp>
          <p:nvSpPr>
            <p:cNvPr id="37935" name="Rectangle 46"/>
            <p:cNvSpPr/>
            <p:nvPr/>
          </p:nvSpPr>
          <p:spPr>
            <a:xfrm>
              <a:off x="3878" y="3572"/>
              <a:ext cx="479" cy="142"/>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2.4</a:t>
              </a:r>
              <a:endParaRPr lang="en-GB" altLang="zh-CN" sz="1400" dirty="0">
                <a:solidFill>
                  <a:srgbClr val="000000"/>
                </a:solidFill>
                <a:latin typeface="Times New Roman" pitchFamily="18" charset="0"/>
              </a:endParaRPr>
            </a:p>
          </p:txBody>
        </p:sp>
        <p:sp>
          <p:nvSpPr>
            <p:cNvPr id="37936" name="Rectangle 47"/>
            <p:cNvSpPr/>
            <p:nvPr/>
          </p:nvSpPr>
          <p:spPr>
            <a:xfrm>
              <a:off x="3352" y="3572"/>
              <a:ext cx="525" cy="142"/>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1.5</a:t>
              </a:r>
              <a:endParaRPr lang="en-GB" altLang="zh-CN" sz="1400" dirty="0">
                <a:solidFill>
                  <a:srgbClr val="000000"/>
                </a:solidFill>
                <a:latin typeface="Times New Roman" pitchFamily="18" charset="0"/>
              </a:endParaRPr>
            </a:p>
          </p:txBody>
        </p:sp>
        <p:sp>
          <p:nvSpPr>
            <p:cNvPr id="37937" name="Rectangle 48"/>
            <p:cNvSpPr/>
            <p:nvPr/>
          </p:nvSpPr>
          <p:spPr>
            <a:xfrm>
              <a:off x="2794" y="3572"/>
              <a:ext cx="558" cy="142"/>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2.3</a:t>
              </a:r>
              <a:endParaRPr lang="en-GB" altLang="zh-CN" sz="1400" dirty="0">
                <a:solidFill>
                  <a:srgbClr val="000000"/>
                </a:solidFill>
                <a:latin typeface="Times New Roman" pitchFamily="18" charset="0"/>
              </a:endParaRPr>
            </a:p>
          </p:txBody>
        </p:sp>
        <p:sp>
          <p:nvSpPr>
            <p:cNvPr id="37938" name="Rectangle 49"/>
            <p:cNvSpPr/>
            <p:nvPr/>
          </p:nvSpPr>
          <p:spPr>
            <a:xfrm>
              <a:off x="2219" y="3572"/>
              <a:ext cx="576" cy="142"/>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290096</a:t>
              </a:r>
              <a:endParaRPr lang="en-GB" altLang="zh-CN" sz="1400" dirty="0">
                <a:solidFill>
                  <a:srgbClr val="000000"/>
                </a:solidFill>
                <a:latin typeface="Times New Roman" pitchFamily="18" charset="0"/>
              </a:endParaRPr>
            </a:p>
          </p:txBody>
        </p:sp>
        <p:sp>
          <p:nvSpPr>
            <p:cNvPr id="37939" name="Rectangle 50"/>
            <p:cNvSpPr/>
            <p:nvPr/>
          </p:nvSpPr>
          <p:spPr>
            <a:xfrm>
              <a:off x="127" y="3572"/>
              <a:ext cx="2092" cy="142"/>
            </a:xfrm>
            <a:prstGeom prst="rect">
              <a:avLst/>
            </a:prstGeom>
            <a:noFill/>
            <a:ln w="9525">
              <a:noFill/>
            </a:ln>
          </p:spPr>
          <p:txBody>
            <a:bodyPr lIns="18000" tIns="0" rIns="18000" bIns="0"/>
            <a:p>
              <a:pPr marL="338455" indent="-338455" defTabSz="265430">
                <a:buFont typeface="BatangChe" pitchFamily="49" charset="-127"/>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BatangChe" pitchFamily="49" charset="-127"/>
                </a:rPr>
                <a:t>433e5c:  addiu   $a2,$a2,-1</a:t>
              </a:r>
              <a:endParaRPr lang="en-GB" altLang="zh-CN" sz="1400" dirty="0">
                <a:solidFill>
                  <a:srgbClr val="000000"/>
                </a:solidFill>
                <a:latin typeface="BatangChe" pitchFamily="49" charset="-127"/>
              </a:endParaRPr>
            </a:p>
          </p:txBody>
        </p:sp>
        <p:sp>
          <p:nvSpPr>
            <p:cNvPr id="37940" name="Rectangle 51"/>
            <p:cNvSpPr/>
            <p:nvPr/>
          </p:nvSpPr>
          <p:spPr>
            <a:xfrm>
              <a:off x="6260" y="3438"/>
              <a:ext cx="585"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8609</a:t>
              </a:r>
              <a:endParaRPr lang="en-GB" altLang="zh-CN" sz="1400" dirty="0">
                <a:solidFill>
                  <a:srgbClr val="000000"/>
                </a:solidFill>
                <a:latin typeface="Times New Roman" pitchFamily="18" charset="0"/>
              </a:endParaRPr>
            </a:p>
          </p:txBody>
        </p:sp>
        <p:sp>
          <p:nvSpPr>
            <p:cNvPr id="37941" name="Rectangle 52"/>
            <p:cNvSpPr/>
            <p:nvPr/>
          </p:nvSpPr>
          <p:spPr>
            <a:xfrm>
              <a:off x="5607" y="3438"/>
              <a:ext cx="654"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0</a:t>
              </a:r>
              <a:endParaRPr lang="en-GB" altLang="zh-CN" sz="1400" dirty="0">
                <a:solidFill>
                  <a:srgbClr val="000000"/>
                </a:solidFill>
                <a:latin typeface="Times New Roman" pitchFamily="18" charset="0"/>
              </a:endParaRPr>
            </a:p>
          </p:txBody>
        </p:sp>
        <p:sp>
          <p:nvSpPr>
            <p:cNvPr id="37942" name="Rectangle 53"/>
            <p:cNvSpPr/>
            <p:nvPr/>
          </p:nvSpPr>
          <p:spPr>
            <a:xfrm>
              <a:off x="5034" y="3438"/>
              <a:ext cx="573"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0.0</a:t>
              </a:r>
              <a:endParaRPr lang="en-GB" altLang="zh-CN" sz="1400" dirty="0">
                <a:solidFill>
                  <a:srgbClr val="000000"/>
                </a:solidFill>
                <a:latin typeface="Times New Roman" pitchFamily="18" charset="0"/>
              </a:endParaRPr>
            </a:p>
          </p:txBody>
        </p:sp>
        <p:sp>
          <p:nvSpPr>
            <p:cNvPr id="37943" name="Rectangle 54"/>
            <p:cNvSpPr/>
            <p:nvPr/>
          </p:nvSpPr>
          <p:spPr>
            <a:xfrm>
              <a:off x="4356" y="3438"/>
              <a:ext cx="678"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18.5</a:t>
              </a:r>
              <a:endParaRPr lang="en-GB" altLang="zh-CN" sz="1400" dirty="0">
                <a:solidFill>
                  <a:srgbClr val="000000"/>
                </a:solidFill>
                <a:latin typeface="Times New Roman" pitchFamily="18" charset="0"/>
              </a:endParaRPr>
            </a:p>
          </p:txBody>
        </p:sp>
        <p:sp>
          <p:nvSpPr>
            <p:cNvPr id="37944" name="Rectangle 55"/>
            <p:cNvSpPr/>
            <p:nvPr/>
          </p:nvSpPr>
          <p:spPr>
            <a:xfrm>
              <a:off x="3878" y="3438"/>
              <a:ext cx="479"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2.4</a:t>
              </a:r>
              <a:endParaRPr lang="en-GB" altLang="zh-CN" sz="1400" dirty="0">
                <a:solidFill>
                  <a:srgbClr val="000000"/>
                </a:solidFill>
                <a:latin typeface="Times New Roman" pitchFamily="18" charset="0"/>
              </a:endParaRPr>
            </a:p>
          </p:txBody>
        </p:sp>
        <p:sp>
          <p:nvSpPr>
            <p:cNvPr id="37945" name="Rectangle 56"/>
            <p:cNvSpPr/>
            <p:nvPr/>
          </p:nvSpPr>
          <p:spPr>
            <a:xfrm>
              <a:off x="3352" y="3438"/>
              <a:ext cx="525"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1.5</a:t>
              </a:r>
              <a:endParaRPr lang="en-GB" altLang="zh-CN" sz="1400" dirty="0">
                <a:solidFill>
                  <a:srgbClr val="000000"/>
                </a:solidFill>
                <a:latin typeface="Times New Roman" pitchFamily="18" charset="0"/>
              </a:endParaRPr>
            </a:p>
          </p:txBody>
        </p:sp>
        <p:sp>
          <p:nvSpPr>
            <p:cNvPr id="37946" name="Rectangle 57"/>
            <p:cNvSpPr/>
            <p:nvPr/>
          </p:nvSpPr>
          <p:spPr>
            <a:xfrm>
              <a:off x="2794" y="3438"/>
              <a:ext cx="558"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2.3</a:t>
              </a:r>
              <a:endParaRPr lang="en-GB" altLang="zh-CN" sz="1400" dirty="0">
                <a:solidFill>
                  <a:srgbClr val="000000"/>
                </a:solidFill>
                <a:latin typeface="Times New Roman" pitchFamily="18" charset="0"/>
              </a:endParaRPr>
            </a:p>
          </p:txBody>
        </p:sp>
        <p:sp>
          <p:nvSpPr>
            <p:cNvPr id="37947" name="Rectangle 58"/>
            <p:cNvSpPr/>
            <p:nvPr/>
          </p:nvSpPr>
          <p:spPr>
            <a:xfrm>
              <a:off x="2219" y="3438"/>
              <a:ext cx="576" cy="134"/>
            </a:xfrm>
            <a:prstGeom prst="rect">
              <a:avLst/>
            </a:prstGeom>
            <a:noFill/>
            <a:ln w="9525">
              <a:noFill/>
            </a:ln>
          </p:spPr>
          <p:txBody>
            <a:bodyPr lIns="18000" tIns="0" rIns="18000" bIns="0"/>
            <a:p>
              <a:pPr marL="338455" indent="-338455" algn="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290096</a:t>
              </a:r>
              <a:endParaRPr lang="en-GB" altLang="zh-CN" sz="1400" dirty="0">
                <a:solidFill>
                  <a:srgbClr val="000000"/>
                </a:solidFill>
                <a:latin typeface="Times New Roman" pitchFamily="18" charset="0"/>
              </a:endParaRPr>
            </a:p>
          </p:txBody>
        </p:sp>
        <p:sp>
          <p:nvSpPr>
            <p:cNvPr id="37948" name="Rectangle 59"/>
            <p:cNvSpPr/>
            <p:nvPr/>
          </p:nvSpPr>
          <p:spPr>
            <a:xfrm>
              <a:off x="127" y="3438"/>
              <a:ext cx="2092" cy="134"/>
            </a:xfrm>
            <a:prstGeom prst="rect">
              <a:avLst/>
            </a:prstGeom>
            <a:noFill/>
            <a:ln w="9525">
              <a:noFill/>
            </a:ln>
          </p:spPr>
          <p:txBody>
            <a:bodyPr lIns="18000" tIns="0" rIns="18000" bIns="0"/>
            <a:p>
              <a:pPr marL="338455" indent="-338455" defTabSz="265430">
                <a:buFont typeface="BatangChe" pitchFamily="49" charset="-127"/>
                <a:buNone/>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BatangChe" pitchFamily="49" charset="-127"/>
                </a:rPr>
                <a:t>433e58:  lw      $v0,0($a1)</a:t>
              </a:r>
              <a:r>
                <a:rPr lang="ar-SA" altLang="zh-CN" sz="1400" dirty="0">
                  <a:solidFill>
                    <a:srgbClr val="000000"/>
                  </a:solidFill>
                  <a:latin typeface="BatangChe" pitchFamily="49" charset="-127"/>
                  <a:cs typeface="Arial" panose="02080604020202020204" pitchFamily="34" charset="0"/>
                </a:rPr>
                <a:t>‏</a:t>
              </a:r>
              <a:endParaRPr lang="en-GB" altLang="zh-CN" sz="1400" dirty="0">
                <a:solidFill>
                  <a:srgbClr val="000000"/>
                </a:solidFill>
                <a:latin typeface="BatangChe" pitchFamily="49" charset="-127"/>
              </a:endParaRPr>
            </a:p>
          </p:txBody>
        </p:sp>
        <p:sp>
          <p:nvSpPr>
            <p:cNvPr id="37949" name="Rectangle 60"/>
            <p:cNvSpPr/>
            <p:nvPr/>
          </p:nvSpPr>
          <p:spPr>
            <a:xfrm>
              <a:off x="6260" y="3170"/>
              <a:ext cx="585" cy="268"/>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Cache</a:t>
              </a:r>
              <a:endParaRPr lang="en-GB" altLang="zh-CN" sz="1400" dirty="0">
                <a:solidFill>
                  <a:srgbClr val="000000"/>
                </a:solidFill>
                <a:latin typeface="Times New Roman" pitchFamily="18" charset="0"/>
              </a:endParaRPr>
            </a:p>
            <a:p>
              <a:pPr marL="338455" indent="-338455" algn="ctr" defTabSz="265430" eaLnBrk="0" hangingPunct="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Miss</a:t>
              </a:r>
              <a:endParaRPr lang="en-GB" altLang="zh-CN" sz="1400" dirty="0">
                <a:solidFill>
                  <a:srgbClr val="000000"/>
                </a:solidFill>
                <a:latin typeface="Times New Roman" pitchFamily="18" charset="0"/>
              </a:endParaRPr>
            </a:p>
          </p:txBody>
        </p:sp>
        <p:sp>
          <p:nvSpPr>
            <p:cNvPr id="37950" name="Rectangle 61"/>
            <p:cNvSpPr/>
            <p:nvPr/>
          </p:nvSpPr>
          <p:spPr>
            <a:xfrm>
              <a:off x="5607" y="3170"/>
              <a:ext cx="654" cy="268"/>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Branch</a:t>
              </a:r>
              <a:endParaRPr lang="en-GB" altLang="zh-CN" sz="1400" dirty="0">
                <a:solidFill>
                  <a:srgbClr val="000000"/>
                </a:solidFill>
                <a:latin typeface="Times New Roman" pitchFamily="18" charset="0"/>
              </a:endParaRPr>
            </a:p>
            <a:p>
              <a:pPr marL="338455" indent="-338455" algn="ctr" defTabSz="265430" eaLnBrk="0" hangingPunct="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Miss</a:t>
              </a:r>
              <a:endParaRPr lang="en-GB" altLang="zh-CN" sz="1400" dirty="0">
                <a:solidFill>
                  <a:srgbClr val="000000"/>
                </a:solidFill>
                <a:latin typeface="Times New Roman" pitchFamily="18" charset="0"/>
              </a:endParaRPr>
            </a:p>
          </p:txBody>
        </p:sp>
        <p:sp>
          <p:nvSpPr>
            <p:cNvPr id="37951" name="Rectangle 62"/>
            <p:cNvSpPr/>
            <p:nvPr/>
          </p:nvSpPr>
          <p:spPr>
            <a:xfrm>
              <a:off x="5034" y="3170"/>
              <a:ext cx="573" cy="268"/>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Commit</a:t>
              </a:r>
              <a:endParaRPr lang="en-GB" altLang="zh-CN" sz="1400" dirty="0">
                <a:solidFill>
                  <a:srgbClr val="000000"/>
                </a:solidFill>
                <a:latin typeface="Times New Roman" pitchFamily="18" charset="0"/>
              </a:endParaRPr>
            </a:p>
          </p:txBody>
        </p:sp>
        <p:sp>
          <p:nvSpPr>
            <p:cNvPr id="37952" name="Rectangle 63"/>
            <p:cNvSpPr/>
            <p:nvPr/>
          </p:nvSpPr>
          <p:spPr>
            <a:xfrm>
              <a:off x="4356" y="3170"/>
              <a:ext cx="678" cy="268"/>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Execution</a:t>
              </a:r>
              <a:endParaRPr lang="en-GB" altLang="zh-CN" sz="1400" dirty="0">
                <a:solidFill>
                  <a:srgbClr val="000000"/>
                </a:solidFill>
                <a:latin typeface="Times New Roman" pitchFamily="18" charset="0"/>
              </a:endParaRPr>
            </a:p>
          </p:txBody>
        </p:sp>
        <p:sp>
          <p:nvSpPr>
            <p:cNvPr id="37953" name="Rectangle 64"/>
            <p:cNvSpPr/>
            <p:nvPr/>
          </p:nvSpPr>
          <p:spPr>
            <a:xfrm>
              <a:off x="3878" y="3170"/>
              <a:ext cx="479" cy="268"/>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Issue</a:t>
              </a:r>
              <a:endParaRPr lang="en-GB" altLang="zh-CN" sz="1400" dirty="0">
                <a:solidFill>
                  <a:srgbClr val="000000"/>
                </a:solidFill>
                <a:latin typeface="Times New Roman" pitchFamily="18" charset="0"/>
              </a:endParaRPr>
            </a:p>
          </p:txBody>
        </p:sp>
        <p:sp>
          <p:nvSpPr>
            <p:cNvPr id="37954" name="Rectangle 65"/>
            <p:cNvSpPr/>
            <p:nvPr/>
          </p:nvSpPr>
          <p:spPr>
            <a:xfrm>
              <a:off x="3352" y="3170"/>
              <a:ext cx="525" cy="268"/>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Register</a:t>
              </a:r>
              <a:endParaRPr lang="en-GB" altLang="zh-CN" sz="1400" dirty="0">
                <a:solidFill>
                  <a:srgbClr val="000000"/>
                </a:solidFill>
                <a:latin typeface="Times New Roman" pitchFamily="18" charset="0"/>
              </a:endParaRPr>
            </a:p>
            <a:p>
              <a:pPr marL="338455" indent="-338455" algn="ctr" defTabSz="265430" eaLnBrk="0" hangingPunct="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Map</a:t>
              </a:r>
              <a:endParaRPr lang="en-GB" altLang="zh-CN" sz="1400" dirty="0">
                <a:solidFill>
                  <a:srgbClr val="000000"/>
                </a:solidFill>
                <a:latin typeface="Times New Roman" pitchFamily="18" charset="0"/>
              </a:endParaRPr>
            </a:p>
          </p:txBody>
        </p:sp>
        <p:sp>
          <p:nvSpPr>
            <p:cNvPr id="37955" name="Rectangle 66"/>
            <p:cNvSpPr/>
            <p:nvPr/>
          </p:nvSpPr>
          <p:spPr>
            <a:xfrm>
              <a:off x="2794" y="3170"/>
              <a:ext cx="558" cy="268"/>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Fetch/</a:t>
              </a:r>
              <a:endParaRPr lang="en-GB" altLang="zh-CN" sz="1400" dirty="0">
                <a:solidFill>
                  <a:srgbClr val="000000"/>
                </a:solidFill>
                <a:latin typeface="Times New Roman" pitchFamily="18" charset="0"/>
              </a:endParaRPr>
            </a:p>
            <a:p>
              <a:pPr marL="338455" indent="-338455" algn="ctr" defTabSz="265430" eaLnBrk="0" hangingPunct="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Decoder</a:t>
              </a:r>
              <a:endParaRPr lang="en-GB" altLang="zh-CN" sz="1400" dirty="0">
                <a:solidFill>
                  <a:srgbClr val="000000"/>
                </a:solidFill>
                <a:latin typeface="Times New Roman" pitchFamily="18" charset="0"/>
              </a:endParaRPr>
            </a:p>
          </p:txBody>
        </p:sp>
        <p:sp>
          <p:nvSpPr>
            <p:cNvPr id="37956" name="Rectangle 67"/>
            <p:cNvSpPr/>
            <p:nvPr/>
          </p:nvSpPr>
          <p:spPr>
            <a:xfrm>
              <a:off x="2219" y="3170"/>
              <a:ext cx="576" cy="268"/>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Exe.</a:t>
              </a:r>
              <a:endParaRPr lang="en-GB" altLang="zh-CN" sz="1400" dirty="0">
                <a:solidFill>
                  <a:srgbClr val="000000"/>
                </a:solidFill>
                <a:latin typeface="Times New Roman" pitchFamily="18" charset="0"/>
              </a:endParaRPr>
            </a:p>
            <a:p>
              <a:pPr marL="338455" indent="-338455" algn="ctr" defTabSz="265430" eaLnBrk="0" hangingPunct="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Times</a:t>
              </a:r>
              <a:endParaRPr lang="en-GB" altLang="zh-CN" sz="1400" dirty="0">
                <a:solidFill>
                  <a:srgbClr val="000000"/>
                </a:solidFill>
                <a:latin typeface="Times New Roman" pitchFamily="18" charset="0"/>
              </a:endParaRPr>
            </a:p>
          </p:txBody>
        </p:sp>
        <p:sp>
          <p:nvSpPr>
            <p:cNvPr id="37957" name="Rectangle 68"/>
            <p:cNvSpPr/>
            <p:nvPr/>
          </p:nvSpPr>
          <p:spPr>
            <a:xfrm>
              <a:off x="127" y="3170"/>
              <a:ext cx="2092" cy="268"/>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Lst>
              </a:pPr>
              <a:r>
                <a:rPr lang="en-GB" altLang="zh-CN" sz="1400" dirty="0">
                  <a:solidFill>
                    <a:srgbClr val="000000"/>
                  </a:solidFill>
                  <a:latin typeface="Times New Roman" pitchFamily="18" charset="0"/>
                </a:rPr>
                <a:t>Program Segment</a:t>
              </a:r>
              <a:endParaRPr lang="en-GB" altLang="zh-CN" sz="1400" dirty="0">
                <a:solidFill>
                  <a:srgbClr val="000000"/>
                </a:solidFill>
                <a:latin typeface="Times New Roman" pitchFamily="18" charset="0"/>
              </a:endParaRPr>
            </a:p>
          </p:txBody>
        </p:sp>
        <p:sp>
          <p:nvSpPr>
            <p:cNvPr id="37958" name="Rectangle 69"/>
            <p:cNvSpPr/>
            <p:nvPr/>
          </p:nvSpPr>
          <p:spPr>
            <a:xfrm>
              <a:off x="127" y="3036"/>
              <a:ext cx="6719" cy="134"/>
            </a:xfrm>
            <a:prstGeom prst="rect">
              <a:avLst/>
            </a:prstGeom>
            <a:noFill/>
            <a:ln w="9525">
              <a:noFill/>
            </a:ln>
          </p:spPr>
          <p:txBody>
            <a:bodyPr lIns="18000" tIns="0" rIns="18000" bIns="0" anchor="ctr" anchorCtr="0"/>
            <a:p>
              <a:pPr marL="338455" indent="-338455" algn="ctr" defTabSz="265430">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 pos="5791200" algn="l"/>
                  <a:tab pos="6515100" algn="l"/>
                  <a:tab pos="7239000" algn="l"/>
                  <a:tab pos="7962900" algn="l"/>
                  <a:tab pos="8686800" algn="l"/>
                  <a:tab pos="9410700" algn="l"/>
                  <a:tab pos="10134600" algn="l"/>
                </a:tabLst>
              </a:pPr>
              <a:r>
                <a:rPr lang="en-GB" altLang="zh-CN" sz="1400" dirty="0">
                  <a:solidFill>
                    <a:srgbClr val="000000"/>
                  </a:solidFill>
                  <a:latin typeface="Times New Roman" pitchFamily="18" charset="0"/>
                </a:rPr>
                <a:t>Table 5. Statistics of memory copy program segment </a:t>
              </a:r>
              <a:endParaRPr lang="en-GB" altLang="zh-CN" sz="1400" dirty="0">
                <a:solidFill>
                  <a:srgbClr val="000000"/>
                </a:solidFill>
                <a:latin typeface="Times New Roman" pitchFamily="18" charset="0"/>
              </a:endParaRPr>
            </a:p>
          </p:txBody>
        </p:sp>
        <p:sp>
          <p:nvSpPr>
            <p:cNvPr id="37959" name="Line 70"/>
            <p:cNvSpPr/>
            <p:nvPr/>
          </p:nvSpPr>
          <p:spPr>
            <a:xfrm>
              <a:off x="127" y="3036"/>
              <a:ext cx="6719" cy="1"/>
            </a:xfrm>
            <a:prstGeom prst="line">
              <a:avLst/>
            </a:prstGeom>
            <a:ln w="9360" cap="flat" cmpd="sng">
              <a:solidFill>
                <a:srgbClr val="000000"/>
              </a:solidFill>
              <a:prstDash val="solid"/>
              <a:miter/>
              <a:headEnd type="none" w="med" len="med"/>
              <a:tailEnd type="none" w="med" len="med"/>
            </a:ln>
          </p:spPr>
        </p:sp>
        <p:sp>
          <p:nvSpPr>
            <p:cNvPr id="37960" name="Line 71"/>
            <p:cNvSpPr/>
            <p:nvPr/>
          </p:nvSpPr>
          <p:spPr>
            <a:xfrm>
              <a:off x="127" y="4250"/>
              <a:ext cx="6719" cy="1"/>
            </a:xfrm>
            <a:prstGeom prst="line">
              <a:avLst/>
            </a:prstGeom>
            <a:ln w="12600" cap="flat" cmpd="sng">
              <a:solidFill>
                <a:srgbClr val="000000"/>
              </a:solidFill>
              <a:prstDash val="solid"/>
              <a:miter/>
              <a:headEnd type="none" w="med" len="med"/>
              <a:tailEnd type="none" w="med" len="med"/>
            </a:ln>
          </p:spPr>
        </p:sp>
        <p:sp>
          <p:nvSpPr>
            <p:cNvPr id="37961" name="Line 72"/>
            <p:cNvSpPr/>
            <p:nvPr/>
          </p:nvSpPr>
          <p:spPr>
            <a:xfrm>
              <a:off x="127" y="3036"/>
              <a:ext cx="1" cy="1214"/>
            </a:xfrm>
            <a:prstGeom prst="line">
              <a:avLst/>
            </a:prstGeom>
            <a:ln w="9360" cap="flat" cmpd="sng">
              <a:solidFill>
                <a:srgbClr val="000000"/>
              </a:solidFill>
              <a:prstDash val="solid"/>
              <a:miter/>
              <a:headEnd type="none" w="med" len="med"/>
              <a:tailEnd type="none" w="med" len="med"/>
            </a:ln>
          </p:spPr>
        </p:sp>
        <p:sp>
          <p:nvSpPr>
            <p:cNvPr id="37962" name="Line 73"/>
            <p:cNvSpPr/>
            <p:nvPr/>
          </p:nvSpPr>
          <p:spPr>
            <a:xfrm>
              <a:off x="6846" y="3036"/>
              <a:ext cx="1" cy="1214"/>
            </a:xfrm>
            <a:prstGeom prst="line">
              <a:avLst/>
            </a:prstGeom>
            <a:ln w="9360" cap="flat" cmpd="sng">
              <a:solidFill>
                <a:srgbClr val="000000"/>
              </a:solidFill>
              <a:prstDash val="solid"/>
              <a:miter/>
              <a:headEnd type="none" w="med" len="med"/>
              <a:tailEnd type="none" w="med" len="med"/>
            </a:ln>
          </p:spPr>
        </p:sp>
        <p:sp>
          <p:nvSpPr>
            <p:cNvPr id="37963" name="Line 74"/>
            <p:cNvSpPr/>
            <p:nvPr/>
          </p:nvSpPr>
          <p:spPr>
            <a:xfrm>
              <a:off x="127" y="3170"/>
              <a:ext cx="6719" cy="1"/>
            </a:xfrm>
            <a:prstGeom prst="line">
              <a:avLst/>
            </a:prstGeom>
            <a:ln w="12600" cap="flat" cmpd="sng">
              <a:solidFill>
                <a:srgbClr val="000000"/>
              </a:solidFill>
              <a:prstDash val="solid"/>
              <a:miter/>
              <a:headEnd type="none" w="med" len="med"/>
              <a:tailEnd type="none" w="med" len="med"/>
            </a:ln>
          </p:spPr>
        </p:sp>
        <p:sp>
          <p:nvSpPr>
            <p:cNvPr id="37964" name="Line 75"/>
            <p:cNvSpPr/>
            <p:nvPr/>
          </p:nvSpPr>
          <p:spPr>
            <a:xfrm>
              <a:off x="127" y="3438"/>
              <a:ext cx="6719" cy="1"/>
            </a:xfrm>
            <a:prstGeom prst="line">
              <a:avLst/>
            </a:prstGeom>
            <a:ln w="12600" cap="flat" cmpd="sng">
              <a:solidFill>
                <a:srgbClr val="000000"/>
              </a:solidFill>
              <a:prstDash val="solid"/>
              <a:miter/>
              <a:headEnd type="none" w="med" len="med"/>
              <a:tailEnd type="none" w="med" len="med"/>
            </a:ln>
          </p:spPr>
        </p:sp>
        <p:sp>
          <p:nvSpPr>
            <p:cNvPr id="37965" name="Line 76"/>
            <p:cNvSpPr/>
            <p:nvPr/>
          </p:nvSpPr>
          <p:spPr>
            <a:xfrm>
              <a:off x="2219" y="3170"/>
              <a:ext cx="1" cy="1080"/>
            </a:xfrm>
            <a:prstGeom prst="line">
              <a:avLst/>
            </a:prstGeom>
            <a:ln w="12600" cap="flat" cmpd="sng">
              <a:solidFill>
                <a:srgbClr val="000000"/>
              </a:solidFill>
              <a:prstDash val="solid"/>
              <a:miter/>
              <a:headEnd type="none" w="med" len="med"/>
              <a:tailEnd type="none" w="med" len="med"/>
            </a:ln>
          </p:spPr>
        </p:sp>
        <p:sp>
          <p:nvSpPr>
            <p:cNvPr id="37966" name="Line 77"/>
            <p:cNvSpPr/>
            <p:nvPr/>
          </p:nvSpPr>
          <p:spPr>
            <a:xfrm>
              <a:off x="2794" y="3170"/>
              <a:ext cx="1" cy="1080"/>
            </a:xfrm>
            <a:prstGeom prst="line">
              <a:avLst/>
            </a:prstGeom>
            <a:ln w="12600" cap="flat" cmpd="sng">
              <a:solidFill>
                <a:srgbClr val="000000"/>
              </a:solidFill>
              <a:prstDash val="solid"/>
              <a:miter/>
              <a:headEnd type="none" w="med" len="med"/>
              <a:tailEnd type="none" w="med" len="med"/>
            </a:ln>
          </p:spPr>
        </p:sp>
        <p:sp>
          <p:nvSpPr>
            <p:cNvPr id="37967" name="Line 78"/>
            <p:cNvSpPr/>
            <p:nvPr/>
          </p:nvSpPr>
          <p:spPr>
            <a:xfrm>
              <a:off x="3352" y="3170"/>
              <a:ext cx="1" cy="1080"/>
            </a:xfrm>
            <a:prstGeom prst="line">
              <a:avLst/>
            </a:prstGeom>
            <a:ln w="12600" cap="flat" cmpd="sng">
              <a:solidFill>
                <a:srgbClr val="000000"/>
              </a:solidFill>
              <a:prstDash val="solid"/>
              <a:miter/>
              <a:headEnd type="none" w="med" len="med"/>
              <a:tailEnd type="none" w="med" len="med"/>
            </a:ln>
          </p:spPr>
        </p:sp>
        <p:sp>
          <p:nvSpPr>
            <p:cNvPr id="37968" name="Line 79"/>
            <p:cNvSpPr/>
            <p:nvPr/>
          </p:nvSpPr>
          <p:spPr>
            <a:xfrm>
              <a:off x="3878" y="3170"/>
              <a:ext cx="1" cy="1080"/>
            </a:xfrm>
            <a:prstGeom prst="line">
              <a:avLst/>
            </a:prstGeom>
            <a:ln w="12600" cap="flat" cmpd="sng">
              <a:solidFill>
                <a:srgbClr val="000000"/>
              </a:solidFill>
              <a:prstDash val="solid"/>
              <a:miter/>
              <a:headEnd type="none" w="med" len="med"/>
              <a:tailEnd type="none" w="med" len="med"/>
            </a:ln>
          </p:spPr>
        </p:sp>
        <p:sp>
          <p:nvSpPr>
            <p:cNvPr id="37969" name="Line 80"/>
            <p:cNvSpPr/>
            <p:nvPr/>
          </p:nvSpPr>
          <p:spPr>
            <a:xfrm>
              <a:off x="4356" y="3170"/>
              <a:ext cx="1" cy="1080"/>
            </a:xfrm>
            <a:prstGeom prst="line">
              <a:avLst/>
            </a:prstGeom>
            <a:ln w="12600" cap="flat" cmpd="sng">
              <a:solidFill>
                <a:srgbClr val="000000"/>
              </a:solidFill>
              <a:prstDash val="solid"/>
              <a:miter/>
              <a:headEnd type="none" w="med" len="med"/>
              <a:tailEnd type="none" w="med" len="med"/>
            </a:ln>
          </p:spPr>
        </p:sp>
        <p:sp>
          <p:nvSpPr>
            <p:cNvPr id="37970" name="Line 81"/>
            <p:cNvSpPr/>
            <p:nvPr/>
          </p:nvSpPr>
          <p:spPr>
            <a:xfrm>
              <a:off x="5034" y="3170"/>
              <a:ext cx="1" cy="1080"/>
            </a:xfrm>
            <a:prstGeom prst="line">
              <a:avLst/>
            </a:prstGeom>
            <a:ln w="12600" cap="flat" cmpd="sng">
              <a:solidFill>
                <a:srgbClr val="000000"/>
              </a:solidFill>
              <a:prstDash val="solid"/>
              <a:miter/>
              <a:headEnd type="none" w="med" len="med"/>
              <a:tailEnd type="none" w="med" len="med"/>
            </a:ln>
          </p:spPr>
        </p:sp>
        <p:sp>
          <p:nvSpPr>
            <p:cNvPr id="37971" name="Line 82"/>
            <p:cNvSpPr/>
            <p:nvPr/>
          </p:nvSpPr>
          <p:spPr>
            <a:xfrm>
              <a:off x="5607" y="3170"/>
              <a:ext cx="1" cy="1080"/>
            </a:xfrm>
            <a:prstGeom prst="line">
              <a:avLst/>
            </a:prstGeom>
            <a:ln w="12600" cap="flat" cmpd="sng">
              <a:solidFill>
                <a:srgbClr val="000000"/>
              </a:solidFill>
              <a:prstDash val="solid"/>
              <a:miter/>
              <a:headEnd type="none" w="med" len="med"/>
              <a:tailEnd type="none" w="med" len="med"/>
            </a:ln>
          </p:spPr>
        </p:sp>
        <p:sp>
          <p:nvSpPr>
            <p:cNvPr id="37972" name="Line 83"/>
            <p:cNvSpPr/>
            <p:nvPr/>
          </p:nvSpPr>
          <p:spPr>
            <a:xfrm>
              <a:off x="6260" y="3170"/>
              <a:ext cx="1" cy="1080"/>
            </a:xfrm>
            <a:prstGeom prst="line">
              <a:avLst/>
            </a:prstGeom>
            <a:ln w="12600" cap="flat" cmpd="sng">
              <a:solidFill>
                <a:srgbClr val="000000"/>
              </a:solidFill>
              <a:prstDash val="solid"/>
              <a:miter/>
              <a:headEnd type="none" w="med" len="med"/>
              <a:tailEnd type="none" w="med" len="med"/>
            </a:ln>
          </p:spPr>
        </p:sp>
        <p:sp>
          <p:nvSpPr>
            <p:cNvPr id="37973" name="Line 84"/>
            <p:cNvSpPr/>
            <p:nvPr/>
          </p:nvSpPr>
          <p:spPr>
            <a:xfrm>
              <a:off x="127" y="3572"/>
              <a:ext cx="6719" cy="1"/>
            </a:xfrm>
            <a:prstGeom prst="line">
              <a:avLst/>
            </a:prstGeom>
            <a:ln w="12600" cap="flat" cmpd="sng">
              <a:solidFill>
                <a:srgbClr val="000000"/>
              </a:solidFill>
              <a:prstDash val="solid"/>
              <a:miter/>
              <a:headEnd type="none" w="med" len="med"/>
              <a:tailEnd type="none" w="med" len="med"/>
            </a:ln>
          </p:spPr>
        </p:sp>
        <p:sp>
          <p:nvSpPr>
            <p:cNvPr id="37974" name="Line 85"/>
            <p:cNvSpPr/>
            <p:nvPr/>
          </p:nvSpPr>
          <p:spPr>
            <a:xfrm>
              <a:off x="127" y="3714"/>
              <a:ext cx="6719" cy="1"/>
            </a:xfrm>
            <a:prstGeom prst="line">
              <a:avLst/>
            </a:prstGeom>
            <a:ln w="12600" cap="flat" cmpd="sng">
              <a:solidFill>
                <a:srgbClr val="000000"/>
              </a:solidFill>
              <a:prstDash val="solid"/>
              <a:miter/>
              <a:headEnd type="none" w="med" len="med"/>
              <a:tailEnd type="none" w="med" len="med"/>
            </a:ln>
          </p:spPr>
        </p:sp>
        <p:sp>
          <p:nvSpPr>
            <p:cNvPr id="37975" name="Line 86"/>
            <p:cNvSpPr/>
            <p:nvPr/>
          </p:nvSpPr>
          <p:spPr>
            <a:xfrm>
              <a:off x="127" y="3848"/>
              <a:ext cx="6719" cy="1"/>
            </a:xfrm>
            <a:prstGeom prst="line">
              <a:avLst/>
            </a:prstGeom>
            <a:ln w="12600" cap="flat" cmpd="sng">
              <a:solidFill>
                <a:srgbClr val="000000"/>
              </a:solidFill>
              <a:prstDash val="solid"/>
              <a:miter/>
              <a:headEnd type="none" w="med" len="med"/>
              <a:tailEnd type="none" w="med" len="med"/>
            </a:ln>
          </p:spPr>
        </p:sp>
        <p:sp>
          <p:nvSpPr>
            <p:cNvPr id="37976" name="Line 87"/>
            <p:cNvSpPr/>
            <p:nvPr/>
          </p:nvSpPr>
          <p:spPr>
            <a:xfrm>
              <a:off x="127" y="3982"/>
              <a:ext cx="6719" cy="1"/>
            </a:xfrm>
            <a:prstGeom prst="line">
              <a:avLst/>
            </a:prstGeom>
            <a:ln w="12600" cap="flat" cmpd="sng">
              <a:solidFill>
                <a:srgbClr val="000000"/>
              </a:solidFill>
              <a:prstDash val="solid"/>
              <a:miter/>
              <a:headEnd type="none" w="med" len="med"/>
              <a:tailEnd type="none" w="med" len="med"/>
            </a:ln>
          </p:spPr>
        </p:sp>
        <p:sp>
          <p:nvSpPr>
            <p:cNvPr id="37977" name="Line 88"/>
            <p:cNvSpPr/>
            <p:nvPr/>
          </p:nvSpPr>
          <p:spPr>
            <a:xfrm>
              <a:off x="127" y="4116"/>
              <a:ext cx="6719" cy="1"/>
            </a:xfrm>
            <a:prstGeom prst="line">
              <a:avLst/>
            </a:prstGeom>
            <a:ln w="12600" cap="flat" cmpd="sng">
              <a:solidFill>
                <a:srgbClr val="000000"/>
              </a:solidFill>
              <a:prstDash val="solid"/>
              <a:miter/>
              <a:headEnd type="none" w="med" len="med"/>
              <a:tailEnd type="none" w="med" len="med"/>
            </a:ln>
          </p:spPr>
        </p:sp>
      </p:gr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3"/>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grpSp>
        <p:nvGrpSpPr>
          <p:cNvPr id="38915" name="Group 1"/>
          <p:cNvGrpSpPr/>
          <p:nvPr/>
        </p:nvGrpSpPr>
        <p:grpSpPr>
          <a:xfrm>
            <a:off x="633413" y="3859848"/>
            <a:ext cx="6788150" cy="2967037"/>
            <a:chOff x="358" y="2409"/>
            <a:chExt cx="3839" cy="1869"/>
          </a:xfrm>
        </p:grpSpPr>
        <p:sp>
          <p:nvSpPr>
            <p:cNvPr id="39115" name="Rectangle 2"/>
            <p:cNvSpPr/>
            <p:nvPr/>
          </p:nvSpPr>
          <p:spPr>
            <a:xfrm>
              <a:off x="358" y="2409"/>
              <a:ext cx="3840" cy="1870"/>
            </a:xfrm>
            <a:prstGeom prst="rect">
              <a:avLst/>
            </a:prstGeom>
            <a:solidFill>
              <a:srgbClr val="66FFFF"/>
            </a:solidFill>
            <a:ln w="9525">
              <a:noFill/>
            </a:ln>
          </p:spPr>
          <p:txBody>
            <a:bodyPr wrap="none" anchor="ctr" anchorCtr="0"/>
            <a:p>
              <a:endParaRPr lang="zh-CN" altLang="en-US" dirty="0">
                <a:latin typeface="Times New Roman" pitchFamily="18" charset="0"/>
              </a:endParaRPr>
            </a:p>
          </p:txBody>
        </p:sp>
        <p:grpSp>
          <p:nvGrpSpPr>
            <p:cNvPr id="39116" name="Group 3"/>
            <p:cNvGrpSpPr/>
            <p:nvPr/>
          </p:nvGrpSpPr>
          <p:grpSpPr>
            <a:xfrm>
              <a:off x="413" y="2527"/>
              <a:ext cx="3471" cy="1633"/>
              <a:chOff x="413" y="2527"/>
              <a:chExt cx="3471" cy="1633"/>
            </a:xfrm>
          </p:grpSpPr>
          <p:grpSp>
            <p:nvGrpSpPr>
              <p:cNvPr id="39117" name="Group 4"/>
              <p:cNvGrpSpPr/>
              <p:nvPr/>
            </p:nvGrpSpPr>
            <p:grpSpPr>
              <a:xfrm>
                <a:off x="413" y="2527"/>
                <a:ext cx="1437" cy="1633"/>
                <a:chOff x="413" y="2527"/>
                <a:chExt cx="1437" cy="1633"/>
              </a:xfrm>
            </p:grpSpPr>
            <p:sp>
              <p:nvSpPr>
                <p:cNvPr id="39314" name="Rectangle 5"/>
                <p:cNvSpPr/>
                <p:nvPr/>
              </p:nvSpPr>
              <p:spPr>
                <a:xfrm>
                  <a:off x="413" y="4058"/>
                  <a:ext cx="622" cy="102"/>
                </a:xfrm>
                <a:prstGeom prst="rect">
                  <a:avLst/>
                </a:prstGeom>
                <a:noFill/>
                <a:ln w="9525">
                  <a:noFill/>
                </a:ln>
              </p:spPr>
              <p:txBody>
                <a:bodyPr lIns="19080" tIns="19080" rIns="19080" bIns="19080"/>
                <a:p>
                  <a:pPr algn="r" defTabSz="265430">
                    <a:spcBef>
                      <a:spcPts val="200"/>
                    </a:spcBef>
                    <a:buClr>
                      <a:srgbClr val="3333CC"/>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3333CC"/>
                      </a:solidFill>
                      <a:latin typeface="Times New Roman" pitchFamily="18" charset="0"/>
                    </a:rPr>
                    <a:t>cp0qtail</a:t>
                  </a:r>
                  <a:endParaRPr lang="en-GB" altLang="zh-CN" sz="800" dirty="0">
                    <a:solidFill>
                      <a:srgbClr val="3333CC"/>
                    </a:solidFill>
                    <a:latin typeface="Times New Roman" pitchFamily="18" charset="0"/>
                  </a:endParaRPr>
                </a:p>
              </p:txBody>
            </p:sp>
            <p:sp>
              <p:nvSpPr>
                <p:cNvPr id="39315" name="Rectangle 6"/>
                <p:cNvSpPr/>
                <p:nvPr/>
              </p:nvSpPr>
              <p:spPr>
                <a:xfrm>
                  <a:off x="413" y="3956"/>
                  <a:ext cx="62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16" name="Rectangle 7"/>
                <p:cNvSpPr/>
                <p:nvPr/>
              </p:nvSpPr>
              <p:spPr>
                <a:xfrm>
                  <a:off x="413" y="3854"/>
                  <a:ext cx="62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17" name="Rectangle 8"/>
                <p:cNvSpPr/>
                <p:nvPr/>
              </p:nvSpPr>
              <p:spPr>
                <a:xfrm>
                  <a:off x="413" y="3753"/>
                  <a:ext cx="62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SW 100</a:t>
                  </a:r>
                  <a:endParaRPr lang="en-GB" altLang="zh-CN" sz="800" dirty="0">
                    <a:solidFill>
                      <a:srgbClr val="000000"/>
                    </a:solidFill>
                    <a:latin typeface="Times New Roman" pitchFamily="18" charset="0"/>
                  </a:endParaRPr>
                </a:p>
              </p:txBody>
            </p:sp>
            <p:sp>
              <p:nvSpPr>
                <p:cNvPr id="39318" name="Rectangle 9"/>
                <p:cNvSpPr/>
                <p:nvPr/>
              </p:nvSpPr>
              <p:spPr>
                <a:xfrm>
                  <a:off x="413" y="3651"/>
                  <a:ext cx="62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19" name="Rectangle 10"/>
                <p:cNvSpPr/>
                <p:nvPr/>
              </p:nvSpPr>
              <p:spPr>
                <a:xfrm>
                  <a:off x="413" y="3549"/>
                  <a:ext cx="62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20" name="Rectangle 11"/>
                <p:cNvSpPr/>
                <p:nvPr/>
              </p:nvSpPr>
              <p:spPr>
                <a:xfrm>
                  <a:off x="413" y="3447"/>
                  <a:ext cx="62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21" name="Rectangle 12"/>
                <p:cNvSpPr/>
                <p:nvPr/>
              </p:nvSpPr>
              <p:spPr>
                <a:xfrm>
                  <a:off x="413" y="3345"/>
                  <a:ext cx="622" cy="10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LW 100</a:t>
                  </a:r>
                  <a:endParaRPr lang="en-GB" altLang="zh-CN" sz="800" dirty="0">
                    <a:solidFill>
                      <a:srgbClr val="FF0000"/>
                    </a:solidFill>
                    <a:latin typeface="Times New Roman" pitchFamily="18" charset="0"/>
                  </a:endParaRPr>
                </a:p>
              </p:txBody>
            </p:sp>
            <p:sp>
              <p:nvSpPr>
                <p:cNvPr id="39322" name="Rectangle 13"/>
                <p:cNvSpPr/>
                <p:nvPr/>
              </p:nvSpPr>
              <p:spPr>
                <a:xfrm>
                  <a:off x="413" y="3244"/>
                  <a:ext cx="62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23" name="Rectangle 14"/>
                <p:cNvSpPr/>
                <p:nvPr/>
              </p:nvSpPr>
              <p:spPr>
                <a:xfrm>
                  <a:off x="413" y="3138"/>
                  <a:ext cx="622" cy="105"/>
                </a:xfrm>
                <a:prstGeom prst="rect">
                  <a:avLst/>
                </a:prstGeom>
                <a:noFill/>
                <a:ln w="9525">
                  <a:noFill/>
                </a:ln>
              </p:spPr>
              <p:txBody>
                <a:bodyPr wrap="none" anchor="ctr" anchorCtr="0"/>
                <a:p>
                  <a:endParaRPr lang="zh-CN" altLang="en-US" dirty="0">
                    <a:latin typeface="Times New Roman" pitchFamily="18" charset="0"/>
                  </a:endParaRPr>
                </a:p>
              </p:txBody>
            </p:sp>
            <p:sp>
              <p:nvSpPr>
                <p:cNvPr id="39324" name="Rectangle 15"/>
                <p:cNvSpPr/>
                <p:nvPr/>
              </p:nvSpPr>
              <p:spPr>
                <a:xfrm>
                  <a:off x="413" y="3036"/>
                  <a:ext cx="62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SB 100</a:t>
                  </a:r>
                  <a:endParaRPr lang="en-GB" altLang="zh-CN" sz="800" dirty="0">
                    <a:solidFill>
                      <a:srgbClr val="000000"/>
                    </a:solidFill>
                    <a:latin typeface="Times New Roman" pitchFamily="18" charset="0"/>
                  </a:endParaRPr>
                </a:p>
              </p:txBody>
            </p:sp>
            <p:sp>
              <p:nvSpPr>
                <p:cNvPr id="39325" name="Rectangle 16"/>
                <p:cNvSpPr/>
                <p:nvPr/>
              </p:nvSpPr>
              <p:spPr>
                <a:xfrm>
                  <a:off x="413" y="2934"/>
                  <a:ext cx="62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26" name="Rectangle 17"/>
                <p:cNvSpPr/>
                <p:nvPr/>
              </p:nvSpPr>
              <p:spPr>
                <a:xfrm>
                  <a:off x="413" y="2832"/>
                  <a:ext cx="62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27" name="Rectangle 18"/>
                <p:cNvSpPr/>
                <p:nvPr/>
              </p:nvSpPr>
              <p:spPr>
                <a:xfrm>
                  <a:off x="413" y="2731"/>
                  <a:ext cx="62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SW 100</a:t>
                  </a:r>
                  <a:endParaRPr lang="en-GB" altLang="zh-CN" sz="800" dirty="0">
                    <a:solidFill>
                      <a:srgbClr val="000000"/>
                    </a:solidFill>
                    <a:latin typeface="Times New Roman" pitchFamily="18" charset="0"/>
                  </a:endParaRPr>
                </a:p>
              </p:txBody>
            </p:sp>
            <p:sp>
              <p:nvSpPr>
                <p:cNvPr id="39328" name="Rectangle 19"/>
                <p:cNvSpPr/>
                <p:nvPr/>
              </p:nvSpPr>
              <p:spPr>
                <a:xfrm>
                  <a:off x="413" y="2629"/>
                  <a:ext cx="62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29" name="Rectangle 20"/>
                <p:cNvSpPr/>
                <p:nvPr/>
              </p:nvSpPr>
              <p:spPr>
                <a:xfrm>
                  <a:off x="413" y="2527"/>
                  <a:ext cx="622" cy="102"/>
                </a:xfrm>
                <a:prstGeom prst="rect">
                  <a:avLst/>
                </a:prstGeom>
                <a:noFill/>
                <a:ln w="9525">
                  <a:noFill/>
                </a:ln>
              </p:spPr>
              <p:txBody>
                <a:bodyPr lIns="19080" tIns="19080" rIns="19080" bIns="19080"/>
                <a:p>
                  <a:pPr algn="r" defTabSz="265430">
                    <a:spcBef>
                      <a:spcPts val="200"/>
                    </a:spcBef>
                    <a:buClr>
                      <a:srgbClr val="3333CC"/>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3333CC"/>
                      </a:solidFill>
                      <a:latin typeface="Times New Roman" pitchFamily="18" charset="0"/>
                    </a:rPr>
                    <a:t>cp0qhead</a:t>
                  </a:r>
                  <a:endParaRPr lang="en-GB" altLang="zh-CN" sz="800" dirty="0">
                    <a:solidFill>
                      <a:srgbClr val="3333CC"/>
                    </a:solidFill>
                    <a:latin typeface="Times New Roman" pitchFamily="18" charset="0"/>
                  </a:endParaRPr>
                </a:p>
              </p:txBody>
            </p:sp>
            <p:sp>
              <p:nvSpPr>
                <p:cNvPr id="39330" name="Rectangle 21"/>
                <p:cNvSpPr/>
                <p:nvPr/>
              </p:nvSpPr>
              <p:spPr>
                <a:xfrm>
                  <a:off x="1748" y="405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31" name="Rectangle 22"/>
                <p:cNvSpPr/>
                <p:nvPr/>
              </p:nvSpPr>
              <p:spPr>
                <a:xfrm>
                  <a:off x="1646" y="405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32" name="Rectangle 23"/>
                <p:cNvSpPr/>
                <p:nvPr/>
              </p:nvSpPr>
              <p:spPr>
                <a:xfrm>
                  <a:off x="1545" y="405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33" name="Rectangle 24"/>
                <p:cNvSpPr/>
                <p:nvPr/>
              </p:nvSpPr>
              <p:spPr>
                <a:xfrm>
                  <a:off x="1443" y="405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34" name="Rectangle 25"/>
                <p:cNvSpPr/>
                <p:nvPr/>
              </p:nvSpPr>
              <p:spPr>
                <a:xfrm>
                  <a:off x="1341" y="405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35" name="Rectangle 26"/>
                <p:cNvSpPr/>
                <p:nvPr/>
              </p:nvSpPr>
              <p:spPr>
                <a:xfrm>
                  <a:off x="1239" y="405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36" name="Rectangle 27"/>
                <p:cNvSpPr/>
                <p:nvPr/>
              </p:nvSpPr>
              <p:spPr>
                <a:xfrm>
                  <a:off x="1137" y="405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37" name="Rectangle 28"/>
                <p:cNvSpPr/>
                <p:nvPr/>
              </p:nvSpPr>
              <p:spPr>
                <a:xfrm>
                  <a:off x="1035" y="405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38" name="Rectangle 29"/>
                <p:cNvSpPr/>
                <p:nvPr/>
              </p:nvSpPr>
              <p:spPr>
                <a:xfrm>
                  <a:off x="1748" y="395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39" name="Rectangle 30"/>
                <p:cNvSpPr/>
                <p:nvPr/>
              </p:nvSpPr>
              <p:spPr>
                <a:xfrm>
                  <a:off x="1646" y="395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40" name="Rectangle 31"/>
                <p:cNvSpPr/>
                <p:nvPr/>
              </p:nvSpPr>
              <p:spPr>
                <a:xfrm>
                  <a:off x="1545" y="395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41" name="Rectangle 32"/>
                <p:cNvSpPr/>
                <p:nvPr/>
              </p:nvSpPr>
              <p:spPr>
                <a:xfrm>
                  <a:off x="1443" y="395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42" name="Rectangle 33"/>
                <p:cNvSpPr/>
                <p:nvPr/>
              </p:nvSpPr>
              <p:spPr>
                <a:xfrm>
                  <a:off x="1341" y="395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43" name="Rectangle 34"/>
                <p:cNvSpPr/>
                <p:nvPr/>
              </p:nvSpPr>
              <p:spPr>
                <a:xfrm>
                  <a:off x="1239" y="395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44" name="Rectangle 35"/>
                <p:cNvSpPr/>
                <p:nvPr/>
              </p:nvSpPr>
              <p:spPr>
                <a:xfrm>
                  <a:off x="1137" y="395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45" name="Rectangle 36"/>
                <p:cNvSpPr/>
                <p:nvPr/>
              </p:nvSpPr>
              <p:spPr>
                <a:xfrm>
                  <a:off x="1035" y="395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46" name="Rectangle 37"/>
                <p:cNvSpPr/>
                <p:nvPr/>
              </p:nvSpPr>
              <p:spPr>
                <a:xfrm>
                  <a:off x="1748" y="385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47" name="Rectangle 38"/>
                <p:cNvSpPr/>
                <p:nvPr/>
              </p:nvSpPr>
              <p:spPr>
                <a:xfrm>
                  <a:off x="1646" y="385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48" name="Rectangle 39"/>
                <p:cNvSpPr/>
                <p:nvPr/>
              </p:nvSpPr>
              <p:spPr>
                <a:xfrm>
                  <a:off x="1545" y="385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49" name="Rectangle 40"/>
                <p:cNvSpPr/>
                <p:nvPr/>
              </p:nvSpPr>
              <p:spPr>
                <a:xfrm>
                  <a:off x="1443" y="385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50" name="Rectangle 41"/>
                <p:cNvSpPr/>
                <p:nvPr/>
              </p:nvSpPr>
              <p:spPr>
                <a:xfrm>
                  <a:off x="1341" y="385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51" name="Rectangle 42"/>
                <p:cNvSpPr/>
                <p:nvPr/>
              </p:nvSpPr>
              <p:spPr>
                <a:xfrm>
                  <a:off x="1239" y="385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52" name="Rectangle 43"/>
                <p:cNvSpPr/>
                <p:nvPr/>
              </p:nvSpPr>
              <p:spPr>
                <a:xfrm>
                  <a:off x="1137" y="385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53" name="Rectangle 44"/>
                <p:cNvSpPr/>
                <p:nvPr/>
              </p:nvSpPr>
              <p:spPr>
                <a:xfrm>
                  <a:off x="1035" y="385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54" name="Rectangle 45"/>
                <p:cNvSpPr/>
                <p:nvPr/>
              </p:nvSpPr>
              <p:spPr>
                <a:xfrm>
                  <a:off x="1748" y="3753"/>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355" name="Rectangle 46"/>
                <p:cNvSpPr/>
                <p:nvPr/>
              </p:nvSpPr>
              <p:spPr>
                <a:xfrm>
                  <a:off x="1646" y="3753"/>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356" name="Rectangle 47"/>
                <p:cNvSpPr/>
                <p:nvPr/>
              </p:nvSpPr>
              <p:spPr>
                <a:xfrm>
                  <a:off x="1545" y="3753"/>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357" name="Rectangle 48"/>
                <p:cNvSpPr/>
                <p:nvPr/>
              </p:nvSpPr>
              <p:spPr>
                <a:xfrm>
                  <a:off x="1443" y="3753"/>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358" name="Rectangle 49"/>
                <p:cNvSpPr/>
                <p:nvPr/>
              </p:nvSpPr>
              <p:spPr>
                <a:xfrm>
                  <a:off x="1341" y="37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59" name="Rectangle 50"/>
                <p:cNvSpPr/>
                <p:nvPr/>
              </p:nvSpPr>
              <p:spPr>
                <a:xfrm>
                  <a:off x="1239" y="37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60" name="Rectangle 51"/>
                <p:cNvSpPr/>
                <p:nvPr/>
              </p:nvSpPr>
              <p:spPr>
                <a:xfrm>
                  <a:off x="1137" y="37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61" name="Rectangle 52"/>
                <p:cNvSpPr/>
                <p:nvPr/>
              </p:nvSpPr>
              <p:spPr>
                <a:xfrm>
                  <a:off x="1035" y="37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62" name="Rectangle 53"/>
                <p:cNvSpPr/>
                <p:nvPr/>
              </p:nvSpPr>
              <p:spPr>
                <a:xfrm>
                  <a:off x="1748" y="36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63" name="Rectangle 54"/>
                <p:cNvSpPr/>
                <p:nvPr/>
              </p:nvSpPr>
              <p:spPr>
                <a:xfrm>
                  <a:off x="1646" y="36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64" name="Rectangle 55"/>
                <p:cNvSpPr/>
                <p:nvPr/>
              </p:nvSpPr>
              <p:spPr>
                <a:xfrm>
                  <a:off x="1545" y="36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65" name="Rectangle 56"/>
                <p:cNvSpPr/>
                <p:nvPr/>
              </p:nvSpPr>
              <p:spPr>
                <a:xfrm>
                  <a:off x="1443" y="36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66" name="Rectangle 57"/>
                <p:cNvSpPr/>
                <p:nvPr/>
              </p:nvSpPr>
              <p:spPr>
                <a:xfrm>
                  <a:off x="1341" y="36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67" name="Rectangle 58"/>
                <p:cNvSpPr/>
                <p:nvPr/>
              </p:nvSpPr>
              <p:spPr>
                <a:xfrm>
                  <a:off x="1239" y="36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68" name="Rectangle 59"/>
                <p:cNvSpPr/>
                <p:nvPr/>
              </p:nvSpPr>
              <p:spPr>
                <a:xfrm>
                  <a:off x="1137" y="36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69" name="Rectangle 60"/>
                <p:cNvSpPr/>
                <p:nvPr/>
              </p:nvSpPr>
              <p:spPr>
                <a:xfrm>
                  <a:off x="1035" y="36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70" name="Rectangle 61"/>
                <p:cNvSpPr/>
                <p:nvPr/>
              </p:nvSpPr>
              <p:spPr>
                <a:xfrm>
                  <a:off x="1748" y="324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71" name="Rectangle 62"/>
                <p:cNvSpPr/>
                <p:nvPr/>
              </p:nvSpPr>
              <p:spPr>
                <a:xfrm>
                  <a:off x="1646" y="324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72" name="Rectangle 63"/>
                <p:cNvSpPr/>
                <p:nvPr/>
              </p:nvSpPr>
              <p:spPr>
                <a:xfrm>
                  <a:off x="1545" y="324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73" name="Rectangle 64"/>
                <p:cNvSpPr/>
                <p:nvPr/>
              </p:nvSpPr>
              <p:spPr>
                <a:xfrm>
                  <a:off x="1443" y="324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74" name="Rectangle 65"/>
                <p:cNvSpPr/>
                <p:nvPr/>
              </p:nvSpPr>
              <p:spPr>
                <a:xfrm>
                  <a:off x="1341" y="324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75" name="Rectangle 66"/>
                <p:cNvSpPr/>
                <p:nvPr/>
              </p:nvSpPr>
              <p:spPr>
                <a:xfrm>
                  <a:off x="1239" y="324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76" name="Rectangle 67"/>
                <p:cNvSpPr/>
                <p:nvPr/>
              </p:nvSpPr>
              <p:spPr>
                <a:xfrm>
                  <a:off x="1137" y="324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77" name="Rectangle 68"/>
                <p:cNvSpPr/>
                <p:nvPr/>
              </p:nvSpPr>
              <p:spPr>
                <a:xfrm>
                  <a:off x="1035" y="324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78" name="Rectangle 69"/>
                <p:cNvSpPr/>
                <p:nvPr/>
              </p:nvSpPr>
              <p:spPr>
                <a:xfrm>
                  <a:off x="1748" y="3138"/>
                  <a:ext cx="102" cy="105"/>
                </a:xfrm>
                <a:prstGeom prst="rect">
                  <a:avLst/>
                </a:prstGeom>
                <a:noFill/>
                <a:ln w="9525">
                  <a:noFill/>
                </a:ln>
              </p:spPr>
              <p:txBody>
                <a:bodyPr wrap="none" anchor="ctr" anchorCtr="0"/>
                <a:p>
                  <a:endParaRPr lang="zh-CN" altLang="en-US" dirty="0">
                    <a:latin typeface="Times New Roman" pitchFamily="18" charset="0"/>
                  </a:endParaRPr>
                </a:p>
              </p:txBody>
            </p:sp>
            <p:sp>
              <p:nvSpPr>
                <p:cNvPr id="39379" name="Rectangle 70"/>
                <p:cNvSpPr/>
                <p:nvPr/>
              </p:nvSpPr>
              <p:spPr>
                <a:xfrm>
                  <a:off x="1646" y="3138"/>
                  <a:ext cx="102" cy="105"/>
                </a:xfrm>
                <a:prstGeom prst="rect">
                  <a:avLst/>
                </a:prstGeom>
                <a:noFill/>
                <a:ln w="9525">
                  <a:noFill/>
                </a:ln>
              </p:spPr>
              <p:txBody>
                <a:bodyPr wrap="none" anchor="ctr" anchorCtr="0"/>
                <a:p>
                  <a:endParaRPr lang="zh-CN" altLang="en-US" dirty="0">
                    <a:latin typeface="Times New Roman" pitchFamily="18" charset="0"/>
                  </a:endParaRPr>
                </a:p>
              </p:txBody>
            </p:sp>
            <p:sp>
              <p:nvSpPr>
                <p:cNvPr id="39380" name="Rectangle 71"/>
                <p:cNvSpPr/>
                <p:nvPr/>
              </p:nvSpPr>
              <p:spPr>
                <a:xfrm>
                  <a:off x="1545" y="3138"/>
                  <a:ext cx="102" cy="105"/>
                </a:xfrm>
                <a:prstGeom prst="rect">
                  <a:avLst/>
                </a:prstGeom>
                <a:noFill/>
                <a:ln w="9525">
                  <a:noFill/>
                </a:ln>
              </p:spPr>
              <p:txBody>
                <a:bodyPr wrap="none" anchor="ctr" anchorCtr="0"/>
                <a:p>
                  <a:endParaRPr lang="zh-CN" altLang="en-US" dirty="0">
                    <a:latin typeface="Times New Roman" pitchFamily="18" charset="0"/>
                  </a:endParaRPr>
                </a:p>
              </p:txBody>
            </p:sp>
            <p:sp>
              <p:nvSpPr>
                <p:cNvPr id="39381" name="Rectangle 72"/>
                <p:cNvSpPr/>
                <p:nvPr/>
              </p:nvSpPr>
              <p:spPr>
                <a:xfrm>
                  <a:off x="1443" y="3138"/>
                  <a:ext cx="102" cy="105"/>
                </a:xfrm>
                <a:prstGeom prst="rect">
                  <a:avLst/>
                </a:prstGeom>
                <a:noFill/>
                <a:ln w="9525">
                  <a:noFill/>
                </a:ln>
              </p:spPr>
              <p:txBody>
                <a:bodyPr wrap="none" anchor="ctr" anchorCtr="0"/>
                <a:p>
                  <a:endParaRPr lang="zh-CN" altLang="en-US" dirty="0">
                    <a:latin typeface="Times New Roman" pitchFamily="18" charset="0"/>
                  </a:endParaRPr>
                </a:p>
              </p:txBody>
            </p:sp>
            <p:sp>
              <p:nvSpPr>
                <p:cNvPr id="39382" name="Rectangle 73"/>
                <p:cNvSpPr/>
                <p:nvPr/>
              </p:nvSpPr>
              <p:spPr>
                <a:xfrm>
                  <a:off x="1341" y="3138"/>
                  <a:ext cx="102" cy="105"/>
                </a:xfrm>
                <a:prstGeom prst="rect">
                  <a:avLst/>
                </a:prstGeom>
                <a:noFill/>
                <a:ln w="9525">
                  <a:noFill/>
                </a:ln>
              </p:spPr>
              <p:txBody>
                <a:bodyPr wrap="none" anchor="ctr" anchorCtr="0"/>
                <a:p>
                  <a:endParaRPr lang="zh-CN" altLang="en-US" dirty="0">
                    <a:latin typeface="Times New Roman" pitchFamily="18" charset="0"/>
                  </a:endParaRPr>
                </a:p>
              </p:txBody>
            </p:sp>
            <p:sp>
              <p:nvSpPr>
                <p:cNvPr id="39383" name="Rectangle 74"/>
                <p:cNvSpPr/>
                <p:nvPr/>
              </p:nvSpPr>
              <p:spPr>
                <a:xfrm>
                  <a:off x="1239" y="3138"/>
                  <a:ext cx="102" cy="105"/>
                </a:xfrm>
                <a:prstGeom prst="rect">
                  <a:avLst/>
                </a:prstGeom>
                <a:noFill/>
                <a:ln w="9525">
                  <a:noFill/>
                </a:ln>
              </p:spPr>
              <p:txBody>
                <a:bodyPr wrap="none" anchor="ctr" anchorCtr="0"/>
                <a:p>
                  <a:endParaRPr lang="zh-CN" altLang="en-US" dirty="0">
                    <a:latin typeface="Times New Roman" pitchFamily="18" charset="0"/>
                  </a:endParaRPr>
                </a:p>
              </p:txBody>
            </p:sp>
            <p:sp>
              <p:nvSpPr>
                <p:cNvPr id="39384" name="Rectangle 75"/>
                <p:cNvSpPr/>
                <p:nvPr/>
              </p:nvSpPr>
              <p:spPr>
                <a:xfrm>
                  <a:off x="1137" y="3138"/>
                  <a:ext cx="102" cy="105"/>
                </a:xfrm>
                <a:prstGeom prst="rect">
                  <a:avLst/>
                </a:prstGeom>
                <a:noFill/>
                <a:ln w="9525">
                  <a:noFill/>
                </a:ln>
              </p:spPr>
              <p:txBody>
                <a:bodyPr wrap="none" anchor="ctr" anchorCtr="0"/>
                <a:p>
                  <a:endParaRPr lang="zh-CN" altLang="en-US" dirty="0">
                    <a:latin typeface="Times New Roman" pitchFamily="18" charset="0"/>
                  </a:endParaRPr>
                </a:p>
              </p:txBody>
            </p:sp>
            <p:sp>
              <p:nvSpPr>
                <p:cNvPr id="39385" name="Rectangle 76"/>
                <p:cNvSpPr/>
                <p:nvPr/>
              </p:nvSpPr>
              <p:spPr>
                <a:xfrm>
                  <a:off x="1035" y="3138"/>
                  <a:ext cx="102" cy="105"/>
                </a:xfrm>
                <a:prstGeom prst="rect">
                  <a:avLst/>
                </a:prstGeom>
                <a:noFill/>
                <a:ln w="9525">
                  <a:noFill/>
                </a:ln>
              </p:spPr>
              <p:txBody>
                <a:bodyPr wrap="none" anchor="ctr" anchorCtr="0"/>
                <a:p>
                  <a:endParaRPr lang="zh-CN" altLang="en-US" dirty="0">
                    <a:latin typeface="Times New Roman" pitchFamily="18" charset="0"/>
                  </a:endParaRPr>
                </a:p>
              </p:txBody>
            </p:sp>
            <p:sp>
              <p:nvSpPr>
                <p:cNvPr id="39386" name="Rectangle 77"/>
                <p:cNvSpPr/>
                <p:nvPr/>
              </p:nvSpPr>
              <p:spPr>
                <a:xfrm>
                  <a:off x="1748" y="3036"/>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5</a:t>
                  </a:r>
                  <a:endParaRPr lang="en-GB" altLang="zh-CN" sz="800" dirty="0">
                    <a:solidFill>
                      <a:srgbClr val="000000"/>
                    </a:solidFill>
                    <a:latin typeface="Times New Roman" pitchFamily="18" charset="0"/>
                  </a:endParaRPr>
                </a:p>
              </p:txBody>
            </p:sp>
            <p:sp>
              <p:nvSpPr>
                <p:cNvPr id="39387" name="Rectangle 78"/>
                <p:cNvSpPr/>
                <p:nvPr/>
              </p:nvSpPr>
              <p:spPr>
                <a:xfrm>
                  <a:off x="1646"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88" name="Rectangle 79"/>
                <p:cNvSpPr/>
                <p:nvPr/>
              </p:nvSpPr>
              <p:spPr>
                <a:xfrm>
                  <a:off x="1545"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89" name="Rectangle 80"/>
                <p:cNvSpPr/>
                <p:nvPr/>
              </p:nvSpPr>
              <p:spPr>
                <a:xfrm>
                  <a:off x="1443"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90" name="Rectangle 81"/>
                <p:cNvSpPr/>
                <p:nvPr/>
              </p:nvSpPr>
              <p:spPr>
                <a:xfrm>
                  <a:off x="1341"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91" name="Rectangle 82"/>
                <p:cNvSpPr/>
                <p:nvPr/>
              </p:nvSpPr>
              <p:spPr>
                <a:xfrm>
                  <a:off x="1239"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92" name="Rectangle 83"/>
                <p:cNvSpPr/>
                <p:nvPr/>
              </p:nvSpPr>
              <p:spPr>
                <a:xfrm>
                  <a:off x="1137"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93" name="Rectangle 84"/>
                <p:cNvSpPr/>
                <p:nvPr/>
              </p:nvSpPr>
              <p:spPr>
                <a:xfrm>
                  <a:off x="1035"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94" name="Rectangle 85"/>
                <p:cNvSpPr/>
                <p:nvPr/>
              </p:nvSpPr>
              <p:spPr>
                <a:xfrm>
                  <a:off x="1748"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95" name="Rectangle 86"/>
                <p:cNvSpPr/>
                <p:nvPr/>
              </p:nvSpPr>
              <p:spPr>
                <a:xfrm>
                  <a:off x="1646"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96" name="Rectangle 87"/>
                <p:cNvSpPr/>
                <p:nvPr/>
              </p:nvSpPr>
              <p:spPr>
                <a:xfrm>
                  <a:off x="1545"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97" name="Rectangle 88"/>
                <p:cNvSpPr/>
                <p:nvPr/>
              </p:nvSpPr>
              <p:spPr>
                <a:xfrm>
                  <a:off x="1443"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98" name="Rectangle 89"/>
                <p:cNvSpPr/>
                <p:nvPr/>
              </p:nvSpPr>
              <p:spPr>
                <a:xfrm>
                  <a:off x="1341"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399" name="Rectangle 90"/>
                <p:cNvSpPr/>
                <p:nvPr/>
              </p:nvSpPr>
              <p:spPr>
                <a:xfrm>
                  <a:off x="1239"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00" name="Rectangle 91"/>
                <p:cNvSpPr/>
                <p:nvPr/>
              </p:nvSpPr>
              <p:spPr>
                <a:xfrm>
                  <a:off x="1137"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01" name="Rectangle 92"/>
                <p:cNvSpPr/>
                <p:nvPr/>
              </p:nvSpPr>
              <p:spPr>
                <a:xfrm>
                  <a:off x="1035"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02" name="Rectangle 93"/>
                <p:cNvSpPr/>
                <p:nvPr/>
              </p:nvSpPr>
              <p:spPr>
                <a:xfrm>
                  <a:off x="1748"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03" name="Rectangle 94"/>
                <p:cNvSpPr/>
                <p:nvPr/>
              </p:nvSpPr>
              <p:spPr>
                <a:xfrm>
                  <a:off x="1646"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04" name="Rectangle 95"/>
                <p:cNvSpPr/>
                <p:nvPr/>
              </p:nvSpPr>
              <p:spPr>
                <a:xfrm>
                  <a:off x="1545"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05" name="Rectangle 96"/>
                <p:cNvSpPr/>
                <p:nvPr/>
              </p:nvSpPr>
              <p:spPr>
                <a:xfrm>
                  <a:off x="1443"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06" name="Rectangle 97"/>
                <p:cNvSpPr/>
                <p:nvPr/>
              </p:nvSpPr>
              <p:spPr>
                <a:xfrm>
                  <a:off x="1341"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07" name="Rectangle 98"/>
                <p:cNvSpPr/>
                <p:nvPr/>
              </p:nvSpPr>
              <p:spPr>
                <a:xfrm>
                  <a:off x="1239"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08" name="Rectangle 99"/>
                <p:cNvSpPr/>
                <p:nvPr/>
              </p:nvSpPr>
              <p:spPr>
                <a:xfrm>
                  <a:off x="1137"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09" name="Rectangle 100"/>
                <p:cNvSpPr/>
                <p:nvPr/>
              </p:nvSpPr>
              <p:spPr>
                <a:xfrm>
                  <a:off x="1035"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10" name="Rectangle 101"/>
                <p:cNvSpPr/>
                <p:nvPr/>
              </p:nvSpPr>
              <p:spPr>
                <a:xfrm>
                  <a:off x="1748" y="273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4</a:t>
                  </a:r>
                  <a:endParaRPr lang="en-GB" altLang="zh-CN" sz="800" dirty="0">
                    <a:solidFill>
                      <a:srgbClr val="000000"/>
                    </a:solidFill>
                    <a:latin typeface="Times New Roman" pitchFamily="18" charset="0"/>
                  </a:endParaRPr>
                </a:p>
              </p:txBody>
            </p:sp>
            <p:sp>
              <p:nvSpPr>
                <p:cNvPr id="39411" name="Rectangle 102"/>
                <p:cNvSpPr/>
                <p:nvPr/>
              </p:nvSpPr>
              <p:spPr>
                <a:xfrm>
                  <a:off x="1646" y="273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3</a:t>
                  </a:r>
                  <a:endParaRPr lang="en-GB" altLang="zh-CN" sz="800" dirty="0">
                    <a:solidFill>
                      <a:srgbClr val="000000"/>
                    </a:solidFill>
                    <a:latin typeface="Times New Roman" pitchFamily="18" charset="0"/>
                  </a:endParaRPr>
                </a:p>
              </p:txBody>
            </p:sp>
            <p:sp>
              <p:nvSpPr>
                <p:cNvPr id="39412" name="Rectangle 103"/>
                <p:cNvSpPr/>
                <p:nvPr/>
              </p:nvSpPr>
              <p:spPr>
                <a:xfrm>
                  <a:off x="1545" y="273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2</a:t>
                  </a:r>
                  <a:endParaRPr lang="en-GB" altLang="zh-CN" sz="800" dirty="0">
                    <a:solidFill>
                      <a:srgbClr val="000000"/>
                    </a:solidFill>
                    <a:latin typeface="Times New Roman" pitchFamily="18" charset="0"/>
                  </a:endParaRPr>
                </a:p>
              </p:txBody>
            </p:sp>
            <p:sp>
              <p:nvSpPr>
                <p:cNvPr id="39413" name="Rectangle 104"/>
                <p:cNvSpPr/>
                <p:nvPr/>
              </p:nvSpPr>
              <p:spPr>
                <a:xfrm>
                  <a:off x="1443" y="273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1</a:t>
                  </a:r>
                  <a:endParaRPr lang="en-GB" altLang="zh-CN" sz="800" dirty="0">
                    <a:solidFill>
                      <a:srgbClr val="000000"/>
                    </a:solidFill>
                    <a:latin typeface="Times New Roman" pitchFamily="18" charset="0"/>
                  </a:endParaRPr>
                </a:p>
              </p:txBody>
            </p:sp>
            <p:sp>
              <p:nvSpPr>
                <p:cNvPr id="39414" name="Rectangle 105"/>
                <p:cNvSpPr/>
                <p:nvPr/>
              </p:nvSpPr>
              <p:spPr>
                <a:xfrm>
                  <a:off x="1341" y="273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15" name="Rectangle 106"/>
                <p:cNvSpPr/>
                <p:nvPr/>
              </p:nvSpPr>
              <p:spPr>
                <a:xfrm>
                  <a:off x="1239" y="273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16" name="Rectangle 107"/>
                <p:cNvSpPr/>
                <p:nvPr/>
              </p:nvSpPr>
              <p:spPr>
                <a:xfrm>
                  <a:off x="1137" y="273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17" name="Rectangle 108"/>
                <p:cNvSpPr/>
                <p:nvPr/>
              </p:nvSpPr>
              <p:spPr>
                <a:xfrm>
                  <a:off x="1035" y="273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18" name="Rectangle 109"/>
                <p:cNvSpPr/>
                <p:nvPr/>
              </p:nvSpPr>
              <p:spPr>
                <a:xfrm>
                  <a:off x="1748"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19" name="Rectangle 110"/>
                <p:cNvSpPr/>
                <p:nvPr/>
              </p:nvSpPr>
              <p:spPr>
                <a:xfrm>
                  <a:off x="1646"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20" name="Rectangle 111"/>
                <p:cNvSpPr/>
                <p:nvPr/>
              </p:nvSpPr>
              <p:spPr>
                <a:xfrm>
                  <a:off x="1545"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21" name="Rectangle 112"/>
                <p:cNvSpPr/>
                <p:nvPr/>
              </p:nvSpPr>
              <p:spPr>
                <a:xfrm>
                  <a:off x="1443"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22" name="Rectangle 113"/>
                <p:cNvSpPr/>
                <p:nvPr/>
              </p:nvSpPr>
              <p:spPr>
                <a:xfrm>
                  <a:off x="1341"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23" name="Rectangle 114"/>
                <p:cNvSpPr/>
                <p:nvPr/>
              </p:nvSpPr>
              <p:spPr>
                <a:xfrm>
                  <a:off x="1239"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24" name="Rectangle 115"/>
                <p:cNvSpPr/>
                <p:nvPr/>
              </p:nvSpPr>
              <p:spPr>
                <a:xfrm>
                  <a:off x="1137"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25" name="Rectangle 116"/>
                <p:cNvSpPr/>
                <p:nvPr/>
              </p:nvSpPr>
              <p:spPr>
                <a:xfrm>
                  <a:off x="1035"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26" name="Rectangle 117"/>
                <p:cNvSpPr/>
                <p:nvPr/>
              </p:nvSpPr>
              <p:spPr>
                <a:xfrm>
                  <a:off x="1748" y="35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27" name="Rectangle 118"/>
                <p:cNvSpPr/>
                <p:nvPr/>
              </p:nvSpPr>
              <p:spPr>
                <a:xfrm>
                  <a:off x="1748" y="34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28" name="Rectangle 119"/>
                <p:cNvSpPr/>
                <p:nvPr/>
              </p:nvSpPr>
              <p:spPr>
                <a:xfrm>
                  <a:off x="1748" y="3345"/>
                  <a:ext cx="102" cy="10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5</a:t>
                  </a:r>
                  <a:endParaRPr lang="en-GB" altLang="zh-CN" sz="800" dirty="0">
                    <a:solidFill>
                      <a:srgbClr val="FF0000"/>
                    </a:solidFill>
                    <a:latin typeface="Times New Roman" pitchFamily="18" charset="0"/>
                  </a:endParaRPr>
                </a:p>
              </p:txBody>
            </p:sp>
            <p:sp>
              <p:nvSpPr>
                <p:cNvPr id="39429" name="Rectangle 120"/>
                <p:cNvSpPr/>
                <p:nvPr/>
              </p:nvSpPr>
              <p:spPr>
                <a:xfrm>
                  <a:off x="1748"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30" name="Rectangle 121"/>
                <p:cNvSpPr/>
                <p:nvPr/>
              </p:nvSpPr>
              <p:spPr>
                <a:xfrm>
                  <a:off x="1646" y="35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31" name="Rectangle 122"/>
                <p:cNvSpPr/>
                <p:nvPr/>
              </p:nvSpPr>
              <p:spPr>
                <a:xfrm>
                  <a:off x="1646" y="34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32" name="Rectangle 123"/>
                <p:cNvSpPr/>
                <p:nvPr/>
              </p:nvSpPr>
              <p:spPr>
                <a:xfrm>
                  <a:off x="1646" y="3345"/>
                  <a:ext cx="102" cy="10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3</a:t>
                  </a:r>
                  <a:endParaRPr lang="en-GB" altLang="zh-CN" sz="800" dirty="0">
                    <a:solidFill>
                      <a:srgbClr val="FF0000"/>
                    </a:solidFill>
                    <a:latin typeface="Times New Roman" pitchFamily="18" charset="0"/>
                  </a:endParaRPr>
                </a:p>
              </p:txBody>
            </p:sp>
            <p:sp>
              <p:nvSpPr>
                <p:cNvPr id="39433" name="Rectangle 124"/>
                <p:cNvSpPr/>
                <p:nvPr/>
              </p:nvSpPr>
              <p:spPr>
                <a:xfrm>
                  <a:off x="1646"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34" name="Rectangle 125"/>
                <p:cNvSpPr/>
                <p:nvPr/>
              </p:nvSpPr>
              <p:spPr>
                <a:xfrm>
                  <a:off x="1545" y="35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35" name="Rectangle 126"/>
                <p:cNvSpPr/>
                <p:nvPr/>
              </p:nvSpPr>
              <p:spPr>
                <a:xfrm>
                  <a:off x="1545" y="34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36" name="Rectangle 127"/>
                <p:cNvSpPr/>
                <p:nvPr/>
              </p:nvSpPr>
              <p:spPr>
                <a:xfrm>
                  <a:off x="1545" y="3345"/>
                  <a:ext cx="102" cy="10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2</a:t>
                  </a:r>
                  <a:endParaRPr lang="en-GB" altLang="zh-CN" sz="800" dirty="0">
                    <a:solidFill>
                      <a:srgbClr val="FF0000"/>
                    </a:solidFill>
                    <a:latin typeface="Times New Roman" pitchFamily="18" charset="0"/>
                  </a:endParaRPr>
                </a:p>
              </p:txBody>
            </p:sp>
            <p:sp>
              <p:nvSpPr>
                <p:cNvPr id="39437" name="Rectangle 128"/>
                <p:cNvSpPr/>
                <p:nvPr/>
              </p:nvSpPr>
              <p:spPr>
                <a:xfrm>
                  <a:off x="1545"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38" name="Rectangle 129"/>
                <p:cNvSpPr/>
                <p:nvPr/>
              </p:nvSpPr>
              <p:spPr>
                <a:xfrm>
                  <a:off x="1443" y="35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39" name="Rectangle 130"/>
                <p:cNvSpPr/>
                <p:nvPr/>
              </p:nvSpPr>
              <p:spPr>
                <a:xfrm>
                  <a:off x="1443" y="34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40" name="Rectangle 131"/>
                <p:cNvSpPr/>
                <p:nvPr/>
              </p:nvSpPr>
              <p:spPr>
                <a:xfrm>
                  <a:off x="1443" y="3345"/>
                  <a:ext cx="102" cy="10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1</a:t>
                  </a:r>
                  <a:endParaRPr lang="en-GB" altLang="zh-CN" sz="800" dirty="0">
                    <a:solidFill>
                      <a:srgbClr val="FF0000"/>
                    </a:solidFill>
                    <a:latin typeface="Times New Roman" pitchFamily="18" charset="0"/>
                  </a:endParaRPr>
                </a:p>
              </p:txBody>
            </p:sp>
            <p:sp>
              <p:nvSpPr>
                <p:cNvPr id="39441" name="Rectangle 132"/>
                <p:cNvSpPr/>
                <p:nvPr/>
              </p:nvSpPr>
              <p:spPr>
                <a:xfrm>
                  <a:off x="1443"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42" name="Rectangle 133"/>
                <p:cNvSpPr/>
                <p:nvPr/>
              </p:nvSpPr>
              <p:spPr>
                <a:xfrm>
                  <a:off x="1341" y="35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43" name="Rectangle 134"/>
                <p:cNvSpPr/>
                <p:nvPr/>
              </p:nvSpPr>
              <p:spPr>
                <a:xfrm>
                  <a:off x="1341" y="34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44" name="Rectangle 135"/>
                <p:cNvSpPr/>
                <p:nvPr/>
              </p:nvSpPr>
              <p:spPr>
                <a:xfrm>
                  <a:off x="1341" y="33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45" name="Rectangle 136"/>
                <p:cNvSpPr/>
                <p:nvPr/>
              </p:nvSpPr>
              <p:spPr>
                <a:xfrm>
                  <a:off x="1341"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46" name="Rectangle 137"/>
                <p:cNvSpPr/>
                <p:nvPr/>
              </p:nvSpPr>
              <p:spPr>
                <a:xfrm>
                  <a:off x="1239" y="35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47" name="Rectangle 138"/>
                <p:cNvSpPr/>
                <p:nvPr/>
              </p:nvSpPr>
              <p:spPr>
                <a:xfrm>
                  <a:off x="1239" y="34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48" name="Rectangle 139"/>
                <p:cNvSpPr/>
                <p:nvPr/>
              </p:nvSpPr>
              <p:spPr>
                <a:xfrm>
                  <a:off x="1239" y="33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49" name="Rectangle 140"/>
                <p:cNvSpPr/>
                <p:nvPr/>
              </p:nvSpPr>
              <p:spPr>
                <a:xfrm>
                  <a:off x="1239"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50" name="Rectangle 141"/>
                <p:cNvSpPr/>
                <p:nvPr/>
              </p:nvSpPr>
              <p:spPr>
                <a:xfrm>
                  <a:off x="1137" y="35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51" name="Rectangle 142"/>
                <p:cNvSpPr/>
                <p:nvPr/>
              </p:nvSpPr>
              <p:spPr>
                <a:xfrm>
                  <a:off x="1035" y="35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52" name="Rectangle 143"/>
                <p:cNvSpPr/>
                <p:nvPr/>
              </p:nvSpPr>
              <p:spPr>
                <a:xfrm>
                  <a:off x="1137" y="34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53" name="Rectangle 144"/>
                <p:cNvSpPr/>
                <p:nvPr/>
              </p:nvSpPr>
              <p:spPr>
                <a:xfrm>
                  <a:off x="1035" y="34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54" name="Rectangle 145"/>
                <p:cNvSpPr/>
                <p:nvPr/>
              </p:nvSpPr>
              <p:spPr>
                <a:xfrm>
                  <a:off x="1137" y="33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55" name="Rectangle 146"/>
                <p:cNvSpPr/>
                <p:nvPr/>
              </p:nvSpPr>
              <p:spPr>
                <a:xfrm>
                  <a:off x="1035" y="33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56" name="Rectangle 147"/>
                <p:cNvSpPr/>
                <p:nvPr/>
              </p:nvSpPr>
              <p:spPr>
                <a:xfrm>
                  <a:off x="1137"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57" name="Rectangle 148"/>
                <p:cNvSpPr/>
                <p:nvPr/>
              </p:nvSpPr>
              <p:spPr>
                <a:xfrm>
                  <a:off x="1035"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458" name="Line 149"/>
                <p:cNvSpPr/>
                <p:nvPr/>
              </p:nvSpPr>
              <p:spPr>
                <a:xfrm>
                  <a:off x="413" y="2527"/>
                  <a:ext cx="622" cy="1"/>
                </a:xfrm>
                <a:prstGeom prst="line">
                  <a:avLst/>
                </a:prstGeom>
                <a:ln w="9525">
                  <a:noFill/>
                </a:ln>
              </p:spPr>
            </p:sp>
            <p:sp>
              <p:nvSpPr>
                <p:cNvPr id="39459" name="Line 150"/>
                <p:cNvSpPr/>
                <p:nvPr/>
              </p:nvSpPr>
              <p:spPr>
                <a:xfrm>
                  <a:off x="413" y="4160"/>
                  <a:ext cx="622" cy="1"/>
                </a:xfrm>
                <a:prstGeom prst="line">
                  <a:avLst/>
                </a:prstGeom>
                <a:ln w="9525">
                  <a:noFill/>
                </a:ln>
              </p:spPr>
            </p:sp>
            <p:sp>
              <p:nvSpPr>
                <p:cNvPr id="39460" name="Line 151"/>
                <p:cNvSpPr/>
                <p:nvPr/>
              </p:nvSpPr>
              <p:spPr>
                <a:xfrm>
                  <a:off x="413" y="2527"/>
                  <a:ext cx="1" cy="102"/>
                </a:xfrm>
                <a:prstGeom prst="line">
                  <a:avLst/>
                </a:prstGeom>
                <a:ln w="9525">
                  <a:noFill/>
                </a:ln>
              </p:spPr>
            </p:sp>
            <p:sp>
              <p:nvSpPr>
                <p:cNvPr id="39461" name="Line 152"/>
                <p:cNvSpPr/>
                <p:nvPr/>
              </p:nvSpPr>
              <p:spPr>
                <a:xfrm>
                  <a:off x="1137" y="2527"/>
                  <a:ext cx="1" cy="1633"/>
                </a:xfrm>
                <a:prstGeom prst="line">
                  <a:avLst/>
                </a:prstGeom>
                <a:ln w="6480" cap="flat" cmpd="sng">
                  <a:solidFill>
                    <a:srgbClr val="808080"/>
                  </a:solidFill>
                  <a:prstDash val="solid"/>
                  <a:miter/>
                  <a:headEnd type="none" w="med" len="med"/>
                  <a:tailEnd type="none" w="med" len="med"/>
                </a:ln>
              </p:spPr>
            </p:sp>
            <p:sp>
              <p:nvSpPr>
                <p:cNvPr id="39462" name="Line 153"/>
                <p:cNvSpPr/>
                <p:nvPr/>
              </p:nvSpPr>
              <p:spPr>
                <a:xfrm>
                  <a:off x="1239" y="2527"/>
                  <a:ext cx="1" cy="1633"/>
                </a:xfrm>
                <a:prstGeom prst="line">
                  <a:avLst/>
                </a:prstGeom>
                <a:ln w="6480" cap="flat" cmpd="sng">
                  <a:solidFill>
                    <a:srgbClr val="808080"/>
                  </a:solidFill>
                  <a:prstDash val="solid"/>
                  <a:miter/>
                  <a:headEnd type="none" w="med" len="med"/>
                  <a:tailEnd type="none" w="med" len="med"/>
                </a:ln>
              </p:spPr>
            </p:sp>
            <p:sp>
              <p:nvSpPr>
                <p:cNvPr id="39463" name="Line 154"/>
                <p:cNvSpPr/>
                <p:nvPr/>
              </p:nvSpPr>
              <p:spPr>
                <a:xfrm>
                  <a:off x="1341" y="2527"/>
                  <a:ext cx="1" cy="1633"/>
                </a:xfrm>
                <a:prstGeom prst="line">
                  <a:avLst/>
                </a:prstGeom>
                <a:ln w="6480" cap="flat" cmpd="sng">
                  <a:solidFill>
                    <a:srgbClr val="808080"/>
                  </a:solidFill>
                  <a:prstDash val="solid"/>
                  <a:miter/>
                  <a:headEnd type="none" w="med" len="med"/>
                  <a:tailEnd type="none" w="med" len="med"/>
                </a:ln>
              </p:spPr>
            </p:sp>
            <p:sp>
              <p:nvSpPr>
                <p:cNvPr id="39464" name="Line 155"/>
                <p:cNvSpPr/>
                <p:nvPr/>
              </p:nvSpPr>
              <p:spPr>
                <a:xfrm>
                  <a:off x="1443" y="2527"/>
                  <a:ext cx="1" cy="1633"/>
                </a:xfrm>
                <a:prstGeom prst="line">
                  <a:avLst/>
                </a:prstGeom>
                <a:ln w="6480" cap="flat" cmpd="sng">
                  <a:solidFill>
                    <a:srgbClr val="808080"/>
                  </a:solidFill>
                  <a:prstDash val="solid"/>
                  <a:miter/>
                  <a:headEnd type="none" w="med" len="med"/>
                  <a:tailEnd type="none" w="med" len="med"/>
                </a:ln>
              </p:spPr>
            </p:sp>
            <p:sp>
              <p:nvSpPr>
                <p:cNvPr id="39465" name="Line 156"/>
                <p:cNvSpPr/>
                <p:nvPr/>
              </p:nvSpPr>
              <p:spPr>
                <a:xfrm>
                  <a:off x="1545" y="2527"/>
                  <a:ext cx="1" cy="1633"/>
                </a:xfrm>
                <a:prstGeom prst="line">
                  <a:avLst/>
                </a:prstGeom>
                <a:ln w="6480" cap="flat" cmpd="sng">
                  <a:solidFill>
                    <a:srgbClr val="808080"/>
                  </a:solidFill>
                  <a:prstDash val="solid"/>
                  <a:miter/>
                  <a:headEnd type="none" w="med" len="med"/>
                  <a:tailEnd type="none" w="med" len="med"/>
                </a:ln>
              </p:spPr>
            </p:sp>
            <p:sp>
              <p:nvSpPr>
                <p:cNvPr id="39466" name="Line 157"/>
                <p:cNvSpPr/>
                <p:nvPr/>
              </p:nvSpPr>
              <p:spPr>
                <a:xfrm>
                  <a:off x="1646" y="2527"/>
                  <a:ext cx="1" cy="1633"/>
                </a:xfrm>
                <a:prstGeom prst="line">
                  <a:avLst/>
                </a:prstGeom>
                <a:ln w="6480" cap="flat" cmpd="sng">
                  <a:solidFill>
                    <a:srgbClr val="808080"/>
                  </a:solidFill>
                  <a:prstDash val="solid"/>
                  <a:miter/>
                  <a:headEnd type="none" w="med" len="med"/>
                  <a:tailEnd type="none" w="med" len="med"/>
                </a:ln>
              </p:spPr>
            </p:sp>
            <p:sp>
              <p:nvSpPr>
                <p:cNvPr id="39467" name="Line 158"/>
                <p:cNvSpPr/>
                <p:nvPr/>
              </p:nvSpPr>
              <p:spPr>
                <a:xfrm>
                  <a:off x="1748" y="2527"/>
                  <a:ext cx="1" cy="1633"/>
                </a:xfrm>
                <a:prstGeom prst="line">
                  <a:avLst/>
                </a:prstGeom>
                <a:ln w="6480" cap="flat" cmpd="sng">
                  <a:solidFill>
                    <a:srgbClr val="808080"/>
                  </a:solidFill>
                  <a:prstDash val="solid"/>
                  <a:miter/>
                  <a:headEnd type="none" w="med" len="med"/>
                  <a:tailEnd type="none" w="med" len="med"/>
                </a:ln>
              </p:spPr>
            </p:sp>
            <p:sp>
              <p:nvSpPr>
                <p:cNvPr id="39468" name="Line 159"/>
                <p:cNvSpPr/>
                <p:nvPr/>
              </p:nvSpPr>
              <p:spPr>
                <a:xfrm>
                  <a:off x="1035" y="2629"/>
                  <a:ext cx="815" cy="1"/>
                </a:xfrm>
                <a:prstGeom prst="line">
                  <a:avLst/>
                </a:prstGeom>
                <a:ln w="6480" cap="flat" cmpd="sng">
                  <a:solidFill>
                    <a:srgbClr val="808080"/>
                  </a:solidFill>
                  <a:prstDash val="solid"/>
                  <a:miter/>
                  <a:headEnd type="none" w="med" len="med"/>
                  <a:tailEnd type="none" w="med" len="med"/>
                </a:ln>
              </p:spPr>
            </p:sp>
            <p:sp>
              <p:nvSpPr>
                <p:cNvPr id="39469" name="Line 160"/>
                <p:cNvSpPr/>
                <p:nvPr/>
              </p:nvSpPr>
              <p:spPr>
                <a:xfrm>
                  <a:off x="1035" y="2731"/>
                  <a:ext cx="815" cy="1"/>
                </a:xfrm>
                <a:prstGeom prst="line">
                  <a:avLst/>
                </a:prstGeom>
                <a:ln w="6480" cap="flat" cmpd="sng">
                  <a:solidFill>
                    <a:srgbClr val="808080"/>
                  </a:solidFill>
                  <a:prstDash val="solid"/>
                  <a:miter/>
                  <a:headEnd type="none" w="med" len="med"/>
                  <a:tailEnd type="none" w="med" len="med"/>
                </a:ln>
              </p:spPr>
            </p:sp>
            <p:sp>
              <p:nvSpPr>
                <p:cNvPr id="39470" name="Line 161"/>
                <p:cNvSpPr/>
                <p:nvPr/>
              </p:nvSpPr>
              <p:spPr>
                <a:xfrm>
                  <a:off x="1035" y="2832"/>
                  <a:ext cx="815" cy="1"/>
                </a:xfrm>
                <a:prstGeom prst="line">
                  <a:avLst/>
                </a:prstGeom>
                <a:ln w="6480" cap="flat" cmpd="sng">
                  <a:solidFill>
                    <a:srgbClr val="808080"/>
                  </a:solidFill>
                  <a:prstDash val="solid"/>
                  <a:miter/>
                  <a:headEnd type="none" w="med" len="med"/>
                  <a:tailEnd type="none" w="med" len="med"/>
                </a:ln>
              </p:spPr>
            </p:sp>
            <p:sp>
              <p:nvSpPr>
                <p:cNvPr id="39471" name="Line 162"/>
                <p:cNvSpPr/>
                <p:nvPr/>
              </p:nvSpPr>
              <p:spPr>
                <a:xfrm>
                  <a:off x="1035" y="2934"/>
                  <a:ext cx="815" cy="1"/>
                </a:xfrm>
                <a:prstGeom prst="line">
                  <a:avLst/>
                </a:prstGeom>
                <a:ln w="6480" cap="flat" cmpd="sng">
                  <a:solidFill>
                    <a:srgbClr val="808080"/>
                  </a:solidFill>
                  <a:prstDash val="solid"/>
                  <a:miter/>
                  <a:headEnd type="none" w="med" len="med"/>
                  <a:tailEnd type="none" w="med" len="med"/>
                </a:ln>
              </p:spPr>
            </p:sp>
            <p:sp>
              <p:nvSpPr>
                <p:cNvPr id="39472" name="Line 163"/>
                <p:cNvSpPr/>
                <p:nvPr/>
              </p:nvSpPr>
              <p:spPr>
                <a:xfrm>
                  <a:off x="1035" y="3036"/>
                  <a:ext cx="815" cy="1"/>
                </a:xfrm>
                <a:prstGeom prst="line">
                  <a:avLst/>
                </a:prstGeom>
                <a:ln w="6480" cap="flat" cmpd="sng">
                  <a:solidFill>
                    <a:srgbClr val="808080"/>
                  </a:solidFill>
                  <a:prstDash val="solid"/>
                  <a:miter/>
                  <a:headEnd type="none" w="med" len="med"/>
                  <a:tailEnd type="none" w="med" len="med"/>
                </a:ln>
              </p:spPr>
            </p:sp>
            <p:sp>
              <p:nvSpPr>
                <p:cNvPr id="39473" name="Line 164"/>
                <p:cNvSpPr/>
                <p:nvPr/>
              </p:nvSpPr>
              <p:spPr>
                <a:xfrm>
                  <a:off x="1035" y="3138"/>
                  <a:ext cx="815" cy="1"/>
                </a:xfrm>
                <a:prstGeom prst="line">
                  <a:avLst/>
                </a:prstGeom>
                <a:ln w="6480" cap="flat" cmpd="sng">
                  <a:solidFill>
                    <a:srgbClr val="808080"/>
                  </a:solidFill>
                  <a:prstDash val="solid"/>
                  <a:miter/>
                  <a:headEnd type="none" w="med" len="med"/>
                  <a:tailEnd type="none" w="med" len="med"/>
                </a:ln>
              </p:spPr>
            </p:sp>
            <p:sp>
              <p:nvSpPr>
                <p:cNvPr id="39474" name="Line 165"/>
                <p:cNvSpPr/>
                <p:nvPr/>
              </p:nvSpPr>
              <p:spPr>
                <a:xfrm>
                  <a:off x="1035" y="3244"/>
                  <a:ext cx="815" cy="1"/>
                </a:xfrm>
                <a:prstGeom prst="line">
                  <a:avLst/>
                </a:prstGeom>
                <a:ln w="6480" cap="flat" cmpd="sng">
                  <a:solidFill>
                    <a:srgbClr val="808080"/>
                  </a:solidFill>
                  <a:prstDash val="solid"/>
                  <a:miter/>
                  <a:headEnd type="none" w="med" len="med"/>
                  <a:tailEnd type="none" w="med" len="med"/>
                </a:ln>
              </p:spPr>
            </p:sp>
            <p:sp>
              <p:nvSpPr>
                <p:cNvPr id="39475" name="Line 166"/>
                <p:cNvSpPr/>
                <p:nvPr/>
              </p:nvSpPr>
              <p:spPr>
                <a:xfrm>
                  <a:off x="1035" y="3345"/>
                  <a:ext cx="815" cy="1"/>
                </a:xfrm>
                <a:prstGeom prst="line">
                  <a:avLst/>
                </a:prstGeom>
                <a:ln w="6480" cap="flat" cmpd="sng">
                  <a:solidFill>
                    <a:srgbClr val="808080"/>
                  </a:solidFill>
                  <a:prstDash val="solid"/>
                  <a:miter/>
                  <a:headEnd type="none" w="med" len="med"/>
                  <a:tailEnd type="none" w="med" len="med"/>
                </a:ln>
              </p:spPr>
            </p:sp>
            <p:sp>
              <p:nvSpPr>
                <p:cNvPr id="39476" name="Line 167"/>
                <p:cNvSpPr/>
                <p:nvPr/>
              </p:nvSpPr>
              <p:spPr>
                <a:xfrm>
                  <a:off x="1035" y="3447"/>
                  <a:ext cx="815" cy="1"/>
                </a:xfrm>
                <a:prstGeom prst="line">
                  <a:avLst/>
                </a:prstGeom>
                <a:ln w="6480" cap="flat" cmpd="sng">
                  <a:solidFill>
                    <a:srgbClr val="808080"/>
                  </a:solidFill>
                  <a:prstDash val="solid"/>
                  <a:miter/>
                  <a:headEnd type="none" w="med" len="med"/>
                  <a:tailEnd type="none" w="med" len="med"/>
                </a:ln>
              </p:spPr>
            </p:sp>
            <p:sp>
              <p:nvSpPr>
                <p:cNvPr id="39477" name="Line 168"/>
                <p:cNvSpPr/>
                <p:nvPr/>
              </p:nvSpPr>
              <p:spPr>
                <a:xfrm>
                  <a:off x="1035" y="3549"/>
                  <a:ext cx="815" cy="1"/>
                </a:xfrm>
                <a:prstGeom prst="line">
                  <a:avLst/>
                </a:prstGeom>
                <a:ln w="6480" cap="flat" cmpd="sng">
                  <a:solidFill>
                    <a:srgbClr val="808080"/>
                  </a:solidFill>
                  <a:prstDash val="solid"/>
                  <a:miter/>
                  <a:headEnd type="none" w="med" len="med"/>
                  <a:tailEnd type="none" w="med" len="med"/>
                </a:ln>
              </p:spPr>
            </p:sp>
            <p:sp>
              <p:nvSpPr>
                <p:cNvPr id="39478" name="Line 169"/>
                <p:cNvSpPr/>
                <p:nvPr/>
              </p:nvSpPr>
              <p:spPr>
                <a:xfrm>
                  <a:off x="1035" y="3651"/>
                  <a:ext cx="815" cy="1"/>
                </a:xfrm>
                <a:prstGeom prst="line">
                  <a:avLst/>
                </a:prstGeom>
                <a:ln w="6480" cap="flat" cmpd="sng">
                  <a:solidFill>
                    <a:srgbClr val="808080"/>
                  </a:solidFill>
                  <a:prstDash val="solid"/>
                  <a:miter/>
                  <a:headEnd type="none" w="med" len="med"/>
                  <a:tailEnd type="none" w="med" len="med"/>
                </a:ln>
              </p:spPr>
            </p:sp>
            <p:sp>
              <p:nvSpPr>
                <p:cNvPr id="39479" name="Line 170"/>
                <p:cNvSpPr/>
                <p:nvPr/>
              </p:nvSpPr>
              <p:spPr>
                <a:xfrm>
                  <a:off x="1035" y="3753"/>
                  <a:ext cx="815" cy="1"/>
                </a:xfrm>
                <a:prstGeom prst="line">
                  <a:avLst/>
                </a:prstGeom>
                <a:ln w="6480" cap="flat" cmpd="sng">
                  <a:solidFill>
                    <a:srgbClr val="808080"/>
                  </a:solidFill>
                  <a:prstDash val="solid"/>
                  <a:miter/>
                  <a:headEnd type="none" w="med" len="med"/>
                  <a:tailEnd type="none" w="med" len="med"/>
                </a:ln>
              </p:spPr>
            </p:sp>
            <p:sp>
              <p:nvSpPr>
                <p:cNvPr id="39480" name="Line 171"/>
                <p:cNvSpPr/>
                <p:nvPr/>
              </p:nvSpPr>
              <p:spPr>
                <a:xfrm>
                  <a:off x="1035" y="3854"/>
                  <a:ext cx="815" cy="1"/>
                </a:xfrm>
                <a:prstGeom prst="line">
                  <a:avLst/>
                </a:prstGeom>
                <a:ln w="6480" cap="flat" cmpd="sng">
                  <a:solidFill>
                    <a:srgbClr val="808080"/>
                  </a:solidFill>
                  <a:prstDash val="solid"/>
                  <a:miter/>
                  <a:headEnd type="none" w="med" len="med"/>
                  <a:tailEnd type="none" w="med" len="med"/>
                </a:ln>
              </p:spPr>
            </p:sp>
            <p:sp>
              <p:nvSpPr>
                <p:cNvPr id="39481" name="Line 172"/>
                <p:cNvSpPr/>
                <p:nvPr/>
              </p:nvSpPr>
              <p:spPr>
                <a:xfrm>
                  <a:off x="1035" y="3956"/>
                  <a:ext cx="815" cy="1"/>
                </a:xfrm>
                <a:prstGeom prst="line">
                  <a:avLst/>
                </a:prstGeom>
                <a:ln w="6480" cap="flat" cmpd="sng">
                  <a:solidFill>
                    <a:srgbClr val="808080"/>
                  </a:solidFill>
                  <a:prstDash val="solid"/>
                  <a:miter/>
                  <a:headEnd type="none" w="med" len="med"/>
                  <a:tailEnd type="none" w="med" len="med"/>
                </a:ln>
              </p:spPr>
            </p:sp>
            <p:sp>
              <p:nvSpPr>
                <p:cNvPr id="39482" name="Line 173"/>
                <p:cNvSpPr/>
                <p:nvPr/>
              </p:nvSpPr>
              <p:spPr>
                <a:xfrm>
                  <a:off x="1035" y="4058"/>
                  <a:ext cx="815" cy="1"/>
                </a:xfrm>
                <a:prstGeom prst="line">
                  <a:avLst/>
                </a:prstGeom>
                <a:ln w="6480" cap="flat" cmpd="sng">
                  <a:solidFill>
                    <a:srgbClr val="808080"/>
                  </a:solidFill>
                  <a:prstDash val="solid"/>
                  <a:miter/>
                  <a:headEnd type="none" w="med" len="med"/>
                  <a:tailEnd type="none" w="med" len="med"/>
                </a:ln>
              </p:spPr>
            </p:sp>
            <p:sp>
              <p:nvSpPr>
                <p:cNvPr id="39483" name="Line 174"/>
                <p:cNvSpPr/>
                <p:nvPr/>
              </p:nvSpPr>
              <p:spPr>
                <a:xfrm>
                  <a:off x="413" y="2629"/>
                  <a:ext cx="1" cy="102"/>
                </a:xfrm>
                <a:prstGeom prst="line">
                  <a:avLst/>
                </a:prstGeom>
                <a:ln w="9525">
                  <a:noFill/>
                </a:ln>
              </p:spPr>
            </p:sp>
            <p:sp>
              <p:nvSpPr>
                <p:cNvPr id="39484" name="Line 175"/>
                <p:cNvSpPr/>
                <p:nvPr/>
              </p:nvSpPr>
              <p:spPr>
                <a:xfrm>
                  <a:off x="413" y="2731"/>
                  <a:ext cx="1" cy="102"/>
                </a:xfrm>
                <a:prstGeom prst="line">
                  <a:avLst/>
                </a:prstGeom>
                <a:ln w="9525">
                  <a:noFill/>
                </a:ln>
              </p:spPr>
            </p:sp>
            <p:sp>
              <p:nvSpPr>
                <p:cNvPr id="39485" name="Line 176"/>
                <p:cNvSpPr/>
                <p:nvPr/>
              </p:nvSpPr>
              <p:spPr>
                <a:xfrm>
                  <a:off x="413" y="2832"/>
                  <a:ext cx="1" cy="102"/>
                </a:xfrm>
                <a:prstGeom prst="line">
                  <a:avLst/>
                </a:prstGeom>
                <a:ln w="9525">
                  <a:noFill/>
                </a:ln>
              </p:spPr>
            </p:sp>
            <p:sp>
              <p:nvSpPr>
                <p:cNvPr id="39486" name="Line 177"/>
                <p:cNvSpPr/>
                <p:nvPr/>
              </p:nvSpPr>
              <p:spPr>
                <a:xfrm>
                  <a:off x="413" y="2934"/>
                  <a:ext cx="1" cy="102"/>
                </a:xfrm>
                <a:prstGeom prst="line">
                  <a:avLst/>
                </a:prstGeom>
                <a:ln w="9525">
                  <a:noFill/>
                </a:ln>
              </p:spPr>
            </p:sp>
            <p:sp>
              <p:nvSpPr>
                <p:cNvPr id="39487" name="Line 178"/>
                <p:cNvSpPr/>
                <p:nvPr/>
              </p:nvSpPr>
              <p:spPr>
                <a:xfrm>
                  <a:off x="413" y="3036"/>
                  <a:ext cx="1" cy="102"/>
                </a:xfrm>
                <a:prstGeom prst="line">
                  <a:avLst/>
                </a:prstGeom>
                <a:ln w="9525">
                  <a:noFill/>
                </a:ln>
              </p:spPr>
            </p:sp>
            <p:sp>
              <p:nvSpPr>
                <p:cNvPr id="39488" name="Line 179"/>
                <p:cNvSpPr/>
                <p:nvPr/>
              </p:nvSpPr>
              <p:spPr>
                <a:xfrm>
                  <a:off x="413" y="3138"/>
                  <a:ext cx="1" cy="105"/>
                </a:xfrm>
                <a:prstGeom prst="line">
                  <a:avLst/>
                </a:prstGeom>
                <a:ln w="9525">
                  <a:noFill/>
                </a:ln>
              </p:spPr>
            </p:sp>
            <p:sp>
              <p:nvSpPr>
                <p:cNvPr id="39489" name="Line 180"/>
                <p:cNvSpPr/>
                <p:nvPr/>
              </p:nvSpPr>
              <p:spPr>
                <a:xfrm>
                  <a:off x="413" y="3244"/>
                  <a:ext cx="1" cy="102"/>
                </a:xfrm>
                <a:prstGeom prst="line">
                  <a:avLst/>
                </a:prstGeom>
                <a:ln w="9525">
                  <a:noFill/>
                </a:ln>
              </p:spPr>
            </p:sp>
            <p:sp>
              <p:nvSpPr>
                <p:cNvPr id="39490" name="Line 181"/>
                <p:cNvSpPr/>
                <p:nvPr/>
              </p:nvSpPr>
              <p:spPr>
                <a:xfrm>
                  <a:off x="413" y="3345"/>
                  <a:ext cx="1" cy="102"/>
                </a:xfrm>
                <a:prstGeom prst="line">
                  <a:avLst/>
                </a:prstGeom>
                <a:ln w="9525">
                  <a:noFill/>
                </a:ln>
              </p:spPr>
            </p:sp>
            <p:sp>
              <p:nvSpPr>
                <p:cNvPr id="39491" name="Line 182"/>
                <p:cNvSpPr/>
                <p:nvPr/>
              </p:nvSpPr>
              <p:spPr>
                <a:xfrm>
                  <a:off x="413" y="3447"/>
                  <a:ext cx="1" cy="102"/>
                </a:xfrm>
                <a:prstGeom prst="line">
                  <a:avLst/>
                </a:prstGeom>
                <a:ln w="9525">
                  <a:noFill/>
                </a:ln>
              </p:spPr>
            </p:sp>
            <p:sp>
              <p:nvSpPr>
                <p:cNvPr id="39492" name="Line 183"/>
                <p:cNvSpPr/>
                <p:nvPr/>
              </p:nvSpPr>
              <p:spPr>
                <a:xfrm>
                  <a:off x="413" y="3549"/>
                  <a:ext cx="1" cy="102"/>
                </a:xfrm>
                <a:prstGeom prst="line">
                  <a:avLst/>
                </a:prstGeom>
                <a:ln w="9525">
                  <a:noFill/>
                </a:ln>
              </p:spPr>
            </p:sp>
            <p:sp>
              <p:nvSpPr>
                <p:cNvPr id="39493" name="Line 184"/>
                <p:cNvSpPr/>
                <p:nvPr/>
              </p:nvSpPr>
              <p:spPr>
                <a:xfrm>
                  <a:off x="413" y="3651"/>
                  <a:ext cx="1" cy="102"/>
                </a:xfrm>
                <a:prstGeom prst="line">
                  <a:avLst/>
                </a:prstGeom>
                <a:ln w="9525">
                  <a:noFill/>
                </a:ln>
              </p:spPr>
            </p:sp>
            <p:sp>
              <p:nvSpPr>
                <p:cNvPr id="39494" name="Line 185"/>
                <p:cNvSpPr/>
                <p:nvPr/>
              </p:nvSpPr>
              <p:spPr>
                <a:xfrm>
                  <a:off x="413" y="3753"/>
                  <a:ext cx="1" cy="102"/>
                </a:xfrm>
                <a:prstGeom prst="line">
                  <a:avLst/>
                </a:prstGeom>
                <a:ln w="9525">
                  <a:noFill/>
                </a:ln>
              </p:spPr>
            </p:sp>
            <p:sp>
              <p:nvSpPr>
                <p:cNvPr id="39495" name="Line 186"/>
                <p:cNvSpPr/>
                <p:nvPr/>
              </p:nvSpPr>
              <p:spPr>
                <a:xfrm>
                  <a:off x="413" y="3854"/>
                  <a:ext cx="1" cy="102"/>
                </a:xfrm>
                <a:prstGeom prst="line">
                  <a:avLst/>
                </a:prstGeom>
                <a:ln w="9525">
                  <a:noFill/>
                </a:ln>
              </p:spPr>
            </p:sp>
            <p:sp>
              <p:nvSpPr>
                <p:cNvPr id="39496" name="Line 187"/>
                <p:cNvSpPr/>
                <p:nvPr/>
              </p:nvSpPr>
              <p:spPr>
                <a:xfrm>
                  <a:off x="413" y="3956"/>
                  <a:ext cx="1" cy="102"/>
                </a:xfrm>
                <a:prstGeom prst="line">
                  <a:avLst/>
                </a:prstGeom>
                <a:ln w="9525">
                  <a:noFill/>
                </a:ln>
              </p:spPr>
            </p:sp>
            <p:sp>
              <p:nvSpPr>
                <p:cNvPr id="39497" name="Line 188"/>
                <p:cNvSpPr/>
                <p:nvPr/>
              </p:nvSpPr>
              <p:spPr>
                <a:xfrm>
                  <a:off x="413" y="4058"/>
                  <a:ext cx="1" cy="102"/>
                </a:xfrm>
                <a:prstGeom prst="line">
                  <a:avLst/>
                </a:prstGeom>
                <a:ln w="9525">
                  <a:noFill/>
                </a:ln>
              </p:spPr>
            </p:sp>
            <p:sp>
              <p:nvSpPr>
                <p:cNvPr id="39498" name="Line 189"/>
                <p:cNvSpPr/>
                <p:nvPr/>
              </p:nvSpPr>
              <p:spPr>
                <a:xfrm>
                  <a:off x="1035" y="2527"/>
                  <a:ext cx="815" cy="1"/>
                </a:xfrm>
                <a:prstGeom prst="line">
                  <a:avLst/>
                </a:prstGeom>
                <a:ln w="12600" cap="flat" cmpd="sng">
                  <a:solidFill>
                    <a:srgbClr val="000000"/>
                  </a:solidFill>
                  <a:prstDash val="solid"/>
                  <a:miter/>
                  <a:headEnd type="none" w="med" len="med"/>
                  <a:tailEnd type="none" w="med" len="med"/>
                </a:ln>
              </p:spPr>
            </p:sp>
            <p:sp>
              <p:nvSpPr>
                <p:cNvPr id="39499" name="Line 190"/>
                <p:cNvSpPr/>
                <p:nvPr/>
              </p:nvSpPr>
              <p:spPr>
                <a:xfrm>
                  <a:off x="1035" y="2527"/>
                  <a:ext cx="1" cy="1633"/>
                </a:xfrm>
                <a:prstGeom prst="line">
                  <a:avLst/>
                </a:prstGeom>
                <a:ln w="12600" cap="flat" cmpd="sng">
                  <a:solidFill>
                    <a:srgbClr val="000000"/>
                  </a:solidFill>
                  <a:prstDash val="solid"/>
                  <a:miter/>
                  <a:headEnd type="none" w="med" len="med"/>
                  <a:tailEnd type="none" w="med" len="med"/>
                </a:ln>
              </p:spPr>
            </p:sp>
            <p:sp>
              <p:nvSpPr>
                <p:cNvPr id="39500" name="Line 191"/>
                <p:cNvSpPr/>
                <p:nvPr/>
              </p:nvSpPr>
              <p:spPr>
                <a:xfrm>
                  <a:off x="1850" y="2527"/>
                  <a:ext cx="1" cy="1633"/>
                </a:xfrm>
                <a:prstGeom prst="line">
                  <a:avLst/>
                </a:prstGeom>
                <a:ln w="12600" cap="flat" cmpd="sng">
                  <a:solidFill>
                    <a:srgbClr val="000000"/>
                  </a:solidFill>
                  <a:prstDash val="solid"/>
                  <a:miter/>
                  <a:headEnd type="none" w="med" len="med"/>
                  <a:tailEnd type="none" w="med" len="med"/>
                </a:ln>
              </p:spPr>
            </p:sp>
            <p:sp>
              <p:nvSpPr>
                <p:cNvPr id="39501" name="Line 192"/>
                <p:cNvSpPr/>
                <p:nvPr/>
              </p:nvSpPr>
              <p:spPr>
                <a:xfrm>
                  <a:off x="1035" y="4160"/>
                  <a:ext cx="815" cy="1"/>
                </a:xfrm>
                <a:prstGeom prst="line">
                  <a:avLst/>
                </a:prstGeom>
                <a:ln w="12600" cap="flat" cmpd="sng">
                  <a:solidFill>
                    <a:srgbClr val="000000"/>
                  </a:solidFill>
                  <a:prstDash val="solid"/>
                  <a:miter/>
                  <a:headEnd type="none" w="med" len="med"/>
                  <a:tailEnd type="none" w="med" len="med"/>
                </a:ln>
              </p:spPr>
            </p:sp>
          </p:grpSp>
          <p:sp>
            <p:nvSpPr>
              <p:cNvPr id="39118" name="Line 193"/>
              <p:cNvSpPr/>
              <p:nvPr/>
            </p:nvSpPr>
            <p:spPr>
              <a:xfrm>
                <a:off x="549" y="3436"/>
                <a:ext cx="450" cy="1"/>
              </a:xfrm>
              <a:prstGeom prst="line">
                <a:avLst/>
              </a:prstGeom>
              <a:ln w="19080" cap="flat" cmpd="sng">
                <a:solidFill>
                  <a:srgbClr val="FF3300"/>
                </a:solidFill>
                <a:prstDash val="solid"/>
                <a:miter/>
                <a:headEnd type="none" w="med" len="med"/>
                <a:tailEnd type="triangle" w="med" len="med"/>
              </a:ln>
            </p:spPr>
          </p:sp>
          <p:sp>
            <p:nvSpPr>
              <p:cNvPr id="39119" name="Line 194"/>
              <p:cNvSpPr/>
              <p:nvPr/>
            </p:nvSpPr>
            <p:spPr>
              <a:xfrm>
                <a:off x="1496" y="2848"/>
                <a:ext cx="1" cy="480"/>
              </a:xfrm>
              <a:prstGeom prst="line">
                <a:avLst/>
              </a:prstGeom>
              <a:ln w="9360" cap="flat" cmpd="sng">
                <a:solidFill>
                  <a:srgbClr val="FF3300"/>
                </a:solidFill>
                <a:prstDash val="solid"/>
                <a:miter/>
                <a:headEnd type="none" w="med" len="med"/>
                <a:tailEnd type="triangle" w="med" len="med"/>
              </a:ln>
            </p:spPr>
          </p:sp>
          <p:sp>
            <p:nvSpPr>
              <p:cNvPr id="39120" name="Line 195"/>
              <p:cNvSpPr/>
              <p:nvPr/>
            </p:nvSpPr>
            <p:spPr>
              <a:xfrm>
                <a:off x="1802" y="3137"/>
                <a:ext cx="1" cy="188"/>
              </a:xfrm>
              <a:prstGeom prst="line">
                <a:avLst/>
              </a:prstGeom>
              <a:ln w="9360" cap="flat" cmpd="sng">
                <a:solidFill>
                  <a:srgbClr val="FF3300"/>
                </a:solidFill>
                <a:prstDash val="solid"/>
                <a:miter/>
                <a:headEnd type="none" w="med" len="med"/>
                <a:tailEnd type="triangle" w="med" len="med"/>
              </a:ln>
            </p:spPr>
          </p:sp>
          <p:sp>
            <p:nvSpPr>
              <p:cNvPr id="39121" name="Line 196"/>
              <p:cNvSpPr/>
              <p:nvPr/>
            </p:nvSpPr>
            <p:spPr>
              <a:xfrm>
                <a:off x="1603" y="2847"/>
                <a:ext cx="1" cy="480"/>
              </a:xfrm>
              <a:prstGeom prst="line">
                <a:avLst/>
              </a:prstGeom>
              <a:ln w="9360" cap="flat" cmpd="sng">
                <a:solidFill>
                  <a:srgbClr val="FF3300"/>
                </a:solidFill>
                <a:prstDash val="solid"/>
                <a:miter/>
                <a:headEnd type="none" w="med" len="med"/>
                <a:tailEnd type="triangle" w="med" len="med"/>
              </a:ln>
            </p:spPr>
          </p:sp>
          <p:sp>
            <p:nvSpPr>
              <p:cNvPr id="39122" name="Line 197"/>
              <p:cNvSpPr/>
              <p:nvPr/>
            </p:nvSpPr>
            <p:spPr>
              <a:xfrm>
                <a:off x="1706" y="2846"/>
                <a:ext cx="1" cy="480"/>
              </a:xfrm>
              <a:prstGeom prst="line">
                <a:avLst/>
              </a:prstGeom>
              <a:ln w="9360" cap="flat" cmpd="sng">
                <a:solidFill>
                  <a:srgbClr val="FF3300"/>
                </a:solidFill>
                <a:prstDash val="solid"/>
                <a:miter/>
                <a:headEnd type="none" w="med" len="med"/>
                <a:tailEnd type="triangle" w="med" len="med"/>
              </a:ln>
            </p:spPr>
          </p:sp>
          <p:grpSp>
            <p:nvGrpSpPr>
              <p:cNvPr id="39123" name="Group 198"/>
              <p:cNvGrpSpPr/>
              <p:nvPr/>
            </p:nvGrpSpPr>
            <p:grpSpPr>
              <a:xfrm>
                <a:off x="2447" y="2527"/>
                <a:ext cx="1437" cy="1629"/>
                <a:chOff x="2447" y="2527"/>
                <a:chExt cx="1437" cy="1629"/>
              </a:xfrm>
            </p:grpSpPr>
            <p:sp>
              <p:nvSpPr>
                <p:cNvPr id="39126" name="Rectangle 199"/>
                <p:cNvSpPr/>
                <p:nvPr/>
              </p:nvSpPr>
              <p:spPr>
                <a:xfrm>
                  <a:off x="2447" y="4055"/>
                  <a:ext cx="623" cy="102"/>
                </a:xfrm>
                <a:prstGeom prst="rect">
                  <a:avLst/>
                </a:prstGeom>
                <a:noFill/>
                <a:ln w="9525">
                  <a:noFill/>
                </a:ln>
              </p:spPr>
              <p:txBody>
                <a:bodyPr lIns="19080" tIns="19080" rIns="19080" bIns="19080"/>
                <a:p>
                  <a:pPr algn="r" defTabSz="265430">
                    <a:spcBef>
                      <a:spcPts val="200"/>
                    </a:spcBef>
                    <a:buClr>
                      <a:srgbClr val="3333CC"/>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3333CC"/>
                      </a:solidFill>
                      <a:latin typeface="Times New Roman" pitchFamily="18" charset="0"/>
                    </a:rPr>
                    <a:t>cp0qtail</a:t>
                  </a:r>
                  <a:endParaRPr lang="en-GB" altLang="zh-CN" sz="800" dirty="0">
                    <a:solidFill>
                      <a:srgbClr val="3333CC"/>
                    </a:solidFill>
                    <a:latin typeface="Times New Roman" pitchFamily="18" charset="0"/>
                  </a:endParaRPr>
                </a:p>
              </p:txBody>
            </p:sp>
            <p:sp>
              <p:nvSpPr>
                <p:cNvPr id="39127" name="Rectangle 200"/>
                <p:cNvSpPr/>
                <p:nvPr/>
              </p:nvSpPr>
              <p:spPr>
                <a:xfrm>
                  <a:off x="2447" y="3953"/>
                  <a:ext cx="623" cy="102"/>
                </a:xfrm>
                <a:prstGeom prst="rect">
                  <a:avLst/>
                </a:prstGeom>
                <a:noFill/>
                <a:ln w="9525">
                  <a:noFill/>
                </a:ln>
              </p:spPr>
              <p:txBody>
                <a:bodyPr wrap="none" anchor="ctr" anchorCtr="0"/>
                <a:p>
                  <a:endParaRPr lang="zh-CN" altLang="en-US" dirty="0">
                    <a:latin typeface="Times New Roman" pitchFamily="18" charset="0"/>
                  </a:endParaRPr>
                </a:p>
              </p:txBody>
            </p:sp>
            <p:sp>
              <p:nvSpPr>
                <p:cNvPr id="39128" name="Rectangle 201"/>
                <p:cNvSpPr/>
                <p:nvPr/>
              </p:nvSpPr>
              <p:spPr>
                <a:xfrm>
                  <a:off x="2447" y="3851"/>
                  <a:ext cx="623"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LW100</a:t>
                  </a:r>
                  <a:endParaRPr lang="en-GB" altLang="zh-CN" sz="800" dirty="0">
                    <a:solidFill>
                      <a:srgbClr val="000000"/>
                    </a:solidFill>
                    <a:latin typeface="Times New Roman" pitchFamily="18" charset="0"/>
                  </a:endParaRPr>
                </a:p>
              </p:txBody>
            </p:sp>
            <p:sp>
              <p:nvSpPr>
                <p:cNvPr id="39129" name="Rectangle 202"/>
                <p:cNvSpPr/>
                <p:nvPr/>
              </p:nvSpPr>
              <p:spPr>
                <a:xfrm>
                  <a:off x="2447" y="3749"/>
                  <a:ext cx="623"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SW 100</a:t>
                  </a:r>
                  <a:endParaRPr lang="en-GB" altLang="zh-CN" sz="800" dirty="0">
                    <a:solidFill>
                      <a:srgbClr val="000000"/>
                    </a:solidFill>
                    <a:latin typeface="Times New Roman" pitchFamily="18" charset="0"/>
                  </a:endParaRPr>
                </a:p>
              </p:txBody>
            </p:sp>
            <p:sp>
              <p:nvSpPr>
                <p:cNvPr id="39130" name="Rectangle 203"/>
                <p:cNvSpPr/>
                <p:nvPr/>
              </p:nvSpPr>
              <p:spPr>
                <a:xfrm>
                  <a:off x="2447" y="3647"/>
                  <a:ext cx="623" cy="102"/>
                </a:xfrm>
                <a:prstGeom prst="rect">
                  <a:avLst/>
                </a:prstGeom>
                <a:noFill/>
                <a:ln w="9525">
                  <a:noFill/>
                </a:ln>
              </p:spPr>
              <p:txBody>
                <a:bodyPr wrap="none" anchor="ctr" anchorCtr="0"/>
                <a:p>
                  <a:endParaRPr lang="zh-CN" altLang="en-US" dirty="0">
                    <a:latin typeface="Times New Roman" pitchFamily="18" charset="0"/>
                  </a:endParaRPr>
                </a:p>
              </p:txBody>
            </p:sp>
            <p:sp>
              <p:nvSpPr>
                <p:cNvPr id="39131" name="Rectangle 204"/>
                <p:cNvSpPr/>
                <p:nvPr/>
              </p:nvSpPr>
              <p:spPr>
                <a:xfrm>
                  <a:off x="2447" y="3545"/>
                  <a:ext cx="623" cy="102"/>
                </a:xfrm>
                <a:prstGeom prst="rect">
                  <a:avLst/>
                </a:prstGeom>
                <a:noFill/>
                <a:ln w="9525">
                  <a:noFill/>
                </a:ln>
              </p:spPr>
              <p:txBody>
                <a:bodyPr wrap="none" anchor="ctr" anchorCtr="0"/>
                <a:p>
                  <a:endParaRPr lang="zh-CN" altLang="en-US" dirty="0">
                    <a:latin typeface="Times New Roman" pitchFamily="18" charset="0"/>
                  </a:endParaRPr>
                </a:p>
              </p:txBody>
            </p:sp>
            <p:sp>
              <p:nvSpPr>
                <p:cNvPr id="39132" name="Rectangle 205"/>
                <p:cNvSpPr/>
                <p:nvPr/>
              </p:nvSpPr>
              <p:spPr>
                <a:xfrm>
                  <a:off x="2447" y="3443"/>
                  <a:ext cx="623" cy="102"/>
                </a:xfrm>
                <a:prstGeom prst="rect">
                  <a:avLst/>
                </a:prstGeom>
                <a:noFill/>
                <a:ln w="9525">
                  <a:noFill/>
                </a:ln>
              </p:spPr>
              <p:txBody>
                <a:bodyPr wrap="none" anchor="ctr" anchorCtr="0"/>
                <a:p>
                  <a:endParaRPr lang="zh-CN" altLang="en-US" dirty="0">
                    <a:latin typeface="Times New Roman" pitchFamily="18" charset="0"/>
                  </a:endParaRPr>
                </a:p>
              </p:txBody>
            </p:sp>
            <p:sp>
              <p:nvSpPr>
                <p:cNvPr id="39133" name="Rectangle 206"/>
                <p:cNvSpPr/>
                <p:nvPr/>
              </p:nvSpPr>
              <p:spPr>
                <a:xfrm>
                  <a:off x="2447" y="3341"/>
                  <a:ext cx="623"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LW 100</a:t>
                  </a:r>
                  <a:endParaRPr lang="en-GB" altLang="zh-CN" sz="800" dirty="0">
                    <a:solidFill>
                      <a:srgbClr val="000000"/>
                    </a:solidFill>
                    <a:latin typeface="Times New Roman" pitchFamily="18" charset="0"/>
                  </a:endParaRPr>
                </a:p>
              </p:txBody>
            </p:sp>
            <p:sp>
              <p:nvSpPr>
                <p:cNvPr id="39134" name="Rectangle 207"/>
                <p:cNvSpPr/>
                <p:nvPr/>
              </p:nvSpPr>
              <p:spPr>
                <a:xfrm>
                  <a:off x="2447" y="3240"/>
                  <a:ext cx="623" cy="102"/>
                </a:xfrm>
                <a:prstGeom prst="rect">
                  <a:avLst/>
                </a:prstGeom>
                <a:noFill/>
                <a:ln w="9525">
                  <a:noFill/>
                </a:ln>
              </p:spPr>
              <p:txBody>
                <a:bodyPr wrap="none" anchor="ctr" anchorCtr="0"/>
                <a:p>
                  <a:endParaRPr lang="zh-CN" altLang="en-US" dirty="0">
                    <a:latin typeface="Times New Roman" pitchFamily="18" charset="0"/>
                  </a:endParaRPr>
                </a:p>
              </p:txBody>
            </p:sp>
            <p:sp>
              <p:nvSpPr>
                <p:cNvPr id="39135" name="Rectangle 208"/>
                <p:cNvSpPr/>
                <p:nvPr/>
              </p:nvSpPr>
              <p:spPr>
                <a:xfrm>
                  <a:off x="2447" y="3138"/>
                  <a:ext cx="623" cy="102"/>
                </a:xfrm>
                <a:prstGeom prst="rect">
                  <a:avLst/>
                </a:prstGeom>
                <a:noFill/>
                <a:ln w="9525">
                  <a:noFill/>
                </a:ln>
              </p:spPr>
              <p:txBody>
                <a:bodyPr wrap="none" anchor="ctr" anchorCtr="0"/>
                <a:p>
                  <a:endParaRPr lang="zh-CN" altLang="en-US" dirty="0">
                    <a:latin typeface="Times New Roman" pitchFamily="18" charset="0"/>
                  </a:endParaRPr>
                </a:p>
              </p:txBody>
            </p:sp>
            <p:sp>
              <p:nvSpPr>
                <p:cNvPr id="39136" name="Rectangle 209"/>
                <p:cNvSpPr/>
                <p:nvPr/>
              </p:nvSpPr>
              <p:spPr>
                <a:xfrm>
                  <a:off x="2447" y="3036"/>
                  <a:ext cx="623" cy="10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SB 100</a:t>
                  </a:r>
                  <a:endParaRPr lang="en-GB" altLang="zh-CN" sz="800" dirty="0">
                    <a:solidFill>
                      <a:srgbClr val="FF0000"/>
                    </a:solidFill>
                    <a:latin typeface="Times New Roman" pitchFamily="18" charset="0"/>
                  </a:endParaRPr>
                </a:p>
              </p:txBody>
            </p:sp>
            <p:sp>
              <p:nvSpPr>
                <p:cNvPr id="39137" name="Rectangle 210"/>
                <p:cNvSpPr/>
                <p:nvPr/>
              </p:nvSpPr>
              <p:spPr>
                <a:xfrm>
                  <a:off x="2447" y="2934"/>
                  <a:ext cx="623" cy="102"/>
                </a:xfrm>
                <a:prstGeom prst="rect">
                  <a:avLst/>
                </a:prstGeom>
                <a:noFill/>
                <a:ln w="9525">
                  <a:noFill/>
                </a:ln>
              </p:spPr>
              <p:txBody>
                <a:bodyPr wrap="none" anchor="ctr" anchorCtr="0"/>
                <a:p>
                  <a:endParaRPr lang="zh-CN" altLang="en-US" dirty="0">
                    <a:latin typeface="Times New Roman" pitchFamily="18" charset="0"/>
                  </a:endParaRPr>
                </a:p>
              </p:txBody>
            </p:sp>
            <p:sp>
              <p:nvSpPr>
                <p:cNvPr id="39138" name="Rectangle 211"/>
                <p:cNvSpPr/>
                <p:nvPr/>
              </p:nvSpPr>
              <p:spPr>
                <a:xfrm>
                  <a:off x="2447" y="2832"/>
                  <a:ext cx="623" cy="102"/>
                </a:xfrm>
                <a:prstGeom prst="rect">
                  <a:avLst/>
                </a:prstGeom>
                <a:noFill/>
                <a:ln w="9525">
                  <a:noFill/>
                </a:ln>
              </p:spPr>
              <p:txBody>
                <a:bodyPr wrap="none" anchor="ctr" anchorCtr="0"/>
                <a:p>
                  <a:endParaRPr lang="zh-CN" altLang="en-US" dirty="0">
                    <a:latin typeface="Times New Roman" pitchFamily="18" charset="0"/>
                  </a:endParaRPr>
                </a:p>
              </p:txBody>
            </p:sp>
            <p:sp>
              <p:nvSpPr>
                <p:cNvPr id="39139" name="Rectangle 212"/>
                <p:cNvSpPr/>
                <p:nvPr/>
              </p:nvSpPr>
              <p:spPr>
                <a:xfrm>
                  <a:off x="2447" y="2731"/>
                  <a:ext cx="623"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SW 100</a:t>
                  </a:r>
                  <a:endParaRPr lang="en-GB" altLang="zh-CN" sz="800" dirty="0">
                    <a:solidFill>
                      <a:srgbClr val="000000"/>
                    </a:solidFill>
                    <a:latin typeface="Times New Roman" pitchFamily="18" charset="0"/>
                  </a:endParaRPr>
                </a:p>
              </p:txBody>
            </p:sp>
            <p:sp>
              <p:nvSpPr>
                <p:cNvPr id="39140" name="Rectangle 213"/>
                <p:cNvSpPr/>
                <p:nvPr/>
              </p:nvSpPr>
              <p:spPr>
                <a:xfrm>
                  <a:off x="2447" y="2629"/>
                  <a:ext cx="623" cy="102"/>
                </a:xfrm>
                <a:prstGeom prst="rect">
                  <a:avLst/>
                </a:prstGeom>
                <a:noFill/>
                <a:ln w="9525">
                  <a:noFill/>
                </a:ln>
              </p:spPr>
              <p:txBody>
                <a:bodyPr wrap="none" anchor="ctr" anchorCtr="0"/>
                <a:p>
                  <a:endParaRPr lang="zh-CN" altLang="en-US" dirty="0">
                    <a:latin typeface="Times New Roman" pitchFamily="18" charset="0"/>
                  </a:endParaRPr>
                </a:p>
              </p:txBody>
            </p:sp>
            <p:sp>
              <p:nvSpPr>
                <p:cNvPr id="39141" name="Rectangle 214"/>
                <p:cNvSpPr/>
                <p:nvPr/>
              </p:nvSpPr>
              <p:spPr>
                <a:xfrm>
                  <a:off x="2447" y="2527"/>
                  <a:ext cx="623" cy="102"/>
                </a:xfrm>
                <a:prstGeom prst="rect">
                  <a:avLst/>
                </a:prstGeom>
                <a:noFill/>
                <a:ln w="9525">
                  <a:noFill/>
                </a:ln>
              </p:spPr>
              <p:txBody>
                <a:bodyPr lIns="19080" tIns="19080" rIns="19080" bIns="19080"/>
                <a:p>
                  <a:pPr algn="r" defTabSz="265430">
                    <a:spcBef>
                      <a:spcPts val="200"/>
                    </a:spcBef>
                    <a:buClr>
                      <a:srgbClr val="3333CC"/>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3333CC"/>
                      </a:solidFill>
                      <a:latin typeface="Times New Roman" pitchFamily="18" charset="0"/>
                    </a:rPr>
                    <a:t>cp0qhead</a:t>
                  </a:r>
                  <a:endParaRPr lang="en-GB" altLang="zh-CN" sz="800" dirty="0">
                    <a:solidFill>
                      <a:srgbClr val="3333CC"/>
                    </a:solidFill>
                    <a:latin typeface="Times New Roman" pitchFamily="18" charset="0"/>
                  </a:endParaRPr>
                </a:p>
              </p:txBody>
            </p:sp>
            <p:sp>
              <p:nvSpPr>
                <p:cNvPr id="39142" name="Rectangle 215"/>
                <p:cNvSpPr/>
                <p:nvPr/>
              </p:nvSpPr>
              <p:spPr>
                <a:xfrm>
                  <a:off x="3783" y="405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43" name="Rectangle 216"/>
                <p:cNvSpPr/>
                <p:nvPr/>
              </p:nvSpPr>
              <p:spPr>
                <a:xfrm>
                  <a:off x="3681" y="405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44" name="Rectangle 217"/>
                <p:cNvSpPr/>
                <p:nvPr/>
              </p:nvSpPr>
              <p:spPr>
                <a:xfrm>
                  <a:off x="3579" y="405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45" name="Rectangle 218"/>
                <p:cNvSpPr/>
                <p:nvPr/>
              </p:nvSpPr>
              <p:spPr>
                <a:xfrm>
                  <a:off x="3477" y="405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46" name="Rectangle 219"/>
                <p:cNvSpPr/>
                <p:nvPr/>
              </p:nvSpPr>
              <p:spPr>
                <a:xfrm>
                  <a:off x="3375" y="405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47" name="Rectangle 220"/>
                <p:cNvSpPr/>
                <p:nvPr/>
              </p:nvSpPr>
              <p:spPr>
                <a:xfrm>
                  <a:off x="3273" y="405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48" name="Rectangle 221"/>
                <p:cNvSpPr/>
                <p:nvPr/>
              </p:nvSpPr>
              <p:spPr>
                <a:xfrm>
                  <a:off x="3171" y="405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49" name="Rectangle 222"/>
                <p:cNvSpPr/>
                <p:nvPr/>
              </p:nvSpPr>
              <p:spPr>
                <a:xfrm>
                  <a:off x="3070" y="405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50" name="Rectangle 223"/>
                <p:cNvSpPr/>
                <p:nvPr/>
              </p:nvSpPr>
              <p:spPr>
                <a:xfrm>
                  <a:off x="3783" y="39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51" name="Rectangle 224"/>
                <p:cNvSpPr/>
                <p:nvPr/>
              </p:nvSpPr>
              <p:spPr>
                <a:xfrm>
                  <a:off x="3681" y="39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52" name="Rectangle 225"/>
                <p:cNvSpPr/>
                <p:nvPr/>
              </p:nvSpPr>
              <p:spPr>
                <a:xfrm>
                  <a:off x="3579" y="39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53" name="Rectangle 226"/>
                <p:cNvSpPr/>
                <p:nvPr/>
              </p:nvSpPr>
              <p:spPr>
                <a:xfrm>
                  <a:off x="3477" y="39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54" name="Rectangle 227"/>
                <p:cNvSpPr/>
                <p:nvPr/>
              </p:nvSpPr>
              <p:spPr>
                <a:xfrm>
                  <a:off x="3375" y="39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55" name="Rectangle 228"/>
                <p:cNvSpPr/>
                <p:nvPr/>
              </p:nvSpPr>
              <p:spPr>
                <a:xfrm>
                  <a:off x="3273" y="39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56" name="Rectangle 229"/>
                <p:cNvSpPr/>
                <p:nvPr/>
              </p:nvSpPr>
              <p:spPr>
                <a:xfrm>
                  <a:off x="3171" y="39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57" name="Rectangle 230"/>
                <p:cNvSpPr/>
                <p:nvPr/>
              </p:nvSpPr>
              <p:spPr>
                <a:xfrm>
                  <a:off x="3070" y="395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58" name="Rectangle 231"/>
                <p:cNvSpPr/>
                <p:nvPr/>
              </p:nvSpPr>
              <p:spPr>
                <a:xfrm>
                  <a:off x="3783" y="385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159" name="Rectangle 232"/>
                <p:cNvSpPr/>
                <p:nvPr/>
              </p:nvSpPr>
              <p:spPr>
                <a:xfrm>
                  <a:off x="3681" y="385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160" name="Rectangle 233"/>
                <p:cNvSpPr/>
                <p:nvPr/>
              </p:nvSpPr>
              <p:spPr>
                <a:xfrm>
                  <a:off x="3579" y="385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161" name="Rectangle 234"/>
                <p:cNvSpPr/>
                <p:nvPr/>
              </p:nvSpPr>
              <p:spPr>
                <a:xfrm>
                  <a:off x="3477" y="385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162" name="Rectangle 235"/>
                <p:cNvSpPr/>
                <p:nvPr/>
              </p:nvSpPr>
              <p:spPr>
                <a:xfrm>
                  <a:off x="3375" y="38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63" name="Rectangle 236"/>
                <p:cNvSpPr/>
                <p:nvPr/>
              </p:nvSpPr>
              <p:spPr>
                <a:xfrm>
                  <a:off x="3273" y="38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64" name="Rectangle 237"/>
                <p:cNvSpPr/>
                <p:nvPr/>
              </p:nvSpPr>
              <p:spPr>
                <a:xfrm>
                  <a:off x="3171" y="38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65" name="Rectangle 238"/>
                <p:cNvSpPr/>
                <p:nvPr/>
              </p:nvSpPr>
              <p:spPr>
                <a:xfrm>
                  <a:off x="3070" y="385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66" name="Rectangle 239"/>
                <p:cNvSpPr/>
                <p:nvPr/>
              </p:nvSpPr>
              <p:spPr>
                <a:xfrm>
                  <a:off x="3783" y="3749"/>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167" name="Rectangle 240"/>
                <p:cNvSpPr/>
                <p:nvPr/>
              </p:nvSpPr>
              <p:spPr>
                <a:xfrm>
                  <a:off x="3681" y="3749"/>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168" name="Rectangle 241"/>
                <p:cNvSpPr/>
                <p:nvPr/>
              </p:nvSpPr>
              <p:spPr>
                <a:xfrm>
                  <a:off x="3579" y="3749"/>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169" name="Rectangle 242"/>
                <p:cNvSpPr/>
                <p:nvPr/>
              </p:nvSpPr>
              <p:spPr>
                <a:xfrm>
                  <a:off x="3477" y="3749"/>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9170" name="Rectangle 243"/>
                <p:cNvSpPr/>
                <p:nvPr/>
              </p:nvSpPr>
              <p:spPr>
                <a:xfrm>
                  <a:off x="3375" y="37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71" name="Rectangle 244"/>
                <p:cNvSpPr/>
                <p:nvPr/>
              </p:nvSpPr>
              <p:spPr>
                <a:xfrm>
                  <a:off x="3273" y="37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72" name="Rectangle 245"/>
                <p:cNvSpPr/>
                <p:nvPr/>
              </p:nvSpPr>
              <p:spPr>
                <a:xfrm>
                  <a:off x="3171" y="37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73" name="Rectangle 246"/>
                <p:cNvSpPr/>
                <p:nvPr/>
              </p:nvSpPr>
              <p:spPr>
                <a:xfrm>
                  <a:off x="3070" y="374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74" name="Rectangle 247"/>
                <p:cNvSpPr/>
                <p:nvPr/>
              </p:nvSpPr>
              <p:spPr>
                <a:xfrm>
                  <a:off x="3783" y="36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75" name="Rectangle 248"/>
                <p:cNvSpPr/>
                <p:nvPr/>
              </p:nvSpPr>
              <p:spPr>
                <a:xfrm>
                  <a:off x="3681" y="36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76" name="Rectangle 249"/>
                <p:cNvSpPr/>
                <p:nvPr/>
              </p:nvSpPr>
              <p:spPr>
                <a:xfrm>
                  <a:off x="3579" y="36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77" name="Rectangle 250"/>
                <p:cNvSpPr/>
                <p:nvPr/>
              </p:nvSpPr>
              <p:spPr>
                <a:xfrm>
                  <a:off x="3477" y="36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78" name="Rectangle 251"/>
                <p:cNvSpPr/>
                <p:nvPr/>
              </p:nvSpPr>
              <p:spPr>
                <a:xfrm>
                  <a:off x="3375" y="36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79" name="Rectangle 252"/>
                <p:cNvSpPr/>
                <p:nvPr/>
              </p:nvSpPr>
              <p:spPr>
                <a:xfrm>
                  <a:off x="3273" y="36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80" name="Rectangle 253"/>
                <p:cNvSpPr/>
                <p:nvPr/>
              </p:nvSpPr>
              <p:spPr>
                <a:xfrm>
                  <a:off x="3171" y="36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81" name="Rectangle 254"/>
                <p:cNvSpPr/>
                <p:nvPr/>
              </p:nvSpPr>
              <p:spPr>
                <a:xfrm>
                  <a:off x="3070" y="364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82" name="Rectangle 255"/>
                <p:cNvSpPr/>
                <p:nvPr/>
              </p:nvSpPr>
              <p:spPr>
                <a:xfrm>
                  <a:off x="3783" y="3240"/>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83" name="Rectangle 256"/>
                <p:cNvSpPr/>
                <p:nvPr/>
              </p:nvSpPr>
              <p:spPr>
                <a:xfrm>
                  <a:off x="3681" y="3240"/>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84" name="Rectangle 257"/>
                <p:cNvSpPr/>
                <p:nvPr/>
              </p:nvSpPr>
              <p:spPr>
                <a:xfrm>
                  <a:off x="3579" y="3240"/>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85" name="Rectangle 258"/>
                <p:cNvSpPr/>
                <p:nvPr/>
              </p:nvSpPr>
              <p:spPr>
                <a:xfrm>
                  <a:off x="3477" y="3240"/>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86" name="Rectangle 259"/>
                <p:cNvSpPr/>
                <p:nvPr/>
              </p:nvSpPr>
              <p:spPr>
                <a:xfrm>
                  <a:off x="3375" y="3240"/>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87" name="Rectangle 260"/>
                <p:cNvSpPr/>
                <p:nvPr/>
              </p:nvSpPr>
              <p:spPr>
                <a:xfrm>
                  <a:off x="3273" y="3240"/>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88" name="Rectangle 261"/>
                <p:cNvSpPr/>
                <p:nvPr/>
              </p:nvSpPr>
              <p:spPr>
                <a:xfrm>
                  <a:off x="3171" y="3240"/>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89" name="Rectangle 262"/>
                <p:cNvSpPr/>
                <p:nvPr/>
              </p:nvSpPr>
              <p:spPr>
                <a:xfrm>
                  <a:off x="3070" y="3240"/>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90" name="Rectangle 263"/>
                <p:cNvSpPr/>
                <p:nvPr/>
              </p:nvSpPr>
              <p:spPr>
                <a:xfrm>
                  <a:off x="3783" y="313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91" name="Rectangle 264"/>
                <p:cNvSpPr/>
                <p:nvPr/>
              </p:nvSpPr>
              <p:spPr>
                <a:xfrm>
                  <a:off x="3681" y="313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92" name="Rectangle 265"/>
                <p:cNvSpPr/>
                <p:nvPr/>
              </p:nvSpPr>
              <p:spPr>
                <a:xfrm>
                  <a:off x="3579" y="313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93" name="Rectangle 266"/>
                <p:cNvSpPr/>
                <p:nvPr/>
              </p:nvSpPr>
              <p:spPr>
                <a:xfrm>
                  <a:off x="3477" y="313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94" name="Rectangle 267"/>
                <p:cNvSpPr/>
                <p:nvPr/>
              </p:nvSpPr>
              <p:spPr>
                <a:xfrm>
                  <a:off x="3375" y="313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95" name="Rectangle 268"/>
                <p:cNvSpPr/>
                <p:nvPr/>
              </p:nvSpPr>
              <p:spPr>
                <a:xfrm>
                  <a:off x="3273" y="313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96" name="Rectangle 269"/>
                <p:cNvSpPr/>
                <p:nvPr/>
              </p:nvSpPr>
              <p:spPr>
                <a:xfrm>
                  <a:off x="3171" y="313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97" name="Rectangle 270"/>
                <p:cNvSpPr/>
                <p:nvPr/>
              </p:nvSpPr>
              <p:spPr>
                <a:xfrm>
                  <a:off x="3070" y="3138"/>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198" name="Rectangle 271"/>
                <p:cNvSpPr/>
                <p:nvPr/>
              </p:nvSpPr>
              <p:spPr>
                <a:xfrm>
                  <a:off x="3783" y="3036"/>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5</a:t>
                  </a:r>
                  <a:endParaRPr lang="en-GB" altLang="zh-CN" sz="800" dirty="0">
                    <a:solidFill>
                      <a:srgbClr val="000000"/>
                    </a:solidFill>
                    <a:latin typeface="Times New Roman" pitchFamily="18" charset="0"/>
                  </a:endParaRPr>
                </a:p>
              </p:txBody>
            </p:sp>
            <p:sp>
              <p:nvSpPr>
                <p:cNvPr id="39199" name="Rectangle 272"/>
                <p:cNvSpPr/>
                <p:nvPr/>
              </p:nvSpPr>
              <p:spPr>
                <a:xfrm>
                  <a:off x="3681"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00" name="Rectangle 273"/>
                <p:cNvSpPr/>
                <p:nvPr/>
              </p:nvSpPr>
              <p:spPr>
                <a:xfrm>
                  <a:off x="3579"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01" name="Rectangle 274"/>
                <p:cNvSpPr/>
                <p:nvPr/>
              </p:nvSpPr>
              <p:spPr>
                <a:xfrm>
                  <a:off x="3477"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02" name="Rectangle 275"/>
                <p:cNvSpPr/>
                <p:nvPr/>
              </p:nvSpPr>
              <p:spPr>
                <a:xfrm>
                  <a:off x="3375"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03" name="Rectangle 276"/>
                <p:cNvSpPr/>
                <p:nvPr/>
              </p:nvSpPr>
              <p:spPr>
                <a:xfrm>
                  <a:off x="3273"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04" name="Rectangle 277"/>
                <p:cNvSpPr/>
                <p:nvPr/>
              </p:nvSpPr>
              <p:spPr>
                <a:xfrm>
                  <a:off x="3171"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05" name="Rectangle 278"/>
                <p:cNvSpPr/>
                <p:nvPr/>
              </p:nvSpPr>
              <p:spPr>
                <a:xfrm>
                  <a:off x="3070" y="3036"/>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06" name="Rectangle 279"/>
                <p:cNvSpPr/>
                <p:nvPr/>
              </p:nvSpPr>
              <p:spPr>
                <a:xfrm>
                  <a:off x="3783"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07" name="Rectangle 280"/>
                <p:cNvSpPr/>
                <p:nvPr/>
              </p:nvSpPr>
              <p:spPr>
                <a:xfrm>
                  <a:off x="3681"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08" name="Rectangle 281"/>
                <p:cNvSpPr/>
                <p:nvPr/>
              </p:nvSpPr>
              <p:spPr>
                <a:xfrm>
                  <a:off x="3579"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09" name="Rectangle 282"/>
                <p:cNvSpPr/>
                <p:nvPr/>
              </p:nvSpPr>
              <p:spPr>
                <a:xfrm>
                  <a:off x="3477"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10" name="Rectangle 283"/>
                <p:cNvSpPr/>
                <p:nvPr/>
              </p:nvSpPr>
              <p:spPr>
                <a:xfrm>
                  <a:off x="3375"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11" name="Rectangle 284"/>
                <p:cNvSpPr/>
                <p:nvPr/>
              </p:nvSpPr>
              <p:spPr>
                <a:xfrm>
                  <a:off x="3273"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12" name="Rectangle 285"/>
                <p:cNvSpPr/>
                <p:nvPr/>
              </p:nvSpPr>
              <p:spPr>
                <a:xfrm>
                  <a:off x="3171"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13" name="Rectangle 286"/>
                <p:cNvSpPr/>
                <p:nvPr/>
              </p:nvSpPr>
              <p:spPr>
                <a:xfrm>
                  <a:off x="3070" y="2934"/>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14" name="Rectangle 287"/>
                <p:cNvSpPr/>
                <p:nvPr/>
              </p:nvSpPr>
              <p:spPr>
                <a:xfrm>
                  <a:off x="3783"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15" name="Rectangle 288"/>
                <p:cNvSpPr/>
                <p:nvPr/>
              </p:nvSpPr>
              <p:spPr>
                <a:xfrm>
                  <a:off x="3681"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16" name="Rectangle 289"/>
                <p:cNvSpPr/>
                <p:nvPr/>
              </p:nvSpPr>
              <p:spPr>
                <a:xfrm>
                  <a:off x="3579"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17" name="Rectangle 290"/>
                <p:cNvSpPr/>
                <p:nvPr/>
              </p:nvSpPr>
              <p:spPr>
                <a:xfrm>
                  <a:off x="3477"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18" name="Rectangle 291"/>
                <p:cNvSpPr/>
                <p:nvPr/>
              </p:nvSpPr>
              <p:spPr>
                <a:xfrm>
                  <a:off x="3375"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19" name="Rectangle 292"/>
                <p:cNvSpPr/>
                <p:nvPr/>
              </p:nvSpPr>
              <p:spPr>
                <a:xfrm>
                  <a:off x="3273"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20" name="Rectangle 293"/>
                <p:cNvSpPr/>
                <p:nvPr/>
              </p:nvSpPr>
              <p:spPr>
                <a:xfrm>
                  <a:off x="3171"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21" name="Rectangle 294"/>
                <p:cNvSpPr/>
                <p:nvPr/>
              </p:nvSpPr>
              <p:spPr>
                <a:xfrm>
                  <a:off x="3070" y="2832"/>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22" name="Rectangle 295"/>
                <p:cNvSpPr/>
                <p:nvPr/>
              </p:nvSpPr>
              <p:spPr>
                <a:xfrm>
                  <a:off x="3783" y="273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4</a:t>
                  </a:r>
                  <a:endParaRPr lang="en-GB" altLang="zh-CN" sz="800" dirty="0">
                    <a:solidFill>
                      <a:srgbClr val="000000"/>
                    </a:solidFill>
                    <a:latin typeface="Times New Roman" pitchFamily="18" charset="0"/>
                  </a:endParaRPr>
                </a:p>
              </p:txBody>
            </p:sp>
            <p:sp>
              <p:nvSpPr>
                <p:cNvPr id="39223" name="Rectangle 296"/>
                <p:cNvSpPr/>
                <p:nvPr/>
              </p:nvSpPr>
              <p:spPr>
                <a:xfrm>
                  <a:off x="3681" y="273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3</a:t>
                  </a:r>
                  <a:endParaRPr lang="en-GB" altLang="zh-CN" sz="800" dirty="0">
                    <a:solidFill>
                      <a:srgbClr val="000000"/>
                    </a:solidFill>
                    <a:latin typeface="Times New Roman" pitchFamily="18" charset="0"/>
                  </a:endParaRPr>
                </a:p>
              </p:txBody>
            </p:sp>
            <p:sp>
              <p:nvSpPr>
                <p:cNvPr id="39224" name="Rectangle 297"/>
                <p:cNvSpPr/>
                <p:nvPr/>
              </p:nvSpPr>
              <p:spPr>
                <a:xfrm>
                  <a:off x="3579" y="273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2</a:t>
                  </a:r>
                  <a:endParaRPr lang="en-GB" altLang="zh-CN" sz="800" dirty="0">
                    <a:solidFill>
                      <a:srgbClr val="000000"/>
                    </a:solidFill>
                    <a:latin typeface="Times New Roman" pitchFamily="18" charset="0"/>
                  </a:endParaRPr>
                </a:p>
              </p:txBody>
            </p:sp>
            <p:sp>
              <p:nvSpPr>
                <p:cNvPr id="39225" name="Rectangle 298"/>
                <p:cNvSpPr/>
                <p:nvPr/>
              </p:nvSpPr>
              <p:spPr>
                <a:xfrm>
                  <a:off x="3477" y="273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1</a:t>
                  </a:r>
                  <a:endParaRPr lang="en-GB" altLang="zh-CN" sz="800" dirty="0">
                    <a:solidFill>
                      <a:srgbClr val="000000"/>
                    </a:solidFill>
                    <a:latin typeface="Times New Roman" pitchFamily="18" charset="0"/>
                  </a:endParaRPr>
                </a:p>
              </p:txBody>
            </p:sp>
            <p:sp>
              <p:nvSpPr>
                <p:cNvPr id="39226" name="Rectangle 299"/>
                <p:cNvSpPr/>
                <p:nvPr/>
              </p:nvSpPr>
              <p:spPr>
                <a:xfrm>
                  <a:off x="3375" y="273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27" name="Rectangle 300"/>
                <p:cNvSpPr/>
                <p:nvPr/>
              </p:nvSpPr>
              <p:spPr>
                <a:xfrm>
                  <a:off x="3273" y="273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28" name="Rectangle 301"/>
                <p:cNvSpPr/>
                <p:nvPr/>
              </p:nvSpPr>
              <p:spPr>
                <a:xfrm>
                  <a:off x="3171" y="273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29" name="Rectangle 302"/>
                <p:cNvSpPr/>
                <p:nvPr/>
              </p:nvSpPr>
              <p:spPr>
                <a:xfrm>
                  <a:off x="3070" y="273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30" name="Rectangle 303"/>
                <p:cNvSpPr/>
                <p:nvPr/>
              </p:nvSpPr>
              <p:spPr>
                <a:xfrm>
                  <a:off x="3783"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31" name="Rectangle 304"/>
                <p:cNvSpPr/>
                <p:nvPr/>
              </p:nvSpPr>
              <p:spPr>
                <a:xfrm>
                  <a:off x="3681"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32" name="Rectangle 305"/>
                <p:cNvSpPr/>
                <p:nvPr/>
              </p:nvSpPr>
              <p:spPr>
                <a:xfrm>
                  <a:off x="3579"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33" name="Rectangle 306"/>
                <p:cNvSpPr/>
                <p:nvPr/>
              </p:nvSpPr>
              <p:spPr>
                <a:xfrm>
                  <a:off x="3477"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34" name="Rectangle 307"/>
                <p:cNvSpPr/>
                <p:nvPr/>
              </p:nvSpPr>
              <p:spPr>
                <a:xfrm>
                  <a:off x="3375"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35" name="Rectangle 308"/>
                <p:cNvSpPr/>
                <p:nvPr/>
              </p:nvSpPr>
              <p:spPr>
                <a:xfrm>
                  <a:off x="3273"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36" name="Rectangle 309"/>
                <p:cNvSpPr/>
                <p:nvPr/>
              </p:nvSpPr>
              <p:spPr>
                <a:xfrm>
                  <a:off x="3171"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37" name="Rectangle 310"/>
                <p:cNvSpPr/>
                <p:nvPr/>
              </p:nvSpPr>
              <p:spPr>
                <a:xfrm>
                  <a:off x="3070" y="2629"/>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38" name="Rectangle 311"/>
                <p:cNvSpPr/>
                <p:nvPr/>
              </p:nvSpPr>
              <p:spPr>
                <a:xfrm>
                  <a:off x="3783" y="35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39" name="Rectangle 312"/>
                <p:cNvSpPr/>
                <p:nvPr/>
              </p:nvSpPr>
              <p:spPr>
                <a:xfrm>
                  <a:off x="3783" y="344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40" name="Rectangle 313"/>
                <p:cNvSpPr/>
                <p:nvPr/>
              </p:nvSpPr>
              <p:spPr>
                <a:xfrm>
                  <a:off x="3783" y="3341"/>
                  <a:ext cx="102" cy="10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5</a:t>
                  </a:r>
                  <a:endParaRPr lang="en-GB" altLang="zh-CN" sz="800" dirty="0">
                    <a:solidFill>
                      <a:srgbClr val="FF0000"/>
                    </a:solidFill>
                    <a:latin typeface="Times New Roman" pitchFamily="18" charset="0"/>
                  </a:endParaRPr>
                </a:p>
              </p:txBody>
            </p:sp>
            <p:sp>
              <p:nvSpPr>
                <p:cNvPr id="39241" name="Rectangle 314"/>
                <p:cNvSpPr/>
                <p:nvPr/>
              </p:nvSpPr>
              <p:spPr>
                <a:xfrm>
                  <a:off x="3783"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42" name="Rectangle 315"/>
                <p:cNvSpPr/>
                <p:nvPr/>
              </p:nvSpPr>
              <p:spPr>
                <a:xfrm>
                  <a:off x="3681" y="35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43" name="Rectangle 316"/>
                <p:cNvSpPr/>
                <p:nvPr/>
              </p:nvSpPr>
              <p:spPr>
                <a:xfrm>
                  <a:off x="3681" y="344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44" name="Rectangle 317"/>
                <p:cNvSpPr/>
                <p:nvPr/>
              </p:nvSpPr>
              <p:spPr>
                <a:xfrm>
                  <a:off x="3681" y="334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3</a:t>
                  </a:r>
                  <a:endParaRPr lang="en-GB" altLang="zh-CN" sz="800" dirty="0">
                    <a:solidFill>
                      <a:srgbClr val="000000"/>
                    </a:solidFill>
                    <a:latin typeface="Times New Roman" pitchFamily="18" charset="0"/>
                  </a:endParaRPr>
                </a:p>
              </p:txBody>
            </p:sp>
            <p:sp>
              <p:nvSpPr>
                <p:cNvPr id="39245" name="Rectangle 318"/>
                <p:cNvSpPr/>
                <p:nvPr/>
              </p:nvSpPr>
              <p:spPr>
                <a:xfrm>
                  <a:off x="3681"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46" name="Rectangle 319"/>
                <p:cNvSpPr/>
                <p:nvPr/>
              </p:nvSpPr>
              <p:spPr>
                <a:xfrm>
                  <a:off x="3579" y="35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47" name="Rectangle 320"/>
                <p:cNvSpPr/>
                <p:nvPr/>
              </p:nvSpPr>
              <p:spPr>
                <a:xfrm>
                  <a:off x="3579" y="344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48" name="Rectangle 321"/>
                <p:cNvSpPr/>
                <p:nvPr/>
              </p:nvSpPr>
              <p:spPr>
                <a:xfrm>
                  <a:off x="3579" y="334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2</a:t>
                  </a:r>
                  <a:endParaRPr lang="en-GB" altLang="zh-CN" sz="800" dirty="0">
                    <a:solidFill>
                      <a:srgbClr val="000000"/>
                    </a:solidFill>
                    <a:latin typeface="Times New Roman" pitchFamily="18" charset="0"/>
                  </a:endParaRPr>
                </a:p>
              </p:txBody>
            </p:sp>
            <p:sp>
              <p:nvSpPr>
                <p:cNvPr id="39249" name="Rectangle 322"/>
                <p:cNvSpPr/>
                <p:nvPr/>
              </p:nvSpPr>
              <p:spPr>
                <a:xfrm>
                  <a:off x="3579"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50" name="Rectangle 323"/>
                <p:cNvSpPr/>
                <p:nvPr/>
              </p:nvSpPr>
              <p:spPr>
                <a:xfrm>
                  <a:off x="3477" y="35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51" name="Rectangle 324"/>
                <p:cNvSpPr/>
                <p:nvPr/>
              </p:nvSpPr>
              <p:spPr>
                <a:xfrm>
                  <a:off x="3477" y="344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52" name="Rectangle 325"/>
                <p:cNvSpPr/>
                <p:nvPr/>
              </p:nvSpPr>
              <p:spPr>
                <a:xfrm>
                  <a:off x="3477" y="3341"/>
                  <a:ext cx="102" cy="10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1</a:t>
                  </a:r>
                  <a:endParaRPr lang="en-GB" altLang="zh-CN" sz="800" dirty="0">
                    <a:solidFill>
                      <a:srgbClr val="000000"/>
                    </a:solidFill>
                    <a:latin typeface="Times New Roman" pitchFamily="18" charset="0"/>
                  </a:endParaRPr>
                </a:p>
              </p:txBody>
            </p:sp>
            <p:sp>
              <p:nvSpPr>
                <p:cNvPr id="39253" name="Rectangle 326"/>
                <p:cNvSpPr/>
                <p:nvPr/>
              </p:nvSpPr>
              <p:spPr>
                <a:xfrm>
                  <a:off x="3477"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54" name="Rectangle 327"/>
                <p:cNvSpPr/>
                <p:nvPr/>
              </p:nvSpPr>
              <p:spPr>
                <a:xfrm>
                  <a:off x="3375" y="35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55" name="Rectangle 328"/>
                <p:cNvSpPr/>
                <p:nvPr/>
              </p:nvSpPr>
              <p:spPr>
                <a:xfrm>
                  <a:off x="3375" y="344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56" name="Rectangle 329"/>
                <p:cNvSpPr/>
                <p:nvPr/>
              </p:nvSpPr>
              <p:spPr>
                <a:xfrm>
                  <a:off x="3375" y="334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57" name="Rectangle 330"/>
                <p:cNvSpPr/>
                <p:nvPr/>
              </p:nvSpPr>
              <p:spPr>
                <a:xfrm>
                  <a:off x="3375"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58" name="Rectangle 331"/>
                <p:cNvSpPr/>
                <p:nvPr/>
              </p:nvSpPr>
              <p:spPr>
                <a:xfrm>
                  <a:off x="3273" y="35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59" name="Rectangle 332"/>
                <p:cNvSpPr/>
                <p:nvPr/>
              </p:nvSpPr>
              <p:spPr>
                <a:xfrm>
                  <a:off x="3273" y="344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60" name="Rectangle 333"/>
                <p:cNvSpPr/>
                <p:nvPr/>
              </p:nvSpPr>
              <p:spPr>
                <a:xfrm>
                  <a:off x="3273" y="334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61" name="Rectangle 334"/>
                <p:cNvSpPr/>
                <p:nvPr/>
              </p:nvSpPr>
              <p:spPr>
                <a:xfrm>
                  <a:off x="3273"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62" name="Rectangle 335"/>
                <p:cNvSpPr/>
                <p:nvPr/>
              </p:nvSpPr>
              <p:spPr>
                <a:xfrm>
                  <a:off x="3171" y="35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63" name="Rectangle 336"/>
                <p:cNvSpPr/>
                <p:nvPr/>
              </p:nvSpPr>
              <p:spPr>
                <a:xfrm>
                  <a:off x="3070" y="3545"/>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64" name="Rectangle 337"/>
                <p:cNvSpPr/>
                <p:nvPr/>
              </p:nvSpPr>
              <p:spPr>
                <a:xfrm>
                  <a:off x="3171" y="344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65" name="Rectangle 338"/>
                <p:cNvSpPr/>
                <p:nvPr/>
              </p:nvSpPr>
              <p:spPr>
                <a:xfrm>
                  <a:off x="3070" y="3443"/>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66" name="Rectangle 339"/>
                <p:cNvSpPr/>
                <p:nvPr/>
              </p:nvSpPr>
              <p:spPr>
                <a:xfrm>
                  <a:off x="3171" y="334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67" name="Rectangle 340"/>
                <p:cNvSpPr/>
                <p:nvPr/>
              </p:nvSpPr>
              <p:spPr>
                <a:xfrm>
                  <a:off x="3070" y="3341"/>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68" name="Rectangle 341"/>
                <p:cNvSpPr/>
                <p:nvPr/>
              </p:nvSpPr>
              <p:spPr>
                <a:xfrm>
                  <a:off x="3171"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69" name="Rectangle 342"/>
                <p:cNvSpPr/>
                <p:nvPr/>
              </p:nvSpPr>
              <p:spPr>
                <a:xfrm>
                  <a:off x="3070" y="2527"/>
                  <a:ext cx="102" cy="102"/>
                </a:xfrm>
                <a:prstGeom prst="rect">
                  <a:avLst/>
                </a:prstGeom>
                <a:noFill/>
                <a:ln w="9525">
                  <a:noFill/>
                </a:ln>
              </p:spPr>
              <p:txBody>
                <a:bodyPr wrap="none" anchor="ctr" anchorCtr="0"/>
                <a:p>
                  <a:endParaRPr lang="zh-CN" altLang="en-US" dirty="0">
                    <a:latin typeface="Times New Roman" pitchFamily="18" charset="0"/>
                  </a:endParaRPr>
                </a:p>
              </p:txBody>
            </p:sp>
            <p:sp>
              <p:nvSpPr>
                <p:cNvPr id="39270" name="Line 343"/>
                <p:cNvSpPr/>
                <p:nvPr/>
              </p:nvSpPr>
              <p:spPr>
                <a:xfrm>
                  <a:off x="2447" y="2527"/>
                  <a:ext cx="623" cy="1"/>
                </a:xfrm>
                <a:prstGeom prst="line">
                  <a:avLst/>
                </a:prstGeom>
                <a:ln w="9525">
                  <a:noFill/>
                </a:ln>
              </p:spPr>
            </p:sp>
            <p:sp>
              <p:nvSpPr>
                <p:cNvPr id="39271" name="Line 344"/>
                <p:cNvSpPr/>
                <p:nvPr/>
              </p:nvSpPr>
              <p:spPr>
                <a:xfrm>
                  <a:off x="2447" y="4156"/>
                  <a:ext cx="623" cy="1"/>
                </a:xfrm>
                <a:prstGeom prst="line">
                  <a:avLst/>
                </a:prstGeom>
                <a:ln w="9525">
                  <a:noFill/>
                </a:ln>
              </p:spPr>
            </p:sp>
            <p:sp>
              <p:nvSpPr>
                <p:cNvPr id="39272" name="Line 345"/>
                <p:cNvSpPr/>
                <p:nvPr/>
              </p:nvSpPr>
              <p:spPr>
                <a:xfrm>
                  <a:off x="2447" y="2527"/>
                  <a:ext cx="1" cy="102"/>
                </a:xfrm>
                <a:prstGeom prst="line">
                  <a:avLst/>
                </a:prstGeom>
                <a:ln w="9525">
                  <a:noFill/>
                </a:ln>
              </p:spPr>
            </p:sp>
            <p:sp>
              <p:nvSpPr>
                <p:cNvPr id="39273" name="Line 346"/>
                <p:cNvSpPr/>
                <p:nvPr/>
              </p:nvSpPr>
              <p:spPr>
                <a:xfrm>
                  <a:off x="3171" y="2527"/>
                  <a:ext cx="1" cy="1630"/>
                </a:xfrm>
                <a:prstGeom prst="line">
                  <a:avLst/>
                </a:prstGeom>
                <a:ln w="6480" cap="flat" cmpd="sng">
                  <a:solidFill>
                    <a:srgbClr val="808080"/>
                  </a:solidFill>
                  <a:prstDash val="solid"/>
                  <a:miter/>
                  <a:headEnd type="none" w="med" len="med"/>
                  <a:tailEnd type="none" w="med" len="med"/>
                </a:ln>
              </p:spPr>
            </p:sp>
            <p:sp>
              <p:nvSpPr>
                <p:cNvPr id="39274" name="Line 347"/>
                <p:cNvSpPr/>
                <p:nvPr/>
              </p:nvSpPr>
              <p:spPr>
                <a:xfrm>
                  <a:off x="3273" y="2527"/>
                  <a:ext cx="1" cy="1630"/>
                </a:xfrm>
                <a:prstGeom prst="line">
                  <a:avLst/>
                </a:prstGeom>
                <a:ln w="6480" cap="flat" cmpd="sng">
                  <a:solidFill>
                    <a:srgbClr val="808080"/>
                  </a:solidFill>
                  <a:prstDash val="solid"/>
                  <a:miter/>
                  <a:headEnd type="none" w="med" len="med"/>
                  <a:tailEnd type="none" w="med" len="med"/>
                </a:ln>
              </p:spPr>
            </p:sp>
            <p:sp>
              <p:nvSpPr>
                <p:cNvPr id="39275" name="Line 348"/>
                <p:cNvSpPr/>
                <p:nvPr/>
              </p:nvSpPr>
              <p:spPr>
                <a:xfrm>
                  <a:off x="3375" y="2527"/>
                  <a:ext cx="1" cy="1630"/>
                </a:xfrm>
                <a:prstGeom prst="line">
                  <a:avLst/>
                </a:prstGeom>
                <a:ln w="6480" cap="flat" cmpd="sng">
                  <a:solidFill>
                    <a:srgbClr val="808080"/>
                  </a:solidFill>
                  <a:prstDash val="solid"/>
                  <a:miter/>
                  <a:headEnd type="none" w="med" len="med"/>
                  <a:tailEnd type="none" w="med" len="med"/>
                </a:ln>
              </p:spPr>
            </p:sp>
            <p:sp>
              <p:nvSpPr>
                <p:cNvPr id="39276" name="Line 349"/>
                <p:cNvSpPr/>
                <p:nvPr/>
              </p:nvSpPr>
              <p:spPr>
                <a:xfrm>
                  <a:off x="3477" y="2527"/>
                  <a:ext cx="1" cy="1630"/>
                </a:xfrm>
                <a:prstGeom prst="line">
                  <a:avLst/>
                </a:prstGeom>
                <a:ln w="6480" cap="flat" cmpd="sng">
                  <a:solidFill>
                    <a:srgbClr val="808080"/>
                  </a:solidFill>
                  <a:prstDash val="solid"/>
                  <a:miter/>
                  <a:headEnd type="none" w="med" len="med"/>
                  <a:tailEnd type="none" w="med" len="med"/>
                </a:ln>
              </p:spPr>
            </p:sp>
            <p:sp>
              <p:nvSpPr>
                <p:cNvPr id="39277" name="Line 350"/>
                <p:cNvSpPr/>
                <p:nvPr/>
              </p:nvSpPr>
              <p:spPr>
                <a:xfrm>
                  <a:off x="3579" y="2527"/>
                  <a:ext cx="1" cy="1630"/>
                </a:xfrm>
                <a:prstGeom prst="line">
                  <a:avLst/>
                </a:prstGeom>
                <a:ln w="6480" cap="flat" cmpd="sng">
                  <a:solidFill>
                    <a:srgbClr val="808080"/>
                  </a:solidFill>
                  <a:prstDash val="solid"/>
                  <a:miter/>
                  <a:headEnd type="none" w="med" len="med"/>
                  <a:tailEnd type="none" w="med" len="med"/>
                </a:ln>
              </p:spPr>
            </p:sp>
            <p:sp>
              <p:nvSpPr>
                <p:cNvPr id="39278" name="Line 351"/>
                <p:cNvSpPr/>
                <p:nvPr/>
              </p:nvSpPr>
              <p:spPr>
                <a:xfrm>
                  <a:off x="3681" y="2527"/>
                  <a:ext cx="1" cy="1630"/>
                </a:xfrm>
                <a:prstGeom prst="line">
                  <a:avLst/>
                </a:prstGeom>
                <a:ln w="6480" cap="flat" cmpd="sng">
                  <a:solidFill>
                    <a:srgbClr val="808080"/>
                  </a:solidFill>
                  <a:prstDash val="solid"/>
                  <a:miter/>
                  <a:headEnd type="none" w="med" len="med"/>
                  <a:tailEnd type="none" w="med" len="med"/>
                </a:ln>
              </p:spPr>
            </p:sp>
            <p:sp>
              <p:nvSpPr>
                <p:cNvPr id="39279" name="Line 352"/>
                <p:cNvSpPr/>
                <p:nvPr/>
              </p:nvSpPr>
              <p:spPr>
                <a:xfrm>
                  <a:off x="3783" y="2527"/>
                  <a:ext cx="1" cy="1630"/>
                </a:xfrm>
                <a:prstGeom prst="line">
                  <a:avLst/>
                </a:prstGeom>
                <a:ln w="6480" cap="flat" cmpd="sng">
                  <a:solidFill>
                    <a:srgbClr val="808080"/>
                  </a:solidFill>
                  <a:prstDash val="solid"/>
                  <a:miter/>
                  <a:headEnd type="none" w="med" len="med"/>
                  <a:tailEnd type="none" w="med" len="med"/>
                </a:ln>
              </p:spPr>
            </p:sp>
            <p:sp>
              <p:nvSpPr>
                <p:cNvPr id="39280" name="Line 353"/>
                <p:cNvSpPr/>
                <p:nvPr/>
              </p:nvSpPr>
              <p:spPr>
                <a:xfrm>
                  <a:off x="3070" y="2629"/>
                  <a:ext cx="815" cy="1"/>
                </a:xfrm>
                <a:prstGeom prst="line">
                  <a:avLst/>
                </a:prstGeom>
                <a:ln w="6480" cap="flat" cmpd="sng">
                  <a:solidFill>
                    <a:srgbClr val="808080"/>
                  </a:solidFill>
                  <a:prstDash val="solid"/>
                  <a:miter/>
                  <a:headEnd type="none" w="med" len="med"/>
                  <a:tailEnd type="none" w="med" len="med"/>
                </a:ln>
              </p:spPr>
            </p:sp>
            <p:sp>
              <p:nvSpPr>
                <p:cNvPr id="39281" name="Line 354"/>
                <p:cNvSpPr/>
                <p:nvPr/>
              </p:nvSpPr>
              <p:spPr>
                <a:xfrm>
                  <a:off x="3070" y="2731"/>
                  <a:ext cx="815" cy="1"/>
                </a:xfrm>
                <a:prstGeom prst="line">
                  <a:avLst/>
                </a:prstGeom>
                <a:ln w="6480" cap="flat" cmpd="sng">
                  <a:solidFill>
                    <a:srgbClr val="808080"/>
                  </a:solidFill>
                  <a:prstDash val="solid"/>
                  <a:miter/>
                  <a:headEnd type="none" w="med" len="med"/>
                  <a:tailEnd type="none" w="med" len="med"/>
                </a:ln>
              </p:spPr>
            </p:sp>
            <p:sp>
              <p:nvSpPr>
                <p:cNvPr id="39282" name="Line 355"/>
                <p:cNvSpPr/>
                <p:nvPr/>
              </p:nvSpPr>
              <p:spPr>
                <a:xfrm>
                  <a:off x="3070" y="2832"/>
                  <a:ext cx="815" cy="1"/>
                </a:xfrm>
                <a:prstGeom prst="line">
                  <a:avLst/>
                </a:prstGeom>
                <a:ln w="6480" cap="flat" cmpd="sng">
                  <a:solidFill>
                    <a:srgbClr val="808080"/>
                  </a:solidFill>
                  <a:prstDash val="solid"/>
                  <a:miter/>
                  <a:headEnd type="none" w="med" len="med"/>
                  <a:tailEnd type="none" w="med" len="med"/>
                </a:ln>
              </p:spPr>
            </p:sp>
            <p:sp>
              <p:nvSpPr>
                <p:cNvPr id="39283" name="Line 356"/>
                <p:cNvSpPr/>
                <p:nvPr/>
              </p:nvSpPr>
              <p:spPr>
                <a:xfrm>
                  <a:off x="3070" y="2934"/>
                  <a:ext cx="815" cy="1"/>
                </a:xfrm>
                <a:prstGeom prst="line">
                  <a:avLst/>
                </a:prstGeom>
                <a:ln w="6480" cap="flat" cmpd="sng">
                  <a:solidFill>
                    <a:srgbClr val="808080"/>
                  </a:solidFill>
                  <a:prstDash val="solid"/>
                  <a:miter/>
                  <a:headEnd type="none" w="med" len="med"/>
                  <a:tailEnd type="none" w="med" len="med"/>
                </a:ln>
              </p:spPr>
            </p:sp>
            <p:sp>
              <p:nvSpPr>
                <p:cNvPr id="39284" name="Line 357"/>
                <p:cNvSpPr/>
                <p:nvPr/>
              </p:nvSpPr>
              <p:spPr>
                <a:xfrm>
                  <a:off x="3070" y="3036"/>
                  <a:ext cx="815" cy="1"/>
                </a:xfrm>
                <a:prstGeom prst="line">
                  <a:avLst/>
                </a:prstGeom>
                <a:ln w="6480" cap="flat" cmpd="sng">
                  <a:solidFill>
                    <a:srgbClr val="808080"/>
                  </a:solidFill>
                  <a:prstDash val="solid"/>
                  <a:miter/>
                  <a:headEnd type="none" w="med" len="med"/>
                  <a:tailEnd type="none" w="med" len="med"/>
                </a:ln>
              </p:spPr>
            </p:sp>
            <p:sp>
              <p:nvSpPr>
                <p:cNvPr id="39285" name="Line 358"/>
                <p:cNvSpPr/>
                <p:nvPr/>
              </p:nvSpPr>
              <p:spPr>
                <a:xfrm>
                  <a:off x="3070" y="3138"/>
                  <a:ext cx="815" cy="1"/>
                </a:xfrm>
                <a:prstGeom prst="line">
                  <a:avLst/>
                </a:prstGeom>
                <a:ln w="6480" cap="flat" cmpd="sng">
                  <a:solidFill>
                    <a:srgbClr val="808080"/>
                  </a:solidFill>
                  <a:prstDash val="solid"/>
                  <a:miter/>
                  <a:headEnd type="none" w="med" len="med"/>
                  <a:tailEnd type="none" w="med" len="med"/>
                </a:ln>
              </p:spPr>
            </p:sp>
            <p:sp>
              <p:nvSpPr>
                <p:cNvPr id="39286" name="Line 359"/>
                <p:cNvSpPr/>
                <p:nvPr/>
              </p:nvSpPr>
              <p:spPr>
                <a:xfrm>
                  <a:off x="3070" y="3240"/>
                  <a:ext cx="815" cy="1"/>
                </a:xfrm>
                <a:prstGeom prst="line">
                  <a:avLst/>
                </a:prstGeom>
                <a:ln w="6480" cap="flat" cmpd="sng">
                  <a:solidFill>
                    <a:srgbClr val="808080"/>
                  </a:solidFill>
                  <a:prstDash val="solid"/>
                  <a:miter/>
                  <a:headEnd type="none" w="med" len="med"/>
                  <a:tailEnd type="none" w="med" len="med"/>
                </a:ln>
              </p:spPr>
            </p:sp>
            <p:sp>
              <p:nvSpPr>
                <p:cNvPr id="39287" name="Line 360"/>
                <p:cNvSpPr/>
                <p:nvPr/>
              </p:nvSpPr>
              <p:spPr>
                <a:xfrm>
                  <a:off x="3070" y="3341"/>
                  <a:ext cx="815" cy="1"/>
                </a:xfrm>
                <a:prstGeom prst="line">
                  <a:avLst/>
                </a:prstGeom>
                <a:ln w="6480" cap="flat" cmpd="sng">
                  <a:solidFill>
                    <a:srgbClr val="808080"/>
                  </a:solidFill>
                  <a:prstDash val="solid"/>
                  <a:miter/>
                  <a:headEnd type="none" w="med" len="med"/>
                  <a:tailEnd type="none" w="med" len="med"/>
                </a:ln>
              </p:spPr>
            </p:sp>
            <p:sp>
              <p:nvSpPr>
                <p:cNvPr id="39288" name="Line 361"/>
                <p:cNvSpPr/>
                <p:nvPr/>
              </p:nvSpPr>
              <p:spPr>
                <a:xfrm>
                  <a:off x="3070" y="3443"/>
                  <a:ext cx="815" cy="1"/>
                </a:xfrm>
                <a:prstGeom prst="line">
                  <a:avLst/>
                </a:prstGeom>
                <a:ln w="6480" cap="flat" cmpd="sng">
                  <a:solidFill>
                    <a:srgbClr val="808080"/>
                  </a:solidFill>
                  <a:prstDash val="solid"/>
                  <a:miter/>
                  <a:headEnd type="none" w="med" len="med"/>
                  <a:tailEnd type="none" w="med" len="med"/>
                </a:ln>
              </p:spPr>
            </p:sp>
            <p:sp>
              <p:nvSpPr>
                <p:cNvPr id="39289" name="Line 362"/>
                <p:cNvSpPr/>
                <p:nvPr/>
              </p:nvSpPr>
              <p:spPr>
                <a:xfrm>
                  <a:off x="3070" y="3545"/>
                  <a:ext cx="815" cy="1"/>
                </a:xfrm>
                <a:prstGeom prst="line">
                  <a:avLst/>
                </a:prstGeom>
                <a:ln w="6480" cap="flat" cmpd="sng">
                  <a:solidFill>
                    <a:srgbClr val="808080"/>
                  </a:solidFill>
                  <a:prstDash val="solid"/>
                  <a:miter/>
                  <a:headEnd type="none" w="med" len="med"/>
                  <a:tailEnd type="none" w="med" len="med"/>
                </a:ln>
              </p:spPr>
            </p:sp>
            <p:sp>
              <p:nvSpPr>
                <p:cNvPr id="39290" name="Line 363"/>
                <p:cNvSpPr/>
                <p:nvPr/>
              </p:nvSpPr>
              <p:spPr>
                <a:xfrm>
                  <a:off x="3070" y="3647"/>
                  <a:ext cx="815" cy="1"/>
                </a:xfrm>
                <a:prstGeom prst="line">
                  <a:avLst/>
                </a:prstGeom>
                <a:ln w="6480" cap="flat" cmpd="sng">
                  <a:solidFill>
                    <a:srgbClr val="808080"/>
                  </a:solidFill>
                  <a:prstDash val="solid"/>
                  <a:miter/>
                  <a:headEnd type="none" w="med" len="med"/>
                  <a:tailEnd type="none" w="med" len="med"/>
                </a:ln>
              </p:spPr>
            </p:sp>
            <p:sp>
              <p:nvSpPr>
                <p:cNvPr id="39291" name="Line 364"/>
                <p:cNvSpPr/>
                <p:nvPr/>
              </p:nvSpPr>
              <p:spPr>
                <a:xfrm>
                  <a:off x="3070" y="3749"/>
                  <a:ext cx="815" cy="1"/>
                </a:xfrm>
                <a:prstGeom prst="line">
                  <a:avLst/>
                </a:prstGeom>
                <a:ln w="6480" cap="flat" cmpd="sng">
                  <a:solidFill>
                    <a:srgbClr val="808080"/>
                  </a:solidFill>
                  <a:prstDash val="solid"/>
                  <a:miter/>
                  <a:headEnd type="none" w="med" len="med"/>
                  <a:tailEnd type="none" w="med" len="med"/>
                </a:ln>
              </p:spPr>
            </p:sp>
            <p:sp>
              <p:nvSpPr>
                <p:cNvPr id="39292" name="Line 365"/>
                <p:cNvSpPr/>
                <p:nvPr/>
              </p:nvSpPr>
              <p:spPr>
                <a:xfrm>
                  <a:off x="3070" y="3851"/>
                  <a:ext cx="815" cy="1"/>
                </a:xfrm>
                <a:prstGeom prst="line">
                  <a:avLst/>
                </a:prstGeom>
                <a:ln w="6480" cap="flat" cmpd="sng">
                  <a:solidFill>
                    <a:srgbClr val="808080"/>
                  </a:solidFill>
                  <a:prstDash val="solid"/>
                  <a:miter/>
                  <a:headEnd type="none" w="med" len="med"/>
                  <a:tailEnd type="none" w="med" len="med"/>
                </a:ln>
              </p:spPr>
            </p:sp>
            <p:sp>
              <p:nvSpPr>
                <p:cNvPr id="39293" name="Line 366"/>
                <p:cNvSpPr/>
                <p:nvPr/>
              </p:nvSpPr>
              <p:spPr>
                <a:xfrm>
                  <a:off x="3070" y="3953"/>
                  <a:ext cx="815" cy="1"/>
                </a:xfrm>
                <a:prstGeom prst="line">
                  <a:avLst/>
                </a:prstGeom>
                <a:ln w="6480" cap="flat" cmpd="sng">
                  <a:solidFill>
                    <a:srgbClr val="808080"/>
                  </a:solidFill>
                  <a:prstDash val="solid"/>
                  <a:miter/>
                  <a:headEnd type="none" w="med" len="med"/>
                  <a:tailEnd type="none" w="med" len="med"/>
                </a:ln>
              </p:spPr>
            </p:sp>
            <p:sp>
              <p:nvSpPr>
                <p:cNvPr id="39294" name="Line 367"/>
                <p:cNvSpPr/>
                <p:nvPr/>
              </p:nvSpPr>
              <p:spPr>
                <a:xfrm>
                  <a:off x="3070" y="4055"/>
                  <a:ext cx="815" cy="1"/>
                </a:xfrm>
                <a:prstGeom prst="line">
                  <a:avLst/>
                </a:prstGeom>
                <a:ln w="6480" cap="flat" cmpd="sng">
                  <a:solidFill>
                    <a:srgbClr val="808080"/>
                  </a:solidFill>
                  <a:prstDash val="solid"/>
                  <a:miter/>
                  <a:headEnd type="none" w="med" len="med"/>
                  <a:tailEnd type="none" w="med" len="med"/>
                </a:ln>
              </p:spPr>
            </p:sp>
            <p:sp>
              <p:nvSpPr>
                <p:cNvPr id="39295" name="Line 368"/>
                <p:cNvSpPr/>
                <p:nvPr/>
              </p:nvSpPr>
              <p:spPr>
                <a:xfrm>
                  <a:off x="2447" y="2629"/>
                  <a:ext cx="1" cy="102"/>
                </a:xfrm>
                <a:prstGeom prst="line">
                  <a:avLst/>
                </a:prstGeom>
                <a:ln w="9525">
                  <a:noFill/>
                </a:ln>
              </p:spPr>
            </p:sp>
            <p:sp>
              <p:nvSpPr>
                <p:cNvPr id="39296" name="Line 369"/>
                <p:cNvSpPr/>
                <p:nvPr/>
              </p:nvSpPr>
              <p:spPr>
                <a:xfrm>
                  <a:off x="2447" y="2731"/>
                  <a:ext cx="1" cy="102"/>
                </a:xfrm>
                <a:prstGeom prst="line">
                  <a:avLst/>
                </a:prstGeom>
                <a:ln w="9525">
                  <a:noFill/>
                </a:ln>
              </p:spPr>
            </p:sp>
            <p:sp>
              <p:nvSpPr>
                <p:cNvPr id="39297" name="Line 370"/>
                <p:cNvSpPr/>
                <p:nvPr/>
              </p:nvSpPr>
              <p:spPr>
                <a:xfrm>
                  <a:off x="2447" y="2832"/>
                  <a:ext cx="1" cy="102"/>
                </a:xfrm>
                <a:prstGeom prst="line">
                  <a:avLst/>
                </a:prstGeom>
                <a:ln w="9525">
                  <a:noFill/>
                </a:ln>
              </p:spPr>
            </p:sp>
            <p:sp>
              <p:nvSpPr>
                <p:cNvPr id="39298" name="Line 371"/>
                <p:cNvSpPr/>
                <p:nvPr/>
              </p:nvSpPr>
              <p:spPr>
                <a:xfrm>
                  <a:off x="2447" y="2934"/>
                  <a:ext cx="1" cy="102"/>
                </a:xfrm>
                <a:prstGeom prst="line">
                  <a:avLst/>
                </a:prstGeom>
                <a:ln w="9525">
                  <a:noFill/>
                </a:ln>
              </p:spPr>
            </p:sp>
            <p:sp>
              <p:nvSpPr>
                <p:cNvPr id="39299" name="Line 372"/>
                <p:cNvSpPr/>
                <p:nvPr/>
              </p:nvSpPr>
              <p:spPr>
                <a:xfrm>
                  <a:off x="2447" y="3036"/>
                  <a:ext cx="1" cy="102"/>
                </a:xfrm>
                <a:prstGeom prst="line">
                  <a:avLst/>
                </a:prstGeom>
                <a:ln w="9525">
                  <a:noFill/>
                </a:ln>
              </p:spPr>
            </p:sp>
            <p:sp>
              <p:nvSpPr>
                <p:cNvPr id="39300" name="Line 373"/>
                <p:cNvSpPr/>
                <p:nvPr/>
              </p:nvSpPr>
              <p:spPr>
                <a:xfrm>
                  <a:off x="2447" y="3138"/>
                  <a:ext cx="1" cy="102"/>
                </a:xfrm>
                <a:prstGeom prst="line">
                  <a:avLst/>
                </a:prstGeom>
                <a:ln w="9525">
                  <a:noFill/>
                </a:ln>
              </p:spPr>
            </p:sp>
            <p:sp>
              <p:nvSpPr>
                <p:cNvPr id="39301" name="Line 374"/>
                <p:cNvSpPr/>
                <p:nvPr/>
              </p:nvSpPr>
              <p:spPr>
                <a:xfrm>
                  <a:off x="2447" y="3240"/>
                  <a:ext cx="1" cy="102"/>
                </a:xfrm>
                <a:prstGeom prst="line">
                  <a:avLst/>
                </a:prstGeom>
                <a:ln w="9525">
                  <a:noFill/>
                </a:ln>
              </p:spPr>
            </p:sp>
            <p:sp>
              <p:nvSpPr>
                <p:cNvPr id="39302" name="Line 375"/>
                <p:cNvSpPr/>
                <p:nvPr/>
              </p:nvSpPr>
              <p:spPr>
                <a:xfrm>
                  <a:off x="2447" y="3341"/>
                  <a:ext cx="1" cy="102"/>
                </a:xfrm>
                <a:prstGeom prst="line">
                  <a:avLst/>
                </a:prstGeom>
                <a:ln w="9525">
                  <a:noFill/>
                </a:ln>
              </p:spPr>
            </p:sp>
            <p:sp>
              <p:nvSpPr>
                <p:cNvPr id="39303" name="Line 376"/>
                <p:cNvSpPr/>
                <p:nvPr/>
              </p:nvSpPr>
              <p:spPr>
                <a:xfrm>
                  <a:off x="2447" y="3443"/>
                  <a:ext cx="1" cy="102"/>
                </a:xfrm>
                <a:prstGeom prst="line">
                  <a:avLst/>
                </a:prstGeom>
                <a:ln w="9525">
                  <a:noFill/>
                </a:ln>
              </p:spPr>
            </p:sp>
            <p:sp>
              <p:nvSpPr>
                <p:cNvPr id="39304" name="Line 377"/>
                <p:cNvSpPr/>
                <p:nvPr/>
              </p:nvSpPr>
              <p:spPr>
                <a:xfrm>
                  <a:off x="2447" y="3545"/>
                  <a:ext cx="1" cy="102"/>
                </a:xfrm>
                <a:prstGeom prst="line">
                  <a:avLst/>
                </a:prstGeom>
                <a:ln w="9525">
                  <a:noFill/>
                </a:ln>
              </p:spPr>
            </p:sp>
            <p:sp>
              <p:nvSpPr>
                <p:cNvPr id="39305" name="Line 378"/>
                <p:cNvSpPr/>
                <p:nvPr/>
              </p:nvSpPr>
              <p:spPr>
                <a:xfrm>
                  <a:off x="2447" y="3647"/>
                  <a:ext cx="1" cy="102"/>
                </a:xfrm>
                <a:prstGeom prst="line">
                  <a:avLst/>
                </a:prstGeom>
                <a:ln w="9525">
                  <a:noFill/>
                </a:ln>
              </p:spPr>
            </p:sp>
            <p:sp>
              <p:nvSpPr>
                <p:cNvPr id="39306" name="Line 379"/>
                <p:cNvSpPr/>
                <p:nvPr/>
              </p:nvSpPr>
              <p:spPr>
                <a:xfrm>
                  <a:off x="2447" y="3749"/>
                  <a:ext cx="1" cy="102"/>
                </a:xfrm>
                <a:prstGeom prst="line">
                  <a:avLst/>
                </a:prstGeom>
                <a:ln w="9525">
                  <a:noFill/>
                </a:ln>
              </p:spPr>
            </p:sp>
            <p:sp>
              <p:nvSpPr>
                <p:cNvPr id="39307" name="Line 380"/>
                <p:cNvSpPr/>
                <p:nvPr/>
              </p:nvSpPr>
              <p:spPr>
                <a:xfrm>
                  <a:off x="2447" y="3851"/>
                  <a:ext cx="1" cy="102"/>
                </a:xfrm>
                <a:prstGeom prst="line">
                  <a:avLst/>
                </a:prstGeom>
                <a:ln w="9525">
                  <a:noFill/>
                </a:ln>
              </p:spPr>
            </p:sp>
            <p:sp>
              <p:nvSpPr>
                <p:cNvPr id="39308" name="Line 381"/>
                <p:cNvSpPr/>
                <p:nvPr/>
              </p:nvSpPr>
              <p:spPr>
                <a:xfrm>
                  <a:off x="2447" y="3953"/>
                  <a:ext cx="1" cy="102"/>
                </a:xfrm>
                <a:prstGeom prst="line">
                  <a:avLst/>
                </a:prstGeom>
                <a:ln w="9525">
                  <a:noFill/>
                </a:ln>
              </p:spPr>
            </p:sp>
            <p:sp>
              <p:nvSpPr>
                <p:cNvPr id="39309" name="Line 382"/>
                <p:cNvSpPr/>
                <p:nvPr/>
              </p:nvSpPr>
              <p:spPr>
                <a:xfrm>
                  <a:off x="2447" y="4055"/>
                  <a:ext cx="1" cy="102"/>
                </a:xfrm>
                <a:prstGeom prst="line">
                  <a:avLst/>
                </a:prstGeom>
                <a:ln w="9525">
                  <a:noFill/>
                </a:ln>
              </p:spPr>
            </p:sp>
            <p:sp>
              <p:nvSpPr>
                <p:cNvPr id="39310" name="Line 383"/>
                <p:cNvSpPr/>
                <p:nvPr/>
              </p:nvSpPr>
              <p:spPr>
                <a:xfrm>
                  <a:off x="3070" y="2527"/>
                  <a:ext cx="815" cy="1"/>
                </a:xfrm>
                <a:prstGeom prst="line">
                  <a:avLst/>
                </a:prstGeom>
                <a:ln w="12600" cap="flat" cmpd="sng">
                  <a:solidFill>
                    <a:srgbClr val="000000"/>
                  </a:solidFill>
                  <a:prstDash val="solid"/>
                  <a:miter/>
                  <a:headEnd type="none" w="med" len="med"/>
                  <a:tailEnd type="none" w="med" len="med"/>
                </a:ln>
              </p:spPr>
            </p:sp>
            <p:sp>
              <p:nvSpPr>
                <p:cNvPr id="39311" name="Line 384"/>
                <p:cNvSpPr/>
                <p:nvPr/>
              </p:nvSpPr>
              <p:spPr>
                <a:xfrm>
                  <a:off x="3070" y="2527"/>
                  <a:ext cx="1" cy="1630"/>
                </a:xfrm>
                <a:prstGeom prst="line">
                  <a:avLst/>
                </a:prstGeom>
                <a:ln w="12600" cap="flat" cmpd="sng">
                  <a:solidFill>
                    <a:srgbClr val="000000"/>
                  </a:solidFill>
                  <a:prstDash val="solid"/>
                  <a:miter/>
                  <a:headEnd type="none" w="med" len="med"/>
                  <a:tailEnd type="none" w="med" len="med"/>
                </a:ln>
              </p:spPr>
            </p:sp>
            <p:sp>
              <p:nvSpPr>
                <p:cNvPr id="39312" name="Line 385"/>
                <p:cNvSpPr/>
                <p:nvPr/>
              </p:nvSpPr>
              <p:spPr>
                <a:xfrm>
                  <a:off x="3884" y="2527"/>
                  <a:ext cx="1" cy="1630"/>
                </a:xfrm>
                <a:prstGeom prst="line">
                  <a:avLst/>
                </a:prstGeom>
                <a:ln w="12600" cap="flat" cmpd="sng">
                  <a:solidFill>
                    <a:srgbClr val="000000"/>
                  </a:solidFill>
                  <a:prstDash val="solid"/>
                  <a:miter/>
                  <a:headEnd type="none" w="med" len="med"/>
                  <a:tailEnd type="none" w="med" len="med"/>
                </a:ln>
              </p:spPr>
            </p:sp>
            <p:sp>
              <p:nvSpPr>
                <p:cNvPr id="39313" name="Line 386"/>
                <p:cNvSpPr/>
                <p:nvPr/>
              </p:nvSpPr>
              <p:spPr>
                <a:xfrm>
                  <a:off x="3070" y="4156"/>
                  <a:ext cx="815" cy="1"/>
                </a:xfrm>
                <a:prstGeom prst="line">
                  <a:avLst/>
                </a:prstGeom>
                <a:ln w="12600" cap="flat" cmpd="sng">
                  <a:solidFill>
                    <a:srgbClr val="000000"/>
                  </a:solidFill>
                  <a:prstDash val="solid"/>
                  <a:miter/>
                  <a:headEnd type="none" w="med" len="med"/>
                  <a:tailEnd type="none" w="med" len="med"/>
                </a:ln>
              </p:spPr>
            </p:sp>
          </p:grpSp>
          <p:sp>
            <p:nvSpPr>
              <p:cNvPr id="39124" name="Line 387"/>
              <p:cNvSpPr/>
              <p:nvPr/>
            </p:nvSpPr>
            <p:spPr>
              <a:xfrm>
                <a:off x="2596" y="3125"/>
                <a:ext cx="450" cy="1"/>
              </a:xfrm>
              <a:prstGeom prst="line">
                <a:avLst/>
              </a:prstGeom>
              <a:ln w="19080" cap="flat" cmpd="sng">
                <a:solidFill>
                  <a:srgbClr val="FF3300"/>
                </a:solidFill>
                <a:prstDash val="solid"/>
                <a:miter/>
                <a:headEnd type="none" w="med" len="med"/>
                <a:tailEnd type="triangle" w="med" len="med"/>
              </a:ln>
            </p:spPr>
          </p:sp>
          <p:sp>
            <p:nvSpPr>
              <p:cNvPr id="39125" name="Line 388"/>
              <p:cNvSpPr/>
              <p:nvPr/>
            </p:nvSpPr>
            <p:spPr>
              <a:xfrm>
                <a:off x="3822" y="3143"/>
                <a:ext cx="1" cy="188"/>
              </a:xfrm>
              <a:prstGeom prst="line">
                <a:avLst/>
              </a:prstGeom>
              <a:ln w="9360" cap="flat" cmpd="sng">
                <a:solidFill>
                  <a:srgbClr val="FF3300"/>
                </a:solidFill>
                <a:prstDash val="solid"/>
                <a:miter/>
                <a:headEnd type="none" w="med" len="med"/>
                <a:tailEnd type="triangle" w="med" len="med"/>
              </a:ln>
            </p:spPr>
          </p:sp>
        </p:grpSp>
      </p:grpSp>
      <p:sp>
        <p:nvSpPr>
          <p:cNvPr id="38916" name="Rectangle 389"/>
          <p:cNvSpPr/>
          <p:nvPr/>
        </p:nvSpPr>
        <p:spPr>
          <a:xfrm>
            <a:off x="947738" y="160338"/>
            <a:ext cx="10361612" cy="636587"/>
          </a:xfrm>
          <a:prstGeom prst="rect">
            <a:avLst/>
          </a:prstGeom>
          <a:noFill/>
          <a:ln w="9525">
            <a:noFill/>
          </a:ln>
        </p:spPr>
        <p:txBody>
          <a:bodyPr lIns="90000" tIns="46800" rIns="90000" bIns="46800" anchor="ctr" anchorCtr="0"/>
          <a:p>
            <a:pPr algn="ctr" defTabSz="265430">
              <a:buClr>
                <a:srgbClr val="FF0000"/>
              </a:buClr>
              <a:buFont typeface="Arial" panose="02080604020202020204" pitchFamily="34" charset="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sz="3600" dirty="0">
                <a:solidFill>
                  <a:srgbClr val="FF0000"/>
                </a:solidFill>
                <a:latin typeface="Arial" panose="02080604020202020204" pitchFamily="34" charset="0"/>
                <a:ea typeface="黑体" panose="02000500000000000000" pitchFamily="49" charset="-122"/>
              </a:rPr>
              <a:t>降低</a:t>
            </a:r>
            <a:r>
              <a:rPr lang="en-GB" altLang="zh-CN" sz="3600" dirty="0">
                <a:solidFill>
                  <a:srgbClr val="FF0000"/>
                </a:solidFill>
                <a:latin typeface="Arial" panose="02080604020202020204" pitchFamily="34" charset="0"/>
                <a:ea typeface="黑体" panose="02000500000000000000" pitchFamily="49" charset="-122"/>
              </a:rPr>
              <a:t>Load-to-use</a:t>
            </a:r>
            <a:r>
              <a:rPr lang="zh-CN" altLang="en-GB" sz="3600" dirty="0">
                <a:solidFill>
                  <a:srgbClr val="FF0000"/>
                </a:solidFill>
                <a:latin typeface="Arial" panose="02080604020202020204" pitchFamily="34" charset="0"/>
                <a:ea typeface="黑体" panose="02000500000000000000" pitchFamily="49" charset="-122"/>
              </a:rPr>
              <a:t>延迟</a:t>
            </a:r>
            <a:endParaRPr lang="zh-CN" altLang="en-GB" sz="3600" dirty="0">
              <a:solidFill>
                <a:srgbClr val="FF0000"/>
              </a:solidFill>
              <a:latin typeface="Arial" panose="02080604020202020204" pitchFamily="34" charset="0"/>
              <a:ea typeface="黑体" panose="02000500000000000000" pitchFamily="49" charset="-122"/>
            </a:endParaRPr>
          </a:p>
        </p:txBody>
      </p:sp>
      <p:sp>
        <p:nvSpPr>
          <p:cNvPr id="38917" name="Rectangle 390"/>
          <p:cNvSpPr/>
          <p:nvPr/>
        </p:nvSpPr>
        <p:spPr>
          <a:xfrm>
            <a:off x="219075" y="728663"/>
            <a:ext cx="11580813" cy="3027362"/>
          </a:xfrm>
          <a:prstGeom prst="rect">
            <a:avLst/>
          </a:prstGeom>
          <a:noFill/>
          <a:ln w="9525">
            <a:noFill/>
          </a:ln>
        </p:spPr>
        <p:txBody>
          <a:bodyPr lIns="90000" tIns="46800" rIns="90000" bIns="46800"/>
          <a:p>
            <a:pPr marL="338455" indent="-338455" defTabSz="265430" fontAlgn="base">
              <a:lnSpc>
                <a:spcPct val="150000"/>
              </a:lnSpc>
              <a:buFontTx/>
              <a:buChar char="•"/>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en-GB" altLang="zh-CN" sz="2000" b="1" dirty="0">
                <a:solidFill>
                  <a:srgbClr val="000000"/>
                </a:solidFill>
                <a:latin typeface="宋体" panose="02000500000000000000" pitchFamily="2" charset="-122"/>
                <a:ea typeface="宋体" panose="02000500000000000000" pitchFamily="2" charset="-122"/>
                <a:cs typeface="宋体" panose="02000500000000000000" pitchFamily="2" charset="-122"/>
              </a:rPr>
              <a:t>Speculative forwarding</a:t>
            </a:r>
            <a:endParaRPr lang="en-GB" altLang="zh-CN" sz="2000" b="1" dirty="0">
              <a:solidFill>
                <a:srgbClr val="000000"/>
              </a:solidFill>
              <a:latin typeface="宋体" panose="02000500000000000000" pitchFamily="2" charset="-122"/>
              <a:ea typeface="宋体" panose="02000500000000000000" pitchFamily="2" charset="-122"/>
              <a:cs typeface="宋体" panose="02000500000000000000" pitchFamily="2" charset="-122"/>
            </a:endParaRPr>
          </a:p>
          <a:p>
            <a:pPr marL="738505" lvl="1" indent="-281305" defTabSz="265430" fontAlgn="base">
              <a:lnSpc>
                <a:spcPct val="150000"/>
              </a:lnSpc>
              <a:buFontTx/>
              <a:buChar char="•"/>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在读</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Cache</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阶段通知保留栈后续相关操作可以发射</a:t>
            </a:r>
            <a:endPar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endParaRPr>
          </a:p>
          <a:p>
            <a:pPr marL="738505" lvl="1" indent="-281305" defTabSz="265430" fontAlgn="base">
              <a:lnSpc>
                <a:spcPct val="150000"/>
              </a:lnSpc>
              <a:buFontTx/>
              <a:buChar char="•"/>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在</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tag</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比较阶段如果发现</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cache</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不命中，通知保留栈取消发射</a:t>
            </a:r>
            <a:endPar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endParaRPr>
          </a:p>
          <a:p>
            <a:pPr marL="338455" indent="-338455" defTabSz="265430" fontAlgn="base">
              <a:lnSpc>
                <a:spcPct val="150000"/>
              </a:lnSpc>
              <a:buFontTx/>
              <a:buChar char="•"/>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en-GB" altLang="zh-CN" sz="2000" b="1" dirty="0">
                <a:solidFill>
                  <a:srgbClr val="000000"/>
                </a:solidFill>
                <a:latin typeface="宋体" panose="02000500000000000000" pitchFamily="2" charset="-122"/>
                <a:ea typeface="宋体" panose="02000500000000000000" pitchFamily="2" charset="-122"/>
                <a:cs typeface="宋体" panose="02000500000000000000" pitchFamily="2" charset="-122"/>
              </a:rPr>
              <a:t>Load speculation</a:t>
            </a:r>
            <a:endParaRPr lang="en-GB" altLang="zh-CN" sz="2000" b="1" dirty="0">
              <a:solidFill>
                <a:srgbClr val="000000"/>
              </a:solidFill>
              <a:latin typeface="宋体" panose="02000500000000000000" pitchFamily="2" charset="-122"/>
              <a:ea typeface="宋体" panose="02000500000000000000" pitchFamily="2" charset="-122"/>
              <a:cs typeface="宋体" panose="02000500000000000000" pitchFamily="2" charset="-122"/>
            </a:endParaRPr>
          </a:p>
          <a:p>
            <a:pPr marL="738505" lvl="1" indent="-281305" defTabSz="265430" fontAlgn="base">
              <a:lnSpc>
                <a:spcPct val="150000"/>
              </a:lnSpc>
              <a:buFontTx/>
              <a:buChar char="•"/>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Cache</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命中的</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load</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操作必须等它前面的所有</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store</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的地址都确定后才能把值写回寄存器并传递给后面的操作（</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30%-40%</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的概率不能返回）</a:t>
            </a:r>
            <a:endPar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endParaRPr>
          </a:p>
          <a:p>
            <a:pPr marL="738505" lvl="1" indent="-281305" defTabSz="265430" fontAlgn="base">
              <a:lnSpc>
                <a:spcPct val="150000"/>
              </a:lnSpc>
              <a:buFontTx/>
              <a:buChar char="•"/>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Lst>
            </a:pP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load</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操作</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Cache</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命中时直接返回，并在发现访存相关时取消该</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load</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及其后面的操作（</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&lt;&lt;1%</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的概率需要取消）</a:t>
            </a:r>
            <a:endPar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endParaRPr>
          </a:p>
        </p:txBody>
      </p:sp>
      <p:grpSp>
        <p:nvGrpSpPr>
          <p:cNvPr id="38918" name="Group 391"/>
          <p:cNvGrpSpPr/>
          <p:nvPr/>
        </p:nvGrpSpPr>
        <p:grpSpPr>
          <a:xfrm>
            <a:off x="8010525" y="3825875"/>
            <a:ext cx="3438525" cy="2962275"/>
            <a:chOff x="4530" y="2410"/>
            <a:chExt cx="1945" cy="1866"/>
          </a:xfrm>
        </p:grpSpPr>
        <p:sp>
          <p:nvSpPr>
            <p:cNvPr id="38919" name="Rectangle 392"/>
            <p:cNvSpPr/>
            <p:nvPr/>
          </p:nvSpPr>
          <p:spPr>
            <a:xfrm>
              <a:off x="4603" y="2410"/>
              <a:ext cx="1873" cy="1867"/>
            </a:xfrm>
            <a:prstGeom prst="rect">
              <a:avLst/>
            </a:prstGeom>
            <a:solidFill>
              <a:srgbClr val="66FFFF"/>
            </a:solidFill>
            <a:ln w="9525">
              <a:noFill/>
            </a:ln>
          </p:spPr>
          <p:txBody>
            <a:bodyPr wrap="none" anchor="ctr" anchorCtr="0"/>
            <a:p>
              <a:endParaRPr lang="zh-CN" altLang="en-US" dirty="0">
                <a:latin typeface="Times New Roman" pitchFamily="18" charset="0"/>
              </a:endParaRPr>
            </a:p>
          </p:txBody>
        </p:sp>
        <p:grpSp>
          <p:nvGrpSpPr>
            <p:cNvPr id="38920" name="Group 393"/>
            <p:cNvGrpSpPr/>
            <p:nvPr/>
          </p:nvGrpSpPr>
          <p:grpSpPr>
            <a:xfrm>
              <a:off x="4530" y="2612"/>
              <a:ext cx="1450" cy="1478"/>
              <a:chOff x="4530" y="2612"/>
              <a:chExt cx="1450" cy="1478"/>
            </a:xfrm>
          </p:grpSpPr>
          <p:sp>
            <p:nvSpPr>
              <p:cNvPr id="38927" name="Rectangle 394"/>
              <p:cNvSpPr/>
              <p:nvPr/>
            </p:nvSpPr>
            <p:spPr>
              <a:xfrm>
                <a:off x="4530" y="3998"/>
                <a:ext cx="628" cy="92"/>
              </a:xfrm>
              <a:prstGeom prst="rect">
                <a:avLst/>
              </a:prstGeom>
              <a:noFill/>
              <a:ln w="9525">
                <a:noFill/>
              </a:ln>
            </p:spPr>
            <p:txBody>
              <a:bodyPr lIns="19080" tIns="19080" rIns="19080" bIns="19080"/>
              <a:p>
                <a:pPr algn="r" defTabSz="265430">
                  <a:spcBef>
                    <a:spcPts val="200"/>
                  </a:spcBef>
                  <a:buClr>
                    <a:srgbClr val="3333CC"/>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3333CC"/>
                    </a:solidFill>
                    <a:latin typeface="Times New Roman" pitchFamily="18" charset="0"/>
                  </a:rPr>
                  <a:t>cp0qtail</a:t>
                </a:r>
                <a:endParaRPr lang="en-GB" altLang="zh-CN" sz="800" dirty="0">
                  <a:solidFill>
                    <a:srgbClr val="3333CC"/>
                  </a:solidFill>
                  <a:latin typeface="Times New Roman" pitchFamily="18" charset="0"/>
                </a:endParaRPr>
              </a:p>
            </p:txBody>
          </p:sp>
          <p:sp>
            <p:nvSpPr>
              <p:cNvPr id="38928" name="Rectangle 395"/>
              <p:cNvSpPr/>
              <p:nvPr/>
            </p:nvSpPr>
            <p:spPr>
              <a:xfrm>
                <a:off x="4530" y="3905"/>
                <a:ext cx="628" cy="92"/>
              </a:xfrm>
              <a:prstGeom prst="rect">
                <a:avLst/>
              </a:prstGeom>
              <a:noFill/>
              <a:ln w="9525">
                <a:noFill/>
              </a:ln>
            </p:spPr>
            <p:txBody>
              <a:bodyPr wrap="none" anchor="ctr" anchorCtr="0"/>
              <a:p>
                <a:endParaRPr lang="zh-CN" altLang="en-US" dirty="0">
                  <a:latin typeface="Times New Roman" pitchFamily="18" charset="0"/>
                </a:endParaRPr>
              </a:p>
            </p:txBody>
          </p:sp>
          <p:sp>
            <p:nvSpPr>
              <p:cNvPr id="38929" name="Rectangle 396"/>
              <p:cNvSpPr/>
              <p:nvPr/>
            </p:nvSpPr>
            <p:spPr>
              <a:xfrm>
                <a:off x="4530" y="3813"/>
                <a:ext cx="628" cy="92"/>
              </a:xfrm>
              <a:prstGeom prst="rect">
                <a:avLst/>
              </a:prstGeom>
              <a:noFill/>
              <a:ln w="9525">
                <a:noFill/>
              </a:ln>
            </p:spPr>
            <p:txBody>
              <a:bodyPr wrap="none" anchor="ctr" anchorCtr="0"/>
              <a:p>
                <a:endParaRPr lang="zh-CN" altLang="en-US" dirty="0">
                  <a:latin typeface="Times New Roman" pitchFamily="18" charset="0"/>
                </a:endParaRPr>
              </a:p>
            </p:txBody>
          </p:sp>
          <p:sp>
            <p:nvSpPr>
              <p:cNvPr id="38930" name="Rectangle 397"/>
              <p:cNvSpPr/>
              <p:nvPr/>
            </p:nvSpPr>
            <p:spPr>
              <a:xfrm>
                <a:off x="4530" y="3721"/>
                <a:ext cx="628" cy="9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SW 100</a:t>
                </a:r>
                <a:endParaRPr lang="en-GB" altLang="zh-CN" sz="800" dirty="0">
                  <a:solidFill>
                    <a:srgbClr val="000000"/>
                  </a:solidFill>
                  <a:latin typeface="Times New Roman" pitchFamily="18" charset="0"/>
                </a:endParaRPr>
              </a:p>
            </p:txBody>
          </p:sp>
          <p:sp>
            <p:nvSpPr>
              <p:cNvPr id="38931" name="Rectangle 398"/>
              <p:cNvSpPr/>
              <p:nvPr/>
            </p:nvSpPr>
            <p:spPr>
              <a:xfrm>
                <a:off x="4530" y="3629"/>
                <a:ext cx="628" cy="92"/>
              </a:xfrm>
              <a:prstGeom prst="rect">
                <a:avLst/>
              </a:prstGeom>
              <a:noFill/>
              <a:ln w="9525">
                <a:noFill/>
              </a:ln>
            </p:spPr>
            <p:txBody>
              <a:bodyPr wrap="none" anchor="ctr" anchorCtr="0"/>
              <a:p>
                <a:endParaRPr lang="zh-CN" altLang="en-US" dirty="0">
                  <a:latin typeface="Times New Roman" pitchFamily="18" charset="0"/>
                </a:endParaRPr>
              </a:p>
            </p:txBody>
          </p:sp>
          <p:sp>
            <p:nvSpPr>
              <p:cNvPr id="38932" name="Rectangle 399"/>
              <p:cNvSpPr/>
              <p:nvPr/>
            </p:nvSpPr>
            <p:spPr>
              <a:xfrm>
                <a:off x="4530" y="3537"/>
                <a:ext cx="628" cy="92"/>
              </a:xfrm>
              <a:prstGeom prst="rect">
                <a:avLst/>
              </a:prstGeom>
              <a:noFill/>
              <a:ln w="9525">
                <a:noFill/>
              </a:ln>
            </p:spPr>
            <p:txBody>
              <a:bodyPr wrap="none" anchor="ctr" anchorCtr="0"/>
              <a:p>
                <a:endParaRPr lang="zh-CN" altLang="en-US" dirty="0">
                  <a:latin typeface="Times New Roman" pitchFamily="18" charset="0"/>
                </a:endParaRPr>
              </a:p>
            </p:txBody>
          </p:sp>
          <p:sp>
            <p:nvSpPr>
              <p:cNvPr id="38933" name="Rectangle 400"/>
              <p:cNvSpPr/>
              <p:nvPr/>
            </p:nvSpPr>
            <p:spPr>
              <a:xfrm>
                <a:off x="4530" y="3445"/>
                <a:ext cx="628" cy="92"/>
              </a:xfrm>
              <a:prstGeom prst="rect">
                <a:avLst/>
              </a:prstGeom>
              <a:noFill/>
              <a:ln w="9525">
                <a:noFill/>
              </a:ln>
            </p:spPr>
            <p:txBody>
              <a:bodyPr wrap="none" anchor="ctr" anchorCtr="0"/>
              <a:p>
                <a:endParaRPr lang="zh-CN" altLang="en-US" dirty="0">
                  <a:latin typeface="Times New Roman" pitchFamily="18" charset="0"/>
                </a:endParaRPr>
              </a:p>
            </p:txBody>
          </p:sp>
          <p:sp>
            <p:nvSpPr>
              <p:cNvPr id="38934" name="Rectangle 401"/>
              <p:cNvSpPr/>
              <p:nvPr/>
            </p:nvSpPr>
            <p:spPr>
              <a:xfrm>
                <a:off x="4530" y="3352"/>
                <a:ext cx="628" cy="9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LW 100</a:t>
                </a:r>
                <a:endParaRPr lang="en-GB" altLang="zh-CN" sz="800" dirty="0">
                  <a:solidFill>
                    <a:srgbClr val="FF0000"/>
                  </a:solidFill>
                  <a:latin typeface="Times New Roman" pitchFamily="18" charset="0"/>
                </a:endParaRPr>
              </a:p>
            </p:txBody>
          </p:sp>
          <p:sp>
            <p:nvSpPr>
              <p:cNvPr id="38935" name="Rectangle 402"/>
              <p:cNvSpPr/>
              <p:nvPr/>
            </p:nvSpPr>
            <p:spPr>
              <a:xfrm>
                <a:off x="4530" y="3260"/>
                <a:ext cx="628" cy="92"/>
              </a:xfrm>
              <a:prstGeom prst="rect">
                <a:avLst/>
              </a:prstGeom>
              <a:noFill/>
              <a:ln w="9525">
                <a:noFill/>
              </a:ln>
            </p:spPr>
            <p:txBody>
              <a:bodyPr wrap="none" anchor="ctr" anchorCtr="0"/>
              <a:p>
                <a:endParaRPr lang="zh-CN" altLang="en-US" dirty="0">
                  <a:latin typeface="Times New Roman" pitchFamily="18" charset="0"/>
                </a:endParaRPr>
              </a:p>
            </p:txBody>
          </p:sp>
          <p:sp>
            <p:nvSpPr>
              <p:cNvPr id="38936" name="Rectangle 403"/>
              <p:cNvSpPr/>
              <p:nvPr/>
            </p:nvSpPr>
            <p:spPr>
              <a:xfrm>
                <a:off x="4530" y="3165"/>
                <a:ext cx="628" cy="95"/>
              </a:xfrm>
              <a:prstGeom prst="rect">
                <a:avLst/>
              </a:prstGeom>
              <a:noFill/>
              <a:ln w="9525">
                <a:noFill/>
              </a:ln>
            </p:spPr>
            <p:txBody>
              <a:bodyPr wrap="none" anchor="ctr" anchorCtr="0"/>
              <a:p>
                <a:endParaRPr lang="zh-CN" altLang="en-US" dirty="0">
                  <a:latin typeface="Times New Roman" pitchFamily="18" charset="0"/>
                </a:endParaRPr>
              </a:p>
            </p:txBody>
          </p:sp>
          <p:sp>
            <p:nvSpPr>
              <p:cNvPr id="38937" name="Rectangle 404"/>
              <p:cNvSpPr/>
              <p:nvPr/>
            </p:nvSpPr>
            <p:spPr>
              <a:xfrm>
                <a:off x="4530" y="3073"/>
                <a:ext cx="628" cy="92"/>
              </a:xfrm>
              <a:prstGeom prst="rect">
                <a:avLst/>
              </a:prstGeom>
              <a:noFill/>
              <a:ln w="9525">
                <a:noFill/>
              </a:ln>
            </p:spPr>
            <p:txBody>
              <a:bodyPr lIns="19080" tIns="19080" rIns="19080" bIns="19080"/>
              <a:p>
                <a:pPr algn="ctr" defTabSz="265430">
                  <a:spcBef>
                    <a:spcPts val="200"/>
                  </a:spcBef>
                  <a:buClr>
                    <a:srgbClr val="FF00FF"/>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FF"/>
                    </a:solidFill>
                    <a:latin typeface="Times New Roman" pitchFamily="18" charset="0"/>
                  </a:rPr>
                  <a:t>SB        ?</a:t>
                </a:r>
                <a:endParaRPr lang="en-GB" altLang="zh-CN" sz="800" dirty="0">
                  <a:solidFill>
                    <a:srgbClr val="FF00FF"/>
                  </a:solidFill>
                  <a:latin typeface="Times New Roman" pitchFamily="18" charset="0"/>
                </a:endParaRPr>
              </a:p>
            </p:txBody>
          </p:sp>
          <p:sp>
            <p:nvSpPr>
              <p:cNvPr id="38938" name="Rectangle 405"/>
              <p:cNvSpPr/>
              <p:nvPr/>
            </p:nvSpPr>
            <p:spPr>
              <a:xfrm>
                <a:off x="4530" y="2980"/>
                <a:ext cx="628" cy="92"/>
              </a:xfrm>
              <a:prstGeom prst="rect">
                <a:avLst/>
              </a:prstGeom>
              <a:noFill/>
              <a:ln w="9525">
                <a:noFill/>
              </a:ln>
            </p:spPr>
            <p:txBody>
              <a:bodyPr wrap="none" anchor="ctr" anchorCtr="0"/>
              <a:p>
                <a:endParaRPr lang="zh-CN" altLang="en-US" dirty="0">
                  <a:latin typeface="Times New Roman" pitchFamily="18" charset="0"/>
                </a:endParaRPr>
              </a:p>
            </p:txBody>
          </p:sp>
          <p:sp>
            <p:nvSpPr>
              <p:cNvPr id="38939" name="Rectangle 406"/>
              <p:cNvSpPr/>
              <p:nvPr/>
            </p:nvSpPr>
            <p:spPr>
              <a:xfrm>
                <a:off x="4530" y="2888"/>
                <a:ext cx="628" cy="92"/>
              </a:xfrm>
              <a:prstGeom prst="rect">
                <a:avLst/>
              </a:prstGeom>
              <a:noFill/>
              <a:ln w="9525">
                <a:noFill/>
              </a:ln>
            </p:spPr>
            <p:txBody>
              <a:bodyPr wrap="none" anchor="ctr" anchorCtr="0"/>
              <a:p>
                <a:endParaRPr lang="zh-CN" altLang="en-US" dirty="0">
                  <a:latin typeface="Times New Roman" pitchFamily="18" charset="0"/>
                </a:endParaRPr>
              </a:p>
            </p:txBody>
          </p:sp>
          <p:sp>
            <p:nvSpPr>
              <p:cNvPr id="38940" name="Rectangle 407"/>
              <p:cNvSpPr/>
              <p:nvPr/>
            </p:nvSpPr>
            <p:spPr>
              <a:xfrm>
                <a:off x="4530" y="2796"/>
                <a:ext cx="628" cy="9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SW   100</a:t>
                </a:r>
                <a:endParaRPr lang="en-GB" altLang="zh-CN" sz="800" dirty="0">
                  <a:solidFill>
                    <a:srgbClr val="000000"/>
                  </a:solidFill>
                  <a:latin typeface="Times New Roman" pitchFamily="18" charset="0"/>
                </a:endParaRPr>
              </a:p>
            </p:txBody>
          </p:sp>
          <p:sp>
            <p:nvSpPr>
              <p:cNvPr id="38941" name="Rectangle 408"/>
              <p:cNvSpPr/>
              <p:nvPr/>
            </p:nvSpPr>
            <p:spPr>
              <a:xfrm>
                <a:off x="4530" y="2704"/>
                <a:ext cx="628" cy="92"/>
              </a:xfrm>
              <a:prstGeom prst="rect">
                <a:avLst/>
              </a:prstGeom>
              <a:noFill/>
              <a:ln w="9525">
                <a:noFill/>
              </a:ln>
            </p:spPr>
            <p:txBody>
              <a:bodyPr wrap="none" anchor="ctr" anchorCtr="0"/>
              <a:p>
                <a:endParaRPr lang="zh-CN" altLang="en-US" dirty="0">
                  <a:latin typeface="Times New Roman" pitchFamily="18" charset="0"/>
                </a:endParaRPr>
              </a:p>
            </p:txBody>
          </p:sp>
          <p:sp>
            <p:nvSpPr>
              <p:cNvPr id="38942" name="Rectangle 409"/>
              <p:cNvSpPr/>
              <p:nvPr/>
            </p:nvSpPr>
            <p:spPr>
              <a:xfrm>
                <a:off x="4530" y="2612"/>
                <a:ext cx="628" cy="92"/>
              </a:xfrm>
              <a:prstGeom prst="rect">
                <a:avLst/>
              </a:prstGeom>
              <a:noFill/>
              <a:ln w="9525">
                <a:noFill/>
              </a:ln>
            </p:spPr>
            <p:txBody>
              <a:bodyPr lIns="19080" tIns="19080" rIns="19080" bIns="19080"/>
              <a:p>
                <a:pPr algn="r" defTabSz="265430">
                  <a:spcBef>
                    <a:spcPts val="200"/>
                  </a:spcBef>
                  <a:buClr>
                    <a:srgbClr val="3333CC"/>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3333CC"/>
                    </a:solidFill>
                    <a:latin typeface="Times New Roman" pitchFamily="18" charset="0"/>
                  </a:rPr>
                  <a:t>cp0qhead</a:t>
                </a:r>
                <a:endParaRPr lang="en-GB" altLang="zh-CN" sz="800" dirty="0">
                  <a:solidFill>
                    <a:srgbClr val="3333CC"/>
                  </a:solidFill>
                  <a:latin typeface="Times New Roman" pitchFamily="18" charset="0"/>
                </a:endParaRPr>
              </a:p>
            </p:txBody>
          </p:sp>
          <p:sp>
            <p:nvSpPr>
              <p:cNvPr id="38943" name="Rectangle 410"/>
              <p:cNvSpPr/>
              <p:nvPr/>
            </p:nvSpPr>
            <p:spPr>
              <a:xfrm>
                <a:off x="5877" y="399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44" name="Rectangle 411"/>
              <p:cNvSpPr/>
              <p:nvPr/>
            </p:nvSpPr>
            <p:spPr>
              <a:xfrm>
                <a:off x="5775" y="399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45" name="Rectangle 412"/>
              <p:cNvSpPr/>
              <p:nvPr/>
            </p:nvSpPr>
            <p:spPr>
              <a:xfrm>
                <a:off x="5672" y="399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46" name="Rectangle 413"/>
              <p:cNvSpPr/>
              <p:nvPr/>
            </p:nvSpPr>
            <p:spPr>
              <a:xfrm>
                <a:off x="5569" y="399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47" name="Rectangle 414"/>
              <p:cNvSpPr/>
              <p:nvPr/>
            </p:nvSpPr>
            <p:spPr>
              <a:xfrm>
                <a:off x="5466" y="399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48" name="Rectangle 415"/>
              <p:cNvSpPr/>
              <p:nvPr/>
            </p:nvSpPr>
            <p:spPr>
              <a:xfrm>
                <a:off x="5363" y="399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49" name="Rectangle 416"/>
              <p:cNvSpPr/>
              <p:nvPr/>
            </p:nvSpPr>
            <p:spPr>
              <a:xfrm>
                <a:off x="5261" y="399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50" name="Rectangle 417"/>
              <p:cNvSpPr/>
              <p:nvPr/>
            </p:nvSpPr>
            <p:spPr>
              <a:xfrm>
                <a:off x="5158" y="399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51" name="Rectangle 418"/>
              <p:cNvSpPr/>
              <p:nvPr/>
            </p:nvSpPr>
            <p:spPr>
              <a:xfrm>
                <a:off x="5877" y="390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52" name="Rectangle 419"/>
              <p:cNvSpPr/>
              <p:nvPr/>
            </p:nvSpPr>
            <p:spPr>
              <a:xfrm>
                <a:off x="5775" y="390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53" name="Rectangle 420"/>
              <p:cNvSpPr/>
              <p:nvPr/>
            </p:nvSpPr>
            <p:spPr>
              <a:xfrm>
                <a:off x="5672" y="390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54" name="Rectangle 421"/>
              <p:cNvSpPr/>
              <p:nvPr/>
            </p:nvSpPr>
            <p:spPr>
              <a:xfrm>
                <a:off x="5569" y="390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55" name="Rectangle 422"/>
              <p:cNvSpPr/>
              <p:nvPr/>
            </p:nvSpPr>
            <p:spPr>
              <a:xfrm>
                <a:off x="5466" y="390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56" name="Rectangle 423"/>
              <p:cNvSpPr/>
              <p:nvPr/>
            </p:nvSpPr>
            <p:spPr>
              <a:xfrm>
                <a:off x="5363" y="390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57" name="Rectangle 424"/>
              <p:cNvSpPr/>
              <p:nvPr/>
            </p:nvSpPr>
            <p:spPr>
              <a:xfrm>
                <a:off x="5261" y="390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58" name="Rectangle 425"/>
              <p:cNvSpPr/>
              <p:nvPr/>
            </p:nvSpPr>
            <p:spPr>
              <a:xfrm>
                <a:off x="5158" y="390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59" name="Rectangle 426"/>
              <p:cNvSpPr/>
              <p:nvPr/>
            </p:nvSpPr>
            <p:spPr>
              <a:xfrm>
                <a:off x="5877" y="381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60" name="Rectangle 427"/>
              <p:cNvSpPr/>
              <p:nvPr/>
            </p:nvSpPr>
            <p:spPr>
              <a:xfrm>
                <a:off x="5775" y="381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61" name="Rectangle 428"/>
              <p:cNvSpPr/>
              <p:nvPr/>
            </p:nvSpPr>
            <p:spPr>
              <a:xfrm>
                <a:off x="5672" y="381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62" name="Rectangle 429"/>
              <p:cNvSpPr/>
              <p:nvPr/>
            </p:nvSpPr>
            <p:spPr>
              <a:xfrm>
                <a:off x="5569" y="381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63" name="Rectangle 430"/>
              <p:cNvSpPr/>
              <p:nvPr/>
            </p:nvSpPr>
            <p:spPr>
              <a:xfrm>
                <a:off x="5466" y="381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64" name="Rectangle 431"/>
              <p:cNvSpPr/>
              <p:nvPr/>
            </p:nvSpPr>
            <p:spPr>
              <a:xfrm>
                <a:off x="5363" y="381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65" name="Rectangle 432"/>
              <p:cNvSpPr/>
              <p:nvPr/>
            </p:nvSpPr>
            <p:spPr>
              <a:xfrm>
                <a:off x="5261" y="381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66" name="Rectangle 433"/>
              <p:cNvSpPr/>
              <p:nvPr/>
            </p:nvSpPr>
            <p:spPr>
              <a:xfrm>
                <a:off x="5158" y="381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67" name="Rectangle 434"/>
              <p:cNvSpPr/>
              <p:nvPr/>
            </p:nvSpPr>
            <p:spPr>
              <a:xfrm>
                <a:off x="5877" y="3721"/>
                <a:ext cx="103" cy="9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8968" name="Rectangle 435"/>
              <p:cNvSpPr/>
              <p:nvPr/>
            </p:nvSpPr>
            <p:spPr>
              <a:xfrm>
                <a:off x="5775" y="3721"/>
                <a:ext cx="103" cy="9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8969" name="Rectangle 436"/>
              <p:cNvSpPr/>
              <p:nvPr/>
            </p:nvSpPr>
            <p:spPr>
              <a:xfrm>
                <a:off x="5672" y="3721"/>
                <a:ext cx="103" cy="9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8970" name="Rectangle 437"/>
              <p:cNvSpPr/>
              <p:nvPr/>
            </p:nvSpPr>
            <p:spPr>
              <a:xfrm>
                <a:off x="5569" y="3721"/>
                <a:ext cx="103" cy="9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6</a:t>
                </a:r>
                <a:endParaRPr lang="en-GB" altLang="zh-CN" sz="800" dirty="0">
                  <a:solidFill>
                    <a:srgbClr val="000000"/>
                  </a:solidFill>
                  <a:latin typeface="Times New Roman" pitchFamily="18" charset="0"/>
                </a:endParaRPr>
              </a:p>
            </p:txBody>
          </p:sp>
          <p:sp>
            <p:nvSpPr>
              <p:cNvPr id="38971" name="Rectangle 438"/>
              <p:cNvSpPr/>
              <p:nvPr/>
            </p:nvSpPr>
            <p:spPr>
              <a:xfrm>
                <a:off x="5466" y="3721"/>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72" name="Rectangle 439"/>
              <p:cNvSpPr/>
              <p:nvPr/>
            </p:nvSpPr>
            <p:spPr>
              <a:xfrm>
                <a:off x="5363" y="3721"/>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73" name="Rectangle 440"/>
              <p:cNvSpPr/>
              <p:nvPr/>
            </p:nvSpPr>
            <p:spPr>
              <a:xfrm>
                <a:off x="5261" y="3721"/>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74" name="Rectangle 441"/>
              <p:cNvSpPr/>
              <p:nvPr/>
            </p:nvSpPr>
            <p:spPr>
              <a:xfrm>
                <a:off x="5158" y="3721"/>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75" name="Rectangle 442"/>
              <p:cNvSpPr/>
              <p:nvPr/>
            </p:nvSpPr>
            <p:spPr>
              <a:xfrm>
                <a:off x="5877" y="3629"/>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76" name="Rectangle 443"/>
              <p:cNvSpPr/>
              <p:nvPr/>
            </p:nvSpPr>
            <p:spPr>
              <a:xfrm>
                <a:off x="5775" y="3629"/>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77" name="Rectangle 444"/>
              <p:cNvSpPr/>
              <p:nvPr/>
            </p:nvSpPr>
            <p:spPr>
              <a:xfrm>
                <a:off x="5672" y="3629"/>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78" name="Rectangle 445"/>
              <p:cNvSpPr/>
              <p:nvPr/>
            </p:nvSpPr>
            <p:spPr>
              <a:xfrm>
                <a:off x="5569" y="3629"/>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79" name="Rectangle 446"/>
              <p:cNvSpPr/>
              <p:nvPr/>
            </p:nvSpPr>
            <p:spPr>
              <a:xfrm>
                <a:off x="5466" y="3629"/>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80" name="Rectangle 447"/>
              <p:cNvSpPr/>
              <p:nvPr/>
            </p:nvSpPr>
            <p:spPr>
              <a:xfrm>
                <a:off x="5363" y="3629"/>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81" name="Rectangle 448"/>
              <p:cNvSpPr/>
              <p:nvPr/>
            </p:nvSpPr>
            <p:spPr>
              <a:xfrm>
                <a:off x="5261" y="3629"/>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82" name="Rectangle 449"/>
              <p:cNvSpPr/>
              <p:nvPr/>
            </p:nvSpPr>
            <p:spPr>
              <a:xfrm>
                <a:off x="5158" y="3629"/>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83" name="Rectangle 450"/>
              <p:cNvSpPr/>
              <p:nvPr/>
            </p:nvSpPr>
            <p:spPr>
              <a:xfrm>
                <a:off x="5877" y="326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84" name="Rectangle 451"/>
              <p:cNvSpPr/>
              <p:nvPr/>
            </p:nvSpPr>
            <p:spPr>
              <a:xfrm>
                <a:off x="5775" y="326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85" name="Rectangle 452"/>
              <p:cNvSpPr/>
              <p:nvPr/>
            </p:nvSpPr>
            <p:spPr>
              <a:xfrm>
                <a:off x="5672" y="326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86" name="Rectangle 453"/>
              <p:cNvSpPr/>
              <p:nvPr/>
            </p:nvSpPr>
            <p:spPr>
              <a:xfrm>
                <a:off x="5569" y="326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87" name="Rectangle 454"/>
              <p:cNvSpPr/>
              <p:nvPr/>
            </p:nvSpPr>
            <p:spPr>
              <a:xfrm>
                <a:off x="5466" y="326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88" name="Rectangle 455"/>
              <p:cNvSpPr/>
              <p:nvPr/>
            </p:nvSpPr>
            <p:spPr>
              <a:xfrm>
                <a:off x="5363" y="326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89" name="Rectangle 456"/>
              <p:cNvSpPr/>
              <p:nvPr/>
            </p:nvSpPr>
            <p:spPr>
              <a:xfrm>
                <a:off x="5261" y="326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90" name="Rectangle 457"/>
              <p:cNvSpPr/>
              <p:nvPr/>
            </p:nvSpPr>
            <p:spPr>
              <a:xfrm>
                <a:off x="5158" y="326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8991" name="Rectangle 458"/>
              <p:cNvSpPr/>
              <p:nvPr/>
            </p:nvSpPr>
            <p:spPr>
              <a:xfrm>
                <a:off x="5877" y="3165"/>
                <a:ext cx="103" cy="95"/>
              </a:xfrm>
              <a:prstGeom prst="rect">
                <a:avLst/>
              </a:prstGeom>
              <a:noFill/>
              <a:ln w="9525">
                <a:noFill/>
              </a:ln>
            </p:spPr>
            <p:txBody>
              <a:bodyPr wrap="none" anchor="ctr" anchorCtr="0"/>
              <a:p>
                <a:endParaRPr lang="zh-CN" altLang="en-US" dirty="0">
                  <a:latin typeface="Times New Roman" pitchFamily="18" charset="0"/>
                </a:endParaRPr>
              </a:p>
            </p:txBody>
          </p:sp>
          <p:sp>
            <p:nvSpPr>
              <p:cNvPr id="38992" name="Rectangle 459"/>
              <p:cNvSpPr/>
              <p:nvPr/>
            </p:nvSpPr>
            <p:spPr>
              <a:xfrm>
                <a:off x="5775" y="3165"/>
                <a:ext cx="103" cy="95"/>
              </a:xfrm>
              <a:prstGeom prst="rect">
                <a:avLst/>
              </a:prstGeom>
              <a:noFill/>
              <a:ln w="9525">
                <a:noFill/>
              </a:ln>
            </p:spPr>
            <p:txBody>
              <a:bodyPr wrap="none" anchor="ctr" anchorCtr="0"/>
              <a:p>
                <a:endParaRPr lang="zh-CN" altLang="en-US" dirty="0">
                  <a:latin typeface="Times New Roman" pitchFamily="18" charset="0"/>
                </a:endParaRPr>
              </a:p>
            </p:txBody>
          </p:sp>
          <p:sp>
            <p:nvSpPr>
              <p:cNvPr id="38993" name="Rectangle 460"/>
              <p:cNvSpPr/>
              <p:nvPr/>
            </p:nvSpPr>
            <p:spPr>
              <a:xfrm>
                <a:off x="5672" y="3165"/>
                <a:ext cx="103" cy="95"/>
              </a:xfrm>
              <a:prstGeom prst="rect">
                <a:avLst/>
              </a:prstGeom>
              <a:noFill/>
              <a:ln w="9525">
                <a:noFill/>
              </a:ln>
            </p:spPr>
            <p:txBody>
              <a:bodyPr wrap="none" anchor="ctr" anchorCtr="0"/>
              <a:p>
                <a:endParaRPr lang="zh-CN" altLang="en-US" dirty="0">
                  <a:latin typeface="Times New Roman" pitchFamily="18" charset="0"/>
                </a:endParaRPr>
              </a:p>
            </p:txBody>
          </p:sp>
          <p:sp>
            <p:nvSpPr>
              <p:cNvPr id="38994" name="Rectangle 461"/>
              <p:cNvSpPr/>
              <p:nvPr/>
            </p:nvSpPr>
            <p:spPr>
              <a:xfrm>
                <a:off x="5569" y="3165"/>
                <a:ext cx="103" cy="95"/>
              </a:xfrm>
              <a:prstGeom prst="rect">
                <a:avLst/>
              </a:prstGeom>
              <a:noFill/>
              <a:ln w="9525">
                <a:noFill/>
              </a:ln>
            </p:spPr>
            <p:txBody>
              <a:bodyPr wrap="none" anchor="ctr" anchorCtr="0"/>
              <a:p>
                <a:endParaRPr lang="zh-CN" altLang="en-US" dirty="0">
                  <a:latin typeface="Times New Roman" pitchFamily="18" charset="0"/>
                </a:endParaRPr>
              </a:p>
            </p:txBody>
          </p:sp>
          <p:sp>
            <p:nvSpPr>
              <p:cNvPr id="38995" name="Rectangle 462"/>
              <p:cNvSpPr/>
              <p:nvPr/>
            </p:nvSpPr>
            <p:spPr>
              <a:xfrm>
                <a:off x="5466" y="3165"/>
                <a:ext cx="103" cy="95"/>
              </a:xfrm>
              <a:prstGeom prst="rect">
                <a:avLst/>
              </a:prstGeom>
              <a:noFill/>
              <a:ln w="9525">
                <a:noFill/>
              </a:ln>
            </p:spPr>
            <p:txBody>
              <a:bodyPr wrap="none" anchor="ctr" anchorCtr="0"/>
              <a:p>
                <a:endParaRPr lang="zh-CN" altLang="en-US" dirty="0">
                  <a:latin typeface="Times New Roman" pitchFamily="18" charset="0"/>
                </a:endParaRPr>
              </a:p>
            </p:txBody>
          </p:sp>
          <p:sp>
            <p:nvSpPr>
              <p:cNvPr id="38996" name="Rectangle 463"/>
              <p:cNvSpPr/>
              <p:nvPr/>
            </p:nvSpPr>
            <p:spPr>
              <a:xfrm>
                <a:off x="5363" y="3165"/>
                <a:ext cx="103" cy="95"/>
              </a:xfrm>
              <a:prstGeom prst="rect">
                <a:avLst/>
              </a:prstGeom>
              <a:noFill/>
              <a:ln w="9525">
                <a:noFill/>
              </a:ln>
            </p:spPr>
            <p:txBody>
              <a:bodyPr wrap="none" anchor="ctr" anchorCtr="0"/>
              <a:p>
                <a:endParaRPr lang="zh-CN" altLang="en-US" dirty="0">
                  <a:latin typeface="Times New Roman" pitchFamily="18" charset="0"/>
                </a:endParaRPr>
              </a:p>
            </p:txBody>
          </p:sp>
          <p:sp>
            <p:nvSpPr>
              <p:cNvPr id="38997" name="Rectangle 464"/>
              <p:cNvSpPr/>
              <p:nvPr/>
            </p:nvSpPr>
            <p:spPr>
              <a:xfrm>
                <a:off x="5261" y="3165"/>
                <a:ext cx="103" cy="95"/>
              </a:xfrm>
              <a:prstGeom prst="rect">
                <a:avLst/>
              </a:prstGeom>
              <a:noFill/>
              <a:ln w="9525">
                <a:noFill/>
              </a:ln>
            </p:spPr>
            <p:txBody>
              <a:bodyPr wrap="none" anchor="ctr" anchorCtr="0"/>
              <a:p>
                <a:endParaRPr lang="zh-CN" altLang="en-US" dirty="0">
                  <a:latin typeface="Times New Roman" pitchFamily="18" charset="0"/>
                </a:endParaRPr>
              </a:p>
            </p:txBody>
          </p:sp>
          <p:sp>
            <p:nvSpPr>
              <p:cNvPr id="38998" name="Rectangle 465"/>
              <p:cNvSpPr/>
              <p:nvPr/>
            </p:nvSpPr>
            <p:spPr>
              <a:xfrm>
                <a:off x="5158" y="3165"/>
                <a:ext cx="103" cy="95"/>
              </a:xfrm>
              <a:prstGeom prst="rect">
                <a:avLst/>
              </a:prstGeom>
              <a:noFill/>
              <a:ln w="9525">
                <a:noFill/>
              </a:ln>
            </p:spPr>
            <p:txBody>
              <a:bodyPr wrap="none" anchor="ctr" anchorCtr="0"/>
              <a:p>
                <a:endParaRPr lang="zh-CN" altLang="en-US" dirty="0">
                  <a:latin typeface="Times New Roman" pitchFamily="18" charset="0"/>
                </a:endParaRPr>
              </a:p>
            </p:txBody>
          </p:sp>
          <p:sp>
            <p:nvSpPr>
              <p:cNvPr id="38999" name="Rectangle 466"/>
              <p:cNvSpPr/>
              <p:nvPr/>
            </p:nvSpPr>
            <p:spPr>
              <a:xfrm>
                <a:off x="5877" y="3073"/>
                <a:ext cx="103" cy="9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5</a:t>
                </a:r>
                <a:endParaRPr lang="en-GB" altLang="zh-CN" sz="800" dirty="0">
                  <a:solidFill>
                    <a:srgbClr val="000000"/>
                  </a:solidFill>
                  <a:latin typeface="Times New Roman" pitchFamily="18" charset="0"/>
                </a:endParaRPr>
              </a:p>
            </p:txBody>
          </p:sp>
          <p:sp>
            <p:nvSpPr>
              <p:cNvPr id="39000" name="Rectangle 467"/>
              <p:cNvSpPr/>
              <p:nvPr/>
            </p:nvSpPr>
            <p:spPr>
              <a:xfrm>
                <a:off x="5775" y="307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01" name="Rectangle 468"/>
              <p:cNvSpPr/>
              <p:nvPr/>
            </p:nvSpPr>
            <p:spPr>
              <a:xfrm>
                <a:off x="5672" y="307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02" name="Rectangle 469"/>
              <p:cNvSpPr/>
              <p:nvPr/>
            </p:nvSpPr>
            <p:spPr>
              <a:xfrm>
                <a:off x="5569" y="307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03" name="Rectangle 470"/>
              <p:cNvSpPr/>
              <p:nvPr/>
            </p:nvSpPr>
            <p:spPr>
              <a:xfrm>
                <a:off x="5466" y="307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04" name="Rectangle 471"/>
              <p:cNvSpPr/>
              <p:nvPr/>
            </p:nvSpPr>
            <p:spPr>
              <a:xfrm>
                <a:off x="5363" y="307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05" name="Rectangle 472"/>
              <p:cNvSpPr/>
              <p:nvPr/>
            </p:nvSpPr>
            <p:spPr>
              <a:xfrm>
                <a:off x="5261" y="307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06" name="Rectangle 473"/>
              <p:cNvSpPr/>
              <p:nvPr/>
            </p:nvSpPr>
            <p:spPr>
              <a:xfrm>
                <a:off x="5158" y="3073"/>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07" name="Rectangle 474"/>
              <p:cNvSpPr/>
              <p:nvPr/>
            </p:nvSpPr>
            <p:spPr>
              <a:xfrm>
                <a:off x="5877" y="298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08" name="Rectangle 475"/>
              <p:cNvSpPr/>
              <p:nvPr/>
            </p:nvSpPr>
            <p:spPr>
              <a:xfrm>
                <a:off x="5775" y="298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09" name="Rectangle 476"/>
              <p:cNvSpPr/>
              <p:nvPr/>
            </p:nvSpPr>
            <p:spPr>
              <a:xfrm>
                <a:off x="5672" y="298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10" name="Rectangle 477"/>
              <p:cNvSpPr/>
              <p:nvPr/>
            </p:nvSpPr>
            <p:spPr>
              <a:xfrm>
                <a:off x="5569" y="298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11" name="Rectangle 478"/>
              <p:cNvSpPr/>
              <p:nvPr/>
            </p:nvSpPr>
            <p:spPr>
              <a:xfrm>
                <a:off x="5466" y="298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12" name="Rectangle 479"/>
              <p:cNvSpPr/>
              <p:nvPr/>
            </p:nvSpPr>
            <p:spPr>
              <a:xfrm>
                <a:off x="5363" y="298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13" name="Rectangle 480"/>
              <p:cNvSpPr/>
              <p:nvPr/>
            </p:nvSpPr>
            <p:spPr>
              <a:xfrm>
                <a:off x="5261" y="298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14" name="Rectangle 481"/>
              <p:cNvSpPr/>
              <p:nvPr/>
            </p:nvSpPr>
            <p:spPr>
              <a:xfrm>
                <a:off x="5158" y="2980"/>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15" name="Rectangle 482"/>
              <p:cNvSpPr/>
              <p:nvPr/>
            </p:nvSpPr>
            <p:spPr>
              <a:xfrm>
                <a:off x="5877" y="288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16" name="Rectangle 483"/>
              <p:cNvSpPr/>
              <p:nvPr/>
            </p:nvSpPr>
            <p:spPr>
              <a:xfrm>
                <a:off x="5775" y="288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17" name="Rectangle 484"/>
              <p:cNvSpPr/>
              <p:nvPr/>
            </p:nvSpPr>
            <p:spPr>
              <a:xfrm>
                <a:off x="5672" y="288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18" name="Rectangle 485"/>
              <p:cNvSpPr/>
              <p:nvPr/>
            </p:nvSpPr>
            <p:spPr>
              <a:xfrm>
                <a:off x="5569" y="288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19" name="Rectangle 486"/>
              <p:cNvSpPr/>
              <p:nvPr/>
            </p:nvSpPr>
            <p:spPr>
              <a:xfrm>
                <a:off x="5466" y="288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20" name="Rectangle 487"/>
              <p:cNvSpPr/>
              <p:nvPr/>
            </p:nvSpPr>
            <p:spPr>
              <a:xfrm>
                <a:off x="5363" y="288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21" name="Rectangle 488"/>
              <p:cNvSpPr/>
              <p:nvPr/>
            </p:nvSpPr>
            <p:spPr>
              <a:xfrm>
                <a:off x="5261" y="288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22" name="Rectangle 489"/>
              <p:cNvSpPr/>
              <p:nvPr/>
            </p:nvSpPr>
            <p:spPr>
              <a:xfrm>
                <a:off x="5158" y="2888"/>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23" name="Rectangle 490"/>
              <p:cNvSpPr/>
              <p:nvPr/>
            </p:nvSpPr>
            <p:spPr>
              <a:xfrm>
                <a:off x="5877" y="2796"/>
                <a:ext cx="103" cy="9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4</a:t>
                </a:r>
                <a:endParaRPr lang="en-GB" altLang="zh-CN" sz="800" dirty="0">
                  <a:solidFill>
                    <a:srgbClr val="000000"/>
                  </a:solidFill>
                  <a:latin typeface="Times New Roman" pitchFamily="18" charset="0"/>
                </a:endParaRPr>
              </a:p>
            </p:txBody>
          </p:sp>
          <p:sp>
            <p:nvSpPr>
              <p:cNvPr id="39024" name="Rectangle 491"/>
              <p:cNvSpPr/>
              <p:nvPr/>
            </p:nvSpPr>
            <p:spPr>
              <a:xfrm>
                <a:off x="5775" y="2796"/>
                <a:ext cx="103" cy="9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3</a:t>
                </a:r>
                <a:endParaRPr lang="en-GB" altLang="zh-CN" sz="800" dirty="0">
                  <a:solidFill>
                    <a:srgbClr val="000000"/>
                  </a:solidFill>
                  <a:latin typeface="Times New Roman" pitchFamily="18" charset="0"/>
                </a:endParaRPr>
              </a:p>
            </p:txBody>
          </p:sp>
          <p:sp>
            <p:nvSpPr>
              <p:cNvPr id="39025" name="Rectangle 492"/>
              <p:cNvSpPr/>
              <p:nvPr/>
            </p:nvSpPr>
            <p:spPr>
              <a:xfrm>
                <a:off x="5672" y="2796"/>
                <a:ext cx="103" cy="9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2</a:t>
                </a:r>
                <a:endParaRPr lang="en-GB" altLang="zh-CN" sz="800" dirty="0">
                  <a:solidFill>
                    <a:srgbClr val="000000"/>
                  </a:solidFill>
                  <a:latin typeface="Times New Roman" pitchFamily="18" charset="0"/>
                </a:endParaRPr>
              </a:p>
            </p:txBody>
          </p:sp>
          <p:sp>
            <p:nvSpPr>
              <p:cNvPr id="39026" name="Rectangle 493"/>
              <p:cNvSpPr/>
              <p:nvPr/>
            </p:nvSpPr>
            <p:spPr>
              <a:xfrm>
                <a:off x="5569" y="2796"/>
                <a:ext cx="103" cy="92"/>
              </a:xfrm>
              <a:prstGeom prst="rect">
                <a:avLst/>
              </a:prstGeom>
              <a:noFill/>
              <a:ln w="9525">
                <a:noFill/>
              </a:ln>
            </p:spPr>
            <p:txBody>
              <a:bodyPr lIns="19080" tIns="19080" rIns="19080" bIns="19080"/>
              <a:p>
                <a:pPr algn="ctr" defTabSz="265430">
                  <a:spcBef>
                    <a:spcPts val="200"/>
                  </a:spcBef>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000000"/>
                    </a:solidFill>
                    <a:latin typeface="Times New Roman" pitchFamily="18" charset="0"/>
                  </a:rPr>
                  <a:t>1</a:t>
                </a:r>
                <a:endParaRPr lang="en-GB" altLang="zh-CN" sz="800" dirty="0">
                  <a:solidFill>
                    <a:srgbClr val="000000"/>
                  </a:solidFill>
                  <a:latin typeface="Times New Roman" pitchFamily="18" charset="0"/>
                </a:endParaRPr>
              </a:p>
            </p:txBody>
          </p:sp>
          <p:sp>
            <p:nvSpPr>
              <p:cNvPr id="39027" name="Rectangle 494"/>
              <p:cNvSpPr/>
              <p:nvPr/>
            </p:nvSpPr>
            <p:spPr>
              <a:xfrm>
                <a:off x="5466" y="2796"/>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28" name="Rectangle 495"/>
              <p:cNvSpPr/>
              <p:nvPr/>
            </p:nvSpPr>
            <p:spPr>
              <a:xfrm>
                <a:off x="5363" y="2796"/>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29" name="Rectangle 496"/>
              <p:cNvSpPr/>
              <p:nvPr/>
            </p:nvSpPr>
            <p:spPr>
              <a:xfrm>
                <a:off x="5261" y="2796"/>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30" name="Rectangle 497"/>
              <p:cNvSpPr/>
              <p:nvPr/>
            </p:nvSpPr>
            <p:spPr>
              <a:xfrm>
                <a:off x="5158" y="2796"/>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31" name="Rectangle 498"/>
              <p:cNvSpPr/>
              <p:nvPr/>
            </p:nvSpPr>
            <p:spPr>
              <a:xfrm>
                <a:off x="5877" y="2704"/>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32" name="Rectangle 499"/>
              <p:cNvSpPr/>
              <p:nvPr/>
            </p:nvSpPr>
            <p:spPr>
              <a:xfrm>
                <a:off x="5775" y="2704"/>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33" name="Rectangle 500"/>
              <p:cNvSpPr/>
              <p:nvPr/>
            </p:nvSpPr>
            <p:spPr>
              <a:xfrm>
                <a:off x="5672" y="2704"/>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34" name="Rectangle 501"/>
              <p:cNvSpPr/>
              <p:nvPr/>
            </p:nvSpPr>
            <p:spPr>
              <a:xfrm>
                <a:off x="5569" y="2704"/>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35" name="Rectangle 502"/>
              <p:cNvSpPr/>
              <p:nvPr/>
            </p:nvSpPr>
            <p:spPr>
              <a:xfrm>
                <a:off x="5466" y="2704"/>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36" name="Rectangle 503"/>
              <p:cNvSpPr/>
              <p:nvPr/>
            </p:nvSpPr>
            <p:spPr>
              <a:xfrm>
                <a:off x="5363" y="2704"/>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37" name="Rectangle 504"/>
              <p:cNvSpPr/>
              <p:nvPr/>
            </p:nvSpPr>
            <p:spPr>
              <a:xfrm>
                <a:off x="5261" y="2704"/>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38" name="Rectangle 505"/>
              <p:cNvSpPr/>
              <p:nvPr/>
            </p:nvSpPr>
            <p:spPr>
              <a:xfrm>
                <a:off x="5158" y="2704"/>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39" name="Rectangle 506"/>
              <p:cNvSpPr/>
              <p:nvPr/>
            </p:nvSpPr>
            <p:spPr>
              <a:xfrm>
                <a:off x="5877" y="3537"/>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40" name="Rectangle 507"/>
              <p:cNvSpPr/>
              <p:nvPr/>
            </p:nvSpPr>
            <p:spPr>
              <a:xfrm>
                <a:off x="5877" y="344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41" name="Rectangle 508"/>
              <p:cNvSpPr/>
              <p:nvPr/>
            </p:nvSpPr>
            <p:spPr>
              <a:xfrm>
                <a:off x="5877" y="3352"/>
                <a:ext cx="103" cy="9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5</a:t>
                </a:r>
                <a:endParaRPr lang="en-GB" altLang="zh-CN" sz="800" dirty="0">
                  <a:solidFill>
                    <a:srgbClr val="FF0000"/>
                  </a:solidFill>
                  <a:latin typeface="Times New Roman" pitchFamily="18" charset="0"/>
                </a:endParaRPr>
              </a:p>
            </p:txBody>
          </p:sp>
          <p:sp>
            <p:nvSpPr>
              <p:cNvPr id="39042" name="Rectangle 509"/>
              <p:cNvSpPr/>
              <p:nvPr/>
            </p:nvSpPr>
            <p:spPr>
              <a:xfrm>
                <a:off x="5877" y="261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43" name="Rectangle 510"/>
              <p:cNvSpPr/>
              <p:nvPr/>
            </p:nvSpPr>
            <p:spPr>
              <a:xfrm>
                <a:off x="5775" y="3537"/>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44" name="Rectangle 511"/>
              <p:cNvSpPr/>
              <p:nvPr/>
            </p:nvSpPr>
            <p:spPr>
              <a:xfrm>
                <a:off x="5775" y="344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45" name="Rectangle 512"/>
              <p:cNvSpPr/>
              <p:nvPr/>
            </p:nvSpPr>
            <p:spPr>
              <a:xfrm>
                <a:off x="5775" y="3352"/>
                <a:ext cx="103" cy="9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3</a:t>
                </a:r>
                <a:endParaRPr lang="en-GB" altLang="zh-CN" sz="800" dirty="0">
                  <a:solidFill>
                    <a:srgbClr val="FF0000"/>
                  </a:solidFill>
                  <a:latin typeface="Times New Roman" pitchFamily="18" charset="0"/>
                </a:endParaRPr>
              </a:p>
            </p:txBody>
          </p:sp>
          <p:sp>
            <p:nvSpPr>
              <p:cNvPr id="39046" name="Rectangle 513"/>
              <p:cNvSpPr/>
              <p:nvPr/>
            </p:nvSpPr>
            <p:spPr>
              <a:xfrm>
                <a:off x="5775" y="261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47" name="Rectangle 514"/>
              <p:cNvSpPr/>
              <p:nvPr/>
            </p:nvSpPr>
            <p:spPr>
              <a:xfrm>
                <a:off x="5672" y="3537"/>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48" name="Rectangle 515"/>
              <p:cNvSpPr/>
              <p:nvPr/>
            </p:nvSpPr>
            <p:spPr>
              <a:xfrm>
                <a:off x="5672" y="344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49" name="Rectangle 516"/>
              <p:cNvSpPr/>
              <p:nvPr/>
            </p:nvSpPr>
            <p:spPr>
              <a:xfrm>
                <a:off x="5672" y="3352"/>
                <a:ext cx="103" cy="9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2</a:t>
                </a:r>
                <a:endParaRPr lang="en-GB" altLang="zh-CN" sz="800" dirty="0">
                  <a:solidFill>
                    <a:srgbClr val="FF0000"/>
                  </a:solidFill>
                  <a:latin typeface="Times New Roman" pitchFamily="18" charset="0"/>
                </a:endParaRPr>
              </a:p>
            </p:txBody>
          </p:sp>
          <p:sp>
            <p:nvSpPr>
              <p:cNvPr id="39050" name="Rectangle 517"/>
              <p:cNvSpPr/>
              <p:nvPr/>
            </p:nvSpPr>
            <p:spPr>
              <a:xfrm>
                <a:off x="5672" y="261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51" name="Rectangle 518"/>
              <p:cNvSpPr/>
              <p:nvPr/>
            </p:nvSpPr>
            <p:spPr>
              <a:xfrm>
                <a:off x="5569" y="3537"/>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52" name="Rectangle 519"/>
              <p:cNvSpPr/>
              <p:nvPr/>
            </p:nvSpPr>
            <p:spPr>
              <a:xfrm>
                <a:off x="5569" y="344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53" name="Rectangle 520"/>
              <p:cNvSpPr/>
              <p:nvPr/>
            </p:nvSpPr>
            <p:spPr>
              <a:xfrm>
                <a:off x="5569" y="3352"/>
                <a:ext cx="103" cy="92"/>
              </a:xfrm>
              <a:prstGeom prst="rect">
                <a:avLst/>
              </a:prstGeom>
              <a:noFill/>
              <a:ln w="9525">
                <a:noFill/>
              </a:ln>
            </p:spPr>
            <p:txBody>
              <a:bodyPr lIns="19080" tIns="19080" rIns="19080" bIns="19080"/>
              <a:p>
                <a:pPr algn="ctr" defTabSz="265430">
                  <a:spcBef>
                    <a:spcPts val="200"/>
                  </a:spcBef>
                  <a:buClr>
                    <a:srgbClr val="FF0000"/>
                  </a:buClr>
                  <a:buFont typeface="Wingdings" panose="05000000000000000000" pitchFamily="2" charset="2"/>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F0000"/>
                    </a:solidFill>
                    <a:latin typeface="Times New Roman" pitchFamily="18" charset="0"/>
                  </a:rPr>
                  <a:t>1</a:t>
                </a:r>
                <a:endParaRPr lang="en-GB" altLang="zh-CN" sz="800" dirty="0">
                  <a:solidFill>
                    <a:srgbClr val="FF0000"/>
                  </a:solidFill>
                  <a:latin typeface="Times New Roman" pitchFamily="18" charset="0"/>
                </a:endParaRPr>
              </a:p>
            </p:txBody>
          </p:sp>
          <p:sp>
            <p:nvSpPr>
              <p:cNvPr id="39054" name="Rectangle 521"/>
              <p:cNvSpPr/>
              <p:nvPr/>
            </p:nvSpPr>
            <p:spPr>
              <a:xfrm>
                <a:off x="5569" y="261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55" name="Rectangle 522"/>
              <p:cNvSpPr/>
              <p:nvPr/>
            </p:nvSpPr>
            <p:spPr>
              <a:xfrm>
                <a:off x="5466" y="3537"/>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56" name="Rectangle 523"/>
              <p:cNvSpPr/>
              <p:nvPr/>
            </p:nvSpPr>
            <p:spPr>
              <a:xfrm>
                <a:off x="5466" y="344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57" name="Rectangle 524"/>
              <p:cNvSpPr/>
              <p:nvPr/>
            </p:nvSpPr>
            <p:spPr>
              <a:xfrm>
                <a:off x="5466" y="335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58" name="Rectangle 525"/>
              <p:cNvSpPr/>
              <p:nvPr/>
            </p:nvSpPr>
            <p:spPr>
              <a:xfrm>
                <a:off x="5466" y="261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59" name="Rectangle 526"/>
              <p:cNvSpPr/>
              <p:nvPr/>
            </p:nvSpPr>
            <p:spPr>
              <a:xfrm>
                <a:off x="5363" y="3537"/>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60" name="Rectangle 527"/>
              <p:cNvSpPr/>
              <p:nvPr/>
            </p:nvSpPr>
            <p:spPr>
              <a:xfrm>
                <a:off x="5363" y="344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61" name="Rectangle 528"/>
              <p:cNvSpPr/>
              <p:nvPr/>
            </p:nvSpPr>
            <p:spPr>
              <a:xfrm>
                <a:off x="5363" y="335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62" name="Rectangle 529"/>
              <p:cNvSpPr/>
              <p:nvPr/>
            </p:nvSpPr>
            <p:spPr>
              <a:xfrm>
                <a:off x="5363" y="261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63" name="Rectangle 530"/>
              <p:cNvSpPr/>
              <p:nvPr/>
            </p:nvSpPr>
            <p:spPr>
              <a:xfrm>
                <a:off x="5261" y="3537"/>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64" name="Rectangle 531"/>
              <p:cNvSpPr/>
              <p:nvPr/>
            </p:nvSpPr>
            <p:spPr>
              <a:xfrm>
                <a:off x="5158" y="3537"/>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65" name="Rectangle 532"/>
              <p:cNvSpPr/>
              <p:nvPr/>
            </p:nvSpPr>
            <p:spPr>
              <a:xfrm>
                <a:off x="5261" y="344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66" name="Rectangle 533"/>
              <p:cNvSpPr/>
              <p:nvPr/>
            </p:nvSpPr>
            <p:spPr>
              <a:xfrm>
                <a:off x="5158" y="3445"/>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67" name="Rectangle 534"/>
              <p:cNvSpPr/>
              <p:nvPr/>
            </p:nvSpPr>
            <p:spPr>
              <a:xfrm>
                <a:off x="5261" y="335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68" name="Rectangle 535"/>
              <p:cNvSpPr/>
              <p:nvPr/>
            </p:nvSpPr>
            <p:spPr>
              <a:xfrm>
                <a:off x="5158" y="335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69" name="Rectangle 536"/>
              <p:cNvSpPr/>
              <p:nvPr/>
            </p:nvSpPr>
            <p:spPr>
              <a:xfrm>
                <a:off x="5261" y="261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70" name="Rectangle 537"/>
              <p:cNvSpPr/>
              <p:nvPr/>
            </p:nvSpPr>
            <p:spPr>
              <a:xfrm>
                <a:off x="5158" y="2612"/>
                <a:ext cx="103" cy="92"/>
              </a:xfrm>
              <a:prstGeom prst="rect">
                <a:avLst/>
              </a:prstGeom>
              <a:noFill/>
              <a:ln w="9525">
                <a:noFill/>
              </a:ln>
            </p:spPr>
            <p:txBody>
              <a:bodyPr wrap="none" anchor="ctr" anchorCtr="0"/>
              <a:p>
                <a:endParaRPr lang="zh-CN" altLang="en-US" dirty="0">
                  <a:latin typeface="Times New Roman" pitchFamily="18" charset="0"/>
                </a:endParaRPr>
              </a:p>
            </p:txBody>
          </p:sp>
          <p:sp>
            <p:nvSpPr>
              <p:cNvPr id="39071" name="Line 538"/>
              <p:cNvSpPr/>
              <p:nvPr/>
            </p:nvSpPr>
            <p:spPr>
              <a:xfrm>
                <a:off x="4530" y="2612"/>
                <a:ext cx="628" cy="1"/>
              </a:xfrm>
              <a:prstGeom prst="line">
                <a:avLst/>
              </a:prstGeom>
              <a:ln w="9525">
                <a:noFill/>
              </a:ln>
            </p:spPr>
          </p:sp>
          <p:sp>
            <p:nvSpPr>
              <p:cNvPr id="39072" name="Line 539"/>
              <p:cNvSpPr/>
              <p:nvPr/>
            </p:nvSpPr>
            <p:spPr>
              <a:xfrm>
                <a:off x="4530" y="4090"/>
                <a:ext cx="628" cy="1"/>
              </a:xfrm>
              <a:prstGeom prst="line">
                <a:avLst/>
              </a:prstGeom>
              <a:ln w="9525">
                <a:noFill/>
              </a:ln>
            </p:spPr>
          </p:sp>
          <p:sp>
            <p:nvSpPr>
              <p:cNvPr id="39073" name="Line 540"/>
              <p:cNvSpPr/>
              <p:nvPr/>
            </p:nvSpPr>
            <p:spPr>
              <a:xfrm>
                <a:off x="4530" y="2612"/>
                <a:ext cx="1" cy="92"/>
              </a:xfrm>
              <a:prstGeom prst="line">
                <a:avLst/>
              </a:prstGeom>
              <a:ln w="9525">
                <a:noFill/>
              </a:ln>
            </p:spPr>
          </p:sp>
          <p:sp>
            <p:nvSpPr>
              <p:cNvPr id="39074" name="Line 541"/>
              <p:cNvSpPr/>
              <p:nvPr/>
            </p:nvSpPr>
            <p:spPr>
              <a:xfrm>
                <a:off x="5261" y="2612"/>
                <a:ext cx="1" cy="1478"/>
              </a:xfrm>
              <a:prstGeom prst="line">
                <a:avLst/>
              </a:prstGeom>
              <a:ln w="6480" cap="flat" cmpd="sng">
                <a:solidFill>
                  <a:srgbClr val="808080"/>
                </a:solidFill>
                <a:prstDash val="solid"/>
                <a:miter/>
                <a:headEnd type="none" w="med" len="med"/>
                <a:tailEnd type="none" w="med" len="med"/>
              </a:ln>
            </p:spPr>
          </p:sp>
          <p:sp>
            <p:nvSpPr>
              <p:cNvPr id="39075" name="Line 542"/>
              <p:cNvSpPr/>
              <p:nvPr/>
            </p:nvSpPr>
            <p:spPr>
              <a:xfrm>
                <a:off x="5363" y="2612"/>
                <a:ext cx="1" cy="1478"/>
              </a:xfrm>
              <a:prstGeom prst="line">
                <a:avLst/>
              </a:prstGeom>
              <a:ln w="6480" cap="flat" cmpd="sng">
                <a:solidFill>
                  <a:srgbClr val="808080"/>
                </a:solidFill>
                <a:prstDash val="solid"/>
                <a:miter/>
                <a:headEnd type="none" w="med" len="med"/>
                <a:tailEnd type="none" w="med" len="med"/>
              </a:ln>
            </p:spPr>
          </p:sp>
          <p:sp>
            <p:nvSpPr>
              <p:cNvPr id="39076" name="Line 543"/>
              <p:cNvSpPr/>
              <p:nvPr/>
            </p:nvSpPr>
            <p:spPr>
              <a:xfrm>
                <a:off x="5466" y="2612"/>
                <a:ext cx="1" cy="1478"/>
              </a:xfrm>
              <a:prstGeom prst="line">
                <a:avLst/>
              </a:prstGeom>
              <a:ln w="6480" cap="flat" cmpd="sng">
                <a:solidFill>
                  <a:srgbClr val="808080"/>
                </a:solidFill>
                <a:prstDash val="solid"/>
                <a:miter/>
                <a:headEnd type="none" w="med" len="med"/>
                <a:tailEnd type="none" w="med" len="med"/>
              </a:ln>
            </p:spPr>
          </p:sp>
          <p:sp>
            <p:nvSpPr>
              <p:cNvPr id="39077" name="Line 544"/>
              <p:cNvSpPr/>
              <p:nvPr/>
            </p:nvSpPr>
            <p:spPr>
              <a:xfrm>
                <a:off x="5569" y="2612"/>
                <a:ext cx="1" cy="1478"/>
              </a:xfrm>
              <a:prstGeom prst="line">
                <a:avLst/>
              </a:prstGeom>
              <a:ln w="6480" cap="flat" cmpd="sng">
                <a:solidFill>
                  <a:srgbClr val="808080"/>
                </a:solidFill>
                <a:prstDash val="solid"/>
                <a:miter/>
                <a:headEnd type="none" w="med" len="med"/>
                <a:tailEnd type="none" w="med" len="med"/>
              </a:ln>
            </p:spPr>
          </p:sp>
          <p:sp>
            <p:nvSpPr>
              <p:cNvPr id="39078" name="Line 545"/>
              <p:cNvSpPr/>
              <p:nvPr/>
            </p:nvSpPr>
            <p:spPr>
              <a:xfrm>
                <a:off x="5672" y="2612"/>
                <a:ext cx="1" cy="1478"/>
              </a:xfrm>
              <a:prstGeom prst="line">
                <a:avLst/>
              </a:prstGeom>
              <a:ln w="6480" cap="flat" cmpd="sng">
                <a:solidFill>
                  <a:srgbClr val="808080"/>
                </a:solidFill>
                <a:prstDash val="solid"/>
                <a:miter/>
                <a:headEnd type="none" w="med" len="med"/>
                <a:tailEnd type="none" w="med" len="med"/>
              </a:ln>
            </p:spPr>
          </p:sp>
          <p:sp>
            <p:nvSpPr>
              <p:cNvPr id="39079" name="Line 546"/>
              <p:cNvSpPr/>
              <p:nvPr/>
            </p:nvSpPr>
            <p:spPr>
              <a:xfrm>
                <a:off x="5775" y="2612"/>
                <a:ext cx="1" cy="1478"/>
              </a:xfrm>
              <a:prstGeom prst="line">
                <a:avLst/>
              </a:prstGeom>
              <a:ln w="6480" cap="flat" cmpd="sng">
                <a:solidFill>
                  <a:srgbClr val="808080"/>
                </a:solidFill>
                <a:prstDash val="solid"/>
                <a:miter/>
                <a:headEnd type="none" w="med" len="med"/>
                <a:tailEnd type="none" w="med" len="med"/>
              </a:ln>
            </p:spPr>
          </p:sp>
          <p:sp>
            <p:nvSpPr>
              <p:cNvPr id="39080" name="Line 547"/>
              <p:cNvSpPr/>
              <p:nvPr/>
            </p:nvSpPr>
            <p:spPr>
              <a:xfrm>
                <a:off x="5877" y="2612"/>
                <a:ext cx="1" cy="1478"/>
              </a:xfrm>
              <a:prstGeom prst="line">
                <a:avLst/>
              </a:prstGeom>
              <a:ln w="6480" cap="flat" cmpd="sng">
                <a:solidFill>
                  <a:srgbClr val="808080"/>
                </a:solidFill>
                <a:prstDash val="solid"/>
                <a:miter/>
                <a:headEnd type="none" w="med" len="med"/>
                <a:tailEnd type="none" w="med" len="med"/>
              </a:ln>
            </p:spPr>
          </p:sp>
          <p:sp>
            <p:nvSpPr>
              <p:cNvPr id="39081" name="Line 548"/>
              <p:cNvSpPr/>
              <p:nvPr/>
            </p:nvSpPr>
            <p:spPr>
              <a:xfrm>
                <a:off x="5158" y="2704"/>
                <a:ext cx="822" cy="1"/>
              </a:xfrm>
              <a:prstGeom prst="line">
                <a:avLst/>
              </a:prstGeom>
              <a:ln w="6480" cap="flat" cmpd="sng">
                <a:solidFill>
                  <a:srgbClr val="808080"/>
                </a:solidFill>
                <a:prstDash val="solid"/>
                <a:miter/>
                <a:headEnd type="none" w="med" len="med"/>
                <a:tailEnd type="none" w="med" len="med"/>
              </a:ln>
            </p:spPr>
          </p:sp>
          <p:sp>
            <p:nvSpPr>
              <p:cNvPr id="39082" name="Line 549"/>
              <p:cNvSpPr/>
              <p:nvPr/>
            </p:nvSpPr>
            <p:spPr>
              <a:xfrm>
                <a:off x="5158" y="2796"/>
                <a:ext cx="822" cy="1"/>
              </a:xfrm>
              <a:prstGeom prst="line">
                <a:avLst/>
              </a:prstGeom>
              <a:ln w="6480" cap="flat" cmpd="sng">
                <a:solidFill>
                  <a:srgbClr val="808080"/>
                </a:solidFill>
                <a:prstDash val="solid"/>
                <a:miter/>
                <a:headEnd type="none" w="med" len="med"/>
                <a:tailEnd type="none" w="med" len="med"/>
              </a:ln>
            </p:spPr>
          </p:sp>
          <p:sp>
            <p:nvSpPr>
              <p:cNvPr id="39083" name="Line 550"/>
              <p:cNvSpPr/>
              <p:nvPr/>
            </p:nvSpPr>
            <p:spPr>
              <a:xfrm>
                <a:off x="5158" y="2888"/>
                <a:ext cx="822" cy="1"/>
              </a:xfrm>
              <a:prstGeom prst="line">
                <a:avLst/>
              </a:prstGeom>
              <a:ln w="6480" cap="flat" cmpd="sng">
                <a:solidFill>
                  <a:srgbClr val="808080"/>
                </a:solidFill>
                <a:prstDash val="solid"/>
                <a:miter/>
                <a:headEnd type="none" w="med" len="med"/>
                <a:tailEnd type="none" w="med" len="med"/>
              </a:ln>
            </p:spPr>
          </p:sp>
          <p:sp>
            <p:nvSpPr>
              <p:cNvPr id="39084" name="Line 551"/>
              <p:cNvSpPr/>
              <p:nvPr/>
            </p:nvSpPr>
            <p:spPr>
              <a:xfrm>
                <a:off x="5158" y="2980"/>
                <a:ext cx="822" cy="1"/>
              </a:xfrm>
              <a:prstGeom prst="line">
                <a:avLst/>
              </a:prstGeom>
              <a:ln w="6480" cap="flat" cmpd="sng">
                <a:solidFill>
                  <a:srgbClr val="808080"/>
                </a:solidFill>
                <a:prstDash val="solid"/>
                <a:miter/>
                <a:headEnd type="none" w="med" len="med"/>
                <a:tailEnd type="none" w="med" len="med"/>
              </a:ln>
            </p:spPr>
          </p:sp>
          <p:sp>
            <p:nvSpPr>
              <p:cNvPr id="39085" name="Line 552"/>
              <p:cNvSpPr/>
              <p:nvPr/>
            </p:nvSpPr>
            <p:spPr>
              <a:xfrm>
                <a:off x="5158" y="3073"/>
                <a:ext cx="822" cy="1"/>
              </a:xfrm>
              <a:prstGeom prst="line">
                <a:avLst/>
              </a:prstGeom>
              <a:ln w="6480" cap="flat" cmpd="sng">
                <a:solidFill>
                  <a:srgbClr val="808080"/>
                </a:solidFill>
                <a:prstDash val="solid"/>
                <a:miter/>
                <a:headEnd type="none" w="med" len="med"/>
                <a:tailEnd type="none" w="med" len="med"/>
              </a:ln>
            </p:spPr>
          </p:sp>
          <p:sp>
            <p:nvSpPr>
              <p:cNvPr id="39086" name="Line 553"/>
              <p:cNvSpPr/>
              <p:nvPr/>
            </p:nvSpPr>
            <p:spPr>
              <a:xfrm>
                <a:off x="5158" y="3165"/>
                <a:ext cx="822" cy="1"/>
              </a:xfrm>
              <a:prstGeom prst="line">
                <a:avLst/>
              </a:prstGeom>
              <a:ln w="6480" cap="flat" cmpd="sng">
                <a:solidFill>
                  <a:srgbClr val="808080"/>
                </a:solidFill>
                <a:prstDash val="solid"/>
                <a:miter/>
                <a:headEnd type="none" w="med" len="med"/>
                <a:tailEnd type="none" w="med" len="med"/>
              </a:ln>
            </p:spPr>
          </p:sp>
          <p:sp>
            <p:nvSpPr>
              <p:cNvPr id="39087" name="Line 554"/>
              <p:cNvSpPr/>
              <p:nvPr/>
            </p:nvSpPr>
            <p:spPr>
              <a:xfrm>
                <a:off x="5158" y="3260"/>
                <a:ext cx="822" cy="1"/>
              </a:xfrm>
              <a:prstGeom prst="line">
                <a:avLst/>
              </a:prstGeom>
              <a:ln w="6480" cap="flat" cmpd="sng">
                <a:solidFill>
                  <a:srgbClr val="808080"/>
                </a:solidFill>
                <a:prstDash val="solid"/>
                <a:miter/>
                <a:headEnd type="none" w="med" len="med"/>
                <a:tailEnd type="none" w="med" len="med"/>
              </a:ln>
            </p:spPr>
          </p:sp>
          <p:sp>
            <p:nvSpPr>
              <p:cNvPr id="39088" name="Line 555"/>
              <p:cNvSpPr/>
              <p:nvPr/>
            </p:nvSpPr>
            <p:spPr>
              <a:xfrm>
                <a:off x="5158" y="3352"/>
                <a:ext cx="822" cy="1"/>
              </a:xfrm>
              <a:prstGeom prst="line">
                <a:avLst/>
              </a:prstGeom>
              <a:ln w="6480" cap="flat" cmpd="sng">
                <a:solidFill>
                  <a:srgbClr val="808080"/>
                </a:solidFill>
                <a:prstDash val="solid"/>
                <a:miter/>
                <a:headEnd type="none" w="med" len="med"/>
                <a:tailEnd type="none" w="med" len="med"/>
              </a:ln>
            </p:spPr>
          </p:sp>
          <p:sp>
            <p:nvSpPr>
              <p:cNvPr id="39089" name="Line 556"/>
              <p:cNvSpPr/>
              <p:nvPr/>
            </p:nvSpPr>
            <p:spPr>
              <a:xfrm>
                <a:off x="5158" y="3445"/>
                <a:ext cx="822" cy="1"/>
              </a:xfrm>
              <a:prstGeom prst="line">
                <a:avLst/>
              </a:prstGeom>
              <a:ln w="6480" cap="flat" cmpd="sng">
                <a:solidFill>
                  <a:srgbClr val="808080"/>
                </a:solidFill>
                <a:prstDash val="solid"/>
                <a:miter/>
                <a:headEnd type="none" w="med" len="med"/>
                <a:tailEnd type="none" w="med" len="med"/>
              </a:ln>
            </p:spPr>
          </p:sp>
          <p:sp>
            <p:nvSpPr>
              <p:cNvPr id="39090" name="Line 557"/>
              <p:cNvSpPr/>
              <p:nvPr/>
            </p:nvSpPr>
            <p:spPr>
              <a:xfrm>
                <a:off x="5158" y="3537"/>
                <a:ext cx="822" cy="1"/>
              </a:xfrm>
              <a:prstGeom prst="line">
                <a:avLst/>
              </a:prstGeom>
              <a:ln w="6480" cap="flat" cmpd="sng">
                <a:solidFill>
                  <a:srgbClr val="808080"/>
                </a:solidFill>
                <a:prstDash val="solid"/>
                <a:miter/>
                <a:headEnd type="none" w="med" len="med"/>
                <a:tailEnd type="none" w="med" len="med"/>
              </a:ln>
            </p:spPr>
          </p:sp>
          <p:sp>
            <p:nvSpPr>
              <p:cNvPr id="39091" name="Line 558"/>
              <p:cNvSpPr/>
              <p:nvPr/>
            </p:nvSpPr>
            <p:spPr>
              <a:xfrm>
                <a:off x="5158" y="3629"/>
                <a:ext cx="822" cy="1"/>
              </a:xfrm>
              <a:prstGeom prst="line">
                <a:avLst/>
              </a:prstGeom>
              <a:ln w="6480" cap="flat" cmpd="sng">
                <a:solidFill>
                  <a:srgbClr val="808080"/>
                </a:solidFill>
                <a:prstDash val="solid"/>
                <a:miter/>
                <a:headEnd type="none" w="med" len="med"/>
                <a:tailEnd type="none" w="med" len="med"/>
              </a:ln>
            </p:spPr>
          </p:sp>
          <p:sp>
            <p:nvSpPr>
              <p:cNvPr id="39092" name="Line 559"/>
              <p:cNvSpPr/>
              <p:nvPr/>
            </p:nvSpPr>
            <p:spPr>
              <a:xfrm>
                <a:off x="5158" y="3721"/>
                <a:ext cx="822" cy="1"/>
              </a:xfrm>
              <a:prstGeom prst="line">
                <a:avLst/>
              </a:prstGeom>
              <a:ln w="6480" cap="flat" cmpd="sng">
                <a:solidFill>
                  <a:srgbClr val="808080"/>
                </a:solidFill>
                <a:prstDash val="solid"/>
                <a:miter/>
                <a:headEnd type="none" w="med" len="med"/>
                <a:tailEnd type="none" w="med" len="med"/>
              </a:ln>
            </p:spPr>
          </p:sp>
          <p:sp>
            <p:nvSpPr>
              <p:cNvPr id="39093" name="Line 560"/>
              <p:cNvSpPr/>
              <p:nvPr/>
            </p:nvSpPr>
            <p:spPr>
              <a:xfrm>
                <a:off x="5158" y="3813"/>
                <a:ext cx="822" cy="1"/>
              </a:xfrm>
              <a:prstGeom prst="line">
                <a:avLst/>
              </a:prstGeom>
              <a:ln w="6480" cap="flat" cmpd="sng">
                <a:solidFill>
                  <a:srgbClr val="808080"/>
                </a:solidFill>
                <a:prstDash val="solid"/>
                <a:miter/>
                <a:headEnd type="none" w="med" len="med"/>
                <a:tailEnd type="none" w="med" len="med"/>
              </a:ln>
            </p:spPr>
          </p:sp>
          <p:sp>
            <p:nvSpPr>
              <p:cNvPr id="39094" name="Line 561"/>
              <p:cNvSpPr/>
              <p:nvPr/>
            </p:nvSpPr>
            <p:spPr>
              <a:xfrm>
                <a:off x="5158" y="3905"/>
                <a:ext cx="822" cy="1"/>
              </a:xfrm>
              <a:prstGeom prst="line">
                <a:avLst/>
              </a:prstGeom>
              <a:ln w="6480" cap="flat" cmpd="sng">
                <a:solidFill>
                  <a:srgbClr val="808080"/>
                </a:solidFill>
                <a:prstDash val="solid"/>
                <a:miter/>
                <a:headEnd type="none" w="med" len="med"/>
                <a:tailEnd type="none" w="med" len="med"/>
              </a:ln>
            </p:spPr>
          </p:sp>
          <p:sp>
            <p:nvSpPr>
              <p:cNvPr id="39095" name="Line 562"/>
              <p:cNvSpPr/>
              <p:nvPr/>
            </p:nvSpPr>
            <p:spPr>
              <a:xfrm>
                <a:off x="5158" y="3998"/>
                <a:ext cx="822" cy="1"/>
              </a:xfrm>
              <a:prstGeom prst="line">
                <a:avLst/>
              </a:prstGeom>
              <a:ln w="6480" cap="flat" cmpd="sng">
                <a:solidFill>
                  <a:srgbClr val="808080"/>
                </a:solidFill>
                <a:prstDash val="solid"/>
                <a:miter/>
                <a:headEnd type="none" w="med" len="med"/>
                <a:tailEnd type="none" w="med" len="med"/>
              </a:ln>
            </p:spPr>
          </p:sp>
          <p:sp>
            <p:nvSpPr>
              <p:cNvPr id="39096" name="Line 563"/>
              <p:cNvSpPr/>
              <p:nvPr/>
            </p:nvSpPr>
            <p:spPr>
              <a:xfrm>
                <a:off x="4530" y="2704"/>
                <a:ext cx="1" cy="92"/>
              </a:xfrm>
              <a:prstGeom prst="line">
                <a:avLst/>
              </a:prstGeom>
              <a:ln w="9525">
                <a:noFill/>
              </a:ln>
            </p:spPr>
          </p:sp>
          <p:sp>
            <p:nvSpPr>
              <p:cNvPr id="39097" name="Line 564"/>
              <p:cNvSpPr/>
              <p:nvPr/>
            </p:nvSpPr>
            <p:spPr>
              <a:xfrm>
                <a:off x="4530" y="2796"/>
                <a:ext cx="1" cy="92"/>
              </a:xfrm>
              <a:prstGeom prst="line">
                <a:avLst/>
              </a:prstGeom>
              <a:ln w="9525">
                <a:noFill/>
              </a:ln>
            </p:spPr>
          </p:sp>
          <p:sp>
            <p:nvSpPr>
              <p:cNvPr id="39098" name="Line 565"/>
              <p:cNvSpPr/>
              <p:nvPr/>
            </p:nvSpPr>
            <p:spPr>
              <a:xfrm>
                <a:off x="4530" y="2888"/>
                <a:ext cx="1" cy="92"/>
              </a:xfrm>
              <a:prstGeom prst="line">
                <a:avLst/>
              </a:prstGeom>
              <a:ln w="9525">
                <a:noFill/>
              </a:ln>
            </p:spPr>
          </p:sp>
          <p:sp>
            <p:nvSpPr>
              <p:cNvPr id="39099" name="Line 566"/>
              <p:cNvSpPr/>
              <p:nvPr/>
            </p:nvSpPr>
            <p:spPr>
              <a:xfrm>
                <a:off x="4530" y="2980"/>
                <a:ext cx="1" cy="92"/>
              </a:xfrm>
              <a:prstGeom prst="line">
                <a:avLst/>
              </a:prstGeom>
              <a:ln w="9525">
                <a:noFill/>
              </a:ln>
            </p:spPr>
          </p:sp>
          <p:sp>
            <p:nvSpPr>
              <p:cNvPr id="39100" name="Line 567"/>
              <p:cNvSpPr/>
              <p:nvPr/>
            </p:nvSpPr>
            <p:spPr>
              <a:xfrm>
                <a:off x="4530" y="3073"/>
                <a:ext cx="1" cy="92"/>
              </a:xfrm>
              <a:prstGeom prst="line">
                <a:avLst/>
              </a:prstGeom>
              <a:ln w="9525">
                <a:noFill/>
              </a:ln>
            </p:spPr>
          </p:sp>
          <p:sp>
            <p:nvSpPr>
              <p:cNvPr id="39101" name="Line 568"/>
              <p:cNvSpPr/>
              <p:nvPr/>
            </p:nvSpPr>
            <p:spPr>
              <a:xfrm>
                <a:off x="4530" y="3165"/>
                <a:ext cx="1" cy="95"/>
              </a:xfrm>
              <a:prstGeom prst="line">
                <a:avLst/>
              </a:prstGeom>
              <a:ln w="9525">
                <a:noFill/>
              </a:ln>
            </p:spPr>
          </p:sp>
          <p:sp>
            <p:nvSpPr>
              <p:cNvPr id="39102" name="Line 569"/>
              <p:cNvSpPr/>
              <p:nvPr/>
            </p:nvSpPr>
            <p:spPr>
              <a:xfrm>
                <a:off x="4530" y="3260"/>
                <a:ext cx="1" cy="92"/>
              </a:xfrm>
              <a:prstGeom prst="line">
                <a:avLst/>
              </a:prstGeom>
              <a:ln w="9525">
                <a:noFill/>
              </a:ln>
            </p:spPr>
          </p:sp>
          <p:sp>
            <p:nvSpPr>
              <p:cNvPr id="39103" name="Line 570"/>
              <p:cNvSpPr/>
              <p:nvPr/>
            </p:nvSpPr>
            <p:spPr>
              <a:xfrm>
                <a:off x="4530" y="3352"/>
                <a:ext cx="1" cy="92"/>
              </a:xfrm>
              <a:prstGeom prst="line">
                <a:avLst/>
              </a:prstGeom>
              <a:ln w="9525">
                <a:noFill/>
              </a:ln>
            </p:spPr>
          </p:sp>
          <p:sp>
            <p:nvSpPr>
              <p:cNvPr id="39104" name="Line 571"/>
              <p:cNvSpPr/>
              <p:nvPr/>
            </p:nvSpPr>
            <p:spPr>
              <a:xfrm>
                <a:off x="4530" y="3445"/>
                <a:ext cx="1" cy="92"/>
              </a:xfrm>
              <a:prstGeom prst="line">
                <a:avLst/>
              </a:prstGeom>
              <a:ln w="9525">
                <a:noFill/>
              </a:ln>
            </p:spPr>
          </p:sp>
          <p:sp>
            <p:nvSpPr>
              <p:cNvPr id="39105" name="Line 572"/>
              <p:cNvSpPr/>
              <p:nvPr/>
            </p:nvSpPr>
            <p:spPr>
              <a:xfrm>
                <a:off x="4530" y="3537"/>
                <a:ext cx="1" cy="92"/>
              </a:xfrm>
              <a:prstGeom prst="line">
                <a:avLst/>
              </a:prstGeom>
              <a:ln w="9525">
                <a:noFill/>
              </a:ln>
            </p:spPr>
          </p:sp>
          <p:sp>
            <p:nvSpPr>
              <p:cNvPr id="39106" name="Line 573"/>
              <p:cNvSpPr/>
              <p:nvPr/>
            </p:nvSpPr>
            <p:spPr>
              <a:xfrm>
                <a:off x="4530" y="3629"/>
                <a:ext cx="1" cy="92"/>
              </a:xfrm>
              <a:prstGeom prst="line">
                <a:avLst/>
              </a:prstGeom>
              <a:ln w="9525">
                <a:noFill/>
              </a:ln>
            </p:spPr>
          </p:sp>
          <p:sp>
            <p:nvSpPr>
              <p:cNvPr id="39107" name="Line 574"/>
              <p:cNvSpPr/>
              <p:nvPr/>
            </p:nvSpPr>
            <p:spPr>
              <a:xfrm>
                <a:off x="4530" y="3721"/>
                <a:ext cx="1" cy="92"/>
              </a:xfrm>
              <a:prstGeom prst="line">
                <a:avLst/>
              </a:prstGeom>
              <a:ln w="9525">
                <a:noFill/>
              </a:ln>
            </p:spPr>
          </p:sp>
          <p:sp>
            <p:nvSpPr>
              <p:cNvPr id="39108" name="Line 575"/>
              <p:cNvSpPr/>
              <p:nvPr/>
            </p:nvSpPr>
            <p:spPr>
              <a:xfrm>
                <a:off x="4530" y="3813"/>
                <a:ext cx="1" cy="92"/>
              </a:xfrm>
              <a:prstGeom prst="line">
                <a:avLst/>
              </a:prstGeom>
              <a:ln w="9525">
                <a:noFill/>
              </a:ln>
            </p:spPr>
          </p:sp>
          <p:sp>
            <p:nvSpPr>
              <p:cNvPr id="39109" name="Line 576"/>
              <p:cNvSpPr/>
              <p:nvPr/>
            </p:nvSpPr>
            <p:spPr>
              <a:xfrm>
                <a:off x="4530" y="3905"/>
                <a:ext cx="1" cy="92"/>
              </a:xfrm>
              <a:prstGeom prst="line">
                <a:avLst/>
              </a:prstGeom>
              <a:ln w="9525">
                <a:noFill/>
              </a:ln>
            </p:spPr>
          </p:sp>
          <p:sp>
            <p:nvSpPr>
              <p:cNvPr id="39110" name="Line 577"/>
              <p:cNvSpPr/>
              <p:nvPr/>
            </p:nvSpPr>
            <p:spPr>
              <a:xfrm>
                <a:off x="4530" y="3998"/>
                <a:ext cx="1" cy="92"/>
              </a:xfrm>
              <a:prstGeom prst="line">
                <a:avLst/>
              </a:prstGeom>
              <a:ln w="9525">
                <a:noFill/>
              </a:ln>
            </p:spPr>
          </p:sp>
          <p:sp>
            <p:nvSpPr>
              <p:cNvPr id="39111" name="Line 578"/>
              <p:cNvSpPr/>
              <p:nvPr/>
            </p:nvSpPr>
            <p:spPr>
              <a:xfrm>
                <a:off x="5158" y="2612"/>
                <a:ext cx="822" cy="1"/>
              </a:xfrm>
              <a:prstGeom prst="line">
                <a:avLst/>
              </a:prstGeom>
              <a:ln w="12600" cap="flat" cmpd="sng">
                <a:solidFill>
                  <a:srgbClr val="000000"/>
                </a:solidFill>
                <a:prstDash val="solid"/>
                <a:miter/>
                <a:headEnd type="none" w="med" len="med"/>
                <a:tailEnd type="none" w="med" len="med"/>
              </a:ln>
            </p:spPr>
          </p:sp>
          <p:sp>
            <p:nvSpPr>
              <p:cNvPr id="39112" name="Line 579"/>
              <p:cNvSpPr/>
              <p:nvPr/>
            </p:nvSpPr>
            <p:spPr>
              <a:xfrm>
                <a:off x="5158" y="2612"/>
                <a:ext cx="1" cy="1478"/>
              </a:xfrm>
              <a:prstGeom prst="line">
                <a:avLst/>
              </a:prstGeom>
              <a:ln w="12600" cap="flat" cmpd="sng">
                <a:solidFill>
                  <a:srgbClr val="000000"/>
                </a:solidFill>
                <a:prstDash val="solid"/>
                <a:miter/>
                <a:headEnd type="none" w="med" len="med"/>
                <a:tailEnd type="none" w="med" len="med"/>
              </a:ln>
            </p:spPr>
          </p:sp>
          <p:sp>
            <p:nvSpPr>
              <p:cNvPr id="39113" name="Line 580"/>
              <p:cNvSpPr/>
              <p:nvPr/>
            </p:nvSpPr>
            <p:spPr>
              <a:xfrm>
                <a:off x="5980" y="2612"/>
                <a:ext cx="1" cy="1478"/>
              </a:xfrm>
              <a:prstGeom prst="line">
                <a:avLst/>
              </a:prstGeom>
              <a:ln w="12600" cap="flat" cmpd="sng">
                <a:solidFill>
                  <a:srgbClr val="000000"/>
                </a:solidFill>
                <a:prstDash val="solid"/>
                <a:miter/>
                <a:headEnd type="none" w="med" len="med"/>
                <a:tailEnd type="none" w="med" len="med"/>
              </a:ln>
            </p:spPr>
          </p:sp>
          <p:sp>
            <p:nvSpPr>
              <p:cNvPr id="39114" name="Line 581"/>
              <p:cNvSpPr/>
              <p:nvPr/>
            </p:nvSpPr>
            <p:spPr>
              <a:xfrm>
                <a:off x="5158" y="4090"/>
                <a:ext cx="822" cy="1"/>
              </a:xfrm>
              <a:prstGeom prst="line">
                <a:avLst/>
              </a:prstGeom>
              <a:ln w="12600" cap="flat" cmpd="sng">
                <a:solidFill>
                  <a:srgbClr val="000000"/>
                </a:solidFill>
                <a:prstDash val="solid"/>
                <a:miter/>
                <a:headEnd type="none" w="med" len="med"/>
                <a:tailEnd type="none" w="med" len="med"/>
              </a:ln>
            </p:spPr>
          </p:sp>
        </p:grpSp>
        <p:sp>
          <p:nvSpPr>
            <p:cNvPr id="38921" name="Line 582"/>
            <p:cNvSpPr/>
            <p:nvPr/>
          </p:nvSpPr>
          <p:spPr>
            <a:xfrm>
              <a:off x="4667" y="3435"/>
              <a:ext cx="454" cy="1"/>
            </a:xfrm>
            <a:prstGeom prst="line">
              <a:avLst/>
            </a:prstGeom>
            <a:ln w="19080" cap="flat" cmpd="sng">
              <a:solidFill>
                <a:srgbClr val="FF3300"/>
              </a:solidFill>
              <a:prstDash val="solid"/>
              <a:miter/>
              <a:headEnd type="none" w="med" len="med"/>
              <a:tailEnd type="triangle" w="med" len="med"/>
            </a:ln>
          </p:spPr>
        </p:sp>
        <p:sp>
          <p:nvSpPr>
            <p:cNvPr id="38922" name="Line 583"/>
            <p:cNvSpPr/>
            <p:nvPr/>
          </p:nvSpPr>
          <p:spPr>
            <a:xfrm>
              <a:off x="5623" y="2903"/>
              <a:ext cx="1" cy="434"/>
            </a:xfrm>
            <a:prstGeom prst="line">
              <a:avLst/>
            </a:prstGeom>
            <a:ln w="9360" cap="flat" cmpd="sng">
              <a:solidFill>
                <a:srgbClr val="FF3300"/>
              </a:solidFill>
              <a:prstDash val="solid"/>
              <a:miter/>
              <a:headEnd type="none" w="med" len="med"/>
              <a:tailEnd type="triangle" w="med" len="med"/>
            </a:ln>
          </p:spPr>
        </p:sp>
        <p:sp>
          <p:nvSpPr>
            <p:cNvPr id="38923" name="Line 584"/>
            <p:cNvSpPr/>
            <p:nvPr/>
          </p:nvSpPr>
          <p:spPr>
            <a:xfrm>
              <a:off x="5932" y="3164"/>
              <a:ext cx="1" cy="170"/>
            </a:xfrm>
            <a:prstGeom prst="line">
              <a:avLst/>
            </a:prstGeom>
            <a:ln w="9360" cap="flat" cmpd="sng">
              <a:solidFill>
                <a:srgbClr val="FF3300"/>
              </a:solidFill>
              <a:prstDash val="solid"/>
              <a:miter/>
              <a:headEnd type="none" w="med" len="med"/>
              <a:tailEnd type="triangle" w="med" len="med"/>
            </a:ln>
          </p:spPr>
        </p:sp>
        <p:sp>
          <p:nvSpPr>
            <p:cNvPr id="38924" name="Line 585"/>
            <p:cNvSpPr/>
            <p:nvPr/>
          </p:nvSpPr>
          <p:spPr>
            <a:xfrm>
              <a:off x="5731" y="2902"/>
              <a:ext cx="1" cy="434"/>
            </a:xfrm>
            <a:prstGeom prst="line">
              <a:avLst/>
            </a:prstGeom>
            <a:ln w="9360" cap="flat" cmpd="sng">
              <a:solidFill>
                <a:srgbClr val="FF3300"/>
              </a:solidFill>
              <a:prstDash val="solid"/>
              <a:miter/>
              <a:headEnd type="none" w="med" len="med"/>
              <a:tailEnd type="triangle" w="med" len="med"/>
            </a:ln>
          </p:spPr>
        </p:sp>
        <p:sp>
          <p:nvSpPr>
            <p:cNvPr id="38925" name="Line 586"/>
            <p:cNvSpPr/>
            <p:nvPr/>
          </p:nvSpPr>
          <p:spPr>
            <a:xfrm>
              <a:off x="5834" y="2900"/>
              <a:ext cx="1" cy="434"/>
            </a:xfrm>
            <a:prstGeom prst="line">
              <a:avLst/>
            </a:prstGeom>
            <a:ln w="9360" cap="flat" cmpd="sng">
              <a:solidFill>
                <a:srgbClr val="FF3300"/>
              </a:solidFill>
              <a:prstDash val="solid"/>
              <a:miter/>
              <a:headEnd type="none" w="med" len="med"/>
              <a:tailEnd type="triangle" w="med" len="med"/>
            </a:ln>
          </p:spPr>
        </p:sp>
        <p:sp>
          <p:nvSpPr>
            <p:cNvPr id="38926" name="AutoShape 587"/>
            <p:cNvSpPr/>
            <p:nvPr/>
          </p:nvSpPr>
          <p:spPr>
            <a:xfrm>
              <a:off x="6133" y="2972"/>
              <a:ext cx="314" cy="297"/>
            </a:xfrm>
            <a:prstGeom prst="cloudCallout">
              <a:avLst>
                <a:gd name="adj1" fmla="val -186986"/>
                <a:gd name="adj2" fmla="val 39699"/>
              </a:avLst>
            </a:prstGeom>
            <a:noFill/>
            <a:ln w="9360" cap="flat" cmpd="sng">
              <a:solidFill>
                <a:srgbClr val="FF00FF"/>
              </a:solidFill>
              <a:prstDash val="solid"/>
              <a:miter/>
              <a:headEnd type="none" w="med" len="med"/>
              <a:tailEnd type="none" w="med" len="med"/>
            </a:ln>
          </p:spPr>
          <p:txBody>
            <a:bodyPr lIns="18000" tIns="10800" rIns="18000" bIns="10800" anchor="b" anchorCtr="0"/>
            <a:p>
              <a:pPr algn="ctr" defTabSz="265430" eaLnBrk="0" hangingPunct="0">
                <a:lnSpc>
                  <a:spcPct val="94000"/>
                </a:lnSpc>
                <a:buFont typeface="Arial" panose="02080604020202020204" pitchFamily="34" charset="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dirty="0">
                  <a:solidFill>
                    <a:srgbClr val="FE3C32"/>
                  </a:solidFill>
                  <a:latin typeface="Arial" panose="02080604020202020204" pitchFamily="34" charset="0"/>
                  <a:ea typeface="黑体" panose="02000500000000000000" pitchFamily="49" charset="-122"/>
                </a:rPr>
                <a:t>?</a:t>
              </a:r>
              <a:endParaRPr lang="en-GB" altLang="zh-CN" sz="800" dirty="0">
                <a:solidFill>
                  <a:srgbClr val="FE3C32"/>
                </a:solidFill>
                <a:latin typeface="Arial" panose="02080604020202020204" pitchFamily="34" charset="0"/>
                <a:ea typeface="黑体" panose="02000500000000000000" pitchFamily="49" charset="-122"/>
              </a:endParaRPr>
            </a:p>
          </p:txBody>
        </p:sp>
      </p:gr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6148" name="Rectangle 1"/>
          <p:cNvSpPr/>
          <p:nvPr>
            <p:ph type="title"/>
          </p:nvPr>
        </p:nvSpPr>
        <p:spPr>
          <a:xfrm>
            <a:off x="879475" y="0"/>
            <a:ext cx="10361613"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en-GB" altLang="zh-CN" dirty="0">
                <a:ea typeface="宋体" panose="02000500000000000000" pitchFamily="2" charset="-122"/>
              </a:rPr>
              <a:t>Load Speculation</a:t>
            </a:r>
            <a:r>
              <a:rPr lang="zh-CN" altLang="en-GB" dirty="0"/>
              <a:t>引起的性能提高</a:t>
            </a:r>
            <a:endParaRPr lang="zh-CN" altLang="en-GB" dirty="0"/>
          </a:p>
        </p:txBody>
      </p:sp>
      <p:grpSp>
        <p:nvGrpSpPr>
          <p:cNvPr id="6149" name="Group 10"/>
          <p:cNvGrpSpPr/>
          <p:nvPr/>
        </p:nvGrpSpPr>
        <p:grpSpPr>
          <a:xfrm>
            <a:off x="1644650" y="1844675"/>
            <a:ext cx="8863013" cy="4645025"/>
            <a:chOff x="1464" y="2830"/>
            <a:chExt cx="3545" cy="1490"/>
          </a:xfrm>
        </p:grpSpPr>
        <p:grpSp>
          <p:nvGrpSpPr>
            <p:cNvPr id="6151" name="Group 11"/>
            <p:cNvGrpSpPr>
              <a:grpSpLocks noChangeAspect="1"/>
            </p:cNvGrpSpPr>
            <p:nvPr/>
          </p:nvGrpSpPr>
          <p:grpSpPr>
            <a:xfrm>
              <a:off x="1464" y="2830"/>
              <a:ext cx="3545" cy="1490"/>
              <a:chOff x="2525" y="3436"/>
              <a:chExt cx="5785" cy="2437"/>
            </a:xfrm>
          </p:grpSpPr>
          <p:sp>
            <p:nvSpPr>
              <p:cNvPr id="6152" name="AutoShape 12"/>
              <p:cNvSpPr>
                <a:spLocks noChangeAspect="1" noTextEdit="1"/>
              </p:cNvSpPr>
              <p:nvPr/>
            </p:nvSpPr>
            <p:spPr>
              <a:xfrm>
                <a:off x="2525" y="3436"/>
                <a:ext cx="5785" cy="2437"/>
              </a:xfrm>
              <a:prstGeom prst="rect">
                <a:avLst/>
              </a:prstGeom>
              <a:noFill/>
              <a:ln w="9525">
                <a:noFill/>
              </a:ln>
            </p:spPr>
            <p:txBody>
              <a:bodyPr/>
              <a:p>
                <a:endParaRPr lang="zh-CN" altLang="en-US"/>
              </a:p>
            </p:txBody>
          </p:sp>
          <p:sp>
            <p:nvSpPr>
              <p:cNvPr id="6153" name="Text Box 13"/>
              <p:cNvSpPr txBox="1"/>
              <p:nvPr/>
            </p:nvSpPr>
            <p:spPr>
              <a:xfrm>
                <a:off x="2817" y="3498"/>
                <a:ext cx="5219" cy="1990"/>
              </a:xfrm>
              <a:prstGeom prst="rect">
                <a:avLst/>
              </a:prstGeom>
              <a:solidFill>
                <a:srgbClr val="FFFFFF"/>
              </a:solidFill>
              <a:ln w="9525" cap="flat" cmpd="sng">
                <a:solidFill>
                  <a:srgbClr val="000000"/>
                </a:solidFill>
                <a:prstDash val="solid"/>
                <a:miter/>
                <a:headEnd type="none" w="med" len="med"/>
                <a:tailEnd type="none" w="med" len="med"/>
              </a:ln>
            </p:spPr>
            <p:txBody>
              <a:bodyPr wrap="none"/>
              <a:p>
                <a:endParaRPr lang="zh-CN" altLang="en-US" dirty="0">
                  <a:latin typeface="Times New Roman" pitchFamily="18" charset="0"/>
                </a:endParaRPr>
              </a:p>
            </p:txBody>
          </p:sp>
          <p:sp>
            <p:nvSpPr>
              <p:cNvPr id="6154" name="Text Box 14"/>
              <p:cNvSpPr txBox="1"/>
              <p:nvPr/>
            </p:nvSpPr>
            <p:spPr>
              <a:xfrm>
                <a:off x="3033" y="5519"/>
                <a:ext cx="4799" cy="354"/>
              </a:xfrm>
              <a:prstGeom prst="rect">
                <a:avLst/>
              </a:prstGeom>
              <a:noFill/>
              <a:ln w="9525">
                <a:noFill/>
              </a:ln>
            </p:spPr>
            <p:txBody>
              <a:bodyPr/>
              <a:p>
                <a:pPr algn="ctr">
                  <a:buSzTx/>
                  <a:buFontTx/>
                </a:pPr>
                <a:r>
                  <a:rPr lang="en-US" altLang="zh-CN" sz="1000" dirty="0">
                    <a:solidFill>
                      <a:schemeClr val="tx1"/>
                    </a:solidFill>
                    <a:latin typeface="Times New Roman" pitchFamily="18" charset="0"/>
                  </a:rPr>
                  <a:t>Figure 8. Performance improvement of Load Speculation Optimization</a:t>
                </a:r>
                <a:endParaRPr lang="en-US" altLang="zh-CN" dirty="0">
                  <a:solidFill>
                    <a:schemeClr val="tx1"/>
                  </a:solidFill>
                  <a:latin typeface="Times New Roman" pitchFamily="18" charset="0"/>
                </a:endParaRPr>
              </a:p>
            </p:txBody>
          </p:sp>
        </p:grpSp>
        <p:graphicFrame>
          <p:nvGraphicFramePr>
            <p:cNvPr id="6146" name="Object 15"/>
            <p:cNvGraphicFramePr/>
            <p:nvPr/>
          </p:nvGraphicFramePr>
          <p:xfrm>
            <a:off x="1972" y="2918"/>
            <a:ext cx="2592" cy="1068"/>
          </p:xfrm>
          <a:graphic>
            <a:graphicData uri="http://schemas.openxmlformats.org/presentationml/2006/ole">
              <mc:AlternateContent xmlns:mc="http://schemas.openxmlformats.org/markup-compatibility/2006">
                <mc:Choice xmlns:v="urn:schemas-microsoft-com:vml" Requires="v">
                  <p:oleObj spid="_x0000_s3084" name="" r:id="rId1" imgW="4124325" imgH="1704975" progId="Excel.Chart.8">
                    <p:embed/>
                  </p:oleObj>
                </mc:Choice>
                <mc:Fallback>
                  <p:oleObj name="" r:id="rId1" imgW="4124325" imgH="1704975" progId="Excel.Chart.8">
                    <p:embed/>
                    <p:pic>
                      <p:nvPicPr>
                        <p:cNvPr id="0" name="图片 3083"/>
                        <p:cNvPicPr/>
                        <p:nvPr/>
                      </p:nvPicPr>
                      <p:blipFill>
                        <a:blip r:embed="rId2"/>
                        <a:stretch>
                          <a:fillRect/>
                        </a:stretch>
                      </p:blipFill>
                      <p:spPr>
                        <a:xfrm>
                          <a:off x="1972" y="2918"/>
                          <a:ext cx="2592" cy="1068"/>
                        </a:xfrm>
                        <a:prstGeom prst="rect">
                          <a:avLst/>
                        </a:prstGeom>
                        <a:noFill/>
                        <a:ln w="38100">
                          <a:noFill/>
                          <a:miter/>
                        </a:ln>
                      </p:spPr>
                    </p:pic>
                  </p:oleObj>
                </mc:Fallback>
              </mc:AlternateContent>
            </a:graphicData>
          </a:graphic>
        </p:graphicFrame>
      </p:grpSp>
      <p:sp>
        <p:nvSpPr>
          <p:cNvPr id="6150" name="内容占位符 10"/>
          <p:cNvSpPr>
            <a:spLocks noGrp="1"/>
          </p:cNvSpPr>
          <p:nvPr>
            <p:ph idx="1"/>
          </p:nvPr>
        </p:nvSpPr>
        <p:spPr>
          <a:xfrm>
            <a:off x="914400" y="1717675"/>
            <a:ext cx="10358438" cy="1098550"/>
          </a:xfrm>
        </p:spPr>
        <p:txBody>
          <a:bodyPr vert="horz" wrap="square" lIns="90000" tIns="46800" rIns="90000" bIns="46800" anchor="t" anchorCtr="0"/>
          <a:p>
            <a:pPr defTabSz="265430">
              <a:spcBef>
                <a:spcPct val="0"/>
              </a:spcBef>
              <a:buSzPct val="100000"/>
            </a:pPr>
            <a:endParaRPr lang="zh-CN" altLang="en-US" dirty="0">
              <a:latin typeface="+mn-lt"/>
              <a:ea typeface="+mn-ea"/>
              <a:cs typeface="+mn-cs"/>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4"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7175" name="Rectangle 1"/>
          <p:cNvSpPr/>
          <p:nvPr>
            <p:ph type="title"/>
          </p:nvPr>
        </p:nvSpPr>
        <p:spPr>
          <a:xfrm>
            <a:off x="858838" y="53975"/>
            <a:ext cx="10363200" cy="1068388"/>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sz="3600" dirty="0"/>
              <a:t>故事</a:t>
            </a:r>
            <a:r>
              <a:rPr lang="en-GB" altLang="zh-CN" sz="3600" dirty="0"/>
              <a:t>9: </a:t>
            </a:r>
            <a:r>
              <a:rPr lang="zh-CN" altLang="en-GB" sz="3600" dirty="0"/>
              <a:t>降低</a:t>
            </a:r>
            <a:r>
              <a:rPr lang="en-US" altLang="zh-CN" sz="3600" dirty="0"/>
              <a:t>Store</a:t>
            </a:r>
            <a:r>
              <a:rPr lang="zh-CN" altLang="en-US" sz="3600" dirty="0"/>
              <a:t>失效开销</a:t>
            </a:r>
            <a:endParaRPr lang="en-GB" altLang="zh-CN" sz="3600" dirty="0"/>
          </a:p>
        </p:txBody>
      </p:sp>
      <p:sp>
        <p:nvSpPr>
          <p:cNvPr id="7176" name="Rectangle 2"/>
          <p:cNvSpPr/>
          <p:nvPr>
            <p:ph idx="1"/>
          </p:nvPr>
        </p:nvSpPr>
        <p:spPr>
          <a:xfrm>
            <a:off x="296863" y="1004888"/>
            <a:ext cx="11576050" cy="2135187"/>
          </a:xfrm>
        </p:spPr>
        <p:txBody>
          <a:bodyPr vert="horz" wrap="square" lIns="90000" tIns="46800" rIns="90000" bIns="46800" anchor="t" anchorCtr="0"/>
          <a:p>
            <a:pPr defTabSz="265430" eaLnBrk="1" hangingPunct="1">
              <a:spcBef>
                <a:spcPts val="6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2000" dirty="0">
                <a:cs typeface="宋体" panose="02000500000000000000" pitchFamily="2" charset="-122"/>
              </a:rPr>
              <a:t>龙芯</a:t>
            </a:r>
            <a:r>
              <a:rPr lang="en-GB" altLang="zh-CN" sz="2000" dirty="0">
                <a:cs typeface="宋体" panose="02000500000000000000" pitchFamily="2" charset="-122"/>
              </a:rPr>
              <a:t>2</a:t>
            </a:r>
            <a:r>
              <a:rPr lang="zh-CN" altLang="en-GB" sz="2000" dirty="0">
                <a:cs typeface="宋体" panose="02000500000000000000" pitchFamily="2" charset="-122"/>
              </a:rPr>
              <a:t>号实现写回（</a:t>
            </a:r>
            <a:r>
              <a:rPr lang="en-GB" altLang="zh-CN" sz="2000" dirty="0">
                <a:cs typeface="宋体" panose="02000500000000000000" pitchFamily="2" charset="-122"/>
              </a:rPr>
              <a:t>Write-Back</a:t>
            </a:r>
            <a:r>
              <a:rPr lang="zh-CN" altLang="en-GB" sz="2000" dirty="0">
                <a:cs typeface="宋体" panose="02000500000000000000" pitchFamily="2" charset="-122"/>
              </a:rPr>
              <a:t>）式</a:t>
            </a:r>
            <a:r>
              <a:rPr lang="en-GB" altLang="zh-CN" sz="2000" dirty="0">
                <a:cs typeface="宋体" panose="02000500000000000000" pitchFamily="2" charset="-122"/>
              </a:rPr>
              <a:t>Cache</a:t>
            </a:r>
            <a:endParaRPr lang="en-GB" altLang="zh-CN" sz="2000" dirty="0">
              <a:cs typeface="宋体" panose="02000500000000000000" pitchFamily="2" charset="-122"/>
            </a:endParaRPr>
          </a:p>
          <a:p>
            <a:pPr lvl="1" defTabSz="265430" eaLnBrk="1" hangingPunct="1">
              <a:spcBef>
                <a:spcPts val="5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访问失效时，从下一级存储取回失效块再进行读写</a:t>
            </a:r>
            <a:endParaRPr lang="zh-CN" altLang="en-GB" sz="1600" dirty="0">
              <a:cs typeface="宋体" panose="02000500000000000000" pitchFamily="2" charset="-122"/>
            </a:endParaRPr>
          </a:p>
          <a:p>
            <a:pPr lvl="1" defTabSz="265430" eaLnBrk="1" hangingPunct="1">
              <a:spcBef>
                <a:spcPts val="5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研究表明，对于写失效，多数情况下取回的</a:t>
            </a:r>
            <a:r>
              <a:rPr lang="en-GB" altLang="zh-CN" sz="1600" dirty="0">
                <a:cs typeface="宋体" panose="02000500000000000000" pitchFamily="2" charset="-122"/>
              </a:rPr>
              <a:t>Cache</a:t>
            </a:r>
            <a:r>
              <a:rPr lang="zh-CN" altLang="en-GB" sz="1600" dirty="0">
                <a:cs typeface="宋体" panose="02000500000000000000" pitchFamily="2" charset="-122"/>
              </a:rPr>
              <a:t>块会被完全覆盖</a:t>
            </a:r>
            <a:endParaRPr lang="zh-CN" altLang="en-GB" sz="1600" dirty="0">
              <a:cs typeface="宋体" panose="02000500000000000000" pitchFamily="2" charset="-122"/>
            </a:endParaRPr>
          </a:p>
          <a:p>
            <a:pPr lvl="1" defTabSz="265430" eaLnBrk="1" hangingPunct="1">
              <a:spcBef>
                <a:spcPts val="5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实现</a:t>
            </a:r>
            <a:r>
              <a:rPr lang="en-GB" altLang="zh-CN" sz="1600" dirty="0">
                <a:cs typeface="宋体" panose="02000500000000000000" pitchFamily="2" charset="-122"/>
              </a:rPr>
              <a:t>Store-Fill-Buffer</a:t>
            </a:r>
            <a:r>
              <a:rPr lang="zh-CN" altLang="en-GB" sz="1600" dirty="0">
                <a:cs typeface="宋体" panose="02000500000000000000" pitchFamily="2" charset="-122"/>
              </a:rPr>
              <a:t>优化，直接在失效队列进行拼接</a:t>
            </a:r>
            <a:endParaRPr lang="zh-CN" altLang="en-GB" sz="1600" dirty="0">
              <a:cs typeface="宋体" panose="02000500000000000000" pitchFamily="2" charset="-122"/>
            </a:endParaRPr>
          </a:p>
        </p:txBody>
      </p:sp>
      <p:sp>
        <p:nvSpPr>
          <p:cNvPr id="7177" name="Rectangle 3"/>
          <p:cNvSpPr/>
          <p:nvPr/>
        </p:nvSpPr>
        <p:spPr>
          <a:xfrm>
            <a:off x="6096000" y="319088"/>
            <a:ext cx="1588" cy="1587"/>
          </a:xfrm>
          <a:prstGeom prst="rect">
            <a:avLst/>
          </a:prstGeom>
          <a:solidFill>
            <a:srgbClr val="00CC99"/>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7178" name="Rectangle 4"/>
          <p:cNvSpPr/>
          <p:nvPr/>
        </p:nvSpPr>
        <p:spPr>
          <a:xfrm>
            <a:off x="6096000" y="1585913"/>
            <a:ext cx="1588" cy="1587"/>
          </a:xfrm>
          <a:prstGeom prst="rect">
            <a:avLst/>
          </a:prstGeom>
          <a:solidFill>
            <a:srgbClr val="00CC99"/>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7179" name="Rectangle 20"/>
          <p:cNvSpPr/>
          <p:nvPr/>
        </p:nvSpPr>
        <p:spPr>
          <a:xfrm>
            <a:off x="6234113" y="29194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endParaRPr lang="zh-CN" altLang="en-US" dirty="0">
              <a:latin typeface="Times New Roman" pitchFamily="18" charset="0"/>
            </a:endParaRPr>
          </a:p>
        </p:txBody>
      </p:sp>
      <p:grpSp>
        <p:nvGrpSpPr>
          <p:cNvPr id="7180" name="Group 21"/>
          <p:cNvGrpSpPr/>
          <p:nvPr/>
        </p:nvGrpSpPr>
        <p:grpSpPr>
          <a:xfrm>
            <a:off x="803275" y="3321050"/>
            <a:ext cx="9704388" cy="3276600"/>
            <a:chOff x="-14" y="2672"/>
            <a:chExt cx="3512" cy="2305"/>
          </a:xfrm>
        </p:grpSpPr>
        <p:grpSp>
          <p:nvGrpSpPr>
            <p:cNvPr id="7181" name="Group 22"/>
            <p:cNvGrpSpPr>
              <a:grpSpLocks noChangeAspect="1"/>
            </p:cNvGrpSpPr>
            <p:nvPr/>
          </p:nvGrpSpPr>
          <p:grpSpPr>
            <a:xfrm>
              <a:off x="-14" y="2672"/>
              <a:ext cx="3512" cy="2305"/>
              <a:chOff x="1633" y="5717"/>
              <a:chExt cx="8780" cy="5763"/>
            </a:xfrm>
          </p:grpSpPr>
          <p:sp>
            <p:nvSpPr>
              <p:cNvPr id="7183" name="AutoShape 23"/>
              <p:cNvSpPr>
                <a:spLocks noChangeAspect="1" noTextEdit="1"/>
              </p:cNvSpPr>
              <p:nvPr/>
            </p:nvSpPr>
            <p:spPr>
              <a:xfrm>
                <a:off x="1633" y="5717"/>
                <a:ext cx="8780" cy="5700"/>
              </a:xfrm>
              <a:prstGeom prst="rect">
                <a:avLst/>
              </a:prstGeom>
              <a:noFill/>
              <a:ln w="9525">
                <a:noFill/>
              </a:ln>
            </p:spPr>
            <p:txBody>
              <a:bodyPr/>
              <a:p>
                <a:endParaRPr lang="zh-CN" altLang="en-US"/>
              </a:p>
            </p:txBody>
          </p:sp>
          <p:sp>
            <p:nvSpPr>
              <p:cNvPr id="7184" name="Text Box 24"/>
              <p:cNvSpPr txBox="1"/>
              <p:nvPr/>
            </p:nvSpPr>
            <p:spPr>
              <a:xfrm>
                <a:off x="2132" y="5780"/>
                <a:ext cx="3680" cy="2560"/>
              </a:xfrm>
              <a:prstGeom prst="rect">
                <a:avLst/>
              </a:prstGeom>
              <a:solidFill>
                <a:srgbClr val="FFFFFF"/>
              </a:solidFill>
              <a:ln w="9525" cap="flat" cmpd="sng">
                <a:solidFill>
                  <a:srgbClr val="000000"/>
                </a:solidFill>
                <a:prstDash val="solid"/>
                <a:miter/>
                <a:headEnd type="none" w="med" len="med"/>
                <a:tailEnd type="none" w="med" len="med"/>
              </a:ln>
            </p:spPr>
            <p:txBody>
              <a:bodyPr/>
              <a:p>
                <a:pPr algn="ctr">
                  <a:buSzTx/>
                  <a:buFontTx/>
                </a:pPr>
                <a:r>
                  <a:rPr lang="en-US" altLang="zh-CN" sz="1000" dirty="0">
                    <a:solidFill>
                      <a:schemeClr val="tx1"/>
                    </a:solidFill>
                    <a:latin typeface="Times New Roman" pitchFamily="18" charset="0"/>
                  </a:rPr>
                  <a:t>(a) Write misses every 1000 instructions</a:t>
                </a:r>
                <a:endParaRPr lang="en-US" altLang="zh-CN" sz="3600" dirty="0">
                  <a:solidFill>
                    <a:schemeClr val="tx1"/>
                  </a:solidFill>
                  <a:latin typeface="Times New Roman" pitchFamily="18" charset="0"/>
                </a:endParaRPr>
              </a:p>
            </p:txBody>
          </p:sp>
          <p:sp>
            <p:nvSpPr>
              <p:cNvPr id="7185" name="Text Box 25"/>
              <p:cNvSpPr txBox="1"/>
              <p:nvPr/>
            </p:nvSpPr>
            <p:spPr>
              <a:xfrm>
                <a:off x="6292" y="5801"/>
                <a:ext cx="3693" cy="2559"/>
              </a:xfrm>
              <a:prstGeom prst="rect">
                <a:avLst/>
              </a:prstGeom>
              <a:solidFill>
                <a:srgbClr val="FFFFFF"/>
              </a:solidFill>
              <a:ln w="9525" cap="flat" cmpd="sng">
                <a:solidFill>
                  <a:srgbClr val="000000"/>
                </a:solidFill>
                <a:prstDash val="solid"/>
                <a:miter/>
                <a:headEnd type="none" w="med" len="med"/>
                <a:tailEnd type="none" w="med" len="med"/>
              </a:ln>
            </p:spPr>
            <p:txBody>
              <a:bodyPr/>
              <a:p>
                <a:pPr algn="ctr">
                  <a:buSzTx/>
                  <a:buFontTx/>
                </a:pPr>
                <a:r>
                  <a:rPr lang="en-US" altLang="zh-CN" sz="1000" dirty="0">
                    <a:solidFill>
                      <a:schemeClr val="tx1"/>
                    </a:solidFill>
                    <a:latin typeface="Times New Roman" pitchFamily="18" charset="0"/>
                  </a:rPr>
                  <a:t>(b) Percentage of full write blocks in write miss blocks</a:t>
                </a:r>
                <a:endParaRPr lang="en-US" altLang="zh-CN" sz="3600" dirty="0">
                  <a:solidFill>
                    <a:schemeClr val="tx1"/>
                  </a:solidFill>
                  <a:latin typeface="Times New Roman" pitchFamily="18" charset="0"/>
                </a:endParaRPr>
              </a:p>
            </p:txBody>
          </p:sp>
          <p:sp>
            <p:nvSpPr>
              <p:cNvPr id="7186" name="Text Box 26"/>
              <p:cNvSpPr txBox="1"/>
              <p:nvPr/>
            </p:nvSpPr>
            <p:spPr>
              <a:xfrm>
                <a:off x="2132" y="8480"/>
                <a:ext cx="3681" cy="2580"/>
              </a:xfrm>
              <a:prstGeom prst="rect">
                <a:avLst/>
              </a:prstGeom>
              <a:solidFill>
                <a:srgbClr val="FFFFFF"/>
              </a:solidFill>
              <a:ln w="9525" cap="flat" cmpd="sng">
                <a:solidFill>
                  <a:srgbClr val="000000"/>
                </a:solidFill>
                <a:prstDash val="solid"/>
                <a:miter/>
                <a:headEnd type="none" w="med" len="med"/>
                <a:tailEnd type="none" w="med" len="med"/>
              </a:ln>
            </p:spPr>
            <p:txBody>
              <a:bodyPr/>
              <a:p>
                <a:pPr>
                  <a:buSzTx/>
                  <a:buFontTx/>
                </a:pPr>
                <a:r>
                  <a:rPr lang="en-US" altLang="zh-CN" sz="1000" dirty="0">
                    <a:solidFill>
                      <a:schemeClr val="tx1"/>
                    </a:solidFill>
                    <a:latin typeface="Times New Roman" pitchFamily="18" charset="0"/>
                  </a:rPr>
                  <a:t>(c) Number of collected full write blocks per 1k insts.</a:t>
                </a:r>
                <a:endParaRPr lang="en-US" altLang="zh-CN" sz="3600" dirty="0">
                  <a:solidFill>
                    <a:schemeClr val="tx1"/>
                  </a:solidFill>
                  <a:latin typeface="Times New Roman" pitchFamily="18" charset="0"/>
                </a:endParaRPr>
              </a:p>
            </p:txBody>
          </p:sp>
          <p:sp>
            <p:nvSpPr>
              <p:cNvPr id="7187" name="Text Box 27"/>
              <p:cNvSpPr txBox="1"/>
              <p:nvPr/>
            </p:nvSpPr>
            <p:spPr>
              <a:xfrm>
                <a:off x="6292" y="8480"/>
                <a:ext cx="3700" cy="2560"/>
              </a:xfrm>
              <a:prstGeom prst="rect">
                <a:avLst/>
              </a:prstGeom>
              <a:solidFill>
                <a:srgbClr val="FFFFFF"/>
              </a:solidFill>
              <a:ln w="9525" cap="flat" cmpd="sng">
                <a:solidFill>
                  <a:srgbClr val="000000"/>
                </a:solidFill>
                <a:prstDash val="solid"/>
                <a:miter/>
                <a:headEnd type="none" w="med" len="med"/>
                <a:tailEnd type="none" w="med" len="med"/>
              </a:ln>
            </p:spPr>
            <p:txBody>
              <a:bodyPr/>
              <a:p>
                <a:pPr algn="ctr">
                  <a:buSzTx/>
                  <a:buFontTx/>
                </a:pPr>
                <a:r>
                  <a:rPr lang="en-US" altLang="zh-CN" sz="1000" dirty="0">
                    <a:solidFill>
                      <a:schemeClr val="tx1"/>
                    </a:solidFill>
                    <a:latin typeface="Times New Roman" pitchFamily="18" charset="0"/>
                  </a:rPr>
                  <a:t>(d) IPC increases of the Store Fill Buffer strategy</a:t>
                </a:r>
                <a:endParaRPr lang="en-US" altLang="zh-CN" sz="3600" dirty="0">
                  <a:solidFill>
                    <a:schemeClr val="tx1"/>
                  </a:solidFill>
                  <a:latin typeface="Times New Roman" pitchFamily="18" charset="0"/>
                </a:endParaRPr>
              </a:p>
            </p:txBody>
          </p:sp>
          <p:sp>
            <p:nvSpPr>
              <p:cNvPr id="7188" name="Text Box 28"/>
              <p:cNvSpPr txBox="1"/>
              <p:nvPr/>
            </p:nvSpPr>
            <p:spPr>
              <a:xfrm>
                <a:off x="4372" y="11060"/>
                <a:ext cx="3820" cy="420"/>
              </a:xfrm>
              <a:prstGeom prst="rect">
                <a:avLst/>
              </a:prstGeom>
              <a:noFill/>
              <a:ln w="9525">
                <a:noFill/>
              </a:ln>
            </p:spPr>
            <p:txBody>
              <a:bodyPr/>
              <a:p>
                <a:pPr algn="ctr">
                  <a:buSzTx/>
                  <a:buFontTx/>
                </a:pPr>
                <a:r>
                  <a:rPr lang="en-US" altLang="zh-CN" sz="1600" dirty="0">
                    <a:solidFill>
                      <a:schemeClr val="tx1"/>
                    </a:solidFill>
                    <a:latin typeface="Times New Roman" pitchFamily="18" charset="0"/>
                  </a:rPr>
                  <a:t>Figure 9. Store Fill Buffer Optimization</a:t>
                </a:r>
                <a:endParaRPr lang="en-US" altLang="zh-CN" sz="3600" dirty="0">
                  <a:solidFill>
                    <a:schemeClr val="tx1"/>
                  </a:solidFill>
                  <a:latin typeface="Times New Roman" pitchFamily="18" charset="0"/>
                </a:endParaRPr>
              </a:p>
            </p:txBody>
          </p:sp>
        </p:grpSp>
        <p:grpSp>
          <p:nvGrpSpPr>
            <p:cNvPr id="7182" name="Group 29"/>
            <p:cNvGrpSpPr/>
            <p:nvPr/>
          </p:nvGrpSpPr>
          <p:grpSpPr>
            <a:xfrm>
              <a:off x="224" y="2798"/>
              <a:ext cx="3041" cy="1951"/>
              <a:chOff x="224" y="2798"/>
              <a:chExt cx="3041" cy="1951"/>
            </a:xfrm>
          </p:grpSpPr>
          <p:graphicFrame>
            <p:nvGraphicFramePr>
              <p:cNvPr id="7170" name="Object 30"/>
              <p:cNvGraphicFramePr/>
              <p:nvPr/>
            </p:nvGraphicFramePr>
            <p:xfrm>
              <a:off x="224" y="2798"/>
              <a:ext cx="1344" cy="858"/>
            </p:xfrm>
            <a:graphic>
              <a:graphicData uri="http://schemas.openxmlformats.org/presentationml/2006/ole">
                <mc:AlternateContent xmlns:mc="http://schemas.openxmlformats.org/markup-compatibility/2006">
                  <mc:Choice xmlns:v="urn:schemas-microsoft-com:vml" Requires="v">
                    <p:oleObj spid="_x0000_s3085" name="" r:id="rId1" imgW="2143125" imgH="1362075" progId="Excel.Chart.8">
                      <p:embed/>
                    </p:oleObj>
                  </mc:Choice>
                  <mc:Fallback>
                    <p:oleObj name="" r:id="rId1" imgW="2143125" imgH="1362075" progId="Excel.Chart.8">
                      <p:embed/>
                      <p:pic>
                        <p:nvPicPr>
                          <p:cNvPr id="0" name="图片 3084"/>
                          <p:cNvPicPr/>
                          <p:nvPr/>
                        </p:nvPicPr>
                        <p:blipFill>
                          <a:blip r:embed="rId2"/>
                          <a:stretch>
                            <a:fillRect/>
                          </a:stretch>
                        </p:blipFill>
                        <p:spPr>
                          <a:xfrm>
                            <a:off x="224" y="2798"/>
                            <a:ext cx="1344" cy="858"/>
                          </a:xfrm>
                          <a:prstGeom prst="rect">
                            <a:avLst/>
                          </a:prstGeom>
                          <a:noFill/>
                          <a:ln w="38100">
                            <a:noFill/>
                            <a:miter/>
                          </a:ln>
                        </p:spPr>
                      </p:pic>
                    </p:oleObj>
                  </mc:Fallback>
                </mc:AlternateContent>
              </a:graphicData>
            </a:graphic>
          </p:graphicFrame>
          <p:graphicFrame>
            <p:nvGraphicFramePr>
              <p:cNvPr id="7171" name="Object 31"/>
              <p:cNvGraphicFramePr/>
              <p:nvPr/>
            </p:nvGraphicFramePr>
            <p:xfrm>
              <a:off x="1933" y="2847"/>
              <a:ext cx="1332" cy="798"/>
            </p:xfrm>
            <a:graphic>
              <a:graphicData uri="http://schemas.openxmlformats.org/presentationml/2006/ole">
                <mc:AlternateContent xmlns:mc="http://schemas.openxmlformats.org/markup-compatibility/2006">
                  <mc:Choice xmlns:v="urn:schemas-microsoft-com:vml" Requires="v">
                    <p:oleObj spid="_x0000_s3086" name="" r:id="rId3" imgW="2114550" imgH="1266825" progId="Excel.Chart.8">
                      <p:embed/>
                    </p:oleObj>
                  </mc:Choice>
                  <mc:Fallback>
                    <p:oleObj name="" r:id="rId3" imgW="2114550" imgH="1266825" progId="Excel.Chart.8">
                      <p:embed/>
                      <p:pic>
                        <p:nvPicPr>
                          <p:cNvPr id="0" name="图片 3085"/>
                          <p:cNvPicPr/>
                          <p:nvPr/>
                        </p:nvPicPr>
                        <p:blipFill>
                          <a:blip r:embed="rId4"/>
                          <a:stretch>
                            <a:fillRect/>
                          </a:stretch>
                        </p:blipFill>
                        <p:spPr>
                          <a:xfrm>
                            <a:off x="1933" y="2847"/>
                            <a:ext cx="1332" cy="798"/>
                          </a:xfrm>
                          <a:prstGeom prst="rect">
                            <a:avLst/>
                          </a:prstGeom>
                          <a:noFill/>
                          <a:ln w="38100">
                            <a:noFill/>
                            <a:miter/>
                          </a:ln>
                        </p:spPr>
                      </p:pic>
                    </p:oleObj>
                  </mc:Fallback>
                </mc:AlternateContent>
              </a:graphicData>
            </a:graphic>
          </p:graphicFrame>
          <p:graphicFrame>
            <p:nvGraphicFramePr>
              <p:cNvPr id="7172" name="Object 32"/>
              <p:cNvGraphicFramePr/>
              <p:nvPr/>
            </p:nvGraphicFramePr>
            <p:xfrm>
              <a:off x="254" y="3900"/>
              <a:ext cx="1314" cy="840"/>
            </p:xfrm>
            <a:graphic>
              <a:graphicData uri="http://schemas.openxmlformats.org/presentationml/2006/ole">
                <mc:AlternateContent xmlns:mc="http://schemas.openxmlformats.org/markup-compatibility/2006">
                  <mc:Choice xmlns:v="urn:schemas-microsoft-com:vml" Requires="v">
                    <p:oleObj spid="_x0000_s3087" name="" r:id="rId5" imgW="2085975" imgH="1323975" progId="Excel.Chart.8">
                      <p:embed/>
                    </p:oleObj>
                  </mc:Choice>
                  <mc:Fallback>
                    <p:oleObj name="" r:id="rId5" imgW="2085975" imgH="1323975" progId="Excel.Chart.8">
                      <p:embed/>
                      <p:pic>
                        <p:nvPicPr>
                          <p:cNvPr id="0" name="图片 3086"/>
                          <p:cNvPicPr/>
                          <p:nvPr/>
                        </p:nvPicPr>
                        <p:blipFill>
                          <a:blip r:embed="rId6"/>
                          <a:stretch>
                            <a:fillRect/>
                          </a:stretch>
                        </p:blipFill>
                        <p:spPr>
                          <a:xfrm>
                            <a:off x="254" y="3900"/>
                            <a:ext cx="1314" cy="840"/>
                          </a:xfrm>
                          <a:prstGeom prst="rect">
                            <a:avLst/>
                          </a:prstGeom>
                          <a:noFill/>
                          <a:ln w="38100">
                            <a:noFill/>
                            <a:miter/>
                          </a:ln>
                        </p:spPr>
                      </p:pic>
                    </p:oleObj>
                  </mc:Fallback>
                </mc:AlternateContent>
              </a:graphicData>
            </a:graphic>
          </p:graphicFrame>
          <p:graphicFrame>
            <p:nvGraphicFramePr>
              <p:cNvPr id="7173" name="Object 33"/>
              <p:cNvGraphicFramePr/>
              <p:nvPr/>
            </p:nvGraphicFramePr>
            <p:xfrm>
              <a:off x="1913" y="3891"/>
              <a:ext cx="1350" cy="858"/>
            </p:xfrm>
            <a:graphic>
              <a:graphicData uri="http://schemas.openxmlformats.org/presentationml/2006/ole">
                <mc:AlternateContent xmlns:mc="http://schemas.openxmlformats.org/markup-compatibility/2006">
                  <mc:Choice xmlns:v="urn:schemas-microsoft-com:vml" Requires="v">
                    <p:oleObj spid="_x0000_s3088" name="" r:id="rId7" imgW="2143125" imgH="1362075" progId="Excel.Chart.8">
                      <p:embed/>
                    </p:oleObj>
                  </mc:Choice>
                  <mc:Fallback>
                    <p:oleObj name="" r:id="rId7" imgW="2143125" imgH="1362075" progId="Excel.Chart.8">
                      <p:embed/>
                      <p:pic>
                        <p:nvPicPr>
                          <p:cNvPr id="0" name="图片 3087"/>
                          <p:cNvPicPr/>
                          <p:nvPr/>
                        </p:nvPicPr>
                        <p:blipFill>
                          <a:blip r:embed="rId8"/>
                          <a:stretch>
                            <a:fillRect/>
                          </a:stretch>
                        </p:blipFill>
                        <p:spPr>
                          <a:xfrm>
                            <a:off x="1913" y="3891"/>
                            <a:ext cx="1350" cy="858"/>
                          </a:xfrm>
                          <a:prstGeom prst="rect">
                            <a:avLst/>
                          </a:prstGeom>
                          <a:noFill/>
                          <a:ln w="38100">
                            <a:noFill/>
                            <a:miter/>
                          </a:ln>
                        </p:spPr>
                      </p:pic>
                    </p:oleObj>
                  </mc:Fallback>
                </mc:AlternateContent>
              </a:graphicData>
            </a:graphic>
          </p:graphicFrame>
        </p:grpSp>
      </p:gr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xfrm>
            <a:off x="882650" y="2924175"/>
            <a:ext cx="10358438" cy="1054100"/>
          </a:xfrm>
        </p:spPr>
        <p:txBody>
          <a:bodyPr vert="horz" wrap="square" lIns="90000" tIns="46800" rIns="90000" bIns="46800" anchor="ctr" anchorCtr="0"/>
          <a:p>
            <a:pPr eaLnBrk="1" hangingPunct="1"/>
            <a:r>
              <a:rPr lang="zh-CN" altLang="en-GB" dirty="0"/>
              <a:t>面向工艺的结构设计</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40963" name="Rectangle 1"/>
          <p:cNvSpPr/>
          <p:nvPr>
            <p:ph type="title"/>
          </p:nvPr>
        </p:nvSpPr>
        <p:spPr>
          <a:xfrm>
            <a:off x="428625" y="93663"/>
            <a:ext cx="11517313" cy="857250"/>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 pos="9410700" algn="l"/>
                <a:tab pos="10134600" algn="l"/>
              </a:tabLst>
            </a:pPr>
            <a:r>
              <a:rPr lang="zh-CN" altLang="en-GB" dirty="0"/>
              <a:t>皮体系结构（</a:t>
            </a:r>
            <a:r>
              <a:rPr lang="en-GB" altLang="zh-CN" dirty="0"/>
              <a:t>Pico-Architecture</a:t>
            </a:r>
            <a:r>
              <a:rPr lang="zh-CN" altLang="en-GB" dirty="0"/>
              <a:t>）设计</a:t>
            </a:r>
            <a:endParaRPr lang="zh-CN" altLang="en-GB" dirty="0"/>
          </a:p>
        </p:txBody>
      </p:sp>
      <p:sp>
        <p:nvSpPr>
          <p:cNvPr id="40964" name="Rectangle 2"/>
          <p:cNvSpPr/>
          <p:nvPr>
            <p:ph idx="1"/>
          </p:nvPr>
        </p:nvSpPr>
        <p:spPr>
          <a:xfrm>
            <a:off x="519113" y="1233488"/>
            <a:ext cx="11353800" cy="5418137"/>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2000" dirty="0">
                <a:cs typeface="宋体" panose="02000500000000000000" pitchFamily="2" charset="-122"/>
              </a:rPr>
              <a:t>影响体系结构设计的因素</a:t>
            </a:r>
            <a:endParaRPr lang="zh-CN" altLang="en-GB" sz="20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工艺和应用</a:t>
            </a:r>
            <a:endParaRPr lang="zh-CN" altLang="en-GB" sz="16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体系结构设计要做到“上知天文（应用、</a:t>
            </a:r>
            <a:r>
              <a:rPr lang="en-GB" altLang="zh-CN" sz="1600" dirty="0">
                <a:cs typeface="宋体" panose="02000500000000000000" pitchFamily="2" charset="-122"/>
              </a:rPr>
              <a:t>OS</a:t>
            </a:r>
            <a:r>
              <a:rPr lang="zh-CN" altLang="en-GB" sz="1600" dirty="0">
                <a:cs typeface="宋体" panose="02000500000000000000" pitchFamily="2" charset="-122"/>
              </a:rPr>
              <a:t>、编译）、下知地理（电路、工艺）”</a:t>
            </a:r>
            <a:endParaRPr lang="zh-CN" altLang="en-GB" sz="16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工艺对处理器系统结构的影响大于应用的影响</a:t>
            </a:r>
            <a:endParaRPr lang="zh-CN" altLang="en-GB" sz="16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2000" dirty="0">
                <a:cs typeface="宋体" panose="02000500000000000000" pitchFamily="2" charset="-122"/>
              </a:rPr>
              <a:t>纳米级工艺的体系结构设计新特点</a:t>
            </a:r>
            <a:endParaRPr lang="zh-CN" altLang="en-GB" sz="20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存储墙</a:t>
            </a:r>
            <a:r>
              <a:rPr lang="en-GB" altLang="zh-CN" sz="1600" dirty="0">
                <a:cs typeface="宋体" panose="02000500000000000000" pitchFamily="2" charset="-122"/>
              </a:rPr>
              <a:t>=&gt;</a:t>
            </a:r>
            <a:r>
              <a:rPr lang="zh-CN" altLang="en-GB" sz="1600" dirty="0">
                <a:cs typeface="宋体" panose="02000500000000000000" pitchFamily="2" charset="-122"/>
              </a:rPr>
              <a:t>功耗、连线延迟</a:t>
            </a:r>
            <a:endParaRPr lang="zh-CN" altLang="en-GB" sz="16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纳米级的体系结构设计要充分考虑版图规划和连线延迟</a:t>
            </a:r>
            <a:endParaRPr lang="zh-CN" altLang="en-GB" sz="16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从</a:t>
            </a:r>
            <a:r>
              <a:rPr lang="en-GB" altLang="zh-CN" sz="1600" dirty="0">
                <a:cs typeface="宋体" panose="02000500000000000000" pitchFamily="2" charset="-122"/>
              </a:rPr>
              <a:t>micro-architecture</a:t>
            </a:r>
            <a:r>
              <a:rPr lang="zh-CN" altLang="en-GB" sz="1600" dirty="0">
                <a:cs typeface="宋体" panose="02000500000000000000" pitchFamily="2" charset="-122"/>
              </a:rPr>
              <a:t>到</a:t>
            </a:r>
            <a:r>
              <a:rPr lang="en-GB" altLang="zh-CN" sz="1600" dirty="0">
                <a:cs typeface="宋体" panose="02000500000000000000" pitchFamily="2" charset="-122"/>
              </a:rPr>
              <a:t>pico-architecture</a:t>
            </a:r>
            <a:endParaRPr lang="en-GB" altLang="zh-CN" sz="16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en-GB" altLang="zh-CN" sz="1600" dirty="0">
                <a:cs typeface="宋体" panose="02000500000000000000" pitchFamily="2" charset="-122"/>
              </a:rPr>
              <a:t>Pico-architecture</a:t>
            </a:r>
            <a:r>
              <a:rPr lang="zh-CN" altLang="en-GB" sz="1600" dirty="0">
                <a:cs typeface="宋体" panose="02000500000000000000" pitchFamily="2" charset="-122"/>
              </a:rPr>
              <a:t>：面向物理实现的结构和组织</a:t>
            </a:r>
            <a:endParaRPr lang="zh-CN" altLang="en-GB" sz="1600"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2000" dirty="0">
                <a:cs typeface="宋体" panose="02000500000000000000" pitchFamily="2" charset="-122"/>
              </a:rPr>
              <a:t>结构设计和物理设计的紧密结合和融会贯通是龙芯的重要优势和经验</a:t>
            </a:r>
            <a:endParaRPr lang="zh-CN" altLang="en-GB" sz="20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通过若干结构、逻辑优化，关键路径逻辑单元从龙芯</a:t>
            </a:r>
            <a:r>
              <a:rPr lang="en-GB" altLang="zh-CN" sz="1600" dirty="0">
                <a:cs typeface="宋体" panose="02000500000000000000" pitchFamily="2" charset="-122"/>
              </a:rPr>
              <a:t>2B</a:t>
            </a:r>
            <a:r>
              <a:rPr lang="zh-CN" altLang="en-GB" sz="1600" dirty="0">
                <a:cs typeface="宋体" panose="02000500000000000000" pitchFamily="2" charset="-122"/>
              </a:rPr>
              <a:t>的</a:t>
            </a:r>
            <a:r>
              <a:rPr lang="en-GB" altLang="zh-CN" sz="1600" dirty="0">
                <a:cs typeface="宋体" panose="02000500000000000000" pitchFamily="2" charset="-122"/>
              </a:rPr>
              <a:t>34</a:t>
            </a:r>
            <a:r>
              <a:rPr lang="zh-CN" altLang="en-GB" sz="1600" dirty="0">
                <a:cs typeface="宋体" panose="02000500000000000000" pitchFamily="2" charset="-122"/>
              </a:rPr>
              <a:t>级降低到龙芯</a:t>
            </a:r>
            <a:r>
              <a:rPr lang="en-GB" altLang="zh-CN" sz="1600" dirty="0">
                <a:cs typeface="宋体" panose="02000500000000000000" pitchFamily="2" charset="-122"/>
              </a:rPr>
              <a:t>2C</a:t>
            </a:r>
            <a:r>
              <a:rPr lang="zh-CN" altLang="en-GB" sz="1600" dirty="0">
                <a:cs typeface="宋体" panose="02000500000000000000" pitchFamily="2" charset="-122"/>
              </a:rPr>
              <a:t>的</a:t>
            </a:r>
            <a:r>
              <a:rPr lang="en-GB" altLang="zh-CN" sz="1600" dirty="0">
                <a:cs typeface="宋体" panose="02000500000000000000" pitchFamily="2" charset="-122"/>
              </a:rPr>
              <a:t>21</a:t>
            </a:r>
            <a:r>
              <a:rPr lang="zh-CN" altLang="en-GB" sz="1600" dirty="0">
                <a:cs typeface="宋体" panose="02000500000000000000" pitchFamily="2" charset="-122"/>
              </a:rPr>
              <a:t>级</a:t>
            </a:r>
            <a:endParaRPr lang="zh-CN" altLang="en-GB" sz="1600"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sz="1600" dirty="0">
                <a:cs typeface="宋体" panose="02000500000000000000" pitchFamily="2" charset="-122"/>
              </a:rPr>
              <a:t>使用相同工艺，龙芯</a:t>
            </a:r>
            <a:r>
              <a:rPr lang="en-GB" altLang="zh-CN" sz="1600" dirty="0">
                <a:cs typeface="宋体" panose="02000500000000000000" pitchFamily="2" charset="-122"/>
              </a:rPr>
              <a:t>2B</a:t>
            </a:r>
            <a:r>
              <a:rPr lang="zh-CN" altLang="en-GB" sz="1600" dirty="0">
                <a:cs typeface="宋体" panose="02000500000000000000" pitchFamily="2" charset="-122"/>
              </a:rPr>
              <a:t>主频</a:t>
            </a:r>
            <a:r>
              <a:rPr lang="en-GB" altLang="zh-CN" sz="1600" dirty="0">
                <a:cs typeface="宋体" panose="02000500000000000000" pitchFamily="2" charset="-122"/>
              </a:rPr>
              <a:t>250MHz</a:t>
            </a:r>
            <a:r>
              <a:rPr lang="zh-CN" altLang="en-GB" sz="1600" dirty="0">
                <a:cs typeface="宋体" panose="02000500000000000000" pitchFamily="2" charset="-122"/>
              </a:rPr>
              <a:t>，龙芯</a:t>
            </a:r>
            <a:r>
              <a:rPr lang="en-GB" altLang="zh-CN" sz="1600" dirty="0">
                <a:cs typeface="宋体" panose="02000500000000000000" pitchFamily="2" charset="-122"/>
              </a:rPr>
              <a:t>2C</a:t>
            </a:r>
            <a:r>
              <a:rPr lang="zh-CN" altLang="en-GB" sz="1600" dirty="0">
                <a:cs typeface="宋体" panose="02000500000000000000" pitchFamily="2" charset="-122"/>
              </a:rPr>
              <a:t>主频</a:t>
            </a:r>
            <a:r>
              <a:rPr lang="en-GB" altLang="zh-CN" sz="1600" dirty="0">
                <a:cs typeface="宋体" panose="02000500000000000000" pitchFamily="2" charset="-122"/>
              </a:rPr>
              <a:t>450MHz</a:t>
            </a:r>
            <a:endParaRPr lang="en-GB" altLang="zh-CN" sz="1600" dirty="0">
              <a:cs typeface="宋体" panose="02000500000000000000" pitchFamily="2" charset="-122"/>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3"/>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41987" name="Rectangle 2"/>
          <p:cNvSpPr/>
          <p:nvPr/>
        </p:nvSpPr>
        <p:spPr>
          <a:xfrm>
            <a:off x="276225" y="0"/>
            <a:ext cx="11857038" cy="911225"/>
          </a:xfrm>
          <a:prstGeom prst="rect">
            <a:avLst/>
          </a:prstGeom>
          <a:noFill/>
          <a:ln w="9525">
            <a:noFill/>
          </a:ln>
        </p:spPr>
        <p:txBody>
          <a:bodyPr lIns="90000" tIns="46800" rIns="90000" bIns="46800" anchor="ctr" anchorCtr="0"/>
          <a:p>
            <a:pPr algn="ctr" defTabSz="265430">
              <a:buClr>
                <a:srgbClr val="FF0000"/>
              </a:buClr>
              <a:buFont typeface="Arial" panose="02080604020202020204" pitchFamily="34" charset="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 pos="9410700" algn="l"/>
                <a:tab pos="10134600" algn="l"/>
              </a:tabLst>
            </a:pPr>
            <a:r>
              <a:rPr lang="zh-CN" altLang="en-GB" sz="3600" dirty="0">
                <a:solidFill>
                  <a:srgbClr val="FF0000"/>
                </a:solidFill>
                <a:latin typeface="Arial" panose="02080604020202020204" pitchFamily="34" charset="0"/>
                <a:ea typeface="黑体" panose="02000500000000000000" pitchFamily="49" charset="-122"/>
              </a:rPr>
              <a:t>故事</a:t>
            </a:r>
            <a:r>
              <a:rPr lang="en-GB" altLang="zh-CN" sz="3600" dirty="0">
                <a:solidFill>
                  <a:srgbClr val="FF0000"/>
                </a:solidFill>
                <a:latin typeface="Arial" panose="02080604020202020204" pitchFamily="34" charset="0"/>
                <a:ea typeface="黑体" panose="02000500000000000000" pitchFamily="49" charset="-122"/>
              </a:rPr>
              <a:t>10-1</a:t>
            </a:r>
            <a:r>
              <a:rPr lang="zh-CN" altLang="en-GB" sz="3600" dirty="0">
                <a:solidFill>
                  <a:srgbClr val="FF0000"/>
                </a:solidFill>
                <a:latin typeface="Arial" panose="02080604020202020204" pitchFamily="34" charset="0"/>
                <a:ea typeface="黑体" panose="02000500000000000000" pitchFamily="49" charset="-122"/>
              </a:rPr>
              <a:t>：降低地址运算和</a:t>
            </a:r>
            <a:r>
              <a:rPr lang="en-US" altLang="zh-CN" sz="3600" dirty="0">
                <a:solidFill>
                  <a:srgbClr val="FF0000"/>
                </a:solidFill>
                <a:latin typeface="Arial" panose="02080604020202020204" pitchFamily="34" charset="0"/>
                <a:ea typeface="黑体" panose="02000500000000000000" pitchFamily="49" charset="-122"/>
              </a:rPr>
              <a:t>TLB</a:t>
            </a:r>
            <a:r>
              <a:rPr lang="zh-CN" altLang="en-US" sz="3600" dirty="0">
                <a:solidFill>
                  <a:srgbClr val="FF0000"/>
                </a:solidFill>
                <a:latin typeface="Arial" panose="02080604020202020204" pitchFamily="34" charset="0"/>
                <a:ea typeface="黑体" panose="02000500000000000000" pitchFamily="49" charset="-122"/>
              </a:rPr>
              <a:t>访问延迟</a:t>
            </a:r>
            <a:endParaRPr lang="zh-CN" altLang="en-GB" sz="3600" dirty="0">
              <a:solidFill>
                <a:srgbClr val="FF0000"/>
              </a:solidFill>
              <a:latin typeface="Arial" panose="02080604020202020204" pitchFamily="34" charset="0"/>
              <a:ea typeface="黑体" panose="02000500000000000000" pitchFamily="49" charset="-122"/>
            </a:endParaRPr>
          </a:p>
        </p:txBody>
      </p:sp>
      <p:sp>
        <p:nvSpPr>
          <p:cNvPr id="41988" name="Rectangle 3"/>
          <p:cNvSpPr/>
          <p:nvPr/>
        </p:nvSpPr>
        <p:spPr>
          <a:xfrm>
            <a:off x="276225" y="1203325"/>
            <a:ext cx="11526838" cy="1997075"/>
          </a:xfrm>
          <a:prstGeom prst="rect">
            <a:avLst/>
          </a:prstGeom>
          <a:noFill/>
          <a:ln w="9525">
            <a:noFill/>
          </a:ln>
        </p:spPr>
        <p:txBody>
          <a:bodyPr lIns="90000" tIns="46800" rIns="90000" bIns="46800"/>
          <a:p>
            <a:pPr marL="338455" indent="-338455" defTabSz="265430">
              <a:lnSpc>
                <a:spcPct val="150000"/>
              </a:lnSpc>
              <a:buFontTx/>
              <a:buChar cha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 pos="5791200" algn="l"/>
                <a:tab pos="6515100" algn="l"/>
                <a:tab pos="7239000" algn="l"/>
                <a:tab pos="7962900" algn="l"/>
                <a:tab pos="8686800" algn="l"/>
                <a:tab pos="9410700" algn="l"/>
                <a:tab pos="10134600" algn="l"/>
              </a:tabLst>
            </a:pPr>
            <a:r>
              <a:rPr lang="zh-CN" altLang="en-GB" sz="2000" b="1" dirty="0">
                <a:solidFill>
                  <a:srgbClr val="000000"/>
                </a:solidFill>
                <a:latin typeface="宋体" panose="02000500000000000000" pitchFamily="2" charset="-122"/>
                <a:ea typeface="宋体" panose="02000500000000000000" pitchFamily="2" charset="-122"/>
                <a:cs typeface="宋体" panose="02000500000000000000" pitchFamily="2" charset="-122"/>
              </a:rPr>
              <a:t>地址运算关键路径物理优化</a:t>
            </a:r>
            <a:endParaRPr lang="zh-CN" altLang="en-GB" sz="2000" b="1" dirty="0">
              <a:solidFill>
                <a:srgbClr val="000000"/>
              </a:solidFill>
              <a:latin typeface="宋体" panose="02000500000000000000" pitchFamily="2" charset="-122"/>
              <a:ea typeface="宋体" panose="02000500000000000000" pitchFamily="2" charset="-122"/>
              <a:cs typeface="宋体" panose="02000500000000000000" pitchFamily="2" charset="-122"/>
            </a:endParaRPr>
          </a:p>
          <a:p>
            <a:pPr marL="738505" lvl="1" indent="-281305" defTabSz="265430" eaLnBrk="1" hangingPunct="1">
              <a:lnSpc>
                <a:spcPct val="150000"/>
              </a:lnSpc>
              <a:buFontTx/>
              <a:buChar cha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 pos="5791200" algn="l"/>
                <a:tab pos="6515100" algn="l"/>
                <a:tab pos="7239000" algn="l"/>
                <a:tab pos="7962900" algn="l"/>
                <a:tab pos="8686800" algn="l"/>
                <a:tab pos="9410700" algn="l"/>
                <a:tab pos="10134600" algn="l"/>
              </a:tabLst>
            </a:pP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48</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位加法器、</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35</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位比较、</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64-6</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编码</a:t>
            </a:r>
            <a:endPar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endParaRPr>
          </a:p>
          <a:p>
            <a:pPr marL="738505" lvl="1" indent="-281305" defTabSz="265430" eaLnBrk="1" hangingPunct="1">
              <a:lnSpc>
                <a:spcPct val="150000"/>
              </a:lnSpc>
              <a:buFontTx/>
              <a:buChar cha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 pos="5791200" algn="l"/>
                <a:tab pos="6515100" algn="l"/>
                <a:tab pos="7239000" algn="l"/>
                <a:tab pos="7962900" algn="l"/>
                <a:tab pos="8686800" algn="l"/>
                <a:tab pos="9410700" algn="l"/>
                <a:tab pos="10134600" algn="l"/>
              </a:tabLst>
            </a:pP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64-6</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的编码和下一级访问</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RAM</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的</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6-64</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译码“抵消”</a:t>
            </a:r>
            <a:endPar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endParaRPr>
          </a:p>
          <a:p>
            <a:pPr marL="738505" lvl="1" indent="-281305" defTabSz="265430" eaLnBrk="1" hangingPunct="1">
              <a:lnSpc>
                <a:spcPct val="150000"/>
              </a:lnSpc>
              <a:buFontTx/>
              <a:buChar char="•"/>
              <a:tabLst>
                <a:tab pos="338455" algn="l"/>
                <a:tab pos="601980" algn="l"/>
                <a:tab pos="866775" algn="l"/>
                <a:tab pos="1132205" algn="l"/>
                <a:tab pos="1397000" algn="l"/>
                <a:tab pos="1662430" algn="l"/>
                <a:tab pos="1927225" algn="l"/>
                <a:tab pos="2192655" algn="l"/>
                <a:tab pos="2457450" algn="l"/>
                <a:tab pos="2722880" algn="l"/>
                <a:tab pos="2987675" algn="l"/>
                <a:tab pos="3253105" algn="l"/>
                <a:tab pos="3517900" algn="l"/>
                <a:tab pos="3783330" algn="l"/>
                <a:tab pos="4048125" algn="l"/>
                <a:tab pos="4313555" algn="l"/>
                <a:tab pos="4578350" algn="l"/>
                <a:tab pos="4843780" algn="l"/>
                <a:tab pos="5108575" algn="l"/>
                <a:tab pos="5374005" algn="l"/>
                <a:tab pos="5638800" algn="l"/>
                <a:tab pos="5791200" algn="l"/>
                <a:tab pos="6515100" algn="l"/>
                <a:tab pos="7239000" algn="l"/>
                <a:tab pos="7962900" algn="l"/>
                <a:tab pos="8686800" algn="l"/>
                <a:tab pos="9410700" algn="l"/>
                <a:tab pos="10134600" algn="l"/>
              </a:tabLst>
            </a:pP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需要定制新的</a:t>
            </a:r>
            <a:r>
              <a:rPr lang="en-GB" altLang="zh-CN" sz="1600" b="1" dirty="0">
                <a:solidFill>
                  <a:srgbClr val="000000"/>
                </a:solidFill>
                <a:latin typeface="宋体" panose="02000500000000000000" pitchFamily="2" charset="-122"/>
                <a:ea typeface="宋体" panose="02000500000000000000" pitchFamily="2" charset="-122"/>
                <a:cs typeface="宋体" panose="02000500000000000000" pitchFamily="2" charset="-122"/>
              </a:rPr>
              <a:t>RAM</a:t>
            </a:r>
            <a:r>
              <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rPr>
              <a:t>模块</a:t>
            </a:r>
            <a:endParaRPr lang="zh-CN" altLang="en-GB" sz="1600" b="1" dirty="0">
              <a:solidFill>
                <a:srgbClr val="000000"/>
              </a:solidFill>
              <a:latin typeface="宋体" panose="02000500000000000000" pitchFamily="2" charset="-122"/>
              <a:ea typeface="宋体" panose="02000500000000000000" pitchFamily="2" charset="-122"/>
              <a:cs typeface="宋体" panose="02000500000000000000" pitchFamily="2" charset="-122"/>
            </a:endParaRPr>
          </a:p>
        </p:txBody>
      </p:sp>
      <p:grpSp>
        <p:nvGrpSpPr>
          <p:cNvPr id="41989" name="Group 4"/>
          <p:cNvGrpSpPr/>
          <p:nvPr/>
        </p:nvGrpSpPr>
        <p:grpSpPr>
          <a:xfrm>
            <a:off x="885825" y="3683000"/>
            <a:ext cx="9158288" cy="3173413"/>
            <a:chOff x="501" y="2320"/>
            <a:chExt cx="5179" cy="1999"/>
          </a:xfrm>
        </p:grpSpPr>
        <p:sp>
          <p:nvSpPr>
            <p:cNvPr id="41990" name="AutoShape 5"/>
            <p:cNvSpPr/>
            <p:nvPr/>
          </p:nvSpPr>
          <p:spPr>
            <a:xfrm>
              <a:off x="501" y="2320"/>
              <a:ext cx="5180" cy="2000"/>
            </a:xfrm>
            <a:prstGeom prst="roundRect">
              <a:avLst>
                <a:gd name="adj" fmla="val 46"/>
              </a:avLst>
            </a:prstGeom>
            <a:noFill/>
            <a:ln w="9525">
              <a:noFill/>
            </a:ln>
          </p:spPr>
          <p:txBody>
            <a:bodyPr wrap="none" anchor="ctr" anchorCtr="0"/>
            <a:p>
              <a:endParaRPr lang="zh-CN" altLang="en-US" dirty="0">
                <a:latin typeface="Times New Roman" pitchFamily="18" charset="0"/>
              </a:endParaRPr>
            </a:p>
          </p:txBody>
        </p:sp>
        <p:sp>
          <p:nvSpPr>
            <p:cNvPr id="41991" name="AutoShape 6"/>
            <p:cNvSpPr/>
            <p:nvPr/>
          </p:nvSpPr>
          <p:spPr>
            <a:xfrm>
              <a:off x="2790" y="2873"/>
              <a:ext cx="630" cy="241"/>
            </a:xfrm>
            <a:prstGeom prst="rightArrow">
              <a:avLst>
                <a:gd name="adj1" fmla="val 50000"/>
                <a:gd name="adj2" fmla="val 65328"/>
              </a:avLst>
            </a:prstGeom>
            <a:solidFill>
              <a:srgbClr val="FF9933"/>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41992" name="Text Box 7"/>
            <p:cNvSpPr txBox="1"/>
            <p:nvPr/>
          </p:nvSpPr>
          <p:spPr>
            <a:xfrm>
              <a:off x="899" y="3998"/>
              <a:ext cx="1494" cy="152"/>
            </a:xfrm>
            <a:prstGeom prst="rect">
              <a:avLst/>
            </a:prstGeom>
            <a:solidFill>
              <a:srgbClr val="FFFFFF"/>
            </a:solid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000" dirty="0">
                  <a:solidFill>
                    <a:srgbClr val="000000"/>
                  </a:solidFill>
                  <a:latin typeface="Times New Roman" pitchFamily="18" charset="0"/>
                </a:rPr>
                <a:t>(a) With encoding and decoding</a:t>
              </a:r>
              <a:endParaRPr lang="en-GB" altLang="zh-CN" sz="1000" dirty="0">
                <a:solidFill>
                  <a:srgbClr val="000000"/>
                </a:solidFill>
                <a:latin typeface="Times New Roman" pitchFamily="18" charset="0"/>
              </a:endParaRPr>
            </a:p>
          </p:txBody>
        </p:sp>
        <p:sp>
          <p:nvSpPr>
            <p:cNvPr id="41993" name="Text Box 8"/>
            <p:cNvSpPr txBox="1"/>
            <p:nvPr/>
          </p:nvSpPr>
          <p:spPr>
            <a:xfrm>
              <a:off x="3826" y="3963"/>
              <a:ext cx="1506" cy="152"/>
            </a:xfrm>
            <a:prstGeom prst="rect">
              <a:avLst/>
            </a:prstGeom>
            <a:solidFill>
              <a:srgbClr val="FFFFFF"/>
            </a:solid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000" dirty="0">
                  <a:solidFill>
                    <a:srgbClr val="000000"/>
                  </a:solidFill>
                  <a:latin typeface="Times New Roman" pitchFamily="18" charset="0"/>
                </a:rPr>
                <a:t>(b) Removing encoding and decoding</a:t>
              </a:r>
              <a:endParaRPr lang="en-GB" altLang="zh-CN" sz="1000" dirty="0">
                <a:solidFill>
                  <a:srgbClr val="000000"/>
                </a:solidFill>
                <a:latin typeface="Times New Roman" pitchFamily="18" charset="0"/>
              </a:endParaRPr>
            </a:p>
          </p:txBody>
        </p:sp>
        <p:sp>
          <p:nvSpPr>
            <p:cNvPr id="41994" name="Text Box 9"/>
            <p:cNvSpPr txBox="1"/>
            <p:nvPr/>
          </p:nvSpPr>
          <p:spPr>
            <a:xfrm>
              <a:off x="2043" y="4168"/>
              <a:ext cx="1927" cy="152"/>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200" dirty="0">
                  <a:solidFill>
                    <a:srgbClr val="000000"/>
                  </a:solidFill>
                  <a:latin typeface="Times New Roman" pitchFamily="18" charset="0"/>
                </a:rPr>
                <a:t>Figure 11. TLB CAM optimization</a:t>
              </a:r>
              <a:endParaRPr lang="en-GB" altLang="zh-CN" sz="1200" dirty="0">
                <a:solidFill>
                  <a:srgbClr val="000000"/>
                </a:solidFill>
                <a:latin typeface="Times New Roman" pitchFamily="18" charset="0"/>
              </a:endParaRPr>
            </a:p>
          </p:txBody>
        </p:sp>
        <p:sp>
          <p:nvSpPr>
            <p:cNvPr id="41995" name="Line 10"/>
            <p:cNvSpPr/>
            <p:nvPr/>
          </p:nvSpPr>
          <p:spPr>
            <a:xfrm>
              <a:off x="730" y="2998"/>
              <a:ext cx="1787" cy="1"/>
            </a:xfrm>
            <a:prstGeom prst="line">
              <a:avLst/>
            </a:prstGeom>
            <a:ln w="38160" cap="flat" cmpd="sng">
              <a:solidFill>
                <a:srgbClr val="000000"/>
              </a:solidFill>
              <a:prstDash val="solid"/>
              <a:miter/>
              <a:headEnd type="none" w="med" len="med"/>
              <a:tailEnd type="none" w="med" len="med"/>
            </a:ln>
          </p:spPr>
        </p:sp>
        <p:grpSp>
          <p:nvGrpSpPr>
            <p:cNvPr id="41996" name="Group 11"/>
            <p:cNvGrpSpPr/>
            <p:nvPr/>
          </p:nvGrpSpPr>
          <p:grpSpPr>
            <a:xfrm>
              <a:off x="1272" y="3114"/>
              <a:ext cx="654" cy="148"/>
              <a:chOff x="1272" y="3114"/>
              <a:chExt cx="654" cy="148"/>
            </a:xfrm>
          </p:grpSpPr>
          <p:sp>
            <p:nvSpPr>
              <p:cNvPr id="42036" name="Rectangle 12"/>
              <p:cNvSpPr/>
              <p:nvPr/>
            </p:nvSpPr>
            <p:spPr>
              <a:xfrm>
                <a:off x="1272" y="3114"/>
                <a:ext cx="655" cy="149"/>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42037" name="Text Box 13"/>
              <p:cNvSpPr txBox="1"/>
              <p:nvPr/>
            </p:nvSpPr>
            <p:spPr>
              <a:xfrm>
                <a:off x="1387" y="3127"/>
                <a:ext cx="446" cy="108"/>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000" b="1" dirty="0">
                    <a:solidFill>
                      <a:srgbClr val="000000"/>
                    </a:solidFill>
                    <a:latin typeface="Times New Roman" pitchFamily="18" charset="0"/>
                  </a:rPr>
                  <a:t>64-6 enc.</a:t>
                </a:r>
                <a:endParaRPr lang="en-GB" altLang="zh-CN" sz="1000" b="1" dirty="0">
                  <a:solidFill>
                    <a:srgbClr val="000000"/>
                  </a:solidFill>
                  <a:latin typeface="Times New Roman" pitchFamily="18" charset="0"/>
                </a:endParaRPr>
              </a:p>
            </p:txBody>
          </p:sp>
        </p:grpSp>
        <p:sp>
          <p:nvSpPr>
            <p:cNvPr id="41997" name="Rectangle 14"/>
            <p:cNvSpPr/>
            <p:nvPr/>
          </p:nvSpPr>
          <p:spPr>
            <a:xfrm>
              <a:off x="1038" y="2338"/>
              <a:ext cx="1078" cy="607"/>
            </a:xfrm>
            <a:prstGeom prst="rect">
              <a:avLst/>
            </a:prstGeom>
            <a:solidFill>
              <a:srgbClr val="DDDDDD"/>
            </a:solidFill>
            <a:ln w="9525">
              <a:noFill/>
            </a:ln>
          </p:spPr>
          <p:txBody>
            <a:bodyPr wrap="none" anchor="ctr" anchorCtr="0"/>
            <a:p>
              <a:endParaRPr lang="zh-CN" altLang="en-US" dirty="0">
                <a:latin typeface="Times New Roman" pitchFamily="18" charset="0"/>
              </a:endParaRPr>
            </a:p>
          </p:txBody>
        </p:sp>
        <p:grpSp>
          <p:nvGrpSpPr>
            <p:cNvPr id="41998" name="Group 15"/>
            <p:cNvGrpSpPr/>
            <p:nvPr/>
          </p:nvGrpSpPr>
          <p:grpSpPr>
            <a:xfrm>
              <a:off x="1267" y="2436"/>
              <a:ext cx="654" cy="186"/>
              <a:chOff x="1267" y="2436"/>
              <a:chExt cx="654" cy="186"/>
            </a:xfrm>
          </p:grpSpPr>
          <p:sp>
            <p:nvSpPr>
              <p:cNvPr id="42034" name="Rectangle 16"/>
              <p:cNvSpPr/>
              <p:nvPr/>
            </p:nvSpPr>
            <p:spPr>
              <a:xfrm>
                <a:off x="1267" y="2436"/>
                <a:ext cx="655" cy="187"/>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42035" name="Text Box 17"/>
              <p:cNvSpPr txBox="1"/>
              <p:nvPr/>
            </p:nvSpPr>
            <p:spPr>
              <a:xfrm>
                <a:off x="1298" y="2466"/>
                <a:ext cx="569" cy="123"/>
              </a:xfrm>
              <a:prstGeom prst="rect">
                <a:avLst/>
              </a:prstGeom>
              <a:noFill/>
              <a:ln w="9525">
                <a:noFill/>
              </a:ln>
            </p:spPr>
            <p:txBody>
              <a:bodyPr lIns="16560" tIns="9720" rIns="16560" bIns="972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000" b="1" dirty="0">
                    <a:solidFill>
                      <a:srgbClr val="000000"/>
                    </a:solidFill>
                    <a:latin typeface="Times New Roman" pitchFamily="18" charset="0"/>
                  </a:rPr>
                  <a:t>Line sel.</a:t>
                </a:r>
                <a:endParaRPr lang="en-GB" altLang="zh-CN" sz="1000" b="1" dirty="0">
                  <a:solidFill>
                    <a:srgbClr val="000000"/>
                  </a:solidFill>
                  <a:latin typeface="Times New Roman" pitchFamily="18" charset="0"/>
                </a:endParaRPr>
              </a:p>
            </p:txBody>
          </p:sp>
        </p:grpSp>
        <p:sp>
          <p:nvSpPr>
            <p:cNvPr id="41999" name="Text Box 18"/>
            <p:cNvSpPr txBox="1"/>
            <p:nvPr/>
          </p:nvSpPr>
          <p:spPr>
            <a:xfrm>
              <a:off x="1067" y="2346"/>
              <a:ext cx="301" cy="98"/>
            </a:xfrm>
            <a:prstGeom prst="rect">
              <a:avLst/>
            </a:prstGeom>
            <a:noFill/>
            <a:ln w="9525">
              <a:noFill/>
            </a:ln>
          </p:spPr>
          <p:txBody>
            <a:bodyPr lIns="0" tIns="0" rIns="0" bIns="0"/>
            <a:p>
              <a:pP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b="1" dirty="0">
                  <a:solidFill>
                    <a:srgbClr val="000000"/>
                  </a:solidFill>
                  <a:latin typeface="Times New Roman" pitchFamily="18" charset="0"/>
                </a:rPr>
                <a:t>RAM</a:t>
              </a:r>
              <a:endParaRPr lang="en-GB" altLang="zh-CN" sz="800" b="1" dirty="0">
                <a:solidFill>
                  <a:srgbClr val="000000"/>
                </a:solidFill>
                <a:latin typeface="Times New Roman" pitchFamily="18" charset="0"/>
              </a:endParaRPr>
            </a:p>
          </p:txBody>
        </p:sp>
        <p:sp>
          <p:nvSpPr>
            <p:cNvPr id="42000" name="Line 19"/>
            <p:cNvSpPr/>
            <p:nvPr/>
          </p:nvSpPr>
          <p:spPr>
            <a:xfrm flipV="1">
              <a:off x="1598" y="3255"/>
              <a:ext cx="1" cy="112"/>
            </a:xfrm>
            <a:prstGeom prst="line">
              <a:avLst/>
            </a:prstGeom>
            <a:ln w="9360" cap="flat" cmpd="sng">
              <a:solidFill>
                <a:srgbClr val="000000"/>
              </a:solidFill>
              <a:prstDash val="solid"/>
              <a:miter/>
              <a:headEnd type="none" w="med" len="med"/>
              <a:tailEnd type="triangle" w="med" len="med"/>
            </a:ln>
          </p:spPr>
        </p:sp>
        <p:sp>
          <p:nvSpPr>
            <p:cNvPr id="42001" name="Line 20"/>
            <p:cNvSpPr/>
            <p:nvPr/>
          </p:nvSpPr>
          <p:spPr>
            <a:xfrm flipV="1">
              <a:off x="1597" y="3005"/>
              <a:ext cx="1" cy="112"/>
            </a:xfrm>
            <a:prstGeom prst="line">
              <a:avLst/>
            </a:prstGeom>
            <a:ln w="9360" cap="flat" cmpd="sng">
              <a:solidFill>
                <a:srgbClr val="000000"/>
              </a:solidFill>
              <a:prstDash val="solid"/>
              <a:miter/>
              <a:headEnd type="none" w="med" len="med"/>
              <a:tailEnd type="triangle" w="med" len="med"/>
            </a:ln>
          </p:spPr>
        </p:sp>
        <p:sp>
          <p:nvSpPr>
            <p:cNvPr id="42002" name="Line 21"/>
            <p:cNvSpPr/>
            <p:nvPr/>
          </p:nvSpPr>
          <p:spPr>
            <a:xfrm flipV="1">
              <a:off x="1597" y="2620"/>
              <a:ext cx="1" cy="112"/>
            </a:xfrm>
            <a:prstGeom prst="line">
              <a:avLst/>
            </a:prstGeom>
            <a:ln w="9360" cap="flat" cmpd="sng">
              <a:solidFill>
                <a:srgbClr val="000000"/>
              </a:solidFill>
              <a:prstDash val="solid"/>
              <a:miter/>
              <a:headEnd type="none" w="med" len="med"/>
              <a:tailEnd type="triangle" w="med" len="med"/>
            </a:ln>
          </p:spPr>
        </p:sp>
        <p:sp>
          <p:nvSpPr>
            <p:cNvPr id="42003" name="Oval 22"/>
            <p:cNvSpPr/>
            <p:nvPr/>
          </p:nvSpPr>
          <p:spPr>
            <a:xfrm>
              <a:off x="1152" y="3061"/>
              <a:ext cx="903" cy="243"/>
            </a:xfrm>
            <a:prstGeom prst="ellipse">
              <a:avLst/>
            </a:prstGeom>
            <a:noFill/>
            <a:ln w="9360" cap="flat" cmpd="sng">
              <a:solidFill>
                <a:srgbClr val="FF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grpSp>
          <p:nvGrpSpPr>
            <p:cNvPr id="42004" name="Group 23"/>
            <p:cNvGrpSpPr/>
            <p:nvPr/>
          </p:nvGrpSpPr>
          <p:grpSpPr>
            <a:xfrm>
              <a:off x="739" y="3373"/>
              <a:ext cx="1786" cy="571"/>
              <a:chOff x="739" y="3373"/>
              <a:chExt cx="1786" cy="571"/>
            </a:xfrm>
          </p:grpSpPr>
          <p:sp>
            <p:nvSpPr>
              <p:cNvPr id="42026" name="AutoShape 24"/>
              <p:cNvSpPr/>
              <p:nvPr/>
            </p:nvSpPr>
            <p:spPr>
              <a:xfrm flipV="1">
                <a:off x="1075" y="3632"/>
                <a:ext cx="1052" cy="189"/>
              </a:xfrm>
              <a:custGeom>
                <a:avLst/>
                <a:gdLst>
                  <a:gd name="txL" fmla="*/ 0 w 21600"/>
                  <a:gd name="txT" fmla="*/ 0 h 21600"/>
                  <a:gd name="txR" fmla="*/ 21600 w 21600"/>
                  <a:gd name="txB" fmla="*/ 21600 h 21600"/>
                </a:gdLst>
                <a:ahLst/>
                <a:cxnLst>
                  <a:cxn ang="0">
                    <a:pos x="0" y="0"/>
                  </a:cxn>
                  <a:cxn ang="0">
                    <a:pos x="5400" y="21600"/>
                  </a:cxn>
                  <a:cxn ang="0">
                    <a:pos x="16200" y="21600"/>
                  </a:cxn>
                  <a:cxn ang="0">
                    <a:pos x="21600" y="0"/>
                  </a:cxn>
                </a:cxnLst>
                <a:rect l="txL" t="txT" r="txR" b="txB"/>
                <a:pathLst>
                  <a:path w="21600" h="21600">
                    <a:moveTo>
                      <a:pt x="0" y="0"/>
                    </a:moveTo>
                    <a:lnTo>
                      <a:pt x="5400" y="21600"/>
                    </a:lnTo>
                    <a:lnTo>
                      <a:pt x="16200" y="21600"/>
                    </a:lnTo>
                    <a:lnTo>
                      <a:pt x="21600" y="0"/>
                    </a:lnTo>
                    <a:close/>
                  </a:path>
                </a:pathLst>
              </a:custGeom>
              <a:solidFill>
                <a:srgbClr val="FFFFFF">
                  <a:alpha val="100000"/>
                </a:srgbClr>
              </a:solidFill>
              <a:ln w="9360" cap="flat" cmpd="sng">
                <a:solidFill>
                  <a:srgbClr val="000000">
                    <a:alpha val="100000"/>
                  </a:srgbClr>
                </a:solidFill>
                <a:prstDash val="solid"/>
                <a:miter lim="800000"/>
                <a:headEnd type="none" w="med" len="med"/>
                <a:tailEnd type="none" w="med" len="med"/>
              </a:ln>
            </p:spPr>
            <p:txBody>
              <a:bodyPr/>
              <a:p>
                <a:endParaRPr lang="zh-CN" altLang="en-US"/>
              </a:p>
            </p:txBody>
          </p:sp>
          <p:sp>
            <p:nvSpPr>
              <p:cNvPr id="42027" name="Rectangle 25"/>
              <p:cNvSpPr/>
              <p:nvPr/>
            </p:nvSpPr>
            <p:spPr>
              <a:xfrm>
                <a:off x="1289" y="3373"/>
                <a:ext cx="655" cy="152"/>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42028" name="Text Box 26"/>
              <p:cNvSpPr txBox="1"/>
              <p:nvPr/>
            </p:nvSpPr>
            <p:spPr>
              <a:xfrm>
                <a:off x="1381" y="3391"/>
                <a:ext cx="495" cy="99"/>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000" b="1" dirty="0">
                    <a:solidFill>
                      <a:srgbClr val="000000"/>
                    </a:solidFill>
                    <a:latin typeface="Times New Roman" pitchFamily="18" charset="0"/>
                  </a:rPr>
                  <a:t>35bit cmp</a:t>
                </a:r>
                <a:endParaRPr lang="en-GB" altLang="zh-CN" sz="1000" b="1" dirty="0">
                  <a:solidFill>
                    <a:srgbClr val="000000"/>
                  </a:solidFill>
                  <a:latin typeface="Times New Roman" pitchFamily="18" charset="0"/>
                </a:endParaRPr>
              </a:p>
            </p:txBody>
          </p:sp>
          <p:sp>
            <p:nvSpPr>
              <p:cNvPr id="42029" name="Line 27"/>
              <p:cNvSpPr/>
              <p:nvPr/>
            </p:nvSpPr>
            <p:spPr>
              <a:xfrm flipV="1">
                <a:off x="1610" y="3522"/>
                <a:ext cx="1" cy="113"/>
              </a:xfrm>
              <a:prstGeom prst="line">
                <a:avLst/>
              </a:prstGeom>
              <a:ln w="9360" cap="flat" cmpd="sng">
                <a:solidFill>
                  <a:srgbClr val="000000"/>
                </a:solidFill>
                <a:prstDash val="solid"/>
                <a:miter/>
                <a:headEnd type="none" w="med" len="med"/>
                <a:tailEnd type="triangle" w="med" len="med"/>
              </a:ln>
            </p:spPr>
          </p:sp>
          <p:sp>
            <p:nvSpPr>
              <p:cNvPr id="42030" name="Line 28"/>
              <p:cNvSpPr/>
              <p:nvPr/>
            </p:nvSpPr>
            <p:spPr>
              <a:xfrm>
                <a:off x="739" y="3944"/>
                <a:ext cx="1787" cy="1"/>
              </a:xfrm>
              <a:prstGeom prst="line">
                <a:avLst/>
              </a:prstGeom>
              <a:ln w="38160" cap="flat" cmpd="sng">
                <a:solidFill>
                  <a:srgbClr val="000000"/>
                </a:solidFill>
                <a:prstDash val="solid"/>
                <a:miter/>
                <a:headEnd type="none" w="med" len="med"/>
                <a:tailEnd type="none" w="med" len="med"/>
              </a:ln>
            </p:spPr>
          </p:sp>
          <p:sp>
            <p:nvSpPr>
              <p:cNvPr id="42031" name="Text Box 29"/>
              <p:cNvSpPr txBox="1"/>
              <p:nvPr/>
            </p:nvSpPr>
            <p:spPr>
              <a:xfrm>
                <a:off x="1429" y="3659"/>
                <a:ext cx="335" cy="119"/>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000" b="1" dirty="0">
                    <a:solidFill>
                      <a:srgbClr val="000000"/>
                    </a:solidFill>
                    <a:latin typeface="Times New Roman" pitchFamily="18" charset="0"/>
                  </a:rPr>
                  <a:t>adder</a:t>
                </a:r>
                <a:endParaRPr lang="en-GB" altLang="zh-CN" sz="1000" b="1" dirty="0">
                  <a:solidFill>
                    <a:srgbClr val="000000"/>
                  </a:solidFill>
                  <a:latin typeface="Times New Roman" pitchFamily="18" charset="0"/>
                </a:endParaRPr>
              </a:p>
            </p:txBody>
          </p:sp>
          <p:sp>
            <p:nvSpPr>
              <p:cNvPr id="42032" name="Line 30"/>
              <p:cNvSpPr/>
              <p:nvPr/>
            </p:nvSpPr>
            <p:spPr>
              <a:xfrm flipH="1" flipV="1">
                <a:off x="1389" y="3817"/>
                <a:ext cx="7" cy="113"/>
              </a:xfrm>
              <a:prstGeom prst="line">
                <a:avLst/>
              </a:prstGeom>
              <a:ln w="9360" cap="flat" cmpd="sng">
                <a:solidFill>
                  <a:srgbClr val="000000"/>
                </a:solidFill>
                <a:prstDash val="solid"/>
                <a:miter/>
                <a:headEnd type="none" w="med" len="med"/>
                <a:tailEnd type="triangle" w="med" len="med"/>
              </a:ln>
            </p:spPr>
          </p:sp>
          <p:sp>
            <p:nvSpPr>
              <p:cNvPr id="42033" name="Line 31"/>
              <p:cNvSpPr/>
              <p:nvPr/>
            </p:nvSpPr>
            <p:spPr>
              <a:xfrm flipV="1">
                <a:off x="1779" y="3817"/>
                <a:ext cx="1" cy="113"/>
              </a:xfrm>
              <a:prstGeom prst="line">
                <a:avLst/>
              </a:prstGeom>
              <a:ln w="9360" cap="flat" cmpd="sng">
                <a:solidFill>
                  <a:srgbClr val="000000"/>
                </a:solidFill>
                <a:prstDash val="solid"/>
                <a:miter/>
                <a:headEnd type="none" w="med" len="med"/>
                <a:tailEnd type="triangle" w="med" len="med"/>
              </a:ln>
            </p:spPr>
          </p:sp>
        </p:grpSp>
        <p:sp>
          <p:nvSpPr>
            <p:cNvPr id="42005" name="Line 32"/>
            <p:cNvSpPr/>
            <p:nvPr/>
          </p:nvSpPr>
          <p:spPr>
            <a:xfrm flipV="1">
              <a:off x="1598" y="2880"/>
              <a:ext cx="1" cy="112"/>
            </a:xfrm>
            <a:prstGeom prst="line">
              <a:avLst/>
            </a:prstGeom>
            <a:ln w="9360" cap="flat" cmpd="sng">
              <a:solidFill>
                <a:srgbClr val="000000"/>
              </a:solidFill>
              <a:prstDash val="solid"/>
              <a:miter/>
              <a:headEnd type="none" w="med" len="med"/>
              <a:tailEnd type="triangle" w="med" len="med"/>
            </a:ln>
          </p:spPr>
        </p:sp>
        <p:grpSp>
          <p:nvGrpSpPr>
            <p:cNvPr id="42006" name="Group 33"/>
            <p:cNvGrpSpPr/>
            <p:nvPr/>
          </p:nvGrpSpPr>
          <p:grpSpPr>
            <a:xfrm>
              <a:off x="1267" y="2731"/>
              <a:ext cx="654" cy="148"/>
              <a:chOff x="1267" y="2731"/>
              <a:chExt cx="654" cy="148"/>
            </a:xfrm>
          </p:grpSpPr>
          <p:sp>
            <p:nvSpPr>
              <p:cNvPr id="42024" name="Rectangle 34"/>
              <p:cNvSpPr/>
              <p:nvPr/>
            </p:nvSpPr>
            <p:spPr>
              <a:xfrm>
                <a:off x="1267" y="2731"/>
                <a:ext cx="655" cy="149"/>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42025" name="Text Box 35"/>
              <p:cNvSpPr txBox="1"/>
              <p:nvPr/>
            </p:nvSpPr>
            <p:spPr>
              <a:xfrm>
                <a:off x="1382" y="2743"/>
                <a:ext cx="446" cy="108"/>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000" b="1" dirty="0">
                    <a:solidFill>
                      <a:srgbClr val="000000"/>
                    </a:solidFill>
                    <a:latin typeface="Times New Roman" pitchFamily="18" charset="0"/>
                  </a:rPr>
                  <a:t>6-64 dec.</a:t>
                </a:r>
                <a:endParaRPr lang="en-GB" altLang="zh-CN" sz="1000" b="1" dirty="0">
                  <a:solidFill>
                    <a:srgbClr val="000000"/>
                  </a:solidFill>
                  <a:latin typeface="Times New Roman" pitchFamily="18" charset="0"/>
                </a:endParaRPr>
              </a:p>
            </p:txBody>
          </p:sp>
        </p:grpSp>
        <p:sp>
          <p:nvSpPr>
            <p:cNvPr id="42007" name="Line 36"/>
            <p:cNvSpPr/>
            <p:nvPr/>
          </p:nvSpPr>
          <p:spPr>
            <a:xfrm>
              <a:off x="3621" y="2998"/>
              <a:ext cx="1786" cy="1"/>
            </a:xfrm>
            <a:prstGeom prst="line">
              <a:avLst/>
            </a:prstGeom>
            <a:ln w="38160" cap="flat" cmpd="sng">
              <a:solidFill>
                <a:srgbClr val="000000"/>
              </a:solidFill>
              <a:prstDash val="solid"/>
              <a:miter/>
              <a:headEnd type="none" w="med" len="med"/>
              <a:tailEnd type="none" w="med" len="med"/>
            </a:ln>
          </p:spPr>
        </p:sp>
        <p:sp>
          <p:nvSpPr>
            <p:cNvPr id="42008" name="Rectangle 37"/>
            <p:cNvSpPr/>
            <p:nvPr/>
          </p:nvSpPr>
          <p:spPr>
            <a:xfrm>
              <a:off x="3929" y="2338"/>
              <a:ext cx="1078" cy="607"/>
            </a:xfrm>
            <a:prstGeom prst="rect">
              <a:avLst/>
            </a:prstGeom>
            <a:solidFill>
              <a:srgbClr val="DDDDDD"/>
            </a:solidFill>
            <a:ln w="9525">
              <a:noFill/>
            </a:ln>
          </p:spPr>
          <p:txBody>
            <a:bodyPr wrap="none" anchor="ctr" anchorCtr="0"/>
            <a:p>
              <a:endParaRPr lang="zh-CN" altLang="en-US" dirty="0">
                <a:latin typeface="Times New Roman" pitchFamily="18" charset="0"/>
              </a:endParaRPr>
            </a:p>
          </p:txBody>
        </p:sp>
        <p:grpSp>
          <p:nvGrpSpPr>
            <p:cNvPr id="42009" name="Group 38"/>
            <p:cNvGrpSpPr/>
            <p:nvPr/>
          </p:nvGrpSpPr>
          <p:grpSpPr>
            <a:xfrm>
              <a:off x="4159" y="2436"/>
              <a:ext cx="654" cy="186"/>
              <a:chOff x="4159" y="2436"/>
              <a:chExt cx="654" cy="186"/>
            </a:xfrm>
          </p:grpSpPr>
          <p:sp>
            <p:nvSpPr>
              <p:cNvPr id="42022" name="Rectangle 39"/>
              <p:cNvSpPr/>
              <p:nvPr/>
            </p:nvSpPr>
            <p:spPr>
              <a:xfrm>
                <a:off x="4159" y="2436"/>
                <a:ext cx="655" cy="187"/>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42023" name="Text Box 40"/>
              <p:cNvSpPr txBox="1"/>
              <p:nvPr/>
            </p:nvSpPr>
            <p:spPr>
              <a:xfrm>
                <a:off x="4189" y="2466"/>
                <a:ext cx="569" cy="123"/>
              </a:xfrm>
              <a:prstGeom prst="rect">
                <a:avLst/>
              </a:prstGeom>
              <a:noFill/>
              <a:ln w="9525">
                <a:noFill/>
              </a:ln>
            </p:spPr>
            <p:txBody>
              <a:bodyPr lIns="16560" tIns="9720" rIns="16560" bIns="972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000" b="1" dirty="0">
                    <a:solidFill>
                      <a:srgbClr val="000000"/>
                    </a:solidFill>
                    <a:latin typeface="Times New Roman" pitchFamily="18" charset="0"/>
                  </a:rPr>
                  <a:t>Line sel.</a:t>
                </a:r>
                <a:endParaRPr lang="en-GB" altLang="zh-CN" sz="1000" b="1" dirty="0">
                  <a:solidFill>
                    <a:srgbClr val="000000"/>
                  </a:solidFill>
                  <a:latin typeface="Times New Roman" pitchFamily="18" charset="0"/>
                </a:endParaRPr>
              </a:p>
            </p:txBody>
          </p:sp>
        </p:grpSp>
        <p:sp>
          <p:nvSpPr>
            <p:cNvPr id="42010" name="Text Box 41"/>
            <p:cNvSpPr txBox="1"/>
            <p:nvPr/>
          </p:nvSpPr>
          <p:spPr>
            <a:xfrm>
              <a:off x="3959" y="2346"/>
              <a:ext cx="301" cy="98"/>
            </a:xfrm>
            <a:prstGeom prst="rect">
              <a:avLst/>
            </a:prstGeom>
            <a:noFill/>
            <a:ln w="9525">
              <a:noFill/>
            </a:ln>
          </p:spPr>
          <p:txBody>
            <a:bodyPr lIns="0" tIns="0" rIns="0" bIns="0"/>
            <a:p>
              <a:pP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800" b="1" dirty="0">
                  <a:solidFill>
                    <a:srgbClr val="000000"/>
                  </a:solidFill>
                  <a:latin typeface="Times New Roman" pitchFamily="18" charset="0"/>
                </a:rPr>
                <a:t>RAM</a:t>
              </a:r>
              <a:endParaRPr lang="en-GB" altLang="zh-CN" sz="800" b="1" dirty="0">
                <a:solidFill>
                  <a:srgbClr val="000000"/>
                </a:solidFill>
                <a:latin typeface="Times New Roman" pitchFamily="18" charset="0"/>
              </a:endParaRPr>
            </a:p>
          </p:txBody>
        </p:sp>
        <p:sp>
          <p:nvSpPr>
            <p:cNvPr id="42011" name="Line 42"/>
            <p:cNvSpPr/>
            <p:nvPr/>
          </p:nvSpPr>
          <p:spPr>
            <a:xfrm flipV="1">
              <a:off x="4489" y="3004"/>
              <a:ext cx="1" cy="363"/>
            </a:xfrm>
            <a:prstGeom prst="line">
              <a:avLst/>
            </a:prstGeom>
            <a:ln w="9360" cap="flat" cmpd="sng">
              <a:solidFill>
                <a:srgbClr val="000000"/>
              </a:solidFill>
              <a:prstDash val="solid"/>
              <a:miter/>
              <a:headEnd type="none" w="med" len="med"/>
              <a:tailEnd type="triangle" w="med" len="med"/>
            </a:ln>
          </p:spPr>
        </p:sp>
        <p:grpSp>
          <p:nvGrpSpPr>
            <p:cNvPr id="42012" name="Group 43"/>
            <p:cNvGrpSpPr/>
            <p:nvPr/>
          </p:nvGrpSpPr>
          <p:grpSpPr>
            <a:xfrm>
              <a:off x="3630" y="3373"/>
              <a:ext cx="1786" cy="571"/>
              <a:chOff x="3630" y="3373"/>
              <a:chExt cx="1786" cy="571"/>
            </a:xfrm>
          </p:grpSpPr>
          <p:sp>
            <p:nvSpPr>
              <p:cNvPr id="42014" name="AutoShape 44"/>
              <p:cNvSpPr/>
              <p:nvPr/>
            </p:nvSpPr>
            <p:spPr>
              <a:xfrm flipV="1">
                <a:off x="3966" y="3632"/>
                <a:ext cx="1052" cy="189"/>
              </a:xfrm>
              <a:custGeom>
                <a:avLst/>
                <a:gdLst>
                  <a:gd name="txL" fmla="*/ 0 w 21600"/>
                  <a:gd name="txT" fmla="*/ 0 h 21600"/>
                  <a:gd name="txR" fmla="*/ 21600 w 21600"/>
                  <a:gd name="txB" fmla="*/ 21600 h 21600"/>
                </a:gdLst>
                <a:ahLst/>
                <a:cxnLst>
                  <a:cxn ang="0">
                    <a:pos x="0" y="0"/>
                  </a:cxn>
                  <a:cxn ang="0">
                    <a:pos x="5400" y="21600"/>
                  </a:cxn>
                  <a:cxn ang="0">
                    <a:pos x="16200" y="21600"/>
                  </a:cxn>
                  <a:cxn ang="0">
                    <a:pos x="21600" y="0"/>
                  </a:cxn>
                </a:cxnLst>
                <a:rect l="txL" t="txT" r="txR" b="txB"/>
                <a:pathLst>
                  <a:path w="21600" h="21600">
                    <a:moveTo>
                      <a:pt x="0" y="0"/>
                    </a:moveTo>
                    <a:lnTo>
                      <a:pt x="5400" y="21600"/>
                    </a:lnTo>
                    <a:lnTo>
                      <a:pt x="16200" y="21600"/>
                    </a:lnTo>
                    <a:lnTo>
                      <a:pt x="21600" y="0"/>
                    </a:lnTo>
                    <a:close/>
                  </a:path>
                </a:pathLst>
              </a:custGeom>
              <a:solidFill>
                <a:srgbClr val="FFFFFF">
                  <a:alpha val="100000"/>
                </a:srgbClr>
              </a:solidFill>
              <a:ln w="9360" cap="flat" cmpd="sng">
                <a:solidFill>
                  <a:srgbClr val="000000">
                    <a:alpha val="100000"/>
                  </a:srgbClr>
                </a:solidFill>
                <a:prstDash val="solid"/>
                <a:miter lim="800000"/>
                <a:headEnd type="none" w="med" len="med"/>
                <a:tailEnd type="none" w="med" len="med"/>
              </a:ln>
            </p:spPr>
            <p:txBody>
              <a:bodyPr/>
              <a:p>
                <a:endParaRPr lang="zh-CN" altLang="en-US"/>
              </a:p>
            </p:txBody>
          </p:sp>
          <p:sp>
            <p:nvSpPr>
              <p:cNvPr id="42015" name="Rectangle 45"/>
              <p:cNvSpPr/>
              <p:nvPr/>
            </p:nvSpPr>
            <p:spPr>
              <a:xfrm>
                <a:off x="4180" y="3373"/>
                <a:ext cx="655" cy="152"/>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42016" name="Text Box 46"/>
              <p:cNvSpPr txBox="1"/>
              <p:nvPr/>
            </p:nvSpPr>
            <p:spPr>
              <a:xfrm>
                <a:off x="4271" y="3391"/>
                <a:ext cx="495" cy="99"/>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000" b="1" dirty="0">
                    <a:solidFill>
                      <a:srgbClr val="000000"/>
                    </a:solidFill>
                    <a:latin typeface="Times New Roman" pitchFamily="18" charset="0"/>
                  </a:rPr>
                  <a:t>35bit cmp</a:t>
                </a:r>
                <a:endParaRPr lang="en-GB" altLang="zh-CN" sz="1000" b="1" dirty="0">
                  <a:solidFill>
                    <a:srgbClr val="000000"/>
                  </a:solidFill>
                  <a:latin typeface="Times New Roman" pitchFamily="18" charset="0"/>
                </a:endParaRPr>
              </a:p>
            </p:txBody>
          </p:sp>
          <p:sp>
            <p:nvSpPr>
              <p:cNvPr id="42017" name="Line 47"/>
              <p:cNvSpPr/>
              <p:nvPr/>
            </p:nvSpPr>
            <p:spPr>
              <a:xfrm flipV="1">
                <a:off x="4501" y="3522"/>
                <a:ext cx="1" cy="113"/>
              </a:xfrm>
              <a:prstGeom prst="line">
                <a:avLst/>
              </a:prstGeom>
              <a:ln w="9360" cap="flat" cmpd="sng">
                <a:solidFill>
                  <a:srgbClr val="000000"/>
                </a:solidFill>
                <a:prstDash val="solid"/>
                <a:miter/>
                <a:headEnd type="none" w="med" len="med"/>
                <a:tailEnd type="triangle" w="med" len="med"/>
              </a:ln>
            </p:spPr>
          </p:sp>
          <p:sp>
            <p:nvSpPr>
              <p:cNvPr id="42018" name="Line 48"/>
              <p:cNvSpPr/>
              <p:nvPr/>
            </p:nvSpPr>
            <p:spPr>
              <a:xfrm>
                <a:off x="3630" y="3944"/>
                <a:ext cx="1787" cy="1"/>
              </a:xfrm>
              <a:prstGeom prst="line">
                <a:avLst/>
              </a:prstGeom>
              <a:ln w="38160" cap="flat" cmpd="sng">
                <a:solidFill>
                  <a:srgbClr val="000000"/>
                </a:solidFill>
                <a:prstDash val="solid"/>
                <a:miter/>
                <a:headEnd type="none" w="med" len="med"/>
                <a:tailEnd type="none" w="med" len="med"/>
              </a:ln>
            </p:spPr>
          </p:sp>
          <p:sp>
            <p:nvSpPr>
              <p:cNvPr id="42019" name="Text Box 49"/>
              <p:cNvSpPr txBox="1"/>
              <p:nvPr/>
            </p:nvSpPr>
            <p:spPr>
              <a:xfrm>
                <a:off x="4320" y="3659"/>
                <a:ext cx="335" cy="119"/>
              </a:xfrm>
              <a:prstGeom prst="rect">
                <a:avLst/>
              </a:prstGeom>
              <a:noFill/>
              <a:ln w="9525">
                <a:noFill/>
              </a:ln>
            </p:spPr>
            <p:txBody>
              <a:bodyPr lIns="0" tIns="0" rIns="0" bIns="0"/>
              <a:p>
                <a:pPr algn="ct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r>
                  <a:rPr lang="en-GB" altLang="zh-CN" sz="1000" b="1" dirty="0">
                    <a:solidFill>
                      <a:srgbClr val="000000"/>
                    </a:solidFill>
                    <a:latin typeface="Times New Roman" pitchFamily="18" charset="0"/>
                  </a:rPr>
                  <a:t>adder</a:t>
                </a:r>
                <a:endParaRPr lang="en-GB" altLang="zh-CN" sz="1000" b="1" dirty="0">
                  <a:solidFill>
                    <a:srgbClr val="000000"/>
                  </a:solidFill>
                  <a:latin typeface="Times New Roman" pitchFamily="18" charset="0"/>
                </a:endParaRPr>
              </a:p>
            </p:txBody>
          </p:sp>
          <p:sp>
            <p:nvSpPr>
              <p:cNvPr id="42020" name="Line 50"/>
              <p:cNvSpPr/>
              <p:nvPr/>
            </p:nvSpPr>
            <p:spPr>
              <a:xfrm flipH="1" flipV="1">
                <a:off x="4280" y="3817"/>
                <a:ext cx="7" cy="113"/>
              </a:xfrm>
              <a:prstGeom prst="line">
                <a:avLst/>
              </a:prstGeom>
              <a:ln w="9360" cap="flat" cmpd="sng">
                <a:solidFill>
                  <a:srgbClr val="000000"/>
                </a:solidFill>
                <a:prstDash val="solid"/>
                <a:miter/>
                <a:headEnd type="none" w="med" len="med"/>
                <a:tailEnd type="triangle" w="med" len="med"/>
              </a:ln>
            </p:spPr>
          </p:sp>
          <p:sp>
            <p:nvSpPr>
              <p:cNvPr id="42021" name="Line 51"/>
              <p:cNvSpPr/>
              <p:nvPr/>
            </p:nvSpPr>
            <p:spPr>
              <a:xfrm flipV="1">
                <a:off x="4670" y="3817"/>
                <a:ext cx="1" cy="113"/>
              </a:xfrm>
              <a:prstGeom prst="line">
                <a:avLst/>
              </a:prstGeom>
              <a:ln w="9360" cap="flat" cmpd="sng">
                <a:solidFill>
                  <a:srgbClr val="000000"/>
                </a:solidFill>
                <a:prstDash val="solid"/>
                <a:miter/>
                <a:headEnd type="none" w="med" len="med"/>
                <a:tailEnd type="triangle" w="med" len="med"/>
              </a:ln>
            </p:spPr>
          </p:sp>
        </p:grpSp>
        <p:sp>
          <p:nvSpPr>
            <p:cNvPr id="42013" name="Line 52"/>
            <p:cNvSpPr/>
            <p:nvPr/>
          </p:nvSpPr>
          <p:spPr>
            <a:xfrm flipV="1">
              <a:off x="4489" y="2620"/>
              <a:ext cx="1" cy="372"/>
            </a:xfrm>
            <a:prstGeom prst="line">
              <a:avLst/>
            </a:prstGeom>
            <a:ln w="9360" cap="flat" cmpd="sng">
              <a:solidFill>
                <a:srgbClr val="000000"/>
              </a:solidFill>
              <a:prstDash val="solid"/>
              <a:miter/>
              <a:headEnd type="none" w="med" len="med"/>
              <a:tailEnd type="triangle" w="med" len="med"/>
            </a:ln>
          </p:spPr>
        </p:sp>
      </p:gr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43011" name="Rectangle 1"/>
          <p:cNvSpPr/>
          <p:nvPr>
            <p:ph type="title"/>
          </p:nvPr>
        </p:nvSpPr>
        <p:spPr>
          <a:xfrm>
            <a:off x="0" y="93663"/>
            <a:ext cx="12190413" cy="1058862"/>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 pos="9410700" algn="l"/>
                <a:tab pos="10134600" algn="l"/>
                <a:tab pos="10858500" algn="l"/>
              </a:tabLst>
            </a:pPr>
            <a:r>
              <a:rPr lang="zh-CN" altLang="en-GB" sz="3600" dirty="0"/>
              <a:t>故事</a:t>
            </a:r>
            <a:r>
              <a:rPr lang="en-GB" altLang="zh-CN" sz="3600" dirty="0"/>
              <a:t>10-2</a:t>
            </a:r>
            <a:r>
              <a:rPr lang="zh-CN" altLang="en-GB" sz="3600" dirty="0"/>
              <a:t>：寄存器堆延迟优化</a:t>
            </a:r>
            <a:r>
              <a:rPr lang="zh-CN" altLang="en-GB" sz="3200" dirty="0">
                <a:ea typeface="宋体" panose="02000500000000000000" pitchFamily="2" charset="-122"/>
              </a:rPr>
              <a:t> </a:t>
            </a:r>
            <a:endParaRPr lang="zh-CN" altLang="en-GB" sz="3200" dirty="0">
              <a:ea typeface="宋体" panose="02000500000000000000" pitchFamily="2" charset="-122"/>
            </a:endParaRPr>
          </a:p>
        </p:txBody>
      </p:sp>
      <p:sp>
        <p:nvSpPr>
          <p:cNvPr id="43012" name="Rectangle 2"/>
          <p:cNvSpPr/>
          <p:nvPr>
            <p:ph idx="1"/>
          </p:nvPr>
        </p:nvSpPr>
        <p:spPr>
          <a:xfrm>
            <a:off x="439738" y="1089025"/>
            <a:ext cx="11269662" cy="3311525"/>
          </a:xfrm>
        </p:spPr>
        <p:txBody>
          <a:bodyPr vert="horz" wrap="square" lIns="90000" tIns="46800" rIns="90000" bIns="46800" anchor="t" anchorCtr="0"/>
          <a:p>
            <a:pPr defTabSz="265430" eaLnBrk="1" hangingPunct="1">
              <a:spcBef>
                <a:spcPts val="6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 pos="10858500" algn="l"/>
              </a:tabLst>
            </a:pPr>
            <a:r>
              <a:rPr lang="zh-CN" altLang="en-GB" sz="2000" dirty="0">
                <a:cs typeface="宋体" panose="02000500000000000000" pitchFamily="2" charset="-122"/>
              </a:rPr>
              <a:t>根据物理位置进行运算结果的</a:t>
            </a:r>
            <a:r>
              <a:rPr lang="en-GB" altLang="zh-CN" sz="2000" dirty="0">
                <a:cs typeface="宋体" panose="02000500000000000000" pitchFamily="2" charset="-122"/>
              </a:rPr>
              <a:t>Forward</a:t>
            </a:r>
            <a:endParaRPr lang="en-GB" altLang="zh-CN" sz="2000" dirty="0">
              <a:cs typeface="宋体" panose="02000500000000000000" pitchFamily="2" charset="-122"/>
            </a:endParaRPr>
          </a:p>
          <a:p>
            <a:pPr lvl="1" defTabSz="265430" eaLnBrk="1" hangingPunct="1">
              <a:spcBef>
                <a:spcPts val="5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 pos="10858500" algn="l"/>
              </a:tabLst>
            </a:pPr>
            <a:r>
              <a:rPr lang="zh-CN" altLang="en-GB" sz="1600" dirty="0">
                <a:cs typeface="宋体" panose="02000500000000000000" pitchFamily="2" charset="-122"/>
              </a:rPr>
              <a:t>定点</a:t>
            </a:r>
            <a:r>
              <a:rPr lang="en-GB" altLang="zh-CN" sz="1600" dirty="0">
                <a:cs typeface="宋体" panose="02000500000000000000" pitchFamily="2" charset="-122"/>
              </a:rPr>
              <a:t>forward</a:t>
            </a:r>
            <a:r>
              <a:rPr lang="zh-CN" altLang="en-GB" sz="1600" dirty="0">
                <a:cs typeface="宋体" panose="02000500000000000000" pitchFamily="2" charset="-122"/>
              </a:rPr>
              <a:t>给定点，浮点</a:t>
            </a:r>
            <a:r>
              <a:rPr lang="en-GB" altLang="zh-CN" sz="1600" dirty="0">
                <a:cs typeface="宋体" panose="02000500000000000000" pitchFamily="2" charset="-122"/>
              </a:rPr>
              <a:t>forward</a:t>
            </a:r>
            <a:r>
              <a:rPr lang="zh-CN" altLang="en-GB" sz="1600" dirty="0">
                <a:cs typeface="宋体" panose="02000500000000000000" pitchFamily="2" charset="-122"/>
              </a:rPr>
              <a:t>给浮点</a:t>
            </a:r>
            <a:endParaRPr lang="zh-CN" altLang="en-GB" sz="1600" dirty="0">
              <a:cs typeface="宋体" panose="02000500000000000000" pitchFamily="2" charset="-122"/>
            </a:endParaRPr>
          </a:p>
          <a:p>
            <a:pPr lvl="1" defTabSz="265430" eaLnBrk="1" hangingPunct="1">
              <a:spcBef>
                <a:spcPts val="5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 pos="10858500" algn="l"/>
              </a:tabLst>
            </a:pPr>
            <a:r>
              <a:rPr lang="zh-CN" altLang="en-GB" sz="1600" dirty="0">
                <a:cs typeface="宋体" panose="02000500000000000000" pitchFamily="2" charset="-122"/>
              </a:rPr>
              <a:t>访存</a:t>
            </a:r>
            <a:r>
              <a:rPr lang="en-GB" altLang="zh-CN" sz="1600" dirty="0">
                <a:cs typeface="宋体" panose="02000500000000000000" pitchFamily="2" charset="-122"/>
              </a:rPr>
              <a:t>forward</a:t>
            </a:r>
            <a:r>
              <a:rPr lang="zh-CN" altLang="en-GB" sz="1600" dirty="0">
                <a:cs typeface="宋体" panose="02000500000000000000" pitchFamily="2" charset="-122"/>
              </a:rPr>
              <a:t>给定点</a:t>
            </a:r>
            <a:endParaRPr lang="zh-CN" altLang="en-GB" sz="1600" dirty="0">
              <a:cs typeface="宋体" panose="02000500000000000000" pitchFamily="2" charset="-122"/>
            </a:endParaRPr>
          </a:p>
          <a:p>
            <a:pPr defTabSz="265430" eaLnBrk="1" hangingPunct="1">
              <a:spcBef>
                <a:spcPts val="6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 pos="10858500" algn="l"/>
              </a:tabLst>
            </a:pPr>
            <a:r>
              <a:rPr lang="zh-CN" altLang="en-GB" sz="2000" dirty="0">
                <a:cs typeface="宋体" panose="02000500000000000000" pitchFamily="2" charset="-122"/>
              </a:rPr>
              <a:t>按照就近的原则使用两个</a:t>
            </a:r>
            <a:r>
              <a:rPr lang="en-GB" altLang="zh-CN" sz="2000" dirty="0">
                <a:cs typeface="宋体" panose="02000500000000000000" pitchFamily="2" charset="-122"/>
              </a:rPr>
              <a:t>4w4r</a:t>
            </a:r>
            <a:r>
              <a:rPr lang="zh-CN" altLang="en-GB" sz="2000" dirty="0">
                <a:cs typeface="宋体" panose="02000500000000000000" pitchFamily="2" charset="-122"/>
              </a:rPr>
              <a:t>的寄存器堆实现</a:t>
            </a:r>
            <a:r>
              <a:rPr lang="en-GB" altLang="zh-CN" sz="2000" dirty="0">
                <a:cs typeface="宋体" panose="02000500000000000000" pitchFamily="2" charset="-122"/>
              </a:rPr>
              <a:t>4w8r</a:t>
            </a:r>
            <a:r>
              <a:rPr lang="zh-CN" altLang="en-GB" sz="2000" dirty="0">
                <a:cs typeface="宋体" panose="02000500000000000000" pitchFamily="2" charset="-122"/>
              </a:rPr>
              <a:t>寄存器堆</a:t>
            </a:r>
            <a:endParaRPr lang="zh-CN" altLang="en-GB" sz="2000" dirty="0">
              <a:cs typeface="宋体" panose="02000500000000000000" pitchFamily="2" charset="-122"/>
            </a:endParaRPr>
          </a:p>
          <a:p>
            <a:pPr lvl="1" defTabSz="265430" eaLnBrk="1" hangingPunct="1">
              <a:spcBef>
                <a:spcPts val="5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 pos="10858500" algn="l"/>
              </a:tabLst>
            </a:pPr>
            <a:r>
              <a:rPr lang="zh-CN" altLang="en-GB" sz="1600" dirty="0">
                <a:cs typeface="宋体" panose="02000500000000000000" pitchFamily="2" charset="-122"/>
              </a:rPr>
              <a:t>定点：</a:t>
            </a:r>
            <a:r>
              <a:rPr lang="en-GB" altLang="zh-CN" sz="1600" dirty="0">
                <a:cs typeface="宋体" panose="02000500000000000000" pitchFamily="2" charset="-122"/>
              </a:rPr>
              <a:t>ALU1</a:t>
            </a:r>
            <a:r>
              <a:rPr lang="zh-CN" altLang="en-GB" sz="1600" dirty="0">
                <a:cs typeface="宋体" panose="02000500000000000000" pitchFamily="2" charset="-122"/>
              </a:rPr>
              <a:t>（ </a:t>
            </a:r>
            <a:r>
              <a:rPr lang="en-GB" altLang="zh-CN" sz="1600" dirty="0">
                <a:cs typeface="宋体" panose="02000500000000000000" pitchFamily="2" charset="-122"/>
              </a:rPr>
              <a:t>1w3r</a:t>
            </a:r>
            <a:r>
              <a:rPr lang="zh-CN" altLang="en-GB" sz="1600" dirty="0">
                <a:cs typeface="宋体" panose="02000500000000000000" pitchFamily="2" charset="-122"/>
              </a:rPr>
              <a:t>）、</a:t>
            </a:r>
            <a:r>
              <a:rPr lang="en-GB" altLang="zh-CN" sz="1600" dirty="0">
                <a:cs typeface="宋体" panose="02000500000000000000" pitchFamily="2" charset="-122"/>
              </a:rPr>
              <a:t>ALU2</a:t>
            </a:r>
            <a:r>
              <a:rPr lang="zh-CN" altLang="en-GB" sz="1600" dirty="0">
                <a:cs typeface="宋体" panose="02000500000000000000" pitchFamily="2" charset="-122"/>
              </a:rPr>
              <a:t>（</a:t>
            </a:r>
            <a:r>
              <a:rPr lang="en-GB" altLang="zh-CN" sz="1600" dirty="0">
                <a:cs typeface="宋体" panose="02000500000000000000" pitchFamily="2" charset="-122"/>
              </a:rPr>
              <a:t>1w2r</a:t>
            </a:r>
            <a:r>
              <a:rPr lang="zh-CN" altLang="en-GB" sz="1600" dirty="0">
                <a:cs typeface="宋体" panose="02000500000000000000" pitchFamily="2" charset="-122"/>
              </a:rPr>
              <a:t>）、访存（</a:t>
            </a:r>
            <a:r>
              <a:rPr lang="en-GB" altLang="zh-CN" sz="1600" dirty="0">
                <a:cs typeface="宋体" panose="02000500000000000000" pitchFamily="2" charset="-122"/>
              </a:rPr>
              <a:t>2w3r</a:t>
            </a:r>
            <a:r>
              <a:rPr lang="zh-CN" altLang="en-GB" sz="1600" dirty="0">
                <a:cs typeface="宋体" panose="02000500000000000000" pitchFamily="2" charset="-122"/>
              </a:rPr>
              <a:t>）</a:t>
            </a:r>
            <a:endParaRPr lang="zh-CN" altLang="en-GB" sz="1600" dirty="0">
              <a:cs typeface="宋体" panose="02000500000000000000" pitchFamily="2" charset="-122"/>
            </a:endParaRPr>
          </a:p>
          <a:p>
            <a:pPr lvl="1" defTabSz="265430" eaLnBrk="1" hangingPunct="1">
              <a:spcBef>
                <a:spcPts val="50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 pos="10858500" algn="l"/>
              </a:tabLst>
            </a:pPr>
            <a:r>
              <a:rPr lang="zh-CN" altLang="en-GB" sz="1600" dirty="0">
                <a:cs typeface="宋体" panose="02000500000000000000" pitchFamily="2" charset="-122"/>
              </a:rPr>
              <a:t>浮点：</a:t>
            </a:r>
            <a:r>
              <a:rPr lang="en-GB" altLang="zh-CN" sz="1600" dirty="0">
                <a:cs typeface="宋体" panose="02000500000000000000" pitchFamily="2" charset="-122"/>
              </a:rPr>
              <a:t>FALU1</a:t>
            </a:r>
            <a:r>
              <a:rPr lang="zh-CN" altLang="en-GB" sz="1600" dirty="0">
                <a:cs typeface="宋体" panose="02000500000000000000" pitchFamily="2" charset="-122"/>
              </a:rPr>
              <a:t>（</a:t>
            </a:r>
            <a:r>
              <a:rPr lang="en-GB" altLang="zh-CN" sz="1600" dirty="0">
                <a:cs typeface="宋体" panose="02000500000000000000" pitchFamily="2" charset="-122"/>
              </a:rPr>
              <a:t>1w3r</a:t>
            </a:r>
            <a:r>
              <a:rPr lang="zh-CN" altLang="en-GB" sz="1600" dirty="0">
                <a:cs typeface="宋体" panose="02000500000000000000" pitchFamily="2" charset="-122"/>
              </a:rPr>
              <a:t>）、</a:t>
            </a:r>
            <a:r>
              <a:rPr lang="en-GB" altLang="zh-CN" sz="1600" dirty="0">
                <a:cs typeface="宋体" panose="02000500000000000000" pitchFamily="2" charset="-122"/>
              </a:rPr>
              <a:t>FALU2</a:t>
            </a:r>
            <a:r>
              <a:rPr lang="zh-CN" altLang="en-GB" sz="1600" dirty="0">
                <a:cs typeface="宋体" panose="02000500000000000000" pitchFamily="2" charset="-122"/>
              </a:rPr>
              <a:t>（</a:t>
            </a:r>
            <a:r>
              <a:rPr lang="en-GB" altLang="zh-CN" sz="1600" dirty="0">
                <a:cs typeface="宋体" panose="02000500000000000000" pitchFamily="2" charset="-122"/>
              </a:rPr>
              <a:t>1w3r</a:t>
            </a:r>
            <a:r>
              <a:rPr lang="zh-CN" altLang="en-GB" sz="1600" dirty="0">
                <a:cs typeface="宋体" panose="02000500000000000000" pitchFamily="2" charset="-122"/>
              </a:rPr>
              <a:t>）、访存（</a:t>
            </a:r>
            <a:r>
              <a:rPr lang="en-GB" altLang="zh-CN" sz="1600" dirty="0">
                <a:cs typeface="宋体" panose="02000500000000000000" pitchFamily="2" charset="-122"/>
              </a:rPr>
              <a:t>2w2r</a:t>
            </a:r>
            <a:r>
              <a:rPr lang="zh-CN" altLang="en-GB" sz="1600" dirty="0">
                <a:cs typeface="宋体" panose="02000500000000000000" pitchFamily="2" charset="-122"/>
              </a:rPr>
              <a:t>）</a:t>
            </a:r>
            <a:endParaRPr lang="zh-CN" altLang="en-GB" sz="1600" dirty="0">
              <a:cs typeface="宋体" panose="02000500000000000000" pitchFamily="2" charset="-122"/>
            </a:endParaRPr>
          </a:p>
        </p:txBody>
      </p:sp>
      <p:pic>
        <p:nvPicPr>
          <p:cNvPr id="43013" name="Picture 3"/>
          <p:cNvPicPr>
            <a:picLocks noChangeAspect="1"/>
          </p:cNvPicPr>
          <p:nvPr/>
        </p:nvPicPr>
        <p:blipFill>
          <a:blip r:embed="rId1"/>
          <a:stretch>
            <a:fillRect/>
          </a:stretch>
        </p:blipFill>
        <p:spPr>
          <a:xfrm>
            <a:off x="4695825" y="4489450"/>
            <a:ext cx="2928938" cy="2368550"/>
          </a:xfrm>
          <a:prstGeom prst="rect">
            <a:avLst/>
          </a:prstGeom>
          <a:noFill/>
          <a:ln w="9525">
            <a:noFill/>
          </a:ln>
        </p:spPr>
      </p:pic>
      <p:pic>
        <p:nvPicPr>
          <p:cNvPr id="43014" name="Picture 4"/>
          <p:cNvPicPr>
            <a:picLocks noChangeAspect="1"/>
          </p:cNvPicPr>
          <p:nvPr/>
        </p:nvPicPr>
        <p:blipFill>
          <a:blip r:embed="rId2"/>
          <a:stretch>
            <a:fillRect/>
          </a:stretch>
        </p:blipFill>
        <p:spPr>
          <a:xfrm>
            <a:off x="17463" y="4506913"/>
            <a:ext cx="4611687" cy="2346325"/>
          </a:xfrm>
          <a:prstGeom prst="rect">
            <a:avLst/>
          </a:prstGeom>
          <a:noFill/>
          <a:ln w="9525">
            <a:noFill/>
          </a:ln>
        </p:spPr>
      </p:pic>
      <p:pic>
        <p:nvPicPr>
          <p:cNvPr id="43015" name="Picture 5"/>
          <p:cNvPicPr>
            <a:picLocks noChangeAspect="1"/>
          </p:cNvPicPr>
          <p:nvPr/>
        </p:nvPicPr>
        <p:blipFill>
          <a:blip r:embed="rId3"/>
          <a:stretch>
            <a:fillRect/>
          </a:stretch>
        </p:blipFill>
        <p:spPr>
          <a:xfrm>
            <a:off x="7926388" y="4530725"/>
            <a:ext cx="4092575" cy="2327275"/>
          </a:xfrm>
          <a:prstGeom prst="rect">
            <a:avLst/>
          </a:prstGeom>
          <a:noFill/>
          <a:ln w="9525">
            <a:noFill/>
          </a:ln>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44035" name="Rectangle 1"/>
          <p:cNvSpPr/>
          <p:nvPr>
            <p:ph type="title"/>
          </p:nvPr>
        </p:nvSpPr>
        <p:spPr>
          <a:xfrm>
            <a:off x="896938" y="47625"/>
            <a:ext cx="10364787"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t>体会</a:t>
            </a:r>
            <a:endParaRPr lang="zh-CN" altLang="en-GB" dirty="0"/>
          </a:p>
        </p:txBody>
      </p:sp>
      <p:sp>
        <p:nvSpPr>
          <p:cNvPr id="44036" name="Rectangle 2"/>
          <p:cNvSpPr/>
          <p:nvPr>
            <p:ph idx="1"/>
          </p:nvPr>
        </p:nvSpPr>
        <p:spPr>
          <a:xfrm>
            <a:off x="288925" y="1574800"/>
            <a:ext cx="11715750" cy="4794250"/>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不要被模拟器欺骗，更不要自己骗自己</a:t>
            </a:r>
            <a:endParaRPr lang="zh-CN" altLang="en-GB"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软硬件的融合是提高性能的关键</a:t>
            </a:r>
            <a:endParaRPr lang="zh-CN" altLang="en-GB"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永远喂不饱的</a:t>
            </a:r>
            <a:r>
              <a:rPr lang="en-GB" altLang="zh-CN" dirty="0">
                <a:cs typeface="宋体" panose="02000500000000000000" pitchFamily="2" charset="-122"/>
              </a:rPr>
              <a:t>CPU</a:t>
            </a:r>
            <a:endParaRPr lang="en-GB" altLang="zh-CN"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带宽是冯诺依曼结构永恒的主题</a:t>
            </a:r>
            <a:endParaRPr lang="zh-CN" altLang="en-GB"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平衡的设计至关重要</a:t>
            </a:r>
            <a:endParaRPr lang="zh-CN" altLang="en-GB"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优化最频繁的事件，好钢用在刀刃上</a:t>
            </a:r>
            <a:endParaRPr lang="zh-CN" altLang="en-GB"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投资存储总有回报</a:t>
            </a:r>
            <a:endParaRPr lang="zh-CN" altLang="en-GB"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皮体系结构设计的重要性，结构跟物理的结合</a:t>
            </a:r>
            <a:endParaRPr lang="zh-CN" altLang="en-GB" dirty="0">
              <a:cs typeface="宋体" panose="02000500000000000000" pitchFamily="2" charset="-122"/>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灯片编号占位符 5"/>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45059" name="Rectangle 1"/>
          <p:cNvSpPr/>
          <p:nvPr>
            <p:ph type="title"/>
          </p:nvPr>
        </p:nvSpPr>
        <p:spPr>
          <a:xfrm>
            <a:off x="920750" y="0"/>
            <a:ext cx="10366375" cy="1058863"/>
          </a:xfrm>
        </p:spPr>
        <p:txBody>
          <a:bodyPr vert="horz" wrap="square" lIns="90000" tIns="46800" rIns="90000" bIns="46800" anchor="ctr" anchorCtr="0"/>
          <a:p>
            <a:pP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GB" dirty="0">
                <a:latin typeface="黑体" panose="02000500000000000000" pitchFamily="49" charset="-122"/>
              </a:rPr>
              <a:t>体  会</a:t>
            </a:r>
            <a:endParaRPr lang="zh-CN" altLang="en-GB" dirty="0">
              <a:latin typeface="黑体" panose="02000500000000000000" pitchFamily="49" charset="-122"/>
            </a:endParaRPr>
          </a:p>
        </p:txBody>
      </p:sp>
      <p:sp>
        <p:nvSpPr>
          <p:cNvPr id="45060" name="Rectangle 2"/>
          <p:cNvSpPr/>
          <p:nvPr>
            <p:ph idx="1"/>
          </p:nvPr>
        </p:nvSpPr>
        <p:spPr>
          <a:xfrm>
            <a:off x="468313" y="1300163"/>
            <a:ext cx="11337925" cy="5400675"/>
          </a:xfrm>
        </p:spPr>
        <p:txBody>
          <a:bodyPr vert="horz" wrap="square" lIns="90000" tIns="46800" rIns="90000" bIns="46800" anchor="t" anchorCtr="0"/>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en-GB" altLang="zh-CN" dirty="0">
                <a:cs typeface="宋体" panose="02000500000000000000" pitchFamily="2" charset="-122"/>
              </a:rPr>
              <a:t>“</a:t>
            </a:r>
            <a:r>
              <a:rPr lang="zh-CN" altLang="en-GB" dirty="0">
                <a:cs typeface="宋体" panose="02000500000000000000" pitchFamily="2" charset="-122"/>
              </a:rPr>
              <a:t>发现结构瓶颈、改进设计、在期待中流片、收获性能提高、发现新瓶颈”的螺旋上升的改进过程是一个充满痛苦并激动人心的过程，设计人员的经验随着设计的提高而提高</a:t>
            </a:r>
            <a:endParaRPr lang="zh-CN" altLang="en-GB"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结构的魅力在于统筹兼顾，质量的魅力在于持续改进</a:t>
            </a:r>
            <a:endParaRPr lang="zh-CN" altLang="en-GB" dirty="0">
              <a:cs typeface="宋体" panose="02000500000000000000" pitchFamily="2" charset="-122"/>
            </a:endParaRPr>
          </a:p>
          <a:p>
            <a:pPr lvl="1"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cs typeface="宋体" panose="02000500000000000000" pitchFamily="2" charset="-122"/>
              </a:rPr>
              <a:t>好的结构设计师是用失误喂出来的</a:t>
            </a:r>
            <a:endParaRPr lang="zh-CN" altLang="en-GB" dirty="0">
              <a:cs typeface="宋体" panose="02000500000000000000" pitchFamily="2" charset="-122"/>
            </a:endParaRPr>
          </a:p>
          <a:p>
            <a:pPr defTabSz="265430" eaLnBrk="1" hangingPunct="1">
              <a:spcBef>
                <a:spcPct val="0"/>
              </a:spcBef>
              <a:buSzPct val="100000"/>
              <a:tabLst>
                <a:tab pos="527050" algn="l"/>
                <a:tab pos="792480" algn="l"/>
                <a:tab pos="1057275" algn="l"/>
                <a:tab pos="1322705" algn="l"/>
                <a:tab pos="1587500" algn="l"/>
                <a:tab pos="1852930" algn="l"/>
                <a:tab pos="2117725" algn="l"/>
                <a:tab pos="2383155" algn="l"/>
                <a:tab pos="2647950" algn="l"/>
                <a:tab pos="2913380" algn="l"/>
                <a:tab pos="3178175" algn="l"/>
                <a:tab pos="3443605" algn="l"/>
                <a:tab pos="3708400" algn="l"/>
                <a:tab pos="3973830" algn="l"/>
                <a:tab pos="4238625" algn="l"/>
                <a:tab pos="4504055" algn="l"/>
                <a:tab pos="4768850" algn="l"/>
                <a:tab pos="5034280" algn="l"/>
                <a:tab pos="5299075" algn="l"/>
                <a:tab pos="5564505" algn="l"/>
                <a:tab pos="5791200" algn="l"/>
                <a:tab pos="6515100" algn="l"/>
                <a:tab pos="7239000" algn="l"/>
                <a:tab pos="7962900" algn="l"/>
                <a:tab pos="8686800" algn="l"/>
                <a:tab pos="9410700" algn="l"/>
                <a:tab pos="10134600" algn="l"/>
              </a:tabLst>
            </a:pPr>
            <a:r>
              <a:rPr lang="zh-CN" altLang="en-GB" dirty="0">
                <a:solidFill>
                  <a:srgbClr val="FF0000"/>
                </a:solidFill>
                <a:cs typeface="宋体" panose="02000500000000000000" pitchFamily="2" charset="-122"/>
              </a:rPr>
              <a:t>持续改进、“</a:t>
            </a:r>
            <a:r>
              <a:rPr lang="en-US" altLang="zh-CN" dirty="0">
                <a:solidFill>
                  <a:srgbClr val="FF0000"/>
                </a:solidFill>
                <a:cs typeface="宋体" panose="02000500000000000000" pitchFamily="2" charset="-122"/>
              </a:rPr>
              <a:t>work-on-silicon</a:t>
            </a:r>
            <a:r>
              <a:rPr lang="en-GB" altLang="zh-CN" dirty="0">
                <a:solidFill>
                  <a:srgbClr val="FF0000"/>
                </a:solidFill>
                <a:cs typeface="宋体" panose="02000500000000000000" pitchFamily="2" charset="-122"/>
              </a:rPr>
              <a:t>”</a:t>
            </a:r>
            <a:r>
              <a:rPr lang="zh-CN" altLang="en-GB" dirty="0">
                <a:solidFill>
                  <a:srgbClr val="FF0000"/>
                </a:solidFill>
                <a:cs typeface="宋体" panose="02000500000000000000" pitchFamily="2" charset="-122"/>
              </a:rPr>
              <a:t>的设计态度以及对软硬件及工艺的融会贯通</a:t>
            </a:r>
            <a:r>
              <a:rPr lang="zh-CN" altLang="en-GB" dirty="0">
                <a:cs typeface="宋体" panose="02000500000000000000" pitchFamily="2" charset="-122"/>
              </a:rPr>
              <a:t>是一个优秀设计师的三个最重要品质</a:t>
            </a:r>
            <a:endParaRPr lang="en-GB" altLang="zh-CN" dirty="0">
              <a:cs typeface="宋体" panose="02000500000000000000" pitchFamily="2" charset="-122"/>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灯片编号占位符 4"/>
          <p:cNvSpPr txBox="1">
            <a:spLocks noGrp="1"/>
          </p:cNvSpPr>
          <p:nvPr>
            <p:ph type="sldNum" idx="12"/>
          </p:nvPr>
        </p:nvSpPr>
        <p:spPr/>
        <p:txBody>
          <a:bodyPr lIns="90000" tIns="46800" rIns="90000" bIns="46800"/>
          <a:lstStyle>
            <a:lvl1pPr marL="0" lvl="0" indent="0" algn="l" defTabSz="265430" rtl="0" eaLnBrk="0" fontAlgn="base" latinLnBrk="0" hangingPunct="0">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defRPr>
            </a:lvl1pPr>
            <a:lvl2pPr marL="457200" lvl="1"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2pPr>
            <a:lvl3pPr marL="914400" lvl="2"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3pPr>
            <a:lvl4pPr marL="1371600" lvl="3"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4pPr>
            <a:lvl5pPr marL="1828800" lvl="4" indent="0" algn="l" defTabSz="265430" rtl="0" eaLnBrk="1" fontAlgn="base" latinLnBrk="0" hangingPunct="1">
              <a:lnSpc>
                <a:spcPct val="100000"/>
              </a:lnSpc>
              <a:spcBef>
                <a:spcPct val="0"/>
              </a:spcBef>
              <a:spcAft>
                <a:spcPct val="0"/>
              </a:spcAft>
              <a:buSzPct val="100000"/>
              <a:buFont typeface="Times New Roman" pitchFamily="18" charset="0"/>
              <a:buNone/>
              <a:defRPr sz="2400" b="0" i="0" u="none" kern="1200" baseline="0">
                <a:solidFill>
                  <a:schemeClr val="bg1"/>
                </a:solidFill>
                <a:latin typeface="Times New Roman" pitchFamily="18" charset="0"/>
                <a:ea typeface="宋体" panose="02000500000000000000" pitchFamily="2" charset="-122"/>
                <a:cs typeface="+mn-cs"/>
              </a:defRPr>
            </a:lvl5pPr>
          </a:lstStyle>
          <a:p>
            <a:pPr lvl="0" algn="r" defTabSz="26543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zh-CN" altLang="en-GB" sz="1400" dirty="0">
                <a:solidFill>
                  <a:srgbClr val="000000"/>
                </a:solidFill>
              </a:rPr>
            </a:fld>
            <a:endParaRPr lang="zh-CN" altLang="en-GB" sz="1400" dirty="0">
              <a:solidFill>
                <a:srgbClr val="000000"/>
              </a:solidFill>
            </a:endParaRPr>
          </a:p>
        </p:txBody>
      </p:sp>
      <p:sp>
        <p:nvSpPr>
          <p:cNvPr id="38913" name="Rectangle 1"/>
          <p:cNvSpPr>
            <a:spLocks noGrp="1" noChangeArrowheads="1"/>
          </p:cNvSpPr>
          <p:nvPr>
            <p:ph type="title"/>
          </p:nvPr>
        </p:nvSpPr>
        <p:spPr>
          <a:xfrm>
            <a:off x="841375" y="1444625"/>
            <a:ext cx="10361613" cy="3795713"/>
          </a:xfrm>
        </p:spPr>
        <p:txBody>
          <a:bodyPr vert="horz" wrap="square" lIns="90000" tIns="46800" rIns="90000" bIns="46800" numCol="1" anchor="ctr" anchorCtr="0" compatLnSpc="1"/>
          <a:lstStyle/>
          <a:p>
            <a:pPr marL="0" marR="0" lvl="0" indent="0" algn="ctr" defTabSz="265430" rtl="0" eaLnBrk="1" fontAlgn="base" latinLnBrk="0" hangingPunct="1">
              <a:lnSpc>
                <a:spcPct val="150000"/>
              </a:lnSpc>
              <a:spcBef>
                <a:spcPct val="0"/>
              </a:spcBef>
              <a:spcAft>
                <a:spcPct val="0"/>
              </a:spcAft>
              <a:buClr>
                <a:srgbClr val="FF0000"/>
              </a:buClr>
              <a:buSzPct val="100000"/>
              <a:buFont typeface="Arial" panose="02080604020202020204" pitchFamily="34" charset="0"/>
              <a:buNone/>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 pos="5791200" algn="l"/>
                <a:tab pos="6515100" algn="l"/>
                <a:tab pos="7239000" algn="l"/>
                <a:tab pos="7962900" algn="l"/>
                <a:tab pos="8686800" algn="l"/>
              </a:tabLst>
              <a:defRPr/>
            </a:pPr>
            <a:r>
              <a:rPr kumimoji="0" lang="zh-CN" altLang="en-GB" sz="4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黑体" panose="02000500000000000000" pitchFamily="49" charset="-122"/>
                <a:ea typeface="+mj-ea"/>
                <a:cs typeface="+mj-cs"/>
              </a:rPr>
              <a:t>纸上得来终觉浅</a:t>
            </a:r>
            <a:br>
              <a:rPr kumimoji="0" lang="zh-CN" altLang="en-GB" sz="4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黑体" panose="02000500000000000000" pitchFamily="49" charset="-122"/>
                <a:ea typeface="+mj-ea"/>
                <a:cs typeface="+mj-cs"/>
              </a:rPr>
            </a:br>
            <a:r>
              <a:rPr kumimoji="0" lang="zh-CN" altLang="en-US" sz="4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黑体" panose="02000500000000000000" pitchFamily="49" charset="-122"/>
                <a:ea typeface="+mj-ea"/>
                <a:cs typeface="+mj-cs"/>
              </a:rPr>
              <a:t>绝</a:t>
            </a:r>
            <a:r>
              <a:rPr kumimoji="0" lang="zh-CN" altLang="en-GB" sz="4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黑体" panose="02000500000000000000" pitchFamily="49" charset="-122"/>
                <a:ea typeface="+mj-ea"/>
                <a:cs typeface="+mj-cs"/>
              </a:rPr>
              <a:t>知此事要躬行</a:t>
            </a:r>
            <a:endParaRPr kumimoji="0" lang="zh-CN" altLang="en-GB" sz="4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黑体" panose="02000500000000000000" pitchFamily="49" charset="-122"/>
              <a:ea typeface="+mj-ea"/>
              <a:cs typeface="+mj-cs"/>
            </a:endParaRPr>
          </a:p>
        </p:txBody>
      </p:sp>
    </p:spTree>
  </p:cSld>
  <p:clrMapOvr>
    <a:masterClrMapping/>
  </p:clrMapOvr>
  <p:transition spd="med"/>
</p:sld>
</file>

<file path=ppt/tags/tag1.xml><?xml version="1.0" encoding="utf-8"?>
<p:tagLst xmlns:p="http://schemas.openxmlformats.org/presentationml/2006/main">
  <p:tag name="KSO_WM_BEAUTIFY_FLAG" val=""/>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defRPr kumimoji="0" lang="en-GB" sz="2400" b="0" i="0" u="none" strike="noStrike" cap="none" normalizeH="0" baseline="0" smtClean="0">
            <a:ln>
              <a:noFill/>
            </a:ln>
            <a:solidFill>
              <a:schemeClr val="bg1"/>
            </a:solidFill>
            <a:effectLst/>
            <a:latin typeface="Times New Roman" pitchFamily="18" charset="0"/>
            <a:ea typeface="宋体" panose="02000500000000000000" pitchFamily="2"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265430" rtl="0" eaLnBrk="1" fontAlgn="base" latinLnBrk="0" hangingPunct="1">
          <a:lnSpc>
            <a:spcPct val="100000"/>
          </a:lnSpc>
          <a:spcBef>
            <a:spcPct val="0"/>
          </a:spcBef>
          <a:spcAft>
            <a:spcPct val="0"/>
          </a:spcAft>
          <a:buClr>
            <a:srgbClr val="000000"/>
          </a:buClr>
          <a:buSzPct val="100000"/>
          <a:buFont typeface="Times New Roman" pitchFamily="18" charset="0"/>
          <a:buNone/>
          <a:defRPr kumimoji="0" lang="en-GB" sz="2400" b="0" i="0" u="none" strike="noStrike" cap="none" normalizeH="0" baseline="0" smtClean="0">
            <a:ln>
              <a:noFill/>
            </a:ln>
            <a:solidFill>
              <a:schemeClr val="bg1"/>
            </a:solidFill>
            <a:effectLst/>
            <a:latin typeface="Times New Roman" pitchFamily="18" charset="0"/>
            <a:ea typeface="宋体" panose="02000500000000000000"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11216</Words>
  <Application>WPS 演示</Application>
  <PresentationFormat>自定义</PresentationFormat>
  <Paragraphs>2146</Paragraphs>
  <Slides>42</Slides>
  <Notes>31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13</vt:i4>
      </vt:variant>
      <vt:variant>
        <vt:lpstr>幻灯片标题</vt:lpstr>
      </vt:variant>
      <vt:variant>
        <vt:i4>42</vt:i4>
      </vt:variant>
    </vt:vector>
  </HeadingPairs>
  <TitlesOfParts>
    <vt:vector size="70" baseType="lpstr">
      <vt:lpstr>Arial</vt:lpstr>
      <vt:lpstr>宋体</vt:lpstr>
      <vt:lpstr>Wingdings</vt:lpstr>
      <vt:lpstr>Times New Roman</vt:lpstr>
      <vt:lpstr>Nimbus Roman No9 L</vt:lpstr>
      <vt:lpstr>黑体</vt:lpstr>
      <vt:lpstr>华文新魏</vt:lpstr>
      <vt:lpstr>文泉驿正黑</vt:lpstr>
      <vt:lpstr>微软雅黑</vt:lpstr>
      <vt:lpstr>Arial Unicode MS</vt:lpstr>
      <vt:lpstr>国标宋体</vt:lpstr>
      <vt:lpstr>FreeSans</vt:lpstr>
      <vt:lpstr>BatangChe</vt:lpstr>
      <vt:lpstr>MathJax_Vector</vt:lpstr>
      <vt:lpstr>默认设计模板</vt:lpstr>
      <vt:lpstr>Excel.Sheet.5</vt:lpstr>
      <vt:lpstr>Excel.Chart.8</vt:lpstr>
      <vt:lpstr>Excel.Chart.8</vt:lpstr>
      <vt:lpstr>Excel.Chart.8</vt:lpstr>
      <vt:lpstr>Excel.Chart.8</vt:lpstr>
      <vt:lpstr>Excel.Sheet.5</vt:lpstr>
      <vt:lpstr>MSGraph.Chart</vt:lpstr>
      <vt:lpstr>MSGraph.Chart</vt:lpstr>
      <vt:lpstr>Excel.Sheet.5</vt:lpstr>
      <vt:lpstr>Excel.Sheet.5</vt:lpstr>
      <vt:lpstr>Excel.Chart.8</vt:lpstr>
      <vt:lpstr>Excel.Chart.8</vt:lpstr>
      <vt:lpstr>Excel.Chart.8</vt:lpstr>
      <vt:lpstr>实践是最好的课堂 ---龙芯处理器设计的启示</vt:lpstr>
      <vt:lpstr>提  纲</vt:lpstr>
      <vt:lpstr>龙芯处理器简介</vt:lpstr>
      <vt:lpstr>持续改进的过程</vt:lpstr>
      <vt:lpstr>龙芯2号处理器核（GS464）</vt:lpstr>
      <vt:lpstr>龙芯处理器结构设计心得</vt:lpstr>
      <vt:lpstr>龙芯2B、2C、2E的“三级跳”</vt:lpstr>
      <vt:lpstr>龙芯3A2000/3000的SPEC CPU2000分值</vt:lpstr>
      <vt:lpstr>做CPU有感</vt:lpstr>
      <vt:lpstr>20年迭代完成通用CPU性能“补课”</vt:lpstr>
      <vt:lpstr>PowerPoint 演示文稿</vt:lpstr>
      <vt:lpstr>龙芯3C6000服务器CPU（样片阶段）</vt:lpstr>
      <vt:lpstr>3B6600桌面CPU（研制阶段）</vt:lpstr>
      <vt:lpstr>龙芯CPU的SPEC CPU2006性能</vt:lpstr>
      <vt:lpstr>硅是检验设计的唯一标准</vt:lpstr>
      <vt:lpstr>硅是检验结构设计的唯一标准</vt:lpstr>
      <vt:lpstr>故事1：模拟器和硅的校准</vt:lpstr>
      <vt:lpstr>FPGA和硅片的参数校准</vt:lpstr>
      <vt:lpstr>故事2：细节决定成败</vt:lpstr>
      <vt:lpstr>故事3：正确对待前人的做法和结果</vt:lpstr>
      <vt:lpstr>故事4：编译器和硬件的磨合</vt:lpstr>
      <vt:lpstr>结构设计要统筹兼顾</vt:lpstr>
      <vt:lpstr>设计要统筹兼顾</vt:lpstr>
      <vt:lpstr>故事5：访存带宽瓶颈</vt:lpstr>
      <vt:lpstr>访存带宽和性能</vt:lpstr>
      <vt:lpstr>龙芯2C/2E vs. Pentium III</vt:lpstr>
      <vt:lpstr>故事6：间接转移猜测</vt:lpstr>
      <vt:lpstr>故事7: TLB例外开销 </vt:lpstr>
      <vt:lpstr>增加页大小后性能显著提高</vt:lpstr>
      <vt:lpstr>结构设计要重点突出</vt:lpstr>
      <vt:lpstr>设计要重点突出</vt:lpstr>
      <vt:lpstr>故事8: 降低Load-to-Use延迟</vt:lpstr>
      <vt:lpstr>PowerPoint 演示文稿</vt:lpstr>
      <vt:lpstr>Load Speculation引起的性能提高</vt:lpstr>
      <vt:lpstr>故事9: 降低Store失效开销</vt:lpstr>
      <vt:lpstr>面向工艺的结构设计</vt:lpstr>
      <vt:lpstr>皮体系结构（Pico-Architecture）设计</vt:lpstr>
      <vt:lpstr>PowerPoint 演示文稿</vt:lpstr>
      <vt:lpstr>故事10-2：寄存器堆延迟优化 </vt:lpstr>
      <vt:lpstr>体会</vt:lpstr>
      <vt:lpstr>体  会</vt:lpstr>
      <vt:lpstr>纸上得来终觉浅 绝知此事要躬行</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“十五”863计算机软硬件技术主题 计算机体系结构专题战略目标</dc:title>
  <dc:creator>Weiwu Hu</dc:creator>
  <cp:lastModifiedBy>loongson</cp:lastModifiedBy>
  <cp:revision>70</cp:revision>
  <dcterms:created xsi:type="dcterms:W3CDTF">2025-10-02T11:26:29Z</dcterms:created>
  <dcterms:modified xsi:type="dcterms:W3CDTF">2025-10-02T11:26:29Z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2052-11.1.0.11719</vt:lpwstr>
  </property>
</Properties>
</file>