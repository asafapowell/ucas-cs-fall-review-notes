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1"/>
  </p:notesMasterIdLst>
  <p:sldIdLst>
    <p:sldId id="257" r:id="rId3"/>
    <p:sldId id="525" r:id="rId4"/>
    <p:sldId id="261" r:id="rId5"/>
    <p:sldId id="516" r:id="rId6"/>
    <p:sldId id="420" r:id="rId7"/>
    <p:sldId id="589" r:id="rId8"/>
    <p:sldId id="510" r:id="rId9"/>
    <p:sldId id="511" r:id="rId10"/>
    <p:sldId id="512" r:id="rId11"/>
    <p:sldId id="517" r:id="rId12"/>
    <p:sldId id="506" r:id="rId13"/>
    <p:sldId id="590" r:id="rId14"/>
    <p:sldId id="591" r:id="rId15"/>
    <p:sldId id="592" r:id="rId16"/>
    <p:sldId id="593" r:id="rId17"/>
    <p:sldId id="594" r:id="rId18"/>
    <p:sldId id="595" r:id="rId19"/>
    <p:sldId id="596" r:id="rId20"/>
    <p:sldId id="597" r:id="rId21"/>
    <p:sldId id="518" r:id="rId22"/>
    <p:sldId id="503" r:id="rId23"/>
    <p:sldId id="598" r:id="rId24"/>
    <p:sldId id="599" r:id="rId25"/>
    <p:sldId id="600" r:id="rId26"/>
    <p:sldId id="601" r:id="rId27"/>
    <p:sldId id="602" r:id="rId28"/>
    <p:sldId id="519" r:id="rId29"/>
    <p:sldId id="507" r:id="rId30"/>
    <p:sldId id="362" r:id="rId31"/>
    <p:sldId id="364" r:id="rId32"/>
    <p:sldId id="650" r:id="rId33"/>
    <p:sldId id="651" r:id="rId34"/>
    <p:sldId id="652" r:id="rId35"/>
    <p:sldId id="653" r:id="rId36"/>
    <p:sldId id="654" r:id="rId37"/>
    <p:sldId id="655" r:id="rId38"/>
    <p:sldId id="656" r:id="rId39"/>
    <p:sldId id="657" r:id="rId40"/>
    <p:sldId id="658" r:id="rId41"/>
    <p:sldId id="419" r:id="rId42"/>
    <p:sldId id="520" r:id="rId43"/>
    <p:sldId id="463" r:id="rId44"/>
    <p:sldId id="469" r:id="rId45"/>
    <p:sldId id="470" r:id="rId46"/>
    <p:sldId id="471" r:id="rId47"/>
    <p:sldId id="659" r:id="rId48"/>
    <p:sldId id="660" r:id="rId49"/>
    <p:sldId id="615" r:id="rId50"/>
    <p:sldId id="661" r:id="rId51"/>
    <p:sldId id="662" r:id="rId52"/>
    <p:sldId id="663" r:id="rId53"/>
    <p:sldId id="664" r:id="rId54"/>
    <p:sldId id="665" r:id="rId55"/>
    <p:sldId id="666" r:id="rId56"/>
    <p:sldId id="667" r:id="rId57"/>
    <p:sldId id="668" r:id="rId58"/>
    <p:sldId id="669" r:id="rId59"/>
    <p:sldId id="670" r:id="rId60"/>
    <p:sldId id="671" r:id="rId61"/>
    <p:sldId id="487" r:id="rId62"/>
    <p:sldId id="672" r:id="rId63"/>
    <p:sldId id="673" r:id="rId64"/>
    <p:sldId id="675" r:id="rId65"/>
    <p:sldId id="674" r:id="rId66"/>
    <p:sldId id="523" r:id="rId67"/>
    <p:sldId id="524" r:id="rId68"/>
    <p:sldId id="521" r:id="rId69"/>
    <p:sldId id="423" r:id="rId70"/>
  </p:sldIdLst>
  <p:sldSz cx="12190730" cy="6858000"/>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EAEAEA"/>
    <a:srgbClr val="0000FF"/>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47"/>
  </p:normalViewPr>
  <p:slideViewPr>
    <p:cSldViewPr showGuides="1">
      <p:cViewPr varScale="1">
        <p:scale>
          <a:sx n="63" d="100"/>
          <a:sy n="63" d="100"/>
        </p:scale>
        <p:origin x="-749" y="-77"/>
      </p:cViewPr>
      <p:guideLst>
        <p:guide orient="horz" pos="2162"/>
        <p:guide pos="3838"/>
      </p:guideLst>
    </p:cSldViewPr>
  </p:slideViewPr>
  <p:outlineViewPr>
    <p:cViewPr>
      <p:scale>
        <a:sx n="33" d="100"/>
        <a:sy n="33" d="100"/>
      </p:scale>
      <p:origin x="0" y="0"/>
    </p:cViewPr>
  </p:outlineViewPr>
  <p:notesTextViewPr>
    <p:cViewPr>
      <p:scale>
        <a:sx n="100" d="100"/>
        <a:sy n="100" d="100"/>
      </p:scale>
      <p:origin x="0" y="0"/>
    </p:cViewPr>
  </p:notesTextViewPr>
  <p:gridSpacing cx="36003" cy="36003"/>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4" Type="http://schemas.openxmlformats.org/officeDocument/2006/relationships/tableStyles" Target="tableStyles.xml"/><Relationship Id="rId73" Type="http://schemas.openxmlformats.org/officeDocument/2006/relationships/viewProps" Target="viewProps.xml"/><Relationship Id="rId72" Type="http://schemas.openxmlformats.org/officeDocument/2006/relationships/presProps" Target="presProps.xml"/><Relationship Id="rId71" Type="http://schemas.openxmlformats.org/officeDocument/2006/relationships/notesMaster" Target="notesMasters/notesMaster1.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2" Type="http://schemas.openxmlformats.org/officeDocument/2006/relationships/themeOverride" Target="../theme/themeOverride1.xml"/><Relationship Id="rId1" Type="http://schemas.openxmlformats.org/officeDocument/2006/relationships/oleObject" Target="/home/wangwenxiang/01WORK/03LA664/&#24615;&#33021;&#35780;&#27979;/&#20108;&#27425;&#21152;&#24037;.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percentStacked"/>
        <c:varyColors val="0"/>
        <c:ser>
          <c:idx val="0"/>
          <c:order val="0"/>
          <c:tx>
            <c:strRef>
              <c:f>'[二次加工.xlsx]06lasxTMA'!$B$1</c:f>
              <c:strCache>
                <c:ptCount val="1"/>
                <c:pt idx="0">
                  <c:v>退出</c:v>
                </c:pt>
              </c:strCache>
            </c:strRef>
          </c:tx>
          <c:spPr>
            <a:solidFill>
              <a:schemeClr val="accent2"/>
            </a:solidFill>
            <a:ln>
              <a:noFill/>
            </a:ln>
            <a:effectLst/>
          </c:spPr>
          <c:invertIfNegative val="0"/>
          <c:dLbls>
            <c:delete val="1"/>
          </c:dLbls>
          <c:cat>
            <c:strRef>
              <c:f>'[二次加工.xlsx]06lasxTMA'!$A$2:$A$32</c:f>
              <c:strCache>
                <c:ptCount val="31"/>
                <c:pt idx="0">
                  <c:v>400.perlbench</c:v>
                </c:pt>
                <c:pt idx="1">
                  <c:v>401.bzip2</c:v>
                </c:pt>
                <c:pt idx="2">
                  <c:v>403.gcc</c:v>
                </c:pt>
                <c:pt idx="3">
                  <c:v>429.mcf</c:v>
                </c:pt>
                <c:pt idx="4">
                  <c:v>445.gobmk</c:v>
                </c:pt>
                <c:pt idx="5">
                  <c:v>456.hmmer</c:v>
                </c:pt>
                <c:pt idx="6">
                  <c:v>458.sjeng</c:v>
                </c:pt>
                <c:pt idx="7">
                  <c:v>462.libquantum</c:v>
                </c:pt>
                <c:pt idx="8">
                  <c:v>464.h264ref</c:v>
                </c:pt>
                <c:pt idx="9">
                  <c:v>471.omnetpp</c:v>
                </c:pt>
                <c:pt idx="10">
                  <c:v>473.astar</c:v>
                </c:pt>
                <c:pt idx="11">
                  <c:v>483.xalancbmk</c:v>
                </c:pt>
                <c:pt idx="12">
                  <c:v>INT</c:v>
                </c:pt>
                <c:pt idx="13">
                  <c:v>410.bwaves</c:v>
                </c:pt>
                <c:pt idx="14">
                  <c:v>416.gamess</c:v>
                </c:pt>
                <c:pt idx="15">
                  <c:v>433.milc</c:v>
                </c:pt>
                <c:pt idx="16">
                  <c:v>434.zeusmp</c:v>
                </c:pt>
                <c:pt idx="17">
                  <c:v>435.gromacs</c:v>
                </c:pt>
                <c:pt idx="18">
                  <c:v>436.cactusADM</c:v>
                </c:pt>
                <c:pt idx="19">
                  <c:v>437.leslie3d</c:v>
                </c:pt>
                <c:pt idx="20">
                  <c:v>444.namd</c:v>
                </c:pt>
                <c:pt idx="21">
                  <c:v>447.dealII</c:v>
                </c:pt>
                <c:pt idx="22">
                  <c:v>450.soplex</c:v>
                </c:pt>
                <c:pt idx="23">
                  <c:v>453.povray</c:v>
                </c:pt>
                <c:pt idx="24">
                  <c:v>454.calculix</c:v>
                </c:pt>
                <c:pt idx="25">
                  <c:v>459.GemsFDTD</c:v>
                </c:pt>
                <c:pt idx="26">
                  <c:v>465.tonto</c:v>
                </c:pt>
                <c:pt idx="27">
                  <c:v>470.lbm</c:v>
                </c:pt>
                <c:pt idx="28">
                  <c:v>481.wrf</c:v>
                </c:pt>
                <c:pt idx="29">
                  <c:v>482.sphinx3</c:v>
                </c:pt>
                <c:pt idx="30">
                  <c:v>FP</c:v>
                </c:pt>
              </c:strCache>
            </c:strRef>
          </c:cat>
          <c:val>
            <c:numRef>
              <c:f>'[二次加工.xlsx]06lasxTMA'!$B$2:$B$32</c:f>
              <c:numCache>
                <c:formatCode>General</c:formatCode>
                <c:ptCount val="31"/>
                <c:pt idx="0">
                  <c:v>0.560505514737611</c:v>
                </c:pt>
                <c:pt idx="1">
                  <c:v>0.387822050984349</c:v>
                </c:pt>
                <c:pt idx="2">
                  <c:v>0.265819685062967</c:v>
                </c:pt>
                <c:pt idx="3">
                  <c:v>0.0847375989379302</c:v>
                </c:pt>
                <c:pt idx="4">
                  <c:v>0.311133531170528</c:v>
                </c:pt>
                <c:pt idx="5">
                  <c:v>0.636465174397566</c:v>
                </c:pt>
                <c:pt idx="6">
                  <c:v>0.348459719523924</c:v>
                </c:pt>
                <c:pt idx="7">
                  <c:v>0.342388047656344</c:v>
                </c:pt>
                <c:pt idx="8">
                  <c:v>0.580002505065776</c:v>
                </c:pt>
                <c:pt idx="9">
                  <c:v>0.200891937699256</c:v>
                </c:pt>
                <c:pt idx="10">
                  <c:v>0.202777848318761</c:v>
                </c:pt>
                <c:pt idx="11">
                  <c:v>0.418959424883167</c:v>
                </c:pt>
                <c:pt idx="13">
                  <c:v>0.46979529739458</c:v>
                </c:pt>
                <c:pt idx="14">
                  <c:v>0.753825058856066</c:v>
                </c:pt>
                <c:pt idx="15">
                  <c:v>0.228198497137758</c:v>
                </c:pt>
                <c:pt idx="16">
                  <c:v>0.315879854850416</c:v>
                </c:pt>
                <c:pt idx="17">
                  <c:v>0.41082872342815</c:v>
                </c:pt>
                <c:pt idx="18">
                  <c:v>0.389757578841208</c:v>
                </c:pt>
                <c:pt idx="19">
                  <c:v>0.229720616965421</c:v>
                </c:pt>
                <c:pt idx="20">
                  <c:v>0.380280656978011</c:v>
                </c:pt>
                <c:pt idx="21">
                  <c:v>0.390361670398867</c:v>
                </c:pt>
                <c:pt idx="22">
                  <c:v>0.1931459190682</c:v>
                </c:pt>
                <c:pt idx="23">
                  <c:v>0.523058659380717</c:v>
                </c:pt>
                <c:pt idx="24">
                  <c:v>0.48158427964678</c:v>
                </c:pt>
                <c:pt idx="25">
                  <c:v>0.222711839373983</c:v>
                </c:pt>
                <c:pt idx="26">
                  <c:v>0.522639992312112</c:v>
                </c:pt>
                <c:pt idx="27">
                  <c:v>0.360952790584617</c:v>
                </c:pt>
                <c:pt idx="28">
                  <c:v>0.426079646123202</c:v>
                </c:pt>
                <c:pt idx="29">
                  <c:v>0.390471182715122</c:v>
                </c:pt>
              </c:numCache>
            </c:numRef>
          </c:val>
        </c:ser>
        <c:ser>
          <c:idx val="1"/>
          <c:order val="1"/>
          <c:tx>
            <c:strRef>
              <c:f>'[二次加工.xlsx]06lasxTMA'!$C$1</c:f>
              <c:strCache>
                <c:ptCount val="1"/>
                <c:pt idx="0">
                  <c:v>错误推测</c:v>
                </c:pt>
              </c:strCache>
            </c:strRef>
          </c:tx>
          <c:spPr>
            <a:gradFill>
              <a:gsLst>
                <a:gs pos="100000">
                  <a:srgbClr val="E30000"/>
                </a:gs>
                <a:gs pos="100000">
                  <a:srgbClr val="760303"/>
                </a:gs>
              </a:gsLst>
              <a:lin ang="5400000" scaled="0"/>
            </a:gradFill>
            <a:ln>
              <a:noFill/>
            </a:ln>
            <a:effectLst/>
          </c:spPr>
          <c:invertIfNegative val="0"/>
          <c:dLbls>
            <c:delete val="1"/>
          </c:dLbls>
          <c:cat>
            <c:strRef>
              <c:f>'[二次加工.xlsx]06lasxTMA'!$A$2:$A$32</c:f>
              <c:strCache>
                <c:ptCount val="31"/>
                <c:pt idx="0">
                  <c:v>400.perlbench</c:v>
                </c:pt>
                <c:pt idx="1">
                  <c:v>401.bzip2</c:v>
                </c:pt>
                <c:pt idx="2">
                  <c:v>403.gcc</c:v>
                </c:pt>
                <c:pt idx="3">
                  <c:v>429.mcf</c:v>
                </c:pt>
                <c:pt idx="4">
                  <c:v>445.gobmk</c:v>
                </c:pt>
                <c:pt idx="5">
                  <c:v>456.hmmer</c:v>
                </c:pt>
                <c:pt idx="6">
                  <c:v>458.sjeng</c:v>
                </c:pt>
                <c:pt idx="7">
                  <c:v>462.libquantum</c:v>
                </c:pt>
                <c:pt idx="8">
                  <c:v>464.h264ref</c:v>
                </c:pt>
                <c:pt idx="9">
                  <c:v>471.omnetpp</c:v>
                </c:pt>
                <c:pt idx="10">
                  <c:v>473.astar</c:v>
                </c:pt>
                <c:pt idx="11">
                  <c:v>483.xalancbmk</c:v>
                </c:pt>
                <c:pt idx="12">
                  <c:v>INT</c:v>
                </c:pt>
                <c:pt idx="13">
                  <c:v>410.bwaves</c:v>
                </c:pt>
                <c:pt idx="14">
                  <c:v>416.gamess</c:v>
                </c:pt>
                <c:pt idx="15">
                  <c:v>433.milc</c:v>
                </c:pt>
                <c:pt idx="16">
                  <c:v>434.zeusmp</c:v>
                </c:pt>
                <c:pt idx="17">
                  <c:v>435.gromacs</c:v>
                </c:pt>
                <c:pt idx="18">
                  <c:v>436.cactusADM</c:v>
                </c:pt>
                <c:pt idx="19">
                  <c:v>437.leslie3d</c:v>
                </c:pt>
                <c:pt idx="20">
                  <c:v>444.namd</c:v>
                </c:pt>
                <c:pt idx="21">
                  <c:v>447.dealII</c:v>
                </c:pt>
                <c:pt idx="22">
                  <c:v>450.soplex</c:v>
                </c:pt>
                <c:pt idx="23">
                  <c:v>453.povray</c:v>
                </c:pt>
                <c:pt idx="24">
                  <c:v>454.calculix</c:v>
                </c:pt>
                <c:pt idx="25">
                  <c:v>459.GemsFDTD</c:v>
                </c:pt>
                <c:pt idx="26">
                  <c:v>465.tonto</c:v>
                </c:pt>
                <c:pt idx="27">
                  <c:v>470.lbm</c:v>
                </c:pt>
                <c:pt idx="28">
                  <c:v>481.wrf</c:v>
                </c:pt>
                <c:pt idx="29">
                  <c:v>482.sphinx3</c:v>
                </c:pt>
                <c:pt idx="30">
                  <c:v>FP</c:v>
                </c:pt>
              </c:strCache>
            </c:strRef>
          </c:cat>
          <c:val>
            <c:numRef>
              <c:f>'[二次加工.xlsx]06lasxTMA'!$C$2:$C$32</c:f>
              <c:numCache>
                <c:formatCode>General</c:formatCode>
                <c:ptCount val="31"/>
                <c:pt idx="0">
                  <c:v>0.0629611667073884</c:v>
                </c:pt>
                <c:pt idx="1">
                  <c:v>0.243268178027172</c:v>
                </c:pt>
                <c:pt idx="2">
                  <c:v>0.0481401604000418</c:v>
                </c:pt>
                <c:pt idx="3">
                  <c:v>0.154713443616037</c:v>
                </c:pt>
                <c:pt idx="4">
                  <c:v>0.278553566096163</c:v>
                </c:pt>
                <c:pt idx="5">
                  <c:v>0.0312567675609626</c:v>
                </c:pt>
                <c:pt idx="6">
                  <c:v>0.17298484709174</c:v>
                </c:pt>
                <c:pt idx="7">
                  <c:v>0.00256362682854789</c:v>
                </c:pt>
                <c:pt idx="8">
                  <c:v>0.0504842505161621</c:v>
                </c:pt>
                <c:pt idx="9">
                  <c:v>0.110018259926852</c:v>
                </c:pt>
                <c:pt idx="10">
                  <c:v>0.373367612443307</c:v>
                </c:pt>
                <c:pt idx="11">
                  <c:v>0.0322507646019839</c:v>
                </c:pt>
                <c:pt idx="13">
                  <c:v>0.000172273671906887</c:v>
                </c:pt>
                <c:pt idx="14">
                  <c:v>0.0320975783023312</c:v>
                </c:pt>
                <c:pt idx="15">
                  <c:v>0.0006265659933678</c:v>
                </c:pt>
                <c:pt idx="16">
                  <c:v>0.000774448200851051</c:v>
                </c:pt>
                <c:pt idx="17">
                  <c:v>0.0776137531624841</c:v>
                </c:pt>
                <c:pt idx="18">
                  <c:v>0.000643204694557547</c:v>
                </c:pt>
                <c:pt idx="19">
                  <c:v>0.000795893185659685</c:v>
                </c:pt>
                <c:pt idx="20">
                  <c:v>0.124724868920997</c:v>
                </c:pt>
                <c:pt idx="21">
                  <c:v>0.0753776503806676</c:v>
                </c:pt>
                <c:pt idx="22">
                  <c:v>0.163013096544536</c:v>
                </c:pt>
                <c:pt idx="23">
                  <c:v>0.0652038973064953</c:v>
                </c:pt>
                <c:pt idx="24">
                  <c:v>0.0622102833111158</c:v>
                </c:pt>
                <c:pt idx="25">
                  <c:v>0.00350662264164537</c:v>
                </c:pt>
                <c:pt idx="26">
                  <c:v>0.0375164056005947</c:v>
                </c:pt>
                <c:pt idx="27">
                  <c:v>0.00151043750607319</c:v>
                </c:pt>
                <c:pt idx="28">
                  <c:v>0.00356149639955244</c:v>
                </c:pt>
                <c:pt idx="29">
                  <c:v>0.103808304718026</c:v>
                </c:pt>
              </c:numCache>
            </c:numRef>
          </c:val>
        </c:ser>
        <c:ser>
          <c:idx val="2"/>
          <c:order val="2"/>
          <c:tx>
            <c:strRef>
              <c:f>'[二次加工.xlsx]06lasxTMA'!$D$1</c:f>
              <c:strCache>
                <c:ptCount val="1"/>
                <c:pt idx="0">
                  <c:v>后端限制</c:v>
                </c:pt>
              </c:strCache>
            </c:strRef>
          </c:tx>
          <c:spPr>
            <a:gradFill>
              <a:gsLst>
                <a:gs pos="100000">
                  <a:srgbClr val="FBFB11"/>
                </a:gs>
                <a:gs pos="100000">
                  <a:srgbClr val="838309"/>
                </a:gs>
              </a:gsLst>
              <a:lin ang="5400000" scaled="0"/>
            </a:gradFill>
            <a:ln>
              <a:noFill/>
            </a:ln>
            <a:effectLst/>
          </c:spPr>
          <c:invertIfNegative val="0"/>
          <c:dLbls>
            <c:delete val="1"/>
          </c:dLbls>
          <c:cat>
            <c:strRef>
              <c:f>'[二次加工.xlsx]06lasxTMA'!$A$2:$A$32</c:f>
              <c:strCache>
                <c:ptCount val="31"/>
                <c:pt idx="0">
                  <c:v>400.perlbench</c:v>
                </c:pt>
                <c:pt idx="1">
                  <c:v>401.bzip2</c:v>
                </c:pt>
                <c:pt idx="2">
                  <c:v>403.gcc</c:v>
                </c:pt>
                <c:pt idx="3">
                  <c:v>429.mcf</c:v>
                </c:pt>
                <c:pt idx="4">
                  <c:v>445.gobmk</c:v>
                </c:pt>
                <c:pt idx="5">
                  <c:v>456.hmmer</c:v>
                </c:pt>
                <c:pt idx="6">
                  <c:v>458.sjeng</c:v>
                </c:pt>
                <c:pt idx="7">
                  <c:v>462.libquantum</c:v>
                </c:pt>
                <c:pt idx="8">
                  <c:v>464.h264ref</c:v>
                </c:pt>
                <c:pt idx="9">
                  <c:v>471.omnetpp</c:v>
                </c:pt>
                <c:pt idx="10">
                  <c:v>473.astar</c:v>
                </c:pt>
                <c:pt idx="11">
                  <c:v>483.xalancbmk</c:v>
                </c:pt>
                <c:pt idx="12">
                  <c:v>INT</c:v>
                </c:pt>
                <c:pt idx="13">
                  <c:v>410.bwaves</c:v>
                </c:pt>
                <c:pt idx="14">
                  <c:v>416.gamess</c:v>
                </c:pt>
                <c:pt idx="15">
                  <c:v>433.milc</c:v>
                </c:pt>
                <c:pt idx="16">
                  <c:v>434.zeusmp</c:v>
                </c:pt>
                <c:pt idx="17">
                  <c:v>435.gromacs</c:v>
                </c:pt>
                <c:pt idx="18">
                  <c:v>436.cactusADM</c:v>
                </c:pt>
                <c:pt idx="19">
                  <c:v>437.leslie3d</c:v>
                </c:pt>
                <c:pt idx="20">
                  <c:v>444.namd</c:v>
                </c:pt>
                <c:pt idx="21">
                  <c:v>447.dealII</c:v>
                </c:pt>
                <c:pt idx="22">
                  <c:v>450.soplex</c:v>
                </c:pt>
                <c:pt idx="23">
                  <c:v>453.povray</c:v>
                </c:pt>
                <c:pt idx="24">
                  <c:v>454.calculix</c:v>
                </c:pt>
                <c:pt idx="25">
                  <c:v>459.GemsFDTD</c:v>
                </c:pt>
                <c:pt idx="26">
                  <c:v>465.tonto</c:v>
                </c:pt>
                <c:pt idx="27">
                  <c:v>470.lbm</c:v>
                </c:pt>
                <c:pt idx="28">
                  <c:v>481.wrf</c:v>
                </c:pt>
                <c:pt idx="29">
                  <c:v>482.sphinx3</c:v>
                </c:pt>
                <c:pt idx="30">
                  <c:v>FP</c:v>
                </c:pt>
              </c:strCache>
            </c:strRef>
          </c:cat>
          <c:val>
            <c:numRef>
              <c:f>'[二次加工.xlsx]06lasxTMA'!$D$2:$D$32</c:f>
              <c:numCache>
                <c:formatCode>General</c:formatCode>
                <c:ptCount val="31"/>
                <c:pt idx="0">
                  <c:v>0.041511969250654</c:v>
                </c:pt>
                <c:pt idx="1">
                  <c:v>0.166588477922212</c:v>
                </c:pt>
                <c:pt idx="2">
                  <c:v>0.466029951660782</c:v>
                </c:pt>
                <c:pt idx="3">
                  <c:v>0.62052204580626</c:v>
                </c:pt>
                <c:pt idx="4">
                  <c:v>0.0726949404062208</c:v>
                </c:pt>
                <c:pt idx="5">
                  <c:v>0.321440330027329</c:v>
                </c:pt>
                <c:pt idx="6">
                  <c:v>0.0876817091595506</c:v>
                </c:pt>
                <c:pt idx="7">
                  <c:v>0.442876112280023</c:v>
                </c:pt>
                <c:pt idx="8">
                  <c:v>0.279163727606313</c:v>
                </c:pt>
                <c:pt idx="9">
                  <c:v>0.557355202780285</c:v>
                </c:pt>
                <c:pt idx="10">
                  <c:v>0.119998587202379</c:v>
                </c:pt>
                <c:pt idx="11">
                  <c:v>0.204420655174432</c:v>
                </c:pt>
                <c:pt idx="13">
                  <c:v>0.450641155165738</c:v>
                </c:pt>
                <c:pt idx="14">
                  <c:v>0.127616841766472</c:v>
                </c:pt>
                <c:pt idx="15">
                  <c:v>0.75735052471274</c:v>
                </c:pt>
                <c:pt idx="16">
                  <c:v>0.653768813856274</c:v>
                </c:pt>
                <c:pt idx="17">
                  <c:v>0.410732072377881</c:v>
                </c:pt>
                <c:pt idx="18">
                  <c:v>0.56623531518401</c:v>
                </c:pt>
                <c:pt idx="19">
                  <c:v>0.738476859104191</c:v>
                </c:pt>
                <c:pt idx="20">
                  <c:v>0.391617301524048</c:v>
                </c:pt>
                <c:pt idx="21">
                  <c:v>0.318333916820299</c:v>
                </c:pt>
                <c:pt idx="22">
                  <c:v>0.542046037585676</c:v>
                </c:pt>
                <c:pt idx="23">
                  <c:v>0.213358617271826</c:v>
                </c:pt>
                <c:pt idx="24">
                  <c:v>0.300945746841065</c:v>
                </c:pt>
                <c:pt idx="25">
                  <c:v>0.704679542531068</c:v>
                </c:pt>
                <c:pt idx="26">
                  <c:v>0.375435195539326</c:v>
                </c:pt>
                <c:pt idx="27">
                  <c:v>0.636020604785691</c:v>
                </c:pt>
                <c:pt idx="28">
                  <c:v>0.490216590702874</c:v>
                </c:pt>
                <c:pt idx="29">
                  <c:v>0.409786118324982</c:v>
                </c:pt>
              </c:numCache>
            </c:numRef>
          </c:val>
        </c:ser>
        <c:ser>
          <c:idx val="3"/>
          <c:order val="3"/>
          <c:tx>
            <c:strRef>
              <c:f>'[二次加工.xlsx]06lasxTMA'!$E$1</c:f>
              <c:strCache>
                <c:ptCount val="1"/>
                <c:pt idx="0">
                  <c:v>前端限制</c:v>
                </c:pt>
              </c:strCache>
            </c:strRef>
          </c:tx>
          <c:spPr>
            <a:solidFill>
              <a:schemeClr val="accent1">
                <a:lumMod val="60000"/>
                <a:lumOff val="40000"/>
              </a:schemeClr>
            </a:solidFill>
            <a:ln>
              <a:noFill/>
            </a:ln>
            <a:effectLst/>
          </c:spPr>
          <c:invertIfNegative val="0"/>
          <c:dLbls>
            <c:delete val="1"/>
          </c:dLbls>
          <c:cat>
            <c:strRef>
              <c:f>'[二次加工.xlsx]06lasxTMA'!$A$2:$A$32</c:f>
              <c:strCache>
                <c:ptCount val="31"/>
                <c:pt idx="0">
                  <c:v>400.perlbench</c:v>
                </c:pt>
                <c:pt idx="1">
                  <c:v>401.bzip2</c:v>
                </c:pt>
                <c:pt idx="2">
                  <c:v>403.gcc</c:v>
                </c:pt>
                <c:pt idx="3">
                  <c:v>429.mcf</c:v>
                </c:pt>
                <c:pt idx="4">
                  <c:v>445.gobmk</c:v>
                </c:pt>
                <c:pt idx="5">
                  <c:v>456.hmmer</c:v>
                </c:pt>
                <c:pt idx="6">
                  <c:v>458.sjeng</c:v>
                </c:pt>
                <c:pt idx="7">
                  <c:v>462.libquantum</c:v>
                </c:pt>
                <c:pt idx="8">
                  <c:v>464.h264ref</c:v>
                </c:pt>
                <c:pt idx="9">
                  <c:v>471.omnetpp</c:v>
                </c:pt>
                <c:pt idx="10">
                  <c:v>473.astar</c:v>
                </c:pt>
                <c:pt idx="11">
                  <c:v>483.xalancbmk</c:v>
                </c:pt>
                <c:pt idx="12">
                  <c:v>INT</c:v>
                </c:pt>
                <c:pt idx="13">
                  <c:v>410.bwaves</c:v>
                </c:pt>
                <c:pt idx="14">
                  <c:v>416.gamess</c:v>
                </c:pt>
                <c:pt idx="15">
                  <c:v>433.milc</c:v>
                </c:pt>
                <c:pt idx="16">
                  <c:v>434.zeusmp</c:v>
                </c:pt>
                <c:pt idx="17">
                  <c:v>435.gromacs</c:v>
                </c:pt>
                <c:pt idx="18">
                  <c:v>436.cactusADM</c:v>
                </c:pt>
                <c:pt idx="19">
                  <c:v>437.leslie3d</c:v>
                </c:pt>
                <c:pt idx="20">
                  <c:v>444.namd</c:v>
                </c:pt>
                <c:pt idx="21">
                  <c:v>447.dealII</c:v>
                </c:pt>
                <c:pt idx="22">
                  <c:v>450.soplex</c:v>
                </c:pt>
                <c:pt idx="23">
                  <c:v>453.povray</c:v>
                </c:pt>
                <c:pt idx="24">
                  <c:v>454.calculix</c:v>
                </c:pt>
                <c:pt idx="25">
                  <c:v>459.GemsFDTD</c:v>
                </c:pt>
                <c:pt idx="26">
                  <c:v>465.tonto</c:v>
                </c:pt>
                <c:pt idx="27">
                  <c:v>470.lbm</c:v>
                </c:pt>
                <c:pt idx="28">
                  <c:v>481.wrf</c:v>
                </c:pt>
                <c:pt idx="29">
                  <c:v>482.sphinx3</c:v>
                </c:pt>
                <c:pt idx="30">
                  <c:v>FP</c:v>
                </c:pt>
              </c:strCache>
            </c:strRef>
          </c:cat>
          <c:val>
            <c:numRef>
              <c:f>'[二次加工.xlsx]06lasxTMA'!$E$2:$E$32</c:f>
              <c:numCache>
                <c:formatCode>General</c:formatCode>
                <c:ptCount val="31"/>
                <c:pt idx="0">
                  <c:v>0.335021349304346</c:v>
                </c:pt>
                <c:pt idx="1">
                  <c:v>0.202321293066265</c:v>
                </c:pt>
                <c:pt idx="2">
                  <c:v>0.220010202876208</c:v>
                </c:pt>
                <c:pt idx="3">
                  <c:v>0.140026911639771</c:v>
                </c:pt>
                <c:pt idx="4">
                  <c:v>0.337617962327086</c:v>
                </c:pt>
                <c:pt idx="5">
                  <c:v>0.010837728014141</c:v>
                </c:pt>
                <c:pt idx="6">
                  <c:v>0.390873724224785</c:v>
                </c:pt>
                <c:pt idx="7">
                  <c:v>0.212172213235084</c:v>
                </c:pt>
                <c:pt idx="8">
                  <c:v>0.0903495168117472</c:v>
                </c:pt>
                <c:pt idx="9">
                  <c:v>0.131734599593604</c:v>
                </c:pt>
                <c:pt idx="10">
                  <c:v>0.303855952035552</c:v>
                </c:pt>
                <c:pt idx="11">
                  <c:v>0.344369155340416</c:v>
                </c:pt>
                <c:pt idx="13">
                  <c:v>0.0793912737677738</c:v>
                </c:pt>
                <c:pt idx="14">
                  <c:v>0.0864605210751301</c:v>
                </c:pt>
                <c:pt idx="15">
                  <c:v>0.0138244121561337</c:v>
                </c:pt>
                <c:pt idx="16">
                  <c:v>0.0295768830924573</c:v>
                </c:pt>
                <c:pt idx="17">
                  <c:v>0.100825451031483</c:v>
                </c:pt>
                <c:pt idx="18">
                  <c:v>0.0433639012802237</c:v>
                </c:pt>
                <c:pt idx="19">
                  <c:v>0.0310066307447275</c:v>
                </c:pt>
                <c:pt idx="20">
                  <c:v>0.103377172576942</c:v>
                </c:pt>
                <c:pt idx="21">
                  <c:v>0.215926762400165</c:v>
                </c:pt>
                <c:pt idx="22">
                  <c:v>0.101794946801586</c:v>
                </c:pt>
                <c:pt idx="23">
                  <c:v>0.19837882604096</c:v>
                </c:pt>
                <c:pt idx="24">
                  <c:v>0.155259690201039</c:v>
                </c:pt>
                <c:pt idx="25">
                  <c:v>0.0691019954533028</c:v>
                </c:pt>
                <c:pt idx="26">
                  <c:v>0.0644084065479655</c:v>
                </c:pt>
                <c:pt idx="27">
                  <c:v>0.00151616712361812</c:v>
                </c:pt>
                <c:pt idx="28">
                  <c:v>0.0801422667743704</c:v>
                </c:pt>
                <c:pt idx="29">
                  <c:v>0.0959343942418681</c:v>
                </c:pt>
              </c:numCache>
            </c:numRef>
          </c:val>
        </c:ser>
        <c:dLbls>
          <c:showLegendKey val="0"/>
          <c:showVal val="0"/>
          <c:showCatName val="0"/>
          <c:showSerName val="0"/>
          <c:showPercent val="0"/>
          <c:showBubbleSize val="0"/>
        </c:dLbls>
        <c:gapWidth val="150"/>
        <c:overlap val="100"/>
        <c:axId val="147468672"/>
        <c:axId val="147470208"/>
      </c:barChart>
      <c:catAx>
        <c:axId val="147468672"/>
        <c:scaling>
          <c:orientation val="minMax"/>
        </c:scaling>
        <c:delete val="0"/>
        <c:axPos val="b"/>
        <c:majorTickMark val="none"/>
        <c:minorTickMark val="none"/>
        <c:tickLblPos val="nextTo"/>
        <c:spPr>
          <a:noFill/>
          <a:ln w="9525" cap="flat" cmpd="sng" algn="ctr">
            <a:solidFill>
              <a:schemeClr val="tx1">
                <a:lumMod val="15000"/>
                <a:lumOff val="85000"/>
              </a:schemeClr>
            </a:solidFill>
            <a:prstDash val="solid"/>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147470208"/>
        <c:crosses val="autoZero"/>
        <c:auto val="1"/>
        <c:lblAlgn val="ctr"/>
        <c:lblOffset val="100"/>
        <c:noMultiLvlLbl val="0"/>
      </c:catAx>
      <c:valAx>
        <c:axId val="147470208"/>
        <c:scaling>
          <c:orientation val="minMax"/>
        </c:scaling>
        <c:delete val="0"/>
        <c:axPos val="l"/>
        <c:majorGridlines>
          <c:spPr>
            <a:ln w="9525" cap="flat" cmpd="sng" algn="ctr">
              <a:solidFill>
                <a:schemeClr val="tx1">
                  <a:lumMod val="15000"/>
                  <a:lumOff val="85000"/>
                </a:schemeClr>
              </a:solidFill>
              <a:prstDash val="solid"/>
              <a:round/>
            </a:ln>
            <a:effectLst/>
          </c:spPr>
        </c:majorGridlines>
        <c:numFmt formatCode="0%" sourceLinked="1"/>
        <c:majorTickMark val="none"/>
        <c:minorTickMark val="none"/>
        <c:tickLblPos val="nextTo"/>
        <c:spPr>
          <a:noFill/>
          <a:ln w="9525" cap="flat" cmpd="sng" algn="ctr">
            <a:noFill/>
            <a:prstDash val="solid"/>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147468672"/>
        <c:crosses val="autoZero"/>
        <c:crossBetween val="between"/>
      </c:valAx>
      <c:spPr>
        <a:noFill/>
        <a:ln>
          <a:noFill/>
        </a:ln>
        <a:effectLst/>
      </c:spPr>
    </c:plotArea>
    <c:legend>
      <c:legendPos val="b"/>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lang="zh-CN"/>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3005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none" lIns="91440" tIns="45720" rIns="91440" bIns="45720" numCol="1" anchor="ctr" anchorCtr="0" compatLnSpc="1"/>
          <a:lstStyle>
            <a:lvl1pPr algn="l">
              <a:defRPr kumimoji="1"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130051"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none" lIns="91440" tIns="45720" rIns="91440" bIns="45720" numCol="1" anchor="ctr" anchorCtr="0" compatLnSpc="1"/>
          <a:lstStyle>
            <a:lvl1pPr algn="r">
              <a:defRPr kumimoji="1" sz="120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2052" name="Rectangle 4"/>
          <p:cNvSpPr>
            <a:spLocks noTextEdit="1"/>
          </p:cNvSpPr>
          <p:nvPr>
            <p:ph type="sldImg"/>
          </p:nvPr>
        </p:nvSpPr>
        <p:spPr>
          <a:xfrm>
            <a:off x="382588" y="685800"/>
            <a:ext cx="6092825" cy="3429000"/>
          </a:xfrm>
          <a:prstGeom prst="rect">
            <a:avLst/>
          </a:prstGeom>
          <a:noFill/>
          <a:ln w="9525" cap="flat" cmpd="sng">
            <a:solidFill>
              <a:srgbClr val="000000"/>
            </a:solidFill>
            <a:prstDash val="solid"/>
            <a:miter/>
            <a:headEnd type="none" w="med" len="med"/>
            <a:tailEnd type="none" w="med" len="med"/>
          </a:ln>
        </p:spPr>
      </p:sp>
      <p:sp>
        <p:nvSpPr>
          <p:cNvPr id="130053"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non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endParaRPr>
          </a:p>
        </p:txBody>
      </p:sp>
      <p:sp>
        <p:nvSpPr>
          <p:cNvPr id="130054"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none" lIns="91440" tIns="45720" rIns="91440" bIns="45720" numCol="1" anchor="b" anchorCtr="0" compatLnSpc="1"/>
          <a:lstStyle>
            <a:lvl1pPr algn="l">
              <a:defRPr kumimoji="1"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130055"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none" lIns="91440" tIns="45720" rIns="91440" bIns="45720" numCol="1" anchor="b" anchorCtr="0" compatLnSpc="1"/>
          <a:p>
            <a:pPr lvl="0" algn="r" eaLnBrk="1" fontAlgn="base" hangingPunct="1"/>
            <a:fld id="{9A0DB2DC-4C9A-4742-B13C-FB6460FD3503}" type="slidenum">
              <a:rPr lang="en-US" altLang="zh-CN" sz="1200" strike="noStrike" noProof="1" dirty="0">
                <a:latin typeface="Times New Roman" pitchFamily="18" charset="0"/>
                <a:ea typeface="宋体" panose="02000500000000000000" pitchFamily="2" charset="-122"/>
                <a:cs typeface="+mn-cs"/>
              </a:rPr>
            </a:fld>
            <a:endParaRPr lang="en-US" altLang="zh-CN" sz="1200" strike="noStrike" noProof="1"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itchFamily="18" charset="0"/>
        <a:ea typeface="宋体" panose="02000500000000000000"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anose="02000500000000000000"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anose="02000500000000000000"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anose="02000500000000000000"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anose="02000500000000000000"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6" name="灯片编号占位符 5"/>
          <p:cNvSpPr>
            <a:spLocks noGrp="1"/>
          </p:cNvSpPr>
          <p:nvPr>
            <p:ph type="sldNum" sz="quarter" idx="12"/>
          </p:nvPr>
        </p:nvSpPr>
        <p:spPr/>
        <p:txBody>
          <a:bodyPr/>
          <a:p>
            <a:pPr lvl="0" eaLnBrk="1" fontAlgn="base" hangingPunct="1"/>
            <a:fld id="{9A0DB2DC-4C9A-4742-B13C-FB6460FD3503}" type="slidenum">
              <a:rPr lang="en-US" altLang="zh-CN" strike="noStrike" noProof="1" dirty="0">
                <a:latin typeface="Times New Roman" pitchFamily="18" charset="0"/>
                <a:ea typeface="宋体" panose="02000500000000000000" pitchFamily="2" charset="-122"/>
                <a:cs typeface="+mn-cs"/>
              </a:rPr>
            </a:fld>
            <a:endParaRPr lang="en-US" altLang="zh-CN" strike="noStrike" noProof="1" dirty="0">
              <a:latin typeface="Times New Roman" pitchFamily="18"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5" name="灯片编号占位符 4"/>
          <p:cNvSpPr>
            <a:spLocks noGrp="1"/>
          </p:cNvSpPr>
          <p:nvPr>
            <p:ph type="sldNum" sz="quarter" idx="12"/>
          </p:nvPr>
        </p:nvSpPr>
        <p:spPr/>
        <p:txBody>
          <a:bodyPr/>
          <a:p>
            <a:pPr lvl="0" eaLnBrk="1" fontAlgn="base" hangingPunct="1"/>
            <a:fld id="{9A0DB2DC-4C9A-4742-B13C-FB6460FD3503}" type="slidenum">
              <a:rPr lang="en-US" altLang="zh-CN" strike="noStrike" noProof="1" dirty="0">
                <a:latin typeface="Times New Roman" pitchFamily="18" charset="0"/>
                <a:ea typeface="宋体" panose="02000500000000000000" pitchFamily="2" charset="-122"/>
                <a:cs typeface="+mn-cs"/>
              </a:rPr>
            </a:fld>
            <a:endParaRPr lang="en-US" altLang="zh-CN" strike="noStrike" noProof="1" dirty="0">
              <a:latin typeface="Times New Roman"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4" name="灯片编号占位符 3"/>
          <p:cNvSpPr>
            <a:spLocks noGrp="1"/>
          </p:cNvSpPr>
          <p:nvPr>
            <p:ph type="sldNum" sz="quarter" idx="12"/>
          </p:nvPr>
        </p:nvSpPr>
        <p:spPr/>
        <p:txBody>
          <a:bodyPr/>
          <a:p>
            <a:pPr lvl="0" eaLnBrk="1" fontAlgn="base" hangingPunct="1"/>
            <a:fld id="{9A0DB2DC-4C9A-4742-B13C-FB6460FD3503}" type="slidenum">
              <a:rPr lang="en-US" altLang="zh-CN" strike="noStrike" noProof="1" dirty="0">
                <a:latin typeface="Times New Roman" pitchFamily="18" charset="0"/>
                <a:ea typeface="宋体" panose="02000500000000000000" pitchFamily="2" charset="-122"/>
                <a:cs typeface="+mn-cs"/>
              </a:rPr>
            </a:fld>
            <a:endParaRPr lang="en-US" altLang="zh-CN" strike="noStrike" noProof="1" dirty="0">
              <a:latin typeface="Times New Roman"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914400" y="609600"/>
            <a:ext cx="10361613" cy="11430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027" name="Rectangle 3"/>
          <p:cNvSpPr>
            <a:spLocks noGrp="1"/>
          </p:cNvSpPr>
          <p:nvPr>
            <p:ph type="body"/>
          </p:nvPr>
        </p:nvSpPr>
        <p:spPr>
          <a:xfrm>
            <a:off x="914400" y="1981200"/>
            <a:ext cx="10361613" cy="4114800"/>
          </a:xfrm>
          <a:prstGeom prst="rect">
            <a:avLst/>
          </a:prstGeom>
          <a:noFill/>
          <a:ln w="9525">
            <a:noFill/>
          </a:ln>
        </p:spPr>
        <p:txBody>
          <a:bodyPr anchor="t" anchorCtr="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1028" name="Rectangle 4"/>
          <p:cNvSpPr>
            <a:spLocks noGrp="1" noChangeArrowheads="1"/>
          </p:cNvSpPr>
          <p:nvPr>
            <p:ph type="dt" sz="half" idx="2"/>
          </p:nvPr>
        </p:nvSpPr>
        <p:spPr bwMode="auto">
          <a:xfrm>
            <a:off x="914400" y="6248400"/>
            <a:ext cx="2540000" cy="457200"/>
          </a:xfrm>
          <a:prstGeom prst="rect">
            <a:avLst/>
          </a:prstGeom>
          <a:noFill/>
          <a:ln w="9525">
            <a:noFill/>
            <a:miter lim="800000"/>
          </a:ln>
          <a:effectLst/>
        </p:spPr>
        <p:txBody>
          <a:bodyPr vert="horz" wrap="square" lIns="91440" tIns="45720" rIns="91440" bIns="45720" numCol="1" anchor="t" anchorCtr="0" compatLnSpc="1"/>
          <a:lstStyle>
            <a:lvl1pPr algn="l">
              <a:defRPr kumimoji="1" sz="14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1029" name="Rectangle 5"/>
          <p:cNvSpPr>
            <a:spLocks noGrp="1" noChangeArrowheads="1"/>
          </p:cNvSpPr>
          <p:nvPr>
            <p:ph type="ftr" sz="quarter" idx="3"/>
          </p:nvPr>
        </p:nvSpPr>
        <p:spPr bwMode="auto">
          <a:xfrm>
            <a:off x="4165600" y="6248400"/>
            <a:ext cx="3859213" cy="457200"/>
          </a:xfrm>
          <a:prstGeom prst="rect">
            <a:avLst/>
          </a:prstGeom>
          <a:noFill/>
          <a:ln w="9525">
            <a:noFill/>
            <a:miter lim="800000"/>
          </a:ln>
          <a:effectLst/>
        </p:spPr>
        <p:txBody>
          <a:bodyPr vert="horz" wrap="square" lIns="91440" tIns="45720" rIns="91440" bIns="45720" numCol="1" anchor="t" anchorCtr="0" compatLnSpc="1"/>
          <a:lstStyle>
            <a:lvl1pPr algn="ctr">
              <a:defRPr kumimoji="1"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1030" name="Rectangle 6"/>
          <p:cNvSpPr>
            <a:spLocks noGrp="1" noChangeArrowheads="1"/>
          </p:cNvSpPr>
          <p:nvPr>
            <p:ph type="sldNum" sz="quarter" idx="4"/>
          </p:nvPr>
        </p:nvSpPr>
        <p:spPr bwMode="auto">
          <a:xfrm>
            <a:off x="8736013" y="6248400"/>
            <a:ext cx="2540000" cy="457200"/>
          </a:xfrm>
          <a:prstGeom prst="rect">
            <a:avLst/>
          </a:prstGeom>
          <a:noFill/>
          <a:ln w="9525">
            <a:noFill/>
            <a:miter lim="800000"/>
          </a:ln>
          <a:effectLst/>
        </p:spPr>
        <p:txBody>
          <a:bodyPr vert="horz" wrap="square" lIns="91440" tIns="45720" rIns="91440" bIns="45720" numCol="1" anchor="t" anchorCtr="0" compatLnSpc="1"/>
          <a:lstStyle>
            <a:lvl1pPr algn="r">
              <a:defRPr sz="1400"/>
            </a:lvl1pPr>
          </a:lstStyle>
          <a:p>
            <a:pPr lvl="0" eaLnBrk="1" fontAlgn="base" hangingPunct="1"/>
            <a:fld id="{9A0DB2DC-4C9A-4742-B13C-FB6460FD3503}" type="slidenum">
              <a:rPr lang="en-US" altLang="zh-CN" strike="noStrike" noProof="1" dirty="0">
                <a:latin typeface="Times New Roman" pitchFamily="18" charset="0"/>
                <a:ea typeface="宋体" panose="02000500000000000000" pitchFamily="2" charset="-122"/>
                <a:cs typeface="+mn-cs"/>
              </a:rPr>
            </a:fld>
            <a:endParaRPr lang="en-US" altLang="zh-CN" strike="noStrike" noProof="1" dirty="0">
              <a:latin typeface="Times New Roman"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rtl="0" eaLnBrk="0" fontAlgn="base" hangingPunct="0">
        <a:spcBef>
          <a:spcPct val="0"/>
        </a:spcBef>
        <a:spcAft>
          <a:spcPct val="0"/>
        </a:spcAft>
        <a:defRPr sz="3200">
          <a:solidFill>
            <a:srgbClr val="FF0000"/>
          </a:solidFill>
          <a:latin typeface="+mj-lt"/>
          <a:ea typeface="+mj-ea"/>
          <a:cs typeface="+mj-cs"/>
        </a:defRPr>
      </a:lvl1pPr>
      <a:lvl2pPr algn="ctr" rtl="0" eaLnBrk="0" fontAlgn="base" hangingPunct="0">
        <a:spcBef>
          <a:spcPct val="0"/>
        </a:spcBef>
        <a:spcAft>
          <a:spcPct val="0"/>
        </a:spcAft>
        <a:defRPr sz="3200">
          <a:solidFill>
            <a:srgbClr val="FF0000"/>
          </a:solidFill>
          <a:latin typeface="Arial" panose="02080604020202020204" pitchFamily="34" charset="0"/>
          <a:ea typeface="黑体" panose="02000500000000000000" pitchFamily="49" charset="-122"/>
        </a:defRPr>
      </a:lvl2pPr>
      <a:lvl3pPr algn="ctr" rtl="0" eaLnBrk="0" fontAlgn="base" hangingPunct="0">
        <a:spcBef>
          <a:spcPct val="0"/>
        </a:spcBef>
        <a:spcAft>
          <a:spcPct val="0"/>
        </a:spcAft>
        <a:defRPr sz="3200">
          <a:solidFill>
            <a:srgbClr val="FF0000"/>
          </a:solidFill>
          <a:latin typeface="Arial" panose="02080604020202020204" pitchFamily="34" charset="0"/>
          <a:ea typeface="黑体" panose="02000500000000000000" pitchFamily="49" charset="-122"/>
        </a:defRPr>
      </a:lvl3pPr>
      <a:lvl4pPr algn="ctr" rtl="0" eaLnBrk="0" fontAlgn="base" hangingPunct="0">
        <a:spcBef>
          <a:spcPct val="0"/>
        </a:spcBef>
        <a:spcAft>
          <a:spcPct val="0"/>
        </a:spcAft>
        <a:defRPr sz="3200">
          <a:solidFill>
            <a:srgbClr val="FF0000"/>
          </a:solidFill>
          <a:latin typeface="Arial" panose="02080604020202020204" pitchFamily="34" charset="0"/>
          <a:ea typeface="黑体" panose="02000500000000000000" pitchFamily="49" charset="-122"/>
        </a:defRPr>
      </a:lvl4pPr>
      <a:lvl5pPr algn="ctr" rtl="0" eaLnBrk="0" fontAlgn="base" hangingPunct="0">
        <a:spcBef>
          <a:spcPct val="0"/>
        </a:spcBef>
        <a:spcAft>
          <a:spcPct val="0"/>
        </a:spcAft>
        <a:defRPr sz="3200">
          <a:solidFill>
            <a:srgbClr val="FF0000"/>
          </a:solidFill>
          <a:latin typeface="Arial" panose="02080604020202020204" pitchFamily="34" charset="0"/>
          <a:ea typeface="黑体" panose="02000500000000000000" pitchFamily="49" charset="-122"/>
        </a:defRPr>
      </a:lvl5pPr>
      <a:lvl6pPr marL="457200" algn="ctr" rtl="0" fontAlgn="base">
        <a:spcBef>
          <a:spcPct val="0"/>
        </a:spcBef>
        <a:spcAft>
          <a:spcPct val="0"/>
        </a:spcAft>
        <a:defRPr kumimoji="1" sz="3200">
          <a:solidFill>
            <a:srgbClr val="FF0000"/>
          </a:solidFill>
          <a:latin typeface="Arial" panose="02080604020202020204" pitchFamily="34" charset="0"/>
          <a:ea typeface="黑体" panose="02000500000000000000" pitchFamily="49" charset="-122"/>
        </a:defRPr>
      </a:lvl6pPr>
      <a:lvl7pPr marL="914400" algn="ctr" rtl="0" fontAlgn="base">
        <a:spcBef>
          <a:spcPct val="0"/>
        </a:spcBef>
        <a:spcAft>
          <a:spcPct val="0"/>
        </a:spcAft>
        <a:defRPr kumimoji="1" sz="3200">
          <a:solidFill>
            <a:srgbClr val="FF0000"/>
          </a:solidFill>
          <a:latin typeface="Arial" panose="02080604020202020204" pitchFamily="34" charset="0"/>
          <a:ea typeface="黑体" panose="02000500000000000000" pitchFamily="49" charset="-122"/>
        </a:defRPr>
      </a:lvl7pPr>
      <a:lvl8pPr marL="1371600" algn="ctr" rtl="0" fontAlgn="base">
        <a:spcBef>
          <a:spcPct val="0"/>
        </a:spcBef>
        <a:spcAft>
          <a:spcPct val="0"/>
        </a:spcAft>
        <a:defRPr kumimoji="1" sz="3200">
          <a:solidFill>
            <a:srgbClr val="FF0000"/>
          </a:solidFill>
          <a:latin typeface="Arial" panose="02080604020202020204" pitchFamily="34" charset="0"/>
          <a:ea typeface="黑体" panose="02000500000000000000" pitchFamily="49" charset="-122"/>
        </a:defRPr>
      </a:lvl8pPr>
      <a:lvl9pPr marL="1828800" algn="ctr" rtl="0" fontAlgn="base">
        <a:spcBef>
          <a:spcPct val="0"/>
        </a:spcBef>
        <a:spcAft>
          <a:spcPct val="0"/>
        </a:spcAft>
        <a:defRPr kumimoji="1" sz="3200">
          <a:solidFill>
            <a:srgbClr val="FF0000"/>
          </a:solidFill>
          <a:latin typeface="Arial" panose="02080604020202020204" pitchFamily="34" charset="0"/>
          <a:ea typeface="黑体" panose="02000500000000000000" pitchFamily="49" charset="-122"/>
        </a:defRPr>
      </a:lvl9pPr>
    </p:titleStyle>
    <p:bodyStyle>
      <a:lvl1pPr marL="342900" indent="-342900" algn="l" rtl="0" eaLnBrk="0" fontAlgn="base" hangingPunct="0">
        <a:lnSpc>
          <a:spcPct val="150000"/>
        </a:lnSpc>
        <a:spcBef>
          <a:spcPts val="600"/>
        </a:spcBef>
        <a:spcAft>
          <a:spcPct val="0"/>
        </a:spcAft>
        <a:buChar char="•"/>
        <a:defRPr sz="2000" b="1">
          <a:solidFill>
            <a:schemeClr val="tx1"/>
          </a:solidFill>
          <a:latin typeface="+mn-ea"/>
          <a:ea typeface="+mn-ea"/>
          <a:cs typeface="+mn-cs"/>
        </a:defRPr>
      </a:lvl1pPr>
      <a:lvl2pPr marL="742950" indent="-285750" algn="l" rtl="0" eaLnBrk="0" fontAlgn="base" hangingPunct="0">
        <a:lnSpc>
          <a:spcPct val="150000"/>
        </a:lnSpc>
        <a:spcBef>
          <a:spcPts val="600"/>
        </a:spcBef>
        <a:spcAft>
          <a:spcPct val="0"/>
        </a:spcAft>
        <a:buChar char="•"/>
        <a:defRPr sz="1600" b="1">
          <a:solidFill>
            <a:schemeClr val="tx1"/>
          </a:solidFill>
          <a:latin typeface="+mn-ea"/>
          <a:ea typeface="+mn-ea"/>
        </a:defRPr>
      </a:lvl2pPr>
      <a:lvl3pPr marL="1143000" indent="-228600" algn="l" rtl="0" eaLnBrk="0" fontAlgn="base" hangingPunct="0">
        <a:lnSpc>
          <a:spcPct val="150000"/>
        </a:lnSpc>
        <a:spcBef>
          <a:spcPts val="600"/>
        </a:spcBef>
        <a:spcAft>
          <a:spcPct val="0"/>
        </a:spcAft>
        <a:buChar char="•"/>
        <a:defRPr sz="1400" b="1">
          <a:solidFill>
            <a:schemeClr val="tx1"/>
          </a:solidFill>
          <a:latin typeface="+mn-ea"/>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3" name="Rectangle 2"/>
          <p:cNvSpPr/>
          <p:nvPr/>
        </p:nvSpPr>
        <p:spPr>
          <a:xfrm>
            <a:off x="912813" y="1700213"/>
            <a:ext cx="10361612" cy="1143000"/>
          </a:xfrm>
          <a:prstGeom prst="rect">
            <a:avLst/>
          </a:prstGeom>
          <a:noFill/>
          <a:ln w="9525">
            <a:noFill/>
          </a:ln>
        </p:spPr>
        <p:txBody>
          <a:bodyPr anchor="ctr" anchorCtr="0"/>
          <a:p>
            <a:pPr algn="ctr"/>
            <a:r>
              <a:rPr lang="zh-CN" altLang="en-US" sz="4000" dirty="0">
                <a:solidFill>
                  <a:srgbClr val="FF0000"/>
                </a:solidFill>
                <a:latin typeface="Arial" panose="02080604020202020204" pitchFamily="34" charset="0"/>
                <a:ea typeface="黑体" panose="02000500000000000000" pitchFamily="49" charset="-122"/>
              </a:rPr>
              <a:t>计算机体系结构</a:t>
            </a:r>
            <a:endParaRPr lang="zh-CN" altLang="en-US" sz="3200" dirty="0">
              <a:solidFill>
                <a:srgbClr val="FF0000"/>
              </a:solidFill>
              <a:latin typeface="Arial" panose="02080604020202020204" pitchFamily="34" charset="0"/>
              <a:ea typeface="黑体" panose="02000500000000000000" pitchFamily="49" charset="-122"/>
            </a:endParaRPr>
          </a:p>
        </p:txBody>
      </p:sp>
      <p:sp>
        <p:nvSpPr>
          <p:cNvPr id="3074" name="Rectangle 3"/>
          <p:cNvSpPr/>
          <p:nvPr/>
        </p:nvSpPr>
        <p:spPr>
          <a:xfrm>
            <a:off x="1828800" y="3886200"/>
            <a:ext cx="8532813" cy="838200"/>
          </a:xfrm>
          <a:prstGeom prst="rect">
            <a:avLst/>
          </a:prstGeom>
          <a:noFill/>
          <a:ln w="9525">
            <a:noFill/>
          </a:ln>
        </p:spPr>
        <p:txBody>
          <a:bodyPr anchor="t" anchorCtr="0"/>
          <a:p>
            <a:pPr algn="ctr">
              <a:spcBef>
                <a:spcPct val="20000"/>
              </a:spcBef>
            </a:pPr>
            <a:r>
              <a:rPr lang="zh-CN" altLang="en-US" sz="2800" b="1" dirty="0">
                <a:latin typeface="Times New Roman" pitchFamily="18" charset="0"/>
                <a:ea typeface="宋体" panose="02000500000000000000" pitchFamily="2" charset="-122"/>
              </a:rPr>
              <a:t>胡伟武、汪文祥</a:t>
            </a:r>
            <a:endParaRPr lang="zh-CN" altLang="en-US" sz="2800" b="1" dirty="0">
              <a:latin typeface="Times New Roman" pitchFamily="18" charset="0"/>
              <a:ea typeface="宋体" panose="02000500000000000000" pitchFamily="2" charset="-122"/>
            </a:endParaRPr>
          </a:p>
        </p:txBody>
      </p:sp>
      <p:sp>
        <p:nvSpPr>
          <p:cNvPr id="3075"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buSzTx/>
            </a:pPr>
            <a:fld id="{9A0DB2DC-4C9A-4742-B13C-FB6460FD3503}" type="slidenum">
              <a:rPr lang="en-US" altLang="zh-CN" sz="1400" dirty="0"/>
            </a:fld>
            <a:endParaRPr lang="en-US" altLang="zh-CN"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buSzTx/>
            </a:pPr>
            <a:fld id="{9A0DB2DC-4C9A-4742-B13C-FB6460FD3503}" type="slidenum">
              <a:rPr lang="en-US" altLang="zh-CN" sz="1400" dirty="0"/>
            </a:fld>
            <a:endParaRPr lang="en-US" altLang="zh-CN" sz="1400" dirty="0"/>
          </a:p>
        </p:txBody>
      </p:sp>
      <p:pic>
        <p:nvPicPr>
          <p:cNvPr id="4098" name="Picture 2" descr="841286100824181"/>
          <p:cNvPicPr>
            <a:picLocks noChangeAspect="1"/>
          </p:cNvPicPr>
          <p:nvPr/>
        </p:nvPicPr>
        <p:blipFill>
          <a:blip r:embed="rId1"/>
          <a:stretch>
            <a:fillRect/>
          </a:stretch>
        </p:blipFill>
        <p:spPr>
          <a:xfrm>
            <a:off x="563563" y="1306513"/>
            <a:ext cx="11123612" cy="5173662"/>
          </a:xfrm>
          <a:prstGeom prst="rect">
            <a:avLst/>
          </a:prstGeom>
          <a:noFill/>
          <a:ln w="9525">
            <a:noFill/>
          </a:ln>
        </p:spPr>
      </p:pic>
      <p:sp>
        <p:nvSpPr>
          <p:cNvPr id="4099" name="Rectangle 3"/>
          <p:cNvSpPr/>
          <p:nvPr/>
        </p:nvSpPr>
        <p:spPr>
          <a:xfrm>
            <a:off x="914400" y="95250"/>
            <a:ext cx="10361613" cy="1143000"/>
          </a:xfrm>
          <a:prstGeom prst="rect">
            <a:avLst/>
          </a:prstGeom>
          <a:noFill/>
          <a:ln w="9525">
            <a:noFill/>
          </a:ln>
        </p:spPr>
        <p:txBody>
          <a:bodyPr anchor="ctr" anchorCtr="0"/>
          <a:p>
            <a:pPr algn="ctr"/>
            <a:r>
              <a:rPr lang="zh-CN" altLang="en-US" sz="3600" dirty="0">
                <a:solidFill>
                  <a:srgbClr val="FF3300"/>
                </a:solidFill>
                <a:latin typeface="Times New Roman" pitchFamily="18" charset="0"/>
                <a:ea typeface="黑体" panose="02000500000000000000" pitchFamily="49" charset="-122"/>
              </a:rPr>
              <a:t>龙芯</a:t>
            </a:r>
            <a:r>
              <a:rPr lang="en-US" altLang="zh-CN" sz="3600" dirty="0">
                <a:solidFill>
                  <a:srgbClr val="FF3300"/>
                </a:solidFill>
                <a:latin typeface="Times New Roman" pitchFamily="18" charset="0"/>
                <a:ea typeface="黑体" panose="02000500000000000000" pitchFamily="49" charset="-122"/>
              </a:rPr>
              <a:t>2</a:t>
            </a:r>
            <a:r>
              <a:rPr lang="zh-CN" altLang="en-US" sz="3600" dirty="0">
                <a:solidFill>
                  <a:srgbClr val="FF3300"/>
                </a:solidFill>
                <a:latin typeface="Times New Roman" pitchFamily="18" charset="0"/>
                <a:ea typeface="黑体" panose="02000500000000000000" pitchFamily="49" charset="-122"/>
              </a:rPr>
              <a:t>号处理器核结构图</a:t>
            </a:r>
            <a:endParaRPr lang="zh-CN" altLang="en-US" sz="3600" dirty="0">
              <a:solidFill>
                <a:srgbClr val="FF3300"/>
              </a:solidFill>
              <a:latin typeface="Times New Roman" pitchFamily="18" charset="0"/>
              <a:ea typeface="黑体" panose="02000500000000000000" pitchFamily="49" charset="-122"/>
            </a:endParaRPr>
          </a:p>
        </p:txBody>
      </p:sp>
      <p:sp>
        <p:nvSpPr>
          <p:cNvPr id="4100" name="椭圆 4"/>
          <p:cNvSpPr/>
          <p:nvPr/>
        </p:nvSpPr>
        <p:spPr>
          <a:xfrm>
            <a:off x="1290638" y="1398588"/>
            <a:ext cx="2692400" cy="4043362"/>
          </a:xfrm>
          <a:prstGeom prst="ellipse">
            <a:avLst/>
          </a:prstGeom>
          <a:noFill/>
          <a:ln w="38100" cap="flat" cmpd="sng">
            <a:solidFill>
              <a:schemeClr val="accent2"/>
            </a:solidFill>
            <a:prstDash val="solid"/>
            <a:round/>
            <a:headEnd type="none" w="med" len="med"/>
            <a:tailEnd type="none" w="med" len="med"/>
          </a:ln>
        </p:spPr>
        <p:txBody>
          <a:bodyPr anchor="t" anchorCtr="0"/>
          <a:p>
            <a:pPr algn="ctr"/>
            <a:endParaRPr lang="zh-CN" altLang="en-US" dirty="0">
              <a:latin typeface="Times New Roman" pitchFamily="18" charset="0"/>
              <a:ea typeface="宋体" panose="02000500000000000000" pitchFamily="2" charset="-122"/>
            </a:endParaRPr>
          </a:p>
        </p:txBody>
      </p:sp>
      <p:sp>
        <p:nvSpPr>
          <p:cNvPr id="4101" name="椭圆 5"/>
          <p:cNvSpPr/>
          <p:nvPr/>
        </p:nvSpPr>
        <p:spPr>
          <a:xfrm>
            <a:off x="4078288" y="1416050"/>
            <a:ext cx="3482975" cy="4154488"/>
          </a:xfrm>
          <a:prstGeom prst="ellipse">
            <a:avLst/>
          </a:prstGeom>
          <a:noFill/>
          <a:ln w="38100" cap="flat" cmpd="sng">
            <a:solidFill>
              <a:srgbClr val="FF0000"/>
            </a:solidFill>
            <a:prstDash val="solid"/>
            <a:round/>
            <a:headEnd type="none" w="med" len="med"/>
            <a:tailEnd type="none" w="med" len="med"/>
          </a:ln>
        </p:spPr>
        <p:txBody>
          <a:bodyPr anchor="t" anchorCtr="0"/>
          <a:p>
            <a:pPr algn="ctr"/>
            <a:endParaRPr lang="zh-CN" altLang="en-US" dirty="0">
              <a:latin typeface="Times New Roman" pitchFamily="18" charset="0"/>
              <a:ea typeface="宋体" panose="02000500000000000000" pitchFamily="2" charset="-122"/>
            </a:endParaRPr>
          </a:p>
        </p:txBody>
      </p:sp>
      <p:sp>
        <p:nvSpPr>
          <p:cNvPr id="4102" name="椭圆 6"/>
          <p:cNvSpPr/>
          <p:nvPr/>
        </p:nvSpPr>
        <p:spPr>
          <a:xfrm>
            <a:off x="7637463" y="1404938"/>
            <a:ext cx="790575" cy="4154487"/>
          </a:xfrm>
          <a:prstGeom prst="ellipse">
            <a:avLst/>
          </a:prstGeom>
          <a:noFill/>
          <a:ln w="38100" cap="flat" cmpd="sng">
            <a:solidFill>
              <a:schemeClr val="accent2"/>
            </a:solidFill>
            <a:prstDash val="solid"/>
            <a:round/>
            <a:headEnd type="none" w="med" len="med"/>
            <a:tailEnd type="none" w="med" len="med"/>
          </a:ln>
        </p:spPr>
        <p:txBody>
          <a:bodyPr anchor="t" anchorCtr="0"/>
          <a:p>
            <a:pPr algn="ctr"/>
            <a:endParaRPr lang="zh-CN" altLang="en-US" dirty="0">
              <a:solidFill>
                <a:schemeClr val="accent2"/>
              </a:solidFill>
              <a:latin typeface="Times New Roman" pitchFamily="18" charset="0"/>
              <a:ea typeface="宋体" panose="02000500000000000000" pitchFamily="2" charset="-122"/>
            </a:endParaRPr>
          </a:p>
        </p:txBody>
      </p:sp>
      <p:sp>
        <p:nvSpPr>
          <p:cNvPr id="4103" name="椭圆 7"/>
          <p:cNvSpPr/>
          <p:nvPr/>
        </p:nvSpPr>
        <p:spPr>
          <a:xfrm>
            <a:off x="8816975" y="1408113"/>
            <a:ext cx="2740025" cy="4087812"/>
          </a:xfrm>
          <a:prstGeom prst="ellipse">
            <a:avLst/>
          </a:prstGeom>
          <a:noFill/>
          <a:ln w="38100" cap="flat" cmpd="sng">
            <a:solidFill>
              <a:schemeClr val="accent2"/>
            </a:solidFill>
            <a:prstDash val="solid"/>
            <a:round/>
            <a:headEnd type="none" w="med" len="med"/>
            <a:tailEnd type="none" w="med" len="med"/>
          </a:ln>
        </p:spPr>
        <p:txBody>
          <a:bodyPr anchor="t" anchorCtr="0"/>
          <a:p>
            <a:pPr algn="ctr"/>
            <a:endParaRPr lang="zh-CN" altLang="en-US" dirty="0">
              <a:solidFill>
                <a:srgbClr val="0000FF"/>
              </a:solidFill>
              <a:latin typeface="Times New Roman" pitchFamily="18" charset="0"/>
              <a:ea typeface="宋体" panose="02000500000000000000"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Rectangle 2"/>
          <p:cNvSpPr>
            <a:spLocks noGrp="1"/>
          </p:cNvSpPr>
          <p:nvPr>
            <p:ph type="title"/>
          </p:nvPr>
        </p:nvSpPr>
        <p:spPr/>
        <p:txBody>
          <a:bodyPr vert="horz" wrap="square" lIns="91440" tIns="45720" rIns="91440" bIns="45720" anchor="ctr" anchorCtr="0"/>
          <a:p>
            <a:pPr eaLnBrk="1" hangingPunct="1"/>
            <a:r>
              <a:rPr lang="zh-CN" altLang="en-US" dirty="0"/>
              <a:t>动态流水线技术</a:t>
            </a:r>
            <a:endParaRPr lang="zh-CN" altLang="en-US" dirty="0"/>
          </a:p>
        </p:txBody>
      </p:sp>
      <p:sp>
        <p:nvSpPr>
          <p:cNvPr id="5122" name="Rectangle 3"/>
          <p:cNvSpPr>
            <a:spLocks noGrp="1"/>
          </p:cNvSpPr>
          <p:nvPr>
            <p:ph idx="1"/>
          </p:nvPr>
        </p:nvSpPr>
        <p:spPr>
          <a:xfrm>
            <a:off x="1506538" y="1981200"/>
            <a:ext cx="9885362" cy="4052888"/>
          </a:xfrm>
        </p:spPr>
        <p:txBody>
          <a:bodyPr vert="horz" wrap="square" lIns="91440" tIns="45720" rIns="91440" bIns="45720" anchor="t" anchorCtr="0"/>
          <a:p>
            <a:pPr eaLnBrk="1" hangingPunct="1"/>
            <a:r>
              <a:rPr lang="zh-CN" altLang="en-US" dirty="0"/>
              <a:t>影响流水线效率的因素</a:t>
            </a:r>
            <a:endParaRPr lang="zh-CN" altLang="en-US" dirty="0"/>
          </a:p>
          <a:p>
            <a:pPr eaLnBrk="1" hangingPunct="1"/>
            <a:r>
              <a:rPr lang="zh-CN" altLang="en-US" dirty="0"/>
              <a:t>指令调度技术</a:t>
            </a:r>
            <a:endParaRPr lang="zh-CN" altLang="en-US" dirty="0"/>
          </a:p>
          <a:p>
            <a:pPr eaLnBrk="1" hangingPunct="1"/>
            <a:r>
              <a:rPr lang="zh-CN" altLang="en-US" dirty="0"/>
              <a:t>动态调度技术</a:t>
            </a:r>
            <a:endParaRPr lang="zh-CN" altLang="en-US" dirty="0"/>
          </a:p>
          <a:p>
            <a:pPr eaLnBrk="1" hangingPunct="1"/>
            <a:r>
              <a:rPr lang="en-US" altLang="zh-CN" dirty="0"/>
              <a:t>Tomasulo</a:t>
            </a:r>
            <a:r>
              <a:rPr lang="zh-CN" altLang="en-US" dirty="0"/>
              <a:t>算法</a:t>
            </a:r>
            <a:endParaRPr lang="zh-CN" altLang="en-US" dirty="0"/>
          </a:p>
          <a:p>
            <a:pPr eaLnBrk="1" hangingPunct="1"/>
            <a:r>
              <a:rPr lang="zh-CN" altLang="en-US" dirty="0"/>
              <a:t>动态流水线的例外处理</a:t>
            </a:r>
            <a:endParaRPr lang="zh-CN" altLang="en-US" dirty="0"/>
          </a:p>
        </p:txBody>
      </p:sp>
      <p:sp>
        <p:nvSpPr>
          <p:cNvPr id="5123"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buSzTx/>
            </a:pPr>
            <a:fld id="{9A0DB2DC-4C9A-4742-B13C-FB6460FD3503}" type="slidenum">
              <a:rPr lang="en-US" altLang="zh-CN" sz="1400" dirty="0"/>
            </a:fld>
            <a:endParaRPr lang="en-US" altLang="zh-CN"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Rectangle 4"/>
          <p:cNvSpPr>
            <a:spLocks noGrp="1"/>
          </p:cNvSpPr>
          <p:nvPr>
            <p:ph type="title"/>
          </p:nvPr>
        </p:nvSpPr>
        <p:spPr>
          <a:xfrm>
            <a:off x="1055688" y="2889250"/>
            <a:ext cx="10361612" cy="1143000"/>
          </a:xfrm>
        </p:spPr>
        <p:txBody>
          <a:bodyPr vert="horz" wrap="square" lIns="91440" tIns="45720" rIns="91440" bIns="45720" anchor="ctr" anchorCtr="0"/>
          <a:p>
            <a:pPr eaLnBrk="1" hangingPunct="1"/>
            <a:r>
              <a:rPr lang="zh-CN" altLang="en-US" dirty="0"/>
              <a:t>影响指令流水线的因素</a:t>
            </a:r>
            <a:endParaRPr lang="zh-CN" altLang="en-US" dirty="0"/>
          </a:p>
        </p:txBody>
      </p:sp>
      <p:sp>
        <p:nvSpPr>
          <p:cNvPr id="6146" name="灯片编号占位符 4"/>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buSzTx/>
            </a:pPr>
            <a:fld id="{9A0DB2DC-4C9A-4742-B13C-FB6460FD3503}" type="slidenum">
              <a:rPr lang="en-US" altLang="zh-CN" sz="1400" dirty="0"/>
            </a:fld>
            <a:endParaRPr lang="en-US" altLang="zh-CN"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Rectangle 2"/>
          <p:cNvSpPr/>
          <p:nvPr/>
        </p:nvSpPr>
        <p:spPr>
          <a:xfrm>
            <a:off x="914400" y="114300"/>
            <a:ext cx="10361613" cy="685800"/>
          </a:xfrm>
          <a:prstGeom prst="rect">
            <a:avLst/>
          </a:prstGeom>
          <a:noFill/>
          <a:ln w="9525">
            <a:noFill/>
          </a:ln>
        </p:spPr>
        <p:txBody>
          <a:bodyPr anchor="ctr" anchorCtr="0"/>
          <a:p>
            <a:pPr algn="ctr"/>
            <a:r>
              <a:rPr lang="zh-CN" altLang="en-US" sz="3200" dirty="0">
                <a:solidFill>
                  <a:srgbClr val="FF0000"/>
                </a:solidFill>
                <a:latin typeface="Arial" panose="02080604020202020204" pitchFamily="34" charset="0"/>
                <a:ea typeface="黑体" panose="02000500000000000000" pitchFamily="49" charset="-122"/>
              </a:rPr>
              <a:t>影响流水线效率的因素</a:t>
            </a:r>
            <a:endParaRPr lang="zh-CN" altLang="en-US" sz="3200" dirty="0">
              <a:solidFill>
                <a:srgbClr val="FF0000"/>
              </a:solidFill>
              <a:latin typeface="Arial" panose="02080604020202020204" pitchFamily="34" charset="0"/>
              <a:ea typeface="黑体" panose="02000500000000000000" pitchFamily="49" charset="-122"/>
            </a:endParaRPr>
          </a:p>
        </p:txBody>
      </p:sp>
      <p:sp>
        <p:nvSpPr>
          <p:cNvPr id="7170" name="Rectangle 3"/>
          <p:cNvSpPr/>
          <p:nvPr/>
        </p:nvSpPr>
        <p:spPr>
          <a:xfrm>
            <a:off x="431800" y="800100"/>
            <a:ext cx="11377613" cy="1979613"/>
          </a:xfrm>
          <a:prstGeom prst="rect">
            <a:avLst/>
          </a:prstGeom>
          <a:noFill/>
          <a:ln w="9525">
            <a:noFill/>
          </a:ln>
        </p:spPr>
        <p:txBody>
          <a:bodyPr anchor="t" anchorCtr="0"/>
          <a:p>
            <a:pPr marL="342900" indent="-342900">
              <a:lnSpc>
                <a:spcPct val="150000"/>
              </a:lnSpc>
              <a:spcBef>
                <a:spcPts val="600"/>
              </a:spcBef>
              <a:buChar char="•"/>
            </a:pPr>
            <a:r>
              <a:rPr lang="zh-CN" altLang="en-US" sz="2000" b="1" dirty="0">
                <a:latin typeface="宋体" panose="02000500000000000000" pitchFamily="2" charset="-122"/>
                <a:ea typeface="宋体" panose="02000500000000000000" pitchFamily="2" charset="-122"/>
              </a:rPr>
              <a:t>影响指令流水线性能的因素</a:t>
            </a:r>
            <a:endParaRPr lang="zh-CN" altLang="en-US" sz="2000" b="1" dirty="0">
              <a:latin typeface="宋体" panose="02000500000000000000" pitchFamily="2" charset="-122"/>
              <a:ea typeface="宋体" panose="02000500000000000000" pitchFamily="2" charset="-122"/>
            </a:endParaRPr>
          </a:p>
          <a:p>
            <a:pPr marL="742950" lvl="1" indent="-285750" eaLnBrk="1" hangingPunct="1">
              <a:lnSpc>
                <a:spcPct val="150000"/>
              </a:lnSpc>
              <a:spcBef>
                <a:spcPts val="600"/>
              </a:spcBef>
              <a:buChar char="•"/>
            </a:pPr>
            <a:r>
              <a:rPr lang="zh-CN" altLang="en-US" sz="1600" b="1" dirty="0">
                <a:solidFill>
                  <a:srgbClr val="FF0000"/>
                </a:solidFill>
                <a:latin typeface="宋体" panose="02000500000000000000" pitchFamily="2" charset="-122"/>
                <a:ea typeface="宋体" panose="02000500000000000000" pitchFamily="2" charset="-122"/>
              </a:rPr>
              <a:t>运行时间 </a:t>
            </a:r>
            <a:r>
              <a:rPr lang="en-US" altLang="zh-CN" sz="1600" b="1" dirty="0">
                <a:solidFill>
                  <a:srgbClr val="FF0000"/>
                </a:solidFill>
                <a:latin typeface="宋体" panose="02000500000000000000" pitchFamily="2" charset="-122"/>
                <a:ea typeface="宋体" panose="02000500000000000000" pitchFamily="2" charset="-122"/>
              </a:rPr>
              <a:t>= </a:t>
            </a:r>
            <a:r>
              <a:rPr lang="zh-CN" altLang="zh-CN" sz="1600" b="1" dirty="0">
                <a:solidFill>
                  <a:srgbClr val="FF0000"/>
                </a:solidFill>
                <a:latin typeface="宋体" panose="02000500000000000000" pitchFamily="2" charset="-122"/>
                <a:ea typeface="宋体" panose="02000500000000000000" pitchFamily="2" charset="-122"/>
              </a:rPr>
              <a:t>程序指令数</a:t>
            </a:r>
            <a:r>
              <a:rPr lang="en-US" altLang="zh-CN" sz="1600" b="1" dirty="0">
                <a:solidFill>
                  <a:srgbClr val="FF0000"/>
                </a:solidFill>
                <a:latin typeface="宋体" panose="02000500000000000000" pitchFamily="2" charset="-122"/>
                <a:ea typeface="宋体" panose="02000500000000000000" pitchFamily="2" charset="-122"/>
              </a:rPr>
              <a:t> </a:t>
            </a:r>
            <a:r>
              <a:rPr lang="zh-CN" altLang="zh-CN" sz="1600" b="1" dirty="0">
                <a:solidFill>
                  <a:srgbClr val="FF0000"/>
                </a:solidFill>
                <a:latin typeface="宋体" panose="02000500000000000000" pitchFamily="2" charset="-122"/>
                <a:ea typeface="宋体" panose="02000500000000000000" pitchFamily="2" charset="-122"/>
              </a:rPr>
              <a:t>*</a:t>
            </a:r>
            <a:r>
              <a:rPr lang="en-US" altLang="zh-CN" sz="1600" b="1" dirty="0">
                <a:solidFill>
                  <a:srgbClr val="FF0000"/>
                </a:solidFill>
                <a:latin typeface="宋体" panose="02000500000000000000" pitchFamily="2" charset="-122"/>
                <a:ea typeface="宋体" panose="02000500000000000000" pitchFamily="2" charset="-122"/>
              </a:rPr>
              <a:t> CPI </a:t>
            </a:r>
            <a:r>
              <a:rPr lang="zh-CN" altLang="en-US" sz="1600" b="1" dirty="0">
                <a:solidFill>
                  <a:srgbClr val="FF0000"/>
                </a:solidFill>
                <a:latin typeface="宋体" panose="02000500000000000000" pitchFamily="2" charset="-122"/>
                <a:ea typeface="宋体" panose="02000500000000000000" pitchFamily="2" charset="-122"/>
              </a:rPr>
              <a:t>（每条指令时钟周期数）</a:t>
            </a:r>
            <a:endParaRPr lang="en-US" altLang="zh-CN" sz="1600" b="1" dirty="0">
              <a:solidFill>
                <a:srgbClr val="FF0000"/>
              </a:solidFill>
              <a:latin typeface="宋体" panose="02000500000000000000" pitchFamily="2" charset="-122"/>
              <a:ea typeface="宋体" panose="02000500000000000000" pitchFamily="2" charset="-122"/>
            </a:endParaRPr>
          </a:p>
          <a:p>
            <a:pPr marL="742950" lvl="1" indent="-285750" eaLnBrk="1" hangingPunct="1">
              <a:lnSpc>
                <a:spcPct val="150000"/>
              </a:lnSpc>
              <a:spcBef>
                <a:spcPts val="600"/>
              </a:spcBef>
              <a:buChar char="•"/>
            </a:pPr>
            <a:r>
              <a:rPr lang="en-US" altLang="zh-CN" sz="1600" b="1" dirty="0">
                <a:solidFill>
                  <a:srgbClr val="FF0000"/>
                </a:solidFill>
                <a:latin typeface="宋体" panose="02000500000000000000" pitchFamily="2" charset="-122"/>
                <a:ea typeface="宋体" panose="02000500000000000000" pitchFamily="2" charset="-122"/>
              </a:rPr>
              <a:t>Pipeline CPI=Ideal pipeline CPI + Structural stalls + RAW stalls + WAR stalls + WAW stalls + Control stalls</a:t>
            </a:r>
            <a:endParaRPr lang="en-US" altLang="zh-CN" sz="1600" b="1" dirty="0">
              <a:solidFill>
                <a:srgbClr val="FF0000"/>
              </a:solidFill>
              <a:latin typeface="宋体" panose="02000500000000000000" pitchFamily="2" charset="-122"/>
              <a:ea typeface="宋体" panose="02000500000000000000" pitchFamily="2" charset="-122"/>
            </a:endParaRPr>
          </a:p>
        </p:txBody>
      </p:sp>
      <p:sp>
        <p:nvSpPr>
          <p:cNvPr id="7171" name="灯片编号占位符 6"/>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buSzTx/>
            </a:pPr>
            <a:fld id="{9A0DB2DC-4C9A-4742-B13C-FB6460FD3503}" type="slidenum">
              <a:rPr lang="en-US" altLang="zh-CN" sz="1400" dirty="0"/>
            </a:fld>
            <a:endParaRPr lang="en-US" altLang="zh-CN" sz="1400" dirty="0"/>
          </a:p>
        </p:txBody>
      </p:sp>
      <p:graphicFrame>
        <p:nvGraphicFramePr>
          <p:cNvPr id="2" name="表格 1"/>
          <p:cNvGraphicFramePr/>
          <p:nvPr/>
        </p:nvGraphicFramePr>
        <p:xfrm>
          <a:off x="1811338" y="2744788"/>
          <a:ext cx="7348538" cy="3352800"/>
        </p:xfrm>
        <a:graphic>
          <a:graphicData uri="http://schemas.openxmlformats.org/drawingml/2006/table">
            <a:tbl>
              <a:tblPr firstRow="1" bandRow="1">
                <a:tableStyleId>{5C22544A-7EE6-4342-B048-85BDC9FD1C3A}</a:tableStyleId>
              </a:tblPr>
              <a:tblGrid>
                <a:gridCol w="3409950"/>
                <a:gridCol w="3938270"/>
              </a:tblGrid>
              <a:tr h="304800">
                <a:tc>
                  <a:txBody>
                    <a:bodyPr/>
                    <a:p>
                      <a:pPr marL="91440" indent="0" algn="ctr">
                        <a:lnSpc>
                          <a:spcPct val="125000"/>
                        </a:lnSpc>
                        <a:spcBef>
                          <a:spcPct val="0"/>
                        </a:spcBef>
                        <a:spcAft>
                          <a:spcPct val="0"/>
                        </a:spcAft>
                      </a:pPr>
                      <a:r>
                        <a:rPr lang="zh-CN" sz="1600" b="1">
                          <a:solidFill>
                            <a:srgbClr val="FF0000"/>
                          </a:solidFill>
                          <a:latin typeface="+mn-ea"/>
                        </a:rPr>
                        <a:t>技术</a:t>
                      </a:r>
                      <a:endParaRPr lang="zh-CN" sz="1600" b="1">
                        <a:solidFill>
                          <a:srgbClr val="FF0000"/>
                        </a:solidFill>
                        <a:latin typeface="+mn-ea"/>
                      </a:endParaRPr>
                    </a:p>
                  </a:txBody>
                  <a:tcPr marL="68580" marR="68580" marT="0"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marL="91440" indent="0" algn="ctr">
                        <a:lnSpc>
                          <a:spcPct val="125000"/>
                        </a:lnSpc>
                        <a:spcBef>
                          <a:spcPct val="0"/>
                        </a:spcBef>
                        <a:spcAft>
                          <a:spcPct val="0"/>
                        </a:spcAft>
                      </a:pPr>
                      <a:r>
                        <a:rPr lang="zh-CN" sz="1600" b="1">
                          <a:solidFill>
                            <a:srgbClr val="FF0000"/>
                          </a:solidFill>
                          <a:latin typeface="+mn-ea"/>
                        </a:rPr>
                        <a:t>作用</a:t>
                      </a:r>
                      <a:endParaRPr lang="zh-CN" sz="1600" b="1">
                        <a:solidFill>
                          <a:srgbClr val="FF0000"/>
                        </a:solidFill>
                        <a:latin typeface="+mn-ea"/>
                      </a:endParaRPr>
                    </a:p>
                  </a:txBody>
                  <a:tcPr marL="68580" marR="68580" marT="0"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04800">
                <a:tc>
                  <a:txBody>
                    <a:bodyPr/>
                    <a:p>
                      <a:pPr marL="91440" indent="0" algn="just">
                        <a:lnSpc>
                          <a:spcPct val="125000"/>
                        </a:lnSpc>
                        <a:spcBef>
                          <a:spcPct val="0"/>
                        </a:spcBef>
                        <a:spcAft>
                          <a:spcPct val="0"/>
                        </a:spcAft>
                      </a:pPr>
                      <a:r>
                        <a:rPr lang="zh-CN" sz="1600" b="1">
                          <a:latin typeface="+mn-ea"/>
                        </a:rPr>
                        <a:t>循环展开</a:t>
                      </a:r>
                      <a:endParaRPr lang="zh-CN" sz="1600" b="1">
                        <a:latin typeface="+mn-ea"/>
                      </a:endParaRPr>
                    </a:p>
                  </a:txBody>
                  <a:tcPr marL="68580" marR="68580" marT="0"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marL="91440" indent="0" algn="just">
                        <a:lnSpc>
                          <a:spcPct val="125000"/>
                        </a:lnSpc>
                        <a:spcBef>
                          <a:spcPct val="0"/>
                        </a:spcBef>
                        <a:spcAft>
                          <a:spcPct val="0"/>
                        </a:spcAft>
                      </a:pPr>
                      <a:r>
                        <a:rPr lang="en-US" altLang="zh-CN" sz="1600" b="1">
                          <a:latin typeface="+mn-ea"/>
                        </a:rPr>
                        <a:t>Control stalls</a:t>
                      </a:r>
                      <a:endParaRPr lang="en-US" altLang="zh-CN" sz="1600" b="1">
                        <a:latin typeface="+mn-ea"/>
                      </a:endParaRPr>
                    </a:p>
                  </a:txBody>
                  <a:tcPr marL="68580" marR="68580" marT="0"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04800">
                <a:tc>
                  <a:txBody>
                    <a:bodyPr/>
                    <a:p>
                      <a:pPr marL="91440" indent="0" algn="just">
                        <a:lnSpc>
                          <a:spcPct val="125000"/>
                        </a:lnSpc>
                        <a:spcBef>
                          <a:spcPct val="0"/>
                        </a:spcBef>
                        <a:spcAft>
                          <a:spcPct val="0"/>
                        </a:spcAft>
                      </a:pPr>
                      <a:r>
                        <a:rPr lang="zh-CN" sz="1600" b="1">
                          <a:latin typeface="+mn-ea"/>
                        </a:rPr>
                        <a:t>编译相关性分析</a:t>
                      </a:r>
                      <a:endParaRPr lang="zh-CN" sz="1600" b="1">
                        <a:latin typeface="+mn-ea"/>
                      </a:endParaRPr>
                    </a:p>
                  </a:txBody>
                  <a:tcPr marL="68580" marR="68580" marT="0"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marL="91440" indent="0" algn="just">
                        <a:lnSpc>
                          <a:spcPct val="125000"/>
                        </a:lnSpc>
                        <a:spcBef>
                          <a:spcPct val="0"/>
                        </a:spcBef>
                        <a:spcAft>
                          <a:spcPct val="0"/>
                        </a:spcAft>
                      </a:pPr>
                      <a:r>
                        <a:rPr lang="en-US" altLang="zh-CN" sz="1600" b="1">
                          <a:latin typeface="+mn-ea"/>
                        </a:rPr>
                        <a:t>Ideal CPI and data stalls</a:t>
                      </a:r>
                      <a:endParaRPr lang="en-US" altLang="zh-CN" sz="1600" b="1">
                        <a:latin typeface="+mn-ea"/>
                      </a:endParaRPr>
                    </a:p>
                  </a:txBody>
                  <a:tcPr marL="68580" marR="68580" marT="0"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04800">
                <a:tc>
                  <a:txBody>
                    <a:bodyPr/>
                    <a:p>
                      <a:pPr marL="91440" indent="0" algn="just">
                        <a:lnSpc>
                          <a:spcPct val="125000"/>
                        </a:lnSpc>
                        <a:spcBef>
                          <a:spcPct val="0"/>
                        </a:spcBef>
                        <a:spcAft>
                          <a:spcPct val="0"/>
                        </a:spcAft>
                      </a:pPr>
                      <a:r>
                        <a:rPr lang="zh-CN" sz="1600" b="1">
                          <a:latin typeface="+mn-ea"/>
                        </a:rPr>
                        <a:t>软件流水技术</a:t>
                      </a:r>
                      <a:endParaRPr lang="zh-CN" sz="1600" b="1">
                        <a:latin typeface="+mn-ea"/>
                      </a:endParaRPr>
                    </a:p>
                  </a:txBody>
                  <a:tcPr marL="68580" marR="68580" marT="0"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marL="91440" indent="0" algn="just">
                        <a:lnSpc>
                          <a:spcPct val="125000"/>
                        </a:lnSpc>
                        <a:spcBef>
                          <a:spcPct val="0"/>
                        </a:spcBef>
                        <a:spcAft>
                          <a:spcPct val="0"/>
                        </a:spcAft>
                      </a:pPr>
                      <a:r>
                        <a:rPr lang="en-US" altLang="zh-CN" sz="1600" b="1">
                          <a:latin typeface="+mn-ea"/>
                        </a:rPr>
                        <a:t>Ideal CPI and data stalls</a:t>
                      </a:r>
                      <a:endParaRPr lang="en-US" altLang="zh-CN" sz="1600" b="1">
                        <a:latin typeface="+mn-ea"/>
                      </a:endParaRPr>
                    </a:p>
                  </a:txBody>
                  <a:tcPr marL="68580" marR="68580" marT="0"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04800">
                <a:tc>
                  <a:txBody>
                    <a:bodyPr/>
                    <a:p>
                      <a:pPr marL="91440" indent="0" algn="just">
                        <a:lnSpc>
                          <a:spcPct val="125000"/>
                        </a:lnSpc>
                        <a:spcBef>
                          <a:spcPct val="0"/>
                        </a:spcBef>
                        <a:spcAft>
                          <a:spcPct val="0"/>
                        </a:spcAft>
                      </a:pPr>
                      <a:r>
                        <a:rPr lang="zh-CN" sz="1600" b="1">
                          <a:latin typeface="+mn-ea"/>
                        </a:rPr>
                        <a:t>简单流水线</a:t>
                      </a:r>
                      <a:endParaRPr lang="zh-CN" sz="1600" b="1">
                        <a:latin typeface="+mn-ea"/>
                      </a:endParaRPr>
                    </a:p>
                  </a:txBody>
                  <a:tcPr marL="68580" marR="68580" marT="0"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marL="91440" indent="0" algn="just">
                        <a:lnSpc>
                          <a:spcPct val="125000"/>
                        </a:lnSpc>
                        <a:spcBef>
                          <a:spcPct val="0"/>
                        </a:spcBef>
                        <a:spcAft>
                          <a:spcPct val="0"/>
                        </a:spcAft>
                      </a:pPr>
                      <a:r>
                        <a:rPr lang="en-US" altLang="zh-CN" sz="1600" b="1">
                          <a:latin typeface="+mn-ea"/>
                        </a:rPr>
                        <a:t>RAW </a:t>
                      </a:r>
                      <a:r>
                        <a:rPr lang="en-US" altLang="zh-CN" sz="1600" b="1">
                          <a:latin typeface="+mn-ea"/>
                        </a:rPr>
                        <a:t>stalls</a:t>
                      </a:r>
                      <a:endParaRPr lang="en-US" altLang="zh-CN" sz="1600" b="1">
                        <a:latin typeface="+mn-ea"/>
                      </a:endParaRPr>
                    </a:p>
                  </a:txBody>
                  <a:tcPr marL="68580" marR="68580" marT="0"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04800">
                <a:tc>
                  <a:txBody>
                    <a:bodyPr/>
                    <a:p>
                      <a:pPr marL="91440" indent="0" algn="just">
                        <a:lnSpc>
                          <a:spcPct val="125000"/>
                        </a:lnSpc>
                        <a:spcBef>
                          <a:spcPct val="0"/>
                        </a:spcBef>
                        <a:spcAft>
                          <a:spcPct val="0"/>
                        </a:spcAft>
                      </a:pPr>
                      <a:r>
                        <a:rPr lang="zh-CN" sz="1600" b="1">
                          <a:latin typeface="+mn-ea"/>
                        </a:rPr>
                        <a:t>记分板动态调度</a:t>
                      </a:r>
                      <a:endParaRPr lang="zh-CN" sz="1600" b="1">
                        <a:latin typeface="+mn-ea"/>
                      </a:endParaRPr>
                    </a:p>
                  </a:txBody>
                  <a:tcPr marL="68580" marR="68580" marT="0"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marL="91440" indent="0" algn="just">
                        <a:lnSpc>
                          <a:spcPct val="125000"/>
                        </a:lnSpc>
                        <a:spcBef>
                          <a:spcPct val="0"/>
                        </a:spcBef>
                        <a:spcAft>
                          <a:spcPct val="0"/>
                        </a:spcAft>
                      </a:pPr>
                      <a:r>
                        <a:rPr lang="en-US" altLang="zh-CN" sz="1600" b="1">
                          <a:latin typeface="+mn-ea"/>
                        </a:rPr>
                        <a:t>RAW </a:t>
                      </a:r>
                      <a:r>
                        <a:rPr lang="en-US" altLang="zh-CN" sz="1600" b="1">
                          <a:latin typeface="+mn-ea"/>
                        </a:rPr>
                        <a:t>stalls</a:t>
                      </a:r>
                      <a:endParaRPr lang="en-US" altLang="zh-CN" sz="1600" b="1">
                        <a:latin typeface="+mn-ea"/>
                      </a:endParaRPr>
                    </a:p>
                  </a:txBody>
                  <a:tcPr marL="68580" marR="68580" marT="0"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04800">
                <a:tc>
                  <a:txBody>
                    <a:bodyPr/>
                    <a:p>
                      <a:pPr marL="91440" indent="0" algn="just">
                        <a:lnSpc>
                          <a:spcPct val="125000"/>
                        </a:lnSpc>
                        <a:spcBef>
                          <a:spcPct val="0"/>
                        </a:spcBef>
                        <a:spcAft>
                          <a:spcPct val="0"/>
                        </a:spcAft>
                      </a:pPr>
                      <a:r>
                        <a:rPr lang="zh-CN" sz="1600" b="1">
                          <a:latin typeface="+mn-ea"/>
                        </a:rPr>
                        <a:t>寄存器重命名</a:t>
                      </a:r>
                      <a:endParaRPr lang="zh-CN" sz="1600" b="1">
                        <a:latin typeface="+mn-ea"/>
                      </a:endParaRPr>
                    </a:p>
                  </a:txBody>
                  <a:tcPr marL="68580" marR="68580" marT="0"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marL="91440" indent="0" algn="just">
                        <a:lnSpc>
                          <a:spcPct val="125000"/>
                        </a:lnSpc>
                        <a:spcBef>
                          <a:spcPct val="0"/>
                        </a:spcBef>
                        <a:spcAft>
                          <a:spcPct val="0"/>
                        </a:spcAft>
                      </a:pPr>
                      <a:r>
                        <a:rPr lang="en-US" altLang="zh-CN" sz="1600" b="1">
                          <a:latin typeface="+mn-ea"/>
                        </a:rPr>
                        <a:t>WAR and </a:t>
                      </a:r>
                      <a:r>
                        <a:rPr lang="en-US" altLang="zh-CN" sz="1600" b="1">
                          <a:latin typeface="+mn-ea"/>
                        </a:rPr>
                        <a:t>WAW</a:t>
                      </a:r>
                      <a:endParaRPr lang="en-US" altLang="zh-CN" sz="1600" b="1">
                        <a:latin typeface="+mn-ea"/>
                      </a:endParaRPr>
                    </a:p>
                  </a:txBody>
                  <a:tcPr marL="68580" marR="68580" marT="0"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04800">
                <a:tc>
                  <a:txBody>
                    <a:bodyPr/>
                    <a:p>
                      <a:pPr marL="91440" indent="0" algn="just">
                        <a:lnSpc>
                          <a:spcPct val="125000"/>
                        </a:lnSpc>
                        <a:spcBef>
                          <a:spcPct val="0"/>
                        </a:spcBef>
                        <a:spcAft>
                          <a:spcPct val="0"/>
                        </a:spcAft>
                      </a:pPr>
                      <a:r>
                        <a:rPr lang="zh-CN" sz="1600" b="1">
                          <a:latin typeface="+mn-ea"/>
                        </a:rPr>
                        <a:t>动态转移预测</a:t>
                      </a:r>
                      <a:endParaRPr lang="zh-CN" sz="1600" b="1">
                        <a:latin typeface="+mn-ea"/>
                      </a:endParaRPr>
                    </a:p>
                  </a:txBody>
                  <a:tcPr marL="68580" marR="68580" marT="0"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marL="91440" indent="0" algn="just">
                        <a:lnSpc>
                          <a:spcPct val="125000"/>
                        </a:lnSpc>
                        <a:spcBef>
                          <a:spcPct val="0"/>
                        </a:spcBef>
                        <a:spcAft>
                          <a:spcPct val="0"/>
                        </a:spcAft>
                      </a:pPr>
                      <a:r>
                        <a:rPr lang="en-US" altLang="zh-CN" sz="1600" b="1">
                          <a:latin typeface="+mn-ea"/>
                        </a:rPr>
                        <a:t>Control </a:t>
                      </a:r>
                      <a:r>
                        <a:rPr lang="en-US" altLang="zh-CN" sz="1600" b="1">
                          <a:latin typeface="+mn-ea"/>
                        </a:rPr>
                        <a:t>stalls</a:t>
                      </a:r>
                      <a:endParaRPr lang="en-US" altLang="zh-CN" sz="1600" b="1">
                        <a:latin typeface="+mn-ea"/>
                      </a:endParaRPr>
                    </a:p>
                  </a:txBody>
                  <a:tcPr marL="68580" marR="68580" marT="0"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04800">
                <a:tc>
                  <a:txBody>
                    <a:bodyPr/>
                    <a:p>
                      <a:pPr marL="91440" indent="0" algn="just">
                        <a:lnSpc>
                          <a:spcPct val="125000"/>
                        </a:lnSpc>
                        <a:spcBef>
                          <a:spcPct val="0"/>
                        </a:spcBef>
                        <a:spcAft>
                          <a:spcPct val="0"/>
                        </a:spcAft>
                      </a:pPr>
                      <a:r>
                        <a:rPr lang="zh-CN" sz="1600" b="1">
                          <a:latin typeface="+mn-ea"/>
                        </a:rPr>
                        <a:t>多发射</a:t>
                      </a:r>
                      <a:endParaRPr lang="zh-CN" sz="1600" b="1">
                        <a:latin typeface="+mn-ea"/>
                      </a:endParaRPr>
                    </a:p>
                  </a:txBody>
                  <a:tcPr marL="68580" marR="68580" marT="0"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marL="91440" indent="0" algn="just">
                        <a:lnSpc>
                          <a:spcPct val="125000"/>
                        </a:lnSpc>
                        <a:spcBef>
                          <a:spcPct val="0"/>
                        </a:spcBef>
                        <a:spcAft>
                          <a:spcPct val="0"/>
                        </a:spcAft>
                      </a:pPr>
                      <a:r>
                        <a:rPr lang="en-US" altLang="zh-CN" sz="1600" b="1">
                          <a:latin typeface="+mn-ea"/>
                        </a:rPr>
                        <a:t>Ideal CPI</a:t>
                      </a:r>
                      <a:endParaRPr lang="en-US" altLang="zh-CN" sz="1600" b="1">
                        <a:latin typeface="+mn-ea"/>
                      </a:endParaRPr>
                    </a:p>
                  </a:txBody>
                  <a:tcPr marL="68580" marR="68580" marT="0"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04800">
                <a:tc>
                  <a:txBody>
                    <a:bodyPr/>
                    <a:p>
                      <a:pPr marL="91440" indent="0" algn="just">
                        <a:lnSpc>
                          <a:spcPct val="125000"/>
                        </a:lnSpc>
                        <a:spcBef>
                          <a:spcPct val="0"/>
                        </a:spcBef>
                        <a:spcAft>
                          <a:spcPct val="0"/>
                        </a:spcAft>
                      </a:pPr>
                      <a:r>
                        <a:rPr lang="zh-CN" sz="1600" b="1">
                          <a:latin typeface="+mn-ea"/>
                        </a:rPr>
                        <a:t>猜测执行</a:t>
                      </a:r>
                      <a:endParaRPr lang="zh-CN" sz="1600" b="1">
                        <a:latin typeface="+mn-ea"/>
                      </a:endParaRPr>
                    </a:p>
                  </a:txBody>
                  <a:tcPr marL="68580" marR="68580" marT="0"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marL="91440" indent="0" algn="just">
                        <a:lnSpc>
                          <a:spcPct val="125000"/>
                        </a:lnSpc>
                        <a:spcBef>
                          <a:spcPct val="0"/>
                        </a:spcBef>
                        <a:spcAft>
                          <a:spcPct val="0"/>
                        </a:spcAft>
                      </a:pPr>
                      <a:r>
                        <a:rPr lang="en-US" altLang="zh-CN" sz="1600" b="1">
                          <a:latin typeface="+mn-ea"/>
                        </a:rPr>
                        <a:t>All data and control stalls</a:t>
                      </a:r>
                      <a:endParaRPr lang="en-US" altLang="zh-CN" sz="1600" b="1">
                        <a:latin typeface="+mn-ea"/>
                      </a:endParaRPr>
                    </a:p>
                  </a:txBody>
                  <a:tcPr marL="68580" marR="68580" marT="0"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04800">
                <a:tc>
                  <a:txBody>
                    <a:bodyPr/>
                    <a:p>
                      <a:pPr marL="91440" indent="0" algn="just">
                        <a:lnSpc>
                          <a:spcPct val="125000"/>
                        </a:lnSpc>
                        <a:spcBef>
                          <a:spcPct val="0"/>
                        </a:spcBef>
                        <a:spcAft>
                          <a:spcPct val="0"/>
                        </a:spcAft>
                      </a:pPr>
                      <a:r>
                        <a:rPr lang="zh-CN" sz="1600" b="1">
                          <a:latin typeface="+mn-ea"/>
                        </a:rPr>
                        <a:t>非阻塞访存</a:t>
                      </a:r>
                      <a:endParaRPr lang="zh-CN" sz="1600" b="1">
                        <a:latin typeface="+mn-ea"/>
                      </a:endParaRPr>
                    </a:p>
                  </a:txBody>
                  <a:tcPr marL="68580" marR="68580" marT="0"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marL="91440" indent="0" algn="just">
                        <a:lnSpc>
                          <a:spcPct val="125000"/>
                        </a:lnSpc>
                        <a:spcBef>
                          <a:spcPct val="0"/>
                        </a:spcBef>
                        <a:spcAft>
                          <a:spcPct val="0"/>
                        </a:spcAft>
                      </a:pPr>
                      <a:r>
                        <a:rPr lang="en-US" altLang="zh-CN" sz="1600" b="1">
                          <a:latin typeface="+mn-ea"/>
                        </a:rPr>
                        <a:t>RAW stall involving memory</a:t>
                      </a:r>
                      <a:endParaRPr lang="en-US" altLang="zh-CN" sz="1600" b="1">
                        <a:latin typeface="+mn-ea"/>
                      </a:endParaRPr>
                    </a:p>
                  </a:txBody>
                  <a:tcPr marL="68580" marR="68580" marT="0"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 name="图表 1"/>
          <p:cNvGraphicFramePr/>
          <p:nvPr/>
        </p:nvGraphicFramePr>
        <p:xfrm>
          <a:off x="920207" y="1455421"/>
          <a:ext cx="10365237" cy="4942205"/>
        </p:xfrm>
        <a:graphic>
          <a:graphicData uri="http://schemas.openxmlformats.org/drawingml/2006/chart">
            <c:chart xmlns:c="http://schemas.openxmlformats.org/drawingml/2006/chart" xmlns:r="http://schemas.openxmlformats.org/officeDocument/2006/relationships" r:id="rId1"/>
          </a:graphicData>
        </a:graphic>
      </p:graphicFrame>
      <p:sp>
        <p:nvSpPr>
          <p:cNvPr id="8194" name="Rectangle 2"/>
          <p:cNvSpPr/>
          <p:nvPr/>
        </p:nvSpPr>
        <p:spPr>
          <a:xfrm>
            <a:off x="528638" y="114300"/>
            <a:ext cx="11345862" cy="685800"/>
          </a:xfrm>
          <a:prstGeom prst="rect">
            <a:avLst/>
          </a:prstGeom>
          <a:noFill/>
          <a:ln w="9525">
            <a:noFill/>
          </a:ln>
        </p:spPr>
        <p:txBody>
          <a:bodyPr anchor="ctr" anchorCtr="0"/>
          <a:p>
            <a:pPr algn="ctr"/>
            <a:r>
              <a:rPr lang="zh-CN" altLang="en-US" sz="3200" dirty="0">
                <a:solidFill>
                  <a:srgbClr val="FF0000"/>
                </a:solidFill>
                <a:latin typeface="Arial" panose="02080604020202020204" pitchFamily="34" charset="0"/>
                <a:ea typeface="黑体" panose="02000500000000000000" pitchFamily="49" charset="-122"/>
              </a:rPr>
              <a:t>龙芯</a:t>
            </a:r>
            <a:r>
              <a:rPr lang="en-US" altLang="zh-CN" sz="3200" dirty="0">
                <a:solidFill>
                  <a:srgbClr val="FF0000"/>
                </a:solidFill>
                <a:latin typeface="Arial" panose="02080604020202020204" pitchFamily="34" charset="0"/>
                <a:ea typeface="黑体" panose="02000500000000000000" pitchFamily="49" charset="-122"/>
              </a:rPr>
              <a:t>3A6000</a:t>
            </a:r>
            <a:r>
              <a:rPr lang="zh-CN" altLang="en-US" sz="3200" dirty="0">
                <a:solidFill>
                  <a:srgbClr val="FF0000"/>
                </a:solidFill>
                <a:latin typeface="Arial" panose="02080604020202020204" pitchFamily="34" charset="0"/>
                <a:ea typeface="黑体" panose="02000500000000000000" pitchFamily="49" charset="-122"/>
              </a:rPr>
              <a:t>运行</a:t>
            </a:r>
            <a:r>
              <a:rPr lang="en-US" altLang="zh-CN" sz="3200" dirty="0">
                <a:solidFill>
                  <a:srgbClr val="FF0000"/>
                </a:solidFill>
                <a:latin typeface="Arial" panose="02080604020202020204" pitchFamily="34" charset="0"/>
                <a:ea typeface="黑体" panose="02000500000000000000" pitchFamily="49" charset="-122"/>
              </a:rPr>
              <a:t>SPEC CPU2006</a:t>
            </a:r>
            <a:r>
              <a:rPr lang="zh-CN" altLang="en-US" sz="3200" dirty="0">
                <a:solidFill>
                  <a:srgbClr val="FF0000"/>
                </a:solidFill>
                <a:latin typeface="Arial" panose="02080604020202020204" pitchFamily="34" charset="0"/>
                <a:ea typeface="黑体" panose="02000500000000000000" pitchFamily="49" charset="-122"/>
              </a:rPr>
              <a:t>的</a:t>
            </a:r>
            <a:r>
              <a:rPr lang="en-US" altLang="zh-CN" sz="3200" dirty="0">
                <a:solidFill>
                  <a:srgbClr val="FF0000"/>
                </a:solidFill>
                <a:latin typeface="Arial" panose="02080604020202020204" pitchFamily="34" charset="0"/>
                <a:ea typeface="黑体" panose="02000500000000000000" pitchFamily="49" charset="-122"/>
              </a:rPr>
              <a:t>IPC</a:t>
            </a:r>
            <a:r>
              <a:rPr lang="zh-CN" altLang="en-US" sz="3200" dirty="0">
                <a:solidFill>
                  <a:srgbClr val="FF0000"/>
                </a:solidFill>
                <a:latin typeface="Arial" panose="02080604020202020204" pitchFamily="34" charset="0"/>
                <a:ea typeface="黑体" panose="02000500000000000000" pitchFamily="49" charset="-122"/>
              </a:rPr>
              <a:t>分解</a:t>
            </a:r>
            <a:endParaRPr lang="zh-CN" altLang="en-US" sz="3200" dirty="0">
              <a:solidFill>
                <a:srgbClr val="FF0000"/>
              </a:solidFill>
              <a:latin typeface="Arial" panose="02080604020202020204" pitchFamily="34" charset="0"/>
              <a:ea typeface="黑体" panose="02000500000000000000" pitchFamily="49"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Rectangle 2"/>
          <p:cNvSpPr>
            <a:spLocks noGrp="1"/>
          </p:cNvSpPr>
          <p:nvPr>
            <p:ph type="title"/>
          </p:nvPr>
        </p:nvSpPr>
        <p:spPr>
          <a:xfrm>
            <a:off x="1055688" y="152400"/>
            <a:ext cx="10361612" cy="1143000"/>
          </a:xfrm>
        </p:spPr>
        <p:txBody>
          <a:bodyPr vert="horz" wrap="square" lIns="91440" tIns="45720" rIns="91440" bIns="45720" anchor="ctr" anchorCtr="0"/>
          <a:p>
            <a:pPr eaLnBrk="1" hangingPunct="1"/>
            <a:r>
              <a:rPr lang="zh-CN" altLang="en-US" dirty="0"/>
              <a:t>程序的相关性</a:t>
            </a:r>
            <a:endParaRPr lang="zh-CN" altLang="en-US" dirty="0"/>
          </a:p>
        </p:txBody>
      </p:sp>
      <p:sp>
        <p:nvSpPr>
          <p:cNvPr id="9218" name="Rectangle 3"/>
          <p:cNvSpPr>
            <a:spLocks noGrp="1"/>
          </p:cNvSpPr>
          <p:nvPr>
            <p:ph idx="1"/>
          </p:nvPr>
        </p:nvSpPr>
        <p:spPr>
          <a:xfrm>
            <a:off x="914400" y="1484313"/>
            <a:ext cx="10361613" cy="4611687"/>
          </a:xfrm>
        </p:spPr>
        <p:txBody>
          <a:bodyPr vert="horz" wrap="square" lIns="91440" tIns="45720" rIns="91440" bIns="45720" anchor="t" anchorCtr="0"/>
          <a:p>
            <a:pPr eaLnBrk="1" hangingPunct="1"/>
            <a:r>
              <a:rPr lang="zh-CN" altLang="en-US" dirty="0"/>
              <a:t>数据相关（真相关）：导致</a:t>
            </a:r>
            <a:r>
              <a:rPr lang="en-US" altLang="zh-CN" dirty="0"/>
              <a:t>RAW</a:t>
            </a:r>
            <a:endParaRPr lang="en-US" altLang="zh-CN" dirty="0"/>
          </a:p>
          <a:p>
            <a:pPr eaLnBrk="1" hangingPunct="1"/>
            <a:r>
              <a:rPr lang="zh-CN" altLang="en-US" dirty="0"/>
              <a:t>名字相关：会导致</a:t>
            </a:r>
            <a:r>
              <a:rPr lang="en-US" altLang="zh-CN" dirty="0"/>
              <a:t>WAW</a:t>
            </a:r>
            <a:r>
              <a:rPr lang="zh-CN" altLang="en-US" dirty="0"/>
              <a:t>和</a:t>
            </a:r>
            <a:r>
              <a:rPr lang="en-US" altLang="zh-CN" dirty="0"/>
              <a:t>WAR</a:t>
            </a:r>
            <a:endParaRPr lang="en-US" altLang="zh-CN" dirty="0"/>
          </a:p>
          <a:p>
            <a:pPr eaLnBrk="1" hangingPunct="1"/>
            <a:r>
              <a:rPr lang="zh-CN" altLang="en-US" dirty="0"/>
              <a:t>控制相关：条件转移</a:t>
            </a:r>
            <a:endParaRPr lang="zh-CN" altLang="en-US" dirty="0"/>
          </a:p>
          <a:p>
            <a:pPr eaLnBrk="1" hangingPunct="1"/>
            <a:r>
              <a:rPr lang="zh-CN" altLang="en-US" dirty="0"/>
              <a:t>程序的相关性容易引起流水线堵塞，可以通过软件和硬件的方法避免堵塞或降低堵塞的影响</a:t>
            </a:r>
            <a:endParaRPr lang="zh-CN" altLang="en-US" dirty="0"/>
          </a:p>
          <a:p>
            <a:pPr lvl="1" eaLnBrk="1" hangingPunct="1"/>
            <a:r>
              <a:rPr lang="zh-CN" altLang="en-US" dirty="0"/>
              <a:t>编译调度：如循环展开</a:t>
            </a:r>
            <a:endParaRPr lang="zh-CN" altLang="en-US" dirty="0"/>
          </a:p>
          <a:p>
            <a:pPr lvl="1" eaLnBrk="1" hangingPunct="1"/>
            <a:r>
              <a:rPr lang="zh-CN" altLang="en-US" dirty="0"/>
              <a:t>乱序执行：需要等待的指令不影响其他指令</a:t>
            </a:r>
            <a:endParaRPr lang="zh-CN" altLang="en-US" dirty="0"/>
          </a:p>
        </p:txBody>
      </p:sp>
      <p:sp>
        <p:nvSpPr>
          <p:cNvPr id="9219"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buSzTx/>
            </a:pPr>
            <a:fld id="{9A0DB2DC-4C9A-4742-B13C-FB6460FD3503}" type="slidenum">
              <a:rPr lang="en-US" altLang="zh-CN" sz="1400" dirty="0"/>
            </a:fld>
            <a:endParaRPr lang="en-US" altLang="zh-CN"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Rectangle 2"/>
          <p:cNvSpPr>
            <a:spLocks noGrp="1"/>
          </p:cNvSpPr>
          <p:nvPr>
            <p:ph idx="1"/>
          </p:nvPr>
        </p:nvSpPr>
        <p:spPr>
          <a:xfrm>
            <a:off x="406400" y="1411288"/>
            <a:ext cx="11377613" cy="4033837"/>
          </a:xfrm>
        </p:spPr>
        <p:txBody>
          <a:bodyPr vert="horz" wrap="square" lIns="91440" tIns="45720" rIns="91440" bIns="45720" anchor="t" anchorCtr="0"/>
          <a:p>
            <a:pPr eaLnBrk="1" hangingPunct="1"/>
            <a:r>
              <a:rPr lang="zh-CN" altLang="en-US" dirty="0"/>
              <a:t>定义：指令</a:t>
            </a:r>
            <a:r>
              <a:rPr lang="en-US" altLang="zh-CN" dirty="0"/>
              <a:t>j</a:t>
            </a:r>
            <a:r>
              <a:rPr lang="zh-CN" altLang="en-US" dirty="0"/>
              <a:t>数据相关于指令</a:t>
            </a:r>
            <a:r>
              <a:rPr lang="en-US" altLang="zh-CN" dirty="0"/>
              <a:t>i</a:t>
            </a:r>
            <a:endParaRPr lang="en-US" altLang="zh-CN" dirty="0"/>
          </a:p>
          <a:p>
            <a:pPr lvl="1" eaLnBrk="1" hangingPunct="1"/>
            <a:r>
              <a:rPr lang="zh-CN" altLang="en-US" dirty="0"/>
              <a:t>指令</a:t>
            </a:r>
            <a:r>
              <a:rPr lang="en-US" altLang="zh-CN" dirty="0"/>
              <a:t>j</a:t>
            </a:r>
            <a:r>
              <a:rPr lang="zh-CN" altLang="en-US" dirty="0"/>
              <a:t>使用了指令</a:t>
            </a:r>
            <a:r>
              <a:rPr lang="en-US" altLang="zh-CN" dirty="0"/>
              <a:t>i</a:t>
            </a:r>
            <a:r>
              <a:rPr lang="zh-CN" altLang="en-US" dirty="0"/>
              <a:t>产生的结果，或</a:t>
            </a:r>
            <a:endParaRPr lang="zh-CN" altLang="en-US" dirty="0"/>
          </a:p>
          <a:p>
            <a:pPr lvl="1" eaLnBrk="1" hangingPunct="1"/>
            <a:r>
              <a:rPr lang="zh-CN" altLang="en-US" dirty="0"/>
              <a:t>指令</a:t>
            </a:r>
            <a:r>
              <a:rPr lang="en-US" altLang="zh-CN" dirty="0"/>
              <a:t>j</a:t>
            </a:r>
            <a:r>
              <a:rPr lang="zh-CN" altLang="en-US" dirty="0"/>
              <a:t>数据相关于指令</a:t>
            </a:r>
            <a:r>
              <a:rPr lang="en-US" altLang="zh-CN" dirty="0"/>
              <a:t>k</a:t>
            </a:r>
            <a:r>
              <a:rPr lang="zh-CN" altLang="en-US" dirty="0"/>
              <a:t>，指令</a:t>
            </a:r>
            <a:r>
              <a:rPr lang="en-US" altLang="zh-CN" dirty="0"/>
              <a:t>k</a:t>
            </a:r>
            <a:r>
              <a:rPr lang="zh-CN" altLang="en-US" dirty="0"/>
              <a:t>数据相关于指令</a:t>
            </a:r>
            <a:r>
              <a:rPr lang="en-US" altLang="zh-CN" dirty="0"/>
              <a:t>i</a:t>
            </a:r>
            <a:endParaRPr lang="zh-CN" altLang="en-US" dirty="0"/>
          </a:p>
          <a:p>
            <a:pPr eaLnBrk="1" hangingPunct="1"/>
            <a:r>
              <a:rPr lang="zh-CN" altLang="en-US" dirty="0"/>
              <a:t>数据相关的指令不能并行执行</a:t>
            </a:r>
            <a:endParaRPr lang="zh-CN" altLang="en-US" dirty="0"/>
          </a:p>
          <a:p>
            <a:pPr eaLnBrk="1" hangingPunct="1"/>
            <a:r>
              <a:rPr lang="zh-CN" altLang="en-US" dirty="0"/>
              <a:t>寄存器的数据相关比较容易判断</a:t>
            </a:r>
            <a:endParaRPr lang="zh-CN" altLang="en-US" dirty="0"/>
          </a:p>
          <a:p>
            <a:pPr eaLnBrk="1" hangingPunct="1"/>
            <a:r>
              <a:rPr lang="zh-CN" altLang="en-US" dirty="0"/>
              <a:t>存储器的数据相关不容易判断</a:t>
            </a:r>
            <a:endParaRPr lang="en-US" altLang="zh-CN" dirty="0"/>
          </a:p>
          <a:p>
            <a:pPr lvl="1" eaLnBrk="1" hangingPunct="1"/>
            <a:r>
              <a:rPr lang="en-US" altLang="zh-CN" dirty="0"/>
              <a:t>100(R4) = 20(R6)?</a:t>
            </a:r>
            <a:endParaRPr lang="en-US" altLang="zh-CN" dirty="0"/>
          </a:p>
          <a:p>
            <a:pPr lvl="1" eaLnBrk="1" hangingPunct="1"/>
            <a:r>
              <a:rPr lang="zh-CN" altLang="zh-CN" dirty="0"/>
              <a:t>对不同循环体，</a:t>
            </a:r>
            <a:r>
              <a:rPr lang="en-US" altLang="zh-CN" dirty="0"/>
              <a:t>20(R6) = 20(R6)?</a:t>
            </a:r>
            <a:endParaRPr lang="en-US" altLang="zh-CN" dirty="0"/>
          </a:p>
        </p:txBody>
      </p:sp>
      <p:sp>
        <p:nvSpPr>
          <p:cNvPr id="10242" name="Rectangle 3"/>
          <p:cNvSpPr/>
          <p:nvPr/>
        </p:nvSpPr>
        <p:spPr>
          <a:xfrm>
            <a:off x="6815138" y="2168525"/>
            <a:ext cx="4125912" cy="1752600"/>
          </a:xfrm>
          <a:prstGeom prst="rect">
            <a:avLst/>
          </a:prstGeom>
          <a:solidFill>
            <a:srgbClr val="F2F2F2"/>
          </a:solidFill>
          <a:ln w="12700">
            <a:noFill/>
          </a:ln>
        </p:spPr>
        <p:txBody>
          <a:bodyPr lIns="90487" tIns="44450" rIns="90487" bIns="44450" anchor="t" anchorCtr="0"/>
          <a:p>
            <a:pPr marL="285750" indent="-285750" defTabSz="914400">
              <a:lnSpc>
                <a:spcPct val="90000"/>
              </a:lnSpc>
              <a:spcBef>
                <a:spcPct val="30000"/>
              </a:spcBef>
              <a:tabLst>
                <a:tab pos="1200150" algn="l"/>
                <a:tab pos="2000250" algn="l"/>
                <a:tab pos="3371850" algn="l"/>
              </a:tabLst>
            </a:pPr>
            <a:r>
              <a:rPr lang="en-US" altLang="zh-CN" sz="1800" b="1" dirty="0">
                <a:latin typeface="宋体" panose="02000500000000000000" pitchFamily="2" charset="-122"/>
                <a:ea typeface="宋体" panose="02000500000000000000" pitchFamily="2" charset="-122"/>
              </a:rPr>
              <a:t> 1 Loop:	LD.D	</a:t>
            </a:r>
            <a:r>
              <a:rPr lang="en-US" altLang="zh-CN" sz="1800" b="1" dirty="0">
                <a:solidFill>
                  <a:srgbClr val="FF0000"/>
                </a:solidFill>
                <a:latin typeface="宋体" panose="02000500000000000000" pitchFamily="2" charset="-122"/>
                <a:ea typeface="宋体" panose="02000500000000000000" pitchFamily="2" charset="-122"/>
              </a:rPr>
              <a:t>F0</a:t>
            </a:r>
            <a:r>
              <a:rPr lang="en-US" altLang="zh-CN" sz="1800" b="1" dirty="0">
                <a:latin typeface="宋体" panose="02000500000000000000" pitchFamily="2" charset="-122"/>
                <a:ea typeface="宋体" panose="02000500000000000000" pitchFamily="2" charset="-122"/>
              </a:rPr>
              <a:t>, 0(R1)	</a:t>
            </a:r>
            <a:endParaRPr lang="en-US" altLang="zh-CN" sz="1800" b="1" dirty="0">
              <a:latin typeface="宋体" panose="02000500000000000000" pitchFamily="2" charset="-122"/>
              <a:ea typeface="宋体" panose="02000500000000000000" pitchFamily="2" charset="-122"/>
            </a:endParaRPr>
          </a:p>
          <a:p>
            <a:pPr marL="285750" indent="-285750" defTabSz="914400">
              <a:lnSpc>
                <a:spcPct val="90000"/>
              </a:lnSpc>
              <a:spcBef>
                <a:spcPct val="30000"/>
              </a:spcBef>
              <a:tabLst>
                <a:tab pos="1200150" algn="l"/>
                <a:tab pos="2000250" algn="l"/>
                <a:tab pos="3371850" algn="l"/>
              </a:tabLst>
            </a:pPr>
            <a:r>
              <a:rPr lang="en-US" altLang="zh-CN" sz="1800" b="1" dirty="0">
                <a:latin typeface="宋体" panose="02000500000000000000" pitchFamily="2" charset="-122"/>
                <a:ea typeface="宋体" panose="02000500000000000000" pitchFamily="2" charset="-122"/>
              </a:rPr>
              <a:t> 2		ADD.D	</a:t>
            </a:r>
            <a:r>
              <a:rPr lang="en-US" altLang="zh-CN" sz="1800" b="1" dirty="0">
                <a:solidFill>
                  <a:schemeClr val="accent2"/>
                </a:solidFill>
                <a:latin typeface="宋体" panose="02000500000000000000" pitchFamily="2" charset="-122"/>
                <a:ea typeface="宋体" panose="02000500000000000000" pitchFamily="2" charset="-122"/>
              </a:rPr>
              <a:t>F4</a:t>
            </a:r>
            <a:r>
              <a:rPr lang="en-US" altLang="zh-CN" sz="1800" b="1" dirty="0">
                <a:latin typeface="宋体" panose="02000500000000000000" pitchFamily="2" charset="-122"/>
                <a:ea typeface="宋体" panose="02000500000000000000" pitchFamily="2" charset="-122"/>
              </a:rPr>
              <a:t>,</a:t>
            </a:r>
            <a:r>
              <a:rPr lang="en-US" altLang="zh-CN" sz="1800" b="1" dirty="0">
                <a:solidFill>
                  <a:srgbClr val="FF0000"/>
                </a:solidFill>
                <a:latin typeface="宋体" panose="02000500000000000000" pitchFamily="2" charset="-122"/>
                <a:ea typeface="宋体" panose="02000500000000000000" pitchFamily="2" charset="-122"/>
              </a:rPr>
              <a:t>F0</a:t>
            </a:r>
            <a:r>
              <a:rPr lang="en-US" altLang="zh-CN" sz="1800" b="1" dirty="0">
                <a:latin typeface="宋体" panose="02000500000000000000" pitchFamily="2" charset="-122"/>
                <a:ea typeface="宋体" panose="02000500000000000000" pitchFamily="2" charset="-122"/>
              </a:rPr>
              <a:t>,F2	</a:t>
            </a:r>
            <a:endParaRPr lang="en-US" altLang="zh-CN" sz="1800" b="1" dirty="0">
              <a:latin typeface="宋体" panose="02000500000000000000" pitchFamily="2" charset="-122"/>
              <a:ea typeface="宋体" panose="02000500000000000000" pitchFamily="2" charset="-122"/>
            </a:endParaRPr>
          </a:p>
          <a:p>
            <a:pPr marL="285750" indent="-285750" defTabSz="914400">
              <a:lnSpc>
                <a:spcPct val="90000"/>
              </a:lnSpc>
              <a:spcBef>
                <a:spcPct val="30000"/>
              </a:spcBef>
              <a:tabLst>
                <a:tab pos="1200150" algn="l"/>
                <a:tab pos="2000250" algn="l"/>
                <a:tab pos="3371850" algn="l"/>
              </a:tabLst>
            </a:pPr>
            <a:r>
              <a:rPr lang="en-US" altLang="zh-CN" sz="1800" b="1" dirty="0">
                <a:latin typeface="宋体" panose="02000500000000000000" pitchFamily="2" charset="-122"/>
                <a:ea typeface="宋体" panose="02000500000000000000" pitchFamily="2" charset="-122"/>
              </a:rPr>
              <a:t> 3		</a:t>
            </a:r>
            <a:r>
              <a:rPr lang="en-US" altLang="zh-CN" sz="1800" b="1" dirty="0">
                <a:latin typeface="宋体" panose="02000500000000000000" pitchFamily="2" charset="-122"/>
                <a:ea typeface="宋体" panose="02000500000000000000" pitchFamily="2" charset="-122"/>
                <a:sym typeface="宋体" panose="02000500000000000000" pitchFamily="2" charset="-122"/>
              </a:rPr>
              <a:t>ST.D	0(R1),</a:t>
            </a:r>
            <a:r>
              <a:rPr lang="en-US" altLang="zh-CN" sz="1800" b="1" dirty="0">
                <a:solidFill>
                  <a:schemeClr val="accent2"/>
                </a:solidFill>
                <a:latin typeface="宋体" panose="02000500000000000000" pitchFamily="2" charset="-122"/>
                <a:ea typeface="宋体" panose="02000500000000000000" pitchFamily="2" charset="-122"/>
                <a:sym typeface="宋体" panose="02000500000000000000" pitchFamily="2" charset="-122"/>
              </a:rPr>
              <a:t>F4</a:t>
            </a:r>
            <a:r>
              <a:rPr lang="en-US" altLang="zh-CN" sz="1800" b="1" dirty="0">
                <a:latin typeface="宋体" panose="02000500000000000000" pitchFamily="2" charset="-122"/>
                <a:ea typeface="宋体" panose="02000500000000000000" pitchFamily="2" charset="-122"/>
              </a:rPr>
              <a:t>	</a:t>
            </a:r>
            <a:endParaRPr lang="en-US" altLang="zh-CN" sz="1800" b="1" dirty="0">
              <a:latin typeface="宋体" panose="02000500000000000000" pitchFamily="2" charset="-122"/>
              <a:ea typeface="宋体" panose="02000500000000000000" pitchFamily="2" charset="-122"/>
            </a:endParaRPr>
          </a:p>
          <a:p>
            <a:pPr marL="285750" indent="-285750" defTabSz="914400">
              <a:lnSpc>
                <a:spcPct val="90000"/>
              </a:lnSpc>
              <a:spcBef>
                <a:spcPct val="30000"/>
              </a:spcBef>
              <a:tabLst>
                <a:tab pos="1200150" algn="l"/>
                <a:tab pos="2000250" algn="l"/>
                <a:tab pos="3371850" algn="l"/>
              </a:tabLst>
            </a:pPr>
            <a:r>
              <a:rPr lang="en-US" altLang="zh-CN" sz="1800" b="1" dirty="0">
                <a:latin typeface="宋体" panose="02000500000000000000" pitchFamily="2" charset="-122"/>
                <a:ea typeface="宋体" panose="02000500000000000000" pitchFamily="2" charset="-122"/>
              </a:rPr>
              <a:t> 4		</a:t>
            </a:r>
            <a:r>
              <a:rPr lang="en-US" altLang="zh-CN" sz="1800" b="1" dirty="0">
                <a:latin typeface="宋体" panose="02000500000000000000" pitchFamily="2" charset="-122"/>
                <a:ea typeface="宋体" panose="02000500000000000000" pitchFamily="2" charset="-122"/>
              </a:rPr>
              <a:t>SUBI.W	R1,R1,8	</a:t>
            </a:r>
            <a:endParaRPr lang="en-US" altLang="zh-CN" sz="1800" b="1" dirty="0">
              <a:latin typeface="宋体" panose="02000500000000000000" pitchFamily="2" charset="-122"/>
              <a:ea typeface="宋体" panose="02000500000000000000" pitchFamily="2" charset="-122"/>
            </a:endParaRPr>
          </a:p>
          <a:p>
            <a:pPr marL="285750" indent="-285750" defTabSz="914400">
              <a:lnSpc>
                <a:spcPct val="90000"/>
              </a:lnSpc>
              <a:spcBef>
                <a:spcPct val="30000"/>
              </a:spcBef>
              <a:tabLst>
                <a:tab pos="1200150" algn="l"/>
                <a:tab pos="2000250" algn="l"/>
                <a:tab pos="3371850" algn="l"/>
              </a:tabLst>
            </a:pPr>
            <a:r>
              <a:rPr lang="en-US" altLang="zh-CN" sz="1800" b="1" dirty="0">
                <a:latin typeface="宋体" panose="02000500000000000000" pitchFamily="2" charset="-122"/>
                <a:ea typeface="宋体" panose="02000500000000000000" pitchFamily="2" charset="-122"/>
              </a:rPr>
              <a:t> 5        </a:t>
            </a:r>
            <a:r>
              <a:rPr lang="en-US" altLang="zh-CN" sz="1800" b="1" dirty="0">
                <a:latin typeface="宋体" panose="02000500000000000000" pitchFamily="2" charset="-122"/>
                <a:ea typeface="宋体" panose="02000500000000000000" pitchFamily="2" charset="-122"/>
              </a:rPr>
              <a:t>BNEZ	R1,Loop	</a:t>
            </a:r>
            <a:endParaRPr lang="en-US" altLang="zh-CN" sz="1800" b="1" dirty="0">
              <a:latin typeface="宋体" panose="02000500000000000000" pitchFamily="2" charset="-122"/>
              <a:ea typeface="宋体" panose="02000500000000000000" pitchFamily="2" charset="-122"/>
            </a:endParaRPr>
          </a:p>
          <a:p>
            <a:pPr marL="285750" indent="-285750" defTabSz="914400">
              <a:lnSpc>
                <a:spcPct val="90000"/>
              </a:lnSpc>
              <a:spcBef>
                <a:spcPct val="30000"/>
              </a:spcBef>
              <a:tabLst>
                <a:tab pos="1200150" algn="l"/>
                <a:tab pos="2000250" algn="l"/>
                <a:tab pos="3371850" algn="l"/>
              </a:tabLst>
            </a:pPr>
            <a:endParaRPr lang="en-US" altLang="zh-CN" sz="1800" b="1" dirty="0">
              <a:solidFill>
                <a:srgbClr val="FF0000"/>
              </a:solidFill>
              <a:latin typeface="宋体" panose="02000500000000000000" pitchFamily="2" charset="-122"/>
              <a:ea typeface="宋体" panose="02000500000000000000" pitchFamily="2" charset="-122"/>
            </a:endParaRPr>
          </a:p>
        </p:txBody>
      </p:sp>
      <p:sp>
        <p:nvSpPr>
          <p:cNvPr id="10243" name="Rectangle 5"/>
          <p:cNvSpPr>
            <a:spLocks noGrp="1"/>
          </p:cNvSpPr>
          <p:nvPr>
            <p:ph type="title"/>
          </p:nvPr>
        </p:nvSpPr>
        <p:spPr>
          <a:xfrm>
            <a:off x="719138" y="0"/>
            <a:ext cx="10361612" cy="981075"/>
          </a:xfrm>
        </p:spPr>
        <p:txBody>
          <a:bodyPr vert="horz" wrap="square" lIns="91440" tIns="45720" rIns="91440" bIns="45720" anchor="ctr" anchorCtr="0"/>
          <a:p>
            <a:pPr eaLnBrk="1" hangingPunct="1"/>
            <a:r>
              <a:rPr lang="zh-CN" altLang="en-US" dirty="0"/>
              <a:t>数据相关</a:t>
            </a:r>
            <a:endParaRPr lang="zh-CN" altLang="en-US" dirty="0"/>
          </a:p>
        </p:txBody>
      </p:sp>
      <p:sp>
        <p:nvSpPr>
          <p:cNvPr id="10244" name="灯片编号占位符 6"/>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buSzTx/>
            </a:pPr>
            <a:fld id="{9A0DB2DC-4C9A-4742-B13C-FB6460FD3503}" type="slidenum">
              <a:rPr lang="en-US" altLang="zh-CN" sz="1400" dirty="0"/>
            </a:fld>
            <a:endParaRPr lang="en-US" altLang="zh-CN"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Rectangle 2"/>
          <p:cNvSpPr>
            <a:spLocks noGrp="1"/>
          </p:cNvSpPr>
          <p:nvPr>
            <p:ph idx="1"/>
          </p:nvPr>
        </p:nvSpPr>
        <p:spPr>
          <a:xfrm>
            <a:off x="334963" y="944563"/>
            <a:ext cx="11495087" cy="5697537"/>
          </a:xfrm>
        </p:spPr>
        <p:txBody>
          <a:bodyPr vert="horz" wrap="square" lIns="91440" tIns="45720" rIns="91440" bIns="45720" anchor="t" anchorCtr="0"/>
          <a:p>
            <a:pPr eaLnBrk="1" hangingPunct="1"/>
            <a:r>
              <a:rPr lang="zh-CN" altLang="zh-CN" dirty="0"/>
              <a:t>两条指令使用相同名字</a:t>
            </a:r>
            <a:r>
              <a:rPr lang="zh-CN" altLang="en-US" dirty="0"/>
              <a:t>（寄存器或存储器），但不交换数据</a:t>
            </a:r>
            <a:endParaRPr lang="zh-CN" altLang="en-US" dirty="0"/>
          </a:p>
          <a:p>
            <a:pPr lvl="1" eaLnBrk="1" hangingPunct="1"/>
            <a:r>
              <a:rPr lang="zh-CN" altLang="en-US" dirty="0"/>
              <a:t>逆相关（</a:t>
            </a:r>
            <a:r>
              <a:rPr lang="en-US" altLang="zh-CN" dirty="0"/>
              <a:t>Antidependence</a:t>
            </a:r>
            <a:r>
              <a:rPr lang="zh-CN" altLang="en-US" dirty="0"/>
              <a:t>）：指令</a:t>
            </a:r>
            <a:r>
              <a:rPr lang="en-US" altLang="zh-CN" dirty="0"/>
              <a:t>j</a:t>
            </a:r>
            <a:r>
              <a:rPr lang="zh-CN" altLang="en-US" dirty="0"/>
              <a:t>写指令</a:t>
            </a:r>
            <a:r>
              <a:rPr lang="en-US" altLang="zh-CN" dirty="0"/>
              <a:t>i</a:t>
            </a:r>
            <a:r>
              <a:rPr lang="zh-CN" altLang="en-US" dirty="0"/>
              <a:t>所读的存储单元且</a:t>
            </a:r>
            <a:r>
              <a:rPr lang="en-US" altLang="zh-CN" dirty="0"/>
              <a:t>i</a:t>
            </a:r>
            <a:r>
              <a:rPr lang="zh-CN" altLang="en-US" dirty="0"/>
              <a:t>先执行，逆相关会导致流水线</a:t>
            </a:r>
            <a:r>
              <a:rPr lang="en-US" altLang="zh-CN" dirty="0"/>
              <a:t>WAR</a:t>
            </a:r>
            <a:r>
              <a:rPr lang="zh-CN" altLang="en-US" dirty="0"/>
              <a:t>相关</a:t>
            </a:r>
            <a:endParaRPr lang="zh-CN" altLang="en-US" dirty="0"/>
          </a:p>
          <a:p>
            <a:pPr lvl="1" eaLnBrk="1" hangingPunct="1"/>
            <a:r>
              <a:rPr lang="zh-CN" altLang="en-US" dirty="0"/>
              <a:t>输出相关（</a:t>
            </a:r>
            <a:r>
              <a:rPr lang="en-US" altLang="zh-CN" dirty="0"/>
              <a:t>Output Dependence</a:t>
            </a:r>
            <a:r>
              <a:rPr lang="zh-CN" altLang="en-US" dirty="0"/>
              <a:t>）：指令</a:t>
            </a:r>
            <a:r>
              <a:rPr lang="en-US" altLang="zh-CN" dirty="0"/>
              <a:t>j</a:t>
            </a:r>
            <a:r>
              <a:rPr lang="zh-CN" altLang="en-US" dirty="0"/>
              <a:t>与指令</a:t>
            </a:r>
            <a:r>
              <a:rPr lang="en-US" altLang="zh-CN" dirty="0"/>
              <a:t>i</a:t>
            </a:r>
            <a:r>
              <a:rPr lang="zh-CN" altLang="en-US" dirty="0"/>
              <a:t>写同一个单元且</a:t>
            </a:r>
            <a:r>
              <a:rPr lang="en-US" altLang="zh-CN" dirty="0"/>
              <a:t>i</a:t>
            </a:r>
            <a:r>
              <a:rPr lang="zh-CN" altLang="en-US" dirty="0"/>
              <a:t>先执行，逆相关会导致流水线</a:t>
            </a:r>
            <a:r>
              <a:rPr lang="en-US" altLang="zh-CN" dirty="0"/>
              <a:t>WAW</a:t>
            </a:r>
            <a:r>
              <a:rPr lang="zh-CN" altLang="en-US" dirty="0"/>
              <a:t>相关</a:t>
            </a:r>
            <a:endParaRPr lang="zh-CN" altLang="en-US" dirty="0"/>
          </a:p>
          <a:p>
            <a:pPr eaLnBrk="1" hangingPunct="1"/>
            <a:r>
              <a:rPr lang="zh-CN" altLang="en-US" dirty="0"/>
              <a:t>寄存器的名字相关可以通过寄存器重命名（</a:t>
            </a:r>
            <a:r>
              <a:rPr lang="en-US" altLang="zh-CN" dirty="0"/>
              <a:t>Register Renaming</a:t>
            </a:r>
            <a:r>
              <a:rPr lang="zh-CN" altLang="en-US" dirty="0"/>
              <a:t>）解决，存储单元的重命名比较困难</a:t>
            </a:r>
            <a:endParaRPr lang="zh-CN" altLang="en-US" dirty="0"/>
          </a:p>
          <a:p>
            <a:pPr lvl="1" eaLnBrk="1" hangingPunct="1"/>
            <a:r>
              <a:rPr lang="en-US" altLang="zh-CN" dirty="0"/>
              <a:t>100(R4) = 20(R6)?</a:t>
            </a:r>
            <a:endParaRPr lang="en-US" altLang="zh-CN" dirty="0"/>
          </a:p>
          <a:p>
            <a:pPr lvl="1" eaLnBrk="1" hangingPunct="1"/>
            <a:r>
              <a:rPr lang="zh-CN" altLang="zh-CN" dirty="0"/>
              <a:t>对不同循环体，</a:t>
            </a:r>
            <a:r>
              <a:rPr lang="en-US" altLang="zh-CN" dirty="0"/>
              <a:t>20(R6) = 20(R6)?</a:t>
            </a:r>
            <a:endParaRPr lang="en-US" altLang="zh-CN" dirty="0"/>
          </a:p>
          <a:p>
            <a:pPr lvl="1" eaLnBrk="1" hangingPunct="1"/>
            <a:r>
              <a:rPr lang="zh-CN" altLang="en-US" dirty="0"/>
              <a:t>在前述例子中，编译器必须知道</a:t>
            </a:r>
            <a:r>
              <a:rPr lang="en-US" altLang="zh-CN" dirty="0"/>
              <a:t>0(R1)!=-8(R1)!=-16(R1)!=-24(R1)</a:t>
            </a:r>
            <a:endParaRPr lang="en-US" altLang="zh-CN" dirty="0"/>
          </a:p>
          <a:p>
            <a:pPr eaLnBrk="1" hangingPunct="1"/>
            <a:r>
              <a:rPr lang="en-US" altLang="zh-CN" dirty="0">
                <a:solidFill>
                  <a:schemeClr val="accent2"/>
                </a:solidFill>
              </a:rPr>
              <a:t>RISC</a:t>
            </a:r>
            <a:r>
              <a:rPr lang="zh-CN" altLang="en-US" dirty="0">
                <a:solidFill>
                  <a:schemeClr val="accent2"/>
                </a:solidFill>
              </a:rPr>
              <a:t>技术极大地简化了指令之间的相关性</a:t>
            </a:r>
            <a:endParaRPr lang="en-US" altLang="zh-CN" dirty="0">
              <a:solidFill>
                <a:schemeClr val="accent2"/>
              </a:solidFill>
            </a:endParaRPr>
          </a:p>
        </p:txBody>
      </p:sp>
      <p:sp>
        <p:nvSpPr>
          <p:cNvPr id="11266" name="Rectangle 3"/>
          <p:cNvSpPr>
            <a:spLocks noGrp="1"/>
          </p:cNvSpPr>
          <p:nvPr>
            <p:ph type="title"/>
          </p:nvPr>
        </p:nvSpPr>
        <p:spPr>
          <a:xfrm>
            <a:off x="912813" y="0"/>
            <a:ext cx="10361612" cy="1143000"/>
          </a:xfrm>
        </p:spPr>
        <p:txBody>
          <a:bodyPr vert="horz" wrap="square" lIns="91440" tIns="45720" rIns="91440" bIns="45720" anchor="ctr" anchorCtr="0"/>
          <a:p>
            <a:pPr eaLnBrk="1" hangingPunct="1"/>
            <a:r>
              <a:rPr lang="zh-CN" altLang="zh-CN" dirty="0"/>
              <a:t>名字相关</a:t>
            </a:r>
            <a:endParaRPr lang="zh-CN" altLang="en-US" dirty="0"/>
          </a:p>
        </p:txBody>
      </p:sp>
      <p:sp>
        <p:nvSpPr>
          <p:cNvPr id="11267"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buSzTx/>
            </a:pPr>
            <a:fld id="{9A0DB2DC-4C9A-4742-B13C-FB6460FD3503}" type="slidenum">
              <a:rPr lang="en-US" altLang="zh-CN" sz="1400" dirty="0"/>
            </a:fld>
            <a:endParaRPr lang="en-US" altLang="zh-CN"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Rectangle 2"/>
          <p:cNvSpPr>
            <a:spLocks noGrp="1"/>
          </p:cNvSpPr>
          <p:nvPr>
            <p:ph type="title"/>
          </p:nvPr>
        </p:nvSpPr>
        <p:spPr>
          <a:xfrm>
            <a:off x="1055688" y="2889250"/>
            <a:ext cx="10361612" cy="1143000"/>
          </a:xfrm>
        </p:spPr>
        <p:txBody>
          <a:bodyPr vert="horz" wrap="square" lIns="91440" tIns="45720" rIns="91440" bIns="45720" anchor="ctr" anchorCtr="0"/>
          <a:p>
            <a:pPr eaLnBrk="1" hangingPunct="1"/>
            <a:r>
              <a:rPr lang="zh-CN" altLang="en-US" dirty="0"/>
              <a:t>指令调度技术</a:t>
            </a:r>
            <a:endParaRPr lang="zh-CN" altLang="en-US" dirty="0"/>
          </a:p>
        </p:txBody>
      </p:sp>
      <p:sp>
        <p:nvSpPr>
          <p:cNvPr id="12290" name="灯片编号占位符 4"/>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buSzTx/>
            </a:pPr>
            <a:fld id="{9A0DB2DC-4C9A-4742-B13C-FB6460FD3503}" type="slidenum">
              <a:rPr lang="en-US" altLang="zh-CN" sz="1400" dirty="0"/>
            </a:fld>
            <a:endParaRPr lang="en-US" altLang="zh-CN"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Rectangle 2"/>
          <p:cNvSpPr/>
          <p:nvPr/>
        </p:nvSpPr>
        <p:spPr>
          <a:xfrm>
            <a:off x="914400" y="304800"/>
            <a:ext cx="10361613" cy="609600"/>
          </a:xfrm>
          <a:prstGeom prst="rect">
            <a:avLst/>
          </a:prstGeom>
          <a:noFill/>
          <a:ln w="9525">
            <a:noFill/>
          </a:ln>
        </p:spPr>
        <p:txBody>
          <a:bodyPr anchor="ctr" anchorCtr="0"/>
          <a:p>
            <a:pPr algn="ctr"/>
            <a:r>
              <a:rPr lang="zh-CN" altLang="en-US" sz="3200" dirty="0">
                <a:solidFill>
                  <a:srgbClr val="FF0000"/>
                </a:solidFill>
                <a:latin typeface="Arial" panose="02080604020202020204" pitchFamily="34" charset="0"/>
                <a:ea typeface="黑体" panose="02000500000000000000" pitchFamily="49" charset="-122"/>
              </a:rPr>
              <a:t>编译器的静态调度</a:t>
            </a:r>
            <a:endParaRPr lang="zh-CN" altLang="en-US" sz="3200" dirty="0">
              <a:solidFill>
                <a:srgbClr val="FF0000"/>
              </a:solidFill>
              <a:latin typeface="Arial" panose="02080604020202020204" pitchFamily="34" charset="0"/>
              <a:ea typeface="黑体" panose="02000500000000000000" pitchFamily="49" charset="-122"/>
            </a:endParaRPr>
          </a:p>
        </p:txBody>
      </p:sp>
      <p:sp>
        <p:nvSpPr>
          <p:cNvPr id="13314" name="Rectangle 3"/>
          <p:cNvSpPr/>
          <p:nvPr/>
        </p:nvSpPr>
        <p:spPr>
          <a:xfrm>
            <a:off x="406400" y="1628775"/>
            <a:ext cx="11160125" cy="4314825"/>
          </a:xfrm>
          <a:prstGeom prst="rect">
            <a:avLst/>
          </a:prstGeom>
          <a:noFill/>
          <a:ln w="9525">
            <a:noFill/>
          </a:ln>
        </p:spPr>
        <p:txBody>
          <a:bodyPr anchor="t" anchorCtr="0"/>
          <a:p>
            <a:pPr marL="342900" indent="-342900">
              <a:lnSpc>
                <a:spcPct val="150000"/>
              </a:lnSpc>
              <a:spcBef>
                <a:spcPts val="600"/>
              </a:spcBef>
              <a:buChar char="•"/>
            </a:pPr>
            <a:r>
              <a:rPr lang="zh-CN" altLang="en-US" sz="2000" b="1" dirty="0">
                <a:latin typeface="Times New Roman" pitchFamily="18" charset="0"/>
                <a:ea typeface="宋体" panose="02000500000000000000" pitchFamily="2" charset="-122"/>
              </a:rPr>
              <a:t>编译器分析</a:t>
            </a:r>
            <a:r>
              <a:rPr lang="zh-CN" altLang="en-US" sz="2000" b="1" dirty="0">
                <a:solidFill>
                  <a:srgbClr val="FF0000"/>
                </a:solidFill>
                <a:latin typeface="Times New Roman" pitchFamily="18" charset="0"/>
                <a:ea typeface="宋体" panose="02000500000000000000" pitchFamily="2" charset="-122"/>
              </a:rPr>
              <a:t>程序</a:t>
            </a:r>
            <a:r>
              <a:rPr lang="zh-CN" altLang="en-US" sz="2000" b="1" dirty="0">
                <a:latin typeface="Times New Roman" pitchFamily="18" charset="0"/>
                <a:ea typeface="宋体" panose="02000500000000000000" pitchFamily="2" charset="-122"/>
              </a:rPr>
              <a:t>中的</a:t>
            </a:r>
            <a:r>
              <a:rPr lang="zh-CN" altLang="en-US" sz="2000" b="1" dirty="0">
                <a:solidFill>
                  <a:schemeClr val="accent2"/>
                </a:solidFill>
                <a:latin typeface="Times New Roman" pitchFamily="18" charset="0"/>
                <a:ea typeface="宋体" panose="02000500000000000000" pitchFamily="2" charset="-122"/>
              </a:rPr>
              <a:t>相关性</a:t>
            </a:r>
            <a:r>
              <a:rPr lang="zh-CN" altLang="en-US" sz="2000" b="1" dirty="0">
                <a:latin typeface="Times New Roman" pitchFamily="18" charset="0"/>
                <a:ea typeface="宋体" panose="02000500000000000000" pitchFamily="2" charset="-122"/>
              </a:rPr>
              <a:t>，并针对目标</a:t>
            </a:r>
            <a:r>
              <a:rPr lang="zh-CN" altLang="en-US" sz="2000" b="1" dirty="0">
                <a:solidFill>
                  <a:srgbClr val="FF0000"/>
                </a:solidFill>
                <a:latin typeface="Times New Roman" pitchFamily="18" charset="0"/>
                <a:ea typeface="宋体" panose="02000500000000000000" pitchFamily="2" charset="-122"/>
              </a:rPr>
              <a:t>流水线</a:t>
            </a:r>
            <a:r>
              <a:rPr lang="zh-CN" altLang="en-US" sz="2000" b="1" dirty="0">
                <a:latin typeface="Times New Roman" pitchFamily="18" charset="0"/>
                <a:ea typeface="宋体" panose="02000500000000000000" pitchFamily="2" charset="-122"/>
              </a:rPr>
              <a:t>进行代码优化，以避免程序执行时由于相关引起</a:t>
            </a:r>
            <a:r>
              <a:rPr lang="zh-CN" altLang="en-US" sz="2000" b="1" dirty="0">
                <a:solidFill>
                  <a:schemeClr val="accent2"/>
                </a:solidFill>
                <a:latin typeface="Times New Roman" pitchFamily="18" charset="0"/>
                <a:ea typeface="宋体" panose="02000500000000000000" pitchFamily="2" charset="-122"/>
              </a:rPr>
              <a:t>阻塞</a:t>
            </a:r>
            <a:endParaRPr lang="zh-CN" altLang="en-US" sz="2000" b="1" dirty="0">
              <a:latin typeface="Times New Roman" pitchFamily="18" charset="0"/>
              <a:ea typeface="宋体" panose="02000500000000000000" pitchFamily="2" charset="-122"/>
            </a:endParaRPr>
          </a:p>
          <a:p>
            <a:pPr marL="742950" lvl="1" indent="-285750" eaLnBrk="1" hangingPunct="1">
              <a:lnSpc>
                <a:spcPct val="150000"/>
              </a:lnSpc>
              <a:spcBef>
                <a:spcPts val="600"/>
              </a:spcBef>
              <a:buChar char="•"/>
            </a:pPr>
            <a:r>
              <a:rPr lang="zh-CN" altLang="en-US" sz="1800" b="1" dirty="0">
                <a:latin typeface="Times New Roman" pitchFamily="18" charset="0"/>
                <a:ea typeface="宋体" panose="02000500000000000000" pitchFamily="2" charset="-122"/>
              </a:rPr>
              <a:t>相关不一定引起阻塞，只要隔开足够远</a:t>
            </a:r>
            <a:endParaRPr lang="zh-CN" altLang="en-US" sz="1800" b="1" dirty="0">
              <a:latin typeface="Times New Roman" pitchFamily="18" charset="0"/>
              <a:ea typeface="宋体" panose="02000500000000000000" pitchFamily="2" charset="-122"/>
            </a:endParaRPr>
          </a:p>
          <a:p>
            <a:pPr marL="742950" lvl="1" indent="-285750" eaLnBrk="1" hangingPunct="1">
              <a:lnSpc>
                <a:spcPct val="150000"/>
              </a:lnSpc>
              <a:spcBef>
                <a:spcPts val="600"/>
              </a:spcBef>
              <a:buChar char="•"/>
            </a:pPr>
            <a:r>
              <a:rPr lang="zh-CN" altLang="en-US" sz="1800" b="1" dirty="0">
                <a:latin typeface="Times New Roman" pitchFamily="18" charset="0"/>
                <a:ea typeface="宋体" panose="02000500000000000000" pitchFamily="2" charset="-122"/>
              </a:rPr>
              <a:t>在一个流水线上引起阻塞，在另一个流水线上不一定引起阻塞，所以编译优化与机器有关</a:t>
            </a:r>
            <a:endParaRPr lang="zh-CN" altLang="en-US" sz="1800" b="1" dirty="0">
              <a:latin typeface="Times New Roman" pitchFamily="18" charset="0"/>
              <a:ea typeface="宋体" panose="02000500000000000000" pitchFamily="2" charset="-122"/>
            </a:endParaRPr>
          </a:p>
        </p:txBody>
      </p:sp>
      <p:sp>
        <p:nvSpPr>
          <p:cNvPr id="13315"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buSzTx/>
            </a:pPr>
            <a:fld id="{9A0DB2DC-4C9A-4742-B13C-FB6460FD3503}" type="slidenum">
              <a:rPr lang="en-US" altLang="zh-CN" sz="1400" dirty="0"/>
            </a:fld>
            <a:endParaRPr lang="en-US" altLang="zh-CN"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Rectangle 2"/>
          <p:cNvSpPr/>
          <p:nvPr/>
        </p:nvSpPr>
        <p:spPr>
          <a:xfrm>
            <a:off x="812800" y="152400"/>
            <a:ext cx="10361613" cy="609600"/>
          </a:xfrm>
          <a:prstGeom prst="rect">
            <a:avLst/>
          </a:prstGeom>
          <a:noFill/>
          <a:ln w="9525">
            <a:noFill/>
          </a:ln>
        </p:spPr>
        <p:txBody>
          <a:bodyPr anchor="ctr" anchorCtr="0"/>
          <a:p>
            <a:pPr algn="ctr"/>
            <a:r>
              <a:rPr lang="zh-CN" altLang="en-US" sz="3600" dirty="0">
                <a:solidFill>
                  <a:srgbClr val="FF0000"/>
                </a:solidFill>
                <a:latin typeface="Arial" panose="02080604020202020204" pitchFamily="34" charset="0"/>
                <a:ea typeface="黑体" panose="02000500000000000000" pitchFamily="49" charset="-122"/>
              </a:rPr>
              <a:t>循环展开技术</a:t>
            </a:r>
            <a:endParaRPr lang="zh-CN" altLang="en-US" sz="3600" dirty="0">
              <a:solidFill>
                <a:srgbClr val="FF0000"/>
              </a:solidFill>
              <a:latin typeface="Arial" panose="02080604020202020204" pitchFamily="34" charset="0"/>
              <a:ea typeface="黑体" panose="02000500000000000000" pitchFamily="49" charset="-122"/>
            </a:endParaRPr>
          </a:p>
        </p:txBody>
      </p:sp>
      <p:sp>
        <p:nvSpPr>
          <p:cNvPr id="14339" name="Rectangle 4"/>
          <p:cNvSpPr/>
          <p:nvPr/>
        </p:nvSpPr>
        <p:spPr>
          <a:xfrm>
            <a:off x="2324100" y="4625975"/>
            <a:ext cx="6124575" cy="1968500"/>
          </a:xfrm>
          <a:prstGeom prst="rect">
            <a:avLst/>
          </a:prstGeom>
          <a:solidFill>
            <a:srgbClr val="F2F2F2"/>
          </a:solidFill>
          <a:ln w="12700">
            <a:noFill/>
          </a:ln>
        </p:spPr>
        <p:txBody>
          <a:bodyPr lIns="90487" tIns="44450" rIns="90487" bIns="44450" anchor="t" anchorCtr="0"/>
          <a:p>
            <a:pPr defTabSz="914400">
              <a:lnSpc>
                <a:spcPct val="90000"/>
              </a:lnSpc>
              <a:spcBef>
                <a:spcPct val="30000"/>
              </a:spcBef>
              <a:tabLst>
                <a:tab pos="2057400" algn="l"/>
                <a:tab pos="4572000" algn="l"/>
              </a:tabLst>
            </a:pPr>
            <a:r>
              <a:rPr lang="en-US" altLang="zh-CN" sz="1600" dirty="0">
                <a:solidFill>
                  <a:schemeClr val="accent2"/>
                </a:solidFill>
                <a:latin typeface="黑体" panose="02000500000000000000" pitchFamily="49" charset="-122"/>
                <a:ea typeface="黑体" panose="02000500000000000000" pitchFamily="49" charset="-122"/>
              </a:rPr>
              <a:t>Instruction	Instruction	Latency in</a:t>
            </a:r>
            <a:br>
              <a:rPr lang="en-US" altLang="zh-CN" sz="1600" dirty="0">
                <a:solidFill>
                  <a:schemeClr val="accent2"/>
                </a:solidFill>
                <a:latin typeface="黑体" panose="02000500000000000000" pitchFamily="49" charset="-122"/>
                <a:ea typeface="黑体" panose="02000500000000000000" pitchFamily="49" charset="-122"/>
              </a:rPr>
            </a:br>
            <a:r>
              <a:rPr lang="en-US" altLang="zh-CN" sz="1600" dirty="0">
                <a:solidFill>
                  <a:schemeClr val="accent2"/>
                </a:solidFill>
                <a:latin typeface="黑体" panose="02000500000000000000" pitchFamily="49" charset="-122"/>
                <a:ea typeface="黑体" panose="02000500000000000000" pitchFamily="49" charset="-122"/>
              </a:rPr>
              <a:t>producing result	using result 	clock cycles</a:t>
            </a:r>
            <a:endParaRPr lang="en-US" altLang="zh-CN" sz="1600" dirty="0">
              <a:solidFill>
                <a:schemeClr val="accent2"/>
              </a:solidFill>
              <a:latin typeface="黑体" panose="02000500000000000000" pitchFamily="49" charset="-122"/>
              <a:ea typeface="黑体" panose="02000500000000000000" pitchFamily="49" charset="-122"/>
            </a:endParaRPr>
          </a:p>
          <a:p>
            <a:pPr defTabSz="914400">
              <a:lnSpc>
                <a:spcPct val="90000"/>
              </a:lnSpc>
              <a:spcBef>
                <a:spcPct val="30000"/>
              </a:spcBef>
              <a:tabLst>
                <a:tab pos="2057400" algn="l"/>
                <a:tab pos="4572000" algn="l"/>
              </a:tabLst>
            </a:pPr>
            <a:r>
              <a:rPr lang="en-US" altLang="zh-CN" sz="1600" dirty="0">
                <a:latin typeface="宋体" panose="02000500000000000000" pitchFamily="2" charset="-122"/>
                <a:ea typeface="宋体" panose="02000500000000000000" pitchFamily="2" charset="-122"/>
              </a:rPr>
              <a:t>FP ALU op	Another FP ALU op	3</a:t>
            </a:r>
            <a:endParaRPr lang="en-US" altLang="zh-CN" sz="1600" dirty="0">
              <a:latin typeface="宋体" panose="02000500000000000000" pitchFamily="2" charset="-122"/>
              <a:ea typeface="宋体" panose="02000500000000000000" pitchFamily="2" charset="-122"/>
            </a:endParaRPr>
          </a:p>
          <a:p>
            <a:pPr defTabSz="914400">
              <a:lnSpc>
                <a:spcPct val="90000"/>
              </a:lnSpc>
              <a:spcBef>
                <a:spcPct val="30000"/>
              </a:spcBef>
              <a:tabLst>
                <a:tab pos="2057400" algn="l"/>
                <a:tab pos="4572000" algn="l"/>
              </a:tabLst>
            </a:pPr>
            <a:r>
              <a:rPr lang="en-US" altLang="zh-CN" sz="1600" dirty="0">
                <a:latin typeface="宋体" panose="02000500000000000000" pitchFamily="2" charset="-122"/>
                <a:ea typeface="宋体" panose="02000500000000000000" pitchFamily="2" charset="-122"/>
              </a:rPr>
              <a:t>Load double	FP ALU op	2</a:t>
            </a:r>
            <a:endParaRPr lang="en-US" altLang="zh-CN" sz="1600" dirty="0">
              <a:latin typeface="宋体" panose="02000500000000000000" pitchFamily="2" charset="-122"/>
              <a:ea typeface="宋体" panose="02000500000000000000" pitchFamily="2" charset="-122"/>
            </a:endParaRPr>
          </a:p>
          <a:p>
            <a:pPr defTabSz="914400">
              <a:lnSpc>
                <a:spcPct val="90000"/>
              </a:lnSpc>
              <a:spcBef>
                <a:spcPct val="30000"/>
              </a:spcBef>
              <a:tabLst>
                <a:tab pos="2057400" algn="l"/>
                <a:tab pos="4572000" algn="l"/>
              </a:tabLst>
            </a:pPr>
            <a:r>
              <a:rPr lang="en-US" altLang="zh-CN" sz="1600" dirty="0">
                <a:latin typeface="宋体" panose="02000500000000000000" pitchFamily="2" charset="-122"/>
                <a:ea typeface="宋体" panose="02000500000000000000" pitchFamily="2" charset="-122"/>
              </a:rPr>
              <a:t>FP ALU op	Store double	1 </a:t>
            </a:r>
            <a:endParaRPr lang="en-US" altLang="zh-CN" sz="1600" dirty="0">
              <a:latin typeface="宋体" panose="02000500000000000000" pitchFamily="2" charset="-122"/>
              <a:ea typeface="宋体" panose="02000500000000000000" pitchFamily="2" charset="-122"/>
            </a:endParaRPr>
          </a:p>
          <a:p>
            <a:pPr defTabSz="914400">
              <a:lnSpc>
                <a:spcPct val="90000"/>
              </a:lnSpc>
              <a:spcBef>
                <a:spcPct val="30000"/>
              </a:spcBef>
              <a:tabLst>
                <a:tab pos="2057400" algn="l"/>
                <a:tab pos="4572000" algn="l"/>
              </a:tabLst>
            </a:pPr>
            <a:r>
              <a:rPr lang="en-US" altLang="zh-CN" sz="1600" dirty="0">
                <a:latin typeface="宋体" panose="02000500000000000000" pitchFamily="2" charset="-122"/>
                <a:ea typeface="宋体" panose="02000500000000000000" pitchFamily="2" charset="-122"/>
              </a:rPr>
              <a:t>Load double	Store double	0</a:t>
            </a:r>
            <a:endParaRPr lang="en-US" altLang="zh-CN" sz="1600" dirty="0">
              <a:latin typeface="宋体" panose="02000500000000000000" pitchFamily="2" charset="-122"/>
              <a:ea typeface="宋体" panose="02000500000000000000" pitchFamily="2" charset="-122"/>
            </a:endParaRPr>
          </a:p>
          <a:p>
            <a:pPr defTabSz="914400">
              <a:lnSpc>
                <a:spcPct val="90000"/>
              </a:lnSpc>
              <a:spcBef>
                <a:spcPct val="30000"/>
              </a:spcBef>
              <a:tabLst>
                <a:tab pos="2057400" algn="l"/>
                <a:tab pos="4572000" algn="l"/>
              </a:tabLst>
            </a:pPr>
            <a:r>
              <a:rPr lang="en-US" altLang="zh-CN" sz="1600" dirty="0">
                <a:latin typeface="宋体" panose="02000500000000000000" pitchFamily="2" charset="-122"/>
                <a:ea typeface="宋体" panose="02000500000000000000" pitchFamily="2" charset="-122"/>
              </a:rPr>
              <a:t>Integer op	Integer op	0</a:t>
            </a:r>
            <a:endParaRPr lang="en-US" altLang="zh-CN" sz="1600" dirty="0">
              <a:latin typeface="宋体" panose="02000500000000000000" pitchFamily="2" charset="-122"/>
              <a:ea typeface="宋体" panose="02000500000000000000" pitchFamily="2" charset="-122"/>
            </a:endParaRPr>
          </a:p>
        </p:txBody>
      </p:sp>
      <p:grpSp>
        <p:nvGrpSpPr>
          <p:cNvPr id="2" name="组合 1"/>
          <p:cNvGrpSpPr/>
          <p:nvPr/>
        </p:nvGrpSpPr>
        <p:grpSpPr>
          <a:xfrm>
            <a:off x="1477963" y="1990725"/>
            <a:ext cx="9290050" cy="2209800"/>
            <a:chOff x="2328" y="3135"/>
            <a:chExt cx="14630" cy="3480"/>
          </a:xfrm>
        </p:grpSpPr>
        <p:sp>
          <p:nvSpPr>
            <p:cNvPr id="14338" name="Rectangle 3"/>
            <p:cNvSpPr/>
            <p:nvPr/>
          </p:nvSpPr>
          <p:spPr>
            <a:xfrm>
              <a:off x="2328" y="3135"/>
              <a:ext cx="14630" cy="3480"/>
            </a:xfrm>
            <a:prstGeom prst="rect">
              <a:avLst/>
            </a:prstGeom>
            <a:noFill/>
            <a:ln w="12700">
              <a:noFill/>
            </a:ln>
          </p:spPr>
          <p:txBody>
            <a:bodyPr lIns="90487" tIns="44450" rIns="90487" bIns="44450" anchor="t" anchorCtr="0"/>
            <a:p>
              <a:pPr marL="285750" indent="-285750" defTabSz="914400">
                <a:lnSpc>
                  <a:spcPct val="150000"/>
                </a:lnSpc>
                <a:tabLst>
                  <a:tab pos="806450" algn="l"/>
                  <a:tab pos="1701800" algn="l"/>
                  <a:tab pos="3133725" algn="l"/>
                </a:tabLst>
              </a:pPr>
              <a:r>
                <a:rPr lang="en-US" altLang="zh-CN" sz="2000" dirty="0">
                  <a:latin typeface="宋体" panose="02000500000000000000" pitchFamily="2" charset="-122"/>
                  <a:ea typeface="宋体" panose="02000500000000000000" pitchFamily="2" charset="-122"/>
                </a:rPr>
                <a:t>Loop:	</a:t>
              </a:r>
              <a:r>
                <a:rPr lang="zh-CN" altLang="en-US" sz="2000" dirty="0">
                  <a:latin typeface="宋体" panose="02000500000000000000" pitchFamily="2" charset="-122"/>
                  <a:ea typeface="宋体" panose="02000500000000000000" pitchFamily="2" charset="-122"/>
                </a:rPr>
                <a:t>fld.d</a:t>
              </a:r>
              <a:r>
                <a:rPr lang="en-US" altLang="zh-CN" sz="2000" dirty="0">
                  <a:latin typeface="宋体" panose="02000500000000000000" pitchFamily="2" charset="-122"/>
                  <a:ea typeface="宋体" panose="02000500000000000000" pitchFamily="2" charset="-122"/>
                </a:rPr>
                <a:t>	</a:t>
              </a:r>
              <a:r>
                <a:rPr lang="zh-CN" altLang="en-US" sz="2000" dirty="0">
                  <a:solidFill>
                    <a:srgbClr val="FF0000"/>
                  </a:solidFill>
                  <a:latin typeface="宋体" panose="02000500000000000000" pitchFamily="2" charset="-122"/>
                  <a:ea typeface="宋体" panose="02000500000000000000" pitchFamily="2" charset="-122"/>
                </a:rPr>
                <a:t>$f0</a:t>
              </a:r>
              <a:r>
                <a:rPr lang="en-US" altLang="zh-CN" sz="2000" dirty="0">
                  <a:latin typeface="宋体" panose="02000500000000000000" pitchFamily="2" charset="-122"/>
                  <a:ea typeface="宋体" panose="02000500000000000000" pitchFamily="2" charset="-122"/>
                </a:rPr>
                <a:t>,</a:t>
              </a:r>
              <a:r>
                <a:rPr lang="zh-CN" altLang="en-US" sz="2000" dirty="0">
                  <a:latin typeface="宋体" panose="02000500000000000000" pitchFamily="2" charset="-122"/>
                  <a:ea typeface="宋体" panose="02000500000000000000" pitchFamily="2" charset="-122"/>
                </a:rPr>
                <a:t>$r</a:t>
              </a:r>
              <a:r>
                <a:rPr lang="en-US" altLang="zh-CN" sz="2000" dirty="0">
                  <a:latin typeface="宋体" panose="02000500000000000000" pitchFamily="2" charset="-122"/>
                  <a:ea typeface="宋体" panose="02000500000000000000" pitchFamily="2" charset="-122"/>
                </a:rPr>
                <a:t>1</a:t>
              </a:r>
              <a:r>
                <a:rPr lang="zh-CN" altLang="en-US" sz="2000" dirty="0">
                  <a:latin typeface="宋体" panose="02000500000000000000" pitchFamily="2" charset="-122"/>
                  <a:ea typeface="宋体" panose="02000500000000000000" pitchFamily="2" charset="-122"/>
                </a:rPr>
                <a:t>,0</a:t>
              </a:r>
              <a:r>
                <a:rPr lang="en-US" altLang="zh-CN" sz="2000" dirty="0">
                  <a:latin typeface="宋体" panose="02000500000000000000" pitchFamily="2" charset="-122"/>
                  <a:ea typeface="宋体" panose="02000500000000000000" pitchFamily="2" charset="-122"/>
                </a:rPr>
                <a:t>	;</a:t>
              </a:r>
              <a:r>
                <a:rPr lang="zh-CN" altLang="en-US" sz="2000" dirty="0">
                  <a:latin typeface="宋体" panose="02000500000000000000" pitchFamily="2" charset="-122"/>
                  <a:ea typeface="宋体" panose="02000500000000000000" pitchFamily="2" charset="-122"/>
                </a:rPr>
                <a:t>$f0</a:t>
              </a:r>
              <a:r>
                <a:rPr lang="en-US" altLang="zh-CN" sz="2000" dirty="0">
                  <a:latin typeface="宋体" panose="02000500000000000000" pitchFamily="2" charset="-122"/>
                  <a:ea typeface="宋体" panose="02000500000000000000" pitchFamily="2" charset="-122"/>
                </a:rPr>
                <a:t>=vector element</a:t>
              </a:r>
              <a:endParaRPr lang="en-US" altLang="zh-CN" sz="2000" dirty="0">
                <a:latin typeface="宋体" panose="02000500000000000000" pitchFamily="2" charset="-122"/>
                <a:ea typeface="宋体" panose="02000500000000000000" pitchFamily="2" charset="-122"/>
              </a:endParaRPr>
            </a:p>
            <a:p>
              <a:pPr marL="285750" indent="-285750" defTabSz="914400">
                <a:lnSpc>
                  <a:spcPct val="150000"/>
                </a:lnSpc>
                <a:tabLst>
                  <a:tab pos="806450" algn="l"/>
                  <a:tab pos="1701800" algn="l"/>
                  <a:tab pos="3133725" algn="l"/>
                </a:tabLst>
              </a:pPr>
              <a:r>
                <a:rPr lang="en-US" altLang="zh-CN" sz="2000" dirty="0">
                  <a:latin typeface="宋体" panose="02000500000000000000" pitchFamily="2" charset="-122"/>
                  <a:ea typeface="宋体" panose="02000500000000000000" pitchFamily="2" charset="-122"/>
                </a:rPr>
                <a:t> 		</a:t>
              </a:r>
              <a:r>
                <a:rPr lang="zh-CN" altLang="en-US" sz="2000" dirty="0">
                  <a:latin typeface="宋体" panose="02000500000000000000" pitchFamily="2" charset="-122"/>
                  <a:ea typeface="宋体" panose="02000500000000000000" pitchFamily="2" charset="-122"/>
                </a:rPr>
                <a:t>fadd.d</a:t>
              </a:r>
              <a:r>
                <a:rPr lang="en-US" altLang="zh-CN" sz="2000" dirty="0">
                  <a:latin typeface="宋体" panose="02000500000000000000" pitchFamily="2" charset="-122"/>
                  <a:ea typeface="宋体" panose="02000500000000000000" pitchFamily="2" charset="-122"/>
                </a:rPr>
                <a:t>	</a:t>
              </a:r>
              <a:r>
                <a:rPr lang="zh-CN" altLang="en-US" sz="2000" dirty="0">
                  <a:solidFill>
                    <a:schemeClr val="accent2"/>
                  </a:solidFill>
                  <a:latin typeface="宋体" panose="02000500000000000000" pitchFamily="2" charset="-122"/>
                  <a:ea typeface="宋体" panose="02000500000000000000" pitchFamily="2" charset="-122"/>
                </a:rPr>
                <a:t>$f4</a:t>
              </a:r>
              <a:r>
                <a:rPr lang="en-US" altLang="zh-CN" sz="2000" dirty="0">
                  <a:latin typeface="宋体" panose="02000500000000000000" pitchFamily="2" charset="-122"/>
                  <a:ea typeface="宋体" panose="02000500000000000000" pitchFamily="2" charset="-122"/>
                </a:rPr>
                <a:t>,</a:t>
              </a:r>
              <a:r>
                <a:rPr lang="zh-CN" altLang="en-US" sz="2000" dirty="0">
                  <a:solidFill>
                    <a:srgbClr val="FF0000"/>
                  </a:solidFill>
                  <a:latin typeface="宋体" panose="02000500000000000000" pitchFamily="2" charset="-122"/>
                  <a:ea typeface="宋体" panose="02000500000000000000" pitchFamily="2" charset="-122"/>
                </a:rPr>
                <a:t>$f0</a:t>
              </a:r>
              <a:r>
                <a:rPr lang="en-US" altLang="zh-CN" sz="2000" dirty="0">
                  <a:latin typeface="宋体" panose="02000500000000000000" pitchFamily="2" charset="-122"/>
                  <a:ea typeface="宋体" panose="02000500000000000000" pitchFamily="2" charset="-122"/>
                </a:rPr>
                <a:t>,</a:t>
              </a:r>
              <a:r>
                <a:rPr lang="zh-CN" altLang="en-US" sz="2000" dirty="0">
                  <a:latin typeface="宋体" panose="02000500000000000000" pitchFamily="2" charset="-122"/>
                  <a:ea typeface="宋体" panose="02000500000000000000" pitchFamily="2" charset="-122"/>
                </a:rPr>
                <a:t>$f2</a:t>
              </a:r>
              <a:r>
                <a:rPr lang="en-US" altLang="zh-CN" sz="2000" dirty="0">
                  <a:latin typeface="宋体" panose="02000500000000000000" pitchFamily="2" charset="-122"/>
                  <a:ea typeface="宋体" panose="02000500000000000000" pitchFamily="2" charset="-122"/>
                </a:rPr>
                <a:t>	;add scalar from </a:t>
              </a:r>
              <a:r>
                <a:rPr lang="zh-CN" altLang="en-US" sz="2000" dirty="0">
                  <a:latin typeface="宋体" panose="02000500000000000000" pitchFamily="2" charset="-122"/>
                  <a:ea typeface="宋体" panose="02000500000000000000" pitchFamily="2" charset="-122"/>
                </a:rPr>
                <a:t>$f2</a:t>
              </a:r>
              <a:endParaRPr lang="en-US" altLang="zh-CN" sz="2000" dirty="0">
                <a:latin typeface="宋体" panose="02000500000000000000" pitchFamily="2" charset="-122"/>
                <a:ea typeface="宋体" panose="02000500000000000000" pitchFamily="2" charset="-122"/>
              </a:endParaRPr>
            </a:p>
            <a:p>
              <a:pPr marL="285750" indent="-285750" defTabSz="914400">
                <a:lnSpc>
                  <a:spcPct val="150000"/>
                </a:lnSpc>
                <a:tabLst>
                  <a:tab pos="806450" algn="l"/>
                  <a:tab pos="1701800" algn="l"/>
                  <a:tab pos="3133725" algn="l"/>
                </a:tabLst>
              </a:pPr>
              <a:r>
                <a:rPr lang="en-US" altLang="zh-CN" sz="2000" dirty="0">
                  <a:latin typeface="宋体" panose="02000500000000000000" pitchFamily="2" charset="-122"/>
                  <a:ea typeface="宋体" panose="02000500000000000000" pitchFamily="2" charset="-122"/>
                </a:rPr>
                <a:t> 		</a:t>
              </a:r>
              <a:r>
                <a:rPr lang="zh-CN" altLang="en-US" sz="2000" dirty="0">
                  <a:latin typeface="宋体" panose="02000500000000000000" pitchFamily="2" charset="-122"/>
                  <a:ea typeface="宋体" panose="02000500000000000000" pitchFamily="2" charset="-122"/>
                </a:rPr>
                <a:t>fst.d</a:t>
              </a:r>
              <a:r>
                <a:rPr lang="en-US" altLang="zh-CN" sz="2000" dirty="0">
                  <a:latin typeface="宋体" panose="02000500000000000000" pitchFamily="2" charset="-122"/>
                  <a:ea typeface="宋体" panose="02000500000000000000" pitchFamily="2" charset="-122"/>
                </a:rPr>
                <a:t>	</a:t>
              </a:r>
              <a:r>
                <a:rPr lang="zh-CN" altLang="en-US" sz="2000" dirty="0">
                  <a:solidFill>
                    <a:schemeClr val="accent2"/>
                  </a:solidFill>
                  <a:latin typeface="宋体" panose="02000500000000000000" pitchFamily="2" charset="-122"/>
                  <a:ea typeface="宋体" panose="02000500000000000000" pitchFamily="2" charset="-122"/>
                </a:rPr>
                <a:t>$f4</a:t>
              </a:r>
              <a:r>
                <a:rPr lang="en-US" altLang="zh-CN" sz="2000" dirty="0">
                  <a:latin typeface="宋体" panose="02000500000000000000" pitchFamily="2" charset="-122"/>
                  <a:ea typeface="宋体" panose="02000500000000000000" pitchFamily="2" charset="-122"/>
                </a:rPr>
                <a:t>,</a:t>
              </a:r>
              <a:r>
                <a:rPr lang="zh-CN" altLang="en-US" sz="2000" dirty="0">
                  <a:latin typeface="宋体" panose="02000500000000000000" pitchFamily="2" charset="-122"/>
                  <a:ea typeface="宋体" panose="02000500000000000000" pitchFamily="2" charset="-122"/>
                </a:rPr>
                <a:t>$r</a:t>
              </a:r>
              <a:r>
                <a:rPr lang="en-US" altLang="zh-CN" sz="2000" dirty="0">
                  <a:latin typeface="宋体" panose="02000500000000000000" pitchFamily="2" charset="-122"/>
                  <a:ea typeface="宋体" panose="02000500000000000000" pitchFamily="2" charset="-122"/>
                </a:rPr>
                <a:t>1</a:t>
              </a:r>
              <a:r>
                <a:rPr lang="zh-CN" altLang="en-US" sz="2000" dirty="0">
                  <a:latin typeface="宋体" panose="02000500000000000000" pitchFamily="2" charset="-122"/>
                  <a:ea typeface="宋体" panose="02000500000000000000" pitchFamily="2" charset="-122"/>
                </a:rPr>
                <a:t>,0</a:t>
              </a:r>
              <a:r>
                <a:rPr lang="en-US" altLang="zh-CN" sz="2000" dirty="0">
                  <a:latin typeface="宋体" panose="02000500000000000000" pitchFamily="2" charset="-122"/>
                  <a:ea typeface="宋体" panose="02000500000000000000" pitchFamily="2" charset="-122"/>
                </a:rPr>
                <a:t>	;store result</a:t>
              </a:r>
              <a:endParaRPr lang="en-US" altLang="zh-CN" sz="2000" dirty="0">
                <a:latin typeface="宋体" panose="02000500000000000000" pitchFamily="2" charset="-122"/>
                <a:ea typeface="宋体" panose="02000500000000000000" pitchFamily="2" charset="-122"/>
              </a:endParaRPr>
            </a:p>
            <a:p>
              <a:pPr marL="285750" indent="-285750" defTabSz="914400">
                <a:lnSpc>
                  <a:spcPct val="150000"/>
                </a:lnSpc>
                <a:tabLst>
                  <a:tab pos="806450" algn="l"/>
                  <a:tab pos="1701800" algn="l"/>
                  <a:tab pos="3133725" algn="l"/>
                </a:tabLst>
              </a:pPr>
              <a:r>
                <a:rPr lang="en-US" altLang="zh-CN" sz="2000" dirty="0">
                  <a:latin typeface="宋体" panose="02000500000000000000" pitchFamily="2" charset="-122"/>
                  <a:ea typeface="宋体" panose="02000500000000000000" pitchFamily="2" charset="-122"/>
                </a:rPr>
                <a:t> 		</a:t>
              </a:r>
              <a:r>
                <a:rPr lang="zh-CN" altLang="en-US" sz="2000" dirty="0">
                  <a:latin typeface="宋体" panose="02000500000000000000" pitchFamily="2" charset="-122"/>
                  <a:ea typeface="宋体" panose="02000500000000000000" pitchFamily="2" charset="-122"/>
                </a:rPr>
                <a:t>addi.d</a:t>
              </a:r>
              <a:r>
                <a:rPr lang="en-US" altLang="zh-CN" sz="2000" dirty="0">
                  <a:latin typeface="宋体" panose="02000500000000000000" pitchFamily="2" charset="-122"/>
                  <a:ea typeface="宋体" panose="02000500000000000000" pitchFamily="2" charset="-122"/>
                </a:rPr>
                <a:t>	</a:t>
              </a:r>
              <a:r>
                <a:rPr lang="zh-CN" altLang="en-US" sz="2000" dirty="0">
                  <a:latin typeface="宋体" panose="02000500000000000000" pitchFamily="2" charset="-122"/>
                  <a:ea typeface="宋体" panose="02000500000000000000" pitchFamily="2" charset="-122"/>
                </a:rPr>
                <a:t>$r1</a:t>
              </a:r>
              <a:r>
                <a:rPr lang="en-US" altLang="zh-CN" sz="2000" dirty="0">
                  <a:latin typeface="宋体" panose="02000500000000000000" pitchFamily="2" charset="-122"/>
                  <a:ea typeface="宋体" panose="02000500000000000000" pitchFamily="2" charset="-122"/>
                </a:rPr>
                <a:t>,</a:t>
              </a:r>
              <a:r>
                <a:rPr lang="zh-CN" altLang="en-US" sz="2000" dirty="0">
                  <a:latin typeface="宋体" panose="02000500000000000000" pitchFamily="2" charset="-122"/>
                  <a:ea typeface="宋体" panose="02000500000000000000" pitchFamily="2" charset="-122"/>
                </a:rPr>
                <a:t>$r1</a:t>
              </a:r>
              <a:r>
                <a:rPr lang="en-US" altLang="zh-CN" sz="2000" dirty="0">
                  <a:latin typeface="宋体" panose="02000500000000000000" pitchFamily="2" charset="-122"/>
                  <a:ea typeface="宋体" panose="02000500000000000000" pitchFamily="2" charset="-122"/>
                </a:rPr>
                <a:t>,</a:t>
              </a:r>
              <a:r>
                <a:rPr lang="zh-CN" altLang="en-US" sz="2000" dirty="0">
                  <a:latin typeface="宋体" panose="02000500000000000000" pitchFamily="2" charset="-122"/>
                  <a:ea typeface="宋体" panose="02000500000000000000" pitchFamily="2" charset="-122"/>
                </a:rPr>
                <a:t>-</a:t>
              </a:r>
              <a:r>
                <a:rPr lang="en-US" altLang="zh-CN" sz="2000" dirty="0">
                  <a:latin typeface="宋体" panose="02000500000000000000" pitchFamily="2" charset="-122"/>
                  <a:ea typeface="宋体" panose="02000500000000000000" pitchFamily="2" charset="-122"/>
                </a:rPr>
                <a:t>8	;decrement pointer 8B(DW)</a:t>
              </a:r>
              <a:endParaRPr lang="en-US" altLang="zh-CN" sz="2000" dirty="0">
                <a:latin typeface="宋体" panose="02000500000000000000" pitchFamily="2" charset="-122"/>
                <a:ea typeface="宋体" panose="02000500000000000000" pitchFamily="2" charset="-122"/>
              </a:endParaRPr>
            </a:p>
            <a:p>
              <a:pPr marL="285750" indent="-285750" defTabSz="914400">
                <a:lnSpc>
                  <a:spcPct val="150000"/>
                </a:lnSpc>
                <a:tabLst>
                  <a:tab pos="806450" algn="l"/>
                  <a:tab pos="1701800" algn="l"/>
                  <a:tab pos="3133725" algn="l"/>
                </a:tabLst>
              </a:pPr>
              <a:r>
                <a:rPr lang="en-US" altLang="zh-CN" sz="2000" dirty="0">
                  <a:latin typeface="宋体" panose="02000500000000000000" pitchFamily="2" charset="-122"/>
                  <a:ea typeface="宋体" panose="02000500000000000000" pitchFamily="2" charset="-122"/>
                </a:rPr>
                <a:t> 		</a:t>
              </a:r>
              <a:r>
                <a:rPr lang="zh-CN" altLang="en-US" sz="2000" dirty="0">
                  <a:latin typeface="宋体" panose="02000500000000000000" pitchFamily="2" charset="-122"/>
                  <a:ea typeface="宋体" panose="02000500000000000000" pitchFamily="2" charset="-122"/>
                </a:rPr>
                <a:t>bnez</a:t>
              </a:r>
              <a:r>
                <a:rPr lang="en-US" altLang="zh-CN" sz="2000" dirty="0">
                  <a:latin typeface="宋体" panose="02000500000000000000" pitchFamily="2" charset="-122"/>
                  <a:ea typeface="宋体" panose="02000500000000000000" pitchFamily="2" charset="-122"/>
                </a:rPr>
                <a:t>	</a:t>
              </a:r>
              <a:r>
                <a:rPr lang="zh-CN" altLang="en-US" sz="2000" dirty="0">
                  <a:latin typeface="宋体" panose="02000500000000000000" pitchFamily="2" charset="-122"/>
                  <a:ea typeface="宋体" panose="02000500000000000000" pitchFamily="2" charset="-122"/>
                </a:rPr>
                <a:t>$r1</a:t>
              </a:r>
              <a:r>
                <a:rPr lang="en-US" altLang="zh-CN" sz="2000" dirty="0">
                  <a:latin typeface="宋体" panose="02000500000000000000" pitchFamily="2" charset="-122"/>
                  <a:ea typeface="宋体" panose="02000500000000000000" pitchFamily="2" charset="-122"/>
                </a:rPr>
                <a:t>,Loop	;branch </a:t>
              </a:r>
              <a:r>
                <a:rPr lang="zh-CN" altLang="en-US" sz="2000" dirty="0">
                  <a:latin typeface="宋体" panose="02000500000000000000" pitchFamily="2" charset="-122"/>
                  <a:ea typeface="宋体" panose="02000500000000000000" pitchFamily="2" charset="-122"/>
                </a:rPr>
                <a:t>$r</a:t>
              </a:r>
              <a:r>
                <a:rPr lang="en-US" altLang="zh-CN" sz="2000" dirty="0">
                  <a:latin typeface="宋体" panose="02000500000000000000" pitchFamily="2" charset="-122"/>
                  <a:ea typeface="宋体" panose="02000500000000000000" pitchFamily="2" charset="-122"/>
                </a:rPr>
                <a:t>1!=zero</a:t>
              </a:r>
              <a:endParaRPr lang="en-US" altLang="zh-CN" sz="2000" dirty="0">
                <a:latin typeface="宋体" panose="02000500000000000000" pitchFamily="2" charset="-122"/>
                <a:ea typeface="宋体" panose="02000500000000000000" pitchFamily="2" charset="-122"/>
              </a:endParaRPr>
            </a:p>
          </p:txBody>
        </p:sp>
        <p:sp>
          <p:nvSpPr>
            <p:cNvPr id="14340" name="Line 5"/>
            <p:cNvSpPr/>
            <p:nvPr/>
          </p:nvSpPr>
          <p:spPr>
            <a:xfrm>
              <a:off x="5468" y="3844"/>
              <a:ext cx="610" cy="327"/>
            </a:xfrm>
            <a:prstGeom prst="line">
              <a:avLst/>
            </a:prstGeom>
            <a:ln w="19050" cap="flat" cmpd="sng">
              <a:solidFill>
                <a:srgbClr val="FF0000"/>
              </a:solidFill>
              <a:prstDash val="solid"/>
              <a:round/>
              <a:headEnd type="none" w="med" len="med"/>
              <a:tailEnd type="triangle" w="med" len="med"/>
            </a:ln>
          </p:spPr>
        </p:sp>
        <p:sp>
          <p:nvSpPr>
            <p:cNvPr id="14341" name="Line 6"/>
            <p:cNvSpPr/>
            <p:nvPr/>
          </p:nvSpPr>
          <p:spPr>
            <a:xfrm>
              <a:off x="5593" y="4541"/>
              <a:ext cx="15" cy="338"/>
            </a:xfrm>
            <a:prstGeom prst="line">
              <a:avLst/>
            </a:prstGeom>
            <a:ln w="19050" cap="flat" cmpd="sng">
              <a:solidFill>
                <a:schemeClr val="accent2"/>
              </a:solidFill>
              <a:prstDash val="solid"/>
              <a:round/>
              <a:headEnd type="none" w="med" len="med"/>
              <a:tailEnd type="triangle" w="med" len="med"/>
            </a:ln>
          </p:spPr>
        </p:sp>
      </p:grpSp>
      <p:sp>
        <p:nvSpPr>
          <p:cNvPr id="86023" name="Rectangle 7"/>
          <p:cNvSpPr>
            <a:spLocks noChangeArrowheads="1"/>
          </p:cNvSpPr>
          <p:nvPr/>
        </p:nvSpPr>
        <p:spPr bwMode="auto">
          <a:xfrm>
            <a:off x="812800" y="981075"/>
            <a:ext cx="10361613" cy="1066800"/>
          </a:xfrm>
          <a:prstGeom prst="rect">
            <a:avLst/>
          </a:prstGeom>
          <a:noFill/>
          <a:ln w="9525">
            <a:noFill/>
            <a:miter lim="800000"/>
          </a:ln>
        </p:spPr>
        <p:txBody>
          <a:bodyPr/>
          <a:lstStyle/>
          <a:p>
            <a:pPr marL="342900" marR="0" lvl="0" indent="-342900" algn="l" defTabSz="914400" rtl="0" eaLnBrk="1" fontAlgn="base" latinLnBrk="0" hangingPunct="1">
              <a:lnSpc>
                <a:spcPct val="150000"/>
              </a:lnSpc>
              <a:spcBef>
                <a:spcPts val="600"/>
              </a:spcBef>
              <a:spcAft>
                <a:spcPct val="0"/>
              </a:spcAft>
              <a:buClrTx/>
              <a:buSzTx/>
              <a:buFontTx/>
              <a:buChar char="•"/>
              <a:defRPr/>
            </a:pPr>
            <a:r>
              <a:rPr kumimoji="1" lang="zh-CN" altLang="en-US" sz="2000" b="1" i="0" u="none" strike="noStrike" kern="1200" cap="none" spc="0" normalizeH="0" baseline="0" noProof="0" dirty="0">
                <a:ln>
                  <a:noFill/>
                </a:ln>
                <a:solidFill>
                  <a:schemeClr val="tx1"/>
                </a:solidFill>
                <a:effectLst/>
                <a:uLnTx/>
                <a:uFillTx/>
                <a:latin typeface="+mn-ea"/>
                <a:ea typeface="+mn-ea"/>
                <a:cs typeface="+mn-cs"/>
              </a:rPr>
              <a:t>例：向量的每个元素加常数：</a:t>
            </a:r>
            <a:r>
              <a:rPr kumimoji="1" lang="en-US" altLang="zh-CN" sz="1800" b="1" i="0" u="none" strike="noStrike" kern="1200" cap="none" spc="0" normalizeH="0" baseline="0" noProof="0" dirty="0">
                <a:ln>
                  <a:noFill/>
                </a:ln>
                <a:solidFill>
                  <a:schemeClr val="tx1"/>
                </a:solidFill>
                <a:effectLst/>
                <a:uLnTx/>
                <a:uFillTx/>
                <a:latin typeface="+mn-ea"/>
                <a:ea typeface="+mn-ea"/>
                <a:cs typeface="+mn-cs"/>
              </a:rPr>
              <a:t>For (j=</a:t>
            </a:r>
            <a:r>
              <a:rPr kumimoji="1" lang="en-US" altLang="en-US" sz="1800" b="1" i="0" u="none" strike="noStrike" kern="1200" cap="none" spc="0" normalizeH="0" baseline="0" noProof="0" dirty="0">
                <a:ln>
                  <a:noFill/>
                </a:ln>
                <a:solidFill>
                  <a:schemeClr val="tx1"/>
                </a:solidFill>
                <a:effectLst/>
                <a:uLnTx/>
                <a:uFillTx/>
                <a:latin typeface="+mn-ea"/>
                <a:ea typeface="+mn-ea"/>
                <a:cs typeface="+mn-cs"/>
              </a:rPr>
              <a:t>1</a:t>
            </a:r>
            <a:r>
              <a:rPr kumimoji="1" lang="en-US" altLang="zh-CN" sz="1800" b="1" i="0" u="none" strike="noStrike" kern="1200" cap="none" spc="0" normalizeH="0" baseline="0" noProof="0" dirty="0">
                <a:ln>
                  <a:noFill/>
                </a:ln>
                <a:solidFill>
                  <a:schemeClr val="tx1"/>
                </a:solidFill>
                <a:effectLst/>
                <a:uLnTx/>
                <a:uFillTx/>
                <a:latin typeface="+mn-ea"/>
                <a:ea typeface="+mn-ea"/>
                <a:cs typeface="+mn-cs"/>
              </a:rPr>
              <a:t>; j&lt;</a:t>
            </a:r>
            <a:r>
              <a:rPr kumimoji="1" lang="en-US" altLang="en-US" sz="1800" b="1" i="0" u="none" strike="noStrike" kern="1200" cap="none" spc="0" normalizeH="0" baseline="0" noProof="0" dirty="0">
                <a:ln>
                  <a:noFill/>
                </a:ln>
                <a:solidFill>
                  <a:schemeClr val="tx1"/>
                </a:solidFill>
                <a:effectLst/>
                <a:uLnTx/>
                <a:uFillTx/>
                <a:latin typeface="+mn-ea"/>
                <a:ea typeface="+mn-ea"/>
                <a:cs typeface="+mn-cs"/>
              </a:rPr>
              <a:t>=</a:t>
            </a:r>
            <a:r>
              <a:rPr kumimoji="1" lang="en-US" altLang="zh-CN" sz="1800" b="1" i="0" u="none" strike="noStrike" kern="1200" cap="none" spc="0" normalizeH="0" baseline="0" noProof="0" dirty="0">
                <a:ln>
                  <a:noFill/>
                </a:ln>
                <a:solidFill>
                  <a:schemeClr val="tx1"/>
                </a:solidFill>
                <a:effectLst/>
                <a:uLnTx/>
                <a:uFillTx/>
                <a:latin typeface="+mn-ea"/>
                <a:ea typeface="+mn-ea"/>
                <a:cs typeface="+mn-cs"/>
              </a:rPr>
              <a:t>1000; j++) x[j]=x[j]+s;</a:t>
            </a:r>
            <a:endParaRPr kumimoji="1" lang="en-US" altLang="zh-CN" sz="1800" b="1" i="0" u="none" strike="noStrike" kern="1200" cap="none" spc="0" normalizeH="0" baseline="0" noProof="0" dirty="0">
              <a:ln>
                <a:noFill/>
              </a:ln>
              <a:solidFill>
                <a:schemeClr val="tx1"/>
              </a:solidFill>
              <a:effectLst/>
              <a:uLnTx/>
              <a:uFillTx/>
              <a:latin typeface="+mn-ea"/>
              <a:ea typeface="+mn-ea"/>
              <a:cs typeface="+mn-cs"/>
            </a:endParaRPr>
          </a:p>
        </p:txBody>
      </p:sp>
      <p:sp>
        <p:nvSpPr>
          <p:cNvPr id="14343" name="灯片编号占位符 9"/>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fld id="{9A0DB2DC-4C9A-4742-B13C-FB6460FD3503}" type="slidenum">
              <a:rPr lang="en-US" altLang="zh-CN" sz="1400" dirty="0"/>
            </a:fld>
            <a:endParaRPr lang="en-US" altLang="zh-CN"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Rectangle 2"/>
          <p:cNvSpPr/>
          <p:nvPr/>
        </p:nvSpPr>
        <p:spPr>
          <a:xfrm>
            <a:off x="896938" y="1219200"/>
            <a:ext cx="9617075" cy="3219450"/>
          </a:xfrm>
          <a:prstGeom prst="rect">
            <a:avLst/>
          </a:prstGeom>
          <a:noFill/>
          <a:ln w="12700">
            <a:noFill/>
          </a:ln>
        </p:spPr>
        <p:txBody>
          <a:bodyPr lIns="90487" tIns="44450" rIns="90487" bIns="44450" anchor="t" anchorCtr="0"/>
          <a:p>
            <a:pPr marL="285750" indent="-285750" defTabSz="914400">
              <a:lnSpc>
                <a:spcPct val="90000"/>
              </a:lnSpc>
              <a:spcBef>
                <a:spcPct val="30000"/>
              </a:spcBef>
              <a:tabLst>
                <a:tab pos="1200150" algn="l"/>
                <a:tab pos="2000250" algn="l"/>
                <a:tab pos="3371850" algn="l"/>
              </a:tabLst>
            </a:pPr>
            <a:r>
              <a:rPr lang="en-US" altLang="zh-CN" sz="1800" dirty="0">
                <a:latin typeface="宋体" panose="02000500000000000000" pitchFamily="2" charset="-122"/>
                <a:ea typeface="宋体" panose="02000500000000000000" pitchFamily="2" charset="-122"/>
              </a:rPr>
              <a:t> 1 Loop:	</a:t>
            </a:r>
            <a:r>
              <a:rPr lang="en-US" altLang="en-US" sz="1800" dirty="0">
                <a:latin typeface="宋体" panose="02000500000000000000" pitchFamily="2" charset="-122"/>
                <a:ea typeface="宋体" panose="02000500000000000000" pitchFamily="2" charset="-122"/>
              </a:rPr>
              <a:t>fld.d</a:t>
            </a:r>
            <a:r>
              <a:rPr lang="en-US" altLang="zh-CN" sz="1800" dirty="0">
                <a:latin typeface="宋体" panose="02000500000000000000" pitchFamily="2" charset="-122"/>
                <a:ea typeface="宋体" panose="02000500000000000000" pitchFamily="2" charset="-122"/>
              </a:rPr>
              <a:t>	</a:t>
            </a:r>
            <a:r>
              <a:rPr lang="en-US" altLang="en-US" sz="1800" dirty="0">
                <a:solidFill>
                  <a:srgbClr val="FF0000"/>
                </a:solidFill>
                <a:latin typeface="宋体" panose="02000500000000000000" pitchFamily="2" charset="-122"/>
                <a:ea typeface="宋体" panose="02000500000000000000" pitchFamily="2" charset="-122"/>
              </a:rPr>
              <a:t>$f0</a:t>
            </a:r>
            <a:r>
              <a:rPr lang="en-US" altLang="zh-CN" sz="1800" dirty="0">
                <a:latin typeface="宋体" panose="02000500000000000000" pitchFamily="2" charset="-122"/>
                <a:ea typeface="宋体" panose="02000500000000000000" pitchFamily="2" charset="-122"/>
              </a:rPr>
              <a:t>,</a:t>
            </a:r>
            <a:r>
              <a:rPr lang="en-US" altLang="en-US" sz="1800" dirty="0">
                <a:latin typeface="宋体" panose="02000500000000000000" pitchFamily="2" charset="-122"/>
                <a:ea typeface="宋体" panose="02000500000000000000" pitchFamily="2" charset="-122"/>
              </a:rPr>
              <a:t>$r</a:t>
            </a:r>
            <a:r>
              <a:rPr lang="en-US" altLang="zh-CN" sz="1800" dirty="0">
                <a:latin typeface="宋体" panose="02000500000000000000" pitchFamily="2" charset="-122"/>
                <a:ea typeface="宋体" panose="02000500000000000000" pitchFamily="2" charset="-122"/>
              </a:rPr>
              <a:t>1</a:t>
            </a:r>
            <a:r>
              <a:rPr lang="en-US" altLang="en-US" sz="1800" dirty="0">
                <a:latin typeface="宋体" panose="02000500000000000000" pitchFamily="2" charset="-122"/>
                <a:ea typeface="宋体" panose="02000500000000000000" pitchFamily="2" charset="-122"/>
              </a:rPr>
              <a:t>,0</a:t>
            </a:r>
            <a:r>
              <a:rPr lang="en-US" altLang="zh-CN" sz="1800" dirty="0">
                <a:latin typeface="宋体" panose="02000500000000000000" pitchFamily="2" charset="-122"/>
                <a:ea typeface="宋体" panose="02000500000000000000" pitchFamily="2" charset="-122"/>
              </a:rPr>
              <a:t>	;</a:t>
            </a:r>
            <a:r>
              <a:rPr lang="en-US" altLang="en-US" sz="1800" dirty="0">
                <a:latin typeface="宋体" panose="02000500000000000000" pitchFamily="2" charset="-122"/>
                <a:ea typeface="宋体" panose="02000500000000000000" pitchFamily="2" charset="-122"/>
              </a:rPr>
              <a:t>$f0</a:t>
            </a:r>
            <a:r>
              <a:rPr lang="en-US" altLang="zh-CN" sz="1800" dirty="0">
                <a:latin typeface="宋体" panose="02000500000000000000" pitchFamily="2" charset="-122"/>
                <a:ea typeface="宋体" panose="02000500000000000000" pitchFamily="2" charset="-122"/>
              </a:rPr>
              <a:t>=vector element</a:t>
            </a:r>
            <a:endParaRPr lang="en-US" altLang="zh-CN" sz="1800" dirty="0">
              <a:latin typeface="宋体" panose="02000500000000000000" pitchFamily="2" charset="-122"/>
              <a:ea typeface="宋体" panose="02000500000000000000" pitchFamily="2" charset="-122"/>
            </a:endParaRPr>
          </a:p>
          <a:p>
            <a:pPr marL="285750" indent="-285750" defTabSz="914400">
              <a:lnSpc>
                <a:spcPct val="90000"/>
              </a:lnSpc>
              <a:spcBef>
                <a:spcPct val="30000"/>
              </a:spcBef>
              <a:tabLst>
                <a:tab pos="1200150" algn="l"/>
                <a:tab pos="2000250" algn="l"/>
                <a:tab pos="3371850" algn="l"/>
              </a:tabLst>
            </a:pPr>
            <a:r>
              <a:rPr lang="en-US" altLang="zh-CN" sz="1800" dirty="0">
                <a:latin typeface="宋体" panose="02000500000000000000" pitchFamily="2" charset="-122"/>
                <a:ea typeface="宋体" panose="02000500000000000000" pitchFamily="2" charset="-122"/>
              </a:rPr>
              <a:t> 2		</a:t>
            </a:r>
            <a:r>
              <a:rPr lang="en-US" altLang="zh-CN" sz="1800" dirty="0">
                <a:solidFill>
                  <a:srgbClr val="FF0000"/>
                </a:solidFill>
                <a:latin typeface="宋体" panose="02000500000000000000" pitchFamily="2" charset="-122"/>
                <a:ea typeface="宋体" panose="02000500000000000000" pitchFamily="2" charset="-122"/>
              </a:rPr>
              <a:t>stall</a:t>
            </a:r>
            <a:endParaRPr lang="en-US" altLang="zh-CN" sz="1800" dirty="0">
              <a:solidFill>
                <a:srgbClr val="FF0000"/>
              </a:solidFill>
              <a:latin typeface="宋体" panose="02000500000000000000" pitchFamily="2" charset="-122"/>
              <a:ea typeface="宋体" panose="02000500000000000000" pitchFamily="2" charset="-122"/>
            </a:endParaRPr>
          </a:p>
          <a:p>
            <a:pPr marL="285750" indent="-285750" defTabSz="914400">
              <a:lnSpc>
                <a:spcPct val="90000"/>
              </a:lnSpc>
              <a:spcBef>
                <a:spcPct val="30000"/>
              </a:spcBef>
              <a:tabLst>
                <a:tab pos="1200150" algn="l"/>
                <a:tab pos="2000250" algn="l"/>
                <a:tab pos="3371850" algn="l"/>
              </a:tabLst>
            </a:pPr>
            <a:r>
              <a:rPr lang="en-US" altLang="zh-CN" sz="1800" dirty="0">
                <a:latin typeface="宋体" panose="02000500000000000000" pitchFamily="2" charset="-122"/>
                <a:ea typeface="宋体" panose="02000500000000000000" pitchFamily="2" charset="-122"/>
              </a:rPr>
              <a:t> 3		</a:t>
            </a:r>
            <a:r>
              <a:rPr lang="en-US" altLang="zh-CN" sz="1800" dirty="0">
                <a:solidFill>
                  <a:srgbClr val="FF0000"/>
                </a:solidFill>
                <a:latin typeface="宋体" panose="02000500000000000000" pitchFamily="2" charset="-122"/>
                <a:ea typeface="宋体" panose="02000500000000000000" pitchFamily="2" charset="-122"/>
              </a:rPr>
              <a:t>stall</a:t>
            </a:r>
            <a:endParaRPr lang="en-US" altLang="zh-CN" sz="1800" dirty="0">
              <a:latin typeface="宋体" panose="02000500000000000000" pitchFamily="2" charset="-122"/>
              <a:ea typeface="宋体" panose="02000500000000000000" pitchFamily="2" charset="-122"/>
            </a:endParaRPr>
          </a:p>
          <a:p>
            <a:pPr marL="285750" indent="-285750" defTabSz="914400">
              <a:lnSpc>
                <a:spcPct val="90000"/>
              </a:lnSpc>
              <a:spcBef>
                <a:spcPct val="30000"/>
              </a:spcBef>
              <a:tabLst>
                <a:tab pos="1200150" algn="l"/>
                <a:tab pos="2000250" algn="l"/>
                <a:tab pos="3371850" algn="l"/>
              </a:tabLst>
            </a:pPr>
            <a:r>
              <a:rPr lang="en-US" altLang="zh-CN" sz="1800" dirty="0">
                <a:latin typeface="宋体" panose="02000500000000000000" pitchFamily="2" charset="-122"/>
                <a:ea typeface="宋体" panose="02000500000000000000" pitchFamily="2" charset="-122"/>
              </a:rPr>
              <a:t> 4		</a:t>
            </a:r>
            <a:r>
              <a:rPr lang="en-US" altLang="en-US" sz="1800" dirty="0">
                <a:latin typeface="宋体" panose="02000500000000000000" pitchFamily="2" charset="-122"/>
                <a:ea typeface="宋体" panose="02000500000000000000" pitchFamily="2" charset="-122"/>
                <a:sym typeface="宋体" panose="02000500000000000000" pitchFamily="2" charset="-122"/>
              </a:rPr>
              <a:t>fadd.d</a:t>
            </a:r>
            <a:r>
              <a:rPr lang="en-US" altLang="zh-CN" sz="1800" dirty="0">
                <a:latin typeface="宋体" panose="02000500000000000000" pitchFamily="2" charset="-122"/>
                <a:ea typeface="宋体" panose="02000500000000000000" pitchFamily="2" charset="-122"/>
                <a:sym typeface="宋体" panose="02000500000000000000" pitchFamily="2" charset="-122"/>
              </a:rPr>
              <a:t>	</a:t>
            </a:r>
            <a:r>
              <a:rPr lang="en-US" altLang="en-US" sz="1800" dirty="0">
                <a:solidFill>
                  <a:schemeClr val="accent2"/>
                </a:solidFill>
                <a:latin typeface="宋体" panose="02000500000000000000" pitchFamily="2" charset="-122"/>
                <a:ea typeface="宋体" panose="02000500000000000000" pitchFamily="2" charset="-122"/>
                <a:sym typeface="宋体" panose="02000500000000000000" pitchFamily="2" charset="-122"/>
              </a:rPr>
              <a:t>$f4</a:t>
            </a:r>
            <a:r>
              <a:rPr lang="en-US" altLang="zh-CN" sz="1800" dirty="0">
                <a:latin typeface="宋体" panose="02000500000000000000" pitchFamily="2" charset="-122"/>
                <a:ea typeface="宋体" panose="02000500000000000000" pitchFamily="2" charset="-122"/>
                <a:sym typeface="宋体" panose="02000500000000000000" pitchFamily="2" charset="-122"/>
              </a:rPr>
              <a:t>,</a:t>
            </a:r>
            <a:r>
              <a:rPr lang="en-US" altLang="en-US" sz="1800" dirty="0">
                <a:solidFill>
                  <a:srgbClr val="FF0000"/>
                </a:solidFill>
                <a:latin typeface="宋体" panose="02000500000000000000" pitchFamily="2" charset="-122"/>
                <a:ea typeface="宋体" panose="02000500000000000000" pitchFamily="2" charset="-122"/>
                <a:sym typeface="宋体" panose="02000500000000000000" pitchFamily="2" charset="-122"/>
              </a:rPr>
              <a:t>$f0</a:t>
            </a:r>
            <a:r>
              <a:rPr lang="en-US" altLang="zh-CN" sz="1800" dirty="0">
                <a:latin typeface="宋体" panose="02000500000000000000" pitchFamily="2" charset="-122"/>
                <a:ea typeface="宋体" panose="02000500000000000000" pitchFamily="2" charset="-122"/>
                <a:sym typeface="宋体" panose="02000500000000000000" pitchFamily="2" charset="-122"/>
              </a:rPr>
              <a:t>,</a:t>
            </a:r>
            <a:r>
              <a:rPr lang="en-US" altLang="en-US" sz="1800" dirty="0">
                <a:latin typeface="宋体" panose="02000500000000000000" pitchFamily="2" charset="-122"/>
                <a:ea typeface="宋体" panose="02000500000000000000" pitchFamily="2" charset="-122"/>
                <a:sym typeface="宋体" panose="02000500000000000000" pitchFamily="2" charset="-122"/>
              </a:rPr>
              <a:t>$f2</a:t>
            </a:r>
            <a:r>
              <a:rPr lang="en-US" altLang="zh-CN" sz="1800" dirty="0">
                <a:latin typeface="宋体" panose="02000500000000000000" pitchFamily="2" charset="-122"/>
                <a:ea typeface="宋体" panose="02000500000000000000" pitchFamily="2" charset="-122"/>
                <a:sym typeface="宋体" panose="02000500000000000000" pitchFamily="2" charset="-122"/>
              </a:rPr>
              <a:t>	;add scalar from </a:t>
            </a:r>
            <a:r>
              <a:rPr lang="en-US" altLang="en-US" sz="1800" dirty="0">
                <a:latin typeface="宋体" panose="02000500000000000000" pitchFamily="2" charset="-122"/>
                <a:ea typeface="宋体" panose="02000500000000000000" pitchFamily="2" charset="-122"/>
                <a:sym typeface="宋体" panose="02000500000000000000" pitchFamily="2" charset="-122"/>
              </a:rPr>
              <a:t>$f2</a:t>
            </a:r>
            <a:endParaRPr lang="en-US" altLang="zh-CN" sz="1800" dirty="0">
              <a:latin typeface="宋体" panose="02000500000000000000" pitchFamily="2" charset="-122"/>
              <a:ea typeface="宋体" panose="02000500000000000000" pitchFamily="2" charset="-122"/>
            </a:endParaRPr>
          </a:p>
          <a:p>
            <a:pPr marL="285750" indent="-285750" defTabSz="914400">
              <a:lnSpc>
                <a:spcPct val="90000"/>
              </a:lnSpc>
              <a:spcBef>
                <a:spcPct val="30000"/>
              </a:spcBef>
              <a:tabLst>
                <a:tab pos="1200150" algn="l"/>
                <a:tab pos="2000250" algn="l"/>
                <a:tab pos="3371850" algn="l"/>
              </a:tabLst>
            </a:pPr>
            <a:r>
              <a:rPr lang="en-US" altLang="zh-CN" sz="1800" dirty="0">
                <a:latin typeface="宋体" panose="02000500000000000000" pitchFamily="2" charset="-122"/>
                <a:ea typeface="宋体" panose="02000500000000000000" pitchFamily="2" charset="-122"/>
              </a:rPr>
              <a:t> 5		</a:t>
            </a:r>
            <a:r>
              <a:rPr lang="en-US" altLang="zh-CN" sz="1800" dirty="0">
                <a:solidFill>
                  <a:srgbClr val="FF0000"/>
                </a:solidFill>
                <a:latin typeface="宋体" panose="02000500000000000000" pitchFamily="2" charset="-122"/>
                <a:ea typeface="宋体" panose="02000500000000000000" pitchFamily="2" charset="-122"/>
              </a:rPr>
              <a:t>stall</a:t>
            </a:r>
            <a:endParaRPr lang="en-US" altLang="zh-CN" sz="1800" dirty="0">
              <a:solidFill>
                <a:srgbClr val="FF0000"/>
              </a:solidFill>
              <a:latin typeface="宋体" panose="02000500000000000000" pitchFamily="2" charset="-122"/>
              <a:ea typeface="宋体" panose="02000500000000000000" pitchFamily="2" charset="-122"/>
            </a:endParaRPr>
          </a:p>
          <a:p>
            <a:pPr marL="285750" indent="-285750" defTabSz="914400">
              <a:lnSpc>
                <a:spcPct val="90000"/>
              </a:lnSpc>
              <a:spcBef>
                <a:spcPct val="30000"/>
              </a:spcBef>
              <a:tabLst>
                <a:tab pos="1200150" algn="l"/>
                <a:tab pos="2000250" algn="l"/>
                <a:tab pos="3371850" algn="l"/>
              </a:tabLst>
            </a:pPr>
            <a:r>
              <a:rPr lang="en-US" altLang="zh-CN" sz="1800" dirty="0">
                <a:latin typeface="宋体" panose="02000500000000000000" pitchFamily="2" charset="-122"/>
                <a:ea typeface="宋体" panose="02000500000000000000" pitchFamily="2" charset="-122"/>
              </a:rPr>
              <a:t> 6 	</a:t>
            </a:r>
            <a:r>
              <a:rPr lang="en-US" altLang="en-US" sz="1800" dirty="0">
                <a:latin typeface="宋体" panose="02000500000000000000" pitchFamily="2" charset="-122"/>
                <a:ea typeface="宋体" panose="02000500000000000000" pitchFamily="2" charset="-122"/>
              </a:rPr>
              <a:t>fst.d</a:t>
            </a:r>
            <a:r>
              <a:rPr lang="en-US" altLang="zh-CN" sz="1800" dirty="0">
                <a:latin typeface="宋体" panose="02000500000000000000" pitchFamily="2" charset="-122"/>
                <a:ea typeface="宋体" panose="02000500000000000000" pitchFamily="2" charset="-122"/>
              </a:rPr>
              <a:t>	</a:t>
            </a:r>
            <a:r>
              <a:rPr lang="en-US" altLang="en-US" sz="1800" dirty="0">
                <a:solidFill>
                  <a:schemeClr val="accent2"/>
                </a:solidFill>
                <a:latin typeface="宋体" panose="02000500000000000000" pitchFamily="2" charset="-122"/>
                <a:ea typeface="宋体" panose="02000500000000000000" pitchFamily="2" charset="-122"/>
              </a:rPr>
              <a:t>$f4</a:t>
            </a:r>
            <a:r>
              <a:rPr lang="en-US" altLang="zh-CN" sz="1800" dirty="0">
                <a:latin typeface="宋体" panose="02000500000000000000" pitchFamily="2" charset="-122"/>
                <a:ea typeface="宋体" panose="02000500000000000000" pitchFamily="2" charset="-122"/>
                <a:sym typeface="宋体" panose="02000500000000000000" pitchFamily="2" charset="-122"/>
              </a:rPr>
              <a:t>,</a:t>
            </a:r>
            <a:r>
              <a:rPr lang="en-US" altLang="en-US" sz="1800" dirty="0">
                <a:latin typeface="宋体" panose="02000500000000000000" pitchFamily="2" charset="-122"/>
                <a:ea typeface="宋体" panose="02000500000000000000" pitchFamily="2" charset="-122"/>
                <a:sym typeface="宋体" panose="02000500000000000000" pitchFamily="2" charset="-122"/>
              </a:rPr>
              <a:t>$r1,0</a:t>
            </a:r>
            <a:r>
              <a:rPr lang="en-US" altLang="zh-CN" sz="1800" dirty="0">
                <a:latin typeface="宋体" panose="02000500000000000000" pitchFamily="2" charset="-122"/>
                <a:ea typeface="宋体" panose="02000500000000000000" pitchFamily="2" charset="-122"/>
              </a:rPr>
              <a:t>	;store result</a:t>
            </a:r>
            <a:endParaRPr lang="en-US" altLang="zh-CN" sz="1800" dirty="0">
              <a:latin typeface="宋体" panose="02000500000000000000" pitchFamily="2" charset="-122"/>
              <a:ea typeface="宋体" panose="02000500000000000000" pitchFamily="2" charset="-122"/>
            </a:endParaRPr>
          </a:p>
          <a:p>
            <a:pPr marL="285750" indent="-285750" defTabSz="914400">
              <a:lnSpc>
                <a:spcPct val="90000"/>
              </a:lnSpc>
              <a:spcBef>
                <a:spcPct val="30000"/>
              </a:spcBef>
              <a:tabLst>
                <a:tab pos="1200150" algn="l"/>
                <a:tab pos="2000250" algn="l"/>
                <a:tab pos="3371850" algn="l"/>
              </a:tabLst>
            </a:pPr>
            <a:r>
              <a:rPr lang="en-US" altLang="zh-CN" sz="1800" dirty="0">
                <a:latin typeface="宋体" panose="02000500000000000000" pitchFamily="2" charset="-122"/>
                <a:ea typeface="宋体" panose="02000500000000000000" pitchFamily="2" charset="-122"/>
              </a:rPr>
              <a:t> 7 	</a:t>
            </a:r>
            <a:r>
              <a:rPr lang="en-US" altLang="en-US" sz="1800" dirty="0">
                <a:latin typeface="宋体" panose="02000500000000000000" pitchFamily="2" charset="-122"/>
                <a:ea typeface="宋体" panose="02000500000000000000" pitchFamily="2" charset="-122"/>
              </a:rPr>
              <a:t>addi.d</a:t>
            </a:r>
            <a:r>
              <a:rPr lang="en-US" altLang="zh-CN" sz="1800" dirty="0">
                <a:latin typeface="宋体" panose="02000500000000000000" pitchFamily="2" charset="-122"/>
                <a:ea typeface="宋体" panose="02000500000000000000" pitchFamily="2" charset="-122"/>
              </a:rPr>
              <a:t>	</a:t>
            </a:r>
            <a:r>
              <a:rPr lang="en-US" altLang="en-US" sz="1800" dirty="0">
                <a:latin typeface="宋体" panose="02000500000000000000" pitchFamily="2" charset="-122"/>
                <a:ea typeface="宋体" panose="02000500000000000000" pitchFamily="2" charset="-122"/>
              </a:rPr>
              <a:t>$r1</a:t>
            </a:r>
            <a:r>
              <a:rPr lang="en-US" altLang="zh-CN" sz="1800" dirty="0">
                <a:latin typeface="宋体" panose="02000500000000000000" pitchFamily="2" charset="-122"/>
                <a:ea typeface="宋体" panose="02000500000000000000" pitchFamily="2" charset="-122"/>
              </a:rPr>
              <a:t>,</a:t>
            </a:r>
            <a:r>
              <a:rPr lang="en-US" altLang="en-US" sz="1800" dirty="0">
                <a:latin typeface="宋体" panose="02000500000000000000" pitchFamily="2" charset="-122"/>
                <a:ea typeface="宋体" panose="02000500000000000000" pitchFamily="2" charset="-122"/>
              </a:rPr>
              <a:t>$r1</a:t>
            </a:r>
            <a:r>
              <a:rPr lang="en-US" altLang="zh-CN" sz="1800" dirty="0">
                <a:latin typeface="宋体" panose="02000500000000000000" pitchFamily="2" charset="-122"/>
                <a:ea typeface="宋体" panose="02000500000000000000" pitchFamily="2" charset="-122"/>
              </a:rPr>
              <a:t>,</a:t>
            </a:r>
            <a:r>
              <a:rPr lang="en-US" altLang="en-US" sz="1800" dirty="0">
                <a:latin typeface="宋体" panose="02000500000000000000" pitchFamily="2" charset="-122"/>
                <a:ea typeface="宋体" panose="02000500000000000000" pitchFamily="2" charset="-122"/>
              </a:rPr>
              <a:t>-</a:t>
            </a:r>
            <a:r>
              <a:rPr lang="en-US" altLang="zh-CN" sz="1800" dirty="0">
                <a:latin typeface="宋体" panose="02000500000000000000" pitchFamily="2" charset="-122"/>
                <a:ea typeface="宋体" panose="02000500000000000000" pitchFamily="2" charset="-122"/>
              </a:rPr>
              <a:t>8	;decrement pointer 8B(DW)</a:t>
            </a:r>
            <a:endParaRPr lang="en-US" altLang="zh-CN" sz="1800" dirty="0">
              <a:latin typeface="宋体" panose="02000500000000000000" pitchFamily="2" charset="-122"/>
              <a:ea typeface="宋体" panose="02000500000000000000" pitchFamily="2" charset="-122"/>
            </a:endParaRPr>
          </a:p>
          <a:p>
            <a:pPr marL="285750" indent="-285750" defTabSz="914400">
              <a:lnSpc>
                <a:spcPct val="90000"/>
              </a:lnSpc>
              <a:spcBef>
                <a:spcPct val="30000"/>
              </a:spcBef>
              <a:tabLst>
                <a:tab pos="1200150" algn="l"/>
                <a:tab pos="2000250" algn="l"/>
                <a:tab pos="3371850" algn="l"/>
              </a:tabLst>
            </a:pPr>
            <a:r>
              <a:rPr lang="en-US" altLang="zh-CN" sz="1800" dirty="0">
                <a:latin typeface="宋体" panose="02000500000000000000" pitchFamily="2" charset="-122"/>
                <a:ea typeface="宋体" panose="02000500000000000000" pitchFamily="2" charset="-122"/>
              </a:rPr>
              <a:t> 8 	</a:t>
            </a:r>
            <a:r>
              <a:rPr lang="en-US" altLang="en-US" sz="1800" dirty="0">
                <a:latin typeface="宋体" panose="02000500000000000000" pitchFamily="2" charset="-122"/>
                <a:ea typeface="宋体" panose="02000500000000000000" pitchFamily="2" charset="-122"/>
              </a:rPr>
              <a:t>bnez</a:t>
            </a:r>
            <a:r>
              <a:rPr lang="en-US" altLang="zh-CN" sz="1800" dirty="0">
                <a:latin typeface="宋体" panose="02000500000000000000" pitchFamily="2" charset="-122"/>
                <a:ea typeface="宋体" panose="02000500000000000000" pitchFamily="2" charset="-122"/>
              </a:rPr>
              <a:t>	</a:t>
            </a:r>
            <a:r>
              <a:rPr lang="en-US" altLang="en-US" sz="1800" dirty="0">
                <a:latin typeface="宋体" panose="02000500000000000000" pitchFamily="2" charset="-122"/>
                <a:ea typeface="宋体" panose="02000500000000000000" pitchFamily="2" charset="-122"/>
              </a:rPr>
              <a:t>$r1</a:t>
            </a:r>
            <a:r>
              <a:rPr lang="en-US" altLang="zh-CN" sz="1800" dirty="0">
                <a:latin typeface="宋体" panose="02000500000000000000" pitchFamily="2" charset="-122"/>
                <a:ea typeface="宋体" panose="02000500000000000000" pitchFamily="2" charset="-122"/>
              </a:rPr>
              <a:t>,Loop	;branch </a:t>
            </a:r>
            <a:r>
              <a:rPr lang="en-US" altLang="en-US" sz="1800" dirty="0">
                <a:latin typeface="宋体" panose="02000500000000000000" pitchFamily="2" charset="-122"/>
                <a:ea typeface="宋体" panose="02000500000000000000" pitchFamily="2" charset="-122"/>
              </a:rPr>
              <a:t>$r</a:t>
            </a:r>
            <a:r>
              <a:rPr lang="en-US" altLang="zh-CN" sz="1800" dirty="0">
                <a:latin typeface="宋体" panose="02000500000000000000" pitchFamily="2" charset="-122"/>
                <a:ea typeface="宋体" panose="02000500000000000000" pitchFamily="2" charset="-122"/>
              </a:rPr>
              <a:t>1!=zero</a:t>
            </a:r>
            <a:endParaRPr lang="en-US" altLang="zh-CN" sz="1800" dirty="0">
              <a:latin typeface="宋体" panose="02000500000000000000" pitchFamily="2" charset="-122"/>
              <a:ea typeface="宋体" panose="02000500000000000000" pitchFamily="2" charset="-122"/>
            </a:endParaRPr>
          </a:p>
        </p:txBody>
      </p:sp>
      <p:sp>
        <p:nvSpPr>
          <p:cNvPr id="87043" name="Rectangle 3"/>
          <p:cNvSpPr>
            <a:spLocks noChangeArrowheads="1"/>
          </p:cNvSpPr>
          <p:nvPr/>
        </p:nvSpPr>
        <p:spPr bwMode="auto">
          <a:xfrm>
            <a:off x="812800" y="381000"/>
            <a:ext cx="10361613" cy="609600"/>
          </a:xfrm>
          <a:prstGeom prst="rect">
            <a:avLst/>
          </a:prstGeom>
          <a:noFill/>
          <a:ln w="9525">
            <a:noFill/>
            <a:miter lim="800000"/>
          </a:ln>
        </p:spPr>
        <p:txBody>
          <a:bodyPr/>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1" lang="zh-CN" altLang="en-US" sz="2000" b="1" i="0" u="none" strike="noStrike" kern="1200" cap="none" spc="0" normalizeH="0" baseline="0" noProof="0" dirty="0">
                <a:ln>
                  <a:noFill/>
                </a:ln>
                <a:solidFill>
                  <a:schemeClr val="tx1"/>
                </a:solidFill>
                <a:effectLst/>
                <a:uLnTx/>
                <a:uFillTx/>
                <a:latin typeface="+mn-ea"/>
                <a:ea typeface="+mn-ea"/>
                <a:cs typeface="+mn-cs"/>
              </a:rPr>
              <a:t>每次循环</a:t>
            </a:r>
            <a:r>
              <a:rPr kumimoji="1" lang="zh-CN" altLang="en-US" sz="2000" b="1" i="0" u="none" strike="noStrike" kern="1200" cap="none" spc="0" normalizeH="0" baseline="0" noProof="0" dirty="0" smtClean="0">
                <a:ln>
                  <a:noFill/>
                </a:ln>
                <a:solidFill>
                  <a:schemeClr val="tx1"/>
                </a:solidFill>
                <a:effectLst/>
                <a:uLnTx/>
                <a:uFillTx/>
                <a:latin typeface="+mn-ea"/>
                <a:ea typeface="+mn-ea"/>
                <a:cs typeface="+mn-cs"/>
              </a:rPr>
              <a:t>需要</a:t>
            </a:r>
            <a:r>
              <a:rPr kumimoji="1" lang="en-US" altLang="zh-CN" sz="2000" strike="noStrike" noProof="0" dirty="0" smtClean="0">
                <a:latin typeface="+mn-ea"/>
                <a:ea typeface="+mn-ea"/>
                <a:cs typeface="+mn-cs"/>
              </a:rPr>
              <a:t>8</a:t>
            </a:r>
            <a:r>
              <a:rPr kumimoji="1" lang="zh-CN" altLang="en-US" sz="2000" b="1" i="0" u="none" strike="noStrike" kern="1200" cap="none" spc="0" normalizeH="0" baseline="0" noProof="0" dirty="0" smtClean="0">
                <a:ln>
                  <a:noFill/>
                </a:ln>
                <a:solidFill>
                  <a:schemeClr val="tx1"/>
                </a:solidFill>
                <a:effectLst/>
                <a:uLnTx/>
                <a:uFillTx/>
                <a:latin typeface="+mn-ea"/>
                <a:ea typeface="+mn-ea"/>
                <a:cs typeface="+mn-cs"/>
              </a:rPr>
              <a:t>拍</a:t>
            </a:r>
            <a:endParaRPr kumimoji="1" lang="zh-CN" altLang="en-US" sz="2000" b="1" i="0" u="none" strike="noStrike" kern="1200" cap="none" spc="0" normalizeH="0" baseline="0" noProof="0" dirty="0">
              <a:ln>
                <a:noFill/>
              </a:ln>
              <a:solidFill>
                <a:schemeClr val="tx1"/>
              </a:solidFill>
              <a:effectLst/>
              <a:uLnTx/>
              <a:uFillTx/>
              <a:latin typeface="+mn-ea"/>
              <a:ea typeface="+mn-ea"/>
              <a:cs typeface="+mn-cs"/>
            </a:endParaRPr>
          </a:p>
        </p:txBody>
      </p:sp>
      <p:sp>
        <p:nvSpPr>
          <p:cNvPr id="15363" name="灯片编号占位符 6"/>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fld id="{9A0DB2DC-4C9A-4742-B13C-FB6460FD3503}" type="slidenum">
              <a:rPr lang="en-US" altLang="zh-CN" sz="1400" dirty="0"/>
            </a:fld>
            <a:endParaRPr lang="en-US" altLang="zh-CN" sz="1400" dirty="0"/>
          </a:p>
        </p:txBody>
      </p:sp>
      <p:sp>
        <p:nvSpPr>
          <p:cNvPr id="15364" name="Rectangle 4"/>
          <p:cNvSpPr/>
          <p:nvPr/>
        </p:nvSpPr>
        <p:spPr>
          <a:xfrm>
            <a:off x="2122488" y="4437063"/>
            <a:ext cx="6126162" cy="1970087"/>
          </a:xfrm>
          <a:prstGeom prst="rect">
            <a:avLst/>
          </a:prstGeom>
          <a:solidFill>
            <a:srgbClr val="F2F2F2"/>
          </a:solidFill>
          <a:ln w="12700">
            <a:noFill/>
          </a:ln>
        </p:spPr>
        <p:txBody>
          <a:bodyPr lIns="90487" tIns="44450" rIns="90487" bIns="44450" anchor="t" anchorCtr="0"/>
          <a:p>
            <a:pPr defTabSz="914400">
              <a:lnSpc>
                <a:spcPct val="90000"/>
              </a:lnSpc>
              <a:spcBef>
                <a:spcPct val="30000"/>
              </a:spcBef>
              <a:tabLst>
                <a:tab pos="2057400" algn="l"/>
                <a:tab pos="4572000" algn="l"/>
              </a:tabLst>
            </a:pPr>
            <a:r>
              <a:rPr lang="en-US" altLang="zh-CN" sz="1600" dirty="0">
                <a:solidFill>
                  <a:schemeClr val="accent2"/>
                </a:solidFill>
                <a:latin typeface="黑体" panose="02000500000000000000" pitchFamily="49" charset="-122"/>
                <a:ea typeface="黑体" panose="02000500000000000000" pitchFamily="49" charset="-122"/>
              </a:rPr>
              <a:t>Instruction	Instruction	Latency in</a:t>
            </a:r>
            <a:br>
              <a:rPr lang="en-US" altLang="zh-CN" sz="1600" dirty="0">
                <a:solidFill>
                  <a:schemeClr val="accent2"/>
                </a:solidFill>
                <a:latin typeface="黑体" panose="02000500000000000000" pitchFamily="49" charset="-122"/>
                <a:ea typeface="黑体" panose="02000500000000000000" pitchFamily="49" charset="-122"/>
              </a:rPr>
            </a:br>
            <a:r>
              <a:rPr lang="en-US" altLang="zh-CN" sz="1600" dirty="0">
                <a:solidFill>
                  <a:schemeClr val="accent2"/>
                </a:solidFill>
                <a:latin typeface="黑体" panose="02000500000000000000" pitchFamily="49" charset="-122"/>
                <a:ea typeface="黑体" panose="02000500000000000000" pitchFamily="49" charset="-122"/>
              </a:rPr>
              <a:t>producing result	using result 	clock cycles</a:t>
            </a:r>
            <a:endParaRPr lang="en-US" altLang="zh-CN" sz="1600" dirty="0">
              <a:solidFill>
                <a:schemeClr val="accent2"/>
              </a:solidFill>
              <a:latin typeface="黑体" panose="02000500000000000000" pitchFamily="49" charset="-122"/>
              <a:ea typeface="黑体" panose="02000500000000000000" pitchFamily="49" charset="-122"/>
            </a:endParaRPr>
          </a:p>
          <a:p>
            <a:pPr defTabSz="914400">
              <a:lnSpc>
                <a:spcPct val="90000"/>
              </a:lnSpc>
              <a:spcBef>
                <a:spcPct val="30000"/>
              </a:spcBef>
              <a:tabLst>
                <a:tab pos="2057400" algn="l"/>
                <a:tab pos="4572000" algn="l"/>
              </a:tabLst>
            </a:pPr>
            <a:r>
              <a:rPr lang="en-US" altLang="zh-CN" sz="1600" dirty="0">
                <a:latin typeface="宋体" panose="02000500000000000000" pitchFamily="2" charset="-122"/>
                <a:ea typeface="宋体" panose="02000500000000000000" pitchFamily="2" charset="-122"/>
              </a:rPr>
              <a:t>FP ALU op	Another FP ALU op	3</a:t>
            </a:r>
            <a:endParaRPr lang="en-US" altLang="zh-CN" sz="1600" dirty="0">
              <a:latin typeface="宋体" panose="02000500000000000000" pitchFamily="2" charset="-122"/>
              <a:ea typeface="宋体" panose="02000500000000000000" pitchFamily="2" charset="-122"/>
            </a:endParaRPr>
          </a:p>
          <a:p>
            <a:pPr defTabSz="914400">
              <a:lnSpc>
                <a:spcPct val="90000"/>
              </a:lnSpc>
              <a:spcBef>
                <a:spcPct val="30000"/>
              </a:spcBef>
              <a:tabLst>
                <a:tab pos="2057400" algn="l"/>
                <a:tab pos="4572000" algn="l"/>
              </a:tabLst>
            </a:pPr>
            <a:r>
              <a:rPr lang="en-US" altLang="zh-CN" sz="1600" dirty="0">
                <a:latin typeface="宋体" panose="02000500000000000000" pitchFamily="2" charset="-122"/>
                <a:ea typeface="宋体" panose="02000500000000000000" pitchFamily="2" charset="-122"/>
              </a:rPr>
              <a:t>Load double	FP ALU op	2</a:t>
            </a:r>
            <a:endParaRPr lang="en-US" altLang="zh-CN" sz="1600" dirty="0">
              <a:latin typeface="宋体" panose="02000500000000000000" pitchFamily="2" charset="-122"/>
              <a:ea typeface="宋体" panose="02000500000000000000" pitchFamily="2" charset="-122"/>
            </a:endParaRPr>
          </a:p>
          <a:p>
            <a:pPr defTabSz="914400">
              <a:lnSpc>
                <a:spcPct val="90000"/>
              </a:lnSpc>
              <a:spcBef>
                <a:spcPct val="30000"/>
              </a:spcBef>
              <a:tabLst>
                <a:tab pos="2057400" algn="l"/>
                <a:tab pos="4572000" algn="l"/>
              </a:tabLst>
            </a:pPr>
            <a:r>
              <a:rPr lang="en-US" altLang="zh-CN" sz="1600" dirty="0">
                <a:latin typeface="宋体" panose="02000500000000000000" pitchFamily="2" charset="-122"/>
                <a:ea typeface="宋体" panose="02000500000000000000" pitchFamily="2" charset="-122"/>
              </a:rPr>
              <a:t>FP ALU op	Store double	1 </a:t>
            </a:r>
            <a:endParaRPr lang="en-US" altLang="zh-CN" sz="1600" dirty="0">
              <a:latin typeface="宋体" panose="02000500000000000000" pitchFamily="2" charset="-122"/>
              <a:ea typeface="宋体" panose="02000500000000000000" pitchFamily="2" charset="-122"/>
            </a:endParaRPr>
          </a:p>
          <a:p>
            <a:pPr defTabSz="914400">
              <a:lnSpc>
                <a:spcPct val="90000"/>
              </a:lnSpc>
              <a:spcBef>
                <a:spcPct val="30000"/>
              </a:spcBef>
              <a:tabLst>
                <a:tab pos="2057400" algn="l"/>
                <a:tab pos="4572000" algn="l"/>
              </a:tabLst>
            </a:pPr>
            <a:r>
              <a:rPr lang="en-US" altLang="zh-CN" sz="1600" dirty="0">
                <a:latin typeface="宋体" panose="02000500000000000000" pitchFamily="2" charset="-122"/>
                <a:ea typeface="宋体" panose="02000500000000000000" pitchFamily="2" charset="-122"/>
              </a:rPr>
              <a:t>Load double	Store double	0</a:t>
            </a:r>
            <a:endParaRPr lang="en-US" altLang="zh-CN" sz="1600" dirty="0">
              <a:latin typeface="宋体" panose="02000500000000000000" pitchFamily="2" charset="-122"/>
              <a:ea typeface="宋体" panose="02000500000000000000" pitchFamily="2" charset="-122"/>
            </a:endParaRPr>
          </a:p>
          <a:p>
            <a:pPr defTabSz="914400">
              <a:lnSpc>
                <a:spcPct val="90000"/>
              </a:lnSpc>
              <a:spcBef>
                <a:spcPct val="30000"/>
              </a:spcBef>
              <a:tabLst>
                <a:tab pos="2057400" algn="l"/>
                <a:tab pos="4572000" algn="l"/>
              </a:tabLst>
            </a:pPr>
            <a:r>
              <a:rPr lang="en-US" altLang="zh-CN" sz="1600" dirty="0">
                <a:latin typeface="宋体" panose="02000500000000000000" pitchFamily="2" charset="-122"/>
                <a:ea typeface="宋体" panose="02000500000000000000" pitchFamily="2" charset="-122"/>
              </a:rPr>
              <a:t>Integer op	Integer op	0</a:t>
            </a:r>
            <a:endParaRPr lang="en-US" altLang="zh-CN" sz="1600" dirty="0">
              <a:latin typeface="宋体" panose="02000500000000000000" pitchFamily="2" charset="-122"/>
              <a:ea typeface="宋体" panose="02000500000000000000"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Rectangle 2"/>
          <p:cNvSpPr/>
          <p:nvPr/>
        </p:nvSpPr>
        <p:spPr>
          <a:xfrm>
            <a:off x="896938" y="1866900"/>
            <a:ext cx="10404475" cy="2235200"/>
          </a:xfrm>
          <a:prstGeom prst="rect">
            <a:avLst/>
          </a:prstGeom>
          <a:noFill/>
          <a:ln w="12700">
            <a:noFill/>
          </a:ln>
        </p:spPr>
        <p:txBody>
          <a:bodyPr lIns="90487" tIns="44450" rIns="90487" bIns="44450" anchor="t" anchorCtr="0"/>
          <a:p>
            <a:pPr marL="285750" indent="-285750" defTabSz="914400">
              <a:lnSpc>
                <a:spcPct val="90000"/>
              </a:lnSpc>
              <a:spcBef>
                <a:spcPct val="30000"/>
              </a:spcBef>
              <a:tabLst>
                <a:tab pos="1200150" algn="l"/>
                <a:tab pos="2000250" algn="l"/>
                <a:tab pos="3371850" algn="l"/>
              </a:tabLst>
            </a:pPr>
            <a:r>
              <a:rPr lang="en-US" altLang="zh-CN" sz="1800" dirty="0">
                <a:latin typeface="宋体" panose="02000500000000000000" pitchFamily="2" charset="-122"/>
                <a:ea typeface="宋体" panose="02000500000000000000" pitchFamily="2" charset="-122"/>
              </a:rPr>
              <a:t> 1 Loop:	</a:t>
            </a:r>
            <a:r>
              <a:rPr lang="en-US" altLang="en-US" sz="1800" dirty="0">
                <a:latin typeface="宋体" panose="02000500000000000000" pitchFamily="2" charset="-122"/>
                <a:ea typeface="宋体" panose="02000500000000000000" pitchFamily="2" charset="-122"/>
                <a:sym typeface="宋体" panose="02000500000000000000" pitchFamily="2" charset="-122"/>
              </a:rPr>
              <a:t>fld.d</a:t>
            </a:r>
            <a:r>
              <a:rPr lang="en-US" altLang="zh-CN" sz="1800" dirty="0">
                <a:latin typeface="宋体" panose="02000500000000000000" pitchFamily="2" charset="-122"/>
                <a:ea typeface="宋体" panose="02000500000000000000" pitchFamily="2" charset="-122"/>
                <a:sym typeface="宋体" panose="02000500000000000000" pitchFamily="2" charset="-122"/>
              </a:rPr>
              <a:t>	</a:t>
            </a:r>
            <a:r>
              <a:rPr lang="en-US" altLang="en-US" sz="1800" dirty="0">
                <a:solidFill>
                  <a:srgbClr val="FF0000"/>
                </a:solidFill>
                <a:latin typeface="宋体" panose="02000500000000000000" pitchFamily="2" charset="-122"/>
                <a:ea typeface="宋体" panose="02000500000000000000" pitchFamily="2" charset="-122"/>
                <a:sym typeface="宋体" panose="02000500000000000000" pitchFamily="2" charset="-122"/>
              </a:rPr>
              <a:t>$f0</a:t>
            </a:r>
            <a:r>
              <a:rPr lang="en-US" altLang="zh-CN" sz="1800" dirty="0">
                <a:latin typeface="宋体" panose="02000500000000000000" pitchFamily="2" charset="-122"/>
                <a:ea typeface="宋体" panose="02000500000000000000" pitchFamily="2" charset="-122"/>
                <a:sym typeface="宋体" panose="02000500000000000000" pitchFamily="2" charset="-122"/>
              </a:rPr>
              <a:t>,</a:t>
            </a:r>
            <a:r>
              <a:rPr lang="en-US" altLang="en-US" sz="1800" dirty="0">
                <a:latin typeface="宋体" panose="02000500000000000000" pitchFamily="2" charset="-122"/>
                <a:ea typeface="宋体" panose="02000500000000000000" pitchFamily="2" charset="-122"/>
                <a:sym typeface="宋体" panose="02000500000000000000" pitchFamily="2" charset="-122"/>
              </a:rPr>
              <a:t>$r</a:t>
            </a:r>
            <a:r>
              <a:rPr lang="en-US" altLang="zh-CN" sz="1800" dirty="0">
                <a:latin typeface="宋体" panose="02000500000000000000" pitchFamily="2" charset="-122"/>
                <a:ea typeface="宋体" panose="02000500000000000000" pitchFamily="2" charset="-122"/>
                <a:sym typeface="宋体" panose="02000500000000000000" pitchFamily="2" charset="-122"/>
              </a:rPr>
              <a:t>1</a:t>
            </a:r>
            <a:r>
              <a:rPr lang="en-US" altLang="en-US" sz="1800" dirty="0">
                <a:latin typeface="宋体" panose="02000500000000000000" pitchFamily="2" charset="-122"/>
                <a:ea typeface="宋体" panose="02000500000000000000" pitchFamily="2" charset="-122"/>
                <a:sym typeface="宋体" panose="02000500000000000000" pitchFamily="2" charset="-122"/>
              </a:rPr>
              <a:t>,0</a:t>
            </a:r>
            <a:r>
              <a:rPr lang="en-US" altLang="zh-CN" sz="1800" dirty="0">
                <a:latin typeface="宋体" panose="02000500000000000000" pitchFamily="2" charset="-122"/>
                <a:ea typeface="宋体" panose="02000500000000000000" pitchFamily="2" charset="-122"/>
              </a:rPr>
              <a:t>	</a:t>
            </a:r>
            <a:endParaRPr lang="en-US" altLang="zh-CN" sz="1800" dirty="0">
              <a:latin typeface="宋体" panose="02000500000000000000" pitchFamily="2" charset="-122"/>
              <a:ea typeface="宋体" panose="02000500000000000000" pitchFamily="2" charset="-122"/>
            </a:endParaRPr>
          </a:p>
          <a:p>
            <a:pPr marL="285750" indent="-285750" defTabSz="914400">
              <a:lnSpc>
                <a:spcPct val="90000"/>
              </a:lnSpc>
              <a:spcBef>
                <a:spcPct val="30000"/>
              </a:spcBef>
              <a:tabLst>
                <a:tab pos="1200150" algn="l"/>
                <a:tab pos="2000250" algn="l"/>
                <a:tab pos="3371850" algn="l"/>
              </a:tabLst>
            </a:pPr>
            <a:r>
              <a:rPr lang="en-US" altLang="zh-CN" sz="1800" dirty="0">
                <a:latin typeface="宋体" panose="02000500000000000000" pitchFamily="2" charset="-122"/>
                <a:ea typeface="宋体" panose="02000500000000000000" pitchFamily="2" charset="-122"/>
              </a:rPr>
              <a:t> 2		</a:t>
            </a:r>
            <a:r>
              <a:rPr lang="en-US" altLang="zh-CN" sz="1800" dirty="0">
                <a:solidFill>
                  <a:srgbClr val="FF0000"/>
                </a:solidFill>
                <a:latin typeface="宋体" panose="02000500000000000000" pitchFamily="2" charset="-122"/>
                <a:ea typeface="宋体" panose="02000500000000000000" pitchFamily="2" charset="-122"/>
              </a:rPr>
              <a:t>stall</a:t>
            </a:r>
            <a:endParaRPr lang="en-US" altLang="zh-CN" sz="1800" dirty="0">
              <a:solidFill>
                <a:srgbClr val="FF0000"/>
              </a:solidFill>
              <a:latin typeface="宋体" panose="02000500000000000000" pitchFamily="2" charset="-122"/>
              <a:ea typeface="宋体" panose="02000500000000000000" pitchFamily="2" charset="-122"/>
            </a:endParaRPr>
          </a:p>
          <a:p>
            <a:pPr marL="285750" indent="-285750" defTabSz="914400">
              <a:lnSpc>
                <a:spcPct val="90000"/>
              </a:lnSpc>
              <a:spcBef>
                <a:spcPct val="30000"/>
              </a:spcBef>
              <a:tabLst>
                <a:tab pos="1200150" algn="l"/>
                <a:tab pos="2000250" algn="l"/>
                <a:tab pos="3371850" algn="l"/>
              </a:tabLst>
            </a:pPr>
            <a:r>
              <a:rPr lang="en-US" altLang="zh-CN" sz="1800" dirty="0">
                <a:latin typeface="宋体" panose="02000500000000000000" pitchFamily="2" charset="-122"/>
                <a:ea typeface="宋体" panose="02000500000000000000" pitchFamily="2" charset="-122"/>
              </a:rPr>
              <a:t> 3		</a:t>
            </a:r>
            <a:r>
              <a:rPr lang="en-US" altLang="zh-CN" sz="1800" dirty="0">
                <a:solidFill>
                  <a:srgbClr val="FF0000"/>
                </a:solidFill>
                <a:latin typeface="宋体" panose="02000500000000000000" pitchFamily="2" charset="-122"/>
                <a:ea typeface="宋体" panose="02000500000000000000" pitchFamily="2" charset="-122"/>
              </a:rPr>
              <a:t>stall</a:t>
            </a:r>
            <a:r>
              <a:rPr lang="en-US" altLang="zh-CN" sz="1800" dirty="0">
                <a:latin typeface="宋体" panose="02000500000000000000" pitchFamily="2" charset="-122"/>
                <a:ea typeface="宋体" panose="02000500000000000000" pitchFamily="2" charset="-122"/>
              </a:rPr>
              <a:t>	</a:t>
            </a:r>
            <a:endParaRPr lang="en-US" altLang="zh-CN" sz="1800" dirty="0">
              <a:latin typeface="宋体" panose="02000500000000000000" pitchFamily="2" charset="-122"/>
              <a:ea typeface="宋体" panose="02000500000000000000" pitchFamily="2" charset="-122"/>
            </a:endParaRPr>
          </a:p>
          <a:p>
            <a:pPr marL="285750" indent="-285750" defTabSz="914400">
              <a:lnSpc>
                <a:spcPct val="90000"/>
              </a:lnSpc>
              <a:spcBef>
                <a:spcPct val="30000"/>
              </a:spcBef>
              <a:tabLst>
                <a:tab pos="1200150" algn="l"/>
                <a:tab pos="2000250" algn="l"/>
                <a:tab pos="3371850" algn="l"/>
              </a:tabLst>
            </a:pPr>
            <a:r>
              <a:rPr lang="en-US" altLang="zh-CN" sz="1800" dirty="0">
                <a:latin typeface="宋体" panose="02000500000000000000" pitchFamily="2" charset="-122"/>
                <a:ea typeface="宋体" panose="02000500000000000000" pitchFamily="2" charset="-122"/>
              </a:rPr>
              <a:t> 4		</a:t>
            </a:r>
            <a:r>
              <a:rPr lang="en-US" altLang="en-US" sz="1800" dirty="0">
                <a:latin typeface="宋体" panose="02000500000000000000" pitchFamily="2" charset="-122"/>
                <a:ea typeface="宋体" panose="02000500000000000000" pitchFamily="2" charset="-122"/>
                <a:sym typeface="宋体" panose="02000500000000000000" pitchFamily="2" charset="-122"/>
              </a:rPr>
              <a:t>fadd.d</a:t>
            </a:r>
            <a:r>
              <a:rPr lang="en-US" altLang="zh-CN" sz="1800" dirty="0">
                <a:latin typeface="宋体" panose="02000500000000000000" pitchFamily="2" charset="-122"/>
                <a:ea typeface="宋体" panose="02000500000000000000" pitchFamily="2" charset="-122"/>
                <a:sym typeface="宋体" panose="02000500000000000000" pitchFamily="2" charset="-122"/>
              </a:rPr>
              <a:t>	</a:t>
            </a:r>
            <a:r>
              <a:rPr lang="en-US" altLang="en-US" sz="1800" dirty="0">
                <a:solidFill>
                  <a:schemeClr val="accent2"/>
                </a:solidFill>
                <a:latin typeface="宋体" panose="02000500000000000000" pitchFamily="2" charset="-122"/>
                <a:ea typeface="宋体" panose="02000500000000000000" pitchFamily="2" charset="-122"/>
                <a:sym typeface="宋体" panose="02000500000000000000" pitchFamily="2" charset="-122"/>
              </a:rPr>
              <a:t>$f4</a:t>
            </a:r>
            <a:r>
              <a:rPr lang="en-US" altLang="zh-CN" sz="1800" dirty="0">
                <a:latin typeface="宋体" panose="02000500000000000000" pitchFamily="2" charset="-122"/>
                <a:ea typeface="宋体" panose="02000500000000000000" pitchFamily="2" charset="-122"/>
                <a:sym typeface="宋体" panose="02000500000000000000" pitchFamily="2" charset="-122"/>
              </a:rPr>
              <a:t>,</a:t>
            </a:r>
            <a:r>
              <a:rPr lang="en-US" altLang="en-US" sz="1800" dirty="0">
                <a:solidFill>
                  <a:srgbClr val="FF0000"/>
                </a:solidFill>
                <a:latin typeface="宋体" panose="02000500000000000000" pitchFamily="2" charset="-122"/>
                <a:ea typeface="宋体" panose="02000500000000000000" pitchFamily="2" charset="-122"/>
                <a:sym typeface="宋体" panose="02000500000000000000" pitchFamily="2" charset="-122"/>
              </a:rPr>
              <a:t>$f0</a:t>
            </a:r>
            <a:r>
              <a:rPr lang="en-US" altLang="zh-CN" sz="1800" dirty="0">
                <a:latin typeface="宋体" panose="02000500000000000000" pitchFamily="2" charset="-122"/>
                <a:ea typeface="宋体" panose="02000500000000000000" pitchFamily="2" charset="-122"/>
                <a:sym typeface="宋体" panose="02000500000000000000" pitchFamily="2" charset="-122"/>
              </a:rPr>
              <a:t>,</a:t>
            </a:r>
            <a:r>
              <a:rPr lang="en-US" altLang="en-US" sz="1800" dirty="0">
                <a:latin typeface="宋体" panose="02000500000000000000" pitchFamily="2" charset="-122"/>
                <a:ea typeface="宋体" panose="02000500000000000000" pitchFamily="2" charset="-122"/>
                <a:sym typeface="宋体" panose="02000500000000000000" pitchFamily="2" charset="-122"/>
              </a:rPr>
              <a:t>$f2</a:t>
            </a:r>
            <a:r>
              <a:rPr lang="en-US" altLang="zh-CN" sz="1800" dirty="0">
                <a:latin typeface="宋体" panose="02000500000000000000" pitchFamily="2" charset="-122"/>
                <a:ea typeface="宋体" panose="02000500000000000000" pitchFamily="2" charset="-122"/>
              </a:rPr>
              <a:t>	</a:t>
            </a:r>
            <a:endParaRPr lang="en-US" altLang="zh-CN" sz="1800" dirty="0">
              <a:latin typeface="宋体" panose="02000500000000000000" pitchFamily="2" charset="-122"/>
              <a:ea typeface="宋体" panose="02000500000000000000" pitchFamily="2" charset="-122"/>
            </a:endParaRPr>
          </a:p>
          <a:p>
            <a:pPr marL="285750" indent="-285750" defTabSz="914400">
              <a:lnSpc>
                <a:spcPct val="90000"/>
              </a:lnSpc>
              <a:spcBef>
                <a:spcPct val="30000"/>
              </a:spcBef>
              <a:tabLst>
                <a:tab pos="1200150" algn="l"/>
                <a:tab pos="2000250" algn="l"/>
                <a:tab pos="3371850" algn="l"/>
              </a:tabLst>
            </a:pPr>
            <a:r>
              <a:rPr lang="en-US" altLang="zh-CN" sz="1800" dirty="0">
                <a:latin typeface="宋体" panose="02000500000000000000" pitchFamily="2" charset="-122"/>
                <a:ea typeface="宋体" panose="02000500000000000000" pitchFamily="2" charset="-122"/>
              </a:rPr>
              <a:t> 5		</a:t>
            </a:r>
            <a:r>
              <a:rPr lang="en-US" altLang="en-US" sz="1800" dirty="0">
                <a:latin typeface="宋体" panose="02000500000000000000" pitchFamily="2" charset="-122"/>
                <a:ea typeface="宋体" panose="02000500000000000000" pitchFamily="2" charset="-122"/>
                <a:sym typeface="宋体" panose="02000500000000000000" pitchFamily="2" charset="-122"/>
              </a:rPr>
              <a:t>addi.d</a:t>
            </a:r>
            <a:r>
              <a:rPr lang="en-US" altLang="zh-CN" sz="1800" dirty="0">
                <a:latin typeface="宋体" panose="02000500000000000000" pitchFamily="2" charset="-122"/>
                <a:ea typeface="宋体" panose="02000500000000000000" pitchFamily="2" charset="-122"/>
                <a:sym typeface="宋体" panose="02000500000000000000" pitchFamily="2" charset="-122"/>
              </a:rPr>
              <a:t>	</a:t>
            </a:r>
            <a:r>
              <a:rPr lang="en-US" altLang="en-US" sz="1800" dirty="0">
                <a:latin typeface="宋体" panose="02000500000000000000" pitchFamily="2" charset="-122"/>
                <a:ea typeface="宋体" panose="02000500000000000000" pitchFamily="2" charset="-122"/>
                <a:sym typeface="宋体" panose="02000500000000000000" pitchFamily="2" charset="-122"/>
              </a:rPr>
              <a:t>$r1</a:t>
            </a:r>
            <a:r>
              <a:rPr lang="en-US" altLang="zh-CN" sz="1800" dirty="0">
                <a:latin typeface="宋体" panose="02000500000000000000" pitchFamily="2" charset="-122"/>
                <a:ea typeface="宋体" panose="02000500000000000000" pitchFamily="2" charset="-122"/>
                <a:sym typeface="宋体" panose="02000500000000000000" pitchFamily="2" charset="-122"/>
              </a:rPr>
              <a:t>,</a:t>
            </a:r>
            <a:r>
              <a:rPr lang="en-US" altLang="en-US" sz="1800" dirty="0">
                <a:latin typeface="宋体" panose="02000500000000000000" pitchFamily="2" charset="-122"/>
                <a:ea typeface="宋体" panose="02000500000000000000" pitchFamily="2" charset="-122"/>
                <a:sym typeface="宋体" panose="02000500000000000000" pitchFamily="2" charset="-122"/>
              </a:rPr>
              <a:t>$r1</a:t>
            </a:r>
            <a:r>
              <a:rPr lang="en-US" altLang="zh-CN" sz="1800" dirty="0">
                <a:latin typeface="宋体" panose="02000500000000000000" pitchFamily="2" charset="-122"/>
                <a:ea typeface="宋体" panose="02000500000000000000" pitchFamily="2" charset="-122"/>
                <a:sym typeface="宋体" panose="02000500000000000000" pitchFamily="2" charset="-122"/>
              </a:rPr>
              <a:t>,</a:t>
            </a:r>
            <a:r>
              <a:rPr lang="en-US" altLang="en-US" sz="1800" dirty="0">
                <a:latin typeface="宋体" panose="02000500000000000000" pitchFamily="2" charset="-122"/>
                <a:ea typeface="宋体" panose="02000500000000000000" pitchFamily="2" charset="-122"/>
                <a:sym typeface="宋体" panose="02000500000000000000" pitchFamily="2" charset="-122"/>
              </a:rPr>
              <a:t>-</a:t>
            </a:r>
            <a:r>
              <a:rPr lang="en-US" altLang="zh-CN" sz="1800" dirty="0">
                <a:latin typeface="宋体" panose="02000500000000000000" pitchFamily="2" charset="-122"/>
                <a:ea typeface="宋体" panose="02000500000000000000" pitchFamily="2" charset="-122"/>
                <a:sym typeface="宋体" panose="02000500000000000000" pitchFamily="2" charset="-122"/>
              </a:rPr>
              <a:t>8</a:t>
            </a:r>
            <a:r>
              <a:rPr lang="en-US" altLang="zh-CN" sz="1800" dirty="0">
                <a:latin typeface="宋体" panose="02000500000000000000" pitchFamily="2" charset="-122"/>
                <a:ea typeface="宋体" panose="02000500000000000000" pitchFamily="2" charset="-122"/>
              </a:rPr>
              <a:t>	</a:t>
            </a:r>
            <a:endParaRPr lang="en-US" altLang="zh-CN" sz="1800" dirty="0">
              <a:latin typeface="宋体" panose="02000500000000000000" pitchFamily="2" charset="-122"/>
              <a:ea typeface="宋体" panose="02000500000000000000" pitchFamily="2" charset="-122"/>
            </a:endParaRPr>
          </a:p>
          <a:p>
            <a:pPr marL="285750" indent="-285750" defTabSz="914400">
              <a:lnSpc>
                <a:spcPct val="90000"/>
              </a:lnSpc>
              <a:spcBef>
                <a:spcPct val="30000"/>
              </a:spcBef>
              <a:tabLst>
                <a:tab pos="1200150" algn="l"/>
                <a:tab pos="2000250" algn="l"/>
                <a:tab pos="3371850" algn="l"/>
              </a:tabLst>
            </a:pPr>
            <a:r>
              <a:rPr lang="en-US" altLang="zh-CN" sz="1800" dirty="0">
                <a:latin typeface="宋体" panose="02000500000000000000" pitchFamily="2" charset="-122"/>
                <a:ea typeface="宋体" panose="02000500000000000000" pitchFamily="2" charset="-122"/>
              </a:rPr>
              <a:t> 6		</a:t>
            </a:r>
            <a:r>
              <a:rPr lang="en-US" altLang="en-US" sz="1800" dirty="0">
                <a:latin typeface="宋体" panose="02000500000000000000" pitchFamily="2" charset="-122"/>
                <a:ea typeface="宋体" panose="02000500000000000000" pitchFamily="2" charset="-122"/>
                <a:sym typeface="宋体" panose="02000500000000000000" pitchFamily="2" charset="-122"/>
              </a:rPr>
              <a:t>fst.d</a:t>
            </a:r>
            <a:r>
              <a:rPr lang="en-US" altLang="zh-CN" sz="1800" dirty="0">
                <a:latin typeface="宋体" panose="02000500000000000000" pitchFamily="2" charset="-122"/>
                <a:ea typeface="宋体" panose="02000500000000000000" pitchFamily="2" charset="-122"/>
                <a:sym typeface="宋体" panose="02000500000000000000" pitchFamily="2" charset="-122"/>
              </a:rPr>
              <a:t>	</a:t>
            </a:r>
            <a:r>
              <a:rPr lang="en-US" altLang="en-US" sz="1800" dirty="0">
                <a:solidFill>
                  <a:schemeClr val="accent2"/>
                </a:solidFill>
                <a:latin typeface="宋体" panose="02000500000000000000" pitchFamily="2" charset="-122"/>
                <a:ea typeface="宋体" panose="02000500000000000000" pitchFamily="2" charset="-122"/>
                <a:sym typeface="宋体" panose="02000500000000000000" pitchFamily="2" charset="-122"/>
              </a:rPr>
              <a:t>$f4</a:t>
            </a:r>
            <a:r>
              <a:rPr lang="en-US" altLang="zh-CN" sz="1800" dirty="0">
                <a:latin typeface="宋体" panose="02000500000000000000" pitchFamily="2" charset="-122"/>
                <a:ea typeface="宋体" panose="02000500000000000000" pitchFamily="2" charset="-122"/>
                <a:sym typeface="宋体" panose="02000500000000000000" pitchFamily="2" charset="-122"/>
              </a:rPr>
              <a:t>,</a:t>
            </a:r>
            <a:r>
              <a:rPr lang="en-US" altLang="en-US" sz="1800" dirty="0">
                <a:latin typeface="宋体" panose="02000500000000000000" pitchFamily="2" charset="-122"/>
                <a:ea typeface="宋体" panose="02000500000000000000" pitchFamily="2" charset="-122"/>
                <a:sym typeface="宋体" panose="02000500000000000000" pitchFamily="2" charset="-122"/>
              </a:rPr>
              <a:t>$r2,8	</a:t>
            </a:r>
            <a:endParaRPr lang="en-US" altLang="zh-CN" sz="1800" dirty="0">
              <a:latin typeface="宋体" panose="02000500000000000000" pitchFamily="2" charset="-122"/>
              <a:ea typeface="宋体" panose="02000500000000000000" pitchFamily="2" charset="-122"/>
            </a:endParaRPr>
          </a:p>
          <a:p>
            <a:pPr marL="285750" indent="-285750" defTabSz="914400">
              <a:lnSpc>
                <a:spcPct val="90000"/>
              </a:lnSpc>
              <a:spcBef>
                <a:spcPct val="30000"/>
              </a:spcBef>
              <a:tabLst>
                <a:tab pos="1200150" algn="l"/>
                <a:tab pos="2000250" algn="l"/>
                <a:tab pos="3371850" algn="l"/>
              </a:tabLst>
            </a:pPr>
            <a:r>
              <a:rPr lang="en-US" altLang="zh-CN" sz="1800" dirty="0">
                <a:latin typeface="宋体" panose="02000500000000000000" pitchFamily="2" charset="-122"/>
                <a:ea typeface="宋体" panose="02000500000000000000" pitchFamily="2" charset="-122"/>
              </a:rPr>
              <a:t> 7 	</a:t>
            </a:r>
            <a:r>
              <a:rPr lang="en-US" altLang="en-US" sz="1800" dirty="0">
                <a:latin typeface="宋体" panose="02000500000000000000" pitchFamily="2" charset="-122"/>
                <a:ea typeface="宋体" panose="02000500000000000000" pitchFamily="2" charset="-122"/>
                <a:sym typeface="宋体" panose="02000500000000000000" pitchFamily="2" charset="-122"/>
              </a:rPr>
              <a:t>bnez</a:t>
            </a:r>
            <a:r>
              <a:rPr lang="en-US" altLang="zh-CN" sz="1800" dirty="0">
                <a:latin typeface="宋体" panose="02000500000000000000" pitchFamily="2" charset="-122"/>
                <a:ea typeface="宋体" panose="02000500000000000000" pitchFamily="2" charset="-122"/>
                <a:sym typeface="宋体" panose="02000500000000000000" pitchFamily="2" charset="-122"/>
              </a:rPr>
              <a:t>	</a:t>
            </a:r>
            <a:r>
              <a:rPr lang="en-US" altLang="en-US" sz="1800" dirty="0">
                <a:latin typeface="宋体" panose="02000500000000000000" pitchFamily="2" charset="-122"/>
                <a:ea typeface="宋体" panose="02000500000000000000" pitchFamily="2" charset="-122"/>
                <a:sym typeface="宋体" panose="02000500000000000000" pitchFamily="2" charset="-122"/>
              </a:rPr>
              <a:t>$r1</a:t>
            </a:r>
            <a:r>
              <a:rPr lang="en-US" altLang="zh-CN" sz="1800" dirty="0">
                <a:latin typeface="宋体" panose="02000500000000000000" pitchFamily="2" charset="-122"/>
                <a:ea typeface="宋体" panose="02000500000000000000" pitchFamily="2" charset="-122"/>
                <a:sym typeface="宋体" panose="02000500000000000000" pitchFamily="2" charset="-122"/>
              </a:rPr>
              <a:t>,Loop</a:t>
            </a:r>
            <a:r>
              <a:rPr lang="en-US" altLang="zh-CN" sz="1800" dirty="0">
                <a:latin typeface="宋体" panose="02000500000000000000" pitchFamily="2" charset="-122"/>
                <a:ea typeface="宋体" panose="02000500000000000000" pitchFamily="2" charset="-122"/>
              </a:rPr>
              <a:t>	</a:t>
            </a:r>
            <a:endParaRPr lang="en-US" altLang="zh-CN" sz="1800" dirty="0">
              <a:solidFill>
                <a:srgbClr val="FF0000"/>
              </a:solidFill>
              <a:latin typeface="宋体" panose="02000500000000000000" pitchFamily="2" charset="-122"/>
              <a:ea typeface="宋体" panose="02000500000000000000" pitchFamily="2" charset="-122"/>
            </a:endParaRPr>
          </a:p>
        </p:txBody>
      </p:sp>
      <p:sp>
        <p:nvSpPr>
          <p:cNvPr id="88067" name="Rectangle 3"/>
          <p:cNvSpPr>
            <a:spLocks noChangeArrowheads="1"/>
          </p:cNvSpPr>
          <p:nvPr/>
        </p:nvSpPr>
        <p:spPr bwMode="auto">
          <a:xfrm>
            <a:off x="812800" y="381000"/>
            <a:ext cx="10361613" cy="1143000"/>
          </a:xfrm>
          <a:prstGeom prst="rect">
            <a:avLst/>
          </a:prstGeom>
          <a:noFill/>
          <a:ln w="9525">
            <a:noFill/>
            <a:miter lim="800000"/>
          </a:ln>
        </p:spPr>
        <p:txBody>
          <a:bodyPr/>
          <a:lstStyle/>
          <a:p>
            <a:pPr marL="342900" marR="0" lvl="0" indent="-342900" algn="l" defTabSz="914400" rtl="0" eaLnBrk="1" fontAlgn="base" latinLnBrk="0" hangingPunct="1">
              <a:lnSpc>
                <a:spcPct val="150000"/>
              </a:lnSpc>
              <a:spcBef>
                <a:spcPts val="600"/>
              </a:spcBef>
              <a:spcAft>
                <a:spcPct val="0"/>
              </a:spcAft>
              <a:buClrTx/>
              <a:buSzTx/>
              <a:buFontTx/>
              <a:buChar char="•"/>
              <a:defRPr/>
            </a:pPr>
            <a:r>
              <a:rPr kumimoji="1" lang="zh-CN" altLang="en-US" sz="2000" b="1" i="0" u="none" strike="noStrike" kern="1200" cap="none" spc="0" normalizeH="0" baseline="0" noProof="0" dirty="0">
                <a:ln>
                  <a:noFill/>
                </a:ln>
                <a:solidFill>
                  <a:schemeClr val="tx1"/>
                </a:solidFill>
                <a:effectLst/>
                <a:uLnTx/>
                <a:uFillTx/>
                <a:latin typeface="+mn-ea"/>
                <a:ea typeface="+mn-ea"/>
                <a:cs typeface="+mn-cs"/>
              </a:rPr>
              <a:t>改变指令次序每次循环需要</a:t>
            </a:r>
            <a:r>
              <a:rPr kumimoji="1" lang="en-US" altLang="en-US" sz="2000" b="1" i="0" u="none" strike="noStrike" kern="1200" cap="none" spc="0" normalizeH="0" baseline="0" noProof="0" dirty="0">
                <a:ln>
                  <a:noFill/>
                </a:ln>
                <a:solidFill>
                  <a:schemeClr val="tx1"/>
                </a:solidFill>
                <a:effectLst/>
                <a:uLnTx/>
                <a:uFillTx/>
                <a:latin typeface="+mn-ea"/>
                <a:ea typeface="+mn-ea"/>
                <a:cs typeface="+mn-cs"/>
              </a:rPr>
              <a:t>7</a:t>
            </a:r>
            <a:r>
              <a:rPr kumimoji="1" lang="zh-CN" altLang="en-US" sz="2000" b="1" i="0" u="none" strike="noStrike" kern="1200" cap="none" spc="0" normalizeH="0" baseline="0" noProof="0" dirty="0">
                <a:ln>
                  <a:noFill/>
                </a:ln>
                <a:solidFill>
                  <a:schemeClr val="tx1"/>
                </a:solidFill>
                <a:effectLst/>
                <a:uLnTx/>
                <a:uFillTx/>
                <a:latin typeface="+mn-ea"/>
                <a:ea typeface="+mn-ea"/>
                <a:cs typeface="+mn-cs"/>
              </a:rPr>
              <a:t>拍</a:t>
            </a:r>
            <a:endParaRPr kumimoji="1" lang="zh-CN" altLang="en-US" sz="20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zh-CN" altLang="en-US" sz="1800" b="1" i="0" u="none" strike="noStrike" kern="1200" cap="none" spc="0" normalizeH="0" baseline="0" noProof="0" dirty="0">
                <a:ln>
                  <a:noFill/>
                </a:ln>
                <a:solidFill>
                  <a:schemeClr val="tx1"/>
                </a:solidFill>
                <a:effectLst/>
                <a:uLnTx/>
                <a:uFillTx/>
                <a:latin typeface="+mn-ea"/>
                <a:ea typeface="+mn-ea"/>
                <a:cs typeface="+mn-cs"/>
              </a:rPr>
              <a:t>注意</a:t>
            </a:r>
            <a:r>
              <a:rPr kumimoji="1" lang="en-US" altLang="zh-CN" sz="1800" b="1" i="0" u="none" strike="noStrike" kern="1200" cap="none" spc="0" normalizeH="0" baseline="0" noProof="0" dirty="0">
                <a:ln>
                  <a:noFill/>
                </a:ln>
                <a:solidFill>
                  <a:schemeClr val="tx1"/>
                </a:solidFill>
                <a:effectLst/>
                <a:uLnTx/>
                <a:uFillTx/>
                <a:latin typeface="+mn-ea"/>
                <a:ea typeface="+mn-ea"/>
                <a:cs typeface="+mn-cs"/>
              </a:rPr>
              <a:t>fst.d</a:t>
            </a:r>
            <a:r>
              <a:rPr kumimoji="1" lang="zh-CN" altLang="en-US" sz="1800" b="1" i="0" u="none" strike="noStrike" kern="1200" cap="none" spc="0" normalizeH="0" baseline="0" noProof="0" dirty="0">
                <a:ln>
                  <a:noFill/>
                </a:ln>
                <a:solidFill>
                  <a:schemeClr val="tx1"/>
                </a:solidFill>
                <a:effectLst/>
                <a:uLnTx/>
                <a:uFillTx/>
                <a:latin typeface="+mn-ea"/>
                <a:ea typeface="+mn-ea"/>
                <a:cs typeface="+mn-cs"/>
              </a:rPr>
              <a:t>指令位置调整后其偏移量的变化</a:t>
            </a:r>
            <a:endParaRPr kumimoji="1" lang="zh-CN" altLang="en-US" sz="1800" b="1" i="0" u="none" strike="noStrike" kern="1200" cap="none" spc="0" normalizeH="0" baseline="0" noProof="0" dirty="0">
              <a:ln>
                <a:noFill/>
              </a:ln>
              <a:solidFill>
                <a:schemeClr val="tx1"/>
              </a:solidFill>
              <a:effectLst/>
              <a:uLnTx/>
              <a:uFillTx/>
              <a:latin typeface="+mn-ea"/>
              <a:ea typeface="+mn-ea"/>
              <a:cs typeface="+mn-cs"/>
            </a:endParaRPr>
          </a:p>
        </p:txBody>
      </p:sp>
      <p:sp>
        <p:nvSpPr>
          <p:cNvPr id="16387" name="灯片编号占位符 6"/>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fld id="{9A0DB2DC-4C9A-4742-B13C-FB6460FD3503}" type="slidenum">
              <a:rPr lang="en-US" altLang="zh-CN" sz="1400" dirty="0"/>
            </a:fld>
            <a:endParaRPr lang="en-US" altLang="zh-CN" sz="1400" dirty="0"/>
          </a:p>
        </p:txBody>
      </p:sp>
      <p:sp>
        <p:nvSpPr>
          <p:cNvPr id="16388" name="Rectangle 4"/>
          <p:cNvSpPr/>
          <p:nvPr/>
        </p:nvSpPr>
        <p:spPr>
          <a:xfrm>
            <a:off x="2087563" y="4625975"/>
            <a:ext cx="6126162" cy="1968500"/>
          </a:xfrm>
          <a:prstGeom prst="rect">
            <a:avLst/>
          </a:prstGeom>
          <a:solidFill>
            <a:srgbClr val="F2F2F2"/>
          </a:solidFill>
          <a:ln w="12700">
            <a:noFill/>
          </a:ln>
        </p:spPr>
        <p:txBody>
          <a:bodyPr lIns="90487" tIns="44450" rIns="90487" bIns="44450" anchor="t" anchorCtr="0"/>
          <a:p>
            <a:pPr defTabSz="914400">
              <a:lnSpc>
                <a:spcPct val="90000"/>
              </a:lnSpc>
              <a:spcBef>
                <a:spcPct val="30000"/>
              </a:spcBef>
              <a:tabLst>
                <a:tab pos="2057400" algn="l"/>
                <a:tab pos="4572000" algn="l"/>
              </a:tabLst>
            </a:pPr>
            <a:r>
              <a:rPr lang="en-US" altLang="zh-CN" sz="1600" dirty="0">
                <a:solidFill>
                  <a:schemeClr val="accent2"/>
                </a:solidFill>
                <a:latin typeface="黑体" panose="02000500000000000000" pitchFamily="49" charset="-122"/>
                <a:ea typeface="黑体" panose="02000500000000000000" pitchFamily="49" charset="-122"/>
              </a:rPr>
              <a:t>Instruction	Instruction	Latency in</a:t>
            </a:r>
            <a:br>
              <a:rPr lang="en-US" altLang="zh-CN" sz="1600" dirty="0">
                <a:solidFill>
                  <a:schemeClr val="accent2"/>
                </a:solidFill>
                <a:latin typeface="黑体" panose="02000500000000000000" pitchFamily="49" charset="-122"/>
                <a:ea typeface="黑体" panose="02000500000000000000" pitchFamily="49" charset="-122"/>
              </a:rPr>
            </a:br>
            <a:r>
              <a:rPr lang="en-US" altLang="zh-CN" sz="1600" dirty="0">
                <a:solidFill>
                  <a:schemeClr val="accent2"/>
                </a:solidFill>
                <a:latin typeface="黑体" panose="02000500000000000000" pitchFamily="49" charset="-122"/>
                <a:ea typeface="黑体" panose="02000500000000000000" pitchFamily="49" charset="-122"/>
              </a:rPr>
              <a:t>producing result	using result 	clock cycles</a:t>
            </a:r>
            <a:endParaRPr lang="en-US" altLang="zh-CN" sz="1600" dirty="0">
              <a:solidFill>
                <a:schemeClr val="accent2"/>
              </a:solidFill>
              <a:latin typeface="黑体" panose="02000500000000000000" pitchFamily="49" charset="-122"/>
              <a:ea typeface="黑体" panose="02000500000000000000" pitchFamily="49" charset="-122"/>
            </a:endParaRPr>
          </a:p>
          <a:p>
            <a:pPr defTabSz="914400">
              <a:lnSpc>
                <a:spcPct val="90000"/>
              </a:lnSpc>
              <a:spcBef>
                <a:spcPct val="30000"/>
              </a:spcBef>
              <a:tabLst>
                <a:tab pos="2057400" algn="l"/>
                <a:tab pos="4572000" algn="l"/>
              </a:tabLst>
            </a:pPr>
            <a:r>
              <a:rPr lang="en-US" altLang="zh-CN" sz="1600" dirty="0">
                <a:latin typeface="宋体" panose="02000500000000000000" pitchFamily="2" charset="-122"/>
                <a:ea typeface="宋体" panose="02000500000000000000" pitchFamily="2" charset="-122"/>
              </a:rPr>
              <a:t>FP ALU op	Another FP ALU op	3</a:t>
            </a:r>
            <a:endParaRPr lang="en-US" altLang="zh-CN" sz="1600" dirty="0">
              <a:latin typeface="宋体" panose="02000500000000000000" pitchFamily="2" charset="-122"/>
              <a:ea typeface="宋体" panose="02000500000000000000" pitchFamily="2" charset="-122"/>
            </a:endParaRPr>
          </a:p>
          <a:p>
            <a:pPr defTabSz="914400">
              <a:lnSpc>
                <a:spcPct val="90000"/>
              </a:lnSpc>
              <a:spcBef>
                <a:spcPct val="30000"/>
              </a:spcBef>
              <a:tabLst>
                <a:tab pos="2057400" algn="l"/>
                <a:tab pos="4572000" algn="l"/>
              </a:tabLst>
            </a:pPr>
            <a:r>
              <a:rPr lang="en-US" altLang="zh-CN" sz="1600" dirty="0">
                <a:latin typeface="宋体" panose="02000500000000000000" pitchFamily="2" charset="-122"/>
                <a:ea typeface="宋体" panose="02000500000000000000" pitchFamily="2" charset="-122"/>
              </a:rPr>
              <a:t>Load double	FP ALU op	2</a:t>
            </a:r>
            <a:endParaRPr lang="en-US" altLang="zh-CN" sz="1600" dirty="0">
              <a:latin typeface="宋体" panose="02000500000000000000" pitchFamily="2" charset="-122"/>
              <a:ea typeface="宋体" panose="02000500000000000000" pitchFamily="2" charset="-122"/>
            </a:endParaRPr>
          </a:p>
          <a:p>
            <a:pPr defTabSz="914400">
              <a:lnSpc>
                <a:spcPct val="90000"/>
              </a:lnSpc>
              <a:spcBef>
                <a:spcPct val="30000"/>
              </a:spcBef>
              <a:tabLst>
                <a:tab pos="2057400" algn="l"/>
                <a:tab pos="4572000" algn="l"/>
              </a:tabLst>
            </a:pPr>
            <a:r>
              <a:rPr lang="en-US" altLang="zh-CN" sz="1600" dirty="0">
                <a:latin typeface="宋体" panose="02000500000000000000" pitchFamily="2" charset="-122"/>
                <a:ea typeface="宋体" panose="02000500000000000000" pitchFamily="2" charset="-122"/>
              </a:rPr>
              <a:t>FP ALU op	Store double	1 </a:t>
            </a:r>
            <a:endParaRPr lang="en-US" altLang="zh-CN" sz="1600" dirty="0">
              <a:latin typeface="宋体" panose="02000500000000000000" pitchFamily="2" charset="-122"/>
              <a:ea typeface="宋体" panose="02000500000000000000" pitchFamily="2" charset="-122"/>
            </a:endParaRPr>
          </a:p>
          <a:p>
            <a:pPr defTabSz="914400">
              <a:lnSpc>
                <a:spcPct val="90000"/>
              </a:lnSpc>
              <a:spcBef>
                <a:spcPct val="30000"/>
              </a:spcBef>
              <a:tabLst>
                <a:tab pos="2057400" algn="l"/>
                <a:tab pos="4572000" algn="l"/>
              </a:tabLst>
            </a:pPr>
            <a:r>
              <a:rPr lang="en-US" altLang="zh-CN" sz="1600" dirty="0">
                <a:latin typeface="宋体" panose="02000500000000000000" pitchFamily="2" charset="-122"/>
                <a:ea typeface="宋体" panose="02000500000000000000" pitchFamily="2" charset="-122"/>
              </a:rPr>
              <a:t>Load double	Store double	0</a:t>
            </a:r>
            <a:endParaRPr lang="en-US" altLang="zh-CN" sz="1600" dirty="0">
              <a:latin typeface="宋体" panose="02000500000000000000" pitchFamily="2" charset="-122"/>
              <a:ea typeface="宋体" panose="02000500000000000000" pitchFamily="2" charset="-122"/>
            </a:endParaRPr>
          </a:p>
          <a:p>
            <a:pPr defTabSz="914400">
              <a:lnSpc>
                <a:spcPct val="90000"/>
              </a:lnSpc>
              <a:spcBef>
                <a:spcPct val="30000"/>
              </a:spcBef>
              <a:tabLst>
                <a:tab pos="2057400" algn="l"/>
                <a:tab pos="4572000" algn="l"/>
              </a:tabLst>
            </a:pPr>
            <a:r>
              <a:rPr lang="en-US" altLang="zh-CN" sz="1600" dirty="0">
                <a:latin typeface="宋体" panose="02000500000000000000" pitchFamily="2" charset="-122"/>
                <a:ea typeface="宋体" panose="02000500000000000000" pitchFamily="2" charset="-122"/>
              </a:rPr>
              <a:t>Integer op	Integer op	0</a:t>
            </a:r>
            <a:endParaRPr lang="en-US" altLang="zh-CN" sz="1600" dirty="0">
              <a:latin typeface="宋体" panose="02000500000000000000" pitchFamily="2" charset="-122"/>
              <a:ea typeface="宋体" panose="02000500000000000000"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Rectangle 2"/>
          <p:cNvSpPr/>
          <p:nvPr/>
        </p:nvSpPr>
        <p:spPr>
          <a:xfrm>
            <a:off x="793750" y="1747838"/>
            <a:ext cx="10602913" cy="3967162"/>
          </a:xfrm>
          <a:prstGeom prst="rect">
            <a:avLst/>
          </a:prstGeom>
          <a:noFill/>
          <a:ln w="12700">
            <a:noFill/>
          </a:ln>
        </p:spPr>
        <p:txBody>
          <a:bodyPr lIns="90487" tIns="44450" rIns="90487" bIns="44450" anchor="t" anchorCtr="0">
            <a:spAutoFit/>
          </a:bodyPr>
          <a:p>
            <a:pPr defTabSz="914400">
              <a:tabLst>
                <a:tab pos="971550" algn="l"/>
                <a:tab pos="2059305" algn="l"/>
                <a:tab pos="3657600" algn="l"/>
              </a:tabLst>
            </a:pPr>
            <a:r>
              <a:rPr lang="en-US" altLang="zh-CN" sz="1800" dirty="0">
                <a:latin typeface="宋体" panose="02000500000000000000" pitchFamily="2" charset="-122"/>
                <a:ea typeface="宋体" panose="02000500000000000000" pitchFamily="2" charset="-122"/>
              </a:rPr>
              <a:t> 1 Loop:	</a:t>
            </a:r>
            <a:r>
              <a:rPr lang="zh-CN" altLang="en-US" sz="1800" dirty="0">
                <a:latin typeface="宋体" panose="02000500000000000000" pitchFamily="2" charset="-122"/>
                <a:ea typeface="宋体" panose="02000500000000000000" pitchFamily="2" charset="-122"/>
              </a:rPr>
              <a:t>fld.d</a:t>
            </a:r>
            <a:r>
              <a:rPr lang="en-US" altLang="zh-CN" sz="1800" dirty="0">
                <a:latin typeface="宋体" panose="02000500000000000000" pitchFamily="2" charset="-122"/>
                <a:ea typeface="宋体" panose="02000500000000000000" pitchFamily="2" charset="-122"/>
              </a:rPr>
              <a:t>	</a:t>
            </a:r>
            <a:r>
              <a:rPr lang="zh-CN" altLang="en-US" sz="1800" dirty="0">
                <a:latin typeface="宋体" panose="02000500000000000000" pitchFamily="2" charset="-122"/>
                <a:ea typeface="宋体" panose="02000500000000000000" pitchFamily="2" charset="-122"/>
              </a:rPr>
              <a:t>$f</a:t>
            </a:r>
            <a:r>
              <a:rPr lang="en-US" altLang="zh-CN" sz="1800" dirty="0">
                <a:latin typeface="宋体" panose="02000500000000000000" pitchFamily="2" charset="-122"/>
                <a:ea typeface="宋体" panose="02000500000000000000" pitchFamily="2" charset="-122"/>
              </a:rPr>
              <a:t>0,</a:t>
            </a:r>
            <a:r>
              <a:rPr lang="zh-CN" altLang="en-US" sz="1800" dirty="0">
                <a:latin typeface="宋体" panose="02000500000000000000" pitchFamily="2" charset="-122"/>
                <a:ea typeface="宋体" panose="02000500000000000000" pitchFamily="2" charset="-122"/>
              </a:rPr>
              <a:t>$r</a:t>
            </a:r>
            <a:r>
              <a:rPr lang="en-US" altLang="zh-CN" sz="1800" dirty="0">
                <a:latin typeface="宋体" panose="02000500000000000000" pitchFamily="2" charset="-122"/>
                <a:ea typeface="宋体" panose="02000500000000000000" pitchFamily="2" charset="-122"/>
              </a:rPr>
              <a:t>1</a:t>
            </a:r>
            <a:r>
              <a:rPr lang="zh-CN" altLang="en-US" sz="1800" dirty="0">
                <a:latin typeface="宋体" panose="02000500000000000000" pitchFamily="2" charset="-122"/>
                <a:ea typeface="宋体" panose="02000500000000000000" pitchFamily="2" charset="-122"/>
              </a:rPr>
              <a:t>,0</a:t>
            </a:r>
            <a:endParaRPr lang="en-US" altLang="zh-CN" sz="1800" dirty="0">
              <a:latin typeface="宋体" panose="02000500000000000000" pitchFamily="2" charset="-122"/>
              <a:ea typeface="宋体" panose="02000500000000000000" pitchFamily="2" charset="-122"/>
            </a:endParaRPr>
          </a:p>
          <a:p>
            <a:pPr defTabSz="914400">
              <a:tabLst>
                <a:tab pos="971550" algn="l"/>
                <a:tab pos="2059305" algn="l"/>
                <a:tab pos="3657600" algn="l"/>
              </a:tabLst>
            </a:pPr>
            <a:r>
              <a:rPr lang="en-US" altLang="zh-CN" sz="1800" dirty="0">
                <a:latin typeface="宋体" panose="02000500000000000000" pitchFamily="2" charset="-122"/>
                <a:ea typeface="宋体" panose="02000500000000000000" pitchFamily="2" charset="-122"/>
              </a:rPr>
              <a:t> 2	</a:t>
            </a:r>
            <a:r>
              <a:rPr lang="zh-CN" altLang="en-US" sz="1800" dirty="0">
                <a:latin typeface="宋体" panose="02000500000000000000" pitchFamily="2" charset="-122"/>
                <a:ea typeface="宋体" panose="02000500000000000000" pitchFamily="2" charset="-122"/>
              </a:rPr>
              <a:t>fadd.d</a:t>
            </a:r>
            <a:r>
              <a:rPr lang="en-US" altLang="zh-CN" sz="1800" dirty="0">
                <a:latin typeface="宋体" panose="02000500000000000000" pitchFamily="2" charset="-122"/>
                <a:ea typeface="宋体" panose="02000500000000000000" pitchFamily="2" charset="-122"/>
              </a:rPr>
              <a:t>	</a:t>
            </a:r>
            <a:r>
              <a:rPr lang="zh-CN" altLang="en-US" sz="1800" dirty="0">
                <a:latin typeface="宋体" panose="02000500000000000000" pitchFamily="2" charset="-122"/>
                <a:ea typeface="宋体" panose="02000500000000000000" pitchFamily="2" charset="-122"/>
              </a:rPr>
              <a:t>$f</a:t>
            </a:r>
            <a:r>
              <a:rPr lang="en-US" altLang="zh-CN" sz="1800" dirty="0">
                <a:latin typeface="宋体" panose="02000500000000000000" pitchFamily="2" charset="-122"/>
                <a:ea typeface="宋体" panose="02000500000000000000" pitchFamily="2" charset="-122"/>
              </a:rPr>
              <a:t>4,</a:t>
            </a:r>
            <a:r>
              <a:rPr lang="zh-CN" altLang="en-US" sz="1800" dirty="0">
                <a:latin typeface="宋体" panose="02000500000000000000" pitchFamily="2" charset="-122"/>
                <a:ea typeface="宋体" panose="02000500000000000000" pitchFamily="2" charset="-122"/>
              </a:rPr>
              <a:t>$f</a:t>
            </a:r>
            <a:r>
              <a:rPr lang="en-US" altLang="zh-CN" sz="1800" dirty="0">
                <a:latin typeface="宋体" panose="02000500000000000000" pitchFamily="2" charset="-122"/>
                <a:ea typeface="宋体" panose="02000500000000000000" pitchFamily="2" charset="-122"/>
              </a:rPr>
              <a:t>0,</a:t>
            </a:r>
            <a:r>
              <a:rPr lang="zh-CN" altLang="en-US" sz="1800" dirty="0">
                <a:latin typeface="宋体" panose="02000500000000000000" pitchFamily="2" charset="-122"/>
                <a:ea typeface="宋体" panose="02000500000000000000" pitchFamily="2" charset="-122"/>
              </a:rPr>
              <a:t>$f</a:t>
            </a:r>
            <a:r>
              <a:rPr lang="en-US" altLang="zh-CN" sz="1800" dirty="0">
                <a:latin typeface="宋体" panose="02000500000000000000" pitchFamily="2" charset="-122"/>
                <a:ea typeface="宋体" panose="02000500000000000000" pitchFamily="2" charset="-122"/>
              </a:rPr>
              <a:t>2</a:t>
            </a:r>
            <a:endParaRPr lang="en-US" altLang="zh-CN" sz="1800" dirty="0">
              <a:latin typeface="宋体" panose="02000500000000000000" pitchFamily="2" charset="-122"/>
              <a:ea typeface="宋体" panose="02000500000000000000" pitchFamily="2" charset="-122"/>
            </a:endParaRPr>
          </a:p>
          <a:p>
            <a:pPr defTabSz="914400">
              <a:tabLst>
                <a:tab pos="971550" algn="l"/>
                <a:tab pos="2059305" algn="l"/>
                <a:tab pos="3657600" algn="l"/>
              </a:tabLst>
            </a:pPr>
            <a:r>
              <a:rPr lang="en-US" altLang="zh-CN" sz="1800" dirty="0">
                <a:latin typeface="宋体" panose="02000500000000000000" pitchFamily="2" charset="-122"/>
                <a:ea typeface="宋体" panose="02000500000000000000" pitchFamily="2" charset="-122"/>
              </a:rPr>
              <a:t> 3	</a:t>
            </a:r>
            <a:r>
              <a:rPr lang="zh-CN" altLang="en-US" sz="1800" dirty="0">
                <a:latin typeface="宋体" panose="02000500000000000000" pitchFamily="2" charset="-122"/>
                <a:ea typeface="宋体" panose="02000500000000000000" pitchFamily="2" charset="-122"/>
              </a:rPr>
              <a:t>fst.d</a:t>
            </a:r>
            <a:r>
              <a:rPr lang="en-US" altLang="zh-CN" sz="1800" dirty="0">
                <a:latin typeface="宋体" panose="02000500000000000000" pitchFamily="2" charset="-122"/>
                <a:ea typeface="宋体" panose="02000500000000000000" pitchFamily="2" charset="-122"/>
              </a:rPr>
              <a:t>	</a:t>
            </a:r>
            <a:r>
              <a:rPr lang="zh-CN" altLang="en-US" sz="1800" dirty="0">
                <a:latin typeface="宋体" panose="02000500000000000000" pitchFamily="2" charset="-122"/>
                <a:ea typeface="宋体" panose="02000500000000000000" pitchFamily="2" charset="-122"/>
              </a:rPr>
              <a:t>$f4,$r</a:t>
            </a:r>
            <a:r>
              <a:rPr lang="en-US" altLang="zh-CN" sz="1800" dirty="0">
                <a:latin typeface="宋体" panose="02000500000000000000" pitchFamily="2" charset="-122"/>
                <a:ea typeface="宋体" panose="02000500000000000000" pitchFamily="2" charset="-122"/>
              </a:rPr>
              <a:t>1</a:t>
            </a:r>
            <a:r>
              <a:rPr lang="zh-CN" altLang="en-US" sz="1800" dirty="0">
                <a:latin typeface="宋体" panose="02000500000000000000" pitchFamily="2" charset="-122"/>
                <a:ea typeface="宋体" panose="02000500000000000000" pitchFamily="2" charset="-122"/>
              </a:rPr>
              <a:t>,0</a:t>
            </a:r>
            <a:r>
              <a:rPr lang="en-US" altLang="zh-CN" sz="1800" dirty="0">
                <a:latin typeface="宋体" panose="02000500000000000000" pitchFamily="2" charset="-122"/>
                <a:ea typeface="宋体" panose="02000500000000000000" pitchFamily="2" charset="-122"/>
              </a:rPr>
              <a:t> 	</a:t>
            </a:r>
            <a:r>
              <a:rPr lang="en-US" altLang="zh-CN" sz="1800" dirty="0">
                <a:solidFill>
                  <a:srgbClr val="FF0000"/>
                </a:solidFill>
                <a:latin typeface="宋体" panose="02000500000000000000" pitchFamily="2" charset="-122"/>
                <a:ea typeface="宋体" panose="02000500000000000000" pitchFamily="2" charset="-122"/>
              </a:rPr>
              <a:t>;drop </a:t>
            </a:r>
            <a:r>
              <a:rPr lang="zh-CN" altLang="en-US" sz="1800" dirty="0">
                <a:solidFill>
                  <a:srgbClr val="FF0000"/>
                </a:solidFill>
                <a:latin typeface="宋体" panose="02000500000000000000" pitchFamily="2" charset="-122"/>
                <a:ea typeface="宋体" panose="02000500000000000000" pitchFamily="2" charset="-122"/>
              </a:rPr>
              <a:t>addi.d</a:t>
            </a:r>
            <a:r>
              <a:rPr lang="en-US" altLang="zh-CN" sz="1800" dirty="0">
                <a:solidFill>
                  <a:srgbClr val="FF0000"/>
                </a:solidFill>
                <a:latin typeface="宋体" panose="02000500000000000000" pitchFamily="2" charset="-122"/>
                <a:ea typeface="宋体" panose="02000500000000000000" pitchFamily="2" charset="-122"/>
              </a:rPr>
              <a:t> &amp; </a:t>
            </a:r>
            <a:r>
              <a:rPr lang="zh-CN" altLang="en-US" sz="1800" dirty="0">
                <a:solidFill>
                  <a:srgbClr val="FF0000"/>
                </a:solidFill>
                <a:latin typeface="宋体" panose="02000500000000000000" pitchFamily="2" charset="-122"/>
                <a:ea typeface="宋体" panose="02000500000000000000" pitchFamily="2" charset="-122"/>
              </a:rPr>
              <a:t>bnez</a:t>
            </a:r>
            <a:endParaRPr lang="en-US" altLang="zh-CN" sz="1800" dirty="0">
              <a:latin typeface="宋体" panose="02000500000000000000" pitchFamily="2" charset="-122"/>
              <a:ea typeface="宋体" panose="02000500000000000000" pitchFamily="2" charset="-122"/>
            </a:endParaRPr>
          </a:p>
          <a:p>
            <a:pPr defTabSz="914400">
              <a:tabLst>
                <a:tab pos="971550" algn="l"/>
                <a:tab pos="2059305" algn="l"/>
                <a:tab pos="3657600" algn="l"/>
              </a:tabLst>
            </a:pPr>
            <a:r>
              <a:rPr lang="en-US" altLang="zh-CN" sz="1800" dirty="0">
                <a:latin typeface="宋体" panose="02000500000000000000" pitchFamily="2" charset="-122"/>
                <a:ea typeface="宋体" panose="02000500000000000000" pitchFamily="2" charset="-122"/>
              </a:rPr>
              <a:t> 4	</a:t>
            </a:r>
            <a:r>
              <a:rPr lang="zh-CN" altLang="en-US" sz="1800" dirty="0">
                <a:latin typeface="宋体" panose="02000500000000000000" pitchFamily="2" charset="-122"/>
                <a:ea typeface="宋体" panose="02000500000000000000" pitchFamily="2" charset="-122"/>
              </a:rPr>
              <a:t>f</a:t>
            </a:r>
            <a:r>
              <a:rPr lang="en-US" altLang="en-US" sz="1800" dirty="0">
                <a:latin typeface="宋体" panose="02000500000000000000" pitchFamily="2" charset="-122"/>
                <a:ea typeface="宋体" panose="02000500000000000000" pitchFamily="2" charset="-122"/>
              </a:rPr>
              <a:t>ld.d</a:t>
            </a:r>
            <a:r>
              <a:rPr lang="en-US" altLang="zh-CN" sz="1800" dirty="0">
                <a:latin typeface="宋体" panose="02000500000000000000" pitchFamily="2" charset="-122"/>
                <a:ea typeface="宋体" panose="02000500000000000000" pitchFamily="2" charset="-122"/>
              </a:rPr>
              <a:t>	</a:t>
            </a:r>
            <a:r>
              <a:rPr lang="en-US" altLang="en-US" sz="1800" dirty="0">
                <a:latin typeface="宋体" panose="02000500000000000000" pitchFamily="2" charset="-122"/>
                <a:ea typeface="宋体" panose="02000500000000000000" pitchFamily="2" charset="-122"/>
              </a:rPr>
              <a:t>$f</a:t>
            </a:r>
            <a:r>
              <a:rPr lang="en-US" altLang="zh-CN" sz="1800" dirty="0">
                <a:latin typeface="宋体" panose="02000500000000000000" pitchFamily="2" charset="-122"/>
                <a:ea typeface="宋体" panose="02000500000000000000" pitchFamily="2" charset="-122"/>
              </a:rPr>
              <a:t>0,</a:t>
            </a:r>
            <a:r>
              <a:rPr lang="en-US" altLang="en-US" sz="1800" dirty="0">
                <a:latin typeface="宋体" panose="02000500000000000000" pitchFamily="2" charset="-122"/>
                <a:ea typeface="宋体" panose="02000500000000000000" pitchFamily="2" charset="-122"/>
              </a:rPr>
              <a:t>$r</a:t>
            </a:r>
            <a:r>
              <a:rPr lang="en-US" altLang="zh-CN" sz="1800" dirty="0">
                <a:latin typeface="宋体" panose="02000500000000000000" pitchFamily="2" charset="-122"/>
                <a:ea typeface="宋体" panose="02000500000000000000" pitchFamily="2" charset="-122"/>
              </a:rPr>
              <a:t>1</a:t>
            </a:r>
            <a:r>
              <a:rPr lang="en-US" altLang="en-US" sz="1800" dirty="0">
                <a:latin typeface="宋体" panose="02000500000000000000" pitchFamily="2" charset="-122"/>
                <a:ea typeface="宋体" panose="02000500000000000000" pitchFamily="2" charset="-122"/>
              </a:rPr>
              <a:t>,</a:t>
            </a:r>
            <a:r>
              <a:rPr lang="en-US" altLang="zh-CN" sz="1800" dirty="0">
                <a:solidFill>
                  <a:srgbClr val="FF0000"/>
                </a:solidFill>
                <a:latin typeface="宋体" panose="02000500000000000000" pitchFamily="2" charset="-122"/>
                <a:ea typeface="宋体" panose="02000500000000000000" pitchFamily="2" charset="-122"/>
              </a:rPr>
              <a:t>-8</a:t>
            </a:r>
            <a:endParaRPr lang="en-US" altLang="zh-CN" sz="1800" dirty="0">
              <a:latin typeface="宋体" panose="02000500000000000000" pitchFamily="2" charset="-122"/>
              <a:ea typeface="宋体" panose="02000500000000000000" pitchFamily="2" charset="-122"/>
            </a:endParaRPr>
          </a:p>
          <a:p>
            <a:pPr defTabSz="914400">
              <a:tabLst>
                <a:tab pos="971550" algn="l"/>
                <a:tab pos="2059305" algn="l"/>
                <a:tab pos="3657600" algn="l"/>
              </a:tabLst>
            </a:pPr>
            <a:r>
              <a:rPr lang="en-US" altLang="zh-CN" sz="1800" dirty="0">
                <a:latin typeface="宋体" panose="02000500000000000000" pitchFamily="2" charset="-122"/>
                <a:ea typeface="宋体" panose="02000500000000000000" pitchFamily="2" charset="-122"/>
              </a:rPr>
              <a:t> 5	</a:t>
            </a:r>
            <a:r>
              <a:rPr lang="en-US" altLang="en-US" sz="1800" dirty="0">
                <a:latin typeface="宋体" panose="02000500000000000000" pitchFamily="2" charset="-122"/>
                <a:ea typeface="宋体" panose="02000500000000000000" pitchFamily="2" charset="-122"/>
              </a:rPr>
              <a:t>fadd.d</a:t>
            </a:r>
            <a:r>
              <a:rPr lang="en-US" altLang="zh-CN" sz="1800" dirty="0">
                <a:latin typeface="宋体" panose="02000500000000000000" pitchFamily="2" charset="-122"/>
                <a:ea typeface="宋体" panose="02000500000000000000" pitchFamily="2" charset="-122"/>
              </a:rPr>
              <a:t>	</a:t>
            </a:r>
            <a:r>
              <a:rPr lang="en-US" altLang="en-US" sz="1800" dirty="0">
                <a:latin typeface="宋体" panose="02000500000000000000" pitchFamily="2" charset="-122"/>
                <a:ea typeface="宋体" panose="02000500000000000000" pitchFamily="2" charset="-122"/>
              </a:rPr>
              <a:t>$f</a:t>
            </a:r>
            <a:r>
              <a:rPr lang="en-US" altLang="zh-CN" sz="1800" dirty="0">
                <a:latin typeface="宋体" panose="02000500000000000000" pitchFamily="2" charset="-122"/>
                <a:ea typeface="宋体" panose="02000500000000000000" pitchFamily="2" charset="-122"/>
              </a:rPr>
              <a:t>4,</a:t>
            </a:r>
            <a:r>
              <a:rPr lang="en-US" altLang="en-US" sz="1800" dirty="0">
                <a:latin typeface="宋体" panose="02000500000000000000" pitchFamily="2" charset="-122"/>
                <a:ea typeface="宋体" panose="02000500000000000000" pitchFamily="2" charset="-122"/>
              </a:rPr>
              <a:t>$f</a:t>
            </a:r>
            <a:r>
              <a:rPr lang="en-US" altLang="zh-CN" sz="1800" dirty="0">
                <a:latin typeface="宋体" panose="02000500000000000000" pitchFamily="2" charset="-122"/>
                <a:ea typeface="宋体" panose="02000500000000000000" pitchFamily="2" charset="-122"/>
              </a:rPr>
              <a:t>0,</a:t>
            </a:r>
            <a:r>
              <a:rPr lang="en-US" altLang="en-US" sz="1800" dirty="0">
                <a:latin typeface="宋体" panose="02000500000000000000" pitchFamily="2" charset="-122"/>
                <a:ea typeface="宋体" panose="02000500000000000000" pitchFamily="2" charset="-122"/>
              </a:rPr>
              <a:t>$f</a:t>
            </a:r>
            <a:r>
              <a:rPr lang="en-US" altLang="zh-CN" sz="1800" dirty="0">
                <a:latin typeface="宋体" panose="02000500000000000000" pitchFamily="2" charset="-122"/>
                <a:ea typeface="宋体" panose="02000500000000000000" pitchFamily="2" charset="-122"/>
              </a:rPr>
              <a:t>2</a:t>
            </a:r>
            <a:endParaRPr lang="en-US" altLang="zh-CN" sz="1800" dirty="0">
              <a:latin typeface="宋体" panose="02000500000000000000" pitchFamily="2" charset="-122"/>
              <a:ea typeface="宋体" panose="02000500000000000000" pitchFamily="2" charset="-122"/>
            </a:endParaRPr>
          </a:p>
          <a:p>
            <a:pPr defTabSz="914400">
              <a:tabLst>
                <a:tab pos="971550" algn="l"/>
                <a:tab pos="2059305" algn="l"/>
                <a:tab pos="3657600" algn="l"/>
              </a:tabLst>
            </a:pPr>
            <a:r>
              <a:rPr lang="en-US" altLang="zh-CN" sz="1800" dirty="0">
                <a:latin typeface="宋体" panose="02000500000000000000" pitchFamily="2" charset="-122"/>
                <a:ea typeface="宋体" panose="02000500000000000000" pitchFamily="2" charset="-122"/>
              </a:rPr>
              <a:t> 6	</a:t>
            </a:r>
            <a:r>
              <a:rPr lang="en-US" altLang="en-US" sz="1800" dirty="0">
                <a:latin typeface="宋体" panose="02000500000000000000" pitchFamily="2" charset="-122"/>
                <a:ea typeface="宋体" panose="02000500000000000000" pitchFamily="2" charset="-122"/>
              </a:rPr>
              <a:t>fst.d</a:t>
            </a:r>
            <a:r>
              <a:rPr lang="en-US" altLang="zh-CN" sz="1800" dirty="0">
                <a:latin typeface="宋体" panose="02000500000000000000" pitchFamily="2" charset="-122"/>
                <a:ea typeface="宋体" panose="02000500000000000000" pitchFamily="2" charset="-122"/>
              </a:rPr>
              <a:t>	</a:t>
            </a:r>
            <a:r>
              <a:rPr lang="en-US" altLang="en-US" sz="1800" dirty="0">
                <a:latin typeface="宋体" panose="02000500000000000000" pitchFamily="2" charset="-122"/>
                <a:ea typeface="宋体" panose="02000500000000000000" pitchFamily="2" charset="-122"/>
              </a:rPr>
              <a:t>$f4,$r</a:t>
            </a:r>
            <a:r>
              <a:rPr lang="en-US" altLang="zh-CN" sz="1800" dirty="0">
                <a:latin typeface="宋体" panose="02000500000000000000" pitchFamily="2" charset="-122"/>
                <a:ea typeface="宋体" panose="02000500000000000000" pitchFamily="2" charset="-122"/>
              </a:rPr>
              <a:t>1</a:t>
            </a:r>
            <a:r>
              <a:rPr lang="en-US" altLang="en-US" sz="1800" dirty="0">
                <a:latin typeface="宋体" panose="02000500000000000000" pitchFamily="2" charset="-122"/>
                <a:ea typeface="宋体" panose="02000500000000000000" pitchFamily="2" charset="-122"/>
              </a:rPr>
              <a:t>,</a:t>
            </a:r>
            <a:r>
              <a:rPr lang="en-US" altLang="zh-CN" sz="1800" dirty="0">
                <a:solidFill>
                  <a:srgbClr val="FF0000"/>
                </a:solidFill>
                <a:latin typeface="宋体" panose="02000500000000000000" pitchFamily="2" charset="-122"/>
                <a:ea typeface="宋体" panose="02000500000000000000" pitchFamily="2" charset="-122"/>
              </a:rPr>
              <a:t>-8</a:t>
            </a:r>
            <a:r>
              <a:rPr lang="en-US" altLang="zh-CN" sz="1800" dirty="0">
                <a:latin typeface="宋体" panose="02000500000000000000" pitchFamily="2" charset="-122"/>
                <a:ea typeface="宋体" panose="02000500000000000000" pitchFamily="2" charset="-122"/>
              </a:rPr>
              <a:t> 	</a:t>
            </a:r>
            <a:r>
              <a:rPr lang="en-US" altLang="zh-CN" sz="1800" dirty="0">
                <a:solidFill>
                  <a:srgbClr val="FF0000"/>
                </a:solidFill>
                <a:latin typeface="宋体" panose="02000500000000000000" pitchFamily="2" charset="-122"/>
                <a:ea typeface="宋体" panose="02000500000000000000" pitchFamily="2" charset="-122"/>
              </a:rPr>
              <a:t>;drop </a:t>
            </a:r>
            <a:r>
              <a:rPr lang="en-US" altLang="en-US" sz="1800" dirty="0">
                <a:solidFill>
                  <a:srgbClr val="FF0000"/>
                </a:solidFill>
                <a:latin typeface="宋体" panose="02000500000000000000" pitchFamily="2" charset="-122"/>
                <a:ea typeface="宋体" panose="02000500000000000000" pitchFamily="2" charset="-122"/>
              </a:rPr>
              <a:t>addi.d</a:t>
            </a:r>
            <a:r>
              <a:rPr lang="en-US" altLang="zh-CN" sz="1800" dirty="0">
                <a:solidFill>
                  <a:srgbClr val="FF0000"/>
                </a:solidFill>
                <a:latin typeface="宋体" panose="02000500000000000000" pitchFamily="2" charset="-122"/>
                <a:ea typeface="宋体" panose="02000500000000000000" pitchFamily="2" charset="-122"/>
              </a:rPr>
              <a:t> &amp; </a:t>
            </a:r>
            <a:r>
              <a:rPr lang="en-US" altLang="en-US" sz="1800" dirty="0">
                <a:solidFill>
                  <a:srgbClr val="FF0000"/>
                </a:solidFill>
                <a:latin typeface="宋体" panose="02000500000000000000" pitchFamily="2" charset="-122"/>
                <a:ea typeface="宋体" panose="02000500000000000000" pitchFamily="2" charset="-122"/>
              </a:rPr>
              <a:t>bnez</a:t>
            </a:r>
            <a:endParaRPr lang="en-US" altLang="zh-CN" sz="1800" dirty="0">
              <a:latin typeface="宋体" panose="02000500000000000000" pitchFamily="2" charset="-122"/>
              <a:ea typeface="宋体" panose="02000500000000000000" pitchFamily="2" charset="-122"/>
            </a:endParaRPr>
          </a:p>
          <a:p>
            <a:pPr defTabSz="914400">
              <a:tabLst>
                <a:tab pos="971550" algn="l"/>
                <a:tab pos="2059305" algn="l"/>
                <a:tab pos="3657600" algn="l"/>
              </a:tabLst>
            </a:pPr>
            <a:r>
              <a:rPr lang="en-US" altLang="zh-CN" sz="1800" dirty="0">
                <a:latin typeface="宋体" panose="02000500000000000000" pitchFamily="2" charset="-122"/>
                <a:ea typeface="宋体" panose="02000500000000000000" pitchFamily="2" charset="-122"/>
              </a:rPr>
              <a:t> 7	</a:t>
            </a:r>
            <a:r>
              <a:rPr lang="zh-CN" altLang="en-US" sz="1800" dirty="0">
                <a:latin typeface="宋体" panose="02000500000000000000" pitchFamily="2" charset="-122"/>
                <a:ea typeface="宋体" panose="02000500000000000000" pitchFamily="2" charset="-122"/>
              </a:rPr>
              <a:t>f</a:t>
            </a:r>
            <a:r>
              <a:rPr lang="en-US" altLang="en-US" sz="1800" dirty="0">
                <a:latin typeface="宋体" panose="02000500000000000000" pitchFamily="2" charset="-122"/>
                <a:ea typeface="宋体" panose="02000500000000000000" pitchFamily="2" charset="-122"/>
                <a:sym typeface="宋体" panose="02000500000000000000" pitchFamily="2" charset="-122"/>
              </a:rPr>
              <a:t>ld.d</a:t>
            </a:r>
            <a:r>
              <a:rPr lang="en-US" altLang="zh-CN" sz="1800" dirty="0">
                <a:latin typeface="宋体" panose="02000500000000000000" pitchFamily="2" charset="-122"/>
                <a:ea typeface="宋体" panose="02000500000000000000" pitchFamily="2" charset="-122"/>
                <a:sym typeface="宋体" panose="02000500000000000000" pitchFamily="2" charset="-122"/>
              </a:rPr>
              <a:t>	</a:t>
            </a:r>
            <a:r>
              <a:rPr lang="en-US" altLang="en-US" sz="1800" dirty="0">
                <a:latin typeface="宋体" panose="02000500000000000000" pitchFamily="2" charset="-122"/>
                <a:ea typeface="宋体" panose="02000500000000000000" pitchFamily="2" charset="-122"/>
                <a:sym typeface="宋体" panose="02000500000000000000" pitchFamily="2" charset="-122"/>
              </a:rPr>
              <a:t>$f</a:t>
            </a:r>
            <a:r>
              <a:rPr lang="en-US" altLang="zh-CN" sz="1800" dirty="0">
                <a:latin typeface="宋体" panose="02000500000000000000" pitchFamily="2" charset="-122"/>
                <a:ea typeface="宋体" panose="02000500000000000000" pitchFamily="2" charset="-122"/>
                <a:sym typeface="宋体" panose="02000500000000000000" pitchFamily="2" charset="-122"/>
              </a:rPr>
              <a:t>0,</a:t>
            </a:r>
            <a:r>
              <a:rPr lang="en-US" altLang="en-US" sz="1800" dirty="0">
                <a:latin typeface="宋体" panose="02000500000000000000" pitchFamily="2" charset="-122"/>
                <a:ea typeface="宋体" panose="02000500000000000000" pitchFamily="2" charset="-122"/>
                <a:sym typeface="宋体" panose="02000500000000000000" pitchFamily="2" charset="-122"/>
              </a:rPr>
              <a:t>$r</a:t>
            </a:r>
            <a:r>
              <a:rPr lang="en-US" altLang="zh-CN" sz="1800" dirty="0">
                <a:latin typeface="宋体" panose="02000500000000000000" pitchFamily="2" charset="-122"/>
                <a:ea typeface="宋体" panose="02000500000000000000" pitchFamily="2" charset="-122"/>
                <a:sym typeface="宋体" panose="02000500000000000000" pitchFamily="2" charset="-122"/>
              </a:rPr>
              <a:t>1</a:t>
            </a:r>
            <a:r>
              <a:rPr lang="en-US" altLang="en-US" sz="1800" dirty="0">
                <a:latin typeface="宋体" panose="02000500000000000000" pitchFamily="2" charset="-122"/>
                <a:ea typeface="宋体" panose="02000500000000000000" pitchFamily="2" charset="-122"/>
                <a:sym typeface="宋体" panose="02000500000000000000" pitchFamily="2" charset="-122"/>
              </a:rPr>
              <a:t>,</a:t>
            </a:r>
            <a:r>
              <a:rPr lang="en-US" altLang="zh-CN" sz="1800" dirty="0">
                <a:solidFill>
                  <a:srgbClr val="FF0000"/>
                </a:solidFill>
                <a:latin typeface="宋体" panose="02000500000000000000" pitchFamily="2" charset="-122"/>
                <a:ea typeface="宋体" panose="02000500000000000000" pitchFamily="2" charset="-122"/>
              </a:rPr>
              <a:t>-16</a:t>
            </a:r>
            <a:endParaRPr lang="en-US" altLang="zh-CN" sz="1800" dirty="0">
              <a:latin typeface="宋体" panose="02000500000000000000" pitchFamily="2" charset="-122"/>
              <a:ea typeface="宋体" panose="02000500000000000000" pitchFamily="2" charset="-122"/>
            </a:endParaRPr>
          </a:p>
          <a:p>
            <a:pPr defTabSz="914400">
              <a:tabLst>
                <a:tab pos="971550" algn="l"/>
                <a:tab pos="2059305" algn="l"/>
                <a:tab pos="3657600" algn="l"/>
              </a:tabLst>
            </a:pPr>
            <a:r>
              <a:rPr lang="en-US" altLang="zh-CN" sz="1800" dirty="0">
                <a:latin typeface="宋体" panose="02000500000000000000" pitchFamily="2" charset="-122"/>
                <a:ea typeface="宋体" panose="02000500000000000000" pitchFamily="2" charset="-122"/>
              </a:rPr>
              <a:t> 8	</a:t>
            </a:r>
            <a:r>
              <a:rPr lang="en-US" altLang="en-US" sz="1800" dirty="0">
                <a:latin typeface="宋体" panose="02000500000000000000" pitchFamily="2" charset="-122"/>
                <a:ea typeface="宋体" panose="02000500000000000000" pitchFamily="2" charset="-122"/>
              </a:rPr>
              <a:t>fadd.d</a:t>
            </a:r>
            <a:r>
              <a:rPr lang="en-US" altLang="zh-CN" sz="1800" dirty="0">
                <a:latin typeface="宋体" panose="02000500000000000000" pitchFamily="2" charset="-122"/>
                <a:ea typeface="宋体" panose="02000500000000000000" pitchFamily="2" charset="-122"/>
              </a:rPr>
              <a:t>	</a:t>
            </a:r>
            <a:r>
              <a:rPr lang="en-US" altLang="en-US" sz="1800" dirty="0">
                <a:latin typeface="宋体" panose="02000500000000000000" pitchFamily="2" charset="-122"/>
                <a:ea typeface="宋体" panose="02000500000000000000" pitchFamily="2" charset="-122"/>
              </a:rPr>
              <a:t>$f</a:t>
            </a:r>
            <a:r>
              <a:rPr lang="en-US" altLang="zh-CN" sz="1800" dirty="0">
                <a:latin typeface="宋体" panose="02000500000000000000" pitchFamily="2" charset="-122"/>
                <a:ea typeface="宋体" panose="02000500000000000000" pitchFamily="2" charset="-122"/>
              </a:rPr>
              <a:t>4,</a:t>
            </a:r>
            <a:r>
              <a:rPr lang="en-US" altLang="en-US" sz="1800" dirty="0">
                <a:latin typeface="宋体" panose="02000500000000000000" pitchFamily="2" charset="-122"/>
                <a:ea typeface="宋体" panose="02000500000000000000" pitchFamily="2" charset="-122"/>
              </a:rPr>
              <a:t>$f</a:t>
            </a:r>
            <a:r>
              <a:rPr lang="en-US" altLang="zh-CN" sz="1800" dirty="0">
                <a:latin typeface="宋体" panose="02000500000000000000" pitchFamily="2" charset="-122"/>
                <a:ea typeface="宋体" panose="02000500000000000000" pitchFamily="2" charset="-122"/>
              </a:rPr>
              <a:t>0,</a:t>
            </a:r>
            <a:r>
              <a:rPr lang="en-US" altLang="en-US" sz="1800" dirty="0">
                <a:latin typeface="宋体" panose="02000500000000000000" pitchFamily="2" charset="-122"/>
                <a:ea typeface="宋体" panose="02000500000000000000" pitchFamily="2" charset="-122"/>
              </a:rPr>
              <a:t>$f</a:t>
            </a:r>
            <a:r>
              <a:rPr lang="en-US" altLang="zh-CN" sz="1800" dirty="0">
                <a:latin typeface="宋体" panose="02000500000000000000" pitchFamily="2" charset="-122"/>
                <a:ea typeface="宋体" panose="02000500000000000000" pitchFamily="2" charset="-122"/>
              </a:rPr>
              <a:t>2</a:t>
            </a:r>
            <a:endParaRPr lang="en-US" altLang="zh-CN" sz="1800" dirty="0">
              <a:latin typeface="宋体" panose="02000500000000000000" pitchFamily="2" charset="-122"/>
              <a:ea typeface="宋体" panose="02000500000000000000" pitchFamily="2" charset="-122"/>
            </a:endParaRPr>
          </a:p>
          <a:p>
            <a:pPr defTabSz="914400">
              <a:tabLst>
                <a:tab pos="971550" algn="l"/>
                <a:tab pos="2059305" algn="l"/>
                <a:tab pos="3657600" algn="l"/>
              </a:tabLst>
            </a:pPr>
            <a:r>
              <a:rPr lang="en-US" altLang="zh-CN" sz="1800" dirty="0">
                <a:latin typeface="宋体" panose="02000500000000000000" pitchFamily="2" charset="-122"/>
                <a:ea typeface="宋体" panose="02000500000000000000" pitchFamily="2" charset="-122"/>
              </a:rPr>
              <a:t> 9	</a:t>
            </a:r>
            <a:r>
              <a:rPr lang="en-US" altLang="en-US" sz="1800" dirty="0">
                <a:latin typeface="宋体" panose="02000500000000000000" pitchFamily="2" charset="-122"/>
                <a:ea typeface="宋体" panose="02000500000000000000" pitchFamily="2" charset="-122"/>
              </a:rPr>
              <a:t>fst.d</a:t>
            </a:r>
            <a:r>
              <a:rPr lang="en-US" altLang="zh-CN" sz="1800" dirty="0">
                <a:latin typeface="宋体" panose="02000500000000000000" pitchFamily="2" charset="-122"/>
                <a:ea typeface="宋体" panose="02000500000000000000" pitchFamily="2" charset="-122"/>
              </a:rPr>
              <a:t>	</a:t>
            </a:r>
            <a:r>
              <a:rPr lang="en-US" altLang="en-US" sz="1800" dirty="0">
                <a:latin typeface="宋体" panose="02000500000000000000" pitchFamily="2" charset="-122"/>
                <a:ea typeface="宋体" panose="02000500000000000000" pitchFamily="2" charset="-122"/>
              </a:rPr>
              <a:t>$f4,$r</a:t>
            </a:r>
            <a:r>
              <a:rPr lang="en-US" altLang="zh-CN" sz="1800" dirty="0">
                <a:latin typeface="宋体" panose="02000500000000000000" pitchFamily="2" charset="-122"/>
                <a:ea typeface="宋体" panose="02000500000000000000" pitchFamily="2" charset="-122"/>
              </a:rPr>
              <a:t>1</a:t>
            </a:r>
            <a:r>
              <a:rPr lang="en-US" altLang="en-US" sz="1800" dirty="0">
                <a:latin typeface="宋体" panose="02000500000000000000" pitchFamily="2" charset="-122"/>
                <a:ea typeface="宋体" panose="02000500000000000000" pitchFamily="2" charset="-122"/>
              </a:rPr>
              <a:t>,</a:t>
            </a:r>
            <a:r>
              <a:rPr lang="en-US" altLang="zh-CN" sz="1800" dirty="0">
                <a:solidFill>
                  <a:srgbClr val="FF0000"/>
                </a:solidFill>
                <a:latin typeface="宋体" panose="02000500000000000000" pitchFamily="2" charset="-122"/>
                <a:ea typeface="宋体" panose="02000500000000000000" pitchFamily="2" charset="-122"/>
              </a:rPr>
              <a:t>-16</a:t>
            </a:r>
            <a:r>
              <a:rPr lang="en-US" altLang="zh-CN" sz="1800" dirty="0">
                <a:latin typeface="宋体" panose="02000500000000000000" pitchFamily="2" charset="-122"/>
                <a:ea typeface="宋体" panose="02000500000000000000" pitchFamily="2" charset="-122"/>
              </a:rPr>
              <a:t> 	</a:t>
            </a:r>
            <a:r>
              <a:rPr lang="en-US" altLang="zh-CN" sz="1800" dirty="0">
                <a:solidFill>
                  <a:srgbClr val="FF0000"/>
                </a:solidFill>
                <a:latin typeface="宋体" panose="02000500000000000000" pitchFamily="2" charset="-122"/>
                <a:ea typeface="宋体" panose="02000500000000000000" pitchFamily="2" charset="-122"/>
              </a:rPr>
              <a:t>;drop </a:t>
            </a:r>
            <a:r>
              <a:rPr lang="en-US" altLang="en-US" sz="1800" dirty="0">
                <a:solidFill>
                  <a:srgbClr val="FF0000"/>
                </a:solidFill>
                <a:latin typeface="宋体" panose="02000500000000000000" pitchFamily="2" charset="-122"/>
                <a:ea typeface="宋体" panose="02000500000000000000" pitchFamily="2" charset="-122"/>
              </a:rPr>
              <a:t>addi.d</a:t>
            </a:r>
            <a:r>
              <a:rPr lang="en-US" altLang="zh-CN" sz="1800" dirty="0">
                <a:solidFill>
                  <a:srgbClr val="FF0000"/>
                </a:solidFill>
                <a:latin typeface="宋体" panose="02000500000000000000" pitchFamily="2" charset="-122"/>
                <a:ea typeface="宋体" panose="02000500000000000000" pitchFamily="2" charset="-122"/>
              </a:rPr>
              <a:t> &amp; </a:t>
            </a:r>
            <a:r>
              <a:rPr lang="en-US" altLang="en-US" sz="1800" dirty="0">
                <a:solidFill>
                  <a:srgbClr val="FF0000"/>
                </a:solidFill>
                <a:latin typeface="宋体" panose="02000500000000000000" pitchFamily="2" charset="-122"/>
                <a:ea typeface="宋体" panose="02000500000000000000" pitchFamily="2" charset="-122"/>
              </a:rPr>
              <a:t>bnez</a:t>
            </a:r>
            <a:endParaRPr lang="en-US" altLang="zh-CN" sz="1800" dirty="0">
              <a:latin typeface="宋体" panose="02000500000000000000" pitchFamily="2" charset="-122"/>
              <a:ea typeface="宋体" panose="02000500000000000000" pitchFamily="2" charset="-122"/>
            </a:endParaRPr>
          </a:p>
          <a:p>
            <a:pPr defTabSz="914400">
              <a:tabLst>
                <a:tab pos="971550" algn="l"/>
                <a:tab pos="2059305" algn="l"/>
                <a:tab pos="3657600" algn="l"/>
              </a:tabLst>
            </a:pPr>
            <a:r>
              <a:rPr lang="en-US" altLang="zh-CN" sz="1800" dirty="0">
                <a:latin typeface="宋体" panose="02000500000000000000" pitchFamily="2" charset="-122"/>
                <a:ea typeface="宋体" panose="02000500000000000000" pitchFamily="2" charset="-122"/>
              </a:rPr>
              <a:t> 10	</a:t>
            </a:r>
            <a:r>
              <a:rPr lang="zh-CN" altLang="en-US" sz="1800" dirty="0">
                <a:latin typeface="宋体" panose="02000500000000000000" pitchFamily="2" charset="-122"/>
                <a:ea typeface="宋体" panose="02000500000000000000" pitchFamily="2" charset="-122"/>
              </a:rPr>
              <a:t>f</a:t>
            </a:r>
            <a:r>
              <a:rPr lang="en-US" altLang="en-US" sz="1800" dirty="0">
                <a:latin typeface="宋体" panose="02000500000000000000" pitchFamily="2" charset="-122"/>
                <a:ea typeface="宋体" panose="02000500000000000000" pitchFamily="2" charset="-122"/>
                <a:sym typeface="宋体" panose="02000500000000000000" pitchFamily="2" charset="-122"/>
              </a:rPr>
              <a:t>ld.d</a:t>
            </a:r>
            <a:r>
              <a:rPr lang="en-US" altLang="zh-CN" sz="1800" dirty="0">
                <a:latin typeface="宋体" panose="02000500000000000000" pitchFamily="2" charset="-122"/>
                <a:ea typeface="宋体" panose="02000500000000000000" pitchFamily="2" charset="-122"/>
                <a:sym typeface="宋体" panose="02000500000000000000" pitchFamily="2" charset="-122"/>
              </a:rPr>
              <a:t>	</a:t>
            </a:r>
            <a:r>
              <a:rPr lang="en-US" altLang="en-US" sz="1800" dirty="0">
                <a:latin typeface="宋体" panose="02000500000000000000" pitchFamily="2" charset="-122"/>
                <a:ea typeface="宋体" panose="02000500000000000000" pitchFamily="2" charset="-122"/>
                <a:sym typeface="宋体" panose="02000500000000000000" pitchFamily="2" charset="-122"/>
              </a:rPr>
              <a:t>$f</a:t>
            </a:r>
            <a:r>
              <a:rPr lang="en-US" altLang="zh-CN" sz="1800" dirty="0">
                <a:latin typeface="宋体" panose="02000500000000000000" pitchFamily="2" charset="-122"/>
                <a:ea typeface="宋体" panose="02000500000000000000" pitchFamily="2" charset="-122"/>
                <a:sym typeface="宋体" panose="02000500000000000000" pitchFamily="2" charset="-122"/>
              </a:rPr>
              <a:t>0,</a:t>
            </a:r>
            <a:r>
              <a:rPr lang="en-US" altLang="en-US" sz="1800" dirty="0">
                <a:latin typeface="宋体" panose="02000500000000000000" pitchFamily="2" charset="-122"/>
                <a:ea typeface="宋体" panose="02000500000000000000" pitchFamily="2" charset="-122"/>
                <a:sym typeface="宋体" panose="02000500000000000000" pitchFamily="2" charset="-122"/>
              </a:rPr>
              <a:t>$r</a:t>
            </a:r>
            <a:r>
              <a:rPr lang="en-US" altLang="zh-CN" sz="1800" dirty="0">
                <a:latin typeface="宋体" panose="02000500000000000000" pitchFamily="2" charset="-122"/>
                <a:ea typeface="宋体" panose="02000500000000000000" pitchFamily="2" charset="-122"/>
                <a:sym typeface="宋体" panose="02000500000000000000" pitchFamily="2" charset="-122"/>
              </a:rPr>
              <a:t>1</a:t>
            </a:r>
            <a:r>
              <a:rPr lang="en-US" altLang="en-US" sz="1800" dirty="0">
                <a:latin typeface="宋体" panose="02000500000000000000" pitchFamily="2" charset="-122"/>
                <a:ea typeface="宋体" panose="02000500000000000000" pitchFamily="2" charset="-122"/>
                <a:sym typeface="宋体" panose="02000500000000000000" pitchFamily="2" charset="-122"/>
              </a:rPr>
              <a:t>,</a:t>
            </a:r>
            <a:r>
              <a:rPr lang="zh-CN" altLang="en-US" sz="1800" dirty="0">
                <a:solidFill>
                  <a:srgbClr val="FF0000"/>
                </a:solidFill>
                <a:latin typeface="宋体" panose="02000500000000000000" pitchFamily="2" charset="-122"/>
                <a:ea typeface="宋体" panose="02000500000000000000" pitchFamily="2" charset="-122"/>
              </a:rPr>
              <a:t>-2</a:t>
            </a:r>
            <a:r>
              <a:rPr lang="en-US" altLang="zh-CN" sz="1800" dirty="0">
                <a:solidFill>
                  <a:srgbClr val="FF0000"/>
                </a:solidFill>
                <a:latin typeface="宋体" panose="02000500000000000000" pitchFamily="2" charset="-122"/>
                <a:ea typeface="宋体" panose="02000500000000000000" pitchFamily="2" charset="-122"/>
              </a:rPr>
              <a:t>4</a:t>
            </a:r>
            <a:endParaRPr lang="en-US" altLang="zh-CN" sz="1800" dirty="0">
              <a:latin typeface="宋体" panose="02000500000000000000" pitchFamily="2" charset="-122"/>
              <a:ea typeface="宋体" panose="02000500000000000000" pitchFamily="2" charset="-122"/>
            </a:endParaRPr>
          </a:p>
          <a:p>
            <a:pPr defTabSz="914400">
              <a:tabLst>
                <a:tab pos="971550" algn="l"/>
                <a:tab pos="2059305" algn="l"/>
                <a:tab pos="3657600" algn="l"/>
              </a:tabLst>
            </a:pPr>
            <a:r>
              <a:rPr lang="en-US" altLang="zh-CN" sz="1800" dirty="0">
                <a:latin typeface="宋体" panose="02000500000000000000" pitchFamily="2" charset="-122"/>
                <a:ea typeface="宋体" panose="02000500000000000000" pitchFamily="2" charset="-122"/>
              </a:rPr>
              <a:t> 11	</a:t>
            </a:r>
            <a:r>
              <a:rPr lang="en-US" altLang="en-US" sz="1800" dirty="0">
                <a:latin typeface="宋体" panose="02000500000000000000" pitchFamily="2" charset="-122"/>
                <a:ea typeface="宋体" panose="02000500000000000000" pitchFamily="2" charset="-122"/>
              </a:rPr>
              <a:t>fadd.d</a:t>
            </a:r>
            <a:r>
              <a:rPr lang="en-US" altLang="zh-CN" sz="1800" dirty="0">
                <a:latin typeface="宋体" panose="02000500000000000000" pitchFamily="2" charset="-122"/>
                <a:ea typeface="宋体" panose="02000500000000000000" pitchFamily="2" charset="-122"/>
              </a:rPr>
              <a:t>	</a:t>
            </a:r>
            <a:r>
              <a:rPr lang="en-US" altLang="en-US" sz="1800" dirty="0">
                <a:latin typeface="宋体" panose="02000500000000000000" pitchFamily="2" charset="-122"/>
                <a:ea typeface="宋体" panose="02000500000000000000" pitchFamily="2" charset="-122"/>
              </a:rPr>
              <a:t>$f</a:t>
            </a:r>
            <a:r>
              <a:rPr lang="en-US" altLang="zh-CN" sz="1800" dirty="0">
                <a:latin typeface="宋体" panose="02000500000000000000" pitchFamily="2" charset="-122"/>
                <a:ea typeface="宋体" panose="02000500000000000000" pitchFamily="2" charset="-122"/>
              </a:rPr>
              <a:t>4,</a:t>
            </a:r>
            <a:r>
              <a:rPr lang="en-US" altLang="en-US" sz="1800" dirty="0">
                <a:latin typeface="宋体" panose="02000500000000000000" pitchFamily="2" charset="-122"/>
                <a:ea typeface="宋体" panose="02000500000000000000" pitchFamily="2" charset="-122"/>
              </a:rPr>
              <a:t>$f</a:t>
            </a:r>
            <a:r>
              <a:rPr lang="en-US" altLang="zh-CN" sz="1800" dirty="0">
                <a:latin typeface="宋体" panose="02000500000000000000" pitchFamily="2" charset="-122"/>
                <a:ea typeface="宋体" panose="02000500000000000000" pitchFamily="2" charset="-122"/>
              </a:rPr>
              <a:t>0,</a:t>
            </a:r>
            <a:r>
              <a:rPr lang="en-US" altLang="en-US" sz="1800" dirty="0">
                <a:latin typeface="宋体" panose="02000500000000000000" pitchFamily="2" charset="-122"/>
                <a:ea typeface="宋体" panose="02000500000000000000" pitchFamily="2" charset="-122"/>
              </a:rPr>
              <a:t>$f</a:t>
            </a:r>
            <a:r>
              <a:rPr lang="en-US" altLang="zh-CN" sz="1800" dirty="0">
                <a:latin typeface="宋体" panose="02000500000000000000" pitchFamily="2" charset="-122"/>
                <a:ea typeface="宋体" panose="02000500000000000000" pitchFamily="2" charset="-122"/>
              </a:rPr>
              <a:t>2</a:t>
            </a:r>
            <a:endParaRPr lang="en-US" altLang="zh-CN" sz="1800" dirty="0">
              <a:latin typeface="宋体" panose="02000500000000000000" pitchFamily="2" charset="-122"/>
              <a:ea typeface="宋体" panose="02000500000000000000" pitchFamily="2" charset="-122"/>
            </a:endParaRPr>
          </a:p>
          <a:p>
            <a:pPr defTabSz="914400">
              <a:tabLst>
                <a:tab pos="971550" algn="l"/>
                <a:tab pos="2059305" algn="l"/>
                <a:tab pos="3657600" algn="l"/>
              </a:tabLst>
            </a:pPr>
            <a:r>
              <a:rPr lang="en-US" altLang="zh-CN" sz="1800" dirty="0">
                <a:latin typeface="宋体" panose="02000500000000000000" pitchFamily="2" charset="-122"/>
                <a:ea typeface="宋体" panose="02000500000000000000" pitchFamily="2" charset="-122"/>
              </a:rPr>
              <a:t> 12	</a:t>
            </a:r>
            <a:r>
              <a:rPr lang="en-US" altLang="en-US" sz="1800" dirty="0">
                <a:latin typeface="宋体" panose="02000500000000000000" pitchFamily="2" charset="-122"/>
                <a:ea typeface="宋体" panose="02000500000000000000" pitchFamily="2" charset="-122"/>
              </a:rPr>
              <a:t>fst.d</a:t>
            </a:r>
            <a:r>
              <a:rPr lang="en-US" altLang="zh-CN" sz="1800" dirty="0">
                <a:latin typeface="宋体" panose="02000500000000000000" pitchFamily="2" charset="-122"/>
                <a:ea typeface="宋体" panose="02000500000000000000" pitchFamily="2" charset="-122"/>
              </a:rPr>
              <a:t>	</a:t>
            </a:r>
            <a:r>
              <a:rPr lang="en-US" altLang="en-US" sz="1800" dirty="0">
                <a:latin typeface="宋体" panose="02000500000000000000" pitchFamily="2" charset="-122"/>
                <a:ea typeface="宋体" panose="02000500000000000000" pitchFamily="2" charset="-122"/>
              </a:rPr>
              <a:t>$f4,$r</a:t>
            </a:r>
            <a:r>
              <a:rPr lang="en-US" altLang="zh-CN" sz="1800" dirty="0">
                <a:latin typeface="宋体" panose="02000500000000000000" pitchFamily="2" charset="-122"/>
                <a:ea typeface="宋体" panose="02000500000000000000" pitchFamily="2" charset="-122"/>
              </a:rPr>
              <a:t>1</a:t>
            </a:r>
            <a:r>
              <a:rPr lang="en-US" altLang="en-US" sz="1800" dirty="0">
                <a:latin typeface="宋体" panose="02000500000000000000" pitchFamily="2" charset="-122"/>
                <a:ea typeface="宋体" panose="02000500000000000000" pitchFamily="2" charset="-122"/>
              </a:rPr>
              <a:t>,</a:t>
            </a:r>
            <a:r>
              <a:rPr lang="en-US" altLang="zh-CN" sz="1800" dirty="0">
                <a:solidFill>
                  <a:srgbClr val="FF0000"/>
                </a:solidFill>
                <a:latin typeface="宋体" panose="02000500000000000000" pitchFamily="2" charset="-122"/>
                <a:ea typeface="宋体" panose="02000500000000000000" pitchFamily="2" charset="-122"/>
              </a:rPr>
              <a:t>-24</a:t>
            </a:r>
            <a:endParaRPr lang="en-US" altLang="zh-CN" sz="1800" dirty="0">
              <a:latin typeface="宋体" panose="02000500000000000000" pitchFamily="2" charset="-122"/>
              <a:ea typeface="宋体" panose="02000500000000000000" pitchFamily="2" charset="-122"/>
            </a:endParaRPr>
          </a:p>
          <a:p>
            <a:pPr defTabSz="914400">
              <a:tabLst>
                <a:tab pos="971550" algn="l"/>
                <a:tab pos="2059305" algn="l"/>
                <a:tab pos="3657600" algn="l"/>
              </a:tabLst>
            </a:pPr>
            <a:r>
              <a:rPr lang="en-US" altLang="zh-CN" sz="1800" dirty="0">
                <a:latin typeface="宋体" panose="02000500000000000000" pitchFamily="2" charset="-122"/>
                <a:ea typeface="宋体" panose="02000500000000000000" pitchFamily="2" charset="-122"/>
              </a:rPr>
              <a:t> 13	</a:t>
            </a:r>
            <a:r>
              <a:rPr lang="zh-CN" altLang="en-US" sz="1800" dirty="0">
                <a:latin typeface="宋体" panose="02000500000000000000" pitchFamily="2" charset="-122"/>
                <a:ea typeface="宋体" panose="02000500000000000000" pitchFamily="2" charset="-122"/>
              </a:rPr>
              <a:t>addi.d</a:t>
            </a:r>
            <a:r>
              <a:rPr lang="en-US" altLang="zh-CN" sz="1800" dirty="0">
                <a:latin typeface="宋体" panose="02000500000000000000" pitchFamily="2" charset="-122"/>
                <a:ea typeface="宋体" panose="02000500000000000000" pitchFamily="2" charset="-122"/>
              </a:rPr>
              <a:t>	</a:t>
            </a:r>
            <a:r>
              <a:rPr lang="zh-CN" altLang="en-US" sz="1800" dirty="0">
                <a:latin typeface="宋体" panose="02000500000000000000" pitchFamily="2" charset="-122"/>
                <a:ea typeface="宋体" panose="02000500000000000000" pitchFamily="2" charset="-122"/>
              </a:rPr>
              <a:t>$r</a:t>
            </a:r>
            <a:r>
              <a:rPr lang="en-US" altLang="zh-CN" sz="1800" dirty="0">
                <a:latin typeface="宋体" panose="02000500000000000000" pitchFamily="2" charset="-122"/>
                <a:ea typeface="宋体" panose="02000500000000000000" pitchFamily="2" charset="-122"/>
              </a:rPr>
              <a:t>1,</a:t>
            </a:r>
            <a:r>
              <a:rPr lang="zh-CN" altLang="en-US" sz="1800" dirty="0">
                <a:latin typeface="宋体" panose="02000500000000000000" pitchFamily="2" charset="-122"/>
                <a:ea typeface="宋体" panose="02000500000000000000" pitchFamily="2" charset="-122"/>
              </a:rPr>
              <a:t>$r</a:t>
            </a:r>
            <a:r>
              <a:rPr lang="en-US" altLang="zh-CN" sz="1800" dirty="0">
                <a:latin typeface="宋体" panose="02000500000000000000" pitchFamily="2" charset="-122"/>
                <a:ea typeface="宋体" panose="02000500000000000000" pitchFamily="2" charset="-122"/>
              </a:rPr>
              <a:t>1</a:t>
            </a:r>
            <a:r>
              <a:rPr lang="zh-CN" altLang="en-US" sz="1800" dirty="0">
                <a:latin typeface="宋体" panose="02000500000000000000" pitchFamily="2" charset="-122"/>
                <a:ea typeface="宋体" panose="02000500000000000000" pitchFamily="2" charset="-122"/>
              </a:rPr>
              <a:t>,</a:t>
            </a:r>
            <a:r>
              <a:rPr lang="zh-CN" altLang="en-US" sz="1800" dirty="0">
                <a:solidFill>
                  <a:srgbClr val="FF0000"/>
                </a:solidFill>
                <a:latin typeface="宋体" panose="02000500000000000000" pitchFamily="2" charset="-122"/>
                <a:ea typeface="宋体" panose="02000500000000000000" pitchFamily="2" charset="-122"/>
              </a:rPr>
              <a:t>-</a:t>
            </a:r>
            <a:r>
              <a:rPr lang="en-US" altLang="zh-CN" sz="1800" dirty="0">
                <a:solidFill>
                  <a:srgbClr val="FF0000"/>
                </a:solidFill>
                <a:latin typeface="宋体" panose="02000500000000000000" pitchFamily="2" charset="-122"/>
                <a:ea typeface="宋体" panose="02000500000000000000" pitchFamily="2" charset="-122"/>
              </a:rPr>
              <a:t>32</a:t>
            </a:r>
            <a:r>
              <a:rPr lang="en-US" altLang="zh-CN" sz="1800" dirty="0">
                <a:solidFill>
                  <a:schemeClr val="accent2"/>
                </a:solidFill>
                <a:latin typeface="宋体" panose="02000500000000000000" pitchFamily="2" charset="-122"/>
                <a:ea typeface="宋体" panose="02000500000000000000" pitchFamily="2" charset="-122"/>
              </a:rPr>
              <a:t>	</a:t>
            </a:r>
            <a:r>
              <a:rPr lang="en-US" altLang="zh-CN" sz="1800" dirty="0">
                <a:solidFill>
                  <a:srgbClr val="FF0000"/>
                </a:solidFill>
                <a:latin typeface="宋体" panose="02000500000000000000" pitchFamily="2" charset="-122"/>
                <a:ea typeface="宋体" panose="02000500000000000000" pitchFamily="2" charset="-122"/>
              </a:rPr>
              <a:t>;alter to 4*8</a:t>
            </a:r>
            <a:endParaRPr lang="en-US" altLang="zh-CN" sz="1800" dirty="0">
              <a:latin typeface="宋体" panose="02000500000000000000" pitchFamily="2" charset="-122"/>
              <a:ea typeface="宋体" panose="02000500000000000000" pitchFamily="2" charset="-122"/>
            </a:endParaRPr>
          </a:p>
          <a:p>
            <a:pPr defTabSz="914400">
              <a:tabLst>
                <a:tab pos="971550" algn="l"/>
                <a:tab pos="2059305" algn="l"/>
                <a:tab pos="3657600" algn="l"/>
              </a:tabLst>
            </a:pPr>
            <a:r>
              <a:rPr lang="en-US" altLang="zh-CN" sz="1800" dirty="0">
                <a:latin typeface="宋体" panose="02000500000000000000" pitchFamily="2" charset="-122"/>
                <a:ea typeface="宋体" panose="02000500000000000000" pitchFamily="2" charset="-122"/>
              </a:rPr>
              <a:t> 14	</a:t>
            </a:r>
            <a:r>
              <a:rPr lang="zh-CN" altLang="en-US" sz="1800" dirty="0">
                <a:latin typeface="宋体" panose="02000500000000000000" pitchFamily="2" charset="-122"/>
                <a:ea typeface="宋体" panose="02000500000000000000" pitchFamily="2" charset="-122"/>
              </a:rPr>
              <a:t>bnez</a:t>
            </a:r>
            <a:r>
              <a:rPr lang="en-US" altLang="zh-CN" sz="1800" dirty="0">
                <a:latin typeface="宋体" panose="02000500000000000000" pitchFamily="2" charset="-122"/>
                <a:ea typeface="宋体" panose="02000500000000000000" pitchFamily="2" charset="-122"/>
              </a:rPr>
              <a:t>	</a:t>
            </a:r>
            <a:r>
              <a:rPr lang="zh-CN" altLang="en-US" sz="1800" dirty="0">
                <a:latin typeface="宋体" panose="02000500000000000000" pitchFamily="2" charset="-122"/>
                <a:ea typeface="宋体" panose="02000500000000000000" pitchFamily="2" charset="-122"/>
              </a:rPr>
              <a:t>$r1</a:t>
            </a:r>
            <a:r>
              <a:rPr lang="en-US" altLang="zh-CN" sz="1800" dirty="0">
                <a:latin typeface="宋体" panose="02000500000000000000" pitchFamily="2" charset="-122"/>
                <a:ea typeface="宋体" panose="02000500000000000000" pitchFamily="2" charset="-122"/>
              </a:rPr>
              <a:t>,L</a:t>
            </a:r>
            <a:r>
              <a:rPr lang="zh-CN" altLang="en-US" sz="1800" dirty="0">
                <a:latin typeface="宋体" panose="02000500000000000000" pitchFamily="2" charset="-122"/>
                <a:ea typeface="宋体" panose="02000500000000000000" pitchFamily="2" charset="-122"/>
              </a:rPr>
              <a:t>oop</a:t>
            </a:r>
            <a:endParaRPr lang="zh-CN" altLang="en-US" sz="1800" dirty="0">
              <a:latin typeface="宋体" panose="02000500000000000000" pitchFamily="2" charset="-122"/>
              <a:ea typeface="宋体" panose="02000500000000000000" pitchFamily="2" charset="-122"/>
            </a:endParaRPr>
          </a:p>
        </p:txBody>
      </p:sp>
      <p:sp>
        <p:nvSpPr>
          <p:cNvPr id="89091" name="Rectangle 3"/>
          <p:cNvSpPr>
            <a:spLocks noChangeArrowheads="1"/>
          </p:cNvSpPr>
          <p:nvPr/>
        </p:nvSpPr>
        <p:spPr bwMode="auto">
          <a:xfrm>
            <a:off x="508000" y="381000"/>
            <a:ext cx="11276013" cy="1111250"/>
          </a:xfrm>
          <a:prstGeom prst="rect">
            <a:avLst/>
          </a:prstGeom>
          <a:noFill/>
          <a:ln w="9525">
            <a:noFill/>
            <a:miter lim="800000"/>
          </a:ln>
        </p:spPr>
        <p:txBody>
          <a:bodyPr/>
          <a:lstStyle/>
          <a:p>
            <a:pPr marL="342900" marR="0" lvl="0" indent="-342900" algn="l" defTabSz="914400" rtl="0" eaLnBrk="1" fontAlgn="base" latinLnBrk="0" hangingPunct="1">
              <a:lnSpc>
                <a:spcPct val="150000"/>
              </a:lnSpc>
              <a:spcBef>
                <a:spcPts val="600"/>
              </a:spcBef>
              <a:spcAft>
                <a:spcPct val="0"/>
              </a:spcAft>
              <a:buClrTx/>
              <a:buSzTx/>
              <a:buFontTx/>
              <a:buChar char="•"/>
              <a:defRPr/>
            </a:pPr>
            <a:r>
              <a:rPr kumimoji="1" lang="zh-CN" altLang="en-US" sz="2000" b="1" i="0" u="none" strike="noStrike" kern="1200" cap="none" spc="0" normalizeH="0" baseline="0" noProof="0" dirty="0">
                <a:ln>
                  <a:noFill/>
                </a:ln>
                <a:solidFill>
                  <a:schemeClr val="tx1"/>
                </a:solidFill>
                <a:effectLst/>
                <a:uLnTx/>
                <a:uFillTx/>
                <a:latin typeface="+mn-ea"/>
                <a:ea typeface="+mn-ea"/>
                <a:cs typeface="+mn-cs"/>
              </a:rPr>
              <a:t>循环展开</a:t>
            </a:r>
            <a:r>
              <a:rPr kumimoji="1" lang="en-US" altLang="zh-CN" sz="2000" b="1" i="0" u="none" strike="noStrike" kern="1200" cap="none" spc="0" normalizeH="0" baseline="0" noProof="0" dirty="0">
                <a:ln>
                  <a:noFill/>
                </a:ln>
                <a:solidFill>
                  <a:schemeClr val="tx1"/>
                </a:solidFill>
                <a:effectLst/>
                <a:uLnTx/>
                <a:uFillTx/>
                <a:latin typeface="+mn-ea"/>
                <a:ea typeface="+mn-ea"/>
                <a:cs typeface="+mn-cs"/>
              </a:rPr>
              <a:t>4</a:t>
            </a:r>
            <a:r>
              <a:rPr kumimoji="1" lang="zh-CN" altLang="en-US" sz="2000" b="1" i="0" u="none" strike="noStrike" kern="1200" cap="none" spc="0" normalizeH="0" baseline="0" noProof="0" dirty="0">
                <a:ln>
                  <a:noFill/>
                </a:ln>
                <a:solidFill>
                  <a:schemeClr val="tx1"/>
                </a:solidFill>
                <a:effectLst/>
                <a:uLnTx/>
                <a:uFillTx/>
                <a:latin typeface="+mn-ea"/>
                <a:ea typeface="+mn-ea"/>
                <a:cs typeface="+mn-cs"/>
              </a:rPr>
              <a:t>次：假设</a:t>
            </a:r>
            <a:r>
              <a:rPr kumimoji="1" lang="en-US" altLang="zh-CN" sz="2000" b="1" i="0" u="none" strike="noStrike" kern="1200" cap="none" spc="0" normalizeH="0" baseline="0" noProof="0" dirty="0">
                <a:ln>
                  <a:noFill/>
                </a:ln>
                <a:solidFill>
                  <a:schemeClr val="tx1"/>
                </a:solidFill>
                <a:effectLst/>
                <a:uLnTx/>
                <a:uFillTx/>
                <a:latin typeface="+mn-ea"/>
                <a:ea typeface="+mn-ea"/>
                <a:cs typeface="+mn-cs"/>
              </a:rPr>
              <a:t>$r1</a:t>
            </a:r>
            <a:r>
              <a:rPr kumimoji="1" lang="zh-CN" altLang="en-US" sz="2000" b="1" i="0" u="none" strike="noStrike" kern="1200" cap="none" spc="0" normalizeH="0" baseline="0" noProof="0" dirty="0">
                <a:ln>
                  <a:noFill/>
                </a:ln>
                <a:solidFill>
                  <a:schemeClr val="tx1"/>
                </a:solidFill>
                <a:effectLst/>
                <a:uLnTx/>
                <a:uFillTx/>
                <a:latin typeface="+mn-ea"/>
                <a:ea typeface="+mn-ea"/>
                <a:cs typeface="+mn-cs"/>
              </a:rPr>
              <a:t>的初值是</a:t>
            </a:r>
            <a:r>
              <a:rPr kumimoji="1" lang="en-US" altLang="zh-CN" sz="2000" b="1" i="0" u="none" strike="noStrike" kern="1200" cap="none" spc="0" normalizeH="0" baseline="0" noProof="0" dirty="0">
                <a:ln>
                  <a:noFill/>
                </a:ln>
                <a:solidFill>
                  <a:schemeClr val="tx1"/>
                </a:solidFill>
                <a:effectLst/>
                <a:uLnTx/>
                <a:uFillTx/>
                <a:latin typeface="+mn-ea"/>
                <a:ea typeface="+mn-ea"/>
                <a:cs typeface="+mn-cs"/>
              </a:rPr>
              <a:t>32</a:t>
            </a:r>
            <a:r>
              <a:rPr kumimoji="1" lang="zh-CN" altLang="en-US" sz="2000" b="1" i="0" u="none" strike="noStrike" kern="1200" cap="none" spc="0" normalizeH="0" baseline="0" noProof="0" dirty="0">
                <a:ln>
                  <a:noFill/>
                </a:ln>
                <a:solidFill>
                  <a:schemeClr val="tx1"/>
                </a:solidFill>
                <a:effectLst/>
                <a:uLnTx/>
                <a:uFillTx/>
                <a:latin typeface="+mn-ea"/>
                <a:ea typeface="+mn-ea"/>
                <a:cs typeface="+mn-cs"/>
              </a:rPr>
              <a:t>的倍数</a:t>
            </a:r>
            <a:endParaRPr kumimoji="1" lang="zh-CN" altLang="en-US" sz="20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zh-CN" altLang="en-US" sz="1800" b="1" i="0" u="none" strike="noStrike" kern="1200" cap="none" spc="0" normalizeH="0" baseline="0" noProof="0" dirty="0">
                <a:ln>
                  <a:noFill/>
                </a:ln>
                <a:solidFill>
                  <a:schemeClr val="tx1"/>
                </a:solidFill>
                <a:effectLst/>
                <a:uLnTx/>
                <a:uFillTx/>
                <a:latin typeface="+mn-ea"/>
                <a:ea typeface="+mn-ea"/>
                <a:cs typeface="+mn-cs"/>
              </a:rPr>
              <a:t>注意</a:t>
            </a:r>
            <a:r>
              <a:rPr kumimoji="1" lang="en-US" altLang="zh-CN" sz="1800" b="1" i="0" u="none" strike="noStrike" kern="1200" cap="none" spc="0" normalizeH="0" baseline="0" noProof="0" dirty="0">
                <a:ln>
                  <a:noFill/>
                </a:ln>
                <a:solidFill>
                  <a:schemeClr val="tx1"/>
                </a:solidFill>
                <a:effectLst/>
                <a:uLnTx/>
                <a:uFillTx/>
                <a:latin typeface="+mn-ea"/>
                <a:ea typeface="+mn-ea"/>
                <a:cs typeface="+mn-cs"/>
              </a:rPr>
              <a:t>fst.d</a:t>
            </a:r>
            <a:r>
              <a:rPr kumimoji="1" lang="zh-CN" altLang="en-US" sz="1800" b="1" i="0" u="none" strike="noStrike" kern="1200" cap="none" spc="0" normalizeH="0" baseline="0" noProof="0" dirty="0">
                <a:ln>
                  <a:noFill/>
                </a:ln>
                <a:solidFill>
                  <a:schemeClr val="tx1"/>
                </a:solidFill>
                <a:effectLst/>
                <a:uLnTx/>
                <a:uFillTx/>
                <a:latin typeface="+mn-ea"/>
                <a:ea typeface="+mn-ea"/>
                <a:cs typeface="+mn-cs"/>
              </a:rPr>
              <a:t>指令中偏移量的变化</a:t>
            </a:r>
            <a:endParaRPr kumimoji="1" lang="zh-CN" altLang="en-US" sz="1800" b="1" i="0" u="none" strike="noStrike" kern="1200" cap="none" spc="0" normalizeH="0" baseline="0" noProof="0" dirty="0">
              <a:ln>
                <a:noFill/>
              </a:ln>
              <a:solidFill>
                <a:schemeClr val="tx1"/>
              </a:solidFill>
              <a:effectLst/>
              <a:uLnTx/>
              <a:uFillTx/>
              <a:latin typeface="+mn-ea"/>
              <a:ea typeface="+mn-ea"/>
              <a:cs typeface="+mn-cs"/>
            </a:endParaRPr>
          </a:p>
        </p:txBody>
      </p:sp>
      <p:sp>
        <p:nvSpPr>
          <p:cNvPr id="17411"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fld id="{9A0DB2DC-4C9A-4742-B13C-FB6460FD3503}" type="slidenum">
              <a:rPr lang="en-US" altLang="zh-CN" sz="1400" dirty="0"/>
            </a:fld>
            <a:endParaRPr lang="en-US" altLang="zh-CN"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Rectangle 2"/>
          <p:cNvSpPr/>
          <p:nvPr/>
        </p:nvSpPr>
        <p:spPr>
          <a:xfrm>
            <a:off x="1027113" y="2073275"/>
            <a:ext cx="5045075" cy="3967163"/>
          </a:xfrm>
          <a:prstGeom prst="rect">
            <a:avLst/>
          </a:prstGeom>
          <a:noFill/>
          <a:ln w="12700">
            <a:noFill/>
          </a:ln>
        </p:spPr>
        <p:txBody>
          <a:bodyPr lIns="90487" tIns="44450" rIns="90487" bIns="44450" anchor="t" anchorCtr="0">
            <a:spAutoFit/>
          </a:bodyPr>
          <a:p>
            <a:pPr defTabSz="914400">
              <a:tabLst>
                <a:tab pos="971550" algn="l"/>
                <a:tab pos="1970405" algn="l"/>
                <a:tab pos="3657600" algn="l"/>
              </a:tabLst>
            </a:pPr>
            <a:r>
              <a:rPr lang="en-US" altLang="zh-CN" sz="1800" dirty="0">
                <a:latin typeface="宋体" panose="02000500000000000000" pitchFamily="2" charset="-122"/>
                <a:ea typeface="宋体" panose="02000500000000000000" pitchFamily="2" charset="-122"/>
              </a:rPr>
              <a:t> 1 Loop:	fld.d	</a:t>
            </a:r>
            <a:r>
              <a:rPr lang="en-US" altLang="zh-CN" sz="1800" dirty="0">
                <a:solidFill>
                  <a:srgbClr val="FF0000"/>
                </a:solidFill>
                <a:latin typeface="宋体" panose="02000500000000000000" pitchFamily="2" charset="-122"/>
                <a:ea typeface="宋体" panose="02000500000000000000" pitchFamily="2" charset="-122"/>
              </a:rPr>
              <a:t>$f0</a:t>
            </a:r>
            <a:r>
              <a:rPr lang="en-US" altLang="zh-CN" sz="1800" dirty="0">
                <a:latin typeface="宋体" panose="02000500000000000000" pitchFamily="2" charset="-122"/>
                <a:ea typeface="宋体" panose="02000500000000000000" pitchFamily="2" charset="-122"/>
              </a:rPr>
              <a:t>,$r1,0</a:t>
            </a:r>
            <a:endParaRPr lang="en-US" altLang="zh-CN" sz="1800" dirty="0">
              <a:latin typeface="宋体" panose="02000500000000000000" pitchFamily="2" charset="-122"/>
              <a:ea typeface="宋体" panose="02000500000000000000" pitchFamily="2" charset="-122"/>
            </a:endParaRPr>
          </a:p>
          <a:p>
            <a:pPr defTabSz="914400">
              <a:tabLst>
                <a:tab pos="971550" algn="l"/>
                <a:tab pos="1970405" algn="l"/>
                <a:tab pos="3657600" algn="l"/>
              </a:tabLst>
            </a:pPr>
            <a:r>
              <a:rPr lang="en-US" altLang="zh-CN" sz="1800" dirty="0">
                <a:latin typeface="宋体" panose="02000500000000000000" pitchFamily="2" charset="-122"/>
                <a:ea typeface="宋体" panose="02000500000000000000" pitchFamily="2" charset="-122"/>
              </a:rPr>
              <a:t> 2	fadd.d	</a:t>
            </a:r>
            <a:r>
              <a:rPr lang="en-US" altLang="zh-CN" sz="1800" dirty="0">
                <a:solidFill>
                  <a:schemeClr val="accent1"/>
                </a:solidFill>
                <a:latin typeface="宋体" panose="02000500000000000000" pitchFamily="2" charset="-122"/>
                <a:ea typeface="宋体" panose="02000500000000000000" pitchFamily="2" charset="-122"/>
              </a:rPr>
              <a:t>$f4</a:t>
            </a:r>
            <a:r>
              <a:rPr lang="en-US" altLang="zh-CN" sz="1800" dirty="0">
                <a:latin typeface="宋体" panose="02000500000000000000" pitchFamily="2" charset="-122"/>
                <a:ea typeface="宋体" panose="02000500000000000000" pitchFamily="2" charset="-122"/>
              </a:rPr>
              <a:t>,</a:t>
            </a:r>
            <a:r>
              <a:rPr lang="en-US" altLang="zh-CN" sz="1800" dirty="0">
                <a:solidFill>
                  <a:srgbClr val="FF0000"/>
                </a:solidFill>
                <a:latin typeface="宋体" panose="02000500000000000000" pitchFamily="2" charset="-122"/>
                <a:ea typeface="宋体" panose="02000500000000000000" pitchFamily="2" charset="-122"/>
              </a:rPr>
              <a:t>$f0</a:t>
            </a:r>
            <a:r>
              <a:rPr lang="en-US" altLang="zh-CN" sz="1800" dirty="0">
                <a:latin typeface="宋体" panose="02000500000000000000" pitchFamily="2" charset="-122"/>
                <a:ea typeface="宋体" panose="02000500000000000000" pitchFamily="2" charset="-122"/>
              </a:rPr>
              <a:t>,$f2</a:t>
            </a:r>
            <a:endParaRPr lang="en-US" altLang="zh-CN" sz="1800" dirty="0">
              <a:latin typeface="宋体" panose="02000500000000000000" pitchFamily="2" charset="-122"/>
              <a:ea typeface="宋体" panose="02000500000000000000" pitchFamily="2" charset="-122"/>
            </a:endParaRPr>
          </a:p>
          <a:p>
            <a:pPr defTabSz="914400">
              <a:tabLst>
                <a:tab pos="971550" algn="l"/>
                <a:tab pos="1970405" algn="l"/>
                <a:tab pos="3657600" algn="l"/>
              </a:tabLst>
            </a:pPr>
            <a:r>
              <a:rPr lang="en-US" altLang="zh-CN" sz="1800" dirty="0">
                <a:latin typeface="宋体" panose="02000500000000000000" pitchFamily="2" charset="-122"/>
                <a:ea typeface="宋体" panose="02000500000000000000" pitchFamily="2" charset="-122"/>
              </a:rPr>
              <a:t> 3	fst.d	</a:t>
            </a:r>
            <a:r>
              <a:rPr lang="en-US" altLang="zh-CN" sz="1800" dirty="0">
                <a:solidFill>
                  <a:schemeClr val="accent1"/>
                </a:solidFill>
                <a:latin typeface="宋体" panose="02000500000000000000" pitchFamily="2" charset="-122"/>
                <a:ea typeface="宋体" panose="02000500000000000000" pitchFamily="2" charset="-122"/>
              </a:rPr>
              <a:t>$f4</a:t>
            </a:r>
            <a:r>
              <a:rPr lang="en-US" altLang="zh-CN" sz="1800" dirty="0">
                <a:latin typeface="宋体" panose="02000500000000000000" pitchFamily="2" charset="-122"/>
                <a:ea typeface="宋体" panose="02000500000000000000" pitchFamily="2" charset="-122"/>
              </a:rPr>
              <a:t>,$r1,0 </a:t>
            </a:r>
            <a:endParaRPr lang="en-US" altLang="zh-CN" sz="1800" dirty="0">
              <a:latin typeface="宋体" panose="02000500000000000000" pitchFamily="2" charset="-122"/>
              <a:ea typeface="宋体" panose="02000500000000000000" pitchFamily="2" charset="-122"/>
            </a:endParaRPr>
          </a:p>
          <a:p>
            <a:pPr defTabSz="914400">
              <a:tabLst>
                <a:tab pos="971550" algn="l"/>
                <a:tab pos="1970405" algn="l"/>
                <a:tab pos="3657600" algn="l"/>
              </a:tabLst>
            </a:pPr>
            <a:r>
              <a:rPr lang="en-US" altLang="zh-CN" sz="1800" dirty="0">
                <a:latin typeface="宋体" panose="02000500000000000000" pitchFamily="2" charset="-122"/>
                <a:ea typeface="宋体" panose="02000500000000000000" pitchFamily="2" charset="-122"/>
              </a:rPr>
              <a:t> 4	</a:t>
            </a:r>
            <a:r>
              <a:rPr lang="zh-CN" altLang="en-US" sz="1800" dirty="0">
                <a:latin typeface="宋体" panose="02000500000000000000" pitchFamily="2" charset="-122"/>
                <a:ea typeface="宋体" panose="02000500000000000000" pitchFamily="2" charset="-122"/>
              </a:rPr>
              <a:t>f</a:t>
            </a:r>
            <a:r>
              <a:rPr lang="en-US" altLang="zh-CN" sz="1800" dirty="0">
                <a:latin typeface="宋体" panose="02000500000000000000" pitchFamily="2" charset="-122"/>
                <a:ea typeface="宋体" panose="02000500000000000000" pitchFamily="2" charset="-122"/>
              </a:rPr>
              <a:t>ld.d	</a:t>
            </a:r>
            <a:r>
              <a:rPr lang="en-US" altLang="zh-CN" sz="1800" dirty="0">
                <a:solidFill>
                  <a:srgbClr val="FF0000"/>
                </a:solidFill>
                <a:latin typeface="宋体" panose="02000500000000000000" pitchFamily="2" charset="-122"/>
                <a:ea typeface="宋体" panose="02000500000000000000" pitchFamily="2" charset="-122"/>
              </a:rPr>
              <a:t>$f0</a:t>
            </a:r>
            <a:r>
              <a:rPr lang="en-US" altLang="zh-CN" sz="1800" dirty="0">
                <a:latin typeface="宋体" panose="02000500000000000000" pitchFamily="2" charset="-122"/>
                <a:ea typeface="宋体" panose="02000500000000000000" pitchFamily="2" charset="-122"/>
              </a:rPr>
              <a:t>,$r1,-8</a:t>
            </a:r>
            <a:endParaRPr lang="en-US" altLang="zh-CN" sz="1800" dirty="0">
              <a:latin typeface="宋体" panose="02000500000000000000" pitchFamily="2" charset="-122"/>
              <a:ea typeface="宋体" panose="02000500000000000000" pitchFamily="2" charset="-122"/>
            </a:endParaRPr>
          </a:p>
          <a:p>
            <a:pPr defTabSz="914400">
              <a:tabLst>
                <a:tab pos="971550" algn="l"/>
                <a:tab pos="1970405" algn="l"/>
                <a:tab pos="3657600" algn="l"/>
              </a:tabLst>
            </a:pPr>
            <a:r>
              <a:rPr lang="en-US" altLang="zh-CN" sz="1800" dirty="0">
                <a:latin typeface="宋体" panose="02000500000000000000" pitchFamily="2" charset="-122"/>
                <a:ea typeface="宋体" panose="02000500000000000000" pitchFamily="2" charset="-122"/>
              </a:rPr>
              <a:t> 5	fadd.d	</a:t>
            </a:r>
            <a:r>
              <a:rPr lang="en-US" altLang="zh-CN" sz="1800" dirty="0">
                <a:solidFill>
                  <a:schemeClr val="accent1"/>
                </a:solidFill>
                <a:latin typeface="宋体" panose="02000500000000000000" pitchFamily="2" charset="-122"/>
                <a:ea typeface="宋体" panose="02000500000000000000" pitchFamily="2" charset="-122"/>
              </a:rPr>
              <a:t>$f4</a:t>
            </a:r>
            <a:r>
              <a:rPr lang="en-US" altLang="zh-CN" sz="1800" dirty="0">
                <a:latin typeface="宋体" panose="02000500000000000000" pitchFamily="2" charset="-122"/>
                <a:ea typeface="宋体" panose="02000500000000000000" pitchFamily="2" charset="-122"/>
              </a:rPr>
              <a:t>,</a:t>
            </a:r>
            <a:r>
              <a:rPr lang="en-US" altLang="zh-CN" sz="1800" dirty="0">
                <a:solidFill>
                  <a:srgbClr val="FF0000"/>
                </a:solidFill>
                <a:latin typeface="宋体" panose="02000500000000000000" pitchFamily="2" charset="-122"/>
                <a:ea typeface="宋体" panose="02000500000000000000" pitchFamily="2" charset="-122"/>
              </a:rPr>
              <a:t>$f0</a:t>
            </a:r>
            <a:r>
              <a:rPr lang="en-US" altLang="zh-CN" sz="1800" dirty="0">
                <a:latin typeface="宋体" panose="02000500000000000000" pitchFamily="2" charset="-122"/>
                <a:ea typeface="宋体" panose="02000500000000000000" pitchFamily="2" charset="-122"/>
              </a:rPr>
              <a:t>,$f2</a:t>
            </a:r>
            <a:endParaRPr lang="en-US" altLang="zh-CN" sz="1800" dirty="0">
              <a:latin typeface="宋体" panose="02000500000000000000" pitchFamily="2" charset="-122"/>
              <a:ea typeface="宋体" panose="02000500000000000000" pitchFamily="2" charset="-122"/>
            </a:endParaRPr>
          </a:p>
          <a:p>
            <a:pPr defTabSz="914400">
              <a:tabLst>
                <a:tab pos="971550" algn="l"/>
                <a:tab pos="1970405" algn="l"/>
                <a:tab pos="3657600" algn="l"/>
              </a:tabLst>
            </a:pPr>
            <a:r>
              <a:rPr lang="en-US" altLang="zh-CN" sz="1800" dirty="0">
                <a:latin typeface="宋体" panose="02000500000000000000" pitchFamily="2" charset="-122"/>
                <a:ea typeface="宋体" panose="02000500000000000000" pitchFamily="2" charset="-122"/>
              </a:rPr>
              <a:t> 6	fst.d	</a:t>
            </a:r>
            <a:r>
              <a:rPr lang="en-US" altLang="zh-CN" sz="1800" dirty="0">
                <a:solidFill>
                  <a:schemeClr val="accent1"/>
                </a:solidFill>
                <a:latin typeface="宋体" panose="02000500000000000000" pitchFamily="2" charset="-122"/>
                <a:ea typeface="宋体" panose="02000500000000000000" pitchFamily="2" charset="-122"/>
              </a:rPr>
              <a:t>$f4</a:t>
            </a:r>
            <a:r>
              <a:rPr lang="en-US" altLang="zh-CN" sz="1800" dirty="0">
                <a:latin typeface="宋体" panose="02000500000000000000" pitchFamily="2" charset="-122"/>
                <a:ea typeface="宋体" panose="02000500000000000000" pitchFamily="2" charset="-122"/>
              </a:rPr>
              <a:t>,$r1,-8</a:t>
            </a:r>
            <a:endParaRPr lang="en-US" altLang="zh-CN" sz="1800" dirty="0">
              <a:latin typeface="宋体" panose="02000500000000000000" pitchFamily="2" charset="-122"/>
              <a:ea typeface="宋体" panose="02000500000000000000" pitchFamily="2" charset="-122"/>
            </a:endParaRPr>
          </a:p>
          <a:p>
            <a:pPr defTabSz="914400">
              <a:tabLst>
                <a:tab pos="971550" algn="l"/>
                <a:tab pos="1970405" algn="l"/>
                <a:tab pos="3657600" algn="l"/>
              </a:tabLst>
            </a:pPr>
            <a:r>
              <a:rPr lang="en-US" altLang="zh-CN" sz="1800" dirty="0">
                <a:latin typeface="宋体" panose="02000500000000000000" pitchFamily="2" charset="-122"/>
                <a:ea typeface="宋体" panose="02000500000000000000" pitchFamily="2" charset="-122"/>
              </a:rPr>
              <a:t> 7	</a:t>
            </a:r>
            <a:r>
              <a:rPr lang="zh-CN" altLang="en-US" sz="1800" dirty="0">
                <a:latin typeface="宋体" panose="02000500000000000000" pitchFamily="2" charset="-122"/>
                <a:ea typeface="宋体" panose="02000500000000000000" pitchFamily="2" charset="-122"/>
              </a:rPr>
              <a:t>f</a:t>
            </a:r>
            <a:r>
              <a:rPr lang="en-US" altLang="zh-CN" sz="1800" dirty="0">
                <a:latin typeface="宋体" panose="02000500000000000000" pitchFamily="2" charset="-122"/>
                <a:ea typeface="宋体" panose="02000500000000000000" pitchFamily="2" charset="-122"/>
              </a:rPr>
              <a:t>ld.d	</a:t>
            </a:r>
            <a:r>
              <a:rPr lang="en-US" altLang="zh-CN" sz="1800" dirty="0">
                <a:solidFill>
                  <a:srgbClr val="FF0000"/>
                </a:solidFill>
                <a:latin typeface="宋体" panose="02000500000000000000" pitchFamily="2" charset="-122"/>
                <a:ea typeface="宋体" panose="02000500000000000000" pitchFamily="2" charset="-122"/>
              </a:rPr>
              <a:t>$f0</a:t>
            </a:r>
            <a:r>
              <a:rPr lang="en-US" altLang="zh-CN" sz="1800" dirty="0">
                <a:latin typeface="宋体" panose="02000500000000000000" pitchFamily="2" charset="-122"/>
                <a:ea typeface="宋体" panose="02000500000000000000" pitchFamily="2" charset="-122"/>
              </a:rPr>
              <a:t>,$r1,-16</a:t>
            </a:r>
            <a:endParaRPr lang="en-US" altLang="zh-CN" sz="1800" dirty="0">
              <a:latin typeface="宋体" panose="02000500000000000000" pitchFamily="2" charset="-122"/>
              <a:ea typeface="宋体" panose="02000500000000000000" pitchFamily="2" charset="-122"/>
            </a:endParaRPr>
          </a:p>
          <a:p>
            <a:pPr defTabSz="914400">
              <a:tabLst>
                <a:tab pos="971550" algn="l"/>
                <a:tab pos="1970405" algn="l"/>
                <a:tab pos="3657600" algn="l"/>
              </a:tabLst>
            </a:pPr>
            <a:r>
              <a:rPr lang="en-US" altLang="zh-CN" sz="1800" dirty="0">
                <a:latin typeface="宋体" panose="02000500000000000000" pitchFamily="2" charset="-122"/>
                <a:ea typeface="宋体" panose="02000500000000000000" pitchFamily="2" charset="-122"/>
              </a:rPr>
              <a:t> 8	fadd.d	</a:t>
            </a:r>
            <a:r>
              <a:rPr lang="en-US" altLang="zh-CN" sz="1800" dirty="0">
                <a:solidFill>
                  <a:schemeClr val="accent1"/>
                </a:solidFill>
                <a:latin typeface="宋体" panose="02000500000000000000" pitchFamily="2" charset="-122"/>
                <a:ea typeface="宋体" panose="02000500000000000000" pitchFamily="2" charset="-122"/>
              </a:rPr>
              <a:t>$f4</a:t>
            </a:r>
            <a:r>
              <a:rPr lang="en-US" altLang="zh-CN" sz="1800" dirty="0">
                <a:latin typeface="宋体" panose="02000500000000000000" pitchFamily="2" charset="-122"/>
                <a:ea typeface="宋体" panose="02000500000000000000" pitchFamily="2" charset="-122"/>
              </a:rPr>
              <a:t>,</a:t>
            </a:r>
            <a:r>
              <a:rPr lang="en-US" altLang="zh-CN" sz="1800" dirty="0">
                <a:solidFill>
                  <a:srgbClr val="FF0000"/>
                </a:solidFill>
                <a:latin typeface="宋体" panose="02000500000000000000" pitchFamily="2" charset="-122"/>
                <a:ea typeface="宋体" panose="02000500000000000000" pitchFamily="2" charset="-122"/>
              </a:rPr>
              <a:t>$f0</a:t>
            </a:r>
            <a:r>
              <a:rPr lang="en-US" altLang="zh-CN" sz="1800" dirty="0">
                <a:latin typeface="宋体" panose="02000500000000000000" pitchFamily="2" charset="-122"/>
                <a:ea typeface="宋体" panose="02000500000000000000" pitchFamily="2" charset="-122"/>
              </a:rPr>
              <a:t>,$f2</a:t>
            </a:r>
            <a:endParaRPr lang="en-US" altLang="zh-CN" sz="1800" dirty="0">
              <a:latin typeface="宋体" panose="02000500000000000000" pitchFamily="2" charset="-122"/>
              <a:ea typeface="宋体" panose="02000500000000000000" pitchFamily="2" charset="-122"/>
            </a:endParaRPr>
          </a:p>
          <a:p>
            <a:pPr defTabSz="914400">
              <a:tabLst>
                <a:tab pos="971550" algn="l"/>
                <a:tab pos="1970405" algn="l"/>
                <a:tab pos="3657600" algn="l"/>
              </a:tabLst>
            </a:pPr>
            <a:r>
              <a:rPr lang="en-US" altLang="zh-CN" sz="1800" dirty="0">
                <a:latin typeface="宋体" panose="02000500000000000000" pitchFamily="2" charset="-122"/>
                <a:ea typeface="宋体" panose="02000500000000000000" pitchFamily="2" charset="-122"/>
              </a:rPr>
              <a:t> 9	fst.d	</a:t>
            </a:r>
            <a:r>
              <a:rPr lang="en-US" altLang="zh-CN" sz="1800" dirty="0">
                <a:solidFill>
                  <a:schemeClr val="accent1"/>
                </a:solidFill>
                <a:latin typeface="宋体" panose="02000500000000000000" pitchFamily="2" charset="-122"/>
                <a:ea typeface="宋体" panose="02000500000000000000" pitchFamily="2" charset="-122"/>
              </a:rPr>
              <a:t>$f4</a:t>
            </a:r>
            <a:r>
              <a:rPr lang="en-US" altLang="zh-CN" sz="1800" dirty="0">
                <a:latin typeface="宋体" panose="02000500000000000000" pitchFamily="2" charset="-122"/>
                <a:ea typeface="宋体" panose="02000500000000000000" pitchFamily="2" charset="-122"/>
              </a:rPr>
              <a:t>,$r1,-16</a:t>
            </a:r>
            <a:endParaRPr lang="en-US" altLang="zh-CN" sz="1800" dirty="0">
              <a:latin typeface="宋体" panose="02000500000000000000" pitchFamily="2" charset="-122"/>
              <a:ea typeface="宋体" panose="02000500000000000000" pitchFamily="2" charset="-122"/>
            </a:endParaRPr>
          </a:p>
          <a:p>
            <a:pPr defTabSz="914400">
              <a:tabLst>
                <a:tab pos="971550" algn="l"/>
                <a:tab pos="1970405" algn="l"/>
                <a:tab pos="3657600" algn="l"/>
              </a:tabLst>
            </a:pPr>
            <a:r>
              <a:rPr lang="en-US" altLang="zh-CN" sz="1800" dirty="0">
                <a:latin typeface="宋体" panose="02000500000000000000" pitchFamily="2" charset="-122"/>
                <a:ea typeface="宋体" panose="02000500000000000000" pitchFamily="2" charset="-122"/>
              </a:rPr>
              <a:t> 10	</a:t>
            </a:r>
            <a:r>
              <a:rPr lang="zh-CN" altLang="en-US" sz="1800" dirty="0">
                <a:latin typeface="宋体" panose="02000500000000000000" pitchFamily="2" charset="-122"/>
                <a:ea typeface="宋体" panose="02000500000000000000" pitchFamily="2" charset="-122"/>
              </a:rPr>
              <a:t>f</a:t>
            </a:r>
            <a:r>
              <a:rPr lang="en-US" altLang="zh-CN" sz="1800" dirty="0">
                <a:latin typeface="宋体" panose="02000500000000000000" pitchFamily="2" charset="-122"/>
                <a:ea typeface="宋体" panose="02000500000000000000" pitchFamily="2" charset="-122"/>
              </a:rPr>
              <a:t>ld.d	</a:t>
            </a:r>
            <a:r>
              <a:rPr lang="en-US" altLang="zh-CN" sz="1800" dirty="0">
                <a:solidFill>
                  <a:srgbClr val="FF0000"/>
                </a:solidFill>
                <a:latin typeface="宋体" panose="02000500000000000000" pitchFamily="2" charset="-122"/>
                <a:ea typeface="宋体" panose="02000500000000000000" pitchFamily="2" charset="-122"/>
              </a:rPr>
              <a:t>$f0</a:t>
            </a:r>
            <a:r>
              <a:rPr lang="en-US" altLang="zh-CN" sz="1800" dirty="0">
                <a:latin typeface="宋体" panose="02000500000000000000" pitchFamily="2" charset="-122"/>
                <a:ea typeface="宋体" panose="02000500000000000000" pitchFamily="2" charset="-122"/>
              </a:rPr>
              <a:t>,$r1,-24</a:t>
            </a:r>
            <a:endParaRPr lang="en-US" altLang="zh-CN" sz="1800" dirty="0">
              <a:latin typeface="宋体" panose="02000500000000000000" pitchFamily="2" charset="-122"/>
              <a:ea typeface="宋体" panose="02000500000000000000" pitchFamily="2" charset="-122"/>
            </a:endParaRPr>
          </a:p>
          <a:p>
            <a:pPr defTabSz="914400">
              <a:tabLst>
                <a:tab pos="971550" algn="l"/>
                <a:tab pos="1970405" algn="l"/>
                <a:tab pos="3657600" algn="l"/>
              </a:tabLst>
            </a:pPr>
            <a:r>
              <a:rPr lang="en-US" altLang="zh-CN" sz="1800" dirty="0">
                <a:latin typeface="宋体" panose="02000500000000000000" pitchFamily="2" charset="-122"/>
                <a:ea typeface="宋体" panose="02000500000000000000" pitchFamily="2" charset="-122"/>
              </a:rPr>
              <a:t> 11	fadd.d	</a:t>
            </a:r>
            <a:r>
              <a:rPr lang="en-US" altLang="zh-CN" sz="1800" dirty="0">
                <a:solidFill>
                  <a:schemeClr val="accent1"/>
                </a:solidFill>
                <a:latin typeface="宋体" panose="02000500000000000000" pitchFamily="2" charset="-122"/>
                <a:ea typeface="宋体" panose="02000500000000000000" pitchFamily="2" charset="-122"/>
              </a:rPr>
              <a:t>$f4</a:t>
            </a:r>
            <a:r>
              <a:rPr lang="en-US" altLang="zh-CN" sz="1800" dirty="0">
                <a:latin typeface="宋体" panose="02000500000000000000" pitchFamily="2" charset="-122"/>
                <a:ea typeface="宋体" panose="02000500000000000000" pitchFamily="2" charset="-122"/>
              </a:rPr>
              <a:t>,</a:t>
            </a:r>
            <a:r>
              <a:rPr lang="en-US" altLang="zh-CN" sz="1800" dirty="0">
                <a:solidFill>
                  <a:srgbClr val="FF0000"/>
                </a:solidFill>
                <a:latin typeface="宋体" panose="02000500000000000000" pitchFamily="2" charset="-122"/>
                <a:ea typeface="宋体" panose="02000500000000000000" pitchFamily="2" charset="-122"/>
              </a:rPr>
              <a:t>$f0</a:t>
            </a:r>
            <a:r>
              <a:rPr lang="en-US" altLang="zh-CN" sz="1800" dirty="0">
                <a:latin typeface="宋体" panose="02000500000000000000" pitchFamily="2" charset="-122"/>
                <a:ea typeface="宋体" panose="02000500000000000000" pitchFamily="2" charset="-122"/>
              </a:rPr>
              <a:t>,$f2</a:t>
            </a:r>
            <a:endParaRPr lang="en-US" altLang="zh-CN" sz="1800" dirty="0">
              <a:latin typeface="宋体" panose="02000500000000000000" pitchFamily="2" charset="-122"/>
              <a:ea typeface="宋体" panose="02000500000000000000" pitchFamily="2" charset="-122"/>
            </a:endParaRPr>
          </a:p>
          <a:p>
            <a:pPr defTabSz="914400">
              <a:tabLst>
                <a:tab pos="971550" algn="l"/>
                <a:tab pos="1970405" algn="l"/>
                <a:tab pos="3657600" algn="l"/>
              </a:tabLst>
            </a:pPr>
            <a:r>
              <a:rPr lang="en-US" altLang="zh-CN" sz="1800" dirty="0">
                <a:latin typeface="宋体" panose="02000500000000000000" pitchFamily="2" charset="-122"/>
                <a:ea typeface="宋体" panose="02000500000000000000" pitchFamily="2" charset="-122"/>
              </a:rPr>
              <a:t> 12	fst.d	</a:t>
            </a:r>
            <a:r>
              <a:rPr lang="en-US" altLang="zh-CN" sz="1800" dirty="0">
                <a:solidFill>
                  <a:schemeClr val="accent1"/>
                </a:solidFill>
                <a:latin typeface="宋体" panose="02000500000000000000" pitchFamily="2" charset="-122"/>
                <a:ea typeface="宋体" panose="02000500000000000000" pitchFamily="2" charset="-122"/>
              </a:rPr>
              <a:t>$f4</a:t>
            </a:r>
            <a:r>
              <a:rPr lang="en-US" altLang="zh-CN" sz="1800" dirty="0">
                <a:latin typeface="宋体" panose="02000500000000000000" pitchFamily="2" charset="-122"/>
                <a:ea typeface="宋体" panose="02000500000000000000" pitchFamily="2" charset="-122"/>
              </a:rPr>
              <a:t>,$r1,-24</a:t>
            </a:r>
            <a:endParaRPr lang="en-US" altLang="zh-CN" sz="1800" dirty="0">
              <a:latin typeface="宋体" panose="02000500000000000000" pitchFamily="2" charset="-122"/>
              <a:ea typeface="宋体" panose="02000500000000000000" pitchFamily="2" charset="-122"/>
            </a:endParaRPr>
          </a:p>
          <a:p>
            <a:pPr defTabSz="914400">
              <a:tabLst>
                <a:tab pos="971550" algn="l"/>
                <a:tab pos="1970405" algn="l"/>
                <a:tab pos="3657600" algn="l"/>
              </a:tabLst>
            </a:pPr>
            <a:r>
              <a:rPr lang="en-US" altLang="zh-CN" sz="1800" dirty="0">
                <a:latin typeface="宋体" panose="02000500000000000000" pitchFamily="2" charset="-122"/>
                <a:ea typeface="宋体" panose="02000500000000000000" pitchFamily="2" charset="-122"/>
              </a:rPr>
              <a:t> 13	addi.d	$r1,$r1,-32</a:t>
            </a:r>
            <a:endParaRPr lang="en-US" altLang="zh-CN" sz="1800" dirty="0">
              <a:latin typeface="宋体" panose="02000500000000000000" pitchFamily="2" charset="-122"/>
              <a:ea typeface="宋体" panose="02000500000000000000" pitchFamily="2" charset="-122"/>
            </a:endParaRPr>
          </a:p>
          <a:p>
            <a:pPr defTabSz="914400">
              <a:tabLst>
                <a:tab pos="971550" algn="l"/>
                <a:tab pos="1970405" algn="l"/>
                <a:tab pos="3657600" algn="l"/>
              </a:tabLst>
            </a:pPr>
            <a:r>
              <a:rPr lang="en-US" altLang="zh-CN" sz="1800" dirty="0">
                <a:latin typeface="宋体" panose="02000500000000000000" pitchFamily="2" charset="-122"/>
                <a:ea typeface="宋体" panose="02000500000000000000" pitchFamily="2" charset="-122"/>
              </a:rPr>
              <a:t> 14	bnez	$r1,Loop</a:t>
            </a:r>
            <a:endParaRPr lang="zh-CN" altLang="en-US" dirty="0">
              <a:solidFill>
                <a:schemeClr val="hlink"/>
              </a:solidFill>
              <a:latin typeface="宋体" panose="02000500000000000000" pitchFamily="2" charset="-122"/>
              <a:ea typeface="宋体" panose="02000500000000000000" pitchFamily="2" charset="-122"/>
            </a:endParaRPr>
          </a:p>
        </p:txBody>
      </p:sp>
      <p:sp>
        <p:nvSpPr>
          <p:cNvPr id="40964" name="Rectangle 5"/>
          <p:cNvSpPr>
            <a:spLocks noChangeArrowheads="1"/>
          </p:cNvSpPr>
          <p:nvPr/>
        </p:nvSpPr>
        <p:spPr bwMode="auto">
          <a:xfrm>
            <a:off x="304800" y="228600"/>
            <a:ext cx="11276013" cy="1295400"/>
          </a:xfrm>
          <a:prstGeom prst="rect">
            <a:avLst/>
          </a:prstGeom>
          <a:noFill/>
          <a:ln w="9525">
            <a:noFill/>
            <a:miter lim="800000"/>
          </a:ln>
        </p:spPr>
        <p:txBody>
          <a:bodyPr/>
          <a:lstStyle/>
          <a:p>
            <a:pPr marL="342900" marR="0" lvl="0" indent="-342900" algn="l" defTabSz="914400" rtl="0" eaLnBrk="1" fontAlgn="base" latinLnBrk="0" hangingPunct="1">
              <a:lnSpc>
                <a:spcPct val="150000"/>
              </a:lnSpc>
              <a:spcBef>
                <a:spcPts val="600"/>
              </a:spcBef>
              <a:spcAft>
                <a:spcPct val="0"/>
              </a:spcAft>
              <a:buClrTx/>
              <a:buSzTx/>
              <a:buFontTx/>
              <a:buChar char="•"/>
              <a:defRPr/>
            </a:pPr>
            <a:r>
              <a:rPr kumimoji="1" lang="zh-CN" altLang="en-US" sz="2000" b="1" i="0" u="none" strike="noStrike" kern="1200" cap="none" spc="0" normalizeH="0" baseline="0" noProof="0" dirty="0">
                <a:ln>
                  <a:noFill/>
                </a:ln>
                <a:solidFill>
                  <a:schemeClr val="tx1"/>
                </a:solidFill>
                <a:effectLst/>
                <a:uLnTx/>
                <a:uFillTx/>
                <a:latin typeface="+mn-ea"/>
                <a:ea typeface="+mn-ea"/>
                <a:cs typeface="+mn-cs"/>
              </a:rPr>
              <a:t>寄存器重命名：消除</a:t>
            </a:r>
            <a:r>
              <a:rPr kumimoji="1" lang="en-US" altLang="zh-CN" sz="2000" b="1" i="0" u="none" strike="noStrike" kern="1200" cap="none" spc="0" normalizeH="0" baseline="0" noProof="0" dirty="0">
                <a:ln>
                  <a:noFill/>
                </a:ln>
                <a:solidFill>
                  <a:schemeClr val="tx1"/>
                </a:solidFill>
                <a:effectLst/>
                <a:uLnTx/>
                <a:uFillTx/>
                <a:latin typeface="+mn-ea"/>
                <a:ea typeface="+mn-ea"/>
                <a:cs typeface="+mn-cs"/>
              </a:rPr>
              <a:t>WAW</a:t>
            </a:r>
            <a:r>
              <a:rPr kumimoji="1" lang="zh-CN" altLang="en-US" sz="2000" b="1" i="0" u="none" strike="noStrike" kern="1200" cap="none" spc="0" normalizeH="0" baseline="0" noProof="0" dirty="0">
                <a:ln>
                  <a:noFill/>
                </a:ln>
                <a:solidFill>
                  <a:schemeClr val="tx1"/>
                </a:solidFill>
                <a:effectLst/>
                <a:uLnTx/>
                <a:uFillTx/>
                <a:latin typeface="+mn-ea"/>
                <a:ea typeface="+mn-ea"/>
                <a:cs typeface="+mn-cs"/>
              </a:rPr>
              <a:t>和</a:t>
            </a:r>
            <a:r>
              <a:rPr kumimoji="1" lang="en-US" altLang="zh-CN" sz="2000" b="1" i="0" u="none" strike="noStrike" kern="1200" cap="none" spc="0" normalizeH="0" baseline="0" noProof="0" dirty="0">
                <a:ln>
                  <a:noFill/>
                </a:ln>
                <a:solidFill>
                  <a:schemeClr val="tx1"/>
                </a:solidFill>
                <a:effectLst/>
                <a:uLnTx/>
                <a:uFillTx/>
                <a:latin typeface="+mn-ea"/>
                <a:ea typeface="+mn-ea"/>
                <a:cs typeface="+mn-cs"/>
              </a:rPr>
              <a:t>WAR</a:t>
            </a:r>
            <a:r>
              <a:rPr kumimoji="1" lang="zh-CN" altLang="en-US" sz="2000" b="1" i="0" u="none" strike="noStrike" kern="1200" cap="none" spc="0" normalizeH="0" baseline="0" noProof="0" dirty="0">
                <a:ln>
                  <a:noFill/>
                </a:ln>
                <a:solidFill>
                  <a:schemeClr val="tx1"/>
                </a:solidFill>
                <a:effectLst/>
                <a:uLnTx/>
                <a:uFillTx/>
                <a:latin typeface="+mn-ea"/>
                <a:ea typeface="+mn-ea"/>
                <a:cs typeface="+mn-cs"/>
              </a:rPr>
              <a:t>相关</a:t>
            </a:r>
            <a:endParaRPr kumimoji="1" lang="zh-CN" altLang="en-US" sz="20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zh-CN" altLang="en-US" sz="1800" b="1" i="0" u="none" strike="noStrike" kern="1200" cap="none" spc="0" normalizeH="0" baseline="0" noProof="0" dirty="0">
                <a:ln>
                  <a:noFill/>
                </a:ln>
                <a:solidFill>
                  <a:schemeClr val="tx1"/>
                </a:solidFill>
                <a:effectLst/>
                <a:uLnTx/>
                <a:uFillTx/>
                <a:latin typeface="+mn-ea"/>
                <a:ea typeface="+mn-ea"/>
                <a:cs typeface="+mn-cs"/>
              </a:rPr>
              <a:t>每</a:t>
            </a:r>
            <a:r>
              <a:rPr kumimoji="1" lang="en-US" altLang="zh-CN" sz="1800" b="1" i="0" u="none" strike="noStrike" kern="1200" cap="none" spc="0" normalizeH="0" baseline="0" noProof="0" dirty="0">
                <a:ln>
                  <a:noFill/>
                </a:ln>
                <a:solidFill>
                  <a:schemeClr val="tx1"/>
                </a:solidFill>
                <a:effectLst/>
                <a:uLnTx/>
                <a:uFillTx/>
                <a:latin typeface="+mn-ea"/>
                <a:ea typeface="+mn-ea"/>
                <a:cs typeface="+mn-cs"/>
              </a:rPr>
              <a:t>4</a:t>
            </a:r>
            <a:r>
              <a:rPr kumimoji="1" lang="zh-CN" altLang="en-US" sz="1800" b="1" i="0" u="none" strike="noStrike" kern="1200" cap="none" spc="0" normalizeH="0" baseline="0" noProof="0" dirty="0">
                <a:ln>
                  <a:noFill/>
                </a:ln>
                <a:solidFill>
                  <a:schemeClr val="tx1"/>
                </a:solidFill>
                <a:effectLst/>
                <a:uLnTx/>
                <a:uFillTx/>
                <a:latin typeface="+mn-ea"/>
                <a:ea typeface="+mn-ea"/>
                <a:cs typeface="+mn-cs"/>
              </a:rPr>
              <a:t>个循环需要</a:t>
            </a:r>
            <a:r>
              <a:rPr kumimoji="1" lang="en-US" altLang="zh-CN" sz="1800" b="1" i="0" u="none" strike="noStrike" kern="1200" cap="none" spc="0" normalizeH="0" baseline="0" noProof="0" dirty="0">
                <a:ln>
                  <a:noFill/>
                </a:ln>
                <a:solidFill>
                  <a:schemeClr val="tx1"/>
                </a:solidFill>
                <a:effectLst/>
                <a:uLnTx/>
                <a:uFillTx/>
                <a:latin typeface="+mn-ea"/>
                <a:ea typeface="+mn-ea"/>
                <a:cs typeface="+mn-cs"/>
              </a:rPr>
              <a:t>1</a:t>
            </a:r>
            <a:r>
              <a:rPr kumimoji="1" lang="en-US" altLang="en-US" sz="1800" b="1" i="0" u="none" strike="noStrike" kern="1200" cap="none" spc="0" normalizeH="0" baseline="0" noProof="0" dirty="0">
                <a:ln>
                  <a:noFill/>
                </a:ln>
                <a:solidFill>
                  <a:schemeClr val="tx1"/>
                </a:solidFill>
                <a:effectLst/>
                <a:uLnTx/>
                <a:uFillTx/>
                <a:latin typeface="+mn-ea"/>
                <a:ea typeface="+mn-ea"/>
                <a:cs typeface="+mn-cs"/>
              </a:rPr>
              <a:t>4</a:t>
            </a:r>
            <a:r>
              <a:rPr kumimoji="1" lang="en-US" altLang="zh-CN" sz="1800" b="1" i="0" u="none" strike="noStrike" kern="1200" cap="none" spc="0" normalizeH="0" baseline="0" noProof="0" dirty="0">
                <a:ln>
                  <a:noFill/>
                </a:ln>
                <a:solidFill>
                  <a:schemeClr val="tx1"/>
                </a:solidFill>
                <a:effectLst/>
                <a:uLnTx/>
                <a:uFillTx/>
                <a:latin typeface="+mn-ea"/>
                <a:ea typeface="+mn-ea"/>
                <a:cs typeface="+mn-cs"/>
              </a:rPr>
              <a:t> + 4 x (</a:t>
            </a:r>
            <a:r>
              <a:rPr kumimoji="1" lang="en-US" altLang="en-US" sz="1800" b="1" i="0" u="none" strike="noStrike" kern="1200" cap="none" spc="0" normalizeH="0" baseline="0" noProof="0" dirty="0">
                <a:ln>
                  <a:noFill/>
                </a:ln>
                <a:solidFill>
                  <a:schemeClr val="tx1"/>
                </a:solidFill>
                <a:effectLst/>
                <a:uLnTx/>
                <a:uFillTx/>
                <a:latin typeface="+mn-ea"/>
                <a:ea typeface="+mn-ea"/>
                <a:cs typeface="+mn-cs"/>
              </a:rPr>
              <a:t>2</a:t>
            </a:r>
            <a:r>
              <a:rPr kumimoji="1" lang="en-US" altLang="zh-CN" sz="1800" b="1" i="0" u="none" strike="noStrike" kern="1200" cap="none" spc="0" normalizeH="0" baseline="0" noProof="0" dirty="0">
                <a:ln>
                  <a:noFill/>
                </a:ln>
                <a:solidFill>
                  <a:schemeClr val="tx1"/>
                </a:solidFill>
                <a:effectLst/>
                <a:uLnTx/>
                <a:uFillTx/>
                <a:latin typeface="+mn-ea"/>
                <a:ea typeface="+mn-ea"/>
                <a:cs typeface="+mn-cs"/>
              </a:rPr>
              <a:t>+</a:t>
            </a:r>
            <a:r>
              <a:rPr kumimoji="1" lang="en-US" altLang="en-US" sz="1800" b="1" i="0" u="none" strike="noStrike" kern="1200" cap="none" spc="0" normalizeH="0" baseline="0" noProof="0" dirty="0">
                <a:ln>
                  <a:noFill/>
                </a:ln>
                <a:solidFill>
                  <a:schemeClr val="tx1"/>
                </a:solidFill>
                <a:effectLst/>
                <a:uLnTx/>
                <a:uFillTx/>
                <a:latin typeface="+mn-ea"/>
                <a:ea typeface="+mn-ea"/>
                <a:cs typeface="+mn-cs"/>
              </a:rPr>
              <a:t>1</a:t>
            </a:r>
            <a:r>
              <a:rPr kumimoji="1" lang="en-US" altLang="zh-CN" sz="1800" b="1" i="0" u="none" strike="noStrike" kern="1200" cap="none" spc="0" normalizeH="0" baseline="0" noProof="0" dirty="0">
                <a:ln>
                  <a:noFill/>
                </a:ln>
                <a:solidFill>
                  <a:schemeClr val="tx1"/>
                </a:solidFill>
                <a:effectLst/>
                <a:uLnTx/>
                <a:uFillTx/>
                <a:latin typeface="+mn-ea"/>
                <a:ea typeface="+mn-ea"/>
                <a:cs typeface="+mn-cs"/>
              </a:rPr>
              <a:t>) = 2</a:t>
            </a:r>
            <a:r>
              <a:rPr kumimoji="1" lang="en-US" altLang="en-US" sz="1800" b="1" i="0" u="none" strike="noStrike" kern="1200" cap="none" spc="0" normalizeH="0" baseline="0" noProof="0" dirty="0">
                <a:ln>
                  <a:noFill/>
                </a:ln>
                <a:solidFill>
                  <a:schemeClr val="tx1"/>
                </a:solidFill>
                <a:effectLst/>
                <a:uLnTx/>
                <a:uFillTx/>
                <a:latin typeface="+mn-ea"/>
                <a:ea typeface="+mn-ea"/>
                <a:cs typeface="+mn-cs"/>
              </a:rPr>
              <a:t>6</a:t>
            </a:r>
            <a:r>
              <a:rPr kumimoji="1" lang="en-US" altLang="zh-CN" sz="1800" b="1" i="0" u="none" strike="noStrike" kern="1200" cap="none" spc="0" normalizeH="0" baseline="0" noProof="0" dirty="0">
                <a:ln>
                  <a:noFill/>
                </a:ln>
                <a:solidFill>
                  <a:schemeClr val="tx1"/>
                </a:solidFill>
                <a:effectLst/>
                <a:uLnTx/>
                <a:uFillTx/>
                <a:latin typeface="+mn-ea"/>
                <a:ea typeface="+mn-ea"/>
                <a:cs typeface="+mn-cs"/>
              </a:rPr>
              <a:t> </a:t>
            </a:r>
            <a:r>
              <a:rPr kumimoji="1" lang="zh-CN" altLang="en-US" sz="1800" b="1" i="0" u="none" strike="noStrike" kern="1200" cap="none" spc="0" normalizeH="0" baseline="0" noProof="0" dirty="0">
                <a:ln>
                  <a:noFill/>
                </a:ln>
                <a:solidFill>
                  <a:schemeClr val="tx1"/>
                </a:solidFill>
                <a:effectLst/>
                <a:uLnTx/>
                <a:uFillTx/>
                <a:latin typeface="+mn-ea"/>
                <a:ea typeface="+mn-ea"/>
                <a:cs typeface="+mn-cs"/>
              </a:rPr>
              <a:t>拍，每个循环 </a:t>
            </a:r>
            <a:r>
              <a:rPr kumimoji="1" lang="en-US" altLang="zh-CN" sz="1800" b="1" i="0" u="none" strike="noStrike" kern="1200" cap="none" spc="0" normalizeH="0" baseline="0" noProof="0" dirty="0">
                <a:ln>
                  <a:noFill/>
                </a:ln>
                <a:solidFill>
                  <a:schemeClr val="tx1"/>
                </a:solidFill>
                <a:effectLst/>
                <a:uLnTx/>
                <a:uFillTx/>
                <a:latin typeface="+mn-ea"/>
                <a:ea typeface="+mn-ea"/>
                <a:cs typeface="+mn-cs"/>
              </a:rPr>
              <a:t>6.</a:t>
            </a:r>
            <a:r>
              <a:rPr kumimoji="1" lang="en-US" altLang="en-US" sz="1800" b="1" i="0" u="none" strike="noStrike" kern="1200" cap="none" spc="0" normalizeH="0" baseline="0" noProof="0" dirty="0">
                <a:ln>
                  <a:noFill/>
                </a:ln>
                <a:solidFill>
                  <a:schemeClr val="tx1"/>
                </a:solidFill>
                <a:effectLst/>
                <a:uLnTx/>
                <a:uFillTx/>
                <a:latin typeface="+mn-ea"/>
                <a:ea typeface="+mn-ea"/>
                <a:cs typeface="+mn-cs"/>
              </a:rPr>
              <a:t>5</a:t>
            </a:r>
            <a:r>
              <a:rPr kumimoji="1" lang="en-US" altLang="zh-CN" sz="1800" b="1" i="0" u="none" strike="noStrike" kern="1200" cap="none" spc="0" normalizeH="0" baseline="0" noProof="0" dirty="0">
                <a:ln>
                  <a:noFill/>
                </a:ln>
                <a:solidFill>
                  <a:schemeClr val="tx1"/>
                </a:solidFill>
                <a:effectLst/>
                <a:uLnTx/>
                <a:uFillTx/>
                <a:latin typeface="+mn-ea"/>
                <a:ea typeface="+mn-ea"/>
                <a:cs typeface="+mn-cs"/>
              </a:rPr>
              <a:t> </a:t>
            </a:r>
            <a:r>
              <a:rPr kumimoji="1" lang="zh-CN" altLang="en-US" sz="1800" b="1" i="0" u="none" strike="noStrike" kern="1200" cap="none" spc="0" normalizeH="0" baseline="0" noProof="0" dirty="0">
                <a:ln>
                  <a:noFill/>
                </a:ln>
                <a:solidFill>
                  <a:schemeClr val="tx1"/>
                </a:solidFill>
                <a:effectLst/>
                <a:uLnTx/>
                <a:uFillTx/>
                <a:latin typeface="+mn-ea"/>
                <a:ea typeface="+mn-ea"/>
                <a:cs typeface="+mn-cs"/>
              </a:rPr>
              <a:t>拍</a:t>
            </a:r>
            <a:endParaRPr kumimoji="1" lang="zh-CN" altLang="en-US" sz="1800" b="1" i="0" u="none" strike="noStrike" kern="1200" cap="none" spc="0" normalizeH="0" baseline="0" noProof="0" dirty="0">
              <a:ln>
                <a:noFill/>
              </a:ln>
              <a:solidFill>
                <a:schemeClr val="tx1"/>
              </a:solidFill>
              <a:effectLst/>
              <a:uLnTx/>
              <a:uFillTx/>
              <a:latin typeface="+mn-ea"/>
              <a:ea typeface="+mn-ea"/>
              <a:cs typeface="+mn-cs"/>
            </a:endParaRPr>
          </a:p>
        </p:txBody>
      </p:sp>
      <p:sp>
        <p:nvSpPr>
          <p:cNvPr id="18435" name="灯片编号占位符 6"/>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fld id="{9A0DB2DC-4C9A-4742-B13C-FB6460FD3503}" type="slidenum">
              <a:rPr lang="en-US" altLang="zh-CN" sz="1400" dirty="0"/>
            </a:fld>
            <a:endParaRPr lang="en-US" altLang="zh-CN" sz="1400" dirty="0"/>
          </a:p>
        </p:txBody>
      </p:sp>
      <p:sp>
        <p:nvSpPr>
          <p:cNvPr id="18436" name="Rectangle 2"/>
          <p:cNvSpPr/>
          <p:nvPr/>
        </p:nvSpPr>
        <p:spPr>
          <a:xfrm>
            <a:off x="6230938" y="2082800"/>
            <a:ext cx="5045075" cy="3967163"/>
          </a:xfrm>
          <a:prstGeom prst="rect">
            <a:avLst/>
          </a:prstGeom>
          <a:noFill/>
          <a:ln w="12700">
            <a:noFill/>
          </a:ln>
        </p:spPr>
        <p:txBody>
          <a:bodyPr lIns="90487" tIns="44450" rIns="90487" bIns="44450" anchor="t" anchorCtr="0">
            <a:spAutoFit/>
          </a:bodyPr>
          <a:p>
            <a:pPr defTabSz="914400">
              <a:tabLst>
                <a:tab pos="971550" algn="l"/>
                <a:tab pos="1970405" algn="l"/>
                <a:tab pos="3657600" algn="l"/>
              </a:tabLst>
            </a:pPr>
            <a:r>
              <a:rPr lang="en-US" altLang="zh-CN" sz="1800" dirty="0">
                <a:latin typeface="宋体" panose="02000500000000000000" pitchFamily="2" charset="-122"/>
                <a:ea typeface="宋体" panose="02000500000000000000" pitchFamily="2" charset="-122"/>
              </a:rPr>
              <a:t> 1 Loop:	fld.d	</a:t>
            </a:r>
            <a:r>
              <a:rPr lang="en-US" altLang="zh-CN" sz="1800" dirty="0">
                <a:solidFill>
                  <a:srgbClr val="FF0000"/>
                </a:solidFill>
                <a:latin typeface="宋体" panose="02000500000000000000" pitchFamily="2" charset="-122"/>
                <a:ea typeface="宋体" panose="02000500000000000000" pitchFamily="2" charset="-122"/>
              </a:rPr>
              <a:t>$f0</a:t>
            </a:r>
            <a:r>
              <a:rPr lang="en-US" altLang="zh-CN" sz="1800" dirty="0">
                <a:latin typeface="宋体" panose="02000500000000000000" pitchFamily="2" charset="-122"/>
                <a:ea typeface="宋体" panose="02000500000000000000" pitchFamily="2" charset="-122"/>
              </a:rPr>
              <a:t>,$r1,0</a:t>
            </a:r>
            <a:endParaRPr lang="en-US" altLang="zh-CN" sz="1800" dirty="0">
              <a:latin typeface="宋体" panose="02000500000000000000" pitchFamily="2" charset="-122"/>
              <a:ea typeface="宋体" panose="02000500000000000000" pitchFamily="2" charset="-122"/>
            </a:endParaRPr>
          </a:p>
          <a:p>
            <a:pPr defTabSz="914400">
              <a:tabLst>
                <a:tab pos="971550" algn="l"/>
                <a:tab pos="1970405" algn="l"/>
                <a:tab pos="3657600" algn="l"/>
              </a:tabLst>
            </a:pPr>
            <a:r>
              <a:rPr lang="en-US" altLang="zh-CN" sz="1800" dirty="0">
                <a:latin typeface="宋体" panose="02000500000000000000" pitchFamily="2" charset="-122"/>
                <a:ea typeface="宋体" panose="02000500000000000000" pitchFamily="2" charset="-122"/>
              </a:rPr>
              <a:t> 2	fadd.d	</a:t>
            </a:r>
            <a:r>
              <a:rPr lang="en-US" altLang="zh-CN" sz="1800" dirty="0">
                <a:solidFill>
                  <a:schemeClr val="accent1"/>
                </a:solidFill>
                <a:latin typeface="宋体" panose="02000500000000000000" pitchFamily="2" charset="-122"/>
                <a:ea typeface="宋体" panose="02000500000000000000" pitchFamily="2" charset="-122"/>
              </a:rPr>
              <a:t>$f4</a:t>
            </a:r>
            <a:r>
              <a:rPr lang="en-US" altLang="zh-CN" sz="1800" dirty="0">
                <a:latin typeface="宋体" panose="02000500000000000000" pitchFamily="2" charset="-122"/>
                <a:ea typeface="宋体" panose="02000500000000000000" pitchFamily="2" charset="-122"/>
              </a:rPr>
              <a:t>,</a:t>
            </a:r>
            <a:r>
              <a:rPr lang="en-US" altLang="zh-CN" sz="1800" dirty="0">
                <a:solidFill>
                  <a:srgbClr val="FF0000"/>
                </a:solidFill>
                <a:latin typeface="宋体" panose="02000500000000000000" pitchFamily="2" charset="-122"/>
                <a:ea typeface="宋体" panose="02000500000000000000" pitchFamily="2" charset="-122"/>
              </a:rPr>
              <a:t>$f0</a:t>
            </a:r>
            <a:r>
              <a:rPr lang="en-US" altLang="zh-CN" sz="1800" dirty="0">
                <a:latin typeface="宋体" panose="02000500000000000000" pitchFamily="2" charset="-122"/>
                <a:ea typeface="宋体" panose="02000500000000000000" pitchFamily="2" charset="-122"/>
              </a:rPr>
              <a:t>,$f2</a:t>
            </a:r>
            <a:endParaRPr lang="en-US" altLang="zh-CN" sz="1800" dirty="0">
              <a:latin typeface="宋体" panose="02000500000000000000" pitchFamily="2" charset="-122"/>
              <a:ea typeface="宋体" panose="02000500000000000000" pitchFamily="2" charset="-122"/>
            </a:endParaRPr>
          </a:p>
          <a:p>
            <a:pPr defTabSz="914400">
              <a:tabLst>
                <a:tab pos="971550" algn="l"/>
                <a:tab pos="1970405" algn="l"/>
                <a:tab pos="3657600" algn="l"/>
              </a:tabLst>
            </a:pPr>
            <a:r>
              <a:rPr lang="en-US" altLang="zh-CN" sz="1800" dirty="0">
                <a:latin typeface="宋体" panose="02000500000000000000" pitchFamily="2" charset="-122"/>
                <a:ea typeface="宋体" panose="02000500000000000000" pitchFamily="2" charset="-122"/>
              </a:rPr>
              <a:t> 3	fst.d	</a:t>
            </a:r>
            <a:r>
              <a:rPr lang="en-US" altLang="zh-CN" sz="1800" dirty="0">
                <a:solidFill>
                  <a:schemeClr val="accent1"/>
                </a:solidFill>
                <a:latin typeface="宋体" panose="02000500000000000000" pitchFamily="2" charset="-122"/>
                <a:ea typeface="宋体" panose="02000500000000000000" pitchFamily="2" charset="-122"/>
              </a:rPr>
              <a:t>$f4</a:t>
            </a:r>
            <a:r>
              <a:rPr lang="en-US" altLang="zh-CN" sz="1800" dirty="0">
                <a:latin typeface="宋体" panose="02000500000000000000" pitchFamily="2" charset="-122"/>
                <a:ea typeface="宋体" panose="02000500000000000000" pitchFamily="2" charset="-122"/>
              </a:rPr>
              <a:t>,$r1,0 </a:t>
            </a:r>
            <a:endParaRPr lang="en-US" altLang="zh-CN" sz="1800" dirty="0">
              <a:latin typeface="宋体" panose="02000500000000000000" pitchFamily="2" charset="-122"/>
              <a:ea typeface="宋体" panose="02000500000000000000" pitchFamily="2" charset="-122"/>
            </a:endParaRPr>
          </a:p>
          <a:p>
            <a:pPr defTabSz="914400">
              <a:tabLst>
                <a:tab pos="971550" algn="l"/>
                <a:tab pos="1970405" algn="l"/>
                <a:tab pos="3657600" algn="l"/>
              </a:tabLst>
            </a:pPr>
            <a:r>
              <a:rPr lang="en-US" altLang="zh-CN" sz="1800" dirty="0">
                <a:latin typeface="宋体" panose="02000500000000000000" pitchFamily="2" charset="-122"/>
                <a:ea typeface="宋体" panose="02000500000000000000" pitchFamily="2" charset="-122"/>
              </a:rPr>
              <a:t> 4	</a:t>
            </a:r>
            <a:r>
              <a:rPr lang="zh-CN" altLang="en-US" sz="1800" dirty="0">
                <a:latin typeface="宋体" panose="02000500000000000000" pitchFamily="2" charset="-122"/>
                <a:ea typeface="宋体" panose="02000500000000000000" pitchFamily="2" charset="-122"/>
              </a:rPr>
              <a:t>f</a:t>
            </a:r>
            <a:r>
              <a:rPr lang="en-US" altLang="zh-CN" sz="1800" dirty="0">
                <a:latin typeface="宋体" panose="02000500000000000000" pitchFamily="2" charset="-122"/>
                <a:ea typeface="宋体" panose="02000500000000000000" pitchFamily="2" charset="-122"/>
              </a:rPr>
              <a:t>ld.d	</a:t>
            </a:r>
            <a:r>
              <a:rPr lang="en-US" altLang="zh-CN" sz="1800" dirty="0">
                <a:solidFill>
                  <a:srgbClr val="FF0000"/>
                </a:solidFill>
                <a:latin typeface="宋体" panose="02000500000000000000" pitchFamily="2" charset="-122"/>
                <a:ea typeface="宋体" panose="02000500000000000000" pitchFamily="2" charset="-122"/>
              </a:rPr>
              <a:t>$f</a:t>
            </a:r>
            <a:r>
              <a:rPr lang="zh-CN" altLang="en-US" sz="1800" dirty="0">
                <a:solidFill>
                  <a:srgbClr val="FF0000"/>
                </a:solidFill>
                <a:latin typeface="宋体" panose="02000500000000000000" pitchFamily="2" charset="-122"/>
                <a:ea typeface="宋体" panose="02000500000000000000" pitchFamily="2" charset="-122"/>
              </a:rPr>
              <a:t>6</a:t>
            </a:r>
            <a:r>
              <a:rPr lang="en-US" altLang="zh-CN" sz="1800" dirty="0">
                <a:latin typeface="宋体" panose="02000500000000000000" pitchFamily="2" charset="-122"/>
                <a:ea typeface="宋体" panose="02000500000000000000" pitchFamily="2" charset="-122"/>
              </a:rPr>
              <a:t>,$r1,-8</a:t>
            </a:r>
            <a:endParaRPr lang="en-US" altLang="zh-CN" sz="1800" dirty="0">
              <a:latin typeface="宋体" panose="02000500000000000000" pitchFamily="2" charset="-122"/>
              <a:ea typeface="宋体" panose="02000500000000000000" pitchFamily="2" charset="-122"/>
            </a:endParaRPr>
          </a:p>
          <a:p>
            <a:pPr defTabSz="914400">
              <a:tabLst>
                <a:tab pos="971550" algn="l"/>
                <a:tab pos="1970405" algn="l"/>
                <a:tab pos="3657600" algn="l"/>
              </a:tabLst>
            </a:pPr>
            <a:r>
              <a:rPr lang="en-US" altLang="zh-CN" sz="1800" dirty="0">
                <a:latin typeface="宋体" panose="02000500000000000000" pitchFamily="2" charset="-122"/>
                <a:ea typeface="宋体" panose="02000500000000000000" pitchFamily="2" charset="-122"/>
              </a:rPr>
              <a:t> 5	fadd.d	</a:t>
            </a:r>
            <a:r>
              <a:rPr lang="en-US" altLang="zh-CN" sz="1800" dirty="0">
                <a:solidFill>
                  <a:schemeClr val="accent1"/>
                </a:solidFill>
                <a:latin typeface="宋体" panose="02000500000000000000" pitchFamily="2" charset="-122"/>
                <a:ea typeface="宋体" panose="02000500000000000000" pitchFamily="2" charset="-122"/>
              </a:rPr>
              <a:t>$f</a:t>
            </a:r>
            <a:r>
              <a:rPr lang="zh-CN" altLang="en-US" sz="1800" dirty="0">
                <a:solidFill>
                  <a:schemeClr val="accent1"/>
                </a:solidFill>
                <a:latin typeface="宋体" panose="02000500000000000000" pitchFamily="2" charset="-122"/>
                <a:ea typeface="宋体" panose="02000500000000000000" pitchFamily="2" charset="-122"/>
              </a:rPr>
              <a:t>8</a:t>
            </a:r>
            <a:r>
              <a:rPr lang="en-US" altLang="zh-CN" sz="1800" dirty="0">
                <a:latin typeface="宋体" panose="02000500000000000000" pitchFamily="2" charset="-122"/>
                <a:ea typeface="宋体" panose="02000500000000000000" pitchFamily="2" charset="-122"/>
              </a:rPr>
              <a:t>,</a:t>
            </a:r>
            <a:r>
              <a:rPr lang="en-US" altLang="zh-CN" sz="1800" dirty="0">
                <a:solidFill>
                  <a:srgbClr val="FF0000"/>
                </a:solidFill>
                <a:latin typeface="宋体" panose="02000500000000000000" pitchFamily="2" charset="-122"/>
                <a:ea typeface="宋体" panose="02000500000000000000" pitchFamily="2" charset="-122"/>
              </a:rPr>
              <a:t>$f</a:t>
            </a:r>
            <a:r>
              <a:rPr lang="zh-CN" altLang="en-US" sz="1800" dirty="0">
                <a:solidFill>
                  <a:srgbClr val="FF0000"/>
                </a:solidFill>
                <a:latin typeface="宋体" panose="02000500000000000000" pitchFamily="2" charset="-122"/>
                <a:ea typeface="宋体" panose="02000500000000000000" pitchFamily="2" charset="-122"/>
              </a:rPr>
              <a:t>6</a:t>
            </a:r>
            <a:r>
              <a:rPr lang="en-US" altLang="zh-CN" sz="1800" dirty="0">
                <a:latin typeface="宋体" panose="02000500000000000000" pitchFamily="2" charset="-122"/>
                <a:ea typeface="宋体" panose="02000500000000000000" pitchFamily="2" charset="-122"/>
              </a:rPr>
              <a:t>,$f2</a:t>
            </a:r>
            <a:endParaRPr lang="en-US" altLang="zh-CN" sz="1800" dirty="0">
              <a:latin typeface="宋体" panose="02000500000000000000" pitchFamily="2" charset="-122"/>
              <a:ea typeface="宋体" panose="02000500000000000000" pitchFamily="2" charset="-122"/>
            </a:endParaRPr>
          </a:p>
          <a:p>
            <a:pPr defTabSz="914400">
              <a:tabLst>
                <a:tab pos="971550" algn="l"/>
                <a:tab pos="1970405" algn="l"/>
                <a:tab pos="3657600" algn="l"/>
              </a:tabLst>
            </a:pPr>
            <a:r>
              <a:rPr lang="en-US" altLang="zh-CN" sz="1800" dirty="0">
                <a:latin typeface="宋体" panose="02000500000000000000" pitchFamily="2" charset="-122"/>
                <a:ea typeface="宋体" panose="02000500000000000000" pitchFamily="2" charset="-122"/>
              </a:rPr>
              <a:t> 6	fst.d	</a:t>
            </a:r>
            <a:r>
              <a:rPr lang="en-US" altLang="zh-CN" sz="1800" dirty="0">
                <a:solidFill>
                  <a:schemeClr val="accent1"/>
                </a:solidFill>
                <a:latin typeface="宋体" panose="02000500000000000000" pitchFamily="2" charset="-122"/>
                <a:ea typeface="宋体" panose="02000500000000000000" pitchFamily="2" charset="-122"/>
              </a:rPr>
              <a:t>$f</a:t>
            </a:r>
            <a:r>
              <a:rPr lang="zh-CN" altLang="en-US" sz="1800" dirty="0">
                <a:solidFill>
                  <a:schemeClr val="accent1"/>
                </a:solidFill>
                <a:latin typeface="宋体" panose="02000500000000000000" pitchFamily="2" charset="-122"/>
                <a:ea typeface="宋体" panose="02000500000000000000" pitchFamily="2" charset="-122"/>
              </a:rPr>
              <a:t>8</a:t>
            </a:r>
            <a:r>
              <a:rPr lang="en-US" altLang="zh-CN" sz="1800" dirty="0">
                <a:latin typeface="宋体" panose="02000500000000000000" pitchFamily="2" charset="-122"/>
                <a:ea typeface="宋体" panose="02000500000000000000" pitchFamily="2" charset="-122"/>
              </a:rPr>
              <a:t>,$r1,-8</a:t>
            </a:r>
            <a:endParaRPr lang="en-US" altLang="zh-CN" sz="1800" dirty="0">
              <a:latin typeface="宋体" panose="02000500000000000000" pitchFamily="2" charset="-122"/>
              <a:ea typeface="宋体" panose="02000500000000000000" pitchFamily="2" charset="-122"/>
            </a:endParaRPr>
          </a:p>
          <a:p>
            <a:pPr defTabSz="914400">
              <a:tabLst>
                <a:tab pos="971550" algn="l"/>
                <a:tab pos="1970405" algn="l"/>
                <a:tab pos="3657600" algn="l"/>
              </a:tabLst>
            </a:pPr>
            <a:r>
              <a:rPr lang="en-US" altLang="zh-CN" sz="1800" dirty="0">
                <a:latin typeface="宋体" panose="02000500000000000000" pitchFamily="2" charset="-122"/>
                <a:ea typeface="宋体" panose="02000500000000000000" pitchFamily="2" charset="-122"/>
              </a:rPr>
              <a:t> 7	</a:t>
            </a:r>
            <a:r>
              <a:rPr lang="zh-CN" altLang="en-US" sz="1800" dirty="0">
                <a:latin typeface="宋体" panose="02000500000000000000" pitchFamily="2" charset="-122"/>
                <a:ea typeface="宋体" panose="02000500000000000000" pitchFamily="2" charset="-122"/>
              </a:rPr>
              <a:t>f</a:t>
            </a:r>
            <a:r>
              <a:rPr lang="en-US" altLang="zh-CN" sz="1800" dirty="0">
                <a:latin typeface="宋体" panose="02000500000000000000" pitchFamily="2" charset="-122"/>
                <a:ea typeface="宋体" panose="02000500000000000000" pitchFamily="2" charset="-122"/>
              </a:rPr>
              <a:t>ld.d	</a:t>
            </a:r>
            <a:r>
              <a:rPr lang="en-US" altLang="zh-CN" sz="1800" dirty="0">
                <a:solidFill>
                  <a:srgbClr val="FF0000"/>
                </a:solidFill>
                <a:latin typeface="宋体" panose="02000500000000000000" pitchFamily="2" charset="-122"/>
                <a:ea typeface="宋体" panose="02000500000000000000" pitchFamily="2" charset="-122"/>
              </a:rPr>
              <a:t>$f</a:t>
            </a:r>
            <a:r>
              <a:rPr lang="zh-CN" altLang="en-US" sz="1800" dirty="0">
                <a:solidFill>
                  <a:srgbClr val="FF0000"/>
                </a:solidFill>
                <a:latin typeface="宋体" panose="02000500000000000000" pitchFamily="2" charset="-122"/>
                <a:ea typeface="宋体" panose="02000500000000000000" pitchFamily="2" charset="-122"/>
              </a:rPr>
              <a:t>10</a:t>
            </a:r>
            <a:r>
              <a:rPr lang="en-US" altLang="zh-CN" sz="1800" dirty="0">
                <a:latin typeface="宋体" panose="02000500000000000000" pitchFamily="2" charset="-122"/>
                <a:ea typeface="宋体" panose="02000500000000000000" pitchFamily="2" charset="-122"/>
              </a:rPr>
              <a:t>,$r1,-16</a:t>
            </a:r>
            <a:endParaRPr lang="en-US" altLang="zh-CN" sz="1800" dirty="0">
              <a:latin typeface="宋体" panose="02000500000000000000" pitchFamily="2" charset="-122"/>
              <a:ea typeface="宋体" panose="02000500000000000000" pitchFamily="2" charset="-122"/>
            </a:endParaRPr>
          </a:p>
          <a:p>
            <a:pPr defTabSz="914400">
              <a:tabLst>
                <a:tab pos="971550" algn="l"/>
                <a:tab pos="1970405" algn="l"/>
                <a:tab pos="3657600" algn="l"/>
              </a:tabLst>
            </a:pPr>
            <a:r>
              <a:rPr lang="en-US" altLang="zh-CN" sz="1800" dirty="0">
                <a:latin typeface="宋体" panose="02000500000000000000" pitchFamily="2" charset="-122"/>
                <a:ea typeface="宋体" panose="02000500000000000000" pitchFamily="2" charset="-122"/>
              </a:rPr>
              <a:t> 8	fadd.d	</a:t>
            </a:r>
            <a:r>
              <a:rPr lang="en-US" altLang="zh-CN" sz="1800" dirty="0">
                <a:solidFill>
                  <a:schemeClr val="accent1"/>
                </a:solidFill>
                <a:latin typeface="宋体" panose="02000500000000000000" pitchFamily="2" charset="-122"/>
                <a:ea typeface="宋体" panose="02000500000000000000" pitchFamily="2" charset="-122"/>
              </a:rPr>
              <a:t>$f</a:t>
            </a:r>
            <a:r>
              <a:rPr lang="zh-CN" altLang="en-US" sz="1800" dirty="0">
                <a:solidFill>
                  <a:schemeClr val="accent1"/>
                </a:solidFill>
                <a:latin typeface="宋体" panose="02000500000000000000" pitchFamily="2" charset="-122"/>
                <a:ea typeface="宋体" panose="02000500000000000000" pitchFamily="2" charset="-122"/>
              </a:rPr>
              <a:t>12</a:t>
            </a:r>
            <a:r>
              <a:rPr lang="en-US" altLang="zh-CN" sz="1800" dirty="0">
                <a:latin typeface="宋体" panose="02000500000000000000" pitchFamily="2" charset="-122"/>
                <a:ea typeface="宋体" panose="02000500000000000000" pitchFamily="2" charset="-122"/>
              </a:rPr>
              <a:t>,</a:t>
            </a:r>
            <a:r>
              <a:rPr lang="en-US" altLang="zh-CN" sz="1800" dirty="0">
                <a:solidFill>
                  <a:srgbClr val="FF0000"/>
                </a:solidFill>
                <a:latin typeface="宋体" panose="02000500000000000000" pitchFamily="2" charset="-122"/>
                <a:ea typeface="宋体" panose="02000500000000000000" pitchFamily="2" charset="-122"/>
              </a:rPr>
              <a:t>$f</a:t>
            </a:r>
            <a:r>
              <a:rPr lang="zh-CN" altLang="en-US" sz="1800" dirty="0">
                <a:solidFill>
                  <a:srgbClr val="FF0000"/>
                </a:solidFill>
                <a:latin typeface="宋体" panose="02000500000000000000" pitchFamily="2" charset="-122"/>
                <a:ea typeface="宋体" panose="02000500000000000000" pitchFamily="2" charset="-122"/>
              </a:rPr>
              <a:t>1</a:t>
            </a:r>
            <a:r>
              <a:rPr lang="en-US" altLang="zh-CN" sz="1800" dirty="0">
                <a:solidFill>
                  <a:srgbClr val="FF0000"/>
                </a:solidFill>
                <a:latin typeface="宋体" panose="02000500000000000000" pitchFamily="2" charset="-122"/>
                <a:ea typeface="宋体" panose="02000500000000000000" pitchFamily="2" charset="-122"/>
              </a:rPr>
              <a:t>0</a:t>
            </a:r>
            <a:r>
              <a:rPr lang="en-US" altLang="zh-CN" sz="1800" dirty="0">
                <a:latin typeface="宋体" panose="02000500000000000000" pitchFamily="2" charset="-122"/>
                <a:ea typeface="宋体" panose="02000500000000000000" pitchFamily="2" charset="-122"/>
              </a:rPr>
              <a:t>,$f2</a:t>
            </a:r>
            <a:endParaRPr lang="en-US" altLang="zh-CN" sz="1800" dirty="0">
              <a:latin typeface="宋体" panose="02000500000000000000" pitchFamily="2" charset="-122"/>
              <a:ea typeface="宋体" panose="02000500000000000000" pitchFamily="2" charset="-122"/>
            </a:endParaRPr>
          </a:p>
          <a:p>
            <a:pPr defTabSz="914400">
              <a:tabLst>
                <a:tab pos="971550" algn="l"/>
                <a:tab pos="1970405" algn="l"/>
                <a:tab pos="3657600" algn="l"/>
              </a:tabLst>
            </a:pPr>
            <a:r>
              <a:rPr lang="en-US" altLang="zh-CN" sz="1800" dirty="0">
                <a:latin typeface="宋体" panose="02000500000000000000" pitchFamily="2" charset="-122"/>
                <a:ea typeface="宋体" panose="02000500000000000000" pitchFamily="2" charset="-122"/>
              </a:rPr>
              <a:t> 9	fst.d	</a:t>
            </a:r>
            <a:r>
              <a:rPr lang="en-US" altLang="zh-CN" sz="1800" dirty="0">
                <a:solidFill>
                  <a:schemeClr val="accent1"/>
                </a:solidFill>
                <a:latin typeface="宋体" panose="02000500000000000000" pitchFamily="2" charset="-122"/>
                <a:ea typeface="宋体" panose="02000500000000000000" pitchFamily="2" charset="-122"/>
              </a:rPr>
              <a:t>$f</a:t>
            </a:r>
            <a:r>
              <a:rPr lang="zh-CN" altLang="en-US" sz="1800" dirty="0">
                <a:solidFill>
                  <a:schemeClr val="accent1"/>
                </a:solidFill>
                <a:latin typeface="宋体" panose="02000500000000000000" pitchFamily="2" charset="-122"/>
                <a:ea typeface="宋体" panose="02000500000000000000" pitchFamily="2" charset="-122"/>
              </a:rPr>
              <a:t>12</a:t>
            </a:r>
            <a:r>
              <a:rPr lang="en-US" altLang="zh-CN" sz="1800" dirty="0">
                <a:latin typeface="宋体" panose="02000500000000000000" pitchFamily="2" charset="-122"/>
                <a:ea typeface="宋体" panose="02000500000000000000" pitchFamily="2" charset="-122"/>
              </a:rPr>
              <a:t>,$r1,-16</a:t>
            </a:r>
            <a:endParaRPr lang="en-US" altLang="zh-CN" sz="1800" dirty="0">
              <a:latin typeface="宋体" panose="02000500000000000000" pitchFamily="2" charset="-122"/>
              <a:ea typeface="宋体" panose="02000500000000000000" pitchFamily="2" charset="-122"/>
            </a:endParaRPr>
          </a:p>
          <a:p>
            <a:pPr defTabSz="914400">
              <a:tabLst>
                <a:tab pos="971550" algn="l"/>
                <a:tab pos="1970405" algn="l"/>
                <a:tab pos="3657600" algn="l"/>
              </a:tabLst>
            </a:pPr>
            <a:r>
              <a:rPr lang="en-US" altLang="zh-CN" sz="1800" dirty="0">
                <a:latin typeface="宋体" panose="02000500000000000000" pitchFamily="2" charset="-122"/>
                <a:ea typeface="宋体" panose="02000500000000000000" pitchFamily="2" charset="-122"/>
              </a:rPr>
              <a:t> 10	</a:t>
            </a:r>
            <a:r>
              <a:rPr lang="zh-CN" altLang="en-US" sz="1800" dirty="0">
                <a:latin typeface="宋体" panose="02000500000000000000" pitchFamily="2" charset="-122"/>
                <a:ea typeface="宋体" panose="02000500000000000000" pitchFamily="2" charset="-122"/>
              </a:rPr>
              <a:t>f</a:t>
            </a:r>
            <a:r>
              <a:rPr lang="en-US" altLang="zh-CN" sz="1800" dirty="0">
                <a:latin typeface="宋体" panose="02000500000000000000" pitchFamily="2" charset="-122"/>
                <a:ea typeface="宋体" panose="02000500000000000000" pitchFamily="2" charset="-122"/>
              </a:rPr>
              <a:t>ld.d	</a:t>
            </a:r>
            <a:r>
              <a:rPr lang="en-US" altLang="zh-CN" sz="1800" dirty="0">
                <a:solidFill>
                  <a:srgbClr val="FF0000"/>
                </a:solidFill>
                <a:latin typeface="宋体" panose="02000500000000000000" pitchFamily="2" charset="-122"/>
                <a:ea typeface="宋体" panose="02000500000000000000" pitchFamily="2" charset="-122"/>
              </a:rPr>
              <a:t>$f</a:t>
            </a:r>
            <a:r>
              <a:rPr lang="zh-CN" altLang="en-US" sz="1800" dirty="0">
                <a:solidFill>
                  <a:srgbClr val="FF0000"/>
                </a:solidFill>
                <a:latin typeface="宋体" panose="02000500000000000000" pitchFamily="2" charset="-122"/>
                <a:ea typeface="宋体" panose="02000500000000000000" pitchFamily="2" charset="-122"/>
              </a:rPr>
              <a:t>14</a:t>
            </a:r>
            <a:r>
              <a:rPr lang="en-US" altLang="zh-CN" sz="1800" dirty="0">
                <a:latin typeface="宋体" panose="02000500000000000000" pitchFamily="2" charset="-122"/>
                <a:ea typeface="宋体" panose="02000500000000000000" pitchFamily="2" charset="-122"/>
              </a:rPr>
              <a:t>,$r1,-24</a:t>
            </a:r>
            <a:endParaRPr lang="en-US" altLang="zh-CN" sz="1800" dirty="0">
              <a:latin typeface="宋体" panose="02000500000000000000" pitchFamily="2" charset="-122"/>
              <a:ea typeface="宋体" panose="02000500000000000000" pitchFamily="2" charset="-122"/>
            </a:endParaRPr>
          </a:p>
          <a:p>
            <a:pPr defTabSz="914400">
              <a:tabLst>
                <a:tab pos="971550" algn="l"/>
                <a:tab pos="1970405" algn="l"/>
                <a:tab pos="3657600" algn="l"/>
              </a:tabLst>
            </a:pPr>
            <a:r>
              <a:rPr lang="en-US" altLang="zh-CN" sz="1800" dirty="0">
                <a:latin typeface="宋体" panose="02000500000000000000" pitchFamily="2" charset="-122"/>
                <a:ea typeface="宋体" panose="02000500000000000000" pitchFamily="2" charset="-122"/>
              </a:rPr>
              <a:t> 11	fadd.d	</a:t>
            </a:r>
            <a:r>
              <a:rPr lang="en-US" altLang="zh-CN" sz="1800" dirty="0">
                <a:solidFill>
                  <a:schemeClr val="accent1"/>
                </a:solidFill>
                <a:latin typeface="宋体" panose="02000500000000000000" pitchFamily="2" charset="-122"/>
                <a:ea typeface="宋体" panose="02000500000000000000" pitchFamily="2" charset="-122"/>
              </a:rPr>
              <a:t>$f</a:t>
            </a:r>
            <a:r>
              <a:rPr lang="zh-CN" altLang="en-US" sz="1800" dirty="0">
                <a:solidFill>
                  <a:schemeClr val="accent1"/>
                </a:solidFill>
                <a:latin typeface="宋体" panose="02000500000000000000" pitchFamily="2" charset="-122"/>
                <a:ea typeface="宋体" panose="02000500000000000000" pitchFamily="2" charset="-122"/>
              </a:rPr>
              <a:t>16</a:t>
            </a:r>
            <a:r>
              <a:rPr lang="en-US" altLang="zh-CN" sz="1800" dirty="0">
                <a:latin typeface="宋体" panose="02000500000000000000" pitchFamily="2" charset="-122"/>
                <a:ea typeface="宋体" panose="02000500000000000000" pitchFamily="2" charset="-122"/>
              </a:rPr>
              <a:t>,</a:t>
            </a:r>
            <a:r>
              <a:rPr lang="en-US" altLang="zh-CN" sz="1800" dirty="0">
                <a:solidFill>
                  <a:srgbClr val="FF0000"/>
                </a:solidFill>
                <a:latin typeface="宋体" panose="02000500000000000000" pitchFamily="2" charset="-122"/>
                <a:ea typeface="宋体" panose="02000500000000000000" pitchFamily="2" charset="-122"/>
              </a:rPr>
              <a:t>$f</a:t>
            </a:r>
            <a:r>
              <a:rPr lang="zh-CN" altLang="en-US" sz="1800" dirty="0">
                <a:solidFill>
                  <a:srgbClr val="FF0000"/>
                </a:solidFill>
                <a:latin typeface="宋体" panose="02000500000000000000" pitchFamily="2" charset="-122"/>
                <a:ea typeface="宋体" panose="02000500000000000000" pitchFamily="2" charset="-122"/>
              </a:rPr>
              <a:t>14</a:t>
            </a:r>
            <a:r>
              <a:rPr lang="en-US" altLang="zh-CN" sz="1800" dirty="0">
                <a:latin typeface="宋体" panose="02000500000000000000" pitchFamily="2" charset="-122"/>
                <a:ea typeface="宋体" panose="02000500000000000000" pitchFamily="2" charset="-122"/>
              </a:rPr>
              <a:t>,$f2</a:t>
            </a:r>
            <a:endParaRPr lang="en-US" altLang="zh-CN" sz="1800" dirty="0">
              <a:latin typeface="宋体" panose="02000500000000000000" pitchFamily="2" charset="-122"/>
              <a:ea typeface="宋体" panose="02000500000000000000" pitchFamily="2" charset="-122"/>
            </a:endParaRPr>
          </a:p>
          <a:p>
            <a:pPr defTabSz="914400">
              <a:tabLst>
                <a:tab pos="971550" algn="l"/>
                <a:tab pos="1970405" algn="l"/>
                <a:tab pos="3657600" algn="l"/>
              </a:tabLst>
            </a:pPr>
            <a:r>
              <a:rPr lang="en-US" altLang="zh-CN" sz="1800" dirty="0">
                <a:latin typeface="宋体" panose="02000500000000000000" pitchFamily="2" charset="-122"/>
                <a:ea typeface="宋体" panose="02000500000000000000" pitchFamily="2" charset="-122"/>
              </a:rPr>
              <a:t> 12	fst.d	</a:t>
            </a:r>
            <a:r>
              <a:rPr lang="en-US" altLang="zh-CN" sz="1800" dirty="0">
                <a:solidFill>
                  <a:schemeClr val="accent1"/>
                </a:solidFill>
                <a:latin typeface="宋体" panose="02000500000000000000" pitchFamily="2" charset="-122"/>
                <a:ea typeface="宋体" panose="02000500000000000000" pitchFamily="2" charset="-122"/>
              </a:rPr>
              <a:t>$f</a:t>
            </a:r>
            <a:r>
              <a:rPr lang="zh-CN" altLang="en-US" sz="1800" dirty="0">
                <a:solidFill>
                  <a:schemeClr val="accent1"/>
                </a:solidFill>
                <a:latin typeface="宋体" panose="02000500000000000000" pitchFamily="2" charset="-122"/>
                <a:ea typeface="宋体" panose="02000500000000000000" pitchFamily="2" charset="-122"/>
              </a:rPr>
              <a:t>16</a:t>
            </a:r>
            <a:r>
              <a:rPr lang="en-US" altLang="zh-CN" sz="1800" dirty="0">
                <a:latin typeface="宋体" panose="02000500000000000000" pitchFamily="2" charset="-122"/>
                <a:ea typeface="宋体" panose="02000500000000000000" pitchFamily="2" charset="-122"/>
              </a:rPr>
              <a:t>,$r1,-24</a:t>
            </a:r>
            <a:endParaRPr lang="en-US" altLang="zh-CN" sz="1800" dirty="0">
              <a:latin typeface="宋体" panose="02000500000000000000" pitchFamily="2" charset="-122"/>
              <a:ea typeface="宋体" panose="02000500000000000000" pitchFamily="2" charset="-122"/>
            </a:endParaRPr>
          </a:p>
          <a:p>
            <a:pPr defTabSz="914400">
              <a:tabLst>
                <a:tab pos="971550" algn="l"/>
                <a:tab pos="1970405" algn="l"/>
                <a:tab pos="3657600" algn="l"/>
              </a:tabLst>
            </a:pPr>
            <a:r>
              <a:rPr lang="en-US" altLang="zh-CN" sz="1800" dirty="0">
                <a:latin typeface="宋体" panose="02000500000000000000" pitchFamily="2" charset="-122"/>
                <a:ea typeface="宋体" panose="02000500000000000000" pitchFamily="2" charset="-122"/>
              </a:rPr>
              <a:t> 13	addi.d	$r1,$r1,-32</a:t>
            </a:r>
            <a:endParaRPr lang="en-US" altLang="zh-CN" sz="1800" dirty="0">
              <a:latin typeface="宋体" panose="02000500000000000000" pitchFamily="2" charset="-122"/>
              <a:ea typeface="宋体" panose="02000500000000000000" pitchFamily="2" charset="-122"/>
            </a:endParaRPr>
          </a:p>
          <a:p>
            <a:pPr defTabSz="914400">
              <a:tabLst>
                <a:tab pos="971550" algn="l"/>
                <a:tab pos="1970405" algn="l"/>
                <a:tab pos="3657600" algn="l"/>
              </a:tabLst>
            </a:pPr>
            <a:r>
              <a:rPr lang="en-US" altLang="zh-CN" sz="1800" dirty="0">
                <a:latin typeface="宋体" panose="02000500000000000000" pitchFamily="2" charset="-122"/>
                <a:ea typeface="宋体" panose="02000500000000000000" pitchFamily="2" charset="-122"/>
              </a:rPr>
              <a:t> 14	bnez	$r1,Loop</a:t>
            </a:r>
            <a:endParaRPr lang="en-US" altLang="en-US" dirty="0">
              <a:solidFill>
                <a:schemeClr val="hlink"/>
              </a:solidFill>
              <a:latin typeface="宋体" panose="02000500000000000000" pitchFamily="2" charset="-122"/>
              <a:ea typeface="宋体" panose="02000500000000000000"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Rectangle 2"/>
          <p:cNvSpPr/>
          <p:nvPr/>
        </p:nvSpPr>
        <p:spPr>
          <a:xfrm>
            <a:off x="1828800" y="2590800"/>
            <a:ext cx="7075488" cy="3967163"/>
          </a:xfrm>
          <a:prstGeom prst="rect">
            <a:avLst/>
          </a:prstGeom>
          <a:noFill/>
          <a:ln w="12700">
            <a:noFill/>
          </a:ln>
        </p:spPr>
        <p:txBody>
          <a:bodyPr lIns="90487" tIns="44450" rIns="90487" bIns="44450" anchor="t" anchorCtr="0">
            <a:spAutoFit/>
          </a:bodyPr>
          <a:p>
            <a:pPr defTabSz="914400">
              <a:tabLst>
                <a:tab pos="971550" algn="l"/>
                <a:tab pos="1970405" algn="l"/>
                <a:tab pos="3657600" algn="l"/>
              </a:tabLst>
            </a:pPr>
            <a:r>
              <a:rPr lang="en-US" altLang="zh-CN" sz="1800" dirty="0">
                <a:latin typeface="宋体" panose="02000500000000000000" pitchFamily="2" charset="-122"/>
                <a:ea typeface="宋体" panose="02000500000000000000" pitchFamily="2" charset="-122"/>
              </a:rPr>
              <a:t>1 Loop:	fld.d	</a:t>
            </a:r>
            <a:r>
              <a:rPr lang="en-US" altLang="zh-CN" sz="1800" dirty="0">
                <a:solidFill>
                  <a:srgbClr val="FF0000"/>
                </a:solidFill>
                <a:latin typeface="宋体" panose="02000500000000000000" pitchFamily="2" charset="-122"/>
                <a:ea typeface="宋体" panose="02000500000000000000" pitchFamily="2" charset="-122"/>
              </a:rPr>
              <a:t>$f0</a:t>
            </a:r>
            <a:r>
              <a:rPr lang="en-US" altLang="zh-CN" sz="1800" dirty="0">
                <a:latin typeface="宋体" panose="02000500000000000000" pitchFamily="2" charset="-122"/>
                <a:ea typeface="宋体" panose="02000500000000000000" pitchFamily="2" charset="-122"/>
              </a:rPr>
              <a:t>,$r1,0</a:t>
            </a:r>
            <a:endParaRPr lang="en-US" altLang="zh-CN" sz="1800" dirty="0">
              <a:latin typeface="宋体" panose="02000500000000000000" pitchFamily="2" charset="-122"/>
              <a:ea typeface="宋体" panose="02000500000000000000" pitchFamily="2" charset="-122"/>
            </a:endParaRPr>
          </a:p>
          <a:p>
            <a:pPr defTabSz="914400">
              <a:tabLst>
                <a:tab pos="971550" algn="l"/>
                <a:tab pos="1970405" algn="l"/>
                <a:tab pos="3657600" algn="l"/>
              </a:tabLst>
            </a:pPr>
            <a:r>
              <a:rPr lang="en-US" altLang="zh-CN" sz="1800" dirty="0">
                <a:latin typeface="宋体" panose="02000500000000000000" pitchFamily="2" charset="-122"/>
                <a:ea typeface="宋体" panose="02000500000000000000" pitchFamily="2" charset="-122"/>
              </a:rPr>
              <a:t>2	</a:t>
            </a:r>
            <a:r>
              <a:rPr lang="en-US" altLang="en-US" sz="1800" dirty="0">
                <a:latin typeface="宋体" panose="02000500000000000000" pitchFamily="2" charset="-122"/>
                <a:ea typeface="宋体" panose="02000500000000000000" pitchFamily="2" charset="-122"/>
              </a:rPr>
              <a:t>f</a:t>
            </a:r>
            <a:r>
              <a:rPr lang="en-US" altLang="zh-CN" sz="1800" dirty="0">
                <a:latin typeface="宋体" panose="02000500000000000000" pitchFamily="2" charset="-122"/>
                <a:ea typeface="宋体" panose="02000500000000000000" pitchFamily="2" charset="-122"/>
              </a:rPr>
              <a:t>ld.d	</a:t>
            </a:r>
            <a:r>
              <a:rPr lang="en-US" altLang="zh-CN" sz="1800" dirty="0">
                <a:solidFill>
                  <a:srgbClr val="FF0000"/>
                </a:solidFill>
                <a:latin typeface="宋体" panose="02000500000000000000" pitchFamily="2" charset="-122"/>
                <a:ea typeface="宋体" panose="02000500000000000000" pitchFamily="2" charset="-122"/>
              </a:rPr>
              <a:t>$f</a:t>
            </a:r>
            <a:r>
              <a:rPr lang="en-US" altLang="en-US" sz="1800" dirty="0">
                <a:solidFill>
                  <a:srgbClr val="FF0000"/>
                </a:solidFill>
                <a:latin typeface="宋体" panose="02000500000000000000" pitchFamily="2" charset="-122"/>
                <a:ea typeface="宋体" panose="02000500000000000000" pitchFamily="2" charset="-122"/>
              </a:rPr>
              <a:t>6</a:t>
            </a:r>
            <a:r>
              <a:rPr lang="en-US" altLang="zh-CN" sz="1800" dirty="0">
                <a:latin typeface="宋体" panose="02000500000000000000" pitchFamily="2" charset="-122"/>
                <a:ea typeface="宋体" panose="02000500000000000000" pitchFamily="2" charset="-122"/>
              </a:rPr>
              <a:t>,$r1,-8</a:t>
            </a:r>
            <a:endParaRPr lang="en-US" altLang="zh-CN" sz="1800" dirty="0">
              <a:latin typeface="宋体" panose="02000500000000000000" pitchFamily="2" charset="-122"/>
              <a:ea typeface="宋体" panose="02000500000000000000" pitchFamily="2" charset="-122"/>
            </a:endParaRPr>
          </a:p>
          <a:p>
            <a:pPr defTabSz="914400">
              <a:tabLst>
                <a:tab pos="971550" algn="l"/>
                <a:tab pos="1970405" algn="l"/>
                <a:tab pos="3657600" algn="l"/>
              </a:tabLst>
            </a:pPr>
            <a:r>
              <a:rPr lang="en-US" altLang="zh-CN" sz="1800" dirty="0">
                <a:latin typeface="宋体" panose="02000500000000000000" pitchFamily="2" charset="-122"/>
                <a:ea typeface="宋体" panose="02000500000000000000" pitchFamily="2" charset="-122"/>
              </a:rPr>
              <a:t>3	</a:t>
            </a:r>
            <a:r>
              <a:rPr lang="en-US" altLang="en-US" sz="1800" dirty="0">
                <a:latin typeface="宋体" panose="02000500000000000000" pitchFamily="2" charset="-122"/>
                <a:ea typeface="宋体" panose="02000500000000000000" pitchFamily="2" charset="-122"/>
              </a:rPr>
              <a:t>f</a:t>
            </a:r>
            <a:r>
              <a:rPr lang="en-US" altLang="zh-CN" sz="1800" dirty="0">
                <a:latin typeface="宋体" panose="02000500000000000000" pitchFamily="2" charset="-122"/>
                <a:ea typeface="宋体" panose="02000500000000000000" pitchFamily="2" charset="-122"/>
              </a:rPr>
              <a:t>ld.d	</a:t>
            </a:r>
            <a:r>
              <a:rPr lang="en-US" altLang="zh-CN" sz="1800" dirty="0">
                <a:solidFill>
                  <a:srgbClr val="FF0000"/>
                </a:solidFill>
                <a:latin typeface="宋体" panose="02000500000000000000" pitchFamily="2" charset="-122"/>
                <a:ea typeface="宋体" panose="02000500000000000000" pitchFamily="2" charset="-122"/>
              </a:rPr>
              <a:t>$f</a:t>
            </a:r>
            <a:r>
              <a:rPr lang="en-US" altLang="en-US" sz="1800" dirty="0">
                <a:solidFill>
                  <a:srgbClr val="FF0000"/>
                </a:solidFill>
                <a:latin typeface="宋体" panose="02000500000000000000" pitchFamily="2" charset="-122"/>
                <a:ea typeface="宋体" panose="02000500000000000000" pitchFamily="2" charset="-122"/>
              </a:rPr>
              <a:t>10</a:t>
            </a:r>
            <a:r>
              <a:rPr lang="en-US" altLang="zh-CN" sz="1800" dirty="0">
                <a:latin typeface="宋体" panose="02000500000000000000" pitchFamily="2" charset="-122"/>
                <a:ea typeface="宋体" panose="02000500000000000000" pitchFamily="2" charset="-122"/>
              </a:rPr>
              <a:t>,$r1,-16</a:t>
            </a:r>
            <a:endParaRPr lang="en-US" altLang="zh-CN" sz="1800" dirty="0">
              <a:latin typeface="宋体" panose="02000500000000000000" pitchFamily="2" charset="-122"/>
              <a:ea typeface="宋体" panose="02000500000000000000" pitchFamily="2" charset="-122"/>
            </a:endParaRPr>
          </a:p>
          <a:p>
            <a:pPr defTabSz="914400">
              <a:tabLst>
                <a:tab pos="971550" algn="l"/>
                <a:tab pos="1970405" algn="l"/>
                <a:tab pos="3657600" algn="l"/>
              </a:tabLst>
            </a:pPr>
            <a:r>
              <a:rPr lang="en-US" altLang="zh-CN" sz="1800" dirty="0">
                <a:latin typeface="宋体" panose="02000500000000000000" pitchFamily="2" charset="-122"/>
                <a:ea typeface="宋体" panose="02000500000000000000" pitchFamily="2" charset="-122"/>
              </a:rPr>
              <a:t>4	</a:t>
            </a:r>
            <a:r>
              <a:rPr lang="en-US" altLang="en-US" sz="1800" dirty="0">
                <a:latin typeface="宋体" panose="02000500000000000000" pitchFamily="2" charset="-122"/>
                <a:ea typeface="宋体" panose="02000500000000000000" pitchFamily="2" charset="-122"/>
              </a:rPr>
              <a:t>f</a:t>
            </a:r>
            <a:r>
              <a:rPr lang="en-US" altLang="zh-CN" sz="1800" dirty="0">
                <a:latin typeface="宋体" panose="02000500000000000000" pitchFamily="2" charset="-122"/>
                <a:ea typeface="宋体" panose="02000500000000000000" pitchFamily="2" charset="-122"/>
              </a:rPr>
              <a:t>ld.d	</a:t>
            </a:r>
            <a:r>
              <a:rPr lang="en-US" altLang="zh-CN" sz="1800" dirty="0">
                <a:solidFill>
                  <a:srgbClr val="FF0000"/>
                </a:solidFill>
                <a:latin typeface="宋体" panose="02000500000000000000" pitchFamily="2" charset="-122"/>
                <a:ea typeface="宋体" panose="02000500000000000000" pitchFamily="2" charset="-122"/>
              </a:rPr>
              <a:t>$f</a:t>
            </a:r>
            <a:r>
              <a:rPr lang="en-US" altLang="en-US" sz="1800" dirty="0">
                <a:solidFill>
                  <a:srgbClr val="FF0000"/>
                </a:solidFill>
                <a:latin typeface="宋体" panose="02000500000000000000" pitchFamily="2" charset="-122"/>
                <a:ea typeface="宋体" panose="02000500000000000000" pitchFamily="2" charset="-122"/>
              </a:rPr>
              <a:t>14</a:t>
            </a:r>
            <a:r>
              <a:rPr lang="en-US" altLang="zh-CN" sz="1800" dirty="0">
                <a:latin typeface="宋体" panose="02000500000000000000" pitchFamily="2" charset="-122"/>
                <a:ea typeface="宋体" panose="02000500000000000000" pitchFamily="2" charset="-122"/>
              </a:rPr>
              <a:t>,$r1,-24</a:t>
            </a:r>
            <a:endParaRPr lang="en-US" altLang="zh-CN" sz="1800" dirty="0">
              <a:latin typeface="宋体" panose="02000500000000000000" pitchFamily="2" charset="-122"/>
              <a:ea typeface="宋体" panose="02000500000000000000" pitchFamily="2" charset="-122"/>
            </a:endParaRPr>
          </a:p>
          <a:p>
            <a:pPr defTabSz="914400">
              <a:tabLst>
                <a:tab pos="971550" algn="l"/>
                <a:tab pos="1970405" algn="l"/>
                <a:tab pos="3657600" algn="l"/>
              </a:tabLst>
            </a:pPr>
            <a:r>
              <a:rPr lang="en-US" altLang="zh-CN" sz="1800" dirty="0">
                <a:latin typeface="宋体" panose="02000500000000000000" pitchFamily="2" charset="-122"/>
                <a:ea typeface="宋体" panose="02000500000000000000" pitchFamily="2" charset="-122"/>
              </a:rPr>
              <a:t>5	fadd.d	</a:t>
            </a:r>
            <a:r>
              <a:rPr lang="en-US" altLang="zh-CN" sz="1800" dirty="0">
                <a:solidFill>
                  <a:schemeClr val="accent1"/>
                </a:solidFill>
                <a:latin typeface="宋体" panose="02000500000000000000" pitchFamily="2" charset="-122"/>
                <a:ea typeface="宋体" panose="02000500000000000000" pitchFamily="2" charset="-122"/>
              </a:rPr>
              <a:t>$f4</a:t>
            </a:r>
            <a:r>
              <a:rPr lang="en-US" altLang="zh-CN" sz="1800" dirty="0">
                <a:latin typeface="宋体" panose="02000500000000000000" pitchFamily="2" charset="-122"/>
                <a:ea typeface="宋体" panose="02000500000000000000" pitchFamily="2" charset="-122"/>
              </a:rPr>
              <a:t>,</a:t>
            </a:r>
            <a:r>
              <a:rPr lang="en-US" altLang="zh-CN" sz="1800" dirty="0">
                <a:solidFill>
                  <a:srgbClr val="FF0000"/>
                </a:solidFill>
                <a:latin typeface="宋体" panose="02000500000000000000" pitchFamily="2" charset="-122"/>
                <a:ea typeface="宋体" panose="02000500000000000000" pitchFamily="2" charset="-122"/>
              </a:rPr>
              <a:t>$f0</a:t>
            </a:r>
            <a:r>
              <a:rPr lang="en-US" altLang="zh-CN" sz="1800" dirty="0">
                <a:latin typeface="宋体" panose="02000500000000000000" pitchFamily="2" charset="-122"/>
                <a:ea typeface="宋体" panose="02000500000000000000" pitchFamily="2" charset="-122"/>
              </a:rPr>
              <a:t>,$f2</a:t>
            </a:r>
            <a:endParaRPr lang="en-US" altLang="zh-CN" sz="1800" dirty="0">
              <a:latin typeface="宋体" panose="02000500000000000000" pitchFamily="2" charset="-122"/>
              <a:ea typeface="宋体" panose="02000500000000000000" pitchFamily="2" charset="-122"/>
            </a:endParaRPr>
          </a:p>
          <a:p>
            <a:pPr defTabSz="914400">
              <a:tabLst>
                <a:tab pos="971550" algn="l"/>
                <a:tab pos="1970405" algn="l"/>
                <a:tab pos="3657600" algn="l"/>
              </a:tabLst>
            </a:pPr>
            <a:r>
              <a:rPr lang="en-US" altLang="zh-CN" sz="1800" dirty="0">
                <a:latin typeface="宋体" panose="02000500000000000000" pitchFamily="2" charset="-122"/>
                <a:ea typeface="宋体" panose="02000500000000000000" pitchFamily="2" charset="-122"/>
              </a:rPr>
              <a:t>6	fadd.d	</a:t>
            </a:r>
            <a:r>
              <a:rPr lang="en-US" altLang="zh-CN" sz="1800" dirty="0">
                <a:solidFill>
                  <a:schemeClr val="accent1"/>
                </a:solidFill>
                <a:latin typeface="宋体" panose="02000500000000000000" pitchFamily="2" charset="-122"/>
                <a:ea typeface="宋体" panose="02000500000000000000" pitchFamily="2" charset="-122"/>
              </a:rPr>
              <a:t>$f</a:t>
            </a:r>
            <a:r>
              <a:rPr lang="en-US" altLang="en-US" sz="1800" dirty="0">
                <a:solidFill>
                  <a:schemeClr val="accent1"/>
                </a:solidFill>
                <a:latin typeface="宋体" panose="02000500000000000000" pitchFamily="2" charset="-122"/>
                <a:ea typeface="宋体" panose="02000500000000000000" pitchFamily="2" charset="-122"/>
              </a:rPr>
              <a:t>8</a:t>
            </a:r>
            <a:r>
              <a:rPr lang="en-US" altLang="zh-CN" sz="1800" dirty="0">
                <a:latin typeface="宋体" panose="02000500000000000000" pitchFamily="2" charset="-122"/>
                <a:ea typeface="宋体" panose="02000500000000000000" pitchFamily="2" charset="-122"/>
              </a:rPr>
              <a:t>,</a:t>
            </a:r>
            <a:r>
              <a:rPr lang="en-US" altLang="zh-CN" sz="1800" dirty="0">
                <a:solidFill>
                  <a:srgbClr val="FF0000"/>
                </a:solidFill>
                <a:latin typeface="宋体" panose="02000500000000000000" pitchFamily="2" charset="-122"/>
                <a:ea typeface="宋体" panose="02000500000000000000" pitchFamily="2" charset="-122"/>
              </a:rPr>
              <a:t>$f</a:t>
            </a:r>
            <a:r>
              <a:rPr lang="en-US" altLang="en-US" sz="1800" dirty="0">
                <a:solidFill>
                  <a:srgbClr val="FF0000"/>
                </a:solidFill>
                <a:latin typeface="宋体" panose="02000500000000000000" pitchFamily="2" charset="-122"/>
                <a:ea typeface="宋体" panose="02000500000000000000" pitchFamily="2" charset="-122"/>
              </a:rPr>
              <a:t>6</a:t>
            </a:r>
            <a:r>
              <a:rPr lang="en-US" altLang="zh-CN" sz="1800" dirty="0">
                <a:latin typeface="宋体" panose="02000500000000000000" pitchFamily="2" charset="-122"/>
                <a:ea typeface="宋体" panose="02000500000000000000" pitchFamily="2" charset="-122"/>
              </a:rPr>
              <a:t>,$f2</a:t>
            </a:r>
            <a:endParaRPr lang="en-US" altLang="zh-CN" sz="1800" dirty="0">
              <a:latin typeface="宋体" panose="02000500000000000000" pitchFamily="2" charset="-122"/>
              <a:ea typeface="宋体" panose="02000500000000000000" pitchFamily="2" charset="-122"/>
            </a:endParaRPr>
          </a:p>
          <a:p>
            <a:pPr defTabSz="914400">
              <a:tabLst>
                <a:tab pos="971550" algn="l"/>
                <a:tab pos="1970405" algn="l"/>
                <a:tab pos="3657600" algn="l"/>
              </a:tabLst>
            </a:pPr>
            <a:r>
              <a:rPr lang="en-US" altLang="zh-CN" sz="1800" dirty="0">
                <a:latin typeface="宋体" panose="02000500000000000000" pitchFamily="2" charset="-122"/>
                <a:ea typeface="宋体" panose="02000500000000000000" pitchFamily="2" charset="-122"/>
              </a:rPr>
              <a:t>7	fadd.d	</a:t>
            </a:r>
            <a:r>
              <a:rPr lang="en-US" altLang="zh-CN" sz="1800" dirty="0">
                <a:solidFill>
                  <a:schemeClr val="accent1"/>
                </a:solidFill>
                <a:latin typeface="宋体" panose="02000500000000000000" pitchFamily="2" charset="-122"/>
                <a:ea typeface="宋体" panose="02000500000000000000" pitchFamily="2" charset="-122"/>
              </a:rPr>
              <a:t>$f</a:t>
            </a:r>
            <a:r>
              <a:rPr lang="en-US" altLang="en-US" sz="1800" dirty="0">
                <a:solidFill>
                  <a:schemeClr val="accent1"/>
                </a:solidFill>
                <a:latin typeface="宋体" panose="02000500000000000000" pitchFamily="2" charset="-122"/>
                <a:ea typeface="宋体" panose="02000500000000000000" pitchFamily="2" charset="-122"/>
              </a:rPr>
              <a:t>12</a:t>
            </a:r>
            <a:r>
              <a:rPr lang="en-US" altLang="zh-CN" sz="1800" dirty="0">
                <a:latin typeface="宋体" panose="02000500000000000000" pitchFamily="2" charset="-122"/>
                <a:ea typeface="宋体" panose="02000500000000000000" pitchFamily="2" charset="-122"/>
              </a:rPr>
              <a:t>,</a:t>
            </a:r>
            <a:r>
              <a:rPr lang="en-US" altLang="zh-CN" sz="1800" dirty="0">
                <a:solidFill>
                  <a:srgbClr val="FF0000"/>
                </a:solidFill>
                <a:latin typeface="宋体" panose="02000500000000000000" pitchFamily="2" charset="-122"/>
                <a:ea typeface="宋体" panose="02000500000000000000" pitchFamily="2" charset="-122"/>
              </a:rPr>
              <a:t>$f</a:t>
            </a:r>
            <a:r>
              <a:rPr lang="en-US" altLang="en-US" sz="1800" dirty="0">
                <a:solidFill>
                  <a:srgbClr val="FF0000"/>
                </a:solidFill>
                <a:latin typeface="宋体" panose="02000500000000000000" pitchFamily="2" charset="-122"/>
                <a:ea typeface="宋体" panose="02000500000000000000" pitchFamily="2" charset="-122"/>
              </a:rPr>
              <a:t>1</a:t>
            </a:r>
            <a:r>
              <a:rPr lang="en-US" altLang="zh-CN" sz="1800" dirty="0">
                <a:solidFill>
                  <a:srgbClr val="FF0000"/>
                </a:solidFill>
                <a:latin typeface="宋体" panose="02000500000000000000" pitchFamily="2" charset="-122"/>
                <a:ea typeface="宋体" panose="02000500000000000000" pitchFamily="2" charset="-122"/>
              </a:rPr>
              <a:t>0</a:t>
            </a:r>
            <a:r>
              <a:rPr lang="en-US" altLang="zh-CN" sz="1800" dirty="0">
                <a:latin typeface="宋体" panose="02000500000000000000" pitchFamily="2" charset="-122"/>
                <a:ea typeface="宋体" panose="02000500000000000000" pitchFamily="2" charset="-122"/>
              </a:rPr>
              <a:t>,$f2</a:t>
            </a:r>
            <a:endParaRPr lang="en-US" altLang="zh-CN" sz="1800" dirty="0">
              <a:latin typeface="宋体" panose="02000500000000000000" pitchFamily="2" charset="-122"/>
              <a:ea typeface="宋体" panose="02000500000000000000" pitchFamily="2" charset="-122"/>
            </a:endParaRPr>
          </a:p>
          <a:p>
            <a:pPr defTabSz="914400">
              <a:tabLst>
                <a:tab pos="971550" algn="l"/>
                <a:tab pos="1970405" algn="l"/>
                <a:tab pos="3657600" algn="l"/>
              </a:tabLst>
            </a:pPr>
            <a:r>
              <a:rPr lang="en-US" altLang="zh-CN" sz="1800" dirty="0">
                <a:latin typeface="宋体" panose="02000500000000000000" pitchFamily="2" charset="-122"/>
                <a:ea typeface="宋体" panose="02000500000000000000" pitchFamily="2" charset="-122"/>
              </a:rPr>
              <a:t>8	fadd.d	</a:t>
            </a:r>
            <a:r>
              <a:rPr lang="en-US" altLang="zh-CN" sz="1800" dirty="0">
                <a:solidFill>
                  <a:schemeClr val="accent1"/>
                </a:solidFill>
                <a:latin typeface="宋体" panose="02000500000000000000" pitchFamily="2" charset="-122"/>
                <a:ea typeface="宋体" panose="02000500000000000000" pitchFamily="2" charset="-122"/>
              </a:rPr>
              <a:t>$f</a:t>
            </a:r>
            <a:r>
              <a:rPr lang="en-US" altLang="en-US" sz="1800" dirty="0">
                <a:solidFill>
                  <a:schemeClr val="accent1"/>
                </a:solidFill>
                <a:latin typeface="宋体" panose="02000500000000000000" pitchFamily="2" charset="-122"/>
                <a:ea typeface="宋体" panose="02000500000000000000" pitchFamily="2" charset="-122"/>
              </a:rPr>
              <a:t>16</a:t>
            </a:r>
            <a:r>
              <a:rPr lang="en-US" altLang="zh-CN" sz="1800" dirty="0">
                <a:latin typeface="宋体" panose="02000500000000000000" pitchFamily="2" charset="-122"/>
                <a:ea typeface="宋体" panose="02000500000000000000" pitchFamily="2" charset="-122"/>
              </a:rPr>
              <a:t>,</a:t>
            </a:r>
            <a:r>
              <a:rPr lang="en-US" altLang="zh-CN" sz="1800" dirty="0">
                <a:solidFill>
                  <a:srgbClr val="FF0000"/>
                </a:solidFill>
                <a:latin typeface="宋体" panose="02000500000000000000" pitchFamily="2" charset="-122"/>
                <a:ea typeface="宋体" panose="02000500000000000000" pitchFamily="2" charset="-122"/>
              </a:rPr>
              <a:t>$f</a:t>
            </a:r>
            <a:r>
              <a:rPr lang="en-US" altLang="en-US" sz="1800" dirty="0">
                <a:solidFill>
                  <a:srgbClr val="FF0000"/>
                </a:solidFill>
                <a:latin typeface="宋体" panose="02000500000000000000" pitchFamily="2" charset="-122"/>
                <a:ea typeface="宋体" panose="02000500000000000000" pitchFamily="2" charset="-122"/>
              </a:rPr>
              <a:t>14</a:t>
            </a:r>
            <a:r>
              <a:rPr lang="en-US" altLang="zh-CN" sz="1800" dirty="0">
                <a:latin typeface="宋体" panose="02000500000000000000" pitchFamily="2" charset="-122"/>
                <a:ea typeface="宋体" panose="02000500000000000000" pitchFamily="2" charset="-122"/>
              </a:rPr>
              <a:t>,$f2</a:t>
            </a:r>
            <a:endParaRPr lang="en-US" altLang="zh-CN" sz="1800" dirty="0">
              <a:latin typeface="宋体" panose="02000500000000000000" pitchFamily="2" charset="-122"/>
              <a:ea typeface="宋体" panose="02000500000000000000" pitchFamily="2" charset="-122"/>
            </a:endParaRPr>
          </a:p>
          <a:p>
            <a:pPr defTabSz="914400">
              <a:tabLst>
                <a:tab pos="971550" algn="l"/>
                <a:tab pos="1970405" algn="l"/>
                <a:tab pos="3657600" algn="l"/>
              </a:tabLst>
            </a:pPr>
            <a:r>
              <a:rPr lang="en-US" altLang="zh-CN" sz="1800" dirty="0">
                <a:latin typeface="宋体" panose="02000500000000000000" pitchFamily="2" charset="-122"/>
                <a:ea typeface="宋体" panose="02000500000000000000" pitchFamily="2" charset="-122"/>
              </a:rPr>
              <a:t>9	fst.d	</a:t>
            </a:r>
            <a:r>
              <a:rPr lang="en-US" altLang="zh-CN" sz="1800" dirty="0">
                <a:solidFill>
                  <a:schemeClr val="accent1"/>
                </a:solidFill>
                <a:latin typeface="宋体" panose="02000500000000000000" pitchFamily="2" charset="-122"/>
                <a:ea typeface="宋体" panose="02000500000000000000" pitchFamily="2" charset="-122"/>
              </a:rPr>
              <a:t>$f4</a:t>
            </a:r>
            <a:r>
              <a:rPr lang="en-US" altLang="zh-CN" sz="1800" dirty="0">
                <a:latin typeface="宋体" panose="02000500000000000000" pitchFamily="2" charset="-122"/>
                <a:ea typeface="宋体" panose="02000500000000000000" pitchFamily="2" charset="-122"/>
              </a:rPr>
              <a:t>,$r1,0</a:t>
            </a:r>
            <a:endParaRPr lang="en-US" altLang="zh-CN" sz="1800" dirty="0">
              <a:latin typeface="宋体" panose="02000500000000000000" pitchFamily="2" charset="-122"/>
              <a:ea typeface="宋体" panose="02000500000000000000" pitchFamily="2" charset="-122"/>
            </a:endParaRPr>
          </a:p>
          <a:p>
            <a:pPr defTabSz="914400">
              <a:tabLst>
                <a:tab pos="971550" algn="l"/>
                <a:tab pos="1970405" algn="l"/>
                <a:tab pos="3657600" algn="l"/>
              </a:tabLst>
            </a:pPr>
            <a:r>
              <a:rPr lang="en-US" altLang="zh-CN" sz="1800" dirty="0">
                <a:latin typeface="宋体" panose="02000500000000000000" pitchFamily="2" charset="-122"/>
                <a:ea typeface="宋体" panose="02000500000000000000" pitchFamily="2" charset="-122"/>
              </a:rPr>
              <a:t>10	fst.d	</a:t>
            </a:r>
            <a:r>
              <a:rPr lang="en-US" altLang="zh-CN" sz="1800" dirty="0">
                <a:solidFill>
                  <a:schemeClr val="accent1"/>
                </a:solidFill>
                <a:latin typeface="宋体" panose="02000500000000000000" pitchFamily="2" charset="-122"/>
                <a:ea typeface="宋体" panose="02000500000000000000" pitchFamily="2" charset="-122"/>
              </a:rPr>
              <a:t>$f</a:t>
            </a:r>
            <a:r>
              <a:rPr lang="en-US" altLang="en-US" sz="1800" dirty="0">
                <a:solidFill>
                  <a:schemeClr val="accent1"/>
                </a:solidFill>
                <a:latin typeface="宋体" panose="02000500000000000000" pitchFamily="2" charset="-122"/>
                <a:ea typeface="宋体" panose="02000500000000000000" pitchFamily="2" charset="-122"/>
              </a:rPr>
              <a:t>8</a:t>
            </a:r>
            <a:r>
              <a:rPr lang="en-US" altLang="zh-CN" sz="1800" dirty="0">
                <a:latin typeface="宋体" panose="02000500000000000000" pitchFamily="2" charset="-122"/>
                <a:ea typeface="宋体" panose="02000500000000000000" pitchFamily="2" charset="-122"/>
              </a:rPr>
              <a:t>,$r1,-8</a:t>
            </a:r>
            <a:endParaRPr lang="en-US" altLang="zh-CN" sz="1800" dirty="0">
              <a:latin typeface="宋体" panose="02000500000000000000" pitchFamily="2" charset="-122"/>
              <a:ea typeface="宋体" panose="02000500000000000000" pitchFamily="2" charset="-122"/>
            </a:endParaRPr>
          </a:p>
          <a:p>
            <a:pPr defTabSz="914400">
              <a:tabLst>
                <a:tab pos="971550" algn="l"/>
                <a:tab pos="1970405" algn="l"/>
                <a:tab pos="3657600" algn="l"/>
              </a:tabLst>
            </a:pPr>
            <a:r>
              <a:rPr lang="en-US" altLang="zh-CN" sz="1800" dirty="0">
                <a:latin typeface="宋体" panose="02000500000000000000" pitchFamily="2" charset="-122"/>
                <a:ea typeface="宋体" panose="02000500000000000000" pitchFamily="2" charset="-122"/>
              </a:rPr>
              <a:t>11	fst.d	</a:t>
            </a:r>
            <a:r>
              <a:rPr lang="en-US" altLang="zh-CN" sz="1800" dirty="0">
                <a:solidFill>
                  <a:schemeClr val="accent1"/>
                </a:solidFill>
                <a:latin typeface="宋体" panose="02000500000000000000" pitchFamily="2" charset="-122"/>
                <a:ea typeface="宋体" panose="02000500000000000000" pitchFamily="2" charset="-122"/>
              </a:rPr>
              <a:t>$f</a:t>
            </a:r>
            <a:r>
              <a:rPr lang="en-US" altLang="en-US" sz="1800" dirty="0">
                <a:solidFill>
                  <a:schemeClr val="accent1"/>
                </a:solidFill>
                <a:latin typeface="宋体" panose="02000500000000000000" pitchFamily="2" charset="-122"/>
                <a:ea typeface="宋体" panose="02000500000000000000" pitchFamily="2" charset="-122"/>
              </a:rPr>
              <a:t>12</a:t>
            </a:r>
            <a:r>
              <a:rPr lang="en-US" altLang="zh-CN" sz="1800" dirty="0">
                <a:latin typeface="宋体" panose="02000500000000000000" pitchFamily="2" charset="-122"/>
                <a:ea typeface="宋体" panose="02000500000000000000" pitchFamily="2" charset="-122"/>
              </a:rPr>
              <a:t>,$r1,-16</a:t>
            </a:r>
            <a:endParaRPr lang="en-US" altLang="zh-CN" sz="1800" dirty="0">
              <a:latin typeface="宋体" panose="02000500000000000000" pitchFamily="2" charset="-122"/>
              <a:ea typeface="宋体" panose="02000500000000000000" pitchFamily="2" charset="-122"/>
            </a:endParaRPr>
          </a:p>
          <a:p>
            <a:pPr defTabSz="914400">
              <a:tabLst>
                <a:tab pos="971550" algn="l"/>
                <a:tab pos="1970405" algn="l"/>
                <a:tab pos="3657600" algn="l"/>
              </a:tabLst>
            </a:pPr>
            <a:r>
              <a:rPr lang="en-US" altLang="zh-CN" sz="1800" dirty="0">
                <a:latin typeface="宋体" panose="02000500000000000000" pitchFamily="2" charset="-122"/>
                <a:ea typeface="宋体" panose="02000500000000000000" pitchFamily="2" charset="-122"/>
              </a:rPr>
              <a:t>12	fst.d	</a:t>
            </a:r>
            <a:r>
              <a:rPr lang="en-US" altLang="zh-CN" sz="1800" dirty="0">
                <a:solidFill>
                  <a:schemeClr val="accent1"/>
                </a:solidFill>
                <a:latin typeface="宋体" panose="02000500000000000000" pitchFamily="2" charset="-122"/>
                <a:ea typeface="宋体" panose="02000500000000000000" pitchFamily="2" charset="-122"/>
              </a:rPr>
              <a:t>$f</a:t>
            </a:r>
            <a:r>
              <a:rPr lang="en-US" altLang="en-US" sz="1800" dirty="0">
                <a:solidFill>
                  <a:schemeClr val="accent1"/>
                </a:solidFill>
                <a:latin typeface="宋体" panose="02000500000000000000" pitchFamily="2" charset="-122"/>
                <a:ea typeface="宋体" panose="02000500000000000000" pitchFamily="2" charset="-122"/>
              </a:rPr>
              <a:t>16</a:t>
            </a:r>
            <a:r>
              <a:rPr lang="en-US" altLang="zh-CN" sz="1800" dirty="0">
                <a:latin typeface="宋体" panose="02000500000000000000" pitchFamily="2" charset="-122"/>
                <a:ea typeface="宋体" panose="02000500000000000000" pitchFamily="2" charset="-122"/>
              </a:rPr>
              <a:t>,$r1,-24</a:t>
            </a:r>
            <a:endParaRPr lang="en-US" altLang="zh-CN" sz="1800" dirty="0">
              <a:latin typeface="宋体" panose="02000500000000000000" pitchFamily="2" charset="-122"/>
              <a:ea typeface="宋体" panose="02000500000000000000" pitchFamily="2" charset="-122"/>
            </a:endParaRPr>
          </a:p>
          <a:p>
            <a:pPr defTabSz="914400">
              <a:tabLst>
                <a:tab pos="971550" algn="l"/>
                <a:tab pos="1970405" algn="l"/>
                <a:tab pos="3657600" algn="l"/>
              </a:tabLst>
            </a:pPr>
            <a:r>
              <a:rPr lang="en-US" altLang="zh-CN" sz="1800" dirty="0">
                <a:latin typeface="宋体" panose="02000500000000000000" pitchFamily="2" charset="-122"/>
                <a:ea typeface="宋体" panose="02000500000000000000" pitchFamily="2" charset="-122"/>
              </a:rPr>
              <a:t>13	addi.d	$r1,$r1,-32</a:t>
            </a:r>
            <a:endParaRPr lang="en-US" altLang="zh-CN" sz="1800" dirty="0">
              <a:latin typeface="宋体" panose="02000500000000000000" pitchFamily="2" charset="-122"/>
              <a:ea typeface="宋体" panose="02000500000000000000" pitchFamily="2" charset="-122"/>
            </a:endParaRPr>
          </a:p>
          <a:p>
            <a:pPr defTabSz="914400">
              <a:tabLst>
                <a:tab pos="971550" algn="l"/>
                <a:tab pos="1970405" algn="l"/>
                <a:tab pos="3657600" algn="l"/>
              </a:tabLst>
            </a:pPr>
            <a:r>
              <a:rPr lang="en-US" altLang="zh-CN" sz="1800" dirty="0">
                <a:latin typeface="宋体" panose="02000500000000000000" pitchFamily="2" charset="-122"/>
                <a:ea typeface="宋体" panose="02000500000000000000" pitchFamily="2" charset="-122"/>
              </a:rPr>
              <a:t>14	bnez	$r1,Loop	</a:t>
            </a:r>
            <a:endParaRPr lang="en-US" altLang="zh-CN" dirty="0">
              <a:solidFill>
                <a:schemeClr val="hlink"/>
              </a:solidFill>
              <a:latin typeface="宋体" panose="02000500000000000000" pitchFamily="2" charset="-122"/>
              <a:ea typeface="宋体" panose="02000500000000000000" pitchFamily="2" charset="-122"/>
            </a:endParaRPr>
          </a:p>
        </p:txBody>
      </p:sp>
      <p:sp>
        <p:nvSpPr>
          <p:cNvPr id="91139" name="Rectangle 3"/>
          <p:cNvSpPr>
            <a:spLocks noChangeArrowheads="1"/>
          </p:cNvSpPr>
          <p:nvPr/>
        </p:nvSpPr>
        <p:spPr bwMode="auto">
          <a:xfrm>
            <a:off x="508000" y="304800"/>
            <a:ext cx="11276013" cy="1828800"/>
          </a:xfrm>
          <a:prstGeom prst="rect">
            <a:avLst/>
          </a:prstGeom>
          <a:noFill/>
          <a:ln w="9525">
            <a:noFill/>
            <a:miter lim="800000"/>
          </a:ln>
        </p:spPr>
        <p:txBody>
          <a:bodyPr/>
          <a:lstStyle/>
          <a:p>
            <a:pPr marL="342900" marR="0" lvl="0" indent="-342900" algn="l" defTabSz="914400" rtl="0" eaLnBrk="1" fontAlgn="base" latinLnBrk="0" hangingPunct="1">
              <a:lnSpc>
                <a:spcPct val="150000"/>
              </a:lnSpc>
              <a:spcBef>
                <a:spcPts val="600"/>
              </a:spcBef>
              <a:spcAft>
                <a:spcPct val="0"/>
              </a:spcAft>
              <a:buClrTx/>
              <a:buSzTx/>
              <a:buFontTx/>
              <a:buChar char="•"/>
              <a:defRPr/>
            </a:pPr>
            <a:r>
              <a:rPr kumimoji="1" lang="zh-CN" altLang="en-US" sz="2000" b="1" i="0" u="none" strike="noStrike" kern="1200" cap="none" spc="0" normalizeH="0" baseline="0" noProof="0" dirty="0">
                <a:ln>
                  <a:noFill/>
                </a:ln>
                <a:solidFill>
                  <a:schemeClr val="tx1"/>
                </a:solidFill>
                <a:effectLst/>
                <a:uLnTx/>
                <a:uFillTx/>
                <a:latin typeface="+mn-ea"/>
                <a:ea typeface="+mn-ea"/>
                <a:cs typeface="+mn-cs"/>
              </a:rPr>
              <a:t>改变指令次序</a:t>
            </a:r>
            <a:endParaRPr kumimoji="1" lang="zh-CN" altLang="en-US" sz="20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zh-CN" altLang="en-US" sz="1800" b="1" i="0" u="none" strike="noStrike" kern="1200" cap="none" spc="0" normalizeH="0" baseline="0" noProof="0" dirty="0">
                <a:ln>
                  <a:noFill/>
                </a:ln>
                <a:solidFill>
                  <a:schemeClr val="tx1"/>
                </a:solidFill>
                <a:effectLst/>
                <a:uLnTx/>
                <a:uFillTx/>
                <a:latin typeface="+mn-ea"/>
                <a:ea typeface="+mn-ea"/>
                <a:cs typeface="+mn-cs"/>
              </a:rPr>
              <a:t>注意把</a:t>
            </a:r>
            <a:r>
              <a:rPr kumimoji="1" lang="en-US" altLang="zh-CN" sz="1800" b="1" i="0" u="none" strike="noStrike" kern="1200" cap="none" spc="0" normalizeH="0" baseline="0" noProof="0" dirty="0">
                <a:ln>
                  <a:noFill/>
                </a:ln>
                <a:solidFill>
                  <a:schemeClr val="tx1"/>
                </a:solidFill>
                <a:effectLst/>
                <a:uLnTx/>
                <a:uFillTx/>
                <a:latin typeface="+mn-ea"/>
                <a:ea typeface="+mn-ea"/>
                <a:cs typeface="+mn-cs"/>
              </a:rPr>
              <a:t>fst.d</a:t>
            </a:r>
            <a:r>
              <a:rPr kumimoji="1" lang="zh-CN" altLang="en-US" sz="1800" b="1" i="0" u="none" strike="noStrike" kern="1200" cap="none" spc="0" normalizeH="0" baseline="0" noProof="0" dirty="0">
                <a:ln>
                  <a:noFill/>
                </a:ln>
                <a:solidFill>
                  <a:schemeClr val="tx1"/>
                </a:solidFill>
                <a:effectLst/>
                <a:uLnTx/>
                <a:uFillTx/>
                <a:latin typeface="+mn-ea"/>
                <a:ea typeface="+mn-ea"/>
                <a:cs typeface="+mn-cs"/>
              </a:rPr>
              <a:t>与</a:t>
            </a:r>
            <a:r>
              <a:rPr kumimoji="1" lang="en-US" altLang="en-US" sz="1800" b="1" i="0" u="none" strike="noStrike" kern="1200" cap="none" spc="0" normalizeH="0" baseline="0" noProof="0" dirty="0">
                <a:ln>
                  <a:noFill/>
                </a:ln>
                <a:solidFill>
                  <a:schemeClr val="tx1"/>
                </a:solidFill>
                <a:effectLst/>
                <a:uLnTx/>
                <a:uFillTx/>
                <a:latin typeface="+mn-ea"/>
                <a:ea typeface="+mn-ea"/>
                <a:cs typeface="+mn-cs"/>
              </a:rPr>
              <a:t>addi.d</a:t>
            </a:r>
            <a:r>
              <a:rPr kumimoji="1" lang="zh-CN" altLang="en-US" sz="1800" b="1" i="0" u="none" strike="noStrike" kern="1200" cap="none" spc="0" normalizeH="0" baseline="0" noProof="0" dirty="0">
                <a:ln>
                  <a:noFill/>
                </a:ln>
                <a:solidFill>
                  <a:schemeClr val="tx1"/>
                </a:solidFill>
                <a:effectLst/>
                <a:uLnTx/>
                <a:uFillTx/>
                <a:latin typeface="+mn-ea"/>
                <a:ea typeface="+mn-ea"/>
                <a:cs typeface="+mn-cs"/>
              </a:rPr>
              <a:t>交换次序时偏移量的变化</a:t>
            </a:r>
            <a:endParaRPr kumimoji="1" lang="zh-CN" altLang="en-US" sz="18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zh-CN" altLang="en-US" sz="1800" b="1" i="0" u="none" strike="noStrike" kern="1200" cap="none" spc="0" normalizeH="0" baseline="0" noProof="0" dirty="0">
                <a:ln>
                  <a:noFill/>
                </a:ln>
                <a:solidFill>
                  <a:schemeClr val="tx1"/>
                </a:solidFill>
                <a:effectLst/>
                <a:uLnTx/>
                <a:uFillTx/>
                <a:latin typeface="+mn-ea"/>
                <a:ea typeface="+mn-ea"/>
                <a:cs typeface="+mn-cs"/>
              </a:rPr>
              <a:t>注意</a:t>
            </a:r>
            <a:r>
              <a:rPr kumimoji="1" lang="en-US" altLang="en-US" sz="1800" b="1" i="0" u="none" strike="noStrike" kern="1200" cap="none" spc="0" normalizeH="0" baseline="0" noProof="0" dirty="0">
                <a:ln>
                  <a:noFill/>
                </a:ln>
                <a:solidFill>
                  <a:schemeClr val="tx1"/>
                </a:solidFill>
                <a:effectLst/>
                <a:uLnTx/>
                <a:uFillTx/>
                <a:latin typeface="+mn-ea"/>
                <a:ea typeface="+mn-ea"/>
                <a:cs typeface="+mn-cs"/>
              </a:rPr>
              <a:t>fst.d</a:t>
            </a:r>
            <a:r>
              <a:rPr kumimoji="1" lang="zh-CN" altLang="en-US" sz="1800" b="1" i="0" u="none" strike="noStrike" kern="1200" cap="none" spc="0" normalizeH="0" baseline="0" noProof="0" dirty="0">
                <a:ln>
                  <a:noFill/>
                </a:ln>
                <a:solidFill>
                  <a:schemeClr val="tx1"/>
                </a:solidFill>
                <a:effectLst/>
                <a:uLnTx/>
                <a:uFillTx/>
                <a:latin typeface="+mn-ea"/>
                <a:ea typeface="+mn-ea"/>
                <a:cs typeface="+mn-cs"/>
              </a:rPr>
              <a:t>与</a:t>
            </a:r>
            <a:r>
              <a:rPr kumimoji="1" lang="en-US" altLang="en-US" sz="1800" b="1" i="0" u="none" strike="noStrike" kern="1200" cap="none" spc="0" normalizeH="0" baseline="0" noProof="0" dirty="0">
                <a:ln>
                  <a:noFill/>
                </a:ln>
                <a:solidFill>
                  <a:schemeClr val="tx1"/>
                </a:solidFill>
                <a:effectLst/>
                <a:uLnTx/>
                <a:uFillTx/>
                <a:latin typeface="+mn-ea"/>
                <a:ea typeface="+mn-ea"/>
                <a:cs typeface="+mn-cs"/>
              </a:rPr>
              <a:t>fld.d</a:t>
            </a:r>
            <a:r>
              <a:rPr kumimoji="1" lang="zh-CN" altLang="en-US" sz="1800" b="1" i="0" u="none" strike="noStrike" kern="1200" cap="none" spc="0" normalizeH="0" baseline="0" noProof="0" dirty="0">
                <a:ln>
                  <a:noFill/>
                </a:ln>
                <a:solidFill>
                  <a:schemeClr val="tx1"/>
                </a:solidFill>
                <a:effectLst/>
                <a:uLnTx/>
                <a:uFillTx/>
                <a:latin typeface="+mn-ea"/>
                <a:ea typeface="+mn-ea"/>
                <a:cs typeface="+mn-cs"/>
              </a:rPr>
              <a:t>交换次序不会影响正确性</a:t>
            </a:r>
            <a:endParaRPr kumimoji="1" lang="zh-CN" altLang="en-US" sz="18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zh-CN" altLang="en-US" sz="1800" b="1" i="0" u="none" strike="noStrike" kern="1200" cap="none" spc="0" normalizeH="0" baseline="0" noProof="0" dirty="0">
                <a:ln>
                  <a:noFill/>
                </a:ln>
                <a:solidFill>
                  <a:schemeClr val="tx1"/>
                </a:solidFill>
                <a:effectLst/>
                <a:uLnTx/>
                <a:uFillTx/>
                <a:latin typeface="+mn-ea"/>
                <a:ea typeface="+mn-ea"/>
                <a:cs typeface="+mn-cs"/>
              </a:rPr>
              <a:t>每</a:t>
            </a:r>
            <a:r>
              <a:rPr kumimoji="1" lang="en-US" altLang="zh-CN" sz="1800" b="1" i="0" u="none" strike="noStrike" kern="1200" cap="none" spc="0" normalizeH="0" baseline="0" noProof="0" dirty="0">
                <a:ln>
                  <a:noFill/>
                </a:ln>
                <a:solidFill>
                  <a:schemeClr val="tx1"/>
                </a:solidFill>
                <a:effectLst/>
                <a:uLnTx/>
                <a:uFillTx/>
                <a:latin typeface="+mn-ea"/>
                <a:ea typeface="+mn-ea"/>
                <a:cs typeface="+mn-cs"/>
              </a:rPr>
              <a:t>4</a:t>
            </a:r>
            <a:r>
              <a:rPr kumimoji="1" lang="zh-CN" altLang="en-US" sz="1800" b="1" i="0" u="none" strike="noStrike" kern="1200" cap="none" spc="0" normalizeH="0" baseline="0" noProof="0" dirty="0">
                <a:ln>
                  <a:noFill/>
                </a:ln>
                <a:solidFill>
                  <a:schemeClr val="tx1"/>
                </a:solidFill>
                <a:effectLst/>
                <a:uLnTx/>
                <a:uFillTx/>
                <a:latin typeface="+mn-ea"/>
                <a:ea typeface="+mn-ea"/>
                <a:cs typeface="+mn-cs"/>
              </a:rPr>
              <a:t>个循环需要</a:t>
            </a:r>
            <a:r>
              <a:rPr kumimoji="1" lang="en-US" altLang="zh-CN" sz="1800" b="1" i="0" u="none" strike="noStrike" kern="1200" cap="none" spc="0" normalizeH="0" baseline="0" noProof="0" dirty="0">
                <a:ln>
                  <a:noFill/>
                </a:ln>
                <a:solidFill>
                  <a:schemeClr val="tx1"/>
                </a:solidFill>
                <a:effectLst/>
                <a:uLnTx/>
                <a:uFillTx/>
                <a:latin typeface="+mn-ea"/>
                <a:ea typeface="+mn-ea"/>
                <a:cs typeface="+mn-cs"/>
              </a:rPr>
              <a:t>14</a:t>
            </a:r>
            <a:r>
              <a:rPr kumimoji="1" lang="zh-CN" altLang="en-US" sz="1800" b="1" i="0" u="none" strike="noStrike" kern="1200" cap="none" spc="0" normalizeH="0" baseline="0" noProof="0" dirty="0">
                <a:ln>
                  <a:noFill/>
                </a:ln>
                <a:solidFill>
                  <a:schemeClr val="tx1"/>
                </a:solidFill>
                <a:effectLst/>
                <a:uLnTx/>
                <a:uFillTx/>
                <a:latin typeface="+mn-ea"/>
                <a:ea typeface="+mn-ea"/>
                <a:cs typeface="+mn-cs"/>
              </a:rPr>
              <a:t>拍，每个循环 </a:t>
            </a:r>
            <a:r>
              <a:rPr kumimoji="1" lang="en-US" altLang="zh-CN" sz="1800" b="1" i="0" u="none" strike="noStrike" kern="1200" cap="none" spc="0" normalizeH="0" baseline="0" noProof="0" dirty="0">
                <a:ln>
                  <a:noFill/>
                </a:ln>
                <a:solidFill>
                  <a:schemeClr val="tx1"/>
                </a:solidFill>
                <a:effectLst/>
                <a:uLnTx/>
                <a:uFillTx/>
                <a:latin typeface="+mn-ea"/>
                <a:ea typeface="+mn-ea"/>
                <a:cs typeface="+mn-cs"/>
              </a:rPr>
              <a:t>3.5 </a:t>
            </a:r>
            <a:r>
              <a:rPr kumimoji="1" lang="zh-CN" altLang="en-US" sz="1800" b="1" i="0" u="none" strike="noStrike" kern="1200" cap="none" spc="0" normalizeH="0" baseline="0" noProof="0" dirty="0">
                <a:ln>
                  <a:noFill/>
                </a:ln>
                <a:solidFill>
                  <a:schemeClr val="tx1"/>
                </a:solidFill>
                <a:effectLst/>
                <a:uLnTx/>
                <a:uFillTx/>
                <a:latin typeface="+mn-ea"/>
                <a:ea typeface="+mn-ea"/>
                <a:cs typeface="+mn-cs"/>
              </a:rPr>
              <a:t>拍</a:t>
            </a:r>
            <a:endParaRPr kumimoji="1" lang="zh-CN" altLang="en-US" sz="1800" b="1" i="0" u="none" strike="noStrike" kern="1200" cap="none" spc="0" normalizeH="0" baseline="0" noProof="0" dirty="0">
              <a:ln>
                <a:noFill/>
              </a:ln>
              <a:solidFill>
                <a:schemeClr val="tx1"/>
              </a:solidFill>
              <a:effectLst/>
              <a:uLnTx/>
              <a:uFillTx/>
              <a:latin typeface="+mn-ea"/>
              <a:ea typeface="+mn-ea"/>
              <a:cs typeface="+mn-cs"/>
            </a:endParaRPr>
          </a:p>
        </p:txBody>
      </p:sp>
      <p:sp>
        <p:nvSpPr>
          <p:cNvPr id="19459"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fld id="{9A0DB2DC-4C9A-4742-B13C-FB6460FD3503}" type="slidenum">
              <a:rPr lang="en-US" altLang="zh-CN" sz="1400" dirty="0"/>
            </a:fld>
            <a:endParaRPr lang="en-US" altLang="zh-CN"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Rectangle 3"/>
          <p:cNvSpPr>
            <a:spLocks noGrp="1"/>
          </p:cNvSpPr>
          <p:nvPr>
            <p:ph idx="1"/>
          </p:nvPr>
        </p:nvSpPr>
        <p:spPr>
          <a:xfrm>
            <a:off x="1008063" y="260350"/>
            <a:ext cx="10361612" cy="2089150"/>
          </a:xfrm>
        </p:spPr>
        <p:txBody>
          <a:bodyPr vert="horz" wrap="square" lIns="91440" tIns="45720" rIns="91440" bIns="45720" anchor="t" anchorCtr="0"/>
          <a:p>
            <a:pPr eaLnBrk="1" hangingPunct="1"/>
            <a:r>
              <a:rPr lang="zh-CN" altLang="en-US" dirty="0"/>
              <a:t>增加发射宽度</a:t>
            </a:r>
            <a:endParaRPr lang="zh-CN" altLang="en-US" dirty="0"/>
          </a:p>
          <a:p>
            <a:pPr lvl="1" eaLnBrk="1" hangingPunct="1"/>
            <a:r>
              <a:rPr lang="zh-CN" altLang="en-US" dirty="0"/>
              <a:t>循环展开</a:t>
            </a:r>
            <a:r>
              <a:rPr lang="en-US" altLang="zh-CN" dirty="0"/>
              <a:t>5</a:t>
            </a:r>
            <a:r>
              <a:rPr lang="zh-CN" altLang="en-US" dirty="0"/>
              <a:t>次</a:t>
            </a:r>
            <a:r>
              <a:rPr lang="zh-CN" altLang="zh-CN" dirty="0"/>
              <a:t>(假设$r1的值是</a:t>
            </a:r>
            <a:r>
              <a:rPr lang="en-US" altLang="zh-CN" dirty="0"/>
              <a:t>40</a:t>
            </a:r>
            <a:r>
              <a:rPr lang="zh-CN" altLang="en-US" dirty="0"/>
              <a:t>的倍数</a:t>
            </a:r>
            <a:r>
              <a:rPr lang="zh-CN" altLang="zh-CN" dirty="0"/>
              <a:t>)</a:t>
            </a:r>
            <a:endParaRPr lang="zh-CN" altLang="en-US" dirty="0"/>
          </a:p>
          <a:p>
            <a:pPr lvl="1" eaLnBrk="1" hangingPunct="1"/>
            <a:r>
              <a:rPr lang="zh-CN" altLang="en-US" dirty="0"/>
              <a:t>定点和浮点并行</a:t>
            </a:r>
            <a:endParaRPr lang="zh-CN" altLang="en-US" dirty="0"/>
          </a:p>
          <a:p>
            <a:pPr lvl="1" eaLnBrk="1" hangingPunct="1"/>
            <a:r>
              <a:rPr lang="en-US" altLang="zh-CN" dirty="0"/>
              <a:t>5</a:t>
            </a:r>
            <a:r>
              <a:rPr lang="zh-CN" altLang="en-US" dirty="0"/>
              <a:t>个循环需要</a:t>
            </a:r>
            <a:r>
              <a:rPr lang="en-US" altLang="zh-CN" dirty="0"/>
              <a:t>12</a:t>
            </a:r>
            <a:r>
              <a:rPr lang="zh-CN" altLang="en-US" dirty="0"/>
              <a:t>拍，每个循环</a:t>
            </a:r>
            <a:r>
              <a:rPr lang="en-US" altLang="zh-CN" dirty="0"/>
              <a:t>2.4</a:t>
            </a:r>
            <a:r>
              <a:rPr lang="zh-CN" altLang="en-US" dirty="0"/>
              <a:t>拍</a:t>
            </a:r>
            <a:endParaRPr lang="zh-CN" altLang="en-US" dirty="0"/>
          </a:p>
        </p:txBody>
      </p:sp>
      <p:sp>
        <p:nvSpPr>
          <p:cNvPr id="20482"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fld id="{9A0DB2DC-4C9A-4742-B13C-FB6460FD3503}" type="slidenum">
              <a:rPr lang="en-US" altLang="zh-CN" sz="1400" dirty="0"/>
            </a:fld>
            <a:endParaRPr lang="en-US" altLang="zh-CN" sz="1400" dirty="0"/>
          </a:p>
        </p:txBody>
      </p:sp>
      <p:sp>
        <p:nvSpPr>
          <p:cNvPr id="20483" name="Rectangle 2"/>
          <p:cNvSpPr/>
          <p:nvPr/>
        </p:nvSpPr>
        <p:spPr>
          <a:xfrm>
            <a:off x="728663" y="2349500"/>
            <a:ext cx="10641012" cy="3413125"/>
          </a:xfrm>
          <a:prstGeom prst="rect">
            <a:avLst/>
          </a:prstGeom>
          <a:noFill/>
          <a:ln w="12700">
            <a:noFill/>
          </a:ln>
        </p:spPr>
        <p:txBody>
          <a:bodyPr lIns="90487" tIns="44450" rIns="90487" bIns="44450" anchor="t" anchorCtr="0">
            <a:spAutoFit/>
          </a:bodyPr>
          <a:p>
            <a:pPr defTabSz="914400">
              <a:tabLst>
                <a:tab pos="971550" algn="l"/>
                <a:tab pos="1970405" algn="l"/>
                <a:tab pos="4297680" algn="l"/>
                <a:tab pos="5283200" algn="l"/>
              </a:tabLst>
            </a:pPr>
            <a:r>
              <a:rPr lang="en-US" altLang="zh-CN" sz="1800" dirty="0">
                <a:latin typeface="宋体" panose="02000500000000000000" pitchFamily="2" charset="-122"/>
                <a:ea typeface="宋体" panose="02000500000000000000" pitchFamily="2" charset="-122"/>
              </a:rPr>
              <a:t>1 Loop:	</a:t>
            </a:r>
            <a:r>
              <a:rPr lang="en-US" altLang="zh-CN" sz="1800" dirty="0">
                <a:latin typeface="宋体" panose="02000500000000000000" pitchFamily="2" charset="-122"/>
                <a:ea typeface="宋体" panose="02000500000000000000" pitchFamily="2" charset="-122"/>
                <a:sym typeface="宋体" panose="02000500000000000000" pitchFamily="2" charset="-122"/>
              </a:rPr>
              <a:t>fld.d	</a:t>
            </a:r>
            <a:r>
              <a:rPr lang="en-US" altLang="zh-CN" sz="1800" dirty="0">
                <a:solidFill>
                  <a:srgbClr val="FF0000"/>
                </a:solidFill>
                <a:latin typeface="宋体" panose="02000500000000000000" pitchFamily="2" charset="-122"/>
                <a:ea typeface="宋体" panose="02000500000000000000" pitchFamily="2" charset="-122"/>
                <a:sym typeface="宋体" panose="02000500000000000000" pitchFamily="2" charset="-122"/>
              </a:rPr>
              <a:t>$f0</a:t>
            </a:r>
            <a:r>
              <a:rPr lang="en-US" altLang="zh-CN" sz="1800" dirty="0">
                <a:latin typeface="宋体" panose="02000500000000000000" pitchFamily="2" charset="-122"/>
                <a:ea typeface="宋体" panose="02000500000000000000" pitchFamily="2" charset="-122"/>
                <a:sym typeface="宋体" panose="02000500000000000000" pitchFamily="2" charset="-122"/>
              </a:rPr>
              <a:t>,$r1,0</a:t>
            </a:r>
            <a:endParaRPr lang="en-US" altLang="zh-CN" sz="1800" dirty="0">
              <a:latin typeface="宋体" panose="02000500000000000000" pitchFamily="2" charset="-122"/>
              <a:ea typeface="宋体" panose="02000500000000000000" pitchFamily="2" charset="-122"/>
            </a:endParaRPr>
          </a:p>
          <a:p>
            <a:pPr defTabSz="914400">
              <a:tabLst>
                <a:tab pos="971550" algn="l"/>
                <a:tab pos="1970405" algn="l"/>
                <a:tab pos="4297680" algn="l"/>
                <a:tab pos="5283200" algn="l"/>
              </a:tabLst>
            </a:pPr>
            <a:r>
              <a:rPr lang="en-US" altLang="zh-CN" sz="1800" dirty="0">
                <a:latin typeface="宋体" panose="02000500000000000000" pitchFamily="2" charset="-122"/>
                <a:ea typeface="宋体" panose="02000500000000000000" pitchFamily="2" charset="-122"/>
              </a:rPr>
              <a:t>2	</a:t>
            </a:r>
            <a:r>
              <a:rPr lang="en-US" altLang="en-US" sz="1800" dirty="0">
                <a:latin typeface="宋体" panose="02000500000000000000" pitchFamily="2" charset="-122"/>
                <a:ea typeface="宋体" panose="02000500000000000000" pitchFamily="2" charset="-122"/>
                <a:sym typeface="宋体" panose="02000500000000000000" pitchFamily="2" charset="-122"/>
              </a:rPr>
              <a:t>f</a:t>
            </a:r>
            <a:r>
              <a:rPr lang="en-US" altLang="zh-CN" sz="1800" dirty="0">
                <a:latin typeface="宋体" panose="02000500000000000000" pitchFamily="2" charset="-122"/>
                <a:ea typeface="宋体" panose="02000500000000000000" pitchFamily="2" charset="-122"/>
                <a:sym typeface="宋体" panose="02000500000000000000" pitchFamily="2" charset="-122"/>
              </a:rPr>
              <a:t>ld.d	</a:t>
            </a:r>
            <a:r>
              <a:rPr lang="en-US" altLang="zh-CN" sz="1800" dirty="0">
                <a:solidFill>
                  <a:srgbClr val="FF0000"/>
                </a:solidFill>
                <a:latin typeface="宋体" panose="02000500000000000000" pitchFamily="2" charset="-122"/>
                <a:ea typeface="宋体" panose="02000500000000000000" pitchFamily="2" charset="-122"/>
                <a:sym typeface="宋体" panose="02000500000000000000" pitchFamily="2" charset="-122"/>
              </a:rPr>
              <a:t>$f</a:t>
            </a:r>
            <a:r>
              <a:rPr lang="en-US" altLang="en-US" sz="1800" dirty="0">
                <a:solidFill>
                  <a:srgbClr val="FF0000"/>
                </a:solidFill>
                <a:latin typeface="宋体" panose="02000500000000000000" pitchFamily="2" charset="-122"/>
                <a:ea typeface="宋体" panose="02000500000000000000" pitchFamily="2" charset="-122"/>
                <a:sym typeface="宋体" panose="02000500000000000000" pitchFamily="2" charset="-122"/>
              </a:rPr>
              <a:t>6</a:t>
            </a:r>
            <a:r>
              <a:rPr lang="en-US" altLang="zh-CN" sz="1800" dirty="0">
                <a:latin typeface="宋体" panose="02000500000000000000" pitchFamily="2" charset="-122"/>
                <a:ea typeface="宋体" panose="02000500000000000000" pitchFamily="2" charset="-122"/>
                <a:sym typeface="宋体" panose="02000500000000000000" pitchFamily="2" charset="-122"/>
              </a:rPr>
              <a:t>,$r1,-8</a:t>
            </a:r>
            <a:endParaRPr lang="en-US" altLang="zh-CN" sz="1800" dirty="0">
              <a:latin typeface="宋体" panose="02000500000000000000" pitchFamily="2" charset="-122"/>
              <a:ea typeface="宋体" panose="02000500000000000000" pitchFamily="2" charset="-122"/>
            </a:endParaRPr>
          </a:p>
          <a:p>
            <a:pPr defTabSz="914400">
              <a:tabLst>
                <a:tab pos="971550" algn="l"/>
                <a:tab pos="1970405" algn="l"/>
                <a:tab pos="4297680" algn="l"/>
                <a:tab pos="5283200" algn="l"/>
              </a:tabLst>
            </a:pPr>
            <a:r>
              <a:rPr lang="en-US" altLang="zh-CN" sz="1800" dirty="0">
                <a:latin typeface="宋体" panose="02000500000000000000" pitchFamily="2" charset="-122"/>
                <a:ea typeface="宋体" panose="02000500000000000000" pitchFamily="2" charset="-122"/>
              </a:rPr>
              <a:t>3	</a:t>
            </a:r>
            <a:r>
              <a:rPr lang="en-US" altLang="en-US" sz="1800" dirty="0">
                <a:latin typeface="宋体" panose="02000500000000000000" pitchFamily="2" charset="-122"/>
                <a:ea typeface="宋体" panose="02000500000000000000" pitchFamily="2" charset="-122"/>
                <a:sym typeface="宋体" panose="02000500000000000000" pitchFamily="2" charset="-122"/>
              </a:rPr>
              <a:t>f</a:t>
            </a:r>
            <a:r>
              <a:rPr lang="en-US" altLang="zh-CN" sz="1800" dirty="0">
                <a:latin typeface="宋体" panose="02000500000000000000" pitchFamily="2" charset="-122"/>
                <a:ea typeface="宋体" panose="02000500000000000000" pitchFamily="2" charset="-122"/>
                <a:sym typeface="宋体" panose="02000500000000000000" pitchFamily="2" charset="-122"/>
              </a:rPr>
              <a:t>ld.d	</a:t>
            </a:r>
            <a:r>
              <a:rPr lang="en-US" altLang="zh-CN" sz="1800" dirty="0">
                <a:solidFill>
                  <a:srgbClr val="FF0000"/>
                </a:solidFill>
                <a:latin typeface="宋体" panose="02000500000000000000" pitchFamily="2" charset="-122"/>
                <a:ea typeface="宋体" panose="02000500000000000000" pitchFamily="2" charset="-122"/>
                <a:sym typeface="宋体" panose="02000500000000000000" pitchFamily="2" charset="-122"/>
              </a:rPr>
              <a:t>$f</a:t>
            </a:r>
            <a:r>
              <a:rPr lang="en-US" altLang="en-US" sz="1800" dirty="0">
                <a:solidFill>
                  <a:srgbClr val="FF0000"/>
                </a:solidFill>
                <a:latin typeface="宋体" panose="02000500000000000000" pitchFamily="2" charset="-122"/>
                <a:ea typeface="宋体" panose="02000500000000000000" pitchFamily="2" charset="-122"/>
                <a:sym typeface="宋体" panose="02000500000000000000" pitchFamily="2" charset="-122"/>
              </a:rPr>
              <a:t>10</a:t>
            </a:r>
            <a:r>
              <a:rPr lang="en-US" altLang="zh-CN" sz="1800" dirty="0">
                <a:latin typeface="宋体" panose="02000500000000000000" pitchFamily="2" charset="-122"/>
                <a:ea typeface="宋体" panose="02000500000000000000" pitchFamily="2" charset="-122"/>
                <a:sym typeface="宋体" panose="02000500000000000000" pitchFamily="2" charset="-122"/>
              </a:rPr>
              <a:t>,$r1,-16	</a:t>
            </a:r>
            <a:endParaRPr lang="en-US" altLang="zh-CN" sz="1800" dirty="0">
              <a:latin typeface="宋体" panose="02000500000000000000" pitchFamily="2" charset="-122"/>
              <a:ea typeface="宋体" panose="02000500000000000000" pitchFamily="2" charset="-122"/>
            </a:endParaRPr>
          </a:p>
          <a:p>
            <a:pPr defTabSz="914400">
              <a:tabLst>
                <a:tab pos="971550" algn="l"/>
                <a:tab pos="1970405" algn="l"/>
                <a:tab pos="4297680" algn="l"/>
                <a:tab pos="5283200" algn="l"/>
              </a:tabLst>
            </a:pPr>
            <a:r>
              <a:rPr lang="en-US" altLang="zh-CN" sz="1800" dirty="0">
                <a:latin typeface="宋体" panose="02000500000000000000" pitchFamily="2" charset="-122"/>
                <a:ea typeface="宋体" panose="02000500000000000000" pitchFamily="2" charset="-122"/>
              </a:rPr>
              <a:t>4	</a:t>
            </a:r>
            <a:r>
              <a:rPr lang="en-US" altLang="en-US" sz="1800" dirty="0">
                <a:latin typeface="宋体" panose="02000500000000000000" pitchFamily="2" charset="-122"/>
                <a:ea typeface="宋体" panose="02000500000000000000" pitchFamily="2" charset="-122"/>
                <a:sym typeface="宋体" panose="02000500000000000000" pitchFamily="2" charset="-122"/>
              </a:rPr>
              <a:t>f</a:t>
            </a:r>
            <a:r>
              <a:rPr lang="en-US" altLang="zh-CN" sz="1800" dirty="0">
                <a:latin typeface="宋体" panose="02000500000000000000" pitchFamily="2" charset="-122"/>
                <a:ea typeface="宋体" panose="02000500000000000000" pitchFamily="2" charset="-122"/>
                <a:sym typeface="宋体" panose="02000500000000000000" pitchFamily="2" charset="-122"/>
              </a:rPr>
              <a:t>ld.d	</a:t>
            </a:r>
            <a:r>
              <a:rPr lang="en-US" altLang="zh-CN" sz="1800" dirty="0">
                <a:solidFill>
                  <a:srgbClr val="FF0000"/>
                </a:solidFill>
                <a:latin typeface="宋体" panose="02000500000000000000" pitchFamily="2" charset="-122"/>
                <a:ea typeface="宋体" panose="02000500000000000000" pitchFamily="2" charset="-122"/>
                <a:sym typeface="宋体" panose="02000500000000000000" pitchFamily="2" charset="-122"/>
              </a:rPr>
              <a:t>$f</a:t>
            </a:r>
            <a:r>
              <a:rPr lang="en-US" altLang="en-US" sz="1800" dirty="0">
                <a:solidFill>
                  <a:srgbClr val="FF0000"/>
                </a:solidFill>
                <a:latin typeface="宋体" panose="02000500000000000000" pitchFamily="2" charset="-122"/>
                <a:ea typeface="宋体" panose="02000500000000000000" pitchFamily="2" charset="-122"/>
                <a:sym typeface="宋体" panose="02000500000000000000" pitchFamily="2" charset="-122"/>
              </a:rPr>
              <a:t>14</a:t>
            </a:r>
            <a:r>
              <a:rPr lang="en-US" altLang="zh-CN" sz="1800" dirty="0">
                <a:latin typeface="宋体" panose="02000500000000000000" pitchFamily="2" charset="-122"/>
                <a:ea typeface="宋体" panose="02000500000000000000" pitchFamily="2" charset="-122"/>
                <a:sym typeface="宋体" panose="02000500000000000000" pitchFamily="2" charset="-122"/>
              </a:rPr>
              <a:t>,$r1,-24	fadd.d	</a:t>
            </a:r>
            <a:r>
              <a:rPr lang="en-US" altLang="zh-CN" sz="1800" dirty="0">
                <a:solidFill>
                  <a:schemeClr val="accent1"/>
                </a:solidFill>
                <a:latin typeface="宋体" panose="02000500000000000000" pitchFamily="2" charset="-122"/>
                <a:ea typeface="宋体" panose="02000500000000000000" pitchFamily="2" charset="-122"/>
                <a:sym typeface="宋体" panose="02000500000000000000" pitchFamily="2" charset="-122"/>
              </a:rPr>
              <a:t>$f4</a:t>
            </a:r>
            <a:r>
              <a:rPr lang="en-US" altLang="zh-CN" sz="1800" dirty="0">
                <a:latin typeface="宋体" panose="02000500000000000000" pitchFamily="2" charset="-122"/>
                <a:ea typeface="宋体" panose="02000500000000000000" pitchFamily="2" charset="-122"/>
                <a:sym typeface="宋体" panose="02000500000000000000" pitchFamily="2" charset="-122"/>
              </a:rPr>
              <a:t>,</a:t>
            </a:r>
            <a:r>
              <a:rPr lang="en-US" altLang="zh-CN" sz="1800" dirty="0">
                <a:solidFill>
                  <a:srgbClr val="FF0000"/>
                </a:solidFill>
                <a:latin typeface="宋体" panose="02000500000000000000" pitchFamily="2" charset="-122"/>
                <a:ea typeface="宋体" panose="02000500000000000000" pitchFamily="2" charset="-122"/>
                <a:sym typeface="宋体" panose="02000500000000000000" pitchFamily="2" charset="-122"/>
              </a:rPr>
              <a:t>$f0</a:t>
            </a:r>
            <a:r>
              <a:rPr lang="en-US" altLang="zh-CN" sz="1800" dirty="0">
                <a:latin typeface="宋体" panose="02000500000000000000" pitchFamily="2" charset="-122"/>
                <a:ea typeface="宋体" panose="02000500000000000000" pitchFamily="2" charset="-122"/>
                <a:sym typeface="宋体" panose="02000500000000000000" pitchFamily="2" charset="-122"/>
              </a:rPr>
              <a:t>,$f2</a:t>
            </a:r>
            <a:endParaRPr lang="en-US" altLang="zh-CN" sz="1800" dirty="0">
              <a:latin typeface="宋体" panose="02000500000000000000" pitchFamily="2" charset="-122"/>
              <a:ea typeface="宋体" panose="02000500000000000000" pitchFamily="2" charset="-122"/>
            </a:endParaRPr>
          </a:p>
          <a:p>
            <a:pPr defTabSz="914400">
              <a:tabLst>
                <a:tab pos="971550" algn="l"/>
                <a:tab pos="1970405" algn="l"/>
                <a:tab pos="4297680" algn="l"/>
                <a:tab pos="5283200" algn="l"/>
              </a:tabLst>
            </a:pPr>
            <a:r>
              <a:rPr lang="en-US" altLang="zh-CN" sz="1800" dirty="0">
                <a:latin typeface="宋体" panose="02000500000000000000" pitchFamily="2" charset="-122"/>
                <a:ea typeface="宋体" panose="02000500000000000000" pitchFamily="2" charset="-122"/>
              </a:rPr>
              <a:t>5	</a:t>
            </a:r>
            <a:r>
              <a:rPr lang="en-US" altLang="en-US" sz="1800" dirty="0">
                <a:latin typeface="宋体" panose="02000500000000000000" pitchFamily="2" charset="-122"/>
                <a:ea typeface="宋体" panose="02000500000000000000" pitchFamily="2" charset="-122"/>
                <a:sym typeface="宋体" panose="02000500000000000000" pitchFamily="2" charset="-122"/>
              </a:rPr>
              <a:t>f</a:t>
            </a:r>
            <a:r>
              <a:rPr lang="en-US" altLang="zh-CN" sz="1800" dirty="0">
                <a:latin typeface="宋体" panose="02000500000000000000" pitchFamily="2" charset="-122"/>
                <a:ea typeface="宋体" panose="02000500000000000000" pitchFamily="2" charset="-122"/>
                <a:sym typeface="宋体" panose="02000500000000000000" pitchFamily="2" charset="-122"/>
              </a:rPr>
              <a:t>ld.d	</a:t>
            </a:r>
            <a:r>
              <a:rPr lang="en-US" altLang="zh-CN" sz="1800" dirty="0">
                <a:solidFill>
                  <a:srgbClr val="FF0000"/>
                </a:solidFill>
                <a:latin typeface="宋体" panose="02000500000000000000" pitchFamily="2" charset="-122"/>
                <a:ea typeface="宋体" panose="02000500000000000000" pitchFamily="2" charset="-122"/>
                <a:sym typeface="宋体" panose="02000500000000000000" pitchFamily="2" charset="-122"/>
              </a:rPr>
              <a:t>$f</a:t>
            </a:r>
            <a:r>
              <a:rPr lang="en-US" altLang="en-US" sz="1800" dirty="0">
                <a:solidFill>
                  <a:srgbClr val="FF0000"/>
                </a:solidFill>
                <a:latin typeface="宋体" panose="02000500000000000000" pitchFamily="2" charset="-122"/>
                <a:ea typeface="宋体" panose="02000500000000000000" pitchFamily="2" charset="-122"/>
                <a:sym typeface="宋体" panose="02000500000000000000" pitchFamily="2" charset="-122"/>
              </a:rPr>
              <a:t>18</a:t>
            </a:r>
            <a:r>
              <a:rPr lang="en-US" altLang="zh-CN" sz="1800" dirty="0">
                <a:latin typeface="宋体" panose="02000500000000000000" pitchFamily="2" charset="-122"/>
                <a:ea typeface="宋体" panose="02000500000000000000" pitchFamily="2" charset="-122"/>
                <a:sym typeface="宋体" panose="02000500000000000000" pitchFamily="2" charset="-122"/>
              </a:rPr>
              <a:t>,$r1,-24</a:t>
            </a:r>
            <a:r>
              <a:rPr lang="en-US" altLang="zh-CN" sz="1800" dirty="0">
                <a:latin typeface="宋体" panose="02000500000000000000" pitchFamily="2" charset="-122"/>
                <a:ea typeface="宋体" panose="02000500000000000000" pitchFamily="2" charset="-122"/>
              </a:rPr>
              <a:t>	</a:t>
            </a:r>
            <a:r>
              <a:rPr lang="en-US" altLang="zh-CN" sz="1800" dirty="0">
                <a:latin typeface="宋体" panose="02000500000000000000" pitchFamily="2" charset="-122"/>
                <a:ea typeface="宋体" panose="02000500000000000000" pitchFamily="2" charset="-122"/>
                <a:sym typeface="宋体" panose="02000500000000000000" pitchFamily="2" charset="-122"/>
              </a:rPr>
              <a:t>fadd.d	</a:t>
            </a:r>
            <a:r>
              <a:rPr lang="en-US" altLang="zh-CN" sz="1800" dirty="0">
                <a:solidFill>
                  <a:schemeClr val="accent1"/>
                </a:solidFill>
                <a:latin typeface="宋体" panose="02000500000000000000" pitchFamily="2" charset="-122"/>
                <a:ea typeface="宋体" panose="02000500000000000000" pitchFamily="2" charset="-122"/>
                <a:sym typeface="宋体" panose="02000500000000000000" pitchFamily="2" charset="-122"/>
              </a:rPr>
              <a:t>$f</a:t>
            </a:r>
            <a:r>
              <a:rPr lang="en-US" altLang="en-US" sz="1800" dirty="0">
                <a:solidFill>
                  <a:schemeClr val="accent1"/>
                </a:solidFill>
                <a:latin typeface="宋体" panose="02000500000000000000" pitchFamily="2" charset="-122"/>
                <a:ea typeface="宋体" panose="02000500000000000000" pitchFamily="2" charset="-122"/>
                <a:sym typeface="宋体" panose="02000500000000000000" pitchFamily="2" charset="-122"/>
              </a:rPr>
              <a:t>8</a:t>
            </a:r>
            <a:r>
              <a:rPr lang="en-US" altLang="zh-CN" sz="1800" dirty="0">
                <a:latin typeface="宋体" panose="02000500000000000000" pitchFamily="2" charset="-122"/>
                <a:ea typeface="宋体" panose="02000500000000000000" pitchFamily="2" charset="-122"/>
                <a:sym typeface="宋体" panose="02000500000000000000" pitchFamily="2" charset="-122"/>
              </a:rPr>
              <a:t>,</a:t>
            </a:r>
            <a:r>
              <a:rPr lang="en-US" altLang="zh-CN" sz="1800" dirty="0">
                <a:solidFill>
                  <a:srgbClr val="FF0000"/>
                </a:solidFill>
                <a:latin typeface="宋体" panose="02000500000000000000" pitchFamily="2" charset="-122"/>
                <a:ea typeface="宋体" panose="02000500000000000000" pitchFamily="2" charset="-122"/>
                <a:sym typeface="宋体" panose="02000500000000000000" pitchFamily="2" charset="-122"/>
              </a:rPr>
              <a:t>$f</a:t>
            </a:r>
            <a:r>
              <a:rPr lang="en-US" altLang="en-US" sz="1800" dirty="0">
                <a:solidFill>
                  <a:srgbClr val="FF0000"/>
                </a:solidFill>
                <a:latin typeface="宋体" panose="02000500000000000000" pitchFamily="2" charset="-122"/>
                <a:ea typeface="宋体" panose="02000500000000000000" pitchFamily="2" charset="-122"/>
                <a:sym typeface="宋体" panose="02000500000000000000" pitchFamily="2" charset="-122"/>
              </a:rPr>
              <a:t>6</a:t>
            </a:r>
            <a:r>
              <a:rPr lang="en-US" altLang="zh-CN" sz="1800" dirty="0">
                <a:latin typeface="宋体" panose="02000500000000000000" pitchFamily="2" charset="-122"/>
                <a:ea typeface="宋体" panose="02000500000000000000" pitchFamily="2" charset="-122"/>
                <a:sym typeface="宋体" panose="02000500000000000000" pitchFamily="2" charset="-122"/>
              </a:rPr>
              <a:t>,$f2</a:t>
            </a:r>
            <a:endParaRPr lang="en-US" altLang="zh-CN" sz="1800" dirty="0">
              <a:latin typeface="宋体" panose="02000500000000000000" pitchFamily="2" charset="-122"/>
              <a:ea typeface="宋体" panose="02000500000000000000" pitchFamily="2" charset="-122"/>
            </a:endParaRPr>
          </a:p>
          <a:p>
            <a:pPr defTabSz="914400">
              <a:tabLst>
                <a:tab pos="971550" algn="l"/>
                <a:tab pos="1970405" algn="l"/>
                <a:tab pos="4297680" algn="l"/>
                <a:tab pos="5283200" algn="l"/>
              </a:tabLst>
            </a:pPr>
            <a:r>
              <a:rPr lang="en-US" altLang="zh-CN" sz="1800" dirty="0">
                <a:latin typeface="宋体" panose="02000500000000000000" pitchFamily="2" charset="-122"/>
                <a:ea typeface="宋体" panose="02000500000000000000" pitchFamily="2" charset="-122"/>
              </a:rPr>
              <a:t>6	</a:t>
            </a:r>
            <a:r>
              <a:rPr lang="en-US" altLang="zh-CN" sz="1800" dirty="0">
                <a:latin typeface="宋体" panose="02000500000000000000" pitchFamily="2" charset="-122"/>
                <a:ea typeface="宋体" panose="02000500000000000000" pitchFamily="2" charset="-122"/>
                <a:sym typeface="宋体" panose="02000500000000000000" pitchFamily="2" charset="-122"/>
              </a:rPr>
              <a:t>fst.d	</a:t>
            </a:r>
            <a:r>
              <a:rPr lang="en-US" altLang="zh-CN" sz="1800" dirty="0">
                <a:solidFill>
                  <a:schemeClr val="accent1"/>
                </a:solidFill>
                <a:latin typeface="宋体" panose="02000500000000000000" pitchFamily="2" charset="-122"/>
                <a:ea typeface="宋体" panose="02000500000000000000" pitchFamily="2" charset="-122"/>
                <a:sym typeface="宋体" panose="02000500000000000000" pitchFamily="2" charset="-122"/>
              </a:rPr>
              <a:t>$f4</a:t>
            </a:r>
            <a:r>
              <a:rPr lang="en-US" altLang="zh-CN" sz="1800" dirty="0">
                <a:latin typeface="宋体" panose="02000500000000000000" pitchFamily="2" charset="-122"/>
                <a:ea typeface="宋体" panose="02000500000000000000" pitchFamily="2" charset="-122"/>
                <a:sym typeface="宋体" panose="02000500000000000000" pitchFamily="2" charset="-122"/>
              </a:rPr>
              <a:t>,$r1,0	fadd.d	</a:t>
            </a:r>
            <a:r>
              <a:rPr lang="en-US" altLang="zh-CN" sz="1800" dirty="0">
                <a:solidFill>
                  <a:schemeClr val="accent1"/>
                </a:solidFill>
                <a:latin typeface="宋体" panose="02000500000000000000" pitchFamily="2" charset="-122"/>
                <a:ea typeface="宋体" panose="02000500000000000000" pitchFamily="2" charset="-122"/>
                <a:sym typeface="宋体" panose="02000500000000000000" pitchFamily="2" charset="-122"/>
              </a:rPr>
              <a:t>$f</a:t>
            </a:r>
            <a:r>
              <a:rPr lang="en-US" altLang="en-US" sz="1800" dirty="0">
                <a:solidFill>
                  <a:schemeClr val="accent1"/>
                </a:solidFill>
                <a:latin typeface="宋体" panose="02000500000000000000" pitchFamily="2" charset="-122"/>
                <a:ea typeface="宋体" panose="02000500000000000000" pitchFamily="2" charset="-122"/>
                <a:sym typeface="宋体" panose="02000500000000000000" pitchFamily="2" charset="-122"/>
              </a:rPr>
              <a:t>12</a:t>
            </a:r>
            <a:r>
              <a:rPr lang="en-US" altLang="zh-CN" sz="1800" dirty="0">
                <a:latin typeface="宋体" panose="02000500000000000000" pitchFamily="2" charset="-122"/>
                <a:ea typeface="宋体" panose="02000500000000000000" pitchFamily="2" charset="-122"/>
                <a:sym typeface="宋体" panose="02000500000000000000" pitchFamily="2" charset="-122"/>
              </a:rPr>
              <a:t>,</a:t>
            </a:r>
            <a:r>
              <a:rPr lang="en-US" altLang="zh-CN" sz="1800" dirty="0">
                <a:solidFill>
                  <a:srgbClr val="FF0000"/>
                </a:solidFill>
                <a:latin typeface="宋体" panose="02000500000000000000" pitchFamily="2" charset="-122"/>
                <a:ea typeface="宋体" panose="02000500000000000000" pitchFamily="2" charset="-122"/>
                <a:sym typeface="宋体" panose="02000500000000000000" pitchFamily="2" charset="-122"/>
              </a:rPr>
              <a:t>$f</a:t>
            </a:r>
            <a:r>
              <a:rPr lang="en-US" altLang="en-US" sz="1800" dirty="0">
                <a:solidFill>
                  <a:srgbClr val="FF0000"/>
                </a:solidFill>
                <a:latin typeface="宋体" panose="02000500000000000000" pitchFamily="2" charset="-122"/>
                <a:ea typeface="宋体" panose="02000500000000000000" pitchFamily="2" charset="-122"/>
                <a:sym typeface="宋体" panose="02000500000000000000" pitchFamily="2" charset="-122"/>
              </a:rPr>
              <a:t>1</a:t>
            </a:r>
            <a:r>
              <a:rPr lang="en-US" altLang="zh-CN" sz="1800" dirty="0">
                <a:solidFill>
                  <a:srgbClr val="FF0000"/>
                </a:solidFill>
                <a:latin typeface="宋体" panose="02000500000000000000" pitchFamily="2" charset="-122"/>
                <a:ea typeface="宋体" panose="02000500000000000000" pitchFamily="2" charset="-122"/>
                <a:sym typeface="宋体" panose="02000500000000000000" pitchFamily="2" charset="-122"/>
              </a:rPr>
              <a:t>0</a:t>
            </a:r>
            <a:r>
              <a:rPr lang="en-US" altLang="zh-CN" sz="1800" dirty="0">
                <a:latin typeface="宋体" panose="02000500000000000000" pitchFamily="2" charset="-122"/>
                <a:ea typeface="宋体" panose="02000500000000000000" pitchFamily="2" charset="-122"/>
                <a:sym typeface="宋体" panose="02000500000000000000" pitchFamily="2" charset="-122"/>
              </a:rPr>
              <a:t>,$f2</a:t>
            </a:r>
            <a:endParaRPr lang="en-US" altLang="zh-CN" sz="1800" dirty="0">
              <a:latin typeface="宋体" panose="02000500000000000000" pitchFamily="2" charset="-122"/>
              <a:ea typeface="宋体" panose="02000500000000000000" pitchFamily="2" charset="-122"/>
            </a:endParaRPr>
          </a:p>
          <a:p>
            <a:pPr defTabSz="914400">
              <a:tabLst>
                <a:tab pos="971550" algn="l"/>
                <a:tab pos="1970405" algn="l"/>
                <a:tab pos="4297680" algn="l"/>
                <a:tab pos="5283200" algn="l"/>
              </a:tabLst>
            </a:pPr>
            <a:r>
              <a:rPr lang="en-US" altLang="zh-CN" sz="1800" dirty="0">
                <a:latin typeface="宋体" panose="02000500000000000000" pitchFamily="2" charset="-122"/>
                <a:ea typeface="宋体" panose="02000500000000000000" pitchFamily="2" charset="-122"/>
              </a:rPr>
              <a:t>7	</a:t>
            </a:r>
            <a:r>
              <a:rPr lang="en-US" altLang="zh-CN" sz="1800" dirty="0">
                <a:latin typeface="宋体" panose="02000500000000000000" pitchFamily="2" charset="-122"/>
                <a:ea typeface="宋体" panose="02000500000000000000" pitchFamily="2" charset="-122"/>
                <a:sym typeface="宋体" panose="02000500000000000000" pitchFamily="2" charset="-122"/>
              </a:rPr>
              <a:t>fst.d	</a:t>
            </a:r>
            <a:r>
              <a:rPr lang="en-US" altLang="zh-CN" sz="1800" dirty="0">
                <a:solidFill>
                  <a:schemeClr val="accent1"/>
                </a:solidFill>
                <a:latin typeface="宋体" panose="02000500000000000000" pitchFamily="2" charset="-122"/>
                <a:ea typeface="宋体" panose="02000500000000000000" pitchFamily="2" charset="-122"/>
                <a:sym typeface="宋体" panose="02000500000000000000" pitchFamily="2" charset="-122"/>
              </a:rPr>
              <a:t>$f</a:t>
            </a:r>
            <a:r>
              <a:rPr lang="en-US" altLang="en-US" sz="1800" dirty="0">
                <a:solidFill>
                  <a:schemeClr val="accent1"/>
                </a:solidFill>
                <a:latin typeface="宋体" panose="02000500000000000000" pitchFamily="2" charset="-122"/>
                <a:ea typeface="宋体" panose="02000500000000000000" pitchFamily="2" charset="-122"/>
                <a:sym typeface="宋体" panose="02000500000000000000" pitchFamily="2" charset="-122"/>
              </a:rPr>
              <a:t>8</a:t>
            </a:r>
            <a:r>
              <a:rPr lang="en-US" altLang="zh-CN" sz="1800" dirty="0">
                <a:latin typeface="宋体" panose="02000500000000000000" pitchFamily="2" charset="-122"/>
                <a:ea typeface="宋体" panose="02000500000000000000" pitchFamily="2" charset="-122"/>
                <a:sym typeface="宋体" panose="02000500000000000000" pitchFamily="2" charset="-122"/>
              </a:rPr>
              <a:t>,$r1,-8	fadd.d	</a:t>
            </a:r>
            <a:r>
              <a:rPr lang="en-US" altLang="zh-CN" sz="1800" dirty="0">
                <a:solidFill>
                  <a:schemeClr val="accent1"/>
                </a:solidFill>
                <a:latin typeface="宋体" panose="02000500000000000000" pitchFamily="2" charset="-122"/>
                <a:ea typeface="宋体" panose="02000500000000000000" pitchFamily="2" charset="-122"/>
                <a:sym typeface="宋体" panose="02000500000000000000" pitchFamily="2" charset="-122"/>
              </a:rPr>
              <a:t>$f</a:t>
            </a:r>
            <a:r>
              <a:rPr lang="en-US" altLang="en-US" sz="1800" dirty="0">
                <a:solidFill>
                  <a:schemeClr val="accent1"/>
                </a:solidFill>
                <a:latin typeface="宋体" panose="02000500000000000000" pitchFamily="2" charset="-122"/>
                <a:ea typeface="宋体" panose="02000500000000000000" pitchFamily="2" charset="-122"/>
                <a:sym typeface="宋体" panose="02000500000000000000" pitchFamily="2" charset="-122"/>
              </a:rPr>
              <a:t>16</a:t>
            </a:r>
            <a:r>
              <a:rPr lang="en-US" altLang="zh-CN" sz="1800" dirty="0">
                <a:latin typeface="宋体" panose="02000500000000000000" pitchFamily="2" charset="-122"/>
                <a:ea typeface="宋体" panose="02000500000000000000" pitchFamily="2" charset="-122"/>
                <a:sym typeface="宋体" panose="02000500000000000000" pitchFamily="2" charset="-122"/>
              </a:rPr>
              <a:t>,</a:t>
            </a:r>
            <a:r>
              <a:rPr lang="en-US" altLang="zh-CN" sz="1800" dirty="0">
                <a:solidFill>
                  <a:srgbClr val="FF0000"/>
                </a:solidFill>
                <a:latin typeface="宋体" panose="02000500000000000000" pitchFamily="2" charset="-122"/>
                <a:ea typeface="宋体" panose="02000500000000000000" pitchFamily="2" charset="-122"/>
                <a:sym typeface="宋体" panose="02000500000000000000" pitchFamily="2" charset="-122"/>
              </a:rPr>
              <a:t>$f</a:t>
            </a:r>
            <a:r>
              <a:rPr lang="en-US" altLang="en-US" sz="1800" dirty="0">
                <a:solidFill>
                  <a:srgbClr val="FF0000"/>
                </a:solidFill>
                <a:latin typeface="宋体" panose="02000500000000000000" pitchFamily="2" charset="-122"/>
                <a:ea typeface="宋体" panose="02000500000000000000" pitchFamily="2" charset="-122"/>
                <a:sym typeface="宋体" panose="02000500000000000000" pitchFamily="2" charset="-122"/>
              </a:rPr>
              <a:t>14</a:t>
            </a:r>
            <a:r>
              <a:rPr lang="en-US" altLang="zh-CN" sz="1800" dirty="0">
                <a:latin typeface="宋体" panose="02000500000000000000" pitchFamily="2" charset="-122"/>
                <a:ea typeface="宋体" panose="02000500000000000000" pitchFamily="2" charset="-122"/>
                <a:sym typeface="宋体" panose="02000500000000000000" pitchFamily="2" charset="-122"/>
              </a:rPr>
              <a:t>,$f2</a:t>
            </a:r>
            <a:endParaRPr lang="en-US" altLang="zh-CN" sz="1800" dirty="0">
              <a:latin typeface="宋体" panose="02000500000000000000" pitchFamily="2" charset="-122"/>
              <a:ea typeface="宋体" panose="02000500000000000000" pitchFamily="2" charset="-122"/>
            </a:endParaRPr>
          </a:p>
          <a:p>
            <a:pPr defTabSz="914400">
              <a:tabLst>
                <a:tab pos="971550" algn="l"/>
                <a:tab pos="1970405" algn="l"/>
                <a:tab pos="4297680" algn="l"/>
                <a:tab pos="5283200" algn="l"/>
              </a:tabLst>
            </a:pPr>
            <a:r>
              <a:rPr lang="en-US" altLang="zh-CN" sz="1800" dirty="0">
                <a:latin typeface="宋体" panose="02000500000000000000" pitchFamily="2" charset="-122"/>
                <a:ea typeface="宋体" panose="02000500000000000000" pitchFamily="2" charset="-122"/>
              </a:rPr>
              <a:t>8	</a:t>
            </a:r>
            <a:r>
              <a:rPr lang="en-US" altLang="zh-CN" sz="1800" dirty="0">
                <a:latin typeface="宋体" panose="02000500000000000000" pitchFamily="2" charset="-122"/>
                <a:ea typeface="宋体" panose="02000500000000000000" pitchFamily="2" charset="-122"/>
                <a:sym typeface="宋体" panose="02000500000000000000" pitchFamily="2" charset="-122"/>
              </a:rPr>
              <a:t>fst.d	</a:t>
            </a:r>
            <a:r>
              <a:rPr lang="en-US" altLang="zh-CN" sz="1800" dirty="0">
                <a:solidFill>
                  <a:schemeClr val="accent1"/>
                </a:solidFill>
                <a:latin typeface="宋体" panose="02000500000000000000" pitchFamily="2" charset="-122"/>
                <a:ea typeface="宋体" panose="02000500000000000000" pitchFamily="2" charset="-122"/>
                <a:sym typeface="宋体" panose="02000500000000000000" pitchFamily="2" charset="-122"/>
              </a:rPr>
              <a:t>$f</a:t>
            </a:r>
            <a:r>
              <a:rPr lang="en-US" altLang="en-US" sz="1800" dirty="0">
                <a:solidFill>
                  <a:schemeClr val="accent1"/>
                </a:solidFill>
                <a:latin typeface="宋体" panose="02000500000000000000" pitchFamily="2" charset="-122"/>
                <a:ea typeface="宋体" panose="02000500000000000000" pitchFamily="2" charset="-122"/>
                <a:sym typeface="宋体" panose="02000500000000000000" pitchFamily="2" charset="-122"/>
              </a:rPr>
              <a:t>12</a:t>
            </a:r>
            <a:r>
              <a:rPr lang="en-US" altLang="zh-CN" sz="1800" dirty="0">
                <a:latin typeface="宋体" panose="02000500000000000000" pitchFamily="2" charset="-122"/>
                <a:ea typeface="宋体" panose="02000500000000000000" pitchFamily="2" charset="-122"/>
                <a:sym typeface="宋体" panose="02000500000000000000" pitchFamily="2" charset="-122"/>
              </a:rPr>
              <a:t>,$r1,-16	fadd.d	</a:t>
            </a:r>
            <a:r>
              <a:rPr lang="en-US" altLang="zh-CN" sz="1800" dirty="0">
                <a:solidFill>
                  <a:schemeClr val="accent1"/>
                </a:solidFill>
                <a:latin typeface="宋体" panose="02000500000000000000" pitchFamily="2" charset="-122"/>
                <a:ea typeface="宋体" panose="02000500000000000000" pitchFamily="2" charset="-122"/>
                <a:sym typeface="宋体" panose="02000500000000000000" pitchFamily="2" charset="-122"/>
              </a:rPr>
              <a:t>$f</a:t>
            </a:r>
            <a:r>
              <a:rPr lang="en-US" altLang="en-US" sz="1800" dirty="0">
                <a:solidFill>
                  <a:schemeClr val="accent1"/>
                </a:solidFill>
                <a:latin typeface="宋体" panose="02000500000000000000" pitchFamily="2" charset="-122"/>
                <a:ea typeface="宋体" panose="02000500000000000000" pitchFamily="2" charset="-122"/>
                <a:sym typeface="宋体" panose="02000500000000000000" pitchFamily="2" charset="-122"/>
              </a:rPr>
              <a:t>20</a:t>
            </a:r>
            <a:r>
              <a:rPr lang="en-US" altLang="zh-CN" sz="1800" dirty="0">
                <a:latin typeface="宋体" panose="02000500000000000000" pitchFamily="2" charset="-122"/>
                <a:ea typeface="宋体" panose="02000500000000000000" pitchFamily="2" charset="-122"/>
                <a:sym typeface="宋体" panose="02000500000000000000" pitchFamily="2" charset="-122"/>
              </a:rPr>
              <a:t>,</a:t>
            </a:r>
            <a:r>
              <a:rPr lang="en-US" altLang="zh-CN" sz="1800" dirty="0">
                <a:solidFill>
                  <a:srgbClr val="FF0000"/>
                </a:solidFill>
                <a:latin typeface="宋体" panose="02000500000000000000" pitchFamily="2" charset="-122"/>
                <a:ea typeface="宋体" panose="02000500000000000000" pitchFamily="2" charset="-122"/>
                <a:sym typeface="宋体" panose="02000500000000000000" pitchFamily="2" charset="-122"/>
              </a:rPr>
              <a:t>$f</a:t>
            </a:r>
            <a:r>
              <a:rPr lang="en-US" altLang="en-US" sz="1800" dirty="0">
                <a:solidFill>
                  <a:srgbClr val="FF0000"/>
                </a:solidFill>
                <a:latin typeface="宋体" panose="02000500000000000000" pitchFamily="2" charset="-122"/>
                <a:ea typeface="宋体" panose="02000500000000000000" pitchFamily="2" charset="-122"/>
                <a:sym typeface="宋体" panose="02000500000000000000" pitchFamily="2" charset="-122"/>
              </a:rPr>
              <a:t>18</a:t>
            </a:r>
            <a:r>
              <a:rPr lang="en-US" altLang="zh-CN" sz="1800" dirty="0">
                <a:latin typeface="宋体" panose="02000500000000000000" pitchFamily="2" charset="-122"/>
                <a:ea typeface="宋体" panose="02000500000000000000" pitchFamily="2" charset="-122"/>
                <a:sym typeface="宋体" panose="02000500000000000000" pitchFamily="2" charset="-122"/>
              </a:rPr>
              <a:t>,$f2</a:t>
            </a:r>
            <a:endParaRPr lang="en-US" altLang="zh-CN" sz="1800" dirty="0">
              <a:latin typeface="宋体" panose="02000500000000000000" pitchFamily="2" charset="-122"/>
              <a:ea typeface="宋体" panose="02000500000000000000" pitchFamily="2" charset="-122"/>
            </a:endParaRPr>
          </a:p>
          <a:p>
            <a:pPr defTabSz="914400">
              <a:tabLst>
                <a:tab pos="971550" algn="l"/>
                <a:tab pos="1970405" algn="l"/>
                <a:tab pos="4297680" algn="l"/>
                <a:tab pos="5283200" algn="l"/>
              </a:tabLst>
            </a:pPr>
            <a:r>
              <a:rPr lang="en-US" altLang="zh-CN" sz="1800" dirty="0">
                <a:latin typeface="宋体" panose="02000500000000000000" pitchFamily="2" charset="-122"/>
                <a:ea typeface="宋体" panose="02000500000000000000" pitchFamily="2" charset="-122"/>
              </a:rPr>
              <a:t>9	</a:t>
            </a:r>
            <a:r>
              <a:rPr lang="en-US" altLang="zh-CN" sz="1800" dirty="0">
                <a:latin typeface="宋体" panose="02000500000000000000" pitchFamily="2" charset="-122"/>
                <a:ea typeface="宋体" panose="02000500000000000000" pitchFamily="2" charset="-122"/>
                <a:sym typeface="宋体" panose="02000500000000000000" pitchFamily="2" charset="-122"/>
              </a:rPr>
              <a:t>fst.d	</a:t>
            </a:r>
            <a:r>
              <a:rPr lang="en-US" altLang="zh-CN" sz="1800" dirty="0">
                <a:solidFill>
                  <a:schemeClr val="accent1"/>
                </a:solidFill>
                <a:latin typeface="宋体" panose="02000500000000000000" pitchFamily="2" charset="-122"/>
                <a:ea typeface="宋体" panose="02000500000000000000" pitchFamily="2" charset="-122"/>
                <a:sym typeface="宋体" panose="02000500000000000000" pitchFamily="2" charset="-122"/>
              </a:rPr>
              <a:t>$f</a:t>
            </a:r>
            <a:r>
              <a:rPr lang="en-US" altLang="en-US" sz="1800" dirty="0">
                <a:solidFill>
                  <a:schemeClr val="accent1"/>
                </a:solidFill>
                <a:latin typeface="宋体" panose="02000500000000000000" pitchFamily="2" charset="-122"/>
                <a:ea typeface="宋体" panose="02000500000000000000" pitchFamily="2" charset="-122"/>
                <a:sym typeface="宋体" panose="02000500000000000000" pitchFamily="2" charset="-122"/>
              </a:rPr>
              <a:t>16</a:t>
            </a:r>
            <a:r>
              <a:rPr lang="en-US" altLang="zh-CN" sz="1800" dirty="0">
                <a:latin typeface="宋体" panose="02000500000000000000" pitchFamily="2" charset="-122"/>
                <a:ea typeface="宋体" panose="02000500000000000000" pitchFamily="2" charset="-122"/>
                <a:sym typeface="宋体" panose="02000500000000000000" pitchFamily="2" charset="-122"/>
              </a:rPr>
              <a:t>,$r1,-24</a:t>
            </a:r>
            <a:endParaRPr lang="en-US" altLang="zh-CN" sz="1800" dirty="0">
              <a:latin typeface="宋体" panose="02000500000000000000" pitchFamily="2" charset="-122"/>
              <a:ea typeface="宋体" panose="02000500000000000000" pitchFamily="2" charset="-122"/>
            </a:endParaRPr>
          </a:p>
          <a:p>
            <a:pPr defTabSz="914400">
              <a:tabLst>
                <a:tab pos="971550" algn="l"/>
                <a:tab pos="1970405" algn="l"/>
                <a:tab pos="4297680" algn="l"/>
                <a:tab pos="5283200" algn="l"/>
              </a:tabLst>
            </a:pPr>
            <a:r>
              <a:rPr lang="en-US" altLang="zh-CN" sz="1800" dirty="0">
                <a:latin typeface="宋体" panose="02000500000000000000" pitchFamily="2" charset="-122"/>
                <a:ea typeface="宋体" panose="02000500000000000000" pitchFamily="2" charset="-122"/>
              </a:rPr>
              <a:t>10	</a:t>
            </a:r>
            <a:r>
              <a:rPr lang="en-US" altLang="zh-CN" sz="1800" dirty="0">
                <a:latin typeface="宋体" panose="02000500000000000000" pitchFamily="2" charset="-122"/>
                <a:ea typeface="宋体" panose="02000500000000000000" pitchFamily="2" charset="-122"/>
                <a:sym typeface="宋体" panose="02000500000000000000" pitchFamily="2" charset="-122"/>
              </a:rPr>
              <a:t>fst.d	</a:t>
            </a:r>
            <a:r>
              <a:rPr lang="en-US" altLang="zh-CN" sz="1800" dirty="0">
                <a:solidFill>
                  <a:schemeClr val="accent1"/>
                </a:solidFill>
                <a:latin typeface="宋体" panose="02000500000000000000" pitchFamily="2" charset="-122"/>
                <a:ea typeface="宋体" panose="02000500000000000000" pitchFamily="2" charset="-122"/>
                <a:sym typeface="宋体" panose="02000500000000000000" pitchFamily="2" charset="-122"/>
              </a:rPr>
              <a:t>$f</a:t>
            </a:r>
            <a:r>
              <a:rPr lang="en-US" altLang="en-US" sz="1800" dirty="0">
                <a:solidFill>
                  <a:schemeClr val="accent1"/>
                </a:solidFill>
                <a:latin typeface="宋体" panose="02000500000000000000" pitchFamily="2" charset="-122"/>
                <a:ea typeface="宋体" panose="02000500000000000000" pitchFamily="2" charset="-122"/>
                <a:sym typeface="宋体" panose="02000500000000000000" pitchFamily="2" charset="-122"/>
              </a:rPr>
              <a:t>20</a:t>
            </a:r>
            <a:r>
              <a:rPr lang="en-US" altLang="zh-CN" sz="1800" dirty="0">
                <a:latin typeface="宋体" panose="02000500000000000000" pitchFamily="2" charset="-122"/>
                <a:ea typeface="宋体" panose="02000500000000000000" pitchFamily="2" charset="-122"/>
                <a:sym typeface="宋体" panose="02000500000000000000" pitchFamily="2" charset="-122"/>
              </a:rPr>
              <a:t>,$r1,-32</a:t>
            </a:r>
            <a:endParaRPr lang="en-US" altLang="zh-CN" sz="1800" dirty="0">
              <a:latin typeface="宋体" panose="02000500000000000000" pitchFamily="2" charset="-122"/>
              <a:ea typeface="宋体" panose="02000500000000000000" pitchFamily="2" charset="-122"/>
            </a:endParaRPr>
          </a:p>
          <a:p>
            <a:pPr defTabSz="914400">
              <a:tabLst>
                <a:tab pos="971550" algn="l"/>
                <a:tab pos="1970405" algn="l"/>
                <a:tab pos="4297680" algn="l"/>
                <a:tab pos="5283200" algn="l"/>
              </a:tabLst>
            </a:pPr>
            <a:r>
              <a:rPr lang="en-US" altLang="zh-CN" sz="1800" dirty="0">
                <a:latin typeface="宋体" panose="02000500000000000000" pitchFamily="2" charset="-122"/>
                <a:ea typeface="宋体" panose="02000500000000000000" pitchFamily="2" charset="-122"/>
              </a:rPr>
              <a:t>11	</a:t>
            </a:r>
            <a:r>
              <a:rPr lang="en-US" altLang="zh-CN" sz="1800" dirty="0">
                <a:latin typeface="宋体" panose="02000500000000000000" pitchFamily="2" charset="-122"/>
                <a:ea typeface="宋体" panose="02000500000000000000" pitchFamily="2" charset="-122"/>
                <a:sym typeface="宋体" panose="02000500000000000000" pitchFamily="2" charset="-122"/>
              </a:rPr>
              <a:t>addi.d	$r1,$r1,-40</a:t>
            </a:r>
            <a:endParaRPr lang="en-US" altLang="zh-CN" sz="1800" dirty="0">
              <a:latin typeface="宋体" panose="02000500000000000000" pitchFamily="2" charset="-122"/>
              <a:ea typeface="宋体" panose="02000500000000000000" pitchFamily="2" charset="-122"/>
            </a:endParaRPr>
          </a:p>
          <a:p>
            <a:pPr defTabSz="914400">
              <a:tabLst>
                <a:tab pos="971550" algn="l"/>
                <a:tab pos="1970405" algn="l"/>
                <a:tab pos="4297680" algn="l"/>
                <a:tab pos="5283200" algn="l"/>
              </a:tabLst>
            </a:pPr>
            <a:r>
              <a:rPr lang="en-US" altLang="zh-CN" sz="1800" dirty="0">
                <a:latin typeface="宋体" panose="02000500000000000000" pitchFamily="2" charset="-122"/>
                <a:ea typeface="宋体" panose="02000500000000000000" pitchFamily="2" charset="-122"/>
              </a:rPr>
              <a:t>12	</a:t>
            </a:r>
            <a:r>
              <a:rPr lang="en-US" altLang="zh-CN" sz="1800" dirty="0">
                <a:latin typeface="宋体" panose="02000500000000000000" pitchFamily="2" charset="-122"/>
                <a:ea typeface="宋体" panose="02000500000000000000" pitchFamily="2" charset="-122"/>
                <a:sym typeface="宋体" panose="02000500000000000000" pitchFamily="2" charset="-122"/>
              </a:rPr>
              <a:t>bnez	$r1,Loop</a:t>
            </a:r>
            <a:r>
              <a:rPr lang="en-US" altLang="zh-CN" sz="1800" dirty="0">
                <a:latin typeface="宋体" panose="02000500000000000000" pitchFamily="2" charset="-122"/>
                <a:ea typeface="宋体" panose="02000500000000000000" pitchFamily="2" charset="-122"/>
              </a:rPr>
              <a:t>		</a:t>
            </a:r>
            <a:endParaRPr lang="en-US" altLang="zh-CN" dirty="0">
              <a:solidFill>
                <a:schemeClr val="hlink"/>
              </a:solidFill>
              <a:latin typeface="宋体" panose="02000500000000000000" pitchFamily="2" charset="-122"/>
              <a:ea typeface="宋体" panose="02000500000000000000"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标题 1"/>
          <p:cNvSpPr>
            <a:spLocks noGrp="1"/>
          </p:cNvSpPr>
          <p:nvPr>
            <p:ph type="title"/>
          </p:nvPr>
        </p:nvSpPr>
        <p:spPr>
          <a:xfrm>
            <a:off x="912813" y="188913"/>
            <a:ext cx="10361612" cy="1143000"/>
          </a:xfrm>
        </p:spPr>
        <p:txBody>
          <a:bodyPr vert="horz" wrap="square" lIns="91440" tIns="45720" rIns="91440" bIns="45720" anchor="ctr" anchorCtr="0"/>
          <a:p>
            <a:r>
              <a:rPr lang="zh-CN" altLang="en-US" dirty="0"/>
              <a:t>软件调度与硬件调度</a:t>
            </a:r>
            <a:endParaRPr lang="zh-CN" altLang="en-US" dirty="0"/>
          </a:p>
        </p:txBody>
      </p:sp>
      <p:sp>
        <p:nvSpPr>
          <p:cNvPr id="21506" name="内容占位符 2"/>
          <p:cNvSpPr>
            <a:spLocks noGrp="1"/>
          </p:cNvSpPr>
          <p:nvPr>
            <p:ph idx="1"/>
          </p:nvPr>
        </p:nvSpPr>
        <p:spPr>
          <a:xfrm>
            <a:off x="914400" y="1376363"/>
            <a:ext cx="10361613" cy="5040312"/>
          </a:xfrm>
        </p:spPr>
        <p:txBody>
          <a:bodyPr vert="horz" wrap="square" lIns="91440" tIns="45720" rIns="91440" bIns="45720" anchor="t" anchorCtr="0"/>
          <a:p>
            <a:r>
              <a:rPr lang="zh-CN" altLang="en-US" dirty="0"/>
              <a:t>既然软件可以在保持程序正确性的前提前改变指令的执行次序来提高性能，硬件能不能做到呢？</a:t>
            </a:r>
            <a:endParaRPr lang="en-US" altLang="zh-CN" dirty="0"/>
          </a:p>
          <a:p>
            <a:pPr lvl="1"/>
            <a:r>
              <a:rPr lang="zh-CN" altLang="en-US" dirty="0"/>
              <a:t>可以做到，但要有特定的机制保证程序行为不被改变</a:t>
            </a:r>
            <a:endParaRPr lang="en-US" altLang="zh-CN" dirty="0"/>
          </a:p>
          <a:p>
            <a:pPr lvl="1"/>
            <a:r>
              <a:rPr lang="zh-CN" altLang="en-US" dirty="0"/>
              <a:t>关键是程序的数据和结构相关性得以保持</a:t>
            </a:r>
            <a:endParaRPr lang="en-US" altLang="zh-CN" dirty="0"/>
          </a:p>
          <a:p>
            <a:r>
              <a:rPr lang="zh-CN" altLang="en-US" dirty="0"/>
              <a:t>软件调度与硬件调度的比较</a:t>
            </a:r>
            <a:endParaRPr lang="en-US" altLang="zh-CN" dirty="0"/>
          </a:p>
          <a:p>
            <a:pPr lvl="1"/>
            <a:r>
              <a:rPr lang="zh-CN" altLang="en-US" dirty="0"/>
              <a:t>软件调度的范围大，可以在上万条指令的范围内进行调度；硬件一般只能在百条指令的范围内进行调度</a:t>
            </a:r>
            <a:endParaRPr lang="en-US" altLang="zh-CN" dirty="0"/>
          </a:p>
          <a:p>
            <a:pPr lvl="1"/>
            <a:r>
              <a:rPr lang="zh-CN" altLang="en-US" dirty="0"/>
              <a:t>硬件调度可以掌握一些软件编译时还不明确的相关性信息，尤其是对访存相关以及控制相关</a:t>
            </a:r>
            <a:endParaRPr lang="zh-CN" altLang="en-US" dirty="0"/>
          </a:p>
        </p:txBody>
      </p:sp>
      <p:sp>
        <p:nvSpPr>
          <p:cNvPr id="21507"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fld id="{9A0DB2DC-4C9A-4742-B13C-FB6460FD3503}" type="slidenum">
              <a:rPr lang="en-US" altLang="zh-CN" sz="1400" dirty="0"/>
            </a:fld>
            <a:endParaRPr lang="en-US" altLang="zh-CN"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Rectangle 2"/>
          <p:cNvSpPr>
            <a:spLocks noGrp="1"/>
          </p:cNvSpPr>
          <p:nvPr>
            <p:ph type="title"/>
          </p:nvPr>
        </p:nvSpPr>
        <p:spPr>
          <a:xfrm>
            <a:off x="1055688" y="2889250"/>
            <a:ext cx="10361612" cy="1143000"/>
          </a:xfrm>
        </p:spPr>
        <p:txBody>
          <a:bodyPr vert="horz" wrap="square" lIns="91440" tIns="45720" rIns="91440" bIns="45720" anchor="ctr" anchorCtr="0"/>
          <a:p>
            <a:pPr eaLnBrk="1" hangingPunct="1"/>
            <a:r>
              <a:rPr lang="zh-CN" altLang="en-US" dirty="0"/>
              <a:t>动态调度技术</a:t>
            </a:r>
            <a:endParaRPr lang="zh-CN" altLang="en-US" dirty="0"/>
          </a:p>
        </p:txBody>
      </p:sp>
      <p:sp>
        <p:nvSpPr>
          <p:cNvPr id="22530" name="灯片编号占位符 4"/>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buSzTx/>
            </a:pPr>
            <a:fld id="{9A0DB2DC-4C9A-4742-B13C-FB6460FD3503}" type="slidenum">
              <a:rPr lang="en-US" altLang="zh-CN" sz="1400" dirty="0"/>
            </a:fld>
            <a:endParaRPr lang="en-US" altLang="zh-CN"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Rectangle 2"/>
          <p:cNvSpPr/>
          <p:nvPr/>
        </p:nvSpPr>
        <p:spPr>
          <a:xfrm>
            <a:off x="814388" y="187325"/>
            <a:ext cx="10361612" cy="622300"/>
          </a:xfrm>
          <a:prstGeom prst="rect">
            <a:avLst/>
          </a:prstGeom>
          <a:noFill/>
          <a:ln w="9525">
            <a:noFill/>
          </a:ln>
        </p:spPr>
        <p:txBody>
          <a:bodyPr anchor="ctr" anchorCtr="0"/>
          <a:p>
            <a:pPr algn="ctr"/>
            <a:r>
              <a:rPr lang="zh-CN" altLang="en-US" sz="3200" dirty="0">
                <a:solidFill>
                  <a:srgbClr val="FF0000"/>
                </a:solidFill>
                <a:latin typeface="Arial" panose="02080604020202020204" pitchFamily="34" charset="0"/>
                <a:ea typeface="黑体" panose="02000500000000000000" pitchFamily="49" charset="-122"/>
              </a:rPr>
              <a:t>静态流水线的问题</a:t>
            </a:r>
            <a:endParaRPr lang="zh-CN" altLang="en-US" sz="3200" dirty="0">
              <a:solidFill>
                <a:srgbClr val="FF0000"/>
              </a:solidFill>
              <a:latin typeface="Arial" panose="02080604020202020204" pitchFamily="34" charset="0"/>
              <a:ea typeface="黑体" panose="02000500000000000000" pitchFamily="49" charset="-122"/>
            </a:endParaRPr>
          </a:p>
        </p:txBody>
      </p:sp>
      <p:sp>
        <p:nvSpPr>
          <p:cNvPr id="46083" name="Rectangle 3"/>
          <p:cNvSpPr>
            <a:spLocks noChangeArrowheads="1"/>
          </p:cNvSpPr>
          <p:nvPr/>
        </p:nvSpPr>
        <p:spPr bwMode="auto">
          <a:xfrm>
            <a:off x="863600" y="981075"/>
            <a:ext cx="10361613" cy="3286125"/>
          </a:xfrm>
          <a:prstGeom prst="rect">
            <a:avLst/>
          </a:prstGeom>
          <a:noFill/>
          <a:ln w="9525">
            <a:noFill/>
            <a:miter lim="800000"/>
          </a:ln>
        </p:spPr>
        <p:txBody>
          <a:bodyPr/>
          <a:lstStyle/>
          <a:p>
            <a:pPr marL="342900" marR="0" lvl="0" indent="-342900" algn="l" defTabSz="914400" rtl="0" eaLnBrk="1" fontAlgn="base" latinLnBrk="0" hangingPunct="1">
              <a:lnSpc>
                <a:spcPct val="150000"/>
              </a:lnSpc>
              <a:spcBef>
                <a:spcPts val="600"/>
              </a:spcBef>
              <a:spcAft>
                <a:spcPct val="0"/>
              </a:spcAft>
              <a:buClrTx/>
              <a:buSzTx/>
              <a:buFontTx/>
              <a:buChar char="•"/>
              <a:defRPr/>
            </a:pPr>
            <a:r>
              <a:rPr kumimoji="1" lang="zh-CN" altLang="en-US" sz="2000" b="1" i="0" u="none" strike="noStrike" kern="1200" cap="none" spc="0" normalizeH="0" baseline="0" noProof="0" dirty="0">
                <a:ln>
                  <a:noFill/>
                </a:ln>
                <a:solidFill>
                  <a:schemeClr val="tx1"/>
                </a:solidFill>
                <a:effectLst/>
                <a:uLnTx/>
                <a:uFillTx/>
                <a:latin typeface="+mn-ea"/>
                <a:ea typeface="+mn-ea"/>
                <a:cs typeface="+mn-cs"/>
              </a:rPr>
              <a:t>在译码阶段把指令“隔开”来解决相关</a:t>
            </a:r>
            <a:endParaRPr kumimoji="1" lang="zh-CN" altLang="en-US" sz="2000" b="1" i="0" u="none" strike="noStrike" kern="1200" cap="none" spc="0" normalizeH="0" baseline="0" noProof="0" dirty="0">
              <a:ln>
                <a:noFill/>
              </a:ln>
              <a:solidFill>
                <a:schemeClr val="tx1"/>
              </a:solidFill>
              <a:effectLst/>
              <a:uLnTx/>
              <a:uFillTx/>
              <a:latin typeface="+mn-ea"/>
              <a:ea typeface="+mn-ea"/>
              <a:cs typeface="+mn-cs"/>
            </a:endParaRPr>
          </a:p>
          <a:p>
            <a:pPr marL="800100" marR="0" lvl="1" indent="-342900" algn="l" defTabSz="914400" rtl="0" eaLnBrk="1" fontAlgn="base" latinLnBrk="0" hangingPunct="1">
              <a:lnSpc>
                <a:spcPct val="150000"/>
              </a:lnSpc>
              <a:spcBef>
                <a:spcPts val="600"/>
              </a:spcBef>
              <a:spcAft>
                <a:spcPct val="0"/>
              </a:spcAft>
              <a:buClrTx/>
              <a:buSzTx/>
              <a:buFontTx/>
              <a:buChar char="•"/>
              <a:defRPr/>
            </a:pPr>
            <a:r>
              <a:rPr kumimoji="1" lang="zh-CN" altLang="en-US" sz="1800" b="1" i="0" u="none" strike="noStrike" kern="1200" cap="none" spc="0" normalizeH="0" baseline="0" noProof="0" dirty="0">
                <a:ln>
                  <a:noFill/>
                </a:ln>
                <a:solidFill>
                  <a:schemeClr val="tx1"/>
                </a:solidFill>
                <a:effectLst/>
                <a:uLnTx/>
                <a:uFillTx/>
                <a:latin typeface="+mn-ea"/>
                <a:ea typeface="+mn-ea"/>
                <a:cs typeface="+mn-cs"/>
              </a:rPr>
              <a:t>只要有一条指令停止，后面指令就不能前进，象是一种译码部件的结构相关</a:t>
            </a:r>
            <a:endParaRPr kumimoji="1" lang="zh-CN" altLang="en-US" sz="1800" b="1" i="0" u="none" strike="noStrike" kern="1200" cap="none" spc="0" normalizeH="0" baseline="0" noProof="0" dirty="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50000"/>
              </a:lnSpc>
              <a:spcBef>
                <a:spcPts val="600"/>
              </a:spcBef>
              <a:spcAft>
                <a:spcPct val="0"/>
              </a:spcAft>
              <a:buClrTx/>
              <a:buSzTx/>
              <a:buFontTx/>
              <a:buChar char="•"/>
              <a:defRPr/>
            </a:pPr>
            <a:r>
              <a:rPr kumimoji="1" lang="zh-CN" altLang="en-US" sz="2000" b="1" i="0" u="none" strike="noStrike" kern="1200" cap="none" spc="0" normalizeH="0" baseline="0" noProof="0" dirty="0">
                <a:ln>
                  <a:noFill/>
                </a:ln>
                <a:solidFill>
                  <a:schemeClr val="tx1"/>
                </a:solidFill>
                <a:effectLst/>
                <a:uLnTx/>
                <a:uFillTx/>
                <a:latin typeface="+mn-ea"/>
                <a:ea typeface="+mn-ea"/>
                <a:cs typeface="+mn-cs"/>
              </a:rPr>
              <a:t>对编译要求高，最好是编译把相关指令隔开</a:t>
            </a:r>
            <a:endParaRPr kumimoji="1" lang="zh-CN" altLang="en-US" sz="2000" b="1" i="0" u="none" strike="noStrike" kern="1200" cap="none" spc="0" normalizeH="0" baseline="0" noProof="0" dirty="0">
              <a:ln>
                <a:noFill/>
              </a:ln>
              <a:solidFill>
                <a:schemeClr val="tx1"/>
              </a:solidFill>
              <a:effectLst/>
              <a:uLnTx/>
              <a:uFillTx/>
              <a:latin typeface="+mn-ea"/>
              <a:ea typeface="+mn-ea"/>
              <a:cs typeface="+mn-cs"/>
            </a:endParaRPr>
          </a:p>
          <a:p>
            <a:pPr marL="800100" marR="0" lvl="1" indent="-342900" algn="l" defTabSz="914400" rtl="0" eaLnBrk="1" fontAlgn="base" latinLnBrk="0" hangingPunct="1">
              <a:lnSpc>
                <a:spcPct val="150000"/>
              </a:lnSpc>
              <a:spcBef>
                <a:spcPts val="600"/>
              </a:spcBef>
              <a:spcAft>
                <a:spcPct val="0"/>
              </a:spcAft>
              <a:buClrTx/>
              <a:buSzTx/>
              <a:buFontTx/>
              <a:buChar char="•"/>
              <a:defRPr/>
            </a:pPr>
            <a:r>
              <a:rPr kumimoji="1" lang="zh-CN" altLang="en-US" sz="1800" b="1" i="0" u="none" strike="noStrike" kern="1200" cap="none" spc="0" normalizeH="0" baseline="0" noProof="0" dirty="0">
                <a:ln>
                  <a:noFill/>
                </a:ln>
                <a:solidFill>
                  <a:schemeClr val="tx1"/>
                </a:solidFill>
                <a:effectLst/>
                <a:uLnTx/>
                <a:uFillTx/>
                <a:latin typeface="+mn-ea"/>
                <a:ea typeface="+mn-ea"/>
                <a:cs typeface="+mn-cs"/>
              </a:rPr>
              <a:t>有些信息在译码时难以确定，如是否发生例外、访存操作需要多少周期等</a:t>
            </a:r>
            <a:endParaRPr kumimoji="1" lang="en-US" altLang="zh-CN" sz="1800" b="1" i="0" u="none" strike="noStrike" kern="1200" cap="none" spc="0" normalizeH="0" baseline="0" noProof="0" dirty="0">
              <a:ln>
                <a:noFill/>
              </a:ln>
              <a:solidFill>
                <a:schemeClr val="tx1"/>
              </a:solidFill>
              <a:effectLst/>
              <a:uLnTx/>
              <a:uFillTx/>
              <a:latin typeface="+mn-ea"/>
              <a:ea typeface="+mn-ea"/>
              <a:cs typeface="+mn-cs"/>
            </a:endParaRPr>
          </a:p>
        </p:txBody>
      </p:sp>
      <p:sp>
        <p:nvSpPr>
          <p:cNvPr id="23555" name="Text Box 4"/>
          <p:cNvSpPr txBox="1"/>
          <p:nvPr/>
        </p:nvSpPr>
        <p:spPr>
          <a:xfrm>
            <a:off x="4675188" y="4789488"/>
            <a:ext cx="2005012" cy="1198562"/>
          </a:xfrm>
          <a:prstGeom prst="rect">
            <a:avLst/>
          </a:prstGeom>
          <a:noFill/>
          <a:ln w="9525">
            <a:noFill/>
          </a:ln>
        </p:spPr>
        <p:txBody>
          <a:bodyPr wrap="none" anchor="ctr" anchorCtr="0">
            <a:spAutoFit/>
          </a:bodyPr>
          <a:p>
            <a:pPr>
              <a:spcBef>
                <a:spcPct val="50000"/>
              </a:spcBef>
            </a:pPr>
            <a:r>
              <a:rPr lang="en-US" altLang="zh-CN" sz="1800" dirty="0">
                <a:latin typeface="Times New Roman" pitchFamily="18" charset="0"/>
                <a:ea typeface="宋体" panose="02000500000000000000" pitchFamily="2" charset="-122"/>
              </a:rPr>
              <a:t>FDIV.D   </a:t>
            </a:r>
            <a:r>
              <a:rPr lang="en-US" altLang="zh-CN" sz="1800" dirty="0">
                <a:solidFill>
                  <a:srgbClr val="FF0000"/>
                </a:solidFill>
                <a:latin typeface="Times New Roman" pitchFamily="18" charset="0"/>
                <a:ea typeface="宋体" panose="02000500000000000000" pitchFamily="2" charset="-122"/>
              </a:rPr>
              <a:t>f0</a:t>
            </a:r>
            <a:r>
              <a:rPr lang="en-US" altLang="zh-CN" sz="1800" dirty="0">
                <a:latin typeface="Times New Roman" pitchFamily="18" charset="0"/>
                <a:ea typeface="宋体" panose="02000500000000000000" pitchFamily="2" charset="-122"/>
              </a:rPr>
              <a:t>,f2,f4</a:t>
            </a:r>
            <a:endParaRPr lang="en-US" altLang="zh-CN" sz="1800" dirty="0">
              <a:latin typeface="Times New Roman" pitchFamily="18" charset="0"/>
              <a:ea typeface="宋体" panose="02000500000000000000" pitchFamily="2" charset="-122"/>
            </a:endParaRPr>
          </a:p>
          <a:p>
            <a:pPr>
              <a:spcBef>
                <a:spcPct val="50000"/>
              </a:spcBef>
            </a:pPr>
            <a:r>
              <a:rPr lang="en-US" altLang="zh-CN" sz="1800" dirty="0">
                <a:latin typeface="Times New Roman" pitchFamily="18" charset="0"/>
                <a:ea typeface="宋体" panose="02000500000000000000" pitchFamily="2" charset="-122"/>
              </a:rPr>
              <a:t>FADD.D  f10,</a:t>
            </a:r>
            <a:r>
              <a:rPr lang="en-US" altLang="zh-CN" sz="1800" dirty="0">
                <a:solidFill>
                  <a:srgbClr val="FF0000"/>
                </a:solidFill>
                <a:latin typeface="Times New Roman" pitchFamily="18" charset="0"/>
                <a:ea typeface="宋体" panose="02000500000000000000" pitchFamily="2" charset="-122"/>
              </a:rPr>
              <a:t>f0</a:t>
            </a:r>
            <a:r>
              <a:rPr lang="en-US" altLang="zh-CN" sz="1800" dirty="0">
                <a:latin typeface="Times New Roman" pitchFamily="18" charset="0"/>
                <a:ea typeface="宋体" panose="02000500000000000000" pitchFamily="2" charset="-122"/>
              </a:rPr>
              <a:t>,f8</a:t>
            </a:r>
            <a:endParaRPr lang="en-US" altLang="zh-CN" sz="1800" dirty="0">
              <a:latin typeface="Times New Roman" pitchFamily="18" charset="0"/>
              <a:ea typeface="宋体" panose="02000500000000000000" pitchFamily="2" charset="-122"/>
            </a:endParaRPr>
          </a:p>
          <a:p>
            <a:pPr>
              <a:spcBef>
                <a:spcPct val="50000"/>
              </a:spcBef>
            </a:pPr>
            <a:r>
              <a:rPr lang="en-US" altLang="zh-CN" sz="1800" dirty="0">
                <a:solidFill>
                  <a:schemeClr val="accent2"/>
                </a:solidFill>
                <a:latin typeface="Times New Roman" pitchFamily="18" charset="0"/>
                <a:ea typeface="宋体" panose="02000500000000000000" pitchFamily="2" charset="-122"/>
              </a:rPr>
              <a:t>FSUB.D  f12,f8,f14</a:t>
            </a:r>
            <a:endParaRPr lang="en-US" altLang="zh-CN" dirty="0">
              <a:solidFill>
                <a:schemeClr val="accent2"/>
              </a:solidFill>
              <a:latin typeface="Times New Roman" pitchFamily="18" charset="0"/>
              <a:ea typeface="宋体" panose="02000500000000000000" pitchFamily="2" charset="-122"/>
            </a:endParaRPr>
          </a:p>
        </p:txBody>
      </p:sp>
      <p:sp>
        <p:nvSpPr>
          <p:cNvPr id="23556" name="灯片编号占位符 6"/>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buSzTx/>
            </a:pPr>
            <a:fld id="{9A0DB2DC-4C9A-4742-B13C-FB6460FD3503}" type="slidenum">
              <a:rPr lang="en-US" altLang="zh-CN" sz="1400" dirty="0"/>
            </a:fld>
            <a:endParaRPr lang="en-US" altLang="zh-CN"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标题 1"/>
          <p:cNvSpPr>
            <a:spLocks noGrp="1"/>
          </p:cNvSpPr>
          <p:nvPr>
            <p:ph type="title"/>
          </p:nvPr>
        </p:nvSpPr>
        <p:spPr>
          <a:xfrm>
            <a:off x="855663" y="49213"/>
            <a:ext cx="10361612" cy="1143000"/>
          </a:xfrm>
        </p:spPr>
        <p:txBody>
          <a:bodyPr vert="horz" wrap="square" lIns="91440" tIns="45720" rIns="91440" bIns="45720" anchor="ctr" anchorCtr="0"/>
          <a:p>
            <a:r>
              <a:rPr lang="zh-CN" altLang="en-US" dirty="0"/>
              <a:t>动态调度思想</a:t>
            </a:r>
            <a:endParaRPr lang="zh-CN" altLang="en-US" dirty="0"/>
          </a:p>
        </p:txBody>
      </p:sp>
      <p:sp>
        <p:nvSpPr>
          <p:cNvPr id="6" name="内容占位符 1"/>
          <p:cNvSpPr txBox="1"/>
          <p:nvPr/>
        </p:nvSpPr>
        <p:spPr bwMode="auto">
          <a:xfrm>
            <a:off x="365125" y="1146175"/>
            <a:ext cx="11279188" cy="5432425"/>
          </a:xfrm>
          <a:prstGeom prst="rect">
            <a:avLst/>
          </a:prstGeom>
          <a:noFill/>
          <a:ln>
            <a:noFill/>
          </a:ln>
        </p:spPr>
        <p:txBody>
          <a:bodyPr/>
          <a:lstStyle>
            <a:lvl1pPr marL="342900" indent="-342900" algn="l" rtl="0" eaLnBrk="0" fontAlgn="base" hangingPunct="0">
              <a:lnSpc>
                <a:spcPct val="150000"/>
              </a:lnSpc>
              <a:spcBef>
                <a:spcPct val="0"/>
              </a:spcBef>
              <a:spcAft>
                <a:spcPct val="0"/>
              </a:spcAft>
              <a:buChar char="•"/>
              <a:defRPr kumimoji="1" sz="2400" b="1">
                <a:solidFill>
                  <a:schemeClr val="tx1"/>
                </a:solidFill>
                <a:latin typeface="+mn-lt"/>
                <a:ea typeface="+mn-ea"/>
                <a:cs typeface="+mn-cs"/>
              </a:defRPr>
            </a:lvl1pPr>
            <a:lvl2pPr marL="742950" indent="-285750" algn="l" rtl="0" eaLnBrk="0" fontAlgn="base" hangingPunct="0">
              <a:lnSpc>
                <a:spcPct val="150000"/>
              </a:lnSpc>
              <a:spcBef>
                <a:spcPct val="0"/>
              </a:spcBef>
              <a:spcAft>
                <a:spcPct val="0"/>
              </a:spcAft>
              <a:buChar char="•"/>
              <a:defRPr kumimoji="1" sz="2000" b="1">
                <a:solidFill>
                  <a:schemeClr val="tx1"/>
                </a:solidFill>
                <a:latin typeface="+mn-lt"/>
                <a:ea typeface="+mn-ea"/>
              </a:defRPr>
            </a:lvl2pPr>
            <a:lvl3pPr marL="1143000" indent="-228600" algn="l" rtl="0" eaLnBrk="0" fontAlgn="base" hangingPunct="0">
              <a:lnSpc>
                <a:spcPct val="150000"/>
              </a:lnSpc>
              <a:spcBef>
                <a:spcPct val="0"/>
              </a:spcBef>
              <a:spcAft>
                <a:spcPct val="0"/>
              </a:spcAft>
              <a:buChar char="•"/>
              <a:defRPr kumimoji="1" b="1">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marL="342900" marR="0" lvl="0" indent="-342900" algn="l" defTabSz="914400" rtl="0" eaLnBrk="0" fontAlgn="base" latinLnBrk="0" hangingPunct="0">
              <a:lnSpc>
                <a:spcPct val="150000"/>
              </a:lnSpc>
              <a:spcBef>
                <a:spcPts val="600"/>
              </a:spcBef>
              <a:spcAft>
                <a:spcPct val="0"/>
              </a:spcAft>
              <a:buClrTx/>
              <a:buSzTx/>
              <a:buFontTx/>
              <a:buChar char="•"/>
              <a:defRPr/>
            </a:pPr>
            <a:r>
              <a:rPr kumimoji="1" lang="zh-CN" altLang="en-US" sz="2000" b="1" i="0" u="none" strike="noStrike" kern="1200" cap="none" spc="0" normalizeH="0" baseline="0" noProof="0" dirty="0">
                <a:ln>
                  <a:noFill/>
                </a:ln>
                <a:solidFill>
                  <a:schemeClr val="tx1"/>
                </a:solidFill>
                <a:effectLst/>
                <a:uLnTx/>
                <a:uFillTx/>
                <a:latin typeface="+mn-ea"/>
                <a:ea typeface="+mn-ea"/>
                <a:cs typeface="+mn-cs"/>
              </a:rPr>
              <a:t>基本思想</a:t>
            </a:r>
            <a:endParaRPr kumimoji="1" lang="zh-CN" altLang="en-US" sz="20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0" fontAlgn="base" latinLnBrk="0" hangingPunct="0">
              <a:lnSpc>
                <a:spcPct val="150000"/>
              </a:lnSpc>
              <a:spcBef>
                <a:spcPts val="60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把相关的解决尽量往后拖延（</a:t>
            </a:r>
            <a:r>
              <a:rPr kumimoji="1" lang="zh-CN" altLang="en-US" sz="1600" b="1" i="0" u="none" strike="noStrike" kern="1200" cap="none" spc="0" normalizeH="0" baseline="0" noProof="0" dirty="0">
                <a:ln>
                  <a:noFill/>
                </a:ln>
                <a:solidFill>
                  <a:srgbClr val="FF0000"/>
                </a:solidFill>
                <a:effectLst/>
                <a:uLnTx/>
                <a:uFillTx/>
                <a:latin typeface="+mn-ea"/>
                <a:ea typeface="+mn-ea"/>
                <a:cs typeface="+mn-cs"/>
              </a:rPr>
              <a:t>回忆一下前递技术</a:t>
            </a:r>
            <a:r>
              <a:rPr kumimoji="1" lang="zh-CN" altLang="en-US" sz="1600" b="1" i="0" u="none" strike="noStrike" kern="1200" cap="none" spc="0" normalizeH="0" baseline="0" noProof="0" dirty="0">
                <a:ln>
                  <a:noFill/>
                </a:ln>
                <a:solidFill>
                  <a:schemeClr val="tx1"/>
                </a:solidFill>
                <a:effectLst/>
                <a:uLnTx/>
                <a:uFillTx/>
                <a:latin typeface="+mn-ea"/>
                <a:ea typeface="+mn-ea"/>
                <a:cs typeface="+mn-cs"/>
              </a:rPr>
              <a:t>）</a:t>
            </a:r>
            <a:endParaRPr kumimoji="1" lang="zh-CN" altLang="en-US"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0" fontAlgn="base" latinLnBrk="0" hangingPunct="0">
              <a:lnSpc>
                <a:spcPct val="150000"/>
              </a:lnSpc>
              <a:spcBef>
                <a:spcPts val="60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前面指令的等待不影响后面指令继续前进</a:t>
            </a:r>
            <a:endParaRPr kumimoji="1" lang="zh-CN" altLang="en-US" sz="1600" b="1" i="0" u="none" strike="noStrike" kern="1200" cap="none" spc="0" normalizeH="0" baseline="0" noProof="0" dirty="0">
              <a:ln>
                <a:noFill/>
              </a:ln>
              <a:solidFill>
                <a:schemeClr val="tx1"/>
              </a:solidFill>
              <a:effectLst/>
              <a:uLnTx/>
              <a:uFillTx/>
              <a:latin typeface="+mn-ea"/>
              <a:ea typeface="+mn-ea"/>
              <a:cs typeface="+mn-cs"/>
            </a:endParaRPr>
          </a:p>
          <a:p>
            <a:pPr marL="342900" marR="0" lvl="0" indent="-342900" algn="l" defTabSz="914400" rtl="0" eaLnBrk="0" fontAlgn="base" latinLnBrk="0" hangingPunct="0">
              <a:lnSpc>
                <a:spcPct val="150000"/>
              </a:lnSpc>
              <a:spcBef>
                <a:spcPts val="600"/>
              </a:spcBef>
              <a:spcAft>
                <a:spcPct val="0"/>
              </a:spcAft>
              <a:buClrTx/>
              <a:buSzTx/>
              <a:buFontTx/>
              <a:buChar char="•"/>
              <a:defRPr/>
            </a:pPr>
            <a:r>
              <a:rPr kumimoji="1" lang="zh-CN" altLang="en-US" sz="2000" b="1" i="0" u="none" strike="noStrike" kern="1200" cap="none" spc="0" normalizeH="0" baseline="0" noProof="0" dirty="0">
                <a:ln>
                  <a:noFill/>
                </a:ln>
                <a:solidFill>
                  <a:schemeClr val="tx1"/>
                </a:solidFill>
                <a:effectLst/>
                <a:uLnTx/>
                <a:uFillTx/>
                <a:latin typeface="+mn-ea"/>
                <a:ea typeface="+mn-ea"/>
                <a:cs typeface="+mn-cs"/>
              </a:rPr>
              <a:t>把译码分成两个阶段：发射和读操作数</a:t>
            </a:r>
            <a:endParaRPr kumimoji="1" lang="zh-CN" altLang="en-US" sz="20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0" fontAlgn="base" latinLnBrk="0" hangingPunct="0">
              <a:lnSpc>
                <a:spcPct val="150000"/>
              </a:lnSpc>
              <a:spcBef>
                <a:spcPts val="60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发射：指令译码，检查结构相关</a:t>
            </a:r>
            <a:endParaRPr kumimoji="1" lang="zh-CN" altLang="en-US"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0" fontAlgn="base" latinLnBrk="0" hangingPunct="0">
              <a:lnSpc>
                <a:spcPct val="150000"/>
              </a:lnSpc>
              <a:spcBef>
                <a:spcPts val="60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读操作数：如果操作数准备好就读数，否则等待（</a:t>
            </a:r>
            <a:r>
              <a:rPr kumimoji="1" lang="zh-CN" altLang="en-US" sz="1600" b="1" i="0" u="none" strike="noStrike" kern="1200" cap="none" spc="0" normalizeH="0" baseline="0" noProof="0" dirty="0">
                <a:ln>
                  <a:noFill/>
                </a:ln>
                <a:solidFill>
                  <a:srgbClr val="FF0000"/>
                </a:solidFill>
                <a:effectLst/>
                <a:uLnTx/>
                <a:uFillTx/>
                <a:latin typeface="+mn-ea"/>
                <a:ea typeface="+mn-ea"/>
                <a:cs typeface="+mn-cs"/>
              </a:rPr>
              <a:t>在哪儿等？</a:t>
            </a:r>
            <a:r>
              <a:rPr kumimoji="1" lang="zh-CN" altLang="en-US" sz="1600" b="1" i="0" u="none" strike="noStrike" kern="1200" cap="none" spc="0" normalizeH="0" baseline="0" noProof="0" dirty="0">
                <a:ln>
                  <a:noFill/>
                </a:ln>
                <a:solidFill>
                  <a:schemeClr val="tx1"/>
                </a:solidFill>
                <a:effectLst/>
                <a:uLnTx/>
                <a:uFillTx/>
                <a:latin typeface="+mn-ea"/>
                <a:ea typeface="+mn-ea"/>
                <a:cs typeface="+mn-cs"/>
              </a:rPr>
              <a:t>）</a:t>
            </a:r>
            <a:endParaRPr kumimoji="1" lang="zh-CN" altLang="en-US"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0" fontAlgn="base" latinLnBrk="0" hangingPunct="0">
              <a:lnSpc>
                <a:spcPct val="150000"/>
              </a:lnSpc>
              <a:spcBef>
                <a:spcPts val="60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当一条指令在读操作数阶段等待时，后面指令的发射可以继续进行</a:t>
            </a:r>
            <a:endParaRPr kumimoji="1" lang="zh-CN" altLang="en-US" sz="1600" b="1" i="0" u="none" strike="noStrike" kern="1200" cap="none" spc="0" normalizeH="0" baseline="0" noProof="0" dirty="0">
              <a:ln>
                <a:noFill/>
              </a:ln>
              <a:solidFill>
                <a:schemeClr val="tx1"/>
              </a:solidFill>
              <a:effectLst/>
              <a:uLnTx/>
              <a:uFillTx/>
              <a:latin typeface="+mn-ea"/>
              <a:ea typeface="+mn-ea"/>
              <a:cs typeface="+mn-cs"/>
            </a:endParaRPr>
          </a:p>
          <a:p>
            <a:pPr marL="342900" marR="0" lvl="0" indent="-342900" algn="l" defTabSz="914400" rtl="0" eaLnBrk="0" fontAlgn="base" latinLnBrk="0" hangingPunct="0">
              <a:lnSpc>
                <a:spcPct val="150000"/>
              </a:lnSpc>
              <a:spcBef>
                <a:spcPts val="600"/>
              </a:spcBef>
              <a:spcAft>
                <a:spcPct val="0"/>
              </a:spcAft>
              <a:buClrTx/>
              <a:buSzTx/>
              <a:buFontTx/>
              <a:buChar char="•"/>
              <a:defRPr/>
            </a:pPr>
            <a:r>
              <a:rPr kumimoji="1" lang="zh-CN" altLang="en-US" sz="2000" b="1" i="0" u="none" strike="noStrike" kern="1200" cap="none" spc="0" normalizeH="0" baseline="0" noProof="0" dirty="0">
                <a:ln>
                  <a:noFill/>
                </a:ln>
                <a:solidFill>
                  <a:schemeClr val="tx1"/>
                </a:solidFill>
                <a:effectLst/>
                <a:uLnTx/>
                <a:uFillTx/>
                <a:latin typeface="+mn-ea"/>
                <a:ea typeface="+mn-ea"/>
                <a:cs typeface="+mn-cs"/>
              </a:rPr>
              <a:t>乱序执行的基本做法</a:t>
            </a:r>
            <a:endParaRPr kumimoji="1" lang="zh-CN" altLang="en-US" sz="20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0" fontAlgn="base" latinLnBrk="0" hangingPunct="0">
              <a:lnSpc>
                <a:spcPct val="150000"/>
              </a:lnSpc>
              <a:spcBef>
                <a:spcPts val="60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指令进入是有序的（</a:t>
            </a:r>
            <a:r>
              <a:rPr kumimoji="1" lang="zh-CN" altLang="en-US" sz="1600" b="1" i="0" u="none" strike="noStrike" kern="1200" cap="none" spc="0" normalizeH="0" baseline="0" noProof="0" dirty="0">
                <a:ln>
                  <a:noFill/>
                </a:ln>
                <a:solidFill>
                  <a:srgbClr val="FF0000"/>
                </a:solidFill>
                <a:effectLst/>
                <a:uLnTx/>
                <a:uFillTx/>
                <a:latin typeface="+mn-ea"/>
                <a:ea typeface="+mn-ea"/>
                <a:cs typeface="+mn-cs"/>
              </a:rPr>
              <a:t>怎么把有序变成乱序？</a:t>
            </a:r>
            <a:r>
              <a:rPr kumimoji="1" lang="zh-CN" altLang="en-US" sz="1600" b="1" i="0" u="none" strike="noStrike" kern="1200" cap="none" spc="0" normalizeH="0" baseline="0" noProof="0" dirty="0">
                <a:ln>
                  <a:noFill/>
                </a:ln>
                <a:solidFill>
                  <a:schemeClr val="tx1"/>
                </a:solidFill>
                <a:effectLst/>
                <a:uLnTx/>
                <a:uFillTx/>
                <a:latin typeface="+mn-ea"/>
                <a:ea typeface="+mn-ea"/>
                <a:cs typeface="+mn-cs"/>
              </a:rPr>
              <a:t>）</a:t>
            </a:r>
            <a:endParaRPr kumimoji="1" lang="zh-CN" altLang="en-US"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0" fontAlgn="base" latinLnBrk="0" hangingPunct="0">
              <a:lnSpc>
                <a:spcPct val="150000"/>
              </a:lnSpc>
              <a:spcBef>
                <a:spcPts val="60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执行可以乱序，只要没有相关就可执行，多条指令同时执行</a:t>
            </a:r>
            <a:endParaRPr kumimoji="1" lang="zh-CN" altLang="en-US"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0" fontAlgn="base" latinLnBrk="0" hangingPunct="0">
              <a:lnSpc>
                <a:spcPct val="150000"/>
              </a:lnSpc>
              <a:spcBef>
                <a:spcPts val="60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结束也是有序的（</a:t>
            </a:r>
            <a:r>
              <a:rPr kumimoji="1" lang="zh-CN" altLang="en-US" sz="1600" b="1" i="0" u="none" strike="noStrike" kern="1200" cap="none" spc="0" normalizeH="0" baseline="0" noProof="0" dirty="0">
                <a:ln>
                  <a:noFill/>
                </a:ln>
                <a:solidFill>
                  <a:srgbClr val="FF0000"/>
                </a:solidFill>
                <a:effectLst/>
                <a:uLnTx/>
                <a:uFillTx/>
                <a:latin typeface="+mn-ea"/>
                <a:ea typeface="+mn-ea"/>
                <a:cs typeface="+mn-cs"/>
              </a:rPr>
              <a:t>怎么把乱序变成有序？</a:t>
            </a:r>
            <a:r>
              <a:rPr kumimoji="1" lang="zh-CN" altLang="en-US" sz="1600" b="1" i="0" u="none" strike="noStrike" kern="1200" cap="none" spc="0" normalizeH="0" baseline="0" noProof="0" dirty="0">
                <a:ln>
                  <a:noFill/>
                </a:ln>
                <a:solidFill>
                  <a:schemeClr val="tx1"/>
                </a:solidFill>
                <a:effectLst/>
                <a:uLnTx/>
                <a:uFillTx/>
                <a:latin typeface="+mn-ea"/>
                <a:ea typeface="+mn-ea"/>
                <a:cs typeface="+mn-cs"/>
              </a:rPr>
              <a:t>）</a:t>
            </a:r>
            <a:endParaRPr kumimoji="1" lang="zh-CN" altLang="en-US"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0" fontAlgn="base" latinLnBrk="0" hangingPunct="0">
              <a:lnSpc>
                <a:spcPct val="150000"/>
              </a:lnSpc>
              <a:spcBef>
                <a:spcPts val="600"/>
              </a:spcBef>
              <a:spcAft>
                <a:spcPct val="0"/>
              </a:spcAft>
              <a:buClrTx/>
              <a:buSzTx/>
              <a:buFontTx/>
              <a:buChar char="•"/>
              <a:defRPr/>
            </a:pPr>
            <a:endParaRPr kumimoji="1" lang="en-US" altLang="zh-CN" sz="2000" b="1" i="0" u="none" strike="noStrike" kern="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0" fontAlgn="base" latinLnBrk="0" hangingPunct="0">
              <a:lnSpc>
                <a:spcPct val="150000"/>
              </a:lnSpc>
              <a:spcBef>
                <a:spcPts val="600"/>
              </a:spcBef>
              <a:spcAft>
                <a:spcPct val="0"/>
              </a:spcAft>
              <a:buClrTx/>
              <a:buSzTx/>
              <a:buFontTx/>
              <a:buChar char="•"/>
              <a:defRPr/>
            </a:pPr>
            <a:endParaRPr kumimoji="1" lang="zh-CN" altLang="en-US" sz="2000" b="1" i="0" u="none" strike="noStrike" kern="0" cap="none" spc="0" normalizeH="0" baseline="0" noProof="0" dirty="0">
              <a:ln>
                <a:noFill/>
              </a:ln>
              <a:solidFill>
                <a:schemeClr val="tx1"/>
              </a:solidFill>
              <a:effectLst/>
              <a:uLnTx/>
              <a:uFillTx/>
              <a:latin typeface="+mn-ea"/>
              <a:ea typeface="+mn-ea"/>
              <a:cs typeface="+mn-cs"/>
            </a:endParaRPr>
          </a:p>
        </p:txBody>
      </p:sp>
      <p:sp>
        <p:nvSpPr>
          <p:cNvPr id="24579" name="Text Box 4"/>
          <p:cNvSpPr txBox="1"/>
          <p:nvPr/>
        </p:nvSpPr>
        <p:spPr>
          <a:xfrm>
            <a:off x="8615363" y="1665288"/>
            <a:ext cx="2005012" cy="1198562"/>
          </a:xfrm>
          <a:prstGeom prst="rect">
            <a:avLst/>
          </a:prstGeom>
          <a:noFill/>
          <a:ln w="9525">
            <a:noFill/>
          </a:ln>
        </p:spPr>
        <p:txBody>
          <a:bodyPr wrap="none" anchor="ctr" anchorCtr="0">
            <a:spAutoFit/>
          </a:bodyPr>
          <a:p>
            <a:pPr>
              <a:spcBef>
                <a:spcPct val="50000"/>
              </a:spcBef>
            </a:pPr>
            <a:r>
              <a:rPr lang="en-US" altLang="zh-CN" sz="1800" dirty="0">
                <a:latin typeface="Times New Roman" pitchFamily="18" charset="0"/>
                <a:ea typeface="宋体" panose="02000500000000000000" pitchFamily="2" charset="-122"/>
              </a:rPr>
              <a:t>FDIV.D   </a:t>
            </a:r>
            <a:r>
              <a:rPr lang="en-US" altLang="zh-CN" sz="1800" dirty="0">
                <a:solidFill>
                  <a:srgbClr val="FF0000"/>
                </a:solidFill>
                <a:latin typeface="Times New Roman" pitchFamily="18" charset="0"/>
                <a:ea typeface="宋体" panose="02000500000000000000" pitchFamily="2" charset="-122"/>
              </a:rPr>
              <a:t>f0</a:t>
            </a:r>
            <a:r>
              <a:rPr lang="en-US" altLang="zh-CN" sz="1800" dirty="0">
                <a:latin typeface="Times New Roman" pitchFamily="18" charset="0"/>
                <a:ea typeface="宋体" panose="02000500000000000000" pitchFamily="2" charset="-122"/>
              </a:rPr>
              <a:t>,f2,f4</a:t>
            </a:r>
            <a:endParaRPr lang="en-US" altLang="zh-CN" sz="1800" dirty="0">
              <a:latin typeface="Times New Roman" pitchFamily="18" charset="0"/>
              <a:ea typeface="宋体" panose="02000500000000000000" pitchFamily="2" charset="-122"/>
            </a:endParaRPr>
          </a:p>
          <a:p>
            <a:pPr>
              <a:spcBef>
                <a:spcPct val="50000"/>
              </a:spcBef>
            </a:pPr>
            <a:r>
              <a:rPr lang="en-US" altLang="zh-CN" sz="1800" dirty="0">
                <a:latin typeface="Times New Roman" pitchFamily="18" charset="0"/>
                <a:ea typeface="宋体" panose="02000500000000000000" pitchFamily="2" charset="-122"/>
              </a:rPr>
              <a:t>FADD.D  f10,</a:t>
            </a:r>
            <a:r>
              <a:rPr lang="en-US" altLang="zh-CN" sz="1800" dirty="0">
                <a:solidFill>
                  <a:srgbClr val="FF0000"/>
                </a:solidFill>
                <a:latin typeface="Times New Roman" pitchFamily="18" charset="0"/>
                <a:ea typeface="宋体" panose="02000500000000000000" pitchFamily="2" charset="-122"/>
              </a:rPr>
              <a:t>f0</a:t>
            </a:r>
            <a:r>
              <a:rPr lang="en-US" altLang="zh-CN" sz="1800" dirty="0">
                <a:latin typeface="Times New Roman" pitchFamily="18" charset="0"/>
                <a:ea typeface="宋体" panose="02000500000000000000" pitchFamily="2" charset="-122"/>
              </a:rPr>
              <a:t>,f8</a:t>
            </a:r>
            <a:endParaRPr lang="en-US" altLang="zh-CN" sz="1800" dirty="0">
              <a:latin typeface="Times New Roman" pitchFamily="18" charset="0"/>
              <a:ea typeface="宋体" panose="02000500000000000000" pitchFamily="2" charset="-122"/>
            </a:endParaRPr>
          </a:p>
          <a:p>
            <a:pPr>
              <a:spcBef>
                <a:spcPct val="50000"/>
              </a:spcBef>
            </a:pPr>
            <a:r>
              <a:rPr lang="en-US" altLang="zh-CN" sz="1800" dirty="0">
                <a:solidFill>
                  <a:schemeClr val="accent2"/>
                </a:solidFill>
                <a:latin typeface="Times New Roman" pitchFamily="18" charset="0"/>
                <a:ea typeface="宋体" panose="02000500000000000000" pitchFamily="2" charset="-122"/>
              </a:rPr>
              <a:t>FSUB.D  f12,f8,f14</a:t>
            </a:r>
            <a:endParaRPr lang="en-US" altLang="zh-CN" dirty="0">
              <a:solidFill>
                <a:schemeClr val="accent2"/>
              </a:solidFill>
              <a:latin typeface="Times New Roman" pitchFamily="18" charset="0"/>
              <a:ea typeface="宋体" panose="02000500000000000000" pitchFamily="2"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Rectangle 2"/>
          <p:cNvSpPr>
            <a:spLocks noGrp="1"/>
          </p:cNvSpPr>
          <p:nvPr>
            <p:ph idx="1"/>
          </p:nvPr>
        </p:nvSpPr>
        <p:spPr>
          <a:xfrm>
            <a:off x="768350" y="981075"/>
            <a:ext cx="10798175" cy="3419475"/>
          </a:xfrm>
        </p:spPr>
        <p:txBody>
          <a:bodyPr vert="horz" wrap="square" lIns="91440" tIns="45720" rIns="91440" bIns="45720" anchor="t" anchorCtr="0"/>
          <a:p>
            <a:pPr eaLnBrk="1" hangingPunct="1"/>
            <a:r>
              <a:rPr lang="zh-CN" altLang="en-US" dirty="0"/>
              <a:t>假设只考虑</a:t>
            </a:r>
            <a:r>
              <a:rPr lang="en-US" altLang="zh-CN" dirty="0"/>
              <a:t>RAW</a:t>
            </a:r>
            <a:r>
              <a:rPr lang="zh-CN" altLang="en-US" dirty="0"/>
              <a:t>相关，可能发生如下执行次序</a:t>
            </a:r>
            <a:endParaRPr lang="zh-CN" altLang="en-US" dirty="0"/>
          </a:p>
          <a:p>
            <a:pPr lvl="1" eaLnBrk="1" hangingPunct="1"/>
            <a:r>
              <a:rPr lang="zh-CN" altLang="zh-CN" dirty="0"/>
              <a:t>fdiv.d发射，</a:t>
            </a:r>
            <a:r>
              <a:rPr lang="zh-CN" altLang="en-US" dirty="0"/>
              <a:t>$f</a:t>
            </a:r>
            <a:r>
              <a:rPr lang="en-US" altLang="zh-CN" dirty="0"/>
              <a:t>1, </a:t>
            </a:r>
            <a:r>
              <a:rPr lang="zh-CN" altLang="en-US" dirty="0"/>
              <a:t>$f</a:t>
            </a:r>
            <a:r>
              <a:rPr lang="en-US" altLang="zh-CN" dirty="0"/>
              <a:t>2</a:t>
            </a:r>
            <a:r>
              <a:rPr lang="zh-CN" altLang="zh-CN" dirty="0"/>
              <a:t>都准备好</a:t>
            </a:r>
            <a:endParaRPr lang="zh-CN" altLang="zh-CN" dirty="0"/>
          </a:p>
          <a:p>
            <a:pPr lvl="1" eaLnBrk="1" hangingPunct="1"/>
            <a:r>
              <a:rPr lang="zh-CN" altLang="en-US" dirty="0"/>
              <a:t>fmul.d/</a:t>
            </a:r>
            <a:r>
              <a:rPr lang="en-US" altLang="zh-CN" dirty="0"/>
              <a:t>1</a:t>
            </a:r>
            <a:r>
              <a:rPr lang="zh-CN" altLang="zh-CN" dirty="0"/>
              <a:t>发射，</a:t>
            </a:r>
            <a:r>
              <a:rPr lang="zh-CN" altLang="en-US" dirty="0"/>
              <a:t>$f</a:t>
            </a:r>
            <a:r>
              <a:rPr lang="en-US" altLang="zh-CN" dirty="0"/>
              <a:t>6</a:t>
            </a:r>
            <a:r>
              <a:rPr lang="zh-CN" altLang="zh-CN" dirty="0"/>
              <a:t>没准备好，所以没有读数据</a:t>
            </a:r>
            <a:endParaRPr lang="zh-CN" altLang="zh-CN" dirty="0"/>
          </a:p>
          <a:p>
            <a:pPr lvl="1" eaLnBrk="1" hangingPunct="1"/>
            <a:r>
              <a:rPr lang="zh-CN" altLang="zh-CN" dirty="0"/>
              <a:t>fadd.d发射， $f</a:t>
            </a:r>
            <a:r>
              <a:rPr lang="en-US" altLang="zh-CN" dirty="0"/>
              <a:t>3, </a:t>
            </a:r>
            <a:r>
              <a:rPr lang="zh-CN" altLang="en-US" dirty="0"/>
              <a:t>$f</a:t>
            </a:r>
            <a:r>
              <a:rPr lang="en-US" altLang="zh-CN" dirty="0"/>
              <a:t>4</a:t>
            </a:r>
            <a:r>
              <a:rPr lang="zh-CN" altLang="zh-CN" dirty="0"/>
              <a:t>都准备好</a:t>
            </a:r>
            <a:endParaRPr lang="zh-CN" altLang="zh-CN" dirty="0"/>
          </a:p>
          <a:p>
            <a:pPr lvl="1" eaLnBrk="1" hangingPunct="1"/>
            <a:r>
              <a:rPr lang="zh-CN" altLang="en-US" dirty="0"/>
              <a:t>fmul.d/</a:t>
            </a:r>
            <a:r>
              <a:rPr lang="en-US" altLang="zh-CN" dirty="0"/>
              <a:t>2</a:t>
            </a:r>
            <a:r>
              <a:rPr lang="zh-CN" altLang="zh-CN" dirty="0"/>
              <a:t>发射，</a:t>
            </a:r>
            <a:r>
              <a:rPr lang="zh-CN" altLang="en-US" dirty="0"/>
              <a:t>$f</a:t>
            </a:r>
            <a:r>
              <a:rPr lang="en-US" altLang="zh-CN" dirty="0"/>
              <a:t>8</a:t>
            </a:r>
            <a:r>
              <a:rPr lang="zh-CN" altLang="zh-CN" dirty="0"/>
              <a:t>没有准备好，所以没有读数据</a:t>
            </a:r>
            <a:endParaRPr lang="zh-CN" altLang="zh-CN" dirty="0"/>
          </a:p>
          <a:p>
            <a:pPr lvl="1" eaLnBrk="1" hangingPunct="1"/>
            <a:r>
              <a:rPr lang="zh-CN" altLang="en-US" dirty="0"/>
              <a:t>fadd.d</a:t>
            </a:r>
            <a:r>
              <a:rPr lang="zh-CN" altLang="zh-CN" dirty="0"/>
              <a:t>完成，</a:t>
            </a:r>
            <a:r>
              <a:rPr lang="zh-CN" altLang="en-US" dirty="0"/>
              <a:t>$f</a:t>
            </a:r>
            <a:r>
              <a:rPr lang="en-US" altLang="zh-CN" dirty="0"/>
              <a:t>0</a:t>
            </a:r>
            <a:r>
              <a:rPr lang="zh-CN" altLang="zh-CN" dirty="0"/>
              <a:t>写回</a:t>
            </a:r>
            <a:endParaRPr lang="zh-CN" altLang="zh-CN" dirty="0"/>
          </a:p>
          <a:p>
            <a:pPr lvl="1" eaLnBrk="1" hangingPunct="1"/>
            <a:r>
              <a:rPr lang="zh-CN" altLang="en-US" dirty="0"/>
              <a:t>$f6</a:t>
            </a:r>
            <a:r>
              <a:rPr lang="zh-CN" altLang="zh-CN" dirty="0"/>
              <a:t>准备好，</a:t>
            </a:r>
            <a:r>
              <a:rPr lang="zh-CN" altLang="en-US" dirty="0"/>
              <a:t>fmul.d/</a:t>
            </a:r>
            <a:r>
              <a:rPr lang="en-US" altLang="zh-CN" dirty="0"/>
              <a:t>1</a:t>
            </a:r>
            <a:r>
              <a:rPr lang="zh-CN" altLang="zh-CN" dirty="0"/>
              <a:t>读数据</a:t>
            </a:r>
            <a:endParaRPr lang="zh-CN" altLang="zh-CN" dirty="0"/>
          </a:p>
          <a:p>
            <a:pPr lvl="1" eaLnBrk="1" hangingPunct="1"/>
            <a:r>
              <a:rPr lang="zh-CN" altLang="en-US" dirty="0"/>
              <a:t>fdiv.d</a:t>
            </a:r>
            <a:r>
              <a:rPr lang="zh-CN" altLang="zh-CN" dirty="0"/>
              <a:t>完成，</a:t>
            </a:r>
            <a:r>
              <a:rPr lang="zh-CN" altLang="en-US" dirty="0"/>
              <a:t>$f</a:t>
            </a:r>
            <a:r>
              <a:rPr lang="en-US" altLang="zh-CN" dirty="0"/>
              <a:t>0</a:t>
            </a:r>
            <a:r>
              <a:rPr lang="zh-CN" altLang="zh-CN" dirty="0"/>
              <a:t>写回</a:t>
            </a:r>
            <a:endParaRPr lang="zh-CN" altLang="zh-CN" dirty="0"/>
          </a:p>
          <a:p>
            <a:pPr lvl="1" eaLnBrk="1" hangingPunct="1"/>
            <a:r>
              <a:rPr lang="zh-CN" altLang="en-US" dirty="0"/>
              <a:t>$f</a:t>
            </a:r>
            <a:r>
              <a:rPr lang="en-US" altLang="zh-CN" dirty="0"/>
              <a:t>8</a:t>
            </a:r>
            <a:r>
              <a:rPr lang="zh-CN" altLang="zh-CN" dirty="0"/>
              <a:t>准备好，</a:t>
            </a:r>
            <a:r>
              <a:rPr lang="zh-CN" altLang="en-US" dirty="0"/>
              <a:t>fmul.d/</a:t>
            </a:r>
            <a:r>
              <a:rPr lang="en-US" altLang="zh-CN" dirty="0"/>
              <a:t>2</a:t>
            </a:r>
            <a:r>
              <a:rPr lang="zh-CN" altLang="zh-CN" dirty="0"/>
              <a:t>读数据</a:t>
            </a:r>
            <a:endParaRPr lang="zh-CN" altLang="en-US" dirty="0"/>
          </a:p>
        </p:txBody>
      </p:sp>
      <p:sp>
        <p:nvSpPr>
          <p:cNvPr id="25602" name="Text Box 3"/>
          <p:cNvSpPr txBox="1"/>
          <p:nvPr/>
        </p:nvSpPr>
        <p:spPr>
          <a:xfrm>
            <a:off x="7423150" y="4037013"/>
            <a:ext cx="4410075" cy="1784350"/>
          </a:xfrm>
          <a:prstGeom prst="rect">
            <a:avLst/>
          </a:prstGeom>
          <a:noFill/>
          <a:ln w="9525">
            <a:noFill/>
          </a:ln>
        </p:spPr>
        <p:txBody>
          <a:bodyPr anchor="t" anchorCtr="0">
            <a:spAutoFit/>
          </a:bodyPr>
          <a:p>
            <a:pPr defTabSz="914400">
              <a:spcBef>
                <a:spcPct val="50000"/>
              </a:spcBef>
              <a:tabLst>
                <a:tab pos="895350" algn="l"/>
              </a:tabLst>
            </a:pPr>
            <a:r>
              <a:rPr lang="zh-CN" altLang="en-US" sz="2000" dirty="0">
                <a:latin typeface="宋体" panose="02000500000000000000" pitchFamily="2" charset="-122"/>
                <a:ea typeface="宋体" panose="02000500000000000000" pitchFamily="2" charset="-122"/>
              </a:rPr>
              <a:t>fdiv.d</a:t>
            </a:r>
            <a:r>
              <a:rPr lang="en-US" altLang="zh-CN" sz="2000" dirty="0">
                <a:latin typeface="宋体" panose="02000500000000000000" pitchFamily="2" charset="-122"/>
                <a:ea typeface="宋体" panose="02000500000000000000" pitchFamily="2" charset="-122"/>
              </a:rPr>
              <a:t> </a:t>
            </a:r>
            <a:r>
              <a:rPr lang="zh-CN" altLang="en-US" sz="2000" dirty="0">
                <a:latin typeface="宋体" panose="02000500000000000000" pitchFamily="2" charset="-122"/>
                <a:ea typeface="宋体" panose="02000500000000000000" pitchFamily="2" charset="-122"/>
              </a:rPr>
              <a:t>	</a:t>
            </a:r>
            <a:r>
              <a:rPr lang="zh-CN" altLang="en-US" sz="2000" dirty="0">
                <a:solidFill>
                  <a:srgbClr val="FF0000"/>
                </a:solidFill>
                <a:latin typeface="宋体" panose="02000500000000000000" pitchFamily="2" charset="-122"/>
                <a:ea typeface="宋体" panose="02000500000000000000" pitchFamily="2" charset="-122"/>
              </a:rPr>
              <a:t>$f</a:t>
            </a:r>
            <a:r>
              <a:rPr lang="en-US" altLang="zh-CN" sz="2000" dirty="0">
                <a:solidFill>
                  <a:srgbClr val="FF0000"/>
                </a:solidFill>
                <a:latin typeface="宋体" panose="02000500000000000000" pitchFamily="2" charset="-122"/>
                <a:ea typeface="宋体" panose="02000500000000000000" pitchFamily="2" charset="-122"/>
              </a:rPr>
              <a:t>0</a:t>
            </a:r>
            <a:r>
              <a:rPr lang="en-US" altLang="zh-CN" sz="2000" dirty="0">
                <a:latin typeface="宋体" panose="02000500000000000000" pitchFamily="2" charset="-122"/>
                <a:ea typeface="宋体" panose="02000500000000000000" pitchFamily="2" charset="-122"/>
              </a:rPr>
              <a:t>, </a:t>
            </a:r>
            <a:r>
              <a:rPr lang="zh-CN" altLang="en-US" sz="2000" dirty="0">
                <a:latin typeface="宋体" panose="02000500000000000000" pitchFamily="2" charset="-122"/>
                <a:ea typeface="宋体" panose="02000500000000000000" pitchFamily="2" charset="-122"/>
              </a:rPr>
              <a:t>$f</a:t>
            </a:r>
            <a:r>
              <a:rPr lang="en-US" altLang="zh-CN" sz="2000" dirty="0">
                <a:latin typeface="宋体" panose="02000500000000000000" pitchFamily="2" charset="-122"/>
                <a:ea typeface="宋体" panose="02000500000000000000" pitchFamily="2" charset="-122"/>
              </a:rPr>
              <a:t>1, </a:t>
            </a:r>
            <a:r>
              <a:rPr lang="zh-CN" altLang="en-US" sz="2000" dirty="0">
                <a:latin typeface="宋体" panose="02000500000000000000" pitchFamily="2" charset="-122"/>
                <a:ea typeface="宋体" panose="02000500000000000000" pitchFamily="2" charset="-122"/>
              </a:rPr>
              <a:t>$f</a:t>
            </a:r>
            <a:r>
              <a:rPr lang="en-US" altLang="zh-CN" sz="2000" dirty="0">
                <a:latin typeface="宋体" panose="02000500000000000000" pitchFamily="2" charset="-122"/>
                <a:ea typeface="宋体" panose="02000500000000000000" pitchFamily="2" charset="-122"/>
              </a:rPr>
              <a:t>2</a:t>
            </a:r>
            <a:endParaRPr lang="en-US" altLang="zh-CN" sz="2000" dirty="0">
              <a:latin typeface="宋体" panose="02000500000000000000" pitchFamily="2" charset="-122"/>
              <a:ea typeface="宋体" panose="02000500000000000000" pitchFamily="2" charset="-122"/>
            </a:endParaRPr>
          </a:p>
          <a:p>
            <a:pPr defTabSz="914400">
              <a:spcBef>
                <a:spcPct val="50000"/>
              </a:spcBef>
              <a:tabLst>
                <a:tab pos="895350" algn="l"/>
              </a:tabLst>
            </a:pPr>
            <a:r>
              <a:rPr lang="zh-CN" altLang="en-US" sz="2000" dirty="0">
                <a:latin typeface="宋体" panose="02000500000000000000" pitchFamily="2" charset="-122"/>
                <a:ea typeface="宋体" panose="02000500000000000000" pitchFamily="2" charset="-122"/>
              </a:rPr>
              <a:t>fmul.d</a:t>
            </a:r>
            <a:r>
              <a:rPr lang="en-US" altLang="zh-CN" sz="2000" dirty="0">
                <a:latin typeface="宋体" panose="02000500000000000000" pitchFamily="2" charset="-122"/>
                <a:ea typeface="宋体" panose="02000500000000000000" pitchFamily="2" charset="-122"/>
              </a:rPr>
              <a:t> </a:t>
            </a:r>
            <a:r>
              <a:rPr lang="zh-CN" altLang="en-US" sz="2000" dirty="0">
                <a:latin typeface="宋体" panose="02000500000000000000" pitchFamily="2" charset="-122"/>
                <a:ea typeface="宋体" panose="02000500000000000000" pitchFamily="2" charset="-122"/>
              </a:rPr>
              <a:t>	$f</a:t>
            </a:r>
            <a:r>
              <a:rPr lang="en-US" altLang="zh-CN" sz="2000" dirty="0">
                <a:latin typeface="宋体" panose="02000500000000000000" pitchFamily="2" charset="-122"/>
                <a:ea typeface="宋体" panose="02000500000000000000" pitchFamily="2" charset="-122"/>
              </a:rPr>
              <a:t>5, </a:t>
            </a:r>
            <a:r>
              <a:rPr lang="zh-CN" altLang="en-US" sz="2000" dirty="0">
                <a:solidFill>
                  <a:srgbClr val="FF0000"/>
                </a:solidFill>
                <a:latin typeface="宋体" panose="02000500000000000000" pitchFamily="2" charset="-122"/>
                <a:ea typeface="宋体" panose="02000500000000000000" pitchFamily="2" charset="-122"/>
              </a:rPr>
              <a:t>$f</a:t>
            </a:r>
            <a:r>
              <a:rPr lang="en-US" altLang="zh-CN" sz="2000" dirty="0">
                <a:solidFill>
                  <a:srgbClr val="FF0000"/>
                </a:solidFill>
                <a:latin typeface="宋体" panose="02000500000000000000" pitchFamily="2" charset="-122"/>
                <a:ea typeface="宋体" panose="02000500000000000000" pitchFamily="2" charset="-122"/>
              </a:rPr>
              <a:t>0</a:t>
            </a:r>
            <a:r>
              <a:rPr lang="en-US" altLang="zh-CN" sz="2000" dirty="0">
                <a:latin typeface="宋体" panose="02000500000000000000" pitchFamily="2" charset="-122"/>
                <a:ea typeface="宋体" panose="02000500000000000000" pitchFamily="2" charset="-122"/>
              </a:rPr>
              <a:t>, </a:t>
            </a:r>
            <a:r>
              <a:rPr lang="zh-CN" altLang="en-US" sz="2000" dirty="0">
                <a:latin typeface="宋体" panose="02000500000000000000" pitchFamily="2" charset="-122"/>
                <a:ea typeface="宋体" panose="02000500000000000000" pitchFamily="2" charset="-122"/>
              </a:rPr>
              <a:t>$f</a:t>
            </a:r>
            <a:r>
              <a:rPr lang="en-US" altLang="zh-CN" sz="2000" dirty="0">
                <a:latin typeface="宋体" panose="02000500000000000000" pitchFamily="2" charset="-122"/>
                <a:ea typeface="宋体" panose="02000500000000000000" pitchFamily="2" charset="-122"/>
              </a:rPr>
              <a:t>6</a:t>
            </a:r>
            <a:endParaRPr lang="en-US" altLang="zh-CN" sz="2000" dirty="0">
              <a:latin typeface="宋体" panose="02000500000000000000" pitchFamily="2" charset="-122"/>
              <a:ea typeface="宋体" panose="02000500000000000000" pitchFamily="2" charset="-122"/>
            </a:endParaRPr>
          </a:p>
          <a:p>
            <a:pPr defTabSz="914400">
              <a:spcBef>
                <a:spcPct val="50000"/>
              </a:spcBef>
              <a:tabLst>
                <a:tab pos="895350" algn="l"/>
              </a:tabLst>
            </a:pPr>
            <a:r>
              <a:rPr lang="zh-CN" altLang="en-US" sz="2000" dirty="0">
                <a:latin typeface="宋体" panose="02000500000000000000" pitchFamily="2" charset="-122"/>
                <a:ea typeface="宋体" panose="02000500000000000000" pitchFamily="2" charset="-122"/>
              </a:rPr>
              <a:t>fadd.d</a:t>
            </a:r>
            <a:r>
              <a:rPr lang="en-US" altLang="zh-CN" sz="2000" dirty="0">
                <a:latin typeface="宋体" panose="02000500000000000000" pitchFamily="2" charset="-122"/>
                <a:ea typeface="宋体" panose="02000500000000000000" pitchFamily="2" charset="-122"/>
              </a:rPr>
              <a:t> </a:t>
            </a:r>
            <a:r>
              <a:rPr lang="zh-CN" altLang="en-US" sz="2000" dirty="0">
                <a:latin typeface="宋体" panose="02000500000000000000" pitchFamily="2" charset="-122"/>
                <a:ea typeface="宋体" panose="02000500000000000000" pitchFamily="2" charset="-122"/>
              </a:rPr>
              <a:t>	</a:t>
            </a:r>
            <a:r>
              <a:rPr lang="zh-CN" altLang="en-US" sz="2000" dirty="0">
                <a:solidFill>
                  <a:srgbClr val="FF0000"/>
                </a:solidFill>
                <a:latin typeface="宋体" panose="02000500000000000000" pitchFamily="2" charset="-122"/>
                <a:ea typeface="宋体" panose="02000500000000000000" pitchFamily="2" charset="-122"/>
              </a:rPr>
              <a:t>$f</a:t>
            </a:r>
            <a:r>
              <a:rPr lang="en-US" altLang="zh-CN" sz="2000" dirty="0">
                <a:solidFill>
                  <a:srgbClr val="FF0000"/>
                </a:solidFill>
                <a:latin typeface="宋体" panose="02000500000000000000" pitchFamily="2" charset="-122"/>
                <a:ea typeface="宋体" panose="02000500000000000000" pitchFamily="2" charset="-122"/>
              </a:rPr>
              <a:t>0</a:t>
            </a:r>
            <a:r>
              <a:rPr lang="en-US" altLang="zh-CN" sz="2000" dirty="0">
                <a:latin typeface="宋体" panose="02000500000000000000" pitchFamily="2" charset="-122"/>
                <a:ea typeface="宋体" panose="02000500000000000000" pitchFamily="2" charset="-122"/>
              </a:rPr>
              <a:t>, </a:t>
            </a:r>
            <a:r>
              <a:rPr lang="zh-CN" altLang="en-US" sz="2000" dirty="0">
                <a:latin typeface="宋体" panose="02000500000000000000" pitchFamily="2" charset="-122"/>
                <a:ea typeface="宋体" panose="02000500000000000000" pitchFamily="2" charset="-122"/>
              </a:rPr>
              <a:t>$f</a:t>
            </a:r>
            <a:r>
              <a:rPr lang="en-US" altLang="zh-CN" sz="2000" dirty="0">
                <a:latin typeface="宋体" panose="02000500000000000000" pitchFamily="2" charset="-122"/>
                <a:ea typeface="宋体" panose="02000500000000000000" pitchFamily="2" charset="-122"/>
              </a:rPr>
              <a:t>3, </a:t>
            </a:r>
            <a:r>
              <a:rPr lang="zh-CN" altLang="en-US" sz="2000" dirty="0">
                <a:latin typeface="宋体" panose="02000500000000000000" pitchFamily="2" charset="-122"/>
                <a:ea typeface="宋体" panose="02000500000000000000" pitchFamily="2" charset="-122"/>
              </a:rPr>
              <a:t>$f</a:t>
            </a:r>
            <a:r>
              <a:rPr lang="en-US" altLang="zh-CN" sz="2000" dirty="0">
                <a:latin typeface="宋体" panose="02000500000000000000" pitchFamily="2" charset="-122"/>
                <a:ea typeface="宋体" panose="02000500000000000000" pitchFamily="2" charset="-122"/>
              </a:rPr>
              <a:t>4</a:t>
            </a:r>
            <a:endParaRPr lang="en-US" altLang="zh-CN" sz="2000" dirty="0">
              <a:latin typeface="宋体" panose="02000500000000000000" pitchFamily="2" charset="-122"/>
              <a:ea typeface="宋体" panose="02000500000000000000" pitchFamily="2" charset="-122"/>
            </a:endParaRPr>
          </a:p>
          <a:p>
            <a:pPr defTabSz="914400">
              <a:spcBef>
                <a:spcPct val="50000"/>
              </a:spcBef>
              <a:tabLst>
                <a:tab pos="895350" algn="l"/>
              </a:tabLst>
            </a:pPr>
            <a:r>
              <a:rPr lang="zh-CN" altLang="en-US" sz="2000" dirty="0">
                <a:latin typeface="宋体" panose="02000500000000000000" pitchFamily="2" charset="-122"/>
                <a:ea typeface="宋体" panose="02000500000000000000" pitchFamily="2" charset="-122"/>
              </a:rPr>
              <a:t>fmul.d</a:t>
            </a:r>
            <a:r>
              <a:rPr lang="en-US" altLang="zh-CN" sz="2000" dirty="0">
                <a:latin typeface="宋体" panose="02000500000000000000" pitchFamily="2" charset="-122"/>
                <a:ea typeface="宋体" panose="02000500000000000000" pitchFamily="2" charset="-122"/>
              </a:rPr>
              <a:t> </a:t>
            </a:r>
            <a:r>
              <a:rPr lang="zh-CN" altLang="en-US" sz="2000" dirty="0">
                <a:latin typeface="宋体" panose="02000500000000000000" pitchFamily="2" charset="-122"/>
                <a:ea typeface="宋体" panose="02000500000000000000" pitchFamily="2" charset="-122"/>
              </a:rPr>
              <a:t>	$f</a:t>
            </a:r>
            <a:r>
              <a:rPr lang="en-US" altLang="zh-CN" sz="2000" dirty="0">
                <a:latin typeface="宋体" panose="02000500000000000000" pitchFamily="2" charset="-122"/>
                <a:ea typeface="宋体" panose="02000500000000000000" pitchFamily="2" charset="-122"/>
              </a:rPr>
              <a:t>7, </a:t>
            </a:r>
            <a:r>
              <a:rPr lang="zh-CN" altLang="en-US" sz="2000" dirty="0">
                <a:solidFill>
                  <a:srgbClr val="FF0000"/>
                </a:solidFill>
                <a:latin typeface="宋体" panose="02000500000000000000" pitchFamily="2" charset="-122"/>
                <a:ea typeface="宋体" panose="02000500000000000000" pitchFamily="2" charset="-122"/>
              </a:rPr>
              <a:t>$f</a:t>
            </a:r>
            <a:r>
              <a:rPr lang="en-US" altLang="zh-CN" sz="2000" dirty="0">
                <a:solidFill>
                  <a:srgbClr val="FF0000"/>
                </a:solidFill>
                <a:latin typeface="宋体" panose="02000500000000000000" pitchFamily="2" charset="-122"/>
                <a:ea typeface="宋体" panose="02000500000000000000" pitchFamily="2" charset="-122"/>
              </a:rPr>
              <a:t>0</a:t>
            </a:r>
            <a:r>
              <a:rPr lang="en-US" altLang="zh-CN" sz="2000" dirty="0">
                <a:latin typeface="宋体" panose="02000500000000000000" pitchFamily="2" charset="-122"/>
                <a:ea typeface="宋体" panose="02000500000000000000" pitchFamily="2" charset="-122"/>
              </a:rPr>
              <a:t>, </a:t>
            </a:r>
            <a:r>
              <a:rPr lang="zh-CN" altLang="en-US" sz="2000" dirty="0">
                <a:latin typeface="宋体" panose="02000500000000000000" pitchFamily="2" charset="-122"/>
                <a:ea typeface="宋体" panose="02000500000000000000" pitchFamily="2" charset="-122"/>
              </a:rPr>
              <a:t>$f</a:t>
            </a:r>
            <a:r>
              <a:rPr lang="en-US" altLang="zh-CN" sz="2000" dirty="0">
                <a:latin typeface="宋体" panose="02000500000000000000" pitchFamily="2" charset="-122"/>
                <a:ea typeface="宋体" panose="02000500000000000000" pitchFamily="2" charset="-122"/>
              </a:rPr>
              <a:t>8</a:t>
            </a:r>
            <a:endParaRPr lang="en-US" altLang="zh-CN" dirty="0">
              <a:latin typeface="宋体" panose="02000500000000000000" pitchFamily="2" charset="-122"/>
              <a:ea typeface="宋体" panose="02000500000000000000" pitchFamily="2" charset="-122"/>
            </a:endParaRPr>
          </a:p>
        </p:txBody>
      </p:sp>
      <p:sp>
        <p:nvSpPr>
          <p:cNvPr id="25603" name="Line 4"/>
          <p:cNvSpPr/>
          <p:nvPr/>
        </p:nvSpPr>
        <p:spPr>
          <a:xfrm>
            <a:off x="8807450" y="4400550"/>
            <a:ext cx="290513" cy="1096963"/>
          </a:xfrm>
          <a:prstGeom prst="line">
            <a:avLst/>
          </a:prstGeom>
          <a:ln w="19050" cap="flat" cmpd="sng">
            <a:solidFill>
              <a:srgbClr val="0000FF"/>
            </a:solidFill>
            <a:prstDash val="solid"/>
            <a:round/>
            <a:headEnd type="none" w="med" len="med"/>
            <a:tailEnd type="triangle" w="med" len="med"/>
          </a:ln>
        </p:spPr>
      </p:sp>
      <p:sp>
        <p:nvSpPr>
          <p:cNvPr id="25604" name="Line 5"/>
          <p:cNvSpPr/>
          <p:nvPr/>
        </p:nvSpPr>
        <p:spPr>
          <a:xfrm flipV="1">
            <a:off x="8842375" y="4857750"/>
            <a:ext cx="279400" cy="225425"/>
          </a:xfrm>
          <a:prstGeom prst="line">
            <a:avLst/>
          </a:prstGeom>
          <a:ln w="19050" cap="flat" cmpd="sng">
            <a:solidFill>
              <a:srgbClr val="0000FF"/>
            </a:solidFill>
            <a:prstDash val="solid"/>
            <a:round/>
            <a:headEnd type="none" w="med" len="med"/>
            <a:tailEnd type="triangle" w="med" len="med"/>
          </a:ln>
        </p:spPr>
      </p:sp>
      <p:sp>
        <p:nvSpPr>
          <p:cNvPr id="25605" name="Rectangle 6"/>
          <p:cNvSpPr/>
          <p:nvPr/>
        </p:nvSpPr>
        <p:spPr>
          <a:xfrm>
            <a:off x="477838" y="187325"/>
            <a:ext cx="11234737" cy="622300"/>
          </a:xfrm>
          <a:prstGeom prst="rect">
            <a:avLst/>
          </a:prstGeom>
          <a:noFill/>
          <a:ln w="9525">
            <a:noFill/>
          </a:ln>
        </p:spPr>
        <p:txBody>
          <a:bodyPr anchor="ctr" anchorCtr="0"/>
          <a:p>
            <a:pPr algn="ctr"/>
            <a:r>
              <a:rPr lang="zh-CN" altLang="en-US" sz="3600" dirty="0">
                <a:solidFill>
                  <a:srgbClr val="FF0000"/>
                </a:solidFill>
                <a:latin typeface="Arial" panose="02080604020202020204" pitchFamily="34" charset="0"/>
                <a:ea typeface="黑体" panose="02000500000000000000" pitchFamily="49" charset="-122"/>
              </a:rPr>
              <a:t>解决</a:t>
            </a:r>
            <a:r>
              <a:rPr lang="en-US" altLang="zh-CN" sz="3600" dirty="0">
                <a:solidFill>
                  <a:srgbClr val="FF0000"/>
                </a:solidFill>
                <a:latin typeface="Arial" panose="02080604020202020204" pitchFamily="34" charset="0"/>
                <a:ea typeface="黑体" panose="02000500000000000000" pitchFamily="49" charset="-122"/>
              </a:rPr>
              <a:t>WAW</a:t>
            </a:r>
            <a:r>
              <a:rPr lang="zh-CN" altLang="en-US" sz="3600" dirty="0">
                <a:solidFill>
                  <a:srgbClr val="FF0000"/>
                </a:solidFill>
                <a:latin typeface="Arial" panose="02080604020202020204" pitchFamily="34" charset="0"/>
                <a:ea typeface="黑体" panose="02000500000000000000" pitchFamily="49" charset="-122"/>
              </a:rPr>
              <a:t>和</a:t>
            </a:r>
            <a:r>
              <a:rPr lang="en-US" altLang="zh-CN" sz="3600" dirty="0">
                <a:solidFill>
                  <a:srgbClr val="FF0000"/>
                </a:solidFill>
                <a:latin typeface="Arial" panose="02080604020202020204" pitchFamily="34" charset="0"/>
                <a:ea typeface="黑体" panose="02000500000000000000" pitchFamily="49" charset="-122"/>
              </a:rPr>
              <a:t>WAR</a:t>
            </a:r>
            <a:r>
              <a:rPr lang="zh-CN" altLang="en-US" sz="3600" dirty="0">
                <a:solidFill>
                  <a:srgbClr val="FF0000"/>
                </a:solidFill>
                <a:latin typeface="Arial" panose="02080604020202020204" pitchFamily="34" charset="0"/>
                <a:ea typeface="黑体" panose="02000500000000000000" pitchFamily="49" charset="-122"/>
              </a:rPr>
              <a:t>的办法</a:t>
            </a:r>
            <a:endParaRPr lang="zh-CN" altLang="en-US" sz="3600" dirty="0">
              <a:solidFill>
                <a:srgbClr val="FF0000"/>
              </a:solidFill>
              <a:latin typeface="Arial" panose="02080604020202020204" pitchFamily="34" charset="0"/>
              <a:ea typeface="黑体" panose="02000500000000000000" pitchFamily="49" charset="-122"/>
            </a:endParaRPr>
          </a:p>
        </p:txBody>
      </p:sp>
      <p:sp>
        <p:nvSpPr>
          <p:cNvPr id="25606" name="灯片编号占位符 8"/>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fld id="{9A0DB2DC-4C9A-4742-B13C-FB6460FD3503}" type="slidenum">
              <a:rPr lang="en-US" altLang="zh-CN" sz="1400" dirty="0"/>
            </a:fld>
            <a:endParaRPr lang="en-US" altLang="zh-CN"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Rectangle 2"/>
          <p:cNvSpPr>
            <a:spLocks noChangeArrowheads="1"/>
          </p:cNvSpPr>
          <p:nvPr/>
        </p:nvSpPr>
        <p:spPr bwMode="auto">
          <a:xfrm>
            <a:off x="95250" y="981075"/>
            <a:ext cx="11758613" cy="3779838"/>
          </a:xfrm>
          <a:prstGeom prst="rect">
            <a:avLst/>
          </a:prstGeom>
          <a:noFill/>
          <a:ln w="9525">
            <a:noFill/>
            <a:miter lim="800000"/>
          </a:ln>
        </p:spPr>
        <p:txBody>
          <a:bodyPr/>
          <a:lstStyle/>
          <a:p>
            <a:pPr marL="342900" marR="0" lvl="0" indent="-342900" algn="l" defTabSz="914400" rtl="0" eaLnBrk="1" fontAlgn="base" latinLnBrk="0" hangingPunct="1">
              <a:lnSpc>
                <a:spcPct val="150000"/>
              </a:lnSpc>
              <a:spcBef>
                <a:spcPts val="600"/>
              </a:spcBef>
              <a:spcAft>
                <a:spcPct val="0"/>
              </a:spcAft>
              <a:buClrTx/>
              <a:buSzTx/>
              <a:buFontTx/>
              <a:buChar char="•"/>
              <a:defRPr/>
            </a:pPr>
            <a:r>
              <a:rPr kumimoji="1" lang="zh-CN" altLang="en-US" sz="2000" b="1" i="0" u="none" strike="noStrike" kern="1200" cap="none" spc="0" normalizeH="0" baseline="0" noProof="0" dirty="0">
                <a:ln>
                  <a:noFill/>
                </a:ln>
                <a:solidFill>
                  <a:schemeClr val="tx1"/>
                </a:solidFill>
                <a:effectLst/>
                <a:uLnTx/>
                <a:uFillTx/>
                <a:latin typeface="+mn-ea"/>
                <a:ea typeface="+mn-ea"/>
                <a:cs typeface="+mn-cs"/>
              </a:rPr>
              <a:t>为了避免</a:t>
            </a:r>
            <a:r>
              <a:rPr kumimoji="1" lang="en-US" altLang="en-US" sz="2000" b="1" i="0" u="none" strike="noStrike" kern="1200" cap="none" spc="0" normalizeH="0" baseline="0" noProof="0" dirty="0">
                <a:ln>
                  <a:noFill/>
                </a:ln>
                <a:solidFill>
                  <a:schemeClr val="tx1"/>
                </a:solidFill>
                <a:effectLst/>
                <a:uLnTx/>
                <a:uFillTx/>
                <a:latin typeface="+mn-ea"/>
                <a:ea typeface="+mn-ea"/>
                <a:cs typeface="+mn-cs"/>
              </a:rPr>
              <a:t>fmul.d/</a:t>
            </a:r>
            <a:r>
              <a:rPr kumimoji="1" lang="en-US" altLang="zh-CN" sz="2000" b="1" i="0" u="none" strike="noStrike" kern="1200" cap="none" spc="0" normalizeH="0" baseline="0" noProof="0" dirty="0">
                <a:ln>
                  <a:noFill/>
                </a:ln>
                <a:solidFill>
                  <a:schemeClr val="tx1"/>
                </a:solidFill>
                <a:effectLst/>
                <a:uLnTx/>
                <a:uFillTx/>
                <a:latin typeface="+mn-ea"/>
                <a:ea typeface="+mn-ea"/>
                <a:cs typeface="+mn-cs"/>
              </a:rPr>
              <a:t>1</a:t>
            </a:r>
            <a:r>
              <a:rPr kumimoji="1" lang="zh-CN" altLang="en-US" sz="2000" b="1" i="0" u="none" strike="noStrike" kern="1200" cap="none" spc="0" normalizeH="0" baseline="0" noProof="0" dirty="0">
                <a:ln>
                  <a:noFill/>
                </a:ln>
                <a:solidFill>
                  <a:schemeClr val="tx1"/>
                </a:solidFill>
                <a:effectLst/>
                <a:uLnTx/>
                <a:uFillTx/>
                <a:latin typeface="+mn-ea"/>
                <a:ea typeface="+mn-ea"/>
                <a:cs typeface="+mn-cs"/>
              </a:rPr>
              <a:t>读回</a:t>
            </a:r>
            <a:r>
              <a:rPr kumimoji="1" lang="en-US" altLang="en-US" sz="2000" b="1" i="0" u="none" strike="noStrike" kern="1200" cap="none" spc="0" normalizeH="0" baseline="0" noProof="0" dirty="0">
                <a:ln>
                  <a:noFill/>
                </a:ln>
                <a:solidFill>
                  <a:schemeClr val="tx1"/>
                </a:solidFill>
                <a:effectLst/>
                <a:uLnTx/>
                <a:uFillTx/>
                <a:latin typeface="+mn-ea"/>
                <a:ea typeface="+mn-ea"/>
                <a:cs typeface="+mn-cs"/>
              </a:rPr>
              <a:t>fadd.d</a:t>
            </a:r>
            <a:r>
              <a:rPr kumimoji="1" lang="zh-CN" altLang="en-US" sz="2000" b="1" i="0" u="none" strike="noStrike" kern="1200" cap="none" spc="0" normalizeH="0" baseline="0" noProof="0" dirty="0">
                <a:ln>
                  <a:noFill/>
                </a:ln>
                <a:solidFill>
                  <a:schemeClr val="tx1"/>
                </a:solidFill>
                <a:effectLst/>
                <a:uLnTx/>
                <a:uFillTx/>
                <a:latin typeface="+mn-ea"/>
                <a:ea typeface="+mn-ea"/>
                <a:cs typeface="+mn-cs"/>
              </a:rPr>
              <a:t>写的</a:t>
            </a:r>
            <a:r>
              <a:rPr kumimoji="1" lang="en-US" altLang="en-US" sz="2000" b="1" i="0" u="none" strike="noStrike" kern="1200" cap="none" spc="0" normalizeH="0" baseline="0" noProof="0" dirty="0">
                <a:ln>
                  <a:noFill/>
                </a:ln>
                <a:solidFill>
                  <a:schemeClr val="tx1"/>
                </a:solidFill>
                <a:effectLst/>
                <a:uLnTx/>
                <a:uFillTx/>
                <a:latin typeface="+mn-ea"/>
                <a:ea typeface="+mn-ea"/>
                <a:cs typeface="+mn-cs"/>
              </a:rPr>
              <a:t>$f</a:t>
            </a:r>
            <a:r>
              <a:rPr kumimoji="1" lang="en-US" altLang="zh-CN" sz="2000" b="1" i="0" u="none" strike="noStrike" kern="1200" cap="none" spc="0" normalizeH="0" baseline="0" noProof="0" dirty="0">
                <a:ln>
                  <a:noFill/>
                </a:ln>
                <a:solidFill>
                  <a:schemeClr val="tx1"/>
                </a:solidFill>
                <a:effectLst/>
                <a:uLnTx/>
                <a:uFillTx/>
                <a:latin typeface="+mn-ea"/>
                <a:ea typeface="+mn-ea"/>
                <a:cs typeface="+mn-cs"/>
              </a:rPr>
              <a:t>0</a:t>
            </a:r>
            <a:r>
              <a:rPr kumimoji="1" lang="zh-CN" altLang="en-US" sz="2000" b="1" i="0" u="none" strike="noStrike" kern="1200" cap="none" spc="0" normalizeH="0" baseline="0" noProof="0" dirty="0">
                <a:ln>
                  <a:noFill/>
                </a:ln>
                <a:solidFill>
                  <a:schemeClr val="tx1"/>
                </a:solidFill>
                <a:effectLst/>
                <a:uLnTx/>
                <a:uFillTx/>
                <a:latin typeface="+mn-ea"/>
                <a:ea typeface="+mn-ea"/>
                <a:cs typeface="+mn-cs"/>
              </a:rPr>
              <a:t>值，</a:t>
            </a:r>
            <a:r>
              <a:rPr kumimoji="1" lang="en-US" altLang="en-US" sz="2000" b="1" i="0" u="none" strike="noStrike" kern="1200" cap="none" spc="0" normalizeH="0" baseline="0" noProof="0" dirty="0">
                <a:ln>
                  <a:noFill/>
                </a:ln>
                <a:solidFill>
                  <a:schemeClr val="tx1"/>
                </a:solidFill>
                <a:effectLst/>
                <a:uLnTx/>
                <a:uFillTx/>
                <a:latin typeface="+mn-ea"/>
                <a:ea typeface="+mn-ea"/>
                <a:cs typeface="+mn-cs"/>
              </a:rPr>
              <a:t>fmul.d/</a:t>
            </a:r>
            <a:r>
              <a:rPr kumimoji="1" lang="en-US" altLang="zh-CN" sz="2000" b="1" i="0" u="none" strike="noStrike" kern="1200" cap="none" spc="0" normalizeH="0" baseline="0" noProof="0" dirty="0">
                <a:ln>
                  <a:noFill/>
                </a:ln>
                <a:solidFill>
                  <a:schemeClr val="tx1"/>
                </a:solidFill>
                <a:effectLst/>
                <a:uLnTx/>
                <a:uFillTx/>
                <a:latin typeface="+mn-ea"/>
                <a:ea typeface="+mn-ea"/>
                <a:cs typeface="+mn-cs"/>
              </a:rPr>
              <a:t>2</a:t>
            </a:r>
            <a:r>
              <a:rPr kumimoji="1" lang="zh-CN" altLang="zh-CN" sz="2000" b="1" i="0" u="none" strike="noStrike" kern="1200" cap="none" spc="0" normalizeH="0" baseline="0" noProof="0" dirty="0">
                <a:ln>
                  <a:noFill/>
                </a:ln>
                <a:solidFill>
                  <a:schemeClr val="tx1"/>
                </a:solidFill>
                <a:effectLst/>
                <a:uLnTx/>
                <a:uFillTx/>
                <a:latin typeface="+mn-ea"/>
                <a:ea typeface="+mn-ea"/>
                <a:cs typeface="+mn-cs"/>
              </a:rPr>
              <a:t>读回</a:t>
            </a:r>
            <a:r>
              <a:rPr kumimoji="1" lang="en-US" altLang="en-US" sz="2000" b="1" i="0" u="none" strike="noStrike" kern="1200" cap="none" spc="0" normalizeH="0" baseline="0" noProof="0" dirty="0">
                <a:ln>
                  <a:noFill/>
                </a:ln>
                <a:solidFill>
                  <a:schemeClr val="tx1"/>
                </a:solidFill>
                <a:effectLst/>
                <a:uLnTx/>
                <a:uFillTx/>
                <a:latin typeface="+mn-ea"/>
                <a:ea typeface="+mn-ea"/>
                <a:cs typeface="+mn-cs"/>
              </a:rPr>
              <a:t>fdiv.d</a:t>
            </a:r>
            <a:r>
              <a:rPr kumimoji="1" lang="zh-CN" altLang="zh-CN" sz="2000" b="1" i="0" u="none" strike="noStrike" kern="1200" cap="none" spc="0" normalizeH="0" baseline="0" noProof="0" dirty="0">
                <a:ln>
                  <a:noFill/>
                </a:ln>
                <a:solidFill>
                  <a:schemeClr val="tx1"/>
                </a:solidFill>
                <a:effectLst/>
                <a:uLnTx/>
                <a:uFillTx/>
                <a:latin typeface="+mn-ea"/>
                <a:ea typeface="+mn-ea"/>
                <a:cs typeface="+mn-cs"/>
              </a:rPr>
              <a:t>写的</a:t>
            </a:r>
            <a:r>
              <a:rPr kumimoji="1" lang="en-US" altLang="zh-CN" sz="2000" b="1" i="0" u="none" strike="noStrike" kern="1200" cap="none" spc="0" normalizeH="0" baseline="0" noProof="0" dirty="0">
                <a:ln>
                  <a:noFill/>
                </a:ln>
                <a:solidFill>
                  <a:schemeClr val="tx1"/>
                </a:solidFill>
                <a:effectLst/>
                <a:uLnTx/>
                <a:uFillTx/>
                <a:latin typeface="+mn-ea"/>
                <a:ea typeface="+mn-ea"/>
                <a:cs typeface="+mn-cs"/>
              </a:rPr>
              <a:t>$f0</a:t>
            </a:r>
            <a:r>
              <a:rPr kumimoji="1" lang="zh-CN" altLang="zh-CN" sz="2000" b="1" i="0" u="none" strike="noStrike" kern="1200" cap="none" spc="0" normalizeH="0" baseline="0" noProof="0" dirty="0">
                <a:ln>
                  <a:noFill/>
                </a:ln>
                <a:solidFill>
                  <a:schemeClr val="tx1"/>
                </a:solidFill>
                <a:effectLst/>
                <a:uLnTx/>
                <a:uFillTx/>
                <a:latin typeface="+mn-ea"/>
                <a:ea typeface="+mn-ea"/>
                <a:cs typeface="+mn-cs"/>
              </a:rPr>
              <a:t>值</a:t>
            </a:r>
            <a:endParaRPr kumimoji="1" lang="zh-CN" altLang="en-US" sz="20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zh-CN" altLang="en-US" sz="1800" b="1" i="0" u="none" strike="noStrike" kern="1200" cap="none" spc="0" normalizeH="0" baseline="0" noProof="0" dirty="0">
                <a:ln>
                  <a:noFill/>
                </a:ln>
                <a:solidFill>
                  <a:schemeClr val="tx1"/>
                </a:solidFill>
                <a:effectLst/>
                <a:uLnTx/>
                <a:uFillTx/>
                <a:latin typeface="+mn-ea"/>
                <a:ea typeface="+mn-ea"/>
                <a:cs typeface="+mn-cs"/>
              </a:rPr>
              <a:t>最简单的做法是在</a:t>
            </a:r>
            <a:r>
              <a:rPr kumimoji="1" lang="en-US" altLang="en-US" sz="1800" b="1" i="0" u="none" strike="noStrike" kern="1200" cap="none" spc="0" normalizeH="0" baseline="0" noProof="0" dirty="0">
                <a:ln>
                  <a:noFill/>
                </a:ln>
                <a:solidFill>
                  <a:schemeClr val="tx1"/>
                </a:solidFill>
                <a:effectLst/>
                <a:uLnTx/>
                <a:uFillTx/>
                <a:latin typeface="+mn-ea"/>
                <a:ea typeface="+mn-ea"/>
                <a:cs typeface="+mn-cs"/>
              </a:rPr>
              <a:t>fmul.d</a:t>
            </a:r>
            <a:r>
              <a:rPr kumimoji="1" lang="zh-CN" altLang="en-US" sz="1800" b="1" i="0" u="none" strike="noStrike" kern="1200" cap="none" spc="0" normalizeH="0" baseline="0" noProof="0" dirty="0">
                <a:ln>
                  <a:noFill/>
                </a:ln>
                <a:solidFill>
                  <a:schemeClr val="tx1"/>
                </a:solidFill>
                <a:effectLst/>
                <a:uLnTx/>
                <a:uFillTx/>
                <a:latin typeface="+mn-ea"/>
                <a:ea typeface="+mn-ea"/>
                <a:cs typeface="+mn-cs"/>
              </a:rPr>
              <a:t>读</a:t>
            </a:r>
            <a:r>
              <a:rPr kumimoji="1" lang="en-US" altLang="en-US" sz="1800" b="1" i="0" u="none" strike="noStrike" kern="1200" cap="none" spc="0" normalizeH="0" baseline="0" noProof="0" dirty="0">
                <a:ln>
                  <a:noFill/>
                </a:ln>
                <a:solidFill>
                  <a:schemeClr val="tx1"/>
                </a:solidFill>
                <a:effectLst/>
                <a:uLnTx/>
                <a:uFillTx/>
                <a:latin typeface="+mn-ea"/>
                <a:ea typeface="+mn-ea"/>
                <a:cs typeface="+mn-cs"/>
              </a:rPr>
              <a:t>$f</a:t>
            </a:r>
            <a:r>
              <a:rPr kumimoji="1" lang="en-US" altLang="zh-CN" sz="1800" b="1" i="0" u="none" strike="noStrike" kern="1200" cap="none" spc="0" normalizeH="0" baseline="0" noProof="0" dirty="0">
                <a:ln>
                  <a:noFill/>
                </a:ln>
                <a:solidFill>
                  <a:schemeClr val="tx1"/>
                </a:solidFill>
                <a:effectLst/>
                <a:uLnTx/>
                <a:uFillTx/>
                <a:latin typeface="+mn-ea"/>
                <a:ea typeface="+mn-ea"/>
                <a:cs typeface="+mn-cs"/>
              </a:rPr>
              <a:t>0</a:t>
            </a:r>
            <a:r>
              <a:rPr kumimoji="1" lang="zh-CN" altLang="en-US" sz="1800" b="1" i="0" u="none" strike="noStrike" kern="1200" cap="none" spc="0" normalizeH="0" baseline="0" noProof="0" dirty="0">
                <a:ln>
                  <a:noFill/>
                </a:ln>
                <a:solidFill>
                  <a:schemeClr val="tx1"/>
                </a:solidFill>
                <a:effectLst/>
                <a:uLnTx/>
                <a:uFillTx/>
                <a:latin typeface="+mn-ea"/>
                <a:ea typeface="+mn-ea"/>
                <a:cs typeface="+mn-cs"/>
              </a:rPr>
              <a:t>之前</a:t>
            </a:r>
            <a:r>
              <a:rPr kumimoji="1" lang="en-US" altLang="en-US" sz="1800" b="1" i="0" u="none" strike="noStrike" kern="1200" cap="none" spc="0" normalizeH="0" baseline="0" noProof="0" dirty="0">
                <a:ln>
                  <a:noFill/>
                </a:ln>
                <a:solidFill>
                  <a:schemeClr val="tx1"/>
                </a:solidFill>
                <a:effectLst/>
                <a:uLnTx/>
                <a:uFillTx/>
                <a:latin typeface="+mn-ea"/>
                <a:ea typeface="+mn-ea"/>
                <a:cs typeface="+mn-cs"/>
              </a:rPr>
              <a:t>fadd.d</a:t>
            </a:r>
            <a:r>
              <a:rPr kumimoji="1" lang="zh-CN" altLang="en-US" sz="1800" b="1" i="0" u="none" strike="noStrike" kern="1200" cap="none" spc="0" normalizeH="0" baseline="0" noProof="0" dirty="0">
                <a:ln>
                  <a:noFill/>
                </a:ln>
                <a:solidFill>
                  <a:schemeClr val="tx1"/>
                </a:solidFill>
                <a:effectLst/>
                <a:uLnTx/>
                <a:uFillTx/>
                <a:latin typeface="+mn-ea"/>
                <a:ea typeface="+mn-ea"/>
                <a:cs typeface="+mn-cs"/>
              </a:rPr>
              <a:t>不能写回，</a:t>
            </a:r>
            <a:r>
              <a:rPr kumimoji="1" lang="zh-CN" altLang="zh-CN" sz="1800" b="1" i="0" u="none" strike="noStrike" kern="1200" cap="none" spc="0" normalizeH="0" baseline="0" noProof="0" dirty="0">
                <a:ln>
                  <a:noFill/>
                </a:ln>
                <a:solidFill>
                  <a:schemeClr val="tx1"/>
                </a:solidFill>
                <a:effectLst/>
                <a:uLnTx/>
                <a:uFillTx/>
                <a:latin typeface="+mn-ea"/>
                <a:ea typeface="+mn-ea"/>
                <a:cs typeface="+mn-cs"/>
              </a:rPr>
              <a:t>在</a:t>
            </a:r>
            <a:r>
              <a:rPr kumimoji="1" lang="en-US" altLang="en-US" sz="1800" b="1" i="0" u="none" strike="noStrike" kern="1200" cap="none" spc="0" normalizeH="0" baseline="0" noProof="0" dirty="0">
                <a:ln>
                  <a:noFill/>
                </a:ln>
                <a:solidFill>
                  <a:schemeClr val="tx1"/>
                </a:solidFill>
                <a:effectLst/>
                <a:uLnTx/>
                <a:uFillTx/>
                <a:latin typeface="+mn-ea"/>
                <a:ea typeface="+mn-ea"/>
                <a:cs typeface="+mn-cs"/>
              </a:rPr>
              <a:t>fdiv.d</a:t>
            </a:r>
            <a:r>
              <a:rPr kumimoji="1" lang="zh-CN" altLang="zh-CN" sz="1800" b="1" i="0" u="none" strike="noStrike" kern="1200" cap="none" spc="0" normalizeH="0" baseline="0" noProof="0" dirty="0">
                <a:ln>
                  <a:noFill/>
                </a:ln>
                <a:solidFill>
                  <a:schemeClr val="tx1"/>
                </a:solidFill>
                <a:effectLst/>
                <a:uLnTx/>
                <a:uFillTx/>
                <a:latin typeface="+mn-ea"/>
                <a:ea typeface="+mn-ea"/>
                <a:cs typeface="+mn-cs"/>
              </a:rPr>
              <a:t>写回之前</a:t>
            </a:r>
            <a:r>
              <a:rPr kumimoji="1" lang="en-US" altLang="en-US" sz="1800" b="1" i="0" u="none" strike="noStrike" kern="1200" cap="none" spc="0" normalizeH="0" baseline="0" noProof="0" dirty="0">
                <a:ln>
                  <a:noFill/>
                </a:ln>
                <a:solidFill>
                  <a:schemeClr val="tx1"/>
                </a:solidFill>
                <a:effectLst/>
                <a:uLnTx/>
                <a:uFillTx/>
                <a:latin typeface="+mn-ea"/>
                <a:ea typeface="+mn-ea"/>
                <a:cs typeface="+mn-cs"/>
              </a:rPr>
              <a:t>fadd.d</a:t>
            </a:r>
            <a:r>
              <a:rPr kumimoji="1" lang="zh-CN" altLang="zh-CN" sz="1800" b="1" i="0" u="none" strike="noStrike" kern="1200" cap="none" spc="0" normalizeH="0" baseline="0" noProof="0" dirty="0">
                <a:ln>
                  <a:noFill/>
                </a:ln>
                <a:solidFill>
                  <a:schemeClr val="tx1"/>
                </a:solidFill>
                <a:effectLst/>
                <a:uLnTx/>
                <a:uFillTx/>
                <a:latin typeface="+mn-ea"/>
                <a:ea typeface="+mn-ea"/>
                <a:cs typeface="+mn-cs"/>
              </a:rPr>
              <a:t>不能写回，正是</a:t>
            </a:r>
            <a:r>
              <a:rPr kumimoji="1" lang="en-US" altLang="zh-CN" sz="1800" b="1" i="0" u="none" strike="noStrike" kern="1200" cap="none" spc="0" normalizeH="0" baseline="0" noProof="0" dirty="0">
                <a:ln>
                  <a:noFill/>
                </a:ln>
                <a:solidFill>
                  <a:schemeClr val="tx1"/>
                </a:solidFill>
                <a:effectLst/>
                <a:uLnTx/>
                <a:uFillTx/>
                <a:latin typeface="+mn-ea"/>
                <a:ea typeface="+mn-ea"/>
                <a:cs typeface="+mn-cs"/>
              </a:rPr>
              <a:t>CDC6600</a:t>
            </a:r>
            <a:r>
              <a:rPr kumimoji="1" lang="zh-CN" altLang="zh-CN" sz="1800" b="1" i="0" u="none" strike="noStrike" kern="1200" cap="none" spc="0" normalizeH="0" baseline="0" noProof="0" dirty="0">
                <a:ln>
                  <a:noFill/>
                </a:ln>
                <a:solidFill>
                  <a:schemeClr val="tx1"/>
                </a:solidFill>
                <a:effectLst/>
                <a:uLnTx/>
                <a:uFillTx/>
                <a:latin typeface="+mn-ea"/>
                <a:ea typeface="+mn-ea"/>
                <a:cs typeface="+mn-cs"/>
              </a:rPr>
              <a:t>记分板的办法</a:t>
            </a:r>
            <a:endParaRPr kumimoji="1" lang="zh-CN" altLang="zh-CN" sz="18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zh-CN" altLang="zh-CN" sz="1800" b="1" i="0" u="none" strike="noStrike" kern="1200" cap="none" spc="0" normalizeH="0" baseline="0" noProof="0" dirty="0">
                <a:ln>
                  <a:noFill/>
                </a:ln>
                <a:solidFill>
                  <a:schemeClr val="tx1"/>
                </a:solidFill>
                <a:effectLst/>
                <a:uLnTx/>
                <a:uFillTx/>
                <a:latin typeface="+mn-ea"/>
                <a:ea typeface="+mn-ea"/>
                <a:cs typeface="+mn-cs"/>
              </a:rPr>
              <a:t>在上述方法中，</a:t>
            </a:r>
            <a:r>
              <a:rPr kumimoji="1" lang="en-US" altLang="en-US" sz="1800" b="1" i="0" u="none" strike="noStrike" kern="1200" cap="none" spc="0" normalizeH="0" baseline="0" noProof="0" dirty="0">
                <a:ln>
                  <a:noFill/>
                </a:ln>
                <a:solidFill>
                  <a:schemeClr val="tx1"/>
                </a:solidFill>
                <a:effectLst/>
                <a:uLnTx/>
                <a:uFillTx/>
                <a:latin typeface="+mn-ea"/>
                <a:ea typeface="+mn-ea"/>
                <a:cs typeface="+mn-cs"/>
              </a:rPr>
              <a:t>$f</a:t>
            </a:r>
            <a:r>
              <a:rPr kumimoji="1" lang="en-US" altLang="zh-CN" sz="1800" b="1" i="0" u="none" strike="noStrike" kern="1200" cap="none" spc="0" normalizeH="0" baseline="0" noProof="0" dirty="0">
                <a:ln>
                  <a:noFill/>
                </a:ln>
                <a:solidFill>
                  <a:schemeClr val="tx1"/>
                </a:solidFill>
                <a:effectLst/>
                <a:uLnTx/>
                <a:uFillTx/>
                <a:latin typeface="+mn-ea"/>
                <a:ea typeface="+mn-ea"/>
                <a:cs typeface="+mn-cs"/>
              </a:rPr>
              <a:t>0</a:t>
            </a:r>
            <a:r>
              <a:rPr kumimoji="1" lang="zh-CN" altLang="zh-CN" sz="1800" b="1" i="0" u="none" strike="noStrike" kern="1200" cap="none" spc="0" normalizeH="0" baseline="0" noProof="0" dirty="0">
                <a:ln>
                  <a:noFill/>
                </a:ln>
                <a:solidFill>
                  <a:schemeClr val="tx1"/>
                </a:solidFill>
                <a:effectLst/>
                <a:uLnTx/>
                <a:uFillTx/>
                <a:latin typeface="+mn-ea"/>
                <a:ea typeface="+mn-ea"/>
                <a:cs typeface="+mn-cs"/>
              </a:rPr>
              <a:t>成为瓶颈，它必须保证</a:t>
            </a:r>
            <a:r>
              <a:rPr kumimoji="1" lang="en-US" altLang="zh-CN" sz="1800" b="1" i="0" u="none" strike="noStrike" kern="1200" cap="none" spc="0" normalizeH="0" baseline="0" noProof="0" dirty="0">
                <a:ln>
                  <a:noFill/>
                </a:ln>
                <a:solidFill>
                  <a:schemeClr val="tx1"/>
                </a:solidFill>
                <a:effectLst/>
                <a:uLnTx/>
                <a:uFillTx/>
                <a:latin typeface="+mn-ea"/>
                <a:ea typeface="+mn-ea"/>
                <a:cs typeface="+mn-cs"/>
              </a:rPr>
              <a:t>fdiv.d</a:t>
            </a:r>
            <a:r>
              <a:rPr kumimoji="1" lang="zh-CN" altLang="zh-CN" sz="1800" b="1" i="0" u="none" strike="noStrike" kern="1200" cap="none" spc="0" normalizeH="0" baseline="0" noProof="0" dirty="0">
                <a:ln>
                  <a:noFill/>
                </a:ln>
                <a:solidFill>
                  <a:schemeClr val="tx1"/>
                </a:solidFill>
                <a:effectLst/>
                <a:uLnTx/>
                <a:uFillTx/>
                <a:latin typeface="+mn-ea"/>
                <a:ea typeface="+mn-ea"/>
                <a:cs typeface="+mn-cs"/>
              </a:rPr>
              <a:t>写、</a:t>
            </a:r>
            <a:r>
              <a:rPr kumimoji="1" lang="en-US" altLang="en-US" sz="1800" b="1" i="0" u="none" strike="noStrike" kern="1200" cap="none" spc="0" normalizeH="0" baseline="0" noProof="0" dirty="0">
                <a:ln>
                  <a:noFill/>
                </a:ln>
                <a:solidFill>
                  <a:schemeClr val="tx1"/>
                </a:solidFill>
                <a:effectLst/>
                <a:uLnTx/>
                <a:uFillTx/>
                <a:latin typeface="+mn-ea"/>
                <a:ea typeface="+mn-ea"/>
                <a:cs typeface="+mn-cs"/>
              </a:rPr>
              <a:t>fmul.d/</a:t>
            </a:r>
            <a:r>
              <a:rPr kumimoji="1" lang="en-US" altLang="zh-CN" sz="1800" b="1" i="0" u="none" strike="noStrike" kern="1200" cap="none" spc="0" normalizeH="0" baseline="0" noProof="0" dirty="0">
                <a:ln>
                  <a:noFill/>
                </a:ln>
                <a:solidFill>
                  <a:schemeClr val="tx1"/>
                </a:solidFill>
                <a:effectLst/>
                <a:uLnTx/>
                <a:uFillTx/>
                <a:latin typeface="+mn-ea"/>
                <a:ea typeface="+mn-ea"/>
                <a:cs typeface="+mn-cs"/>
              </a:rPr>
              <a:t>1</a:t>
            </a:r>
            <a:r>
              <a:rPr kumimoji="1" lang="zh-CN" altLang="zh-CN" sz="1800" b="1" i="0" u="none" strike="noStrike" kern="1200" cap="none" spc="0" normalizeH="0" baseline="0" noProof="0" dirty="0">
                <a:ln>
                  <a:noFill/>
                </a:ln>
                <a:solidFill>
                  <a:schemeClr val="tx1"/>
                </a:solidFill>
                <a:effectLst/>
                <a:uLnTx/>
                <a:uFillTx/>
                <a:latin typeface="+mn-ea"/>
                <a:ea typeface="+mn-ea"/>
                <a:cs typeface="+mn-cs"/>
              </a:rPr>
              <a:t>读、</a:t>
            </a:r>
            <a:r>
              <a:rPr kumimoji="1" lang="en-US" altLang="zh-CN" sz="1800" b="1" i="0" u="none" strike="noStrike" kern="1200" cap="none" spc="0" normalizeH="0" baseline="0" noProof="0" dirty="0">
                <a:ln>
                  <a:noFill/>
                </a:ln>
                <a:solidFill>
                  <a:schemeClr val="tx1"/>
                </a:solidFill>
                <a:effectLst/>
                <a:uLnTx/>
                <a:uFillTx/>
                <a:latin typeface="+mn-ea"/>
                <a:ea typeface="+mn-ea"/>
                <a:cs typeface="+mn-cs"/>
              </a:rPr>
              <a:t>fadd.d</a:t>
            </a:r>
            <a:r>
              <a:rPr kumimoji="1" lang="zh-CN" altLang="zh-CN" sz="1800" b="1" i="0" u="none" strike="noStrike" kern="1200" cap="none" spc="0" normalizeH="0" baseline="0" noProof="0" dirty="0">
                <a:ln>
                  <a:noFill/>
                </a:ln>
                <a:solidFill>
                  <a:schemeClr val="tx1"/>
                </a:solidFill>
                <a:effectLst/>
                <a:uLnTx/>
                <a:uFillTx/>
                <a:latin typeface="+mn-ea"/>
                <a:ea typeface="+mn-ea"/>
                <a:cs typeface="+mn-cs"/>
              </a:rPr>
              <a:t>写、</a:t>
            </a:r>
            <a:r>
              <a:rPr kumimoji="1" lang="en-US" altLang="en-US" sz="1800" b="1" i="0" u="none" strike="noStrike" kern="1200" cap="none" spc="0" normalizeH="0" baseline="0" noProof="0" dirty="0">
                <a:ln>
                  <a:noFill/>
                </a:ln>
                <a:solidFill>
                  <a:schemeClr val="tx1"/>
                </a:solidFill>
                <a:effectLst/>
                <a:uLnTx/>
                <a:uFillTx/>
                <a:latin typeface="+mn-ea"/>
                <a:ea typeface="+mn-ea"/>
                <a:cs typeface="+mn-cs"/>
              </a:rPr>
              <a:t>fmul.d/</a:t>
            </a:r>
            <a:r>
              <a:rPr kumimoji="1" lang="en-US" altLang="zh-CN" sz="1800" b="1" i="0" u="none" strike="noStrike" kern="1200" cap="none" spc="0" normalizeH="0" baseline="0" noProof="0" dirty="0">
                <a:ln>
                  <a:noFill/>
                </a:ln>
                <a:solidFill>
                  <a:schemeClr val="tx1"/>
                </a:solidFill>
                <a:effectLst/>
                <a:uLnTx/>
                <a:uFillTx/>
                <a:latin typeface="+mn-ea"/>
                <a:ea typeface="+mn-ea"/>
                <a:cs typeface="+mn-cs"/>
              </a:rPr>
              <a:t>2</a:t>
            </a:r>
            <a:r>
              <a:rPr kumimoji="1" lang="zh-CN" altLang="zh-CN" sz="1800" b="1" i="0" u="none" strike="noStrike" kern="1200" cap="none" spc="0" normalizeH="0" baseline="0" noProof="0" dirty="0">
                <a:ln>
                  <a:noFill/>
                </a:ln>
                <a:solidFill>
                  <a:schemeClr val="tx1"/>
                </a:solidFill>
                <a:effectLst/>
                <a:uLnTx/>
                <a:uFillTx/>
                <a:latin typeface="+mn-ea"/>
                <a:ea typeface="+mn-ea"/>
                <a:cs typeface="+mn-cs"/>
              </a:rPr>
              <a:t>读的串行次序，这是问题的本质所在</a:t>
            </a:r>
            <a:endParaRPr kumimoji="1" lang="zh-CN" altLang="zh-CN" sz="18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zh-CN" altLang="zh-CN" sz="1800" b="1" i="0" u="none" strike="noStrike" kern="1200" cap="none" spc="0" normalizeH="0" baseline="0" noProof="0" dirty="0">
                <a:ln>
                  <a:noFill/>
                </a:ln>
                <a:solidFill>
                  <a:schemeClr val="tx1"/>
                </a:solidFill>
                <a:effectLst/>
                <a:uLnTx/>
                <a:uFillTx/>
                <a:latin typeface="+mn-ea"/>
                <a:ea typeface="+mn-ea"/>
                <a:cs typeface="+mn-cs"/>
              </a:rPr>
              <a:t>真正相关：</a:t>
            </a:r>
            <a:r>
              <a:rPr kumimoji="1" lang="en-US" altLang="en-US" sz="1800" b="1" i="0" u="none" strike="noStrike" kern="1200" cap="none" spc="0" normalizeH="0" baseline="0" noProof="0" dirty="0">
                <a:ln>
                  <a:noFill/>
                </a:ln>
                <a:solidFill>
                  <a:schemeClr val="tx1"/>
                </a:solidFill>
                <a:effectLst/>
                <a:uLnTx/>
                <a:uFillTx/>
                <a:latin typeface="+mn-ea"/>
                <a:ea typeface="+mn-ea"/>
                <a:cs typeface="+mn-cs"/>
              </a:rPr>
              <a:t>fmul.d/</a:t>
            </a:r>
            <a:r>
              <a:rPr kumimoji="1" lang="en-US" altLang="zh-CN" sz="1800" b="1" i="0" u="none" strike="noStrike" kern="1200" cap="none" spc="0" normalizeH="0" baseline="0" noProof="0" dirty="0">
                <a:ln>
                  <a:noFill/>
                </a:ln>
                <a:solidFill>
                  <a:schemeClr val="tx1"/>
                </a:solidFill>
                <a:effectLst/>
                <a:uLnTx/>
                <a:uFillTx/>
                <a:latin typeface="+mn-ea"/>
                <a:ea typeface="+mn-ea"/>
                <a:cs typeface="+mn-cs"/>
              </a:rPr>
              <a:t>1</a:t>
            </a:r>
            <a:r>
              <a:rPr kumimoji="1" lang="zh-CN" altLang="zh-CN" sz="1800" b="1" i="0" u="none" strike="noStrike" kern="1200" cap="none" spc="0" normalizeH="0" baseline="0" noProof="0" dirty="0">
                <a:ln>
                  <a:noFill/>
                </a:ln>
                <a:solidFill>
                  <a:schemeClr val="tx1"/>
                </a:solidFill>
                <a:effectLst/>
                <a:uLnTx/>
                <a:uFillTx/>
                <a:latin typeface="+mn-ea"/>
                <a:ea typeface="+mn-ea"/>
                <a:cs typeface="+mn-cs"/>
              </a:rPr>
              <a:t>用</a:t>
            </a:r>
            <a:r>
              <a:rPr kumimoji="1" lang="en-US" altLang="zh-CN" sz="1800" b="1" i="0" u="none" strike="noStrike" kern="1200" cap="none" spc="0" normalizeH="0" baseline="0" noProof="0" dirty="0">
                <a:ln>
                  <a:noFill/>
                </a:ln>
                <a:solidFill>
                  <a:schemeClr val="tx1"/>
                </a:solidFill>
                <a:effectLst/>
                <a:uLnTx/>
                <a:uFillTx/>
                <a:latin typeface="+mn-ea"/>
                <a:ea typeface="+mn-ea"/>
                <a:cs typeface="+mn-cs"/>
              </a:rPr>
              <a:t>fdiv.d</a:t>
            </a:r>
            <a:r>
              <a:rPr kumimoji="1" lang="zh-CN" altLang="zh-CN" sz="1800" b="1" i="0" u="none" strike="noStrike" kern="1200" cap="none" spc="0" normalizeH="0" baseline="0" noProof="0" dirty="0">
                <a:ln>
                  <a:noFill/>
                </a:ln>
                <a:solidFill>
                  <a:schemeClr val="tx1"/>
                </a:solidFill>
                <a:effectLst/>
                <a:uLnTx/>
                <a:uFillTx/>
                <a:latin typeface="+mn-ea"/>
                <a:ea typeface="+mn-ea"/>
                <a:cs typeface="+mn-cs"/>
              </a:rPr>
              <a:t>的结果，</a:t>
            </a:r>
            <a:r>
              <a:rPr kumimoji="1" lang="en-US" altLang="en-US" sz="1800" b="1" i="0" u="none" strike="noStrike" kern="1200" cap="none" spc="0" normalizeH="0" baseline="0" noProof="0" dirty="0">
                <a:ln>
                  <a:noFill/>
                </a:ln>
                <a:solidFill>
                  <a:schemeClr val="tx1"/>
                </a:solidFill>
                <a:effectLst/>
                <a:uLnTx/>
                <a:uFillTx/>
                <a:latin typeface="+mn-ea"/>
                <a:ea typeface="+mn-ea"/>
                <a:cs typeface="+mn-cs"/>
              </a:rPr>
              <a:t>fmul.d/</a:t>
            </a:r>
            <a:r>
              <a:rPr kumimoji="1" lang="en-US" altLang="zh-CN" sz="1800" b="1" i="0" u="none" strike="noStrike" kern="1200" cap="none" spc="0" normalizeH="0" baseline="0" noProof="0" dirty="0">
                <a:ln>
                  <a:noFill/>
                </a:ln>
                <a:solidFill>
                  <a:schemeClr val="tx1"/>
                </a:solidFill>
                <a:effectLst/>
                <a:uLnTx/>
                <a:uFillTx/>
                <a:latin typeface="+mn-ea"/>
                <a:ea typeface="+mn-ea"/>
                <a:cs typeface="+mn-cs"/>
              </a:rPr>
              <a:t>2</a:t>
            </a:r>
            <a:r>
              <a:rPr kumimoji="1" lang="zh-CN" altLang="zh-CN" sz="1800" b="1" i="0" u="none" strike="noStrike" kern="1200" cap="none" spc="0" normalizeH="0" baseline="0" noProof="0" dirty="0">
                <a:ln>
                  <a:noFill/>
                </a:ln>
                <a:solidFill>
                  <a:schemeClr val="tx1"/>
                </a:solidFill>
                <a:effectLst/>
                <a:uLnTx/>
                <a:uFillTx/>
                <a:latin typeface="+mn-ea"/>
                <a:ea typeface="+mn-ea"/>
                <a:cs typeface="+mn-cs"/>
              </a:rPr>
              <a:t>用</a:t>
            </a:r>
            <a:r>
              <a:rPr kumimoji="1" lang="en-US" altLang="en-US" sz="1800" b="1" i="0" u="none" strike="noStrike" kern="1200" cap="none" spc="0" normalizeH="0" baseline="0" noProof="0" dirty="0">
                <a:ln>
                  <a:noFill/>
                </a:ln>
                <a:solidFill>
                  <a:schemeClr val="tx1"/>
                </a:solidFill>
                <a:effectLst/>
                <a:uLnTx/>
                <a:uFillTx/>
                <a:latin typeface="+mn-ea"/>
                <a:ea typeface="+mn-ea"/>
                <a:cs typeface="+mn-cs"/>
              </a:rPr>
              <a:t>fadd.d</a:t>
            </a:r>
            <a:r>
              <a:rPr kumimoji="1" lang="zh-CN" altLang="zh-CN" sz="1800" b="1" i="0" u="none" strike="noStrike" kern="1200" cap="none" spc="0" normalizeH="0" baseline="0" noProof="0" dirty="0">
                <a:ln>
                  <a:noFill/>
                </a:ln>
                <a:solidFill>
                  <a:schemeClr val="tx1"/>
                </a:solidFill>
                <a:effectLst/>
                <a:uLnTx/>
                <a:uFillTx/>
                <a:latin typeface="+mn-ea"/>
                <a:ea typeface="+mn-ea"/>
                <a:cs typeface="+mn-cs"/>
              </a:rPr>
              <a:t>的结果</a:t>
            </a:r>
            <a:r>
              <a:rPr kumimoji="1" lang="zh-CN" altLang="en-US" sz="1800" b="1" i="0" u="none" strike="noStrike" kern="1200" cap="none" spc="0" normalizeH="0" baseline="0" noProof="0" dirty="0">
                <a:ln>
                  <a:noFill/>
                </a:ln>
                <a:solidFill>
                  <a:schemeClr val="tx1"/>
                </a:solidFill>
                <a:effectLst/>
                <a:uLnTx/>
                <a:uFillTx/>
                <a:latin typeface="+mn-ea"/>
                <a:ea typeface="+mn-ea"/>
                <a:cs typeface="+mn-cs"/>
              </a:rPr>
              <a:t>，</a:t>
            </a:r>
            <a:r>
              <a:rPr kumimoji="1" lang="en-US" altLang="en-US" sz="1800" b="1" i="0" u="none" strike="noStrike" kern="1200" cap="none" spc="0" normalizeH="0" baseline="0" noProof="0" dirty="0">
                <a:ln>
                  <a:noFill/>
                </a:ln>
                <a:solidFill>
                  <a:schemeClr val="tx1"/>
                </a:solidFill>
                <a:effectLst/>
                <a:uLnTx/>
                <a:uFillTx/>
                <a:latin typeface="+mn-ea"/>
                <a:ea typeface="+mn-ea"/>
                <a:cs typeface="+mn-cs"/>
              </a:rPr>
              <a:t>$f</a:t>
            </a:r>
            <a:r>
              <a:rPr kumimoji="1" lang="en-US" altLang="zh-CN" sz="1800" b="1" i="0" u="none" strike="noStrike" kern="1200" cap="none" spc="0" normalizeH="0" baseline="0" noProof="0" dirty="0">
                <a:ln>
                  <a:noFill/>
                </a:ln>
                <a:solidFill>
                  <a:schemeClr val="tx1"/>
                </a:solidFill>
                <a:effectLst/>
                <a:uLnTx/>
                <a:uFillTx/>
                <a:latin typeface="+mn-ea"/>
                <a:ea typeface="+mn-ea"/>
                <a:cs typeface="+mn-cs"/>
              </a:rPr>
              <a:t>0</a:t>
            </a:r>
            <a:r>
              <a:rPr kumimoji="1" lang="zh-CN" altLang="en-US" sz="1800" b="1" i="0" u="none" strike="noStrike" kern="1200" cap="none" spc="0" normalizeH="0" baseline="0" noProof="0" dirty="0">
                <a:ln>
                  <a:noFill/>
                </a:ln>
                <a:solidFill>
                  <a:schemeClr val="tx1"/>
                </a:solidFill>
                <a:effectLst/>
                <a:uLnTx/>
                <a:uFillTx/>
                <a:latin typeface="+mn-ea"/>
                <a:ea typeface="+mn-ea"/>
                <a:cs typeface="+mn-cs"/>
              </a:rPr>
              <a:t>最终的结果为</a:t>
            </a:r>
            <a:r>
              <a:rPr kumimoji="1" lang="en-US" altLang="en-US" sz="1800" b="1" i="0" u="none" strike="noStrike" kern="1200" cap="none" spc="0" normalizeH="0" baseline="0" noProof="0" dirty="0">
                <a:ln>
                  <a:noFill/>
                </a:ln>
                <a:solidFill>
                  <a:schemeClr val="tx1"/>
                </a:solidFill>
                <a:effectLst/>
                <a:uLnTx/>
                <a:uFillTx/>
                <a:latin typeface="+mn-ea"/>
                <a:ea typeface="+mn-ea"/>
                <a:cs typeface="+mn-cs"/>
              </a:rPr>
              <a:t>fadd.d</a:t>
            </a:r>
            <a:r>
              <a:rPr kumimoji="1" lang="zh-CN" altLang="en-US" sz="1800" b="1" i="0" u="none" strike="noStrike" kern="1200" cap="none" spc="0" normalizeH="0" baseline="0" noProof="0" dirty="0">
                <a:ln>
                  <a:noFill/>
                </a:ln>
                <a:solidFill>
                  <a:schemeClr val="tx1"/>
                </a:solidFill>
                <a:effectLst/>
                <a:uLnTx/>
                <a:uFillTx/>
                <a:latin typeface="+mn-ea"/>
                <a:ea typeface="+mn-ea"/>
                <a:cs typeface="+mn-cs"/>
              </a:rPr>
              <a:t>的结果</a:t>
            </a:r>
            <a:endParaRPr kumimoji="1" lang="zh-CN" altLang="en-US" sz="18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en-US" altLang="en-US" sz="1800" b="1" i="0" u="none" strike="noStrike" kern="1200" cap="none" spc="0" normalizeH="0" baseline="0" noProof="0" dirty="0">
                <a:ln>
                  <a:noFill/>
                </a:ln>
                <a:solidFill>
                  <a:schemeClr val="tx1"/>
                </a:solidFill>
                <a:effectLst/>
                <a:uLnTx/>
                <a:uFillTx/>
                <a:latin typeface="+mn-ea"/>
                <a:ea typeface="+mn-ea"/>
                <a:cs typeface="+mn-cs"/>
              </a:rPr>
              <a:t>fmul.d/</a:t>
            </a:r>
            <a:r>
              <a:rPr kumimoji="1" lang="en-US" altLang="zh-CN" sz="1800" b="1" i="0" u="none" strike="noStrike" kern="1200" cap="none" spc="0" normalizeH="0" baseline="0" noProof="0" dirty="0">
                <a:ln>
                  <a:noFill/>
                </a:ln>
                <a:solidFill>
                  <a:schemeClr val="tx1"/>
                </a:solidFill>
                <a:effectLst/>
                <a:uLnTx/>
                <a:uFillTx/>
                <a:latin typeface="+mn-ea"/>
                <a:ea typeface="+mn-ea"/>
                <a:cs typeface="+mn-cs"/>
              </a:rPr>
              <a:t>1</a:t>
            </a:r>
            <a:r>
              <a:rPr kumimoji="1" lang="zh-CN" altLang="en-US" sz="1800" b="1" i="0" u="none" strike="noStrike" kern="1200" cap="none" spc="0" normalizeH="0" baseline="0" noProof="0" dirty="0">
                <a:ln>
                  <a:noFill/>
                </a:ln>
                <a:solidFill>
                  <a:schemeClr val="tx1"/>
                </a:solidFill>
                <a:effectLst/>
                <a:uLnTx/>
                <a:uFillTx/>
                <a:latin typeface="+mn-ea"/>
                <a:ea typeface="+mn-ea"/>
                <a:cs typeface="+mn-cs"/>
              </a:rPr>
              <a:t>用</a:t>
            </a:r>
            <a:r>
              <a:rPr kumimoji="1" lang="en-US" altLang="en-US" sz="1800" b="1" i="0" u="none" strike="noStrike" kern="1200" cap="none" spc="0" normalizeH="0" baseline="0" noProof="0" dirty="0">
                <a:ln>
                  <a:noFill/>
                </a:ln>
                <a:solidFill>
                  <a:schemeClr val="tx1"/>
                </a:solidFill>
                <a:effectLst/>
                <a:uLnTx/>
                <a:uFillTx/>
                <a:latin typeface="+mn-ea"/>
                <a:ea typeface="+mn-ea"/>
                <a:cs typeface="+mn-cs"/>
              </a:rPr>
              <a:t>fdiv.d</a:t>
            </a:r>
            <a:r>
              <a:rPr kumimoji="1" lang="zh-CN" altLang="en-US" sz="1800" b="1" i="0" u="none" strike="noStrike" kern="1200" cap="none" spc="0" normalizeH="0" baseline="0" noProof="0" dirty="0">
                <a:ln>
                  <a:noFill/>
                </a:ln>
                <a:solidFill>
                  <a:schemeClr val="tx1"/>
                </a:solidFill>
                <a:effectLst/>
                <a:uLnTx/>
                <a:uFillTx/>
                <a:latin typeface="+mn-ea"/>
                <a:ea typeface="+mn-ea"/>
                <a:cs typeface="+mn-cs"/>
              </a:rPr>
              <a:t>的结果、</a:t>
            </a:r>
            <a:r>
              <a:rPr kumimoji="1" lang="en-US" altLang="en-US" sz="1800" b="1" i="0" u="none" strike="noStrike" kern="1200" cap="none" spc="0" normalizeH="0" baseline="0" noProof="0" dirty="0">
                <a:ln>
                  <a:noFill/>
                </a:ln>
                <a:solidFill>
                  <a:schemeClr val="tx1"/>
                </a:solidFill>
                <a:effectLst/>
                <a:uLnTx/>
                <a:uFillTx/>
                <a:latin typeface="+mn-ea"/>
                <a:ea typeface="+mn-ea"/>
                <a:cs typeface="+mn-cs"/>
              </a:rPr>
              <a:t>fmul.d/</a:t>
            </a:r>
            <a:r>
              <a:rPr kumimoji="1" lang="en-US" altLang="zh-CN" sz="1800" b="1" i="0" u="none" strike="noStrike" kern="1200" cap="none" spc="0" normalizeH="0" baseline="0" noProof="0" dirty="0">
                <a:ln>
                  <a:noFill/>
                </a:ln>
                <a:solidFill>
                  <a:schemeClr val="tx1"/>
                </a:solidFill>
                <a:effectLst/>
                <a:uLnTx/>
                <a:uFillTx/>
                <a:latin typeface="+mn-ea"/>
                <a:ea typeface="+mn-ea"/>
                <a:cs typeface="+mn-cs"/>
              </a:rPr>
              <a:t>2</a:t>
            </a:r>
            <a:r>
              <a:rPr kumimoji="1" lang="zh-CN" altLang="en-US" sz="1800" b="1" i="0" u="none" strike="noStrike" kern="1200" cap="none" spc="0" normalizeH="0" baseline="0" noProof="0" dirty="0">
                <a:ln>
                  <a:noFill/>
                </a:ln>
                <a:solidFill>
                  <a:schemeClr val="tx1"/>
                </a:solidFill>
                <a:effectLst/>
                <a:uLnTx/>
                <a:uFillTx/>
                <a:latin typeface="+mn-ea"/>
                <a:ea typeface="+mn-ea"/>
                <a:cs typeface="+mn-cs"/>
              </a:rPr>
              <a:t>用</a:t>
            </a:r>
            <a:r>
              <a:rPr kumimoji="1" lang="en-US" altLang="en-US" sz="1800" b="1" i="0" u="none" strike="noStrike" kern="1200" cap="none" spc="0" normalizeH="0" baseline="0" noProof="0" dirty="0">
                <a:ln>
                  <a:noFill/>
                </a:ln>
                <a:solidFill>
                  <a:schemeClr val="tx1"/>
                </a:solidFill>
                <a:effectLst/>
                <a:uLnTx/>
                <a:uFillTx/>
                <a:latin typeface="+mn-ea"/>
                <a:ea typeface="+mn-ea"/>
                <a:cs typeface="+mn-cs"/>
              </a:rPr>
              <a:t>fadd.d</a:t>
            </a:r>
            <a:r>
              <a:rPr kumimoji="1" lang="zh-CN" altLang="en-US" sz="1800" b="1" i="0" u="none" strike="noStrike" kern="1200" cap="none" spc="0" normalizeH="0" baseline="0" noProof="0" dirty="0">
                <a:ln>
                  <a:noFill/>
                </a:ln>
                <a:solidFill>
                  <a:schemeClr val="tx1"/>
                </a:solidFill>
                <a:effectLst/>
                <a:uLnTx/>
                <a:uFillTx/>
                <a:latin typeface="+mn-ea"/>
                <a:ea typeface="+mn-ea"/>
                <a:cs typeface="+mn-cs"/>
              </a:rPr>
              <a:t>结果不一定通过</a:t>
            </a:r>
            <a:r>
              <a:rPr kumimoji="1" lang="en-US" altLang="en-US" sz="1800" b="1" i="0" u="none" strike="noStrike" kern="1200" cap="none" spc="0" normalizeH="0" baseline="0" noProof="0" dirty="0">
                <a:ln>
                  <a:noFill/>
                </a:ln>
                <a:solidFill>
                  <a:schemeClr val="tx1"/>
                </a:solidFill>
                <a:effectLst/>
                <a:uLnTx/>
                <a:uFillTx/>
                <a:latin typeface="+mn-ea"/>
                <a:ea typeface="+mn-ea"/>
                <a:cs typeface="+mn-cs"/>
              </a:rPr>
              <a:t>$f</a:t>
            </a:r>
            <a:r>
              <a:rPr kumimoji="1" lang="en-US" altLang="zh-CN" sz="1800" b="1" i="0" u="none" strike="noStrike" kern="1200" cap="none" spc="0" normalizeH="0" baseline="0" noProof="0" dirty="0">
                <a:ln>
                  <a:noFill/>
                </a:ln>
                <a:solidFill>
                  <a:schemeClr val="tx1"/>
                </a:solidFill>
                <a:effectLst/>
                <a:uLnTx/>
                <a:uFillTx/>
                <a:latin typeface="+mn-ea"/>
                <a:ea typeface="+mn-ea"/>
                <a:cs typeface="+mn-cs"/>
              </a:rPr>
              <a:t>0</a:t>
            </a:r>
            <a:endParaRPr kumimoji="1" lang="zh-CN" altLang="en-US" sz="1800" b="1" i="0" u="none" strike="noStrike" kern="1200" cap="none" spc="0" normalizeH="0" baseline="0" noProof="0" dirty="0">
              <a:ln>
                <a:noFill/>
              </a:ln>
              <a:solidFill>
                <a:schemeClr val="tx1"/>
              </a:solidFill>
              <a:effectLst/>
              <a:uLnTx/>
              <a:uFillTx/>
              <a:latin typeface="+mn-ea"/>
              <a:ea typeface="+mn-ea"/>
              <a:cs typeface="+mn-cs"/>
            </a:endParaRPr>
          </a:p>
        </p:txBody>
      </p:sp>
      <p:sp>
        <p:nvSpPr>
          <p:cNvPr id="26626" name="Rectangle 5"/>
          <p:cNvSpPr/>
          <p:nvPr/>
        </p:nvSpPr>
        <p:spPr>
          <a:xfrm>
            <a:off x="477838" y="187325"/>
            <a:ext cx="11234737" cy="622300"/>
          </a:xfrm>
          <a:prstGeom prst="rect">
            <a:avLst/>
          </a:prstGeom>
          <a:noFill/>
          <a:ln w="9525">
            <a:noFill/>
          </a:ln>
        </p:spPr>
        <p:txBody>
          <a:bodyPr anchor="ctr" anchorCtr="0"/>
          <a:p>
            <a:pPr algn="ctr"/>
            <a:r>
              <a:rPr lang="zh-CN" altLang="en-US" sz="3600" dirty="0">
                <a:solidFill>
                  <a:srgbClr val="FF0000"/>
                </a:solidFill>
                <a:latin typeface="Arial" panose="02080604020202020204" pitchFamily="34" charset="0"/>
                <a:ea typeface="黑体" panose="02000500000000000000" pitchFamily="49" charset="-122"/>
              </a:rPr>
              <a:t>解决</a:t>
            </a:r>
            <a:r>
              <a:rPr lang="en-US" altLang="zh-CN" sz="3600" dirty="0">
                <a:solidFill>
                  <a:srgbClr val="FF0000"/>
                </a:solidFill>
                <a:latin typeface="Arial" panose="02080604020202020204" pitchFamily="34" charset="0"/>
                <a:ea typeface="黑体" panose="02000500000000000000" pitchFamily="49" charset="-122"/>
              </a:rPr>
              <a:t>WAW</a:t>
            </a:r>
            <a:r>
              <a:rPr lang="zh-CN" altLang="en-US" sz="3600" dirty="0">
                <a:solidFill>
                  <a:srgbClr val="FF0000"/>
                </a:solidFill>
                <a:latin typeface="Arial" panose="02080604020202020204" pitchFamily="34" charset="0"/>
                <a:ea typeface="黑体" panose="02000500000000000000" pitchFamily="49" charset="-122"/>
              </a:rPr>
              <a:t>和</a:t>
            </a:r>
            <a:r>
              <a:rPr lang="en-US" altLang="zh-CN" sz="3600" dirty="0">
                <a:solidFill>
                  <a:srgbClr val="FF0000"/>
                </a:solidFill>
                <a:latin typeface="Arial" panose="02080604020202020204" pitchFamily="34" charset="0"/>
                <a:ea typeface="黑体" panose="02000500000000000000" pitchFamily="49" charset="-122"/>
              </a:rPr>
              <a:t>WAR</a:t>
            </a:r>
            <a:r>
              <a:rPr lang="zh-CN" altLang="en-US" sz="3600" dirty="0">
                <a:solidFill>
                  <a:srgbClr val="FF0000"/>
                </a:solidFill>
                <a:latin typeface="Arial" panose="02080604020202020204" pitchFamily="34" charset="0"/>
                <a:ea typeface="黑体" panose="02000500000000000000" pitchFamily="49" charset="-122"/>
              </a:rPr>
              <a:t>的办法</a:t>
            </a:r>
            <a:endParaRPr lang="zh-CN" altLang="en-US" sz="3600" dirty="0">
              <a:solidFill>
                <a:srgbClr val="FF0000"/>
              </a:solidFill>
              <a:latin typeface="Arial" panose="02080604020202020204" pitchFamily="34" charset="0"/>
              <a:ea typeface="黑体" panose="02000500000000000000" pitchFamily="49" charset="-122"/>
            </a:endParaRPr>
          </a:p>
        </p:txBody>
      </p:sp>
      <p:sp>
        <p:nvSpPr>
          <p:cNvPr id="26627" name="灯片编号占位符 6"/>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fld id="{9A0DB2DC-4C9A-4742-B13C-FB6460FD3503}" type="slidenum">
              <a:rPr lang="en-US" altLang="zh-CN" sz="1400" dirty="0"/>
            </a:fld>
            <a:endParaRPr lang="en-US" altLang="zh-CN" sz="1400" dirty="0"/>
          </a:p>
        </p:txBody>
      </p:sp>
      <p:sp>
        <p:nvSpPr>
          <p:cNvPr id="26628" name="Text Box 3"/>
          <p:cNvSpPr txBox="1"/>
          <p:nvPr/>
        </p:nvSpPr>
        <p:spPr>
          <a:xfrm>
            <a:off x="4184650" y="4676775"/>
            <a:ext cx="4906963" cy="1784350"/>
          </a:xfrm>
          <a:prstGeom prst="rect">
            <a:avLst/>
          </a:prstGeom>
          <a:noFill/>
          <a:ln w="9525">
            <a:noFill/>
          </a:ln>
        </p:spPr>
        <p:txBody>
          <a:bodyPr anchor="t" anchorCtr="0">
            <a:spAutoFit/>
          </a:bodyPr>
          <a:p>
            <a:pPr defTabSz="914400">
              <a:spcBef>
                <a:spcPct val="50000"/>
              </a:spcBef>
              <a:tabLst>
                <a:tab pos="895350" algn="l"/>
              </a:tabLst>
            </a:pPr>
            <a:r>
              <a:rPr lang="en-US" altLang="en-US" sz="2000" dirty="0">
                <a:latin typeface="宋体" panose="02000500000000000000" pitchFamily="2" charset="-122"/>
                <a:ea typeface="宋体" panose="02000500000000000000" pitchFamily="2" charset="-122"/>
              </a:rPr>
              <a:t>fdiv.d</a:t>
            </a:r>
            <a:r>
              <a:rPr lang="en-US" altLang="zh-CN" sz="2000" dirty="0">
                <a:latin typeface="宋体" panose="02000500000000000000" pitchFamily="2" charset="-122"/>
                <a:ea typeface="宋体" panose="02000500000000000000" pitchFamily="2" charset="-122"/>
              </a:rPr>
              <a:t> </a:t>
            </a:r>
            <a:r>
              <a:rPr lang="en-US" altLang="en-US" sz="2000" dirty="0">
                <a:latin typeface="宋体" panose="02000500000000000000" pitchFamily="2" charset="-122"/>
                <a:ea typeface="宋体" panose="02000500000000000000" pitchFamily="2" charset="-122"/>
              </a:rPr>
              <a:t>	</a:t>
            </a:r>
            <a:r>
              <a:rPr lang="en-US" altLang="en-US" sz="2000" dirty="0">
                <a:solidFill>
                  <a:srgbClr val="FF0000"/>
                </a:solidFill>
                <a:latin typeface="宋体" panose="02000500000000000000" pitchFamily="2" charset="-122"/>
                <a:ea typeface="宋体" panose="02000500000000000000" pitchFamily="2" charset="-122"/>
              </a:rPr>
              <a:t>$f</a:t>
            </a:r>
            <a:r>
              <a:rPr lang="en-US" altLang="zh-CN" sz="2000" dirty="0">
                <a:solidFill>
                  <a:srgbClr val="FF0000"/>
                </a:solidFill>
                <a:latin typeface="宋体" panose="02000500000000000000" pitchFamily="2" charset="-122"/>
                <a:ea typeface="宋体" panose="02000500000000000000" pitchFamily="2" charset="-122"/>
              </a:rPr>
              <a:t>0</a:t>
            </a:r>
            <a:r>
              <a:rPr lang="en-US" altLang="zh-CN" sz="2000" dirty="0">
                <a:latin typeface="宋体" panose="02000500000000000000" pitchFamily="2" charset="-122"/>
                <a:ea typeface="宋体" panose="02000500000000000000" pitchFamily="2" charset="-122"/>
              </a:rPr>
              <a:t>, </a:t>
            </a:r>
            <a:r>
              <a:rPr lang="en-US" altLang="en-US" sz="2000" dirty="0">
                <a:latin typeface="宋体" panose="02000500000000000000" pitchFamily="2" charset="-122"/>
                <a:ea typeface="宋体" panose="02000500000000000000" pitchFamily="2" charset="-122"/>
              </a:rPr>
              <a:t>$f</a:t>
            </a:r>
            <a:r>
              <a:rPr lang="en-US" altLang="zh-CN" sz="2000" dirty="0">
                <a:latin typeface="宋体" panose="02000500000000000000" pitchFamily="2" charset="-122"/>
                <a:ea typeface="宋体" panose="02000500000000000000" pitchFamily="2" charset="-122"/>
              </a:rPr>
              <a:t>1, </a:t>
            </a:r>
            <a:r>
              <a:rPr lang="en-US" altLang="en-US" sz="2000" dirty="0">
                <a:latin typeface="宋体" panose="02000500000000000000" pitchFamily="2" charset="-122"/>
                <a:ea typeface="宋体" panose="02000500000000000000" pitchFamily="2" charset="-122"/>
              </a:rPr>
              <a:t>$f</a:t>
            </a:r>
            <a:r>
              <a:rPr lang="en-US" altLang="zh-CN" sz="2000" dirty="0">
                <a:latin typeface="宋体" panose="02000500000000000000" pitchFamily="2" charset="-122"/>
                <a:ea typeface="宋体" panose="02000500000000000000" pitchFamily="2" charset="-122"/>
              </a:rPr>
              <a:t>2</a:t>
            </a:r>
            <a:endParaRPr lang="en-US" altLang="zh-CN" sz="2000" dirty="0">
              <a:latin typeface="宋体" panose="02000500000000000000" pitchFamily="2" charset="-122"/>
              <a:ea typeface="宋体" panose="02000500000000000000" pitchFamily="2" charset="-122"/>
            </a:endParaRPr>
          </a:p>
          <a:p>
            <a:pPr defTabSz="914400">
              <a:spcBef>
                <a:spcPct val="50000"/>
              </a:spcBef>
              <a:tabLst>
                <a:tab pos="895350" algn="l"/>
              </a:tabLst>
            </a:pPr>
            <a:r>
              <a:rPr lang="en-US" altLang="en-US" sz="2000" dirty="0">
                <a:latin typeface="宋体" panose="02000500000000000000" pitchFamily="2" charset="-122"/>
                <a:ea typeface="宋体" panose="02000500000000000000" pitchFamily="2" charset="-122"/>
              </a:rPr>
              <a:t>fmul.d</a:t>
            </a:r>
            <a:r>
              <a:rPr lang="en-US" altLang="zh-CN" sz="2000" dirty="0">
                <a:latin typeface="宋体" panose="02000500000000000000" pitchFamily="2" charset="-122"/>
                <a:ea typeface="宋体" panose="02000500000000000000" pitchFamily="2" charset="-122"/>
              </a:rPr>
              <a:t> </a:t>
            </a:r>
            <a:r>
              <a:rPr lang="en-US" altLang="en-US" sz="2000" dirty="0">
                <a:latin typeface="宋体" panose="02000500000000000000" pitchFamily="2" charset="-122"/>
                <a:ea typeface="宋体" panose="02000500000000000000" pitchFamily="2" charset="-122"/>
              </a:rPr>
              <a:t>	$f</a:t>
            </a:r>
            <a:r>
              <a:rPr lang="en-US" altLang="zh-CN" sz="2000" dirty="0">
                <a:latin typeface="宋体" panose="02000500000000000000" pitchFamily="2" charset="-122"/>
                <a:ea typeface="宋体" panose="02000500000000000000" pitchFamily="2" charset="-122"/>
              </a:rPr>
              <a:t>5, </a:t>
            </a:r>
            <a:r>
              <a:rPr lang="en-US" altLang="en-US" sz="2000" dirty="0">
                <a:solidFill>
                  <a:srgbClr val="FF0000"/>
                </a:solidFill>
                <a:latin typeface="宋体" panose="02000500000000000000" pitchFamily="2" charset="-122"/>
                <a:ea typeface="宋体" panose="02000500000000000000" pitchFamily="2" charset="-122"/>
              </a:rPr>
              <a:t>$f</a:t>
            </a:r>
            <a:r>
              <a:rPr lang="en-US" altLang="zh-CN" sz="2000" dirty="0">
                <a:solidFill>
                  <a:srgbClr val="FF0000"/>
                </a:solidFill>
                <a:latin typeface="宋体" panose="02000500000000000000" pitchFamily="2" charset="-122"/>
                <a:ea typeface="宋体" panose="02000500000000000000" pitchFamily="2" charset="-122"/>
              </a:rPr>
              <a:t>0</a:t>
            </a:r>
            <a:r>
              <a:rPr lang="en-US" altLang="zh-CN" sz="2000" dirty="0">
                <a:latin typeface="宋体" panose="02000500000000000000" pitchFamily="2" charset="-122"/>
                <a:ea typeface="宋体" panose="02000500000000000000" pitchFamily="2" charset="-122"/>
              </a:rPr>
              <a:t>, </a:t>
            </a:r>
            <a:r>
              <a:rPr lang="en-US" altLang="en-US" sz="2000" dirty="0">
                <a:latin typeface="宋体" panose="02000500000000000000" pitchFamily="2" charset="-122"/>
                <a:ea typeface="宋体" panose="02000500000000000000" pitchFamily="2" charset="-122"/>
              </a:rPr>
              <a:t>$f</a:t>
            </a:r>
            <a:r>
              <a:rPr lang="en-US" altLang="zh-CN" sz="2000" dirty="0">
                <a:latin typeface="宋体" panose="02000500000000000000" pitchFamily="2" charset="-122"/>
                <a:ea typeface="宋体" panose="02000500000000000000" pitchFamily="2" charset="-122"/>
              </a:rPr>
              <a:t>6</a:t>
            </a:r>
            <a:endParaRPr lang="en-US" altLang="zh-CN" sz="2000" dirty="0">
              <a:latin typeface="宋体" panose="02000500000000000000" pitchFamily="2" charset="-122"/>
              <a:ea typeface="宋体" panose="02000500000000000000" pitchFamily="2" charset="-122"/>
            </a:endParaRPr>
          </a:p>
          <a:p>
            <a:pPr defTabSz="914400">
              <a:spcBef>
                <a:spcPct val="50000"/>
              </a:spcBef>
              <a:tabLst>
                <a:tab pos="895350" algn="l"/>
              </a:tabLst>
            </a:pPr>
            <a:r>
              <a:rPr lang="en-US" altLang="en-US" sz="2000" dirty="0">
                <a:latin typeface="宋体" panose="02000500000000000000" pitchFamily="2" charset="-122"/>
                <a:ea typeface="宋体" panose="02000500000000000000" pitchFamily="2" charset="-122"/>
              </a:rPr>
              <a:t>fadd.d</a:t>
            </a:r>
            <a:r>
              <a:rPr lang="en-US" altLang="zh-CN" sz="2000" dirty="0">
                <a:latin typeface="宋体" panose="02000500000000000000" pitchFamily="2" charset="-122"/>
                <a:ea typeface="宋体" panose="02000500000000000000" pitchFamily="2" charset="-122"/>
              </a:rPr>
              <a:t> </a:t>
            </a:r>
            <a:r>
              <a:rPr lang="en-US" altLang="en-US" sz="2000" dirty="0">
                <a:latin typeface="宋体" panose="02000500000000000000" pitchFamily="2" charset="-122"/>
                <a:ea typeface="宋体" panose="02000500000000000000" pitchFamily="2" charset="-122"/>
              </a:rPr>
              <a:t>	</a:t>
            </a:r>
            <a:r>
              <a:rPr lang="en-US" altLang="en-US" sz="2000" dirty="0">
                <a:solidFill>
                  <a:srgbClr val="FF0000"/>
                </a:solidFill>
                <a:latin typeface="宋体" panose="02000500000000000000" pitchFamily="2" charset="-122"/>
                <a:ea typeface="宋体" panose="02000500000000000000" pitchFamily="2" charset="-122"/>
              </a:rPr>
              <a:t>$f</a:t>
            </a:r>
            <a:r>
              <a:rPr lang="en-US" altLang="zh-CN" sz="2000" dirty="0">
                <a:solidFill>
                  <a:srgbClr val="FF0000"/>
                </a:solidFill>
                <a:latin typeface="宋体" panose="02000500000000000000" pitchFamily="2" charset="-122"/>
                <a:ea typeface="宋体" panose="02000500000000000000" pitchFamily="2" charset="-122"/>
              </a:rPr>
              <a:t>0</a:t>
            </a:r>
            <a:r>
              <a:rPr lang="en-US" altLang="zh-CN" sz="2000" dirty="0">
                <a:latin typeface="宋体" panose="02000500000000000000" pitchFamily="2" charset="-122"/>
                <a:ea typeface="宋体" panose="02000500000000000000" pitchFamily="2" charset="-122"/>
              </a:rPr>
              <a:t>, </a:t>
            </a:r>
            <a:r>
              <a:rPr lang="en-US" altLang="en-US" sz="2000" dirty="0">
                <a:latin typeface="宋体" panose="02000500000000000000" pitchFamily="2" charset="-122"/>
                <a:ea typeface="宋体" panose="02000500000000000000" pitchFamily="2" charset="-122"/>
              </a:rPr>
              <a:t>$f</a:t>
            </a:r>
            <a:r>
              <a:rPr lang="en-US" altLang="zh-CN" sz="2000" dirty="0">
                <a:latin typeface="宋体" panose="02000500000000000000" pitchFamily="2" charset="-122"/>
                <a:ea typeface="宋体" panose="02000500000000000000" pitchFamily="2" charset="-122"/>
              </a:rPr>
              <a:t>3, </a:t>
            </a:r>
            <a:r>
              <a:rPr lang="en-US" altLang="en-US" sz="2000" dirty="0">
                <a:latin typeface="宋体" panose="02000500000000000000" pitchFamily="2" charset="-122"/>
                <a:ea typeface="宋体" panose="02000500000000000000" pitchFamily="2" charset="-122"/>
              </a:rPr>
              <a:t>$f</a:t>
            </a:r>
            <a:r>
              <a:rPr lang="en-US" altLang="zh-CN" sz="2000" dirty="0">
                <a:latin typeface="宋体" panose="02000500000000000000" pitchFamily="2" charset="-122"/>
                <a:ea typeface="宋体" panose="02000500000000000000" pitchFamily="2" charset="-122"/>
              </a:rPr>
              <a:t>4</a:t>
            </a:r>
            <a:endParaRPr lang="en-US" altLang="zh-CN" sz="2000" dirty="0">
              <a:latin typeface="宋体" panose="02000500000000000000" pitchFamily="2" charset="-122"/>
              <a:ea typeface="宋体" panose="02000500000000000000" pitchFamily="2" charset="-122"/>
            </a:endParaRPr>
          </a:p>
          <a:p>
            <a:pPr defTabSz="914400">
              <a:spcBef>
                <a:spcPct val="50000"/>
              </a:spcBef>
              <a:tabLst>
                <a:tab pos="895350" algn="l"/>
              </a:tabLst>
            </a:pPr>
            <a:r>
              <a:rPr lang="en-US" altLang="en-US" sz="2000" dirty="0">
                <a:latin typeface="宋体" panose="02000500000000000000" pitchFamily="2" charset="-122"/>
                <a:ea typeface="宋体" panose="02000500000000000000" pitchFamily="2" charset="-122"/>
              </a:rPr>
              <a:t>fmul.d</a:t>
            </a:r>
            <a:r>
              <a:rPr lang="en-US" altLang="zh-CN" sz="2000" dirty="0">
                <a:latin typeface="宋体" panose="02000500000000000000" pitchFamily="2" charset="-122"/>
                <a:ea typeface="宋体" panose="02000500000000000000" pitchFamily="2" charset="-122"/>
              </a:rPr>
              <a:t> </a:t>
            </a:r>
            <a:r>
              <a:rPr lang="en-US" altLang="en-US" sz="2000" dirty="0">
                <a:latin typeface="宋体" panose="02000500000000000000" pitchFamily="2" charset="-122"/>
                <a:ea typeface="宋体" panose="02000500000000000000" pitchFamily="2" charset="-122"/>
              </a:rPr>
              <a:t>	$f</a:t>
            </a:r>
            <a:r>
              <a:rPr lang="en-US" altLang="zh-CN" sz="2000" dirty="0">
                <a:latin typeface="宋体" panose="02000500000000000000" pitchFamily="2" charset="-122"/>
                <a:ea typeface="宋体" panose="02000500000000000000" pitchFamily="2" charset="-122"/>
              </a:rPr>
              <a:t>7, </a:t>
            </a:r>
            <a:r>
              <a:rPr lang="en-US" altLang="en-US" sz="2000" dirty="0">
                <a:solidFill>
                  <a:srgbClr val="FF0000"/>
                </a:solidFill>
                <a:latin typeface="宋体" panose="02000500000000000000" pitchFamily="2" charset="-122"/>
                <a:ea typeface="宋体" panose="02000500000000000000" pitchFamily="2" charset="-122"/>
              </a:rPr>
              <a:t>$f</a:t>
            </a:r>
            <a:r>
              <a:rPr lang="en-US" altLang="zh-CN" sz="2000" dirty="0">
                <a:solidFill>
                  <a:srgbClr val="FF0000"/>
                </a:solidFill>
                <a:latin typeface="宋体" panose="02000500000000000000" pitchFamily="2" charset="-122"/>
                <a:ea typeface="宋体" panose="02000500000000000000" pitchFamily="2" charset="-122"/>
              </a:rPr>
              <a:t>0</a:t>
            </a:r>
            <a:r>
              <a:rPr lang="en-US" altLang="zh-CN" sz="2000" dirty="0">
                <a:latin typeface="宋体" panose="02000500000000000000" pitchFamily="2" charset="-122"/>
                <a:ea typeface="宋体" panose="02000500000000000000" pitchFamily="2" charset="-122"/>
              </a:rPr>
              <a:t>, </a:t>
            </a:r>
            <a:r>
              <a:rPr lang="en-US" altLang="en-US" sz="2000" dirty="0">
                <a:latin typeface="宋体" panose="02000500000000000000" pitchFamily="2" charset="-122"/>
                <a:ea typeface="宋体" panose="02000500000000000000" pitchFamily="2" charset="-122"/>
              </a:rPr>
              <a:t>$f</a:t>
            </a:r>
            <a:r>
              <a:rPr lang="en-US" altLang="zh-CN" sz="2000" dirty="0">
                <a:latin typeface="宋体" panose="02000500000000000000" pitchFamily="2" charset="-122"/>
                <a:ea typeface="宋体" panose="02000500000000000000" pitchFamily="2" charset="-122"/>
              </a:rPr>
              <a:t>8</a:t>
            </a:r>
            <a:endParaRPr lang="en-US" altLang="zh-CN" dirty="0">
              <a:latin typeface="宋体" panose="02000500000000000000" pitchFamily="2" charset="-122"/>
              <a:ea typeface="宋体" panose="02000500000000000000"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Rectangle 2"/>
          <p:cNvSpPr>
            <a:spLocks noGrp="1"/>
          </p:cNvSpPr>
          <p:nvPr>
            <p:ph idx="1"/>
          </p:nvPr>
        </p:nvSpPr>
        <p:spPr>
          <a:xfrm>
            <a:off x="233363" y="908050"/>
            <a:ext cx="11771312" cy="4933950"/>
          </a:xfrm>
        </p:spPr>
        <p:txBody>
          <a:bodyPr vert="horz" wrap="square" lIns="91440" tIns="45720" rIns="91440" bIns="45720" anchor="t" anchorCtr="0"/>
          <a:p>
            <a:pPr eaLnBrk="1" hangingPunct="1"/>
            <a:r>
              <a:rPr lang="zh-CN" altLang="en-US" dirty="0"/>
              <a:t>为了避免fmul.d/</a:t>
            </a:r>
            <a:r>
              <a:rPr lang="en-US" altLang="zh-CN" dirty="0"/>
              <a:t>1</a:t>
            </a:r>
            <a:r>
              <a:rPr lang="zh-CN" altLang="en-US" dirty="0"/>
              <a:t>读fadd.d写的$f</a:t>
            </a:r>
            <a:r>
              <a:rPr lang="en-US" altLang="zh-CN" dirty="0"/>
              <a:t>0</a:t>
            </a:r>
            <a:r>
              <a:rPr lang="zh-CN" altLang="en-US" dirty="0"/>
              <a:t>值，fmul.d/</a:t>
            </a:r>
            <a:r>
              <a:rPr lang="en-US" altLang="zh-CN" dirty="0"/>
              <a:t>2</a:t>
            </a:r>
            <a:r>
              <a:rPr lang="zh-CN" altLang="zh-CN" dirty="0"/>
              <a:t>读</a:t>
            </a:r>
            <a:r>
              <a:rPr lang="zh-CN" altLang="en-US" dirty="0"/>
              <a:t>fdiv.d</a:t>
            </a:r>
            <a:r>
              <a:rPr lang="zh-CN" altLang="zh-CN" dirty="0"/>
              <a:t>写的</a:t>
            </a:r>
            <a:r>
              <a:rPr lang="zh-CN" altLang="en-US" dirty="0"/>
              <a:t>$f</a:t>
            </a:r>
            <a:r>
              <a:rPr lang="en-US" altLang="zh-CN" dirty="0"/>
              <a:t>0</a:t>
            </a:r>
            <a:r>
              <a:rPr lang="zh-CN" altLang="zh-CN" dirty="0"/>
              <a:t>值</a:t>
            </a:r>
            <a:endParaRPr lang="zh-CN" altLang="en-US" dirty="0"/>
          </a:p>
          <a:p>
            <a:pPr lvl="1" eaLnBrk="1" hangingPunct="1"/>
            <a:r>
              <a:rPr lang="zh-CN" altLang="en-US" dirty="0"/>
              <a:t>也可以在fmul.d/</a:t>
            </a:r>
            <a:r>
              <a:rPr lang="en-US" altLang="zh-CN" dirty="0"/>
              <a:t>1</a:t>
            </a:r>
            <a:r>
              <a:rPr lang="zh-CN" altLang="en-US" dirty="0"/>
              <a:t>的输入端指定只接收fdiv.d的输出值，在fmul.d/</a:t>
            </a:r>
            <a:r>
              <a:rPr lang="en-US" altLang="zh-CN" dirty="0"/>
              <a:t>2</a:t>
            </a:r>
            <a:r>
              <a:rPr lang="zh-CN" altLang="en-US" dirty="0"/>
              <a:t>的输入端指定只接收fadd.d的输出值，相当于fdiv.d直接把结果写到fmul.d/</a:t>
            </a:r>
            <a:r>
              <a:rPr lang="en-US" altLang="zh-CN" dirty="0"/>
              <a:t>1</a:t>
            </a:r>
            <a:r>
              <a:rPr lang="zh-CN" altLang="en-US" dirty="0"/>
              <a:t>的输入端，fadd.d直接把结果写到fmul.d/</a:t>
            </a:r>
            <a:r>
              <a:rPr lang="en-US" altLang="zh-CN" dirty="0"/>
              <a:t>2</a:t>
            </a:r>
            <a:r>
              <a:rPr lang="zh-CN" altLang="en-US" dirty="0"/>
              <a:t>的输入端。（记得</a:t>
            </a:r>
            <a:r>
              <a:rPr lang="en-US" altLang="zh-CN" dirty="0"/>
              <a:t>Forward</a:t>
            </a:r>
            <a:r>
              <a:rPr lang="zh-CN" altLang="en-US" dirty="0"/>
              <a:t>技术吗？）</a:t>
            </a:r>
            <a:endParaRPr lang="zh-CN" altLang="en-US" dirty="0"/>
          </a:p>
          <a:p>
            <a:pPr lvl="1" eaLnBrk="1" hangingPunct="1"/>
            <a:r>
              <a:rPr lang="zh-CN" altLang="en-US" dirty="0"/>
              <a:t>要求：</a:t>
            </a:r>
            <a:r>
              <a:rPr lang="en-US" altLang="zh-CN" dirty="0"/>
              <a:t>(1)</a:t>
            </a:r>
            <a:r>
              <a:rPr lang="zh-CN" altLang="en-US" dirty="0"/>
              <a:t>fdiv.d的输出连到fmul.d/</a:t>
            </a:r>
            <a:r>
              <a:rPr lang="en-US" altLang="zh-CN" dirty="0"/>
              <a:t>1</a:t>
            </a:r>
            <a:r>
              <a:rPr lang="zh-CN" altLang="zh-CN" dirty="0"/>
              <a:t>的输入，</a:t>
            </a:r>
            <a:r>
              <a:rPr lang="zh-CN" altLang="en-US" dirty="0"/>
              <a:t>fadd.d</a:t>
            </a:r>
            <a:r>
              <a:rPr lang="zh-CN" altLang="zh-CN" dirty="0"/>
              <a:t>的输出连接到</a:t>
            </a:r>
            <a:r>
              <a:rPr lang="zh-CN" altLang="en-US" dirty="0"/>
              <a:t>fmul.d/</a:t>
            </a:r>
            <a:r>
              <a:rPr lang="en-US" altLang="zh-CN" dirty="0"/>
              <a:t>2</a:t>
            </a:r>
            <a:r>
              <a:rPr lang="zh-CN" altLang="zh-CN" dirty="0"/>
              <a:t>的输入; </a:t>
            </a:r>
            <a:r>
              <a:rPr lang="en-US" altLang="zh-CN" dirty="0"/>
              <a:t>(2)</a:t>
            </a:r>
            <a:r>
              <a:rPr lang="zh-CN" altLang="en-US" dirty="0"/>
              <a:t>fmul.d/</a:t>
            </a:r>
            <a:r>
              <a:rPr lang="en-US" altLang="zh-CN" dirty="0"/>
              <a:t>1</a:t>
            </a:r>
            <a:r>
              <a:rPr lang="zh-CN" altLang="en-US" dirty="0"/>
              <a:t>和fmuld./</a:t>
            </a:r>
            <a:r>
              <a:rPr lang="en-US" altLang="zh-CN" dirty="0"/>
              <a:t>2</a:t>
            </a:r>
            <a:r>
              <a:rPr lang="zh-CN" altLang="en-US" dirty="0"/>
              <a:t>的输入端有寄存器，这些寄存器能够指定接收哪个部件的输出作为自己的值</a:t>
            </a:r>
            <a:endParaRPr lang="zh-CN" altLang="en-US" dirty="0"/>
          </a:p>
          <a:p>
            <a:pPr eaLnBrk="1" hangingPunct="1"/>
            <a:r>
              <a:rPr lang="zh-CN" altLang="zh-CN" dirty="0"/>
              <a:t>同样，为了避免</a:t>
            </a:r>
            <a:r>
              <a:rPr lang="zh-CN" altLang="en-US" dirty="0"/>
              <a:t>$f</a:t>
            </a:r>
            <a:r>
              <a:rPr lang="en-US" altLang="zh-CN" dirty="0"/>
              <a:t>0</a:t>
            </a:r>
            <a:r>
              <a:rPr lang="zh-CN" altLang="zh-CN" dirty="0"/>
              <a:t>的最终值为fdiv.d所写的值</a:t>
            </a:r>
            <a:endParaRPr lang="zh-CN" altLang="zh-CN" dirty="0"/>
          </a:p>
          <a:p>
            <a:pPr lvl="1" eaLnBrk="1" hangingPunct="1"/>
            <a:r>
              <a:rPr lang="zh-CN" altLang="zh-CN" dirty="0"/>
              <a:t>可以在</a:t>
            </a:r>
            <a:r>
              <a:rPr lang="zh-CN" altLang="en-US" dirty="0"/>
              <a:t>$f</a:t>
            </a:r>
            <a:r>
              <a:rPr lang="en-US" altLang="zh-CN" dirty="0"/>
              <a:t>0</a:t>
            </a:r>
            <a:r>
              <a:rPr lang="zh-CN" altLang="zh-CN" dirty="0"/>
              <a:t>记录它当前接收哪个功能部件所写的值</a:t>
            </a:r>
            <a:endParaRPr lang="zh-CN" altLang="zh-CN" dirty="0"/>
          </a:p>
          <a:p>
            <a:pPr lvl="1" eaLnBrk="1" hangingPunct="1"/>
            <a:r>
              <a:rPr lang="zh-CN" altLang="zh-CN" dirty="0"/>
              <a:t>要求</a:t>
            </a:r>
            <a:r>
              <a:rPr lang="zh-CN" altLang="en-US" dirty="0"/>
              <a:t>$f</a:t>
            </a:r>
            <a:r>
              <a:rPr lang="en-US" altLang="zh-CN" dirty="0"/>
              <a:t>0</a:t>
            </a:r>
            <a:r>
              <a:rPr lang="zh-CN" altLang="zh-CN" dirty="0"/>
              <a:t>有一个标志</a:t>
            </a:r>
            <a:endParaRPr lang="zh-CN" altLang="en-US" dirty="0"/>
          </a:p>
        </p:txBody>
      </p:sp>
      <p:sp>
        <p:nvSpPr>
          <p:cNvPr id="27650" name="Rectangle 4"/>
          <p:cNvSpPr/>
          <p:nvPr/>
        </p:nvSpPr>
        <p:spPr>
          <a:xfrm>
            <a:off x="477838" y="187325"/>
            <a:ext cx="11234737" cy="622300"/>
          </a:xfrm>
          <a:prstGeom prst="rect">
            <a:avLst/>
          </a:prstGeom>
          <a:noFill/>
          <a:ln w="9525">
            <a:noFill/>
          </a:ln>
        </p:spPr>
        <p:txBody>
          <a:bodyPr anchor="ctr" anchorCtr="0"/>
          <a:p>
            <a:pPr algn="ctr"/>
            <a:r>
              <a:rPr lang="zh-CN" altLang="en-US" sz="3600" dirty="0">
                <a:solidFill>
                  <a:srgbClr val="FF0000"/>
                </a:solidFill>
                <a:latin typeface="Arial" panose="02080604020202020204" pitchFamily="34" charset="0"/>
                <a:ea typeface="黑体" panose="02000500000000000000" pitchFamily="49" charset="-122"/>
              </a:rPr>
              <a:t>解决</a:t>
            </a:r>
            <a:r>
              <a:rPr lang="en-US" altLang="zh-CN" sz="3600" dirty="0">
                <a:solidFill>
                  <a:srgbClr val="FF0000"/>
                </a:solidFill>
                <a:latin typeface="Arial" panose="02080604020202020204" pitchFamily="34" charset="0"/>
                <a:ea typeface="黑体" panose="02000500000000000000" pitchFamily="49" charset="-122"/>
              </a:rPr>
              <a:t>WAW</a:t>
            </a:r>
            <a:r>
              <a:rPr lang="zh-CN" altLang="en-US" sz="3600" dirty="0">
                <a:solidFill>
                  <a:srgbClr val="FF0000"/>
                </a:solidFill>
                <a:latin typeface="Arial" panose="02080604020202020204" pitchFamily="34" charset="0"/>
                <a:ea typeface="黑体" panose="02000500000000000000" pitchFamily="49" charset="-122"/>
              </a:rPr>
              <a:t>和</a:t>
            </a:r>
            <a:r>
              <a:rPr lang="en-US" altLang="zh-CN" sz="3600" dirty="0">
                <a:solidFill>
                  <a:srgbClr val="FF0000"/>
                </a:solidFill>
                <a:latin typeface="Arial" panose="02080604020202020204" pitchFamily="34" charset="0"/>
                <a:ea typeface="黑体" panose="02000500000000000000" pitchFamily="49" charset="-122"/>
              </a:rPr>
              <a:t>WAR</a:t>
            </a:r>
            <a:r>
              <a:rPr lang="zh-CN" altLang="en-US" sz="3600" dirty="0">
                <a:solidFill>
                  <a:srgbClr val="FF0000"/>
                </a:solidFill>
                <a:latin typeface="Arial" panose="02080604020202020204" pitchFamily="34" charset="0"/>
                <a:ea typeface="黑体" panose="02000500000000000000" pitchFamily="49" charset="-122"/>
              </a:rPr>
              <a:t>的办法</a:t>
            </a:r>
            <a:endParaRPr lang="zh-CN" altLang="en-US" sz="3600" dirty="0">
              <a:solidFill>
                <a:srgbClr val="FF0000"/>
              </a:solidFill>
              <a:latin typeface="Arial" panose="02080604020202020204" pitchFamily="34" charset="0"/>
              <a:ea typeface="黑体" panose="02000500000000000000" pitchFamily="49" charset="-122"/>
            </a:endParaRPr>
          </a:p>
        </p:txBody>
      </p:sp>
      <p:sp>
        <p:nvSpPr>
          <p:cNvPr id="27651" name="灯片编号占位符 6"/>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fld id="{9A0DB2DC-4C9A-4742-B13C-FB6460FD3503}" type="slidenum">
              <a:rPr lang="en-US" altLang="zh-CN" sz="1400" dirty="0"/>
            </a:fld>
            <a:endParaRPr lang="en-US" altLang="zh-CN" sz="1400" dirty="0"/>
          </a:p>
        </p:txBody>
      </p:sp>
      <p:sp>
        <p:nvSpPr>
          <p:cNvPr id="27652" name="Text Box 3"/>
          <p:cNvSpPr txBox="1"/>
          <p:nvPr/>
        </p:nvSpPr>
        <p:spPr>
          <a:xfrm>
            <a:off x="7696200" y="4303713"/>
            <a:ext cx="4249738" cy="1784350"/>
          </a:xfrm>
          <a:prstGeom prst="rect">
            <a:avLst/>
          </a:prstGeom>
          <a:noFill/>
          <a:ln w="9525">
            <a:noFill/>
          </a:ln>
        </p:spPr>
        <p:txBody>
          <a:bodyPr anchor="t" anchorCtr="0">
            <a:spAutoFit/>
          </a:bodyPr>
          <a:p>
            <a:pPr defTabSz="914400">
              <a:spcBef>
                <a:spcPct val="50000"/>
              </a:spcBef>
              <a:tabLst>
                <a:tab pos="895350" algn="l"/>
              </a:tabLst>
            </a:pPr>
            <a:r>
              <a:rPr lang="en-US" altLang="en-US" sz="2000" dirty="0">
                <a:latin typeface="宋体" panose="02000500000000000000" pitchFamily="2" charset="-122"/>
                <a:ea typeface="宋体" panose="02000500000000000000" pitchFamily="2" charset="-122"/>
              </a:rPr>
              <a:t>fdiv.d</a:t>
            </a:r>
            <a:r>
              <a:rPr lang="en-US" altLang="zh-CN" sz="2000" dirty="0">
                <a:latin typeface="宋体" panose="02000500000000000000" pitchFamily="2" charset="-122"/>
                <a:ea typeface="宋体" panose="02000500000000000000" pitchFamily="2" charset="-122"/>
              </a:rPr>
              <a:t> </a:t>
            </a:r>
            <a:r>
              <a:rPr lang="en-US" altLang="en-US" sz="2000" dirty="0">
                <a:latin typeface="宋体" panose="02000500000000000000" pitchFamily="2" charset="-122"/>
                <a:ea typeface="宋体" panose="02000500000000000000" pitchFamily="2" charset="-122"/>
              </a:rPr>
              <a:t>	</a:t>
            </a:r>
            <a:r>
              <a:rPr lang="en-US" altLang="en-US" sz="2000" dirty="0">
                <a:solidFill>
                  <a:srgbClr val="FF0000"/>
                </a:solidFill>
                <a:latin typeface="宋体" panose="02000500000000000000" pitchFamily="2" charset="-122"/>
                <a:ea typeface="宋体" panose="02000500000000000000" pitchFamily="2" charset="-122"/>
              </a:rPr>
              <a:t>$f</a:t>
            </a:r>
            <a:r>
              <a:rPr lang="en-US" altLang="zh-CN" sz="2000" dirty="0">
                <a:solidFill>
                  <a:srgbClr val="FF0000"/>
                </a:solidFill>
                <a:latin typeface="宋体" panose="02000500000000000000" pitchFamily="2" charset="-122"/>
                <a:ea typeface="宋体" panose="02000500000000000000" pitchFamily="2" charset="-122"/>
              </a:rPr>
              <a:t>0</a:t>
            </a:r>
            <a:r>
              <a:rPr lang="en-US" altLang="zh-CN" sz="2000" dirty="0">
                <a:latin typeface="宋体" panose="02000500000000000000" pitchFamily="2" charset="-122"/>
                <a:ea typeface="宋体" panose="02000500000000000000" pitchFamily="2" charset="-122"/>
              </a:rPr>
              <a:t>, </a:t>
            </a:r>
            <a:r>
              <a:rPr lang="en-US" altLang="en-US" sz="2000" dirty="0">
                <a:latin typeface="宋体" panose="02000500000000000000" pitchFamily="2" charset="-122"/>
                <a:ea typeface="宋体" panose="02000500000000000000" pitchFamily="2" charset="-122"/>
              </a:rPr>
              <a:t>$f</a:t>
            </a:r>
            <a:r>
              <a:rPr lang="en-US" altLang="zh-CN" sz="2000" dirty="0">
                <a:latin typeface="宋体" panose="02000500000000000000" pitchFamily="2" charset="-122"/>
                <a:ea typeface="宋体" panose="02000500000000000000" pitchFamily="2" charset="-122"/>
              </a:rPr>
              <a:t>1, </a:t>
            </a:r>
            <a:r>
              <a:rPr lang="en-US" altLang="en-US" sz="2000" dirty="0">
                <a:latin typeface="宋体" panose="02000500000000000000" pitchFamily="2" charset="-122"/>
                <a:ea typeface="宋体" panose="02000500000000000000" pitchFamily="2" charset="-122"/>
              </a:rPr>
              <a:t>$f</a:t>
            </a:r>
            <a:r>
              <a:rPr lang="en-US" altLang="zh-CN" sz="2000" dirty="0">
                <a:latin typeface="宋体" panose="02000500000000000000" pitchFamily="2" charset="-122"/>
                <a:ea typeface="宋体" panose="02000500000000000000" pitchFamily="2" charset="-122"/>
              </a:rPr>
              <a:t>2</a:t>
            </a:r>
            <a:endParaRPr lang="en-US" altLang="zh-CN" sz="2000" dirty="0">
              <a:latin typeface="宋体" panose="02000500000000000000" pitchFamily="2" charset="-122"/>
              <a:ea typeface="宋体" panose="02000500000000000000" pitchFamily="2" charset="-122"/>
            </a:endParaRPr>
          </a:p>
          <a:p>
            <a:pPr defTabSz="914400">
              <a:spcBef>
                <a:spcPct val="50000"/>
              </a:spcBef>
              <a:tabLst>
                <a:tab pos="895350" algn="l"/>
              </a:tabLst>
            </a:pPr>
            <a:r>
              <a:rPr lang="en-US" altLang="en-US" sz="2000" dirty="0">
                <a:latin typeface="宋体" panose="02000500000000000000" pitchFamily="2" charset="-122"/>
                <a:ea typeface="宋体" panose="02000500000000000000" pitchFamily="2" charset="-122"/>
              </a:rPr>
              <a:t>fmul.d</a:t>
            </a:r>
            <a:r>
              <a:rPr lang="en-US" altLang="zh-CN" sz="2000" dirty="0">
                <a:latin typeface="宋体" panose="02000500000000000000" pitchFamily="2" charset="-122"/>
                <a:ea typeface="宋体" panose="02000500000000000000" pitchFamily="2" charset="-122"/>
              </a:rPr>
              <a:t> </a:t>
            </a:r>
            <a:r>
              <a:rPr lang="en-US" altLang="en-US" sz="2000" dirty="0">
                <a:latin typeface="宋体" panose="02000500000000000000" pitchFamily="2" charset="-122"/>
                <a:ea typeface="宋体" panose="02000500000000000000" pitchFamily="2" charset="-122"/>
              </a:rPr>
              <a:t>	$f</a:t>
            </a:r>
            <a:r>
              <a:rPr lang="en-US" altLang="zh-CN" sz="2000" dirty="0">
                <a:latin typeface="宋体" panose="02000500000000000000" pitchFamily="2" charset="-122"/>
                <a:ea typeface="宋体" panose="02000500000000000000" pitchFamily="2" charset="-122"/>
              </a:rPr>
              <a:t>5, </a:t>
            </a:r>
            <a:r>
              <a:rPr lang="en-US" altLang="en-US" sz="2000" dirty="0">
                <a:solidFill>
                  <a:srgbClr val="FF0000"/>
                </a:solidFill>
                <a:latin typeface="宋体" panose="02000500000000000000" pitchFamily="2" charset="-122"/>
                <a:ea typeface="宋体" panose="02000500000000000000" pitchFamily="2" charset="-122"/>
              </a:rPr>
              <a:t>$f</a:t>
            </a:r>
            <a:r>
              <a:rPr lang="en-US" altLang="zh-CN" sz="2000" dirty="0">
                <a:solidFill>
                  <a:srgbClr val="FF0000"/>
                </a:solidFill>
                <a:latin typeface="宋体" panose="02000500000000000000" pitchFamily="2" charset="-122"/>
                <a:ea typeface="宋体" panose="02000500000000000000" pitchFamily="2" charset="-122"/>
              </a:rPr>
              <a:t>0</a:t>
            </a:r>
            <a:r>
              <a:rPr lang="en-US" altLang="zh-CN" sz="2000" dirty="0">
                <a:latin typeface="宋体" panose="02000500000000000000" pitchFamily="2" charset="-122"/>
                <a:ea typeface="宋体" panose="02000500000000000000" pitchFamily="2" charset="-122"/>
              </a:rPr>
              <a:t>, </a:t>
            </a:r>
            <a:r>
              <a:rPr lang="en-US" altLang="en-US" sz="2000" dirty="0">
                <a:latin typeface="宋体" panose="02000500000000000000" pitchFamily="2" charset="-122"/>
                <a:ea typeface="宋体" panose="02000500000000000000" pitchFamily="2" charset="-122"/>
              </a:rPr>
              <a:t>$f</a:t>
            </a:r>
            <a:r>
              <a:rPr lang="en-US" altLang="zh-CN" sz="2000" dirty="0">
                <a:latin typeface="宋体" panose="02000500000000000000" pitchFamily="2" charset="-122"/>
                <a:ea typeface="宋体" panose="02000500000000000000" pitchFamily="2" charset="-122"/>
              </a:rPr>
              <a:t>6</a:t>
            </a:r>
            <a:endParaRPr lang="en-US" altLang="zh-CN" sz="2000" dirty="0">
              <a:latin typeface="宋体" panose="02000500000000000000" pitchFamily="2" charset="-122"/>
              <a:ea typeface="宋体" panose="02000500000000000000" pitchFamily="2" charset="-122"/>
            </a:endParaRPr>
          </a:p>
          <a:p>
            <a:pPr defTabSz="914400">
              <a:spcBef>
                <a:spcPct val="50000"/>
              </a:spcBef>
              <a:tabLst>
                <a:tab pos="895350" algn="l"/>
              </a:tabLst>
            </a:pPr>
            <a:r>
              <a:rPr lang="en-US" altLang="en-US" sz="2000" dirty="0">
                <a:latin typeface="宋体" panose="02000500000000000000" pitchFamily="2" charset="-122"/>
                <a:ea typeface="宋体" panose="02000500000000000000" pitchFamily="2" charset="-122"/>
              </a:rPr>
              <a:t>fadd.d</a:t>
            </a:r>
            <a:r>
              <a:rPr lang="en-US" altLang="zh-CN" sz="2000" dirty="0">
                <a:latin typeface="宋体" panose="02000500000000000000" pitchFamily="2" charset="-122"/>
                <a:ea typeface="宋体" panose="02000500000000000000" pitchFamily="2" charset="-122"/>
              </a:rPr>
              <a:t> </a:t>
            </a:r>
            <a:r>
              <a:rPr lang="en-US" altLang="en-US" sz="2000" dirty="0">
                <a:latin typeface="宋体" panose="02000500000000000000" pitchFamily="2" charset="-122"/>
                <a:ea typeface="宋体" panose="02000500000000000000" pitchFamily="2" charset="-122"/>
              </a:rPr>
              <a:t>	</a:t>
            </a:r>
            <a:r>
              <a:rPr lang="en-US" altLang="en-US" sz="2000" dirty="0">
                <a:solidFill>
                  <a:srgbClr val="FF0000"/>
                </a:solidFill>
                <a:latin typeface="宋体" panose="02000500000000000000" pitchFamily="2" charset="-122"/>
                <a:ea typeface="宋体" panose="02000500000000000000" pitchFamily="2" charset="-122"/>
              </a:rPr>
              <a:t>$f</a:t>
            </a:r>
            <a:r>
              <a:rPr lang="en-US" altLang="zh-CN" sz="2000" dirty="0">
                <a:solidFill>
                  <a:srgbClr val="FF0000"/>
                </a:solidFill>
                <a:latin typeface="宋体" panose="02000500000000000000" pitchFamily="2" charset="-122"/>
                <a:ea typeface="宋体" panose="02000500000000000000" pitchFamily="2" charset="-122"/>
              </a:rPr>
              <a:t>0</a:t>
            </a:r>
            <a:r>
              <a:rPr lang="en-US" altLang="zh-CN" sz="2000" dirty="0">
                <a:latin typeface="宋体" panose="02000500000000000000" pitchFamily="2" charset="-122"/>
                <a:ea typeface="宋体" panose="02000500000000000000" pitchFamily="2" charset="-122"/>
              </a:rPr>
              <a:t>, </a:t>
            </a:r>
            <a:r>
              <a:rPr lang="en-US" altLang="en-US" sz="2000" dirty="0">
                <a:latin typeface="宋体" panose="02000500000000000000" pitchFamily="2" charset="-122"/>
                <a:ea typeface="宋体" panose="02000500000000000000" pitchFamily="2" charset="-122"/>
              </a:rPr>
              <a:t>$f</a:t>
            </a:r>
            <a:r>
              <a:rPr lang="en-US" altLang="zh-CN" sz="2000" dirty="0">
                <a:latin typeface="宋体" panose="02000500000000000000" pitchFamily="2" charset="-122"/>
                <a:ea typeface="宋体" panose="02000500000000000000" pitchFamily="2" charset="-122"/>
              </a:rPr>
              <a:t>3, </a:t>
            </a:r>
            <a:r>
              <a:rPr lang="en-US" altLang="en-US" sz="2000" dirty="0">
                <a:latin typeface="宋体" panose="02000500000000000000" pitchFamily="2" charset="-122"/>
                <a:ea typeface="宋体" panose="02000500000000000000" pitchFamily="2" charset="-122"/>
              </a:rPr>
              <a:t>$f</a:t>
            </a:r>
            <a:r>
              <a:rPr lang="en-US" altLang="zh-CN" sz="2000" dirty="0">
                <a:latin typeface="宋体" panose="02000500000000000000" pitchFamily="2" charset="-122"/>
                <a:ea typeface="宋体" panose="02000500000000000000" pitchFamily="2" charset="-122"/>
              </a:rPr>
              <a:t>4</a:t>
            </a:r>
            <a:endParaRPr lang="en-US" altLang="zh-CN" sz="2000" dirty="0">
              <a:latin typeface="宋体" panose="02000500000000000000" pitchFamily="2" charset="-122"/>
              <a:ea typeface="宋体" panose="02000500000000000000" pitchFamily="2" charset="-122"/>
            </a:endParaRPr>
          </a:p>
          <a:p>
            <a:pPr defTabSz="914400">
              <a:spcBef>
                <a:spcPct val="50000"/>
              </a:spcBef>
              <a:tabLst>
                <a:tab pos="895350" algn="l"/>
              </a:tabLst>
            </a:pPr>
            <a:r>
              <a:rPr lang="en-US" altLang="en-US" sz="2000" dirty="0">
                <a:latin typeface="宋体" panose="02000500000000000000" pitchFamily="2" charset="-122"/>
                <a:ea typeface="宋体" panose="02000500000000000000" pitchFamily="2" charset="-122"/>
              </a:rPr>
              <a:t>fmul.d</a:t>
            </a:r>
            <a:r>
              <a:rPr lang="en-US" altLang="zh-CN" sz="2000" dirty="0">
                <a:latin typeface="宋体" panose="02000500000000000000" pitchFamily="2" charset="-122"/>
                <a:ea typeface="宋体" panose="02000500000000000000" pitchFamily="2" charset="-122"/>
              </a:rPr>
              <a:t> </a:t>
            </a:r>
            <a:r>
              <a:rPr lang="en-US" altLang="en-US" sz="2000" dirty="0">
                <a:latin typeface="宋体" panose="02000500000000000000" pitchFamily="2" charset="-122"/>
                <a:ea typeface="宋体" panose="02000500000000000000" pitchFamily="2" charset="-122"/>
              </a:rPr>
              <a:t>	$f</a:t>
            </a:r>
            <a:r>
              <a:rPr lang="en-US" altLang="zh-CN" sz="2000" dirty="0">
                <a:latin typeface="宋体" panose="02000500000000000000" pitchFamily="2" charset="-122"/>
                <a:ea typeface="宋体" panose="02000500000000000000" pitchFamily="2" charset="-122"/>
              </a:rPr>
              <a:t>7, </a:t>
            </a:r>
            <a:r>
              <a:rPr lang="en-US" altLang="en-US" sz="2000" dirty="0">
                <a:solidFill>
                  <a:srgbClr val="FF0000"/>
                </a:solidFill>
                <a:latin typeface="宋体" panose="02000500000000000000" pitchFamily="2" charset="-122"/>
                <a:ea typeface="宋体" panose="02000500000000000000" pitchFamily="2" charset="-122"/>
              </a:rPr>
              <a:t>$f</a:t>
            </a:r>
            <a:r>
              <a:rPr lang="en-US" altLang="zh-CN" sz="2000" dirty="0">
                <a:solidFill>
                  <a:srgbClr val="FF0000"/>
                </a:solidFill>
                <a:latin typeface="宋体" panose="02000500000000000000" pitchFamily="2" charset="-122"/>
                <a:ea typeface="宋体" panose="02000500000000000000" pitchFamily="2" charset="-122"/>
              </a:rPr>
              <a:t>0</a:t>
            </a:r>
            <a:r>
              <a:rPr lang="en-US" altLang="zh-CN" sz="2000" dirty="0">
                <a:latin typeface="宋体" panose="02000500000000000000" pitchFamily="2" charset="-122"/>
                <a:ea typeface="宋体" panose="02000500000000000000" pitchFamily="2" charset="-122"/>
              </a:rPr>
              <a:t>, </a:t>
            </a:r>
            <a:r>
              <a:rPr lang="en-US" altLang="en-US" sz="2000" dirty="0">
                <a:latin typeface="宋体" panose="02000500000000000000" pitchFamily="2" charset="-122"/>
                <a:ea typeface="宋体" panose="02000500000000000000" pitchFamily="2" charset="-122"/>
              </a:rPr>
              <a:t>$f</a:t>
            </a:r>
            <a:r>
              <a:rPr lang="en-US" altLang="zh-CN" sz="2000" dirty="0">
                <a:latin typeface="宋体" panose="02000500000000000000" pitchFamily="2" charset="-122"/>
                <a:ea typeface="宋体" panose="02000500000000000000" pitchFamily="2" charset="-122"/>
              </a:rPr>
              <a:t>8</a:t>
            </a:r>
            <a:endParaRPr lang="en-US" altLang="zh-CN" dirty="0">
              <a:latin typeface="宋体" panose="02000500000000000000" pitchFamily="2" charset="-122"/>
              <a:ea typeface="宋体" panose="02000500000000000000"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2"/>
          <p:cNvSpPr>
            <a:spLocks noChangeArrowheads="1"/>
          </p:cNvSpPr>
          <p:nvPr/>
        </p:nvSpPr>
        <p:spPr bwMode="auto">
          <a:xfrm>
            <a:off x="719138" y="908050"/>
            <a:ext cx="11087100" cy="3581400"/>
          </a:xfrm>
          <a:prstGeom prst="rect">
            <a:avLst/>
          </a:prstGeom>
          <a:noFill/>
          <a:ln w="9525">
            <a:noFill/>
            <a:miter lim="800000"/>
          </a:ln>
        </p:spPr>
        <p:txBody>
          <a:bodyPr/>
          <a:lstStyle/>
          <a:p>
            <a:pPr marL="342900" marR="0" lvl="0" indent="-342900" algn="l" defTabSz="914400" rtl="0" eaLnBrk="1" fontAlgn="base" latinLnBrk="0" hangingPunct="1">
              <a:lnSpc>
                <a:spcPct val="150000"/>
              </a:lnSpc>
              <a:spcBef>
                <a:spcPts val="600"/>
              </a:spcBef>
              <a:spcAft>
                <a:spcPct val="0"/>
              </a:spcAft>
              <a:buClrTx/>
              <a:buSzTx/>
              <a:buFontTx/>
              <a:buChar char="•"/>
              <a:defRPr/>
            </a:pPr>
            <a:r>
              <a:rPr kumimoji="1" lang="zh-CN" altLang="en-US" sz="2000" b="1" i="0" u="none" strike="noStrike" kern="1200" cap="none" spc="0" normalizeH="0" baseline="0" noProof="0" dirty="0">
                <a:ln>
                  <a:noFill/>
                </a:ln>
                <a:solidFill>
                  <a:schemeClr val="tx1"/>
                </a:solidFill>
                <a:effectLst/>
                <a:uLnTx/>
                <a:uFillTx/>
                <a:latin typeface="+mn-ea"/>
                <a:ea typeface="+mn-ea"/>
                <a:cs typeface="+mn-cs"/>
              </a:rPr>
              <a:t>上述解决办法要求</a:t>
            </a:r>
            <a:endParaRPr kumimoji="1" lang="zh-CN" altLang="en-US" sz="20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zh-CN" altLang="en-US" sz="1800" b="1" i="0" u="none" strike="noStrike" kern="1200" cap="none" spc="0" normalizeH="0" baseline="0" noProof="0" dirty="0">
                <a:ln>
                  <a:noFill/>
                </a:ln>
                <a:solidFill>
                  <a:schemeClr val="tx1"/>
                </a:solidFill>
                <a:effectLst/>
                <a:uLnTx/>
                <a:uFillTx/>
                <a:latin typeface="+mn-ea"/>
                <a:ea typeface="+mn-ea"/>
                <a:cs typeface="+mn-cs"/>
              </a:rPr>
              <a:t>每个功能部件的输入端有一些寄存器</a:t>
            </a:r>
            <a:endParaRPr kumimoji="1" lang="zh-CN" altLang="en-US" sz="18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zh-CN" altLang="en-US" sz="1800" b="1" i="0" u="none" strike="noStrike" kern="1200" cap="none" spc="0" normalizeH="0" baseline="0" noProof="0" dirty="0">
                <a:ln>
                  <a:noFill/>
                </a:ln>
                <a:solidFill>
                  <a:schemeClr val="tx1"/>
                </a:solidFill>
                <a:effectLst/>
                <a:uLnTx/>
                <a:uFillTx/>
                <a:latin typeface="+mn-ea"/>
                <a:ea typeface="+mn-ea"/>
                <a:cs typeface="+mn-cs"/>
              </a:rPr>
              <a:t>每个寄存器（包括功能部件输入端的寄存器以及通用寄存器）都记录一个功能部件号，指定它当前接收哪个功能部件的值</a:t>
            </a:r>
            <a:endParaRPr kumimoji="1" lang="zh-CN" altLang="en-US" sz="18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zh-CN" altLang="en-US" sz="1800" b="1" i="0" u="none" strike="noStrike" kern="1200" cap="none" spc="0" normalizeH="0" baseline="0" noProof="0" dirty="0">
                <a:ln>
                  <a:noFill/>
                </a:ln>
                <a:solidFill>
                  <a:schemeClr val="tx1"/>
                </a:solidFill>
                <a:effectLst/>
                <a:uLnTx/>
                <a:uFillTx/>
                <a:latin typeface="+mn-ea"/>
                <a:ea typeface="+mn-ea"/>
                <a:cs typeface="+mn-cs"/>
              </a:rPr>
              <a:t>每个功能部件的输出接到每个功能部件的输入</a:t>
            </a:r>
            <a:endParaRPr kumimoji="1" lang="zh-CN" altLang="en-US" sz="1800" b="1" i="0" u="none" strike="noStrike" kern="1200" cap="none" spc="0" normalizeH="0" baseline="0" noProof="0" dirty="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50000"/>
              </a:lnSpc>
              <a:spcBef>
                <a:spcPts val="600"/>
              </a:spcBef>
              <a:spcAft>
                <a:spcPct val="0"/>
              </a:spcAft>
              <a:buClrTx/>
              <a:buSzTx/>
              <a:buFontTx/>
              <a:buChar char="•"/>
              <a:defRPr/>
            </a:pPr>
            <a:r>
              <a:rPr kumimoji="1" lang="zh-CN" altLang="en-US" sz="2000" b="1" i="0" u="none" strike="noStrike" kern="1200" cap="none" spc="0" normalizeH="0" baseline="0" noProof="0" dirty="0">
                <a:ln>
                  <a:noFill/>
                </a:ln>
                <a:solidFill>
                  <a:schemeClr val="tx1"/>
                </a:solidFill>
                <a:effectLst/>
                <a:uLnTx/>
                <a:uFillTx/>
                <a:latin typeface="+mn-ea"/>
                <a:ea typeface="+mn-ea"/>
                <a:cs typeface="+mn-cs"/>
              </a:rPr>
              <a:t>有了上述功能，</a:t>
            </a:r>
            <a:r>
              <a:rPr kumimoji="1" lang="en-US" altLang="zh-CN" sz="2000" b="1" i="0" u="none" strike="noStrike" kern="1200" cap="none" spc="0" normalizeH="0" baseline="0" noProof="0" dirty="0">
                <a:ln>
                  <a:noFill/>
                </a:ln>
                <a:solidFill>
                  <a:schemeClr val="tx1"/>
                </a:solidFill>
                <a:effectLst/>
                <a:uLnTx/>
                <a:uFillTx/>
                <a:latin typeface="+mn-ea"/>
                <a:ea typeface="+mn-ea"/>
                <a:cs typeface="+mn-cs"/>
              </a:rPr>
              <a:t>WAR</a:t>
            </a:r>
            <a:r>
              <a:rPr kumimoji="1" lang="zh-CN" altLang="en-US" sz="2000" b="1" i="0" u="none" strike="noStrike" kern="1200" cap="none" spc="0" normalizeH="0" baseline="0" noProof="0" dirty="0">
                <a:ln>
                  <a:noFill/>
                </a:ln>
                <a:solidFill>
                  <a:schemeClr val="tx1"/>
                </a:solidFill>
                <a:effectLst/>
                <a:uLnTx/>
                <a:uFillTx/>
                <a:latin typeface="+mn-ea"/>
                <a:ea typeface="+mn-ea"/>
                <a:cs typeface="+mn-cs"/>
              </a:rPr>
              <a:t>和</a:t>
            </a:r>
            <a:r>
              <a:rPr kumimoji="1" lang="en-US" altLang="zh-CN" sz="2000" b="1" i="0" u="none" strike="noStrike" kern="1200" cap="none" spc="0" normalizeH="0" baseline="0" noProof="0" dirty="0">
                <a:ln>
                  <a:noFill/>
                </a:ln>
                <a:solidFill>
                  <a:schemeClr val="tx1"/>
                </a:solidFill>
                <a:effectLst/>
                <a:uLnTx/>
                <a:uFillTx/>
                <a:latin typeface="+mn-ea"/>
                <a:ea typeface="+mn-ea"/>
                <a:cs typeface="+mn-cs"/>
              </a:rPr>
              <a:t>WAW</a:t>
            </a:r>
            <a:r>
              <a:rPr kumimoji="1" lang="zh-CN" altLang="en-US" sz="2000" b="1" i="0" u="none" strike="noStrike" kern="1200" cap="none" spc="0" normalizeH="0" baseline="0" noProof="0" dirty="0">
                <a:ln>
                  <a:noFill/>
                </a:ln>
                <a:solidFill>
                  <a:schemeClr val="tx1"/>
                </a:solidFill>
                <a:effectLst/>
                <a:uLnTx/>
                <a:uFillTx/>
                <a:latin typeface="+mn-ea"/>
                <a:ea typeface="+mn-ea"/>
                <a:cs typeface="+mn-cs"/>
              </a:rPr>
              <a:t>相关不用阻塞</a:t>
            </a:r>
            <a:endParaRPr kumimoji="1" lang="zh-CN" altLang="en-US" sz="20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zh-CN" altLang="en-US" sz="1800" b="1" i="0" u="none" strike="noStrike" kern="1200" cap="none" spc="0" normalizeH="0" baseline="0" noProof="0" dirty="0">
                <a:ln>
                  <a:noFill/>
                </a:ln>
                <a:solidFill>
                  <a:schemeClr val="tx1"/>
                </a:solidFill>
                <a:effectLst/>
                <a:uLnTx/>
                <a:uFillTx/>
                <a:latin typeface="+mn-ea"/>
                <a:ea typeface="+mn-ea"/>
                <a:cs typeface="+mn-cs"/>
              </a:rPr>
              <a:t>寄存器重命名技术</a:t>
            </a:r>
            <a:endParaRPr kumimoji="1" lang="zh-CN" altLang="en-US" sz="1800" b="1" i="0" u="none" strike="noStrike" kern="1200" cap="none" spc="0" normalizeH="0" baseline="0" noProof="0" dirty="0">
              <a:ln>
                <a:noFill/>
              </a:ln>
              <a:solidFill>
                <a:schemeClr val="tx1"/>
              </a:solidFill>
              <a:effectLst/>
              <a:uLnTx/>
              <a:uFillTx/>
              <a:latin typeface="+mn-ea"/>
              <a:ea typeface="+mn-ea"/>
              <a:cs typeface="+mn-cs"/>
            </a:endParaRPr>
          </a:p>
        </p:txBody>
      </p:sp>
      <p:sp>
        <p:nvSpPr>
          <p:cNvPr id="28674" name="AutoShape 5"/>
          <p:cNvSpPr/>
          <p:nvPr/>
        </p:nvSpPr>
        <p:spPr>
          <a:xfrm>
            <a:off x="5538788" y="5448300"/>
            <a:ext cx="922337" cy="258763"/>
          </a:xfrm>
          <a:prstGeom prst="rightArrow">
            <a:avLst>
              <a:gd name="adj1" fmla="val 50000"/>
              <a:gd name="adj2" fmla="val 66717"/>
            </a:avLst>
          </a:prstGeom>
          <a:solidFill>
            <a:srgbClr val="FF0000"/>
          </a:solidFill>
          <a:ln w="9525" cap="flat" cmpd="sng">
            <a:solidFill>
              <a:srgbClr val="FF0000"/>
            </a:solidFill>
            <a:prstDash val="solid"/>
            <a:miter/>
            <a:headEnd type="none" w="med" len="med"/>
            <a:tailEnd type="none" w="med" len="med"/>
          </a:ln>
        </p:spPr>
        <p:txBody>
          <a:bodyPr wrap="none" anchor="ctr" anchorCtr="0"/>
          <a:p>
            <a:endParaRPr lang="zh-CN" altLang="en-US" dirty="0">
              <a:latin typeface="Times New Roman" pitchFamily="18" charset="0"/>
              <a:ea typeface="宋体" panose="02000500000000000000" pitchFamily="2" charset="-122"/>
            </a:endParaRPr>
          </a:p>
        </p:txBody>
      </p:sp>
      <p:sp>
        <p:nvSpPr>
          <p:cNvPr id="28675" name="Rectangle 6"/>
          <p:cNvSpPr/>
          <p:nvPr/>
        </p:nvSpPr>
        <p:spPr>
          <a:xfrm>
            <a:off x="477838" y="187325"/>
            <a:ext cx="11234737" cy="622300"/>
          </a:xfrm>
          <a:prstGeom prst="rect">
            <a:avLst/>
          </a:prstGeom>
          <a:noFill/>
          <a:ln w="9525">
            <a:noFill/>
          </a:ln>
        </p:spPr>
        <p:txBody>
          <a:bodyPr anchor="ctr" anchorCtr="0"/>
          <a:p>
            <a:pPr algn="ctr"/>
            <a:r>
              <a:rPr lang="zh-CN" altLang="en-US" sz="3600" dirty="0">
                <a:solidFill>
                  <a:srgbClr val="FF0000"/>
                </a:solidFill>
                <a:latin typeface="Arial" panose="02080604020202020204" pitchFamily="34" charset="0"/>
                <a:ea typeface="黑体" panose="02000500000000000000" pitchFamily="49" charset="-122"/>
              </a:rPr>
              <a:t>解决</a:t>
            </a:r>
            <a:r>
              <a:rPr lang="en-US" altLang="zh-CN" sz="3600" dirty="0">
                <a:solidFill>
                  <a:srgbClr val="FF0000"/>
                </a:solidFill>
                <a:latin typeface="Arial" panose="02080604020202020204" pitchFamily="34" charset="0"/>
                <a:ea typeface="黑体" panose="02000500000000000000" pitchFamily="49" charset="-122"/>
              </a:rPr>
              <a:t>WAW</a:t>
            </a:r>
            <a:r>
              <a:rPr lang="zh-CN" altLang="en-US" sz="3600" dirty="0">
                <a:solidFill>
                  <a:srgbClr val="FF0000"/>
                </a:solidFill>
                <a:latin typeface="Arial" panose="02080604020202020204" pitchFamily="34" charset="0"/>
                <a:ea typeface="黑体" panose="02000500000000000000" pitchFamily="49" charset="-122"/>
              </a:rPr>
              <a:t>和</a:t>
            </a:r>
            <a:r>
              <a:rPr lang="en-US" altLang="zh-CN" sz="3600" dirty="0">
                <a:solidFill>
                  <a:srgbClr val="FF0000"/>
                </a:solidFill>
                <a:latin typeface="Arial" panose="02080604020202020204" pitchFamily="34" charset="0"/>
                <a:ea typeface="黑体" panose="02000500000000000000" pitchFamily="49" charset="-122"/>
              </a:rPr>
              <a:t>WAR</a:t>
            </a:r>
            <a:r>
              <a:rPr lang="zh-CN" altLang="en-US" sz="3600" dirty="0">
                <a:solidFill>
                  <a:srgbClr val="FF0000"/>
                </a:solidFill>
                <a:latin typeface="Arial" panose="02080604020202020204" pitchFamily="34" charset="0"/>
                <a:ea typeface="黑体" panose="02000500000000000000" pitchFamily="49" charset="-122"/>
              </a:rPr>
              <a:t>的办法</a:t>
            </a:r>
            <a:endParaRPr lang="zh-CN" altLang="en-US" sz="3600" dirty="0">
              <a:solidFill>
                <a:srgbClr val="FF0000"/>
              </a:solidFill>
              <a:latin typeface="Arial" panose="02080604020202020204" pitchFamily="34" charset="0"/>
              <a:ea typeface="黑体" panose="02000500000000000000" pitchFamily="49" charset="-122"/>
            </a:endParaRPr>
          </a:p>
        </p:txBody>
      </p:sp>
      <p:sp>
        <p:nvSpPr>
          <p:cNvPr id="28676" name="灯片编号占位符 8"/>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fld id="{9A0DB2DC-4C9A-4742-B13C-FB6460FD3503}" type="slidenum">
              <a:rPr lang="en-US" altLang="zh-CN" sz="1400" dirty="0"/>
            </a:fld>
            <a:endParaRPr lang="en-US" altLang="zh-CN" sz="1400" dirty="0"/>
          </a:p>
        </p:txBody>
      </p:sp>
      <p:sp>
        <p:nvSpPr>
          <p:cNvPr id="28677" name="Text Box 3"/>
          <p:cNvSpPr txBox="1"/>
          <p:nvPr/>
        </p:nvSpPr>
        <p:spPr>
          <a:xfrm>
            <a:off x="1073150" y="4686300"/>
            <a:ext cx="4244975" cy="1784350"/>
          </a:xfrm>
          <a:prstGeom prst="rect">
            <a:avLst/>
          </a:prstGeom>
          <a:noFill/>
          <a:ln w="9525">
            <a:noFill/>
          </a:ln>
        </p:spPr>
        <p:txBody>
          <a:bodyPr anchor="t" anchorCtr="0">
            <a:spAutoFit/>
          </a:bodyPr>
          <a:p>
            <a:pPr defTabSz="914400">
              <a:spcBef>
                <a:spcPct val="50000"/>
              </a:spcBef>
              <a:tabLst>
                <a:tab pos="895350" algn="l"/>
              </a:tabLst>
            </a:pPr>
            <a:r>
              <a:rPr lang="en-US" altLang="en-US" sz="2000" dirty="0">
                <a:latin typeface="宋体" panose="02000500000000000000" pitchFamily="2" charset="-122"/>
                <a:ea typeface="宋体" panose="02000500000000000000" pitchFamily="2" charset="-122"/>
              </a:rPr>
              <a:t>fdiv.d</a:t>
            </a:r>
            <a:r>
              <a:rPr lang="en-US" altLang="zh-CN" sz="2000" dirty="0">
                <a:latin typeface="宋体" panose="02000500000000000000" pitchFamily="2" charset="-122"/>
                <a:ea typeface="宋体" panose="02000500000000000000" pitchFamily="2" charset="-122"/>
              </a:rPr>
              <a:t> </a:t>
            </a:r>
            <a:r>
              <a:rPr lang="en-US" altLang="en-US" sz="2000" dirty="0">
                <a:latin typeface="宋体" panose="02000500000000000000" pitchFamily="2" charset="-122"/>
                <a:ea typeface="宋体" panose="02000500000000000000" pitchFamily="2" charset="-122"/>
              </a:rPr>
              <a:t>	</a:t>
            </a:r>
            <a:r>
              <a:rPr lang="en-US" altLang="en-US" sz="2000" dirty="0">
                <a:solidFill>
                  <a:srgbClr val="FF0000"/>
                </a:solidFill>
                <a:latin typeface="宋体" panose="02000500000000000000" pitchFamily="2" charset="-122"/>
                <a:ea typeface="宋体" panose="02000500000000000000" pitchFamily="2" charset="-122"/>
              </a:rPr>
              <a:t>$f</a:t>
            </a:r>
            <a:r>
              <a:rPr lang="en-US" altLang="zh-CN" sz="2000" dirty="0">
                <a:solidFill>
                  <a:srgbClr val="FF0000"/>
                </a:solidFill>
                <a:latin typeface="宋体" panose="02000500000000000000" pitchFamily="2" charset="-122"/>
                <a:ea typeface="宋体" panose="02000500000000000000" pitchFamily="2" charset="-122"/>
              </a:rPr>
              <a:t>0</a:t>
            </a:r>
            <a:r>
              <a:rPr lang="en-US" altLang="zh-CN" sz="2000" dirty="0">
                <a:latin typeface="宋体" panose="02000500000000000000" pitchFamily="2" charset="-122"/>
                <a:ea typeface="宋体" panose="02000500000000000000" pitchFamily="2" charset="-122"/>
              </a:rPr>
              <a:t>, </a:t>
            </a:r>
            <a:r>
              <a:rPr lang="en-US" altLang="en-US" sz="2000" dirty="0">
                <a:latin typeface="宋体" panose="02000500000000000000" pitchFamily="2" charset="-122"/>
                <a:ea typeface="宋体" panose="02000500000000000000" pitchFamily="2" charset="-122"/>
              </a:rPr>
              <a:t>$f</a:t>
            </a:r>
            <a:r>
              <a:rPr lang="en-US" altLang="zh-CN" sz="2000" dirty="0">
                <a:latin typeface="宋体" panose="02000500000000000000" pitchFamily="2" charset="-122"/>
                <a:ea typeface="宋体" panose="02000500000000000000" pitchFamily="2" charset="-122"/>
              </a:rPr>
              <a:t>1, </a:t>
            </a:r>
            <a:r>
              <a:rPr lang="en-US" altLang="en-US" sz="2000" dirty="0">
                <a:latin typeface="宋体" panose="02000500000000000000" pitchFamily="2" charset="-122"/>
                <a:ea typeface="宋体" panose="02000500000000000000" pitchFamily="2" charset="-122"/>
              </a:rPr>
              <a:t>$f</a:t>
            </a:r>
            <a:r>
              <a:rPr lang="en-US" altLang="zh-CN" sz="2000" dirty="0">
                <a:latin typeface="宋体" panose="02000500000000000000" pitchFamily="2" charset="-122"/>
                <a:ea typeface="宋体" panose="02000500000000000000" pitchFamily="2" charset="-122"/>
              </a:rPr>
              <a:t>2</a:t>
            </a:r>
            <a:endParaRPr lang="en-US" altLang="zh-CN" sz="2000" dirty="0">
              <a:latin typeface="宋体" panose="02000500000000000000" pitchFamily="2" charset="-122"/>
              <a:ea typeface="宋体" panose="02000500000000000000" pitchFamily="2" charset="-122"/>
            </a:endParaRPr>
          </a:p>
          <a:p>
            <a:pPr defTabSz="914400">
              <a:spcBef>
                <a:spcPct val="50000"/>
              </a:spcBef>
              <a:tabLst>
                <a:tab pos="895350" algn="l"/>
              </a:tabLst>
            </a:pPr>
            <a:r>
              <a:rPr lang="en-US" altLang="en-US" sz="2000" dirty="0">
                <a:latin typeface="宋体" panose="02000500000000000000" pitchFamily="2" charset="-122"/>
                <a:ea typeface="宋体" panose="02000500000000000000" pitchFamily="2" charset="-122"/>
              </a:rPr>
              <a:t>fmul.d</a:t>
            </a:r>
            <a:r>
              <a:rPr lang="en-US" altLang="zh-CN" sz="2000" dirty="0">
                <a:latin typeface="宋体" panose="02000500000000000000" pitchFamily="2" charset="-122"/>
                <a:ea typeface="宋体" panose="02000500000000000000" pitchFamily="2" charset="-122"/>
              </a:rPr>
              <a:t> </a:t>
            </a:r>
            <a:r>
              <a:rPr lang="en-US" altLang="en-US" sz="2000" dirty="0">
                <a:latin typeface="宋体" panose="02000500000000000000" pitchFamily="2" charset="-122"/>
                <a:ea typeface="宋体" panose="02000500000000000000" pitchFamily="2" charset="-122"/>
              </a:rPr>
              <a:t>	$f</a:t>
            </a:r>
            <a:r>
              <a:rPr lang="en-US" altLang="zh-CN" sz="2000" dirty="0">
                <a:latin typeface="宋体" panose="02000500000000000000" pitchFamily="2" charset="-122"/>
                <a:ea typeface="宋体" panose="02000500000000000000" pitchFamily="2" charset="-122"/>
              </a:rPr>
              <a:t>5, </a:t>
            </a:r>
            <a:r>
              <a:rPr lang="en-US" altLang="en-US" sz="2000" dirty="0">
                <a:solidFill>
                  <a:srgbClr val="FF0000"/>
                </a:solidFill>
                <a:latin typeface="宋体" panose="02000500000000000000" pitchFamily="2" charset="-122"/>
                <a:ea typeface="宋体" panose="02000500000000000000" pitchFamily="2" charset="-122"/>
              </a:rPr>
              <a:t>$f</a:t>
            </a:r>
            <a:r>
              <a:rPr lang="en-US" altLang="zh-CN" sz="2000" dirty="0">
                <a:solidFill>
                  <a:srgbClr val="FF0000"/>
                </a:solidFill>
                <a:latin typeface="宋体" panose="02000500000000000000" pitchFamily="2" charset="-122"/>
                <a:ea typeface="宋体" panose="02000500000000000000" pitchFamily="2" charset="-122"/>
              </a:rPr>
              <a:t>0</a:t>
            </a:r>
            <a:r>
              <a:rPr lang="en-US" altLang="zh-CN" sz="2000" dirty="0">
                <a:latin typeface="宋体" panose="02000500000000000000" pitchFamily="2" charset="-122"/>
                <a:ea typeface="宋体" panose="02000500000000000000" pitchFamily="2" charset="-122"/>
              </a:rPr>
              <a:t>, </a:t>
            </a:r>
            <a:r>
              <a:rPr lang="en-US" altLang="en-US" sz="2000" dirty="0">
                <a:latin typeface="宋体" panose="02000500000000000000" pitchFamily="2" charset="-122"/>
                <a:ea typeface="宋体" panose="02000500000000000000" pitchFamily="2" charset="-122"/>
              </a:rPr>
              <a:t>$f</a:t>
            </a:r>
            <a:r>
              <a:rPr lang="en-US" altLang="zh-CN" sz="2000" dirty="0">
                <a:latin typeface="宋体" panose="02000500000000000000" pitchFamily="2" charset="-122"/>
                <a:ea typeface="宋体" panose="02000500000000000000" pitchFamily="2" charset="-122"/>
              </a:rPr>
              <a:t>6</a:t>
            </a:r>
            <a:endParaRPr lang="en-US" altLang="zh-CN" sz="2000" dirty="0">
              <a:latin typeface="宋体" panose="02000500000000000000" pitchFamily="2" charset="-122"/>
              <a:ea typeface="宋体" panose="02000500000000000000" pitchFamily="2" charset="-122"/>
            </a:endParaRPr>
          </a:p>
          <a:p>
            <a:pPr defTabSz="914400">
              <a:spcBef>
                <a:spcPct val="50000"/>
              </a:spcBef>
              <a:tabLst>
                <a:tab pos="895350" algn="l"/>
              </a:tabLst>
            </a:pPr>
            <a:r>
              <a:rPr lang="en-US" altLang="en-US" sz="2000" dirty="0">
                <a:latin typeface="宋体" panose="02000500000000000000" pitchFamily="2" charset="-122"/>
                <a:ea typeface="宋体" panose="02000500000000000000" pitchFamily="2" charset="-122"/>
              </a:rPr>
              <a:t>fadd.d</a:t>
            </a:r>
            <a:r>
              <a:rPr lang="en-US" altLang="zh-CN" sz="2000" dirty="0">
                <a:latin typeface="宋体" panose="02000500000000000000" pitchFamily="2" charset="-122"/>
                <a:ea typeface="宋体" panose="02000500000000000000" pitchFamily="2" charset="-122"/>
              </a:rPr>
              <a:t> </a:t>
            </a:r>
            <a:r>
              <a:rPr lang="en-US" altLang="en-US" sz="2000" dirty="0">
                <a:latin typeface="宋体" panose="02000500000000000000" pitchFamily="2" charset="-122"/>
                <a:ea typeface="宋体" panose="02000500000000000000" pitchFamily="2" charset="-122"/>
              </a:rPr>
              <a:t>	</a:t>
            </a:r>
            <a:r>
              <a:rPr lang="en-US" altLang="en-US" sz="2000" dirty="0">
                <a:solidFill>
                  <a:srgbClr val="FF0000"/>
                </a:solidFill>
                <a:latin typeface="宋体" panose="02000500000000000000" pitchFamily="2" charset="-122"/>
                <a:ea typeface="宋体" panose="02000500000000000000" pitchFamily="2" charset="-122"/>
              </a:rPr>
              <a:t>$f</a:t>
            </a:r>
            <a:r>
              <a:rPr lang="en-US" altLang="zh-CN" sz="2000" dirty="0">
                <a:solidFill>
                  <a:srgbClr val="FF0000"/>
                </a:solidFill>
                <a:latin typeface="宋体" panose="02000500000000000000" pitchFamily="2" charset="-122"/>
                <a:ea typeface="宋体" panose="02000500000000000000" pitchFamily="2" charset="-122"/>
              </a:rPr>
              <a:t>0</a:t>
            </a:r>
            <a:r>
              <a:rPr lang="en-US" altLang="zh-CN" sz="2000" dirty="0">
                <a:latin typeface="宋体" panose="02000500000000000000" pitchFamily="2" charset="-122"/>
                <a:ea typeface="宋体" panose="02000500000000000000" pitchFamily="2" charset="-122"/>
              </a:rPr>
              <a:t>, </a:t>
            </a:r>
            <a:r>
              <a:rPr lang="en-US" altLang="en-US" sz="2000" dirty="0">
                <a:latin typeface="宋体" panose="02000500000000000000" pitchFamily="2" charset="-122"/>
                <a:ea typeface="宋体" panose="02000500000000000000" pitchFamily="2" charset="-122"/>
              </a:rPr>
              <a:t>$f</a:t>
            </a:r>
            <a:r>
              <a:rPr lang="en-US" altLang="zh-CN" sz="2000" dirty="0">
                <a:latin typeface="宋体" panose="02000500000000000000" pitchFamily="2" charset="-122"/>
                <a:ea typeface="宋体" panose="02000500000000000000" pitchFamily="2" charset="-122"/>
              </a:rPr>
              <a:t>3, </a:t>
            </a:r>
            <a:r>
              <a:rPr lang="en-US" altLang="en-US" sz="2000" dirty="0">
                <a:latin typeface="宋体" panose="02000500000000000000" pitchFamily="2" charset="-122"/>
                <a:ea typeface="宋体" panose="02000500000000000000" pitchFamily="2" charset="-122"/>
              </a:rPr>
              <a:t>$f</a:t>
            </a:r>
            <a:r>
              <a:rPr lang="en-US" altLang="zh-CN" sz="2000" dirty="0">
                <a:latin typeface="宋体" panose="02000500000000000000" pitchFamily="2" charset="-122"/>
                <a:ea typeface="宋体" panose="02000500000000000000" pitchFamily="2" charset="-122"/>
              </a:rPr>
              <a:t>4</a:t>
            </a:r>
            <a:endParaRPr lang="en-US" altLang="zh-CN" sz="2000" dirty="0">
              <a:latin typeface="宋体" panose="02000500000000000000" pitchFamily="2" charset="-122"/>
              <a:ea typeface="宋体" panose="02000500000000000000" pitchFamily="2" charset="-122"/>
            </a:endParaRPr>
          </a:p>
          <a:p>
            <a:pPr defTabSz="914400">
              <a:spcBef>
                <a:spcPct val="50000"/>
              </a:spcBef>
              <a:tabLst>
                <a:tab pos="895350" algn="l"/>
              </a:tabLst>
            </a:pPr>
            <a:r>
              <a:rPr lang="en-US" altLang="en-US" sz="2000" dirty="0">
                <a:latin typeface="宋体" panose="02000500000000000000" pitchFamily="2" charset="-122"/>
                <a:ea typeface="宋体" panose="02000500000000000000" pitchFamily="2" charset="-122"/>
              </a:rPr>
              <a:t>fmul.d</a:t>
            </a:r>
            <a:r>
              <a:rPr lang="en-US" altLang="zh-CN" sz="2000" dirty="0">
                <a:latin typeface="宋体" panose="02000500000000000000" pitchFamily="2" charset="-122"/>
                <a:ea typeface="宋体" panose="02000500000000000000" pitchFamily="2" charset="-122"/>
              </a:rPr>
              <a:t> </a:t>
            </a:r>
            <a:r>
              <a:rPr lang="en-US" altLang="en-US" sz="2000" dirty="0">
                <a:latin typeface="宋体" panose="02000500000000000000" pitchFamily="2" charset="-122"/>
                <a:ea typeface="宋体" panose="02000500000000000000" pitchFamily="2" charset="-122"/>
              </a:rPr>
              <a:t>	$f</a:t>
            </a:r>
            <a:r>
              <a:rPr lang="en-US" altLang="zh-CN" sz="2000" dirty="0">
                <a:latin typeface="宋体" panose="02000500000000000000" pitchFamily="2" charset="-122"/>
                <a:ea typeface="宋体" panose="02000500000000000000" pitchFamily="2" charset="-122"/>
              </a:rPr>
              <a:t>7, </a:t>
            </a:r>
            <a:r>
              <a:rPr lang="en-US" altLang="en-US" sz="2000" dirty="0">
                <a:solidFill>
                  <a:srgbClr val="FF0000"/>
                </a:solidFill>
                <a:latin typeface="宋体" panose="02000500000000000000" pitchFamily="2" charset="-122"/>
                <a:ea typeface="宋体" panose="02000500000000000000" pitchFamily="2" charset="-122"/>
              </a:rPr>
              <a:t>$f</a:t>
            </a:r>
            <a:r>
              <a:rPr lang="en-US" altLang="zh-CN" sz="2000" dirty="0">
                <a:solidFill>
                  <a:srgbClr val="FF0000"/>
                </a:solidFill>
                <a:latin typeface="宋体" panose="02000500000000000000" pitchFamily="2" charset="-122"/>
                <a:ea typeface="宋体" panose="02000500000000000000" pitchFamily="2" charset="-122"/>
              </a:rPr>
              <a:t>0</a:t>
            </a:r>
            <a:r>
              <a:rPr lang="en-US" altLang="zh-CN" sz="2000" dirty="0">
                <a:latin typeface="宋体" panose="02000500000000000000" pitchFamily="2" charset="-122"/>
                <a:ea typeface="宋体" panose="02000500000000000000" pitchFamily="2" charset="-122"/>
              </a:rPr>
              <a:t>, </a:t>
            </a:r>
            <a:r>
              <a:rPr lang="en-US" altLang="en-US" sz="2000" dirty="0">
                <a:latin typeface="宋体" panose="02000500000000000000" pitchFamily="2" charset="-122"/>
                <a:ea typeface="宋体" panose="02000500000000000000" pitchFamily="2" charset="-122"/>
              </a:rPr>
              <a:t>$f</a:t>
            </a:r>
            <a:r>
              <a:rPr lang="en-US" altLang="zh-CN" sz="2000" dirty="0">
                <a:latin typeface="宋体" panose="02000500000000000000" pitchFamily="2" charset="-122"/>
                <a:ea typeface="宋体" panose="02000500000000000000" pitchFamily="2" charset="-122"/>
              </a:rPr>
              <a:t>8</a:t>
            </a:r>
            <a:endParaRPr lang="en-US" altLang="zh-CN" dirty="0">
              <a:latin typeface="宋体" panose="02000500000000000000" pitchFamily="2" charset="-122"/>
              <a:ea typeface="宋体" panose="02000500000000000000" pitchFamily="2" charset="-122"/>
            </a:endParaRPr>
          </a:p>
        </p:txBody>
      </p:sp>
      <p:sp>
        <p:nvSpPr>
          <p:cNvPr id="28678" name="Text Box 3"/>
          <p:cNvSpPr txBox="1"/>
          <p:nvPr/>
        </p:nvSpPr>
        <p:spPr>
          <a:xfrm>
            <a:off x="6924675" y="4686300"/>
            <a:ext cx="4516438" cy="1784350"/>
          </a:xfrm>
          <a:prstGeom prst="rect">
            <a:avLst/>
          </a:prstGeom>
          <a:noFill/>
          <a:ln w="9525">
            <a:noFill/>
          </a:ln>
        </p:spPr>
        <p:txBody>
          <a:bodyPr anchor="t" anchorCtr="0">
            <a:spAutoFit/>
          </a:bodyPr>
          <a:p>
            <a:pPr defTabSz="914400">
              <a:spcBef>
                <a:spcPct val="50000"/>
              </a:spcBef>
              <a:tabLst>
                <a:tab pos="895350" algn="l"/>
              </a:tabLst>
            </a:pPr>
            <a:r>
              <a:rPr lang="en-US" altLang="en-US" sz="2000" dirty="0">
                <a:latin typeface="宋体" panose="02000500000000000000" pitchFamily="2" charset="-122"/>
                <a:ea typeface="宋体" panose="02000500000000000000" pitchFamily="2" charset="-122"/>
              </a:rPr>
              <a:t>fdiv.d</a:t>
            </a:r>
            <a:r>
              <a:rPr lang="en-US" altLang="zh-CN" sz="2000" dirty="0">
                <a:latin typeface="宋体" panose="02000500000000000000" pitchFamily="2" charset="-122"/>
                <a:ea typeface="宋体" panose="02000500000000000000" pitchFamily="2" charset="-122"/>
              </a:rPr>
              <a:t> </a:t>
            </a:r>
            <a:r>
              <a:rPr lang="en-US" altLang="en-US" sz="2000" dirty="0">
                <a:latin typeface="宋体" panose="02000500000000000000" pitchFamily="2" charset="-122"/>
                <a:ea typeface="宋体" panose="02000500000000000000" pitchFamily="2" charset="-122"/>
              </a:rPr>
              <a:t>	</a:t>
            </a:r>
            <a:r>
              <a:rPr lang="zh-CN" altLang="en-US" sz="2000" dirty="0">
                <a:solidFill>
                  <a:srgbClr val="FF0000"/>
                </a:solidFill>
                <a:latin typeface="宋体" panose="02000500000000000000" pitchFamily="2" charset="-122"/>
                <a:ea typeface="宋体" panose="02000500000000000000" pitchFamily="2" charset="-122"/>
              </a:rPr>
              <a:t>R</a:t>
            </a:r>
            <a:r>
              <a:rPr lang="en-US" altLang="en-US" sz="2000" dirty="0">
                <a:solidFill>
                  <a:srgbClr val="FF0000"/>
                </a:solidFill>
                <a:latin typeface="宋体" panose="02000500000000000000" pitchFamily="2" charset="-122"/>
                <a:ea typeface="宋体" panose="02000500000000000000" pitchFamily="2" charset="-122"/>
              </a:rPr>
              <a:t>enf</a:t>
            </a:r>
            <a:r>
              <a:rPr lang="zh-CN" altLang="en-US" sz="2000" dirty="0">
                <a:solidFill>
                  <a:srgbClr val="FF0000"/>
                </a:solidFill>
                <a:latin typeface="宋体" panose="02000500000000000000" pitchFamily="2" charset="-122"/>
                <a:ea typeface="宋体" panose="02000500000000000000" pitchFamily="2" charset="-122"/>
              </a:rPr>
              <a:t>a</a:t>
            </a:r>
            <a:r>
              <a:rPr lang="en-US" altLang="zh-CN" sz="2000" dirty="0">
                <a:latin typeface="宋体" panose="02000500000000000000" pitchFamily="2" charset="-122"/>
                <a:ea typeface="宋体" panose="02000500000000000000" pitchFamily="2" charset="-122"/>
              </a:rPr>
              <a:t>, </a:t>
            </a:r>
            <a:r>
              <a:rPr lang="en-US" altLang="en-US" sz="2000" dirty="0">
                <a:latin typeface="宋体" panose="02000500000000000000" pitchFamily="2" charset="-122"/>
                <a:ea typeface="宋体" panose="02000500000000000000" pitchFamily="2" charset="-122"/>
              </a:rPr>
              <a:t>$f</a:t>
            </a:r>
            <a:r>
              <a:rPr lang="en-US" altLang="zh-CN" sz="2000" dirty="0">
                <a:latin typeface="宋体" panose="02000500000000000000" pitchFamily="2" charset="-122"/>
                <a:ea typeface="宋体" panose="02000500000000000000" pitchFamily="2" charset="-122"/>
              </a:rPr>
              <a:t>1, </a:t>
            </a:r>
            <a:r>
              <a:rPr lang="en-US" altLang="en-US" sz="2000" dirty="0">
                <a:latin typeface="宋体" panose="02000500000000000000" pitchFamily="2" charset="-122"/>
                <a:ea typeface="宋体" panose="02000500000000000000" pitchFamily="2" charset="-122"/>
              </a:rPr>
              <a:t>$f</a:t>
            </a:r>
            <a:r>
              <a:rPr lang="en-US" altLang="zh-CN" sz="2000" dirty="0">
                <a:latin typeface="宋体" panose="02000500000000000000" pitchFamily="2" charset="-122"/>
                <a:ea typeface="宋体" panose="02000500000000000000" pitchFamily="2" charset="-122"/>
              </a:rPr>
              <a:t>2</a:t>
            </a:r>
            <a:endParaRPr lang="en-US" altLang="zh-CN" sz="2000" dirty="0">
              <a:latin typeface="宋体" panose="02000500000000000000" pitchFamily="2" charset="-122"/>
              <a:ea typeface="宋体" panose="02000500000000000000" pitchFamily="2" charset="-122"/>
            </a:endParaRPr>
          </a:p>
          <a:p>
            <a:pPr defTabSz="914400">
              <a:spcBef>
                <a:spcPct val="50000"/>
              </a:spcBef>
              <a:tabLst>
                <a:tab pos="895350" algn="l"/>
              </a:tabLst>
            </a:pPr>
            <a:r>
              <a:rPr lang="en-US" altLang="en-US" sz="2000" dirty="0">
                <a:latin typeface="宋体" panose="02000500000000000000" pitchFamily="2" charset="-122"/>
                <a:ea typeface="宋体" panose="02000500000000000000" pitchFamily="2" charset="-122"/>
              </a:rPr>
              <a:t>fmul.d</a:t>
            </a:r>
            <a:r>
              <a:rPr lang="en-US" altLang="zh-CN" sz="2000" dirty="0">
                <a:latin typeface="宋体" panose="02000500000000000000" pitchFamily="2" charset="-122"/>
                <a:ea typeface="宋体" panose="02000500000000000000" pitchFamily="2" charset="-122"/>
              </a:rPr>
              <a:t> </a:t>
            </a:r>
            <a:r>
              <a:rPr lang="en-US" altLang="en-US" sz="2000" dirty="0">
                <a:latin typeface="宋体" panose="02000500000000000000" pitchFamily="2" charset="-122"/>
                <a:ea typeface="宋体" panose="02000500000000000000" pitchFamily="2" charset="-122"/>
              </a:rPr>
              <a:t>	$f</a:t>
            </a:r>
            <a:r>
              <a:rPr lang="en-US" altLang="zh-CN" sz="2000" dirty="0">
                <a:latin typeface="宋体" panose="02000500000000000000" pitchFamily="2" charset="-122"/>
                <a:ea typeface="宋体" panose="02000500000000000000" pitchFamily="2" charset="-122"/>
              </a:rPr>
              <a:t>5, </a:t>
            </a:r>
            <a:r>
              <a:rPr lang="en-US" altLang="en-US" sz="2000" dirty="0">
                <a:solidFill>
                  <a:srgbClr val="FF0000"/>
                </a:solidFill>
                <a:latin typeface="宋体" panose="02000500000000000000" pitchFamily="2" charset="-122"/>
                <a:ea typeface="宋体" panose="02000500000000000000" pitchFamily="2" charset="-122"/>
              </a:rPr>
              <a:t>R</a:t>
            </a:r>
            <a:r>
              <a:rPr lang="en-US" altLang="en-US" sz="2000" dirty="0">
                <a:solidFill>
                  <a:srgbClr val="FF0000"/>
                </a:solidFill>
                <a:latin typeface="宋体" panose="02000500000000000000" pitchFamily="2" charset="-122"/>
                <a:ea typeface="宋体" panose="02000500000000000000" pitchFamily="2" charset="-122"/>
                <a:sym typeface="宋体" panose="02000500000000000000" pitchFamily="2" charset="-122"/>
              </a:rPr>
              <a:t>en</a:t>
            </a:r>
            <a:r>
              <a:rPr lang="en-US" altLang="en-US" sz="2000" dirty="0">
                <a:solidFill>
                  <a:srgbClr val="FF0000"/>
                </a:solidFill>
                <a:latin typeface="宋体" panose="02000500000000000000" pitchFamily="2" charset="-122"/>
                <a:ea typeface="宋体" panose="02000500000000000000" pitchFamily="2" charset="-122"/>
              </a:rPr>
              <a:t>fa</a:t>
            </a:r>
            <a:r>
              <a:rPr lang="en-US" altLang="zh-CN" sz="2000" dirty="0">
                <a:latin typeface="宋体" panose="02000500000000000000" pitchFamily="2" charset="-122"/>
                <a:ea typeface="宋体" panose="02000500000000000000" pitchFamily="2" charset="-122"/>
              </a:rPr>
              <a:t>, </a:t>
            </a:r>
            <a:r>
              <a:rPr lang="en-US" altLang="en-US" sz="2000" dirty="0">
                <a:latin typeface="宋体" panose="02000500000000000000" pitchFamily="2" charset="-122"/>
                <a:ea typeface="宋体" panose="02000500000000000000" pitchFamily="2" charset="-122"/>
              </a:rPr>
              <a:t>$f</a:t>
            </a:r>
            <a:r>
              <a:rPr lang="en-US" altLang="zh-CN" sz="2000" dirty="0">
                <a:latin typeface="宋体" panose="02000500000000000000" pitchFamily="2" charset="-122"/>
                <a:ea typeface="宋体" panose="02000500000000000000" pitchFamily="2" charset="-122"/>
              </a:rPr>
              <a:t>6</a:t>
            </a:r>
            <a:endParaRPr lang="en-US" altLang="zh-CN" sz="2000" dirty="0">
              <a:latin typeface="宋体" panose="02000500000000000000" pitchFamily="2" charset="-122"/>
              <a:ea typeface="宋体" panose="02000500000000000000" pitchFamily="2" charset="-122"/>
            </a:endParaRPr>
          </a:p>
          <a:p>
            <a:pPr defTabSz="914400">
              <a:spcBef>
                <a:spcPct val="50000"/>
              </a:spcBef>
              <a:tabLst>
                <a:tab pos="895350" algn="l"/>
              </a:tabLst>
            </a:pPr>
            <a:r>
              <a:rPr lang="en-US" altLang="en-US" sz="2000" dirty="0">
                <a:latin typeface="宋体" panose="02000500000000000000" pitchFamily="2" charset="-122"/>
                <a:ea typeface="宋体" panose="02000500000000000000" pitchFamily="2" charset="-122"/>
              </a:rPr>
              <a:t>fadd.d</a:t>
            </a:r>
            <a:r>
              <a:rPr lang="en-US" altLang="zh-CN" sz="2000" dirty="0">
                <a:latin typeface="宋体" panose="02000500000000000000" pitchFamily="2" charset="-122"/>
                <a:ea typeface="宋体" panose="02000500000000000000" pitchFamily="2" charset="-122"/>
              </a:rPr>
              <a:t> </a:t>
            </a:r>
            <a:r>
              <a:rPr lang="en-US" altLang="en-US" sz="2000" dirty="0">
                <a:latin typeface="宋体" panose="02000500000000000000" pitchFamily="2" charset="-122"/>
                <a:ea typeface="宋体" panose="02000500000000000000" pitchFamily="2" charset="-122"/>
              </a:rPr>
              <a:t>	</a:t>
            </a:r>
            <a:r>
              <a:rPr lang="en-US" altLang="en-US" sz="2000" dirty="0">
                <a:solidFill>
                  <a:srgbClr val="FF0000"/>
                </a:solidFill>
                <a:latin typeface="宋体" panose="02000500000000000000" pitchFamily="2" charset="-122"/>
                <a:ea typeface="宋体" panose="02000500000000000000" pitchFamily="2" charset="-122"/>
                <a:sym typeface="宋体" panose="02000500000000000000" pitchFamily="2" charset="-122"/>
              </a:rPr>
              <a:t>Renf</a:t>
            </a:r>
            <a:r>
              <a:rPr lang="zh-CN" altLang="en-US" sz="2000" dirty="0">
                <a:solidFill>
                  <a:srgbClr val="FF0000"/>
                </a:solidFill>
                <a:latin typeface="宋体" panose="02000500000000000000" pitchFamily="2" charset="-122"/>
                <a:ea typeface="宋体" panose="02000500000000000000" pitchFamily="2" charset="-122"/>
                <a:sym typeface="宋体" panose="02000500000000000000" pitchFamily="2" charset="-122"/>
              </a:rPr>
              <a:t>b</a:t>
            </a:r>
            <a:r>
              <a:rPr lang="en-US" altLang="zh-CN" sz="2000" dirty="0">
                <a:latin typeface="宋体" panose="02000500000000000000" pitchFamily="2" charset="-122"/>
                <a:ea typeface="宋体" panose="02000500000000000000" pitchFamily="2" charset="-122"/>
              </a:rPr>
              <a:t>, </a:t>
            </a:r>
            <a:r>
              <a:rPr lang="en-US" altLang="en-US" sz="2000" dirty="0">
                <a:latin typeface="宋体" panose="02000500000000000000" pitchFamily="2" charset="-122"/>
                <a:ea typeface="宋体" panose="02000500000000000000" pitchFamily="2" charset="-122"/>
              </a:rPr>
              <a:t>$f</a:t>
            </a:r>
            <a:r>
              <a:rPr lang="en-US" altLang="zh-CN" sz="2000" dirty="0">
                <a:latin typeface="宋体" panose="02000500000000000000" pitchFamily="2" charset="-122"/>
                <a:ea typeface="宋体" panose="02000500000000000000" pitchFamily="2" charset="-122"/>
              </a:rPr>
              <a:t>3, </a:t>
            </a:r>
            <a:r>
              <a:rPr lang="en-US" altLang="en-US" sz="2000" dirty="0">
                <a:latin typeface="宋体" panose="02000500000000000000" pitchFamily="2" charset="-122"/>
                <a:ea typeface="宋体" panose="02000500000000000000" pitchFamily="2" charset="-122"/>
              </a:rPr>
              <a:t>$f</a:t>
            </a:r>
            <a:r>
              <a:rPr lang="en-US" altLang="zh-CN" sz="2000" dirty="0">
                <a:latin typeface="宋体" panose="02000500000000000000" pitchFamily="2" charset="-122"/>
                <a:ea typeface="宋体" panose="02000500000000000000" pitchFamily="2" charset="-122"/>
              </a:rPr>
              <a:t>4</a:t>
            </a:r>
            <a:endParaRPr lang="en-US" altLang="zh-CN" sz="2000" dirty="0">
              <a:latin typeface="宋体" panose="02000500000000000000" pitchFamily="2" charset="-122"/>
              <a:ea typeface="宋体" panose="02000500000000000000" pitchFamily="2" charset="-122"/>
            </a:endParaRPr>
          </a:p>
          <a:p>
            <a:pPr defTabSz="914400">
              <a:spcBef>
                <a:spcPct val="50000"/>
              </a:spcBef>
              <a:tabLst>
                <a:tab pos="895350" algn="l"/>
              </a:tabLst>
            </a:pPr>
            <a:r>
              <a:rPr lang="en-US" altLang="en-US" sz="2000" dirty="0">
                <a:latin typeface="宋体" panose="02000500000000000000" pitchFamily="2" charset="-122"/>
                <a:ea typeface="宋体" panose="02000500000000000000" pitchFamily="2" charset="-122"/>
              </a:rPr>
              <a:t>fmul.d</a:t>
            </a:r>
            <a:r>
              <a:rPr lang="en-US" altLang="zh-CN" sz="2000" dirty="0">
                <a:latin typeface="宋体" panose="02000500000000000000" pitchFamily="2" charset="-122"/>
                <a:ea typeface="宋体" panose="02000500000000000000" pitchFamily="2" charset="-122"/>
              </a:rPr>
              <a:t> </a:t>
            </a:r>
            <a:r>
              <a:rPr lang="en-US" altLang="en-US" sz="2000" dirty="0">
                <a:latin typeface="宋体" panose="02000500000000000000" pitchFamily="2" charset="-122"/>
                <a:ea typeface="宋体" panose="02000500000000000000" pitchFamily="2" charset="-122"/>
              </a:rPr>
              <a:t>	$f</a:t>
            </a:r>
            <a:r>
              <a:rPr lang="en-US" altLang="zh-CN" sz="2000" dirty="0">
                <a:latin typeface="宋体" panose="02000500000000000000" pitchFamily="2" charset="-122"/>
                <a:ea typeface="宋体" panose="02000500000000000000" pitchFamily="2" charset="-122"/>
              </a:rPr>
              <a:t>7, </a:t>
            </a:r>
            <a:r>
              <a:rPr lang="en-US" altLang="en-US" sz="2000" dirty="0">
                <a:solidFill>
                  <a:srgbClr val="FF0000"/>
                </a:solidFill>
                <a:latin typeface="宋体" panose="02000500000000000000" pitchFamily="2" charset="-122"/>
                <a:ea typeface="宋体" panose="02000500000000000000" pitchFamily="2" charset="-122"/>
                <a:sym typeface="宋体" panose="02000500000000000000" pitchFamily="2" charset="-122"/>
              </a:rPr>
              <a:t>Renf</a:t>
            </a:r>
            <a:r>
              <a:rPr lang="zh-CN" altLang="en-US" sz="2000" dirty="0">
                <a:solidFill>
                  <a:srgbClr val="FF0000"/>
                </a:solidFill>
                <a:latin typeface="宋体" panose="02000500000000000000" pitchFamily="2" charset="-122"/>
                <a:ea typeface="宋体" panose="02000500000000000000" pitchFamily="2" charset="-122"/>
                <a:sym typeface="宋体" panose="02000500000000000000" pitchFamily="2" charset="-122"/>
              </a:rPr>
              <a:t>b</a:t>
            </a:r>
            <a:r>
              <a:rPr lang="en-US" altLang="zh-CN" sz="2000" dirty="0">
                <a:latin typeface="宋体" panose="02000500000000000000" pitchFamily="2" charset="-122"/>
                <a:ea typeface="宋体" panose="02000500000000000000" pitchFamily="2" charset="-122"/>
              </a:rPr>
              <a:t>, </a:t>
            </a:r>
            <a:r>
              <a:rPr lang="en-US" altLang="en-US" sz="2000" dirty="0">
                <a:latin typeface="宋体" panose="02000500000000000000" pitchFamily="2" charset="-122"/>
                <a:ea typeface="宋体" panose="02000500000000000000" pitchFamily="2" charset="-122"/>
              </a:rPr>
              <a:t>$f</a:t>
            </a:r>
            <a:r>
              <a:rPr lang="en-US" altLang="zh-CN" sz="2000" dirty="0">
                <a:latin typeface="宋体" panose="02000500000000000000" pitchFamily="2" charset="-122"/>
                <a:ea typeface="宋体" panose="02000500000000000000" pitchFamily="2" charset="-122"/>
              </a:rPr>
              <a:t>8</a:t>
            </a:r>
            <a:endParaRPr lang="en-US" altLang="zh-CN" dirty="0">
              <a:latin typeface="宋体" panose="02000500000000000000" pitchFamily="2" charset="-122"/>
              <a:ea typeface="宋体" panose="02000500000000000000"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Rectangle 2"/>
          <p:cNvSpPr>
            <a:spLocks noGrp="1"/>
          </p:cNvSpPr>
          <p:nvPr>
            <p:ph type="title"/>
          </p:nvPr>
        </p:nvSpPr>
        <p:spPr>
          <a:xfrm>
            <a:off x="1055688" y="2889250"/>
            <a:ext cx="10361612" cy="1143000"/>
          </a:xfrm>
        </p:spPr>
        <p:txBody>
          <a:bodyPr vert="horz" wrap="square" lIns="91440" tIns="45720" rIns="91440" bIns="45720" anchor="ctr" anchorCtr="0"/>
          <a:p>
            <a:pPr eaLnBrk="1" hangingPunct="1"/>
            <a:r>
              <a:rPr lang="en-US" altLang="zh-CN" dirty="0"/>
              <a:t>Tomasulo</a:t>
            </a:r>
            <a:r>
              <a:rPr lang="zh-CN" altLang="en-US" dirty="0"/>
              <a:t>算法</a:t>
            </a:r>
            <a:endParaRPr lang="zh-CN" altLang="en-US" dirty="0"/>
          </a:p>
        </p:txBody>
      </p:sp>
      <p:sp>
        <p:nvSpPr>
          <p:cNvPr id="29698" name="灯片编号占位符 4"/>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buSzTx/>
            </a:pPr>
            <a:fld id="{9A0DB2DC-4C9A-4742-B13C-FB6460FD3503}" type="slidenum">
              <a:rPr lang="en-US" altLang="zh-CN" sz="1400" dirty="0"/>
            </a:fld>
            <a:endParaRPr lang="en-US" altLang="zh-CN"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Rectangle 2"/>
          <p:cNvSpPr/>
          <p:nvPr/>
        </p:nvSpPr>
        <p:spPr>
          <a:xfrm>
            <a:off x="914400" y="368300"/>
            <a:ext cx="10361613" cy="820738"/>
          </a:xfrm>
          <a:prstGeom prst="rect">
            <a:avLst/>
          </a:prstGeom>
          <a:noFill/>
          <a:ln w="9525">
            <a:noFill/>
          </a:ln>
        </p:spPr>
        <p:txBody>
          <a:bodyPr anchor="ctr" anchorCtr="0"/>
          <a:p>
            <a:pPr algn="ctr"/>
            <a:r>
              <a:rPr lang="en-US" altLang="zh-CN" sz="3200" dirty="0">
                <a:solidFill>
                  <a:srgbClr val="FF0000"/>
                </a:solidFill>
                <a:latin typeface="Arial" panose="02080604020202020204" pitchFamily="34" charset="0"/>
                <a:ea typeface="黑体" panose="02000500000000000000" pitchFamily="49" charset="-122"/>
              </a:rPr>
              <a:t>Tomasulo</a:t>
            </a:r>
            <a:r>
              <a:rPr lang="zh-CN" altLang="en-US" sz="3200" dirty="0">
                <a:solidFill>
                  <a:srgbClr val="FF0000"/>
                </a:solidFill>
                <a:latin typeface="Arial" panose="02080604020202020204" pitchFamily="34" charset="0"/>
                <a:ea typeface="黑体" panose="02000500000000000000" pitchFamily="49" charset="-122"/>
              </a:rPr>
              <a:t>算法</a:t>
            </a:r>
            <a:endParaRPr lang="zh-CN" altLang="en-US" sz="3200" dirty="0">
              <a:solidFill>
                <a:srgbClr val="FF0000"/>
              </a:solidFill>
              <a:latin typeface="Arial" panose="02080604020202020204" pitchFamily="34" charset="0"/>
              <a:ea typeface="黑体" panose="02000500000000000000" pitchFamily="49" charset="-122"/>
            </a:endParaRPr>
          </a:p>
        </p:txBody>
      </p:sp>
      <p:sp>
        <p:nvSpPr>
          <p:cNvPr id="53251" name="Rectangle 3"/>
          <p:cNvSpPr>
            <a:spLocks noChangeArrowheads="1"/>
          </p:cNvSpPr>
          <p:nvPr/>
        </p:nvSpPr>
        <p:spPr bwMode="auto">
          <a:xfrm>
            <a:off x="431800" y="1449388"/>
            <a:ext cx="11518900" cy="4895850"/>
          </a:xfrm>
          <a:prstGeom prst="rect">
            <a:avLst/>
          </a:prstGeom>
          <a:noFill/>
          <a:ln w="9525">
            <a:noFill/>
            <a:miter lim="800000"/>
          </a:ln>
        </p:spPr>
        <p:txBody>
          <a:bodyPr/>
          <a:lstStyle/>
          <a:p>
            <a:pPr marL="342900" marR="0" lvl="0" indent="-342900" algn="l" defTabSz="914400" rtl="0" eaLnBrk="1" fontAlgn="base" latinLnBrk="0" hangingPunct="1">
              <a:lnSpc>
                <a:spcPct val="150000"/>
              </a:lnSpc>
              <a:spcBef>
                <a:spcPts val="600"/>
              </a:spcBef>
              <a:spcAft>
                <a:spcPct val="0"/>
              </a:spcAft>
              <a:buClrTx/>
              <a:buSzTx/>
              <a:buFontTx/>
              <a:buChar char="•"/>
              <a:defRPr/>
            </a:pPr>
            <a:r>
              <a:rPr kumimoji="1" lang="en-US" altLang="zh-CN" sz="2000" b="1" i="0" u="none" strike="noStrike" kern="1200" cap="none" spc="0" normalizeH="0" baseline="0" noProof="0" dirty="0">
                <a:ln>
                  <a:noFill/>
                </a:ln>
                <a:solidFill>
                  <a:schemeClr val="tx1"/>
                </a:solidFill>
                <a:effectLst/>
                <a:uLnTx/>
                <a:uFillTx/>
                <a:latin typeface="+mn-ea"/>
                <a:ea typeface="+mn-ea"/>
                <a:cs typeface="+mn-cs"/>
              </a:rPr>
              <a:t>IBM 360/91</a:t>
            </a:r>
            <a:r>
              <a:rPr kumimoji="1" lang="zh-CN" altLang="en-US" sz="2000" b="1" i="0" u="none" strike="noStrike" kern="1200" cap="none" spc="0" normalizeH="0" baseline="0" noProof="0" dirty="0">
                <a:ln>
                  <a:noFill/>
                </a:ln>
                <a:solidFill>
                  <a:schemeClr val="tx1"/>
                </a:solidFill>
                <a:effectLst/>
                <a:uLnTx/>
                <a:uFillTx/>
                <a:latin typeface="+mn-ea"/>
                <a:ea typeface="+mn-ea"/>
                <a:cs typeface="+mn-cs"/>
              </a:rPr>
              <a:t>中首次使用</a:t>
            </a:r>
            <a:endParaRPr kumimoji="1" lang="zh-CN" altLang="en-US" sz="20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en-US" altLang="zh-CN" sz="1600" b="1" i="0" u="none" strike="noStrike" kern="1200" cap="none" spc="0" normalizeH="0" baseline="0" noProof="0" dirty="0">
                <a:ln>
                  <a:noFill/>
                </a:ln>
                <a:solidFill>
                  <a:schemeClr val="tx1"/>
                </a:solidFill>
                <a:effectLst/>
                <a:uLnTx/>
                <a:uFillTx/>
                <a:latin typeface="+mn-ea"/>
                <a:ea typeface="+mn-ea"/>
                <a:cs typeface="+mn-cs"/>
              </a:rPr>
              <a:t>1966</a:t>
            </a:r>
            <a:r>
              <a:rPr kumimoji="1" lang="zh-CN" altLang="en-US" sz="1600" b="1" i="0" u="none" strike="noStrike" kern="1200" cap="none" spc="0" normalizeH="0" baseline="0" noProof="0" dirty="0">
                <a:ln>
                  <a:noFill/>
                </a:ln>
                <a:solidFill>
                  <a:schemeClr val="tx1"/>
                </a:solidFill>
                <a:effectLst/>
                <a:uLnTx/>
                <a:uFillTx/>
                <a:latin typeface="+mn-ea"/>
                <a:ea typeface="+mn-ea"/>
                <a:cs typeface="+mn-cs"/>
              </a:rPr>
              <a:t>年，比</a:t>
            </a:r>
            <a:r>
              <a:rPr kumimoji="1" lang="en-US" altLang="zh-CN" sz="1600" b="1" i="0" u="none" strike="noStrike" kern="1200" cap="none" spc="0" normalizeH="0" baseline="0" noProof="0" dirty="0">
                <a:ln>
                  <a:noFill/>
                </a:ln>
                <a:solidFill>
                  <a:schemeClr val="tx1"/>
                </a:solidFill>
                <a:effectLst/>
                <a:uLnTx/>
                <a:uFillTx/>
                <a:latin typeface="+mn-ea"/>
                <a:ea typeface="+mn-ea"/>
                <a:cs typeface="+mn-cs"/>
              </a:rPr>
              <a:t>CDC 6600</a:t>
            </a:r>
            <a:r>
              <a:rPr kumimoji="1" lang="zh-CN" altLang="en-US" sz="1600" b="1" i="0" u="none" strike="noStrike" kern="1200" cap="none" spc="0" normalizeH="0" baseline="0" noProof="0" dirty="0">
                <a:ln>
                  <a:noFill/>
                </a:ln>
                <a:solidFill>
                  <a:schemeClr val="tx1"/>
                </a:solidFill>
                <a:effectLst/>
                <a:uLnTx/>
                <a:uFillTx/>
                <a:latin typeface="+mn-ea"/>
                <a:ea typeface="+mn-ea"/>
                <a:cs typeface="+mn-cs"/>
              </a:rPr>
              <a:t>晚</a:t>
            </a:r>
            <a:r>
              <a:rPr kumimoji="1" lang="en-US" altLang="zh-CN" sz="1600" b="1" i="0" u="none" strike="noStrike" kern="1200" cap="none" spc="0" normalizeH="0" baseline="0" noProof="0" dirty="0">
                <a:ln>
                  <a:noFill/>
                </a:ln>
                <a:solidFill>
                  <a:schemeClr val="tx1"/>
                </a:solidFill>
                <a:effectLst/>
                <a:uLnTx/>
                <a:uFillTx/>
                <a:latin typeface="+mn-ea"/>
                <a:ea typeface="+mn-ea"/>
                <a:cs typeface="+mn-cs"/>
              </a:rPr>
              <a:t>3</a:t>
            </a:r>
            <a:r>
              <a:rPr kumimoji="1" lang="zh-CN" altLang="en-US" sz="1600" b="1" i="0" u="none" strike="noStrike" kern="1200" cap="none" spc="0" normalizeH="0" baseline="0" noProof="0" dirty="0">
                <a:ln>
                  <a:noFill/>
                </a:ln>
                <a:solidFill>
                  <a:schemeClr val="tx1"/>
                </a:solidFill>
                <a:effectLst/>
                <a:uLnTx/>
                <a:uFillTx/>
                <a:latin typeface="+mn-ea"/>
                <a:ea typeface="+mn-ea"/>
                <a:cs typeface="+mn-cs"/>
              </a:rPr>
              <a:t>年</a:t>
            </a:r>
            <a:endParaRPr kumimoji="1" lang="zh-CN" altLang="en-US"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en-US" altLang="zh-CN" sz="1600" b="1" i="0" u="none" strike="noStrike" kern="1200" cap="none" spc="0" normalizeH="0" baseline="0" noProof="0" dirty="0">
                <a:ln>
                  <a:noFill/>
                </a:ln>
                <a:solidFill>
                  <a:schemeClr val="tx1"/>
                </a:solidFill>
                <a:effectLst/>
                <a:uLnTx/>
                <a:uFillTx/>
                <a:latin typeface="+mn-ea"/>
                <a:ea typeface="+mn-ea"/>
                <a:cs typeface="+mn-cs"/>
              </a:rPr>
              <a:t>Robert </a:t>
            </a:r>
            <a:r>
              <a:rPr kumimoji="1" lang="en-US" altLang="zh-CN" sz="1600" b="1" i="0" u="none" strike="noStrike" kern="1200" cap="none" spc="0" normalizeH="0" baseline="0" noProof="0" dirty="0" err="1">
                <a:ln>
                  <a:noFill/>
                </a:ln>
                <a:solidFill>
                  <a:schemeClr val="tx1"/>
                </a:solidFill>
                <a:effectLst/>
                <a:uLnTx/>
                <a:uFillTx/>
                <a:latin typeface="+mn-ea"/>
                <a:ea typeface="+mn-ea"/>
                <a:cs typeface="+mn-cs"/>
              </a:rPr>
              <a:t>Tomasulo</a:t>
            </a:r>
            <a:r>
              <a:rPr kumimoji="1" lang="zh-CN" altLang="zh-CN" sz="1600" b="1" i="0" u="none" strike="noStrike" kern="1200" cap="none" spc="0" normalizeH="0" baseline="0" noProof="0" dirty="0">
                <a:ln>
                  <a:noFill/>
                </a:ln>
                <a:solidFill>
                  <a:schemeClr val="tx1"/>
                </a:solidFill>
                <a:effectLst/>
                <a:uLnTx/>
                <a:uFillTx/>
                <a:latin typeface="+mn-ea"/>
                <a:ea typeface="+mn-ea"/>
                <a:cs typeface="+mn-cs"/>
              </a:rPr>
              <a:t>提出</a:t>
            </a:r>
            <a:endParaRPr kumimoji="1" lang="zh-CN" altLang="zh-CN"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zh-CN" altLang="zh-CN" sz="1600" b="1" i="0" u="none" strike="noStrike" kern="1200" cap="none" spc="0" normalizeH="0" baseline="0" noProof="0" dirty="0">
                <a:ln>
                  <a:noFill/>
                </a:ln>
                <a:solidFill>
                  <a:schemeClr val="tx1"/>
                </a:solidFill>
                <a:effectLst/>
                <a:uLnTx/>
                <a:uFillTx/>
                <a:latin typeface="+mn-ea"/>
                <a:ea typeface="+mn-ea"/>
                <a:cs typeface="+mn-cs"/>
              </a:rPr>
              <a:t>设计目标：编译器在360系列中通用</a:t>
            </a:r>
            <a:endParaRPr kumimoji="1" lang="zh-CN" altLang="zh-CN" sz="1600" b="1" i="0" u="none" strike="noStrike" kern="1200" cap="none" spc="0" normalizeH="0" baseline="0" noProof="0" dirty="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50000"/>
              </a:lnSpc>
              <a:spcBef>
                <a:spcPts val="600"/>
              </a:spcBef>
              <a:spcAft>
                <a:spcPct val="0"/>
              </a:spcAft>
              <a:buClrTx/>
              <a:buSzTx/>
              <a:buFontTx/>
              <a:buChar char="•"/>
              <a:defRPr/>
            </a:pPr>
            <a:r>
              <a:rPr kumimoji="1" lang="zh-CN" altLang="en-US" sz="2000" b="1" i="0" u="none" strike="noStrike" kern="1200" cap="none" spc="0" normalizeH="0" baseline="0" noProof="0" dirty="0">
                <a:ln>
                  <a:noFill/>
                </a:ln>
                <a:solidFill>
                  <a:schemeClr val="tx1"/>
                </a:solidFill>
                <a:effectLst/>
                <a:uLnTx/>
                <a:uFillTx/>
                <a:latin typeface="+mn-ea"/>
                <a:ea typeface="+mn-ea"/>
                <a:cs typeface="+mn-cs"/>
              </a:rPr>
              <a:t>其主要思想现代处理器中普遍使用</a:t>
            </a:r>
            <a:endParaRPr kumimoji="1" lang="zh-CN" altLang="en-US" sz="20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早期</a:t>
            </a:r>
            <a:r>
              <a:rPr kumimoji="1" lang="en-US" altLang="zh-CN" sz="1600" b="1" i="0" u="none" strike="noStrike" kern="1200" cap="none" spc="0" normalizeH="0" baseline="0" noProof="0" dirty="0">
                <a:ln>
                  <a:noFill/>
                </a:ln>
                <a:solidFill>
                  <a:schemeClr val="tx1"/>
                </a:solidFill>
                <a:effectLst/>
                <a:uLnTx/>
                <a:uFillTx/>
                <a:latin typeface="+mn-ea"/>
                <a:ea typeface="+mn-ea"/>
                <a:cs typeface="+mn-cs"/>
              </a:rPr>
              <a:t>Alpha 21264, HP 8000, MIPS 10000, Pentium II, PowerPC 604, …</a:t>
            </a:r>
            <a:endParaRPr kumimoji="1" lang="en-US" altLang="zh-CN"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现在</a:t>
            </a:r>
            <a:r>
              <a:rPr kumimoji="1" lang="en-US" altLang="zh-CN" sz="1600" b="1" i="0" u="none" strike="noStrike" kern="1200" cap="none" spc="0" normalizeH="0" baseline="0" noProof="0" dirty="0">
                <a:ln>
                  <a:noFill/>
                </a:ln>
                <a:solidFill>
                  <a:schemeClr val="tx1"/>
                </a:solidFill>
                <a:effectLst/>
                <a:uLnTx/>
                <a:uFillTx/>
                <a:latin typeface="+mn-ea"/>
                <a:ea typeface="+mn-ea"/>
                <a:cs typeface="+mn-cs"/>
              </a:rPr>
              <a:t>Intel</a:t>
            </a:r>
            <a:r>
              <a:rPr kumimoji="1" lang="zh-CN" altLang="en-US" sz="1600" b="1" i="0" u="none" strike="noStrike" kern="1200" cap="none" spc="0" normalizeH="0" baseline="0" noProof="0" dirty="0">
                <a:ln>
                  <a:noFill/>
                </a:ln>
                <a:solidFill>
                  <a:schemeClr val="tx1"/>
                </a:solidFill>
                <a:effectLst/>
                <a:uLnTx/>
                <a:uFillTx/>
                <a:latin typeface="+mn-ea"/>
                <a:ea typeface="+mn-ea"/>
                <a:cs typeface="+mn-cs"/>
              </a:rPr>
              <a:t>、</a:t>
            </a:r>
            <a:r>
              <a:rPr kumimoji="1" lang="en-US" altLang="zh-CN" sz="1600" b="1" i="0" u="none" strike="noStrike" kern="1200" cap="none" spc="0" normalizeH="0" baseline="0" noProof="0" dirty="0">
                <a:ln>
                  <a:noFill/>
                </a:ln>
                <a:solidFill>
                  <a:schemeClr val="tx1"/>
                </a:solidFill>
                <a:effectLst/>
                <a:uLnTx/>
                <a:uFillTx/>
                <a:latin typeface="+mn-ea"/>
                <a:ea typeface="+mn-ea"/>
                <a:cs typeface="+mn-cs"/>
              </a:rPr>
              <a:t>AMD</a:t>
            </a:r>
            <a:r>
              <a:rPr kumimoji="1" lang="zh-CN" altLang="en-US" sz="1600" b="1" i="0" u="none" strike="noStrike" kern="1200" cap="none" spc="0" normalizeH="0" baseline="0" noProof="0" dirty="0">
                <a:ln>
                  <a:noFill/>
                </a:ln>
                <a:solidFill>
                  <a:schemeClr val="tx1"/>
                </a:solidFill>
                <a:effectLst/>
                <a:uLnTx/>
                <a:uFillTx/>
                <a:latin typeface="+mn-ea"/>
                <a:ea typeface="+mn-ea"/>
                <a:cs typeface="+mn-cs"/>
              </a:rPr>
              <a:t>、</a:t>
            </a:r>
            <a:r>
              <a:rPr kumimoji="1" lang="en-US" altLang="zh-CN" sz="1600" b="1" i="0" u="none" strike="noStrike" kern="1200" cap="none" spc="0" normalizeH="0" baseline="0" noProof="0" dirty="0">
                <a:ln>
                  <a:noFill/>
                </a:ln>
                <a:solidFill>
                  <a:schemeClr val="tx1"/>
                </a:solidFill>
                <a:effectLst/>
                <a:uLnTx/>
                <a:uFillTx/>
                <a:latin typeface="+mn-ea"/>
                <a:ea typeface="+mn-ea"/>
                <a:cs typeface="+mn-cs"/>
              </a:rPr>
              <a:t>IBM</a:t>
            </a:r>
            <a:r>
              <a:rPr kumimoji="1" lang="zh-CN" altLang="en-US" sz="1600" b="1" i="0" u="none" strike="noStrike" kern="1200" cap="none" spc="0" normalizeH="0" baseline="0" noProof="0" dirty="0">
                <a:ln>
                  <a:noFill/>
                </a:ln>
                <a:solidFill>
                  <a:schemeClr val="tx1"/>
                </a:solidFill>
                <a:effectLst/>
                <a:uLnTx/>
                <a:uFillTx/>
                <a:latin typeface="+mn-ea"/>
                <a:ea typeface="+mn-ea"/>
                <a:cs typeface="+mn-cs"/>
              </a:rPr>
              <a:t>的几乎所有</a:t>
            </a:r>
            <a:r>
              <a:rPr kumimoji="1" lang="en-US" altLang="zh-CN" sz="1600" b="1" i="0" u="none" strike="noStrike" kern="1200" cap="none" spc="0" normalizeH="0" baseline="0" noProof="0" dirty="0">
                <a:ln>
                  <a:noFill/>
                </a:ln>
                <a:solidFill>
                  <a:schemeClr val="tx1"/>
                </a:solidFill>
                <a:effectLst/>
                <a:uLnTx/>
                <a:uFillTx/>
                <a:latin typeface="+mn-ea"/>
                <a:ea typeface="+mn-ea"/>
                <a:cs typeface="+mn-cs"/>
              </a:rPr>
              <a:t>CPU</a:t>
            </a:r>
            <a:endParaRPr kumimoji="1" lang="en-US" altLang="zh-CN" sz="1600" b="1" i="0" u="none" strike="noStrike" kern="1200" cap="none" spc="0" normalizeH="0" baseline="0" noProof="0" dirty="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50000"/>
              </a:lnSpc>
              <a:spcBef>
                <a:spcPts val="600"/>
              </a:spcBef>
              <a:spcAft>
                <a:spcPct val="0"/>
              </a:spcAft>
              <a:buClrTx/>
              <a:buSzTx/>
              <a:buFontTx/>
              <a:buChar char="•"/>
              <a:defRPr/>
            </a:pPr>
            <a:r>
              <a:rPr kumimoji="1" lang="zh-CN" altLang="en-US" sz="2000" b="1" i="0" u="none" strike="noStrike" kern="1200" cap="none" spc="0" normalizeH="0" baseline="0" noProof="0" dirty="0">
                <a:ln>
                  <a:noFill/>
                </a:ln>
                <a:solidFill>
                  <a:schemeClr val="tx1"/>
                </a:solidFill>
                <a:effectLst/>
                <a:uLnTx/>
                <a:uFillTx/>
                <a:latin typeface="+mn-ea"/>
                <a:ea typeface="+mn-ea"/>
                <a:cs typeface="+mn-cs"/>
              </a:rPr>
              <a:t>通过寄存器重命名消除</a:t>
            </a:r>
            <a:r>
              <a:rPr kumimoji="1" lang="en-US" altLang="zh-CN" sz="2000" b="1" i="0" u="none" strike="noStrike" kern="1200" cap="none" spc="0" normalizeH="0" baseline="0" noProof="0" dirty="0">
                <a:ln>
                  <a:noFill/>
                </a:ln>
                <a:solidFill>
                  <a:schemeClr val="tx1"/>
                </a:solidFill>
                <a:effectLst/>
                <a:uLnTx/>
                <a:uFillTx/>
                <a:latin typeface="+mn-ea"/>
                <a:ea typeface="+mn-ea"/>
                <a:cs typeface="+mn-cs"/>
              </a:rPr>
              <a:t>WAR</a:t>
            </a:r>
            <a:r>
              <a:rPr kumimoji="1" lang="zh-CN" altLang="en-US" sz="2000" b="1" i="0" u="none" strike="noStrike" kern="1200" cap="none" spc="0" normalizeH="0" baseline="0" noProof="0" dirty="0">
                <a:ln>
                  <a:noFill/>
                </a:ln>
                <a:solidFill>
                  <a:schemeClr val="tx1"/>
                </a:solidFill>
                <a:effectLst/>
                <a:uLnTx/>
                <a:uFillTx/>
                <a:latin typeface="+mn-ea"/>
                <a:ea typeface="+mn-ea"/>
                <a:cs typeface="+mn-cs"/>
              </a:rPr>
              <a:t>和</a:t>
            </a:r>
            <a:r>
              <a:rPr kumimoji="1" lang="en-US" altLang="zh-CN" sz="2000" b="1" i="0" u="none" strike="noStrike" kern="1200" cap="none" spc="0" normalizeH="0" baseline="0" noProof="0" dirty="0">
                <a:ln>
                  <a:noFill/>
                </a:ln>
                <a:solidFill>
                  <a:schemeClr val="tx1"/>
                </a:solidFill>
                <a:effectLst/>
                <a:uLnTx/>
                <a:uFillTx/>
                <a:latin typeface="+mn-ea"/>
                <a:ea typeface="+mn-ea"/>
                <a:cs typeface="+mn-cs"/>
              </a:rPr>
              <a:t>WAW</a:t>
            </a:r>
            <a:r>
              <a:rPr kumimoji="1" lang="zh-CN" altLang="en-US" sz="2000" b="1" i="0" u="none" strike="noStrike" kern="1200" cap="none" spc="0" normalizeH="0" baseline="0" noProof="0" dirty="0">
                <a:ln>
                  <a:noFill/>
                </a:ln>
                <a:solidFill>
                  <a:schemeClr val="tx1"/>
                </a:solidFill>
                <a:effectLst/>
                <a:uLnTx/>
                <a:uFillTx/>
                <a:latin typeface="+mn-ea"/>
                <a:ea typeface="+mn-ea"/>
                <a:cs typeface="+mn-cs"/>
              </a:rPr>
              <a:t>相关</a:t>
            </a:r>
            <a:endParaRPr kumimoji="1" lang="zh-CN" altLang="en-US" sz="2000" b="1" i="0" u="none" strike="noStrike" kern="1200" cap="none" spc="0" normalizeH="0" baseline="0" noProof="0" dirty="0">
              <a:ln>
                <a:noFill/>
              </a:ln>
              <a:solidFill>
                <a:schemeClr val="tx1"/>
              </a:solidFill>
              <a:effectLst/>
              <a:uLnTx/>
              <a:uFillTx/>
              <a:latin typeface="+mn-ea"/>
              <a:ea typeface="+mn-ea"/>
              <a:cs typeface="+mn-cs"/>
            </a:endParaRPr>
          </a:p>
        </p:txBody>
      </p:sp>
      <p:sp>
        <p:nvSpPr>
          <p:cNvPr id="30723"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buSzTx/>
            </a:pPr>
            <a:fld id="{9A0DB2DC-4C9A-4742-B13C-FB6460FD3503}" type="slidenum">
              <a:rPr lang="en-US" altLang="zh-CN" sz="1400" dirty="0"/>
            </a:fld>
            <a:endParaRPr lang="en-US" altLang="zh-CN"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Text Box 40"/>
          <p:cNvSpPr txBox="1"/>
          <p:nvPr/>
        </p:nvSpPr>
        <p:spPr>
          <a:xfrm>
            <a:off x="2063750" y="4076700"/>
            <a:ext cx="1438275" cy="457200"/>
          </a:xfrm>
          <a:prstGeom prst="rect">
            <a:avLst/>
          </a:prstGeom>
          <a:noFill/>
          <a:ln w="9525">
            <a:noFill/>
          </a:ln>
        </p:spPr>
        <p:txBody>
          <a:bodyPr anchor="t" anchorCtr="0">
            <a:spAutoFit/>
          </a:bodyPr>
          <a:p>
            <a:pPr algn="ctr">
              <a:spcBef>
                <a:spcPct val="50000"/>
              </a:spcBef>
            </a:pPr>
            <a:endParaRPr lang="zh-CN" altLang="zh-CN" dirty="0">
              <a:latin typeface="Times New Roman" pitchFamily="18" charset="0"/>
              <a:ea typeface="宋体" panose="02000500000000000000" pitchFamily="2" charset="-122"/>
            </a:endParaRPr>
          </a:p>
        </p:txBody>
      </p:sp>
      <p:sp>
        <p:nvSpPr>
          <p:cNvPr id="31746" name="Rectangle 47"/>
          <p:cNvSpPr>
            <a:spLocks noGrp="1"/>
          </p:cNvSpPr>
          <p:nvPr>
            <p:ph idx="1"/>
          </p:nvPr>
        </p:nvSpPr>
        <p:spPr>
          <a:xfrm>
            <a:off x="169863" y="2312988"/>
            <a:ext cx="6356350" cy="4429125"/>
          </a:xfrm>
        </p:spPr>
        <p:txBody>
          <a:bodyPr vert="horz" wrap="square" lIns="90487" tIns="44450" rIns="90487" bIns="44450" anchor="t" anchorCtr="0"/>
          <a:p>
            <a:pPr eaLnBrk="1" hangingPunct="1">
              <a:lnSpc>
                <a:spcPct val="125000"/>
              </a:lnSpc>
              <a:spcBef>
                <a:spcPts val="300"/>
              </a:spcBef>
            </a:pPr>
            <a:r>
              <a:rPr lang="zh-CN" altLang="en-US" dirty="0"/>
              <a:t>保留站内容</a:t>
            </a:r>
            <a:endParaRPr lang="zh-CN" altLang="en-US" dirty="0"/>
          </a:p>
          <a:p>
            <a:pPr lvl="1" eaLnBrk="1" hangingPunct="1">
              <a:lnSpc>
                <a:spcPct val="125000"/>
              </a:lnSpc>
              <a:spcBef>
                <a:spcPts val="300"/>
              </a:spcBef>
            </a:pPr>
            <a:r>
              <a:rPr lang="en-US" altLang="zh-CN" dirty="0"/>
              <a:t>Busy: </a:t>
            </a:r>
            <a:r>
              <a:rPr lang="zh-CN" altLang="zh-CN" dirty="0"/>
              <a:t>忙位</a:t>
            </a:r>
            <a:endParaRPr lang="zh-CN" altLang="en-US" dirty="0"/>
          </a:p>
          <a:p>
            <a:pPr lvl="1" eaLnBrk="1" hangingPunct="1">
              <a:lnSpc>
                <a:spcPct val="125000"/>
              </a:lnSpc>
              <a:spcBef>
                <a:spcPts val="300"/>
              </a:spcBef>
            </a:pPr>
            <a:r>
              <a:rPr lang="en-US" altLang="zh-CN" dirty="0"/>
              <a:t>Op</a:t>
            </a:r>
            <a:r>
              <a:rPr lang="zh-CN" altLang="en-US" dirty="0"/>
              <a:t>：操作码 </a:t>
            </a:r>
            <a:endParaRPr lang="zh-CN" altLang="en-US" dirty="0"/>
          </a:p>
          <a:p>
            <a:pPr lvl="1" eaLnBrk="1" hangingPunct="1">
              <a:lnSpc>
                <a:spcPct val="125000"/>
              </a:lnSpc>
              <a:spcBef>
                <a:spcPts val="300"/>
              </a:spcBef>
            </a:pPr>
            <a:r>
              <a:rPr lang="en-US" altLang="zh-CN" dirty="0"/>
              <a:t>Vj, Vk: </a:t>
            </a:r>
            <a:r>
              <a:rPr lang="zh-CN" altLang="en-US" dirty="0"/>
              <a:t>源操作数的值</a:t>
            </a:r>
            <a:endParaRPr lang="zh-CN" altLang="en-US" dirty="0"/>
          </a:p>
          <a:p>
            <a:pPr lvl="1" eaLnBrk="1" hangingPunct="1">
              <a:lnSpc>
                <a:spcPct val="125000"/>
              </a:lnSpc>
              <a:spcBef>
                <a:spcPts val="300"/>
              </a:spcBef>
            </a:pPr>
            <a:r>
              <a:rPr lang="en-US" altLang="zh-CN" dirty="0"/>
              <a:t>Qj, Qk: </a:t>
            </a:r>
            <a:r>
              <a:rPr lang="zh-CN" altLang="en-US" dirty="0"/>
              <a:t>保存没有准备好的</a:t>
            </a:r>
            <a:r>
              <a:rPr lang="zh-CN" altLang="zh-CN" dirty="0"/>
              <a:t>源操作数保留站号（0表示操作数已经准备好）</a:t>
            </a:r>
            <a:endParaRPr lang="zh-CN" altLang="en-US" dirty="0"/>
          </a:p>
          <a:p>
            <a:pPr eaLnBrk="1" hangingPunct="1">
              <a:lnSpc>
                <a:spcPct val="125000"/>
              </a:lnSpc>
              <a:spcBef>
                <a:spcPts val="300"/>
              </a:spcBef>
            </a:pPr>
            <a:r>
              <a:rPr lang="zh-CN" altLang="en-US" dirty="0"/>
              <a:t>寄存器增加一个域</a:t>
            </a:r>
            <a:endParaRPr lang="zh-CN" altLang="en-US" dirty="0"/>
          </a:p>
          <a:p>
            <a:pPr lvl="1" eaLnBrk="1" hangingPunct="1">
              <a:lnSpc>
                <a:spcPct val="125000"/>
              </a:lnSpc>
              <a:spcBef>
                <a:spcPts val="300"/>
              </a:spcBef>
            </a:pPr>
            <a:r>
              <a:rPr lang="zh-CN" altLang="en-US" dirty="0"/>
              <a:t>结果状态域：空表示寄存器值可用，否则保存产生寄存器结果的保留站号</a:t>
            </a:r>
            <a:endParaRPr lang="zh-CN" altLang="en-US" dirty="0"/>
          </a:p>
          <a:p>
            <a:pPr eaLnBrk="1" hangingPunct="1">
              <a:lnSpc>
                <a:spcPct val="125000"/>
              </a:lnSpc>
              <a:spcBef>
                <a:spcPts val="300"/>
              </a:spcBef>
            </a:pPr>
            <a:r>
              <a:rPr lang="zh-CN" altLang="en-US" dirty="0"/>
              <a:t>结果总线</a:t>
            </a:r>
            <a:endParaRPr lang="zh-CN" altLang="en-US" dirty="0"/>
          </a:p>
          <a:p>
            <a:pPr lvl="1" eaLnBrk="1" hangingPunct="1">
              <a:lnSpc>
                <a:spcPct val="125000"/>
              </a:lnSpc>
              <a:spcBef>
                <a:spcPts val="300"/>
              </a:spcBef>
            </a:pPr>
            <a:r>
              <a:rPr lang="zh-CN" altLang="en-US" dirty="0"/>
              <a:t>除了送回结果值外，还要送回产生该结果的保留站号</a:t>
            </a:r>
            <a:endParaRPr lang="zh-CN" altLang="en-US" dirty="0"/>
          </a:p>
        </p:txBody>
      </p:sp>
      <p:sp>
        <p:nvSpPr>
          <p:cNvPr id="31747" name="Rectangle 48"/>
          <p:cNvSpPr/>
          <p:nvPr/>
        </p:nvSpPr>
        <p:spPr>
          <a:xfrm>
            <a:off x="914400" y="115888"/>
            <a:ext cx="10361613" cy="820737"/>
          </a:xfrm>
          <a:prstGeom prst="rect">
            <a:avLst/>
          </a:prstGeom>
          <a:noFill/>
          <a:ln w="9525">
            <a:noFill/>
          </a:ln>
        </p:spPr>
        <p:txBody>
          <a:bodyPr anchor="ctr" anchorCtr="0"/>
          <a:p>
            <a:pPr algn="ctr"/>
            <a:r>
              <a:rPr lang="en-US" altLang="zh-CN" sz="3200" dirty="0">
                <a:solidFill>
                  <a:srgbClr val="FF0000"/>
                </a:solidFill>
                <a:latin typeface="Arial" panose="02080604020202020204" pitchFamily="34" charset="0"/>
                <a:ea typeface="黑体" panose="02000500000000000000" pitchFamily="49" charset="-122"/>
              </a:rPr>
              <a:t>Tomasulo</a:t>
            </a:r>
            <a:r>
              <a:rPr lang="zh-CN" altLang="en-US" sz="3200" dirty="0">
                <a:solidFill>
                  <a:srgbClr val="FF0000"/>
                </a:solidFill>
                <a:latin typeface="Arial" panose="02080604020202020204" pitchFamily="34" charset="0"/>
                <a:ea typeface="黑体" panose="02000500000000000000" pitchFamily="49" charset="-122"/>
              </a:rPr>
              <a:t>算法结构</a:t>
            </a:r>
            <a:endParaRPr lang="zh-CN" altLang="en-US" sz="3200" dirty="0">
              <a:solidFill>
                <a:srgbClr val="FF0000"/>
              </a:solidFill>
              <a:latin typeface="Arial" panose="02080604020202020204" pitchFamily="34" charset="0"/>
              <a:ea typeface="黑体" panose="02000500000000000000" pitchFamily="49" charset="-122"/>
            </a:endParaRPr>
          </a:p>
        </p:txBody>
      </p:sp>
      <p:grpSp>
        <p:nvGrpSpPr>
          <p:cNvPr id="6" name="组合 5"/>
          <p:cNvGrpSpPr/>
          <p:nvPr/>
        </p:nvGrpSpPr>
        <p:grpSpPr>
          <a:xfrm>
            <a:off x="4485005" y="1449705"/>
            <a:ext cx="7679690" cy="3862070"/>
            <a:chOff x="7063" y="2283"/>
            <a:chExt cx="12094" cy="6082"/>
          </a:xfrm>
        </p:grpSpPr>
        <p:sp>
          <p:nvSpPr>
            <p:cNvPr id="31751" name="Line 52"/>
            <p:cNvSpPr/>
            <p:nvPr/>
          </p:nvSpPr>
          <p:spPr>
            <a:xfrm flipV="1">
              <a:off x="11639" y="3333"/>
              <a:ext cx="0" cy="528"/>
            </a:xfrm>
            <a:prstGeom prst="line">
              <a:avLst/>
            </a:prstGeom>
            <a:ln w="9525" cap="flat" cmpd="sng">
              <a:solidFill>
                <a:schemeClr val="tx1"/>
              </a:solidFill>
              <a:prstDash val="solid"/>
              <a:round/>
              <a:headEnd type="none" w="med" len="med"/>
              <a:tailEnd type="triangle" w="med" len="med"/>
            </a:ln>
          </p:spPr>
        </p:sp>
        <p:sp>
          <p:nvSpPr>
            <p:cNvPr id="31752" name="Line 53"/>
            <p:cNvSpPr/>
            <p:nvPr/>
          </p:nvSpPr>
          <p:spPr>
            <a:xfrm flipV="1">
              <a:off x="13025" y="3333"/>
              <a:ext cx="0" cy="528"/>
            </a:xfrm>
            <a:prstGeom prst="line">
              <a:avLst/>
            </a:prstGeom>
            <a:ln w="9525" cap="flat" cmpd="sng">
              <a:solidFill>
                <a:schemeClr val="tx1"/>
              </a:solidFill>
              <a:prstDash val="solid"/>
              <a:round/>
              <a:headEnd type="none" w="med" len="med"/>
              <a:tailEnd type="triangle" w="med" len="med"/>
            </a:ln>
          </p:spPr>
        </p:sp>
        <p:sp>
          <p:nvSpPr>
            <p:cNvPr id="31753" name="Line 54"/>
            <p:cNvSpPr/>
            <p:nvPr/>
          </p:nvSpPr>
          <p:spPr>
            <a:xfrm flipV="1">
              <a:off x="16305" y="3313"/>
              <a:ext cx="0" cy="528"/>
            </a:xfrm>
            <a:prstGeom prst="line">
              <a:avLst/>
            </a:prstGeom>
            <a:ln w="9525" cap="flat" cmpd="sng">
              <a:solidFill>
                <a:schemeClr val="tx1"/>
              </a:solidFill>
              <a:prstDash val="solid"/>
              <a:round/>
              <a:headEnd type="none" w="med" len="med"/>
              <a:tailEnd type="triangle" w="med" len="med"/>
            </a:ln>
          </p:spPr>
        </p:sp>
        <p:sp>
          <p:nvSpPr>
            <p:cNvPr id="31754" name="Line 55"/>
            <p:cNvSpPr/>
            <p:nvPr/>
          </p:nvSpPr>
          <p:spPr>
            <a:xfrm flipV="1">
              <a:off x="17798" y="3293"/>
              <a:ext cx="0" cy="528"/>
            </a:xfrm>
            <a:prstGeom prst="line">
              <a:avLst/>
            </a:prstGeom>
            <a:ln w="9525" cap="flat" cmpd="sng">
              <a:solidFill>
                <a:schemeClr val="tx1"/>
              </a:solidFill>
              <a:prstDash val="solid"/>
              <a:round/>
              <a:headEnd type="none" w="med" len="med"/>
              <a:tailEnd type="triangle" w="med" len="med"/>
            </a:ln>
          </p:spPr>
        </p:sp>
        <p:sp>
          <p:nvSpPr>
            <p:cNvPr id="31755" name="Line 56"/>
            <p:cNvSpPr/>
            <p:nvPr/>
          </p:nvSpPr>
          <p:spPr>
            <a:xfrm flipV="1">
              <a:off x="12815" y="7393"/>
              <a:ext cx="0" cy="973"/>
            </a:xfrm>
            <a:prstGeom prst="line">
              <a:avLst/>
            </a:prstGeom>
            <a:ln w="19050" cap="flat" cmpd="sng">
              <a:solidFill>
                <a:schemeClr val="tx1"/>
              </a:solidFill>
              <a:prstDash val="solid"/>
              <a:round/>
              <a:headEnd type="none" w="med" len="med"/>
              <a:tailEnd type="triangle" w="med" len="med"/>
            </a:ln>
          </p:spPr>
        </p:sp>
        <p:sp>
          <p:nvSpPr>
            <p:cNvPr id="31756" name="Line 57"/>
            <p:cNvSpPr/>
            <p:nvPr/>
          </p:nvSpPr>
          <p:spPr>
            <a:xfrm flipV="1">
              <a:off x="12275" y="4795"/>
              <a:ext cx="0" cy="390"/>
            </a:xfrm>
            <a:prstGeom prst="line">
              <a:avLst/>
            </a:prstGeom>
            <a:ln w="19050" cap="flat" cmpd="sng">
              <a:solidFill>
                <a:schemeClr val="tx1"/>
              </a:solidFill>
              <a:prstDash val="solid"/>
              <a:round/>
              <a:headEnd type="none" w="med" len="med"/>
              <a:tailEnd type="triangle" w="med" len="med"/>
            </a:ln>
          </p:spPr>
        </p:sp>
        <p:sp>
          <p:nvSpPr>
            <p:cNvPr id="31757" name="Line 58"/>
            <p:cNvSpPr/>
            <p:nvPr/>
          </p:nvSpPr>
          <p:spPr>
            <a:xfrm flipV="1">
              <a:off x="16989" y="4783"/>
              <a:ext cx="0" cy="410"/>
            </a:xfrm>
            <a:prstGeom prst="line">
              <a:avLst/>
            </a:prstGeom>
            <a:ln w="19050" cap="flat" cmpd="sng">
              <a:solidFill>
                <a:schemeClr val="tx1"/>
              </a:solidFill>
              <a:prstDash val="solid"/>
              <a:round/>
              <a:headEnd type="none" w="med" len="med"/>
              <a:tailEnd type="triangle" w="med" len="med"/>
            </a:ln>
          </p:spPr>
        </p:sp>
        <p:sp>
          <p:nvSpPr>
            <p:cNvPr id="31758" name="Line 59"/>
            <p:cNvSpPr/>
            <p:nvPr/>
          </p:nvSpPr>
          <p:spPr>
            <a:xfrm flipV="1">
              <a:off x="17029" y="2283"/>
              <a:ext cx="0" cy="583"/>
            </a:xfrm>
            <a:prstGeom prst="line">
              <a:avLst/>
            </a:prstGeom>
            <a:ln w="19050" cap="flat" cmpd="sng">
              <a:solidFill>
                <a:srgbClr val="FF0000"/>
              </a:solidFill>
              <a:prstDash val="solid"/>
              <a:round/>
              <a:headEnd type="none" w="med" len="med"/>
              <a:tailEnd type="triangle" w="med" len="med"/>
            </a:ln>
          </p:spPr>
        </p:sp>
        <p:sp>
          <p:nvSpPr>
            <p:cNvPr id="31759" name="Line 60"/>
            <p:cNvSpPr/>
            <p:nvPr/>
          </p:nvSpPr>
          <p:spPr>
            <a:xfrm flipV="1">
              <a:off x="12412" y="2310"/>
              <a:ext cx="0" cy="583"/>
            </a:xfrm>
            <a:prstGeom prst="line">
              <a:avLst/>
            </a:prstGeom>
            <a:ln w="19050" cap="flat" cmpd="sng">
              <a:solidFill>
                <a:schemeClr val="tx1"/>
              </a:solidFill>
              <a:prstDash val="solid"/>
              <a:round/>
              <a:headEnd type="none" w="med" len="med"/>
              <a:tailEnd type="triangle" w="med" len="med"/>
            </a:ln>
          </p:spPr>
        </p:sp>
        <p:sp>
          <p:nvSpPr>
            <p:cNvPr id="31760" name="Line 61"/>
            <p:cNvSpPr/>
            <p:nvPr/>
          </p:nvSpPr>
          <p:spPr>
            <a:xfrm>
              <a:off x="8119" y="2300"/>
              <a:ext cx="11039" cy="0"/>
            </a:xfrm>
            <a:prstGeom prst="line">
              <a:avLst/>
            </a:prstGeom>
            <a:ln w="19050" cap="flat" cmpd="sng">
              <a:solidFill>
                <a:srgbClr val="FF0000"/>
              </a:solidFill>
              <a:prstDash val="solid"/>
              <a:round/>
              <a:headEnd type="none" w="med" len="med"/>
              <a:tailEnd type="none" w="med" len="med"/>
            </a:ln>
          </p:spPr>
        </p:sp>
        <p:sp>
          <p:nvSpPr>
            <p:cNvPr id="31761" name="Line 62"/>
            <p:cNvSpPr/>
            <p:nvPr/>
          </p:nvSpPr>
          <p:spPr>
            <a:xfrm flipV="1">
              <a:off x="11276" y="4780"/>
              <a:ext cx="0" cy="818"/>
            </a:xfrm>
            <a:prstGeom prst="line">
              <a:avLst/>
            </a:prstGeom>
            <a:ln w="19050" cap="flat" cmpd="sng">
              <a:solidFill>
                <a:srgbClr val="FF0000"/>
              </a:solidFill>
              <a:prstDash val="solid"/>
              <a:round/>
              <a:headEnd type="none" w="med" len="med"/>
              <a:tailEnd type="triangle" w="med" len="med"/>
            </a:ln>
          </p:spPr>
        </p:sp>
        <p:sp>
          <p:nvSpPr>
            <p:cNvPr id="31762" name="Line 63"/>
            <p:cNvSpPr/>
            <p:nvPr/>
          </p:nvSpPr>
          <p:spPr>
            <a:xfrm flipV="1">
              <a:off x="17752" y="4768"/>
              <a:ext cx="0" cy="818"/>
            </a:xfrm>
            <a:prstGeom prst="line">
              <a:avLst/>
            </a:prstGeom>
            <a:ln w="19050" cap="flat" cmpd="sng">
              <a:solidFill>
                <a:srgbClr val="FF0000"/>
              </a:solidFill>
              <a:prstDash val="solid"/>
              <a:round/>
              <a:headEnd type="none" w="med" len="med"/>
              <a:tailEnd type="triangle" w="med" len="med"/>
            </a:ln>
          </p:spPr>
        </p:sp>
        <p:sp>
          <p:nvSpPr>
            <p:cNvPr id="31763" name="Line 64"/>
            <p:cNvSpPr/>
            <p:nvPr/>
          </p:nvSpPr>
          <p:spPr>
            <a:xfrm>
              <a:off x="19135" y="2300"/>
              <a:ext cx="0" cy="5455"/>
            </a:xfrm>
            <a:prstGeom prst="line">
              <a:avLst/>
            </a:prstGeom>
            <a:ln w="19050" cap="flat" cmpd="sng">
              <a:solidFill>
                <a:srgbClr val="FF0000"/>
              </a:solidFill>
              <a:prstDash val="solid"/>
              <a:round/>
              <a:headEnd type="none" w="med" len="med"/>
              <a:tailEnd type="none" w="med" len="med"/>
            </a:ln>
          </p:spPr>
        </p:sp>
        <p:sp>
          <p:nvSpPr>
            <p:cNvPr id="31764" name="Line 65"/>
            <p:cNvSpPr/>
            <p:nvPr/>
          </p:nvSpPr>
          <p:spPr>
            <a:xfrm flipV="1">
              <a:off x="12779" y="5150"/>
              <a:ext cx="0" cy="915"/>
            </a:xfrm>
            <a:prstGeom prst="line">
              <a:avLst/>
            </a:prstGeom>
            <a:ln w="19050" cap="flat" cmpd="sng">
              <a:solidFill>
                <a:schemeClr val="tx1"/>
              </a:solidFill>
              <a:prstDash val="solid"/>
              <a:round/>
              <a:headEnd type="none" w="med" len="med"/>
              <a:tailEnd type="triangle" w="med" len="med"/>
            </a:ln>
          </p:spPr>
        </p:sp>
        <p:sp>
          <p:nvSpPr>
            <p:cNvPr id="31765" name="Text Box 66"/>
            <p:cNvSpPr txBox="1"/>
            <p:nvPr/>
          </p:nvSpPr>
          <p:spPr>
            <a:xfrm>
              <a:off x="9896" y="3538"/>
              <a:ext cx="1637" cy="29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加法保留站</a:t>
              </a:r>
              <a:endParaRPr lang="zh-CN" altLang="en-US" sz="1200" b="1" dirty="0">
                <a:latin typeface="Times New Roman" pitchFamily="18" charset="0"/>
                <a:ea typeface="宋体" panose="02000500000000000000" pitchFamily="2" charset="-122"/>
              </a:endParaRPr>
            </a:p>
          </p:txBody>
        </p:sp>
        <p:sp>
          <p:nvSpPr>
            <p:cNvPr id="31766" name="Text Box 67"/>
            <p:cNvSpPr txBox="1"/>
            <p:nvPr/>
          </p:nvSpPr>
          <p:spPr>
            <a:xfrm>
              <a:off x="10906" y="5788"/>
              <a:ext cx="1717" cy="290"/>
            </a:xfrm>
            <a:prstGeom prst="rect">
              <a:avLst/>
            </a:prstGeom>
            <a:noFill/>
            <a:ln w="9525">
              <a:noFill/>
            </a:ln>
            <a:extLst>
              <a:ext uri="{909E8E84-426E-40DD-AFC4-6F175D3DCCD1}">
                <a14:hiddenFill xmlns:a14="http://schemas.microsoft.com/office/drawing/2010/main">
                  <a:solidFill>
                    <a:schemeClr val="bg1"/>
                  </a:solidFill>
                </a14:hiddenFill>
              </a:ext>
            </a:extLst>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浮点寄存器</a:t>
              </a:r>
              <a:endParaRPr lang="zh-CN" altLang="en-US" sz="1200" b="1" dirty="0">
                <a:latin typeface="Times New Roman" pitchFamily="18" charset="0"/>
                <a:ea typeface="宋体" panose="02000500000000000000" pitchFamily="2" charset="-122"/>
              </a:endParaRPr>
            </a:p>
          </p:txBody>
        </p:sp>
        <p:sp>
          <p:nvSpPr>
            <p:cNvPr id="31767" name="Text Box 68"/>
            <p:cNvSpPr txBox="1"/>
            <p:nvPr/>
          </p:nvSpPr>
          <p:spPr>
            <a:xfrm>
              <a:off x="14629" y="3520"/>
              <a:ext cx="1637" cy="29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乘法保留站</a:t>
              </a:r>
              <a:endParaRPr lang="zh-CN" altLang="en-US" sz="1200" b="1" dirty="0">
                <a:latin typeface="Times New Roman" pitchFamily="18" charset="0"/>
                <a:ea typeface="宋体" panose="02000500000000000000" pitchFamily="2" charset="-122"/>
              </a:endParaRPr>
            </a:p>
          </p:txBody>
        </p:sp>
        <p:sp>
          <p:nvSpPr>
            <p:cNvPr id="31768" name="Line 69"/>
            <p:cNvSpPr/>
            <p:nvPr/>
          </p:nvSpPr>
          <p:spPr>
            <a:xfrm>
              <a:off x="13835" y="7755"/>
              <a:ext cx="5323" cy="0"/>
            </a:xfrm>
            <a:prstGeom prst="line">
              <a:avLst/>
            </a:prstGeom>
            <a:ln w="19050" cap="flat" cmpd="sng">
              <a:solidFill>
                <a:srgbClr val="FF0000"/>
              </a:solidFill>
              <a:prstDash val="solid"/>
              <a:round/>
              <a:headEnd type="none" w="med" len="med"/>
              <a:tailEnd type="none" w="med" len="med"/>
            </a:ln>
          </p:spPr>
        </p:sp>
        <p:sp>
          <p:nvSpPr>
            <p:cNvPr id="31769" name="Line 70"/>
            <p:cNvSpPr/>
            <p:nvPr/>
          </p:nvSpPr>
          <p:spPr>
            <a:xfrm flipV="1">
              <a:off x="13835" y="7348"/>
              <a:ext cx="3" cy="410"/>
            </a:xfrm>
            <a:prstGeom prst="line">
              <a:avLst/>
            </a:prstGeom>
            <a:ln w="19050" cap="flat" cmpd="sng">
              <a:solidFill>
                <a:srgbClr val="FF0000"/>
              </a:solidFill>
              <a:prstDash val="solid"/>
              <a:round/>
              <a:headEnd type="none" w="med" len="med"/>
              <a:tailEnd type="triangle" w="med" len="med"/>
            </a:ln>
          </p:spPr>
        </p:sp>
        <p:grpSp>
          <p:nvGrpSpPr>
            <p:cNvPr id="31772" name="Group 73"/>
            <p:cNvGrpSpPr/>
            <p:nvPr/>
          </p:nvGrpSpPr>
          <p:grpSpPr>
            <a:xfrm rot="0">
              <a:off x="7063" y="2295"/>
              <a:ext cx="12093" cy="3273"/>
              <a:chOff x="1701" y="512"/>
              <a:chExt cx="3628" cy="1309"/>
            </a:xfrm>
          </p:grpSpPr>
          <p:sp>
            <p:nvSpPr>
              <p:cNvPr id="31773" name="Line 74"/>
              <p:cNvSpPr/>
              <p:nvPr/>
            </p:nvSpPr>
            <p:spPr>
              <a:xfrm flipV="1">
                <a:off x="2154" y="1661"/>
                <a:ext cx="2518" cy="0"/>
              </a:xfrm>
              <a:prstGeom prst="line">
                <a:avLst/>
              </a:prstGeom>
              <a:ln w="19050" cap="flat" cmpd="sng">
                <a:solidFill>
                  <a:schemeClr val="tx1"/>
                </a:solidFill>
                <a:prstDash val="solid"/>
                <a:round/>
                <a:headEnd type="none" w="med" len="med"/>
                <a:tailEnd type="none" w="med" len="med"/>
              </a:ln>
            </p:spPr>
          </p:sp>
          <p:sp>
            <p:nvSpPr>
              <p:cNvPr id="31774" name="Line 75"/>
              <p:cNvSpPr/>
              <p:nvPr/>
            </p:nvSpPr>
            <p:spPr>
              <a:xfrm flipV="1">
                <a:off x="1949" y="1820"/>
                <a:ext cx="3380" cy="0"/>
              </a:xfrm>
              <a:prstGeom prst="line">
                <a:avLst/>
              </a:prstGeom>
              <a:ln w="19050" cap="flat" cmpd="sng">
                <a:solidFill>
                  <a:srgbClr val="FF0000"/>
                </a:solidFill>
                <a:prstDash val="solid"/>
                <a:round/>
                <a:headEnd type="none" w="med" len="med"/>
                <a:tailEnd type="none" w="med" len="med"/>
              </a:ln>
            </p:spPr>
          </p:sp>
          <p:grpSp>
            <p:nvGrpSpPr>
              <p:cNvPr id="31775" name="Group 76"/>
              <p:cNvGrpSpPr/>
              <p:nvPr/>
            </p:nvGrpSpPr>
            <p:grpSpPr>
              <a:xfrm>
                <a:off x="1701" y="512"/>
                <a:ext cx="3494" cy="1309"/>
                <a:chOff x="1701" y="512"/>
                <a:chExt cx="3494" cy="1309"/>
              </a:xfrm>
            </p:grpSpPr>
            <p:grpSp>
              <p:nvGrpSpPr>
                <p:cNvPr id="31776" name="Group 77"/>
                <p:cNvGrpSpPr/>
                <p:nvPr/>
              </p:nvGrpSpPr>
              <p:grpSpPr>
                <a:xfrm>
                  <a:off x="1950" y="512"/>
                  <a:ext cx="204" cy="1309"/>
                  <a:chOff x="1950" y="512"/>
                  <a:chExt cx="204" cy="1309"/>
                </a:xfrm>
              </p:grpSpPr>
              <p:sp>
                <p:nvSpPr>
                  <p:cNvPr id="31777" name="Line 78"/>
                  <p:cNvSpPr/>
                  <p:nvPr/>
                </p:nvSpPr>
                <p:spPr>
                  <a:xfrm flipV="1">
                    <a:off x="2022" y="512"/>
                    <a:ext cx="0" cy="233"/>
                  </a:xfrm>
                  <a:prstGeom prst="line">
                    <a:avLst/>
                  </a:prstGeom>
                  <a:ln w="19050" cap="flat" cmpd="sng">
                    <a:solidFill>
                      <a:schemeClr val="tx1"/>
                    </a:solidFill>
                    <a:prstDash val="solid"/>
                    <a:round/>
                    <a:headEnd type="none" w="med" len="med"/>
                    <a:tailEnd type="triangle" w="med" len="med"/>
                  </a:ln>
                </p:spPr>
              </p:sp>
              <p:sp>
                <p:nvSpPr>
                  <p:cNvPr id="31778" name="Line 79"/>
                  <p:cNvSpPr/>
                  <p:nvPr/>
                </p:nvSpPr>
                <p:spPr>
                  <a:xfrm flipV="1">
                    <a:off x="1950" y="1502"/>
                    <a:ext cx="0" cy="319"/>
                  </a:xfrm>
                  <a:prstGeom prst="line">
                    <a:avLst/>
                  </a:prstGeom>
                  <a:ln w="19050" cap="flat" cmpd="sng">
                    <a:solidFill>
                      <a:srgbClr val="FF0000"/>
                    </a:solidFill>
                    <a:prstDash val="solid"/>
                    <a:round/>
                    <a:headEnd type="none" w="med" len="med"/>
                    <a:tailEnd type="triangle" w="med" len="med"/>
                  </a:ln>
                </p:spPr>
              </p:sp>
              <p:sp>
                <p:nvSpPr>
                  <p:cNvPr id="31779" name="Line 80"/>
                  <p:cNvSpPr/>
                  <p:nvPr/>
                </p:nvSpPr>
                <p:spPr>
                  <a:xfrm flipV="1">
                    <a:off x="2154" y="1508"/>
                    <a:ext cx="0" cy="156"/>
                  </a:xfrm>
                  <a:prstGeom prst="line">
                    <a:avLst/>
                  </a:prstGeom>
                  <a:ln w="19050" cap="flat" cmpd="sng">
                    <a:solidFill>
                      <a:schemeClr val="tx1"/>
                    </a:solidFill>
                    <a:prstDash val="solid"/>
                    <a:round/>
                    <a:headEnd type="none" w="med" len="med"/>
                    <a:tailEnd type="triangle" w="med" len="med"/>
                  </a:ln>
                </p:spPr>
              </p:sp>
            </p:grpSp>
            <p:sp>
              <p:nvSpPr>
                <p:cNvPr id="31780" name="Text Box 81"/>
                <p:cNvSpPr txBox="1"/>
                <p:nvPr/>
              </p:nvSpPr>
              <p:spPr>
                <a:xfrm>
                  <a:off x="2777" y="750"/>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浮点加</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减法器</a:t>
                  </a:r>
                  <a:endParaRPr lang="zh-CN" altLang="en-US" sz="1200" b="1" dirty="0">
                    <a:latin typeface="Times New Roman" pitchFamily="18" charset="0"/>
                    <a:ea typeface="宋体" panose="02000500000000000000" pitchFamily="2" charset="-122"/>
                  </a:endParaRPr>
                </a:p>
              </p:txBody>
            </p:sp>
            <p:sp>
              <p:nvSpPr>
                <p:cNvPr id="31781" name="Text Box 82"/>
                <p:cNvSpPr txBox="1"/>
                <p:nvPr/>
              </p:nvSpPr>
              <p:spPr>
                <a:xfrm>
                  <a:off x="4181" y="737"/>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浮点乘</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除法器</a:t>
                  </a:r>
                  <a:endParaRPr lang="zh-CN" altLang="en-US" sz="1200" b="1" dirty="0">
                    <a:latin typeface="Times New Roman" pitchFamily="18" charset="0"/>
                    <a:ea typeface="宋体" panose="02000500000000000000" pitchFamily="2" charset="-122"/>
                  </a:endParaRPr>
                </a:p>
              </p:txBody>
            </p:sp>
            <p:sp>
              <p:nvSpPr>
                <p:cNvPr id="31782" name="Text Box 83"/>
                <p:cNvSpPr txBox="1"/>
                <p:nvPr/>
              </p:nvSpPr>
              <p:spPr>
                <a:xfrm>
                  <a:off x="1701" y="731"/>
                  <a:ext cx="664" cy="771"/>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p>
                  <a:pPr algn="ctr">
                    <a:spcBef>
                      <a:spcPct val="50000"/>
                    </a:spcBef>
                  </a:pPr>
                  <a:endParaRPr lang="en-US" altLang="zh-CN" sz="1200"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定点</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访存</a:t>
                  </a:r>
                  <a:endParaRPr lang="zh-CN" altLang="en-US" sz="1200" b="1"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部件</a:t>
                  </a:r>
                  <a:endParaRPr lang="zh-CN" altLang="en-US" sz="1200" b="1" dirty="0">
                    <a:latin typeface="Times New Roman" pitchFamily="18" charset="0"/>
                    <a:ea typeface="宋体" panose="02000500000000000000" pitchFamily="2" charset="-122"/>
                  </a:endParaRPr>
                </a:p>
                <a:p>
                  <a:pPr algn="ctr">
                    <a:spcBef>
                      <a:spcPct val="50000"/>
                    </a:spcBef>
                  </a:pPr>
                  <a:endParaRPr lang="en-US" altLang="zh-CN" sz="1200" b="1" dirty="0">
                    <a:latin typeface="Times New Roman" pitchFamily="18" charset="0"/>
                    <a:ea typeface="宋体" panose="02000500000000000000" pitchFamily="2" charset="-122"/>
                  </a:endParaRPr>
                </a:p>
              </p:txBody>
            </p:sp>
          </p:grpSp>
        </p:grpSp>
        <p:sp>
          <p:nvSpPr>
            <p:cNvPr id="31783" name="Text Box 84"/>
            <p:cNvSpPr txBox="1"/>
            <p:nvPr/>
          </p:nvSpPr>
          <p:spPr>
            <a:xfrm>
              <a:off x="10992" y="7945"/>
              <a:ext cx="1623" cy="290"/>
            </a:xfrm>
            <a:prstGeom prst="rect">
              <a:avLst/>
            </a:prstGeom>
            <a:solidFill>
              <a:schemeClr val="bg1"/>
            </a:solid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指令队列</a:t>
              </a:r>
              <a:endParaRPr lang="zh-CN" altLang="en-US" sz="1200" b="1" dirty="0">
                <a:latin typeface="Times New Roman" pitchFamily="18" charset="0"/>
                <a:ea typeface="宋体" panose="02000500000000000000" pitchFamily="2" charset="-122"/>
              </a:endParaRPr>
            </a:p>
          </p:txBody>
        </p:sp>
      </p:grpSp>
      <p:graphicFrame>
        <p:nvGraphicFramePr>
          <p:cNvPr id="2" name="表格 1"/>
          <p:cNvGraphicFramePr/>
          <p:nvPr/>
        </p:nvGraphicFramePr>
        <p:xfrm>
          <a:off x="6799580" y="3837940"/>
          <a:ext cx="2342515" cy="863600"/>
        </p:xfrm>
        <a:graphic>
          <a:graphicData uri="http://schemas.openxmlformats.org/drawingml/2006/table">
            <a:tbl>
              <a:tblPr firstRow="1" bandRow="1">
                <a:tableStyleId>{5C22544A-7EE6-4342-B048-85BDC9FD1C3A}</a:tableStyleId>
              </a:tblPr>
              <a:tblGrid>
                <a:gridCol w="365125"/>
                <a:gridCol w="450850"/>
                <a:gridCol w="1526540"/>
              </a:tblGrid>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st</a:t>
                      </a:r>
                      <a:endParaRPr lang="en-US" altLang="zh-CN" sz="1200" b="1">
                        <a:solidFill>
                          <a:srgbClr val="FF0000"/>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value</a:t>
                      </a:r>
                      <a:endParaRPr lang="en-US" altLang="zh-CN" sz="1200" b="1">
                        <a:solidFill>
                          <a:srgbClr val="FF0000"/>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buNone/>
                      </a:pPr>
                      <a:endParaRPr lang="zh-CN" altLang="en-US" sz="12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buNone/>
                      </a:pPr>
                      <a:endParaRPr lang="zh-CN" altLang="en-US" sz="12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buNone/>
                      </a:pPr>
                      <a:endParaRPr lang="zh-CN" altLang="en-US" sz="12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3" name="表格 2"/>
          <p:cNvGraphicFramePr/>
          <p:nvPr/>
        </p:nvGraphicFramePr>
        <p:xfrm>
          <a:off x="7167880" y="5311775"/>
          <a:ext cx="1930400" cy="1280160"/>
        </p:xfrm>
        <a:graphic>
          <a:graphicData uri="http://schemas.openxmlformats.org/drawingml/2006/table">
            <a:tbl>
              <a:tblPr firstRow="1" bandRow="1">
                <a:tableStyleId>{5C22544A-7EE6-4342-B048-85BDC9FD1C3A}</a:tableStyleId>
              </a:tblPr>
              <a:tblGrid>
                <a:gridCol w="1930400"/>
              </a:tblGrid>
              <a:tr h="213360">
                <a:tc>
                  <a:txBody>
                    <a:bodyPr/>
                    <a:p>
                      <a:pPr algn="ctr">
                        <a:buNone/>
                      </a:pPr>
                      <a:endParaRPr lang="en-US" altLang="zh-CN" sz="1400" b="1">
                        <a:solidFill>
                          <a:srgbClr val="FF0000"/>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lgn="ctr">
                        <a:buNone/>
                      </a:pPr>
                      <a:endParaRPr lang="en-US" altLang="zh-CN" sz="1400" b="1">
                        <a:solidFill>
                          <a:srgbClr val="FF0000"/>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lgn="ctr">
                        <a:buNone/>
                      </a:pPr>
                      <a:endParaRPr lang="en-US" altLang="zh-CN" sz="1400" b="1">
                        <a:solidFill>
                          <a:srgbClr val="FF0000"/>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4" name="表格 3"/>
          <p:cNvGraphicFramePr/>
          <p:nvPr/>
        </p:nvGraphicFramePr>
        <p:xfrm>
          <a:off x="9544050" y="243586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OP</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Qj</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Vj</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Qk</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Vk</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5" name="表格 4"/>
          <p:cNvGraphicFramePr/>
          <p:nvPr/>
        </p:nvGraphicFramePr>
        <p:xfrm>
          <a:off x="6577330" y="245618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6</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OP</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Qj</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Vj</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Qk</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Vk</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5</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4</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Rectangle 3"/>
          <p:cNvSpPr>
            <a:spLocks noGrp="1"/>
          </p:cNvSpPr>
          <p:nvPr>
            <p:ph type="title"/>
          </p:nvPr>
        </p:nvSpPr>
        <p:spPr>
          <a:xfrm>
            <a:off x="1055688" y="296863"/>
            <a:ext cx="10361612" cy="1143000"/>
          </a:xfrm>
        </p:spPr>
        <p:txBody>
          <a:bodyPr vert="horz" wrap="square" lIns="91440" tIns="45720" rIns="91440" bIns="45720" anchor="ctr" anchorCtr="0"/>
          <a:p>
            <a:pPr eaLnBrk="1" hangingPunct="1"/>
            <a:r>
              <a:rPr lang="en-US" altLang="zh-CN" dirty="0">
                <a:latin typeface="黑体" panose="02000500000000000000" pitchFamily="49" charset="-122"/>
                <a:ea typeface="黑体" panose="02000500000000000000" pitchFamily="49" charset="-122"/>
              </a:rPr>
              <a:t>Tomasulo</a:t>
            </a:r>
            <a:r>
              <a:rPr lang="zh-CN" altLang="en-US" dirty="0">
                <a:latin typeface="Helvetica" pitchFamily="34" charset="0"/>
              </a:rPr>
              <a:t>算法的流水阶段</a:t>
            </a:r>
            <a:endParaRPr lang="zh-CN" altLang="en-US" dirty="0">
              <a:latin typeface="Helvetica" pitchFamily="34" charset="0"/>
            </a:endParaRPr>
          </a:p>
        </p:txBody>
      </p:sp>
      <p:sp>
        <p:nvSpPr>
          <p:cNvPr id="32770" name="Rectangle 2"/>
          <p:cNvSpPr>
            <a:spLocks noGrp="1"/>
          </p:cNvSpPr>
          <p:nvPr>
            <p:ph type="body" idx="4294967295"/>
          </p:nvPr>
        </p:nvSpPr>
        <p:spPr>
          <a:xfrm>
            <a:off x="1008063" y="1520825"/>
            <a:ext cx="10318750" cy="4895850"/>
          </a:xfrm>
        </p:spPr>
        <p:txBody>
          <a:bodyPr vert="horz" wrap="square" lIns="90487" tIns="44450" rIns="90487" bIns="44450" anchor="t" anchorCtr="0"/>
          <a:p>
            <a:pPr eaLnBrk="1" hangingPunct="1"/>
            <a:r>
              <a:rPr lang="zh-CN" altLang="en-US" dirty="0">
                <a:latin typeface="Helvetica" pitchFamily="34" charset="0"/>
              </a:rPr>
              <a:t>发射：把操作队列的指令根据操作类型送到保留站（如果保留站有空），发射过程中读寄存器的值和结果状态域</a:t>
            </a:r>
            <a:endParaRPr lang="zh-CN" altLang="en-US" dirty="0">
              <a:latin typeface="Helvetica" pitchFamily="34" charset="0"/>
            </a:endParaRPr>
          </a:p>
          <a:p>
            <a:pPr eaLnBrk="1" hangingPunct="1"/>
            <a:r>
              <a:rPr lang="zh-CN" altLang="en-US" dirty="0">
                <a:latin typeface="Helvetica" pitchFamily="34" charset="0"/>
              </a:rPr>
              <a:t>执行：如果所需的操作数都准备好，则执行，否则侦听结果总线并接收结果总线的值。</a:t>
            </a:r>
            <a:endParaRPr lang="zh-CN" altLang="en-US" dirty="0">
              <a:latin typeface="Helvetica" pitchFamily="34" charset="0"/>
            </a:endParaRPr>
          </a:p>
          <a:p>
            <a:pPr eaLnBrk="1" hangingPunct="1"/>
            <a:r>
              <a:rPr lang="zh-CN" altLang="en-US" dirty="0">
                <a:latin typeface="Helvetica" pitchFamily="34" charset="0"/>
              </a:rPr>
              <a:t>写回：把结果送到结果总线，释放保留站</a:t>
            </a:r>
            <a:endParaRPr lang="zh-CN" altLang="en-US" dirty="0">
              <a:latin typeface="Helvetica" pitchFamily="34" charset="0"/>
            </a:endParaRPr>
          </a:p>
        </p:txBody>
      </p:sp>
      <p:sp>
        <p:nvSpPr>
          <p:cNvPr id="32771"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buSzTx/>
            </a:pPr>
            <a:fld id="{9A0DB2DC-4C9A-4742-B13C-FB6460FD3503}" type="slidenum">
              <a:rPr lang="en-US" altLang="zh-CN" sz="1400" dirty="0"/>
            </a:fld>
            <a:endParaRPr lang="en-US" altLang="zh-CN" sz="1400" dirty="0"/>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914400" y="80645"/>
            <a:ext cx="10361613" cy="1143000"/>
          </a:xfrm>
        </p:spPr>
        <p:txBody>
          <a:bodyPr/>
          <a:p>
            <a:r>
              <a:rPr lang="zh-CN" altLang="en-US"/>
              <a:t>例子</a:t>
            </a:r>
            <a:endParaRPr lang="zh-CN" altLang="en-US"/>
          </a:p>
        </p:txBody>
      </p:sp>
      <p:grpSp>
        <p:nvGrpSpPr>
          <p:cNvPr id="6" name="组合 5"/>
          <p:cNvGrpSpPr/>
          <p:nvPr/>
        </p:nvGrpSpPr>
        <p:grpSpPr>
          <a:xfrm>
            <a:off x="4485005" y="1449705"/>
            <a:ext cx="7679690" cy="3862070"/>
            <a:chOff x="7063" y="2283"/>
            <a:chExt cx="12094" cy="6082"/>
          </a:xfrm>
        </p:grpSpPr>
        <p:sp>
          <p:nvSpPr>
            <p:cNvPr id="31751" name="Line 52"/>
            <p:cNvSpPr/>
            <p:nvPr/>
          </p:nvSpPr>
          <p:spPr>
            <a:xfrm flipV="1">
              <a:off x="11639" y="3333"/>
              <a:ext cx="0" cy="528"/>
            </a:xfrm>
            <a:prstGeom prst="line">
              <a:avLst/>
            </a:prstGeom>
            <a:ln w="9525" cap="flat" cmpd="sng">
              <a:solidFill>
                <a:schemeClr val="tx1"/>
              </a:solidFill>
              <a:prstDash val="solid"/>
              <a:round/>
              <a:headEnd type="none" w="med" len="med"/>
              <a:tailEnd type="triangle" w="med" len="med"/>
            </a:ln>
          </p:spPr>
        </p:sp>
        <p:sp>
          <p:nvSpPr>
            <p:cNvPr id="31752" name="Line 53"/>
            <p:cNvSpPr/>
            <p:nvPr/>
          </p:nvSpPr>
          <p:spPr>
            <a:xfrm flipV="1">
              <a:off x="13025" y="3333"/>
              <a:ext cx="0" cy="528"/>
            </a:xfrm>
            <a:prstGeom prst="line">
              <a:avLst/>
            </a:prstGeom>
            <a:ln w="9525" cap="flat" cmpd="sng">
              <a:solidFill>
                <a:schemeClr val="tx1"/>
              </a:solidFill>
              <a:prstDash val="solid"/>
              <a:round/>
              <a:headEnd type="none" w="med" len="med"/>
              <a:tailEnd type="triangle" w="med" len="med"/>
            </a:ln>
          </p:spPr>
        </p:sp>
        <p:sp>
          <p:nvSpPr>
            <p:cNvPr id="31753" name="Line 54"/>
            <p:cNvSpPr/>
            <p:nvPr/>
          </p:nvSpPr>
          <p:spPr>
            <a:xfrm flipV="1">
              <a:off x="16305" y="3313"/>
              <a:ext cx="0" cy="528"/>
            </a:xfrm>
            <a:prstGeom prst="line">
              <a:avLst/>
            </a:prstGeom>
            <a:ln w="9525" cap="flat" cmpd="sng">
              <a:solidFill>
                <a:schemeClr val="tx1"/>
              </a:solidFill>
              <a:prstDash val="solid"/>
              <a:round/>
              <a:headEnd type="none" w="med" len="med"/>
              <a:tailEnd type="triangle" w="med" len="med"/>
            </a:ln>
          </p:spPr>
        </p:sp>
        <p:sp>
          <p:nvSpPr>
            <p:cNvPr id="31754" name="Line 55"/>
            <p:cNvSpPr/>
            <p:nvPr/>
          </p:nvSpPr>
          <p:spPr>
            <a:xfrm flipV="1">
              <a:off x="17798" y="3293"/>
              <a:ext cx="0" cy="528"/>
            </a:xfrm>
            <a:prstGeom prst="line">
              <a:avLst/>
            </a:prstGeom>
            <a:ln w="9525" cap="flat" cmpd="sng">
              <a:solidFill>
                <a:schemeClr val="tx1"/>
              </a:solidFill>
              <a:prstDash val="solid"/>
              <a:round/>
              <a:headEnd type="none" w="med" len="med"/>
              <a:tailEnd type="triangle" w="med" len="med"/>
            </a:ln>
          </p:spPr>
        </p:sp>
        <p:sp>
          <p:nvSpPr>
            <p:cNvPr id="31755" name="Line 56"/>
            <p:cNvSpPr/>
            <p:nvPr/>
          </p:nvSpPr>
          <p:spPr>
            <a:xfrm flipV="1">
              <a:off x="12815" y="7393"/>
              <a:ext cx="0" cy="973"/>
            </a:xfrm>
            <a:prstGeom prst="line">
              <a:avLst/>
            </a:prstGeom>
            <a:ln w="19050" cap="flat" cmpd="sng">
              <a:solidFill>
                <a:schemeClr val="tx1"/>
              </a:solidFill>
              <a:prstDash val="solid"/>
              <a:round/>
              <a:headEnd type="none" w="med" len="med"/>
              <a:tailEnd type="triangle" w="med" len="med"/>
            </a:ln>
          </p:spPr>
        </p:sp>
        <p:sp>
          <p:nvSpPr>
            <p:cNvPr id="31756" name="Line 57"/>
            <p:cNvSpPr/>
            <p:nvPr/>
          </p:nvSpPr>
          <p:spPr>
            <a:xfrm flipV="1">
              <a:off x="12275" y="4795"/>
              <a:ext cx="0" cy="390"/>
            </a:xfrm>
            <a:prstGeom prst="line">
              <a:avLst/>
            </a:prstGeom>
            <a:ln w="19050" cap="flat" cmpd="sng">
              <a:solidFill>
                <a:schemeClr val="tx1"/>
              </a:solidFill>
              <a:prstDash val="solid"/>
              <a:round/>
              <a:headEnd type="none" w="med" len="med"/>
              <a:tailEnd type="triangle" w="med" len="med"/>
            </a:ln>
          </p:spPr>
        </p:sp>
        <p:sp>
          <p:nvSpPr>
            <p:cNvPr id="31757" name="Line 58"/>
            <p:cNvSpPr/>
            <p:nvPr/>
          </p:nvSpPr>
          <p:spPr>
            <a:xfrm flipV="1">
              <a:off x="16989" y="4783"/>
              <a:ext cx="0" cy="410"/>
            </a:xfrm>
            <a:prstGeom prst="line">
              <a:avLst/>
            </a:prstGeom>
            <a:ln w="19050" cap="flat" cmpd="sng">
              <a:solidFill>
                <a:schemeClr val="tx1"/>
              </a:solidFill>
              <a:prstDash val="solid"/>
              <a:round/>
              <a:headEnd type="none" w="med" len="med"/>
              <a:tailEnd type="triangle" w="med" len="med"/>
            </a:ln>
          </p:spPr>
        </p:sp>
        <p:sp>
          <p:nvSpPr>
            <p:cNvPr id="31758" name="Line 59"/>
            <p:cNvSpPr/>
            <p:nvPr/>
          </p:nvSpPr>
          <p:spPr>
            <a:xfrm flipV="1">
              <a:off x="17029" y="2283"/>
              <a:ext cx="0" cy="583"/>
            </a:xfrm>
            <a:prstGeom prst="line">
              <a:avLst/>
            </a:prstGeom>
            <a:ln w="19050" cap="flat" cmpd="sng">
              <a:solidFill>
                <a:srgbClr val="FF0000"/>
              </a:solidFill>
              <a:prstDash val="solid"/>
              <a:round/>
              <a:headEnd type="none" w="med" len="med"/>
              <a:tailEnd type="triangle" w="med" len="med"/>
            </a:ln>
          </p:spPr>
        </p:sp>
        <p:sp>
          <p:nvSpPr>
            <p:cNvPr id="31759" name="Line 60"/>
            <p:cNvSpPr/>
            <p:nvPr/>
          </p:nvSpPr>
          <p:spPr>
            <a:xfrm flipV="1">
              <a:off x="12412" y="2310"/>
              <a:ext cx="0" cy="583"/>
            </a:xfrm>
            <a:prstGeom prst="line">
              <a:avLst/>
            </a:prstGeom>
            <a:ln w="19050" cap="flat" cmpd="sng">
              <a:solidFill>
                <a:schemeClr val="tx1"/>
              </a:solidFill>
              <a:prstDash val="solid"/>
              <a:round/>
              <a:headEnd type="none" w="med" len="med"/>
              <a:tailEnd type="triangle" w="med" len="med"/>
            </a:ln>
          </p:spPr>
        </p:sp>
        <p:sp>
          <p:nvSpPr>
            <p:cNvPr id="31760" name="Line 61"/>
            <p:cNvSpPr/>
            <p:nvPr/>
          </p:nvSpPr>
          <p:spPr>
            <a:xfrm>
              <a:off x="8119" y="2300"/>
              <a:ext cx="11039" cy="0"/>
            </a:xfrm>
            <a:prstGeom prst="line">
              <a:avLst/>
            </a:prstGeom>
            <a:ln w="19050" cap="flat" cmpd="sng">
              <a:solidFill>
                <a:srgbClr val="FF0000"/>
              </a:solidFill>
              <a:prstDash val="solid"/>
              <a:round/>
              <a:headEnd type="none" w="med" len="med"/>
              <a:tailEnd type="none" w="med" len="med"/>
            </a:ln>
          </p:spPr>
        </p:sp>
        <p:sp>
          <p:nvSpPr>
            <p:cNvPr id="31761" name="Line 62"/>
            <p:cNvSpPr/>
            <p:nvPr/>
          </p:nvSpPr>
          <p:spPr>
            <a:xfrm flipV="1">
              <a:off x="11276" y="4780"/>
              <a:ext cx="0" cy="818"/>
            </a:xfrm>
            <a:prstGeom prst="line">
              <a:avLst/>
            </a:prstGeom>
            <a:ln w="19050" cap="flat" cmpd="sng">
              <a:solidFill>
                <a:srgbClr val="FF0000"/>
              </a:solidFill>
              <a:prstDash val="solid"/>
              <a:round/>
              <a:headEnd type="none" w="med" len="med"/>
              <a:tailEnd type="triangle" w="med" len="med"/>
            </a:ln>
          </p:spPr>
        </p:sp>
        <p:sp>
          <p:nvSpPr>
            <p:cNvPr id="31762" name="Line 63"/>
            <p:cNvSpPr/>
            <p:nvPr/>
          </p:nvSpPr>
          <p:spPr>
            <a:xfrm flipV="1">
              <a:off x="17752" y="4768"/>
              <a:ext cx="0" cy="818"/>
            </a:xfrm>
            <a:prstGeom prst="line">
              <a:avLst/>
            </a:prstGeom>
            <a:ln w="19050" cap="flat" cmpd="sng">
              <a:solidFill>
                <a:srgbClr val="FF0000"/>
              </a:solidFill>
              <a:prstDash val="solid"/>
              <a:round/>
              <a:headEnd type="none" w="med" len="med"/>
              <a:tailEnd type="triangle" w="med" len="med"/>
            </a:ln>
          </p:spPr>
        </p:sp>
        <p:sp>
          <p:nvSpPr>
            <p:cNvPr id="31763" name="Line 64"/>
            <p:cNvSpPr/>
            <p:nvPr/>
          </p:nvSpPr>
          <p:spPr>
            <a:xfrm>
              <a:off x="19135" y="2300"/>
              <a:ext cx="0" cy="5455"/>
            </a:xfrm>
            <a:prstGeom prst="line">
              <a:avLst/>
            </a:prstGeom>
            <a:ln w="19050" cap="flat" cmpd="sng">
              <a:solidFill>
                <a:srgbClr val="FF0000"/>
              </a:solidFill>
              <a:prstDash val="solid"/>
              <a:round/>
              <a:headEnd type="none" w="med" len="med"/>
              <a:tailEnd type="none" w="med" len="med"/>
            </a:ln>
          </p:spPr>
        </p:sp>
        <p:sp>
          <p:nvSpPr>
            <p:cNvPr id="31764" name="Line 65"/>
            <p:cNvSpPr/>
            <p:nvPr/>
          </p:nvSpPr>
          <p:spPr>
            <a:xfrm flipV="1">
              <a:off x="12779" y="5150"/>
              <a:ext cx="0" cy="915"/>
            </a:xfrm>
            <a:prstGeom prst="line">
              <a:avLst/>
            </a:prstGeom>
            <a:ln w="19050" cap="flat" cmpd="sng">
              <a:solidFill>
                <a:schemeClr val="tx1"/>
              </a:solidFill>
              <a:prstDash val="solid"/>
              <a:round/>
              <a:headEnd type="none" w="med" len="med"/>
              <a:tailEnd type="triangle" w="med" len="med"/>
            </a:ln>
          </p:spPr>
        </p:sp>
        <p:sp>
          <p:nvSpPr>
            <p:cNvPr id="31765" name="Text Box 66"/>
            <p:cNvSpPr txBox="1"/>
            <p:nvPr/>
          </p:nvSpPr>
          <p:spPr>
            <a:xfrm>
              <a:off x="9896" y="3538"/>
              <a:ext cx="1637" cy="29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加法保留站</a:t>
              </a:r>
              <a:endParaRPr lang="zh-CN" altLang="en-US" sz="1200" b="1" dirty="0">
                <a:latin typeface="Times New Roman" pitchFamily="18" charset="0"/>
                <a:ea typeface="宋体" panose="02000500000000000000" pitchFamily="2" charset="-122"/>
              </a:endParaRPr>
            </a:p>
          </p:txBody>
        </p:sp>
        <p:sp>
          <p:nvSpPr>
            <p:cNvPr id="31766" name="Text Box 67"/>
            <p:cNvSpPr txBox="1"/>
            <p:nvPr/>
          </p:nvSpPr>
          <p:spPr>
            <a:xfrm>
              <a:off x="10906" y="5788"/>
              <a:ext cx="1717" cy="290"/>
            </a:xfrm>
            <a:prstGeom prst="rect">
              <a:avLst/>
            </a:prstGeom>
            <a:noFill/>
            <a:ln w="9525">
              <a:noFill/>
            </a:ln>
            <a:extLst>
              <a:ext uri="{909E8E84-426E-40DD-AFC4-6F175D3DCCD1}">
                <a14:hiddenFill xmlns:a14="http://schemas.microsoft.com/office/drawing/2010/main">
                  <a:solidFill>
                    <a:schemeClr val="bg1"/>
                  </a:solidFill>
                </a14:hiddenFill>
              </a:ext>
            </a:extLst>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浮点寄存器</a:t>
              </a:r>
              <a:endParaRPr lang="zh-CN" altLang="en-US" sz="1200" b="1" dirty="0">
                <a:latin typeface="Times New Roman" pitchFamily="18" charset="0"/>
                <a:ea typeface="宋体" panose="02000500000000000000" pitchFamily="2" charset="-122"/>
              </a:endParaRPr>
            </a:p>
          </p:txBody>
        </p:sp>
        <p:sp>
          <p:nvSpPr>
            <p:cNvPr id="31767" name="Text Box 68"/>
            <p:cNvSpPr txBox="1"/>
            <p:nvPr/>
          </p:nvSpPr>
          <p:spPr>
            <a:xfrm>
              <a:off x="14629" y="3520"/>
              <a:ext cx="1637" cy="29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乘法保留站</a:t>
              </a:r>
              <a:endParaRPr lang="zh-CN" altLang="en-US" sz="1200" b="1" dirty="0">
                <a:latin typeface="Times New Roman" pitchFamily="18" charset="0"/>
                <a:ea typeface="宋体" panose="02000500000000000000" pitchFamily="2" charset="-122"/>
              </a:endParaRPr>
            </a:p>
          </p:txBody>
        </p:sp>
        <p:sp>
          <p:nvSpPr>
            <p:cNvPr id="31768" name="Line 69"/>
            <p:cNvSpPr/>
            <p:nvPr/>
          </p:nvSpPr>
          <p:spPr>
            <a:xfrm>
              <a:off x="13835" y="7755"/>
              <a:ext cx="5323" cy="0"/>
            </a:xfrm>
            <a:prstGeom prst="line">
              <a:avLst/>
            </a:prstGeom>
            <a:ln w="19050" cap="flat" cmpd="sng">
              <a:solidFill>
                <a:srgbClr val="FF0000"/>
              </a:solidFill>
              <a:prstDash val="solid"/>
              <a:round/>
              <a:headEnd type="none" w="med" len="med"/>
              <a:tailEnd type="none" w="med" len="med"/>
            </a:ln>
          </p:spPr>
        </p:sp>
        <p:sp>
          <p:nvSpPr>
            <p:cNvPr id="31769" name="Line 70"/>
            <p:cNvSpPr/>
            <p:nvPr/>
          </p:nvSpPr>
          <p:spPr>
            <a:xfrm flipV="1">
              <a:off x="13835" y="7348"/>
              <a:ext cx="3" cy="410"/>
            </a:xfrm>
            <a:prstGeom prst="line">
              <a:avLst/>
            </a:prstGeom>
            <a:ln w="19050" cap="flat" cmpd="sng">
              <a:solidFill>
                <a:srgbClr val="FF0000"/>
              </a:solidFill>
              <a:prstDash val="solid"/>
              <a:round/>
              <a:headEnd type="none" w="med" len="med"/>
              <a:tailEnd type="triangle" w="med" len="med"/>
            </a:ln>
          </p:spPr>
        </p:sp>
        <p:grpSp>
          <p:nvGrpSpPr>
            <p:cNvPr id="31772" name="Group 73"/>
            <p:cNvGrpSpPr/>
            <p:nvPr/>
          </p:nvGrpSpPr>
          <p:grpSpPr>
            <a:xfrm rot="0">
              <a:off x="7063" y="2295"/>
              <a:ext cx="12093" cy="3273"/>
              <a:chOff x="1701" y="512"/>
              <a:chExt cx="3628" cy="1309"/>
            </a:xfrm>
          </p:grpSpPr>
          <p:sp>
            <p:nvSpPr>
              <p:cNvPr id="31773" name="Line 74"/>
              <p:cNvSpPr/>
              <p:nvPr/>
            </p:nvSpPr>
            <p:spPr>
              <a:xfrm flipV="1">
                <a:off x="2154" y="1661"/>
                <a:ext cx="2518" cy="0"/>
              </a:xfrm>
              <a:prstGeom prst="line">
                <a:avLst/>
              </a:prstGeom>
              <a:ln w="19050" cap="flat" cmpd="sng">
                <a:solidFill>
                  <a:schemeClr val="tx1"/>
                </a:solidFill>
                <a:prstDash val="solid"/>
                <a:round/>
                <a:headEnd type="none" w="med" len="med"/>
                <a:tailEnd type="none" w="med" len="med"/>
              </a:ln>
            </p:spPr>
          </p:sp>
          <p:sp>
            <p:nvSpPr>
              <p:cNvPr id="31774" name="Line 75"/>
              <p:cNvSpPr/>
              <p:nvPr/>
            </p:nvSpPr>
            <p:spPr>
              <a:xfrm flipV="1">
                <a:off x="1949" y="1820"/>
                <a:ext cx="3380" cy="0"/>
              </a:xfrm>
              <a:prstGeom prst="line">
                <a:avLst/>
              </a:prstGeom>
              <a:ln w="19050" cap="flat" cmpd="sng">
                <a:solidFill>
                  <a:srgbClr val="FF0000"/>
                </a:solidFill>
                <a:prstDash val="solid"/>
                <a:round/>
                <a:headEnd type="none" w="med" len="med"/>
                <a:tailEnd type="none" w="med" len="med"/>
              </a:ln>
            </p:spPr>
          </p:sp>
          <p:grpSp>
            <p:nvGrpSpPr>
              <p:cNvPr id="31775" name="Group 76"/>
              <p:cNvGrpSpPr/>
              <p:nvPr/>
            </p:nvGrpSpPr>
            <p:grpSpPr>
              <a:xfrm>
                <a:off x="1701" y="512"/>
                <a:ext cx="3494" cy="1309"/>
                <a:chOff x="1701" y="512"/>
                <a:chExt cx="3494" cy="1309"/>
              </a:xfrm>
            </p:grpSpPr>
            <p:grpSp>
              <p:nvGrpSpPr>
                <p:cNvPr id="31776" name="Group 77"/>
                <p:cNvGrpSpPr/>
                <p:nvPr/>
              </p:nvGrpSpPr>
              <p:grpSpPr>
                <a:xfrm>
                  <a:off x="1950" y="512"/>
                  <a:ext cx="204" cy="1309"/>
                  <a:chOff x="1950" y="512"/>
                  <a:chExt cx="204" cy="1309"/>
                </a:xfrm>
              </p:grpSpPr>
              <p:sp>
                <p:nvSpPr>
                  <p:cNvPr id="31777" name="Line 78"/>
                  <p:cNvSpPr/>
                  <p:nvPr/>
                </p:nvSpPr>
                <p:spPr>
                  <a:xfrm flipV="1">
                    <a:off x="2022" y="512"/>
                    <a:ext cx="0" cy="233"/>
                  </a:xfrm>
                  <a:prstGeom prst="line">
                    <a:avLst/>
                  </a:prstGeom>
                  <a:ln w="19050" cap="flat" cmpd="sng">
                    <a:solidFill>
                      <a:schemeClr val="tx1"/>
                    </a:solidFill>
                    <a:prstDash val="solid"/>
                    <a:round/>
                    <a:headEnd type="none" w="med" len="med"/>
                    <a:tailEnd type="triangle" w="med" len="med"/>
                  </a:ln>
                </p:spPr>
              </p:sp>
              <p:sp>
                <p:nvSpPr>
                  <p:cNvPr id="31778" name="Line 79"/>
                  <p:cNvSpPr/>
                  <p:nvPr/>
                </p:nvSpPr>
                <p:spPr>
                  <a:xfrm flipV="1">
                    <a:off x="1950" y="1502"/>
                    <a:ext cx="0" cy="319"/>
                  </a:xfrm>
                  <a:prstGeom prst="line">
                    <a:avLst/>
                  </a:prstGeom>
                  <a:ln w="19050" cap="flat" cmpd="sng">
                    <a:solidFill>
                      <a:srgbClr val="FF0000"/>
                    </a:solidFill>
                    <a:prstDash val="solid"/>
                    <a:round/>
                    <a:headEnd type="none" w="med" len="med"/>
                    <a:tailEnd type="triangle" w="med" len="med"/>
                  </a:ln>
                </p:spPr>
              </p:sp>
              <p:sp>
                <p:nvSpPr>
                  <p:cNvPr id="31779" name="Line 80"/>
                  <p:cNvSpPr/>
                  <p:nvPr/>
                </p:nvSpPr>
                <p:spPr>
                  <a:xfrm flipV="1">
                    <a:off x="2154" y="1508"/>
                    <a:ext cx="0" cy="156"/>
                  </a:xfrm>
                  <a:prstGeom prst="line">
                    <a:avLst/>
                  </a:prstGeom>
                  <a:ln w="19050" cap="flat" cmpd="sng">
                    <a:solidFill>
                      <a:schemeClr val="tx1"/>
                    </a:solidFill>
                    <a:prstDash val="solid"/>
                    <a:round/>
                    <a:headEnd type="none" w="med" len="med"/>
                    <a:tailEnd type="triangle" w="med" len="med"/>
                  </a:ln>
                </p:spPr>
              </p:sp>
            </p:grpSp>
            <p:sp>
              <p:nvSpPr>
                <p:cNvPr id="31780" name="Text Box 81"/>
                <p:cNvSpPr txBox="1"/>
                <p:nvPr/>
              </p:nvSpPr>
              <p:spPr>
                <a:xfrm>
                  <a:off x="2777" y="750"/>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浮点加</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减法器</a:t>
                  </a:r>
                  <a:endParaRPr lang="zh-CN" altLang="en-US" sz="1200" b="1" dirty="0">
                    <a:latin typeface="Times New Roman" pitchFamily="18" charset="0"/>
                    <a:ea typeface="宋体" panose="02000500000000000000" pitchFamily="2" charset="-122"/>
                  </a:endParaRPr>
                </a:p>
              </p:txBody>
            </p:sp>
            <p:sp>
              <p:nvSpPr>
                <p:cNvPr id="31781" name="Text Box 82"/>
                <p:cNvSpPr txBox="1"/>
                <p:nvPr/>
              </p:nvSpPr>
              <p:spPr>
                <a:xfrm>
                  <a:off x="4181" y="737"/>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浮点乘</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除法器</a:t>
                  </a:r>
                  <a:endParaRPr lang="zh-CN" altLang="en-US" sz="1200" b="1" dirty="0">
                    <a:latin typeface="Times New Roman" pitchFamily="18" charset="0"/>
                    <a:ea typeface="宋体" panose="02000500000000000000" pitchFamily="2" charset="-122"/>
                  </a:endParaRPr>
                </a:p>
              </p:txBody>
            </p:sp>
            <p:sp>
              <p:nvSpPr>
                <p:cNvPr id="31782" name="Text Box 83"/>
                <p:cNvSpPr txBox="1"/>
                <p:nvPr/>
              </p:nvSpPr>
              <p:spPr>
                <a:xfrm>
                  <a:off x="1701" y="731"/>
                  <a:ext cx="664" cy="771"/>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p>
                  <a:pPr algn="ctr">
                    <a:spcBef>
                      <a:spcPct val="50000"/>
                    </a:spcBef>
                  </a:pPr>
                  <a:endParaRPr lang="en-US" altLang="zh-CN" sz="1200"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定点</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访存</a:t>
                  </a:r>
                  <a:endParaRPr lang="zh-CN" altLang="en-US" sz="1200" b="1"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部件</a:t>
                  </a:r>
                  <a:endParaRPr lang="zh-CN" altLang="en-US" sz="1200" b="1" dirty="0">
                    <a:latin typeface="Times New Roman" pitchFamily="18" charset="0"/>
                    <a:ea typeface="宋体" panose="02000500000000000000" pitchFamily="2" charset="-122"/>
                  </a:endParaRPr>
                </a:p>
                <a:p>
                  <a:pPr algn="ctr">
                    <a:spcBef>
                      <a:spcPct val="50000"/>
                    </a:spcBef>
                  </a:pPr>
                  <a:endParaRPr lang="en-US" altLang="zh-CN" sz="1200" b="1" dirty="0">
                    <a:latin typeface="Times New Roman" pitchFamily="18" charset="0"/>
                    <a:ea typeface="宋体" panose="02000500000000000000" pitchFamily="2" charset="-122"/>
                  </a:endParaRPr>
                </a:p>
              </p:txBody>
            </p:sp>
          </p:grpSp>
        </p:grpSp>
        <p:sp>
          <p:nvSpPr>
            <p:cNvPr id="31783" name="Text Box 84"/>
            <p:cNvSpPr txBox="1"/>
            <p:nvPr/>
          </p:nvSpPr>
          <p:spPr>
            <a:xfrm>
              <a:off x="10992" y="7945"/>
              <a:ext cx="1623" cy="290"/>
            </a:xfrm>
            <a:prstGeom prst="rect">
              <a:avLst/>
            </a:prstGeom>
            <a:solidFill>
              <a:schemeClr val="bg1"/>
            </a:solid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指令队列</a:t>
              </a:r>
              <a:endParaRPr lang="zh-CN" altLang="en-US" sz="1200" b="1" dirty="0">
                <a:latin typeface="Times New Roman" pitchFamily="18" charset="0"/>
                <a:ea typeface="宋体" panose="02000500000000000000" pitchFamily="2" charset="-122"/>
              </a:endParaRPr>
            </a:p>
          </p:txBody>
        </p:sp>
      </p:grpSp>
      <p:graphicFrame>
        <p:nvGraphicFramePr>
          <p:cNvPr id="3" name="表格 2"/>
          <p:cNvGraphicFramePr/>
          <p:nvPr/>
        </p:nvGraphicFramePr>
        <p:xfrm>
          <a:off x="6799580" y="3837940"/>
          <a:ext cx="2342515" cy="863600"/>
        </p:xfrm>
        <a:graphic>
          <a:graphicData uri="http://schemas.openxmlformats.org/drawingml/2006/table">
            <a:tbl>
              <a:tblPr firstRow="1" bandRow="1">
                <a:tableStyleId>{5C22544A-7EE6-4342-B048-85BDC9FD1C3A}</a:tableStyleId>
              </a:tblPr>
              <a:tblGrid>
                <a:gridCol w="365125"/>
                <a:gridCol w="450850"/>
                <a:gridCol w="1526540"/>
              </a:tblGrid>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3.0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4" name="表格 3"/>
          <p:cNvGraphicFramePr/>
          <p:nvPr/>
        </p:nvGraphicFramePr>
        <p:xfrm>
          <a:off x="7167880" y="5311775"/>
          <a:ext cx="1930400" cy="1280160"/>
        </p:xfrm>
        <a:graphic>
          <a:graphicData uri="http://schemas.openxmlformats.org/drawingml/2006/table">
            <a:tbl>
              <a:tblPr firstRow="1" bandRow="1">
                <a:tableStyleId>{5C22544A-7EE6-4342-B048-85BDC9FD1C3A}</a:tableStyleId>
              </a:tblPr>
              <a:tblGrid>
                <a:gridCol w="1930400"/>
              </a:tblGrid>
              <a:tr h="213360">
                <a:tc>
                  <a:txBody>
                    <a:bodyPr/>
                    <a:p>
                      <a:pPr indent="0">
                        <a:buNone/>
                      </a:pPr>
                      <a:r>
                        <a:rPr lang="en-US" sz="1200" b="1">
                          <a:solidFill>
                            <a:schemeClr val="tx1"/>
                          </a:solidFill>
                          <a:latin typeface="宋体" panose="02000500000000000000" pitchFamily="2" charset="-122"/>
                          <a:ea typeface="宋体" panose="02000500000000000000" pitchFamily="2" charset="-122"/>
                        </a:rPr>
                        <a:t>FDIV.D  </a:t>
                      </a:r>
                      <a:r>
                        <a:rPr lang="en-US" sz="1200" b="1">
                          <a:solidFill>
                            <a:srgbClr val="FF0000"/>
                          </a:solidFill>
                          <a:latin typeface="宋体" panose="02000500000000000000" pitchFamily="2" charset="-122"/>
                          <a:ea typeface="宋体" panose="02000500000000000000" pitchFamily="2" charset="-122"/>
                        </a:rPr>
                        <a:t>F0</a:t>
                      </a:r>
                      <a:r>
                        <a:rPr lang="en-US" sz="1200" b="1">
                          <a:solidFill>
                            <a:schemeClr val="tx1"/>
                          </a:solidFill>
                          <a:latin typeface="宋体" panose="02000500000000000000" pitchFamily="2" charset="-122"/>
                          <a:ea typeface="宋体" panose="02000500000000000000" pitchFamily="2" charset="-122"/>
                        </a:rPr>
                        <a:t>, F1, F2</a:t>
                      </a:r>
                      <a:endParaRPr lang="en-US" altLang="en-US" sz="1200" b="1">
                        <a:solidFill>
                          <a:schemeClr val="tx1"/>
                        </a:solidFill>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FADD.D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F1,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5" name="表格 4"/>
          <p:cNvGraphicFramePr/>
          <p:nvPr/>
        </p:nvGraphicFramePr>
        <p:xfrm>
          <a:off x="9544050" y="243586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OP</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Qj</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Vj</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Qk</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Vk</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7" name="表格 6"/>
          <p:cNvGraphicFramePr/>
          <p:nvPr/>
        </p:nvGraphicFramePr>
        <p:xfrm>
          <a:off x="6577330" y="245618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6</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OP</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Qj</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Vj</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Qk</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Vk</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5</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4</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914400" y="80645"/>
            <a:ext cx="10361613" cy="1143000"/>
          </a:xfrm>
        </p:spPr>
        <p:txBody>
          <a:bodyPr/>
          <a:p>
            <a:r>
              <a:rPr lang="zh-CN" altLang="en-US"/>
              <a:t>例子</a:t>
            </a:r>
            <a:endParaRPr lang="zh-CN" altLang="en-US"/>
          </a:p>
        </p:txBody>
      </p:sp>
      <p:grpSp>
        <p:nvGrpSpPr>
          <p:cNvPr id="6" name="组合 5"/>
          <p:cNvGrpSpPr/>
          <p:nvPr/>
        </p:nvGrpSpPr>
        <p:grpSpPr>
          <a:xfrm>
            <a:off x="4485005" y="1449705"/>
            <a:ext cx="7679690" cy="3862070"/>
            <a:chOff x="7063" y="2283"/>
            <a:chExt cx="12094" cy="6082"/>
          </a:xfrm>
        </p:grpSpPr>
        <p:sp>
          <p:nvSpPr>
            <p:cNvPr id="31751" name="Line 52"/>
            <p:cNvSpPr/>
            <p:nvPr/>
          </p:nvSpPr>
          <p:spPr>
            <a:xfrm flipV="1">
              <a:off x="11639" y="3333"/>
              <a:ext cx="0" cy="528"/>
            </a:xfrm>
            <a:prstGeom prst="line">
              <a:avLst/>
            </a:prstGeom>
            <a:ln w="9525" cap="flat" cmpd="sng">
              <a:solidFill>
                <a:schemeClr val="tx1"/>
              </a:solidFill>
              <a:prstDash val="solid"/>
              <a:round/>
              <a:headEnd type="none" w="med" len="med"/>
              <a:tailEnd type="triangle" w="med" len="med"/>
            </a:ln>
          </p:spPr>
        </p:sp>
        <p:sp>
          <p:nvSpPr>
            <p:cNvPr id="31752" name="Line 53"/>
            <p:cNvSpPr/>
            <p:nvPr/>
          </p:nvSpPr>
          <p:spPr>
            <a:xfrm flipV="1">
              <a:off x="13025" y="3333"/>
              <a:ext cx="0" cy="528"/>
            </a:xfrm>
            <a:prstGeom prst="line">
              <a:avLst/>
            </a:prstGeom>
            <a:ln w="9525" cap="flat" cmpd="sng">
              <a:solidFill>
                <a:schemeClr val="tx1"/>
              </a:solidFill>
              <a:prstDash val="solid"/>
              <a:round/>
              <a:headEnd type="none" w="med" len="med"/>
              <a:tailEnd type="triangle" w="med" len="med"/>
            </a:ln>
          </p:spPr>
        </p:sp>
        <p:sp>
          <p:nvSpPr>
            <p:cNvPr id="31753" name="Line 54"/>
            <p:cNvSpPr/>
            <p:nvPr/>
          </p:nvSpPr>
          <p:spPr>
            <a:xfrm flipV="1">
              <a:off x="16305" y="3313"/>
              <a:ext cx="0" cy="528"/>
            </a:xfrm>
            <a:prstGeom prst="line">
              <a:avLst/>
            </a:prstGeom>
            <a:ln w="9525" cap="flat" cmpd="sng">
              <a:solidFill>
                <a:schemeClr val="tx1"/>
              </a:solidFill>
              <a:prstDash val="solid"/>
              <a:round/>
              <a:headEnd type="none" w="med" len="med"/>
              <a:tailEnd type="triangle" w="med" len="med"/>
            </a:ln>
          </p:spPr>
        </p:sp>
        <p:sp>
          <p:nvSpPr>
            <p:cNvPr id="31754" name="Line 55"/>
            <p:cNvSpPr/>
            <p:nvPr/>
          </p:nvSpPr>
          <p:spPr>
            <a:xfrm flipV="1">
              <a:off x="17798" y="3293"/>
              <a:ext cx="0" cy="528"/>
            </a:xfrm>
            <a:prstGeom prst="line">
              <a:avLst/>
            </a:prstGeom>
            <a:ln w="9525" cap="flat" cmpd="sng">
              <a:solidFill>
                <a:schemeClr val="tx1"/>
              </a:solidFill>
              <a:prstDash val="solid"/>
              <a:round/>
              <a:headEnd type="none" w="med" len="med"/>
              <a:tailEnd type="triangle" w="med" len="med"/>
            </a:ln>
          </p:spPr>
        </p:sp>
        <p:sp>
          <p:nvSpPr>
            <p:cNvPr id="31755" name="Line 56"/>
            <p:cNvSpPr/>
            <p:nvPr/>
          </p:nvSpPr>
          <p:spPr>
            <a:xfrm flipV="1">
              <a:off x="12815" y="7393"/>
              <a:ext cx="0" cy="973"/>
            </a:xfrm>
            <a:prstGeom prst="line">
              <a:avLst/>
            </a:prstGeom>
            <a:ln w="19050" cap="flat" cmpd="sng">
              <a:solidFill>
                <a:schemeClr val="tx1"/>
              </a:solidFill>
              <a:prstDash val="solid"/>
              <a:round/>
              <a:headEnd type="none" w="med" len="med"/>
              <a:tailEnd type="triangle" w="med" len="med"/>
            </a:ln>
          </p:spPr>
        </p:sp>
        <p:sp>
          <p:nvSpPr>
            <p:cNvPr id="31756" name="Line 57"/>
            <p:cNvSpPr/>
            <p:nvPr/>
          </p:nvSpPr>
          <p:spPr>
            <a:xfrm flipV="1">
              <a:off x="12275" y="4795"/>
              <a:ext cx="0" cy="390"/>
            </a:xfrm>
            <a:prstGeom prst="line">
              <a:avLst/>
            </a:prstGeom>
            <a:ln w="19050" cap="flat" cmpd="sng">
              <a:solidFill>
                <a:schemeClr val="tx1"/>
              </a:solidFill>
              <a:prstDash val="solid"/>
              <a:round/>
              <a:headEnd type="none" w="med" len="med"/>
              <a:tailEnd type="triangle" w="med" len="med"/>
            </a:ln>
          </p:spPr>
        </p:sp>
        <p:sp>
          <p:nvSpPr>
            <p:cNvPr id="31757" name="Line 58"/>
            <p:cNvSpPr/>
            <p:nvPr/>
          </p:nvSpPr>
          <p:spPr>
            <a:xfrm flipV="1">
              <a:off x="16989" y="4783"/>
              <a:ext cx="0" cy="410"/>
            </a:xfrm>
            <a:prstGeom prst="line">
              <a:avLst/>
            </a:prstGeom>
            <a:ln w="19050" cap="flat" cmpd="sng">
              <a:solidFill>
                <a:schemeClr val="tx1"/>
              </a:solidFill>
              <a:prstDash val="solid"/>
              <a:round/>
              <a:headEnd type="none" w="med" len="med"/>
              <a:tailEnd type="triangle" w="med" len="med"/>
            </a:ln>
          </p:spPr>
        </p:sp>
        <p:sp>
          <p:nvSpPr>
            <p:cNvPr id="31758" name="Line 59"/>
            <p:cNvSpPr/>
            <p:nvPr/>
          </p:nvSpPr>
          <p:spPr>
            <a:xfrm flipV="1">
              <a:off x="17029" y="2283"/>
              <a:ext cx="0" cy="583"/>
            </a:xfrm>
            <a:prstGeom prst="line">
              <a:avLst/>
            </a:prstGeom>
            <a:ln w="19050" cap="flat" cmpd="sng">
              <a:solidFill>
                <a:srgbClr val="FF0000"/>
              </a:solidFill>
              <a:prstDash val="solid"/>
              <a:round/>
              <a:headEnd type="none" w="med" len="med"/>
              <a:tailEnd type="triangle" w="med" len="med"/>
            </a:ln>
          </p:spPr>
        </p:sp>
        <p:sp>
          <p:nvSpPr>
            <p:cNvPr id="31759" name="Line 60"/>
            <p:cNvSpPr/>
            <p:nvPr/>
          </p:nvSpPr>
          <p:spPr>
            <a:xfrm flipV="1">
              <a:off x="12412" y="2310"/>
              <a:ext cx="0" cy="583"/>
            </a:xfrm>
            <a:prstGeom prst="line">
              <a:avLst/>
            </a:prstGeom>
            <a:ln w="19050" cap="flat" cmpd="sng">
              <a:solidFill>
                <a:schemeClr val="tx1"/>
              </a:solidFill>
              <a:prstDash val="solid"/>
              <a:round/>
              <a:headEnd type="none" w="med" len="med"/>
              <a:tailEnd type="triangle" w="med" len="med"/>
            </a:ln>
          </p:spPr>
        </p:sp>
        <p:sp>
          <p:nvSpPr>
            <p:cNvPr id="31760" name="Line 61"/>
            <p:cNvSpPr/>
            <p:nvPr/>
          </p:nvSpPr>
          <p:spPr>
            <a:xfrm>
              <a:off x="8119" y="2300"/>
              <a:ext cx="11039" cy="0"/>
            </a:xfrm>
            <a:prstGeom prst="line">
              <a:avLst/>
            </a:prstGeom>
            <a:ln w="19050" cap="flat" cmpd="sng">
              <a:solidFill>
                <a:srgbClr val="FF0000"/>
              </a:solidFill>
              <a:prstDash val="solid"/>
              <a:round/>
              <a:headEnd type="none" w="med" len="med"/>
              <a:tailEnd type="none" w="med" len="med"/>
            </a:ln>
          </p:spPr>
        </p:sp>
        <p:sp>
          <p:nvSpPr>
            <p:cNvPr id="31761" name="Line 62"/>
            <p:cNvSpPr/>
            <p:nvPr/>
          </p:nvSpPr>
          <p:spPr>
            <a:xfrm flipV="1">
              <a:off x="11276" y="4780"/>
              <a:ext cx="0" cy="818"/>
            </a:xfrm>
            <a:prstGeom prst="line">
              <a:avLst/>
            </a:prstGeom>
            <a:ln w="19050" cap="flat" cmpd="sng">
              <a:solidFill>
                <a:srgbClr val="FF0000"/>
              </a:solidFill>
              <a:prstDash val="solid"/>
              <a:round/>
              <a:headEnd type="none" w="med" len="med"/>
              <a:tailEnd type="triangle" w="med" len="med"/>
            </a:ln>
          </p:spPr>
        </p:sp>
        <p:sp>
          <p:nvSpPr>
            <p:cNvPr id="31762" name="Line 63"/>
            <p:cNvSpPr/>
            <p:nvPr/>
          </p:nvSpPr>
          <p:spPr>
            <a:xfrm flipV="1">
              <a:off x="17752" y="4768"/>
              <a:ext cx="0" cy="818"/>
            </a:xfrm>
            <a:prstGeom prst="line">
              <a:avLst/>
            </a:prstGeom>
            <a:ln w="19050" cap="flat" cmpd="sng">
              <a:solidFill>
                <a:srgbClr val="FF0000"/>
              </a:solidFill>
              <a:prstDash val="solid"/>
              <a:round/>
              <a:headEnd type="none" w="med" len="med"/>
              <a:tailEnd type="triangle" w="med" len="med"/>
            </a:ln>
          </p:spPr>
        </p:sp>
        <p:sp>
          <p:nvSpPr>
            <p:cNvPr id="31763" name="Line 64"/>
            <p:cNvSpPr/>
            <p:nvPr/>
          </p:nvSpPr>
          <p:spPr>
            <a:xfrm>
              <a:off x="19135" y="2300"/>
              <a:ext cx="0" cy="5455"/>
            </a:xfrm>
            <a:prstGeom prst="line">
              <a:avLst/>
            </a:prstGeom>
            <a:ln w="19050" cap="flat" cmpd="sng">
              <a:solidFill>
                <a:srgbClr val="FF0000"/>
              </a:solidFill>
              <a:prstDash val="solid"/>
              <a:round/>
              <a:headEnd type="none" w="med" len="med"/>
              <a:tailEnd type="none" w="med" len="med"/>
            </a:ln>
          </p:spPr>
        </p:sp>
        <p:sp>
          <p:nvSpPr>
            <p:cNvPr id="31764" name="Line 65"/>
            <p:cNvSpPr/>
            <p:nvPr/>
          </p:nvSpPr>
          <p:spPr>
            <a:xfrm flipV="1">
              <a:off x="12779" y="5150"/>
              <a:ext cx="0" cy="915"/>
            </a:xfrm>
            <a:prstGeom prst="line">
              <a:avLst/>
            </a:prstGeom>
            <a:ln w="19050" cap="flat" cmpd="sng">
              <a:solidFill>
                <a:schemeClr val="tx1"/>
              </a:solidFill>
              <a:prstDash val="solid"/>
              <a:round/>
              <a:headEnd type="none" w="med" len="med"/>
              <a:tailEnd type="triangle" w="med" len="med"/>
            </a:ln>
          </p:spPr>
        </p:sp>
        <p:sp>
          <p:nvSpPr>
            <p:cNvPr id="31765" name="Text Box 66"/>
            <p:cNvSpPr txBox="1"/>
            <p:nvPr/>
          </p:nvSpPr>
          <p:spPr>
            <a:xfrm>
              <a:off x="9896" y="3538"/>
              <a:ext cx="1637" cy="29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加法保留站</a:t>
              </a:r>
              <a:endParaRPr lang="zh-CN" altLang="en-US" sz="1200" b="1" dirty="0">
                <a:latin typeface="Times New Roman" pitchFamily="18" charset="0"/>
                <a:ea typeface="宋体" panose="02000500000000000000" pitchFamily="2" charset="-122"/>
              </a:endParaRPr>
            </a:p>
          </p:txBody>
        </p:sp>
        <p:sp>
          <p:nvSpPr>
            <p:cNvPr id="31766" name="Text Box 67"/>
            <p:cNvSpPr txBox="1"/>
            <p:nvPr/>
          </p:nvSpPr>
          <p:spPr>
            <a:xfrm>
              <a:off x="10906" y="5788"/>
              <a:ext cx="1717" cy="290"/>
            </a:xfrm>
            <a:prstGeom prst="rect">
              <a:avLst/>
            </a:prstGeom>
            <a:noFill/>
            <a:ln w="9525">
              <a:noFill/>
            </a:ln>
            <a:extLst>
              <a:ext uri="{909E8E84-426E-40DD-AFC4-6F175D3DCCD1}">
                <a14:hiddenFill xmlns:a14="http://schemas.microsoft.com/office/drawing/2010/main">
                  <a:solidFill>
                    <a:schemeClr val="bg1"/>
                  </a:solidFill>
                </a14:hiddenFill>
              </a:ext>
            </a:extLst>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浮点寄存器</a:t>
              </a:r>
              <a:endParaRPr lang="zh-CN" altLang="en-US" sz="1200" b="1" dirty="0">
                <a:latin typeface="Times New Roman" pitchFamily="18" charset="0"/>
                <a:ea typeface="宋体" panose="02000500000000000000" pitchFamily="2" charset="-122"/>
              </a:endParaRPr>
            </a:p>
          </p:txBody>
        </p:sp>
        <p:sp>
          <p:nvSpPr>
            <p:cNvPr id="31767" name="Text Box 68"/>
            <p:cNvSpPr txBox="1"/>
            <p:nvPr/>
          </p:nvSpPr>
          <p:spPr>
            <a:xfrm>
              <a:off x="14629" y="3520"/>
              <a:ext cx="1637" cy="29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乘法保留站</a:t>
              </a:r>
              <a:endParaRPr lang="zh-CN" altLang="en-US" sz="1200" b="1" dirty="0">
                <a:latin typeface="Times New Roman" pitchFamily="18" charset="0"/>
                <a:ea typeface="宋体" panose="02000500000000000000" pitchFamily="2" charset="-122"/>
              </a:endParaRPr>
            </a:p>
          </p:txBody>
        </p:sp>
        <p:sp>
          <p:nvSpPr>
            <p:cNvPr id="31768" name="Line 69"/>
            <p:cNvSpPr/>
            <p:nvPr/>
          </p:nvSpPr>
          <p:spPr>
            <a:xfrm>
              <a:off x="13835" y="7755"/>
              <a:ext cx="5323" cy="0"/>
            </a:xfrm>
            <a:prstGeom prst="line">
              <a:avLst/>
            </a:prstGeom>
            <a:ln w="19050" cap="flat" cmpd="sng">
              <a:solidFill>
                <a:srgbClr val="FF0000"/>
              </a:solidFill>
              <a:prstDash val="solid"/>
              <a:round/>
              <a:headEnd type="none" w="med" len="med"/>
              <a:tailEnd type="none" w="med" len="med"/>
            </a:ln>
          </p:spPr>
        </p:sp>
        <p:sp>
          <p:nvSpPr>
            <p:cNvPr id="31769" name="Line 70"/>
            <p:cNvSpPr/>
            <p:nvPr/>
          </p:nvSpPr>
          <p:spPr>
            <a:xfrm flipV="1">
              <a:off x="13835" y="7348"/>
              <a:ext cx="3" cy="410"/>
            </a:xfrm>
            <a:prstGeom prst="line">
              <a:avLst/>
            </a:prstGeom>
            <a:ln w="19050" cap="flat" cmpd="sng">
              <a:solidFill>
                <a:srgbClr val="FF0000"/>
              </a:solidFill>
              <a:prstDash val="solid"/>
              <a:round/>
              <a:headEnd type="none" w="med" len="med"/>
              <a:tailEnd type="triangle" w="med" len="med"/>
            </a:ln>
          </p:spPr>
        </p:sp>
        <p:grpSp>
          <p:nvGrpSpPr>
            <p:cNvPr id="31772" name="Group 73"/>
            <p:cNvGrpSpPr/>
            <p:nvPr/>
          </p:nvGrpSpPr>
          <p:grpSpPr>
            <a:xfrm rot="0">
              <a:off x="7063" y="2295"/>
              <a:ext cx="12093" cy="3273"/>
              <a:chOff x="1701" y="512"/>
              <a:chExt cx="3628" cy="1309"/>
            </a:xfrm>
          </p:grpSpPr>
          <p:sp>
            <p:nvSpPr>
              <p:cNvPr id="31773" name="Line 74"/>
              <p:cNvSpPr/>
              <p:nvPr/>
            </p:nvSpPr>
            <p:spPr>
              <a:xfrm flipV="1">
                <a:off x="2154" y="1661"/>
                <a:ext cx="2518" cy="0"/>
              </a:xfrm>
              <a:prstGeom prst="line">
                <a:avLst/>
              </a:prstGeom>
              <a:ln w="19050" cap="flat" cmpd="sng">
                <a:solidFill>
                  <a:schemeClr val="tx1"/>
                </a:solidFill>
                <a:prstDash val="solid"/>
                <a:round/>
                <a:headEnd type="none" w="med" len="med"/>
                <a:tailEnd type="none" w="med" len="med"/>
              </a:ln>
            </p:spPr>
          </p:sp>
          <p:sp>
            <p:nvSpPr>
              <p:cNvPr id="31774" name="Line 75"/>
              <p:cNvSpPr/>
              <p:nvPr/>
            </p:nvSpPr>
            <p:spPr>
              <a:xfrm flipV="1">
                <a:off x="1949" y="1820"/>
                <a:ext cx="3380" cy="0"/>
              </a:xfrm>
              <a:prstGeom prst="line">
                <a:avLst/>
              </a:prstGeom>
              <a:ln w="19050" cap="flat" cmpd="sng">
                <a:solidFill>
                  <a:srgbClr val="FF0000"/>
                </a:solidFill>
                <a:prstDash val="solid"/>
                <a:round/>
                <a:headEnd type="none" w="med" len="med"/>
                <a:tailEnd type="none" w="med" len="med"/>
              </a:ln>
            </p:spPr>
          </p:sp>
          <p:grpSp>
            <p:nvGrpSpPr>
              <p:cNvPr id="31775" name="Group 76"/>
              <p:cNvGrpSpPr/>
              <p:nvPr/>
            </p:nvGrpSpPr>
            <p:grpSpPr>
              <a:xfrm>
                <a:off x="1701" y="512"/>
                <a:ext cx="3494" cy="1309"/>
                <a:chOff x="1701" y="512"/>
                <a:chExt cx="3494" cy="1309"/>
              </a:xfrm>
            </p:grpSpPr>
            <p:grpSp>
              <p:nvGrpSpPr>
                <p:cNvPr id="31776" name="Group 77"/>
                <p:cNvGrpSpPr/>
                <p:nvPr/>
              </p:nvGrpSpPr>
              <p:grpSpPr>
                <a:xfrm>
                  <a:off x="1950" y="512"/>
                  <a:ext cx="204" cy="1309"/>
                  <a:chOff x="1950" y="512"/>
                  <a:chExt cx="204" cy="1309"/>
                </a:xfrm>
              </p:grpSpPr>
              <p:sp>
                <p:nvSpPr>
                  <p:cNvPr id="31777" name="Line 78"/>
                  <p:cNvSpPr/>
                  <p:nvPr/>
                </p:nvSpPr>
                <p:spPr>
                  <a:xfrm flipV="1">
                    <a:off x="2022" y="512"/>
                    <a:ext cx="0" cy="233"/>
                  </a:xfrm>
                  <a:prstGeom prst="line">
                    <a:avLst/>
                  </a:prstGeom>
                  <a:ln w="19050" cap="flat" cmpd="sng">
                    <a:solidFill>
                      <a:schemeClr val="tx1"/>
                    </a:solidFill>
                    <a:prstDash val="solid"/>
                    <a:round/>
                    <a:headEnd type="none" w="med" len="med"/>
                    <a:tailEnd type="triangle" w="med" len="med"/>
                  </a:ln>
                </p:spPr>
              </p:sp>
              <p:sp>
                <p:nvSpPr>
                  <p:cNvPr id="31778" name="Line 79"/>
                  <p:cNvSpPr/>
                  <p:nvPr/>
                </p:nvSpPr>
                <p:spPr>
                  <a:xfrm flipV="1">
                    <a:off x="1950" y="1502"/>
                    <a:ext cx="0" cy="319"/>
                  </a:xfrm>
                  <a:prstGeom prst="line">
                    <a:avLst/>
                  </a:prstGeom>
                  <a:ln w="19050" cap="flat" cmpd="sng">
                    <a:solidFill>
                      <a:srgbClr val="FF0000"/>
                    </a:solidFill>
                    <a:prstDash val="solid"/>
                    <a:round/>
                    <a:headEnd type="none" w="med" len="med"/>
                    <a:tailEnd type="triangle" w="med" len="med"/>
                  </a:ln>
                </p:spPr>
              </p:sp>
              <p:sp>
                <p:nvSpPr>
                  <p:cNvPr id="31779" name="Line 80"/>
                  <p:cNvSpPr/>
                  <p:nvPr/>
                </p:nvSpPr>
                <p:spPr>
                  <a:xfrm flipV="1">
                    <a:off x="2154" y="1508"/>
                    <a:ext cx="0" cy="156"/>
                  </a:xfrm>
                  <a:prstGeom prst="line">
                    <a:avLst/>
                  </a:prstGeom>
                  <a:ln w="19050" cap="flat" cmpd="sng">
                    <a:solidFill>
                      <a:schemeClr val="tx1"/>
                    </a:solidFill>
                    <a:prstDash val="solid"/>
                    <a:round/>
                    <a:headEnd type="none" w="med" len="med"/>
                    <a:tailEnd type="triangle" w="med" len="med"/>
                  </a:ln>
                </p:spPr>
              </p:sp>
            </p:grpSp>
            <p:sp>
              <p:nvSpPr>
                <p:cNvPr id="31780" name="Text Box 81"/>
                <p:cNvSpPr txBox="1"/>
                <p:nvPr/>
              </p:nvSpPr>
              <p:spPr>
                <a:xfrm>
                  <a:off x="2777" y="750"/>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浮点加</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减法器</a:t>
                  </a:r>
                  <a:endParaRPr lang="zh-CN" altLang="en-US" sz="1200" b="1" dirty="0">
                    <a:latin typeface="Times New Roman" pitchFamily="18" charset="0"/>
                    <a:ea typeface="宋体" panose="02000500000000000000" pitchFamily="2" charset="-122"/>
                  </a:endParaRPr>
                </a:p>
              </p:txBody>
            </p:sp>
            <p:sp>
              <p:nvSpPr>
                <p:cNvPr id="31781" name="Text Box 82"/>
                <p:cNvSpPr txBox="1"/>
                <p:nvPr/>
              </p:nvSpPr>
              <p:spPr>
                <a:xfrm>
                  <a:off x="4181" y="737"/>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浮点乘</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除法器</a:t>
                  </a:r>
                  <a:endParaRPr lang="zh-CN" altLang="en-US" sz="1200" b="1" dirty="0">
                    <a:latin typeface="Times New Roman" pitchFamily="18" charset="0"/>
                    <a:ea typeface="宋体" panose="02000500000000000000" pitchFamily="2" charset="-122"/>
                  </a:endParaRPr>
                </a:p>
              </p:txBody>
            </p:sp>
            <p:sp>
              <p:nvSpPr>
                <p:cNvPr id="31782" name="Text Box 83"/>
                <p:cNvSpPr txBox="1"/>
                <p:nvPr/>
              </p:nvSpPr>
              <p:spPr>
                <a:xfrm>
                  <a:off x="1701" y="731"/>
                  <a:ext cx="664" cy="771"/>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p>
                  <a:pPr algn="ctr">
                    <a:spcBef>
                      <a:spcPct val="50000"/>
                    </a:spcBef>
                  </a:pPr>
                  <a:endParaRPr lang="en-US" altLang="zh-CN" sz="1200"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定点</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访存</a:t>
                  </a:r>
                  <a:endParaRPr lang="zh-CN" altLang="en-US" sz="1200" b="1"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部件</a:t>
                  </a:r>
                  <a:endParaRPr lang="zh-CN" altLang="en-US" sz="1200" b="1" dirty="0">
                    <a:latin typeface="Times New Roman" pitchFamily="18" charset="0"/>
                    <a:ea typeface="宋体" panose="02000500000000000000" pitchFamily="2" charset="-122"/>
                  </a:endParaRPr>
                </a:p>
                <a:p>
                  <a:pPr algn="ctr">
                    <a:spcBef>
                      <a:spcPct val="50000"/>
                    </a:spcBef>
                  </a:pPr>
                  <a:endParaRPr lang="en-US" altLang="zh-CN" sz="1200" b="1" dirty="0">
                    <a:latin typeface="Times New Roman" pitchFamily="18" charset="0"/>
                    <a:ea typeface="宋体" panose="02000500000000000000" pitchFamily="2" charset="-122"/>
                  </a:endParaRPr>
                </a:p>
              </p:txBody>
            </p:sp>
          </p:grpSp>
        </p:grpSp>
        <p:sp>
          <p:nvSpPr>
            <p:cNvPr id="31783" name="Text Box 84"/>
            <p:cNvSpPr txBox="1"/>
            <p:nvPr/>
          </p:nvSpPr>
          <p:spPr>
            <a:xfrm>
              <a:off x="10992" y="7945"/>
              <a:ext cx="1623" cy="290"/>
            </a:xfrm>
            <a:prstGeom prst="rect">
              <a:avLst/>
            </a:prstGeom>
            <a:solidFill>
              <a:schemeClr val="bg1"/>
            </a:solid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指令队列</a:t>
              </a:r>
              <a:endParaRPr lang="zh-CN" altLang="en-US" sz="1200" b="1" dirty="0">
                <a:latin typeface="Times New Roman" pitchFamily="18" charset="0"/>
                <a:ea typeface="宋体" panose="02000500000000000000" pitchFamily="2" charset="-122"/>
              </a:endParaRPr>
            </a:p>
          </p:txBody>
        </p:sp>
      </p:grpSp>
      <p:graphicFrame>
        <p:nvGraphicFramePr>
          <p:cNvPr id="3" name="表格 2"/>
          <p:cNvGraphicFramePr/>
          <p:nvPr/>
        </p:nvGraphicFramePr>
        <p:xfrm>
          <a:off x="6799580" y="3837940"/>
          <a:ext cx="2342515" cy="863600"/>
        </p:xfrm>
        <a:graphic>
          <a:graphicData uri="http://schemas.openxmlformats.org/drawingml/2006/table">
            <a:tbl>
              <a:tblPr firstRow="1" bandRow="1">
                <a:tableStyleId>{5C22544A-7EE6-4342-B048-85BDC9FD1C3A}</a:tableStyleId>
              </a:tblPr>
              <a:tblGrid>
                <a:gridCol w="365125"/>
                <a:gridCol w="450850"/>
                <a:gridCol w="1526540"/>
              </a:tblGrid>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3</a:t>
                      </a:r>
                      <a:endParaRPr lang="en-US" altLang="zh-CN" sz="1200" b="1">
                        <a:solidFill>
                          <a:srgbClr val="FF0000"/>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3.0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4" name="表格 3"/>
          <p:cNvGraphicFramePr/>
          <p:nvPr/>
        </p:nvGraphicFramePr>
        <p:xfrm>
          <a:off x="7167880" y="5311775"/>
          <a:ext cx="1930400" cy="1280160"/>
        </p:xfrm>
        <a:graphic>
          <a:graphicData uri="http://schemas.openxmlformats.org/drawingml/2006/table">
            <a:tbl>
              <a:tblPr firstRow="1" bandRow="1">
                <a:tableStyleId>{5C22544A-7EE6-4342-B048-85BDC9FD1C3A}</a:tableStyleId>
              </a:tblPr>
              <a:tblGrid>
                <a:gridCol w="1930400"/>
              </a:tblGrid>
              <a:tr h="213360">
                <a:tc>
                  <a:txBody>
                    <a:bodyPr/>
                    <a:p>
                      <a:pPr indent="0">
                        <a:buNone/>
                      </a:pPr>
                      <a:r>
                        <a:rPr lang="en-US" sz="1200" b="1">
                          <a:solidFill>
                            <a:schemeClr val="tx1"/>
                          </a:solidFill>
                          <a:latin typeface="宋体" panose="02000500000000000000" pitchFamily="2" charset="-122"/>
                          <a:ea typeface="宋体" panose="02000500000000000000" pitchFamily="2" charset="-122"/>
                        </a:rPr>
                        <a:t>FDIV.D  </a:t>
                      </a:r>
                      <a:r>
                        <a:rPr lang="en-US" sz="1200" b="1">
                          <a:solidFill>
                            <a:srgbClr val="FF0000"/>
                          </a:solidFill>
                          <a:latin typeface="宋体" panose="02000500000000000000" pitchFamily="2" charset="-122"/>
                          <a:ea typeface="宋体" panose="02000500000000000000" pitchFamily="2" charset="-122"/>
                        </a:rPr>
                        <a:t>F0</a:t>
                      </a:r>
                      <a:r>
                        <a:rPr lang="en-US" sz="1200" b="1">
                          <a:solidFill>
                            <a:schemeClr val="tx1"/>
                          </a:solidFill>
                          <a:latin typeface="宋体" panose="02000500000000000000" pitchFamily="2" charset="-122"/>
                          <a:ea typeface="宋体" panose="02000500000000000000" pitchFamily="2" charset="-122"/>
                        </a:rPr>
                        <a:t>, F1, F2</a:t>
                      </a:r>
                      <a:endParaRPr lang="en-US" altLang="en-US" sz="1200" b="1">
                        <a:solidFill>
                          <a:schemeClr val="tx1"/>
                        </a:solidFill>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FADD.D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F1,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5" name="表格 4"/>
          <p:cNvGraphicFramePr/>
          <p:nvPr/>
        </p:nvGraphicFramePr>
        <p:xfrm>
          <a:off x="9544050" y="243586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div</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0</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1.0</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0</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2.0</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7" name="表格 6"/>
          <p:cNvGraphicFramePr/>
          <p:nvPr/>
        </p:nvGraphicFramePr>
        <p:xfrm>
          <a:off x="6577330" y="245618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6</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5</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4</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sp>
        <p:nvSpPr>
          <p:cNvPr id="34817" name="Text Box 35"/>
          <p:cNvSpPr txBox="1"/>
          <p:nvPr/>
        </p:nvSpPr>
        <p:spPr>
          <a:xfrm>
            <a:off x="649288" y="3917950"/>
            <a:ext cx="5046662" cy="306705"/>
          </a:xfrm>
          <a:prstGeom prst="rect">
            <a:avLst/>
          </a:prstGeom>
          <a:noFill/>
          <a:ln w="9525">
            <a:noFill/>
          </a:ln>
        </p:spPr>
        <p:txBody>
          <a:bodyPr anchor="t" anchorCtr="0">
            <a:spAutoFit/>
          </a:bodyPr>
          <a:p>
            <a:pPr>
              <a:buChar char="•"/>
            </a:pPr>
            <a:r>
              <a:rPr lang="en-US" altLang="zh-CN" sz="1400" b="1" dirty="0">
                <a:solidFill>
                  <a:srgbClr val="FF0000"/>
                </a:solidFill>
                <a:latin typeface="宋体" panose="02000500000000000000" pitchFamily="2" charset="-122"/>
                <a:cs typeface="宋体" panose="02000500000000000000" pitchFamily="2" charset="-122"/>
              </a:rPr>
              <a:t>DIV</a:t>
            </a:r>
            <a:r>
              <a:rPr lang="zh-CN" altLang="zh-CN" sz="1400" b="1" dirty="0">
                <a:solidFill>
                  <a:srgbClr val="FF0000"/>
                </a:solidFill>
                <a:latin typeface="宋体" panose="02000500000000000000" pitchFamily="2" charset="-122"/>
                <a:cs typeface="宋体" panose="02000500000000000000" pitchFamily="2" charset="-122"/>
              </a:rPr>
              <a:t>发射，</a:t>
            </a:r>
            <a:r>
              <a:rPr lang="en-US" altLang="zh-CN" sz="1400" b="1" dirty="0">
                <a:solidFill>
                  <a:srgbClr val="FF0000"/>
                </a:solidFill>
                <a:latin typeface="宋体" panose="02000500000000000000" pitchFamily="2" charset="-122"/>
                <a:cs typeface="宋体" panose="02000500000000000000" pitchFamily="2" charset="-122"/>
              </a:rPr>
              <a:t>F1, F2</a:t>
            </a:r>
            <a:r>
              <a:rPr lang="zh-CN" altLang="zh-CN" sz="1400" b="1" dirty="0">
                <a:solidFill>
                  <a:srgbClr val="FF0000"/>
                </a:solidFill>
                <a:latin typeface="宋体" panose="02000500000000000000" pitchFamily="2" charset="-122"/>
                <a:cs typeface="宋体" panose="02000500000000000000" pitchFamily="2" charset="-122"/>
              </a:rPr>
              <a:t>都准备好</a:t>
            </a:r>
            <a:endParaRPr lang="zh-CN" altLang="en-US" sz="1200" dirty="0">
              <a:latin typeface="宋体" panose="02000500000000000000" pitchFamily="2" charset="-122"/>
              <a:cs typeface="宋体" panose="02000500000000000000" pitchFamily="2"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914400" y="80645"/>
            <a:ext cx="10361613" cy="1143000"/>
          </a:xfrm>
        </p:spPr>
        <p:txBody>
          <a:bodyPr/>
          <a:p>
            <a:r>
              <a:rPr lang="zh-CN" altLang="en-US"/>
              <a:t>例子</a:t>
            </a:r>
            <a:endParaRPr lang="zh-CN" altLang="en-US"/>
          </a:p>
        </p:txBody>
      </p:sp>
      <p:grpSp>
        <p:nvGrpSpPr>
          <p:cNvPr id="6" name="组合 5"/>
          <p:cNvGrpSpPr/>
          <p:nvPr/>
        </p:nvGrpSpPr>
        <p:grpSpPr>
          <a:xfrm>
            <a:off x="4485005" y="1449705"/>
            <a:ext cx="7679690" cy="3862070"/>
            <a:chOff x="7063" y="2283"/>
            <a:chExt cx="12094" cy="6082"/>
          </a:xfrm>
        </p:grpSpPr>
        <p:sp>
          <p:nvSpPr>
            <p:cNvPr id="31751" name="Line 52"/>
            <p:cNvSpPr/>
            <p:nvPr/>
          </p:nvSpPr>
          <p:spPr>
            <a:xfrm flipV="1">
              <a:off x="11639" y="3333"/>
              <a:ext cx="0" cy="528"/>
            </a:xfrm>
            <a:prstGeom prst="line">
              <a:avLst/>
            </a:prstGeom>
            <a:ln w="9525" cap="flat" cmpd="sng">
              <a:solidFill>
                <a:schemeClr val="tx1"/>
              </a:solidFill>
              <a:prstDash val="solid"/>
              <a:round/>
              <a:headEnd type="none" w="med" len="med"/>
              <a:tailEnd type="triangle" w="med" len="med"/>
            </a:ln>
          </p:spPr>
        </p:sp>
        <p:sp>
          <p:nvSpPr>
            <p:cNvPr id="31752" name="Line 53"/>
            <p:cNvSpPr/>
            <p:nvPr/>
          </p:nvSpPr>
          <p:spPr>
            <a:xfrm flipV="1">
              <a:off x="13025" y="3333"/>
              <a:ext cx="0" cy="528"/>
            </a:xfrm>
            <a:prstGeom prst="line">
              <a:avLst/>
            </a:prstGeom>
            <a:ln w="9525" cap="flat" cmpd="sng">
              <a:solidFill>
                <a:schemeClr val="tx1"/>
              </a:solidFill>
              <a:prstDash val="solid"/>
              <a:round/>
              <a:headEnd type="none" w="med" len="med"/>
              <a:tailEnd type="triangle" w="med" len="med"/>
            </a:ln>
          </p:spPr>
        </p:sp>
        <p:sp>
          <p:nvSpPr>
            <p:cNvPr id="31753" name="Line 54"/>
            <p:cNvSpPr/>
            <p:nvPr/>
          </p:nvSpPr>
          <p:spPr>
            <a:xfrm flipV="1">
              <a:off x="16305" y="3313"/>
              <a:ext cx="0" cy="528"/>
            </a:xfrm>
            <a:prstGeom prst="line">
              <a:avLst/>
            </a:prstGeom>
            <a:ln w="9525" cap="flat" cmpd="sng">
              <a:solidFill>
                <a:schemeClr val="tx1"/>
              </a:solidFill>
              <a:prstDash val="solid"/>
              <a:round/>
              <a:headEnd type="none" w="med" len="med"/>
              <a:tailEnd type="triangle" w="med" len="med"/>
            </a:ln>
          </p:spPr>
        </p:sp>
        <p:sp>
          <p:nvSpPr>
            <p:cNvPr id="31754" name="Line 55"/>
            <p:cNvSpPr/>
            <p:nvPr/>
          </p:nvSpPr>
          <p:spPr>
            <a:xfrm flipV="1">
              <a:off x="17798" y="3293"/>
              <a:ext cx="0" cy="528"/>
            </a:xfrm>
            <a:prstGeom prst="line">
              <a:avLst/>
            </a:prstGeom>
            <a:ln w="9525" cap="flat" cmpd="sng">
              <a:solidFill>
                <a:schemeClr val="tx1"/>
              </a:solidFill>
              <a:prstDash val="solid"/>
              <a:round/>
              <a:headEnd type="none" w="med" len="med"/>
              <a:tailEnd type="triangle" w="med" len="med"/>
            </a:ln>
          </p:spPr>
        </p:sp>
        <p:sp>
          <p:nvSpPr>
            <p:cNvPr id="31755" name="Line 56"/>
            <p:cNvSpPr/>
            <p:nvPr/>
          </p:nvSpPr>
          <p:spPr>
            <a:xfrm flipV="1">
              <a:off x="12815" y="7393"/>
              <a:ext cx="0" cy="973"/>
            </a:xfrm>
            <a:prstGeom prst="line">
              <a:avLst/>
            </a:prstGeom>
            <a:ln w="19050" cap="flat" cmpd="sng">
              <a:solidFill>
                <a:schemeClr val="tx1"/>
              </a:solidFill>
              <a:prstDash val="solid"/>
              <a:round/>
              <a:headEnd type="none" w="med" len="med"/>
              <a:tailEnd type="triangle" w="med" len="med"/>
            </a:ln>
          </p:spPr>
        </p:sp>
        <p:sp>
          <p:nvSpPr>
            <p:cNvPr id="31756" name="Line 57"/>
            <p:cNvSpPr/>
            <p:nvPr/>
          </p:nvSpPr>
          <p:spPr>
            <a:xfrm flipV="1">
              <a:off x="12275" y="4795"/>
              <a:ext cx="0" cy="390"/>
            </a:xfrm>
            <a:prstGeom prst="line">
              <a:avLst/>
            </a:prstGeom>
            <a:ln w="19050" cap="flat" cmpd="sng">
              <a:solidFill>
                <a:schemeClr val="tx1"/>
              </a:solidFill>
              <a:prstDash val="solid"/>
              <a:round/>
              <a:headEnd type="none" w="med" len="med"/>
              <a:tailEnd type="triangle" w="med" len="med"/>
            </a:ln>
          </p:spPr>
        </p:sp>
        <p:sp>
          <p:nvSpPr>
            <p:cNvPr id="31757" name="Line 58"/>
            <p:cNvSpPr/>
            <p:nvPr/>
          </p:nvSpPr>
          <p:spPr>
            <a:xfrm flipV="1">
              <a:off x="16989" y="4783"/>
              <a:ext cx="0" cy="410"/>
            </a:xfrm>
            <a:prstGeom prst="line">
              <a:avLst/>
            </a:prstGeom>
            <a:ln w="19050" cap="flat" cmpd="sng">
              <a:solidFill>
                <a:schemeClr val="tx1"/>
              </a:solidFill>
              <a:prstDash val="solid"/>
              <a:round/>
              <a:headEnd type="none" w="med" len="med"/>
              <a:tailEnd type="triangle" w="med" len="med"/>
            </a:ln>
          </p:spPr>
        </p:sp>
        <p:sp>
          <p:nvSpPr>
            <p:cNvPr id="31758" name="Line 59"/>
            <p:cNvSpPr/>
            <p:nvPr/>
          </p:nvSpPr>
          <p:spPr>
            <a:xfrm flipV="1">
              <a:off x="17029" y="2283"/>
              <a:ext cx="0" cy="583"/>
            </a:xfrm>
            <a:prstGeom prst="line">
              <a:avLst/>
            </a:prstGeom>
            <a:ln w="19050" cap="flat" cmpd="sng">
              <a:solidFill>
                <a:srgbClr val="FF0000"/>
              </a:solidFill>
              <a:prstDash val="solid"/>
              <a:round/>
              <a:headEnd type="none" w="med" len="med"/>
              <a:tailEnd type="triangle" w="med" len="med"/>
            </a:ln>
          </p:spPr>
        </p:sp>
        <p:sp>
          <p:nvSpPr>
            <p:cNvPr id="31759" name="Line 60"/>
            <p:cNvSpPr/>
            <p:nvPr/>
          </p:nvSpPr>
          <p:spPr>
            <a:xfrm flipV="1">
              <a:off x="12412" y="2310"/>
              <a:ext cx="0" cy="583"/>
            </a:xfrm>
            <a:prstGeom prst="line">
              <a:avLst/>
            </a:prstGeom>
            <a:ln w="19050" cap="flat" cmpd="sng">
              <a:solidFill>
                <a:schemeClr val="tx1"/>
              </a:solidFill>
              <a:prstDash val="solid"/>
              <a:round/>
              <a:headEnd type="none" w="med" len="med"/>
              <a:tailEnd type="triangle" w="med" len="med"/>
            </a:ln>
          </p:spPr>
        </p:sp>
        <p:sp>
          <p:nvSpPr>
            <p:cNvPr id="31760" name="Line 61"/>
            <p:cNvSpPr/>
            <p:nvPr/>
          </p:nvSpPr>
          <p:spPr>
            <a:xfrm>
              <a:off x="8119" y="2300"/>
              <a:ext cx="11039" cy="0"/>
            </a:xfrm>
            <a:prstGeom prst="line">
              <a:avLst/>
            </a:prstGeom>
            <a:ln w="19050" cap="flat" cmpd="sng">
              <a:solidFill>
                <a:srgbClr val="FF0000"/>
              </a:solidFill>
              <a:prstDash val="solid"/>
              <a:round/>
              <a:headEnd type="none" w="med" len="med"/>
              <a:tailEnd type="none" w="med" len="med"/>
            </a:ln>
          </p:spPr>
        </p:sp>
        <p:sp>
          <p:nvSpPr>
            <p:cNvPr id="31761" name="Line 62"/>
            <p:cNvSpPr/>
            <p:nvPr/>
          </p:nvSpPr>
          <p:spPr>
            <a:xfrm flipV="1">
              <a:off x="11276" y="4780"/>
              <a:ext cx="0" cy="818"/>
            </a:xfrm>
            <a:prstGeom prst="line">
              <a:avLst/>
            </a:prstGeom>
            <a:ln w="19050" cap="flat" cmpd="sng">
              <a:solidFill>
                <a:srgbClr val="FF0000"/>
              </a:solidFill>
              <a:prstDash val="solid"/>
              <a:round/>
              <a:headEnd type="none" w="med" len="med"/>
              <a:tailEnd type="triangle" w="med" len="med"/>
            </a:ln>
          </p:spPr>
        </p:sp>
        <p:sp>
          <p:nvSpPr>
            <p:cNvPr id="31762" name="Line 63"/>
            <p:cNvSpPr/>
            <p:nvPr/>
          </p:nvSpPr>
          <p:spPr>
            <a:xfrm flipV="1">
              <a:off x="17752" y="4768"/>
              <a:ext cx="0" cy="818"/>
            </a:xfrm>
            <a:prstGeom prst="line">
              <a:avLst/>
            </a:prstGeom>
            <a:ln w="19050" cap="flat" cmpd="sng">
              <a:solidFill>
                <a:srgbClr val="FF0000"/>
              </a:solidFill>
              <a:prstDash val="solid"/>
              <a:round/>
              <a:headEnd type="none" w="med" len="med"/>
              <a:tailEnd type="triangle" w="med" len="med"/>
            </a:ln>
          </p:spPr>
        </p:sp>
        <p:sp>
          <p:nvSpPr>
            <p:cNvPr id="31763" name="Line 64"/>
            <p:cNvSpPr/>
            <p:nvPr/>
          </p:nvSpPr>
          <p:spPr>
            <a:xfrm>
              <a:off x="19135" y="2300"/>
              <a:ext cx="0" cy="5455"/>
            </a:xfrm>
            <a:prstGeom prst="line">
              <a:avLst/>
            </a:prstGeom>
            <a:ln w="19050" cap="flat" cmpd="sng">
              <a:solidFill>
                <a:srgbClr val="FF0000"/>
              </a:solidFill>
              <a:prstDash val="solid"/>
              <a:round/>
              <a:headEnd type="none" w="med" len="med"/>
              <a:tailEnd type="none" w="med" len="med"/>
            </a:ln>
          </p:spPr>
        </p:sp>
        <p:sp>
          <p:nvSpPr>
            <p:cNvPr id="31764" name="Line 65"/>
            <p:cNvSpPr/>
            <p:nvPr/>
          </p:nvSpPr>
          <p:spPr>
            <a:xfrm flipV="1">
              <a:off x="12779" y="5150"/>
              <a:ext cx="0" cy="915"/>
            </a:xfrm>
            <a:prstGeom prst="line">
              <a:avLst/>
            </a:prstGeom>
            <a:ln w="19050" cap="flat" cmpd="sng">
              <a:solidFill>
                <a:schemeClr val="tx1"/>
              </a:solidFill>
              <a:prstDash val="solid"/>
              <a:round/>
              <a:headEnd type="none" w="med" len="med"/>
              <a:tailEnd type="triangle" w="med" len="med"/>
            </a:ln>
          </p:spPr>
        </p:sp>
        <p:sp>
          <p:nvSpPr>
            <p:cNvPr id="31765" name="Text Box 66"/>
            <p:cNvSpPr txBox="1"/>
            <p:nvPr/>
          </p:nvSpPr>
          <p:spPr>
            <a:xfrm>
              <a:off x="9896" y="3538"/>
              <a:ext cx="1637" cy="29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加法保留站</a:t>
              </a:r>
              <a:endParaRPr lang="zh-CN" altLang="en-US" sz="1200" b="1" dirty="0">
                <a:latin typeface="Times New Roman" pitchFamily="18" charset="0"/>
                <a:ea typeface="宋体" panose="02000500000000000000" pitchFamily="2" charset="-122"/>
              </a:endParaRPr>
            </a:p>
          </p:txBody>
        </p:sp>
        <p:sp>
          <p:nvSpPr>
            <p:cNvPr id="31766" name="Text Box 67"/>
            <p:cNvSpPr txBox="1"/>
            <p:nvPr/>
          </p:nvSpPr>
          <p:spPr>
            <a:xfrm>
              <a:off x="10906" y="5788"/>
              <a:ext cx="1717" cy="290"/>
            </a:xfrm>
            <a:prstGeom prst="rect">
              <a:avLst/>
            </a:prstGeom>
            <a:noFill/>
            <a:ln w="9525">
              <a:noFill/>
            </a:ln>
            <a:extLst>
              <a:ext uri="{909E8E84-426E-40DD-AFC4-6F175D3DCCD1}">
                <a14:hiddenFill xmlns:a14="http://schemas.microsoft.com/office/drawing/2010/main">
                  <a:solidFill>
                    <a:schemeClr val="bg1"/>
                  </a:solidFill>
                </a14:hiddenFill>
              </a:ext>
            </a:extLst>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浮点寄存器</a:t>
              </a:r>
              <a:endParaRPr lang="zh-CN" altLang="en-US" sz="1200" b="1" dirty="0">
                <a:latin typeface="Times New Roman" pitchFamily="18" charset="0"/>
                <a:ea typeface="宋体" panose="02000500000000000000" pitchFamily="2" charset="-122"/>
              </a:endParaRPr>
            </a:p>
          </p:txBody>
        </p:sp>
        <p:sp>
          <p:nvSpPr>
            <p:cNvPr id="31767" name="Text Box 68"/>
            <p:cNvSpPr txBox="1"/>
            <p:nvPr/>
          </p:nvSpPr>
          <p:spPr>
            <a:xfrm>
              <a:off x="14629" y="3520"/>
              <a:ext cx="1637" cy="29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乘法保留站</a:t>
              </a:r>
              <a:endParaRPr lang="zh-CN" altLang="en-US" sz="1200" b="1" dirty="0">
                <a:latin typeface="Times New Roman" pitchFamily="18" charset="0"/>
                <a:ea typeface="宋体" panose="02000500000000000000" pitchFamily="2" charset="-122"/>
              </a:endParaRPr>
            </a:p>
          </p:txBody>
        </p:sp>
        <p:sp>
          <p:nvSpPr>
            <p:cNvPr id="31768" name="Line 69"/>
            <p:cNvSpPr/>
            <p:nvPr/>
          </p:nvSpPr>
          <p:spPr>
            <a:xfrm>
              <a:off x="13835" y="7755"/>
              <a:ext cx="5323" cy="0"/>
            </a:xfrm>
            <a:prstGeom prst="line">
              <a:avLst/>
            </a:prstGeom>
            <a:ln w="19050" cap="flat" cmpd="sng">
              <a:solidFill>
                <a:srgbClr val="FF0000"/>
              </a:solidFill>
              <a:prstDash val="solid"/>
              <a:round/>
              <a:headEnd type="none" w="med" len="med"/>
              <a:tailEnd type="none" w="med" len="med"/>
            </a:ln>
          </p:spPr>
        </p:sp>
        <p:sp>
          <p:nvSpPr>
            <p:cNvPr id="31769" name="Line 70"/>
            <p:cNvSpPr/>
            <p:nvPr/>
          </p:nvSpPr>
          <p:spPr>
            <a:xfrm flipV="1">
              <a:off x="13835" y="7348"/>
              <a:ext cx="3" cy="410"/>
            </a:xfrm>
            <a:prstGeom prst="line">
              <a:avLst/>
            </a:prstGeom>
            <a:ln w="19050" cap="flat" cmpd="sng">
              <a:solidFill>
                <a:srgbClr val="FF0000"/>
              </a:solidFill>
              <a:prstDash val="solid"/>
              <a:round/>
              <a:headEnd type="none" w="med" len="med"/>
              <a:tailEnd type="triangle" w="med" len="med"/>
            </a:ln>
          </p:spPr>
        </p:sp>
        <p:grpSp>
          <p:nvGrpSpPr>
            <p:cNvPr id="31772" name="Group 73"/>
            <p:cNvGrpSpPr/>
            <p:nvPr/>
          </p:nvGrpSpPr>
          <p:grpSpPr>
            <a:xfrm rot="0">
              <a:off x="7063" y="2295"/>
              <a:ext cx="12093" cy="3273"/>
              <a:chOff x="1701" y="512"/>
              <a:chExt cx="3628" cy="1309"/>
            </a:xfrm>
          </p:grpSpPr>
          <p:sp>
            <p:nvSpPr>
              <p:cNvPr id="31773" name="Line 74"/>
              <p:cNvSpPr/>
              <p:nvPr/>
            </p:nvSpPr>
            <p:spPr>
              <a:xfrm flipV="1">
                <a:off x="2154" y="1661"/>
                <a:ext cx="2518" cy="0"/>
              </a:xfrm>
              <a:prstGeom prst="line">
                <a:avLst/>
              </a:prstGeom>
              <a:ln w="19050" cap="flat" cmpd="sng">
                <a:solidFill>
                  <a:schemeClr val="tx1"/>
                </a:solidFill>
                <a:prstDash val="solid"/>
                <a:round/>
                <a:headEnd type="none" w="med" len="med"/>
                <a:tailEnd type="none" w="med" len="med"/>
              </a:ln>
            </p:spPr>
          </p:sp>
          <p:sp>
            <p:nvSpPr>
              <p:cNvPr id="31774" name="Line 75"/>
              <p:cNvSpPr/>
              <p:nvPr/>
            </p:nvSpPr>
            <p:spPr>
              <a:xfrm flipV="1">
                <a:off x="1949" y="1820"/>
                <a:ext cx="3380" cy="0"/>
              </a:xfrm>
              <a:prstGeom prst="line">
                <a:avLst/>
              </a:prstGeom>
              <a:ln w="19050" cap="flat" cmpd="sng">
                <a:solidFill>
                  <a:srgbClr val="FF0000"/>
                </a:solidFill>
                <a:prstDash val="solid"/>
                <a:round/>
                <a:headEnd type="none" w="med" len="med"/>
                <a:tailEnd type="none" w="med" len="med"/>
              </a:ln>
            </p:spPr>
          </p:sp>
          <p:grpSp>
            <p:nvGrpSpPr>
              <p:cNvPr id="31775" name="Group 76"/>
              <p:cNvGrpSpPr/>
              <p:nvPr/>
            </p:nvGrpSpPr>
            <p:grpSpPr>
              <a:xfrm>
                <a:off x="1701" y="512"/>
                <a:ext cx="3494" cy="1309"/>
                <a:chOff x="1701" y="512"/>
                <a:chExt cx="3494" cy="1309"/>
              </a:xfrm>
            </p:grpSpPr>
            <p:grpSp>
              <p:nvGrpSpPr>
                <p:cNvPr id="31776" name="Group 77"/>
                <p:cNvGrpSpPr/>
                <p:nvPr/>
              </p:nvGrpSpPr>
              <p:grpSpPr>
                <a:xfrm>
                  <a:off x="1950" y="512"/>
                  <a:ext cx="204" cy="1309"/>
                  <a:chOff x="1950" y="512"/>
                  <a:chExt cx="204" cy="1309"/>
                </a:xfrm>
              </p:grpSpPr>
              <p:sp>
                <p:nvSpPr>
                  <p:cNvPr id="31777" name="Line 78"/>
                  <p:cNvSpPr/>
                  <p:nvPr/>
                </p:nvSpPr>
                <p:spPr>
                  <a:xfrm flipV="1">
                    <a:off x="2022" y="512"/>
                    <a:ext cx="0" cy="233"/>
                  </a:xfrm>
                  <a:prstGeom prst="line">
                    <a:avLst/>
                  </a:prstGeom>
                  <a:ln w="19050" cap="flat" cmpd="sng">
                    <a:solidFill>
                      <a:schemeClr val="tx1"/>
                    </a:solidFill>
                    <a:prstDash val="solid"/>
                    <a:round/>
                    <a:headEnd type="none" w="med" len="med"/>
                    <a:tailEnd type="triangle" w="med" len="med"/>
                  </a:ln>
                </p:spPr>
              </p:sp>
              <p:sp>
                <p:nvSpPr>
                  <p:cNvPr id="31778" name="Line 79"/>
                  <p:cNvSpPr/>
                  <p:nvPr/>
                </p:nvSpPr>
                <p:spPr>
                  <a:xfrm flipV="1">
                    <a:off x="1950" y="1502"/>
                    <a:ext cx="0" cy="319"/>
                  </a:xfrm>
                  <a:prstGeom prst="line">
                    <a:avLst/>
                  </a:prstGeom>
                  <a:ln w="19050" cap="flat" cmpd="sng">
                    <a:solidFill>
                      <a:srgbClr val="FF0000"/>
                    </a:solidFill>
                    <a:prstDash val="solid"/>
                    <a:round/>
                    <a:headEnd type="none" w="med" len="med"/>
                    <a:tailEnd type="triangle" w="med" len="med"/>
                  </a:ln>
                </p:spPr>
              </p:sp>
              <p:sp>
                <p:nvSpPr>
                  <p:cNvPr id="31779" name="Line 80"/>
                  <p:cNvSpPr/>
                  <p:nvPr/>
                </p:nvSpPr>
                <p:spPr>
                  <a:xfrm flipV="1">
                    <a:off x="2154" y="1508"/>
                    <a:ext cx="0" cy="156"/>
                  </a:xfrm>
                  <a:prstGeom prst="line">
                    <a:avLst/>
                  </a:prstGeom>
                  <a:ln w="19050" cap="flat" cmpd="sng">
                    <a:solidFill>
                      <a:schemeClr val="tx1"/>
                    </a:solidFill>
                    <a:prstDash val="solid"/>
                    <a:round/>
                    <a:headEnd type="none" w="med" len="med"/>
                    <a:tailEnd type="triangle" w="med" len="med"/>
                  </a:ln>
                </p:spPr>
              </p:sp>
            </p:grpSp>
            <p:sp>
              <p:nvSpPr>
                <p:cNvPr id="31780" name="Text Box 81"/>
                <p:cNvSpPr txBox="1"/>
                <p:nvPr/>
              </p:nvSpPr>
              <p:spPr>
                <a:xfrm>
                  <a:off x="2777" y="750"/>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浮点加</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减法器</a:t>
                  </a:r>
                  <a:endParaRPr lang="zh-CN" altLang="en-US" sz="1200" b="1" dirty="0">
                    <a:latin typeface="Times New Roman" pitchFamily="18" charset="0"/>
                    <a:ea typeface="宋体" panose="02000500000000000000" pitchFamily="2" charset="-122"/>
                  </a:endParaRPr>
                </a:p>
              </p:txBody>
            </p:sp>
            <p:sp>
              <p:nvSpPr>
                <p:cNvPr id="31781" name="Text Box 82"/>
                <p:cNvSpPr txBox="1"/>
                <p:nvPr/>
              </p:nvSpPr>
              <p:spPr>
                <a:xfrm>
                  <a:off x="4181" y="737"/>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浮点乘</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除法器</a:t>
                  </a:r>
                  <a:endParaRPr lang="zh-CN" altLang="en-US" sz="1200" b="1" dirty="0">
                    <a:latin typeface="Times New Roman" pitchFamily="18" charset="0"/>
                    <a:ea typeface="宋体" panose="02000500000000000000" pitchFamily="2" charset="-122"/>
                  </a:endParaRPr>
                </a:p>
              </p:txBody>
            </p:sp>
            <p:sp>
              <p:nvSpPr>
                <p:cNvPr id="31782" name="Text Box 83"/>
                <p:cNvSpPr txBox="1"/>
                <p:nvPr/>
              </p:nvSpPr>
              <p:spPr>
                <a:xfrm>
                  <a:off x="1701" y="731"/>
                  <a:ext cx="664" cy="771"/>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p>
                  <a:pPr algn="ctr">
                    <a:spcBef>
                      <a:spcPct val="50000"/>
                    </a:spcBef>
                  </a:pPr>
                  <a:endParaRPr lang="en-US" altLang="zh-CN" sz="1200"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定点</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访存</a:t>
                  </a:r>
                  <a:endParaRPr lang="zh-CN" altLang="en-US" sz="1200" b="1"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部件</a:t>
                  </a:r>
                  <a:endParaRPr lang="zh-CN" altLang="en-US" sz="1200" b="1" dirty="0">
                    <a:latin typeface="Times New Roman" pitchFamily="18" charset="0"/>
                    <a:ea typeface="宋体" panose="02000500000000000000" pitchFamily="2" charset="-122"/>
                  </a:endParaRPr>
                </a:p>
                <a:p>
                  <a:pPr algn="ctr">
                    <a:spcBef>
                      <a:spcPct val="50000"/>
                    </a:spcBef>
                  </a:pPr>
                  <a:endParaRPr lang="en-US" altLang="zh-CN" sz="1200" b="1" dirty="0">
                    <a:latin typeface="Times New Roman" pitchFamily="18" charset="0"/>
                    <a:ea typeface="宋体" panose="02000500000000000000" pitchFamily="2" charset="-122"/>
                  </a:endParaRPr>
                </a:p>
              </p:txBody>
            </p:sp>
          </p:grpSp>
        </p:grpSp>
        <p:sp>
          <p:nvSpPr>
            <p:cNvPr id="31783" name="Text Box 84"/>
            <p:cNvSpPr txBox="1"/>
            <p:nvPr/>
          </p:nvSpPr>
          <p:spPr>
            <a:xfrm>
              <a:off x="10992" y="7945"/>
              <a:ext cx="1623" cy="290"/>
            </a:xfrm>
            <a:prstGeom prst="rect">
              <a:avLst/>
            </a:prstGeom>
            <a:solidFill>
              <a:schemeClr val="bg1"/>
            </a:solid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指令队列</a:t>
              </a:r>
              <a:endParaRPr lang="zh-CN" altLang="en-US" sz="1200" b="1" dirty="0">
                <a:latin typeface="Times New Roman" pitchFamily="18" charset="0"/>
                <a:ea typeface="宋体" panose="02000500000000000000" pitchFamily="2" charset="-122"/>
              </a:endParaRPr>
            </a:p>
          </p:txBody>
        </p:sp>
      </p:grpSp>
      <p:graphicFrame>
        <p:nvGraphicFramePr>
          <p:cNvPr id="3" name="表格 2"/>
          <p:cNvGraphicFramePr/>
          <p:nvPr/>
        </p:nvGraphicFramePr>
        <p:xfrm>
          <a:off x="6799580" y="3837940"/>
          <a:ext cx="2342515" cy="863600"/>
        </p:xfrm>
        <a:graphic>
          <a:graphicData uri="http://schemas.openxmlformats.org/drawingml/2006/table">
            <a:tbl>
              <a:tblPr firstRow="1" bandRow="1">
                <a:tableStyleId>{5C22544A-7EE6-4342-B048-85BDC9FD1C3A}</a:tableStyleId>
              </a:tblPr>
              <a:tblGrid>
                <a:gridCol w="365125"/>
                <a:gridCol w="450850"/>
                <a:gridCol w="1526540"/>
              </a:tblGrid>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2</a:t>
                      </a:r>
                      <a:endParaRPr lang="en-US" altLang="zh-CN" sz="1200" b="1">
                        <a:solidFill>
                          <a:srgbClr val="FF0000"/>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3.0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4" name="表格 3"/>
          <p:cNvGraphicFramePr/>
          <p:nvPr/>
        </p:nvGraphicFramePr>
        <p:xfrm>
          <a:off x="7167880" y="5311775"/>
          <a:ext cx="1930400" cy="1280160"/>
        </p:xfrm>
        <a:graphic>
          <a:graphicData uri="http://schemas.openxmlformats.org/drawingml/2006/table">
            <a:tbl>
              <a:tblPr firstRow="1" bandRow="1">
                <a:tableStyleId>{5C22544A-7EE6-4342-B048-85BDC9FD1C3A}</a:tableStyleId>
              </a:tblPr>
              <a:tblGrid>
                <a:gridCol w="1930400"/>
              </a:tblGrid>
              <a:tr h="213360">
                <a:tc>
                  <a:txBody>
                    <a:bodyPr/>
                    <a:p>
                      <a:pPr indent="0">
                        <a:buNone/>
                      </a:pPr>
                      <a:r>
                        <a:rPr lang="en-US" sz="1200" b="1">
                          <a:solidFill>
                            <a:schemeClr val="tx1"/>
                          </a:solidFill>
                          <a:latin typeface="宋体" panose="02000500000000000000" pitchFamily="2" charset="-122"/>
                          <a:ea typeface="宋体" panose="02000500000000000000" pitchFamily="2" charset="-122"/>
                        </a:rPr>
                        <a:t>FDIV.D  </a:t>
                      </a:r>
                      <a:r>
                        <a:rPr lang="en-US" sz="1200" b="1">
                          <a:solidFill>
                            <a:srgbClr val="FF0000"/>
                          </a:solidFill>
                          <a:latin typeface="宋体" panose="02000500000000000000" pitchFamily="2" charset="-122"/>
                          <a:ea typeface="宋体" panose="02000500000000000000" pitchFamily="2" charset="-122"/>
                        </a:rPr>
                        <a:t>F0</a:t>
                      </a:r>
                      <a:r>
                        <a:rPr lang="en-US" sz="1200" b="1">
                          <a:solidFill>
                            <a:schemeClr val="tx1"/>
                          </a:solidFill>
                          <a:latin typeface="宋体" panose="02000500000000000000" pitchFamily="2" charset="-122"/>
                          <a:ea typeface="宋体" panose="02000500000000000000" pitchFamily="2" charset="-122"/>
                        </a:rPr>
                        <a:t>, F1, F2</a:t>
                      </a:r>
                      <a:endParaRPr lang="en-US" altLang="en-US" sz="1200" b="1">
                        <a:solidFill>
                          <a:schemeClr val="tx1"/>
                        </a:solidFill>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FADD.D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F1,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5" name="表格 4"/>
          <p:cNvGraphicFramePr/>
          <p:nvPr/>
        </p:nvGraphicFramePr>
        <p:xfrm>
          <a:off x="9544050" y="243586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fdiv</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fmul</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3</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zh-CN" altLang="en-US"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0</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2.0</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7" name="表格 6"/>
          <p:cNvGraphicFramePr/>
          <p:nvPr/>
        </p:nvGraphicFramePr>
        <p:xfrm>
          <a:off x="6577330" y="245618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6</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5</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4</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sp>
        <p:nvSpPr>
          <p:cNvPr id="35862" name="Text Box 35"/>
          <p:cNvSpPr txBox="1"/>
          <p:nvPr/>
        </p:nvSpPr>
        <p:spPr>
          <a:xfrm>
            <a:off x="649288" y="3917950"/>
            <a:ext cx="5046662" cy="737235"/>
          </a:xfrm>
          <a:prstGeom prst="rect">
            <a:avLst/>
          </a:prstGeom>
          <a:noFill/>
          <a:ln w="9525">
            <a:noFill/>
          </a:ln>
        </p:spPr>
        <p:txBody>
          <a:bodyPr anchor="t" anchorCtr="0">
            <a:spAutoFit/>
          </a:bodyPr>
          <a:p>
            <a:pPr>
              <a:lnSpc>
                <a:spcPct val="150000"/>
              </a:lnSpc>
              <a:buChar char="•"/>
            </a:pPr>
            <a:r>
              <a:rPr lang="en-US" altLang="zh-CN" sz="1400" b="1" dirty="0">
                <a:solidFill>
                  <a:srgbClr val="000000"/>
                </a:solidFill>
                <a:latin typeface="宋体" panose="02000500000000000000" pitchFamily="2" charset="-122"/>
                <a:cs typeface="宋体" panose="02000500000000000000" pitchFamily="2" charset="-122"/>
              </a:rPr>
              <a:t>DIV</a:t>
            </a:r>
            <a:r>
              <a:rPr lang="zh-CN" altLang="zh-CN" sz="1400" b="1" dirty="0">
                <a:solidFill>
                  <a:srgbClr val="000000"/>
                </a:solidFill>
                <a:latin typeface="宋体" panose="02000500000000000000" pitchFamily="2" charset="-122"/>
                <a:cs typeface="宋体" panose="02000500000000000000" pitchFamily="2" charset="-122"/>
              </a:rPr>
              <a:t>发射，</a:t>
            </a:r>
            <a:r>
              <a:rPr lang="en-US" altLang="zh-CN" sz="1400" b="1" dirty="0">
                <a:solidFill>
                  <a:srgbClr val="000000"/>
                </a:solidFill>
                <a:latin typeface="宋体" panose="02000500000000000000" pitchFamily="2" charset="-122"/>
                <a:cs typeface="宋体" panose="02000500000000000000" pitchFamily="2" charset="-122"/>
              </a:rPr>
              <a:t>F1, F2</a:t>
            </a:r>
            <a:r>
              <a:rPr lang="zh-CN" altLang="zh-CN" sz="1400" b="1" dirty="0">
                <a:solidFill>
                  <a:srgbClr val="000000"/>
                </a:solidFill>
                <a:latin typeface="宋体" panose="02000500000000000000" pitchFamily="2" charset="-122"/>
                <a:cs typeface="宋体" panose="02000500000000000000" pitchFamily="2" charset="-122"/>
              </a:rPr>
              <a:t>都准备好</a:t>
            </a:r>
            <a:endParaRPr lang="zh-CN" altLang="zh-CN" sz="1400" b="1" dirty="0">
              <a:solidFill>
                <a:srgbClr val="000000"/>
              </a:solidFill>
              <a:latin typeface="宋体" panose="02000500000000000000" pitchFamily="2" charset="-122"/>
              <a:cs typeface="宋体" panose="02000500000000000000" pitchFamily="2" charset="-122"/>
            </a:endParaRPr>
          </a:p>
          <a:p>
            <a:pPr>
              <a:lnSpc>
                <a:spcPct val="150000"/>
              </a:lnSpc>
              <a:buChar char="•"/>
            </a:pPr>
            <a:r>
              <a:rPr lang="en-US" altLang="zh-CN" sz="1400" b="1" dirty="0">
                <a:solidFill>
                  <a:srgbClr val="FF0000"/>
                </a:solidFill>
                <a:latin typeface="宋体" panose="02000500000000000000" pitchFamily="2" charset="-122"/>
                <a:cs typeface="宋体" panose="02000500000000000000" pitchFamily="2" charset="-122"/>
              </a:rPr>
              <a:t>MUL1</a:t>
            </a:r>
            <a:r>
              <a:rPr lang="zh-CN" altLang="zh-CN" sz="1400" b="1" dirty="0">
                <a:solidFill>
                  <a:srgbClr val="FF0000"/>
                </a:solidFill>
                <a:latin typeface="宋体" panose="02000500000000000000" pitchFamily="2" charset="-122"/>
                <a:cs typeface="宋体" panose="02000500000000000000" pitchFamily="2" charset="-122"/>
              </a:rPr>
              <a:t>发射，</a:t>
            </a:r>
            <a:r>
              <a:rPr lang="en-US" altLang="zh-CN" sz="1400" b="1" dirty="0">
                <a:solidFill>
                  <a:srgbClr val="FF0000"/>
                </a:solidFill>
                <a:latin typeface="宋体" panose="02000500000000000000" pitchFamily="2" charset="-122"/>
                <a:cs typeface="宋体" panose="02000500000000000000" pitchFamily="2" charset="-122"/>
              </a:rPr>
              <a:t>F0</a:t>
            </a:r>
            <a:r>
              <a:rPr lang="zh-CN" altLang="zh-CN" sz="1400" b="1" dirty="0">
                <a:solidFill>
                  <a:srgbClr val="FF0000"/>
                </a:solidFill>
                <a:latin typeface="宋体" panose="02000500000000000000" pitchFamily="2" charset="-122"/>
                <a:cs typeface="宋体" panose="02000500000000000000" pitchFamily="2" charset="-122"/>
              </a:rPr>
              <a:t>等待3号保留站的结果</a:t>
            </a:r>
            <a:endParaRPr lang="zh-CN" altLang="en-US" sz="1200" dirty="0">
              <a:latin typeface="宋体" panose="02000500000000000000" pitchFamily="2" charset="-122"/>
              <a:cs typeface="宋体" panose="02000500000000000000" pitchFamily="2"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914400" y="80645"/>
            <a:ext cx="10361613" cy="1143000"/>
          </a:xfrm>
        </p:spPr>
        <p:txBody>
          <a:bodyPr/>
          <a:p>
            <a:r>
              <a:rPr lang="zh-CN" altLang="en-US"/>
              <a:t>例子</a:t>
            </a:r>
            <a:endParaRPr lang="zh-CN" altLang="en-US"/>
          </a:p>
        </p:txBody>
      </p:sp>
      <p:grpSp>
        <p:nvGrpSpPr>
          <p:cNvPr id="6" name="组合 5"/>
          <p:cNvGrpSpPr/>
          <p:nvPr/>
        </p:nvGrpSpPr>
        <p:grpSpPr>
          <a:xfrm>
            <a:off x="4485005" y="1449705"/>
            <a:ext cx="7679690" cy="3862070"/>
            <a:chOff x="7063" y="2283"/>
            <a:chExt cx="12094" cy="6082"/>
          </a:xfrm>
        </p:grpSpPr>
        <p:sp>
          <p:nvSpPr>
            <p:cNvPr id="31751" name="Line 52"/>
            <p:cNvSpPr/>
            <p:nvPr/>
          </p:nvSpPr>
          <p:spPr>
            <a:xfrm flipV="1">
              <a:off x="11639" y="3333"/>
              <a:ext cx="0" cy="528"/>
            </a:xfrm>
            <a:prstGeom prst="line">
              <a:avLst/>
            </a:prstGeom>
            <a:ln w="9525" cap="flat" cmpd="sng">
              <a:solidFill>
                <a:schemeClr val="tx1"/>
              </a:solidFill>
              <a:prstDash val="solid"/>
              <a:round/>
              <a:headEnd type="none" w="med" len="med"/>
              <a:tailEnd type="triangle" w="med" len="med"/>
            </a:ln>
          </p:spPr>
        </p:sp>
        <p:sp>
          <p:nvSpPr>
            <p:cNvPr id="31752" name="Line 53"/>
            <p:cNvSpPr/>
            <p:nvPr/>
          </p:nvSpPr>
          <p:spPr>
            <a:xfrm flipV="1">
              <a:off x="13025" y="3333"/>
              <a:ext cx="0" cy="528"/>
            </a:xfrm>
            <a:prstGeom prst="line">
              <a:avLst/>
            </a:prstGeom>
            <a:ln w="9525" cap="flat" cmpd="sng">
              <a:solidFill>
                <a:schemeClr val="tx1"/>
              </a:solidFill>
              <a:prstDash val="solid"/>
              <a:round/>
              <a:headEnd type="none" w="med" len="med"/>
              <a:tailEnd type="triangle" w="med" len="med"/>
            </a:ln>
          </p:spPr>
        </p:sp>
        <p:sp>
          <p:nvSpPr>
            <p:cNvPr id="31753" name="Line 54"/>
            <p:cNvSpPr/>
            <p:nvPr/>
          </p:nvSpPr>
          <p:spPr>
            <a:xfrm flipV="1">
              <a:off x="16305" y="3313"/>
              <a:ext cx="0" cy="528"/>
            </a:xfrm>
            <a:prstGeom prst="line">
              <a:avLst/>
            </a:prstGeom>
            <a:ln w="9525" cap="flat" cmpd="sng">
              <a:solidFill>
                <a:schemeClr val="tx1"/>
              </a:solidFill>
              <a:prstDash val="solid"/>
              <a:round/>
              <a:headEnd type="none" w="med" len="med"/>
              <a:tailEnd type="triangle" w="med" len="med"/>
            </a:ln>
          </p:spPr>
        </p:sp>
        <p:sp>
          <p:nvSpPr>
            <p:cNvPr id="31754" name="Line 55"/>
            <p:cNvSpPr/>
            <p:nvPr/>
          </p:nvSpPr>
          <p:spPr>
            <a:xfrm flipV="1">
              <a:off x="17798" y="3293"/>
              <a:ext cx="0" cy="528"/>
            </a:xfrm>
            <a:prstGeom prst="line">
              <a:avLst/>
            </a:prstGeom>
            <a:ln w="9525" cap="flat" cmpd="sng">
              <a:solidFill>
                <a:schemeClr val="tx1"/>
              </a:solidFill>
              <a:prstDash val="solid"/>
              <a:round/>
              <a:headEnd type="none" w="med" len="med"/>
              <a:tailEnd type="triangle" w="med" len="med"/>
            </a:ln>
          </p:spPr>
        </p:sp>
        <p:sp>
          <p:nvSpPr>
            <p:cNvPr id="31755" name="Line 56"/>
            <p:cNvSpPr/>
            <p:nvPr/>
          </p:nvSpPr>
          <p:spPr>
            <a:xfrm flipV="1">
              <a:off x="12815" y="7393"/>
              <a:ext cx="0" cy="973"/>
            </a:xfrm>
            <a:prstGeom prst="line">
              <a:avLst/>
            </a:prstGeom>
            <a:ln w="19050" cap="flat" cmpd="sng">
              <a:solidFill>
                <a:schemeClr val="tx1"/>
              </a:solidFill>
              <a:prstDash val="solid"/>
              <a:round/>
              <a:headEnd type="none" w="med" len="med"/>
              <a:tailEnd type="triangle" w="med" len="med"/>
            </a:ln>
          </p:spPr>
        </p:sp>
        <p:sp>
          <p:nvSpPr>
            <p:cNvPr id="31756" name="Line 57"/>
            <p:cNvSpPr/>
            <p:nvPr/>
          </p:nvSpPr>
          <p:spPr>
            <a:xfrm flipV="1">
              <a:off x="12275" y="4795"/>
              <a:ext cx="0" cy="390"/>
            </a:xfrm>
            <a:prstGeom prst="line">
              <a:avLst/>
            </a:prstGeom>
            <a:ln w="19050" cap="flat" cmpd="sng">
              <a:solidFill>
                <a:schemeClr val="tx1"/>
              </a:solidFill>
              <a:prstDash val="solid"/>
              <a:round/>
              <a:headEnd type="none" w="med" len="med"/>
              <a:tailEnd type="triangle" w="med" len="med"/>
            </a:ln>
          </p:spPr>
        </p:sp>
        <p:sp>
          <p:nvSpPr>
            <p:cNvPr id="31757" name="Line 58"/>
            <p:cNvSpPr/>
            <p:nvPr/>
          </p:nvSpPr>
          <p:spPr>
            <a:xfrm flipV="1">
              <a:off x="16989" y="4783"/>
              <a:ext cx="0" cy="410"/>
            </a:xfrm>
            <a:prstGeom prst="line">
              <a:avLst/>
            </a:prstGeom>
            <a:ln w="19050" cap="flat" cmpd="sng">
              <a:solidFill>
                <a:schemeClr val="tx1"/>
              </a:solidFill>
              <a:prstDash val="solid"/>
              <a:round/>
              <a:headEnd type="none" w="med" len="med"/>
              <a:tailEnd type="triangle" w="med" len="med"/>
            </a:ln>
          </p:spPr>
        </p:sp>
        <p:sp>
          <p:nvSpPr>
            <p:cNvPr id="31758" name="Line 59"/>
            <p:cNvSpPr/>
            <p:nvPr/>
          </p:nvSpPr>
          <p:spPr>
            <a:xfrm flipV="1">
              <a:off x="17029" y="2283"/>
              <a:ext cx="0" cy="583"/>
            </a:xfrm>
            <a:prstGeom prst="line">
              <a:avLst/>
            </a:prstGeom>
            <a:ln w="19050" cap="flat" cmpd="sng">
              <a:solidFill>
                <a:srgbClr val="FF0000"/>
              </a:solidFill>
              <a:prstDash val="solid"/>
              <a:round/>
              <a:headEnd type="none" w="med" len="med"/>
              <a:tailEnd type="triangle" w="med" len="med"/>
            </a:ln>
          </p:spPr>
        </p:sp>
        <p:sp>
          <p:nvSpPr>
            <p:cNvPr id="31759" name="Line 60"/>
            <p:cNvSpPr/>
            <p:nvPr/>
          </p:nvSpPr>
          <p:spPr>
            <a:xfrm flipV="1">
              <a:off x="12412" y="2310"/>
              <a:ext cx="0" cy="583"/>
            </a:xfrm>
            <a:prstGeom prst="line">
              <a:avLst/>
            </a:prstGeom>
            <a:ln w="19050" cap="flat" cmpd="sng">
              <a:solidFill>
                <a:schemeClr val="tx1"/>
              </a:solidFill>
              <a:prstDash val="solid"/>
              <a:round/>
              <a:headEnd type="none" w="med" len="med"/>
              <a:tailEnd type="triangle" w="med" len="med"/>
            </a:ln>
          </p:spPr>
        </p:sp>
        <p:sp>
          <p:nvSpPr>
            <p:cNvPr id="31760" name="Line 61"/>
            <p:cNvSpPr/>
            <p:nvPr/>
          </p:nvSpPr>
          <p:spPr>
            <a:xfrm>
              <a:off x="8119" y="2300"/>
              <a:ext cx="11039" cy="0"/>
            </a:xfrm>
            <a:prstGeom prst="line">
              <a:avLst/>
            </a:prstGeom>
            <a:ln w="19050" cap="flat" cmpd="sng">
              <a:solidFill>
                <a:srgbClr val="FF0000"/>
              </a:solidFill>
              <a:prstDash val="solid"/>
              <a:round/>
              <a:headEnd type="none" w="med" len="med"/>
              <a:tailEnd type="none" w="med" len="med"/>
            </a:ln>
          </p:spPr>
        </p:sp>
        <p:sp>
          <p:nvSpPr>
            <p:cNvPr id="31761" name="Line 62"/>
            <p:cNvSpPr/>
            <p:nvPr/>
          </p:nvSpPr>
          <p:spPr>
            <a:xfrm flipV="1">
              <a:off x="11276" y="4780"/>
              <a:ext cx="0" cy="818"/>
            </a:xfrm>
            <a:prstGeom prst="line">
              <a:avLst/>
            </a:prstGeom>
            <a:ln w="19050" cap="flat" cmpd="sng">
              <a:solidFill>
                <a:srgbClr val="FF0000"/>
              </a:solidFill>
              <a:prstDash val="solid"/>
              <a:round/>
              <a:headEnd type="none" w="med" len="med"/>
              <a:tailEnd type="triangle" w="med" len="med"/>
            </a:ln>
          </p:spPr>
        </p:sp>
        <p:sp>
          <p:nvSpPr>
            <p:cNvPr id="31762" name="Line 63"/>
            <p:cNvSpPr/>
            <p:nvPr/>
          </p:nvSpPr>
          <p:spPr>
            <a:xfrm flipV="1">
              <a:off x="17752" y="4768"/>
              <a:ext cx="0" cy="818"/>
            </a:xfrm>
            <a:prstGeom prst="line">
              <a:avLst/>
            </a:prstGeom>
            <a:ln w="19050" cap="flat" cmpd="sng">
              <a:solidFill>
                <a:srgbClr val="FF0000"/>
              </a:solidFill>
              <a:prstDash val="solid"/>
              <a:round/>
              <a:headEnd type="none" w="med" len="med"/>
              <a:tailEnd type="triangle" w="med" len="med"/>
            </a:ln>
          </p:spPr>
        </p:sp>
        <p:sp>
          <p:nvSpPr>
            <p:cNvPr id="31763" name="Line 64"/>
            <p:cNvSpPr/>
            <p:nvPr/>
          </p:nvSpPr>
          <p:spPr>
            <a:xfrm>
              <a:off x="19135" y="2300"/>
              <a:ext cx="0" cy="5455"/>
            </a:xfrm>
            <a:prstGeom prst="line">
              <a:avLst/>
            </a:prstGeom>
            <a:ln w="19050" cap="flat" cmpd="sng">
              <a:solidFill>
                <a:srgbClr val="FF0000"/>
              </a:solidFill>
              <a:prstDash val="solid"/>
              <a:round/>
              <a:headEnd type="none" w="med" len="med"/>
              <a:tailEnd type="none" w="med" len="med"/>
            </a:ln>
          </p:spPr>
        </p:sp>
        <p:sp>
          <p:nvSpPr>
            <p:cNvPr id="31764" name="Line 65"/>
            <p:cNvSpPr/>
            <p:nvPr/>
          </p:nvSpPr>
          <p:spPr>
            <a:xfrm flipV="1">
              <a:off x="12779" y="5150"/>
              <a:ext cx="0" cy="915"/>
            </a:xfrm>
            <a:prstGeom prst="line">
              <a:avLst/>
            </a:prstGeom>
            <a:ln w="19050" cap="flat" cmpd="sng">
              <a:solidFill>
                <a:schemeClr val="tx1"/>
              </a:solidFill>
              <a:prstDash val="solid"/>
              <a:round/>
              <a:headEnd type="none" w="med" len="med"/>
              <a:tailEnd type="triangle" w="med" len="med"/>
            </a:ln>
          </p:spPr>
        </p:sp>
        <p:sp>
          <p:nvSpPr>
            <p:cNvPr id="31765" name="Text Box 66"/>
            <p:cNvSpPr txBox="1"/>
            <p:nvPr/>
          </p:nvSpPr>
          <p:spPr>
            <a:xfrm>
              <a:off x="9896" y="3538"/>
              <a:ext cx="1637" cy="29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加法保留站</a:t>
              </a:r>
              <a:endParaRPr lang="zh-CN" altLang="en-US" sz="1200" b="1" dirty="0">
                <a:latin typeface="Times New Roman" pitchFamily="18" charset="0"/>
                <a:ea typeface="宋体" panose="02000500000000000000" pitchFamily="2" charset="-122"/>
              </a:endParaRPr>
            </a:p>
          </p:txBody>
        </p:sp>
        <p:sp>
          <p:nvSpPr>
            <p:cNvPr id="31766" name="Text Box 67"/>
            <p:cNvSpPr txBox="1"/>
            <p:nvPr/>
          </p:nvSpPr>
          <p:spPr>
            <a:xfrm>
              <a:off x="10906" y="5788"/>
              <a:ext cx="1717" cy="290"/>
            </a:xfrm>
            <a:prstGeom prst="rect">
              <a:avLst/>
            </a:prstGeom>
            <a:noFill/>
            <a:ln w="9525">
              <a:noFill/>
            </a:ln>
            <a:extLst>
              <a:ext uri="{909E8E84-426E-40DD-AFC4-6F175D3DCCD1}">
                <a14:hiddenFill xmlns:a14="http://schemas.microsoft.com/office/drawing/2010/main">
                  <a:solidFill>
                    <a:schemeClr val="bg1"/>
                  </a:solidFill>
                </a14:hiddenFill>
              </a:ext>
            </a:extLst>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浮点寄存器</a:t>
              </a:r>
              <a:endParaRPr lang="zh-CN" altLang="en-US" sz="1200" b="1" dirty="0">
                <a:latin typeface="Times New Roman" pitchFamily="18" charset="0"/>
                <a:ea typeface="宋体" panose="02000500000000000000" pitchFamily="2" charset="-122"/>
              </a:endParaRPr>
            </a:p>
          </p:txBody>
        </p:sp>
        <p:sp>
          <p:nvSpPr>
            <p:cNvPr id="31767" name="Text Box 68"/>
            <p:cNvSpPr txBox="1"/>
            <p:nvPr/>
          </p:nvSpPr>
          <p:spPr>
            <a:xfrm>
              <a:off x="14629" y="3520"/>
              <a:ext cx="1637" cy="29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乘法保留站</a:t>
              </a:r>
              <a:endParaRPr lang="zh-CN" altLang="en-US" sz="1200" b="1" dirty="0">
                <a:latin typeface="Times New Roman" pitchFamily="18" charset="0"/>
                <a:ea typeface="宋体" panose="02000500000000000000" pitchFamily="2" charset="-122"/>
              </a:endParaRPr>
            </a:p>
          </p:txBody>
        </p:sp>
        <p:sp>
          <p:nvSpPr>
            <p:cNvPr id="31768" name="Line 69"/>
            <p:cNvSpPr/>
            <p:nvPr/>
          </p:nvSpPr>
          <p:spPr>
            <a:xfrm>
              <a:off x="13835" y="7755"/>
              <a:ext cx="5323" cy="0"/>
            </a:xfrm>
            <a:prstGeom prst="line">
              <a:avLst/>
            </a:prstGeom>
            <a:ln w="19050" cap="flat" cmpd="sng">
              <a:solidFill>
                <a:srgbClr val="FF0000"/>
              </a:solidFill>
              <a:prstDash val="solid"/>
              <a:round/>
              <a:headEnd type="none" w="med" len="med"/>
              <a:tailEnd type="none" w="med" len="med"/>
            </a:ln>
          </p:spPr>
        </p:sp>
        <p:sp>
          <p:nvSpPr>
            <p:cNvPr id="31769" name="Line 70"/>
            <p:cNvSpPr/>
            <p:nvPr/>
          </p:nvSpPr>
          <p:spPr>
            <a:xfrm flipV="1">
              <a:off x="13835" y="7348"/>
              <a:ext cx="3" cy="410"/>
            </a:xfrm>
            <a:prstGeom prst="line">
              <a:avLst/>
            </a:prstGeom>
            <a:ln w="19050" cap="flat" cmpd="sng">
              <a:solidFill>
                <a:srgbClr val="FF0000"/>
              </a:solidFill>
              <a:prstDash val="solid"/>
              <a:round/>
              <a:headEnd type="none" w="med" len="med"/>
              <a:tailEnd type="triangle" w="med" len="med"/>
            </a:ln>
          </p:spPr>
        </p:sp>
        <p:grpSp>
          <p:nvGrpSpPr>
            <p:cNvPr id="31772" name="Group 73"/>
            <p:cNvGrpSpPr/>
            <p:nvPr/>
          </p:nvGrpSpPr>
          <p:grpSpPr>
            <a:xfrm rot="0">
              <a:off x="7063" y="2295"/>
              <a:ext cx="12093" cy="3273"/>
              <a:chOff x="1701" y="512"/>
              <a:chExt cx="3628" cy="1309"/>
            </a:xfrm>
          </p:grpSpPr>
          <p:sp>
            <p:nvSpPr>
              <p:cNvPr id="31773" name="Line 74"/>
              <p:cNvSpPr/>
              <p:nvPr/>
            </p:nvSpPr>
            <p:spPr>
              <a:xfrm flipV="1">
                <a:off x="2154" y="1661"/>
                <a:ext cx="2518" cy="0"/>
              </a:xfrm>
              <a:prstGeom prst="line">
                <a:avLst/>
              </a:prstGeom>
              <a:ln w="19050" cap="flat" cmpd="sng">
                <a:solidFill>
                  <a:schemeClr val="tx1"/>
                </a:solidFill>
                <a:prstDash val="solid"/>
                <a:round/>
                <a:headEnd type="none" w="med" len="med"/>
                <a:tailEnd type="none" w="med" len="med"/>
              </a:ln>
            </p:spPr>
          </p:sp>
          <p:sp>
            <p:nvSpPr>
              <p:cNvPr id="31774" name="Line 75"/>
              <p:cNvSpPr/>
              <p:nvPr/>
            </p:nvSpPr>
            <p:spPr>
              <a:xfrm flipV="1">
                <a:off x="1949" y="1820"/>
                <a:ext cx="3380" cy="0"/>
              </a:xfrm>
              <a:prstGeom prst="line">
                <a:avLst/>
              </a:prstGeom>
              <a:ln w="19050" cap="flat" cmpd="sng">
                <a:solidFill>
                  <a:srgbClr val="FF0000"/>
                </a:solidFill>
                <a:prstDash val="solid"/>
                <a:round/>
                <a:headEnd type="none" w="med" len="med"/>
                <a:tailEnd type="none" w="med" len="med"/>
              </a:ln>
            </p:spPr>
          </p:sp>
          <p:grpSp>
            <p:nvGrpSpPr>
              <p:cNvPr id="31775" name="Group 76"/>
              <p:cNvGrpSpPr/>
              <p:nvPr/>
            </p:nvGrpSpPr>
            <p:grpSpPr>
              <a:xfrm>
                <a:off x="1701" y="512"/>
                <a:ext cx="3494" cy="1309"/>
                <a:chOff x="1701" y="512"/>
                <a:chExt cx="3494" cy="1309"/>
              </a:xfrm>
            </p:grpSpPr>
            <p:grpSp>
              <p:nvGrpSpPr>
                <p:cNvPr id="31776" name="Group 77"/>
                <p:cNvGrpSpPr/>
                <p:nvPr/>
              </p:nvGrpSpPr>
              <p:grpSpPr>
                <a:xfrm>
                  <a:off x="1950" y="512"/>
                  <a:ext cx="204" cy="1309"/>
                  <a:chOff x="1950" y="512"/>
                  <a:chExt cx="204" cy="1309"/>
                </a:xfrm>
              </p:grpSpPr>
              <p:sp>
                <p:nvSpPr>
                  <p:cNvPr id="31777" name="Line 78"/>
                  <p:cNvSpPr/>
                  <p:nvPr/>
                </p:nvSpPr>
                <p:spPr>
                  <a:xfrm flipV="1">
                    <a:off x="2022" y="512"/>
                    <a:ext cx="0" cy="233"/>
                  </a:xfrm>
                  <a:prstGeom prst="line">
                    <a:avLst/>
                  </a:prstGeom>
                  <a:ln w="19050" cap="flat" cmpd="sng">
                    <a:solidFill>
                      <a:schemeClr val="tx1"/>
                    </a:solidFill>
                    <a:prstDash val="solid"/>
                    <a:round/>
                    <a:headEnd type="none" w="med" len="med"/>
                    <a:tailEnd type="triangle" w="med" len="med"/>
                  </a:ln>
                </p:spPr>
              </p:sp>
              <p:sp>
                <p:nvSpPr>
                  <p:cNvPr id="31778" name="Line 79"/>
                  <p:cNvSpPr/>
                  <p:nvPr/>
                </p:nvSpPr>
                <p:spPr>
                  <a:xfrm flipV="1">
                    <a:off x="1950" y="1502"/>
                    <a:ext cx="0" cy="319"/>
                  </a:xfrm>
                  <a:prstGeom prst="line">
                    <a:avLst/>
                  </a:prstGeom>
                  <a:ln w="19050" cap="flat" cmpd="sng">
                    <a:solidFill>
                      <a:srgbClr val="FF0000"/>
                    </a:solidFill>
                    <a:prstDash val="solid"/>
                    <a:round/>
                    <a:headEnd type="none" w="med" len="med"/>
                    <a:tailEnd type="triangle" w="med" len="med"/>
                  </a:ln>
                </p:spPr>
              </p:sp>
              <p:sp>
                <p:nvSpPr>
                  <p:cNvPr id="31779" name="Line 80"/>
                  <p:cNvSpPr/>
                  <p:nvPr/>
                </p:nvSpPr>
                <p:spPr>
                  <a:xfrm flipV="1">
                    <a:off x="2154" y="1508"/>
                    <a:ext cx="0" cy="156"/>
                  </a:xfrm>
                  <a:prstGeom prst="line">
                    <a:avLst/>
                  </a:prstGeom>
                  <a:ln w="19050" cap="flat" cmpd="sng">
                    <a:solidFill>
                      <a:schemeClr val="tx1"/>
                    </a:solidFill>
                    <a:prstDash val="solid"/>
                    <a:round/>
                    <a:headEnd type="none" w="med" len="med"/>
                    <a:tailEnd type="triangle" w="med" len="med"/>
                  </a:ln>
                </p:spPr>
              </p:sp>
            </p:grpSp>
            <p:sp>
              <p:nvSpPr>
                <p:cNvPr id="31780" name="Text Box 81"/>
                <p:cNvSpPr txBox="1"/>
                <p:nvPr/>
              </p:nvSpPr>
              <p:spPr>
                <a:xfrm>
                  <a:off x="2777" y="750"/>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浮点加</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减法器</a:t>
                  </a:r>
                  <a:endParaRPr lang="zh-CN" altLang="en-US" sz="1200" b="1" dirty="0">
                    <a:latin typeface="Times New Roman" pitchFamily="18" charset="0"/>
                    <a:ea typeface="宋体" panose="02000500000000000000" pitchFamily="2" charset="-122"/>
                  </a:endParaRPr>
                </a:p>
              </p:txBody>
            </p:sp>
            <p:sp>
              <p:nvSpPr>
                <p:cNvPr id="31781" name="Text Box 82"/>
                <p:cNvSpPr txBox="1"/>
                <p:nvPr/>
              </p:nvSpPr>
              <p:spPr>
                <a:xfrm>
                  <a:off x="4181" y="737"/>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浮点乘</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除法器</a:t>
                  </a:r>
                  <a:endParaRPr lang="zh-CN" altLang="en-US" sz="1200" b="1" dirty="0">
                    <a:latin typeface="Times New Roman" pitchFamily="18" charset="0"/>
                    <a:ea typeface="宋体" panose="02000500000000000000" pitchFamily="2" charset="-122"/>
                  </a:endParaRPr>
                </a:p>
              </p:txBody>
            </p:sp>
            <p:sp>
              <p:nvSpPr>
                <p:cNvPr id="31782" name="Text Box 83"/>
                <p:cNvSpPr txBox="1"/>
                <p:nvPr/>
              </p:nvSpPr>
              <p:spPr>
                <a:xfrm>
                  <a:off x="1701" y="731"/>
                  <a:ext cx="664" cy="771"/>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p>
                  <a:pPr algn="ctr">
                    <a:spcBef>
                      <a:spcPct val="50000"/>
                    </a:spcBef>
                  </a:pPr>
                  <a:endParaRPr lang="en-US" altLang="zh-CN" sz="1200"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定点</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访存</a:t>
                  </a:r>
                  <a:endParaRPr lang="zh-CN" altLang="en-US" sz="1200" b="1"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部件</a:t>
                  </a:r>
                  <a:endParaRPr lang="zh-CN" altLang="en-US" sz="1200" b="1" dirty="0">
                    <a:latin typeface="Times New Roman" pitchFamily="18" charset="0"/>
                    <a:ea typeface="宋体" panose="02000500000000000000" pitchFamily="2" charset="-122"/>
                  </a:endParaRPr>
                </a:p>
                <a:p>
                  <a:pPr algn="ctr">
                    <a:spcBef>
                      <a:spcPct val="50000"/>
                    </a:spcBef>
                  </a:pPr>
                  <a:endParaRPr lang="en-US" altLang="zh-CN" sz="1200" b="1" dirty="0">
                    <a:latin typeface="Times New Roman" pitchFamily="18" charset="0"/>
                    <a:ea typeface="宋体" panose="02000500000000000000" pitchFamily="2" charset="-122"/>
                  </a:endParaRPr>
                </a:p>
              </p:txBody>
            </p:sp>
          </p:grpSp>
        </p:grpSp>
        <p:sp>
          <p:nvSpPr>
            <p:cNvPr id="31783" name="Text Box 84"/>
            <p:cNvSpPr txBox="1"/>
            <p:nvPr/>
          </p:nvSpPr>
          <p:spPr>
            <a:xfrm>
              <a:off x="10992" y="7945"/>
              <a:ext cx="1623" cy="290"/>
            </a:xfrm>
            <a:prstGeom prst="rect">
              <a:avLst/>
            </a:prstGeom>
            <a:solidFill>
              <a:schemeClr val="bg1"/>
            </a:solid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指令队列</a:t>
              </a:r>
              <a:endParaRPr lang="zh-CN" altLang="en-US" sz="1200" b="1" dirty="0">
                <a:latin typeface="Times New Roman" pitchFamily="18" charset="0"/>
                <a:ea typeface="宋体" panose="02000500000000000000" pitchFamily="2" charset="-122"/>
              </a:endParaRPr>
            </a:p>
          </p:txBody>
        </p:sp>
      </p:grpSp>
      <p:graphicFrame>
        <p:nvGraphicFramePr>
          <p:cNvPr id="3" name="表格 2"/>
          <p:cNvGraphicFramePr/>
          <p:nvPr/>
        </p:nvGraphicFramePr>
        <p:xfrm>
          <a:off x="6799580" y="3837940"/>
          <a:ext cx="2342515" cy="863600"/>
        </p:xfrm>
        <a:graphic>
          <a:graphicData uri="http://schemas.openxmlformats.org/drawingml/2006/table">
            <a:tbl>
              <a:tblPr firstRow="1" bandRow="1">
                <a:tableStyleId>{5C22544A-7EE6-4342-B048-85BDC9FD1C3A}</a:tableStyleId>
              </a:tblPr>
              <a:tblGrid>
                <a:gridCol w="365125"/>
                <a:gridCol w="450850"/>
                <a:gridCol w="1526540"/>
              </a:tblGrid>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6</a:t>
                      </a:r>
                      <a:endParaRPr lang="en-US" altLang="zh-CN" sz="1200" b="1">
                        <a:solidFill>
                          <a:srgbClr val="FF0000"/>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3.0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4" name="表格 3"/>
          <p:cNvGraphicFramePr/>
          <p:nvPr/>
        </p:nvGraphicFramePr>
        <p:xfrm>
          <a:off x="7167880" y="5311775"/>
          <a:ext cx="1930400" cy="1280160"/>
        </p:xfrm>
        <a:graphic>
          <a:graphicData uri="http://schemas.openxmlformats.org/drawingml/2006/table">
            <a:tbl>
              <a:tblPr firstRow="1" bandRow="1">
                <a:tableStyleId>{5C22544A-7EE6-4342-B048-85BDC9FD1C3A}</a:tableStyleId>
              </a:tblPr>
              <a:tblGrid>
                <a:gridCol w="1930400"/>
              </a:tblGrid>
              <a:tr h="213360">
                <a:tc>
                  <a:txBody>
                    <a:bodyPr/>
                    <a:p>
                      <a:pPr indent="0">
                        <a:buNone/>
                      </a:pPr>
                      <a:r>
                        <a:rPr lang="en-US" sz="1200" b="1">
                          <a:solidFill>
                            <a:schemeClr val="tx1"/>
                          </a:solidFill>
                          <a:latin typeface="宋体" panose="02000500000000000000" pitchFamily="2" charset="-122"/>
                          <a:ea typeface="宋体" panose="02000500000000000000" pitchFamily="2" charset="-122"/>
                        </a:rPr>
                        <a:t>FDIV.D  </a:t>
                      </a:r>
                      <a:r>
                        <a:rPr lang="en-US" sz="1200" b="1">
                          <a:solidFill>
                            <a:srgbClr val="FF0000"/>
                          </a:solidFill>
                          <a:latin typeface="宋体" panose="02000500000000000000" pitchFamily="2" charset="-122"/>
                          <a:ea typeface="宋体" panose="02000500000000000000" pitchFamily="2" charset="-122"/>
                        </a:rPr>
                        <a:t>F0</a:t>
                      </a:r>
                      <a:r>
                        <a:rPr lang="en-US" sz="1200" b="1">
                          <a:solidFill>
                            <a:schemeClr val="tx1"/>
                          </a:solidFill>
                          <a:latin typeface="宋体" panose="02000500000000000000" pitchFamily="2" charset="-122"/>
                          <a:ea typeface="宋体" panose="02000500000000000000" pitchFamily="2" charset="-122"/>
                        </a:rPr>
                        <a:t>, F1, F2</a:t>
                      </a:r>
                      <a:endParaRPr lang="en-US" altLang="en-US" sz="1200" b="1">
                        <a:solidFill>
                          <a:schemeClr val="tx1"/>
                        </a:solidFill>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FADD.D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F1,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5" name="表格 4"/>
          <p:cNvGraphicFramePr/>
          <p:nvPr/>
        </p:nvGraphicFramePr>
        <p:xfrm>
          <a:off x="9544050" y="243586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fdiv</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latin typeface="宋体" panose="02000500000000000000" pitchFamily="2" charset="-122"/>
                          <a:ea typeface="宋体" panose="02000500000000000000" pitchFamily="2" charset="-122"/>
                        </a:rPr>
                        <a:t>fmul</a:t>
                      </a:r>
                      <a:endParaRPr lang="en-US" altLang="zh-CN" sz="1200" b="1">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latin typeface="宋体" panose="02000500000000000000" pitchFamily="2" charset="-122"/>
                          <a:ea typeface="宋体" panose="02000500000000000000" pitchFamily="2" charset="-122"/>
                        </a:rPr>
                        <a:t>3</a:t>
                      </a:r>
                      <a:endParaRPr lang="en-US" altLang="zh-CN" sz="1200" b="1">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latin typeface="宋体" panose="02000500000000000000" pitchFamily="2" charset="-122"/>
                          <a:ea typeface="宋体" panose="02000500000000000000" pitchFamily="2" charset="-122"/>
                        </a:rPr>
                        <a:t>0</a:t>
                      </a:r>
                      <a:endParaRPr lang="en-US" altLang="zh-CN" sz="1200" b="1">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latin typeface="宋体" panose="02000500000000000000" pitchFamily="2" charset="-122"/>
                          <a:ea typeface="宋体" panose="02000500000000000000" pitchFamily="2" charset="-122"/>
                        </a:rPr>
                        <a:t>2.0</a:t>
                      </a:r>
                      <a:endParaRPr lang="en-US" altLang="zh-CN" sz="1200" b="1">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7" name="表格 6"/>
          <p:cNvGraphicFramePr/>
          <p:nvPr/>
        </p:nvGraphicFramePr>
        <p:xfrm>
          <a:off x="6577330" y="245618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6</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fadd</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0</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1.0</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0</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2.0</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5</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4</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sp>
        <p:nvSpPr>
          <p:cNvPr id="36888" name="Text Box 37"/>
          <p:cNvSpPr txBox="1"/>
          <p:nvPr/>
        </p:nvSpPr>
        <p:spPr>
          <a:xfrm>
            <a:off x="649288" y="3917950"/>
            <a:ext cx="5046662" cy="1060450"/>
          </a:xfrm>
          <a:prstGeom prst="rect">
            <a:avLst/>
          </a:prstGeom>
          <a:noFill/>
          <a:ln w="9525">
            <a:noFill/>
          </a:ln>
        </p:spPr>
        <p:txBody>
          <a:bodyPr anchor="t" anchorCtr="0">
            <a:spAutoFit/>
          </a:bodyPr>
          <a:p>
            <a:pPr>
              <a:lnSpc>
                <a:spcPct val="150000"/>
              </a:lnSpc>
              <a:buChar char="•"/>
            </a:pPr>
            <a:r>
              <a:rPr lang="en-US" altLang="zh-CN" sz="1400" b="1" dirty="0">
                <a:solidFill>
                  <a:srgbClr val="000000"/>
                </a:solidFill>
                <a:latin typeface="宋体" panose="02000500000000000000" pitchFamily="2" charset="-122"/>
                <a:cs typeface="宋体" panose="02000500000000000000" pitchFamily="2" charset="-122"/>
              </a:rPr>
              <a:t>DIV</a:t>
            </a:r>
            <a:r>
              <a:rPr lang="zh-CN" altLang="zh-CN" sz="1400" b="1" dirty="0">
                <a:solidFill>
                  <a:srgbClr val="000000"/>
                </a:solidFill>
                <a:latin typeface="宋体" panose="02000500000000000000" pitchFamily="2" charset="-122"/>
                <a:cs typeface="宋体" panose="02000500000000000000" pitchFamily="2" charset="-122"/>
              </a:rPr>
              <a:t>发射，</a:t>
            </a:r>
            <a:r>
              <a:rPr lang="en-US" altLang="zh-CN" sz="1400" b="1" dirty="0">
                <a:solidFill>
                  <a:srgbClr val="000000"/>
                </a:solidFill>
                <a:latin typeface="宋体" panose="02000500000000000000" pitchFamily="2" charset="-122"/>
                <a:cs typeface="宋体" panose="02000500000000000000" pitchFamily="2" charset="-122"/>
              </a:rPr>
              <a:t>F1, F2</a:t>
            </a:r>
            <a:r>
              <a:rPr lang="zh-CN" altLang="zh-CN" sz="1400" b="1" dirty="0">
                <a:solidFill>
                  <a:srgbClr val="000000"/>
                </a:solidFill>
                <a:latin typeface="宋体" panose="02000500000000000000" pitchFamily="2" charset="-122"/>
                <a:cs typeface="宋体" panose="02000500000000000000" pitchFamily="2" charset="-122"/>
              </a:rPr>
              <a:t>都准备好</a:t>
            </a:r>
            <a:endParaRPr lang="zh-CN" altLang="zh-CN" sz="1400" b="1" dirty="0">
              <a:solidFill>
                <a:srgbClr val="000000"/>
              </a:solidFill>
              <a:latin typeface="宋体" panose="02000500000000000000" pitchFamily="2" charset="-122"/>
              <a:cs typeface="宋体" panose="02000500000000000000" pitchFamily="2" charset="-122"/>
            </a:endParaRPr>
          </a:p>
          <a:p>
            <a:pPr>
              <a:lnSpc>
                <a:spcPct val="150000"/>
              </a:lnSpc>
              <a:buChar char="•"/>
            </a:pPr>
            <a:r>
              <a:rPr lang="en-US" altLang="zh-CN" sz="1400" b="1" dirty="0">
                <a:solidFill>
                  <a:srgbClr val="000000"/>
                </a:solidFill>
                <a:latin typeface="宋体" panose="02000500000000000000" pitchFamily="2" charset="-122"/>
                <a:cs typeface="宋体" panose="02000500000000000000" pitchFamily="2" charset="-122"/>
              </a:rPr>
              <a:t>MUL1</a:t>
            </a:r>
            <a:r>
              <a:rPr lang="zh-CN" altLang="zh-CN" sz="1400" b="1" dirty="0">
                <a:solidFill>
                  <a:srgbClr val="000000"/>
                </a:solidFill>
                <a:latin typeface="宋体" panose="02000500000000000000" pitchFamily="2" charset="-122"/>
                <a:cs typeface="宋体" panose="02000500000000000000" pitchFamily="2" charset="-122"/>
              </a:rPr>
              <a:t>发射，</a:t>
            </a:r>
            <a:r>
              <a:rPr lang="en-US" altLang="zh-CN" sz="1400" b="1" dirty="0">
                <a:solidFill>
                  <a:srgbClr val="000000"/>
                </a:solidFill>
                <a:latin typeface="宋体" panose="02000500000000000000" pitchFamily="2" charset="-122"/>
                <a:cs typeface="宋体" panose="02000500000000000000" pitchFamily="2" charset="-122"/>
              </a:rPr>
              <a:t>F0</a:t>
            </a:r>
            <a:r>
              <a:rPr lang="zh-CN" altLang="zh-CN" sz="1400" b="1" dirty="0">
                <a:solidFill>
                  <a:srgbClr val="000000"/>
                </a:solidFill>
                <a:latin typeface="宋体" panose="02000500000000000000" pitchFamily="2" charset="-122"/>
                <a:cs typeface="宋体" panose="02000500000000000000" pitchFamily="2" charset="-122"/>
              </a:rPr>
              <a:t>等待3号保留站的结果</a:t>
            </a:r>
            <a:endParaRPr lang="zh-CN" altLang="zh-CN" sz="1400" b="1" dirty="0">
              <a:solidFill>
                <a:srgbClr val="000000"/>
              </a:solidFill>
              <a:latin typeface="宋体" panose="02000500000000000000" pitchFamily="2" charset="-122"/>
              <a:cs typeface="宋体" panose="02000500000000000000" pitchFamily="2" charset="-122"/>
            </a:endParaRPr>
          </a:p>
          <a:p>
            <a:pPr>
              <a:lnSpc>
                <a:spcPct val="150000"/>
              </a:lnSpc>
              <a:buChar char="•"/>
            </a:pPr>
            <a:r>
              <a:rPr lang="en-US" altLang="zh-CN" sz="1400" b="1" dirty="0">
                <a:solidFill>
                  <a:srgbClr val="FF0000"/>
                </a:solidFill>
                <a:latin typeface="宋体" panose="02000500000000000000" pitchFamily="2" charset="-122"/>
                <a:cs typeface="宋体" panose="02000500000000000000" pitchFamily="2" charset="-122"/>
              </a:rPr>
              <a:t>ADD</a:t>
            </a:r>
            <a:r>
              <a:rPr lang="zh-CN" altLang="zh-CN" sz="1400" b="1" dirty="0">
                <a:solidFill>
                  <a:srgbClr val="FF0000"/>
                </a:solidFill>
                <a:latin typeface="宋体" panose="02000500000000000000" pitchFamily="2" charset="-122"/>
                <a:cs typeface="宋体" panose="02000500000000000000" pitchFamily="2" charset="-122"/>
              </a:rPr>
              <a:t>发射，</a:t>
            </a:r>
            <a:r>
              <a:rPr lang="en-US" altLang="zh-CN" sz="1400" b="1" dirty="0">
                <a:solidFill>
                  <a:srgbClr val="FF0000"/>
                </a:solidFill>
                <a:latin typeface="宋体" panose="02000500000000000000" pitchFamily="2" charset="-122"/>
                <a:cs typeface="宋体" panose="02000500000000000000" pitchFamily="2" charset="-122"/>
              </a:rPr>
              <a:t>F1, F2</a:t>
            </a:r>
            <a:r>
              <a:rPr lang="zh-CN" altLang="zh-CN" sz="1400" b="1" dirty="0">
                <a:solidFill>
                  <a:srgbClr val="FF0000"/>
                </a:solidFill>
                <a:latin typeface="宋体" panose="02000500000000000000" pitchFamily="2" charset="-122"/>
                <a:cs typeface="宋体" panose="02000500000000000000" pitchFamily="2" charset="-122"/>
              </a:rPr>
              <a:t>都准备好</a:t>
            </a:r>
            <a:endParaRPr lang="zh-CN" altLang="en-US" sz="1400" b="1" dirty="0">
              <a:solidFill>
                <a:srgbClr val="FF0000"/>
              </a:solidFill>
              <a:latin typeface="宋体" panose="02000500000000000000" pitchFamily="2" charset="-122"/>
              <a:cs typeface="宋体" panose="02000500000000000000" pitchFamily="2"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914400" y="80645"/>
            <a:ext cx="10361613" cy="1143000"/>
          </a:xfrm>
        </p:spPr>
        <p:txBody>
          <a:bodyPr/>
          <a:p>
            <a:r>
              <a:rPr lang="zh-CN" altLang="en-US"/>
              <a:t>例子</a:t>
            </a:r>
            <a:endParaRPr lang="zh-CN" altLang="en-US"/>
          </a:p>
        </p:txBody>
      </p:sp>
      <p:grpSp>
        <p:nvGrpSpPr>
          <p:cNvPr id="6" name="组合 5"/>
          <p:cNvGrpSpPr/>
          <p:nvPr/>
        </p:nvGrpSpPr>
        <p:grpSpPr>
          <a:xfrm>
            <a:off x="4485005" y="1449705"/>
            <a:ext cx="7679690" cy="3862070"/>
            <a:chOff x="7063" y="2283"/>
            <a:chExt cx="12094" cy="6082"/>
          </a:xfrm>
        </p:grpSpPr>
        <p:sp>
          <p:nvSpPr>
            <p:cNvPr id="31751" name="Line 52"/>
            <p:cNvSpPr/>
            <p:nvPr/>
          </p:nvSpPr>
          <p:spPr>
            <a:xfrm flipV="1">
              <a:off x="11639" y="3333"/>
              <a:ext cx="0" cy="528"/>
            </a:xfrm>
            <a:prstGeom prst="line">
              <a:avLst/>
            </a:prstGeom>
            <a:ln w="9525" cap="flat" cmpd="sng">
              <a:solidFill>
                <a:schemeClr val="tx1"/>
              </a:solidFill>
              <a:prstDash val="solid"/>
              <a:round/>
              <a:headEnd type="none" w="med" len="med"/>
              <a:tailEnd type="triangle" w="med" len="med"/>
            </a:ln>
          </p:spPr>
        </p:sp>
        <p:sp>
          <p:nvSpPr>
            <p:cNvPr id="31752" name="Line 53"/>
            <p:cNvSpPr/>
            <p:nvPr/>
          </p:nvSpPr>
          <p:spPr>
            <a:xfrm flipV="1">
              <a:off x="13025" y="3333"/>
              <a:ext cx="0" cy="528"/>
            </a:xfrm>
            <a:prstGeom prst="line">
              <a:avLst/>
            </a:prstGeom>
            <a:ln w="9525" cap="flat" cmpd="sng">
              <a:solidFill>
                <a:schemeClr val="tx1"/>
              </a:solidFill>
              <a:prstDash val="solid"/>
              <a:round/>
              <a:headEnd type="none" w="med" len="med"/>
              <a:tailEnd type="triangle" w="med" len="med"/>
            </a:ln>
          </p:spPr>
        </p:sp>
        <p:sp>
          <p:nvSpPr>
            <p:cNvPr id="31753" name="Line 54"/>
            <p:cNvSpPr/>
            <p:nvPr/>
          </p:nvSpPr>
          <p:spPr>
            <a:xfrm flipV="1">
              <a:off x="16305" y="3313"/>
              <a:ext cx="0" cy="528"/>
            </a:xfrm>
            <a:prstGeom prst="line">
              <a:avLst/>
            </a:prstGeom>
            <a:ln w="9525" cap="flat" cmpd="sng">
              <a:solidFill>
                <a:schemeClr val="tx1"/>
              </a:solidFill>
              <a:prstDash val="solid"/>
              <a:round/>
              <a:headEnd type="none" w="med" len="med"/>
              <a:tailEnd type="triangle" w="med" len="med"/>
            </a:ln>
          </p:spPr>
        </p:sp>
        <p:sp>
          <p:nvSpPr>
            <p:cNvPr id="31754" name="Line 55"/>
            <p:cNvSpPr/>
            <p:nvPr/>
          </p:nvSpPr>
          <p:spPr>
            <a:xfrm flipV="1">
              <a:off x="17798" y="3293"/>
              <a:ext cx="0" cy="528"/>
            </a:xfrm>
            <a:prstGeom prst="line">
              <a:avLst/>
            </a:prstGeom>
            <a:ln w="9525" cap="flat" cmpd="sng">
              <a:solidFill>
                <a:schemeClr val="tx1"/>
              </a:solidFill>
              <a:prstDash val="solid"/>
              <a:round/>
              <a:headEnd type="none" w="med" len="med"/>
              <a:tailEnd type="triangle" w="med" len="med"/>
            </a:ln>
          </p:spPr>
        </p:sp>
        <p:sp>
          <p:nvSpPr>
            <p:cNvPr id="31755" name="Line 56"/>
            <p:cNvSpPr/>
            <p:nvPr/>
          </p:nvSpPr>
          <p:spPr>
            <a:xfrm flipV="1">
              <a:off x="12815" y="7393"/>
              <a:ext cx="0" cy="973"/>
            </a:xfrm>
            <a:prstGeom prst="line">
              <a:avLst/>
            </a:prstGeom>
            <a:ln w="19050" cap="flat" cmpd="sng">
              <a:solidFill>
                <a:schemeClr val="tx1"/>
              </a:solidFill>
              <a:prstDash val="solid"/>
              <a:round/>
              <a:headEnd type="none" w="med" len="med"/>
              <a:tailEnd type="triangle" w="med" len="med"/>
            </a:ln>
          </p:spPr>
        </p:sp>
        <p:sp>
          <p:nvSpPr>
            <p:cNvPr id="31756" name="Line 57"/>
            <p:cNvSpPr/>
            <p:nvPr/>
          </p:nvSpPr>
          <p:spPr>
            <a:xfrm flipV="1">
              <a:off x="12275" y="4795"/>
              <a:ext cx="0" cy="390"/>
            </a:xfrm>
            <a:prstGeom prst="line">
              <a:avLst/>
            </a:prstGeom>
            <a:ln w="19050" cap="flat" cmpd="sng">
              <a:solidFill>
                <a:schemeClr val="tx1"/>
              </a:solidFill>
              <a:prstDash val="solid"/>
              <a:round/>
              <a:headEnd type="none" w="med" len="med"/>
              <a:tailEnd type="triangle" w="med" len="med"/>
            </a:ln>
          </p:spPr>
        </p:sp>
        <p:sp>
          <p:nvSpPr>
            <p:cNvPr id="31757" name="Line 58"/>
            <p:cNvSpPr/>
            <p:nvPr/>
          </p:nvSpPr>
          <p:spPr>
            <a:xfrm flipV="1">
              <a:off x="16989" y="4783"/>
              <a:ext cx="0" cy="410"/>
            </a:xfrm>
            <a:prstGeom prst="line">
              <a:avLst/>
            </a:prstGeom>
            <a:ln w="19050" cap="flat" cmpd="sng">
              <a:solidFill>
                <a:schemeClr val="tx1"/>
              </a:solidFill>
              <a:prstDash val="solid"/>
              <a:round/>
              <a:headEnd type="none" w="med" len="med"/>
              <a:tailEnd type="triangle" w="med" len="med"/>
            </a:ln>
          </p:spPr>
        </p:sp>
        <p:sp>
          <p:nvSpPr>
            <p:cNvPr id="31758" name="Line 59"/>
            <p:cNvSpPr/>
            <p:nvPr/>
          </p:nvSpPr>
          <p:spPr>
            <a:xfrm flipV="1">
              <a:off x="17029" y="2283"/>
              <a:ext cx="0" cy="583"/>
            </a:xfrm>
            <a:prstGeom prst="line">
              <a:avLst/>
            </a:prstGeom>
            <a:ln w="19050" cap="flat" cmpd="sng">
              <a:solidFill>
                <a:srgbClr val="FF0000"/>
              </a:solidFill>
              <a:prstDash val="solid"/>
              <a:round/>
              <a:headEnd type="none" w="med" len="med"/>
              <a:tailEnd type="triangle" w="med" len="med"/>
            </a:ln>
          </p:spPr>
        </p:sp>
        <p:sp>
          <p:nvSpPr>
            <p:cNvPr id="31759" name="Line 60"/>
            <p:cNvSpPr/>
            <p:nvPr/>
          </p:nvSpPr>
          <p:spPr>
            <a:xfrm flipV="1">
              <a:off x="12412" y="2310"/>
              <a:ext cx="0" cy="583"/>
            </a:xfrm>
            <a:prstGeom prst="line">
              <a:avLst/>
            </a:prstGeom>
            <a:ln w="19050" cap="flat" cmpd="sng">
              <a:solidFill>
                <a:schemeClr val="tx1"/>
              </a:solidFill>
              <a:prstDash val="solid"/>
              <a:round/>
              <a:headEnd type="none" w="med" len="med"/>
              <a:tailEnd type="triangle" w="med" len="med"/>
            </a:ln>
          </p:spPr>
        </p:sp>
        <p:sp>
          <p:nvSpPr>
            <p:cNvPr id="31760" name="Line 61"/>
            <p:cNvSpPr/>
            <p:nvPr/>
          </p:nvSpPr>
          <p:spPr>
            <a:xfrm>
              <a:off x="8119" y="2300"/>
              <a:ext cx="11039" cy="0"/>
            </a:xfrm>
            <a:prstGeom prst="line">
              <a:avLst/>
            </a:prstGeom>
            <a:ln w="19050" cap="flat" cmpd="sng">
              <a:solidFill>
                <a:srgbClr val="FF0000"/>
              </a:solidFill>
              <a:prstDash val="solid"/>
              <a:round/>
              <a:headEnd type="none" w="med" len="med"/>
              <a:tailEnd type="none" w="med" len="med"/>
            </a:ln>
          </p:spPr>
        </p:sp>
        <p:sp>
          <p:nvSpPr>
            <p:cNvPr id="31761" name="Line 62"/>
            <p:cNvSpPr/>
            <p:nvPr/>
          </p:nvSpPr>
          <p:spPr>
            <a:xfrm flipV="1">
              <a:off x="11276" y="4780"/>
              <a:ext cx="0" cy="818"/>
            </a:xfrm>
            <a:prstGeom prst="line">
              <a:avLst/>
            </a:prstGeom>
            <a:ln w="19050" cap="flat" cmpd="sng">
              <a:solidFill>
                <a:srgbClr val="FF0000"/>
              </a:solidFill>
              <a:prstDash val="solid"/>
              <a:round/>
              <a:headEnd type="none" w="med" len="med"/>
              <a:tailEnd type="triangle" w="med" len="med"/>
            </a:ln>
          </p:spPr>
        </p:sp>
        <p:sp>
          <p:nvSpPr>
            <p:cNvPr id="31762" name="Line 63"/>
            <p:cNvSpPr/>
            <p:nvPr/>
          </p:nvSpPr>
          <p:spPr>
            <a:xfrm flipV="1">
              <a:off x="17752" y="4768"/>
              <a:ext cx="0" cy="818"/>
            </a:xfrm>
            <a:prstGeom prst="line">
              <a:avLst/>
            </a:prstGeom>
            <a:ln w="19050" cap="flat" cmpd="sng">
              <a:solidFill>
                <a:srgbClr val="FF0000"/>
              </a:solidFill>
              <a:prstDash val="solid"/>
              <a:round/>
              <a:headEnd type="none" w="med" len="med"/>
              <a:tailEnd type="triangle" w="med" len="med"/>
            </a:ln>
          </p:spPr>
        </p:sp>
        <p:sp>
          <p:nvSpPr>
            <p:cNvPr id="31763" name="Line 64"/>
            <p:cNvSpPr/>
            <p:nvPr/>
          </p:nvSpPr>
          <p:spPr>
            <a:xfrm>
              <a:off x="19135" y="2300"/>
              <a:ext cx="0" cy="5455"/>
            </a:xfrm>
            <a:prstGeom prst="line">
              <a:avLst/>
            </a:prstGeom>
            <a:ln w="19050" cap="flat" cmpd="sng">
              <a:solidFill>
                <a:srgbClr val="FF0000"/>
              </a:solidFill>
              <a:prstDash val="solid"/>
              <a:round/>
              <a:headEnd type="none" w="med" len="med"/>
              <a:tailEnd type="none" w="med" len="med"/>
            </a:ln>
          </p:spPr>
        </p:sp>
        <p:sp>
          <p:nvSpPr>
            <p:cNvPr id="31764" name="Line 65"/>
            <p:cNvSpPr/>
            <p:nvPr/>
          </p:nvSpPr>
          <p:spPr>
            <a:xfrm flipV="1">
              <a:off x="12779" y="5150"/>
              <a:ext cx="0" cy="915"/>
            </a:xfrm>
            <a:prstGeom prst="line">
              <a:avLst/>
            </a:prstGeom>
            <a:ln w="19050" cap="flat" cmpd="sng">
              <a:solidFill>
                <a:schemeClr val="tx1"/>
              </a:solidFill>
              <a:prstDash val="solid"/>
              <a:round/>
              <a:headEnd type="none" w="med" len="med"/>
              <a:tailEnd type="triangle" w="med" len="med"/>
            </a:ln>
          </p:spPr>
        </p:sp>
        <p:sp>
          <p:nvSpPr>
            <p:cNvPr id="31765" name="Text Box 66"/>
            <p:cNvSpPr txBox="1"/>
            <p:nvPr/>
          </p:nvSpPr>
          <p:spPr>
            <a:xfrm>
              <a:off x="9896" y="3538"/>
              <a:ext cx="1637" cy="29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加法保留站</a:t>
              </a:r>
              <a:endParaRPr lang="zh-CN" altLang="en-US" sz="1200" b="1" dirty="0">
                <a:latin typeface="Times New Roman" pitchFamily="18" charset="0"/>
                <a:ea typeface="宋体" panose="02000500000000000000" pitchFamily="2" charset="-122"/>
              </a:endParaRPr>
            </a:p>
          </p:txBody>
        </p:sp>
        <p:sp>
          <p:nvSpPr>
            <p:cNvPr id="31766" name="Text Box 67"/>
            <p:cNvSpPr txBox="1"/>
            <p:nvPr/>
          </p:nvSpPr>
          <p:spPr>
            <a:xfrm>
              <a:off x="10906" y="5788"/>
              <a:ext cx="1717" cy="290"/>
            </a:xfrm>
            <a:prstGeom prst="rect">
              <a:avLst/>
            </a:prstGeom>
            <a:noFill/>
            <a:ln w="9525">
              <a:noFill/>
            </a:ln>
            <a:extLst>
              <a:ext uri="{909E8E84-426E-40DD-AFC4-6F175D3DCCD1}">
                <a14:hiddenFill xmlns:a14="http://schemas.microsoft.com/office/drawing/2010/main">
                  <a:solidFill>
                    <a:schemeClr val="bg1"/>
                  </a:solidFill>
                </a14:hiddenFill>
              </a:ext>
            </a:extLst>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浮点寄存器</a:t>
              </a:r>
              <a:endParaRPr lang="zh-CN" altLang="en-US" sz="1200" b="1" dirty="0">
                <a:latin typeface="Times New Roman" pitchFamily="18" charset="0"/>
                <a:ea typeface="宋体" panose="02000500000000000000" pitchFamily="2" charset="-122"/>
              </a:endParaRPr>
            </a:p>
          </p:txBody>
        </p:sp>
        <p:sp>
          <p:nvSpPr>
            <p:cNvPr id="31767" name="Text Box 68"/>
            <p:cNvSpPr txBox="1"/>
            <p:nvPr/>
          </p:nvSpPr>
          <p:spPr>
            <a:xfrm>
              <a:off x="14629" y="3520"/>
              <a:ext cx="1637" cy="29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乘法保留站</a:t>
              </a:r>
              <a:endParaRPr lang="zh-CN" altLang="en-US" sz="1200" b="1" dirty="0">
                <a:latin typeface="Times New Roman" pitchFamily="18" charset="0"/>
                <a:ea typeface="宋体" panose="02000500000000000000" pitchFamily="2" charset="-122"/>
              </a:endParaRPr>
            </a:p>
          </p:txBody>
        </p:sp>
        <p:sp>
          <p:nvSpPr>
            <p:cNvPr id="31768" name="Line 69"/>
            <p:cNvSpPr/>
            <p:nvPr/>
          </p:nvSpPr>
          <p:spPr>
            <a:xfrm>
              <a:off x="13835" y="7755"/>
              <a:ext cx="5323" cy="0"/>
            </a:xfrm>
            <a:prstGeom prst="line">
              <a:avLst/>
            </a:prstGeom>
            <a:ln w="19050" cap="flat" cmpd="sng">
              <a:solidFill>
                <a:srgbClr val="FF0000"/>
              </a:solidFill>
              <a:prstDash val="solid"/>
              <a:round/>
              <a:headEnd type="none" w="med" len="med"/>
              <a:tailEnd type="none" w="med" len="med"/>
            </a:ln>
          </p:spPr>
        </p:sp>
        <p:sp>
          <p:nvSpPr>
            <p:cNvPr id="31769" name="Line 70"/>
            <p:cNvSpPr/>
            <p:nvPr/>
          </p:nvSpPr>
          <p:spPr>
            <a:xfrm flipV="1">
              <a:off x="13835" y="7348"/>
              <a:ext cx="3" cy="410"/>
            </a:xfrm>
            <a:prstGeom prst="line">
              <a:avLst/>
            </a:prstGeom>
            <a:ln w="19050" cap="flat" cmpd="sng">
              <a:solidFill>
                <a:srgbClr val="FF0000"/>
              </a:solidFill>
              <a:prstDash val="solid"/>
              <a:round/>
              <a:headEnd type="none" w="med" len="med"/>
              <a:tailEnd type="triangle" w="med" len="med"/>
            </a:ln>
          </p:spPr>
        </p:sp>
        <p:grpSp>
          <p:nvGrpSpPr>
            <p:cNvPr id="31772" name="Group 73"/>
            <p:cNvGrpSpPr/>
            <p:nvPr/>
          </p:nvGrpSpPr>
          <p:grpSpPr>
            <a:xfrm rot="0">
              <a:off x="7063" y="2295"/>
              <a:ext cx="12093" cy="3273"/>
              <a:chOff x="1701" y="512"/>
              <a:chExt cx="3628" cy="1309"/>
            </a:xfrm>
          </p:grpSpPr>
          <p:sp>
            <p:nvSpPr>
              <p:cNvPr id="31773" name="Line 74"/>
              <p:cNvSpPr/>
              <p:nvPr/>
            </p:nvSpPr>
            <p:spPr>
              <a:xfrm flipV="1">
                <a:off x="2154" y="1661"/>
                <a:ext cx="2518" cy="0"/>
              </a:xfrm>
              <a:prstGeom prst="line">
                <a:avLst/>
              </a:prstGeom>
              <a:ln w="19050" cap="flat" cmpd="sng">
                <a:solidFill>
                  <a:schemeClr val="tx1"/>
                </a:solidFill>
                <a:prstDash val="solid"/>
                <a:round/>
                <a:headEnd type="none" w="med" len="med"/>
                <a:tailEnd type="none" w="med" len="med"/>
              </a:ln>
            </p:spPr>
          </p:sp>
          <p:sp>
            <p:nvSpPr>
              <p:cNvPr id="31774" name="Line 75"/>
              <p:cNvSpPr/>
              <p:nvPr/>
            </p:nvSpPr>
            <p:spPr>
              <a:xfrm flipV="1">
                <a:off x="1949" y="1820"/>
                <a:ext cx="3380" cy="0"/>
              </a:xfrm>
              <a:prstGeom prst="line">
                <a:avLst/>
              </a:prstGeom>
              <a:ln w="19050" cap="flat" cmpd="sng">
                <a:solidFill>
                  <a:srgbClr val="FF0000"/>
                </a:solidFill>
                <a:prstDash val="solid"/>
                <a:round/>
                <a:headEnd type="none" w="med" len="med"/>
                <a:tailEnd type="none" w="med" len="med"/>
              </a:ln>
            </p:spPr>
          </p:sp>
          <p:grpSp>
            <p:nvGrpSpPr>
              <p:cNvPr id="31775" name="Group 76"/>
              <p:cNvGrpSpPr/>
              <p:nvPr/>
            </p:nvGrpSpPr>
            <p:grpSpPr>
              <a:xfrm>
                <a:off x="1701" y="512"/>
                <a:ext cx="3494" cy="1309"/>
                <a:chOff x="1701" y="512"/>
                <a:chExt cx="3494" cy="1309"/>
              </a:xfrm>
            </p:grpSpPr>
            <p:grpSp>
              <p:nvGrpSpPr>
                <p:cNvPr id="31776" name="Group 77"/>
                <p:cNvGrpSpPr/>
                <p:nvPr/>
              </p:nvGrpSpPr>
              <p:grpSpPr>
                <a:xfrm>
                  <a:off x="1950" y="512"/>
                  <a:ext cx="204" cy="1309"/>
                  <a:chOff x="1950" y="512"/>
                  <a:chExt cx="204" cy="1309"/>
                </a:xfrm>
              </p:grpSpPr>
              <p:sp>
                <p:nvSpPr>
                  <p:cNvPr id="31777" name="Line 78"/>
                  <p:cNvSpPr/>
                  <p:nvPr/>
                </p:nvSpPr>
                <p:spPr>
                  <a:xfrm flipV="1">
                    <a:off x="2022" y="512"/>
                    <a:ext cx="0" cy="233"/>
                  </a:xfrm>
                  <a:prstGeom prst="line">
                    <a:avLst/>
                  </a:prstGeom>
                  <a:ln w="19050" cap="flat" cmpd="sng">
                    <a:solidFill>
                      <a:schemeClr val="tx1"/>
                    </a:solidFill>
                    <a:prstDash val="solid"/>
                    <a:round/>
                    <a:headEnd type="none" w="med" len="med"/>
                    <a:tailEnd type="triangle" w="med" len="med"/>
                  </a:ln>
                </p:spPr>
              </p:sp>
              <p:sp>
                <p:nvSpPr>
                  <p:cNvPr id="31778" name="Line 79"/>
                  <p:cNvSpPr/>
                  <p:nvPr/>
                </p:nvSpPr>
                <p:spPr>
                  <a:xfrm flipV="1">
                    <a:off x="1950" y="1502"/>
                    <a:ext cx="0" cy="319"/>
                  </a:xfrm>
                  <a:prstGeom prst="line">
                    <a:avLst/>
                  </a:prstGeom>
                  <a:ln w="19050" cap="flat" cmpd="sng">
                    <a:solidFill>
                      <a:srgbClr val="FF0000"/>
                    </a:solidFill>
                    <a:prstDash val="solid"/>
                    <a:round/>
                    <a:headEnd type="none" w="med" len="med"/>
                    <a:tailEnd type="triangle" w="med" len="med"/>
                  </a:ln>
                </p:spPr>
              </p:sp>
              <p:sp>
                <p:nvSpPr>
                  <p:cNvPr id="31779" name="Line 80"/>
                  <p:cNvSpPr/>
                  <p:nvPr/>
                </p:nvSpPr>
                <p:spPr>
                  <a:xfrm flipV="1">
                    <a:off x="2154" y="1508"/>
                    <a:ext cx="0" cy="156"/>
                  </a:xfrm>
                  <a:prstGeom prst="line">
                    <a:avLst/>
                  </a:prstGeom>
                  <a:ln w="19050" cap="flat" cmpd="sng">
                    <a:solidFill>
                      <a:schemeClr val="tx1"/>
                    </a:solidFill>
                    <a:prstDash val="solid"/>
                    <a:round/>
                    <a:headEnd type="none" w="med" len="med"/>
                    <a:tailEnd type="triangle" w="med" len="med"/>
                  </a:ln>
                </p:spPr>
              </p:sp>
            </p:grpSp>
            <p:sp>
              <p:nvSpPr>
                <p:cNvPr id="31780" name="Text Box 81"/>
                <p:cNvSpPr txBox="1"/>
                <p:nvPr/>
              </p:nvSpPr>
              <p:spPr>
                <a:xfrm>
                  <a:off x="2777" y="750"/>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浮点加</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减法器</a:t>
                  </a:r>
                  <a:endParaRPr lang="zh-CN" altLang="en-US" sz="1200" b="1" dirty="0">
                    <a:latin typeface="Times New Roman" pitchFamily="18" charset="0"/>
                    <a:ea typeface="宋体" panose="02000500000000000000" pitchFamily="2" charset="-122"/>
                  </a:endParaRPr>
                </a:p>
              </p:txBody>
            </p:sp>
            <p:sp>
              <p:nvSpPr>
                <p:cNvPr id="31781" name="Text Box 82"/>
                <p:cNvSpPr txBox="1"/>
                <p:nvPr/>
              </p:nvSpPr>
              <p:spPr>
                <a:xfrm>
                  <a:off x="4181" y="737"/>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浮点乘</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除法器</a:t>
                  </a:r>
                  <a:endParaRPr lang="zh-CN" altLang="en-US" sz="1200" b="1" dirty="0">
                    <a:latin typeface="Times New Roman" pitchFamily="18" charset="0"/>
                    <a:ea typeface="宋体" panose="02000500000000000000" pitchFamily="2" charset="-122"/>
                  </a:endParaRPr>
                </a:p>
              </p:txBody>
            </p:sp>
            <p:sp>
              <p:nvSpPr>
                <p:cNvPr id="31782" name="Text Box 83"/>
                <p:cNvSpPr txBox="1"/>
                <p:nvPr/>
              </p:nvSpPr>
              <p:spPr>
                <a:xfrm>
                  <a:off x="1701" y="731"/>
                  <a:ext cx="664" cy="771"/>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p>
                  <a:pPr algn="ctr">
                    <a:spcBef>
                      <a:spcPct val="50000"/>
                    </a:spcBef>
                  </a:pPr>
                  <a:endParaRPr lang="en-US" altLang="zh-CN" sz="1200"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定点</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访存</a:t>
                  </a:r>
                  <a:endParaRPr lang="zh-CN" altLang="en-US" sz="1200" b="1"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部件</a:t>
                  </a:r>
                  <a:endParaRPr lang="zh-CN" altLang="en-US" sz="1200" b="1" dirty="0">
                    <a:latin typeface="Times New Roman" pitchFamily="18" charset="0"/>
                    <a:ea typeface="宋体" panose="02000500000000000000" pitchFamily="2" charset="-122"/>
                  </a:endParaRPr>
                </a:p>
                <a:p>
                  <a:pPr algn="ctr">
                    <a:spcBef>
                      <a:spcPct val="50000"/>
                    </a:spcBef>
                  </a:pPr>
                  <a:endParaRPr lang="en-US" altLang="zh-CN" sz="1200" b="1" dirty="0">
                    <a:latin typeface="Times New Roman" pitchFamily="18" charset="0"/>
                    <a:ea typeface="宋体" panose="02000500000000000000" pitchFamily="2" charset="-122"/>
                  </a:endParaRPr>
                </a:p>
              </p:txBody>
            </p:sp>
          </p:grpSp>
        </p:grpSp>
        <p:sp>
          <p:nvSpPr>
            <p:cNvPr id="31783" name="Text Box 84"/>
            <p:cNvSpPr txBox="1"/>
            <p:nvPr/>
          </p:nvSpPr>
          <p:spPr>
            <a:xfrm>
              <a:off x="10992" y="7945"/>
              <a:ext cx="1623" cy="290"/>
            </a:xfrm>
            <a:prstGeom prst="rect">
              <a:avLst/>
            </a:prstGeom>
            <a:solidFill>
              <a:schemeClr val="bg1"/>
            </a:solid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指令队列</a:t>
              </a:r>
              <a:endParaRPr lang="zh-CN" altLang="en-US" sz="1200" b="1" dirty="0">
                <a:latin typeface="Times New Roman" pitchFamily="18" charset="0"/>
                <a:ea typeface="宋体" panose="02000500000000000000" pitchFamily="2" charset="-122"/>
              </a:endParaRPr>
            </a:p>
          </p:txBody>
        </p:sp>
      </p:grpSp>
      <p:graphicFrame>
        <p:nvGraphicFramePr>
          <p:cNvPr id="3" name="表格 2"/>
          <p:cNvGraphicFramePr/>
          <p:nvPr/>
        </p:nvGraphicFramePr>
        <p:xfrm>
          <a:off x="6799580" y="3837940"/>
          <a:ext cx="2342515" cy="863600"/>
        </p:xfrm>
        <a:graphic>
          <a:graphicData uri="http://schemas.openxmlformats.org/drawingml/2006/table">
            <a:tbl>
              <a:tblPr firstRow="1" bandRow="1">
                <a:tableStyleId>{5C22544A-7EE6-4342-B048-85BDC9FD1C3A}</a:tableStyleId>
              </a:tblPr>
              <a:tblGrid>
                <a:gridCol w="365125"/>
                <a:gridCol w="450850"/>
                <a:gridCol w="1526540"/>
              </a:tblGrid>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6</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1</a:t>
                      </a:r>
                      <a:endParaRPr lang="en-US" altLang="zh-CN" sz="1200" b="1">
                        <a:solidFill>
                          <a:srgbClr val="FF0000"/>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3.0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4" name="表格 3"/>
          <p:cNvGraphicFramePr/>
          <p:nvPr/>
        </p:nvGraphicFramePr>
        <p:xfrm>
          <a:off x="7167880" y="5311775"/>
          <a:ext cx="1930400" cy="1280160"/>
        </p:xfrm>
        <a:graphic>
          <a:graphicData uri="http://schemas.openxmlformats.org/drawingml/2006/table">
            <a:tbl>
              <a:tblPr firstRow="1" bandRow="1">
                <a:tableStyleId>{5C22544A-7EE6-4342-B048-85BDC9FD1C3A}</a:tableStyleId>
              </a:tblPr>
              <a:tblGrid>
                <a:gridCol w="1930400"/>
              </a:tblGrid>
              <a:tr h="213360">
                <a:tc>
                  <a:txBody>
                    <a:bodyPr/>
                    <a:p>
                      <a:pPr indent="0">
                        <a:buNone/>
                      </a:pPr>
                      <a:r>
                        <a:rPr lang="en-US" sz="1200" b="1">
                          <a:solidFill>
                            <a:schemeClr val="tx1"/>
                          </a:solidFill>
                          <a:latin typeface="宋体" panose="02000500000000000000" pitchFamily="2" charset="-122"/>
                          <a:ea typeface="宋体" panose="02000500000000000000" pitchFamily="2" charset="-122"/>
                        </a:rPr>
                        <a:t>FDIV.D  </a:t>
                      </a:r>
                      <a:r>
                        <a:rPr lang="en-US" sz="1200" b="1">
                          <a:solidFill>
                            <a:srgbClr val="FF0000"/>
                          </a:solidFill>
                          <a:latin typeface="宋体" panose="02000500000000000000" pitchFamily="2" charset="-122"/>
                          <a:ea typeface="宋体" panose="02000500000000000000" pitchFamily="2" charset="-122"/>
                        </a:rPr>
                        <a:t>F0</a:t>
                      </a:r>
                      <a:r>
                        <a:rPr lang="en-US" sz="1200" b="1">
                          <a:solidFill>
                            <a:schemeClr val="tx1"/>
                          </a:solidFill>
                          <a:latin typeface="宋体" panose="02000500000000000000" pitchFamily="2" charset="-122"/>
                          <a:ea typeface="宋体" panose="02000500000000000000" pitchFamily="2" charset="-122"/>
                        </a:rPr>
                        <a:t>, F1, F2</a:t>
                      </a:r>
                      <a:endParaRPr lang="en-US" altLang="en-US" sz="1200" b="1">
                        <a:solidFill>
                          <a:schemeClr val="tx1"/>
                        </a:solidFill>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FADD.D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F1,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5" name="表格 4"/>
          <p:cNvGraphicFramePr/>
          <p:nvPr/>
        </p:nvGraphicFramePr>
        <p:xfrm>
          <a:off x="9544050" y="243586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fdiv</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latin typeface="宋体" panose="02000500000000000000" pitchFamily="2" charset="-122"/>
                          <a:ea typeface="宋体" panose="02000500000000000000" pitchFamily="2" charset="-122"/>
                        </a:rPr>
                        <a:t>fmul</a:t>
                      </a:r>
                      <a:endParaRPr lang="en-US" altLang="zh-CN" sz="1200" b="1">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latin typeface="宋体" panose="02000500000000000000" pitchFamily="2" charset="-122"/>
                          <a:ea typeface="宋体" panose="02000500000000000000" pitchFamily="2" charset="-122"/>
                        </a:rPr>
                        <a:t>3</a:t>
                      </a:r>
                      <a:endParaRPr lang="en-US" altLang="zh-CN" sz="1200" b="1">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latin typeface="宋体" panose="02000500000000000000" pitchFamily="2" charset="-122"/>
                          <a:ea typeface="宋体" panose="02000500000000000000" pitchFamily="2" charset="-122"/>
                        </a:rPr>
                        <a:t>0</a:t>
                      </a:r>
                      <a:endParaRPr lang="en-US" altLang="zh-CN" sz="1200" b="1">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latin typeface="宋体" panose="02000500000000000000" pitchFamily="2" charset="-122"/>
                          <a:ea typeface="宋体" panose="02000500000000000000" pitchFamily="2" charset="-122"/>
                        </a:rPr>
                        <a:t>2.0</a:t>
                      </a:r>
                      <a:endParaRPr lang="en-US" altLang="zh-CN" sz="1200" b="1">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fmul</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6</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zh-CN" altLang="en-US"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0</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2.0</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7" name="表格 6"/>
          <p:cNvGraphicFramePr/>
          <p:nvPr/>
        </p:nvGraphicFramePr>
        <p:xfrm>
          <a:off x="6577330" y="245618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6</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fadd</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5</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4</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sp>
        <p:nvSpPr>
          <p:cNvPr id="37912" name="Text Box 37"/>
          <p:cNvSpPr txBox="1"/>
          <p:nvPr/>
        </p:nvSpPr>
        <p:spPr>
          <a:xfrm>
            <a:off x="649288" y="3917950"/>
            <a:ext cx="5046662" cy="1599565"/>
          </a:xfrm>
          <a:prstGeom prst="rect">
            <a:avLst/>
          </a:prstGeom>
          <a:noFill/>
          <a:ln w="9525">
            <a:noFill/>
          </a:ln>
        </p:spPr>
        <p:txBody>
          <a:bodyPr anchor="t" anchorCtr="0">
            <a:spAutoFit/>
          </a:bodyPr>
          <a:p>
            <a:pPr>
              <a:lnSpc>
                <a:spcPct val="150000"/>
              </a:lnSpc>
              <a:buChar char="•"/>
            </a:pPr>
            <a:r>
              <a:rPr lang="en-US" altLang="zh-CN" sz="1400" b="1" dirty="0">
                <a:solidFill>
                  <a:srgbClr val="000000"/>
                </a:solidFill>
                <a:latin typeface="宋体" panose="02000500000000000000" pitchFamily="2" charset="-122"/>
                <a:cs typeface="宋体" panose="02000500000000000000" pitchFamily="2" charset="-122"/>
              </a:rPr>
              <a:t>DIV</a:t>
            </a:r>
            <a:r>
              <a:rPr lang="zh-CN" altLang="zh-CN" sz="1400" b="1" dirty="0">
                <a:solidFill>
                  <a:srgbClr val="000000"/>
                </a:solidFill>
                <a:latin typeface="宋体" panose="02000500000000000000" pitchFamily="2" charset="-122"/>
                <a:cs typeface="宋体" panose="02000500000000000000" pitchFamily="2" charset="-122"/>
              </a:rPr>
              <a:t>发射，</a:t>
            </a:r>
            <a:r>
              <a:rPr lang="en-US" altLang="zh-CN" sz="1400" b="1" dirty="0">
                <a:solidFill>
                  <a:srgbClr val="000000"/>
                </a:solidFill>
                <a:latin typeface="宋体" panose="02000500000000000000" pitchFamily="2" charset="-122"/>
                <a:cs typeface="宋体" panose="02000500000000000000" pitchFamily="2" charset="-122"/>
              </a:rPr>
              <a:t>F1, F2</a:t>
            </a:r>
            <a:r>
              <a:rPr lang="zh-CN" altLang="zh-CN" sz="1400" b="1" dirty="0">
                <a:solidFill>
                  <a:srgbClr val="000000"/>
                </a:solidFill>
                <a:latin typeface="宋体" panose="02000500000000000000" pitchFamily="2" charset="-122"/>
                <a:cs typeface="宋体" panose="02000500000000000000" pitchFamily="2" charset="-122"/>
              </a:rPr>
              <a:t>都准备好</a:t>
            </a:r>
            <a:endParaRPr lang="zh-CN" altLang="zh-CN" sz="1400" b="1" dirty="0">
              <a:solidFill>
                <a:srgbClr val="000000"/>
              </a:solidFill>
              <a:latin typeface="宋体" panose="02000500000000000000" pitchFamily="2" charset="-122"/>
              <a:cs typeface="宋体" panose="02000500000000000000" pitchFamily="2" charset="-122"/>
            </a:endParaRPr>
          </a:p>
          <a:p>
            <a:pPr>
              <a:lnSpc>
                <a:spcPct val="150000"/>
              </a:lnSpc>
              <a:buChar char="•"/>
            </a:pPr>
            <a:r>
              <a:rPr lang="en-US" altLang="zh-CN" sz="1400" b="1" dirty="0">
                <a:solidFill>
                  <a:srgbClr val="000000"/>
                </a:solidFill>
                <a:latin typeface="宋体" panose="02000500000000000000" pitchFamily="2" charset="-122"/>
                <a:cs typeface="宋体" panose="02000500000000000000" pitchFamily="2" charset="-122"/>
              </a:rPr>
              <a:t>MUL1</a:t>
            </a:r>
            <a:r>
              <a:rPr lang="zh-CN" altLang="zh-CN" sz="1400" b="1" dirty="0">
                <a:solidFill>
                  <a:srgbClr val="000000"/>
                </a:solidFill>
                <a:latin typeface="宋体" panose="02000500000000000000" pitchFamily="2" charset="-122"/>
                <a:cs typeface="宋体" panose="02000500000000000000" pitchFamily="2" charset="-122"/>
              </a:rPr>
              <a:t>发射，</a:t>
            </a:r>
            <a:r>
              <a:rPr lang="en-US" altLang="zh-CN" sz="1400" b="1" dirty="0">
                <a:solidFill>
                  <a:srgbClr val="000000"/>
                </a:solidFill>
                <a:latin typeface="宋体" panose="02000500000000000000" pitchFamily="2" charset="-122"/>
                <a:cs typeface="宋体" panose="02000500000000000000" pitchFamily="2" charset="-122"/>
              </a:rPr>
              <a:t>F0</a:t>
            </a:r>
            <a:r>
              <a:rPr lang="zh-CN" altLang="zh-CN" sz="1400" b="1" dirty="0">
                <a:solidFill>
                  <a:srgbClr val="000000"/>
                </a:solidFill>
                <a:latin typeface="宋体" panose="02000500000000000000" pitchFamily="2" charset="-122"/>
                <a:cs typeface="宋体" panose="02000500000000000000" pitchFamily="2" charset="-122"/>
              </a:rPr>
              <a:t>等待3号保留站的结果</a:t>
            </a:r>
            <a:endParaRPr lang="zh-CN" altLang="zh-CN" sz="1400" b="1" dirty="0">
              <a:solidFill>
                <a:srgbClr val="000000"/>
              </a:solidFill>
              <a:latin typeface="宋体" panose="02000500000000000000" pitchFamily="2" charset="-122"/>
              <a:cs typeface="宋体" panose="02000500000000000000" pitchFamily="2" charset="-122"/>
            </a:endParaRPr>
          </a:p>
          <a:p>
            <a:pPr>
              <a:lnSpc>
                <a:spcPct val="150000"/>
              </a:lnSpc>
              <a:buChar char="•"/>
            </a:pPr>
            <a:r>
              <a:rPr lang="en-US" altLang="zh-CN" sz="1400" b="1" dirty="0">
                <a:solidFill>
                  <a:srgbClr val="000000"/>
                </a:solidFill>
                <a:latin typeface="宋体" panose="02000500000000000000" pitchFamily="2" charset="-122"/>
                <a:cs typeface="宋体" panose="02000500000000000000" pitchFamily="2" charset="-122"/>
              </a:rPr>
              <a:t>ADD</a:t>
            </a:r>
            <a:r>
              <a:rPr lang="zh-CN" altLang="zh-CN" sz="1400" b="1" dirty="0">
                <a:solidFill>
                  <a:srgbClr val="000000"/>
                </a:solidFill>
                <a:latin typeface="宋体" panose="02000500000000000000" pitchFamily="2" charset="-122"/>
                <a:cs typeface="宋体" panose="02000500000000000000" pitchFamily="2" charset="-122"/>
              </a:rPr>
              <a:t>发射，</a:t>
            </a:r>
            <a:r>
              <a:rPr lang="en-US" altLang="zh-CN" sz="1400" b="1" dirty="0">
                <a:solidFill>
                  <a:srgbClr val="000000"/>
                </a:solidFill>
                <a:latin typeface="宋体" panose="02000500000000000000" pitchFamily="2" charset="-122"/>
                <a:cs typeface="宋体" panose="02000500000000000000" pitchFamily="2" charset="-122"/>
              </a:rPr>
              <a:t>F1, F2</a:t>
            </a:r>
            <a:r>
              <a:rPr lang="zh-CN" altLang="zh-CN" sz="1400" b="1" dirty="0">
                <a:solidFill>
                  <a:srgbClr val="000000"/>
                </a:solidFill>
                <a:latin typeface="宋体" panose="02000500000000000000" pitchFamily="2" charset="-122"/>
                <a:cs typeface="宋体" panose="02000500000000000000" pitchFamily="2" charset="-122"/>
              </a:rPr>
              <a:t>都准备好</a:t>
            </a:r>
            <a:endParaRPr lang="zh-CN" altLang="zh-CN" sz="1400" b="1" dirty="0">
              <a:solidFill>
                <a:srgbClr val="FF0000"/>
              </a:solidFill>
              <a:latin typeface="宋体" panose="02000500000000000000" pitchFamily="2" charset="-122"/>
              <a:cs typeface="宋体" panose="02000500000000000000" pitchFamily="2" charset="-122"/>
            </a:endParaRPr>
          </a:p>
          <a:p>
            <a:pPr>
              <a:lnSpc>
                <a:spcPct val="150000"/>
              </a:lnSpc>
              <a:buChar char="•"/>
            </a:pPr>
            <a:r>
              <a:rPr lang="en-US" altLang="zh-CN" sz="1400" b="1" dirty="0">
                <a:solidFill>
                  <a:srgbClr val="FF0000"/>
                </a:solidFill>
                <a:latin typeface="宋体" panose="02000500000000000000" pitchFamily="2" charset="-122"/>
                <a:cs typeface="宋体" panose="02000500000000000000" pitchFamily="2" charset="-122"/>
              </a:rPr>
              <a:t>MUL2</a:t>
            </a:r>
            <a:r>
              <a:rPr lang="zh-CN" altLang="zh-CN" sz="1400" b="1" dirty="0">
                <a:solidFill>
                  <a:srgbClr val="FF0000"/>
                </a:solidFill>
                <a:latin typeface="宋体" panose="02000500000000000000" pitchFamily="2" charset="-122"/>
                <a:cs typeface="宋体" panose="02000500000000000000" pitchFamily="2" charset="-122"/>
              </a:rPr>
              <a:t>发射，</a:t>
            </a:r>
            <a:r>
              <a:rPr lang="en-US" altLang="zh-CN" sz="1400" b="1" dirty="0">
                <a:solidFill>
                  <a:srgbClr val="FF0000"/>
                </a:solidFill>
                <a:latin typeface="宋体" panose="02000500000000000000" pitchFamily="2" charset="-122"/>
                <a:cs typeface="宋体" panose="02000500000000000000" pitchFamily="2" charset="-122"/>
              </a:rPr>
              <a:t>F0</a:t>
            </a:r>
            <a:r>
              <a:rPr lang="zh-CN" altLang="zh-CN" sz="1400" b="1" dirty="0">
                <a:solidFill>
                  <a:srgbClr val="FF0000"/>
                </a:solidFill>
                <a:latin typeface="宋体" panose="02000500000000000000" pitchFamily="2" charset="-122"/>
                <a:cs typeface="宋体" panose="02000500000000000000" pitchFamily="2" charset="-122"/>
              </a:rPr>
              <a:t>等待6号保留站的结果</a:t>
            </a:r>
            <a:endParaRPr lang="zh-CN" altLang="zh-CN" sz="1400" b="1" dirty="0">
              <a:solidFill>
                <a:srgbClr val="000000"/>
              </a:solidFill>
              <a:latin typeface="宋体" panose="02000500000000000000" pitchFamily="2" charset="-122"/>
              <a:cs typeface="宋体" panose="02000500000000000000" pitchFamily="2" charset="-122"/>
            </a:endParaRPr>
          </a:p>
          <a:p>
            <a:pPr>
              <a:buChar char="•"/>
            </a:pPr>
            <a:endParaRPr lang="en-US" altLang="zh-CN" sz="1400" b="1" dirty="0">
              <a:solidFill>
                <a:srgbClr val="FF0000"/>
              </a:solidFill>
              <a:latin typeface="宋体" panose="02000500000000000000" pitchFamily="2" charset="-122"/>
              <a:cs typeface="宋体" panose="02000500000000000000" pitchFamily="2"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914400" y="80645"/>
            <a:ext cx="10361613" cy="1143000"/>
          </a:xfrm>
        </p:spPr>
        <p:txBody>
          <a:bodyPr/>
          <a:p>
            <a:r>
              <a:rPr lang="zh-CN" altLang="en-US"/>
              <a:t>例子</a:t>
            </a:r>
            <a:endParaRPr lang="zh-CN" altLang="en-US"/>
          </a:p>
        </p:txBody>
      </p:sp>
      <p:grpSp>
        <p:nvGrpSpPr>
          <p:cNvPr id="6" name="组合 5"/>
          <p:cNvGrpSpPr/>
          <p:nvPr/>
        </p:nvGrpSpPr>
        <p:grpSpPr>
          <a:xfrm>
            <a:off x="4485005" y="1449705"/>
            <a:ext cx="7679690" cy="3862070"/>
            <a:chOff x="7063" y="2283"/>
            <a:chExt cx="12094" cy="6082"/>
          </a:xfrm>
        </p:grpSpPr>
        <p:sp>
          <p:nvSpPr>
            <p:cNvPr id="31751" name="Line 52"/>
            <p:cNvSpPr/>
            <p:nvPr/>
          </p:nvSpPr>
          <p:spPr>
            <a:xfrm flipV="1">
              <a:off x="11639" y="3333"/>
              <a:ext cx="0" cy="528"/>
            </a:xfrm>
            <a:prstGeom prst="line">
              <a:avLst/>
            </a:prstGeom>
            <a:ln w="9525" cap="flat" cmpd="sng">
              <a:solidFill>
                <a:schemeClr val="tx1"/>
              </a:solidFill>
              <a:prstDash val="solid"/>
              <a:round/>
              <a:headEnd type="none" w="med" len="med"/>
              <a:tailEnd type="triangle" w="med" len="med"/>
            </a:ln>
          </p:spPr>
        </p:sp>
        <p:sp>
          <p:nvSpPr>
            <p:cNvPr id="31752" name="Line 53"/>
            <p:cNvSpPr/>
            <p:nvPr/>
          </p:nvSpPr>
          <p:spPr>
            <a:xfrm flipV="1">
              <a:off x="13025" y="3333"/>
              <a:ext cx="0" cy="528"/>
            </a:xfrm>
            <a:prstGeom prst="line">
              <a:avLst/>
            </a:prstGeom>
            <a:ln w="9525" cap="flat" cmpd="sng">
              <a:solidFill>
                <a:schemeClr val="tx1"/>
              </a:solidFill>
              <a:prstDash val="solid"/>
              <a:round/>
              <a:headEnd type="none" w="med" len="med"/>
              <a:tailEnd type="triangle" w="med" len="med"/>
            </a:ln>
          </p:spPr>
        </p:sp>
        <p:sp>
          <p:nvSpPr>
            <p:cNvPr id="31753" name="Line 54"/>
            <p:cNvSpPr/>
            <p:nvPr/>
          </p:nvSpPr>
          <p:spPr>
            <a:xfrm flipV="1">
              <a:off x="16305" y="3313"/>
              <a:ext cx="0" cy="528"/>
            </a:xfrm>
            <a:prstGeom prst="line">
              <a:avLst/>
            </a:prstGeom>
            <a:ln w="9525" cap="flat" cmpd="sng">
              <a:solidFill>
                <a:schemeClr val="tx1"/>
              </a:solidFill>
              <a:prstDash val="solid"/>
              <a:round/>
              <a:headEnd type="none" w="med" len="med"/>
              <a:tailEnd type="triangle" w="med" len="med"/>
            </a:ln>
          </p:spPr>
        </p:sp>
        <p:sp>
          <p:nvSpPr>
            <p:cNvPr id="31754" name="Line 55"/>
            <p:cNvSpPr/>
            <p:nvPr/>
          </p:nvSpPr>
          <p:spPr>
            <a:xfrm flipV="1">
              <a:off x="17798" y="3293"/>
              <a:ext cx="0" cy="528"/>
            </a:xfrm>
            <a:prstGeom prst="line">
              <a:avLst/>
            </a:prstGeom>
            <a:ln w="9525" cap="flat" cmpd="sng">
              <a:solidFill>
                <a:schemeClr val="tx1"/>
              </a:solidFill>
              <a:prstDash val="solid"/>
              <a:round/>
              <a:headEnd type="none" w="med" len="med"/>
              <a:tailEnd type="triangle" w="med" len="med"/>
            </a:ln>
          </p:spPr>
        </p:sp>
        <p:sp>
          <p:nvSpPr>
            <p:cNvPr id="31755" name="Line 56"/>
            <p:cNvSpPr/>
            <p:nvPr/>
          </p:nvSpPr>
          <p:spPr>
            <a:xfrm flipV="1">
              <a:off x="12815" y="7393"/>
              <a:ext cx="0" cy="973"/>
            </a:xfrm>
            <a:prstGeom prst="line">
              <a:avLst/>
            </a:prstGeom>
            <a:ln w="19050" cap="flat" cmpd="sng">
              <a:solidFill>
                <a:schemeClr val="tx1"/>
              </a:solidFill>
              <a:prstDash val="solid"/>
              <a:round/>
              <a:headEnd type="none" w="med" len="med"/>
              <a:tailEnd type="triangle" w="med" len="med"/>
            </a:ln>
          </p:spPr>
        </p:sp>
        <p:sp>
          <p:nvSpPr>
            <p:cNvPr id="31756" name="Line 57"/>
            <p:cNvSpPr/>
            <p:nvPr/>
          </p:nvSpPr>
          <p:spPr>
            <a:xfrm flipV="1">
              <a:off x="12275" y="4795"/>
              <a:ext cx="0" cy="390"/>
            </a:xfrm>
            <a:prstGeom prst="line">
              <a:avLst/>
            </a:prstGeom>
            <a:ln w="19050" cap="flat" cmpd="sng">
              <a:solidFill>
                <a:schemeClr val="tx1"/>
              </a:solidFill>
              <a:prstDash val="solid"/>
              <a:round/>
              <a:headEnd type="none" w="med" len="med"/>
              <a:tailEnd type="triangle" w="med" len="med"/>
            </a:ln>
          </p:spPr>
        </p:sp>
        <p:sp>
          <p:nvSpPr>
            <p:cNvPr id="31757" name="Line 58"/>
            <p:cNvSpPr/>
            <p:nvPr/>
          </p:nvSpPr>
          <p:spPr>
            <a:xfrm flipV="1">
              <a:off x="16989" y="4783"/>
              <a:ext cx="0" cy="410"/>
            </a:xfrm>
            <a:prstGeom prst="line">
              <a:avLst/>
            </a:prstGeom>
            <a:ln w="19050" cap="flat" cmpd="sng">
              <a:solidFill>
                <a:schemeClr val="tx1"/>
              </a:solidFill>
              <a:prstDash val="solid"/>
              <a:round/>
              <a:headEnd type="none" w="med" len="med"/>
              <a:tailEnd type="triangle" w="med" len="med"/>
            </a:ln>
          </p:spPr>
        </p:sp>
        <p:sp>
          <p:nvSpPr>
            <p:cNvPr id="31758" name="Line 59"/>
            <p:cNvSpPr/>
            <p:nvPr/>
          </p:nvSpPr>
          <p:spPr>
            <a:xfrm flipV="1">
              <a:off x="17029" y="2283"/>
              <a:ext cx="0" cy="583"/>
            </a:xfrm>
            <a:prstGeom prst="line">
              <a:avLst/>
            </a:prstGeom>
            <a:ln w="19050" cap="flat" cmpd="sng">
              <a:solidFill>
                <a:srgbClr val="FF0000"/>
              </a:solidFill>
              <a:prstDash val="solid"/>
              <a:round/>
              <a:headEnd type="none" w="med" len="med"/>
              <a:tailEnd type="triangle" w="med" len="med"/>
            </a:ln>
          </p:spPr>
        </p:sp>
        <p:sp>
          <p:nvSpPr>
            <p:cNvPr id="31759" name="Line 60"/>
            <p:cNvSpPr/>
            <p:nvPr/>
          </p:nvSpPr>
          <p:spPr>
            <a:xfrm flipV="1">
              <a:off x="12412" y="2310"/>
              <a:ext cx="0" cy="583"/>
            </a:xfrm>
            <a:prstGeom prst="line">
              <a:avLst/>
            </a:prstGeom>
            <a:ln w="19050" cap="flat" cmpd="sng">
              <a:solidFill>
                <a:schemeClr val="tx1"/>
              </a:solidFill>
              <a:prstDash val="solid"/>
              <a:round/>
              <a:headEnd type="none" w="med" len="med"/>
              <a:tailEnd type="triangle" w="med" len="med"/>
            </a:ln>
          </p:spPr>
        </p:sp>
        <p:sp>
          <p:nvSpPr>
            <p:cNvPr id="31760" name="Line 61"/>
            <p:cNvSpPr/>
            <p:nvPr/>
          </p:nvSpPr>
          <p:spPr>
            <a:xfrm>
              <a:off x="8119" y="2300"/>
              <a:ext cx="11039" cy="0"/>
            </a:xfrm>
            <a:prstGeom prst="line">
              <a:avLst/>
            </a:prstGeom>
            <a:ln w="19050" cap="flat" cmpd="sng">
              <a:solidFill>
                <a:srgbClr val="FF0000"/>
              </a:solidFill>
              <a:prstDash val="solid"/>
              <a:round/>
              <a:headEnd type="none" w="med" len="med"/>
              <a:tailEnd type="none" w="med" len="med"/>
            </a:ln>
          </p:spPr>
        </p:sp>
        <p:sp>
          <p:nvSpPr>
            <p:cNvPr id="31761" name="Line 62"/>
            <p:cNvSpPr/>
            <p:nvPr/>
          </p:nvSpPr>
          <p:spPr>
            <a:xfrm flipV="1">
              <a:off x="11276" y="4780"/>
              <a:ext cx="0" cy="818"/>
            </a:xfrm>
            <a:prstGeom prst="line">
              <a:avLst/>
            </a:prstGeom>
            <a:ln w="19050" cap="flat" cmpd="sng">
              <a:solidFill>
                <a:srgbClr val="FF0000"/>
              </a:solidFill>
              <a:prstDash val="solid"/>
              <a:round/>
              <a:headEnd type="none" w="med" len="med"/>
              <a:tailEnd type="triangle" w="med" len="med"/>
            </a:ln>
          </p:spPr>
        </p:sp>
        <p:sp>
          <p:nvSpPr>
            <p:cNvPr id="31762" name="Line 63"/>
            <p:cNvSpPr/>
            <p:nvPr/>
          </p:nvSpPr>
          <p:spPr>
            <a:xfrm flipV="1">
              <a:off x="17752" y="4768"/>
              <a:ext cx="0" cy="818"/>
            </a:xfrm>
            <a:prstGeom prst="line">
              <a:avLst/>
            </a:prstGeom>
            <a:ln w="19050" cap="flat" cmpd="sng">
              <a:solidFill>
                <a:srgbClr val="FF0000"/>
              </a:solidFill>
              <a:prstDash val="solid"/>
              <a:round/>
              <a:headEnd type="none" w="med" len="med"/>
              <a:tailEnd type="triangle" w="med" len="med"/>
            </a:ln>
          </p:spPr>
        </p:sp>
        <p:sp>
          <p:nvSpPr>
            <p:cNvPr id="31763" name="Line 64"/>
            <p:cNvSpPr/>
            <p:nvPr/>
          </p:nvSpPr>
          <p:spPr>
            <a:xfrm>
              <a:off x="19135" y="2300"/>
              <a:ext cx="0" cy="5455"/>
            </a:xfrm>
            <a:prstGeom prst="line">
              <a:avLst/>
            </a:prstGeom>
            <a:ln w="19050" cap="flat" cmpd="sng">
              <a:solidFill>
                <a:srgbClr val="FF0000"/>
              </a:solidFill>
              <a:prstDash val="solid"/>
              <a:round/>
              <a:headEnd type="none" w="med" len="med"/>
              <a:tailEnd type="none" w="med" len="med"/>
            </a:ln>
          </p:spPr>
        </p:sp>
        <p:sp>
          <p:nvSpPr>
            <p:cNvPr id="31764" name="Line 65"/>
            <p:cNvSpPr/>
            <p:nvPr/>
          </p:nvSpPr>
          <p:spPr>
            <a:xfrm flipV="1">
              <a:off x="12779" y="5150"/>
              <a:ext cx="0" cy="915"/>
            </a:xfrm>
            <a:prstGeom prst="line">
              <a:avLst/>
            </a:prstGeom>
            <a:ln w="19050" cap="flat" cmpd="sng">
              <a:solidFill>
                <a:schemeClr val="tx1"/>
              </a:solidFill>
              <a:prstDash val="solid"/>
              <a:round/>
              <a:headEnd type="none" w="med" len="med"/>
              <a:tailEnd type="triangle" w="med" len="med"/>
            </a:ln>
          </p:spPr>
        </p:sp>
        <p:sp>
          <p:nvSpPr>
            <p:cNvPr id="31765" name="Text Box 66"/>
            <p:cNvSpPr txBox="1"/>
            <p:nvPr/>
          </p:nvSpPr>
          <p:spPr>
            <a:xfrm>
              <a:off x="9896" y="3538"/>
              <a:ext cx="1637" cy="29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加法保留站</a:t>
              </a:r>
              <a:endParaRPr lang="zh-CN" altLang="en-US" sz="1200" b="1" dirty="0">
                <a:latin typeface="Times New Roman" pitchFamily="18" charset="0"/>
                <a:ea typeface="宋体" panose="02000500000000000000" pitchFamily="2" charset="-122"/>
              </a:endParaRPr>
            </a:p>
          </p:txBody>
        </p:sp>
        <p:sp>
          <p:nvSpPr>
            <p:cNvPr id="31766" name="Text Box 67"/>
            <p:cNvSpPr txBox="1"/>
            <p:nvPr/>
          </p:nvSpPr>
          <p:spPr>
            <a:xfrm>
              <a:off x="10906" y="5788"/>
              <a:ext cx="1717" cy="290"/>
            </a:xfrm>
            <a:prstGeom prst="rect">
              <a:avLst/>
            </a:prstGeom>
            <a:noFill/>
            <a:ln w="9525">
              <a:noFill/>
            </a:ln>
            <a:extLst>
              <a:ext uri="{909E8E84-426E-40DD-AFC4-6F175D3DCCD1}">
                <a14:hiddenFill xmlns:a14="http://schemas.microsoft.com/office/drawing/2010/main">
                  <a:solidFill>
                    <a:schemeClr val="bg1"/>
                  </a:solidFill>
                </a14:hiddenFill>
              </a:ext>
            </a:extLst>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浮点寄存器</a:t>
              </a:r>
              <a:endParaRPr lang="zh-CN" altLang="en-US" sz="1200" b="1" dirty="0">
                <a:latin typeface="Times New Roman" pitchFamily="18" charset="0"/>
                <a:ea typeface="宋体" panose="02000500000000000000" pitchFamily="2" charset="-122"/>
              </a:endParaRPr>
            </a:p>
          </p:txBody>
        </p:sp>
        <p:sp>
          <p:nvSpPr>
            <p:cNvPr id="31767" name="Text Box 68"/>
            <p:cNvSpPr txBox="1"/>
            <p:nvPr/>
          </p:nvSpPr>
          <p:spPr>
            <a:xfrm>
              <a:off x="14629" y="3520"/>
              <a:ext cx="1637" cy="29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乘法保留站</a:t>
              </a:r>
              <a:endParaRPr lang="zh-CN" altLang="en-US" sz="1200" b="1" dirty="0">
                <a:latin typeface="Times New Roman" pitchFamily="18" charset="0"/>
                <a:ea typeface="宋体" panose="02000500000000000000" pitchFamily="2" charset="-122"/>
              </a:endParaRPr>
            </a:p>
          </p:txBody>
        </p:sp>
        <p:sp>
          <p:nvSpPr>
            <p:cNvPr id="31768" name="Line 69"/>
            <p:cNvSpPr/>
            <p:nvPr/>
          </p:nvSpPr>
          <p:spPr>
            <a:xfrm>
              <a:off x="13835" y="7755"/>
              <a:ext cx="5323" cy="0"/>
            </a:xfrm>
            <a:prstGeom prst="line">
              <a:avLst/>
            </a:prstGeom>
            <a:ln w="19050" cap="flat" cmpd="sng">
              <a:solidFill>
                <a:srgbClr val="FF0000"/>
              </a:solidFill>
              <a:prstDash val="solid"/>
              <a:round/>
              <a:headEnd type="none" w="med" len="med"/>
              <a:tailEnd type="none" w="med" len="med"/>
            </a:ln>
          </p:spPr>
        </p:sp>
        <p:sp>
          <p:nvSpPr>
            <p:cNvPr id="31769" name="Line 70"/>
            <p:cNvSpPr/>
            <p:nvPr/>
          </p:nvSpPr>
          <p:spPr>
            <a:xfrm flipV="1">
              <a:off x="13835" y="7348"/>
              <a:ext cx="3" cy="410"/>
            </a:xfrm>
            <a:prstGeom prst="line">
              <a:avLst/>
            </a:prstGeom>
            <a:ln w="19050" cap="flat" cmpd="sng">
              <a:solidFill>
                <a:srgbClr val="FF0000"/>
              </a:solidFill>
              <a:prstDash val="solid"/>
              <a:round/>
              <a:headEnd type="none" w="med" len="med"/>
              <a:tailEnd type="triangle" w="med" len="med"/>
            </a:ln>
          </p:spPr>
        </p:sp>
        <p:grpSp>
          <p:nvGrpSpPr>
            <p:cNvPr id="31772" name="Group 73"/>
            <p:cNvGrpSpPr/>
            <p:nvPr/>
          </p:nvGrpSpPr>
          <p:grpSpPr>
            <a:xfrm rot="0">
              <a:off x="7063" y="2295"/>
              <a:ext cx="12093" cy="3273"/>
              <a:chOff x="1701" y="512"/>
              <a:chExt cx="3628" cy="1309"/>
            </a:xfrm>
          </p:grpSpPr>
          <p:sp>
            <p:nvSpPr>
              <p:cNvPr id="31773" name="Line 74"/>
              <p:cNvSpPr/>
              <p:nvPr/>
            </p:nvSpPr>
            <p:spPr>
              <a:xfrm flipV="1">
                <a:off x="2154" y="1661"/>
                <a:ext cx="2518" cy="0"/>
              </a:xfrm>
              <a:prstGeom prst="line">
                <a:avLst/>
              </a:prstGeom>
              <a:ln w="19050" cap="flat" cmpd="sng">
                <a:solidFill>
                  <a:schemeClr val="tx1"/>
                </a:solidFill>
                <a:prstDash val="solid"/>
                <a:round/>
                <a:headEnd type="none" w="med" len="med"/>
                <a:tailEnd type="none" w="med" len="med"/>
              </a:ln>
            </p:spPr>
          </p:sp>
          <p:sp>
            <p:nvSpPr>
              <p:cNvPr id="31774" name="Line 75"/>
              <p:cNvSpPr/>
              <p:nvPr/>
            </p:nvSpPr>
            <p:spPr>
              <a:xfrm flipV="1">
                <a:off x="1949" y="1820"/>
                <a:ext cx="3380" cy="0"/>
              </a:xfrm>
              <a:prstGeom prst="line">
                <a:avLst/>
              </a:prstGeom>
              <a:ln w="19050" cap="flat" cmpd="sng">
                <a:solidFill>
                  <a:srgbClr val="FF0000"/>
                </a:solidFill>
                <a:prstDash val="solid"/>
                <a:round/>
                <a:headEnd type="none" w="med" len="med"/>
                <a:tailEnd type="none" w="med" len="med"/>
              </a:ln>
            </p:spPr>
          </p:sp>
          <p:grpSp>
            <p:nvGrpSpPr>
              <p:cNvPr id="31775" name="Group 76"/>
              <p:cNvGrpSpPr/>
              <p:nvPr/>
            </p:nvGrpSpPr>
            <p:grpSpPr>
              <a:xfrm>
                <a:off x="1701" y="512"/>
                <a:ext cx="3494" cy="1309"/>
                <a:chOff x="1701" y="512"/>
                <a:chExt cx="3494" cy="1309"/>
              </a:xfrm>
            </p:grpSpPr>
            <p:grpSp>
              <p:nvGrpSpPr>
                <p:cNvPr id="31776" name="Group 77"/>
                <p:cNvGrpSpPr/>
                <p:nvPr/>
              </p:nvGrpSpPr>
              <p:grpSpPr>
                <a:xfrm>
                  <a:off x="1950" y="512"/>
                  <a:ext cx="204" cy="1309"/>
                  <a:chOff x="1950" y="512"/>
                  <a:chExt cx="204" cy="1309"/>
                </a:xfrm>
              </p:grpSpPr>
              <p:sp>
                <p:nvSpPr>
                  <p:cNvPr id="31777" name="Line 78"/>
                  <p:cNvSpPr/>
                  <p:nvPr/>
                </p:nvSpPr>
                <p:spPr>
                  <a:xfrm flipV="1">
                    <a:off x="2022" y="512"/>
                    <a:ext cx="0" cy="233"/>
                  </a:xfrm>
                  <a:prstGeom prst="line">
                    <a:avLst/>
                  </a:prstGeom>
                  <a:ln w="19050" cap="flat" cmpd="sng">
                    <a:solidFill>
                      <a:schemeClr val="tx1"/>
                    </a:solidFill>
                    <a:prstDash val="solid"/>
                    <a:round/>
                    <a:headEnd type="none" w="med" len="med"/>
                    <a:tailEnd type="triangle" w="med" len="med"/>
                  </a:ln>
                </p:spPr>
              </p:sp>
              <p:sp>
                <p:nvSpPr>
                  <p:cNvPr id="31778" name="Line 79"/>
                  <p:cNvSpPr/>
                  <p:nvPr/>
                </p:nvSpPr>
                <p:spPr>
                  <a:xfrm flipV="1">
                    <a:off x="1950" y="1502"/>
                    <a:ext cx="0" cy="319"/>
                  </a:xfrm>
                  <a:prstGeom prst="line">
                    <a:avLst/>
                  </a:prstGeom>
                  <a:ln w="19050" cap="flat" cmpd="sng">
                    <a:solidFill>
                      <a:srgbClr val="FF0000"/>
                    </a:solidFill>
                    <a:prstDash val="solid"/>
                    <a:round/>
                    <a:headEnd type="none" w="med" len="med"/>
                    <a:tailEnd type="triangle" w="med" len="med"/>
                  </a:ln>
                </p:spPr>
              </p:sp>
              <p:sp>
                <p:nvSpPr>
                  <p:cNvPr id="31779" name="Line 80"/>
                  <p:cNvSpPr/>
                  <p:nvPr/>
                </p:nvSpPr>
                <p:spPr>
                  <a:xfrm flipV="1">
                    <a:off x="2154" y="1508"/>
                    <a:ext cx="0" cy="156"/>
                  </a:xfrm>
                  <a:prstGeom prst="line">
                    <a:avLst/>
                  </a:prstGeom>
                  <a:ln w="19050" cap="flat" cmpd="sng">
                    <a:solidFill>
                      <a:schemeClr val="tx1"/>
                    </a:solidFill>
                    <a:prstDash val="solid"/>
                    <a:round/>
                    <a:headEnd type="none" w="med" len="med"/>
                    <a:tailEnd type="triangle" w="med" len="med"/>
                  </a:ln>
                </p:spPr>
              </p:sp>
            </p:grpSp>
            <p:sp>
              <p:nvSpPr>
                <p:cNvPr id="31780" name="Text Box 81"/>
                <p:cNvSpPr txBox="1"/>
                <p:nvPr/>
              </p:nvSpPr>
              <p:spPr>
                <a:xfrm>
                  <a:off x="2777" y="750"/>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浮点加</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减法器</a:t>
                  </a:r>
                  <a:endParaRPr lang="zh-CN" altLang="en-US" sz="1200" b="1" dirty="0">
                    <a:latin typeface="Times New Roman" pitchFamily="18" charset="0"/>
                    <a:ea typeface="宋体" panose="02000500000000000000" pitchFamily="2" charset="-122"/>
                  </a:endParaRPr>
                </a:p>
              </p:txBody>
            </p:sp>
            <p:sp>
              <p:nvSpPr>
                <p:cNvPr id="31781" name="Text Box 82"/>
                <p:cNvSpPr txBox="1"/>
                <p:nvPr/>
              </p:nvSpPr>
              <p:spPr>
                <a:xfrm>
                  <a:off x="4181" y="737"/>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浮点乘</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除法器</a:t>
                  </a:r>
                  <a:endParaRPr lang="zh-CN" altLang="en-US" sz="1200" b="1" dirty="0">
                    <a:latin typeface="Times New Roman" pitchFamily="18" charset="0"/>
                    <a:ea typeface="宋体" panose="02000500000000000000" pitchFamily="2" charset="-122"/>
                  </a:endParaRPr>
                </a:p>
              </p:txBody>
            </p:sp>
            <p:sp>
              <p:nvSpPr>
                <p:cNvPr id="31782" name="Text Box 83"/>
                <p:cNvSpPr txBox="1"/>
                <p:nvPr/>
              </p:nvSpPr>
              <p:spPr>
                <a:xfrm>
                  <a:off x="1701" y="731"/>
                  <a:ext cx="664" cy="771"/>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p>
                  <a:pPr algn="ctr">
                    <a:spcBef>
                      <a:spcPct val="50000"/>
                    </a:spcBef>
                  </a:pPr>
                  <a:endParaRPr lang="en-US" altLang="zh-CN" sz="1200"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定点</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访存</a:t>
                  </a:r>
                  <a:endParaRPr lang="zh-CN" altLang="en-US" sz="1200" b="1"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部件</a:t>
                  </a:r>
                  <a:endParaRPr lang="zh-CN" altLang="en-US" sz="1200" b="1" dirty="0">
                    <a:latin typeface="Times New Roman" pitchFamily="18" charset="0"/>
                    <a:ea typeface="宋体" panose="02000500000000000000" pitchFamily="2" charset="-122"/>
                  </a:endParaRPr>
                </a:p>
                <a:p>
                  <a:pPr algn="ctr">
                    <a:spcBef>
                      <a:spcPct val="50000"/>
                    </a:spcBef>
                  </a:pPr>
                  <a:endParaRPr lang="en-US" altLang="zh-CN" sz="1200" b="1" dirty="0">
                    <a:latin typeface="Times New Roman" pitchFamily="18" charset="0"/>
                    <a:ea typeface="宋体" panose="02000500000000000000" pitchFamily="2" charset="-122"/>
                  </a:endParaRPr>
                </a:p>
              </p:txBody>
            </p:sp>
          </p:grpSp>
        </p:grpSp>
        <p:sp>
          <p:nvSpPr>
            <p:cNvPr id="31783" name="Text Box 84"/>
            <p:cNvSpPr txBox="1"/>
            <p:nvPr/>
          </p:nvSpPr>
          <p:spPr>
            <a:xfrm>
              <a:off x="10992" y="7945"/>
              <a:ext cx="1623" cy="290"/>
            </a:xfrm>
            <a:prstGeom prst="rect">
              <a:avLst/>
            </a:prstGeom>
            <a:solidFill>
              <a:schemeClr val="bg1"/>
            </a:solid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指令队列</a:t>
              </a:r>
              <a:endParaRPr lang="zh-CN" altLang="en-US" sz="1200" b="1" dirty="0">
                <a:latin typeface="Times New Roman" pitchFamily="18" charset="0"/>
                <a:ea typeface="宋体" panose="02000500000000000000" pitchFamily="2" charset="-122"/>
              </a:endParaRPr>
            </a:p>
          </p:txBody>
        </p:sp>
      </p:grpSp>
      <p:graphicFrame>
        <p:nvGraphicFramePr>
          <p:cNvPr id="3" name="表格 2"/>
          <p:cNvGraphicFramePr/>
          <p:nvPr/>
        </p:nvGraphicFramePr>
        <p:xfrm>
          <a:off x="6799580" y="3837940"/>
          <a:ext cx="2342515" cy="863600"/>
        </p:xfrm>
        <a:graphic>
          <a:graphicData uri="http://schemas.openxmlformats.org/drawingml/2006/table">
            <a:tbl>
              <a:tblPr firstRow="1" bandRow="1">
                <a:tableStyleId>{5C22544A-7EE6-4342-B048-85BDC9FD1C3A}</a:tableStyleId>
              </a:tblPr>
              <a:tblGrid>
                <a:gridCol w="365125"/>
                <a:gridCol w="450850"/>
                <a:gridCol w="1526540"/>
              </a:tblGrid>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0</a:t>
                      </a:r>
                      <a:endParaRPr lang="en-US" altLang="zh-CN" sz="1200" b="1">
                        <a:solidFill>
                          <a:srgbClr val="FF0000"/>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3.0</a:t>
                      </a:r>
                      <a:endParaRPr lang="en-US" altLang="zh-CN" sz="1200" b="1">
                        <a:solidFill>
                          <a:srgbClr val="FF0000"/>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3.0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4" name="表格 3"/>
          <p:cNvGraphicFramePr/>
          <p:nvPr/>
        </p:nvGraphicFramePr>
        <p:xfrm>
          <a:off x="7167880" y="5311775"/>
          <a:ext cx="1930400" cy="1280160"/>
        </p:xfrm>
        <a:graphic>
          <a:graphicData uri="http://schemas.openxmlformats.org/drawingml/2006/table">
            <a:tbl>
              <a:tblPr firstRow="1" bandRow="1">
                <a:tableStyleId>{5C22544A-7EE6-4342-B048-85BDC9FD1C3A}</a:tableStyleId>
              </a:tblPr>
              <a:tblGrid>
                <a:gridCol w="1930400"/>
              </a:tblGrid>
              <a:tr h="213360">
                <a:tc>
                  <a:txBody>
                    <a:bodyPr/>
                    <a:p>
                      <a:pPr indent="0">
                        <a:buNone/>
                      </a:pPr>
                      <a:r>
                        <a:rPr lang="en-US" sz="1200" b="1">
                          <a:solidFill>
                            <a:schemeClr val="tx1"/>
                          </a:solidFill>
                          <a:latin typeface="宋体" panose="02000500000000000000" pitchFamily="2" charset="-122"/>
                          <a:ea typeface="宋体" panose="02000500000000000000" pitchFamily="2" charset="-122"/>
                        </a:rPr>
                        <a:t>FDIV.D  </a:t>
                      </a:r>
                      <a:r>
                        <a:rPr lang="en-US" sz="1200" b="1">
                          <a:solidFill>
                            <a:srgbClr val="FF0000"/>
                          </a:solidFill>
                          <a:latin typeface="宋体" panose="02000500000000000000" pitchFamily="2" charset="-122"/>
                          <a:ea typeface="宋体" panose="02000500000000000000" pitchFamily="2" charset="-122"/>
                        </a:rPr>
                        <a:t>F0</a:t>
                      </a:r>
                      <a:r>
                        <a:rPr lang="en-US" sz="1200" b="1">
                          <a:solidFill>
                            <a:schemeClr val="tx1"/>
                          </a:solidFill>
                          <a:latin typeface="宋体" panose="02000500000000000000" pitchFamily="2" charset="-122"/>
                          <a:ea typeface="宋体" panose="02000500000000000000" pitchFamily="2" charset="-122"/>
                        </a:rPr>
                        <a:t>, F1, F2</a:t>
                      </a:r>
                      <a:endParaRPr lang="en-US" altLang="en-US" sz="1200" b="1">
                        <a:solidFill>
                          <a:schemeClr val="tx1"/>
                        </a:solidFill>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FADD.D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F1,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5" name="表格 4"/>
          <p:cNvGraphicFramePr/>
          <p:nvPr/>
        </p:nvGraphicFramePr>
        <p:xfrm>
          <a:off x="9544050" y="243586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fdiv</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latin typeface="宋体" panose="02000500000000000000" pitchFamily="2" charset="-122"/>
                          <a:ea typeface="宋体" panose="02000500000000000000" pitchFamily="2" charset="-122"/>
                        </a:rPr>
                        <a:t>fmul</a:t>
                      </a:r>
                      <a:endParaRPr lang="en-US" altLang="zh-CN" sz="1200" b="1">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latin typeface="宋体" panose="02000500000000000000" pitchFamily="2" charset="-122"/>
                          <a:ea typeface="宋体" panose="02000500000000000000" pitchFamily="2" charset="-122"/>
                        </a:rPr>
                        <a:t>3</a:t>
                      </a:r>
                      <a:endParaRPr lang="en-US" altLang="zh-CN" sz="1200" b="1">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latin typeface="宋体" panose="02000500000000000000" pitchFamily="2" charset="-122"/>
                          <a:ea typeface="宋体" panose="02000500000000000000" pitchFamily="2" charset="-122"/>
                        </a:rPr>
                        <a:t>0</a:t>
                      </a:r>
                      <a:endParaRPr lang="en-US" altLang="zh-CN" sz="1200" b="1">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latin typeface="宋体" panose="02000500000000000000" pitchFamily="2" charset="-122"/>
                          <a:ea typeface="宋体" panose="02000500000000000000" pitchFamily="2" charset="-122"/>
                        </a:rPr>
                        <a:t>2.0</a:t>
                      </a:r>
                      <a:endParaRPr lang="en-US" altLang="zh-CN" sz="1200" b="1">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fmul</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0</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3.0</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7" name="表格 6"/>
          <p:cNvGraphicFramePr/>
          <p:nvPr/>
        </p:nvGraphicFramePr>
        <p:xfrm>
          <a:off x="6577330" y="245618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6</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5</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4</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sp>
        <p:nvSpPr>
          <p:cNvPr id="38936" name="Text Box 37"/>
          <p:cNvSpPr txBox="1"/>
          <p:nvPr/>
        </p:nvSpPr>
        <p:spPr>
          <a:xfrm>
            <a:off x="649288" y="3917950"/>
            <a:ext cx="5046662" cy="1922145"/>
          </a:xfrm>
          <a:prstGeom prst="rect">
            <a:avLst/>
          </a:prstGeom>
          <a:noFill/>
          <a:ln w="9525">
            <a:noFill/>
          </a:ln>
        </p:spPr>
        <p:txBody>
          <a:bodyPr anchor="t" anchorCtr="0">
            <a:spAutoFit/>
          </a:bodyPr>
          <a:p>
            <a:pPr>
              <a:lnSpc>
                <a:spcPct val="150000"/>
              </a:lnSpc>
              <a:buChar char="•"/>
            </a:pPr>
            <a:r>
              <a:rPr lang="en-US" altLang="zh-CN" sz="1400" b="1" dirty="0">
                <a:solidFill>
                  <a:srgbClr val="000000"/>
                </a:solidFill>
                <a:latin typeface="宋体" panose="02000500000000000000" pitchFamily="2" charset="-122"/>
                <a:cs typeface="宋体" panose="02000500000000000000" pitchFamily="2" charset="-122"/>
              </a:rPr>
              <a:t>DIV</a:t>
            </a:r>
            <a:r>
              <a:rPr lang="zh-CN" altLang="zh-CN" sz="1400" b="1" dirty="0">
                <a:solidFill>
                  <a:srgbClr val="000000"/>
                </a:solidFill>
                <a:latin typeface="宋体" panose="02000500000000000000" pitchFamily="2" charset="-122"/>
                <a:cs typeface="宋体" panose="02000500000000000000" pitchFamily="2" charset="-122"/>
              </a:rPr>
              <a:t>发射，</a:t>
            </a:r>
            <a:r>
              <a:rPr lang="en-US" altLang="zh-CN" sz="1400" b="1" dirty="0">
                <a:solidFill>
                  <a:srgbClr val="000000"/>
                </a:solidFill>
                <a:latin typeface="宋体" panose="02000500000000000000" pitchFamily="2" charset="-122"/>
                <a:cs typeface="宋体" panose="02000500000000000000" pitchFamily="2" charset="-122"/>
              </a:rPr>
              <a:t>F1, F2</a:t>
            </a:r>
            <a:r>
              <a:rPr lang="zh-CN" altLang="zh-CN" sz="1400" b="1" dirty="0">
                <a:solidFill>
                  <a:srgbClr val="000000"/>
                </a:solidFill>
                <a:latin typeface="宋体" panose="02000500000000000000" pitchFamily="2" charset="-122"/>
                <a:cs typeface="宋体" panose="02000500000000000000" pitchFamily="2" charset="-122"/>
              </a:rPr>
              <a:t>都准备好</a:t>
            </a:r>
            <a:endParaRPr lang="zh-CN" altLang="zh-CN" sz="1400" b="1" dirty="0">
              <a:solidFill>
                <a:srgbClr val="000000"/>
              </a:solidFill>
              <a:latin typeface="宋体" panose="02000500000000000000" pitchFamily="2" charset="-122"/>
              <a:cs typeface="宋体" panose="02000500000000000000" pitchFamily="2" charset="-122"/>
            </a:endParaRPr>
          </a:p>
          <a:p>
            <a:pPr>
              <a:lnSpc>
                <a:spcPct val="150000"/>
              </a:lnSpc>
              <a:buChar char="•"/>
            </a:pPr>
            <a:r>
              <a:rPr lang="en-US" altLang="zh-CN" sz="1400" b="1" dirty="0">
                <a:solidFill>
                  <a:srgbClr val="000000"/>
                </a:solidFill>
                <a:latin typeface="宋体" panose="02000500000000000000" pitchFamily="2" charset="-122"/>
                <a:cs typeface="宋体" panose="02000500000000000000" pitchFamily="2" charset="-122"/>
              </a:rPr>
              <a:t>MUL1</a:t>
            </a:r>
            <a:r>
              <a:rPr lang="zh-CN" altLang="zh-CN" sz="1400" b="1" dirty="0">
                <a:solidFill>
                  <a:srgbClr val="000000"/>
                </a:solidFill>
                <a:latin typeface="宋体" panose="02000500000000000000" pitchFamily="2" charset="-122"/>
                <a:cs typeface="宋体" panose="02000500000000000000" pitchFamily="2" charset="-122"/>
              </a:rPr>
              <a:t>发射，</a:t>
            </a:r>
            <a:r>
              <a:rPr lang="en-US" altLang="zh-CN" sz="1400" b="1" dirty="0">
                <a:solidFill>
                  <a:srgbClr val="000000"/>
                </a:solidFill>
                <a:latin typeface="宋体" panose="02000500000000000000" pitchFamily="2" charset="-122"/>
                <a:cs typeface="宋体" panose="02000500000000000000" pitchFamily="2" charset="-122"/>
              </a:rPr>
              <a:t>F0</a:t>
            </a:r>
            <a:r>
              <a:rPr lang="zh-CN" altLang="zh-CN" sz="1400" b="1" dirty="0">
                <a:solidFill>
                  <a:srgbClr val="000000"/>
                </a:solidFill>
                <a:latin typeface="宋体" panose="02000500000000000000" pitchFamily="2" charset="-122"/>
                <a:cs typeface="宋体" panose="02000500000000000000" pitchFamily="2" charset="-122"/>
              </a:rPr>
              <a:t>等待3号保留站的结果</a:t>
            </a:r>
            <a:endParaRPr lang="zh-CN" altLang="zh-CN" sz="1400" b="1" dirty="0">
              <a:solidFill>
                <a:srgbClr val="000000"/>
              </a:solidFill>
              <a:latin typeface="宋体" panose="02000500000000000000" pitchFamily="2" charset="-122"/>
              <a:cs typeface="宋体" panose="02000500000000000000" pitchFamily="2" charset="-122"/>
            </a:endParaRPr>
          </a:p>
          <a:p>
            <a:pPr>
              <a:lnSpc>
                <a:spcPct val="150000"/>
              </a:lnSpc>
              <a:buChar char="•"/>
            </a:pPr>
            <a:r>
              <a:rPr lang="en-US" altLang="zh-CN" sz="1400" b="1" dirty="0">
                <a:solidFill>
                  <a:srgbClr val="000000"/>
                </a:solidFill>
                <a:latin typeface="宋体" panose="02000500000000000000" pitchFamily="2" charset="-122"/>
                <a:cs typeface="宋体" panose="02000500000000000000" pitchFamily="2" charset="-122"/>
              </a:rPr>
              <a:t>ADD</a:t>
            </a:r>
            <a:r>
              <a:rPr lang="zh-CN" altLang="zh-CN" sz="1400" b="1" dirty="0">
                <a:solidFill>
                  <a:srgbClr val="000000"/>
                </a:solidFill>
                <a:latin typeface="宋体" panose="02000500000000000000" pitchFamily="2" charset="-122"/>
                <a:cs typeface="宋体" panose="02000500000000000000" pitchFamily="2" charset="-122"/>
              </a:rPr>
              <a:t>发射，</a:t>
            </a:r>
            <a:r>
              <a:rPr lang="en-US" altLang="zh-CN" sz="1400" b="1" dirty="0">
                <a:solidFill>
                  <a:srgbClr val="000000"/>
                </a:solidFill>
                <a:latin typeface="宋体" panose="02000500000000000000" pitchFamily="2" charset="-122"/>
                <a:cs typeface="宋体" panose="02000500000000000000" pitchFamily="2" charset="-122"/>
              </a:rPr>
              <a:t>F1, F2</a:t>
            </a:r>
            <a:r>
              <a:rPr lang="zh-CN" altLang="zh-CN" sz="1400" b="1" dirty="0">
                <a:solidFill>
                  <a:srgbClr val="000000"/>
                </a:solidFill>
                <a:latin typeface="宋体" panose="02000500000000000000" pitchFamily="2" charset="-122"/>
                <a:cs typeface="宋体" panose="02000500000000000000" pitchFamily="2" charset="-122"/>
              </a:rPr>
              <a:t>都准备好</a:t>
            </a:r>
            <a:endParaRPr lang="zh-CN" altLang="zh-CN" sz="1400" b="1" dirty="0">
              <a:solidFill>
                <a:srgbClr val="FF0000"/>
              </a:solidFill>
              <a:latin typeface="宋体" panose="02000500000000000000" pitchFamily="2" charset="-122"/>
              <a:cs typeface="宋体" panose="02000500000000000000" pitchFamily="2" charset="-122"/>
            </a:endParaRPr>
          </a:p>
          <a:p>
            <a:pPr>
              <a:lnSpc>
                <a:spcPct val="150000"/>
              </a:lnSpc>
              <a:buChar char="•"/>
            </a:pPr>
            <a:r>
              <a:rPr lang="en-US" altLang="zh-CN" sz="1400" b="1" dirty="0">
                <a:solidFill>
                  <a:srgbClr val="000000"/>
                </a:solidFill>
                <a:latin typeface="宋体" panose="02000500000000000000" pitchFamily="2" charset="-122"/>
                <a:cs typeface="宋体" panose="02000500000000000000" pitchFamily="2" charset="-122"/>
              </a:rPr>
              <a:t>MUL2</a:t>
            </a:r>
            <a:r>
              <a:rPr lang="zh-CN" altLang="zh-CN" sz="1400" b="1" dirty="0">
                <a:solidFill>
                  <a:srgbClr val="000000"/>
                </a:solidFill>
                <a:latin typeface="宋体" panose="02000500000000000000" pitchFamily="2" charset="-122"/>
                <a:cs typeface="宋体" panose="02000500000000000000" pitchFamily="2" charset="-122"/>
              </a:rPr>
              <a:t>发射，</a:t>
            </a:r>
            <a:r>
              <a:rPr lang="en-US" altLang="zh-CN" sz="1400" b="1" dirty="0">
                <a:solidFill>
                  <a:srgbClr val="000000"/>
                </a:solidFill>
                <a:latin typeface="宋体" panose="02000500000000000000" pitchFamily="2" charset="-122"/>
                <a:cs typeface="宋体" panose="02000500000000000000" pitchFamily="2" charset="-122"/>
              </a:rPr>
              <a:t>F0</a:t>
            </a:r>
            <a:r>
              <a:rPr lang="zh-CN" altLang="zh-CN" sz="1400" b="1" dirty="0">
                <a:solidFill>
                  <a:srgbClr val="000000"/>
                </a:solidFill>
                <a:latin typeface="宋体" panose="02000500000000000000" pitchFamily="2" charset="-122"/>
                <a:cs typeface="宋体" panose="02000500000000000000" pitchFamily="2" charset="-122"/>
              </a:rPr>
              <a:t>等待6号保留站的结果</a:t>
            </a:r>
            <a:endParaRPr lang="zh-CN" altLang="zh-CN" sz="1400" b="1" dirty="0">
              <a:solidFill>
                <a:srgbClr val="FF0000"/>
              </a:solidFill>
              <a:latin typeface="宋体" panose="02000500000000000000" pitchFamily="2" charset="-122"/>
              <a:cs typeface="宋体" panose="02000500000000000000" pitchFamily="2" charset="-122"/>
            </a:endParaRPr>
          </a:p>
          <a:p>
            <a:pPr>
              <a:lnSpc>
                <a:spcPct val="150000"/>
              </a:lnSpc>
              <a:buChar char="•"/>
            </a:pPr>
            <a:r>
              <a:rPr lang="en-US" altLang="zh-CN" sz="1400" b="1" dirty="0">
                <a:solidFill>
                  <a:srgbClr val="FF0000"/>
                </a:solidFill>
                <a:latin typeface="宋体" panose="02000500000000000000" pitchFamily="2" charset="-122"/>
                <a:cs typeface="宋体" panose="02000500000000000000" pitchFamily="2" charset="-122"/>
              </a:rPr>
              <a:t>ADD</a:t>
            </a:r>
            <a:r>
              <a:rPr lang="zh-CN" altLang="zh-CN" sz="1400" b="1" dirty="0">
                <a:solidFill>
                  <a:srgbClr val="FF0000"/>
                </a:solidFill>
                <a:latin typeface="宋体" panose="02000500000000000000" pitchFamily="2" charset="-122"/>
                <a:cs typeface="宋体" panose="02000500000000000000" pitchFamily="2" charset="-122"/>
              </a:rPr>
              <a:t>写回</a:t>
            </a:r>
            <a:endParaRPr lang="zh-CN" altLang="zh-CN" sz="1400" b="1" dirty="0">
              <a:solidFill>
                <a:srgbClr val="000000"/>
              </a:solidFill>
              <a:latin typeface="宋体" panose="02000500000000000000" pitchFamily="2" charset="-122"/>
              <a:cs typeface="宋体" panose="02000500000000000000" pitchFamily="2" charset="-122"/>
            </a:endParaRPr>
          </a:p>
          <a:p>
            <a:pPr>
              <a:buChar char="•"/>
            </a:pPr>
            <a:endParaRPr lang="en-US" altLang="zh-CN" sz="1400" b="1" dirty="0">
              <a:solidFill>
                <a:srgbClr val="FF0000"/>
              </a:solidFill>
              <a:latin typeface="宋体" panose="02000500000000000000" pitchFamily="2" charset="-122"/>
              <a:cs typeface="宋体" panose="02000500000000000000" pitchFamily="2"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914400" y="80645"/>
            <a:ext cx="10361613" cy="1143000"/>
          </a:xfrm>
        </p:spPr>
        <p:txBody>
          <a:bodyPr/>
          <a:p>
            <a:r>
              <a:rPr lang="zh-CN" altLang="en-US"/>
              <a:t>例子</a:t>
            </a:r>
            <a:endParaRPr lang="zh-CN" altLang="en-US"/>
          </a:p>
        </p:txBody>
      </p:sp>
      <p:grpSp>
        <p:nvGrpSpPr>
          <p:cNvPr id="6" name="组合 5"/>
          <p:cNvGrpSpPr/>
          <p:nvPr/>
        </p:nvGrpSpPr>
        <p:grpSpPr>
          <a:xfrm>
            <a:off x="4485005" y="1449705"/>
            <a:ext cx="7679690" cy="3862070"/>
            <a:chOff x="7063" y="2283"/>
            <a:chExt cx="12094" cy="6082"/>
          </a:xfrm>
        </p:grpSpPr>
        <p:sp>
          <p:nvSpPr>
            <p:cNvPr id="31751" name="Line 52"/>
            <p:cNvSpPr/>
            <p:nvPr/>
          </p:nvSpPr>
          <p:spPr>
            <a:xfrm flipV="1">
              <a:off x="11639" y="3333"/>
              <a:ext cx="0" cy="528"/>
            </a:xfrm>
            <a:prstGeom prst="line">
              <a:avLst/>
            </a:prstGeom>
            <a:ln w="9525" cap="flat" cmpd="sng">
              <a:solidFill>
                <a:schemeClr val="tx1"/>
              </a:solidFill>
              <a:prstDash val="solid"/>
              <a:round/>
              <a:headEnd type="none" w="med" len="med"/>
              <a:tailEnd type="triangle" w="med" len="med"/>
            </a:ln>
          </p:spPr>
        </p:sp>
        <p:sp>
          <p:nvSpPr>
            <p:cNvPr id="31752" name="Line 53"/>
            <p:cNvSpPr/>
            <p:nvPr/>
          </p:nvSpPr>
          <p:spPr>
            <a:xfrm flipV="1">
              <a:off x="13025" y="3333"/>
              <a:ext cx="0" cy="528"/>
            </a:xfrm>
            <a:prstGeom prst="line">
              <a:avLst/>
            </a:prstGeom>
            <a:ln w="9525" cap="flat" cmpd="sng">
              <a:solidFill>
                <a:schemeClr val="tx1"/>
              </a:solidFill>
              <a:prstDash val="solid"/>
              <a:round/>
              <a:headEnd type="none" w="med" len="med"/>
              <a:tailEnd type="triangle" w="med" len="med"/>
            </a:ln>
          </p:spPr>
        </p:sp>
        <p:sp>
          <p:nvSpPr>
            <p:cNvPr id="31753" name="Line 54"/>
            <p:cNvSpPr/>
            <p:nvPr/>
          </p:nvSpPr>
          <p:spPr>
            <a:xfrm flipV="1">
              <a:off x="16305" y="3313"/>
              <a:ext cx="0" cy="528"/>
            </a:xfrm>
            <a:prstGeom prst="line">
              <a:avLst/>
            </a:prstGeom>
            <a:ln w="9525" cap="flat" cmpd="sng">
              <a:solidFill>
                <a:schemeClr val="tx1"/>
              </a:solidFill>
              <a:prstDash val="solid"/>
              <a:round/>
              <a:headEnd type="none" w="med" len="med"/>
              <a:tailEnd type="triangle" w="med" len="med"/>
            </a:ln>
          </p:spPr>
        </p:sp>
        <p:sp>
          <p:nvSpPr>
            <p:cNvPr id="31754" name="Line 55"/>
            <p:cNvSpPr/>
            <p:nvPr/>
          </p:nvSpPr>
          <p:spPr>
            <a:xfrm flipV="1">
              <a:off x="17798" y="3293"/>
              <a:ext cx="0" cy="528"/>
            </a:xfrm>
            <a:prstGeom prst="line">
              <a:avLst/>
            </a:prstGeom>
            <a:ln w="9525" cap="flat" cmpd="sng">
              <a:solidFill>
                <a:schemeClr val="tx1"/>
              </a:solidFill>
              <a:prstDash val="solid"/>
              <a:round/>
              <a:headEnd type="none" w="med" len="med"/>
              <a:tailEnd type="triangle" w="med" len="med"/>
            </a:ln>
          </p:spPr>
        </p:sp>
        <p:sp>
          <p:nvSpPr>
            <p:cNvPr id="31755" name="Line 56"/>
            <p:cNvSpPr/>
            <p:nvPr/>
          </p:nvSpPr>
          <p:spPr>
            <a:xfrm flipV="1">
              <a:off x="12815" y="7393"/>
              <a:ext cx="0" cy="973"/>
            </a:xfrm>
            <a:prstGeom prst="line">
              <a:avLst/>
            </a:prstGeom>
            <a:ln w="19050" cap="flat" cmpd="sng">
              <a:solidFill>
                <a:schemeClr val="tx1"/>
              </a:solidFill>
              <a:prstDash val="solid"/>
              <a:round/>
              <a:headEnd type="none" w="med" len="med"/>
              <a:tailEnd type="triangle" w="med" len="med"/>
            </a:ln>
          </p:spPr>
        </p:sp>
        <p:sp>
          <p:nvSpPr>
            <p:cNvPr id="31756" name="Line 57"/>
            <p:cNvSpPr/>
            <p:nvPr/>
          </p:nvSpPr>
          <p:spPr>
            <a:xfrm flipV="1">
              <a:off x="12275" y="4795"/>
              <a:ext cx="0" cy="390"/>
            </a:xfrm>
            <a:prstGeom prst="line">
              <a:avLst/>
            </a:prstGeom>
            <a:ln w="19050" cap="flat" cmpd="sng">
              <a:solidFill>
                <a:schemeClr val="tx1"/>
              </a:solidFill>
              <a:prstDash val="solid"/>
              <a:round/>
              <a:headEnd type="none" w="med" len="med"/>
              <a:tailEnd type="triangle" w="med" len="med"/>
            </a:ln>
          </p:spPr>
        </p:sp>
        <p:sp>
          <p:nvSpPr>
            <p:cNvPr id="31757" name="Line 58"/>
            <p:cNvSpPr/>
            <p:nvPr/>
          </p:nvSpPr>
          <p:spPr>
            <a:xfrm flipV="1">
              <a:off x="16989" y="4783"/>
              <a:ext cx="0" cy="410"/>
            </a:xfrm>
            <a:prstGeom prst="line">
              <a:avLst/>
            </a:prstGeom>
            <a:ln w="19050" cap="flat" cmpd="sng">
              <a:solidFill>
                <a:schemeClr val="tx1"/>
              </a:solidFill>
              <a:prstDash val="solid"/>
              <a:round/>
              <a:headEnd type="none" w="med" len="med"/>
              <a:tailEnd type="triangle" w="med" len="med"/>
            </a:ln>
          </p:spPr>
        </p:sp>
        <p:sp>
          <p:nvSpPr>
            <p:cNvPr id="31758" name="Line 59"/>
            <p:cNvSpPr/>
            <p:nvPr/>
          </p:nvSpPr>
          <p:spPr>
            <a:xfrm flipV="1">
              <a:off x="17029" y="2283"/>
              <a:ext cx="0" cy="583"/>
            </a:xfrm>
            <a:prstGeom prst="line">
              <a:avLst/>
            </a:prstGeom>
            <a:ln w="19050" cap="flat" cmpd="sng">
              <a:solidFill>
                <a:srgbClr val="FF0000"/>
              </a:solidFill>
              <a:prstDash val="solid"/>
              <a:round/>
              <a:headEnd type="none" w="med" len="med"/>
              <a:tailEnd type="triangle" w="med" len="med"/>
            </a:ln>
          </p:spPr>
        </p:sp>
        <p:sp>
          <p:nvSpPr>
            <p:cNvPr id="31759" name="Line 60"/>
            <p:cNvSpPr/>
            <p:nvPr/>
          </p:nvSpPr>
          <p:spPr>
            <a:xfrm flipV="1">
              <a:off x="12412" y="2310"/>
              <a:ext cx="0" cy="583"/>
            </a:xfrm>
            <a:prstGeom prst="line">
              <a:avLst/>
            </a:prstGeom>
            <a:ln w="19050" cap="flat" cmpd="sng">
              <a:solidFill>
                <a:schemeClr val="tx1"/>
              </a:solidFill>
              <a:prstDash val="solid"/>
              <a:round/>
              <a:headEnd type="none" w="med" len="med"/>
              <a:tailEnd type="triangle" w="med" len="med"/>
            </a:ln>
          </p:spPr>
        </p:sp>
        <p:sp>
          <p:nvSpPr>
            <p:cNvPr id="31760" name="Line 61"/>
            <p:cNvSpPr/>
            <p:nvPr/>
          </p:nvSpPr>
          <p:spPr>
            <a:xfrm>
              <a:off x="8119" y="2300"/>
              <a:ext cx="11039" cy="0"/>
            </a:xfrm>
            <a:prstGeom prst="line">
              <a:avLst/>
            </a:prstGeom>
            <a:ln w="19050" cap="flat" cmpd="sng">
              <a:solidFill>
                <a:srgbClr val="FF0000"/>
              </a:solidFill>
              <a:prstDash val="solid"/>
              <a:round/>
              <a:headEnd type="none" w="med" len="med"/>
              <a:tailEnd type="none" w="med" len="med"/>
            </a:ln>
          </p:spPr>
        </p:sp>
        <p:sp>
          <p:nvSpPr>
            <p:cNvPr id="31761" name="Line 62"/>
            <p:cNvSpPr/>
            <p:nvPr/>
          </p:nvSpPr>
          <p:spPr>
            <a:xfrm flipV="1">
              <a:off x="11276" y="4780"/>
              <a:ext cx="0" cy="818"/>
            </a:xfrm>
            <a:prstGeom prst="line">
              <a:avLst/>
            </a:prstGeom>
            <a:ln w="19050" cap="flat" cmpd="sng">
              <a:solidFill>
                <a:srgbClr val="FF0000"/>
              </a:solidFill>
              <a:prstDash val="solid"/>
              <a:round/>
              <a:headEnd type="none" w="med" len="med"/>
              <a:tailEnd type="triangle" w="med" len="med"/>
            </a:ln>
          </p:spPr>
        </p:sp>
        <p:sp>
          <p:nvSpPr>
            <p:cNvPr id="31762" name="Line 63"/>
            <p:cNvSpPr/>
            <p:nvPr/>
          </p:nvSpPr>
          <p:spPr>
            <a:xfrm flipV="1">
              <a:off x="17752" y="4768"/>
              <a:ext cx="0" cy="818"/>
            </a:xfrm>
            <a:prstGeom prst="line">
              <a:avLst/>
            </a:prstGeom>
            <a:ln w="19050" cap="flat" cmpd="sng">
              <a:solidFill>
                <a:srgbClr val="FF0000"/>
              </a:solidFill>
              <a:prstDash val="solid"/>
              <a:round/>
              <a:headEnd type="none" w="med" len="med"/>
              <a:tailEnd type="triangle" w="med" len="med"/>
            </a:ln>
          </p:spPr>
        </p:sp>
        <p:sp>
          <p:nvSpPr>
            <p:cNvPr id="31763" name="Line 64"/>
            <p:cNvSpPr/>
            <p:nvPr/>
          </p:nvSpPr>
          <p:spPr>
            <a:xfrm>
              <a:off x="19135" y="2300"/>
              <a:ext cx="0" cy="5455"/>
            </a:xfrm>
            <a:prstGeom prst="line">
              <a:avLst/>
            </a:prstGeom>
            <a:ln w="19050" cap="flat" cmpd="sng">
              <a:solidFill>
                <a:srgbClr val="FF0000"/>
              </a:solidFill>
              <a:prstDash val="solid"/>
              <a:round/>
              <a:headEnd type="none" w="med" len="med"/>
              <a:tailEnd type="none" w="med" len="med"/>
            </a:ln>
          </p:spPr>
        </p:sp>
        <p:sp>
          <p:nvSpPr>
            <p:cNvPr id="31764" name="Line 65"/>
            <p:cNvSpPr/>
            <p:nvPr/>
          </p:nvSpPr>
          <p:spPr>
            <a:xfrm flipV="1">
              <a:off x="12779" y="5150"/>
              <a:ext cx="0" cy="915"/>
            </a:xfrm>
            <a:prstGeom prst="line">
              <a:avLst/>
            </a:prstGeom>
            <a:ln w="19050" cap="flat" cmpd="sng">
              <a:solidFill>
                <a:schemeClr val="tx1"/>
              </a:solidFill>
              <a:prstDash val="solid"/>
              <a:round/>
              <a:headEnd type="none" w="med" len="med"/>
              <a:tailEnd type="triangle" w="med" len="med"/>
            </a:ln>
          </p:spPr>
        </p:sp>
        <p:sp>
          <p:nvSpPr>
            <p:cNvPr id="31765" name="Text Box 66"/>
            <p:cNvSpPr txBox="1"/>
            <p:nvPr/>
          </p:nvSpPr>
          <p:spPr>
            <a:xfrm>
              <a:off x="9896" y="3538"/>
              <a:ext cx="1637" cy="29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加法保留站</a:t>
              </a:r>
              <a:endParaRPr lang="zh-CN" altLang="en-US" sz="1200" b="1" dirty="0">
                <a:latin typeface="Times New Roman" pitchFamily="18" charset="0"/>
                <a:ea typeface="宋体" panose="02000500000000000000" pitchFamily="2" charset="-122"/>
              </a:endParaRPr>
            </a:p>
          </p:txBody>
        </p:sp>
        <p:sp>
          <p:nvSpPr>
            <p:cNvPr id="31766" name="Text Box 67"/>
            <p:cNvSpPr txBox="1"/>
            <p:nvPr/>
          </p:nvSpPr>
          <p:spPr>
            <a:xfrm>
              <a:off x="10906" y="5788"/>
              <a:ext cx="1717" cy="290"/>
            </a:xfrm>
            <a:prstGeom prst="rect">
              <a:avLst/>
            </a:prstGeom>
            <a:noFill/>
            <a:ln w="9525">
              <a:noFill/>
            </a:ln>
            <a:extLst>
              <a:ext uri="{909E8E84-426E-40DD-AFC4-6F175D3DCCD1}">
                <a14:hiddenFill xmlns:a14="http://schemas.microsoft.com/office/drawing/2010/main">
                  <a:solidFill>
                    <a:schemeClr val="bg1"/>
                  </a:solidFill>
                </a14:hiddenFill>
              </a:ext>
            </a:extLst>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浮点寄存器</a:t>
              </a:r>
              <a:endParaRPr lang="zh-CN" altLang="en-US" sz="1200" b="1" dirty="0">
                <a:latin typeface="Times New Roman" pitchFamily="18" charset="0"/>
                <a:ea typeface="宋体" panose="02000500000000000000" pitchFamily="2" charset="-122"/>
              </a:endParaRPr>
            </a:p>
          </p:txBody>
        </p:sp>
        <p:sp>
          <p:nvSpPr>
            <p:cNvPr id="31767" name="Text Box 68"/>
            <p:cNvSpPr txBox="1"/>
            <p:nvPr/>
          </p:nvSpPr>
          <p:spPr>
            <a:xfrm>
              <a:off x="14629" y="3520"/>
              <a:ext cx="1637" cy="29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乘法保留站</a:t>
              </a:r>
              <a:endParaRPr lang="zh-CN" altLang="en-US" sz="1200" b="1" dirty="0">
                <a:latin typeface="Times New Roman" pitchFamily="18" charset="0"/>
                <a:ea typeface="宋体" panose="02000500000000000000" pitchFamily="2" charset="-122"/>
              </a:endParaRPr>
            </a:p>
          </p:txBody>
        </p:sp>
        <p:sp>
          <p:nvSpPr>
            <p:cNvPr id="31768" name="Line 69"/>
            <p:cNvSpPr/>
            <p:nvPr/>
          </p:nvSpPr>
          <p:spPr>
            <a:xfrm>
              <a:off x="13835" y="7755"/>
              <a:ext cx="5323" cy="0"/>
            </a:xfrm>
            <a:prstGeom prst="line">
              <a:avLst/>
            </a:prstGeom>
            <a:ln w="19050" cap="flat" cmpd="sng">
              <a:solidFill>
                <a:srgbClr val="FF0000"/>
              </a:solidFill>
              <a:prstDash val="solid"/>
              <a:round/>
              <a:headEnd type="none" w="med" len="med"/>
              <a:tailEnd type="none" w="med" len="med"/>
            </a:ln>
          </p:spPr>
        </p:sp>
        <p:sp>
          <p:nvSpPr>
            <p:cNvPr id="31769" name="Line 70"/>
            <p:cNvSpPr/>
            <p:nvPr/>
          </p:nvSpPr>
          <p:spPr>
            <a:xfrm flipV="1">
              <a:off x="13835" y="7348"/>
              <a:ext cx="3" cy="410"/>
            </a:xfrm>
            <a:prstGeom prst="line">
              <a:avLst/>
            </a:prstGeom>
            <a:ln w="19050" cap="flat" cmpd="sng">
              <a:solidFill>
                <a:srgbClr val="FF0000"/>
              </a:solidFill>
              <a:prstDash val="solid"/>
              <a:round/>
              <a:headEnd type="none" w="med" len="med"/>
              <a:tailEnd type="triangle" w="med" len="med"/>
            </a:ln>
          </p:spPr>
        </p:sp>
        <p:grpSp>
          <p:nvGrpSpPr>
            <p:cNvPr id="31772" name="Group 73"/>
            <p:cNvGrpSpPr/>
            <p:nvPr/>
          </p:nvGrpSpPr>
          <p:grpSpPr>
            <a:xfrm rot="0">
              <a:off x="7063" y="2295"/>
              <a:ext cx="12093" cy="3273"/>
              <a:chOff x="1701" y="512"/>
              <a:chExt cx="3628" cy="1309"/>
            </a:xfrm>
          </p:grpSpPr>
          <p:sp>
            <p:nvSpPr>
              <p:cNvPr id="31773" name="Line 74"/>
              <p:cNvSpPr/>
              <p:nvPr/>
            </p:nvSpPr>
            <p:spPr>
              <a:xfrm flipV="1">
                <a:off x="2154" y="1661"/>
                <a:ext cx="2518" cy="0"/>
              </a:xfrm>
              <a:prstGeom prst="line">
                <a:avLst/>
              </a:prstGeom>
              <a:ln w="19050" cap="flat" cmpd="sng">
                <a:solidFill>
                  <a:schemeClr val="tx1"/>
                </a:solidFill>
                <a:prstDash val="solid"/>
                <a:round/>
                <a:headEnd type="none" w="med" len="med"/>
                <a:tailEnd type="none" w="med" len="med"/>
              </a:ln>
            </p:spPr>
          </p:sp>
          <p:sp>
            <p:nvSpPr>
              <p:cNvPr id="31774" name="Line 75"/>
              <p:cNvSpPr/>
              <p:nvPr/>
            </p:nvSpPr>
            <p:spPr>
              <a:xfrm flipV="1">
                <a:off x="1949" y="1820"/>
                <a:ext cx="3380" cy="0"/>
              </a:xfrm>
              <a:prstGeom prst="line">
                <a:avLst/>
              </a:prstGeom>
              <a:ln w="19050" cap="flat" cmpd="sng">
                <a:solidFill>
                  <a:srgbClr val="FF0000"/>
                </a:solidFill>
                <a:prstDash val="solid"/>
                <a:round/>
                <a:headEnd type="none" w="med" len="med"/>
                <a:tailEnd type="none" w="med" len="med"/>
              </a:ln>
            </p:spPr>
          </p:sp>
          <p:grpSp>
            <p:nvGrpSpPr>
              <p:cNvPr id="31775" name="Group 76"/>
              <p:cNvGrpSpPr/>
              <p:nvPr/>
            </p:nvGrpSpPr>
            <p:grpSpPr>
              <a:xfrm>
                <a:off x="1701" y="512"/>
                <a:ext cx="3494" cy="1309"/>
                <a:chOff x="1701" y="512"/>
                <a:chExt cx="3494" cy="1309"/>
              </a:xfrm>
            </p:grpSpPr>
            <p:grpSp>
              <p:nvGrpSpPr>
                <p:cNvPr id="31776" name="Group 77"/>
                <p:cNvGrpSpPr/>
                <p:nvPr/>
              </p:nvGrpSpPr>
              <p:grpSpPr>
                <a:xfrm>
                  <a:off x="1950" y="512"/>
                  <a:ext cx="204" cy="1309"/>
                  <a:chOff x="1950" y="512"/>
                  <a:chExt cx="204" cy="1309"/>
                </a:xfrm>
              </p:grpSpPr>
              <p:sp>
                <p:nvSpPr>
                  <p:cNvPr id="31777" name="Line 78"/>
                  <p:cNvSpPr/>
                  <p:nvPr/>
                </p:nvSpPr>
                <p:spPr>
                  <a:xfrm flipV="1">
                    <a:off x="2022" y="512"/>
                    <a:ext cx="0" cy="233"/>
                  </a:xfrm>
                  <a:prstGeom prst="line">
                    <a:avLst/>
                  </a:prstGeom>
                  <a:ln w="19050" cap="flat" cmpd="sng">
                    <a:solidFill>
                      <a:schemeClr val="tx1"/>
                    </a:solidFill>
                    <a:prstDash val="solid"/>
                    <a:round/>
                    <a:headEnd type="none" w="med" len="med"/>
                    <a:tailEnd type="triangle" w="med" len="med"/>
                  </a:ln>
                </p:spPr>
              </p:sp>
              <p:sp>
                <p:nvSpPr>
                  <p:cNvPr id="31778" name="Line 79"/>
                  <p:cNvSpPr/>
                  <p:nvPr/>
                </p:nvSpPr>
                <p:spPr>
                  <a:xfrm flipV="1">
                    <a:off x="1950" y="1502"/>
                    <a:ext cx="0" cy="319"/>
                  </a:xfrm>
                  <a:prstGeom prst="line">
                    <a:avLst/>
                  </a:prstGeom>
                  <a:ln w="19050" cap="flat" cmpd="sng">
                    <a:solidFill>
                      <a:srgbClr val="FF0000"/>
                    </a:solidFill>
                    <a:prstDash val="solid"/>
                    <a:round/>
                    <a:headEnd type="none" w="med" len="med"/>
                    <a:tailEnd type="triangle" w="med" len="med"/>
                  </a:ln>
                </p:spPr>
              </p:sp>
              <p:sp>
                <p:nvSpPr>
                  <p:cNvPr id="31779" name="Line 80"/>
                  <p:cNvSpPr/>
                  <p:nvPr/>
                </p:nvSpPr>
                <p:spPr>
                  <a:xfrm flipV="1">
                    <a:off x="2154" y="1508"/>
                    <a:ext cx="0" cy="156"/>
                  </a:xfrm>
                  <a:prstGeom prst="line">
                    <a:avLst/>
                  </a:prstGeom>
                  <a:ln w="19050" cap="flat" cmpd="sng">
                    <a:solidFill>
                      <a:schemeClr val="tx1"/>
                    </a:solidFill>
                    <a:prstDash val="solid"/>
                    <a:round/>
                    <a:headEnd type="none" w="med" len="med"/>
                    <a:tailEnd type="triangle" w="med" len="med"/>
                  </a:ln>
                </p:spPr>
              </p:sp>
            </p:grpSp>
            <p:sp>
              <p:nvSpPr>
                <p:cNvPr id="31780" name="Text Box 81"/>
                <p:cNvSpPr txBox="1"/>
                <p:nvPr/>
              </p:nvSpPr>
              <p:spPr>
                <a:xfrm>
                  <a:off x="2777" y="750"/>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浮点加</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减法器</a:t>
                  </a:r>
                  <a:endParaRPr lang="zh-CN" altLang="en-US" sz="1200" b="1" dirty="0">
                    <a:latin typeface="Times New Roman" pitchFamily="18" charset="0"/>
                    <a:ea typeface="宋体" panose="02000500000000000000" pitchFamily="2" charset="-122"/>
                  </a:endParaRPr>
                </a:p>
              </p:txBody>
            </p:sp>
            <p:sp>
              <p:nvSpPr>
                <p:cNvPr id="31781" name="Text Box 82"/>
                <p:cNvSpPr txBox="1"/>
                <p:nvPr/>
              </p:nvSpPr>
              <p:spPr>
                <a:xfrm>
                  <a:off x="4181" y="737"/>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浮点乘</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除法器</a:t>
                  </a:r>
                  <a:endParaRPr lang="zh-CN" altLang="en-US" sz="1200" b="1" dirty="0">
                    <a:latin typeface="Times New Roman" pitchFamily="18" charset="0"/>
                    <a:ea typeface="宋体" panose="02000500000000000000" pitchFamily="2" charset="-122"/>
                  </a:endParaRPr>
                </a:p>
              </p:txBody>
            </p:sp>
            <p:sp>
              <p:nvSpPr>
                <p:cNvPr id="31782" name="Text Box 83"/>
                <p:cNvSpPr txBox="1"/>
                <p:nvPr/>
              </p:nvSpPr>
              <p:spPr>
                <a:xfrm>
                  <a:off x="1701" y="731"/>
                  <a:ext cx="664" cy="771"/>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p>
                  <a:pPr algn="ctr">
                    <a:spcBef>
                      <a:spcPct val="50000"/>
                    </a:spcBef>
                  </a:pPr>
                  <a:endParaRPr lang="en-US" altLang="zh-CN" sz="1200"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定点</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访存</a:t>
                  </a:r>
                  <a:endParaRPr lang="zh-CN" altLang="en-US" sz="1200" b="1"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部件</a:t>
                  </a:r>
                  <a:endParaRPr lang="zh-CN" altLang="en-US" sz="1200" b="1" dirty="0">
                    <a:latin typeface="Times New Roman" pitchFamily="18" charset="0"/>
                    <a:ea typeface="宋体" panose="02000500000000000000" pitchFamily="2" charset="-122"/>
                  </a:endParaRPr>
                </a:p>
                <a:p>
                  <a:pPr algn="ctr">
                    <a:spcBef>
                      <a:spcPct val="50000"/>
                    </a:spcBef>
                  </a:pPr>
                  <a:endParaRPr lang="en-US" altLang="zh-CN" sz="1200" b="1" dirty="0">
                    <a:latin typeface="Times New Roman" pitchFamily="18" charset="0"/>
                    <a:ea typeface="宋体" panose="02000500000000000000" pitchFamily="2" charset="-122"/>
                  </a:endParaRPr>
                </a:p>
              </p:txBody>
            </p:sp>
          </p:grpSp>
        </p:grpSp>
        <p:sp>
          <p:nvSpPr>
            <p:cNvPr id="31783" name="Text Box 84"/>
            <p:cNvSpPr txBox="1"/>
            <p:nvPr/>
          </p:nvSpPr>
          <p:spPr>
            <a:xfrm>
              <a:off x="10992" y="7945"/>
              <a:ext cx="1623" cy="290"/>
            </a:xfrm>
            <a:prstGeom prst="rect">
              <a:avLst/>
            </a:prstGeom>
            <a:solidFill>
              <a:schemeClr val="bg1"/>
            </a:solid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指令队列</a:t>
              </a:r>
              <a:endParaRPr lang="zh-CN" altLang="en-US" sz="1200" b="1" dirty="0">
                <a:latin typeface="Times New Roman" pitchFamily="18" charset="0"/>
                <a:ea typeface="宋体" panose="02000500000000000000" pitchFamily="2" charset="-122"/>
              </a:endParaRPr>
            </a:p>
          </p:txBody>
        </p:sp>
      </p:grpSp>
      <p:graphicFrame>
        <p:nvGraphicFramePr>
          <p:cNvPr id="3" name="表格 2"/>
          <p:cNvGraphicFramePr/>
          <p:nvPr/>
        </p:nvGraphicFramePr>
        <p:xfrm>
          <a:off x="6799580" y="3837940"/>
          <a:ext cx="2342515" cy="863600"/>
        </p:xfrm>
        <a:graphic>
          <a:graphicData uri="http://schemas.openxmlformats.org/drawingml/2006/table">
            <a:tbl>
              <a:tblPr firstRow="1" bandRow="1">
                <a:tableStyleId>{5C22544A-7EE6-4342-B048-85BDC9FD1C3A}</a:tableStyleId>
              </a:tblPr>
              <a:tblGrid>
                <a:gridCol w="365125"/>
                <a:gridCol w="450850"/>
                <a:gridCol w="1526540"/>
              </a:tblGrid>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3.0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3.0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4" name="表格 3"/>
          <p:cNvGraphicFramePr/>
          <p:nvPr/>
        </p:nvGraphicFramePr>
        <p:xfrm>
          <a:off x="7167880" y="5311775"/>
          <a:ext cx="1930400" cy="1280160"/>
        </p:xfrm>
        <a:graphic>
          <a:graphicData uri="http://schemas.openxmlformats.org/drawingml/2006/table">
            <a:tbl>
              <a:tblPr firstRow="1" bandRow="1">
                <a:tableStyleId>{5C22544A-7EE6-4342-B048-85BDC9FD1C3A}</a:tableStyleId>
              </a:tblPr>
              <a:tblGrid>
                <a:gridCol w="1930400"/>
              </a:tblGrid>
              <a:tr h="213360">
                <a:tc>
                  <a:txBody>
                    <a:bodyPr/>
                    <a:p>
                      <a:pPr indent="0">
                        <a:buNone/>
                      </a:pPr>
                      <a:r>
                        <a:rPr lang="en-US" sz="1200" b="1">
                          <a:solidFill>
                            <a:schemeClr val="tx1"/>
                          </a:solidFill>
                          <a:latin typeface="宋体" panose="02000500000000000000" pitchFamily="2" charset="-122"/>
                          <a:ea typeface="宋体" panose="02000500000000000000" pitchFamily="2" charset="-122"/>
                        </a:rPr>
                        <a:t>FDIV.D  </a:t>
                      </a:r>
                      <a:r>
                        <a:rPr lang="en-US" sz="1200" b="1">
                          <a:solidFill>
                            <a:srgbClr val="FF0000"/>
                          </a:solidFill>
                          <a:latin typeface="宋体" panose="02000500000000000000" pitchFamily="2" charset="-122"/>
                          <a:ea typeface="宋体" panose="02000500000000000000" pitchFamily="2" charset="-122"/>
                        </a:rPr>
                        <a:t>F0</a:t>
                      </a:r>
                      <a:r>
                        <a:rPr lang="en-US" sz="1200" b="1">
                          <a:solidFill>
                            <a:schemeClr val="tx1"/>
                          </a:solidFill>
                          <a:latin typeface="宋体" panose="02000500000000000000" pitchFamily="2" charset="-122"/>
                          <a:ea typeface="宋体" panose="02000500000000000000" pitchFamily="2" charset="-122"/>
                        </a:rPr>
                        <a:t>, F1, F2</a:t>
                      </a:r>
                      <a:endParaRPr lang="en-US" altLang="en-US" sz="1200" b="1">
                        <a:solidFill>
                          <a:schemeClr val="tx1"/>
                        </a:solidFill>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FADD.D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F1,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5" name="表格 4"/>
          <p:cNvGraphicFramePr/>
          <p:nvPr/>
        </p:nvGraphicFramePr>
        <p:xfrm>
          <a:off x="9544050" y="243586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latin typeface="宋体" panose="02000500000000000000" pitchFamily="2" charset="-122"/>
                          <a:ea typeface="宋体" panose="02000500000000000000" pitchFamily="2" charset="-122"/>
                        </a:rPr>
                        <a:t>fmul</a:t>
                      </a:r>
                      <a:endParaRPr lang="en-US" altLang="zh-CN" sz="1200" b="1">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0</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0.5</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latin typeface="宋体" panose="02000500000000000000" pitchFamily="2" charset="-122"/>
                          <a:ea typeface="宋体" panose="02000500000000000000" pitchFamily="2" charset="-122"/>
                        </a:rPr>
                        <a:t>0</a:t>
                      </a:r>
                      <a:endParaRPr lang="en-US" altLang="zh-CN" sz="1200" b="1">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latin typeface="宋体" panose="02000500000000000000" pitchFamily="2" charset="-122"/>
                          <a:ea typeface="宋体" panose="02000500000000000000" pitchFamily="2" charset="-122"/>
                        </a:rPr>
                        <a:t>2.0</a:t>
                      </a:r>
                      <a:endParaRPr lang="en-US" altLang="zh-CN" sz="1200" b="1">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fmul</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3.0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7" name="表格 6"/>
          <p:cNvGraphicFramePr/>
          <p:nvPr/>
        </p:nvGraphicFramePr>
        <p:xfrm>
          <a:off x="6577330" y="245618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6</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5</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4</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sp>
        <p:nvSpPr>
          <p:cNvPr id="39960" name="Text Box 37"/>
          <p:cNvSpPr txBox="1"/>
          <p:nvPr/>
        </p:nvSpPr>
        <p:spPr>
          <a:xfrm>
            <a:off x="649288" y="3917950"/>
            <a:ext cx="5046662" cy="2245360"/>
          </a:xfrm>
          <a:prstGeom prst="rect">
            <a:avLst/>
          </a:prstGeom>
          <a:noFill/>
          <a:ln w="9525">
            <a:noFill/>
          </a:ln>
        </p:spPr>
        <p:txBody>
          <a:bodyPr anchor="t" anchorCtr="0">
            <a:spAutoFit/>
          </a:bodyPr>
          <a:p>
            <a:pPr>
              <a:lnSpc>
                <a:spcPct val="150000"/>
              </a:lnSpc>
              <a:buChar char="•"/>
            </a:pPr>
            <a:r>
              <a:rPr lang="en-US" altLang="zh-CN" sz="1400" b="1" dirty="0">
                <a:solidFill>
                  <a:srgbClr val="000000"/>
                </a:solidFill>
                <a:latin typeface="宋体" panose="02000500000000000000" pitchFamily="2" charset="-122"/>
                <a:cs typeface="宋体" panose="02000500000000000000" pitchFamily="2" charset="-122"/>
              </a:rPr>
              <a:t>DIV</a:t>
            </a:r>
            <a:r>
              <a:rPr lang="zh-CN" altLang="zh-CN" sz="1400" b="1" dirty="0">
                <a:solidFill>
                  <a:srgbClr val="000000"/>
                </a:solidFill>
                <a:latin typeface="宋体" panose="02000500000000000000" pitchFamily="2" charset="-122"/>
                <a:cs typeface="宋体" panose="02000500000000000000" pitchFamily="2" charset="-122"/>
              </a:rPr>
              <a:t>发射，</a:t>
            </a:r>
            <a:r>
              <a:rPr lang="en-US" altLang="zh-CN" sz="1400" b="1" dirty="0">
                <a:solidFill>
                  <a:srgbClr val="000000"/>
                </a:solidFill>
                <a:latin typeface="宋体" panose="02000500000000000000" pitchFamily="2" charset="-122"/>
                <a:cs typeface="宋体" panose="02000500000000000000" pitchFamily="2" charset="-122"/>
              </a:rPr>
              <a:t>F1, F2</a:t>
            </a:r>
            <a:r>
              <a:rPr lang="zh-CN" altLang="zh-CN" sz="1400" b="1" dirty="0">
                <a:solidFill>
                  <a:srgbClr val="000000"/>
                </a:solidFill>
                <a:latin typeface="宋体" panose="02000500000000000000" pitchFamily="2" charset="-122"/>
                <a:cs typeface="宋体" panose="02000500000000000000" pitchFamily="2" charset="-122"/>
              </a:rPr>
              <a:t>都准备好</a:t>
            </a:r>
            <a:endParaRPr lang="zh-CN" altLang="zh-CN" sz="1400" b="1" dirty="0">
              <a:solidFill>
                <a:srgbClr val="000000"/>
              </a:solidFill>
              <a:latin typeface="宋体" panose="02000500000000000000" pitchFamily="2" charset="-122"/>
              <a:cs typeface="宋体" panose="02000500000000000000" pitchFamily="2" charset="-122"/>
            </a:endParaRPr>
          </a:p>
          <a:p>
            <a:pPr>
              <a:lnSpc>
                <a:spcPct val="150000"/>
              </a:lnSpc>
              <a:buChar char="•"/>
            </a:pPr>
            <a:r>
              <a:rPr lang="en-US" altLang="zh-CN" sz="1400" b="1" dirty="0">
                <a:solidFill>
                  <a:srgbClr val="000000"/>
                </a:solidFill>
                <a:latin typeface="宋体" panose="02000500000000000000" pitchFamily="2" charset="-122"/>
                <a:cs typeface="宋体" panose="02000500000000000000" pitchFamily="2" charset="-122"/>
              </a:rPr>
              <a:t>MUL1</a:t>
            </a:r>
            <a:r>
              <a:rPr lang="zh-CN" altLang="zh-CN" sz="1400" b="1" dirty="0">
                <a:solidFill>
                  <a:srgbClr val="000000"/>
                </a:solidFill>
                <a:latin typeface="宋体" panose="02000500000000000000" pitchFamily="2" charset="-122"/>
                <a:cs typeface="宋体" panose="02000500000000000000" pitchFamily="2" charset="-122"/>
              </a:rPr>
              <a:t>发射，</a:t>
            </a:r>
            <a:r>
              <a:rPr lang="en-US" altLang="zh-CN" sz="1400" b="1" dirty="0">
                <a:solidFill>
                  <a:srgbClr val="000000"/>
                </a:solidFill>
                <a:latin typeface="宋体" panose="02000500000000000000" pitchFamily="2" charset="-122"/>
                <a:cs typeface="宋体" panose="02000500000000000000" pitchFamily="2" charset="-122"/>
              </a:rPr>
              <a:t>F0</a:t>
            </a:r>
            <a:r>
              <a:rPr lang="zh-CN" altLang="zh-CN" sz="1400" b="1" dirty="0">
                <a:solidFill>
                  <a:srgbClr val="000000"/>
                </a:solidFill>
                <a:latin typeface="宋体" panose="02000500000000000000" pitchFamily="2" charset="-122"/>
                <a:cs typeface="宋体" panose="02000500000000000000" pitchFamily="2" charset="-122"/>
              </a:rPr>
              <a:t>等待3号保留站的结果</a:t>
            </a:r>
            <a:endParaRPr lang="zh-CN" altLang="zh-CN" sz="1400" b="1" dirty="0">
              <a:solidFill>
                <a:srgbClr val="000000"/>
              </a:solidFill>
              <a:latin typeface="宋体" panose="02000500000000000000" pitchFamily="2" charset="-122"/>
              <a:cs typeface="宋体" panose="02000500000000000000" pitchFamily="2" charset="-122"/>
            </a:endParaRPr>
          </a:p>
          <a:p>
            <a:pPr>
              <a:lnSpc>
                <a:spcPct val="150000"/>
              </a:lnSpc>
              <a:buChar char="•"/>
            </a:pPr>
            <a:r>
              <a:rPr lang="en-US" altLang="zh-CN" sz="1400" b="1" dirty="0">
                <a:solidFill>
                  <a:srgbClr val="000000"/>
                </a:solidFill>
                <a:latin typeface="宋体" panose="02000500000000000000" pitchFamily="2" charset="-122"/>
                <a:cs typeface="宋体" panose="02000500000000000000" pitchFamily="2" charset="-122"/>
              </a:rPr>
              <a:t>ADD</a:t>
            </a:r>
            <a:r>
              <a:rPr lang="zh-CN" altLang="zh-CN" sz="1400" b="1" dirty="0">
                <a:solidFill>
                  <a:srgbClr val="000000"/>
                </a:solidFill>
                <a:latin typeface="宋体" panose="02000500000000000000" pitchFamily="2" charset="-122"/>
                <a:cs typeface="宋体" panose="02000500000000000000" pitchFamily="2" charset="-122"/>
              </a:rPr>
              <a:t>发射，</a:t>
            </a:r>
            <a:r>
              <a:rPr lang="en-US" altLang="zh-CN" sz="1400" b="1" dirty="0">
                <a:solidFill>
                  <a:srgbClr val="000000"/>
                </a:solidFill>
                <a:latin typeface="宋体" panose="02000500000000000000" pitchFamily="2" charset="-122"/>
                <a:cs typeface="宋体" panose="02000500000000000000" pitchFamily="2" charset="-122"/>
              </a:rPr>
              <a:t>F1, F2</a:t>
            </a:r>
            <a:r>
              <a:rPr lang="zh-CN" altLang="zh-CN" sz="1400" b="1" dirty="0">
                <a:solidFill>
                  <a:srgbClr val="000000"/>
                </a:solidFill>
                <a:latin typeface="宋体" panose="02000500000000000000" pitchFamily="2" charset="-122"/>
                <a:cs typeface="宋体" panose="02000500000000000000" pitchFamily="2" charset="-122"/>
              </a:rPr>
              <a:t>都准备好</a:t>
            </a:r>
            <a:endParaRPr lang="zh-CN" altLang="zh-CN" sz="1400" b="1" dirty="0">
              <a:solidFill>
                <a:srgbClr val="FF0000"/>
              </a:solidFill>
              <a:latin typeface="宋体" panose="02000500000000000000" pitchFamily="2" charset="-122"/>
              <a:cs typeface="宋体" panose="02000500000000000000" pitchFamily="2" charset="-122"/>
            </a:endParaRPr>
          </a:p>
          <a:p>
            <a:pPr>
              <a:lnSpc>
                <a:spcPct val="150000"/>
              </a:lnSpc>
              <a:buChar char="•"/>
            </a:pPr>
            <a:r>
              <a:rPr lang="en-US" altLang="zh-CN" sz="1400" b="1" dirty="0">
                <a:solidFill>
                  <a:srgbClr val="000000"/>
                </a:solidFill>
                <a:latin typeface="宋体" panose="02000500000000000000" pitchFamily="2" charset="-122"/>
                <a:cs typeface="宋体" panose="02000500000000000000" pitchFamily="2" charset="-122"/>
              </a:rPr>
              <a:t>MUL2</a:t>
            </a:r>
            <a:r>
              <a:rPr lang="zh-CN" altLang="zh-CN" sz="1400" b="1" dirty="0">
                <a:solidFill>
                  <a:srgbClr val="000000"/>
                </a:solidFill>
                <a:latin typeface="宋体" panose="02000500000000000000" pitchFamily="2" charset="-122"/>
                <a:cs typeface="宋体" panose="02000500000000000000" pitchFamily="2" charset="-122"/>
              </a:rPr>
              <a:t>发射，</a:t>
            </a:r>
            <a:r>
              <a:rPr lang="en-US" altLang="zh-CN" sz="1400" b="1" dirty="0">
                <a:solidFill>
                  <a:srgbClr val="000000"/>
                </a:solidFill>
                <a:latin typeface="宋体" panose="02000500000000000000" pitchFamily="2" charset="-122"/>
                <a:cs typeface="宋体" panose="02000500000000000000" pitchFamily="2" charset="-122"/>
              </a:rPr>
              <a:t>F0</a:t>
            </a:r>
            <a:r>
              <a:rPr lang="zh-CN" altLang="zh-CN" sz="1400" b="1" dirty="0">
                <a:solidFill>
                  <a:srgbClr val="000000"/>
                </a:solidFill>
                <a:latin typeface="宋体" panose="02000500000000000000" pitchFamily="2" charset="-122"/>
                <a:cs typeface="宋体" panose="02000500000000000000" pitchFamily="2" charset="-122"/>
              </a:rPr>
              <a:t>等待6号保留站的结果</a:t>
            </a:r>
            <a:endParaRPr lang="zh-CN" altLang="zh-CN" sz="1400" b="1" dirty="0">
              <a:solidFill>
                <a:srgbClr val="FF0000"/>
              </a:solidFill>
              <a:latin typeface="宋体" panose="02000500000000000000" pitchFamily="2" charset="-122"/>
              <a:cs typeface="宋体" panose="02000500000000000000" pitchFamily="2" charset="-122"/>
            </a:endParaRPr>
          </a:p>
          <a:p>
            <a:pPr>
              <a:lnSpc>
                <a:spcPct val="150000"/>
              </a:lnSpc>
              <a:buChar char="•"/>
            </a:pPr>
            <a:r>
              <a:rPr lang="en-US" altLang="zh-CN" sz="1400" b="1" dirty="0">
                <a:solidFill>
                  <a:srgbClr val="000000"/>
                </a:solidFill>
                <a:latin typeface="宋体" panose="02000500000000000000" pitchFamily="2" charset="-122"/>
                <a:cs typeface="宋体" panose="02000500000000000000" pitchFamily="2" charset="-122"/>
              </a:rPr>
              <a:t>ADD</a:t>
            </a:r>
            <a:r>
              <a:rPr lang="zh-CN" altLang="zh-CN" sz="1400" b="1" dirty="0">
                <a:solidFill>
                  <a:srgbClr val="000000"/>
                </a:solidFill>
                <a:latin typeface="宋体" panose="02000500000000000000" pitchFamily="2" charset="-122"/>
                <a:cs typeface="宋体" panose="02000500000000000000" pitchFamily="2" charset="-122"/>
              </a:rPr>
              <a:t>写回</a:t>
            </a:r>
            <a:endParaRPr lang="zh-CN" altLang="zh-CN" sz="1400" b="1" dirty="0">
              <a:solidFill>
                <a:srgbClr val="000000"/>
              </a:solidFill>
              <a:latin typeface="宋体" panose="02000500000000000000" pitchFamily="2" charset="-122"/>
              <a:cs typeface="宋体" panose="02000500000000000000" pitchFamily="2" charset="-122"/>
            </a:endParaRPr>
          </a:p>
          <a:p>
            <a:pPr>
              <a:lnSpc>
                <a:spcPct val="150000"/>
              </a:lnSpc>
              <a:buChar char="•"/>
            </a:pPr>
            <a:r>
              <a:rPr lang="en-US" altLang="zh-CN" sz="1400" b="1" dirty="0">
                <a:solidFill>
                  <a:srgbClr val="FF0000"/>
                </a:solidFill>
                <a:latin typeface="宋体" panose="02000500000000000000" pitchFamily="2" charset="-122"/>
                <a:cs typeface="宋体" panose="02000500000000000000" pitchFamily="2" charset="-122"/>
              </a:rPr>
              <a:t>DIV</a:t>
            </a:r>
            <a:r>
              <a:rPr lang="zh-CN" altLang="zh-CN" sz="1400" b="1" dirty="0">
                <a:solidFill>
                  <a:srgbClr val="FF0000"/>
                </a:solidFill>
                <a:latin typeface="宋体" panose="02000500000000000000" pitchFamily="2" charset="-122"/>
                <a:cs typeface="宋体" panose="02000500000000000000" pitchFamily="2" charset="-122"/>
              </a:rPr>
              <a:t>写回</a:t>
            </a:r>
            <a:endParaRPr lang="zh-CN" altLang="zh-CN" sz="1400" b="1" dirty="0">
              <a:solidFill>
                <a:srgbClr val="000000"/>
              </a:solidFill>
              <a:latin typeface="宋体" panose="02000500000000000000" pitchFamily="2" charset="-122"/>
              <a:cs typeface="宋体" panose="02000500000000000000" pitchFamily="2" charset="-122"/>
            </a:endParaRPr>
          </a:p>
          <a:p>
            <a:pPr>
              <a:buChar char="•"/>
            </a:pPr>
            <a:endParaRPr lang="en-US" altLang="zh-CN" sz="1400" b="1" dirty="0">
              <a:solidFill>
                <a:srgbClr val="FF0000"/>
              </a:solidFill>
              <a:latin typeface="宋体" panose="02000500000000000000" pitchFamily="2" charset="-122"/>
              <a:cs typeface="宋体" panose="02000500000000000000" pitchFamily="2"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914400" y="80645"/>
            <a:ext cx="10361613" cy="1143000"/>
          </a:xfrm>
        </p:spPr>
        <p:txBody>
          <a:bodyPr/>
          <a:p>
            <a:r>
              <a:rPr lang="zh-CN" altLang="en-US"/>
              <a:t>例子</a:t>
            </a:r>
            <a:endParaRPr lang="zh-CN" altLang="en-US"/>
          </a:p>
        </p:txBody>
      </p:sp>
      <p:grpSp>
        <p:nvGrpSpPr>
          <p:cNvPr id="6" name="组合 5"/>
          <p:cNvGrpSpPr/>
          <p:nvPr/>
        </p:nvGrpSpPr>
        <p:grpSpPr>
          <a:xfrm>
            <a:off x="4485005" y="1449705"/>
            <a:ext cx="7679690" cy="3862070"/>
            <a:chOff x="7063" y="2283"/>
            <a:chExt cx="12094" cy="6082"/>
          </a:xfrm>
        </p:grpSpPr>
        <p:sp>
          <p:nvSpPr>
            <p:cNvPr id="31751" name="Line 52"/>
            <p:cNvSpPr/>
            <p:nvPr/>
          </p:nvSpPr>
          <p:spPr>
            <a:xfrm flipV="1">
              <a:off x="11639" y="3333"/>
              <a:ext cx="0" cy="528"/>
            </a:xfrm>
            <a:prstGeom prst="line">
              <a:avLst/>
            </a:prstGeom>
            <a:ln w="9525" cap="flat" cmpd="sng">
              <a:solidFill>
                <a:schemeClr val="tx1"/>
              </a:solidFill>
              <a:prstDash val="solid"/>
              <a:round/>
              <a:headEnd type="none" w="med" len="med"/>
              <a:tailEnd type="triangle" w="med" len="med"/>
            </a:ln>
          </p:spPr>
        </p:sp>
        <p:sp>
          <p:nvSpPr>
            <p:cNvPr id="31752" name="Line 53"/>
            <p:cNvSpPr/>
            <p:nvPr/>
          </p:nvSpPr>
          <p:spPr>
            <a:xfrm flipV="1">
              <a:off x="13025" y="3333"/>
              <a:ext cx="0" cy="528"/>
            </a:xfrm>
            <a:prstGeom prst="line">
              <a:avLst/>
            </a:prstGeom>
            <a:ln w="9525" cap="flat" cmpd="sng">
              <a:solidFill>
                <a:schemeClr val="tx1"/>
              </a:solidFill>
              <a:prstDash val="solid"/>
              <a:round/>
              <a:headEnd type="none" w="med" len="med"/>
              <a:tailEnd type="triangle" w="med" len="med"/>
            </a:ln>
          </p:spPr>
        </p:sp>
        <p:sp>
          <p:nvSpPr>
            <p:cNvPr id="31753" name="Line 54"/>
            <p:cNvSpPr/>
            <p:nvPr/>
          </p:nvSpPr>
          <p:spPr>
            <a:xfrm flipV="1">
              <a:off x="16305" y="3313"/>
              <a:ext cx="0" cy="528"/>
            </a:xfrm>
            <a:prstGeom prst="line">
              <a:avLst/>
            </a:prstGeom>
            <a:ln w="9525" cap="flat" cmpd="sng">
              <a:solidFill>
                <a:schemeClr val="tx1"/>
              </a:solidFill>
              <a:prstDash val="solid"/>
              <a:round/>
              <a:headEnd type="none" w="med" len="med"/>
              <a:tailEnd type="triangle" w="med" len="med"/>
            </a:ln>
          </p:spPr>
        </p:sp>
        <p:sp>
          <p:nvSpPr>
            <p:cNvPr id="31754" name="Line 55"/>
            <p:cNvSpPr/>
            <p:nvPr/>
          </p:nvSpPr>
          <p:spPr>
            <a:xfrm flipV="1">
              <a:off x="17798" y="3293"/>
              <a:ext cx="0" cy="528"/>
            </a:xfrm>
            <a:prstGeom prst="line">
              <a:avLst/>
            </a:prstGeom>
            <a:ln w="9525" cap="flat" cmpd="sng">
              <a:solidFill>
                <a:schemeClr val="tx1"/>
              </a:solidFill>
              <a:prstDash val="solid"/>
              <a:round/>
              <a:headEnd type="none" w="med" len="med"/>
              <a:tailEnd type="triangle" w="med" len="med"/>
            </a:ln>
          </p:spPr>
        </p:sp>
        <p:sp>
          <p:nvSpPr>
            <p:cNvPr id="31755" name="Line 56"/>
            <p:cNvSpPr/>
            <p:nvPr/>
          </p:nvSpPr>
          <p:spPr>
            <a:xfrm flipV="1">
              <a:off x="12815" y="7393"/>
              <a:ext cx="0" cy="973"/>
            </a:xfrm>
            <a:prstGeom prst="line">
              <a:avLst/>
            </a:prstGeom>
            <a:ln w="19050" cap="flat" cmpd="sng">
              <a:solidFill>
                <a:schemeClr val="tx1"/>
              </a:solidFill>
              <a:prstDash val="solid"/>
              <a:round/>
              <a:headEnd type="none" w="med" len="med"/>
              <a:tailEnd type="triangle" w="med" len="med"/>
            </a:ln>
          </p:spPr>
        </p:sp>
        <p:sp>
          <p:nvSpPr>
            <p:cNvPr id="31756" name="Line 57"/>
            <p:cNvSpPr/>
            <p:nvPr/>
          </p:nvSpPr>
          <p:spPr>
            <a:xfrm flipV="1">
              <a:off x="12275" y="4795"/>
              <a:ext cx="0" cy="390"/>
            </a:xfrm>
            <a:prstGeom prst="line">
              <a:avLst/>
            </a:prstGeom>
            <a:ln w="19050" cap="flat" cmpd="sng">
              <a:solidFill>
                <a:schemeClr val="tx1"/>
              </a:solidFill>
              <a:prstDash val="solid"/>
              <a:round/>
              <a:headEnd type="none" w="med" len="med"/>
              <a:tailEnd type="triangle" w="med" len="med"/>
            </a:ln>
          </p:spPr>
        </p:sp>
        <p:sp>
          <p:nvSpPr>
            <p:cNvPr id="31757" name="Line 58"/>
            <p:cNvSpPr/>
            <p:nvPr/>
          </p:nvSpPr>
          <p:spPr>
            <a:xfrm flipV="1">
              <a:off x="16989" y="4783"/>
              <a:ext cx="0" cy="410"/>
            </a:xfrm>
            <a:prstGeom prst="line">
              <a:avLst/>
            </a:prstGeom>
            <a:ln w="19050" cap="flat" cmpd="sng">
              <a:solidFill>
                <a:schemeClr val="tx1"/>
              </a:solidFill>
              <a:prstDash val="solid"/>
              <a:round/>
              <a:headEnd type="none" w="med" len="med"/>
              <a:tailEnd type="triangle" w="med" len="med"/>
            </a:ln>
          </p:spPr>
        </p:sp>
        <p:sp>
          <p:nvSpPr>
            <p:cNvPr id="31758" name="Line 59"/>
            <p:cNvSpPr/>
            <p:nvPr/>
          </p:nvSpPr>
          <p:spPr>
            <a:xfrm flipV="1">
              <a:off x="17029" y="2283"/>
              <a:ext cx="0" cy="583"/>
            </a:xfrm>
            <a:prstGeom prst="line">
              <a:avLst/>
            </a:prstGeom>
            <a:ln w="19050" cap="flat" cmpd="sng">
              <a:solidFill>
                <a:srgbClr val="FF0000"/>
              </a:solidFill>
              <a:prstDash val="solid"/>
              <a:round/>
              <a:headEnd type="none" w="med" len="med"/>
              <a:tailEnd type="triangle" w="med" len="med"/>
            </a:ln>
          </p:spPr>
        </p:sp>
        <p:sp>
          <p:nvSpPr>
            <p:cNvPr id="31759" name="Line 60"/>
            <p:cNvSpPr/>
            <p:nvPr/>
          </p:nvSpPr>
          <p:spPr>
            <a:xfrm flipV="1">
              <a:off x="12412" y="2310"/>
              <a:ext cx="0" cy="583"/>
            </a:xfrm>
            <a:prstGeom prst="line">
              <a:avLst/>
            </a:prstGeom>
            <a:ln w="19050" cap="flat" cmpd="sng">
              <a:solidFill>
                <a:schemeClr val="tx1"/>
              </a:solidFill>
              <a:prstDash val="solid"/>
              <a:round/>
              <a:headEnd type="none" w="med" len="med"/>
              <a:tailEnd type="triangle" w="med" len="med"/>
            </a:ln>
          </p:spPr>
        </p:sp>
        <p:sp>
          <p:nvSpPr>
            <p:cNvPr id="31760" name="Line 61"/>
            <p:cNvSpPr/>
            <p:nvPr/>
          </p:nvSpPr>
          <p:spPr>
            <a:xfrm>
              <a:off x="8119" y="2300"/>
              <a:ext cx="11039" cy="0"/>
            </a:xfrm>
            <a:prstGeom prst="line">
              <a:avLst/>
            </a:prstGeom>
            <a:ln w="19050" cap="flat" cmpd="sng">
              <a:solidFill>
                <a:srgbClr val="FF0000"/>
              </a:solidFill>
              <a:prstDash val="solid"/>
              <a:round/>
              <a:headEnd type="none" w="med" len="med"/>
              <a:tailEnd type="none" w="med" len="med"/>
            </a:ln>
          </p:spPr>
        </p:sp>
        <p:sp>
          <p:nvSpPr>
            <p:cNvPr id="31761" name="Line 62"/>
            <p:cNvSpPr/>
            <p:nvPr/>
          </p:nvSpPr>
          <p:spPr>
            <a:xfrm flipV="1">
              <a:off x="11276" y="4780"/>
              <a:ext cx="0" cy="818"/>
            </a:xfrm>
            <a:prstGeom prst="line">
              <a:avLst/>
            </a:prstGeom>
            <a:ln w="19050" cap="flat" cmpd="sng">
              <a:solidFill>
                <a:srgbClr val="FF0000"/>
              </a:solidFill>
              <a:prstDash val="solid"/>
              <a:round/>
              <a:headEnd type="none" w="med" len="med"/>
              <a:tailEnd type="triangle" w="med" len="med"/>
            </a:ln>
          </p:spPr>
        </p:sp>
        <p:sp>
          <p:nvSpPr>
            <p:cNvPr id="31762" name="Line 63"/>
            <p:cNvSpPr/>
            <p:nvPr/>
          </p:nvSpPr>
          <p:spPr>
            <a:xfrm flipV="1">
              <a:off x="17752" y="4768"/>
              <a:ext cx="0" cy="818"/>
            </a:xfrm>
            <a:prstGeom prst="line">
              <a:avLst/>
            </a:prstGeom>
            <a:ln w="19050" cap="flat" cmpd="sng">
              <a:solidFill>
                <a:srgbClr val="FF0000"/>
              </a:solidFill>
              <a:prstDash val="solid"/>
              <a:round/>
              <a:headEnd type="none" w="med" len="med"/>
              <a:tailEnd type="triangle" w="med" len="med"/>
            </a:ln>
          </p:spPr>
        </p:sp>
        <p:sp>
          <p:nvSpPr>
            <p:cNvPr id="31763" name="Line 64"/>
            <p:cNvSpPr/>
            <p:nvPr/>
          </p:nvSpPr>
          <p:spPr>
            <a:xfrm>
              <a:off x="19135" y="2300"/>
              <a:ext cx="0" cy="5455"/>
            </a:xfrm>
            <a:prstGeom prst="line">
              <a:avLst/>
            </a:prstGeom>
            <a:ln w="19050" cap="flat" cmpd="sng">
              <a:solidFill>
                <a:srgbClr val="FF0000"/>
              </a:solidFill>
              <a:prstDash val="solid"/>
              <a:round/>
              <a:headEnd type="none" w="med" len="med"/>
              <a:tailEnd type="none" w="med" len="med"/>
            </a:ln>
          </p:spPr>
        </p:sp>
        <p:sp>
          <p:nvSpPr>
            <p:cNvPr id="31764" name="Line 65"/>
            <p:cNvSpPr/>
            <p:nvPr/>
          </p:nvSpPr>
          <p:spPr>
            <a:xfrm flipV="1">
              <a:off x="12779" y="5150"/>
              <a:ext cx="0" cy="915"/>
            </a:xfrm>
            <a:prstGeom prst="line">
              <a:avLst/>
            </a:prstGeom>
            <a:ln w="19050" cap="flat" cmpd="sng">
              <a:solidFill>
                <a:schemeClr val="tx1"/>
              </a:solidFill>
              <a:prstDash val="solid"/>
              <a:round/>
              <a:headEnd type="none" w="med" len="med"/>
              <a:tailEnd type="triangle" w="med" len="med"/>
            </a:ln>
          </p:spPr>
        </p:sp>
        <p:sp>
          <p:nvSpPr>
            <p:cNvPr id="31765" name="Text Box 66"/>
            <p:cNvSpPr txBox="1"/>
            <p:nvPr/>
          </p:nvSpPr>
          <p:spPr>
            <a:xfrm>
              <a:off x="9896" y="3538"/>
              <a:ext cx="1637" cy="29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加法保留站</a:t>
              </a:r>
              <a:endParaRPr lang="zh-CN" altLang="en-US" sz="1200" b="1" dirty="0">
                <a:latin typeface="Times New Roman" pitchFamily="18" charset="0"/>
                <a:ea typeface="宋体" panose="02000500000000000000" pitchFamily="2" charset="-122"/>
              </a:endParaRPr>
            </a:p>
          </p:txBody>
        </p:sp>
        <p:sp>
          <p:nvSpPr>
            <p:cNvPr id="31766" name="Text Box 67"/>
            <p:cNvSpPr txBox="1"/>
            <p:nvPr/>
          </p:nvSpPr>
          <p:spPr>
            <a:xfrm>
              <a:off x="10906" y="5788"/>
              <a:ext cx="1717" cy="290"/>
            </a:xfrm>
            <a:prstGeom prst="rect">
              <a:avLst/>
            </a:prstGeom>
            <a:noFill/>
            <a:ln w="9525">
              <a:noFill/>
            </a:ln>
            <a:extLst>
              <a:ext uri="{909E8E84-426E-40DD-AFC4-6F175D3DCCD1}">
                <a14:hiddenFill xmlns:a14="http://schemas.microsoft.com/office/drawing/2010/main">
                  <a:solidFill>
                    <a:schemeClr val="bg1"/>
                  </a:solidFill>
                </a14:hiddenFill>
              </a:ext>
            </a:extLst>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浮点寄存器</a:t>
              </a:r>
              <a:endParaRPr lang="zh-CN" altLang="en-US" sz="1200" b="1" dirty="0">
                <a:latin typeface="Times New Roman" pitchFamily="18" charset="0"/>
                <a:ea typeface="宋体" panose="02000500000000000000" pitchFamily="2" charset="-122"/>
              </a:endParaRPr>
            </a:p>
          </p:txBody>
        </p:sp>
        <p:sp>
          <p:nvSpPr>
            <p:cNvPr id="31767" name="Text Box 68"/>
            <p:cNvSpPr txBox="1"/>
            <p:nvPr/>
          </p:nvSpPr>
          <p:spPr>
            <a:xfrm>
              <a:off x="14629" y="3520"/>
              <a:ext cx="1637" cy="29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乘法保留站</a:t>
              </a:r>
              <a:endParaRPr lang="zh-CN" altLang="en-US" sz="1200" b="1" dirty="0">
                <a:latin typeface="Times New Roman" pitchFamily="18" charset="0"/>
                <a:ea typeface="宋体" panose="02000500000000000000" pitchFamily="2" charset="-122"/>
              </a:endParaRPr>
            </a:p>
          </p:txBody>
        </p:sp>
        <p:sp>
          <p:nvSpPr>
            <p:cNvPr id="31768" name="Line 69"/>
            <p:cNvSpPr/>
            <p:nvPr/>
          </p:nvSpPr>
          <p:spPr>
            <a:xfrm>
              <a:off x="13835" y="7755"/>
              <a:ext cx="5323" cy="0"/>
            </a:xfrm>
            <a:prstGeom prst="line">
              <a:avLst/>
            </a:prstGeom>
            <a:ln w="19050" cap="flat" cmpd="sng">
              <a:solidFill>
                <a:srgbClr val="FF0000"/>
              </a:solidFill>
              <a:prstDash val="solid"/>
              <a:round/>
              <a:headEnd type="none" w="med" len="med"/>
              <a:tailEnd type="none" w="med" len="med"/>
            </a:ln>
          </p:spPr>
        </p:sp>
        <p:sp>
          <p:nvSpPr>
            <p:cNvPr id="31769" name="Line 70"/>
            <p:cNvSpPr/>
            <p:nvPr/>
          </p:nvSpPr>
          <p:spPr>
            <a:xfrm flipV="1">
              <a:off x="13835" y="7348"/>
              <a:ext cx="3" cy="410"/>
            </a:xfrm>
            <a:prstGeom prst="line">
              <a:avLst/>
            </a:prstGeom>
            <a:ln w="19050" cap="flat" cmpd="sng">
              <a:solidFill>
                <a:srgbClr val="FF0000"/>
              </a:solidFill>
              <a:prstDash val="solid"/>
              <a:round/>
              <a:headEnd type="none" w="med" len="med"/>
              <a:tailEnd type="triangle" w="med" len="med"/>
            </a:ln>
          </p:spPr>
        </p:sp>
        <p:grpSp>
          <p:nvGrpSpPr>
            <p:cNvPr id="31772" name="Group 73"/>
            <p:cNvGrpSpPr/>
            <p:nvPr/>
          </p:nvGrpSpPr>
          <p:grpSpPr>
            <a:xfrm rot="0">
              <a:off x="7063" y="2295"/>
              <a:ext cx="12093" cy="3273"/>
              <a:chOff x="1701" y="512"/>
              <a:chExt cx="3628" cy="1309"/>
            </a:xfrm>
          </p:grpSpPr>
          <p:sp>
            <p:nvSpPr>
              <p:cNvPr id="31773" name="Line 74"/>
              <p:cNvSpPr/>
              <p:nvPr/>
            </p:nvSpPr>
            <p:spPr>
              <a:xfrm flipV="1">
                <a:off x="2154" y="1661"/>
                <a:ext cx="2518" cy="0"/>
              </a:xfrm>
              <a:prstGeom prst="line">
                <a:avLst/>
              </a:prstGeom>
              <a:ln w="19050" cap="flat" cmpd="sng">
                <a:solidFill>
                  <a:schemeClr val="tx1"/>
                </a:solidFill>
                <a:prstDash val="solid"/>
                <a:round/>
                <a:headEnd type="none" w="med" len="med"/>
                <a:tailEnd type="none" w="med" len="med"/>
              </a:ln>
            </p:spPr>
          </p:sp>
          <p:sp>
            <p:nvSpPr>
              <p:cNvPr id="31774" name="Line 75"/>
              <p:cNvSpPr/>
              <p:nvPr/>
            </p:nvSpPr>
            <p:spPr>
              <a:xfrm flipV="1">
                <a:off x="1949" y="1820"/>
                <a:ext cx="3380" cy="0"/>
              </a:xfrm>
              <a:prstGeom prst="line">
                <a:avLst/>
              </a:prstGeom>
              <a:ln w="19050" cap="flat" cmpd="sng">
                <a:solidFill>
                  <a:srgbClr val="FF0000"/>
                </a:solidFill>
                <a:prstDash val="solid"/>
                <a:round/>
                <a:headEnd type="none" w="med" len="med"/>
                <a:tailEnd type="none" w="med" len="med"/>
              </a:ln>
            </p:spPr>
          </p:sp>
          <p:grpSp>
            <p:nvGrpSpPr>
              <p:cNvPr id="31775" name="Group 76"/>
              <p:cNvGrpSpPr/>
              <p:nvPr/>
            </p:nvGrpSpPr>
            <p:grpSpPr>
              <a:xfrm>
                <a:off x="1701" y="512"/>
                <a:ext cx="3494" cy="1309"/>
                <a:chOff x="1701" y="512"/>
                <a:chExt cx="3494" cy="1309"/>
              </a:xfrm>
            </p:grpSpPr>
            <p:grpSp>
              <p:nvGrpSpPr>
                <p:cNvPr id="31776" name="Group 77"/>
                <p:cNvGrpSpPr/>
                <p:nvPr/>
              </p:nvGrpSpPr>
              <p:grpSpPr>
                <a:xfrm>
                  <a:off x="1950" y="512"/>
                  <a:ext cx="204" cy="1309"/>
                  <a:chOff x="1950" y="512"/>
                  <a:chExt cx="204" cy="1309"/>
                </a:xfrm>
              </p:grpSpPr>
              <p:sp>
                <p:nvSpPr>
                  <p:cNvPr id="31777" name="Line 78"/>
                  <p:cNvSpPr/>
                  <p:nvPr/>
                </p:nvSpPr>
                <p:spPr>
                  <a:xfrm flipV="1">
                    <a:off x="2022" y="512"/>
                    <a:ext cx="0" cy="233"/>
                  </a:xfrm>
                  <a:prstGeom prst="line">
                    <a:avLst/>
                  </a:prstGeom>
                  <a:ln w="19050" cap="flat" cmpd="sng">
                    <a:solidFill>
                      <a:schemeClr val="tx1"/>
                    </a:solidFill>
                    <a:prstDash val="solid"/>
                    <a:round/>
                    <a:headEnd type="none" w="med" len="med"/>
                    <a:tailEnd type="triangle" w="med" len="med"/>
                  </a:ln>
                </p:spPr>
              </p:sp>
              <p:sp>
                <p:nvSpPr>
                  <p:cNvPr id="31778" name="Line 79"/>
                  <p:cNvSpPr/>
                  <p:nvPr/>
                </p:nvSpPr>
                <p:spPr>
                  <a:xfrm flipV="1">
                    <a:off x="1950" y="1502"/>
                    <a:ext cx="0" cy="319"/>
                  </a:xfrm>
                  <a:prstGeom prst="line">
                    <a:avLst/>
                  </a:prstGeom>
                  <a:ln w="19050" cap="flat" cmpd="sng">
                    <a:solidFill>
                      <a:srgbClr val="FF0000"/>
                    </a:solidFill>
                    <a:prstDash val="solid"/>
                    <a:round/>
                    <a:headEnd type="none" w="med" len="med"/>
                    <a:tailEnd type="triangle" w="med" len="med"/>
                  </a:ln>
                </p:spPr>
              </p:sp>
              <p:sp>
                <p:nvSpPr>
                  <p:cNvPr id="31779" name="Line 80"/>
                  <p:cNvSpPr/>
                  <p:nvPr/>
                </p:nvSpPr>
                <p:spPr>
                  <a:xfrm flipV="1">
                    <a:off x="2154" y="1508"/>
                    <a:ext cx="0" cy="156"/>
                  </a:xfrm>
                  <a:prstGeom prst="line">
                    <a:avLst/>
                  </a:prstGeom>
                  <a:ln w="19050" cap="flat" cmpd="sng">
                    <a:solidFill>
                      <a:schemeClr val="tx1"/>
                    </a:solidFill>
                    <a:prstDash val="solid"/>
                    <a:round/>
                    <a:headEnd type="none" w="med" len="med"/>
                    <a:tailEnd type="triangle" w="med" len="med"/>
                  </a:ln>
                </p:spPr>
              </p:sp>
            </p:grpSp>
            <p:sp>
              <p:nvSpPr>
                <p:cNvPr id="31780" name="Text Box 81"/>
                <p:cNvSpPr txBox="1"/>
                <p:nvPr/>
              </p:nvSpPr>
              <p:spPr>
                <a:xfrm>
                  <a:off x="2777" y="750"/>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浮点加</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减法器</a:t>
                  </a:r>
                  <a:endParaRPr lang="zh-CN" altLang="en-US" sz="1200" b="1" dirty="0">
                    <a:latin typeface="Times New Roman" pitchFamily="18" charset="0"/>
                    <a:ea typeface="宋体" panose="02000500000000000000" pitchFamily="2" charset="-122"/>
                  </a:endParaRPr>
                </a:p>
              </p:txBody>
            </p:sp>
            <p:sp>
              <p:nvSpPr>
                <p:cNvPr id="31781" name="Text Box 82"/>
                <p:cNvSpPr txBox="1"/>
                <p:nvPr/>
              </p:nvSpPr>
              <p:spPr>
                <a:xfrm>
                  <a:off x="4181" y="737"/>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浮点乘</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除法器</a:t>
                  </a:r>
                  <a:endParaRPr lang="zh-CN" altLang="en-US" sz="1200" b="1" dirty="0">
                    <a:latin typeface="Times New Roman" pitchFamily="18" charset="0"/>
                    <a:ea typeface="宋体" panose="02000500000000000000" pitchFamily="2" charset="-122"/>
                  </a:endParaRPr>
                </a:p>
              </p:txBody>
            </p:sp>
            <p:sp>
              <p:nvSpPr>
                <p:cNvPr id="31782" name="Text Box 83"/>
                <p:cNvSpPr txBox="1"/>
                <p:nvPr/>
              </p:nvSpPr>
              <p:spPr>
                <a:xfrm>
                  <a:off x="1701" y="731"/>
                  <a:ext cx="664" cy="771"/>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p>
                  <a:pPr algn="ctr">
                    <a:spcBef>
                      <a:spcPct val="50000"/>
                    </a:spcBef>
                  </a:pPr>
                  <a:endParaRPr lang="en-US" altLang="zh-CN" sz="1200"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定点</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访存</a:t>
                  </a:r>
                  <a:endParaRPr lang="zh-CN" altLang="en-US" sz="1200" b="1"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部件</a:t>
                  </a:r>
                  <a:endParaRPr lang="zh-CN" altLang="en-US" sz="1200" b="1" dirty="0">
                    <a:latin typeface="Times New Roman" pitchFamily="18" charset="0"/>
                    <a:ea typeface="宋体" panose="02000500000000000000" pitchFamily="2" charset="-122"/>
                  </a:endParaRPr>
                </a:p>
                <a:p>
                  <a:pPr algn="ctr">
                    <a:spcBef>
                      <a:spcPct val="50000"/>
                    </a:spcBef>
                  </a:pPr>
                  <a:endParaRPr lang="en-US" altLang="zh-CN" sz="1200" b="1" dirty="0">
                    <a:latin typeface="Times New Roman" pitchFamily="18" charset="0"/>
                    <a:ea typeface="宋体" panose="02000500000000000000" pitchFamily="2" charset="-122"/>
                  </a:endParaRPr>
                </a:p>
              </p:txBody>
            </p:sp>
          </p:grpSp>
        </p:grpSp>
        <p:sp>
          <p:nvSpPr>
            <p:cNvPr id="31783" name="Text Box 84"/>
            <p:cNvSpPr txBox="1"/>
            <p:nvPr/>
          </p:nvSpPr>
          <p:spPr>
            <a:xfrm>
              <a:off x="10992" y="7945"/>
              <a:ext cx="1623" cy="290"/>
            </a:xfrm>
            <a:prstGeom prst="rect">
              <a:avLst/>
            </a:prstGeom>
            <a:solidFill>
              <a:schemeClr val="bg1"/>
            </a:solid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指令队列</a:t>
              </a:r>
              <a:endParaRPr lang="zh-CN" altLang="en-US" sz="1200" b="1" dirty="0">
                <a:latin typeface="Times New Roman" pitchFamily="18" charset="0"/>
                <a:ea typeface="宋体" panose="02000500000000000000" pitchFamily="2" charset="-122"/>
              </a:endParaRPr>
            </a:p>
          </p:txBody>
        </p:sp>
      </p:grpSp>
      <p:graphicFrame>
        <p:nvGraphicFramePr>
          <p:cNvPr id="3" name="表格 2"/>
          <p:cNvGraphicFramePr/>
          <p:nvPr/>
        </p:nvGraphicFramePr>
        <p:xfrm>
          <a:off x="6799580" y="3837940"/>
          <a:ext cx="2342515" cy="863600"/>
        </p:xfrm>
        <a:graphic>
          <a:graphicData uri="http://schemas.openxmlformats.org/drawingml/2006/table">
            <a:tbl>
              <a:tblPr firstRow="1" bandRow="1">
                <a:tableStyleId>{5C22544A-7EE6-4342-B048-85BDC9FD1C3A}</a:tableStyleId>
              </a:tblPr>
              <a:tblGrid>
                <a:gridCol w="365125"/>
                <a:gridCol w="450850"/>
                <a:gridCol w="1526540"/>
              </a:tblGrid>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3.0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0</a:t>
                      </a:r>
                      <a:endParaRPr lang="en-US" altLang="zh-CN" sz="1200" b="1">
                        <a:solidFill>
                          <a:srgbClr val="FF0000"/>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6.0</a:t>
                      </a:r>
                      <a:endParaRPr lang="en-US" altLang="zh-CN" sz="1200" b="1">
                        <a:solidFill>
                          <a:srgbClr val="FF0000"/>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4" name="表格 3"/>
          <p:cNvGraphicFramePr/>
          <p:nvPr/>
        </p:nvGraphicFramePr>
        <p:xfrm>
          <a:off x="7167880" y="5311775"/>
          <a:ext cx="1930400" cy="1280160"/>
        </p:xfrm>
        <a:graphic>
          <a:graphicData uri="http://schemas.openxmlformats.org/drawingml/2006/table">
            <a:tbl>
              <a:tblPr firstRow="1" bandRow="1">
                <a:tableStyleId>{5C22544A-7EE6-4342-B048-85BDC9FD1C3A}</a:tableStyleId>
              </a:tblPr>
              <a:tblGrid>
                <a:gridCol w="1930400"/>
              </a:tblGrid>
              <a:tr h="213360">
                <a:tc>
                  <a:txBody>
                    <a:bodyPr/>
                    <a:p>
                      <a:pPr indent="0">
                        <a:buNone/>
                      </a:pPr>
                      <a:r>
                        <a:rPr lang="en-US" sz="1200" b="1">
                          <a:solidFill>
                            <a:schemeClr val="tx1"/>
                          </a:solidFill>
                          <a:latin typeface="宋体" panose="02000500000000000000" pitchFamily="2" charset="-122"/>
                          <a:ea typeface="宋体" panose="02000500000000000000" pitchFamily="2" charset="-122"/>
                        </a:rPr>
                        <a:t>FDIV.D  </a:t>
                      </a:r>
                      <a:r>
                        <a:rPr lang="en-US" sz="1200" b="1">
                          <a:solidFill>
                            <a:srgbClr val="FF0000"/>
                          </a:solidFill>
                          <a:latin typeface="宋体" panose="02000500000000000000" pitchFamily="2" charset="-122"/>
                          <a:ea typeface="宋体" panose="02000500000000000000" pitchFamily="2" charset="-122"/>
                        </a:rPr>
                        <a:t>F0</a:t>
                      </a:r>
                      <a:r>
                        <a:rPr lang="en-US" sz="1200" b="1">
                          <a:solidFill>
                            <a:schemeClr val="tx1"/>
                          </a:solidFill>
                          <a:latin typeface="宋体" panose="02000500000000000000" pitchFamily="2" charset="-122"/>
                          <a:ea typeface="宋体" panose="02000500000000000000" pitchFamily="2" charset="-122"/>
                        </a:rPr>
                        <a:t>, F1, F2</a:t>
                      </a:r>
                      <a:endParaRPr lang="en-US" altLang="en-US" sz="1200" b="1">
                        <a:solidFill>
                          <a:schemeClr val="tx1"/>
                        </a:solidFill>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FADD.D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F1,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5" name="表格 4"/>
          <p:cNvGraphicFramePr/>
          <p:nvPr/>
        </p:nvGraphicFramePr>
        <p:xfrm>
          <a:off x="9544050" y="243586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latin typeface="宋体" panose="02000500000000000000" pitchFamily="2" charset="-122"/>
                          <a:ea typeface="宋体" panose="02000500000000000000" pitchFamily="2" charset="-122"/>
                        </a:rPr>
                        <a:t>fmul</a:t>
                      </a:r>
                      <a:endParaRPr lang="en-US" altLang="zh-CN" sz="1200" b="1">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0.5</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latin typeface="宋体" panose="02000500000000000000" pitchFamily="2" charset="-122"/>
                          <a:ea typeface="宋体" panose="02000500000000000000" pitchFamily="2" charset="-122"/>
                        </a:rPr>
                        <a:t>0</a:t>
                      </a:r>
                      <a:endParaRPr lang="en-US" altLang="zh-CN" sz="1200" b="1">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latin typeface="宋体" panose="02000500000000000000" pitchFamily="2" charset="-122"/>
                          <a:ea typeface="宋体" panose="02000500000000000000" pitchFamily="2" charset="-122"/>
                        </a:rPr>
                        <a:t>2.0</a:t>
                      </a:r>
                      <a:endParaRPr lang="en-US" altLang="zh-CN" sz="1200" b="1">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7" name="表格 6"/>
          <p:cNvGraphicFramePr/>
          <p:nvPr/>
        </p:nvGraphicFramePr>
        <p:xfrm>
          <a:off x="6577330" y="245618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6</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5</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4</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sp>
        <p:nvSpPr>
          <p:cNvPr id="39960" name="Text Box 37"/>
          <p:cNvSpPr txBox="1"/>
          <p:nvPr/>
        </p:nvSpPr>
        <p:spPr>
          <a:xfrm>
            <a:off x="649288" y="3917950"/>
            <a:ext cx="5046662" cy="2568575"/>
          </a:xfrm>
          <a:prstGeom prst="rect">
            <a:avLst/>
          </a:prstGeom>
          <a:noFill/>
          <a:ln w="9525">
            <a:noFill/>
          </a:ln>
        </p:spPr>
        <p:txBody>
          <a:bodyPr anchor="t" anchorCtr="0">
            <a:spAutoFit/>
          </a:bodyPr>
          <a:p>
            <a:pPr>
              <a:lnSpc>
                <a:spcPct val="150000"/>
              </a:lnSpc>
              <a:buChar char="•"/>
            </a:pPr>
            <a:r>
              <a:rPr lang="en-US" altLang="zh-CN" sz="1400" b="1" dirty="0">
                <a:solidFill>
                  <a:srgbClr val="000000"/>
                </a:solidFill>
                <a:latin typeface="宋体" panose="02000500000000000000" pitchFamily="2" charset="-122"/>
                <a:cs typeface="宋体" panose="02000500000000000000" pitchFamily="2" charset="-122"/>
              </a:rPr>
              <a:t>DIV</a:t>
            </a:r>
            <a:r>
              <a:rPr lang="zh-CN" altLang="zh-CN" sz="1400" b="1" dirty="0">
                <a:solidFill>
                  <a:srgbClr val="000000"/>
                </a:solidFill>
                <a:latin typeface="宋体" panose="02000500000000000000" pitchFamily="2" charset="-122"/>
                <a:cs typeface="宋体" panose="02000500000000000000" pitchFamily="2" charset="-122"/>
              </a:rPr>
              <a:t>发射，</a:t>
            </a:r>
            <a:r>
              <a:rPr lang="en-US" altLang="zh-CN" sz="1400" b="1" dirty="0">
                <a:solidFill>
                  <a:srgbClr val="000000"/>
                </a:solidFill>
                <a:latin typeface="宋体" panose="02000500000000000000" pitchFamily="2" charset="-122"/>
                <a:cs typeface="宋体" panose="02000500000000000000" pitchFamily="2" charset="-122"/>
              </a:rPr>
              <a:t>F1, F2</a:t>
            </a:r>
            <a:r>
              <a:rPr lang="zh-CN" altLang="zh-CN" sz="1400" b="1" dirty="0">
                <a:solidFill>
                  <a:srgbClr val="000000"/>
                </a:solidFill>
                <a:latin typeface="宋体" panose="02000500000000000000" pitchFamily="2" charset="-122"/>
                <a:cs typeface="宋体" panose="02000500000000000000" pitchFamily="2" charset="-122"/>
              </a:rPr>
              <a:t>都准备好</a:t>
            </a:r>
            <a:endParaRPr lang="zh-CN" altLang="zh-CN" sz="1400" b="1" dirty="0">
              <a:solidFill>
                <a:srgbClr val="000000"/>
              </a:solidFill>
              <a:latin typeface="宋体" panose="02000500000000000000" pitchFamily="2" charset="-122"/>
              <a:cs typeface="宋体" panose="02000500000000000000" pitchFamily="2" charset="-122"/>
            </a:endParaRPr>
          </a:p>
          <a:p>
            <a:pPr>
              <a:lnSpc>
                <a:spcPct val="150000"/>
              </a:lnSpc>
              <a:buChar char="•"/>
            </a:pPr>
            <a:r>
              <a:rPr lang="en-US" altLang="zh-CN" sz="1400" b="1" dirty="0">
                <a:solidFill>
                  <a:srgbClr val="000000"/>
                </a:solidFill>
                <a:latin typeface="宋体" panose="02000500000000000000" pitchFamily="2" charset="-122"/>
                <a:cs typeface="宋体" panose="02000500000000000000" pitchFamily="2" charset="-122"/>
              </a:rPr>
              <a:t>MUL1</a:t>
            </a:r>
            <a:r>
              <a:rPr lang="zh-CN" altLang="zh-CN" sz="1400" b="1" dirty="0">
                <a:solidFill>
                  <a:srgbClr val="000000"/>
                </a:solidFill>
                <a:latin typeface="宋体" panose="02000500000000000000" pitchFamily="2" charset="-122"/>
                <a:cs typeface="宋体" panose="02000500000000000000" pitchFamily="2" charset="-122"/>
              </a:rPr>
              <a:t>发射，</a:t>
            </a:r>
            <a:r>
              <a:rPr lang="en-US" altLang="zh-CN" sz="1400" b="1" dirty="0">
                <a:solidFill>
                  <a:srgbClr val="000000"/>
                </a:solidFill>
                <a:latin typeface="宋体" panose="02000500000000000000" pitchFamily="2" charset="-122"/>
                <a:cs typeface="宋体" panose="02000500000000000000" pitchFamily="2" charset="-122"/>
              </a:rPr>
              <a:t>F0</a:t>
            </a:r>
            <a:r>
              <a:rPr lang="zh-CN" altLang="zh-CN" sz="1400" b="1" dirty="0">
                <a:solidFill>
                  <a:srgbClr val="000000"/>
                </a:solidFill>
                <a:latin typeface="宋体" panose="02000500000000000000" pitchFamily="2" charset="-122"/>
                <a:cs typeface="宋体" panose="02000500000000000000" pitchFamily="2" charset="-122"/>
              </a:rPr>
              <a:t>等待3号保留站的结果</a:t>
            </a:r>
            <a:endParaRPr lang="zh-CN" altLang="zh-CN" sz="1400" b="1" dirty="0">
              <a:solidFill>
                <a:srgbClr val="000000"/>
              </a:solidFill>
              <a:latin typeface="宋体" panose="02000500000000000000" pitchFamily="2" charset="-122"/>
              <a:cs typeface="宋体" panose="02000500000000000000" pitchFamily="2" charset="-122"/>
            </a:endParaRPr>
          </a:p>
          <a:p>
            <a:pPr>
              <a:lnSpc>
                <a:spcPct val="150000"/>
              </a:lnSpc>
              <a:buChar char="•"/>
            </a:pPr>
            <a:r>
              <a:rPr lang="en-US" altLang="zh-CN" sz="1400" b="1" dirty="0">
                <a:solidFill>
                  <a:srgbClr val="000000"/>
                </a:solidFill>
                <a:latin typeface="宋体" panose="02000500000000000000" pitchFamily="2" charset="-122"/>
                <a:cs typeface="宋体" panose="02000500000000000000" pitchFamily="2" charset="-122"/>
              </a:rPr>
              <a:t>ADD</a:t>
            </a:r>
            <a:r>
              <a:rPr lang="zh-CN" altLang="zh-CN" sz="1400" b="1" dirty="0">
                <a:solidFill>
                  <a:srgbClr val="000000"/>
                </a:solidFill>
                <a:latin typeface="宋体" panose="02000500000000000000" pitchFamily="2" charset="-122"/>
                <a:cs typeface="宋体" panose="02000500000000000000" pitchFamily="2" charset="-122"/>
              </a:rPr>
              <a:t>发射，</a:t>
            </a:r>
            <a:r>
              <a:rPr lang="en-US" altLang="zh-CN" sz="1400" b="1" dirty="0">
                <a:solidFill>
                  <a:srgbClr val="000000"/>
                </a:solidFill>
                <a:latin typeface="宋体" panose="02000500000000000000" pitchFamily="2" charset="-122"/>
                <a:cs typeface="宋体" panose="02000500000000000000" pitchFamily="2" charset="-122"/>
              </a:rPr>
              <a:t>F1, F2</a:t>
            </a:r>
            <a:r>
              <a:rPr lang="zh-CN" altLang="zh-CN" sz="1400" b="1" dirty="0">
                <a:solidFill>
                  <a:srgbClr val="000000"/>
                </a:solidFill>
                <a:latin typeface="宋体" panose="02000500000000000000" pitchFamily="2" charset="-122"/>
                <a:cs typeface="宋体" panose="02000500000000000000" pitchFamily="2" charset="-122"/>
              </a:rPr>
              <a:t>都准备好</a:t>
            </a:r>
            <a:endParaRPr lang="zh-CN" altLang="zh-CN" sz="1400" b="1" dirty="0">
              <a:solidFill>
                <a:srgbClr val="FF0000"/>
              </a:solidFill>
              <a:latin typeface="宋体" panose="02000500000000000000" pitchFamily="2" charset="-122"/>
              <a:cs typeface="宋体" panose="02000500000000000000" pitchFamily="2" charset="-122"/>
            </a:endParaRPr>
          </a:p>
          <a:p>
            <a:pPr>
              <a:lnSpc>
                <a:spcPct val="150000"/>
              </a:lnSpc>
              <a:buChar char="•"/>
            </a:pPr>
            <a:r>
              <a:rPr lang="en-US" altLang="zh-CN" sz="1400" b="1" dirty="0">
                <a:solidFill>
                  <a:srgbClr val="000000"/>
                </a:solidFill>
                <a:latin typeface="宋体" panose="02000500000000000000" pitchFamily="2" charset="-122"/>
                <a:cs typeface="宋体" panose="02000500000000000000" pitchFamily="2" charset="-122"/>
              </a:rPr>
              <a:t>MUL2</a:t>
            </a:r>
            <a:r>
              <a:rPr lang="zh-CN" altLang="zh-CN" sz="1400" b="1" dirty="0">
                <a:solidFill>
                  <a:srgbClr val="000000"/>
                </a:solidFill>
                <a:latin typeface="宋体" panose="02000500000000000000" pitchFamily="2" charset="-122"/>
                <a:cs typeface="宋体" panose="02000500000000000000" pitchFamily="2" charset="-122"/>
              </a:rPr>
              <a:t>发射，</a:t>
            </a:r>
            <a:r>
              <a:rPr lang="en-US" altLang="zh-CN" sz="1400" b="1" dirty="0">
                <a:solidFill>
                  <a:srgbClr val="000000"/>
                </a:solidFill>
                <a:latin typeface="宋体" panose="02000500000000000000" pitchFamily="2" charset="-122"/>
                <a:cs typeface="宋体" panose="02000500000000000000" pitchFamily="2" charset="-122"/>
              </a:rPr>
              <a:t>F0</a:t>
            </a:r>
            <a:r>
              <a:rPr lang="zh-CN" altLang="zh-CN" sz="1400" b="1" dirty="0">
                <a:solidFill>
                  <a:srgbClr val="000000"/>
                </a:solidFill>
                <a:latin typeface="宋体" panose="02000500000000000000" pitchFamily="2" charset="-122"/>
                <a:cs typeface="宋体" panose="02000500000000000000" pitchFamily="2" charset="-122"/>
              </a:rPr>
              <a:t>等待6号保留站的结果</a:t>
            </a:r>
            <a:endParaRPr lang="zh-CN" altLang="zh-CN" sz="1400" b="1" dirty="0">
              <a:solidFill>
                <a:srgbClr val="FF0000"/>
              </a:solidFill>
              <a:latin typeface="宋体" panose="02000500000000000000" pitchFamily="2" charset="-122"/>
              <a:cs typeface="宋体" panose="02000500000000000000" pitchFamily="2" charset="-122"/>
            </a:endParaRPr>
          </a:p>
          <a:p>
            <a:pPr>
              <a:lnSpc>
                <a:spcPct val="150000"/>
              </a:lnSpc>
              <a:buChar char="•"/>
            </a:pPr>
            <a:r>
              <a:rPr lang="en-US" altLang="zh-CN" sz="1400" b="1" dirty="0">
                <a:solidFill>
                  <a:srgbClr val="000000"/>
                </a:solidFill>
                <a:latin typeface="宋体" panose="02000500000000000000" pitchFamily="2" charset="-122"/>
                <a:cs typeface="宋体" panose="02000500000000000000" pitchFamily="2" charset="-122"/>
              </a:rPr>
              <a:t>ADD</a:t>
            </a:r>
            <a:r>
              <a:rPr lang="zh-CN" altLang="zh-CN" sz="1400" b="1" dirty="0">
                <a:solidFill>
                  <a:srgbClr val="000000"/>
                </a:solidFill>
                <a:latin typeface="宋体" panose="02000500000000000000" pitchFamily="2" charset="-122"/>
                <a:cs typeface="宋体" panose="02000500000000000000" pitchFamily="2" charset="-122"/>
              </a:rPr>
              <a:t>写回</a:t>
            </a:r>
            <a:endParaRPr lang="zh-CN" altLang="zh-CN" sz="1400" b="1" dirty="0">
              <a:solidFill>
                <a:srgbClr val="000000"/>
              </a:solidFill>
              <a:latin typeface="宋体" panose="02000500000000000000" pitchFamily="2" charset="-122"/>
              <a:cs typeface="宋体" panose="02000500000000000000" pitchFamily="2" charset="-122"/>
            </a:endParaRPr>
          </a:p>
          <a:p>
            <a:pPr>
              <a:lnSpc>
                <a:spcPct val="150000"/>
              </a:lnSpc>
              <a:buChar char="•"/>
            </a:pPr>
            <a:r>
              <a:rPr lang="en-US" altLang="zh-CN" sz="1400" b="1" dirty="0">
                <a:solidFill>
                  <a:schemeClr val="tx1"/>
                </a:solidFill>
                <a:latin typeface="宋体" panose="02000500000000000000" pitchFamily="2" charset="-122"/>
                <a:cs typeface="宋体" panose="02000500000000000000" pitchFamily="2" charset="-122"/>
              </a:rPr>
              <a:t>DIV</a:t>
            </a:r>
            <a:r>
              <a:rPr lang="zh-CN" altLang="zh-CN" sz="1400" b="1" dirty="0">
                <a:solidFill>
                  <a:schemeClr val="tx1"/>
                </a:solidFill>
                <a:latin typeface="宋体" panose="02000500000000000000" pitchFamily="2" charset="-122"/>
                <a:cs typeface="宋体" panose="02000500000000000000" pitchFamily="2" charset="-122"/>
              </a:rPr>
              <a:t>写回</a:t>
            </a:r>
            <a:endParaRPr lang="zh-CN" altLang="zh-CN" sz="1400" b="1" dirty="0">
              <a:solidFill>
                <a:schemeClr val="tx1"/>
              </a:solidFill>
              <a:latin typeface="宋体" panose="02000500000000000000" pitchFamily="2" charset="-122"/>
              <a:cs typeface="宋体" panose="02000500000000000000" pitchFamily="2" charset="-122"/>
            </a:endParaRPr>
          </a:p>
          <a:p>
            <a:pPr>
              <a:lnSpc>
                <a:spcPct val="150000"/>
              </a:lnSpc>
              <a:buChar char="•"/>
            </a:pPr>
            <a:r>
              <a:rPr lang="en-US" altLang="zh-CN" sz="1400" b="1" dirty="0">
                <a:solidFill>
                  <a:srgbClr val="FF0000"/>
                </a:solidFill>
                <a:latin typeface="宋体" panose="02000500000000000000" pitchFamily="2" charset="-122"/>
                <a:cs typeface="宋体" panose="02000500000000000000" pitchFamily="2" charset="-122"/>
              </a:rPr>
              <a:t>MUL2</a:t>
            </a:r>
            <a:r>
              <a:rPr lang="zh-CN" altLang="en-US" sz="1400" b="1" dirty="0">
                <a:solidFill>
                  <a:srgbClr val="FF0000"/>
                </a:solidFill>
                <a:latin typeface="宋体" panose="02000500000000000000" pitchFamily="2" charset="-122"/>
                <a:cs typeface="宋体" panose="02000500000000000000" pitchFamily="2" charset="-122"/>
              </a:rPr>
              <a:t>写回</a:t>
            </a:r>
            <a:endParaRPr lang="zh-CN" altLang="zh-CN" sz="1400" b="1" dirty="0">
              <a:solidFill>
                <a:srgbClr val="FF0000"/>
              </a:solidFill>
              <a:latin typeface="宋体" panose="02000500000000000000" pitchFamily="2" charset="-122"/>
              <a:cs typeface="宋体" panose="02000500000000000000" pitchFamily="2" charset="-122"/>
            </a:endParaRPr>
          </a:p>
          <a:p>
            <a:pPr>
              <a:buChar char="•"/>
            </a:pPr>
            <a:endParaRPr lang="zh-CN" altLang="zh-CN" sz="1400" b="1" dirty="0">
              <a:solidFill>
                <a:srgbClr val="FF0000"/>
              </a:solidFill>
              <a:latin typeface="宋体" panose="02000500000000000000" pitchFamily="2" charset="-122"/>
              <a:cs typeface="宋体" panose="02000500000000000000" pitchFamily="2"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914400" y="80645"/>
            <a:ext cx="10361613" cy="1143000"/>
          </a:xfrm>
        </p:spPr>
        <p:txBody>
          <a:bodyPr/>
          <a:p>
            <a:r>
              <a:rPr lang="zh-CN" altLang="en-US"/>
              <a:t>例子</a:t>
            </a:r>
            <a:endParaRPr lang="zh-CN" altLang="en-US"/>
          </a:p>
        </p:txBody>
      </p:sp>
      <p:grpSp>
        <p:nvGrpSpPr>
          <p:cNvPr id="6" name="组合 5"/>
          <p:cNvGrpSpPr/>
          <p:nvPr/>
        </p:nvGrpSpPr>
        <p:grpSpPr>
          <a:xfrm>
            <a:off x="4485005" y="1449705"/>
            <a:ext cx="7679690" cy="3862070"/>
            <a:chOff x="7063" y="2283"/>
            <a:chExt cx="12094" cy="6082"/>
          </a:xfrm>
        </p:grpSpPr>
        <p:sp>
          <p:nvSpPr>
            <p:cNvPr id="31751" name="Line 52"/>
            <p:cNvSpPr/>
            <p:nvPr/>
          </p:nvSpPr>
          <p:spPr>
            <a:xfrm flipV="1">
              <a:off x="11639" y="3333"/>
              <a:ext cx="0" cy="528"/>
            </a:xfrm>
            <a:prstGeom prst="line">
              <a:avLst/>
            </a:prstGeom>
            <a:ln w="9525" cap="flat" cmpd="sng">
              <a:solidFill>
                <a:schemeClr val="tx1"/>
              </a:solidFill>
              <a:prstDash val="solid"/>
              <a:round/>
              <a:headEnd type="none" w="med" len="med"/>
              <a:tailEnd type="triangle" w="med" len="med"/>
            </a:ln>
          </p:spPr>
        </p:sp>
        <p:sp>
          <p:nvSpPr>
            <p:cNvPr id="31752" name="Line 53"/>
            <p:cNvSpPr/>
            <p:nvPr/>
          </p:nvSpPr>
          <p:spPr>
            <a:xfrm flipV="1">
              <a:off x="13025" y="3333"/>
              <a:ext cx="0" cy="528"/>
            </a:xfrm>
            <a:prstGeom prst="line">
              <a:avLst/>
            </a:prstGeom>
            <a:ln w="9525" cap="flat" cmpd="sng">
              <a:solidFill>
                <a:schemeClr val="tx1"/>
              </a:solidFill>
              <a:prstDash val="solid"/>
              <a:round/>
              <a:headEnd type="none" w="med" len="med"/>
              <a:tailEnd type="triangle" w="med" len="med"/>
            </a:ln>
          </p:spPr>
        </p:sp>
        <p:sp>
          <p:nvSpPr>
            <p:cNvPr id="31753" name="Line 54"/>
            <p:cNvSpPr/>
            <p:nvPr/>
          </p:nvSpPr>
          <p:spPr>
            <a:xfrm flipV="1">
              <a:off x="16305" y="3313"/>
              <a:ext cx="0" cy="528"/>
            </a:xfrm>
            <a:prstGeom prst="line">
              <a:avLst/>
            </a:prstGeom>
            <a:ln w="9525" cap="flat" cmpd="sng">
              <a:solidFill>
                <a:schemeClr val="tx1"/>
              </a:solidFill>
              <a:prstDash val="solid"/>
              <a:round/>
              <a:headEnd type="none" w="med" len="med"/>
              <a:tailEnd type="triangle" w="med" len="med"/>
            </a:ln>
          </p:spPr>
        </p:sp>
        <p:sp>
          <p:nvSpPr>
            <p:cNvPr id="31754" name="Line 55"/>
            <p:cNvSpPr/>
            <p:nvPr/>
          </p:nvSpPr>
          <p:spPr>
            <a:xfrm flipV="1">
              <a:off x="17798" y="3293"/>
              <a:ext cx="0" cy="528"/>
            </a:xfrm>
            <a:prstGeom prst="line">
              <a:avLst/>
            </a:prstGeom>
            <a:ln w="9525" cap="flat" cmpd="sng">
              <a:solidFill>
                <a:schemeClr val="tx1"/>
              </a:solidFill>
              <a:prstDash val="solid"/>
              <a:round/>
              <a:headEnd type="none" w="med" len="med"/>
              <a:tailEnd type="triangle" w="med" len="med"/>
            </a:ln>
          </p:spPr>
        </p:sp>
        <p:sp>
          <p:nvSpPr>
            <p:cNvPr id="31755" name="Line 56"/>
            <p:cNvSpPr/>
            <p:nvPr/>
          </p:nvSpPr>
          <p:spPr>
            <a:xfrm flipV="1">
              <a:off x="12815" y="7393"/>
              <a:ext cx="0" cy="973"/>
            </a:xfrm>
            <a:prstGeom prst="line">
              <a:avLst/>
            </a:prstGeom>
            <a:ln w="19050" cap="flat" cmpd="sng">
              <a:solidFill>
                <a:schemeClr val="tx1"/>
              </a:solidFill>
              <a:prstDash val="solid"/>
              <a:round/>
              <a:headEnd type="none" w="med" len="med"/>
              <a:tailEnd type="triangle" w="med" len="med"/>
            </a:ln>
          </p:spPr>
        </p:sp>
        <p:sp>
          <p:nvSpPr>
            <p:cNvPr id="31756" name="Line 57"/>
            <p:cNvSpPr/>
            <p:nvPr/>
          </p:nvSpPr>
          <p:spPr>
            <a:xfrm flipV="1">
              <a:off x="12275" y="4795"/>
              <a:ext cx="0" cy="390"/>
            </a:xfrm>
            <a:prstGeom prst="line">
              <a:avLst/>
            </a:prstGeom>
            <a:ln w="19050" cap="flat" cmpd="sng">
              <a:solidFill>
                <a:schemeClr val="tx1"/>
              </a:solidFill>
              <a:prstDash val="solid"/>
              <a:round/>
              <a:headEnd type="none" w="med" len="med"/>
              <a:tailEnd type="triangle" w="med" len="med"/>
            </a:ln>
          </p:spPr>
        </p:sp>
        <p:sp>
          <p:nvSpPr>
            <p:cNvPr id="31757" name="Line 58"/>
            <p:cNvSpPr/>
            <p:nvPr/>
          </p:nvSpPr>
          <p:spPr>
            <a:xfrm flipV="1">
              <a:off x="16989" y="4783"/>
              <a:ext cx="0" cy="410"/>
            </a:xfrm>
            <a:prstGeom prst="line">
              <a:avLst/>
            </a:prstGeom>
            <a:ln w="19050" cap="flat" cmpd="sng">
              <a:solidFill>
                <a:schemeClr val="tx1"/>
              </a:solidFill>
              <a:prstDash val="solid"/>
              <a:round/>
              <a:headEnd type="none" w="med" len="med"/>
              <a:tailEnd type="triangle" w="med" len="med"/>
            </a:ln>
          </p:spPr>
        </p:sp>
        <p:sp>
          <p:nvSpPr>
            <p:cNvPr id="31758" name="Line 59"/>
            <p:cNvSpPr/>
            <p:nvPr/>
          </p:nvSpPr>
          <p:spPr>
            <a:xfrm flipV="1">
              <a:off x="17029" y="2283"/>
              <a:ext cx="0" cy="583"/>
            </a:xfrm>
            <a:prstGeom prst="line">
              <a:avLst/>
            </a:prstGeom>
            <a:ln w="19050" cap="flat" cmpd="sng">
              <a:solidFill>
                <a:srgbClr val="FF0000"/>
              </a:solidFill>
              <a:prstDash val="solid"/>
              <a:round/>
              <a:headEnd type="none" w="med" len="med"/>
              <a:tailEnd type="triangle" w="med" len="med"/>
            </a:ln>
          </p:spPr>
        </p:sp>
        <p:sp>
          <p:nvSpPr>
            <p:cNvPr id="31759" name="Line 60"/>
            <p:cNvSpPr/>
            <p:nvPr/>
          </p:nvSpPr>
          <p:spPr>
            <a:xfrm flipV="1">
              <a:off x="12412" y="2310"/>
              <a:ext cx="0" cy="583"/>
            </a:xfrm>
            <a:prstGeom prst="line">
              <a:avLst/>
            </a:prstGeom>
            <a:ln w="19050" cap="flat" cmpd="sng">
              <a:solidFill>
                <a:schemeClr val="tx1"/>
              </a:solidFill>
              <a:prstDash val="solid"/>
              <a:round/>
              <a:headEnd type="none" w="med" len="med"/>
              <a:tailEnd type="triangle" w="med" len="med"/>
            </a:ln>
          </p:spPr>
        </p:sp>
        <p:sp>
          <p:nvSpPr>
            <p:cNvPr id="31760" name="Line 61"/>
            <p:cNvSpPr/>
            <p:nvPr/>
          </p:nvSpPr>
          <p:spPr>
            <a:xfrm>
              <a:off x="8119" y="2300"/>
              <a:ext cx="11039" cy="0"/>
            </a:xfrm>
            <a:prstGeom prst="line">
              <a:avLst/>
            </a:prstGeom>
            <a:ln w="19050" cap="flat" cmpd="sng">
              <a:solidFill>
                <a:srgbClr val="FF0000"/>
              </a:solidFill>
              <a:prstDash val="solid"/>
              <a:round/>
              <a:headEnd type="none" w="med" len="med"/>
              <a:tailEnd type="none" w="med" len="med"/>
            </a:ln>
          </p:spPr>
        </p:sp>
        <p:sp>
          <p:nvSpPr>
            <p:cNvPr id="31761" name="Line 62"/>
            <p:cNvSpPr/>
            <p:nvPr/>
          </p:nvSpPr>
          <p:spPr>
            <a:xfrm flipV="1">
              <a:off x="11276" y="4780"/>
              <a:ext cx="0" cy="818"/>
            </a:xfrm>
            <a:prstGeom prst="line">
              <a:avLst/>
            </a:prstGeom>
            <a:ln w="19050" cap="flat" cmpd="sng">
              <a:solidFill>
                <a:srgbClr val="FF0000"/>
              </a:solidFill>
              <a:prstDash val="solid"/>
              <a:round/>
              <a:headEnd type="none" w="med" len="med"/>
              <a:tailEnd type="triangle" w="med" len="med"/>
            </a:ln>
          </p:spPr>
        </p:sp>
        <p:sp>
          <p:nvSpPr>
            <p:cNvPr id="31762" name="Line 63"/>
            <p:cNvSpPr/>
            <p:nvPr/>
          </p:nvSpPr>
          <p:spPr>
            <a:xfrm flipV="1">
              <a:off x="17752" y="4768"/>
              <a:ext cx="0" cy="818"/>
            </a:xfrm>
            <a:prstGeom prst="line">
              <a:avLst/>
            </a:prstGeom>
            <a:ln w="19050" cap="flat" cmpd="sng">
              <a:solidFill>
                <a:srgbClr val="FF0000"/>
              </a:solidFill>
              <a:prstDash val="solid"/>
              <a:round/>
              <a:headEnd type="none" w="med" len="med"/>
              <a:tailEnd type="triangle" w="med" len="med"/>
            </a:ln>
          </p:spPr>
        </p:sp>
        <p:sp>
          <p:nvSpPr>
            <p:cNvPr id="31763" name="Line 64"/>
            <p:cNvSpPr/>
            <p:nvPr/>
          </p:nvSpPr>
          <p:spPr>
            <a:xfrm>
              <a:off x="19135" y="2300"/>
              <a:ext cx="0" cy="5455"/>
            </a:xfrm>
            <a:prstGeom prst="line">
              <a:avLst/>
            </a:prstGeom>
            <a:ln w="19050" cap="flat" cmpd="sng">
              <a:solidFill>
                <a:srgbClr val="FF0000"/>
              </a:solidFill>
              <a:prstDash val="solid"/>
              <a:round/>
              <a:headEnd type="none" w="med" len="med"/>
              <a:tailEnd type="none" w="med" len="med"/>
            </a:ln>
          </p:spPr>
        </p:sp>
        <p:sp>
          <p:nvSpPr>
            <p:cNvPr id="31764" name="Line 65"/>
            <p:cNvSpPr/>
            <p:nvPr/>
          </p:nvSpPr>
          <p:spPr>
            <a:xfrm flipV="1">
              <a:off x="12779" y="5150"/>
              <a:ext cx="0" cy="915"/>
            </a:xfrm>
            <a:prstGeom prst="line">
              <a:avLst/>
            </a:prstGeom>
            <a:ln w="19050" cap="flat" cmpd="sng">
              <a:solidFill>
                <a:schemeClr val="tx1"/>
              </a:solidFill>
              <a:prstDash val="solid"/>
              <a:round/>
              <a:headEnd type="none" w="med" len="med"/>
              <a:tailEnd type="triangle" w="med" len="med"/>
            </a:ln>
          </p:spPr>
        </p:sp>
        <p:sp>
          <p:nvSpPr>
            <p:cNvPr id="31765" name="Text Box 66"/>
            <p:cNvSpPr txBox="1"/>
            <p:nvPr/>
          </p:nvSpPr>
          <p:spPr>
            <a:xfrm>
              <a:off x="9896" y="3538"/>
              <a:ext cx="1637" cy="29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加法保留站</a:t>
              </a:r>
              <a:endParaRPr lang="zh-CN" altLang="en-US" sz="1200" b="1" dirty="0">
                <a:latin typeface="Times New Roman" pitchFamily="18" charset="0"/>
                <a:ea typeface="宋体" panose="02000500000000000000" pitchFamily="2" charset="-122"/>
              </a:endParaRPr>
            </a:p>
          </p:txBody>
        </p:sp>
        <p:sp>
          <p:nvSpPr>
            <p:cNvPr id="31766" name="Text Box 67"/>
            <p:cNvSpPr txBox="1"/>
            <p:nvPr/>
          </p:nvSpPr>
          <p:spPr>
            <a:xfrm>
              <a:off x="10906" y="5788"/>
              <a:ext cx="1717" cy="290"/>
            </a:xfrm>
            <a:prstGeom prst="rect">
              <a:avLst/>
            </a:prstGeom>
            <a:noFill/>
            <a:ln w="9525">
              <a:noFill/>
            </a:ln>
            <a:extLst>
              <a:ext uri="{909E8E84-426E-40DD-AFC4-6F175D3DCCD1}">
                <a14:hiddenFill xmlns:a14="http://schemas.microsoft.com/office/drawing/2010/main">
                  <a:solidFill>
                    <a:schemeClr val="bg1"/>
                  </a:solidFill>
                </a14:hiddenFill>
              </a:ext>
            </a:extLst>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浮点寄存器</a:t>
              </a:r>
              <a:endParaRPr lang="zh-CN" altLang="en-US" sz="1200" b="1" dirty="0">
                <a:latin typeface="Times New Roman" pitchFamily="18" charset="0"/>
                <a:ea typeface="宋体" panose="02000500000000000000" pitchFamily="2" charset="-122"/>
              </a:endParaRPr>
            </a:p>
          </p:txBody>
        </p:sp>
        <p:sp>
          <p:nvSpPr>
            <p:cNvPr id="31767" name="Text Box 68"/>
            <p:cNvSpPr txBox="1"/>
            <p:nvPr/>
          </p:nvSpPr>
          <p:spPr>
            <a:xfrm>
              <a:off x="14629" y="3520"/>
              <a:ext cx="1637" cy="29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乘法保留站</a:t>
              </a:r>
              <a:endParaRPr lang="zh-CN" altLang="en-US" sz="1200" b="1" dirty="0">
                <a:latin typeface="Times New Roman" pitchFamily="18" charset="0"/>
                <a:ea typeface="宋体" panose="02000500000000000000" pitchFamily="2" charset="-122"/>
              </a:endParaRPr>
            </a:p>
          </p:txBody>
        </p:sp>
        <p:sp>
          <p:nvSpPr>
            <p:cNvPr id="31768" name="Line 69"/>
            <p:cNvSpPr/>
            <p:nvPr/>
          </p:nvSpPr>
          <p:spPr>
            <a:xfrm>
              <a:off x="13835" y="7755"/>
              <a:ext cx="5323" cy="0"/>
            </a:xfrm>
            <a:prstGeom prst="line">
              <a:avLst/>
            </a:prstGeom>
            <a:ln w="19050" cap="flat" cmpd="sng">
              <a:solidFill>
                <a:srgbClr val="FF0000"/>
              </a:solidFill>
              <a:prstDash val="solid"/>
              <a:round/>
              <a:headEnd type="none" w="med" len="med"/>
              <a:tailEnd type="none" w="med" len="med"/>
            </a:ln>
          </p:spPr>
        </p:sp>
        <p:sp>
          <p:nvSpPr>
            <p:cNvPr id="31769" name="Line 70"/>
            <p:cNvSpPr/>
            <p:nvPr/>
          </p:nvSpPr>
          <p:spPr>
            <a:xfrm flipV="1">
              <a:off x="13835" y="7348"/>
              <a:ext cx="3" cy="410"/>
            </a:xfrm>
            <a:prstGeom prst="line">
              <a:avLst/>
            </a:prstGeom>
            <a:ln w="19050" cap="flat" cmpd="sng">
              <a:solidFill>
                <a:srgbClr val="FF0000"/>
              </a:solidFill>
              <a:prstDash val="solid"/>
              <a:round/>
              <a:headEnd type="none" w="med" len="med"/>
              <a:tailEnd type="triangle" w="med" len="med"/>
            </a:ln>
          </p:spPr>
        </p:sp>
        <p:grpSp>
          <p:nvGrpSpPr>
            <p:cNvPr id="31772" name="Group 73"/>
            <p:cNvGrpSpPr/>
            <p:nvPr/>
          </p:nvGrpSpPr>
          <p:grpSpPr>
            <a:xfrm rot="0">
              <a:off x="7063" y="2295"/>
              <a:ext cx="12093" cy="3273"/>
              <a:chOff x="1701" y="512"/>
              <a:chExt cx="3628" cy="1309"/>
            </a:xfrm>
          </p:grpSpPr>
          <p:sp>
            <p:nvSpPr>
              <p:cNvPr id="31773" name="Line 74"/>
              <p:cNvSpPr/>
              <p:nvPr/>
            </p:nvSpPr>
            <p:spPr>
              <a:xfrm flipV="1">
                <a:off x="2154" y="1661"/>
                <a:ext cx="2518" cy="0"/>
              </a:xfrm>
              <a:prstGeom prst="line">
                <a:avLst/>
              </a:prstGeom>
              <a:ln w="19050" cap="flat" cmpd="sng">
                <a:solidFill>
                  <a:schemeClr val="tx1"/>
                </a:solidFill>
                <a:prstDash val="solid"/>
                <a:round/>
                <a:headEnd type="none" w="med" len="med"/>
                <a:tailEnd type="none" w="med" len="med"/>
              </a:ln>
            </p:spPr>
          </p:sp>
          <p:sp>
            <p:nvSpPr>
              <p:cNvPr id="31774" name="Line 75"/>
              <p:cNvSpPr/>
              <p:nvPr/>
            </p:nvSpPr>
            <p:spPr>
              <a:xfrm flipV="1">
                <a:off x="1949" y="1820"/>
                <a:ext cx="3380" cy="0"/>
              </a:xfrm>
              <a:prstGeom prst="line">
                <a:avLst/>
              </a:prstGeom>
              <a:ln w="19050" cap="flat" cmpd="sng">
                <a:solidFill>
                  <a:srgbClr val="FF0000"/>
                </a:solidFill>
                <a:prstDash val="solid"/>
                <a:round/>
                <a:headEnd type="none" w="med" len="med"/>
                <a:tailEnd type="none" w="med" len="med"/>
              </a:ln>
            </p:spPr>
          </p:sp>
          <p:grpSp>
            <p:nvGrpSpPr>
              <p:cNvPr id="31775" name="Group 76"/>
              <p:cNvGrpSpPr/>
              <p:nvPr/>
            </p:nvGrpSpPr>
            <p:grpSpPr>
              <a:xfrm>
                <a:off x="1701" y="512"/>
                <a:ext cx="3494" cy="1309"/>
                <a:chOff x="1701" y="512"/>
                <a:chExt cx="3494" cy="1309"/>
              </a:xfrm>
            </p:grpSpPr>
            <p:grpSp>
              <p:nvGrpSpPr>
                <p:cNvPr id="31776" name="Group 77"/>
                <p:cNvGrpSpPr/>
                <p:nvPr/>
              </p:nvGrpSpPr>
              <p:grpSpPr>
                <a:xfrm>
                  <a:off x="1950" y="512"/>
                  <a:ext cx="204" cy="1309"/>
                  <a:chOff x="1950" y="512"/>
                  <a:chExt cx="204" cy="1309"/>
                </a:xfrm>
              </p:grpSpPr>
              <p:sp>
                <p:nvSpPr>
                  <p:cNvPr id="31777" name="Line 78"/>
                  <p:cNvSpPr/>
                  <p:nvPr/>
                </p:nvSpPr>
                <p:spPr>
                  <a:xfrm flipV="1">
                    <a:off x="2022" y="512"/>
                    <a:ext cx="0" cy="233"/>
                  </a:xfrm>
                  <a:prstGeom prst="line">
                    <a:avLst/>
                  </a:prstGeom>
                  <a:ln w="19050" cap="flat" cmpd="sng">
                    <a:solidFill>
                      <a:schemeClr val="tx1"/>
                    </a:solidFill>
                    <a:prstDash val="solid"/>
                    <a:round/>
                    <a:headEnd type="none" w="med" len="med"/>
                    <a:tailEnd type="triangle" w="med" len="med"/>
                  </a:ln>
                </p:spPr>
              </p:sp>
              <p:sp>
                <p:nvSpPr>
                  <p:cNvPr id="31778" name="Line 79"/>
                  <p:cNvSpPr/>
                  <p:nvPr/>
                </p:nvSpPr>
                <p:spPr>
                  <a:xfrm flipV="1">
                    <a:off x="1950" y="1502"/>
                    <a:ext cx="0" cy="319"/>
                  </a:xfrm>
                  <a:prstGeom prst="line">
                    <a:avLst/>
                  </a:prstGeom>
                  <a:ln w="19050" cap="flat" cmpd="sng">
                    <a:solidFill>
                      <a:srgbClr val="FF0000"/>
                    </a:solidFill>
                    <a:prstDash val="solid"/>
                    <a:round/>
                    <a:headEnd type="none" w="med" len="med"/>
                    <a:tailEnd type="triangle" w="med" len="med"/>
                  </a:ln>
                </p:spPr>
              </p:sp>
              <p:sp>
                <p:nvSpPr>
                  <p:cNvPr id="31779" name="Line 80"/>
                  <p:cNvSpPr/>
                  <p:nvPr/>
                </p:nvSpPr>
                <p:spPr>
                  <a:xfrm flipV="1">
                    <a:off x="2154" y="1508"/>
                    <a:ext cx="0" cy="156"/>
                  </a:xfrm>
                  <a:prstGeom prst="line">
                    <a:avLst/>
                  </a:prstGeom>
                  <a:ln w="19050" cap="flat" cmpd="sng">
                    <a:solidFill>
                      <a:schemeClr val="tx1"/>
                    </a:solidFill>
                    <a:prstDash val="solid"/>
                    <a:round/>
                    <a:headEnd type="none" w="med" len="med"/>
                    <a:tailEnd type="triangle" w="med" len="med"/>
                  </a:ln>
                </p:spPr>
              </p:sp>
            </p:grpSp>
            <p:sp>
              <p:nvSpPr>
                <p:cNvPr id="31780" name="Text Box 81"/>
                <p:cNvSpPr txBox="1"/>
                <p:nvPr/>
              </p:nvSpPr>
              <p:spPr>
                <a:xfrm>
                  <a:off x="2777" y="750"/>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浮点加</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减法器</a:t>
                  </a:r>
                  <a:endParaRPr lang="zh-CN" altLang="en-US" sz="1200" b="1" dirty="0">
                    <a:latin typeface="Times New Roman" pitchFamily="18" charset="0"/>
                    <a:ea typeface="宋体" panose="02000500000000000000" pitchFamily="2" charset="-122"/>
                  </a:endParaRPr>
                </a:p>
              </p:txBody>
            </p:sp>
            <p:sp>
              <p:nvSpPr>
                <p:cNvPr id="31781" name="Text Box 82"/>
                <p:cNvSpPr txBox="1"/>
                <p:nvPr/>
              </p:nvSpPr>
              <p:spPr>
                <a:xfrm>
                  <a:off x="4181" y="737"/>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浮点乘</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除法器</a:t>
                  </a:r>
                  <a:endParaRPr lang="zh-CN" altLang="en-US" sz="1200" b="1" dirty="0">
                    <a:latin typeface="Times New Roman" pitchFamily="18" charset="0"/>
                    <a:ea typeface="宋体" panose="02000500000000000000" pitchFamily="2" charset="-122"/>
                  </a:endParaRPr>
                </a:p>
              </p:txBody>
            </p:sp>
            <p:sp>
              <p:nvSpPr>
                <p:cNvPr id="31782" name="Text Box 83"/>
                <p:cNvSpPr txBox="1"/>
                <p:nvPr/>
              </p:nvSpPr>
              <p:spPr>
                <a:xfrm>
                  <a:off x="1701" y="731"/>
                  <a:ext cx="664" cy="771"/>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p>
                  <a:pPr algn="ctr">
                    <a:spcBef>
                      <a:spcPct val="50000"/>
                    </a:spcBef>
                  </a:pPr>
                  <a:endParaRPr lang="en-US" altLang="zh-CN" sz="1200"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定点</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访存</a:t>
                  </a:r>
                  <a:endParaRPr lang="zh-CN" altLang="en-US" sz="1200" b="1"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部件</a:t>
                  </a:r>
                  <a:endParaRPr lang="zh-CN" altLang="en-US" sz="1200" b="1" dirty="0">
                    <a:latin typeface="Times New Roman" pitchFamily="18" charset="0"/>
                    <a:ea typeface="宋体" panose="02000500000000000000" pitchFamily="2" charset="-122"/>
                  </a:endParaRPr>
                </a:p>
                <a:p>
                  <a:pPr algn="ctr">
                    <a:spcBef>
                      <a:spcPct val="50000"/>
                    </a:spcBef>
                  </a:pPr>
                  <a:endParaRPr lang="en-US" altLang="zh-CN" sz="1200" b="1" dirty="0">
                    <a:latin typeface="Times New Roman" pitchFamily="18" charset="0"/>
                    <a:ea typeface="宋体" panose="02000500000000000000" pitchFamily="2" charset="-122"/>
                  </a:endParaRPr>
                </a:p>
              </p:txBody>
            </p:sp>
          </p:grpSp>
        </p:grpSp>
        <p:sp>
          <p:nvSpPr>
            <p:cNvPr id="31783" name="Text Box 84"/>
            <p:cNvSpPr txBox="1"/>
            <p:nvPr/>
          </p:nvSpPr>
          <p:spPr>
            <a:xfrm>
              <a:off x="10992" y="7945"/>
              <a:ext cx="1623" cy="290"/>
            </a:xfrm>
            <a:prstGeom prst="rect">
              <a:avLst/>
            </a:prstGeom>
            <a:solidFill>
              <a:schemeClr val="bg1"/>
            </a:solid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指令队列</a:t>
              </a:r>
              <a:endParaRPr lang="zh-CN" altLang="en-US" sz="1200" b="1" dirty="0">
                <a:latin typeface="Times New Roman" pitchFamily="18" charset="0"/>
                <a:ea typeface="宋体" panose="02000500000000000000" pitchFamily="2" charset="-122"/>
              </a:endParaRPr>
            </a:p>
          </p:txBody>
        </p:sp>
      </p:grpSp>
      <p:graphicFrame>
        <p:nvGraphicFramePr>
          <p:cNvPr id="3" name="表格 2"/>
          <p:cNvGraphicFramePr/>
          <p:nvPr/>
        </p:nvGraphicFramePr>
        <p:xfrm>
          <a:off x="6799580" y="3837940"/>
          <a:ext cx="2342515" cy="863600"/>
        </p:xfrm>
        <a:graphic>
          <a:graphicData uri="http://schemas.openxmlformats.org/drawingml/2006/table">
            <a:tbl>
              <a:tblPr firstRow="1" bandRow="1">
                <a:tableStyleId>{5C22544A-7EE6-4342-B048-85BDC9FD1C3A}</a:tableStyleId>
              </a:tblPr>
              <a:tblGrid>
                <a:gridCol w="365125"/>
                <a:gridCol w="450850"/>
                <a:gridCol w="1526540"/>
              </a:tblGrid>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3.0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6.0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4" name="表格 3"/>
          <p:cNvGraphicFramePr/>
          <p:nvPr/>
        </p:nvGraphicFramePr>
        <p:xfrm>
          <a:off x="7167880" y="5311775"/>
          <a:ext cx="1930400" cy="1280160"/>
        </p:xfrm>
        <a:graphic>
          <a:graphicData uri="http://schemas.openxmlformats.org/drawingml/2006/table">
            <a:tbl>
              <a:tblPr firstRow="1" bandRow="1">
                <a:tableStyleId>{5C22544A-7EE6-4342-B048-85BDC9FD1C3A}</a:tableStyleId>
              </a:tblPr>
              <a:tblGrid>
                <a:gridCol w="1930400"/>
              </a:tblGrid>
              <a:tr h="213360">
                <a:tc>
                  <a:txBody>
                    <a:bodyPr/>
                    <a:p>
                      <a:pPr indent="0">
                        <a:buNone/>
                      </a:pPr>
                      <a:r>
                        <a:rPr lang="en-US" sz="1200" b="1">
                          <a:solidFill>
                            <a:schemeClr val="tx1"/>
                          </a:solidFill>
                          <a:latin typeface="宋体" panose="02000500000000000000" pitchFamily="2" charset="-122"/>
                          <a:ea typeface="宋体" panose="02000500000000000000" pitchFamily="2" charset="-122"/>
                        </a:rPr>
                        <a:t>FDIV.D  </a:t>
                      </a:r>
                      <a:r>
                        <a:rPr lang="en-US" sz="1200" b="1">
                          <a:solidFill>
                            <a:srgbClr val="FF0000"/>
                          </a:solidFill>
                          <a:latin typeface="宋体" panose="02000500000000000000" pitchFamily="2" charset="-122"/>
                          <a:ea typeface="宋体" panose="02000500000000000000" pitchFamily="2" charset="-122"/>
                        </a:rPr>
                        <a:t>F0</a:t>
                      </a:r>
                      <a:r>
                        <a:rPr lang="en-US" sz="1200" b="1">
                          <a:solidFill>
                            <a:schemeClr val="tx1"/>
                          </a:solidFill>
                          <a:latin typeface="宋体" panose="02000500000000000000" pitchFamily="2" charset="-122"/>
                          <a:ea typeface="宋体" panose="02000500000000000000" pitchFamily="2" charset="-122"/>
                        </a:rPr>
                        <a:t>, F1, F2</a:t>
                      </a:r>
                      <a:endParaRPr lang="en-US" altLang="en-US" sz="1200" b="1">
                        <a:solidFill>
                          <a:schemeClr val="tx1"/>
                        </a:solidFill>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FADD.D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F1,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5" name="表格 4"/>
          <p:cNvGraphicFramePr/>
          <p:nvPr/>
        </p:nvGraphicFramePr>
        <p:xfrm>
          <a:off x="9544050" y="243586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endParaRPr lang="en-US" altLang="zh-CN" sz="1200" b="1">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7" name="表格 6"/>
          <p:cNvGraphicFramePr/>
          <p:nvPr/>
        </p:nvGraphicFramePr>
        <p:xfrm>
          <a:off x="6577330" y="245618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6</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5</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4</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sp>
        <p:nvSpPr>
          <p:cNvPr id="39960" name="Text Box 37"/>
          <p:cNvSpPr txBox="1"/>
          <p:nvPr/>
        </p:nvSpPr>
        <p:spPr>
          <a:xfrm>
            <a:off x="649288" y="3917950"/>
            <a:ext cx="5046662" cy="2891790"/>
          </a:xfrm>
          <a:prstGeom prst="rect">
            <a:avLst/>
          </a:prstGeom>
          <a:noFill/>
          <a:ln w="9525">
            <a:noFill/>
          </a:ln>
        </p:spPr>
        <p:txBody>
          <a:bodyPr anchor="t" anchorCtr="0">
            <a:spAutoFit/>
          </a:bodyPr>
          <a:p>
            <a:pPr>
              <a:lnSpc>
                <a:spcPct val="150000"/>
              </a:lnSpc>
              <a:buChar char="•"/>
            </a:pPr>
            <a:r>
              <a:rPr lang="en-US" altLang="zh-CN" sz="1400" b="1" dirty="0">
                <a:solidFill>
                  <a:srgbClr val="000000"/>
                </a:solidFill>
                <a:latin typeface="宋体" panose="02000500000000000000" pitchFamily="2" charset="-122"/>
                <a:cs typeface="宋体" panose="02000500000000000000" pitchFamily="2" charset="-122"/>
              </a:rPr>
              <a:t>DIV</a:t>
            </a:r>
            <a:r>
              <a:rPr lang="zh-CN" altLang="zh-CN" sz="1400" b="1" dirty="0">
                <a:solidFill>
                  <a:srgbClr val="000000"/>
                </a:solidFill>
                <a:latin typeface="宋体" panose="02000500000000000000" pitchFamily="2" charset="-122"/>
                <a:cs typeface="宋体" panose="02000500000000000000" pitchFamily="2" charset="-122"/>
              </a:rPr>
              <a:t>发射，</a:t>
            </a:r>
            <a:r>
              <a:rPr lang="en-US" altLang="zh-CN" sz="1400" b="1" dirty="0">
                <a:solidFill>
                  <a:srgbClr val="000000"/>
                </a:solidFill>
                <a:latin typeface="宋体" panose="02000500000000000000" pitchFamily="2" charset="-122"/>
                <a:cs typeface="宋体" panose="02000500000000000000" pitchFamily="2" charset="-122"/>
              </a:rPr>
              <a:t>F1, F2</a:t>
            </a:r>
            <a:r>
              <a:rPr lang="zh-CN" altLang="zh-CN" sz="1400" b="1" dirty="0">
                <a:solidFill>
                  <a:srgbClr val="000000"/>
                </a:solidFill>
                <a:latin typeface="宋体" panose="02000500000000000000" pitchFamily="2" charset="-122"/>
                <a:cs typeface="宋体" panose="02000500000000000000" pitchFamily="2" charset="-122"/>
              </a:rPr>
              <a:t>都准备好</a:t>
            </a:r>
            <a:endParaRPr lang="zh-CN" altLang="zh-CN" sz="1400" b="1" dirty="0">
              <a:solidFill>
                <a:srgbClr val="000000"/>
              </a:solidFill>
              <a:latin typeface="宋体" panose="02000500000000000000" pitchFamily="2" charset="-122"/>
              <a:cs typeface="宋体" panose="02000500000000000000" pitchFamily="2" charset="-122"/>
            </a:endParaRPr>
          </a:p>
          <a:p>
            <a:pPr>
              <a:lnSpc>
                <a:spcPct val="150000"/>
              </a:lnSpc>
              <a:buChar char="•"/>
            </a:pPr>
            <a:r>
              <a:rPr lang="en-US" altLang="zh-CN" sz="1400" b="1" dirty="0">
                <a:solidFill>
                  <a:srgbClr val="000000"/>
                </a:solidFill>
                <a:latin typeface="宋体" panose="02000500000000000000" pitchFamily="2" charset="-122"/>
                <a:cs typeface="宋体" panose="02000500000000000000" pitchFamily="2" charset="-122"/>
              </a:rPr>
              <a:t>MUL1</a:t>
            </a:r>
            <a:r>
              <a:rPr lang="zh-CN" altLang="zh-CN" sz="1400" b="1" dirty="0">
                <a:solidFill>
                  <a:srgbClr val="000000"/>
                </a:solidFill>
                <a:latin typeface="宋体" panose="02000500000000000000" pitchFamily="2" charset="-122"/>
                <a:cs typeface="宋体" panose="02000500000000000000" pitchFamily="2" charset="-122"/>
              </a:rPr>
              <a:t>发射，</a:t>
            </a:r>
            <a:r>
              <a:rPr lang="en-US" altLang="zh-CN" sz="1400" b="1" dirty="0">
                <a:solidFill>
                  <a:srgbClr val="000000"/>
                </a:solidFill>
                <a:latin typeface="宋体" panose="02000500000000000000" pitchFamily="2" charset="-122"/>
                <a:cs typeface="宋体" panose="02000500000000000000" pitchFamily="2" charset="-122"/>
              </a:rPr>
              <a:t>F0</a:t>
            </a:r>
            <a:r>
              <a:rPr lang="zh-CN" altLang="zh-CN" sz="1400" b="1" dirty="0">
                <a:solidFill>
                  <a:srgbClr val="000000"/>
                </a:solidFill>
                <a:latin typeface="宋体" panose="02000500000000000000" pitchFamily="2" charset="-122"/>
                <a:cs typeface="宋体" panose="02000500000000000000" pitchFamily="2" charset="-122"/>
              </a:rPr>
              <a:t>等待3号保留站的结果</a:t>
            </a:r>
            <a:endParaRPr lang="zh-CN" altLang="zh-CN" sz="1400" b="1" dirty="0">
              <a:solidFill>
                <a:srgbClr val="000000"/>
              </a:solidFill>
              <a:latin typeface="宋体" panose="02000500000000000000" pitchFamily="2" charset="-122"/>
              <a:cs typeface="宋体" panose="02000500000000000000" pitchFamily="2" charset="-122"/>
            </a:endParaRPr>
          </a:p>
          <a:p>
            <a:pPr>
              <a:lnSpc>
                <a:spcPct val="150000"/>
              </a:lnSpc>
              <a:buChar char="•"/>
            </a:pPr>
            <a:r>
              <a:rPr lang="en-US" altLang="zh-CN" sz="1400" b="1" dirty="0">
                <a:solidFill>
                  <a:srgbClr val="000000"/>
                </a:solidFill>
                <a:latin typeface="宋体" panose="02000500000000000000" pitchFamily="2" charset="-122"/>
                <a:cs typeface="宋体" panose="02000500000000000000" pitchFamily="2" charset="-122"/>
              </a:rPr>
              <a:t>ADD</a:t>
            </a:r>
            <a:r>
              <a:rPr lang="zh-CN" altLang="zh-CN" sz="1400" b="1" dirty="0">
                <a:solidFill>
                  <a:srgbClr val="000000"/>
                </a:solidFill>
                <a:latin typeface="宋体" panose="02000500000000000000" pitchFamily="2" charset="-122"/>
                <a:cs typeface="宋体" panose="02000500000000000000" pitchFamily="2" charset="-122"/>
              </a:rPr>
              <a:t>发射，</a:t>
            </a:r>
            <a:r>
              <a:rPr lang="en-US" altLang="zh-CN" sz="1400" b="1" dirty="0">
                <a:solidFill>
                  <a:srgbClr val="000000"/>
                </a:solidFill>
                <a:latin typeface="宋体" panose="02000500000000000000" pitchFamily="2" charset="-122"/>
                <a:cs typeface="宋体" panose="02000500000000000000" pitchFamily="2" charset="-122"/>
              </a:rPr>
              <a:t>F1, F2</a:t>
            </a:r>
            <a:r>
              <a:rPr lang="zh-CN" altLang="zh-CN" sz="1400" b="1" dirty="0">
                <a:solidFill>
                  <a:srgbClr val="000000"/>
                </a:solidFill>
                <a:latin typeface="宋体" panose="02000500000000000000" pitchFamily="2" charset="-122"/>
                <a:cs typeface="宋体" panose="02000500000000000000" pitchFamily="2" charset="-122"/>
              </a:rPr>
              <a:t>都准备好</a:t>
            </a:r>
            <a:endParaRPr lang="zh-CN" altLang="zh-CN" sz="1400" b="1" dirty="0">
              <a:solidFill>
                <a:srgbClr val="FF0000"/>
              </a:solidFill>
              <a:latin typeface="宋体" panose="02000500000000000000" pitchFamily="2" charset="-122"/>
              <a:cs typeface="宋体" panose="02000500000000000000" pitchFamily="2" charset="-122"/>
            </a:endParaRPr>
          </a:p>
          <a:p>
            <a:pPr>
              <a:lnSpc>
                <a:spcPct val="150000"/>
              </a:lnSpc>
              <a:buChar char="•"/>
            </a:pPr>
            <a:r>
              <a:rPr lang="en-US" altLang="zh-CN" sz="1400" b="1" dirty="0">
                <a:solidFill>
                  <a:srgbClr val="000000"/>
                </a:solidFill>
                <a:latin typeface="宋体" panose="02000500000000000000" pitchFamily="2" charset="-122"/>
                <a:cs typeface="宋体" panose="02000500000000000000" pitchFamily="2" charset="-122"/>
              </a:rPr>
              <a:t>MUL2</a:t>
            </a:r>
            <a:r>
              <a:rPr lang="zh-CN" altLang="zh-CN" sz="1400" b="1" dirty="0">
                <a:solidFill>
                  <a:srgbClr val="000000"/>
                </a:solidFill>
                <a:latin typeface="宋体" panose="02000500000000000000" pitchFamily="2" charset="-122"/>
                <a:cs typeface="宋体" panose="02000500000000000000" pitchFamily="2" charset="-122"/>
              </a:rPr>
              <a:t>发射，</a:t>
            </a:r>
            <a:r>
              <a:rPr lang="en-US" altLang="zh-CN" sz="1400" b="1" dirty="0">
                <a:solidFill>
                  <a:srgbClr val="000000"/>
                </a:solidFill>
                <a:latin typeface="宋体" panose="02000500000000000000" pitchFamily="2" charset="-122"/>
                <a:cs typeface="宋体" panose="02000500000000000000" pitchFamily="2" charset="-122"/>
              </a:rPr>
              <a:t>F0</a:t>
            </a:r>
            <a:r>
              <a:rPr lang="zh-CN" altLang="zh-CN" sz="1400" b="1" dirty="0">
                <a:solidFill>
                  <a:srgbClr val="000000"/>
                </a:solidFill>
                <a:latin typeface="宋体" panose="02000500000000000000" pitchFamily="2" charset="-122"/>
                <a:cs typeface="宋体" panose="02000500000000000000" pitchFamily="2" charset="-122"/>
              </a:rPr>
              <a:t>等待6号保留站的结果</a:t>
            </a:r>
            <a:endParaRPr lang="zh-CN" altLang="zh-CN" sz="1400" b="1" dirty="0">
              <a:solidFill>
                <a:srgbClr val="FF0000"/>
              </a:solidFill>
              <a:latin typeface="宋体" panose="02000500000000000000" pitchFamily="2" charset="-122"/>
              <a:cs typeface="宋体" panose="02000500000000000000" pitchFamily="2" charset="-122"/>
            </a:endParaRPr>
          </a:p>
          <a:p>
            <a:pPr>
              <a:lnSpc>
                <a:spcPct val="150000"/>
              </a:lnSpc>
              <a:buChar char="•"/>
            </a:pPr>
            <a:r>
              <a:rPr lang="en-US" altLang="zh-CN" sz="1400" b="1" dirty="0">
                <a:solidFill>
                  <a:srgbClr val="000000"/>
                </a:solidFill>
                <a:latin typeface="宋体" panose="02000500000000000000" pitchFamily="2" charset="-122"/>
                <a:cs typeface="宋体" panose="02000500000000000000" pitchFamily="2" charset="-122"/>
              </a:rPr>
              <a:t>ADD</a:t>
            </a:r>
            <a:r>
              <a:rPr lang="zh-CN" altLang="zh-CN" sz="1400" b="1" dirty="0">
                <a:solidFill>
                  <a:srgbClr val="000000"/>
                </a:solidFill>
                <a:latin typeface="宋体" panose="02000500000000000000" pitchFamily="2" charset="-122"/>
                <a:cs typeface="宋体" panose="02000500000000000000" pitchFamily="2" charset="-122"/>
              </a:rPr>
              <a:t>写回</a:t>
            </a:r>
            <a:endParaRPr lang="zh-CN" altLang="zh-CN" sz="1400" b="1" dirty="0">
              <a:solidFill>
                <a:srgbClr val="000000"/>
              </a:solidFill>
              <a:latin typeface="宋体" panose="02000500000000000000" pitchFamily="2" charset="-122"/>
              <a:cs typeface="宋体" panose="02000500000000000000" pitchFamily="2" charset="-122"/>
            </a:endParaRPr>
          </a:p>
          <a:p>
            <a:pPr>
              <a:lnSpc>
                <a:spcPct val="150000"/>
              </a:lnSpc>
              <a:buChar char="•"/>
            </a:pPr>
            <a:r>
              <a:rPr lang="en-US" altLang="zh-CN" sz="1400" b="1" dirty="0">
                <a:solidFill>
                  <a:schemeClr val="tx1"/>
                </a:solidFill>
                <a:latin typeface="宋体" panose="02000500000000000000" pitchFamily="2" charset="-122"/>
                <a:cs typeface="宋体" panose="02000500000000000000" pitchFamily="2" charset="-122"/>
              </a:rPr>
              <a:t>DIV</a:t>
            </a:r>
            <a:r>
              <a:rPr lang="zh-CN" altLang="zh-CN" sz="1400" b="1" dirty="0">
                <a:solidFill>
                  <a:schemeClr val="tx1"/>
                </a:solidFill>
                <a:latin typeface="宋体" panose="02000500000000000000" pitchFamily="2" charset="-122"/>
                <a:cs typeface="宋体" panose="02000500000000000000" pitchFamily="2" charset="-122"/>
              </a:rPr>
              <a:t>写回</a:t>
            </a:r>
            <a:endParaRPr lang="zh-CN" altLang="zh-CN" sz="1400" b="1" dirty="0">
              <a:solidFill>
                <a:schemeClr val="tx1"/>
              </a:solidFill>
              <a:latin typeface="宋体" panose="02000500000000000000" pitchFamily="2" charset="-122"/>
              <a:cs typeface="宋体" panose="02000500000000000000" pitchFamily="2" charset="-122"/>
            </a:endParaRPr>
          </a:p>
          <a:p>
            <a:pPr>
              <a:lnSpc>
                <a:spcPct val="150000"/>
              </a:lnSpc>
              <a:buChar char="•"/>
            </a:pPr>
            <a:r>
              <a:rPr lang="en-US" altLang="zh-CN" sz="1400" b="1" dirty="0">
                <a:solidFill>
                  <a:schemeClr val="tx1"/>
                </a:solidFill>
                <a:latin typeface="宋体" panose="02000500000000000000" pitchFamily="2" charset="-122"/>
                <a:cs typeface="宋体" panose="02000500000000000000" pitchFamily="2" charset="-122"/>
              </a:rPr>
              <a:t>MUL2</a:t>
            </a:r>
            <a:r>
              <a:rPr lang="zh-CN" altLang="en-US" sz="1400" b="1" dirty="0">
                <a:solidFill>
                  <a:schemeClr val="tx1"/>
                </a:solidFill>
                <a:latin typeface="宋体" panose="02000500000000000000" pitchFamily="2" charset="-122"/>
                <a:cs typeface="宋体" panose="02000500000000000000" pitchFamily="2" charset="-122"/>
              </a:rPr>
              <a:t>写回</a:t>
            </a:r>
            <a:endParaRPr lang="zh-CN" altLang="en-US" sz="1400" b="1" dirty="0">
              <a:solidFill>
                <a:schemeClr val="tx1"/>
              </a:solidFill>
              <a:latin typeface="宋体" panose="02000500000000000000" pitchFamily="2" charset="-122"/>
              <a:cs typeface="宋体" panose="02000500000000000000" pitchFamily="2" charset="-122"/>
            </a:endParaRPr>
          </a:p>
          <a:p>
            <a:pPr>
              <a:lnSpc>
                <a:spcPct val="150000"/>
              </a:lnSpc>
              <a:buChar char="•"/>
            </a:pPr>
            <a:r>
              <a:rPr lang="en-US" altLang="zh-CN" sz="1400" b="1" dirty="0">
                <a:solidFill>
                  <a:srgbClr val="FF0000"/>
                </a:solidFill>
                <a:latin typeface="宋体" panose="02000500000000000000" pitchFamily="2" charset="-122"/>
                <a:cs typeface="宋体" panose="02000500000000000000" pitchFamily="2" charset="-122"/>
              </a:rPr>
              <a:t>MUL1</a:t>
            </a:r>
            <a:r>
              <a:rPr lang="zh-CN" altLang="en-US" sz="1400" b="1" dirty="0">
                <a:solidFill>
                  <a:srgbClr val="FF0000"/>
                </a:solidFill>
                <a:latin typeface="宋体" panose="02000500000000000000" pitchFamily="2" charset="-122"/>
                <a:cs typeface="宋体" panose="02000500000000000000" pitchFamily="2" charset="-122"/>
              </a:rPr>
              <a:t>写回，寄存器不接收</a:t>
            </a:r>
            <a:endParaRPr lang="zh-CN" altLang="zh-CN" sz="1400" b="1" dirty="0">
              <a:solidFill>
                <a:srgbClr val="FF0000"/>
              </a:solidFill>
              <a:latin typeface="宋体" panose="02000500000000000000" pitchFamily="2" charset="-122"/>
              <a:cs typeface="宋体" panose="02000500000000000000" pitchFamily="2" charset="-122"/>
            </a:endParaRPr>
          </a:p>
          <a:p>
            <a:pPr>
              <a:buChar char="•"/>
            </a:pPr>
            <a:endParaRPr lang="zh-CN" altLang="zh-CN" sz="1400" b="1" dirty="0">
              <a:solidFill>
                <a:srgbClr val="FF0000"/>
              </a:solidFill>
              <a:latin typeface="宋体" panose="02000500000000000000" pitchFamily="2" charset="-122"/>
              <a:cs typeface="宋体" panose="02000500000000000000" pitchFamily="2"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Rectangle 2"/>
          <p:cNvSpPr>
            <a:spLocks noGrp="1"/>
          </p:cNvSpPr>
          <p:nvPr>
            <p:ph type="title"/>
          </p:nvPr>
        </p:nvSpPr>
        <p:spPr>
          <a:xfrm>
            <a:off x="912813" y="296863"/>
            <a:ext cx="10361612" cy="647700"/>
          </a:xfrm>
        </p:spPr>
        <p:txBody>
          <a:bodyPr vert="horz" wrap="square" lIns="91440" tIns="45720" rIns="91440" bIns="45720" anchor="ctr" anchorCtr="0"/>
          <a:p>
            <a:pPr eaLnBrk="1" hangingPunct="1"/>
            <a:r>
              <a:rPr lang="en-US" altLang="zh-CN" dirty="0"/>
              <a:t>Tomasulo</a:t>
            </a:r>
            <a:r>
              <a:rPr lang="zh-CN" altLang="en-US" dirty="0"/>
              <a:t>算法小结</a:t>
            </a:r>
            <a:endParaRPr lang="zh-CN" altLang="en-US" dirty="0"/>
          </a:p>
        </p:txBody>
      </p:sp>
      <p:sp>
        <p:nvSpPr>
          <p:cNvPr id="40962" name="Rectangle 3"/>
          <p:cNvSpPr>
            <a:spLocks noGrp="1"/>
          </p:cNvSpPr>
          <p:nvPr>
            <p:ph idx="1"/>
          </p:nvPr>
        </p:nvSpPr>
        <p:spPr>
          <a:xfrm>
            <a:off x="671513" y="1268413"/>
            <a:ext cx="11183937" cy="5400675"/>
          </a:xfrm>
        </p:spPr>
        <p:txBody>
          <a:bodyPr vert="horz" wrap="square" lIns="91440" tIns="45720" rIns="91440" bIns="45720" anchor="t" anchorCtr="0"/>
          <a:p>
            <a:pPr eaLnBrk="1" hangingPunct="1"/>
            <a:r>
              <a:rPr lang="zh-CN" altLang="en-US" dirty="0"/>
              <a:t>通过动态调度缓解流水线阻塞</a:t>
            </a:r>
            <a:endParaRPr lang="zh-CN" altLang="en-US" dirty="0"/>
          </a:p>
          <a:p>
            <a:pPr lvl="1" eaLnBrk="1" hangingPunct="1"/>
            <a:r>
              <a:rPr lang="zh-CN" altLang="en-US" dirty="0"/>
              <a:t>例如减少</a:t>
            </a:r>
            <a:r>
              <a:rPr lang="en-US" altLang="zh-CN" dirty="0"/>
              <a:t>CACHE</a:t>
            </a:r>
            <a:r>
              <a:rPr lang="zh-CN" altLang="en-US" dirty="0"/>
              <a:t>失效对性能的影响</a:t>
            </a:r>
            <a:endParaRPr lang="zh-CN" altLang="en-US" dirty="0"/>
          </a:p>
          <a:p>
            <a:pPr eaLnBrk="1" hangingPunct="1"/>
            <a:r>
              <a:rPr lang="zh-CN" altLang="en-US" dirty="0"/>
              <a:t>保留站：重命名寄存器</a:t>
            </a:r>
            <a:r>
              <a:rPr lang="en-US" altLang="zh-CN" dirty="0"/>
              <a:t>+</a:t>
            </a:r>
            <a:r>
              <a:rPr lang="zh-CN" altLang="en-US" dirty="0"/>
              <a:t>缓存源操作数</a:t>
            </a:r>
            <a:endParaRPr lang="zh-CN" altLang="en-US" dirty="0"/>
          </a:p>
          <a:p>
            <a:pPr lvl="1" eaLnBrk="1" hangingPunct="1"/>
            <a:r>
              <a:rPr lang="zh-CN" altLang="en-US" dirty="0"/>
              <a:t>避免寄存器成为瓶颈</a:t>
            </a:r>
            <a:endParaRPr lang="zh-CN" altLang="en-US" dirty="0"/>
          </a:p>
          <a:p>
            <a:pPr lvl="1" eaLnBrk="1" hangingPunct="1"/>
            <a:r>
              <a:rPr lang="zh-CN" altLang="en-US" dirty="0"/>
              <a:t>避免</a:t>
            </a:r>
            <a:r>
              <a:rPr lang="en-US" altLang="zh-CN" dirty="0"/>
              <a:t>WAW</a:t>
            </a:r>
            <a:r>
              <a:rPr lang="zh-CN" altLang="en-US" dirty="0"/>
              <a:t>和</a:t>
            </a:r>
            <a:r>
              <a:rPr lang="en-US" altLang="zh-CN" dirty="0"/>
              <a:t>WAR</a:t>
            </a:r>
            <a:r>
              <a:rPr lang="zh-CN" altLang="en-US" dirty="0"/>
              <a:t>阻塞</a:t>
            </a:r>
            <a:endParaRPr lang="zh-CN" altLang="en-US" dirty="0"/>
          </a:p>
          <a:p>
            <a:pPr eaLnBrk="1" hangingPunct="1"/>
            <a:r>
              <a:rPr lang="zh-CN" altLang="en-US" dirty="0"/>
              <a:t>缺点</a:t>
            </a:r>
            <a:endParaRPr lang="zh-CN" altLang="en-US" dirty="0"/>
          </a:p>
          <a:p>
            <a:pPr lvl="1" eaLnBrk="1" hangingPunct="1"/>
            <a:r>
              <a:rPr lang="zh-CN" altLang="en-US" dirty="0"/>
              <a:t>硬件复杂性</a:t>
            </a:r>
            <a:endParaRPr lang="zh-CN" altLang="en-US" dirty="0"/>
          </a:p>
          <a:p>
            <a:pPr lvl="1" eaLnBrk="1" hangingPunct="1"/>
            <a:r>
              <a:rPr lang="zh-CN" altLang="en-US" dirty="0"/>
              <a:t>结果总线成为瓶颈，多条结果总线增加硬件复杂度</a:t>
            </a:r>
            <a:endParaRPr lang="zh-CN" altLang="en-US" dirty="0"/>
          </a:p>
          <a:p>
            <a:pPr eaLnBrk="1" hangingPunct="1"/>
            <a:r>
              <a:rPr lang="zh-CN" altLang="en-US" dirty="0"/>
              <a:t>在</a:t>
            </a:r>
            <a:r>
              <a:rPr lang="en-US" altLang="zh-CN" dirty="0"/>
              <a:t>IBM 360/91</a:t>
            </a:r>
            <a:r>
              <a:rPr lang="zh-CN" altLang="en-US" dirty="0"/>
              <a:t>后被广泛使用</a:t>
            </a:r>
            <a:endParaRPr lang="zh-CN" altLang="en-US" dirty="0"/>
          </a:p>
          <a:p>
            <a:pPr lvl="1" eaLnBrk="1" hangingPunct="1"/>
            <a:r>
              <a:rPr lang="zh-CN" altLang="en-US" dirty="0"/>
              <a:t>动态调度、寄存器重命名等思想一直被使用：</a:t>
            </a:r>
            <a:r>
              <a:rPr lang="en-US" altLang="zh-CN" dirty="0"/>
              <a:t>Pentium II; PowerPC 604; MIPS R10000; HP-PA 8000; Alpha 21264</a:t>
            </a:r>
            <a:endParaRPr lang="en-US" altLang="zh-CN" dirty="0"/>
          </a:p>
        </p:txBody>
      </p:sp>
      <p:sp>
        <p:nvSpPr>
          <p:cNvPr id="40963"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buSzTx/>
            </a:pPr>
            <a:fld id="{9A0DB2DC-4C9A-4742-B13C-FB6460FD3503}" type="slidenum">
              <a:rPr lang="en-US" altLang="zh-CN" sz="1400" dirty="0"/>
            </a:fld>
            <a:endParaRPr lang="en-US" altLang="zh-CN"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Rectangle 2"/>
          <p:cNvSpPr>
            <a:spLocks noGrp="1"/>
          </p:cNvSpPr>
          <p:nvPr>
            <p:ph type="title"/>
          </p:nvPr>
        </p:nvSpPr>
        <p:spPr>
          <a:xfrm>
            <a:off x="1055688" y="2889250"/>
            <a:ext cx="10361612" cy="1143000"/>
          </a:xfrm>
        </p:spPr>
        <p:txBody>
          <a:bodyPr vert="horz" wrap="square" lIns="91440" tIns="45720" rIns="91440" bIns="45720" anchor="ctr" anchorCtr="0"/>
          <a:p>
            <a:pPr eaLnBrk="1" hangingPunct="1"/>
            <a:r>
              <a:rPr lang="zh-CN" altLang="en-US" dirty="0"/>
              <a:t>动态流水线的例外处理</a:t>
            </a:r>
            <a:endParaRPr lang="zh-CN" altLang="en-US" dirty="0"/>
          </a:p>
        </p:txBody>
      </p:sp>
      <p:sp>
        <p:nvSpPr>
          <p:cNvPr id="41986" name="灯片编号占位符 4"/>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buSzTx/>
            </a:pPr>
            <a:fld id="{9A0DB2DC-4C9A-4742-B13C-FB6460FD3503}" type="slidenum">
              <a:rPr lang="en-US" altLang="zh-CN" sz="1400" dirty="0"/>
            </a:fld>
            <a:endParaRPr lang="en-US" altLang="zh-CN"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Rectangle 2"/>
          <p:cNvSpPr/>
          <p:nvPr/>
        </p:nvSpPr>
        <p:spPr>
          <a:xfrm>
            <a:off x="912813" y="420688"/>
            <a:ext cx="10361612" cy="523875"/>
          </a:xfrm>
          <a:prstGeom prst="rect">
            <a:avLst/>
          </a:prstGeom>
          <a:noFill/>
          <a:ln w="9525">
            <a:noFill/>
          </a:ln>
        </p:spPr>
        <p:txBody>
          <a:bodyPr anchor="ctr" anchorCtr="0"/>
          <a:p>
            <a:pPr algn="ctr"/>
            <a:r>
              <a:rPr lang="zh-CN" altLang="en-US" sz="3200" dirty="0">
                <a:solidFill>
                  <a:srgbClr val="FF0000"/>
                </a:solidFill>
                <a:latin typeface="Arial" panose="02080604020202020204" pitchFamily="34" charset="0"/>
                <a:ea typeface="黑体" panose="02000500000000000000" pitchFamily="49" charset="-122"/>
              </a:rPr>
              <a:t>例外（</a:t>
            </a:r>
            <a:r>
              <a:rPr lang="en-US" altLang="zh-CN" sz="3200" dirty="0">
                <a:solidFill>
                  <a:srgbClr val="FF0000"/>
                </a:solidFill>
                <a:latin typeface="Arial" panose="02080604020202020204" pitchFamily="34" charset="0"/>
                <a:ea typeface="黑体" panose="02000500000000000000" pitchFamily="49" charset="-122"/>
              </a:rPr>
              <a:t>Exception</a:t>
            </a:r>
            <a:r>
              <a:rPr lang="zh-CN" altLang="en-US" sz="3200" dirty="0">
                <a:solidFill>
                  <a:srgbClr val="FF0000"/>
                </a:solidFill>
                <a:latin typeface="Arial" panose="02080604020202020204" pitchFamily="34" charset="0"/>
                <a:ea typeface="黑体" panose="02000500000000000000" pitchFamily="49" charset="-122"/>
              </a:rPr>
              <a:t>）与流水线</a:t>
            </a:r>
            <a:endParaRPr lang="zh-CN" altLang="en-US" sz="3200" dirty="0">
              <a:solidFill>
                <a:srgbClr val="FF0000"/>
              </a:solidFill>
              <a:latin typeface="Arial" panose="02080604020202020204" pitchFamily="34" charset="0"/>
              <a:ea typeface="黑体" panose="02000500000000000000" pitchFamily="49" charset="-122"/>
            </a:endParaRPr>
          </a:p>
        </p:txBody>
      </p:sp>
      <p:sp>
        <p:nvSpPr>
          <p:cNvPr id="57347" name="Rectangle 3"/>
          <p:cNvSpPr>
            <a:spLocks noChangeArrowheads="1"/>
          </p:cNvSpPr>
          <p:nvPr/>
        </p:nvSpPr>
        <p:spPr bwMode="auto">
          <a:xfrm>
            <a:off x="533400" y="1320800"/>
            <a:ext cx="11118850" cy="5026025"/>
          </a:xfrm>
          <a:prstGeom prst="rect">
            <a:avLst/>
          </a:prstGeom>
          <a:noFill/>
          <a:ln w="9525">
            <a:noFill/>
            <a:miter lim="800000"/>
          </a:ln>
        </p:spPr>
        <p:txBody>
          <a:bodyPr/>
          <a:lstStyle/>
          <a:p>
            <a:pPr marL="342900" marR="0" lvl="0" indent="-342900" algn="l" defTabSz="914400" rtl="0" eaLnBrk="1" fontAlgn="base" latinLnBrk="0" hangingPunct="1">
              <a:lnSpc>
                <a:spcPct val="125000"/>
              </a:lnSpc>
              <a:spcBef>
                <a:spcPts val="600"/>
              </a:spcBef>
              <a:spcAft>
                <a:spcPct val="0"/>
              </a:spcAft>
              <a:buClrTx/>
              <a:buSzTx/>
              <a:buFontTx/>
              <a:buChar char="•"/>
              <a:defRPr/>
            </a:pPr>
            <a:r>
              <a:rPr kumimoji="1" lang="en-US" altLang="zh-CN" sz="2000" b="1" i="0" u="none" strike="noStrike" kern="1200" cap="none" spc="0" normalizeH="0" baseline="0" noProof="0" dirty="0">
                <a:ln>
                  <a:noFill/>
                </a:ln>
                <a:solidFill>
                  <a:schemeClr val="tx1"/>
                </a:solidFill>
                <a:effectLst/>
                <a:uLnTx/>
                <a:uFillTx/>
                <a:latin typeface="+mn-ea"/>
                <a:ea typeface="+mn-ea"/>
                <a:cs typeface="+mn-cs"/>
              </a:rPr>
              <a:t>I/O</a:t>
            </a:r>
            <a:r>
              <a:rPr kumimoji="1" lang="zh-CN" altLang="en-US" sz="2000" b="1" i="0" u="none" strike="noStrike" kern="1200" cap="none" spc="0" normalizeH="0" baseline="0" noProof="0" dirty="0">
                <a:ln>
                  <a:noFill/>
                </a:ln>
                <a:solidFill>
                  <a:schemeClr val="tx1"/>
                </a:solidFill>
                <a:effectLst/>
                <a:uLnTx/>
                <a:uFillTx/>
                <a:latin typeface="+mn-ea"/>
                <a:ea typeface="+mn-ea"/>
                <a:cs typeface="+mn-cs"/>
              </a:rPr>
              <a:t>请求：外部中断</a:t>
            </a:r>
            <a:endParaRPr kumimoji="1" lang="zh-CN" altLang="en-US" sz="2000" b="1" i="0" u="none" strike="noStrike" kern="1200" cap="none" spc="0" normalizeH="0" baseline="0" noProof="0" dirty="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25000"/>
              </a:lnSpc>
              <a:spcBef>
                <a:spcPts val="600"/>
              </a:spcBef>
              <a:spcAft>
                <a:spcPct val="0"/>
              </a:spcAft>
              <a:buClrTx/>
              <a:buSzTx/>
              <a:buFontTx/>
              <a:buChar char="•"/>
              <a:defRPr/>
            </a:pPr>
            <a:r>
              <a:rPr kumimoji="1" lang="zh-CN" altLang="en-US" sz="2000" b="1" i="0" u="none" strike="noStrike" kern="1200" cap="none" spc="0" normalizeH="0" baseline="0" noProof="0" dirty="0">
                <a:ln>
                  <a:noFill/>
                </a:ln>
                <a:solidFill>
                  <a:schemeClr val="tx1"/>
                </a:solidFill>
                <a:effectLst/>
                <a:uLnTx/>
                <a:uFillTx/>
                <a:latin typeface="+mn-ea"/>
                <a:ea typeface="+mn-ea"/>
                <a:cs typeface="+mn-cs"/>
              </a:rPr>
              <a:t>指令例外：用户请求中断</a:t>
            </a:r>
            <a:endParaRPr kumimoji="1" lang="zh-CN" altLang="en-US" sz="20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25000"/>
              </a:lnSpc>
              <a:spcBef>
                <a:spcPts val="60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系统调用、断点、跟踪调试指令</a:t>
            </a:r>
            <a:endParaRPr kumimoji="1" lang="zh-CN" altLang="en-US" sz="1600" b="1" i="0" u="none" strike="noStrike" kern="1200" cap="none" spc="0" normalizeH="0" baseline="0" noProof="0" dirty="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25000"/>
              </a:lnSpc>
              <a:spcBef>
                <a:spcPts val="600"/>
              </a:spcBef>
              <a:spcAft>
                <a:spcPct val="0"/>
              </a:spcAft>
              <a:buClrTx/>
              <a:buSzTx/>
              <a:buFontTx/>
              <a:buChar char="•"/>
              <a:defRPr/>
            </a:pPr>
            <a:r>
              <a:rPr kumimoji="1" lang="zh-CN" altLang="en-US" sz="2000" b="1" i="0" u="none" strike="noStrike" kern="1200" cap="none" spc="0" normalizeH="0" baseline="0" noProof="0" dirty="0">
                <a:ln>
                  <a:noFill/>
                </a:ln>
                <a:solidFill>
                  <a:schemeClr val="tx1"/>
                </a:solidFill>
                <a:effectLst/>
                <a:uLnTx/>
                <a:uFillTx/>
                <a:latin typeface="+mn-ea"/>
                <a:ea typeface="+mn-ea"/>
                <a:cs typeface="+mn-cs"/>
              </a:rPr>
              <a:t>运算部件</a:t>
            </a:r>
            <a:endParaRPr kumimoji="1" lang="zh-CN" altLang="en-US" sz="20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25000"/>
              </a:lnSpc>
              <a:spcBef>
                <a:spcPts val="60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整数运算溢出、浮点异常</a:t>
            </a:r>
            <a:endParaRPr kumimoji="1" lang="zh-CN" altLang="en-US" sz="1600" b="1" i="0" u="none" strike="noStrike" kern="1200" cap="none" spc="0" normalizeH="0" baseline="0" noProof="0" dirty="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25000"/>
              </a:lnSpc>
              <a:spcBef>
                <a:spcPts val="600"/>
              </a:spcBef>
              <a:spcAft>
                <a:spcPct val="0"/>
              </a:spcAft>
              <a:buClrTx/>
              <a:buSzTx/>
              <a:buFontTx/>
              <a:buChar char="•"/>
              <a:defRPr/>
            </a:pPr>
            <a:r>
              <a:rPr kumimoji="1" lang="zh-CN" altLang="en-US" sz="2000" b="1" i="0" u="none" strike="noStrike" kern="1200" cap="none" spc="0" normalizeH="0" baseline="0" noProof="0" dirty="0">
                <a:ln>
                  <a:noFill/>
                </a:ln>
                <a:solidFill>
                  <a:schemeClr val="tx1"/>
                </a:solidFill>
                <a:effectLst/>
                <a:uLnTx/>
                <a:uFillTx/>
                <a:latin typeface="+mn-ea"/>
                <a:ea typeface="+mn-ea"/>
                <a:cs typeface="+mn-cs"/>
              </a:rPr>
              <a:t>存储管理部件</a:t>
            </a:r>
            <a:endParaRPr kumimoji="1" lang="zh-CN" altLang="en-US" sz="20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25000"/>
              </a:lnSpc>
              <a:spcBef>
                <a:spcPts val="60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访存地址不对齐、用户访问系统空间、</a:t>
            </a:r>
            <a:r>
              <a:rPr kumimoji="1" lang="en-US" altLang="zh-CN" sz="1600" b="1" i="0" u="none" strike="noStrike" kern="1200" cap="none" spc="0" normalizeH="0" baseline="0" noProof="0" dirty="0">
                <a:ln>
                  <a:noFill/>
                </a:ln>
                <a:solidFill>
                  <a:schemeClr val="tx1"/>
                </a:solidFill>
                <a:effectLst/>
                <a:uLnTx/>
                <a:uFillTx/>
                <a:latin typeface="+mn-ea"/>
                <a:ea typeface="+mn-ea"/>
                <a:cs typeface="+mn-cs"/>
              </a:rPr>
              <a:t>TLB</a:t>
            </a:r>
            <a:r>
              <a:rPr kumimoji="1" lang="zh-CN" altLang="en-US" sz="1600" b="1" i="0" u="none" strike="noStrike" kern="1200" cap="none" spc="0" normalizeH="0" baseline="0" noProof="0" dirty="0">
                <a:ln>
                  <a:noFill/>
                </a:ln>
                <a:solidFill>
                  <a:schemeClr val="tx1"/>
                </a:solidFill>
                <a:effectLst/>
                <a:uLnTx/>
                <a:uFillTx/>
                <a:latin typeface="+mn-ea"/>
                <a:ea typeface="+mn-ea"/>
                <a:cs typeface="+mn-cs"/>
              </a:rPr>
              <a:t>失效、缺页、存储保护错（写只读页）</a:t>
            </a:r>
            <a:endParaRPr kumimoji="1" lang="zh-CN" altLang="en-US" sz="1600" b="1" i="0" u="none" strike="noStrike" kern="1200" cap="none" spc="0" normalizeH="0" baseline="0" noProof="0" dirty="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25000"/>
              </a:lnSpc>
              <a:spcBef>
                <a:spcPts val="600"/>
              </a:spcBef>
              <a:spcAft>
                <a:spcPct val="0"/>
              </a:spcAft>
              <a:buClrTx/>
              <a:buSzTx/>
              <a:buFontTx/>
              <a:buChar char="•"/>
              <a:defRPr/>
            </a:pPr>
            <a:r>
              <a:rPr kumimoji="1" lang="zh-CN" altLang="en-US" sz="2000" b="1" i="0" u="none" strike="noStrike" kern="1200" cap="none" spc="0" normalizeH="0" baseline="0" noProof="0" dirty="0">
                <a:ln>
                  <a:noFill/>
                </a:ln>
                <a:solidFill>
                  <a:schemeClr val="tx1"/>
                </a:solidFill>
                <a:effectLst/>
                <a:uLnTx/>
                <a:uFillTx/>
                <a:latin typeface="+mn-ea"/>
                <a:ea typeface="+mn-ea"/>
                <a:cs typeface="+mn-cs"/>
              </a:rPr>
              <a:t>保留指令错：未实现指令</a:t>
            </a:r>
            <a:endParaRPr kumimoji="1" lang="zh-CN" altLang="en-US" sz="2000" b="1" i="0" u="none" strike="noStrike" kern="1200" cap="none" spc="0" normalizeH="0" baseline="0" noProof="0" dirty="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25000"/>
              </a:lnSpc>
              <a:spcBef>
                <a:spcPts val="600"/>
              </a:spcBef>
              <a:spcAft>
                <a:spcPct val="0"/>
              </a:spcAft>
              <a:buClrTx/>
              <a:buSzTx/>
              <a:buFontTx/>
              <a:buChar char="•"/>
              <a:defRPr/>
            </a:pPr>
            <a:r>
              <a:rPr kumimoji="1" lang="zh-CN" altLang="en-US" sz="2000" b="1" i="0" u="none" strike="noStrike" kern="1200" cap="none" spc="0" normalizeH="0" baseline="0" noProof="0" dirty="0">
                <a:ln>
                  <a:noFill/>
                </a:ln>
                <a:solidFill>
                  <a:schemeClr val="tx1"/>
                </a:solidFill>
                <a:effectLst/>
                <a:uLnTx/>
                <a:uFillTx/>
                <a:latin typeface="+mn-ea"/>
                <a:ea typeface="+mn-ea"/>
                <a:cs typeface="+mn-cs"/>
              </a:rPr>
              <a:t>硬件错</a:t>
            </a:r>
            <a:endParaRPr kumimoji="1" lang="zh-CN" altLang="en-US" sz="2000" b="1" i="0" u="none" strike="noStrike" kern="1200" cap="none" spc="0" normalizeH="0" baseline="0" noProof="0" dirty="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25000"/>
              </a:lnSpc>
              <a:spcBef>
                <a:spcPts val="600"/>
              </a:spcBef>
              <a:spcAft>
                <a:spcPct val="0"/>
              </a:spcAft>
              <a:buClrTx/>
              <a:buSzTx/>
              <a:buFontTx/>
              <a:buChar char="•"/>
              <a:defRPr/>
            </a:pPr>
            <a:r>
              <a:rPr kumimoji="1" lang="zh-CN" altLang="en-US" sz="2000" b="1" i="0" u="none" strike="noStrike" kern="1200" cap="none" spc="0" normalizeH="0" baseline="0" noProof="0" dirty="0">
                <a:ln>
                  <a:noFill/>
                </a:ln>
                <a:solidFill>
                  <a:schemeClr val="tx1"/>
                </a:solidFill>
                <a:effectLst/>
                <a:uLnTx/>
                <a:uFillTx/>
                <a:latin typeface="+mn-ea"/>
                <a:ea typeface="+mn-ea"/>
                <a:cs typeface="+mn-cs"/>
              </a:rPr>
              <a:t>等等</a:t>
            </a:r>
            <a:endParaRPr kumimoji="1" lang="zh-CN" altLang="en-US" sz="2000" b="1" i="0" u="none" strike="noStrike" kern="1200" cap="none" spc="0" normalizeH="0" baseline="0" noProof="0" dirty="0">
              <a:ln>
                <a:noFill/>
              </a:ln>
              <a:solidFill>
                <a:schemeClr val="tx1"/>
              </a:solidFill>
              <a:effectLst/>
              <a:uLnTx/>
              <a:uFillTx/>
              <a:latin typeface="+mn-ea"/>
              <a:ea typeface="+mn-ea"/>
              <a:cs typeface="+mn-cs"/>
            </a:endParaRPr>
          </a:p>
        </p:txBody>
      </p:sp>
      <p:sp>
        <p:nvSpPr>
          <p:cNvPr id="43011"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buSzTx/>
            </a:pPr>
            <a:fld id="{9A0DB2DC-4C9A-4742-B13C-FB6460FD3503}" type="slidenum">
              <a:rPr lang="en-US" altLang="zh-CN" sz="1400" dirty="0"/>
            </a:fld>
            <a:endParaRPr lang="en-US" altLang="zh-CN"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3" name="Rectangle 2"/>
          <p:cNvSpPr>
            <a:spLocks noGrp="1"/>
          </p:cNvSpPr>
          <p:nvPr>
            <p:ph idx="1"/>
          </p:nvPr>
        </p:nvSpPr>
        <p:spPr>
          <a:xfrm>
            <a:off x="204788" y="1196975"/>
            <a:ext cx="11501437" cy="4103688"/>
          </a:xfrm>
        </p:spPr>
        <p:txBody>
          <a:bodyPr vert="horz" wrap="square" lIns="91440" tIns="45720" rIns="91440" bIns="45720" anchor="t" anchorCtr="0"/>
          <a:p>
            <a:pPr eaLnBrk="1" hangingPunct="1"/>
            <a:r>
              <a:rPr lang="zh-CN" altLang="en-US" dirty="0"/>
              <a:t>精确例外的要求：在处理例外时，发生例外指令前面的所有指令都执行完，例外指令后面的所有指令还未执行</a:t>
            </a:r>
            <a:r>
              <a:rPr lang="en-US" altLang="zh-CN" dirty="0"/>
              <a:t>.</a:t>
            </a:r>
            <a:endParaRPr lang="en-US" altLang="zh-CN" dirty="0"/>
          </a:p>
          <a:p>
            <a:pPr eaLnBrk="1" hangingPunct="1"/>
            <a:r>
              <a:rPr lang="zh-CN" altLang="en-US" dirty="0"/>
              <a:t>非精确例外的原因：在乱序执行时，前面的指令发生例外时，后面的指令已经执行完并修改了寄存器或存储单元</a:t>
            </a:r>
            <a:r>
              <a:rPr lang="en-US" altLang="zh-CN" dirty="0"/>
              <a:t> </a:t>
            </a:r>
            <a:endParaRPr lang="en-US" altLang="zh-CN" dirty="0"/>
          </a:p>
          <a:p>
            <a:pPr lvl="1" eaLnBrk="1" hangingPunct="1"/>
            <a:r>
              <a:rPr lang="zh-CN" altLang="en-US" dirty="0"/>
              <a:t>在下面的例子中，没有任何相关，</a:t>
            </a:r>
            <a:r>
              <a:rPr lang="en-US" altLang="zh-CN" dirty="0"/>
              <a:t>ADDF</a:t>
            </a:r>
            <a:r>
              <a:rPr lang="zh-CN" altLang="en-US" dirty="0"/>
              <a:t>和</a:t>
            </a:r>
            <a:r>
              <a:rPr lang="en-US" altLang="zh-CN" dirty="0"/>
              <a:t>SUBF</a:t>
            </a:r>
            <a:r>
              <a:rPr lang="zh-CN" altLang="en-US" dirty="0"/>
              <a:t>指令可以比</a:t>
            </a:r>
            <a:r>
              <a:rPr lang="en-US" altLang="zh-CN" dirty="0"/>
              <a:t>DIVF</a:t>
            </a:r>
            <a:r>
              <a:rPr lang="zh-CN" altLang="en-US" dirty="0"/>
              <a:t>先结束。如果在</a:t>
            </a:r>
            <a:r>
              <a:rPr lang="en-US" altLang="zh-CN" dirty="0"/>
              <a:t>ADDF</a:t>
            </a:r>
            <a:r>
              <a:rPr lang="zh-CN" altLang="en-US" dirty="0"/>
              <a:t>结束后</a:t>
            </a:r>
            <a:r>
              <a:rPr lang="en-US" altLang="zh-CN" dirty="0"/>
              <a:t>DIVF</a:t>
            </a:r>
            <a:r>
              <a:rPr lang="zh-CN" altLang="en-US" dirty="0"/>
              <a:t>发生例外，此时无法恢复例外现场</a:t>
            </a:r>
            <a:endParaRPr lang="zh-CN" altLang="en-US" dirty="0"/>
          </a:p>
          <a:p>
            <a:pPr lvl="1" eaLnBrk="1" hangingPunct="1"/>
            <a:r>
              <a:rPr lang="zh-CN" altLang="en-US" dirty="0"/>
              <a:t>记分板和</a:t>
            </a:r>
            <a:r>
              <a:rPr lang="en-US" altLang="zh-CN" dirty="0"/>
              <a:t>Tomasulo</a:t>
            </a:r>
            <a:r>
              <a:rPr lang="zh-CN" altLang="en-US" dirty="0"/>
              <a:t>算法中都是非精确例外</a:t>
            </a:r>
            <a:endParaRPr lang="zh-CN" altLang="en-US" dirty="0"/>
          </a:p>
          <a:p>
            <a:pPr eaLnBrk="1" hangingPunct="1"/>
            <a:r>
              <a:rPr lang="zh-CN" altLang="en-US" dirty="0"/>
              <a:t>只要保证后面指令修改机器状态时，前面的指令都已不会发生例外即可</a:t>
            </a:r>
            <a:endParaRPr lang="en-US" altLang="zh-CN" dirty="0"/>
          </a:p>
        </p:txBody>
      </p:sp>
      <p:sp>
        <p:nvSpPr>
          <p:cNvPr id="44034" name="Text Box 3"/>
          <p:cNvSpPr txBox="1"/>
          <p:nvPr/>
        </p:nvSpPr>
        <p:spPr>
          <a:xfrm>
            <a:off x="4270375" y="5151438"/>
            <a:ext cx="3194050" cy="1230312"/>
          </a:xfrm>
          <a:prstGeom prst="rect">
            <a:avLst/>
          </a:prstGeom>
          <a:noFill/>
          <a:ln w="9525">
            <a:noFill/>
          </a:ln>
        </p:spPr>
        <p:txBody>
          <a:bodyPr anchor="ctr" anchorCtr="0">
            <a:spAutoFit/>
          </a:bodyPr>
          <a:p>
            <a:pPr>
              <a:lnSpc>
                <a:spcPct val="90000"/>
              </a:lnSpc>
              <a:spcBef>
                <a:spcPct val="50000"/>
              </a:spcBef>
            </a:pPr>
            <a:r>
              <a:rPr lang="en-US" altLang="zh-CN" sz="2000" dirty="0">
                <a:solidFill>
                  <a:srgbClr val="FF0000"/>
                </a:solidFill>
                <a:latin typeface="Times New Roman" pitchFamily="18" charset="0"/>
                <a:ea typeface="宋体" panose="02000500000000000000" pitchFamily="2" charset="-122"/>
              </a:rPr>
              <a:t>FDIV.D   f0,f2,f4</a:t>
            </a:r>
            <a:endParaRPr lang="en-US" altLang="zh-CN" sz="2000" dirty="0">
              <a:solidFill>
                <a:srgbClr val="FF0000"/>
              </a:solidFill>
              <a:latin typeface="Times New Roman" pitchFamily="18" charset="0"/>
              <a:ea typeface="宋体" panose="02000500000000000000" pitchFamily="2" charset="-122"/>
            </a:endParaRPr>
          </a:p>
          <a:p>
            <a:pPr>
              <a:lnSpc>
                <a:spcPct val="90000"/>
              </a:lnSpc>
              <a:spcBef>
                <a:spcPct val="50000"/>
              </a:spcBef>
            </a:pPr>
            <a:r>
              <a:rPr lang="en-US" altLang="zh-CN" sz="2000" dirty="0">
                <a:latin typeface="Times New Roman" pitchFamily="18" charset="0"/>
                <a:ea typeface="宋体" panose="02000500000000000000" pitchFamily="2" charset="-122"/>
              </a:rPr>
              <a:t>FADD.D  f10,f10,f8</a:t>
            </a:r>
            <a:endParaRPr lang="en-US" altLang="zh-CN" sz="2000" dirty="0">
              <a:latin typeface="Times New Roman" pitchFamily="18" charset="0"/>
              <a:ea typeface="宋体" panose="02000500000000000000" pitchFamily="2" charset="-122"/>
            </a:endParaRPr>
          </a:p>
          <a:p>
            <a:pPr>
              <a:lnSpc>
                <a:spcPct val="90000"/>
              </a:lnSpc>
              <a:spcBef>
                <a:spcPct val="50000"/>
              </a:spcBef>
            </a:pPr>
            <a:r>
              <a:rPr lang="en-US" altLang="zh-CN" sz="2000" dirty="0">
                <a:latin typeface="Times New Roman" pitchFamily="18" charset="0"/>
                <a:ea typeface="宋体" panose="02000500000000000000" pitchFamily="2" charset="-122"/>
              </a:rPr>
              <a:t>FSUB.D   f12,f12,f14</a:t>
            </a:r>
            <a:endParaRPr lang="en-US" altLang="zh-CN" sz="2000" dirty="0">
              <a:latin typeface="Times New Roman" pitchFamily="18" charset="0"/>
              <a:ea typeface="宋体" panose="02000500000000000000" pitchFamily="2" charset="-122"/>
            </a:endParaRPr>
          </a:p>
        </p:txBody>
      </p:sp>
      <p:sp>
        <p:nvSpPr>
          <p:cNvPr id="44035" name="Rectangle 4"/>
          <p:cNvSpPr/>
          <p:nvPr/>
        </p:nvSpPr>
        <p:spPr>
          <a:xfrm>
            <a:off x="912813" y="420688"/>
            <a:ext cx="10361612" cy="523875"/>
          </a:xfrm>
          <a:prstGeom prst="rect">
            <a:avLst/>
          </a:prstGeom>
          <a:noFill/>
          <a:ln w="9525">
            <a:noFill/>
          </a:ln>
        </p:spPr>
        <p:txBody>
          <a:bodyPr anchor="ctr" anchorCtr="0"/>
          <a:p>
            <a:pPr algn="ctr"/>
            <a:r>
              <a:rPr lang="zh-CN" altLang="en-US" sz="3200" dirty="0">
                <a:solidFill>
                  <a:srgbClr val="FF0000"/>
                </a:solidFill>
                <a:latin typeface="Arial" panose="02080604020202020204" pitchFamily="34" charset="0"/>
                <a:ea typeface="黑体" panose="02000500000000000000" pitchFamily="49" charset="-122"/>
              </a:rPr>
              <a:t>动态流水线的精确例外处理</a:t>
            </a:r>
            <a:endParaRPr lang="zh-CN" altLang="en-US" sz="3200" dirty="0">
              <a:solidFill>
                <a:srgbClr val="FF0000"/>
              </a:solidFill>
              <a:latin typeface="Arial" panose="02080604020202020204" pitchFamily="34" charset="0"/>
              <a:ea typeface="黑体" panose="02000500000000000000" pitchFamily="49" charset="-122"/>
            </a:endParaRPr>
          </a:p>
        </p:txBody>
      </p:sp>
      <p:sp>
        <p:nvSpPr>
          <p:cNvPr id="44036" name="灯片编号占位符 6"/>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buSzTx/>
            </a:pPr>
            <a:fld id="{9A0DB2DC-4C9A-4742-B13C-FB6460FD3503}" type="slidenum">
              <a:rPr lang="en-US" altLang="zh-CN" sz="1400" dirty="0"/>
            </a:fld>
            <a:endParaRPr lang="en-US" altLang="zh-CN"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Rectangle 2"/>
          <p:cNvSpPr>
            <a:spLocks noGrp="1"/>
          </p:cNvSpPr>
          <p:nvPr>
            <p:ph idx="1"/>
          </p:nvPr>
        </p:nvSpPr>
        <p:spPr>
          <a:xfrm>
            <a:off x="220663" y="1016000"/>
            <a:ext cx="11747500" cy="5538788"/>
          </a:xfrm>
        </p:spPr>
        <p:txBody>
          <a:bodyPr vert="horz" wrap="square" lIns="91440" tIns="45720" rIns="91440" bIns="45720" anchor="t" anchorCtr="0"/>
          <a:p>
            <a:pPr eaLnBrk="1" hangingPunct="1">
              <a:lnSpc>
                <a:spcPct val="125000"/>
              </a:lnSpc>
            </a:pPr>
            <a:r>
              <a:rPr lang="zh-CN" altLang="en-US" dirty="0"/>
              <a:t>实现精确例外处理的一个办法是把后面指令对机器状态的修改延迟到前面指令都已经执行完</a:t>
            </a:r>
            <a:endParaRPr lang="zh-CN" altLang="en-US" dirty="0"/>
          </a:p>
          <a:p>
            <a:pPr lvl="1" eaLnBrk="1" hangingPunct="1">
              <a:lnSpc>
                <a:spcPct val="125000"/>
              </a:lnSpc>
            </a:pPr>
            <a:r>
              <a:rPr lang="zh-CN" altLang="en-US" dirty="0"/>
              <a:t>有些指令在</a:t>
            </a:r>
            <a:r>
              <a:rPr lang="en-US" altLang="zh-CN" dirty="0"/>
              <a:t>EX</a:t>
            </a:r>
            <a:r>
              <a:rPr lang="zh-CN" altLang="en-US" dirty="0"/>
              <a:t>阶段也修改机器状态，如运算指令修改结果状态</a:t>
            </a:r>
            <a:endParaRPr lang="zh-CN" altLang="en-US" dirty="0"/>
          </a:p>
          <a:p>
            <a:pPr lvl="1" eaLnBrk="1" hangingPunct="1">
              <a:lnSpc>
                <a:spcPct val="125000"/>
              </a:lnSpc>
            </a:pPr>
            <a:r>
              <a:rPr lang="zh-CN" altLang="en-US" dirty="0"/>
              <a:t>在执行阶段停止流水线会影响后面的指令执行</a:t>
            </a:r>
            <a:endParaRPr lang="zh-CN" altLang="en-US" dirty="0"/>
          </a:p>
          <a:p>
            <a:pPr eaLnBrk="1" hangingPunct="1">
              <a:lnSpc>
                <a:spcPct val="125000"/>
              </a:lnSpc>
            </a:pPr>
            <a:r>
              <a:rPr lang="zh-CN" altLang="en-US" dirty="0"/>
              <a:t>可以用一些缓冲器来临时保存执行结果，当前面所有指令执行完后</a:t>
            </a:r>
            <a:r>
              <a:rPr lang="en-US" altLang="zh-CN" dirty="0"/>
              <a:t>, </a:t>
            </a:r>
            <a:r>
              <a:rPr lang="zh-CN" altLang="en-US" dirty="0"/>
              <a:t>再把保存在缓冲器中的结果写回到寄存器或存储器</a:t>
            </a:r>
            <a:endParaRPr lang="zh-CN" altLang="en-US" dirty="0"/>
          </a:p>
          <a:p>
            <a:pPr lvl="1" eaLnBrk="1" hangingPunct="1">
              <a:lnSpc>
                <a:spcPct val="125000"/>
              </a:lnSpc>
            </a:pPr>
            <a:r>
              <a:rPr lang="zh-CN" altLang="zh-CN" dirty="0"/>
              <a:t>在流水线修改机器状态时</a:t>
            </a:r>
            <a:r>
              <a:rPr lang="zh-CN" altLang="en-US" dirty="0"/>
              <a:t>（</a:t>
            </a:r>
            <a:r>
              <a:rPr lang="zh-CN" altLang="zh-CN" dirty="0"/>
              <a:t>在执行或写回阶段</a:t>
            </a:r>
            <a:r>
              <a:rPr lang="zh-CN" altLang="en-US" dirty="0"/>
              <a:t>）</a:t>
            </a:r>
            <a:r>
              <a:rPr lang="zh-CN" altLang="zh-CN" dirty="0"/>
              <a:t>写到缓冲器</a:t>
            </a:r>
            <a:endParaRPr lang="zh-CN" altLang="zh-CN" dirty="0"/>
          </a:p>
          <a:p>
            <a:pPr lvl="1" eaLnBrk="1" hangingPunct="1">
              <a:lnSpc>
                <a:spcPct val="125000"/>
              </a:lnSpc>
            </a:pPr>
            <a:r>
              <a:rPr lang="zh-CN" altLang="zh-CN" dirty="0"/>
              <a:t>增加</a:t>
            </a:r>
            <a:r>
              <a:rPr lang="zh-CN" altLang="en-US" dirty="0"/>
              <a:t>提交（</a:t>
            </a:r>
            <a:r>
              <a:rPr lang="en-US" altLang="zh-CN" dirty="0"/>
              <a:t>Commit</a:t>
            </a:r>
            <a:r>
              <a:rPr lang="zh-CN" altLang="en-US" dirty="0"/>
              <a:t>）</a:t>
            </a:r>
            <a:r>
              <a:rPr lang="zh-CN" altLang="zh-CN" dirty="0"/>
              <a:t>阶段</a:t>
            </a:r>
            <a:r>
              <a:rPr lang="zh-CN" altLang="en-US" dirty="0"/>
              <a:t>，</a:t>
            </a:r>
            <a:r>
              <a:rPr lang="zh-CN" altLang="zh-CN" dirty="0"/>
              <a:t>把缓冲器的内容写回到寄存器或存储器</a:t>
            </a:r>
            <a:endParaRPr lang="zh-CN" altLang="zh-CN" dirty="0"/>
          </a:p>
          <a:p>
            <a:pPr lvl="1" eaLnBrk="1" hangingPunct="1">
              <a:lnSpc>
                <a:spcPct val="125000"/>
              </a:lnSpc>
            </a:pPr>
            <a:r>
              <a:rPr lang="zh-CN" altLang="en-US" dirty="0"/>
              <a:t>提交</a:t>
            </a:r>
            <a:r>
              <a:rPr lang="zh-CN" altLang="zh-CN" dirty="0"/>
              <a:t>阶段只有前面指令都结束后才能进行</a:t>
            </a:r>
            <a:endParaRPr lang="zh-CN" altLang="zh-CN" dirty="0"/>
          </a:p>
          <a:p>
            <a:pPr lvl="1" eaLnBrk="1" hangingPunct="1">
              <a:lnSpc>
                <a:spcPct val="125000"/>
              </a:lnSpc>
            </a:pPr>
            <a:r>
              <a:rPr lang="zh-CN" altLang="en-US" dirty="0">
                <a:solidFill>
                  <a:srgbClr val="FF0000"/>
                </a:solidFill>
              </a:rPr>
              <a:t>有序提交：</a:t>
            </a:r>
            <a:r>
              <a:rPr lang="zh-CN" altLang="zh-CN" dirty="0">
                <a:solidFill>
                  <a:srgbClr val="FF0000"/>
                </a:solidFill>
              </a:rPr>
              <a:t>乱序执行</a:t>
            </a:r>
            <a:r>
              <a:rPr lang="zh-CN" altLang="en-US" dirty="0">
                <a:solidFill>
                  <a:srgbClr val="FF0000"/>
                </a:solidFill>
              </a:rPr>
              <a:t>，</a:t>
            </a:r>
            <a:r>
              <a:rPr lang="zh-CN" altLang="zh-CN" dirty="0">
                <a:solidFill>
                  <a:srgbClr val="FF0000"/>
                </a:solidFill>
              </a:rPr>
              <a:t>有序结束</a:t>
            </a:r>
            <a:endParaRPr lang="zh-CN" altLang="zh-CN" dirty="0"/>
          </a:p>
          <a:p>
            <a:pPr lvl="1" eaLnBrk="1" hangingPunct="1">
              <a:lnSpc>
                <a:spcPct val="125000"/>
              </a:lnSpc>
            </a:pPr>
            <a:r>
              <a:rPr lang="zh-CN" altLang="zh-CN" dirty="0"/>
              <a:t>所用的缓冲器通常被称为</a:t>
            </a:r>
            <a:r>
              <a:rPr lang="en-US" altLang="zh-CN" dirty="0"/>
              <a:t>Reorder Buffer</a:t>
            </a:r>
            <a:r>
              <a:rPr lang="zh-CN" altLang="en-US" dirty="0"/>
              <a:t>（</a:t>
            </a:r>
            <a:r>
              <a:rPr lang="en-US" altLang="zh-CN" dirty="0"/>
              <a:t>ROB</a:t>
            </a:r>
            <a:r>
              <a:rPr lang="zh-CN" altLang="en-US" dirty="0"/>
              <a:t>）</a:t>
            </a:r>
            <a:endParaRPr lang="zh-CN" altLang="en-US" dirty="0"/>
          </a:p>
          <a:p>
            <a:pPr eaLnBrk="1" hangingPunct="1">
              <a:lnSpc>
                <a:spcPct val="125000"/>
              </a:lnSpc>
            </a:pPr>
            <a:r>
              <a:rPr lang="zh-CN" altLang="en-US" dirty="0"/>
              <a:t>在猜测执行中也用上述机制</a:t>
            </a:r>
            <a:endParaRPr lang="zh-CN" altLang="en-US" dirty="0"/>
          </a:p>
          <a:p>
            <a:pPr lvl="1" eaLnBrk="1" hangingPunct="1">
              <a:lnSpc>
                <a:spcPct val="125000"/>
              </a:lnSpc>
            </a:pPr>
            <a:r>
              <a:rPr lang="zh-CN" altLang="en-US" dirty="0"/>
              <a:t>都是在某些情况不确定的情况下先执行，但留有反悔的余地</a:t>
            </a:r>
            <a:endParaRPr lang="zh-CN" altLang="en-US" dirty="0"/>
          </a:p>
        </p:txBody>
      </p:sp>
      <p:sp>
        <p:nvSpPr>
          <p:cNvPr id="45058" name="Rectangle 3"/>
          <p:cNvSpPr/>
          <p:nvPr/>
        </p:nvSpPr>
        <p:spPr>
          <a:xfrm>
            <a:off x="912813" y="0"/>
            <a:ext cx="10361612" cy="944563"/>
          </a:xfrm>
          <a:prstGeom prst="rect">
            <a:avLst/>
          </a:prstGeom>
          <a:noFill/>
          <a:ln w="9525">
            <a:noFill/>
          </a:ln>
        </p:spPr>
        <p:txBody>
          <a:bodyPr anchor="ctr" anchorCtr="0"/>
          <a:p>
            <a:pPr algn="ctr"/>
            <a:r>
              <a:rPr lang="zh-CN" altLang="en-US" sz="3200" dirty="0">
                <a:solidFill>
                  <a:srgbClr val="FF0000"/>
                </a:solidFill>
                <a:latin typeface="Arial" panose="02080604020202020204" pitchFamily="34" charset="0"/>
                <a:ea typeface="黑体" panose="02000500000000000000" pitchFamily="49" charset="-122"/>
              </a:rPr>
              <a:t>硬件支持动态流水线的精确例外处理</a:t>
            </a:r>
            <a:endParaRPr lang="zh-CN" altLang="en-US" sz="3200" dirty="0">
              <a:solidFill>
                <a:srgbClr val="FF0000"/>
              </a:solidFill>
              <a:latin typeface="Arial" panose="02080604020202020204" pitchFamily="34" charset="0"/>
              <a:ea typeface="黑体" panose="02000500000000000000" pitchFamily="49" charset="-122"/>
            </a:endParaRPr>
          </a:p>
        </p:txBody>
      </p:sp>
      <p:sp>
        <p:nvSpPr>
          <p:cNvPr id="45059"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buSzTx/>
            </a:pPr>
            <a:fld id="{9A0DB2DC-4C9A-4742-B13C-FB6460FD3503}" type="slidenum">
              <a:rPr lang="en-US" altLang="zh-CN" sz="1400" dirty="0"/>
            </a:fld>
            <a:endParaRPr lang="en-US" altLang="zh-CN"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Rectangle 2"/>
          <p:cNvSpPr>
            <a:spLocks noGrp="1"/>
          </p:cNvSpPr>
          <p:nvPr>
            <p:ph idx="1"/>
          </p:nvPr>
        </p:nvSpPr>
        <p:spPr>
          <a:xfrm>
            <a:off x="204788" y="1196975"/>
            <a:ext cx="11483975" cy="5292725"/>
          </a:xfrm>
        </p:spPr>
        <p:txBody>
          <a:bodyPr vert="horz" wrap="square" lIns="91440" tIns="45720" rIns="91440" bIns="45720" anchor="t" anchorCtr="0"/>
          <a:p>
            <a:pPr eaLnBrk="1" hangingPunct="1"/>
            <a:r>
              <a:rPr lang="zh-CN" altLang="en-US" dirty="0"/>
              <a:t>内容</a:t>
            </a:r>
            <a:r>
              <a:rPr lang="en-US" altLang="zh-CN" dirty="0"/>
              <a:t>: </a:t>
            </a:r>
            <a:r>
              <a:rPr lang="zh-CN" altLang="en-US" dirty="0"/>
              <a:t>目标地址（存数地址或寄存器号）、 值、 操作类型</a:t>
            </a:r>
            <a:endParaRPr lang="zh-CN" altLang="en-US" dirty="0"/>
          </a:p>
          <a:p>
            <a:pPr eaLnBrk="1" hangingPunct="1"/>
            <a:r>
              <a:rPr lang="zh-CN" altLang="en-US" dirty="0"/>
              <a:t>写回时写回到</a:t>
            </a:r>
            <a:r>
              <a:rPr lang="en-US" altLang="zh-CN" dirty="0"/>
              <a:t>ROB, </a:t>
            </a:r>
            <a:r>
              <a:rPr lang="zh-CN" altLang="en-US" dirty="0"/>
              <a:t>因此后面指令有可能从</a:t>
            </a:r>
            <a:r>
              <a:rPr lang="en-US" altLang="zh-CN" dirty="0"/>
              <a:t>ROB</a:t>
            </a:r>
            <a:r>
              <a:rPr lang="zh-CN" altLang="en-US" dirty="0"/>
              <a:t>读操作数</a:t>
            </a:r>
            <a:endParaRPr lang="zh-CN" altLang="en-US" dirty="0"/>
          </a:p>
          <a:p>
            <a:pPr eaLnBrk="1" hangingPunct="1"/>
            <a:r>
              <a:rPr lang="zh-CN" altLang="en-US" dirty="0"/>
              <a:t>使用</a:t>
            </a:r>
            <a:r>
              <a:rPr lang="en-US" altLang="zh-CN" dirty="0"/>
              <a:t>ROB</a:t>
            </a:r>
            <a:r>
              <a:rPr lang="zh-CN" altLang="en-US" dirty="0"/>
              <a:t>号作为重命名号（原来使用保留站号），一条指令的结果寄存器被重命名为其结果</a:t>
            </a:r>
            <a:r>
              <a:rPr lang="en-US" altLang="zh-CN" dirty="0"/>
              <a:t>ROB</a:t>
            </a:r>
            <a:r>
              <a:rPr lang="zh-CN" altLang="en-US" dirty="0"/>
              <a:t>号</a:t>
            </a:r>
            <a:endParaRPr lang="zh-CN" altLang="en-US" dirty="0"/>
          </a:p>
          <a:p>
            <a:pPr lvl="1" eaLnBrk="1" hangingPunct="1"/>
            <a:r>
              <a:rPr lang="zh-CN" altLang="en-US" dirty="0"/>
              <a:t>保留站重命名源寄存器号</a:t>
            </a:r>
            <a:r>
              <a:rPr lang="en-US" altLang="zh-CN" dirty="0"/>
              <a:t>,</a:t>
            </a:r>
            <a:endParaRPr lang="en-US" altLang="zh-CN" dirty="0"/>
          </a:p>
          <a:p>
            <a:pPr lvl="1" eaLnBrk="1" hangingPunct="1"/>
            <a:r>
              <a:rPr lang="en-US" altLang="zh-CN" dirty="0"/>
              <a:t>ROB</a:t>
            </a:r>
            <a:r>
              <a:rPr lang="zh-CN" altLang="en-US" dirty="0"/>
              <a:t>重命名结果寄存器号</a:t>
            </a:r>
            <a:endParaRPr lang="zh-CN" altLang="en-US" dirty="0"/>
          </a:p>
          <a:p>
            <a:pPr eaLnBrk="1" hangingPunct="1"/>
            <a:r>
              <a:rPr lang="zh-CN" altLang="en-US" dirty="0"/>
              <a:t>提交</a:t>
            </a:r>
            <a:r>
              <a:rPr lang="zh-CN" altLang="zh-CN" dirty="0"/>
              <a:t>时把结果写回寄存器或存储器</a:t>
            </a:r>
            <a:endParaRPr lang="zh-CN" altLang="en-US" dirty="0"/>
          </a:p>
          <a:p>
            <a:pPr eaLnBrk="1" hangingPunct="1"/>
            <a:r>
              <a:rPr lang="zh-CN" altLang="en-US" dirty="0"/>
              <a:t>只要一条指令没有提交</a:t>
            </a:r>
            <a:r>
              <a:rPr lang="en-US" altLang="zh-CN" dirty="0"/>
              <a:t>, </a:t>
            </a:r>
            <a:r>
              <a:rPr lang="zh-CN" altLang="en-US" dirty="0"/>
              <a:t>它就不会对寄存器或存储器的内容进行修改，在一条指令没有提交之前很容易取消该指令（由于前面指令发生了例外或由于猜测执行不正确）</a:t>
            </a:r>
            <a:endParaRPr lang="zh-CN" altLang="en-US" dirty="0"/>
          </a:p>
          <a:p>
            <a:pPr eaLnBrk="1" hangingPunct="1"/>
            <a:r>
              <a:rPr lang="en-US" altLang="zh-CN" dirty="0"/>
              <a:t>ROB</a:t>
            </a:r>
            <a:r>
              <a:rPr lang="zh-CN" altLang="en-US" dirty="0"/>
              <a:t>可以和</a:t>
            </a:r>
            <a:r>
              <a:rPr lang="en-US" altLang="zh-CN" dirty="0"/>
              <a:t>Write Buffer</a:t>
            </a:r>
            <a:r>
              <a:rPr lang="zh-CN" altLang="en-US" dirty="0"/>
              <a:t>合并</a:t>
            </a:r>
            <a:endParaRPr lang="zh-CN" altLang="en-US" dirty="0"/>
          </a:p>
        </p:txBody>
      </p:sp>
      <p:sp>
        <p:nvSpPr>
          <p:cNvPr id="46082" name="Rectangle 3"/>
          <p:cNvSpPr/>
          <p:nvPr/>
        </p:nvSpPr>
        <p:spPr>
          <a:xfrm>
            <a:off x="912813" y="420688"/>
            <a:ext cx="10361612" cy="523875"/>
          </a:xfrm>
          <a:prstGeom prst="rect">
            <a:avLst/>
          </a:prstGeom>
          <a:noFill/>
          <a:ln w="9525">
            <a:noFill/>
          </a:ln>
        </p:spPr>
        <p:txBody>
          <a:bodyPr anchor="ctr" anchorCtr="0"/>
          <a:p>
            <a:pPr algn="ctr"/>
            <a:r>
              <a:rPr lang="zh-CN" altLang="en-US" sz="3200" dirty="0">
                <a:solidFill>
                  <a:srgbClr val="FF0000"/>
                </a:solidFill>
                <a:latin typeface="Arial" panose="02080604020202020204" pitchFamily="34" charset="0"/>
                <a:ea typeface="黑体" panose="02000500000000000000" pitchFamily="49" charset="-122"/>
              </a:rPr>
              <a:t>指令重排序缓存</a:t>
            </a:r>
            <a:r>
              <a:rPr lang="en-US" altLang="zh-CN" sz="3200" dirty="0">
                <a:solidFill>
                  <a:srgbClr val="FF0000"/>
                </a:solidFill>
                <a:latin typeface="Arial" panose="02080604020202020204" pitchFamily="34" charset="0"/>
                <a:ea typeface="黑体" panose="02000500000000000000" pitchFamily="49" charset="-122"/>
              </a:rPr>
              <a:t>Reorder Buffer </a:t>
            </a:r>
            <a:r>
              <a:rPr lang="zh-CN" altLang="en-US" sz="3200" dirty="0">
                <a:solidFill>
                  <a:srgbClr val="FF0000"/>
                </a:solidFill>
                <a:latin typeface="Arial" panose="02080604020202020204" pitchFamily="34" charset="0"/>
                <a:ea typeface="黑体" panose="02000500000000000000" pitchFamily="49" charset="-122"/>
              </a:rPr>
              <a:t>（</a:t>
            </a:r>
            <a:r>
              <a:rPr lang="en-US" altLang="zh-CN" sz="3200" dirty="0">
                <a:solidFill>
                  <a:srgbClr val="FF0000"/>
                </a:solidFill>
                <a:latin typeface="Arial" panose="02080604020202020204" pitchFamily="34" charset="0"/>
                <a:ea typeface="黑体" panose="02000500000000000000" pitchFamily="49" charset="-122"/>
              </a:rPr>
              <a:t>ROB</a:t>
            </a:r>
            <a:r>
              <a:rPr lang="zh-CN" altLang="en-US" sz="3200" dirty="0">
                <a:solidFill>
                  <a:srgbClr val="FF0000"/>
                </a:solidFill>
                <a:latin typeface="Arial" panose="02080604020202020204" pitchFamily="34" charset="0"/>
                <a:ea typeface="黑体" panose="02000500000000000000" pitchFamily="49" charset="-122"/>
              </a:rPr>
              <a:t>）</a:t>
            </a:r>
            <a:endParaRPr lang="zh-CN" altLang="en-US" sz="3200" dirty="0">
              <a:solidFill>
                <a:srgbClr val="FF0000"/>
              </a:solidFill>
              <a:latin typeface="Arial" panose="02080604020202020204" pitchFamily="34" charset="0"/>
              <a:ea typeface="黑体" panose="02000500000000000000" pitchFamily="49" charset="-122"/>
            </a:endParaRPr>
          </a:p>
        </p:txBody>
      </p:sp>
      <p:sp>
        <p:nvSpPr>
          <p:cNvPr id="46083"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buSzTx/>
            </a:pPr>
            <a:fld id="{9A0DB2DC-4C9A-4742-B13C-FB6460FD3503}" type="slidenum">
              <a:rPr lang="en-US" altLang="zh-CN" sz="1400" dirty="0"/>
            </a:fld>
            <a:endParaRPr lang="en-US" altLang="zh-CN"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51" name="Line 52"/>
          <p:cNvSpPr/>
          <p:nvPr/>
        </p:nvSpPr>
        <p:spPr>
          <a:xfrm flipV="1">
            <a:off x="7390765" y="2116455"/>
            <a:ext cx="0" cy="335280"/>
          </a:xfrm>
          <a:prstGeom prst="line">
            <a:avLst/>
          </a:prstGeom>
          <a:ln w="9525" cap="flat" cmpd="sng">
            <a:solidFill>
              <a:schemeClr val="tx1"/>
            </a:solidFill>
            <a:prstDash val="solid"/>
            <a:round/>
            <a:headEnd type="none" w="med" len="med"/>
            <a:tailEnd type="triangle" w="med" len="med"/>
          </a:ln>
        </p:spPr>
      </p:sp>
      <p:sp>
        <p:nvSpPr>
          <p:cNvPr id="31752" name="Line 53"/>
          <p:cNvSpPr/>
          <p:nvPr/>
        </p:nvSpPr>
        <p:spPr>
          <a:xfrm flipV="1">
            <a:off x="8270875" y="2116455"/>
            <a:ext cx="0" cy="335280"/>
          </a:xfrm>
          <a:prstGeom prst="line">
            <a:avLst/>
          </a:prstGeom>
          <a:ln w="9525" cap="flat" cmpd="sng">
            <a:solidFill>
              <a:schemeClr val="tx1"/>
            </a:solidFill>
            <a:prstDash val="solid"/>
            <a:round/>
            <a:headEnd type="none" w="med" len="med"/>
            <a:tailEnd type="triangle" w="med" len="med"/>
          </a:ln>
        </p:spPr>
      </p:sp>
      <p:sp>
        <p:nvSpPr>
          <p:cNvPr id="31753" name="Line 54"/>
          <p:cNvSpPr/>
          <p:nvPr/>
        </p:nvSpPr>
        <p:spPr>
          <a:xfrm flipV="1">
            <a:off x="10353675" y="2103755"/>
            <a:ext cx="0" cy="335280"/>
          </a:xfrm>
          <a:prstGeom prst="line">
            <a:avLst/>
          </a:prstGeom>
          <a:ln w="9525" cap="flat" cmpd="sng">
            <a:solidFill>
              <a:schemeClr val="tx1"/>
            </a:solidFill>
            <a:prstDash val="solid"/>
            <a:round/>
            <a:headEnd type="none" w="med" len="med"/>
            <a:tailEnd type="triangle" w="med" len="med"/>
          </a:ln>
        </p:spPr>
      </p:sp>
      <p:sp>
        <p:nvSpPr>
          <p:cNvPr id="31754" name="Line 55"/>
          <p:cNvSpPr/>
          <p:nvPr/>
        </p:nvSpPr>
        <p:spPr>
          <a:xfrm flipV="1">
            <a:off x="11301730" y="2091055"/>
            <a:ext cx="0" cy="335280"/>
          </a:xfrm>
          <a:prstGeom prst="line">
            <a:avLst/>
          </a:prstGeom>
          <a:ln w="9525" cap="flat" cmpd="sng">
            <a:solidFill>
              <a:schemeClr val="tx1"/>
            </a:solidFill>
            <a:prstDash val="solid"/>
            <a:round/>
            <a:headEnd type="none" w="med" len="med"/>
            <a:tailEnd type="triangle" w="med" len="med"/>
          </a:ln>
        </p:spPr>
      </p:sp>
      <p:sp>
        <p:nvSpPr>
          <p:cNvPr id="31755" name="Line 56"/>
          <p:cNvSpPr/>
          <p:nvPr/>
        </p:nvSpPr>
        <p:spPr>
          <a:xfrm flipV="1">
            <a:off x="8137525" y="4694555"/>
            <a:ext cx="0" cy="617855"/>
          </a:xfrm>
          <a:prstGeom prst="line">
            <a:avLst/>
          </a:prstGeom>
          <a:ln w="19050" cap="flat" cmpd="sng">
            <a:solidFill>
              <a:schemeClr val="tx1"/>
            </a:solidFill>
            <a:prstDash val="solid"/>
            <a:round/>
            <a:headEnd type="none" w="med" len="med"/>
            <a:tailEnd type="triangle" w="med" len="med"/>
          </a:ln>
        </p:spPr>
      </p:sp>
      <p:sp>
        <p:nvSpPr>
          <p:cNvPr id="31756" name="Line 57"/>
          <p:cNvSpPr/>
          <p:nvPr/>
        </p:nvSpPr>
        <p:spPr>
          <a:xfrm flipV="1">
            <a:off x="7794625" y="3044825"/>
            <a:ext cx="0" cy="247650"/>
          </a:xfrm>
          <a:prstGeom prst="line">
            <a:avLst/>
          </a:prstGeom>
          <a:ln w="19050" cap="flat" cmpd="sng">
            <a:solidFill>
              <a:schemeClr val="tx1"/>
            </a:solidFill>
            <a:prstDash val="solid"/>
            <a:round/>
            <a:headEnd type="none" w="med" len="med"/>
            <a:tailEnd type="triangle" w="med" len="med"/>
          </a:ln>
        </p:spPr>
      </p:sp>
      <p:sp>
        <p:nvSpPr>
          <p:cNvPr id="31757" name="Line 58"/>
          <p:cNvSpPr/>
          <p:nvPr/>
        </p:nvSpPr>
        <p:spPr>
          <a:xfrm flipV="1">
            <a:off x="10788015" y="3037205"/>
            <a:ext cx="0" cy="260350"/>
          </a:xfrm>
          <a:prstGeom prst="line">
            <a:avLst/>
          </a:prstGeom>
          <a:ln w="19050" cap="flat" cmpd="sng">
            <a:solidFill>
              <a:schemeClr val="tx1"/>
            </a:solidFill>
            <a:prstDash val="solid"/>
            <a:round/>
            <a:headEnd type="none" w="med" len="med"/>
            <a:tailEnd type="triangle" w="med" len="med"/>
          </a:ln>
        </p:spPr>
      </p:sp>
      <p:sp>
        <p:nvSpPr>
          <p:cNvPr id="31758" name="Line 59"/>
          <p:cNvSpPr/>
          <p:nvPr/>
        </p:nvSpPr>
        <p:spPr>
          <a:xfrm flipV="1">
            <a:off x="10813415" y="1449705"/>
            <a:ext cx="0" cy="370205"/>
          </a:xfrm>
          <a:prstGeom prst="line">
            <a:avLst/>
          </a:prstGeom>
          <a:ln w="19050" cap="flat" cmpd="sng">
            <a:solidFill>
              <a:srgbClr val="FF0000"/>
            </a:solidFill>
            <a:prstDash val="solid"/>
            <a:round/>
            <a:headEnd type="none" w="med" len="med"/>
            <a:tailEnd type="triangle" w="med" len="med"/>
          </a:ln>
        </p:spPr>
      </p:sp>
      <p:sp>
        <p:nvSpPr>
          <p:cNvPr id="31759" name="Line 60"/>
          <p:cNvSpPr/>
          <p:nvPr/>
        </p:nvSpPr>
        <p:spPr>
          <a:xfrm flipV="1">
            <a:off x="7881620" y="1466850"/>
            <a:ext cx="0" cy="370205"/>
          </a:xfrm>
          <a:prstGeom prst="line">
            <a:avLst/>
          </a:prstGeom>
          <a:ln w="19050" cap="flat" cmpd="sng">
            <a:solidFill>
              <a:schemeClr val="tx1"/>
            </a:solidFill>
            <a:prstDash val="solid"/>
            <a:round/>
            <a:headEnd type="none" w="med" len="med"/>
            <a:tailEnd type="triangle" w="med" len="med"/>
          </a:ln>
        </p:spPr>
      </p:sp>
      <p:sp>
        <p:nvSpPr>
          <p:cNvPr id="31760" name="Line 61"/>
          <p:cNvSpPr/>
          <p:nvPr/>
        </p:nvSpPr>
        <p:spPr>
          <a:xfrm>
            <a:off x="5155565" y="1460500"/>
            <a:ext cx="7009765" cy="0"/>
          </a:xfrm>
          <a:prstGeom prst="line">
            <a:avLst/>
          </a:prstGeom>
          <a:ln w="19050" cap="flat" cmpd="sng">
            <a:solidFill>
              <a:srgbClr val="FF0000"/>
            </a:solidFill>
            <a:prstDash val="solid"/>
            <a:round/>
            <a:headEnd type="none" w="med" len="med"/>
            <a:tailEnd type="none" w="med" len="med"/>
          </a:ln>
        </p:spPr>
      </p:sp>
      <p:sp>
        <p:nvSpPr>
          <p:cNvPr id="31761" name="Line 62"/>
          <p:cNvSpPr/>
          <p:nvPr/>
        </p:nvSpPr>
        <p:spPr>
          <a:xfrm flipH="1" flipV="1">
            <a:off x="7160895" y="3035300"/>
            <a:ext cx="635" cy="389255"/>
          </a:xfrm>
          <a:prstGeom prst="line">
            <a:avLst/>
          </a:prstGeom>
          <a:ln w="19050" cap="flat" cmpd="sng">
            <a:solidFill>
              <a:srgbClr val="FF0000"/>
            </a:solidFill>
            <a:prstDash val="solid"/>
            <a:round/>
            <a:headEnd type="none" w="med" len="med"/>
            <a:tailEnd type="triangle" w="med" len="med"/>
          </a:ln>
        </p:spPr>
      </p:sp>
      <p:sp>
        <p:nvSpPr>
          <p:cNvPr id="31762" name="Line 63"/>
          <p:cNvSpPr/>
          <p:nvPr/>
        </p:nvSpPr>
        <p:spPr>
          <a:xfrm flipV="1">
            <a:off x="11272520" y="3027680"/>
            <a:ext cx="635" cy="410845"/>
          </a:xfrm>
          <a:prstGeom prst="line">
            <a:avLst/>
          </a:prstGeom>
          <a:ln w="19050" cap="flat" cmpd="sng">
            <a:solidFill>
              <a:srgbClr val="FF0000"/>
            </a:solidFill>
            <a:prstDash val="solid"/>
            <a:round/>
            <a:headEnd type="none" w="med" len="med"/>
            <a:tailEnd type="triangle" w="med" len="med"/>
          </a:ln>
        </p:spPr>
      </p:sp>
      <p:sp>
        <p:nvSpPr>
          <p:cNvPr id="31763" name="Line 64"/>
          <p:cNvSpPr/>
          <p:nvPr/>
        </p:nvSpPr>
        <p:spPr>
          <a:xfrm>
            <a:off x="12150725" y="1463040"/>
            <a:ext cx="635" cy="3496945"/>
          </a:xfrm>
          <a:prstGeom prst="line">
            <a:avLst/>
          </a:prstGeom>
          <a:ln w="19050" cap="flat" cmpd="sng">
            <a:solidFill>
              <a:srgbClr val="FF0000"/>
            </a:solidFill>
            <a:prstDash val="solid"/>
            <a:round/>
            <a:headEnd type="none" w="med" len="med"/>
            <a:tailEnd type="none" w="med" len="med"/>
          </a:ln>
        </p:spPr>
      </p:sp>
      <p:sp>
        <p:nvSpPr>
          <p:cNvPr id="31764" name="Line 65"/>
          <p:cNvSpPr/>
          <p:nvPr/>
        </p:nvSpPr>
        <p:spPr>
          <a:xfrm flipV="1">
            <a:off x="8114665" y="3270250"/>
            <a:ext cx="0" cy="581025"/>
          </a:xfrm>
          <a:prstGeom prst="line">
            <a:avLst/>
          </a:prstGeom>
          <a:ln w="19050" cap="flat" cmpd="sng">
            <a:solidFill>
              <a:schemeClr val="tx1"/>
            </a:solidFill>
            <a:prstDash val="solid"/>
            <a:round/>
            <a:headEnd type="none" w="med" len="med"/>
            <a:tailEnd type="triangle" w="med" len="med"/>
          </a:ln>
        </p:spPr>
      </p:sp>
      <p:sp>
        <p:nvSpPr>
          <p:cNvPr id="31765" name="Text Box 66"/>
          <p:cNvSpPr txBox="1"/>
          <p:nvPr/>
        </p:nvSpPr>
        <p:spPr>
          <a:xfrm>
            <a:off x="6283960" y="2246630"/>
            <a:ext cx="1039495" cy="18415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加法保留站</a:t>
            </a:r>
            <a:endParaRPr lang="zh-CN" altLang="en-US" sz="1200" b="1" dirty="0">
              <a:latin typeface="Times New Roman" pitchFamily="18" charset="0"/>
              <a:ea typeface="宋体" panose="02000500000000000000" pitchFamily="2" charset="-122"/>
            </a:endParaRPr>
          </a:p>
        </p:txBody>
      </p:sp>
      <p:sp>
        <p:nvSpPr>
          <p:cNvPr id="31766" name="Text Box 67"/>
          <p:cNvSpPr txBox="1"/>
          <p:nvPr/>
        </p:nvSpPr>
        <p:spPr>
          <a:xfrm>
            <a:off x="6925310" y="3675380"/>
            <a:ext cx="1090295" cy="184150"/>
          </a:xfrm>
          <a:prstGeom prst="rect">
            <a:avLst/>
          </a:prstGeom>
          <a:noFill/>
          <a:ln w="9525">
            <a:noFill/>
          </a:ln>
          <a:extLst>
            <a:ext uri="{909E8E84-426E-40DD-AFC4-6F175D3DCCD1}">
              <a14:hiddenFill xmlns:a14="http://schemas.microsoft.com/office/drawing/2010/main">
                <a:solidFill>
                  <a:schemeClr val="bg1"/>
                </a:solidFill>
              </a14:hiddenFill>
            </a:ext>
          </a:extLst>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浮点寄存器</a:t>
            </a:r>
            <a:endParaRPr lang="zh-CN" altLang="en-US" sz="1200" b="1" dirty="0">
              <a:latin typeface="Times New Roman" pitchFamily="18" charset="0"/>
              <a:ea typeface="宋体" panose="02000500000000000000" pitchFamily="2" charset="-122"/>
            </a:endParaRPr>
          </a:p>
        </p:txBody>
      </p:sp>
      <p:sp>
        <p:nvSpPr>
          <p:cNvPr id="31767" name="Text Box 68"/>
          <p:cNvSpPr txBox="1"/>
          <p:nvPr/>
        </p:nvSpPr>
        <p:spPr>
          <a:xfrm>
            <a:off x="9289415" y="2235200"/>
            <a:ext cx="1039495" cy="18415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乘法保留站</a:t>
            </a:r>
            <a:endParaRPr lang="zh-CN" altLang="en-US" sz="1200" b="1" dirty="0">
              <a:latin typeface="Times New Roman" pitchFamily="18" charset="0"/>
              <a:ea typeface="宋体" panose="02000500000000000000" pitchFamily="2" charset="-122"/>
            </a:endParaRPr>
          </a:p>
        </p:txBody>
      </p:sp>
      <p:sp>
        <p:nvSpPr>
          <p:cNvPr id="31768" name="Line 69"/>
          <p:cNvSpPr/>
          <p:nvPr/>
        </p:nvSpPr>
        <p:spPr>
          <a:xfrm>
            <a:off x="10807065" y="4959985"/>
            <a:ext cx="1358265" cy="635"/>
          </a:xfrm>
          <a:prstGeom prst="line">
            <a:avLst/>
          </a:prstGeom>
          <a:ln w="19050" cap="flat" cmpd="sng">
            <a:solidFill>
              <a:srgbClr val="FF0000"/>
            </a:solidFill>
            <a:prstDash val="solid"/>
            <a:round/>
            <a:headEnd type="none" w="med" len="med"/>
            <a:tailEnd type="none" w="med" len="med"/>
          </a:ln>
        </p:spPr>
      </p:sp>
      <p:sp>
        <p:nvSpPr>
          <p:cNvPr id="31769" name="Line 70"/>
          <p:cNvSpPr/>
          <p:nvPr/>
        </p:nvSpPr>
        <p:spPr>
          <a:xfrm flipV="1">
            <a:off x="10812145" y="4701540"/>
            <a:ext cx="1905" cy="260350"/>
          </a:xfrm>
          <a:prstGeom prst="line">
            <a:avLst/>
          </a:prstGeom>
          <a:ln w="19050" cap="flat" cmpd="sng">
            <a:solidFill>
              <a:srgbClr val="FF0000"/>
            </a:solidFill>
            <a:prstDash val="solid"/>
            <a:round/>
            <a:headEnd type="none" w="med" len="med"/>
            <a:tailEnd type="triangle" w="med" len="med"/>
          </a:ln>
        </p:spPr>
      </p:sp>
      <p:grpSp>
        <p:nvGrpSpPr>
          <p:cNvPr id="31772" name="Group 73"/>
          <p:cNvGrpSpPr/>
          <p:nvPr/>
        </p:nvGrpSpPr>
        <p:grpSpPr>
          <a:xfrm rot="0">
            <a:off x="4488815" y="1461135"/>
            <a:ext cx="7679055" cy="1970389"/>
            <a:chOff x="1701" y="512"/>
            <a:chExt cx="3628" cy="1241"/>
          </a:xfrm>
        </p:grpSpPr>
        <p:sp>
          <p:nvSpPr>
            <p:cNvPr id="31773" name="Line 74"/>
            <p:cNvSpPr/>
            <p:nvPr/>
          </p:nvSpPr>
          <p:spPr>
            <a:xfrm flipV="1">
              <a:off x="2154" y="1661"/>
              <a:ext cx="2518" cy="0"/>
            </a:xfrm>
            <a:prstGeom prst="line">
              <a:avLst/>
            </a:prstGeom>
            <a:ln w="19050" cap="flat" cmpd="sng">
              <a:solidFill>
                <a:schemeClr val="tx1"/>
              </a:solidFill>
              <a:prstDash val="solid"/>
              <a:round/>
              <a:headEnd type="none" w="med" len="med"/>
              <a:tailEnd type="none" w="med" len="med"/>
            </a:ln>
          </p:spPr>
        </p:sp>
        <p:sp>
          <p:nvSpPr>
            <p:cNvPr id="31774" name="Line 75"/>
            <p:cNvSpPr/>
            <p:nvPr/>
          </p:nvSpPr>
          <p:spPr>
            <a:xfrm flipV="1">
              <a:off x="2010" y="1753"/>
              <a:ext cx="3319" cy="0"/>
            </a:xfrm>
            <a:prstGeom prst="line">
              <a:avLst/>
            </a:prstGeom>
            <a:ln w="19050" cap="flat" cmpd="sng">
              <a:solidFill>
                <a:srgbClr val="FF0000"/>
              </a:solidFill>
              <a:prstDash val="solid"/>
              <a:round/>
              <a:headEnd type="none" w="med" len="med"/>
              <a:tailEnd type="none" w="med" len="med"/>
            </a:ln>
          </p:spPr>
        </p:sp>
        <p:grpSp>
          <p:nvGrpSpPr>
            <p:cNvPr id="31775" name="Group 76"/>
            <p:cNvGrpSpPr/>
            <p:nvPr/>
          </p:nvGrpSpPr>
          <p:grpSpPr>
            <a:xfrm>
              <a:off x="1701" y="512"/>
              <a:ext cx="3494" cy="1239"/>
              <a:chOff x="1701" y="512"/>
              <a:chExt cx="3494" cy="1239"/>
            </a:xfrm>
          </p:grpSpPr>
          <p:grpSp>
            <p:nvGrpSpPr>
              <p:cNvPr id="31776" name="Group 77"/>
              <p:cNvGrpSpPr/>
              <p:nvPr/>
            </p:nvGrpSpPr>
            <p:grpSpPr>
              <a:xfrm>
                <a:off x="2019" y="512"/>
                <a:ext cx="135" cy="1239"/>
                <a:chOff x="2019" y="512"/>
                <a:chExt cx="135" cy="1239"/>
              </a:xfrm>
            </p:grpSpPr>
            <p:sp>
              <p:nvSpPr>
                <p:cNvPr id="31777" name="Line 78"/>
                <p:cNvSpPr/>
                <p:nvPr/>
              </p:nvSpPr>
              <p:spPr>
                <a:xfrm flipV="1">
                  <a:off x="2022" y="512"/>
                  <a:ext cx="0" cy="233"/>
                </a:xfrm>
                <a:prstGeom prst="line">
                  <a:avLst/>
                </a:prstGeom>
                <a:ln w="19050" cap="flat" cmpd="sng">
                  <a:solidFill>
                    <a:schemeClr val="tx1"/>
                  </a:solidFill>
                  <a:prstDash val="solid"/>
                  <a:round/>
                  <a:headEnd type="none" w="med" len="med"/>
                  <a:tailEnd type="triangle" w="med" len="med"/>
                </a:ln>
              </p:spPr>
            </p:sp>
            <p:sp>
              <p:nvSpPr>
                <p:cNvPr id="31778" name="Line 79"/>
                <p:cNvSpPr/>
                <p:nvPr/>
              </p:nvSpPr>
              <p:spPr>
                <a:xfrm flipH="1" flipV="1">
                  <a:off x="2019" y="1502"/>
                  <a:ext cx="3" cy="249"/>
                </a:xfrm>
                <a:prstGeom prst="line">
                  <a:avLst/>
                </a:prstGeom>
                <a:ln w="19050" cap="flat" cmpd="sng">
                  <a:solidFill>
                    <a:srgbClr val="FF0000"/>
                  </a:solidFill>
                  <a:prstDash val="solid"/>
                  <a:round/>
                  <a:headEnd type="none" w="med" len="med"/>
                  <a:tailEnd type="triangle" w="med" len="med"/>
                </a:ln>
              </p:spPr>
            </p:sp>
            <p:sp>
              <p:nvSpPr>
                <p:cNvPr id="31779" name="Line 80"/>
                <p:cNvSpPr/>
                <p:nvPr/>
              </p:nvSpPr>
              <p:spPr>
                <a:xfrm flipV="1">
                  <a:off x="2154" y="1508"/>
                  <a:ext cx="0" cy="156"/>
                </a:xfrm>
                <a:prstGeom prst="line">
                  <a:avLst/>
                </a:prstGeom>
                <a:ln w="19050" cap="flat" cmpd="sng">
                  <a:solidFill>
                    <a:schemeClr val="tx1"/>
                  </a:solidFill>
                  <a:prstDash val="solid"/>
                  <a:round/>
                  <a:headEnd type="none" w="med" len="med"/>
                  <a:tailEnd type="triangle" w="med" len="med"/>
                </a:ln>
              </p:spPr>
            </p:sp>
          </p:grpSp>
          <p:sp>
            <p:nvSpPr>
              <p:cNvPr id="31780" name="Text Box 81"/>
              <p:cNvSpPr txBox="1"/>
              <p:nvPr/>
            </p:nvSpPr>
            <p:spPr>
              <a:xfrm>
                <a:off x="2777" y="750"/>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浮点加</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减法器</a:t>
                </a:r>
                <a:endParaRPr lang="zh-CN" altLang="en-US" sz="1200" b="1" dirty="0">
                  <a:latin typeface="Times New Roman" pitchFamily="18" charset="0"/>
                  <a:ea typeface="宋体" panose="02000500000000000000" pitchFamily="2" charset="-122"/>
                </a:endParaRPr>
              </a:p>
            </p:txBody>
          </p:sp>
          <p:sp>
            <p:nvSpPr>
              <p:cNvPr id="31781" name="Text Box 82"/>
              <p:cNvSpPr txBox="1"/>
              <p:nvPr/>
            </p:nvSpPr>
            <p:spPr>
              <a:xfrm>
                <a:off x="4181" y="737"/>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浮点乘</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除法器</a:t>
                </a:r>
                <a:endParaRPr lang="zh-CN" altLang="en-US" sz="1200" b="1" dirty="0">
                  <a:latin typeface="Times New Roman" pitchFamily="18" charset="0"/>
                  <a:ea typeface="宋体" panose="02000500000000000000" pitchFamily="2" charset="-122"/>
                </a:endParaRPr>
              </a:p>
            </p:txBody>
          </p:sp>
          <p:sp>
            <p:nvSpPr>
              <p:cNvPr id="31782" name="Text Box 83"/>
              <p:cNvSpPr txBox="1"/>
              <p:nvPr/>
            </p:nvSpPr>
            <p:spPr>
              <a:xfrm>
                <a:off x="1701" y="731"/>
                <a:ext cx="664" cy="771"/>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p>
                <a:pPr algn="ctr">
                  <a:spcBef>
                    <a:spcPct val="50000"/>
                  </a:spcBef>
                </a:pPr>
                <a:endParaRPr lang="en-US" altLang="zh-CN" sz="1200"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定点</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访存</a:t>
                </a:r>
                <a:endParaRPr lang="zh-CN" altLang="en-US" sz="1200" b="1"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部件</a:t>
                </a:r>
                <a:endParaRPr lang="zh-CN" altLang="en-US" sz="1200" b="1" dirty="0">
                  <a:latin typeface="Times New Roman" pitchFamily="18" charset="0"/>
                  <a:ea typeface="宋体" panose="02000500000000000000" pitchFamily="2" charset="-122"/>
                </a:endParaRPr>
              </a:p>
              <a:p>
                <a:pPr algn="ctr">
                  <a:spcBef>
                    <a:spcPct val="50000"/>
                  </a:spcBef>
                </a:pPr>
                <a:endParaRPr lang="en-US" altLang="zh-CN" sz="1200" b="1" dirty="0">
                  <a:latin typeface="Times New Roman" pitchFamily="18" charset="0"/>
                  <a:ea typeface="宋体" panose="02000500000000000000" pitchFamily="2" charset="-122"/>
                </a:endParaRPr>
              </a:p>
            </p:txBody>
          </p:sp>
        </p:grpSp>
      </p:grpSp>
      <p:sp>
        <p:nvSpPr>
          <p:cNvPr id="31783" name="Text Box 84"/>
          <p:cNvSpPr txBox="1"/>
          <p:nvPr/>
        </p:nvSpPr>
        <p:spPr>
          <a:xfrm>
            <a:off x="6979920" y="5045075"/>
            <a:ext cx="1030605" cy="184150"/>
          </a:xfrm>
          <a:prstGeom prst="rect">
            <a:avLst/>
          </a:prstGeom>
          <a:solidFill>
            <a:schemeClr val="bg1"/>
          </a:solid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指令队列</a:t>
            </a:r>
            <a:endParaRPr lang="zh-CN" altLang="en-US" sz="1200" b="1" dirty="0">
              <a:latin typeface="Times New Roman" pitchFamily="18" charset="0"/>
              <a:ea typeface="宋体" panose="02000500000000000000" pitchFamily="2" charset="-122"/>
            </a:endParaRPr>
          </a:p>
        </p:txBody>
      </p:sp>
      <p:graphicFrame>
        <p:nvGraphicFramePr>
          <p:cNvPr id="3" name="表格 2"/>
          <p:cNvGraphicFramePr/>
          <p:nvPr/>
        </p:nvGraphicFramePr>
        <p:xfrm>
          <a:off x="6799580" y="3837940"/>
          <a:ext cx="2342515" cy="863600"/>
        </p:xfrm>
        <a:graphic>
          <a:graphicData uri="http://schemas.openxmlformats.org/drawingml/2006/table">
            <a:tbl>
              <a:tblPr firstRow="1" bandRow="1">
                <a:tableStyleId>{5C22544A-7EE6-4342-B048-85BDC9FD1C3A}</a:tableStyleId>
              </a:tblPr>
              <a:tblGrid>
                <a:gridCol w="365125"/>
                <a:gridCol w="450850"/>
                <a:gridCol w="1526540"/>
              </a:tblGrid>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3.0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4" name="表格 3"/>
          <p:cNvGraphicFramePr/>
          <p:nvPr/>
        </p:nvGraphicFramePr>
        <p:xfrm>
          <a:off x="7167880" y="5311775"/>
          <a:ext cx="1930400" cy="1280160"/>
        </p:xfrm>
        <a:graphic>
          <a:graphicData uri="http://schemas.openxmlformats.org/drawingml/2006/table">
            <a:tbl>
              <a:tblPr firstRow="1" bandRow="1">
                <a:tableStyleId>{5C22544A-7EE6-4342-B048-85BDC9FD1C3A}</a:tableStyleId>
              </a:tblPr>
              <a:tblGrid>
                <a:gridCol w="1930400"/>
              </a:tblGrid>
              <a:tr h="213360">
                <a:tc>
                  <a:txBody>
                    <a:bodyPr/>
                    <a:p>
                      <a:pPr indent="0">
                        <a:buNone/>
                      </a:pPr>
                      <a:r>
                        <a:rPr lang="en-US" sz="1200" b="1">
                          <a:solidFill>
                            <a:schemeClr val="tx1"/>
                          </a:solidFill>
                          <a:latin typeface="宋体" panose="02000500000000000000" pitchFamily="2" charset="-122"/>
                          <a:ea typeface="宋体" panose="02000500000000000000" pitchFamily="2" charset="-122"/>
                        </a:rPr>
                        <a:t>FDIV.D  </a:t>
                      </a:r>
                      <a:r>
                        <a:rPr lang="en-US" sz="1200" b="1">
                          <a:solidFill>
                            <a:srgbClr val="FF0000"/>
                          </a:solidFill>
                          <a:latin typeface="宋体" panose="02000500000000000000" pitchFamily="2" charset="-122"/>
                          <a:ea typeface="宋体" panose="02000500000000000000" pitchFamily="2" charset="-122"/>
                        </a:rPr>
                        <a:t>F0</a:t>
                      </a:r>
                      <a:r>
                        <a:rPr lang="en-US" sz="1200" b="1">
                          <a:solidFill>
                            <a:schemeClr val="tx1"/>
                          </a:solidFill>
                          <a:latin typeface="宋体" panose="02000500000000000000" pitchFamily="2" charset="-122"/>
                          <a:ea typeface="宋体" panose="02000500000000000000" pitchFamily="2" charset="-122"/>
                        </a:rPr>
                        <a:t>, F1, F2</a:t>
                      </a:r>
                      <a:endParaRPr lang="en-US" altLang="en-US" sz="1200" b="1">
                        <a:solidFill>
                          <a:schemeClr val="tx1"/>
                        </a:solidFill>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FADD.D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F1,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5" name="表格 4"/>
          <p:cNvGraphicFramePr/>
          <p:nvPr/>
        </p:nvGraphicFramePr>
        <p:xfrm>
          <a:off x="9537065" y="2435860"/>
          <a:ext cx="2374900" cy="592455"/>
        </p:xfrm>
        <a:graphic>
          <a:graphicData uri="http://schemas.openxmlformats.org/drawingml/2006/table">
            <a:tbl>
              <a:tblPr firstRow="1" bandRow="1">
                <a:tableStyleId>{5C22544A-7EE6-4342-B048-85BDC9FD1C3A}</a:tableStyleId>
              </a:tblPr>
              <a:tblGrid>
                <a:gridCol w="208280"/>
                <a:gridCol w="422910"/>
                <a:gridCol w="340995"/>
                <a:gridCol w="484505"/>
                <a:gridCol w="341630"/>
                <a:gridCol w="576580"/>
              </a:tblGrid>
              <a:tr h="197485">
                <a:tc>
                  <a:txBody>
                    <a:bodyPr/>
                    <a:p>
                      <a:pPr algn="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OP</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Qj</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Vj</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Qk</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Vk</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7" name="表格 6"/>
          <p:cNvGraphicFramePr/>
          <p:nvPr/>
        </p:nvGraphicFramePr>
        <p:xfrm>
          <a:off x="6577330" y="245618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OP</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Qj</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Vj</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Qk</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Vk</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9" name="表格 8"/>
          <p:cNvGraphicFramePr/>
          <p:nvPr/>
        </p:nvGraphicFramePr>
        <p:xfrm>
          <a:off x="9486900" y="3822700"/>
          <a:ext cx="2342515" cy="863600"/>
        </p:xfrm>
        <a:graphic>
          <a:graphicData uri="http://schemas.openxmlformats.org/drawingml/2006/table">
            <a:tbl>
              <a:tblPr firstRow="1" bandRow="1">
                <a:tableStyleId>{5C22544A-7EE6-4342-B048-85BDC9FD1C3A}</a:tableStyleId>
              </a:tblPr>
              <a:tblGrid>
                <a:gridCol w="221065"/>
                <a:gridCol w="382270"/>
                <a:gridCol w="387901"/>
                <a:gridCol w="1351279"/>
              </a:tblGrid>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4</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sp>
        <p:nvSpPr>
          <p:cNvPr id="47115" name="Line 15"/>
          <p:cNvSpPr/>
          <p:nvPr/>
        </p:nvSpPr>
        <p:spPr>
          <a:xfrm flipH="1" flipV="1">
            <a:off x="11068050" y="3610610"/>
            <a:ext cx="9525" cy="215900"/>
          </a:xfrm>
          <a:prstGeom prst="line">
            <a:avLst/>
          </a:prstGeom>
          <a:ln w="19050" cap="flat" cmpd="sng">
            <a:solidFill>
              <a:schemeClr val="accent2"/>
            </a:solidFill>
            <a:prstDash val="solid"/>
            <a:round/>
            <a:headEnd type="none" w="med" len="med"/>
            <a:tailEnd type="none" w="med" len="med"/>
          </a:ln>
        </p:spPr>
      </p:sp>
      <p:sp>
        <p:nvSpPr>
          <p:cNvPr id="47131" name="Line 36"/>
          <p:cNvSpPr/>
          <p:nvPr/>
        </p:nvSpPr>
        <p:spPr>
          <a:xfrm flipV="1">
            <a:off x="4904105" y="4940935"/>
            <a:ext cx="2991485" cy="13970"/>
          </a:xfrm>
          <a:prstGeom prst="line">
            <a:avLst/>
          </a:prstGeom>
          <a:ln w="19050" cap="flat" cmpd="sng">
            <a:solidFill>
              <a:schemeClr val="accent2"/>
            </a:solidFill>
            <a:prstDash val="solid"/>
            <a:round/>
            <a:headEnd type="none" w="med" len="med"/>
            <a:tailEnd type="none" w="med" len="med"/>
          </a:ln>
        </p:spPr>
      </p:sp>
      <p:sp>
        <p:nvSpPr>
          <p:cNvPr id="47133" name="Text Box 43"/>
          <p:cNvSpPr txBox="1"/>
          <p:nvPr/>
        </p:nvSpPr>
        <p:spPr>
          <a:xfrm>
            <a:off x="5375910" y="4712335"/>
            <a:ext cx="1089025" cy="184150"/>
          </a:xfrm>
          <a:prstGeom prst="rect">
            <a:avLst/>
          </a:prstGeom>
          <a:noFill/>
          <a:ln w="9525">
            <a:noFill/>
          </a:ln>
          <a:extLst>
            <a:ext uri="{909E8E84-426E-40DD-AFC4-6F175D3DCCD1}">
              <a14:hiddenFill xmlns:a14="http://schemas.microsoft.com/office/drawing/2010/main">
                <a:solidFill>
                  <a:schemeClr val="bg1"/>
                </a:solidFill>
              </a14:hiddenFill>
            </a:ext>
          </a:extLst>
        </p:spPr>
        <p:txBody>
          <a:bodyPr lIns="0" tIns="0" rIns="0" bIns="0" anchor="t" anchorCtr="0">
            <a:spAutoFit/>
          </a:bodyPr>
          <a:p>
            <a:pPr>
              <a:spcBef>
                <a:spcPct val="50000"/>
              </a:spcBef>
            </a:pPr>
            <a:r>
              <a:rPr lang="zh-CN" altLang="en-US" sz="1200" b="1" dirty="0">
                <a:solidFill>
                  <a:schemeClr val="accent2"/>
                </a:solidFill>
                <a:latin typeface="Times New Roman" pitchFamily="18" charset="0"/>
                <a:ea typeface="宋体" panose="02000500000000000000" pitchFamily="2" charset="-122"/>
              </a:rPr>
              <a:t>修改寄存器</a:t>
            </a:r>
            <a:endParaRPr lang="zh-CN" altLang="en-US" sz="1200" b="1" dirty="0">
              <a:solidFill>
                <a:schemeClr val="accent2"/>
              </a:solidFill>
              <a:latin typeface="Times New Roman" pitchFamily="18" charset="0"/>
              <a:ea typeface="宋体" panose="02000500000000000000" pitchFamily="2" charset="-122"/>
            </a:endParaRPr>
          </a:p>
        </p:txBody>
      </p:sp>
      <p:sp>
        <p:nvSpPr>
          <p:cNvPr id="47143" name="Line 37"/>
          <p:cNvSpPr/>
          <p:nvPr/>
        </p:nvSpPr>
        <p:spPr>
          <a:xfrm flipH="1" flipV="1">
            <a:off x="7879715" y="4688205"/>
            <a:ext cx="8255" cy="252095"/>
          </a:xfrm>
          <a:prstGeom prst="line">
            <a:avLst/>
          </a:prstGeom>
          <a:ln w="19050" cap="flat" cmpd="sng">
            <a:solidFill>
              <a:schemeClr val="accent2"/>
            </a:solidFill>
            <a:prstDash val="solid"/>
            <a:round/>
            <a:headEnd type="none" w="med" len="med"/>
            <a:tailEnd type="triangle" w="med" len="med"/>
          </a:ln>
        </p:spPr>
      </p:sp>
      <p:sp>
        <p:nvSpPr>
          <p:cNvPr id="47144" name="Line 38"/>
          <p:cNvSpPr/>
          <p:nvPr/>
        </p:nvSpPr>
        <p:spPr>
          <a:xfrm>
            <a:off x="4868545" y="3616325"/>
            <a:ext cx="6222365" cy="13970"/>
          </a:xfrm>
          <a:prstGeom prst="line">
            <a:avLst/>
          </a:prstGeom>
          <a:ln w="19050" cap="flat" cmpd="sng">
            <a:solidFill>
              <a:schemeClr val="accent2"/>
            </a:solidFill>
            <a:prstDash val="solid"/>
            <a:round/>
            <a:headEnd type="none" w="med" len="med"/>
            <a:tailEnd type="none" w="med" len="med"/>
          </a:ln>
        </p:spPr>
      </p:sp>
      <p:sp>
        <p:nvSpPr>
          <p:cNvPr id="47146" name="Line 41"/>
          <p:cNvSpPr/>
          <p:nvPr/>
        </p:nvSpPr>
        <p:spPr>
          <a:xfrm flipH="1" flipV="1">
            <a:off x="4877435" y="3028315"/>
            <a:ext cx="14605" cy="1934210"/>
          </a:xfrm>
          <a:prstGeom prst="line">
            <a:avLst/>
          </a:prstGeom>
          <a:ln w="19050" cap="flat" cmpd="sng">
            <a:solidFill>
              <a:schemeClr val="accent2"/>
            </a:solidFill>
            <a:prstDash val="solid"/>
            <a:round/>
            <a:headEnd type="none" w="med" len="med"/>
            <a:tailEnd type="triangle" w="med" len="med"/>
          </a:ln>
        </p:spPr>
      </p:sp>
      <p:sp>
        <p:nvSpPr>
          <p:cNvPr id="46082" name="Rectangle 3"/>
          <p:cNvSpPr/>
          <p:nvPr/>
        </p:nvSpPr>
        <p:spPr>
          <a:xfrm>
            <a:off x="912813" y="420688"/>
            <a:ext cx="10361612" cy="523875"/>
          </a:xfrm>
          <a:prstGeom prst="rect">
            <a:avLst/>
          </a:prstGeom>
          <a:noFill/>
          <a:ln w="9525">
            <a:noFill/>
          </a:ln>
        </p:spPr>
        <p:txBody>
          <a:bodyPr anchor="ctr" anchorCtr="0"/>
          <a:p>
            <a:pPr algn="ctr"/>
            <a:r>
              <a:rPr lang="zh-CN" altLang="en-US" sz="3200" dirty="0">
                <a:solidFill>
                  <a:srgbClr val="FF0000"/>
                </a:solidFill>
                <a:latin typeface="Arial" panose="02080604020202020204" pitchFamily="34" charset="0"/>
                <a:ea typeface="黑体" panose="02000500000000000000" pitchFamily="49" charset="-122"/>
              </a:rPr>
              <a:t>增加</a:t>
            </a:r>
            <a:r>
              <a:rPr lang="en-US" altLang="zh-CN" sz="3200" dirty="0">
                <a:solidFill>
                  <a:srgbClr val="FF0000"/>
                </a:solidFill>
                <a:latin typeface="Arial" panose="02080604020202020204" pitchFamily="34" charset="0"/>
                <a:ea typeface="黑体" panose="02000500000000000000" pitchFamily="49" charset="-122"/>
              </a:rPr>
              <a:t>ROB</a:t>
            </a:r>
            <a:r>
              <a:rPr lang="zh-CN" altLang="en-US" sz="3200" dirty="0">
                <a:solidFill>
                  <a:srgbClr val="FF0000"/>
                </a:solidFill>
                <a:latin typeface="Arial" panose="02080604020202020204" pitchFamily="34" charset="0"/>
                <a:ea typeface="黑体" panose="02000500000000000000" pitchFamily="49" charset="-122"/>
              </a:rPr>
              <a:t>的流水线</a:t>
            </a:r>
            <a:endParaRPr lang="zh-CN" altLang="en-US" sz="3200" dirty="0">
              <a:solidFill>
                <a:srgbClr val="FF0000"/>
              </a:solidFill>
              <a:latin typeface="Arial" panose="02080604020202020204" pitchFamily="34" charset="0"/>
              <a:ea typeface="黑体" panose="02000500000000000000" pitchFamily="49"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914400" y="80645"/>
            <a:ext cx="10361613" cy="1143000"/>
          </a:xfrm>
        </p:spPr>
        <p:txBody>
          <a:bodyPr/>
          <a:p>
            <a:r>
              <a:rPr lang="zh-CN" altLang="en-US" dirty="0">
                <a:latin typeface="Arial" panose="02080604020202020204" pitchFamily="34" charset="0"/>
                <a:ea typeface="黑体" panose="02000500000000000000" pitchFamily="49" charset="-122"/>
                <a:sym typeface="+mn-ea"/>
              </a:rPr>
              <a:t>没有</a:t>
            </a:r>
            <a:r>
              <a:rPr lang="en-US" altLang="zh-CN" dirty="0">
                <a:latin typeface="Arial" panose="02080604020202020204" pitchFamily="34" charset="0"/>
                <a:ea typeface="黑体" panose="02000500000000000000" pitchFamily="49" charset="-122"/>
                <a:sym typeface="+mn-ea"/>
              </a:rPr>
              <a:t>ROB</a:t>
            </a:r>
            <a:r>
              <a:rPr lang="zh-CN" altLang="en-US" dirty="0">
                <a:latin typeface="Arial" panose="02080604020202020204" pitchFamily="34" charset="0"/>
                <a:ea typeface="黑体" panose="02000500000000000000" pitchFamily="49" charset="-122"/>
                <a:sym typeface="+mn-ea"/>
              </a:rPr>
              <a:t>的流水线</a:t>
            </a:r>
            <a:endParaRPr lang="zh-CN" altLang="en-US"/>
          </a:p>
        </p:txBody>
      </p:sp>
      <p:grpSp>
        <p:nvGrpSpPr>
          <p:cNvPr id="6" name="组合 5"/>
          <p:cNvGrpSpPr/>
          <p:nvPr/>
        </p:nvGrpSpPr>
        <p:grpSpPr>
          <a:xfrm>
            <a:off x="4485005" y="1449705"/>
            <a:ext cx="7679690" cy="3862070"/>
            <a:chOff x="7063" y="2283"/>
            <a:chExt cx="12094" cy="6082"/>
          </a:xfrm>
        </p:grpSpPr>
        <p:sp>
          <p:nvSpPr>
            <p:cNvPr id="31751" name="Line 52"/>
            <p:cNvSpPr/>
            <p:nvPr/>
          </p:nvSpPr>
          <p:spPr>
            <a:xfrm flipV="1">
              <a:off x="11639" y="3333"/>
              <a:ext cx="0" cy="528"/>
            </a:xfrm>
            <a:prstGeom prst="line">
              <a:avLst/>
            </a:prstGeom>
            <a:ln w="9525" cap="flat" cmpd="sng">
              <a:solidFill>
                <a:schemeClr val="tx1"/>
              </a:solidFill>
              <a:prstDash val="solid"/>
              <a:round/>
              <a:headEnd type="none" w="med" len="med"/>
              <a:tailEnd type="triangle" w="med" len="med"/>
            </a:ln>
          </p:spPr>
        </p:sp>
        <p:sp>
          <p:nvSpPr>
            <p:cNvPr id="31752" name="Line 53"/>
            <p:cNvSpPr/>
            <p:nvPr/>
          </p:nvSpPr>
          <p:spPr>
            <a:xfrm flipV="1">
              <a:off x="13025" y="3333"/>
              <a:ext cx="0" cy="528"/>
            </a:xfrm>
            <a:prstGeom prst="line">
              <a:avLst/>
            </a:prstGeom>
            <a:ln w="9525" cap="flat" cmpd="sng">
              <a:solidFill>
                <a:schemeClr val="tx1"/>
              </a:solidFill>
              <a:prstDash val="solid"/>
              <a:round/>
              <a:headEnd type="none" w="med" len="med"/>
              <a:tailEnd type="triangle" w="med" len="med"/>
            </a:ln>
          </p:spPr>
        </p:sp>
        <p:sp>
          <p:nvSpPr>
            <p:cNvPr id="31753" name="Line 54"/>
            <p:cNvSpPr/>
            <p:nvPr/>
          </p:nvSpPr>
          <p:spPr>
            <a:xfrm flipV="1">
              <a:off x="16305" y="3313"/>
              <a:ext cx="0" cy="528"/>
            </a:xfrm>
            <a:prstGeom prst="line">
              <a:avLst/>
            </a:prstGeom>
            <a:ln w="9525" cap="flat" cmpd="sng">
              <a:solidFill>
                <a:schemeClr val="tx1"/>
              </a:solidFill>
              <a:prstDash val="solid"/>
              <a:round/>
              <a:headEnd type="none" w="med" len="med"/>
              <a:tailEnd type="triangle" w="med" len="med"/>
            </a:ln>
          </p:spPr>
        </p:sp>
        <p:sp>
          <p:nvSpPr>
            <p:cNvPr id="31754" name="Line 55"/>
            <p:cNvSpPr/>
            <p:nvPr/>
          </p:nvSpPr>
          <p:spPr>
            <a:xfrm flipV="1">
              <a:off x="17798" y="3293"/>
              <a:ext cx="0" cy="528"/>
            </a:xfrm>
            <a:prstGeom prst="line">
              <a:avLst/>
            </a:prstGeom>
            <a:ln w="9525" cap="flat" cmpd="sng">
              <a:solidFill>
                <a:schemeClr val="tx1"/>
              </a:solidFill>
              <a:prstDash val="solid"/>
              <a:round/>
              <a:headEnd type="none" w="med" len="med"/>
              <a:tailEnd type="triangle" w="med" len="med"/>
            </a:ln>
          </p:spPr>
        </p:sp>
        <p:sp>
          <p:nvSpPr>
            <p:cNvPr id="31755" name="Line 56"/>
            <p:cNvSpPr/>
            <p:nvPr/>
          </p:nvSpPr>
          <p:spPr>
            <a:xfrm flipV="1">
              <a:off x="12815" y="7393"/>
              <a:ext cx="0" cy="973"/>
            </a:xfrm>
            <a:prstGeom prst="line">
              <a:avLst/>
            </a:prstGeom>
            <a:ln w="19050" cap="flat" cmpd="sng">
              <a:solidFill>
                <a:schemeClr val="tx1"/>
              </a:solidFill>
              <a:prstDash val="solid"/>
              <a:round/>
              <a:headEnd type="none" w="med" len="med"/>
              <a:tailEnd type="triangle" w="med" len="med"/>
            </a:ln>
          </p:spPr>
        </p:sp>
        <p:sp>
          <p:nvSpPr>
            <p:cNvPr id="31756" name="Line 57"/>
            <p:cNvSpPr/>
            <p:nvPr/>
          </p:nvSpPr>
          <p:spPr>
            <a:xfrm flipV="1">
              <a:off x="12275" y="4795"/>
              <a:ext cx="0" cy="390"/>
            </a:xfrm>
            <a:prstGeom prst="line">
              <a:avLst/>
            </a:prstGeom>
            <a:ln w="19050" cap="flat" cmpd="sng">
              <a:solidFill>
                <a:schemeClr val="tx1"/>
              </a:solidFill>
              <a:prstDash val="solid"/>
              <a:round/>
              <a:headEnd type="none" w="med" len="med"/>
              <a:tailEnd type="triangle" w="med" len="med"/>
            </a:ln>
          </p:spPr>
        </p:sp>
        <p:sp>
          <p:nvSpPr>
            <p:cNvPr id="31757" name="Line 58"/>
            <p:cNvSpPr/>
            <p:nvPr/>
          </p:nvSpPr>
          <p:spPr>
            <a:xfrm flipV="1">
              <a:off x="16989" y="4783"/>
              <a:ext cx="0" cy="410"/>
            </a:xfrm>
            <a:prstGeom prst="line">
              <a:avLst/>
            </a:prstGeom>
            <a:ln w="19050" cap="flat" cmpd="sng">
              <a:solidFill>
                <a:schemeClr val="tx1"/>
              </a:solidFill>
              <a:prstDash val="solid"/>
              <a:round/>
              <a:headEnd type="none" w="med" len="med"/>
              <a:tailEnd type="triangle" w="med" len="med"/>
            </a:ln>
          </p:spPr>
        </p:sp>
        <p:sp>
          <p:nvSpPr>
            <p:cNvPr id="31758" name="Line 59"/>
            <p:cNvSpPr/>
            <p:nvPr/>
          </p:nvSpPr>
          <p:spPr>
            <a:xfrm flipV="1">
              <a:off x="17029" y="2283"/>
              <a:ext cx="0" cy="583"/>
            </a:xfrm>
            <a:prstGeom prst="line">
              <a:avLst/>
            </a:prstGeom>
            <a:ln w="19050" cap="flat" cmpd="sng">
              <a:solidFill>
                <a:srgbClr val="FF0000"/>
              </a:solidFill>
              <a:prstDash val="solid"/>
              <a:round/>
              <a:headEnd type="none" w="med" len="med"/>
              <a:tailEnd type="triangle" w="med" len="med"/>
            </a:ln>
          </p:spPr>
        </p:sp>
        <p:sp>
          <p:nvSpPr>
            <p:cNvPr id="31759" name="Line 60"/>
            <p:cNvSpPr/>
            <p:nvPr/>
          </p:nvSpPr>
          <p:spPr>
            <a:xfrm flipV="1">
              <a:off x="12412" y="2310"/>
              <a:ext cx="0" cy="583"/>
            </a:xfrm>
            <a:prstGeom prst="line">
              <a:avLst/>
            </a:prstGeom>
            <a:ln w="19050" cap="flat" cmpd="sng">
              <a:solidFill>
                <a:schemeClr val="tx1"/>
              </a:solidFill>
              <a:prstDash val="solid"/>
              <a:round/>
              <a:headEnd type="none" w="med" len="med"/>
              <a:tailEnd type="triangle" w="med" len="med"/>
            </a:ln>
          </p:spPr>
        </p:sp>
        <p:sp>
          <p:nvSpPr>
            <p:cNvPr id="31760" name="Line 61"/>
            <p:cNvSpPr/>
            <p:nvPr/>
          </p:nvSpPr>
          <p:spPr>
            <a:xfrm>
              <a:off x="8119" y="2300"/>
              <a:ext cx="11039" cy="0"/>
            </a:xfrm>
            <a:prstGeom prst="line">
              <a:avLst/>
            </a:prstGeom>
            <a:ln w="19050" cap="flat" cmpd="sng">
              <a:solidFill>
                <a:srgbClr val="FF0000"/>
              </a:solidFill>
              <a:prstDash val="solid"/>
              <a:round/>
              <a:headEnd type="none" w="med" len="med"/>
              <a:tailEnd type="none" w="med" len="med"/>
            </a:ln>
          </p:spPr>
        </p:sp>
        <p:sp>
          <p:nvSpPr>
            <p:cNvPr id="31761" name="Line 62"/>
            <p:cNvSpPr/>
            <p:nvPr/>
          </p:nvSpPr>
          <p:spPr>
            <a:xfrm flipV="1">
              <a:off x="11276" y="4780"/>
              <a:ext cx="0" cy="818"/>
            </a:xfrm>
            <a:prstGeom prst="line">
              <a:avLst/>
            </a:prstGeom>
            <a:ln w="19050" cap="flat" cmpd="sng">
              <a:solidFill>
                <a:srgbClr val="FF0000"/>
              </a:solidFill>
              <a:prstDash val="solid"/>
              <a:round/>
              <a:headEnd type="none" w="med" len="med"/>
              <a:tailEnd type="triangle" w="med" len="med"/>
            </a:ln>
          </p:spPr>
        </p:sp>
        <p:sp>
          <p:nvSpPr>
            <p:cNvPr id="31762" name="Line 63"/>
            <p:cNvSpPr/>
            <p:nvPr/>
          </p:nvSpPr>
          <p:spPr>
            <a:xfrm flipV="1">
              <a:off x="17752" y="4768"/>
              <a:ext cx="0" cy="818"/>
            </a:xfrm>
            <a:prstGeom prst="line">
              <a:avLst/>
            </a:prstGeom>
            <a:ln w="19050" cap="flat" cmpd="sng">
              <a:solidFill>
                <a:srgbClr val="FF0000"/>
              </a:solidFill>
              <a:prstDash val="solid"/>
              <a:round/>
              <a:headEnd type="none" w="med" len="med"/>
              <a:tailEnd type="triangle" w="med" len="med"/>
            </a:ln>
          </p:spPr>
        </p:sp>
        <p:sp>
          <p:nvSpPr>
            <p:cNvPr id="31763" name="Line 64"/>
            <p:cNvSpPr/>
            <p:nvPr/>
          </p:nvSpPr>
          <p:spPr>
            <a:xfrm>
              <a:off x="19135" y="2300"/>
              <a:ext cx="0" cy="5455"/>
            </a:xfrm>
            <a:prstGeom prst="line">
              <a:avLst/>
            </a:prstGeom>
            <a:ln w="19050" cap="flat" cmpd="sng">
              <a:solidFill>
                <a:srgbClr val="FF0000"/>
              </a:solidFill>
              <a:prstDash val="solid"/>
              <a:round/>
              <a:headEnd type="none" w="med" len="med"/>
              <a:tailEnd type="none" w="med" len="med"/>
            </a:ln>
          </p:spPr>
        </p:sp>
        <p:sp>
          <p:nvSpPr>
            <p:cNvPr id="31764" name="Line 65"/>
            <p:cNvSpPr/>
            <p:nvPr/>
          </p:nvSpPr>
          <p:spPr>
            <a:xfrm flipV="1">
              <a:off x="12779" y="5150"/>
              <a:ext cx="0" cy="915"/>
            </a:xfrm>
            <a:prstGeom prst="line">
              <a:avLst/>
            </a:prstGeom>
            <a:ln w="19050" cap="flat" cmpd="sng">
              <a:solidFill>
                <a:schemeClr val="tx1"/>
              </a:solidFill>
              <a:prstDash val="solid"/>
              <a:round/>
              <a:headEnd type="none" w="med" len="med"/>
              <a:tailEnd type="triangle" w="med" len="med"/>
            </a:ln>
          </p:spPr>
        </p:sp>
        <p:sp>
          <p:nvSpPr>
            <p:cNvPr id="31765" name="Text Box 66"/>
            <p:cNvSpPr txBox="1"/>
            <p:nvPr/>
          </p:nvSpPr>
          <p:spPr>
            <a:xfrm>
              <a:off x="9896" y="3538"/>
              <a:ext cx="1637" cy="29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加法保留站</a:t>
              </a:r>
              <a:endParaRPr lang="zh-CN" altLang="en-US" sz="1200" b="1" dirty="0">
                <a:latin typeface="Times New Roman" pitchFamily="18" charset="0"/>
                <a:ea typeface="宋体" panose="02000500000000000000" pitchFamily="2" charset="-122"/>
              </a:endParaRPr>
            </a:p>
          </p:txBody>
        </p:sp>
        <p:sp>
          <p:nvSpPr>
            <p:cNvPr id="31766" name="Text Box 67"/>
            <p:cNvSpPr txBox="1"/>
            <p:nvPr/>
          </p:nvSpPr>
          <p:spPr>
            <a:xfrm>
              <a:off x="10906" y="5788"/>
              <a:ext cx="1717" cy="290"/>
            </a:xfrm>
            <a:prstGeom prst="rect">
              <a:avLst/>
            </a:prstGeom>
            <a:noFill/>
            <a:ln w="9525">
              <a:noFill/>
            </a:ln>
            <a:extLst>
              <a:ext uri="{909E8E84-426E-40DD-AFC4-6F175D3DCCD1}">
                <a14:hiddenFill xmlns:a14="http://schemas.microsoft.com/office/drawing/2010/main">
                  <a:solidFill>
                    <a:schemeClr val="bg1"/>
                  </a:solidFill>
                </a14:hiddenFill>
              </a:ext>
            </a:extLst>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浮点寄存器</a:t>
              </a:r>
              <a:endParaRPr lang="zh-CN" altLang="en-US" sz="1200" b="1" dirty="0">
                <a:latin typeface="Times New Roman" pitchFamily="18" charset="0"/>
                <a:ea typeface="宋体" panose="02000500000000000000" pitchFamily="2" charset="-122"/>
              </a:endParaRPr>
            </a:p>
          </p:txBody>
        </p:sp>
        <p:sp>
          <p:nvSpPr>
            <p:cNvPr id="31767" name="Text Box 68"/>
            <p:cNvSpPr txBox="1"/>
            <p:nvPr/>
          </p:nvSpPr>
          <p:spPr>
            <a:xfrm>
              <a:off x="14629" y="3520"/>
              <a:ext cx="1637" cy="29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乘法保留站</a:t>
              </a:r>
              <a:endParaRPr lang="zh-CN" altLang="en-US" sz="1200" b="1" dirty="0">
                <a:latin typeface="Times New Roman" pitchFamily="18" charset="0"/>
                <a:ea typeface="宋体" panose="02000500000000000000" pitchFamily="2" charset="-122"/>
              </a:endParaRPr>
            </a:p>
          </p:txBody>
        </p:sp>
        <p:sp>
          <p:nvSpPr>
            <p:cNvPr id="31768" name="Line 69"/>
            <p:cNvSpPr/>
            <p:nvPr/>
          </p:nvSpPr>
          <p:spPr>
            <a:xfrm>
              <a:off x="13835" y="7755"/>
              <a:ext cx="5323" cy="0"/>
            </a:xfrm>
            <a:prstGeom prst="line">
              <a:avLst/>
            </a:prstGeom>
            <a:ln w="19050" cap="flat" cmpd="sng">
              <a:solidFill>
                <a:srgbClr val="FF0000"/>
              </a:solidFill>
              <a:prstDash val="solid"/>
              <a:round/>
              <a:headEnd type="none" w="med" len="med"/>
              <a:tailEnd type="none" w="med" len="med"/>
            </a:ln>
          </p:spPr>
        </p:sp>
        <p:sp>
          <p:nvSpPr>
            <p:cNvPr id="31769" name="Line 70"/>
            <p:cNvSpPr/>
            <p:nvPr/>
          </p:nvSpPr>
          <p:spPr>
            <a:xfrm flipV="1">
              <a:off x="13835" y="7348"/>
              <a:ext cx="3" cy="410"/>
            </a:xfrm>
            <a:prstGeom prst="line">
              <a:avLst/>
            </a:prstGeom>
            <a:ln w="19050" cap="flat" cmpd="sng">
              <a:solidFill>
                <a:srgbClr val="FF0000"/>
              </a:solidFill>
              <a:prstDash val="solid"/>
              <a:round/>
              <a:headEnd type="none" w="med" len="med"/>
              <a:tailEnd type="triangle" w="med" len="med"/>
            </a:ln>
          </p:spPr>
        </p:sp>
        <p:grpSp>
          <p:nvGrpSpPr>
            <p:cNvPr id="31772" name="Group 73"/>
            <p:cNvGrpSpPr/>
            <p:nvPr/>
          </p:nvGrpSpPr>
          <p:grpSpPr>
            <a:xfrm rot="0">
              <a:off x="7063" y="2295"/>
              <a:ext cx="12093" cy="3273"/>
              <a:chOff x="1701" y="512"/>
              <a:chExt cx="3628" cy="1309"/>
            </a:xfrm>
          </p:grpSpPr>
          <p:sp>
            <p:nvSpPr>
              <p:cNvPr id="31773" name="Line 74"/>
              <p:cNvSpPr/>
              <p:nvPr/>
            </p:nvSpPr>
            <p:spPr>
              <a:xfrm flipV="1">
                <a:off x="2154" y="1661"/>
                <a:ext cx="2518" cy="0"/>
              </a:xfrm>
              <a:prstGeom prst="line">
                <a:avLst/>
              </a:prstGeom>
              <a:ln w="19050" cap="flat" cmpd="sng">
                <a:solidFill>
                  <a:schemeClr val="tx1"/>
                </a:solidFill>
                <a:prstDash val="solid"/>
                <a:round/>
                <a:headEnd type="none" w="med" len="med"/>
                <a:tailEnd type="none" w="med" len="med"/>
              </a:ln>
            </p:spPr>
          </p:sp>
          <p:sp>
            <p:nvSpPr>
              <p:cNvPr id="31774" name="Line 75"/>
              <p:cNvSpPr/>
              <p:nvPr/>
            </p:nvSpPr>
            <p:spPr>
              <a:xfrm flipV="1">
                <a:off x="1949" y="1820"/>
                <a:ext cx="3380" cy="0"/>
              </a:xfrm>
              <a:prstGeom prst="line">
                <a:avLst/>
              </a:prstGeom>
              <a:ln w="19050" cap="flat" cmpd="sng">
                <a:solidFill>
                  <a:srgbClr val="FF0000"/>
                </a:solidFill>
                <a:prstDash val="solid"/>
                <a:round/>
                <a:headEnd type="none" w="med" len="med"/>
                <a:tailEnd type="none" w="med" len="med"/>
              </a:ln>
            </p:spPr>
          </p:sp>
          <p:grpSp>
            <p:nvGrpSpPr>
              <p:cNvPr id="31775" name="Group 76"/>
              <p:cNvGrpSpPr/>
              <p:nvPr/>
            </p:nvGrpSpPr>
            <p:grpSpPr>
              <a:xfrm>
                <a:off x="1701" y="512"/>
                <a:ext cx="3494" cy="1309"/>
                <a:chOff x="1701" y="512"/>
                <a:chExt cx="3494" cy="1309"/>
              </a:xfrm>
            </p:grpSpPr>
            <p:grpSp>
              <p:nvGrpSpPr>
                <p:cNvPr id="31776" name="Group 77"/>
                <p:cNvGrpSpPr/>
                <p:nvPr/>
              </p:nvGrpSpPr>
              <p:grpSpPr>
                <a:xfrm>
                  <a:off x="1950" y="512"/>
                  <a:ext cx="204" cy="1309"/>
                  <a:chOff x="1950" y="512"/>
                  <a:chExt cx="204" cy="1309"/>
                </a:xfrm>
              </p:grpSpPr>
              <p:sp>
                <p:nvSpPr>
                  <p:cNvPr id="31777" name="Line 78"/>
                  <p:cNvSpPr/>
                  <p:nvPr/>
                </p:nvSpPr>
                <p:spPr>
                  <a:xfrm flipV="1">
                    <a:off x="2022" y="512"/>
                    <a:ext cx="0" cy="233"/>
                  </a:xfrm>
                  <a:prstGeom prst="line">
                    <a:avLst/>
                  </a:prstGeom>
                  <a:ln w="19050" cap="flat" cmpd="sng">
                    <a:solidFill>
                      <a:schemeClr val="tx1"/>
                    </a:solidFill>
                    <a:prstDash val="solid"/>
                    <a:round/>
                    <a:headEnd type="none" w="med" len="med"/>
                    <a:tailEnd type="triangle" w="med" len="med"/>
                  </a:ln>
                </p:spPr>
              </p:sp>
              <p:sp>
                <p:nvSpPr>
                  <p:cNvPr id="31778" name="Line 79"/>
                  <p:cNvSpPr/>
                  <p:nvPr/>
                </p:nvSpPr>
                <p:spPr>
                  <a:xfrm flipV="1">
                    <a:off x="1950" y="1502"/>
                    <a:ext cx="0" cy="319"/>
                  </a:xfrm>
                  <a:prstGeom prst="line">
                    <a:avLst/>
                  </a:prstGeom>
                  <a:ln w="19050" cap="flat" cmpd="sng">
                    <a:solidFill>
                      <a:srgbClr val="FF0000"/>
                    </a:solidFill>
                    <a:prstDash val="solid"/>
                    <a:round/>
                    <a:headEnd type="none" w="med" len="med"/>
                    <a:tailEnd type="triangle" w="med" len="med"/>
                  </a:ln>
                </p:spPr>
              </p:sp>
              <p:sp>
                <p:nvSpPr>
                  <p:cNvPr id="31779" name="Line 80"/>
                  <p:cNvSpPr/>
                  <p:nvPr/>
                </p:nvSpPr>
                <p:spPr>
                  <a:xfrm flipV="1">
                    <a:off x="2154" y="1508"/>
                    <a:ext cx="0" cy="156"/>
                  </a:xfrm>
                  <a:prstGeom prst="line">
                    <a:avLst/>
                  </a:prstGeom>
                  <a:ln w="19050" cap="flat" cmpd="sng">
                    <a:solidFill>
                      <a:schemeClr val="tx1"/>
                    </a:solidFill>
                    <a:prstDash val="solid"/>
                    <a:round/>
                    <a:headEnd type="none" w="med" len="med"/>
                    <a:tailEnd type="triangle" w="med" len="med"/>
                  </a:ln>
                </p:spPr>
              </p:sp>
            </p:grpSp>
            <p:sp>
              <p:nvSpPr>
                <p:cNvPr id="31780" name="Text Box 81"/>
                <p:cNvSpPr txBox="1"/>
                <p:nvPr/>
              </p:nvSpPr>
              <p:spPr>
                <a:xfrm>
                  <a:off x="2777" y="750"/>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浮点加</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减法器</a:t>
                  </a:r>
                  <a:endParaRPr lang="zh-CN" altLang="en-US" sz="1200" b="1" dirty="0">
                    <a:latin typeface="Times New Roman" pitchFamily="18" charset="0"/>
                    <a:ea typeface="宋体" panose="02000500000000000000" pitchFamily="2" charset="-122"/>
                  </a:endParaRPr>
                </a:p>
              </p:txBody>
            </p:sp>
            <p:sp>
              <p:nvSpPr>
                <p:cNvPr id="31781" name="Text Box 82"/>
                <p:cNvSpPr txBox="1"/>
                <p:nvPr/>
              </p:nvSpPr>
              <p:spPr>
                <a:xfrm>
                  <a:off x="4181" y="737"/>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浮点乘</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除法器</a:t>
                  </a:r>
                  <a:endParaRPr lang="zh-CN" altLang="en-US" sz="1200" b="1" dirty="0">
                    <a:latin typeface="Times New Roman" pitchFamily="18" charset="0"/>
                    <a:ea typeface="宋体" panose="02000500000000000000" pitchFamily="2" charset="-122"/>
                  </a:endParaRPr>
                </a:p>
              </p:txBody>
            </p:sp>
            <p:sp>
              <p:nvSpPr>
                <p:cNvPr id="31782" name="Text Box 83"/>
                <p:cNvSpPr txBox="1"/>
                <p:nvPr/>
              </p:nvSpPr>
              <p:spPr>
                <a:xfrm>
                  <a:off x="1701" y="731"/>
                  <a:ext cx="664" cy="771"/>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p>
                  <a:pPr algn="ctr">
                    <a:spcBef>
                      <a:spcPct val="50000"/>
                    </a:spcBef>
                  </a:pPr>
                  <a:endParaRPr lang="en-US" altLang="zh-CN" sz="1200"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定点</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访存</a:t>
                  </a:r>
                  <a:endParaRPr lang="zh-CN" altLang="en-US" sz="1200" b="1"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部件</a:t>
                  </a:r>
                  <a:endParaRPr lang="zh-CN" altLang="en-US" sz="1200" b="1" dirty="0">
                    <a:latin typeface="Times New Roman" pitchFamily="18" charset="0"/>
                    <a:ea typeface="宋体" panose="02000500000000000000" pitchFamily="2" charset="-122"/>
                  </a:endParaRPr>
                </a:p>
                <a:p>
                  <a:pPr algn="ctr">
                    <a:spcBef>
                      <a:spcPct val="50000"/>
                    </a:spcBef>
                  </a:pPr>
                  <a:endParaRPr lang="en-US" altLang="zh-CN" sz="1200" b="1" dirty="0">
                    <a:latin typeface="Times New Roman" pitchFamily="18" charset="0"/>
                    <a:ea typeface="宋体" panose="02000500000000000000" pitchFamily="2" charset="-122"/>
                  </a:endParaRPr>
                </a:p>
              </p:txBody>
            </p:sp>
          </p:grpSp>
        </p:grpSp>
        <p:sp>
          <p:nvSpPr>
            <p:cNvPr id="31783" name="Text Box 84"/>
            <p:cNvSpPr txBox="1"/>
            <p:nvPr/>
          </p:nvSpPr>
          <p:spPr>
            <a:xfrm>
              <a:off x="10992" y="7945"/>
              <a:ext cx="1623" cy="290"/>
            </a:xfrm>
            <a:prstGeom prst="rect">
              <a:avLst/>
            </a:prstGeom>
            <a:solidFill>
              <a:schemeClr val="bg1"/>
            </a:solid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指令队列</a:t>
              </a:r>
              <a:endParaRPr lang="zh-CN" altLang="en-US" sz="1200" b="1" dirty="0">
                <a:latin typeface="Times New Roman" pitchFamily="18" charset="0"/>
                <a:ea typeface="宋体" panose="02000500000000000000" pitchFamily="2" charset="-122"/>
              </a:endParaRPr>
            </a:p>
          </p:txBody>
        </p:sp>
      </p:grpSp>
      <p:graphicFrame>
        <p:nvGraphicFramePr>
          <p:cNvPr id="3" name="表格 2"/>
          <p:cNvGraphicFramePr/>
          <p:nvPr/>
        </p:nvGraphicFramePr>
        <p:xfrm>
          <a:off x="6799580" y="3837940"/>
          <a:ext cx="2342515" cy="863600"/>
        </p:xfrm>
        <a:graphic>
          <a:graphicData uri="http://schemas.openxmlformats.org/drawingml/2006/table">
            <a:tbl>
              <a:tblPr firstRow="1" bandRow="1">
                <a:tableStyleId>{5C22544A-7EE6-4342-B048-85BDC9FD1C3A}</a:tableStyleId>
              </a:tblPr>
              <a:tblGrid>
                <a:gridCol w="365125"/>
                <a:gridCol w="450850"/>
                <a:gridCol w="1526540"/>
              </a:tblGrid>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3.0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4" name="表格 3"/>
          <p:cNvGraphicFramePr/>
          <p:nvPr/>
        </p:nvGraphicFramePr>
        <p:xfrm>
          <a:off x="7167880" y="5311775"/>
          <a:ext cx="1930400" cy="1280160"/>
        </p:xfrm>
        <a:graphic>
          <a:graphicData uri="http://schemas.openxmlformats.org/drawingml/2006/table">
            <a:tbl>
              <a:tblPr firstRow="1" bandRow="1">
                <a:tableStyleId>{5C22544A-7EE6-4342-B048-85BDC9FD1C3A}</a:tableStyleId>
              </a:tblPr>
              <a:tblGrid>
                <a:gridCol w="1930400"/>
              </a:tblGrid>
              <a:tr h="213360">
                <a:tc>
                  <a:txBody>
                    <a:bodyPr/>
                    <a:p>
                      <a:pPr indent="0">
                        <a:buNone/>
                      </a:pPr>
                      <a:r>
                        <a:rPr lang="en-US" sz="1200" b="1">
                          <a:solidFill>
                            <a:schemeClr val="tx1"/>
                          </a:solidFill>
                          <a:latin typeface="宋体" panose="02000500000000000000" pitchFamily="2" charset="-122"/>
                          <a:ea typeface="宋体" panose="02000500000000000000" pitchFamily="2" charset="-122"/>
                        </a:rPr>
                        <a:t>FDIV.D  </a:t>
                      </a:r>
                      <a:r>
                        <a:rPr lang="en-US" sz="1200" b="1">
                          <a:solidFill>
                            <a:srgbClr val="FF0000"/>
                          </a:solidFill>
                          <a:latin typeface="宋体" panose="02000500000000000000" pitchFamily="2" charset="-122"/>
                          <a:ea typeface="宋体" panose="02000500000000000000" pitchFamily="2" charset="-122"/>
                        </a:rPr>
                        <a:t>F0</a:t>
                      </a:r>
                      <a:r>
                        <a:rPr lang="en-US" sz="1200" b="1">
                          <a:solidFill>
                            <a:schemeClr val="tx1"/>
                          </a:solidFill>
                          <a:latin typeface="宋体" panose="02000500000000000000" pitchFamily="2" charset="-122"/>
                          <a:ea typeface="宋体" panose="02000500000000000000" pitchFamily="2" charset="-122"/>
                        </a:rPr>
                        <a:t>, F1, F2</a:t>
                      </a:r>
                      <a:endParaRPr lang="en-US" altLang="en-US" sz="1200" b="1">
                        <a:solidFill>
                          <a:schemeClr val="tx1"/>
                        </a:solidFill>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FADD.D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F1,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5" name="表格 4"/>
          <p:cNvGraphicFramePr/>
          <p:nvPr/>
        </p:nvGraphicFramePr>
        <p:xfrm>
          <a:off x="9544050" y="243586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OP</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Qj</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Vj</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Qk</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Vk</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7" name="表格 6"/>
          <p:cNvGraphicFramePr/>
          <p:nvPr/>
        </p:nvGraphicFramePr>
        <p:xfrm>
          <a:off x="6577330" y="245618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6</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OP</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Qj</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Vj</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Qk</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Vk</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5</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4</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Rectangle 4"/>
          <p:cNvSpPr>
            <a:spLocks noGrp="1"/>
          </p:cNvSpPr>
          <p:nvPr>
            <p:ph type="title"/>
          </p:nvPr>
        </p:nvSpPr>
        <p:spPr/>
        <p:txBody>
          <a:bodyPr vert="horz" wrap="square" lIns="91440" tIns="45720" rIns="91440" bIns="45720" anchor="ctr" anchorCtr="0"/>
          <a:p>
            <a:pPr eaLnBrk="1" hangingPunct="1"/>
            <a:r>
              <a:rPr lang="zh-CN" altLang="en-US" dirty="0"/>
              <a:t>例子</a:t>
            </a:r>
            <a:endParaRPr lang="zh-CN" altLang="en-US" dirty="0"/>
          </a:p>
        </p:txBody>
      </p:sp>
      <p:sp>
        <p:nvSpPr>
          <p:cNvPr id="49154" name="Text Box 3"/>
          <p:cNvSpPr txBox="1"/>
          <p:nvPr/>
        </p:nvSpPr>
        <p:spPr>
          <a:xfrm>
            <a:off x="3646488" y="3213100"/>
            <a:ext cx="5143500" cy="2122488"/>
          </a:xfrm>
          <a:prstGeom prst="rect">
            <a:avLst/>
          </a:prstGeom>
          <a:noFill/>
          <a:ln w="9525">
            <a:noFill/>
          </a:ln>
        </p:spPr>
        <p:txBody>
          <a:bodyPr anchor="t" anchorCtr="0">
            <a:spAutoFit/>
          </a:bodyPr>
          <a:p>
            <a:pPr>
              <a:spcBef>
                <a:spcPct val="50000"/>
              </a:spcBef>
            </a:pPr>
            <a:r>
              <a:rPr lang="zh-CN" altLang="en-US" dirty="0">
                <a:latin typeface="宋体" panose="02000500000000000000" pitchFamily="2" charset="-122"/>
                <a:ea typeface="宋体" panose="02000500000000000000" pitchFamily="2" charset="-122"/>
              </a:rPr>
              <a:t>fdiv.d</a:t>
            </a:r>
            <a:r>
              <a:rPr lang="en-US" altLang="zh-CN" dirty="0">
                <a:latin typeface="宋体" panose="02000500000000000000" pitchFamily="2" charset="-122"/>
                <a:ea typeface="宋体" panose="02000500000000000000" pitchFamily="2" charset="-122"/>
              </a:rPr>
              <a:t>  </a:t>
            </a:r>
            <a:r>
              <a:rPr lang="zh-CN" altLang="zh-CN" dirty="0">
                <a:solidFill>
                  <a:srgbClr val="FF0000"/>
                </a:solidFill>
                <a:latin typeface="宋体" panose="02000500000000000000" pitchFamily="2" charset="-122"/>
                <a:ea typeface="宋体" panose="02000500000000000000" pitchFamily="2" charset="-122"/>
              </a:rPr>
              <a:t>$f</a:t>
            </a:r>
            <a:r>
              <a:rPr lang="en-US" altLang="zh-CN" dirty="0">
                <a:solidFill>
                  <a:srgbClr val="FF0000"/>
                </a:solidFill>
                <a:latin typeface="宋体" panose="02000500000000000000" pitchFamily="2" charset="-122"/>
                <a:ea typeface="宋体" panose="02000500000000000000" pitchFamily="2" charset="-122"/>
              </a:rPr>
              <a:t>0</a:t>
            </a:r>
            <a:r>
              <a:rPr lang="en-US" altLang="zh-CN" dirty="0">
                <a:latin typeface="宋体" panose="02000500000000000000" pitchFamily="2" charset="-122"/>
                <a:ea typeface="宋体" panose="02000500000000000000" pitchFamily="2" charset="-122"/>
              </a:rPr>
              <a:t>, </a:t>
            </a:r>
            <a:r>
              <a:rPr lang="zh-CN" altLang="en-US" dirty="0">
                <a:latin typeface="宋体" panose="02000500000000000000" pitchFamily="2" charset="-122"/>
                <a:ea typeface="宋体" panose="02000500000000000000" pitchFamily="2" charset="-122"/>
              </a:rPr>
              <a:t>$f</a:t>
            </a:r>
            <a:r>
              <a:rPr lang="en-US" altLang="zh-CN" dirty="0">
                <a:latin typeface="宋体" panose="02000500000000000000" pitchFamily="2" charset="-122"/>
                <a:ea typeface="宋体" panose="02000500000000000000" pitchFamily="2" charset="-122"/>
              </a:rPr>
              <a:t>1, </a:t>
            </a:r>
            <a:r>
              <a:rPr lang="en-US" altLang="en-US" dirty="0">
                <a:latin typeface="宋体" panose="02000500000000000000" pitchFamily="2" charset="-122"/>
                <a:ea typeface="宋体" panose="02000500000000000000" pitchFamily="2" charset="-122"/>
              </a:rPr>
              <a:t>$f</a:t>
            </a:r>
            <a:r>
              <a:rPr lang="en-US" altLang="zh-CN" dirty="0">
                <a:latin typeface="宋体" panose="02000500000000000000" pitchFamily="2" charset="-122"/>
                <a:ea typeface="宋体" panose="02000500000000000000" pitchFamily="2" charset="-122"/>
              </a:rPr>
              <a:t>2</a:t>
            </a:r>
            <a:endParaRPr lang="en-US" altLang="zh-CN" dirty="0">
              <a:latin typeface="宋体" panose="02000500000000000000" pitchFamily="2" charset="-122"/>
              <a:ea typeface="宋体" panose="02000500000000000000" pitchFamily="2" charset="-122"/>
            </a:endParaRPr>
          </a:p>
          <a:p>
            <a:pPr>
              <a:spcBef>
                <a:spcPct val="50000"/>
              </a:spcBef>
            </a:pPr>
            <a:r>
              <a:rPr lang="zh-CN" altLang="en-US" dirty="0">
                <a:latin typeface="宋体" panose="02000500000000000000" pitchFamily="2" charset="-122"/>
                <a:ea typeface="宋体" panose="02000500000000000000" pitchFamily="2" charset="-122"/>
              </a:rPr>
              <a:t>fmul.d</a:t>
            </a:r>
            <a:r>
              <a:rPr lang="en-US" altLang="zh-CN" dirty="0">
                <a:latin typeface="宋体" panose="02000500000000000000" pitchFamily="2" charset="-122"/>
                <a:ea typeface="宋体" panose="02000500000000000000" pitchFamily="2" charset="-122"/>
              </a:rPr>
              <a:t>  </a:t>
            </a:r>
            <a:r>
              <a:rPr lang="en-US" altLang="en-US" dirty="0">
                <a:latin typeface="宋体" panose="02000500000000000000" pitchFamily="2" charset="-122"/>
                <a:ea typeface="宋体" panose="02000500000000000000" pitchFamily="2" charset="-122"/>
              </a:rPr>
              <a:t>$f</a:t>
            </a:r>
            <a:r>
              <a:rPr lang="en-US" altLang="zh-CN" dirty="0">
                <a:latin typeface="宋体" panose="02000500000000000000" pitchFamily="2" charset="-122"/>
                <a:ea typeface="宋体" panose="02000500000000000000" pitchFamily="2" charset="-122"/>
              </a:rPr>
              <a:t>3, </a:t>
            </a:r>
            <a:r>
              <a:rPr lang="en-US" altLang="zh-CN" dirty="0">
                <a:solidFill>
                  <a:srgbClr val="FF0000"/>
                </a:solidFill>
                <a:latin typeface="宋体" panose="02000500000000000000" pitchFamily="2" charset="-122"/>
                <a:ea typeface="宋体" panose="02000500000000000000" pitchFamily="2" charset="-122"/>
              </a:rPr>
              <a:t>$f0</a:t>
            </a:r>
            <a:r>
              <a:rPr lang="en-US" altLang="zh-CN" dirty="0">
                <a:latin typeface="宋体" panose="02000500000000000000" pitchFamily="2" charset="-122"/>
                <a:ea typeface="宋体" panose="02000500000000000000" pitchFamily="2" charset="-122"/>
              </a:rPr>
              <a:t>, </a:t>
            </a:r>
            <a:r>
              <a:rPr lang="en-US" altLang="en-US" dirty="0">
                <a:latin typeface="宋体" panose="02000500000000000000" pitchFamily="2" charset="-122"/>
                <a:ea typeface="宋体" panose="02000500000000000000" pitchFamily="2" charset="-122"/>
              </a:rPr>
              <a:t>$f</a:t>
            </a:r>
            <a:r>
              <a:rPr lang="en-US" altLang="zh-CN" dirty="0">
                <a:latin typeface="宋体" panose="02000500000000000000" pitchFamily="2" charset="-122"/>
                <a:ea typeface="宋体" panose="02000500000000000000" pitchFamily="2" charset="-122"/>
              </a:rPr>
              <a:t>2</a:t>
            </a:r>
            <a:endParaRPr lang="en-US" altLang="zh-CN" dirty="0">
              <a:latin typeface="宋体" panose="02000500000000000000" pitchFamily="2" charset="-122"/>
              <a:ea typeface="宋体" panose="02000500000000000000" pitchFamily="2" charset="-122"/>
            </a:endParaRPr>
          </a:p>
          <a:p>
            <a:pPr>
              <a:spcBef>
                <a:spcPct val="50000"/>
              </a:spcBef>
            </a:pPr>
            <a:r>
              <a:rPr lang="zh-CN" altLang="en-US" dirty="0">
                <a:latin typeface="宋体" panose="02000500000000000000" pitchFamily="2" charset="-122"/>
                <a:ea typeface="宋体" panose="02000500000000000000" pitchFamily="2" charset="-122"/>
              </a:rPr>
              <a:t>fadd.d</a:t>
            </a:r>
            <a:r>
              <a:rPr lang="en-US" altLang="zh-CN" dirty="0">
                <a:latin typeface="宋体" panose="02000500000000000000" pitchFamily="2" charset="-122"/>
                <a:ea typeface="宋体" panose="02000500000000000000" pitchFamily="2" charset="-122"/>
              </a:rPr>
              <a:t>  </a:t>
            </a:r>
            <a:r>
              <a:rPr lang="en-US" altLang="zh-CN" dirty="0">
                <a:solidFill>
                  <a:srgbClr val="FF0000"/>
                </a:solidFill>
                <a:latin typeface="宋体" panose="02000500000000000000" pitchFamily="2" charset="-122"/>
                <a:ea typeface="宋体" panose="02000500000000000000" pitchFamily="2" charset="-122"/>
              </a:rPr>
              <a:t>$f0</a:t>
            </a:r>
            <a:r>
              <a:rPr lang="en-US" altLang="zh-CN" dirty="0">
                <a:latin typeface="宋体" panose="02000500000000000000" pitchFamily="2" charset="-122"/>
                <a:ea typeface="宋体" panose="02000500000000000000" pitchFamily="2" charset="-122"/>
              </a:rPr>
              <a:t>, </a:t>
            </a:r>
            <a:r>
              <a:rPr lang="en-US" altLang="en-US" dirty="0">
                <a:latin typeface="宋体" panose="02000500000000000000" pitchFamily="2" charset="-122"/>
                <a:ea typeface="宋体" panose="02000500000000000000" pitchFamily="2" charset="-122"/>
              </a:rPr>
              <a:t>$f</a:t>
            </a:r>
            <a:r>
              <a:rPr lang="en-US" altLang="zh-CN" dirty="0">
                <a:latin typeface="宋体" panose="02000500000000000000" pitchFamily="2" charset="-122"/>
                <a:ea typeface="宋体" panose="02000500000000000000" pitchFamily="2" charset="-122"/>
              </a:rPr>
              <a:t>1, </a:t>
            </a:r>
            <a:r>
              <a:rPr lang="en-US" altLang="en-US" dirty="0">
                <a:latin typeface="宋体" panose="02000500000000000000" pitchFamily="2" charset="-122"/>
                <a:ea typeface="宋体" panose="02000500000000000000" pitchFamily="2" charset="-122"/>
              </a:rPr>
              <a:t>$f</a:t>
            </a:r>
            <a:r>
              <a:rPr lang="en-US" altLang="zh-CN" dirty="0">
                <a:latin typeface="宋体" panose="02000500000000000000" pitchFamily="2" charset="-122"/>
                <a:ea typeface="宋体" panose="02000500000000000000" pitchFamily="2" charset="-122"/>
              </a:rPr>
              <a:t>2</a:t>
            </a:r>
            <a:endParaRPr lang="en-US" altLang="zh-CN" dirty="0">
              <a:latin typeface="宋体" panose="02000500000000000000" pitchFamily="2" charset="-122"/>
              <a:ea typeface="宋体" panose="02000500000000000000" pitchFamily="2" charset="-122"/>
            </a:endParaRPr>
          </a:p>
          <a:p>
            <a:pPr>
              <a:spcBef>
                <a:spcPct val="50000"/>
              </a:spcBef>
            </a:pPr>
            <a:r>
              <a:rPr lang="zh-CN" altLang="en-US" dirty="0">
                <a:latin typeface="宋体" panose="02000500000000000000" pitchFamily="2" charset="-122"/>
                <a:ea typeface="宋体" panose="02000500000000000000" pitchFamily="2" charset="-122"/>
              </a:rPr>
              <a:t>fmul.d</a:t>
            </a:r>
            <a:r>
              <a:rPr lang="en-US" altLang="zh-CN" dirty="0">
                <a:latin typeface="宋体" panose="02000500000000000000" pitchFamily="2" charset="-122"/>
                <a:ea typeface="宋体" panose="02000500000000000000" pitchFamily="2" charset="-122"/>
              </a:rPr>
              <a:t>  </a:t>
            </a:r>
            <a:r>
              <a:rPr lang="en-US" altLang="en-US" dirty="0">
                <a:latin typeface="宋体" panose="02000500000000000000" pitchFamily="2" charset="-122"/>
                <a:ea typeface="宋体" panose="02000500000000000000" pitchFamily="2" charset="-122"/>
              </a:rPr>
              <a:t>$f</a:t>
            </a:r>
            <a:r>
              <a:rPr lang="en-US" altLang="zh-CN" dirty="0">
                <a:latin typeface="宋体" panose="02000500000000000000" pitchFamily="2" charset="-122"/>
                <a:ea typeface="宋体" panose="02000500000000000000" pitchFamily="2" charset="-122"/>
              </a:rPr>
              <a:t>3, </a:t>
            </a:r>
            <a:r>
              <a:rPr lang="en-US" altLang="zh-CN" dirty="0">
                <a:solidFill>
                  <a:srgbClr val="FF0000"/>
                </a:solidFill>
                <a:latin typeface="宋体" panose="02000500000000000000" pitchFamily="2" charset="-122"/>
                <a:ea typeface="宋体" panose="02000500000000000000" pitchFamily="2" charset="-122"/>
              </a:rPr>
              <a:t>$f0</a:t>
            </a:r>
            <a:r>
              <a:rPr lang="en-US" altLang="zh-CN" dirty="0">
                <a:latin typeface="宋体" panose="02000500000000000000" pitchFamily="2" charset="-122"/>
                <a:ea typeface="宋体" panose="02000500000000000000" pitchFamily="2" charset="-122"/>
              </a:rPr>
              <a:t>, </a:t>
            </a:r>
            <a:r>
              <a:rPr lang="en-US" altLang="en-US" dirty="0">
                <a:latin typeface="宋体" panose="02000500000000000000" pitchFamily="2" charset="-122"/>
                <a:ea typeface="宋体" panose="02000500000000000000" pitchFamily="2" charset="-122"/>
              </a:rPr>
              <a:t>$f</a:t>
            </a:r>
            <a:r>
              <a:rPr lang="en-US" altLang="zh-CN" dirty="0">
                <a:latin typeface="宋体" panose="02000500000000000000" pitchFamily="2" charset="-122"/>
                <a:ea typeface="宋体" panose="02000500000000000000" pitchFamily="2" charset="-122"/>
              </a:rPr>
              <a:t>2</a:t>
            </a:r>
            <a:endParaRPr lang="en-US" altLang="zh-CN" dirty="0">
              <a:latin typeface="宋体" panose="02000500000000000000" pitchFamily="2" charset="-122"/>
              <a:ea typeface="宋体" panose="02000500000000000000" pitchFamily="2" charset="-122"/>
            </a:endParaRPr>
          </a:p>
        </p:txBody>
      </p:sp>
      <p:sp>
        <p:nvSpPr>
          <p:cNvPr id="49155"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fld id="{9A0DB2DC-4C9A-4742-B13C-FB6460FD3503}" type="slidenum">
              <a:rPr lang="en-US" altLang="zh-CN" sz="1400" dirty="0"/>
            </a:fld>
            <a:endParaRPr lang="en-US" altLang="zh-CN" sz="1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51" name="Line 52"/>
          <p:cNvSpPr/>
          <p:nvPr/>
        </p:nvSpPr>
        <p:spPr>
          <a:xfrm flipV="1">
            <a:off x="7390765" y="2116455"/>
            <a:ext cx="0" cy="335280"/>
          </a:xfrm>
          <a:prstGeom prst="line">
            <a:avLst/>
          </a:prstGeom>
          <a:ln w="9525" cap="flat" cmpd="sng">
            <a:solidFill>
              <a:schemeClr val="tx1"/>
            </a:solidFill>
            <a:prstDash val="solid"/>
            <a:round/>
            <a:headEnd type="none" w="med" len="med"/>
            <a:tailEnd type="triangle" w="med" len="med"/>
          </a:ln>
        </p:spPr>
      </p:sp>
      <p:sp>
        <p:nvSpPr>
          <p:cNvPr id="31752" name="Line 53"/>
          <p:cNvSpPr/>
          <p:nvPr/>
        </p:nvSpPr>
        <p:spPr>
          <a:xfrm flipV="1">
            <a:off x="8270875" y="2116455"/>
            <a:ext cx="0" cy="335280"/>
          </a:xfrm>
          <a:prstGeom prst="line">
            <a:avLst/>
          </a:prstGeom>
          <a:ln w="9525" cap="flat" cmpd="sng">
            <a:solidFill>
              <a:schemeClr val="tx1"/>
            </a:solidFill>
            <a:prstDash val="solid"/>
            <a:round/>
            <a:headEnd type="none" w="med" len="med"/>
            <a:tailEnd type="triangle" w="med" len="med"/>
          </a:ln>
        </p:spPr>
      </p:sp>
      <p:sp>
        <p:nvSpPr>
          <p:cNvPr id="31753" name="Line 54"/>
          <p:cNvSpPr/>
          <p:nvPr/>
        </p:nvSpPr>
        <p:spPr>
          <a:xfrm flipV="1">
            <a:off x="10353675" y="2103755"/>
            <a:ext cx="0" cy="335280"/>
          </a:xfrm>
          <a:prstGeom prst="line">
            <a:avLst/>
          </a:prstGeom>
          <a:ln w="9525" cap="flat" cmpd="sng">
            <a:solidFill>
              <a:schemeClr val="tx1"/>
            </a:solidFill>
            <a:prstDash val="solid"/>
            <a:round/>
            <a:headEnd type="none" w="med" len="med"/>
            <a:tailEnd type="triangle" w="med" len="med"/>
          </a:ln>
        </p:spPr>
      </p:sp>
      <p:sp>
        <p:nvSpPr>
          <p:cNvPr id="31754" name="Line 55"/>
          <p:cNvSpPr/>
          <p:nvPr/>
        </p:nvSpPr>
        <p:spPr>
          <a:xfrm flipV="1">
            <a:off x="11301730" y="2091055"/>
            <a:ext cx="0" cy="335280"/>
          </a:xfrm>
          <a:prstGeom prst="line">
            <a:avLst/>
          </a:prstGeom>
          <a:ln w="9525" cap="flat" cmpd="sng">
            <a:solidFill>
              <a:schemeClr val="tx1"/>
            </a:solidFill>
            <a:prstDash val="solid"/>
            <a:round/>
            <a:headEnd type="none" w="med" len="med"/>
            <a:tailEnd type="triangle" w="med" len="med"/>
          </a:ln>
        </p:spPr>
      </p:sp>
      <p:sp>
        <p:nvSpPr>
          <p:cNvPr id="31755" name="Line 56"/>
          <p:cNvSpPr/>
          <p:nvPr/>
        </p:nvSpPr>
        <p:spPr>
          <a:xfrm flipV="1">
            <a:off x="8137525" y="4694555"/>
            <a:ext cx="0" cy="617855"/>
          </a:xfrm>
          <a:prstGeom prst="line">
            <a:avLst/>
          </a:prstGeom>
          <a:ln w="19050" cap="flat" cmpd="sng">
            <a:solidFill>
              <a:schemeClr val="tx1"/>
            </a:solidFill>
            <a:prstDash val="solid"/>
            <a:round/>
            <a:headEnd type="none" w="med" len="med"/>
            <a:tailEnd type="triangle" w="med" len="med"/>
          </a:ln>
        </p:spPr>
      </p:sp>
      <p:sp>
        <p:nvSpPr>
          <p:cNvPr id="31756" name="Line 57"/>
          <p:cNvSpPr/>
          <p:nvPr/>
        </p:nvSpPr>
        <p:spPr>
          <a:xfrm flipV="1">
            <a:off x="7794625" y="3044825"/>
            <a:ext cx="0" cy="247650"/>
          </a:xfrm>
          <a:prstGeom prst="line">
            <a:avLst/>
          </a:prstGeom>
          <a:ln w="19050" cap="flat" cmpd="sng">
            <a:solidFill>
              <a:schemeClr val="tx1"/>
            </a:solidFill>
            <a:prstDash val="solid"/>
            <a:round/>
            <a:headEnd type="none" w="med" len="med"/>
            <a:tailEnd type="triangle" w="med" len="med"/>
          </a:ln>
        </p:spPr>
      </p:sp>
      <p:sp>
        <p:nvSpPr>
          <p:cNvPr id="31757" name="Line 58"/>
          <p:cNvSpPr/>
          <p:nvPr/>
        </p:nvSpPr>
        <p:spPr>
          <a:xfrm flipV="1">
            <a:off x="10788015" y="3037205"/>
            <a:ext cx="0" cy="260350"/>
          </a:xfrm>
          <a:prstGeom prst="line">
            <a:avLst/>
          </a:prstGeom>
          <a:ln w="19050" cap="flat" cmpd="sng">
            <a:solidFill>
              <a:schemeClr val="tx1"/>
            </a:solidFill>
            <a:prstDash val="solid"/>
            <a:round/>
            <a:headEnd type="none" w="med" len="med"/>
            <a:tailEnd type="triangle" w="med" len="med"/>
          </a:ln>
        </p:spPr>
      </p:sp>
      <p:sp>
        <p:nvSpPr>
          <p:cNvPr id="31758" name="Line 59"/>
          <p:cNvSpPr/>
          <p:nvPr/>
        </p:nvSpPr>
        <p:spPr>
          <a:xfrm flipV="1">
            <a:off x="10813415" y="1449705"/>
            <a:ext cx="0" cy="370205"/>
          </a:xfrm>
          <a:prstGeom prst="line">
            <a:avLst/>
          </a:prstGeom>
          <a:ln w="19050" cap="flat" cmpd="sng">
            <a:solidFill>
              <a:srgbClr val="FF0000"/>
            </a:solidFill>
            <a:prstDash val="solid"/>
            <a:round/>
            <a:headEnd type="none" w="med" len="med"/>
            <a:tailEnd type="triangle" w="med" len="med"/>
          </a:ln>
        </p:spPr>
      </p:sp>
      <p:sp>
        <p:nvSpPr>
          <p:cNvPr id="31759" name="Line 60"/>
          <p:cNvSpPr/>
          <p:nvPr/>
        </p:nvSpPr>
        <p:spPr>
          <a:xfrm flipV="1">
            <a:off x="7881620" y="1466850"/>
            <a:ext cx="0" cy="370205"/>
          </a:xfrm>
          <a:prstGeom prst="line">
            <a:avLst/>
          </a:prstGeom>
          <a:ln w="19050" cap="flat" cmpd="sng">
            <a:solidFill>
              <a:schemeClr val="tx1"/>
            </a:solidFill>
            <a:prstDash val="solid"/>
            <a:round/>
            <a:headEnd type="none" w="med" len="med"/>
            <a:tailEnd type="triangle" w="med" len="med"/>
          </a:ln>
        </p:spPr>
      </p:sp>
      <p:sp>
        <p:nvSpPr>
          <p:cNvPr id="31760" name="Line 61"/>
          <p:cNvSpPr/>
          <p:nvPr/>
        </p:nvSpPr>
        <p:spPr>
          <a:xfrm>
            <a:off x="5155565" y="1460500"/>
            <a:ext cx="7009765" cy="0"/>
          </a:xfrm>
          <a:prstGeom prst="line">
            <a:avLst/>
          </a:prstGeom>
          <a:ln w="19050" cap="flat" cmpd="sng">
            <a:solidFill>
              <a:srgbClr val="FF0000"/>
            </a:solidFill>
            <a:prstDash val="solid"/>
            <a:round/>
            <a:headEnd type="none" w="med" len="med"/>
            <a:tailEnd type="none" w="med" len="med"/>
          </a:ln>
        </p:spPr>
      </p:sp>
      <p:sp>
        <p:nvSpPr>
          <p:cNvPr id="31761" name="Line 62"/>
          <p:cNvSpPr/>
          <p:nvPr/>
        </p:nvSpPr>
        <p:spPr>
          <a:xfrm flipH="1" flipV="1">
            <a:off x="7160895" y="3035300"/>
            <a:ext cx="635" cy="389255"/>
          </a:xfrm>
          <a:prstGeom prst="line">
            <a:avLst/>
          </a:prstGeom>
          <a:ln w="19050" cap="flat" cmpd="sng">
            <a:solidFill>
              <a:srgbClr val="FF0000"/>
            </a:solidFill>
            <a:prstDash val="solid"/>
            <a:round/>
            <a:headEnd type="none" w="med" len="med"/>
            <a:tailEnd type="triangle" w="med" len="med"/>
          </a:ln>
        </p:spPr>
      </p:sp>
      <p:sp>
        <p:nvSpPr>
          <p:cNvPr id="31762" name="Line 63"/>
          <p:cNvSpPr/>
          <p:nvPr/>
        </p:nvSpPr>
        <p:spPr>
          <a:xfrm flipV="1">
            <a:off x="11272520" y="3027680"/>
            <a:ext cx="635" cy="410845"/>
          </a:xfrm>
          <a:prstGeom prst="line">
            <a:avLst/>
          </a:prstGeom>
          <a:ln w="19050" cap="flat" cmpd="sng">
            <a:solidFill>
              <a:srgbClr val="FF0000"/>
            </a:solidFill>
            <a:prstDash val="solid"/>
            <a:round/>
            <a:headEnd type="none" w="med" len="med"/>
            <a:tailEnd type="triangle" w="med" len="med"/>
          </a:ln>
        </p:spPr>
      </p:sp>
      <p:sp>
        <p:nvSpPr>
          <p:cNvPr id="31763" name="Line 64"/>
          <p:cNvSpPr/>
          <p:nvPr/>
        </p:nvSpPr>
        <p:spPr>
          <a:xfrm>
            <a:off x="12150725" y="1463040"/>
            <a:ext cx="635" cy="3496945"/>
          </a:xfrm>
          <a:prstGeom prst="line">
            <a:avLst/>
          </a:prstGeom>
          <a:ln w="19050" cap="flat" cmpd="sng">
            <a:solidFill>
              <a:srgbClr val="FF0000"/>
            </a:solidFill>
            <a:prstDash val="solid"/>
            <a:round/>
            <a:headEnd type="none" w="med" len="med"/>
            <a:tailEnd type="none" w="med" len="med"/>
          </a:ln>
        </p:spPr>
      </p:sp>
      <p:sp>
        <p:nvSpPr>
          <p:cNvPr id="31764" name="Line 65"/>
          <p:cNvSpPr/>
          <p:nvPr/>
        </p:nvSpPr>
        <p:spPr>
          <a:xfrm flipV="1">
            <a:off x="8114665" y="3270250"/>
            <a:ext cx="0" cy="581025"/>
          </a:xfrm>
          <a:prstGeom prst="line">
            <a:avLst/>
          </a:prstGeom>
          <a:ln w="19050" cap="flat" cmpd="sng">
            <a:solidFill>
              <a:schemeClr val="tx1"/>
            </a:solidFill>
            <a:prstDash val="solid"/>
            <a:round/>
            <a:headEnd type="none" w="med" len="med"/>
            <a:tailEnd type="triangle" w="med" len="med"/>
          </a:ln>
        </p:spPr>
      </p:sp>
      <p:sp>
        <p:nvSpPr>
          <p:cNvPr id="31765" name="Text Box 66"/>
          <p:cNvSpPr txBox="1"/>
          <p:nvPr/>
        </p:nvSpPr>
        <p:spPr>
          <a:xfrm>
            <a:off x="6283960" y="2246630"/>
            <a:ext cx="1039495" cy="18415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加法保留站</a:t>
            </a:r>
            <a:endParaRPr lang="zh-CN" altLang="en-US" sz="1200" b="1" dirty="0">
              <a:latin typeface="Times New Roman" pitchFamily="18" charset="0"/>
              <a:ea typeface="宋体" panose="02000500000000000000" pitchFamily="2" charset="-122"/>
            </a:endParaRPr>
          </a:p>
        </p:txBody>
      </p:sp>
      <p:sp>
        <p:nvSpPr>
          <p:cNvPr id="31766" name="Text Box 67"/>
          <p:cNvSpPr txBox="1"/>
          <p:nvPr/>
        </p:nvSpPr>
        <p:spPr>
          <a:xfrm>
            <a:off x="6925310" y="3675380"/>
            <a:ext cx="1090295" cy="184150"/>
          </a:xfrm>
          <a:prstGeom prst="rect">
            <a:avLst/>
          </a:prstGeom>
          <a:noFill/>
          <a:ln w="9525">
            <a:noFill/>
          </a:ln>
          <a:extLst>
            <a:ext uri="{909E8E84-426E-40DD-AFC4-6F175D3DCCD1}">
              <a14:hiddenFill xmlns:a14="http://schemas.microsoft.com/office/drawing/2010/main">
                <a:solidFill>
                  <a:schemeClr val="bg1"/>
                </a:solidFill>
              </a14:hiddenFill>
            </a:ext>
          </a:extLst>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浮点寄存器</a:t>
            </a:r>
            <a:endParaRPr lang="zh-CN" altLang="en-US" sz="1200" b="1" dirty="0">
              <a:latin typeface="Times New Roman" pitchFamily="18" charset="0"/>
              <a:ea typeface="宋体" panose="02000500000000000000" pitchFamily="2" charset="-122"/>
            </a:endParaRPr>
          </a:p>
        </p:txBody>
      </p:sp>
      <p:sp>
        <p:nvSpPr>
          <p:cNvPr id="31767" name="Text Box 68"/>
          <p:cNvSpPr txBox="1"/>
          <p:nvPr/>
        </p:nvSpPr>
        <p:spPr>
          <a:xfrm>
            <a:off x="9289415" y="2235200"/>
            <a:ext cx="1039495" cy="18415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乘法保留站</a:t>
            </a:r>
            <a:endParaRPr lang="zh-CN" altLang="en-US" sz="1200" b="1" dirty="0">
              <a:latin typeface="Times New Roman" pitchFamily="18" charset="0"/>
              <a:ea typeface="宋体" panose="02000500000000000000" pitchFamily="2" charset="-122"/>
            </a:endParaRPr>
          </a:p>
        </p:txBody>
      </p:sp>
      <p:sp>
        <p:nvSpPr>
          <p:cNvPr id="31768" name="Line 69"/>
          <p:cNvSpPr/>
          <p:nvPr/>
        </p:nvSpPr>
        <p:spPr>
          <a:xfrm>
            <a:off x="10807065" y="4959985"/>
            <a:ext cx="1358265" cy="635"/>
          </a:xfrm>
          <a:prstGeom prst="line">
            <a:avLst/>
          </a:prstGeom>
          <a:ln w="19050" cap="flat" cmpd="sng">
            <a:solidFill>
              <a:srgbClr val="FF0000"/>
            </a:solidFill>
            <a:prstDash val="solid"/>
            <a:round/>
            <a:headEnd type="none" w="med" len="med"/>
            <a:tailEnd type="none" w="med" len="med"/>
          </a:ln>
        </p:spPr>
      </p:sp>
      <p:sp>
        <p:nvSpPr>
          <p:cNvPr id="31769" name="Line 70"/>
          <p:cNvSpPr/>
          <p:nvPr/>
        </p:nvSpPr>
        <p:spPr>
          <a:xfrm flipV="1">
            <a:off x="10812145" y="4701540"/>
            <a:ext cx="1905" cy="260350"/>
          </a:xfrm>
          <a:prstGeom prst="line">
            <a:avLst/>
          </a:prstGeom>
          <a:ln w="19050" cap="flat" cmpd="sng">
            <a:solidFill>
              <a:srgbClr val="FF0000"/>
            </a:solidFill>
            <a:prstDash val="solid"/>
            <a:round/>
            <a:headEnd type="none" w="med" len="med"/>
            <a:tailEnd type="triangle" w="med" len="med"/>
          </a:ln>
        </p:spPr>
      </p:sp>
      <p:grpSp>
        <p:nvGrpSpPr>
          <p:cNvPr id="31772" name="Group 73"/>
          <p:cNvGrpSpPr/>
          <p:nvPr/>
        </p:nvGrpSpPr>
        <p:grpSpPr>
          <a:xfrm rot="0">
            <a:off x="4488815" y="1461135"/>
            <a:ext cx="7679055" cy="1970389"/>
            <a:chOff x="1701" y="512"/>
            <a:chExt cx="3628" cy="1241"/>
          </a:xfrm>
        </p:grpSpPr>
        <p:sp>
          <p:nvSpPr>
            <p:cNvPr id="31773" name="Line 74"/>
            <p:cNvSpPr/>
            <p:nvPr/>
          </p:nvSpPr>
          <p:spPr>
            <a:xfrm flipV="1">
              <a:off x="2154" y="1661"/>
              <a:ext cx="2518" cy="0"/>
            </a:xfrm>
            <a:prstGeom prst="line">
              <a:avLst/>
            </a:prstGeom>
            <a:ln w="19050" cap="flat" cmpd="sng">
              <a:solidFill>
                <a:schemeClr val="tx1"/>
              </a:solidFill>
              <a:prstDash val="solid"/>
              <a:round/>
              <a:headEnd type="none" w="med" len="med"/>
              <a:tailEnd type="none" w="med" len="med"/>
            </a:ln>
          </p:spPr>
        </p:sp>
        <p:sp>
          <p:nvSpPr>
            <p:cNvPr id="31774" name="Line 75"/>
            <p:cNvSpPr/>
            <p:nvPr/>
          </p:nvSpPr>
          <p:spPr>
            <a:xfrm flipV="1">
              <a:off x="2010" y="1753"/>
              <a:ext cx="3319" cy="0"/>
            </a:xfrm>
            <a:prstGeom prst="line">
              <a:avLst/>
            </a:prstGeom>
            <a:ln w="19050" cap="flat" cmpd="sng">
              <a:solidFill>
                <a:srgbClr val="FF0000"/>
              </a:solidFill>
              <a:prstDash val="solid"/>
              <a:round/>
              <a:headEnd type="none" w="med" len="med"/>
              <a:tailEnd type="none" w="med" len="med"/>
            </a:ln>
          </p:spPr>
        </p:sp>
        <p:grpSp>
          <p:nvGrpSpPr>
            <p:cNvPr id="31775" name="Group 76"/>
            <p:cNvGrpSpPr/>
            <p:nvPr/>
          </p:nvGrpSpPr>
          <p:grpSpPr>
            <a:xfrm>
              <a:off x="1701" y="512"/>
              <a:ext cx="3494" cy="1239"/>
              <a:chOff x="1701" y="512"/>
              <a:chExt cx="3494" cy="1239"/>
            </a:xfrm>
          </p:grpSpPr>
          <p:grpSp>
            <p:nvGrpSpPr>
              <p:cNvPr id="31776" name="Group 77"/>
              <p:cNvGrpSpPr/>
              <p:nvPr/>
            </p:nvGrpSpPr>
            <p:grpSpPr>
              <a:xfrm>
                <a:off x="2019" y="512"/>
                <a:ext cx="135" cy="1239"/>
                <a:chOff x="2019" y="512"/>
                <a:chExt cx="135" cy="1239"/>
              </a:xfrm>
            </p:grpSpPr>
            <p:sp>
              <p:nvSpPr>
                <p:cNvPr id="31777" name="Line 78"/>
                <p:cNvSpPr/>
                <p:nvPr/>
              </p:nvSpPr>
              <p:spPr>
                <a:xfrm flipV="1">
                  <a:off x="2022" y="512"/>
                  <a:ext cx="0" cy="233"/>
                </a:xfrm>
                <a:prstGeom prst="line">
                  <a:avLst/>
                </a:prstGeom>
                <a:ln w="19050" cap="flat" cmpd="sng">
                  <a:solidFill>
                    <a:schemeClr val="tx1"/>
                  </a:solidFill>
                  <a:prstDash val="solid"/>
                  <a:round/>
                  <a:headEnd type="none" w="med" len="med"/>
                  <a:tailEnd type="triangle" w="med" len="med"/>
                </a:ln>
              </p:spPr>
            </p:sp>
            <p:sp>
              <p:nvSpPr>
                <p:cNvPr id="31778" name="Line 79"/>
                <p:cNvSpPr/>
                <p:nvPr/>
              </p:nvSpPr>
              <p:spPr>
                <a:xfrm flipH="1" flipV="1">
                  <a:off x="2019" y="1502"/>
                  <a:ext cx="3" cy="249"/>
                </a:xfrm>
                <a:prstGeom prst="line">
                  <a:avLst/>
                </a:prstGeom>
                <a:ln w="19050" cap="flat" cmpd="sng">
                  <a:solidFill>
                    <a:srgbClr val="FF0000"/>
                  </a:solidFill>
                  <a:prstDash val="solid"/>
                  <a:round/>
                  <a:headEnd type="none" w="med" len="med"/>
                  <a:tailEnd type="triangle" w="med" len="med"/>
                </a:ln>
              </p:spPr>
            </p:sp>
            <p:sp>
              <p:nvSpPr>
                <p:cNvPr id="31779" name="Line 80"/>
                <p:cNvSpPr/>
                <p:nvPr/>
              </p:nvSpPr>
              <p:spPr>
                <a:xfrm flipV="1">
                  <a:off x="2154" y="1508"/>
                  <a:ext cx="0" cy="156"/>
                </a:xfrm>
                <a:prstGeom prst="line">
                  <a:avLst/>
                </a:prstGeom>
                <a:ln w="19050" cap="flat" cmpd="sng">
                  <a:solidFill>
                    <a:schemeClr val="tx1"/>
                  </a:solidFill>
                  <a:prstDash val="solid"/>
                  <a:round/>
                  <a:headEnd type="none" w="med" len="med"/>
                  <a:tailEnd type="triangle" w="med" len="med"/>
                </a:ln>
              </p:spPr>
            </p:sp>
          </p:grpSp>
          <p:sp>
            <p:nvSpPr>
              <p:cNvPr id="31780" name="Text Box 81"/>
              <p:cNvSpPr txBox="1"/>
              <p:nvPr/>
            </p:nvSpPr>
            <p:spPr>
              <a:xfrm>
                <a:off x="2777" y="750"/>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浮点加</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减法器</a:t>
                </a:r>
                <a:endParaRPr lang="zh-CN" altLang="en-US" sz="1200" b="1" dirty="0">
                  <a:latin typeface="Times New Roman" pitchFamily="18" charset="0"/>
                  <a:ea typeface="宋体" panose="02000500000000000000" pitchFamily="2" charset="-122"/>
                </a:endParaRPr>
              </a:p>
            </p:txBody>
          </p:sp>
          <p:sp>
            <p:nvSpPr>
              <p:cNvPr id="31781" name="Text Box 82"/>
              <p:cNvSpPr txBox="1"/>
              <p:nvPr/>
            </p:nvSpPr>
            <p:spPr>
              <a:xfrm>
                <a:off x="4181" y="737"/>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浮点乘</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除法器</a:t>
                </a:r>
                <a:endParaRPr lang="zh-CN" altLang="en-US" sz="1200" b="1" dirty="0">
                  <a:latin typeface="Times New Roman" pitchFamily="18" charset="0"/>
                  <a:ea typeface="宋体" panose="02000500000000000000" pitchFamily="2" charset="-122"/>
                </a:endParaRPr>
              </a:p>
            </p:txBody>
          </p:sp>
          <p:sp>
            <p:nvSpPr>
              <p:cNvPr id="31782" name="Text Box 83"/>
              <p:cNvSpPr txBox="1"/>
              <p:nvPr/>
            </p:nvSpPr>
            <p:spPr>
              <a:xfrm>
                <a:off x="1701" y="731"/>
                <a:ext cx="664" cy="771"/>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p>
                <a:pPr algn="ctr">
                  <a:spcBef>
                    <a:spcPct val="50000"/>
                  </a:spcBef>
                </a:pPr>
                <a:endParaRPr lang="en-US" altLang="zh-CN" sz="1200"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定点</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访存</a:t>
                </a:r>
                <a:endParaRPr lang="zh-CN" altLang="en-US" sz="1200" b="1"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部件</a:t>
                </a:r>
                <a:endParaRPr lang="zh-CN" altLang="en-US" sz="1200" b="1" dirty="0">
                  <a:latin typeface="Times New Roman" pitchFamily="18" charset="0"/>
                  <a:ea typeface="宋体" panose="02000500000000000000" pitchFamily="2" charset="-122"/>
                </a:endParaRPr>
              </a:p>
              <a:p>
                <a:pPr algn="ctr">
                  <a:spcBef>
                    <a:spcPct val="50000"/>
                  </a:spcBef>
                </a:pPr>
                <a:endParaRPr lang="en-US" altLang="zh-CN" sz="1200" b="1" dirty="0">
                  <a:latin typeface="Times New Roman" pitchFamily="18" charset="0"/>
                  <a:ea typeface="宋体" panose="02000500000000000000" pitchFamily="2" charset="-122"/>
                </a:endParaRPr>
              </a:p>
            </p:txBody>
          </p:sp>
        </p:grpSp>
      </p:grpSp>
      <p:sp>
        <p:nvSpPr>
          <p:cNvPr id="31783" name="Text Box 84"/>
          <p:cNvSpPr txBox="1"/>
          <p:nvPr/>
        </p:nvSpPr>
        <p:spPr>
          <a:xfrm>
            <a:off x="6979920" y="5045075"/>
            <a:ext cx="1030605" cy="184150"/>
          </a:xfrm>
          <a:prstGeom prst="rect">
            <a:avLst/>
          </a:prstGeom>
          <a:solidFill>
            <a:schemeClr val="bg1"/>
          </a:solid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指令队列</a:t>
            </a:r>
            <a:endParaRPr lang="zh-CN" altLang="en-US" sz="1200" b="1" dirty="0">
              <a:latin typeface="Times New Roman" pitchFamily="18" charset="0"/>
              <a:ea typeface="宋体" panose="02000500000000000000" pitchFamily="2" charset="-122"/>
            </a:endParaRPr>
          </a:p>
        </p:txBody>
      </p:sp>
      <p:graphicFrame>
        <p:nvGraphicFramePr>
          <p:cNvPr id="3" name="表格 2"/>
          <p:cNvGraphicFramePr/>
          <p:nvPr/>
        </p:nvGraphicFramePr>
        <p:xfrm>
          <a:off x="6799580" y="3837940"/>
          <a:ext cx="2342515" cy="863600"/>
        </p:xfrm>
        <a:graphic>
          <a:graphicData uri="http://schemas.openxmlformats.org/drawingml/2006/table">
            <a:tbl>
              <a:tblPr firstRow="1" bandRow="1">
                <a:tableStyleId>{5C22544A-7EE6-4342-B048-85BDC9FD1C3A}</a:tableStyleId>
              </a:tblPr>
              <a:tblGrid>
                <a:gridCol w="365125"/>
                <a:gridCol w="450850"/>
                <a:gridCol w="1526540"/>
              </a:tblGrid>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1</a:t>
                      </a:r>
                      <a:endParaRPr lang="en-US" altLang="zh-CN" sz="1200" b="1">
                        <a:solidFill>
                          <a:srgbClr val="FF0000"/>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3.0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4" name="表格 3"/>
          <p:cNvGraphicFramePr/>
          <p:nvPr/>
        </p:nvGraphicFramePr>
        <p:xfrm>
          <a:off x="7167880" y="5311775"/>
          <a:ext cx="1930400" cy="1280160"/>
        </p:xfrm>
        <a:graphic>
          <a:graphicData uri="http://schemas.openxmlformats.org/drawingml/2006/table">
            <a:tbl>
              <a:tblPr firstRow="1" bandRow="1">
                <a:tableStyleId>{5C22544A-7EE6-4342-B048-85BDC9FD1C3A}</a:tableStyleId>
              </a:tblPr>
              <a:tblGrid>
                <a:gridCol w="1930400"/>
              </a:tblGrid>
              <a:tr h="213360">
                <a:tc>
                  <a:txBody>
                    <a:bodyPr/>
                    <a:p>
                      <a:pPr indent="0">
                        <a:buNone/>
                      </a:pPr>
                      <a:r>
                        <a:rPr lang="en-US" sz="1200" b="1">
                          <a:solidFill>
                            <a:schemeClr val="tx1"/>
                          </a:solidFill>
                          <a:latin typeface="宋体" panose="02000500000000000000" pitchFamily="2" charset="-122"/>
                          <a:ea typeface="宋体" panose="02000500000000000000" pitchFamily="2" charset="-122"/>
                        </a:rPr>
                        <a:t>FDIV.D  </a:t>
                      </a:r>
                      <a:r>
                        <a:rPr lang="en-US" sz="1200" b="1">
                          <a:solidFill>
                            <a:srgbClr val="FF0000"/>
                          </a:solidFill>
                          <a:latin typeface="宋体" panose="02000500000000000000" pitchFamily="2" charset="-122"/>
                          <a:ea typeface="宋体" panose="02000500000000000000" pitchFamily="2" charset="-122"/>
                        </a:rPr>
                        <a:t>F0</a:t>
                      </a:r>
                      <a:r>
                        <a:rPr lang="en-US" sz="1200" b="1">
                          <a:solidFill>
                            <a:schemeClr val="tx1"/>
                          </a:solidFill>
                          <a:latin typeface="宋体" panose="02000500000000000000" pitchFamily="2" charset="-122"/>
                          <a:ea typeface="宋体" panose="02000500000000000000" pitchFamily="2" charset="-122"/>
                        </a:rPr>
                        <a:t>, F1, F2</a:t>
                      </a:r>
                      <a:endParaRPr lang="en-US" altLang="en-US" sz="1200" b="1">
                        <a:solidFill>
                          <a:schemeClr val="tx1"/>
                        </a:solidFill>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FADD.D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F1,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5" name="表格 4"/>
          <p:cNvGraphicFramePr/>
          <p:nvPr/>
        </p:nvGraphicFramePr>
        <p:xfrm>
          <a:off x="9544050" y="243586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1</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div</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0</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1.0</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0</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2.0</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7" name="表格 6"/>
          <p:cNvGraphicFramePr/>
          <p:nvPr/>
        </p:nvGraphicFramePr>
        <p:xfrm>
          <a:off x="6577330" y="245618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9" name="表格 8"/>
          <p:cNvGraphicFramePr/>
          <p:nvPr/>
        </p:nvGraphicFramePr>
        <p:xfrm>
          <a:off x="9486900" y="3822700"/>
          <a:ext cx="2342515" cy="863600"/>
        </p:xfrm>
        <a:graphic>
          <a:graphicData uri="http://schemas.openxmlformats.org/drawingml/2006/table">
            <a:tbl>
              <a:tblPr firstRow="1" bandRow="1">
                <a:tableStyleId>{5C22544A-7EE6-4342-B048-85BDC9FD1C3A}</a:tableStyleId>
              </a:tblPr>
              <a:tblGrid>
                <a:gridCol w="221065"/>
                <a:gridCol w="382270"/>
                <a:gridCol w="387901"/>
                <a:gridCol w="1351279"/>
              </a:tblGrid>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4</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div</a:t>
                      </a:r>
                      <a:endParaRPr lang="en-US" altLang="zh-CN" sz="1200" b="1">
                        <a:solidFill>
                          <a:srgbClr val="FF0000"/>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f0</a:t>
                      </a:r>
                      <a:endParaRPr lang="en-US" altLang="zh-CN" sz="1200" b="1">
                        <a:solidFill>
                          <a:srgbClr val="FF0000"/>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sp>
        <p:nvSpPr>
          <p:cNvPr id="47115" name="Line 15"/>
          <p:cNvSpPr/>
          <p:nvPr/>
        </p:nvSpPr>
        <p:spPr>
          <a:xfrm flipH="1" flipV="1">
            <a:off x="11068050" y="3610610"/>
            <a:ext cx="9525" cy="215900"/>
          </a:xfrm>
          <a:prstGeom prst="line">
            <a:avLst/>
          </a:prstGeom>
          <a:ln w="19050" cap="flat" cmpd="sng">
            <a:solidFill>
              <a:schemeClr val="accent2"/>
            </a:solidFill>
            <a:prstDash val="solid"/>
            <a:round/>
            <a:headEnd type="none" w="med" len="med"/>
            <a:tailEnd type="none" w="med" len="med"/>
          </a:ln>
        </p:spPr>
      </p:sp>
      <p:sp>
        <p:nvSpPr>
          <p:cNvPr id="47131" name="Line 36"/>
          <p:cNvSpPr/>
          <p:nvPr/>
        </p:nvSpPr>
        <p:spPr>
          <a:xfrm flipV="1">
            <a:off x="4904105" y="4940935"/>
            <a:ext cx="2991485" cy="13970"/>
          </a:xfrm>
          <a:prstGeom prst="line">
            <a:avLst/>
          </a:prstGeom>
          <a:ln w="19050" cap="flat" cmpd="sng">
            <a:solidFill>
              <a:schemeClr val="accent2"/>
            </a:solidFill>
            <a:prstDash val="solid"/>
            <a:round/>
            <a:headEnd type="none" w="med" len="med"/>
            <a:tailEnd type="none" w="med" len="med"/>
          </a:ln>
        </p:spPr>
      </p:sp>
      <p:sp>
        <p:nvSpPr>
          <p:cNvPr id="47133" name="Text Box 43"/>
          <p:cNvSpPr txBox="1"/>
          <p:nvPr/>
        </p:nvSpPr>
        <p:spPr>
          <a:xfrm>
            <a:off x="5375910" y="4712335"/>
            <a:ext cx="1089025" cy="184150"/>
          </a:xfrm>
          <a:prstGeom prst="rect">
            <a:avLst/>
          </a:prstGeom>
          <a:noFill/>
          <a:ln w="9525">
            <a:noFill/>
          </a:ln>
          <a:extLst>
            <a:ext uri="{909E8E84-426E-40DD-AFC4-6F175D3DCCD1}">
              <a14:hiddenFill xmlns:a14="http://schemas.microsoft.com/office/drawing/2010/main">
                <a:solidFill>
                  <a:schemeClr val="bg1"/>
                </a:solidFill>
              </a14:hiddenFill>
            </a:ext>
          </a:extLst>
        </p:spPr>
        <p:txBody>
          <a:bodyPr lIns="0" tIns="0" rIns="0" bIns="0" anchor="t" anchorCtr="0">
            <a:spAutoFit/>
          </a:bodyPr>
          <a:p>
            <a:pPr>
              <a:spcBef>
                <a:spcPct val="50000"/>
              </a:spcBef>
            </a:pPr>
            <a:r>
              <a:rPr lang="zh-CN" altLang="en-US" sz="1200" b="1" dirty="0">
                <a:solidFill>
                  <a:schemeClr val="accent2"/>
                </a:solidFill>
                <a:latin typeface="Times New Roman" pitchFamily="18" charset="0"/>
                <a:ea typeface="宋体" panose="02000500000000000000" pitchFamily="2" charset="-122"/>
              </a:rPr>
              <a:t>修改寄存器</a:t>
            </a:r>
            <a:endParaRPr lang="zh-CN" altLang="en-US" sz="1200" b="1" dirty="0">
              <a:solidFill>
                <a:schemeClr val="accent2"/>
              </a:solidFill>
              <a:latin typeface="Times New Roman" pitchFamily="18" charset="0"/>
              <a:ea typeface="宋体" panose="02000500000000000000" pitchFamily="2" charset="-122"/>
            </a:endParaRPr>
          </a:p>
        </p:txBody>
      </p:sp>
      <p:sp>
        <p:nvSpPr>
          <p:cNvPr id="47143" name="Line 37"/>
          <p:cNvSpPr/>
          <p:nvPr/>
        </p:nvSpPr>
        <p:spPr>
          <a:xfrm flipH="1" flipV="1">
            <a:off x="7879715" y="4688205"/>
            <a:ext cx="8255" cy="252095"/>
          </a:xfrm>
          <a:prstGeom prst="line">
            <a:avLst/>
          </a:prstGeom>
          <a:ln w="19050" cap="flat" cmpd="sng">
            <a:solidFill>
              <a:schemeClr val="accent2"/>
            </a:solidFill>
            <a:prstDash val="solid"/>
            <a:round/>
            <a:headEnd type="none" w="med" len="med"/>
            <a:tailEnd type="triangle" w="med" len="med"/>
          </a:ln>
        </p:spPr>
      </p:sp>
      <p:sp>
        <p:nvSpPr>
          <p:cNvPr id="47144" name="Line 38"/>
          <p:cNvSpPr/>
          <p:nvPr/>
        </p:nvSpPr>
        <p:spPr>
          <a:xfrm>
            <a:off x="4868545" y="3616325"/>
            <a:ext cx="6222365" cy="13970"/>
          </a:xfrm>
          <a:prstGeom prst="line">
            <a:avLst/>
          </a:prstGeom>
          <a:ln w="19050" cap="flat" cmpd="sng">
            <a:solidFill>
              <a:schemeClr val="accent2"/>
            </a:solidFill>
            <a:prstDash val="solid"/>
            <a:round/>
            <a:headEnd type="none" w="med" len="med"/>
            <a:tailEnd type="none" w="med" len="med"/>
          </a:ln>
        </p:spPr>
      </p:sp>
      <p:sp>
        <p:nvSpPr>
          <p:cNvPr id="47146" name="Line 41"/>
          <p:cNvSpPr/>
          <p:nvPr/>
        </p:nvSpPr>
        <p:spPr>
          <a:xfrm flipH="1" flipV="1">
            <a:off x="4877435" y="3028315"/>
            <a:ext cx="14605" cy="1934210"/>
          </a:xfrm>
          <a:prstGeom prst="line">
            <a:avLst/>
          </a:prstGeom>
          <a:ln w="19050" cap="flat" cmpd="sng">
            <a:solidFill>
              <a:schemeClr val="accent2"/>
            </a:solidFill>
            <a:prstDash val="solid"/>
            <a:round/>
            <a:headEnd type="none" w="med" len="med"/>
            <a:tailEnd type="triangle" w="med" len="med"/>
          </a:ln>
        </p:spPr>
      </p:sp>
      <p:sp>
        <p:nvSpPr>
          <p:cNvPr id="46082" name="Rectangle 3"/>
          <p:cNvSpPr/>
          <p:nvPr/>
        </p:nvSpPr>
        <p:spPr>
          <a:xfrm>
            <a:off x="912813" y="420688"/>
            <a:ext cx="10361612" cy="523875"/>
          </a:xfrm>
          <a:prstGeom prst="rect">
            <a:avLst/>
          </a:prstGeom>
          <a:noFill/>
          <a:ln w="9525">
            <a:noFill/>
          </a:ln>
        </p:spPr>
        <p:txBody>
          <a:bodyPr anchor="ctr" anchorCtr="0"/>
          <a:p>
            <a:pPr algn="ctr"/>
            <a:r>
              <a:rPr lang="zh-CN" sz="3200" dirty="0">
                <a:solidFill>
                  <a:srgbClr val="FF0000"/>
                </a:solidFill>
                <a:latin typeface="Arial" panose="02080604020202020204" pitchFamily="34" charset="0"/>
                <a:ea typeface="黑体" panose="02000500000000000000" pitchFamily="49" charset="-122"/>
              </a:rPr>
              <a:t>例子</a:t>
            </a:r>
            <a:endParaRPr lang="zh-CN" sz="3200" dirty="0">
              <a:solidFill>
                <a:srgbClr val="FF0000"/>
              </a:solidFill>
              <a:latin typeface="Arial" panose="02080604020202020204" pitchFamily="34" charset="0"/>
              <a:ea typeface="黑体" panose="02000500000000000000" pitchFamily="49" charset="-122"/>
            </a:endParaRPr>
          </a:p>
        </p:txBody>
      </p:sp>
      <p:sp>
        <p:nvSpPr>
          <p:cNvPr id="50177" name="Text Box 2"/>
          <p:cNvSpPr txBox="1"/>
          <p:nvPr/>
        </p:nvSpPr>
        <p:spPr>
          <a:xfrm>
            <a:off x="222250" y="2665413"/>
            <a:ext cx="3992563" cy="414020"/>
          </a:xfrm>
          <a:prstGeom prst="rect">
            <a:avLst/>
          </a:prstGeom>
          <a:noFill/>
          <a:ln w="9525">
            <a:noFill/>
          </a:ln>
        </p:spPr>
        <p:txBody>
          <a:bodyPr anchor="t" anchorCtr="0">
            <a:spAutoFit/>
          </a:bodyPr>
          <a:p>
            <a:pPr>
              <a:lnSpc>
                <a:spcPct val="150000"/>
              </a:lnSpc>
              <a:buChar char="•"/>
            </a:pPr>
            <a:r>
              <a:rPr lang="en-US" altLang="zh-CN" sz="1400" dirty="0">
                <a:solidFill>
                  <a:srgbClr val="FF0000"/>
                </a:solidFill>
                <a:latin typeface="宋体" panose="02000500000000000000" pitchFamily="2" charset="-122"/>
                <a:cs typeface="宋体" panose="02000500000000000000" pitchFamily="2" charset="-122"/>
              </a:rPr>
              <a:t>DIV</a:t>
            </a:r>
            <a:r>
              <a:rPr lang="zh-CN" altLang="zh-CN" sz="1400" dirty="0">
                <a:solidFill>
                  <a:srgbClr val="FF0000"/>
                </a:solidFill>
                <a:latin typeface="宋体" panose="02000500000000000000" pitchFamily="2" charset="-122"/>
                <a:cs typeface="宋体" panose="02000500000000000000" pitchFamily="2" charset="-122"/>
              </a:rPr>
              <a:t>发射，</a:t>
            </a:r>
            <a:r>
              <a:rPr lang="en-US" altLang="zh-CN" sz="1400" dirty="0">
                <a:solidFill>
                  <a:srgbClr val="FF0000"/>
                </a:solidFill>
                <a:latin typeface="宋体" panose="02000500000000000000" pitchFamily="2" charset="-122"/>
                <a:cs typeface="宋体" panose="02000500000000000000" pitchFamily="2" charset="-122"/>
              </a:rPr>
              <a:t>F1, F2</a:t>
            </a:r>
            <a:r>
              <a:rPr lang="zh-CN" altLang="zh-CN" sz="1400" dirty="0">
                <a:solidFill>
                  <a:srgbClr val="FF0000"/>
                </a:solidFill>
                <a:latin typeface="宋体" panose="02000500000000000000" pitchFamily="2" charset="-122"/>
                <a:cs typeface="宋体" panose="02000500000000000000" pitchFamily="2" charset="-122"/>
              </a:rPr>
              <a:t>都准备好</a:t>
            </a:r>
            <a:endParaRPr lang="zh-CN" altLang="en-US" sz="1200" dirty="0">
              <a:latin typeface="宋体" panose="02000500000000000000" pitchFamily="2" charset="-122"/>
              <a:cs typeface="宋体" panose="02000500000000000000" pitchFamily="2" charset="-122"/>
            </a:endParaRPr>
          </a:p>
        </p:txBody>
      </p:sp>
      <p:sp>
        <p:nvSpPr>
          <p:cNvPr id="50195" name="Text Box 44"/>
          <p:cNvSpPr txBox="1"/>
          <p:nvPr/>
        </p:nvSpPr>
        <p:spPr>
          <a:xfrm>
            <a:off x="8543925" y="1232218"/>
            <a:ext cx="938213" cy="184150"/>
          </a:xfrm>
          <a:prstGeom prst="rect">
            <a:avLst/>
          </a:prstGeom>
          <a:solidFill>
            <a:schemeClr val="bg1"/>
          </a:solidFill>
          <a:ln w="9525">
            <a:noFill/>
          </a:ln>
        </p:spPr>
        <p:txBody>
          <a:bodyPr lIns="0" tIns="0" rIns="0" bIns="0" anchor="t" anchorCtr="0">
            <a:spAutoFit/>
          </a:bodyPr>
          <a:p>
            <a:pPr>
              <a:spcBef>
                <a:spcPct val="50000"/>
              </a:spcBef>
            </a:pPr>
            <a:r>
              <a:rPr lang="zh-CN" altLang="en-US" sz="1200" b="1" dirty="0">
                <a:solidFill>
                  <a:srgbClr val="FF0000"/>
                </a:solidFill>
                <a:latin typeface="Times New Roman" pitchFamily="18" charset="0"/>
                <a:ea typeface="宋体" panose="02000500000000000000" pitchFamily="2" charset="-122"/>
              </a:rPr>
              <a:t>结果总线</a:t>
            </a:r>
            <a:endParaRPr lang="zh-CN" altLang="en-US" sz="1200" b="1" dirty="0">
              <a:solidFill>
                <a:srgbClr val="FF0000"/>
              </a:solidFill>
              <a:latin typeface="Times New Roman" pitchFamily="18" charset="0"/>
              <a:ea typeface="宋体" panose="02000500000000000000" pitchFamily="2"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51" name="Line 52"/>
          <p:cNvSpPr/>
          <p:nvPr/>
        </p:nvSpPr>
        <p:spPr>
          <a:xfrm flipV="1">
            <a:off x="7390765" y="2116455"/>
            <a:ext cx="0" cy="335280"/>
          </a:xfrm>
          <a:prstGeom prst="line">
            <a:avLst/>
          </a:prstGeom>
          <a:ln w="9525" cap="flat" cmpd="sng">
            <a:solidFill>
              <a:schemeClr val="tx1"/>
            </a:solidFill>
            <a:prstDash val="solid"/>
            <a:round/>
            <a:headEnd type="none" w="med" len="med"/>
            <a:tailEnd type="triangle" w="med" len="med"/>
          </a:ln>
        </p:spPr>
      </p:sp>
      <p:sp>
        <p:nvSpPr>
          <p:cNvPr id="31752" name="Line 53"/>
          <p:cNvSpPr/>
          <p:nvPr/>
        </p:nvSpPr>
        <p:spPr>
          <a:xfrm flipV="1">
            <a:off x="8270875" y="2116455"/>
            <a:ext cx="0" cy="335280"/>
          </a:xfrm>
          <a:prstGeom prst="line">
            <a:avLst/>
          </a:prstGeom>
          <a:ln w="9525" cap="flat" cmpd="sng">
            <a:solidFill>
              <a:schemeClr val="tx1"/>
            </a:solidFill>
            <a:prstDash val="solid"/>
            <a:round/>
            <a:headEnd type="none" w="med" len="med"/>
            <a:tailEnd type="triangle" w="med" len="med"/>
          </a:ln>
        </p:spPr>
      </p:sp>
      <p:sp>
        <p:nvSpPr>
          <p:cNvPr id="31753" name="Line 54"/>
          <p:cNvSpPr/>
          <p:nvPr/>
        </p:nvSpPr>
        <p:spPr>
          <a:xfrm flipV="1">
            <a:off x="10353675" y="2103755"/>
            <a:ext cx="0" cy="335280"/>
          </a:xfrm>
          <a:prstGeom prst="line">
            <a:avLst/>
          </a:prstGeom>
          <a:ln w="9525" cap="flat" cmpd="sng">
            <a:solidFill>
              <a:schemeClr val="tx1"/>
            </a:solidFill>
            <a:prstDash val="solid"/>
            <a:round/>
            <a:headEnd type="none" w="med" len="med"/>
            <a:tailEnd type="triangle" w="med" len="med"/>
          </a:ln>
        </p:spPr>
      </p:sp>
      <p:sp>
        <p:nvSpPr>
          <p:cNvPr id="31754" name="Line 55"/>
          <p:cNvSpPr/>
          <p:nvPr/>
        </p:nvSpPr>
        <p:spPr>
          <a:xfrm flipV="1">
            <a:off x="11301730" y="2091055"/>
            <a:ext cx="0" cy="335280"/>
          </a:xfrm>
          <a:prstGeom prst="line">
            <a:avLst/>
          </a:prstGeom>
          <a:ln w="9525" cap="flat" cmpd="sng">
            <a:solidFill>
              <a:schemeClr val="tx1"/>
            </a:solidFill>
            <a:prstDash val="solid"/>
            <a:round/>
            <a:headEnd type="none" w="med" len="med"/>
            <a:tailEnd type="triangle" w="med" len="med"/>
          </a:ln>
        </p:spPr>
      </p:sp>
      <p:sp>
        <p:nvSpPr>
          <p:cNvPr id="31755" name="Line 56"/>
          <p:cNvSpPr/>
          <p:nvPr/>
        </p:nvSpPr>
        <p:spPr>
          <a:xfrm flipV="1">
            <a:off x="8137525" y="4694555"/>
            <a:ext cx="0" cy="617855"/>
          </a:xfrm>
          <a:prstGeom prst="line">
            <a:avLst/>
          </a:prstGeom>
          <a:ln w="19050" cap="flat" cmpd="sng">
            <a:solidFill>
              <a:schemeClr val="tx1"/>
            </a:solidFill>
            <a:prstDash val="solid"/>
            <a:round/>
            <a:headEnd type="none" w="med" len="med"/>
            <a:tailEnd type="triangle" w="med" len="med"/>
          </a:ln>
        </p:spPr>
      </p:sp>
      <p:sp>
        <p:nvSpPr>
          <p:cNvPr id="31756" name="Line 57"/>
          <p:cNvSpPr/>
          <p:nvPr/>
        </p:nvSpPr>
        <p:spPr>
          <a:xfrm flipV="1">
            <a:off x="7794625" y="3044825"/>
            <a:ext cx="0" cy="247650"/>
          </a:xfrm>
          <a:prstGeom prst="line">
            <a:avLst/>
          </a:prstGeom>
          <a:ln w="19050" cap="flat" cmpd="sng">
            <a:solidFill>
              <a:schemeClr val="tx1"/>
            </a:solidFill>
            <a:prstDash val="solid"/>
            <a:round/>
            <a:headEnd type="none" w="med" len="med"/>
            <a:tailEnd type="triangle" w="med" len="med"/>
          </a:ln>
        </p:spPr>
      </p:sp>
      <p:sp>
        <p:nvSpPr>
          <p:cNvPr id="31757" name="Line 58"/>
          <p:cNvSpPr/>
          <p:nvPr/>
        </p:nvSpPr>
        <p:spPr>
          <a:xfrm flipV="1">
            <a:off x="10788015" y="3037205"/>
            <a:ext cx="0" cy="260350"/>
          </a:xfrm>
          <a:prstGeom prst="line">
            <a:avLst/>
          </a:prstGeom>
          <a:ln w="19050" cap="flat" cmpd="sng">
            <a:solidFill>
              <a:schemeClr val="tx1"/>
            </a:solidFill>
            <a:prstDash val="solid"/>
            <a:round/>
            <a:headEnd type="none" w="med" len="med"/>
            <a:tailEnd type="triangle" w="med" len="med"/>
          </a:ln>
        </p:spPr>
      </p:sp>
      <p:sp>
        <p:nvSpPr>
          <p:cNvPr id="31758" name="Line 59"/>
          <p:cNvSpPr/>
          <p:nvPr/>
        </p:nvSpPr>
        <p:spPr>
          <a:xfrm flipV="1">
            <a:off x="10813415" y="1449705"/>
            <a:ext cx="0" cy="370205"/>
          </a:xfrm>
          <a:prstGeom prst="line">
            <a:avLst/>
          </a:prstGeom>
          <a:ln w="19050" cap="flat" cmpd="sng">
            <a:solidFill>
              <a:srgbClr val="FF0000"/>
            </a:solidFill>
            <a:prstDash val="solid"/>
            <a:round/>
            <a:headEnd type="none" w="med" len="med"/>
            <a:tailEnd type="triangle" w="med" len="med"/>
          </a:ln>
        </p:spPr>
      </p:sp>
      <p:sp>
        <p:nvSpPr>
          <p:cNvPr id="31759" name="Line 60"/>
          <p:cNvSpPr/>
          <p:nvPr/>
        </p:nvSpPr>
        <p:spPr>
          <a:xfrm flipV="1">
            <a:off x="7881620" y="1466850"/>
            <a:ext cx="0" cy="370205"/>
          </a:xfrm>
          <a:prstGeom prst="line">
            <a:avLst/>
          </a:prstGeom>
          <a:ln w="19050" cap="flat" cmpd="sng">
            <a:solidFill>
              <a:schemeClr val="tx1"/>
            </a:solidFill>
            <a:prstDash val="solid"/>
            <a:round/>
            <a:headEnd type="none" w="med" len="med"/>
            <a:tailEnd type="triangle" w="med" len="med"/>
          </a:ln>
        </p:spPr>
      </p:sp>
      <p:sp>
        <p:nvSpPr>
          <p:cNvPr id="31760" name="Line 61"/>
          <p:cNvSpPr/>
          <p:nvPr/>
        </p:nvSpPr>
        <p:spPr>
          <a:xfrm>
            <a:off x="5155565" y="1460500"/>
            <a:ext cx="7009765" cy="0"/>
          </a:xfrm>
          <a:prstGeom prst="line">
            <a:avLst/>
          </a:prstGeom>
          <a:ln w="19050" cap="flat" cmpd="sng">
            <a:solidFill>
              <a:srgbClr val="FF0000"/>
            </a:solidFill>
            <a:prstDash val="solid"/>
            <a:round/>
            <a:headEnd type="none" w="med" len="med"/>
            <a:tailEnd type="none" w="med" len="med"/>
          </a:ln>
        </p:spPr>
      </p:sp>
      <p:sp>
        <p:nvSpPr>
          <p:cNvPr id="31761" name="Line 62"/>
          <p:cNvSpPr/>
          <p:nvPr/>
        </p:nvSpPr>
        <p:spPr>
          <a:xfrm flipH="1" flipV="1">
            <a:off x="7160895" y="3035300"/>
            <a:ext cx="635" cy="389255"/>
          </a:xfrm>
          <a:prstGeom prst="line">
            <a:avLst/>
          </a:prstGeom>
          <a:ln w="19050" cap="flat" cmpd="sng">
            <a:solidFill>
              <a:srgbClr val="FF0000"/>
            </a:solidFill>
            <a:prstDash val="solid"/>
            <a:round/>
            <a:headEnd type="none" w="med" len="med"/>
            <a:tailEnd type="triangle" w="med" len="med"/>
          </a:ln>
        </p:spPr>
      </p:sp>
      <p:sp>
        <p:nvSpPr>
          <p:cNvPr id="31762" name="Line 63"/>
          <p:cNvSpPr/>
          <p:nvPr/>
        </p:nvSpPr>
        <p:spPr>
          <a:xfrm flipV="1">
            <a:off x="11272520" y="3027680"/>
            <a:ext cx="635" cy="410845"/>
          </a:xfrm>
          <a:prstGeom prst="line">
            <a:avLst/>
          </a:prstGeom>
          <a:ln w="19050" cap="flat" cmpd="sng">
            <a:solidFill>
              <a:srgbClr val="FF0000"/>
            </a:solidFill>
            <a:prstDash val="solid"/>
            <a:round/>
            <a:headEnd type="none" w="med" len="med"/>
            <a:tailEnd type="triangle" w="med" len="med"/>
          </a:ln>
        </p:spPr>
      </p:sp>
      <p:sp>
        <p:nvSpPr>
          <p:cNvPr id="31763" name="Line 64"/>
          <p:cNvSpPr/>
          <p:nvPr/>
        </p:nvSpPr>
        <p:spPr>
          <a:xfrm>
            <a:off x="12150725" y="1463040"/>
            <a:ext cx="635" cy="3496945"/>
          </a:xfrm>
          <a:prstGeom prst="line">
            <a:avLst/>
          </a:prstGeom>
          <a:ln w="19050" cap="flat" cmpd="sng">
            <a:solidFill>
              <a:srgbClr val="FF0000"/>
            </a:solidFill>
            <a:prstDash val="solid"/>
            <a:round/>
            <a:headEnd type="none" w="med" len="med"/>
            <a:tailEnd type="none" w="med" len="med"/>
          </a:ln>
        </p:spPr>
      </p:sp>
      <p:sp>
        <p:nvSpPr>
          <p:cNvPr id="31764" name="Line 65"/>
          <p:cNvSpPr/>
          <p:nvPr/>
        </p:nvSpPr>
        <p:spPr>
          <a:xfrm flipV="1">
            <a:off x="8114665" y="3270250"/>
            <a:ext cx="0" cy="581025"/>
          </a:xfrm>
          <a:prstGeom prst="line">
            <a:avLst/>
          </a:prstGeom>
          <a:ln w="19050" cap="flat" cmpd="sng">
            <a:solidFill>
              <a:schemeClr val="tx1"/>
            </a:solidFill>
            <a:prstDash val="solid"/>
            <a:round/>
            <a:headEnd type="none" w="med" len="med"/>
            <a:tailEnd type="triangle" w="med" len="med"/>
          </a:ln>
        </p:spPr>
      </p:sp>
      <p:sp>
        <p:nvSpPr>
          <p:cNvPr id="31765" name="Text Box 66"/>
          <p:cNvSpPr txBox="1"/>
          <p:nvPr/>
        </p:nvSpPr>
        <p:spPr>
          <a:xfrm>
            <a:off x="6283960" y="2246630"/>
            <a:ext cx="1039495" cy="18415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加法保留站</a:t>
            </a:r>
            <a:endParaRPr lang="zh-CN" altLang="en-US" sz="1200" b="1" dirty="0">
              <a:latin typeface="Times New Roman" pitchFamily="18" charset="0"/>
              <a:ea typeface="宋体" panose="02000500000000000000" pitchFamily="2" charset="-122"/>
            </a:endParaRPr>
          </a:p>
        </p:txBody>
      </p:sp>
      <p:sp>
        <p:nvSpPr>
          <p:cNvPr id="31766" name="Text Box 67"/>
          <p:cNvSpPr txBox="1"/>
          <p:nvPr/>
        </p:nvSpPr>
        <p:spPr>
          <a:xfrm>
            <a:off x="6925310" y="3675380"/>
            <a:ext cx="1090295" cy="184150"/>
          </a:xfrm>
          <a:prstGeom prst="rect">
            <a:avLst/>
          </a:prstGeom>
          <a:noFill/>
          <a:ln w="9525">
            <a:noFill/>
          </a:ln>
          <a:extLst>
            <a:ext uri="{909E8E84-426E-40DD-AFC4-6F175D3DCCD1}">
              <a14:hiddenFill xmlns:a14="http://schemas.microsoft.com/office/drawing/2010/main">
                <a:solidFill>
                  <a:schemeClr val="bg1"/>
                </a:solidFill>
              </a14:hiddenFill>
            </a:ext>
          </a:extLst>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浮点寄存器</a:t>
            </a:r>
            <a:endParaRPr lang="zh-CN" altLang="en-US" sz="1200" b="1" dirty="0">
              <a:latin typeface="Times New Roman" pitchFamily="18" charset="0"/>
              <a:ea typeface="宋体" panose="02000500000000000000" pitchFamily="2" charset="-122"/>
            </a:endParaRPr>
          </a:p>
        </p:txBody>
      </p:sp>
      <p:sp>
        <p:nvSpPr>
          <p:cNvPr id="31767" name="Text Box 68"/>
          <p:cNvSpPr txBox="1"/>
          <p:nvPr/>
        </p:nvSpPr>
        <p:spPr>
          <a:xfrm>
            <a:off x="9289415" y="2235200"/>
            <a:ext cx="1039495" cy="18415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乘法保留站</a:t>
            </a:r>
            <a:endParaRPr lang="zh-CN" altLang="en-US" sz="1200" b="1" dirty="0">
              <a:latin typeface="Times New Roman" pitchFamily="18" charset="0"/>
              <a:ea typeface="宋体" panose="02000500000000000000" pitchFamily="2" charset="-122"/>
            </a:endParaRPr>
          </a:p>
        </p:txBody>
      </p:sp>
      <p:sp>
        <p:nvSpPr>
          <p:cNvPr id="31768" name="Line 69"/>
          <p:cNvSpPr/>
          <p:nvPr/>
        </p:nvSpPr>
        <p:spPr>
          <a:xfrm>
            <a:off x="10807065" y="4959985"/>
            <a:ext cx="1358265" cy="635"/>
          </a:xfrm>
          <a:prstGeom prst="line">
            <a:avLst/>
          </a:prstGeom>
          <a:ln w="19050" cap="flat" cmpd="sng">
            <a:solidFill>
              <a:srgbClr val="FF0000"/>
            </a:solidFill>
            <a:prstDash val="solid"/>
            <a:round/>
            <a:headEnd type="none" w="med" len="med"/>
            <a:tailEnd type="none" w="med" len="med"/>
          </a:ln>
        </p:spPr>
      </p:sp>
      <p:sp>
        <p:nvSpPr>
          <p:cNvPr id="31769" name="Line 70"/>
          <p:cNvSpPr/>
          <p:nvPr/>
        </p:nvSpPr>
        <p:spPr>
          <a:xfrm flipV="1">
            <a:off x="10812145" y="4701540"/>
            <a:ext cx="1905" cy="260350"/>
          </a:xfrm>
          <a:prstGeom prst="line">
            <a:avLst/>
          </a:prstGeom>
          <a:ln w="19050" cap="flat" cmpd="sng">
            <a:solidFill>
              <a:srgbClr val="FF0000"/>
            </a:solidFill>
            <a:prstDash val="solid"/>
            <a:round/>
            <a:headEnd type="none" w="med" len="med"/>
            <a:tailEnd type="triangle" w="med" len="med"/>
          </a:ln>
        </p:spPr>
      </p:sp>
      <p:grpSp>
        <p:nvGrpSpPr>
          <p:cNvPr id="31772" name="Group 73"/>
          <p:cNvGrpSpPr/>
          <p:nvPr/>
        </p:nvGrpSpPr>
        <p:grpSpPr>
          <a:xfrm rot="0">
            <a:off x="4488815" y="1461135"/>
            <a:ext cx="7679055" cy="1970389"/>
            <a:chOff x="1701" y="512"/>
            <a:chExt cx="3628" cy="1241"/>
          </a:xfrm>
        </p:grpSpPr>
        <p:sp>
          <p:nvSpPr>
            <p:cNvPr id="31773" name="Line 74"/>
            <p:cNvSpPr/>
            <p:nvPr/>
          </p:nvSpPr>
          <p:spPr>
            <a:xfrm flipV="1">
              <a:off x="2154" y="1661"/>
              <a:ext cx="2518" cy="0"/>
            </a:xfrm>
            <a:prstGeom prst="line">
              <a:avLst/>
            </a:prstGeom>
            <a:ln w="19050" cap="flat" cmpd="sng">
              <a:solidFill>
                <a:schemeClr val="tx1"/>
              </a:solidFill>
              <a:prstDash val="solid"/>
              <a:round/>
              <a:headEnd type="none" w="med" len="med"/>
              <a:tailEnd type="none" w="med" len="med"/>
            </a:ln>
          </p:spPr>
        </p:sp>
        <p:sp>
          <p:nvSpPr>
            <p:cNvPr id="31774" name="Line 75"/>
            <p:cNvSpPr/>
            <p:nvPr/>
          </p:nvSpPr>
          <p:spPr>
            <a:xfrm flipV="1">
              <a:off x="2010" y="1753"/>
              <a:ext cx="3319" cy="0"/>
            </a:xfrm>
            <a:prstGeom prst="line">
              <a:avLst/>
            </a:prstGeom>
            <a:ln w="19050" cap="flat" cmpd="sng">
              <a:solidFill>
                <a:srgbClr val="FF0000"/>
              </a:solidFill>
              <a:prstDash val="solid"/>
              <a:round/>
              <a:headEnd type="none" w="med" len="med"/>
              <a:tailEnd type="none" w="med" len="med"/>
            </a:ln>
          </p:spPr>
        </p:sp>
        <p:grpSp>
          <p:nvGrpSpPr>
            <p:cNvPr id="31775" name="Group 76"/>
            <p:cNvGrpSpPr/>
            <p:nvPr/>
          </p:nvGrpSpPr>
          <p:grpSpPr>
            <a:xfrm>
              <a:off x="1701" y="512"/>
              <a:ext cx="3494" cy="1239"/>
              <a:chOff x="1701" y="512"/>
              <a:chExt cx="3494" cy="1239"/>
            </a:xfrm>
          </p:grpSpPr>
          <p:grpSp>
            <p:nvGrpSpPr>
              <p:cNvPr id="31776" name="Group 77"/>
              <p:cNvGrpSpPr/>
              <p:nvPr/>
            </p:nvGrpSpPr>
            <p:grpSpPr>
              <a:xfrm>
                <a:off x="2019" y="512"/>
                <a:ext cx="135" cy="1239"/>
                <a:chOff x="2019" y="512"/>
                <a:chExt cx="135" cy="1239"/>
              </a:xfrm>
            </p:grpSpPr>
            <p:sp>
              <p:nvSpPr>
                <p:cNvPr id="31777" name="Line 78"/>
                <p:cNvSpPr/>
                <p:nvPr/>
              </p:nvSpPr>
              <p:spPr>
                <a:xfrm flipV="1">
                  <a:off x="2022" y="512"/>
                  <a:ext cx="0" cy="233"/>
                </a:xfrm>
                <a:prstGeom prst="line">
                  <a:avLst/>
                </a:prstGeom>
                <a:ln w="19050" cap="flat" cmpd="sng">
                  <a:solidFill>
                    <a:schemeClr val="tx1"/>
                  </a:solidFill>
                  <a:prstDash val="solid"/>
                  <a:round/>
                  <a:headEnd type="none" w="med" len="med"/>
                  <a:tailEnd type="triangle" w="med" len="med"/>
                </a:ln>
              </p:spPr>
            </p:sp>
            <p:sp>
              <p:nvSpPr>
                <p:cNvPr id="31778" name="Line 79"/>
                <p:cNvSpPr/>
                <p:nvPr/>
              </p:nvSpPr>
              <p:spPr>
                <a:xfrm flipH="1" flipV="1">
                  <a:off x="2019" y="1502"/>
                  <a:ext cx="3" cy="249"/>
                </a:xfrm>
                <a:prstGeom prst="line">
                  <a:avLst/>
                </a:prstGeom>
                <a:ln w="19050" cap="flat" cmpd="sng">
                  <a:solidFill>
                    <a:srgbClr val="FF0000"/>
                  </a:solidFill>
                  <a:prstDash val="solid"/>
                  <a:round/>
                  <a:headEnd type="none" w="med" len="med"/>
                  <a:tailEnd type="triangle" w="med" len="med"/>
                </a:ln>
              </p:spPr>
            </p:sp>
            <p:sp>
              <p:nvSpPr>
                <p:cNvPr id="31779" name="Line 80"/>
                <p:cNvSpPr/>
                <p:nvPr/>
              </p:nvSpPr>
              <p:spPr>
                <a:xfrm flipV="1">
                  <a:off x="2154" y="1508"/>
                  <a:ext cx="0" cy="156"/>
                </a:xfrm>
                <a:prstGeom prst="line">
                  <a:avLst/>
                </a:prstGeom>
                <a:ln w="19050" cap="flat" cmpd="sng">
                  <a:solidFill>
                    <a:schemeClr val="tx1"/>
                  </a:solidFill>
                  <a:prstDash val="solid"/>
                  <a:round/>
                  <a:headEnd type="none" w="med" len="med"/>
                  <a:tailEnd type="triangle" w="med" len="med"/>
                </a:ln>
              </p:spPr>
            </p:sp>
          </p:grpSp>
          <p:sp>
            <p:nvSpPr>
              <p:cNvPr id="31780" name="Text Box 81"/>
              <p:cNvSpPr txBox="1"/>
              <p:nvPr/>
            </p:nvSpPr>
            <p:spPr>
              <a:xfrm>
                <a:off x="2777" y="750"/>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浮点加</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减法器</a:t>
                </a:r>
                <a:endParaRPr lang="zh-CN" altLang="en-US" sz="1200" b="1" dirty="0">
                  <a:latin typeface="Times New Roman" pitchFamily="18" charset="0"/>
                  <a:ea typeface="宋体" panose="02000500000000000000" pitchFamily="2" charset="-122"/>
                </a:endParaRPr>
              </a:p>
            </p:txBody>
          </p:sp>
          <p:sp>
            <p:nvSpPr>
              <p:cNvPr id="31781" name="Text Box 82"/>
              <p:cNvSpPr txBox="1"/>
              <p:nvPr/>
            </p:nvSpPr>
            <p:spPr>
              <a:xfrm>
                <a:off x="4181" y="737"/>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浮点乘</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除法器</a:t>
                </a:r>
                <a:endParaRPr lang="zh-CN" altLang="en-US" sz="1200" b="1" dirty="0">
                  <a:latin typeface="Times New Roman" pitchFamily="18" charset="0"/>
                  <a:ea typeface="宋体" panose="02000500000000000000" pitchFamily="2" charset="-122"/>
                </a:endParaRPr>
              </a:p>
            </p:txBody>
          </p:sp>
          <p:sp>
            <p:nvSpPr>
              <p:cNvPr id="31782" name="Text Box 83"/>
              <p:cNvSpPr txBox="1"/>
              <p:nvPr/>
            </p:nvSpPr>
            <p:spPr>
              <a:xfrm>
                <a:off x="1701" y="731"/>
                <a:ext cx="664" cy="771"/>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p>
                <a:pPr algn="ctr">
                  <a:spcBef>
                    <a:spcPct val="50000"/>
                  </a:spcBef>
                </a:pPr>
                <a:endParaRPr lang="en-US" altLang="zh-CN" sz="1200"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定点</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访存</a:t>
                </a:r>
                <a:endParaRPr lang="zh-CN" altLang="en-US" sz="1200" b="1"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部件</a:t>
                </a:r>
                <a:endParaRPr lang="zh-CN" altLang="en-US" sz="1200" b="1" dirty="0">
                  <a:latin typeface="Times New Roman" pitchFamily="18" charset="0"/>
                  <a:ea typeface="宋体" panose="02000500000000000000" pitchFamily="2" charset="-122"/>
                </a:endParaRPr>
              </a:p>
              <a:p>
                <a:pPr algn="ctr">
                  <a:spcBef>
                    <a:spcPct val="50000"/>
                  </a:spcBef>
                </a:pPr>
                <a:endParaRPr lang="en-US" altLang="zh-CN" sz="1200" b="1" dirty="0">
                  <a:latin typeface="Times New Roman" pitchFamily="18" charset="0"/>
                  <a:ea typeface="宋体" panose="02000500000000000000" pitchFamily="2" charset="-122"/>
                </a:endParaRPr>
              </a:p>
            </p:txBody>
          </p:sp>
        </p:grpSp>
      </p:grpSp>
      <p:sp>
        <p:nvSpPr>
          <p:cNvPr id="31783" name="Text Box 84"/>
          <p:cNvSpPr txBox="1"/>
          <p:nvPr/>
        </p:nvSpPr>
        <p:spPr>
          <a:xfrm>
            <a:off x="6979920" y="5045075"/>
            <a:ext cx="1030605" cy="184150"/>
          </a:xfrm>
          <a:prstGeom prst="rect">
            <a:avLst/>
          </a:prstGeom>
          <a:solidFill>
            <a:schemeClr val="bg1"/>
          </a:solid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指令队列</a:t>
            </a:r>
            <a:endParaRPr lang="zh-CN" altLang="en-US" sz="1200" b="1" dirty="0">
              <a:latin typeface="Times New Roman" pitchFamily="18" charset="0"/>
              <a:ea typeface="宋体" panose="02000500000000000000" pitchFamily="2" charset="-122"/>
            </a:endParaRPr>
          </a:p>
        </p:txBody>
      </p:sp>
      <p:graphicFrame>
        <p:nvGraphicFramePr>
          <p:cNvPr id="3" name="表格 2"/>
          <p:cNvGraphicFramePr/>
          <p:nvPr/>
        </p:nvGraphicFramePr>
        <p:xfrm>
          <a:off x="6799580" y="3837940"/>
          <a:ext cx="2342515" cy="863600"/>
        </p:xfrm>
        <a:graphic>
          <a:graphicData uri="http://schemas.openxmlformats.org/drawingml/2006/table">
            <a:tbl>
              <a:tblPr firstRow="1" bandRow="1">
                <a:tableStyleId>{5C22544A-7EE6-4342-B048-85BDC9FD1C3A}</a:tableStyleId>
              </a:tblPr>
              <a:tblGrid>
                <a:gridCol w="365125"/>
                <a:gridCol w="450850"/>
                <a:gridCol w="1526540"/>
              </a:tblGrid>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2</a:t>
                      </a:r>
                      <a:endParaRPr lang="en-US" altLang="zh-CN" sz="1200" b="1">
                        <a:solidFill>
                          <a:srgbClr val="FF0000"/>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3.0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4" name="表格 3"/>
          <p:cNvGraphicFramePr/>
          <p:nvPr/>
        </p:nvGraphicFramePr>
        <p:xfrm>
          <a:off x="7167880" y="5311775"/>
          <a:ext cx="1930400" cy="1280160"/>
        </p:xfrm>
        <a:graphic>
          <a:graphicData uri="http://schemas.openxmlformats.org/drawingml/2006/table">
            <a:tbl>
              <a:tblPr firstRow="1" bandRow="1">
                <a:tableStyleId>{5C22544A-7EE6-4342-B048-85BDC9FD1C3A}</a:tableStyleId>
              </a:tblPr>
              <a:tblGrid>
                <a:gridCol w="1930400"/>
              </a:tblGrid>
              <a:tr h="213360">
                <a:tc>
                  <a:txBody>
                    <a:bodyPr/>
                    <a:p>
                      <a:pPr indent="0">
                        <a:buNone/>
                      </a:pPr>
                      <a:r>
                        <a:rPr lang="en-US" sz="1200" b="1">
                          <a:solidFill>
                            <a:schemeClr val="tx1"/>
                          </a:solidFill>
                          <a:latin typeface="宋体" panose="02000500000000000000" pitchFamily="2" charset="-122"/>
                          <a:ea typeface="宋体" panose="02000500000000000000" pitchFamily="2" charset="-122"/>
                        </a:rPr>
                        <a:t>FDIV.D  </a:t>
                      </a:r>
                      <a:r>
                        <a:rPr lang="en-US" sz="1200" b="1">
                          <a:solidFill>
                            <a:srgbClr val="FF0000"/>
                          </a:solidFill>
                          <a:latin typeface="宋体" panose="02000500000000000000" pitchFamily="2" charset="-122"/>
                          <a:ea typeface="宋体" panose="02000500000000000000" pitchFamily="2" charset="-122"/>
                        </a:rPr>
                        <a:t>F0</a:t>
                      </a:r>
                      <a:r>
                        <a:rPr lang="en-US" sz="1200" b="1">
                          <a:solidFill>
                            <a:schemeClr val="tx1"/>
                          </a:solidFill>
                          <a:latin typeface="宋体" panose="02000500000000000000" pitchFamily="2" charset="-122"/>
                          <a:ea typeface="宋体" panose="02000500000000000000" pitchFamily="2" charset="-122"/>
                        </a:rPr>
                        <a:t>, F1, F2</a:t>
                      </a:r>
                      <a:endParaRPr lang="en-US" altLang="en-US" sz="1200" b="1">
                        <a:solidFill>
                          <a:schemeClr val="tx1"/>
                        </a:solidFill>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FADD.D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F1,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5" name="表格 4"/>
          <p:cNvGraphicFramePr/>
          <p:nvPr/>
        </p:nvGraphicFramePr>
        <p:xfrm>
          <a:off x="9544050" y="243586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fdiv</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2</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fmul</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1</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zh-CN" altLang="en-US"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0</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2.0</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7" name="表格 6"/>
          <p:cNvGraphicFramePr/>
          <p:nvPr/>
        </p:nvGraphicFramePr>
        <p:xfrm>
          <a:off x="6577330" y="245618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9" name="表格 8"/>
          <p:cNvGraphicFramePr/>
          <p:nvPr/>
        </p:nvGraphicFramePr>
        <p:xfrm>
          <a:off x="9486900" y="3822700"/>
          <a:ext cx="2342515" cy="863600"/>
        </p:xfrm>
        <a:graphic>
          <a:graphicData uri="http://schemas.openxmlformats.org/drawingml/2006/table">
            <a:tbl>
              <a:tblPr firstRow="1" bandRow="1">
                <a:tableStyleId>{5C22544A-7EE6-4342-B048-85BDC9FD1C3A}</a:tableStyleId>
              </a:tblPr>
              <a:tblGrid>
                <a:gridCol w="221065"/>
                <a:gridCol w="382270"/>
                <a:gridCol w="387901"/>
                <a:gridCol w="1351279"/>
              </a:tblGrid>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4</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fmul</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f3</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fdiv</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f0</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sp>
        <p:nvSpPr>
          <p:cNvPr id="47115" name="Line 15"/>
          <p:cNvSpPr/>
          <p:nvPr/>
        </p:nvSpPr>
        <p:spPr>
          <a:xfrm flipH="1" flipV="1">
            <a:off x="11068050" y="3610610"/>
            <a:ext cx="9525" cy="215900"/>
          </a:xfrm>
          <a:prstGeom prst="line">
            <a:avLst/>
          </a:prstGeom>
          <a:ln w="19050" cap="flat" cmpd="sng">
            <a:solidFill>
              <a:schemeClr val="accent2"/>
            </a:solidFill>
            <a:prstDash val="solid"/>
            <a:round/>
            <a:headEnd type="none" w="med" len="med"/>
            <a:tailEnd type="none" w="med" len="med"/>
          </a:ln>
        </p:spPr>
      </p:sp>
      <p:sp>
        <p:nvSpPr>
          <p:cNvPr id="47131" name="Line 36"/>
          <p:cNvSpPr/>
          <p:nvPr/>
        </p:nvSpPr>
        <p:spPr>
          <a:xfrm flipV="1">
            <a:off x="4904105" y="4940935"/>
            <a:ext cx="2991485" cy="13970"/>
          </a:xfrm>
          <a:prstGeom prst="line">
            <a:avLst/>
          </a:prstGeom>
          <a:ln w="19050" cap="flat" cmpd="sng">
            <a:solidFill>
              <a:schemeClr val="accent2"/>
            </a:solidFill>
            <a:prstDash val="solid"/>
            <a:round/>
            <a:headEnd type="none" w="med" len="med"/>
            <a:tailEnd type="none" w="med" len="med"/>
          </a:ln>
        </p:spPr>
      </p:sp>
      <p:sp>
        <p:nvSpPr>
          <p:cNvPr id="47133" name="Text Box 43"/>
          <p:cNvSpPr txBox="1"/>
          <p:nvPr/>
        </p:nvSpPr>
        <p:spPr>
          <a:xfrm>
            <a:off x="5375910" y="4712335"/>
            <a:ext cx="1089025" cy="184150"/>
          </a:xfrm>
          <a:prstGeom prst="rect">
            <a:avLst/>
          </a:prstGeom>
          <a:noFill/>
          <a:ln w="9525">
            <a:noFill/>
          </a:ln>
          <a:extLst>
            <a:ext uri="{909E8E84-426E-40DD-AFC4-6F175D3DCCD1}">
              <a14:hiddenFill xmlns:a14="http://schemas.microsoft.com/office/drawing/2010/main">
                <a:solidFill>
                  <a:schemeClr val="bg1"/>
                </a:solidFill>
              </a14:hiddenFill>
            </a:ext>
          </a:extLst>
        </p:spPr>
        <p:txBody>
          <a:bodyPr lIns="0" tIns="0" rIns="0" bIns="0" anchor="t" anchorCtr="0">
            <a:spAutoFit/>
          </a:bodyPr>
          <a:p>
            <a:pPr>
              <a:spcBef>
                <a:spcPct val="50000"/>
              </a:spcBef>
            </a:pPr>
            <a:r>
              <a:rPr lang="zh-CN" altLang="en-US" sz="1200" b="1" dirty="0">
                <a:solidFill>
                  <a:schemeClr val="accent2"/>
                </a:solidFill>
                <a:latin typeface="Times New Roman" pitchFamily="18" charset="0"/>
                <a:ea typeface="宋体" panose="02000500000000000000" pitchFamily="2" charset="-122"/>
              </a:rPr>
              <a:t>修改寄存器</a:t>
            </a:r>
            <a:endParaRPr lang="zh-CN" altLang="en-US" sz="1200" b="1" dirty="0">
              <a:solidFill>
                <a:schemeClr val="accent2"/>
              </a:solidFill>
              <a:latin typeface="Times New Roman" pitchFamily="18" charset="0"/>
              <a:ea typeface="宋体" panose="02000500000000000000" pitchFamily="2" charset="-122"/>
            </a:endParaRPr>
          </a:p>
        </p:txBody>
      </p:sp>
      <p:sp>
        <p:nvSpPr>
          <p:cNvPr id="47143" name="Line 37"/>
          <p:cNvSpPr/>
          <p:nvPr/>
        </p:nvSpPr>
        <p:spPr>
          <a:xfrm flipH="1" flipV="1">
            <a:off x="7879715" y="4688205"/>
            <a:ext cx="8255" cy="252095"/>
          </a:xfrm>
          <a:prstGeom prst="line">
            <a:avLst/>
          </a:prstGeom>
          <a:ln w="19050" cap="flat" cmpd="sng">
            <a:solidFill>
              <a:schemeClr val="accent2"/>
            </a:solidFill>
            <a:prstDash val="solid"/>
            <a:round/>
            <a:headEnd type="none" w="med" len="med"/>
            <a:tailEnd type="triangle" w="med" len="med"/>
          </a:ln>
        </p:spPr>
      </p:sp>
      <p:sp>
        <p:nvSpPr>
          <p:cNvPr id="47144" name="Line 38"/>
          <p:cNvSpPr/>
          <p:nvPr/>
        </p:nvSpPr>
        <p:spPr>
          <a:xfrm>
            <a:off x="4868545" y="3616325"/>
            <a:ext cx="6222365" cy="13970"/>
          </a:xfrm>
          <a:prstGeom prst="line">
            <a:avLst/>
          </a:prstGeom>
          <a:ln w="19050" cap="flat" cmpd="sng">
            <a:solidFill>
              <a:schemeClr val="accent2"/>
            </a:solidFill>
            <a:prstDash val="solid"/>
            <a:round/>
            <a:headEnd type="none" w="med" len="med"/>
            <a:tailEnd type="none" w="med" len="med"/>
          </a:ln>
        </p:spPr>
      </p:sp>
      <p:sp>
        <p:nvSpPr>
          <p:cNvPr id="47146" name="Line 41"/>
          <p:cNvSpPr/>
          <p:nvPr/>
        </p:nvSpPr>
        <p:spPr>
          <a:xfrm flipH="1" flipV="1">
            <a:off x="4877435" y="3028315"/>
            <a:ext cx="14605" cy="1934210"/>
          </a:xfrm>
          <a:prstGeom prst="line">
            <a:avLst/>
          </a:prstGeom>
          <a:ln w="19050" cap="flat" cmpd="sng">
            <a:solidFill>
              <a:schemeClr val="accent2"/>
            </a:solidFill>
            <a:prstDash val="solid"/>
            <a:round/>
            <a:headEnd type="none" w="med" len="med"/>
            <a:tailEnd type="triangle" w="med" len="med"/>
          </a:ln>
        </p:spPr>
      </p:sp>
      <p:sp>
        <p:nvSpPr>
          <p:cNvPr id="46082" name="Rectangle 3"/>
          <p:cNvSpPr/>
          <p:nvPr/>
        </p:nvSpPr>
        <p:spPr>
          <a:xfrm>
            <a:off x="912813" y="420688"/>
            <a:ext cx="10361612" cy="523875"/>
          </a:xfrm>
          <a:prstGeom prst="rect">
            <a:avLst/>
          </a:prstGeom>
          <a:noFill/>
          <a:ln w="9525">
            <a:noFill/>
          </a:ln>
        </p:spPr>
        <p:txBody>
          <a:bodyPr anchor="ctr" anchorCtr="0"/>
          <a:p>
            <a:pPr algn="ctr"/>
            <a:r>
              <a:rPr lang="zh-CN" sz="3200" dirty="0">
                <a:solidFill>
                  <a:srgbClr val="FF0000"/>
                </a:solidFill>
                <a:latin typeface="Arial" panose="02080604020202020204" pitchFamily="34" charset="0"/>
                <a:ea typeface="黑体" panose="02000500000000000000" pitchFamily="49" charset="-122"/>
              </a:rPr>
              <a:t>例子</a:t>
            </a:r>
            <a:endParaRPr lang="zh-CN" sz="3200" dirty="0">
              <a:solidFill>
                <a:srgbClr val="FF0000"/>
              </a:solidFill>
              <a:latin typeface="Arial" panose="02080604020202020204" pitchFamily="34" charset="0"/>
              <a:ea typeface="黑体" panose="02000500000000000000" pitchFamily="49" charset="-122"/>
            </a:endParaRPr>
          </a:p>
        </p:txBody>
      </p:sp>
      <p:sp>
        <p:nvSpPr>
          <p:cNvPr id="50195" name="Text Box 44"/>
          <p:cNvSpPr txBox="1"/>
          <p:nvPr/>
        </p:nvSpPr>
        <p:spPr>
          <a:xfrm>
            <a:off x="8543925" y="1232218"/>
            <a:ext cx="938213" cy="184150"/>
          </a:xfrm>
          <a:prstGeom prst="rect">
            <a:avLst/>
          </a:prstGeom>
          <a:solidFill>
            <a:schemeClr val="bg1"/>
          </a:solidFill>
          <a:ln w="9525">
            <a:noFill/>
          </a:ln>
        </p:spPr>
        <p:txBody>
          <a:bodyPr lIns="0" tIns="0" rIns="0" bIns="0" anchor="t" anchorCtr="0">
            <a:spAutoFit/>
          </a:bodyPr>
          <a:p>
            <a:pPr>
              <a:spcBef>
                <a:spcPct val="50000"/>
              </a:spcBef>
            </a:pPr>
            <a:r>
              <a:rPr lang="zh-CN" altLang="en-US" sz="1200" b="1" dirty="0">
                <a:solidFill>
                  <a:srgbClr val="FF0000"/>
                </a:solidFill>
                <a:latin typeface="Times New Roman" pitchFamily="18" charset="0"/>
                <a:ea typeface="宋体" panose="02000500000000000000" pitchFamily="2" charset="-122"/>
              </a:rPr>
              <a:t>结果总线</a:t>
            </a:r>
            <a:endParaRPr lang="zh-CN" altLang="en-US" sz="1200" b="1" dirty="0">
              <a:solidFill>
                <a:srgbClr val="FF0000"/>
              </a:solidFill>
              <a:latin typeface="Times New Roman" pitchFamily="18" charset="0"/>
              <a:ea typeface="宋体" panose="02000500000000000000" pitchFamily="2" charset="-122"/>
            </a:endParaRPr>
          </a:p>
        </p:txBody>
      </p:sp>
      <p:sp>
        <p:nvSpPr>
          <p:cNvPr id="51220" name="Text Box 44"/>
          <p:cNvSpPr txBox="1"/>
          <p:nvPr/>
        </p:nvSpPr>
        <p:spPr>
          <a:xfrm>
            <a:off x="187325" y="2743200"/>
            <a:ext cx="4187825" cy="737235"/>
          </a:xfrm>
          <a:prstGeom prst="rect">
            <a:avLst/>
          </a:prstGeom>
          <a:noFill/>
          <a:ln w="9525">
            <a:noFill/>
          </a:ln>
        </p:spPr>
        <p:txBody>
          <a:bodyPr anchor="t" anchorCtr="0">
            <a:spAutoFit/>
          </a:bodyPr>
          <a:p>
            <a:pPr>
              <a:lnSpc>
                <a:spcPct val="150000"/>
              </a:lnSpc>
              <a:buChar char="•"/>
            </a:pPr>
            <a:r>
              <a:rPr lang="en-US" altLang="zh-CN" sz="1400" dirty="0">
                <a:solidFill>
                  <a:srgbClr val="000000"/>
                </a:solidFill>
                <a:latin typeface="宋体" panose="02000500000000000000" pitchFamily="2" charset="-122"/>
                <a:cs typeface="宋体" panose="02000500000000000000" pitchFamily="2" charset="-122"/>
              </a:rPr>
              <a:t>DIV</a:t>
            </a:r>
            <a:r>
              <a:rPr lang="zh-CN" altLang="zh-CN" sz="1400" dirty="0">
                <a:solidFill>
                  <a:srgbClr val="000000"/>
                </a:solidFill>
                <a:latin typeface="宋体" panose="02000500000000000000" pitchFamily="2" charset="-122"/>
                <a:cs typeface="宋体" panose="02000500000000000000" pitchFamily="2" charset="-122"/>
              </a:rPr>
              <a:t>发射，</a:t>
            </a:r>
            <a:r>
              <a:rPr lang="en-US" altLang="zh-CN" sz="1400" dirty="0">
                <a:solidFill>
                  <a:srgbClr val="000000"/>
                </a:solidFill>
                <a:latin typeface="宋体" panose="02000500000000000000" pitchFamily="2" charset="-122"/>
                <a:cs typeface="宋体" panose="02000500000000000000" pitchFamily="2" charset="-122"/>
              </a:rPr>
              <a:t>F1, F2</a:t>
            </a:r>
            <a:r>
              <a:rPr lang="zh-CN" altLang="zh-CN" sz="1400" dirty="0">
                <a:solidFill>
                  <a:srgbClr val="000000"/>
                </a:solidFill>
                <a:latin typeface="宋体" panose="02000500000000000000" pitchFamily="2" charset="-122"/>
                <a:cs typeface="宋体" panose="02000500000000000000" pitchFamily="2" charset="-122"/>
              </a:rPr>
              <a:t>都准备好</a:t>
            </a:r>
            <a:endParaRPr lang="zh-CN" altLang="zh-CN" sz="1400" dirty="0">
              <a:solidFill>
                <a:srgbClr val="000000"/>
              </a:solidFill>
              <a:latin typeface="宋体" panose="02000500000000000000" pitchFamily="2" charset="-122"/>
              <a:cs typeface="宋体" panose="02000500000000000000" pitchFamily="2" charset="-122"/>
            </a:endParaRPr>
          </a:p>
          <a:p>
            <a:pPr>
              <a:lnSpc>
                <a:spcPct val="150000"/>
              </a:lnSpc>
              <a:buChar char="•"/>
            </a:pPr>
            <a:r>
              <a:rPr lang="en-US" altLang="zh-CN" sz="1400" dirty="0">
                <a:solidFill>
                  <a:srgbClr val="FF0000"/>
                </a:solidFill>
                <a:latin typeface="宋体" panose="02000500000000000000" pitchFamily="2" charset="-122"/>
                <a:cs typeface="宋体" panose="02000500000000000000" pitchFamily="2" charset="-122"/>
              </a:rPr>
              <a:t>MUL1</a:t>
            </a:r>
            <a:r>
              <a:rPr lang="zh-CN" altLang="zh-CN" sz="1400" dirty="0">
                <a:solidFill>
                  <a:srgbClr val="FF0000"/>
                </a:solidFill>
                <a:latin typeface="宋体" panose="02000500000000000000" pitchFamily="2" charset="-122"/>
                <a:cs typeface="宋体" panose="02000500000000000000" pitchFamily="2" charset="-122"/>
              </a:rPr>
              <a:t>发射，</a:t>
            </a:r>
            <a:r>
              <a:rPr lang="en-US" altLang="zh-CN" sz="1400" dirty="0">
                <a:solidFill>
                  <a:srgbClr val="FF0000"/>
                </a:solidFill>
                <a:latin typeface="宋体" panose="02000500000000000000" pitchFamily="2" charset="-122"/>
                <a:cs typeface="宋体" panose="02000500000000000000" pitchFamily="2" charset="-122"/>
              </a:rPr>
              <a:t>F0</a:t>
            </a:r>
            <a:r>
              <a:rPr lang="zh-CN" altLang="zh-CN" sz="1400" dirty="0">
                <a:solidFill>
                  <a:srgbClr val="FF0000"/>
                </a:solidFill>
                <a:latin typeface="宋体" panose="02000500000000000000" pitchFamily="2" charset="-122"/>
                <a:cs typeface="宋体" panose="02000500000000000000" pitchFamily="2" charset="-122"/>
              </a:rPr>
              <a:t>等待1号</a:t>
            </a:r>
            <a:r>
              <a:rPr lang="en-US" altLang="zh-CN" sz="1400" dirty="0">
                <a:solidFill>
                  <a:srgbClr val="FF0000"/>
                </a:solidFill>
                <a:latin typeface="宋体" panose="02000500000000000000" pitchFamily="2" charset="-122"/>
                <a:cs typeface="宋体" panose="02000500000000000000" pitchFamily="2" charset="-122"/>
              </a:rPr>
              <a:t>RB</a:t>
            </a:r>
            <a:r>
              <a:rPr lang="zh-CN" altLang="zh-CN" sz="1400" dirty="0">
                <a:solidFill>
                  <a:srgbClr val="FF0000"/>
                </a:solidFill>
                <a:latin typeface="宋体" panose="02000500000000000000" pitchFamily="2" charset="-122"/>
                <a:cs typeface="宋体" panose="02000500000000000000" pitchFamily="2" charset="-122"/>
              </a:rPr>
              <a:t>的结果</a:t>
            </a:r>
            <a:endParaRPr lang="zh-CN" altLang="en-US" sz="1200" dirty="0">
              <a:latin typeface="宋体" panose="02000500000000000000" pitchFamily="2" charset="-122"/>
              <a:cs typeface="宋体" panose="02000500000000000000" pitchFamily="2"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51" name="Line 52"/>
          <p:cNvSpPr/>
          <p:nvPr/>
        </p:nvSpPr>
        <p:spPr>
          <a:xfrm flipV="1">
            <a:off x="7390765" y="2116455"/>
            <a:ext cx="0" cy="335280"/>
          </a:xfrm>
          <a:prstGeom prst="line">
            <a:avLst/>
          </a:prstGeom>
          <a:ln w="9525" cap="flat" cmpd="sng">
            <a:solidFill>
              <a:schemeClr val="tx1"/>
            </a:solidFill>
            <a:prstDash val="solid"/>
            <a:round/>
            <a:headEnd type="none" w="med" len="med"/>
            <a:tailEnd type="triangle" w="med" len="med"/>
          </a:ln>
        </p:spPr>
      </p:sp>
      <p:sp>
        <p:nvSpPr>
          <p:cNvPr id="31752" name="Line 53"/>
          <p:cNvSpPr/>
          <p:nvPr/>
        </p:nvSpPr>
        <p:spPr>
          <a:xfrm flipV="1">
            <a:off x="8270875" y="2116455"/>
            <a:ext cx="0" cy="335280"/>
          </a:xfrm>
          <a:prstGeom prst="line">
            <a:avLst/>
          </a:prstGeom>
          <a:ln w="9525" cap="flat" cmpd="sng">
            <a:solidFill>
              <a:schemeClr val="tx1"/>
            </a:solidFill>
            <a:prstDash val="solid"/>
            <a:round/>
            <a:headEnd type="none" w="med" len="med"/>
            <a:tailEnd type="triangle" w="med" len="med"/>
          </a:ln>
        </p:spPr>
      </p:sp>
      <p:sp>
        <p:nvSpPr>
          <p:cNvPr id="31753" name="Line 54"/>
          <p:cNvSpPr/>
          <p:nvPr/>
        </p:nvSpPr>
        <p:spPr>
          <a:xfrm flipV="1">
            <a:off x="10353675" y="2103755"/>
            <a:ext cx="0" cy="335280"/>
          </a:xfrm>
          <a:prstGeom prst="line">
            <a:avLst/>
          </a:prstGeom>
          <a:ln w="9525" cap="flat" cmpd="sng">
            <a:solidFill>
              <a:schemeClr val="tx1"/>
            </a:solidFill>
            <a:prstDash val="solid"/>
            <a:round/>
            <a:headEnd type="none" w="med" len="med"/>
            <a:tailEnd type="triangle" w="med" len="med"/>
          </a:ln>
        </p:spPr>
      </p:sp>
      <p:sp>
        <p:nvSpPr>
          <p:cNvPr id="31754" name="Line 55"/>
          <p:cNvSpPr/>
          <p:nvPr/>
        </p:nvSpPr>
        <p:spPr>
          <a:xfrm flipV="1">
            <a:off x="11301730" y="2091055"/>
            <a:ext cx="0" cy="335280"/>
          </a:xfrm>
          <a:prstGeom prst="line">
            <a:avLst/>
          </a:prstGeom>
          <a:ln w="9525" cap="flat" cmpd="sng">
            <a:solidFill>
              <a:schemeClr val="tx1"/>
            </a:solidFill>
            <a:prstDash val="solid"/>
            <a:round/>
            <a:headEnd type="none" w="med" len="med"/>
            <a:tailEnd type="triangle" w="med" len="med"/>
          </a:ln>
        </p:spPr>
      </p:sp>
      <p:sp>
        <p:nvSpPr>
          <p:cNvPr id="31755" name="Line 56"/>
          <p:cNvSpPr/>
          <p:nvPr/>
        </p:nvSpPr>
        <p:spPr>
          <a:xfrm flipV="1">
            <a:off x="8137525" y="4694555"/>
            <a:ext cx="0" cy="617855"/>
          </a:xfrm>
          <a:prstGeom prst="line">
            <a:avLst/>
          </a:prstGeom>
          <a:ln w="19050" cap="flat" cmpd="sng">
            <a:solidFill>
              <a:schemeClr val="tx1"/>
            </a:solidFill>
            <a:prstDash val="solid"/>
            <a:round/>
            <a:headEnd type="none" w="med" len="med"/>
            <a:tailEnd type="triangle" w="med" len="med"/>
          </a:ln>
        </p:spPr>
      </p:sp>
      <p:sp>
        <p:nvSpPr>
          <p:cNvPr id="31756" name="Line 57"/>
          <p:cNvSpPr/>
          <p:nvPr/>
        </p:nvSpPr>
        <p:spPr>
          <a:xfrm flipV="1">
            <a:off x="7794625" y="3044825"/>
            <a:ext cx="0" cy="247650"/>
          </a:xfrm>
          <a:prstGeom prst="line">
            <a:avLst/>
          </a:prstGeom>
          <a:ln w="19050" cap="flat" cmpd="sng">
            <a:solidFill>
              <a:schemeClr val="tx1"/>
            </a:solidFill>
            <a:prstDash val="solid"/>
            <a:round/>
            <a:headEnd type="none" w="med" len="med"/>
            <a:tailEnd type="triangle" w="med" len="med"/>
          </a:ln>
        </p:spPr>
      </p:sp>
      <p:sp>
        <p:nvSpPr>
          <p:cNvPr id="31757" name="Line 58"/>
          <p:cNvSpPr/>
          <p:nvPr/>
        </p:nvSpPr>
        <p:spPr>
          <a:xfrm flipV="1">
            <a:off x="10788015" y="3037205"/>
            <a:ext cx="0" cy="260350"/>
          </a:xfrm>
          <a:prstGeom prst="line">
            <a:avLst/>
          </a:prstGeom>
          <a:ln w="19050" cap="flat" cmpd="sng">
            <a:solidFill>
              <a:schemeClr val="tx1"/>
            </a:solidFill>
            <a:prstDash val="solid"/>
            <a:round/>
            <a:headEnd type="none" w="med" len="med"/>
            <a:tailEnd type="triangle" w="med" len="med"/>
          </a:ln>
        </p:spPr>
      </p:sp>
      <p:sp>
        <p:nvSpPr>
          <p:cNvPr id="31758" name="Line 59"/>
          <p:cNvSpPr/>
          <p:nvPr/>
        </p:nvSpPr>
        <p:spPr>
          <a:xfrm flipV="1">
            <a:off x="10813415" y="1449705"/>
            <a:ext cx="0" cy="370205"/>
          </a:xfrm>
          <a:prstGeom prst="line">
            <a:avLst/>
          </a:prstGeom>
          <a:ln w="19050" cap="flat" cmpd="sng">
            <a:solidFill>
              <a:srgbClr val="FF0000"/>
            </a:solidFill>
            <a:prstDash val="solid"/>
            <a:round/>
            <a:headEnd type="none" w="med" len="med"/>
            <a:tailEnd type="triangle" w="med" len="med"/>
          </a:ln>
        </p:spPr>
      </p:sp>
      <p:sp>
        <p:nvSpPr>
          <p:cNvPr id="31759" name="Line 60"/>
          <p:cNvSpPr/>
          <p:nvPr/>
        </p:nvSpPr>
        <p:spPr>
          <a:xfrm flipV="1">
            <a:off x="7881620" y="1466850"/>
            <a:ext cx="0" cy="370205"/>
          </a:xfrm>
          <a:prstGeom prst="line">
            <a:avLst/>
          </a:prstGeom>
          <a:ln w="19050" cap="flat" cmpd="sng">
            <a:solidFill>
              <a:schemeClr val="tx1"/>
            </a:solidFill>
            <a:prstDash val="solid"/>
            <a:round/>
            <a:headEnd type="none" w="med" len="med"/>
            <a:tailEnd type="triangle" w="med" len="med"/>
          </a:ln>
        </p:spPr>
      </p:sp>
      <p:sp>
        <p:nvSpPr>
          <p:cNvPr id="31760" name="Line 61"/>
          <p:cNvSpPr/>
          <p:nvPr/>
        </p:nvSpPr>
        <p:spPr>
          <a:xfrm>
            <a:off x="5155565" y="1460500"/>
            <a:ext cx="7009765" cy="0"/>
          </a:xfrm>
          <a:prstGeom prst="line">
            <a:avLst/>
          </a:prstGeom>
          <a:ln w="19050" cap="flat" cmpd="sng">
            <a:solidFill>
              <a:srgbClr val="FF0000"/>
            </a:solidFill>
            <a:prstDash val="solid"/>
            <a:round/>
            <a:headEnd type="none" w="med" len="med"/>
            <a:tailEnd type="none" w="med" len="med"/>
          </a:ln>
        </p:spPr>
      </p:sp>
      <p:sp>
        <p:nvSpPr>
          <p:cNvPr id="31761" name="Line 62"/>
          <p:cNvSpPr/>
          <p:nvPr/>
        </p:nvSpPr>
        <p:spPr>
          <a:xfrm flipH="1" flipV="1">
            <a:off x="7160895" y="3035300"/>
            <a:ext cx="635" cy="389255"/>
          </a:xfrm>
          <a:prstGeom prst="line">
            <a:avLst/>
          </a:prstGeom>
          <a:ln w="19050" cap="flat" cmpd="sng">
            <a:solidFill>
              <a:srgbClr val="FF0000"/>
            </a:solidFill>
            <a:prstDash val="solid"/>
            <a:round/>
            <a:headEnd type="none" w="med" len="med"/>
            <a:tailEnd type="triangle" w="med" len="med"/>
          </a:ln>
        </p:spPr>
      </p:sp>
      <p:sp>
        <p:nvSpPr>
          <p:cNvPr id="31762" name="Line 63"/>
          <p:cNvSpPr/>
          <p:nvPr/>
        </p:nvSpPr>
        <p:spPr>
          <a:xfrm flipV="1">
            <a:off x="11272520" y="3027680"/>
            <a:ext cx="635" cy="410845"/>
          </a:xfrm>
          <a:prstGeom prst="line">
            <a:avLst/>
          </a:prstGeom>
          <a:ln w="19050" cap="flat" cmpd="sng">
            <a:solidFill>
              <a:srgbClr val="FF0000"/>
            </a:solidFill>
            <a:prstDash val="solid"/>
            <a:round/>
            <a:headEnd type="none" w="med" len="med"/>
            <a:tailEnd type="triangle" w="med" len="med"/>
          </a:ln>
        </p:spPr>
      </p:sp>
      <p:sp>
        <p:nvSpPr>
          <p:cNvPr id="31763" name="Line 64"/>
          <p:cNvSpPr/>
          <p:nvPr/>
        </p:nvSpPr>
        <p:spPr>
          <a:xfrm>
            <a:off x="12150725" y="1463040"/>
            <a:ext cx="635" cy="3496945"/>
          </a:xfrm>
          <a:prstGeom prst="line">
            <a:avLst/>
          </a:prstGeom>
          <a:ln w="19050" cap="flat" cmpd="sng">
            <a:solidFill>
              <a:srgbClr val="FF0000"/>
            </a:solidFill>
            <a:prstDash val="solid"/>
            <a:round/>
            <a:headEnd type="none" w="med" len="med"/>
            <a:tailEnd type="none" w="med" len="med"/>
          </a:ln>
        </p:spPr>
      </p:sp>
      <p:sp>
        <p:nvSpPr>
          <p:cNvPr id="31764" name="Line 65"/>
          <p:cNvSpPr/>
          <p:nvPr/>
        </p:nvSpPr>
        <p:spPr>
          <a:xfrm flipV="1">
            <a:off x="8114665" y="3270250"/>
            <a:ext cx="0" cy="581025"/>
          </a:xfrm>
          <a:prstGeom prst="line">
            <a:avLst/>
          </a:prstGeom>
          <a:ln w="19050" cap="flat" cmpd="sng">
            <a:solidFill>
              <a:schemeClr val="tx1"/>
            </a:solidFill>
            <a:prstDash val="solid"/>
            <a:round/>
            <a:headEnd type="none" w="med" len="med"/>
            <a:tailEnd type="triangle" w="med" len="med"/>
          </a:ln>
        </p:spPr>
      </p:sp>
      <p:sp>
        <p:nvSpPr>
          <p:cNvPr id="31765" name="Text Box 66"/>
          <p:cNvSpPr txBox="1"/>
          <p:nvPr/>
        </p:nvSpPr>
        <p:spPr>
          <a:xfrm>
            <a:off x="6283960" y="2246630"/>
            <a:ext cx="1039495" cy="18415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加法保留站</a:t>
            </a:r>
            <a:endParaRPr lang="zh-CN" altLang="en-US" sz="1200" b="1" dirty="0">
              <a:latin typeface="Times New Roman" pitchFamily="18" charset="0"/>
              <a:ea typeface="宋体" panose="02000500000000000000" pitchFamily="2" charset="-122"/>
            </a:endParaRPr>
          </a:p>
        </p:txBody>
      </p:sp>
      <p:sp>
        <p:nvSpPr>
          <p:cNvPr id="31766" name="Text Box 67"/>
          <p:cNvSpPr txBox="1"/>
          <p:nvPr/>
        </p:nvSpPr>
        <p:spPr>
          <a:xfrm>
            <a:off x="6925310" y="3675380"/>
            <a:ext cx="1090295" cy="184150"/>
          </a:xfrm>
          <a:prstGeom prst="rect">
            <a:avLst/>
          </a:prstGeom>
          <a:noFill/>
          <a:ln w="9525">
            <a:noFill/>
          </a:ln>
          <a:extLst>
            <a:ext uri="{909E8E84-426E-40DD-AFC4-6F175D3DCCD1}">
              <a14:hiddenFill xmlns:a14="http://schemas.microsoft.com/office/drawing/2010/main">
                <a:solidFill>
                  <a:schemeClr val="bg1"/>
                </a:solidFill>
              </a14:hiddenFill>
            </a:ext>
          </a:extLst>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浮点寄存器</a:t>
            </a:r>
            <a:endParaRPr lang="zh-CN" altLang="en-US" sz="1200" b="1" dirty="0">
              <a:latin typeface="Times New Roman" pitchFamily="18" charset="0"/>
              <a:ea typeface="宋体" panose="02000500000000000000" pitchFamily="2" charset="-122"/>
            </a:endParaRPr>
          </a:p>
        </p:txBody>
      </p:sp>
      <p:sp>
        <p:nvSpPr>
          <p:cNvPr id="31767" name="Text Box 68"/>
          <p:cNvSpPr txBox="1"/>
          <p:nvPr/>
        </p:nvSpPr>
        <p:spPr>
          <a:xfrm>
            <a:off x="9289415" y="2235200"/>
            <a:ext cx="1039495" cy="18415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乘法保留站</a:t>
            </a:r>
            <a:endParaRPr lang="zh-CN" altLang="en-US" sz="1200" b="1" dirty="0">
              <a:latin typeface="Times New Roman" pitchFamily="18" charset="0"/>
              <a:ea typeface="宋体" panose="02000500000000000000" pitchFamily="2" charset="-122"/>
            </a:endParaRPr>
          </a:p>
        </p:txBody>
      </p:sp>
      <p:sp>
        <p:nvSpPr>
          <p:cNvPr id="31768" name="Line 69"/>
          <p:cNvSpPr/>
          <p:nvPr/>
        </p:nvSpPr>
        <p:spPr>
          <a:xfrm>
            <a:off x="10807065" y="4959985"/>
            <a:ext cx="1358265" cy="635"/>
          </a:xfrm>
          <a:prstGeom prst="line">
            <a:avLst/>
          </a:prstGeom>
          <a:ln w="19050" cap="flat" cmpd="sng">
            <a:solidFill>
              <a:srgbClr val="FF0000"/>
            </a:solidFill>
            <a:prstDash val="solid"/>
            <a:round/>
            <a:headEnd type="none" w="med" len="med"/>
            <a:tailEnd type="none" w="med" len="med"/>
          </a:ln>
        </p:spPr>
      </p:sp>
      <p:sp>
        <p:nvSpPr>
          <p:cNvPr id="31769" name="Line 70"/>
          <p:cNvSpPr/>
          <p:nvPr/>
        </p:nvSpPr>
        <p:spPr>
          <a:xfrm flipV="1">
            <a:off x="10812145" y="4701540"/>
            <a:ext cx="1905" cy="260350"/>
          </a:xfrm>
          <a:prstGeom prst="line">
            <a:avLst/>
          </a:prstGeom>
          <a:ln w="19050" cap="flat" cmpd="sng">
            <a:solidFill>
              <a:srgbClr val="FF0000"/>
            </a:solidFill>
            <a:prstDash val="solid"/>
            <a:round/>
            <a:headEnd type="none" w="med" len="med"/>
            <a:tailEnd type="triangle" w="med" len="med"/>
          </a:ln>
        </p:spPr>
      </p:sp>
      <p:grpSp>
        <p:nvGrpSpPr>
          <p:cNvPr id="31772" name="Group 73"/>
          <p:cNvGrpSpPr/>
          <p:nvPr/>
        </p:nvGrpSpPr>
        <p:grpSpPr>
          <a:xfrm rot="0">
            <a:off x="4488815" y="1461135"/>
            <a:ext cx="7679055" cy="1970389"/>
            <a:chOff x="1701" y="512"/>
            <a:chExt cx="3628" cy="1241"/>
          </a:xfrm>
        </p:grpSpPr>
        <p:sp>
          <p:nvSpPr>
            <p:cNvPr id="31773" name="Line 74"/>
            <p:cNvSpPr/>
            <p:nvPr/>
          </p:nvSpPr>
          <p:spPr>
            <a:xfrm flipV="1">
              <a:off x="2154" y="1661"/>
              <a:ext cx="2518" cy="0"/>
            </a:xfrm>
            <a:prstGeom prst="line">
              <a:avLst/>
            </a:prstGeom>
            <a:ln w="19050" cap="flat" cmpd="sng">
              <a:solidFill>
                <a:schemeClr val="tx1"/>
              </a:solidFill>
              <a:prstDash val="solid"/>
              <a:round/>
              <a:headEnd type="none" w="med" len="med"/>
              <a:tailEnd type="none" w="med" len="med"/>
            </a:ln>
          </p:spPr>
        </p:sp>
        <p:sp>
          <p:nvSpPr>
            <p:cNvPr id="31774" name="Line 75"/>
            <p:cNvSpPr/>
            <p:nvPr/>
          </p:nvSpPr>
          <p:spPr>
            <a:xfrm flipV="1">
              <a:off x="2010" y="1753"/>
              <a:ext cx="3319" cy="0"/>
            </a:xfrm>
            <a:prstGeom prst="line">
              <a:avLst/>
            </a:prstGeom>
            <a:ln w="19050" cap="flat" cmpd="sng">
              <a:solidFill>
                <a:srgbClr val="FF0000"/>
              </a:solidFill>
              <a:prstDash val="solid"/>
              <a:round/>
              <a:headEnd type="none" w="med" len="med"/>
              <a:tailEnd type="none" w="med" len="med"/>
            </a:ln>
          </p:spPr>
        </p:sp>
        <p:grpSp>
          <p:nvGrpSpPr>
            <p:cNvPr id="31775" name="Group 76"/>
            <p:cNvGrpSpPr/>
            <p:nvPr/>
          </p:nvGrpSpPr>
          <p:grpSpPr>
            <a:xfrm>
              <a:off x="1701" y="512"/>
              <a:ext cx="3494" cy="1239"/>
              <a:chOff x="1701" y="512"/>
              <a:chExt cx="3494" cy="1239"/>
            </a:xfrm>
          </p:grpSpPr>
          <p:grpSp>
            <p:nvGrpSpPr>
              <p:cNvPr id="31776" name="Group 77"/>
              <p:cNvGrpSpPr/>
              <p:nvPr/>
            </p:nvGrpSpPr>
            <p:grpSpPr>
              <a:xfrm>
                <a:off x="2019" y="512"/>
                <a:ext cx="135" cy="1239"/>
                <a:chOff x="2019" y="512"/>
                <a:chExt cx="135" cy="1239"/>
              </a:xfrm>
            </p:grpSpPr>
            <p:sp>
              <p:nvSpPr>
                <p:cNvPr id="31777" name="Line 78"/>
                <p:cNvSpPr/>
                <p:nvPr/>
              </p:nvSpPr>
              <p:spPr>
                <a:xfrm flipV="1">
                  <a:off x="2022" y="512"/>
                  <a:ext cx="0" cy="233"/>
                </a:xfrm>
                <a:prstGeom prst="line">
                  <a:avLst/>
                </a:prstGeom>
                <a:ln w="19050" cap="flat" cmpd="sng">
                  <a:solidFill>
                    <a:schemeClr val="tx1"/>
                  </a:solidFill>
                  <a:prstDash val="solid"/>
                  <a:round/>
                  <a:headEnd type="none" w="med" len="med"/>
                  <a:tailEnd type="triangle" w="med" len="med"/>
                </a:ln>
              </p:spPr>
            </p:sp>
            <p:sp>
              <p:nvSpPr>
                <p:cNvPr id="31778" name="Line 79"/>
                <p:cNvSpPr/>
                <p:nvPr/>
              </p:nvSpPr>
              <p:spPr>
                <a:xfrm flipH="1" flipV="1">
                  <a:off x="2019" y="1502"/>
                  <a:ext cx="3" cy="249"/>
                </a:xfrm>
                <a:prstGeom prst="line">
                  <a:avLst/>
                </a:prstGeom>
                <a:ln w="19050" cap="flat" cmpd="sng">
                  <a:solidFill>
                    <a:srgbClr val="FF0000"/>
                  </a:solidFill>
                  <a:prstDash val="solid"/>
                  <a:round/>
                  <a:headEnd type="none" w="med" len="med"/>
                  <a:tailEnd type="triangle" w="med" len="med"/>
                </a:ln>
              </p:spPr>
            </p:sp>
            <p:sp>
              <p:nvSpPr>
                <p:cNvPr id="31779" name="Line 80"/>
                <p:cNvSpPr/>
                <p:nvPr/>
              </p:nvSpPr>
              <p:spPr>
                <a:xfrm flipV="1">
                  <a:off x="2154" y="1508"/>
                  <a:ext cx="0" cy="156"/>
                </a:xfrm>
                <a:prstGeom prst="line">
                  <a:avLst/>
                </a:prstGeom>
                <a:ln w="19050" cap="flat" cmpd="sng">
                  <a:solidFill>
                    <a:schemeClr val="tx1"/>
                  </a:solidFill>
                  <a:prstDash val="solid"/>
                  <a:round/>
                  <a:headEnd type="none" w="med" len="med"/>
                  <a:tailEnd type="triangle" w="med" len="med"/>
                </a:ln>
              </p:spPr>
            </p:sp>
          </p:grpSp>
          <p:sp>
            <p:nvSpPr>
              <p:cNvPr id="31780" name="Text Box 81"/>
              <p:cNvSpPr txBox="1"/>
              <p:nvPr/>
            </p:nvSpPr>
            <p:spPr>
              <a:xfrm>
                <a:off x="2777" y="750"/>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浮点加</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减法器</a:t>
                </a:r>
                <a:endParaRPr lang="zh-CN" altLang="en-US" sz="1200" b="1" dirty="0">
                  <a:latin typeface="Times New Roman" pitchFamily="18" charset="0"/>
                  <a:ea typeface="宋体" panose="02000500000000000000" pitchFamily="2" charset="-122"/>
                </a:endParaRPr>
              </a:p>
            </p:txBody>
          </p:sp>
          <p:sp>
            <p:nvSpPr>
              <p:cNvPr id="31781" name="Text Box 82"/>
              <p:cNvSpPr txBox="1"/>
              <p:nvPr/>
            </p:nvSpPr>
            <p:spPr>
              <a:xfrm>
                <a:off x="4181" y="737"/>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浮点乘</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除法器</a:t>
                </a:r>
                <a:endParaRPr lang="zh-CN" altLang="en-US" sz="1200" b="1" dirty="0">
                  <a:latin typeface="Times New Roman" pitchFamily="18" charset="0"/>
                  <a:ea typeface="宋体" panose="02000500000000000000" pitchFamily="2" charset="-122"/>
                </a:endParaRPr>
              </a:p>
            </p:txBody>
          </p:sp>
          <p:sp>
            <p:nvSpPr>
              <p:cNvPr id="31782" name="Text Box 83"/>
              <p:cNvSpPr txBox="1"/>
              <p:nvPr/>
            </p:nvSpPr>
            <p:spPr>
              <a:xfrm>
                <a:off x="1701" y="731"/>
                <a:ext cx="664" cy="771"/>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p>
                <a:pPr algn="ctr">
                  <a:spcBef>
                    <a:spcPct val="50000"/>
                  </a:spcBef>
                </a:pPr>
                <a:endParaRPr lang="en-US" altLang="zh-CN" sz="1200"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定点</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访存</a:t>
                </a:r>
                <a:endParaRPr lang="zh-CN" altLang="en-US" sz="1200" b="1"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部件</a:t>
                </a:r>
                <a:endParaRPr lang="zh-CN" altLang="en-US" sz="1200" b="1" dirty="0">
                  <a:latin typeface="Times New Roman" pitchFamily="18" charset="0"/>
                  <a:ea typeface="宋体" panose="02000500000000000000" pitchFamily="2" charset="-122"/>
                </a:endParaRPr>
              </a:p>
              <a:p>
                <a:pPr algn="ctr">
                  <a:spcBef>
                    <a:spcPct val="50000"/>
                  </a:spcBef>
                </a:pPr>
                <a:endParaRPr lang="en-US" altLang="zh-CN" sz="1200" b="1" dirty="0">
                  <a:latin typeface="Times New Roman" pitchFamily="18" charset="0"/>
                  <a:ea typeface="宋体" panose="02000500000000000000" pitchFamily="2" charset="-122"/>
                </a:endParaRPr>
              </a:p>
            </p:txBody>
          </p:sp>
        </p:grpSp>
      </p:grpSp>
      <p:sp>
        <p:nvSpPr>
          <p:cNvPr id="31783" name="Text Box 84"/>
          <p:cNvSpPr txBox="1"/>
          <p:nvPr/>
        </p:nvSpPr>
        <p:spPr>
          <a:xfrm>
            <a:off x="6979920" y="5045075"/>
            <a:ext cx="1030605" cy="184150"/>
          </a:xfrm>
          <a:prstGeom prst="rect">
            <a:avLst/>
          </a:prstGeom>
          <a:solidFill>
            <a:schemeClr val="bg1"/>
          </a:solid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指令队列</a:t>
            </a:r>
            <a:endParaRPr lang="zh-CN" altLang="en-US" sz="1200" b="1" dirty="0">
              <a:latin typeface="Times New Roman" pitchFamily="18" charset="0"/>
              <a:ea typeface="宋体" panose="02000500000000000000" pitchFamily="2" charset="-122"/>
            </a:endParaRPr>
          </a:p>
        </p:txBody>
      </p:sp>
      <p:graphicFrame>
        <p:nvGraphicFramePr>
          <p:cNvPr id="3" name="表格 2"/>
          <p:cNvGraphicFramePr/>
          <p:nvPr/>
        </p:nvGraphicFramePr>
        <p:xfrm>
          <a:off x="6799580" y="3837940"/>
          <a:ext cx="2342515" cy="863600"/>
        </p:xfrm>
        <a:graphic>
          <a:graphicData uri="http://schemas.openxmlformats.org/drawingml/2006/table">
            <a:tbl>
              <a:tblPr firstRow="1" bandRow="1">
                <a:tableStyleId>{5C22544A-7EE6-4342-B048-85BDC9FD1C3A}</a:tableStyleId>
              </a:tblPr>
              <a:tblGrid>
                <a:gridCol w="365125"/>
                <a:gridCol w="450850"/>
                <a:gridCol w="1526540"/>
              </a:tblGrid>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3</a:t>
                      </a:r>
                      <a:endParaRPr lang="en-US" altLang="zh-CN" sz="1200" b="1">
                        <a:solidFill>
                          <a:srgbClr val="FF0000"/>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3.0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4" name="表格 3"/>
          <p:cNvGraphicFramePr/>
          <p:nvPr/>
        </p:nvGraphicFramePr>
        <p:xfrm>
          <a:off x="7167880" y="5311775"/>
          <a:ext cx="1930400" cy="1280160"/>
        </p:xfrm>
        <a:graphic>
          <a:graphicData uri="http://schemas.openxmlformats.org/drawingml/2006/table">
            <a:tbl>
              <a:tblPr firstRow="1" bandRow="1">
                <a:tableStyleId>{5C22544A-7EE6-4342-B048-85BDC9FD1C3A}</a:tableStyleId>
              </a:tblPr>
              <a:tblGrid>
                <a:gridCol w="1930400"/>
              </a:tblGrid>
              <a:tr h="213360">
                <a:tc>
                  <a:txBody>
                    <a:bodyPr/>
                    <a:p>
                      <a:pPr indent="0">
                        <a:buNone/>
                      </a:pPr>
                      <a:r>
                        <a:rPr lang="en-US" sz="1200" b="1">
                          <a:solidFill>
                            <a:schemeClr val="tx1"/>
                          </a:solidFill>
                          <a:latin typeface="宋体" panose="02000500000000000000" pitchFamily="2" charset="-122"/>
                          <a:ea typeface="宋体" panose="02000500000000000000" pitchFamily="2" charset="-122"/>
                        </a:rPr>
                        <a:t>FDIV.D  </a:t>
                      </a:r>
                      <a:r>
                        <a:rPr lang="en-US" sz="1200" b="1">
                          <a:solidFill>
                            <a:srgbClr val="FF0000"/>
                          </a:solidFill>
                          <a:latin typeface="宋体" panose="02000500000000000000" pitchFamily="2" charset="-122"/>
                          <a:ea typeface="宋体" panose="02000500000000000000" pitchFamily="2" charset="-122"/>
                        </a:rPr>
                        <a:t>F0</a:t>
                      </a:r>
                      <a:r>
                        <a:rPr lang="en-US" sz="1200" b="1">
                          <a:solidFill>
                            <a:schemeClr val="tx1"/>
                          </a:solidFill>
                          <a:latin typeface="宋体" panose="02000500000000000000" pitchFamily="2" charset="-122"/>
                          <a:ea typeface="宋体" panose="02000500000000000000" pitchFamily="2" charset="-122"/>
                        </a:rPr>
                        <a:t>, F1, F2</a:t>
                      </a:r>
                      <a:endParaRPr lang="en-US" altLang="en-US" sz="1200" b="1">
                        <a:solidFill>
                          <a:schemeClr val="tx1"/>
                        </a:solidFill>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FADD.D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F1,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5" name="表格 4"/>
          <p:cNvGraphicFramePr/>
          <p:nvPr/>
        </p:nvGraphicFramePr>
        <p:xfrm>
          <a:off x="9544050" y="243586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fdiv</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fmul</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zh-CN" altLang="en-US"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7" name="表格 6"/>
          <p:cNvGraphicFramePr/>
          <p:nvPr/>
        </p:nvGraphicFramePr>
        <p:xfrm>
          <a:off x="6577330" y="245618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3</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fadd</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0</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1.0</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0</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2.0</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9" name="表格 8"/>
          <p:cNvGraphicFramePr/>
          <p:nvPr/>
        </p:nvGraphicFramePr>
        <p:xfrm>
          <a:off x="9486900" y="3822700"/>
          <a:ext cx="2342515" cy="863600"/>
        </p:xfrm>
        <a:graphic>
          <a:graphicData uri="http://schemas.openxmlformats.org/drawingml/2006/table">
            <a:tbl>
              <a:tblPr firstRow="1" bandRow="1">
                <a:tableStyleId>{5C22544A-7EE6-4342-B048-85BDC9FD1C3A}</a:tableStyleId>
              </a:tblPr>
              <a:tblGrid>
                <a:gridCol w="221065"/>
                <a:gridCol w="382270"/>
                <a:gridCol w="387901"/>
                <a:gridCol w="1351279"/>
              </a:tblGrid>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4</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fadd</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f0</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fmul</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f3</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fdiv</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f0</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sp>
        <p:nvSpPr>
          <p:cNvPr id="47115" name="Line 15"/>
          <p:cNvSpPr/>
          <p:nvPr/>
        </p:nvSpPr>
        <p:spPr>
          <a:xfrm flipH="1" flipV="1">
            <a:off x="11068050" y="3610610"/>
            <a:ext cx="9525" cy="215900"/>
          </a:xfrm>
          <a:prstGeom prst="line">
            <a:avLst/>
          </a:prstGeom>
          <a:ln w="19050" cap="flat" cmpd="sng">
            <a:solidFill>
              <a:schemeClr val="accent2"/>
            </a:solidFill>
            <a:prstDash val="solid"/>
            <a:round/>
            <a:headEnd type="none" w="med" len="med"/>
            <a:tailEnd type="none" w="med" len="med"/>
          </a:ln>
        </p:spPr>
      </p:sp>
      <p:sp>
        <p:nvSpPr>
          <p:cNvPr id="47131" name="Line 36"/>
          <p:cNvSpPr/>
          <p:nvPr/>
        </p:nvSpPr>
        <p:spPr>
          <a:xfrm flipV="1">
            <a:off x="4904105" y="4940935"/>
            <a:ext cx="2991485" cy="13970"/>
          </a:xfrm>
          <a:prstGeom prst="line">
            <a:avLst/>
          </a:prstGeom>
          <a:ln w="19050" cap="flat" cmpd="sng">
            <a:solidFill>
              <a:schemeClr val="accent2"/>
            </a:solidFill>
            <a:prstDash val="solid"/>
            <a:round/>
            <a:headEnd type="none" w="med" len="med"/>
            <a:tailEnd type="none" w="med" len="med"/>
          </a:ln>
        </p:spPr>
      </p:sp>
      <p:sp>
        <p:nvSpPr>
          <p:cNvPr id="47133" name="Text Box 43"/>
          <p:cNvSpPr txBox="1"/>
          <p:nvPr/>
        </p:nvSpPr>
        <p:spPr>
          <a:xfrm>
            <a:off x="5375910" y="4712335"/>
            <a:ext cx="1089025" cy="184150"/>
          </a:xfrm>
          <a:prstGeom prst="rect">
            <a:avLst/>
          </a:prstGeom>
          <a:noFill/>
          <a:ln w="9525">
            <a:noFill/>
          </a:ln>
          <a:extLst>
            <a:ext uri="{909E8E84-426E-40DD-AFC4-6F175D3DCCD1}">
              <a14:hiddenFill xmlns:a14="http://schemas.microsoft.com/office/drawing/2010/main">
                <a:solidFill>
                  <a:schemeClr val="bg1"/>
                </a:solidFill>
              </a14:hiddenFill>
            </a:ext>
          </a:extLst>
        </p:spPr>
        <p:txBody>
          <a:bodyPr lIns="0" tIns="0" rIns="0" bIns="0" anchor="t" anchorCtr="0">
            <a:spAutoFit/>
          </a:bodyPr>
          <a:p>
            <a:pPr>
              <a:spcBef>
                <a:spcPct val="50000"/>
              </a:spcBef>
            </a:pPr>
            <a:r>
              <a:rPr lang="zh-CN" altLang="en-US" sz="1200" b="1" dirty="0">
                <a:solidFill>
                  <a:schemeClr val="accent2"/>
                </a:solidFill>
                <a:latin typeface="Times New Roman" pitchFamily="18" charset="0"/>
                <a:ea typeface="宋体" panose="02000500000000000000" pitchFamily="2" charset="-122"/>
              </a:rPr>
              <a:t>修改寄存器</a:t>
            </a:r>
            <a:endParaRPr lang="zh-CN" altLang="en-US" sz="1200" b="1" dirty="0">
              <a:solidFill>
                <a:schemeClr val="accent2"/>
              </a:solidFill>
              <a:latin typeface="Times New Roman" pitchFamily="18" charset="0"/>
              <a:ea typeface="宋体" panose="02000500000000000000" pitchFamily="2" charset="-122"/>
            </a:endParaRPr>
          </a:p>
        </p:txBody>
      </p:sp>
      <p:sp>
        <p:nvSpPr>
          <p:cNvPr id="47143" name="Line 37"/>
          <p:cNvSpPr/>
          <p:nvPr/>
        </p:nvSpPr>
        <p:spPr>
          <a:xfrm flipH="1" flipV="1">
            <a:off x="7879715" y="4688205"/>
            <a:ext cx="8255" cy="252095"/>
          </a:xfrm>
          <a:prstGeom prst="line">
            <a:avLst/>
          </a:prstGeom>
          <a:ln w="19050" cap="flat" cmpd="sng">
            <a:solidFill>
              <a:schemeClr val="accent2"/>
            </a:solidFill>
            <a:prstDash val="solid"/>
            <a:round/>
            <a:headEnd type="none" w="med" len="med"/>
            <a:tailEnd type="triangle" w="med" len="med"/>
          </a:ln>
        </p:spPr>
      </p:sp>
      <p:sp>
        <p:nvSpPr>
          <p:cNvPr id="47144" name="Line 38"/>
          <p:cNvSpPr/>
          <p:nvPr/>
        </p:nvSpPr>
        <p:spPr>
          <a:xfrm>
            <a:off x="4868545" y="3616325"/>
            <a:ext cx="6222365" cy="13970"/>
          </a:xfrm>
          <a:prstGeom prst="line">
            <a:avLst/>
          </a:prstGeom>
          <a:ln w="19050" cap="flat" cmpd="sng">
            <a:solidFill>
              <a:schemeClr val="accent2"/>
            </a:solidFill>
            <a:prstDash val="solid"/>
            <a:round/>
            <a:headEnd type="none" w="med" len="med"/>
            <a:tailEnd type="none" w="med" len="med"/>
          </a:ln>
        </p:spPr>
      </p:sp>
      <p:sp>
        <p:nvSpPr>
          <p:cNvPr id="47146" name="Line 41"/>
          <p:cNvSpPr/>
          <p:nvPr/>
        </p:nvSpPr>
        <p:spPr>
          <a:xfrm flipH="1" flipV="1">
            <a:off x="4877435" y="3028315"/>
            <a:ext cx="14605" cy="1934210"/>
          </a:xfrm>
          <a:prstGeom prst="line">
            <a:avLst/>
          </a:prstGeom>
          <a:ln w="19050" cap="flat" cmpd="sng">
            <a:solidFill>
              <a:schemeClr val="accent2"/>
            </a:solidFill>
            <a:prstDash val="solid"/>
            <a:round/>
            <a:headEnd type="none" w="med" len="med"/>
            <a:tailEnd type="triangle" w="med" len="med"/>
          </a:ln>
        </p:spPr>
      </p:sp>
      <p:sp>
        <p:nvSpPr>
          <p:cNvPr id="46082" name="Rectangle 3"/>
          <p:cNvSpPr/>
          <p:nvPr/>
        </p:nvSpPr>
        <p:spPr>
          <a:xfrm>
            <a:off x="912813" y="420688"/>
            <a:ext cx="10361612" cy="523875"/>
          </a:xfrm>
          <a:prstGeom prst="rect">
            <a:avLst/>
          </a:prstGeom>
          <a:noFill/>
          <a:ln w="9525">
            <a:noFill/>
          </a:ln>
        </p:spPr>
        <p:txBody>
          <a:bodyPr anchor="ctr" anchorCtr="0"/>
          <a:p>
            <a:pPr algn="ctr"/>
            <a:r>
              <a:rPr lang="zh-CN" sz="3200" dirty="0">
                <a:solidFill>
                  <a:srgbClr val="FF0000"/>
                </a:solidFill>
                <a:latin typeface="Arial" panose="02080604020202020204" pitchFamily="34" charset="0"/>
                <a:ea typeface="黑体" panose="02000500000000000000" pitchFamily="49" charset="-122"/>
              </a:rPr>
              <a:t>例子</a:t>
            </a:r>
            <a:endParaRPr lang="zh-CN" sz="3200" dirty="0">
              <a:solidFill>
                <a:srgbClr val="FF0000"/>
              </a:solidFill>
              <a:latin typeface="Arial" panose="02080604020202020204" pitchFamily="34" charset="0"/>
              <a:ea typeface="黑体" panose="02000500000000000000" pitchFamily="49" charset="-122"/>
            </a:endParaRPr>
          </a:p>
        </p:txBody>
      </p:sp>
      <p:sp>
        <p:nvSpPr>
          <p:cNvPr id="50195" name="Text Box 44"/>
          <p:cNvSpPr txBox="1"/>
          <p:nvPr/>
        </p:nvSpPr>
        <p:spPr>
          <a:xfrm>
            <a:off x="8543925" y="1232218"/>
            <a:ext cx="938213" cy="184150"/>
          </a:xfrm>
          <a:prstGeom prst="rect">
            <a:avLst/>
          </a:prstGeom>
          <a:solidFill>
            <a:schemeClr val="bg1"/>
          </a:solidFill>
          <a:ln w="9525">
            <a:noFill/>
          </a:ln>
        </p:spPr>
        <p:txBody>
          <a:bodyPr lIns="0" tIns="0" rIns="0" bIns="0" anchor="t" anchorCtr="0">
            <a:spAutoFit/>
          </a:bodyPr>
          <a:p>
            <a:pPr>
              <a:spcBef>
                <a:spcPct val="50000"/>
              </a:spcBef>
            </a:pPr>
            <a:r>
              <a:rPr lang="zh-CN" altLang="en-US" sz="1200" b="1" dirty="0">
                <a:solidFill>
                  <a:srgbClr val="FF0000"/>
                </a:solidFill>
                <a:latin typeface="Times New Roman" pitchFamily="18" charset="0"/>
                <a:ea typeface="宋体" panose="02000500000000000000" pitchFamily="2" charset="-122"/>
              </a:rPr>
              <a:t>结果总线</a:t>
            </a:r>
            <a:endParaRPr lang="zh-CN" altLang="en-US" sz="1200" b="1" dirty="0">
              <a:solidFill>
                <a:srgbClr val="FF0000"/>
              </a:solidFill>
              <a:latin typeface="Times New Roman" pitchFamily="18" charset="0"/>
              <a:ea typeface="宋体" panose="02000500000000000000" pitchFamily="2" charset="-122"/>
            </a:endParaRPr>
          </a:p>
        </p:txBody>
      </p:sp>
      <p:sp>
        <p:nvSpPr>
          <p:cNvPr id="52244" name="Text Box 44"/>
          <p:cNvSpPr txBox="1"/>
          <p:nvPr/>
        </p:nvSpPr>
        <p:spPr>
          <a:xfrm>
            <a:off x="187325" y="2743200"/>
            <a:ext cx="4187825" cy="1060450"/>
          </a:xfrm>
          <a:prstGeom prst="rect">
            <a:avLst/>
          </a:prstGeom>
          <a:noFill/>
          <a:ln w="9525">
            <a:noFill/>
          </a:ln>
        </p:spPr>
        <p:txBody>
          <a:bodyPr anchor="t" anchorCtr="0">
            <a:spAutoFit/>
          </a:bodyPr>
          <a:p>
            <a:pPr>
              <a:lnSpc>
                <a:spcPct val="150000"/>
              </a:lnSpc>
              <a:buChar char="•"/>
            </a:pPr>
            <a:r>
              <a:rPr lang="en-US" altLang="zh-CN" sz="1400" dirty="0">
                <a:solidFill>
                  <a:srgbClr val="000000"/>
                </a:solidFill>
                <a:latin typeface="宋体" panose="02000500000000000000" pitchFamily="2" charset="-122"/>
                <a:cs typeface="宋体" panose="02000500000000000000" pitchFamily="2" charset="-122"/>
              </a:rPr>
              <a:t>DIV</a:t>
            </a:r>
            <a:r>
              <a:rPr lang="zh-CN" altLang="zh-CN" sz="1400" dirty="0">
                <a:solidFill>
                  <a:srgbClr val="000000"/>
                </a:solidFill>
                <a:latin typeface="宋体" panose="02000500000000000000" pitchFamily="2" charset="-122"/>
                <a:cs typeface="宋体" panose="02000500000000000000" pitchFamily="2" charset="-122"/>
              </a:rPr>
              <a:t>发射，</a:t>
            </a:r>
            <a:r>
              <a:rPr lang="en-US" altLang="zh-CN" sz="1400" dirty="0">
                <a:solidFill>
                  <a:srgbClr val="000000"/>
                </a:solidFill>
                <a:latin typeface="宋体" panose="02000500000000000000" pitchFamily="2" charset="-122"/>
                <a:cs typeface="宋体" panose="02000500000000000000" pitchFamily="2" charset="-122"/>
              </a:rPr>
              <a:t>F1, F2</a:t>
            </a:r>
            <a:r>
              <a:rPr lang="zh-CN" altLang="zh-CN" sz="1400" dirty="0">
                <a:solidFill>
                  <a:srgbClr val="000000"/>
                </a:solidFill>
                <a:latin typeface="宋体" panose="02000500000000000000" pitchFamily="2" charset="-122"/>
                <a:cs typeface="宋体" panose="02000500000000000000" pitchFamily="2" charset="-122"/>
              </a:rPr>
              <a:t>都准备好</a:t>
            </a:r>
            <a:endParaRPr lang="zh-CN" altLang="zh-CN" sz="1400" dirty="0">
              <a:solidFill>
                <a:srgbClr val="000000"/>
              </a:solidFill>
              <a:latin typeface="宋体" panose="02000500000000000000" pitchFamily="2" charset="-122"/>
              <a:cs typeface="宋体" panose="02000500000000000000" pitchFamily="2" charset="-122"/>
            </a:endParaRPr>
          </a:p>
          <a:p>
            <a:pPr>
              <a:lnSpc>
                <a:spcPct val="150000"/>
              </a:lnSpc>
              <a:buChar char="•"/>
            </a:pPr>
            <a:r>
              <a:rPr lang="en-US" altLang="zh-CN" sz="1400" dirty="0">
                <a:latin typeface="宋体" panose="02000500000000000000" pitchFamily="2" charset="-122"/>
                <a:cs typeface="宋体" panose="02000500000000000000" pitchFamily="2" charset="-122"/>
              </a:rPr>
              <a:t>MUL1</a:t>
            </a:r>
            <a:r>
              <a:rPr lang="zh-CN" altLang="zh-CN" sz="1400" dirty="0">
                <a:latin typeface="宋体" panose="02000500000000000000" pitchFamily="2" charset="-122"/>
                <a:cs typeface="宋体" panose="02000500000000000000" pitchFamily="2" charset="-122"/>
              </a:rPr>
              <a:t>发射，</a:t>
            </a:r>
            <a:r>
              <a:rPr lang="en-US" altLang="zh-CN" sz="1400" dirty="0">
                <a:latin typeface="宋体" panose="02000500000000000000" pitchFamily="2" charset="-122"/>
                <a:cs typeface="宋体" panose="02000500000000000000" pitchFamily="2" charset="-122"/>
              </a:rPr>
              <a:t>F0</a:t>
            </a:r>
            <a:r>
              <a:rPr lang="zh-CN" altLang="zh-CN" sz="1400" dirty="0">
                <a:latin typeface="宋体" panose="02000500000000000000" pitchFamily="2" charset="-122"/>
                <a:cs typeface="宋体" panose="02000500000000000000" pitchFamily="2" charset="-122"/>
              </a:rPr>
              <a:t>等待1号</a:t>
            </a:r>
            <a:r>
              <a:rPr lang="en-US" altLang="zh-CN" sz="1400" dirty="0">
                <a:latin typeface="宋体" panose="02000500000000000000" pitchFamily="2" charset="-122"/>
                <a:cs typeface="宋体" panose="02000500000000000000" pitchFamily="2" charset="-122"/>
              </a:rPr>
              <a:t>RB</a:t>
            </a:r>
            <a:r>
              <a:rPr lang="zh-CN" altLang="zh-CN" sz="1400" dirty="0">
                <a:latin typeface="宋体" panose="02000500000000000000" pitchFamily="2" charset="-122"/>
                <a:cs typeface="宋体" panose="02000500000000000000" pitchFamily="2" charset="-122"/>
              </a:rPr>
              <a:t>的结果</a:t>
            </a:r>
            <a:endParaRPr lang="zh-CN" altLang="zh-CN" sz="1400" dirty="0">
              <a:latin typeface="宋体" panose="02000500000000000000" pitchFamily="2" charset="-122"/>
              <a:cs typeface="宋体" panose="02000500000000000000" pitchFamily="2" charset="-122"/>
            </a:endParaRPr>
          </a:p>
          <a:p>
            <a:pPr>
              <a:lnSpc>
                <a:spcPct val="150000"/>
              </a:lnSpc>
              <a:buChar char="•"/>
            </a:pPr>
            <a:r>
              <a:rPr lang="en-US" altLang="zh-CN" sz="1400" dirty="0">
                <a:solidFill>
                  <a:srgbClr val="FF0000"/>
                </a:solidFill>
                <a:latin typeface="宋体" panose="02000500000000000000" pitchFamily="2" charset="-122"/>
                <a:cs typeface="宋体" panose="02000500000000000000" pitchFamily="2" charset="-122"/>
              </a:rPr>
              <a:t>ADD</a:t>
            </a:r>
            <a:r>
              <a:rPr lang="zh-CN" altLang="zh-CN" sz="1400" dirty="0">
                <a:solidFill>
                  <a:srgbClr val="FF0000"/>
                </a:solidFill>
                <a:latin typeface="宋体" panose="02000500000000000000" pitchFamily="2" charset="-122"/>
                <a:cs typeface="宋体" panose="02000500000000000000" pitchFamily="2" charset="-122"/>
              </a:rPr>
              <a:t>发射，</a:t>
            </a:r>
            <a:r>
              <a:rPr lang="en-US" altLang="zh-CN" sz="1400" dirty="0">
                <a:solidFill>
                  <a:srgbClr val="FF0000"/>
                </a:solidFill>
                <a:latin typeface="宋体" panose="02000500000000000000" pitchFamily="2" charset="-122"/>
                <a:cs typeface="宋体" panose="02000500000000000000" pitchFamily="2" charset="-122"/>
              </a:rPr>
              <a:t>F1, F2</a:t>
            </a:r>
            <a:r>
              <a:rPr lang="zh-CN" altLang="zh-CN" sz="1400" dirty="0">
                <a:solidFill>
                  <a:srgbClr val="FF0000"/>
                </a:solidFill>
                <a:latin typeface="宋体" panose="02000500000000000000" pitchFamily="2" charset="-122"/>
                <a:cs typeface="宋体" panose="02000500000000000000" pitchFamily="2" charset="-122"/>
              </a:rPr>
              <a:t>都准备好</a:t>
            </a:r>
            <a:endParaRPr lang="zh-CN" altLang="en-US" sz="1400" dirty="0">
              <a:solidFill>
                <a:srgbClr val="FF0000"/>
              </a:solidFill>
              <a:latin typeface="宋体" panose="02000500000000000000" pitchFamily="2" charset="-122"/>
              <a:cs typeface="宋体" panose="02000500000000000000" pitchFamily="2"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51" name="Line 52"/>
          <p:cNvSpPr/>
          <p:nvPr/>
        </p:nvSpPr>
        <p:spPr>
          <a:xfrm flipV="1">
            <a:off x="7390765" y="2116455"/>
            <a:ext cx="0" cy="335280"/>
          </a:xfrm>
          <a:prstGeom prst="line">
            <a:avLst/>
          </a:prstGeom>
          <a:ln w="9525" cap="flat" cmpd="sng">
            <a:solidFill>
              <a:schemeClr val="tx1"/>
            </a:solidFill>
            <a:prstDash val="solid"/>
            <a:round/>
            <a:headEnd type="none" w="med" len="med"/>
            <a:tailEnd type="triangle" w="med" len="med"/>
          </a:ln>
        </p:spPr>
      </p:sp>
      <p:sp>
        <p:nvSpPr>
          <p:cNvPr id="31752" name="Line 53"/>
          <p:cNvSpPr/>
          <p:nvPr/>
        </p:nvSpPr>
        <p:spPr>
          <a:xfrm flipV="1">
            <a:off x="8270875" y="2116455"/>
            <a:ext cx="0" cy="335280"/>
          </a:xfrm>
          <a:prstGeom prst="line">
            <a:avLst/>
          </a:prstGeom>
          <a:ln w="9525" cap="flat" cmpd="sng">
            <a:solidFill>
              <a:schemeClr val="tx1"/>
            </a:solidFill>
            <a:prstDash val="solid"/>
            <a:round/>
            <a:headEnd type="none" w="med" len="med"/>
            <a:tailEnd type="triangle" w="med" len="med"/>
          </a:ln>
        </p:spPr>
      </p:sp>
      <p:sp>
        <p:nvSpPr>
          <p:cNvPr id="31753" name="Line 54"/>
          <p:cNvSpPr/>
          <p:nvPr/>
        </p:nvSpPr>
        <p:spPr>
          <a:xfrm flipV="1">
            <a:off x="10353675" y="2103755"/>
            <a:ext cx="0" cy="335280"/>
          </a:xfrm>
          <a:prstGeom prst="line">
            <a:avLst/>
          </a:prstGeom>
          <a:ln w="9525" cap="flat" cmpd="sng">
            <a:solidFill>
              <a:schemeClr val="tx1"/>
            </a:solidFill>
            <a:prstDash val="solid"/>
            <a:round/>
            <a:headEnd type="none" w="med" len="med"/>
            <a:tailEnd type="triangle" w="med" len="med"/>
          </a:ln>
        </p:spPr>
      </p:sp>
      <p:sp>
        <p:nvSpPr>
          <p:cNvPr id="31754" name="Line 55"/>
          <p:cNvSpPr/>
          <p:nvPr/>
        </p:nvSpPr>
        <p:spPr>
          <a:xfrm flipV="1">
            <a:off x="11301730" y="2091055"/>
            <a:ext cx="0" cy="335280"/>
          </a:xfrm>
          <a:prstGeom prst="line">
            <a:avLst/>
          </a:prstGeom>
          <a:ln w="9525" cap="flat" cmpd="sng">
            <a:solidFill>
              <a:schemeClr val="tx1"/>
            </a:solidFill>
            <a:prstDash val="solid"/>
            <a:round/>
            <a:headEnd type="none" w="med" len="med"/>
            <a:tailEnd type="triangle" w="med" len="med"/>
          </a:ln>
        </p:spPr>
      </p:sp>
      <p:sp>
        <p:nvSpPr>
          <p:cNvPr id="31755" name="Line 56"/>
          <p:cNvSpPr/>
          <p:nvPr/>
        </p:nvSpPr>
        <p:spPr>
          <a:xfrm flipV="1">
            <a:off x="8137525" y="4694555"/>
            <a:ext cx="0" cy="617855"/>
          </a:xfrm>
          <a:prstGeom prst="line">
            <a:avLst/>
          </a:prstGeom>
          <a:ln w="19050" cap="flat" cmpd="sng">
            <a:solidFill>
              <a:schemeClr val="tx1"/>
            </a:solidFill>
            <a:prstDash val="solid"/>
            <a:round/>
            <a:headEnd type="none" w="med" len="med"/>
            <a:tailEnd type="triangle" w="med" len="med"/>
          </a:ln>
        </p:spPr>
      </p:sp>
      <p:sp>
        <p:nvSpPr>
          <p:cNvPr id="31756" name="Line 57"/>
          <p:cNvSpPr/>
          <p:nvPr/>
        </p:nvSpPr>
        <p:spPr>
          <a:xfrm flipV="1">
            <a:off x="7794625" y="3044825"/>
            <a:ext cx="0" cy="247650"/>
          </a:xfrm>
          <a:prstGeom prst="line">
            <a:avLst/>
          </a:prstGeom>
          <a:ln w="19050" cap="flat" cmpd="sng">
            <a:solidFill>
              <a:schemeClr val="tx1"/>
            </a:solidFill>
            <a:prstDash val="solid"/>
            <a:round/>
            <a:headEnd type="none" w="med" len="med"/>
            <a:tailEnd type="triangle" w="med" len="med"/>
          </a:ln>
        </p:spPr>
      </p:sp>
      <p:sp>
        <p:nvSpPr>
          <p:cNvPr id="31757" name="Line 58"/>
          <p:cNvSpPr/>
          <p:nvPr/>
        </p:nvSpPr>
        <p:spPr>
          <a:xfrm flipV="1">
            <a:off x="10788015" y="3037205"/>
            <a:ext cx="0" cy="260350"/>
          </a:xfrm>
          <a:prstGeom prst="line">
            <a:avLst/>
          </a:prstGeom>
          <a:ln w="19050" cap="flat" cmpd="sng">
            <a:solidFill>
              <a:schemeClr val="tx1"/>
            </a:solidFill>
            <a:prstDash val="solid"/>
            <a:round/>
            <a:headEnd type="none" w="med" len="med"/>
            <a:tailEnd type="triangle" w="med" len="med"/>
          </a:ln>
        </p:spPr>
      </p:sp>
      <p:sp>
        <p:nvSpPr>
          <p:cNvPr id="31758" name="Line 59"/>
          <p:cNvSpPr/>
          <p:nvPr/>
        </p:nvSpPr>
        <p:spPr>
          <a:xfrm flipV="1">
            <a:off x="10813415" y="1449705"/>
            <a:ext cx="0" cy="370205"/>
          </a:xfrm>
          <a:prstGeom prst="line">
            <a:avLst/>
          </a:prstGeom>
          <a:ln w="19050" cap="flat" cmpd="sng">
            <a:solidFill>
              <a:srgbClr val="FF0000"/>
            </a:solidFill>
            <a:prstDash val="solid"/>
            <a:round/>
            <a:headEnd type="none" w="med" len="med"/>
            <a:tailEnd type="triangle" w="med" len="med"/>
          </a:ln>
        </p:spPr>
      </p:sp>
      <p:sp>
        <p:nvSpPr>
          <p:cNvPr id="31759" name="Line 60"/>
          <p:cNvSpPr/>
          <p:nvPr/>
        </p:nvSpPr>
        <p:spPr>
          <a:xfrm flipV="1">
            <a:off x="7881620" y="1466850"/>
            <a:ext cx="0" cy="370205"/>
          </a:xfrm>
          <a:prstGeom prst="line">
            <a:avLst/>
          </a:prstGeom>
          <a:ln w="19050" cap="flat" cmpd="sng">
            <a:solidFill>
              <a:schemeClr val="tx1"/>
            </a:solidFill>
            <a:prstDash val="solid"/>
            <a:round/>
            <a:headEnd type="none" w="med" len="med"/>
            <a:tailEnd type="triangle" w="med" len="med"/>
          </a:ln>
        </p:spPr>
      </p:sp>
      <p:sp>
        <p:nvSpPr>
          <p:cNvPr id="31760" name="Line 61"/>
          <p:cNvSpPr/>
          <p:nvPr/>
        </p:nvSpPr>
        <p:spPr>
          <a:xfrm>
            <a:off x="5155565" y="1460500"/>
            <a:ext cx="7009765" cy="0"/>
          </a:xfrm>
          <a:prstGeom prst="line">
            <a:avLst/>
          </a:prstGeom>
          <a:ln w="19050" cap="flat" cmpd="sng">
            <a:solidFill>
              <a:srgbClr val="FF0000"/>
            </a:solidFill>
            <a:prstDash val="solid"/>
            <a:round/>
            <a:headEnd type="none" w="med" len="med"/>
            <a:tailEnd type="none" w="med" len="med"/>
          </a:ln>
        </p:spPr>
      </p:sp>
      <p:sp>
        <p:nvSpPr>
          <p:cNvPr id="31761" name="Line 62"/>
          <p:cNvSpPr/>
          <p:nvPr/>
        </p:nvSpPr>
        <p:spPr>
          <a:xfrm flipH="1" flipV="1">
            <a:off x="7160895" y="3035300"/>
            <a:ext cx="635" cy="389255"/>
          </a:xfrm>
          <a:prstGeom prst="line">
            <a:avLst/>
          </a:prstGeom>
          <a:ln w="19050" cap="flat" cmpd="sng">
            <a:solidFill>
              <a:srgbClr val="FF0000"/>
            </a:solidFill>
            <a:prstDash val="solid"/>
            <a:round/>
            <a:headEnd type="none" w="med" len="med"/>
            <a:tailEnd type="triangle" w="med" len="med"/>
          </a:ln>
        </p:spPr>
      </p:sp>
      <p:sp>
        <p:nvSpPr>
          <p:cNvPr id="31762" name="Line 63"/>
          <p:cNvSpPr/>
          <p:nvPr/>
        </p:nvSpPr>
        <p:spPr>
          <a:xfrm flipV="1">
            <a:off x="11272520" y="3027680"/>
            <a:ext cx="635" cy="410845"/>
          </a:xfrm>
          <a:prstGeom prst="line">
            <a:avLst/>
          </a:prstGeom>
          <a:ln w="19050" cap="flat" cmpd="sng">
            <a:solidFill>
              <a:srgbClr val="FF0000"/>
            </a:solidFill>
            <a:prstDash val="solid"/>
            <a:round/>
            <a:headEnd type="none" w="med" len="med"/>
            <a:tailEnd type="triangle" w="med" len="med"/>
          </a:ln>
        </p:spPr>
      </p:sp>
      <p:sp>
        <p:nvSpPr>
          <p:cNvPr id="31763" name="Line 64"/>
          <p:cNvSpPr/>
          <p:nvPr/>
        </p:nvSpPr>
        <p:spPr>
          <a:xfrm>
            <a:off x="12150725" y="1463040"/>
            <a:ext cx="635" cy="3496945"/>
          </a:xfrm>
          <a:prstGeom prst="line">
            <a:avLst/>
          </a:prstGeom>
          <a:ln w="19050" cap="flat" cmpd="sng">
            <a:solidFill>
              <a:srgbClr val="FF0000"/>
            </a:solidFill>
            <a:prstDash val="solid"/>
            <a:round/>
            <a:headEnd type="none" w="med" len="med"/>
            <a:tailEnd type="none" w="med" len="med"/>
          </a:ln>
        </p:spPr>
      </p:sp>
      <p:sp>
        <p:nvSpPr>
          <p:cNvPr id="31764" name="Line 65"/>
          <p:cNvSpPr/>
          <p:nvPr/>
        </p:nvSpPr>
        <p:spPr>
          <a:xfrm flipV="1">
            <a:off x="8114665" y="3270250"/>
            <a:ext cx="0" cy="581025"/>
          </a:xfrm>
          <a:prstGeom prst="line">
            <a:avLst/>
          </a:prstGeom>
          <a:ln w="19050" cap="flat" cmpd="sng">
            <a:solidFill>
              <a:schemeClr val="tx1"/>
            </a:solidFill>
            <a:prstDash val="solid"/>
            <a:round/>
            <a:headEnd type="none" w="med" len="med"/>
            <a:tailEnd type="triangle" w="med" len="med"/>
          </a:ln>
        </p:spPr>
      </p:sp>
      <p:sp>
        <p:nvSpPr>
          <p:cNvPr id="31765" name="Text Box 66"/>
          <p:cNvSpPr txBox="1"/>
          <p:nvPr/>
        </p:nvSpPr>
        <p:spPr>
          <a:xfrm>
            <a:off x="6283960" y="2246630"/>
            <a:ext cx="1039495" cy="18415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加法保留站</a:t>
            </a:r>
            <a:endParaRPr lang="zh-CN" altLang="en-US" sz="1200" b="1" dirty="0">
              <a:latin typeface="Times New Roman" pitchFamily="18" charset="0"/>
              <a:ea typeface="宋体" panose="02000500000000000000" pitchFamily="2" charset="-122"/>
            </a:endParaRPr>
          </a:p>
        </p:txBody>
      </p:sp>
      <p:sp>
        <p:nvSpPr>
          <p:cNvPr id="31766" name="Text Box 67"/>
          <p:cNvSpPr txBox="1"/>
          <p:nvPr/>
        </p:nvSpPr>
        <p:spPr>
          <a:xfrm>
            <a:off x="6925310" y="3675380"/>
            <a:ext cx="1090295" cy="184150"/>
          </a:xfrm>
          <a:prstGeom prst="rect">
            <a:avLst/>
          </a:prstGeom>
          <a:noFill/>
          <a:ln w="9525">
            <a:noFill/>
          </a:ln>
          <a:extLst>
            <a:ext uri="{909E8E84-426E-40DD-AFC4-6F175D3DCCD1}">
              <a14:hiddenFill xmlns:a14="http://schemas.microsoft.com/office/drawing/2010/main">
                <a:solidFill>
                  <a:schemeClr val="bg1"/>
                </a:solidFill>
              </a14:hiddenFill>
            </a:ext>
          </a:extLst>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浮点寄存器</a:t>
            </a:r>
            <a:endParaRPr lang="zh-CN" altLang="en-US" sz="1200" b="1" dirty="0">
              <a:latin typeface="Times New Roman" pitchFamily="18" charset="0"/>
              <a:ea typeface="宋体" panose="02000500000000000000" pitchFamily="2" charset="-122"/>
            </a:endParaRPr>
          </a:p>
        </p:txBody>
      </p:sp>
      <p:sp>
        <p:nvSpPr>
          <p:cNvPr id="31767" name="Text Box 68"/>
          <p:cNvSpPr txBox="1"/>
          <p:nvPr/>
        </p:nvSpPr>
        <p:spPr>
          <a:xfrm>
            <a:off x="9289415" y="2235200"/>
            <a:ext cx="1039495" cy="18415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乘法保留站</a:t>
            </a:r>
            <a:endParaRPr lang="zh-CN" altLang="en-US" sz="1200" b="1" dirty="0">
              <a:latin typeface="Times New Roman" pitchFamily="18" charset="0"/>
              <a:ea typeface="宋体" panose="02000500000000000000" pitchFamily="2" charset="-122"/>
            </a:endParaRPr>
          </a:p>
        </p:txBody>
      </p:sp>
      <p:sp>
        <p:nvSpPr>
          <p:cNvPr id="31768" name="Line 69"/>
          <p:cNvSpPr/>
          <p:nvPr/>
        </p:nvSpPr>
        <p:spPr>
          <a:xfrm>
            <a:off x="10807065" y="4959985"/>
            <a:ext cx="1358265" cy="635"/>
          </a:xfrm>
          <a:prstGeom prst="line">
            <a:avLst/>
          </a:prstGeom>
          <a:ln w="19050" cap="flat" cmpd="sng">
            <a:solidFill>
              <a:srgbClr val="FF0000"/>
            </a:solidFill>
            <a:prstDash val="solid"/>
            <a:round/>
            <a:headEnd type="none" w="med" len="med"/>
            <a:tailEnd type="none" w="med" len="med"/>
          </a:ln>
        </p:spPr>
      </p:sp>
      <p:sp>
        <p:nvSpPr>
          <p:cNvPr id="31769" name="Line 70"/>
          <p:cNvSpPr/>
          <p:nvPr/>
        </p:nvSpPr>
        <p:spPr>
          <a:xfrm flipV="1">
            <a:off x="10812145" y="4701540"/>
            <a:ext cx="1905" cy="260350"/>
          </a:xfrm>
          <a:prstGeom prst="line">
            <a:avLst/>
          </a:prstGeom>
          <a:ln w="19050" cap="flat" cmpd="sng">
            <a:solidFill>
              <a:srgbClr val="FF0000"/>
            </a:solidFill>
            <a:prstDash val="solid"/>
            <a:round/>
            <a:headEnd type="none" w="med" len="med"/>
            <a:tailEnd type="triangle" w="med" len="med"/>
          </a:ln>
        </p:spPr>
      </p:sp>
      <p:grpSp>
        <p:nvGrpSpPr>
          <p:cNvPr id="31772" name="Group 73"/>
          <p:cNvGrpSpPr/>
          <p:nvPr/>
        </p:nvGrpSpPr>
        <p:grpSpPr>
          <a:xfrm rot="0">
            <a:off x="4488815" y="1461135"/>
            <a:ext cx="7679055" cy="1970389"/>
            <a:chOff x="1701" y="512"/>
            <a:chExt cx="3628" cy="1241"/>
          </a:xfrm>
        </p:grpSpPr>
        <p:sp>
          <p:nvSpPr>
            <p:cNvPr id="31773" name="Line 74"/>
            <p:cNvSpPr/>
            <p:nvPr/>
          </p:nvSpPr>
          <p:spPr>
            <a:xfrm flipV="1">
              <a:off x="2154" y="1661"/>
              <a:ext cx="2518" cy="0"/>
            </a:xfrm>
            <a:prstGeom prst="line">
              <a:avLst/>
            </a:prstGeom>
            <a:ln w="19050" cap="flat" cmpd="sng">
              <a:solidFill>
                <a:schemeClr val="tx1"/>
              </a:solidFill>
              <a:prstDash val="solid"/>
              <a:round/>
              <a:headEnd type="none" w="med" len="med"/>
              <a:tailEnd type="none" w="med" len="med"/>
            </a:ln>
          </p:spPr>
        </p:sp>
        <p:sp>
          <p:nvSpPr>
            <p:cNvPr id="31774" name="Line 75"/>
            <p:cNvSpPr/>
            <p:nvPr/>
          </p:nvSpPr>
          <p:spPr>
            <a:xfrm flipV="1">
              <a:off x="2010" y="1753"/>
              <a:ext cx="3319" cy="0"/>
            </a:xfrm>
            <a:prstGeom prst="line">
              <a:avLst/>
            </a:prstGeom>
            <a:ln w="19050" cap="flat" cmpd="sng">
              <a:solidFill>
                <a:srgbClr val="FF0000"/>
              </a:solidFill>
              <a:prstDash val="solid"/>
              <a:round/>
              <a:headEnd type="none" w="med" len="med"/>
              <a:tailEnd type="none" w="med" len="med"/>
            </a:ln>
          </p:spPr>
        </p:sp>
        <p:grpSp>
          <p:nvGrpSpPr>
            <p:cNvPr id="31775" name="Group 76"/>
            <p:cNvGrpSpPr/>
            <p:nvPr/>
          </p:nvGrpSpPr>
          <p:grpSpPr>
            <a:xfrm>
              <a:off x="1701" y="512"/>
              <a:ext cx="3494" cy="1239"/>
              <a:chOff x="1701" y="512"/>
              <a:chExt cx="3494" cy="1239"/>
            </a:xfrm>
          </p:grpSpPr>
          <p:grpSp>
            <p:nvGrpSpPr>
              <p:cNvPr id="31776" name="Group 77"/>
              <p:cNvGrpSpPr/>
              <p:nvPr/>
            </p:nvGrpSpPr>
            <p:grpSpPr>
              <a:xfrm>
                <a:off x="2019" y="512"/>
                <a:ext cx="135" cy="1239"/>
                <a:chOff x="2019" y="512"/>
                <a:chExt cx="135" cy="1239"/>
              </a:xfrm>
            </p:grpSpPr>
            <p:sp>
              <p:nvSpPr>
                <p:cNvPr id="31777" name="Line 78"/>
                <p:cNvSpPr/>
                <p:nvPr/>
              </p:nvSpPr>
              <p:spPr>
                <a:xfrm flipV="1">
                  <a:off x="2022" y="512"/>
                  <a:ext cx="0" cy="233"/>
                </a:xfrm>
                <a:prstGeom prst="line">
                  <a:avLst/>
                </a:prstGeom>
                <a:ln w="19050" cap="flat" cmpd="sng">
                  <a:solidFill>
                    <a:schemeClr val="tx1"/>
                  </a:solidFill>
                  <a:prstDash val="solid"/>
                  <a:round/>
                  <a:headEnd type="none" w="med" len="med"/>
                  <a:tailEnd type="triangle" w="med" len="med"/>
                </a:ln>
              </p:spPr>
            </p:sp>
            <p:sp>
              <p:nvSpPr>
                <p:cNvPr id="31778" name="Line 79"/>
                <p:cNvSpPr/>
                <p:nvPr/>
              </p:nvSpPr>
              <p:spPr>
                <a:xfrm flipH="1" flipV="1">
                  <a:off x="2019" y="1502"/>
                  <a:ext cx="3" cy="249"/>
                </a:xfrm>
                <a:prstGeom prst="line">
                  <a:avLst/>
                </a:prstGeom>
                <a:ln w="19050" cap="flat" cmpd="sng">
                  <a:solidFill>
                    <a:srgbClr val="FF0000"/>
                  </a:solidFill>
                  <a:prstDash val="solid"/>
                  <a:round/>
                  <a:headEnd type="none" w="med" len="med"/>
                  <a:tailEnd type="triangle" w="med" len="med"/>
                </a:ln>
              </p:spPr>
            </p:sp>
            <p:sp>
              <p:nvSpPr>
                <p:cNvPr id="31779" name="Line 80"/>
                <p:cNvSpPr/>
                <p:nvPr/>
              </p:nvSpPr>
              <p:spPr>
                <a:xfrm flipV="1">
                  <a:off x="2154" y="1508"/>
                  <a:ext cx="0" cy="156"/>
                </a:xfrm>
                <a:prstGeom prst="line">
                  <a:avLst/>
                </a:prstGeom>
                <a:ln w="19050" cap="flat" cmpd="sng">
                  <a:solidFill>
                    <a:schemeClr val="tx1"/>
                  </a:solidFill>
                  <a:prstDash val="solid"/>
                  <a:round/>
                  <a:headEnd type="none" w="med" len="med"/>
                  <a:tailEnd type="triangle" w="med" len="med"/>
                </a:ln>
              </p:spPr>
            </p:sp>
          </p:grpSp>
          <p:sp>
            <p:nvSpPr>
              <p:cNvPr id="31780" name="Text Box 81"/>
              <p:cNvSpPr txBox="1"/>
              <p:nvPr/>
            </p:nvSpPr>
            <p:spPr>
              <a:xfrm>
                <a:off x="2777" y="750"/>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浮点加</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减法器</a:t>
                </a:r>
                <a:endParaRPr lang="zh-CN" altLang="en-US" sz="1200" b="1" dirty="0">
                  <a:latin typeface="Times New Roman" pitchFamily="18" charset="0"/>
                  <a:ea typeface="宋体" panose="02000500000000000000" pitchFamily="2" charset="-122"/>
                </a:endParaRPr>
              </a:p>
            </p:txBody>
          </p:sp>
          <p:sp>
            <p:nvSpPr>
              <p:cNvPr id="31781" name="Text Box 82"/>
              <p:cNvSpPr txBox="1"/>
              <p:nvPr/>
            </p:nvSpPr>
            <p:spPr>
              <a:xfrm>
                <a:off x="4181" y="737"/>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浮点乘</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除法器</a:t>
                </a:r>
                <a:endParaRPr lang="zh-CN" altLang="en-US" sz="1200" b="1" dirty="0">
                  <a:latin typeface="Times New Roman" pitchFamily="18" charset="0"/>
                  <a:ea typeface="宋体" panose="02000500000000000000" pitchFamily="2" charset="-122"/>
                </a:endParaRPr>
              </a:p>
            </p:txBody>
          </p:sp>
          <p:sp>
            <p:nvSpPr>
              <p:cNvPr id="31782" name="Text Box 83"/>
              <p:cNvSpPr txBox="1"/>
              <p:nvPr/>
            </p:nvSpPr>
            <p:spPr>
              <a:xfrm>
                <a:off x="1701" y="731"/>
                <a:ext cx="664" cy="771"/>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p>
                <a:pPr algn="ctr">
                  <a:spcBef>
                    <a:spcPct val="50000"/>
                  </a:spcBef>
                </a:pPr>
                <a:endParaRPr lang="en-US" altLang="zh-CN" sz="1200"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定点</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访存</a:t>
                </a:r>
                <a:endParaRPr lang="zh-CN" altLang="en-US" sz="1200" b="1"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部件</a:t>
                </a:r>
                <a:endParaRPr lang="zh-CN" altLang="en-US" sz="1200" b="1" dirty="0">
                  <a:latin typeface="Times New Roman" pitchFamily="18" charset="0"/>
                  <a:ea typeface="宋体" panose="02000500000000000000" pitchFamily="2" charset="-122"/>
                </a:endParaRPr>
              </a:p>
              <a:p>
                <a:pPr algn="ctr">
                  <a:spcBef>
                    <a:spcPct val="50000"/>
                  </a:spcBef>
                </a:pPr>
                <a:endParaRPr lang="en-US" altLang="zh-CN" sz="1200" b="1" dirty="0">
                  <a:latin typeface="Times New Roman" pitchFamily="18" charset="0"/>
                  <a:ea typeface="宋体" panose="02000500000000000000" pitchFamily="2" charset="-122"/>
                </a:endParaRPr>
              </a:p>
            </p:txBody>
          </p:sp>
        </p:grpSp>
      </p:grpSp>
      <p:sp>
        <p:nvSpPr>
          <p:cNvPr id="31783" name="Text Box 84"/>
          <p:cNvSpPr txBox="1"/>
          <p:nvPr/>
        </p:nvSpPr>
        <p:spPr>
          <a:xfrm>
            <a:off x="6979920" y="5045075"/>
            <a:ext cx="1030605" cy="184150"/>
          </a:xfrm>
          <a:prstGeom prst="rect">
            <a:avLst/>
          </a:prstGeom>
          <a:solidFill>
            <a:schemeClr val="bg1"/>
          </a:solid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指令队列</a:t>
            </a:r>
            <a:endParaRPr lang="zh-CN" altLang="en-US" sz="1200" b="1" dirty="0">
              <a:latin typeface="Times New Roman" pitchFamily="18" charset="0"/>
              <a:ea typeface="宋体" panose="02000500000000000000" pitchFamily="2" charset="-122"/>
            </a:endParaRPr>
          </a:p>
        </p:txBody>
      </p:sp>
      <p:graphicFrame>
        <p:nvGraphicFramePr>
          <p:cNvPr id="3" name="表格 2"/>
          <p:cNvGraphicFramePr/>
          <p:nvPr/>
        </p:nvGraphicFramePr>
        <p:xfrm>
          <a:off x="6799580" y="3837940"/>
          <a:ext cx="2342515" cy="863600"/>
        </p:xfrm>
        <a:graphic>
          <a:graphicData uri="http://schemas.openxmlformats.org/drawingml/2006/table">
            <a:tbl>
              <a:tblPr firstRow="1" bandRow="1">
                <a:tableStyleId>{5C22544A-7EE6-4342-B048-85BDC9FD1C3A}</a:tableStyleId>
              </a:tblPr>
              <a:tblGrid>
                <a:gridCol w="365125"/>
                <a:gridCol w="450850"/>
                <a:gridCol w="1526540"/>
              </a:tblGrid>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4</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3.0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4" name="表格 3"/>
          <p:cNvGraphicFramePr/>
          <p:nvPr/>
        </p:nvGraphicFramePr>
        <p:xfrm>
          <a:off x="7167880" y="5311775"/>
          <a:ext cx="1930400" cy="1280160"/>
        </p:xfrm>
        <a:graphic>
          <a:graphicData uri="http://schemas.openxmlformats.org/drawingml/2006/table">
            <a:tbl>
              <a:tblPr firstRow="1" bandRow="1">
                <a:tableStyleId>{5C22544A-7EE6-4342-B048-85BDC9FD1C3A}</a:tableStyleId>
              </a:tblPr>
              <a:tblGrid>
                <a:gridCol w="1930400"/>
              </a:tblGrid>
              <a:tr h="213360">
                <a:tc>
                  <a:txBody>
                    <a:bodyPr/>
                    <a:p>
                      <a:pPr indent="0">
                        <a:buNone/>
                      </a:pPr>
                      <a:r>
                        <a:rPr lang="en-US" sz="1200" b="1">
                          <a:solidFill>
                            <a:schemeClr val="tx1"/>
                          </a:solidFill>
                          <a:latin typeface="宋体" panose="02000500000000000000" pitchFamily="2" charset="-122"/>
                          <a:ea typeface="宋体" panose="02000500000000000000" pitchFamily="2" charset="-122"/>
                        </a:rPr>
                        <a:t>FDIV.D  </a:t>
                      </a:r>
                      <a:r>
                        <a:rPr lang="en-US" sz="1200" b="1">
                          <a:solidFill>
                            <a:srgbClr val="FF0000"/>
                          </a:solidFill>
                          <a:latin typeface="宋体" panose="02000500000000000000" pitchFamily="2" charset="-122"/>
                          <a:ea typeface="宋体" panose="02000500000000000000" pitchFamily="2" charset="-122"/>
                        </a:rPr>
                        <a:t>F0</a:t>
                      </a:r>
                      <a:r>
                        <a:rPr lang="en-US" sz="1200" b="1">
                          <a:solidFill>
                            <a:schemeClr val="tx1"/>
                          </a:solidFill>
                          <a:latin typeface="宋体" panose="02000500000000000000" pitchFamily="2" charset="-122"/>
                          <a:ea typeface="宋体" panose="02000500000000000000" pitchFamily="2" charset="-122"/>
                        </a:rPr>
                        <a:t>, F1, F2</a:t>
                      </a:r>
                      <a:endParaRPr lang="en-US" altLang="en-US" sz="1200" b="1">
                        <a:solidFill>
                          <a:schemeClr val="tx1"/>
                        </a:solidFill>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FADD.D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F1,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5" name="表格 4"/>
          <p:cNvGraphicFramePr/>
          <p:nvPr/>
        </p:nvGraphicFramePr>
        <p:xfrm>
          <a:off x="9544050" y="243586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fdiv</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fmul</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zh-CN" altLang="en-US"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4</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fmul</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3</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zh-CN" altLang="en-US"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0</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2.0</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7" name="表格 6"/>
          <p:cNvGraphicFramePr/>
          <p:nvPr/>
        </p:nvGraphicFramePr>
        <p:xfrm>
          <a:off x="6577330" y="245618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ct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fadd</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9" name="表格 8"/>
          <p:cNvGraphicFramePr/>
          <p:nvPr/>
        </p:nvGraphicFramePr>
        <p:xfrm>
          <a:off x="9486900" y="3822700"/>
          <a:ext cx="2342515" cy="863600"/>
        </p:xfrm>
        <a:graphic>
          <a:graphicData uri="http://schemas.openxmlformats.org/drawingml/2006/table">
            <a:tbl>
              <a:tblPr firstRow="1" bandRow="1">
                <a:tableStyleId>{5C22544A-7EE6-4342-B048-85BDC9FD1C3A}</a:tableStyleId>
              </a:tblPr>
              <a:tblGrid>
                <a:gridCol w="221065"/>
                <a:gridCol w="382270"/>
                <a:gridCol w="387901"/>
                <a:gridCol w="1351279"/>
              </a:tblGrid>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4</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fmul</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f3</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fadd</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f0</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fmul</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f3</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fdiv</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f0</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sp>
        <p:nvSpPr>
          <p:cNvPr id="47115" name="Line 15"/>
          <p:cNvSpPr/>
          <p:nvPr/>
        </p:nvSpPr>
        <p:spPr>
          <a:xfrm flipH="1" flipV="1">
            <a:off x="11068050" y="3610610"/>
            <a:ext cx="9525" cy="215900"/>
          </a:xfrm>
          <a:prstGeom prst="line">
            <a:avLst/>
          </a:prstGeom>
          <a:ln w="19050" cap="flat" cmpd="sng">
            <a:solidFill>
              <a:schemeClr val="accent2"/>
            </a:solidFill>
            <a:prstDash val="solid"/>
            <a:round/>
            <a:headEnd type="none" w="med" len="med"/>
            <a:tailEnd type="none" w="med" len="med"/>
          </a:ln>
        </p:spPr>
      </p:sp>
      <p:sp>
        <p:nvSpPr>
          <p:cNvPr id="47131" name="Line 36"/>
          <p:cNvSpPr/>
          <p:nvPr/>
        </p:nvSpPr>
        <p:spPr>
          <a:xfrm flipV="1">
            <a:off x="4904105" y="4940935"/>
            <a:ext cx="2991485" cy="13970"/>
          </a:xfrm>
          <a:prstGeom prst="line">
            <a:avLst/>
          </a:prstGeom>
          <a:ln w="19050" cap="flat" cmpd="sng">
            <a:solidFill>
              <a:schemeClr val="accent2"/>
            </a:solidFill>
            <a:prstDash val="solid"/>
            <a:round/>
            <a:headEnd type="none" w="med" len="med"/>
            <a:tailEnd type="none" w="med" len="med"/>
          </a:ln>
        </p:spPr>
      </p:sp>
      <p:sp>
        <p:nvSpPr>
          <p:cNvPr id="47133" name="Text Box 43"/>
          <p:cNvSpPr txBox="1"/>
          <p:nvPr/>
        </p:nvSpPr>
        <p:spPr>
          <a:xfrm>
            <a:off x="5375910" y="4712335"/>
            <a:ext cx="1089025" cy="184150"/>
          </a:xfrm>
          <a:prstGeom prst="rect">
            <a:avLst/>
          </a:prstGeom>
          <a:noFill/>
          <a:ln w="9525">
            <a:noFill/>
          </a:ln>
          <a:extLst>
            <a:ext uri="{909E8E84-426E-40DD-AFC4-6F175D3DCCD1}">
              <a14:hiddenFill xmlns:a14="http://schemas.microsoft.com/office/drawing/2010/main">
                <a:solidFill>
                  <a:schemeClr val="bg1"/>
                </a:solidFill>
              </a14:hiddenFill>
            </a:ext>
          </a:extLst>
        </p:spPr>
        <p:txBody>
          <a:bodyPr lIns="0" tIns="0" rIns="0" bIns="0" anchor="t" anchorCtr="0">
            <a:spAutoFit/>
          </a:bodyPr>
          <a:p>
            <a:pPr>
              <a:spcBef>
                <a:spcPct val="50000"/>
              </a:spcBef>
            </a:pPr>
            <a:r>
              <a:rPr lang="zh-CN" altLang="en-US" sz="1200" b="1" dirty="0">
                <a:solidFill>
                  <a:schemeClr val="accent2"/>
                </a:solidFill>
                <a:latin typeface="Times New Roman" pitchFamily="18" charset="0"/>
                <a:ea typeface="宋体" panose="02000500000000000000" pitchFamily="2" charset="-122"/>
              </a:rPr>
              <a:t>修改寄存器</a:t>
            </a:r>
            <a:endParaRPr lang="zh-CN" altLang="en-US" sz="1200" b="1" dirty="0">
              <a:solidFill>
                <a:schemeClr val="accent2"/>
              </a:solidFill>
              <a:latin typeface="Times New Roman" pitchFamily="18" charset="0"/>
              <a:ea typeface="宋体" panose="02000500000000000000" pitchFamily="2" charset="-122"/>
            </a:endParaRPr>
          </a:p>
        </p:txBody>
      </p:sp>
      <p:sp>
        <p:nvSpPr>
          <p:cNvPr id="47143" name="Line 37"/>
          <p:cNvSpPr/>
          <p:nvPr/>
        </p:nvSpPr>
        <p:spPr>
          <a:xfrm flipH="1" flipV="1">
            <a:off x="7879715" y="4688205"/>
            <a:ext cx="8255" cy="252095"/>
          </a:xfrm>
          <a:prstGeom prst="line">
            <a:avLst/>
          </a:prstGeom>
          <a:ln w="19050" cap="flat" cmpd="sng">
            <a:solidFill>
              <a:schemeClr val="accent2"/>
            </a:solidFill>
            <a:prstDash val="solid"/>
            <a:round/>
            <a:headEnd type="none" w="med" len="med"/>
            <a:tailEnd type="triangle" w="med" len="med"/>
          </a:ln>
        </p:spPr>
      </p:sp>
      <p:sp>
        <p:nvSpPr>
          <p:cNvPr id="47144" name="Line 38"/>
          <p:cNvSpPr/>
          <p:nvPr/>
        </p:nvSpPr>
        <p:spPr>
          <a:xfrm>
            <a:off x="4868545" y="3616325"/>
            <a:ext cx="6222365" cy="13970"/>
          </a:xfrm>
          <a:prstGeom prst="line">
            <a:avLst/>
          </a:prstGeom>
          <a:ln w="19050" cap="flat" cmpd="sng">
            <a:solidFill>
              <a:schemeClr val="accent2"/>
            </a:solidFill>
            <a:prstDash val="solid"/>
            <a:round/>
            <a:headEnd type="none" w="med" len="med"/>
            <a:tailEnd type="none" w="med" len="med"/>
          </a:ln>
        </p:spPr>
      </p:sp>
      <p:sp>
        <p:nvSpPr>
          <p:cNvPr id="47146" name="Line 41"/>
          <p:cNvSpPr/>
          <p:nvPr/>
        </p:nvSpPr>
        <p:spPr>
          <a:xfrm flipH="1" flipV="1">
            <a:off x="4877435" y="3028315"/>
            <a:ext cx="14605" cy="1934210"/>
          </a:xfrm>
          <a:prstGeom prst="line">
            <a:avLst/>
          </a:prstGeom>
          <a:ln w="19050" cap="flat" cmpd="sng">
            <a:solidFill>
              <a:schemeClr val="accent2"/>
            </a:solidFill>
            <a:prstDash val="solid"/>
            <a:round/>
            <a:headEnd type="none" w="med" len="med"/>
            <a:tailEnd type="triangle" w="med" len="med"/>
          </a:ln>
        </p:spPr>
      </p:sp>
      <p:sp>
        <p:nvSpPr>
          <p:cNvPr id="46082" name="Rectangle 3"/>
          <p:cNvSpPr/>
          <p:nvPr/>
        </p:nvSpPr>
        <p:spPr>
          <a:xfrm>
            <a:off x="912813" y="420688"/>
            <a:ext cx="10361612" cy="523875"/>
          </a:xfrm>
          <a:prstGeom prst="rect">
            <a:avLst/>
          </a:prstGeom>
          <a:noFill/>
          <a:ln w="9525">
            <a:noFill/>
          </a:ln>
        </p:spPr>
        <p:txBody>
          <a:bodyPr anchor="ctr" anchorCtr="0"/>
          <a:p>
            <a:pPr algn="ctr"/>
            <a:r>
              <a:rPr lang="zh-CN" sz="3200" dirty="0">
                <a:solidFill>
                  <a:srgbClr val="FF0000"/>
                </a:solidFill>
                <a:latin typeface="Arial" panose="02080604020202020204" pitchFamily="34" charset="0"/>
                <a:ea typeface="黑体" panose="02000500000000000000" pitchFamily="49" charset="-122"/>
              </a:rPr>
              <a:t>例子</a:t>
            </a:r>
            <a:endParaRPr lang="zh-CN" sz="3200" dirty="0">
              <a:solidFill>
                <a:srgbClr val="FF0000"/>
              </a:solidFill>
              <a:latin typeface="Arial" panose="02080604020202020204" pitchFamily="34" charset="0"/>
              <a:ea typeface="黑体" panose="02000500000000000000" pitchFamily="49" charset="-122"/>
            </a:endParaRPr>
          </a:p>
        </p:txBody>
      </p:sp>
      <p:sp>
        <p:nvSpPr>
          <p:cNvPr id="50195" name="Text Box 44"/>
          <p:cNvSpPr txBox="1"/>
          <p:nvPr/>
        </p:nvSpPr>
        <p:spPr>
          <a:xfrm>
            <a:off x="8543925" y="1232218"/>
            <a:ext cx="938213" cy="184150"/>
          </a:xfrm>
          <a:prstGeom prst="rect">
            <a:avLst/>
          </a:prstGeom>
          <a:solidFill>
            <a:schemeClr val="bg1"/>
          </a:solidFill>
          <a:ln w="9525">
            <a:noFill/>
          </a:ln>
        </p:spPr>
        <p:txBody>
          <a:bodyPr lIns="0" tIns="0" rIns="0" bIns="0" anchor="t" anchorCtr="0">
            <a:spAutoFit/>
          </a:bodyPr>
          <a:p>
            <a:pPr>
              <a:spcBef>
                <a:spcPct val="50000"/>
              </a:spcBef>
            </a:pPr>
            <a:r>
              <a:rPr lang="zh-CN" altLang="en-US" sz="1200" b="1" dirty="0">
                <a:solidFill>
                  <a:srgbClr val="FF0000"/>
                </a:solidFill>
                <a:latin typeface="Times New Roman" pitchFamily="18" charset="0"/>
                <a:ea typeface="宋体" panose="02000500000000000000" pitchFamily="2" charset="-122"/>
              </a:rPr>
              <a:t>结果总线</a:t>
            </a:r>
            <a:endParaRPr lang="zh-CN" altLang="en-US" sz="1200" b="1" dirty="0">
              <a:solidFill>
                <a:srgbClr val="FF0000"/>
              </a:solidFill>
              <a:latin typeface="Times New Roman" pitchFamily="18" charset="0"/>
              <a:ea typeface="宋体" panose="02000500000000000000" pitchFamily="2" charset="-122"/>
            </a:endParaRPr>
          </a:p>
        </p:txBody>
      </p:sp>
      <p:sp>
        <p:nvSpPr>
          <p:cNvPr id="53268" name="Text Box 44"/>
          <p:cNvSpPr txBox="1"/>
          <p:nvPr/>
        </p:nvSpPr>
        <p:spPr>
          <a:xfrm>
            <a:off x="187325" y="2743200"/>
            <a:ext cx="4187825" cy="1383665"/>
          </a:xfrm>
          <a:prstGeom prst="rect">
            <a:avLst/>
          </a:prstGeom>
          <a:noFill/>
          <a:ln w="9525">
            <a:noFill/>
          </a:ln>
        </p:spPr>
        <p:txBody>
          <a:bodyPr anchor="t" anchorCtr="0">
            <a:spAutoFit/>
          </a:bodyPr>
          <a:p>
            <a:pPr>
              <a:lnSpc>
                <a:spcPct val="150000"/>
              </a:lnSpc>
              <a:buChar char="•"/>
            </a:pPr>
            <a:r>
              <a:rPr lang="en-US" altLang="zh-CN" sz="1400" dirty="0">
                <a:solidFill>
                  <a:srgbClr val="000000"/>
                </a:solidFill>
                <a:latin typeface="宋体" panose="02000500000000000000" pitchFamily="2" charset="-122"/>
                <a:cs typeface="宋体" panose="02000500000000000000" pitchFamily="2" charset="-122"/>
              </a:rPr>
              <a:t>DIV</a:t>
            </a:r>
            <a:r>
              <a:rPr lang="zh-CN" altLang="zh-CN" sz="1400" dirty="0">
                <a:solidFill>
                  <a:srgbClr val="000000"/>
                </a:solidFill>
                <a:latin typeface="宋体" panose="02000500000000000000" pitchFamily="2" charset="-122"/>
                <a:cs typeface="宋体" panose="02000500000000000000" pitchFamily="2" charset="-122"/>
              </a:rPr>
              <a:t>发射，</a:t>
            </a:r>
            <a:r>
              <a:rPr lang="en-US" altLang="zh-CN" sz="1400" dirty="0">
                <a:solidFill>
                  <a:srgbClr val="000000"/>
                </a:solidFill>
                <a:latin typeface="宋体" panose="02000500000000000000" pitchFamily="2" charset="-122"/>
                <a:cs typeface="宋体" panose="02000500000000000000" pitchFamily="2" charset="-122"/>
              </a:rPr>
              <a:t>F1, F2</a:t>
            </a:r>
            <a:r>
              <a:rPr lang="zh-CN" altLang="zh-CN" sz="1400" dirty="0">
                <a:solidFill>
                  <a:srgbClr val="000000"/>
                </a:solidFill>
                <a:latin typeface="宋体" panose="02000500000000000000" pitchFamily="2" charset="-122"/>
                <a:cs typeface="宋体" panose="02000500000000000000" pitchFamily="2" charset="-122"/>
              </a:rPr>
              <a:t>都准备好</a:t>
            </a:r>
            <a:endParaRPr lang="zh-CN" altLang="zh-CN" sz="1400" dirty="0">
              <a:solidFill>
                <a:srgbClr val="000000"/>
              </a:solidFill>
              <a:latin typeface="宋体" panose="02000500000000000000" pitchFamily="2" charset="-122"/>
              <a:cs typeface="宋体" panose="02000500000000000000" pitchFamily="2" charset="-122"/>
            </a:endParaRPr>
          </a:p>
          <a:p>
            <a:pPr>
              <a:lnSpc>
                <a:spcPct val="150000"/>
              </a:lnSpc>
              <a:buChar char="•"/>
            </a:pPr>
            <a:r>
              <a:rPr lang="en-US" altLang="zh-CN" sz="1400" dirty="0">
                <a:latin typeface="宋体" panose="02000500000000000000" pitchFamily="2" charset="-122"/>
                <a:cs typeface="宋体" panose="02000500000000000000" pitchFamily="2" charset="-122"/>
              </a:rPr>
              <a:t>MUL1</a:t>
            </a:r>
            <a:r>
              <a:rPr lang="zh-CN" altLang="zh-CN" sz="1400" dirty="0">
                <a:latin typeface="宋体" panose="02000500000000000000" pitchFamily="2" charset="-122"/>
                <a:cs typeface="宋体" panose="02000500000000000000" pitchFamily="2" charset="-122"/>
              </a:rPr>
              <a:t>发射，</a:t>
            </a:r>
            <a:r>
              <a:rPr lang="en-US" altLang="zh-CN" sz="1400" dirty="0">
                <a:latin typeface="宋体" panose="02000500000000000000" pitchFamily="2" charset="-122"/>
                <a:cs typeface="宋体" panose="02000500000000000000" pitchFamily="2" charset="-122"/>
              </a:rPr>
              <a:t>F0</a:t>
            </a:r>
            <a:r>
              <a:rPr lang="zh-CN" altLang="zh-CN" sz="1400" dirty="0">
                <a:latin typeface="宋体" panose="02000500000000000000" pitchFamily="2" charset="-122"/>
                <a:cs typeface="宋体" panose="02000500000000000000" pitchFamily="2" charset="-122"/>
              </a:rPr>
              <a:t>等待1号</a:t>
            </a:r>
            <a:r>
              <a:rPr lang="en-US" altLang="zh-CN" sz="1400" dirty="0">
                <a:latin typeface="宋体" panose="02000500000000000000" pitchFamily="2" charset="-122"/>
                <a:cs typeface="宋体" panose="02000500000000000000" pitchFamily="2" charset="-122"/>
              </a:rPr>
              <a:t>RB</a:t>
            </a:r>
            <a:r>
              <a:rPr lang="zh-CN" altLang="zh-CN" sz="1400" dirty="0">
                <a:latin typeface="宋体" panose="02000500000000000000" pitchFamily="2" charset="-122"/>
                <a:cs typeface="宋体" panose="02000500000000000000" pitchFamily="2" charset="-122"/>
              </a:rPr>
              <a:t>的结果</a:t>
            </a:r>
            <a:endParaRPr lang="zh-CN" altLang="zh-CN" sz="1400" dirty="0">
              <a:latin typeface="宋体" panose="02000500000000000000" pitchFamily="2" charset="-122"/>
              <a:cs typeface="宋体" panose="02000500000000000000" pitchFamily="2" charset="-122"/>
            </a:endParaRPr>
          </a:p>
          <a:p>
            <a:pPr>
              <a:lnSpc>
                <a:spcPct val="150000"/>
              </a:lnSpc>
              <a:buChar char="•"/>
            </a:pPr>
            <a:r>
              <a:rPr lang="en-US" altLang="zh-CN" sz="1400" dirty="0">
                <a:solidFill>
                  <a:srgbClr val="000000"/>
                </a:solidFill>
                <a:latin typeface="宋体" panose="02000500000000000000" pitchFamily="2" charset="-122"/>
                <a:cs typeface="宋体" panose="02000500000000000000" pitchFamily="2" charset="-122"/>
              </a:rPr>
              <a:t>ADD</a:t>
            </a:r>
            <a:r>
              <a:rPr lang="zh-CN" altLang="zh-CN" sz="1400" dirty="0">
                <a:solidFill>
                  <a:srgbClr val="000000"/>
                </a:solidFill>
                <a:latin typeface="宋体" panose="02000500000000000000" pitchFamily="2" charset="-122"/>
                <a:cs typeface="宋体" panose="02000500000000000000" pitchFamily="2" charset="-122"/>
              </a:rPr>
              <a:t>发射，</a:t>
            </a:r>
            <a:r>
              <a:rPr lang="en-US" altLang="zh-CN" sz="1400" dirty="0">
                <a:solidFill>
                  <a:srgbClr val="000000"/>
                </a:solidFill>
                <a:latin typeface="宋体" panose="02000500000000000000" pitchFamily="2" charset="-122"/>
                <a:cs typeface="宋体" panose="02000500000000000000" pitchFamily="2" charset="-122"/>
              </a:rPr>
              <a:t>F1, F2</a:t>
            </a:r>
            <a:r>
              <a:rPr lang="zh-CN" altLang="zh-CN" sz="1400" dirty="0">
                <a:solidFill>
                  <a:srgbClr val="000000"/>
                </a:solidFill>
                <a:latin typeface="宋体" panose="02000500000000000000" pitchFamily="2" charset="-122"/>
                <a:cs typeface="宋体" panose="02000500000000000000" pitchFamily="2" charset="-122"/>
              </a:rPr>
              <a:t>都准备好</a:t>
            </a:r>
            <a:endParaRPr lang="zh-CN" altLang="zh-CN" sz="1400" dirty="0">
              <a:solidFill>
                <a:srgbClr val="000000"/>
              </a:solidFill>
              <a:latin typeface="宋体" panose="02000500000000000000" pitchFamily="2" charset="-122"/>
              <a:cs typeface="宋体" panose="02000500000000000000" pitchFamily="2" charset="-122"/>
            </a:endParaRPr>
          </a:p>
          <a:p>
            <a:pPr>
              <a:lnSpc>
                <a:spcPct val="150000"/>
              </a:lnSpc>
              <a:buChar char="•"/>
            </a:pPr>
            <a:r>
              <a:rPr lang="en-US" altLang="zh-CN" sz="1400" dirty="0">
                <a:solidFill>
                  <a:srgbClr val="FF0000"/>
                </a:solidFill>
                <a:latin typeface="宋体" panose="02000500000000000000" pitchFamily="2" charset="-122"/>
                <a:cs typeface="宋体" panose="02000500000000000000" pitchFamily="2" charset="-122"/>
              </a:rPr>
              <a:t>MUL2</a:t>
            </a:r>
            <a:r>
              <a:rPr lang="zh-CN" altLang="zh-CN" sz="1400" dirty="0">
                <a:solidFill>
                  <a:srgbClr val="FF0000"/>
                </a:solidFill>
                <a:latin typeface="宋体" panose="02000500000000000000" pitchFamily="2" charset="-122"/>
                <a:cs typeface="宋体" panose="02000500000000000000" pitchFamily="2" charset="-122"/>
              </a:rPr>
              <a:t>发射, </a:t>
            </a:r>
            <a:r>
              <a:rPr lang="en-US" altLang="zh-CN" sz="1400" dirty="0">
                <a:solidFill>
                  <a:srgbClr val="FF0000"/>
                </a:solidFill>
                <a:latin typeface="宋体" panose="02000500000000000000" pitchFamily="2" charset="-122"/>
                <a:cs typeface="宋体" panose="02000500000000000000" pitchFamily="2" charset="-122"/>
              </a:rPr>
              <a:t>F0</a:t>
            </a:r>
            <a:r>
              <a:rPr lang="zh-CN" altLang="zh-CN" sz="1400" dirty="0">
                <a:solidFill>
                  <a:srgbClr val="FF0000"/>
                </a:solidFill>
                <a:latin typeface="宋体" panose="02000500000000000000" pitchFamily="2" charset="-122"/>
                <a:cs typeface="宋体" panose="02000500000000000000" pitchFamily="2" charset="-122"/>
              </a:rPr>
              <a:t>等待3号</a:t>
            </a:r>
            <a:r>
              <a:rPr lang="en-US" altLang="zh-CN" sz="1400" dirty="0">
                <a:solidFill>
                  <a:srgbClr val="FF0000"/>
                </a:solidFill>
                <a:latin typeface="宋体" panose="02000500000000000000" pitchFamily="2" charset="-122"/>
                <a:cs typeface="宋体" panose="02000500000000000000" pitchFamily="2" charset="-122"/>
              </a:rPr>
              <a:t>RB</a:t>
            </a:r>
            <a:r>
              <a:rPr lang="zh-CN" altLang="zh-CN" sz="1400" dirty="0">
                <a:solidFill>
                  <a:srgbClr val="FF0000"/>
                </a:solidFill>
                <a:latin typeface="宋体" panose="02000500000000000000" pitchFamily="2" charset="-122"/>
                <a:cs typeface="宋体" panose="02000500000000000000" pitchFamily="2" charset="-122"/>
              </a:rPr>
              <a:t>的结果</a:t>
            </a:r>
            <a:endParaRPr lang="zh-CN" altLang="en-US" sz="1400" dirty="0">
              <a:solidFill>
                <a:srgbClr val="FF0000"/>
              </a:solidFill>
              <a:latin typeface="宋体" panose="02000500000000000000" pitchFamily="2" charset="-122"/>
              <a:cs typeface="宋体" panose="02000500000000000000" pitchFamily="2"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51" name="Line 52"/>
          <p:cNvSpPr/>
          <p:nvPr/>
        </p:nvSpPr>
        <p:spPr>
          <a:xfrm flipV="1">
            <a:off x="7390765" y="2116455"/>
            <a:ext cx="0" cy="335280"/>
          </a:xfrm>
          <a:prstGeom prst="line">
            <a:avLst/>
          </a:prstGeom>
          <a:ln w="9525" cap="flat" cmpd="sng">
            <a:solidFill>
              <a:schemeClr val="tx1"/>
            </a:solidFill>
            <a:prstDash val="solid"/>
            <a:round/>
            <a:headEnd type="none" w="med" len="med"/>
            <a:tailEnd type="triangle" w="med" len="med"/>
          </a:ln>
        </p:spPr>
      </p:sp>
      <p:sp>
        <p:nvSpPr>
          <p:cNvPr id="31752" name="Line 53"/>
          <p:cNvSpPr/>
          <p:nvPr/>
        </p:nvSpPr>
        <p:spPr>
          <a:xfrm flipV="1">
            <a:off x="8270875" y="2116455"/>
            <a:ext cx="0" cy="335280"/>
          </a:xfrm>
          <a:prstGeom prst="line">
            <a:avLst/>
          </a:prstGeom>
          <a:ln w="9525" cap="flat" cmpd="sng">
            <a:solidFill>
              <a:schemeClr val="tx1"/>
            </a:solidFill>
            <a:prstDash val="solid"/>
            <a:round/>
            <a:headEnd type="none" w="med" len="med"/>
            <a:tailEnd type="triangle" w="med" len="med"/>
          </a:ln>
        </p:spPr>
      </p:sp>
      <p:sp>
        <p:nvSpPr>
          <p:cNvPr id="31753" name="Line 54"/>
          <p:cNvSpPr/>
          <p:nvPr/>
        </p:nvSpPr>
        <p:spPr>
          <a:xfrm flipV="1">
            <a:off x="10353675" y="2103755"/>
            <a:ext cx="0" cy="335280"/>
          </a:xfrm>
          <a:prstGeom prst="line">
            <a:avLst/>
          </a:prstGeom>
          <a:ln w="9525" cap="flat" cmpd="sng">
            <a:solidFill>
              <a:schemeClr val="tx1"/>
            </a:solidFill>
            <a:prstDash val="solid"/>
            <a:round/>
            <a:headEnd type="none" w="med" len="med"/>
            <a:tailEnd type="triangle" w="med" len="med"/>
          </a:ln>
        </p:spPr>
      </p:sp>
      <p:sp>
        <p:nvSpPr>
          <p:cNvPr id="31754" name="Line 55"/>
          <p:cNvSpPr/>
          <p:nvPr/>
        </p:nvSpPr>
        <p:spPr>
          <a:xfrm flipV="1">
            <a:off x="11301730" y="2091055"/>
            <a:ext cx="0" cy="335280"/>
          </a:xfrm>
          <a:prstGeom prst="line">
            <a:avLst/>
          </a:prstGeom>
          <a:ln w="9525" cap="flat" cmpd="sng">
            <a:solidFill>
              <a:schemeClr val="tx1"/>
            </a:solidFill>
            <a:prstDash val="solid"/>
            <a:round/>
            <a:headEnd type="none" w="med" len="med"/>
            <a:tailEnd type="triangle" w="med" len="med"/>
          </a:ln>
        </p:spPr>
      </p:sp>
      <p:sp>
        <p:nvSpPr>
          <p:cNvPr id="31755" name="Line 56"/>
          <p:cNvSpPr/>
          <p:nvPr/>
        </p:nvSpPr>
        <p:spPr>
          <a:xfrm flipV="1">
            <a:off x="8137525" y="4694555"/>
            <a:ext cx="0" cy="617855"/>
          </a:xfrm>
          <a:prstGeom prst="line">
            <a:avLst/>
          </a:prstGeom>
          <a:ln w="19050" cap="flat" cmpd="sng">
            <a:solidFill>
              <a:schemeClr val="tx1"/>
            </a:solidFill>
            <a:prstDash val="solid"/>
            <a:round/>
            <a:headEnd type="none" w="med" len="med"/>
            <a:tailEnd type="triangle" w="med" len="med"/>
          </a:ln>
        </p:spPr>
      </p:sp>
      <p:sp>
        <p:nvSpPr>
          <p:cNvPr id="31756" name="Line 57"/>
          <p:cNvSpPr/>
          <p:nvPr/>
        </p:nvSpPr>
        <p:spPr>
          <a:xfrm flipV="1">
            <a:off x="7794625" y="3044825"/>
            <a:ext cx="0" cy="247650"/>
          </a:xfrm>
          <a:prstGeom prst="line">
            <a:avLst/>
          </a:prstGeom>
          <a:ln w="19050" cap="flat" cmpd="sng">
            <a:solidFill>
              <a:schemeClr val="tx1"/>
            </a:solidFill>
            <a:prstDash val="solid"/>
            <a:round/>
            <a:headEnd type="none" w="med" len="med"/>
            <a:tailEnd type="triangle" w="med" len="med"/>
          </a:ln>
        </p:spPr>
      </p:sp>
      <p:sp>
        <p:nvSpPr>
          <p:cNvPr id="31757" name="Line 58"/>
          <p:cNvSpPr/>
          <p:nvPr/>
        </p:nvSpPr>
        <p:spPr>
          <a:xfrm flipV="1">
            <a:off x="10788015" y="3037205"/>
            <a:ext cx="0" cy="260350"/>
          </a:xfrm>
          <a:prstGeom prst="line">
            <a:avLst/>
          </a:prstGeom>
          <a:ln w="19050" cap="flat" cmpd="sng">
            <a:solidFill>
              <a:schemeClr val="tx1"/>
            </a:solidFill>
            <a:prstDash val="solid"/>
            <a:round/>
            <a:headEnd type="none" w="med" len="med"/>
            <a:tailEnd type="triangle" w="med" len="med"/>
          </a:ln>
        </p:spPr>
      </p:sp>
      <p:sp>
        <p:nvSpPr>
          <p:cNvPr id="31758" name="Line 59"/>
          <p:cNvSpPr/>
          <p:nvPr/>
        </p:nvSpPr>
        <p:spPr>
          <a:xfrm flipV="1">
            <a:off x="10813415" y="1449705"/>
            <a:ext cx="0" cy="370205"/>
          </a:xfrm>
          <a:prstGeom prst="line">
            <a:avLst/>
          </a:prstGeom>
          <a:ln w="19050" cap="flat" cmpd="sng">
            <a:solidFill>
              <a:srgbClr val="FF0000"/>
            </a:solidFill>
            <a:prstDash val="solid"/>
            <a:round/>
            <a:headEnd type="none" w="med" len="med"/>
            <a:tailEnd type="triangle" w="med" len="med"/>
          </a:ln>
        </p:spPr>
      </p:sp>
      <p:sp>
        <p:nvSpPr>
          <p:cNvPr id="31759" name="Line 60"/>
          <p:cNvSpPr/>
          <p:nvPr/>
        </p:nvSpPr>
        <p:spPr>
          <a:xfrm flipV="1">
            <a:off x="7881620" y="1466850"/>
            <a:ext cx="0" cy="370205"/>
          </a:xfrm>
          <a:prstGeom prst="line">
            <a:avLst/>
          </a:prstGeom>
          <a:ln w="19050" cap="flat" cmpd="sng">
            <a:solidFill>
              <a:schemeClr val="tx1"/>
            </a:solidFill>
            <a:prstDash val="solid"/>
            <a:round/>
            <a:headEnd type="none" w="med" len="med"/>
            <a:tailEnd type="triangle" w="med" len="med"/>
          </a:ln>
        </p:spPr>
      </p:sp>
      <p:sp>
        <p:nvSpPr>
          <p:cNvPr id="31760" name="Line 61"/>
          <p:cNvSpPr/>
          <p:nvPr/>
        </p:nvSpPr>
        <p:spPr>
          <a:xfrm>
            <a:off x="5155565" y="1460500"/>
            <a:ext cx="7009765" cy="0"/>
          </a:xfrm>
          <a:prstGeom prst="line">
            <a:avLst/>
          </a:prstGeom>
          <a:ln w="19050" cap="flat" cmpd="sng">
            <a:solidFill>
              <a:srgbClr val="FF0000"/>
            </a:solidFill>
            <a:prstDash val="solid"/>
            <a:round/>
            <a:headEnd type="none" w="med" len="med"/>
            <a:tailEnd type="none" w="med" len="med"/>
          </a:ln>
        </p:spPr>
      </p:sp>
      <p:sp>
        <p:nvSpPr>
          <p:cNvPr id="31761" name="Line 62"/>
          <p:cNvSpPr/>
          <p:nvPr/>
        </p:nvSpPr>
        <p:spPr>
          <a:xfrm flipH="1" flipV="1">
            <a:off x="7160895" y="3035300"/>
            <a:ext cx="635" cy="389255"/>
          </a:xfrm>
          <a:prstGeom prst="line">
            <a:avLst/>
          </a:prstGeom>
          <a:ln w="19050" cap="flat" cmpd="sng">
            <a:solidFill>
              <a:srgbClr val="FF0000"/>
            </a:solidFill>
            <a:prstDash val="solid"/>
            <a:round/>
            <a:headEnd type="none" w="med" len="med"/>
            <a:tailEnd type="triangle" w="med" len="med"/>
          </a:ln>
        </p:spPr>
      </p:sp>
      <p:sp>
        <p:nvSpPr>
          <p:cNvPr id="31762" name="Line 63"/>
          <p:cNvSpPr/>
          <p:nvPr/>
        </p:nvSpPr>
        <p:spPr>
          <a:xfrm flipV="1">
            <a:off x="11272520" y="3027680"/>
            <a:ext cx="635" cy="410845"/>
          </a:xfrm>
          <a:prstGeom prst="line">
            <a:avLst/>
          </a:prstGeom>
          <a:ln w="19050" cap="flat" cmpd="sng">
            <a:solidFill>
              <a:srgbClr val="FF0000"/>
            </a:solidFill>
            <a:prstDash val="solid"/>
            <a:round/>
            <a:headEnd type="none" w="med" len="med"/>
            <a:tailEnd type="triangle" w="med" len="med"/>
          </a:ln>
        </p:spPr>
      </p:sp>
      <p:sp>
        <p:nvSpPr>
          <p:cNvPr id="31763" name="Line 64"/>
          <p:cNvSpPr/>
          <p:nvPr/>
        </p:nvSpPr>
        <p:spPr>
          <a:xfrm>
            <a:off x="12150725" y="1463040"/>
            <a:ext cx="635" cy="3496945"/>
          </a:xfrm>
          <a:prstGeom prst="line">
            <a:avLst/>
          </a:prstGeom>
          <a:ln w="19050" cap="flat" cmpd="sng">
            <a:solidFill>
              <a:srgbClr val="FF0000"/>
            </a:solidFill>
            <a:prstDash val="solid"/>
            <a:round/>
            <a:headEnd type="none" w="med" len="med"/>
            <a:tailEnd type="none" w="med" len="med"/>
          </a:ln>
        </p:spPr>
      </p:sp>
      <p:sp>
        <p:nvSpPr>
          <p:cNvPr id="31764" name="Line 65"/>
          <p:cNvSpPr/>
          <p:nvPr/>
        </p:nvSpPr>
        <p:spPr>
          <a:xfrm flipV="1">
            <a:off x="8114665" y="3270250"/>
            <a:ext cx="0" cy="581025"/>
          </a:xfrm>
          <a:prstGeom prst="line">
            <a:avLst/>
          </a:prstGeom>
          <a:ln w="19050" cap="flat" cmpd="sng">
            <a:solidFill>
              <a:schemeClr val="tx1"/>
            </a:solidFill>
            <a:prstDash val="solid"/>
            <a:round/>
            <a:headEnd type="none" w="med" len="med"/>
            <a:tailEnd type="triangle" w="med" len="med"/>
          </a:ln>
        </p:spPr>
      </p:sp>
      <p:sp>
        <p:nvSpPr>
          <p:cNvPr id="31765" name="Text Box 66"/>
          <p:cNvSpPr txBox="1"/>
          <p:nvPr/>
        </p:nvSpPr>
        <p:spPr>
          <a:xfrm>
            <a:off x="6283960" y="2246630"/>
            <a:ext cx="1039495" cy="18415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加法保留站</a:t>
            </a:r>
            <a:endParaRPr lang="zh-CN" altLang="en-US" sz="1200" b="1" dirty="0">
              <a:latin typeface="Times New Roman" pitchFamily="18" charset="0"/>
              <a:ea typeface="宋体" panose="02000500000000000000" pitchFamily="2" charset="-122"/>
            </a:endParaRPr>
          </a:p>
        </p:txBody>
      </p:sp>
      <p:sp>
        <p:nvSpPr>
          <p:cNvPr id="31766" name="Text Box 67"/>
          <p:cNvSpPr txBox="1"/>
          <p:nvPr/>
        </p:nvSpPr>
        <p:spPr>
          <a:xfrm>
            <a:off x="6925310" y="3675380"/>
            <a:ext cx="1090295" cy="184150"/>
          </a:xfrm>
          <a:prstGeom prst="rect">
            <a:avLst/>
          </a:prstGeom>
          <a:noFill/>
          <a:ln w="9525">
            <a:noFill/>
          </a:ln>
          <a:extLst>
            <a:ext uri="{909E8E84-426E-40DD-AFC4-6F175D3DCCD1}">
              <a14:hiddenFill xmlns:a14="http://schemas.microsoft.com/office/drawing/2010/main">
                <a:solidFill>
                  <a:schemeClr val="bg1"/>
                </a:solidFill>
              </a14:hiddenFill>
            </a:ext>
          </a:extLst>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浮点寄存器</a:t>
            </a:r>
            <a:endParaRPr lang="zh-CN" altLang="en-US" sz="1200" b="1" dirty="0">
              <a:latin typeface="Times New Roman" pitchFamily="18" charset="0"/>
              <a:ea typeface="宋体" panose="02000500000000000000" pitchFamily="2" charset="-122"/>
            </a:endParaRPr>
          </a:p>
        </p:txBody>
      </p:sp>
      <p:sp>
        <p:nvSpPr>
          <p:cNvPr id="31767" name="Text Box 68"/>
          <p:cNvSpPr txBox="1"/>
          <p:nvPr/>
        </p:nvSpPr>
        <p:spPr>
          <a:xfrm>
            <a:off x="9289415" y="2235200"/>
            <a:ext cx="1039495" cy="18415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乘法保留站</a:t>
            </a:r>
            <a:endParaRPr lang="zh-CN" altLang="en-US" sz="1200" b="1" dirty="0">
              <a:latin typeface="Times New Roman" pitchFamily="18" charset="0"/>
              <a:ea typeface="宋体" panose="02000500000000000000" pitchFamily="2" charset="-122"/>
            </a:endParaRPr>
          </a:p>
        </p:txBody>
      </p:sp>
      <p:sp>
        <p:nvSpPr>
          <p:cNvPr id="31768" name="Line 69"/>
          <p:cNvSpPr/>
          <p:nvPr/>
        </p:nvSpPr>
        <p:spPr>
          <a:xfrm>
            <a:off x="10807065" y="4959985"/>
            <a:ext cx="1358265" cy="635"/>
          </a:xfrm>
          <a:prstGeom prst="line">
            <a:avLst/>
          </a:prstGeom>
          <a:ln w="19050" cap="flat" cmpd="sng">
            <a:solidFill>
              <a:srgbClr val="FF0000"/>
            </a:solidFill>
            <a:prstDash val="solid"/>
            <a:round/>
            <a:headEnd type="none" w="med" len="med"/>
            <a:tailEnd type="none" w="med" len="med"/>
          </a:ln>
        </p:spPr>
      </p:sp>
      <p:sp>
        <p:nvSpPr>
          <p:cNvPr id="31769" name="Line 70"/>
          <p:cNvSpPr/>
          <p:nvPr/>
        </p:nvSpPr>
        <p:spPr>
          <a:xfrm flipV="1">
            <a:off x="10812145" y="4701540"/>
            <a:ext cx="1905" cy="260350"/>
          </a:xfrm>
          <a:prstGeom prst="line">
            <a:avLst/>
          </a:prstGeom>
          <a:ln w="19050" cap="flat" cmpd="sng">
            <a:solidFill>
              <a:srgbClr val="FF0000"/>
            </a:solidFill>
            <a:prstDash val="solid"/>
            <a:round/>
            <a:headEnd type="none" w="med" len="med"/>
            <a:tailEnd type="triangle" w="med" len="med"/>
          </a:ln>
        </p:spPr>
      </p:sp>
      <p:grpSp>
        <p:nvGrpSpPr>
          <p:cNvPr id="31772" name="Group 73"/>
          <p:cNvGrpSpPr/>
          <p:nvPr/>
        </p:nvGrpSpPr>
        <p:grpSpPr>
          <a:xfrm rot="0">
            <a:off x="4488815" y="1461135"/>
            <a:ext cx="7679055" cy="1970389"/>
            <a:chOff x="1701" y="512"/>
            <a:chExt cx="3628" cy="1241"/>
          </a:xfrm>
        </p:grpSpPr>
        <p:sp>
          <p:nvSpPr>
            <p:cNvPr id="31773" name="Line 74"/>
            <p:cNvSpPr/>
            <p:nvPr/>
          </p:nvSpPr>
          <p:spPr>
            <a:xfrm flipV="1">
              <a:off x="2154" y="1661"/>
              <a:ext cx="2518" cy="0"/>
            </a:xfrm>
            <a:prstGeom prst="line">
              <a:avLst/>
            </a:prstGeom>
            <a:ln w="19050" cap="flat" cmpd="sng">
              <a:solidFill>
                <a:schemeClr val="tx1"/>
              </a:solidFill>
              <a:prstDash val="solid"/>
              <a:round/>
              <a:headEnd type="none" w="med" len="med"/>
              <a:tailEnd type="none" w="med" len="med"/>
            </a:ln>
          </p:spPr>
        </p:sp>
        <p:sp>
          <p:nvSpPr>
            <p:cNvPr id="31774" name="Line 75"/>
            <p:cNvSpPr/>
            <p:nvPr/>
          </p:nvSpPr>
          <p:spPr>
            <a:xfrm flipV="1">
              <a:off x="2010" y="1753"/>
              <a:ext cx="3319" cy="0"/>
            </a:xfrm>
            <a:prstGeom prst="line">
              <a:avLst/>
            </a:prstGeom>
            <a:ln w="19050" cap="flat" cmpd="sng">
              <a:solidFill>
                <a:srgbClr val="FF0000"/>
              </a:solidFill>
              <a:prstDash val="solid"/>
              <a:round/>
              <a:headEnd type="none" w="med" len="med"/>
              <a:tailEnd type="none" w="med" len="med"/>
            </a:ln>
          </p:spPr>
        </p:sp>
        <p:grpSp>
          <p:nvGrpSpPr>
            <p:cNvPr id="31775" name="Group 76"/>
            <p:cNvGrpSpPr/>
            <p:nvPr/>
          </p:nvGrpSpPr>
          <p:grpSpPr>
            <a:xfrm>
              <a:off x="1701" y="512"/>
              <a:ext cx="3494" cy="1239"/>
              <a:chOff x="1701" y="512"/>
              <a:chExt cx="3494" cy="1239"/>
            </a:xfrm>
          </p:grpSpPr>
          <p:grpSp>
            <p:nvGrpSpPr>
              <p:cNvPr id="31776" name="Group 77"/>
              <p:cNvGrpSpPr/>
              <p:nvPr/>
            </p:nvGrpSpPr>
            <p:grpSpPr>
              <a:xfrm>
                <a:off x="2019" y="512"/>
                <a:ext cx="135" cy="1239"/>
                <a:chOff x="2019" y="512"/>
                <a:chExt cx="135" cy="1239"/>
              </a:xfrm>
            </p:grpSpPr>
            <p:sp>
              <p:nvSpPr>
                <p:cNvPr id="31777" name="Line 78"/>
                <p:cNvSpPr/>
                <p:nvPr/>
              </p:nvSpPr>
              <p:spPr>
                <a:xfrm flipV="1">
                  <a:off x="2022" y="512"/>
                  <a:ext cx="0" cy="233"/>
                </a:xfrm>
                <a:prstGeom prst="line">
                  <a:avLst/>
                </a:prstGeom>
                <a:ln w="19050" cap="flat" cmpd="sng">
                  <a:solidFill>
                    <a:schemeClr val="tx1"/>
                  </a:solidFill>
                  <a:prstDash val="solid"/>
                  <a:round/>
                  <a:headEnd type="none" w="med" len="med"/>
                  <a:tailEnd type="triangle" w="med" len="med"/>
                </a:ln>
              </p:spPr>
            </p:sp>
            <p:sp>
              <p:nvSpPr>
                <p:cNvPr id="31778" name="Line 79"/>
                <p:cNvSpPr/>
                <p:nvPr/>
              </p:nvSpPr>
              <p:spPr>
                <a:xfrm flipH="1" flipV="1">
                  <a:off x="2019" y="1502"/>
                  <a:ext cx="3" cy="249"/>
                </a:xfrm>
                <a:prstGeom prst="line">
                  <a:avLst/>
                </a:prstGeom>
                <a:ln w="19050" cap="flat" cmpd="sng">
                  <a:solidFill>
                    <a:srgbClr val="FF0000"/>
                  </a:solidFill>
                  <a:prstDash val="solid"/>
                  <a:round/>
                  <a:headEnd type="none" w="med" len="med"/>
                  <a:tailEnd type="triangle" w="med" len="med"/>
                </a:ln>
              </p:spPr>
            </p:sp>
            <p:sp>
              <p:nvSpPr>
                <p:cNvPr id="31779" name="Line 80"/>
                <p:cNvSpPr/>
                <p:nvPr/>
              </p:nvSpPr>
              <p:spPr>
                <a:xfrm flipV="1">
                  <a:off x="2154" y="1508"/>
                  <a:ext cx="0" cy="156"/>
                </a:xfrm>
                <a:prstGeom prst="line">
                  <a:avLst/>
                </a:prstGeom>
                <a:ln w="19050" cap="flat" cmpd="sng">
                  <a:solidFill>
                    <a:schemeClr val="tx1"/>
                  </a:solidFill>
                  <a:prstDash val="solid"/>
                  <a:round/>
                  <a:headEnd type="none" w="med" len="med"/>
                  <a:tailEnd type="triangle" w="med" len="med"/>
                </a:ln>
              </p:spPr>
            </p:sp>
          </p:grpSp>
          <p:sp>
            <p:nvSpPr>
              <p:cNvPr id="31780" name="Text Box 81"/>
              <p:cNvSpPr txBox="1"/>
              <p:nvPr/>
            </p:nvSpPr>
            <p:spPr>
              <a:xfrm>
                <a:off x="2777" y="750"/>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浮点加</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减法器</a:t>
                </a:r>
                <a:endParaRPr lang="zh-CN" altLang="en-US" sz="1200" b="1" dirty="0">
                  <a:latin typeface="Times New Roman" pitchFamily="18" charset="0"/>
                  <a:ea typeface="宋体" panose="02000500000000000000" pitchFamily="2" charset="-122"/>
                </a:endParaRPr>
              </a:p>
            </p:txBody>
          </p:sp>
          <p:sp>
            <p:nvSpPr>
              <p:cNvPr id="31781" name="Text Box 82"/>
              <p:cNvSpPr txBox="1"/>
              <p:nvPr/>
            </p:nvSpPr>
            <p:spPr>
              <a:xfrm>
                <a:off x="4181" y="737"/>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浮点乘</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除法器</a:t>
                </a:r>
                <a:endParaRPr lang="zh-CN" altLang="en-US" sz="1200" b="1" dirty="0">
                  <a:latin typeface="Times New Roman" pitchFamily="18" charset="0"/>
                  <a:ea typeface="宋体" panose="02000500000000000000" pitchFamily="2" charset="-122"/>
                </a:endParaRPr>
              </a:p>
            </p:txBody>
          </p:sp>
          <p:sp>
            <p:nvSpPr>
              <p:cNvPr id="31782" name="Text Box 83"/>
              <p:cNvSpPr txBox="1"/>
              <p:nvPr/>
            </p:nvSpPr>
            <p:spPr>
              <a:xfrm>
                <a:off x="1701" y="731"/>
                <a:ext cx="664" cy="771"/>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p>
                <a:pPr algn="ctr">
                  <a:spcBef>
                    <a:spcPct val="50000"/>
                  </a:spcBef>
                </a:pPr>
                <a:endParaRPr lang="en-US" altLang="zh-CN" sz="1200"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定点</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访存</a:t>
                </a:r>
                <a:endParaRPr lang="zh-CN" altLang="en-US" sz="1200" b="1"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部件</a:t>
                </a:r>
                <a:endParaRPr lang="zh-CN" altLang="en-US" sz="1200" b="1" dirty="0">
                  <a:latin typeface="Times New Roman" pitchFamily="18" charset="0"/>
                  <a:ea typeface="宋体" panose="02000500000000000000" pitchFamily="2" charset="-122"/>
                </a:endParaRPr>
              </a:p>
              <a:p>
                <a:pPr algn="ctr">
                  <a:spcBef>
                    <a:spcPct val="50000"/>
                  </a:spcBef>
                </a:pPr>
                <a:endParaRPr lang="en-US" altLang="zh-CN" sz="1200" b="1" dirty="0">
                  <a:latin typeface="Times New Roman" pitchFamily="18" charset="0"/>
                  <a:ea typeface="宋体" panose="02000500000000000000" pitchFamily="2" charset="-122"/>
                </a:endParaRPr>
              </a:p>
            </p:txBody>
          </p:sp>
        </p:grpSp>
      </p:grpSp>
      <p:sp>
        <p:nvSpPr>
          <p:cNvPr id="31783" name="Text Box 84"/>
          <p:cNvSpPr txBox="1"/>
          <p:nvPr/>
        </p:nvSpPr>
        <p:spPr>
          <a:xfrm>
            <a:off x="6979920" y="5045075"/>
            <a:ext cx="1030605" cy="184150"/>
          </a:xfrm>
          <a:prstGeom prst="rect">
            <a:avLst/>
          </a:prstGeom>
          <a:solidFill>
            <a:schemeClr val="bg1"/>
          </a:solid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指令队列</a:t>
            </a:r>
            <a:endParaRPr lang="zh-CN" altLang="en-US" sz="1200" b="1" dirty="0">
              <a:latin typeface="Times New Roman" pitchFamily="18" charset="0"/>
              <a:ea typeface="宋体" panose="02000500000000000000" pitchFamily="2" charset="-122"/>
            </a:endParaRPr>
          </a:p>
        </p:txBody>
      </p:sp>
      <p:graphicFrame>
        <p:nvGraphicFramePr>
          <p:cNvPr id="3" name="表格 2"/>
          <p:cNvGraphicFramePr/>
          <p:nvPr/>
        </p:nvGraphicFramePr>
        <p:xfrm>
          <a:off x="6799580" y="3837940"/>
          <a:ext cx="2342515" cy="863600"/>
        </p:xfrm>
        <a:graphic>
          <a:graphicData uri="http://schemas.openxmlformats.org/drawingml/2006/table">
            <a:tbl>
              <a:tblPr firstRow="1" bandRow="1">
                <a:tableStyleId>{5C22544A-7EE6-4342-B048-85BDC9FD1C3A}</a:tableStyleId>
              </a:tblPr>
              <a:tblGrid>
                <a:gridCol w="365125"/>
                <a:gridCol w="450850"/>
                <a:gridCol w="1526540"/>
              </a:tblGrid>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4</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3.0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4" name="表格 3"/>
          <p:cNvGraphicFramePr/>
          <p:nvPr/>
        </p:nvGraphicFramePr>
        <p:xfrm>
          <a:off x="7167880" y="5311775"/>
          <a:ext cx="1930400" cy="1280160"/>
        </p:xfrm>
        <a:graphic>
          <a:graphicData uri="http://schemas.openxmlformats.org/drawingml/2006/table">
            <a:tbl>
              <a:tblPr firstRow="1" bandRow="1">
                <a:tableStyleId>{5C22544A-7EE6-4342-B048-85BDC9FD1C3A}</a:tableStyleId>
              </a:tblPr>
              <a:tblGrid>
                <a:gridCol w="1930400"/>
              </a:tblGrid>
              <a:tr h="213360">
                <a:tc>
                  <a:txBody>
                    <a:bodyPr/>
                    <a:p>
                      <a:pPr indent="0">
                        <a:buNone/>
                      </a:pPr>
                      <a:r>
                        <a:rPr lang="en-US" sz="1200" b="1">
                          <a:solidFill>
                            <a:schemeClr val="tx1"/>
                          </a:solidFill>
                          <a:latin typeface="宋体" panose="02000500000000000000" pitchFamily="2" charset="-122"/>
                          <a:ea typeface="宋体" panose="02000500000000000000" pitchFamily="2" charset="-122"/>
                        </a:rPr>
                        <a:t>FDIV.D  </a:t>
                      </a:r>
                      <a:r>
                        <a:rPr lang="en-US" sz="1200" b="1">
                          <a:solidFill>
                            <a:srgbClr val="FF0000"/>
                          </a:solidFill>
                          <a:latin typeface="宋体" panose="02000500000000000000" pitchFamily="2" charset="-122"/>
                          <a:ea typeface="宋体" panose="02000500000000000000" pitchFamily="2" charset="-122"/>
                        </a:rPr>
                        <a:t>F0</a:t>
                      </a:r>
                      <a:r>
                        <a:rPr lang="en-US" sz="1200" b="1">
                          <a:solidFill>
                            <a:schemeClr val="tx1"/>
                          </a:solidFill>
                          <a:latin typeface="宋体" panose="02000500000000000000" pitchFamily="2" charset="-122"/>
                          <a:ea typeface="宋体" panose="02000500000000000000" pitchFamily="2" charset="-122"/>
                        </a:rPr>
                        <a:t>, F1, F2</a:t>
                      </a:r>
                      <a:endParaRPr lang="en-US" altLang="en-US" sz="1200" b="1">
                        <a:solidFill>
                          <a:schemeClr val="tx1"/>
                        </a:solidFill>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FADD.D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F1,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5" name="表格 4"/>
          <p:cNvGraphicFramePr/>
          <p:nvPr/>
        </p:nvGraphicFramePr>
        <p:xfrm>
          <a:off x="9544050" y="243586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fdiv</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fmul</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zh-CN" altLang="en-US"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ctr">
                        <a:buNone/>
                      </a:pPr>
                      <a:r>
                        <a:rPr lang="en-US" altLang="zh-CN" sz="1200" b="1">
                          <a:solidFill>
                            <a:schemeClr val="tx1"/>
                          </a:solidFill>
                          <a:latin typeface="宋体" panose="02000500000000000000" pitchFamily="2" charset="-122"/>
                          <a:ea typeface="宋体" panose="02000500000000000000" pitchFamily="2" charset="-122"/>
                        </a:rPr>
                        <a:t>4</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fmul</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0</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3.0</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7" name="表格 6"/>
          <p:cNvGraphicFramePr/>
          <p:nvPr/>
        </p:nvGraphicFramePr>
        <p:xfrm>
          <a:off x="6577330" y="245618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9" name="表格 8"/>
          <p:cNvGraphicFramePr/>
          <p:nvPr/>
        </p:nvGraphicFramePr>
        <p:xfrm>
          <a:off x="9486900" y="3822700"/>
          <a:ext cx="2342515" cy="863600"/>
        </p:xfrm>
        <a:graphic>
          <a:graphicData uri="http://schemas.openxmlformats.org/drawingml/2006/table">
            <a:tbl>
              <a:tblPr firstRow="1" bandRow="1">
                <a:tableStyleId>{5C22544A-7EE6-4342-B048-85BDC9FD1C3A}</a:tableStyleId>
              </a:tblPr>
              <a:tblGrid>
                <a:gridCol w="221065"/>
                <a:gridCol w="382270"/>
                <a:gridCol w="387901"/>
                <a:gridCol w="1351279"/>
              </a:tblGrid>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4</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fmul</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f3</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fadd</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f0</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3.0</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fmul</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f3</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fdiv</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f0</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sp>
        <p:nvSpPr>
          <p:cNvPr id="47115" name="Line 15"/>
          <p:cNvSpPr/>
          <p:nvPr/>
        </p:nvSpPr>
        <p:spPr>
          <a:xfrm flipH="1" flipV="1">
            <a:off x="11068050" y="3610610"/>
            <a:ext cx="9525" cy="215900"/>
          </a:xfrm>
          <a:prstGeom prst="line">
            <a:avLst/>
          </a:prstGeom>
          <a:ln w="19050" cap="flat" cmpd="sng">
            <a:solidFill>
              <a:schemeClr val="accent2"/>
            </a:solidFill>
            <a:prstDash val="solid"/>
            <a:round/>
            <a:headEnd type="none" w="med" len="med"/>
            <a:tailEnd type="none" w="med" len="med"/>
          </a:ln>
        </p:spPr>
      </p:sp>
      <p:sp>
        <p:nvSpPr>
          <p:cNvPr id="47131" name="Line 36"/>
          <p:cNvSpPr/>
          <p:nvPr/>
        </p:nvSpPr>
        <p:spPr>
          <a:xfrm flipV="1">
            <a:off x="4904105" y="4940935"/>
            <a:ext cx="2991485" cy="13970"/>
          </a:xfrm>
          <a:prstGeom prst="line">
            <a:avLst/>
          </a:prstGeom>
          <a:ln w="19050" cap="flat" cmpd="sng">
            <a:solidFill>
              <a:schemeClr val="accent2"/>
            </a:solidFill>
            <a:prstDash val="solid"/>
            <a:round/>
            <a:headEnd type="none" w="med" len="med"/>
            <a:tailEnd type="none" w="med" len="med"/>
          </a:ln>
        </p:spPr>
      </p:sp>
      <p:sp>
        <p:nvSpPr>
          <p:cNvPr id="47133" name="Text Box 43"/>
          <p:cNvSpPr txBox="1"/>
          <p:nvPr/>
        </p:nvSpPr>
        <p:spPr>
          <a:xfrm>
            <a:off x="5375910" y="4712335"/>
            <a:ext cx="1089025" cy="184150"/>
          </a:xfrm>
          <a:prstGeom prst="rect">
            <a:avLst/>
          </a:prstGeom>
          <a:noFill/>
          <a:ln w="9525">
            <a:noFill/>
          </a:ln>
          <a:extLst>
            <a:ext uri="{909E8E84-426E-40DD-AFC4-6F175D3DCCD1}">
              <a14:hiddenFill xmlns:a14="http://schemas.microsoft.com/office/drawing/2010/main">
                <a:solidFill>
                  <a:schemeClr val="bg1"/>
                </a:solidFill>
              </a14:hiddenFill>
            </a:ext>
          </a:extLst>
        </p:spPr>
        <p:txBody>
          <a:bodyPr lIns="0" tIns="0" rIns="0" bIns="0" anchor="t" anchorCtr="0">
            <a:spAutoFit/>
          </a:bodyPr>
          <a:p>
            <a:pPr>
              <a:spcBef>
                <a:spcPct val="50000"/>
              </a:spcBef>
            </a:pPr>
            <a:r>
              <a:rPr lang="zh-CN" altLang="en-US" sz="1200" b="1" dirty="0">
                <a:solidFill>
                  <a:schemeClr val="accent2"/>
                </a:solidFill>
                <a:latin typeface="Times New Roman" pitchFamily="18" charset="0"/>
                <a:ea typeface="宋体" panose="02000500000000000000" pitchFamily="2" charset="-122"/>
              </a:rPr>
              <a:t>修改寄存器</a:t>
            </a:r>
            <a:endParaRPr lang="zh-CN" altLang="en-US" sz="1200" b="1" dirty="0">
              <a:solidFill>
                <a:schemeClr val="accent2"/>
              </a:solidFill>
              <a:latin typeface="Times New Roman" pitchFamily="18" charset="0"/>
              <a:ea typeface="宋体" panose="02000500000000000000" pitchFamily="2" charset="-122"/>
            </a:endParaRPr>
          </a:p>
        </p:txBody>
      </p:sp>
      <p:sp>
        <p:nvSpPr>
          <p:cNvPr id="47143" name="Line 37"/>
          <p:cNvSpPr/>
          <p:nvPr/>
        </p:nvSpPr>
        <p:spPr>
          <a:xfrm flipH="1" flipV="1">
            <a:off x="7879715" y="4688205"/>
            <a:ext cx="8255" cy="252095"/>
          </a:xfrm>
          <a:prstGeom prst="line">
            <a:avLst/>
          </a:prstGeom>
          <a:ln w="19050" cap="flat" cmpd="sng">
            <a:solidFill>
              <a:schemeClr val="accent2"/>
            </a:solidFill>
            <a:prstDash val="solid"/>
            <a:round/>
            <a:headEnd type="none" w="med" len="med"/>
            <a:tailEnd type="triangle" w="med" len="med"/>
          </a:ln>
        </p:spPr>
      </p:sp>
      <p:sp>
        <p:nvSpPr>
          <p:cNvPr id="47144" name="Line 38"/>
          <p:cNvSpPr/>
          <p:nvPr/>
        </p:nvSpPr>
        <p:spPr>
          <a:xfrm>
            <a:off x="4868545" y="3616325"/>
            <a:ext cx="6222365" cy="13970"/>
          </a:xfrm>
          <a:prstGeom prst="line">
            <a:avLst/>
          </a:prstGeom>
          <a:ln w="19050" cap="flat" cmpd="sng">
            <a:solidFill>
              <a:schemeClr val="accent2"/>
            </a:solidFill>
            <a:prstDash val="solid"/>
            <a:round/>
            <a:headEnd type="none" w="med" len="med"/>
            <a:tailEnd type="none" w="med" len="med"/>
          </a:ln>
        </p:spPr>
      </p:sp>
      <p:sp>
        <p:nvSpPr>
          <p:cNvPr id="47146" name="Line 41"/>
          <p:cNvSpPr/>
          <p:nvPr/>
        </p:nvSpPr>
        <p:spPr>
          <a:xfrm flipH="1" flipV="1">
            <a:off x="4877435" y="3028315"/>
            <a:ext cx="14605" cy="1934210"/>
          </a:xfrm>
          <a:prstGeom prst="line">
            <a:avLst/>
          </a:prstGeom>
          <a:ln w="19050" cap="flat" cmpd="sng">
            <a:solidFill>
              <a:schemeClr val="accent2"/>
            </a:solidFill>
            <a:prstDash val="solid"/>
            <a:round/>
            <a:headEnd type="none" w="med" len="med"/>
            <a:tailEnd type="triangle" w="med" len="med"/>
          </a:ln>
        </p:spPr>
      </p:sp>
      <p:sp>
        <p:nvSpPr>
          <p:cNvPr id="46082" name="Rectangle 3"/>
          <p:cNvSpPr/>
          <p:nvPr/>
        </p:nvSpPr>
        <p:spPr>
          <a:xfrm>
            <a:off x="912813" y="420688"/>
            <a:ext cx="10361612" cy="523875"/>
          </a:xfrm>
          <a:prstGeom prst="rect">
            <a:avLst/>
          </a:prstGeom>
          <a:noFill/>
          <a:ln w="9525">
            <a:noFill/>
          </a:ln>
        </p:spPr>
        <p:txBody>
          <a:bodyPr anchor="ctr" anchorCtr="0"/>
          <a:p>
            <a:pPr algn="ctr"/>
            <a:r>
              <a:rPr lang="zh-CN" sz="3200" dirty="0">
                <a:solidFill>
                  <a:srgbClr val="FF0000"/>
                </a:solidFill>
                <a:latin typeface="Arial" panose="02080604020202020204" pitchFamily="34" charset="0"/>
                <a:ea typeface="黑体" panose="02000500000000000000" pitchFamily="49" charset="-122"/>
              </a:rPr>
              <a:t>例子</a:t>
            </a:r>
            <a:endParaRPr lang="zh-CN" sz="3200" dirty="0">
              <a:solidFill>
                <a:srgbClr val="FF0000"/>
              </a:solidFill>
              <a:latin typeface="Arial" panose="02080604020202020204" pitchFamily="34" charset="0"/>
              <a:ea typeface="黑体" panose="02000500000000000000" pitchFamily="49" charset="-122"/>
            </a:endParaRPr>
          </a:p>
        </p:txBody>
      </p:sp>
      <p:sp>
        <p:nvSpPr>
          <p:cNvPr id="50195" name="Text Box 44"/>
          <p:cNvSpPr txBox="1"/>
          <p:nvPr/>
        </p:nvSpPr>
        <p:spPr>
          <a:xfrm>
            <a:off x="8543925" y="1234440"/>
            <a:ext cx="1527175" cy="184150"/>
          </a:xfrm>
          <a:prstGeom prst="rect">
            <a:avLst/>
          </a:prstGeom>
          <a:solidFill>
            <a:schemeClr val="bg1"/>
          </a:solidFill>
          <a:ln w="9525">
            <a:noFill/>
          </a:ln>
        </p:spPr>
        <p:txBody>
          <a:bodyPr wrap="square" lIns="0" tIns="0" rIns="0" bIns="0" anchor="t" anchorCtr="0">
            <a:spAutoFit/>
          </a:bodyPr>
          <a:p>
            <a:pPr>
              <a:spcBef>
                <a:spcPct val="50000"/>
              </a:spcBef>
            </a:pPr>
            <a:r>
              <a:rPr lang="zh-CN" altLang="en-US" sz="1200" b="1" dirty="0">
                <a:solidFill>
                  <a:srgbClr val="FF0000"/>
                </a:solidFill>
                <a:latin typeface="宋体" panose="02000500000000000000" pitchFamily="2" charset="-122"/>
                <a:cs typeface="宋体" panose="02000500000000000000" pitchFamily="2" charset="-122"/>
              </a:rPr>
              <a:t>结果总线（</a:t>
            </a:r>
            <a:r>
              <a:rPr lang="en-US" altLang="zh-CN" sz="1200" b="1" dirty="0">
                <a:solidFill>
                  <a:srgbClr val="FF0000"/>
                </a:solidFill>
                <a:latin typeface="宋体" panose="02000500000000000000" pitchFamily="2" charset="-122"/>
                <a:cs typeface="宋体" panose="02000500000000000000" pitchFamily="2" charset="-122"/>
              </a:rPr>
              <a:t>3</a:t>
            </a:r>
            <a:r>
              <a:rPr lang="zh-CN" altLang="en-US" sz="1200" b="1" dirty="0">
                <a:solidFill>
                  <a:srgbClr val="FF0000"/>
                </a:solidFill>
                <a:latin typeface="宋体" panose="02000500000000000000" pitchFamily="2" charset="-122"/>
                <a:cs typeface="宋体" panose="02000500000000000000" pitchFamily="2" charset="-122"/>
              </a:rPr>
              <a:t>，</a:t>
            </a:r>
            <a:r>
              <a:rPr lang="en-US" altLang="zh-CN" sz="1200" b="1" dirty="0">
                <a:solidFill>
                  <a:srgbClr val="FF0000"/>
                </a:solidFill>
                <a:latin typeface="宋体" panose="02000500000000000000" pitchFamily="2" charset="-122"/>
                <a:cs typeface="宋体" panose="02000500000000000000" pitchFamily="2" charset="-122"/>
              </a:rPr>
              <a:t>3.0</a:t>
            </a:r>
            <a:r>
              <a:rPr lang="zh-CN" altLang="en-US" sz="1200" b="1" dirty="0">
                <a:solidFill>
                  <a:srgbClr val="FF0000"/>
                </a:solidFill>
                <a:latin typeface="宋体" panose="02000500000000000000" pitchFamily="2" charset="-122"/>
                <a:cs typeface="宋体" panose="02000500000000000000" pitchFamily="2" charset="-122"/>
              </a:rPr>
              <a:t>）</a:t>
            </a:r>
            <a:endParaRPr lang="en-US" altLang="zh-CN" sz="1200" b="1" dirty="0">
              <a:solidFill>
                <a:srgbClr val="FF0000"/>
              </a:solidFill>
              <a:latin typeface="宋体" panose="02000500000000000000" pitchFamily="2" charset="-122"/>
              <a:cs typeface="宋体" panose="02000500000000000000" pitchFamily="2" charset="-122"/>
            </a:endParaRPr>
          </a:p>
        </p:txBody>
      </p:sp>
      <p:sp>
        <p:nvSpPr>
          <p:cNvPr id="54292" name="Text Box 44"/>
          <p:cNvSpPr txBox="1"/>
          <p:nvPr/>
        </p:nvSpPr>
        <p:spPr>
          <a:xfrm>
            <a:off x="187325" y="2743200"/>
            <a:ext cx="4187825" cy="1706880"/>
          </a:xfrm>
          <a:prstGeom prst="rect">
            <a:avLst/>
          </a:prstGeom>
          <a:noFill/>
          <a:ln w="9525">
            <a:noFill/>
          </a:ln>
        </p:spPr>
        <p:txBody>
          <a:bodyPr anchor="t" anchorCtr="0">
            <a:spAutoFit/>
          </a:bodyPr>
          <a:p>
            <a:pPr>
              <a:lnSpc>
                <a:spcPct val="150000"/>
              </a:lnSpc>
              <a:buChar char="•"/>
            </a:pPr>
            <a:r>
              <a:rPr lang="en-US" altLang="zh-CN" sz="1400" dirty="0">
                <a:solidFill>
                  <a:srgbClr val="000000"/>
                </a:solidFill>
                <a:latin typeface="宋体" panose="02000500000000000000" pitchFamily="2" charset="-122"/>
                <a:cs typeface="宋体" panose="02000500000000000000" pitchFamily="2" charset="-122"/>
              </a:rPr>
              <a:t>DIV</a:t>
            </a:r>
            <a:r>
              <a:rPr lang="zh-CN" altLang="zh-CN" sz="1400" dirty="0">
                <a:solidFill>
                  <a:srgbClr val="000000"/>
                </a:solidFill>
                <a:latin typeface="宋体" panose="02000500000000000000" pitchFamily="2" charset="-122"/>
                <a:cs typeface="宋体" panose="02000500000000000000" pitchFamily="2" charset="-122"/>
              </a:rPr>
              <a:t>发射，</a:t>
            </a:r>
            <a:r>
              <a:rPr lang="en-US" altLang="zh-CN" sz="1400" dirty="0">
                <a:solidFill>
                  <a:srgbClr val="000000"/>
                </a:solidFill>
                <a:latin typeface="宋体" panose="02000500000000000000" pitchFamily="2" charset="-122"/>
                <a:cs typeface="宋体" panose="02000500000000000000" pitchFamily="2" charset="-122"/>
              </a:rPr>
              <a:t>F1, F2</a:t>
            </a:r>
            <a:r>
              <a:rPr lang="zh-CN" altLang="zh-CN" sz="1400" dirty="0">
                <a:solidFill>
                  <a:srgbClr val="000000"/>
                </a:solidFill>
                <a:latin typeface="宋体" panose="02000500000000000000" pitchFamily="2" charset="-122"/>
                <a:cs typeface="宋体" panose="02000500000000000000" pitchFamily="2" charset="-122"/>
              </a:rPr>
              <a:t>都准备好</a:t>
            </a:r>
            <a:endParaRPr lang="zh-CN" altLang="zh-CN" sz="1400" dirty="0">
              <a:solidFill>
                <a:srgbClr val="000000"/>
              </a:solidFill>
              <a:latin typeface="宋体" panose="02000500000000000000" pitchFamily="2" charset="-122"/>
              <a:cs typeface="宋体" panose="02000500000000000000" pitchFamily="2" charset="-122"/>
            </a:endParaRPr>
          </a:p>
          <a:p>
            <a:pPr>
              <a:lnSpc>
                <a:spcPct val="150000"/>
              </a:lnSpc>
              <a:buChar char="•"/>
            </a:pPr>
            <a:r>
              <a:rPr lang="en-US" altLang="zh-CN" sz="1400" dirty="0">
                <a:latin typeface="宋体" panose="02000500000000000000" pitchFamily="2" charset="-122"/>
                <a:cs typeface="宋体" panose="02000500000000000000" pitchFamily="2" charset="-122"/>
              </a:rPr>
              <a:t>MUL1</a:t>
            </a:r>
            <a:r>
              <a:rPr lang="zh-CN" altLang="zh-CN" sz="1400" dirty="0">
                <a:latin typeface="宋体" panose="02000500000000000000" pitchFamily="2" charset="-122"/>
                <a:cs typeface="宋体" panose="02000500000000000000" pitchFamily="2" charset="-122"/>
              </a:rPr>
              <a:t>发射，</a:t>
            </a:r>
            <a:r>
              <a:rPr lang="en-US" altLang="zh-CN" sz="1400" dirty="0">
                <a:latin typeface="宋体" panose="02000500000000000000" pitchFamily="2" charset="-122"/>
                <a:cs typeface="宋体" panose="02000500000000000000" pitchFamily="2" charset="-122"/>
              </a:rPr>
              <a:t>F0</a:t>
            </a:r>
            <a:r>
              <a:rPr lang="zh-CN" altLang="zh-CN" sz="1400" dirty="0">
                <a:latin typeface="宋体" panose="02000500000000000000" pitchFamily="2" charset="-122"/>
                <a:cs typeface="宋体" panose="02000500000000000000" pitchFamily="2" charset="-122"/>
              </a:rPr>
              <a:t>等待1号</a:t>
            </a:r>
            <a:r>
              <a:rPr lang="en-US" altLang="zh-CN" sz="1400" dirty="0">
                <a:latin typeface="宋体" panose="02000500000000000000" pitchFamily="2" charset="-122"/>
                <a:cs typeface="宋体" panose="02000500000000000000" pitchFamily="2" charset="-122"/>
              </a:rPr>
              <a:t>RB</a:t>
            </a:r>
            <a:r>
              <a:rPr lang="zh-CN" altLang="zh-CN" sz="1400" dirty="0">
                <a:latin typeface="宋体" panose="02000500000000000000" pitchFamily="2" charset="-122"/>
                <a:cs typeface="宋体" panose="02000500000000000000" pitchFamily="2" charset="-122"/>
              </a:rPr>
              <a:t>的结果</a:t>
            </a:r>
            <a:endParaRPr lang="zh-CN" altLang="zh-CN" sz="1400" dirty="0">
              <a:latin typeface="宋体" panose="02000500000000000000" pitchFamily="2" charset="-122"/>
              <a:cs typeface="宋体" panose="02000500000000000000" pitchFamily="2" charset="-122"/>
            </a:endParaRPr>
          </a:p>
          <a:p>
            <a:pPr>
              <a:lnSpc>
                <a:spcPct val="150000"/>
              </a:lnSpc>
              <a:buChar char="•"/>
            </a:pPr>
            <a:r>
              <a:rPr lang="en-US" altLang="zh-CN" sz="1400" dirty="0">
                <a:solidFill>
                  <a:srgbClr val="000000"/>
                </a:solidFill>
                <a:latin typeface="宋体" panose="02000500000000000000" pitchFamily="2" charset="-122"/>
                <a:cs typeface="宋体" panose="02000500000000000000" pitchFamily="2" charset="-122"/>
              </a:rPr>
              <a:t>ADD</a:t>
            </a:r>
            <a:r>
              <a:rPr lang="zh-CN" altLang="zh-CN" sz="1400" dirty="0">
                <a:solidFill>
                  <a:srgbClr val="000000"/>
                </a:solidFill>
                <a:latin typeface="宋体" panose="02000500000000000000" pitchFamily="2" charset="-122"/>
                <a:cs typeface="宋体" panose="02000500000000000000" pitchFamily="2" charset="-122"/>
              </a:rPr>
              <a:t>发射，</a:t>
            </a:r>
            <a:r>
              <a:rPr lang="en-US" altLang="zh-CN" sz="1400" dirty="0">
                <a:solidFill>
                  <a:srgbClr val="000000"/>
                </a:solidFill>
                <a:latin typeface="宋体" panose="02000500000000000000" pitchFamily="2" charset="-122"/>
                <a:cs typeface="宋体" panose="02000500000000000000" pitchFamily="2" charset="-122"/>
              </a:rPr>
              <a:t>F1, F2</a:t>
            </a:r>
            <a:r>
              <a:rPr lang="zh-CN" altLang="zh-CN" sz="1400" dirty="0">
                <a:solidFill>
                  <a:srgbClr val="000000"/>
                </a:solidFill>
                <a:latin typeface="宋体" panose="02000500000000000000" pitchFamily="2" charset="-122"/>
                <a:cs typeface="宋体" panose="02000500000000000000" pitchFamily="2" charset="-122"/>
              </a:rPr>
              <a:t>都准备好</a:t>
            </a:r>
            <a:endParaRPr lang="zh-CN" altLang="zh-CN" sz="1400" dirty="0">
              <a:solidFill>
                <a:srgbClr val="000000"/>
              </a:solidFill>
              <a:latin typeface="宋体" panose="02000500000000000000" pitchFamily="2" charset="-122"/>
              <a:cs typeface="宋体" panose="02000500000000000000" pitchFamily="2" charset="-122"/>
            </a:endParaRPr>
          </a:p>
          <a:p>
            <a:pPr>
              <a:lnSpc>
                <a:spcPct val="150000"/>
              </a:lnSpc>
              <a:buChar char="•"/>
            </a:pPr>
            <a:r>
              <a:rPr lang="en-US" altLang="zh-CN" sz="1400" dirty="0">
                <a:solidFill>
                  <a:srgbClr val="000000"/>
                </a:solidFill>
                <a:latin typeface="宋体" panose="02000500000000000000" pitchFamily="2" charset="-122"/>
                <a:cs typeface="宋体" panose="02000500000000000000" pitchFamily="2" charset="-122"/>
              </a:rPr>
              <a:t>MUL2</a:t>
            </a:r>
            <a:r>
              <a:rPr lang="zh-CN" altLang="zh-CN" sz="1400" dirty="0">
                <a:solidFill>
                  <a:srgbClr val="000000"/>
                </a:solidFill>
                <a:latin typeface="宋体" panose="02000500000000000000" pitchFamily="2" charset="-122"/>
                <a:cs typeface="宋体" panose="02000500000000000000" pitchFamily="2" charset="-122"/>
              </a:rPr>
              <a:t>发射, </a:t>
            </a:r>
            <a:r>
              <a:rPr lang="en-US" altLang="zh-CN" sz="1400" dirty="0">
                <a:solidFill>
                  <a:srgbClr val="000000"/>
                </a:solidFill>
                <a:latin typeface="宋体" panose="02000500000000000000" pitchFamily="2" charset="-122"/>
                <a:cs typeface="宋体" panose="02000500000000000000" pitchFamily="2" charset="-122"/>
              </a:rPr>
              <a:t>F0</a:t>
            </a:r>
            <a:r>
              <a:rPr lang="zh-CN" altLang="zh-CN" sz="1400" dirty="0">
                <a:solidFill>
                  <a:srgbClr val="000000"/>
                </a:solidFill>
                <a:latin typeface="宋体" panose="02000500000000000000" pitchFamily="2" charset="-122"/>
                <a:cs typeface="宋体" panose="02000500000000000000" pitchFamily="2" charset="-122"/>
              </a:rPr>
              <a:t>等待3号</a:t>
            </a:r>
            <a:r>
              <a:rPr lang="en-US" altLang="zh-CN" sz="1400" dirty="0">
                <a:solidFill>
                  <a:srgbClr val="000000"/>
                </a:solidFill>
                <a:latin typeface="宋体" panose="02000500000000000000" pitchFamily="2" charset="-122"/>
                <a:cs typeface="宋体" panose="02000500000000000000" pitchFamily="2" charset="-122"/>
              </a:rPr>
              <a:t>RB</a:t>
            </a:r>
            <a:r>
              <a:rPr lang="zh-CN" altLang="zh-CN" sz="1400" dirty="0">
                <a:solidFill>
                  <a:srgbClr val="000000"/>
                </a:solidFill>
                <a:latin typeface="宋体" panose="02000500000000000000" pitchFamily="2" charset="-122"/>
                <a:cs typeface="宋体" panose="02000500000000000000" pitchFamily="2" charset="-122"/>
              </a:rPr>
              <a:t>的结果</a:t>
            </a:r>
            <a:endParaRPr lang="zh-CN" altLang="zh-CN" sz="1400" dirty="0">
              <a:solidFill>
                <a:srgbClr val="000000"/>
              </a:solidFill>
              <a:latin typeface="宋体" panose="02000500000000000000" pitchFamily="2" charset="-122"/>
              <a:cs typeface="宋体" panose="02000500000000000000" pitchFamily="2" charset="-122"/>
            </a:endParaRPr>
          </a:p>
          <a:p>
            <a:pPr>
              <a:lnSpc>
                <a:spcPct val="150000"/>
              </a:lnSpc>
              <a:buChar char="•"/>
            </a:pPr>
            <a:r>
              <a:rPr lang="en-US" altLang="zh-CN" sz="1400" dirty="0">
                <a:solidFill>
                  <a:srgbClr val="FF0000"/>
                </a:solidFill>
                <a:latin typeface="宋体" panose="02000500000000000000" pitchFamily="2" charset="-122"/>
                <a:cs typeface="宋体" panose="02000500000000000000" pitchFamily="2" charset="-122"/>
              </a:rPr>
              <a:t>ADD</a:t>
            </a:r>
            <a:r>
              <a:rPr lang="zh-CN" altLang="zh-CN" sz="1400" dirty="0">
                <a:solidFill>
                  <a:srgbClr val="FF0000"/>
                </a:solidFill>
                <a:latin typeface="宋体" panose="02000500000000000000" pitchFamily="2" charset="-122"/>
                <a:cs typeface="宋体" panose="02000500000000000000" pitchFamily="2" charset="-122"/>
              </a:rPr>
              <a:t>写回</a:t>
            </a:r>
            <a:endParaRPr lang="zh-CN" altLang="en-US" sz="1400" dirty="0">
              <a:solidFill>
                <a:srgbClr val="FF0000"/>
              </a:solidFill>
              <a:latin typeface="宋体" panose="02000500000000000000" pitchFamily="2" charset="-122"/>
              <a:cs typeface="宋体" panose="02000500000000000000" pitchFamily="2"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51" name="Line 52"/>
          <p:cNvSpPr/>
          <p:nvPr/>
        </p:nvSpPr>
        <p:spPr>
          <a:xfrm flipV="1">
            <a:off x="7390765" y="2116455"/>
            <a:ext cx="0" cy="335280"/>
          </a:xfrm>
          <a:prstGeom prst="line">
            <a:avLst/>
          </a:prstGeom>
          <a:ln w="9525" cap="flat" cmpd="sng">
            <a:solidFill>
              <a:schemeClr val="tx1"/>
            </a:solidFill>
            <a:prstDash val="solid"/>
            <a:round/>
            <a:headEnd type="none" w="med" len="med"/>
            <a:tailEnd type="triangle" w="med" len="med"/>
          </a:ln>
        </p:spPr>
      </p:sp>
      <p:sp>
        <p:nvSpPr>
          <p:cNvPr id="31752" name="Line 53"/>
          <p:cNvSpPr/>
          <p:nvPr/>
        </p:nvSpPr>
        <p:spPr>
          <a:xfrm flipV="1">
            <a:off x="8270875" y="2116455"/>
            <a:ext cx="0" cy="335280"/>
          </a:xfrm>
          <a:prstGeom prst="line">
            <a:avLst/>
          </a:prstGeom>
          <a:ln w="9525" cap="flat" cmpd="sng">
            <a:solidFill>
              <a:schemeClr val="tx1"/>
            </a:solidFill>
            <a:prstDash val="solid"/>
            <a:round/>
            <a:headEnd type="none" w="med" len="med"/>
            <a:tailEnd type="triangle" w="med" len="med"/>
          </a:ln>
        </p:spPr>
      </p:sp>
      <p:sp>
        <p:nvSpPr>
          <p:cNvPr id="31753" name="Line 54"/>
          <p:cNvSpPr/>
          <p:nvPr/>
        </p:nvSpPr>
        <p:spPr>
          <a:xfrm flipV="1">
            <a:off x="10353675" y="2103755"/>
            <a:ext cx="0" cy="335280"/>
          </a:xfrm>
          <a:prstGeom prst="line">
            <a:avLst/>
          </a:prstGeom>
          <a:ln w="9525" cap="flat" cmpd="sng">
            <a:solidFill>
              <a:schemeClr val="tx1"/>
            </a:solidFill>
            <a:prstDash val="solid"/>
            <a:round/>
            <a:headEnd type="none" w="med" len="med"/>
            <a:tailEnd type="triangle" w="med" len="med"/>
          </a:ln>
        </p:spPr>
      </p:sp>
      <p:sp>
        <p:nvSpPr>
          <p:cNvPr id="31754" name="Line 55"/>
          <p:cNvSpPr/>
          <p:nvPr/>
        </p:nvSpPr>
        <p:spPr>
          <a:xfrm flipV="1">
            <a:off x="11301730" y="2091055"/>
            <a:ext cx="0" cy="335280"/>
          </a:xfrm>
          <a:prstGeom prst="line">
            <a:avLst/>
          </a:prstGeom>
          <a:ln w="9525" cap="flat" cmpd="sng">
            <a:solidFill>
              <a:schemeClr val="tx1"/>
            </a:solidFill>
            <a:prstDash val="solid"/>
            <a:round/>
            <a:headEnd type="none" w="med" len="med"/>
            <a:tailEnd type="triangle" w="med" len="med"/>
          </a:ln>
        </p:spPr>
      </p:sp>
      <p:sp>
        <p:nvSpPr>
          <p:cNvPr id="31755" name="Line 56"/>
          <p:cNvSpPr/>
          <p:nvPr/>
        </p:nvSpPr>
        <p:spPr>
          <a:xfrm flipV="1">
            <a:off x="8137525" y="4694555"/>
            <a:ext cx="0" cy="617855"/>
          </a:xfrm>
          <a:prstGeom prst="line">
            <a:avLst/>
          </a:prstGeom>
          <a:ln w="19050" cap="flat" cmpd="sng">
            <a:solidFill>
              <a:schemeClr val="tx1"/>
            </a:solidFill>
            <a:prstDash val="solid"/>
            <a:round/>
            <a:headEnd type="none" w="med" len="med"/>
            <a:tailEnd type="triangle" w="med" len="med"/>
          </a:ln>
        </p:spPr>
      </p:sp>
      <p:sp>
        <p:nvSpPr>
          <p:cNvPr id="31756" name="Line 57"/>
          <p:cNvSpPr/>
          <p:nvPr/>
        </p:nvSpPr>
        <p:spPr>
          <a:xfrm flipV="1">
            <a:off x="7794625" y="3044825"/>
            <a:ext cx="0" cy="247650"/>
          </a:xfrm>
          <a:prstGeom prst="line">
            <a:avLst/>
          </a:prstGeom>
          <a:ln w="19050" cap="flat" cmpd="sng">
            <a:solidFill>
              <a:schemeClr val="tx1"/>
            </a:solidFill>
            <a:prstDash val="solid"/>
            <a:round/>
            <a:headEnd type="none" w="med" len="med"/>
            <a:tailEnd type="triangle" w="med" len="med"/>
          </a:ln>
        </p:spPr>
      </p:sp>
      <p:sp>
        <p:nvSpPr>
          <p:cNvPr id="31757" name="Line 58"/>
          <p:cNvSpPr/>
          <p:nvPr/>
        </p:nvSpPr>
        <p:spPr>
          <a:xfrm flipV="1">
            <a:off x="10788015" y="3037205"/>
            <a:ext cx="0" cy="260350"/>
          </a:xfrm>
          <a:prstGeom prst="line">
            <a:avLst/>
          </a:prstGeom>
          <a:ln w="19050" cap="flat" cmpd="sng">
            <a:solidFill>
              <a:schemeClr val="tx1"/>
            </a:solidFill>
            <a:prstDash val="solid"/>
            <a:round/>
            <a:headEnd type="none" w="med" len="med"/>
            <a:tailEnd type="triangle" w="med" len="med"/>
          </a:ln>
        </p:spPr>
      </p:sp>
      <p:sp>
        <p:nvSpPr>
          <p:cNvPr id="31758" name="Line 59"/>
          <p:cNvSpPr/>
          <p:nvPr/>
        </p:nvSpPr>
        <p:spPr>
          <a:xfrm flipV="1">
            <a:off x="10813415" y="1449705"/>
            <a:ext cx="0" cy="370205"/>
          </a:xfrm>
          <a:prstGeom prst="line">
            <a:avLst/>
          </a:prstGeom>
          <a:ln w="19050" cap="flat" cmpd="sng">
            <a:solidFill>
              <a:srgbClr val="FF0000"/>
            </a:solidFill>
            <a:prstDash val="solid"/>
            <a:round/>
            <a:headEnd type="none" w="med" len="med"/>
            <a:tailEnd type="triangle" w="med" len="med"/>
          </a:ln>
        </p:spPr>
      </p:sp>
      <p:sp>
        <p:nvSpPr>
          <p:cNvPr id="31759" name="Line 60"/>
          <p:cNvSpPr/>
          <p:nvPr/>
        </p:nvSpPr>
        <p:spPr>
          <a:xfrm flipV="1">
            <a:off x="7881620" y="1466850"/>
            <a:ext cx="0" cy="370205"/>
          </a:xfrm>
          <a:prstGeom prst="line">
            <a:avLst/>
          </a:prstGeom>
          <a:ln w="19050" cap="flat" cmpd="sng">
            <a:solidFill>
              <a:schemeClr val="tx1"/>
            </a:solidFill>
            <a:prstDash val="solid"/>
            <a:round/>
            <a:headEnd type="none" w="med" len="med"/>
            <a:tailEnd type="triangle" w="med" len="med"/>
          </a:ln>
        </p:spPr>
      </p:sp>
      <p:sp>
        <p:nvSpPr>
          <p:cNvPr id="31760" name="Line 61"/>
          <p:cNvSpPr/>
          <p:nvPr/>
        </p:nvSpPr>
        <p:spPr>
          <a:xfrm>
            <a:off x="5155565" y="1460500"/>
            <a:ext cx="7009765" cy="0"/>
          </a:xfrm>
          <a:prstGeom prst="line">
            <a:avLst/>
          </a:prstGeom>
          <a:ln w="19050" cap="flat" cmpd="sng">
            <a:solidFill>
              <a:srgbClr val="FF0000"/>
            </a:solidFill>
            <a:prstDash val="solid"/>
            <a:round/>
            <a:headEnd type="none" w="med" len="med"/>
            <a:tailEnd type="none" w="med" len="med"/>
          </a:ln>
        </p:spPr>
      </p:sp>
      <p:sp>
        <p:nvSpPr>
          <p:cNvPr id="31761" name="Line 62"/>
          <p:cNvSpPr/>
          <p:nvPr/>
        </p:nvSpPr>
        <p:spPr>
          <a:xfrm flipH="1" flipV="1">
            <a:off x="7160895" y="3035300"/>
            <a:ext cx="635" cy="389255"/>
          </a:xfrm>
          <a:prstGeom prst="line">
            <a:avLst/>
          </a:prstGeom>
          <a:ln w="19050" cap="flat" cmpd="sng">
            <a:solidFill>
              <a:srgbClr val="FF0000"/>
            </a:solidFill>
            <a:prstDash val="solid"/>
            <a:round/>
            <a:headEnd type="none" w="med" len="med"/>
            <a:tailEnd type="triangle" w="med" len="med"/>
          </a:ln>
        </p:spPr>
      </p:sp>
      <p:sp>
        <p:nvSpPr>
          <p:cNvPr id="31762" name="Line 63"/>
          <p:cNvSpPr/>
          <p:nvPr/>
        </p:nvSpPr>
        <p:spPr>
          <a:xfrm flipV="1">
            <a:off x="11272520" y="3027680"/>
            <a:ext cx="635" cy="410845"/>
          </a:xfrm>
          <a:prstGeom prst="line">
            <a:avLst/>
          </a:prstGeom>
          <a:ln w="19050" cap="flat" cmpd="sng">
            <a:solidFill>
              <a:srgbClr val="FF0000"/>
            </a:solidFill>
            <a:prstDash val="solid"/>
            <a:round/>
            <a:headEnd type="none" w="med" len="med"/>
            <a:tailEnd type="triangle" w="med" len="med"/>
          </a:ln>
        </p:spPr>
      </p:sp>
      <p:sp>
        <p:nvSpPr>
          <p:cNvPr id="31763" name="Line 64"/>
          <p:cNvSpPr/>
          <p:nvPr/>
        </p:nvSpPr>
        <p:spPr>
          <a:xfrm>
            <a:off x="12150725" y="1463040"/>
            <a:ext cx="635" cy="3496945"/>
          </a:xfrm>
          <a:prstGeom prst="line">
            <a:avLst/>
          </a:prstGeom>
          <a:ln w="19050" cap="flat" cmpd="sng">
            <a:solidFill>
              <a:srgbClr val="FF0000"/>
            </a:solidFill>
            <a:prstDash val="solid"/>
            <a:round/>
            <a:headEnd type="none" w="med" len="med"/>
            <a:tailEnd type="none" w="med" len="med"/>
          </a:ln>
        </p:spPr>
      </p:sp>
      <p:sp>
        <p:nvSpPr>
          <p:cNvPr id="31764" name="Line 65"/>
          <p:cNvSpPr/>
          <p:nvPr/>
        </p:nvSpPr>
        <p:spPr>
          <a:xfrm flipV="1">
            <a:off x="8114665" y="3270250"/>
            <a:ext cx="0" cy="581025"/>
          </a:xfrm>
          <a:prstGeom prst="line">
            <a:avLst/>
          </a:prstGeom>
          <a:ln w="19050" cap="flat" cmpd="sng">
            <a:solidFill>
              <a:schemeClr val="tx1"/>
            </a:solidFill>
            <a:prstDash val="solid"/>
            <a:round/>
            <a:headEnd type="none" w="med" len="med"/>
            <a:tailEnd type="triangle" w="med" len="med"/>
          </a:ln>
        </p:spPr>
      </p:sp>
      <p:sp>
        <p:nvSpPr>
          <p:cNvPr id="31765" name="Text Box 66"/>
          <p:cNvSpPr txBox="1"/>
          <p:nvPr/>
        </p:nvSpPr>
        <p:spPr>
          <a:xfrm>
            <a:off x="6283960" y="2246630"/>
            <a:ext cx="1039495" cy="18415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加法保留站</a:t>
            </a:r>
            <a:endParaRPr lang="zh-CN" altLang="en-US" sz="1200" b="1" dirty="0">
              <a:latin typeface="Times New Roman" pitchFamily="18" charset="0"/>
              <a:ea typeface="宋体" panose="02000500000000000000" pitchFamily="2" charset="-122"/>
            </a:endParaRPr>
          </a:p>
        </p:txBody>
      </p:sp>
      <p:sp>
        <p:nvSpPr>
          <p:cNvPr id="31766" name="Text Box 67"/>
          <p:cNvSpPr txBox="1"/>
          <p:nvPr/>
        </p:nvSpPr>
        <p:spPr>
          <a:xfrm>
            <a:off x="6925310" y="3675380"/>
            <a:ext cx="1090295" cy="184150"/>
          </a:xfrm>
          <a:prstGeom prst="rect">
            <a:avLst/>
          </a:prstGeom>
          <a:noFill/>
          <a:ln w="9525">
            <a:noFill/>
          </a:ln>
          <a:extLst>
            <a:ext uri="{909E8E84-426E-40DD-AFC4-6F175D3DCCD1}">
              <a14:hiddenFill xmlns:a14="http://schemas.microsoft.com/office/drawing/2010/main">
                <a:solidFill>
                  <a:schemeClr val="bg1"/>
                </a:solidFill>
              </a14:hiddenFill>
            </a:ext>
          </a:extLst>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浮点寄存器</a:t>
            </a:r>
            <a:endParaRPr lang="zh-CN" altLang="en-US" sz="1200" b="1" dirty="0">
              <a:latin typeface="Times New Roman" pitchFamily="18" charset="0"/>
              <a:ea typeface="宋体" panose="02000500000000000000" pitchFamily="2" charset="-122"/>
            </a:endParaRPr>
          </a:p>
        </p:txBody>
      </p:sp>
      <p:sp>
        <p:nvSpPr>
          <p:cNvPr id="31767" name="Text Box 68"/>
          <p:cNvSpPr txBox="1"/>
          <p:nvPr/>
        </p:nvSpPr>
        <p:spPr>
          <a:xfrm>
            <a:off x="9289415" y="2235200"/>
            <a:ext cx="1039495" cy="18415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乘法保留站</a:t>
            </a:r>
            <a:endParaRPr lang="zh-CN" altLang="en-US" sz="1200" b="1" dirty="0">
              <a:latin typeface="Times New Roman" pitchFamily="18" charset="0"/>
              <a:ea typeface="宋体" panose="02000500000000000000" pitchFamily="2" charset="-122"/>
            </a:endParaRPr>
          </a:p>
        </p:txBody>
      </p:sp>
      <p:sp>
        <p:nvSpPr>
          <p:cNvPr id="31768" name="Line 69"/>
          <p:cNvSpPr/>
          <p:nvPr/>
        </p:nvSpPr>
        <p:spPr>
          <a:xfrm>
            <a:off x="10807065" y="4959985"/>
            <a:ext cx="1358265" cy="635"/>
          </a:xfrm>
          <a:prstGeom prst="line">
            <a:avLst/>
          </a:prstGeom>
          <a:ln w="19050" cap="flat" cmpd="sng">
            <a:solidFill>
              <a:srgbClr val="FF0000"/>
            </a:solidFill>
            <a:prstDash val="solid"/>
            <a:round/>
            <a:headEnd type="none" w="med" len="med"/>
            <a:tailEnd type="none" w="med" len="med"/>
          </a:ln>
        </p:spPr>
      </p:sp>
      <p:sp>
        <p:nvSpPr>
          <p:cNvPr id="31769" name="Line 70"/>
          <p:cNvSpPr/>
          <p:nvPr/>
        </p:nvSpPr>
        <p:spPr>
          <a:xfrm flipV="1">
            <a:off x="10812145" y="4701540"/>
            <a:ext cx="1905" cy="260350"/>
          </a:xfrm>
          <a:prstGeom prst="line">
            <a:avLst/>
          </a:prstGeom>
          <a:ln w="19050" cap="flat" cmpd="sng">
            <a:solidFill>
              <a:srgbClr val="FF0000"/>
            </a:solidFill>
            <a:prstDash val="solid"/>
            <a:round/>
            <a:headEnd type="none" w="med" len="med"/>
            <a:tailEnd type="triangle" w="med" len="med"/>
          </a:ln>
        </p:spPr>
      </p:sp>
      <p:grpSp>
        <p:nvGrpSpPr>
          <p:cNvPr id="31772" name="Group 73"/>
          <p:cNvGrpSpPr/>
          <p:nvPr/>
        </p:nvGrpSpPr>
        <p:grpSpPr>
          <a:xfrm rot="0">
            <a:off x="4488815" y="1461135"/>
            <a:ext cx="7679055" cy="1970389"/>
            <a:chOff x="1701" y="512"/>
            <a:chExt cx="3628" cy="1241"/>
          </a:xfrm>
        </p:grpSpPr>
        <p:sp>
          <p:nvSpPr>
            <p:cNvPr id="31773" name="Line 74"/>
            <p:cNvSpPr/>
            <p:nvPr/>
          </p:nvSpPr>
          <p:spPr>
            <a:xfrm flipV="1">
              <a:off x="2154" y="1661"/>
              <a:ext cx="2518" cy="0"/>
            </a:xfrm>
            <a:prstGeom prst="line">
              <a:avLst/>
            </a:prstGeom>
            <a:ln w="19050" cap="flat" cmpd="sng">
              <a:solidFill>
                <a:schemeClr val="tx1"/>
              </a:solidFill>
              <a:prstDash val="solid"/>
              <a:round/>
              <a:headEnd type="none" w="med" len="med"/>
              <a:tailEnd type="none" w="med" len="med"/>
            </a:ln>
          </p:spPr>
        </p:sp>
        <p:sp>
          <p:nvSpPr>
            <p:cNvPr id="31774" name="Line 75"/>
            <p:cNvSpPr/>
            <p:nvPr/>
          </p:nvSpPr>
          <p:spPr>
            <a:xfrm flipV="1">
              <a:off x="2010" y="1753"/>
              <a:ext cx="3319" cy="0"/>
            </a:xfrm>
            <a:prstGeom prst="line">
              <a:avLst/>
            </a:prstGeom>
            <a:ln w="19050" cap="flat" cmpd="sng">
              <a:solidFill>
                <a:srgbClr val="FF0000"/>
              </a:solidFill>
              <a:prstDash val="solid"/>
              <a:round/>
              <a:headEnd type="none" w="med" len="med"/>
              <a:tailEnd type="none" w="med" len="med"/>
            </a:ln>
          </p:spPr>
        </p:sp>
        <p:grpSp>
          <p:nvGrpSpPr>
            <p:cNvPr id="31775" name="Group 76"/>
            <p:cNvGrpSpPr/>
            <p:nvPr/>
          </p:nvGrpSpPr>
          <p:grpSpPr>
            <a:xfrm>
              <a:off x="1701" y="512"/>
              <a:ext cx="3494" cy="1239"/>
              <a:chOff x="1701" y="512"/>
              <a:chExt cx="3494" cy="1239"/>
            </a:xfrm>
          </p:grpSpPr>
          <p:grpSp>
            <p:nvGrpSpPr>
              <p:cNvPr id="31776" name="Group 77"/>
              <p:cNvGrpSpPr/>
              <p:nvPr/>
            </p:nvGrpSpPr>
            <p:grpSpPr>
              <a:xfrm>
                <a:off x="2019" y="512"/>
                <a:ext cx="135" cy="1239"/>
                <a:chOff x="2019" y="512"/>
                <a:chExt cx="135" cy="1239"/>
              </a:xfrm>
            </p:grpSpPr>
            <p:sp>
              <p:nvSpPr>
                <p:cNvPr id="31777" name="Line 78"/>
                <p:cNvSpPr/>
                <p:nvPr/>
              </p:nvSpPr>
              <p:spPr>
                <a:xfrm flipV="1">
                  <a:off x="2022" y="512"/>
                  <a:ext cx="0" cy="233"/>
                </a:xfrm>
                <a:prstGeom prst="line">
                  <a:avLst/>
                </a:prstGeom>
                <a:ln w="19050" cap="flat" cmpd="sng">
                  <a:solidFill>
                    <a:schemeClr val="tx1"/>
                  </a:solidFill>
                  <a:prstDash val="solid"/>
                  <a:round/>
                  <a:headEnd type="none" w="med" len="med"/>
                  <a:tailEnd type="triangle" w="med" len="med"/>
                </a:ln>
              </p:spPr>
            </p:sp>
            <p:sp>
              <p:nvSpPr>
                <p:cNvPr id="31778" name="Line 79"/>
                <p:cNvSpPr/>
                <p:nvPr/>
              </p:nvSpPr>
              <p:spPr>
                <a:xfrm flipH="1" flipV="1">
                  <a:off x="2019" y="1502"/>
                  <a:ext cx="3" cy="249"/>
                </a:xfrm>
                <a:prstGeom prst="line">
                  <a:avLst/>
                </a:prstGeom>
                <a:ln w="19050" cap="flat" cmpd="sng">
                  <a:solidFill>
                    <a:srgbClr val="FF0000"/>
                  </a:solidFill>
                  <a:prstDash val="solid"/>
                  <a:round/>
                  <a:headEnd type="none" w="med" len="med"/>
                  <a:tailEnd type="triangle" w="med" len="med"/>
                </a:ln>
              </p:spPr>
            </p:sp>
            <p:sp>
              <p:nvSpPr>
                <p:cNvPr id="31779" name="Line 80"/>
                <p:cNvSpPr/>
                <p:nvPr/>
              </p:nvSpPr>
              <p:spPr>
                <a:xfrm flipV="1">
                  <a:off x="2154" y="1508"/>
                  <a:ext cx="0" cy="156"/>
                </a:xfrm>
                <a:prstGeom prst="line">
                  <a:avLst/>
                </a:prstGeom>
                <a:ln w="19050" cap="flat" cmpd="sng">
                  <a:solidFill>
                    <a:schemeClr val="tx1"/>
                  </a:solidFill>
                  <a:prstDash val="solid"/>
                  <a:round/>
                  <a:headEnd type="none" w="med" len="med"/>
                  <a:tailEnd type="triangle" w="med" len="med"/>
                </a:ln>
              </p:spPr>
            </p:sp>
          </p:grpSp>
          <p:sp>
            <p:nvSpPr>
              <p:cNvPr id="31780" name="Text Box 81"/>
              <p:cNvSpPr txBox="1"/>
              <p:nvPr/>
            </p:nvSpPr>
            <p:spPr>
              <a:xfrm>
                <a:off x="2777" y="750"/>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浮点加</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减法器</a:t>
                </a:r>
                <a:endParaRPr lang="zh-CN" altLang="en-US" sz="1200" b="1" dirty="0">
                  <a:latin typeface="Times New Roman" pitchFamily="18" charset="0"/>
                  <a:ea typeface="宋体" panose="02000500000000000000" pitchFamily="2" charset="-122"/>
                </a:endParaRPr>
              </a:p>
            </p:txBody>
          </p:sp>
          <p:sp>
            <p:nvSpPr>
              <p:cNvPr id="31781" name="Text Box 82"/>
              <p:cNvSpPr txBox="1"/>
              <p:nvPr/>
            </p:nvSpPr>
            <p:spPr>
              <a:xfrm>
                <a:off x="4181" y="737"/>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浮点乘</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除法器</a:t>
                </a:r>
                <a:endParaRPr lang="zh-CN" altLang="en-US" sz="1200" b="1" dirty="0">
                  <a:latin typeface="Times New Roman" pitchFamily="18" charset="0"/>
                  <a:ea typeface="宋体" panose="02000500000000000000" pitchFamily="2" charset="-122"/>
                </a:endParaRPr>
              </a:p>
            </p:txBody>
          </p:sp>
          <p:sp>
            <p:nvSpPr>
              <p:cNvPr id="31782" name="Text Box 83"/>
              <p:cNvSpPr txBox="1"/>
              <p:nvPr/>
            </p:nvSpPr>
            <p:spPr>
              <a:xfrm>
                <a:off x="1701" y="731"/>
                <a:ext cx="664" cy="771"/>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p>
                <a:pPr algn="ctr">
                  <a:spcBef>
                    <a:spcPct val="50000"/>
                  </a:spcBef>
                </a:pPr>
                <a:endParaRPr lang="en-US" altLang="zh-CN" sz="1200"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定点</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访存</a:t>
                </a:r>
                <a:endParaRPr lang="zh-CN" altLang="en-US" sz="1200" b="1"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部件</a:t>
                </a:r>
                <a:endParaRPr lang="zh-CN" altLang="en-US" sz="1200" b="1" dirty="0">
                  <a:latin typeface="Times New Roman" pitchFamily="18" charset="0"/>
                  <a:ea typeface="宋体" panose="02000500000000000000" pitchFamily="2" charset="-122"/>
                </a:endParaRPr>
              </a:p>
              <a:p>
                <a:pPr algn="ctr">
                  <a:spcBef>
                    <a:spcPct val="50000"/>
                  </a:spcBef>
                </a:pPr>
                <a:endParaRPr lang="en-US" altLang="zh-CN" sz="1200" b="1" dirty="0">
                  <a:latin typeface="Times New Roman" pitchFamily="18" charset="0"/>
                  <a:ea typeface="宋体" panose="02000500000000000000" pitchFamily="2" charset="-122"/>
                </a:endParaRPr>
              </a:p>
            </p:txBody>
          </p:sp>
        </p:grpSp>
      </p:grpSp>
      <p:sp>
        <p:nvSpPr>
          <p:cNvPr id="31783" name="Text Box 84"/>
          <p:cNvSpPr txBox="1"/>
          <p:nvPr/>
        </p:nvSpPr>
        <p:spPr>
          <a:xfrm>
            <a:off x="6979920" y="5045075"/>
            <a:ext cx="1030605" cy="184150"/>
          </a:xfrm>
          <a:prstGeom prst="rect">
            <a:avLst/>
          </a:prstGeom>
          <a:solidFill>
            <a:schemeClr val="bg1"/>
          </a:solid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指令队列</a:t>
            </a:r>
            <a:endParaRPr lang="zh-CN" altLang="en-US" sz="1200" b="1" dirty="0">
              <a:latin typeface="Times New Roman" pitchFamily="18" charset="0"/>
              <a:ea typeface="宋体" panose="02000500000000000000" pitchFamily="2" charset="-122"/>
            </a:endParaRPr>
          </a:p>
        </p:txBody>
      </p:sp>
      <p:graphicFrame>
        <p:nvGraphicFramePr>
          <p:cNvPr id="3" name="表格 2"/>
          <p:cNvGraphicFramePr/>
          <p:nvPr/>
        </p:nvGraphicFramePr>
        <p:xfrm>
          <a:off x="6799580" y="3837940"/>
          <a:ext cx="2342515" cy="863600"/>
        </p:xfrm>
        <a:graphic>
          <a:graphicData uri="http://schemas.openxmlformats.org/drawingml/2006/table">
            <a:tbl>
              <a:tblPr firstRow="1" bandRow="1">
                <a:tableStyleId>{5C22544A-7EE6-4342-B048-85BDC9FD1C3A}</a:tableStyleId>
              </a:tblPr>
              <a:tblGrid>
                <a:gridCol w="365125"/>
                <a:gridCol w="450850"/>
                <a:gridCol w="1526540"/>
              </a:tblGrid>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4</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3.0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4" name="表格 3"/>
          <p:cNvGraphicFramePr/>
          <p:nvPr/>
        </p:nvGraphicFramePr>
        <p:xfrm>
          <a:off x="7167880" y="5311775"/>
          <a:ext cx="1930400" cy="1280160"/>
        </p:xfrm>
        <a:graphic>
          <a:graphicData uri="http://schemas.openxmlformats.org/drawingml/2006/table">
            <a:tbl>
              <a:tblPr firstRow="1" bandRow="1">
                <a:tableStyleId>{5C22544A-7EE6-4342-B048-85BDC9FD1C3A}</a:tableStyleId>
              </a:tblPr>
              <a:tblGrid>
                <a:gridCol w="1930400"/>
              </a:tblGrid>
              <a:tr h="213360">
                <a:tc>
                  <a:txBody>
                    <a:bodyPr/>
                    <a:p>
                      <a:pPr indent="0">
                        <a:buNone/>
                      </a:pPr>
                      <a:r>
                        <a:rPr lang="en-US" sz="1200" b="1">
                          <a:solidFill>
                            <a:schemeClr val="tx1"/>
                          </a:solidFill>
                          <a:latin typeface="宋体" panose="02000500000000000000" pitchFamily="2" charset="-122"/>
                          <a:ea typeface="宋体" panose="02000500000000000000" pitchFamily="2" charset="-122"/>
                        </a:rPr>
                        <a:t>FDIV.D  </a:t>
                      </a:r>
                      <a:r>
                        <a:rPr lang="en-US" sz="1200" b="1">
                          <a:solidFill>
                            <a:srgbClr val="FF0000"/>
                          </a:solidFill>
                          <a:latin typeface="宋体" panose="02000500000000000000" pitchFamily="2" charset="-122"/>
                          <a:ea typeface="宋体" panose="02000500000000000000" pitchFamily="2" charset="-122"/>
                        </a:rPr>
                        <a:t>F0</a:t>
                      </a:r>
                      <a:r>
                        <a:rPr lang="en-US" sz="1200" b="1">
                          <a:solidFill>
                            <a:schemeClr val="tx1"/>
                          </a:solidFill>
                          <a:latin typeface="宋体" panose="02000500000000000000" pitchFamily="2" charset="-122"/>
                          <a:ea typeface="宋体" panose="02000500000000000000" pitchFamily="2" charset="-122"/>
                        </a:rPr>
                        <a:t>, F1, F2</a:t>
                      </a:r>
                      <a:endParaRPr lang="en-US" altLang="en-US" sz="1200" b="1">
                        <a:solidFill>
                          <a:schemeClr val="tx1"/>
                        </a:solidFill>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FADD.D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F1,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5" name="表格 4"/>
          <p:cNvGraphicFramePr/>
          <p:nvPr/>
        </p:nvGraphicFramePr>
        <p:xfrm>
          <a:off x="9544050" y="243586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fmul</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0</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0.5</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ctr">
                        <a:buNone/>
                      </a:pPr>
                      <a:r>
                        <a:rPr lang="en-US" altLang="zh-CN" sz="1200" b="1">
                          <a:solidFill>
                            <a:schemeClr val="tx1"/>
                          </a:solidFill>
                          <a:latin typeface="宋体" panose="02000500000000000000" pitchFamily="2" charset="-122"/>
                          <a:ea typeface="宋体" panose="02000500000000000000" pitchFamily="2" charset="-122"/>
                        </a:rPr>
                        <a:t>4</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fmul</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3.0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7" name="表格 6"/>
          <p:cNvGraphicFramePr/>
          <p:nvPr/>
        </p:nvGraphicFramePr>
        <p:xfrm>
          <a:off x="6577330" y="245618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9" name="表格 8"/>
          <p:cNvGraphicFramePr/>
          <p:nvPr/>
        </p:nvGraphicFramePr>
        <p:xfrm>
          <a:off x="9486900" y="3822700"/>
          <a:ext cx="2342515" cy="863600"/>
        </p:xfrm>
        <a:graphic>
          <a:graphicData uri="http://schemas.openxmlformats.org/drawingml/2006/table">
            <a:tbl>
              <a:tblPr firstRow="1" bandRow="1">
                <a:tableStyleId>{5C22544A-7EE6-4342-B048-85BDC9FD1C3A}</a:tableStyleId>
              </a:tblPr>
              <a:tblGrid>
                <a:gridCol w="221065"/>
                <a:gridCol w="382270"/>
                <a:gridCol w="387901"/>
                <a:gridCol w="1351279"/>
              </a:tblGrid>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4</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fmul</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f3</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fadd</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f0</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3.0</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fmul</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f3</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fdiv</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f0</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0.5</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sp>
        <p:nvSpPr>
          <p:cNvPr id="47115" name="Line 15"/>
          <p:cNvSpPr/>
          <p:nvPr/>
        </p:nvSpPr>
        <p:spPr>
          <a:xfrm flipH="1" flipV="1">
            <a:off x="11068050" y="3610610"/>
            <a:ext cx="9525" cy="215900"/>
          </a:xfrm>
          <a:prstGeom prst="line">
            <a:avLst/>
          </a:prstGeom>
          <a:ln w="19050" cap="flat" cmpd="sng">
            <a:solidFill>
              <a:schemeClr val="accent2"/>
            </a:solidFill>
            <a:prstDash val="solid"/>
            <a:round/>
            <a:headEnd type="none" w="med" len="med"/>
            <a:tailEnd type="none" w="med" len="med"/>
          </a:ln>
        </p:spPr>
      </p:sp>
      <p:sp>
        <p:nvSpPr>
          <p:cNvPr id="47131" name="Line 36"/>
          <p:cNvSpPr/>
          <p:nvPr/>
        </p:nvSpPr>
        <p:spPr>
          <a:xfrm flipV="1">
            <a:off x="4904105" y="4940935"/>
            <a:ext cx="2991485" cy="13970"/>
          </a:xfrm>
          <a:prstGeom prst="line">
            <a:avLst/>
          </a:prstGeom>
          <a:ln w="19050" cap="flat" cmpd="sng">
            <a:solidFill>
              <a:schemeClr val="accent2"/>
            </a:solidFill>
            <a:prstDash val="solid"/>
            <a:round/>
            <a:headEnd type="none" w="med" len="med"/>
            <a:tailEnd type="none" w="med" len="med"/>
          </a:ln>
        </p:spPr>
      </p:sp>
      <p:sp>
        <p:nvSpPr>
          <p:cNvPr id="47133" name="Text Box 43"/>
          <p:cNvSpPr txBox="1"/>
          <p:nvPr/>
        </p:nvSpPr>
        <p:spPr>
          <a:xfrm>
            <a:off x="5375910" y="4712335"/>
            <a:ext cx="1089025" cy="184150"/>
          </a:xfrm>
          <a:prstGeom prst="rect">
            <a:avLst/>
          </a:prstGeom>
          <a:noFill/>
          <a:ln w="9525">
            <a:noFill/>
          </a:ln>
          <a:extLst>
            <a:ext uri="{909E8E84-426E-40DD-AFC4-6F175D3DCCD1}">
              <a14:hiddenFill xmlns:a14="http://schemas.microsoft.com/office/drawing/2010/main">
                <a:solidFill>
                  <a:schemeClr val="bg1"/>
                </a:solidFill>
              </a14:hiddenFill>
            </a:ext>
          </a:extLst>
        </p:spPr>
        <p:txBody>
          <a:bodyPr lIns="0" tIns="0" rIns="0" bIns="0" anchor="t" anchorCtr="0">
            <a:spAutoFit/>
          </a:bodyPr>
          <a:p>
            <a:pPr>
              <a:spcBef>
                <a:spcPct val="50000"/>
              </a:spcBef>
            </a:pPr>
            <a:r>
              <a:rPr lang="zh-CN" altLang="en-US" sz="1200" b="1" dirty="0">
                <a:solidFill>
                  <a:schemeClr val="accent2"/>
                </a:solidFill>
                <a:latin typeface="Times New Roman" pitchFamily="18" charset="0"/>
                <a:ea typeface="宋体" panose="02000500000000000000" pitchFamily="2" charset="-122"/>
              </a:rPr>
              <a:t>修改寄存器</a:t>
            </a:r>
            <a:endParaRPr lang="zh-CN" altLang="en-US" sz="1200" b="1" dirty="0">
              <a:solidFill>
                <a:schemeClr val="accent2"/>
              </a:solidFill>
              <a:latin typeface="Times New Roman" pitchFamily="18" charset="0"/>
              <a:ea typeface="宋体" panose="02000500000000000000" pitchFamily="2" charset="-122"/>
            </a:endParaRPr>
          </a:p>
        </p:txBody>
      </p:sp>
      <p:sp>
        <p:nvSpPr>
          <p:cNvPr id="47143" name="Line 37"/>
          <p:cNvSpPr/>
          <p:nvPr/>
        </p:nvSpPr>
        <p:spPr>
          <a:xfrm flipH="1" flipV="1">
            <a:off x="7879715" y="4688205"/>
            <a:ext cx="8255" cy="252095"/>
          </a:xfrm>
          <a:prstGeom prst="line">
            <a:avLst/>
          </a:prstGeom>
          <a:ln w="19050" cap="flat" cmpd="sng">
            <a:solidFill>
              <a:schemeClr val="accent2"/>
            </a:solidFill>
            <a:prstDash val="solid"/>
            <a:round/>
            <a:headEnd type="none" w="med" len="med"/>
            <a:tailEnd type="triangle" w="med" len="med"/>
          </a:ln>
        </p:spPr>
      </p:sp>
      <p:sp>
        <p:nvSpPr>
          <p:cNvPr id="47144" name="Line 38"/>
          <p:cNvSpPr/>
          <p:nvPr/>
        </p:nvSpPr>
        <p:spPr>
          <a:xfrm>
            <a:off x="4868545" y="3616325"/>
            <a:ext cx="6222365" cy="13970"/>
          </a:xfrm>
          <a:prstGeom prst="line">
            <a:avLst/>
          </a:prstGeom>
          <a:ln w="19050" cap="flat" cmpd="sng">
            <a:solidFill>
              <a:schemeClr val="accent2"/>
            </a:solidFill>
            <a:prstDash val="solid"/>
            <a:round/>
            <a:headEnd type="none" w="med" len="med"/>
            <a:tailEnd type="none" w="med" len="med"/>
          </a:ln>
        </p:spPr>
      </p:sp>
      <p:sp>
        <p:nvSpPr>
          <p:cNvPr id="47146" name="Line 41"/>
          <p:cNvSpPr/>
          <p:nvPr/>
        </p:nvSpPr>
        <p:spPr>
          <a:xfrm flipH="1" flipV="1">
            <a:off x="4877435" y="3028315"/>
            <a:ext cx="14605" cy="1934210"/>
          </a:xfrm>
          <a:prstGeom prst="line">
            <a:avLst/>
          </a:prstGeom>
          <a:ln w="19050" cap="flat" cmpd="sng">
            <a:solidFill>
              <a:schemeClr val="accent2"/>
            </a:solidFill>
            <a:prstDash val="solid"/>
            <a:round/>
            <a:headEnd type="none" w="med" len="med"/>
            <a:tailEnd type="triangle" w="med" len="med"/>
          </a:ln>
        </p:spPr>
      </p:sp>
      <p:sp>
        <p:nvSpPr>
          <p:cNvPr id="46082" name="Rectangle 3"/>
          <p:cNvSpPr/>
          <p:nvPr/>
        </p:nvSpPr>
        <p:spPr>
          <a:xfrm>
            <a:off x="912813" y="420688"/>
            <a:ext cx="10361612" cy="523875"/>
          </a:xfrm>
          <a:prstGeom prst="rect">
            <a:avLst/>
          </a:prstGeom>
          <a:noFill/>
          <a:ln w="9525">
            <a:noFill/>
          </a:ln>
        </p:spPr>
        <p:txBody>
          <a:bodyPr anchor="ctr" anchorCtr="0"/>
          <a:p>
            <a:pPr algn="ctr"/>
            <a:r>
              <a:rPr lang="zh-CN" sz="3200" dirty="0">
                <a:solidFill>
                  <a:srgbClr val="FF0000"/>
                </a:solidFill>
                <a:latin typeface="Arial" panose="02080604020202020204" pitchFamily="34" charset="0"/>
                <a:ea typeface="黑体" panose="02000500000000000000" pitchFamily="49" charset="-122"/>
              </a:rPr>
              <a:t>例子</a:t>
            </a:r>
            <a:endParaRPr lang="zh-CN" sz="3200" dirty="0">
              <a:solidFill>
                <a:srgbClr val="FF0000"/>
              </a:solidFill>
              <a:latin typeface="Arial" panose="02080604020202020204" pitchFamily="34" charset="0"/>
              <a:ea typeface="黑体" panose="02000500000000000000" pitchFamily="49" charset="-122"/>
            </a:endParaRPr>
          </a:p>
        </p:txBody>
      </p:sp>
      <p:sp>
        <p:nvSpPr>
          <p:cNvPr id="50195" name="Text Box 44"/>
          <p:cNvSpPr txBox="1"/>
          <p:nvPr/>
        </p:nvSpPr>
        <p:spPr>
          <a:xfrm>
            <a:off x="8543925" y="1234440"/>
            <a:ext cx="1527175" cy="184150"/>
          </a:xfrm>
          <a:prstGeom prst="rect">
            <a:avLst/>
          </a:prstGeom>
          <a:solidFill>
            <a:schemeClr val="bg1"/>
          </a:solidFill>
          <a:ln w="9525">
            <a:noFill/>
          </a:ln>
        </p:spPr>
        <p:txBody>
          <a:bodyPr wrap="square" lIns="0" tIns="0" rIns="0" bIns="0" anchor="t" anchorCtr="0">
            <a:spAutoFit/>
          </a:bodyPr>
          <a:p>
            <a:pPr>
              <a:spcBef>
                <a:spcPct val="50000"/>
              </a:spcBef>
            </a:pPr>
            <a:r>
              <a:rPr lang="zh-CN" altLang="en-US" sz="1200" b="1" dirty="0">
                <a:solidFill>
                  <a:srgbClr val="FF0000"/>
                </a:solidFill>
                <a:latin typeface="宋体" panose="02000500000000000000" pitchFamily="2" charset="-122"/>
                <a:cs typeface="宋体" panose="02000500000000000000" pitchFamily="2" charset="-122"/>
              </a:rPr>
              <a:t>结果总线（</a:t>
            </a:r>
            <a:r>
              <a:rPr lang="en-US" altLang="zh-CN" sz="1200" b="1" dirty="0">
                <a:solidFill>
                  <a:srgbClr val="FF0000"/>
                </a:solidFill>
                <a:latin typeface="宋体" panose="02000500000000000000" pitchFamily="2" charset="-122"/>
                <a:cs typeface="宋体" panose="02000500000000000000" pitchFamily="2" charset="-122"/>
              </a:rPr>
              <a:t>1</a:t>
            </a:r>
            <a:r>
              <a:rPr lang="zh-CN" altLang="en-US" sz="1200" b="1" dirty="0">
                <a:solidFill>
                  <a:srgbClr val="FF0000"/>
                </a:solidFill>
                <a:latin typeface="宋体" panose="02000500000000000000" pitchFamily="2" charset="-122"/>
                <a:cs typeface="宋体" panose="02000500000000000000" pitchFamily="2" charset="-122"/>
              </a:rPr>
              <a:t>，</a:t>
            </a:r>
            <a:r>
              <a:rPr lang="en-US" altLang="zh-CN" sz="1200" b="1" dirty="0">
                <a:solidFill>
                  <a:srgbClr val="FF0000"/>
                </a:solidFill>
                <a:latin typeface="宋体" panose="02000500000000000000" pitchFamily="2" charset="-122"/>
                <a:cs typeface="宋体" panose="02000500000000000000" pitchFamily="2" charset="-122"/>
              </a:rPr>
              <a:t>0.5</a:t>
            </a:r>
            <a:r>
              <a:rPr lang="zh-CN" altLang="en-US" sz="1200" b="1" dirty="0">
                <a:solidFill>
                  <a:srgbClr val="FF0000"/>
                </a:solidFill>
                <a:latin typeface="宋体" panose="02000500000000000000" pitchFamily="2" charset="-122"/>
                <a:cs typeface="宋体" panose="02000500000000000000" pitchFamily="2" charset="-122"/>
              </a:rPr>
              <a:t>）</a:t>
            </a:r>
            <a:endParaRPr lang="en-US" altLang="zh-CN" sz="1200" b="1" dirty="0">
              <a:solidFill>
                <a:srgbClr val="FF0000"/>
              </a:solidFill>
              <a:latin typeface="宋体" panose="02000500000000000000" pitchFamily="2" charset="-122"/>
              <a:cs typeface="宋体" panose="02000500000000000000" pitchFamily="2" charset="-122"/>
            </a:endParaRPr>
          </a:p>
        </p:txBody>
      </p:sp>
      <p:sp>
        <p:nvSpPr>
          <p:cNvPr id="55316" name="Text Box 44"/>
          <p:cNvSpPr txBox="1"/>
          <p:nvPr/>
        </p:nvSpPr>
        <p:spPr>
          <a:xfrm>
            <a:off x="187325" y="2743200"/>
            <a:ext cx="4187825" cy="2030095"/>
          </a:xfrm>
          <a:prstGeom prst="rect">
            <a:avLst/>
          </a:prstGeom>
          <a:noFill/>
          <a:ln w="9525">
            <a:noFill/>
          </a:ln>
        </p:spPr>
        <p:txBody>
          <a:bodyPr anchor="t" anchorCtr="0">
            <a:spAutoFit/>
          </a:bodyPr>
          <a:p>
            <a:pPr>
              <a:lnSpc>
                <a:spcPct val="150000"/>
              </a:lnSpc>
              <a:buChar char="•"/>
            </a:pPr>
            <a:r>
              <a:rPr lang="en-US" altLang="zh-CN" sz="1400" dirty="0">
                <a:solidFill>
                  <a:srgbClr val="000000"/>
                </a:solidFill>
                <a:latin typeface="宋体" panose="02000500000000000000" pitchFamily="2" charset="-122"/>
                <a:cs typeface="宋体" panose="02000500000000000000" pitchFamily="2" charset="-122"/>
              </a:rPr>
              <a:t>DIV</a:t>
            </a:r>
            <a:r>
              <a:rPr lang="zh-CN" altLang="zh-CN" sz="1400" dirty="0">
                <a:solidFill>
                  <a:srgbClr val="000000"/>
                </a:solidFill>
                <a:latin typeface="宋体" panose="02000500000000000000" pitchFamily="2" charset="-122"/>
                <a:cs typeface="宋体" panose="02000500000000000000" pitchFamily="2" charset="-122"/>
              </a:rPr>
              <a:t>发射，</a:t>
            </a:r>
            <a:r>
              <a:rPr lang="en-US" altLang="zh-CN" sz="1400" dirty="0">
                <a:solidFill>
                  <a:srgbClr val="000000"/>
                </a:solidFill>
                <a:latin typeface="宋体" panose="02000500000000000000" pitchFamily="2" charset="-122"/>
                <a:cs typeface="宋体" panose="02000500000000000000" pitchFamily="2" charset="-122"/>
              </a:rPr>
              <a:t>F1, F2</a:t>
            </a:r>
            <a:r>
              <a:rPr lang="zh-CN" altLang="zh-CN" sz="1400" dirty="0">
                <a:solidFill>
                  <a:srgbClr val="000000"/>
                </a:solidFill>
                <a:latin typeface="宋体" panose="02000500000000000000" pitchFamily="2" charset="-122"/>
                <a:cs typeface="宋体" panose="02000500000000000000" pitchFamily="2" charset="-122"/>
              </a:rPr>
              <a:t>都准备好</a:t>
            </a:r>
            <a:endParaRPr lang="zh-CN" altLang="zh-CN" sz="1400" dirty="0">
              <a:solidFill>
                <a:srgbClr val="000000"/>
              </a:solidFill>
              <a:latin typeface="宋体" panose="02000500000000000000" pitchFamily="2" charset="-122"/>
              <a:cs typeface="宋体" panose="02000500000000000000" pitchFamily="2" charset="-122"/>
            </a:endParaRPr>
          </a:p>
          <a:p>
            <a:pPr>
              <a:lnSpc>
                <a:spcPct val="150000"/>
              </a:lnSpc>
              <a:buChar char="•"/>
            </a:pPr>
            <a:r>
              <a:rPr lang="en-US" altLang="zh-CN" sz="1400" dirty="0">
                <a:latin typeface="宋体" panose="02000500000000000000" pitchFamily="2" charset="-122"/>
                <a:cs typeface="宋体" panose="02000500000000000000" pitchFamily="2" charset="-122"/>
              </a:rPr>
              <a:t>MUL1</a:t>
            </a:r>
            <a:r>
              <a:rPr lang="zh-CN" altLang="zh-CN" sz="1400" dirty="0">
                <a:latin typeface="宋体" panose="02000500000000000000" pitchFamily="2" charset="-122"/>
                <a:cs typeface="宋体" panose="02000500000000000000" pitchFamily="2" charset="-122"/>
              </a:rPr>
              <a:t>发射，</a:t>
            </a:r>
            <a:r>
              <a:rPr lang="en-US" altLang="zh-CN" sz="1400" dirty="0">
                <a:latin typeface="宋体" panose="02000500000000000000" pitchFamily="2" charset="-122"/>
                <a:cs typeface="宋体" panose="02000500000000000000" pitchFamily="2" charset="-122"/>
              </a:rPr>
              <a:t>F0</a:t>
            </a:r>
            <a:r>
              <a:rPr lang="zh-CN" altLang="zh-CN" sz="1400" dirty="0">
                <a:latin typeface="宋体" panose="02000500000000000000" pitchFamily="2" charset="-122"/>
                <a:cs typeface="宋体" panose="02000500000000000000" pitchFamily="2" charset="-122"/>
              </a:rPr>
              <a:t>等待1号</a:t>
            </a:r>
            <a:r>
              <a:rPr lang="en-US" altLang="zh-CN" sz="1400" dirty="0">
                <a:latin typeface="宋体" panose="02000500000000000000" pitchFamily="2" charset="-122"/>
                <a:cs typeface="宋体" panose="02000500000000000000" pitchFamily="2" charset="-122"/>
              </a:rPr>
              <a:t>RB</a:t>
            </a:r>
            <a:r>
              <a:rPr lang="zh-CN" altLang="zh-CN" sz="1400" dirty="0">
                <a:latin typeface="宋体" panose="02000500000000000000" pitchFamily="2" charset="-122"/>
                <a:cs typeface="宋体" panose="02000500000000000000" pitchFamily="2" charset="-122"/>
              </a:rPr>
              <a:t>的结果</a:t>
            </a:r>
            <a:endParaRPr lang="zh-CN" altLang="zh-CN" sz="1400" dirty="0">
              <a:latin typeface="宋体" panose="02000500000000000000" pitchFamily="2" charset="-122"/>
              <a:cs typeface="宋体" panose="02000500000000000000" pitchFamily="2" charset="-122"/>
            </a:endParaRPr>
          </a:p>
          <a:p>
            <a:pPr>
              <a:lnSpc>
                <a:spcPct val="150000"/>
              </a:lnSpc>
              <a:buChar char="•"/>
            </a:pPr>
            <a:r>
              <a:rPr lang="en-US" altLang="zh-CN" sz="1400" dirty="0">
                <a:solidFill>
                  <a:srgbClr val="000000"/>
                </a:solidFill>
                <a:latin typeface="宋体" panose="02000500000000000000" pitchFamily="2" charset="-122"/>
                <a:cs typeface="宋体" panose="02000500000000000000" pitchFamily="2" charset="-122"/>
              </a:rPr>
              <a:t>ADD</a:t>
            </a:r>
            <a:r>
              <a:rPr lang="zh-CN" altLang="zh-CN" sz="1400" dirty="0">
                <a:solidFill>
                  <a:srgbClr val="000000"/>
                </a:solidFill>
                <a:latin typeface="宋体" panose="02000500000000000000" pitchFamily="2" charset="-122"/>
                <a:cs typeface="宋体" panose="02000500000000000000" pitchFamily="2" charset="-122"/>
              </a:rPr>
              <a:t>发射，</a:t>
            </a:r>
            <a:r>
              <a:rPr lang="en-US" altLang="zh-CN" sz="1400" dirty="0">
                <a:solidFill>
                  <a:srgbClr val="000000"/>
                </a:solidFill>
                <a:latin typeface="宋体" panose="02000500000000000000" pitchFamily="2" charset="-122"/>
                <a:cs typeface="宋体" panose="02000500000000000000" pitchFamily="2" charset="-122"/>
              </a:rPr>
              <a:t>F1, F2</a:t>
            </a:r>
            <a:r>
              <a:rPr lang="zh-CN" altLang="zh-CN" sz="1400" dirty="0">
                <a:solidFill>
                  <a:srgbClr val="000000"/>
                </a:solidFill>
                <a:latin typeface="宋体" panose="02000500000000000000" pitchFamily="2" charset="-122"/>
                <a:cs typeface="宋体" panose="02000500000000000000" pitchFamily="2" charset="-122"/>
              </a:rPr>
              <a:t>都准备好</a:t>
            </a:r>
            <a:endParaRPr lang="zh-CN" altLang="zh-CN" sz="1400" dirty="0">
              <a:solidFill>
                <a:srgbClr val="000000"/>
              </a:solidFill>
              <a:latin typeface="宋体" panose="02000500000000000000" pitchFamily="2" charset="-122"/>
              <a:cs typeface="宋体" panose="02000500000000000000" pitchFamily="2" charset="-122"/>
            </a:endParaRPr>
          </a:p>
          <a:p>
            <a:pPr>
              <a:lnSpc>
                <a:spcPct val="150000"/>
              </a:lnSpc>
              <a:buChar char="•"/>
            </a:pPr>
            <a:r>
              <a:rPr lang="en-US" altLang="zh-CN" sz="1400" dirty="0">
                <a:solidFill>
                  <a:srgbClr val="000000"/>
                </a:solidFill>
                <a:latin typeface="宋体" panose="02000500000000000000" pitchFamily="2" charset="-122"/>
                <a:cs typeface="宋体" panose="02000500000000000000" pitchFamily="2" charset="-122"/>
              </a:rPr>
              <a:t>MUL2</a:t>
            </a:r>
            <a:r>
              <a:rPr lang="zh-CN" altLang="zh-CN" sz="1400" dirty="0">
                <a:solidFill>
                  <a:srgbClr val="000000"/>
                </a:solidFill>
                <a:latin typeface="宋体" panose="02000500000000000000" pitchFamily="2" charset="-122"/>
                <a:cs typeface="宋体" panose="02000500000000000000" pitchFamily="2" charset="-122"/>
              </a:rPr>
              <a:t>发射, </a:t>
            </a:r>
            <a:r>
              <a:rPr lang="en-US" altLang="zh-CN" sz="1400" dirty="0">
                <a:solidFill>
                  <a:srgbClr val="000000"/>
                </a:solidFill>
                <a:latin typeface="宋体" panose="02000500000000000000" pitchFamily="2" charset="-122"/>
                <a:cs typeface="宋体" panose="02000500000000000000" pitchFamily="2" charset="-122"/>
              </a:rPr>
              <a:t>F0</a:t>
            </a:r>
            <a:r>
              <a:rPr lang="zh-CN" altLang="zh-CN" sz="1400" dirty="0">
                <a:solidFill>
                  <a:srgbClr val="000000"/>
                </a:solidFill>
                <a:latin typeface="宋体" panose="02000500000000000000" pitchFamily="2" charset="-122"/>
                <a:cs typeface="宋体" panose="02000500000000000000" pitchFamily="2" charset="-122"/>
              </a:rPr>
              <a:t>等待3号</a:t>
            </a:r>
            <a:r>
              <a:rPr lang="en-US" altLang="zh-CN" sz="1400" dirty="0">
                <a:solidFill>
                  <a:srgbClr val="000000"/>
                </a:solidFill>
                <a:latin typeface="宋体" panose="02000500000000000000" pitchFamily="2" charset="-122"/>
                <a:cs typeface="宋体" panose="02000500000000000000" pitchFamily="2" charset="-122"/>
              </a:rPr>
              <a:t>RB</a:t>
            </a:r>
            <a:r>
              <a:rPr lang="zh-CN" altLang="zh-CN" sz="1400" dirty="0">
                <a:solidFill>
                  <a:srgbClr val="000000"/>
                </a:solidFill>
                <a:latin typeface="宋体" panose="02000500000000000000" pitchFamily="2" charset="-122"/>
                <a:cs typeface="宋体" panose="02000500000000000000" pitchFamily="2" charset="-122"/>
              </a:rPr>
              <a:t>的结果</a:t>
            </a:r>
            <a:endParaRPr lang="zh-CN" altLang="zh-CN" sz="1400" dirty="0">
              <a:solidFill>
                <a:srgbClr val="000000"/>
              </a:solidFill>
              <a:latin typeface="宋体" panose="02000500000000000000" pitchFamily="2" charset="-122"/>
              <a:cs typeface="宋体" panose="02000500000000000000" pitchFamily="2" charset="-122"/>
            </a:endParaRPr>
          </a:p>
          <a:p>
            <a:pPr>
              <a:lnSpc>
                <a:spcPct val="150000"/>
              </a:lnSpc>
              <a:buChar char="•"/>
            </a:pPr>
            <a:r>
              <a:rPr lang="en-US" altLang="zh-CN" sz="1400" dirty="0">
                <a:solidFill>
                  <a:srgbClr val="000000"/>
                </a:solidFill>
                <a:latin typeface="宋体" panose="02000500000000000000" pitchFamily="2" charset="-122"/>
                <a:cs typeface="宋体" panose="02000500000000000000" pitchFamily="2" charset="-122"/>
              </a:rPr>
              <a:t>ADD</a:t>
            </a:r>
            <a:r>
              <a:rPr lang="zh-CN" altLang="zh-CN" sz="1400" dirty="0">
                <a:solidFill>
                  <a:srgbClr val="000000"/>
                </a:solidFill>
                <a:latin typeface="宋体" panose="02000500000000000000" pitchFamily="2" charset="-122"/>
                <a:cs typeface="宋体" panose="02000500000000000000" pitchFamily="2" charset="-122"/>
              </a:rPr>
              <a:t>写回</a:t>
            </a:r>
            <a:endParaRPr lang="zh-CN" altLang="zh-CN" sz="1400" dirty="0">
              <a:solidFill>
                <a:srgbClr val="000000"/>
              </a:solidFill>
              <a:latin typeface="宋体" panose="02000500000000000000" pitchFamily="2" charset="-122"/>
              <a:cs typeface="宋体" panose="02000500000000000000" pitchFamily="2" charset="-122"/>
            </a:endParaRPr>
          </a:p>
          <a:p>
            <a:pPr>
              <a:lnSpc>
                <a:spcPct val="150000"/>
              </a:lnSpc>
              <a:buChar char="•"/>
            </a:pPr>
            <a:r>
              <a:rPr lang="en-US" altLang="zh-CN" sz="1400" dirty="0">
                <a:solidFill>
                  <a:srgbClr val="FF0000"/>
                </a:solidFill>
                <a:latin typeface="宋体" panose="02000500000000000000" pitchFamily="2" charset="-122"/>
                <a:cs typeface="宋体" panose="02000500000000000000" pitchFamily="2" charset="-122"/>
              </a:rPr>
              <a:t>DIV</a:t>
            </a:r>
            <a:r>
              <a:rPr lang="zh-CN" altLang="en-US" sz="1400" dirty="0">
                <a:solidFill>
                  <a:srgbClr val="FF0000"/>
                </a:solidFill>
                <a:latin typeface="宋体" panose="02000500000000000000" pitchFamily="2" charset="-122"/>
                <a:cs typeface="宋体" panose="02000500000000000000" pitchFamily="2" charset="-122"/>
              </a:rPr>
              <a:t>写回</a:t>
            </a:r>
            <a:endParaRPr lang="zh-CN" altLang="en-US" sz="1400" dirty="0">
              <a:solidFill>
                <a:srgbClr val="FF0000"/>
              </a:solidFill>
              <a:latin typeface="宋体" panose="02000500000000000000" pitchFamily="2" charset="-122"/>
              <a:cs typeface="宋体" panose="02000500000000000000" pitchFamily="2"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51" name="Line 52"/>
          <p:cNvSpPr/>
          <p:nvPr/>
        </p:nvSpPr>
        <p:spPr>
          <a:xfrm flipV="1">
            <a:off x="7390765" y="2116455"/>
            <a:ext cx="0" cy="335280"/>
          </a:xfrm>
          <a:prstGeom prst="line">
            <a:avLst/>
          </a:prstGeom>
          <a:ln w="9525" cap="flat" cmpd="sng">
            <a:solidFill>
              <a:schemeClr val="tx1"/>
            </a:solidFill>
            <a:prstDash val="solid"/>
            <a:round/>
            <a:headEnd type="none" w="med" len="med"/>
            <a:tailEnd type="triangle" w="med" len="med"/>
          </a:ln>
        </p:spPr>
      </p:sp>
      <p:sp>
        <p:nvSpPr>
          <p:cNvPr id="31752" name="Line 53"/>
          <p:cNvSpPr/>
          <p:nvPr/>
        </p:nvSpPr>
        <p:spPr>
          <a:xfrm flipV="1">
            <a:off x="8270875" y="2116455"/>
            <a:ext cx="0" cy="335280"/>
          </a:xfrm>
          <a:prstGeom prst="line">
            <a:avLst/>
          </a:prstGeom>
          <a:ln w="9525" cap="flat" cmpd="sng">
            <a:solidFill>
              <a:schemeClr val="tx1"/>
            </a:solidFill>
            <a:prstDash val="solid"/>
            <a:round/>
            <a:headEnd type="none" w="med" len="med"/>
            <a:tailEnd type="triangle" w="med" len="med"/>
          </a:ln>
        </p:spPr>
      </p:sp>
      <p:sp>
        <p:nvSpPr>
          <p:cNvPr id="31753" name="Line 54"/>
          <p:cNvSpPr/>
          <p:nvPr/>
        </p:nvSpPr>
        <p:spPr>
          <a:xfrm flipV="1">
            <a:off x="10353675" y="2103755"/>
            <a:ext cx="0" cy="335280"/>
          </a:xfrm>
          <a:prstGeom prst="line">
            <a:avLst/>
          </a:prstGeom>
          <a:ln w="9525" cap="flat" cmpd="sng">
            <a:solidFill>
              <a:schemeClr val="tx1"/>
            </a:solidFill>
            <a:prstDash val="solid"/>
            <a:round/>
            <a:headEnd type="none" w="med" len="med"/>
            <a:tailEnd type="triangle" w="med" len="med"/>
          </a:ln>
        </p:spPr>
      </p:sp>
      <p:sp>
        <p:nvSpPr>
          <p:cNvPr id="31754" name="Line 55"/>
          <p:cNvSpPr/>
          <p:nvPr/>
        </p:nvSpPr>
        <p:spPr>
          <a:xfrm flipV="1">
            <a:off x="11301730" y="2091055"/>
            <a:ext cx="0" cy="335280"/>
          </a:xfrm>
          <a:prstGeom prst="line">
            <a:avLst/>
          </a:prstGeom>
          <a:ln w="9525" cap="flat" cmpd="sng">
            <a:solidFill>
              <a:schemeClr val="tx1"/>
            </a:solidFill>
            <a:prstDash val="solid"/>
            <a:round/>
            <a:headEnd type="none" w="med" len="med"/>
            <a:tailEnd type="triangle" w="med" len="med"/>
          </a:ln>
        </p:spPr>
      </p:sp>
      <p:sp>
        <p:nvSpPr>
          <p:cNvPr id="31755" name="Line 56"/>
          <p:cNvSpPr/>
          <p:nvPr/>
        </p:nvSpPr>
        <p:spPr>
          <a:xfrm flipV="1">
            <a:off x="8137525" y="4694555"/>
            <a:ext cx="0" cy="617855"/>
          </a:xfrm>
          <a:prstGeom prst="line">
            <a:avLst/>
          </a:prstGeom>
          <a:ln w="19050" cap="flat" cmpd="sng">
            <a:solidFill>
              <a:schemeClr val="tx1"/>
            </a:solidFill>
            <a:prstDash val="solid"/>
            <a:round/>
            <a:headEnd type="none" w="med" len="med"/>
            <a:tailEnd type="triangle" w="med" len="med"/>
          </a:ln>
        </p:spPr>
      </p:sp>
      <p:sp>
        <p:nvSpPr>
          <p:cNvPr id="31756" name="Line 57"/>
          <p:cNvSpPr/>
          <p:nvPr/>
        </p:nvSpPr>
        <p:spPr>
          <a:xfrm flipV="1">
            <a:off x="7794625" y="3044825"/>
            <a:ext cx="0" cy="247650"/>
          </a:xfrm>
          <a:prstGeom prst="line">
            <a:avLst/>
          </a:prstGeom>
          <a:ln w="19050" cap="flat" cmpd="sng">
            <a:solidFill>
              <a:schemeClr val="tx1"/>
            </a:solidFill>
            <a:prstDash val="solid"/>
            <a:round/>
            <a:headEnd type="none" w="med" len="med"/>
            <a:tailEnd type="triangle" w="med" len="med"/>
          </a:ln>
        </p:spPr>
      </p:sp>
      <p:sp>
        <p:nvSpPr>
          <p:cNvPr id="31757" name="Line 58"/>
          <p:cNvSpPr/>
          <p:nvPr/>
        </p:nvSpPr>
        <p:spPr>
          <a:xfrm flipV="1">
            <a:off x="10788015" y="3037205"/>
            <a:ext cx="0" cy="260350"/>
          </a:xfrm>
          <a:prstGeom prst="line">
            <a:avLst/>
          </a:prstGeom>
          <a:ln w="19050" cap="flat" cmpd="sng">
            <a:solidFill>
              <a:schemeClr val="tx1"/>
            </a:solidFill>
            <a:prstDash val="solid"/>
            <a:round/>
            <a:headEnd type="none" w="med" len="med"/>
            <a:tailEnd type="triangle" w="med" len="med"/>
          </a:ln>
        </p:spPr>
      </p:sp>
      <p:sp>
        <p:nvSpPr>
          <p:cNvPr id="31758" name="Line 59"/>
          <p:cNvSpPr/>
          <p:nvPr/>
        </p:nvSpPr>
        <p:spPr>
          <a:xfrm flipV="1">
            <a:off x="10813415" y="1449705"/>
            <a:ext cx="0" cy="370205"/>
          </a:xfrm>
          <a:prstGeom prst="line">
            <a:avLst/>
          </a:prstGeom>
          <a:ln w="19050" cap="flat" cmpd="sng">
            <a:solidFill>
              <a:srgbClr val="FF0000"/>
            </a:solidFill>
            <a:prstDash val="solid"/>
            <a:round/>
            <a:headEnd type="none" w="med" len="med"/>
            <a:tailEnd type="triangle" w="med" len="med"/>
          </a:ln>
        </p:spPr>
      </p:sp>
      <p:sp>
        <p:nvSpPr>
          <p:cNvPr id="31759" name="Line 60"/>
          <p:cNvSpPr/>
          <p:nvPr/>
        </p:nvSpPr>
        <p:spPr>
          <a:xfrm flipV="1">
            <a:off x="7881620" y="1466850"/>
            <a:ext cx="0" cy="370205"/>
          </a:xfrm>
          <a:prstGeom prst="line">
            <a:avLst/>
          </a:prstGeom>
          <a:ln w="19050" cap="flat" cmpd="sng">
            <a:solidFill>
              <a:schemeClr val="tx1"/>
            </a:solidFill>
            <a:prstDash val="solid"/>
            <a:round/>
            <a:headEnd type="none" w="med" len="med"/>
            <a:tailEnd type="triangle" w="med" len="med"/>
          </a:ln>
        </p:spPr>
      </p:sp>
      <p:sp>
        <p:nvSpPr>
          <p:cNvPr id="31760" name="Line 61"/>
          <p:cNvSpPr/>
          <p:nvPr/>
        </p:nvSpPr>
        <p:spPr>
          <a:xfrm>
            <a:off x="5155565" y="1460500"/>
            <a:ext cx="7009765" cy="0"/>
          </a:xfrm>
          <a:prstGeom prst="line">
            <a:avLst/>
          </a:prstGeom>
          <a:ln w="19050" cap="flat" cmpd="sng">
            <a:solidFill>
              <a:srgbClr val="FF0000"/>
            </a:solidFill>
            <a:prstDash val="solid"/>
            <a:round/>
            <a:headEnd type="none" w="med" len="med"/>
            <a:tailEnd type="none" w="med" len="med"/>
          </a:ln>
        </p:spPr>
      </p:sp>
      <p:sp>
        <p:nvSpPr>
          <p:cNvPr id="31761" name="Line 62"/>
          <p:cNvSpPr/>
          <p:nvPr/>
        </p:nvSpPr>
        <p:spPr>
          <a:xfrm flipH="1" flipV="1">
            <a:off x="7160895" y="3035300"/>
            <a:ext cx="635" cy="389255"/>
          </a:xfrm>
          <a:prstGeom prst="line">
            <a:avLst/>
          </a:prstGeom>
          <a:ln w="19050" cap="flat" cmpd="sng">
            <a:solidFill>
              <a:srgbClr val="FF0000"/>
            </a:solidFill>
            <a:prstDash val="solid"/>
            <a:round/>
            <a:headEnd type="none" w="med" len="med"/>
            <a:tailEnd type="triangle" w="med" len="med"/>
          </a:ln>
        </p:spPr>
      </p:sp>
      <p:sp>
        <p:nvSpPr>
          <p:cNvPr id="31762" name="Line 63"/>
          <p:cNvSpPr/>
          <p:nvPr/>
        </p:nvSpPr>
        <p:spPr>
          <a:xfrm flipV="1">
            <a:off x="11272520" y="3027680"/>
            <a:ext cx="635" cy="410845"/>
          </a:xfrm>
          <a:prstGeom prst="line">
            <a:avLst/>
          </a:prstGeom>
          <a:ln w="19050" cap="flat" cmpd="sng">
            <a:solidFill>
              <a:srgbClr val="FF0000"/>
            </a:solidFill>
            <a:prstDash val="solid"/>
            <a:round/>
            <a:headEnd type="none" w="med" len="med"/>
            <a:tailEnd type="triangle" w="med" len="med"/>
          </a:ln>
        </p:spPr>
      </p:sp>
      <p:sp>
        <p:nvSpPr>
          <p:cNvPr id="31763" name="Line 64"/>
          <p:cNvSpPr/>
          <p:nvPr/>
        </p:nvSpPr>
        <p:spPr>
          <a:xfrm>
            <a:off x="12150725" y="1463040"/>
            <a:ext cx="635" cy="3496945"/>
          </a:xfrm>
          <a:prstGeom prst="line">
            <a:avLst/>
          </a:prstGeom>
          <a:ln w="19050" cap="flat" cmpd="sng">
            <a:solidFill>
              <a:srgbClr val="FF0000"/>
            </a:solidFill>
            <a:prstDash val="solid"/>
            <a:round/>
            <a:headEnd type="none" w="med" len="med"/>
            <a:tailEnd type="none" w="med" len="med"/>
          </a:ln>
        </p:spPr>
      </p:sp>
      <p:sp>
        <p:nvSpPr>
          <p:cNvPr id="31764" name="Line 65"/>
          <p:cNvSpPr/>
          <p:nvPr/>
        </p:nvSpPr>
        <p:spPr>
          <a:xfrm flipV="1">
            <a:off x="8114665" y="3270250"/>
            <a:ext cx="0" cy="581025"/>
          </a:xfrm>
          <a:prstGeom prst="line">
            <a:avLst/>
          </a:prstGeom>
          <a:ln w="19050" cap="flat" cmpd="sng">
            <a:solidFill>
              <a:schemeClr val="tx1"/>
            </a:solidFill>
            <a:prstDash val="solid"/>
            <a:round/>
            <a:headEnd type="none" w="med" len="med"/>
            <a:tailEnd type="triangle" w="med" len="med"/>
          </a:ln>
        </p:spPr>
      </p:sp>
      <p:sp>
        <p:nvSpPr>
          <p:cNvPr id="31765" name="Text Box 66"/>
          <p:cNvSpPr txBox="1"/>
          <p:nvPr/>
        </p:nvSpPr>
        <p:spPr>
          <a:xfrm>
            <a:off x="6283960" y="2246630"/>
            <a:ext cx="1039495" cy="18415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加法保留站</a:t>
            </a:r>
            <a:endParaRPr lang="zh-CN" altLang="en-US" sz="1200" b="1" dirty="0">
              <a:latin typeface="Times New Roman" pitchFamily="18" charset="0"/>
              <a:ea typeface="宋体" panose="02000500000000000000" pitchFamily="2" charset="-122"/>
            </a:endParaRPr>
          </a:p>
        </p:txBody>
      </p:sp>
      <p:sp>
        <p:nvSpPr>
          <p:cNvPr id="31766" name="Text Box 67"/>
          <p:cNvSpPr txBox="1"/>
          <p:nvPr/>
        </p:nvSpPr>
        <p:spPr>
          <a:xfrm>
            <a:off x="6925310" y="3675380"/>
            <a:ext cx="1090295" cy="184150"/>
          </a:xfrm>
          <a:prstGeom prst="rect">
            <a:avLst/>
          </a:prstGeom>
          <a:noFill/>
          <a:ln w="9525">
            <a:noFill/>
          </a:ln>
          <a:extLst>
            <a:ext uri="{909E8E84-426E-40DD-AFC4-6F175D3DCCD1}">
              <a14:hiddenFill xmlns:a14="http://schemas.microsoft.com/office/drawing/2010/main">
                <a:solidFill>
                  <a:schemeClr val="bg1"/>
                </a:solidFill>
              </a14:hiddenFill>
            </a:ext>
          </a:extLst>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浮点寄存器</a:t>
            </a:r>
            <a:endParaRPr lang="zh-CN" altLang="en-US" sz="1200" b="1" dirty="0">
              <a:latin typeface="Times New Roman" pitchFamily="18" charset="0"/>
              <a:ea typeface="宋体" panose="02000500000000000000" pitchFamily="2" charset="-122"/>
            </a:endParaRPr>
          </a:p>
        </p:txBody>
      </p:sp>
      <p:sp>
        <p:nvSpPr>
          <p:cNvPr id="31767" name="Text Box 68"/>
          <p:cNvSpPr txBox="1"/>
          <p:nvPr/>
        </p:nvSpPr>
        <p:spPr>
          <a:xfrm>
            <a:off x="9289415" y="2235200"/>
            <a:ext cx="1039495" cy="18415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乘法保留站</a:t>
            </a:r>
            <a:endParaRPr lang="zh-CN" altLang="en-US" sz="1200" b="1" dirty="0">
              <a:latin typeface="Times New Roman" pitchFamily="18" charset="0"/>
              <a:ea typeface="宋体" panose="02000500000000000000" pitchFamily="2" charset="-122"/>
            </a:endParaRPr>
          </a:p>
        </p:txBody>
      </p:sp>
      <p:sp>
        <p:nvSpPr>
          <p:cNvPr id="31768" name="Line 69"/>
          <p:cNvSpPr/>
          <p:nvPr/>
        </p:nvSpPr>
        <p:spPr>
          <a:xfrm>
            <a:off x="10807065" y="4959985"/>
            <a:ext cx="1358265" cy="635"/>
          </a:xfrm>
          <a:prstGeom prst="line">
            <a:avLst/>
          </a:prstGeom>
          <a:ln w="19050" cap="flat" cmpd="sng">
            <a:solidFill>
              <a:srgbClr val="FF0000"/>
            </a:solidFill>
            <a:prstDash val="solid"/>
            <a:round/>
            <a:headEnd type="none" w="med" len="med"/>
            <a:tailEnd type="none" w="med" len="med"/>
          </a:ln>
        </p:spPr>
      </p:sp>
      <p:sp>
        <p:nvSpPr>
          <p:cNvPr id="31769" name="Line 70"/>
          <p:cNvSpPr/>
          <p:nvPr/>
        </p:nvSpPr>
        <p:spPr>
          <a:xfrm flipV="1">
            <a:off x="10812145" y="4701540"/>
            <a:ext cx="1905" cy="260350"/>
          </a:xfrm>
          <a:prstGeom prst="line">
            <a:avLst/>
          </a:prstGeom>
          <a:ln w="19050" cap="flat" cmpd="sng">
            <a:solidFill>
              <a:srgbClr val="FF0000"/>
            </a:solidFill>
            <a:prstDash val="solid"/>
            <a:round/>
            <a:headEnd type="none" w="med" len="med"/>
            <a:tailEnd type="triangle" w="med" len="med"/>
          </a:ln>
        </p:spPr>
      </p:sp>
      <p:grpSp>
        <p:nvGrpSpPr>
          <p:cNvPr id="31772" name="Group 73"/>
          <p:cNvGrpSpPr/>
          <p:nvPr/>
        </p:nvGrpSpPr>
        <p:grpSpPr>
          <a:xfrm rot="0">
            <a:off x="4488815" y="1461135"/>
            <a:ext cx="7679055" cy="1970389"/>
            <a:chOff x="1701" y="512"/>
            <a:chExt cx="3628" cy="1241"/>
          </a:xfrm>
        </p:grpSpPr>
        <p:sp>
          <p:nvSpPr>
            <p:cNvPr id="31773" name="Line 74"/>
            <p:cNvSpPr/>
            <p:nvPr/>
          </p:nvSpPr>
          <p:spPr>
            <a:xfrm flipV="1">
              <a:off x="2154" y="1661"/>
              <a:ext cx="2518" cy="0"/>
            </a:xfrm>
            <a:prstGeom prst="line">
              <a:avLst/>
            </a:prstGeom>
            <a:ln w="19050" cap="flat" cmpd="sng">
              <a:solidFill>
                <a:schemeClr val="tx1"/>
              </a:solidFill>
              <a:prstDash val="solid"/>
              <a:round/>
              <a:headEnd type="none" w="med" len="med"/>
              <a:tailEnd type="none" w="med" len="med"/>
            </a:ln>
          </p:spPr>
        </p:sp>
        <p:sp>
          <p:nvSpPr>
            <p:cNvPr id="31774" name="Line 75"/>
            <p:cNvSpPr/>
            <p:nvPr/>
          </p:nvSpPr>
          <p:spPr>
            <a:xfrm flipV="1">
              <a:off x="2010" y="1753"/>
              <a:ext cx="3319" cy="0"/>
            </a:xfrm>
            <a:prstGeom prst="line">
              <a:avLst/>
            </a:prstGeom>
            <a:ln w="19050" cap="flat" cmpd="sng">
              <a:solidFill>
                <a:srgbClr val="FF0000"/>
              </a:solidFill>
              <a:prstDash val="solid"/>
              <a:round/>
              <a:headEnd type="none" w="med" len="med"/>
              <a:tailEnd type="none" w="med" len="med"/>
            </a:ln>
          </p:spPr>
        </p:sp>
        <p:grpSp>
          <p:nvGrpSpPr>
            <p:cNvPr id="31775" name="Group 76"/>
            <p:cNvGrpSpPr/>
            <p:nvPr/>
          </p:nvGrpSpPr>
          <p:grpSpPr>
            <a:xfrm>
              <a:off x="1701" y="512"/>
              <a:ext cx="3494" cy="1239"/>
              <a:chOff x="1701" y="512"/>
              <a:chExt cx="3494" cy="1239"/>
            </a:xfrm>
          </p:grpSpPr>
          <p:grpSp>
            <p:nvGrpSpPr>
              <p:cNvPr id="31776" name="Group 77"/>
              <p:cNvGrpSpPr/>
              <p:nvPr/>
            </p:nvGrpSpPr>
            <p:grpSpPr>
              <a:xfrm>
                <a:off x="2019" y="512"/>
                <a:ext cx="135" cy="1239"/>
                <a:chOff x="2019" y="512"/>
                <a:chExt cx="135" cy="1239"/>
              </a:xfrm>
            </p:grpSpPr>
            <p:sp>
              <p:nvSpPr>
                <p:cNvPr id="31777" name="Line 78"/>
                <p:cNvSpPr/>
                <p:nvPr/>
              </p:nvSpPr>
              <p:spPr>
                <a:xfrm flipV="1">
                  <a:off x="2022" y="512"/>
                  <a:ext cx="0" cy="233"/>
                </a:xfrm>
                <a:prstGeom prst="line">
                  <a:avLst/>
                </a:prstGeom>
                <a:ln w="19050" cap="flat" cmpd="sng">
                  <a:solidFill>
                    <a:schemeClr val="tx1"/>
                  </a:solidFill>
                  <a:prstDash val="solid"/>
                  <a:round/>
                  <a:headEnd type="none" w="med" len="med"/>
                  <a:tailEnd type="triangle" w="med" len="med"/>
                </a:ln>
              </p:spPr>
            </p:sp>
            <p:sp>
              <p:nvSpPr>
                <p:cNvPr id="31778" name="Line 79"/>
                <p:cNvSpPr/>
                <p:nvPr/>
              </p:nvSpPr>
              <p:spPr>
                <a:xfrm flipH="1" flipV="1">
                  <a:off x="2019" y="1502"/>
                  <a:ext cx="3" cy="249"/>
                </a:xfrm>
                <a:prstGeom prst="line">
                  <a:avLst/>
                </a:prstGeom>
                <a:ln w="19050" cap="flat" cmpd="sng">
                  <a:solidFill>
                    <a:srgbClr val="FF0000"/>
                  </a:solidFill>
                  <a:prstDash val="solid"/>
                  <a:round/>
                  <a:headEnd type="none" w="med" len="med"/>
                  <a:tailEnd type="triangle" w="med" len="med"/>
                </a:ln>
              </p:spPr>
            </p:sp>
            <p:sp>
              <p:nvSpPr>
                <p:cNvPr id="31779" name="Line 80"/>
                <p:cNvSpPr/>
                <p:nvPr/>
              </p:nvSpPr>
              <p:spPr>
                <a:xfrm flipV="1">
                  <a:off x="2154" y="1508"/>
                  <a:ext cx="0" cy="156"/>
                </a:xfrm>
                <a:prstGeom prst="line">
                  <a:avLst/>
                </a:prstGeom>
                <a:ln w="19050" cap="flat" cmpd="sng">
                  <a:solidFill>
                    <a:schemeClr val="tx1"/>
                  </a:solidFill>
                  <a:prstDash val="solid"/>
                  <a:round/>
                  <a:headEnd type="none" w="med" len="med"/>
                  <a:tailEnd type="triangle" w="med" len="med"/>
                </a:ln>
              </p:spPr>
            </p:sp>
          </p:grpSp>
          <p:sp>
            <p:nvSpPr>
              <p:cNvPr id="31780" name="Text Box 81"/>
              <p:cNvSpPr txBox="1"/>
              <p:nvPr/>
            </p:nvSpPr>
            <p:spPr>
              <a:xfrm>
                <a:off x="2777" y="750"/>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浮点加</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减法器</a:t>
                </a:r>
                <a:endParaRPr lang="zh-CN" altLang="en-US" sz="1200" b="1" dirty="0">
                  <a:latin typeface="Times New Roman" pitchFamily="18" charset="0"/>
                  <a:ea typeface="宋体" panose="02000500000000000000" pitchFamily="2" charset="-122"/>
                </a:endParaRPr>
              </a:p>
            </p:txBody>
          </p:sp>
          <p:sp>
            <p:nvSpPr>
              <p:cNvPr id="31781" name="Text Box 82"/>
              <p:cNvSpPr txBox="1"/>
              <p:nvPr/>
            </p:nvSpPr>
            <p:spPr>
              <a:xfrm>
                <a:off x="4181" y="737"/>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浮点乘</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除法器</a:t>
                </a:r>
                <a:endParaRPr lang="zh-CN" altLang="en-US" sz="1200" b="1" dirty="0">
                  <a:latin typeface="Times New Roman" pitchFamily="18" charset="0"/>
                  <a:ea typeface="宋体" panose="02000500000000000000" pitchFamily="2" charset="-122"/>
                </a:endParaRPr>
              </a:p>
            </p:txBody>
          </p:sp>
          <p:sp>
            <p:nvSpPr>
              <p:cNvPr id="31782" name="Text Box 83"/>
              <p:cNvSpPr txBox="1"/>
              <p:nvPr/>
            </p:nvSpPr>
            <p:spPr>
              <a:xfrm>
                <a:off x="1701" y="731"/>
                <a:ext cx="664" cy="771"/>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p>
                <a:pPr algn="ctr">
                  <a:spcBef>
                    <a:spcPct val="50000"/>
                  </a:spcBef>
                </a:pPr>
                <a:endParaRPr lang="en-US" altLang="zh-CN" sz="1200"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定点</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访存</a:t>
                </a:r>
                <a:endParaRPr lang="zh-CN" altLang="en-US" sz="1200" b="1"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部件</a:t>
                </a:r>
                <a:endParaRPr lang="zh-CN" altLang="en-US" sz="1200" b="1" dirty="0">
                  <a:latin typeface="Times New Roman" pitchFamily="18" charset="0"/>
                  <a:ea typeface="宋体" panose="02000500000000000000" pitchFamily="2" charset="-122"/>
                </a:endParaRPr>
              </a:p>
              <a:p>
                <a:pPr algn="ctr">
                  <a:spcBef>
                    <a:spcPct val="50000"/>
                  </a:spcBef>
                </a:pPr>
                <a:endParaRPr lang="en-US" altLang="zh-CN" sz="1200" b="1" dirty="0">
                  <a:latin typeface="Times New Roman" pitchFamily="18" charset="0"/>
                  <a:ea typeface="宋体" panose="02000500000000000000" pitchFamily="2" charset="-122"/>
                </a:endParaRPr>
              </a:p>
            </p:txBody>
          </p:sp>
        </p:grpSp>
      </p:grpSp>
      <p:sp>
        <p:nvSpPr>
          <p:cNvPr id="31783" name="Text Box 84"/>
          <p:cNvSpPr txBox="1"/>
          <p:nvPr/>
        </p:nvSpPr>
        <p:spPr>
          <a:xfrm>
            <a:off x="6979920" y="5045075"/>
            <a:ext cx="1030605" cy="184150"/>
          </a:xfrm>
          <a:prstGeom prst="rect">
            <a:avLst/>
          </a:prstGeom>
          <a:solidFill>
            <a:schemeClr val="bg1"/>
          </a:solid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指令队列</a:t>
            </a:r>
            <a:endParaRPr lang="zh-CN" altLang="en-US" sz="1200" b="1" dirty="0">
              <a:latin typeface="Times New Roman" pitchFamily="18" charset="0"/>
              <a:ea typeface="宋体" panose="02000500000000000000" pitchFamily="2" charset="-122"/>
            </a:endParaRPr>
          </a:p>
        </p:txBody>
      </p:sp>
      <p:graphicFrame>
        <p:nvGraphicFramePr>
          <p:cNvPr id="3" name="表格 2"/>
          <p:cNvGraphicFramePr/>
          <p:nvPr/>
        </p:nvGraphicFramePr>
        <p:xfrm>
          <a:off x="6799580" y="3837940"/>
          <a:ext cx="2342515" cy="863600"/>
        </p:xfrm>
        <a:graphic>
          <a:graphicData uri="http://schemas.openxmlformats.org/drawingml/2006/table">
            <a:tbl>
              <a:tblPr firstRow="1" bandRow="1">
                <a:tableStyleId>{5C22544A-7EE6-4342-B048-85BDC9FD1C3A}</a:tableStyleId>
              </a:tblPr>
              <a:tblGrid>
                <a:gridCol w="365125"/>
                <a:gridCol w="450850"/>
                <a:gridCol w="1526540"/>
              </a:tblGrid>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0.5</a:t>
                      </a:r>
                      <a:endParaRPr lang="en-US" altLang="zh-CN" sz="1200" b="1">
                        <a:solidFill>
                          <a:srgbClr val="FF0000"/>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4</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3.0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4" name="表格 3"/>
          <p:cNvGraphicFramePr/>
          <p:nvPr/>
        </p:nvGraphicFramePr>
        <p:xfrm>
          <a:off x="7167880" y="5311775"/>
          <a:ext cx="1930400" cy="1280160"/>
        </p:xfrm>
        <a:graphic>
          <a:graphicData uri="http://schemas.openxmlformats.org/drawingml/2006/table">
            <a:tbl>
              <a:tblPr firstRow="1" bandRow="1">
                <a:tableStyleId>{5C22544A-7EE6-4342-B048-85BDC9FD1C3A}</a:tableStyleId>
              </a:tblPr>
              <a:tblGrid>
                <a:gridCol w="1930400"/>
              </a:tblGrid>
              <a:tr h="213360">
                <a:tc>
                  <a:txBody>
                    <a:bodyPr/>
                    <a:p>
                      <a:pPr indent="0">
                        <a:buNone/>
                      </a:pPr>
                      <a:r>
                        <a:rPr lang="en-US" sz="1200" b="1">
                          <a:solidFill>
                            <a:schemeClr val="tx1"/>
                          </a:solidFill>
                          <a:latin typeface="宋体" panose="02000500000000000000" pitchFamily="2" charset="-122"/>
                          <a:ea typeface="宋体" panose="02000500000000000000" pitchFamily="2" charset="-122"/>
                        </a:rPr>
                        <a:t>FDIV.D  </a:t>
                      </a:r>
                      <a:r>
                        <a:rPr lang="en-US" sz="1200" b="1">
                          <a:solidFill>
                            <a:srgbClr val="FF0000"/>
                          </a:solidFill>
                          <a:latin typeface="宋体" panose="02000500000000000000" pitchFamily="2" charset="-122"/>
                          <a:ea typeface="宋体" panose="02000500000000000000" pitchFamily="2" charset="-122"/>
                        </a:rPr>
                        <a:t>F0</a:t>
                      </a:r>
                      <a:r>
                        <a:rPr lang="en-US" sz="1200" b="1">
                          <a:solidFill>
                            <a:schemeClr val="tx1"/>
                          </a:solidFill>
                          <a:latin typeface="宋体" panose="02000500000000000000" pitchFamily="2" charset="-122"/>
                          <a:ea typeface="宋体" panose="02000500000000000000" pitchFamily="2" charset="-122"/>
                        </a:rPr>
                        <a:t>, F1, F2</a:t>
                      </a:r>
                      <a:endParaRPr lang="en-US" altLang="en-US" sz="1200" b="1">
                        <a:solidFill>
                          <a:schemeClr val="tx1"/>
                        </a:solidFill>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FADD.D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F1,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5" name="表格 4"/>
          <p:cNvGraphicFramePr/>
          <p:nvPr/>
        </p:nvGraphicFramePr>
        <p:xfrm>
          <a:off x="9544050" y="243586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fmul</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0.5</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2.0</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7" name="表格 6"/>
          <p:cNvGraphicFramePr/>
          <p:nvPr/>
        </p:nvGraphicFramePr>
        <p:xfrm>
          <a:off x="6577330" y="245618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9" name="表格 8"/>
          <p:cNvGraphicFramePr/>
          <p:nvPr/>
        </p:nvGraphicFramePr>
        <p:xfrm>
          <a:off x="9486900" y="3822700"/>
          <a:ext cx="2342515" cy="863600"/>
        </p:xfrm>
        <a:graphic>
          <a:graphicData uri="http://schemas.openxmlformats.org/drawingml/2006/table">
            <a:tbl>
              <a:tblPr firstRow="1" bandRow="1">
                <a:tableStyleId>{5C22544A-7EE6-4342-B048-85BDC9FD1C3A}</a:tableStyleId>
              </a:tblPr>
              <a:tblGrid>
                <a:gridCol w="221065"/>
                <a:gridCol w="382270"/>
                <a:gridCol w="387901"/>
                <a:gridCol w="1351279"/>
              </a:tblGrid>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4</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fmul</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f3</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6.0</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fadd</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f0</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3.0</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fmul</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f3</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sp>
        <p:nvSpPr>
          <p:cNvPr id="47115" name="Line 15"/>
          <p:cNvSpPr/>
          <p:nvPr/>
        </p:nvSpPr>
        <p:spPr>
          <a:xfrm flipH="1" flipV="1">
            <a:off x="11068050" y="3610610"/>
            <a:ext cx="9525" cy="215900"/>
          </a:xfrm>
          <a:prstGeom prst="line">
            <a:avLst/>
          </a:prstGeom>
          <a:ln w="19050" cap="flat" cmpd="sng">
            <a:solidFill>
              <a:schemeClr val="accent2"/>
            </a:solidFill>
            <a:prstDash val="solid"/>
            <a:round/>
            <a:headEnd type="none" w="med" len="med"/>
            <a:tailEnd type="none" w="med" len="med"/>
          </a:ln>
        </p:spPr>
      </p:sp>
      <p:sp>
        <p:nvSpPr>
          <p:cNvPr id="47131" name="Line 36"/>
          <p:cNvSpPr/>
          <p:nvPr/>
        </p:nvSpPr>
        <p:spPr>
          <a:xfrm flipV="1">
            <a:off x="4904105" y="4940935"/>
            <a:ext cx="2991485" cy="13970"/>
          </a:xfrm>
          <a:prstGeom prst="line">
            <a:avLst/>
          </a:prstGeom>
          <a:ln w="19050" cap="flat" cmpd="sng">
            <a:solidFill>
              <a:schemeClr val="accent2"/>
            </a:solidFill>
            <a:prstDash val="solid"/>
            <a:round/>
            <a:headEnd type="none" w="med" len="med"/>
            <a:tailEnd type="none" w="med" len="med"/>
          </a:ln>
        </p:spPr>
      </p:sp>
      <p:sp>
        <p:nvSpPr>
          <p:cNvPr id="47133" name="Text Box 43"/>
          <p:cNvSpPr txBox="1"/>
          <p:nvPr/>
        </p:nvSpPr>
        <p:spPr>
          <a:xfrm>
            <a:off x="5375910" y="4712335"/>
            <a:ext cx="1089025" cy="184150"/>
          </a:xfrm>
          <a:prstGeom prst="rect">
            <a:avLst/>
          </a:prstGeom>
          <a:noFill/>
          <a:ln w="9525">
            <a:noFill/>
          </a:ln>
          <a:extLst>
            <a:ext uri="{909E8E84-426E-40DD-AFC4-6F175D3DCCD1}">
              <a14:hiddenFill xmlns:a14="http://schemas.microsoft.com/office/drawing/2010/main">
                <a:solidFill>
                  <a:schemeClr val="bg1"/>
                </a:solidFill>
              </a14:hiddenFill>
            </a:ext>
          </a:extLst>
        </p:spPr>
        <p:txBody>
          <a:bodyPr lIns="0" tIns="0" rIns="0" bIns="0" anchor="t" anchorCtr="0">
            <a:spAutoFit/>
          </a:bodyPr>
          <a:p>
            <a:pPr>
              <a:spcBef>
                <a:spcPct val="50000"/>
              </a:spcBef>
            </a:pPr>
            <a:r>
              <a:rPr lang="zh-CN" altLang="en-US" sz="1200" b="1" dirty="0">
                <a:solidFill>
                  <a:schemeClr val="accent2"/>
                </a:solidFill>
                <a:latin typeface="Times New Roman" pitchFamily="18" charset="0"/>
                <a:ea typeface="宋体" panose="02000500000000000000" pitchFamily="2" charset="-122"/>
              </a:rPr>
              <a:t>修改寄存器</a:t>
            </a:r>
            <a:endParaRPr lang="zh-CN" altLang="en-US" sz="1200" b="1" dirty="0">
              <a:solidFill>
                <a:schemeClr val="accent2"/>
              </a:solidFill>
              <a:latin typeface="Times New Roman" pitchFamily="18" charset="0"/>
              <a:ea typeface="宋体" panose="02000500000000000000" pitchFamily="2" charset="-122"/>
            </a:endParaRPr>
          </a:p>
        </p:txBody>
      </p:sp>
      <p:sp>
        <p:nvSpPr>
          <p:cNvPr id="47143" name="Line 37"/>
          <p:cNvSpPr/>
          <p:nvPr/>
        </p:nvSpPr>
        <p:spPr>
          <a:xfrm flipH="1" flipV="1">
            <a:off x="7879715" y="4688205"/>
            <a:ext cx="8255" cy="252095"/>
          </a:xfrm>
          <a:prstGeom prst="line">
            <a:avLst/>
          </a:prstGeom>
          <a:ln w="19050" cap="flat" cmpd="sng">
            <a:solidFill>
              <a:schemeClr val="accent2"/>
            </a:solidFill>
            <a:prstDash val="solid"/>
            <a:round/>
            <a:headEnd type="none" w="med" len="med"/>
            <a:tailEnd type="triangle" w="med" len="med"/>
          </a:ln>
        </p:spPr>
      </p:sp>
      <p:sp>
        <p:nvSpPr>
          <p:cNvPr id="47144" name="Line 38"/>
          <p:cNvSpPr/>
          <p:nvPr/>
        </p:nvSpPr>
        <p:spPr>
          <a:xfrm>
            <a:off x="4868545" y="3616325"/>
            <a:ext cx="6222365" cy="13970"/>
          </a:xfrm>
          <a:prstGeom prst="line">
            <a:avLst/>
          </a:prstGeom>
          <a:ln w="19050" cap="flat" cmpd="sng">
            <a:solidFill>
              <a:schemeClr val="accent2"/>
            </a:solidFill>
            <a:prstDash val="solid"/>
            <a:round/>
            <a:headEnd type="none" w="med" len="med"/>
            <a:tailEnd type="none" w="med" len="med"/>
          </a:ln>
        </p:spPr>
      </p:sp>
      <p:sp>
        <p:nvSpPr>
          <p:cNvPr id="47146" name="Line 41"/>
          <p:cNvSpPr/>
          <p:nvPr/>
        </p:nvSpPr>
        <p:spPr>
          <a:xfrm flipH="1" flipV="1">
            <a:off x="4877435" y="3028315"/>
            <a:ext cx="14605" cy="1934210"/>
          </a:xfrm>
          <a:prstGeom prst="line">
            <a:avLst/>
          </a:prstGeom>
          <a:ln w="19050" cap="flat" cmpd="sng">
            <a:solidFill>
              <a:schemeClr val="accent2"/>
            </a:solidFill>
            <a:prstDash val="solid"/>
            <a:round/>
            <a:headEnd type="none" w="med" len="med"/>
            <a:tailEnd type="triangle" w="med" len="med"/>
          </a:ln>
        </p:spPr>
      </p:sp>
      <p:sp>
        <p:nvSpPr>
          <p:cNvPr id="46082" name="Rectangle 3"/>
          <p:cNvSpPr/>
          <p:nvPr/>
        </p:nvSpPr>
        <p:spPr>
          <a:xfrm>
            <a:off x="912813" y="420688"/>
            <a:ext cx="10361612" cy="523875"/>
          </a:xfrm>
          <a:prstGeom prst="rect">
            <a:avLst/>
          </a:prstGeom>
          <a:noFill/>
          <a:ln w="9525">
            <a:noFill/>
          </a:ln>
        </p:spPr>
        <p:txBody>
          <a:bodyPr anchor="ctr" anchorCtr="0"/>
          <a:p>
            <a:pPr algn="ctr"/>
            <a:r>
              <a:rPr lang="zh-CN" sz="3200" dirty="0">
                <a:solidFill>
                  <a:srgbClr val="FF0000"/>
                </a:solidFill>
                <a:latin typeface="Arial" panose="02080604020202020204" pitchFamily="34" charset="0"/>
                <a:ea typeface="黑体" panose="02000500000000000000" pitchFamily="49" charset="-122"/>
              </a:rPr>
              <a:t>例子</a:t>
            </a:r>
            <a:endParaRPr lang="zh-CN" sz="3200" dirty="0">
              <a:solidFill>
                <a:srgbClr val="FF0000"/>
              </a:solidFill>
              <a:latin typeface="Arial" panose="02080604020202020204" pitchFamily="34" charset="0"/>
              <a:ea typeface="黑体" panose="02000500000000000000" pitchFamily="49" charset="-122"/>
            </a:endParaRPr>
          </a:p>
        </p:txBody>
      </p:sp>
      <p:sp>
        <p:nvSpPr>
          <p:cNvPr id="50195" name="Text Box 44"/>
          <p:cNvSpPr txBox="1"/>
          <p:nvPr/>
        </p:nvSpPr>
        <p:spPr>
          <a:xfrm>
            <a:off x="8543925" y="1234440"/>
            <a:ext cx="1527175" cy="184150"/>
          </a:xfrm>
          <a:prstGeom prst="rect">
            <a:avLst/>
          </a:prstGeom>
          <a:solidFill>
            <a:schemeClr val="bg1"/>
          </a:solidFill>
          <a:ln w="9525">
            <a:noFill/>
          </a:ln>
        </p:spPr>
        <p:txBody>
          <a:bodyPr wrap="square" lIns="0" tIns="0" rIns="0" bIns="0" anchor="t" anchorCtr="0">
            <a:spAutoFit/>
          </a:bodyPr>
          <a:p>
            <a:pPr>
              <a:spcBef>
                <a:spcPct val="50000"/>
              </a:spcBef>
            </a:pPr>
            <a:r>
              <a:rPr lang="zh-CN" altLang="en-US" sz="1200" b="1" dirty="0">
                <a:solidFill>
                  <a:srgbClr val="FF0000"/>
                </a:solidFill>
                <a:latin typeface="宋体" panose="02000500000000000000" pitchFamily="2" charset="-122"/>
                <a:cs typeface="宋体" panose="02000500000000000000" pitchFamily="2" charset="-122"/>
              </a:rPr>
              <a:t>结果总线（</a:t>
            </a:r>
            <a:r>
              <a:rPr lang="en-US" altLang="zh-CN" sz="1200" b="1" dirty="0">
                <a:solidFill>
                  <a:srgbClr val="FF0000"/>
                </a:solidFill>
                <a:latin typeface="宋体" panose="02000500000000000000" pitchFamily="2" charset="-122"/>
                <a:cs typeface="宋体" panose="02000500000000000000" pitchFamily="2" charset="-122"/>
              </a:rPr>
              <a:t>4</a:t>
            </a:r>
            <a:r>
              <a:rPr lang="zh-CN" altLang="en-US" sz="1200" b="1" dirty="0">
                <a:solidFill>
                  <a:srgbClr val="FF0000"/>
                </a:solidFill>
                <a:latin typeface="宋体" panose="02000500000000000000" pitchFamily="2" charset="-122"/>
                <a:cs typeface="宋体" panose="02000500000000000000" pitchFamily="2" charset="-122"/>
              </a:rPr>
              <a:t>，</a:t>
            </a:r>
            <a:r>
              <a:rPr lang="en-US" altLang="zh-CN" sz="1200" b="1" dirty="0">
                <a:solidFill>
                  <a:srgbClr val="FF0000"/>
                </a:solidFill>
                <a:latin typeface="宋体" panose="02000500000000000000" pitchFamily="2" charset="-122"/>
                <a:cs typeface="宋体" panose="02000500000000000000" pitchFamily="2" charset="-122"/>
              </a:rPr>
              <a:t>6.0</a:t>
            </a:r>
            <a:r>
              <a:rPr lang="zh-CN" altLang="en-US" sz="1200" b="1" dirty="0">
                <a:solidFill>
                  <a:srgbClr val="FF0000"/>
                </a:solidFill>
                <a:latin typeface="宋体" panose="02000500000000000000" pitchFamily="2" charset="-122"/>
                <a:cs typeface="宋体" panose="02000500000000000000" pitchFamily="2" charset="-122"/>
              </a:rPr>
              <a:t>）</a:t>
            </a:r>
            <a:endParaRPr lang="en-US" altLang="zh-CN" sz="1200" b="1" dirty="0">
              <a:solidFill>
                <a:srgbClr val="FF0000"/>
              </a:solidFill>
              <a:latin typeface="宋体" panose="02000500000000000000" pitchFamily="2" charset="-122"/>
              <a:cs typeface="宋体" panose="02000500000000000000" pitchFamily="2" charset="-122"/>
            </a:endParaRPr>
          </a:p>
        </p:txBody>
      </p:sp>
      <p:sp>
        <p:nvSpPr>
          <p:cNvPr id="56322" name="Text Box 3"/>
          <p:cNvSpPr txBox="1"/>
          <p:nvPr/>
        </p:nvSpPr>
        <p:spPr>
          <a:xfrm>
            <a:off x="187325" y="2743200"/>
            <a:ext cx="4187825" cy="2353310"/>
          </a:xfrm>
          <a:prstGeom prst="rect">
            <a:avLst/>
          </a:prstGeom>
          <a:noFill/>
          <a:ln w="9525">
            <a:noFill/>
          </a:ln>
        </p:spPr>
        <p:txBody>
          <a:bodyPr anchor="t" anchorCtr="0">
            <a:spAutoFit/>
          </a:bodyPr>
          <a:p>
            <a:pPr>
              <a:lnSpc>
                <a:spcPct val="150000"/>
              </a:lnSpc>
              <a:buChar char="•"/>
            </a:pPr>
            <a:r>
              <a:rPr lang="en-US" altLang="zh-CN" sz="1400" dirty="0">
                <a:solidFill>
                  <a:srgbClr val="000000"/>
                </a:solidFill>
                <a:latin typeface="宋体" panose="02000500000000000000" pitchFamily="2" charset="-122"/>
                <a:cs typeface="宋体" panose="02000500000000000000" pitchFamily="2" charset="-122"/>
              </a:rPr>
              <a:t>DIV</a:t>
            </a:r>
            <a:r>
              <a:rPr lang="zh-CN" altLang="zh-CN" sz="1400" dirty="0">
                <a:solidFill>
                  <a:srgbClr val="000000"/>
                </a:solidFill>
                <a:latin typeface="宋体" panose="02000500000000000000" pitchFamily="2" charset="-122"/>
                <a:cs typeface="宋体" panose="02000500000000000000" pitchFamily="2" charset="-122"/>
              </a:rPr>
              <a:t>发射，</a:t>
            </a:r>
            <a:r>
              <a:rPr lang="en-US" altLang="zh-CN" sz="1400" dirty="0">
                <a:solidFill>
                  <a:srgbClr val="000000"/>
                </a:solidFill>
                <a:latin typeface="宋体" panose="02000500000000000000" pitchFamily="2" charset="-122"/>
                <a:cs typeface="宋体" panose="02000500000000000000" pitchFamily="2" charset="-122"/>
              </a:rPr>
              <a:t>F1, F2</a:t>
            </a:r>
            <a:r>
              <a:rPr lang="zh-CN" altLang="zh-CN" sz="1400" dirty="0">
                <a:solidFill>
                  <a:srgbClr val="000000"/>
                </a:solidFill>
                <a:latin typeface="宋体" panose="02000500000000000000" pitchFamily="2" charset="-122"/>
                <a:cs typeface="宋体" panose="02000500000000000000" pitchFamily="2" charset="-122"/>
              </a:rPr>
              <a:t>都准备好</a:t>
            </a:r>
            <a:endParaRPr lang="zh-CN" altLang="zh-CN" sz="1400" dirty="0">
              <a:solidFill>
                <a:srgbClr val="000000"/>
              </a:solidFill>
              <a:latin typeface="宋体" panose="02000500000000000000" pitchFamily="2" charset="-122"/>
              <a:cs typeface="宋体" panose="02000500000000000000" pitchFamily="2" charset="-122"/>
            </a:endParaRPr>
          </a:p>
          <a:p>
            <a:pPr>
              <a:lnSpc>
                <a:spcPct val="150000"/>
              </a:lnSpc>
              <a:buChar char="•"/>
            </a:pPr>
            <a:r>
              <a:rPr lang="en-US" altLang="zh-CN" sz="1400" dirty="0">
                <a:latin typeface="宋体" panose="02000500000000000000" pitchFamily="2" charset="-122"/>
                <a:cs typeface="宋体" panose="02000500000000000000" pitchFamily="2" charset="-122"/>
              </a:rPr>
              <a:t>MUL1</a:t>
            </a:r>
            <a:r>
              <a:rPr lang="zh-CN" altLang="zh-CN" sz="1400" dirty="0">
                <a:latin typeface="宋体" panose="02000500000000000000" pitchFamily="2" charset="-122"/>
                <a:cs typeface="宋体" panose="02000500000000000000" pitchFamily="2" charset="-122"/>
              </a:rPr>
              <a:t>发射，</a:t>
            </a:r>
            <a:r>
              <a:rPr lang="en-US" altLang="zh-CN" sz="1400" dirty="0">
                <a:latin typeface="宋体" panose="02000500000000000000" pitchFamily="2" charset="-122"/>
                <a:cs typeface="宋体" panose="02000500000000000000" pitchFamily="2" charset="-122"/>
              </a:rPr>
              <a:t>F0</a:t>
            </a:r>
            <a:r>
              <a:rPr lang="zh-CN" altLang="zh-CN" sz="1400" dirty="0">
                <a:latin typeface="宋体" panose="02000500000000000000" pitchFamily="2" charset="-122"/>
                <a:cs typeface="宋体" panose="02000500000000000000" pitchFamily="2" charset="-122"/>
              </a:rPr>
              <a:t>等待1号</a:t>
            </a:r>
            <a:r>
              <a:rPr lang="en-US" altLang="zh-CN" sz="1400" dirty="0">
                <a:latin typeface="宋体" panose="02000500000000000000" pitchFamily="2" charset="-122"/>
                <a:cs typeface="宋体" panose="02000500000000000000" pitchFamily="2" charset="-122"/>
              </a:rPr>
              <a:t>RB</a:t>
            </a:r>
            <a:r>
              <a:rPr lang="zh-CN" altLang="zh-CN" sz="1400" dirty="0">
                <a:latin typeface="宋体" panose="02000500000000000000" pitchFamily="2" charset="-122"/>
                <a:cs typeface="宋体" panose="02000500000000000000" pitchFamily="2" charset="-122"/>
              </a:rPr>
              <a:t>的结果</a:t>
            </a:r>
            <a:endParaRPr lang="zh-CN" altLang="zh-CN" sz="1400" dirty="0">
              <a:latin typeface="宋体" panose="02000500000000000000" pitchFamily="2" charset="-122"/>
              <a:cs typeface="宋体" panose="02000500000000000000" pitchFamily="2" charset="-122"/>
            </a:endParaRPr>
          </a:p>
          <a:p>
            <a:pPr>
              <a:lnSpc>
                <a:spcPct val="150000"/>
              </a:lnSpc>
              <a:buChar char="•"/>
            </a:pPr>
            <a:r>
              <a:rPr lang="en-US" altLang="zh-CN" sz="1400" dirty="0">
                <a:solidFill>
                  <a:srgbClr val="000000"/>
                </a:solidFill>
                <a:latin typeface="宋体" panose="02000500000000000000" pitchFamily="2" charset="-122"/>
                <a:cs typeface="宋体" panose="02000500000000000000" pitchFamily="2" charset="-122"/>
              </a:rPr>
              <a:t>ADD</a:t>
            </a:r>
            <a:r>
              <a:rPr lang="zh-CN" altLang="zh-CN" sz="1400" dirty="0">
                <a:solidFill>
                  <a:srgbClr val="000000"/>
                </a:solidFill>
                <a:latin typeface="宋体" panose="02000500000000000000" pitchFamily="2" charset="-122"/>
                <a:cs typeface="宋体" panose="02000500000000000000" pitchFamily="2" charset="-122"/>
              </a:rPr>
              <a:t>发射，</a:t>
            </a:r>
            <a:r>
              <a:rPr lang="en-US" altLang="zh-CN" sz="1400" dirty="0">
                <a:solidFill>
                  <a:srgbClr val="000000"/>
                </a:solidFill>
                <a:latin typeface="宋体" panose="02000500000000000000" pitchFamily="2" charset="-122"/>
                <a:cs typeface="宋体" panose="02000500000000000000" pitchFamily="2" charset="-122"/>
              </a:rPr>
              <a:t>F1, F2</a:t>
            </a:r>
            <a:r>
              <a:rPr lang="zh-CN" altLang="zh-CN" sz="1400" dirty="0">
                <a:solidFill>
                  <a:srgbClr val="000000"/>
                </a:solidFill>
                <a:latin typeface="宋体" panose="02000500000000000000" pitchFamily="2" charset="-122"/>
                <a:cs typeface="宋体" panose="02000500000000000000" pitchFamily="2" charset="-122"/>
              </a:rPr>
              <a:t>都准备好</a:t>
            </a:r>
            <a:endParaRPr lang="zh-CN" altLang="zh-CN" sz="1400" dirty="0">
              <a:solidFill>
                <a:srgbClr val="000000"/>
              </a:solidFill>
              <a:latin typeface="宋体" panose="02000500000000000000" pitchFamily="2" charset="-122"/>
              <a:cs typeface="宋体" panose="02000500000000000000" pitchFamily="2" charset="-122"/>
            </a:endParaRPr>
          </a:p>
          <a:p>
            <a:pPr>
              <a:lnSpc>
                <a:spcPct val="150000"/>
              </a:lnSpc>
              <a:buChar char="•"/>
            </a:pPr>
            <a:r>
              <a:rPr lang="en-US" altLang="zh-CN" sz="1400" dirty="0">
                <a:solidFill>
                  <a:srgbClr val="000000"/>
                </a:solidFill>
                <a:latin typeface="宋体" panose="02000500000000000000" pitchFamily="2" charset="-122"/>
                <a:cs typeface="宋体" panose="02000500000000000000" pitchFamily="2" charset="-122"/>
              </a:rPr>
              <a:t>MUL2</a:t>
            </a:r>
            <a:r>
              <a:rPr lang="zh-CN" altLang="zh-CN" sz="1400" dirty="0">
                <a:solidFill>
                  <a:srgbClr val="000000"/>
                </a:solidFill>
                <a:latin typeface="宋体" panose="02000500000000000000" pitchFamily="2" charset="-122"/>
                <a:cs typeface="宋体" panose="02000500000000000000" pitchFamily="2" charset="-122"/>
              </a:rPr>
              <a:t>发射, </a:t>
            </a:r>
            <a:r>
              <a:rPr lang="en-US" altLang="zh-CN" sz="1400" dirty="0">
                <a:solidFill>
                  <a:srgbClr val="000000"/>
                </a:solidFill>
                <a:latin typeface="宋体" panose="02000500000000000000" pitchFamily="2" charset="-122"/>
                <a:cs typeface="宋体" panose="02000500000000000000" pitchFamily="2" charset="-122"/>
              </a:rPr>
              <a:t>F0</a:t>
            </a:r>
            <a:r>
              <a:rPr lang="zh-CN" altLang="zh-CN" sz="1400" dirty="0">
                <a:solidFill>
                  <a:srgbClr val="000000"/>
                </a:solidFill>
                <a:latin typeface="宋体" panose="02000500000000000000" pitchFamily="2" charset="-122"/>
                <a:cs typeface="宋体" panose="02000500000000000000" pitchFamily="2" charset="-122"/>
              </a:rPr>
              <a:t>等待3号</a:t>
            </a:r>
            <a:r>
              <a:rPr lang="en-US" altLang="zh-CN" sz="1400" dirty="0">
                <a:solidFill>
                  <a:srgbClr val="000000"/>
                </a:solidFill>
                <a:latin typeface="宋体" panose="02000500000000000000" pitchFamily="2" charset="-122"/>
                <a:cs typeface="宋体" panose="02000500000000000000" pitchFamily="2" charset="-122"/>
              </a:rPr>
              <a:t>RB</a:t>
            </a:r>
            <a:r>
              <a:rPr lang="zh-CN" altLang="zh-CN" sz="1400" dirty="0">
                <a:solidFill>
                  <a:srgbClr val="000000"/>
                </a:solidFill>
                <a:latin typeface="宋体" panose="02000500000000000000" pitchFamily="2" charset="-122"/>
                <a:cs typeface="宋体" panose="02000500000000000000" pitchFamily="2" charset="-122"/>
              </a:rPr>
              <a:t>的结果</a:t>
            </a:r>
            <a:endParaRPr lang="zh-CN" altLang="zh-CN" sz="1400" dirty="0">
              <a:solidFill>
                <a:srgbClr val="000000"/>
              </a:solidFill>
              <a:latin typeface="宋体" panose="02000500000000000000" pitchFamily="2" charset="-122"/>
              <a:cs typeface="宋体" panose="02000500000000000000" pitchFamily="2" charset="-122"/>
            </a:endParaRPr>
          </a:p>
          <a:p>
            <a:pPr>
              <a:lnSpc>
                <a:spcPct val="150000"/>
              </a:lnSpc>
              <a:buChar char="•"/>
            </a:pPr>
            <a:r>
              <a:rPr lang="en-US" altLang="zh-CN" sz="1400" dirty="0">
                <a:solidFill>
                  <a:srgbClr val="000000"/>
                </a:solidFill>
                <a:latin typeface="宋体" panose="02000500000000000000" pitchFamily="2" charset="-122"/>
                <a:cs typeface="宋体" panose="02000500000000000000" pitchFamily="2" charset="-122"/>
              </a:rPr>
              <a:t>ADD</a:t>
            </a:r>
            <a:r>
              <a:rPr lang="zh-CN" altLang="zh-CN" sz="1400" dirty="0">
                <a:solidFill>
                  <a:srgbClr val="000000"/>
                </a:solidFill>
                <a:latin typeface="宋体" panose="02000500000000000000" pitchFamily="2" charset="-122"/>
                <a:cs typeface="宋体" panose="02000500000000000000" pitchFamily="2" charset="-122"/>
              </a:rPr>
              <a:t>写回</a:t>
            </a:r>
            <a:endParaRPr lang="zh-CN" altLang="zh-CN" sz="1400" dirty="0">
              <a:solidFill>
                <a:srgbClr val="000000"/>
              </a:solidFill>
              <a:latin typeface="宋体" panose="02000500000000000000" pitchFamily="2" charset="-122"/>
              <a:cs typeface="宋体" panose="02000500000000000000" pitchFamily="2" charset="-122"/>
            </a:endParaRPr>
          </a:p>
          <a:p>
            <a:pPr>
              <a:lnSpc>
                <a:spcPct val="150000"/>
              </a:lnSpc>
              <a:buChar char="•"/>
            </a:pPr>
            <a:r>
              <a:rPr lang="en-US" altLang="zh-CN" sz="1400" dirty="0">
                <a:solidFill>
                  <a:srgbClr val="000000"/>
                </a:solidFill>
                <a:latin typeface="宋体" panose="02000500000000000000" pitchFamily="2" charset="-122"/>
                <a:cs typeface="宋体" panose="02000500000000000000" pitchFamily="2" charset="-122"/>
              </a:rPr>
              <a:t>DIV</a:t>
            </a:r>
            <a:r>
              <a:rPr lang="zh-CN" altLang="en-US" sz="1400" dirty="0">
                <a:solidFill>
                  <a:srgbClr val="000000"/>
                </a:solidFill>
                <a:latin typeface="宋体" panose="02000500000000000000" pitchFamily="2" charset="-122"/>
                <a:cs typeface="宋体" panose="02000500000000000000" pitchFamily="2" charset="-122"/>
              </a:rPr>
              <a:t>写回</a:t>
            </a:r>
            <a:endParaRPr lang="zh-CN" altLang="en-US" sz="1400" dirty="0">
              <a:solidFill>
                <a:srgbClr val="000000"/>
              </a:solidFill>
              <a:latin typeface="宋体" panose="02000500000000000000" pitchFamily="2" charset="-122"/>
              <a:cs typeface="宋体" panose="02000500000000000000" pitchFamily="2" charset="-122"/>
            </a:endParaRPr>
          </a:p>
          <a:p>
            <a:pPr>
              <a:lnSpc>
                <a:spcPct val="150000"/>
              </a:lnSpc>
              <a:buChar char="•"/>
            </a:pPr>
            <a:r>
              <a:rPr lang="en-US" altLang="zh-CN" sz="1400" dirty="0">
                <a:solidFill>
                  <a:srgbClr val="FF0000"/>
                </a:solidFill>
                <a:latin typeface="宋体" panose="02000500000000000000" pitchFamily="2" charset="-122"/>
                <a:cs typeface="宋体" panose="02000500000000000000" pitchFamily="2" charset="-122"/>
              </a:rPr>
              <a:t>DIV </a:t>
            </a:r>
            <a:r>
              <a:rPr lang="zh-CN" altLang="en-US" sz="1400" dirty="0">
                <a:solidFill>
                  <a:srgbClr val="FF0000"/>
                </a:solidFill>
                <a:latin typeface="宋体" panose="02000500000000000000" pitchFamily="2" charset="-122"/>
                <a:cs typeface="宋体" panose="02000500000000000000" pitchFamily="2" charset="-122"/>
              </a:rPr>
              <a:t>提交（写回寄存器）</a:t>
            </a:r>
            <a:r>
              <a:rPr lang="en-US" altLang="zh-CN" sz="1400" dirty="0">
                <a:solidFill>
                  <a:srgbClr val="FF0000"/>
                </a:solidFill>
                <a:latin typeface="宋体" panose="02000500000000000000" pitchFamily="2" charset="-122"/>
                <a:cs typeface="宋体" panose="02000500000000000000" pitchFamily="2" charset="-122"/>
              </a:rPr>
              <a:t>, MUL2</a:t>
            </a:r>
            <a:r>
              <a:rPr lang="zh-CN" altLang="en-US" sz="1400" dirty="0">
                <a:solidFill>
                  <a:srgbClr val="FF0000"/>
                </a:solidFill>
                <a:latin typeface="宋体" panose="02000500000000000000" pitchFamily="2" charset="-122"/>
                <a:cs typeface="宋体" panose="02000500000000000000" pitchFamily="2" charset="-122"/>
              </a:rPr>
              <a:t>写回</a:t>
            </a:r>
            <a:endParaRPr lang="zh-CN" altLang="en-US" sz="1400" dirty="0">
              <a:solidFill>
                <a:srgbClr val="FF0000"/>
              </a:solidFill>
              <a:latin typeface="宋体" panose="02000500000000000000" pitchFamily="2" charset="-122"/>
              <a:cs typeface="宋体" panose="02000500000000000000" pitchFamily="2"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51" name="Line 52"/>
          <p:cNvSpPr/>
          <p:nvPr/>
        </p:nvSpPr>
        <p:spPr>
          <a:xfrm flipV="1">
            <a:off x="7390765" y="2116455"/>
            <a:ext cx="0" cy="335280"/>
          </a:xfrm>
          <a:prstGeom prst="line">
            <a:avLst/>
          </a:prstGeom>
          <a:ln w="9525" cap="flat" cmpd="sng">
            <a:solidFill>
              <a:schemeClr val="tx1"/>
            </a:solidFill>
            <a:prstDash val="solid"/>
            <a:round/>
            <a:headEnd type="none" w="med" len="med"/>
            <a:tailEnd type="triangle" w="med" len="med"/>
          </a:ln>
        </p:spPr>
      </p:sp>
      <p:sp>
        <p:nvSpPr>
          <p:cNvPr id="31752" name="Line 53"/>
          <p:cNvSpPr/>
          <p:nvPr/>
        </p:nvSpPr>
        <p:spPr>
          <a:xfrm flipV="1">
            <a:off x="8270875" y="2116455"/>
            <a:ext cx="0" cy="335280"/>
          </a:xfrm>
          <a:prstGeom prst="line">
            <a:avLst/>
          </a:prstGeom>
          <a:ln w="9525" cap="flat" cmpd="sng">
            <a:solidFill>
              <a:schemeClr val="tx1"/>
            </a:solidFill>
            <a:prstDash val="solid"/>
            <a:round/>
            <a:headEnd type="none" w="med" len="med"/>
            <a:tailEnd type="triangle" w="med" len="med"/>
          </a:ln>
        </p:spPr>
      </p:sp>
      <p:sp>
        <p:nvSpPr>
          <p:cNvPr id="31753" name="Line 54"/>
          <p:cNvSpPr/>
          <p:nvPr/>
        </p:nvSpPr>
        <p:spPr>
          <a:xfrm flipV="1">
            <a:off x="10353675" y="2103755"/>
            <a:ext cx="0" cy="335280"/>
          </a:xfrm>
          <a:prstGeom prst="line">
            <a:avLst/>
          </a:prstGeom>
          <a:ln w="9525" cap="flat" cmpd="sng">
            <a:solidFill>
              <a:schemeClr val="tx1"/>
            </a:solidFill>
            <a:prstDash val="solid"/>
            <a:round/>
            <a:headEnd type="none" w="med" len="med"/>
            <a:tailEnd type="triangle" w="med" len="med"/>
          </a:ln>
        </p:spPr>
      </p:sp>
      <p:sp>
        <p:nvSpPr>
          <p:cNvPr id="31754" name="Line 55"/>
          <p:cNvSpPr/>
          <p:nvPr/>
        </p:nvSpPr>
        <p:spPr>
          <a:xfrm flipV="1">
            <a:off x="11301730" y="2091055"/>
            <a:ext cx="0" cy="335280"/>
          </a:xfrm>
          <a:prstGeom prst="line">
            <a:avLst/>
          </a:prstGeom>
          <a:ln w="9525" cap="flat" cmpd="sng">
            <a:solidFill>
              <a:schemeClr val="tx1"/>
            </a:solidFill>
            <a:prstDash val="solid"/>
            <a:round/>
            <a:headEnd type="none" w="med" len="med"/>
            <a:tailEnd type="triangle" w="med" len="med"/>
          </a:ln>
        </p:spPr>
      </p:sp>
      <p:sp>
        <p:nvSpPr>
          <p:cNvPr id="31755" name="Line 56"/>
          <p:cNvSpPr/>
          <p:nvPr/>
        </p:nvSpPr>
        <p:spPr>
          <a:xfrm flipV="1">
            <a:off x="8137525" y="4694555"/>
            <a:ext cx="0" cy="617855"/>
          </a:xfrm>
          <a:prstGeom prst="line">
            <a:avLst/>
          </a:prstGeom>
          <a:ln w="19050" cap="flat" cmpd="sng">
            <a:solidFill>
              <a:schemeClr val="tx1"/>
            </a:solidFill>
            <a:prstDash val="solid"/>
            <a:round/>
            <a:headEnd type="none" w="med" len="med"/>
            <a:tailEnd type="triangle" w="med" len="med"/>
          </a:ln>
        </p:spPr>
      </p:sp>
      <p:sp>
        <p:nvSpPr>
          <p:cNvPr id="31756" name="Line 57"/>
          <p:cNvSpPr/>
          <p:nvPr/>
        </p:nvSpPr>
        <p:spPr>
          <a:xfrm flipV="1">
            <a:off x="7794625" y="3044825"/>
            <a:ext cx="0" cy="247650"/>
          </a:xfrm>
          <a:prstGeom prst="line">
            <a:avLst/>
          </a:prstGeom>
          <a:ln w="19050" cap="flat" cmpd="sng">
            <a:solidFill>
              <a:schemeClr val="tx1"/>
            </a:solidFill>
            <a:prstDash val="solid"/>
            <a:round/>
            <a:headEnd type="none" w="med" len="med"/>
            <a:tailEnd type="triangle" w="med" len="med"/>
          </a:ln>
        </p:spPr>
      </p:sp>
      <p:sp>
        <p:nvSpPr>
          <p:cNvPr id="31757" name="Line 58"/>
          <p:cNvSpPr/>
          <p:nvPr/>
        </p:nvSpPr>
        <p:spPr>
          <a:xfrm flipV="1">
            <a:off x="10788015" y="3037205"/>
            <a:ext cx="0" cy="260350"/>
          </a:xfrm>
          <a:prstGeom prst="line">
            <a:avLst/>
          </a:prstGeom>
          <a:ln w="19050" cap="flat" cmpd="sng">
            <a:solidFill>
              <a:schemeClr val="tx1"/>
            </a:solidFill>
            <a:prstDash val="solid"/>
            <a:round/>
            <a:headEnd type="none" w="med" len="med"/>
            <a:tailEnd type="triangle" w="med" len="med"/>
          </a:ln>
        </p:spPr>
      </p:sp>
      <p:sp>
        <p:nvSpPr>
          <p:cNvPr id="31758" name="Line 59"/>
          <p:cNvSpPr/>
          <p:nvPr/>
        </p:nvSpPr>
        <p:spPr>
          <a:xfrm flipV="1">
            <a:off x="10813415" y="1449705"/>
            <a:ext cx="0" cy="370205"/>
          </a:xfrm>
          <a:prstGeom prst="line">
            <a:avLst/>
          </a:prstGeom>
          <a:ln w="19050" cap="flat" cmpd="sng">
            <a:solidFill>
              <a:srgbClr val="FF0000"/>
            </a:solidFill>
            <a:prstDash val="solid"/>
            <a:round/>
            <a:headEnd type="none" w="med" len="med"/>
            <a:tailEnd type="triangle" w="med" len="med"/>
          </a:ln>
        </p:spPr>
      </p:sp>
      <p:sp>
        <p:nvSpPr>
          <p:cNvPr id="31759" name="Line 60"/>
          <p:cNvSpPr/>
          <p:nvPr/>
        </p:nvSpPr>
        <p:spPr>
          <a:xfrm flipV="1">
            <a:off x="7881620" y="1466850"/>
            <a:ext cx="0" cy="370205"/>
          </a:xfrm>
          <a:prstGeom prst="line">
            <a:avLst/>
          </a:prstGeom>
          <a:ln w="19050" cap="flat" cmpd="sng">
            <a:solidFill>
              <a:schemeClr val="tx1"/>
            </a:solidFill>
            <a:prstDash val="solid"/>
            <a:round/>
            <a:headEnd type="none" w="med" len="med"/>
            <a:tailEnd type="triangle" w="med" len="med"/>
          </a:ln>
        </p:spPr>
      </p:sp>
      <p:sp>
        <p:nvSpPr>
          <p:cNvPr id="31760" name="Line 61"/>
          <p:cNvSpPr/>
          <p:nvPr/>
        </p:nvSpPr>
        <p:spPr>
          <a:xfrm>
            <a:off x="5155565" y="1460500"/>
            <a:ext cx="7009765" cy="0"/>
          </a:xfrm>
          <a:prstGeom prst="line">
            <a:avLst/>
          </a:prstGeom>
          <a:ln w="19050" cap="flat" cmpd="sng">
            <a:solidFill>
              <a:srgbClr val="FF0000"/>
            </a:solidFill>
            <a:prstDash val="solid"/>
            <a:round/>
            <a:headEnd type="none" w="med" len="med"/>
            <a:tailEnd type="none" w="med" len="med"/>
          </a:ln>
        </p:spPr>
      </p:sp>
      <p:sp>
        <p:nvSpPr>
          <p:cNvPr id="31761" name="Line 62"/>
          <p:cNvSpPr/>
          <p:nvPr/>
        </p:nvSpPr>
        <p:spPr>
          <a:xfrm flipH="1" flipV="1">
            <a:off x="7160895" y="3035300"/>
            <a:ext cx="635" cy="389255"/>
          </a:xfrm>
          <a:prstGeom prst="line">
            <a:avLst/>
          </a:prstGeom>
          <a:ln w="19050" cap="flat" cmpd="sng">
            <a:solidFill>
              <a:srgbClr val="FF0000"/>
            </a:solidFill>
            <a:prstDash val="solid"/>
            <a:round/>
            <a:headEnd type="none" w="med" len="med"/>
            <a:tailEnd type="triangle" w="med" len="med"/>
          </a:ln>
        </p:spPr>
      </p:sp>
      <p:sp>
        <p:nvSpPr>
          <p:cNvPr id="31762" name="Line 63"/>
          <p:cNvSpPr/>
          <p:nvPr/>
        </p:nvSpPr>
        <p:spPr>
          <a:xfrm flipV="1">
            <a:off x="11272520" y="3027680"/>
            <a:ext cx="635" cy="410845"/>
          </a:xfrm>
          <a:prstGeom prst="line">
            <a:avLst/>
          </a:prstGeom>
          <a:ln w="19050" cap="flat" cmpd="sng">
            <a:solidFill>
              <a:srgbClr val="FF0000"/>
            </a:solidFill>
            <a:prstDash val="solid"/>
            <a:round/>
            <a:headEnd type="none" w="med" len="med"/>
            <a:tailEnd type="triangle" w="med" len="med"/>
          </a:ln>
        </p:spPr>
      </p:sp>
      <p:sp>
        <p:nvSpPr>
          <p:cNvPr id="31763" name="Line 64"/>
          <p:cNvSpPr/>
          <p:nvPr/>
        </p:nvSpPr>
        <p:spPr>
          <a:xfrm>
            <a:off x="12150725" y="1463040"/>
            <a:ext cx="635" cy="3496945"/>
          </a:xfrm>
          <a:prstGeom prst="line">
            <a:avLst/>
          </a:prstGeom>
          <a:ln w="19050" cap="flat" cmpd="sng">
            <a:solidFill>
              <a:srgbClr val="FF0000"/>
            </a:solidFill>
            <a:prstDash val="solid"/>
            <a:round/>
            <a:headEnd type="none" w="med" len="med"/>
            <a:tailEnd type="none" w="med" len="med"/>
          </a:ln>
        </p:spPr>
      </p:sp>
      <p:sp>
        <p:nvSpPr>
          <p:cNvPr id="31764" name="Line 65"/>
          <p:cNvSpPr/>
          <p:nvPr/>
        </p:nvSpPr>
        <p:spPr>
          <a:xfrm flipV="1">
            <a:off x="8114665" y="3270250"/>
            <a:ext cx="0" cy="581025"/>
          </a:xfrm>
          <a:prstGeom prst="line">
            <a:avLst/>
          </a:prstGeom>
          <a:ln w="19050" cap="flat" cmpd="sng">
            <a:solidFill>
              <a:schemeClr val="tx1"/>
            </a:solidFill>
            <a:prstDash val="solid"/>
            <a:round/>
            <a:headEnd type="none" w="med" len="med"/>
            <a:tailEnd type="triangle" w="med" len="med"/>
          </a:ln>
        </p:spPr>
      </p:sp>
      <p:sp>
        <p:nvSpPr>
          <p:cNvPr id="31765" name="Text Box 66"/>
          <p:cNvSpPr txBox="1"/>
          <p:nvPr/>
        </p:nvSpPr>
        <p:spPr>
          <a:xfrm>
            <a:off x="6283960" y="2246630"/>
            <a:ext cx="1039495" cy="18415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加法保留站</a:t>
            </a:r>
            <a:endParaRPr lang="zh-CN" altLang="en-US" sz="1200" b="1" dirty="0">
              <a:latin typeface="Times New Roman" pitchFamily="18" charset="0"/>
              <a:ea typeface="宋体" panose="02000500000000000000" pitchFamily="2" charset="-122"/>
            </a:endParaRPr>
          </a:p>
        </p:txBody>
      </p:sp>
      <p:sp>
        <p:nvSpPr>
          <p:cNvPr id="31766" name="Text Box 67"/>
          <p:cNvSpPr txBox="1"/>
          <p:nvPr/>
        </p:nvSpPr>
        <p:spPr>
          <a:xfrm>
            <a:off x="6925310" y="3675380"/>
            <a:ext cx="1090295" cy="184150"/>
          </a:xfrm>
          <a:prstGeom prst="rect">
            <a:avLst/>
          </a:prstGeom>
          <a:noFill/>
          <a:ln w="9525">
            <a:noFill/>
          </a:ln>
          <a:extLst>
            <a:ext uri="{909E8E84-426E-40DD-AFC4-6F175D3DCCD1}">
              <a14:hiddenFill xmlns:a14="http://schemas.microsoft.com/office/drawing/2010/main">
                <a:solidFill>
                  <a:schemeClr val="bg1"/>
                </a:solidFill>
              </a14:hiddenFill>
            </a:ext>
          </a:extLst>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浮点寄存器</a:t>
            </a:r>
            <a:endParaRPr lang="zh-CN" altLang="en-US" sz="1200" b="1" dirty="0">
              <a:latin typeface="Times New Roman" pitchFamily="18" charset="0"/>
              <a:ea typeface="宋体" panose="02000500000000000000" pitchFamily="2" charset="-122"/>
            </a:endParaRPr>
          </a:p>
        </p:txBody>
      </p:sp>
      <p:sp>
        <p:nvSpPr>
          <p:cNvPr id="31767" name="Text Box 68"/>
          <p:cNvSpPr txBox="1"/>
          <p:nvPr/>
        </p:nvSpPr>
        <p:spPr>
          <a:xfrm>
            <a:off x="9289415" y="2235200"/>
            <a:ext cx="1039495" cy="18415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乘法保留站</a:t>
            </a:r>
            <a:endParaRPr lang="zh-CN" altLang="en-US" sz="1200" b="1" dirty="0">
              <a:latin typeface="Times New Roman" pitchFamily="18" charset="0"/>
              <a:ea typeface="宋体" panose="02000500000000000000" pitchFamily="2" charset="-122"/>
            </a:endParaRPr>
          </a:p>
        </p:txBody>
      </p:sp>
      <p:sp>
        <p:nvSpPr>
          <p:cNvPr id="31768" name="Line 69"/>
          <p:cNvSpPr/>
          <p:nvPr/>
        </p:nvSpPr>
        <p:spPr>
          <a:xfrm>
            <a:off x="10807065" y="4959985"/>
            <a:ext cx="1358265" cy="635"/>
          </a:xfrm>
          <a:prstGeom prst="line">
            <a:avLst/>
          </a:prstGeom>
          <a:ln w="19050" cap="flat" cmpd="sng">
            <a:solidFill>
              <a:srgbClr val="FF0000"/>
            </a:solidFill>
            <a:prstDash val="solid"/>
            <a:round/>
            <a:headEnd type="none" w="med" len="med"/>
            <a:tailEnd type="none" w="med" len="med"/>
          </a:ln>
        </p:spPr>
      </p:sp>
      <p:sp>
        <p:nvSpPr>
          <p:cNvPr id="31769" name="Line 70"/>
          <p:cNvSpPr/>
          <p:nvPr/>
        </p:nvSpPr>
        <p:spPr>
          <a:xfrm flipV="1">
            <a:off x="10812145" y="4701540"/>
            <a:ext cx="1905" cy="260350"/>
          </a:xfrm>
          <a:prstGeom prst="line">
            <a:avLst/>
          </a:prstGeom>
          <a:ln w="19050" cap="flat" cmpd="sng">
            <a:solidFill>
              <a:srgbClr val="FF0000"/>
            </a:solidFill>
            <a:prstDash val="solid"/>
            <a:round/>
            <a:headEnd type="none" w="med" len="med"/>
            <a:tailEnd type="triangle" w="med" len="med"/>
          </a:ln>
        </p:spPr>
      </p:sp>
      <p:grpSp>
        <p:nvGrpSpPr>
          <p:cNvPr id="31772" name="Group 73"/>
          <p:cNvGrpSpPr/>
          <p:nvPr/>
        </p:nvGrpSpPr>
        <p:grpSpPr>
          <a:xfrm rot="0">
            <a:off x="4488815" y="1461135"/>
            <a:ext cx="7679055" cy="1970389"/>
            <a:chOff x="1701" y="512"/>
            <a:chExt cx="3628" cy="1241"/>
          </a:xfrm>
        </p:grpSpPr>
        <p:sp>
          <p:nvSpPr>
            <p:cNvPr id="31773" name="Line 74"/>
            <p:cNvSpPr/>
            <p:nvPr/>
          </p:nvSpPr>
          <p:spPr>
            <a:xfrm flipV="1">
              <a:off x="2154" y="1661"/>
              <a:ext cx="2518" cy="0"/>
            </a:xfrm>
            <a:prstGeom prst="line">
              <a:avLst/>
            </a:prstGeom>
            <a:ln w="19050" cap="flat" cmpd="sng">
              <a:solidFill>
                <a:schemeClr val="tx1"/>
              </a:solidFill>
              <a:prstDash val="solid"/>
              <a:round/>
              <a:headEnd type="none" w="med" len="med"/>
              <a:tailEnd type="none" w="med" len="med"/>
            </a:ln>
          </p:spPr>
        </p:sp>
        <p:sp>
          <p:nvSpPr>
            <p:cNvPr id="31774" name="Line 75"/>
            <p:cNvSpPr/>
            <p:nvPr/>
          </p:nvSpPr>
          <p:spPr>
            <a:xfrm flipV="1">
              <a:off x="2010" y="1753"/>
              <a:ext cx="3319" cy="0"/>
            </a:xfrm>
            <a:prstGeom prst="line">
              <a:avLst/>
            </a:prstGeom>
            <a:ln w="19050" cap="flat" cmpd="sng">
              <a:solidFill>
                <a:srgbClr val="FF0000"/>
              </a:solidFill>
              <a:prstDash val="solid"/>
              <a:round/>
              <a:headEnd type="none" w="med" len="med"/>
              <a:tailEnd type="none" w="med" len="med"/>
            </a:ln>
          </p:spPr>
        </p:sp>
        <p:grpSp>
          <p:nvGrpSpPr>
            <p:cNvPr id="31775" name="Group 76"/>
            <p:cNvGrpSpPr/>
            <p:nvPr/>
          </p:nvGrpSpPr>
          <p:grpSpPr>
            <a:xfrm>
              <a:off x="1701" y="512"/>
              <a:ext cx="3494" cy="1239"/>
              <a:chOff x="1701" y="512"/>
              <a:chExt cx="3494" cy="1239"/>
            </a:xfrm>
          </p:grpSpPr>
          <p:grpSp>
            <p:nvGrpSpPr>
              <p:cNvPr id="31776" name="Group 77"/>
              <p:cNvGrpSpPr/>
              <p:nvPr/>
            </p:nvGrpSpPr>
            <p:grpSpPr>
              <a:xfrm>
                <a:off x="2019" y="512"/>
                <a:ext cx="135" cy="1239"/>
                <a:chOff x="2019" y="512"/>
                <a:chExt cx="135" cy="1239"/>
              </a:xfrm>
            </p:grpSpPr>
            <p:sp>
              <p:nvSpPr>
                <p:cNvPr id="31777" name="Line 78"/>
                <p:cNvSpPr/>
                <p:nvPr/>
              </p:nvSpPr>
              <p:spPr>
                <a:xfrm flipV="1">
                  <a:off x="2022" y="512"/>
                  <a:ext cx="0" cy="233"/>
                </a:xfrm>
                <a:prstGeom prst="line">
                  <a:avLst/>
                </a:prstGeom>
                <a:ln w="19050" cap="flat" cmpd="sng">
                  <a:solidFill>
                    <a:schemeClr val="tx1"/>
                  </a:solidFill>
                  <a:prstDash val="solid"/>
                  <a:round/>
                  <a:headEnd type="none" w="med" len="med"/>
                  <a:tailEnd type="triangle" w="med" len="med"/>
                </a:ln>
              </p:spPr>
            </p:sp>
            <p:sp>
              <p:nvSpPr>
                <p:cNvPr id="31778" name="Line 79"/>
                <p:cNvSpPr/>
                <p:nvPr/>
              </p:nvSpPr>
              <p:spPr>
                <a:xfrm flipH="1" flipV="1">
                  <a:off x="2019" y="1502"/>
                  <a:ext cx="3" cy="249"/>
                </a:xfrm>
                <a:prstGeom prst="line">
                  <a:avLst/>
                </a:prstGeom>
                <a:ln w="19050" cap="flat" cmpd="sng">
                  <a:solidFill>
                    <a:srgbClr val="FF0000"/>
                  </a:solidFill>
                  <a:prstDash val="solid"/>
                  <a:round/>
                  <a:headEnd type="none" w="med" len="med"/>
                  <a:tailEnd type="triangle" w="med" len="med"/>
                </a:ln>
              </p:spPr>
            </p:sp>
            <p:sp>
              <p:nvSpPr>
                <p:cNvPr id="31779" name="Line 80"/>
                <p:cNvSpPr/>
                <p:nvPr/>
              </p:nvSpPr>
              <p:spPr>
                <a:xfrm flipV="1">
                  <a:off x="2154" y="1508"/>
                  <a:ext cx="0" cy="156"/>
                </a:xfrm>
                <a:prstGeom prst="line">
                  <a:avLst/>
                </a:prstGeom>
                <a:ln w="19050" cap="flat" cmpd="sng">
                  <a:solidFill>
                    <a:schemeClr val="tx1"/>
                  </a:solidFill>
                  <a:prstDash val="solid"/>
                  <a:round/>
                  <a:headEnd type="none" w="med" len="med"/>
                  <a:tailEnd type="triangle" w="med" len="med"/>
                </a:ln>
              </p:spPr>
            </p:sp>
          </p:grpSp>
          <p:sp>
            <p:nvSpPr>
              <p:cNvPr id="31780" name="Text Box 81"/>
              <p:cNvSpPr txBox="1"/>
              <p:nvPr/>
            </p:nvSpPr>
            <p:spPr>
              <a:xfrm>
                <a:off x="2777" y="750"/>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浮点加</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减法器</a:t>
                </a:r>
                <a:endParaRPr lang="zh-CN" altLang="en-US" sz="1200" b="1" dirty="0">
                  <a:latin typeface="Times New Roman" pitchFamily="18" charset="0"/>
                  <a:ea typeface="宋体" panose="02000500000000000000" pitchFamily="2" charset="-122"/>
                </a:endParaRPr>
              </a:p>
            </p:txBody>
          </p:sp>
          <p:sp>
            <p:nvSpPr>
              <p:cNvPr id="31781" name="Text Box 82"/>
              <p:cNvSpPr txBox="1"/>
              <p:nvPr/>
            </p:nvSpPr>
            <p:spPr>
              <a:xfrm>
                <a:off x="4181" y="737"/>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浮点乘</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除法器</a:t>
                </a:r>
                <a:endParaRPr lang="zh-CN" altLang="en-US" sz="1200" b="1" dirty="0">
                  <a:latin typeface="Times New Roman" pitchFamily="18" charset="0"/>
                  <a:ea typeface="宋体" panose="02000500000000000000" pitchFamily="2" charset="-122"/>
                </a:endParaRPr>
              </a:p>
            </p:txBody>
          </p:sp>
          <p:sp>
            <p:nvSpPr>
              <p:cNvPr id="31782" name="Text Box 83"/>
              <p:cNvSpPr txBox="1"/>
              <p:nvPr/>
            </p:nvSpPr>
            <p:spPr>
              <a:xfrm>
                <a:off x="1701" y="731"/>
                <a:ext cx="664" cy="771"/>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p>
                <a:pPr algn="ctr">
                  <a:spcBef>
                    <a:spcPct val="50000"/>
                  </a:spcBef>
                </a:pPr>
                <a:endParaRPr lang="en-US" altLang="zh-CN" sz="1200"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定点</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访存</a:t>
                </a:r>
                <a:endParaRPr lang="zh-CN" altLang="en-US" sz="1200" b="1"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部件</a:t>
                </a:r>
                <a:endParaRPr lang="zh-CN" altLang="en-US" sz="1200" b="1" dirty="0">
                  <a:latin typeface="Times New Roman" pitchFamily="18" charset="0"/>
                  <a:ea typeface="宋体" panose="02000500000000000000" pitchFamily="2" charset="-122"/>
                </a:endParaRPr>
              </a:p>
              <a:p>
                <a:pPr algn="ctr">
                  <a:spcBef>
                    <a:spcPct val="50000"/>
                  </a:spcBef>
                </a:pPr>
                <a:endParaRPr lang="en-US" altLang="zh-CN" sz="1200" b="1" dirty="0">
                  <a:latin typeface="Times New Roman" pitchFamily="18" charset="0"/>
                  <a:ea typeface="宋体" panose="02000500000000000000" pitchFamily="2" charset="-122"/>
                </a:endParaRPr>
              </a:p>
            </p:txBody>
          </p:sp>
        </p:grpSp>
      </p:grpSp>
      <p:sp>
        <p:nvSpPr>
          <p:cNvPr id="31783" name="Text Box 84"/>
          <p:cNvSpPr txBox="1"/>
          <p:nvPr/>
        </p:nvSpPr>
        <p:spPr>
          <a:xfrm>
            <a:off x="6979920" y="5045075"/>
            <a:ext cx="1030605" cy="184150"/>
          </a:xfrm>
          <a:prstGeom prst="rect">
            <a:avLst/>
          </a:prstGeom>
          <a:solidFill>
            <a:schemeClr val="bg1"/>
          </a:solid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指令队列</a:t>
            </a:r>
            <a:endParaRPr lang="zh-CN" altLang="en-US" sz="1200" b="1" dirty="0">
              <a:latin typeface="Times New Roman" pitchFamily="18" charset="0"/>
              <a:ea typeface="宋体" panose="02000500000000000000" pitchFamily="2" charset="-122"/>
            </a:endParaRPr>
          </a:p>
        </p:txBody>
      </p:sp>
      <p:graphicFrame>
        <p:nvGraphicFramePr>
          <p:cNvPr id="3" name="表格 2"/>
          <p:cNvGraphicFramePr/>
          <p:nvPr/>
        </p:nvGraphicFramePr>
        <p:xfrm>
          <a:off x="6799580" y="3837940"/>
          <a:ext cx="2342515" cy="863600"/>
        </p:xfrm>
        <a:graphic>
          <a:graphicData uri="http://schemas.openxmlformats.org/drawingml/2006/table">
            <a:tbl>
              <a:tblPr firstRow="1" bandRow="1">
                <a:tableStyleId>{5C22544A-7EE6-4342-B048-85BDC9FD1C3A}</a:tableStyleId>
              </a:tblPr>
              <a:tblGrid>
                <a:gridCol w="365125"/>
                <a:gridCol w="450850"/>
                <a:gridCol w="1526540"/>
              </a:tblGrid>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0.5</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4</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3.0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4" name="表格 3"/>
          <p:cNvGraphicFramePr/>
          <p:nvPr/>
        </p:nvGraphicFramePr>
        <p:xfrm>
          <a:off x="7167880" y="5311775"/>
          <a:ext cx="1930400" cy="1280160"/>
        </p:xfrm>
        <a:graphic>
          <a:graphicData uri="http://schemas.openxmlformats.org/drawingml/2006/table">
            <a:tbl>
              <a:tblPr firstRow="1" bandRow="1">
                <a:tableStyleId>{5C22544A-7EE6-4342-B048-85BDC9FD1C3A}</a:tableStyleId>
              </a:tblPr>
              <a:tblGrid>
                <a:gridCol w="1930400"/>
              </a:tblGrid>
              <a:tr h="213360">
                <a:tc>
                  <a:txBody>
                    <a:bodyPr/>
                    <a:p>
                      <a:pPr indent="0">
                        <a:buNone/>
                      </a:pPr>
                      <a:r>
                        <a:rPr lang="en-US" sz="1200" b="1">
                          <a:solidFill>
                            <a:schemeClr val="tx1"/>
                          </a:solidFill>
                          <a:latin typeface="宋体" panose="02000500000000000000" pitchFamily="2" charset="-122"/>
                          <a:ea typeface="宋体" panose="02000500000000000000" pitchFamily="2" charset="-122"/>
                        </a:rPr>
                        <a:t>FDIV.D  </a:t>
                      </a:r>
                      <a:r>
                        <a:rPr lang="en-US" sz="1200" b="1">
                          <a:solidFill>
                            <a:srgbClr val="FF0000"/>
                          </a:solidFill>
                          <a:latin typeface="宋体" panose="02000500000000000000" pitchFamily="2" charset="-122"/>
                          <a:ea typeface="宋体" panose="02000500000000000000" pitchFamily="2" charset="-122"/>
                        </a:rPr>
                        <a:t>F0</a:t>
                      </a:r>
                      <a:r>
                        <a:rPr lang="en-US" sz="1200" b="1">
                          <a:solidFill>
                            <a:schemeClr val="tx1"/>
                          </a:solidFill>
                          <a:latin typeface="宋体" panose="02000500000000000000" pitchFamily="2" charset="-122"/>
                          <a:ea typeface="宋体" panose="02000500000000000000" pitchFamily="2" charset="-122"/>
                        </a:rPr>
                        <a:t>, F1, F2</a:t>
                      </a:r>
                      <a:endParaRPr lang="en-US" altLang="en-US" sz="1200" b="1">
                        <a:solidFill>
                          <a:schemeClr val="tx1"/>
                        </a:solidFill>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FADD.D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F1,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5" name="表格 4"/>
          <p:cNvGraphicFramePr/>
          <p:nvPr/>
        </p:nvGraphicFramePr>
        <p:xfrm>
          <a:off x="9544050" y="243586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7" name="表格 6"/>
          <p:cNvGraphicFramePr/>
          <p:nvPr/>
        </p:nvGraphicFramePr>
        <p:xfrm>
          <a:off x="6577330" y="245618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9" name="表格 8"/>
          <p:cNvGraphicFramePr/>
          <p:nvPr/>
        </p:nvGraphicFramePr>
        <p:xfrm>
          <a:off x="9486900" y="3822700"/>
          <a:ext cx="2342515" cy="863600"/>
        </p:xfrm>
        <a:graphic>
          <a:graphicData uri="http://schemas.openxmlformats.org/drawingml/2006/table">
            <a:tbl>
              <a:tblPr firstRow="1" bandRow="1">
                <a:tableStyleId>{5C22544A-7EE6-4342-B048-85BDC9FD1C3A}</a:tableStyleId>
              </a:tblPr>
              <a:tblGrid>
                <a:gridCol w="221065"/>
                <a:gridCol w="382270"/>
                <a:gridCol w="387901"/>
                <a:gridCol w="1351279"/>
              </a:tblGrid>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4</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fmul</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f3</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6.0</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fadd</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f0</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3.0</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fmul</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f3</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1.0</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sp>
        <p:nvSpPr>
          <p:cNvPr id="47115" name="Line 15"/>
          <p:cNvSpPr/>
          <p:nvPr/>
        </p:nvSpPr>
        <p:spPr>
          <a:xfrm flipH="1" flipV="1">
            <a:off x="11068050" y="3610610"/>
            <a:ext cx="9525" cy="215900"/>
          </a:xfrm>
          <a:prstGeom prst="line">
            <a:avLst/>
          </a:prstGeom>
          <a:ln w="19050" cap="flat" cmpd="sng">
            <a:solidFill>
              <a:schemeClr val="accent2"/>
            </a:solidFill>
            <a:prstDash val="solid"/>
            <a:round/>
            <a:headEnd type="none" w="med" len="med"/>
            <a:tailEnd type="none" w="med" len="med"/>
          </a:ln>
        </p:spPr>
      </p:sp>
      <p:sp>
        <p:nvSpPr>
          <p:cNvPr id="47131" name="Line 36"/>
          <p:cNvSpPr/>
          <p:nvPr/>
        </p:nvSpPr>
        <p:spPr>
          <a:xfrm flipV="1">
            <a:off x="4904105" y="4940935"/>
            <a:ext cx="2991485" cy="13970"/>
          </a:xfrm>
          <a:prstGeom prst="line">
            <a:avLst/>
          </a:prstGeom>
          <a:ln w="19050" cap="flat" cmpd="sng">
            <a:solidFill>
              <a:schemeClr val="accent2"/>
            </a:solidFill>
            <a:prstDash val="solid"/>
            <a:round/>
            <a:headEnd type="none" w="med" len="med"/>
            <a:tailEnd type="none" w="med" len="med"/>
          </a:ln>
        </p:spPr>
      </p:sp>
      <p:sp>
        <p:nvSpPr>
          <p:cNvPr id="47133" name="Text Box 43"/>
          <p:cNvSpPr txBox="1"/>
          <p:nvPr/>
        </p:nvSpPr>
        <p:spPr>
          <a:xfrm>
            <a:off x="5375910" y="4712335"/>
            <a:ext cx="1089025" cy="184150"/>
          </a:xfrm>
          <a:prstGeom prst="rect">
            <a:avLst/>
          </a:prstGeom>
          <a:noFill/>
          <a:ln w="9525">
            <a:noFill/>
          </a:ln>
          <a:extLst>
            <a:ext uri="{909E8E84-426E-40DD-AFC4-6F175D3DCCD1}">
              <a14:hiddenFill xmlns:a14="http://schemas.microsoft.com/office/drawing/2010/main">
                <a:solidFill>
                  <a:schemeClr val="bg1"/>
                </a:solidFill>
              </a14:hiddenFill>
            </a:ext>
          </a:extLst>
        </p:spPr>
        <p:txBody>
          <a:bodyPr lIns="0" tIns="0" rIns="0" bIns="0" anchor="t" anchorCtr="0">
            <a:spAutoFit/>
          </a:bodyPr>
          <a:p>
            <a:pPr>
              <a:spcBef>
                <a:spcPct val="50000"/>
              </a:spcBef>
            </a:pPr>
            <a:r>
              <a:rPr lang="zh-CN" altLang="en-US" sz="1200" b="1" dirty="0">
                <a:solidFill>
                  <a:schemeClr val="accent2"/>
                </a:solidFill>
                <a:latin typeface="Times New Roman" pitchFamily="18" charset="0"/>
                <a:ea typeface="宋体" panose="02000500000000000000" pitchFamily="2" charset="-122"/>
              </a:rPr>
              <a:t>修改寄存器</a:t>
            </a:r>
            <a:endParaRPr lang="zh-CN" altLang="en-US" sz="1200" b="1" dirty="0">
              <a:solidFill>
                <a:schemeClr val="accent2"/>
              </a:solidFill>
              <a:latin typeface="Times New Roman" pitchFamily="18" charset="0"/>
              <a:ea typeface="宋体" panose="02000500000000000000" pitchFamily="2" charset="-122"/>
            </a:endParaRPr>
          </a:p>
        </p:txBody>
      </p:sp>
      <p:sp>
        <p:nvSpPr>
          <p:cNvPr id="47143" name="Line 37"/>
          <p:cNvSpPr/>
          <p:nvPr/>
        </p:nvSpPr>
        <p:spPr>
          <a:xfrm flipH="1" flipV="1">
            <a:off x="7879715" y="4688205"/>
            <a:ext cx="8255" cy="252095"/>
          </a:xfrm>
          <a:prstGeom prst="line">
            <a:avLst/>
          </a:prstGeom>
          <a:ln w="19050" cap="flat" cmpd="sng">
            <a:solidFill>
              <a:schemeClr val="accent2"/>
            </a:solidFill>
            <a:prstDash val="solid"/>
            <a:round/>
            <a:headEnd type="none" w="med" len="med"/>
            <a:tailEnd type="triangle" w="med" len="med"/>
          </a:ln>
        </p:spPr>
      </p:sp>
      <p:sp>
        <p:nvSpPr>
          <p:cNvPr id="47144" name="Line 38"/>
          <p:cNvSpPr/>
          <p:nvPr/>
        </p:nvSpPr>
        <p:spPr>
          <a:xfrm>
            <a:off x="4868545" y="3616325"/>
            <a:ext cx="6222365" cy="13970"/>
          </a:xfrm>
          <a:prstGeom prst="line">
            <a:avLst/>
          </a:prstGeom>
          <a:ln w="19050" cap="flat" cmpd="sng">
            <a:solidFill>
              <a:schemeClr val="accent2"/>
            </a:solidFill>
            <a:prstDash val="solid"/>
            <a:round/>
            <a:headEnd type="none" w="med" len="med"/>
            <a:tailEnd type="none" w="med" len="med"/>
          </a:ln>
        </p:spPr>
      </p:sp>
      <p:sp>
        <p:nvSpPr>
          <p:cNvPr id="47146" name="Line 41"/>
          <p:cNvSpPr/>
          <p:nvPr/>
        </p:nvSpPr>
        <p:spPr>
          <a:xfrm flipH="1" flipV="1">
            <a:off x="4877435" y="3028315"/>
            <a:ext cx="14605" cy="1934210"/>
          </a:xfrm>
          <a:prstGeom prst="line">
            <a:avLst/>
          </a:prstGeom>
          <a:ln w="19050" cap="flat" cmpd="sng">
            <a:solidFill>
              <a:schemeClr val="accent2"/>
            </a:solidFill>
            <a:prstDash val="solid"/>
            <a:round/>
            <a:headEnd type="none" w="med" len="med"/>
            <a:tailEnd type="triangle" w="med" len="med"/>
          </a:ln>
        </p:spPr>
      </p:sp>
      <p:sp>
        <p:nvSpPr>
          <p:cNvPr id="46082" name="Rectangle 3"/>
          <p:cNvSpPr/>
          <p:nvPr/>
        </p:nvSpPr>
        <p:spPr>
          <a:xfrm>
            <a:off x="912813" y="420688"/>
            <a:ext cx="10361612" cy="523875"/>
          </a:xfrm>
          <a:prstGeom prst="rect">
            <a:avLst/>
          </a:prstGeom>
          <a:noFill/>
          <a:ln w="9525">
            <a:noFill/>
          </a:ln>
        </p:spPr>
        <p:txBody>
          <a:bodyPr anchor="ctr" anchorCtr="0"/>
          <a:p>
            <a:pPr algn="ctr"/>
            <a:r>
              <a:rPr lang="zh-CN" sz="3200" dirty="0">
                <a:solidFill>
                  <a:srgbClr val="FF0000"/>
                </a:solidFill>
                <a:latin typeface="Arial" panose="02080604020202020204" pitchFamily="34" charset="0"/>
                <a:ea typeface="黑体" panose="02000500000000000000" pitchFamily="49" charset="-122"/>
              </a:rPr>
              <a:t>例子</a:t>
            </a:r>
            <a:endParaRPr lang="zh-CN" sz="3200" dirty="0">
              <a:solidFill>
                <a:srgbClr val="FF0000"/>
              </a:solidFill>
              <a:latin typeface="Arial" panose="02080604020202020204" pitchFamily="34" charset="0"/>
              <a:ea typeface="黑体" panose="02000500000000000000" pitchFamily="49" charset="-122"/>
            </a:endParaRPr>
          </a:p>
        </p:txBody>
      </p:sp>
      <p:sp>
        <p:nvSpPr>
          <p:cNvPr id="50195" name="Text Box 44"/>
          <p:cNvSpPr txBox="1"/>
          <p:nvPr/>
        </p:nvSpPr>
        <p:spPr>
          <a:xfrm>
            <a:off x="8543925" y="1234440"/>
            <a:ext cx="1527175" cy="184150"/>
          </a:xfrm>
          <a:prstGeom prst="rect">
            <a:avLst/>
          </a:prstGeom>
          <a:solidFill>
            <a:schemeClr val="bg1"/>
          </a:solidFill>
          <a:ln w="9525">
            <a:noFill/>
          </a:ln>
        </p:spPr>
        <p:txBody>
          <a:bodyPr wrap="square" lIns="0" tIns="0" rIns="0" bIns="0" anchor="t" anchorCtr="0">
            <a:spAutoFit/>
          </a:bodyPr>
          <a:p>
            <a:pPr>
              <a:spcBef>
                <a:spcPct val="50000"/>
              </a:spcBef>
            </a:pPr>
            <a:r>
              <a:rPr lang="zh-CN" altLang="en-US" sz="1200" b="1" dirty="0">
                <a:solidFill>
                  <a:srgbClr val="FF0000"/>
                </a:solidFill>
                <a:latin typeface="宋体" panose="02000500000000000000" pitchFamily="2" charset="-122"/>
                <a:cs typeface="宋体" panose="02000500000000000000" pitchFamily="2" charset="-122"/>
              </a:rPr>
              <a:t>结果总线（</a:t>
            </a:r>
            <a:r>
              <a:rPr lang="en-US" altLang="zh-CN" sz="1200" b="1" dirty="0">
                <a:solidFill>
                  <a:srgbClr val="FF0000"/>
                </a:solidFill>
                <a:latin typeface="宋体" panose="02000500000000000000" pitchFamily="2" charset="-122"/>
                <a:cs typeface="宋体" panose="02000500000000000000" pitchFamily="2" charset="-122"/>
              </a:rPr>
              <a:t>2</a:t>
            </a:r>
            <a:r>
              <a:rPr lang="zh-CN" altLang="en-US" sz="1200" b="1" dirty="0">
                <a:solidFill>
                  <a:srgbClr val="FF0000"/>
                </a:solidFill>
                <a:latin typeface="宋体" panose="02000500000000000000" pitchFamily="2" charset="-122"/>
                <a:cs typeface="宋体" panose="02000500000000000000" pitchFamily="2" charset="-122"/>
              </a:rPr>
              <a:t>，</a:t>
            </a:r>
            <a:r>
              <a:rPr lang="en-US" altLang="zh-CN" sz="1200" b="1" dirty="0">
                <a:solidFill>
                  <a:srgbClr val="FF0000"/>
                </a:solidFill>
                <a:latin typeface="宋体" panose="02000500000000000000" pitchFamily="2" charset="-122"/>
                <a:cs typeface="宋体" panose="02000500000000000000" pitchFamily="2" charset="-122"/>
              </a:rPr>
              <a:t>1.0</a:t>
            </a:r>
            <a:r>
              <a:rPr lang="zh-CN" altLang="en-US" sz="1200" b="1" dirty="0">
                <a:solidFill>
                  <a:srgbClr val="FF0000"/>
                </a:solidFill>
                <a:latin typeface="宋体" panose="02000500000000000000" pitchFamily="2" charset="-122"/>
                <a:cs typeface="宋体" panose="02000500000000000000" pitchFamily="2" charset="-122"/>
              </a:rPr>
              <a:t>）</a:t>
            </a:r>
            <a:endParaRPr lang="en-US" altLang="zh-CN" sz="1200" b="1" dirty="0">
              <a:solidFill>
                <a:srgbClr val="FF0000"/>
              </a:solidFill>
              <a:latin typeface="宋体" panose="02000500000000000000" pitchFamily="2" charset="-122"/>
              <a:cs typeface="宋体" panose="02000500000000000000" pitchFamily="2" charset="-122"/>
            </a:endParaRPr>
          </a:p>
        </p:txBody>
      </p:sp>
      <p:sp>
        <p:nvSpPr>
          <p:cNvPr id="56322" name="Text Box 3"/>
          <p:cNvSpPr txBox="1"/>
          <p:nvPr/>
        </p:nvSpPr>
        <p:spPr>
          <a:xfrm>
            <a:off x="187325" y="2743200"/>
            <a:ext cx="4187825" cy="2891790"/>
          </a:xfrm>
          <a:prstGeom prst="rect">
            <a:avLst/>
          </a:prstGeom>
          <a:noFill/>
          <a:ln w="9525">
            <a:noFill/>
          </a:ln>
        </p:spPr>
        <p:txBody>
          <a:bodyPr anchor="t" anchorCtr="0">
            <a:spAutoFit/>
          </a:bodyPr>
          <a:p>
            <a:pPr>
              <a:lnSpc>
                <a:spcPct val="150000"/>
              </a:lnSpc>
              <a:buChar char="•"/>
            </a:pPr>
            <a:r>
              <a:rPr lang="en-US" altLang="zh-CN" sz="1400" dirty="0">
                <a:solidFill>
                  <a:srgbClr val="000000"/>
                </a:solidFill>
                <a:latin typeface="宋体" panose="02000500000000000000" pitchFamily="2" charset="-122"/>
                <a:cs typeface="宋体" panose="02000500000000000000" pitchFamily="2" charset="-122"/>
              </a:rPr>
              <a:t>DIV</a:t>
            </a:r>
            <a:r>
              <a:rPr lang="zh-CN" altLang="zh-CN" sz="1400" dirty="0">
                <a:solidFill>
                  <a:srgbClr val="000000"/>
                </a:solidFill>
                <a:latin typeface="宋体" panose="02000500000000000000" pitchFamily="2" charset="-122"/>
                <a:cs typeface="宋体" panose="02000500000000000000" pitchFamily="2" charset="-122"/>
              </a:rPr>
              <a:t>发射，</a:t>
            </a:r>
            <a:r>
              <a:rPr lang="en-US" altLang="zh-CN" sz="1400" dirty="0">
                <a:solidFill>
                  <a:srgbClr val="000000"/>
                </a:solidFill>
                <a:latin typeface="宋体" panose="02000500000000000000" pitchFamily="2" charset="-122"/>
                <a:cs typeface="宋体" panose="02000500000000000000" pitchFamily="2" charset="-122"/>
              </a:rPr>
              <a:t>F1, F2</a:t>
            </a:r>
            <a:r>
              <a:rPr lang="zh-CN" altLang="zh-CN" sz="1400" dirty="0">
                <a:solidFill>
                  <a:srgbClr val="000000"/>
                </a:solidFill>
                <a:latin typeface="宋体" panose="02000500000000000000" pitchFamily="2" charset="-122"/>
                <a:cs typeface="宋体" panose="02000500000000000000" pitchFamily="2" charset="-122"/>
              </a:rPr>
              <a:t>都准备好</a:t>
            </a:r>
            <a:endParaRPr lang="zh-CN" altLang="zh-CN" sz="1400" dirty="0">
              <a:solidFill>
                <a:srgbClr val="000000"/>
              </a:solidFill>
              <a:latin typeface="宋体" panose="02000500000000000000" pitchFamily="2" charset="-122"/>
              <a:cs typeface="宋体" panose="02000500000000000000" pitchFamily="2" charset="-122"/>
            </a:endParaRPr>
          </a:p>
          <a:p>
            <a:pPr>
              <a:lnSpc>
                <a:spcPct val="150000"/>
              </a:lnSpc>
              <a:buChar char="•"/>
            </a:pPr>
            <a:r>
              <a:rPr lang="en-US" altLang="zh-CN" sz="1400" dirty="0">
                <a:latin typeface="宋体" panose="02000500000000000000" pitchFamily="2" charset="-122"/>
                <a:cs typeface="宋体" panose="02000500000000000000" pitchFamily="2" charset="-122"/>
              </a:rPr>
              <a:t>MUL1</a:t>
            </a:r>
            <a:r>
              <a:rPr lang="zh-CN" altLang="zh-CN" sz="1400" dirty="0">
                <a:latin typeface="宋体" panose="02000500000000000000" pitchFamily="2" charset="-122"/>
                <a:cs typeface="宋体" panose="02000500000000000000" pitchFamily="2" charset="-122"/>
              </a:rPr>
              <a:t>发射，</a:t>
            </a:r>
            <a:r>
              <a:rPr lang="en-US" altLang="zh-CN" sz="1400" dirty="0">
                <a:latin typeface="宋体" panose="02000500000000000000" pitchFamily="2" charset="-122"/>
                <a:cs typeface="宋体" panose="02000500000000000000" pitchFamily="2" charset="-122"/>
              </a:rPr>
              <a:t>F0</a:t>
            </a:r>
            <a:r>
              <a:rPr lang="zh-CN" altLang="zh-CN" sz="1400" dirty="0">
                <a:latin typeface="宋体" panose="02000500000000000000" pitchFamily="2" charset="-122"/>
                <a:cs typeface="宋体" panose="02000500000000000000" pitchFamily="2" charset="-122"/>
              </a:rPr>
              <a:t>等待1号</a:t>
            </a:r>
            <a:r>
              <a:rPr lang="en-US" altLang="zh-CN" sz="1400" dirty="0">
                <a:latin typeface="宋体" panose="02000500000000000000" pitchFamily="2" charset="-122"/>
                <a:cs typeface="宋体" panose="02000500000000000000" pitchFamily="2" charset="-122"/>
              </a:rPr>
              <a:t>RB</a:t>
            </a:r>
            <a:r>
              <a:rPr lang="zh-CN" altLang="zh-CN" sz="1400" dirty="0">
                <a:latin typeface="宋体" panose="02000500000000000000" pitchFamily="2" charset="-122"/>
                <a:cs typeface="宋体" panose="02000500000000000000" pitchFamily="2" charset="-122"/>
              </a:rPr>
              <a:t>的结果</a:t>
            </a:r>
            <a:endParaRPr lang="zh-CN" altLang="zh-CN" sz="1400" dirty="0">
              <a:latin typeface="宋体" panose="02000500000000000000" pitchFamily="2" charset="-122"/>
              <a:cs typeface="宋体" panose="02000500000000000000" pitchFamily="2" charset="-122"/>
            </a:endParaRPr>
          </a:p>
          <a:p>
            <a:pPr>
              <a:lnSpc>
                <a:spcPct val="150000"/>
              </a:lnSpc>
              <a:buChar char="•"/>
            </a:pPr>
            <a:r>
              <a:rPr lang="en-US" altLang="zh-CN" sz="1400" dirty="0">
                <a:solidFill>
                  <a:srgbClr val="000000"/>
                </a:solidFill>
                <a:latin typeface="宋体" panose="02000500000000000000" pitchFamily="2" charset="-122"/>
                <a:cs typeface="宋体" panose="02000500000000000000" pitchFamily="2" charset="-122"/>
              </a:rPr>
              <a:t>ADD</a:t>
            </a:r>
            <a:r>
              <a:rPr lang="zh-CN" altLang="zh-CN" sz="1400" dirty="0">
                <a:solidFill>
                  <a:srgbClr val="000000"/>
                </a:solidFill>
                <a:latin typeface="宋体" panose="02000500000000000000" pitchFamily="2" charset="-122"/>
                <a:cs typeface="宋体" panose="02000500000000000000" pitchFamily="2" charset="-122"/>
              </a:rPr>
              <a:t>发射，</a:t>
            </a:r>
            <a:r>
              <a:rPr lang="en-US" altLang="zh-CN" sz="1400" dirty="0">
                <a:solidFill>
                  <a:srgbClr val="000000"/>
                </a:solidFill>
                <a:latin typeface="宋体" panose="02000500000000000000" pitchFamily="2" charset="-122"/>
                <a:cs typeface="宋体" panose="02000500000000000000" pitchFamily="2" charset="-122"/>
              </a:rPr>
              <a:t>F1, F2</a:t>
            </a:r>
            <a:r>
              <a:rPr lang="zh-CN" altLang="zh-CN" sz="1400" dirty="0">
                <a:solidFill>
                  <a:srgbClr val="000000"/>
                </a:solidFill>
                <a:latin typeface="宋体" panose="02000500000000000000" pitchFamily="2" charset="-122"/>
                <a:cs typeface="宋体" panose="02000500000000000000" pitchFamily="2" charset="-122"/>
              </a:rPr>
              <a:t>都准备好</a:t>
            </a:r>
            <a:endParaRPr lang="zh-CN" altLang="zh-CN" sz="1400" dirty="0">
              <a:solidFill>
                <a:srgbClr val="000000"/>
              </a:solidFill>
              <a:latin typeface="宋体" panose="02000500000000000000" pitchFamily="2" charset="-122"/>
              <a:cs typeface="宋体" panose="02000500000000000000" pitchFamily="2" charset="-122"/>
            </a:endParaRPr>
          </a:p>
          <a:p>
            <a:pPr>
              <a:lnSpc>
                <a:spcPct val="150000"/>
              </a:lnSpc>
              <a:buChar char="•"/>
            </a:pPr>
            <a:r>
              <a:rPr lang="en-US" altLang="zh-CN" sz="1400" dirty="0">
                <a:solidFill>
                  <a:srgbClr val="000000"/>
                </a:solidFill>
                <a:latin typeface="宋体" panose="02000500000000000000" pitchFamily="2" charset="-122"/>
                <a:cs typeface="宋体" panose="02000500000000000000" pitchFamily="2" charset="-122"/>
              </a:rPr>
              <a:t>MUL2</a:t>
            </a:r>
            <a:r>
              <a:rPr lang="zh-CN" altLang="zh-CN" sz="1400" dirty="0">
                <a:solidFill>
                  <a:srgbClr val="000000"/>
                </a:solidFill>
                <a:latin typeface="宋体" panose="02000500000000000000" pitchFamily="2" charset="-122"/>
                <a:cs typeface="宋体" panose="02000500000000000000" pitchFamily="2" charset="-122"/>
              </a:rPr>
              <a:t>发射, </a:t>
            </a:r>
            <a:r>
              <a:rPr lang="en-US" altLang="zh-CN" sz="1400" dirty="0">
                <a:solidFill>
                  <a:srgbClr val="000000"/>
                </a:solidFill>
                <a:latin typeface="宋体" panose="02000500000000000000" pitchFamily="2" charset="-122"/>
                <a:cs typeface="宋体" panose="02000500000000000000" pitchFamily="2" charset="-122"/>
              </a:rPr>
              <a:t>F0</a:t>
            </a:r>
            <a:r>
              <a:rPr lang="zh-CN" altLang="zh-CN" sz="1400" dirty="0">
                <a:solidFill>
                  <a:srgbClr val="000000"/>
                </a:solidFill>
                <a:latin typeface="宋体" panose="02000500000000000000" pitchFamily="2" charset="-122"/>
                <a:cs typeface="宋体" panose="02000500000000000000" pitchFamily="2" charset="-122"/>
              </a:rPr>
              <a:t>等待3号</a:t>
            </a:r>
            <a:r>
              <a:rPr lang="en-US" altLang="zh-CN" sz="1400" dirty="0">
                <a:solidFill>
                  <a:srgbClr val="000000"/>
                </a:solidFill>
                <a:latin typeface="宋体" panose="02000500000000000000" pitchFamily="2" charset="-122"/>
                <a:cs typeface="宋体" panose="02000500000000000000" pitchFamily="2" charset="-122"/>
              </a:rPr>
              <a:t>RB</a:t>
            </a:r>
            <a:r>
              <a:rPr lang="zh-CN" altLang="zh-CN" sz="1400" dirty="0">
                <a:solidFill>
                  <a:srgbClr val="000000"/>
                </a:solidFill>
                <a:latin typeface="宋体" panose="02000500000000000000" pitchFamily="2" charset="-122"/>
                <a:cs typeface="宋体" panose="02000500000000000000" pitchFamily="2" charset="-122"/>
              </a:rPr>
              <a:t>的结果</a:t>
            </a:r>
            <a:endParaRPr lang="zh-CN" altLang="zh-CN" sz="1400" dirty="0">
              <a:solidFill>
                <a:srgbClr val="000000"/>
              </a:solidFill>
              <a:latin typeface="宋体" panose="02000500000000000000" pitchFamily="2" charset="-122"/>
              <a:cs typeface="宋体" panose="02000500000000000000" pitchFamily="2" charset="-122"/>
            </a:endParaRPr>
          </a:p>
          <a:p>
            <a:pPr>
              <a:lnSpc>
                <a:spcPct val="150000"/>
              </a:lnSpc>
              <a:buChar char="•"/>
            </a:pPr>
            <a:r>
              <a:rPr lang="en-US" altLang="zh-CN" sz="1400" dirty="0">
                <a:solidFill>
                  <a:srgbClr val="000000"/>
                </a:solidFill>
                <a:latin typeface="宋体" panose="02000500000000000000" pitchFamily="2" charset="-122"/>
                <a:cs typeface="宋体" panose="02000500000000000000" pitchFamily="2" charset="-122"/>
              </a:rPr>
              <a:t>ADD</a:t>
            </a:r>
            <a:r>
              <a:rPr lang="zh-CN" altLang="zh-CN" sz="1400" dirty="0">
                <a:solidFill>
                  <a:srgbClr val="000000"/>
                </a:solidFill>
                <a:latin typeface="宋体" panose="02000500000000000000" pitchFamily="2" charset="-122"/>
                <a:cs typeface="宋体" panose="02000500000000000000" pitchFamily="2" charset="-122"/>
              </a:rPr>
              <a:t>写回</a:t>
            </a:r>
            <a:endParaRPr lang="zh-CN" altLang="zh-CN" sz="1400" dirty="0">
              <a:solidFill>
                <a:srgbClr val="000000"/>
              </a:solidFill>
              <a:latin typeface="宋体" panose="02000500000000000000" pitchFamily="2" charset="-122"/>
              <a:cs typeface="宋体" panose="02000500000000000000" pitchFamily="2" charset="-122"/>
            </a:endParaRPr>
          </a:p>
          <a:p>
            <a:pPr>
              <a:lnSpc>
                <a:spcPct val="150000"/>
              </a:lnSpc>
              <a:buChar char="•"/>
            </a:pPr>
            <a:r>
              <a:rPr lang="en-US" altLang="zh-CN" sz="1400" dirty="0">
                <a:solidFill>
                  <a:srgbClr val="000000"/>
                </a:solidFill>
                <a:latin typeface="宋体" panose="02000500000000000000" pitchFamily="2" charset="-122"/>
                <a:cs typeface="宋体" panose="02000500000000000000" pitchFamily="2" charset="-122"/>
              </a:rPr>
              <a:t>DIV</a:t>
            </a:r>
            <a:r>
              <a:rPr lang="zh-CN" altLang="en-US" sz="1400" dirty="0">
                <a:solidFill>
                  <a:srgbClr val="000000"/>
                </a:solidFill>
                <a:latin typeface="宋体" panose="02000500000000000000" pitchFamily="2" charset="-122"/>
                <a:cs typeface="宋体" panose="02000500000000000000" pitchFamily="2" charset="-122"/>
              </a:rPr>
              <a:t>写回</a:t>
            </a:r>
            <a:endParaRPr lang="zh-CN" altLang="en-US" sz="1400" dirty="0">
              <a:solidFill>
                <a:srgbClr val="000000"/>
              </a:solidFill>
              <a:latin typeface="宋体" panose="02000500000000000000" pitchFamily="2" charset="-122"/>
              <a:cs typeface="宋体" panose="02000500000000000000" pitchFamily="2" charset="-122"/>
            </a:endParaRPr>
          </a:p>
          <a:p>
            <a:pPr>
              <a:lnSpc>
                <a:spcPct val="150000"/>
              </a:lnSpc>
              <a:buChar char="•"/>
            </a:pPr>
            <a:r>
              <a:rPr lang="en-US" altLang="zh-CN" sz="1400" dirty="0">
                <a:solidFill>
                  <a:schemeClr val="tx1"/>
                </a:solidFill>
                <a:latin typeface="宋体" panose="02000500000000000000" pitchFamily="2" charset="-122"/>
                <a:cs typeface="宋体" panose="02000500000000000000" pitchFamily="2" charset="-122"/>
              </a:rPr>
              <a:t>DIV </a:t>
            </a:r>
            <a:r>
              <a:rPr lang="zh-CN" altLang="en-US" sz="1400" dirty="0">
                <a:solidFill>
                  <a:schemeClr val="tx1"/>
                </a:solidFill>
                <a:latin typeface="宋体" panose="02000500000000000000" pitchFamily="2" charset="-122"/>
                <a:cs typeface="宋体" panose="02000500000000000000" pitchFamily="2" charset="-122"/>
              </a:rPr>
              <a:t>提交（写回寄存器）</a:t>
            </a:r>
            <a:r>
              <a:rPr lang="en-US" altLang="zh-CN" sz="1400" dirty="0">
                <a:solidFill>
                  <a:schemeClr val="tx1"/>
                </a:solidFill>
                <a:latin typeface="宋体" panose="02000500000000000000" pitchFamily="2" charset="-122"/>
                <a:cs typeface="宋体" panose="02000500000000000000" pitchFamily="2" charset="-122"/>
              </a:rPr>
              <a:t>, MUL2</a:t>
            </a:r>
            <a:r>
              <a:rPr lang="zh-CN" altLang="en-US" sz="1400" dirty="0">
                <a:solidFill>
                  <a:schemeClr val="tx1"/>
                </a:solidFill>
                <a:latin typeface="宋体" panose="02000500000000000000" pitchFamily="2" charset="-122"/>
                <a:cs typeface="宋体" panose="02000500000000000000" pitchFamily="2" charset="-122"/>
              </a:rPr>
              <a:t>写回</a:t>
            </a:r>
            <a:endParaRPr lang="zh-CN" altLang="en-US" sz="1400" dirty="0">
              <a:solidFill>
                <a:schemeClr val="tx1"/>
              </a:solidFill>
              <a:latin typeface="宋体" panose="02000500000000000000" pitchFamily="2" charset="-122"/>
              <a:cs typeface="宋体" panose="02000500000000000000" pitchFamily="2" charset="-122"/>
            </a:endParaRPr>
          </a:p>
          <a:p>
            <a:pPr>
              <a:lnSpc>
                <a:spcPct val="150000"/>
              </a:lnSpc>
              <a:buChar char="•"/>
            </a:pPr>
            <a:r>
              <a:rPr lang="en-US" altLang="zh-CN" sz="1400" dirty="0">
                <a:solidFill>
                  <a:srgbClr val="FF0000"/>
                </a:solidFill>
                <a:latin typeface="宋体" panose="02000500000000000000" pitchFamily="2" charset="-122"/>
                <a:cs typeface="宋体" panose="02000500000000000000" pitchFamily="2" charset="-122"/>
                <a:sym typeface="+mn-ea"/>
              </a:rPr>
              <a:t>MUL1</a:t>
            </a:r>
            <a:r>
              <a:rPr lang="zh-CN" altLang="en-US" sz="1400" dirty="0">
                <a:solidFill>
                  <a:srgbClr val="FF0000"/>
                </a:solidFill>
                <a:latin typeface="宋体" panose="02000500000000000000" pitchFamily="2" charset="-122"/>
                <a:cs typeface="宋体" panose="02000500000000000000" pitchFamily="2" charset="-122"/>
                <a:sym typeface="+mn-ea"/>
              </a:rPr>
              <a:t>写回</a:t>
            </a:r>
            <a:endParaRPr lang="zh-CN" altLang="en-US" sz="1400" dirty="0">
              <a:solidFill>
                <a:srgbClr val="FF0000"/>
              </a:solidFill>
              <a:latin typeface="宋体" panose="02000500000000000000" pitchFamily="2" charset="-122"/>
              <a:cs typeface="宋体" panose="02000500000000000000" pitchFamily="2" charset="-122"/>
            </a:endParaRPr>
          </a:p>
          <a:p>
            <a:pPr>
              <a:buChar char="•"/>
            </a:pPr>
            <a:endParaRPr lang="zh-CN" altLang="en-US" sz="1400" dirty="0">
              <a:solidFill>
                <a:srgbClr val="FF0000"/>
              </a:solidFill>
              <a:latin typeface="宋体" panose="02000500000000000000" pitchFamily="2" charset="-122"/>
              <a:cs typeface="宋体" panose="02000500000000000000" pitchFamily="2"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51" name="Line 52"/>
          <p:cNvSpPr/>
          <p:nvPr/>
        </p:nvSpPr>
        <p:spPr>
          <a:xfrm flipV="1">
            <a:off x="7390765" y="2116455"/>
            <a:ext cx="0" cy="335280"/>
          </a:xfrm>
          <a:prstGeom prst="line">
            <a:avLst/>
          </a:prstGeom>
          <a:ln w="9525" cap="flat" cmpd="sng">
            <a:solidFill>
              <a:schemeClr val="tx1"/>
            </a:solidFill>
            <a:prstDash val="solid"/>
            <a:round/>
            <a:headEnd type="none" w="med" len="med"/>
            <a:tailEnd type="triangle" w="med" len="med"/>
          </a:ln>
        </p:spPr>
      </p:sp>
      <p:sp>
        <p:nvSpPr>
          <p:cNvPr id="31752" name="Line 53"/>
          <p:cNvSpPr/>
          <p:nvPr/>
        </p:nvSpPr>
        <p:spPr>
          <a:xfrm flipV="1">
            <a:off x="8270875" y="2116455"/>
            <a:ext cx="0" cy="335280"/>
          </a:xfrm>
          <a:prstGeom prst="line">
            <a:avLst/>
          </a:prstGeom>
          <a:ln w="9525" cap="flat" cmpd="sng">
            <a:solidFill>
              <a:schemeClr val="tx1"/>
            </a:solidFill>
            <a:prstDash val="solid"/>
            <a:round/>
            <a:headEnd type="none" w="med" len="med"/>
            <a:tailEnd type="triangle" w="med" len="med"/>
          </a:ln>
        </p:spPr>
      </p:sp>
      <p:sp>
        <p:nvSpPr>
          <p:cNvPr id="31753" name="Line 54"/>
          <p:cNvSpPr/>
          <p:nvPr/>
        </p:nvSpPr>
        <p:spPr>
          <a:xfrm flipV="1">
            <a:off x="10353675" y="2103755"/>
            <a:ext cx="0" cy="335280"/>
          </a:xfrm>
          <a:prstGeom prst="line">
            <a:avLst/>
          </a:prstGeom>
          <a:ln w="9525" cap="flat" cmpd="sng">
            <a:solidFill>
              <a:schemeClr val="tx1"/>
            </a:solidFill>
            <a:prstDash val="solid"/>
            <a:round/>
            <a:headEnd type="none" w="med" len="med"/>
            <a:tailEnd type="triangle" w="med" len="med"/>
          </a:ln>
        </p:spPr>
      </p:sp>
      <p:sp>
        <p:nvSpPr>
          <p:cNvPr id="31754" name="Line 55"/>
          <p:cNvSpPr/>
          <p:nvPr/>
        </p:nvSpPr>
        <p:spPr>
          <a:xfrm flipV="1">
            <a:off x="11301730" y="2091055"/>
            <a:ext cx="0" cy="335280"/>
          </a:xfrm>
          <a:prstGeom prst="line">
            <a:avLst/>
          </a:prstGeom>
          <a:ln w="9525" cap="flat" cmpd="sng">
            <a:solidFill>
              <a:schemeClr val="tx1"/>
            </a:solidFill>
            <a:prstDash val="solid"/>
            <a:round/>
            <a:headEnd type="none" w="med" len="med"/>
            <a:tailEnd type="triangle" w="med" len="med"/>
          </a:ln>
        </p:spPr>
      </p:sp>
      <p:sp>
        <p:nvSpPr>
          <p:cNvPr id="31755" name="Line 56"/>
          <p:cNvSpPr/>
          <p:nvPr/>
        </p:nvSpPr>
        <p:spPr>
          <a:xfrm flipV="1">
            <a:off x="8137525" y="4694555"/>
            <a:ext cx="0" cy="617855"/>
          </a:xfrm>
          <a:prstGeom prst="line">
            <a:avLst/>
          </a:prstGeom>
          <a:ln w="19050" cap="flat" cmpd="sng">
            <a:solidFill>
              <a:schemeClr val="tx1"/>
            </a:solidFill>
            <a:prstDash val="solid"/>
            <a:round/>
            <a:headEnd type="none" w="med" len="med"/>
            <a:tailEnd type="triangle" w="med" len="med"/>
          </a:ln>
        </p:spPr>
      </p:sp>
      <p:sp>
        <p:nvSpPr>
          <p:cNvPr id="31756" name="Line 57"/>
          <p:cNvSpPr/>
          <p:nvPr/>
        </p:nvSpPr>
        <p:spPr>
          <a:xfrm flipV="1">
            <a:off x="7794625" y="3044825"/>
            <a:ext cx="0" cy="247650"/>
          </a:xfrm>
          <a:prstGeom prst="line">
            <a:avLst/>
          </a:prstGeom>
          <a:ln w="19050" cap="flat" cmpd="sng">
            <a:solidFill>
              <a:schemeClr val="tx1"/>
            </a:solidFill>
            <a:prstDash val="solid"/>
            <a:round/>
            <a:headEnd type="none" w="med" len="med"/>
            <a:tailEnd type="triangle" w="med" len="med"/>
          </a:ln>
        </p:spPr>
      </p:sp>
      <p:sp>
        <p:nvSpPr>
          <p:cNvPr id="31757" name="Line 58"/>
          <p:cNvSpPr/>
          <p:nvPr/>
        </p:nvSpPr>
        <p:spPr>
          <a:xfrm flipV="1">
            <a:off x="10788015" y="3037205"/>
            <a:ext cx="0" cy="260350"/>
          </a:xfrm>
          <a:prstGeom prst="line">
            <a:avLst/>
          </a:prstGeom>
          <a:ln w="19050" cap="flat" cmpd="sng">
            <a:solidFill>
              <a:schemeClr val="tx1"/>
            </a:solidFill>
            <a:prstDash val="solid"/>
            <a:round/>
            <a:headEnd type="none" w="med" len="med"/>
            <a:tailEnd type="triangle" w="med" len="med"/>
          </a:ln>
        </p:spPr>
      </p:sp>
      <p:sp>
        <p:nvSpPr>
          <p:cNvPr id="31758" name="Line 59"/>
          <p:cNvSpPr/>
          <p:nvPr/>
        </p:nvSpPr>
        <p:spPr>
          <a:xfrm flipV="1">
            <a:off x="10813415" y="1449705"/>
            <a:ext cx="0" cy="370205"/>
          </a:xfrm>
          <a:prstGeom prst="line">
            <a:avLst/>
          </a:prstGeom>
          <a:ln w="19050" cap="flat" cmpd="sng">
            <a:solidFill>
              <a:srgbClr val="FF0000"/>
            </a:solidFill>
            <a:prstDash val="solid"/>
            <a:round/>
            <a:headEnd type="none" w="med" len="med"/>
            <a:tailEnd type="triangle" w="med" len="med"/>
          </a:ln>
        </p:spPr>
      </p:sp>
      <p:sp>
        <p:nvSpPr>
          <p:cNvPr id="31759" name="Line 60"/>
          <p:cNvSpPr/>
          <p:nvPr/>
        </p:nvSpPr>
        <p:spPr>
          <a:xfrm flipV="1">
            <a:off x="7881620" y="1466850"/>
            <a:ext cx="0" cy="370205"/>
          </a:xfrm>
          <a:prstGeom prst="line">
            <a:avLst/>
          </a:prstGeom>
          <a:ln w="19050" cap="flat" cmpd="sng">
            <a:solidFill>
              <a:schemeClr val="tx1"/>
            </a:solidFill>
            <a:prstDash val="solid"/>
            <a:round/>
            <a:headEnd type="none" w="med" len="med"/>
            <a:tailEnd type="triangle" w="med" len="med"/>
          </a:ln>
        </p:spPr>
      </p:sp>
      <p:sp>
        <p:nvSpPr>
          <p:cNvPr id="31760" name="Line 61"/>
          <p:cNvSpPr/>
          <p:nvPr/>
        </p:nvSpPr>
        <p:spPr>
          <a:xfrm>
            <a:off x="5155565" y="1460500"/>
            <a:ext cx="7009765" cy="0"/>
          </a:xfrm>
          <a:prstGeom prst="line">
            <a:avLst/>
          </a:prstGeom>
          <a:ln w="19050" cap="flat" cmpd="sng">
            <a:solidFill>
              <a:srgbClr val="FF0000"/>
            </a:solidFill>
            <a:prstDash val="solid"/>
            <a:round/>
            <a:headEnd type="none" w="med" len="med"/>
            <a:tailEnd type="none" w="med" len="med"/>
          </a:ln>
        </p:spPr>
      </p:sp>
      <p:sp>
        <p:nvSpPr>
          <p:cNvPr id="31761" name="Line 62"/>
          <p:cNvSpPr/>
          <p:nvPr/>
        </p:nvSpPr>
        <p:spPr>
          <a:xfrm flipH="1" flipV="1">
            <a:off x="7160895" y="3035300"/>
            <a:ext cx="635" cy="389255"/>
          </a:xfrm>
          <a:prstGeom prst="line">
            <a:avLst/>
          </a:prstGeom>
          <a:ln w="19050" cap="flat" cmpd="sng">
            <a:solidFill>
              <a:srgbClr val="FF0000"/>
            </a:solidFill>
            <a:prstDash val="solid"/>
            <a:round/>
            <a:headEnd type="none" w="med" len="med"/>
            <a:tailEnd type="triangle" w="med" len="med"/>
          </a:ln>
        </p:spPr>
      </p:sp>
      <p:sp>
        <p:nvSpPr>
          <p:cNvPr id="31762" name="Line 63"/>
          <p:cNvSpPr/>
          <p:nvPr/>
        </p:nvSpPr>
        <p:spPr>
          <a:xfrm flipV="1">
            <a:off x="11272520" y="3027680"/>
            <a:ext cx="635" cy="410845"/>
          </a:xfrm>
          <a:prstGeom prst="line">
            <a:avLst/>
          </a:prstGeom>
          <a:ln w="19050" cap="flat" cmpd="sng">
            <a:solidFill>
              <a:srgbClr val="FF0000"/>
            </a:solidFill>
            <a:prstDash val="solid"/>
            <a:round/>
            <a:headEnd type="none" w="med" len="med"/>
            <a:tailEnd type="triangle" w="med" len="med"/>
          </a:ln>
        </p:spPr>
      </p:sp>
      <p:sp>
        <p:nvSpPr>
          <p:cNvPr id="31763" name="Line 64"/>
          <p:cNvSpPr/>
          <p:nvPr/>
        </p:nvSpPr>
        <p:spPr>
          <a:xfrm>
            <a:off x="12150725" y="1463040"/>
            <a:ext cx="635" cy="3496945"/>
          </a:xfrm>
          <a:prstGeom prst="line">
            <a:avLst/>
          </a:prstGeom>
          <a:ln w="19050" cap="flat" cmpd="sng">
            <a:solidFill>
              <a:srgbClr val="FF0000"/>
            </a:solidFill>
            <a:prstDash val="solid"/>
            <a:round/>
            <a:headEnd type="none" w="med" len="med"/>
            <a:tailEnd type="none" w="med" len="med"/>
          </a:ln>
        </p:spPr>
      </p:sp>
      <p:sp>
        <p:nvSpPr>
          <p:cNvPr id="31764" name="Line 65"/>
          <p:cNvSpPr/>
          <p:nvPr/>
        </p:nvSpPr>
        <p:spPr>
          <a:xfrm flipV="1">
            <a:off x="8114665" y="3270250"/>
            <a:ext cx="0" cy="581025"/>
          </a:xfrm>
          <a:prstGeom prst="line">
            <a:avLst/>
          </a:prstGeom>
          <a:ln w="19050" cap="flat" cmpd="sng">
            <a:solidFill>
              <a:schemeClr val="tx1"/>
            </a:solidFill>
            <a:prstDash val="solid"/>
            <a:round/>
            <a:headEnd type="none" w="med" len="med"/>
            <a:tailEnd type="triangle" w="med" len="med"/>
          </a:ln>
        </p:spPr>
      </p:sp>
      <p:sp>
        <p:nvSpPr>
          <p:cNvPr id="31765" name="Text Box 66"/>
          <p:cNvSpPr txBox="1"/>
          <p:nvPr/>
        </p:nvSpPr>
        <p:spPr>
          <a:xfrm>
            <a:off x="6283960" y="2246630"/>
            <a:ext cx="1039495" cy="18415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加法保留站</a:t>
            </a:r>
            <a:endParaRPr lang="zh-CN" altLang="en-US" sz="1200" b="1" dirty="0">
              <a:latin typeface="Times New Roman" pitchFamily="18" charset="0"/>
              <a:ea typeface="宋体" panose="02000500000000000000" pitchFamily="2" charset="-122"/>
            </a:endParaRPr>
          </a:p>
        </p:txBody>
      </p:sp>
      <p:sp>
        <p:nvSpPr>
          <p:cNvPr id="31766" name="Text Box 67"/>
          <p:cNvSpPr txBox="1"/>
          <p:nvPr/>
        </p:nvSpPr>
        <p:spPr>
          <a:xfrm>
            <a:off x="6925310" y="3675380"/>
            <a:ext cx="1090295" cy="184150"/>
          </a:xfrm>
          <a:prstGeom prst="rect">
            <a:avLst/>
          </a:prstGeom>
          <a:noFill/>
          <a:ln w="9525">
            <a:noFill/>
          </a:ln>
          <a:extLst>
            <a:ext uri="{909E8E84-426E-40DD-AFC4-6F175D3DCCD1}">
              <a14:hiddenFill xmlns:a14="http://schemas.microsoft.com/office/drawing/2010/main">
                <a:solidFill>
                  <a:schemeClr val="bg1"/>
                </a:solidFill>
              </a14:hiddenFill>
            </a:ext>
          </a:extLst>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浮点寄存器</a:t>
            </a:r>
            <a:endParaRPr lang="zh-CN" altLang="en-US" sz="1200" b="1" dirty="0">
              <a:latin typeface="Times New Roman" pitchFamily="18" charset="0"/>
              <a:ea typeface="宋体" panose="02000500000000000000" pitchFamily="2" charset="-122"/>
            </a:endParaRPr>
          </a:p>
        </p:txBody>
      </p:sp>
      <p:sp>
        <p:nvSpPr>
          <p:cNvPr id="31767" name="Text Box 68"/>
          <p:cNvSpPr txBox="1"/>
          <p:nvPr/>
        </p:nvSpPr>
        <p:spPr>
          <a:xfrm>
            <a:off x="9289415" y="2235200"/>
            <a:ext cx="1039495" cy="18415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乘法保留站</a:t>
            </a:r>
            <a:endParaRPr lang="zh-CN" altLang="en-US" sz="1200" b="1" dirty="0">
              <a:latin typeface="Times New Roman" pitchFamily="18" charset="0"/>
              <a:ea typeface="宋体" panose="02000500000000000000" pitchFamily="2" charset="-122"/>
            </a:endParaRPr>
          </a:p>
        </p:txBody>
      </p:sp>
      <p:sp>
        <p:nvSpPr>
          <p:cNvPr id="31768" name="Line 69"/>
          <p:cNvSpPr/>
          <p:nvPr/>
        </p:nvSpPr>
        <p:spPr>
          <a:xfrm>
            <a:off x="10807065" y="4959985"/>
            <a:ext cx="1358265" cy="635"/>
          </a:xfrm>
          <a:prstGeom prst="line">
            <a:avLst/>
          </a:prstGeom>
          <a:ln w="19050" cap="flat" cmpd="sng">
            <a:solidFill>
              <a:srgbClr val="FF0000"/>
            </a:solidFill>
            <a:prstDash val="solid"/>
            <a:round/>
            <a:headEnd type="none" w="med" len="med"/>
            <a:tailEnd type="none" w="med" len="med"/>
          </a:ln>
        </p:spPr>
      </p:sp>
      <p:sp>
        <p:nvSpPr>
          <p:cNvPr id="31769" name="Line 70"/>
          <p:cNvSpPr/>
          <p:nvPr/>
        </p:nvSpPr>
        <p:spPr>
          <a:xfrm flipV="1">
            <a:off x="10812145" y="4701540"/>
            <a:ext cx="1905" cy="260350"/>
          </a:xfrm>
          <a:prstGeom prst="line">
            <a:avLst/>
          </a:prstGeom>
          <a:ln w="19050" cap="flat" cmpd="sng">
            <a:solidFill>
              <a:srgbClr val="FF0000"/>
            </a:solidFill>
            <a:prstDash val="solid"/>
            <a:round/>
            <a:headEnd type="none" w="med" len="med"/>
            <a:tailEnd type="triangle" w="med" len="med"/>
          </a:ln>
        </p:spPr>
      </p:sp>
      <p:grpSp>
        <p:nvGrpSpPr>
          <p:cNvPr id="31772" name="Group 73"/>
          <p:cNvGrpSpPr/>
          <p:nvPr/>
        </p:nvGrpSpPr>
        <p:grpSpPr>
          <a:xfrm rot="0">
            <a:off x="4488815" y="1461135"/>
            <a:ext cx="7679055" cy="1970389"/>
            <a:chOff x="1701" y="512"/>
            <a:chExt cx="3628" cy="1241"/>
          </a:xfrm>
        </p:grpSpPr>
        <p:sp>
          <p:nvSpPr>
            <p:cNvPr id="31773" name="Line 74"/>
            <p:cNvSpPr/>
            <p:nvPr/>
          </p:nvSpPr>
          <p:spPr>
            <a:xfrm flipV="1">
              <a:off x="2154" y="1661"/>
              <a:ext cx="2518" cy="0"/>
            </a:xfrm>
            <a:prstGeom prst="line">
              <a:avLst/>
            </a:prstGeom>
            <a:ln w="19050" cap="flat" cmpd="sng">
              <a:solidFill>
                <a:schemeClr val="tx1"/>
              </a:solidFill>
              <a:prstDash val="solid"/>
              <a:round/>
              <a:headEnd type="none" w="med" len="med"/>
              <a:tailEnd type="none" w="med" len="med"/>
            </a:ln>
          </p:spPr>
        </p:sp>
        <p:sp>
          <p:nvSpPr>
            <p:cNvPr id="31774" name="Line 75"/>
            <p:cNvSpPr/>
            <p:nvPr/>
          </p:nvSpPr>
          <p:spPr>
            <a:xfrm flipV="1">
              <a:off x="2010" y="1753"/>
              <a:ext cx="3319" cy="0"/>
            </a:xfrm>
            <a:prstGeom prst="line">
              <a:avLst/>
            </a:prstGeom>
            <a:ln w="19050" cap="flat" cmpd="sng">
              <a:solidFill>
                <a:srgbClr val="FF0000"/>
              </a:solidFill>
              <a:prstDash val="solid"/>
              <a:round/>
              <a:headEnd type="none" w="med" len="med"/>
              <a:tailEnd type="none" w="med" len="med"/>
            </a:ln>
          </p:spPr>
        </p:sp>
        <p:grpSp>
          <p:nvGrpSpPr>
            <p:cNvPr id="31775" name="Group 76"/>
            <p:cNvGrpSpPr/>
            <p:nvPr/>
          </p:nvGrpSpPr>
          <p:grpSpPr>
            <a:xfrm>
              <a:off x="1701" y="512"/>
              <a:ext cx="3494" cy="1239"/>
              <a:chOff x="1701" y="512"/>
              <a:chExt cx="3494" cy="1239"/>
            </a:xfrm>
          </p:grpSpPr>
          <p:grpSp>
            <p:nvGrpSpPr>
              <p:cNvPr id="31776" name="Group 77"/>
              <p:cNvGrpSpPr/>
              <p:nvPr/>
            </p:nvGrpSpPr>
            <p:grpSpPr>
              <a:xfrm>
                <a:off x="2019" y="512"/>
                <a:ext cx="135" cy="1239"/>
                <a:chOff x="2019" y="512"/>
                <a:chExt cx="135" cy="1239"/>
              </a:xfrm>
            </p:grpSpPr>
            <p:sp>
              <p:nvSpPr>
                <p:cNvPr id="31777" name="Line 78"/>
                <p:cNvSpPr/>
                <p:nvPr/>
              </p:nvSpPr>
              <p:spPr>
                <a:xfrm flipV="1">
                  <a:off x="2022" y="512"/>
                  <a:ext cx="0" cy="233"/>
                </a:xfrm>
                <a:prstGeom prst="line">
                  <a:avLst/>
                </a:prstGeom>
                <a:ln w="19050" cap="flat" cmpd="sng">
                  <a:solidFill>
                    <a:schemeClr val="tx1"/>
                  </a:solidFill>
                  <a:prstDash val="solid"/>
                  <a:round/>
                  <a:headEnd type="none" w="med" len="med"/>
                  <a:tailEnd type="triangle" w="med" len="med"/>
                </a:ln>
              </p:spPr>
            </p:sp>
            <p:sp>
              <p:nvSpPr>
                <p:cNvPr id="31778" name="Line 79"/>
                <p:cNvSpPr/>
                <p:nvPr/>
              </p:nvSpPr>
              <p:spPr>
                <a:xfrm flipH="1" flipV="1">
                  <a:off x="2019" y="1502"/>
                  <a:ext cx="3" cy="249"/>
                </a:xfrm>
                <a:prstGeom prst="line">
                  <a:avLst/>
                </a:prstGeom>
                <a:ln w="19050" cap="flat" cmpd="sng">
                  <a:solidFill>
                    <a:srgbClr val="FF0000"/>
                  </a:solidFill>
                  <a:prstDash val="solid"/>
                  <a:round/>
                  <a:headEnd type="none" w="med" len="med"/>
                  <a:tailEnd type="triangle" w="med" len="med"/>
                </a:ln>
              </p:spPr>
            </p:sp>
            <p:sp>
              <p:nvSpPr>
                <p:cNvPr id="31779" name="Line 80"/>
                <p:cNvSpPr/>
                <p:nvPr/>
              </p:nvSpPr>
              <p:spPr>
                <a:xfrm flipV="1">
                  <a:off x="2154" y="1508"/>
                  <a:ext cx="0" cy="156"/>
                </a:xfrm>
                <a:prstGeom prst="line">
                  <a:avLst/>
                </a:prstGeom>
                <a:ln w="19050" cap="flat" cmpd="sng">
                  <a:solidFill>
                    <a:schemeClr val="tx1"/>
                  </a:solidFill>
                  <a:prstDash val="solid"/>
                  <a:round/>
                  <a:headEnd type="none" w="med" len="med"/>
                  <a:tailEnd type="triangle" w="med" len="med"/>
                </a:ln>
              </p:spPr>
            </p:sp>
          </p:grpSp>
          <p:sp>
            <p:nvSpPr>
              <p:cNvPr id="31780" name="Text Box 81"/>
              <p:cNvSpPr txBox="1"/>
              <p:nvPr/>
            </p:nvSpPr>
            <p:spPr>
              <a:xfrm>
                <a:off x="2777" y="750"/>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浮点加</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减法器</a:t>
                </a:r>
                <a:endParaRPr lang="zh-CN" altLang="en-US" sz="1200" b="1" dirty="0">
                  <a:latin typeface="Times New Roman" pitchFamily="18" charset="0"/>
                  <a:ea typeface="宋体" panose="02000500000000000000" pitchFamily="2" charset="-122"/>
                </a:endParaRPr>
              </a:p>
            </p:txBody>
          </p:sp>
          <p:sp>
            <p:nvSpPr>
              <p:cNvPr id="31781" name="Text Box 82"/>
              <p:cNvSpPr txBox="1"/>
              <p:nvPr/>
            </p:nvSpPr>
            <p:spPr>
              <a:xfrm>
                <a:off x="4181" y="737"/>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浮点乘</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除法器</a:t>
                </a:r>
                <a:endParaRPr lang="zh-CN" altLang="en-US" sz="1200" b="1" dirty="0">
                  <a:latin typeface="Times New Roman" pitchFamily="18" charset="0"/>
                  <a:ea typeface="宋体" panose="02000500000000000000" pitchFamily="2" charset="-122"/>
                </a:endParaRPr>
              </a:p>
            </p:txBody>
          </p:sp>
          <p:sp>
            <p:nvSpPr>
              <p:cNvPr id="31782" name="Text Box 83"/>
              <p:cNvSpPr txBox="1"/>
              <p:nvPr/>
            </p:nvSpPr>
            <p:spPr>
              <a:xfrm>
                <a:off x="1701" y="731"/>
                <a:ext cx="664" cy="771"/>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p>
                <a:pPr algn="ctr">
                  <a:spcBef>
                    <a:spcPct val="50000"/>
                  </a:spcBef>
                </a:pPr>
                <a:endParaRPr lang="en-US" altLang="zh-CN" sz="1200"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定点</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访存</a:t>
                </a:r>
                <a:endParaRPr lang="zh-CN" altLang="en-US" sz="1200" b="1"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部件</a:t>
                </a:r>
                <a:endParaRPr lang="zh-CN" altLang="en-US" sz="1200" b="1" dirty="0">
                  <a:latin typeface="Times New Roman" pitchFamily="18" charset="0"/>
                  <a:ea typeface="宋体" panose="02000500000000000000" pitchFamily="2" charset="-122"/>
                </a:endParaRPr>
              </a:p>
              <a:p>
                <a:pPr algn="ctr">
                  <a:spcBef>
                    <a:spcPct val="50000"/>
                  </a:spcBef>
                </a:pPr>
                <a:endParaRPr lang="en-US" altLang="zh-CN" sz="1200" b="1" dirty="0">
                  <a:latin typeface="Times New Roman" pitchFamily="18" charset="0"/>
                  <a:ea typeface="宋体" panose="02000500000000000000" pitchFamily="2" charset="-122"/>
                </a:endParaRPr>
              </a:p>
            </p:txBody>
          </p:sp>
        </p:grpSp>
      </p:grpSp>
      <p:sp>
        <p:nvSpPr>
          <p:cNvPr id="31783" name="Text Box 84"/>
          <p:cNvSpPr txBox="1"/>
          <p:nvPr/>
        </p:nvSpPr>
        <p:spPr>
          <a:xfrm>
            <a:off x="6979920" y="5045075"/>
            <a:ext cx="1030605" cy="184150"/>
          </a:xfrm>
          <a:prstGeom prst="rect">
            <a:avLst/>
          </a:prstGeom>
          <a:solidFill>
            <a:schemeClr val="bg1"/>
          </a:solid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指令队列</a:t>
            </a:r>
            <a:endParaRPr lang="zh-CN" altLang="en-US" sz="1200" b="1" dirty="0">
              <a:latin typeface="Times New Roman" pitchFamily="18" charset="0"/>
              <a:ea typeface="宋体" panose="02000500000000000000" pitchFamily="2" charset="-122"/>
            </a:endParaRPr>
          </a:p>
        </p:txBody>
      </p:sp>
      <p:graphicFrame>
        <p:nvGraphicFramePr>
          <p:cNvPr id="3" name="表格 2"/>
          <p:cNvGraphicFramePr/>
          <p:nvPr/>
        </p:nvGraphicFramePr>
        <p:xfrm>
          <a:off x="6799580" y="3837940"/>
          <a:ext cx="2342515" cy="863600"/>
        </p:xfrm>
        <a:graphic>
          <a:graphicData uri="http://schemas.openxmlformats.org/drawingml/2006/table">
            <a:tbl>
              <a:tblPr firstRow="1" bandRow="1">
                <a:tableStyleId>{5C22544A-7EE6-4342-B048-85BDC9FD1C3A}</a:tableStyleId>
              </a:tblPr>
              <a:tblGrid>
                <a:gridCol w="365125"/>
                <a:gridCol w="450850"/>
                <a:gridCol w="1526540"/>
              </a:tblGrid>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0.5</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4</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1.0</a:t>
                      </a:r>
                      <a:endParaRPr lang="en-US" altLang="zh-CN" sz="1200" b="1">
                        <a:solidFill>
                          <a:srgbClr val="FF0000"/>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4" name="表格 3"/>
          <p:cNvGraphicFramePr/>
          <p:nvPr/>
        </p:nvGraphicFramePr>
        <p:xfrm>
          <a:off x="7167880" y="5311775"/>
          <a:ext cx="1930400" cy="1280160"/>
        </p:xfrm>
        <a:graphic>
          <a:graphicData uri="http://schemas.openxmlformats.org/drawingml/2006/table">
            <a:tbl>
              <a:tblPr firstRow="1" bandRow="1">
                <a:tableStyleId>{5C22544A-7EE6-4342-B048-85BDC9FD1C3A}</a:tableStyleId>
              </a:tblPr>
              <a:tblGrid>
                <a:gridCol w="1930400"/>
              </a:tblGrid>
              <a:tr h="213360">
                <a:tc>
                  <a:txBody>
                    <a:bodyPr/>
                    <a:p>
                      <a:pPr indent="0">
                        <a:buNone/>
                      </a:pPr>
                      <a:r>
                        <a:rPr lang="en-US" sz="1200" b="1">
                          <a:solidFill>
                            <a:schemeClr val="tx1"/>
                          </a:solidFill>
                          <a:latin typeface="宋体" panose="02000500000000000000" pitchFamily="2" charset="-122"/>
                          <a:ea typeface="宋体" panose="02000500000000000000" pitchFamily="2" charset="-122"/>
                        </a:rPr>
                        <a:t>FDIV.D  </a:t>
                      </a:r>
                      <a:r>
                        <a:rPr lang="en-US" sz="1200" b="1">
                          <a:solidFill>
                            <a:srgbClr val="FF0000"/>
                          </a:solidFill>
                          <a:latin typeface="宋体" panose="02000500000000000000" pitchFamily="2" charset="-122"/>
                          <a:ea typeface="宋体" panose="02000500000000000000" pitchFamily="2" charset="-122"/>
                        </a:rPr>
                        <a:t>F0</a:t>
                      </a:r>
                      <a:r>
                        <a:rPr lang="en-US" sz="1200" b="1">
                          <a:solidFill>
                            <a:schemeClr val="tx1"/>
                          </a:solidFill>
                          <a:latin typeface="宋体" panose="02000500000000000000" pitchFamily="2" charset="-122"/>
                          <a:ea typeface="宋体" panose="02000500000000000000" pitchFamily="2" charset="-122"/>
                        </a:rPr>
                        <a:t>, F1, F2</a:t>
                      </a:r>
                      <a:endParaRPr lang="en-US" altLang="en-US" sz="1200" b="1">
                        <a:solidFill>
                          <a:schemeClr val="tx1"/>
                        </a:solidFill>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FADD.D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F1,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5" name="表格 4"/>
          <p:cNvGraphicFramePr/>
          <p:nvPr/>
        </p:nvGraphicFramePr>
        <p:xfrm>
          <a:off x="9544050" y="243586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7" name="表格 6"/>
          <p:cNvGraphicFramePr/>
          <p:nvPr/>
        </p:nvGraphicFramePr>
        <p:xfrm>
          <a:off x="6577330" y="245618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9" name="表格 8"/>
          <p:cNvGraphicFramePr/>
          <p:nvPr/>
        </p:nvGraphicFramePr>
        <p:xfrm>
          <a:off x="9486900" y="3822700"/>
          <a:ext cx="2342515" cy="863600"/>
        </p:xfrm>
        <a:graphic>
          <a:graphicData uri="http://schemas.openxmlformats.org/drawingml/2006/table">
            <a:tbl>
              <a:tblPr firstRow="1" bandRow="1">
                <a:tableStyleId>{5C22544A-7EE6-4342-B048-85BDC9FD1C3A}</a:tableStyleId>
              </a:tblPr>
              <a:tblGrid>
                <a:gridCol w="221065"/>
                <a:gridCol w="382270"/>
                <a:gridCol w="387901"/>
                <a:gridCol w="1351279"/>
              </a:tblGrid>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4</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fmul</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f3</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6.0</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fadd</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f0</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3.0</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sp>
        <p:nvSpPr>
          <p:cNvPr id="47115" name="Line 15"/>
          <p:cNvSpPr/>
          <p:nvPr/>
        </p:nvSpPr>
        <p:spPr>
          <a:xfrm flipH="1" flipV="1">
            <a:off x="11068050" y="3610610"/>
            <a:ext cx="9525" cy="215900"/>
          </a:xfrm>
          <a:prstGeom prst="line">
            <a:avLst/>
          </a:prstGeom>
          <a:ln w="19050" cap="flat" cmpd="sng">
            <a:solidFill>
              <a:schemeClr val="accent2"/>
            </a:solidFill>
            <a:prstDash val="solid"/>
            <a:round/>
            <a:headEnd type="none" w="med" len="med"/>
            <a:tailEnd type="none" w="med" len="med"/>
          </a:ln>
        </p:spPr>
      </p:sp>
      <p:sp>
        <p:nvSpPr>
          <p:cNvPr id="47131" name="Line 36"/>
          <p:cNvSpPr/>
          <p:nvPr/>
        </p:nvSpPr>
        <p:spPr>
          <a:xfrm flipV="1">
            <a:off x="4904105" y="4940935"/>
            <a:ext cx="2991485" cy="13970"/>
          </a:xfrm>
          <a:prstGeom prst="line">
            <a:avLst/>
          </a:prstGeom>
          <a:ln w="19050" cap="flat" cmpd="sng">
            <a:solidFill>
              <a:schemeClr val="accent2"/>
            </a:solidFill>
            <a:prstDash val="solid"/>
            <a:round/>
            <a:headEnd type="none" w="med" len="med"/>
            <a:tailEnd type="none" w="med" len="med"/>
          </a:ln>
        </p:spPr>
      </p:sp>
      <p:sp>
        <p:nvSpPr>
          <p:cNvPr id="47133" name="Text Box 43"/>
          <p:cNvSpPr txBox="1"/>
          <p:nvPr/>
        </p:nvSpPr>
        <p:spPr>
          <a:xfrm>
            <a:off x="5375910" y="4712335"/>
            <a:ext cx="1089025" cy="184150"/>
          </a:xfrm>
          <a:prstGeom prst="rect">
            <a:avLst/>
          </a:prstGeom>
          <a:noFill/>
          <a:ln w="9525">
            <a:noFill/>
          </a:ln>
          <a:extLst>
            <a:ext uri="{909E8E84-426E-40DD-AFC4-6F175D3DCCD1}">
              <a14:hiddenFill xmlns:a14="http://schemas.microsoft.com/office/drawing/2010/main">
                <a:solidFill>
                  <a:schemeClr val="bg1"/>
                </a:solidFill>
              </a14:hiddenFill>
            </a:ext>
          </a:extLst>
        </p:spPr>
        <p:txBody>
          <a:bodyPr lIns="0" tIns="0" rIns="0" bIns="0" anchor="t" anchorCtr="0">
            <a:spAutoFit/>
          </a:bodyPr>
          <a:p>
            <a:pPr>
              <a:spcBef>
                <a:spcPct val="50000"/>
              </a:spcBef>
            </a:pPr>
            <a:r>
              <a:rPr lang="zh-CN" altLang="en-US" sz="1200" b="1" dirty="0">
                <a:solidFill>
                  <a:schemeClr val="accent2"/>
                </a:solidFill>
                <a:latin typeface="Times New Roman" pitchFamily="18" charset="0"/>
                <a:ea typeface="宋体" panose="02000500000000000000" pitchFamily="2" charset="-122"/>
              </a:rPr>
              <a:t>修改寄存器</a:t>
            </a:r>
            <a:endParaRPr lang="zh-CN" altLang="en-US" sz="1200" b="1" dirty="0">
              <a:solidFill>
                <a:schemeClr val="accent2"/>
              </a:solidFill>
              <a:latin typeface="Times New Roman" pitchFamily="18" charset="0"/>
              <a:ea typeface="宋体" panose="02000500000000000000" pitchFamily="2" charset="-122"/>
            </a:endParaRPr>
          </a:p>
        </p:txBody>
      </p:sp>
      <p:sp>
        <p:nvSpPr>
          <p:cNvPr id="47143" name="Line 37"/>
          <p:cNvSpPr/>
          <p:nvPr/>
        </p:nvSpPr>
        <p:spPr>
          <a:xfrm flipH="1" flipV="1">
            <a:off x="7879715" y="4688205"/>
            <a:ext cx="8255" cy="252095"/>
          </a:xfrm>
          <a:prstGeom prst="line">
            <a:avLst/>
          </a:prstGeom>
          <a:ln w="19050" cap="flat" cmpd="sng">
            <a:solidFill>
              <a:schemeClr val="accent2"/>
            </a:solidFill>
            <a:prstDash val="solid"/>
            <a:round/>
            <a:headEnd type="none" w="med" len="med"/>
            <a:tailEnd type="triangle" w="med" len="med"/>
          </a:ln>
        </p:spPr>
      </p:sp>
      <p:sp>
        <p:nvSpPr>
          <p:cNvPr id="47144" name="Line 38"/>
          <p:cNvSpPr/>
          <p:nvPr/>
        </p:nvSpPr>
        <p:spPr>
          <a:xfrm>
            <a:off x="4868545" y="3616325"/>
            <a:ext cx="6222365" cy="13970"/>
          </a:xfrm>
          <a:prstGeom prst="line">
            <a:avLst/>
          </a:prstGeom>
          <a:ln w="19050" cap="flat" cmpd="sng">
            <a:solidFill>
              <a:schemeClr val="accent2"/>
            </a:solidFill>
            <a:prstDash val="solid"/>
            <a:round/>
            <a:headEnd type="none" w="med" len="med"/>
            <a:tailEnd type="none" w="med" len="med"/>
          </a:ln>
        </p:spPr>
      </p:sp>
      <p:sp>
        <p:nvSpPr>
          <p:cNvPr id="47146" name="Line 41"/>
          <p:cNvSpPr/>
          <p:nvPr/>
        </p:nvSpPr>
        <p:spPr>
          <a:xfrm flipH="1" flipV="1">
            <a:off x="4877435" y="3028315"/>
            <a:ext cx="14605" cy="1934210"/>
          </a:xfrm>
          <a:prstGeom prst="line">
            <a:avLst/>
          </a:prstGeom>
          <a:ln w="19050" cap="flat" cmpd="sng">
            <a:solidFill>
              <a:schemeClr val="accent2"/>
            </a:solidFill>
            <a:prstDash val="solid"/>
            <a:round/>
            <a:headEnd type="none" w="med" len="med"/>
            <a:tailEnd type="triangle" w="med" len="med"/>
          </a:ln>
        </p:spPr>
      </p:sp>
      <p:sp>
        <p:nvSpPr>
          <p:cNvPr id="46082" name="Rectangle 3"/>
          <p:cNvSpPr/>
          <p:nvPr/>
        </p:nvSpPr>
        <p:spPr>
          <a:xfrm>
            <a:off x="912813" y="420688"/>
            <a:ext cx="10361612" cy="523875"/>
          </a:xfrm>
          <a:prstGeom prst="rect">
            <a:avLst/>
          </a:prstGeom>
          <a:noFill/>
          <a:ln w="9525">
            <a:noFill/>
          </a:ln>
        </p:spPr>
        <p:txBody>
          <a:bodyPr anchor="ctr" anchorCtr="0"/>
          <a:p>
            <a:pPr algn="ctr"/>
            <a:r>
              <a:rPr lang="zh-CN" sz="3200" dirty="0">
                <a:solidFill>
                  <a:srgbClr val="FF0000"/>
                </a:solidFill>
                <a:latin typeface="Arial" panose="02080604020202020204" pitchFamily="34" charset="0"/>
                <a:ea typeface="黑体" panose="02000500000000000000" pitchFamily="49" charset="-122"/>
              </a:rPr>
              <a:t>例子</a:t>
            </a:r>
            <a:endParaRPr lang="zh-CN" sz="3200" dirty="0">
              <a:solidFill>
                <a:srgbClr val="FF0000"/>
              </a:solidFill>
              <a:latin typeface="Arial" panose="02080604020202020204" pitchFamily="34" charset="0"/>
              <a:ea typeface="黑体" panose="02000500000000000000" pitchFamily="49" charset="-122"/>
            </a:endParaRPr>
          </a:p>
        </p:txBody>
      </p:sp>
      <p:sp>
        <p:nvSpPr>
          <p:cNvPr id="50195" name="Text Box 44"/>
          <p:cNvSpPr txBox="1"/>
          <p:nvPr/>
        </p:nvSpPr>
        <p:spPr>
          <a:xfrm>
            <a:off x="8543925" y="1234440"/>
            <a:ext cx="1527175" cy="184150"/>
          </a:xfrm>
          <a:prstGeom prst="rect">
            <a:avLst/>
          </a:prstGeom>
          <a:solidFill>
            <a:schemeClr val="bg1"/>
          </a:solidFill>
          <a:ln w="9525">
            <a:noFill/>
          </a:ln>
        </p:spPr>
        <p:txBody>
          <a:bodyPr wrap="square" lIns="0" tIns="0" rIns="0" bIns="0" anchor="t" anchorCtr="0">
            <a:spAutoFit/>
          </a:bodyPr>
          <a:p>
            <a:pPr>
              <a:spcBef>
                <a:spcPct val="50000"/>
              </a:spcBef>
            </a:pPr>
            <a:r>
              <a:rPr lang="zh-CN" altLang="en-US" sz="1200" b="1" dirty="0">
                <a:solidFill>
                  <a:srgbClr val="FF0000"/>
                </a:solidFill>
                <a:latin typeface="宋体" panose="02000500000000000000" pitchFamily="2" charset="-122"/>
                <a:cs typeface="宋体" panose="02000500000000000000" pitchFamily="2" charset="-122"/>
              </a:rPr>
              <a:t>结果总线</a:t>
            </a:r>
            <a:endParaRPr lang="en-US" altLang="zh-CN" sz="1200" b="1" dirty="0">
              <a:solidFill>
                <a:srgbClr val="FF0000"/>
              </a:solidFill>
              <a:latin typeface="宋体" panose="02000500000000000000" pitchFamily="2" charset="-122"/>
              <a:cs typeface="宋体" panose="02000500000000000000" pitchFamily="2" charset="-122"/>
            </a:endParaRPr>
          </a:p>
        </p:txBody>
      </p:sp>
      <p:sp>
        <p:nvSpPr>
          <p:cNvPr id="56322" name="Text Box 3"/>
          <p:cNvSpPr txBox="1"/>
          <p:nvPr/>
        </p:nvSpPr>
        <p:spPr>
          <a:xfrm>
            <a:off x="187325" y="2743200"/>
            <a:ext cx="4187825" cy="3215005"/>
          </a:xfrm>
          <a:prstGeom prst="rect">
            <a:avLst/>
          </a:prstGeom>
          <a:noFill/>
          <a:ln w="9525">
            <a:noFill/>
          </a:ln>
        </p:spPr>
        <p:txBody>
          <a:bodyPr anchor="t" anchorCtr="0">
            <a:spAutoFit/>
          </a:bodyPr>
          <a:p>
            <a:pPr>
              <a:lnSpc>
                <a:spcPct val="150000"/>
              </a:lnSpc>
              <a:buChar char="•"/>
            </a:pPr>
            <a:r>
              <a:rPr lang="en-US" altLang="zh-CN" sz="1400" dirty="0">
                <a:solidFill>
                  <a:srgbClr val="000000"/>
                </a:solidFill>
                <a:latin typeface="宋体" panose="02000500000000000000" pitchFamily="2" charset="-122"/>
                <a:cs typeface="宋体" panose="02000500000000000000" pitchFamily="2" charset="-122"/>
              </a:rPr>
              <a:t>DIV</a:t>
            </a:r>
            <a:r>
              <a:rPr lang="zh-CN" altLang="zh-CN" sz="1400" dirty="0">
                <a:solidFill>
                  <a:srgbClr val="000000"/>
                </a:solidFill>
                <a:latin typeface="宋体" panose="02000500000000000000" pitchFamily="2" charset="-122"/>
                <a:cs typeface="宋体" panose="02000500000000000000" pitchFamily="2" charset="-122"/>
              </a:rPr>
              <a:t>发射，</a:t>
            </a:r>
            <a:r>
              <a:rPr lang="en-US" altLang="zh-CN" sz="1400" dirty="0">
                <a:solidFill>
                  <a:srgbClr val="000000"/>
                </a:solidFill>
                <a:latin typeface="宋体" panose="02000500000000000000" pitchFamily="2" charset="-122"/>
                <a:cs typeface="宋体" panose="02000500000000000000" pitchFamily="2" charset="-122"/>
              </a:rPr>
              <a:t>F1, F2</a:t>
            </a:r>
            <a:r>
              <a:rPr lang="zh-CN" altLang="zh-CN" sz="1400" dirty="0">
                <a:solidFill>
                  <a:srgbClr val="000000"/>
                </a:solidFill>
                <a:latin typeface="宋体" panose="02000500000000000000" pitchFamily="2" charset="-122"/>
                <a:cs typeface="宋体" panose="02000500000000000000" pitchFamily="2" charset="-122"/>
              </a:rPr>
              <a:t>都准备好</a:t>
            </a:r>
            <a:endParaRPr lang="zh-CN" altLang="zh-CN" sz="1400" dirty="0">
              <a:solidFill>
                <a:srgbClr val="000000"/>
              </a:solidFill>
              <a:latin typeface="宋体" panose="02000500000000000000" pitchFamily="2" charset="-122"/>
              <a:cs typeface="宋体" panose="02000500000000000000" pitchFamily="2" charset="-122"/>
            </a:endParaRPr>
          </a:p>
          <a:p>
            <a:pPr>
              <a:lnSpc>
                <a:spcPct val="150000"/>
              </a:lnSpc>
              <a:buChar char="•"/>
            </a:pPr>
            <a:r>
              <a:rPr lang="en-US" altLang="zh-CN" sz="1400" dirty="0">
                <a:latin typeface="宋体" panose="02000500000000000000" pitchFamily="2" charset="-122"/>
                <a:cs typeface="宋体" panose="02000500000000000000" pitchFamily="2" charset="-122"/>
              </a:rPr>
              <a:t>MUL1</a:t>
            </a:r>
            <a:r>
              <a:rPr lang="zh-CN" altLang="zh-CN" sz="1400" dirty="0">
                <a:latin typeface="宋体" panose="02000500000000000000" pitchFamily="2" charset="-122"/>
                <a:cs typeface="宋体" panose="02000500000000000000" pitchFamily="2" charset="-122"/>
              </a:rPr>
              <a:t>发射，</a:t>
            </a:r>
            <a:r>
              <a:rPr lang="en-US" altLang="zh-CN" sz="1400" dirty="0">
                <a:latin typeface="宋体" panose="02000500000000000000" pitchFamily="2" charset="-122"/>
                <a:cs typeface="宋体" panose="02000500000000000000" pitchFamily="2" charset="-122"/>
              </a:rPr>
              <a:t>F0</a:t>
            </a:r>
            <a:r>
              <a:rPr lang="zh-CN" altLang="zh-CN" sz="1400" dirty="0">
                <a:latin typeface="宋体" panose="02000500000000000000" pitchFamily="2" charset="-122"/>
                <a:cs typeface="宋体" panose="02000500000000000000" pitchFamily="2" charset="-122"/>
              </a:rPr>
              <a:t>等待1号</a:t>
            </a:r>
            <a:r>
              <a:rPr lang="en-US" altLang="zh-CN" sz="1400" dirty="0">
                <a:latin typeface="宋体" panose="02000500000000000000" pitchFamily="2" charset="-122"/>
                <a:cs typeface="宋体" panose="02000500000000000000" pitchFamily="2" charset="-122"/>
              </a:rPr>
              <a:t>RB</a:t>
            </a:r>
            <a:r>
              <a:rPr lang="zh-CN" altLang="zh-CN" sz="1400" dirty="0">
                <a:latin typeface="宋体" panose="02000500000000000000" pitchFamily="2" charset="-122"/>
                <a:cs typeface="宋体" panose="02000500000000000000" pitchFamily="2" charset="-122"/>
              </a:rPr>
              <a:t>的结果</a:t>
            </a:r>
            <a:endParaRPr lang="zh-CN" altLang="zh-CN" sz="1400" dirty="0">
              <a:latin typeface="宋体" panose="02000500000000000000" pitchFamily="2" charset="-122"/>
              <a:cs typeface="宋体" panose="02000500000000000000" pitchFamily="2" charset="-122"/>
            </a:endParaRPr>
          </a:p>
          <a:p>
            <a:pPr>
              <a:lnSpc>
                <a:spcPct val="150000"/>
              </a:lnSpc>
              <a:buChar char="•"/>
            </a:pPr>
            <a:r>
              <a:rPr lang="en-US" altLang="zh-CN" sz="1400" dirty="0">
                <a:solidFill>
                  <a:srgbClr val="000000"/>
                </a:solidFill>
                <a:latin typeface="宋体" panose="02000500000000000000" pitchFamily="2" charset="-122"/>
                <a:cs typeface="宋体" panose="02000500000000000000" pitchFamily="2" charset="-122"/>
              </a:rPr>
              <a:t>ADD</a:t>
            </a:r>
            <a:r>
              <a:rPr lang="zh-CN" altLang="zh-CN" sz="1400" dirty="0">
                <a:solidFill>
                  <a:srgbClr val="000000"/>
                </a:solidFill>
                <a:latin typeface="宋体" panose="02000500000000000000" pitchFamily="2" charset="-122"/>
                <a:cs typeface="宋体" panose="02000500000000000000" pitchFamily="2" charset="-122"/>
              </a:rPr>
              <a:t>发射，</a:t>
            </a:r>
            <a:r>
              <a:rPr lang="en-US" altLang="zh-CN" sz="1400" dirty="0">
                <a:solidFill>
                  <a:srgbClr val="000000"/>
                </a:solidFill>
                <a:latin typeface="宋体" panose="02000500000000000000" pitchFamily="2" charset="-122"/>
                <a:cs typeface="宋体" panose="02000500000000000000" pitchFamily="2" charset="-122"/>
              </a:rPr>
              <a:t>F1, F2</a:t>
            </a:r>
            <a:r>
              <a:rPr lang="zh-CN" altLang="zh-CN" sz="1400" dirty="0">
                <a:solidFill>
                  <a:srgbClr val="000000"/>
                </a:solidFill>
                <a:latin typeface="宋体" panose="02000500000000000000" pitchFamily="2" charset="-122"/>
                <a:cs typeface="宋体" panose="02000500000000000000" pitchFamily="2" charset="-122"/>
              </a:rPr>
              <a:t>都准备好</a:t>
            </a:r>
            <a:endParaRPr lang="zh-CN" altLang="zh-CN" sz="1400" dirty="0">
              <a:solidFill>
                <a:srgbClr val="000000"/>
              </a:solidFill>
              <a:latin typeface="宋体" panose="02000500000000000000" pitchFamily="2" charset="-122"/>
              <a:cs typeface="宋体" panose="02000500000000000000" pitchFamily="2" charset="-122"/>
            </a:endParaRPr>
          </a:p>
          <a:p>
            <a:pPr>
              <a:lnSpc>
                <a:spcPct val="150000"/>
              </a:lnSpc>
              <a:buChar char="•"/>
            </a:pPr>
            <a:r>
              <a:rPr lang="en-US" altLang="zh-CN" sz="1400" dirty="0">
                <a:solidFill>
                  <a:srgbClr val="000000"/>
                </a:solidFill>
                <a:latin typeface="宋体" panose="02000500000000000000" pitchFamily="2" charset="-122"/>
                <a:cs typeface="宋体" panose="02000500000000000000" pitchFamily="2" charset="-122"/>
              </a:rPr>
              <a:t>MUL2</a:t>
            </a:r>
            <a:r>
              <a:rPr lang="zh-CN" altLang="zh-CN" sz="1400" dirty="0">
                <a:solidFill>
                  <a:srgbClr val="000000"/>
                </a:solidFill>
                <a:latin typeface="宋体" panose="02000500000000000000" pitchFamily="2" charset="-122"/>
                <a:cs typeface="宋体" panose="02000500000000000000" pitchFamily="2" charset="-122"/>
              </a:rPr>
              <a:t>发射, </a:t>
            </a:r>
            <a:r>
              <a:rPr lang="en-US" altLang="zh-CN" sz="1400" dirty="0">
                <a:solidFill>
                  <a:srgbClr val="000000"/>
                </a:solidFill>
                <a:latin typeface="宋体" panose="02000500000000000000" pitchFamily="2" charset="-122"/>
                <a:cs typeface="宋体" panose="02000500000000000000" pitchFamily="2" charset="-122"/>
              </a:rPr>
              <a:t>F0</a:t>
            </a:r>
            <a:r>
              <a:rPr lang="zh-CN" altLang="zh-CN" sz="1400" dirty="0">
                <a:solidFill>
                  <a:srgbClr val="000000"/>
                </a:solidFill>
                <a:latin typeface="宋体" panose="02000500000000000000" pitchFamily="2" charset="-122"/>
                <a:cs typeface="宋体" panose="02000500000000000000" pitchFamily="2" charset="-122"/>
              </a:rPr>
              <a:t>等待3号</a:t>
            </a:r>
            <a:r>
              <a:rPr lang="en-US" altLang="zh-CN" sz="1400" dirty="0">
                <a:solidFill>
                  <a:srgbClr val="000000"/>
                </a:solidFill>
                <a:latin typeface="宋体" panose="02000500000000000000" pitchFamily="2" charset="-122"/>
                <a:cs typeface="宋体" panose="02000500000000000000" pitchFamily="2" charset="-122"/>
              </a:rPr>
              <a:t>RB</a:t>
            </a:r>
            <a:r>
              <a:rPr lang="zh-CN" altLang="zh-CN" sz="1400" dirty="0">
                <a:solidFill>
                  <a:srgbClr val="000000"/>
                </a:solidFill>
                <a:latin typeface="宋体" panose="02000500000000000000" pitchFamily="2" charset="-122"/>
                <a:cs typeface="宋体" panose="02000500000000000000" pitchFamily="2" charset="-122"/>
              </a:rPr>
              <a:t>的结果</a:t>
            </a:r>
            <a:endParaRPr lang="zh-CN" altLang="zh-CN" sz="1400" dirty="0">
              <a:solidFill>
                <a:srgbClr val="000000"/>
              </a:solidFill>
              <a:latin typeface="宋体" panose="02000500000000000000" pitchFamily="2" charset="-122"/>
              <a:cs typeface="宋体" panose="02000500000000000000" pitchFamily="2" charset="-122"/>
            </a:endParaRPr>
          </a:p>
          <a:p>
            <a:pPr>
              <a:lnSpc>
                <a:spcPct val="150000"/>
              </a:lnSpc>
              <a:buChar char="•"/>
            </a:pPr>
            <a:r>
              <a:rPr lang="en-US" altLang="zh-CN" sz="1400" dirty="0">
                <a:solidFill>
                  <a:srgbClr val="000000"/>
                </a:solidFill>
                <a:latin typeface="宋体" panose="02000500000000000000" pitchFamily="2" charset="-122"/>
                <a:cs typeface="宋体" panose="02000500000000000000" pitchFamily="2" charset="-122"/>
              </a:rPr>
              <a:t>ADD</a:t>
            </a:r>
            <a:r>
              <a:rPr lang="zh-CN" altLang="zh-CN" sz="1400" dirty="0">
                <a:solidFill>
                  <a:srgbClr val="000000"/>
                </a:solidFill>
                <a:latin typeface="宋体" panose="02000500000000000000" pitchFamily="2" charset="-122"/>
                <a:cs typeface="宋体" panose="02000500000000000000" pitchFamily="2" charset="-122"/>
              </a:rPr>
              <a:t>写回</a:t>
            </a:r>
            <a:endParaRPr lang="zh-CN" altLang="zh-CN" sz="1400" dirty="0">
              <a:solidFill>
                <a:srgbClr val="000000"/>
              </a:solidFill>
              <a:latin typeface="宋体" panose="02000500000000000000" pitchFamily="2" charset="-122"/>
              <a:cs typeface="宋体" panose="02000500000000000000" pitchFamily="2" charset="-122"/>
            </a:endParaRPr>
          </a:p>
          <a:p>
            <a:pPr>
              <a:lnSpc>
                <a:spcPct val="150000"/>
              </a:lnSpc>
              <a:buChar char="•"/>
            </a:pPr>
            <a:r>
              <a:rPr lang="en-US" altLang="zh-CN" sz="1400" dirty="0">
                <a:solidFill>
                  <a:srgbClr val="000000"/>
                </a:solidFill>
                <a:latin typeface="宋体" panose="02000500000000000000" pitchFamily="2" charset="-122"/>
                <a:cs typeface="宋体" panose="02000500000000000000" pitchFamily="2" charset="-122"/>
              </a:rPr>
              <a:t>DIV</a:t>
            </a:r>
            <a:r>
              <a:rPr lang="zh-CN" altLang="en-US" sz="1400" dirty="0">
                <a:solidFill>
                  <a:srgbClr val="000000"/>
                </a:solidFill>
                <a:latin typeface="宋体" panose="02000500000000000000" pitchFamily="2" charset="-122"/>
                <a:cs typeface="宋体" panose="02000500000000000000" pitchFamily="2" charset="-122"/>
              </a:rPr>
              <a:t>写回</a:t>
            </a:r>
            <a:endParaRPr lang="zh-CN" altLang="en-US" sz="1400" dirty="0">
              <a:solidFill>
                <a:srgbClr val="000000"/>
              </a:solidFill>
              <a:latin typeface="宋体" panose="02000500000000000000" pitchFamily="2" charset="-122"/>
              <a:cs typeface="宋体" panose="02000500000000000000" pitchFamily="2" charset="-122"/>
            </a:endParaRPr>
          </a:p>
          <a:p>
            <a:pPr>
              <a:lnSpc>
                <a:spcPct val="150000"/>
              </a:lnSpc>
              <a:buChar char="•"/>
            </a:pPr>
            <a:r>
              <a:rPr lang="en-US" altLang="zh-CN" sz="1400" dirty="0">
                <a:solidFill>
                  <a:schemeClr val="tx1"/>
                </a:solidFill>
                <a:latin typeface="宋体" panose="02000500000000000000" pitchFamily="2" charset="-122"/>
                <a:cs typeface="宋体" panose="02000500000000000000" pitchFamily="2" charset="-122"/>
              </a:rPr>
              <a:t>DIV </a:t>
            </a:r>
            <a:r>
              <a:rPr lang="zh-CN" altLang="en-US" sz="1400" dirty="0">
                <a:solidFill>
                  <a:schemeClr val="tx1"/>
                </a:solidFill>
                <a:latin typeface="宋体" panose="02000500000000000000" pitchFamily="2" charset="-122"/>
                <a:cs typeface="宋体" panose="02000500000000000000" pitchFamily="2" charset="-122"/>
              </a:rPr>
              <a:t>提交（写回寄存器）</a:t>
            </a:r>
            <a:r>
              <a:rPr lang="en-US" altLang="zh-CN" sz="1400" dirty="0">
                <a:solidFill>
                  <a:schemeClr val="tx1"/>
                </a:solidFill>
                <a:latin typeface="宋体" panose="02000500000000000000" pitchFamily="2" charset="-122"/>
                <a:cs typeface="宋体" panose="02000500000000000000" pitchFamily="2" charset="-122"/>
              </a:rPr>
              <a:t>, MUL2</a:t>
            </a:r>
            <a:r>
              <a:rPr lang="zh-CN" altLang="en-US" sz="1400" dirty="0">
                <a:solidFill>
                  <a:schemeClr val="tx1"/>
                </a:solidFill>
                <a:latin typeface="宋体" panose="02000500000000000000" pitchFamily="2" charset="-122"/>
                <a:cs typeface="宋体" panose="02000500000000000000" pitchFamily="2" charset="-122"/>
              </a:rPr>
              <a:t>写回</a:t>
            </a:r>
            <a:endParaRPr lang="zh-CN" altLang="en-US" sz="1400" dirty="0">
              <a:solidFill>
                <a:schemeClr val="tx1"/>
              </a:solidFill>
              <a:latin typeface="宋体" panose="02000500000000000000" pitchFamily="2" charset="-122"/>
              <a:cs typeface="宋体" panose="02000500000000000000" pitchFamily="2" charset="-122"/>
            </a:endParaRPr>
          </a:p>
          <a:p>
            <a:pPr>
              <a:lnSpc>
                <a:spcPct val="150000"/>
              </a:lnSpc>
              <a:buChar char="•"/>
            </a:pPr>
            <a:r>
              <a:rPr lang="en-US" altLang="zh-CN" sz="1400" dirty="0">
                <a:solidFill>
                  <a:schemeClr val="tx1"/>
                </a:solidFill>
                <a:latin typeface="宋体" panose="02000500000000000000" pitchFamily="2" charset="-122"/>
                <a:cs typeface="宋体" panose="02000500000000000000" pitchFamily="2" charset="-122"/>
                <a:sym typeface="+mn-ea"/>
              </a:rPr>
              <a:t>MUL1</a:t>
            </a:r>
            <a:r>
              <a:rPr lang="zh-CN" altLang="en-US" sz="1400" dirty="0">
                <a:solidFill>
                  <a:schemeClr val="tx1"/>
                </a:solidFill>
                <a:latin typeface="宋体" panose="02000500000000000000" pitchFamily="2" charset="-122"/>
                <a:cs typeface="宋体" panose="02000500000000000000" pitchFamily="2" charset="-122"/>
                <a:sym typeface="+mn-ea"/>
              </a:rPr>
              <a:t>写回</a:t>
            </a:r>
            <a:endParaRPr lang="zh-CN" altLang="en-US" sz="1400" dirty="0">
              <a:solidFill>
                <a:schemeClr val="tx1"/>
              </a:solidFill>
              <a:latin typeface="宋体" panose="02000500000000000000" pitchFamily="2" charset="-122"/>
              <a:cs typeface="宋体" panose="02000500000000000000" pitchFamily="2" charset="-122"/>
              <a:sym typeface="+mn-ea"/>
            </a:endParaRPr>
          </a:p>
          <a:p>
            <a:pPr>
              <a:lnSpc>
                <a:spcPct val="150000"/>
              </a:lnSpc>
              <a:buChar char="•"/>
            </a:pPr>
            <a:r>
              <a:rPr lang="en-US" altLang="zh-CN" sz="1400" dirty="0">
                <a:solidFill>
                  <a:srgbClr val="FF0000"/>
                </a:solidFill>
                <a:latin typeface="宋体" panose="02000500000000000000" pitchFamily="2" charset="-122"/>
                <a:cs typeface="宋体" panose="02000500000000000000" pitchFamily="2" charset="-122"/>
                <a:sym typeface="+mn-ea"/>
              </a:rPr>
              <a:t>MUL1</a:t>
            </a:r>
            <a:r>
              <a:rPr lang="zh-CN" altLang="en-US" sz="1400" dirty="0">
                <a:solidFill>
                  <a:srgbClr val="FF0000"/>
                </a:solidFill>
                <a:latin typeface="宋体" panose="02000500000000000000" pitchFamily="2" charset="-122"/>
                <a:cs typeface="宋体" panose="02000500000000000000" pitchFamily="2" charset="-122"/>
                <a:sym typeface="+mn-ea"/>
              </a:rPr>
              <a:t>提交</a:t>
            </a:r>
            <a:endParaRPr lang="zh-CN" altLang="en-US" sz="1400" dirty="0">
              <a:solidFill>
                <a:srgbClr val="FF0000"/>
              </a:solidFill>
              <a:latin typeface="宋体" panose="02000500000000000000" pitchFamily="2" charset="-122"/>
              <a:cs typeface="宋体" panose="02000500000000000000" pitchFamily="2" charset="-122"/>
            </a:endParaRPr>
          </a:p>
          <a:p>
            <a:pPr>
              <a:buChar char="•"/>
            </a:pPr>
            <a:endParaRPr lang="zh-CN" altLang="en-US" sz="1400" dirty="0">
              <a:solidFill>
                <a:srgbClr val="FF0000"/>
              </a:solidFill>
              <a:latin typeface="宋体" panose="02000500000000000000" pitchFamily="2" charset="-122"/>
              <a:cs typeface="宋体" panose="02000500000000000000" pitchFamily="2"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51" name="Line 52"/>
          <p:cNvSpPr/>
          <p:nvPr/>
        </p:nvSpPr>
        <p:spPr>
          <a:xfrm flipV="1">
            <a:off x="7390765" y="2116455"/>
            <a:ext cx="0" cy="335280"/>
          </a:xfrm>
          <a:prstGeom prst="line">
            <a:avLst/>
          </a:prstGeom>
          <a:ln w="9525" cap="flat" cmpd="sng">
            <a:solidFill>
              <a:schemeClr val="tx1"/>
            </a:solidFill>
            <a:prstDash val="solid"/>
            <a:round/>
            <a:headEnd type="none" w="med" len="med"/>
            <a:tailEnd type="triangle" w="med" len="med"/>
          </a:ln>
        </p:spPr>
      </p:sp>
      <p:sp>
        <p:nvSpPr>
          <p:cNvPr id="31752" name="Line 53"/>
          <p:cNvSpPr/>
          <p:nvPr/>
        </p:nvSpPr>
        <p:spPr>
          <a:xfrm flipV="1">
            <a:off x="8270875" y="2116455"/>
            <a:ext cx="0" cy="335280"/>
          </a:xfrm>
          <a:prstGeom prst="line">
            <a:avLst/>
          </a:prstGeom>
          <a:ln w="9525" cap="flat" cmpd="sng">
            <a:solidFill>
              <a:schemeClr val="tx1"/>
            </a:solidFill>
            <a:prstDash val="solid"/>
            <a:round/>
            <a:headEnd type="none" w="med" len="med"/>
            <a:tailEnd type="triangle" w="med" len="med"/>
          </a:ln>
        </p:spPr>
      </p:sp>
      <p:sp>
        <p:nvSpPr>
          <p:cNvPr id="31753" name="Line 54"/>
          <p:cNvSpPr/>
          <p:nvPr/>
        </p:nvSpPr>
        <p:spPr>
          <a:xfrm flipV="1">
            <a:off x="10353675" y="2103755"/>
            <a:ext cx="0" cy="335280"/>
          </a:xfrm>
          <a:prstGeom prst="line">
            <a:avLst/>
          </a:prstGeom>
          <a:ln w="9525" cap="flat" cmpd="sng">
            <a:solidFill>
              <a:schemeClr val="tx1"/>
            </a:solidFill>
            <a:prstDash val="solid"/>
            <a:round/>
            <a:headEnd type="none" w="med" len="med"/>
            <a:tailEnd type="triangle" w="med" len="med"/>
          </a:ln>
        </p:spPr>
      </p:sp>
      <p:sp>
        <p:nvSpPr>
          <p:cNvPr id="31754" name="Line 55"/>
          <p:cNvSpPr/>
          <p:nvPr/>
        </p:nvSpPr>
        <p:spPr>
          <a:xfrm flipV="1">
            <a:off x="11301730" y="2091055"/>
            <a:ext cx="0" cy="335280"/>
          </a:xfrm>
          <a:prstGeom prst="line">
            <a:avLst/>
          </a:prstGeom>
          <a:ln w="9525" cap="flat" cmpd="sng">
            <a:solidFill>
              <a:schemeClr val="tx1"/>
            </a:solidFill>
            <a:prstDash val="solid"/>
            <a:round/>
            <a:headEnd type="none" w="med" len="med"/>
            <a:tailEnd type="triangle" w="med" len="med"/>
          </a:ln>
        </p:spPr>
      </p:sp>
      <p:sp>
        <p:nvSpPr>
          <p:cNvPr id="31755" name="Line 56"/>
          <p:cNvSpPr/>
          <p:nvPr/>
        </p:nvSpPr>
        <p:spPr>
          <a:xfrm flipV="1">
            <a:off x="8137525" y="4694555"/>
            <a:ext cx="0" cy="617855"/>
          </a:xfrm>
          <a:prstGeom prst="line">
            <a:avLst/>
          </a:prstGeom>
          <a:ln w="19050" cap="flat" cmpd="sng">
            <a:solidFill>
              <a:schemeClr val="tx1"/>
            </a:solidFill>
            <a:prstDash val="solid"/>
            <a:round/>
            <a:headEnd type="none" w="med" len="med"/>
            <a:tailEnd type="triangle" w="med" len="med"/>
          </a:ln>
        </p:spPr>
      </p:sp>
      <p:sp>
        <p:nvSpPr>
          <p:cNvPr id="31756" name="Line 57"/>
          <p:cNvSpPr/>
          <p:nvPr/>
        </p:nvSpPr>
        <p:spPr>
          <a:xfrm flipV="1">
            <a:off x="7794625" y="3044825"/>
            <a:ext cx="0" cy="247650"/>
          </a:xfrm>
          <a:prstGeom prst="line">
            <a:avLst/>
          </a:prstGeom>
          <a:ln w="19050" cap="flat" cmpd="sng">
            <a:solidFill>
              <a:schemeClr val="tx1"/>
            </a:solidFill>
            <a:prstDash val="solid"/>
            <a:round/>
            <a:headEnd type="none" w="med" len="med"/>
            <a:tailEnd type="triangle" w="med" len="med"/>
          </a:ln>
        </p:spPr>
      </p:sp>
      <p:sp>
        <p:nvSpPr>
          <p:cNvPr id="31757" name="Line 58"/>
          <p:cNvSpPr/>
          <p:nvPr/>
        </p:nvSpPr>
        <p:spPr>
          <a:xfrm flipV="1">
            <a:off x="10788015" y="3037205"/>
            <a:ext cx="0" cy="260350"/>
          </a:xfrm>
          <a:prstGeom prst="line">
            <a:avLst/>
          </a:prstGeom>
          <a:ln w="19050" cap="flat" cmpd="sng">
            <a:solidFill>
              <a:schemeClr val="tx1"/>
            </a:solidFill>
            <a:prstDash val="solid"/>
            <a:round/>
            <a:headEnd type="none" w="med" len="med"/>
            <a:tailEnd type="triangle" w="med" len="med"/>
          </a:ln>
        </p:spPr>
      </p:sp>
      <p:sp>
        <p:nvSpPr>
          <p:cNvPr id="31758" name="Line 59"/>
          <p:cNvSpPr/>
          <p:nvPr/>
        </p:nvSpPr>
        <p:spPr>
          <a:xfrm flipV="1">
            <a:off x="10813415" y="1449705"/>
            <a:ext cx="0" cy="370205"/>
          </a:xfrm>
          <a:prstGeom prst="line">
            <a:avLst/>
          </a:prstGeom>
          <a:ln w="19050" cap="flat" cmpd="sng">
            <a:solidFill>
              <a:srgbClr val="FF0000"/>
            </a:solidFill>
            <a:prstDash val="solid"/>
            <a:round/>
            <a:headEnd type="none" w="med" len="med"/>
            <a:tailEnd type="triangle" w="med" len="med"/>
          </a:ln>
        </p:spPr>
      </p:sp>
      <p:sp>
        <p:nvSpPr>
          <p:cNvPr id="31759" name="Line 60"/>
          <p:cNvSpPr/>
          <p:nvPr/>
        </p:nvSpPr>
        <p:spPr>
          <a:xfrm flipV="1">
            <a:off x="7881620" y="1466850"/>
            <a:ext cx="0" cy="370205"/>
          </a:xfrm>
          <a:prstGeom prst="line">
            <a:avLst/>
          </a:prstGeom>
          <a:ln w="19050" cap="flat" cmpd="sng">
            <a:solidFill>
              <a:schemeClr val="tx1"/>
            </a:solidFill>
            <a:prstDash val="solid"/>
            <a:round/>
            <a:headEnd type="none" w="med" len="med"/>
            <a:tailEnd type="triangle" w="med" len="med"/>
          </a:ln>
        </p:spPr>
      </p:sp>
      <p:sp>
        <p:nvSpPr>
          <p:cNvPr id="31760" name="Line 61"/>
          <p:cNvSpPr/>
          <p:nvPr/>
        </p:nvSpPr>
        <p:spPr>
          <a:xfrm>
            <a:off x="5155565" y="1460500"/>
            <a:ext cx="7009765" cy="0"/>
          </a:xfrm>
          <a:prstGeom prst="line">
            <a:avLst/>
          </a:prstGeom>
          <a:ln w="19050" cap="flat" cmpd="sng">
            <a:solidFill>
              <a:srgbClr val="FF0000"/>
            </a:solidFill>
            <a:prstDash val="solid"/>
            <a:round/>
            <a:headEnd type="none" w="med" len="med"/>
            <a:tailEnd type="none" w="med" len="med"/>
          </a:ln>
        </p:spPr>
      </p:sp>
      <p:sp>
        <p:nvSpPr>
          <p:cNvPr id="31761" name="Line 62"/>
          <p:cNvSpPr/>
          <p:nvPr/>
        </p:nvSpPr>
        <p:spPr>
          <a:xfrm flipH="1" flipV="1">
            <a:off x="7160895" y="3035300"/>
            <a:ext cx="635" cy="389255"/>
          </a:xfrm>
          <a:prstGeom prst="line">
            <a:avLst/>
          </a:prstGeom>
          <a:ln w="19050" cap="flat" cmpd="sng">
            <a:solidFill>
              <a:srgbClr val="FF0000"/>
            </a:solidFill>
            <a:prstDash val="solid"/>
            <a:round/>
            <a:headEnd type="none" w="med" len="med"/>
            <a:tailEnd type="triangle" w="med" len="med"/>
          </a:ln>
        </p:spPr>
      </p:sp>
      <p:sp>
        <p:nvSpPr>
          <p:cNvPr id="31762" name="Line 63"/>
          <p:cNvSpPr/>
          <p:nvPr/>
        </p:nvSpPr>
        <p:spPr>
          <a:xfrm flipV="1">
            <a:off x="11272520" y="3027680"/>
            <a:ext cx="635" cy="410845"/>
          </a:xfrm>
          <a:prstGeom prst="line">
            <a:avLst/>
          </a:prstGeom>
          <a:ln w="19050" cap="flat" cmpd="sng">
            <a:solidFill>
              <a:srgbClr val="FF0000"/>
            </a:solidFill>
            <a:prstDash val="solid"/>
            <a:round/>
            <a:headEnd type="none" w="med" len="med"/>
            <a:tailEnd type="triangle" w="med" len="med"/>
          </a:ln>
        </p:spPr>
      </p:sp>
      <p:sp>
        <p:nvSpPr>
          <p:cNvPr id="31763" name="Line 64"/>
          <p:cNvSpPr/>
          <p:nvPr/>
        </p:nvSpPr>
        <p:spPr>
          <a:xfrm>
            <a:off x="12150725" y="1463040"/>
            <a:ext cx="635" cy="3496945"/>
          </a:xfrm>
          <a:prstGeom prst="line">
            <a:avLst/>
          </a:prstGeom>
          <a:ln w="19050" cap="flat" cmpd="sng">
            <a:solidFill>
              <a:srgbClr val="FF0000"/>
            </a:solidFill>
            <a:prstDash val="solid"/>
            <a:round/>
            <a:headEnd type="none" w="med" len="med"/>
            <a:tailEnd type="none" w="med" len="med"/>
          </a:ln>
        </p:spPr>
      </p:sp>
      <p:sp>
        <p:nvSpPr>
          <p:cNvPr id="31764" name="Line 65"/>
          <p:cNvSpPr/>
          <p:nvPr/>
        </p:nvSpPr>
        <p:spPr>
          <a:xfrm flipV="1">
            <a:off x="8114665" y="3270250"/>
            <a:ext cx="0" cy="581025"/>
          </a:xfrm>
          <a:prstGeom prst="line">
            <a:avLst/>
          </a:prstGeom>
          <a:ln w="19050" cap="flat" cmpd="sng">
            <a:solidFill>
              <a:schemeClr val="tx1"/>
            </a:solidFill>
            <a:prstDash val="solid"/>
            <a:round/>
            <a:headEnd type="none" w="med" len="med"/>
            <a:tailEnd type="triangle" w="med" len="med"/>
          </a:ln>
        </p:spPr>
      </p:sp>
      <p:sp>
        <p:nvSpPr>
          <p:cNvPr id="31765" name="Text Box 66"/>
          <p:cNvSpPr txBox="1"/>
          <p:nvPr/>
        </p:nvSpPr>
        <p:spPr>
          <a:xfrm>
            <a:off x="6283960" y="2246630"/>
            <a:ext cx="1039495" cy="18415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加法保留站</a:t>
            </a:r>
            <a:endParaRPr lang="zh-CN" altLang="en-US" sz="1200" b="1" dirty="0">
              <a:latin typeface="Times New Roman" pitchFamily="18" charset="0"/>
              <a:ea typeface="宋体" panose="02000500000000000000" pitchFamily="2" charset="-122"/>
            </a:endParaRPr>
          </a:p>
        </p:txBody>
      </p:sp>
      <p:sp>
        <p:nvSpPr>
          <p:cNvPr id="31766" name="Text Box 67"/>
          <p:cNvSpPr txBox="1"/>
          <p:nvPr/>
        </p:nvSpPr>
        <p:spPr>
          <a:xfrm>
            <a:off x="6925310" y="3675380"/>
            <a:ext cx="1090295" cy="184150"/>
          </a:xfrm>
          <a:prstGeom prst="rect">
            <a:avLst/>
          </a:prstGeom>
          <a:noFill/>
          <a:ln w="9525">
            <a:noFill/>
          </a:ln>
          <a:extLst>
            <a:ext uri="{909E8E84-426E-40DD-AFC4-6F175D3DCCD1}">
              <a14:hiddenFill xmlns:a14="http://schemas.microsoft.com/office/drawing/2010/main">
                <a:solidFill>
                  <a:schemeClr val="bg1"/>
                </a:solidFill>
              </a14:hiddenFill>
            </a:ext>
          </a:extLst>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浮点寄存器</a:t>
            </a:r>
            <a:endParaRPr lang="zh-CN" altLang="en-US" sz="1200" b="1" dirty="0">
              <a:latin typeface="Times New Roman" pitchFamily="18" charset="0"/>
              <a:ea typeface="宋体" panose="02000500000000000000" pitchFamily="2" charset="-122"/>
            </a:endParaRPr>
          </a:p>
        </p:txBody>
      </p:sp>
      <p:sp>
        <p:nvSpPr>
          <p:cNvPr id="31767" name="Text Box 68"/>
          <p:cNvSpPr txBox="1"/>
          <p:nvPr/>
        </p:nvSpPr>
        <p:spPr>
          <a:xfrm>
            <a:off x="9289415" y="2235200"/>
            <a:ext cx="1039495" cy="18415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乘法保留站</a:t>
            </a:r>
            <a:endParaRPr lang="zh-CN" altLang="en-US" sz="1200" b="1" dirty="0">
              <a:latin typeface="Times New Roman" pitchFamily="18" charset="0"/>
              <a:ea typeface="宋体" panose="02000500000000000000" pitchFamily="2" charset="-122"/>
            </a:endParaRPr>
          </a:p>
        </p:txBody>
      </p:sp>
      <p:sp>
        <p:nvSpPr>
          <p:cNvPr id="31768" name="Line 69"/>
          <p:cNvSpPr/>
          <p:nvPr/>
        </p:nvSpPr>
        <p:spPr>
          <a:xfrm>
            <a:off x="10807065" y="4959985"/>
            <a:ext cx="1358265" cy="635"/>
          </a:xfrm>
          <a:prstGeom prst="line">
            <a:avLst/>
          </a:prstGeom>
          <a:ln w="19050" cap="flat" cmpd="sng">
            <a:solidFill>
              <a:srgbClr val="FF0000"/>
            </a:solidFill>
            <a:prstDash val="solid"/>
            <a:round/>
            <a:headEnd type="none" w="med" len="med"/>
            <a:tailEnd type="none" w="med" len="med"/>
          </a:ln>
        </p:spPr>
      </p:sp>
      <p:sp>
        <p:nvSpPr>
          <p:cNvPr id="31769" name="Line 70"/>
          <p:cNvSpPr/>
          <p:nvPr/>
        </p:nvSpPr>
        <p:spPr>
          <a:xfrm flipV="1">
            <a:off x="10812145" y="4701540"/>
            <a:ext cx="1905" cy="260350"/>
          </a:xfrm>
          <a:prstGeom prst="line">
            <a:avLst/>
          </a:prstGeom>
          <a:ln w="19050" cap="flat" cmpd="sng">
            <a:solidFill>
              <a:srgbClr val="FF0000"/>
            </a:solidFill>
            <a:prstDash val="solid"/>
            <a:round/>
            <a:headEnd type="none" w="med" len="med"/>
            <a:tailEnd type="triangle" w="med" len="med"/>
          </a:ln>
        </p:spPr>
      </p:sp>
      <p:grpSp>
        <p:nvGrpSpPr>
          <p:cNvPr id="31772" name="Group 73"/>
          <p:cNvGrpSpPr/>
          <p:nvPr/>
        </p:nvGrpSpPr>
        <p:grpSpPr>
          <a:xfrm rot="0">
            <a:off x="4488815" y="1461135"/>
            <a:ext cx="7679055" cy="1970389"/>
            <a:chOff x="1701" y="512"/>
            <a:chExt cx="3628" cy="1241"/>
          </a:xfrm>
        </p:grpSpPr>
        <p:sp>
          <p:nvSpPr>
            <p:cNvPr id="31773" name="Line 74"/>
            <p:cNvSpPr/>
            <p:nvPr/>
          </p:nvSpPr>
          <p:spPr>
            <a:xfrm flipV="1">
              <a:off x="2154" y="1661"/>
              <a:ext cx="2518" cy="0"/>
            </a:xfrm>
            <a:prstGeom prst="line">
              <a:avLst/>
            </a:prstGeom>
            <a:ln w="19050" cap="flat" cmpd="sng">
              <a:solidFill>
                <a:schemeClr val="tx1"/>
              </a:solidFill>
              <a:prstDash val="solid"/>
              <a:round/>
              <a:headEnd type="none" w="med" len="med"/>
              <a:tailEnd type="none" w="med" len="med"/>
            </a:ln>
          </p:spPr>
        </p:sp>
        <p:sp>
          <p:nvSpPr>
            <p:cNvPr id="31774" name="Line 75"/>
            <p:cNvSpPr/>
            <p:nvPr/>
          </p:nvSpPr>
          <p:spPr>
            <a:xfrm flipV="1">
              <a:off x="2010" y="1753"/>
              <a:ext cx="3319" cy="0"/>
            </a:xfrm>
            <a:prstGeom prst="line">
              <a:avLst/>
            </a:prstGeom>
            <a:ln w="19050" cap="flat" cmpd="sng">
              <a:solidFill>
                <a:srgbClr val="FF0000"/>
              </a:solidFill>
              <a:prstDash val="solid"/>
              <a:round/>
              <a:headEnd type="none" w="med" len="med"/>
              <a:tailEnd type="none" w="med" len="med"/>
            </a:ln>
          </p:spPr>
        </p:sp>
        <p:grpSp>
          <p:nvGrpSpPr>
            <p:cNvPr id="31775" name="Group 76"/>
            <p:cNvGrpSpPr/>
            <p:nvPr/>
          </p:nvGrpSpPr>
          <p:grpSpPr>
            <a:xfrm>
              <a:off x="1701" y="512"/>
              <a:ext cx="3494" cy="1239"/>
              <a:chOff x="1701" y="512"/>
              <a:chExt cx="3494" cy="1239"/>
            </a:xfrm>
          </p:grpSpPr>
          <p:grpSp>
            <p:nvGrpSpPr>
              <p:cNvPr id="31776" name="Group 77"/>
              <p:cNvGrpSpPr/>
              <p:nvPr/>
            </p:nvGrpSpPr>
            <p:grpSpPr>
              <a:xfrm>
                <a:off x="2019" y="512"/>
                <a:ext cx="135" cy="1239"/>
                <a:chOff x="2019" y="512"/>
                <a:chExt cx="135" cy="1239"/>
              </a:xfrm>
            </p:grpSpPr>
            <p:sp>
              <p:nvSpPr>
                <p:cNvPr id="31777" name="Line 78"/>
                <p:cNvSpPr/>
                <p:nvPr/>
              </p:nvSpPr>
              <p:spPr>
                <a:xfrm flipV="1">
                  <a:off x="2022" y="512"/>
                  <a:ext cx="0" cy="233"/>
                </a:xfrm>
                <a:prstGeom prst="line">
                  <a:avLst/>
                </a:prstGeom>
                <a:ln w="19050" cap="flat" cmpd="sng">
                  <a:solidFill>
                    <a:schemeClr val="tx1"/>
                  </a:solidFill>
                  <a:prstDash val="solid"/>
                  <a:round/>
                  <a:headEnd type="none" w="med" len="med"/>
                  <a:tailEnd type="triangle" w="med" len="med"/>
                </a:ln>
              </p:spPr>
            </p:sp>
            <p:sp>
              <p:nvSpPr>
                <p:cNvPr id="31778" name="Line 79"/>
                <p:cNvSpPr/>
                <p:nvPr/>
              </p:nvSpPr>
              <p:spPr>
                <a:xfrm flipH="1" flipV="1">
                  <a:off x="2019" y="1502"/>
                  <a:ext cx="3" cy="249"/>
                </a:xfrm>
                <a:prstGeom prst="line">
                  <a:avLst/>
                </a:prstGeom>
                <a:ln w="19050" cap="flat" cmpd="sng">
                  <a:solidFill>
                    <a:srgbClr val="FF0000"/>
                  </a:solidFill>
                  <a:prstDash val="solid"/>
                  <a:round/>
                  <a:headEnd type="none" w="med" len="med"/>
                  <a:tailEnd type="triangle" w="med" len="med"/>
                </a:ln>
              </p:spPr>
            </p:sp>
            <p:sp>
              <p:nvSpPr>
                <p:cNvPr id="31779" name="Line 80"/>
                <p:cNvSpPr/>
                <p:nvPr/>
              </p:nvSpPr>
              <p:spPr>
                <a:xfrm flipV="1">
                  <a:off x="2154" y="1508"/>
                  <a:ext cx="0" cy="156"/>
                </a:xfrm>
                <a:prstGeom prst="line">
                  <a:avLst/>
                </a:prstGeom>
                <a:ln w="19050" cap="flat" cmpd="sng">
                  <a:solidFill>
                    <a:schemeClr val="tx1"/>
                  </a:solidFill>
                  <a:prstDash val="solid"/>
                  <a:round/>
                  <a:headEnd type="none" w="med" len="med"/>
                  <a:tailEnd type="triangle" w="med" len="med"/>
                </a:ln>
              </p:spPr>
            </p:sp>
          </p:grpSp>
          <p:sp>
            <p:nvSpPr>
              <p:cNvPr id="31780" name="Text Box 81"/>
              <p:cNvSpPr txBox="1"/>
              <p:nvPr/>
            </p:nvSpPr>
            <p:spPr>
              <a:xfrm>
                <a:off x="2777" y="750"/>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浮点加</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减法器</a:t>
                </a:r>
                <a:endParaRPr lang="zh-CN" altLang="en-US" sz="1200" b="1" dirty="0">
                  <a:latin typeface="Times New Roman" pitchFamily="18" charset="0"/>
                  <a:ea typeface="宋体" panose="02000500000000000000" pitchFamily="2" charset="-122"/>
                </a:endParaRPr>
              </a:p>
            </p:txBody>
          </p:sp>
          <p:sp>
            <p:nvSpPr>
              <p:cNvPr id="31781" name="Text Box 82"/>
              <p:cNvSpPr txBox="1"/>
              <p:nvPr/>
            </p:nvSpPr>
            <p:spPr>
              <a:xfrm>
                <a:off x="4181" y="737"/>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浮点乘</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除法器</a:t>
                </a:r>
                <a:endParaRPr lang="zh-CN" altLang="en-US" sz="1200" b="1" dirty="0">
                  <a:latin typeface="Times New Roman" pitchFamily="18" charset="0"/>
                  <a:ea typeface="宋体" panose="02000500000000000000" pitchFamily="2" charset="-122"/>
                </a:endParaRPr>
              </a:p>
            </p:txBody>
          </p:sp>
          <p:sp>
            <p:nvSpPr>
              <p:cNvPr id="31782" name="Text Box 83"/>
              <p:cNvSpPr txBox="1"/>
              <p:nvPr/>
            </p:nvSpPr>
            <p:spPr>
              <a:xfrm>
                <a:off x="1701" y="731"/>
                <a:ext cx="664" cy="771"/>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p>
                <a:pPr algn="ctr">
                  <a:spcBef>
                    <a:spcPct val="50000"/>
                  </a:spcBef>
                </a:pPr>
                <a:endParaRPr lang="en-US" altLang="zh-CN" sz="1200"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定点</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访存</a:t>
                </a:r>
                <a:endParaRPr lang="zh-CN" altLang="en-US" sz="1200" b="1"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部件</a:t>
                </a:r>
                <a:endParaRPr lang="zh-CN" altLang="en-US" sz="1200" b="1" dirty="0">
                  <a:latin typeface="Times New Roman" pitchFamily="18" charset="0"/>
                  <a:ea typeface="宋体" panose="02000500000000000000" pitchFamily="2" charset="-122"/>
                </a:endParaRPr>
              </a:p>
              <a:p>
                <a:pPr algn="ctr">
                  <a:spcBef>
                    <a:spcPct val="50000"/>
                  </a:spcBef>
                </a:pPr>
                <a:endParaRPr lang="en-US" altLang="zh-CN" sz="1200" b="1" dirty="0">
                  <a:latin typeface="Times New Roman" pitchFamily="18" charset="0"/>
                  <a:ea typeface="宋体" panose="02000500000000000000" pitchFamily="2" charset="-122"/>
                </a:endParaRPr>
              </a:p>
            </p:txBody>
          </p:sp>
        </p:grpSp>
      </p:grpSp>
      <p:sp>
        <p:nvSpPr>
          <p:cNvPr id="31783" name="Text Box 84"/>
          <p:cNvSpPr txBox="1"/>
          <p:nvPr/>
        </p:nvSpPr>
        <p:spPr>
          <a:xfrm>
            <a:off x="6979920" y="5045075"/>
            <a:ext cx="1030605" cy="184150"/>
          </a:xfrm>
          <a:prstGeom prst="rect">
            <a:avLst/>
          </a:prstGeom>
          <a:solidFill>
            <a:schemeClr val="bg1"/>
          </a:solid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指令队列</a:t>
            </a:r>
            <a:endParaRPr lang="zh-CN" altLang="en-US" sz="1200" b="1" dirty="0">
              <a:latin typeface="Times New Roman" pitchFamily="18" charset="0"/>
              <a:ea typeface="宋体" panose="02000500000000000000" pitchFamily="2" charset="-122"/>
            </a:endParaRPr>
          </a:p>
        </p:txBody>
      </p:sp>
      <p:graphicFrame>
        <p:nvGraphicFramePr>
          <p:cNvPr id="3" name="表格 2"/>
          <p:cNvGraphicFramePr/>
          <p:nvPr/>
        </p:nvGraphicFramePr>
        <p:xfrm>
          <a:off x="6799580" y="3837940"/>
          <a:ext cx="2342515" cy="863600"/>
        </p:xfrm>
        <a:graphic>
          <a:graphicData uri="http://schemas.openxmlformats.org/drawingml/2006/table">
            <a:tbl>
              <a:tblPr firstRow="1" bandRow="1">
                <a:tableStyleId>{5C22544A-7EE6-4342-B048-85BDC9FD1C3A}</a:tableStyleId>
              </a:tblPr>
              <a:tblGrid>
                <a:gridCol w="365125"/>
                <a:gridCol w="450850"/>
                <a:gridCol w="1526540"/>
              </a:tblGrid>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0</a:t>
                      </a:r>
                      <a:endParaRPr lang="en-US" altLang="zh-CN" sz="1200" b="1">
                        <a:solidFill>
                          <a:srgbClr val="FF0000"/>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3.0</a:t>
                      </a:r>
                      <a:endParaRPr lang="en-US" altLang="zh-CN" sz="1200" b="1">
                        <a:solidFill>
                          <a:srgbClr val="FF0000"/>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4</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4" name="表格 3"/>
          <p:cNvGraphicFramePr/>
          <p:nvPr/>
        </p:nvGraphicFramePr>
        <p:xfrm>
          <a:off x="7167880" y="5311775"/>
          <a:ext cx="1930400" cy="1280160"/>
        </p:xfrm>
        <a:graphic>
          <a:graphicData uri="http://schemas.openxmlformats.org/drawingml/2006/table">
            <a:tbl>
              <a:tblPr firstRow="1" bandRow="1">
                <a:tableStyleId>{5C22544A-7EE6-4342-B048-85BDC9FD1C3A}</a:tableStyleId>
              </a:tblPr>
              <a:tblGrid>
                <a:gridCol w="1930400"/>
              </a:tblGrid>
              <a:tr h="213360">
                <a:tc>
                  <a:txBody>
                    <a:bodyPr/>
                    <a:p>
                      <a:pPr indent="0">
                        <a:buNone/>
                      </a:pPr>
                      <a:r>
                        <a:rPr lang="en-US" sz="1200" b="1">
                          <a:solidFill>
                            <a:schemeClr val="tx1"/>
                          </a:solidFill>
                          <a:latin typeface="宋体" panose="02000500000000000000" pitchFamily="2" charset="-122"/>
                          <a:ea typeface="宋体" panose="02000500000000000000" pitchFamily="2" charset="-122"/>
                        </a:rPr>
                        <a:t>FDIV.D  </a:t>
                      </a:r>
                      <a:r>
                        <a:rPr lang="en-US" sz="1200" b="1">
                          <a:solidFill>
                            <a:srgbClr val="FF0000"/>
                          </a:solidFill>
                          <a:latin typeface="宋体" panose="02000500000000000000" pitchFamily="2" charset="-122"/>
                          <a:ea typeface="宋体" panose="02000500000000000000" pitchFamily="2" charset="-122"/>
                        </a:rPr>
                        <a:t>F0</a:t>
                      </a:r>
                      <a:r>
                        <a:rPr lang="en-US" sz="1200" b="1">
                          <a:solidFill>
                            <a:schemeClr val="tx1"/>
                          </a:solidFill>
                          <a:latin typeface="宋体" panose="02000500000000000000" pitchFamily="2" charset="-122"/>
                          <a:ea typeface="宋体" panose="02000500000000000000" pitchFamily="2" charset="-122"/>
                        </a:rPr>
                        <a:t>, F1, F2</a:t>
                      </a:r>
                      <a:endParaRPr lang="en-US" altLang="en-US" sz="1200" b="1">
                        <a:solidFill>
                          <a:schemeClr val="tx1"/>
                        </a:solidFill>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FADD.D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F1,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5" name="表格 4"/>
          <p:cNvGraphicFramePr/>
          <p:nvPr/>
        </p:nvGraphicFramePr>
        <p:xfrm>
          <a:off x="9544050" y="243586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7" name="表格 6"/>
          <p:cNvGraphicFramePr/>
          <p:nvPr/>
        </p:nvGraphicFramePr>
        <p:xfrm>
          <a:off x="6577330" y="245618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9" name="表格 8"/>
          <p:cNvGraphicFramePr/>
          <p:nvPr/>
        </p:nvGraphicFramePr>
        <p:xfrm>
          <a:off x="9486900" y="3822700"/>
          <a:ext cx="2342515" cy="863600"/>
        </p:xfrm>
        <a:graphic>
          <a:graphicData uri="http://schemas.openxmlformats.org/drawingml/2006/table">
            <a:tbl>
              <a:tblPr firstRow="1" bandRow="1">
                <a:tableStyleId>{5C22544A-7EE6-4342-B048-85BDC9FD1C3A}</a:tableStyleId>
              </a:tblPr>
              <a:tblGrid>
                <a:gridCol w="221065"/>
                <a:gridCol w="382270"/>
                <a:gridCol w="387901"/>
                <a:gridCol w="1351279"/>
              </a:tblGrid>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4</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fmul</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f3</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6.0</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sp>
        <p:nvSpPr>
          <p:cNvPr id="47115" name="Line 15"/>
          <p:cNvSpPr/>
          <p:nvPr/>
        </p:nvSpPr>
        <p:spPr>
          <a:xfrm flipH="1" flipV="1">
            <a:off x="11068050" y="3610610"/>
            <a:ext cx="9525" cy="215900"/>
          </a:xfrm>
          <a:prstGeom prst="line">
            <a:avLst/>
          </a:prstGeom>
          <a:ln w="19050" cap="flat" cmpd="sng">
            <a:solidFill>
              <a:schemeClr val="accent2"/>
            </a:solidFill>
            <a:prstDash val="solid"/>
            <a:round/>
            <a:headEnd type="none" w="med" len="med"/>
            <a:tailEnd type="none" w="med" len="med"/>
          </a:ln>
        </p:spPr>
      </p:sp>
      <p:sp>
        <p:nvSpPr>
          <p:cNvPr id="47131" name="Line 36"/>
          <p:cNvSpPr/>
          <p:nvPr/>
        </p:nvSpPr>
        <p:spPr>
          <a:xfrm flipV="1">
            <a:off x="4904105" y="4940935"/>
            <a:ext cx="2991485" cy="13970"/>
          </a:xfrm>
          <a:prstGeom prst="line">
            <a:avLst/>
          </a:prstGeom>
          <a:ln w="19050" cap="flat" cmpd="sng">
            <a:solidFill>
              <a:schemeClr val="accent2"/>
            </a:solidFill>
            <a:prstDash val="solid"/>
            <a:round/>
            <a:headEnd type="none" w="med" len="med"/>
            <a:tailEnd type="none" w="med" len="med"/>
          </a:ln>
        </p:spPr>
      </p:sp>
      <p:sp>
        <p:nvSpPr>
          <p:cNvPr id="47133" name="Text Box 43"/>
          <p:cNvSpPr txBox="1"/>
          <p:nvPr/>
        </p:nvSpPr>
        <p:spPr>
          <a:xfrm>
            <a:off x="5375910" y="4712335"/>
            <a:ext cx="1089025" cy="184150"/>
          </a:xfrm>
          <a:prstGeom prst="rect">
            <a:avLst/>
          </a:prstGeom>
          <a:noFill/>
          <a:ln w="9525">
            <a:noFill/>
          </a:ln>
          <a:extLst>
            <a:ext uri="{909E8E84-426E-40DD-AFC4-6F175D3DCCD1}">
              <a14:hiddenFill xmlns:a14="http://schemas.microsoft.com/office/drawing/2010/main">
                <a:solidFill>
                  <a:schemeClr val="bg1"/>
                </a:solidFill>
              </a14:hiddenFill>
            </a:ext>
          </a:extLst>
        </p:spPr>
        <p:txBody>
          <a:bodyPr lIns="0" tIns="0" rIns="0" bIns="0" anchor="t" anchorCtr="0">
            <a:spAutoFit/>
          </a:bodyPr>
          <a:p>
            <a:pPr>
              <a:spcBef>
                <a:spcPct val="50000"/>
              </a:spcBef>
            </a:pPr>
            <a:r>
              <a:rPr lang="zh-CN" altLang="en-US" sz="1200" b="1" dirty="0">
                <a:solidFill>
                  <a:schemeClr val="accent2"/>
                </a:solidFill>
                <a:latin typeface="Times New Roman" pitchFamily="18" charset="0"/>
                <a:ea typeface="宋体" panose="02000500000000000000" pitchFamily="2" charset="-122"/>
              </a:rPr>
              <a:t>修改寄存器</a:t>
            </a:r>
            <a:endParaRPr lang="zh-CN" altLang="en-US" sz="1200" b="1" dirty="0">
              <a:solidFill>
                <a:schemeClr val="accent2"/>
              </a:solidFill>
              <a:latin typeface="Times New Roman" pitchFamily="18" charset="0"/>
              <a:ea typeface="宋体" panose="02000500000000000000" pitchFamily="2" charset="-122"/>
            </a:endParaRPr>
          </a:p>
        </p:txBody>
      </p:sp>
      <p:sp>
        <p:nvSpPr>
          <p:cNvPr id="47143" name="Line 37"/>
          <p:cNvSpPr/>
          <p:nvPr/>
        </p:nvSpPr>
        <p:spPr>
          <a:xfrm flipH="1" flipV="1">
            <a:off x="7879715" y="4688205"/>
            <a:ext cx="8255" cy="252095"/>
          </a:xfrm>
          <a:prstGeom prst="line">
            <a:avLst/>
          </a:prstGeom>
          <a:ln w="19050" cap="flat" cmpd="sng">
            <a:solidFill>
              <a:schemeClr val="accent2"/>
            </a:solidFill>
            <a:prstDash val="solid"/>
            <a:round/>
            <a:headEnd type="none" w="med" len="med"/>
            <a:tailEnd type="triangle" w="med" len="med"/>
          </a:ln>
        </p:spPr>
      </p:sp>
      <p:sp>
        <p:nvSpPr>
          <p:cNvPr id="47144" name="Line 38"/>
          <p:cNvSpPr/>
          <p:nvPr/>
        </p:nvSpPr>
        <p:spPr>
          <a:xfrm>
            <a:off x="4868545" y="3616325"/>
            <a:ext cx="6222365" cy="13970"/>
          </a:xfrm>
          <a:prstGeom prst="line">
            <a:avLst/>
          </a:prstGeom>
          <a:ln w="19050" cap="flat" cmpd="sng">
            <a:solidFill>
              <a:schemeClr val="accent2"/>
            </a:solidFill>
            <a:prstDash val="solid"/>
            <a:round/>
            <a:headEnd type="none" w="med" len="med"/>
            <a:tailEnd type="none" w="med" len="med"/>
          </a:ln>
        </p:spPr>
      </p:sp>
      <p:sp>
        <p:nvSpPr>
          <p:cNvPr id="47146" name="Line 41"/>
          <p:cNvSpPr/>
          <p:nvPr/>
        </p:nvSpPr>
        <p:spPr>
          <a:xfrm flipH="1" flipV="1">
            <a:off x="4877435" y="3028315"/>
            <a:ext cx="14605" cy="1934210"/>
          </a:xfrm>
          <a:prstGeom prst="line">
            <a:avLst/>
          </a:prstGeom>
          <a:ln w="19050" cap="flat" cmpd="sng">
            <a:solidFill>
              <a:schemeClr val="accent2"/>
            </a:solidFill>
            <a:prstDash val="solid"/>
            <a:round/>
            <a:headEnd type="none" w="med" len="med"/>
            <a:tailEnd type="triangle" w="med" len="med"/>
          </a:ln>
        </p:spPr>
      </p:sp>
      <p:sp>
        <p:nvSpPr>
          <p:cNvPr id="46082" name="Rectangle 3"/>
          <p:cNvSpPr/>
          <p:nvPr/>
        </p:nvSpPr>
        <p:spPr>
          <a:xfrm>
            <a:off x="912813" y="420688"/>
            <a:ext cx="10361612" cy="523875"/>
          </a:xfrm>
          <a:prstGeom prst="rect">
            <a:avLst/>
          </a:prstGeom>
          <a:noFill/>
          <a:ln w="9525">
            <a:noFill/>
          </a:ln>
        </p:spPr>
        <p:txBody>
          <a:bodyPr anchor="ctr" anchorCtr="0"/>
          <a:p>
            <a:pPr algn="ctr"/>
            <a:r>
              <a:rPr lang="zh-CN" sz="3200" dirty="0">
                <a:solidFill>
                  <a:srgbClr val="FF0000"/>
                </a:solidFill>
                <a:latin typeface="Arial" panose="02080604020202020204" pitchFamily="34" charset="0"/>
                <a:ea typeface="黑体" panose="02000500000000000000" pitchFamily="49" charset="-122"/>
              </a:rPr>
              <a:t>例子</a:t>
            </a:r>
            <a:endParaRPr lang="zh-CN" sz="3200" dirty="0">
              <a:solidFill>
                <a:srgbClr val="FF0000"/>
              </a:solidFill>
              <a:latin typeface="Arial" panose="02080604020202020204" pitchFamily="34" charset="0"/>
              <a:ea typeface="黑体" panose="02000500000000000000" pitchFamily="49" charset="-122"/>
            </a:endParaRPr>
          </a:p>
        </p:txBody>
      </p:sp>
      <p:sp>
        <p:nvSpPr>
          <p:cNvPr id="50195" name="Text Box 44"/>
          <p:cNvSpPr txBox="1"/>
          <p:nvPr/>
        </p:nvSpPr>
        <p:spPr>
          <a:xfrm>
            <a:off x="8543925" y="1234440"/>
            <a:ext cx="1527175" cy="184150"/>
          </a:xfrm>
          <a:prstGeom prst="rect">
            <a:avLst/>
          </a:prstGeom>
          <a:solidFill>
            <a:schemeClr val="bg1"/>
          </a:solidFill>
          <a:ln w="9525">
            <a:noFill/>
          </a:ln>
        </p:spPr>
        <p:txBody>
          <a:bodyPr wrap="square" lIns="0" tIns="0" rIns="0" bIns="0" anchor="t" anchorCtr="0">
            <a:spAutoFit/>
          </a:bodyPr>
          <a:p>
            <a:pPr>
              <a:spcBef>
                <a:spcPct val="50000"/>
              </a:spcBef>
            </a:pPr>
            <a:r>
              <a:rPr lang="zh-CN" altLang="en-US" sz="1200" b="1" dirty="0">
                <a:solidFill>
                  <a:srgbClr val="FF0000"/>
                </a:solidFill>
                <a:latin typeface="宋体" panose="02000500000000000000" pitchFamily="2" charset="-122"/>
                <a:cs typeface="宋体" panose="02000500000000000000" pitchFamily="2" charset="-122"/>
              </a:rPr>
              <a:t>结果总线</a:t>
            </a:r>
            <a:endParaRPr lang="en-US" altLang="zh-CN" sz="1200" b="1" dirty="0">
              <a:solidFill>
                <a:srgbClr val="FF0000"/>
              </a:solidFill>
              <a:latin typeface="宋体" panose="02000500000000000000" pitchFamily="2" charset="-122"/>
              <a:cs typeface="宋体" panose="02000500000000000000" pitchFamily="2" charset="-122"/>
            </a:endParaRPr>
          </a:p>
        </p:txBody>
      </p:sp>
      <p:sp>
        <p:nvSpPr>
          <p:cNvPr id="56322" name="Text Box 3"/>
          <p:cNvSpPr txBox="1"/>
          <p:nvPr/>
        </p:nvSpPr>
        <p:spPr>
          <a:xfrm>
            <a:off x="187325" y="2743200"/>
            <a:ext cx="4187825" cy="3322955"/>
          </a:xfrm>
          <a:prstGeom prst="rect">
            <a:avLst/>
          </a:prstGeom>
          <a:noFill/>
          <a:ln w="9525">
            <a:noFill/>
          </a:ln>
        </p:spPr>
        <p:txBody>
          <a:bodyPr anchor="t" anchorCtr="0">
            <a:spAutoFit/>
          </a:bodyPr>
          <a:p>
            <a:pPr>
              <a:lnSpc>
                <a:spcPct val="150000"/>
              </a:lnSpc>
              <a:buChar char="•"/>
            </a:pPr>
            <a:r>
              <a:rPr lang="en-US" altLang="zh-CN" sz="1400" dirty="0">
                <a:solidFill>
                  <a:srgbClr val="000000"/>
                </a:solidFill>
                <a:latin typeface="宋体" panose="02000500000000000000" pitchFamily="2" charset="-122"/>
                <a:cs typeface="宋体" panose="02000500000000000000" pitchFamily="2" charset="-122"/>
              </a:rPr>
              <a:t>DIV</a:t>
            </a:r>
            <a:r>
              <a:rPr lang="zh-CN" altLang="zh-CN" sz="1400" dirty="0">
                <a:solidFill>
                  <a:srgbClr val="000000"/>
                </a:solidFill>
                <a:latin typeface="宋体" panose="02000500000000000000" pitchFamily="2" charset="-122"/>
                <a:cs typeface="宋体" panose="02000500000000000000" pitchFamily="2" charset="-122"/>
              </a:rPr>
              <a:t>发射，</a:t>
            </a:r>
            <a:r>
              <a:rPr lang="en-US" altLang="zh-CN" sz="1400" dirty="0">
                <a:solidFill>
                  <a:srgbClr val="000000"/>
                </a:solidFill>
                <a:latin typeface="宋体" panose="02000500000000000000" pitchFamily="2" charset="-122"/>
                <a:cs typeface="宋体" panose="02000500000000000000" pitchFamily="2" charset="-122"/>
              </a:rPr>
              <a:t>F1, F2</a:t>
            </a:r>
            <a:r>
              <a:rPr lang="zh-CN" altLang="zh-CN" sz="1400" dirty="0">
                <a:solidFill>
                  <a:srgbClr val="000000"/>
                </a:solidFill>
                <a:latin typeface="宋体" panose="02000500000000000000" pitchFamily="2" charset="-122"/>
                <a:cs typeface="宋体" panose="02000500000000000000" pitchFamily="2" charset="-122"/>
              </a:rPr>
              <a:t>都准备好</a:t>
            </a:r>
            <a:endParaRPr lang="zh-CN" altLang="zh-CN" sz="1400" dirty="0">
              <a:solidFill>
                <a:srgbClr val="000000"/>
              </a:solidFill>
              <a:latin typeface="宋体" panose="02000500000000000000" pitchFamily="2" charset="-122"/>
              <a:cs typeface="宋体" panose="02000500000000000000" pitchFamily="2" charset="-122"/>
            </a:endParaRPr>
          </a:p>
          <a:p>
            <a:pPr>
              <a:lnSpc>
                <a:spcPct val="150000"/>
              </a:lnSpc>
              <a:buChar char="•"/>
            </a:pPr>
            <a:r>
              <a:rPr lang="en-US" altLang="zh-CN" sz="1400" dirty="0">
                <a:latin typeface="宋体" panose="02000500000000000000" pitchFamily="2" charset="-122"/>
                <a:cs typeface="宋体" panose="02000500000000000000" pitchFamily="2" charset="-122"/>
              </a:rPr>
              <a:t>MUL1</a:t>
            </a:r>
            <a:r>
              <a:rPr lang="zh-CN" altLang="zh-CN" sz="1400" dirty="0">
                <a:latin typeface="宋体" panose="02000500000000000000" pitchFamily="2" charset="-122"/>
                <a:cs typeface="宋体" panose="02000500000000000000" pitchFamily="2" charset="-122"/>
              </a:rPr>
              <a:t>发射，</a:t>
            </a:r>
            <a:r>
              <a:rPr lang="en-US" altLang="zh-CN" sz="1400" dirty="0">
                <a:latin typeface="宋体" panose="02000500000000000000" pitchFamily="2" charset="-122"/>
                <a:cs typeface="宋体" panose="02000500000000000000" pitchFamily="2" charset="-122"/>
              </a:rPr>
              <a:t>F0</a:t>
            </a:r>
            <a:r>
              <a:rPr lang="zh-CN" altLang="zh-CN" sz="1400" dirty="0">
                <a:latin typeface="宋体" panose="02000500000000000000" pitchFamily="2" charset="-122"/>
                <a:cs typeface="宋体" panose="02000500000000000000" pitchFamily="2" charset="-122"/>
              </a:rPr>
              <a:t>等待1号</a:t>
            </a:r>
            <a:r>
              <a:rPr lang="en-US" altLang="zh-CN" sz="1400" dirty="0">
                <a:latin typeface="宋体" panose="02000500000000000000" pitchFamily="2" charset="-122"/>
                <a:cs typeface="宋体" panose="02000500000000000000" pitchFamily="2" charset="-122"/>
              </a:rPr>
              <a:t>RB</a:t>
            </a:r>
            <a:r>
              <a:rPr lang="zh-CN" altLang="zh-CN" sz="1400" dirty="0">
                <a:latin typeface="宋体" panose="02000500000000000000" pitchFamily="2" charset="-122"/>
                <a:cs typeface="宋体" panose="02000500000000000000" pitchFamily="2" charset="-122"/>
              </a:rPr>
              <a:t>的结果</a:t>
            </a:r>
            <a:endParaRPr lang="zh-CN" altLang="zh-CN" sz="1400" dirty="0">
              <a:latin typeface="宋体" panose="02000500000000000000" pitchFamily="2" charset="-122"/>
              <a:cs typeface="宋体" panose="02000500000000000000" pitchFamily="2" charset="-122"/>
            </a:endParaRPr>
          </a:p>
          <a:p>
            <a:pPr>
              <a:lnSpc>
                <a:spcPct val="150000"/>
              </a:lnSpc>
              <a:buChar char="•"/>
            </a:pPr>
            <a:r>
              <a:rPr lang="en-US" altLang="zh-CN" sz="1400" dirty="0">
                <a:solidFill>
                  <a:srgbClr val="000000"/>
                </a:solidFill>
                <a:latin typeface="宋体" panose="02000500000000000000" pitchFamily="2" charset="-122"/>
                <a:cs typeface="宋体" panose="02000500000000000000" pitchFamily="2" charset="-122"/>
              </a:rPr>
              <a:t>ADD</a:t>
            </a:r>
            <a:r>
              <a:rPr lang="zh-CN" altLang="zh-CN" sz="1400" dirty="0">
                <a:solidFill>
                  <a:srgbClr val="000000"/>
                </a:solidFill>
                <a:latin typeface="宋体" panose="02000500000000000000" pitchFamily="2" charset="-122"/>
                <a:cs typeface="宋体" panose="02000500000000000000" pitchFamily="2" charset="-122"/>
              </a:rPr>
              <a:t>发射，</a:t>
            </a:r>
            <a:r>
              <a:rPr lang="en-US" altLang="zh-CN" sz="1400" dirty="0">
                <a:solidFill>
                  <a:srgbClr val="000000"/>
                </a:solidFill>
                <a:latin typeface="宋体" panose="02000500000000000000" pitchFamily="2" charset="-122"/>
                <a:cs typeface="宋体" panose="02000500000000000000" pitchFamily="2" charset="-122"/>
              </a:rPr>
              <a:t>F1, F2</a:t>
            </a:r>
            <a:r>
              <a:rPr lang="zh-CN" altLang="zh-CN" sz="1400" dirty="0">
                <a:solidFill>
                  <a:srgbClr val="000000"/>
                </a:solidFill>
                <a:latin typeface="宋体" panose="02000500000000000000" pitchFamily="2" charset="-122"/>
                <a:cs typeface="宋体" panose="02000500000000000000" pitchFamily="2" charset="-122"/>
              </a:rPr>
              <a:t>都准备好</a:t>
            </a:r>
            <a:endParaRPr lang="zh-CN" altLang="zh-CN" sz="1400" dirty="0">
              <a:solidFill>
                <a:srgbClr val="000000"/>
              </a:solidFill>
              <a:latin typeface="宋体" panose="02000500000000000000" pitchFamily="2" charset="-122"/>
              <a:cs typeface="宋体" panose="02000500000000000000" pitchFamily="2" charset="-122"/>
            </a:endParaRPr>
          </a:p>
          <a:p>
            <a:pPr>
              <a:lnSpc>
                <a:spcPct val="150000"/>
              </a:lnSpc>
              <a:buChar char="•"/>
            </a:pPr>
            <a:r>
              <a:rPr lang="en-US" altLang="zh-CN" sz="1400" dirty="0">
                <a:solidFill>
                  <a:srgbClr val="000000"/>
                </a:solidFill>
                <a:latin typeface="宋体" panose="02000500000000000000" pitchFamily="2" charset="-122"/>
                <a:cs typeface="宋体" panose="02000500000000000000" pitchFamily="2" charset="-122"/>
              </a:rPr>
              <a:t>MUL2</a:t>
            </a:r>
            <a:r>
              <a:rPr lang="zh-CN" altLang="zh-CN" sz="1400" dirty="0">
                <a:solidFill>
                  <a:srgbClr val="000000"/>
                </a:solidFill>
                <a:latin typeface="宋体" panose="02000500000000000000" pitchFamily="2" charset="-122"/>
                <a:cs typeface="宋体" panose="02000500000000000000" pitchFamily="2" charset="-122"/>
              </a:rPr>
              <a:t>发射, </a:t>
            </a:r>
            <a:r>
              <a:rPr lang="en-US" altLang="zh-CN" sz="1400" dirty="0">
                <a:solidFill>
                  <a:srgbClr val="000000"/>
                </a:solidFill>
                <a:latin typeface="宋体" panose="02000500000000000000" pitchFamily="2" charset="-122"/>
                <a:cs typeface="宋体" panose="02000500000000000000" pitchFamily="2" charset="-122"/>
              </a:rPr>
              <a:t>F0</a:t>
            </a:r>
            <a:r>
              <a:rPr lang="zh-CN" altLang="zh-CN" sz="1400" dirty="0">
                <a:solidFill>
                  <a:srgbClr val="000000"/>
                </a:solidFill>
                <a:latin typeface="宋体" panose="02000500000000000000" pitchFamily="2" charset="-122"/>
                <a:cs typeface="宋体" panose="02000500000000000000" pitchFamily="2" charset="-122"/>
              </a:rPr>
              <a:t>等待3号</a:t>
            </a:r>
            <a:r>
              <a:rPr lang="en-US" altLang="zh-CN" sz="1400" dirty="0">
                <a:solidFill>
                  <a:srgbClr val="000000"/>
                </a:solidFill>
                <a:latin typeface="宋体" panose="02000500000000000000" pitchFamily="2" charset="-122"/>
                <a:cs typeface="宋体" panose="02000500000000000000" pitchFamily="2" charset="-122"/>
              </a:rPr>
              <a:t>RB</a:t>
            </a:r>
            <a:r>
              <a:rPr lang="zh-CN" altLang="zh-CN" sz="1400" dirty="0">
                <a:solidFill>
                  <a:srgbClr val="000000"/>
                </a:solidFill>
                <a:latin typeface="宋体" panose="02000500000000000000" pitchFamily="2" charset="-122"/>
                <a:cs typeface="宋体" panose="02000500000000000000" pitchFamily="2" charset="-122"/>
              </a:rPr>
              <a:t>的结果</a:t>
            </a:r>
            <a:endParaRPr lang="zh-CN" altLang="zh-CN" sz="1400" dirty="0">
              <a:solidFill>
                <a:srgbClr val="000000"/>
              </a:solidFill>
              <a:latin typeface="宋体" panose="02000500000000000000" pitchFamily="2" charset="-122"/>
              <a:cs typeface="宋体" panose="02000500000000000000" pitchFamily="2" charset="-122"/>
            </a:endParaRPr>
          </a:p>
          <a:p>
            <a:pPr>
              <a:lnSpc>
                <a:spcPct val="150000"/>
              </a:lnSpc>
              <a:buChar char="•"/>
            </a:pPr>
            <a:r>
              <a:rPr lang="en-US" altLang="zh-CN" sz="1400" dirty="0">
                <a:solidFill>
                  <a:srgbClr val="000000"/>
                </a:solidFill>
                <a:latin typeface="宋体" panose="02000500000000000000" pitchFamily="2" charset="-122"/>
                <a:cs typeface="宋体" panose="02000500000000000000" pitchFamily="2" charset="-122"/>
              </a:rPr>
              <a:t>ADD</a:t>
            </a:r>
            <a:r>
              <a:rPr lang="zh-CN" altLang="zh-CN" sz="1400" dirty="0">
                <a:solidFill>
                  <a:srgbClr val="000000"/>
                </a:solidFill>
                <a:latin typeface="宋体" panose="02000500000000000000" pitchFamily="2" charset="-122"/>
                <a:cs typeface="宋体" panose="02000500000000000000" pitchFamily="2" charset="-122"/>
              </a:rPr>
              <a:t>写回</a:t>
            </a:r>
            <a:endParaRPr lang="zh-CN" altLang="zh-CN" sz="1400" dirty="0">
              <a:solidFill>
                <a:srgbClr val="000000"/>
              </a:solidFill>
              <a:latin typeface="宋体" panose="02000500000000000000" pitchFamily="2" charset="-122"/>
              <a:cs typeface="宋体" panose="02000500000000000000" pitchFamily="2" charset="-122"/>
            </a:endParaRPr>
          </a:p>
          <a:p>
            <a:pPr>
              <a:lnSpc>
                <a:spcPct val="150000"/>
              </a:lnSpc>
              <a:buChar char="•"/>
            </a:pPr>
            <a:r>
              <a:rPr lang="en-US" altLang="zh-CN" sz="1400" dirty="0">
                <a:solidFill>
                  <a:srgbClr val="000000"/>
                </a:solidFill>
                <a:latin typeface="宋体" panose="02000500000000000000" pitchFamily="2" charset="-122"/>
                <a:cs typeface="宋体" panose="02000500000000000000" pitchFamily="2" charset="-122"/>
              </a:rPr>
              <a:t>DIV</a:t>
            </a:r>
            <a:r>
              <a:rPr lang="zh-CN" altLang="en-US" sz="1400" dirty="0">
                <a:solidFill>
                  <a:srgbClr val="000000"/>
                </a:solidFill>
                <a:latin typeface="宋体" panose="02000500000000000000" pitchFamily="2" charset="-122"/>
                <a:cs typeface="宋体" panose="02000500000000000000" pitchFamily="2" charset="-122"/>
              </a:rPr>
              <a:t>写回</a:t>
            </a:r>
            <a:endParaRPr lang="zh-CN" altLang="en-US" sz="1400" dirty="0">
              <a:solidFill>
                <a:srgbClr val="000000"/>
              </a:solidFill>
              <a:latin typeface="宋体" panose="02000500000000000000" pitchFamily="2" charset="-122"/>
              <a:cs typeface="宋体" panose="02000500000000000000" pitchFamily="2" charset="-122"/>
            </a:endParaRPr>
          </a:p>
          <a:p>
            <a:pPr>
              <a:lnSpc>
                <a:spcPct val="150000"/>
              </a:lnSpc>
              <a:buChar char="•"/>
            </a:pPr>
            <a:r>
              <a:rPr lang="en-US" altLang="zh-CN" sz="1400" dirty="0">
                <a:solidFill>
                  <a:schemeClr val="tx1"/>
                </a:solidFill>
                <a:latin typeface="宋体" panose="02000500000000000000" pitchFamily="2" charset="-122"/>
                <a:cs typeface="宋体" panose="02000500000000000000" pitchFamily="2" charset="-122"/>
              </a:rPr>
              <a:t>DIV </a:t>
            </a:r>
            <a:r>
              <a:rPr lang="zh-CN" altLang="en-US" sz="1400" dirty="0">
                <a:solidFill>
                  <a:schemeClr val="tx1"/>
                </a:solidFill>
                <a:latin typeface="宋体" panose="02000500000000000000" pitchFamily="2" charset="-122"/>
                <a:cs typeface="宋体" panose="02000500000000000000" pitchFamily="2" charset="-122"/>
              </a:rPr>
              <a:t>提交（写回寄存器）</a:t>
            </a:r>
            <a:r>
              <a:rPr lang="en-US" altLang="zh-CN" sz="1400" dirty="0">
                <a:solidFill>
                  <a:schemeClr val="tx1"/>
                </a:solidFill>
                <a:latin typeface="宋体" panose="02000500000000000000" pitchFamily="2" charset="-122"/>
                <a:cs typeface="宋体" panose="02000500000000000000" pitchFamily="2" charset="-122"/>
              </a:rPr>
              <a:t>, MUL2</a:t>
            </a:r>
            <a:r>
              <a:rPr lang="zh-CN" altLang="en-US" sz="1400" dirty="0">
                <a:solidFill>
                  <a:schemeClr val="tx1"/>
                </a:solidFill>
                <a:latin typeface="宋体" panose="02000500000000000000" pitchFamily="2" charset="-122"/>
                <a:cs typeface="宋体" panose="02000500000000000000" pitchFamily="2" charset="-122"/>
              </a:rPr>
              <a:t>写回</a:t>
            </a:r>
            <a:endParaRPr lang="zh-CN" altLang="en-US" sz="1400" dirty="0">
              <a:solidFill>
                <a:schemeClr val="tx1"/>
              </a:solidFill>
              <a:latin typeface="宋体" panose="02000500000000000000" pitchFamily="2" charset="-122"/>
              <a:cs typeface="宋体" panose="02000500000000000000" pitchFamily="2" charset="-122"/>
            </a:endParaRPr>
          </a:p>
          <a:p>
            <a:pPr>
              <a:lnSpc>
                <a:spcPct val="150000"/>
              </a:lnSpc>
              <a:buChar char="•"/>
            </a:pPr>
            <a:r>
              <a:rPr lang="en-US" altLang="zh-CN" sz="1400" dirty="0">
                <a:solidFill>
                  <a:schemeClr val="tx1"/>
                </a:solidFill>
                <a:latin typeface="宋体" panose="02000500000000000000" pitchFamily="2" charset="-122"/>
                <a:cs typeface="宋体" panose="02000500000000000000" pitchFamily="2" charset="-122"/>
                <a:sym typeface="+mn-ea"/>
              </a:rPr>
              <a:t>MUL1</a:t>
            </a:r>
            <a:r>
              <a:rPr lang="zh-CN" altLang="en-US" sz="1400" dirty="0">
                <a:solidFill>
                  <a:schemeClr val="tx1"/>
                </a:solidFill>
                <a:latin typeface="宋体" panose="02000500000000000000" pitchFamily="2" charset="-122"/>
                <a:cs typeface="宋体" panose="02000500000000000000" pitchFamily="2" charset="-122"/>
                <a:sym typeface="+mn-ea"/>
              </a:rPr>
              <a:t>写回</a:t>
            </a:r>
            <a:endParaRPr lang="zh-CN" altLang="en-US" sz="1400" dirty="0">
              <a:solidFill>
                <a:schemeClr val="tx1"/>
              </a:solidFill>
              <a:latin typeface="宋体" panose="02000500000000000000" pitchFamily="2" charset="-122"/>
              <a:cs typeface="宋体" panose="02000500000000000000" pitchFamily="2" charset="-122"/>
              <a:sym typeface="+mn-ea"/>
            </a:endParaRPr>
          </a:p>
          <a:p>
            <a:pPr>
              <a:lnSpc>
                <a:spcPct val="150000"/>
              </a:lnSpc>
              <a:buChar char="•"/>
            </a:pPr>
            <a:r>
              <a:rPr lang="en-US" altLang="zh-CN" sz="1400" dirty="0">
                <a:solidFill>
                  <a:schemeClr val="tx1"/>
                </a:solidFill>
                <a:latin typeface="宋体" panose="02000500000000000000" pitchFamily="2" charset="-122"/>
                <a:cs typeface="宋体" panose="02000500000000000000" pitchFamily="2" charset="-122"/>
                <a:sym typeface="+mn-ea"/>
              </a:rPr>
              <a:t>MUL1</a:t>
            </a:r>
            <a:r>
              <a:rPr lang="zh-CN" altLang="en-US" sz="1400" dirty="0">
                <a:solidFill>
                  <a:schemeClr val="tx1"/>
                </a:solidFill>
                <a:latin typeface="宋体" panose="02000500000000000000" pitchFamily="2" charset="-122"/>
                <a:cs typeface="宋体" panose="02000500000000000000" pitchFamily="2" charset="-122"/>
                <a:sym typeface="+mn-ea"/>
              </a:rPr>
              <a:t>提交</a:t>
            </a:r>
            <a:endParaRPr lang="zh-CN" altLang="en-US" sz="1400" dirty="0">
              <a:solidFill>
                <a:schemeClr val="tx1"/>
              </a:solidFill>
              <a:latin typeface="宋体" panose="02000500000000000000" pitchFamily="2" charset="-122"/>
              <a:cs typeface="宋体" panose="02000500000000000000" pitchFamily="2" charset="-122"/>
              <a:sym typeface="+mn-ea"/>
            </a:endParaRPr>
          </a:p>
          <a:p>
            <a:pPr>
              <a:lnSpc>
                <a:spcPct val="150000"/>
              </a:lnSpc>
              <a:buChar char="•"/>
            </a:pPr>
            <a:r>
              <a:rPr lang="en-US" altLang="zh-CN" sz="1400" dirty="0">
                <a:solidFill>
                  <a:srgbClr val="FF0000"/>
                </a:solidFill>
                <a:latin typeface="宋体" panose="02000500000000000000" pitchFamily="2" charset="-122"/>
                <a:cs typeface="宋体" panose="02000500000000000000" pitchFamily="2" charset="-122"/>
                <a:sym typeface="+mn-ea"/>
              </a:rPr>
              <a:t>ADD</a:t>
            </a:r>
            <a:r>
              <a:rPr lang="zh-CN" altLang="en-US" sz="1400" dirty="0">
                <a:solidFill>
                  <a:srgbClr val="FF0000"/>
                </a:solidFill>
                <a:latin typeface="宋体" panose="02000500000000000000" pitchFamily="2" charset="-122"/>
                <a:cs typeface="宋体" panose="02000500000000000000" pitchFamily="2" charset="-122"/>
                <a:sym typeface="+mn-ea"/>
              </a:rPr>
              <a:t>提交</a:t>
            </a:r>
            <a:endParaRPr lang="zh-CN" altLang="en-US" sz="1400" dirty="0">
              <a:solidFill>
                <a:schemeClr val="tx1"/>
              </a:solidFill>
              <a:latin typeface="宋体" panose="02000500000000000000" pitchFamily="2" charset="-122"/>
              <a:cs typeface="宋体" panose="02000500000000000000" pitchFamily="2"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51" name="Line 52"/>
          <p:cNvSpPr/>
          <p:nvPr/>
        </p:nvSpPr>
        <p:spPr>
          <a:xfrm flipV="1">
            <a:off x="7390765" y="2116455"/>
            <a:ext cx="0" cy="335280"/>
          </a:xfrm>
          <a:prstGeom prst="line">
            <a:avLst/>
          </a:prstGeom>
          <a:ln w="9525" cap="flat" cmpd="sng">
            <a:solidFill>
              <a:schemeClr val="tx1"/>
            </a:solidFill>
            <a:prstDash val="solid"/>
            <a:round/>
            <a:headEnd type="none" w="med" len="med"/>
            <a:tailEnd type="triangle" w="med" len="med"/>
          </a:ln>
        </p:spPr>
      </p:sp>
      <p:sp>
        <p:nvSpPr>
          <p:cNvPr id="31752" name="Line 53"/>
          <p:cNvSpPr/>
          <p:nvPr/>
        </p:nvSpPr>
        <p:spPr>
          <a:xfrm flipV="1">
            <a:off x="8270875" y="2116455"/>
            <a:ext cx="0" cy="335280"/>
          </a:xfrm>
          <a:prstGeom prst="line">
            <a:avLst/>
          </a:prstGeom>
          <a:ln w="9525" cap="flat" cmpd="sng">
            <a:solidFill>
              <a:schemeClr val="tx1"/>
            </a:solidFill>
            <a:prstDash val="solid"/>
            <a:round/>
            <a:headEnd type="none" w="med" len="med"/>
            <a:tailEnd type="triangle" w="med" len="med"/>
          </a:ln>
        </p:spPr>
      </p:sp>
      <p:sp>
        <p:nvSpPr>
          <p:cNvPr id="31753" name="Line 54"/>
          <p:cNvSpPr/>
          <p:nvPr/>
        </p:nvSpPr>
        <p:spPr>
          <a:xfrm flipV="1">
            <a:off x="10353675" y="2103755"/>
            <a:ext cx="0" cy="335280"/>
          </a:xfrm>
          <a:prstGeom prst="line">
            <a:avLst/>
          </a:prstGeom>
          <a:ln w="9525" cap="flat" cmpd="sng">
            <a:solidFill>
              <a:schemeClr val="tx1"/>
            </a:solidFill>
            <a:prstDash val="solid"/>
            <a:round/>
            <a:headEnd type="none" w="med" len="med"/>
            <a:tailEnd type="triangle" w="med" len="med"/>
          </a:ln>
        </p:spPr>
      </p:sp>
      <p:sp>
        <p:nvSpPr>
          <p:cNvPr id="31754" name="Line 55"/>
          <p:cNvSpPr/>
          <p:nvPr/>
        </p:nvSpPr>
        <p:spPr>
          <a:xfrm flipV="1">
            <a:off x="11301730" y="2091055"/>
            <a:ext cx="0" cy="335280"/>
          </a:xfrm>
          <a:prstGeom prst="line">
            <a:avLst/>
          </a:prstGeom>
          <a:ln w="9525" cap="flat" cmpd="sng">
            <a:solidFill>
              <a:schemeClr val="tx1"/>
            </a:solidFill>
            <a:prstDash val="solid"/>
            <a:round/>
            <a:headEnd type="none" w="med" len="med"/>
            <a:tailEnd type="triangle" w="med" len="med"/>
          </a:ln>
        </p:spPr>
      </p:sp>
      <p:sp>
        <p:nvSpPr>
          <p:cNvPr id="31755" name="Line 56"/>
          <p:cNvSpPr/>
          <p:nvPr/>
        </p:nvSpPr>
        <p:spPr>
          <a:xfrm flipV="1">
            <a:off x="8137525" y="4694555"/>
            <a:ext cx="0" cy="617855"/>
          </a:xfrm>
          <a:prstGeom prst="line">
            <a:avLst/>
          </a:prstGeom>
          <a:ln w="19050" cap="flat" cmpd="sng">
            <a:solidFill>
              <a:schemeClr val="tx1"/>
            </a:solidFill>
            <a:prstDash val="solid"/>
            <a:round/>
            <a:headEnd type="none" w="med" len="med"/>
            <a:tailEnd type="triangle" w="med" len="med"/>
          </a:ln>
        </p:spPr>
      </p:sp>
      <p:sp>
        <p:nvSpPr>
          <p:cNvPr id="31756" name="Line 57"/>
          <p:cNvSpPr/>
          <p:nvPr/>
        </p:nvSpPr>
        <p:spPr>
          <a:xfrm flipV="1">
            <a:off x="7794625" y="3044825"/>
            <a:ext cx="0" cy="247650"/>
          </a:xfrm>
          <a:prstGeom prst="line">
            <a:avLst/>
          </a:prstGeom>
          <a:ln w="19050" cap="flat" cmpd="sng">
            <a:solidFill>
              <a:schemeClr val="tx1"/>
            </a:solidFill>
            <a:prstDash val="solid"/>
            <a:round/>
            <a:headEnd type="none" w="med" len="med"/>
            <a:tailEnd type="triangle" w="med" len="med"/>
          </a:ln>
        </p:spPr>
      </p:sp>
      <p:sp>
        <p:nvSpPr>
          <p:cNvPr id="31757" name="Line 58"/>
          <p:cNvSpPr/>
          <p:nvPr/>
        </p:nvSpPr>
        <p:spPr>
          <a:xfrm flipV="1">
            <a:off x="10788015" y="3037205"/>
            <a:ext cx="0" cy="260350"/>
          </a:xfrm>
          <a:prstGeom prst="line">
            <a:avLst/>
          </a:prstGeom>
          <a:ln w="19050" cap="flat" cmpd="sng">
            <a:solidFill>
              <a:schemeClr val="tx1"/>
            </a:solidFill>
            <a:prstDash val="solid"/>
            <a:round/>
            <a:headEnd type="none" w="med" len="med"/>
            <a:tailEnd type="triangle" w="med" len="med"/>
          </a:ln>
        </p:spPr>
      </p:sp>
      <p:sp>
        <p:nvSpPr>
          <p:cNvPr id="31758" name="Line 59"/>
          <p:cNvSpPr/>
          <p:nvPr/>
        </p:nvSpPr>
        <p:spPr>
          <a:xfrm flipV="1">
            <a:off x="10813415" y="1449705"/>
            <a:ext cx="0" cy="370205"/>
          </a:xfrm>
          <a:prstGeom prst="line">
            <a:avLst/>
          </a:prstGeom>
          <a:ln w="19050" cap="flat" cmpd="sng">
            <a:solidFill>
              <a:srgbClr val="FF0000"/>
            </a:solidFill>
            <a:prstDash val="solid"/>
            <a:round/>
            <a:headEnd type="none" w="med" len="med"/>
            <a:tailEnd type="triangle" w="med" len="med"/>
          </a:ln>
        </p:spPr>
      </p:sp>
      <p:sp>
        <p:nvSpPr>
          <p:cNvPr id="31759" name="Line 60"/>
          <p:cNvSpPr/>
          <p:nvPr/>
        </p:nvSpPr>
        <p:spPr>
          <a:xfrm flipV="1">
            <a:off x="7881620" y="1466850"/>
            <a:ext cx="0" cy="370205"/>
          </a:xfrm>
          <a:prstGeom prst="line">
            <a:avLst/>
          </a:prstGeom>
          <a:ln w="19050" cap="flat" cmpd="sng">
            <a:solidFill>
              <a:schemeClr val="tx1"/>
            </a:solidFill>
            <a:prstDash val="solid"/>
            <a:round/>
            <a:headEnd type="none" w="med" len="med"/>
            <a:tailEnd type="triangle" w="med" len="med"/>
          </a:ln>
        </p:spPr>
      </p:sp>
      <p:sp>
        <p:nvSpPr>
          <p:cNvPr id="31760" name="Line 61"/>
          <p:cNvSpPr/>
          <p:nvPr/>
        </p:nvSpPr>
        <p:spPr>
          <a:xfrm>
            <a:off x="5155565" y="1460500"/>
            <a:ext cx="7009765" cy="0"/>
          </a:xfrm>
          <a:prstGeom prst="line">
            <a:avLst/>
          </a:prstGeom>
          <a:ln w="19050" cap="flat" cmpd="sng">
            <a:solidFill>
              <a:srgbClr val="FF0000"/>
            </a:solidFill>
            <a:prstDash val="solid"/>
            <a:round/>
            <a:headEnd type="none" w="med" len="med"/>
            <a:tailEnd type="none" w="med" len="med"/>
          </a:ln>
        </p:spPr>
      </p:sp>
      <p:sp>
        <p:nvSpPr>
          <p:cNvPr id="31761" name="Line 62"/>
          <p:cNvSpPr/>
          <p:nvPr/>
        </p:nvSpPr>
        <p:spPr>
          <a:xfrm flipH="1" flipV="1">
            <a:off x="7160895" y="3035300"/>
            <a:ext cx="635" cy="389255"/>
          </a:xfrm>
          <a:prstGeom prst="line">
            <a:avLst/>
          </a:prstGeom>
          <a:ln w="19050" cap="flat" cmpd="sng">
            <a:solidFill>
              <a:srgbClr val="FF0000"/>
            </a:solidFill>
            <a:prstDash val="solid"/>
            <a:round/>
            <a:headEnd type="none" w="med" len="med"/>
            <a:tailEnd type="triangle" w="med" len="med"/>
          </a:ln>
        </p:spPr>
      </p:sp>
      <p:sp>
        <p:nvSpPr>
          <p:cNvPr id="31762" name="Line 63"/>
          <p:cNvSpPr/>
          <p:nvPr/>
        </p:nvSpPr>
        <p:spPr>
          <a:xfrm flipV="1">
            <a:off x="11272520" y="3027680"/>
            <a:ext cx="635" cy="410845"/>
          </a:xfrm>
          <a:prstGeom prst="line">
            <a:avLst/>
          </a:prstGeom>
          <a:ln w="19050" cap="flat" cmpd="sng">
            <a:solidFill>
              <a:srgbClr val="FF0000"/>
            </a:solidFill>
            <a:prstDash val="solid"/>
            <a:round/>
            <a:headEnd type="none" w="med" len="med"/>
            <a:tailEnd type="triangle" w="med" len="med"/>
          </a:ln>
        </p:spPr>
      </p:sp>
      <p:sp>
        <p:nvSpPr>
          <p:cNvPr id="31763" name="Line 64"/>
          <p:cNvSpPr/>
          <p:nvPr/>
        </p:nvSpPr>
        <p:spPr>
          <a:xfrm>
            <a:off x="12150725" y="1463040"/>
            <a:ext cx="635" cy="3496945"/>
          </a:xfrm>
          <a:prstGeom prst="line">
            <a:avLst/>
          </a:prstGeom>
          <a:ln w="19050" cap="flat" cmpd="sng">
            <a:solidFill>
              <a:srgbClr val="FF0000"/>
            </a:solidFill>
            <a:prstDash val="solid"/>
            <a:round/>
            <a:headEnd type="none" w="med" len="med"/>
            <a:tailEnd type="none" w="med" len="med"/>
          </a:ln>
        </p:spPr>
      </p:sp>
      <p:sp>
        <p:nvSpPr>
          <p:cNvPr id="31764" name="Line 65"/>
          <p:cNvSpPr/>
          <p:nvPr/>
        </p:nvSpPr>
        <p:spPr>
          <a:xfrm flipV="1">
            <a:off x="8114665" y="3270250"/>
            <a:ext cx="0" cy="581025"/>
          </a:xfrm>
          <a:prstGeom prst="line">
            <a:avLst/>
          </a:prstGeom>
          <a:ln w="19050" cap="flat" cmpd="sng">
            <a:solidFill>
              <a:schemeClr val="tx1"/>
            </a:solidFill>
            <a:prstDash val="solid"/>
            <a:round/>
            <a:headEnd type="none" w="med" len="med"/>
            <a:tailEnd type="triangle" w="med" len="med"/>
          </a:ln>
        </p:spPr>
      </p:sp>
      <p:sp>
        <p:nvSpPr>
          <p:cNvPr id="31765" name="Text Box 66"/>
          <p:cNvSpPr txBox="1"/>
          <p:nvPr/>
        </p:nvSpPr>
        <p:spPr>
          <a:xfrm>
            <a:off x="6283960" y="2246630"/>
            <a:ext cx="1039495" cy="18415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加法保留站</a:t>
            </a:r>
            <a:endParaRPr lang="zh-CN" altLang="en-US" sz="1200" b="1" dirty="0">
              <a:latin typeface="Times New Roman" pitchFamily="18" charset="0"/>
              <a:ea typeface="宋体" panose="02000500000000000000" pitchFamily="2" charset="-122"/>
            </a:endParaRPr>
          </a:p>
        </p:txBody>
      </p:sp>
      <p:sp>
        <p:nvSpPr>
          <p:cNvPr id="31766" name="Text Box 67"/>
          <p:cNvSpPr txBox="1"/>
          <p:nvPr/>
        </p:nvSpPr>
        <p:spPr>
          <a:xfrm>
            <a:off x="6925310" y="3675380"/>
            <a:ext cx="1090295" cy="184150"/>
          </a:xfrm>
          <a:prstGeom prst="rect">
            <a:avLst/>
          </a:prstGeom>
          <a:noFill/>
          <a:ln w="9525">
            <a:noFill/>
          </a:ln>
          <a:extLst>
            <a:ext uri="{909E8E84-426E-40DD-AFC4-6F175D3DCCD1}">
              <a14:hiddenFill xmlns:a14="http://schemas.microsoft.com/office/drawing/2010/main">
                <a:solidFill>
                  <a:schemeClr val="bg1"/>
                </a:solidFill>
              </a14:hiddenFill>
            </a:ext>
          </a:extLst>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浮点寄存器</a:t>
            </a:r>
            <a:endParaRPr lang="zh-CN" altLang="en-US" sz="1200" b="1" dirty="0">
              <a:latin typeface="Times New Roman" pitchFamily="18" charset="0"/>
              <a:ea typeface="宋体" panose="02000500000000000000" pitchFamily="2" charset="-122"/>
            </a:endParaRPr>
          </a:p>
        </p:txBody>
      </p:sp>
      <p:sp>
        <p:nvSpPr>
          <p:cNvPr id="31767" name="Text Box 68"/>
          <p:cNvSpPr txBox="1"/>
          <p:nvPr/>
        </p:nvSpPr>
        <p:spPr>
          <a:xfrm>
            <a:off x="9289415" y="2235200"/>
            <a:ext cx="1039495" cy="18415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乘法保留站</a:t>
            </a:r>
            <a:endParaRPr lang="zh-CN" altLang="en-US" sz="1200" b="1" dirty="0">
              <a:latin typeface="Times New Roman" pitchFamily="18" charset="0"/>
              <a:ea typeface="宋体" panose="02000500000000000000" pitchFamily="2" charset="-122"/>
            </a:endParaRPr>
          </a:p>
        </p:txBody>
      </p:sp>
      <p:sp>
        <p:nvSpPr>
          <p:cNvPr id="31768" name="Line 69"/>
          <p:cNvSpPr/>
          <p:nvPr/>
        </p:nvSpPr>
        <p:spPr>
          <a:xfrm>
            <a:off x="10807065" y="4959985"/>
            <a:ext cx="1358265" cy="635"/>
          </a:xfrm>
          <a:prstGeom prst="line">
            <a:avLst/>
          </a:prstGeom>
          <a:ln w="19050" cap="flat" cmpd="sng">
            <a:solidFill>
              <a:srgbClr val="FF0000"/>
            </a:solidFill>
            <a:prstDash val="solid"/>
            <a:round/>
            <a:headEnd type="none" w="med" len="med"/>
            <a:tailEnd type="none" w="med" len="med"/>
          </a:ln>
        </p:spPr>
      </p:sp>
      <p:sp>
        <p:nvSpPr>
          <p:cNvPr id="31769" name="Line 70"/>
          <p:cNvSpPr/>
          <p:nvPr/>
        </p:nvSpPr>
        <p:spPr>
          <a:xfrm flipV="1">
            <a:off x="10812145" y="4701540"/>
            <a:ext cx="1905" cy="260350"/>
          </a:xfrm>
          <a:prstGeom prst="line">
            <a:avLst/>
          </a:prstGeom>
          <a:ln w="19050" cap="flat" cmpd="sng">
            <a:solidFill>
              <a:srgbClr val="FF0000"/>
            </a:solidFill>
            <a:prstDash val="solid"/>
            <a:round/>
            <a:headEnd type="none" w="med" len="med"/>
            <a:tailEnd type="triangle" w="med" len="med"/>
          </a:ln>
        </p:spPr>
      </p:sp>
      <p:grpSp>
        <p:nvGrpSpPr>
          <p:cNvPr id="31772" name="Group 73"/>
          <p:cNvGrpSpPr/>
          <p:nvPr/>
        </p:nvGrpSpPr>
        <p:grpSpPr>
          <a:xfrm rot="0">
            <a:off x="4488815" y="1461135"/>
            <a:ext cx="7679055" cy="1970389"/>
            <a:chOff x="1701" y="512"/>
            <a:chExt cx="3628" cy="1241"/>
          </a:xfrm>
        </p:grpSpPr>
        <p:sp>
          <p:nvSpPr>
            <p:cNvPr id="31773" name="Line 74"/>
            <p:cNvSpPr/>
            <p:nvPr/>
          </p:nvSpPr>
          <p:spPr>
            <a:xfrm flipV="1">
              <a:off x="2154" y="1661"/>
              <a:ext cx="2518" cy="0"/>
            </a:xfrm>
            <a:prstGeom prst="line">
              <a:avLst/>
            </a:prstGeom>
            <a:ln w="19050" cap="flat" cmpd="sng">
              <a:solidFill>
                <a:schemeClr val="tx1"/>
              </a:solidFill>
              <a:prstDash val="solid"/>
              <a:round/>
              <a:headEnd type="none" w="med" len="med"/>
              <a:tailEnd type="none" w="med" len="med"/>
            </a:ln>
          </p:spPr>
        </p:sp>
        <p:sp>
          <p:nvSpPr>
            <p:cNvPr id="31774" name="Line 75"/>
            <p:cNvSpPr/>
            <p:nvPr/>
          </p:nvSpPr>
          <p:spPr>
            <a:xfrm flipV="1">
              <a:off x="2010" y="1753"/>
              <a:ext cx="3319" cy="0"/>
            </a:xfrm>
            <a:prstGeom prst="line">
              <a:avLst/>
            </a:prstGeom>
            <a:ln w="19050" cap="flat" cmpd="sng">
              <a:solidFill>
                <a:srgbClr val="FF0000"/>
              </a:solidFill>
              <a:prstDash val="solid"/>
              <a:round/>
              <a:headEnd type="none" w="med" len="med"/>
              <a:tailEnd type="none" w="med" len="med"/>
            </a:ln>
          </p:spPr>
        </p:sp>
        <p:grpSp>
          <p:nvGrpSpPr>
            <p:cNvPr id="31775" name="Group 76"/>
            <p:cNvGrpSpPr/>
            <p:nvPr/>
          </p:nvGrpSpPr>
          <p:grpSpPr>
            <a:xfrm>
              <a:off x="1701" y="512"/>
              <a:ext cx="3494" cy="1239"/>
              <a:chOff x="1701" y="512"/>
              <a:chExt cx="3494" cy="1239"/>
            </a:xfrm>
          </p:grpSpPr>
          <p:grpSp>
            <p:nvGrpSpPr>
              <p:cNvPr id="31776" name="Group 77"/>
              <p:cNvGrpSpPr/>
              <p:nvPr/>
            </p:nvGrpSpPr>
            <p:grpSpPr>
              <a:xfrm>
                <a:off x="2019" y="512"/>
                <a:ext cx="135" cy="1239"/>
                <a:chOff x="2019" y="512"/>
                <a:chExt cx="135" cy="1239"/>
              </a:xfrm>
            </p:grpSpPr>
            <p:sp>
              <p:nvSpPr>
                <p:cNvPr id="31777" name="Line 78"/>
                <p:cNvSpPr/>
                <p:nvPr/>
              </p:nvSpPr>
              <p:spPr>
                <a:xfrm flipV="1">
                  <a:off x="2022" y="512"/>
                  <a:ext cx="0" cy="233"/>
                </a:xfrm>
                <a:prstGeom prst="line">
                  <a:avLst/>
                </a:prstGeom>
                <a:ln w="19050" cap="flat" cmpd="sng">
                  <a:solidFill>
                    <a:schemeClr val="tx1"/>
                  </a:solidFill>
                  <a:prstDash val="solid"/>
                  <a:round/>
                  <a:headEnd type="none" w="med" len="med"/>
                  <a:tailEnd type="triangle" w="med" len="med"/>
                </a:ln>
              </p:spPr>
            </p:sp>
            <p:sp>
              <p:nvSpPr>
                <p:cNvPr id="31778" name="Line 79"/>
                <p:cNvSpPr/>
                <p:nvPr/>
              </p:nvSpPr>
              <p:spPr>
                <a:xfrm flipH="1" flipV="1">
                  <a:off x="2019" y="1502"/>
                  <a:ext cx="3" cy="249"/>
                </a:xfrm>
                <a:prstGeom prst="line">
                  <a:avLst/>
                </a:prstGeom>
                <a:ln w="19050" cap="flat" cmpd="sng">
                  <a:solidFill>
                    <a:srgbClr val="FF0000"/>
                  </a:solidFill>
                  <a:prstDash val="solid"/>
                  <a:round/>
                  <a:headEnd type="none" w="med" len="med"/>
                  <a:tailEnd type="triangle" w="med" len="med"/>
                </a:ln>
              </p:spPr>
            </p:sp>
            <p:sp>
              <p:nvSpPr>
                <p:cNvPr id="31779" name="Line 80"/>
                <p:cNvSpPr/>
                <p:nvPr/>
              </p:nvSpPr>
              <p:spPr>
                <a:xfrm flipV="1">
                  <a:off x="2154" y="1508"/>
                  <a:ext cx="0" cy="156"/>
                </a:xfrm>
                <a:prstGeom prst="line">
                  <a:avLst/>
                </a:prstGeom>
                <a:ln w="19050" cap="flat" cmpd="sng">
                  <a:solidFill>
                    <a:schemeClr val="tx1"/>
                  </a:solidFill>
                  <a:prstDash val="solid"/>
                  <a:round/>
                  <a:headEnd type="none" w="med" len="med"/>
                  <a:tailEnd type="triangle" w="med" len="med"/>
                </a:ln>
              </p:spPr>
            </p:sp>
          </p:grpSp>
          <p:sp>
            <p:nvSpPr>
              <p:cNvPr id="31780" name="Text Box 81"/>
              <p:cNvSpPr txBox="1"/>
              <p:nvPr/>
            </p:nvSpPr>
            <p:spPr>
              <a:xfrm>
                <a:off x="2777" y="750"/>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浮点加</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减法器</a:t>
                </a:r>
                <a:endParaRPr lang="zh-CN" altLang="en-US" sz="1200" b="1" dirty="0">
                  <a:latin typeface="Times New Roman" pitchFamily="18" charset="0"/>
                  <a:ea typeface="宋体" panose="02000500000000000000" pitchFamily="2" charset="-122"/>
                </a:endParaRPr>
              </a:p>
            </p:txBody>
          </p:sp>
          <p:sp>
            <p:nvSpPr>
              <p:cNvPr id="31781" name="Text Box 82"/>
              <p:cNvSpPr txBox="1"/>
              <p:nvPr/>
            </p:nvSpPr>
            <p:spPr>
              <a:xfrm>
                <a:off x="4181" y="737"/>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浮点乘</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除法器</a:t>
                </a:r>
                <a:endParaRPr lang="zh-CN" altLang="en-US" sz="1200" b="1" dirty="0">
                  <a:latin typeface="Times New Roman" pitchFamily="18" charset="0"/>
                  <a:ea typeface="宋体" panose="02000500000000000000" pitchFamily="2" charset="-122"/>
                </a:endParaRPr>
              </a:p>
            </p:txBody>
          </p:sp>
          <p:sp>
            <p:nvSpPr>
              <p:cNvPr id="31782" name="Text Box 83"/>
              <p:cNvSpPr txBox="1"/>
              <p:nvPr/>
            </p:nvSpPr>
            <p:spPr>
              <a:xfrm>
                <a:off x="1701" y="731"/>
                <a:ext cx="664" cy="771"/>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p>
                <a:pPr algn="ctr">
                  <a:spcBef>
                    <a:spcPct val="50000"/>
                  </a:spcBef>
                </a:pPr>
                <a:endParaRPr lang="en-US" altLang="zh-CN" sz="1200"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定点</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访存</a:t>
                </a:r>
                <a:endParaRPr lang="zh-CN" altLang="en-US" sz="1200" b="1"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部件</a:t>
                </a:r>
                <a:endParaRPr lang="zh-CN" altLang="en-US" sz="1200" b="1" dirty="0">
                  <a:latin typeface="Times New Roman" pitchFamily="18" charset="0"/>
                  <a:ea typeface="宋体" panose="02000500000000000000" pitchFamily="2" charset="-122"/>
                </a:endParaRPr>
              </a:p>
              <a:p>
                <a:pPr algn="ctr">
                  <a:spcBef>
                    <a:spcPct val="50000"/>
                  </a:spcBef>
                </a:pPr>
                <a:endParaRPr lang="en-US" altLang="zh-CN" sz="1200" b="1" dirty="0">
                  <a:latin typeface="Times New Roman" pitchFamily="18" charset="0"/>
                  <a:ea typeface="宋体" panose="02000500000000000000" pitchFamily="2" charset="-122"/>
                </a:endParaRPr>
              </a:p>
            </p:txBody>
          </p:sp>
        </p:grpSp>
      </p:grpSp>
      <p:sp>
        <p:nvSpPr>
          <p:cNvPr id="31783" name="Text Box 84"/>
          <p:cNvSpPr txBox="1"/>
          <p:nvPr/>
        </p:nvSpPr>
        <p:spPr>
          <a:xfrm>
            <a:off x="6979920" y="5045075"/>
            <a:ext cx="1030605" cy="184150"/>
          </a:xfrm>
          <a:prstGeom prst="rect">
            <a:avLst/>
          </a:prstGeom>
          <a:solidFill>
            <a:schemeClr val="bg1"/>
          </a:solid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指令队列</a:t>
            </a:r>
            <a:endParaRPr lang="zh-CN" altLang="en-US" sz="1200" b="1" dirty="0">
              <a:latin typeface="Times New Roman" pitchFamily="18" charset="0"/>
              <a:ea typeface="宋体" panose="02000500000000000000" pitchFamily="2" charset="-122"/>
            </a:endParaRPr>
          </a:p>
        </p:txBody>
      </p:sp>
      <p:graphicFrame>
        <p:nvGraphicFramePr>
          <p:cNvPr id="3" name="表格 2"/>
          <p:cNvGraphicFramePr/>
          <p:nvPr/>
        </p:nvGraphicFramePr>
        <p:xfrm>
          <a:off x="6799580" y="3837940"/>
          <a:ext cx="2342515" cy="863600"/>
        </p:xfrm>
        <a:graphic>
          <a:graphicData uri="http://schemas.openxmlformats.org/drawingml/2006/table">
            <a:tbl>
              <a:tblPr firstRow="1" bandRow="1">
                <a:tableStyleId>{5C22544A-7EE6-4342-B048-85BDC9FD1C3A}</a:tableStyleId>
              </a:tblPr>
              <a:tblGrid>
                <a:gridCol w="365125"/>
                <a:gridCol w="450850"/>
                <a:gridCol w="1526540"/>
              </a:tblGrid>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3.0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0</a:t>
                      </a:r>
                      <a:endParaRPr lang="en-US" altLang="zh-CN" sz="1200" b="1">
                        <a:solidFill>
                          <a:srgbClr val="FF0000"/>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6.0</a:t>
                      </a:r>
                      <a:endParaRPr lang="en-US" altLang="zh-CN" sz="1200" b="1">
                        <a:solidFill>
                          <a:srgbClr val="FF0000"/>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4" name="表格 3"/>
          <p:cNvGraphicFramePr/>
          <p:nvPr/>
        </p:nvGraphicFramePr>
        <p:xfrm>
          <a:off x="7167880" y="5311775"/>
          <a:ext cx="1930400" cy="1280160"/>
        </p:xfrm>
        <a:graphic>
          <a:graphicData uri="http://schemas.openxmlformats.org/drawingml/2006/table">
            <a:tbl>
              <a:tblPr firstRow="1" bandRow="1">
                <a:tableStyleId>{5C22544A-7EE6-4342-B048-85BDC9FD1C3A}</a:tableStyleId>
              </a:tblPr>
              <a:tblGrid>
                <a:gridCol w="1930400"/>
              </a:tblGrid>
              <a:tr h="213360">
                <a:tc>
                  <a:txBody>
                    <a:bodyPr/>
                    <a:p>
                      <a:pPr indent="0">
                        <a:buNone/>
                      </a:pPr>
                      <a:r>
                        <a:rPr lang="en-US" sz="1200" b="1">
                          <a:solidFill>
                            <a:schemeClr val="tx1"/>
                          </a:solidFill>
                          <a:latin typeface="宋体" panose="02000500000000000000" pitchFamily="2" charset="-122"/>
                          <a:ea typeface="宋体" panose="02000500000000000000" pitchFamily="2" charset="-122"/>
                        </a:rPr>
                        <a:t>FDIV.D  </a:t>
                      </a:r>
                      <a:r>
                        <a:rPr lang="en-US" sz="1200" b="1">
                          <a:solidFill>
                            <a:srgbClr val="FF0000"/>
                          </a:solidFill>
                          <a:latin typeface="宋体" panose="02000500000000000000" pitchFamily="2" charset="-122"/>
                          <a:ea typeface="宋体" panose="02000500000000000000" pitchFamily="2" charset="-122"/>
                        </a:rPr>
                        <a:t>F0</a:t>
                      </a:r>
                      <a:r>
                        <a:rPr lang="en-US" sz="1200" b="1">
                          <a:solidFill>
                            <a:schemeClr val="tx1"/>
                          </a:solidFill>
                          <a:latin typeface="宋体" panose="02000500000000000000" pitchFamily="2" charset="-122"/>
                          <a:ea typeface="宋体" panose="02000500000000000000" pitchFamily="2" charset="-122"/>
                        </a:rPr>
                        <a:t>, F1, F2</a:t>
                      </a:r>
                      <a:endParaRPr lang="en-US" altLang="en-US" sz="1200" b="1">
                        <a:solidFill>
                          <a:schemeClr val="tx1"/>
                        </a:solidFill>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FADD.D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F1,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5" name="表格 4"/>
          <p:cNvGraphicFramePr/>
          <p:nvPr/>
        </p:nvGraphicFramePr>
        <p:xfrm>
          <a:off x="9544050" y="243586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7" name="表格 6"/>
          <p:cNvGraphicFramePr/>
          <p:nvPr/>
        </p:nvGraphicFramePr>
        <p:xfrm>
          <a:off x="6577330" y="245618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9" name="表格 8"/>
          <p:cNvGraphicFramePr/>
          <p:nvPr/>
        </p:nvGraphicFramePr>
        <p:xfrm>
          <a:off x="9486900" y="3822700"/>
          <a:ext cx="2342515" cy="863600"/>
        </p:xfrm>
        <a:graphic>
          <a:graphicData uri="http://schemas.openxmlformats.org/drawingml/2006/table">
            <a:tbl>
              <a:tblPr firstRow="1" bandRow="1">
                <a:tableStyleId>{5C22544A-7EE6-4342-B048-85BDC9FD1C3A}</a:tableStyleId>
              </a:tblPr>
              <a:tblGrid>
                <a:gridCol w="221065"/>
                <a:gridCol w="382270"/>
                <a:gridCol w="387901"/>
                <a:gridCol w="1351279"/>
              </a:tblGrid>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4</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sp>
        <p:nvSpPr>
          <p:cNvPr id="47115" name="Line 15"/>
          <p:cNvSpPr/>
          <p:nvPr/>
        </p:nvSpPr>
        <p:spPr>
          <a:xfrm flipH="1" flipV="1">
            <a:off x="11068050" y="3610610"/>
            <a:ext cx="9525" cy="215900"/>
          </a:xfrm>
          <a:prstGeom prst="line">
            <a:avLst/>
          </a:prstGeom>
          <a:ln w="19050" cap="flat" cmpd="sng">
            <a:solidFill>
              <a:schemeClr val="accent2"/>
            </a:solidFill>
            <a:prstDash val="solid"/>
            <a:round/>
            <a:headEnd type="none" w="med" len="med"/>
            <a:tailEnd type="none" w="med" len="med"/>
          </a:ln>
        </p:spPr>
      </p:sp>
      <p:sp>
        <p:nvSpPr>
          <p:cNvPr id="47131" name="Line 36"/>
          <p:cNvSpPr/>
          <p:nvPr/>
        </p:nvSpPr>
        <p:spPr>
          <a:xfrm flipV="1">
            <a:off x="4904105" y="4940935"/>
            <a:ext cx="2991485" cy="13970"/>
          </a:xfrm>
          <a:prstGeom prst="line">
            <a:avLst/>
          </a:prstGeom>
          <a:ln w="19050" cap="flat" cmpd="sng">
            <a:solidFill>
              <a:schemeClr val="accent2"/>
            </a:solidFill>
            <a:prstDash val="solid"/>
            <a:round/>
            <a:headEnd type="none" w="med" len="med"/>
            <a:tailEnd type="none" w="med" len="med"/>
          </a:ln>
        </p:spPr>
      </p:sp>
      <p:sp>
        <p:nvSpPr>
          <p:cNvPr id="47133" name="Text Box 43"/>
          <p:cNvSpPr txBox="1"/>
          <p:nvPr/>
        </p:nvSpPr>
        <p:spPr>
          <a:xfrm>
            <a:off x="5375910" y="4712335"/>
            <a:ext cx="1089025" cy="184150"/>
          </a:xfrm>
          <a:prstGeom prst="rect">
            <a:avLst/>
          </a:prstGeom>
          <a:noFill/>
          <a:ln w="9525">
            <a:noFill/>
          </a:ln>
          <a:extLst>
            <a:ext uri="{909E8E84-426E-40DD-AFC4-6F175D3DCCD1}">
              <a14:hiddenFill xmlns:a14="http://schemas.microsoft.com/office/drawing/2010/main">
                <a:solidFill>
                  <a:schemeClr val="bg1"/>
                </a:solidFill>
              </a14:hiddenFill>
            </a:ext>
          </a:extLst>
        </p:spPr>
        <p:txBody>
          <a:bodyPr lIns="0" tIns="0" rIns="0" bIns="0" anchor="t" anchorCtr="0">
            <a:spAutoFit/>
          </a:bodyPr>
          <a:p>
            <a:pPr>
              <a:spcBef>
                <a:spcPct val="50000"/>
              </a:spcBef>
            </a:pPr>
            <a:r>
              <a:rPr lang="zh-CN" altLang="en-US" sz="1200" b="1" dirty="0">
                <a:solidFill>
                  <a:schemeClr val="accent2"/>
                </a:solidFill>
                <a:latin typeface="Times New Roman" pitchFamily="18" charset="0"/>
                <a:ea typeface="宋体" panose="02000500000000000000" pitchFamily="2" charset="-122"/>
              </a:rPr>
              <a:t>修改寄存器</a:t>
            </a:r>
            <a:endParaRPr lang="zh-CN" altLang="en-US" sz="1200" b="1" dirty="0">
              <a:solidFill>
                <a:schemeClr val="accent2"/>
              </a:solidFill>
              <a:latin typeface="Times New Roman" pitchFamily="18" charset="0"/>
              <a:ea typeface="宋体" panose="02000500000000000000" pitchFamily="2" charset="-122"/>
            </a:endParaRPr>
          </a:p>
        </p:txBody>
      </p:sp>
      <p:sp>
        <p:nvSpPr>
          <p:cNvPr id="47143" name="Line 37"/>
          <p:cNvSpPr/>
          <p:nvPr/>
        </p:nvSpPr>
        <p:spPr>
          <a:xfrm flipH="1" flipV="1">
            <a:off x="7879715" y="4688205"/>
            <a:ext cx="8255" cy="252095"/>
          </a:xfrm>
          <a:prstGeom prst="line">
            <a:avLst/>
          </a:prstGeom>
          <a:ln w="19050" cap="flat" cmpd="sng">
            <a:solidFill>
              <a:schemeClr val="accent2"/>
            </a:solidFill>
            <a:prstDash val="solid"/>
            <a:round/>
            <a:headEnd type="none" w="med" len="med"/>
            <a:tailEnd type="triangle" w="med" len="med"/>
          </a:ln>
        </p:spPr>
      </p:sp>
      <p:sp>
        <p:nvSpPr>
          <p:cNvPr id="47144" name="Line 38"/>
          <p:cNvSpPr/>
          <p:nvPr/>
        </p:nvSpPr>
        <p:spPr>
          <a:xfrm>
            <a:off x="4868545" y="3616325"/>
            <a:ext cx="6222365" cy="13970"/>
          </a:xfrm>
          <a:prstGeom prst="line">
            <a:avLst/>
          </a:prstGeom>
          <a:ln w="19050" cap="flat" cmpd="sng">
            <a:solidFill>
              <a:schemeClr val="accent2"/>
            </a:solidFill>
            <a:prstDash val="solid"/>
            <a:round/>
            <a:headEnd type="none" w="med" len="med"/>
            <a:tailEnd type="none" w="med" len="med"/>
          </a:ln>
        </p:spPr>
      </p:sp>
      <p:sp>
        <p:nvSpPr>
          <p:cNvPr id="47146" name="Line 41"/>
          <p:cNvSpPr/>
          <p:nvPr/>
        </p:nvSpPr>
        <p:spPr>
          <a:xfrm flipH="1" flipV="1">
            <a:off x="4877435" y="3028315"/>
            <a:ext cx="14605" cy="1934210"/>
          </a:xfrm>
          <a:prstGeom prst="line">
            <a:avLst/>
          </a:prstGeom>
          <a:ln w="19050" cap="flat" cmpd="sng">
            <a:solidFill>
              <a:schemeClr val="accent2"/>
            </a:solidFill>
            <a:prstDash val="solid"/>
            <a:round/>
            <a:headEnd type="none" w="med" len="med"/>
            <a:tailEnd type="triangle" w="med" len="med"/>
          </a:ln>
        </p:spPr>
      </p:sp>
      <p:sp>
        <p:nvSpPr>
          <p:cNvPr id="46082" name="Rectangle 3"/>
          <p:cNvSpPr/>
          <p:nvPr/>
        </p:nvSpPr>
        <p:spPr>
          <a:xfrm>
            <a:off x="912813" y="420688"/>
            <a:ext cx="10361612" cy="523875"/>
          </a:xfrm>
          <a:prstGeom prst="rect">
            <a:avLst/>
          </a:prstGeom>
          <a:noFill/>
          <a:ln w="9525">
            <a:noFill/>
          </a:ln>
        </p:spPr>
        <p:txBody>
          <a:bodyPr anchor="ctr" anchorCtr="0"/>
          <a:p>
            <a:pPr algn="ctr"/>
            <a:r>
              <a:rPr lang="zh-CN" sz="3200" dirty="0">
                <a:solidFill>
                  <a:srgbClr val="FF0000"/>
                </a:solidFill>
                <a:latin typeface="Arial" panose="02080604020202020204" pitchFamily="34" charset="0"/>
                <a:ea typeface="黑体" panose="02000500000000000000" pitchFamily="49" charset="-122"/>
              </a:rPr>
              <a:t>例子</a:t>
            </a:r>
            <a:endParaRPr lang="zh-CN" sz="3200" dirty="0">
              <a:solidFill>
                <a:srgbClr val="FF0000"/>
              </a:solidFill>
              <a:latin typeface="Arial" panose="02080604020202020204" pitchFamily="34" charset="0"/>
              <a:ea typeface="黑体" panose="02000500000000000000" pitchFamily="49" charset="-122"/>
            </a:endParaRPr>
          </a:p>
        </p:txBody>
      </p:sp>
      <p:sp>
        <p:nvSpPr>
          <p:cNvPr id="50195" name="Text Box 44"/>
          <p:cNvSpPr txBox="1"/>
          <p:nvPr/>
        </p:nvSpPr>
        <p:spPr>
          <a:xfrm>
            <a:off x="8543925" y="1234440"/>
            <a:ext cx="1527175" cy="184150"/>
          </a:xfrm>
          <a:prstGeom prst="rect">
            <a:avLst/>
          </a:prstGeom>
          <a:solidFill>
            <a:schemeClr val="bg1"/>
          </a:solidFill>
          <a:ln w="9525">
            <a:noFill/>
          </a:ln>
        </p:spPr>
        <p:txBody>
          <a:bodyPr wrap="square" lIns="0" tIns="0" rIns="0" bIns="0" anchor="t" anchorCtr="0">
            <a:spAutoFit/>
          </a:bodyPr>
          <a:p>
            <a:pPr>
              <a:spcBef>
                <a:spcPct val="50000"/>
              </a:spcBef>
            </a:pPr>
            <a:r>
              <a:rPr lang="zh-CN" altLang="en-US" sz="1200" b="1" dirty="0">
                <a:solidFill>
                  <a:srgbClr val="FF0000"/>
                </a:solidFill>
                <a:latin typeface="宋体" panose="02000500000000000000" pitchFamily="2" charset="-122"/>
                <a:cs typeface="宋体" panose="02000500000000000000" pitchFamily="2" charset="-122"/>
              </a:rPr>
              <a:t>结果总线</a:t>
            </a:r>
            <a:endParaRPr lang="en-US" altLang="zh-CN" sz="1200" b="1" dirty="0">
              <a:solidFill>
                <a:srgbClr val="FF0000"/>
              </a:solidFill>
              <a:latin typeface="宋体" panose="02000500000000000000" pitchFamily="2" charset="-122"/>
              <a:cs typeface="宋体" panose="02000500000000000000" pitchFamily="2" charset="-122"/>
            </a:endParaRPr>
          </a:p>
        </p:txBody>
      </p:sp>
      <p:sp>
        <p:nvSpPr>
          <p:cNvPr id="56322" name="Text Box 3"/>
          <p:cNvSpPr txBox="1"/>
          <p:nvPr/>
        </p:nvSpPr>
        <p:spPr>
          <a:xfrm>
            <a:off x="187325" y="2743200"/>
            <a:ext cx="4187825" cy="3646170"/>
          </a:xfrm>
          <a:prstGeom prst="rect">
            <a:avLst/>
          </a:prstGeom>
          <a:noFill/>
          <a:ln w="9525">
            <a:noFill/>
          </a:ln>
        </p:spPr>
        <p:txBody>
          <a:bodyPr wrap="square" anchor="t" anchorCtr="0">
            <a:spAutoFit/>
          </a:bodyPr>
          <a:p>
            <a:pPr>
              <a:lnSpc>
                <a:spcPct val="150000"/>
              </a:lnSpc>
              <a:buChar char="•"/>
            </a:pPr>
            <a:r>
              <a:rPr lang="en-US" altLang="zh-CN" sz="1400" dirty="0">
                <a:solidFill>
                  <a:srgbClr val="000000"/>
                </a:solidFill>
                <a:latin typeface="宋体" panose="02000500000000000000" pitchFamily="2" charset="-122"/>
                <a:cs typeface="宋体" panose="02000500000000000000" pitchFamily="2" charset="-122"/>
              </a:rPr>
              <a:t>DIV</a:t>
            </a:r>
            <a:r>
              <a:rPr lang="zh-CN" altLang="zh-CN" sz="1400" dirty="0">
                <a:solidFill>
                  <a:srgbClr val="000000"/>
                </a:solidFill>
                <a:latin typeface="宋体" panose="02000500000000000000" pitchFamily="2" charset="-122"/>
                <a:cs typeface="宋体" panose="02000500000000000000" pitchFamily="2" charset="-122"/>
              </a:rPr>
              <a:t>发射，</a:t>
            </a:r>
            <a:r>
              <a:rPr lang="en-US" altLang="zh-CN" sz="1400" dirty="0">
                <a:solidFill>
                  <a:srgbClr val="000000"/>
                </a:solidFill>
                <a:latin typeface="宋体" panose="02000500000000000000" pitchFamily="2" charset="-122"/>
                <a:cs typeface="宋体" panose="02000500000000000000" pitchFamily="2" charset="-122"/>
              </a:rPr>
              <a:t>F1, F2</a:t>
            </a:r>
            <a:r>
              <a:rPr lang="zh-CN" altLang="zh-CN" sz="1400" dirty="0">
                <a:solidFill>
                  <a:srgbClr val="000000"/>
                </a:solidFill>
                <a:latin typeface="宋体" panose="02000500000000000000" pitchFamily="2" charset="-122"/>
                <a:cs typeface="宋体" panose="02000500000000000000" pitchFamily="2" charset="-122"/>
              </a:rPr>
              <a:t>都准备好</a:t>
            </a:r>
            <a:endParaRPr lang="zh-CN" altLang="zh-CN" sz="1400" dirty="0">
              <a:solidFill>
                <a:srgbClr val="000000"/>
              </a:solidFill>
              <a:latin typeface="宋体" panose="02000500000000000000" pitchFamily="2" charset="-122"/>
              <a:cs typeface="宋体" panose="02000500000000000000" pitchFamily="2" charset="-122"/>
            </a:endParaRPr>
          </a:p>
          <a:p>
            <a:pPr>
              <a:lnSpc>
                <a:spcPct val="150000"/>
              </a:lnSpc>
              <a:buChar char="•"/>
            </a:pPr>
            <a:r>
              <a:rPr lang="en-US" altLang="zh-CN" sz="1400" dirty="0">
                <a:latin typeface="宋体" panose="02000500000000000000" pitchFamily="2" charset="-122"/>
                <a:cs typeface="宋体" panose="02000500000000000000" pitchFamily="2" charset="-122"/>
              </a:rPr>
              <a:t>MUL1</a:t>
            </a:r>
            <a:r>
              <a:rPr lang="zh-CN" altLang="zh-CN" sz="1400" dirty="0">
                <a:latin typeface="宋体" panose="02000500000000000000" pitchFamily="2" charset="-122"/>
                <a:cs typeface="宋体" panose="02000500000000000000" pitchFamily="2" charset="-122"/>
              </a:rPr>
              <a:t>发射，</a:t>
            </a:r>
            <a:r>
              <a:rPr lang="en-US" altLang="zh-CN" sz="1400" dirty="0">
                <a:latin typeface="宋体" panose="02000500000000000000" pitchFamily="2" charset="-122"/>
                <a:cs typeface="宋体" panose="02000500000000000000" pitchFamily="2" charset="-122"/>
              </a:rPr>
              <a:t>F0</a:t>
            </a:r>
            <a:r>
              <a:rPr lang="zh-CN" altLang="zh-CN" sz="1400" dirty="0">
                <a:latin typeface="宋体" panose="02000500000000000000" pitchFamily="2" charset="-122"/>
                <a:cs typeface="宋体" panose="02000500000000000000" pitchFamily="2" charset="-122"/>
              </a:rPr>
              <a:t>等待1号</a:t>
            </a:r>
            <a:r>
              <a:rPr lang="en-US" altLang="zh-CN" sz="1400" dirty="0">
                <a:latin typeface="宋体" panose="02000500000000000000" pitchFamily="2" charset="-122"/>
                <a:cs typeface="宋体" panose="02000500000000000000" pitchFamily="2" charset="-122"/>
              </a:rPr>
              <a:t>RB</a:t>
            </a:r>
            <a:r>
              <a:rPr lang="zh-CN" altLang="zh-CN" sz="1400" dirty="0">
                <a:latin typeface="宋体" panose="02000500000000000000" pitchFamily="2" charset="-122"/>
                <a:cs typeface="宋体" panose="02000500000000000000" pitchFamily="2" charset="-122"/>
              </a:rPr>
              <a:t>的结果</a:t>
            </a:r>
            <a:endParaRPr lang="zh-CN" altLang="zh-CN" sz="1400" dirty="0">
              <a:latin typeface="宋体" panose="02000500000000000000" pitchFamily="2" charset="-122"/>
              <a:cs typeface="宋体" panose="02000500000000000000" pitchFamily="2" charset="-122"/>
            </a:endParaRPr>
          </a:p>
          <a:p>
            <a:pPr>
              <a:lnSpc>
                <a:spcPct val="150000"/>
              </a:lnSpc>
              <a:buChar char="•"/>
            </a:pPr>
            <a:r>
              <a:rPr lang="en-US" altLang="zh-CN" sz="1400" dirty="0">
                <a:solidFill>
                  <a:srgbClr val="000000"/>
                </a:solidFill>
                <a:latin typeface="宋体" panose="02000500000000000000" pitchFamily="2" charset="-122"/>
                <a:cs typeface="宋体" panose="02000500000000000000" pitchFamily="2" charset="-122"/>
              </a:rPr>
              <a:t>ADD</a:t>
            </a:r>
            <a:r>
              <a:rPr lang="zh-CN" altLang="zh-CN" sz="1400" dirty="0">
                <a:solidFill>
                  <a:srgbClr val="000000"/>
                </a:solidFill>
                <a:latin typeface="宋体" panose="02000500000000000000" pitchFamily="2" charset="-122"/>
                <a:cs typeface="宋体" panose="02000500000000000000" pitchFamily="2" charset="-122"/>
              </a:rPr>
              <a:t>发射，</a:t>
            </a:r>
            <a:r>
              <a:rPr lang="en-US" altLang="zh-CN" sz="1400" dirty="0">
                <a:solidFill>
                  <a:srgbClr val="000000"/>
                </a:solidFill>
                <a:latin typeface="宋体" panose="02000500000000000000" pitchFamily="2" charset="-122"/>
                <a:cs typeface="宋体" panose="02000500000000000000" pitchFamily="2" charset="-122"/>
              </a:rPr>
              <a:t>F1, F2</a:t>
            </a:r>
            <a:r>
              <a:rPr lang="zh-CN" altLang="zh-CN" sz="1400" dirty="0">
                <a:solidFill>
                  <a:srgbClr val="000000"/>
                </a:solidFill>
                <a:latin typeface="宋体" panose="02000500000000000000" pitchFamily="2" charset="-122"/>
                <a:cs typeface="宋体" panose="02000500000000000000" pitchFamily="2" charset="-122"/>
              </a:rPr>
              <a:t>都准备好</a:t>
            </a:r>
            <a:endParaRPr lang="zh-CN" altLang="zh-CN" sz="1400" dirty="0">
              <a:solidFill>
                <a:srgbClr val="000000"/>
              </a:solidFill>
              <a:latin typeface="宋体" panose="02000500000000000000" pitchFamily="2" charset="-122"/>
              <a:cs typeface="宋体" panose="02000500000000000000" pitchFamily="2" charset="-122"/>
            </a:endParaRPr>
          </a:p>
          <a:p>
            <a:pPr>
              <a:lnSpc>
                <a:spcPct val="150000"/>
              </a:lnSpc>
              <a:buChar char="•"/>
            </a:pPr>
            <a:r>
              <a:rPr lang="en-US" altLang="zh-CN" sz="1400" dirty="0">
                <a:solidFill>
                  <a:srgbClr val="000000"/>
                </a:solidFill>
                <a:latin typeface="宋体" panose="02000500000000000000" pitchFamily="2" charset="-122"/>
                <a:cs typeface="宋体" panose="02000500000000000000" pitchFamily="2" charset="-122"/>
              </a:rPr>
              <a:t>MUL2</a:t>
            </a:r>
            <a:r>
              <a:rPr lang="zh-CN" altLang="zh-CN" sz="1400" dirty="0">
                <a:solidFill>
                  <a:srgbClr val="000000"/>
                </a:solidFill>
                <a:latin typeface="宋体" panose="02000500000000000000" pitchFamily="2" charset="-122"/>
                <a:cs typeface="宋体" panose="02000500000000000000" pitchFamily="2" charset="-122"/>
              </a:rPr>
              <a:t>发射, </a:t>
            </a:r>
            <a:r>
              <a:rPr lang="en-US" altLang="zh-CN" sz="1400" dirty="0">
                <a:solidFill>
                  <a:srgbClr val="000000"/>
                </a:solidFill>
                <a:latin typeface="宋体" panose="02000500000000000000" pitchFamily="2" charset="-122"/>
                <a:cs typeface="宋体" panose="02000500000000000000" pitchFamily="2" charset="-122"/>
              </a:rPr>
              <a:t>F0</a:t>
            </a:r>
            <a:r>
              <a:rPr lang="zh-CN" altLang="zh-CN" sz="1400" dirty="0">
                <a:solidFill>
                  <a:srgbClr val="000000"/>
                </a:solidFill>
                <a:latin typeface="宋体" panose="02000500000000000000" pitchFamily="2" charset="-122"/>
                <a:cs typeface="宋体" panose="02000500000000000000" pitchFamily="2" charset="-122"/>
              </a:rPr>
              <a:t>等待3号</a:t>
            </a:r>
            <a:r>
              <a:rPr lang="en-US" altLang="zh-CN" sz="1400" dirty="0">
                <a:solidFill>
                  <a:srgbClr val="000000"/>
                </a:solidFill>
                <a:latin typeface="宋体" panose="02000500000000000000" pitchFamily="2" charset="-122"/>
                <a:cs typeface="宋体" panose="02000500000000000000" pitchFamily="2" charset="-122"/>
              </a:rPr>
              <a:t>RB</a:t>
            </a:r>
            <a:r>
              <a:rPr lang="zh-CN" altLang="zh-CN" sz="1400" dirty="0">
                <a:solidFill>
                  <a:srgbClr val="000000"/>
                </a:solidFill>
                <a:latin typeface="宋体" panose="02000500000000000000" pitchFamily="2" charset="-122"/>
                <a:cs typeface="宋体" panose="02000500000000000000" pitchFamily="2" charset="-122"/>
              </a:rPr>
              <a:t>的结果</a:t>
            </a:r>
            <a:endParaRPr lang="zh-CN" altLang="zh-CN" sz="1400" dirty="0">
              <a:solidFill>
                <a:srgbClr val="000000"/>
              </a:solidFill>
              <a:latin typeface="宋体" panose="02000500000000000000" pitchFamily="2" charset="-122"/>
              <a:cs typeface="宋体" panose="02000500000000000000" pitchFamily="2" charset="-122"/>
            </a:endParaRPr>
          </a:p>
          <a:p>
            <a:pPr>
              <a:lnSpc>
                <a:spcPct val="150000"/>
              </a:lnSpc>
              <a:buChar char="•"/>
            </a:pPr>
            <a:r>
              <a:rPr lang="en-US" altLang="zh-CN" sz="1400" dirty="0">
                <a:solidFill>
                  <a:srgbClr val="000000"/>
                </a:solidFill>
                <a:latin typeface="宋体" panose="02000500000000000000" pitchFamily="2" charset="-122"/>
                <a:cs typeface="宋体" panose="02000500000000000000" pitchFamily="2" charset="-122"/>
              </a:rPr>
              <a:t>ADD</a:t>
            </a:r>
            <a:r>
              <a:rPr lang="zh-CN" altLang="zh-CN" sz="1400" dirty="0">
                <a:solidFill>
                  <a:srgbClr val="000000"/>
                </a:solidFill>
                <a:latin typeface="宋体" panose="02000500000000000000" pitchFamily="2" charset="-122"/>
                <a:cs typeface="宋体" panose="02000500000000000000" pitchFamily="2" charset="-122"/>
              </a:rPr>
              <a:t>写回</a:t>
            </a:r>
            <a:endParaRPr lang="zh-CN" altLang="zh-CN" sz="1400" dirty="0">
              <a:solidFill>
                <a:srgbClr val="000000"/>
              </a:solidFill>
              <a:latin typeface="宋体" panose="02000500000000000000" pitchFamily="2" charset="-122"/>
              <a:cs typeface="宋体" panose="02000500000000000000" pitchFamily="2" charset="-122"/>
            </a:endParaRPr>
          </a:p>
          <a:p>
            <a:pPr>
              <a:lnSpc>
                <a:spcPct val="150000"/>
              </a:lnSpc>
              <a:buChar char="•"/>
            </a:pPr>
            <a:r>
              <a:rPr lang="en-US" altLang="zh-CN" sz="1400" dirty="0">
                <a:solidFill>
                  <a:srgbClr val="000000"/>
                </a:solidFill>
                <a:latin typeface="宋体" panose="02000500000000000000" pitchFamily="2" charset="-122"/>
                <a:cs typeface="宋体" panose="02000500000000000000" pitchFamily="2" charset="-122"/>
              </a:rPr>
              <a:t>DIV</a:t>
            </a:r>
            <a:r>
              <a:rPr lang="zh-CN" altLang="en-US" sz="1400" dirty="0">
                <a:solidFill>
                  <a:srgbClr val="000000"/>
                </a:solidFill>
                <a:latin typeface="宋体" panose="02000500000000000000" pitchFamily="2" charset="-122"/>
                <a:cs typeface="宋体" panose="02000500000000000000" pitchFamily="2" charset="-122"/>
              </a:rPr>
              <a:t>写回</a:t>
            </a:r>
            <a:endParaRPr lang="zh-CN" altLang="en-US" sz="1400" dirty="0">
              <a:solidFill>
                <a:srgbClr val="000000"/>
              </a:solidFill>
              <a:latin typeface="宋体" panose="02000500000000000000" pitchFamily="2" charset="-122"/>
              <a:cs typeface="宋体" panose="02000500000000000000" pitchFamily="2" charset="-122"/>
            </a:endParaRPr>
          </a:p>
          <a:p>
            <a:pPr>
              <a:lnSpc>
                <a:spcPct val="150000"/>
              </a:lnSpc>
              <a:buChar char="•"/>
            </a:pPr>
            <a:r>
              <a:rPr lang="en-US" altLang="zh-CN" sz="1400" dirty="0">
                <a:solidFill>
                  <a:schemeClr val="tx1"/>
                </a:solidFill>
                <a:latin typeface="宋体" panose="02000500000000000000" pitchFamily="2" charset="-122"/>
                <a:cs typeface="宋体" panose="02000500000000000000" pitchFamily="2" charset="-122"/>
              </a:rPr>
              <a:t>DIV </a:t>
            </a:r>
            <a:r>
              <a:rPr lang="zh-CN" altLang="en-US" sz="1400" dirty="0">
                <a:solidFill>
                  <a:schemeClr val="tx1"/>
                </a:solidFill>
                <a:latin typeface="宋体" panose="02000500000000000000" pitchFamily="2" charset="-122"/>
                <a:cs typeface="宋体" panose="02000500000000000000" pitchFamily="2" charset="-122"/>
              </a:rPr>
              <a:t>提交（写回寄存器）</a:t>
            </a:r>
            <a:r>
              <a:rPr lang="en-US" altLang="zh-CN" sz="1400" dirty="0">
                <a:solidFill>
                  <a:schemeClr val="tx1"/>
                </a:solidFill>
                <a:latin typeface="宋体" panose="02000500000000000000" pitchFamily="2" charset="-122"/>
                <a:cs typeface="宋体" panose="02000500000000000000" pitchFamily="2" charset="-122"/>
              </a:rPr>
              <a:t>, MUL2</a:t>
            </a:r>
            <a:r>
              <a:rPr lang="zh-CN" altLang="en-US" sz="1400" dirty="0">
                <a:solidFill>
                  <a:schemeClr val="tx1"/>
                </a:solidFill>
                <a:latin typeface="宋体" panose="02000500000000000000" pitchFamily="2" charset="-122"/>
                <a:cs typeface="宋体" panose="02000500000000000000" pitchFamily="2" charset="-122"/>
              </a:rPr>
              <a:t>写回</a:t>
            </a:r>
            <a:endParaRPr lang="zh-CN" altLang="en-US" sz="1400" dirty="0">
              <a:solidFill>
                <a:schemeClr val="tx1"/>
              </a:solidFill>
              <a:latin typeface="宋体" panose="02000500000000000000" pitchFamily="2" charset="-122"/>
              <a:cs typeface="宋体" panose="02000500000000000000" pitchFamily="2" charset="-122"/>
            </a:endParaRPr>
          </a:p>
          <a:p>
            <a:pPr>
              <a:lnSpc>
                <a:spcPct val="150000"/>
              </a:lnSpc>
              <a:buChar char="•"/>
            </a:pPr>
            <a:r>
              <a:rPr lang="en-US" altLang="zh-CN" sz="1400" dirty="0">
                <a:solidFill>
                  <a:schemeClr val="tx1"/>
                </a:solidFill>
                <a:latin typeface="宋体" panose="02000500000000000000" pitchFamily="2" charset="-122"/>
                <a:cs typeface="宋体" panose="02000500000000000000" pitchFamily="2" charset="-122"/>
                <a:sym typeface="+mn-ea"/>
              </a:rPr>
              <a:t>MUL1</a:t>
            </a:r>
            <a:r>
              <a:rPr lang="zh-CN" altLang="en-US" sz="1400" dirty="0">
                <a:solidFill>
                  <a:schemeClr val="tx1"/>
                </a:solidFill>
                <a:latin typeface="宋体" panose="02000500000000000000" pitchFamily="2" charset="-122"/>
                <a:cs typeface="宋体" panose="02000500000000000000" pitchFamily="2" charset="-122"/>
                <a:sym typeface="+mn-ea"/>
              </a:rPr>
              <a:t>写回</a:t>
            </a:r>
            <a:endParaRPr lang="zh-CN" altLang="en-US" sz="1400" dirty="0">
              <a:solidFill>
                <a:schemeClr val="tx1"/>
              </a:solidFill>
              <a:latin typeface="宋体" panose="02000500000000000000" pitchFamily="2" charset="-122"/>
              <a:cs typeface="宋体" panose="02000500000000000000" pitchFamily="2" charset="-122"/>
              <a:sym typeface="+mn-ea"/>
            </a:endParaRPr>
          </a:p>
          <a:p>
            <a:pPr>
              <a:lnSpc>
                <a:spcPct val="150000"/>
              </a:lnSpc>
              <a:buChar char="•"/>
            </a:pPr>
            <a:r>
              <a:rPr lang="en-US" altLang="zh-CN" sz="1400" dirty="0">
                <a:solidFill>
                  <a:schemeClr val="tx1"/>
                </a:solidFill>
                <a:latin typeface="宋体" panose="02000500000000000000" pitchFamily="2" charset="-122"/>
                <a:cs typeface="宋体" panose="02000500000000000000" pitchFamily="2" charset="-122"/>
                <a:sym typeface="+mn-ea"/>
              </a:rPr>
              <a:t>MUL1</a:t>
            </a:r>
            <a:r>
              <a:rPr lang="zh-CN" altLang="en-US" sz="1400" dirty="0">
                <a:solidFill>
                  <a:schemeClr val="tx1"/>
                </a:solidFill>
                <a:latin typeface="宋体" panose="02000500000000000000" pitchFamily="2" charset="-122"/>
                <a:cs typeface="宋体" panose="02000500000000000000" pitchFamily="2" charset="-122"/>
                <a:sym typeface="+mn-ea"/>
              </a:rPr>
              <a:t>提交</a:t>
            </a:r>
            <a:endParaRPr lang="zh-CN" altLang="en-US" sz="1400" dirty="0">
              <a:solidFill>
                <a:schemeClr val="tx1"/>
              </a:solidFill>
              <a:latin typeface="宋体" panose="02000500000000000000" pitchFamily="2" charset="-122"/>
              <a:cs typeface="宋体" panose="02000500000000000000" pitchFamily="2" charset="-122"/>
              <a:sym typeface="+mn-ea"/>
            </a:endParaRPr>
          </a:p>
          <a:p>
            <a:pPr>
              <a:lnSpc>
                <a:spcPct val="150000"/>
              </a:lnSpc>
              <a:buChar char="•"/>
            </a:pPr>
            <a:r>
              <a:rPr lang="en-US" altLang="zh-CN" sz="1400" dirty="0">
                <a:solidFill>
                  <a:schemeClr val="tx1"/>
                </a:solidFill>
                <a:latin typeface="宋体" panose="02000500000000000000" pitchFamily="2" charset="-122"/>
                <a:cs typeface="宋体" panose="02000500000000000000" pitchFamily="2" charset="-122"/>
                <a:sym typeface="+mn-ea"/>
              </a:rPr>
              <a:t>ADD</a:t>
            </a:r>
            <a:r>
              <a:rPr lang="zh-CN" altLang="en-US" sz="1400" dirty="0">
                <a:solidFill>
                  <a:schemeClr val="tx1"/>
                </a:solidFill>
                <a:latin typeface="宋体" panose="02000500000000000000" pitchFamily="2" charset="-122"/>
                <a:cs typeface="宋体" panose="02000500000000000000" pitchFamily="2" charset="-122"/>
                <a:sym typeface="+mn-ea"/>
              </a:rPr>
              <a:t>提交</a:t>
            </a:r>
            <a:endParaRPr lang="zh-CN" altLang="en-US" sz="1400" dirty="0">
              <a:solidFill>
                <a:schemeClr val="tx1"/>
              </a:solidFill>
              <a:latin typeface="宋体" panose="02000500000000000000" pitchFamily="2" charset="-122"/>
              <a:cs typeface="宋体" panose="02000500000000000000" pitchFamily="2" charset="-122"/>
              <a:sym typeface="+mn-ea"/>
            </a:endParaRPr>
          </a:p>
          <a:p>
            <a:pPr>
              <a:lnSpc>
                <a:spcPct val="150000"/>
              </a:lnSpc>
              <a:buChar char="•"/>
            </a:pPr>
            <a:r>
              <a:rPr lang="en-US" altLang="zh-CN" sz="1400" dirty="0">
                <a:solidFill>
                  <a:srgbClr val="FF0000"/>
                </a:solidFill>
                <a:latin typeface="宋体" panose="02000500000000000000" pitchFamily="2" charset="-122"/>
                <a:cs typeface="宋体" panose="02000500000000000000" pitchFamily="2" charset="-122"/>
                <a:sym typeface="+mn-ea"/>
              </a:rPr>
              <a:t>MUL2</a:t>
            </a:r>
            <a:r>
              <a:rPr lang="zh-CN" altLang="en-US" sz="1400" dirty="0">
                <a:solidFill>
                  <a:srgbClr val="FF0000"/>
                </a:solidFill>
                <a:latin typeface="宋体" panose="02000500000000000000" pitchFamily="2" charset="-122"/>
                <a:cs typeface="宋体" panose="02000500000000000000" pitchFamily="2" charset="-122"/>
                <a:sym typeface="+mn-ea"/>
              </a:rPr>
              <a:t>提交</a:t>
            </a:r>
            <a:endParaRPr lang="zh-CN" altLang="en-US" sz="1400" dirty="0">
              <a:solidFill>
                <a:schemeClr val="tx1"/>
              </a:solidFill>
              <a:latin typeface="宋体" panose="02000500000000000000" pitchFamily="2" charset="-122"/>
              <a:cs typeface="宋体" panose="02000500000000000000" pitchFamily="2"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1" name="Rectangle 3"/>
          <p:cNvSpPr>
            <a:spLocks noGrp="1"/>
          </p:cNvSpPr>
          <p:nvPr>
            <p:ph type="title"/>
          </p:nvPr>
        </p:nvSpPr>
        <p:spPr/>
        <p:txBody>
          <a:bodyPr vert="horz" wrap="square" lIns="91440" tIns="45720" rIns="91440" bIns="45720" anchor="ctr" anchorCtr="0"/>
          <a:p>
            <a:pPr eaLnBrk="1" hangingPunct="1"/>
            <a:r>
              <a:rPr lang="zh-CN" altLang="en-US" dirty="0"/>
              <a:t>假设</a:t>
            </a:r>
            <a:r>
              <a:rPr lang="en-US" altLang="zh-CN" dirty="0"/>
              <a:t>ADD</a:t>
            </a:r>
            <a:r>
              <a:rPr lang="zh-CN" altLang="en-US" dirty="0"/>
              <a:t>发生了溢出例外</a:t>
            </a:r>
            <a:endParaRPr lang="zh-CN" altLang="en-US" dirty="0"/>
          </a:p>
        </p:txBody>
      </p:sp>
      <p:sp>
        <p:nvSpPr>
          <p:cNvPr id="61442" name="灯片编号占位符 4"/>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buSzTx/>
            </a:pPr>
            <a:fld id="{9A0DB2DC-4C9A-4742-B13C-FB6460FD3503}" type="slidenum">
              <a:rPr lang="en-US" altLang="zh-CN" sz="1400" dirty="0"/>
            </a:fld>
            <a:endParaRPr lang="en-US" altLang="zh-CN" sz="14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51" name="Line 52"/>
          <p:cNvSpPr/>
          <p:nvPr/>
        </p:nvSpPr>
        <p:spPr>
          <a:xfrm flipV="1">
            <a:off x="7390765" y="2116455"/>
            <a:ext cx="0" cy="335280"/>
          </a:xfrm>
          <a:prstGeom prst="line">
            <a:avLst/>
          </a:prstGeom>
          <a:ln w="9525" cap="flat" cmpd="sng">
            <a:solidFill>
              <a:schemeClr val="tx1"/>
            </a:solidFill>
            <a:prstDash val="solid"/>
            <a:round/>
            <a:headEnd type="none" w="med" len="med"/>
            <a:tailEnd type="triangle" w="med" len="med"/>
          </a:ln>
        </p:spPr>
      </p:sp>
      <p:sp>
        <p:nvSpPr>
          <p:cNvPr id="31752" name="Line 53"/>
          <p:cNvSpPr/>
          <p:nvPr/>
        </p:nvSpPr>
        <p:spPr>
          <a:xfrm flipV="1">
            <a:off x="8270875" y="2116455"/>
            <a:ext cx="0" cy="335280"/>
          </a:xfrm>
          <a:prstGeom prst="line">
            <a:avLst/>
          </a:prstGeom>
          <a:ln w="9525" cap="flat" cmpd="sng">
            <a:solidFill>
              <a:schemeClr val="tx1"/>
            </a:solidFill>
            <a:prstDash val="solid"/>
            <a:round/>
            <a:headEnd type="none" w="med" len="med"/>
            <a:tailEnd type="triangle" w="med" len="med"/>
          </a:ln>
        </p:spPr>
      </p:sp>
      <p:sp>
        <p:nvSpPr>
          <p:cNvPr id="31753" name="Line 54"/>
          <p:cNvSpPr/>
          <p:nvPr/>
        </p:nvSpPr>
        <p:spPr>
          <a:xfrm flipV="1">
            <a:off x="10353675" y="2103755"/>
            <a:ext cx="0" cy="335280"/>
          </a:xfrm>
          <a:prstGeom prst="line">
            <a:avLst/>
          </a:prstGeom>
          <a:ln w="9525" cap="flat" cmpd="sng">
            <a:solidFill>
              <a:schemeClr val="tx1"/>
            </a:solidFill>
            <a:prstDash val="solid"/>
            <a:round/>
            <a:headEnd type="none" w="med" len="med"/>
            <a:tailEnd type="triangle" w="med" len="med"/>
          </a:ln>
        </p:spPr>
      </p:sp>
      <p:sp>
        <p:nvSpPr>
          <p:cNvPr id="31754" name="Line 55"/>
          <p:cNvSpPr/>
          <p:nvPr/>
        </p:nvSpPr>
        <p:spPr>
          <a:xfrm flipV="1">
            <a:off x="11301730" y="2091055"/>
            <a:ext cx="0" cy="335280"/>
          </a:xfrm>
          <a:prstGeom prst="line">
            <a:avLst/>
          </a:prstGeom>
          <a:ln w="9525" cap="flat" cmpd="sng">
            <a:solidFill>
              <a:schemeClr val="tx1"/>
            </a:solidFill>
            <a:prstDash val="solid"/>
            <a:round/>
            <a:headEnd type="none" w="med" len="med"/>
            <a:tailEnd type="triangle" w="med" len="med"/>
          </a:ln>
        </p:spPr>
      </p:sp>
      <p:sp>
        <p:nvSpPr>
          <p:cNvPr id="31755" name="Line 56"/>
          <p:cNvSpPr/>
          <p:nvPr/>
        </p:nvSpPr>
        <p:spPr>
          <a:xfrm flipV="1">
            <a:off x="8137525" y="4694555"/>
            <a:ext cx="0" cy="617855"/>
          </a:xfrm>
          <a:prstGeom prst="line">
            <a:avLst/>
          </a:prstGeom>
          <a:ln w="19050" cap="flat" cmpd="sng">
            <a:solidFill>
              <a:schemeClr val="tx1"/>
            </a:solidFill>
            <a:prstDash val="solid"/>
            <a:round/>
            <a:headEnd type="none" w="med" len="med"/>
            <a:tailEnd type="triangle" w="med" len="med"/>
          </a:ln>
        </p:spPr>
      </p:sp>
      <p:sp>
        <p:nvSpPr>
          <p:cNvPr id="31756" name="Line 57"/>
          <p:cNvSpPr/>
          <p:nvPr/>
        </p:nvSpPr>
        <p:spPr>
          <a:xfrm flipV="1">
            <a:off x="7794625" y="3044825"/>
            <a:ext cx="0" cy="247650"/>
          </a:xfrm>
          <a:prstGeom prst="line">
            <a:avLst/>
          </a:prstGeom>
          <a:ln w="19050" cap="flat" cmpd="sng">
            <a:solidFill>
              <a:schemeClr val="tx1"/>
            </a:solidFill>
            <a:prstDash val="solid"/>
            <a:round/>
            <a:headEnd type="none" w="med" len="med"/>
            <a:tailEnd type="triangle" w="med" len="med"/>
          </a:ln>
        </p:spPr>
      </p:sp>
      <p:sp>
        <p:nvSpPr>
          <p:cNvPr id="31757" name="Line 58"/>
          <p:cNvSpPr/>
          <p:nvPr/>
        </p:nvSpPr>
        <p:spPr>
          <a:xfrm flipV="1">
            <a:off x="10788015" y="3037205"/>
            <a:ext cx="0" cy="260350"/>
          </a:xfrm>
          <a:prstGeom prst="line">
            <a:avLst/>
          </a:prstGeom>
          <a:ln w="19050" cap="flat" cmpd="sng">
            <a:solidFill>
              <a:schemeClr val="tx1"/>
            </a:solidFill>
            <a:prstDash val="solid"/>
            <a:round/>
            <a:headEnd type="none" w="med" len="med"/>
            <a:tailEnd type="triangle" w="med" len="med"/>
          </a:ln>
        </p:spPr>
      </p:sp>
      <p:sp>
        <p:nvSpPr>
          <p:cNvPr id="31758" name="Line 59"/>
          <p:cNvSpPr/>
          <p:nvPr/>
        </p:nvSpPr>
        <p:spPr>
          <a:xfrm flipV="1">
            <a:off x="10813415" y="1449705"/>
            <a:ext cx="0" cy="370205"/>
          </a:xfrm>
          <a:prstGeom prst="line">
            <a:avLst/>
          </a:prstGeom>
          <a:ln w="19050" cap="flat" cmpd="sng">
            <a:solidFill>
              <a:srgbClr val="FF0000"/>
            </a:solidFill>
            <a:prstDash val="solid"/>
            <a:round/>
            <a:headEnd type="none" w="med" len="med"/>
            <a:tailEnd type="triangle" w="med" len="med"/>
          </a:ln>
        </p:spPr>
      </p:sp>
      <p:sp>
        <p:nvSpPr>
          <p:cNvPr id="31759" name="Line 60"/>
          <p:cNvSpPr/>
          <p:nvPr/>
        </p:nvSpPr>
        <p:spPr>
          <a:xfrm flipV="1">
            <a:off x="7881620" y="1466850"/>
            <a:ext cx="0" cy="370205"/>
          </a:xfrm>
          <a:prstGeom prst="line">
            <a:avLst/>
          </a:prstGeom>
          <a:ln w="19050" cap="flat" cmpd="sng">
            <a:solidFill>
              <a:schemeClr val="tx1"/>
            </a:solidFill>
            <a:prstDash val="solid"/>
            <a:round/>
            <a:headEnd type="none" w="med" len="med"/>
            <a:tailEnd type="triangle" w="med" len="med"/>
          </a:ln>
        </p:spPr>
      </p:sp>
      <p:sp>
        <p:nvSpPr>
          <p:cNvPr id="31760" name="Line 61"/>
          <p:cNvSpPr/>
          <p:nvPr/>
        </p:nvSpPr>
        <p:spPr>
          <a:xfrm>
            <a:off x="5155565" y="1460500"/>
            <a:ext cx="7009765" cy="0"/>
          </a:xfrm>
          <a:prstGeom prst="line">
            <a:avLst/>
          </a:prstGeom>
          <a:ln w="19050" cap="flat" cmpd="sng">
            <a:solidFill>
              <a:srgbClr val="FF0000"/>
            </a:solidFill>
            <a:prstDash val="solid"/>
            <a:round/>
            <a:headEnd type="none" w="med" len="med"/>
            <a:tailEnd type="none" w="med" len="med"/>
          </a:ln>
        </p:spPr>
      </p:sp>
      <p:sp>
        <p:nvSpPr>
          <p:cNvPr id="31761" name="Line 62"/>
          <p:cNvSpPr/>
          <p:nvPr/>
        </p:nvSpPr>
        <p:spPr>
          <a:xfrm flipH="1" flipV="1">
            <a:off x="7160895" y="3035300"/>
            <a:ext cx="635" cy="389255"/>
          </a:xfrm>
          <a:prstGeom prst="line">
            <a:avLst/>
          </a:prstGeom>
          <a:ln w="19050" cap="flat" cmpd="sng">
            <a:solidFill>
              <a:srgbClr val="FF0000"/>
            </a:solidFill>
            <a:prstDash val="solid"/>
            <a:round/>
            <a:headEnd type="none" w="med" len="med"/>
            <a:tailEnd type="triangle" w="med" len="med"/>
          </a:ln>
        </p:spPr>
      </p:sp>
      <p:sp>
        <p:nvSpPr>
          <p:cNvPr id="31762" name="Line 63"/>
          <p:cNvSpPr/>
          <p:nvPr/>
        </p:nvSpPr>
        <p:spPr>
          <a:xfrm flipV="1">
            <a:off x="11272520" y="3027680"/>
            <a:ext cx="635" cy="410845"/>
          </a:xfrm>
          <a:prstGeom prst="line">
            <a:avLst/>
          </a:prstGeom>
          <a:ln w="19050" cap="flat" cmpd="sng">
            <a:solidFill>
              <a:srgbClr val="FF0000"/>
            </a:solidFill>
            <a:prstDash val="solid"/>
            <a:round/>
            <a:headEnd type="none" w="med" len="med"/>
            <a:tailEnd type="triangle" w="med" len="med"/>
          </a:ln>
        </p:spPr>
      </p:sp>
      <p:sp>
        <p:nvSpPr>
          <p:cNvPr id="31763" name="Line 64"/>
          <p:cNvSpPr/>
          <p:nvPr/>
        </p:nvSpPr>
        <p:spPr>
          <a:xfrm>
            <a:off x="12150725" y="1463040"/>
            <a:ext cx="635" cy="3496945"/>
          </a:xfrm>
          <a:prstGeom prst="line">
            <a:avLst/>
          </a:prstGeom>
          <a:ln w="19050" cap="flat" cmpd="sng">
            <a:solidFill>
              <a:srgbClr val="FF0000"/>
            </a:solidFill>
            <a:prstDash val="solid"/>
            <a:round/>
            <a:headEnd type="none" w="med" len="med"/>
            <a:tailEnd type="none" w="med" len="med"/>
          </a:ln>
        </p:spPr>
      </p:sp>
      <p:sp>
        <p:nvSpPr>
          <p:cNvPr id="31764" name="Line 65"/>
          <p:cNvSpPr/>
          <p:nvPr/>
        </p:nvSpPr>
        <p:spPr>
          <a:xfrm flipV="1">
            <a:off x="8114665" y="3270250"/>
            <a:ext cx="0" cy="581025"/>
          </a:xfrm>
          <a:prstGeom prst="line">
            <a:avLst/>
          </a:prstGeom>
          <a:ln w="19050" cap="flat" cmpd="sng">
            <a:solidFill>
              <a:schemeClr val="tx1"/>
            </a:solidFill>
            <a:prstDash val="solid"/>
            <a:round/>
            <a:headEnd type="none" w="med" len="med"/>
            <a:tailEnd type="triangle" w="med" len="med"/>
          </a:ln>
        </p:spPr>
      </p:sp>
      <p:sp>
        <p:nvSpPr>
          <p:cNvPr id="31765" name="Text Box 66"/>
          <p:cNvSpPr txBox="1"/>
          <p:nvPr/>
        </p:nvSpPr>
        <p:spPr>
          <a:xfrm>
            <a:off x="6283960" y="2246630"/>
            <a:ext cx="1039495" cy="18415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加法保留站</a:t>
            </a:r>
            <a:endParaRPr lang="zh-CN" altLang="en-US" sz="1200" b="1" dirty="0">
              <a:latin typeface="Times New Roman" pitchFamily="18" charset="0"/>
              <a:ea typeface="宋体" panose="02000500000000000000" pitchFamily="2" charset="-122"/>
            </a:endParaRPr>
          </a:p>
        </p:txBody>
      </p:sp>
      <p:sp>
        <p:nvSpPr>
          <p:cNvPr id="31766" name="Text Box 67"/>
          <p:cNvSpPr txBox="1"/>
          <p:nvPr/>
        </p:nvSpPr>
        <p:spPr>
          <a:xfrm>
            <a:off x="6925310" y="3675380"/>
            <a:ext cx="1090295" cy="184150"/>
          </a:xfrm>
          <a:prstGeom prst="rect">
            <a:avLst/>
          </a:prstGeom>
          <a:noFill/>
          <a:ln w="9525">
            <a:noFill/>
          </a:ln>
          <a:extLst>
            <a:ext uri="{909E8E84-426E-40DD-AFC4-6F175D3DCCD1}">
              <a14:hiddenFill xmlns:a14="http://schemas.microsoft.com/office/drawing/2010/main">
                <a:solidFill>
                  <a:schemeClr val="bg1"/>
                </a:solidFill>
              </a14:hiddenFill>
            </a:ext>
          </a:extLst>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浮点寄存器</a:t>
            </a:r>
            <a:endParaRPr lang="zh-CN" altLang="en-US" sz="1200" b="1" dirty="0">
              <a:latin typeface="Times New Roman" pitchFamily="18" charset="0"/>
              <a:ea typeface="宋体" panose="02000500000000000000" pitchFamily="2" charset="-122"/>
            </a:endParaRPr>
          </a:p>
        </p:txBody>
      </p:sp>
      <p:sp>
        <p:nvSpPr>
          <p:cNvPr id="31767" name="Text Box 68"/>
          <p:cNvSpPr txBox="1"/>
          <p:nvPr/>
        </p:nvSpPr>
        <p:spPr>
          <a:xfrm>
            <a:off x="9289415" y="2235200"/>
            <a:ext cx="1039495" cy="18415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乘法保留站</a:t>
            </a:r>
            <a:endParaRPr lang="zh-CN" altLang="en-US" sz="1200" b="1" dirty="0">
              <a:latin typeface="Times New Roman" pitchFamily="18" charset="0"/>
              <a:ea typeface="宋体" panose="02000500000000000000" pitchFamily="2" charset="-122"/>
            </a:endParaRPr>
          </a:p>
        </p:txBody>
      </p:sp>
      <p:sp>
        <p:nvSpPr>
          <p:cNvPr id="31768" name="Line 69"/>
          <p:cNvSpPr/>
          <p:nvPr/>
        </p:nvSpPr>
        <p:spPr>
          <a:xfrm>
            <a:off x="10807065" y="4959985"/>
            <a:ext cx="1358265" cy="635"/>
          </a:xfrm>
          <a:prstGeom prst="line">
            <a:avLst/>
          </a:prstGeom>
          <a:ln w="19050" cap="flat" cmpd="sng">
            <a:solidFill>
              <a:srgbClr val="FF0000"/>
            </a:solidFill>
            <a:prstDash val="solid"/>
            <a:round/>
            <a:headEnd type="none" w="med" len="med"/>
            <a:tailEnd type="none" w="med" len="med"/>
          </a:ln>
        </p:spPr>
      </p:sp>
      <p:sp>
        <p:nvSpPr>
          <p:cNvPr id="31769" name="Line 70"/>
          <p:cNvSpPr/>
          <p:nvPr/>
        </p:nvSpPr>
        <p:spPr>
          <a:xfrm flipV="1">
            <a:off x="10812145" y="4701540"/>
            <a:ext cx="1905" cy="260350"/>
          </a:xfrm>
          <a:prstGeom prst="line">
            <a:avLst/>
          </a:prstGeom>
          <a:ln w="19050" cap="flat" cmpd="sng">
            <a:solidFill>
              <a:srgbClr val="FF0000"/>
            </a:solidFill>
            <a:prstDash val="solid"/>
            <a:round/>
            <a:headEnd type="none" w="med" len="med"/>
            <a:tailEnd type="triangle" w="med" len="med"/>
          </a:ln>
        </p:spPr>
      </p:sp>
      <p:grpSp>
        <p:nvGrpSpPr>
          <p:cNvPr id="31772" name="Group 73"/>
          <p:cNvGrpSpPr/>
          <p:nvPr/>
        </p:nvGrpSpPr>
        <p:grpSpPr>
          <a:xfrm rot="0">
            <a:off x="4488815" y="1461135"/>
            <a:ext cx="7679055" cy="1970389"/>
            <a:chOff x="1701" y="512"/>
            <a:chExt cx="3628" cy="1241"/>
          </a:xfrm>
        </p:grpSpPr>
        <p:sp>
          <p:nvSpPr>
            <p:cNvPr id="31773" name="Line 74"/>
            <p:cNvSpPr/>
            <p:nvPr/>
          </p:nvSpPr>
          <p:spPr>
            <a:xfrm flipV="1">
              <a:off x="2154" y="1661"/>
              <a:ext cx="2518" cy="0"/>
            </a:xfrm>
            <a:prstGeom prst="line">
              <a:avLst/>
            </a:prstGeom>
            <a:ln w="19050" cap="flat" cmpd="sng">
              <a:solidFill>
                <a:schemeClr val="tx1"/>
              </a:solidFill>
              <a:prstDash val="solid"/>
              <a:round/>
              <a:headEnd type="none" w="med" len="med"/>
              <a:tailEnd type="none" w="med" len="med"/>
            </a:ln>
          </p:spPr>
        </p:sp>
        <p:sp>
          <p:nvSpPr>
            <p:cNvPr id="31774" name="Line 75"/>
            <p:cNvSpPr/>
            <p:nvPr/>
          </p:nvSpPr>
          <p:spPr>
            <a:xfrm flipV="1">
              <a:off x="2010" y="1753"/>
              <a:ext cx="3319" cy="0"/>
            </a:xfrm>
            <a:prstGeom prst="line">
              <a:avLst/>
            </a:prstGeom>
            <a:ln w="19050" cap="flat" cmpd="sng">
              <a:solidFill>
                <a:srgbClr val="FF0000"/>
              </a:solidFill>
              <a:prstDash val="solid"/>
              <a:round/>
              <a:headEnd type="none" w="med" len="med"/>
              <a:tailEnd type="none" w="med" len="med"/>
            </a:ln>
          </p:spPr>
        </p:sp>
        <p:grpSp>
          <p:nvGrpSpPr>
            <p:cNvPr id="31775" name="Group 76"/>
            <p:cNvGrpSpPr/>
            <p:nvPr/>
          </p:nvGrpSpPr>
          <p:grpSpPr>
            <a:xfrm>
              <a:off x="1701" y="512"/>
              <a:ext cx="3494" cy="1239"/>
              <a:chOff x="1701" y="512"/>
              <a:chExt cx="3494" cy="1239"/>
            </a:xfrm>
          </p:grpSpPr>
          <p:grpSp>
            <p:nvGrpSpPr>
              <p:cNvPr id="31776" name="Group 77"/>
              <p:cNvGrpSpPr/>
              <p:nvPr/>
            </p:nvGrpSpPr>
            <p:grpSpPr>
              <a:xfrm>
                <a:off x="2019" y="512"/>
                <a:ext cx="135" cy="1239"/>
                <a:chOff x="2019" y="512"/>
                <a:chExt cx="135" cy="1239"/>
              </a:xfrm>
            </p:grpSpPr>
            <p:sp>
              <p:nvSpPr>
                <p:cNvPr id="31777" name="Line 78"/>
                <p:cNvSpPr/>
                <p:nvPr/>
              </p:nvSpPr>
              <p:spPr>
                <a:xfrm flipV="1">
                  <a:off x="2022" y="512"/>
                  <a:ext cx="0" cy="233"/>
                </a:xfrm>
                <a:prstGeom prst="line">
                  <a:avLst/>
                </a:prstGeom>
                <a:ln w="19050" cap="flat" cmpd="sng">
                  <a:solidFill>
                    <a:schemeClr val="tx1"/>
                  </a:solidFill>
                  <a:prstDash val="solid"/>
                  <a:round/>
                  <a:headEnd type="none" w="med" len="med"/>
                  <a:tailEnd type="triangle" w="med" len="med"/>
                </a:ln>
              </p:spPr>
            </p:sp>
            <p:sp>
              <p:nvSpPr>
                <p:cNvPr id="31778" name="Line 79"/>
                <p:cNvSpPr/>
                <p:nvPr/>
              </p:nvSpPr>
              <p:spPr>
                <a:xfrm flipH="1" flipV="1">
                  <a:off x="2019" y="1502"/>
                  <a:ext cx="3" cy="249"/>
                </a:xfrm>
                <a:prstGeom prst="line">
                  <a:avLst/>
                </a:prstGeom>
                <a:ln w="19050" cap="flat" cmpd="sng">
                  <a:solidFill>
                    <a:srgbClr val="FF0000"/>
                  </a:solidFill>
                  <a:prstDash val="solid"/>
                  <a:round/>
                  <a:headEnd type="none" w="med" len="med"/>
                  <a:tailEnd type="triangle" w="med" len="med"/>
                </a:ln>
              </p:spPr>
            </p:sp>
            <p:sp>
              <p:nvSpPr>
                <p:cNvPr id="31779" name="Line 80"/>
                <p:cNvSpPr/>
                <p:nvPr/>
              </p:nvSpPr>
              <p:spPr>
                <a:xfrm flipV="1">
                  <a:off x="2154" y="1508"/>
                  <a:ext cx="0" cy="156"/>
                </a:xfrm>
                <a:prstGeom prst="line">
                  <a:avLst/>
                </a:prstGeom>
                <a:ln w="19050" cap="flat" cmpd="sng">
                  <a:solidFill>
                    <a:schemeClr val="tx1"/>
                  </a:solidFill>
                  <a:prstDash val="solid"/>
                  <a:round/>
                  <a:headEnd type="none" w="med" len="med"/>
                  <a:tailEnd type="triangle" w="med" len="med"/>
                </a:ln>
              </p:spPr>
            </p:sp>
          </p:grpSp>
          <p:sp>
            <p:nvSpPr>
              <p:cNvPr id="31780" name="Text Box 81"/>
              <p:cNvSpPr txBox="1"/>
              <p:nvPr/>
            </p:nvSpPr>
            <p:spPr>
              <a:xfrm>
                <a:off x="2777" y="750"/>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浮点加</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减法器</a:t>
                </a:r>
                <a:endParaRPr lang="zh-CN" altLang="en-US" sz="1200" b="1" dirty="0">
                  <a:latin typeface="Times New Roman" pitchFamily="18" charset="0"/>
                  <a:ea typeface="宋体" panose="02000500000000000000" pitchFamily="2" charset="-122"/>
                </a:endParaRPr>
              </a:p>
            </p:txBody>
          </p:sp>
          <p:sp>
            <p:nvSpPr>
              <p:cNvPr id="31781" name="Text Box 82"/>
              <p:cNvSpPr txBox="1"/>
              <p:nvPr/>
            </p:nvSpPr>
            <p:spPr>
              <a:xfrm>
                <a:off x="4181" y="737"/>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浮点乘</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除法器</a:t>
                </a:r>
                <a:endParaRPr lang="zh-CN" altLang="en-US" sz="1200" b="1" dirty="0">
                  <a:latin typeface="Times New Roman" pitchFamily="18" charset="0"/>
                  <a:ea typeface="宋体" panose="02000500000000000000" pitchFamily="2" charset="-122"/>
                </a:endParaRPr>
              </a:p>
            </p:txBody>
          </p:sp>
          <p:sp>
            <p:nvSpPr>
              <p:cNvPr id="31782" name="Text Box 83"/>
              <p:cNvSpPr txBox="1"/>
              <p:nvPr/>
            </p:nvSpPr>
            <p:spPr>
              <a:xfrm>
                <a:off x="1701" y="731"/>
                <a:ext cx="664" cy="771"/>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p>
                <a:pPr algn="ctr">
                  <a:spcBef>
                    <a:spcPct val="50000"/>
                  </a:spcBef>
                </a:pPr>
                <a:endParaRPr lang="en-US" altLang="zh-CN" sz="1200"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定点</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访存</a:t>
                </a:r>
                <a:endParaRPr lang="zh-CN" altLang="en-US" sz="1200" b="1"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部件</a:t>
                </a:r>
                <a:endParaRPr lang="zh-CN" altLang="en-US" sz="1200" b="1" dirty="0">
                  <a:latin typeface="Times New Roman" pitchFamily="18" charset="0"/>
                  <a:ea typeface="宋体" panose="02000500000000000000" pitchFamily="2" charset="-122"/>
                </a:endParaRPr>
              </a:p>
              <a:p>
                <a:pPr algn="ctr">
                  <a:spcBef>
                    <a:spcPct val="50000"/>
                  </a:spcBef>
                </a:pPr>
                <a:endParaRPr lang="en-US" altLang="zh-CN" sz="1200" b="1" dirty="0">
                  <a:latin typeface="Times New Roman" pitchFamily="18" charset="0"/>
                  <a:ea typeface="宋体" panose="02000500000000000000" pitchFamily="2" charset="-122"/>
                </a:endParaRPr>
              </a:p>
            </p:txBody>
          </p:sp>
        </p:grpSp>
      </p:grpSp>
      <p:sp>
        <p:nvSpPr>
          <p:cNvPr id="31783" name="Text Box 84"/>
          <p:cNvSpPr txBox="1"/>
          <p:nvPr/>
        </p:nvSpPr>
        <p:spPr>
          <a:xfrm>
            <a:off x="6979920" y="5045075"/>
            <a:ext cx="1030605" cy="184150"/>
          </a:xfrm>
          <a:prstGeom prst="rect">
            <a:avLst/>
          </a:prstGeom>
          <a:solidFill>
            <a:schemeClr val="bg1"/>
          </a:solid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指令队列</a:t>
            </a:r>
            <a:endParaRPr lang="zh-CN" altLang="en-US" sz="1200" b="1" dirty="0">
              <a:latin typeface="Times New Roman" pitchFamily="18" charset="0"/>
              <a:ea typeface="宋体" panose="02000500000000000000" pitchFamily="2" charset="-122"/>
            </a:endParaRPr>
          </a:p>
        </p:txBody>
      </p:sp>
      <p:graphicFrame>
        <p:nvGraphicFramePr>
          <p:cNvPr id="3" name="表格 2"/>
          <p:cNvGraphicFramePr/>
          <p:nvPr/>
        </p:nvGraphicFramePr>
        <p:xfrm>
          <a:off x="6799580" y="3837940"/>
          <a:ext cx="2342515" cy="863600"/>
        </p:xfrm>
        <a:graphic>
          <a:graphicData uri="http://schemas.openxmlformats.org/drawingml/2006/table">
            <a:tbl>
              <a:tblPr firstRow="1" bandRow="1">
                <a:tableStyleId>{5C22544A-7EE6-4342-B048-85BDC9FD1C3A}</a:tableStyleId>
              </a:tblPr>
              <a:tblGrid>
                <a:gridCol w="365125"/>
                <a:gridCol w="450850"/>
                <a:gridCol w="1526540"/>
              </a:tblGrid>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0.5</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4</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1.0</a:t>
                      </a:r>
                      <a:endParaRPr lang="en-US" altLang="zh-CN" sz="1200" b="1">
                        <a:solidFill>
                          <a:srgbClr val="FF0000"/>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4" name="表格 3"/>
          <p:cNvGraphicFramePr/>
          <p:nvPr/>
        </p:nvGraphicFramePr>
        <p:xfrm>
          <a:off x="7167880" y="5311775"/>
          <a:ext cx="1930400" cy="1280160"/>
        </p:xfrm>
        <a:graphic>
          <a:graphicData uri="http://schemas.openxmlformats.org/drawingml/2006/table">
            <a:tbl>
              <a:tblPr firstRow="1" bandRow="1">
                <a:tableStyleId>{5C22544A-7EE6-4342-B048-85BDC9FD1C3A}</a:tableStyleId>
              </a:tblPr>
              <a:tblGrid>
                <a:gridCol w="1930400"/>
              </a:tblGrid>
              <a:tr h="213360">
                <a:tc>
                  <a:txBody>
                    <a:bodyPr/>
                    <a:p>
                      <a:pPr indent="0">
                        <a:buNone/>
                      </a:pPr>
                      <a:r>
                        <a:rPr lang="en-US" sz="1200" b="1">
                          <a:solidFill>
                            <a:schemeClr val="tx1"/>
                          </a:solidFill>
                          <a:latin typeface="宋体" panose="02000500000000000000" pitchFamily="2" charset="-122"/>
                          <a:ea typeface="宋体" panose="02000500000000000000" pitchFamily="2" charset="-122"/>
                        </a:rPr>
                        <a:t>FDIV.D  </a:t>
                      </a:r>
                      <a:r>
                        <a:rPr lang="en-US" sz="1200" b="1">
                          <a:solidFill>
                            <a:srgbClr val="FF0000"/>
                          </a:solidFill>
                          <a:latin typeface="宋体" panose="02000500000000000000" pitchFamily="2" charset="-122"/>
                          <a:ea typeface="宋体" panose="02000500000000000000" pitchFamily="2" charset="-122"/>
                        </a:rPr>
                        <a:t>F0</a:t>
                      </a:r>
                      <a:r>
                        <a:rPr lang="en-US" sz="1200" b="1">
                          <a:solidFill>
                            <a:schemeClr val="tx1"/>
                          </a:solidFill>
                          <a:latin typeface="宋体" panose="02000500000000000000" pitchFamily="2" charset="-122"/>
                          <a:ea typeface="宋体" panose="02000500000000000000" pitchFamily="2" charset="-122"/>
                        </a:rPr>
                        <a:t>, F1, F2</a:t>
                      </a:r>
                      <a:endParaRPr lang="en-US" altLang="en-US" sz="1200" b="1">
                        <a:solidFill>
                          <a:schemeClr val="tx1"/>
                        </a:solidFill>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FADD.D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F1,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5" name="表格 4"/>
          <p:cNvGraphicFramePr/>
          <p:nvPr/>
        </p:nvGraphicFramePr>
        <p:xfrm>
          <a:off x="9544050" y="243586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7" name="表格 6"/>
          <p:cNvGraphicFramePr/>
          <p:nvPr/>
        </p:nvGraphicFramePr>
        <p:xfrm>
          <a:off x="6577330" y="245618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9" name="表格 8"/>
          <p:cNvGraphicFramePr/>
          <p:nvPr/>
        </p:nvGraphicFramePr>
        <p:xfrm>
          <a:off x="9486900" y="3822700"/>
          <a:ext cx="2342515" cy="863600"/>
        </p:xfrm>
        <a:graphic>
          <a:graphicData uri="http://schemas.openxmlformats.org/drawingml/2006/table">
            <a:tbl>
              <a:tblPr firstRow="1" bandRow="1">
                <a:tableStyleId>{5C22544A-7EE6-4342-B048-85BDC9FD1C3A}</a:tableStyleId>
              </a:tblPr>
              <a:tblGrid>
                <a:gridCol w="221065"/>
                <a:gridCol w="382270"/>
                <a:gridCol w="387901"/>
                <a:gridCol w="1351279"/>
              </a:tblGrid>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4</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fmul</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f3</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6.0</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fadd</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f0</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ex</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sp>
        <p:nvSpPr>
          <p:cNvPr id="47115" name="Line 15"/>
          <p:cNvSpPr/>
          <p:nvPr/>
        </p:nvSpPr>
        <p:spPr>
          <a:xfrm flipH="1" flipV="1">
            <a:off x="11068050" y="3610610"/>
            <a:ext cx="9525" cy="215900"/>
          </a:xfrm>
          <a:prstGeom prst="line">
            <a:avLst/>
          </a:prstGeom>
          <a:ln w="19050" cap="flat" cmpd="sng">
            <a:solidFill>
              <a:schemeClr val="accent2"/>
            </a:solidFill>
            <a:prstDash val="solid"/>
            <a:round/>
            <a:headEnd type="none" w="med" len="med"/>
            <a:tailEnd type="none" w="med" len="med"/>
          </a:ln>
        </p:spPr>
      </p:sp>
      <p:sp>
        <p:nvSpPr>
          <p:cNvPr id="47131" name="Line 36"/>
          <p:cNvSpPr/>
          <p:nvPr/>
        </p:nvSpPr>
        <p:spPr>
          <a:xfrm flipV="1">
            <a:off x="4904105" y="4940935"/>
            <a:ext cx="2991485" cy="13970"/>
          </a:xfrm>
          <a:prstGeom prst="line">
            <a:avLst/>
          </a:prstGeom>
          <a:ln w="19050" cap="flat" cmpd="sng">
            <a:solidFill>
              <a:schemeClr val="accent2"/>
            </a:solidFill>
            <a:prstDash val="solid"/>
            <a:round/>
            <a:headEnd type="none" w="med" len="med"/>
            <a:tailEnd type="none" w="med" len="med"/>
          </a:ln>
        </p:spPr>
      </p:sp>
      <p:sp>
        <p:nvSpPr>
          <p:cNvPr id="47133" name="Text Box 43"/>
          <p:cNvSpPr txBox="1"/>
          <p:nvPr/>
        </p:nvSpPr>
        <p:spPr>
          <a:xfrm>
            <a:off x="5375910" y="4712335"/>
            <a:ext cx="1089025" cy="184150"/>
          </a:xfrm>
          <a:prstGeom prst="rect">
            <a:avLst/>
          </a:prstGeom>
          <a:noFill/>
          <a:ln w="9525">
            <a:noFill/>
          </a:ln>
          <a:extLst>
            <a:ext uri="{909E8E84-426E-40DD-AFC4-6F175D3DCCD1}">
              <a14:hiddenFill xmlns:a14="http://schemas.microsoft.com/office/drawing/2010/main">
                <a:solidFill>
                  <a:schemeClr val="bg1"/>
                </a:solidFill>
              </a14:hiddenFill>
            </a:ext>
          </a:extLst>
        </p:spPr>
        <p:txBody>
          <a:bodyPr lIns="0" tIns="0" rIns="0" bIns="0" anchor="t" anchorCtr="0">
            <a:spAutoFit/>
          </a:bodyPr>
          <a:p>
            <a:pPr>
              <a:spcBef>
                <a:spcPct val="50000"/>
              </a:spcBef>
            </a:pPr>
            <a:r>
              <a:rPr lang="zh-CN" altLang="en-US" sz="1200" b="1" dirty="0">
                <a:solidFill>
                  <a:schemeClr val="accent2"/>
                </a:solidFill>
                <a:latin typeface="Times New Roman" pitchFamily="18" charset="0"/>
                <a:ea typeface="宋体" panose="02000500000000000000" pitchFamily="2" charset="-122"/>
              </a:rPr>
              <a:t>修改寄存器</a:t>
            </a:r>
            <a:endParaRPr lang="zh-CN" altLang="en-US" sz="1200" b="1" dirty="0">
              <a:solidFill>
                <a:schemeClr val="accent2"/>
              </a:solidFill>
              <a:latin typeface="Times New Roman" pitchFamily="18" charset="0"/>
              <a:ea typeface="宋体" panose="02000500000000000000" pitchFamily="2" charset="-122"/>
            </a:endParaRPr>
          </a:p>
        </p:txBody>
      </p:sp>
      <p:sp>
        <p:nvSpPr>
          <p:cNvPr id="47143" name="Line 37"/>
          <p:cNvSpPr/>
          <p:nvPr/>
        </p:nvSpPr>
        <p:spPr>
          <a:xfrm flipH="1" flipV="1">
            <a:off x="7879715" y="4688205"/>
            <a:ext cx="8255" cy="252095"/>
          </a:xfrm>
          <a:prstGeom prst="line">
            <a:avLst/>
          </a:prstGeom>
          <a:ln w="19050" cap="flat" cmpd="sng">
            <a:solidFill>
              <a:schemeClr val="accent2"/>
            </a:solidFill>
            <a:prstDash val="solid"/>
            <a:round/>
            <a:headEnd type="none" w="med" len="med"/>
            <a:tailEnd type="triangle" w="med" len="med"/>
          </a:ln>
        </p:spPr>
      </p:sp>
      <p:sp>
        <p:nvSpPr>
          <p:cNvPr id="47144" name="Line 38"/>
          <p:cNvSpPr/>
          <p:nvPr/>
        </p:nvSpPr>
        <p:spPr>
          <a:xfrm>
            <a:off x="4868545" y="3616325"/>
            <a:ext cx="6222365" cy="13970"/>
          </a:xfrm>
          <a:prstGeom prst="line">
            <a:avLst/>
          </a:prstGeom>
          <a:ln w="19050" cap="flat" cmpd="sng">
            <a:solidFill>
              <a:schemeClr val="accent2"/>
            </a:solidFill>
            <a:prstDash val="solid"/>
            <a:round/>
            <a:headEnd type="none" w="med" len="med"/>
            <a:tailEnd type="none" w="med" len="med"/>
          </a:ln>
        </p:spPr>
      </p:sp>
      <p:sp>
        <p:nvSpPr>
          <p:cNvPr id="47146" name="Line 41"/>
          <p:cNvSpPr/>
          <p:nvPr/>
        </p:nvSpPr>
        <p:spPr>
          <a:xfrm flipH="1" flipV="1">
            <a:off x="4877435" y="3028315"/>
            <a:ext cx="14605" cy="1934210"/>
          </a:xfrm>
          <a:prstGeom prst="line">
            <a:avLst/>
          </a:prstGeom>
          <a:ln w="19050" cap="flat" cmpd="sng">
            <a:solidFill>
              <a:schemeClr val="accent2"/>
            </a:solidFill>
            <a:prstDash val="solid"/>
            <a:round/>
            <a:headEnd type="none" w="med" len="med"/>
            <a:tailEnd type="triangle" w="med" len="med"/>
          </a:ln>
        </p:spPr>
      </p:sp>
      <p:sp>
        <p:nvSpPr>
          <p:cNvPr id="46082" name="Rectangle 3"/>
          <p:cNvSpPr/>
          <p:nvPr/>
        </p:nvSpPr>
        <p:spPr>
          <a:xfrm>
            <a:off x="912813" y="420688"/>
            <a:ext cx="10361612" cy="523875"/>
          </a:xfrm>
          <a:prstGeom prst="rect">
            <a:avLst/>
          </a:prstGeom>
          <a:noFill/>
          <a:ln w="9525">
            <a:noFill/>
          </a:ln>
        </p:spPr>
        <p:txBody>
          <a:bodyPr anchor="ctr" anchorCtr="0"/>
          <a:p>
            <a:pPr algn="ctr"/>
            <a:r>
              <a:rPr lang="zh-CN" sz="3200" dirty="0">
                <a:solidFill>
                  <a:srgbClr val="FF0000"/>
                </a:solidFill>
                <a:latin typeface="Arial" panose="02080604020202020204" pitchFamily="34" charset="0"/>
                <a:ea typeface="黑体" panose="02000500000000000000" pitchFamily="49" charset="-122"/>
              </a:rPr>
              <a:t>例子</a:t>
            </a:r>
            <a:endParaRPr lang="zh-CN" sz="3200" dirty="0">
              <a:solidFill>
                <a:srgbClr val="FF0000"/>
              </a:solidFill>
              <a:latin typeface="Arial" panose="02080604020202020204" pitchFamily="34" charset="0"/>
              <a:ea typeface="黑体" panose="02000500000000000000" pitchFamily="49" charset="-122"/>
            </a:endParaRPr>
          </a:p>
        </p:txBody>
      </p:sp>
      <p:sp>
        <p:nvSpPr>
          <p:cNvPr id="50195" name="Text Box 44"/>
          <p:cNvSpPr txBox="1"/>
          <p:nvPr/>
        </p:nvSpPr>
        <p:spPr>
          <a:xfrm>
            <a:off x="8543925" y="1234440"/>
            <a:ext cx="1527175" cy="184150"/>
          </a:xfrm>
          <a:prstGeom prst="rect">
            <a:avLst/>
          </a:prstGeom>
          <a:solidFill>
            <a:schemeClr val="bg1"/>
          </a:solidFill>
          <a:ln w="9525">
            <a:noFill/>
          </a:ln>
        </p:spPr>
        <p:txBody>
          <a:bodyPr wrap="square" lIns="0" tIns="0" rIns="0" bIns="0" anchor="t" anchorCtr="0">
            <a:spAutoFit/>
          </a:bodyPr>
          <a:p>
            <a:pPr>
              <a:spcBef>
                <a:spcPct val="50000"/>
              </a:spcBef>
            </a:pPr>
            <a:r>
              <a:rPr lang="zh-CN" altLang="en-US" sz="1200" b="1" dirty="0">
                <a:solidFill>
                  <a:srgbClr val="FF0000"/>
                </a:solidFill>
                <a:latin typeface="宋体" panose="02000500000000000000" pitchFamily="2" charset="-122"/>
                <a:cs typeface="宋体" panose="02000500000000000000" pitchFamily="2" charset="-122"/>
              </a:rPr>
              <a:t>结果总线</a:t>
            </a:r>
            <a:endParaRPr lang="en-US" altLang="zh-CN" sz="1200" b="1" dirty="0">
              <a:solidFill>
                <a:srgbClr val="FF0000"/>
              </a:solidFill>
              <a:latin typeface="宋体" panose="02000500000000000000" pitchFamily="2" charset="-122"/>
              <a:cs typeface="宋体" panose="02000500000000000000" pitchFamily="2" charset="-122"/>
            </a:endParaRPr>
          </a:p>
        </p:txBody>
      </p:sp>
      <p:sp>
        <p:nvSpPr>
          <p:cNvPr id="56322" name="Text Box 3"/>
          <p:cNvSpPr txBox="1"/>
          <p:nvPr/>
        </p:nvSpPr>
        <p:spPr>
          <a:xfrm>
            <a:off x="187325" y="2743200"/>
            <a:ext cx="4187825" cy="2245360"/>
          </a:xfrm>
          <a:prstGeom prst="rect">
            <a:avLst/>
          </a:prstGeom>
          <a:noFill/>
          <a:ln w="9525">
            <a:noFill/>
          </a:ln>
        </p:spPr>
        <p:txBody>
          <a:bodyPr anchor="t" anchorCtr="0">
            <a:spAutoFit/>
          </a:bodyPr>
          <a:p>
            <a:pPr>
              <a:buChar char="•"/>
            </a:pPr>
            <a:r>
              <a:rPr lang="en-US" altLang="zh-CN" sz="1400" dirty="0">
                <a:solidFill>
                  <a:srgbClr val="000000"/>
                </a:solidFill>
                <a:latin typeface="Times New Roman" pitchFamily="18" charset="0"/>
                <a:ea typeface="宋体" panose="02000500000000000000" pitchFamily="2" charset="-122"/>
              </a:rPr>
              <a:t>DIV</a:t>
            </a:r>
            <a:r>
              <a:rPr lang="zh-CN" altLang="zh-CN" sz="1400" dirty="0">
                <a:solidFill>
                  <a:srgbClr val="000000"/>
                </a:solidFill>
                <a:latin typeface="Times New Roman" pitchFamily="18" charset="0"/>
                <a:ea typeface="宋体" panose="02000500000000000000" pitchFamily="2" charset="-122"/>
              </a:rPr>
              <a:t>发射，</a:t>
            </a:r>
            <a:r>
              <a:rPr lang="en-US" altLang="zh-CN" sz="1400" dirty="0">
                <a:solidFill>
                  <a:srgbClr val="000000"/>
                </a:solidFill>
                <a:latin typeface="Times New Roman" pitchFamily="18" charset="0"/>
                <a:ea typeface="宋体" panose="02000500000000000000" pitchFamily="2" charset="-122"/>
              </a:rPr>
              <a:t>F1, F2</a:t>
            </a:r>
            <a:r>
              <a:rPr lang="zh-CN" altLang="zh-CN" sz="1400" dirty="0">
                <a:solidFill>
                  <a:srgbClr val="000000"/>
                </a:solidFill>
                <a:latin typeface="Times New Roman" pitchFamily="18" charset="0"/>
                <a:ea typeface="宋体" panose="02000500000000000000" pitchFamily="2" charset="-122"/>
              </a:rPr>
              <a:t>都准备好</a:t>
            </a:r>
            <a:endParaRPr lang="zh-CN" altLang="zh-CN" sz="1400" dirty="0">
              <a:solidFill>
                <a:srgbClr val="000000"/>
              </a:solidFill>
              <a:latin typeface="Times New Roman" pitchFamily="18" charset="0"/>
              <a:ea typeface="宋体" panose="02000500000000000000" pitchFamily="2" charset="-122"/>
            </a:endParaRPr>
          </a:p>
          <a:p>
            <a:pPr>
              <a:buChar char="•"/>
            </a:pPr>
            <a:r>
              <a:rPr lang="en-US" altLang="zh-CN" sz="1400" dirty="0">
                <a:latin typeface="Times New Roman" pitchFamily="18" charset="0"/>
                <a:ea typeface="宋体" panose="02000500000000000000" pitchFamily="2" charset="-122"/>
              </a:rPr>
              <a:t>MUL1</a:t>
            </a:r>
            <a:r>
              <a:rPr lang="zh-CN" altLang="zh-CN" sz="1400" dirty="0">
                <a:latin typeface="Times New Roman" pitchFamily="18" charset="0"/>
                <a:ea typeface="宋体" panose="02000500000000000000" pitchFamily="2" charset="-122"/>
              </a:rPr>
              <a:t>发射，</a:t>
            </a:r>
            <a:r>
              <a:rPr lang="en-US" altLang="zh-CN" sz="1400" dirty="0">
                <a:latin typeface="Times New Roman" pitchFamily="18" charset="0"/>
                <a:ea typeface="宋体" panose="02000500000000000000" pitchFamily="2" charset="-122"/>
              </a:rPr>
              <a:t>F0</a:t>
            </a:r>
            <a:r>
              <a:rPr lang="zh-CN" altLang="zh-CN" sz="1400" dirty="0">
                <a:latin typeface="Times New Roman" pitchFamily="18" charset="0"/>
                <a:ea typeface="宋体" panose="02000500000000000000" pitchFamily="2" charset="-122"/>
              </a:rPr>
              <a:t>等待1号</a:t>
            </a:r>
            <a:r>
              <a:rPr lang="en-US" altLang="zh-CN" sz="1400" dirty="0">
                <a:latin typeface="Times New Roman" pitchFamily="18" charset="0"/>
                <a:ea typeface="宋体" panose="02000500000000000000" pitchFamily="2" charset="-122"/>
              </a:rPr>
              <a:t>RB</a:t>
            </a:r>
            <a:r>
              <a:rPr lang="zh-CN" altLang="zh-CN" sz="1400" dirty="0">
                <a:latin typeface="Times New Roman" pitchFamily="18" charset="0"/>
                <a:ea typeface="宋体" panose="02000500000000000000" pitchFamily="2" charset="-122"/>
              </a:rPr>
              <a:t>的结果</a:t>
            </a:r>
            <a:endParaRPr lang="zh-CN" altLang="zh-CN" sz="1400" dirty="0">
              <a:latin typeface="Times New Roman" pitchFamily="18" charset="0"/>
              <a:ea typeface="宋体" panose="02000500000000000000" pitchFamily="2" charset="-122"/>
            </a:endParaRPr>
          </a:p>
          <a:p>
            <a:pPr>
              <a:buChar char="•"/>
            </a:pPr>
            <a:r>
              <a:rPr lang="en-US" altLang="zh-CN" sz="1400" dirty="0">
                <a:solidFill>
                  <a:srgbClr val="000000"/>
                </a:solidFill>
                <a:latin typeface="Times New Roman" pitchFamily="18" charset="0"/>
                <a:ea typeface="宋体" panose="02000500000000000000" pitchFamily="2" charset="-122"/>
              </a:rPr>
              <a:t>ADD</a:t>
            </a:r>
            <a:r>
              <a:rPr lang="zh-CN" altLang="zh-CN" sz="1400" dirty="0">
                <a:solidFill>
                  <a:srgbClr val="000000"/>
                </a:solidFill>
                <a:latin typeface="Times New Roman" pitchFamily="18" charset="0"/>
                <a:ea typeface="宋体" panose="02000500000000000000" pitchFamily="2" charset="-122"/>
              </a:rPr>
              <a:t>发射，</a:t>
            </a:r>
            <a:r>
              <a:rPr lang="en-US" altLang="zh-CN" sz="1400" dirty="0">
                <a:solidFill>
                  <a:srgbClr val="000000"/>
                </a:solidFill>
                <a:latin typeface="Times New Roman" pitchFamily="18" charset="0"/>
                <a:ea typeface="宋体" panose="02000500000000000000" pitchFamily="2" charset="-122"/>
              </a:rPr>
              <a:t>F1, F2</a:t>
            </a:r>
            <a:r>
              <a:rPr lang="zh-CN" altLang="zh-CN" sz="1400" dirty="0">
                <a:solidFill>
                  <a:srgbClr val="000000"/>
                </a:solidFill>
                <a:latin typeface="Times New Roman" pitchFamily="18" charset="0"/>
                <a:ea typeface="宋体" panose="02000500000000000000" pitchFamily="2" charset="-122"/>
              </a:rPr>
              <a:t>都准备好</a:t>
            </a:r>
            <a:endParaRPr lang="zh-CN" altLang="zh-CN" sz="1400" dirty="0">
              <a:solidFill>
                <a:srgbClr val="000000"/>
              </a:solidFill>
              <a:latin typeface="Times New Roman" pitchFamily="18" charset="0"/>
              <a:ea typeface="宋体" panose="02000500000000000000" pitchFamily="2" charset="-122"/>
            </a:endParaRPr>
          </a:p>
          <a:p>
            <a:pPr>
              <a:buChar char="•"/>
            </a:pPr>
            <a:r>
              <a:rPr lang="en-US" altLang="zh-CN" sz="1400" dirty="0">
                <a:solidFill>
                  <a:srgbClr val="000000"/>
                </a:solidFill>
                <a:latin typeface="Times New Roman" pitchFamily="18" charset="0"/>
                <a:ea typeface="宋体" panose="02000500000000000000" pitchFamily="2" charset="-122"/>
              </a:rPr>
              <a:t>MUL2</a:t>
            </a:r>
            <a:r>
              <a:rPr lang="zh-CN" altLang="zh-CN" sz="1400" dirty="0">
                <a:solidFill>
                  <a:srgbClr val="000000"/>
                </a:solidFill>
                <a:latin typeface="Times New Roman" pitchFamily="18" charset="0"/>
                <a:ea typeface="宋体" panose="02000500000000000000" pitchFamily="2" charset="-122"/>
              </a:rPr>
              <a:t>发射, </a:t>
            </a:r>
            <a:r>
              <a:rPr lang="en-US" altLang="zh-CN" sz="1400" dirty="0">
                <a:solidFill>
                  <a:srgbClr val="000000"/>
                </a:solidFill>
                <a:latin typeface="Times New Roman" pitchFamily="18" charset="0"/>
                <a:ea typeface="宋体" panose="02000500000000000000" pitchFamily="2" charset="-122"/>
              </a:rPr>
              <a:t>F0</a:t>
            </a:r>
            <a:r>
              <a:rPr lang="zh-CN" altLang="zh-CN" sz="1400" dirty="0">
                <a:solidFill>
                  <a:srgbClr val="000000"/>
                </a:solidFill>
                <a:latin typeface="Times New Roman" pitchFamily="18" charset="0"/>
                <a:ea typeface="宋体" panose="02000500000000000000" pitchFamily="2" charset="-122"/>
              </a:rPr>
              <a:t>等待3号</a:t>
            </a:r>
            <a:r>
              <a:rPr lang="en-US" altLang="zh-CN" sz="1400" dirty="0">
                <a:solidFill>
                  <a:srgbClr val="000000"/>
                </a:solidFill>
                <a:latin typeface="Times New Roman" pitchFamily="18" charset="0"/>
                <a:ea typeface="宋体" panose="02000500000000000000" pitchFamily="2" charset="-122"/>
              </a:rPr>
              <a:t>RB</a:t>
            </a:r>
            <a:r>
              <a:rPr lang="zh-CN" altLang="zh-CN" sz="1400" dirty="0">
                <a:solidFill>
                  <a:srgbClr val="000000"/>
                </a:solidFill>
                <a:latin typeface="Times New Roman" pitchFamily="18" charset="0"/>
                <a:ea typeface="宋体" panose="02000500000000000000" pitchFamily="2" charset="-122"/>
              </a:rPr>
              <a:t>的结果</a:t>
            </a:r>
            <a:endParaRPr lang="zh-CN" altLang="zh-CN" sz="1400" dirty="0">
              <a:solidFill>
                <a:srgbClr val="000000"/>
              </a:solidFill>
              <a:latin typeface="Times New Roman" pitchFamily="18" charset="0"/>
              <a:ea typeface="宋体" panose="02000500000000000000" pitchFamily="2" charset="-122"/>
            </a:endParaRPr>
          </a:p>
          <a:p>
            <a:pPr>
              <a:buChar char="•"/>
            </a:pPr>
            <a:r>
              <a:rPr lang="en-US" altLang="zh-CN" sz="1400" dirty="0">
                <a:solidFill>
                  <a:srgbClr val="000000"/>
                </a:solidFill>
                <a:latin typeface="Times New Roman" pitchFamily="18" charset="0"/>
                <a:ea typeface="宋体" panose="02000500000000000000" pitchFamily="2" charset="-122"/>
              </a:rPr>
              <a:t>ADD</a:t>
            </a:r>
            <a:r>
              <a:rPr lang="zh-CN" altLang="zh-CN" sz="1400" dirty="0">
                <a:solidFill>
                  <a:srgbClr val="000000"/>
                </a:solidFill>
                <a:latin typeface="Times New Roman" pitchFamily="18" charset="0"/>
                <a:ea typeface="宋体" panose="02000500000000000000" pitchFamily="2" charset="-122"/>
              </a:rPr>
              <a:t>写回</a:t>
            </a:r>
            <a:endParaRPr lang="zh-CN" altLang="zh-CN" sz="1400" dirty="0">
              <a:solidFill>
                <a:srgbClr val="000000"/>
              </a:solidFill>
              <a:latin typeface="Times New Roman" pitchFamily="18" charset="0"/>
              <a:ea typeface="宋体" panose="02000500000000000000" pitchFamily="2" charset="-122"/>
            </a:endParaRPr>
          </a:p>
          <a:p>
            <a:pPr>
              <a:buChar char="•"/>
            </a:pPr>
            <a:r>
              <a:rPr lang="en-US" altLang="zh-CN" sz="1400" dirty="0">
                <a:solidFill>
                  <a:srgbClr val="000000"/>
                </a:solidFill>
                <a:latin typeface="Times New Roman" pitchFamily="18" charset="0"/>
                <a:ea typeface="宋体" panose="02000500000000000000" pitchFamily="2" charset="-122"/>
              </a:rPr>
              <a:t>DIV</a:t>
            </a:r>
            <a:r>
              <a:rPr lang="zh-CN" altLang="en-US" sz="1400" dirty="0">
                <a:solidFill>
                  <a:srgbClr val="000000"/>
                </a:solidFill>
                <a:latin typeface="Times New Roman" pitchFamily="18" charset="0"/>
                <a:ea typeface="宋体" panose="02000500000000000000" pitchFamily="2" charset="-122"/>
              </a:rPr>
              <a:t>写回</a:t>
            </a:r>
            <a:endParaRPr lang="zh-CN" altLang="en-US" sz="1400" dirty="0">
              <a:solidFill>
                <a:srgbClr val="000000"/>
              </a:solidFill>
              <a:latin typeface="Times New Roman" pitchFamily="18" charset="0"/>
              <a:ea typeface="宋体" panose="02000500000000000000" pitchFamily="2" charset="-122"/>
            </a:endParaRPr>
          </a:p>
          <a:p>
            <a:pPr>
              <a:buChar char="•"/>
            </a:pPr>
            <a:r>
              <a:rPr lang="en-US" altLang="zh-CN" sz="1400" dirty="0">
                <a:solidFill>
                  <a:schemeClr val="tx1"/>
                </a:solidFill>
                <a:latin typeface="Times New Roman" pitchFamily="18" charset="0"/>
                <a:ea typeface="宋体" panose="02000500000000000000" pitchFamily="2" charset="-122"/>
              </a:rPr>
              <a:t>DIV </a:t>
            </a:r>
            <a:r>
              <a:rPr lang="zh-CN" altLang="en-US" sz="1400" dirty="0">
                <a:solidFill>
                  <a:schemeClr val="tx1"/>
                </a:solidFill>
                <a:latin typeface="Times New Roman" pitchFamily="18" charset="0"/>
                <a:ea typeface="宋体" panose="02000500000000000000" pitchFamily="2" charset="-122"/>
              </a:rPr>
              <a:t>提交（写回寄存器）</a:t>
            </a:r>
            <a:r>
              <a:rPr lang="en-US" altLang="zh-CN" sz="1400" dirty="0">
                <a:solidFill>
                  <a:schemeClr val="tx1"/>
                </a:solidFill>
                <a:latin typeface="Times New Roman" pitchFamily="18" charset="0"/>
                <a:ea typeface="宋体" panose="02000500000000000000" pitchFamily="2" charset="-122"/>
              </a:rPr>
              <a:t>, MUL2</a:t>
            </a:r>
            <a:r>
              <a:rPr lang="zh-CN" altLang="en-US" sz="1400" dirty="0">
                <a:solidFill>
                  <a:schemeClr val="tx1"/>
                </a:solidFill>
                <a:latin typeface="Times New Roman" pitchFamily="18" charset="0"/>
                <a:ea typeface="宋体" panose="02000500000000000000" pitchFamily="2" charset="-122"/>
              </a:rPr>
              <a:t>写回</a:t>
            </a:r>
            <a:endParaRPr lang="zh-CN" altLang="en-US" sz="1400" dirty="0">
              <a:solidFill>
                <a:schemeClr val="tx1"/>
              </a:solidFill>
              <a:latin typeface="Times New Roman" pitchFamily="18" charset="0"/>
              <a:ea typeface="宋体" panose="02000500000000000000" pitchFamily="2" charset="-122"/>
            </a:endParaRPr>
          </a:p>
          <a:p>
            <a:pPr>
              <a:buChar char="•"/>
            </a:pPr>
            <a:r>
              <a:rPr lang="en-US" altLang="zh-CN" sz="1400" dirty="0">
                <a:solidFill>
                  <a:schemeClr val="tx1"/>
                </a:solidFill>
                <a:sym typeface="+mn-ea"/>
              </a:rPr>
              <a:t>MUL1</a:t>
            </a:r>
            <a:r>
              <a:rPr lang="zh-CN" altLang="en-US" sz="1400" dirty="0">
                <a:solidFill>
                  <a:schemeClr val="tx1"/>
                </a:solidFill>
                <a:sym typeface="+mn-ea"/>
              </a:rPr>
              <a:t>写回</a:t>
            </a:r>
            <a:endParaRPr lang="zh-CN" altLang="en-US" sz="1400" dirty="0">
              <a:solidFill>
                <a:schemeClr val="tx1"/>
              </a:solidFill>
              <a:sym typeface="+mn-ea"/>
            </a:endParaRPr>
          </a:p>
          <a:p>
            <a:pPr>
              <a:buChar char="•"/>
            </a:pPr>
            <a:r>
              <a:rPr lang="en-US" altLang="zh-CN" sz="1400" dirty="0">
                <a:solidFill>
                  <a:srgbClr val="FF0000"/>
                </a:solidFill>
                <a:sym typeface="+mn-ea"/>
              </a:rPr>
              <a:t>MUL1</a:t>
            </a:r>
            <a:r>
              <a:rPr lang="zh-CN" altLang="en-US" sz="1400" dirty="0">
                <a:solidFill>
                  <a:srgbClr val="FF0000"/>
                </a:solidFill>
                <a:sym typeface="+mn-ea"/>
              </a:rPr>
              <a:t>提交</a:t>
            </a:r>
            <a:endParaRPr lang="zh-CN" altLang="en-US" sz="1400" dirty="0">
              <a:solidFill>
                <a:srgbClr val="FF0000"/>
              </a:solidFill>
              <a:latin typeface="Times New Roman" pitchFamily="18" charset="0"/>
              <a:ea typeface="宋体" panose="02000500000000000000" pitchFamily="2" charset="-122"/>
            </a:endParaRPr>
          </a:p>
          <a:p>
            <a:pPr>
              <a:buChar char="•"/>
            </a:pPr>
            <a:endParaRPr lang="zh-CN" altLang="en-US" sz="1400" dirty="0">
              <a:solidFill>
                <a:srgbClr val="FF0000"/>
              </a:solidFill>
              <a:latin typeface="Times New Roman" pitchFamily="18" charset="0"/>
              <a:ea typeface="宋体" panose="02000500000000000000" pitchFamily="2"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51" name="Line 52"/>
          <p:cNvSpPr/>
          <p:nvPr/>
        </p:nvSpPr>
        <p:spPr>
          <a:xfrm flipV="1">
            <a:off x="7390765" y="2116455"/>
            <a:ext cx="0" cy="335280"/>
          </a:xfrm>
          <a:prstGeom prst="line">
            <a:avLst/>
          </a:prstGeom>
          <a:ln w="9525" cap="flat" cmpd="sng">
            <a:solidFill>
              <a:schemeClr val="tx1"/>
            </a:solidFill>
            <a:prstDash val="solid"/>
            <a:round/>
            <a:headEnd type="none" w="med" len="med"/>
            <a:tailEnd type="triangle" w="med" len="med"/>
          </a:ln>
        </p:spPr>
      </p:sp>
      <p:sp>
        <p:nvSpPr>
          <p:cNvPr id="31752" name="Line 53"/>
          <p:cNvSpPr/>
          <p:nvPr/>
        </p:nvSpPr>
        <p:spPr>
          <a:xfrm flipV="1">
            <a:off x="8270875" y="2116455"/>
            <a:ext cx="0" cy="335280"/>
          </a:xfrm>
          <a:prstGeom prst="line">
            <a:avLst/>
          </a:prstGeom>
          <a:ln w="9525" cap="flat" cmpd="sng">
            <a:solidFill>
              <a:schemeClr val="tx1"/>
            </a:solidFill>
            <a:prstDash val="solid"/>
            <a:round/>
            <a:headEnd type="none" w="med" len="med"/>
            <a:tailEnd type="triangle" w="med" len="med"/>
          </a:ln>
        </p:spPr>
      </p:sp>
      <p:sp>
        <p:nvSpPr>
          <p:cNvPr id="31753" name="Line 54"/>
          <p:cNvSpPr/>
          <p:nvPr/>
        </p:nvSpPr>
        <p:spPr>
          <a:xfrm flipV="1">
            <a:off x="10353675" y="2103755"/>
            <a:ext cx="0" cy="335280"/>
          </a:xfrm>
          <a:prstGeom prst="line">
            <a:avLst/>
          </a:prstGeom>
          <a:ln w="9525" cap="flat" cmpd="sng">
            <a:solidFill>
              <a:schemeClr val="tx1"/>
            </a:solidFill>
            <a:prstDash val="solid"/>
            <a:round/>
            <a:headEnd type="none" w="med" len="med"/>
            <a:tailEnd type="triangle" w="med" len="med"/>
          </a:ln>
        </p:spPr>
      </p:sp>
      <p:sp>
        <p:nvSpPr>
          <p:cNvPr id="31754" name="Line 55"/>
          <p:cNvSpPr/>
          <p:nvPr/>
        </p:nvSpPr>
        <p:spPr>
          <a:xfrm flipV="1">
            <a:off x="11301730" y="2091055"/>
            <a:ext cx="0" cy="335280"/>
          </a:xfrm>
          <a:prstGeom prst="line">
            <a:avLst/>
          </a:prstGeom>
          <a:ln w="9525" cap="flat" cmpd="sng">
            <a:solidFill>
              <a:schemeClr val="tx1"/>
            </a:solidFill>
            <a:prstDash val="solid"/>
            <a:round/>
            <a:headEnd type="none" w="med" len="med"/>
            <a:tailEnd type="triangle" w="med" len="med"/>
          </a:ln>
        </p:spPr>
      </p:sp>
      <p:sp>
        <p:nvSpPr>
          <p:cNvPr id="31755" name="Line 56"/>
          <p:cNvSpPr/>
          <p:nvPr/>
        </p:nvSpPr>
        <p:spPr>
          <a:xfrm flipV="1">
            <a:off x="8137525" y="4694555"/>
            <a:ext cx="0" cy="617855"/>
          </a:xfrm>
          <a:prstGeom prst="line">
            <a:avLst/>
          </a:prstGeom>
          <a:ln w="19050" cap="flat" cmpd="sng">
            <a:solidFill>
              <a:schemeClr val="tx1"/>
            </a:solidFill>
            <a:prstDash val="solid"/>
            <a:round/>
            <a:headEnd type="none" w="med" len="med"/>
            <a:tailEnd type="triangle" w="med" len="med"/>
          </a:ln>
        </p:spPr>
      </p:sp>
      <p:sp>
        <p:nvSpPr>
          <p:cNvPr id="31756" name="Line 57"/>
          <p:cNvSpPr/>
          <p:nvPr/>
        </p:nvSpPr>
        <p:spPr>
          <a:xfrm flipV="1">
            <a:off x="7794625" y="3044825"/>
            <a:ext cx="0" cy="247650"/>
          </a:xfrm>
          <a:prstGeom prst="line">
            <a:avLst/>
          </a:prstGeom>
          <a:ln w="19050" cap="flat" cmpd="sng">
            <a:solidFill>
              <a:schemeClr val="tx1"/>
            </a:solidFill>
            <a:prstDash val="solid"/>
            <a:round/>
            <a:headEnd type="none" w="med" len="med"/>
            <a:tailEnd type="triangle" w="med" len="med"/>
          </a:ln>
        </p:spPr>
      </p:sp>
      <p:sp>
        <p:nvSpPr>
          <p:cNvPr id="31757" name="Line 58"/>
          <p:cNvSpPr/>
          <p:nvPr/>
        </p:nvSpPr>
        <p:spPr>
          <a:xfrm flipV="1">
            <a:off x="10788015" y="3037205"/>
            <a:ext cx="0" cy="260350"/>
          </a:xfrm>
          <a:prstGeom prst="line">
            <a:avLst/>
          </a:prstGeom>
          <a:ln w="19050" cap="flat" cmpd="sng">
            <a:solidFill>
              <a:schemeClr val="tx1"/>
            </a:solidFill>
            <a:prstDash val="solid"/>
            <a:round/>
            <a:headEnd type="none" w="med" len="med"/>
            <a:tailEnd type="triangle" w="med" len="med"/>
          </a:ln>
        </p:spPr>
      </p:sp>
      <p:sp>
        <p:nvSpPr>
          <p:cNvPr id="31758" name="Line 59"/>
          <p:cNvSpPr/>
          <p:nvPr/>
        </p:nvSpPr>
        <p:spPr>
          <a:xfrm flipV="1">
            <a:off x="10813415" y="1449705"/>
            <a:ext cx="0" cy="370205"/>
          </a:xfrm>
          <a:prstGeom prst="line">
            <a:avLst/>
          </a:prstGeom>
          <a:ln w="19050" cap="flat" cmpd="sng">
            <a:solidFill>
              <a:srgbClr val="FF0000"/>
            </a:solidFill>
            <a:prstDash val="solid"/>
            <a:round/>
            <a:headEnd type="none" w="med" len="med"/>
            <a:tailEnd type="triangle" w="med" len="med"/>
          </a:ln>
        </p:spPr>
      </p:sp>
      <p:sp>
        <p:nvSpPr>
          <p:cNvPr id="31759" name="Line 60"/>
          <p:cNvSpPr/>
          <p:nvPr/>
        </p:nvSpPr>
        <p:spPr>
          <a:xfrm flipV="1">
            <a:off x="7881620" y="1466850"/>
            <a:ext cx="0" cy="370205"/>
          </a:xfrm>
          <a:prstGeom prst="line">
            <a:avLst/>
          </a:prstGeom>
          <a:ln w="19050" cap="flat" cmpd="sng">
            <a:solidFill>
              <a:schemeClr val="tx1"/>
            </a:solidFill>
            <a:prstDash val="solid"/>
            <a:round/>
            <a:headEnd type="none" w="med" len="med"/>
            <a:tailEnd type="triangle" w="med" len="med"/>
          </a:ln>
        </p:spPr>
      </p:sp>
      <p:sp>
        <p:nvSpPr>
          <p:cNvPr id="31760" name="Line 61"/>
          <p:cNvSpPr/>
          <p:nvPr/>
        </p:nvSpPr>
        <p:spPr>
          <a:xfrm>
            <a:off x="5155565" y="1460500"/>
            <a:ext cx="7009765" cy="0"/>
          </a:xfrm>
          <a:prstGeom prst="line">
            <a:avLst/>
          </a:prstGeom>
          <a:ln w="19050" cap="flat" cmpd="sng">
            <a:solidFill>
              <a:srgbClr val="FF0000"/>
            </a:solidFill>
            <a:prstDash val="solid"/>
            <a:round/>
            <a:headEnd type="none" w="med" len="med"/>
            <a:tailEnd type="none" w="med" len="med"/>
          </a:ln>
        </p:spPr>
      </p:sp>
      <p:sp>
        <p:nvSpPr>
          <p:cNvPr id="31761" name="Line 62"/>
          <p:cNvSpPr/>
          <p:nvPr/>
        </p:nvSpPr>
        <p:spPr>
          <a:xfrm flipH="1" flipV="1">
            <a:off x="7160895" y="3035300"/>
            <a:ext cx="635" cy="389255"/>
          </a:xfrm>
          <a:prstGeom prst="line">
            <a:avLst/>
          </a:prstGeom>
          <a:ln w="19050" cap="flat" cmpd="sng">
            <a:solidFill>
              <a:srgbClr val="FF0000"/>
            </a:solidFill>
            <a:prstDash val="solid"/>
            <a:round/>
            <a:headEnd type="none" w="med" len="med"/>
            <a:tailEnd type="triangle" w="med" len="med"/>
          </a:ln>
        </p:spPr>
      </p:sp>
      <p:sp>
        <p:nvSpPr>
          <p:cNvPr id="31762" name="Line 63"/>
          <p:cNvSpPr/>
          <p:nvPr/>
        </p:nvSpPr>
        <p:spPr>
          <a:xfrm flipV="1">
            <a:off x="11272520" y="3027680"/>
            <a:ext cx="635" cy="410845"/>
          </a:xfrm>
          <a:prstGeom prst="line">
            <a:avLst/>
          </a:prstGeom>
          <a:ln w="19050" cap="flat" cmpd="sng">
            <a:solidFill>
              <a:srgbClr val="FF0000"/>
            </a:solidFill>
            <a:prstDash val="solid"/>
            <a:round/>
            <a:headEnd type="none" w="med" len="med"/>
            <a:tailEnd type="triangle" w="med" len="med"/>
          </a:ln>
        </p:spPr>
      </p:sp>
      <p:sp>
        <p:nvSpPr>
          <p:cNvPr id="31763" name="Line 64"/>
          <p:cNvSpPr/>
          <p:nvPr/>
        </p:nvSpPr>
        <p:spPr>
          <a:xfrm>
            <a:off x="12150725" y="1463040"/>
            <a:ext cx="635" cy="3496945"/>
          </a:xfrm>
          <a:prstGeom prst="line">
            <a:avLst/>
          </a:prstGeom>
          <a:ln w="19050" cap="flat" cmpd="sng">
            <a:solidFill>
              <a:srgbClr val="FF0000"/>
            </a:solidFill>
            <a:prstDash val="solid"/>
            <a:round/>
            <a:headEnd type="none" w="med" len="med"/>
            <a:tailEnd type="none" w="med" len="med"/>
          </a:ln>
        </p:spPr>
      </p:sp>
      <p:sp>
        <p:nvSpPr>
          <p:cNvPr id="31764" name="Line 65"/>
          <p:cNvSpPr/>
          <p:nvPr/>
        </p:nvSpPr>
        <p:spPr>
          <a:xfrm flipV="1">
            <a:off x="8114665" y="3270250"/>
            <a:ext cx="0" cy="581025"/>
          </a:xfrm>
          <a:prstGeom prst="line">
            <a:avLst/>
          </a:prstGeom>
          <a:ln w="19050" cap="flat" cmpd="sng">
            <a:solidFill>
              <a:schemeClr val="tx1"/>
            </a:solidFill>
            <a:prstDash val="solid"/>
            <a:round/>
            <a:headEnd type="none" w="med" len="med"/>
            <a:tailEnd type="triangle" w="med" len="med"/>
          </a:ln>
        </p:spPr>
      </p:sp>
      <p:sp>
        <p:nvSpPr>
          <p:cNvPr id="31765" name="Text Box 66"/>
          <p:cNvSpPr txBox="1"/>
          <p:nvPr/>
        </p:nvSpPr>
        <p:spPr>
          <a:xfrm>
            <a:off x="6283960" y="2246630"/>
            <a:ext cx="1039495" cy="18415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加法保留站</a:t>
            </a:r>
            <a:endParaRPr lang="zh-CN" altLang="en-US" sz="1200" b="1" dirty="0">
              <a:latin typeface="Times New Roman" pitchFamily="18" charset="0"/>
              <a:ea typeface="宋体" panose="02000500000000000000" pitchFamily="2" charset="-122"/>
            </a:endParaRPr>
          </a:p>
        </p:txBody>
      </p:sp>
      <p:sp>
        <p:nvSpPr>
          <p:cNvPr id="31766" name="Text Box 67"/>
          <p:cNvSpPr txBox="1"/>
          <p:nvPr/>
        </p:nvSpPr>
        <p:spPr>
          <a:xfrm>
            <a:off x="6925310" y="3675380"/>
            <a:ext cx="1090295" cy="184150"/>
          </a:xfrm>
          <a:prstGeom prst="rect">
            <a:avLst/>
          </a:prstGeom>
          <a:noFill/>
          <a:ln w="9525">
            <a:noFill/>
          </a:ln>
          <a:extLst>
            <a:ext uri="{909E8E84-426E-40DD-AFC4-6F175D3DCCD1}">
              <a14:hiddenFill xmlns:a14="http://schemas.microsoft.com/office/drawing/2010/main">
                <a:solidFill>
                  <a:schemeClr val="bg1"/>
                </a:solidFill>
              </a14:hiddenFill>
            </a:ext>
          </a:extLst>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浮点寄存器</a:t>
            </a:r>
            <a:endParaRPr lang="zh-CN" altLang="en-US" sz="1200" b="1" dirty="0">
              <a:latin typeface="Times New Roman" pitchFamily="18" charset="0"/>
              <a:ea typeface="宋体" panose="02000500000000000000" pitchFamily="2" charset="-122"/>
            </a:endParaRPr>
          </a:p>
        </p:txBody>
      </p:sp>
      <p:sp>
        <p:nvSpPr>
          <p:cNvPr id="31767" name="Text Box 68"/>
          <p:cNvSpPr txBox="1"/>
          <p:nvPr/>
        </p:nvSpPr>
        <p:spPr>
          <a:xfrm>
            <a:off x="9289415" y="2235200"/>
            <a:ext cx="1039495" cy="18415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乘法保留站</a:t>
            </a:r>
            <a:endParaRPr lang="zh-CN" altLang="en-US" sz="1200" b="1" dirty="0">
              <a:latin typeface="Times New Roman" pitchFamily="18" charset="0"/>
              <a:ea typeface="宋体" panose="02000500000000000000" pitchFamily="2" charset="-122"/>
            </a:endParaRPr>
          </a:p>
        </p:txBody>
      </p:sp>
      <p:sp>
        <p:nvSpPr>
          <p:cNvPr id="31768" name="Line 69"/>
          <p:cNvSpPr/>
          <p:nvPr/>
        </p:nvSpPr>
        <p:spPr>
          <a:xfrm>
            <a:off x="10807065" y="4959985"/>
            <a:ext cx="1358265" cy="635"/>
          </a:xfrm>
          <a:prstGeom prst="line">
            <a:avLst/>
          </a:prstGeom>
          <a:ln w="19050" cap="flat" cmpd="sng">
            <a:solidFill>
              <a:srgbClr val="FF0000"/>
            </a:solidFill>
            <a:prstDash val="solid"/>
            <a:round/>
            <a:headEnd type="none" w="med" len="med"/>
            <a:tailEnd type="none" w="med" len="med"/>
          </a:ln>
        </p:spPr>
      </p:sp>
      <p:sp>
        <p:nvSpPr>
          <p:cNvPr id="31769" name="Line 70"/>
          <p:cNvSpPr/>
          <p:nvPr/>
        </p:nvSpPr>
        <p:spPr>
          <a:xfrm flipV="1">
            <a:off x="10812145" y="4701540"/>
            <a:ext cx="1905" cy="260350"/>
          </a:xfrm>
          <a:prstGeom prst="line">
            <a:avLst/>
          </a:prstGeom>
          <a:ln w="19050" cap="flat" cmpd="sng">
            <a:solidFill>
              <a:srgbClr val="FF0000"/>
            </a:solidFill>
            <a:prstDash val="solid"/>
            <a:round/>
            <a:headEnd type="none" w="med" len="med"/>
            <a:tailEnd type="triangle" w="med" len="med"/>
          </a:ln>
        </p:spPr>
      </p:sp>
      <p:grpSp>
        <p:nvGrpSpPr>
          <p:cNvPr id="31772" name="Group 73"/>
          <p:cNvGrpSpPr/>
          <p:nvPr/>
        </p:nvGrpSpPr>
        <p:grpSpPr>
          <a:xfrm rot="0">
            <a:off x="4488815" y="1461135"/>
            <a:ext cx="7679055" cy="1970389"/>
            <a:chOff x="1701" y="512"/>
            <a:chExt cx="3628" cy="1241"/>
          </a:xfrm>
        </p:grpSpPr>
        <p:sp>
          <p:nvSpPr>
            <p:cNvPr id="31773" name="Line 74"/>
            <p:cNvSpPr/>
            <p:nvPr/>
          </p:nvSpPr>
          <p:spPr>
            <a:xfrm flipV="1">
              <a:off x="2154" y="1661"/>
              <a:ext cx="2518" cy="0"/>
            </a:xfrm>
            <a:prstGeom prst="line">
              <a:avLst/>
            </a:prstGeom>
            <a:ln w="19050" cap="flat" cmpd="sng">
              <a:solidFill>
                <a:schemeClr val="tx1"/>
              </a:solidFill>
              <a:prstDash val="solid"/>
              <a:round/>
              <a:headEnd type="none" w="med" len="med"/>
              <a:tailEnd type="none" w="med" len="med"/>
            </a:ln>
          </p:spPr>
        </p:sp>
        <p:sp>
          <p:nvSpPr>
            <p:cNvPr id="31774" name="Line 75"/>
            <p:cNvSpPr/>
            <p:nvPr/>
          </p:nvSpPr>
          <p:spPr>
            <a:xfrm flipV="1">
              <a:off x="2010" y="1753"/>
              <a:ext cx="3319" cy="0"/>
            </a:xfrm>
            <a:prstGeom prst="line">
              <a:avLst/>
            </a:prstGeom>
            <a:ln w="19050" cap="flat" cmpd="sng">
              <a:solidFill>
                <a:srgbClr val="FF0000"/>
              </a:solidFill>
              <a:prstDash val="solid"/>
              <a:round/>
              <a:headEnd type="none" w="med" len="med"/>
              <a:tailEnd type="none" w="med" len="med"/>
            </a:ln>
          </p:spPr>
        </p:sp>
        <p:grpSp>
          <p:nvGrpSpPr>
            <p:cNvPr id="31775" name="Group 76"/>
            <p:cNvGrpSpPr/>
            <p:nvPr/>
          </p:nvGrpSpPr>
          <p:grpSpPr>
            <a:xfrm>
              <a:off x="1701" y="512"/>
              <a:ext cx="3494" cy="1239"/>
              <a:chOff x="1701" y="512"/>
              <a:chExt cx="3494" cy="1239"/>
            </a:xfrm>
          </p:grpSpPr>
          <p:grpSp>
            <p:nvGrpSpPr>
              <p:cNvPr id="31776" name="Group 77"/>
              <p:cNvGrpSpPr/>
              <p:nvPr/>
            </p:nvGrpSpPr>
            <p:grpSpPr>
              <a:xfrm>
                <a:off x="2019" y="512"/>
                <a:ext cx="135" cy="1239"/>
                <a:chOff x="2019" y="512"/>
                <a:chExt cx="135" cy="1239"/>
              </a:xfrm>
            </p:grpSpPr>
            <p:sp>
              <p:nvSpPr>
                <p:cNvPr id="31777" name="Line 78"/>
                <p:cNvSpPr/>
                <p:nvPr/>
              </p:nvSpPr>
              <p:spPr>
                <a:xfrm flipV="1">
                  <a:off x="2022" y="512"/>
                  <a:ext cx="0" cy="233"/>
                </a:xfrm>
                <a:prstGeom prst="line">
                  <a:avLst/>
                </a:prstGeom>
                <a:ln w="19050" cap="flat" cmpd="sng">
                  <a:solidFill>
                    <a:schemeClr val="tx1"/>
                  </a:solidFill>
                  <a:prstDash val="solid"/>
                  <a:round/>
                  <a:headEnd type="none" w="med" len="med"/>
                  <a:tailEnd type="triangle" w="med" len="med"/>
                </a:ln>
              </p:spPr>
            </p:sp>
            <p:sp>
              <p:nvSpPr>
                <p:cNvPr id="31778" name="Line 79"/>
                <p:cNvSpPr/>
                <p:nvPr/>
              </p:nvSpPr>
              <p:spPr>
                <a:xfrm flipH="1" flipV="1">
                  <a:off x="2019" y="1502"/>
                  <a:ext cx="3" cy="249"/>
                </a:xfrm>
                <a:prstGeom prst="line">
                  <a:avLst/>
                </a:prstGeom>
                <a:ln w="19050" cap="flat" cmpd="sng">
                  <a:solidFill>
                    <a:srgbClr val="FF0000"/>
                  </a:solidFill>
                  <a:prstDash val="solid"/>
                  <a:round/>
                  <a:headEnd type="none" w="med" len="med"/>
                  <a:tailEnd type="triangle" w="med" len="med"/>
                </a:ln>
              </p:spPr>
            </p:sp>
            <p:sp>
              <p:nvSpPr>
                <p:cNvPr id="31779" name="Line 80"/>
                <p:cNvSpPr/>
                <p:nvPr/>
              </p:nvSpPr>
              <p:spPr>
                <a:xfrm flipV="1">
                  <a:off x="2154" y="1508"/>
                  <a:ext cx="0" cy="156"/>
                </a:xfrm>
                <a:prstGeom prst="line">
                  <a:avLst/>
                </a:prstGeom>
                <a:ln w="19050" cap="flat" cmpd="sng">
                  <a:solidFill>
                    <a:schemeClr val="tx1"/>
                  </a:solidFill>
                  <a:prstDash val="solid"/>
                  <a:round/>
                  <a:headEnd type="none" w="med" len="med"/>
                  <a:tailEnd type="triangle" w="med" len="med"/>
                </a:ln>
              </p:spPr>
            </p:sp>
          </p:grpSp>
          <p:sp>
            <p:nvSpPr>
              <p:cNvPr id="31780" name="Text Box 81"/>
              <p:cNvSpPr txBox="1"/>
              <p:nvPr/>
            </p:nvSpPr>
            <p:spPr>
              <a:xfrm>
                <a:off x="2777" y="750"/>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浮点加</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减法器</a:t>
                </a:r>
                <a:endParaRPr lang="zh-CN" altLang="en-US" sz="1200" b="1" dirty="0">
                  <a:latin typeface="Times New Roman" pitchFamily="18" charset="0"/>
                  <a:ea typeface="宋体" panose="02000500000000000000" pitchFamily="2" charset="-122"/>
                </a:endParaRPr>
              </a:p>
            </p:txBody>
          </p:sp>
          <p:sp>
            <p:nvSpPr>
              <p:cNvPr id="31781" name="Text Box 82"/>
              <p:cNvSpPr txBox="1"/>
              <p:nvPr/>
            </p:nvSpPr>
            <p:spPr>
              <a:xfrm>
                <a:off x="4181" y="737"/>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浮点乘</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除法器</a:t>
                </a:r>
                <a:endParaRPr lang="zh-CN" altLang="en-US" sz="1200" b="1" dirty="0">
                  <a:latin typeface="Times New Roman" pitchFamily="18" charset="0"/>
                  <a:ea typeface="宋体" panose="02000500000000000000" pitchFamily="2" charset="-122"/>
                </a:endParaRPr>
              </a:p>
            </p:txBody>
          </p:sp>
          <p:sp>
            <p:nvSpPr>
              <p:cNvPr id="31782" name="Text Box 83"/>
              <p:cNvSpPr txBox="1"/>
              <p:nvPr/>
            </p:nvSpPr>
            <p:spPr>
              <a:xfrm>
                <a:off x="1701" y="731"/>
                <a:ext cx="664" cy="771"/>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p>
                <a:pPr algn="ctr">
                  <a:spcBef>
                    <a:spcPct val="50000"/>
                  </a:spcBef>
                </a:pPr>
                <a:endParaRPr lang="en-US" altLang="zh-CN" sz="1200"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定点</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访存</a:t>
                </a:r>
                <a:endParaRPr lang="zh-CN" altLang="en-US" sz="1200" b="1"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部件</a:t>
                </a:r>
                <a:endParaRPr lang="zh-CN" altLang="en-US" sz="1200" b="1" dirty="0">
                  <a:latin typeface="Times New Roman" pitchFamily="18" charset="0"/>
                  <a:ea typeface="宋体" panose="02000500000000000000" pitchFamily="2" charset="-122"/>
                </a:endParaRPr>
              </a:p>
              <a:p>
                <a:pPr algn="ctr">
                  <a:spcBef>
                    <a:spcPct val="50000"/>
                  </a:spcBef>
                </a:pPr>
                <a:endParaRPr lang="en-US" altLang="zh-CN" sz="1200" b="1" dirty="0">
                  <a:latin typeface="Times New Roman" pitchFamily="18" charset="0"/>
                  <a:ea typeface="宋体" panose="02000500000000000000" pitchFamily="2" charset="-122"/>
                </a:endParaRPr>
              </a:p>
            </p:txBody>
          </p:sp>
        </p:grpSp>
      </p:grpSp>
      <p:sp>
        <p:nvSpPr>
          <p:cNvPr id="31783" name="Text Box 84"/>
          <p:cNvSpPr txBox="1"/>
          <p:nvPr/>
        </p:nvSpPr>
        <p:spPr>
          <a:xfrm>
            <a:off x="6979920" y="5045075"/>
            <a:ext cx="1030605" cy="184150"/>
          </a:xfrm>
          <a:prstGeom prst="rect">
            <a:avLst/>
          </a:prstGeom>
          <a:solidFill>
            <a:schemeClr val="bg1"/>
          </a:solid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指令队列</a:t>
            </a:r>
            <a:endParaRPr lang="zh-CN" altLang="en-US" sz="1200" b="1" dirty="0">
              <a:latin typeface="Times New Roman" pitchFamily="18" charset="0"/>
              <a:ea typeface="宋体" panose="02000500000000000000" pitchFamily="2" charset="-122"/>
            </a:endParaRPr>
          </a:p>
        </p:txBody>
      </p:sp>
      <p:graphicFrame>
        <p:nvGraphicFramePr>
          <p:cNvPr id="3" name="表格 2"/>
          <p:cNvGraphicFramePr/>
          <p:nvPr/>
        </p:nvGraphicFramePr>
        <p:xfrm>
          <a:off x="6799580" y="3837940"/>
          <a:ext cx="2342515" cy="863600"/>
        </p:xfrm>
        <a:graphic>
          <a:graphicData uri="http://schemas.openxmlformats.org/drawingml/2006/table">
            <a:tbl>
              <a:tblPr firstRow="1" bandRow="1">
                <a:tableStyleId>{5C22544A-7EE6-4342-B048-85BDC9FD1C3A}</a:tableStyleId>
              </a:tblPr>
              <a:tblGrid>
                <a:gridCol w="365125"/>
                <a:gridCol w="450850"/>
                <a:gridCol w="1526540"/>
              </a:tblGrid>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0</a:t>
                      </a:r>
                      <a:endParaRPr lang="en-US" altLang="zh-CN" sz="1200" b="1">
                        <a:solidFill>
                          <a:srgbClr val="FF0000"/>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0.5</a:t>
                      </a:r>
                      <a:r>
                        <a:rPr lang="zh-CN" altLang="en-US" sz="1200" b="1">
                          <a:solidFill>
                            <a:srgbClr val="FF0000"/>
                          </a:solidFill>
                          <a:latin typeface="宋体" panose="02000500000000000000" pitchFamily="2" charset="-122"/>
                          <a:ea typeface="宋体" panose="02000500000000000000" pitchFamily="2" charset="-122"/>
                        </a:rPr>
                        <a:t>（</a:t>
                      </a:r>
                      <a:r>
                        <a:rPr lang="en-US" altLang="zh-CN" sz="1200" b="1">
                          <a:solidFill>
                            <a:srgbClr val="FF0000"/>
                          </a:solidFill>
                          <a:latin typeface="宋体" panose="02000500000000000000" pitchFamily="2" charset="-122"/>
                          <a:ea typeface="宋体" panose="02000500000000000000" pitchFamily="2" charset="-122"/>
                        </a:rPr>
                        <a:t>fdiv</a:t>
                      </a:r>
                      <a:r>
                        <a:rPr lang="zh-CN" altLang="en-US" sz="1200" b="1">
                          <a:solidFill>
                            <a:srgbClr val="FF0000"/>
                          </a:solidFill>
                          <a:latin typeface="宋体" panose="02000500000000000000" pitchFamily="2" charset="-122"/>
                          <a:ea typeface="宋体" panose="02000500000000000000" pitchFamily="2" charset="-122"/>
                        </a:rPr>
                        <a:t>写）</a:t>
                      </a:r>
                      <a:endParaRPr lang="zh-CN" altLang="en-US" sz="1200" b="1">
                        <a:solidFill>
                          <a:srgbClr val="FF0000"/>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0</a:t>
                      </a:r>
                      <a:endParaRPr lang="en-US" altLang="zh-CN" sz="1200" b="1">
                        <a:solidFill>
                          <a:srgbClr val="FF0000"/>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1.0</a:t>
                      </a:r>
                      <a:r>
                        <a:rPr lang="zh-CN" altLang="en-US" sz="1200" b="1">
                          <a:solidFill>
                            <a:srgbClr val="FF0000"/>
                          </a:solidFill>
                          <a:latin typeface="宋体" panose="02000500000000000000" pitchFamily="2" charset="-122"/>
                          <a:ea typeface="宋体" panose="02000500000000000000" pitchFamily="2" charset="-122"/>
                        </a:rPr>
                        <a:t>（</a:t>
                      </a:r>
                      <a:r>
                        <a:rPr lang="en-US" altLang="zh-CN" sz="1200" b="1">
                          <a:solidFill>
                            <a:srgbClr val="FF0000"/>
                          </a:solidFill>
                          <a:latin typeface="宋体" panose="02000500000000000000" pitchFamily="2" charset="-122"/>
                          <a:ea typeface="宋体" panose="02000500000000000000" pitchFamily="2" charset="-122"/>
                        </a:rPr>
                        <a:t>fmul1</a:t>
                      </a:r>
                      <a:r>
                        <a:rPr lang="zh-CN" altLang="en-US" sz="1200" b="1">
                          <a:solidFill>
                            <a:srgbClr val="FF0000"/>
                          </a:solidFill>
                          <a:latin typeface="宋体" panose="02000500000000000000" pitchFamily="2" charset="-122"/>
                          <a:ea typeface="宋体" panose="02000500000000000000" pitchFamily="2" charset="-122"/>
                        </a:rPr>
                        <a:t>写）</a:t>
                      </a:r>
                      <a:endParaRPr lang="zh-CN" altLang="en-US" sz="1200" b="1">
                        <a:solidFill>
                          <a:srgbClr val="FF0000"/>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4" name="表格 3"/>
          <p:cNvGraphicFramePr/>
          <p:nvPr/>
        </p:nvGraphicFramePr>
        <p:xfrm>
          <a:off x="7167880" y="5311775"/>
          <a:ext cx="1930400" cy="1280160"/>
        </p:xfrm>
        <a:graphic>
          <a:graphicData uri="http://schemas.openxmlformats.org/drawingml/2006/table">
            <a:tbl>
              <a:tblPr firstRow="1" bandRow="1">
                <a:tableStyleId>{5C22544A-7EE6-4342-B048-85BDC9FD1C3A}</a:tableStyleId>
              </a:tblPr>
              <a:tblGrid>
                <a:gridCol w="1930400"/>
              </a:tblGrid>
              <a:tr h="213360">
                <a:tc>
                  <a:txBody>
                    <a:bodyPr/>
                    <a:p>
                      <a:pPr indent="0">
                        <a:buNone/>
                      </a:pPr>
                      <a:r>
                        <a:rPr lang="en-US" sz="1200" b="1">
                          <a:solidFill>
                            <a:schemeClr val="tx1"/>
                          </a:solidFill>
                          <a:latin typeface="宋体" panose="02000500000000000000" pitchFamily="2" charset="-122"/>
                          <a:ea typeface="宋体" panose="02000500000000000000" pitchFamily="2" charset="-122"/>
                        </a:rPr>
                        <a:t>FDIV.D  </a:t>
                      </a:r>
                      <a:r>
                        <a:rPr lang="en-US" sz="1200" b="1">
                          <a:solidFill>
                            <a:srgbClr val="FF0000"/>
                          </a:solidFill>
                          <a:latin typeface="宋体" panose="02000500000000000000" pitchFamily="2" charset="-122"/>
                          <a:ea typeface="宋体" panose="02000500000000000000" pitchFamily="2" charset="-122"/>
                        </a:rPr>
                        <a:t>F0</a:t>
                      </a:r>
                      <a:r>
                        <a:rPr lang="en-US" sz="1200" b="1">
                          <a:solidFill>
                            <a:schemeClr val="tx1"/>
                          </a:solidFill>
                          <a:latin typeface="宋体" panose="02000500000000000000" pitchFamily="2" charset="-122"/>
                          <a:ea typeface="宋体" panose="02000500000000000000" pitchFamily="2" charset="-122"/>
                        </a:rPr>
                        <a:t>, F1, F2</a:t>
                      </a:r>
                      <a:endParaRPr lang="en-US" altLang="en-US" sz="1200" b="1">
                        <a:solidFill>
                          <a:schemeClr val="tx1"/>
                        </a:solidFill>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FADD.D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F1,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5" name="表格 4"/>
          <p:cNvGraphicFramePr/>
          <p:nvPr/>
        </p:nvGraphicFramePr>
        <p:xfrm>
          <a:off x="9544050" y="243586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7" name="表格 6"/>
          <p:cNvGraphicFramePr/>
          <p:nvPr/>
        </p:nvGraphicFramePr>
        <p:xfrm>
          <a:off x="6577330" y="245618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9" name="表格 8"/>
          <p:cNvGraphicFramePr/>
          <p:nvPr/>
        </p:nvGraphicFramePr>
        <p:xfrm>
          <a:off x="9486900" y="3822700"/>
          <a:ext cx="2342515" cy="863600"/>
        </p:xfrm>
        <a:graphic>
          <a:graphicData uri="http://schemas.openxmlformats.org/drawingml/2006/table">
            <a:tbl>
              <a:tblPr firstRow="1" bandRow="1">
                <a:tableStyleId>{5C22544A-7EE6-4342-B048-85BDC9FD1C3A}</a:tableStyleId>
              </a:tblPr>
              <a:tblGrid>
                <a:gridCol w="221065"/>
                <a:gridCol w="382270"/>
                <a:gridCol w="387901"/>
                <a:gridCol w="1351279"/>
              </a:tblGrid>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4</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sp>
        <p:nvSpPr>
          <p:cNvPr id="47115" name="Line 15"/>
          <p:cNvSpPr/>
          <p:nvPr/>
        </p:nvSpPr>
        <p:spPr>
          <a:xfrm flipH="1" flipV="1">
            <a:off x="11068050" y="3610610"/>
            <a:ext cx="9525" cy="215900"/>
          </a:xfrm>
          <a:prstGeom prst="line">
            <a:avLst/>
          </a:prstGeom>
          <a:ln w="19050" cap="flat" cmpd="sng">
            <a:solidFill>
              <a:schemeClr val="accent2"/>
            </a:solidFill>
            <a:prstDash val="solid"/>
            <a:round/>
            <a:headEnd type="none" w="med" len="med"/>
            <a:tailEnd type="none" w="med" len="med"/>
          </a:ln>
        </p:spPr>
      </p:sp>
      <p:sp>
        <p:nvSpPr>
          <p:cNvPr id="47131" name="Line 36"/>
          <p:cNvSpPr/>
          <p:nvPr/>
        </p:nvSpPr>
        <p:spPr>
          <a:xfrm flipV="1">
            <a:off x="4904105" y="4940935"/>
            <a:ext cx="2991485" cy="13970"/>
          </a:xfrm>
          <a:prstGeom prst="line">
            <a:avLst/>
          </a:prstGeom>
          <a:ln w="19050" cap="flat" cmpd="sng">
            <a:solidFill>
              <a:schemeClr val="accent2"/>
            </a:solidFill>
            <a:prstDash val="solid"/>
            <a:round/>
            <a:headEnd type="none" w="med" len="med"/>
            <a:tailEnd type="none" w="med" len="med"/>
          </a:ln>
        </p:spPr>
      </p:sp>
      <p:sp>
        <p:nvSpPr>
          <p:cNvPr id="47133" name="Text Box 43"/>
          <p:cNvSpPr txBox="1"/>
          <p:nvPr/>
        </p:nvSpPr>
        <p:spPr>
          <a:xfrm>
            <a:off x="5375910" y="4712335"/>
            <a:ext cx="1089025" cy="184150"/>
          </a:xfrm>
          <a:prstGeom prst="rect">
            <a:avLst/>
          </a:prstGeom>
          <a:noFill/>
          <a:ln w="9525">
            <a:noFill/>
          </a:ln>
          <a:extLst>
            <a:ext uri="{909E8E84-426E-40DD-AFC4-6F175D3DCCD1}">
              <a14:hiddenFill xmlns:a14="http://schemas.microsoft.com/office/drawing/2010/main">
                <a:solidFill>
                  <a:schemeClr val="bg1"/>
                </a:solidFill>
              </a14:hiddenFill>
            </a:ext>
          </a:extLst>
        </p:spPr>
        <p:txBody>
          <a:bodyPr lIns="0" tIns="0" rIns="0" bIns="0" anchor="t" anchorCtr="0">
            <a:spAutoFit/>
          </a:bodyPr>
          <a:p>
            <a:pPr>
              <a:spcBef>
                <a:spcPct val="50000"/>
              </a:spcBef>
            </a:pPr>
            <a:r>
              <a:rPr lang="zh-CN" altLang="en-US" sz="1200" b="1" dirty="0">
                <a:solidFill>
                  <a:schemeClr val="accent2"/>
                </a:solidFill>
                <a:latin typeface="Times New Roman" pitchFamily="18" charset="0"/>
                <a:ea typeface="宋体" panose="02000500000000000000" pitchFamily="2" charset="-122"/>
              </a:rPr>
              <a:t>修改寄存器</a:t>
            </a:r>
            <a:endParaRPr lang="zh-CN" altLang="en-US" sz="1200" b="1" dirty="0">
              <a:solidFill>
                <a:schemeClr val="accent2"/>
              </a:solidFill>
              <a:latin typeface="Times New Roman" pitchFamily="18" charset="0"/>
              <a:ea typeface="宋体" panose="02000500000000000000" pitchFamily="2" charset="-122"/>
            </a:endParaRPr>
          </a:p>
        </p:txBody>
      </p:sp>
      <p:sp>
        <p:nvSpPr>
          <p:cNvPr id="47143" name="Line 37"/>
          <p:cNvSpPr/>
          <p:nvPr/>
        </p:nvSpPr>
        <p:spPr>
          <a:xfrm flipH="1" flipV="1">
            <a:off x="7879715" y="4688205"/>
            <a:ext cx="8255" cy="252095"/>
          </a:xfrm>
          <a:prstGeom prst="line">
            <a:avLst/>
          </a:prstGeom>
          <a:ln w="19050" cap="flat" cmpd="sng">
            <a:solidFill>
              <a:schemeClr val="accent2"/>
            </a:solidFill>
            <a:prstDash val="solid"/>
            <a:round/>
            <a:headEnd type="none" w="med" len="med"/>
            <a:tailEnd type="triangle" w="med" len="med"/>
          </a:ln>
        </p:spPr>
      </p:sp>
      <p:sp>
        <p:nvSpPr>
          <p:cNvPr id="47144" name="Line 38"/>
          <p:cNvSpPr/>
          <p:nvPr/>
        </p:nvSpPr>
        <p:spPr>
          <a:xfrm>
            <a:off x="4868545" y="3616325"/>
            <a:ext cx="6222365" cy="13970"/>
          </a:xfrm>
          <a:prstGeom prst="line">
            <a:avLst/>
          </a:prstGeom>
          <a:ln w="19050" cap="flat" cmpd="sng">
            <a:solidFill>
              <a:schemeClr val="accent2"/>
            </a:solidFill>
            <a:prstDash val="solid"/>
            <a:round/>
            <a:headEnd type="none" w="med" len="med"/>
            <a:tailEnd type="none" w="med" len="med"/>
          </a:ln>
        </p:spPr>
      </p:sp>
      <p:sp>
        <p:nvSpPr>
          <p:cNvPr id="47146" name="Line 41"/>
          <p:cNvSpPr/>
          <p:nvPr/>
        </p:nvSpPr>
        <p:spPr>
          <a:xfrm flipH="1" flipV="1">
            <a:off x="4877435" y="3028315"/>
            <a:ext cx="14605" cy="1934210"/>
          </a:xfrm>
          <a:prstGeom prst="line">
            <a:avLst/>
          </a:prstGeom>
          <a:ln w="19050" cap="flat" cmpd="sng">
            <a:solidFill>
              <a:schemeClr val="accent2"/>
            </a:solidFill>
            <a:prstDash val="solid"/>
            <a:round/>
            <a:headEnd type="none" w="med" len="med"/>
            <a:tailEnd type="triangle" w="med" len="med"/>
          </a:ln>
        </p:spPr>
      </p:sp>
      <p:sp>
        <p:nvSpPr>
          <p:cNvPr id="46082" name="Rectangle 3"/>
          <p:cNvSpPr/>
          <p:nvPr/>
        </p:nvSpPr>
        <p:spPr>
          <a:xfrm>
            <a:off x="912813" y="420688"/>
            <a:ext cx="10361612" cy="523875"/>
          </a:xfrm>
          <a:prstGeom prst="rect">
            <a:avLst/>
          </a:prstGeom>
          <a:noFill/>
          <a:ln w="9525">
            <a:noFill/>
          </a:ln>
        </p:spPr>
        <p:txBody>
          <a:bodyPr anchor="ctr" anchorCtr="0"/>
          <a:p>
            <a:pPr algn="ctr"/>
            <a:r>
              <a:rPr lang="zh-CN" sz="3200" dirty="0">
                <a:solidFill>
                  <a:srgbClr val="FF0000"/>
                </a:solidFill>
                <a:latin typeface="Arial" panose="02080604020202020204" pitchFamily="34" charset="0"/>
                <a:ea typeface="黑体" panose="02000500000000000000" pitchFamily="49" charset="-122"/>
              </a:rPr>
              <a:t>例子</a:t>
            </a:r>
            <a:endParaRPr lang="zh-CN" sz="3200" dirty="0">
              <a:solidFill>
                <a:srgbClr val="FF0000"/>
              </a:solidFill>
              <a:latin typeface="Arial" panose="02080604020202020204" pitchFamily="34" charset="0"/>
              <a:ea typeface="黑体" panose="02000500000000000000" pitchFamily="49" charset="-122"/>
            </a:endParaRPr>
          </a:p>
        </p:txBody>
      </p:sp>
      <p:sp>
        <p:nvSpPr>
          <p:cNvPr id="50195" name="Text Box 44"/>
          <p:cNvSpPr txBox="1"/>
          <p:nvPr/>
        </p:nvSpPr>
        <p:spPr>
          <a:xfrm>
            <a:off x="8543925" y="1234440"/>
            <a:ext cx="1527175" cy="184150"/>
          </a:xfrm>
          <a:prstGeom prst="rect">
            <a:avLst/>
          </a:prstGeom>
          <a:solidFill>
            <a:schemeClr val="bg1"/>
          </a:solidFill>
          <a:ln w="9525">
            <a:noFill/>
          </a:ln>
        </p:spPr>
        <p:txBody>
          <a:bodyPr wrap="square" lIns="0" tIns="0" rIns="0" bIns="0" anchor="t" anchorCtr="0">
            <a:spAutoFit/>
          </a:bodyPr>
          <a:p>
            <a:pPr>
              <a:spcBef>
                <a:spcPct val="50000"/>
              </a:spcBef>
            </a:pPr>
            <a:r>
              <a:rPr lang="zh-CN" altLang="en-US" sz="1200" b="1" dirty="0">
                <a:solidFill>
                  <a:srgbClr val="FF0000"/>
                </a:solidFill>
                <a:latin typeface="宋体" panose="02000500000000000000" pitchFamily="2" charset="-122"/>
                <a:cs typeface="宋体" panose="02000500000000000000" pitchFamily="2" charset="-122"/>
              </a:rPr>
              <a:t>结果总线</a:t>
            </a:r>
            <a:endParaRPr lang="en-US" altLang="zh-CN" sz="1200" b="1" dirty="0">
              <a:solidFill>
                <a:srgbClr val="FF0000"/>
              </a:solidFill>
              <a:latin typeface="宋体" panose="02000500000000000000" pitchFamily="2" charset="-122"/>
              <a:cs typeface="宋体" panose="02000500000000000000" pitchFamily="2" charset="-122"/>
            </a:endParaRPr>
          </a:p>
        </p:txBody>
      </p:sp>
      <p:sp>
        <p:nvSpPr>
          <p:cNvPr id="56322" name="Text Box 3"/>
          <p:cNvSpPr txBox="1"/>
          <p:nvPr/>
        </p:nvSpPr>
        <p:spPr>
          <a:xfrm>
            <a:off x="187325" y="2743200"/>
            <a:ext cx="4187825" cy="2461260"/>
          </a:xfrm>
          <a:prstGeom prst="rect">
            <a:avLst/>
          </a:prstGeom>
          <a:noFill/>
          <a:ln w="9525">
            <a:noFill/>
          </a:ln>
        </p:spPr>
        <p:txBody>
          <a:bodyPr anchor="t" anchorCtr="0">
            <a:spAutoFit/>
          </a:bodyPr>
          <a:p>
            <a:pPr>
              <a:buChar char="•"/>
            </a:pPr>
            <a:r>
              <a:rPr lang="en-US" altLang="zh-CN" sz="1400" dirty="0">
                <a:solidFill>
                  <a:srgbClr val="000000"/>
                </a:solidFill>
                <a:latin typeface="Times New Roman" pitchFamily="18" charset="0"/>
                <a:ea typeface="宋体" panose="02000500000000000000" pitchFamily="2" charset="-122"/>
              </a:rPr>
              <a:t>DIV</a:t>
            </a:r>
            <a:r>
              <a:rPr lang="zh-CN" altLang="zh-CN" sz="1400" dirty="0">
                <a:solidFill>
                  <a:srgbClr val="000000"/>
                </a:solidFill>
                <a:latin typeface="Times New Roman" pitchFamily="18" charset="0"/>
                <a:ea typeface="宋体" panose="02000500000000000000" pitchFamily="2" charset="-122"/>
              </a:rPr>
              <a:t>发射，</a:t>
            </a:r>
            <a:r>
              <a:rPr lang="en-US" altLang="zh-CN" sz="1400" dirty="0">
                <a:solidFill>
                  <a:srgbClr val="000000"/>
                </a:solidFill>
                <a:latin typeface="Times New Roman" pitchFamily="18" charset="0"/>
                <a:ea typeface="宋体" panose="02000500000000000000" pitchFamily="2" charset="-122"/>
              </a:rPr>
              <a:t>F1, F2</a:t>
            </a:r>
            <a:r>
              <a:rPr lang="zh-CN" altLang="zh-CN" sz="1400" dirty="0">
                <a:solidFill>
                  <a:srgbClr val="000000"/>
                </a:solidFill>
                <a:latin typeface="Times New Roman" pitchFamily="18" charset="0"/>
                <a:ea typeface="宋体" panose="02000500000000000000" pitchFamily="2" charset="-122"/>
              </a:rPr>
              <a:t>都准备好</a:t>
            </a:r>
            <a:endParaRPr lang="zh-CN" altLang="zh-CN" sz="1400" dirty="0">
              <a:solidFill>
                <a:srgbClr val="000000"/>
              </a:solidFill>
              <a:latin typeface="Times New Roman" pitchFamily="18" charset="0"/>
              <a:ea typeface="宋体" panose="02000500000000000000" pitchFamily="2" charset="-122"/>
            </a:endParaRPr>
          </a:p>
          <a:p>
            <a:pPr>
              <a:buChar char="•"/>
            </a:pPr>
            <a:r>
              <a:rPr lang="en-US" altLang="zh-CN" sz="1400" dirty="0">
                <a:latin typeface="Times New Roman" pitchFamily="18" charset="0"/>
                <a:ea typeface="宋体" panose="02000500000000000000" pitchFamily="2" charset="-122"/>
              </a:rPr>
              <a:t>MUL1</a:t>
            </a:r>
            <a:r>
              <a:rPr lang="zh-CN" altLang="zh-CN" sz="1400" dirty="0">
                <a:latin typeface="Times New Roman" pitchFamily="18" charset="0"/>
                <a:ea typeface="宋体" panose="02000500000000000000" pitchFamily="2" charset="-122"/>
              </a:rPr>
              <a:t>发射，</a:t>
            </a:r>
            <a:r>
              <a:rPr lang="en-US" altLang="zh-CN" sz="1400" dirty="0">
                <a:latin typeface="Times New Roman" pitchFamily="18" charset="0"/>
                <a:ea typeface="宋体" panose="02000500000000000000" pitchFamily="2" charset="-122"/>
              </a:rPr>
              <a:t>F0</a:t>
            </a:r>
            <a:r>
              <a:rPr lang="zh-CN" altLang="zh-CN" sz="1400" dirty="0">
                <a:latin typeface="Times New Roman" pitchFamily="18" charset="0"/>
                <a:ea typeface="宋体" panose="02000500000000000000" pitchFamily="2" charset="-122"/>
              </a:rPr>
              <a:t>等待1号</a:t>
            </a:r>
            <a:r>
              <a:rPr lang="en-US" altLang="zh-CN" sz="1400" dirty="0">
                <a:latin typeface="Times New Roman" pitchFamily="18" charset="0"/>
                <a:ea typeface="宋体" panose="02000500000000000000" pitchFamily="2" charset="-122"/>
              </a:rPr>
              <a:t>RB</a:t>
            </a:r>
            <a:r>
              <a:rPr lang="zh-CN" altLang="zh-CN" sz="1400" dirty="0">
                <a:latin typeface="Times New Roman" pitchFamily="18" charset="0"/>
                <a:ea typeface="宋体" panose="02000500000000000000" pitchFamily="2" charset="-122"/>
              </a:rPr>
              <a:t>的结果</a:t>
            </a:r>
            <a:endParaRPr lang="zh-CN" altLang="zh-CN" sz="1400" dirty="0">
              <a:latin typeface="Times New Roman" pitchFamily="18" charset="0"/>
              <a:ea typeface="宋体" panose="02000500000000000000" pitchFamily="2" charset="-122"/>
            </a:endParaRPr>
          </a:p>
          <a:p>
            <a:pPr>
              <a:buChar char="•"/>
            </a:pPr>
            <a:r>
              <a:rPr lang="en-US" altLang="zh-CN" sz="1400" dirty="0">
                <a:solidFill>
                  <a:srgbClr val="000000"/>
                </a:solidFill>
                <a:latin typeface="Times New Roman" pitchFamily="18" charset="0"/>
                <a:ea typeface="宋体" panose="02000500000000000000" pitchFamily="2" charset="-122"/>
              </a:rPr>
              <a:t>ADD</a:t>
            </a:r>
            <a:r>
              <a:rPr lang="zh-CN" altLang="zh-CN" sz="1400" dirty="0">
                <a:solidFill>
                  <a:srgbClr val="000000"/>
                </a:solidFill>
                <a:latin typeface="Times New Roman" pitchFamily="18" charset="0"/>
                <a:ea typeface="宋体" panose="02000500000000000000" pitchFamily="2" charset="-122"/>
              </a:rPr>
              <a:t>发射，</a:t>
            </a:r>
            <a:r>
              <a:rPr lang="en-US" altLang="zh-CN" sz="1400" dirty="0">
                <a:solidFill>
                  <a:srgbClr val="000000"/>
                </a:solidFill>
                <a:latin typeface="Times New Roman" pitchFamily="18" charset="0"/>
                <a:ea typeface="宋体" panose="02000500000000000000" pitchFamily="2" charset="-122"/>
              </a:rPr>
              <a:t>F1, F2</a:t>
            </a:r>
            <a:r>
              <a:rPr lang="zh-CN" altLang="zh-CN" sz="1400" dirty="0">
                <a:solidFill>
                  <a:srgbClr val="000000"/>
                </a:solidFill>
                <a:latin typeface="Times New Roman" pitchFamily="18" charset="0"/>
                <a:ea typeface="宋体" panose="02000500000000000000" pitchFamily="2" charset="-122"/>
              </a:rPr>
              <a:t>都准备好</a:t>
            </a:r>
            <a:endParaRPr lang="zh-CN" altLang="zh-CN" sz="1400" dirty="0">
              <a:solidFill>
                <a:srgbClr val="000000"/>
              </a:solidFill>
              <a:latin typeface="Times New Roman" pitchFamily="18" charset="0"/>
              <a:ea typeface="宋体" panose="02000500000000000000" pitchFamily="2" charset="-122"/>
            </a:endParaRPr>
          </a:p>
          <a:p>
            <a:pPr>
              <a:buChar char="•"/>
            </a:pPr>
            <a:r>
              <a:rPr lang="en-US" altLang="zh-CN" sz="1400" dirty="0">
                <a:solidFill>
                  <a:srgbClr val="000000"/>
                </a:solidFill>
                <a:latin typeface="Times New Roman" pitchFamily="18" charset="0"/>
                <a:ea typeface="宋体" panose="02000500000000000000" pitchFamily="2" charset="-122"/>
              </a:rPr>
              <a:t>MUL2</a:t>
            </a:r>
            <a:r>
              <a:rPr lang="zh-CN" altLang="zh-CN" sz="1400" dirty="0">
                <a:solidFill>
                  <a:srgbClr val="000000"/>
                </a:solidFill>
                <a:latin typeface="Times New Roman" pitchFamily="18" charset="0"/>
                <a:ea typeface="宋体" panose="02000500000000000000" pitchFamily="2" charset="-122"/>
              </a:rPr>
              <a:t>发射, </a:t>
            </a:r>
            <a:r>
              <a:rPr lang="en-US" altLang="zh-CN" sz="1400" dirty="0">
                <a:solidFill>
                  <a:srgbClr val="000000"/>
                </a:solidFill>
                <a:latin typeface="Times New Roman" pitchFamily="18" charset="0"/>
                <a:ea typeface="宋体" panose="02000500000000000000" pitchFamily="2" charset="-122"/>
              </a:rPr>
              <a:t>F0</a:t>
            </a:r>
            <a:r>
              <a:rPr lang="zh-CN" altLang="zh-CN" sz="1400" dirty="0">
                <a:solidFill>
                  <a:srgbClr val="000000"/>
                </a:solidFill>
                <a:latin typeface="Times New Roman" pitchFamily="18" charset="0"/>
                <a:ea typeface="宋体" panose="02000500000000000000" pitchFamily="2" charset="-122"/>
              </a:rPr>
              <a:t>等待3号</a:t>
            </a:r>
            <a:r>
              <a:rPr lang="en-US" altLang="zh-CN" sz="1400" dirty="0">
                <a:solidFill>
                  <a:srgbClr val="000000"/>
                </a:solidFill>
                <a:latin typeface="Times New Roman" pitchFamily="18" charset="0"/>
                <a:ea typeface="宋体" panose="02000500000000000000" pitchFamily="2" charset="-122"/>
              </a:rPr>
              <a:t>RB</a:t>
            </a:r>
            <a:r>
              <a:rPr lang="zh-CN" altLang="zh-CN" sz="1400" dirty="0">
                <a:solidFill>
                  <a:srgbClr val="000000"/>
                </a:solidFill>
                <a:latin typeface="Times New Roman" pitchFamily="18" charset="0"/>
                <a:ea typeface="宋体" panose="02000500000000000000" pitchFamily="2" charset="-122"/>
              </a:rPr>
              <a:t>的结果</a:t>
            </a:r>
            <a:endParaRPr lang="zh-CN" altLang="zh-CN" sz="1400" dirty="0">
              <a:solidFill>
                <a:srgbClr val="000000"/>
              </a:solidFill>
              <a:latin typeface="Times New Roman" pitchFamily="18" charset="0"/>
              <a:ea typeface="宋体" panose="02000500000000000000" pitchFamily="2" charset="-122"/>
            </a:endParaRPr>
          </a:p>
          <a:p>
            <a:pPr>
              <a:buChar char="•"/>
            </a:pPr>
            <a:r>
              <a:rPr lang="en-US" altLang="zh-CN" sz="1400" dirty="0">
                <a:solidFill>
                  <a:srgbClr val="000000"/>
                </a:solidFill>
                <a:latin typeface="Times New Roman" pitchFamily="18" charset="0"/>
                <a:ea typeface="宋体" panose="02000500000000000000" pitchFamily="2" charset="-122"/>
              </a:rPr>
              <a:t>ADD</a:t>
            </a:r>
            <a:r>
              <a:rPr lang="zh-CN" altLang="zh-CN" sz="1400" dirty="0">
                <a:solidFill>
                  <a:srgbClr val="000000"/>
                </a:solidFill>
                <a:latin typeface="Times New Roman" pitchFamily="18" charset="0"/>
                <a:ea typeface="宋体" panose="02000500000000000000" pitchFamily="2" charset="-122"/>
              </a:rPr>
              <a:t>写回</a:t>
            </a:r>
            <a:endParaRPr lang="zh-CN" altLang="zh-CN" sz="1400" dirty="0">
              <a:solidFill>
                <a:srgbClr val="000000"/>
              </a:solidFill>
              <a:latin typeface="Times New Roman" pitchFamily="18" charset="0"/>
              <a:ea typeface="宋体" panose="02000500000000000000" pitchFamily="2" charset="-122"/>
            </a:endParaRPr>
          </a:p>
          <a:p>
            <a:pPr>
              <a:buChar char="•"/>
            </a:pPr>
            <a:r>
              <a:rPr lang="en-US" altLang="zh-CN" sz="1400" dirty="0">
                <a:solidFill>
                  <a:srgbClr val="000000"/>
                </a:solidFill>
                <a:latin typeface="Times New Roman" pitchFamily="18" charset="0"/>
                <a:ea typeface="宋体" panose="02000500000000000000" pitchFamily="2" charset="-122"/>
              </a:rPr>
              <a:t>DIV</a:t>
            </a:r>
            <a:r>
              <a:rPr lang="zh-CN" altLang="en-US" sz="1400" dirty="0">
                <a:solidFill>
                  <a:srgbClr val="000000"/>
                </a:solidFill>
                <a:latin typeface="Times New Roman" pitchFamily="18" charset="0"/>
                <a:ea typeface="宋体" panose="02000500000000000000" pitchFamily="2" charset="-122"/>
              </a:rPr>
              <a:t>写回</a:t>
            </a:r>
            <a:endParaRPr lang="zh-CN" altLang="en-US" sz="1400" dirty="0">
              <a:solidFill>
                <a:srgbClr val="000000"/>
              </a:solidFill>
              <a:latin typeface="Times New Roman" pitchFamily="18" charset="0"/>
              <a:ea typeface="宋体" panose="02000500000000000000" pitchFamily="2" charset="-122"/>
            </a:endParaRPr>
          </a:p>
          <a:p>
            <a:pPr>
              <a:buChar char="•"/>
            </a:pPr>
            <a:r>
              <a:rPr lang="en-US" altLang="zh-CN" sz="1400" dirty="0">
                <a:solidFill>
                  <a:schemeClr val="tx1"/>
                </a:solidFill>
                <a:latin typeface="Times New Roman" pitchFamily="18" charset="0"/>
                <a:ea typeface="宋体" panose="02000500000000000000" pitchFamily="2" charset="-122"/>
              </a:rPr>
              <a:t>DIV </a:t>
            </a:r>
            <a:r>
              <a:rPr lang="zh-CN" altLang="en-US" sz="1400" dirty="0">
                <a:solidFill>
                  <a:schemeClr val="tx1"/>
                </a:solidFill>
                <a:latin typeface="Times New Roman" pitchFamily="18" charset="0"/>
                <a:ea typeface="宋体" panose="02000500000000000000" pitchFamily="2" charset="-122"/>
              </a:rPr>
              <a:t>提交（写回寄存器）</a:t>
            </a:r>
            <a:r>
              <a:rPr lang="en-US" altLang="zh-CN" sz="1400" dirty="0">
                <a:solidFill>
                  <a:schemeClr val="tx1"/>
                </a:solidFill>
                <a:latin typeface="Times New Roman" pitchFamily="18" charset="0"/>
                <a:ea typeface="宋体" panose="02000500000000000000" pitchFamily="2" charset="-122"/>
              </a:rPr>
              <a:t>, MUL2</a:t>
            </a:r>
            <a:r>
              <a:rPr lang="zh-CN" altLang="en-US" sz="1400" dirty="0">
                <a:solidFill>
                  <a:schemeClr val="tx1"/>
                </a:solidFill>
                <a:latin typeface="Times New Roman" pitchFamily="18" charset="0"/>
                <a:ea typeface="宋体" panose="02000500000000000000" pitchFamily="2" charset="-122"/>
              </a:rPr>
              <a:t>写回</a:t>
            </a:r>
            <a:endParaRPr lang="zh-CN" altLang="en-US" sz="1400" dirty="0">
              <a:solidFill>
                <a:schemeClr val="tx1"/>
              </a:solidFill>
              <a:latin typeface="Times New Roman" pitchFamily="18" charset="0"/>
              <a:ea typeface="宋体" panose="02000500000000000000" pitchFamily="2" charset="-122"/>
            </a:endParaRPr>
          </a:p>
          <a:p>
            <a:pPr>
              <a:buChar char="•"/>
            </a:pPr>
            <a:r>
              <a:rPr lang="en-US" altLang="zh-CN" sz="1400" dirty="0">
                <a:solidFill>
                  <a:schemeClr val="tx1"/>
                </a:solidFill>
                <a:sym typeface="+mn-ea"/>
              </a:rPr>
              <a:t>MUL1</a:t>
            </a:r>
            <a:r>
              <a:rPr lang="zh-CN" altLang="en-US" sz="1400" dirty="0">
                <a:solidFill>
                  <a:schemeClr val="tx1"/>
                </a:solidFill>
                <a:sym typeface="+mn-ea"/>
              </a:rPr>
              <a:t>写回</a:t>
            </a:r>
            <a:endParaRPr lang="zh-CN" altLang="en-US" sz="1400" dirty="0">
              <a:solidFill>
                <a:schemeClr val="tx1"/>
              </a:solidFill>
              <a:sym typeface="+mn-ea"/>
            </a:endParaRPr>
          </a:p>
          <a:p>
            <a:pPr>
              <a:buChar char="•"/>
            </a:pPr>
            <a:r>
              <a:rPr lang="en-US" altLang="zh-CN" sz="1400" dirty="0">
                <a:solidFill>
                  <a:schemeClr val="tx1"/>
                </a:solidFill>
                <a:sym typeface="+mn-ea"/>
              </a:rPr>
              <a:t>MUL1</a:t>
            </a:r>
            <a:r>
              <a:rPr lang="zh-CN" altLang="en-US" sz="1400" dirty="0">
                <a:solidFill>
                  <a:schemeClr val="tx1"/>
                </a:solidFill>
                <a:sym typeface="+mn-ea"/>
              </a:rPr>
              <a:t>提交</a:t>
            </a:r>
            <a:endParaRPr lang="zh-CN" altLang="en-US" sz="1400" dirty="0">
              <a:solidFill>
                <a:schemeClr val="tx1"/>
              </a:solidFill>
              <a:sym typeface="+mn-ea"/>
            </a:endParaRPr>
          </a:p>
          <a:p>
            <a:pPr>
              <a:buChar char="•"/>
            </a:pPr>
            <a:r>
              <a:rPr lang="en-US" altLang="zh-CN" sz="1400" dirty="0">
                <a:solidFill>
                  <a:srgbClr val="FF0000"/>
                </a:solidFill>
                <a:sym typeface="+mn-ea"/>
              </a:rPr>
              <a:t>ADD</a:t>
            </a:r>
            <a:r>
              <a:rPr lang="zh-CN" altLang="en-US" sz="1400" dirty="0">
                <a:solidFill>
                  <a:srgbClr val="FF0000"/>
                </a:solidFill>
                <a:sym typeface="+mn-ea"/>
              </a:rPr>
              <a:t>提交</a:t>
            </a:r>
            <a:endParaRPr lang="zh-CN" altLang="en-US" sz="1400" dirty="0">
              <a:solidFill>
                <a:srgbClr val="FF0000"/>
              </a:solidFill>
              <a:latin typeface="Times New Roman" pitchFamily="18" charset="0"/>
              <a:ea typeface="宋体" panose="02000500000000000000" pitchFamily="2" charset="-122"/>
            </a:endParaRPr>
          </a:p>
          <a:p>
            <a:pPr>
              <a:buChar char="•"/>
            </a:pPr>
            <a:endParaRPr lang="zh-CN" altLang="en-US" sz="1400" dirty="0">
              <a:solidFill>
                <a:srgbClr val="FF0000"/>
              </a:solidFill>
              <a:latin typeface="Times New Roman" pitchFamily="18" charset="0"/>
              <a:ea typeface="宋体" panose="02000500000000000000" pitchFamily="2"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914400" y="80645"/>
            <a:ext cx="10361613" cy="1143000"/>
          </a:xfrm>
        </p:spPr>
        <p:txBody>
          <a:bodyPr/>
          <a:p>
            <a:r>
              <a:rPr kumimoji="1" lang="zh-CN" altLang="en-US" kern="1200" noProof="0">
                <a:ln>
                  <a:noFill/>
                </a:ln>
                <a:solidFill>
                  <a:srgbClr val="FF0000"/>
                </a:solidFill>
                <a:effectLst/>
                <a:uLnTx/>
                <a:uFillTx/>
                <a:latin typeface="黑体" panose="02000500000000000000" pitchFamily="49" charset="-122"/>
                <a:ea typeface="黑体" panose="02000500000000000000" pitchFamily="49" charset="-122"/>
                <a:cs typeface="黑体" panose="02000500000000000000" pitchFamily="49" charset="-122"/>
                <a:sym typeface="+mn-ea"/>
              </a:rPr>
              <a:t>龙芯</a:t>
            </a:r>
            <a:r>
              <a:rPr kumimoji="1" lang="en-US" altLang="zh-CN" kern="1200" noProof="0">
                <a:ln>
                  <a:noFill/>
                </a:ln>
                <a:solidFill>
                  <a:srgbClr val="FF0000"/>
                </a:solidFill>
                <a:effectLst/>
                <a:uLnTx/>
                <a:uFillTx/>
                <a:latin typeface="黑体" panose="02000500000000000000" pitchFamily="49" charset="-122"/>
                <a:ea typeface="黑体" panose="02000500000000000000" pitchFamily="49" charset="-122"/>
                <a:cs typeface="黑体" panose="02000500000000000000" pitchFamily="49" charset="-122"/>
                <a:sym typeface="+mn-ea"/>
              </a:rPr>
              <a:t>1</a:t>
            </a:r>
            <a:r>
              <a:rPr kumimoji="1" lang="zh-CN" altLang="en-US" kern="1200" noProof="0">
                <a:ln>
                  <a:noFill/>
                </a:ln>
                <a:solidFill>
                  <a:srgbClr val="FF0000"/>
                </a:solidFill>
                <a:effectLst/>
                <a:uLnTx/>
                <a:uFillTx/>
                <a:latin typeface="黑体" panose="02000500000000000000" pitchFamily="49" charset="-122"/>
                <a:ea typeface="黑体" panose="02000500000000000000" pitchFamily="49" charset="-122"/>
                <a:cs typeface="黑体" panose="02000500000000000000" pitchFamily="49" charset="-122"/>
                <a:sym typeface="+mn-ea"/>
              </a:rPr>
              <a:t>号把</a:t>
            </a:r>
            <a:r>
              <a:rPr kumimoji="1" lang="en-US" altLang="zh-CN" kern="1200" noProof="0">
                <a:ln>
                  <a:noFill/>
                </a:ln>
                <a:solidFill>
                  <a:srgbClr val="FF0000"/>
                </a:solidFill>
                <a:effectLst/>
                <a:uLnTx/>
                <a:uFillTx/>
                <a:latin typeface="黑体" panose="02000500000000000000" pitchFamily="49" charset="-122"/>
                <a:ea typeface="黑体" panose="02000500000000000000" pitchFamily="49" charset="-122"/>
                <a:cs typeface="黑体" panose="02000500000000000000" pitchFamily="49" charset="-122"/>
                <a:sym typeface="+mn-ea"/>
              </a:rPr>
              <a:t>ROB</a:t>
            </a:r>
            <a:r>
              <a:rPr kumimoji="1" lang="zh-CN" altLang="en-US" kern="1200" noProof="0">
                <a:ln>
                  <a:noFill/>
                </a:ln>
                <a:solidFill>
                  <a:srgbClr val="FF0000"/>
                </a:solidFill>
                <a:effectLst/>
                <a:uLnTx/>
                <a:uFillTx/>
                <a:latin typeface="黑体" panose="02000500000000000000" pitchFamily="49" charset="-122"/>
                <a:ea typeface="黑体" panose="02000500000000000000" pitchFamily="49" charset="-122"/>
                <a:cs typeface="黑体" panose="02000500000000000000" pitchFamily="49" charset="-122"/>
                <a:sym typeface="+mn-ea"/>
              </a:rPr>
              <a:t>和指令队列合并</a:t>
            </a:r>
            <a:endParaRPr kumimoji="1" lang="zh-CN" altLang="en-US" kern="1200" noProof="0">
              <a:ln>
                <a:noFill/>
              </a:ln>
              <a:solidFill>
                <a:srgbClr val="FF0000"/>
              </a:solidFill>
              <a:effectLst/>
              <a:uLnTx/>
              <a:uFillTx/>
              <a:latin typeface="黑体" panose="02000500000000000000" pitchFamily="49" charset="-122"/>
              <a:ea typeface="黑体" panose="02000500000000000000" pitchFamily="49" charset="-122"/>
              <a:cs typeface="黑体" panose="02000500000000000000" pitchFamily="49" charset="-122"/>
              <a:sym typeface="+mn-ea"/>
            </a:endParaRPr>
          </a:p>
        </p:txBody>
      </p:sp>
      <p:grpSp>
        <p:nvGrpSpPr>
          <p:cNvPr id="6" name="组合 5"/>
          <p:cNvGrpSpPr/>
          <p:nvPr/>
        </p:nvGrpSpPr>
        <p:grpSpPr>
          <a:xfrm>
            <a:off x="4485005" y="1449705"/>
            <a:ext cx="7689850" cy="5361305"/>
            <a:chOff x="7063" y="2283"/>
            <a:chExt cx="12110" cy="8443"/>
          </a:xfrm>
        </p:grpSpPr>
        <p:sp>
          <p:nvSpPr>
            <p:cNvPr id="31751" name="Line 52"/>
            <p:cNvSpPr/>
            <p:nvPr/>
          </p:nvSpPr>
          <p:spPr>
            <a:xfrm flipV="1">
              <a:off x="11639" y="3333"/>
              <a:ext cx="0" cy="528"/>
            </a:xfrm>
            <a:prstGeom prst="line">
              <a:avLst/>
            </a:prstGeom>
            <a:ln w="9525" cap="flat" cmpd="sng">
              <a:solidFill>
                <a:schemeClr val="tx1"/>
              </a:solidFill>
              <a:prstDash val="solid"/>
              <a:round/>
              <a:headEnd type="none" w="med" len="med"/>
              <a:tailEnd type="triangle" w="med" len="med"/>
            </a:ln>
          </p:spPr>
        </p:sp>
        <p:sp>
          <p:nvSpPr>
            <p:cNvPr id="31752" name="Line 53"/>
            <p:cNvSpPr/>
            <p:nvPr/>
          </p:nvSpPr>
          <p:spPr>
            <a:xfrm flipV="1">
              <a:off x="13025" y="3333"/>
              <a:ext cx="0" cy="528"/>
            </a:xfrm>
            <a:prstGeom prst="line">
              <a:avLst/>
            </a:prstGeom>
            <a:ln w="9525" cap="flat" cmpd="sng">
              <a:solidFill>
                <a:schemeClr val="tx1"/>
              </a:solidFill>
              <a:prstDash val="solid"/>
              <a:round/>
              <a:headEnd type="none" w="med" len="med"/>
              <a:tailEnd type="triangle" w="med" len="med"/>
            </a:ln>
          </p:spPr>
        </p:sp>
        <p:sp>
          <p:nvSpPr>
            <p:cNvPr id="31753" name="Line 54"/>
            <p:cNvSpPr/>
            <p:nvPr/>
          </p:nvSpPr>
          <p:spPr>
            <a:xfrm flipV="1">
              <a:off x="16305" y="3313"/>
              <a:ext cx="0" cy="528"/>
            </a:xfrm>
            <a:prstGeom prst="line">
              <a:avLst/>
            </a:prstGeom>
            <a:ln w="9525" cap="flat" cmpd="sng">
              <a:solidFill>
                <a:schemeClr val="tx1"/>
              </a:solidFill>
              <a:prstDash val="solid"/>
              <a:round/>
              <a:headEnd type="none" w="med" len="med"/>
              <a:tailEnd type="triangle" w="med" len="med"/>
            </a:ln>
          </p:spPr>
        </p:sp>
        <p:sp>
          <p:nvSpPr>
            <p:cNvPr id="31754" name="Line 55"/>
            <p:cNvSpPr/>
            <p:nvPr/>
          </p:nvSpPr>
          <p:spPr>
            <a:xfrm flipV="1">
              <a:off x="17798" y="3293"/>
              <a:ext cx="0" cy="528"/>
            </a:xfrm>
            <a:prstGeom prst="line">
              <a:avLst/>
            </a:prstGeom>
            <a:ln w="9525" cap="flat" cmpd="sng">
              <a:solidFill>
                <a:schemeClr val="tx1"/>
              </a:solidFill>
              <a:prstDash val="solid"/>
              <a:round/>
              <a:headEnd type="none" w="med" len="med"/>
              <a:tailEnd type="triangle" w="med" len="med"/>
            </a:ln>
          </p:spPr>
        </p:sp>
        <p:sp>
          <p:nvSpPr>
            <p:cNvPr id="31755" name="Line 56"/>
            <p:cNvSpPr/>
            <p:nvPr/>
          </p:nvSpPr>
          <p:spPr>
            <a:xfrm flipV="1">
              <a:off x="12798" y="7393"/>
              <a:ext cx="18" cy="926"/>
            </a:xfrm>
            <a:prstGeom prst="line">
              <a:avLst/>
            </a:prstGeom>
            <a:ln w="19050" cap="flat" cmpd="sng">
              <a:solidFill>
                <a:schemeClr val="tx1"/>
              </a:solidFill>
              <a:prstDash val="solid"/>
              <a:round/>
              <a:headEnd type="none" w="med" len="med"/>
              <a:tailEnd type="triangle" w="med" len="med"/>
            </a:ln>
          </p:spPr>
        </p:sp>
        <p:sp>
          <p:nvSpPr>
            <p:cNvPr id="31756" name="Line 57"/>
            <p:cNvSpPr/>
            <p:nvPr/>
          </p:nvSpPr>
          <p:spPr>
            <a:xfrm flipV="1">
              <a:off x="12275" y="4795"/>
              <a:ext cx="0" cy="390"/>
            </a:xfrm>
            <a:prstGeom prst="line">
              <a:avLst/>
            </a:prstGeom>
            <a:ln w="19050" cap="flat" cmpd="sng">
              <a:solidFill>
                <a:schemeClr val="tx1"/>
              </a:solidFill>
              <a:prstDash val="solid"/>
              <a:round/>
              <a:headEnd type="none" w="med" len="med"/>
              <a:tailEnd type="triangle" w="med" len="med"/>
            </a:ln>
          </p:spPr>
        </p:sp>
        <p:sp>
          <p:nvSpPr>
            <p:cNvPr id="31757" name="Line 58"/>
            <p:cNvSpPr/>
            <p:nvPr/>
          </p:nvSpPr>
          <p:spPr>
            <a:xfrm flipV="1">
              <a:off x="16989" y="4783"/>
              <a:ext cx="0" cy="410"/>
            </a:xfrm>
            <a:prstGeom prst="line">
              <a:avLst/>
            </a:prstGeom>
            <a:ln w="19050" cap="flat" cmpd="sng">
              <a:solidFill>
                <a:schemeClr val="tx1"/>
              </a:solidFill>
              <a:prstDash val="solid"/>
              <a:round/>
              <a:headEnd type="none" w="med" len="med"/>
              <a:tailEnd type="triangle" w="med" len="med"/>
            </a:ln>
          </p:spPr>
        </p:sp>
        <p:sp>
          <p:nvSpPr>
            <p:cNvPr id="31758" name="Line 59"/>
            <p:cNvSpPr/>
            <p:nvPr/>
          </p:nvSpPr>
          <p:spPr>
            <a:xfrm flipV="1">
              <a:off x="17029" y="2283"/>
              <a:ext cx="0" cy="583"/>
            </a:xfrm>
            <a:prstGeom prst="line">
              <a:avLst/>
            </a:prstGeom>
            <a:ln w="19050" cap="flat" cmpd="sng">
              <a:solidFill>
                <a:srgbClr val="FF0000"/>
              </a:solidFill>
              <a:prstDash val="solid"/>
              <a:round/>
              <a:headEnd type="none" w="med" len="med"/>
              <a:tailEnd type="triangle" w="med" len="med"/>
            </a:ln>
          </p:spPr>
        </p:sp>
        <p:sp>
          <p:nvSpPr>
            <p:cNvPr id="31759" name="Line 60"/>
            <p:cNvSpPr/>
            <p:nvPr/>
          </p:nvSpPr>
          <p:spPr>
            <a:xfrm flipV="1">
              <a:off x="12412" y="2310"/>
              <a:ext cx="0" cy="583"/>
            </a:xfrm>
            <a:prstGeom prst="line">
              <a:avLst/>
            </a:prstGeom>
            <a:ln w="19050" cap="flat" cmpd="sng">
              <a:solidFill>
                <a:schemeClr val="tx1"/>
              </a:solidFill>
              <a:prstDash val="solid"/>
              <a:round/>
              <a:headEnd type="none" w="med" len="med"/>
              <a:tailEnd type="triangle" w="med" len="med"/>
            </a:ln>
          </p:spPr>
        </p:sp>
        <p:sp>
          <p:nvSpPr>
            <p:cNvPr id="31760" name="Line 61"/>
            <p:cNvSpPr/>
            <p:nvPr/>
          </p:nvSpPr>
          <p:spPr>
            <a:xfrm>
              <a:off x="8119" y="2300"/>
              <a:ext cx="11039" cy="0"/>
            </a:xfrm>
            <a:prstGeom prst="line">
              <a:avLst/>
            </a:prstGeom>
            <a:ln w="19050" cap="flat" cmpd="sng">
              <a:solidFill>
                <a:srgbClr val="FF0000"/>
              </a:solidFill>
              <a:prstDash val="solid"/>
              <a:round/>
              <a:headEnd type="none" w="med" len="med"/>
              <a:tailEnd type="none" w="med" len="med"/>
            </a:ln>
          </p:spPr>
        </p:sp>
        <p:sp>
          <p:nvSpPr>
            <p:cNvPr id="31761" name="Line 62"/>
            <p:cNvSpPr/>
            <p:nvPr/>
          </p:nvSpPr>
          <p:spPr>
            <a:xfrm flipV="1">
              <a:off x="11276" y="4780"/>
              <a:ext cx="0" cy="818"/>
            </a:xfrm>
            <a:prstGeom prst="line">
              <a:avLst/>
            </a:prstGeom>
            <a:ln w="19050" cap="flat" cmpd="sng">
              <a:solidFill>
                <a:srgbClr val="FF0000"/>
              </a:solidFill>
              <a:prstDash val="solid"/>
              <a:round/>
              <a:headEnd type="none" w="med" len="med"/>
              <a:tailEnd type="triangle" w="med" len="med"/>
            </a:ln>
          </p:spPr>
        </p:sp>
        <p:sp>
          <p:nvSpPr>
            <p:cNvPr id="31762" name="Line 63"/>
            <p:cNvSpPr/>
            <p:nvPr/>
          </p:nvSpPr>
          <p:spPr>
            <a:xfrm flipV="1">
              <a:off x="17752" y="4768"/>
              <a:ext cx="0" cy="818"/>
            </a:xfrm>
            <a:prstGeom prst="line">
              <a:avLst/>
            </a:prstGeom>
            <a:ln w="19050" cap="flat" cmpd="sng">
              <a:solidFill>
                <a:srgbClr val="FF0000"/>
              </a:solidFill>
              <a:prstDash val="solid"/>
              <a:round/>
              <a:headEnd type="none" w="med" len="med"/>
              <a:tailEnd type="triangle" w="med" len="med"/>
            </a:ln>
          </p:spPr>
        </p:sp>
        <p:sp>
          <p:nvSpPr>
            <p:cNvPr id="31763" name="Line 64"/>
            <p:cNvSpPr/>
            <p:nvPr/>
          </p:nvSpPr>
          <p:spPr>
            <a:xfrm flipH="1">
              <a:off x="19136" y="2300"/>
              <a:ext cx="11" cy="8361"/>
            </a:xfrm>
            <a:prstGeom prst="line">
              <a:avLst/>
            </a:prstGeom>
            <a:ln w="19050" cap="flat" cmpd="sng">
              <a:solidFill>
                <a:srgbClr val="FF0000"/>
              </a:solidFill>
              <a:prstDash val="solid"/>
              <a:round/>
              <a:headEnd type="none" w="med" len="med"/>
              <a:tailEnd type="none" w="med" len="med"/>
            </a:ln>
          </p:spPr>
        </p:sp>
        <p:sp>
          <p:nvSpPr>
            <p:cNvPr id="31764" name="Line 65"/>
            <p:cNvSpPr/>
            <p:nvPr/>
          </p:nvSpPr>
          <p:spPr>
            <a:xfrm flipV="1">
              <a:off x="12779" y="5150"/>
              <a:ext cx="0" cy="915"/>
            </a:xfrm>
            <a:prstGeom prst="line">
              <a:avLst/>
            </a:prstGeom>
            <a:ln w="19050" cap="flat" cmpd="sng">
              <a:solidFill>
                <a:schemeClr val="tx1"/>
              </a:solidFill>
              <a:prstDash val="solid"/>
              <a:round/>
              <a:headEnd type="none" w="med" len="med"/>
              <a:tailEnd type="triangle" w="med" len="med"/>
            </a:ln>
          </p:spPr>
        </p:sp>
        <p:sp>
          <p:nvSpPr>
            <p:cNvPr id="31765" name="Text Box 66"/>
            <p:cNvSpPr txBox="1"/>
            <p:nvPr/>
          </p:nvSpPr>
          <p:spPr>
            <a:xfrm>
              <a:off x="9896" y="3538"/>
              <a:ext cx="1637" cy="29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加法保留站</a:t>
              </a:r>
              <a:endParaRPr lang="zh-CN" altLang="en-US" sz="1200" b="1" dirty="0">
                <a:latin typeface="Times New Roman" pitchFamily="18" charset="0"/>
                <a:ea typeface="宋体" panose="02000500000000000000" pitchFamily="2" charset="-122"/>
              </a:endParaRPr>
            </a:p>
          </p:txBody>
        </p:sp>
        <p:sp>
          <p:nvSpPr>
            <p:cNvPr id="31766" name="Text Box 67"/>
            <p:cNvSpPr txBox="1"/>
            <p:nvPr/>
          </p:nvSpPr>
          <p:spPr>
            <a:xfrm>
              <a:off x="10906" y="5788"/>
              <a:ext cx="1717" cy="290"/>
            </a:xfrm>
            <a:prstGeom prst="rect">
              <a:avLst/>
            </a:prstGeom>
            <a:noFill/>
            <a:ln w="9525">
              <a:noFill/>
            </a:ln>
            <a:extLst>
              <a:ext uri="{909E8E84-426E-40DD-AFC4-6F175D3DCCD1}">
                <a14:hiddenFill xmlns:a14="http://schemas.microsoft.com/office/drawing/2010/main">
                  <a:solidFill>
                    <a:schemeClr val="bg1"/>
                  </a:solidFill>
                </a14:hiddenFill>
              </a:ext>
            </a:extLst>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浮点寄存器</a:t>
              </a:r>
              <a:endParaRPr lang="zh-CN" altLang="en-US" sz="1200" b="1" dirty="0">
                <a:latin typeface="Times New Roman" pitchFamily="18" charset="0"/>
                <a:ea typeface="宋体" panose="02000500000000000000" pitchFamily="2" charset="-122"/>
              </a:endParaRPr>
            </a:p>
          </p:txBody>
        </p:sp>
        <p:sp>
          <p:nvSpPr>
            <p:cNvPr id="31767" name="Text Box 68"/>
            <p:cNvSpPr txBox="1"/>
            <p:nvPr/>
          </p:nvSpPr>
          <p:spPr>
            <a:xfrm>
              <a:off x="14629" y="3520"/>
              <a:ext cx="1637" cy="29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乘法保留站</a:t>
              </a:r>
              <a:endParaRPr lang="zh-CN" altLang="en-US" sz="1200" b="1" dirty="0">
                <a:latin typeface="Times New Roman" pitchFamily="18" charset="0"/>
                <a:ea typeface="宋体" panose="02000500000000000000" pitchFamily="2" charset="-122"/>
              </a:endParaRPr>
            </a:p>
          </p:txBody>
        </p:sp>
        <p:sp>
          <p:nvSpPr>
            <p:cNvPr id="31768" name="Line 69"/>
            <p:cNvSpPr/>
            <p:nvPr/>
          </p:nvSpPr>
          <p:spPr>
            <a:xfrm>
              <a:off x="13850" y="10673"/>
              <a:ext cx="5323" cy="0"/>
            </a:xfrm>
            <a:prstGeom prst="line">
              <a:avLst/>
            </a:prstGeom>
            <a:ln w="19050" cap="flat" cmpd="sng">
              <a:solidFill>
                <a:srgbClr val="FF0000"/>
              </a:solidFill>
              <a:prstDash val="solid"/>
              <a:round/>
              <a:headEnd type="none" w="med" len="med"/>
              <a:tailEnd type="none" w="med" len="med"/>
            </a:ln>
          </p:spPr>
        </p:sp>
        <p:sp>
          <p:nvSpPr>
            <p:cNvPr id="31769" name="Line 70"/>
            <p:cNvSpPr/>
            <p:nvPr/>
          </p:nvSpPr>
          <p:spPr>
            <a:xfrm flipV="1">
              <a:off x="13835" y="10316"/>
              <a:ext cx="3" cy="410"/>
            </a:xfrm>
            <a:prstGeom prst="line">
              <a:avLst/>
            </a:prstGeom>
            <a:ln w="19050" cap="flat" cmpd="sng">
              <a:solidFill>
                <a:srgbClr val="FF0000"/>
              </a:solidFill>
              <a:prstDash val="solid"/>
              <a:round/>
              <a:headEnd type="none" w="med" len="med"/>
              <a:tailEnd type="triangle" w="med" len="med"/>
            </a:ln>
          </p:spPr>
        </p:sp>
        <p:grpSp>
          <p:nvGrpSpPr>
            <p:cNvPr id="31772" name="Group 73"/>
            <p:cNvGrpSpPr/>
            <p:nvPr/>
          </p:nvGrpSpPr>
          <p:grpSpPr>
            <a:xfrm rot="0">
              <a:off x="7063" y="2295"/>
              <a:ext cx="12093" cy="3273"/>
              <a:chOff x="1701" y="512"/>
              <a:chExt cx="3628" cy="1309"/>
            </a:xfrm>
          </p:grpSpPr>
          <p:sp>
            <p:nvSpPr>
              <p:cNvPr id="31773" name="Line 74"/>
              <p:cNvSpPr/>
              <p:nvPr/>
            </p:nvSpPr>
            <p:spPr>
              <a:xfrm flipV="1">
                <a:off x="2154" y="1661"/>
                <a:ext cx="2518" cy="0"/>
              </a:xfrm>
              <a:prstGeom prst="line">
                <a:avLst/>
              </a:prstGeom>
              <a:ln w="19050" cap="flat" cmpd="sng">
                <a:solidFill>
                  <a:schemeClr val="tx1"/>
                </a:solidFill>
                <a:prstDash val="solid"/>
                <a:round/>
                <a:headEnd type="none" w="med" len="med"/>
                <a:tailEnd type="none" w="med" len="med"/>
              </a:ln>
            </p:spPr>
          </p:sp>
          <p:sp>
            <p:nvSpPr>
              <p:cNvPr id="31774" name="Line 75"/>
              <p:cNvSpPr/>
              <p:nvPr/>
            </p:nvSpPr>
            <p:spPr>
              <a:xfrm flipV="1">
                <a:off x="1949" y="1820"/>
                <a:ext cx="3380" cy="0"/>
              </a:xfrm>
              <a:prstGeom prst="line">
                <a:avLst/>
              </a:prstGeom>
              <a:ln w="19050" cap="flat" cmpd="sng">
                <a:solidFill>
                  <a:srgbClr val="FF0000"/>
                </a:solidFill>
                <a:prstDash val="solid"/>
                <a:round/>
                <a:headEnd type="none" w="med" len="med"/>
                <a:tailEnd type="none" w="med" len="med"/>
              </a:ln>
            </p:spPr>
          </p:sp>
          <p:grpSp>
            <p:nvGrpSpPr>
              <p:cNvPr id="31775" name="Group 76"/>
              <p:cNvGrpSpPr/>
              <p:nvPr/>
            </p:nvGrpSpPr>
            <p:grpSpPr>
              <a:xfrm>
                <a:off x="1701" y="512"/>
                <a:ext cx="3494" cy="1309"/>
                <a:chOff x="1701" y="512"/>
                <a:chExt cx="3494" cy="1309"/>
              </a:xfrm>
            </p:grpSpPr>
            <p:grpSp>
              <p:nvGrpSpPr>
                <p:cNvPr id="31776" name="Group 77"/>
                <p:cNvGrpSpPr/>
                <p:nvPr/>
              </p:nvGrpSpPr>
              <p:grpSpPr>
                <a:xfrm>
                  <a:off x="1950" y="512"/>
                  <a:ext cx="204" cy="1309"/>
                  <a:chOff x="1950" y="512"/>
                  <a:chExt cx="204" cy="1309"/>
                </a:xfrm>
              </p:grpSpPr>
              <p:sp>
                <p:nvSpPr>
                  <p:cNvPr id="31777" name="Line 78"/>
                  <p:cNvSpPr/>
                  <p:nvPr/>
                </p:nvSpPr>
                <p:spPr>
                  <a:xfrm flipV="1">
                    <a:off x="2022" y="512"/>
                    <a:ext cx="0" cy="233"/>
                  </a:xfrm>
                  <a:prstGeom prst="line">
                    <a:avLst/>
                  </a:prstGeom>
                  <a:ln w="19050" cap="flat" cmpd="sng">
                    <a:solidFill>
                      <a:schemeClr val="tx1"/>
                    </a:solidFill>
                    <a:prstDash val="solid"/>
                    <a:round/>
                    <a:headEnd type="none" w="med" len="med"/>
                    <a:tailEnd type="triangle" w="med" len="med"/>
                  </a:ln>
                </p:spPr>
              </p:sp>
              <p:sp>
                <p:nvSpPr>
                  <p:cNvPr id="31778" name="Line 79"/>
                  <p:cNvSpPr/>
                  <p:nvPr/>
                </p:nvSpPr>
                <p:spPr>
                  <a:xfrm flipV="1">
                    <a:off x="1950" y="1502"/>
                    <a:ext cx="0" cy="319"/>
                  </a:xfrm>
                  <a:prstGeom prst="line">
                    <a:avLst/>
                  </a:prstGeom>
                  <a:ln w="19050" cap="flat" cmpd="sng">
                    <a:solidFill>
                      <a:srgbClr val="FF0000"/>
                    </a:solidFill>
                    <a:prstDash val="solid"/>
                    <a:round/>
                    <a:headEnd type="none" w="med" len="med"/>
                    <a:tailEnd type="triangle" w="med" len="med"/>
                  </a:ln>
                </p:spPr>
              </p:sp>
              <p:sp>
                <p:nvSpPr>
                  <p:cNvPr id="31779" name="Line 80"/>
                  <p:cNvSpPr/>
                  <p:nvPr/>
                </p:nvSpPr>
                <p:spPr>
                  <a:xfrm flipV="1">
                    <a:off x="2154" y="1508"/>
                    <a:ext cx="0" cy="156"/>
                  </a:xfrm>
                  <a:prstGeom prst="line">
                    <a:avLst/>
                  </a:prstGeom>
                  <a:ln w="19050" cap="flat" cmpd="sng">
                    <a:solidFill>
                      <a:schemeClr val="tx1"/>
                    </a:solidFill>
                    <a:prstDash val="solid"/>
                    <a:round/>
                    <a:headEnd type="none" w="med" len="med"/>
                    <a:tailEnd type="triangle" w="med" len="med"/>
                  </a:ln>
                </p:spPr>
              </p:sp>
            </p:grpSp>
            <p:sp>
              <p:nvSpPr>
                <p:cNvPr id="31780" name="Text Box 81"/>
                <p:cNvSpPr txBox="1"/>
                <p:nvPr/>
              </p:nvSpPr>
              <p:spPr>
                <a:xfrm>
                  <a:off x="2777" y="750"/>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浮点加</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减法器</a:t>
                  </a:r>
                  <a:endParaRPr lang="zh-CN" altLang="en-US" sz="1200" b="1" dirty="0">
                    <a:latin typeface="Times New Roman" pitchFamily="18" charset="0"/>
                    <a:ea typeface="宋体" panose="02000500000000000000" pitchFamily="2" charset="-122"/>
                  </a:endParaRPr>
                </a:p>
              </p:txBody>
            </p:sp>
            <p:sp>
              <p:nvSpPr>
                <p:cNvPr id="31781" name="Text Box 82"/>
                <p:cNvSpPr txBox="1"/>
                <p:nvPr/>
              </p:nvSpPr>
              <p:spPr>
                <a:xfrm>
                  <a:off x="4181" y="737"/>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浮点乘</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除法器</a:t>
                  </a:r>
                  <a:endParaRPr lang="zh-CN" altLang="en-US" sz="1200" b="1" dirty="0">
                    <a:latin typeface="Times New Roman" pitchFamily="18" charset="0"/>
                    <a:ea typeface="宋体" panose="02000500000000000000" pitchFamily="2" charset="-122"/>
                  </a:endParaRPr>
                </a:p>
              </p:txBody>
            </p:sp>
            <p:sp>
              <p:nvSpPr>
                <p:cNvPr id="31782" name="Text Box 83"/>
                <p:cNvSpPr txBox="1"/>
                <p:nvPr/>
              </p:nvSpPr>
              <p:spPr>
                <a:xfrm>
                  <a:off x="1701" y="731"/>
                  <a:ext cx="664" cy="771"/>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p>
                  <a:pPr algn="ctr">
                    <a:spcBef>
                      <a:spcPct val="50000"/>
                    </a:spcBef>
                  </a:pPr>
                  <a:endParaRPr lang="en-US" altLang="zh-CN" sz="1200"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定点</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访存</a:t>
                  </a:r>
                  <a:endParaRPr lang="zh-CN" altLang="en-US" sz="1200" b="1"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部件</a:t>
                  </a:r>
                  <a:endParaRPr lang="zh-CN" altLang="en-US" sz="1200" b="1" dirty="0">
                    <a:latin typeface="Times New Roman" pitchFamily="18" charset="0"/>
                    <a:ea typeface="宋体" panose="02000500000000000000" pitchFamily="2" charset="-122"/>
                  </a:endParaRPr>
                </a:p>
                <a:p>
                  <a:pPr algn="ctr">
                    <a:spcBef>
                      <a:spcPct val="50000"/>
                    </a:spcBef>
                  </a:pPr>
                  <a:endParaRPr lang="en-US" altLang="zh-CN" sz="1200" b="1" dirty="0">
                    <a:latin typeface="Times New Roman" pitchFamily="18" charset="0"/>
                    <a:ea typeface="宋体" panose="02000500000000000000" pitchFamily="2" charset="-122"/>
                  </a:endParaRPr>
                </a:p>
              </p:txBody>
            </p:sp>
          </p:grpSp>
        </p:grpSp>
        <p:sp>
          <p:nvSpPr>
            <p:cNvPr id="31783" name="Text Box 84"/>
            <p:cNvSpPr txBox="1"/>
            <p:nvPr/>
          </p:nvSpPr>
          <p:spPr>
            <a:xfrm>
              <a:off x="10992" y="7945"/>
              <a:ext cx="1623" cy="290"/>
            </a:xfrm>
            <a:prstGeom prst="rect">
              <a:avLst/>
            </a:prstGeom>
            <a:solidFill>
              <a:schemeClr val="bg1"/>
            </a:solid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指令队列</a:t>
              </a:r>
              <a:endParaRPr lang="zh-CN" altLang="en-US" sz="1200" b="1" dirty="0">
                <a:latin typeface="Times New Roman" pitchFamily="18" charset="0"/>
                <a:ea typeface="宋体" panose="02000500000000000000" pitchFamily="2" charset="-122"/>
              </a:endParaRPr>
            </a:p>
          </p:txBody>
        </p:sp>
      </p:grpSp>
      <p:graphicFrame>
        <p:nvGraphicFramePr>
          <p:cNvPr id="3" name="表格 2"/>
          <p:cNvGraphicFramePr/>
          <p:nvPr/>
        </p:nvGraphicFramePr>
        <p:xfrm>
          <a:off x="6799580" y="3837940"/>
          <a:ext cx="2342515" cy="863600"/>
        </p:xfrm>
        <a:graphic>
          <a:graphicData uri="http://schemas.openxmlformats.org/drawingml/2006/table">
            <a:tbl>
              <a:tblPr firstRow="1" bandRow="1">
                <a:tableStyleId>{5C22544A-7EE6-4342-B048-85BDC9FD1C3A}</a:tableStyleId>
              </a:tblPr>
              <a:tblGrid>
                <a:gridCol w="365125"/>
                <a:gridCol w="450850"/>
                <a:gridCol w="1526540"/>
              </a:tblGrid>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3.0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4" name="表格 3"/>
          <p:cNvGraphicFramePr/>
          <p:nvPr/>
        </p:nvGraphicFramePr>
        <p:xfrm>
          <a:off x="7167880" y="5276215"/>
          <a:ext cx="1930400" cy="1280160"/>
        </p:xfrm>
        <a:graphic>
          <a:graphicData uri="http://schemas.openxmlformats.org/drawingml/2006/table">
            <a:tbl>
              <a:tblPr firstRow="1" bandRow="1">
                <a:tableStyleId>{5C22544A-7EE6-4342-B048-85BDC9FD1C3A}</a:tableStyleId>
              </a:tblPr>
              <a:tblGrid>
                <a:gridCol w="1930400"/>
              </a:tblGrid>
              <a:tr h="213360">
                <a:tc>
                  <a:txBody>
                    <a:bodyPr/>
                    <a:p>
                      <a:pPr indent="0">
                        <a:buNone/>
                      </a:pPr>
                      <a:r>
                        <a:rPr lang="en-US" sz="1200" b="1">
                          <a:solidFill>
                            <a:schemeClr val="tx1"/>
                          </a:solidFill>
                          <a:latin typeface="宋体" panose="02000500000000000000" pitchFamily="2" charset="-122"/>
                          <a:ea typeface="宋体" panose="02000500000000000000" pitchFamily="2" charset="-122"/>
                        </a:rPr>
                        <a:t>FDIV.D  </a:t>
                      </a:r>
                      <a:r>
                        <a:rPr lang="en-US" sz="1200" b="1">
                          <a:solidFill>
                            <a:srgbClr val="FF0000"/>
                          </a:solidFill>
                          <a:latin typeface="宋体" panose="02000500000000000000" pitchFamily="2" charset="-122"/>
                          <a:ea typeface="宋体" panose="02000500000000000000" pitchFamily="2" charset="-122"/>
                        </a:rPr>
                        <a:t>F0</a:t>
                      </a:r>
                      <a:r>
                        <a:rPr lang="en-US" sz="1200" b="1">
                          <a:solidFill>
                            <a:schemeClr val="tx1"/>
                          </a:solidFill>
                          <a:latin typeface="宋体" panose="02000500000000000000" pitchFamily="2" charset="-122"/>
                          <a:ea typeface="宋体" panose="02000500000000000000" pitchFamily="2" charset="-122"/>
                        </a:rPr>
                        <a:t>, F1, F2</a:t>
                      </a:r>
                      <a:endParaRPr lang="en-US" altLang="en-US" sz="1200" b="1">
                        <a:solidFill>
                          <a:schemeClr val="tx1"/>
                        </a:solidFill>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FADD.D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F1,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5" name="表格 4"/>
          <p:cNvGraphicFramePr/>
          <p:nvPr/>
        </p:nvGraphicFramePr>
        <p:xfrm>
          <a:off x="9544050" y="243586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OP</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Qj</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Vj</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Qk</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Vk</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7" name="表格 6"/>
          <p:cNvGraphicFramePr/>
          <p:nvPr/>
        </p:nvGraphicFramePr>
        <p:xfrm>
          <a:off x="6577330" y="245618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6</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OP</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Qj</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Vj</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Qk</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Vk</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5</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4</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sp>
        <p:nvSpPr>
          <p:cNvPr id="64547" name="Line 36"/>
          <p:cNvSpPr/>
          <p:nvPr/>
        </p:nvSpPr>
        <p:spPr>
          <a:xfrm flipV="1">
            <a:off x="7795895" y="4687570"/>
            <a:ext cx="0" cy="612775"/>
          </a:xfrm>
          <a:prstGeom prst="line">
            <a:avLst/>
          </a:prstGeom>
          <a:ln w="9525" cap="flat" cmpd="sng">
            <a:solidFill>
              <a:srgbClr val="0000FF"/>
            </a:solidFill>
            <a:prstDash val="solid"/>
            <a:round/>
            <a:headEnd type="none" w="med" len="med"/>
            <a:tailEnd type="triangle" w="med" len="med"/>
          </a:ln>
        </p:spPr>
      </p:sp>
      <p:sp>
        <p:nvSpPr>
          <p:cNvPr id="64548" name="Line 37"/>
          <p:cNvSpPr/>
          <p:nvPr/>
        </p:nvSpPr>
        <p:spPr>
          <a:xfrm flipV="1">
            <a:off x="4757420" y="4978400"/>
            <a:ext cx="3038475" cy="1905"/>
          </a:xfrm>
          <a:prstGeom prst="line">
            <a:avLst/>
          </a:prstGeom>
          <a:ln w="19050" cap="flat" cmpd="sng">
            <a:solidFill>
              <a:schemeClr val="accent2"/>
            </a:solidFill>
            <a:prstDash val="solid"/>
            <a:round/>
            <a:headEnd type="none" w="med" len="med"/>
            <a:tailEnd type="none" w="med" len="med"/>
          </a:ln>
        </p:spPr>
      </p:sp>
      <p:sp>
        <p:nvSpPr>
          <p:cNvPr id="64549" name="Line 38"/>
          <p:cNvSpPr/>
          <p:nvPr/>
        </p:nvSpPr>
        <p:spPr>
          <a:xfrm flipH="1" flipV="1">
            <a:off x="4748530" y="3028315"/>
            <a:ext cx="19685" cy="1974850"/>
          </a:xfrm>
          <a:prstGeom prst="line">
            <a:avLst/>
          </a:prstGeom>
          <a:ln w="19050" cap="flat" cmpd="sng">
            <a:solidFill>
              <a:schemeClr val="accent2"/>
            </a:solidFill>
            <a:prstDash val="solid"/>
            <a:round/>
            <a:headEnd type="none" w="med" len="med"/>
            <a:tailEnd type="triangle" w="med" len="med"/>
          </a:ln>
        </p:spPr>
      </p:sp>
      <p:sp>
        <p:nvSpPr>
          <p:cNvPr id="64550" name="Text Box 39"/>
          <p:cNvSpPr txBox="1"/>
          <p:nvPr/>
        </p:nvSpPr>
        <p:spPr>
          <a:xfrm>
            <a:off x="4853623" y="4142423"/>
            <a:ext cx="890587" cy="184150"/>
          </a:xfrm>
          <a:prstGeom prst="rect">
            <a:avLst/>
          </a:prstGeom>
          <a:solidFill>
            <a:schemeClr val="bg1"/>
          </a:solidFill>
          <a:ln w="9525">
            <a:noFill/>
          </a:ln>
        </p:spPr>
        <p:txBody>
          <a:bodyPr lIns="0" tIns="0" rIns="0" bIns="0" anchor="t" anchorCtr="0">
            <a:spAutoFit/>
          </a:bodyPr>
          <a:p>
            <a:pPr>
              <a:spcBef>
                <a:spcPct val="50000"/>
              </a:spcBef>
            </a:pPr>
            <a:r>
              <a:rPr lang="zh-CN" altLang="en-US" sz="1200" b="1" dirty="0">
                <a:solidFill>
                  <a:schemeClr val="accent2"/>
                </a:solidFill>
                <a:latin typeface="Times New Roman" pitchFamily="18" charset="0"/>
                <a:ea typeface="宋体" panose="02000500000000000000" pitchFamily="2" charset="-122"/>
              </a:rPr>
              <a:t>写存储器</a:t>
            </a:r>
            <a:endParaRPr lang="zh-CN" altLang="en-US" sz="1200" b="1" dirty="0">
              <a:solidFill>
                <a:schemeClr val="accent2"/>
              </a:solidFill>
              <a:latin typeface="Times New Roman" pitchFamily="18" charset="0"/>
              <a:ea typeface="宋体" panose="02000500000000000000" pitchFamily="2" charset="-122"/>
            </a:endParaRPr>
          </a:p>
        </p:txBody>
      </p:sp>
      <p:sp>
        <p:nvSpPr>
          <p:cNvPr id="64551" name="Text Box 40"/>
          <p:cNvSpPr txBox="1"/>
          <p:nvPr/>
        </p:nvSpPr>
        <p:spPr>
          <a:xfrm>
            <a:off x="6021070" y="4759960"/>
            <a:ext cx="1155700" cy="184150"/>
          </a:xfrm>
          <a:prstGeom prst="rect">
            <a:avLst/>
          </a:prstGeom>
          <a:noFill/>
          <a:ln w="9525">
            <a:noFill/>
          </a:ln>
        </p:spPr>
        <p:txBody>
          <a:bodyPr lIns="0" tIns="0" rIns="0" bIns="0" anchor="t" anchorCtr="0">
            <a:spAutoFit/>
          </a:bodyPr>
          <a:p>
            <a:pPr>
              <a:spcBef>
                <a:spcPct val="50000"/>
              </a:spcBef>
            </a:pPr>
            <a:r>
              <a:rPr lang="en-US" altLang="zh-CN" sz="1200" b="1" dirty="0">
                <a:solidFill>
                  <a:schemeClr val="accent2"/>
                </a:solidFill>
                <a:latin typeface="Times New Roman" pitchFamily="18" charset="0"/>
                <a:ea typeface="宋体" panose="02000500000000000000" pitchFamily="2" charset="-122"/>
              </a:rPr>
              <a:t>Commit</a:t>
            </a:r>
            <a:r>
              <a:rPr lang="zh-CN" altLang="zh-CN" sz="1200" b="1" dirty="0">
                <a:solidFill>
                  <a:schemeClr val="accent2"/>
                </a:solidFill>
                <a:latin typeface="Times New Roman" pitchFamily="18" charset="0"/>
                <a:ea typeface="宋体" panose="02000500000000000000" pitchFamily="2" charset="-122"/>
              </a:rPr>
              <a:t>总线</a:t>
            </a:r>
            <a:endParaRPr lang="zh-CN" altLang="en-US" sz="1200" b="1" dirty="0">
              <a:solidFill>
                <a:schemeClr val="accent2"/>
              </a:solidFill>
              <a:latin typeface="Times New Roman" pitchFamily="18" charset="0"/>
              <a:ea typeface="宋体" panose="02000500000000000000" pitchFamily="2"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51" name="Line 52"/>
          <p:cNvSpPr/>
          <p:nvPr/>
        </p:nvSpPr>
        <p:spPr>
          <a:xfrm flipV="1">
            <a:off x="7390765" y="2116455"/>
            <a:ext cx="0" cy="335280"/>
          </a:xfrm>
          <a:prstGeom prst="line">
            <a:avLst/>
          </a:prstGeom>
          <a:ln w="9525" cap="flat" cmpd="sng">
            <a:solidFill>
              <a:schemeClr val="tx1"/>
            </a:solidFill>
            <a:prstDash val="solid"/>
            <a:round/>
            <a:headEnd type="none" w="med" len="med"/>
            <a:tailEnd type="triangle" w="med" len="med"/>
          </a:ln>
        </p:spPr>
      </p:sp>
      <p:sp>
        <p:nvSpPr>
          <p:cNvPr id="31752" name="Line 53"/>
          <p:cNvSpPr/>
          <p:nvPr/>
        </p:nvSpPr>
        <p:spPr>
          <a:xfrm flipV="1">
            <a:off x="8270875" y="2116455"/>
            <a:ext cx="0" cy="335280"/>
          </a:xfrm>
          <a:prstGeom prst="line">
            <a:avLst/>
          </a:prstGeom>
          <a:ln w="9525" cap="flat" cmpd="sng">
            <a:solidFill>
              <a:schemeClr val="tx1"/>
            </a:solidFill>
            <a:prstDash val="solid"/>
            <a:round/>
            <a:headEnd type="none" w="med" len="med"/>
            <a:tailEnd type="triangle" w="med" len="med"/>
          </a:ln>
        </p:spPr>
      </p:sp>
      <p:sp>
        <p:nvSpPr>
          <p:cNvPr id="31753" name="Line 54"/>
          <p:cNvSpPr/>
          <p:nvPr/>
        </p:nvSpPr>
        <p:spPr>
          <a:xfrm flipV="1">
            <a:off x="10353675" y="2103755"/>
            <a:ext cx="0" cy="335280"/>
          </a:xfrm>
          <a:prstGeom prst="line">
            <a:avLst/>
          </a:prstGeom>
          <a:ln w="9525" cap="flat" cmpd="sng">
            <a:solidFill>
              <a:schemeClr val="tx1"/>
            </a:solidFill>
            <a:prstDash val="solid"/>
            <a:round/>
            <a:headEnd type="none" w="med" len="med"/>
            <a:tailEnd type="triangle" w="med" len="med"/>
          </a:ln>
        </p:spPr>
      </p:sp>
      <p:sp>
        <p:nvSpPr>
          <p:cNvPr id="31754" name="Line 55"/>
          <p:cNvSpPr/>
          <p:nvPr/>
        </p:nvSpPr>
        <p:spPr>
          <a:xfrm flipV="1">
            <a:off x="11301730" y="2091055"/>
            <a:ext cx="0" cy="335280"/>
          </a:xfrm>
          <a:prstGeom prst="line">
            <a:avLst/>
          </a:prstGeom>
          <a:ln w="9525" cap="flat" cmpd="sng">
            <a:solidFill>
              <a:schemeClr val="tx1"/>
            </a:solidFill>
            <a:prstDash val="solid"/>
            <a:round/>
            <a:headEnd type="none" w="med" len="med"/>
            <a:tailEnd type="triangle" w="med" len="med"/>
          </a:ln>
        </p:spPr>
      </p:sp>
      <p:sp>
        <p:nvSpPr>
          <p:cNvPr id="31755" name="Line 56"/>
          <p:cNvSpPr/>
          <p:nvPr/>
        </p:nvSpPr>
        <p:spPr>
          <a:xfrm flipV="1">
            <a:off x="8137525" y="4694555"/>
            <a:ext cx="0" cy="617855"/>
          </a:xfrm>
          <a:prstGeom prst="line">
            <a:avLst/>
          </a:prstGeom>
          <a:ln w="19050" cap="flat" cmpd="sng">
            <a:solidFill>
              <a:schemeClr val="tx1"/>
            </a:solidFill>
            <a:prstDash val="solid"/>
            <a:round/>
            <a:headEnd type="none" w="med" len="med"/>
            <a:tailEnd type="triangle" w="med" len="med"/>
          </a:ln>
        </p:spPr>
      </p:sp>
      <p:sp>
        <p:nvSpPr>
          <p:cNvPr id="31756" name="Line 57"/>
          <p:cNvSpPr/>
          <p:nvPr/>
        </p:nvSpPr>
        <p:spPr>
          <a:xfrm flipV="1">
            <a:off x="7794625" y="3044825"/>
            <a:ext cx="0" cy="247650"/>
          </a:xfrm>
          <a:prstGeom prst="line">
            <a:avLst/>
          </a:prstGeom>
          <a:ln w="19050" cap="flat" cmpd="sng">
            <a:solidFill>
              <a:schemeClr val="tx1"/>
            </a:solidFill>
            <a:prstDash val="solid"/>
            <a:round/>
            <a:headEnd type="none" w="med" len="med"/>
            <a:tailEnd type="triangle" w="med" len="med"/>
          </a:ln>
        </p:spPr>
      </p:sp>
      <p:sp>
        <p:nvSpPr>
          <p:cNvPr id="31757" name="Line 58"/>
          <p:cNvSpPr/>
          <p:nvPr/>
        </p:nvSpPr>
        <p:spPr>
          <a:xfrm flipV="1">
            <a:off x="10788015" y="3037205"/>
            <a:ext cx="0" cy="260350"/>
          </a:xfrm>
          <a:prstGeom prst="line">
            <a:avLst/>
          </a:prstGeom>
          <a:ln w="19050" cap="flat" cmpd="sng">
            <a:solidFill>
              <a:schemeClr val="tx1"/>
            </a:solidFill>
            <a:prstDash val="solid"/>
            <a:round/>
            <a:headEnd type="none" w="med" len="med"/>
            <a:tailEnd type="triangle" w="med" len="med"/>
          </a:ln>
        </p:spPr>
      </p:sp>
      <p:sp>
        <p:nvSpPr>
          <p:cNvPr id="31758" name="Line 59"/>
          <p:cNvSpPr/>
          <p:nvPr/>
        </p:nvSpPr>
        <p:spPr>
          <a:xfrm flipV="1">
            <a:off x="10813415" y="1449705"/>
            <a:ext cx="0" cy="370205"/>
          </a:xfrm>
          <a:prstGeom prst="line">
            <a:avLst/>
          </a:prstGeom>
          <a:ln w="19050" cap="flat" cmpd="sng">
            <a:solidFill>
              <a:srgbClr val="FF0000"/>
            </a:solidFill>
            <a:prstDash val="solid"/>
            <a:round/>
            <a:headEnd type="none" w="med" len="med"/>
            <a:tailEnd type="triangle" w="med" len="med"/>
          </a:ln>
        </p:spPr>
      </p:sp>
      <p:sp>
        <p:nvSpPr>
          <p:cNvPr id="31759" name="Line 60"/>
          <p:cNvSpPr/>
          <p:nvPr/>
        </p:nvSpPr>
        <p:spPr>
          <a:xfrm flipV="1">
            <a:off x="7881620" y="1466850"/>
            <a:ext cx="0" cy="370205"/>
          </a:xfrm>
          <a:prstGeom prst="line">
            <a:avLst/>
          </a:prstGeom>
          <a:ln w="19050" cap="flat" cmpd="sng">
            <a:solidFill>
              <a:schemeClr val="tx1"/>
            </a:solidFill>
            <a:prstDash val="solid"/>
            <a:round/>
            <a:headEnd type="none" w="med" len="med"/>
            <a:tailEnd type="triangle" w="med" len="med"/>
          </a:ln>
        </p:spPr>
      </p:sp>
      <p:sp>
        <p:nvSpPr>
          <p:cNvPr id="31760" name="Line 61"/>
          <p:cNvSpPr/>
          <p:nvPr/>
        </p:nvSpPr>
        <p:spPr>
          <a:xfrm>
            <a:off x="5155565" y="1460500"/>
            <a:ext cx="7009765" cy="0"/>
          </a:xfrm>
          <a:prstGeom prst="line">
            <a:avLst/>
          </a:prstGeom>
          <a:ln w="19050" cap="flat" cmpd="sng">
            <a:solidFill>
              <a:srgbClr val="FF0000"/>
            </a:solidFill>
            <a:prstDash val="solid"/>
            <a:round/>
            <a:headEnd type="none" w="med" len="med"/>
            <a:tailEnd type="none" w="med" len="med"/>
          </a:ln>
        </p:spPr>
      </p:sp>
      <p:sp>
        <p:nvSpPr>
          <p:cNvPr id="31761" name="Line 62"/>
          <p:cNvSpPr/>
          <p:nvPr/>
        </p:nvSpPr>
        <p:spPr>
          <a:xfrm flipH="1" flipV="1">
            <a:off x="7160895" y="3035300"/>
            <a:ext cx="635" cy="389255"/>
          </a:xfrm>
          <a:prstGeom prst="line">
            <a:avLst/>
          </a:prstGeom>
          <a:ln w="19050" cap="flat" cmpd="sng">
            <a:solidFill>
              <a:srgbClr val="FF0000"/>
            </a:solidFill>
            <a:prstDash val="solid"/>
            <a:round/>
            <a:headEnd type="none" w="med" len="med"/>
            <a:tailEnd type="triangle" w="med" len="med"/>
          </a:ln>
        </p:spPr>
      </p:sp>
      <p:sp>
        <p:nvSpPr>
          <p:cNvPr id="31762" name="Line 63"/>
          <p:cNvSpPr/>
          <p:nvPr/>
        </p:nvSpPr>
        <p:spPr>
          <a:xfrm flipV="1">
            <a:off x="11272520" y="3027680"/>
            <a:ext cx="635" cy="410845"/>
          </a:xfrm>
          <a:prstGeom prst="line">
            <a:avLst/>
          </a:prstGeom>
          <a:ln w="19050" cap="flat" cmpd="sng">
            <a:solidFill>
              <a:srgbClr val="FF0000"/>
            </a:solidFill>
            <a:prstDash val="solid"/>
            <a:round/>
            <a:headEnd type="none" w="med" len="med"/>
            <a:tailEnd type="triangle" w="med" len="med"/>
          </a:ln>
        </p:spPr>
      </p:sp>
      <p:sp>
        <p:nvSpPr>
          <p:cNvPr id="31763" name="Line 64"/>
          <p:cNvSpPr/>
          <p:nvPr/>
        </p:nvSpPr>
        <p:spPr>
          <a:xfrm>
            <a:off x="12150725" y="1463040"/>
            <a:ext cx="635" cy="3496945"/>
          </a:xfrm>
          <a:prstGeom prst="line">
            <a:avLst/>
          </a:prstGeom>
          <a:ln w="19050" cap="flat" cmpd="sng">
            <a:solidFill>
              <a:srgbClr val="FF0000"/>
            </a:solidFill>
            <a:prstDash val="solid"/>
            <a:round/>
            <a:headEnd type="none" w="med" len="med"/>
            <a:tailEnd type="none" w="med" len="med"/>
          </a:ln>
        </p:spPr>
      </p:sp>
      <p:sp>
        <p:nvSpPr>
          <p:cNvPr id="31764" name="Line 65"/>
          <p:cNvSpPr/>
          <p:nvPr/>
        </p:nvSpPr>
        <p:spPr>
          <a:xfrm flipV="1">
            <a:off x="8114665" y="3270250"/>
            <a:ext cx="0" cy="581025"/>
          </a:xfrm>
          <a:prstGeom prst="line">
            <a:avLst/>
          </a:prstGeom>
          <a:ln w="19050" cap="flat" cmpd="sng">
            <a:solidFill>
              <a:schemeClr val="tx1"/>
            </a:solidFill>
            <a:prstDash val="solid"/>
            <a:round/>
            <a:headEnd type="none" w="med" len="med"/>
            <a:tailEnd type="triangle" w="med" len="med"/>
          </a:ln>
        </p:spPr>
      </p:sp>
      <p:sp>
        <p:nvSpPr>
          <p:cNvPr id="31765" name="Text Box 66"/>
          <p:cNvSpPr txBox="1"/>
          <p:nvPr/>
        </p:nvSpPr>
        <p:spPr>
          <a:xfrm>
            <a:off x="6283960" y="2246630"/>
            <a:ext cx="1039495" cy="18415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加法保留站</a:t>
            </a:r>
            <a:endParaRPr lang="zh-CN" altLang="en-US" sz="1200" b="1" dirty="0">
              <a:latin typeface="Times New Roman" pitchFamily="18" charset="0"/>
              <a:ea typeface="宋体" panose="02000500000000000000" pitchFamily="2" charset="-122"/>
            </a:endParaRPr>
          </a:p>
        </p:txBody>
      </p:sp>
      <p:sp>
        <p:nvSpPr>
          <p:cNvPr id="31766" name="Text Box 67"/>
          <p:cNvSpPr txBox="1"/>
          <p:nvPr/>
        </p:nvSpPr>
        <p:spPr>
          <a:xfrm>
            <a:off x="6925310" y="3675380"/>
            <a:ext cx="1090295" cy="184150"/>
          </a:xfrm>
          <a:prstGeom prst="rect">
            <a:avLst/>
          </a:prstGeom>
          <a:noFill/>
          <a:ln w="9525">
            <a:noFill/>
          </a:ln>
          <a:extLst>
            <a:ext uri="{909E8E84-426E-40DD-AFC4-6F175D3DCCD1}">
              <a14:hiddenFill xmlns:a14="http://schemas.microsoft.com/office/drawing/2010/main">
                <a:solidFill>
                  <a:schemeClr val="bg1"/>
                </a:solidFill>
              </a14:hiddenFill>
            </a:ext>
          </a:extLst>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浮点寄存器</a:t>
            </a:r>
            <a:endParaRPr lang="zh-CN" altLang="en-US" sz="1200" b="1" dirty="0">
              <a:latin typeface="Times New Roman" pitchFamily="18" charset="0"/>
              <a:ea typeface="宋体" panose="02000500000000000000" pitchFamily="2" charset="-122"/>
            </a:endParaRPr>
          </a:p>
        </p:txBody>
      </p:sp>
      <p:sp>
        <p:nvSpPr>
          <p:cNvPr id="31767" name="Text Box 68"/>
          <p:cNvSpPr txBox="1"/>
          <p:nvPr/>
        </p:nvSpPr>
        <p:spPr>
          <a:xfrm>
            <a:off x="9289415" y="2235200"/>
            <a:ext cx="1039495" cy="18415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乘法保留站</a:t>
            </a:r>
            <a:endParaRPr lang="zh-CN" altLang="en-US" sz="1200" b="1" dirty="0">
              <a:latin typeface="Times New Roman" pitchFamily="18" charset="0"/>
              <a:ea typeface="宋体" panose="02000500000000000000" pitchFamily="2" charset="-122"/>
            </a:endParaRPr>
          </a:p>
        </p:txBody>
      </p:sp>
      <p:sp>
        <p:nvSpPr>
          <p:cNvPr id="31768" name="Line 69"/>
          <p:cNvSpPr/>
          <p:nvPr/>
        </p:nvSpPr>
        <p:spPr>
          <a:xfrm>
            <a:off x="10807065" y="4959985"/>
            <a:ext cx="1358265" cy="635"/>
          </a:xfrm>
          <a:prstGeom prst="line">
            <a:avLst/>
          </a:prstGeom>
          <a:ln w="19050" cap="flat" cmpd="sng">
            <a:solidFill>
              <a:srgbClr val="FF0000"/>
            </a:solidFill>
            <a:prstDash val="solid"/>
            <a:round/>
            <a:headEnd type="none" w="med" len="med"/>
            <a:tailEnd type="none" w="med" len="med"/>
          </a:ln>
        </p:spPr>
      </p:sp>
      <p:sp>
        <p:nvSpPr>
          <p:cNvPr id="31769" name="Line 70"/>
          <p:cNvSpPr/>
          <p:nvPr/>
        </p:nvSpPr>
        <p:spPr>
          <a:xfrm flipV="1">
            <a:off x="10812145" y="4701540"/>
            <a:ext cx="1905" cy="260350"/>
          </a:xfrm>
          <a:prstGeom prst="line">
            <a:avLst/>
          </a:prstGeom>
          <a:ln w="19050" cap="flat" cmpd="sng">
            <a:solidFill>
              <a:srgbClr val="FF0000"/>
            </a:solidFill>
            <a:prstDash val="solid"/>
            <a:round/>
            <a:headEnd type="none" w="med" len="med"/>
            <a:tailEnd type="triangle" w="med" len="med"/>
          </a:ln>
        </p:spPr>
      </p:sp>
      <p:grpSp>
        <p:nvGrpSpPr>
          <p:cNvPr id="31772" name="Group 73"/>
          <p:cNvGrpSpPr/>
          <p:nvPr/>
        </p:nvGrpSpPr>
        <p:grpSpPr>
          <a:xfrm rot="0">
            <a:off x="4488815" y="1461135"/>
            <a:ext cx="7679055" cy="1970389"/>
            <a:chOff x="1701" y="512"/>
            <a:chExt cx="3628" cy="1241"/>
          </a:xfrm>
        </p:grpSpPr>
        <p:sp>
          <p:nvSpPr>
            <p:cNvPr id="31773" name="Line 74"/>
            <p:cNvSpPr/>
            <p:nvPr/>
          </p:nvSpPr>
          <p:spPr>
            <a:xfrm flipV="1">
              <a:off x="2154" y="1661"/>
              <a:ext cx="2518" cy="0"/>
            </a:xfrm>
            <a:prstGeom prst="line">
              <a:avLst/>
            </a:prstGeom>
            <a:ln w="19050" cap="flat" cmpd="sng">
              <a:solidFill>
                <a:schemeClr val="tx1"/>
              </a:solidFill>
              <a:prstDash val="solid"/>
              <a:round/>
              <a:headEnd type="none" w="med" len="med"/>
              <a:tailEnd type="none" w="med" len="med"/>
            </a:ln>
          </p:spPr>
        </p:sp>
        <p:sp>
          <p:nvSpPr>
            <p:cNvPr id="31774" name="Line 75"/>
            <p:cNvSpPr/>
            <p:nvPr/>
          </p:nvSpPr>
          <p:spPr>
            <a:xfrm flipV="1">
              <a:off x="2010" y="1753"/>
              <a:ext cx="3319" cy="0"/>
            </a:xfrm>
            <a:prstGeom prst="line">
              <a:avLst/>
            </a:prstGeom>
            <a:ln w="19050" cap="flat" cmpd="sng">
              <a:solidFill>
                <a:srgbClr val="FF0000"/>
              </a:solidFill>
              <a:prstDash val="solid"/>
              <a:round/>
              <a:headEnd type="none" w="med" len="med"/>
              <a:tailEnd type="none" w="med" len="med"/>
            </a:ln>
          </p:spPr>
        </p:sp>
        <p:grpSp>
          <p:nvGrpSpPr>
            <p:cNvPr id="31775" name="Group 76"/>
            <p:cNvGrpSpPr/>
            <p:nvPr/>
          </p:nvGrpSpPr>
          <p:grpSpPr>
            <a:xfrm>
              <a:off x="1701" y="512"/>
              <a:ext cx="3494" cy="1239"/>
              <a:chOff x="1701" y="512"/>
              <a:chExt cx="3494" cy="1239"/>
            </a:xfrm>
          </p:grpSpPr>
          <p:grpSp>
            <p:nvGrpSpPr>
              <p:cNvPr id="31776" name="Group 77"/>
              <p:cNvGrpSpPr/>
              <p:nvPr/>
            </p:nvGrpSpPr>
            <p:grpSpPr>
              <a:xfrm>
                <a:off x="2019" y="512"/>
                <a:ext cx="135" cy="1239"/>
                <a:chOff x="2019" y="512"/>
                <a:chExt cx="135" cy="1239"/>
              </a:xfrm>
            </p:grpSpPr>
            <p:sp>
              <p:nvSpPr>
                <p:cNvPr id="31777" name="Line 78"/>
                <p:cNvSpPr/>
                <p:nvPr/>
              </p:nvSpPr>
              <p:spPr>
                <a:xfrm flipV="1">
                  <a:off x="2022" y="512"/>
                  <a:ext cx="0" cy="233"/>
                </a:xfrm>
                <a:prstGeom prst="line">
                  <a:avLst/>
                </a:prstGeom>
                <a:ln w="19050" cap="flat" cmpd="sng">
                  <a:solidFill>
                    <a:schemeClr val="tx1"/>
                  </a:solidFill>
                  <a:prstDash val="solid"/>
                  <a:round/>
                  <a:headEnd type="none" w="med" len="med"/>
                  <a:tailEnd type="triangle" w="med" len="med"/>
                </a:ln>
              </p:spPr>
            </p:sp>
            <p:sp>
              <p:nvSpPr>
                <p:cNvPr id="31778" name="Line 79"/>
                <p:cNvSpPr/>
                <p:nvPr/>
              </p:nvSpPr>
              <p:spPr>
                <a:xfrm flipH="1" flipV="1">
                  <a:off x="2019" y="1502"/>
                  <a:ext cx="3" cy="249"/>
                </a:xfrm>
                <a:prstGeom prst="line">
                  <a:avLst/>
                </a:prstGeom>
                <a:ln w="19050" cap="flat" cmpd="sng">
                  <a:solidFill>
                    <a:srgbClr val="FF0000"/>
                  </a:solidFill>
                  <a:prstDash val="solid"/>
                  <a:round/>
                  <a:headEnd type="none" w="med" len="med"/>
                  <a:tailEnd type="triangle" w="med" len="med"/>
                </a:ln>
              </p:spPr>
            </p:sp>
            <p:sp>
              <p:nvSpPr>
                <p:cNvPr id="31779" name="Line 80"/>
                <p:cNvSpPr/>
                <p:nvPr/>
              </p:nvSpPr>
              <p:spPr>
                <a:xfrm flipV="1">
                  <a:off x="2154" y="1508"/>
                  <a:ext cx="0" cy="156"/>
                </a:xfrm>
                <a:prstGeom prst="line">
                  <a:avLst/>
                </a:prstGeom>
                <a:ln w="19050" cap="flat" cmpd="sng">
                  <a:solidFill>
                    <a:schemeClr val="tx1"/>
                  </a:solidFill>
                  <a:prstDash val="solid"/>
                  <a:round/>
                  <a:headEnd type="none" w="med" len="med"/>
                  <a:tailEnd type="triangle" w="med" len="med"/>
                </a:ln>
              </p:spPr>
            </p:sp>
          </p:grpSp>
          <p:sp>
            <p:nvSpPr>
              <p:cNvPr id="31780" name="Text Box 81"/>
              <p:cNvSpPr txBox="1"/>
              <p:nvPr/>
            </p:nvSpPr>
            <p:spPr>
              <a:xfrm>
                <a:off x="2777" y="750"/>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浮点加</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减法器</a:t>
                </a:r>
                <a:endParaRPr lang="zh-CN" altLang="en-US" sz="1200" b="1" dirty="0">
                  <a:latin typeface="Times New Roman" pitchFamily="18" charset="0"/>
                  <a:ea typeface="宋体" panose="02000500000000000000" pitchFamily="2" charset="-122"/>
                </a:endParaRPr>
              </a:p>
            </p:txBody>
          </p:sp>
          <p:sp>
            <p:nvSpPr>
              <p:cNvPr id="31781" name="Text Box 82"/>
              <p:cNvSpPr txBox="1"/>
              <p:nvPr/>
            </p:nvSpPr>
            <p:spPr>
              <a:xfrm>
                <a:off x="4181" y="737"/>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浮点乘</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除法器</a:t>
                </a:r>
                <a:endParaRPr lang="zh-CN" altLang="en-US" sz="1200" b="1" dirty="0">
                  <a:latin typeface="Times New Roman" pitchFamily="18" charset="0"/>
                  <a:ea typeface="宋体" panose="02000500000000000000" pitchFamily="2" charset="-122"/>
                </a:endParaRPr>
              </a:p>
            </p:txBody>
          </p:sp>
          <p:sp>
            <p:nvSpPr>
              <p:cNvPr id="31782" name="Text Box 83"/>
              <p:cNvSpPr txBox="1"/>
              <p:nvPr/>
            </p:nvSpPr>
            <p:spPr>
              <a:xfrm>
                <a:off x="1701" y="731"/>
                <a:ext cx="664" cy="771"/>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p>
                <a:pPr algn="ctr">
                  <a:spcBef>
                    <a:spcPct val="50000"/>
                  </a:spcBef>
                </a:pPr>
                <a:endParaRPr lang="en-US" altLang="zh-CN" sz="1200"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定点</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访存</a:t>
                </a:r>
                <a:endParaRPr lang="zh-CN" altLang="en-US" sz="1200" b="1"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部件</a:t>
                </a:r>
                <a:endParaRPr lang="zh-CN" altLang="en-US" sz="1200" b="1" dirty="0">
                  <a:latin typeface="Times New Roman" pitchFamily="18" charset="0"/>
                  <a:ea typeface="宋体" panose="02000500000000000000" pitchFamily="2" charset="-122"/>
                </a:endParaRPr>
              </a:p>
              <a:p>
                <a:pPr algn="ctr">
                  <a:spcBef>
                    <a:spcPct val="50000"/>
                  </a:spcBef>
                </a:pPr>
                <a:endParaRPr lang="en-US" altLang="zh-CN" sz="1200" b="1" dirty="0">
                  <a:latin typeface="Times New Roman" pitchFamily="18" charset="0"/>
                  <a:ea typeface="宋体" panose="02000500000000000000" pitchFamily="2" charset="-122"/>
                </a:endParaRPr>
              </a:p>
            </p:txBody>
          </p:sp>
        </p:grpSp>
      </p:grpSp>
      <p:sp>
        <p:nvSpPr>
          <p:cNvPr id="31783" name="Text Box 84"/>
          <p:cNvSpPr txBox="1"/>
          <p:nvPr/>
        </p:nvSpPr>
        <p:spPr>
          <a:xfrm>
            <a:off x="6979920" y="5045075"/>
            <a:ext cx="1030605" cy="184150"/>
          </a:xfrm>
          <a:prstGeom prst="rect">
            <a:avLst/>
          </a:prstGeom>
          <a:solidFill>
            <a:schemeClr val="bg1"/>
          </a:solid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指令队列</a:t>
            </a:r>
            <a:endParaRPr lang="zh-CN" altLang="en-US" sz="1200" b="1" dirty="0">
              <a:latin typeface="Times New Roman" pitchFamily="18" charset="0"/>
              <a:ea typeface="宋体" panose="02000500000000000000" pitchFamily="2" charset="-122"/>
            </a:endParaRPr>
          </a:p>
        </p:txBody>
      </p:sp>
      <p:graphicFrame>
        <p:nvGraphicFramePr>
          <p:cNvPr id="3" name="表格 2"/>
          <p:cNvGraphicFramePr/>
          <p:nvPr/>
        </p:nvGraphicFramePr>
        <p:xfrm>
          <a:off x="6799580" y="3837940"/>
          <a:ext cx="2342515" cy="863600"/>
        </p:xfrm>
        <a:graphic>
          <a:graphicData uri="http://schemas.openxmlformats.org/drawingml/2006/table">
            <a:tbl>
              <a:tblPr firstRow="1" bandRow="1">
                <a:tableStyleId>{5C22544A-7EE6-4342-B048-85BDC9FD1C3A}</a:tableStyleId>
              </a:tblPr>
              <a:tblGrid>
                <a:gridCol w="365125"/>
                <a:gridCol w="450850"/>
                <a:gridCol w="1526540"/>
              </a:tblGrid>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3.0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4" name="表格 3"/>
          <p:cNvGraphicFramePr/>
          <p:nvPr/>
        </p:nvGraphicFramePr>
        <p:xfrm>
          <a:off x="7167880" y="5311775"/>
          <a:ext cx="1930400" cy="1280160"/>
        </p:xfrm>
        <a:graphic>
          <a:graphicData uri="http://schemas.openxmlformats.org/drawingml/2006/table">
            <a:tbl>
              <a:tblPr firstRow="1" bandRow="1">
                <a:tableStyleId>{5C22544A-7EE6-4342-B048-85BDC9FD1C3A}</a:tableStyleId>
              </a:tblPr>
              <a:tblGrid>
                <a:gridCol w="1930400"/>
              </a:tblGrid>
              <a:tr h="213360">
                <a:tc>
                  <a:txBody>
                    <a:bodyPr/>
                    <a:p>
                      <a:pPr indent="0">
                        <a:buNone/>
                      </a:pPr>
                      <a:r>
                        <a:rPr lang="en-US" sz="1200" b="1">
                          <a:solidFill>
                            <a:schemeClr val="tx1"/>
                          </a:solidFill>
                          <a:latin typeface="宋体" panose="02000500000000000000" pitchFamily="2" charset="-122"/>
                          <a:ea typeface="宋体" panose="02000500000000000000" pitchFamily="2" charset="-122"/>
                        </a:rPr>
                        <a:t>FDIV.D  </a:t>
                      </a:r>
                      <a:r>
                        <a:rPr lang="en-US" sz="1200" b="1">
                          <a:solidFill>
                            <a:srgbClr val="FF0000"/>
                          </a:solidFill>
                          <a:latin typeface="宋体" panose="02000500000000000000" pitchFamily="2" charset="-122"/>
                          <a:ea typeface="宋体" panose="02000500000000000000" pitchFamily="2" charset="-122"/>
                        </a:rPr>
                        <a:t>F0</a:t>
                      </a:r>
                      <a:r>
                        <a:rPr lang="en-US" sz="1200" b="1">
                          <a:solidFill>
                            <a:schemeClr val="tx1"/>
                          </a:solidFill>
                          <a:latin typeface="宋体" panose="02000500000000000000" pitchFamily="2" charset="-122"/>
                          <a:ea typeface="宋体" panose="02000500000000000000" pitchFamily="2" charset="-122"/>
                        </a:rPr>
                        <a:t>, F1, F2</a:t>
                      </a:r>
                      <a:endParaRPr lang="en-US" altLang="en-US" sz="1200" b="1">
                        <a:solidFill>
                          <a:schemeClr val="tx1"/>
                        </a:solidFill>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FADD.D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F1,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5" name="表格 4"/>
          <p:cNvGraphicFramePr/>
          <p:nvPr/>
        </p:nvGraphicFramePr>
        <p:xfrm>
          <a:off x="9537065" y="2435860"/>
          <a:ext cx="2374900" cy="592455"/>
        </p:xfrm>
        <a:graphic>
          <a:graphicData uri="http://schemas.openxmlformats.org/drawingml/2006/table">
            <a:tbl>
              <a:tblPr firstRow="1" bandRow="1">
                <a:tableStyleId>{5C22544A-7EE6-4342-B048-85BDC9FD1C3A}</a:tableStyleId>
              </a:tblPr>
              <a:tblGrid>
                <a:gridCol w="208280"/>
                <a:gridCol w="422910"/>
                <a:gridCol w="340995"/>
                <a:gridCol w="484505"/>
                <a:gridCol w="341630"/>
                <a:gridCol w="576580"/>
              </a:tblGrid>
              <a:tr h="197485">
                <a:tc>
                  <a:txBody>
                    <a:bodyPr/>
                    <a:p>
                      <a:pPr algn="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OP</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Qj</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Vj</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Qk</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Vk</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7" name="表格 6"/>
          <p:cNvGraphicFramePr/>
          <p:nvPr/>
        </p:nvGraphicFramePr>
        <p:xfrm>
          <a:off x="6577330" y="245618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OP</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Qj</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Vj</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Qk</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Vk</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9" name="表格 8"/>
          <p:cNvGraphicFramePr/>
          <p:nvPr/>
        </p:nvGraphicFramePr>
        <p:xfrm>
          <a:off x="9486900" y="3822700"/>
          <a:ext cx="2342515" cy="863600"/>
        </p:xfrm>
        <a:graphic>
          <a:graphicData uri="http://schemas.openxmlformats.org/drawingml/2006/table">
            <a:tbl>
              <a:tblPr firstRow="1" bandRow="1">
                <a:tableStyleId>{5C22544A-7EE6-4342-B048-85BDC9FD1C3A}</a:tableStyleId>
              </a:tblPr>
              <a:tblGrid>
                <a:gridCol w="221065"/>
                <a:gridCol w="382270"/>
                <a:gridCol w="387901"/>
                <a:gridCol w="1351279"/>
              </a:tblGrid>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4</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sp>
        <p:nvSpPr>
          <p:cNvPr id="47115" name="Line 15"/>
          <p:cNvSpPr/>
          <p:nvPr/>
        </p:nvSpPr>
        <p:spPr>
          <a:xfrm flipH="1" flipV="1">
            <a:off x="11068050" y="3610610"/>
            <a:ext cx="9525" cy="215900"/>
          </a:xfrm>
          <a:prstGeom prst="line">
            <a:avLst/>
          </a:prstGeom>
          <a:ln w="19050" cap="flat" cmpd="sng">
            <a:solidFill>
              <a:schemeClr val="accent2"/>
            </a:solidFill>
            <a:prstDash val="solid"/>
            <a:round/>
            <a:headEnd type="none" w="med" len="med"/>
            <a:tailEnd type="none" w="med" len="med"/>
          </a:ln>
        </p:spPr>
      </p:sp>
      <p:sp>
        <p:nvSpPr>
          <p:cNvPr id="47131" name="Line 36"/>
          <p:cNvSpPr/>
          <p:nvPr/>
        </p:nvSpPr>
        <p:spPr>
          <a:xfrm flipV="1">
            <a:off x="4904105" y="4940935"/>
            <a:ext cx="2991485" cy="13970"/>
          </a:xfrm>
          <a:prstGeom prst="line">
            <a:avLst/>
          </a:prstGeom>
          <a:ln w="19050" cap="flat" cmpd="sng">
            <a:solidFill>
              <a:schemeClr val="accent2"/>
            </a:solidFill>
            <a:prstDash val="solid"/>
            <a:round/>
            <a:headEnd type="none" w="med" len="med"/>
            <a:tailEnd type="none" w="med" len="med"/>
          </a:ln>
        </p:spPr>
      </p:sp>
      <p:sp>
        <p:nvSpPr>
          <p:cNvPr id="47133" name="Text Box 43"/>
          <p:cNvSpPr txBox="1"/>
          <p:nvPr/>
        </p:nvSpPr>
        <p:spPr>
          <a:xfrm>
            <a:off x="5375910" y="4712335"/>
            <a:ext cx="1089025" cy="184150"/>
          </a:xfrm>
          <a:prstGeom prst="rect">
            <a:avLst/>
          </a:prstGeom>
          <a:noFill/>
          <a:ln w="9525">
            <a:noFill/>
          </a:ln>
          <a:extLst>
            <a:ext uri="{909E8E84-426E-40DD-AFC4-6F175D3DCCD1}">
              <a14:hiddenFill xmlns:a14="http://schemas.microsoft.com/office/drawing/2010/main">
                <a:solidFill>
                  <a:schemeClr val="bg1"/>
                </a:solidFill>
              </a14:hiddenFill>
            </a:ext>
          </a:extLst>
        </p:spPr>
        <p:txBody>
          <a:bodyPr lIns="0" tIns="0" rIns="0" bIns="0" anchor="t" anchorCtr="0">
            <a:spAutoFit/>
          </a:bodyPr>
          <a:p>
            <a:pPr>
              <a:spcBef>
                <a:spcPct val="50000"/>
              </a:spcBef>
            </a:pPr>
            <a:r>
              <a:rPr lang="zh-CN" altLang="en-US" sz="1200" b="1" dirty="0">
                <a:solidFill>
                  <a:schemeClr val="accent2"/>
                </a:solidFill>
                <a:latin typeface="Times New Roman" pitchFamily="18" charset="0"/>
                <a:ea typeface="宋体" panose="02000500000000000000" pitchFamily="2" charset="-122"/>
              </a:rPr>
              <a:t>修改寄存器</a:t>
            </a:r>
            <a:endParaRPr lang="zh-CN" altLang="en-US" sz="1200" b="1" dirty="0">
              <a:solidFill>
                <a:schemeClr val="accent2"/>
              </a:solidFill>
              <a:latin typeface="Times New Roman" pitchFamily="18" charset="0"/>
              <a:ea typeface="宋体" panose="02000500000000000000" pitchFamily="2" charset="-122"/>
            </a:endParaRPr>
          </a:p>
        </p:txBody>
      </p:sp>
      <p:sp>
        <p:nvSpPr>
          <p:cNvPr id="47143" name="Line 37"/>
          <p:cNvSpPr/>
          <p:nvPr/>
        </p:nvSpPr>
        <p:spPr>
          <a:xfrm flipH="1" flipV="1">
            <a:off x="7879715" y="4688205"/>
            <a:ext cx="8255" cy="252095"/>
          </a:xfrm>
          <a:prstGeom prst="line">
            <a:avLst/>
          </a:prstGeom>
          <a:ln w="19050" cap="flat" cmpd="sng">
            <a:solidFill>
              <a:schemeClr val="accent2"/>
            </a:solidFill>
            <a:prstDash val="solid"/>
            <a:round/>
            <a:headEnd type="none" w="med" len="med"/>
            <a:tailEnd type="triangle" w="med" len="med"/>
          </a:ln>
        </p:spPr>
      </p:sp>
      <p:sp>
        <p:nvSpPr>
          <p:cNvPr id="47144" name="Line 38"/>
          <p:cNvSpPr/>
          <p:nvPr/>
        </p:nvSpPr>
        <p:spPr>
          <a:xfrm>
            <a:off x="4868545" y="3616325"/>
            <a:ext cx="6222365" cy="13970"/>
          </a:xfrm>
          <a:prstGeom prst="line">
            <a:avLst/>
          </a:prstGeom>
          <a:ln w="19050" cap="flat" cmpd="sng">
            <a:solidFill>
              <a:schemeClr val="accent2"/>
            </a:solidFill>
            <a:prstDash val="solid"/>
            <a:round/>
            <a:headEnd type="none" w="med" len="med"/>
            <a:tailEnd type="none" w="med" len="med"/>
          </a:ln>
        </p:spPr>
      </p:sp>
      <p:sp>
        <p:nvSpPr>
          <p:cNvPr id="47146" name="Line 41"/>
          <p:cNvSpPr/>
          <p:nvPr/>
        </p:nvSpPr>
        <p:spPr>
          <a:xfrm flipH="1" flipV="1">
            <a:off x="4877435" y="3028315"/>
            <a:ext cx="14605" cy="1934210"/>
          </a:xfrm>
          <a:prstGeom prst="line">
            <a:avLst/>
          </a:prstGeom>
          <a:ln w="19050" cap="flat" cmpd="sng">
            <a:solidFill>
              <a:schemeClr val="accent2"/>
            </a:solidFill>
            <a:prstDash val="solid"/>
            <a:round/>
            <a:headEnd type="none" w="med" len="med"/>
            <a:tailEnd type="triangle" w="med" len="med"/>
          </a:ln>
        </p:spPr>
      </p:sp>
      <p:sp>
        <p:nvSpPr>
          <p:cNvPr id="46082" name="Rectangle 3"/>
          <p:cNvSpPr/>
          <p:nvPr/>
        </p:nvSpPr>
        <p:spPr>
          <a:xfrm>
            <a:off x="912813" y="420688"/>
            <a:ext cx="10361612" cy="523875"/>
          </a:xfrm>
          <a:prstGeom prst="rect">
            <a:avLst/>
          </a:prstGeom>
          <a:noFill/>
          <a:ln w="9525">
            <a:noFill/>
          </a:ln>
        </p:spPr>
        <p:txBody>
          <a:bodyPr anchor="ctr" anchorCtr="0"/>
          <a:p>
            <a:pPr algn="ctr"/>
            <a:r>
              <a:rPr lang="zh-CN" altLang="en-US" sz="3200" dirty="0">
                <a:solidFill>
                  <a:srgbClr val="FF0000"/>
                </a:solidFill>
                <a:latin typeface="Arial" panose="02080604020202020204" pitchFamily="34" charset="0"/>
                <a:ea typeface="黑体" panose="02000500000000000000" pitchFamily="49" charset="-122"/>
              </a:rPr>
              <a:t>增加</a:t>
            </a:r>
            <a:r>
              <a:rPr lang="en-US" altLang="zh-CN" sz="3200" dirty="0">
                <a:solidFill>
                  <a:srgbClr val="FF0000"/>
                </a:solidFill>
                <a:latin typeface="Arial" panose="02080604020202020204" pitchFamily="34" charset="0"/>
                <a:ea typeface="黑体" panose="02000500000000000000" pitchFamily="49" charset="-122"/>
              </a:rPr>
              <a:t>ROB</a:t>
            </a:r>
            <a:r>
              <a:rPr lang="zh-CN" altLang="en-US" sz="3200" dirty="0">
                <a:solidFill>
                  <a:srgbClr val="FF0000"/>
                </a:solidFill>
                <a:latin typeface="Arial" panose="02080604020202020204" pitchFamily="34" charset="0"/>
                <a:ea typeface="黑体" panose="02000500000000000000" pitchFamily="49" charset="-122"/>
              </a:rPr>
              <a:t>的流水线</a:t>
            </a:r>
            <a:endParaRPr lang="zh-CN" altLang="en-US" sz="3200" dirty="0">
              <a:solidFill>
                <a:srgbClr val="FF0000"/>
              </a:solidFill>
              <a:latin typeface="Arial" panose="02080604020202020204" pitchFamily="34" charset="0"/>
              <a:ea typeface="黑体" panose="02000500000000000000" pitchFamily="49"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1299" name="Rectangle 3"/>
          <p:cNvSpPr>
            <a:spLocks noChangeArrowheads="1"/>
          </p:cNvSpPr>
          <p:nvPr/>
        </p:nvSpPr>
        <p:spPr bwMode="auto">
          <a:xfrm>
            <a:off x="311150" y="1225550"/>
            <a:ext cx="11639550" cy="5083175"/>
          </a:xfrm>
          <a:prstGeom prst="rect">
            <a:avLst/>
          </a:prstGeom>
          <a:noFill/>
          <a:ln w="12700">
            <a:noFill/>
            <a:miter lim="800000"/>
          </a:ln>
        </p:spPr>
        <p:txBody>
          <a:bodyPr lIns="90487" tIns="44450" rIns="90487" bIns="44450"/>
          <a:lstStyle/>
          <a:p>
            <a:pPr marL="342900" marR="0" lvl="0" indent="-342900" algn="l" defTabSz="914400" rtl="0" eaLnBrk="1" fontAlgn="base" latinLnBrk="0" hangingPunct="1">
              <a:lnSpc>
                <a:spcPct val="150000"/>
              </a:lnSpc>
              <a:spcBef>
                <a:spcPts val="600"/>
              </a:spcBef>
              <a:spcAft>
                <a:spcPct val="0"/>
              </a:spcAft>
              <a:buClrTx/>
              <a:buSzTx/>
              <a:buFontTx/>
              <a:buChar char="•"/>
              <a:defRPr/>
            </a:pPr>
            <a:r>
              <a:rPr kumimoji="1" lang="zh-CN" altLang="en-US" sz="1800" b="1" strike="noStrike" noProof="0" dirty="0">
                <a:ln>
                  <a:noFill/>
                </a:ln>
                <a:solidFill>
                  <a:srgbClr val="FF0000"/>
                </a:solidFill>
                <a:effectLst/>
                <a:uLnTx/>
                <a:uFillTx/>
                <a:latin typeface="+mn-ea"/>
                <a:ea typeface="+mn-ea"/>
                <a:cs typeface="+mn-cs"/>
                <a:sym typeface="+mn-ea"/>
              </a:rPr>
              <a:t>取指：</a:t>
            </a:r>
            <a:r>
              <a:rPr kumimoji="1" lang="en-US" altLang="zh-CN" sz="1800" b="1" strike="noStrike" noProof="0" dirty="0">
                <a:ln>
                  <a:noFill/>
                </a:ln>
                <a:effectLst/>
                <a:uLnTx/>
                <a:uFillTx/>
                <a:latin typeface="+mn-ea"/>
                <a:ea typeface="+mn-ea"/>
                <a:cs typeface="+mn-cs"/>
                <a:sym typeface="+mn-ea"/>
              </a:rPr>
              <a:t>……</a:t>
            </a:r>
            <a:endParaRPr kumimoji="1" lang="en-US" altLang="zh-CN" sz="1800" b="1" i="0" u="none" strike="noStrike" kern="1200" cap="none" spc="0" normalizeH="0" baseline="0" noProof="0" dirty="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50000"/>
              </a:lnSpc>
              <a:spcBef>
                <a:spcPts val="600"/>
              </a:spcBef>
              <a:spcAft>
                <a:spcPct val="0"/>
              </a:spcAft>
              <a:buClrTx/>
              <a:buSzTx/>
              <a:buFontTx/>
              <a:buChar char="•"/>
              <a:defRPr/>
            </a:pPr>
            <a:r>
              <a:rPr kumimoji="1" lang="zh-CN" altLang="en-US" sz="1800" b="1" strike="noStrike" noProof="0" dirty="0">
                <a:ln>
                  <a:noFill/>
                </a:ln>
                <a:solidFill>
                  <a:srgbClr val="FF0000"/>
                </a:solidFill>
                <a:effectLst/>
                <a:uLnTx/>
                <a:uFillTx/>
                <a:latin typeface="+mn-ea"/>
                <a:ea typeface="+mn-ea"/>
                <a:cs typeface="+mn-cs"/>
                <a:sym typeface="+mn-ea"/>
              </a:rPr>
              <a:t>译码：</a:t>
            </a:r>
            <a:r>
              <a:rPr kumimoji="1" lang="en-US" altLang="zh-CN" sz="1800" b="1" strike="noStrike" noProof="0" dirty="0">
                <a:ln>
                  <a:noFill/>
                </a:ln>
                <a:effectLst/>
                <a:uLnTx/>
                <a:uFillTx/>
                <a:latin typeface="+mn-ea"/>
                <a:ea typeface="+mn-ea"/>
                <a:cs typeface="+mn-cs"/>
                <a:sym typeface="+mn-ea"/>
              </a:rPr>
              <a:t>……</a:t>
            </a:r>
            <a:endParaRPr kumimoji="1" lang="en-US" altLang="zh-CN" sz="1800" b="1" i="0" u="none" strike="noStrike" kern="1200" cap="none" spc="0" normalizeH="0" baseline="0" noProof="0" dirty="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50000"/>
              </a:lnSpc>
              <a:spcBef>
                <a:spcPts val="600"/>
              </a:spcBef>
              <a:spcAft>
                <a:spcPct val="0"/>
              </a:spcAft>
              <a:buClrTx/>
              <a:buSzTx/>
              <a:buFontTx/>
              <a:buChar char="•"/>
              <a:defRPr/>
            </a:pPr>
            <a:r>
              <a:rPr kumimoji="1" lang="zh-CN" altLang="en-US" sz="1800" b="1" i="0" u="none" strike="noStrike" kern="1200" cap="none" spc="0" normalizeH="0" baseline="0" noProof="0" dirty="0">
                <a:ln>
                  <a:noFill/>
                </a:ln>
                <a:solidFill>
                  <a:srgbClr val="FF0000"/>
                </a:solidFill>
                <a:effectLst/>
                <a:uLnTx/>
                <a:uFillTx/>
                <a:latin typeface="+mn-ea"/>
                <a:ea typeface="+mn-ea"/>
                <a:cs typeface="+mn-cs"/>
              </a:rPr>
              <a:t>发射：</a:t>
            </a:r>
            <a:r>
              <a:rPr kumimoji="1" lang="zh-CN" altLang="en-US" sz="1800" b="1" i="0" u="none" strike="noStrike" kern="1200" cap="none" spc="0" normalizeH="0" baseline="0" noProof="0" dirty="0">
                <a:ln>
                  <a:noFill/>
                </a:ln>
                <a:solidFill>
                  <a:schemeClr val="tx1"/>
                </a:solidFill>
                <a:effectLst/>
                <a:uLnTx/>
                <a:uFillTx/>
                <a:latin typeface="+mn-ea"/>
                <a:ea typeface="+mn-ea"/>
                <a:cs typeface="+mn-cs"/>
              </a:rPr>
              <a:t>把操作队列的指令根据操作类型送到保留站（如果保留站</a:t>
            </a:r>
            <a:r>
              <a:rPr kumimoji="1" lang="zh-CN" altLang="en-US" sz="1800" b="1" i="0" u="none" strike="noStrike" kern="1200" cap="none" spc="0" normalizeH="0" baseline="0" noProof="0" dirty="0">
                <a:ln>
                  <a:noFill/>
                </a:ln>
                <a:solidFill>
                  <a:schemeClr val="accent2"/>
                </a:solidFill>
                <a:effectLst/>
                <a:uLnTx/>
                <a:uFillTx/>
                <a:latin typeface="+mn-ea"/>
                <a:ea typeface="+mn-ea"/>
                <a:cs typeface="+mn-cs"/>
              </a:rPr>
              <a:t>以及</a:t>
            </a:r>
            <a:r>
              <a:rPr kumimoji="1" lang="en-US" altLang="zh-CN" sz="1800" b="1" i="0" u="none" strike="noStrike" kern="1200" cap="none" spc="0" normalizeH="0" baseline="0" noProof="0" dirty="0">
                <a:ln>
                  <a:noFill/>
                </a:ln>
                <a:solidFill>
                  <a:schemeClr val="accent2"/>
                </a:solidFill>
                <a:effectLst/>
                <a:uLnTx/>
                <a:uFillTx/>
                <a:latin typeface="+mn-ea"/>
                <a:ea typeface="+mn-ea"/>
                <a:cs typeface="+mn-cs"/>
              </a:rPr>
              <a:t>ROB</a:t>
            </a:r>
            <a:r>
              <a:rPr kumimoji="1" lang="zh-CN" altLang="en-US" sz="1800" b="1" i="0" u="none" strike="noStrike" kern="1200" cap="none" spc="0" normalizeH="0" baseline="0" noProof="0" dirty="0">
                <a:ln>
                  <a:noFill/>
                </a:ln>
                <a:solidFill>
                  <a:schemeClr val="accent2"/>
                </a:solidFill>
                <a:effectLst/>
                <a:uLnTx/>
                <a:uFillTx/>
                <a:latin typeface="+mn-ea"/>
                <a:ea typeface="+mn-ea"/>
                <a:cs typeface="+mn-cs"/>
              </a:rPr>
              <a:t>有空</a:t>
            </a:r>
            <a:r>
              <a:rPr kumimoji="1" lang="zh-CN" altLang="en-US" sz="1800" b="1" i="0" u="none" strike="noStrike" kern="1200" cap="none" spc="0" normalizeH="0" baseline="0" noProof="0" dirty="0">
                <a:ln>
                  <a:noFill/>
                </a:ln>
                <a:solidFill>
                  <a:schemeClr val="tx1"/>
                </a:solidFill>
                <a:effectLst/>
                <a:uLnTx/>
                <a:uFillTx/>
                <a:latin typeface="+mn-ea"/>
                <a:ea typeface="+mn-ea"/>
                <a:cs typeface="+mn-cs"/>
              </a:rPr>
              <a:t>），</a:t>
            </a:r>
            <a:r>
              <a:rPr kumimoji="1" lang="zh-CN" altLang="en-US" sz="1800" b="1" i="0" u="none" strike="noStrike" kern="1200" cap="none" spc="0" normalizeH="0" baseline="0" noProof="0" dirty="0">
                <a:ln>
                  <a:noFill/>
                </a:ln>
                <a:solidFill>
                  <a:schemeClr val="accent2"/>
                </a:solidFill>
                <a:effectLst/>
                <a:uLnTx/>
                <a:uFillTx/>
                <a:latin typeface="+mn-ea"/>
                <a:ea typeface="+mn-ea"/>
                <a:cs typeface="+mn-cs"/>
              </a:rPr>
              <a:t>并在</a:t>
            </a:r>
            <a:r>
              <a:rPr kumimoji="1" lang="en-US" altLang="zh-CN" sz="1800" b="1" i="0" u="none" strike="noStrike" kern="1200" cap="none" spc="0" normalizeH="0" baseline="0" noProof="0" dirty="0">
                <a:ln>
                  <a:noFill/>
                </a:ln>
                <a:solidFill>
                  <a:schemeClr val="accent2"/>
                </a:solidFill>
                <a:effectLst/>
                <a:uLnTx/>
                <a:uFillTx/>
                <a:latin typeface="+mn-ea"/>
                <a:ea typeface="+mn-ea"/>
                <a:cs typeface="+mn-cs"/>
              </a:rPr>
              <a:t>ROB</a:t>
            </a:r>
            <a:r>
              <a:rPr kumimoji="1" lang="zh-CN" altLang="en-US" sz="1800" b="1" i="0" u="none" strike="noStrike" kern="1200" cap="none" spc="0" normalizeH="0" baseline="0" noProof="0" dirty="0">
                <a:ln>
                  <a:noFill/>
                </a:ln>
                <a:solidFill>
                  <a:schemeClr val="accent2"/>
                </a:solidFill>
                <a:effectLst/>
                <a:uLnTx/>
                <a:uFillTx/>
                <a:latin typeface="+mn-ea"/>
                <a:ea typeface="+mn-ea"/>
                <a:cs typeface="+mn-cs"/>
              </a:rPr>
              <a:t>中指定一项作为临时保存该指令结果之用；</a:t>
            </a:r>
            <a:r>
              <a:rPr kumimoji="1" lang="zh-CN" altLang="en-US" sz="1800" b="1" i="0" u="none" strike="noStrike" kern="1200" cap="none" spc="0" normalizeH="0" baseline="0" noProof="0" dirty="0">
                <a:ln>
                  <a:noFill/>
                </a:ln>
                <a:solidFill>
                  <a:schemeClr val="tx1"/>
                </a:solidFill>
                <a:effectLst/>
                <a:uLnTx/>
                <a:uFillTx/>
                <a:latin typeface="+mn-ea"/>
                <a:ea typeface="+mn-ea"/>
                <a:cs typeface="+mn-cs"/>
              </a:rPr>
              <a:t>发射过程中读寄存器的值和结果状态域，</a:t>
            </a:r>
            <a:r>
              <a:rPr kumimoji="1" lang="zh-CN" altLang="en-US" sz="1800" b="1" i="0" u="none" strike="noStrike" kern="1200" cap="none" spc="0" normalizeH="0" baseline="0" noProof="0" dirty="0">
                <a:ln>
                  <a:noFill/>
                </a:ln>
                <a:solidFill>
                  <a:schemeClr val="accent2"/>
                </a:solidFill>
                <a:effectLst/>
                <a:uLnTx/>
                <a:uFillTx/>
                <a:latin typeface="+mn-ea"/>
                <a:ea typeface="+mn-ea"/>
                <a:cs typeface="+mn-cs"/>
              </a:rPr>
              <a:t>如果结果状态域指出结果寄存器已被重命名到</a:t>
            </a:r>
            <a:r>
              <a:rPr kumimoji="1" lang="en-US" altLang="zh-CN" sz="1800" b="1" i="0" u="none" strike="noStrike" kern="1200" cap="none" spc="0" normalizeH="0" baseline="0" noProof="0" dirty="0">
                <a:ln>
                  <a:noFill/>
                </a:ln>
                <a:solidFill>
                  <a:schemeClr val="accent2"/>
                </a:solidFill>
                <a:effectLst/>
                <a:uLnTx/>
                <a:uFillTx/>
                <a:latin typeface="+mn-ea"/>
                <a:ea typeface="+mn-ea"/>
                <a:cs typeface="+mn-cs"/>
              </a:rPr>
              <a:t>ROB</a:t>
            </a:r>
            <a:r>
              <a:rPr kumimoji="1" lang="zh-CN" altLang="en-US" sz="1800" b="1" i="0" u="none" strike="noStrike" kern="1200" cap="none" spc="0" normalizeH="0" baseline="0" noProof="0" dirty="0">
                <a:ln>
                  <a:noFill/>
                </a:ln>
                <a:solidFill>
                  <a:schemeClr val="accent2"/>
                </a:solidFill>
                <a:effectLst/>
                <a:uLnTx/>
                <a:uFillTx/>
                <a:latin typeface="+mn-ea"/>
                <a:ea typeface="+mn-ea"/>
                <a:cs typeface="+mn-cs"/>
              </a:rPr>
              <a:t>，则读</a:t>
            </a:r>
            <a:r>
              <a:rPr kumimoji="1" lang="en-US" altLang="zh-CN" sz="1800" b="1" i="0" u="none" strike="noStrike" kern="1200" cap="none" spc="0" normalizeH="0" baseline="0" noProof="0" dirty="0">
                <a:ln>
                  <a:noFill/>
                </a:ln>
                <a:solidFill>
                  <a:schemeClr val="accent2"/>
                </a:solidFill>
                <a:effectLst/>
                <a:uLnTx/>
                <a:uFillTx/>
                <a:latin typeface="+mn-ea"/>
                <a:ea typeface="+mn-ea"/>
                <a:cs typeface="+mn-cs"/>
              </a:rPr>
              <a:t>ROB</a:t>
            </a:r>
            <a:endParaRPr kumimoji="1" lang="en-US" altLang="zh-CN" sz="1800" b="1" i="0" u="none" strike="noStrike" kern="1200" cap="none" spc="0" normalizeH="0" baseline="0" noProof="0" dirty="0">
              <a:ln>
                <a:noFill/>
              </a:ln>
              <a:solidFill>
                <a:schemeClr val="accent2"/>
              </a:solidFill>
              <a:effectLst/>
              <a:uLnTx/>
              <a:uFillTx/>
              <a:latin typeface="+mn-ea"/>
              <a:ea typeface="+mn-ea"/>
              <a:cs typeface="+mn-cs"/>
            </a:endParaRPr>
          </a:p>
          <a:p>
            <a:pPr marL="342900" marR="0" lvl="0" indent="-342900" algn="l" defTabSz="914400" rtl="0" eaLnBrk="1" fontAlgn="base" latinLnBrk="0" hangingPunct="1">
              <a:lnSpc>
                <a:spcPct val="150000"/>
              </a:lnSpc>
              <a:spcBef>
                <a:spcPts val="600"/>
              </a:spcBef>
              <a:spcAft>
                <a:spcPct val="0"/>
              </a:spcAft>
              <a:buClrTx/>
              <a:buSzTx/>
              <a:buFontTx/>
              <a:buChar char="•"/>
              <a:defRPr/>
            </a:pPr>
            <a:r>
              <a:rPr kumimoji="1" lang="zh-CN" altLang="en-US" sz="1800" b="1" i="0" u="none" strike="noStrike" kern="1200" cap="none" spc="0" normalizeH="0" baseline="0" noProof="0" dirty="0">
                <a:ln>
                  <a:noFill/>
                </a:ln>
                <a:solidFill>
                  <a:srgbClr val="FF0000"/>
                </a:solidFill>
                <a:effectLst/>
                <a:uLnTx/>
                <a:uFillTx/>
                <a:latin typeface="+mn-ea"/>
                <a:ea typeface="+mn-ea"/>
                <a:cs typeface="+mn-cs"/>
              </a:rPr>
              <a:t>执行：</a:t>
            </a:r>
            <a:r>
              <a:rPr kumimoji="1" lang="zh-CN" altLang="en-US" sz="1800" b="1" i="0" u="none" strike="noStrike" kern="1200" cap="none" spc="0" normalizeH="0" baseline="0" noProof="0" dirty="0">
                <a:ln>
                  <a:noFill/>
                </a:ln>
                <a:solidFill>
                  <a:schemeClr val="tx1"/>
                </a:solidFill>
                <a:effectLst/>
                <a:uLnTx/>
                <a:uFillTx/>
                <a:latin typeface="+mn-ea"/>
                <a:ea typeface="+mn-ea"/>
                <a:cs typeface="+mn-cs"/>
              </a:rPr>
              <a:t>如果所需的操作数都准备好，则执行，否则根据结果</a:t>
            </a:r>
            <a:r>
              <a:rPr kumimoji="1" lang="en-US" altLang="zh-CN" sz="1800" b="1" i="0" u="none" strike="noStrike" kern="1200" cap="none" spc="0" normalizeH="0" baseline="0" noProof="0" dirty="0">
                <a:ln>
                  <a:noFill/>
                </a:ln>
                <a:solidFill>
                  <a:schemeClr val="tx1"/>
                </a:solidFill>
                <a:effectLst/>
                <a:uLnTx/>
                <a:uFillTx/>
                <a:latin typeface="+mn-ea"/>
                <a:ea typeface="+mn-ea"/>
                <a:cs typeface="+mn-cs"/>
              </a:rPr>
              <a:t>ROB</a:t>
            </a:r>
            <a:r>
              <a:rPr kumimoji="1" lang="zh-CN" altLang="en-US" sz="1800" b="1" i="0" u="none" strike="noStrike" kern="1200" cap="none" spc="0" normalizeH="0" baseline="0" noProof="0" dirty="0">
                <a:ln>
                  <a:noFill/>
                </a:ln>
                <a:solidFill>
                  <a:schemeClr val="tx1"/>
                </a:solidFill>
                <a:effectLst/>
                <a:uLnTx/>
                <a:uFillTx/>
                <a:latin typeface="+mn-ea"/>
                <a:ea typeface="+mn-ea"/>
                <a:cs typeface="+mn-cs"/>
              </a:rPr>
              <a:t>号侦听结果总线并接收结果总线的值</a:t>
            </a:r>
            <a:endParaRPr kumimoji="1" lang="zh-CN" altLang="en-US" sz="1800" b="1" i="0" u="none" strike="noStrike" kern="1200" cap="none" spc="0" normalizeH="0" baseline="0" noProof="0" dirty="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50000"/>
              </a:lnSpc>
              <a:spcBef>
                <a:spcPts val="600"/>
              </a:spcBef>
              <a:spcAft>
                <a:spcPct val="0"/>
              </a:spcAft>
              <a:buClrTx/>
              <a:buSzTx/>
              <a:buFontTx/>
              <a:buChar char="•"/>
              <a:defRPr/>
            </a:pPr>
            <a:r>
              <a:rPr kumimoji="1" lang="zh-CN" altLang="en-US" sz="1800" b="1" i="0" u="none" strike="noStrike" kern="1200" cap="none" spc="0" normalizeH="0" baseline="0" noProof="0" dirty="0">
                <a:ln>
                  <a:noFill/>
                </a:ln>
                <a:solidFill>
                  <a:srgbClr val="FF0000"/>
                </a:solidFill>
                <a:effectLst/>
                <a:uLnTx/>
                <a:uFillTx/>
                <a:latin typeface="+mn-ea"/>
                <a:ea typeface="+mn-ea"/>
                <a:cs typeface="+mn-cs"/>
              </a:rPr>
              <a:t>写回：</a:t>
            </a:r>
            <a:r>
              <a:rPr kumimoji="1" lang="zh-CN" altLang="en-US" sz="1800" b="1" i="0" u="none" strike="noStrike" kern="1200" cap="none" spc="0" normalizeH="0" baseline="0" noProof="0" dirty="0">
                <a:ln>
                  <a:noFill/>
                </a:ln>
                <a:solidFill>
                  <a:schemeClr val="tx1"/>
                </a:solidFill>
                <a:effectLst/>
                <a:uLnTx/>
                <a:uFillTx/>
                <a:latin typeface="+mn-ea"/>
                <a:ea typeface="+mn-ea"/>
                <a:cs typeface="+mn-cs"/>
              </a:rPr>
              <a:t>把结果送到结果总线，释放保留站；</a:t>
            </a:r>
            <a:r>
              <a:rPr kumimoji="1" lang="en-US" altLang="zh-CN" sz="1800" b="1" i="0" u="none" strike="noStrike" kern="1200" cap="none" spc="0" normalizeH="0" baseline="0" noProof="0" dirty="0">
                <a:ln>
                  <a:noFill/>
                </a:ln>
                <a:solidFill>
                  <a:schemeClr val="accent2"/>
                </a:solidFill>
                <a:effectLst/>
                <a:uLnTx/>
                <a:uFillTx/>
                <a:latin typeface="+mn-ea"/>
                <a:ea typeface="+mn-ea"/>
                <a:cs typeface="+mn-cs"/>
              </a:rPr>
              <a:t>ROB</a:t>
            </a:r>
            <a:r>
              <a:rPr kumimoji="1" lang="zh-CN" altLang="en-US" sz="1800" b="1" i="0" u="none" strike="noStrike" kern="1200" cap="none" spc="0" normalizeH="0" baseline="0" noProof="0" dirty="0">
                <a:ln>
                  <a:noFill/>
                </a:ln>
                <a:solidFill>
                  <a:schemeClr val="accent2"/>
                </a:solidFill>
                <a:effectLst/>
                <a:uLnTx/>
                <a:uFillTx/>
                <a:latin typeface="+mn-ea"/>
                <a:ea typeface="+mn-ea"/>
                <a:cs typeface="+mn-cs"/>
              </a:rPr>
              <a:t>根据结果总线修改相应项 </a:t>
            </a:r>
            <a:endParaRPr kumimoji="1" lang="zh-CN" altLang="en-US" sz="1800" b="1" i="0" u="none" strike="noStrike" kern="1200" cap="none" spc="0" normalizeH="0" baseline="0" noProof="0" dirty="0">
              <a:ln>
                <a:noFill/>
              </a:ln>
              <a:solidFill>
                <a:schemeClr val="accent2"/>
              </a:solidFill>
              <a:effectLst/>
              <a:uLnTx/>
              <a:uFillTx/>
              <a:latin typeface="+mn-ea"/>
              <a:ea typeface="+mn-ea"/>
              <a:cs typeface="+mn-cs"/>
            </a:endParaRPr>
          </a:p>
          <a:p>
            <a:pPr marL="342900" marR="0" lvl="0" indent="-342900" algn="l" defTabSz="914400" rtl="0" eaLnBrk="1" fontAlgn="base" latinLnBrk="0" hangingPunct="1">
              <a:lnSpc>
                <a:spcPct val="150000"/>
              </a:lnSpc>
              <a:spcBef>
                <a:spcPts val="600"/>
              </a:spcBef>
              <a:spcAft>
                <a:spcPct val="0"/>
              </a:spcAft>
              <a:buClrTx/>
              <a:buSzTx/>
              <a:buFontTx/>
              <a:buChar char="•"/>
              <a:defRPr/>
            </a:pPr>
            <a:r>
              <a:rPr kumimoji="1" lang="zh-CN" altLang="en-US" sz="1800" b="1" i="0" u="none" strike="noStrike" kern="1200" cap="none" spc="0" normalizeH="0" baseline="0" noProof="0" dirty="0">
                <a:ln>
                  <a:noFill/>
                </a:ln>
                <a:solidFill>
                  <a:srgbClr val="FF0000"/>
                </a:solidFill>
                <a:effectLst/>
                <a:uLnTx/>
                <a:uFillTx/>
                <a:latin typeface="+mn-ea"/>
                <a:ea typeface="+mn-ea"/>
                <a:cs typeface="+mn-cs"/>
              </a:rPr>
              <a:t>提交：</a:t>
            </a:r>
            <a:r>
              <a:rPr kumimoji="1" lang="zh-CN" altLang="zh-CN" sz="1800" b="1" i="0" u="none" strike="noStrike" kern="1200" cap="none" spc="0" normalizeH="0" baseline="0" noProof="0" dirty="0">
                <a:ln>
                  <a:noFill/>
                </a:ln>
                <a:solidFill>
                  <a:schemeClr val="accent2"/>
                </a:solidFill>
                <a:effectLst/>
                <a:uLnTx/>
                <a:uFillTx/>
                <a:latin typeface="+mn-ea"/>
                <a:ea typeface="+mn-ea"/>
                <a:cs typeface="+mn-cs"/>
              </a:rPr>
              <a:t>如果队列中第一条指令的结果已经写回且没有发生例外</a:t>
            </a:r>
            <a:r>
              <a:rPr kumimoji="1" lang="zh-CN" altLang="en-US" sz="1800" b="1" i="0" u="none" strike="noStrike" kern="1200" cap="none" spc="0" normalizeH="0" baseline="0" noProof="0" dirty="0">
                <a:ln>
                  <a:noFill/>
                </a:ln>
                <a:solidFill>
                  <a:schemeClr val="accent2"/>
                </a:solidFill>
                <a:effectLst/>
                <a:uLnTx/>
                <a:uFillTx/>
                <a:latin typeface="+mn-ea"/>
                <a:ea typeface="+mn-ea"/>
                <a:cs typeface="+mn-cs"/>
              </a:rPr>
              <a:t>，</a:t>
            </a:r>
            <a:r>
              <a:rPr kumimoji="1" lang="zh-CN" altLang="zh-CN" sz="1800" b="1" i="0" u="none" strike="noStrike" kern="1200" cap="none" spc="0" normalizeH="0" baseline="0" noProof="0" dirty="0">
                <a:ln>
                  <a:noFill/>
                </a:ln>
                <a:solidFill>
                  <a:schemeClr val="accent2"/>
                </a:solidFill>
                <a:effectLst/>
                <a:uLnTx/>
                <a:uFillTx/>
                <a:latin typeface="+mn-ea"/>
                <a:ea typeface="+mn-ea"/>
                <a:cs typeface="+mn-cs"/>
              </a:rPr>
              <a:t>把该指令的结果从</a:t>
            </a:r>
            <a:r>
              <a:rPr kumimoji="1" lang="en-US" altLang="zh-CN" sz="1800" b="1" i="0" u="none" strike="noStrike" kern="1200" cap="none" spc="0" normalizeH="0" baseline="0" noProof="0" dirty="0">
                <a:ln>
                  <a:noFill/>
                </a:ln>
                <a:solidFill>
                  <a:schemeClr val="accent2"/>
                </a:solidFill>
                <a:effectLst/>
                <a:uLnTx/>
                <a:uFillTx/>
                <a:latin typeface="+mn-ea"/>
                <a:ea typeface="+mn-ea"/>
                <a:cs typeface="+mn-cs"/>
              </a:rPr>
              <a:t>ROB</a:t>
            </a:r>
            <a:r>
              <a:rPr kumimoji="1" lang="zh-CN" altLang="zh-CN" sz="1800" b="1" i="0" u="none" strike="noStrike" kern="1200" cap="none" spc="0" normalizeH="0" baseline="0" noProof="0" dirty="0">
                <a:ln>
                  <a:noFill/>
                </a:ln>
                <a:solidFill>
                  <a:schemeClr val="accent2"/>
                </a:solidFill>
                <a:effectLst/>
                <a:uLnTx/>
                <a:uFillTx/>
                <a:latin typeface="+mn-ea"/>
                <a:ea typeface="+mn-ea"/>
                <a:cs typeface="+mn-cs"/>
              </a:rPr>
              <a:t>写回到寄存器或存储器</a:t>
            </a:r>
            <a:r>
              <a:rPr kumimoji="1" lang="zh-CN" altLang="en-US" sz="1800" b="1" i="0" u="none" strike="noStrike" kern="1200" cap="none" spc="0" normalizeH="0" baseline="0" noProof="0" dirty="0">
                <a:ln>
                  <a:noFill/>
                </a:ln>
                <a:solidFill>
                  <a:schemeClr val="accent2"/>
                </a:solidFill>
                <a:effectLst/>
                <a:uLnTx/>
                <a:uFillTx/>
                <a:latin typeface="+mn-ea"/>
                <a:ea typeface="+mn-ea"/>
                <a:cs typeface="+mn-cs"/>
              </a:rPr>
              <a:t>，</a:t>
            </a:r>
            <a:r>
              <a:rPr kumimoji="1" lang="zh-CN" altLang="zh-CN" sz="1800" b="1" i="0" u="none" strike="noStrike" kern="1200" cap="none" spc="0" normalizeH="0" baseline="0" noProof="0" dirty="0">
                <a:ln>
                  <a:noFill/>
                </a:ln>
                <a:solidFill>
                  <a:schemeClr val="accent2"/>
                </a:solidFill>
                <a:effectLst/>
                <a:uLnTx/>
                <a:uFillTx/>
                <a:latin typeface="+mn-ea"/>
                <a:ea typeface="+mn-ea"/>
                <a:cs typeface="+mn-cs"/>
              </a:rPr>
              <a:t>释放</a:t>
            </a:r>
            <a:r>
              <a:rPr kumimoji="1" lang="en-US" altLang="zh-CN" sz="1800" b="1" i="0" u="none" strike="noStrike" kern="1200" cap="none" spc="0" normalizeH="0" baseline="0" noProof="0" dirty="0">
                <a:ln>
                  <a:noFill/>
                </a:ln>
                <a:solidFill>
                  <a:schemeClr val="accent2"/>
                </a:solidFill>
                <a:effectLst/>
                <a:uLnTx/>
                <a:uFillTx/>
                <a:latin typeface="+mn-ea"/>
                <a:ea typeface="+mn-ea"/>
                <a:cs typeface="+mn-cs"/>
              </a:rPr>
              <a:t>ROB</a:t>
            </a:r>
            <a:r>
              <a:rPr kumimoji="1" lang="zh-CN" altLang="zh-CN" sz="1800" b="1" i="0" u="none" strike="noStrike" kern="1200" cap="none" spc="0" normalizeH="0" baseline="0" noProof="0" dirty="0">
                <a:ln>
                  <a:noFill/>
                </a:ln>
                <a:solidFill>
                  <a:schemeClr val="accent2"/>
                </a:solidFill>
                <a:effectLst/>
                <a:uLnTx/>
                <a:uFillTx/>
                <a:latin typeface="+mn-ea"/>
                <a:ea typeface="+mn-ea"/>
                <a:cs typeface="+mn-cs"/>
              </a:rPr>
              <a:t>的相应项</a:t>
            </a:r>
            <a:r>
              <a:rPr kumimoji="1" lang="zh-CN" altLang="en-US" sz="1800" b="1" i="0" u="none" strike="noStrike" kern="1200" cap="none" spc="0" normalizeH="0" baseline="0" noProof="0" dirty="0">
                <a:ln>
                  <a:noFill/>
                </a:ln>
                <a:solidFill>
                  <a:schemeClr val="accent2"/>
                </a:solidFill>
                <a:effectLst/>
                <a:uLnTx/>
                <a:uFillTx/>
                <a:latin typeface="+mn-ea"/>
                <a:ea typeface="+mn-ea"/>
                <a:cs typeface="+mn-cs"/>
              </a:rPr>
              <a:t>。</a:t>
            </a:r>
            <a:r>
              <a:rPr kumimoji="1" lang="zh-CN" altLang="zh-CN" sz="1800" b="1" i="0" u="none" strike="noStrike" kern="1200" cap="none" spc="0" normalizeH="0" baseline="0" noProof="0" dirty="0">
                <a:ln>
                  <a:noFill/>
                </a:ln>
                <a:solidFill>
                  <a:schemeClr val="accent2"/>
                </a:solidFill>
                <a:effectLst/>
                <a:uLnTx/>
                <a:uFillTx/>
                <a:latin typeface="+mn-ea"/>
                <a:ea typeface="+mn-ea"/>
                <a:cs typeface="+mn-cs"/>
              </a:rPr>
              <a:t>如果队列头的指令发生了</a:t>
            </a:r>
            <a:r>
              <a:rPr kumimoji="1" lang="zh-CN" altLang="en-US" sz="1800" b="1" i="0" u="none" strike="noStrike" kern="1200" cap="none" spc="0" normalizeH="0" baseline="0" noProof="0" dirty="0">
                <a:ln>
                  <a:noFill/>
                </a:ln>
                <a:solidFill>
                  <a:schemeClr val="accent2"/>
                </a:solidFill>
                <a:effectLst/>
                <a:uLnTx/>
                <a:uFillTx/>
                <a:latin typeface="+mn-ea"/>
                <a:ea typeface="+mn-ea"/>
                <a:cs typeface="+mn-cs"/>
              </a:rPr>
              <a:t>例外</a:t>
            </a:r>
            <a:r>
              <a:rPr kumimoji="1" lang="zh-CN" altLang="zh-CN" sz="1800" b="1" i="0" u="none" strike="noStrike" kern="1200" cap="none" spc="0" normalizeH="0" baseline="0" noProof="0" dirty="0">
                <a:ln>
                  <a:noFill/>
                </a:ln>
                <a:solidFill>
                  <a:schemeClr val="accent2"/>
                </a:solidFill>
                <a:effectLst/>
                <a:uLnTx/>
                <a:uFillTx/>
                <a:latin typeface="+mn-ea"/>
                <a:ea typeface="+mn-ea"/>
                <a:cs typeface="+mn-cs"/>
              </a:rPr>
              <a:t>或是猜测错误的转移指令</a:t>
            </a:r>
            <a:r>
              <a:rPr kumimoji="1" lang="zh-CN" altLang="en-US" sz="1800" b="1" i="0" u="none" strike="noStrike" kern="1200" cap="none" spc="0" normalizeH="0" baseline="0" noProof="0" dirty="0">
                <a:ln>
                  <a:noFill/>
                </a:ln>
                <a:solidFill>
                  <a:schemeClr val="accent2"/>
                </a:solidFill>
                <a:effectLst/>
                <a:uLnTx/>
                <a:uFillTx/>
                <a:latin typeface="+mn-ea"/>
                <a:ea typeface="+mn-ea"/>
                <a:cs typeface="+mn-cs"/>
              </a:rPr>
              <a:t>，</a:t>
            </a:r>
            <a:r>
              <a:rPr kumimoji="1" lang="zh-CN" altLang="zh-CN" sz="1800" b="1" i="0" u="none" strike="noStrike" kern="1200" cap="none" spc="0" normalizeH="0" baseline="0" noProof="0" dirty="0">
                <a:ln>
                  <a:noFill/>
                </a:ln>
                <a:solidFill>
                  <a:schemeClr val="accent2"/>
                </a:solidFill>
                <a:effectLst/>
                <a:uLnTx/>
                <a:uFillTx/>
                <a:latin typeface="+mn-ea"/>
                <a:ea typeface="+mn-ea"/>
                <a:cs typeface="+mn-cs"/>
              </a:rPr>
              <a:t>清除操作队列以及</a:t>
            </a:r>
            <a:r>
              <a:rPr kumimoji="1" lang="en-US" altLang="zh-CN" sz="1800" b="1" i="0" u="none" strike="noStrike" kern="1200" cap="none" spc="0" normalizeH="0" baseline="0" noProof="0" dirty="0">
                <a:ln>
                  <a:noFill/>
                </a:ln>
                <a:solidFill>
                  <a:schemeClr val="accent2"/>
                </a:solidFill>
                <a:effectLst/>
                <a:uLnTx/>
                <a:uFillTx/>
                <a:latin typeface="+mn-ea"/>
                <a:ea typeface="+mn-ea"/>
                <a:cs typeface="+mn-cs"/>
              </a:rPr>
              <a:t>ROB</a:t>
            </a:r>
            <a:r>
              <a:rPr kumimoji="1" lang="zh-CN" altLang="zh-CN" sz="1800" b="1" i="0" u="none" strike="noStrike" kern="1200" cap="none" spc="0" normalizeH="0" baseline="0" noProof="0" dirty="0">
                <a:ln>
                  <a:noFill/>
                </a:ln>
                <a:solidFill>
                  <a:schemeClr val="accent2"/>
                </a:solidFill>
                <a:effectLst/>
                <a:uLnTx/>
                <a:uFillTx/>
                <a:latin typeface="+mn-ea"/>
                <a:ea typeface="+mn-ea"/>
                <a:cs typeface="+mn-cs"/>
              </a:rPr>
              <a:t>等</a:t>
            </a:r>
            <a:endParaRPr kumimoji="1" lang="zh-CN" altLang="zh-CN" sz="1800" b="1" i="0" u="none" strike="noStrike" kern="1200" cap="none" spc="0" normalizeH="0" baseline="0" noProof="0" dirty="0">
              <a:ln>
                <a:noFill/>
              </a:ln>
              <a:solidFill>
                <a:schemeClr val="accent2"/>
              </a:solidFill>
              <a:effectLst/>
              <a:uLnTx/>
              <a:uFillTx/>
              <a:latin typeface="+mn-ea"/>
              <a:ea typeface="+mn-ea"/>
              <a:cs typeface="+mn-cs"/>
            </a:endParaRPr>
          </a:p>
        </p:txBody>
      </p:sp>
      <p:sp>
        <p:nvSpPr>
          <p:cNvPr id="66562" name="Rectangle 7"/>
          <p:cNvSpPr/>
          <p:nvPr/>
        </p:nvSpPr>
        <p:spPr>
          <a:xfrm>
            <a:off x="912813" y="420688"/>
            <a:ext cx="10361612" cy="523875"/>
          </a:xfrm>
          <a:prstGeom prst="rect">
            <a:avLst/>
          </a:prstGeom>
          <a:noFill/>
          <a:ln w="9525">
            <a:noFill/>
          </a:ln>
        </p:spPr>
        <p:txBody>
          <a:bodyPr anchor="ctr" anchorCtr="0"/>
          <a:p>
            <a:pPr algn="ctr"/>
            <a:r>
              <a:rPr lang="zh-CN" altLang="en-US" sz="3200" dirty="0">
                <a:solidFill>
                  <a:srgbClr val="FF0000"/>
                </a:solidFill>
                <a:latin typeface="Arial" panose="02080604020202020204" pitchFamily="34" charset="0"/>
                <a:ea typeface="黑体" panose="02000500000000000000" pitchFamily="49" charset="-122"/>
              </a:rPr>
              <a:t>增加</a:t>
            </a:r>
            <a:r>
              <a:rPr lang="en-US" altLang="zh-CN" sz="3200" dirty="0">
                <a:solidFill>
                  <a:srgbClr val="FF0000"/>
                </a:solidFill>
                <a:latin typeface="Arial" panose="02080604020202020204" pitchFamily="34" charset="0"/>
                <a:ea typeface="黑体" panose="02000500000000000000" pitchFamily="49" charset="-122"/>
              </a:rPr>
              <a:t>ROB</a:t>
            </a:r>
            <a:r>
              <a:rPr lang="zh-CN" altLang="en-US" sz="3200" dirty="0">
                <a:solidFill>
                  <a:srgbClr val="FF0000"/>
                </a:solidFill>
                <a:latin typeface="Arial" panose="02080604020202020204" pitchFamily="34" charset="0"/>
                <a:ea typeface="黑体" panose="02000500000000000000" pitchFamily="49" charset="-122"/>
              </a:rPr>
              <a:t>的流水线</a:t>
            </a:r>
            <a:endParaRPr lang="zh-CN" altLang="en-US" sz="3200" dirty="0">
              <a:solidFill>
                <a:srgbClr val="FF0000"/>
              </a:solidFill>
              <a:latin typeface="Arial" panose="02080604020202020204" pitchFamily="34" charset="0"/>
              <a:ea typeface="黑体" panose="02000500000000000000" pitchFamily="49" charset="-122"/>
            </a:endParaRPr>
          </a:p>
        </p:txBody>
      </p:sp>
      <p:sp>
        <p:nvSpPr>
          <p:cNvPr id="66563"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buSzTx/>
            </a:pPr>
            <a:fld id="{9A0DB2DC-4C9A-4742-B13C-FB6460FD3503}" type="slidenum">
              <a:rPr lang="en-US" altLang="zh-CN" sz="1400" dirty="0"/>
            </a:fld>
            <a:endParaRPr lang="en-US" altLang="zh-CN" sz="1400" dirty="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5" name="标题 1"/>
          <p:cNvSpPr>
            <a:spLocks noGrp="1"/>
          </p:cNvSpPr>
          <p:nvPr>
            <p:ph type="title"/>
          </p:nvPr>
        </p:nvSpPr>
        <p:spPr>
          <a:xfrm>
            <a:off x="958850" y="0"/>
            <a:ext cx="10361613" cy="836613"/>
          </a:xfrm>
        </p:spPr>
        <p:txBody>
          <a:bodyPr vert="horz" wrap="square" lIns="91440" tIns="45720" rIns="91440" bIns="45720" anchor="ctr" anchorCtr="0"/>
          <a:p>
            <a:r>
              <a:rPr lang="en-US" altLang="zh-CN" dirty="0"/>
              <a:t>Meltdown</a:t>
            </a:r>
            <a:r>
              <a:rPr lang="zh-CN" altLang="en-US" dirty="0"/>
              <a:t>攻击的基本原理</a:t>
            </a:r>
            <a:endParaRPr lang="zh-CN" altLang="en-US" dirty="0"/>
          </a:p>
        </p:txBody>
      </p:sp>
      <p:sp>
        <p:nvSpPr>
          <p:cNvPr id="67586" name="内容占位符 2"/>
          <p:cNvSpPr>
            <a:spLocks noGrp="1"/>
          </p:cNvSpPr>
          <p:nvPr>
            <p:ph idx="1"/>
          </p:nvPr>
        </p:nvSpPr>
        <p:spPr>
          <a:xfrm>
            <a:off x="477838" y="908050"/>
            <a:ext cx="11377612" cy="5949950"/>
          </a:xfrm>
        </p:spPr>
        <p:txBody>
          <a:bodyPr vert="horz" wrap="square" lIns="91440" tIns="45720" rIns="91440" bIns="45720" anchor="t" anchorCtr="0"/>
          <a:p>
            <a:r>
              <a:rPr lang="zh-CN" altLang="en-US" dirty="0"/>
              <a:t>攻击者在用户态执行一条访问系统空间的</a:t>
            </a:r>
            <a:r>
              <a:rPr lang="en-US" altLang="zh-CN" dirty="0"/>
              <a:t>load</a:t>
            </a:r>
            <a:r>
              <a:rPr lang="zh-CN" altLang="en-US" dirty="0"/>
              <a:t>指令，发生例外，相关例外信息存在</a:t>
            </a:r>
            <a:r>
              <a:rPr lang="en-US" altLang="zh-CN" dirty="0"/>
              <a:t>ROB</a:t>
            </a:r>
            <a:r>
              <a:rPr lang="zh-CN" altLang="en-US" dirty="0"/>
              <a:t>中，访问数据</a:t>
            </a:r>
            <a:r>
              <a:rPr lang="en-US" altLang="zh-CN" dirty="0"/>
              <a:t>X</a:t>
            </a:r>
            <a:r>
              <a:rPr lang="zh-CN" altLang="en-US" dirty="0"/>
              <a:t>（假设为一个字节）目标寄存器为</a:t>
            </a:r>
            <a:r>
              <a:rPr lang="en-US" altLang="zh-CN" dirty="0"/>
              <a:t>R1</a:t>
            </a:r>
            <a:r>
              <a:rPr lang="zh-CN" altLang="en-US" dirty="0"/>
              <a:t>，重命名到</a:t>
            </a:r>
            <a:r>
              <a:rPr lang="en-US" altLang="zh-CN" dirty="0"/>
              <a:t>PR1</a:t>
            </a:r>
            <a:r>
              <a:rPr lang="zh-CN" altLang="en-US" dirty="0"/>
              <a:t>，</a:t>
            </a:r>
            <a:r>
              <a:rPr lang="zh-CN" altLang="en-US" dirty="0">
                <a:solidFill>
                  <a:srgbClr val="FF0000"/>
                </a:solidFill>
              </a:rPr>
              <a:t>返回值存到</a:t>
            </a:r>
            <a:r>
              <a:rPr lang="en-US" altLang="zh-CN" dirty="0">
                <a:solidFill>
                  <a:srgbClr val="FF0000"/>
                </a:solidFill>
              </a:rPr>
              <a:t>PR1</a:t>
            </a:r>
            <a:r>
              <a:rPr lang="zh-CN" altLang="en-US" dirty="0">
                <a:solidFill>
                  <a:srgbClr val="FF0000"/>
                </a:solidFill>
              </a:rPr>
              <a:t>，</a:t>
            </a:r>
            <a:r>
              <a:rPr lang="zh-CN" altLang="en-US" dirty="0"/>
              <a:t>提交时会被取消（不写到</a:t>
            </a:r>
            <a:r>
              <a:rPr lang="en-US" altLang="zh-CN" dirty="0"/>
              <a:t>R1</a:t>
            </a:r>
            <a:r>
              <a:rPr lang="zh-CN" altLang="en-US" dirty="0"/>
              <a:t>）</a:t>
            </a:r>
            <a:endParaRPr lang="en-US" altLang="zh-CN" dirty="0"/>
          </a:p>
          <a:p>
            <a:r>
              <a:rPr lang="zh-CN" altLang="en-US" dirty="0"/>
              <a:t>攻击者读取</a:t>
            </a:r>
            <a:r>
              <a:rPr lang="en-US" altLang="zh-CN" dirty="0"/>
              <a:t>R1</a:t>
            </a:r>
            <a:r>
              <a:rPr lang="zh-CN" altLang="en-US" dirty="0"/>
              <a:t>并从</a:t>
            </a:r>
            <a:r>
              <a:rPr lang="en-US" altLang="zh-CN" dirty="0"/>
              <a:t>PR1</a:t>
            </a:r>
            <a:r>
              <a:rPr lang="zh-CN" altLang="en-US" dirty="0"/>
              <a:t>中读到内容</a:t>
            </a:r>
            <a:r>
              <a:rPr lang="en-US" altLang="zh-CN" dirty="0"/>
              <a:t>X</a:t>
            </a:r>
            <a:r>
              <a:rPr lang="zh-CN" altLang="en-US" dirty="0"/>
              <a:t>，作为下标访问一个事先准备好的用户态数组</a:t>
            </a:r>
            <a:r>
              <a:rPr lang="en-US" altLang="zh-CN" dirty="0"/>
              <a:t>A</a:t>
            </a:r>
            <a:r>
              <a:rPr lang="zh-CN" altLang="en-US" dirty="0"/>
              <a:t>，</a:t>
            </a:r>
            <a:r>
              <a:rPr lang="en-US" altLang="zh-CN" dirty="0"/>
              <a:t>A</a:t>
            </a:r>
            <a:r>
              <a:rPr lang="zh-CN" altLang="en-US" dirty="0"/>
              <a:t>中被访问的的数据带到</a:t>
            </a:r>
            <a:r>
              <a:rPr lang="en-US" altLang="zh-CN" dirty="0"/>
              <a:t>Cache</a:t>
            </a:r>
            <a:r>
              <a:rPr lang="zh-CN" altLang="en-US" dirty="0"/>
              <a:t>中，其它数据仍在内存</a:t>
            </a:r>
            <a:endParaRPr lang="en-US" altLang="zh-CN" dirty="0"/>
          </a:p>
          <a:p>
            <a:r>
              <a:rPr lang="zh-CN" altLang="en-US" dirty="0"/>
              <a:t>非法</a:t>
            </a:r>
            <a:r>
              <a:rPr lang="en-US" altLang="zh-CN" dirty="0"/>
              <a:t>load</a:t>
            </a:r>
            <a:r>
              <a:rPr lang="zh-CN" altLang="en-US" dirty="0"/>
              <a:t>指令成为</a:t>
            </a:r>
            <a:r>
              <a:rPr lang="en-US" altLang="zh-CN" dirty="0"/>
              <a:t>ROB</a:t>
            </a:r>
            <a:r>
              <a:rPr lang="zh-CN" altLang="en-US" dirty="0"/>
              <a:t>头指令被提交，</a:t>
            </a:r>
            <a:r>
              <a:rPr lang="en-US" altLang="zh-CN" dirty="0"/>
              <a:t>load</a:t>
            </a:r>
            <a:r>
              <a:rPr lang="zh-CN" altLang="en-US" dirty="0"/>
              <a:t>指令及其后续指令被取消，但</a:t>
            </a:r>
            <a:r>
              <a:rPr lang="en-US" altLang="zh-CN" dirty="0"/>
              <a:t>A[x]</a:t>
            </a:r>
            <a:r>
              <a:rPr lang="zh-CN" altLang="en-US" dirty="0"/>
              <a:t>内容已经在</a:t>
            </a:r>
            <a:r>
              <a:rPr lang="en-US" altLang="zh-CN" dirty="0"/>
              <a:t>Cache</a:t>
            </a:r>
            <a:endParaRPr lang="en-US" altLang="zh-CN" dirty="0"/>
          </a:p>
          <a:p>
            <a:r>
              <a:rPr lang="zh-CN" altLang="en-US" dirty="0"/>
              <a:t>攻击者访问数组</a:t>
            </a:r>
            <a:r>
              <a:rPr lang="en-US" altLang="zh-CN" dirty="0"/>
              <a:t>A</a:t>
            </a:r>
            <a:r>
              <a:rPr lang="zh-CN" altLang="en-US" dirty="0"/>
              <a:t>的所有数据并判断其延迟，其中有一个数据在</a:t>
            </a:r>
            <a:r>
              <a:rPr lang="en-US" altLang="zh-CN" dirty="0"/>
              <a:t>Cache</a:t>
            </a:r>
            <a:r>
              <a:rPr lang="zh-CN" altLang="en-US" dirty="0"/>
              <a:t>中，延迟最短，假设数组</a:t>
            </a:r>
            <a:r>
              <a:rPr lang="en-US" altLang="zh-CN" dirty="0"/>
              <a:t>A</a:t>
            </a:r>
            <a:r>
              <a:rPr lang="zh-CN" altLang="en-US" dirty="0"/>
              <a:t>第</a:t>
            </a:r>
            <a:r>
              <a:rPr lang="en-US" altLang="zh-CN" dirty="0"/>
              <a:t>10</a:t>
            </a:r>
            <a:r>
              <a:rPr lang="zh-CN" altLang="en-US" dirty="0"/>
              <a:t>号元素访问延迟最短，则</a:t>
            </a:r>
            <a:r>
              <a:rPr lang="en-US" altLang="zh-CN" dirty="0"/>
              <a:t>X=10</a:t>
            </a:r>
            <a:endParaRPr lang="en-US" altLang="zh-CN" dirty="0"/>
          </a:p>
          <a:p>
            <a:pPr lvl="1"/>
            <a:r>
              <a:rPr lang="zh-CN" altLang="en-US" dirty="0"/>
              <a:t>侧信道攻击</a:t>
            </a:r>
            <a:endParaRPr lang="en-US" altLang="zh-CN" dirty="0"/>
          </a:p>
          <a:p>
            <a:r>
              <a:rPr lang="en-US" altLang="zh-CN" dirty="0"/>
              <a:t>Meltdown</a:t>
            </a:r>
            <a:r>
              <a:rPr lang="zh-CN" altLang="en-US" dirty="0"/>
              <a:t>攻击确实由乱序执行引起，但很容易规避</a:t>
            </a:r>
            <a:endParaRPr lang="en-US" altLang="zh-CN" dirty="0"/>
          </a:p>
          <a:p>
            <a:pPr lvl="1"/>
            <a:r>
              <a:rPr lang="en-US" altLang="zh-CN" dirty="0"/>
              <a:t>Load</a:t>
            </a:r>
            <a:r>
              <a:rPr lang="zh-CN" altLang="en-US" dirty="0"/>
              <a:t>操作执行阶段发生例外时，在</a:t>
            </a:r>
            <a:r>
              <a:rPr lang="en-US" altLang="zh-CN" dirty="0"/>
              <a:t>ROB</a:t>
            </a:r>
            <a:r>
              <a:rPr lang="zh-CN" altLang="en-US" dirty="0"/>
              <a:t>中置例外，但不要把返回值写入寄存器</a:t>
            </a:r>
            <a:endParaRPr lang="zh-CN" altLang="en-US" dirty="0"/>
          </a:p>
        </p:txBody>
      </p:sp>
      <p:sp>
        <p:nvSpPr>
          <p:cNvPr id="67587"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buSzTx/>
            </a:pPr>
            <a:fld id="{9A0DB2DC-4C9A-4742-B13C-FB6460FD3503}" type="slidenum">
              <a:rPr lang="en-US" altLang="zh-CN" sz="1400" dirty="0"/>
            </a:fld>
            <a:endParaRPr lang="en-US" altLang="zh-CN" sz="14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9" name="Rectangle 2"/>
          <p:cNvSpPr>
            <a:spLocks noGrp="1"/>
          </p:cNvSpPr>
          <p:nvPr>
            <p:ph type="title"/>
          </p:nvPr>
        </p:nvSpPr>
        <p:spPr>
          <a:xfrm>
            <a:off x="912813" y="296863"/>
            <a:ext cx="10361612" cy="1143000"/>
          </a:xfrm>
        </p:spPr>
        <p:txBody>
          <a:bodyPr vert="horz" wrap="square" lIns="91440" tIns="45720" rIns="91440" bIns="45720" anchor="ctr" anchorCtr="0"/>
          <a:p>
            <a:pPr eaLnBrk="1" hangingPunct="1"/>
            <a:r>
              <a:rPr lang="zh-CN" altLang="en-US" dirty="0"/>
              <a:t>动态流水线小结</a:t>
            </a:r>
            <a:endParaRPr lang="zh-CN" altLang="en-US" dirty="0"/>
          </a:p>
        </p:txBody>
      </p:sp>
      <p:sp>
        <p:nvSpPr>
          <p:cNvPr id="68610" name="Rectangle 3"/>
          <p:cNvSpPr>
            <a:spLocks noGrp="1"/>
          </p:cNvSpPr>
          <p:nvPr>
            <p:ph idx="1"/>
          </p:nvPr>
        </p:nvSpPr>
        <p:spPr>
          <a:xfrm>
            <a:off x="623888" y="1736725"/>
            <a:ext cx="10652125" cy="4359275"/>
          </a:xfrm>
        </p:spPr>
        <p:txBody>
          <a:bodyPr vert="horz" wrap="square" lIns="91440" tIns="45720" rIns="91440" bIns="45720" anchor="t" anchorCtr="0"/>
          <a:p>
            <a:pPr eaLnBrk="1" hangingPunct="1"/>
            <a:r>
              <a:rPr lang="zh-CN" altLang="en-US" dirty="0"/>
              <a:t>有序进入、乱序执行（允许超车）、有序结束</a:t>
            </a:r>
            <a:endParaRPr lang="zh-CN" altLang="en-US" dirty="0"/>
          </a:p>
          <a:p>
            <a:pPr eaLnBrk="1" hangingPunct="1"/>
            <a:r>
              <a:rPr lang="zh-CN" altLang="en-US" dirty="0"/>
              <a:t>主要数据结构</a:t>
            </a:r>
            <a:endParaRPr lang="zh-CN" altLang="en-US" dirty="0"/>
          </a:p>
          <a:p>
            <a:pPr lvl="1" eaLnBrk="1" hangingPunct="1"/>
            <a:r>
              <a:rPr lang="zh-CN" altLang="en-US" dirty="0"/>
              <a:t>保留站（发射队列）把有序变成乱序，</a:t>
            </a:r>
            <a:r>
              <a:rPr lang="zh-CN" altLang="en-US" dirty="0">
                <a:solidFill>
                  <a:schemeClr val="accent2"/>
                </a:solidFill>
              </a:rPr>
              <a:t>临时存指令</a:t>
            </a:r>
            <a:endParaRPr lang="zh-CN" altLang="en-US" dirty="0">
              <a:solidFill>
                <a:schemeClr val="accent2"/>
              </a:solidFill>
            </a:endParaRPr>
          </a:p>
          <a:p>
            <a:pPr lvl="1" eaLnBrk="1" hangingPunct="1"/>
            <a:r>
              <a:rPr lang="zh-CN" altLang="en-US" dirty="0"/>
              <a:t>重命名寄存器</a:t>
            </a:r>
            <a:r>
              <a:rPr lang="zh-CN" altLang="en-US" dirty="0">
                <a:sym typeface="+mn-ea"/>
              </a:rPr>
              <a:t>用于消除</a:t>
            </a:r>
            <a:r>
              <a:rPr lang="en-US" altLang="zh-CN" dirty="0">
                <a:sym typeface="+mn-ea"/>
              </a:rPr>
              <a:t>WAW</a:t>
            </a:r>
            <a:r>
              <a:rPr lang="zh-CN" altLang="en-US" dirty="0">
                <a:sym typeface="+mn-ea"/>
              </a:rPr>
              <a:t>和</a:t>
            </a:r>
            <a:r>
              <a:rPr lang="en-US" altLang="zh-CN" dirty="0">
                <a:sym typeface="+mn-ea"/>
              </a:rPr>
              <a:t>WAR</a:t>
            </a:r>
            <a:r>
              <a:rPr lang="zh-CN" altLang="en-US" dirty="0">
                <a:sym typeface="+mn-ea"/>
              </a:rPr>
              <a:t>相关，</a:t>
            </a:r>
            <a:r>
              <a:rPr lang="zh-CN" altLang="en-US" dirty="0"/>
              <a:t>保存未提交的临时结果，</a:t>
            </a:r>
            <a:r>
              <a:rPr lang="zh-CN" altLang="en-US" dirty="0">
                <a:solidFill>
                  <a:schemeClr val="accent2"/>
                </a:solidFill>
              </a:rPr>
              <a:t>临时存数据</a:t>
            </a:r>
            <a:endParaRPr lang="zh-CN" altLang="en-US" dirty="0">
              <a:solidFill>
                <a:schemeClr val="accent2"/>
              </a:solidFill>
            </a:endParaRPr>
          </a:p>
          <a:p>
            <a:pPr lvl="1" eaLnBrk="1" hangingPunct="1"/>
            <a:r>
              <a:rPr lang="en-US" altLang="zh-CN" dirty="0"/>
              <a:t>ROB</a:t>
            </a:r>
            <a:r>
              <a:rPr lang="zh-CN" altLang="en-US" dirty="0"/>
              <a:t>把乱序重新变成有序</a:t>
            </a:r>
            <a:endParaRPr lang="zh-CN" altLang="en-US" dirty="0"/>
          </a:p>
          <a:p>
            <a:pPr eaLnBrk="1" hangingPunct="1"/>
            <a:r>
              <a:rPr lang="zh-CN" altLang="en-US" dirty="0"/>
              <a:t>乱序的能力和有关队列大小紧密相关</a:t>
            </a:r>
            <a:endParaRPr lang="en-US" altLang="zh-CN" dirty="0"/>
          </a:p>
          <a:p>
            <a:pPr lvl="1" eaLnBrk="1" hangingPunct="1"/>
            <a:r>
              <a:rPr lang="zh-CN" altLang="en-US" dirty="0"/>
              <a:t>现代高性能</a:t>
            </a:r>
            <a:r>
              <a:rPr lang="en-US" altLang="zh-CN" dirty="0"/>
              <a:t>CPU</a:t>
            </a:r>
            <a:r>
              <a:rPr lang="zh-CN" altLang="en-US" dirty="0"/>
              <a:t>一般都有数百条指令在流水线中乱序执行</a:t>
            </a:r>
            <a:endParaRPr lang="zh-CN" altLang="en-US" dirty="0"/>
          </a:p>
        </p:txBody>
      </p:sp>
      <p:sp>
        <p:nvSpPr>
          <p:cNvPr id="68611"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buSzTx/>
            </a:pPr>
            <a:fld id="{9A0DB2DC-4C9A-4742-B13C-FB6460FD3503}" type="slidenum">
              <a:rPr lang="en-US" altLang="zh-CN" sz="1400" dirty="0"/>
            </a:fld>
            <a:endParaRPr lang="en-US" altLang="zh-CN" sz="14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3" name="Rectangle 2"/>
          <p:cNvSpPr>
            <a:spLocks noGrp="1"/>
          </p:cNvSpPr>
          <p:nvPr>
            <p:ph type="title"/>
          </p:nvPr>
        </p:nvSpPr>
        <p:spPr>
          <a:xfrm>
            <a:off x="914400" y="609600"/>
            <a:ext cx="10361613" cy="609600"/>
          </a:xfrm>
        </p:spPr>
        <p:txBody>
          <a:bodyPr vert="horz" wrap="square" lIns="91440" tIns="45720" rIns="91440" bIns="45720" anchor="ctr" anchorCtr="0"/>
          <a:p>
            <a:pPr eaLnBrk="1" hangingPunct="1"/>
            <a:r>
              <a:rPr lang="zh-CN" altLang="en-US" dirty="0"/>
              <a:t>作  业</a:t>
            </a:r>
            <a:endParaRPr lang="zh-CN" altLang="en-US" dirty="0"/>
          </a:p>
        </p:txBody>
      </p:sp>
      <p:sp>
        <p:nvSpPr>
          <p:cNvPr id="69634" name="Rectangle 3"/>
          <p:cNvSpPr>
            <a:spLocks noGrp="1"/>
          </p:cNvSpPr>
          <p:nvPr>
            <p:ph idx="1"/>
          </p:nvPr>
        </p:nvSpPr>
        <p:spPr>
          <a:xfrm>
            <a:off x="914400" y="1905000"/>
            <a:ext cx="10869613" cy="3962400"/>
          </a:xfrm>
        </p:spPr>
        <p:txBody>
          <a:bodyPr vert="horz" wrap="square" lIns="91440" tIns="45720" rIns="91440" bIns="45720" anchor="t" anchorCtr="0"/>
          <a:p>
            <a:pPr eaLnBrk="1" hangingPunct="1"/>
            <a:endParaRPr lang="zh-CN" altLang="zh-CN" dirty="0"/>
          </a:p>
        </p:txBody>
      </p:sp>
      <p:sp>
        <p:nvSpPr>
          <p:cNvPr id="69635"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buSzTx/>
            </a:pPr>
            <a:fld id="{9A0DB2DC-4C9A-4742-B13C-FB6460FD3503}" type="slidenum">
              <a:rPr lang="en-US" altLang="zh-CN" sz="1400" dirty="0"/>
            </a:fld>
            <a:endParaRPr lang="en-US" altLang="zh-CN" sz="1400" dirty="0"/>
          </a:p>
        </p:txBody>
      </p:sp>
    </p:spTree>
  </p:cSld>
  <p:clrMapOvr>
    <a:masterClrMapping/>
  </p:clrMapOvr>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Arial"/>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itchFamily="18" charset="0"/>
            <a:ea typeface="宋体" panose="02000500000000000000"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itchFamily="18" charset="0"/>
            <a:ea typeface="宋体" panose="02000500000000000000"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Arial"/>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otalTime>0</TotalTime>
  <Words>15130</Words>
  <Application>WPS 演示</Application>
  <PresentationFormat>自定义</PresentationFormat>
  <Paragraphs>2972</Paragraphs>
  <Slides>68</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68</vt:i4>
      </vt:variant>
    </vt:vector>
  </HeadingPairs>
  <TitlesOfParts>
    <vt:vector size="80" baseType="lpstr">
      <vt:lpstr>Arial</vt:lpstr>
      <vt:lpstr>宋体</vt:lpstr>
      <vt:lpstr>Wingdings</vt:lpstr>
      <vt:lpstr>Times New Roman</vt:lpstr>
      <vt:lpstr>Nimbus Roman No9 L</vt:lpstr>
      <vt:lpstr>黑体</vt:lpstr>
      <vt:lpstr>微软雅黑</vt:lpstr>
      <vt:lpstr>Arial Unicode MS</vt:lpstr>
      <vt:lpstr>Helvetica</vt:lpstr>
      <vt:lpstr>Quicksand Light</vt:lpstr>
      <vt:lpstr>MathJax_Vector</vt:lpstr>
      <vt:lpstr>默认设计模板</vt:lpstr>
      <vt:lpstr>PowerPoint 演示文稿</vt:lpstr>
      <vt:lpstr>PowerPoint 演示文稿</vt:lpstr>
      <vt:lpstr>动态流水线技术</vt:lpstr>
      <vt:lpstr>影响指令流水线的因素</vt:lpstr>
      <vt:lpstr>PowerPoint 演示文稿</vt:lpstr>
      <vt:lpstr>PowerPoint 演示文稿</vt:lpstr>
      <vt:lpstr>程序的相关性</vt:lpstr>
      <vt:lpstr>数据相关</vt:lpstr>
      <vt:lpstr>名字相关</vt:lpstr>
      <vt:lpstr>指令调度技术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软件调度与硬件调度</vt:lpstr>
      <vt:lpstr>动态调度技术</vt:lpstr>
      <vt:lpstr>PowerPoint 演示文稿</vt:lpstr>
      <vt:lpstr>动态调度思想</vt:lpstr>
      <vt:lpstr>PowerPoint 演示文稿</vt:lpstr>
      <vt:lpstr>PowerPoint 演示文稿</vt:lpstr>
      <vt:lpstr>PowerPoint 演示文稿</vt:lpstr>
      <vt:lpstr>PowerPoint 演示文稿</vt:lpstr>
      <vt:lpstr>Tomasulo算法</vt:lpstr>
      <vt:lpstr>PowerPoint 演示文稿</vt:lpstr>
      <vt:lpstr>PowerPoint 演示文稿</vt:lpstr>
      <vt:lpstr>Tomasulo算法的流水阶段</vt:lpstr>
      <vt:lpstr>例子</vt:lpstr>
      <vt:lpstr>例子</vt:lpstr>
      <vt:lpstr>例子</vt:lpstr>
      <vt:lpstr>例子</vt:lpstr>
      <vt:lpstr>例子</vt:lpstr>
      <vt:lpstr>例子</vt:lpstr>
      <vt:lpstr>例子</vt:lpstr>
      <vt:lpstr>例子</vt:lpstr>
      <vt:lpstr>例子</vt:lpstr>
      <vt:lpstr>Tomasulo算法小结</vt:lpstr>
      <vt:lpstr>动态流水线的例外处理</vt:lpstr>
      <vt:lpstr>PowerPoint 演示文稿</vt:lpstr>
      <vt:lpstr>PowerPoint 演示文稿</vt:lpstr>
      <vt:lpstr>PowerPoint 演示文稿</vt:lpstr>
      <vt:lpstr>PowerPoint 演示文稿</vt:lpstr>
      <vt:lpstr>PowerPoint 演示文稿</vt:lpstr>
      <vt:lpstr>没有ROB的流水线</vt:lpstr>
      <vt:lpstr>例子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假设ADD发生了溢出例外</vt:lpstr>
      <vt:lpstr>PowerPoint 演示文稿</vt:lpstr>
      <vt:lpstr>PowerPoint 演示文稿</vt:lpstr>
      <vt:lpstr>龙芯1号把ROB和指令队列合并</vt:lpstr>
      <vt:lpstr>PowerPoint 演示文稿</vt:lpstr>
      <vt:lpstr>PowerPoint 演示文稿</vt:lpstr>
      <vt:lpstr>Meltdown攻击的基本原理</vt:lpstr>
      <vt:lpstr>动态流水线小结</vt:lpstr>
      <vt:lpstr>作  业</vt:lpstr>
    </vt:vector>
  </TitlesOfParts>
  <Company>chpc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RISC处理器设计</dc:title>
  <dc:creator>Weiwu Hu</dc:creator>
  <cp:lastModifiedBy>loongson</cp:lastModifiedBy>
  <cp:revision>544</cp:revision>
  <dcterms:created xsi:type="dcterms:W3CDTF">2025-10-05T06:17:30Z</dcterms:created>
  <dcterms:modified xsi:type="dcterms:W3CDTF">2025-10-05T06:17:30Z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2052-11.1.0.11719</vt:lpwstr>
  </property>
</Properties>
</file>