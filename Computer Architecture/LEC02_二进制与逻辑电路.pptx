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7"/>
  </p:notesMasterIdLst>
  <p:handoutMasterIdLst>
    <p:handoutMasterId r:id="rId68"/>
  </p:handoutMasterIdLst>
  <p:sldIdLst>
    <p:sldId id="414" r:id="rId3"/>
    <p:sldId id="289" r:id="rId4"/>
    <p:sldId id="391" r:id="rId5"/>
    <p:sldId id="267" r:id="rId6"/>
    <p:sldId id="273" r:id="rId7"/>
    <p:sldId id="274" r:id="rId8"/>
    <p:sldId id="276" r:id="rId9"/>
    <p:sldId id="417" r:id="rId10"/>
    <p:sldId id="478" r:id="rId11"/>
    <p:sldId id="392" r:id="rId12"/>
    <p:sldId id="313" r:id="rId13"/>
    <p:sldId id="316" r:id="rId14"/>
    <p:sldId id="415" r:id="rId15"/>
    <p:sldId id="353" r:id="rId16"/>
    <p:sldId id="365" r:id="rId17"/>
    <p:sldId id="355" r:id="rId18"/>
    <p:sldId id="360" r:id="rId19"/>
    <p:sldId id="361" r:id="rId20"/>
    <p:sldId id="362" r:id="rId21"/>
    <p:sldId id="363" r:id="rId22"/>
    <p:sldId id="364" r:id="rId23"/>
    <p:sldId id="367" r:id="rId24"/>
    <p:sldId id="373" r:id="rId25"/>
    <p:sldId id="372" r:id="rId26"/>
    <p:sldId id="393" r:id="rId27"/>
    <p:sldId id="278" r:id="rId28"/>
    <p:sldId id="279" r:id="rId29"/>
    <p:sldId id="377" r:id="rId30"/>
    <p:sldId id="419" r:id="rId31"/>
    <p:sldId id="389" r:id="rId32"/>
    <p:sldId id="409" r:id="rId33"/>
    <p:sldId id="295" r:id="rId34"/>
    <p:sldId id="413" r:id="rId35"/>
    <p:sldId id="411" r:id="rId36"/>
    <p:sldId id="420" r:id="rId37"/>
    <p:sldId id="422" r:id="rId38"/>
    <p:sldId id="408" r:id="rId39"/>
    <p:sldId id="396" r:id="rId40"/>
    <p:sldId id="398" r:id="rId41"/>
    <p:sldId id="400" r:id="rId42"/>
    <p:sldId id="410" r:id="rId43"/>
    <p:sldId id="404" r:id="rId44"/>
    <p:sldId id="405" r:id="rId45"/>
    <p:sldId id="406" r:id="rId46"/>
    <p:sldId id="407" r:id="rId47"/>
    <p:sldId id="335" r:id="rId48"/>
    <p:sldId id="321" r:id="rId49"/>
    <p:sldId id="322" r:id="rId50"/>
    <p:sldId id="323" r:id="rId51"/>
    <p:sldId id="325" r:id="rId52"/>
    <p:sldId id="339" r:id="rId53"/>
    <p:sldId id="340" r:id="rId54"/>
    <p:sldId id="346" r:id="rId55"/>
    <p:sldId id="344" r:id="rId56"/>
    <p:sldId id="342" r:id="rId57"/>
    <p:sldId id="395" r:id="rId58"/>
    <p:sldId id="307" r:id="rId59"/>
    <p:sldId id="308" r:id="rId60"/>
    <p:sldId id="309" r:id="rId61"/>
    <p:sldId id="310" r:id="rId62"/>
    <p:sldId id="311" r:id="rId63"/>
    <p:sldId id="312" r:id="rId64"/>
    <p:sldId id="421" r:id="rId65"/>
    <p:sldId id="376" r:id="rId66"/>
  </p:sldIdLst>
  <p:sldSz cx="1219073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47"/>
  </p:normalViewPr>
  <p:slideViewPr>
    <p:cSldViewPr snapToGrid="0" showGuides="1">
      <p:cViewPr varScale="1">
        <p:scale>
          <a:sx n="63" d="100"/>
          <a:sy n="63" d="100"/>
        </p:scale>
        <p:origin x="-749" y="-77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5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5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notesMaster" Target="notesMasters/notesMaster1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2058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2058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1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211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7588" name="Rectangle 4"/>
          <p:cNvSpPr>
            <a:spLocks noRot="1" noTextEdi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11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anose="02000500000000000000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211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211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 eaLnBrk="1" hangingPunct="1">
              <a:buNone/>
            </a:pPr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anose="02000500000000000000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281" y="2130426"/>
            <a:ext cx="10361851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562" y="3886200"/>
            <a:ext cx="853328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60045" indent="-360045" eaLnBrk="0" fontAlgn="base" latinLnBrk="0" hangingPunct="0">
              <a:lnSpc>
                <a:spcPct val="150000"/>
              </a:lnSpc>
              <a:spcBef>
                <a:spcPts val="600"/>
              </a:spcBef>
              <a:defRPr sz="2000"/>
            </a:lvl1pPr>
            <a:lvl2pPr marL="720090" indent="-360045" eaLnBrk="0" fontAlgn="base" latinLnBrk="0" hangingPunct="0">
              <a:lnSpc>
                <a:spcPct val="150000"/>
              </a:lnSpc>
              <a:spcBef>
                <a:spcPts val="600"/>
              </a:spcBef>
              <a:defRPr sz="1600"/>
            </a:lvl2pPr>
            <a:lvl3pPr marL="1080135" indent="-360045" eaLnBrk="0" fontAlgn="base" latinLnBrk="0" hangingPunct="0">
              <a:lnSpc>
                <a:spcPct val="150000"/>
              </a:lnSpc>
              <a:spcBef>
                <a:spcPts val="600"/>
              </a:spcBef>
              <a:defRPr sz="1400"/>
            </a:lvl3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281" y="323850"/>
            <a:ext cx="10361851" cy="1143000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281" y="1809750"/>
            <a:ext cx="10361851" cy="4286250"/>
          </a:xfrm>
        </p:spPr>
        <p:txBody>
          <a:bodyPr vert="horz" wrap="square" lIns="91440" tIns="45720" rIns="91440" bIns="45720" numCol="1" anchor="t" anchorCtr="0" compatLnSpc="1"/>
          <a:lstStyle>
            <a:lvl1pPr>
              <a:defRPr sz="2400"/>
            </a:lvl1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24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/>
          </p:cNvSpPr>
          <p:nvPr>
            <p:ph type="title"/>
          </p:nvPr>
        </p:nvSpPr>
        <p:spPr>
          <a:xfrm>
            <a:off x="914400" y="323850"/>
            <a:ext cx="1036161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5363" name="Rectangle 3"/>
          <p:cNvSpPr>
            <a:spLocks noGrp="1"/>
          </p:cNvSpPr>
          <p:nvPr>
            <p:ph type="body"/>
          </p:nvPr>
        </p:nvSpPr>
        <p:spPr>
          <a:xfrm>
            <a:off x="914400" y="1809750"/>
            <a:ext cx="10361613" cy="42862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59213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kumimoji="1"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anose="02000500000000000000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6013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>
                <a:latin typeface="Times New Roman" pitchFamily="18" charset="0"/>
              </a:rPr>
            </a:fld>
            <a:endParaRPr lang="en-US" altLang="zh-CN" dirty="0">
              <a:latin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rgbClr val="FF0000"/>
          </a:solidFill>
          <a:latin typeface="Arial" panose="02080604020202020204" pitchFamily="34" charset="0"/>
          <a:ea typeface="黑体" panose="02000500000000000000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16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.png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png"/><Relationship Id="rId1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1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3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22.wmf"/><Relationship Id="rId1" Type="http://schemas.openxmlformats.org/officeDocument/2006/relationships/oleObject" Target="../embeddings/oleObject4.bin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oleObject" Target="../embeddings/oleObject6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wmf"/><Relationship Id="rId1" Type="http://schemas.openxmlformats.org/officeDocument/2006/relationships/oleObject" Target="../embeddings/oleObject7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8.wmf"/><Relationship Id="rId1" Type="http://schemas.openxmlformats.org/officeDocument/2006/relationships/oleObject" Target="../embeddings/oleObject8.bin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3.png"/><Relationship Id="rId1" Type="http://schemas.openxmlformats.org/officeDocument/2006/relationships/oleObject" Target="../embeddings/oleObject9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hyperlink" Target="&#24211;&#21333;&#20803;&#20030;&#20363;.lib.txt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oleObject" Target="../embeddings/oleObject12.bin"/><Relationship Id="rId4" Type="http://schemas.openxmlformats.org/officeDocument/2006/relationships/image" Target="../media/image37.png"/><Relationship Id="rId3" Type="http://schemas.openxmlformats.org/officeDocument/2006/relationships/oleObject" Target="../embeddings/oleObject11.bin"/><Relationship Id="rId2" Type="http://schemas.openxmlformats.org/officeDocument/2006/relationships/image" Target="../media/image36.png"/><Relationship Id="rId1" Type="http://schemas.openxmlformats.org/officeDocument/2006/relationships/oleObject" Target="../embeddings/oleObject10.bin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1.png"/><Relationship Id="rId1" Type="http://schemas.openxmlformats.org/officeDocument/2006/relationships/oleObject" Target="../embeddings/oleObject13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oleObject" Target="../embeddings/oleObject16.bin"/><Relationship Id="rId4" Type="http://schemas.openxmlformats.org/officeDocument/2006/relationships/image" Target="../media/image43.png"/><Relationship Id="rId3" Type="http://schemas.openxmlformats.org/officeDocument/2006/relationships/oleObject" Target="../embeddings/oleObject15.bin"/><Relationship Id="rId2" Type="http://schemas.openxmlformats.org/officeDocument/2006/relationships/image" Target="../media/image42.png"/><Relationship Id="rId1" Type="http://schemas.openxmlformats.org/officeDocument/2006/relationships/oleObject" Target="../embeddings/oleObject14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45.png"/><Relationship Id="rId1" Type="http://schemas.openxmlformats.org/officeDocument/2006/relationships/oleObject" Target="../embeddings/oleObject17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6387" name="Rectangle 2"/>
          <p:cNvSpPr>
            <a:spLocks noGrp="1"/>
          </p:cNvSpPr>
          <p:nvPr>
            <p:ph type="ctrTitle"/>
          </p:nvPr>
        </p:nvSpPr>
        <p:spPr>
          <a:xfrm>
            <a:off x="220663" y="914400"/>
            <a:ext cx="11723687" cy="1927225"/>
          </a:xfrm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4800" dirty="0"/>
              <a:t>计算机体系结构</a:t>
            </a:r>
            <a:endParaRPr lang="zh-CN" altLang="en-US" dirty="0"/>
          </a:p>
        </p:txBody>
      </p:sp>
      <p:sp>
        <p:nvSpPr>
          <p:cNvPr id="16388" name="Rectangle 3"/>
          <p:cNvSpPr>
            <a:spLocks noGrp="1"/>
          </p:cNvSpPr>
          <p:nvPr>
            <p:ph type="subTitle" idx="1"/>
          </p:nvPr>
        </p:nvSpPr>
        <p:spPr>
          <a:xfrm>
            <a:off x="2689225" y="3827463"/>
            <a:ext cx="6821488" cy="2124075"/>
          </a:xfrm>
        </p:spPr>
        <p:txBody>
          <a:bodyPr vert="horz" wrap="square" lIns="91440" tIns="45720" rIns="91440" bIns="45720" anchor="t" anchorCtr="0"/>
          <a:p>
            <a:pPr eaLnBrk="1" hangingPunct="1">
              <a:buClrTx/>
              <a:buSzTx/>
              <a:buFontTx/>
            </a:pPr>
            <a:endParaRPr lang="en-US" altLang="zh-CN" dirty="0">
              <a:latin typeface="+mn-lt"/>
              <a:ea typeface="+mn-ea"/>
              <a:cs typeface="+mn-cs"/>
            </a:endParaRPr>
          </a:p>
          <a:p>
            <a:pPr eaLnBrk="1" hangingPunct="1">
              <a:buClrTx/>
              <a:buSzTx/>
              <a:buFontTx/>
            </a:pPr>
            <a:r>
              <a:rPr lang="zh-CN" altLang="en-US" dirty="0">
                <a:latin typeface="+mn-lt"/>
                <a:ea typeface="+mn-ea"/>
                <a:cs typeface="+mn-cs"/>
              </a:rPr>
              <a:t>胡伟武、汪文祥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11" name="Rectangle 2050"/>
          <p:cNvSpPr/>
          <p:nvPr/>
        </p:nvSpPr>
        <p:spPr>
          <a:xfrm>
            <a:off x="863600" y="495300"/>
            <a:ext cx="1036161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二进制与逻辑电路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17412" name="Rectangle 2051"/>
          <p:cNvSpPr/>
          <p:nvPr/>
        </p:nvSpPr>
        <p:spPr>
          <a:xfrm>
            <a:off x="1414463" y="1936750"/>
            <a:ext cx="9929812" cy="41005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计算机中数的表示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CMOS</a:t>
            </a:r>
            <a:r>
              <a:rPr lang="zh-CN" altLang="en-US" sz="2000" b="1" dirty="0">
                <a:latin typeface="宋体" panose="02000500000000000000" pitchFamily="2" charset="-122"/>
              </a:rPr>
              <a:t>门电路及工艺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CMOS</a:t>
            </a:r>
            <a:r>
              <a:rPr lang="zh-CN" altLang="en-US" sz="2000" b="1" dirty="0">
                <a:latin typeface="宋体" panose="02000500000000000000" pitchFamily="2" charset="-122"/>
              </a:rPr>
              <a:t>组合逻辑与时序逻辑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CMOS</a:t>
            </a:r>
            <a:r>
              <a:rPr lang="zh-CN" altLang="en-US" sz="2000" b="1" dirty="0">
                <a:latin typeface="宋体" panose="02000500000000000000" pitchFamily="2" charset="-122"/>
              </a:rPr>
              <a:t>电路延迟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zh-CN" sz="2000" b="1" dirty="0">
                <a:latin typeface="宋体" panose="02000500000000000000" pitchFamily="2" charset="-122"/>
              </a:rPr>
              <a:t>从</a:t>
            </a:r>
            <a:r>
              <a:rPr lang="en-US" altLang="zh-CN" sz="2000" b="1" dirty="0">
                <a:latin typeface="宋体" panose="02000500000000000000" pitchFamily="2" charset="-122"/>
              </a:rPr>
              <a:t>Verilog</a:t>
            </a:r>
            <a:r>
              <a:rPr lang="zh-CN" altLang="en-US" sz="2000" b="1" dirty="0">
                <a:latin typeface="宋体" panose="02000500000000000000" pitchFamily="2" charset="-122"/>
              </a:rPr>
              <a:t>到</a:t>
            </a:r>
            <a:r>
              <a:rPr lang="en-US" altLang="zh-CN" sz="2000" b="1" dirty="0">
                <a:latin typeface="宋体" panose="02000500000000000000" pitchFamily="2" charset="-122"/>
              </a:rPr>
              <a:t>GDSII</a:t>
            </a:r>
            <a:endParaRPr lang="en-US" altLang="zh-CN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其它</a:t>
            </a:r>
            <a:r>
              <a:rPr lang="zh-CN" altLang="en-US" sz="2000" b="1" dirty="0">
                <a:latin typeface="Times New Roman" pitchFamily="18" charset="0"/>
              </a:rPr>
              <a:t>“</a:t>
            </a:r>
            <a:r>
              <a:rPr lang="en-US" altLang="zh-CN" sz="2000" b="1" dirty="0">
                <a:latin typeface="宋体" panose="02000500000000000000" pitchFamily="2" charset="-122"/>
              </a:rPr>
              <a:t>0</a:t>
            </a:r>
            <a:r>
              <a:rPr lang="en-US" altLang="zh-CN" sz="2000" b="1" dirty="0">
                <a:latin typeface="Times New Roman" pitchFamily="18" charset="0"/>
              </a:rPr>
              <a:t>”</a:t>
            </a:r>
            <a:r>
              <a:rPr lang="zh-CN" altLang="en-US" sz="2000" b="1" dirty="0">
                <a:latin typeface="宋体" panose="02000500000000000000" pitchFamily="2" charset="-122"/>
              </a:rPr>
              <a:t>和</a:t>
            </a:r>
            <a:r>
              <a:rPr lang="zh-CN" altLang="en-US" sz="2000" b="1" dirty="0">
                <a:latin typeface="Times New Roman" pitchFamily="18" charset="0"/>
              </a:rPr>
              <a:t>“</a:t>
            </a:r>
            <a:r>
              <a:rPr lang="en-US" altLang="zh-CN" sz="2000" b="1" dirty="0">
                <a:latin typeface="宋体" panose="02000500000000000000" pitchFamily="2" charset="-122"/>
              </a:rPr>
              <a:t>1</a:t>
            </a:r>
            <a:r>
              <a:rPr lang="en-US" altLang="zh-CN" sz="2000" b="1" dirty="0">
                <a:latin typeface="Times New Roman" pitchFamily="18" charset="0"/>
              </a:rPr>
              <a:t>”</a:t>
            </a:r>
            <a:r>
              <a:rPr lang="zh-CN" altLang="en-US" sz="2000" b="1" dirty="0">
                <a:latin typeface="宋体" panose="02000500000000000000" pitchFamily="2" charset="-122"/>
              </a:rPr>
              <a:t>表示方法</a:t>
            </a:r>
            <a:endParaRPr lang="zh-CN" altLang="en-US" sz="20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435" name="Rectangle 2"/>
          <p:cNvSpPr>
            <a:spLocks noGrp="1"/>
          </p:cNvSpPr>
          <p:nvPr>
            <p:ph type="title"/>
          </p:nvPr>
        </p:nvSpPr>
        <p:spPr>
          <a:xfrm>
            <a:off x="838200" y="276225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计算机中数的表示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914400" y="323850"/>
            <a:ext cx="10361613" cy="6858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计算机中数的表示</a:t>
            </a:r>
            <a:endParaRPr lang="zh-CN" altLang="en-US" sz="3600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304800" y="1752600"/>
            <a:ext cx="11479213" cy="4267200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二进制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最容易逻辑实现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自然界中的二值系统较多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“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1</a:t>
            </a:r>
            <a:r>
              <a:rPr lang="en-US" altLang="zh-CN" dirty="0">
                <a:latin typeface="+mn-lt"/>
                <a:ea typeface="+mn-ea"/>
                <a:cs typeface="+mn-cs"/>
              </a:rPr>
              <a:t>”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和</a:t>
            </a:r>
            <a:r>
              <a:rPr lang="zh-CN" altLang="en-US" dirty="0">
                <a:latin typeface="+mn-lt"/>
                <a:ea typeface="+mn-ea"/>
                <a:cs typeface="+mn-cs"/>
              </a:rPr>
              <a:t>“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en-US" altLang="zh-CN" dirty="0">
                <a:latin typeface="+mn-lt"/>
                <a:ea typeface="+mn-ea"/>
                <a:cs typeface="+mn-cs"/>
              </a:rPr>
              <a:t>”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的表示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用电压的高低表示，半导体工艺，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CMOS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用磁通量的有无表示，超导体工艺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用能级的高低表示，量子计算机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用基因序列表示，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A, G, C, T, DNA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计算机，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非二进制？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1613" cy="533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定点数的表示（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20484" name="Rectangle 3"/>
          <p:cNvSpPr>
            <a:spLocks noGrp="1"/>
          </p:cNvSpPr>
          <p:nvPr>
            <p:ph idx="1"/>
          </p:nvPr>
        </p:nvSpPr>
        <p:spPr>
          <a:xfrm>
            <a:off x="609600" y="1135063"/>
            <a:ext cx="11276013" cy="5573712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原码： 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A=a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  <a:cs typeface="+mn-cs"/>
              </a:rPr>
              <a:t>n-1 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  <a:cs typeface="+mn-cs"/>
              </a:rPr>
              <a:t>n-2</a:t>
            </a:r>
            <a:r>
              <a:rPr lang="en-US" altLang="zh-CN" dirty="0">
                <a:latin typeface="+mn-lt"/>
                <a:ea typeface="+mn-ea"/>
                <a:cs typeface="+mn-cs"/>
              </a:rPr>
              <a:t>…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... 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  <a:cs typeface="+mn-cs"/>
              </a:rPr>
              <a:t>1 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表示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最高位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n-1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为符号位，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表示正，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表示负。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其它位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n-2</a:t>
            </a:r>
            <a:r>
              <a:rPr lang="en-US" altLang="zh-CN" dirty="0">
                <a:latin typeface="+mn-lt"/>
                <a:ea typeface="+mn-ea"/>
              </a:rPr>
              <a:t>…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... 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1 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表示数值。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原码的问题：加减法效率低，两个</a:t>
            </a:r>
            <a:r>
              <a:rPr lang="zh-CN" altLang="en-US" dirty="0">
                <a:latin typeface="+mn-lt"/>
                <a:ea typeface="+mn-ea"/>
              </a:rPr>
              <a:t>“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</a:t>
            </a:r>
            <a:r>
              <a:rPr lang="en-US" altLang="zh-CN" dirty="0">
                <a:latin typeface="+mn-lt"/>
                <a:ea typeface="+mn-ea"/>
              </a:rPr>
              <a:t>”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补码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本质是取模运算，如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-2%12=10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最高位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n-1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为符号位，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表示正，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表示负。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A=a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n-1 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n-2</a:t>
            </a:r>
            <a:r>
              <a:rPr lang="en-US" altLang="zh-CN" dirty="0">
                <a:latin typeface="+mn-lt"/>
                <a:ea typeface="+mn-ea"/>
              </a:rPr>
              <a:t>…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... 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1 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(-2</a:t>
            </a:r>
            <a:r>
              <a:rPr lang="en-US" altLang="zh-CN" baseline="30000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n-1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 a</a:t>
            </a:r>
            <a:r>
              <a:rPr lang="en-US" altLang="zh-CN" baseline="-25000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n-1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 + a</a:t>
            </a:r>
            <a:r>
              <a:rPr lang="en-US" altLang="zh-CN" baseline="-25000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n-2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…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... a</a:t>
            </a:r>
            <a:r>
              <a:rPr lang="en-US" altLang="zh-CN" baseline="-25000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1 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0</a:t>
            </a:r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)</a:t>
            </a:r>
            <a:endParaRPr lang="en-US" altLang="zh-CN" dirty="0">
              <a:solidFill>
                <a:srgbClr val="FF0000"/>
              </a:solidFill>
              <a:latin typeface="宋体" panose="02000500000000000000" pitchFamily="2" charset="-122"/>
              <a:ea typeface="+mn-ea"/>
            </a:endParaRPr>
          </a:p>
          <a:p>
            <a:pPr marL="1079500" lvl="2" indent="-358775" eaLnBrk="1" hangingPunct="1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n-1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==0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时，补码和原码一样， 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表示正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n-2</a:t>
            </a:r>
            <a:r>
              <a:rPr lang="en-US" altLang="zh-CN" dirty="0">
                <a:latin typeface="+mn-lt"/>
                <a:ea typeface="+mn-ea"/>
              </a:rPr>
              <a:t>…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... 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1 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0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 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。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1079500" lvl="2" indent="-358775" eaLnBrk="1" hangingPunct="1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latin typeface="宋体" panose="02000500000000000000" pitchFamily="2" charset="-122"/>
                <a:ea typeface="+mn-ea"/>
              </a:rPr>
              <a:t>n-1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==1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时， 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A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表示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(-2</a:t>
            </a:r>
            <a:r>
              <a:rPr lang="en-US" altLang="zh-CN" baseline="30000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n-1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 + a</a:t>
            </a:r>
            <a:r>
              <a:rPr lang="en-US" altLang="zh-CN" baseline="-25000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n-2</a:t>
            </a:r>
            <a:r>
              <a:rPr lang="en-US" altLang="zh-CN" dirty="0">
                <a:solidFill>
                  <a:schemeClr val="accent2"/>
                </a:solidFill>
                <a:latin typeface="+mn-lt"/>
                <a:ea typeface="+mn-ea"/>
              </a:rPr>
              <a:t>…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... a</a:t>
            </a:r>
            <a:r>
              <a:rPr lang="en-US" altLang="zh-CN" baseline="-25000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1 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a</a:t>
            </a:r>
            <a:r>
              <a:rPr lang="en-US" altLang="zh-CN" baseline="-25000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0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) 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。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原码与补码的转换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最高位为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时，一样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最高位为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时，最高位不变，其余位</a:t>
            </a:r>
            <a:r>
              <a:rPr lang="zh-CN" altLang="en-US" dirty="0">
                <a:latin typeface="+mn-lt"/>
                <a:ea typeface="+mn-ea"/>
              </a:rPr>
              <a:t>“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按位取反加一</a:t>
            </a:r>
            <a:r>
              <a:rPr lang="zh-CN" altLang="en-US" dirty="0">
                <a:latin typeface="+mn-lt"/>
                <a:ea typeface="+mn-ea"/>
              </a:rPr>
              <a:t>”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。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8" name="Rectangle 1026"/>
          <p:cNvSpPr>
            <a:spLocks noGrp="1"/>
          </p:cNvSpPr>
          <p:nvPr>
            <p:ph type="title"/>
          </p:nvPr>
        </p:nvSpPr>
        <p:spPr>
          <a:xfrm>
            <a:off x="914400" y="323850"/>
            <a:ext cx="10361613" cy="6858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定点数的表示（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1029" name="Rectangle 1028"/>
          <p:cNvSpPr/>
          <p:nvPr/>
        </p:nvSpPr>
        <p:spPr>
          <a:xfrm>
            <a:off x="304800" y="1050925"/>
            <a:ext cx="11580813" cy="370681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补码运算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latin typeface="宋体" panose="02000500000000000000" pitchFamily="2" charset="-122"/>
              </a:rPr>
              <a:t>[A+B]</a:t>
            </a:r>
            <a:r>
              <a:rPr lang="zh-CN" altLang="en-US" sz="1600" b="1" baseline="-25000" dirty="0">
                <a:latin typeface="宋体" panose="02000500000000000000" pitchFamily="2" charset="-122"/>
              </a:rPr>
              <a:t>补</a:t>
            </a:r>
            <a:r>
              <a:rPr lang="en-US" altLang="zh-CN" sz="1600" b="1" dirty="0">
                <a:latin typeface="宋体" panose="02000500000000000000" pitchFamily="2" charset="-122"/>
              </a:rPr>
              <a:t>=[A]</a:t>
            </a:r>
            <a:r>
              <a:rPr lang="zh-CN" altLang="en-US" sz="1600" b="1" baseline="-25000" dirty="0">
                <a:latin typeface="宋体" panose="02000500000000000000" pitchFamily="2" charset="-122"/>
              </a:rPr>
              <a:t>补</a:t>
            </a:r>
            <a:r>
              <a:rPr lang="en-US" altLang="zh-CN" sz="1600" b="1" dirty="0">
                <a:latin typeface="宋体" panose="02000500000000000000" pitchFamily="2" charset="-122"/>
              </a:rPr>
              <a:t>+[B]</a:t>
            </a:r>
            <a:r>
              <a:rPr lang="zh-CN" altLang="en-US" sz="1600" b="1" baseline="-25000" dirty="0">
                <a:latin typeface="宋体" panose="02000500000000000000" pitchFamily="2" charset="-122"/>
              </a:rPr>
              <a:t>补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solidFill>
                  <a:srgbClr val="FF0000"/>
                </a:solidFill>
                <a:latin typeface="宋体" panose="02000500000000000000" pitchFamily="2" charset="-122"/>
              </a:rPr>
              <a:t>[A-B]</a:t>
            </a:r>
            <a:r>
              <a:rPr lang="zh-CN" altLang="en-US" sz="1600" b="1" baseline="-25000" dirty="0">
                <a:solidFill>
                  <a:srgbClr val="FF0000"/>
                </a:solidFill>
                <a:latin typeface="宋体" panose="02000500000000000000" pitchFamily="2" charset="-122"/>
              </a:rPr>
              <a:t>补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00500000000000000" pitchFamily="2" charset="-122"/>
              </a:rPr>
              <a:t>=[A]</a:t>
            </a:r>
            <a:r>
              <a:rPr lang="zh-CN" altLang="en-US" sz="1600" b="1" baseline="-25000" dirty="0">
                <a:solidFill>
                  <a:srgbClr val="FF0000"/>
                </a:solidFill>
                <a:latin typeface="宋体" panose="02000500000000000000" pitchFamily="2" charset="-122"/>
              </a:rPr>
              <a:t>补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00500000000000000" pitchFamily="2" charset="-122"/>
              </a:rPr>
              <a:t>+[-B]</a:t>
            </a:r>
            <a:r>
              <a:rPr lang="zh-CN" altLang="en-US" sz="1600" b="1" baseline="-25000" dirty="0">
                <a:solidFill>
                  <a:srgbClr val="FF0000"/>
                </a:solidFill>
                <a:latin typeface="宋体" panose="02000500000000000000" pitchFamily="2" charset="-122"/>
              </a:rPr>
              <a:t>补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00500000000000000" pitchFamily="2" charset="-122"/>
              </a:rPr>
              <a:t>，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00500000000000000" pitchFamily="2" charset="-122"/>
                <a:sym typeface="宋体" panose="02000500000000000000" pitchFamily="2" charset="-122"/>
              </a:rPr>
              <a:t>[-B]</a:t>
            </a:r>
            <a:r>
              <a:rPr lang="zh-CN" altLang="en-US" sz="1600" b="1" baseline="-25000" dirty="0">
                <a:solidFill>
                  <a:srgbClr val="FF0000"/>
                </a:solidFill>
                <a:latin typeface="宋体" panose="02000500000000000000" pitchFamily="2" charset="-122"/>
                <a:sym typeface="宋体" panose="02000500000000000000" pitchFamily="2" charset="-122"/>
              </a:rPr>
              <a:t>补</a:t>
            </a:r>
            <a:r>
              <a:rPr lang="en-US" altLang="zh-CN" sz="1600" b="1" dirty="0">
                <a:solidFill>
                  <a:srgbClr val="FF0000"/>
                </a:solidFill>
                <a:latin typeface="宋体" panose="02000500000000000000" pitchFamily="2" charset="-122"/>
                <a:sym typeface="宋体" panose="02000500000000000000" pitchFamily="2" charset="-122"/>
              </a:rPr>
              <a:t>=[B]</a:t>
            </a:r>
            <a:r>
              <a:rPr lang="zh-CN" altLang="en-US" sz="1600" b="1" baseline="-25000" dirty="0">
                <a:solidFill>
                  <a:srgbClr val="FF0000"/>
                </a:solidFill>
                <a:latin typeface="宋体" panose="02000500000000000000" pitchFamily="2" charset="-122"/>
                <a:sym typeface="宋体" panose="02000500000000000000" pitchFamily="2" charset="-122"/>
              </a:rPr>
              <a:t>补</a:t>
            </a:r>
            <a:r>
              <a:rPr lang="zh-CN" altLang="en-US" sz="1600" b="1" dirty="0">
                <a:solidFill>
                  <a:srgbClr val="FF0000"/>
                </a:solidFill>
                <a:latin typeface="宋体" panose="02000500000000000000" pitchFamily="2" charset="-122"/>
              </a:rPr>
              <a:t>按位取反加一</a:t>
            </a:r>
            <a:endParaRPr lang="zh-CN" altLang="en-US" sz="1600" b="1" dirty="0">
              <a:solidFill>
                <a:srgbClr val="FF0000"/>
              </a:solidFill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solidFill>
                  <a:schemeClr val="accent2"/>
                </a:solidFill>
                <a:latin typeface="宋体" panose="02000500000000000000" pitchFamily="2" charset="-122"/>
              </a:rPr>
              <a:t>思考：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00500000000000000" pitchFamily="2" charset="-122"/>
              </a:rPr>
              <a:t>[A</a:t>
            </a:r>
            <a:r>
              <a:rPr lang="zh-CN" altLang="en-US" sz="1600" b="1" dirty="0">
                <a:solidFill>
                  <a:schemeClr val="accent2"/>
                </a:solidFill>
                <a:latin typeface="宋体" panose="02000500000000000000" pitchFamily="2" charset="-122"/>
              </a:rPr>
              <a:t>×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00500000000000000" pitchFamily="2" charset="-122"/>
              </a:rPr>
              <a:t>B]</a:t>
            </a:r>
            <a:r>
              <a:rPr lang="zh-CN" altLang="en-US" sz="1600" b="1" baseline="-25000" dirty="0">
                <a:solidFill>
                  <a:schemeClr val="accent2"/>
                </a:solidFill>
                <a:latin typeface="宋体" panose="02000500000000000000" pitchFamily="2" charset="-122"/>
              </a:rPr>
              <a:t>补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00500000000000000" pitchFamily="2" charset="-122"/>
              </a:rPr>
              <a:t>=[A]</a:t>
            </a:r>
            <a:r>
              <a:rPr lang="zh-CN" altLang="en-US" sz="1600" b="1" baseline="-25000" dirty="0">
                <a:solidFill>
                  <a:schemeClr val="accent2"/>
                </a:solidFill>
                <a:latin typeface="宋体" panose="02000500000000000000" pitchFamily="2" charset="-122"/>
              </a:rPr>
              <a:t>补</a:t>
            </a:r>
            <a:r>
              <a:rPr lang="zh-CN" altLang="en-US" sz="1600" b="1" dirty="0">
                <a:solidFill>
                  <a:schemeClr val="accent2"/>
                </a:solidFill>
                <a:latin typeface="宋体" panose="02000500000000000000" pitchFamily="2" charset="-122"/>
              </a:rPr>
              <a:t>×</a:t>
            </a:r>
            <a:r>
              <a:rPr lang="en-US" altLang="zh-CN" sz="1600" b="1" dirty="0">
                <a:solidFill>
                  <a:schemeClr val="accent2"/>
                </a:solidFill>
                <a:latin typeface="宋体" panose="02000500000000000000" pitchFamily="2" charset="-122"/>
              </a:rPr>
              <a:t>[B]</a:t>
            </a:r>
            <a:r>
              <a:rPr lang="zh-CN" altLang="en-US" sz="1600" b="1" baseline="-25000" dirty="0">
                <a:solidFill>
                  <a:schemeClr val="accent2"/>
                </a:solidFill>
                <a:latin typeface="宋体" panose="02000500000000000000" pitchFamily="2" charset="-122"/>
              </a:rPr>
              <a:t>补</a:t>
            </a:r>
            <a:r>
              <a:rPr lang="zh-CN" altLang="en-US" sz="1600" b="1" dirty="0">
                <a:solidFill>
                  <a:schemeClr val="accent2"/>
                </a:solidFill>
                <a:latin typeface="宋体" panose="02000500000000000000" pitchFamily="2" charset="-122"/>
              </a:rPr>
              <a:t>？</a:t>
            </a:r>
            <a:endParaRPr lang="zh-CN" altLang="en-US" sz="1600" b="1" dirty="0">
              <a:solidFill>
                <a:schemeClr val="accent2"/>
              </a:solidFill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加法溢出判断：</a:t>
            </a:r>
            <a:r>
              <a:rPr lang="en-US" altLang="zh-CN" sz="1600" b="1" dirty="0">
                <a:latin typeface="宋体" panose="02000500000000000000" pitchFamily="2" charset="-122"/>
              </a:rPr>
              <a:t>A</a:t>
            </a:r>
            <a:r>
              <a:rPr lang="zh-CN" altLang="en-US" sz="1600" b="1" dirty="0">
                <a:latin typeface="宋体" panose="02000500000000000000" pitchFamily="2" charset="-122"/>
              </a:rPr>
              <a:t>和</a:t>
            </a:r>
            <a:r>
              <a:rPr lang="en-US" altLang="zh-CN" sz="1600" b="1" dirty="0">
                <a:latin typeface="宋体" panose="02000500000000000000" pitchFamily="2" charset="-122"/>
              </a:rPr>
              <a:t>B</a:t>
            </a:r>
            <a:r>
              <a:rPr lang="zh-CN" altLang="en-US" sz="1600" b="1" dirty="0">
                <a:latin typeface="宋体" panose="02000500000000000000" pitchFamily="2" charset="-122"/>
              </a:rPr>
              <a:t>的最高位一样，且结果的最高位与</a:t>
            </a:r>
            <a:r>
              <a:rPr lang="en-US" altLang="zh-CN" sz="1600" b="1" dirty="0">
                <a:latin typeface="宋体" panose="02000500000000000000" pitchFamily="2" charset="-122"/>
              </a:rPr>
              <a:t>A</a:t>
            </a:r>
            <a:r>
              <a:rPr lang="zh-CN" altLang="en-US" sz="1600" b="1" dirty="0">
                <a:latin typeface="宋体" panose="02000500000000000000" pitchFamily="2" charset="-122"/>
              </a:rPr>
              <a:t>和</a:t>
            </a:r>
            <a:r>
              <a:rPr lang="en-US" altLang="zh-CN" sz="1600" b="1" dirty="0">
                <a:latin typeface="宋体" panose="02000500000000000000" pitchFamily="2" charset="-122"/>
              </a:rPr>
              <a:t>B</a:t>
            </a:r>
            <a:r>
              <a:rPr lang="zh-CN" altLang="en-US" sz="1600" b="1" dirty="0">
                <a:latin typeface="宋体" panose="02000500000000000000" pitchFamily="2" charset="-122"/>
              </a:rPr>
              <a:t>的最高位不一样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latin typeface="+mn-lt"/>
                <a:ea typeface="+mn-lt"/>
              </a:rPr>
              <a:t>1001+0101(-7+5)=1110, 1100+0100(-4+4)=0000,</a:t>
            </a:r>
            <a:endParaRPr lang="en-US" altLang="zh-CN" sz="1600" b="1" dirty="0">
              <a:latin typeface="+mn-lt"/>
              <a:ea typeface="+mn-lt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latin typeface="+mn-lt"/>
                <a:ea typeface="+mn-lt"/>
              </a:rPr>
              <a:t>0011+0100(3+4)=0111, 0101+0100(5+4)=1001, </a:t>
            </a:r>
            <a:endParaRPr lang="en-US" altLang="zh-CN" sz="1600" b="1" dirty="0">
              <a:latin typeface="+mn-lt"/>
              <a:ea typeface="+mn-lt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latin typeface="+mn-lt"/>
                <a:ea typeface="+mn-lt"/>
              </a:rPr>
              <a:t>1100+1111(-4-1)=1011, 1001+1010(-7-6)=0011</a:t>
            </a:r>
            <a:endParaRPr lang="en-US" altLang="zh-CN" sz="1600" b="1" dirty="0">
              <a:latin typeface="+mn-lt"/>
              <a:ea typeface="+mn-lt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2088515" y="4942840"/>
          <a:ext cx="780097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3720"/>
                <a:gridCol w="2858770"/>
                <a:gridCol w="3118485"/>
              </a:tblGrid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ea typeface="+mn-lt"/>
                        </a:rPr>
                        <a:t>+18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ea typeface="+mn-lt"/>
                        </a:rPr>
                        <a:t>-18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ea typeface="+mn-lt"/>
                          <a:cs typeface="+mn-lt"/>
                        </a:rPr>
                        <a:t>8位原码</a:t>
                      </a:r>
                      <a:endParaRPr lang="en-US" altLang="en-US" sz="2000" b="0">
                        <a:ea typeface="+mn-lt"/>
                        <a:cs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0">
                          <a:ea typeface="+mn-lt"/>
                        </a:rPr>
                        <a:t>00010010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0">
                          <a:ea typeface="+mn-lt"/>
                        </a:rPr>
                        <a:t>10010010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ea typeface="+mn-lt"/>
                          <a:cs typeface="+mn-lt"/>
                        </a:rPr>
                        <a:t>8位补码</a:t>
                      </a:r>
                      <a:endParaRPr lang="en-US" altLang="en-US" sz="2000" b="0">
                        <a:ea typeface="+mn-lt"/>
                        <a:cs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0">
                          <a:ea typeface="+mn-lt"/>
                        </a:rPr>
                        <a:t>00010010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0">
                          <a:ea typeface="+mn-lt"/>
                        </a:rPr>
                        <a:t>11101110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ea typeface="+mn-lt"/>
                          <a:cs typeface="+mn-lt"/>
                        </a:rPr>
                        <a:t>16位原码</a:t>
                      </a:r>
                      <a:endParaRPr lang="en-US" altLang="en-US" sz="2000" b="0">
                        <a:ea typeface="+mn-lt"/>
                        <a:cs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0">
                          <a:ea typeface="+mn-lt"/>
                        </a:rPr>
                        <a:t>0000000000010010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0">
                          <a:ea typeface="+mn-lt"/>
                        </a:rPr>
                        <a:t>1000000000010010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0">
                          <a:ea typeface="+mn-lt"/>
                          <a:cs typeface="+mn-lt"/>
                        </a:rPr>
                        <a:t>16位补码</a:t>
                      </a:r>
                      <a:endParaRPr lang="en-US" altLang="en-US" sz="2000" b="0">
                        <a:ea typeface="+mn-lt"/>
                        <a:cs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0">
                          <a:ea typeface="+mn-lt"/>
                        </a:rPr>
                        <a:t>0000000000010010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r">
                        <a:buNone/>
                      </a:pPr>
                      <a:r>
                        <a:rPr lang="en-US" sz="2000" b="0">
                          <a:ea typeface="+mn-lt"/>
                        </a:rPr>
                        <a:t>1111111111101110</a:t>
                      </a:r>
                      <a:endParaRPr lang="en-US" altLang="en-US" sz="2000" b="0">
                        <a:ea typeface="+mn-lt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1613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浮点数的表示（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508000" y="990600"/>
            <a:ext cx="11276013" cy="4495800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定点数的不足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表示范围有限，太大或太小的数都不能表示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除法不精确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浮点数的表示：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IEEE 754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标准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三部分组成：符号位，阶码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(exponent)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，尾数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(fraction)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最高位是符号位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阶码的移码表示，底为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2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2</a:t>
            </a:r>
            <a:r>
              <a:rPr lang="en-US" altLang="zh-CN" baseline="30000" dirty="0">
                <a:latin typeface="宋体" panose="02000500000000000000" pitchFamily="2" charset="-122"/>
                <a:ea typeface="+mn-ea"/>
              </a:rPr>
              <a:t>(</a:t>
            </a:r>
            <a:r>
              <a:rPr lang="zh-CN" altLang="en-US" baseline="30000" dirty="0">
                <a:latin typeface="宋体" panose="02000500000000000000" pitchFamily="2" charset="-122"/>
                <a:ea typeface="+mn-ea"/>
              </a:rPr>
              <a:t>阶码</a:t>
            </a:r>
            <a:r>
              <a:rPr lang="en-US" altLang="zh-CN" baseline="30000" dirty="0">
                <a:latin typeface="宋体" panose="02000500000000000000" pitchFamily="2" charset="-122"/>
                <a:ea typeface="+mn-ea"/>
              </a:rPr>
              <a:t>-</a:t>
            </a:r>
            <a:r>
              <a:rPr lang="zh-CN" altLang="en-US" baseline="30000" dirty="0">
                <a:latin typeface="宋体" panose="02000500000000000000" pitchFamily="2" charset="-122"/>
                <a:ea typeface="+mn-ea"/>
              </a:rPr>
              <a:t>偏移值</a:t>
            </a:r>
            <a:r>
              <a:rPr lang="en-US" altLang="zh-CN" baseline="30000" dirty="0">
                <a:latin typeface="宋体" panose="02000500000000000000" pitchFamily="2" charset="-122"/>
                <a:ea typeface="+mn-ea"/>
              </a:rPr>
              <a:t>)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 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规格化表示，尾数的最高位总为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，因此可以不存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单精度和双精度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扩展的单双精度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grpSp>
        <p:nvGrpSpPr>
          <p:cNvPr id="21509" name="Group 10"/>
          <p:cNvGrpSpPr/>
          <p:nvPr/>
        </p:nvGrpSpPr>
        <p:grpSpPr>
          <a:xfrm>
            <a:off x="2133600" y="5951538"/>
            <a:ext cx="8431213" cy="635000"/>
            <a:chOff x="1056" y="3600"/>
            <a:chExt cx="3984" cy="400"/>
          </a:xfrm>
        </p:grpSpPr>
        <p:sp>
          <p:nvSpPr>
            <p:cNvPr id="21510" name="Text Box 4"/>
            <p:cNvSpPr txBox="1"/>
            <p:nvPr/>
          </p:nvSpPr>
          <p:spPr>
            <a:xfrm>
              <a:off x="1056" y="3600"/>
              <a:ext cx="96" cy="1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latin typeface="Arial" panose="02080604020202020204" pitchFamily="34" charset="0"/>
                </a:rPr>
                <a:t>S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21511" name="Text Box 5"/>
            <p:cNvSpPr txBox="1"/>
            <p:nvPr/>
          </p:nvSpPr>
          <p:spPr>
            <a:xfrm>
              <a:off x="1152" y="3600"/>
              <a:ext cx="576" cy="1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latin typeface="Arial" panose="02080604020202020204" pitchFamily="34" charset="0"/>
                </a:rPr>
                <a:t>Exp. (8)</a:t>
              </a:r>
              <a:endParaRPr lang="en-US" altLang="zh-CN" sz="1600" dirty="0">
                <a:latin typeface="Arial" panose="02080604020202020204" pitchFamily="34" charset="0"/>
              </a:endParaRPr>
            </a:p>
          </p:txBody>
        </p:sp>
        <p:sp>
          <p:nvSpPr>
            <p:cNvPr id="21512" name="Text Box 6"/>
            <p:cNvSpPr txBox="1"/>
            <p:nvPr/>
          </p:nvSpPr>
          <p:spPr>
            <a:xfrm>
              <a:off x="1728" y="3600"/>
              <a:ext cx="1392" cy="1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latin typeface="Arial" panose="02080604020202020204" pitchFamily="34" charset="0"/>
                </a:rPr>
                <a:t>Fraction(23)</a:t>
              </a:r>
              <a:endParaRPr lang="en-US" altLang="zh-CN" sz="1600" dirty="0">
                <a:latin typeface="Arial" panose="02080604020202020204" pitchFamily="34" charset="0"/>
              </a:endParaRPr>
            </a:p>
          </p:txBody>
        </p:sp>
        <p:sp>
          <p:nvSpPr>
            <p:cNvPr id="21513" name="Text Box 7"/>
            <p:cNvSpPr txBox="1"/>
            <p:nvPr/>
          </p:nvSpPr>
          <p:spPr>
            <a:xfrm>
              <a:off x="1056" y="3840"/>
              <a:ext cx="96" cy="1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latin typeface="Arial" panose="02080604020202020204" pitchFamily="34" charset="0"/>
                </a:rPr>
                <a:t>S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21514" name="Text Box 8"/>
            <p:cNvSpPr txBox="1"/>
            <p:nvPr/>
          </p:nvSpPr>
          <p:spPr>
            <a:xfrm>
              <a:off x="1152" y="3840"/>
              <a:ext cx="768" cy="1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latin typeface="Arial" panose="02080604020202020204" pitchFamily="34" charset="0"/>
                </a:rPr>
                <a:t>Exp. (11)</a:t>
              </a:r>
              <a:endParaRPr lang="en-US" altLang="zh-CN" sz="1600" dirty="0">
                <a:latin typeface="Arial" panose="02080604020202020204" pitchFamily="34" charset="0"/>
              </a:endParaRPr>
            </a:p>
          </p:txBody>
        </p:sp>
        <p:sp>
          <p:nvSpPr>
            <p:cNvPr id="21515" name="Text Box 9"/>
            <p:cNvSpPr txBox="1"/>
            <p:nvPr/>
          </p:nvSpPr>
          <p:spPr>
            <a:xfrm>
              <a:off x="1920" y="3840"/>
              <a:ext cx="3120" cy="16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>
              <a:spAutoFit/>
            </a:bodyPr>
            <a:p>
              <a:pPr algn="ctr">
                <a:spcBef>
                  <a:spcPct val="50000"/>
                </a:spcBef>
              </a:pPr>
              <a:r>
                <a:rPr lang="en-US" altLang="zh-CN" sz="1600" dirty="0">
                  <a:latin typeface="Arial" panose="02080604020202020204" pitchFamily="34" charset="0"/>
                </a:rPr>
                <a:t>Fraction(52)</a:t>
              </a:r>
              <a:endParaRPr lang="en-US" altLang="zh-CN" sz="1600" dirty="0">
                <a:latin typeface="Arial" panose="0208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52" name="Rectangle 2"/>
          <p:cNvSpPr>
            <a:spLocks noGrp="1"/>
          </p:cNvSpPr>
          <p:nvPr>
            <p:ph type="title"/>
          </p:nvPr>
        </p:nvSpPr>
        <p:spPr>
          <a:xfrm>
            <a:off x="812800" y="304800"/>
            <a:ext cx="10361613" cy="533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浮点数的表示（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zh-CN" altLang="en-US" dirty="0"/>
          </a:p>
        </p:txBody>
      </p:sp>
      <p:sp>
        <p:nvSpPr>
          <p:cNvPr id="2053" name="Rectangle 3"/>
          <p:cNvSpPr>
            <a:spLocks noGrp="1"/>
          </p:cNvSpPr>
          <p:nvPr>
            <p:ph idx="1"/>
          </p:nvPr>
        </p:nvSpPr>
        <p:spPr>
          <a:xfrm>
            <a:off x="914400" y="1320800"/>
            <a:ext cx="10361613" cy="457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IEEE 754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浮点格式参数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440180" y="2175510"/>
          <a:ext cx="8058150" cy="3541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1630"/>
                <a:gridCol w="1611630"/>
                <a:gridCol w="1611630"/>
                <a:gridCol w="1611630"/>
                <a:gridCol w="1611630"/>
              </a:tblGrid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参数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单精度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扩展单精度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双精度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扩展双精度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字长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32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&gt;=43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64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&gt;=79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阶码位数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8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&gt;=11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&gt;=15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阶码偏移量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127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1023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最大阶码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127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&gt;=1023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1023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&gt;=16383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最小阶码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-126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&lt;=-1022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-1022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&lt;=-16382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表示范围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10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-38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, 10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+38</a:t>
                      </a:r>
                      <a:endParaRPr lang="en-US" altLang="en-US" sz="1600" b="1" baseline="30000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10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-308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, 10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+308</a:t>
                      </a:r>
                      <a:endParaRPr lang="en-US" altLang="en-US" sz="1600" b="1" baseline="30000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尾数位数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23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&gt;=31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52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&gt;=63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阶码个数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254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2046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尾数个数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23</a:t>
                      </a:r>
                      <a:endParaRPr lang="en-US" altLang="en-US" sz="1600" b="1" baseline="30000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52</a:t>
                      </a:r>
                      <a:endParaRPr lang="en-US" altLang="en-US" sz="1600" b="1" baseline="30000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2194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值的个数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1.98*2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31</a:t>
                      </a:r>
                      <a:endParaRPr lang="en-US" altLang="en-US" sz="1600" b="1" baseline="30000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1.99*2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63</a:t>
                      </a:r>
                      <a:endParaRPr lang="en-US" altLang="en-US" sz="1600" b="1" baseline="30000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未定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68580" marR="6858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0"/>
            <a:ext cx="10361930" cy="824865"/>
          </a:xfrm>
        </p:spPr>
        <p:txBody>
          <a:bodyPr/>
          <a:p>
            <a:r>
              <a:rPr lang="zh-CN" altLang="en-US" dirty="0">
                <a:latin typeface="Arial" panose="02080604020202020204" pitchFamily="34" charset="0"/>
                <a:ea typeface="黑体" panose="02000500000000000000" pitchFamily="49" charset="-122"/>
                <a:sym typeface="+mn-ea"/>
              </a:rPr>
              <a:t>浮点数的表示（</a:t>
            </a:r>
            <a:r>
              <a:rPr lang="en-US" altLang="zh-CN" dirty="0">
                <a:latin typeface="Arial" panose="02080604020202020204" pitchFamily="34" charset="0"/>
                <a:ea typeface="黑体" panose="02000500000000000000" pitchFamily="49" charset="-122"/>
                <a:sym typeface="+mn-ea"/>
              </a:rPr>
              <a:t>3</a:t>
            </a:r>
            <a:r>
              <a:rPr lang="zh-CN" altLang="en-US" dirty="0">
                <a:latin typeface="Arial" panose="02080604020202020204" pitchFamily="34" charset="0"/>
                <a:ea typeface="黑体" panose="02000500000000000000" pitchFamily="49" charset="-122"/>
                <a:sym typeface="+mn-ea"/>
              </a:rPr>
              <a:t>）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994410" y="1341120"/>
          <a:ext cx="9956800" cy="417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2440"/>
                <a:gridCol w="1026795"/>
                <a:gridCol w="1026795"/>
                <a:gridCol w="1026795"/>
                <a:gridCol w="1026795"/>
                <a:gridCol w="1026795"/>
                <a:gridCol w="1026795"/>
                <a:gridCol w="1026795"/>
                <a:gridCol w="1026795"/>
              </a:tblGrid>
              <a:tr h="347980"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latin typeface="宋体" panose="02000500000000000000" pitchFamily="2" charset="-122"/>
                        </a:rPr>
                        <a:t> </a:t>
                      </a:r>
                      <a:endParaRPr lang="en-US" altLang="zh-CN" sz="1600" b="1">
                        <a:solidFill>
                          <a:schemeClr val="tx1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单精度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gridSpan="4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双精度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 vMerge="1">
                  <a:tcPr marL="0" marR="0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符号位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阶码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尾数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值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符号位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阶码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尾数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值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正无限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255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</a:rPr>
                        <a:t>+∞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2047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Symbol" charset="0"/>
                        </a:rPr>
                        <a:t>¥</a:t>
                      </a:r>
                      <a:endParaRPr lang="en-US" altLang="en-US" sz="1600" b="1">
                        <a:latin typeface="Symbol" charset="0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负无限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255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</a:t>
                      </a:r>
                      <a:r>
                        <a:rPr lang="en-US" sz="1600" b="1">
                          <a:latin typeface="宋体" panose="02000500000000000000" pitchFamily="2" charset="-122"/>
                          <a:ea typeface="宋体" panose="02000500000000000000" pitchFamily="2" charset="-122"/>
                          <a:sym typeface="+mn-ea"/>
                        </a:rPr>
                        <a:t>∞</a:t>
                      </a:r>
                      <a:endParaRPr lang="en-US" altLang="en-US" sz="1600" b="1">
                        <a:latin typeface="宋体" panose="02000500000000000000" pitchFamily="2" charset="-122"/>
                        <a:ea typeface="宋体" panose="02000500000000000000" pitchFamily="2" charset="-122"/>
                        <a:sym typeface="+mn-ea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2047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</a:t>
                      </a:r>
                      <a:r>
                        <a:rPr lang="en-US" sz="1600" b="1">
                          <a:latin typeface="Symbol" charset="0"/>
                        </a:rPr>
                        <a:t>¥</a:t>
                      </a:r>
                      <a:endParaRPr lang="en-US" altLang="en-US" sz="1600" b="1">
                        <a:latin typeface="Symbol" charset="0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Quiet NaN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0或1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255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高位=0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NaN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0或1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2047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高位=0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NaN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Signaling NaN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0或1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255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高位=1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NaN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0或1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2047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高位=1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NaN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正规格化非0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0&lt;e&lt;255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f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e-127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(1.f)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0&lt;e&lt;2047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f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e-1023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(1.f)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负规格化非0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0&lt;e&lt;255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f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e-127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(1.f)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0&lt;e&lt;2047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f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e-1023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(1.f)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正非规格化非0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f!=0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e-126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(0.f)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f!=0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e-1022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(0.f)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负非规格化非0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f!=0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e-126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(0.f)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f!=0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-2</a:t>
                      </a:r>
                      <a:r>
                        <a:rPr lang="en-US" sz="1600" b="1" baseline="30000">
                          <a:latin typeface="宋体" panose="02000500000000000000" pitchFamily="2" charset="-122"/>
                        </a:rPr>
                        <a:t>e-1022</a:t>
                      </a:r>
                      <a:r>
                        <a:rPr lang="en-US" sz="1600" b="1">
                          <a:latin typeface="宋体" panose="02000500000000000000" pitchFamily="2" charset="-122"/>
                        </a:rPr>
                        <a:t>(0.f)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正0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+0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479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负0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solidFill>
                            <a:srgbClr val="FF0000"/>
                          </a:solidFill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solidFill>
                          <a:srgbClr val="FF0000"/>
                        </a:solidFill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1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00500000000000000" pitchFamily="2" charset="-122"/>
                        </a:rPr>
                        <a:t>-0</a:t>
                      </a:r>
                      <a:endParaRPr lang="en-US" altLang="en-US" sz="1600" b="1">
                        <a:latin typeface="宋体" panose="02000500000000000000" pitchFamily="2" charset="-122"/>
                      </a:endParaRPr>
                    </a:p>
                  </a:txBody>
                  <a:tcPr marL="36195" marR="36195" marT="0" marB="0" vert="horz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900430" y="5547995"/>
            <a:ext cx="8919210" cy="906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 algn="l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</a:pPr>
            <a:r>
              <a:rPr lang="en-US" altLang="zh-CN" sz="1600" b="1" dirty="0">
                <a:latin typeface="宋体" panose="02000500000000000000" pitchFamily="2" charset="-122"/>
              </a:rPr>
              <a:t>把Singaling NaN 当作操作数引起例外，把Quiet NaN当作操作数结果也为Quiet NaN。</a:t>
            </a:r>
            <a:endParaRPr lang="en-US" altLang="zh-CN" sz="1600" b="1" dirty="0">
              <a:latin typeface="宋体" panose="02000500000000000000" pitchFamily="2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600"/>
              </a:spcBef>
              <a:buClrTx/>
              <a:buSzTx/>
              <a:buFontTx/>
              <a:buChar char="•"/>
            </a:pPr>
            <a:r>
              <a:rPr lang="en-US" altLang="zh-CN" sz="1600" b="1" dirty="0">
                <a:latin typeface="宋体" panose="02000500000000000000" pitchFamily="2" charset="-122"/>
              </a:rPr>
              <a:t>非规格化数用于阶码下溢的情况，填补最小数和0之间的“空隙”。</a:t>
            </a:r>
            <a:endParaRPr lang="en-US" altLang="zh-CN" sz="16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2531" name="Rectangle 2"/>
          <p:cNvSpPr>
            <a:spLocks noGrp="1"/>
          </p:cNvSpPr>
          <p:nvPr>
            <p:ph type="title"/>
          </p:nvPr>
        </p:nvSpPr>
        <p:spPr>
          <a:xfrm>
            <a:off x="838200" y="276225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CMOS</a:t>
            </a:r>
            <a:r>
              <a:rPr lang="zh-CN" altLang="en-US" sz="4000" dirty="0"/>
              <a:t>电路及工艺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0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101" name="Rectangle 2050"/>
          <p:cNvSpPr/>
          <p:nvPr/>
        </p:nvSpPr>
        <p:spPr>
          <a:xfrm>
            <a:off x="914400" y="609600"/>
            <a:ext cx="10361613" cy="685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CMOS</a:t>
            </a:r>
            <a:r>
              <a:rPr lang="zh-CN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电路---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P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管与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</a:t>
            </a:r>
            <a:r>
              <a:rPr lang="zh-CN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管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4102" name="Rectangle 2051"/>
          <p:cNvSpPr/>
          <p:nvPr/>
        </p:nvSpPr>
        <p:spPr>
          <a:xfrm>
            <a:off x="203200" y="1524000"/>
            <a:ext cx="11682413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CMOS: Complementary Metal Oxide Semiconductor</a:t>
            </a:r>
            <a:endParaRPr lang="en-US" altLang="zh-CN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latin typeface="宋体" panose="02000500000000000000" pitchFamily="2" charset="-122"/>
              </a:rPr>
              <a:t>NMOS: N-type Metal Oxide Semiconductor</a:t>
            </a:r>
            <a:endParaRPr lang="en-US" altLang="zh-CN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latin typeface="宋体" panose="02000500000000000000" pitchFamily="2" charset="-122"/>
              </a:rPr>
              <a:t>PMOS: P-type Metal Oxide Semiconductor</a:t>
            </a:r>
            <a:endParaRPr lang="en-US" altLang="zh-CN" sz="16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NMOS</a:t>
            </a:r>
            <a:r>
              <a:rPr lang="zh-CN" altLang="zh-CN" sz="2000" b="1" dirty="0">
                <a:latin typeface="宋体" panose="02000500000000000000" pitchFamily="2" charset="-122"/>
              </a:rPr>
              <a:t>管</a:t>
            </a:r>
            <a:endParaRPr lang="zh-CN" altLang="zh-CN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zh-CN" sz="1600" b="1" dirty="0">
                <a:latin typeface="宋体" panose="02000500000000000000" pitchFamily="2" charset="-122"/>
              </a:rPr>
              <a:t>门电压为高时导通</a:t>
            </a:r>
            <a:endParaRPr lang="zh-CN" altLang="zh-CN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zh-CN" sz="1600" b="1" dirty="0">
                <a:latin typeface="宋体" panose="02000500000000000000" pitchFamily="2" charset="-122"/>
              </a:rPr>
              <a:t>门电压为低时关闭</a:t>
            </a:r>
            <a:endParaRPr lang="zh-CN" altLang="zh-CN" sz="16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PMOS</a:t>
            </a:r>
            <a:r>
              <a:rPr lang="zh-CN" altLang="zh-CN" sz="2000" b="1" dirty="0">
                <a:latin typeface="宋体" panose="02000500000000000000" pitchFamily="2" charset="-122"/>
              </a:rPr>
              <a:t>管</a:t>
            </a:r>
            <a:endParaRPr lang="zh-CN" altLang="zh-CN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zh-CN" sz="1600" b="1" dirty="0">
                <a:latin typeface="宋体" panose="02000500000000000000" pitchFamily="2" charset="-122"/>
              </a:rPr>
              <a:t>门电压为高时关闭</a:t>
            </a:r>
            <a:endParaRPr lang="zh-CN" altLang="zh-CN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zh-CN" sz="1600" b="1" dirty="0">
                <a:latin typeface="宋体" panose="02000500000000000000" pitchFamily="2" charset="-122"/>
              </a:rPr>
              <a:t>门电压为低时导通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endParaRPr lang="en-US" altLang="zh-CN" sz="1800" b="1" dirty="0">
              <a:latin typeface="宋体" panose="02000500000000000000" pitchFamily="2" charset="-122"/>
            </a:endParaRPr>
          </a:p>
        </p:txBody>
      </p:sp>
      <p:graphicFrame>
        <p:nvGraphicFramePr>
          <p:cNvPr id="4098" name="Object 1041"/>
          <p:cNvGraphicFramePr/>
          <p:nvPr/>
        </p:nvGraphicFramePr>
        <p:xfrm>
          <a:off x="9244013" y="4724400"/>
          <a:ext cx="20828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562100" imgH="1714500" progId="Paint.Picture">
                  <p:embed/>
                </p:oleObj>
              </mc:Choice>
              <mc:Fallback>
                <p:oleObj name="" r:id="rId1" imgW="1562100" imgH="1714500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244013" y="4724400"/>
                        <a:ext cx="2082800" cy="17145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042"/>
          <p:cNvGraphicFramePr/>
          <p:nvPr/>
        </p:nvGraphicFramePr>
        <p:xfrm>
          <a:off x="9040813" y="2971800"/>
          <a:ext cx="2146300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3" imgW="1609725" imgH="1466850" progId="Paint.Picture">
                  <p:embed/>
                </p:oleObj>
              </mc:Choice>
              <mc:Fallback>
                <p:oleObj name="" r:id="rId3" imgW="1609725" imgH="1466850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040813" y="2971800"/>
                        <a:ext cx="2146300" cy="1466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3555" name="Rectangle 1027"/>
          <p:cNvSpPr/>
          <p:nvPr/>
        </p:nvSpPr>
        <p:spPr>
          <a:xfrm>
            <a:off x="914400" y="381000"/>
            <a:ext cx="10361613" cy="838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CMOS</a:t>
            </a:r>
            <a:r>
              <a:rPr lang="zh-CN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电路----反相器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23556" name="Picture 10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813" y="2128838"/>
            <a:ext cx="10910887" cy="4048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1495425"/>
            <a:ext cx="11504613" cy="3867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5603" name="Rectangle 2"/>
          <p:cNvSpPr/>
          <p:nvPr/>
        </p:nvSpPr>
        <p:spPr>
          <a:xfrm>
            <a:off x="623888" y="549275"/>
            <a:ext cx="10971212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沟道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晶体管的示意图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25604" name="Picture 3" descr="mosfet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0675" y="2193925"/>
            <a:ext cx="5035550" cy="3922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5605" name="Rectangle 5"/>
          <p:cNvSpPr/>
          <p:nvPr/>
        </p:nvSpPr>
        <p:spPr>
          <a:xfrm>
            <a:off x="203200" y="1800225"/>
            <a:ext cx="6323013" cy="46005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栅极不加电时，源漏之间是一对</a:t>
            </a:r>
            <a:r>
              <a:rPr lang="en-US" altLang="zh-CN" sz="2000" b="1" dirty="0">
                <a:latin typeface="宋体" panose="02000500000000000000" pitchFamily="2" charset="-122"/>
              </a:rPr>
              <a:t>PN</a:t>
            </a:r>
            <a:r>
              <a:rPr lang="zh-CN" altLang="en-US" sz="2000" b="1" dirty="0">
                <a:latin typeface="宋体" panose="02000500000000000000" pitchFamily="2" charset="-122"/>
              </a:rPr>
              <a:t>结，不导通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栅极加电后，吸引电子到栅氧化层下面，形成导电的沟道。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buChar char="•"/>
            </a:pPr>
            <a:r>
              <a:rPr lang="zh-CN" altLang="en-US" sz="1800" b="1" dirty="0">
                <a:latin typeface="宋体" panose="02000500000000000000" pitchFamily="2" charset="-122"/>
              </a:rPr>
              <a:t>附近形成耗尽区</a:t>
            </a:r>
            <a:endParaRPr lang="zh-CN" altLang="en-US" sz="18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26627" name="Picture 2" descr="iv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638" y="3141663"/>
            <a:ext cx="5665787" cy="3084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628" name="Rectangle 3"/>
          <p:cNvSpPr/>
          <p:nvPr/>
        </p:nvSpPr>
        <p:spPr>
          <a:xfrm>
            <a:off x="1116013" y="569913"/>
            <a:ext cx="4221162" cy="18716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晶体管</a:t>
            </a:r>
            <a:b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</a:b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的工作状态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grpSp>
        <p:nvGrpSpPr>
          <p:cNvPr id="26629" name="Group 6"/>
          <p:cNvGrpSpPr/>
          <p:nvPr/>
        </p:nvGrpSpPr>
        <p:grpSpPr>
          <a:xfrm>
            <a:off x="6918325" y="1052513"/>
            <a:ext cx="4071938" cy="5048250"/>
            <a:chOff x="3269" y="663"/>
            <a:chExt cx="1924" cy="3180"/>
          </a:xfrm>
        </p:grpSpPr>
        <p:pic>
          <p:nvPicPr>
            <p:cNvPr id="26630" name="Picture 4" descr="states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69" y="663"/>
              <a:ext cx="1924" cy="3180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6631" name="Text Box 5"/>
            <p:cNvSpPr txBox="1"/>
            <p:nvPr/>
          </p:nvSpPr>
          <p:spPr>
            <a:xfrm>
              <a:off x="4795" y="2890"/>
              <a:ext cx="79" cy="136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lIns="0" tIns="0" rIns="0" bIns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400" b="1" dirty="0">
                  <a:latin typeface="Times New Roman" pitchFamily="18" charset="0"/>
                </a:rPr>
                <a:t>&gt;</a:t>
              </a:r>
              <a:endParaRPr lang="en-US" altLang="zh-CN" sz="1400" b="1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651" name="Rectangle 2"/>
          <p:cNvSpPr/>
          <p:nvPr/>
        </p:nvSpPr>
        <p:spPr>
          <a:xfrm>
            <a:off x="646113" y="0"/>
            <a:ext cx="11088687" cy="96837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华文中宋" pitchFamily="2" charset="-122"/>
                <a:ea typeface="华文中宋" pitchFamily="2" charset="-122"/>
              </a:rPr>
              <a:t>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基本工艺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---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光刻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2765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185863"/>
            <a:ext cx="10641013" cy="5514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5" name="Rectangle 2"/>
          <p:cNvSpPr/>
          <p:nvPr/>
        </p:nvSpPr>
        <p:spPr>
          <a:xfrm>
            <a:off x="814388" y="836613"/>
            <a:ext cx="9983787" cy="1512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P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衬底 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nWell  CMOS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工艺（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28676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0" y="3314700"/>
            <a:ext cx="938213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8677" name="Picture 4" descr="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88" y="2708275"/>
            <a:ext cx="8759825" cy="3038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9" name="Rectangle 2"/>
          <p:cNvSpPr/>
          <p:nvPr/>
        </p:nvSpPr>
        <p:spPr>
          <a:xfrm>
            <a:off x="814388" y="836613"/>
            <a:ext cx="9983787" cy="1512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P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衬底 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nWell  CMOS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工艺（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0" y="3314700"/>
            <a:ext cx="938213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9701" name="Picture 4" descr="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738" y="2708275"/>
            <a:ext cx="8950325" cy="3105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23" name="Rectangle 2"/>
          <p:cNvSpPr/>
          <p:nvPr/>
        </p:nvSpPr>
        <p:spPr>
          <a:xfrm>
            <a:off x="814388" y="836613"/>
            <a:ext cx="9983787" cy="1512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P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衬底 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nWell  CMOS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工艺（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3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3072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0" y="3314700"/>
            <a:ext cx="938213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25" name="Picture 4" descr="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738" y="2636838"/>
            <a:ext cx="8963025" cy="3219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747" name="Rectangle 2"/>
          <p:cNvSpPr/>
          <p:nvPr/>
        </p:nvSpPr>
        <p:spPr>
          <a:xfrm>
            <a:off x="814388" y="836613"/>
            <a:ext cx="9983787" cy="1512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P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衬底 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nWell  CMOS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工艺（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4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31748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0" y="3314700"/>
            <a:ext cx="938213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1749" name="Picture 4" descr="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88" y="2636838"/>
            <a:ext cx="8886825" cy="33337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771" name="Rectangle 2"/>
          <p:cNvSpPr/>
          <p:nvPr/>
        </p:nvSpPr>
        <p:spPr>
          <a:xfrm>
            <a:off x="814388" y="836613"/>
            <a:ext cx="9983787" cy="151288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P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衬底 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nWell  CMOS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工艺（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5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3277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6100" y="3314700"/>
            <a:ext cx="938213" cy="228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3" name="Picture 4" descr="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988" y="2636838"/>
            <a:ext cx="8772525" cy="33051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3795" name="Text Box 3"/>
          <p:cNvSpPr txBox="1"/>
          <p:nvPr/>
        </p:nvSpPr>
        <p:spPr>
          <a:xfrm>
            <a:off x="4752975" y="5216525"/>
            <a:ext cx="80962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sz="1600" b="1" dirty="0">
                <a:latin typeface="Times New Roman" pitchFamily="18" charset="0"/>
              </a:rPr>
              <a:t>INVX1</a:t>
            </a:r>
            <a:endParaRPr lang="en-US" altLang="zh-CN" sz="1600" b="1" dirty="0">
              <a:latin typeface="Times New Roman" pitchFamily="18" charset="0"/>
            </a:endParaRPr>
          </a:p>
        </p:txBody>
      </p:sp>
      <p:sp>
        <p:nvSpPr>
          <p:cNvPr id="33796" name="Text Box 4"/>
          <p:cNvSpPr txBox="1"/>
          <p:nvPr/>
        </p:nvSpPr>
        <p:spPr>
          <a:xfrm>
            <a:off x="4752975" y="6007100"/>
            <a:ext cx="809625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sz="1600" b="1" dirty="0">
                <a:latin typeface="Times New Roman" pitchFamily="18" charset="0"/>
              </a:rPr>
              <a:t>INVX8</a:t>
            </a:r>
            <a:endParaRPr lang="en-US" altLang="zh-CN" sz="1600" b="1" dirty="0">
              <a:latin typeface="Times New Roman" pitchFamily="18" charset="0"/>
            </a:endParaRPr>
          </a:p>
        </p:txBody>
      </p:sp>
      <p:sp>
        <p:nvSpPr>
          <p:cNvPr id="33797" name="Line 5"/>
          <p:cNvSpPr/>
          <p:nvPr/>
        </p:nvSpPr>
        <p:spPr>
          <a:xfrm flipH="1" flipV="1">
            <a:off x="3959225" y="5399088"/>
            <a:ext cx="538163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8" name="Line 6"/>
          <p:cNvSpPr/>
          <p:nvPr/>
        </p:nvSpPr>
        <p:spPr>
          <a:xfrm>
            <a:off x="5697538" y="6173788"/>
            <a:ext cx="574675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3799" name="Line 10"/>
          <p:cNvSpPr/>
          <p:nvPr/>
        </p:nvSpPr>
        <p:spPr>
          <a:xfrm flipV="1">
            <a:off x="5037138" y="3098800"/>
            <a:ext cx="1587" cy="3048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0" name="Line 11"/>
          <p:cNvSpPr/>
          <p:nvPr/>
        </p:nvSpPr>
        <p:spPr>
          <a:xfrm>
            <a:off x="5127625" y="3403600"/>
            <a:ext cx="180975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1" name="Line 12"/>
          <p:cNvSpPr/>
          <p:nvPr/>
        </p:nvSpPr>
        <p:spPr>
          <a:xfrm flipV="1">
            <a:off x="5127625" y="3098800"/>
            <a:ext cx="3175" cy="3048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2" name="Line 13"/>
          <p:cNvSpPr/>
          <p:nvPr/>
        </p:nvSpPr>
        <p:spPr>
          <a:xfrm>
            <a:off x="5127625" y="3098800"/>
            <a:ext cx="180975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3" name="Line 14"/>
          <p:cNvSpPr/>
          <p:nvPr/>
        </p:nvSpPr>
        <p:spPr>
          <a:xfrm>
            <a:off x="4840288" y="3251200"/>
            <a:ext cx="139700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4" name="Line 15"/>
          <p:cNvSpPr/>
          <p:nvPr/>
        </p:nvSpPr>
        <p:spPr>
          <a:xfrm flipV="1">
            <a:off x="5295900" y="3403600"/>
            <a:ext cx="1588" cy="104775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5" name="Line 16"/>
          <p:cNvSpPr/>
          <p:nvPr/>
        </p:nvSpPr>
        <p:spPr>
          <a:xfrm flipV="1">
            <a:off x="5308600" y="2995613"/>
            <a:ext cx="1588" cy="1031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6" name="Freeform 17"/>
          <p:cNvSpPr/>
          <p:nvPr/>
        </p:nvSpPr>
        <p:spPr>
          <a:xfrm>
            <a:off x="4979988" y="3222625"/>
            <a:ext cx="65087" cy="58738"/>
          </a:xfrm>
          <a:custGeom>
            <a:avLst/>
            <a:gdLst>
              <a:gd name="txL" fmla="*/ 0 w 61"/>
              <a:gd name="txT" fmla="*/ 0 h 75"/>
              <a:gd name="txR" fmla="*/ 61 w 61"/>
              <a:gd name="txB" fmla="*/ 75 h 75"/>
            </a:gdLst>
            <a:ahLst/>
            <a:cxnLst>
              <a:cxn ang="0">
                <a:pos x="0" y="29441052"/>
              </a:cxn>
              <a:cxn ang="0">
                <a:pos x="2276978" y="31894733"/>
              </a:cxn>
              <a:cxn ang="0">
                <a:pos x="3415467" y="34348414"/>
              </a:cxn>
              <a:cxn ang="0">
                <a:pos x="4553957" y="36188088"/>
              </a:cxn>
              <a:cxn ang="0">
                <a:pos x="6830934" y="38028544"/>
              </a:cxn>
              <a:cxn ang="0">
                <a:pos x="10246403" y="39868218"/>
              </a:cxn>
              <a:cxn ang="0">
                <a:pos x="12523380" y="41095450"/>
              </a:cxn>
              <a:cxn ang="0">
                <a:pos x="14800357" y="42321899"/>
              </a:cxn>
              <a:cxn ang="0">
                <a:pos x="18215828" y="43548348"/>
              </a:cxn>
              <a:cxn ang="0">
                <a:pos x="20492805" y="44775580"/>
              </a:cxn>
              <a:cxn ang="0">
                <a:pos x="23908271" y="45388804"/>
              </a:cxn>
              <a:cxn ang="0">
                <a:pos x="28462226" y="46002029"/>
              </a:cxn>
              <a:cxn ang="0">
                <a:pos x="33016181" y="46002029"/>
              </a:cxn>
              <a:cxn ang="0">
                <a:pos x="37570144" y="46002029"/>
              </a:cxn>
              <a:cxn ang="0">
                <a:pos x="42124099" y="45388804"/>
              </a:cxn>
              <a:cxn ang="0">
                <a:pos x="46678054" y="44775580"/>
              </a:cxn>
              <a:cxn ang="0">
                <a:pos x="50093520" y="44161572"/>
              </a:cxn>
              <a:cxn ang="0">
                <a:pos x="53508986" y="42935123"/>
              </a:cxn>
              <a:cxn ang="0">
                <a:pos x="55785964" y="41708674"/>
              </a:cxn>
              <a:cxn ang="0">
                <a:pos x="58062941" y="40481442"/>
              </a:cxn>
              <a:cxn ang="0">
                <a:pos x="60339919" y="38641769"/>
              </a:cxn>
              <a:cxn ang="0">
                <a:pos x="62616896" y="36188088"/>
              </a:cxn>
              <a:cxn ang="0">
                <a:pos x="64893873" y="34961639"/>
              </a:cxn>
              <a:cxn ang="0">
                <a:pos x="66032362" y="32507958"/>
              </a:cxn>
              <a:cxn ang="0">
                <a:pos x="67170851" y="30054277"/>
              </a:cxn>
              <a:cxn ang="0">
                <a:pos x="68309340" y="23308018"/>
              </a:cxn>
              <a:cxn ang="0">
                <a:pos x="69447828" y="17174207"/>
              </a:cxn>
              <a:cxn ang="0">
                <a:pos x="67170851" y="14720526"/>
              </a:cxn>
              <a:cxn ang="0">
                <a:pos x="66032362" y="12266842"/>
              </a:cxn>
              <a:cxn ang="0">
                <a:pos x="64893873" y="10427169"/>
              </a:cxn>
              <a:cxn ang="0">
                <a:pos x="62616896" y="8586712"/>
              </a:cxn>
              <a:cxn ang="0">
                <a:pos x="59201430" y="6747039"/>
              </a:cxn>
              <a:cxn ang="0">
                <a:pos x="56924452" y="5520588"/>
              </a:cxn>
              <a:cxn ang="0">
                <a:pos x="54647475" y="4293356"/>
              </a:cxn>
              <a:cxn ang="0">
                <a:pos x="51232009" y="3066906"/>
              </a:cxn>
              <a:cxn ang="0">
                <a:pos x="48955031" y="1840457"/>
              </a:cxn>
              <a:cxn ang="0">
                <a:pos x="44401077" y="613225"/>
              </a:cxn>
              <a:cxn ang="0">
                <a:pos x="39847122" y="0"/>
              </a:cxn>
              <a:cxn ang="0">
                <a:pos x="35293167" y="0"/>
              </a:cxn>
              <a:cxn ang="0">
                <a:pos x="30739204" y="0"/>
              </a:cxn>
              <a:cxn ang="0">
                <a:pos x="26185249" y="613225"/>
              </a:cxn>
              <a:cxn ang="0">
                <a:pos x="22769783" y="1840457"/>
              </a:cxn>
              <a:cxn ang="0">
                <a:pos x="19354316" y="2453682"/>
              </a:cxn>
              <a:cxn ang="0">
                <a:pos x="15938846" y="3680132"/>
              </a:cxn>
              <a:cxn ang="0">
                <a:pos x="13661869" y="4906580"/>
              </a:cxn>
              <a:cxn ang="0">
                <a:pos x="11384891" y="6133813"/>
              </a:cxn>
              <a:cxn ang="0">
                <a:pos x="9107914" y="7973488"/>
              </a:cxn>
              <a:cxn ang="0">
                <a:pos x="6830934" y="10427169"/>
              </a:cxn>
              <a:cxn ang="0">
                <a:pos x="4553957" y="11653618"/>
              </a:cxn>
              <a:cxn ang="0">
                <a:pos x="3415467" y="14107302"/>
              </a:cxn>
              <a:cxn ang="0">
                <a:pos x="2276978" y="16560983"/>
              </a:cxn>
              <a:cxn ang="0">
                <a:pos x="1138489" y="22694011"/>
              </a:cxn>
            </a:cxnLst>
            <a:rect l="txL" t="txT" r="txR" b="txB"/>
            <a:pathLst>
              <a:path w="61" h="75">
                <a:moveTo>
                  <a:pt x="0" y="38"/>
                </a:moveTo>
                <a:lnTo>
                  <a:pt x="0" y="43"/>
                </a:lnTo>
                <a:lnTo>
                  <a:pt x="0" y="46"/>
                </a:lnTo>
                <a:lnTo>
                  <a:pt x="0" y="48"/>
                </a:lnTo>
                <a:lnTo>
                  <a:pt x="1" y="49"/>
                </a:lnTo>
                <a:lnTo>
                  <a:pt x="1" y="50"/>
                </a:lnTo>
                <a:lnTo>
                  <a:pt x="1" y="51"/>
                </a:lnTo>
                <a:lnTo>
                  <a:pt x="2" y="52"/>
                </a:lnTo>
                <a:lnTo>
                  <a:pt x="2" y="53"/>
                </a:lnTo>
                <a:lnTo>
                  <a:pt x="2" y="54"/>
                </a:lnTo>
                <a:lnTo>
                  <a:pt x="3" y="55"/>
                </a:lnTo>
                <a:lnTo>
                  <a:pt x="3" y="56"/>
                </a:lnTo>
                <a:lnTo>
                  <a:pt x="3" y="57"/>
                </a:lnTo>
                <a:lnTo>
                  <a:pt x="4" y="57"/>
                </a:lnTo>
                <a:lnTo>
                  <a:pt x="4" y="58"/>
                </a:lnTo>
                <a:lnTo>
                  <a:pt x="4" y="59"/>
                </a:lnTo>
                <a:lnTo>
                  <a:pt x="5" y="59"/>
                </a:lnTo>
                <a:lnTo>
                  <a:pt x="5" y="60"/>
                </a:lnTo>
                <a:lnTo>
                  <a:pt x="6" y="61"/>
                </a:lnTo>
                <a:lnTo>
                  <a:pt x="6" y="62"/>
                </a:lnTo>
                <a:lnTo>
                  <a:pt x="7" y="63"/>
                </a:lnTo>
                <a:lnTo>
                  <a:pt x="8" y="64"/>
                </a:lnTo>
                <a:lnTo>
                  <a:pt x="8" y="65"/>
                </a:lnTo>
                <a:lnTo>
                  <a:pt x="9" y="65"/>
                </a:lnTo>
                <a:lnTo>
                  <a:pt x="9" y="66"/>
                </a:lnTo>
                <a:lnTo>
                  <a:pt x="10" y="66"/>
                </a:lnTo>
                <a:lnTo>
                  <a:pt x="10" y="67"/>
                </a:lnTo>
                <a:lnTo>
                  <a:pt x="11" y="67"/>
                </a:lnTo>
                <a:lnTo>
                  <a:pt x="11" y="68"/>
                </a:lnTo>
                <a:lnTo>
                  <a:pt x="12" y="68"/>
                </a:lnTo>
                <a:lnTo>
                  <a:pt x="12" y="69"/>
                </a:lnTo>
                <a:lnTo>
                  <a:pt x="13" y="69"/>
                </a:lnTo>
                <a:lnTo>
                  <a:pt x="13" y="70"/>
                </a:lnTo>
                <a:lnTo>
                  <a:pt x="14" y="70"/>
                </a:lnTo>
                <a:lnTo>
                  <a:pt x="15" y="71"/>
                </a:lnTo>
                <a:lnTo>
                  <a:pt x="16" y="71"/>
                </a:lnTo>
                <a:lnTo>
                  <a:pt x="16" y="72"/>
                </a:lnTo>
                <a:lnTo>
                  <a:pt x="17" y="72"/>
                </a:lnTo>
                <a:lnTo>
                  <a:pt x="18" y="72"/>
                </a:lnTo>
                <a:lnTo>
                  <a:pt x="18" y="73"/>
                </a:lnTo>
                <a:lnTo>
                  <a:pt x="19" y="73"/>
                </a:lnTo>
                <a:lnTo>
                  <a:pt x="20" y="73"/>
                </a:lnTo>
                <a:lnTo>
                  <a:pt x="20" y="74"/>
                </a:lnTo>
                <a:lnTo>
                  <a:pt x="21" y="74"/>
                </a:lnTo>
                <a:lnTo>
                  <a:pt x="22" y="74"/>
                </a:lnTo>
                <a:lnTo>
                  <a:pt x="23" y="75"/>
                </a:lnTo>
                <a:lnTo>
                  <a:pt x="24" y="75"/>
                </a:lnTo>
                <a:lnTo>
                  <a:pt x="25" y="75"/>
                </a:lnTo>
                <a:lnTo>
                  <a:pt x="26" y="75"/>
                </a:lnTo>
                <a:lnTo>
                  <a:pt x="27" y="75"/>
                </a:lnTo>
                <a:lnTo>
                  <a:pt x="28" y="75"/>
                </a:lnTo>
                <a:lnTo>
                  <a:pt x="29" y="75"/>
                </a:lnTo>
                <a:lnTo>
                  <a:pt x="30" y="75"/>
                </a:lnTo>
                <a:lnTo>
                  <a:pt x="31" y="75"/>
                </a:lnTo>
                <a:lnTo>
                  <a:pt x="32" y="75"/>
                </a:lnTo>
                <a:lnTo>
                  <a:pt x="33" y="75"/>
                </a:lnTo>
                <a:lnTo>
                  <a:pt x="34" y="75"/>
                </a:lnTo>
                <a:lnTo>
                  <a:pt x="35" y="75"/>
                </a:lnTo>
                <a:lnTo>
                  <a:pt x="36" y="75"/>
                </a:lnTo>
                <a:lnTo>
                  <a:pt x="37" y="74"/>
                </a:lnTo>
                <a:lnTo>
                  <a:pt x="38" y="74"/>
                </a:lnTo>
                <a:lnTo>
                  <a:pt x="39" y="74"/>
                </a:lnTo>
                <a:lnTo>
                  <a:pt x="39" y="73"/>
                </a:lnTo>
                <a:lnTo>
                  <a:pt x="41" y="73"/>
                </a:lnTo>
                <a:lnTo>
                  <a:pt x="42" y="73"/>
                </a:lnTo>
                <a:lnTo>
                  <a:pt x="42" y="72"/>
                </a:lnTo>
                <a:lnTo>
                  <a:pt x="43" y="72"/>
                </a:lnTo>
                <a:lnTo>
                  <a:pt x="44" y="72"/>
                </a:lnTo>
                <a:lnTo>
                  <a:pt x="44" y="71"/>
                </a:lnTo>
                <a:lnTo>
                  <a:pt x="45" y="71"/>
                </a:lnTo>
                <a:lnTo>
                  <a:pt x="46" y="70"/>
                </a:lnTo>
                <a:lnTo>
                  <a:pt x="47" y="70"/>
                </a:lnTo>
                <a:lnTo>
                  <a:pt x="47" y="69"/>
                </a:lnTo>
                <a:lnTo>
                  <a:pt x="48" y="69"/>
                </a:lnTo>
                <a:lnTo>
                  <a:pt x="48" y="68"/>
                </a:lnTo>
                <a:lnTo>
                  <a:pt x="49" y="68"/>
                </a:lnTo>
                <a:lnTo>
                  <a:pt x="49" y="67"/>
                </a:lnTo>
                <a:lnTo>
                  <a:pt x="50" y="67"/>
                </a:lnTo>
                <a:lnTo>
                  <a:pt x="50" y="66"/>
                </a:lnTo>
                <a:lnTo>
                  <a:pt x="51" y="66"/>
                </a:lnTo>
                <a:lnTo>
                  <a:pt x="51" y="65"/>
                </a:lnTo>
                <a:lnTo>
                  <a:pt x="52" y="65"/>
                </a:lnTo>
                <a:lnTo>
                  <a:pt x="52" y="64"/>
                </a:lnTo>
                <a:lnTo>
                  <a:pt x="53" y="63"/>
                </a:lnTo>
                <a:lnTo>
                  <a:pt x="54" y="62"/>
                </a:lnTo>
                <a:lnTo>
                  <a:pt x="54" y="61"/>
                </a:lnTo>
                <a:lnTo>
                  <a:pt x="55" y="60"/>
                </a:lnTo>
                <a:lnTo>
                  <a:pt x="55" y="59"/>
                </a:lnTo>
                <a:lnTo>
                  <a:pt x="56" y="59"/>
                </a:lnTo>
                <a:lnTo>
                  <a:pt x="56" y="58"/>
                </a:lnTo>
                <a:lnTo>
                  <a:pt x="56" y="57"/>
                </a:lnTo>
                <a:lnTo>
                  <a:pt x="57" y="57"/>
                </a:lnTo>
                <a:lnTo>
                  <a:pt x="57" y="56"/>
                </a:lnTo>
                <a:lnTo>
                  <a:pt x="57" y="55"/>
                </a:lnTo>
                <a:lnTo>
                  <a:pt x="58" y="54"/>
                </a:lnTo>
                <a:lnTo>
                  <a:pt x="58" y="53"/>
                </a:lnTo>
                <a:lnTo>
                  <a:pt x="58" y="52"/>
                </a:lnTo>
                <a:lnTo>
                  <a:pt x="59" y="51"/>
                </a:lnTo>
                <a:lnTo>
                  <a:pt x="59" y="50"/>
                </a:lnTo>
                <a:lnTo>
                  <a:pt x="59" y="49"/>
                </a:lnTo>
                <a:lnTo>
                  <a:pt x="60" y="48"/>
                </a:lnTo>
                <a:lnTo>
                  <a:pt x="60" y="46"/>
                </a:lnTo>
                <a:lnTo>
                  <a:pt x="60" y="43"/>
                </a:lnTo>
                <a:lnTo>
                  <a:pt x="60" y="38"/>
                </a:lnTo>
                <a:lnTo>
                  <a:pt x="61" y="37"/>
                </a:lnTo>
                <a:lnTo>
                  <a:pt x="61" y="32"/>
                </a:lnTo>
                <a:lnTo>
                  <a:pt x="61" y="30"/>
                </a:lnTo>
                <a:lnTo>
                  <a:pt x="61" y="28"/>
                </a:lnTo>
                <a:lnTo>
                  <a:pt x="60" y="27"/>
                </a:lnTo>
                <a:lnTo>
                  <a:pt x="60" y="26"/>
                </a:lnTo>
                <a:lnTo>
                  <a:pt x="60" y="25"/>
                </a:lnTo>
                <a:lnTo>
                  <a:pt x="59" y="24"/>
                </a:lnTo>
                <a:lnTo>
                  <a:pt x="59" y="23"/>
                </a:lnTo>
                <a:lnTo>
                  <a:pt x="59" y="22"/>
                </a:lnTo>
                <a:lnTo>
                  <a:pt x="58" y="21"/>
                </a:lnTo>
                <a:lnTo>
                  <a:pt x="58" y="20"/>
                </a:lnTo>
                <a:lnTo>
                  <a:pt x="58" y="19"/>
                </a:lnTo>
                <a:lnTo>
                  <a:pt x="57" y="19"/>
                </a:lnTo>
                <a:lnTo>
                  <a:pt x="57" y="18"/>
                </a:lnTo>
                <a:lnTo>
                  <a:pt x="57" y="17"/>
                </a:lnTo>
                <a:lnTo>
                  <a:pt x="56" y="17"/>
                </a:lnTo>
                <a:lnTo>
                  <a:pt x="56" y="16"/>
                </a:lnTo>
                <a:lnTo>
                  <a:pt x="55" y="15"/>
                </a:lnTo>
                <a:lnTo>
                  <a:pt x="55" y="14"/>
                </a:lnTo>
                <a:lnTo>
                  <a:pt x="54" y="13"/>
                </a:lnTo>
                <a:lnTo>
                  <a:pt x="53" y="12"/>
                </a:lnTo>
                <a:lnTo>
                  <a:pt x="53" y="11"/>
                </a:lnTo>
                <a:lnTo>
                  <a:pt x="52" y="11"/>
                </a:lnTo>
                <a:lnTo>
                  <a:pt x="52" y="10"/>
                </a:lnTo>
                <a:lnTo>
                  <a:pt x="51" y="10"/>
                </a:lnTo>
                <a:lnTo>
                  <a:pt x="51" y="9"/>
                </a:lnTo>
                <a:lnTo>
                  <a:pt x="50" y="9"/>
                </a:lnTo>
                <a:lnTo>
                  <a:pt x="50" y="8"/>
                </a:lnTo>
                <a:lnTo>
                  <a:pt x="49" y="8"/>
                </a:lnTo>
                <a:lnTo>
                  <a:pt x="49" y="7"/>
                </a:lnTo>
                <a:lnTo>
                  <a:pt x="48" y="7"/>
                </a:lnTo>
                <a:lnTo>
                  <a:pt x="48" y="6"/>
                </a:lnTo>
                <a:lnTo>
                  <a:pt x="47" y="6"/>
                </a:lnTo>
                <a:lnTo>
                  <a:pt x="46" y="5"/>
                </a:lnTo>
                <a:lnTo>
                  <a:pt x="45" y="5"/>
                </a:lnTo>
                <a:lnTo>
                  <a:pt x="45" y="4"/>
                </a:lnTo>
                <a:lnTo>
                  <a:pt x="44" y="4"/>
                </a:lnTo>
                <a:lnTo>
                  <a:pt x="43" y="4"/>
                </a:lnTo>
                <a:lnTo>
                  <a:pt x="43" y="3"/>
                </a:lnTo>
                <a:lnTo>
                  <a:pt x="42" y="3"/>
                </a:lnTo>
                <a:lnTo>
                  <a:pt x="41" y="3"/>
                </a:lnTo>
                <a:lnTo>
                  <a:pt x="41" y="1"/>
                </a:lnTo>
                <a:lnTo>
                  <a:pt x="39" y="1"/>
                </a:lnTo>
                <a:lnTo>
                  <a:pt x="38" y="1"/>
                </a:lnTo>
                <a:lnTo>
                  <a:pt x="37" y="0"/>
                </a:lnTo>
                <a:lnTo>
                  <a:pt x="36" y="0"/>
                </a:lnTo>
                <a:lnTo>
                  <a:pt x="35" y="0"/>
                </a:lnTo>
                <a:lnTo>
                  <a:pt x="34" y="0"/>
                </a:lnTo>
                <a:lnTo>
                  <a:pt x="33" y="0"/>
                </a:lnTo>
                <a:lnTo>
                  <a:pt x="32" y="0"/>
                </a:lnTo>
                <a:lnTo>
                  <a:pt x="31" y="0"/>
                </a:lnTo>
                <a:lnTo>
                  <a:pt x="30" y="0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5" y="0"/>
                </a:lnTo>
                <a:lnTo>
                  <a:pt x="24" y="0"/>
                </a:lnTo>
                <a:lnTo>
                  <a:pt x="23" y="1"/>
                </a:lnTo>
                <a:lnTo>
                  <a:pt x="22" y="1"/>
                </a:lnTo>
                <a:lnTo>
                  <a:pt x="21" y="1"/>
                </a:lnTo>
                <a:lnTo>
                  <a:pt x="21" y="3"/>
                </a:lnTo>
                <a:lnTo>
                  <a:pt x="20" y="3"/>
                </a:lnTo>
                <a:lnTo>
                  <a:pt x="19" y="3"/>
                </a:lnTo>
                <a:lnTo>
                  <a:pt x="19" y="4"/>
                </a:lnTo>
                <a:lnTo>
                  <a:pt x="18" y="4"/>
                </a:lnTo>
                <a:lnTo>
                  <a:pt x="17" y="4"/>
                </a:lnTo>
                <a:lnTo>
                  <a:pt x="17" y="5"/>
                </a:lnTo>
                <a:lnTo>
                  <a:pt x="16" y="5"/>
                </a:lnTo>
                <a:lnTo>
                  <a:pt x="15" y="6"/>
                </a:lnTo>
                <a:lnTo>
                  <a:pt x="14" y="6"/>
                </a:lnTo>
                <a:lnTo>
                  <a:pt x="14" y="7"/>
                </a:lnTo>
                <a:lnTo>
                  <a:pt x="13" y="7"/>
                </a:lnTo>
                <a:lnTo>
                  <a:pt x="13" y="8"/>
                </a:lnTo>
                <a:lnTo>
                  <a:pt x="12" y="8"/>
                </a:lnTo>
                <a:lnTo>
                  <a:pt x="12" y="9"/>
                </a:lnTo>
                <a:lnTo>
                  <a:pt x="11" y="9"/>
                </a:lnTo>
                <a:lnTo>
                  <a:pt x="11" y="10"/>
                </a:lnTo>
                <a:lnTo>
                  <a:pt x="10" y="10"/>
                </a:lnTo>
                <a:lnTo>
                  <a:pt x="10" y="11"/>
                </a:lnTo>
                <a:lnTo>
                  <a:pt x="9" y="11"/>
                </a:lnTo>
                <a:lnTo>
                  <a:pt x="9" y="12"/>
                </a:lnTo>
                <a:lnTo>
                  <a:pt x="8" y="13"/>
                </a:lnTo>
                <a:lnTo>
                  <a:pt x="7" y="14"/>
                </a:lnTo>
                <a:lnTo>
                  <a:pt x="7" y="15"/>
                </a:lnTo>
                <a:lnTo>
                  <a:pt x="6" y="16"/>
                </a:lnTo>
                <a:lnTo>
                  <a:pt x="6" y="17"/>
                </a:lnTo>
                <a:lnTo>
                  <a:pt x="5" y="17"/>
                </a:lnTo>
                <a:lnTo>
                  <a:pt x="5" y="18"/>
                </a:lnTo>
                <a:lnTo>
                  <a:pt x="5" y="19"/>
                </a:lnTo>
                <a:lnTo>
                  <a:pt x="4" y="19"/>
                </a:lnTo>
                <a:lnTo>
                  <a:pt x="4" y="20"/>
                </a:lnTo>
                <a:lnTo>
                  <a:pt x="4" y="21"/>
                </a:lnTo>
                <a:lnTo>
                  <a:pt x="3" y="22"/>
                </a:lnTo>
                <a:lnTo>
                  <a:pt x="3" y="23"/>
                </a:lnTo>
                <a:lnTo>
                  <a:pt x="3" y="24"/>
                </a:lnTo>
                <a:lnTo>
                  <a:pt x="2" y="25"/>
                </a:lnTo>
                <a:lnTo>
                  <a:pt x="2" y="26"/>
                </a:lnTo>
                <a:lnTo>
                  <a:pt x="2" y="27"/>
                </a:lnTo>
                <a:lnTo>
                  <a:pt x="1" y="28"/>
                </a:lnTo>
                <a:lnTo>
                  <a:pt x="1" y="30"/>
                </a:lnTo>
                <a:lnTo>
                  <a:pt x="1" y="32"/>
                </a:lnTo>
                <a:lnTo>
                  <a:pt x="1" y="37"/>
                </a:lnTo>
                <a:lnTo>
                  <a:pt x="0" y="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3807" name="Line 19"/>
          <p:cNvSpPr/>
          <p:nvPr/>
        </p:nvSpPr>
        <p:spPr>
          <a:xfrm flipV="1">
            <a:off x="5032375" y="3832225"/>
            <a:ext cx="3175" cy="2984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8" name="Line 20"/>
          <p:cNvSpPr/>
          <p:nvPr/>
        </p:nvSpPr>
        <p:spPr>
          <a:xfrm>
            <a:off x="5126038" y="4130675"/>
            <a:ext cx="173037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09" name="Line 21"/>
          <p:cNvSpPr/>
          <p:nvPr/>
        </p:nvSpPr>
        <p:spPr>
          <a:xfrm flipV="1">
            <a:off x="5126038" y="3832225"/>
            <a:ext cx="1587" cy="2984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0" name="Line 22"/>
          <p:cNvSpPr/>
          <p:nvPr/>
        </p:nvSpPr>
        <p:spPr>
          <a:xfrm>
            <a:off x="5126038" y="3832225"/>
            <a:ext cx="173037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1" name="Line 23"/>
          <p:cNvSpPr/>
          <p:nvPr/>
        </p:nvSpPr>
        <p:spPr>
          <a:xfrm>
            <a:off x="4841875" y="3987800"/>
            <a:ext cx="190500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2" name="Line 24"/>
          <p:cNvSpPr/>
          <p:nvPr/>
        </p:nvSpPr>
        <p:spPr>
          <a:xfrm flipV="1">
            <a:off x="5299075" y="4130675"/>
            <a:ext cx="3175" cy="1031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3" name="Line 25"/>
          <p:cNvSpPr/>
          <p:nvPr/>
        </p:nvSpPr>
        <p:spPr>
          <a:xfrm flipV="1">
            <a:off x="5299075" y="3719513"/>
            <a:ext cx="3175" cy="1031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4" name="Line 26"/>
          <p:cNvSpPr/>
          <p:nvPr/>
        </p:nvSpPr>
        <p:spPr>
          <a:xfrm>
            <a:off x="4838700" y="3251200"/>
            <a:ext cx="1588" cy="7302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5" name="Line 27"/>
          <p:cNvSpPr/>
          <p:nvPr/>
        </p:nvSpPr>
        <p:spPr>
          <a:xfrm>
            <a:off x="5314950" y="2625725"/>
            <a:ext cx="1588" cy="366713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6" name="Line 28"/>
          <p:cNvSpPr/>
          <p:nvPr/>
        </p:nvSpPr>
        <p:spPr>
          <a:xfrm>
            <a:off x="5297488" y="4237038"/>
            <a:ext cx="1587" cy="4191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7" name="Line 29"/>
          <p:cNvSpPr/>
          <p:nvPr/>
        </p:nvSpPr>
        <p:spPr>
          <a:xfrm>
            <a:off x="4402138" y="3600450"/>
            <a:ext cx="436562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8" name="Line 30"/>
          <p:cNvSpPr/>
          <p:nvPr/>
        </p:nvSpPr>
        <p:spPr>
          <a:xfrm>
            <a:off x="5308600" y="3603625"/>
            <a:ext cx="395288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19" name="Line 31"/>
          <p:cNvSpPr/>
          <p:nvPr/>
        </p:nvSpPr>
        <p:spPr>
          <a:xfrm>
            <a:off x="5162550" y="4656138"/>
            <a:ext cx="274638" cy="15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0" name="Line 32"/>
          <p:cNvSpPr/>
          <p:nvPr/>
        </p:nvSpPr>
        <p:spPr>
          <a:xfrm>
            <a:off x="5214938" y="4700588"/>
            <a:ext cx="163512" cy="15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1" name="Line 33"/>
          <p:cNvSpPr/>
          <p:nvPr/>
        </p:nvSpPr>
        <p:spPr>
          <a:xfrm>
            <a:off x="5273675" y="4738688"/>
            <a:ext cx="50800" cy="1587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2" name="Line 34"/>
          <p:cNvSpPr/>
          <p:nvPr/>
        </p:nvSpPr>
        <p:spPr>
          <a:xfrm>
            <a:off x="5162550" y="2625725"/>
            <a:ext cx="325438" cy="1588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3" name="Rectangle 36"/>
          <p:cNvSpPr/>
          <p:nvPr/>
        </p:nvSpPr>
        <p:spPr>
          <a:xfrm>
            <a:off x="4921250" y="2349500"/>
            <a:ext cx="768350" cy="244475"/>
          </a:xfrm>
          <a:prstGeom prst="rect">
            <a:avLst/>
          </a:prstGeom>
          <a:noFill/>
          <a:ln w="9525">
            <a:noFill/>
          </a:ln>
        </p:spPr>
        <p:txBody>
          <a:bodyPr lIns="0" tIns="0" rIns="0" bIns="0">
            <a:spAutoFit/>
          </a:bodyPr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Times New Roman" pitchFamily="18" charset="0"/>
              </a:rPr>
              <a:t>VDD</a:t>
            </a:r>
            <a:endParaRPr lang="en-US" altLang="zh-CN" sz="1600" dirty="0">
              <a:latin typeface="Times New Roman" pitchFamily="18" charset="0"/>
            </a:endParaRPr>
          </a:p>
        </p:txBody>
      </p:sp>
      <p:sp>
        <p:nvSpPr>
          <p:cNvPr id="33824" name="Rectangle 38"/>
          <p:cNvSpPr/>
          <p:nvPr/>
        </p:nvSpPr>
        <p:spPr>
          <a:xfrm>
            <a:off x="4157663" y="3465513"/>
            <a:ext cx="146050" cy="2460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endParaRPr lang="en-US" altLang="zh-CN" sz="1600" dirty="0">
              <a:latin typeface="Times New Roman" pitchFamily="18" charset="0"/>
            </a:endParaRPr>
          </a:p>
        </p:txBody>
      </p:sp>
      <p:sp>
        <p:nvSpPr>
          <p:cNvPr id="33825" name="Rectangle 40"/>
          <p:cNvSpPr/>
          <p:nvPr/>
        </p:nvSpPr>
        <p:spPr>
          <a:xfrm>
            <a:off x="5799138" y="3502025"/>
            <a:ext cx="147637" cy="2460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600" b="1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altLang="zh-CN" sz="1600" dirty="0">
              <a:latin typeface="Times New Roman" pitchFamily="18" charset="0"/>
            </a:endParaRPr>
          </a:p>
        </p:txBody>
      </p:sp>
      <p:sp>
        <p:nvSpPr>
          <p:cNvPr id="33826" name="Line 41"/>
          <p:cNvSpPr/>
          <p:nvPr/>
        </p:nvSpPr>
        <p:spPr>
          <a:xfrm>
            <a:off x="5303838" y="3498850"/>
            <a:ext cx="0" cy="215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3827" name="Rectangle 42"/>
          <p:cNvSpPr/>
          <p:nvPr/>
        </p:nvSpPr>
        <p:spPr>
          <a:xfrm>
            <a:off x="912813" y="188913"/>
            <a:ext cx="10215562" cy="12827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反相器的版图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pic>
        <p:nvPicPr>
          <p:cNvPr id="33828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388" y="2235200"/>
            <a:ext cx="3694112" cy="4368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3829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563" y="2255838"/>
            <a:ext cx="5713412" cy="43926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4819" name="Rectangle 2"/>
          <p:cNvSpPr/>
          <p:nvPr/>
        </p:nvSpPr>
        <p:spPr>
          <a:xfrm>
            <a:off x="912813" y="155575"/>
            <a:ext cx="10285412" cy="962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NAND2 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和 </a:t>
            </a:r>
            <a:r>
              <a:rPr lang="en-US" altLang="zh-CN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NOR2 </a:t>
            </a:r>
            <a:r>
              <a:rPr lang="zh-CN" altLang="en-US" sz="36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的电路及版图</a:t>
            </a:r>
            <a:endParaRPr lang="zh-CN" altLang="en-US" sz="36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34820" name="Text Box 3"/>
          <p:cNvSpPr txBox="1"/>
          <p:nvPr/>
        </p:nvSpPr>
        <p:spPr>
          <a:xfrm>
            <a:off x="5643563" y="3630613"/>
            <a:ext cx="877887" cy="3381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sz="1600" b="1" dirty="0">
                <a:latin typeface="Times New Roman" pitchFamily="18" charset="0"/>
              </a:rPr>
              <a:t>NAND2</a:t>
            </a:r>
            <a:endParaRPr lang="en-US" altLang="zh-CN" sz="1600" b="1" dirty="0">
              <a:latin typeface="Times New Roman" pitchFamily="18" charset="0"/>
            </a:endParaRPr>
          </a:p>
        </p:txBody>
      </p:sp>
      <p:sp>
        <p:nvSpPr>
          <p:cNvPr id="34821" name="Text Box 4"/>
          <p:cNvSpPr txBox="1"/>
          <p:nvPr/>
        </p:nvSpPr>
        <p:spPr>
          <a:xfrm>
            <a:off x="5619750" y="3975100"/>
            <a:ext cx="742950" cy="3381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sz="1600" b="1" dirty="0">
                <a:latin typeface="Times New Roman" pitchFamily="18" charset="0"/>
              </a:rPr>
              <a:t>NOR2</a:t>
            </a:r>
            <a:endParaRPr lang="en-US" altLang="zh-CN" sz="1600" b="1" dirty="0">
              <a:latin typeface="Times New Roman" pitchFamily="18" charset="0"/>
            </a:endParaRPr>
          </a:p>
        </p:txBody>
      </p:sp>
      <p:sp>
        <p:nvSpPr>
          <p:cNvPr id="34822" name="Line 5"/>
          <p:cNvSpPr/>
          <p:nvPr/>
        </p:nvSpPr>
        <p:spPr>
          <a:xfrm flipH="1">
            <a:off x="4803775" y="3787775"/>
            <a:ext cx="5778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823" name="Line 6"/>
          <p:cNvSpPr/>
          <p:nvPr/>
        </p:nvSpPr>
        <p:spPr>
          <a:xfrm flipV="1">
            <a:off x="6716713" y="4148138"/>
            <a:ext cx="6731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4824" name="Line 11"/>
          <p:cNvSpPr/>
          <p:nvPr/>
        </p:nvSpPr>
        <p:spPr>
          <a:xfrm flipV="1">
            <a:off x="5822950" y="1816100"/>
            <a:ext cx="1588" cy="2032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5" name="Line 12"/>
          <p:cNvSpPr/>
          <p:nvPr/>
        </p:nvSpPr>
        <p:spPr>
          <a:xfrm>
            <a:off x="5883275" y="2019300"/>
            <a:ext cx="119063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6" name="Line 13"/>
          <p:cNvSpPr/>
          <p:nvPr/>
        </p:nvSpPr>
        <p:spPr>
          <a:xfrm flipV="1">
            <a:off x="5883275" y="1816100"/>
            <a:ext cx="3175" cy="2032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7" name="Line 14"/>
          <p:cNvSpPr/>
          <p:nvPr/>
        </p:nvSpPr>
        <p:spPr>
          <a:xfrm>
            <a:off x="5883275" y="1816100"/>
            <a:ext cx="119063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8" name="Line 15"/>
          <p:cNvSpPr/>
          <p:nvPr/>
        </p:nvSpPr>
        <p:spPr>
          <a:xfrm>
            <a:off x="5691188" y="1916113"/>
            <a:ext cx="93662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9" name="Line 16"/>
          <p:cNvSpPr/>
          <p:nvPr/>
        </p:nvSpPr>
        <p:spPr>
          <a:xfrm flipV="1">
            <a:off x="6002338" y="2019300"/>
            <a:ext cx="1587" cy="68263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0" name="Line 17"/>
          <p:cNvSpPr/>
          <p:nvPr/>
        </p:nvSpPr>
        <p:spPr>
          <a:xfrm flipV="1">
            <a:off x="6002338" y="1747838"/>
            <a:ext cx="1587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1" name="Freeform 18"/>
          <p:cNvSpPr/>
          <p:nvPr/>
        </p:nvSpPr>
        <p:spPr>
          <a:xfrm>
            <a:off x="5784850" y="1897063"/>
            <a:ext cx="44450" cy="39687"/>
          </a:xfrm>
          <a:custGeom>
            <a:avLst/>
            <a:gdLst>
              <a:gd name="txL" fmla="*/ 0 w 61"/>
              <a:gd name="txT" fmla="*/ 0 h 74"/>
              <a:gd name="txR" fmla="*/ 61 w 61"/>
              <a:gd name="txB" fmla="*/ 74 h 74"/>
            </a:gdLst>
            <a:ahLst/>
            <a:cxnLst>
              <a:cxn ang="0">
                <a:pos x="0" y="13518785"/>
              </a:cxn>
              <a:cxn ang="0">
                <a:pos x="1061699" y="14669171"/>
              </a:cxn>
              <a:cxn ang="0">
                <a:pos x="1592913" y="15819558"/>
              </a:cxn>
              <a:cxn ang="0">
                <a:pos x="2124127" y="16682481"/>
              </a:cxn>
              <a:cxn ang="0">
                <a:pos x="3185827" y="17545405"/>
              </a:cxn>
              <a:cxn ang="0">
                <a:pos x="4778740" y="18408333"/>
              </a:cxn>
              <a:cxn ang="0">
                <a:pos x="5841167" y="18983794"/>
              </a:cxn>
              <a:cxn ang="0">
                <a:pos x="6902868" y="19558719"/>
              </a:cxn>
              <a:cxn ang="0">
                <a:pos x="8495780" y="20134181"/>
              </a:cxn>
              <a:cxn ang="0">
                <a:pos x="9557479" y="20709105"/>
              </a:cxn>
              <a:cxn ang="0">
                <a:pos x="11150392" y="20997104"/>
              </a:cxn>
              <a:cxn ang="0">
                <a:pos x="13274521" y="21284567"/>
              </a:cxn>
              <a:cxn ang="0">
                <a:pos x="15398648" y="21284567"/>
              </a:cxn>
              <a:cxn ang="0">
                <a:pos x="17522774" y="21284567"/>
              </a:cxn>
              <a:cxn ang="0">
                <a:pos x="19646172" y="20997104"/>
              </a:cxn>
              <a:cxn ang="0">
                <a:pos x="21770299" y="20709105"/>
              </a:cxn>
              <a:cxn ang="0">
                <a:pos x="23363211" y="20421643"/>
              </a:cxn>
              <a:cxn ang="0">
                <a:pos x="24956130" y="19846182"/>
              </a:cxn>
              <a:cxn ang="0">
                <a:pos x="26018557" y="19271257"/>
              </a:cxn>
              <a:cxn ang="0">
                <a:pos x="27080256" y="18695796"/>
              </a:cxn>
              <a:cxn ang="0">
                <a:pos x="28141955" y="17832872"/>
              </a:cxn>
              <a:cxn ang="0">
                <a:pos x="29204383" y="16682481"/>
              </a:cxn>
              <a:cxn ang="0">
                <a:pos x="30266082" y="16107020"/>
              </a:cxn>
              <a:cxn ang="0">
                <a:pos x="30797295" y="14956634"/>
              </a:cxn>
              <a:cxn ang="0">
                <a:pos x="31328509" y="13806248"/>
              </a:cxn>
              <a:cxn ang="0">
                <a:pos x="31858994" y="10642552"/>
              </a:cxn>
              <a:cxn ang="0">
                <a:pos x="32390208" y="7765779"/>
              </a:cxn>
              <a:cxn ang="0">
                <a:pos x="31328509" y="6615393"/>
              </a:cxn>
              <a:cxn ang="0">
                <a:pos x="30797295" y="5465007"/>
              </a:cxn>
              <a:cxn ang="0">
                <a:pos x="30266082" y="4602083"/>
              </a:cxn>
              <a:cxn ang="0">
                <a:pos x="29204383" y="3739158"/>
              </a:cxn>
              <a:cxn ang="0">
                <a:pos x="27611470" y="2876235"/>
              </a:cxn>
              <a:cxn ang="0">
                <a:pos x="26549042" y="2300773"/>
              </a:cxn>
              <a:cxn ang="0">
                <a:pos x="25487344" y="1725848"/>
              </a:cxn>
              <a:cxn ang="0">
                <a:pos x="23894431" y="1150387"/>
              </a:cxn>
              <a:cxn ang="0">
                <a:pos x="22832726" y="575462"/>
              </a:cxn>
              <a:cxn ang="0">
                <a:pos x="21239813" y="287463"/>
              </a:cxn>
              <a:cxn ang="0">
                <a:pos x="18584473" y="0"/>
              </a:cxn>
              <a:cxn ang="0">
                <a:pos x="16460347" y="0"/>
              </a:cxn>
              <a:cxn ang="0">
                <a:pos x="14336949" y="0"/>
              </a:cxn>
              <a:cxn ang="0">
                <a:pos x="12212822" y="287463"/>
              </a:cxn>
              <a:cxn ang="0">
                <a:pos x="10619907" y="575462"/>
              </a:cxn>
              <a:cxn ang="0">
                <a:pos x="9026994" y="862924"/>
              </a:cxn>
              <a:cxn ang="0">
                <a:pos x="7434081" y="1438386"/>
              </a:cxn>
              <a:cxn ang="0">
                <a:pos x="6371654" y="2013310"/>
              </a:cxn>
              <a:cxn ang="0">
                <a:pos x="5309953" y="2588772"/>
              </a:cxn>
              <a:cxn ang="0">
                <a:pos x="4248254" y="3451696"/>
              </a:cxn>
              <a:cxn ang="0">
                <a:pos x="3185827" y="4602083"/>
              </a:cxn>
              <a:cxn ang="0">
                <a:pos x="2124127" y="5177545"/>
              </a:cxn>
              <a:cxn ang="0">
                <a:pos x="1592913" y="6327931"/>
              </a:cxn>
              <a:cxn ang="0">
                <a:pos x="1061699" y="7478317"/>
              </a:cxn>
              <a:cxn ang="0">
                <a:pos x="531214" y="10354553"/>
              </a:cxn>
            </a:cxnLst>
            <a:rect l="txL" t="txT" r="txR" b="txB"/>
            <a:pathLst>
              <a:path w="61" h="74">
                <a:moveTo>
                  <a:pt x="0" y="37"/>
                </a:moveTo>
                <a:lnTo>
                  <a:pt x="0" y="43"/>
                </a:lnTo>
                <a:lnTo>
                  <a:pt x="0" y="45"/>
                </a:lnTo>
                <a:lnTo>
                  <a:pt x="0" y="47"/>
                </a:lnTo>
                <a:lnTo>
                  <a:pt x="1" y="48"/>
                </a:lnTo>
                <a:lnTo>
                  <a:pt x="1" y="49"/>
                </a:lnTo>
                <a:lnTo>
                  <a:pt x="1" y="50"/>
                </a:lnTo>
                <a:lnTo>
                  <a:pt x="2" y="51"/>
                </a:lnTo>
                <a:lnTo>
                  <a:pt x="2" y="52"/>
                </a:lnTo>
                <a:lnTo>
                  <a:pt x="2" y="53"/>
                </a:lnTo>
                <a:lnTo>
                  <a:pt x="3" y="54"/>
                </a:lnTo>
                <a:lnTo>
                  <a:pt x="3" y="55"/>
                </a:lnTo>
                <a:lnTo>
                  <a:pt x="3" y="56"/>
                </a:lnTo>
                <a:lnTo>
                  <a:pt x="4" y="56"/>
                </a:lnTo>
                <a:lnTo>
                  <a:pt x="4" y="57"/>
                </a:lnTo>
                <a:lnTo>
                  <a:pt x="4" y="58"/>
                </a:lnTo>
                <a:lnTo>
                  <a:pt x="5" y="58"/>
                </a:lnTo>
                <a:lnTo>
                  <a:pt x="5" y="59"/>
                </a:lnTo>
                <a:lnTo>
                  <a:pt x="6" y="60"/>
                </a:lnTo>
                <a:lnTo>
                  <a:pt x="6" y="61"/>
                </a:lnTo>
                <a:lnTo>
                  <a:pt x="7" y="62"/>
                </a:lnTo>
                <a:lnTo>
                  <a:pt x="8" y="63"/>
                </a:lnTo>
                <a:lnTo>
                  <a:pt x="8" y="64"/>
                </a:lnTo>
                <a:lnTo>
                  <a:pt x="9" y="64"/>
                </a:lnTo>
                <a:lnTo>
                  <a:pt x="9" y="65"/>
                </a:lnTo>
                <a:lnTo>
                  <a:pt x="10" y="65"/>
                </a:lnTo>
                <a:lnTo>
                  <a:pt x="10" y="66"/>
                </a:lnTo>
                <a:lnTo>
                  <a:pt x="11" y="66"/>
                </a:lnTo>
                <a:lnTo>
                  <a:pt x="11" y="67"/>
                </a:lnTo>
                <a:lnTo>
                  <a:pt x="12" y="67"/>
                </a:lnTo>
                <a:lnTo>
                  <a:pt x="12" y="68"/>
                </a:lnTo>
                <a:lnTo>
                  <a:pt x="13" y="68"/>
                </a:lnTo>
                <a:lnTo>
                  <a:pt x="13" y="69"/>
                </a:lnTo>
                <a:lnTo>
                  <a:pt x="14" y="69"/>
                </a:lnTo>
                <a:lnTo>
                  <a:pt x="15" y="70"/>
                </a:lnTo>
                <a:lnTo>
                  <a:pt x="16" y="70"/>
                </a:lnTo>
                <a:lnTo>
                  <a:pt x="16" y="71"/>
                </a:lnTo>
                <a:lnTo>
                  <a:pt x="17" y="71"/>
                </a:lnTo>
                <a:lnTo>
                  <a:pt x="18" y="71"/>
                </a:lnTo>
                <a:lnTo>
                  <a:pt x="18" y="72"/>
                </a:lnTo>
                <a:lnTo>
                  <a:pt x="19" y="72"/>
                </a:lnTo>
                <a:lnTo>
                  <a:pt x="20" y="72"/>
                </a:lnTo>
                <a:lnTo>
                  <a:pt x="20" y="73"/>
                </a:lnTo>
                <a:lnTo>
                  <a:pt x="21" y="73"/>
                </a:lnTo>
                <a:lnTo>
                  <a:pt x="22" y="73"/>
                </a:lnTo>
                <a:lnTo>
                  <a:pt x="23" y="74"/>
                </a:lnTo>
                <a:lnTo>
                  <a:pt x="24" y="74"/>
                </a:lnTo>
                <a:lnTo>
                  <a:pt x="25" y="74"/>
                </a:lnTo>
                <a:lnTo>
                  <a:pt x="26" y="74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30" y="74"/>
                </a:lnTo>
                <a:lnTo>
                  <a:pt x="31" y="74"/>
                </a:lnTo>
                <a:lnTo>
                  <a:pt x="32" y="74"/>
                </a:lnTo>
                <a:lnTo>
                  <a:pt x="33" y="74"/>
                </a:lnTo>
                <a:lnTo>
                  <a:pt x="34" y="74"/>
                </a:lnTo>
                <a:lnTo>
                  <a:pt x="35" y="74"/>
                </a:lnTo>
                <a:lnTo>
                  <a:pt x="36" y="74"/>
                </a:lnTo>
                <a:lnTo>
                  <a:pt x="37" y="73"/>
                </a:lnTo>
                <a:lnTo>
                  <a:pt x="39" y="73"/>
                </a:lnTo>
                <a:lnTo>
                  <a:pt x="40" y="73"/>
                </a:lnTo>
                <a:lnTo>
                  <a:pt x="40" y="72"/>
                </a:lnTo>
                <a:lnTo>
                  <a:pt x="41" y="72"/>
                </a:lnTo>
                <a:lnTo>
                  <a:pt x="42" y="72"/>
                </a:lnTo>
                <a:lnTo>
                  <a:pt x="42" y="71"/>
                </a:lnTo>
                <a:lnTo>
                  <a:pt x="43" y="71"/>
                </a:lnTo>
                <a:lnTo>
                  <a:pt x="44" y="71"/>
                </a:lnTo>
                <a:lnTo>
                  <a:pt x="44" y="70"/>
                </a:lnTo>
                <a:lnTo>
                  <a:pt x="45" y="70"/>
                </a:lnTo>
                <a:lnTo>
                  <a:pt x="46" y="69"/>
                </a:lnTo>
                <a:lnTo>
                  <a:pt x="47" y="69"/>
                </a:lnTo>
                <a:lnTo>
                  <a:pt x="47" y="68"/>
                </a:lnTo>
                <a:lnTo>
                  <a:pt x="48" y="68"/>
                </a:lnTo>
                <a:lnTo>
                  <a:pt x="48" y="67"/>
                </a:lnTo>
                <a:lnTo>
                  <a:pt x="49" y="67"/>
                </a:lnTo>
                <a:lnTo>
                  <a:pt x="49" y="66"/>
                </a:lnTo>
                <a:lnTo>
                  <a:pt x="50" y="66"/>
                </a:lnTo>
                <a:lnTo>
                  <a:pt x="50" y="65"/>
                </a:lnTo>
                <a:lnTo>
                  <a:pt x="51" y="65"/>
                </a:lnTo>
                <a:lnTo>
                  <a:pt x="51" y="64"/>
                </a:lnTo>
                <a:lnTo>
                  <a:pt x="52" y="64"/>
                </a:lnTo>
                <a:lnTo>
                  <a:pt x="52" y="63"/>
                </a:lnTo>
                <a:lnTo>
                  <a:pt x="53" y="62"/>
                </a:lnTo>
                <a:lnTo>
                  <a:pt x="54" y="61"/>
                </a:lnTo>
                <a:lnTo>
                  <a:pt x="54" y="60"/>
                </a:lnTo>
                <a:lnTo>
                  <a:pt x="55" y="59"/>
                </a:lnTo>
                <a:lnTo>
                  <a:pt x="55" y="58"/>
                </a:lnTo>
                <a:lnTo>
                  <a:pt x="56" y="58"/>
                </a:lnTo>
                <a:lnTo>
                  <a:pt x="56" y="57"/>
                </a:lnTo>
                <a:lnTo>
                  <a:pt x="56" y="56"/>
                </a:lnTo>
                <a:lnTo>
                  <a:pt x="57" y="56"/>
                </a:lnTo>
                <a:lnTo>
                  <a:pt x="57" y="55"/>
                </a:lnTo>
                <a:lnTo>
                  <a:pt x="57" y="54"/>
                </a:lnTo>
                <a:lnTo>
                  <a:pt x="58" y="53"/>
                </a:lnTo>
                <a:lnTo>
                  <a:pt x="58" y="52"/>
                </a:lnTo>
                <a:lnTo>
                  <a:pt x="58" y="51"/>
                </a:lnTo>
                <a:lnTo>
                  <a:pt x="59" y="50"/>
                </a:lnTo>
                <a:lnTo>
                  <a:pt x="59" y="49"/>
                </a:lnTo>
                <a:lnTo>
                  <a:pt x="59" y="48"/>
                </a:lnTo>
                <a:lnTo>
                  <a:pt x="60" y="47"/>
                </a:lnTo>
                <a:lnTo>
                  <a:pt x="60" y="45"/>
                </a:lnTo>
                <a:lnTo>
                  <a:pt x="60" y="43"/>
                </a:lnTo>
                <a:lnTo>
                  <a:pt x="60" y="37"/>
                </a:lnTo>
                <a:lnTo>
                  <a:pt x="61" y="36"/>
                </a:lnTo>
                <a:lnTo>
                  <a:pt x="61" y="31"/>
                </a:lnTo>
                <a:lnTo>
                  <a:pt x="61" y="29"/>
                </a:lnTo>
                <a:lnTo>
                  <a:pt x="61" y="27"/>
                </a:lnTo>
                <a:lnTo>
                  <a:pt x="60" y="26"/>
                </a:lnTo>
                <a:lnTo>
                  <a:pt x="60" y="25"/>
                </a:lnTo>
                <a:lnTo>
                  <a:pt x="60" y="24"/>
                </a:lnTo>
                <a:lnTo>
                  <a:pt x="59" y="23"/>
                </a:lnTo>
                <a:lnTo>
                  <a:pt x="59" y="22"/>
                </a:lnTo>
                <a:lnTo>
                  <a:pt x="59" y="21"/>
                </a:lnTo>
                <a:lnTo>
                  <a:pt x="58" y="20"/>
                </a:lnTo>
                <a:lnTo>
                  <a:pt x="58" y="19"/>
                </a:lnTo>
                <a:lnTo>
                  <a:pt x="58" y="18"/>
                </a:lnTo>
                <a:lnTo>
                  <a:pt x="57" y="18"/>
                </a:lnTo>
                <a:lnTo>
                  <a:pt x="57" y="17"/>
                </a:lnTo>
                <a:lnTo>
                  <a:pt x="57" y="16"/>
                </a:lnTo>
                <a:lnTo>
                  <a:pt x="56" y="16"/>
                </a:lnTo>
                <a:lnTo>
                  <a:pt x="56" y="15"/>
                </a:lnTo>
                <a:lnTo>
                  <a:pt x="55" y="14"/>
                </a:lnTo>
                <a:lnTo>
                  <a:pt x="55" y="13"/>
                </a:lnTo>
                <a:lnTo>
                  <a:pt x="54" y="12"/>
                </a:lnTo>
                <a:lnTo>
                  <a:pt x="53" y="11"/>
                </a:lnTo>
                <a:lnTo>
                  <a:pt x="53" y="10"/>
                </a:lnTo>
                <a:lnTo>
                  <a:pt x="52" y="10"/>
                </a:lnTo>
                <a:lnTo>
                  <a:pt x="52" y="9"/>
                </a:lnTo>
                <a:lnTo>
                  <a:pt x="51" y="9"/>
                </a:lnTo>
                <a:lnTo>
                  <a:pt x="51" y="8"/>
                </a:lnTo>
                <a:lnTo>
                  <a:pt x="50" y="8"/>
                </a:lnTo>
                <a:lnTo>
                  <a:pt x="50" y="7"/>
                </a:lnTo>
                <a:lnTo>
                  <a:pt x="49" y="7"/>
                </a:lnTo>
                <a:lnTo>
                  <a:pt x="49" y="6"/>
                </a:lnTo>
                <a:lnTo>
                  <a:pt x="48" y="6"/>
                </a:lnTo>
                <a:lnTo>
                  <a:pt x="48" y="5"/>
                </a:lnTo>
                <a:lnTo>
                  <a:pt x="47" y="5"/>
                </a:lnTo>
                <a:lnTo>
                  <a:pt x="46" y="4"/>
                </a:lnTo>
                <a:lnTo>
                  <a:pt x="45" y="4"/>
                </a:lnTo>
                <a:lnTo>
                  <a:pt x="45" y="3"/>
                </a:lnTo>
                <a:lnTo>
                  <a:pt x="44" y="3"/>
                </a:lnTo>
                <a:lnTo>
                  <a:pt x="43" y="3"/>
                </a:lnTo>
                <a:lnTo>
                  <a:pt x="43" y="2"/>
                </a:lnTo>
                <a:lnTo>
                  <a:pt x="42" y="2"/>
                </a:lnTo>
                <a:lnTo>
                  <a:pt x="41" y="2"/>
                </a:lnTo>
                <a:lnTo>
                  <a:pt x="41" y="1"/>
                </a:lnTo>
                <a:lnTo>
                  <a:pt x="40" y="1"/>
                </a:lnTo>
                <a:lnTo>
                  <a:pt x="39" y="1"/>
                </a:lnTo>
                <a:lnTo>
                  <a:pt x="37" y="0"/>
                </a:lnTo>
                <a:lnTo>
                  <a:pt x="36" y="0"/>
                </a:lnTo>
                <a:lnTo>
                  <a:pt x="35" y="0"/>
                </a:lnTo>
                <a:lnTo>
                  <a:pt x="34" y="0"/>
                </a:lnTo>
                <a:lnTo>
                  <a:pt x="33" y="0"/>
                </a:lnTo>
                <a:lnTo>
                  <a:pt x="32" y="0"/>
                </a:lnTo>
                <a:lnTo>
                  <a:pt x="31" y="0"/>
                </a:lnTo>
                <a:lnTo>
                  <a:pt x="30" y="0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5" y="0"/>
                </a:lnTo>
                <a:lnTo>
                  <a:pt x="24" y="0"/>
                </a:lnTo>
                <a:lnTo>
                  <a:pt x="23" y="1"/>
                </a:lnTo>
                <a:lnTo>
                  <a:pt x="22" y="1"/>
                </a:lnTo>
                <a:lnTo>
                  <a:pt x="21" y="1"/>
                </a:lnTo>
                <a:lnTo>
                  <a:pt x="21" y="2"/>
                </a:lnTo>
                <a:lnTo>
                  <a:pt x="20" y="2"/>
                </a:ln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lnTo>
                  <a:pt x="17" y="3"/>
                </a:lnTo>
                <a:lnTo>
                  <a:pt x="17" y="4"/>
                </a:lnTo>
                <a:lnTo>
                  <a:pt x="16" y="4"/>
                </a:lnTo>
                <a:lnTo>
                  <a:pt x="15" y="5"/>
                </a:lnTo>
                <a:lnTo>
                  <a:pt x="14" y="5"/>
                </a:lnTo>
                <a:lnTo>
                  <a:pt x="14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1" y="8"/>
                </a:lnTo>
                <a:lnTo>
                  <a:pt x="11" y="9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8" y="12"/>
                </a:lnTo>
                <a:lnTo>
                  <a:pt x="7" y="13"/>
                </a:lnTo>
                <a:lnTo>
                  <a:pt x="7" y="14"/>
                </a:lnTo>
                <a:lnTo>
                  <a:pt x="6" y="15"/>
                </a:lnTo>
                <a:lnTo>
                  <a:pt x="6" y="16"/>
                </a:lnTo>
                <a:lnTo>
                  <a:pt x="5" y="16"/>
                </a:lnTo>
                <a:lnTo>
                  <a:pt x="5" y="17"/>
                </a:lnTo>
                <a:lnTo>
                  <a:pt x="5" y="18"/>
                </a:lnTo>
                <a:lnTo>
                  <a:pt x="4" y="18"/>
                </a:lnTo>
                <a:lnTo>
                  <a:pt x="4" y="19"/>
                </a:lnTo>
                <a:lnTo>
                  <a:pt x="4" y="20"/>
                </a:lnTo>
                <a:lnTo>
                  <a:pt x="3" y="21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2" y="25"/>
                </a:lnTo>
                <a:lnTo>
                  <a:pt x="2" y="26"/>
                </a:lnTo>
                <a:lnTo>
                  <a:pt x="1" y="27"/>
                </a:lnTo>
                <a:lnTo>
                  <a:pt x="1" y="29"/>
                </a:lnTo>
                <a:lnTo>
                  <a:pt x="1" y="31"/>
                </a:lnTo>
                <a:lnTo>
                  <a:pt x="1" y="36"/>
                </a:lnTo>
                <a:lnTo>
                  <a:pt x="0" y="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31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832" name="Rectangle 19"/>
          <p:cNvSpPr/>
          <p:nvPr/>
        </p:nvSpPr>
        <p:spPr>
          <a:xfrm>
            <a:off x="5689600" y="1744663"/>
            <a:ext cx="317500" cy="3444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833" name="Line 20"/>
          <p:cNvSpPr/>
          <p:nvPr/>
        </p:nvSpPr>
        <p:spPr>
          <a:xfrm flipV="1">
            <a:off x="6211888" y="2492375"/>
            <a:ext cx="1587" cy="200025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4" name="Line 21"/>
          <p:cNvSpPr/>
          <p:nvPr/>
        </p:nvSpPr>
        <p:spPr>
          <a:xfrm>
            <a:off x="6272213" y="2692400"/>
            <a:ext cx="120650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5" name="Line 22"/>
          <p:cNvSpPr/>
          <p:nvPr/>
        </p:nvSpPr>
        <p:spPr>
          <a:xfrm flipV="1">
            <a:off x="6272213" y="2492375"/>
            <a:ext cx="3175" cy="200025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6" name="Line 23"/>
          <p:cNvSpPr/>
          <p:nvPr/>
        </p:nvSpPr>
        <p:spPr>
          <a:xfrm>
            <a:off x="6272213" y="2492375"/>
            <a:ext cx="120650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7" name="Line 24"/>
          <p:cNvSpPr/>
          <p:nvPr/>
        </p:nvSpPr>
        <p:spPr>
          <a:xfrm>
            <a:off x="6078538" y="2595563"/>
            <a:ext cx="13335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8" name="Line 25"/>
          <p:cNvSpPr/>
          <p:nvPr/>
        </p:nvSpPr>
        <p:spPr>
          <a:xfrm flipV="1">
            <a:off x="6392863" y="2692400"/>
            <a:ext cx="3175" cy="68263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9" name="Line 26"/>
          <p:cNvSpPr/>
          <p:nvPr/>
        </p:nvSpPr>
        <p:spPr>
          <a:xfrm flipV="1">
            <a:off x="6392863" y="2424113"/>
            <a:ext cx="3175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0" name="Line 27"/>
          <p:cNvSpPr/>
          <p:nvPr/>
        </p:nvSpPr>
        <p:spPr>
          <a:xfrm>
            <a:off x="6007100" y="1501775"/>
            <a:ext cx="1588" cy="2428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1" name="Line 28"/>
          <p:cNvSpPr/>
          <p:nvPr/>
        </p:nvSpPr>
        <p:spPr>
          <a:xfrm>
            <a:off x="6392863" y="3140075"/>
            <a:ext cx="3175" cy="17145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2" name="Line 29"/>
          <p:cNvSpPr/>
          <p:nvPr/>
        </p:nvSpPr>
        <p:spPr>
          <a:xfrm>
            <a:off x="5399088" y="2266950"/>
            <a:ext cx="290512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3" name="Line 30"/>
          <p:cNvSpPr/>
          <p:nvPr/>
        </p:nvSpPr>
        <p:spPr>
          <a:xfrm>
            <a:off x="6392863" y="2266950"/>
            <a:ext cx="576262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4" name="Line 31"/>
          <p:cNvSpPr/>
          <p:nvPr/>
        </p:nvSpPr>
        <p:spPr>
          <a:xfrm>
            <a:off x="6302375" y="3311525"/>
            <a:ext cx="182563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5" name="Line 32"/>
          <p:cNvSpPr/>
          <p:nvPr/>
        </p:nvSpPr>
        <p:spPr>
          <a:xfrm>
            <a:off x="6335713" y="3340100"/>
            <a:ext cx="107950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6" name="Line 33"/>
          <p:cNvSpPr/>
          <p:nvPr/>
        </p:nvSpPr>
        <p:spPr>
          <a:xfrm>
            <a:off x="6376988" y="3367088"/>
            <a:ext cx="33337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7" name="Line 34"/>
          <p:cNvSpPr/>
          <p:nvPr/>
        </p:nvSpPr>
        <p:spPr>
          <a:xfrm>
            <a:off x="5905500" y="1501775"/>
            <a:ext cx="214313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48" name="Rectangle 35"/>
          <p:cNvSpPr/>
          <p:nvPr/>
        </p:nvSpPr>
        <p:spPr>
          <a:xfrm>
            <a:off x="5845175" y="1381125"/>
            <a:ext cx="368300" cy="130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849" name="Rectangle 36"/>
          <p:cNvSpPr/>
          <p:nvPr/>
        </p:nvSpPr>
        <p:spPr>
          <a:xfrm>
            <a:off x="5829300" y="1333500"/>
            <a:ext cx="1111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V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50" name="Rectangle 37"/>
          <p:cNvSpPr/>
          <p:nvPr/>
        </p:nvSpPr>
        <p:spPr>
          <a:xfrm>
            <a:off x="5970588" y="1333500"/>
            <a:ext cx="1111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51" name="Rectangle 38"/>
          <p:cNvSpPr/>
          <p:nvPr/>
        </p:nvSpPr>
        <p:spPr>
          <a:xfrm>
            <a:off x="6116638" y="1333500"/>
            <a:ext cx="1111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52" name="Rectangle 39"/>
          <p:cNvSpPr/>
          <p:nvPr/>
        </p:nvSpPr>
        <p:spPr>
          <a:xfrm>
            <a:off x="7027863" y="2198688"/>
            <a:ext cx="165100" cy="120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853" name="Rectangle 40"/>
          <p:cNvSpPr/>
          <p:nvPr/>
        </p:nvSpPr>
        <p:spPr>
          <a:xfrm>
            <a:off x="7054850" y="2166938"/>
            <a:ext cx="1111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54" name="Line 41"/>
          <p:cNvSpPr/>
          <p:nvPr/>
        </p:nvSpPr>
        <p:spPr>
          <a:xfrm flipV="1">
            <a:off x="6211888" y="2868613"/>
            <a:ext cx="1587" cy="200025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55" name="Line 42"/>
          <p:cNvSpPr/>
          <p:nvPr/>
        </p:nvSpPr>
        <p:spPr>
          <a:xfrm>
            <a:off x="6272213" y="3068638"/>
            <a:ext cx="12065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56" name="Line 43"/>
          <p:cNvSpPr/>
          <p:nvPr/>
        </p:nvSpPr>
        <p:spPr>
          <a:xfrm flipV="1">
            <a:off x="6272213" y="2868613"/>
            <a:ext cx="3175" cy="200025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57" name="Line 44"/>
          <p:cNvSpPr/>
          <p:nvPr/>
        </p:nvSpPr>
        <p:spPr>
          <a:xfrm>
            <a:off x="6272213" y="2868613"/>
            <a:ext cx="12065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58" name="Line 45"/>
          <p:cNvSpPr/>
          <p:nvPr/>
        </p:nvSpPr>
        <p:spPr>
          <a:xfrm>
            <a:off x="6078538" y="2971800"/>
            <a:ext cx="133350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59" name="Line 46"/>
          <p:cNvSpPr/>
          <p:nvPr/>
        </p:nvSpPr>
        <p:spPr>
          <a:xfrm flipV="1">
            <a:off x="6392863" y="3068638"/>
            <a:ext cx="3175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0" name="Line 47"/>
          <p:cNvSpPr/>
          <p:nvPr/>
        </p:nvSpPr>
        <p:spPr>
          <a:xfrm flipV="1">
            <a:off x="6392863" y="2800350"/>
            <a:ext cx="3175" cy="68263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1" name="Line 48"/>
          <p:cNvSpPr/>
          <p:nvPr/>
        </p:nvSpPr>
        <p:spPr>
          <a:xfrm flipV="1">
            <a:off x="6454775" y="1814513"/>
            <a:ext cx="1588" cy="2032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2" name="Line 49"/>
          <p:cNvSpPr/>
          <p:nvPr/>
        </p:nvSpPr>
        <p:spPr>
          <a:xfrm>
            <a:off x="6516688" y="2017713"/>
            <a:ext cx="117475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3" name="Line 50"/>
          <p:cNvSpPr/>
          <p:nvPr/>
        </p:nvSpPr>
        <p:spPr>
          <a:xfrm flipV="1">
            <a:off x="6516688" y="1814513"/>
            <a:ext cx="1587" cy="2032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4" name="Line 51"/>
          <p:cNvSpPr/>
          <p:nvPr/>
        </p:nvSpPr>
        <p:spPr>
          <a:xfrm>
            <a:off x="6516688" y="1814513"/>
            <a:ext cx="117475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5" name="Line 52"/>
          <p:cNvSpPr/>
          <p:nvPr/>
        </p:nvSpPr>
        <p:spPr>
          <a:xfrm>
            <a:off x="6323013" y="1916113"/>
            <a:ext cx="93662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6" name="Line 53"/>
          <p:cNvSpPr/>
          <p:nvPr/>
        </p:nvSpPr>
        <p:spPr>
          <a:xfrm flipV="1">
            <a:off x="6634163" y="2017713"/>
            <a:ext cx="3175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7" name="Line 54"/>
          <p:cNvSpPr/>
          <p:nvPr/>
        </p:nvSpPr>
        <p:spPr>
          <a:xfrm flipV="1">
            <a:off x="6634163" y="1746250"/>
            <a:ext cx="3175" cy="68263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68" name="Freeform 55"/>
          <p:cNvSpPr/>
          <p:nvPr/>
        </p:nvSpPr>
        <p:spPr>
          <a:xfrm>
            <a:off x="6416675" y="1897063"/>
            <a:ext cx="44450" cy="39687"/>
          </a:xfrm>
          <a:custGeom>
            <a:avLst/>
            <a:gdLst>
              <a:gd name="txL" fmla="*/ 0 w 61"/>
              <a:gd name="txT" fmla="*/ 0 h 74"/>
              <a:gd name="txR" fmla="*/ 61 w 61"/>
              <a:gd name="txB" fmla="*/ 74 h 74"/>
            </a:gdLst>
            <a:ahLst/>
            <a:cxnLst>
              <a:cxn ang="0">
                <a:pos x="0" y="13518785"/>
              </a:cxn>
              <a:cxn ang="0">
                <a:pos x="1061699" y="14669171"/>
              </a:cxn>
              <a:cxn ang="0">
                <a:pos x="1592913" y="15819558"/>
              </a:cxn>
              <a:cxn ang="0">
                <a:pos x="2124127" y="16682481"/>
              </a:cxn>
              <a:cxn ang="0">
                <a:pos x="3185827" y="17545405"/>
              </a:cxn>
              <a:cxn ang="0">
                <a:pos x="4778740" y="18408333"/>
              </a:cxn>
              <a:cxn ang="0">
                <a:pos x="5841167" y="18983794"/>
              </a:cxn>
              <a:cxn ang="0">
                <a:pos x="6902868" y="19558719"/>
              </a:cxn>
              <a:cxn ang="0">
                <a:pos x="8495780" y="20134181"/>
              </a:cxn>
              <a:cxn ang="0">
                <a:pos x="9557479" y="20709105"/>
              </a:cxn>
              <a:cxn ang="0">
                <a:pos x="11150392" y="20997104"/>
              </a:cxn>
              <a:cxn ang="0">
                <a:pos x="13274521" y="21284567"/>
              </a:cxn>
              <a:cxn ang="0">
                <a:pos x="15398648" y="21284567"/>
              </a:cxn>
              <a:cxn ang="0">
                <a:pos x="18053259" y="21284567"/>
              </a:cxn>
              <a:cxn ang="0">
                <a:pos x="20177386" y="20997104"/>
              </a:cxn>
              <a:cxn ang="0">
                <a:pos x="21770299" y="20709105"/>
              </a:cxn>
              <a:cxn ang="0">
                <a:pos x="23363211" y="20421643"/>
              </a:cxn>
              <a:cxn ang="0">
                <a:pos x="24956130" y="19846182"/>
              </a:cxn>
              <a:cxn ang="0">
                <a:pos x="26018557" y="19271257"/>
              </a:cxn>
              <a:cxn ang="0">
                <a:pos x="27080256" y="18695796"/>
              </a:cxn>
              <a:cxn ang="0">
                <a:pos x="28141955" y="17832872"/>
              </a:cxn>
              <a:cxn ang="0">
                <a:pos x="29204383" y="16682481"/>
              </a:cxn>
              <a:cxn ang="0">
                <a:pos x="30266082" y="16107020"/>
              </a:cxn>
              <a:cxn ang="0">
                <a:pos x="30797295" y="14956634"/>
              </a:cxn>
              <a:cxn ang="0">
                <a:pos x="31328509" y="13806248"/>
              </a:cxn>
              <a:cxn ang="0">
                <a:pos x="31858994" y="10642552"/>
              </a:cxn>
              <a:cxn ang="0">
                <a:pos x="32390208" y="7765779"/>
              </a:cxn>
              <a:cxn ang="0">
                <a:pos x="31328509" y="6615393"/>
              </a:cxn>
              <a:cxn ang="0">
                <a:pos x="30797295" y="5465007"/>
              </a:cxn>
              <a:cxn ang="0">
                <a:pos x="30266082" y="4602083"/>
              </a:cxn>
              <a:cxn ang="0">
                <a:pos x="29204383" y="3739158"/>
              </a:cxn>
              <a:cxn ang="0">
                <a:pos x="27611470" y="2876235"/>
              </a:cxn>
              <a:cxn ang="0">
                <a:pos x="26549042" y="2300773"/>
              </a:cxn>
              <a:cxn ang="0">
                <a:pos x="25487344" y="1725848"/>
              </a:cxn>
              <a:cxn ang="0">
                <a:pos x="23894431" y="1150387"/>
              </a:cxn>
              <a:cxn ang="0">
                <a:pos x="22832726" y="575462"/>
              </a:cxn>
              <a:cxn ang="0">
                <a:pos x="21239813" y="287463"/>
              </a:cxn>
              <a:cxn ang="0">
                <a:pos x="19115687" y="0"/>
              </a:cxn>
              <a:cxn ang="0">
                <a:pos x="16991560" y="0"/>
              </a:cxn>
              <a:cxn ang="0">
                <a:pos x="14336949" y="0"/>
              </a:cxn>
              <a:cxn ang="0">
                <a:pos x="12212822" y="287463"/>
              </a:cxn>
              <a:cxn ang="0">
                <a:pos x="10619907" y="575462"/>
              </a:cxn>
              <a:cxn ang="0">
                <a:pos x="9026994" y="862924"/>
              </a:cxn>
              <a:cxn ang="0">
                <a:pos x="7434081" y="1438386"/>
              </a:cxn>
              <a:cxn ang="0">
                <a:pos x="6371654" y="2013310"/>
              </a:cxn>
              <a:cxn ang="0">
                <a:pos x="5309953" y="2588772"/>
              </a:cxn>
              <a:cxn ang="0">
                <a:pos x="4248254" y="3451696"/>
              </a:cxn>
              <a:cxn ang="0">
                <a:pos x="3185827" y="4602083"/>
              </a:cxn>
              <a:cxn ang="0">
                <a:pos x="2124127" y="5177545"/>
              </a:cxn>
              <a:cxn ang="0">
                <a:pos x="1592913" y="6327931"/>
              </a:cxn>
              <a:cxn ang="0">
                <a:pos x="1061699" y="7478317"/>
              </a:cxn>
              <a:cxn ang="0">
                <a:pos x="531214" y="10354553"/>
              </a:cxn>
            </a:cxnLst>
            <a:rect l="txL" t="txT" r="txR" b="txB"/>
            <a:pathLst>
              <a:path w="61" h="74">
                <a:moveTo>
                  <a:pt x="0" y="37"/>
                </a:moveTo>
                <a:lnTo>
                  <a:pt x="0" y="43"/>
                </a:lnTo>
                <a:lnTo>
                  <a:pt x="0" y="45"/>
                </a:lnTo>
                <a:lnTo>
                  <a:pt x="0" y="47"/>
                </a:lnTo>
                <a:lnTo>
                  <a:pt x="1" y="48"/>
                </a:lnTo>
                <a:lnTo>
                  <a:pt x="1" y="49"/>
                </a:lnTo>
                <a:lnTo>
                  <a:pt x="1" y="50"/>
                </a:lnTo>
                <a:lnTo>
                  <a:pt x="2" y="51"/>
                </a:lnTo>
                <a:lnTo>
                  <a:pt x="2" y="52"/>
                </a:lnTo>
                <a:lnTo>
                  <a:pt x="2" y="53"/>
                </a:lnTo>
                <a:lnTo>
                  <a:pt x="3" y="54"/>
                </a:lnTo>
                <a:lnTo>
                  <a:pt x="3" y="55"/>
                </a:lnTo>
                <a:lnTo>
                  <a:pt x="3" y="56"/>
                </a:lnTo>
                <a:lnTo>
                  <a:pt x="4" y="56"/>
                </a:lnTo>
                <a:lnTo>
                  <a:pt x="4" y="57"/>
                </a:lnTo>
                <a:lnTo>
                  <a:pt x="4" y="58"/>
                </a:lnTo>
                <a:lnTo>
                  <a:pt x="5" y="58"/>
                </a:lnTo>
                <a:lnTo>
                  <a:pt x="5" y="59"/>
                </a:lnTo>
                <a:lnTo>
                  <a:pt x="6" y="60"/>
                </a:lnTo>
                <a:lnTo>
                  <a:pt x="6" y="61"/>
                </a:lnTo>
                <a:lnTo>
                  <a:pt x="7" y="62"/>
                </a:lnTo>
                <a:lnTo>
                  <a:pt x="8" y="63"/>
                </a:lnTo>
                <a:lnTo>
                  <a:pt x="8" y="64"/>
                </a:lnTo>
                <a:lnTo>
                  <a:pt x="9" y="64"/>
                </a:lnTo>
                <a:lnTo>
                  <a:pt x="9" y="65"/>
                </a:lnTo>
                <a:lnTo>
                  <a:pt x="10" y="65"/>
                </a:lnTo>
                <a:lnTo>
                  <a:pt x="10" y="66"/>
                </a:lnTo>
                <a:lnTo>
                  <a:pt x="11" y="66"/>
                </a:lnTo>
                <a:lnTo>
                  <a:pt x="11" y="67"/>
                </a:lnTo>
                <a:lnTo>
                  <a:pt x="12" y="67"/>
                </a:lnTo>
                <a:lnTo>
                  <a:pt x="12" y="68"/>
                </a:lnTo>
                <a:lnTo>
                  <a:pt x="13" y="68"/>
                </a:lnTo>
                <a:lnTo>
                  <a:pt x="13" y="69"/>
                </a:lnTo>
                <a:lnTo>
                  <a:pt x="14" y="69"/>
                </a:lnTo>
                <a:lnTo>
                  <a:pt x="15" y="70"/>
                </a:lnTo>
                <a:lnTo>
                  <a:pt x="16" y="70"/>
                </a:lnTo>
                <a:lnTo>
                  <a:pt x="16" y="71"/>
                </a:lnTo>
                <a:lnTo>
                  <a:pt x="17" y="71"/>
                </a:lnTo>
                <a:lnTo>
                  <a:pt x="18" y="71"/>
                </a:lnTo>
                <a:lnTo>
                  <a:pt x="18" y="72"/>
                </a:lnTo>
                <a:lnTo>
                  <a:pt x="19" y="72"/>
                </a:lnTo>
                <a:lnTo>
                  <a:pt x="20" y="72"/>
                </a:lnTo>
                <a:lnTo>
                  <a:pt x="20" y="73"/>
                </a:lnTo>
                <a:lnTo>
                  <a:pt x="21" y="73"/>
                </a:lnTo>
                <a:lnTo>
                  <a:pt x="22" y="73"/>
                </a:lnTo>
                <a:lnTo>
                  <a:pt x="23" y="74"/>
                </a:lnTo>
                <a:lnTo>
                  <a:pt x="24" y="74"/>
                </a:lnTo>
                <a:lnTo>
                  <a:pt x="25" y="74"/>
                </a:lnTo>
                <a:lnTo>
                  <a:pt x="26" y="74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31" y="74"/>
                </a:lnTo>
                <a:lnTo>
                  <a:pt x="32" y="74"/>
                </a:lnTo>
                <a:lnTo>
                  <a:pt x="33" y="74"/>
                </a:lnTo>
                <a:lnTo>
                  <a:pt x="34" y="74"/>
                </a:lnTo>
                <a:lnTo>
                  <a:pt x="35" y="74"/>
                </a:lnTo>
                <a:lnTo>
                  <a:pt x="36" y="74"/>
                </a:lnTo>
                <a:lnTo>
                  <a:pt x="37" y="74"/>
                </a:lnTo>
                <a:lnTo>
                  <a:pt x="38" y="73"/>
                </a:lnTo>
                <a:lnTo>
                  <a:pt x="39" y="73"/>
                </a:lnTo>
                <a:lnTo>
                  <a:pt x="40" y="73"/>
                </a:lnTo>
                <a:lnTo>
                  <a:pt x="40" y="72"/>
                </a:lnTo>
                <a:lnTo>
                  <a:pt x="41" y="72"/>
                </a:lnTo>
                <a:lnTo>
                  <a:pt x="42" y="72"/>
                </a:lnTo>
                <a:lnTo>
                  <a:pt x="42" y="71"/>
                </a:lnTo>
                <a:lnTo>
                  <a:pt x="43" y="71"/>
                </a:lnTo>
                <a:lnTo>
                  <a:pt x="44" y="71"/>
                </a:lnTo>
                <a:lnTo>
                  <a:pt x="44" y="70"/>
                </a:lnTo>
                <a:lnTo>
                  <a:pt x="45" y="70"/>
                </a:lnTo>
                <a:lnTo>
                  <a:pt x="46" y="69"/>
                </a:lnTo>
                <a:lnTo>
                  <a:pt x="47" y="69"/>
                </a:lnTo>
                <a:lnTo>
                  <a:pt x="47" y="68"/>
                </a:lnTo>
                <a:lnTo>
                  <a:pt x="48" y="68"/>
                </a:lnTo>
                <a:lnTo>
                  <a:pt x="48" y="67"/>
                </a:lnTo>
                <a:lnTo>
                  <a:pt x="49" y="67"/>
                </a:lnTo>
                <a:lnTo>
                  <a:pt x="49" y="66"/>
                </a:lnTo>
                <a:lnTo>
                  <a:pt x="50" y="66"/>
                </a:lnTo>
                <a:lnTo>
                  <a:pt x="50" y="65"/>
                </a:lnTo>
                <a:lnTo>
                  <a:pt x="51" y="65"/>
                </a:lnTo>
                <a:lnTo>
                  <a:pt x="51" y="64"/>
                </a:lnTo>
                <a:lnTo>
                  <a:pt x="52" y="64"/>
                </a:lnTo>
                <a:lnTo>
                  <a:pt x="52" y="63"/>
                </a:lnTo>
                <a:lnTo>
                  <a:pt x="53" y="62"/>
                </a:lnTo>
                <a:lnTo>
                  <a:pt x="54" y="61"/>
                </a:lnTo>
                <a:lnTo>
                  <a:pt x="54" y="60"/>
                </a:lnTo>
                <a:lnTo>
                  <a:pt x="55" y="59"/>
                </a:lnTo>
                <a:lnTo>
                  <a:pt x="55" y="58"/>
                </a:lnTo>
                <a:lnTo>
                  <a:pt x="56" y="58"/>
                </a:lnTo>
                <a:lnTo>
                  <a:pt x="56" y="57"/>
                </a:lnTo>
                <a:lnTo>
                  <a:pt x="56" y="56"/>
                </a:lnTo>
                <a:lnTo>
                  <a:pt x="57" y="56"/>
                </a:lnTo>
                <a:lnTo>
                  <a:pt x="57" y="55"/>
                </a:lnTo>
                <a:lnTo>
                  <a:pt x="57" y="54"/>
                </a:lnTo>
                <a:lnTo>
                  <a:pt x="58" y="53"/>
                </a:lnTo>
                <a:lnTo>
                  <a:pt x="58" y="52"/>
                </a:lnTo>
                <a:lnTo>
                  <a:pt x="58" y="51"/>
                </a:lnTo>
                <a:lnTo>
                  <a:pt x="59" y="50"/>
                </a:lnTo>
                <a:lnTo>
                  <a:pt x="59" y="49"/>
                </a:lnTo>
                <a:lnTo>
                  <a:pt x="59" y="48"/>
                </a:lnTo>
                <a:lnTo>
                  <a:pt x="60" y="47"/>
                </a:lnTo>
                <a:lnTo>
                  <a:pt x="60" y="45"/>
                </a:lnTo>
                <a:lnTo>
                  <a:pt x="60" y="43"/>
                </a:lnTo>
                <a:lnTo>
                  <a:pt x="60" y="37"/>
                </a:lnTo>
                <a:lnTo>
                  <a:pt x="61" y="36"/>
                </a:lnTo>
                <a:lnTo>
                  <a:pt x="61" y="31"/>
                </a:lnTo>
                <a:lnTo>
                  <a:pt x="61" y="29"/>
                </a:lnTo>
                <a:lnTo>
                  <a:pt x="61" y="27"/>
                </a:lnTo>
                <a:lnTo>
                  <a:pt x="60" y="26"/>
                </a:lnTo>
                <a:lnTo>
                  <a:pt x="60" y="25"/>
                </a:lnTo>
                <a:lnTo>
                  <a:pt x="60" y="24"/>
                </a:lnTo>
                <a:lnTo>
                  <a:pt x="59" y="23"/>
                </a:lnTo>
                <a:lnTo>
                  <a:pt x="59" y="22"/>
                </a:lnTo>
                <a:lnTo>
                  <a:pt x="59" y="21"/>
                </a:lnTo>
                <a:lnTo>
                  <a:pt x="58" y="20"/>
                </a:lnTo>
                <a:lnTo>
                  <a:pt x="58" y="19"/>
                </a:lnTo>
                <a:lnTo>
                  <a:pt x="58" y="18"/>
                </a:lnTo>
                <a:lnTo>
                  <a:pt x="57" y="18"/>
                </a:lnTo>
                <a:lnTo>
                  <a:pt x="57" y="17"/>
                </a:lnTo>
                <a:lnTo>
                  <a:pt x="57" y="16"/>
                </a:lnTo>
                <a:lnTo>
                  <a:pt x="56" y="16"/>
                </a:lnTo>
                <a:lnTo>
                  <a:pt x="56" y="15"/>
                </a:lnTo>
                <a:lnTo>
                  <a:pt x="55" y="14"/>
                </a:lnTo>
                <a:lnTo>
                  <a:pt x="55" y="13"/>
                </a:lnTo>
                <a:lnTo>
                  <a:pt x="54" y="12"/>
                </a:lnTo>
                <a:lnTo>
                  <a:pt x="53" y="11"/>
                </a:lnTo>
                <a:lnTo>
                  <a:pt x="53" y="10"/>
                </a:lnTo>
                <a:lnTo>
                  <a:pt x="52" y="10"/>
                </a:lnTo>
                <a:lnTo>
                  <a:pt x="52" y="9"/>
                </a:lnTo>
                <a:lnTo>
                  <a:pt x="51" y="9"/>
                </a:lnTo>
                <a:lnTo>
                  <a:pt x="51" y="8"/>
                </a:lnTo>
                <a:lnTo>
                  <a:pt x="50" y="8"/>
                </a:lnTo>
                <a:lnTo>
                  <a:pt x="50" y="7"/>
                </a:lnTo>
                <a:lnTo>
                  <a:pt x="49" y="7"/>
                </a:lnTo>
                <a:lnTo>
                  <a:pt x="49" y="6"/>
                </a:lnTo>
                <a:lnTo>
                  <a:pt x="48" y="6"/>
                </a:lnTo>
                <a:lnTo>
                  <a:pt x="48" y="5"/>
                </a:lnTo>
                <a:lnTo>
                  <a:pt x="47" y="5"/>
                </a:lnTo>
                <a:lnTo>
                  <a:pt x="46" y="4"/>
                </a:lnTo>
                <a:lnTo>
                  <a:pt x="45" y="4"/>
                </a:lnTo>
                <a:lnTo>
                  <a:pt x="45" y="3"/>
                </a:lnTo>
                <a:lnTo>
                  <a:pt x="44" y="3"/>
                </a:lnTo>
                <a:lnTo>
                  <a:pt x="43" y="3"/>
                </a:lnTo>
                <a:lnTo>
                  <a:pt x="43" y="2"/>
                </a:lnTo>
                <a:lnTo>
                  <a:pt x="42" y="2"/>
                </a:lnTo>
                <a:lnTo>
                  <a:pt x="41" y="2"/>
                </a:lnTo>
                <a:lnTo>
                  <a:pt x="41" y="1"/>
                </a:lnTo>
                <a:lnTo>
                  <a:pt x="40" y="1"/>
                </a:lnTo>
                <a:lnTo>
                  <a:pt x="39" y="1"/>
                </a:lnTo>
                <a:lnTo>
                  <a:pt x="38" y="0"/>
                </a:lnTo>
                <a:lnTo>
                  <a:pt x="37" y="0"/>
                </a:lnTo>
                <a:lnTo>
                  <a:pt x="36" y="0"/>
                </a:lnTo>
                <a:lnTo>
                  <a:pt x="35" y="0"/>
                </a:lnTo>
                <a:lnTo>
                  <a:pt x="34" y="0"/>
                </a:lnTo>
                <a:lnTo>
                  <a:pt x="33" y="0"/>
                </a:lnTo>
                <a:lnTo>
                  <a:pt x="32" y="0"/>
                </a:lnTo>
                <a:lnTo>
                  <a:pt x="31" y="0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5" y="0"/>
                </a:lnTo>
                <a:lnTo>
                  <a:pt x="24" y="0"/>
                </a:lnTo>
                <a:lnTo>
                  <a:pt x="23" y="1"/>
                </a:lnTo>
                <a:lnTo>
                  <a:pt x="22" y="1"/>
                </a:lnTo>
                <a:lnTo>
                  <a:pt x="21" y="1"/>
                </a:lnTo>
                <a:lnTo>
                  <a:pt x="21" y="2"/>
                </a:lnTo>
                <a:lnTo>
                  <a:pt x="20" y="2"/>
                </a:ln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lnTo>
                  <a:pt x="17" y="3"/>
                </a:lnTo>
                <a:lnTo>
                  <a:pt x="17" y="4"/>
                </a:lnTo>
                <a:lnTo>
                  <a:pt x="16" y="4"/>
                </a:lnTo>
                <a:lnTo>
                  <a:pt x="15" y="5"/>
                </a:lnTo>
                <a:lnTo>
                  <a:pt x="14" y="5"/>
                </a:lnTo>
                <a:lnTo>
                  <a:pt x="14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1" y="8"/>
                </a:lnTo>
                <a:lnTo>
                  <a:pt x="11" y="9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8" y="12"/>
                </a:lnTo>
                <a:lnTo>
                  <a:pt x="7" y="13"/>
                </a:lnTo>
                <a:lnTo>
                  <a:pt x="7" y="14"/>
                </a:lnTo>
                <a:lnTo>
                  <a:pt x="6" y="15"/>
                </a:lnTo>
                <a:lnTo>
                  <a:pt x="6" y="16"/>
                </a:lnTo>
                <a:lnTo>
                  <a:pt x="5" y="16"/>
                </a:lnTo>
                <a:lnTo>
                  <a:pt x="5" y="17"/>
                </a:lnTo>
                <a:lnTo>
                  <a:pt x="5" y="18"/>
                </a:lnTo>
                <a:lnTo>
                  <a:pt x="4" y="18"/>
                </a:lnTo>
                <a:lnTo>
                  <a:pt x="4" y="19"/>
                </a:lnTo>
                <a:lnTo>
                  <a:pt x="4" y="20"/>
                </a:lnTo>
                <a:lnTo>
                  <a:pt x="3" y="21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2" y="25"/>
                </a:lnTo>
                <a:lnTo>
                  <a:pt x="2" y="26"/>
                </a:lnTo>
                <a:lnTo>
                  <a:pt x="1" y="27"/>
                </a:lnTo>
                <a:lnTo>
                  <a:pt x="1" y="29"/>
                </a:lnTo>
                <a:lnTo>
                  <a:pt x="1" y="31"/>
                </a:lnTo>
                <a:lnTo>
                  <a:pt x="1" y="36"/>
                </a:lnTo>
                <a:lnTo>
                  <a:pt x="0" y="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31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869" name="Rectangle 56"/>
          <p:cNvSpPr/>
          <p:nvPr/>
        </p:nvSpPr>
        <p:spPr>
          <a:xfrm>
            <a:off x="6321425" y="1744663"/>
            <a:ext cx="317500" cy="3429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870" name="Line 57"/>
          <p:cNvSpPr/>
          <p:nvPr/>
        </p:nvSpPr>
        <p:spPr>
          <a:xfrm flipV="1">
            <a:off x="6007100" y="2087563"/>
            <a:ext cx="631825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1" name="Line 58"/>
          <p:cNvSpPr/>
          <p:nvPr/>
        </p:nvSpPr>
        <p:spPr>
          <a:xfrm flipV="1">
            <a:off x="6007100" y="1744663"/>
            <a:ext cx="631825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2" name="Line 59"/>
          <p:cNvSpPr/>
          <p:nvPr/>
        </p:nvSpPr>
        <p:spPr>
          <a:xfrm>
            <a:off x="6392863" y="2760663"/>
            <a:ext cx="3175" cy="4445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3" name="Line 60"/>
          <p:cNvSpPr/>
          <p:nvPr/>
        </p:nvSpPr>
        <p:spPr>
          <a:xfrm>
            <a:off x="6392863" y="2095500"/>
            <a:ext cx="3175" cy="333375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4" name="Line 61"/>
          <p:cNvSpPr/>
          <p:nvPr/>
        </p:nvSpPr>
        <p:spPr>
          <a:xfrm>
            <a:off x="5689600" y="1916113"/>
            <a:ext cx="1588" cy="676275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5" name="Line 62"/>
          <p:cNvSpPr/>
          <p:nvPr/>
        </p:nvSpPr>
        <p:spPr>
          <a:xfrm>
            <a:off x="5689600" y="2592388"/>
            <a:ext cx="38735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6" name="Line 63"/>
          <p:cNvSpPr/>
          <p:nvPr/>
        </p:nvSpPr>
        <p:spPr>
          <a:xfrm flipV="1">
            <a:off x="6076950" y="1916113"/>
            <a:ext cx="244475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7" name="Line 64"/>
          <p:cNvSpPr/>
          <p:nvPr/>
        </p:nvSpPr>
        <p:spPr>
          <a:xfrm>
            <a:off x="6076950" y="1916113"/>
            <a:ext cx="1588" cy="105251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8" name="Line 65"/>
          <p:cNvSpPr/>
          <p:nvPr/>
        </p:nvSpPr>
        <p:spPr>
          <a:xfrm>
            <a:off x="5380038" y="2762250"/>
            <a:ext cx="696912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79" name="Rectangle 66"/>
          <p:cNvSpPr/>
          <p:nvPr/>
        </p:nvSpPr>
        <p:spPr>
          <a:xfrm>
            <a:off x="5156200" y="2198688"/>
            <a:ext cx="165100" cy="120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880" name="Rectangle 67"/>
          <p:cNvSpPr/>
          <p:nvPr/>
        </p:nvSpPr>
        <p:spPr>
          <a:xfrm>
            <a:off x="5184775" y="2166938"/>
            <a:ext cx="103188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81" name="Rectangle 68"/>
          <p:cNvSpPr/>
          <p:nvPr/>
        </p:nvSpPr>
        <p:spPr>
          <a:xfrm>
            <a:off x="5156200" y="2711450"/>
            <a:ext cx="165100" cy="120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882" name="Rectangle 69"/>
          <p:cNvSpPr/>
          <p:nvPr/>
        </p:nvSpPr>
        <p:spPr>
          <a:xfrm>
            <a:off x="5176838" y="2679700"/>
            <a:ext cx="1111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83" name="Line 72"/>
          <p:cNvSpPr/>
          <p:nvPr/>
        </p:nvSpPr>
        <p:spPr>
          <a:xfrm>
            <a:off x="6510338" y="6230938"/>
            <a:ext cx="1587" cy="17145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84" name="Line 73"/>
          <p:cNvSpPr/>
          <p:nvPr/>
        </p:nvSpPr>
        <p:spPr>
          <a:xfrm>
            <a:off x="5322888" y="5732463"/>
            <a:ext cx="71120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85" name="Line 74"/>
          <p:cNvSpPr/>
          <p:nvPr/>
        </p:nvSpPr>
        <p:spPr>
          <a:xfrm>
            <a:off x="6348413" y="5651500"/>
            <a:ext cx="574675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86" name="Line 75"/>
          <p:cNvSpPr/>
          <p:nvPr/>
        </p:nvSpPr>
        <p:spPr>
          <a:xfrm>
            <a:off x="6418263" y="6402388"/>
            <a:ext cx="182562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87" name="Line 76"/>
          <p:cNvSpPr/>
          <p:nvPr/>
        </p:nvSpPr>
        <p:spPr>
          <a:xfrm>
            <a:off x="6453188" y="6430963"/>
            <a:ext cx="10795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88" name="Line 77"/>
          <p:cNvSpPr/>
          <p:nvPr/>
        </p:nvSpPr>
        <p:spPr>
          <a:xfrm>
            <a:off x="6492875" y="6457950"/>
            <a:ext cx="33338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89" name="Line 78"/>
          <p:cNvSpPr/>
          <p:nvPr/>
        </p:nvSpPr>
        <p:spPr>
          <a:xfrm>
            <a:off x="6221413" y="4668838"/>
            <a:ext cx="21590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90" name="Rectangle 79"/>
          <p:cNvSpPr/>
          <p:nvPr/>
        </p:nvSpPr>
        <p:spPr>
          <a:xfrm>
            <a:off x="6164263" y="4548188"/>
            <a:ext cx="368300" cy="13017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891" name="Rectangle 80"/>
          <p:cNvSpPr/>
          <p:nvPr/>
        </p:nvSpPr>
        <p:spPr>
          <a:xfrm>
            <a:off x="6148388" y="4484688"/>
            <a:ext cx="1111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V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92" name="Rectangle 81"/>
          <p:cNvSpPr/>
          <p:nvPr/>
        </p:nvSpPr>
        <p:spPr>
          <a:xfrm>
            <a:off x="6291263" y="4484688"/>
            <a:ext cx="109537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93" name="Rectangle 82"/>
          <p:cNvSpPr/>
          <p:nvPr/>
        </p:nvSpPr>
        <p:spPr>
          <a:xfrm>
            <a:off x="6437313" y="4484688"/>
            <a:ext cx="109537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D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94" name="Rectangle 83"/>
          <p:cNvSpPr/>
          <p:nvPr/>
        </p:nvSpPr>
        <p:spPr>
          <a:xfrm>
            <a:off x="7031038" y="5583238"/>
            <a:ext cx="165100" cy="120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895" name="Rectangle 84"/>
          <p:cNvSpPr/>
          <p:nvPr/>
        </p:nvSpPr>
        <p:spPr>
          <a:xfrm>
            <a:off x="7056438" y="5583238"/>
            <a:ext cx="111125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Y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896" name="Line 85"/>
          <p:cNvSpPr/>
          <p:nvPr/>
        </p:nvSpPr>
        <p:spPr>
          <a:xfrm flipV="1">
            <a:off x="5708650" y="5962650"/>
            <a:ext cx="1588" cy="19843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97" name="Line 86"/>
          <p:cNvSpPr/>
          <p:nvPr/>
        </p:nvSpPr>
        <p:spPr>
          <a:xfrm>
            <a:off x="5768975" y="6161088"/>
            <a:ext cx="123825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98" name="Line 87"/>
          <p:cNvSpPr/>
          <p:nvPr/>
        </p:nvSpPr>
        <p:spPr>
          <a:xfrm flipV="1">
            <a:off x="5768975" y="5962650"/>
            <a:ext cx="3175" cy="19843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99" name="Line 88"/>
          <p:cNvSpPr/>
          <p:nvPr/>
        </p:nvSpPr>
        <p:spPr>
          <a:xfrm>
            <a:off x="5768975" y="5962650"/>
            <a:ext cx="123825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0" name="Line 89"/>
          <p:cNvSpPr/>
          <p:nvPr/>
        </p:nvSpPr>
        <p:spPr>
          <a:xfrm>
            <a:off x="5575300" y="6065838"/>
            <a:ext cx="13335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1" name="Line 90"/>
          <p:cNvSpPr/>
          <p:nvPr/>
        </p:nvSpPr>
        <p:spPr>
          <a:xfrm flipV="1">
            <a:off x="5892800" y="6161088"/>
            <a:ext cx="1588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2" name="Line 91"/>
          <p:cNvSpPr/>
          <p:nvPr/>
        </p:nvSpPr>
        <p:spPr>
          <a:xfrm flipV="1">
            <a:off x="5892800" y="5894388"/>
            <a:ext cx="1588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3" name="Line 92"/>
          <p:cNvSpPr/>
          <p:nvPr/>
        </p:nvSpPr>
        <p:spPr>
          <a:xfrm flipV="1">
            <a:off x="6169025" y="4903788"/>
            <a:ext cx="1588" cy="2032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4" name="Line 93"/>
          <p:cNvSpPr/>
          <p:nvPr/>
        </p:nvSpPr>
        <p:spPr>
          <a:xfrm>
            <a:off x="6227763" y="5106988"/>
            <a:ext cx="119062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5" name="Line 94"/>
          <p:cNvSpPr/>
          <p:nvPr/>
        </p:nvSpPr>
        <p:spPr>
          <a:xfrm flipV="1">
            <a:off x="6227763" y="4903788"/>
            <a:ext cx="3175" cy="2032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6" name="Line 95"/>
          <p:cNvSpPr/>
          <p:nvPr/>
        </p:nvSpPr>
        <p:spPr>
          <a:xfrm>
            <a:off x="6227763" y="4903788"/>
            <a:ext cx="119062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7" name="Line 96"/>
          <p:cNvSpPr/>
          <p:nvPr/>
        </p:nvSpPr>
        <p:spPr>
          <a:xfrm>
            <a:off x="6038850" y="5005388"/>
            <a:ext cx="92075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8" name="Line 97"/>
          <p:cNvSpPr/>
          <p:nvPr/>
        </p:nvSpPr>
        <p:spPr>
          <a:xfrm flipV="1">
            <a:off x="6346825" y="5106988"/>
            <a:ext cx="1588" cy="6985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09" name="Line 98"/>
          <p:cNvSpPr/>
          <p:nvPr/>
        </p:nvSpPr>
        <p:spPr>
          <a:xfrm flipV="1">
            <a:off x="6346825" y="4835525"/>
            <a:ext cx="1588" cy="68263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10" name="Freeform 99"/>
          <p:cNvSpPr/>
          <p:nvPr/>
        </p:nvSpPr>
        <p:spPr>
          <a:xfrm>
            <a:off x="6130925" y="4986338"/>
            <a:ext cx="42863" cy="39687"/>
          </a:xfrm>
          <a:custGeom>
            <a:avLst/>
            <a:gdLst>
              <a:gd name="txL" fmla="*/ 0 w 61"/>
              <a:gd name="txT" fmla="*/ 0 h 74"/>
              <a:gd name="txR" fmla="*/ 61 w 61"/>
              <a:gd name="txB" fmla="*/ 74 h 74"/>
            </a:gdLst>
            <a:ahLst/>
            <a:cxnLst>
              <a:cxn ang="0">
                <a:pos x="0" y="13518785"/>
              </a:cxn>
              <a:cxn ang="0">
                <a:pos x="987254" y="14669171"/>
              </a:cxn>
              <a:cxn ang="0">
                <a:pos x="1481233" y="15819558"/>
              </a:cxn>
              <a:cxn ang="0">
                <a:pos x="1975212" y="16682481"/>
              </a:cxn>
              <a:cxn ang="0">
                <a:pos x="2962466" y="17545405"/>
              </a:cxn>
              <a:cxn ang="0">
                <a:pos x="4443699" y="18408333"/>
              </a:cxn>
              <a:cxn ang="0">
                <a:pos x="5430953" y="18983794"/>
              </a:cxn>
              <a:cxn ang="0">
                <a:pos x="6418911" y="19558719"/>
              </a:cxn>
              <a:cxn ang="0">
                <a:pos x="7900144" y="20134181"/>
              </a:cxn>
              <a:cxn ang="0">
                <a:pos x="8887398" y="20709105"/>
              </a:cxn>
              <a:cxn ang="0">
                <a:pos x="10368630" y="20997104"/>
              </a:cxn>
              <a:cxn ang="0">
                <a:pos x="12343844" y="21284567"/>
              </a:cxn>
              <a:cxn ang="0">
                <a:pos x="14318352" y="21284567"/>
              </a:cxn>
              <a:cxn ang="0">
                <a:pos x="16293563" y="21284567"/>
              </a:cxn>
              <a:cxn ang="0">
                <a:pos x="18268774" y="20997104"/>
              </a:cxn>
              <a:cxn ang="0">
                <a:pos x="20243985" y="20709105"/>
              </a:cxn>
              <a:cxn ang="0">
                <a:pos x="21725217" y="20421643"/>
              </a:cxn>
              <a:cxn ang="0">
                <a:pos x="23206455" y="19846182"/>
              </a:cxn>
              <a:cxn ang="0">
                <a:pos x="24193709" y="19271257"/>
              </a:cxn>
              <a:cxn ang="0">
                <a:pos x="25180963" y="18695796"/>
              </a:cxn>
              <a:cxn ang="0">
                <a:pos x="26168920" y="17832872"/>
              </a:cxn>
              <a:cxn ang="0">
                <a:pos x="27156174" y="16682481"/>
              </a:cxn>
              <a:cxn ang="0">
                <a:pos x="28143428" y="16107020"/>
              </a:cxn>
              <a:cxn ang="0">
                <a:pos x="28637407" y="14956634"/>
              </a:cxn>
              <a:cxn ang="0">
                <a:pos x="29131385" y="13806248"/>
              </a:cxn>
              <a:cxn ang="0">
                <a:pos x="29624661" y="10930014"/>
              </a:cxn>
              <a:cxn ang="0">
                <a:pos x="30118639" y="7765779"/>
              </a:cxn>
              <a:cxn ang="0">
                <a:pos x="29131385" y="6615393"/>
              </a:cxn>
              <a:cxn ang="0">
                <a:pos x="28637407" y="5465007"/>
              </a:cxn>
              <a:cxn ang="0">
                <a:pos x="28143428" y="4602083"/>
              </a:cxn>
              <a:cxn ang="0">
                <a:pos x="27156174" y="3739158"/>
              </a:cxn>
              <a:cxn ang="0">
                <a:pos x="25674942" y="2876235"/>
              </a:cxn>
              <a:cxn ang="0">
                <a:pos x="24687687" y="2300773"/>
              </a:cxn>
              <a:cxn ang="0">
                <a:pos x="23699731" y="1725848"/>
              </a:cxn>
              <a:cxn ang="0">
                <a:pos x="22218493" y="1150387"/>
              </a:cxn>
              <a:cxn ang="0">
                <a:pos x="21231239" y="575462"/>
              </a:cxn>
              <a:cxn ang="0">
                <a:pos x="19256028" y="287463"/>
              </a:cxn>
              <a:cxn ang="0">
                <a:pos x="17281520" y="0"/>
              </a:cxn>
              <a:cxn ang="0">
                <a:pos x="15306309" y="0"/>
              </a:cxn>
              <a:cxn ang="0">
                <a:pos x="13331098" y="0"/>
              </a:cxn>
              <a:cxn ang="0">
                <a:pos x="11355884" y="287463"/>
              </a:cxn>
              <a:cxn ang="0">
                <a:pos x="9874652" y="575462"/>
              </a:cxn>
              <a:cxn ang="0">
                <a:pos x="8393419" y="862924"/>
              </a:cxn>
              <a:cxn ang="0">
                <a:pos x="6912187" y="1438386"/>
              </a:cxn>
              <a:cxn ang="0">
                <a:pos x="5924933" y="2013310"/>
              </a:cxn>
              <a:cxn ang="0">
                <a:pos x="4937677" y="2588772"/>
              </a:cxn>
              <a:cxn ang="0">
                <a:pos x="3949720" y="3451696"/>
              </a:cxn>
              <a:cxn ang="0">
                <a:pos x="2962466" y="4602083"/>
              </a:cxn>
              <a:cxn ang="0">
                <a:pos x="1975212" y="5177545"/>
              </a:cxn>
              <a:cxn ang="0">
                <a:pos x="1481233" y="6327931"/>
              </a:cxn>
              <a:cxn ang="0">
                <a:pos x="987254" y="7478317"/>
              </a:cxn>
              <a:cxn ang="0">
                <a:pos x="493979" y="10642552"/>
              </a:cxn>
            </a:cxnLst>
            <a:rect l="txL" t="txT" r="txR" b="txB"/>
            <a:pathLst>
              <a:path w="61" h="74">
                <a:moveTo>
                  <a:pt x="0" y="38"/>
                </a:moveTo>
                <a:lnTo>
                  <a:pt x="0" y="43"/>
                </a:lnTo>
                <a:lnTo>
                  <a:pt x="0" y="45"/>
                </a:lnTo>
                <a:lnTo>
                  <a:pt x="0" y="47"/>
                </a:lnTo>
                <a:lnTo>
                  <a:pt x="1" y="48"/>
                </a:lnTo>
                <a:lnTo>
                  <a:pt x="1" y="49"/>
                </a:lnTo>
                <a:lnTo>
                  <a:pt x="1" y="50"/>
                </a:lnTo>
                <a:lnTo>
                  <a:pt x="2" y="51"/>
                </a:lnTo>
                <a:lnTo>
                  <a:pt x="2" y="52"/>
                </a:lnTo>
                <a:lnTo>
                  <a:pt x="2" y="53"/>
                </a:lnTo>
                <a:lnTo>
                  <a:pt x="3" y="54"/>
                </a:lnTo>
                <a:lnTo>
                  <a:pt x="3" y="55"/>
                </a:lnTo>
                <a:lnTo>
                  <a:pt x="3" y="56"/>
                </a:lnTo>
                <a:lnTo>
                  <a:pt x="4" y="56"/>
                </a:lnTo>
                <a:lnTo>
                  <a:pt x="4" y="57"/>
                </a:lnTo>
                <a:lnTo>
                  <a:pt x="4" y="58"/>
                </a:lnTo>
                <a:lnTo>
                  <a:pt x="5" y="58"/>
                </a:lnTo>
                <a:lnTo>
                  <a:pt x="5" y="59"/>
                </a:lnTo>
                <a:lnTo>
                  <a:pt x="6" y="60"/>
                </a:lnTo>
                <a:lnTo>
                  <a:pt x="6" y="61"/>
                </a:lnTo>
                <a:lnTo>
                  <a:pt x="7" y="62"/>
                </a:lnTo>
                <a:lnTo>
                  <a:pt x="8" y="63"/>
                </a:lnTo>
                <a:lnTo>
                  <a:pt x="8" y="64"/>
                </a:lnTo>
                <a:lnTo>
                  <a:pt x="9" y="64"/>
                </a:lnTo>
                <a:lnTo>
                  <a:pt x="9" y="65"/>
                </a:lnTo>
                <a:lnTo>
                  <a:pt x="10" y="65"/>
                </a:lnTo>
                <a:lnTo>
                  <a:pt x="10" y="66"/>
                </a:lnTo>
                <a:lnTo>
                  <a:pt x="11" y="66"/>
                </a:lnTo>
                <a:lnTo>
                  <a:pt x="11" y="67"/>
                </a:lnTo>
                <a:lnTo>
                  <a:pt x="12" y="67"/>
                </a:lnTo>
                <a:lnTo>
                  <a:pt x="12" y="68"/>
                </a:lnTo>
                <a:lnTo>
                  <a:pt x="13" y="68"/>
                </a:lnTo>
                <a:lnTo>
                  <a:pt x="13" y="69"/>
                </a:lnTo>
                <a:lnTo>
                  <a:pt x="14" y="69"/>
                </a:lnTo>
                <a:lnTo>
                  <a:pt x="15" y="70"/>
                </a:lnTo>
                <a:lnTo>
                  <a:pt x="16" y="70"/>
                </a:lnTo>
                <a:lnTo>
                  <a:pt x="16" y="71"/>
                </a:lnTo>
                <a:lnTo>
                  <a:pt x="17" y="71"/>
                </a:lnTo>
                <a:lnTo>
                  <a:pt x="18" y="71"/>
                </a:lnTo>
                <a:lnTo>
                  <a:pt x="18" y="72"/>
                </a:lnTo>
                <a:lnTo>
                  <a:pt x="19" y="72"/>
                </a:lnTo>
                <a:lnTo>
                  <a:pt x="20" y="72"/>
                </a:lnTo>
                <a:lnTo>
                  <a:pt x="20" y="73"/>
                </a:lnTo>
                <a:lnTo>
                  <a:pt x="21" y="73"/>
                </a:lnTo>
                <a:lnTo>
                  <a:pt x="22" y="73"/>
                </a:lnTo>
                <a:lnTo>
                  <a:pt x="23" y="74"/>
                </a:lnTo>
                <a:lnTo>
                  <a:pt x="24" y="74"/>
                </a:lnTo>
                <a:lnTo>
                  <a:pt x="25" y="74"/>
                </a:lnTo>
                <a:lnTo>
                  <a:pt x="26" y="74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30" y="74"/>
                </a:lnTo>
                <a:lnTo>
                  <a:pt x="31" y="74"/>
                </a:lnTo>
                <a:lnTo>
                  <a:pt x="32" y="74"/>
                </a:lnTo>
                <a:lnTo>
                  <a:pt x="33" y="74"/>
                </a:lnTo>
                <a:lnTo>
                  <a:pt x="34" y="74"/>
                </a:lnTo>
                <a:lnTo>
                  <a:pt x="35" y="74"/>
                </a:lnTo>
                <a:lnTo>
                  <a:pt x="36" y="74"/>
                </a:lnTo>
                <a:lnTo>
                  <a:pt x="37" y="73"/>
                </a:lnTo>
                <a:lnTo>
                  <a:pt x="38" y="73"/>
                </a:lnTo>
                <a:lnTo>
                  <a:pt x="39" y="73"/>
                </a:lnTo>
                <a:lnTo>
                  <a:pt x="39" y="72"/>
                </a:lnTo>
                <a:lnTo>
                  <a:pt x="41" y="72"/>
                </a:lnTo>
                <a:lnTo>
                  <a:pt x="42" y="72"/>
                </a:lnTo>
                <a:lnTo>
                  <a:pt x="42" y="71"/>
                </a:lnTo>
                <a:lnTo>
                  <a:pt x="43" y="71"/>
                </a:lnTo>
                <a:lnTo>
                  <a:pt x="44" y="71"/>
                </a:lnTo>
                <a:lnTo>
                  <a:pt x="44" y="70"/>
                </a:lnTo>
                <a:lnTo>
                  <a:pt x="45" y="70"/>
                </a:lnTo>
                <a:lnTo>
                  <a:pt x="46" y="69"/>
                </a:lnTo>
                <a:lnTo>
                  <a:pt x="47" y="69"/>
                </a:lnTo>
                <a:lnTo>
                  <a:pt x="47" y="68"/>
                </a:lnTo>
                <a:lnTo>
                  <a:pt x="48" y="68"/>
                </a:lnTo>
                <a:lnTo>
                  <a:pt x="48" y="67"/>
                </a:lnTo>
                <a:lnTo>
                  <a:pt x="49" y="67"/>
                </a:lnTo>
                <a:lnTo>
                  <a:pt x="49" y="66"/>
                </a:lnTo>
                <a:lnTo>
                  <a:pt x="50" y="66"/>
                </a:lnTo>
                <a:lnTo>
                  <a:pt x="50" y="65"/>
                </a:lnTo>
                <a:lnTo>
                  <a:pt x="51" y="65"/>
                </a:lnTo>
                <a:lnTo>
                  <a:pt x="51" y="64"/>
                </a:lnTo>
                <a:lnTo>
                  <a:pt x="52" y="64"/>
                </a:lnTo>
                <a:lnTo>
                  <a:pt x="52" y="63"/>
                </a:lnTo>
                <a:lnTo>
                  <a:pt x="53" y="62"/>
                </a:lnTo>
                <a:lnTo>
                  <a:pt x="54" y="61"/>
                </a:lnTo>
                <a:lnTo>
                  <a:pt x="54" y="60"/>
                </a:lnTo>
                <a:lnTo>
                  <a:pt x="55" y="59"/>
                </a:lnTo>
                <a:lnTo>
                  <a:pt x="55" y="58"/>
                </a:lnTo>
                <a:lnTo>
                  <a:pt x="56" y="58"/>
                </a:lnTo>
                <a:lnTo>
                  <a:pt x="56" y="57"/>
                </a:lnTo>
                <a:lnTo>
                  <a:pt x="56" y="56"/>
                </a:lnTo>
                <a:lnTo>
                  <a:pt x="57" y="56"/>
                </a:lnTo>
                <a:lnTo>
                  <a:pt x="57" y="55"/>
                </a:lnTo>
                <a:lnTo>
                  <a:pt x="57" y="54"/>
                </a:lnTo>
                <a:lnTo>
                  <a:pt x="58" y="53"/>
                </a:lnTo>
                <a:lnTo>
                  <a:pt x="58" y="52"/>
                </a:lnTo>
                <a:lnTo>
                  <a:pt x="58" y="51"/>
                </a:lnTo>
                <a:lnTo>
                  <a:pt x="59" y="50"/>
                </a:lnTo>
                <a:lnTo>
                  <a:pt x="59" y="49"/>
                </a:lnTo>
                <a:lnTo>
                  <a:pt x="59" y="48"/>
                </a:lnTo>
                <a:lnTo>
                  <a:pt x="60" y="47"/>
                </a:lnTo>
                <a:lnTo>
                  <a:pt x="60" y="45"/>
                </a:lnTo>
                <a:lnTo>
                  <a:pt x="60" y="43"/>
                </a:lnTo>
                <a:lnTo>
                  <a:pt x="60" y="38"/>
                </a:lnTo>
                <a:lnTo>
                  <a:pt x="61" y="37"/>
                </a:lnTo>
                <a:lnTo>
                  <a:pt x="61" y="31"/>
                </a:lnTo>
                <a:lnTo>
                  <a:pt x="61" y="29"/>
                </a:lnTo>
                <a:lnTo>
                  <a:pt x="61" y="27"/>
                </a:lnTo>
                <a:lnTo>
                  <a:pt x="60" y="26"/>
                </a:lnTo>
                <a:lnTo>
                  <a:pt x="60" y="25"/>
                </a:lnTo>
                <a:lnTo>
                  <a:pt x="60" y="24"/>
                </a:lnTo>
                <a:lnTo>
                  <a:pt x="59" y="23"/>
                </a:lnTo>
                <a:lnTo>
                  <a:pt x="59" y="22"/>
                </a:lnTo>
                <a:lnTo>
                  <a:pt x="59" y="21"/>
                </a:lnTo>
                <a:lnTo>
                  <a:pt x="58" y="20"/>
                </a:lnTo>
                <a:lnTo>
                  <a:pt x="58" y="19"/>
                </a:lnTo>
                <a:lnTo>
                  <a:pt x="58" y="18"/>
                </a:lnTo>
                <a:lnTo>
                  <a:pt x="57" y="18"/>
                </a:lnTo>
                <a:lnTo>
                  <a:pt x="57" y="17"/>
                </a:lnTo>
                <a:lnTo>
                  <a:pt x="57" y="16"/>
                </a:lnTo>
                <a:lnTo>
                  <a:pt x="56" y="16"/>
                </a:lnTo>
                <a:lnTo>
                  <a:pt x="56" y="15"/>
                </a:lnTo>
                <a:lnTo>
                  <a:pt x="55" y="14"/>
                </a:lnTo>
                <a:lnTo>
                  <a:pt x="55" y="13"/>
                </a:lnTo>
                <a:lnTo>
                  <a:pt x="54" y="12"/>
                </a:lnTo>
                <a:lnTo>
                  <a:pt x="53" y="11"/>
                </a:lnTo>
                <a:lnTo>
                  <a:pt x="53" y="10"/>
                </a:lnTo>
                <a:lnTo>
                  <a:pt x="52" y="10"/>
                </a:lnTo>
                <a:lnTo>
                  <a:pt x="52" y="9"/>
                </a:lnTo>
                <a:lnTo>
                  <a:pt x="51" y="9"/>
                </a:lnTo>
                <a:lnTo>
                  <a:pt x="51" y="8"/>
                </a:lnTo>
                <a:lnTo>
                  <a:pt x="50" y="8"/>
                </a:lnTo>
                <a:lnTo>
                  <a:pt x="50" y="7"/>
                </a:lnTo>
                <a:lnTo>
                  <a:pt x="49" y="7"/>
                </a:lnTo>
                <a:lnTo>
                  <a:pt x="49" y="6"/>
                </a:lnTo>
                <a:lnTo>
                  <a:pt x="48" y="6"/>
                </a:lnTo>
                <a:lnTo>
                  <a:pt x="48" y="5"/>
                </a:lnTo>
                <a:lnTo>
                  <a:pt x="47" y="5"/>
                </a:lnTo>
                <a:lnTo>
                  <a:pt x="46" y="4"/>
                </a:lnTo>
                <a:lnTo>
                  <a:pt x="45" y="4"/>
                </a:lnTo>
                <a:lnTo>
                  <a:pt x="45" y="3"/>
                </a:lnTo>
                <a:lnTo>
                  <a:pt x="44" y="3"/>
                </a:lnTo>
                <a:lnTo>
                  <a:pt x="43" y="3"/>
                </a:lnTo>
                <a:lnTo>
                  <a:pt x="43" y="2"/>
                </a:lnTo>
                <a:lnTo>
                  <a:pt x="42" y="2"/>
                </a:lnTo>
                <a:lnTo>
                  <a:pt x="41" y="2"/>
                </a:lnTo>
                <a:lnTo>
                  <a:pt x="41" y="1"/>
                </a:lnTo>
                <a:lnTo>
                  <a:pt x="39" y="1"/>
                </a:lnTo>
                <a:lnTo>
                  <a:pt x="38" y="1"/>
                </a:lnTo>
                <a:lnTo>
                  <a:pt x="37" y="0"/>
                </a:lnTo>
                <a:lnTo>
                  <a:pt x="36" y="0"/>
                </a:lnTo>
                <a:lnTo>
                  <a:pt x="35" y="0"/>
                </a:lnTo>
                <a:lnTo>
                  <a:pt x="34" y="0"/>
                </a:lnTo>
                <a:lnTo>
                  <a:pt x="33" y="0"/>
                </a:lnTo>
                <a:lnTo>
                  <a:pt x="32" y="0"/>
                </a:lnTo>
                <a:lnTo>
                  <a:pt x="31" y="0"/>
                </a:lnTo>
                <a:lnTo>
                  <a:pt x="30" y="0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5" y="0"/>
                </a:lnTo>
                <a:lnTo>
                  <a:pt x="24" y="0"/>
                </a:lnTo>
                <a:lnTo>
                  <a:pt x="23" y="1"/>
                </a:lnTo>
                <a:lnTo>
                  <a:pt x="22" y="1"/>
                </a:lnTo>
                <a:lnTo>
                  <a:pt x="21" y="1"/>
                </a:lnTo>
                <a:lnTo>
                  <a:pt x="21" y="2"/>
                </a:lnTo>
                <a:lnTo>
                  <a:pt x="20" y="2"/>
                </a:ln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lnTo>
                  <a:pt x="17" y="3"/>
                </a:lnTo>
                <a:lnTo>
                  <a:pt x="17" y="4"/>
                </a:lnTo>
                <a:lnTo>
                  <a:pt x="16" y="4"/>
                </a:lnTo>
                <a:lnTo>
                  <a:pt x="15" y="5"/>
                </a:lnTo>
                <a:lnTo>
                  <a:pt x="14" y="5"/>
                </a:lnTo>
                <a:lnTo>
                  <a:pt x="14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1" y="8"/>
                </a:lnTo>
                <a:lnTo>
                  <a:pt x="11" y="9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8" y="12"/>
                </a:lnTo>
                <a:lnTo>
                  <a:pt x="7" y="13"/>
                </a:lnTo>
                <a:lnTo>
                  <a:pt x="7" y="14"/>
                </a:lnTo>
                <a:lnTo>
                  <a:pt x="6" y="15"/>
                </a:lnTo>
                <a:lnTo>
                  <a:pt x="6" y="16"/>
                </a:lnTo>
                <a:lnTo>
                  <a:pt x="5" y="16"/>
                </a:lnTo>
                <a:lnTo>
                  <a:pt x="5" y="17"/>
                </a:lnTo>
                <a:lnTo>
                  <a:pt x="5" y="18"/>
                </a:lnTo>
                <a:lnTo>
                  <a:pt x="4" y="18"/>
                </a:lnTo>
                <a:lnTo>
                  <a:pt x="4" y="19"/>
                </a:lnTo>
                <a:lnTo>
                  <a:pt x="4" y="20"/>
                </a:lnTo>
                <a:lnTo>
                  <a:pt x="3" y="21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2" y="25"/>
                </a:lnTo>
                <a:lnTo>
                  <a:pt x="2" y="26"/>
                </a:lnTo>
                <a:lnTo>
                  <a:pt x="1" y="27"/>
                </a:lnTo>
                <a:lnTo>
                  <a:pt x="1" y="29"/>
                </a:lnTo>
                <a:lnTo>
                  <a:pt x="1" y="31"/>
                </a:lnTo>
                <a:lnTo>
                  <a:pt x="1" y="37"/>
                </a:lnTo>
                <a:lnTo>
                  <a:pt x="0" y="38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31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911" name="Rectangle 100"/>
          <p:cNvSpPr/>
          <p:nvPr/>
        </p:nvSpPr>
        <p:spPr>
          <a:xfrm>
            <a:off x="6035675" y="4833938"/>
            <a:ext cx="315913" cy="3444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912" name="Line 101"/>
          <p:cNvSpPr/>
          <p:nvPr/>
        </p:nvSpPr>
        <p:spPr>
          <a:xfrm flipV="1">
            <a:off x="5572125" y="5005388"/>
            <a:ext cx="46355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13" name="Line 102"/>
          <p:cNvSpPr/>
          <p:nvPr/>
        </p:nvSpPr>
        <p:spPr>
          <a:xfrm>
            <a:off x="5572125" y="5006975"/>
            <a:ext cx="3175" cy="10541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14" name="Line 103"/>
          <p:cNvSpPr/>
          <p:nvPr/>
        </p:nvSpPr>
        <p:spPr>
          <a:xfrm>
            <a:off x="5322888" y="5408613"/>
            <a:ext cx="249237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15" name="Rectangle 104"/>
          <p:cNvSpPr/>
          <p:nvPr/>
        </p:nvSpPr>
        <p:spPr>
          <a:xfrm>
            <a:off x="5156200" y="5662613"/>
            <a:ext cx="187325" cy="120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916" name="Rectangle 105"/>
          <p:cNvSpPr/>
          <p:nvPr/>
        </p:nvSpPr>
        <p:spPr>
          <a:xfrm>
            <a:off x="5138738" y="5629275"/>
            <a:ext cx="101600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917" name="Rectangle 106"/>
          <p:cNvSpPr/>
          <p:nvPr/>
        </p:nvSpPr>
        <p:spPr>
          <a:xfrm>
            <a:off x="5157788" y="5343525"/>
            <a:ext cx="185737" cy="1206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918" name="Rectangle 107"/>
          <p:cNvSpPr/>
          <p:nvPr/>
        </p:nvSpPr>
        <p:spPr>
          <a:xfrm>
            <a:off x="5141913" y="5310188"/>
            <a:ext cx="109537" cy="1841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p>
            <a:pPr algn="ctr"/>
            <a:r>
              <a:rPr lang="en-US" altLang="zh-CN" sz="1200" b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endParaRPr lang="en-US" altLang="zh-CN" dirty="0">
              <a:latin typeface="Times New Roman" pitchFamily="18" charset="0"/>
            </a:endParaRPr>
          </a:p>
        </p:txBody>
      </p:sp>
      <p:sp>
        <p:nvSpPr>
          <p:cNvPr id="34919" name="Line 108"/>
          <p:cNvSpPr/>
          <p:nvPr/>
        </p:nvSpPr>
        <p:spPr>
          <a:xfrm flipV="1">
            <a:off x="6321425" y="5962650"/>
            <a:ext cx="1588" cy="19843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0" name="Line 109"/>
          <p:cNvSpPr/>
          <p:nvPr/>
        </p:nvSpPr>
        <p:spPr>
          <a:xfrm>
            <a:off x="6383338" y="6161088"/>
            <a:ext cx="122237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1" name="Line 110"/>
          <p:cNvSpPr/>
          <p:nvPr/>
        </p:nvSpPr>
        <p:spPr>
          <a:xfrm flipV="1">
            <a:off x="6383338" y="5962650"/>
            <a:ext cx="1587" cy="19843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2" name="Line 111"/>
          <p:cNvSpPr/>
          <p:nvPr/>
        </p:nvSpPr>
        <p:spPr>
          <a:xfrm>
            <a:off x="6383338" y="5962650"/>
            <a:ext cx="122237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3" name="Line 112"/>
          <p:cNvSpPr/>
          <p:nvPr/>
        </p:nvSpPr>
        <p:spPr>
          <a:xfrm>
            <a:off x="6188075" y="6065838"/>
            <a:ext cx="133350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4" name="Line 113"/>
          <p:cNvSpPr/>
          <p:nvPr/>
        </p:nvSpPr>
        <p:spPr>
          <a:xfrm flipV="1">
            <a:off x="6505575" y="6161088"/>
            <a:ext cx="1588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5" name="Line 114"/>
          <p:cNvSpPr/>
          <p:nvPr/>
        </p:nvSpPr>
        <p:spPr>
          <a:xfrm flipV="1">
            <a:off x="6505575" y="5894388"/>
            <a:ext cx="1588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6" name="Line 115"/>
          <p:cNvSpPr/>
          <p:nvPr/>
        </p:nvSpPr>
        <p:spPr>
          <a:xfrm flipV="1">
            <a:off x="6167438" y="5241925"/>
            <a:ext cx="1587" cy="2032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7" name="Line 116"/>
          <p:cNvSpPr/>
          <p:nvPr/>
        </p:nvSpPr>
        <p:spPr>
          <a:xfrm>
            <a:off x="6226175" y="5445125"/>
            <a:ext cx="120650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8" name="Line 117"/>
          <p:cNvSpPr/>
          <p:nvPr/>
        </p:nvSpPr>
        <p:spPr>
          <a:xfrm flipV="1">
            <a:off x="6226175" y="5241925"/>
            <a:ext cx="1588" cy="20320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29" name="Line 118"/>
          <p:cNvSpPr/>
          <p:nvPr/>
        </p:nvSpPr>
        <p:spPr>
          <a:xfrm>
            <a:off x="6226175" y="5241925"/>
            <a:ext cx="120650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30" name="Line 119"/>
          <p:cNvSpPr/>
          <p:nvPr/>
        </p:nvSpPr>
        <p:spPr>
          <a:xfrm>
            <a:off x="6035675" y="5343525"/>
            <a:ext cx="93663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31" name="Line 120"/>
          <p:cNvSpPr/>
          <p:nvPr/>
        </p:nvSpPr>
        <p:spPr>
          <a:xfrm flipV="1">
            <a:off x="6346825" y="5445125"/>
            <a:ext cx="1588" cy="68263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32" name="Line 121"/>
          <p:cNvSpPr/>
          <p:nvPr/>
        </p:nvSpPr>
        <p:spPr>
          <a:xfrm flipV="1">
            <a:off x="6346825" y="5173663"/>
            <a:ext cx="1588" cy="68262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33" name="Freeform 122"/>
          <p:cNvSpPr/>
          <p:nvPr/>
        </p:nvSpPr>
        <p:spPr>
          <a:xfrm>
            <a:off x="6129338" y="5324475"/>
            <a:ext cx="41275" cy="39688"/>
          </a:xfrm>
          <a:custGeom>
            <a:avLst/>
            <a:gdLst>
              <a:gd name="txL" fmla="*/ 0 w 61"/>
              <a:gd name="txT" fmla="*/ 0 h 74"/>
              <a:gd name="txR" fmla="*/ 61 w 61"/>
              <a:gd name="txB" fmla="*/ 74 h 74"/>
            </a:gdLst>
            <a:ahLst/>
            <a:cxnLst>
              <a:cxn ang="0">
                <a:pos x="0" y="13519126"/>
              </a:cxn>
              <a:cxn ang="0">
                <a:pos x="915493" y="14670077"/>
              </a:cxn>
              <a:cxn ang="0">
                <a:pos x="1373578" y="15820493"/>
              </a:cxn>
              <a:cxn ang="0">
                <a:pos x="1831663" y="16683438"/>
              </a:cxn>
              <a:cxn ang="0">
                <a:pos x="2747156" y="17546384"/>
              </a:cxn>
              <a:cxn ang="0">
                <a:pos x="4120734" y="18409333"/>
              </a:cxn>
              <a:cxn ang="0">
                <a:pos x="5036227" y="18984273"/>
              </a:cxn>
              <a:cxn ang="0">
                <a:pos x="5951721" y="19559748"/>
              </a:cxn>
              <a:cxn ang="0">
                <a:pos x="7325298" y="20135224"/>
              </a:cxn>
              <a:cxn ang="0">
                <a:pos x="8241468" y="20710164"/>
              </a:cxn>
              <a:cxn ang="0">
                <a:pos x="9614369" y="20998170"/>
              </a:cxn>
              <a:cxn ang="0">
                <a:pos x="11446034" y="21285639"/>
              </a:cxn>
              <a:cxn ang="0">
                <a:pos x="13277696" y="21285639"/>
              </a:cxn>
              <a:cxn ang="0">
                <a:pos x="15108681" y="21285639"/>
              </a:cxn>
              <a:cxn ang="0">
                <a:pos x="16940344" y="20998170"/>
              </a:cxn>
              <a:cxn ang="0">
                <a:pos x="18313921" y="20710164"/>
              </a:cxn>
              <a:cxn ang="0">
                <a:pos x="20144907" y="20422694"/>
              </a:cxn>
              <a:cxn ang="0">
                <a:pos x="21518484" y="19847218"/>
              </a:cxn>
              <a:cxn ang="0">
                <a:pos x="22433982" y="19272279"/>
              </a:cxn>
              <a:cxn ang="0">
                <a:pos x="23350152" y="18696803"/>
              </a:cxn>
              <a:cxn ang="0">
                <a:pos x="24265645" y="17833857"/>
              </a:cxn>
              <a:cxn ang="0">
                <a:pos x="25181137" y="16683438"/>
              </a:cxn>
              <a:cxn ang="0">
                <a:pos x="26096630" y="16107962"/>
              </a:cxn>
              <a:cxn ang="0">
                <a:pos x="26554715" y="14957547"/>
              </a:cxn>
              <a:cxn ang="0">
                <a:pos x="27012800" y="13807132"/>
              </a:cxn>
              <a:cxn ang="0">
                <a:pos x="27470208" y="10642820"/>
              </a:cxn>
              <a:cxn ang="0">
                <a:pos x="27928293" y="7766511"/>
              </a:cxn>
              <a:cxn ang="0">
                <a:pos x="27012800" y="6615560"/>
              </a:cxn>
              <a:cxn ang="0">
                <a:pos x="26554715" y="5465145"/>
              </a:cxn>
              <a:cxn ang="0">
                <a:pos x="26096630" y="4602199"/>
              </a:cxn>
              <a:cxn ang="0">
                <a:pos x="25181137" y="3739253"/>
              </a:cxn>
              <a:cxn ang="0">
                <a:pos x="23807560" y="2876307"/>
              </a:cxn>
              <a:cxn ang="0">
                <a:pos x="22892067" y="2301368"/>
              </a:cxn>
              <a:cxn ang="0">
                <a:pos x="21976569" y="1725891"/>
              </a:cxn>
              <a:cxn ang="0">
                <a:pos x="20602992" y="1150416"/>
              </a:cxn>
              <a:cxn ang="0">
                <a:pos x="19686822" y="575476"/>
              </a:cxn>
              <a:cxn ang="0">
                <a:pos x="17855836" y="287470"/>
              </a:cxn>
              <a:cxn ang="0">
                <a:pos x="16024174" y="0"/>
              </a:cxn>
              <a:cxn ang="0">
                <a:pos x="14193189" y="0"/>
              </a:cxn>
              <a:cxn ang="0">
                <a:pos x="12361526" y="0"/>
              </a:cxn>
              <a:cxn ang="0">
                <a:pos x="10530538" y="287470"/>
              </a:cxn>
              <a:cxn ang="0">
                <a:pos x="9156961" y="575476"/>
              </a:cxn>
              <a:cxn ang="0">
                <a:pos x="7783383" y="862946"/>
              </a:cxn>
              <a:cxn ang="0">
                <a:pos x="6409806" y="1438422"/>
              </a:cxn>
              <a:cxn ang="0">
                <a:pos x="5494311" y="2013361"/>
              </a:cxn>
              <a:cxn ang="0">
                <a:pos x="4578142" y="2588837"/>
              </a:cxn>
              <a:cxn ang="0">
                <a:pos x="3662649" y="3451783"/>
              </a:cxn>
              <a:cxn ang="0">
                <a:pos x="2747156" y="4602199"/>
              </a:cxn>
              <a:cxn ang="0">
                <a:pos x="1831663" y="5177675"/>
              </a:cxn>
              <a:cxn ang="0">
                <a:pos x="1373578" y="6328090"/>
              </a:cxn>
              <a:cxn ang="0">
                <a:pos x="915493" y="7478505"/>
              </a:cxn>
              <a:cxn ang="0">
                <a:pos x="458085" y="10355350"/>
              </a:cxn>
            </a:cxnLst>
            <a:rect l="txL" t="txT" r="txR" b="txB"/>
            <a:pathLst>
              <a:path w="61" h="74">
                <a:moveTo>
                  <a:pt x="0" y="37"/>
                </a:moveTo>
                <a:lnTo>
                  <a:pt x="0" y="43"/>
                </a:lnTo>
                <a:lnTo>
                  <a:pt x="0" y="45"/>
                </a:lnTo>
                <a:lnTo>
                  <a:pt x="0" y="47"/>
                </a:lnTo>
                <a:lnTo>
                  <a:pt x="1" y="48"/>
                </a:lnTo>
                <a:lnTo>
                  <a:pt x="1" y="49"/>
                </a:lnTo>
                <a:lnTo>
                  <a:pt x="1" y="50"/>
                </a:lnTo>
                <a:lnTo>
                  <a:pt x="2" y="51"/>
                </a:lnTo>
                <a:lnTo>
                  <a:pt x="2" y="52"/>
                </a:lnTo>
                <a:lnTo>
                  <a:pt x="2" y="53"/>
                </a:lnTo>
                <a:lnTo>
                  <a:pt x="3" y="54"/>
                </a:lnTo>
                <a:lnTo>
                  <a:pt x="3" y="55"/>
                </a:lnTo>
                <a:lnTo>
                  <a:pt x="3" y="56"/>
                </a:lnTo>
                <a:lnTo>
                  <a:pt x="4" y="56"/>
                </a:lnTo>
                <a:lnTo>
                  <a:pt x="4" y="57"/>
                </a:lnTo>
                <a:lnTo>
                  <a:pt x="4" y="58"/>
                </a:lnTo>
                <a:lnTo>
                  <a:pt x="5" y="58"/>
                </a:lnTo>
                <a:lnTo>
                  <a:pt x="5" y="59"/>
                </a:lnTo>
                <a:lnTo>
                  <a:pt x="6" y="60"/>
                </a:lnTo>
                <a:lnTo>
                  <a:pt x="6" y="61"/>
                </a:lnTo>
                <a:lnTo>
                  <a:pt x="7" y="62"/>
                </a:lnTo>
                <a:lnTo>
                  <a:pt x="8" y="63"/>
                </a:lnTo>
                <a:lnTo>
                  <a:pt x="8" y="64"/>
                </a:lnTo>
                <a:lnTo>
                  <a:pt x="9" y="64"/>
                </a:lnTo>
                <a:lnTo>
                  <a:pt x="9" y="65"/>
                </a:lnTo>
                <a:lnTo>
                  <a:pt x="10" y="65"/>
                </a:lnTo>
                <a:lnTo>
                  <a:pt x="10" y="66"/>
                </a:lnTo>
                <a:lnTo>
                  <a:pt x="11" y="66"/>
                </a:lnTo>
                <a:lnTo>
                  <a:pt x="11" y="67"/>
                </a:lnTo>
                <a:lnTo>
                  <a:pt x="12" y="67"/>
                </a:lnTo>
                <a:lnTo>
                  <a:pt x="12" y="68"/>
                </a:lnTo>
                <a:lnTo>
                  <a:pt x="13" y="68"/>
                </a:lnTo>
                <a:lnTo>
                  <a:pt x="13" y="69"/>
                </a:lnTo>
                <a:lnTo>
                  <a:pt x="14" y="69"/>
                </a:lnTo>
                <a:lnTo>
                  <a:pt x="15" y="70"/>
                </a:lnTo>
                <a:lnTo>
                  <a:pt x="16" y="70"/>
                </a:lnTo>
                <a:lnTo>
                  <a:pt x="16" y="71"/>
                </a:lnTo>
                <a:lnTo>
                  <a:pt x="17" y="71"/>
                </a:lnTo>
                <a:lnTo>
                  <a:pt x="18" y="71"/>
                </a:lnTo>
                <a:lnTo>
                  <a:pt x="18" y="72"/>
                </a:lnTo>
                <a:lnTo>
                  <a:pt x="19" y="72"/>
                </a:lnTo>
                <a:lnTo>
                  <a:pt x="20" y="72"/>
                </a:lnTo>
                <a:lnTo>
                  <a:pt x="20" y="73"/>
                </a:lnTo>
                <a:lnTo>
                  <a:pt x="21" y="73"/>
                </a:lnTo>
                <a:lnTo>
                  <a:pt x="22" y="73"/>
                </a:lnTo>
                <a:lnTo>
                  <a:pt x="23" y="74"/>
                </a:lnTo>
                <a:lnTo>
                  <a:pt x="24" y="74"/>
                </a:lnTo>
                <a:lnTo>
                  <a:pt x="25" y="74"/>
                </a:lnTo>
                <a:lnTo>
                  <a:pt x="26" y="74"/>
                </a:lnTo>
                <a:lnTo>
                  <a:pt x="27" y="74"/>
                </a:lnTo>
                <a:lnTo>
                  <a:pt x="28" y="74"/>
                </a:lnTo>
                <a:lnTo>
                  <a:pt x="29" y="74"/>
                </a:lnTo>
                <a:lnTo>
                  <a:pt x="30" y="74"/>
                </a:lnTo>
                <a:lnTo>
                  <a:pt x="31" y="74"/>
                </a:lnTo>
                <a:lnTo>
                  <a:pt x="32" y="74"/>
                </a:lnTo>
                <a:lnTo>
                  <a:pt x="33" y="74"/>
                </a:lnTo>
                <a:lnTo>
                  <a:pt x="34" y="74"/>
                </a:lnTo>
                <a:lnTo>
                  <a:pt x="35" y="74"/>
                </a:lnTo>
                <a:lnTo>
                  <a:pt x="36" y="74"/>
                </a:lnTo>
                <a:lnTo>
                  <a:pt x="37" y="73"/>
                </a:lnTo>
                <a:lnTo>
                  <a:pt x="38" y="73"/>
                </a:lnTo>
                <a:lnTo>
                  <a:pt x="39" y="73"/>
                </a:lnTo>
                <a:lnTo>
                  <a:pt x="39" y="72"/>
                </a:lnTo>
                <a:lnTo>
                  <a:pt x="40" y="72"/>
                </a:lnTo>
                <a:lnTo>
                  <a:pt x="41" y="72"/>
                </a:lnTo>
                <a:lnTo>
                  <a:pt x="41" y="71"/>
                </a:lnTo>
                <a:lnTo>
                  <a:pt x="43" y="71"/>
                </a:lnTo>
                <a:lnTo>
                  <a:pt x="44" y="71"/>
                </a:lnTo>
                <a:lnTo>
                  <a:pt x="44" y="70"/>
                </a:lnTo>
                <a:lnTo>
                  <a:pt x="45" y="70"/>
                </a:lnTo>
                <a:lnTo>
                  <a:pt x="46" y="69"/>
                </a:lnTo>
                <a:lnTo>
                  <a:pt x="47" y="69"/>
                </a:lnTo>
                <a:lnTo>
                  <a:pt x="47" y="68"/>
                </a:lnTo>
                <a:lnTo>
                  <a:pt x="48" y="68"/>
                </a:lnTo>
                <a:lnTo>
                  <a:pt x="48" y="67"/>
                </a:lnTo>
                <a:lnTo>
                  <a:pt x="49" y="67"/>
                </a:lnTo>
                <a:lnTo>
                  <a:pt x="49" y="66"/>
                </a:lnTo>
                <a:lnTo>
                  <a:pt x="50" y="66"/>
                </a:lnTo>
                <a:lnTo>
                  <a:pt x="50" y="65"/>
                </a:lnTo>
                <a:lnTo>
                  <a:pt x="51" y="65"/>
                </a:lnTo>
                <a:lnTo>
                  <a:pt x="51" y="64"/>
                </a:lnTo>
                <a:lnTo>
                  <a:pt x="52" y="64"/>
                </a:lnTo>
                <a:lnTo>
                  <a:pt x="52" y="63"/>
                </a:lnTo>
                <a:lnTo>
                  <a:pt x="53" y="62"/>
                </a:lnTo>
                <a:lnTo>
                  <a:pt x="54" y="61"/>
                </a:lnTo>
                <a:lnTo>
                  <a:pt x="54" y="60"/>
                </a:lnTo>
                <a:lnTo>
                  <a:pt x="55" y="59"/>
                </a:lnTo>
                <a:lnTo>
                  <a:pt x="55" y="58"/>
                </a:lnTo>
                <a:lnTo>
                  <a:pt x="56" y="58"/>
                </a:lnTo>
                <a:lnTo>
                  <a:pt x="56" y="57"/>
                </a:lnTo>
                <a:lnTo>
                  <a:pt x="56" y="56"/>
                </a:lnTo>
                <a:lnTo>
                  <a:pt x="57" y="56"/>
                </a:lnTo>
                <a:lnTo>
                  <a:pt x="57" y="55"/>
                </a:lnTo>
                <a:lnTo>
                  <a:pt x="57" y="54"/>
                </a:lnTo>
                <a:lnTo>
                  <a:pt x="58" y="53"/>
                </a:lnTo>
                <a:lnTo>
                  <a:pt x="58" y="52"/>
                </a:lnTo>
                <a:lnTo>
                  <a:pt x="58" y="51"/>
                </a:lnTo>
                <a:lnTo>
                  <a:pt x="59" y="50"/>
                </a:lnTo>
                <a:lnTo>
                  <a:pt x="59" y="49"/>
                </a:lnTo>
                <a:lnTo>
                  <a:pt x="59" y="48"/>
                </a:lnTo>
                <a:lnTo>
                  <a:pt x="60" y="47"/>
                </a:lnTo>
                <a:lnTo>
                  <a:pt x="60" y="45"/>
                </a:lnTo>
                <a:lnTo>
                  <a:pt x="60" y="43"/>
                </a:lnTo>
                <a:lnTo>
                  <a:pt x="60" y="37"/>
                </a:lnTo>
                <a:lnTo>
                  <a:pt x="61" y="36"/>
                </a:lnTo>
                <a:lnTo>
                  <a:pt x="61" y="31"/>
                </a:lnTo>
                <a:lnTo>
                  <a:pt x="61" y="29"/>
                </a:lnTo>
                <a:lnTo>
                  <a:pt x="61" y="27"/>
                </a:lnTo>
                <a:lnTo>
                  <a:pt x="60" y="26"/>
                </a:lnTo>
                <a:lnTo>
                  <a:pt x="60" y="25"/>
                </a:lnTo>
                <a:lnTo>
                  <a:pt x="60" y="24"/>
                </a:lnTo>
                <a:lnTo>
                  <a:pt x="59" y="23"/>
                </a:lnTo>
                <a:lnTo>
                  <a:pt x="59" y="22"/>
                </a:lnTo>
                <a:lnTo>
                  <a:pt x="59" y="21"/>
                </a:lnTo>
                <a:lnTo>
                  <a:pt x="58" y="20"/>
                </a:lnTo>
                <a:lnTo>
                  <a:pt x="58" y="19"/>
                </a:lnTo>
                <a:lnTo>
                  <a:pt x="58" y="18"/>
                </a:lnTo>
                <a:lnTo>
                  <a:pt x="57" y="18"/>
                </a:lnTo>
                <a:lnTo>
                  <a:pt x="57" y="17"/>
                </a:lnTo>
                <a:lnTo>
                  <a:pt x="57" y="16"/>
                </a:lnTo>
                <a:lnTo>
                  <a:pt x="56" y="16"/>
                </a:lnTo>
                <a:lnTo>
                  <a:pt x="56" y="15"/>
                </a:lnTo>
                <a:lnTo>
                  <a:pt x="55" y="14"/>
                </a:lnTo>
                <a:lnTo>
                  <a:pt x="55" y="13"/>
                </a:lnTo>
                <a:lnTo>
                  <a:pt x="54" y="12"/>
                </a:lnTo>
                <a:lnTo>
                  <a:pt x="53" y="11"/>
                </a:lnTo>
                <a:lnTo>
                  <a:pt x="53" y="10"/>
                </a:lnTo>
                <a:lnTo>
                  <a:pt x="52" y="10"/>
                </a:lnTo>
                <a:lnTo>
                  <a:pt x="52" y="9"/>
                </a:lnTo>
                <a:lnTo>
                  <a:pt x="51" y="9"/>
                </a:lnTo>
                <a:lnTo>
                  <a:pt x="51" y="8"/>
                </a:lnTo>
                <a:lnTo>
                  <a:pt x="50" y="8"/>
                </a:lnTo>
                <a:lnTo>
                  <a:pt x="50" y="7"/>
                </a:lnTo>
                <a:lnTo>
                  <a:pt x="49" y="7"/>
                </a:lnTo>
                <a:lnTo>
                  <a:pt x="49" y="6"/>
                </a:lnTo>
                <a:lnTo>
                  <a:pt x="48" y="6"/>
                </a:lnTo>
                <a:lnTo>
                  <a:pt x="48" y="5"/>
                </a:lnTo>
                <a:lnTo>
                  <a:pt x="47" y="5"/>
                </a:lnTo>
                <a:lnTo>
                  <a:pt x="46" y="4"/>
                </a:lnTo>
                <a:lnTo>
                  <a:pt x="45" y="4"/>
                </a:lnTo>
                <a:lnTo>
                  <a:pt x="45" y="3"/>
                </a:lnTo>
                <a:lnTo>
                  <a:pt x="44" y="3"/>
                </a:lnTo>
                <a:lnTo>
                  <a:pt x="43" y="3"/>
                </a:lnTo>
                <a:lnTo>
                  <a:pt x="43" y="2"/>
                </a:lnTo>
                <a:lnTo>
                  <a:pt x="41" y="2"/>
                </a:lnTo>
                <a:lnTo>
                  <a:pt x="40" y="2"/>
                </a:lnTo>
                <a:lnTo>
                  <a:pt x="40" y="1"/>
                </a:lnTo>
                <a:lnTo>
                  <a:pt x="39" y="1"/>
                </a:lnTo>
                <a:lnTo>
                  <a:pt x="38" y="1"/>
                </a:lnTo>
                <a:lnTo>
                  <a:pt x="37" y="0"/>
                </a:lnTo>
                <a:lnTo>
                  <a:pt x="36" y="0"/>
                </a:lnTo>
                <a:lnTo>
                  <a:pt x="35" y="0"/>
                </a:lnTo>
                <a:lnTo>
                  <a:pt x="34" y="0"/>
                </a:lnTo>
                <a:lnTo>
                  <a:pt x="33" y="0"/>
                </a:lnTo>
                <a:lnTo>
                  <a:pt x="32" y="0"/>
                </a:lnTo>
                <a:lnTo>
                  <a:pt x="31" y="0"/>
                </a:lnTo>
                <a:lnTo>
                  <a:pt x="30" y="0"/>
                </a:lnTo>
                <a:lnTo>
                  <a:pt x="29" y="0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5" y="0"/>
                </a:lnTo>
                <a:lnTo>
                  <a:pt x="24" y="0"/>
                </a:lnTo>
                <a:lnTo>
                  <a:pt x="23" y="1"/>
                </a:lnTo>
                <a:lnTo>
                  <a:pt x="22" y="1"/>
                </a:lnTo>
                <a:lnTo>
                  <a:pt x="21" y="1"/>
                </a:lnTo>
                <a:lnTo>
                  <a:pt x="21" y="2"/>
                </a:lnTo>
                <a:lnTo>
                  <a:pt x="20" y="2"/>
                </a:lnTo>
                <a:lnTo>
                  <a:pt x="19" y="2"/>
                </a:lnTo>
                <a:lnTo>
                  <a:pt x="19" y="3"/>
                </a:lnTo>
                <a:lnTo>
                  <a:pt x="18" y="3"/>
                </a:lnTo>
                <a:lnTo>
                  <a:pt x="17" y="3"/>
                </a:lnTo>
                <a:lnTo>
                  <a:pt x="17" y="4"/>
                </a:lnTo>
                <a:lnTo>
                  <a:pt x="16" y="4"/>
                </a:lnTo>
                <a:lnTo>
                  <a:pt x="15" y="5"/>
                </a:lnTo>
                <a:lnTo>
                  <a:pt x="14" y="5"/>
                </a:lnTo>
                <a:lnTo>
                  <a:pt x="14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1" y="8"/>
                </a:lnTo>
                <a:lnTo>
                  <a:pt x="11" y="9"/>
                </a:lnTo>
                <a:lnTo>
                  <a:pt x="10" y="9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8" y="12"/>
                </a:lnTo>
                <a:lnTo>
                  <a:pt x="7" y="13"/>
                </a:lnTo>
                <a:lnTo>
                  <a:pt x="7" y="14"/>
                </a:lnTo>
                <a:lnTo>
                  <a:pt x="6" y="15"/>
                </a:lnTo>
                <a:lnTo>
                  <a:pt x="6" y="16"/>
                </a:lnTo>
                <a:lnTo>
                  <a:pt x="5" y="16"/>
                </a:lnTo>
                <a:lnTo>
                  <a:pt x="5" y="17"/>
                </a:lnTo>
                <a:lnTo>
                  <a:pt x="5" y="18"/>
                </a:lnTo>
                <a:lnTo>
                  <a:pt x="4" y="18"/>
                </a:lnTo>
                <a:lnTo>
                  <a:pt x="4" y="19"/>
                </a:lnTo>
                <a:lnTo>
                  <a:pt x="4" y="20"/>
                </a:lnTo>
                <a:lnTo>
                  <a:pt x="3" y="21"/>
                </a:lnTo>
                <a:lnTo>
                  <a:pt x="3" y="22"/>
                </a:lnTo>
                <a:lnTo>
                  <a:pt x="3" y="23"/>
                </a:lnTo>
                <a:lnTo>
                  <a:pt x="2" y="24"/>
                </a:lnTo>
                <a:lnTo>
                  <a:pt x="2" y="25"/>
                </a:lnTo>
                <a:lnTo>
                  <a:pt x="2" y="26"/>
                </a:lnTo>
                <a:lnTo>
                  <a:pt x="1" y="27"/>
                </a:lnTo>
                <a:lnTo>
                  <a:pt x="1" y="29"/>
                </a:lnTo>
                <a:lnTo>
                  <a:pt x="1" y="31"/>
                </a:lnTo>
                <a:lnTo>
                  <a:pt x="1" y="36"/>
                </a:lnTo>
                <a:lnTo>
                  <a:pt x="0" y="37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3175" cap="flat" cmpd="sng">
            <a:solidFill>
              <a:srgbClr val="0000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34934" name="Rectangle 123"/>
          <p:cNvSpPr/>
          <p:nvPr/>
        </p:nvSpPr>
        <p:spPr>
          <a:xfrm>
            <a:off x="6034088" y="5172075"/>
            <a:ext cx="317500" cy="3444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34935" name="Line 124"/>
          <p:cNvSpPr/>
          <p:nvPr/>
        </p:nvSpPr>
        <p:spPr>
          <a:xfrm flipV="1">
            <a:off x="5895975" y="5891213"/>
            <a:ext cx="614363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36" name="Line 125"/>
          <p:cNvSpPr/>
          <p:nvPr/>
        </p:nvSpPr>
        <p:spPr>
          <a:xfrm flipV="1">
            <a:off x="5895975" y="6230938"/>
            <a:ext cx="614363" cy="1587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37" name="Line 126"/>
          <p:cNvSpPr/>
          <p:nvPr/>
        </p:nvSpPr>
        <p:spPr>
          <a:xfrm>
            <a:off x="6348413" y="5516563"/>
            <a:ext cx="3175" cy="37465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38" name="Line 127"/>
          <p:cNvSpPr/>
          <p:nvPr/>
        </p:nvSpPr>
        <p:spPr>
          <a:xfrm>
            <a:off x="6034088" y="5343525"/>
            <a:ext cx="1587" cy="717550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39" name="Line 128"/>
          <p:cNvSpPr/>
          <p:nvPr/>
        </p:nvSpPr>
        <p:spPr>
          <a:xfrm>
            <a:off x="6040438" y="6067425"/>
            <a:ext cx="146050" cy="1588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940" name="Line 129"/>
          <p:cNvSpPr/>
          <p:nvPr/>
        </p:nvSpPr>
        <p:spPr>
          <a:xfrm>
            <a:off x="6346825" y="4678363"/>
            <a:ext cx="1588" cy="161925"/>
          </a:xfrm>
          <a:prstGeom prst="line">
            <a:avLst/>
          </a:prstGeom>
          <a:ln w="317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34941" name="Picture 1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788" y="1377950"/>
            <a:ext cx="3640137" cy="5122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4942" name="Picture 1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913" y="1406525"/>
            <a:ext cx="3536950" cy="50688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5843" name="Rectangle 2"/>
          <p:cNvSpPr/>
          <p:nvPr/>
        </p:nvSpPr>
        <p:spPr>
          <a:xfrm>
            <a:off x="584200" y="381000"/>
            <a:ext cx="996950" cy="60007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版图的设计规则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grpSp>
        <p:nvGrpSpPr>
          <p:cNvPr id="35844" name="Group 3"/>
          <p:cNvGrpSpPr>
            <a:grpSpLocks noRot="1"/>
          </p:cNvGrpSpPr>
          <p:nvPr/>
        </p:nvGrpSpPr>
        <p:grpSpPr>
          <a:xfrm>
            <a:off x="4286250" y="38100"/>
            <a:ext cx="7827963" cy="3152775"/>
            <a:chOff x="521" y="845"/>
            <a:chExt cx="4400" cy="3201"/>
          </a:xfrm>
        </p:grpSpPr>
        <p:sp>
          <p:nvSpPr>
            <p:cNvPr id="35846" name="Rectangle 4"/>
            <p:cNvSpPr/>
            <p:nvPr/>
          </p:nvSpPr>
          <p:spPr>
            <a:xfrm>
              <a:off x="4377" y="388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0.16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47" name="Rectangle 5"/>
            <p:cNvSpPr/>
            <p:nvPr/>
          </p:nvSpPr>
          <p:spPr>
            <a:xfrm>
              <a:off x="1176" y="388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active contact to poly edge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48" name="Rectangle 6"/>
            <p:cNvSpPr/>
            <p:nvPr/>
          </p:nvSpPr>
          <p:spPr>
            <a:xfrm>
              <a:off x="521" y="388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R19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49" name="Rectangle 7"/>
            <p:cNvSpPr/>
            <p:nvPr/>
          </p:nvSpPr>
          <p:spPr>
            <a:xfrm>
              <a:off x="4377" y="3716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0.06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0" name="Rectangle 8"/>
            <p:cNvSpPr/>
            <p:nvPr/>
          </p:nvSpPr>
          <p:spPr>
            <a:xfrm>
              <a:off x="1176" y="3716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active contact to metal edge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1" name="Rectangle 9"/>
            <p:cNvSpPr/>
            <p:nvPr/>
          </p:nvSpPr>
          <p:spPr>
            <a:xfrm>
              <a:off x="521" y="3716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R18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2" name="Rectangle 10"/>
            <p:cNvSpPr/>
            <p:nvPr/>
          </p:nvSpPr>
          <p:spPr>
            <a:xfrm>
              <a:off x="4377" y="355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0.10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3" name="Rectangle 11"/>
            <p:cNvSpPr/>
            <p:nvPr/>
          </p:nvSpPr>
          <p:spPr>
            <a:xfrm>
              <a:off x="1176" y="355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active contact to active edge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4" name="Rectangle 12"/>
            <p:cNvSpPr/>
            <p:nvPr/>
          </p:nvSpPr>
          <p:spPr>
            <a:xfrm>
              <a:off x="521" y="355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R17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5" name="Rectangle 13"/>
            <p:cNvSpPr/>
            <p:nvPr/>
          </p:nvSpPr>
          <p:spPr>
            <a:xfrm>
              <a:off x="4377" y="3386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0.22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6" name="Rectangle 14"/>
            <p:cNvSpPr/>
            <p:nvPr/>
          </p:nvSpPr>
          <p:spPr>
            <a:xfrm>
              <a:off x="1176" y="3386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active contact spacing (on the same active region)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7" name="Rectangle 15"/>
            <p:cNvSpPr/>
            <p:nvPr/>
          </p:nvSpPr>
          <p:spPr>
            <a:xfrm>
              <a:off x="521" y="3386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R16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8" name="Rectangle 16"/>
            <p:cNvSpPr/>
            <p:nvPr/>
          </p:nvSpPr>
          <p:spPr>
            <a:xfrm>
              <a:off x="4377" y="322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0.22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59" name="Rectangle 17"/>
            <p:cNvSpPr/>
            <p:nvPr/>
          </p:nvSpPr>
          <p:spPr>
            <a:xfrm>
              <a:off x="1176" y="322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Active contact size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0" name="Rectangle 18"/>
            <p:cNvSpPr/>
            <p:nvPr/>
          </p:nvSpPr>
          <p:spPr>
            <a:xfrm>
              <a:off x="521" y="322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R15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1" name="Rectangle 19"/>
            <p:cNvSpPr/>
            <p:nvPr/>
          </p:nvSpPr>
          <p:spPr>
            <a:xfrm>
              <a:off x="4377" y="3056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0.10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2" name="Rectangle 20"/>
            <p:cNvSpPr/>
            <p:nvPr/>
          </p:nvSpPr>
          <p:spPr>
            <a:xfrm>
              <a:off x="1176" y="3056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poly contact to active edge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3" name="Rectangle 21"/>
            <p:cNvSpPr/>
            <p:nvPr/>
          </p:nvSpPr>
          <p:spPr>
            <a:xfrm>
              <a:off x="521" y="3056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R14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4" name="Rectangle 22"/>
            <p:cNvSpPr/>
            <p:nvPr/>
          </p:nvSpPr>
          <p:spPr>
            <a:xfrm>
              <a:off x="4377" y="289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0.06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5" name="Rectangle 23"/>
            <p:cNvSpPr/>
            <p:nvPr/>
          </p:nvSpPr>
          <p:spPr>
            <a:xfrm>
              <a:off x="1176" y="289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poly contact to metal edge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6" name="Rectangle 24"/>
            <p:cNvSpPr/>
            <p:nvPr/>
          </p:nvSpPr>
          <p:spPr>
            <a:xfrm>
              <a:off x="521" y="289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R13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7" name="Rectangle 25"/>
            <p:cNvSpPr/>
            <p:nvPr/>
          </p:nvSpPr>
          <p:spPr>
            <a:xfrm>
              <a:off x="4377" y="2726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0.10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8" name="Rectangle 26"/>
            <p:cNvSpPr/>
            <p:nvPr/>
          </p:nvSpPr>
          <p:spPr>
            <a:xfrm>
              <a:off x="1176" y="2726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poly contact to poly edge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69" name="Rectangle 27"/>
            <p:cNvSpPr/>
            <p:nvPr/>
          </p:nvSpPr>
          <p:spPr>
            <a:xfrm>
              <a:off x="521" y="2726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R12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0" name="Rectangle 28"/>
            <p:cNvSpPr/>
            <p:nvPr/>
          </p:nvSpPr>
          <p:spPr>
            <a:xfrm>
              <a:off x="4377" y="256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0.25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1" name="Rectangle 29"/>
            <p:cNvSpPr/>
            <p:nvPr/>
          </p:nvSpPr>
          <p:spPr>
            <a:xfrm>
              <a:off x="1176" y="256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poly contact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2" name="Rectangle 30"/>
            <p:cNvSpPr/>
            <p:nvPr/>
          </p:nvSpPr>
          <p:spPr>
            <a:xfrm>
              <a:off x="521" y="256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R11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3" name="Rectangle 31"/>
            <p:cNvSpPr/>
            <p:nvPr/>
          </p:nvSpPr>
          <p:spPr>
            <a:xfrm>
              <a:off x="4377" y="2396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0.22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4" name="Rectangle 32"/>
            <p:cNvSpPr/>
            <p:nvPr/>
          </p:nvSpPr>
          <p:spPr>
            <a:xfrm>
              <a:off x="1176" y="2396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Poly contact size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5" name="Rectangle 33"/>
            <p:cNvSpPr/>
            <p:nvPr/>
          </p:nvSpPr>
          <p:spPr>
            <a:xfrm>
              <a:off x="521" y="2396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R10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6" name="Rectangle 34"/>
            <p:cNvSpPr/>
            <p:nvPr/>
          </p:nvSpPr>
          <p:spPr>
            <a:xfrm>
              <a:off x="4377" y="223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0.23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7" name="Rectangle 35"/>
            <p:cNvSpPr/>
            <p:nvPr/>
          </p:nvSpPr>
          <p:spPr>
            <a:xfrm>
              <a:off x="1176" y="223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metal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8" name="Rectangle 36"/>
            <p:cNvSpPr/>
            <p:nvPr/>
          </p:nvSpPr>
          <p:spPr>
            <a:xfrm>
              <a:off x="521" y="223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R9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79" name="Rectangle 37"/>
            <p:cNvSpPr/>
            <p:nvPr/>
          </p:nvSpPr>
          <p:spPr>
            <a:xfrm>
              <a:off x="4377" y="2066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0.23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0" name="Rectangle 38"/>
            <p:cNvSpPr/>
            <p:nvPr/>
          </p:nvSpPr>
          <p:spPr>
            <a:xfrm>
              <a:off x="1176" y="2066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metal width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1" name="Rectangle 39"/>
            <p:cNvSpPr/>
            <p:nvPr/>
          </p:nvSpPr>
          <p:spPr>
            <a:xfrm>
              <a:off x="521" y="2066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R8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2" name="Rectangle 40"/>
            <p:cNvSpPr/>
            <p:nvPr/>
          </p:nvSpPr>
          <p:spPr>
            <a:xfrm>
              <a:off x="4377" y="190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0.10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3" name="Rectangle 41"/>
            <p:cNvSpPr/>
            <p:nvPr/>
          </p:nvSpPr>
          <p:spPr>
            <a:xfrm>
              <a:off x="1176" y="190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poly-active edge spacing (poly inside active area)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4" name="Rectangle 42"/>
            <p:cNvSpPr/>
            <p:nvPr/>
          </p:nvSpPr>
          <p:spPr>
            <a:xfrm>
              <a:off x="521" y="190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R7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5" name="Rectangle 43"/>
            <p:cNvSpPr/>
            <p:nvPr/>
          </p:nvSpPr>
          <p:spPr>
            <a:xfrm>
              <a:off x="4377" y="1736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0.10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6" name="Rectangle 44"/>
            <p:cNvSpPr/>
            <p:nvPr/>
          </p:nvSpPr>
          <p:spPr>
            <a:xfrm>
              <a:off x="1176" y="1736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poly-active edge spacing (poly outside active area)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7" name="Rectangle 45"/>
            <p:cNvSpPr/>
            <p:nvPr/>
          </p:nvSpPr>
          <p:spPr>
            <a:xfrm>
              <a:off x="521" y="1736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R6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8" name="Rectangle 46"/>
            <p:cNvSpPr/>
            <p:nvPr/>
          </p:nvSpPr>
          <p:spPr>
            <a:xfrm>
              <a:off x="4377" y="157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0.22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89" name="Rectangle 47"/>
            <p:cNvSpPr/>
            <p:nvPr/>
          </p:nvSpPr>
          <p:spPr>
            <a:xfrm>
              <a:off x="1176" y="157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gate extension of poly over active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0" name="Rectangle 48"/>
            <p:cNvSpPr/>
            <p:nvPr/>
          </p:nvSpPr>
          <p:spPr>
            <a:xfrm>
              <a:off x="521" y="157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R5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1" name="Rectangle 49"/>
            <p:cNvSpPr/>
            <p:nvPr/>
          </p:nvSpPr>
          <p:spPr>
            <a:xfrm>
              <a:off x="4377" y="1406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0.25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2" name="Rectangle 50"/>
            <p:cNvSpPr/>
            <p:nvPr/>
          </p:nvSpPr>
          <p:spPr>
            <a:xfrm>
              <a:off x="1176" y="1406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poly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3" name="Rectangle 51"/>
            <p:cNvSpPr/>
            <p:nvPr/>
          </p:nvSpPr>
          <p:spPr>
            <a:xfrm>
              <a:off x="521" y="1406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R4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4" name="Rectangle 52"/>
            <p:cNvSpPr/>
            <p:nvPr/>
          </p:nvSpPr>
          <p:spPr>
            <a:xfrm>
              <a:off x="4377" y="1241"/>
              <a:ext cx="544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0.18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5" name="Rectangle 53"/>
            <p:cNvSpPr/>
            <p:nvPr/>
          </p:nvSpPr>
          <p:spPr>
            <a:xfrm>
              <a:off x="1176" y="1241"/>
              <a:ext cx="3201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poly width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6" name="Rectangle 54"/>
            <p:cNvSpPr/>
            <p:nvPr/>
          </p:nvSpPr>
          <p:spPr>
            <a:xfrm>
              <a:off x="521" y="1241"/>
              <a:ext cx="655" cy="16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R3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7" name="Rectangle 55"/>
            <p:cNvSpPr/>
            <p:nvPr/>
          </p:nvSpPr>
          <p:spPr>
            <a:xfrm>
              <a:off x="4377" y="1043"/>
              <a:ext cx="544" cy="1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0.38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8" name="Rectangle 56"/>
            <p:cNvSpPr/>
            <p:nvPr/>
          </p:nvSpPr>
          <p:spPr>
            <a:xfrm>
              <a:off x="1176" y="1043"/>
              <a:ext cx="3201" cy="1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active area spacing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899" name="Rectangle 57"/>
            <p:cNvSpPr/>
            <p:nvPr/>
          </p:nvSpPr>
          <p:spPr>
            <a:xfrm>
              <a:off x="521" y="1043"/>
              <a:ext cx="655" cy="1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R2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900" name="Rectangle 58"/>
            <p:cNvSpPr/>
            <p:nvPr/>
          </p:nvSpPr>
          <p:spPr>
            <a:xfrm>
              <a:off x="4377" y="845"/>
              <a:ext cx="544" cy="1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0.22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901" name="Rectangle 59"/>
            <p:cNvSpPr/>
            <p:nvPr/>
          </p:nvSpPr>
          <p:spPr>
            <a:xfrm>
              <a:off x="1176" y="845"/>
              <a:ext cx="3201" cy="1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0" tIns="0" rIns="0" bIns="0" anchor="ctr" anchorCtr="0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Minimum active area width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902" name="Rectangle 60"/>
            <p:cNvSpPr/>
            <p:nvPr/>
          </p:nvSpPr>
          <p:spPr>
            <a:xfrm>
              <a:off x="521" y="845"/>
              <a:ext cx="655" cy="19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28800" rIns="0" bIns="28800" anchor="ctr" anchorCtr="1"/>
            <a:p>
              <a:pPr>
                <a:spcBef>
                  <a:spcPct val="20000"/>
                </a:spcBef>
              </a:pPr>
              <a:r>
                <a:rPr lang="en-US" altLang="zh-CN" sz="1200" b="1" dirty="0">
                  <a:latin typeface="Times New Roman" pitchFamily="18" charset="0"/>
                </a:rPr>
                <a:t>R1</a:t>
              </a:r>
              <a:endParaRPr lang="en-US" altLang="zh-CN" sz="1200" b="1" dirty="0">
                <a:latin typeface="Times New Roman" pitchFamily="18" charset="0"/>
              </a:endParaRPr>
            </a:p>
          </p:txBody>
        </p:sp>
        <p:sp>
          <p:nvSpPr>
            <p:cNvPr id="35903" name="Line 61"/>
            <p:cNvSpPr/>
            <p:nvPr/>
          </p:nvSpPr>
          <p:spPr>
            <a:xfrm>
              <a:off x="521" y="845"/>
              <a:ext cx="4400" cy="0"/>
            </a:xfrm>
            <a:prstGeom prst="line">
              <a:avLst/>
            </a:prstGeom>
            <a:ln w="28575" cap="sq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04" name="Line 62"/>
            <p:cNvSpPr/>
            <p:nvPr/>
          </p:nvSpPr>
          <p:spPr>
            <a:xfrm>
              <a:off x="521" y="1043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05" name="Line 63"/>
            <p:cNvSpPr/>
            <p:nvPr/>
          </p:nvSpPr>
          <p:spPr>
            <a:xfrm>
              <a:off x="521" y="124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06" name="Line 64"/>
            <p:cNvSpPr/>
            <p:nvPr/>
          </p:nvSpPr>
          <p:spPr>
            <a:xfrm>
              <a:off x="521" y="1406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07" name="Line 65"/>
            <p:cNvSpPr/>
            <p:nvPr/>
          </p:nvSpPr>
          <p:spPr>
            <a:xfrm>
              <a:off x="521" y="157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08" name="Line 66"/>
            <p:cNvSpPr/>
            <p:nvPr/>
          </p:nvSpPr>
          <p:spPr>
            <a:xfrm>
              <a:off x="521" y="1736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09" name="Line 67"/>
            <p:cNvSpPr/>
            <p:nvPr/>
          </p:nvSpPr>
          <p:spPr>
            <a:xfrm>
              <a:off x="521" y="190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0" name="Line 68"/>
            <p:cNvSpPr/>
            <p:nvPr/>
          </p:nvSpPr>
          <p:spPr>
            <a:xfrm>
              <a:off x="521" y="2066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1" name="Line 69"/>
            <p:cNvSpPr/>
            <p:nvPr/>
          </p:nvSpPr>
          <p:spPr>
            <a:xfrm>
              <a:off x="521" y="223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2" name="Line 70"/>
            <p:cNvSpPr/>
            <p:nvPr/>
          </p:nvSpPr>
          <p:spPr>
            <a:xfrm>
              <a:off x="521" y="2396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3" name="Line 71"/>
            <p:cNvSpPr/>
            <p:nvPr/>
          </p:nvSpPr>
          <p:spPr>
            <a:xfrm>
              <a:off x="521" y="256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4" name="Line 72"/>
            <p:cNvSpPr/>
            <p:nvPr/>
          </p:nvSpPr>
          <p:spPr>
            <a:xfrm>
              <a:off x="521" y="2726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5" name="Line 73"/>
            <p:cNvSpPr/>
            <p:nvPr/>
          </p:nvSpPr>
          <p:spPr>
            <a:xfrm>
              <a:off x="521" y="289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6" name="Line 74"/>
            <p:cNvSpPr/>
            <p:nvPr/>
          </p:nvSpPr>
          <p:spPr>
            <a:xfrm>
              <a:off x="521" y="3056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7" name="Line 75"/>
            <p:cNvSpPr/>
            <p:nvPr/>
          </p:nvSpPr>
          <p:spPr>
            <a:xfrm>
              <a:off x="521" y="322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8" name="Line 76"/>
            <p:cNvSpPr/>
            <p:nvPr/>
          </p:nvSpPr>
          <p:spPr>
            <a:xfrm>
              <a:off x="521" y="3386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19" name="Line 77"/>
            <p:cNvSpPr/>
            <p:nvPr/>
          </p:nvSpPr>
          <p:spPr>
            <a:xfrm>
              <a:off x="521" y="355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20" name="Line 78"/>
            <p:cNvSpPr/>
            <p:nvPr/>
          </p:nvSpPr>
          <p:spPr>
            <a:xfrm>
              <a:off x="521" y="3716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21" name="Line 79"/>
            <p:cNvSpPr/>
            <p:nvPr/>
          </p:nvSpPr>
          <p:spPr>
            <a:xfrm>
              <a:off x="521" y="3881"/>
              <a:ext cx="4400" cy="0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22" name="Line 80"/>
            <p:cNvSpPr/>
            <p:nvPr/>
          </p:nvSpPr>
          <p:spPr>
            <a:xfrm>
              <a:off x="521" y="4046"/>
              <a:ext cx="4400" cy="0"/>
            </a:xfrm>
            <a:prstGeom prst="line">
              <a:avLst/>
            </a:prstGeom>
            <a:ln w="28575" cap="sq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23" name="Line 81"/>
            <p:cNvSpPr/>
            <p:nvPr/>
          </p:nvSpPr>
          <p:spPr>
            <a:xfrm>
              <a:off x="521" y="845"/>
              <a:ext cx="0" cy="3201"/>
            </a:xfrm>
            <a:prstGeom prst="line">
              <a:avLst/>
            </a:prstGeom>
            <a:ln w="28575" cap="sq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24" name="Line 82"/>
            <p:cNvSpPr/>
            <p:nvPr/>
          </p:nvSpPr>
          <p:spPr>
            <a:xfrm>
              <a:off x="1176" y="845"/>
              <a:ext cx="0" cy="3201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25" name="Line 83"/>
            <p:cNvSpPr/>
            <p:nvPr/>
          </p:nvSpPr>
          <p:spPr>
            <a:xfrm>
              <a:off x="4377" y="845"/>
              <a:ext cx="0" cy="3201"/>
            </a:xfrm>
            <a:prstGeom prst="line">
              <a:avLst/>
            </a:prstGeom>
            <a:ln w="127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926" name="Line 84"/>
            <p:cNvSpPr/>
            <p:nvPr/>
          </p:nvSpPr>
          <p:spPr>
            <a:xfrm>
              <a:off x="4921" y="845"/>
              <a:ext cx="0" cy="3201"/>
            </a:xfrm>
            <a:prstGeom prst="line">
              <a:avLst/>
            </a:prstGeom>
            <a:ln w="28575" cap="sq" cmpd="sng">
              <a:solidFill>
                <a:schemeClr val="accent2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35845" name="Picture 85" descr="drc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0850" y="3197225"/>
            <a:ext cx="7929563" cy="3660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6867" name="Rectangle 2"/>
          <p:cNvSpPr>
            <a:spLocks noGrp="1"/>
          </p:cNvSpPr>
          <p:nvPr>
            <p:ph type="title"/>
          </p:nvPr>
        </p:nvSpPr>
        <p:spPr>
          <a:xfrm>
            <a:off x="838200" y="276225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CMOS</a:t>
            </a:r>
            <a:r>
              <a:rPr lang="zh-CN" altLang="en-US" sz="4000" dirty="0"/>
              <a:t>逻辑电路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914400" y="323850"/>
            <a:ext cx="10361613" cy="533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基本逻辑电路</a:t>
            </a:r>
            <a:endParaRPr lang="zh-CN" altLang="en-US" dirty="0"/>
          </a:p>
        </p:txBody>
      </p:sp>
      <p:sp>
        <p:nvSpPr>
          <p:cNvPr id="37892" name="Rectangle 3"/>
          <p:cNvSpPr>
            <a:spLocks noGrp="1"/>
          </p:cNvSpPr>
          <p:nvPr>
            <p:ph idx="1"/>
          </p:nvPr>
        </p:nvSpPr>
        <p:spPr>
          <a:xfrm>
            <a:off x="508000" y="1981200"/>
            <a:ext cx="10768013" cy="4114800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组合逻辑电路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电路中没有存储单元，逻辑电路的输出完全由当前的输入决定。</a:t>
            </a:r>
            <a:endParaRPr lang="zh-CN" altLang="en-US" dirty="0">
              <a:latin typeface="+mn-lt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时序逻辑电路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电路中有存储单元，逻辑电路的输出由原来状态和当前的输入决定。</a:t>
            </a:r>
            <a:endParaRPr lang="zh-CN" altLang="en-US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8915" name="Rectangle 2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1613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逻辑表达式</a:t>
            </a:r>
            <a:endParaRPr lang="zh-CN" altLang="en-US" dirty="0"/>
          </a:p>
        </p:txBody>
      </p:sp>
      <p:sp>
        <p:nvSpPr>
          <p:cNvPr id="38916" name="Rectangle 3"/>
          <p:cNvSpPr>
            <a:spLocks noGrp="1"/>
          </p:cNvSpPr>
          <p:nvPr>
            <p:ph idx="1"/>
          </p:nvPr>
        </p:nvSpPr>
        <p:spPr>
          <a:xfrm>
            <a:off x="406400" y="1104900"/>
            <a:ext cx="11377613" cy="5556250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Boolean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代数的基本操作：与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(*)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、或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(+)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、非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(^)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一些基本定律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A+0=A, A*1=A, A+1=1, A*0=0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A+A=A, A*A=A, A+^A=1, A*^A=0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A+B=B+A, A*B=B*A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A+(B+C)=(A+B)+C, A*(B*C)=(A*B)*C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A*(B+C)=A*B+A*C, A+(B*C)=(A+B)(A+C)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</a:rPr>
              <a:t>^(A*B)=^A+^B, ^(A+B)=^A*^B</a:t>
            </a:r>
            <a:endParaRPr lang="en-US" altLang="zh-CN" dirty="0">
              <a:solidFill>
                <a:srgbClr val="FF0000"/>
              </a:solidFill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A+A*B=A, A+^A*B=A+B</a:t>
            </a:r>
            <a:endParaRPr lang="en-US" altLang="zh-CN" dirty="0">
              <a:solidFill>
                <a:schemeClr val="accent2"/>
              </a:solidFill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CMOS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中，最基本的门是非、与非、或非门，因此逻辑表达式最好写成上述操作的组合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如，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^(^(A*B)*^(C*D))=A*B+C*D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993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CMOS</a:t>
            </a:r>
            <a:r>
              <a:rPr lang="zh-CN" altLang="en-US" dirty="0"/>
              <a:t>组合电路的组成</a:t>
            </a:r>
            <a:endParaRPr lang="zh-CN" altLang="en-US" dirty="0"/>
          </a:p>
        </p:txBody>
      </p:sp>
      <p:sp>
        <p:nvSpPr>
          <p:cNvPr id="39940" name="Rectangle 3"/>
          <p:cNvSpPr>
            <a:spLocks noGrp="1"/>
          </p:cNvSpPr>
          <p:nvPr>
            <p:ph idx="1"/>
          </p:nvPr>
        </p:nvSpPr>
        <p:spPr>
          <a:xfrm>
            <a:off x="914400" y="1631950"/>
            <a:ext cx="6505575" cy="4995863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用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NMOS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组成正逻辑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串联表示与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并联表示并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用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PMOS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组成反逻辑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^(A*B)=^A+^B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en-US" altLang="zh-CN" dirty="0">
                <a:latin typeface="宋体" panose="02000500000000000000" pitchFamily="2" charset="-122"/>
                <a:ea typeface="+mn-ea"/>
              </a:rPr>
              <a:t>^(A+B)=^A*^B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正反逻辑串联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由于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N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网络导通时接地，因此输出是反向的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例： 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~(A&amp;B | C&amp;D) 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39941" name="Rectangle 5"/>
          <p:cNvSpPr/>
          <p:nvPr/>
        </p:nvSpPr>
        <p:spPr>
          <a:xfrm>
            <a:off x="0" y="2246313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itchFamily="18" charset="0"/>
            </a:endParaRPr>
          </a:p>
        </p:txBody>
      </p:sp>
      <p:pic>
        <p:nvPicPr>
          <p:cNvPr id="39942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7625" y="2247900"/>
            <a:ext cx="4205288" cy="3486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9943" name="Rectangle 6"/>
          <p:cNvSpPr/>
          <p:nvPr/>
        </p:nvSpPr>
        <p:spPr>
          <a:xfrm>
            <a:off x="0" y="4151313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4" name="Rectangle 2"/>
          <p:cNvSpPr/>
          <p:nvPr/>
        </p:nvSpPr>
        <p:spPr>
          <a:xfrm>
            <a:off x="914400" y="0"/>
            <a:ext cx="10361613" cy="914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40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常用组合逻辑：一位全加器</a:t>
            </a:r>
            <a:endParaRPr lang="zh-CN" altLang="en-US" sz="40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43012" name="Rectangle 3"/>
          <p:cNvSpPr/>
          <p:nvPr/>
        </p:nvSpPr>
        <p:spPr>
          <a:xfrm>
            <a:off x="534988" y="1243013"/>
            <a:ext cx="10774363" cy="20288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60680" marR="0" lvl="0" indent="-36068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一位全加器：输入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A, B,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；输出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S,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Cout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00500000000000000" pitchFamily="2" charset="-122"/>
              <a:cs typeface="+mn-cs"/>
            </a:endParaRPr>
          </a:p>
          <a:p>
            <a:pPr marL="720725" marR="0" lvl="1" indent="-360045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S    = ^A*^B*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+ ^A*B*^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+ A*^B*^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+ A*B*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00500000000000000" pitchFamily="2" charset="-122"/>
              <a:cs typeface="+mn-cs"/>
            </a:endParaRPr>
          </a:p>
          <a:p>
            <a:pPr marL="720725" marR="0" lvl="1" indent="-360045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Cout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= ^A*B*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+ A*^B*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+ A*B*^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+ A*B*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= A*B + A*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 + B*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Cin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00500000000000000" pitchFamily="2" charset="-122"/>
              <a:cs typeface="+mn-cs"/>
            </a:endParaRPr>
          </a:p>
          <a:p>
            <a:pPr marL="263525" marR="0" lvl="0" indent="-360045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Char char="•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共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56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宋体" panose="02000500000000000000" pitchFamily="2" charset="-122"/>
                <a:cs typeface="+mn-cs"/>
              </a:rPr>
              <a:t>个晶体管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宋体" panose="02000500000000000000" pitchFamily="2" charset="-122"/>
              <a:cs typeface="+mn-cs"/>
            </a:endParaRPr>
          </a:p>
        </p:txBody>
      </p:sp>
      <p:grpSp>
        <p:nvGrpSpPr>
          <p:cNvPr id="5126" name="Group 152"/>
          <p:cNvGrpSpPr/>
          <p:nvPr/>
        </p:nvGrpSpPr>
        <p:grpSpPr>
          <a:xfrm>
            <a:off x="5980113" y="3176588"/>
            <a:ext cx="5602287" cy="3286125"/>
            <a:chOff x="813" y="1709"/>
            <a:chExt cx="4364" cy="2359"/>
          </a:xfrm>
        </p:grpSpPr>
        <p:grpSp>
          <p:nvGrpSpPr>
            <p:cNvPr id="5129" name="Group 52"/>
            <p:cNvGrpSpPr/>
            <p:nvPr/>
          </p:nvGrpSpPr>
          <p:grpSpPr>
            <a:xfrm>
              <a:off x="1389" y="1966"/>
              <a:ext cx="277" cy="395"/>
              <a:chOff x="1605" y="1902"/>
              <a:chExt cx="277" cy="395"/>
            </a:xfrm>
          </p:grpSpPr>
          <p:grpSp>
            <p:nvGrpSpPr>
              <p:cNvPr id="5260" name="Group 10"/>
              <p:cNvGrpSpPr/>
              <p:nvPr/>
            </p:nvGrpSpPr>
            <p:grpSpPr>
              <a:xfrm>
                <a:off x="1605" y="1960"/>
                <a:ext cx="277" cy="337"/>
                <a:chOff x="3238" y="10820"/>
                <a:chExt cx="700" cy="1020"/>
              </a:xfrm>
            </p:grpSpPr>
            <p:sp>
              <p:nvSpPr>
                <p:cNvPr id="5262" name="Oval 11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63" name="Line 12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64" name="Rectangle 13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65" name="Line 14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66" name="Line 15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61" name="Oval 16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0" name="Group 18"/>
            <p:cNvGrpSpPr/>
            <p:nvPr/>
          </p:nvGrpSpPr>
          <p:grpSpPr>
            <a:xfrm>
              <a:off x="813" y="2584"/>
              <a:ext cx="277" cy="403"/>
              <a:chOff x="2025" y="2603"/>
              <a:chExt cx="277" cy="403"/>
            </a:xfrm>
          </p:grpSpPr>
          <p:grpSp>
            <p:nvGrpSpPr>
              <p:cNvPr id="5253" name="Group 19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55" name="Oval 20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56" name="Line 21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57" name="Rectangle 22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58" name="Line 23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59" name="Line 24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54" name="Oval 25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1" name="Group 26"/>
            <p:cNvGrpSpPr/>
            <p:nvPr/>
          </p:nvGrpSpPr>
          <p:grpSpPr>
            <a:xfrm>
              <a:off x="1975" y="2577"/>
              <a:ext cx="277" cy="403"/>
              <a:chOff x="2025" y="2603"/>
              <a:chExt cx="277" cy="403"/>
            </a:xfrm>
          </p:grpSpPr>
          <p:grpSp>
            <p:nvGrpSpPr>
              <p:cNvPr id="5246" name="Group 27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48" name="Oval 28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49" name="Line 29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50" name="Rectangle 30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51" name="Line 31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52" name="Line 32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47" name="Oval 33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2" name="Group 34"/>
            <p:cNvGrpSpPr/>
            <p:nvPr/>
          </p:nvGrpSpPr>
          <p:grpSpPr>
            <a:xfrm>
              <a:off x="1587" y="2580"/>
              <a:ext cx="277" cy="403"/>
              <a:chOff x="2025" y="2603"/>
              <a:chExt cx="277" cy="403"/>
            </a:xfrm>
          </p:grpSpPr>
          <p:grpSp>
            <p:nvGrpSpPr>
              <p:cNvPr id="5239" name="Group 35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41" name="Oval 36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42" name="Line 37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43" name="Rectangle 38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44" name="Line 39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45" name="Line 40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40" name="Oval 41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3" name="Group 42"/>
            <p:cNvGrpSpPr/>
            <p:nvPr/>
          </p:nvGrpSpPr>
          <p:grpSpPr>
            <a:xfrm>
              <a:off x="1200" y="2574"/>
              <a:ext cx="277" cy="403"/>
              <a:chOff x="2025" y="2603"/>
              <a:chExt cx="277" cy="403"/>
            </a:xfrm>
          </p:grpSpPr>
          <p:grpSp>
            <p:nvGrpSpPr>
              <p:cNvPr id="5232" name="Group 43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34" name="Oval 44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35" name="Line 45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36" name="Rectangle 46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37" name="Line 47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38" name="Line 48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33" name="Oval 49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4" name="Group 54"/>
            <p:cNvGrpSpPr/>
            <p:nvPr/>
          </p:nvGrpSpPr>
          <p:grpSpPr>
            <a:xfrm>
              <a:off x="3047" y="1958"/>
              <a:ext cx="277" cy="403"/>
              <a:chOff x="2025" y="2603"/>
              <a:chExt cx="277" cy="403"/>
            </a:xfrm>
          </p:grpSpPr>
          <p:grpSp>
            <p:nvGrpSpPr>
              <p:cNvPr id="5225" name="Group 55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27" name="Oval 56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28" name="Line 57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9" name="Rectangle 58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30" name="Line 59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31" name="Line 60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26" name="Oval 61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5" name="Group 62"/>
            <p:cNvGrpSpPr/>
            <p:nvPr/>
          </p:nvGrpSpPr>
          <p:grpSpPr>
            <a:xfrm>
              <a:off x="3049" y="2577"/>
              <a:ext cx="277" cy="403"/>
              <a:chOff x="2025" y="2603"/>
              <a:chExt cx="277" cy="403"/>
            </a:xfrm>
          </p:grpSpPr>
          <p:grpSp>
            <p:nvGrpSpPr>
              <p:cNvPr id="5218" name="Group 63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20" name="Oval 64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21" name="Line 65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2" name="Rectangle 66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23" name="Line 67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24" name="Line 68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19" name="Oval 69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6" name="Group 70"/>
            <p:cNvGrpSpPr/>
            <p:nvPr/>
          </p:nvGrpSpPr>
          <p:grpSpPr>
            <a:xfrm>
              <a:off x="3433" y="2564"/>
              <a:ext cx="277" cy="403"/>
              <a:chOff x="2025" y="2603"/>
              <a:chExt cx="277" cy="403"/>
            </a:xfrm>
          </p:grpSpPr>
          <p:grpSp>
            <p:nvGrpSpPr>
              <p:cNvPr id="5211" name="Group 71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13" name="Oval 72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14" name="Line 73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15" name="Rectangle 74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16" name="Line 75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17" name="Line 76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12" name="Oval 77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grpSp>
          <p:nvGrpSpPr>
            <p:cNvPr id="5137" name="Group 78"/>
            <p:cNvGrpSpPr/>
            <p:nvPr/>
          </p:nvGrpSpPr>
          <p:grpSpPr>
            <a:xfrm>
              <a:off x="2672" y="2582"/>
              <a:ext cx="277" cy="403"/>
              <a:chOff x="2025" y="2603"/>
              <a:chExt cx="277" cy="403"/>
            </a:xfrm>
          </p:grpSpPr>
          <p:grpSp>
            <p:nvGrpSpPr>
              <p:cNvPr id="5204" name="Group 79"/>
              <p:cNvGrpSpPr/>
              <p:nvPr/>
            </p:nvGrpSpPr>
            <p:grpSpPr>
              <a:xfrm>
                <a:off x="2025" y="2669"/>
                <a:ext cx="277" cy="337"/>
                <a:chOff x="3238" y="10820"/>
                <a:chExt cx="700" cy="1020"/>
              </a:xfrm>
            </p:grpSpPr>
            <p:sp>
              <p:nvSpPr>
                <p:cNvPr id="5206" name="Oval 80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07" name="Line 81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08" name="Rectangle 82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09" name="Line 83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5210" name="Line 84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205" name="Oval 85"/>
              <p:cNvSpPr/>
              <p:nvPr/>
            </p:nvSpPr>
            <p:spPr>
              <a:xfrm>
                <a:off x="2136" y="2603"/>
                <a:ext cx="63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sz="1600" dirty="0">
                  <a:latin typeface="Times New Roman" pitchFamily="18" charset="0"/>
                </a:endParaRPr>
              </a:p>
            </p:txBody>
          </p:sp>
        </p:grpSp>
        <p:sp>
          <p:nvSpPr>
            <p:cNvPr id="5138" name="Line 86"/>
            <p:cNvSpPr/>
            <p:nvPr/>
          </p:nvSpPr>
          <p:spPr>
            <a:xfrm flipV="1">
              <a:off x="851" y="3788"/>
              <a:ext cx="3500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39" name="Line 87"/>
            <p:cNvSpPr/>
            <p:nvPr/>
          </p:nvSpPr>
          <p:spPr>
            <a:xfrm flipV="1">
              <a:off x="1259" y="3721"/>
              <a:ext cx="337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0" name="Line 88"/>
            <p:cNvSpPr/>
            <p:nvPr/>
          </p:nvSpPr>
          <p:spPr>
            <a:xfrm flipV="1">
              <a:off x="1628" y="3638"/>
              <a:ext cx="330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1" name="Line 89"/>
            <p:cNvSpPr/>
            <p:nvPr/>
          </p:nvSpPr>
          <p:spPr>
            <a:xfrm>
              <a:off x="851" y="2979"/>
              <a:ext cx="0" cy="8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2" name="Line 90"/>
            <p:cNvSpPr/>
            <p:nvPr/>
          </p:nvSpPr>
          <p:spPr>
            <a:xfrm>
              <a:off x="2030" y="2982"/>
              <a:ext cx="0" cy="8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3" name="Line 91"/>
            <p:cNvSpPr/>
            <p:nvPr/>
          </p:nvSpPr>
          <p:spPr>
            <a:xfrm>
              <a:off x="2739" y="2982"/>
              <a:ext cx="0" cy="8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4" name="Line 92"/>
            <p:cNvSpPr/>
            <p:nvPr/>
          </p:nvSpPr>
          <p:spPr>
            <a:xfrm>
              <a:off x="3113" y="2980"/>
              <a:ext cx="0" cy="8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5" name="Line 93"/>
            <p:cNvSpPr/>
            <p:nvPr/>
          </p:nvSpPr>
          <p:spPr>
            <a:xfrm flipV="1">
              <a:off x="1256" y="2971"/>
              <a:ext cx="0" cy="7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6" name="Line 94"/>
            <p:cNvSpPr/>
            <p:nvPr/>
          </p:nvSpPr>
          <p:spPr>
            <a:xfrm flipV="1">
              <a:off x="2116" y="2974"/>
              <a:ext cx="0" cy="7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7" name="Line 95"/>
            <p:cNvSpPr/>
            <p:nvPr/>
          </p:nvSpPr>
          <p:spPr>
            <a:xfrm flipV="1">
              <a:off x="2874" y="2969"/>
              <a:ext cx="0" cy="7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8" name="Line 96"/>
            <p:cNvSpPr/>
            <p:nvPr/>
          </p:nvSpPr>
          <p:spPr>
            <a:xfrm flipV="1">
              <a:off x="3498" y="2961"/>
              <a:ext cx="0" cy="7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49" name="Line 97"/>
            <p:cNvSpPr/>
            <p:nvPr/>
          </p:nvSpPr>
          <p:spPr>
            <a:xfrm flipV="1">
              <a:off x="1631" y="2971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0" name="Line 98"/>
            <p:cNvSpPr/>
            <p:nvPr/>
          </p:nvSpPr>
          <p:spPr>
            <a:xfrm flipV="1">
              <a:off x="2203" y="2966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1" name="Line 99"/>
            <p:cNvSpPr/>
            <p:nvPr/>
          </p:nvSpPr>
          <p:spPr>
            <a:xfrm flipV="1">
              <a:off x="3265" y="2961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2" name="Line 100"/>
            <p:cNvSpPr/>
            <p:nvPr/>
          </p:nvSpPr>
          <p:spPr>
            <a:xfrm flipV="1">
              <a:off x="3658" y="2963"/>
              <a:ext cx="0" cy="6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3" name="Line 101"/>
            <p:cNvSpPr/>
            <p:nvPr/>
          </p:nvSpPr>
          <p:spPr>
            <a:xfrm flipV="1">
              <a:off x="952" y="3189"/>
              <a:ext cx="399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4" name="Line 102"/>
            <p:cNvSpPr/>
            <p:nvPr/>
          </p:nvSpPr>
          <p:spPr>
            <a:xfrm flipV="1">
              <a:off x="1342" y="2971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5" name="Line 103"/>
            <p:cNvSpPr/>
            <p:nvPr/>
          </p:nvSpPr>
          <p:spPr>
            <a:xfrm flipV="1">
              <a:off x="955" y="2973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6" name="Line 104"/>
            <p:cNvSpPr/>
            <p:nvPr/>
          </p:nvSpPr>
          <p:spPr>
            <a:xfrm flipV="1">
              <a:off x="1039" y="3121"/>
              <a:ext cx="36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7" name="Line 105"/>
            <p:cNvSpPr/>
            <p:nvPr/>
          </p:nvSpPr>
          <p:spPr>
            <a:xfrm flipV="1">
              <a:off x="1424" y="3046"/>
              <a:ext cx="292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8" name="Line 106"/>
            <p:cNvSpPr/>
            <p:nvPr/>
          </p:nvSpPr>
          <p:spPr>
            <a:xfrm flipV="1">
              <a:off x="1038" y="2979"/>
              <a:ext cx="0" cy="1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9" name="Line 107"/>
            <p:cNvSpPr/>
            <p:nvPr/>
          </p:nvSpPr>
          <p:spPr>
            <a:xfrm flipV="1">
              <a:off x="1724" y="2974"/>
              <a:ext cx="0" cy="1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0" name="Line 108"/>
            <p:cNvSpPr/>
            <p:nvPr/>
          </p:nvSpPr>
          <p:spPr>
            <a:xfrm flipV="1">
              <a:off x="1420" y="2971"/>
              <a:ext cx="0" cy="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1" name="Line 109"/>
            <p:cNvSpPr/>
            <p:nvPr/>
          </p:nvSpPr>
          <p:spPr>
            <a:xfrm flipV="1">
              <a:off x="1803" y="2981"/>
              <a:ext cx="0" cy="7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5162" name="Group 111"/>
            <p:cNvGrpSpPr/>
            <p:nvPr/>
          </p:nvGrpSpPr>
          <p:grpSpPr>
            <a:xfrm>
              <a:off x="4233" y="3275"/>
              <a:ext cx="218" cy="639"/>
              <a:chOff x="4457" y="3211"/>
              <a:chExt cx="218" cy="639"/>
            </a:xfrm>
          </p:grpSpPr>
          <p:grpSp>
            <p:nvGrpSpPr>
              <p:cNvPr id="5200" name="Group 53"/>
              <p:cNvGrpSpPr/>
              <p:nvPr/>
            </p:nvGrpSpPr>
            <p:grpSpPr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5202" name="AutoShape 50"/>
                <p:cNvSpPr/>
                <p:nvPr/>
              </p:nvSpPr>
              <p:spPr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203" name="Oval 51"/>
                <p:cNvSpPr/>
                <p:nvPr/>
              </p:nvSpPr>
              <p:spPr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5201" name="Line 110"/>
              <p:cNvSpPr/>
              <p:nvPr/>
            </p:nvSpPr>
            <p:spPr>
              <a:xfrm>
                <a:off x="4574" y="3468"/>
                <a:ext cx="0" cy="3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63" name="Group 112"/>
            <p:cNvGrpSpPr/>
            <p:nvPr/>
          </p:nvGrpSpPr>
          <p:grpSpPr>
            <a:xfrm>
              <a:off x="4516" y="3277"/>
              <a:ext cx="218" cy="639"/>
              <a:chOff x="4457" y="3211"/>
              <a:chExt cx="218" cy="639"/>
            </a:xfrm>
          </p:grpSpPr>
          <p:grpSp>
            <p:nvGrpSpPr>
              <p:cNvPr id="5196" name="Group 113"/>
              <p:cNvGrpSpPr/>
              <p:nvPr/>
            </p:nvGrpSpPr>
            <p:grpSpPr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5198" name="AutoShape 114"/>
                <p:cNvSpPr/>
                <p:nvPr/>
              </p:nvSpPr>
              <p:spPr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99" name="Oval 115"/>
                <p:cNvSpPr/>
                <p:nvPr/>
              </p:nvSpPr>
              <p:spPr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5197" name="Line 116"/>
              <p:cNvSpPr/>
              <p:nvPr/>
            </p:nvSpPr>
            <p:spPr>
              <a:xfrm>
                <a:off x="4574" y="3468"/>
                <a:ext cx="0" cy="3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5164" name="Group 117"/>
            <p:cNvGrpSpPr/>
            <p:nvPr/>
          </p:nvGrpSpPr>
          <p:grpSpPr>
            <a:xfrm>
              <a:off x="4814" y="3273"/>
              <a:ext cx="218" cy="639"/>
              <a:chOff x="4457" y="3211"/>
              <a:chExt cx="218" cy="639"/>
            </a:xfrm>
          </p:grpSpPr>
          <p:grpSp>
            <p:nvGrpSpPr>
              <p:cNvPr id="5192" name="Group 118"/>
              <p:cNvGrpSpPr/>
              <p:nvPr/>
            </p:nvGrpSpPr>
            <p:grpSpPr>
              <a:xfrm>
                <a:off x="4457" y="3211"/>
                <a:ext cx="218" cy="257"/>
                <a:chOff x="1169" y="3382"/>
                <a:chExt cx="218" cy="257"/>
              </a:xfrm>
            </p:grpSpPr>
            <p:sp>
              <p:nvSpPr>
                <p:cNvPr id="5194" name="AutoShape 119"/>
                <p:cNvSpPr/>
                <p:nvPr/>
              </p:nvSpPr>
              <p:spPr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5195" name="Oval 120"/>
                <p:cNvSpPr/>
                <p:nvPr/>
              </p:nvSpPr>
              <p:spPr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sz="1600" dirty="0"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5193" name="Line 121"/>
              <p:cNvSpPr/>
              <p:nvPr/>
            </p:nvSpPr>
            <p:spPr>
              <a:xfrm>
                <a:off x="4574" y="3468"/>
                <a:ext cx="0" cy="382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5165" name="Text Box 122"/>
            <p:cNvSpPr txBox="1"/>
            <p:nvPr/>
          </p:nvSpPr>
          <p:spPr>
            <a:xfrm>
              <a:off x="4249" y="3880"/>
              <a:ext cx="928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100" dirty="0">
                  <a:latin typeface="Times New Roman" pitchFamily="18" charset="0"/>
                </a:rPr>
                <a:t>A      B       Cin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5166" name="Line 123"/>
            <p:cNvSpPr/>
            <p:nvPr/>
          </p:nvSpPr>
          <p:spPr>
            <a:xfrm flipV="1">
              <a:off x="4343" y="3049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7" name="Line 124"/>
            <p:cNvSpPr/>
            <p:nvPr/>
          </p:nvSpPr>
          <p:spPr>
            <a:xfrm flipV="1">
              <a:off x="4631" y="3119"/>
              <a:ext cx="0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8" name="Line 125"/>
            <p:cNvSpPr/>
            <p:nvPr/>
          </p:nvSpPr>
          <p:spPr>
            <a:xfrm flipV="1">
              <a:off x="4935" y="3189"/>
              <a:ext cx="0" cy="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9" name="Line 126"/>
            <p:cNvSpPr/>
            <p:nvPr/>
          </p:nvSpPr>
          <p:spPr>
            <a:xfrm flipV="1">
              <a:off x="3189" y="2355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0" name="Line 127"/>
            <p:cNvSpPr/>
            <p:nvPr/>
          </p:nvSpPr>
          <p:spPr>
            <a:xfrm flipV="1">
              <a:off x="1342" y="2503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1" name="Line 128"/>
            <p:cNvSpPr/>
            <p:nvPr/>
          </p:nvSpPr>
          <p:spPr>
            <a:xfrm flipV="1">
              <a:off x="1734" y="2513"/>
              <a:ext cx="0" cy="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2" name="Line 129"/>
            <p:cNvSpPr/>
            <p:nvPr/>
          </p:nvSpPr>
          <p:spPr>
            <a:xfrm flipV="1">
              <a:off x="1342" y="2511"/>
              <a:ext cx="1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3" name="Line 130"/>
            <p:cNvSpPr/>
            <p:nvPr/>
          </p:nvSpPr>
          <p:spPr>
            <a:xfrm flipV="1">
              <a:off x="1586" y="2513"/>
              <a:ext cx="14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4" name="Line 131"/>
            <p:cNvSpPr/>
            <p:nvPr/>
          </p:nvSpPr>
          <p:spPr>
            <a:xfrm flipV="1">
              <a:off x="1483" y="2355"/>
              <a:ext cx="0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5" name="Line 132"/>
            <p:cNvSpPr/>
            <p:nvPr/>
          </p:nvSpPr>
          <p:spPr>
            <a:xfrm flipV="1">
              <a:off x="1579" y="2355"/>
              <a:ext cx="0" cy="15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6" name="Line 133"/>
            <p:cNvSpPr/>
            <p:nvPr/>
          </p:nvSpPr>
          <p:spPr>
            <a:xfrm flipV="1">
              <a:off x="953" y="2449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7" name="Line 134"/>
            <p:cNvSpPr/>
            <p:nvPr/>
          </p:nvSpPr>
          <p:spPr>
            <a:xfrm flipV="1">
              <a:off x="2124" y="2444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8" name="Line 135"/>
            <p:cNvSpPr/>
            <p:nvPr/>
          </p:nvSpPr>
          <p:spPr>
            <a:xfrm>
              <a:off x="953" y="2456"/>
              <a:ext cx="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79" name="Line 136"/>
            <p:cNvSpPr/>
            <p:nvPr/>
          </p:nvSpPr>
          <p:spPr>
            <a:xfrm>
              <a:off x="1648" y="2451"/>
              <a:ext cx="4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0" name="Line 137"/>
            <p:cNvSpPr/>
            <p:nvPr/>
          </p:nvSpPr>
          <p:spPr>
            <a:xfrm flipV="1">
              <a:off x="1405" y="2355"/>
              <a:ext cx="0" cy="1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1" name="Line 138"/>
            <p:cNvSpPr/>
            <p:nvPr/>
          </p:nvSpPr>
          <p:spPr>
            <a:xfrm flipV="1">
              <a:off x="1649" y="2350"/>
              <a:ext cx="0" cy="10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2" name="Line 139"/>
            <p:cNvSpPr/>
            <p:nvPr/>
          </p:nvSpPr>
          <p:spPr>
            <a:xfrm flipV="1">
              <a:off x="2818" y="2450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3" name="Line 140"/>
            <p:cNvSpPr/>
            <p:nvPr/>
          </p:nvSpPr>
          <p:spPr>
            <a:xfrm flipV="1">
              <a:off x="3576" y="2445"/>
              <a:ext cx="0" cy="1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4" name="Line 141"/>
            <p:cNvSpPr/>
            <p:nvPr/>
          </p:nvSpPr>
          <p:spPr>
            <a:xfrm flipV="1">
              <a:off x="2819" y="2453"/>
              <a:ext cx="27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5" name="Line 142"/>
            <p:cNvSpPr/>
            <p:nvPr/>
          </p:nvSpPr>
          <p:spPr>
            <a:xfrm>
              <a:off x="3281" y="2447"/>
              <a:ext cx="2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6" name="Line 143"/>
            <p:cNvSpPr/>
            <p:nvPr/>
          </p:nvSpPr>
          <p:spPr>
            <a:xfrm flipV="1">
              <a:off x="3096" y="2347"/>
              <a:ext cx="1" cy="10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7" name="Line 144"/>
            <p:cNvSpPr/>
            <p:nvPr/>
          </p:nvSpPr>
          <p:spPr>
            <a:xfrm flipH="1" flipV="1">
              <a:off x="3279" y="2358"/>
              <a:ext cx="0" cy="8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8" name="Line 145"/>
            <p:cNvSpPr/>
            <p:nvPr/>
          </p:nvSpPr>
          <p:spPr>
            <a:xfrm flipV="1">
              <a:off x="3191" y="1742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89" name="Line 146"/>
            <p:cNvSpPr/>
            <p:nvPr/>
          </p:nvSpPr>
          <p:spPr>
            <a:xfrm flipV="1">
              <a:off x="1531" y="1750"/>
              <a:ext cx="0" cy="21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90" name="Text Box 147"/>
            <p:cNvSpPr txBox="1"/>
            <p:nvPr/>
          </p:nvSpPr>
          <p:spPr>
            <a:xfrm>
              <a:off x="1529" y="1709"/>
              <a:ext cx="179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100" dirty="0">
                  <a:latin typeface="Times New Roman" pitchFamily="18" charset="0"/>
                </a:rPr>
                <a:t>S</a:t>
              </a:r>
              <a:endParaRPr lang="en-US" altLang="zh-CN" sz="1100" dirty="0">
                <a:latin typeface="Times New Roman" pitchFamily="18" charset="0"/>
              </a:endParaRPr>
            </a:p>
          </p:txBody>
        </p:sp>
        <p:sp>
          <p:nvSpPr>
            <p:cNvPr id="5191" name="Text Box 148"/>
            <p:cNvSpPr txBox="1"/>
            <p:nvPr/>
          </p:nvSpPr>
          <p:spPr>
            <a:xfrm>
              <a:off x="3223" y="1712"/>
              <a:ext cx="390" cy="1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100" dirty="0">
                  <a:latin typeface="Times New Roman" pitchFamily="18" charset="0"/>
                </a:rPr>
                <a:t>Cout</a:t>
              </a:r>
              <a:endParaRPr lang="en-US" altLang="zh-CN" sz="1100" dirty="0">
                <a:latin typeface="Times New Roman" pitchFamily="18" charset="0"/>
              </a:endParaRPr>
            </a:p>
          </p:txBody>
        </p:sp>
      </p:grpSp>
      <p:graphicFrame>
        <p:nvGraphicFramePr>
          <p:cNvPr id="5122" name="Object 2"/>
          <p:cNvGraphicFramePr/>
          <p:nvPr/>
        </p:nvGraphicFramePr>
        <p:xfrm>
          <a:off x="827088" y="3890963"/>
          <a:ext cx="4765675" cy="2163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573780" imgH="2560320" progId="Word.Document.8">
                  <p:embed/>
                </p:oleObj>
              </mc:Choice>
              <mc:Fallback>
                <p:oleObj name="" r:id="rId1" imgW="3573780" imgH="2560320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7088" y="3890963"/>
                        <a:ext cx="4765675" cy="21637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Box 144"/>
          <p:cNvSpPr txBox="1"/>
          <p:nvPr/>
        </p:nvSpPr>
        <p:spPr>
          <a:xfrm>
            <a:off x="1757363" y="6051550"/>
            <a:ext cx="2670175" cy="338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1600" dirty="0">
                <a:latin typeface="Times New Roman" pitchFamily="18" charset="0"/>
              </a:rPr>
              <a:t>真值表</a:t>
            </a:r>
            <a:endParaRPr lang="zh-CN" altLang="en-US" sz="1600" dirty="0">
              <a:latin typeface="Times New Roman" pitchFamily="18" charset="0"/>
            </a:endParaRPr>
          </a:p>
        </p:txBody>
      </p:sp>
      <p:sp>
        <p:nvSpPr>
          <p:cNvPr id="5128" name="TextBox 145"/>
          <p:cNvSpPr txBox="1"/>
          <p:nvPr/>
        </p:nvSpPr>
        <p:spPr>
          <a:xfrm>
            <a:off x="6926263" y="6240463"/>
            <a:ext cx="2670175" cy="3381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1600" dirty="0">
                <a:latin typeface="Times New Roman" pitchFamily="18" charset="0"/>
              </a:rPr>
              <a:t>逻辑图</a:t>
            </a:r>
            <a:endParaRPr lang="zh-CN" altLang="en-US" sz="1600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40963" name="Rectangle 1066"/>
          <p:cNvSpPr>
            <a:spLocks noGrp="1"/>
          </p:cNvSpPr>
          <p:nvPr>
            <p:ph type="title"/>
          </p:nvPr>
        </p:nvSpPr>
        <p:spPr>
          <a:xfrm>
            <a:off x="939800" y="28575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常见组合逻辑：译码器和选择器</a:t>
            </a:r>
            <a:endParaRPr lang="zh-CN" altLang="en-US" dirty="0"/>
          </a:p>
        </p:txBody>
      </p:sp>
      <p:graphicFrame>
        <p:nvGraphicFramePr>
          <p:cNvPr id="40964" name="内容占位符 40963"/>
          <p:cNvGraphicFramePr/>
          <p:nvPr>
            <p:ph/>
          </p:nvPr>
        </p:nvGraphicFramePr>
        <p:xfrm>
          <a:off x="838200" y="1828800"/>
          <a:ext cx="10361613" cy="3836988"/>
        </p:xfrm>
        <a:graphic>
          <a:graphicData uri="http://schemas.openxmlformats.org/drawingml/2006/table">
            <a:tbl>
              <a:tblPr/>
              <a:tblGrid>
                <a:gridCol w="692150"/>
                <a:gridCol w="566738"/>
                <a:gridCol w="569912"/>
                <a:gridCol w="566738"/>
                <a:gridCol w="566420"/>
                <a:gridCol w="570230"/>
                <a:gridCol w="566737"/>
                <a:gridCol w="568325"/>
                <a:gridCol w="566738"/>
                <a:gridCol w="569912"/>
                <a:gridCol w="566738"/>
                <a:gridCol w="1073150"/>
                <a:gridCol w="568325"/>
                <a:gridCol w="568325"/>
                <a:gridCol w="566737"/>
                <a:gridCol w="1214438"/>
              </a:tblGrid>
              <a:tr h="43815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zh-CN" altLang="en-US" sz="2000" b="1" dirty="0">
                          <a:latin typeface="宋体" panose="02000500000000000000" pitchFamily="2" charset="-122"/>
                        </a:rPr>
                        <a:t>输入</a:t>
                      </a:r>
                      <a:endParaRPr lang="zh-CN" altLang="en-US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zh-CN" altLang="en-US" sz="2000" b="1" dirty="0">
                          <a:latin typeface="宋体" panose="02000500000000000000" pitchFamily="2" charset="-122"/>
                        </a:rPr>
                        <a:t>输出</a:t>
                      </a:r>
                      <a:endParaRPr lang="zh-CN" altLang="en-US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zh-CN" altLang="en-US" sz="2000" b="1" dirty="0">
                          <a:latin typeface="宋体" panose="02000500000000000000" pitchFamily="2" charset="-122"/>
                        </a:rPr>
                        <a:t>输入</a:t>
                      </a:r>
                      <a:endParaRPr lang="zh-CN" altLang="en-US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zh-CN" altLang="en-US" sz="2000" b="1" dirty="0">
                          <a:latin typeface="宋体" panose="02000500000000000000" pitchFamily="2" charset="-122"/>
                        </a:rPr>
                        <a:t>输出</a:t>
                      </a:r>
                      <a:endParaRPr lang="zh-CN" altLang="en-US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C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B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A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Y2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Y3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Y4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Y5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Y6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Y7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C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B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A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Y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D0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D1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D2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D3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D4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62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D5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D6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778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0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itchFamily="18" charset="0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1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</a:defRPr>
                      </a:lvl1pPr>
                      <a:lvl2pPr marL="45720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2pPr>
                      <a:lvl3pPr marL="91440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3pPr>
                      <a:lvl4pPr marL="137160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4pPr>
                      <a:lvl5pPr marL="182880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anose="02000500000000000000" pitchFamily="2" charset="-122"/>
                          <a:cs typeface="+mn-cs"/>
                        </a:defRPr>
                      </a:lvl5pPr>
                    </a:lstStyle>
                    <a:p>
                      <a:pPr marL="342900" lvl="0" indent="-342900" algn="ctr" eaLnBrk="1" hangingPunct="1">
                        <a:buNone/>
                      </a:pPr>
                      <a:r>
                        <a:rPr lang="en-US" altLang="zh-CN" sz="2000" b="1" dirty="0">
                          <a:latin typeface="宋体" panose="02000500000000000000" pitchFamily="2" charset="-122"/>
                        </a:rPr>
                        <a:t>D7</a:t>
                      </a:r>
                      <a:endParaRPr lang="en-US" altLang="zh-CN" sz="2000" b="1" dirty="0">
                        <a:latin typeface="宋体" panose="02000500000000000000" pitchFamily="2" charset="-122"/>
                      </a:endParaRPr>
                    </a:p>
                  </a:txBody>
                  <a:tcPr marL="47994" marR="47994" marT="36000" marB="360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>
          <a:xfrm>
            <a:off x="914400" y="0"/>
            <a:ext cx="10361613" cy="8683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时序逻辑电路</a:t>
            </a:r>
            <a:endParaRPr lang="zh-CN" altLang="en-US" dirty="0"/>
          </a:p>
        </p:txBody>
      </p:sp>
      <p:sp>
        <p:nvSpPr>
          <p:cNvPr id="41987" name="Rectangle 3"/>
          <p:cNvSpPr>
            <a:spLocks noGrp="1"/>
          </p:cNvSpPr>
          <p:nvPr>
            <p:ph idx="1"/>
          </p:nvPr>
        </p:nvSpPr>
        <p:spPr>
          <a:xfrm>
            <a:off x="817563" y="1336675"/>
            <a:ext cx="10361612" cy="2520950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zh-CN" altLang="en-US" dirty="0">
                <a:latin typeface="+mn-lt"/>
                <a:ea typeface="+mn-ea"/>
                <a:cs typeface="+mn-cs"/>
              </a:rPr>
              <a:t>时序逻辑电路内部有存储单元，其行为由输入和内部单元的值共同决定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可分为同步时序逻辑电路和异步时序逻辑电路，计算机中主要用同步电路</a:t>
            </a:r>
            <a:endParaRPr lang="zh-CN" altLang="en-US" dirty="0">
              <a:latin typeface="+mn-lt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+mn-lt"/>
                <a:ea typeface="+mn-ea"/>
              </a:rPr>
              <a:t>在同步时序电路中，所有存储单元的变化由时钟统一触发</a:t>
            </a:r>
            <a:endParaRPr lang="zh-CN" altLang="en-US" dirty="0">
              <a:latin typeface="+mn-lt"/>
              <a:ea typeface="+mn-ea"/>
            </a:endParaRPr>
          </a:p>
        </p:txBody>
      </p:sp>
      <p:grpSp>
        <p:nvGrpSpPr>
          <p:cNvPr id="41988" name="Group 4"/>
          <p:cNvGrpSpPr/>
          <p:nvPr/>
        </p:nvGrpSpPr>
        <p:grpSpPr>
          <a:xfrm>
            <a:off x="4687888" y="3978275"/>
            <a:ext cx="3117850" cy="2459038"/>
            <a:chOff x="2127" y="2501"/>
            <a:chExt cx="1473" cy="1549"/>
          </a:xfrm>
        </p:grpSpPr>
        <p:sp>
          <p:nvSpPr>
            <p:cNvPr id="41989" name="Text Box 5"/>
            <p:cNvSpPr txBox="1"/>
            <p:nvPr/>
          </p:nvSpPr>
          <p:spPr>
            <a:xfrm>
              <a:off x="2127" y="2501"/>
              <a:ext cx="1021" cy="88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>
                <a:spcBef>
                  <a:spcPct val="50000"/>
                </a:spcBef>
              </a:pPr>
              <a:endParaRPr lang="en-US" altLang="zh-CN" sz="1600" dirty="0">
                <a:latin typeface="Times New Roman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zh-CN" altLang="en-US" sz="1600" dirty="0">
                  <a:latin typeface="Times New Roman" pitchFamily="18" charset="0"/>
                </a:rPr>
                <a:t>组合逻辑</a:t>
              </a:r>
              <a:endParaRPr lang="zh-CN" altLang="en-US" sz="1600" dirty="0">
                <a:latin typeface="Times New Roman" pitchFamily="18" charset="0"/>
              </a:endParaRPr>
            </a:p>
          </p:txBody>
        </p:sp>
        <p:sp>
          <p:nvSpPr>
            <p:cNvPr id="41990" name="Text Box 6"/>
            <p:cNvSpPr txBox="1"/>
            <p:nvPr/>
          </p:nvSpPr>
          <p:spPr>
            <a:xfrm>
              <a:off x="2400" y="3624"/>
              <a:ext cx="748" cy="21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p>
              <a:pPr algn="ctr">
                <a:spcBef>
                  <a:spcPct val="50000"/>
                </a:spcBef>
              </a:pPr>
              <a:r>
                <a:rPr lang="zh-CN" altLang="en-US" sz="1600" dirty="0">
                  <a:latin typeface="Times New Roman" pitchFamily="18" charset="0"/>
                </a:rPr>
                <a:t>寄存器</a:t>
              </a:r>
              <a:endParaRPr lang="zh-CN" altLang="en-US" sz="1600" dirty="0">
                <a:latin typeface="Times New Roman" pitchFamily="18" charset="0"/>
              </a:endParaRPr>
            </a:p>
          </p:txBody>
        </p:sp>
        <p:sp>
          <p:nvSpPr>
            <p:cNvPr id="41991" name="Line 7"/>
            <p:cNvSpPr/>
            <p:nvPr/>
          </p:nvSpPr>
          <p:spPr>
            <a:xfrm flipV="1">
              <a:off x="2774" y="3390"/>
              <a:ext cx="0" cy="23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2" name="Line 8"/>
            <p:cNvSpPr/>
            <p:nvPr/>
          </p:nvSpPr>
          <p:spPr>
            <a:xfrm flipV="1">
              <a:off x="2221" y="3390"/>
              <a:ext cx="0" cy="65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3" name="Line 9"/>
            <p:cNvSpPr/>
            <p:nvPr/>
          </p:nvSpPr>
          <p:spPr>
            <a:xfrm>
              <a:off x="3148" y="2720"/>
              <a:ext cx="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4" name="Line 10"/>
            <p:cNvSpPr/>
            <p:nvPr/>
          </p:nvSpPr>
          <p:spPr>
            <a:xfrm flipV="1">
              <a:off x="2774" y="3842"/>
              <a:ext cx="0" cy="20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1995" name="Line 11"/>
            <p:cNvSpPr/>
            <p:nvPr/>
          </p:nvSpPr>
          <p:spPr>
            <a:xfrm flipV="1">
              <a:off x="2774" y="4044"/>
              <a:ext cx="685" cy="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6" name="Line 12"/>
            <p:cNvSpPr/>
            <p:nvPr/>
          </p:nvSpPr>
          <p:spPr>
            <a:xfrm>
              <a:off x="3148" y="3164"/>
              <a:ext cx="3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7" name="Line 13"/>
            <p:cNvSpPr/>
            <p:nvPr/>
          </p:nvSpPr>
          <p:spPr>
            <a:xfrm flipV="1">
              <a:off x="3453" y="3164"/>
              <a:ext cx="0" cy="8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8" name="Text Box 14"/>
            <p:cNvSpPr txBox="1"/>
            <p:nvPr/>
          </p:nvSpPr>
          <p:spPr>
            <a:xfrm>
              <a:off x="2252" y="3896"/>
              <a:ext cx="25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600" dirty="0">
                  <a:latin typeface="Times New Roman" pitchFamily="18" charset="0"/>
                </a:rPr>
                <a:t>输入</a:t>
              </a:r>
              <a:endParaRPr lang="zh-CN" altLang="en-US" dirty="0">
                <a:latin typeface="Times New Roman" pitchFamily="18" charset="0"/>
              </a:endParaRPr>
            </a:p>
          </p:txBody>
        </p:sp>
        <p:sp>
          <p:nvSpPr>
            <p:cNvPr id="41999" name="Text Box 15"/>
            <p:cNvSpPr txBox="1"/>
            <p:nvPr/>
          </p:nvSpPr>
          <p:spPr>
            <a:xfrm>
              <a:off x="3259" y="2527"/>
              <a:ext cx="257" cy="15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1600" dirty="0">
                  <a:latin typeface="Times New Roman" pitchFamily="18" charset="0"/>
                </a:rPr>
                <a:t>输出</a:t>
              </a:r>
              <a:endParaRPr lang="zh-CN" altLang="en-US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9" name="Rectangle 2"/>
          <p:cNvSpPr>
            <a:spLocks noGrp="1"/>
          </p:cNvSpPr>
          <p:nvPr>
            <p:ph type="title"/>
          </p:nvPr>
        </p:nvSpPr>
        <p:spPr>
          <a:xfrm>
            <a:off x="914400" y="323850"/>
            <a:ext cx="10361613" cy="52546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RS</a:t>
            </a:r>
            <a:r>
              <a:rPr lang="zh-CN" altLang="zh-CN" dirty="0"/>
              <a:t>触发器</a:t>
            </a:r>
            <a:endParaRPr lang="zh-CN" altLang="en-US" dirty="0"/>
          </a:p>
        </p:txBody>
      </p:sp>
      <p:sp>
        <p:nvSpPr>
          <p:cNvPr id="6150" name="Rectangle 3"/>
          <p:cNvSpPr>
            <a:spLocks noGrp="1"/>
          </p:cNvSpPr>
          <p:nvPr>
            <p:ph idx="1"/>
          </p:nvPr>
        </p:nvSpPr>
        <p:spPr>
          <a:xfrm>
            <a:off x="881063" y="1182688"/>
            <a:ext cx="10361612" cy="1455737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spcBef>
                <a:spcPct val="0"/>
              </a:spcBef>
            </a:pPr>
            <a:r>
              <a:rPr lang="zh-CN" altLang="en-US" dirty="0">
                <a:latin typeface="+mn-lt"/>
                <a:ea typeface="+mn-ea"/>
                <a:cs typeface="+mn-cs"/>
              </a:rPr>
              <a:t>其它寄存器电路的基础</a:t>
            </a:r>
            <a:endParaRPr lang="zh-CN" altLang="en-US" dirty="0">
              <a:latin typeface="+mn-lt"/>
              <a:ea typeface="+mn-ea"/>
              <a:cs typeface="+mn-cs"/>
            </a:endParaRPr>
          </a:p>
        </p:txBody>
      </p:sp>
      <p:grpSp>
        <p:nvGrpSpPr>
          <p:cNvPr id="6151" name="Group 131"/>
          <p:cNvGrpSpPr/>
          <p:nvPr/>
        </p:nvGrpSpPr>
        <p:grpSpPr>
          <a:xfrm>
            <a:off x="3233738" y="4376738"/>
            <a:ext cx="5045075" cy="1657350"/>
            <a:chOff x="335" y="2587"/>
            <a:chExt cx="2384" cy="1044"/>
          </a:xfrm>
        </p:grpSpPr>
        <p:grpSp>
          <p:nvGrpSpPr>
            <p:cNvPr id="6188" name="Group 4"/>
            <p:cNvGrpSpPr/>
            <p:nvPr/>
          </p:nvGrpSpPr>
          <p:grpSpPr>
            <a:xfrm>
              <a:off x="335" y="2587"/>
              <a:ext cx="1018" cy="1044"/>
              <a:chOff x="1550" y="1442"/>
              <a:chExt cx="1018" cy="1044"/>
            </a:xfrm>
          </p:grpSpPr>
          <p:grpSp>
            <p:nvGrpSpPr>
              <p:cNvPr id="6189" name="Group 5"/>
              <p:cNvGrpSpPr/>
              <p:nvPr/>
            </p:nvGrpSpPr>
            <p:grpSpPr>
              <a:xfrm>
                <a:off x="1550" y="1442"/>
                <a:ext cx="1018" cy="1044"/>
                <a:chOff x="1550" y="1442"/>
                <a:chExt cx="1018" cy="1044"/>
              </a:xfrm>
            </p:grpSpPr>
            <p:grpSp>
              <p:nvGrpSpPr>
                <p:cNvPr id="6196" name="Group 6"/>
                <p:cNvGrpSpPr/>
                <p:nvPr/>
              </p:nvGrpSpPr>
              <p:grpSpPr>
                <a:xfrm>
                  <a:off x="1550" y="1694"/>
                  <a:ext cx="398" cy="410"/>
                  <a:chOff x="1550" y="1694"/>
                  <a:chExt cx="398" cy="410"/>
                </a:xfrm>
              </p:grpSpPr>
              <p:sp>
                <p:nvSpPr>
                  <p:cNvPr id="6212" name="AutoShape 7"/>
                  <p:cNvSpPr/>
                  <p:nvPr/>
                </p:nvSpPr>
                <p:spPr>
                  <a:xfrm rot="5400000">
                    <a:off x="1570" y="1726"/>
                    <a:ext cx="358" cy="398"/>
                  </a:xfrm>
                  <a:prstGeom prst="moon">
                    <a:avLst>
                      <a:gd name="adj" fmla="val 78125"/>
                    </a:avLst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6213" name="Oval 8"/>
                  <p:cNvSpPr/>
                  <p:nvPr/>
                </p:nvSpPr>
                <p:spPr>
                  <a:xfrm>
                    <a:off x="1716" y="1694"/>
                    <a:ext cx="62" cy="55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grpSp>
              <p:nvGrpSpPr>
                <p:cNvPr id="6197" name="Group 9"/>
                <p:cNvGrpSpPr/>
                <p:nvPr/>
              </p:nvGrpSpPr>
              <p:grpSpPr>
                <a:xfrm>
                  <a:off x="2170" y="1705"/>
                  <a:ext cx="398" cy="410"/>
                  <a:chOff x="1550" y="1694"/>
                  <a:chExt cx="398" cy="410"/>
                </a:xfrm>
              </p:grpSpPr>
              <p:sp>
                <p:nvSpPr>
                  <p:cNvPr id="6210" name="AutoShape 10"/>
                  <p:cNvSpPr/>
                  <p:nvPr/>
                </p:nvSpPr>
                <p:spPr>
                  <a:xfrm rot="5400000">
                    <a:off x="1570" y="1726"/>
                    <a:ext cx="358" cy="398"/>
                  </a:xfrm>
                  <a:prstGeom prst="moon">
                    <a:avLst>
                      <a:gd name="adj" fmla="val 78125"/>
                    </a:avLst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6211" name="Oval 11"/>
                  <p:cNvSpPr/>
                  <p:nvPr/>
                </p:nvSpPr>
                <p:spPr>
                  <a:xfrm>
                    <a:off x="1716" y="1694"/>
                    <a:ext cx="62" cy="55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6198" name="Line 12"/>
                <p:cNvSpPr/>
                <p:nvPr/>
              </p:nvSpPr>
              <p:spPr>
                <a:xfrm flipV="1">
                  <a:off x="1746" y="1442"/>
                  <a:ext cx="0" cy="24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199" name="Line 13"/>
                <p:cNvSpPr/>
                <p:nvPr/>
              </p:nvSpPr>
              <p:spPr>
                <a:xfrm flipV="1">
                  <a:off x="2370" y="1466"/>
                  <a:ext cx="0" cy="24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0" name="Line 14"/>
                <p:cNvSpPr/>
                <p:nvPr/>
              </p:nvSpPr>
              <p:spPr>
                <a:xfrm>
                  <a:off x="1636" y="2057"/>
                  <a:ext cx="0" cy="42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1" name="Line 15"/>
                <p:cNvSpPr/>
                <p:nvPr/>
              </p:nvSpPr>
              <p:spPr>
                <a:xfrm>
                  <a:off x="2476" y="2065"/>
                  <a:ext cx="0" cy="42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2" name="Line 16"/>
                <p:cNvSpPr/>
                <p:nvPr/>
              </p:nvSpPr>
              <p:spPr>
                <a:xfrm>
                  <a:off x="1855" y="2057"/>
                  <a:ext cx="0" cy="16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3" name="Line 17"/>
                <p:cNvSpPr/>
                <p:nvPr/>
              </p:nvSpPr>
              <p:spPr>
                <a:xfrm>
                  <a:off x="2255" y="2065"/>
                  <a:ext cx="0" cy="164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4" name="Line 18"/>
                <p:cNvSpPr/>
                <p:nvPr/>
              </p:nvSpPr>
              <p:spPr>
                <a:xfrm>
                  <a:off x="1855" y="2221"/>
                  <a:ext cx="109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5" name="Line 19"/>
                <p:cNvSpPr/>
                <p:nvPr/>
              </p:nvSpPr>
              <p:spPr>
                <a:xfrm>
                  <a:off x="2143" y="2221"/>
                  <a:ext cx="109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6" name="Line 20"/>
                <p:cNvSpPr/>
                <p:nvPr/>
              </p:nvSpPr>
              <p:spPr>
                <a:xfrm>
                  <a:off x="1748" y="1584"/>
                  <a:ext cx="109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7" name="Line 21"/>
                <p:cNvSpPr/>
                <p:nvPr/>
              </p:nvSpPr>
              <p:spPr>
                <a:xfrm>
                  <a:off x="2262" y="1592"/>
                  <a:ext cx="109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8" name="Line 22"/>
                <p:cNvSpPr/>
                <p:nvPr/>
              </p:nvSpPr>
              <p:spPr>
                <a:xfrm>
                  <a:off x="1847" y="1582"/>
                  <a:ext cx="296" cy="647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209" name="Line 23"/>
                <p:cNvSpPr/>
                <p:nvPr/>
              </p:nvSpPr>
              <p:spPr>
                <a:xfrm flipV="1">
                  <a:off x="1956" y="1590"/>
                  <a:ext cx="304" cy="631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6190" name="Text Box 24"/>
              <p:cNvSpPr txBox="1"/>
              <p:nvPr/>
            </p:nvSpPr>
            <p:spPr>
              <a:xfrm>
                <a:off x="1659" y="2323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600" dirty="0">
                    <a:latin typeface="Times New Roman" pitchFamily="18" charset="0"/>
                  </a:rPr>
                  <a:t>S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6191" name="Text Box 25"/>
              <p:cNvSpPr txBox="1"/>
              <p:nvPr/>
            </p:nvSpPr>
            <p:spPr>
              <a:xfrm>
                <a:off x="2371" y="2325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R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6192" name="Text Box 26"/>
              <p:cNvSpPr txBox="1"/>
              <p:nvPr/>
            </p:nvSpPr>
            <p:spPr>
              <a:xfrm>
                <a:off x="1629" y="1467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Q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grpSp>
            <p:nvGrpSpPr>
              <p:cNvPr id="6193" name="Group 27"/>
              <p:cNvGrpSpPr/>
              <p:nvPr/>
            </p:nvGrpSpPr>
            <p:grpSpPr>
              <a:xfrm>
                <a:off x="2383" y="1458"/>
                <a:ext cx="109" cy="154"/>
                <a:chOff x="2439" y="1434"/>
                <a:chExt cx="109" cy="154"/>
              </a:xfrm>
            </p:grpSpPr>
            <p:sp>
              <p:nvSpPr>
                <p:cNvPr id="6194" name="Text Box 28"/>
                <p:cNvSpPr txBox="1"/>
                <p:nvPr/>
              </p:nvSpPr>
              <p:spPr>
                <a:xfrm>
                  <a:off x="2439" y="1434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6195" name="Line 29"/>
                <p:cNvSpPr/>
                <p:nvPr/>
              </p:nvSpPr>
              <p:spPr>
                <a:xfrm flipV="1">
                  <a:off x="2439" y="1450"/>
                  <a:ext cx="10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graphicFrame>
          <p:nvGraphicFramePr>
            <p:cNvPr id="6147" name="Object 65"/>
            <p:cNvGraphicFramePr/>
            <p:nvPr/>
          </p:nvGraphicFramePr>
          <p:xfrm>
            <a:off x="1348" y="2766"/>
            <a:ext cx="1371" cy="8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" imgW="2209800" imgH="1404620" progId="Word.Document.8">
                    <p:embed/>
                  </p:oleObj>
                </mc:Choice>
                <mc:Fallback>
                  <p:oleObj name="" r:id="rId1" imgW="2209800" imgH="1404620" progId="Word.Document.8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348" y="2766"/>
                          <a:ext cx="1371" cy="8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2" name="Group 130"/>
          <p:cNvGrpSpPr/>
          <p:nvPr/>
        </p:nvGrpSpPr>
        <p:grpSpPr>
          <a:xfrm>
            <a:off x="3170238" y="2476500"/>
            <a:ext cx="5108575" cy="1703388"/>
            <a:chOff x="3087" y="2511"/>
            <a:chExt cx="2414" cy="1073"/>
          </a:xfrm>
        </p:grpSpPr>
        <p:grpSp>
          <p:nvGrpSpPr>
            <p:cNvPr id="6153" name="Group 30"/>
            <p:cNvGrpSpPr/>
            <p:nvPr/>
          </p:nvGrpSpPr>
          <p:grpSpPr>
            <a:xfrm>
              <a:off x="3087" y="2511"/>
              <a:ext cx="901" cy="1044"/>
              <a:chOff x="3095" y="1475"/>
              <a:chExt cx="901" cy="1044"/>
            </a:xfrm>
          </p:grpSpPr>
          <p:sp>
            <p:nvSpPr>
              <p:cNvPr id="6154" name="Line 31"/>
              <p:cNvSpPr/>
              <p:nvPr/>
            </p:nvSpPr>
            <p:spPr>
              <a:xfrm flipV="1">
                <a:off x="3237" y="1475"/>
                <a:ext cx="0" cy="24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5" name="Line 32"/>
              <p:cNvSpPr/>
              <p:nvPr/>
            </p:nvSpPr>
            <p:spPr>
              <a:xfrm flipV="1">
                <a:off x="3861" y="1499"/>
                <a:ext cx="0" cy="24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6" name="Line 33"/>
              <p:cNvSpPr/>
              <p:nvPr/>
            </p:nvSpPr>
            <p:spPr>
              <a:xfrm>
                <a:off x="3127" y="2090"/>
                <a:ext cx="0" cy="42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7" name="Line 34"/>
              <p:cNvSpPr/>
              <p:nvPr/>
            </p:nvSpPr>
            <p:spPr>
              <a:xfrm>
                <a:off x="3967" y="2098"/>
                <a:ext cx="0" cy="42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8" name="Line 35"/>
              <p:cNvSpPr/>
              <p:nvPr/>
            </p:nvSpPr>
            <p:spPr>
              <a:xfrm>
                <a:off x="3346" y="2090"/>
                <a:ext cx="0" cy="1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59" name="Line 36"/>
              <p:cNvSpPr/>
              <p:nvPr/>
            </p:nvSpPr>
            <p:spPr>
              <a:xfrm>
                <a:off x="3746" y="2098"/>
                <a:ext cx="0" cy="164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0" name="Line 37"/>
              <p:cNvSpPr/>
              <p:nvPr/>
            </p:nvSpPr>
            <p:spPr>
              <a:xfrm>
                <a:off x="3346" y="2254"/>
                <a:ext cx="10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1" name="Line 38"/>
              <p:cNvSpPr/>
              <p:nvPr/>
            </p:nvSpPr>
            <p:spPr>
              <a:xfrm>
                <a:off x="3634" y="2254"/>
                <a:ext cx="10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2" name="Line 39"/>
              <p:cNvSpPr/>
              <p:nvPr/>
            </p:nvSpPr>
            <p:spPr>
              <a:xfrm>
                <a:off x="3239" y="1617"/>
                <a:ext cx="10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3" name="Line 40"/>
              <p:cNvSpPr/>
              <p:nvPr/>
            </p:nvSpPr>
            <p:spPr>
              <a:xfrm>
                <a:off x="3753" y="1625"/>
                <a:ext cx="109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4" name="Line 41"/>
              <p:cNvSpPr/>
              <p:nvPr/>
            </p:nvSpPr>
            <p:spPr>
              <a:xfrm>
                <a:off x="3338" y="1615"/>
                <a:ext cx="296" cy="647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5" name="Line 42"/>
              <p:cNvSpPr/>
              <p:nvPr/>
            </p:nvSpPr>
            <p:spPr>
              <a:xfrm flipV="1">
                <a:off x="3447" y="1623"/>
                <a:ext cx="304" cy="631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166" name="Text Box 43"/>
              <p:cNvSpPr txBox="1"/>
              <p:nvPr/>
            </p:nvSpPr>
            <p:spPr>
              <a:xfrm>
                <a:off x="3150" y="2356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600" dirty="0">
                    <a:latin typeface="Times New Roman" pitchFamily="18" charset="0"/>
                  </a:rPr>
                  <a:t>S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6167" name="Text Box 44"/>
              <p:cNvSpPr txBox="1"/>
              <p:nvPr/>
            </p:nvSpPr>
            <p:spPr>
              <a:xfrm>
                <a:off x="3862" y="2358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R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6168" name="Text Box 45"/>
              <p:cNvSpPr txBox="1"/>
              <p:nvPr/>
            </p:nvSpPr>
            <p:spPr>
              <a:xfrm>
                <a:off x="3876" y="1547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Q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grpSp>
            <p:nvGrpSpPr>
              <p:cNvPr id="6169" name="Group 46"/>
              <p:cNvGrpSpPr/>
              <p:nvPr/>
            </p:nvGrpSpPr>
            <p:grpSpPr>
              <a:xfrm>
                <a:off x="3095" y="1530"/>
                <a:ext cx="109" cy="154"/>
                <a:chOff x="2439" y="1434"/>
                <a:chExt cx="109" cy="154"/>
              </a:xfrm>
            </p:grpSpPr>
            <p:sp>
              <p:nvSpPr>
                <p:cNvPr id="6186" name="Text Box 47"/>
                <p:cNvSpPr txBox="1"/>
                <p:nvPr/>
              </p:nvSpPr>
              <p:spPr>
                <a:xfrm>
                  <a:off x="2439" y="1434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6187" name="Line 48"/>
                <p:cNvSpPr/>
                <p:nvPr/>
              </p:nvSpPr>
              <p:spPr>
                <a:xfrm flipV="1">
                  <a:off x="2439" y="1450"/>
                  <a:ext cx="102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170" name="Group 49"/>
              <p:cNvGrpSpPr/>
              <p:nvPr/>
            </p:nvGrpSpPr>
            <p:grpSpPr>
              <a:xfrm>
                <a:off x="3719" y="1732"/>
                <a:ext cx="277" cy="371"/>
                <a:chOff x="1605" y="1902"/>
                <a:chExt cx="277" cy="395"/>
              </a:xfrm>
            </p:grpSpPr>
            <p:grpSp>
              <p:nvGrpSpPr>
                <p:cNvPr id="6179" name="Group 50"/>
                <p:cNvGrpSpPr/>
                <p:nvPr/>
              </p:nvGrpSpPr>
              <p:grpSpPr>
                <a:xfrm>
                  <a:off x="1605" y="1960"/>
                  <a:ext cx="277" cy="337"/>
                  <a:chOff x="3238" y="10820"/>
                  <a:chExt cx="700" cy="1020"/>
                </a:xfrm>
              </p:grpSpPr>
              <p:sp>
                <p:nvSpPr>
                  <p:cNvPr id="6181" name="Oval 51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6182" name="Line 52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83" name="Rectangle 53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6184" name="Line 54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85" name="Line 55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6180" name="Oval 56"/>
                <p:cNvSpPr/>
                <p:nvPr/>
              </p:nvSpPr>
              <p:spPr>
                <a:xfrm>
                  <a:off x="1708" y="1902"/>
                  <a:ext cx="71" cy="6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6171" name="Group 57"/>
              <p:cNvGrpSpPr/>
              <p:nvPr/>
            </p:nvGrpSpPr>
            <p:grpSpPr>
              <a:xfrm>
                <a:off x="3098" y="1719"/>
                <a:ext cx="277" cy="371"/>
                <a:chOff x="1605" y="1902"/>
                <a:chExt cx="277" cy="395"/>
              </a:xfrm>
            </p:grpSpPr>
            <p:grpSp>
              <p:nvGrpSpPr>
                <p:cNvPr id="6172" name="Group 58"/>
                <p:cNvGrpSpPr/>
                <p:nvPr/>
              </p:nvGrpSpPr>
              <p:grpSpPr>
                <a:xfrm>
                  <a:off x="1605" y="1960"/>
                  <a:ext cx="277" cy="337"/>
                  <a:chOff x="3238" y="10820"/>
                  <a:chExt cx="700" cy="1020"/>
                </a:xfrm>
              </p:grpSpPr>
              <p:sp>
                <p:nvSpPr>
                  <p:cNvPr id="6174" name="Oval 59"/>
                  <p:cNvSpPr/>
                  <p:nvPr/>
                </p:nvSpPr>
                <p:spPr>
                  <a:xfrm>
                    <a:off x="3238" y="10820"/>
                    <a:ext cx="695" cy="780"/>
                  </a:xfrm>
                  <a:prstGeom prst="ellipse">
                    <a:avLst/>
                  </a:prstGeom>
                  <a:solidFill>
                    <a:srgbClr val="FFFFFF"/>
                  </a:solidFill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6175" name="Line 60"/>
                  <p:cNvSpPr/>
                  <p:nvPr/>
                </p:nvSpPr>
                <p:spPr>
                  <a:xfrm>
                    <a:off x="3238" y="11820"/>
                    <a:ext cx="700" cy="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76" name="Rectangle 61"/>
                  <p:cNvSpPr/>
                  <p:nvPr/>
                </p:nvSpPr>
                <p:spPr>
                  <a:xfrm>
                    <a:off x="3238" y="11220"/>
                    <a:ext cx="700" cy="420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</a:ln>
                </p:spPr>
                <p:txBody>
                  <a:bodyPr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6177" name="Line 62"/>
                  <p:cNvSpPr/>
                  <p:nvPr/>
                </p:nvSpPr>
                <p:spPr>
                  <a:xfrm>
                    <a:off x="3238" y="11180"/>
                    <a:ext cx="0" cy="64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  <p:sp>
                <p:nvSpPr>
                  <p:cNvPr id="6178" name="Line 63"/>
                  <p:cNvSpPr/>
                  <p:nvPr/>
                </p:nvSpPr>
                <p:spPr>
                  <a:xfrm>
                    <a:off x="3928" y="11180"/>
                    <a:ext cx="0" cy="660"/>
                  </a:xfrm>
                  <a:prstGeom prst="line">
                    <a:avLst/>
                  </a:prstGeom>
                  <a:ln w="9525" cap="flat" cmpd="sng">
                    <a:solidFill>
                      <a:srgbClr val="000000"/>
                    </a:solidFill>
                    <a:prstDash val="solid"/>
                    <a:headEnd type="none" w="med" len="med"/>
                    <a:tailEnd type="none" w="med" len="med"/>
                  </a:ln>
                </p:spPr>
              </p:sp>
            </p:grpSp>
            <p:sp>
              <p:nvSpPr>
                <p:cNvPr id="6173" name="Oval 64"/>
                <p:cNvSpPr/>
                <p:nvPr/>
              </p:nvSpPr>
              <p:spPr>
                <a:xfrm>
                  <a:off x="1708" y="1902"/>
                  <a:ext cx="71" cy="62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</p:grpSp>
        <p:graphicFrame>
          <p:nvGraphicFramePr>
            <p:cNvPr id="6146" name="Object 66"/>
            <p:cNvGraphicFramePr/>
            <p:nvPr/>
          </p:nvGraphicFramePr>
          <p:xfrm>
            <a:off x="4114" y="2704"/>
            <a:ext cx="1387" cy="8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3" imgW="2202180" imgH="1404620" progId="Word.Document.8">
                    <p:embed/>
                  </p:oleObj>
                </mc:Choice>
                <mc:Fallback>
                  <p:oleObj name="" r:id="rId3" imgW="2202180" imgH="1404620" progId="Word.Document.8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114" y="2704"/>
                          <a:ext cx="1387" cy="8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172" name="Rectangle 2"/>
          <p:cNvSpPr>
            <a:spLocks noGrp="1"/>
          </p:cNvSpPr>
          <p:nvPr>
            <p:ph type="title"/>
          </p:nvPr>
        </p:nvSpPr>
        <p:spPr>
          <a:xfrm>
            <a:off x="960438" y="322263"/>
            <a:ext cx="10271125" cy="5032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D</a:t>
            </a:r>
            <a:r>
              <a:rPr lang="zh-CN" altLang="en-US" dirty="0"/>
              <a:t>门闩和</a:t>
            </a:r>
            <a:r>
              <a:rPr lang="en-US" altLang="zh-CN" dirty="0"/>
              <a:t>D</a:t>
            </a:r>
            <a:r>
              <a:rPr lang="zh-CN" altLang="zh-CN" dirty="0"/>
              <a:t>触发器</a:t>
            </a:r>
            <a:endParaRPr lang="zh-CN" altLang="en-US" dirty="0"/>
          </a:p>
        </p:txBody>
      </p:sp>
      <p:sp>
        <p:nvSpPr>
          <p:cNvPr id="7173" name="Rectangle 3"/>
          <p:cNvSpPr>
            <a:spLocks noGrp="1"/>
          </p:cNvSpPr>
          <p:nvPr>
            <p:ph idx="1"/>
          </p:nvPr>
        </p:nvSpPr>
        <p:spPr>
          <a:xfrm>
            <a:off x="914400" y="954088"/>
            <a:ext cx="10718800" cy="1439862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D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门闩和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D</a:t>
            </a:r>
            <a:r>
              <a:rPr lang="zh-CN" altLang="zh-CN" dirty="0">
                <a:latin typeface="宋体" panose="02000500000000000000" pitchFamily="2" charset="-122"/>
                <a:ea typeface="+mn-ea"/>
                <a:cs typeface="+mn-cs"/>
              </a:rPr>
              <a:t>触发器</a:t>
            </a:r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三个重要时间参数：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Setup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Hold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CLK-to-Q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触发器的延迟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=Setup+CLK-to-Q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graphicFrame>
        <p:nvGraphicFramePr>
          <p:cNvPr id="7170" name="Object 2"/>
          <p:cNvGraphicFramePr/>
          <p:nvPr/>
        </p:nvGraphicFramePr>
        <p:xfrm>
          <a:off x="258763" y="4529138"/>
          <a:ext cx="11645900" cy="218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8734425" imgH="2181225" progId="Paint.Picture">
                  <p:embed/>
                </p:oleObj>
              </mc:Choice>
              <mc:Fallback>
                <p:oleObj name="" r:id="rId1" imgW="8734425" imgH="2181225" progId="Paint.Picture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763" y="4529138"/>
                        <a:ext cx="11645900" cy="2181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4" name="Group 5"/>
          <p:cNvGrpSpPr/>
          <p:nvPr/>
        </p:nvGrpSpPr>
        <p:grpSpPr>
          <a:xfrm>
            <a:off x="5411788" y="2727325"/>
            <a:ext cx="6437312" cy="1806575"/>
            <a:chOff x="769" y="2977"/>
            <a:chExt cx="3042" cy="1138"/>
          </a:xfrm>
        </p:grpSpPr>
        <p:grpSp>
          <p:nvGrpSpPr>
            <p:cNvPr id="7238" name="Group 6"/>
            <p:cNvGrpSpPr/>
            <p:nvPr/>
          </p:nvGrpSpPr>
          <p:grpSpPr>
            <a:xfrm>
              <a:off x="769" y="2977"/>
              <a:ext cx="2753" cy="1138"/>
              <a:chOff x="769" y="2977"/>
              <a:chExt cx="2753" cy="1138"/>
            </a:xfrm>
          </p:grpSpPr>
          <p:grpSp>
            <p:nvGrpSpPr>
              <p:cNvPr id="7241" name="Group 7"/>
              <p:cNvGrpSpPr/>
              <p:nvPr/>
            </p:nvGrpSpPr>
            <p:grpSpPr>
              <a:xfrm rot="5400000" flipH="1">
                <a:off x="1758" y="3780"/>
                <a:ext cx="218" cy="257"/>
                <a:chOff x="1169" y="3382"/>
                <a:chExt cx="218" cy="257"/>
              </a:xfrm>
            </p:grpSpPr>
            <p:sp>
              <p:nvSpPr>
                <p:cNvPr id="7267" name="AutoShape 8"/>
                <p:cNvSpPr/>
                <p:nvPr/>
              </p:nvSpPr>
              <p:spPr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68" name="Oval 9"/>
                <p:cNvSpPr/>
                <p:nvPr/>
              </p:nvSpPr>
              <p:spPr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7242" name="Group 10"/>
              <p:cNvGrpSpPr/>
              <p:nvPr/>
            </p:nvGrpSpPr>
            <p:grpSpPr>
              <a:xfrm>
                <a:off x="1481" y="3187"/>
                <a:ext cx="748" cy="576"/>
                <a:chOff x="1481" y="3187"/>
                <a:chExt cx="748" cy="576"/>
              </a:xfrm>
            </p:grpSpPr>
            <p:sp>
              <p:nvSpPr>
                <p:cNvPr id="7261" name="Text Box 11"/>
                <p:cNvSpPr txBox="1"/>
                <p:nvPr/>
              </p:nvSpPr>
              <p:spPr>
                <a:xfrm>
                  <a:off x="1488" y="3258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D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7262" name="Text Box 12"/>
                <p:cNvSpPr txBox="1"/>
                <p:nvPr/>
              </p:nvSpPr>
              <p:spPr>
                <a:xfrm>
                  <a:off x="1483" y="3556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C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7263" name="Text Box 13"/>
                <p:cNvSpPr txBox="1"/>
                <p:nvPr/>
              </p:nvSpPr>
              <p:spPr>
                <a:xfrm>
                  <a:off x="1481" y="3187"/>
                  <a:ext cx="748" cy="57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ctr">
                    <a:spcBef>
                      <a:spcPct val="50000"/>
                    </a:spcBef>
                  </a:pPr>
                  <a:endParaRPr lang="en-US" altLang="zh-CN" sz="1400" dirty="0">
                    <a:latin typeface="Times New Roman" pitchFamily="18" charset="0"/>
                  </a:endParaRPr>
                </a:p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400" dirty="0">
                      <a:latin typeface="Times New Roman" pitchFamily="18" charset="0"/>
                    </a:rPr>
                    <a:t>D-latch</a:t>
                  </a:r>
                  <a:endParaRPr lang="en-US" altLang="zh-CN" dirty="0">
                    <a:latin typeface="Times New Roman" pitchFamily="18" charset="0"/>
                  </a:endParaRPr>
                </a:p>
              </p:txBody>
            </p:sp>
            <p:sp>
              <p:nvSpPr>
                <p:cNvPr id="7264" name="Text Box 14"/>
                <p:cNvSpPr txBox="1"/>
                <p:nvPr/>
              </p:nvSpPr>
              <p:spPr>
                <a:xfrm>
                  <a:off x="2102" y="3270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7265" name="Text Box 15"/>
                <p:cNvSpPr txBox="1"/>
                <p:nvPr/>
              </p:nvSpPr>
              <p:spPr>
                <a:xfrm>
                  <a:off x="2110" y="3550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7266" name="Line 16"/>
                <p:cNvSpPr/>
                <p:nvPr/>
              </p:nvSpPr>
              <p:spPr>
                <a:xfrm>
                  <a:off x="2135" y="3562"/>
                  <a:ext cx="71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7243" name="Group 17"/>
              <p:cNvGrpSpPr/>
              <p:nvPr/>
            </p:nvGrpSpPr>
            <p:grpSpPr>
              <a:xfrm>
                <a:off x="2614" y="3190"/>
                <a:ext cx="748" cy="576"/>
                <a:chOff x="1481" y="3187"/>
                <a:chExt cx="748" cy="576"/>
              </a:xfrm>
            </p:grpSpPr>
            <p:sp>
              <p:nvSpPr>
                <p:cNvPr id="7255" name="Text Box 18"/>
                <p:cNvSpPr txBox="1"/>
                <p:nvPr/>
              </p:nvSpPr>
              <p:spPr>
                <a:xfrm>
                  <a:off x="1488" y="3258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D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7256" name="Text Box 19"/>
                <p:cNvSpPr txBox="1"/>
                <p:nvPr/>
              </p:nvSpPr>
              <p:spPr>
                <a:xfrm>
                  <a:off x="1483" y="3556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C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7257" name="Text Box 20"/>
                <p:cNvSpPr txBox="1"/>
                <p:nvPr/>
              </p:nvSpPr>
              <p:spPr>
                <a:xfrm>
                  <a:off x="1481" y="3187"/>
                  <a:ext cx="748" cy="57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ctr">
                    <a:spcBef>
                      <a:spcPct val="50000"/>
                    </a:spcBef>
                  </a:pPr>
                  <a:endParaRPr lang="en-US" altLang="zh-CN" sz="1400" dirty="0">
                    <a:latin typeface="Times New Roman" pitchFamily="18" charset="0"/>
                  </a:endParaRPr>
                </a:p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400" dirty="0">
                      <a:latin typeface="Times New Roman" pitchFamily="18" charset="0"/>
                    </a:rPr>
                    <a:t>D-latch</a:t>
                  </a:r>
                  <a:endParaRPr lang="en-US" altLang="zh-CN" dirty="0">
                    <a:latin typeface="Times New Roman" pitchFamily="18" charset="0"/>
                  </a:endParaRPr>
                </a:p>
              </p:txBody>
            </p:sp>
            <p:sp>
              <p:nvSpPr>
                <p:cNvPr id="7258" name="Text Box 21"/>
                <p:cNvSpPr txBox="1"/>
                <p:nvPr/>
              </p:nvSpPr>
              <p:spPr>
                <a:xfrm>
                  <a:off x="2102" y="3270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7259" name="Text Box 22"/>
                <p:cNvSpPr txBox="1"/>
                <p:nvPr/>
              </p:nvSpPr>
              <p:spPr>
                <a:xfrm>
                  <a:off x="2110" y="3550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7260" name="Line 23"/>
                <p:cNvSpPr/>
                <p:nvPr/>
              </p:nvSpPr>
              <p:spPr>
                <a:xfrm>
                  <a:off x="2135" y="3562"/>
                  <a:ext cx="71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244" name="Line 24"/>
              <p:cNvSpPr/>
              <p:nvPr/>
            </p:nvSpPr>
            <p:spPr>
              <a:xfrm>
                <a:off x="2229" y="3343"/>
                <a:ext cx="38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45" name="Line 25"/>
              <p:cNvSpPr/>
              <p:nvPr/>
            </p:nvSpPr>
            <p:spPr>
              <a:xfrm>
                <a:off x="951" y="3336"/>
                <a:ext cx="53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46" name="Line 26"/>
              <p:cNvSpPr/>
              <p:nvPr/>
            </p:nvSpPr>
            <p:spPr>
              <a:xfrm>
                <a:off x="943" y="3630"/>
                <a:ext cx="53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47" name="Line 27"/>
              <p:cNvSpPr/>
              <p:nvPr/>
            </p:nvSpPr>
            <p:spPr>
              <a:xfrm>
                <a:off x="2470" y="3632"/>
                <a:ext cx="14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48" name="Line 28"/>
              <p:cNvSpPr/>
              <p:nvPr/>
            </p:nvSpPr>
            <p:spPr>
              <a:xfrm>
                <a:off x="2470" y="3632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49" name="Line 29"/>
              <p:cNvSpPr/>
              <p:nvPr/>
            </p:nvSpPr>
            <p:spPr>
              <a:xfrm>
                <a:off x="1995" y="3912"/>
                <a:ext cx="47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50" name="Line 30"/>
              <p:cNvSpPr/>
              <p:nvPr/>
            </p:nvSpPr>
            <p:spPr>
              <a:xfrm>
                <a:off x="1265" y="3915"/>
                <a:ext cx="47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51" name="Line 31"/>
              <p:cNvSpPr/>
              <p:nvPr/>
            </p:nvSpPr>
            <p:spPr>
              <a:xfrm flipV="1">
                <a:off x="1262" y="3624"/>
                <a:ext cx="0" cy="2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52" name="Rectangle 32"/>
              <p:cNvSpPr/>
              <p:nvPr/>
            </p:nvSpPr>
            <p:spPr>
              <a:xfrm>
                <a:off x="1138" y="2977"/>
                <a:ext cx="2384" cy="1138"/>
              </a:xfrm>
              <a:prstGeom prst="rect">
                <a:avLst/>
              </a:prstGeom>
              <a:noFill/>
              <a:ln w="9525" cap="rnd" cmpd="sng">
                <a:solidFill>
                  <a:schemeClr val="tx1"/>
                </a:solidFill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7253" name="Text Box 33"/>
              <p:cNvSpPr txBox="1"/>
              <p:nvPr/>
            </p:nvSpPr>
            <p:spPr>
              <a:xfrm>
                <a:off x="769" y="3556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C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7254" name="Text Box 34"/>
              <p:cNvSpPr txBox="1"/>
              <p:nvPr/>
            </p:nvSpPr>
            <p:spPr>
              <a:xfrm>
                <a:off x="773" y="3280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D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</p:grpSp>
        <p:sp>
          <p:nvSpPr>
            <p:cNvPr id="7239" name="Line 35"/>
            <p:cNvSpPr/>
            <p:nvPr/>
          </p:nvSpPr>
          <p:spPr>
            <a:xfrm>
              <a:off x="3359" y="3343"/>
              <a:ext cx="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40" name="Line 36"/>
            <p:cNvSpPr/>
            <p:nvPr/>
          </p:nvSpPr>
          <p:spPr>
            <a:xfrm>
              <a:off x="3359" y="3631"/>
              <a:ext cx="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7175" name="组合 100"/>
          <p:cNvGrpSpPr/>
          <p:nvPr/>
        </p:nvGrpSpPr>
        <p:grpSpPr>
          <a:xfrm>
            <a:off x="990600" y="2759075"/>
            <a:ext cx="3944938" cy="1762125"/>
            <a:chOff x="742678" y="2759075"/>
            <a:chExt cx="2959369" cy="1762126"/>
          </a:xfrm>
        </p:grpSpPr>
        <p:sp>
          <p:nvSpPr>
            <p:cNvPr id="7176" name="Line 179"/>
            <p:cNvSpPr/>
            <p:nvPr/>
          </p:nvSpPr>
          <p:spPr>
            <a:xfrm rot="5400000" flipV="1">
              <a:off x="3510753" y="2961480"/>
              <a:ext cx="0" cy="3825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7" name="Line 180"/>
            <p:cNvSpPr/>
            <p:nvPr/>
          </p:nvSpPr>
          <p:spPr>
            <a:xfrm rot="5400000" flipV="1">
              <a:off x="3472653" y="3952080"/>
              <a:ext cx="0" cy="38258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8" name="Line 181"/>
            <p:cNvSpPr/>
            <p:nvPr/>
          </p:nvSpPr>
          <p:spPr>
            <a:xfrm rot="5400000">
              <a:off x="2533647" y="2786061"/>
              <a:ext cx="0" cy="3841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79" name="Line 182"/>
            <p:cNvSpPr/>
            <p:nvPr/>
          </p:nvSpPr>
          <p:spPr>
            <a:xfrm rot="5400000">
              <a:off x="2546347" y="4144961"/>
              <a:ext cx="0" cy="333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0" name="Line 183"/>
            <p:cNvSpPr/>
            <p:nvPr/>
          </p:nvSpPr>
          <p:spPr>
            <a:xfrm rot="5400000">
              <a:off x="2595562" y="3195638"/>
              <a:ext cx="0" cy="2603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1" name="Line 184"/>
            <p:cNvSpPr/>
            <p:nvPr/>
          </p:nvSpPr>
          <p:spPr>
            <a:xfrm rot="5400000">
              <a:off x="2582862" y="3830638"/>
              <a:ext cx="0" cy="26035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2" name="Line 185"/>
            <p:cNvSpPr/>
            <p:nvPr/>
          </p:nvSpPr>
          <p:spPr>
            <a:xfrm rot="5400000">
              <a:off x="2378868" y="3412332"/>
              <a:ext cx="1730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3" name="Line 186"/>
            <p:cNvSpPr/>
            <p:nvPr/>
          </p:nvSpPr>
          <p:spPr>
            <a:xfrm rot="5400000">
              <a:off x="2378868" y="3869532"/>
              <a:ext cx="1730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4" name="Line 187"/>
            <p:cNvSpPr/>
            <p:nvPr/>
          </p:nvSpPr>
          <p:spPr>
            <a:xfrm rot="5400000">
              <a:off x="3390106" y="3242469"/>
              <a:ext cx="1730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5" name="Line 188"/>
            <p:cNvSpPr/>
            <p:nvPr/>
          </p:nvSpPr>
          <p:spPr>
            <a:xfrm rot="5400000">
              <a:off x="3377406" y="4058444"/>
              <a:ext cx="1730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6" name="Line 189"/>
            <p:cNvSpPr/>
            <p:nvPr/>
          </p:nvSpPr>
          <p:spPr>
            <a:xfrm rot="5400000">
              <a:off x="2731293" y="3034507"/>
              <a:ext cx="469900" cy="10271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7" name="Line 190"/>
            <p:cNvSpPr/>
            <p:nvPr/>
          </p:nvSpPr>
          <p:spPr>
            <a:xfrm rot="5400000" flipV="1">
              <a:off x="2724943" y="3226594"/>
              <a:ext cx="482600" cy="10017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88" name="Text Box 191"/>
            <p:cNvSpPr txBox="1"/>
            <p:nvPr/>
          </p:nvSpPr>
          <p:spPr>
            <a:xfrm rot="5400000">
              <a:off x="2478879" y="4137724"/>
              <a:ext cx="173038" cy="1846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Times New Roman" pitchFamily="18" charset="0"/>
                </a:rPr>
                <a:t>R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7189" name="Text Box 192"/>
            <p:cNvSpPr txBox="1"/>
            <p:nvPr/>
          </p:nvSpPr>
          <p:spPr>
            <a:xfrm rot="5400000">
              <a:off x="2495460" y="2989258"/>
              <a:ext cx="173038" cy="1846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600" dirty="0">
                  <a:latin typeface="Times New Roman" pitchFamily="18" charset="0"/>
                </a:rPr>
                <a:t>S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7190" name="Text Box 193"/>
            <p:cNvSpPr txBox="1"/>
            <p:nvPr/>
          </p:nvSpPr>
          <p:spPr>
            <a:xfrm rot="5400000">
              <a:off x="3378991" y="4161359"/>
              <a:ext cx="173038" cy="1846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600" dirty="0">
                  <a:latin typeface="Times New Roman" pitchFamily="18" charset="0"/>
                </a:rPr>
                <a:t>Q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grpSp>
          <p:nvGrpSpPr>
            <p:cNvPr id="7191" name="Group 194"/>
            <p:cNvGrpSpPr/>
            <p:nvPr/>
          </p:nvGrpSpPr>
          <p:grpSpPr>
            <a:xfrm rot="5400000">
              <a:off x="3408353" y="2919411"/>
              <a:ext cx="173038" cy="188913"/>
              <a:chOff x="2439" y="1450"/>
              <a:chExt cx="109" cy="119"/>
            </a:xfrm>
          </p:grpSpPr>
          <p:sp>
            <p:nvSpPr>
              <p:cNvPr id="7236" name="Text Box 195"/>
              <p:cNvSpPr txBox="1"/>
              <p:nvPr/>
            </p:nvSpPr>
            <p:spPr>
              <a:xfrm>
                <a:off x="2439" y="1453"/>
                <a:ext cx="109" cy="11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Q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7237" name="Line 196"/>
              <p:cNvSpPr/>
              <p:nvPr/>
            </p:nvSpPr>
            <p:spPr>
              <a:xfrm flipV="1">
                <a:off x="2439" y="1450"/>
                <a:ext cx="10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192" name="Group 197"/>
            <p:cNvGrpSpPr/>
            <p:nvPr/>
          </p:nvGrpSpPr>
          <p:grpSpPr>
            <a:xfrm rot="5400000">
              <a:off x="2779712" y="3843338"/>
              <a:ext cx="439738" cy="588962"/>
              <a:chOff x="1605" y="1902"/>
              <a:chExt cx="277" cy="395"/>
            </a:xfrm>
          </p:grpSpPr>
          <p:grpSp>
            <p:nvGrpSpPr>
              <p:cNvPr id="7229" name="Group 198"/>
              <p:cNvGrpSpPr/>
              <p:nvPr/>
            </p:nvGrpSpPr>
            <p:grpSpPr>
              <a:xfrm>
                <a:off x="1605" y="1960"/>
                <a:ext cx="277" cy="337"/>
                <a:chOff x="3238" y="10820"/>
                <a:chExt cx="700" cy="1020"/>
              </a:xfrm>
            </p:grpSpPr>
            <p:sp>
              <p:nvSpPr>
                <p:cNvPr id="7231" name="Oval 199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32" name="Line 200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233" name="Rectangle 201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34" name="Line 202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235" name="Line 203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230" name="Oval 204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7193" name="Group 205"/>
            <p:cNvGrpSpPr/>
            <p:nvPr/>
          </p:nvGrpSpPr>
          <p:grpSpPr>
            <a:xfrm rot="5400000">
              <a:off x="2800350" y="2857501"/>
              <a:ext cx="439738" cy="588962"/>
              <a:chOff x="1605" y="1902"/>
              <a:chExt cx="277" cy="395"/>
            </a:xfrm>
          </p:grpSpPr>
          <p:grpSp>
            <p:nvGrpSpPr>
              <p:cNvPr id="7222" name="Group 206"/>
              <p:cNvGrpSpPr/>
              <p:nvPr/>
            </p:nvGrpSpPr>
            <p:grpSpPr>
              <a:xfrm>
                <a:off x="1605" y="1960"/>
                <a:ext cx="277" cy="337"/>
                <a:chOff x="3238" y="10820"/>
                <a:chExt cx="700" cy="1020"/>
              </a:xfrm>
            </p:grpSpPr>
            <p:sp>
              <p:nvSpPr>
                <p:cNvPr id="7224" name="Oval 207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25" name="Line 208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226" name="Rectangle 209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27" name="Line 210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228" name="Line 211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223" name="Oval 212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7194" name="Group 213"/>
            <p:cNvGrpSpPr/>
            <p:nvPr/>
          </p:nvGrpSpPr>
          <p:grpSpPr>
            <a:xfrm rot="5400000">
              <a:off x="1847850" y="4006851"/>
              <a:ext cx="439738" cy="588962"/>
              <a:chOff x="1605" y="1902"/>
              <a:chExt cx="277" cy="395"/>
            </a:xfrm>
          </p:grpSpPr>
          <p:grpSp>
            <p:nvGrpSpPr>
              <p:cNvPr id="7215" name="Group 214"/>
              <p:cNvGrpSpPr/>
              <p:nvPr/>
            </p:nvGrpSpPr>
            <p:grpSpPr>
              <a:xfrm>
                <a:off x="1605" y="1960"/>
                <a:ext cx="277" cy="337"/>
                <a:chOff x="3238" y="10820"/>
                <a:chExt cx="700" cy="1020"/>
              </a:xfrm>
            </p:grpSpPr>
            <p:sp>
              <p:nvSpPr>
                <p:cNvPr id="7217" name="Oval 215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18" name="Line 216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219" name="Rectangle 217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20" name="Line 218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221" name="Line 219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216" name="Oval 220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7195" name="Group 221"/>
            <p:cNvGrpSpPr/>
            <p:nvPr/>
          </p:nvGrpSpPr>
          <p:grpSpPr>
            <a:xfrm rot="5400000">
              <a:off x="1835150" y="2684463"/>
              <a:ext cx="439738" cy="588962"/>
              <a:chOff x="1605" y="1902"/>
              <a:chExt cx="277" cy="395"/>
            </a:xfrm>
          </p:grpSpPr>
          <p:grpSp>
            <p:nvGrpSpPr>
              <p:cNvPr id="7208" name="Group 222"/>
              <p:cNvGrpSpPr/>
              <p:nvPr/>
            </p:nvGrpSpPr>
            <p:grpSpPr>
              <a:xfrm>
                <a:off x="1605" y="1960"/>
                <a:ext cx="277" cy="337"/>
                <a:chOff x="3238" y="10820"/>
                <a:chExt cx="700" cy="1020"/>
              </a:xfrm>
            </p:grpSpPr>
            <p:sp>
              <p:nvSpPr>
                <p:cNvPr id="7210" name="Oval 223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11" name="Line 224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212" name="Rectangle 225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7213" name="Line 226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7214" name="Line 227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7209" name="Oval 228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7196" name="Group 229"/>
            <p:cNvGrpSpPr/>
            <p:nvPr/>
          </p:nvGrpSpPr>
          <p:grpSpPr>
            <a:xfrm>
              <a:off x="1261269" y="3374232"/>
              <a:ext cx="346075" cy="407988"/>
              <a:chOff x="1169" y="3382"/>
              <a:chExt cx="218" cy="257"/>
            </a:xfrm>
          </p:grpSpPr>
          <p:sp>
            <p:nvSpPr>
              <p:cNvPr id="7206" name="AutoShape 230"/>
              <p:cNvSpPr/>
              <p:nvPr/>
            </p:nvSpPr>
            <p:spPr>
              <a:xfrm flipV="1">
                <a:off x="1169" y="3436"/>
                <a:ext cx="218" cy="203"/>
              </a:xfrm>
              <a:prstGeom prst="flowChartMerg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7207" name="Oval 231"/>
              <p:cNvSpPr/>
              <p:nvPr/>
            </p:nvSpPr>
            <p:spPr>
              <a:xfrm>
                <a:off x="1247" y="3382"/>
                <a:ext cx="62" cy="55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7197" name="Line 232"/>
            <p:cNvSpPr/>
            <p:nvPr/>
          </p:nvSpPr>
          <p:spPr>
            <a:xfrm rot="5400000">
              <a:off x="1262059" y="3671886"/>
              <a:ext cx="0" cy="10255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8" name="Line 233"/>
            <p:cNvSpPr/>
            <p:nvPr/>
          </p:nvSpPr>
          <p:spPr>
            <a:xfrm rot="5400000">
              <a:off x="1471609" y="4110036"/>
              <a:ext cx="0" cy="60642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199" name="Line 234"/>
            <p:cNvSpPr/>
            <p:nvPr/>
          </p:nvSpPr>
          <p:spPr>
            <a:xfrm rot="5400000">
              <a:off x="1259681" y="2353469"/>
              <a:ext cx="0" cy="10017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0" name="Line 235"/>
            <p:cNvSpPr/>
            <p:nvPr/>
          </p:nvSpPr>
          <p:spPr>
            <a:xfrm rot="5400000">
              <a:off x="1600197" y="2914649"/>
              <a:ext cx="0" cy="33337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1" name="Line 236"/>
            <p:cNvSpPr/>
            <p:nvPr/>
          </p:nvSpPr>
          <p:spPr>
            <a:xfrm rot="5400000">
              <a:off x="1283492" y="3229766"/>
              <a:ext cx="296863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2" name="Line 237"/>
            <p:cNvSpPr/>
            <p:nvPr/>
          </p:nvSpPr>
          <p:spPr>
            <a:xfrm rot="5400000">
              <a:off x="1202531" y="3979069"/>
              <a:ext cx="4079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3" name="Line 238"/>
            <p:cNvSpPr/>
            <p:nvPr/>
          </p:nvSpPr>
          <p:spPr>
            <a:xfrm rot="5400000">
              <a:off x="404810" y="3638548"/>
              <a:ext cx="155892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04" name="Text Box 239"/>
            <p:cNvSpPr txBox="1"/>
            <p:nvPr/>
          </p:nvSpPr>
          <p:spPr>
            <a:xfrm rot="5400000">
              <a:off x="764379" y="4215333"/>
              <a:ext cx="173038" cy="1846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600" dirty="0">
                  <a:latin typeface="Times New Roman" pitchFamily="18" charset="0"/>
                </a:rPr>
                <a:t>D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7205" name="Text Box 240"/>
            <p:cNvSpPr txBox="1"/>
            <p:nvPr/>
          </p:nvSpPr>
          <p:spPr>
            <a:xfrm rot="5400000">
              <a:off x="748504" y="2908822"/>
              <a:ext cx="173038" cy="18469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600" dirty="0">
                  <a:latin typeface="Times New Roman" pitchFamily="18" charset="0"/>
                </a:rPr>
                <a:t>C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xfrm>
            <a:off x="900113" y="0"/>
            <a:ext cx="10361612" cy="857250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D</a:t>
            </a:r>
            <a:r>
              <a:rPr lang="zh-CN" altLang="en-US" dirty="0"/>
              <a:t>触发器时间参数计算</a:t>
            </a:r>
            <a:endParaRPr lang="zh-CN" altLang="en-US" dirty="0"/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>
          <a:xfrm>
            <a:off x="557213" y="755650"/>
            <a:ext cx="11271250" cy="4064000"/>
          </a:xfrm>
        </p:spPr>
        <p:txBody>
          <a:bodyPr vert="horz" wrap="square" lIns="91440" tIns="45720" rIns="91440" bIns="45720" anchor="t" anchorCtr="0"/>
          <a:p>
            <a:pPr marL="360680" indent="-360680">
              <a:spcBef>
                <a:spcPct val="0"/>
              </a:spcBef>
            </a:pP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Hold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：时钟下降后数据变化不影响第一级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D-Latch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在本电路中为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与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的与非门）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>
              <a:spcBef>
                <a:spcPct val="0"/>
              </a:spcBef>
            </a:pP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Setup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：时钟沿下降之前保证数据已采到第一级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D-latch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>
              <a:spcBef>
                <a:spcPct val="0"/>
              </a:spcBef>
            </a:pP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级反相器 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+ 3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级与非门（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Q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端从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变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0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）</a:t>
            </a:r>
            <a:endParaRPr lang="en-US" altLang="zh-CN" dirty="0">
              <a:solidFill>
                <a:schemeClr val="accent2"/>
              </a:solidFill>
              <a:latin typeface="宋体" panose="02000500000000000000" pitchFamily="2" charset="-122"/>
              <a:ea typeface="+mn-ea"/>
            </a:endParaRPr>
          </a:p>
          <a:p>
            <a:pPr marL="360680" indent="-360680">
              <a:spcBef>
                <a:spcPct val="0"/>
              </a:spcBef>
            </a:pP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Clock-to-Q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：时钟沿下降后引起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Q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的变化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>
              <a:spcBef>
                <a:spcPct val="0"/>
              </a:spcBef>
            </a:pP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1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级反相器（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C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反相器与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D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反相器并行）</a:t>
            </a:r>
            <a:r>
              <a:rPr lang="en-US" altLang="zh-CN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+ 3</a:t>
            </a:r>
            <a:r>
              <a:rPr lang="zh-CN" altLang="en-US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</a:rPr>
              <a:t>级与非门</a:t>
            </a:r>
            <a:endParaRPr lang="en-US" altLang="zh-CN" dirty="0">
              <a:solidFill>
                <a:schemeClr val="accent2"/>
              </a:solidFill>
              <a:latin typeface="宋体" panose="02000500000000000000" pitchFamily="2" charset="-122"/>
              <a:ea typeface="+mn-ea"/>
            </a:endParaRPr>
          </a:p>
          <a:p>
            <a:pPr marL="360680" indent="-360680">
              <a:spcBef>
                <a:spcPct val="0"/>
              </a:spcBef>
            </a:pP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上述只是初略计算，具体需要仿真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Setup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和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CLK-to-Q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</a:t>
            </a:r>
            <a:r>
              <a:rPr lang="zh-CN" altLang="en-US" dirty="0">
                <a:latin typeface="+mn-lt"/>
                <a:ea typeface="+mn-ea"/>
              </a:rPr>
              <a:t>“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划分</a:t>
            </a:r>
            <a:r>
              <a:rPr lang="zh-CN" altLang="en-US" dirty="0">
                <a:latin typeface="+mn-lt"/>
                <a:ea typeface="+mn-ea"/>
              </a:rPr>
              <a:t>”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（可能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D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不用到达一级门闩的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Q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时钟沿就变化也可以，但总延迟不变）；真正的时钟不是理想时钟；还有连线延迟影响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360680" indent="-360680">
              <a:spcBef>
                <a:spcPct val="0"/>
              </a:spcBef>
            </a:pPr>
            <a:r>
              <a:rPr lang="zh-CN" altLang="en-US" sz="1800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  <a:cs typeface="+mn-cs"/>
              </a:rPr>
              <a:t>如果</a:t>
            </a:r>
            <a:r>
              <a:rPr lang="en-US" altLang="zh-CN" sz="1800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  <a:cs typeface="+mn-cs"/>
              </a:rPr>
              <a:t>C</a:t>
            </a:r>
            <a:r>
              <a:rPr lang="zh-CN" altLang="en-US" sz="1800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  <a:cs typeface="+mn-cs"/>
              </a:rPr>
              <a:t>端加一级反相器，成为上升沿触发，对上述三个时间有何影响？</a:t>
            </a:r>
            <a:endParaRPr lang="en-US" altLang="zh-CN" sz="1800" dirty="0">
              <a:solidFill>
                <a:srgbClr val="FF0000"/>
              </a:solidFill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>
              <a:spcBef>
                <a:spcPct val="0"/>
              </a:spcBef>
            </a:pP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43013" name="Group 5"/>
          <p:cNvGrpSpPr/>
          <p:nvPr/>
        </p:nvGrpSpPr>
        <p:grpSpPr>
          <a:xfrm>
            <a:off x="5411788" y="4838700"/>
            <a:ext cx="6437312" cy="1806575"/>
            <a:chOff x="769" y="2977"/>
            <a:chExt cx="3042" cy="1138"/>
          </a:xfrm>
        </p:grpSpPr>
        <p:grpSp>
          <p:nvGrpSpPr>
            <p:cNvPr id="43077" name="Group 6"/>
            <p:cNvGrpSpPr/>
            <p:nvPr/>
          </p:nvGrpSpPr>
          <p:grpSpPr>
            <a:xfrm>
              <a:off x="769" y="2977"/>
              <a:ext cx="2753" cy="1138"/>
              <a:chOff x="769" y="2977"/>
              <a:chExt cx="2753" cy="1138"/>
            </a:xfrm>
          </p:grpSpPr>
          <p:grpSp>
            <p:nvGrpSpPr>
              <p:cNvPr id="43080" name="Group 7"/>
              <p:cNvGrpSpPr/>
              <p:nvPr/>
            </p:nvGrpSpPr>
            <p:grpSpPr>
              <a:xfrm rot="5400000" flipH="1">
                <a:off x="1758" y="3780"/>
                <a:ext cx="218" cy="257"/>
                <a:chOff x="1169" y="3382"/>
                <a:chExt cx="218" cy="257"/>
              </a:xfrm>
            </p:grpSpPr>
            <p:sp>
              <p:nvSpPr>
                <p:cNvPr id="43106" name="AutoShape 8"/>
                <p:cNvSpPr/>
                <p:nvPr/>
              </p:nvSpPr>
              <p:spPr>
                <a:xfrm flipV="1">
                  <a:off x="1169" y="3436"/>
                  <a:ext cx="218" cy="203"/>
                </a:xfrm>
                <a:prstGeom prst="flowChartMerg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107" name="Oval 9"/>
                <p:cNvSpPr/>
                <p:nvPr/>
              </p:nvSpPr>
              <p:spPr>
                <a:xfrm>
                  <a:off x="1247" y="3382"/>
                  <a:ext cx="62" cy="55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</p:grpSp>
          <p:grpSp>
            <p:nvGrpSpPr>
              <p:cNvPr id="43081" name="Group 10"/>
              <p:cNvGrpSpPr/>
              <p:nvPr/>
            </p:nvGrpSpPr>
            <p:grpSpPr>
              <a:xfrm>
                <a:off x="1481" y="3187"/>
                <a:ext cx="748" cy="576"/>
                <a:chOff x="1481" y="3187"/>
                <a:chExt cx="748" cy="576"/>
              </a:xfrm>
            </p:grpSpPr>
            <p:sp>
              <p:nvSpPr>
                <p:cNvPr id="43100" name="Text Box 11"/>
                <p:cNvSpPr txBox="1"/>
                <p:nvPr/>
              </p:nvSpPr>
              <p:spPr>
                <a:xfrm>
                  <a:off x="1488" y="3258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D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43101" name="Text Box 12"/>
                <p:cNvSpPr txBox="1"/>
                <p:nvPr/>
              </p:nvSpPr>
              <p:spPr>
                <a:xfrm>
                  <a:off x="1483" y="3556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C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43102" name="Text Box 13"/>
                <p:cNvSpPr txBox="1"/>
                <p:nvPr/>
              </p:nvSpPr>
              <p:spPr>
                <a:xfrm>
                  <a:off x="1481" y="3187"/>
                  <a:ext cx="748" cy="57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ctr">
                    <a:spcBef>
                      <a:spcPct val="50000"/>
                    </a:spcBef>
                  </a:pPr>
                  <a:endParaRPr lang="en-US" altLang="zh-CN" sz="1400" dirty="0">
                    <a:latin typeface="Times New Roman" pitchFamily="18" charset="0"/>
                  </a:endParaRPr>
                </a:p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400" dirty="0">
                      <a:latin typeface="Times New Roman" pitchFamily="18" charset="0"/>
                    </a:rPr>
                    <a:t>D-latch</a:t>
                  </a:r>
                  <a:endParaRPr lang="en-US" altLang="zh-CN" dirty="0">
                    <a:latin typeface="Times New Roman" pitchFamily="18" charset="0"/>
                  </a:endParaRPr>
                </a:p>
              </p:txBody>
            </p:sp>
            <p:sp>
              <p:nvSpPr>
                <p:cNvPr id="43103" name="Text Box 14"/>
                <p:cNvSpPr txBox="1"/>
                <p:nvPr/>
              </p:nvSpPr>
              <p:spPr>
                <a:xfrm>
                  <a:off x="2102" y="3270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43104" name="Text Box 15"/>
                <p:cNvSpPr txBox="1"/>
                <p:nvPr/>
              </p:nvSpPr>
              <p:spPr>
                <a:xfrm>
                  <a:off x="2110" y="3550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43105" name="Line 16"/>
                <p:cNvSpPr/>
                <p:nvPr/>
              </p:nvSpPr>
              <p:spPr>
                <a:xfrm>
                  <a:off x="2135" y="3562"/>
                  <a:ext cx="71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43082" name="Group 17"/>
              <p:cNvGrpSpPr/>
              <p:nvPr/>
            </p:nvGrpSpPr>
            <p:grpSpPr>
              <a:xfrm>
                <a:off x="2614" y="3190"/>
                <a:ext cx="748" cy="576"/>
                <a:chOff x="1481" y="3187"/>
                <a:chExt cx="748" cy="576"/>
              </a:xfrm>
            </p:grpSpPr>
            <p:sp>
              <p:nvSpPr>
                <p:cNvPr id="43094" name="Text Box 18"/>
                <p:cNvSpPr txBox="1"/>
                <p:nvPr/>
              </p:nvSpPr>
              <p:spPr>
                <a:xfrm>
                  <a:off x="1488" y="3258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D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43095" name="Text Box 19"/>
                <p:cNvSpPr txBox="1"/>
                <p:nvPr/>
              </p:nvSpPr>
              <p:spPr>
                <a:xfrm>
                  <a:off x="1483" y="3556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C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43096" name="Text Box 20"/>
                <p:cNvSpPr txBox="1"/>
                <p:nvPr/>
              </p:nvSpPr>
              <p:spPr>
                <a:xfrm>
                  <a:off x="1481" y="3187"/>
                  <a:ext cx="748" cy="576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/>
                <a:p>
                  <a:pPr algn="ctr">
                    <a:spcBef>
                      <a:spcPct val="50000"/>
                    </a:spcBef>
                  </a:pPr>
                  <a:endParaRPr lang="en-US" altLang="zh-CN" sz="1400" dirty="0">
                    <a:latin typeface="Times New Roman" pitchFamily="18" charset="0"/>
                  </a:endParaRPr>
                </a:p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1400" dirty="0">
                      <a:latin typeface="Times New Roman" pitchFamily="18" charset="0"/>
                    </a:rPr>
                    <a:t>D-latch</a:t>
                  </a:r>
                  <a:endParaRPr lang="en-US" altLang="zh-CN" dirty="0">
                    <a:latin typeface="Times New Roman" pitchFamily="18" charset="0"/>
                  </a:endParaRPr>
                </a:p>
              </p:txBody>
            </p:sp>
            <p:sp>
              <p:nvSpPr>
                <p:cNvPr id="43097" name="Text Box 21"/>
                <p:cNvSpPr txBox="1"/>
                <p:nvPr/>
              </p:nvSpPr>
              <p:spPr>
                <a:xfrm>
                  <a:off x="2102" y="3270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43098" name="Text Box 22"/>
                <p:cNvSpPr txBox="1"/>
                <p:nvPr/>
              </p:nvSpPr>
              <p:spPr>
                <a:xfrm>
                  <a:off x="2110" y="3550"/>
                  <a:ext cx="109" cy="154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 anchor="ctr" anchorCtr="0">
                  <a:spAutoFit/>
                </a:bodyPr>
                <a:p>
                  <a:pPr algn="ctr"/>
                  <a:r>
                    <a:rPr lang="en-US" altLang="zh-CN" sz="1600" dirty="0">
                      <a:latin typeface="Times New Roman" pitchFamily="18" charset="0"/>
                    </a:rPr>
                    <a:t>Q</a:t>
                  </a:r>
                  <a:endParaRPr lang="en-US" altLang="zh-CN" sz="1600" dirty="0">
                    <a:latin typeface="Times New Roman" pitchFamily="18" charset="0"/>
                  </a:endParaRPr>
                </a:p>
              </p:txBody>
            </p:sp>
            <p:sp>
              <p:nvSpPr>
                <p:cNvPr id="43099" name="Line 23"/>
                <p:cNvSpPr/>
                <p:nvPr/>
              </p:nvSpPr>
              <p:spPr>
                <a:xfrm>
                  <a:off x="2135" y="3562"/>
                  <a:ext cx="71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083" name="Line 24"/>
              <p:cNvSpPr/>
              <p:nvPr/>
            </p:nvSpPr>
            <p:spPr>
              <a:xfrm>
                <a:off x="2229" y="3343"/>
                <a:ext cx="38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84" name="Line 25"/>
              <p:cNvSpPr/>
              <p:nvPr/>
            </p:nvSpPr>
            <p:spPr>
              <a:xfrm>
                <a:off x="951" y="3336"/>
                <a:ext cx="530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85" name="Line 26"/>
              <p:cNvSpPr/>
              <p:nvPr/>
            </p:nvSpPr>
            <p:spPr>
              <a:xfrm>
                <a:off x="943" y="3630"/>
                <a:ext cx="538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86" name="Line 27"/>
              <p:cNvSpPr/>
              <p:nvPr/>
            </p:nvSpPr>
            <p:spPr>
              <a:xfrm>
                <a:off x="2470" y="3632"/>
                <a:ext cx="141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87" name="Line 28"/>
              <p:cNvSpPr/>
              <p:nvPr/>
            </p:nvSpPr>
            <p:spPr>
              <a:xfrm>
                <a:off x="2470" y="3632"/>
                <a:ext cx="0" cy="28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88" name="Line 29"/>
              <p:cNvSpPr/>
              <p:nvPr/>
            </p:nvSpPr>
            <p:spPr>
              <a:xfrm>
                <a:off x="1995" y="3912"/>
                <a:ext cx="47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89" name="Line 30"/>
              <p:cNvSpPr/>
              <p:nvPr/>
            </p:nvSpPr>
            <p:spPr>
              <a:xfrm>
                <a:off x="1265" y="3915"/>
                <a:ext cx="475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90" name="Line 31"/>
              <p:cNvSpPr/>
              <p:nvPr/>
            </p:nvSpPr>
            <p:spPr>
              <a:xfrm flipV="1">
                <a:off x="1262" y="3624"/>
                <a:ext cx="0" cy="28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3091" name="Rectangle 32"/>
              <p:cNvSpPr/>
              <p:nvPr/>
            </p:nvSpPr>
            <p:spPr>
              <a:xfrm>
                <a:off x="1138" y="2977"/>
                <a:ext cx="2384" cy="1138"/>
              </a:xfrm>
              <a:prstGeom prst="rect">
                <a:avLst/>
              </a:prstGeom>
              <a:noFill/>
              <a:ln w="9525" cap="rnd" cmpd="sng">
                <a:solidFill>
                  <a:schemeClr val="tx1"/>
                </a:solidFill>
                <a:prstDash val="sysDot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43092" name="Text Box 33"/>
              <p:cNvSpPr txBox="1"/>
              <p:nvPr/>
            </p:nvSpPr>
            <p:spPr>
              <a:xfrm>
                <a:off x="769" y="3556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C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43093" name="Text Box 34"/>
              <p:cNvSpPr txBox="1"/>
              <p:nvPr/>
            </p:nvSpPr>
            <p:spPr>
              <a:xfrm>
                <a:off x="773" y="3280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D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</p:grpSp>
        <p:sp>
          <p:nvSpPr>
            <p:cNvPr id="43078" name="Line 35"/>
            <p:cNvSpPr/>
            <p:nvPr/>
          </p:nvSpPr>
          <p:spPr>
            <a:xfrm>
              <a:off x="3359" y="3343"/>
              <a:ext cx="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79" name="Line 36"/>
            <p:cNvSpPr/>
            <p:nvPr/>
          </p:nvSpPr>
          <p:spPr>
            <a:xfrm>
              <a:off x="3359" y="3631"/>
              <a:ext cx="45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3014" name="Group 178"/>
          <p:cNvGrpSpPr/>
          <p:nvPr/>
        </p:nvGrpSpPr>
        <p:grpSpPr>
          <a:xfrm rot="5400000">
            <a:off x="2076450" y="3763963"/>
            <a:ext cx="1762125" cy="3944937"/>
            <a:chOff x="1589" y="549"/>
            <a:chExt cx="1110" cy="1864"/>
          </a:xfrm>
        </p:grpSpPr>
        <p:sp>
          <p:nvSpPr>
            <p:cNvPr id="43015" name="Line 179"/>
            <p:cNvSpPr/>
            <p:nvPr/>
          </p:nvSpPr>
          <p:spPr>
            <a:xfrm flipV="1">
              <a:off x="1837" y="549"/>
              <a:ext cx="0" cy="2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16" name="Line 180"/>
            <p:cNvSpPr/>
            <p:nvPr/>
          </p:nvSpPr>
          <p:spPr>
            <a:xfrm flipV="1">
              <a:off x="2461" y="573"/>
              <a:ext cx="0" cy="24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17" name="Line 181"/>
            <p:cNvSpPr/>
            <p:nvPr/>
          </p:nvSpPr>
          <p:spPr>
            <a:xfrm>
              <a:off x="1727" y="1164"/>
              <a:ext cx="0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18" name="Line 182"/>
            <p:cNvSpPr/>
            <p:nvPr/>
          </p:nvSpPr>
          <p:spPr>
            <a:xfrm>
              <a:off x="2567" y="1172"/>
              <a:ext cx="0" cy="2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19" name="Line 183"/>
            <p:cNvSpPr/>
            <p:nvPr/>
          </p:nvSpPr>
          <p:spPr>
            <a:xfrm>
              <a:off x="1946" y="1164"/>
              <a:ext cx="0" cy="1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0" name="Line 184"/>
            <p:cNvSpPr/>
            <p:nvPr/>
          </p:nvSpPr>
          <p:spPr>
            <a:xfrm>
              <a:off x="2346" y="1172"/>
              <a:ext cx="0" cy="16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1" name="Line 185"/>
            <p:cNvSpPr/>
            <p:nvPr/>
          </p:nvSpPr>
          <p:spPr>
            <a:xfrm>
              <a:off x="1946" y="1328"/>
              <a:ext cx="10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2" name="Line 186"/>
            <p:cNvSpPr/>
            <p:nvPr/>
          </p:nvSpPr>
          <p:spPr>
            <a:xfrm>
              <a:off x="2234" y="1328"/>
              <a:ext cx="10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3" name="Line 187"/>
            <p:cNvSpPr/>
            <p:nvPr/>
          </p:nvSpPr>
          <p:spPr>
            <a:xfrm>
              <a:off x="1839" y="691"/>
              <a:ext cx="10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4" name="Line 188"/>
            <p:cNvSpPr/>
            <p:nvPr/>
          </p:nvSpPr>
          <p:spPr>
            <a:xfrm>
              <a:off x="2353" y="699"/>
              <a:ext cx="10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5" name="Line 189"/>
            <p:cNvSpPr/>
            <p:nvPr/>
          </p:nvSpPr>
          <p:spPr>
            <a:xfrm>
              <a:off x="1938" y="689"/>
              <a:ext cx="296" cy="6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6" name="Line 190"/>
            <p:cNvSpPr/>
            <p:nvPr/>
          </p:nvSpPr>
          <p:spPr>
            <a:xfrm flipV="1">
              <a:off x="2047" y="697"/>
              <a:ext cx="304" cy="6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27" name="Text Box 191"/>
            <p:cNvSpPr txBox="1"/>
            <p:nvPr/>
          </p:nvSpPr>
          <p:spPr>
            <a:xfrm>
              <a:off x="1750" y="1207"/>
              <a:ext cx="109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>
                <a:spcBef>
                  <a:spcPct val="50000"/>
                </a:spcBef>
              </a:pPr>
              <a:r>
                <a:rPr lang="en-US" altLang="zh-CN" sz="1600" dirty="0">
                  <a:latin typeface="Times New Roman" pitchFamily="18" charset="0"/>
                </a:rPr>
                <a:t>R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43028" name="Text Box 192"/>
            <p:cNvSpPr txBox="1"/>
            <p:nvPr/>
          </p:nvSpPr>
          <p:spPr>
            <a:xfrm>
              <a:off x="2463" y="1225"/>
              <a:ext cx="109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600" dirty="0">
                  <a:latin typeface="Times New Roman" pitchFamily="18" charset="0"/>
                </a:rPr>
                <a:t>S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43029" name="Text Box 193"/>
            <p:cNvSpPr txBox="1"/>
            <p:nvPr/>
          </p:nvSpPr>
          <p:spPr>
            <a:xfrm>
              <a:off x="2476" y="640"/>
              <a:ext cx="109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600" dirty="0">
                  <a:latin typeface="Times New Roman" pitchFamily="18" charset="0"/>
                </a:rPr>
                <a:t>Q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grpSp>
          <p:nvGrpSpPr>
            <p:cNvPr id="43030" name="Group 194"/>
            <p:cNvGrpSpPr/>
            <p:nvPr/>
          </p:nvGrpSpPr>
          <p:grpSpPr>
            <a:xfrm>
              <a:off x="1695" y="620"/>
              <a:ext cx="109" cy="119"/>
              <a:chOff x="2439" y="1450"/>
              <a:chExt cx="109" cy="119"/>
            </a:xfrm>
          </p:grpSpPr>
          <p:sp>
            <p:nvSpPr>
              <p:cNvPr id="43075" name="Text Box 195"/>
              <p:cNvSpPr txBox="1"/>
              <p:nvPr/>
            </p:nvSpPr>
            <p:spPr>
              <a:xfrm>
                <a:off x="2439" y="1453"/>
                <a:ext cx="109" cy="11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Q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43076" name="Line 196"/>
              <p:cNvSpPr/>
              <p:nvPr/>
            </p:nvSpPr>
            <p:spPr>
              <a:xfrm flipV="1">
                <a:off x="2439" y="1450"/>
                <a:ext cx="102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43031" name="Group 197"/>
            <p:cNvGrpSpPr/>
            <p:nvPr/>
          </p:nvGrpSpPr>
          <p:grpSpPr>
            <a:xfrm>
              <a:off x="2319" y="808"/>
              <a:ext cx="277" cy="381"/>
              <a:chOff x="1605" y="1902"/>
              <a:chExt cx="277" cy="405"/>
            </a:xfrm>
          </p:grpSpPr>
          <p:grpSp>
            <p:nvGrpSpPr>
              <p:cNvPr id="43068" name="Group 198"/>
              <p:cNvGrpSpPr/>
              <p:nvPr/>
            </p:nvGrpSpPr>
            <p:grpSpPr>
              <a:xfrm>
                <a:off x="1605" y="1969"/>
                <a:ext cx="277" cy="338"/>
                <a:chOff x="3238" y="10820"/>
                <a:chExt cx="700" cy="1020"/>
              </a:xfrm>
            </p:grpSpPr>
            <p:sp>
              <p:nvSpPr>
                <p:cNvPr id="43070" name="Oval 199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071" name="Line 200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3072" name="Rectangle 201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073" name="Line 202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3074" name="Line 203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069" name="Oval 204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3032" name="Group 205"/>
            <p:cNvGrpSpPr/>
            <p:nvPr/>
          </p:nvGrpSpPr>
          <p:grpSpPr>
            <a:xfrm>
              <a:off x="1698" y="795"/>
              <a:ext cx="277" cy="381"/>
              <a:chOff x="1605" y="1902"/>
              <a:chExt cx="277" cy="405"/>
            </a:xfrm>
          </p:grpSpPr>
          <p:grpSp>
            <p:nvGrpSpPr>
              <p:cNvPr id="43061" name="Group 206"/>
              <p:cNvGrpSpPr/>
              <p:nvPr/>
            </p:nvGrpSpPr>
            <p:grpSpPr>
              <a:xfrm>
                <a:off x="1605" y="1969"/>
                <a:ext cx="277" cy="338"/>
                <a:chOff x="3238" y="10820"/>
                <a:chExt cx="700" cy="1020"/>
              </a:xfrm>
            </p:grpSpPr>
            <p:sp>
              <p:nvSpPr>
                <p:cNvPr id="43063" name="Oval 207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064" name="Line 208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3065" name="Rectangle 209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066" name="Line 210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3067" name="Line 211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062" name="Oval 212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3033" name="Group 213"/>
            <p:cNvGrpSpPr/>
            <p:nvPr/>
          </p:nvGrpSpPr>
          <p:grpSpPr>
            <a:xfrm>
              <a:off x="2422" y="1395"/>
              <a:ext cx="277" cy="381"/>
              <a:chOff x="1605" y="1902"/>
              <a:chExt cx="277" cy="405"/>
            </a:xfrm>
          </p:grpSpPr>
          <p:grpSp>
            <p:nvGrpSpPr>
              <p:cNvPr id="43054" name="Group 214"/>
              <p:cNvGrpSpPr/>
              <p:nvPr/>
            </p:nvGrpSpPr>
            <p:grpSpPr>
              <a:xfrm>
                <a:off x="1605" y="1969"/>
                <a:ext cx="277" cy="338"/>
                <a:chOff x="3238" y="10820"/>
                <a:chExt cx="700" cy="1020"/>
              </a:xfrm>
            </p:grpSpPr>
            <p:sp>
              <p:nvSpPr>
                <p:cNvPr id="43056" name="Oval 215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057" name="Line 216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3058" name="Rectangle 217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059" name="Line 218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3060" name="Line 219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055" name="Oval 220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3034" name="Group 221"/>
            <p:cNvGrpSpPr/>
            <p:nvPr/>
          </p:nvGrpSpPr>
          <p:grpSpPr>
            <a:xfrm>
              <a:off x="1589" y="1403"/>
              <a:ext cx="277" cy="381"/>
              <a:chOff x="1605" y="1902"/>
              <a:chExt cx="277" cy="405"/>
            </a:xfrm>
          </p:grpSpPr>
          <p:grpSp>
            <p:nvGrpSpPr>
              <p:cNvPr id="43047" name="Group 222"/>
              <p:cNvGrpSpPr/>
              <p:nvPr/>
            </p:nvGrpSpPr>
            <p:grpSpPr>
              <a:xfrm>
                <a:off x="1605" y="1969"/>
                <a:ext cx="277" cy="338"/>
                <a:chOff x="3238" y="10820"/>
                <a:chExt cx="700" cy="1020"/>
              </a:xfrm>
            </p:grpSpPr>
            <p:sp>
              <p:nvSpPr>
                <p:cNvPr id="43049" name="Oval 223"/>
                <p:cNvSpPr/>
                <p:nvPr/>
              </p:nvSpPr>
              <p:spPr>
                <a:xfrm>
                  <a:off x="3238" y="10820"/>
                  <a:ext cx="695" cy="780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050" name="Line 224"/>
                <p:cNvSpPr/>
                <p:nvPr/>
              </p:nvSpPr>
              <p:spPr>
                <a:xfrm>
                  <a:off x="3238" y="11820"/>
                  <a:ext cx="700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3051" name="Rectangle 225"/>
                <p:cNvSpPr/>
                <p:nvPr/>
              </p:nvSpPr>
              <p:spPr>
                <a:xfrm>
                  <a:off x="3238" y="11220"/>
                  <a:ext cx="700" cy="42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p>
                  <a:endParaRPr lang="zh-CN" altLang="en-US" dirty="0">
                    <a:latin typeface="Times New Roman" pitchFamily="18" charset="0"/>
                  </a:endParaRPr>
                </a:p>
              </p:txBody>
            </p:sp>
            <p:sp>
              <p:nvSpPr>
                <p:cNvPr id="43052" name="Line 226"/>
                <p:cNvSpPr/>
                <p:nvPr/>
              </p:nvSpPr>
              <p:spPr>
                <a:xfrm>
                  <a:off x="3238" y="11180"/>
                  <a:ext cx="0" cy="64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43053" name="Line 227"/>
                <p:cNvSpPr/>
                <p:nvPr/>
              </p:nvSpPr>
              <p:spPr>
                <a:xfrm>
                  <a:off x="3928" y="11180"/>
                  <a:ext cx="0" cy="66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43048" name="Oval 228"/>
              <p:cNvSpPr/>
              <p:nvPr/>
            </p:nvSpPr>
            <p:spPr>
              <a:xfrm>
                <a:off x="1708" y="1902"/>
                <a:ext cx="71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43035" name="Group 229"/>
            <p:cNvGrpSpPr/>
            <p:nvPr/>
          </p:nvGrpSpPr>
          <p:grpSpPr>
            <a:xfrm rot="-5400000">
              <a:off x="1993" y="1847"/>
              <a:ext cx="218" cy="257"/>
              <a:chOff x="1169" y="3382"/>
              <a:chExt cx="218" cy="257"/>
            </a:xfrm>
          </p:grpSpPr>
          <p:sp>
            <p:nvSpPr>
              <p:cNvPr id="43045" name="AutoShape 230"/>
              <p:cNvSpPr/>
              <p:nvPr/>
            </p:nvSpPr>
            <p:spPr>
              <a:xfrm flipV="1">
                <a:off x="1169" y="3436"/>
                <a:ext cx="218" cy="203"/>
              </a:xfrm>
              <a:prstGeom prst="flowChartMerg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43046" name="Oval 231"/>
              <p:cNvSpPr/>
              <p:nvPr/>
            </p:nvSpPr>
            <p:spPr>
              <a:xfrm>
                <a:off x="1247" y="3382"/>
                <a:ext cx="62" cy="55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43036" name="Line 232"/>
            <p:cNvSpPr/>
            <p:nvPr/>
          </p:nvSpPr>
          <p:spPr>
            <a:xfrm>
              <a:off x="2487" y="1763"/>
              <a:ext cx="0" cy="64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7" name="Line 233"/>
            <p:cNvSpPr/>
            <p:nvPr/>
          </p:nvSpPr>
          <p:spPr>
            <a:xfrm>
              <a:off x="2631" y="1763"/>
              <a:ext cx="0" cy="38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8" name="Line 234"/>
            <p:cNvSpPr/>
            <p:nvPr/>
          </p:nvSpPr>
          <p:spPr>
            <a:xfrm>
              <a:off x="1649" y="1772"/>
              <a:ext cx="0" cy="6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39" name="Line 235"/>
            <p:cNvSpPr/>
            <p:nvPr/>
          </p:nvSpPr>
          <p:spPr>
            <a:xfrm>
              <a:off x="1792" y="1768"/>
              <a:ext cx="0" cy="21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0" name="Line 236"/>
            <p:cNvSpPr/>
            <p:nvPr/>
          </p:nvSpPr>
          <p:spPr>
            <a:xfrm>
              <a:off x="1792" y="1979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1" name="Line 237"/>
            <p:cNvSpPr/>
            <p:nvPr/>
          </p:nvSpPr>
          <p:spPr>
            <a:xfrm>
              <a:off x="2229" y="1995"/>
              <a:ext cx="25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2" name="Line 238"/>
            <p:cNvSpPr/>
            <p:nvPr/>
          </p:nvSpPr>
          <p:spPr>
            <a:xfrm>
              <a:off x="1652" y="2135"/>
              <a:ext cx="98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3043" name="Text Box 239"/>
            <p:cNvSpPr txBox="1"/>
            <p:nvPr/>
          </p:nvSpPr>
          <p:spPr>
            <a:xfrm>
              <a:off x="2510" y="2287"/>
              <a:ext cx="109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600" dirty="0">
                  <a:latin typeface="Times New Roman" pitchFamily="18" charset="0"/>
                </a:rPr>
                <a:t>D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43044" name="Text Box 240"/>
            <p:cNvSpPr txBox="1"/>
            <p:nvPr/>
          </p:nvSpPr>
          <p:spPr>
            <a:xfrm>
              <a:off x="1687" y="2297"/>
              <a:ext cx="109" cy="11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600" dirty="0">
                  <a:latin typeface="Times New Roman" pitchFamily="18" charset="0"/>
                </a:rPr>
                <a:t>C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5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196" name="Rectangle 2"/>
          <p:cNvSpPr>
            <a:spLocks noGrp="1"/>
          </p:cNvSpPr>
          <p:nvPr>
            <p:ph type="title"/>
          </p:nvPr>
        </p:nvSpPr>
        <p:spPr>
          <a:xfrm>
            <a:off x="900113" y="225425"/>
            <a:ext cx="10361612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传输门和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sp>
        <p:nvSpPr>
          <p:cNvPr id="64" name="Rectangle 4"/>
          <p:cNvSpPr txBox="1">
            <a:spLocks noChangeArrowheads="1"/>
          </p:cNvSpPr>
          <p:nvPr/>
        </p:nvSpPr>
        <p:spPr bwMode="auto">
          <a:xfrm>
            <a:off x="509588" y="1287463"/>
            <a:ext cx="11228388" cy="50514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传输门根据使能，决定是否对信号导通</a:t>
            </a:r>
            <a:endParaRPr kumimoji="1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P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管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Gate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接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时导通，传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强（传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有阈值损失）；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N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管传</a:t>
            </a: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0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强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传输门为无源器件（导通时相当于电阻），不能串接太多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锁存器和</a:t>
            </a:r>
            <a:r>
              <a:rPr kumimoji="1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</a:t>
            </a:r>
            <a:r>
              <a:rPr kumimoji="1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触发器</a:t>
            </a:r>
            <a:endParaRPr kumimoji="1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CLK=0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时，第一个锁存器直通，第二个锁存器关闭</a:t>
            </a:r>
            <a:endParaRPr kumimoji="1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CLK=1</a:t>
            </a:r>
            <a:r>
              <a:rPr kumimoji="1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时，第一个锁存器关闭，第二个锁存器直通</a:t>
            </a:r>
            <a:endParaRPr kumimoji="1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aphicFrame>
        <p:nvGraphicFramePr>
          <p:cNvPr id="8194" name="Object 2"/>
          <p:cNvGraphicFramePr/>
          <p:nvPr/>
        </p:nvGraphicFramePr>
        <p:xfrm>
          <a:off x="9420225" y="1368425"/>
          <a:ext cx="2327275" cy="174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1294130" imgH="1294130" progId="">
                  <p:embed/>
                </p:oleObj>
              </mc:Choice>
              <mc:Fallback>
                <p:oleObj name="" r:id="rId1" imgW="1294130" imgH="1294130" progId="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420225" y="1368425"/>
                        <a:ext cx="2327275" cy="17478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198" name="Group 70"/>
          <p:cNvGrpSpPr/>
          <p:nvPr/>
        </p:nvGrpSpPr>
        <p:grpSpPr>
          <a:xfrm>
            <a:off x="9421813" y="4727575"/>
            <a:ext cx="2452687" cy="928688"/>
            <a:chOff x="4494" y="3281"/>
            <a:chExt cx="1266" cy="576"/>
          </a:xfrm>
        </p:grpSpPr>
        <p:sp>
          <p:nvSpPr>
            <p:cNvPr id="8200" name="Text Box 57"/>
            <p:cNvSpPr txBox="1"/>
            <p:nvPr/>
          </p:nvSpPr>
          <p:spPr>
            <a:xfrm>
              <a:off x="4762" y="3361"/>
              <a:ext cx="109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400" dirty="0">
                  <a:latin typeface="Times New Roman" pitchFamily="18" charset="0"/>
                </a:rPr>
                <a:t>D</a:t>
              </a:r>
              <a:endParaRPr lang="en-US" altLang="zh-CN" sz="1400" dirty="0">
                <a:latin typeface="Times New Roman" pitchFamily="18" charset="0"/>
              </a:endParaRPr>
            </a:p>
          </p:txBody>
        </p:sp>
        <p:sp>
          <p:nvSpPr>
            <p:cNvPr id="8201" name="Text Box 58"/>
            <p:cNvSpPr txBox="1"/>
            <p:nvPr/>
          </p:nvSpPr>
          <p:spPr>
            <a:xfrm>
              <a:off x="4757" y="3659"/>
              <a:ext cx="109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400" dirty="0">
                  <a:latin typeface="Times New Roman" pitchFamily="18" charset="0"/>
                </a:rPr>
                <a:t>C</a:t>
              </a:r>
              <a:endParaRPr lang="en-US" altLang="zh-CN" sz="1400" dirty="0">
                <a:latin typeface="Times New Roman" pitchFamily="18" charset="0"/>
              </a:endParaRPr>
            </a:p>
          </p:txBody>
        </p:sp>
        <p:sp>
          <p:nvSpPr>
            <p:cNvPr id="8202" name="Text Box 59"/>
            <p:cNvSpPr txBox="1"/>
            <p:nvPr/>
          </p:nvSpPr>
          <p:spPr>
            <a:xfrm>
              <a:off x="4755" y="3281"/>
              <a:ext cx="748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algn="ctr">
                <a:spcBef>
                  <a:spcPct val="50000"/>
                </a:spcBef>
              </a:pPr>
              <a:endParaRPr lang="en-US" altLang="zh-CN" sz="1200" dirty="0">
                <a:latin typeface="Times New Roman" pitchFamily="18" charset="0"/>
              </a:endParaRPr>
            </a:p>
            <a:p>
              <a:pPr algn="ctr">
                <a:spcBef>
                  <a:spcPct val="50000"/>
                </a:spcBef>
              </a:pPr>
              <a:r>
                <a:rPr lang="en-US" altLang="zh-CN" sz="1200" dirty="0">
                  <a:latin typeface="Times New Roman" pitchFamily="18" charset="0"/>
                </a:rPr>
                <a:t>DFF</a:t>
              </a:r>
              <a:endParaRPr lang="en-US" altLang="zh-CN" sz="2000" dirty="0">
                <a:latin typeface="Times New Roman" pitchFamily="18" charset="0"/>
              </a:endParaRPr>
            </a:p>
          </p:txBody>
        </p:sp>
        <p:sp>
          <p:nvSpPr>
            <p:cNvPr id="8203" name="Text Box 60"/>
            <p:cNvSpPr txBox="1"/>
            <p:nvPr/>
          </p:nvSpPr>
          <p:spPr>
            <a:xfrm>
              <a:off x="5376" y="3373"/>
              <a:ext cx="109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 anchor="ctr" anchorCtr="0">
              <a:spAutoFit/>
            </a:bodyPr>
            <a:p>
              <a:pPr algn="ctr"/>
              <a:r>
                <a:rPr lang="en-US" altLang="zh-CN" sz="1400" dirty="0">
                  <a:latin typeface="Times New Roman" pitchFamily="18" charset="0"/>
                </a:rPr>
                <a:t>Q</a:t>
              </a:r>
              <a:endParaRPr lang="en-US" altLang="zh-CN" sz="1400" dirty="0">
                <a:latin typeface="Times New Roman" pitchFamily="18" charset="0"/>
              </a:endParaRPr>
            </a:p>
          </p:txBody>
        </p:sp>
        <p:sp>
          <p:nvSpPr>
            <p:cNvPr id="8204" name="Line 64"/>
            <p:cNvSpPr/>
            <p:nvPr/>
          </p:nvSpPr>
          <p:spPr>
            <a:xfrm>
              <a:off x="4494" y="3426"/>
              <a:ext cx="2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5" name="Line 65"/>
            <p:cNvSpPr/>
            <p:nvPr/>
          </p:nvSpPr>
          <p:spPr>
            <a:xfrm>
              <a:off x="4494" y="3730"/>
              <a:ext cx="2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06" name="Line 66"/>
            <p:cNvSpPr/>
            <p:nvPr/>
          </p:nvSpPr>
          <p:spPr>
            <a:xfrm>
              <a:off x="5502" y="3451"/>
              <a:ext cx="2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pic>
        <p:nvPicPr>
          <p:cNvPr id="819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050" y="3910013"/>
            <a:ext cx="7856538" cy="26479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4035" name="Rectangle 2"/>
          <p:cNvSpPr>
            <a:spLocks noGrp="1"/>
          </p:cNvSpPr>
          <p:nvPr>
            <p:ph type="title"/>
          </p:nvPr>
        </p:nvSpPr>
        <p:spPr>
          <a:xfrm>
            <a:off x="900113" y="0"/>
            <a:ext cx="10361612" cy="9144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D</a:t>
            </a:r>
            <a:r>
              <a:rPr lang="zh-CN" altLang="en-US" dirty="0"/>
              <a:t>触发器时间参数计算（以本讲义为准）</a:t>
            </a:r>
            <a:endParaRPr lang="zh-CN" altLang="en-US" dirty="0"/>
          </a:p>
        </p:txBody>
      </p:sp>
      <p:sp>
        <p:nvSpPr>
          <p:cNvPr id="64" name="Rectangle 4"/>
          <p:cNvSpPr txBox="1">
            <a:spLocks noChangeArrowheads="1"/>
          </p:cNvSpPr>
          <p:nvPr/>
        </p:nvSpPr>
        <p:spPr bwMode="auto">
          <a:xfrm>
            <a:off x="509588" y="1408113"/>
            <a:ext cx="11228388" cy="3271838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har char="•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20675" marR="0" lvl="0" indent="-36068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三个重要时间参数：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Setup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、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Hold</a:t>
            </a:r>
            <a:r>
              <a:rPr kumimoji="1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、</a:t>
            </a:r>
            <a:r>
              <a:rPr kumimoji="1" lang="en-US" altLang="zh-CN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宋体" panose="02000500000000000000" pitchFamily="2" charset="-122"/>
                <a:ea typeface="+mn-ea"/>
                <a:cs typeface="+mn-cs"/>
              </a:rPr>
              <a:t>CLK2Q</a:t>
            </a:r>
            <a:endParaRPr kumimoji="1" lang="en-US" altLang="zh-CN" sz="18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宋体" panose="02000500000000000000" pitchFamily="2" charset="-122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触发器的延迟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=Setup+CLK2Q</a:t>
            </a:r>
            <a:endParaRPr kumimoji="1" lang="zh-CN" altLang="en-US" sz="14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假设所有门延迟为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1ns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假设传输门需要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和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~CLK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都正确后才生效，数据从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传到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后再关闭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G1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第一个</a:t>
            </a:r>
            <a:r>
              <a:rPr kumimoji="1" lang="en-US" altLang="zh-CN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Latch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才能锁定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en-US" altLang="zh-CN" sz="18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Setup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2ns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G1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关闭前数据从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传到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D1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需要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3ns - CLK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取反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1ns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CLK2Q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4ns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取反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1ns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+ 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数据从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D1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传到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Q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需要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3ns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Hold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：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1ns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（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CLK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取反加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G1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关闭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2ns-D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到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G1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需</a:t>
            </a:r>
            <a:r>
              <a:rPr kumimoji="1" lang="en-US" altLang="zh-CN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1ns</a:t>
            </a:r>
            <a:r>
              <a:rPr kumimoji="1" lang="zh-CN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endParaRPr kumimoji="1" lang="en-US" altLang="zh-CN" sz="1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en-US" altLang="zh-C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44037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041900"/>
            <a:ext cx="5978525" cy="1816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403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5" y="4787900"/>
            <a:ext cx="6054725" cy="2097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TextBox 15"/>
          <p:cNvSpPr txBox="1"/>
          <p:nvPr/>
        </p:nvSpPr>
        <p:spPr>
          <a:xfrm>
            <a:off x="8605838" y="5076825"/>
            <a:ext cx="477838" cy="307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>
              <a:buClrTx/>
              <a:buSzTx/>
              <a:buFontTx/>
              <a:buNone/>
              <a:defRPr/>
            </a:pPr>
            <a:r>
              <a:rPr kumimoji="0" lang="en-US" altLang="zh-CN" sz="1400" b="1" kern="1200" cap="none" spc="0" normalizeH="0" baseline="0" noProof="0" dirty="0">
                <a:solidFill>
                  <a:srgbClr val="FF0000"/>
                </a:solidFill>
                <a:latin typeface="+mn-ea"/>
                <a:ea typeface="+mn-ea"/>
                <a:cs typeface="+mn-cs"/>
              </a:rPr>
              <a:t>D1</a:t>
            </a:r>
            <a:endParaRPr kumimoji="0" lang="zh-CN" altLang="en-US" sz="1400" b="1" kern="1200" cap="none" spc="0" normalizeH="0" baseline="0" noProof="0" dirty="0">
              <a:solidFill>
                <a:srgbClr val="FF0000"/>
              </a:solidFill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20" name="Rectangle 2"/>
          <p:cNvSpPr/>
          <p:nvPr/>
        </p:nvSpPr>
        <p:spPr>
          <a:xfrm>
            <a:off x="963613" y="195263"/>
            <a:ext cx="10361612" cy="73501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例：简单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CPU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的运算电路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9221" name="Rectangle 3"/>
          <p:cNvSpPr/>
          <p:nvPr/>
        </p:nvSpPr>
        <p:spPr>
          <a:xfrm>
            <a:off x="330200" y="1371600"/>
            <a:ext cx="3895725" cy="31369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16</a:t>
            </a:r>
            <a:r>
              <a:rPr lang="zh-CN" altLang="en-US" sz="2000" b="1" dirty="0">
                <a:latin typeface="宋体" panose="02000500000000000000" pitchFamily="2" charset="-122"/>
              </a:rPr>
              <a:t>位</a:t>
            </a:r>
            <a:r>
              <a:rPr lang="en-US" altLang="zh-CN" sz="2000" b="1" dirty="0">
                <a:latin typeface="宋体" panose="02000500000000000000" pitchFamily="2" charset="-122"/>
              </a:rPr>
              <a:t>IR</a:t>
            </a:r>
            <a:endParaRPr lang="en-US" altLang="zh-CN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8</a:t>
            </a:r>
            <a:r>
              <a:rPr lang="zh-CN" altLang="en-US" sz="2000" b="1" dirty="0">
                <a:latin typeface="宋体" panose="02000500000000000000" pitchFamily="2" charset="-122"/>
              </a:rPr>
              <a:t>个</a:t>
            </a:r>
            <a:r>
              <a:rPr lang="en-US" altLang="zh-CN" sz="2000" b="1" dirty="0">
                <a:latin typeface="宋体" panose="02000500000000000000" pitchFamily="2" charset="-122"/>
              </a:rPr>
              <a:t>16</a:t>
            </a:r>
            <a:r>
              <a:rPr lang="zh-CN" altLang="en-US" sz="2000" b="1" dirty="0">
                <a:latin typeface="宋体" panose="02000500000000000000" pitchFamily="2" charset="-122"/>
              </a:rPr>
              <a:t>位</a:t>
            </a:r>
            <a:r>
              <a:rPr lang="en-US" altLang="zh-CN" sz="2000" b="1" dirty="0">
                <a:latin typeface="宋体" panose="02000500000000000000" pitchFamily="2" charset="-122"/>
              </a:rPr>
              <a:t>GPR</a:t>
            </a:r>
            <a:endParaRPr lang="en-US" altLang="zh-CN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4</a:t>
            </a:r>
            <a:r>
              <a:rPr lang="zh-CN" altLang="en-US" sz="2000" b="1" dirty="0">
                <a:latin typeface="宋体" panose="02000500000000000000" pitchFamily="2" charset="-122"/>
              </a:rPr>
              <a:t>位</a:t>
            </a:r>
            <a:r>
              <a:rPr lang="en-US" altLang="zh-CN" sz="2000" b="1" dirty="0">
                <a:latin typeface="宋体" panose="02000500000000000000" pitchFamily="2" charset="-122"/>
              </a:rPr>
              <a:t>OP</a:t>
            </a:r>
            <a:endParaRPr lang="en-US" altLang="zh-CN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三地址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har char="•"/>
            </a:pPr>
            <a:r>
              <a:rPr lang="en-US" altLang="zh-CN" sz="2000" b="1" dirty="0">
                <a:latin typeface="宋体" panose="02000500000000000000" pitchFamily="2" charset="-122"/>
              </a:rPr>
              <a:t>Load-store</a:t>
            </a:r>
            <a:r>
              <a:rPr lang="zh-CN" altLang="zh-CN" sz="2000" b="1" dirty="0">
                <a:latin typeface="宋体" panose="02000500000000000000" pitchFamily="2" charset="-122"/>
              </a:rPr>
              <a:t>结构</a:t>
            </a:r>
            <a:endParaRPr lang="zh-CN" altLang="zh-CN" sz="2000" b="1" dirty="0">
              <a:latin typeface="宋体" panose="02000500000000000000" pitchFamily="2" charset="-122"/>
            </a:endParaRPr>
          </a:p>
        </p:txBody>
      </p:sp>
      <p:grpSp>
        <p:nvGrpSpPr>
          <p:cNvPr id="9222" name="Group 4"/>
          <p:cNvGrpSpPr/>
          <p:nvPr/>
        </p:nvGrpSpPr>
        <p:grpSpPr>
          <a:xfrm>
            <a:off x="3532188" y="1027113"/>
            <a:ext cx="8461375" cy="5678487"/>
            <a:chOff x="1669" y="743"/>
            <a:chExt cx="3998" cy="3577"/>
          </a:xfrm>
        </p:grpSpPr>
        <p:grpSp>
          <p:nvGrpSpPr>
            <p:cNvPr id="9223" name="Group 5"/>
            <p:cNvGrpSpPr/>
            <p:nvPr/>
          </p:nvGrpSpPr>
          <p:grpSpPr>
            <a:xfrm>
              <a:off x="3982" y="2486"/>
              <a:ext cx="1457" cy="160"/>
              <a:chOff x="397" y="725"/>
              <a:chExt cx="1340" cy="160"/>
            </a:xfrm>
          </p:grpSpPr>
          <p:grpSp>
            <p:nvGrpSpPr>
              <p:cNvPr id="9381" name="Group 6"/>
              <p:cNvGrpSpPr/>
              <p:nvPr/>
            </p:nvGrpSpPr>
            <p:grpSpPr>
              <a:xfrm>
                <a:off x="397" y="725"/>
                <a:ext cx="1340" cy="160"/>
                <a:chOff x="397" y="725"/>
                <a:chExt cx="1340" cy="160"/>
              </a:xfrm>
            </p:grpSpPr>
            <p:grpSp>
              <p:nvGrpSpPr>
                <p:cNvPr id="9384" name="Group 7"/>
                <p:cNvGrpSpPr/>
                <p:nvPr/>
              </p:nvGrpSpPr>
              <p:grpSpPr>
                <a:xfrm>
                  <a:off x="397" y="725"/>
                  <a:ext cx="1340" cy="160"/>
                  <a:chOff x="413" y="959"/>
                  <a:chExt cx="1340" cy="160"/>
                </a:xfrm>
              </p:grpSpPr>
              <p:sp>
                <p:nvSpPr>
                  <p:cNvPr id="9387" name="Text Box 8"/>
                  <p:cNvSpPr txBox="1"/>
                  <p:nvPr/>
                </p:nvSpPr>
                <p:spPr>
                  <a:xfrm>
                    <a:off x="460" y="959"/>
                    <a:ext cx="1293" cy="16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1600" dirty="0">
                        <a:latin typeface="Times New Roman" pitchFamily="18" charset="0"/>
                      </a:rPr>
                      <a:t>R0</a:t>
                    </a:r>
                    <a:endParaRPr lang="en-US" altLang="zh-CN" sz="160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9388" name="Oval 9"/>
                  <p:cNvSpPr/>
                  <p:nvPr/>
                </p:nvSpPr>
                <p:spPr>
                  <a:xfrm>
                    <a:off x="413" y="1012"/>
                    <a:ext cx="47" cy="4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9385" name="Text Box 10"/>
                <p:cNvSpPr txBox="1"/>
                <p:nvPr/>
              </p:nvSpPr>
              <p:spPr>
                <a:xfrm>
                  <a:off x="484" y="756"/>
                  <a:ext cx="125" cy="1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200" dirty="0">
                      <a:latin typeface="Times New Roman" pitchFamily="18" charset="0"/>
                    </a:rPr>
                    <a:t>en</a:t>
                  </a:r>
                  <a:endParaRPr lang="en-US" altLang="zh-CN" sz="1200" dirty="0">
                    <a:latin typeface="Times New Roman" pitchFamily="18" charset="0"/>
                  </a:endParaRPr>
                </a:p>
              </p:txBody>
            </p:sp>
            <p:sp>
              <p:nvSpPr>
                <p:cNvPr id="9386" name="Line 11"/>
                <p:cNvSpPr/>
                <p:nvPr/>
              </p:nvSpPr>
              <p:spPr>
                <a:xfrm>
                  <a:off x="476" y="772"/>
                  <a:ext cx="1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382" name="Text Box 12"/>
              <p:cNvSpPr txBox="1"/>
              <p:nvPr/>
            </p:nvSpPr>
            <p:spPr>
              <a:xfrm>
                <a:off x="1506" y="747"/>
                <a:ext cx="203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000" dirty="0">
                    <a:latin typeface="Times New Roman" pitchFamily="18" charset="0"/>
                  </a:rPr>
                  <a:t>CLK</a:t>
                </a:r>
                <a:endParaRPr lang="en-US" altLang="zh-CN" sz="1200" dirty="0">
                  <a:latin typeface="Times New Roman" pitchFamily="18" charset="0"/>
                </a:endParaRPr>
              </a:p>
            </p:txBody>
          </p:sp>
          <p:sp>
            <p:nvSpPr>
              <p:cNvPr id="9383" name="AutoShape 13"/>
              <p:cNvSpPr/>
              <p:nvPr/>
            </p:nvSpPr>
            <p:spPr>
              <a:xfrm rot="-5400000">
                <a:off x="1657" y="760"/>
                <a:ext cx="79" cy="7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9224" name="Group 14"/>
            <p:cNvGrpSpPr/>
            <p:nvPr/>
          </p:nvGrpSpPr>
          <p:grpSpPr>
            <a:xfrm>
              <a:off x="3982" y="2646"/>
              <a:ext cx="1457" cy="160"/>
              <a:chOff x="397" y="725"/>
              <a:chExt cx="1340" cy="160"/>
            </a:xfrm>
          </p:grpSpPr>
          <p:grpSp>
            <p:nvGrpSpPr>
              <p:cNvPr id="9373" name="Group 15"/>
              <p:cNvGrpSpPr/>
              <p:nvPr/>
            </p:nvGrpSpPr>
            <p:grpSpPr>
              <a:xfrm>
                <a:off x="397" y="725"/>
                <a:ext cx="1340" cy="160"/>
                <a:chOff x="397" y="725"/>
                <a:chExt cx="1340" cy="160"/>
              </a:xfrm>
            </p:grpSpPr>
            <p:grpSp>
              <p:nvGrpSpPr>
                <p:cNvPr id="9376" name="Group 16"/>
                <p:cNvGrpSpPr/>
                <p:nvPr/>
              </p:nvGrpSpPr>
              <p:grpSpPr>
                <a:xfrm>
                  <a:off x="397" y="725"/>
                  <a:ext cx="1340" cy="160"/>
                  <a:chOff x="413" y="959"/>
                  <a:chExt cx="1340" cy="160"/>
                </a:xfrm>
              </p:grpSpPr>
              <p:sp>
                <p:nvSpPr>
                  <p:cNvPr id="9379" name="Text Box 17"/>
                  <p:cNvSpPr txBox="1"/>
                  <p:nvPr/>
                </p:nvSpPr>
                <p:spPr>
                  <a:xfrm>
                    <a:off x="460" y="959"/>
                    <a:ext cx="1293" cy="16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1600" dirty="0">
                        <a:latin typeface="Times New Roman" pitchFamily="18" charset="0"/>
                      </a:rPr>
                      <a:t>R1</a:t>
                    </a:r>
                    <a:endParaRPr lang="en-US" altLang="zh-CN" sz="160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9380" name="Oval 18"/>
                  <p:cNvSpPr/>
                  <p:nvPr/>
                </p:nvSpPr>
                <p:spPr>
                  <a:xfrm>
                    <a:off x="413" y="1012"/>
                    <a:ext cx="47" cy="4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9377" name="Text Box 19"/>
                <p:cNvSpPr txBox="1"/>
                <p:nvPr/>
              </p:nvSpPr>
              <p:spPr>
                <a:xfrm>
                  <a:off x="484" y="756"/>
                  <a:ext cx="125" cy="1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200" dirty="0">
                      <a:latin typeface="Times New Roman" pitchFamily="18" charset="0"/>
                    </a:rPr>
                    <a:t>en</a:t>
                  </a:r>
                  <a:endParaRPr lang="en-US" altLang="zh-CN" sz="1200" dirty="0">
                    <a:latin typeface="Times New Roman" pitchFamily="18" charset="0"/>
                  </a:endParaRPr>
                </a:p>
              </p:txBody>
            </p:sp>
            <p:sp>
              <p:nvSpPr>
                <p:cNvPr id="9378" name="Line 20"/>
                <p:cNvSpPr/>
                <p:nvPr/>
              </p:nvSpPr>
              <p:spPr>
                <a:xfrm>
                  <a:off x="476" y="772"/>
                  <a:ext cx="1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374" name="Text Box 21"/>
              <p:cNvSpPr txBox="1"/>
              <p:nvPr/>
            </p:nvSpPr>
            <p:spPr>
              <a:xfrm>
                <a:off x="1506" y="747"/>
                <a:ext cx="203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000" dirty="0">
                    <a:latin typeface="Times New Roman" pitchFamily="18" charset="0"/>
                  </a:rPr>
                  <a:t>CLK</a:t>
                </a:r>
                <a:endParaRPr lang="en-US" altLang="zh-CN" sz="1200" dirty="0">
                  <a:latin typeface="Times New Roman" pitchFamily="18" charset="0"/>
                </a:endParaRPr>
              </a:p>
            </p:txBody>
          </p:sp>
          <p:sp>
            <p:nvSpPr>
              <p:cNvPr id="9375" name="AutoShape 22"/>
              <p:cNvSpPr/>
              <p:nvPr/>
            </p:nvSpPr>
            <p:spPr>
              <a:xfrm rot="-5400000">
                <a:off x="1657" y="760"/>
                <a:ext cx="79" cy="7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9225" name="Group 23"/>
            <p:cNvGrpSpPr/>
            <p:nvPr/>
          </p:nvGrpSpPr>
          <p:grpSpPr>
            <a:xfrm>
              <a:off x="3980" y="2809"/>
              <a:ext cx="1457" cy="160"/>
              <a:chOff x="397" y="725"/>
              <a:chExt cx="1340" cy="160"/>
            </a:xfrm>
          </p:grpSpPr>
          <p:grpSp>
            <p:nvGrpSpPr>
              <p:cNvPr id="9365" name="Group 24"/>
              <p:cNvGrpSpPr/>
              <p:nvPr/>
            </p:nvGrpSpPr>
            <p:grpSpPr>
              <a:xfrm>
                <a:off x="397" y="725"/>
                <a:ext cx="1340" cy="160"/>
                <a:chOff x="397" y="725"/>
                <a:chExt cx="1340" cy="160"/>
              </a:xfrm>
            </p:grpSpPr>
            <p:grpSp>
              <p:nvGrpSpPr>
                <p:cNvPr id="9368" name="Group 25"/>
                <p:cNvGrpSpPr/>
                <p:nvPr/>
              </p:nvGrpSpPr>
              <p:grpSpPr>
                <a:xfrm>
                  <a:off x="397" y="725"/>
                  <a:ext cx="1340" cy="160"/>
                  <a:chOff x="413" y="959"/>
                  <a:chExt cx="1340" cy="160"/>
                </a:xfrm>
              </p:grpSpPr>
              <p:sp>
                <p:nvSpPr>
                  <p:cNvPr id="9371" name="Text Box 26"/>
                  <p:cNvSpPr txBox="1"/>
                  <p:nvPr/>
                </p:nvSpPr>
                <p:spPr>
                  <a:xfrm>
                    <a:off x="460" y="959"/>
                    <a:ext cx="1293" cy="16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1600" dirty="0">
                        <a:latin typeface="Times New Roman" pitchFamily="18" charset="0"/>
                      </a:rPr>
                      <a:t>R2</a:t>
                    </a:r>
                    <a:endParaRPr lang="en-US" altLang="zh-CN" sz="160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9372" name="Oval 27"/>
                  <p:cNvSpPr/>
                  <p:nvPr/>
                </p:nvSpPr>
                <p:spPr>
                  <a:xfrm>
                    <a:off x="413" y="1012"/>
                    <a:ext cx="47" cy="4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9369" name="Text Box 28"/>
                <p:cNvSpPr txBox="1"/>
                <p:nvPr/>
              </p:nvSpPr>
              <p:spPr>
                <a:xfrm>
                  <a:off x="484" y="756"/>
                  <a:ext cx="125" cy="1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200" dirty="0">
                      <a:latin typeface="Times New Roman" pitchFamily="18" charset="0"/>
                    </a:rPr>
                    <a:t>en</a:t>
                  </a:r>
                  <a:endParaRPr lang="en-US" altLang="zh-CN" sz="1200" dirty="0">
                    <a:latin typeface="Times New Roman" pitchFamily="18" charset="0"/>
                  </a:endParaRPr>
                </a:p>
              </p:txBody>
            </p:sp>
            <p:sp>
              <p:nvSpPr>
                <p:cNvPr id="9370" name="Line 29"/>
                <p:cNvSpPr/>
                <p:nvPr/>
              </p:nvSpPr>
              <p:spPr>
                <a:xfrm>
                  <a:off x="476" y="772"/>
                  <a:ext cx="1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366" name="Text Box 30"/>
              <p:cNvSpPr txBox="1"/>
              <p:nvPr/>
            </p:nvSpPr>
            <p:spPr>
              <a:xfrm>
                <a:off x="1506" y="747"/>
                <a:ext cx="203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000" dirty="0">
                    <a:latin typeface="Times New Roman" pitchFamily="18" charset="0"/>
                  </a:rPr>
                  <a:t>CLK</a:t>
                </a:r>
                <a:endParaRPr lang="en-US" altLang="zh-CN" sz="1200" dirty="0">
                  <a:latin typeface="Times New Roman" pitchFamily="18" charset="0"/>
                </a:endParaRPr>
              </a:p>
            </p:txBody>
          </p:sp>
          <p:sp>
            <p:nvSpPr>
              <p:cNvPr id="9367" name="AutoShape 31"/>
              <p:cNvSpPr/>
              <p:nvPr/>
            </p:nvSpPr>
            <p:spPr>
              <a:xfrm rot="-5400000">
                <a:off x="1657" y="760"/>
                <a:ext cx="79" cy="7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9226" name="Group 32"/>
            <p:cNvGrpSpPr/>
            <p:nvPr/>
          </p:nvGrpSpPr>
          <p:grpSpPr>
            <a:xfrm>
              <a:off x="3982" y="2972"/>
              <a:ext cx="1457" cy="160"/>
              <a:chOff x="397" y="725"/>
              <a:chExt cx="1340" cy="160"/>
            </a:xfrm>
          </p:grpSpPr>
          <p:grpSp>
            <p:nvGrpSpPr>
              <p:cNvPr id="9357" name="Group 33"/>
              <p:cNvGrpSpPr/>
              <p:nvPr/>
            </p:nvGrpSpPr>
            <p:grpSpPr>
              <a:xfrm>
                <a:off x="397" y="725"/>
                <a:ext cx="1340" cy="160"/>
                <a:chOff x="397" y="725"/>
                <a:chExt cx="1340" cy="160"/>
              </a:xfrm>
            </p:grpSpPr>
            <p:grpSp>
              <p:nvGrpSpPr>
                <p:cNvPr id="9360" name="Group 34"/>
                <p:cNvGrpSpPr/>
                <p:nvPr/>
              </p:nvGrpSpPr>
              <p:grpSpPr>
                <a:xfrm>
                  <a:off x="397" y="725"/>
                  <a:ext cx="1340" cy="160"/>
                  <a:chOff x="413" y="959"/>
                  <a:chExt cx="1340" cy="160"/>
                </a:xfrm>
              </p:grpSpPr>
              <p:sp>
                <p:nvSpPr>
                  <p:cNvPr id="9363" name="Text Box 35"/>
                  <p:cNvSpPr txBox="1"/>
                  <p:nvPr/>
                </p:nvSpPr>
                <p:spPr>
                  <a:xfrm>
                    <a:off x="460" y="959"/>
                    <a:ext cx="1293" cy="16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1600" dirty="0">
                        <a:latin typeface="Times New Roman" pitchFamily="18" charset="0"/>
                      </a:rPr>
                      <a:t>R3</a:t>
                    </a:r>
                    <a:endParaRPr lang="en-US" altLang="zh-CN" sz="160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9364" name="Oval 36"/>
                  <p:cNvSpPr/>
                  <p:nvPr/>
                </p:nvSpPr>
                <p:spPr>
                  <a:xfrm>
                    <a:off x="413" y="1012"/>
                    <a:ext cx="47" cy="4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9361" name="Text Box 37"/>
                <p:cNvSpPr txBox="1"/>
                <p:nvPr/>
              </p:nvSpPr>
              <p:spPr>
                <a:xfrm>
                  <a:off x="484" y="756"/>
                  <a:ext cx="125" cy="1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200" dirty="0">
                      <a:latin typeface="Times New Roman" pitchFamily="18" charset="0"/>
                    </a:rPr>
                    <a:t>en</a:t>
                  </a:r>
                  <a:endParaRPr lang="en-US" altLang="zh-CN" sz="1200" dirty="0">
                    <a:latin typeface="Times New Roman" pitchFamily="18" charset="0"/>
                  </a:endParaRPr>
                </a:p>
              </p:txBody>
            </p:sp>
            <p:sp>
              <p:nvSpPr>
                <p:cNvPr id="9362" name="Line 38"/>
                <p:cNvSpPr/>
                <p:nvPr/>
              </p:nvSpPr>
              <p:spPr>
                <a:xfrm>
                  <a:off x="476" y="772"/>
                  <a:ext cx="1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358" name="Text Box 39"/>
              <p:cNvSpPr txBox="1"/>
              <p:nvPr/>
            </p:nvSpPr>
            <p:spPr>
              <a:xfrm>
                <a:off x="1506" y="747"/>
                <a:ext cx="203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000" dirty="0">
                    <a:latin typeface="Times New Roman" pitchFamily="18" charset="0"/>
                  </a:rPr>
                  <a:t>CLK</a:t>
                </a:r>
                <a:endParaRPr lang="en-US" altLang="zh-CN" sz="1200" dirty="0">
                  <a:latin typeface="Times New Roman" pitchFamily="18" charset="0"/>
                </a:endParaRPr>
              </a:p>
            </p:txBody>
          </p:sp>
          <p:sp>
            <p:nvSpPr>
              <p:cNvPr id="9359" name="AutoShape 40"/>
              <p:cNvSpPr/>
              <p:nvPr/>
            </p:nvSpPr>
            <p:spPr>
              <a:xfrm rot="-5400000">
                <a:off x="1657" y="760"/>
                <a:ext cx="79" cy="7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9227" name="Group 41"/>
            <p:cNvGrpSpPr/>
            <p:nvPr/>
          </p:nvGrpSpPr>
          <p:grpSpPr>
            <a:xfrm>
              <a:off x="3982" y="3132"/>
              <a:ext cx="1457" cy="160"/>
              <a:chOff x="397" y="725"/>
              <a:chExt cx="1340" cy="160"/>
            </a:xfrm>
          </p:grpSpPr>
          <p:grpSp>
            <p:nvGrpSpPr>
              <p:cNvPr id="9349" name="Group 42"/>
              <p:cNvGrpSpPr/>
              <p:nvPr/>
            </p:nvGrpSpPr>
            <p:grpSpPr>
              <a:xfrm>
                <a:off x="397" y="725"/>
                <a:ext cx="1340" cy="160"/>
                <a:chOff x="397" y="725"/>
                <a:chExt cx="1340" cy="160"/>
              </a:xfrm>
            </p:grpSpPr>
            <p:grpSp>
              <p:nvGrpSpPr>
                <p:cNvPr id="9352" name="Group 43"/>
                <p:cNvGrpSpPr/>
                <p:nvPr/>
              </p:nvGrpSpPr>
              <p:grpSpPr>
                <a:xfrm>
                  <a:off x="397" y="725"/>
                  <a:ext cx="1340" cy="160"/>
                  <a:chOff x="413" y="959"/>
                  <a:chExt cx="1340" cy="160"/>
                </a:xfrm>
              </p:grpSpPr>
              <p:sp>
                <p:nvSpPr>
                  <p:cNvPr id="9355" name="Text Box 44"/>
                  <p:cNvSpPr txBox="1"/>
                  <p:nvPr/>
                </p:nvSpPr>
                <p:spPr>
                  <a:xfrm>
                    <a:off x="460" y="959"/>
                    <a:ext cx="1293" cy="16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1600" dirty="0">
                        <a:latin typeface="Times New Roman" pitchFamily="18" charset="0"/>
                      </a:rPr>
                      <a:t>R4</a:t>
                    </a:r>
                    <a:endParaRPr lang="en-US" altLang="zh-CN" sz="160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9356" name="Oval 45"/>
                  <p:cNvSpPr/>
                  <p:nvPr/>
                </p:nvSpPr>
                <p:spPr>
                  <a:xfrm>
                    <a:off x="413" y="1012"/>
                    <a:ext cx="47" cy="4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9353" name="Text Box 46"/>
                <p:cNvSpPr txBox="1"/>
                <p:nvPr/>
              </p:nvSpPr>
              <p:spPr>
                <a:xfrm>
                  <a:off x="484" y="756"/>
                  <a:ext cx="125" cy="1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200" dirty="0">
                      <a:latin typeface="Times New Roman" pitchFamily="18" charset="0"/>
                    </a:rPr>
                    <a:t>en</a:t>
                  </a:r>
                  <a:endParaRPr lang="en-US" altLang="zh-CN" sz="1200" dirty="0">
                    <a:latin typeface="Times New Roman" pitchFamily="18" charset="0"/>
                  </a:endParaRPr>
                </a:p>
              </p:txBody>
            </p:sp>
            <p:sp>
              <p:nvSpPr>
                <p:cNvPr id="9354" name="Line 47"/>
                <p:cNvSpPr/>
                <p:nvPr/>
              </p:nvSpPr>
              <p:spPr>
                <a:xfrm>
                  <a:off x="476" y="772"/>
                  <a:ext cx="1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350" name="Text Box 48"/>
              <p:cNvSpPr txBox="1"/>
              <p:nvPr/>
            </p:nvSpPr>
            <p:spPr>
              <a:xfrm>
                <a:off x="1506" y="747"/>
                <a:ext cx="203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000" dirty="0">
                    <a:latin typeface="Times New Roman" pitchFamily="18" charset="0"/>
                  </a:rPr>
                  <a:t>CLK</a:t>
                </a:r>
                <a:endParaRPr lang="en-US" altLang="zh-CN" sz="1200" dirty="0">
                  <a:latin typeface="Times New Roman" pitchFamily="18" charset="0"/>
                </a:endParaRPr>
              </a:p>
            </p:txBody>
          </p:sp>
          <p:sp>
            <p:nvSpPr>
              <p:cNvPr id="9351" name="AutoShape 49"/>
              <p:cNvSpPr/>
              <p:nvPr/>
            </p:nvSpPr>
            <p:spPr>
              <a:xfrm rot="-5400000">
                <a:off x="1657" y="760"/>
                <a:ext cx="79" cy="7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9228" name="Group 50"/>
            <p:cNvGrpSpPr/>
            <p:nvPr/>
          </p:nvGrpSpPr>
          <p:grpSpPr>
            <a:xfrm>
              <a:off x="3982" y="3292"/>
              <a:ext cx="1457" cy="160"/>
              <a:chOff x="397" y="725"/>
              <a:chExt cx="1340" cy="160"/>
            </a:xfrm>
          </p:grpSpPr>
          <p:grpSp>
            <p:nvGrpSpPr>
              <p:cNvPr id="9341" name="Group 51"/>
              <p:cNvGrpSpPr/>
              <p:nvPr/>
            </p:nvGrpSpPr>
            <p:grpSpPr>
              <a:xfrm>
                <a:off x="397" y="725"/>
                <a:ext cx="1340" cy="160"/>
                <a:chOff x="397" y="725"/>
                <a:chExt cx="1340" cy="160"/>
              </a:xfrm>
            </p:grpSpPr>
            <p:grpSp>
              <p:nvGrpSpPr>
                <p:cNvPr id="9344" name="Group 52"/>
                <p:cNvGrpSpPr/>
                <p:nvPr/>
              </p:nvGrpSpPr>
              <p:grpSpPr>
                <a:xfrm>
                  <a:off x="397" y="725"/>
                  <a:ext cx="1340" cy="160"/>
                  <a:chOff x="413" y="959"/>
                  <a:chExt cx="1340" cy="160"/>
                </a:xfrm>
              </p:grpSpPr>
              <p:sp>
                <p:nvSpPr>
                  <p:cNvPr id="9347" name="Text Box 53"/>
                  <p:cNvSpPr txBox="1"/>
                  <p:nvPr/>
                </p:nvSpPr>
                <p:spPr>
                  <a:xfrm>
                    <a:off x="460" y="959"/>
                    <a:ext cx="1293" cy="16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1600" dirty="0">
                        <a:latin typeface="Times New Roman" pitchFamily="18" charset="0"/>
                      </a:rPr>
                      <a:t>R5</a:t>
                    </a:r>
                    <a:endParaRPr lang="en-US" altLang="zh-CN" sz="160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9348" name="Oval 54"/>
                  <p:cNvSpPr/>
                  <p:nvPr/>
                </p:nvSpPr>
                <p:spPr>
                  <a:xfrm>
                    <a:off x="413" y="1012"/>
                    <a:ext cx="47" cy="4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9345" name="Text Box 55"/>
                <p:cNvSpPr txBox="1"/>
                <p:nvPr/>
              </p:nvSpPr>
              <p:spPr>
                <a:xfrm>
                  <a:off x="484" y="756"/>
                  <a:ext cx="125" cy="1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200" dirty="0">
                      <a:latin typeface="Times New Roman" pitchFamily="18" charset="0"/>
                    </a:rPr>
                    <a:t>en</a:t>
                  </a:r>
                  <a:endParaRPr lang="en-US" altLang="zh-CN" sz="1200" dirty="0">
                    <a:latin typeface="Times New Roman" pitchFamily="18" charset="0"/>
                  </a:endParaRPr>
                </a:p>
              </p:txBody>
            </p:sp>
            <p:sp>
              <p:nvSpPr>
                <p:cNvPr id="9346" name="Line 56"/>
                <p:cNvSpPr/>
                <p:nvPr/>
              </p:nvSpPr>
              <p:spPr>
                <a:xfrm>
                  <a:off x="476" y="772"/>
                  <a:ext cx="1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342" name="Text Box 57"/>
              <p:cNvSpPr txBox="1"/>
              <p:nvPr/>
            </p:nvSpPr>
            <p:spPr>
              <a:xfrm>
                <a:off x="1506" y="747"/>
                <a:ext cx="203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000" dirty="0">
                    <a:latin typeface="Times New Roman" pitchFamily="18" charset="0"/>
                  </a:rPr>
                  <a:t>CLK</a:t>
                </a:r>
                <a:endParaRPr lang="en-US" altLang="zh-CN" sz="1200" dirty="0">
                  <a:latin typeface="Times New Roman" pitchFamily="18" charset="0"/>
                </a:endParaRPr>
              </a:p>
            </p:txBody>
          </p:sp>
          <p:sp>
            <p:nvSpPr>
              <p:cNvPr id="9343" name="AutoShape 58"/>
              <p:cNvSpPr/>
              <p:nvPr/>
            </p:nvSpPr>
            <p:spPr>
              <a:xfrm rot="-5400000">
                <a:off x="1657" y="760"/>
                <a:ext cx="79" cy="7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9229" name="Group 59"/>
            <p:cNvGrpSpPr/>
            <p:nvPr/>
          </p:nvGrpSpPr>
          <p:grpSpPr>
            <a:xfrm>
              <a:off x="3980" y="3449"/>
              <a:ext cx="1457" cy="160"/>
              <a:chOff x="397" y="725"/>
              <a:chExt cx="1340" cy="160"/>
            </a:xfrm>
          </p:grpSpPr>
          <p:grpSp>
            <p:nvGrpSpPr>
              <p:cNvPr id="9333" name="Group 60"/>
              <p:cNvGrpSpPr/>
              <p:nvPr/>
            </p:nvGrpSpPr>
            <p:grpSpPr>
              <a:xfrm>
                <a:off x="397" y="725"/>
                <a:ext cx="1340" cy="160"/>
                <a:chOff x="397" y="725"/>
                <a:chExt cx="1340" cy="160"/>
              </a:xfrm>
            </p:grpSpPr>
            <p:grpSp>
              <p:nvGrpSpPr>
                <p:cNvPr id="9336" name="Group 61"/>
                <p:cNvGrpSpPr/>
                <p:nvPr/>
              </p:nvGrpSpPr>
              <p:grpSpPr>
                <a:xfrm>
                  <a:off x="397" y="725"/>
                  <a:ext cx="1340" cy="160"/>
                  <a:chOff x="413" y="959"/>
                  <a:chExt cx="1340" cy="160"/>
                </a:xfrm>
              </p:grpSpPr>
              <p:sp>
                <p:nvSpPr>
                  <p:cNvPr id="9339" name="Text Box 62"/>
                  <p:cNvSpPr txBox="1"/>
                  <p:nvPr/>
                </p:nvSpPr>
                <p:spPr>
                  <a:xfrm>
                    <a:off x="460" y="959"/>
                    <a:ext cx="1293" cy="16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1600" dirty="0">
                        <a:latin typeface="Times New Roman" pitchFamily="18" charset="0"/>
                      </a:rPr>
                      <a:t>R6</a:t>
                    </a:r>
                    <a:endParaRPr lang="en-US" altLang="zh-CN" sz="160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9340" name="Oval 63"/>
                  <p:cNvSpPr/>
                  <p:nvPr/>
                </p:nvSpPr>
                <p:spPr>
                  <a:xfrm>
                    <a:off x="413" y="1012"/>
                    <a:ext cx="47" cy="4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9337" name="Text Box 64"/>
                <p:cNvSpPr txBox="1"/>
                <p:nvPr/>
              </p:nvSpPr>
              <p:spPr>
                <a:xfrm>
                  <a:off x="484" y="756"/>
                  <a:ext cx="125" cy="1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200" dirty="0">
                      <a:latin typeface="Times New Roman" pitchFamily="18" charset="0"/>
                    </a:rPr>
                    <a:t>en</a:t>
                  </a:r>
                  <a:endParaRPr lang="en-US" altLang="zh-CN" sz="1200" dirty="0">
                    <a:latin typeface="Times New Roman" pitchFamily="18" charset="0"/>
                  </a:endParaRPr>
                </a:p>
              </p:txBody>
            </p:sp>
            <p:sp>
              <p:nvSpPr>
                <p:cNvPr id="9338" name="Line 65"/>
                <p:cNvSpPr/>
                <p:nvPr/>
              </p:nvSpPr>
              <p:spPr>
                <a:xfrm>
                  <a:off x="476" y="772"/>
                  <a:ext cx="1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334" name="Text Box 66"/>
              <p:cNvSpPr txBox="1"/>
              <p:nvPr/>
            </p:nvSpPr>
            <p:spPr>
              <a:xfrm>
                <a:off x="1506" y="747"/>
                <a:ext cx="203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000" dirty="0">
                    <a:latin typeface="Times New Roman" pitchFamily="18" charset="0"/>
                  </a:rPr>
                  <a:t>CLK</a:t>
                </a:r>
                <a:endParaRPr lang="en-US" altLang="zh-CN" sz="1200" dirty="0">
                  <a:latin typeface="Times New Roman" pitchFamily="18" charset="0"/>
                </a:endParaRPr>
              </a:p>
            </p:txBody>
          </p:sp>
          <p:sp>
            <p:nvSpPr>
              <p:cNvPr id="9335" name="AutoShape 67"/>
              <p:cNvSpPr/>
              <p:nvPr/>
            </p:nvSpPr>
            <p:spPr>
              <a:xfrm rot="-5400000">
                <a:off x="1657" y="760"/>
                <a:ext cx="79" cy="7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grpSp>
          <p:nvGrpSpPr>
            <p:cNvPr id="9230" name="Group 68"/>
            <p:cNvGrpSpPr/>
            <p:nvPr/>
          </p:nvGrpSpPr>
          <p:grpSpPr>
            <a:xfrm>
              <a:off x="3982" y="3612"/>
              <a:ext cx="1457" cy="160"/>
              <a:chOff x="397" y="725"/>
              <a:chExt cx="1340" cy="160"/>
            </a:xfrm>
          </p:grpSpPr>
          <p:grpSp>
            <p:nvGrpSpPr>
              <p:cNvPr id="9325" name="Group 69"/>
              <p:cNvGrpSpPr/>
              <p:nvPr/>
            </p:nvGrpSpPr>
            <p:grpSpPr>
              <a:xfrm>
                <a:off x="397" y="725"/>
                <a:ext cx="1340" cy="160"/>
                <a:chOff x="397" y="725"/>
                <a:chExt cx="1340" cy="160"/>
              </a:xfrm>
            </p:grpSpPr>
            <p:grpSp>
              <p:nvGrpSpPr>
                <p:cNvPr id="9328" name="Group 70"/>
                <p:cNvGrpSpPr/>
                <p:nvPr/>
              </p:nvGrpSpPr>
              <p:grpSpPr>
                <a:xfrm>
                  <a:off x="397" y="725"/>
                  <a:ext cx="1340" cy="160"/>
                  <a:chOff x="413" y="959"/>
                  <a:chExt cx="1340" cy="160"/>
                </a:xfrm>
              </p:grpSpPr>
              <p:sp>
                <p:nvSpPr>
                  <p:cNvPr id="9331" name="Text Box 71"/>
                  <p:cNvSpPr txBox="1"/>
                  <p:nvPr/>
                </p:nvSpPr>
                <p:spPr>
                  <a:xfrm>
                    <a:off x="460" y="959"/>
                    <a:ext cx="1293" cy="16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lIns="0" tIns="0" rIns="0" bIns="0">
                    <a:spAutoFit/>
                  </a:bodyPr>
                  <a:p>
                    <a:pPr algn="ctr">
                      <a:spcBef>
                        <a:spcPct val="50000"/>
                      </a:spcBef>
                    </a:pPr>
                    <a:r>
                      <a:rPr lang="en-US" altLang="zh-CN" sz="1600" dirty="0">
                        <a:latin typeface="Times New Roman" pitchFamily="18" charset="0"/>
                      </a:rPr>
                      <a:t>R7</a:t>
                    </a:r>
                    <a:endParaRPr lang="en-US" altLang="zh-CN" sz="1600" dirty="0">
                      <a:latin typeface="Times New Roman" pitchFamily="18" charset="0"/>
                    </a:endParaRPr>
                  </a:p>
                </p:txBody>
              </p:sp>
              <p:sp>
                <p:nvSpPr>
                  <p:cNvPr id="9332" name="Oval 72"/>
                  <p:cNvSpPr/>
                  <p:nvPr/>
                </p:nvSpPr>
                <p:spPr>
                  <a:xfrm>
                    <a:off x="413" y="1012"/>
                    <a:ext cx="47" cy="47"/>
                  </a:xfrm>
                  <a:prstGeom prst="ellipse">
                    <a:avLst/>
                  </a:prstGeom>
                  <a:noFill/>
                  <a:ln w="9525" cap="flat" cmpd="sng"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p>
                    <a:endParaRPr lang="zh-CN" altLang="en-US" dirty="0">
                      <a:latin typeface="Times New Roman" pitchFamily="18" charset="0"/>
                    </a:endParaRPr>
                  </a:p>
                </p:txBody>
              </p:sp>
            </p:grpSp>
            <p:sp>
              <p:nvSpPr>
                <p:cNvPr id="9329" name="Text Box 73"/>
                <p:cNvSpPr txBox="1"/>
                <p:nvPr/>
              </p:nvSpPr>
              <p:spPr>
                <a:xfrm>
                  <a:off x="484" y="756"/>
                  <a:ext cx="125" cy="1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0" tIns="0" rIns="0" bIns="0">
                  <a:spAutoFit/>
                </a:bodyPr>
                <a:p>
                  <a:pPr>
                    <a:spcBef>
                      <a:spcPct val="50000"/>
                    </a:spcBef>
                  </a:pPr>
                  <a:r>
                    <a:rPr lang="en-US" altLang="zh-CN" sz="1200" dirty="0">
                      <a:latin typeface="Times New Roman" pitchFamily="18" charset="0"/>
                    </a:rPr>
                    <a:t>en</a:t>
                  </a:r>
                  <a:endParaRPr lang="en-US" altLang="zh-CN" sz="1200" dirty="0">
                    <a:latin typeface="Times New Roman" pitchFamily="18" charset="0"/>
                  </a:endParaRPr>
                </a:p>
              </p:txBody>
            </p:sp>
            <p:sp>
              <p:nvSpPr>
                <p:cNvPr id="9330" name="Line 74"/>
                <p:cNvSpPr/>
                <p:nvPr/>
              </p:nvSpPr>
              <p:spPr>
                <a:xfrm>
                  <a:off x="476" y="772"/>
                  <a:ext cx="10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9326" name="Text Box 75"/>
              <p:cNvSpPr txBox="1"/>
              <p:nvPr/>
            </p:nvSpPr>
            <p:spPr>
              <a:xfrm>
                <a:off x="1506" y="747"/>
                <a:ext cx="203" cy="9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en-US" altLang="zh-CN" sz="1000" dirty="0">
                    <a:latin typeface="Times New Roman" pitchFamily="18" charset="0"/>
                  </a:rPr>
                  <a:t>CLK</a:t>
                </a:r>
                <a:endParaRPr lang="en-US" altLang="zh-CN" sz="1200" dirty="0">
                  <a:latin typeface="Times New Roman" pitchFamily="18" charset="0"/>
                </a:endParaRPr>
              </a:p>
            </p:txBody>
          </p:sp>
          <p:sp>
            <p:nvSpPr>
              <p:cNvPr id="9327" name="AutoShape 76"/>
              <p:cNvSpPr/>
              <p:nvPr/>
            </p:nvSpPr>
            <p:spPr>
              <a:xfrm rot="-5400000">
                <a:off x="1657" y="760"/>
                <a:ext cx="79" cy="70"/>
              </a:xfrm>
              <a:prstGeom prst="triangle">
                <a:avLst>
                  <a:gd name="adj" fmla="val 50000"/>
                </a:avLst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</p:grpSp>
        <p:sp>
          <p:nvSpPr>
            <p:cNvPr id="9231" name="Line 77"/>
            <p:cNvSpPr/>
            <p:nvPr/>
          </p:nvSpPr>
          <p:spPr>
            <a:xfrm>
              <a:off x="3796" y="2564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232" name="Group 78"/>
            <p:cNvGrpSpPr/>
            <p:nvPr/>
          </p:nvGrpSpPr>
          <p:grpSpPr>
            <a:xfrm>
              <a:off x="4066" y="2034"/>
              <a:ext cx="575" cy="213"/>
              <a:chOff x="3886" y="1002"/>
              <a:chExt cx="614" cy="206"/>
            </a:xfrm>
          </p:grpSpPr>
          <p:sp>
            <p:nvSpPr>
              <p:cNvPr id="9323" name="AutoShape 79"/>
              <p:cNvSpPr/>
              <p:nvPr/>
            </p:nvSpPr>
            <p:spPr>
              <a:xfrm>
                <a:off x="3886" y="1002"/>
                <a:ext cx="614" cy="201"/>
              </a:xfrm>
              <a:prstGeom prst="flowChartTerminator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tIns="10800" rIns="18000" bIns="1080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9324" name="Text Box 80"/>
              <p:cNvSpPr txBox="1"/>
              <p:nvPr/>
            </p:nvSpPr>
            <p:spPr>
              <a:xfrm>
                <a:off x="3931" y="1017"/>
                <a:ext cx="524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8000" tIns="10800" rIns="18000" bIns="10800"/>
              <a:p>
                <a:pPr algn="ctr"/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</a:rPr>
                  <a:t>Mux8</a:t>
                </a:r>
                <a:endParaRPr lang="en-US" altLang="zh-CN" sz="16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9233" name="Line 81"/>
            <p:cNvSpPr/>
            <p:nvPr/>
          </p:nvSpPr>
          <p:spPr>
            <a:xfrm flipV="1">
              <a:off x="4375" y="1663"/>
              <a:ext cx="0" cy="37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grpSp>
          <p:nvGrpSpPr>
            <p:cNvPr id="9234" name="Group 82"/>
            <p:cNvGrpSpPr/>
            <p:nvPr/>
          </p:nvGrpSpPr>
          <p:grpSpPr>
            <a:xfrm>
              <a:off x="4662" y="1781"/>
              <a:ext cx="614" cy="213"/>
              <a:chOff x="3886" y="1002"/>
              <a:chExt cx="614" cy="206"/>
            </a:xfrm>
          </p:grpSpPr>
          <p:sp>
            <p:nvSpPr>
              <p:cNvPr id="9321" name="AutoShape 83"/>
              <p:cNvSpPr/>
              <p:nvPr/>
            </p:nvSpPr>
            <p:spPr>
              <a:xfrm>
                <a:off x="3886" y="1002"/>
                <a:ext cx="614" cy="201"/>
              </a:xfrm>
              <a:prstGeom prst="flowChartTerminator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tIns="10800" rIns="18000" bIns="1080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9322" name="Text Box 84"/>
              <p:cNvSpPr txBox="1"/>
              <p:nvPr/>
            </p:nvSpPr>
            <p:spPr>
              <a:xfrm>
                <a:off x="3931" y="1017"/>
                <a:ext cx="524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8000" tIns="10800" rIns="18000" bIns="10800"/>
              <a:p>
                <a:pPr algn="ctr"/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</a:rPr>
                  <a:t>Mux8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</p:grpSp>
        <p:sp>
          <p:nvSpPr>
            <p:cNvPr id="9235" name="Line 85"/>
            <p:cNvSpPr/>
            <p:nvPr/>
          </p:nvSpPr>
          <p:spPr>
            <a:xfrm flipV="1">
              <a:off x="4974" y="1324"/>
              <a:ext cx="0" cy="45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grpSp>
          <p:nvGrpSpPr>
            <p:cNvPr id="9236" name="Group 86"/>
            <p:cNvGrpSpPr/>
            <p:nvPr/>
          </p:nvGrpSpPr>
          <p:grpSpPr>
            <a:xfrm>
              <a:off x="4234" y="906"/>
              <a:ext cx="880" cy="414"/>
              <a:chOff x="2854" y="1882"/>
              <a:chExt cx="412" cy="212"/>
            </a:xfrm>
          </p:grpSpPr>
          <p:sp>
            <p:nvSpPr>
              <p:cNvPr id="9314" name="Line 87"/>
              <p:cNvSpPr/>
              <p:nvPr/>
            </p:nvSpPr>
            <p:spPr>
              <a:xfrm>
                <a:off x="2964" y="1882"/>
                <a:ext cx="191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315" name="Line 88"/>
              <p:cNvSpPr/>
              <p:nvPr/>
            </p:nvSpPr>
            <p:spPr>
              <a:xfrm flipH="1">
                <a:off x="2854" y="1882"/>
                <a:ext cx="110" cy="21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316" name="Line 89"/>
              <p:cNvSpPr/>
              <p:nvPr/>
            </p:nvSpPr>
            <p:spPr>
              <a:xfrm>
                <a:off x="3155" y="1882"/>
                <a:ext cx="111" cy="21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317" name="Line 90"/>
              <p:cNvSpPr/>
              <p:nvPr/>
            </p:nvSpPr>
            <p:spPr>
              <a:xfrm>
                <a:off x="2854" y="2094"/>
                <a:ext cx="155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318" name="Line 91"/>
              <p:cNvSpPr/>
              <p:nvPr/>
            </p:nvSpPr>
            <p:spPr>
              <a:xfrm>
                <a:off x="3115" y="2094"/>
                <a:ext cx="151" cy="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319" name="Line 92"/>
              <p:cNvSpPr/>
              <p:nvPr/>
            </p:nvSpPr>
            <p:spPr>
              <a:xfrm flipV="1">
                <a:off x="3005" y="2027"/>
                <a:ext cx="60" cy="67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320" name="Line 93"/>
              <p:cNvSpPr/>
              <p:nvPr/>
            </p:nvSpPr>
            <p:spPr>
              <a:xfrm rot="-5400000" flipV="1">
                <a:off x="3054" y="2028"/>
                <a:ext cx="67" cy="6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237" name="Text Box 94"/>
            <p:cNvSpPr txBox="1"/>
            <p:nvPr/>
          </p:nvSpPr>
          <p:spPr>
            <a:xfrm>
              <a:off x="4544" y="1003"/>
              <a:ext cx="318" cy="142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/>
            <a:p>
              <a:pPr algn="just"/>
              <a:r>
                <a:rPr lang="en-US" altLang="zh-CN" sz="1600" dirty="0">
                  <a:latin typeface="Times New Roman" pitchFamily="18" charset="0"/>
                </a:rPr>
                <a:t>ALU</a:t>
              </a:r>
              <a:endParaRPr lang="en-US" altLang="zh-CN" sz="1600" dirty="0">
                <a:latin typeface="Times New Roman" pitchFamily="18" charset="0"/>
              </a:endParaRPr>
            </a:p>
          </p:txBody>
        </p:sp>
        <p:sp>
          <p:nvSpPr>
            <p:cNvPr id="9238" name="Line 95"/>
            <p:cNvSpPr/>
            <p:nvPr/>
          </p:nvSpPr>
          <p:spPr>
            <a:xfrm flipV="1">
              <a:off x="4676" y="744"/>
              <a:ext cx="0" cy="14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9" name="Line 96"/>
            <p:cNvSpPr/>
            <p:nvPr/>
          </p:nvSpPr>
          <p:spPr>
            <a:xfrm flipV="1">
              <a:off x="4213" y="2244"/>
              <a:ext cx="0" cy="24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0" name="Line 97"/>
            <p:cNvSpPr/>
            <p:nvPr/>
          </p:nvSpPr>
          <p:spPr>
            <a:xfrm flipV="1">
              <a:off x="4297" y="2247"/>
              <a:ext cx="0" cy="55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1" name="Line 98"/>
            <p:cNvSpPr/>
            <p:nvPr/>
          </p:nvSpPr>
          <p:spPr>
            <a:xfrm flipV="1">
              <a:off x="4379" y="2247"/>
              <a:ext cx="0" cy="88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2" name="Line 99"/>
            <p:cNvSpPr/>
            <p:nvPr/>
          </p:nvSpPr>
          <p:spPr>
            <a:xfrm flipV="1">
              <a:off x="4341" y="2244"/>
              <a:ext cx="0" cy="72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3" name="Line 100"/>
            <p:cNvSpPr/>
            <p:nvPr/>
          </p:nvSpPr>
          <p:spPr>
            <a:xfrm flipV="1">
              <a:off x="4825" y="1989"/>
              <a:ext cx="0" cy="50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4" name="Line 101"/>
            <p:cNvSpPr/>
            <p:nvPr/>
          </p:nvSpPr>
          <p:spPr>
            <a:xfrm flipH="1" flipV="1">
              <a:off x="4866" y="1985"/>
              <a:ext cx="0" cy="66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5" name="Line 102"/>
            <p:cNvSpPr/>
            <p:nvPr/>
          </p:nvSpPr>
          <p:spPr>
            <a:xfrm flipV="1">
              <a:off x="4909" y="1987"/>
              <a:ext cx="0" cy="8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6" name="Line 103"/>
            <p:cNvSpPr/>
            <p:nvPr/>
          </p:nvSpPr>
          <p:spPr>
            <a:xfrm flipV="1">
              <a:off x="4997" y="1985"/>
              <a:ext cx="0" cy="113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7" name="Line 104"/>
            <p:cNvSpPr/>
            <p:nvPr/>
          </p:nvSpPr>
          <p:spPr>
            <a:xfrm flipV="1">
              <a:off x="4951" y="1984"/>
              <a:ext cx="0" cy="98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8" name="Line 105"/>
            <p:cNvSpPr/>
            <p:nvPr/>
          </p:nvSpPr>
          <p:spPr>
            <a:xfrm flipV="1">
              <a:off x="5136" y="1984"/>
              <a:ext cx="0" cy="161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49" name="Line 106"/>
            <p:cNvSpPr/>
            <p:nvPr/>
          </p:nvSpPr>
          <p:spPr>
            <a:xfrm flipH="1" flipV="1">
              <a:off x="5090" y="1987"/>
              <a:ext cx="0" cy="145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50" name="Line 107"/>
            <p:cNvSpPr/>
            <p:nvPr/>
          </p:nvSpPr>
          <p:spPr>
            <a:xfrm flipV="1">
              <a:off x="5048" y="1987"/>
              <a:ext cx="0" cy="130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51" name="Line 108"/>
            <p:cNvSpPr/>
            <p:nvPr/>
          </p:nvSpPr>
          <p:spPr>
            <a:xfrm flipV="1">
              <a:off x="4255" y="2244"/>
              <a:ext cx="0" cy="40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52" name="Line 109"/>
            <p:cNvSpPr/>
            <p:nvPr/>
          </p:nvSpPr>
          <p:spPr>
            <a:xfrm flipV="1">
              <a:off x="4421" y="2247"/>
              <a:ext cx="0" cy="104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53" name="Line 110"/>
            <p:cNvSpPr/>
            <p:nvPr/>
          </p:nvSpPr>
          <p:spPr>
            <a:xfrm flipV="1">
              <a:off x="4469" y="2247"/>
              <a:ext cx="0" cy="119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54" name="Line 111"/>
            <p:cNvSpPr/>
            <p:nvPr/>
          </p:nvSpPr>
          <p:spPr>
            <a:xfrm flipV="1">
              <a:off x="4517" y="2247"/>
              <a:ext cx="0" cy="136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55" name="Line 112"/>
            <p:cNvSpPr/>
            <p:nvPr/>
          </p:nvSpPr>
          <p:spPr>
            <a:xfrm flipV="1">
              <a:off x="3085" y="3341"/>
              <a:ext cx="0" cy="6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6" name="Line 113"/>
            <p:cNvSpPr/>
            <p:nvPr/>
          </p:nvSpPr>
          <p:spPr>
            <a:xfrm flipV="1">
              <a:off x="3023" y="3076"/>
              <a:ext cx="0" cy="8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7" name="Line 114"/>
            <p:cNvSpPr/>
            <p:nvPr/>
          </p:nvSpPr>
          <p:spPr>
            <a:xfrm flipV="1">
              <a:off x="2976" y="2822"/>
              <a:ext cx="0" cy="1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8" name="Line 115"/>
            <p:cNvSpPr/>
            <p:nvPr/>
          </p:nvSpPr>
          <p:spPr>
            <a:xfrm flipV="1">
              <a:off x="2700" y="2201"/>
              <a:ext cx="0" cy="17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9" name="Line 116"/>
            <p:cNvSpPr/>
            <p:nvPr/>
          </p:nvSpPr>
          <p:spPr>
            <a:xfrm flipV="1">
              <a:off x="1888" y="3883"/>
              <a:ext cx="1" cy="9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0" name="Line 117"/>
            <p:cNvSpPr/>
            <p:nvPr/>
          </p:nvSpPr>
          <p:spPr>
            <a:xfrm flipV="1">
              <a:off x="1959" y="1048"/>
              <a:ext cx="0" cy="29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1" name="Line 118"/>
            <p:cNvSpPr/>
            <p:nvPr/>
          </p:nvSpPr>
          <p:spPr>
            <a:xfrm flipH="1" flipV="1">
              <a:off x="2015" y="1098"/>
              <a:ext cx="1" cy="287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2" name="Line 119"/>
            <p:cNvSpPr/>
            <p:nvPr/>
          </p:nvSpPr>
          <p:spPr>
            <a:xfrm flipH="1" flipV="1">
              <a:off x="2079" y="1152"/>
              <a:ext cx="0" cy="281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3" name="Line 120"/>
            <p:cNvSpPr/>
            <p:nvPr/>
          </p:nvSpPr>
          <p:spPr>
            <a:xfrm>
              <a:off x="3079" y="3340"/>
              <a:ext cx="437" cy="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4" name="Line 121"/>
            <p:cNvSpPr/>
            <p:nvPr/>
          </p:nvSpPr>
          <p:spPr>
            <a:xfrm>
              <a:off x="3025" y="3083"/>
              <a:ext cx="49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5" name="Line 122"/>
            <p:cNvSpPr/>
            <p:nvPr/>
          </p:nvSpPr>
          <p:spPr>
            <a:xfrm>
              <a:off x="2985" y="2823"/>
              <a:ext cx="53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6" name="Line 123"/>
            <p:cNvSpPr/>
            <p:nvPr/>
          </p:nvSpPr>
          <p:spPr>
            <a:xfrm flipV="1">
              <a:off x="2604" y="2099"/>
              <a:ext cx="0" cy="187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7" name="Line 124"/>
            <p:cNvSpPr/>
            <p:nvPr/>
          </p:nvSpPr>
          <p:spPr>
            <a:xfrm flipV="1">
              <a:off x="2652" y="2162"/>
              <a:ext cx="0" cy="180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8" name="Line 125"/>
            <p:cNvSpPr/>
            <p:nvPr/>
          </p:nvSpPr>
          <p:spPr>
            <a:xfrm flipH="1">
              <a:off x="2698" y="2208"/>
              <a:ext cx="13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69" name="Line 126"/>
            <p:cNvSpPr/>
            <p:nvPr/>
          </p:nvSpPr>
          <p:spPr>
            <a:xfrm flipH="1">
              <a:off x="2654" y="2164"/>
              <a:ext cx="141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0" name="Line 127"/>
            <p:cNvSpPr/>
            <p:nvPr/>
          </p:nvSpPr>
          <p:spPr>
            <a:xfrm flipH="1">
              <a:off x="2601" y="2104"/>
              <a:ext cx="1481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1" name="Line 128"/>
            <p:cNvSpPr/>
            <p:nvPr/>
          </p:nvSpPr>
          <p:spPr>
            <a:xfrm flipH="1" flipV="1">
              <a:off x="2343" y="1938"/>
              <a:ext cx="2345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2" name="Line 129"/>
            <p:cNvSpPr/>
            <p:nvPr/>
          </p:nvSpPr>
          <p:spPr>
            <a:xfrm flipH="1">
              <a:off x="2291" y="1886"/>
              <a:ext cx="23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3" name="Line 130"/>
            <p:cNvSpPr/>
            <p:nvPr/>
          </p:nvSpPr>
          <p:spPr>
            <a:xfrm flipH="1">
              <a:off x="2239" y="1834"/>
              <a:ext cx="24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4" name="Line 131"/>
            <p:cNvSpPr/>
            <p:nvPr/>
          </p:nvSpPr>
          <p:spPr>
            <a:xfrm flipV="1">
              <a:off x="2344" y="1931"/>
              <a:ext cx="0" cy="20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5" name="Line 132"/>
            <p:cNvSpPr/>
            <p:nvPr/>
          </p:nvSpPr>
          <p:spPr>
            <a:xfrm flipV="1">
              <a:off x="2248" y="1828"/>
              <a:ext cx="0" cy="215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6" name="Line 133"/>
            <p:cNvSpPr/>
            <p:nvPr/>
          </p:nvSpPr>
          <p:spPr>
            <a:xfrm flipV="1">
              <a:off x="2296" y="1884"/>
              <a:ext cx="0" cy="209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7" name="Line 134"/>
            <p:cNvSpPr/>
            <p:nvPr/>
          </p:nvSpPr>
          <p:spPr>
            <a:xfrm flipH="1" flipV="1">
              <a:off x="2079" y="1155"/>
              <a:ext cx="22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8" name="Line 135"/>
            <p:cNvSpPr/>
            <p:nvPr/>
          </p:nvSpPr>
          <p:spPr>
            <a:xfrm flipH="1">
              <a:off x="2014" y="1103"/>
              <a:ext cx="23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79" name="Line 136"/>
            <p:cNvSpPr/>
            <p:nvPr/>
          </p:nvSpPr>
          <p:spPr>
            <a:xfrm flipH="1">
              <a:off x="1954" y="1051"/>
              <a:ext cx="243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9218" name="Object 137"/>
            <p:cNvGraphicFramePr/>
            <p:nvPr/>
          </p:nvGraphicFramePr>
          <p:xfrm>
            <a:off x="1669" y="3977"/>
            <a:ext cx="2050" cy="3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5" name="" r:id="rId1" imgW="3251200" imgH="612140" progId="Word.Document.8">
                    <p:embed/>
                  </p:oleObj>
                </mc:Choice>
                <mc:Fallback>
                  <p:oleObj name="" r:id="rId1" imgW="3251200" imgH="612140" progId="Word.Document.8">
                    <p:embed/>
                    <p:pic>
                      <p:nvPicPr>
                        <p:cNvPr id="0" name="图片 308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69" y="3977"/>
                          <a:ext cx="2050" cy="34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80" name="Line 138"/>
            <p:cNvSpPr/>
            <p:nvPr/>
          </p:nvSpPr>
          <p:spPr>
            <a:xfrm>
              <a:off x="1887" y="3884"/>
              <a:ext cx="17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281" name="Group 139"/>
            <p:cNvGrpSpPr/>
            <p:nvPr/>
          </p:nvGrpSpPr>
          <p:grpSpPr>
            <a:xfrm>
              <a:off x="3513" y="2490"/>
              <a:ext cx="281" cy="1385"/>
              <a:chOff x="3513" y="2490"/>
              <a:chExt cx="281" cy="1385"/>
            </a:xfrm>
          </p:grpSpPr>
          <p:sp>
            <p:nvSpPr>
              <p:cNvPr id="9310" name="Rectangle 140"/>
              <p:cNvSpPr/>
              <p:nvPr/>
            </p:nvSpPr>
            <p:spPr>
              <a:xfrm>
                <a:off x="3513" y="2490"/>
                <a:ext cx="281" cy="1255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9311" name="Text Box 141"/>
              <p:cNvSpPr txBox="1"/>
              <p:nvPr/>
            </p:nvSpPr>
            <p:spPr>
              <a:xfrm>
                <a:off x="3593" y="2849"/>
                <a:ext cx="126" cy="4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>
                <a:spAutoFit/>
              </a:bodyPr>
              <a:p>
                <a:pPr>
                  <a:spcBef>
                    <a:spcPct val="50000"/>
                  </a:spcBef>
                </a:pPr>
                <a:r>
                  <a:rPr lang="zh-CN" altLang="en-US" sz="1600" dirty="0">
                    <a:solidFill>
                      <a:srgbClr val="FF0000"/>
                    </a:solidFill>
                    <a:latin typeface="Times New Roman" pitchFamily="18" charset="0"/>
                  </a:rPr>
                  <a:t>译码器</a:t>
                </a:r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9312" name="Oval 142"/>
              <p:cNvSpPr/>
              <p:nvPr/>
            </p:nvSpPr>
            <p:spPr>
              <a:xfrm>
                <a:off x="3645" y="3743"/>
                <a:ext cx="47" cy="62"/>
              </a:xfrm>
              <a:prstGeom prst="ellipse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9313" name="Line 143"/>
              <p:cNvSpPr/>
              <p:nvPr/>
            </p:nvSpPr>
            <p:spPr>
              <a:xfrm flipV="1">
                <a:off x="3670" y="3805"/>
                <a:ext cx="0" cy="7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9282" name="Line 144"/>
            <p:cNvSpPr/>
            <p:nvPr/>
          </p:nvSpPr>
          <p:spPr>
            <a:xfrm flipH="1" flipV="1">
              <a:off x="4786" y="3774"/>
              <a:ext cx="0" cy="13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83" name="Line 145"/>
            <p:cNvSpPr/>
            <p:nvPr/>
          </p:nvSpPr>
          <p:spPr>
            <a:xfrm>
              <a:off x="4669" y="743"/>
              <a:ext cx="998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4" name="Line 146"/>
            <p:cNvSpPr/>
            <p:nvPr/>
          </p:nvSpPr>
          <p:spPr>
            <a:xfrm>
              <a:off x="5659" y="751"/>
              <a:ext cx="0" cy="315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5" name="Line 147"/>
            <p:cNvSpPr/>
            <p:nvPr/>
          </p:nvSpPr>
          <p:spPr>
            <a:xfrm flipH="1">
              <a:off x="4786" y="3906"/>
              <a:ext cx="873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6" name="Line 148"/>
            <p:cNvSpPr/>
            <p:nvPr/>
          </p:nvSpPr>
          <p:spPr>
            <a:xfrm>
              <a:off x="5534" y="2550"/>
              <a:ext cx="0" cy="1598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7" name="Line 149"/>
            <p:cNvSpPr/>
            <p:nvPr/>
          </p:nvSpPr>
          <p:spPr>
            <a:xfrm flipH="1">
              <a:off x="5433" y="2550"/>
              <a:ext cx="101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8" name="Line 150"/>
            <p:cNvSpPr/>
            <p:nvPr/>
          </p:nvSpPr>
          <p:spPr>
            <a:xfrm flipH="1">
              <a:off x="5433" y="2718"/>
              <a:ext cx="101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89" name="Line 151"/>
            <p:cNvSpPr/>
            <p:nvPr/>
          </p:nvSpPr>
          <p:spPr>
            <a:xfrm flipH="1">
              <a:off x="5433" y="2886"/>
              <a:ext cx="101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0" name="Line 152"/>
            <p:cNvSpPr/>
            <p:nvPr/>
          </p:nvSpPr>
          <p:spPr>
            <a:xfrm flipH="1">
              <a:off x="5433" y="3038"/>
              <a:ext cx="101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1" name="Line 153"/>
            <p:cNvSpPr/>
            <p:nvPr/>
          </p:nvSpPr>
          <p:spPr>
            <a:xfrm flipH="1">
              <a:off x="5433" y="3214"/>
              <a:ext cx="101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2" name="Line 154"/>
            <p:cNvSpPr/>
            <p:nvPr/>
          </p:nvSpPr>
          <p:spPr>
            <a:xfrm flipH="1">
              <a:off x="5433" y="3366"/>
              <a:ext cx="101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3" name="Line 155"/>
            <p:cNvSpPr/>
            <p:nvPr/>
          </p:nvSpPr>
          <p:spPr>
            <a:xfrm flipH="1">
              <a:off x="5433" y="3534"/>
              <a:ext cx="101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4" name="Line 156"/>
            <p:cNvSpPr/>
            <p:nvPr/>
          </p:nvSpPr>
          <p:spPr>
            <a:xfrm flipH="1">
              <a:off x="5433" y="3670"/>
              <a:ext cx="101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5" name="Line 157"/>
            <p:cNvSpPr/>
            <p:nvPr/>
          </p:nvSpPr>
          <p:spPr>
            <a:xfrm flipH="1">
              <a:off x="3687" y="4030"/>
              <a:ext cx="1847" cy="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296" name="Group 158"/>
            <p:cNvGrpSpPr/>
            <p:nvPr/>
          </p:nvGrpSpPr>
          <p:grpSpPr>
            <a:xfrm>
              <a:off x="3984" y="1450"/>
              <a:ext cx="575" cy="213"/>
              <a:chOff x="3886" y="1002"/>
              <a:chExt cx="614" cy="206"/>
            </a:xfrm>
          </p:grpSpPr>
          <p:sp>
            <p:nvSpPr>
              <p:cNvPr id="9308" name="AutoShape 159"/>
              <p:cNvSpPr/>
              <p:nvPr/>
            </p:nvSpPr>
            <p:spPr>
              <a:xfrm>
                <a:off x="3886" y="1002"/>
                <a:ext cx="614" cy="201"/>
              </a:xfrm>
              <a:prstGeom prst="flowChartTerminator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lIns="18000" tIns="10800" rIns="18000" bIns="10800"/>
              <a:p>
                <a:endParaRPr lang="zh-CN" altLang="en-US" dirty="0">
                  <a:latin typeface="Times New Roman" pitchFamily="18" charset="0"/>
                </a:endParaRPr>
              </a:p>
            </p:txBody>
          </p:sp>
          <p:sp>
            <p:nvSpPr>
              <p:cNvPr id="9309" name="Text Box 160"/>
              <p:cNvSpPr txBox="1"/>
              <p:nvPr/>
            </p:nvSpPr>
            <p:spPr>
              <a:xfrm>
                <a:off x="3931" y="1017"/>
                <a:ext cx="524" cy="19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8000" tIns="10800" rIns="18000" bIns="10800"/>
              <a:p>
                <a:pPr algn="ctr"/>
                <a:r>
                  <a:rPr lang="en-US" altLang="zh-CN" sz="1600" dirty="0">
                    <a:solidFill>
                      <a:srgbClr val="FF0000"/>
                    </a:solidFill>
                    <a:latin typeface="Times New Roman" pitchFamily="18" charset="0"/>
                  </a:rPr>
                  <a:t>Mux2</a:t>
                </a:r>
                <a:endParaRPr lang="en-US" altLang="zh-CN" sz="1600" dirty="0">
                  <a:solidFill>
                    <a:srgbClr val="FF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9297" name="Line 161"/>
            <p:cNvSpPr/>
            <p:nvPr/>
          </p:nvSpPr>
          <p:spPr>
            <a:xfrm flipV="1">
              <a:off x="4166" y="1659"/>
              <a:ext cx="1" cy="109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  <p:sp>
          <p:nvSpPr>
            <p:cNvPr id="9298" name="Line 162"/>
            <p:cNvSpPr/>
            <p:nvPr/>
          </p:nvSpPr>
          <p:spPr>
            <a:xfrm flipH="1" flipV="1">
              <a:off x="3386" y="1757"/>
              <a:ext cx="779" cy="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99" name="Line 163"/>
            <p:cNvSpPr/>
            <p:nvPr/>
          </p:nvSpPr>
          <p:spPr>
            <a:xfrm>
              <a:off x="3796" y="2716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0" name="Line 164"/>
            <p:cNvSpPr/>
            <p:nvPr/>
          </p:nvSpPr>
          <p:spPr>
            <a:xfrm>
              <a:off x="3796" y="2884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1" name="Line 165"/>
            <p:cNvSpPr/>
            <p:nvPr/>
          </p:nvSpPr>
          <p:spPr>
            <a:xfrm>
              <a:off x="3804" y="3044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2" name="Line 166"/>
            <p:cNvSpPr/>
            <p:nvPr/>
          </p:nvSpPr>
          <p:spPr>
            <a:xfrm>
              <a:off x="3796" y="3212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3" name="Line 167"/>
            <p:cNvSpPr/>
            <p:nvPr/>
          </p:nvSpPr>
          <p:spPr>
            <a:xfrm>
              <a:off x="3796" y="3364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4" name="Line 168"/>
            <p:cNvSpPr/>
            <p:nvPr/>
          </p:nvSpPr>
          <p:spPr>
            <a:xfrm>
              <a:off x="3804" y="3524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5" name="Line 169"/>
            <p:cNvSpPr/>
            <p:nvPr/>
          </p:nvSpPr>
          <p:spPr>
            <a:xfrm>
              <a:off x="3804" y="3684"/>
              <a:ext cx="187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6" name="Line 170"/>
            <p:cNvSpPr/>
            <p:nvPr/>
          </p:nvSpPr>
          <p:spPr>
            <a:xfrm flipV="1">
              <a:off x="3398" y="1753"/>
              <a:ext cx="0" cy="222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307" name="Line 171"/>
            <p:cNvSpPr/>
            <p:nvPr/>
          </p:nvSpPr>
          <p:spPr>
            <a:xfrm flipV="1">
              <a:off x="4332" y="1319"/>
              <a:ext cx="1" cy="13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sm" len="sm"/>
            </a:ln>
          </p:spPr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5059" name="Rectangle 2"/>
          <p:cNvSpPr>
            <a:spLocks noGrp="1"/>
          </p:cNvSpPr>
          <p:nvPr>
            <p:ph type="title"/>
          </p:nvPr>
        </p:nvSpPr>
        <p:spPr>
          <a:xfrm>
            <a:off x="838200" y="276225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sz="4000" dirty="0"/>
              <a:t>CMOS</a:t>
            </a:r>
            <a:r>
              <a:rPr lang="zh-CN" altLang="en-US" sz="4000" dirty="0"/>
              <a:t>电路延迟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863600" y="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CMOS</a:t>
            </a:r>
            <a:r>
              <a:rPr lang="zh-CN" altLang="zh-CN" dirty="0"/>
              <a:t>电路延迟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pic>
        <p:nvPicPr>
          <p:cNvPr id="46084" name="Picture 3" descr="4312806682958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1851025"/>
            <a:ext cx="2832100" cy="2347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5" name="Picture 4" descr="4412806682958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925" y="1857375"/>
            <a:ext cx="7278688" cy="2295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86" name="Rectangle 5"/>
          <p:cNvSpPr/>
          <p:nvPr/>
        </p:nvSpPr>
        <p:spPr>
          <a:xfrm>
            <a:off x="0" y="1462088"/>
            <a:ext cx="1841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en-US" dirty="0">
              <a:latin typeface="Times New Roman" pitchFamily="18" charset="0"/>
            </a:endParaRPr>
          </a:p>
        </p:txBody>
      </p:sp>
      <p:sp>
        <p:nvSpPr>
          <p:cNvPr id="46087" name="Rectangle 7"/>
          <p:cNvSpPr/>
          <p:nvPr/>
        </p:nvSpPr>
        <p:spPr>
          <a:xfrm>
            <a:off x="5926138" y="4889500"/>
            <a:ext cx="338137" cy="2778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en-US" altLang="zh-CN" sz="1200" dirty="0">
                <a:latin typeface="宋体" panose="02000500000000000000" pitchFamily="2" charset="-122"/>
              </a:rPr>
              <a:t>  </a:t>
            </a:r>
            <a:endParaRPr lang="en-US" altLang="zh-CN" dirty="0">
              <a:latin typeface="Times New Roman" pitchFamily="18" charset="0"/>
            </a:endParaRPr>
          </a:p>
        </p:txBody>
      </p:sp>
      <p:pic>
        <p:nvPicPr>
          <p:cNvPr id="46088" name="Picture 8" descr="4512806682958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213" y="4419600"/>
            <a:ext cx="4305300" cy="2057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6089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250" y="4524375"/>
            <a:ext cx="4660900" cy="1990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6090" name="Rectangle 12"/>
          <p:cNvSpPr/>
          <p:nvPr/>
        </p:nvSpPr>
        <p:spPr>
          <a:xfrm>
            <a:off x="127000" y="1085850"/>
            <a:ext cx="115824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sz="2000" b="1" dirty="0">
                <a:latin typeface="Times New Roman" pitchFamily="18" charset="0"/>
              </a:rPr>
              <a:t>输入电压变化时，输出电压的变化不是瞬时完成的</a:t>
            </a:r>
            <a:endParaRPr lang="zh-CN" altLang="en-US" sz="2000" b="1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44" name="Rectangle 2"/>
          <p:cNvSpPr/>
          <p:nvPr/>
        </p:nvSpPr>
        <p:spPr>
          <a:xfrm>
            <a:off x="914400" y="457200"/>
            <a:ext cx="10361613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CMOS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电路延迟模型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10245" name="Rectangle 3"/>
          <p:cNvSpPr/>
          <p:nvPr/>
        </p:nvSpPr>
        <p:spPr>
          <a:xfrm>
            <a:off x="508000" y="1314450"/>
            <a:ext cx="11682413" cy="27241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与延迟相关的因素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输入</a:t>
            </a:r>
            <a:r>
              <a:rPr lang="en-US" altLang="zh-CN" sz="1600" b="1" dirty="0">
                <a:latin typeface="宋体" panose="02000500000000000000" pitchFamily="2" charset="-122"/>
              </a:rPr>
              <a:t>transition</a:t>
            </a:r>
            <a:r>
              <a:rPr lang="zh-CN" altLang="en-US" sz="1600" b="1" dirty="0">
                <a:latin typeface="宋体" panose="02000500000000000000" pitchFamily="2" charset="-122"/>
              </a:rPr>
              <a:t>、内部延迟、输出负载有关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负载包括下一级负载、连线延迟等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内部延迟</a:t>
            </a:r>
            <a:r>
              <a:rPr lang="en-US" altLang="zh-CN" sz="1600" b="1" dirty="0">
                <a:latin typeface="宋体" panose="02000500000000000000" pitchFamily="2" charset="-122"/>
              </a:rPr>
              <a:t>(ns)+</a:t>
            </a:r>
            <a:r>
              <a:rPr lang="zh-CN" altLang="en-US" sz="1600" b="1" dirty="0">
                <a:latin typeface="宋体" panose="02000500000000000000" pitchFamily="2" charset="-122"/>
              </a:rPr>
              <a:t>与负载（包括负载）有关的延迟（</a:t>
            </a:r>
            <a:r>
              <a:rPr lang="en-US" altLang="zh-CN" sz="1600" b="1" dirty="0">
                <a:latin typeface="宋体" panose="02000500000000000000" pitchFamily="2" charset="-122"/>
              </a:rPr>
              <a:t>ns/fF</a:t>
            </a:r>
            <a:r>
              <a:rPr lang="zh-CN" altLang="en-US" sz="1600" b="1" dirty="0">
                <a:latin typeface="宋体" panose="02000500000000000000" pitchFamily="2" charset="-122"/>
              </a:rPr>
              <a:t>）</a:t>
            </a:r>
            <a:endParaRPr lang="zh-CN" altLang="en-US" sz="18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二输入与非门为例</a:t>
            </a:r>
            <a:endParaRPr lang="zh-CN" altLang="en-US" sz="2000" b="1" dirty="0">
              <a:latin typeface="宋体" panose="02000500000000000000" pitchFamily="2" charset="-122"/>
            </a:endParaRPr>
          </a:p>
        </p:txBody>
      </p:sp>
      <p:graphicFrame>
        <p:nvGraphicFramePr>
          <p:cNvPr id="10242" name="Object 4"/>
          <p:cNvGraphicFramePr/>
          <p:nvPr/>
        </p:nvGraphicFramePr>
        <p:xfrm>
          <a:off x="1727200" y="4191000"/>
          <a:ext cx="89535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6715125" imgH="2209800" progId="Paint.Picture">
                  <p:embed/>
                </p:oleObj>
              </mc:Choice>
              <mc:Fallback>
                <p:oleObj name="" r:id="rId1" imgW="6715125" imgH="2209800" progId="Paint.Picture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27200" y="4191000"/>
                        <a:ext cx="8953500" cy="2209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CMOS</a:t>
            </a:r>
            <a:r>
              <a:rPr lang="zh-CN" altLang="en-US" dirty="0"/>
              <a:t>电路延迟例子</a:t>
            </a:r>
            <a:endParaRPr lang="zh-CN" altLang="en-US" dirty="0"/>
          </a:p>
        </p:txBody>
      </p:sp>
      <p:pic>
        <p:nvPicPr>
          <p:cNvPr id="47108" name="Picture 5" descr="4612806682958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22438"/>
            <a:ext cx="5130800" cy="2565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7109" name="Picture 4" descr="47128066829588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725" y="1546225"/>
            <a:ext cx="6643688" cy="2933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110" name="Rectangle 9"/>
          <p:cNvSpPr>
            <a:spLocks noGrp="1"/>
          </p:cNvSpPr>
          <p:nvPr>
            <p:ph idx="1"/>
          </p:nvPr>
        </p:nvSpPr>
        <p:spPr>
          <a:xfrm>
            <a:off x="685800" y="4659313"/>
            <a:ext cx="11504613" cy="2198687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spcBef>
                <a:spcPct val="0"/>
              </a:spcBef>
            </a:pP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假设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Cout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负载为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60fF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，计算由于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Cin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从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到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1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变化引起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Cout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从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0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到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1</a:t>
            </a:r>
            <a:r>
              <a:rPr lang="zh-CN" altLang="en-US" sz="1800" dirty="0">
                <a:latin typeface="宋体" panose="02000500000000000000" pitchFamily="2" charset="-122"/>
                <a:ea typeface="+mn-ea"/>
                <a:cs typeface="+mn-cs"/>
              </a:rPr>
              <a:t>变化的延迟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Tlh(Cin-&gt;Cout) = </a:t>
            </a:r>
            <a:r>
              <a:rPr lang="en-US" altLang="zh-CN" sz="1800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  <a:cs typeface="+mn-cs"/>
              </a:rPr>
              <a:t>TPhl(NAND2)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 + Thlf(NAND2)*(Cil(NAND3)+Cwire) +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                 </a:t>
            </a:r>
            <a:r>
              <a:rPr lang="en-US" altLang="zh-CN" sz="1800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  <a:cs typeface="+mn-cs"/>
              </a:rPr>
              <a:t>TPlh(NAND3)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 + Tlhf(NAND3)*Col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               = </a:t>
            </a:r>
            <a:r>
              <a:rPr lang="en-US" altLang="zh-CN" sz="1800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  <a:cs typeface="+mn-cs"/>
              </a:rPr>
              <a:t>0.10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 + 0.015*(30+50) + </a:t>
            </a:r>
            <a:r>
              <a:rPr lang="en-US" altLang="zh-CN" sz="1800" dirty="0">
                <a:solidFill>
                  <a:schemeClr val="accent2"/>
                </a:solidFill>
                <a:latin typeface="宋体" panose="02000500000000000000" pitchFamily="2" charset="-122"/>
                <a:ea typeface="+mn-ea"/>
                <a:cs typeface="+mn-cs"/>
              </a:rPr>
              <a:t>0.20</a:t>
            </a: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 + 0.010 * 60 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800" dirty="0">
                <a:latin typeface="宋体" panose="02000500000000000000" pitchFamily="2" charset="-122"/>
                <a:ea typeface="+mn-ea"/>
                <a:cs typeface="+mn-cs"/>
              </a:rPr>
              <a:t>               = 2.1ns</a:t>
            </a:r>
            <a:endParaRPr lang="en-US" altLang="zh-CN" sz="1800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8131" name="Rectangle 2"/>
          <p:cNvSpPr/>
          <p:nvPr/>
        </p:nvSpPr>
        <p:spPr>
          <a:xfrm>
            <a:off x="914400" y="0"/>
            <a:ext cx="10361613" cy="1023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标准单元延迟的计算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49156" name="Rectangle 3"/>
          <p:cNvSpPr>
            <a:spLocks noChangeArrowheads="1"/>
          </p:cNvSpPr>
          <p:nvPr/>
        </p:nvSpPr>
        <p:spPr bwMode="auto">
          <a:xfrm>
            <a:off x="482600" y="1060450"/>
            <a:ext cx="11345863" cy="54308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深亚微米电路中连线延迟占总延迟的大部分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以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TSMC18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的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NAND2X1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为例：内部延迟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0.034ns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，每</a:t>
            </a:r>
            <a:r>
              <a:rPr kumimoji="1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pf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延迟为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4.5ns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左右，输入电容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0.004pf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连线延迟的计算是一个不断迭代求精的过程，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综合时根据负载个数估计线长，非常初略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布局后根据距离估计线长，比较准确了</a:t>
            </a:r>
            <a:endParaRPr kumimoji="1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布线后进一步考虑具体连线、互相干扰、过孔等精确连线信息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TSMC 0.18</a:t>
            </a:r>
            <a:r>
              <a:rPr kumimoji="1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微米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二输入与门的特征</a:t>
            </a:r>
            <a:endParaRPr kumimoji="1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面积、输入电容、最大负载、功耗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延迟（非线性）：根据输入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transition</a:t>
            </a: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</a:rPr>
              <a:t>和输出负载查表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</a:endParaRPr>
          </a:p>
          <a:p>
            <a:pPr marL="800100" marR="0" lvl="1" indent="-342900" algn="l" defTabSz="914400" rtl="0" eaLnBrk="1" fontAlgn="base" latinLnBrk="0" hangingPunct="1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ea"/>
                <a:hlinkClick r:id="rId1" action="ppaction://hlinkfile"/>
              </a:rPr>
              <a:t>库单元的定义</a:t>
            </a:r>
            <a:endParaRPr kumimoji="1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ea"/>
              <a:hlinkClick r:id="rId1" action="ppaction://hlinkfil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9155" name="Rectangle 2"/>
          <p:cNvSpPr>
            <a:spLocks noGrp="1"/>
          </p:cNvSpPr>
          <p:nvPr>
            <p:ph type="title"/>
          </p:nvPr>
        </p:nvSpPr>
        <p:spPr>
          <a:xfrm>
            <a:off x="884238" y="287338"/>
            <a:ext cx="10361612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降低延迟的方法</a:t>
            </a:r>
            <a:endParaRPr lang="zh-CN" altLang="en-US" dirty="0"/>
          </a:p>
        </p:txBody>
      </p:sp>
      <p:sp>
        <p:nvSpPr>
          <p:cNvPr id="49156" name="Rectangle 3"/>
          <p:cNvSpPr>
            <a:spLocks noGrp="1"/>
          </p:cNvSpPr>
          <p:nvPr>
            <p:ph idx="1"/>
          </p:nvPr>
        </p:nvSpPr>
        <p:spPr>
          <a:xfrm>
            <a:off x="839788" y="1435100"/>
            <a:ext cx="10361612" cy="4591050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通过结构设计降低延迟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如流水级的划分、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CACHE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读出和命中比较是否在同一级、浮点流水级设计、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Pipeline stalling signal 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的设置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逻辑设计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如多选一通路的选择次序、加法器算法、流水级间的局部调整等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物理设计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/>
            <a:r>
              <a:rPr lang="zh-CN" altLang="en-US" dirty="0">
                <a:latin typeface="宋体" panose="02000500000000000000" pitchFamily="2" charset="-122"/>
                <a:ea typeface="+mn-ea"/>
              </a:rPr>
              <a:t>动态电路、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clock skew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clock jitter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</a:t>
            </a:r>
            <a:r>
              <a:rPr lang="en-US" altLang="zh-CN" dirty="0">
                <a:latin typeface="宋体" panose="02000500000000000000" pitchFamily="2" charset="-122"/>
                <a:ea typeface="+mn-ea"/>
              </a:rPr>
              <a:t>transition time</a:t>
            </a:r>
            <a:r>
              <a:rPr lang="zh-CN" altLang="en-US" dirty="0">
                <a:latin typeface="宋体" panose="02000500000000000000" pitchFamily="2" charset="-122"/>
                <a:ea typeface="+mn-ea"/>
              </a:rPr>
              <a:t>、布局布线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70" name="Rectangle 2"/>
          <p:cNvSpPr/>
          <p:nvPr/>
        </p:nvSpPr>
        <p:spPr>
          <a:xfrm>
            <a:off x="896938" y="363538"/>
            <a:ext cx="10361612" cy="500062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通过逻辑设计降低延迟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11271" name="Rectangle 3"/>
          <p:cNvSpPr/>
          <p:nvPr/>
        </p:nvSpPr>
        <p:spPr>
          <a:xfrm>
            <a:off x="800100" y="1104900"/>
            <a:ext cx="10361613" cy="67468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sz="2000" b="1" dirty="0">
                <a:latin typeface="Times New Roman" pitchFamily="18" charset="0"/>
              </a:rPr>
              <a:t>减少门的级数</a:t>
            </a:r>
            <a:endParaRPr lang="zh-CN" altLang="en-US" sz="2000" b="1" dirty="0">
              <a:latin typeface="Times New Roman" pitchFamily="18" charset="0"/>
            </a:endParaRPr>
          </a:p>
        </p:txBody>
      </p:sp>
      <p:graphicFrame>
        <p:nvGraphicFramePr>
          <p:cNvPr id="11266" name="Object 4"/>
          <p:cNvGraphicFramePr/>
          <p:nvPr/>
        </p:nvGraphicFramePr>
        <p:xfrm>
          <a:off x="609600" y="2051050"/>
          <a:ext cx="5334000" cy="1123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4000500" imgH="1123950" progId="Paint.Picture">
                  <p:embed/>
                </p:oleObj>
              </mc:Choice>
              <mc:Fallback>
                <p:oleObj name="" r:id="rId1" imgW="4000500" imgH="1123950" progId="Paint.Picture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9600" y="2051050"/>
                        <a:ext cx="5334000" cy="11239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5"/>
          <p:cNvGraphicFramePr/>
          <p:nvPr/>
        </p:nvGraphicFramePr>
        <p:xfrm>
          <a:off x="7173913" y="1712913"/>
          <a:ext cx="381000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3" imgW="2857500" imgH="1600200" progId="Paint.Picture">
                  <p:embed/>
                </p:oleObj>
              </mc:Choice>
              <mc:Fallback>
                <p:oleObj name="" r:id="rId3" imgW="2857500" imgH="1600200" progId="Paint.Picture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173913" y="1712913"/>
                        <a:ext cx="3810000" cy="160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6"/>
          <p:cNvGraphicFramePr/>
          <p:nvPr/>
        </p:nvGraphicFramePr>
        <p:xfrm>
          <a:off x="2598738" y="4999038"/>
          <a:ext cx="6959600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5" imgW="5219700" imgH="1685925" progId="Paint.Picture">
                  <p:embed/>
                </p:oleObj>
              </mc:Choice>
              <mc:Fallback>
                <p:oleObj name="" r:id="rId5" imgW="5219700" imgH="1685925" progId="Paint.Picture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598738" y="4999038"/>
                        <a:ext cx="6959600" cy="1685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2" name="Rectangle 7"/>
          <p:cNvSpPr/>
          <p:nvPr/>
        </p:nvSpPr>
        <p:spPr>
          <a:xfrm>
            <a:off x="906463" y="3757613"/>
            <a:ext cx="10361612" cy="7683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负载平衡：</a:t>
            </a:r>
            <a:r>
              <a:rPr lang="en-US" altLang="zh-CN" sz="2000" b="1" dirty="0">
                <a:latin typeface="宋体" panose="02000500000000000000" pitchFamily="2" charset="-122"/>
              </a:rPr>
              <a:t>CMOS</a:t>
            </a:r>
            <a:r>
              <a:rPr lang="zh-CN" altLang="en-US" sz="2000" b="1" dirty="0">
                <a:latin typeface="宋体" panose="02000500000000000000" pitchFamily="2" charset="-122"/>
              </a:rPr>
              <a:t>的负载能力较低，分推</a:t>
            </a:r>
            <a:endParaRPr lang="zh-CN" altLang="en-US" sz="20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838200" y="276225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从</a:t>
            </a:r>
            <a:r>
              <a:rPr lang="en-US" altLang="zh-CN" sz="4000" dirty="0"/>
              <a:t>Verilog</a:t>
            </a:r>
            <a:r>
              <a:rPr lang="zh-CN" altLang="en-US" sz="4000" dirty="0"/>
              <a:t>到版图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03" name="Rectangle 2"/>
          <p:cNvSpPr/>
          <p:nvPr/>
        </p:nvSpPr>
        <p:spPr>
          <a:xfrm>
            <a:off x="914400" y="609600"/>
            <a:ext cx="1036161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Verilog</a:t>
            </a:r>
            <a:r>
              <a:rPr lang="zh-CN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语言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51204" name="Rectangle 3"/>
          <p:cNvSpPr/>
          <p:nvPr/>
        </p:nvSpPr>
        <p:spPr>
          <a:xfrm>
            <a:off x="452438" y="1981200"/>
            <a:ext cx="11434762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做结构设计时要明白逻辑上是什么样子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做逻辑设计时要明白物理上是什么样子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硬件设计人员和软件设计人员对</a:t>
            </a:r>
            <a:r>
              <a:rPr lang="en-US" altLang="zh-CN" sz="2000" b="1" dirty="0">
                <a:latin typeface="宋体" panose="02000500000000000000" pitchFamily="2" charset="-122"/>
              </a:rPr>
              <a:t>Verilog</a:t>
            </a:r>
            <a:r>
              <a:rPr lang="zh-CN" altLang="en-US" sz="2000" b="1" dirty="0">
                <a:latin typeface="宋体" panose="02000500000000000000" pitchFamily="2" charset="-122"/>
              </a:rPr>
              <a:t>有不同认识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我只用</a:t>
            </a:r>
            <a:r>
              <a:rPr lang="en-US" altLang="zh-CN" sz="2000" b="1" dirty="0">
                <a:latin typeface="宋体" panose="02000500000000000000" pitchFamily="2" charset="-122"/>
              </a:rPr>
              <a:t>Verilog</a:t>
            </a:r>
            <a:r>
              <a:rPr lang="zh-CN" altLang="en-US" sz="2000" b="1" dirty="0">
                <a:latin typeface="宋体" panose="02000500000000000000" pitchFamily="2" charset="-122"/>
              </a:rPr>
              <a:t>中三种语句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组合逻辑：</a:t>
            </a:r>
            <a:r>
              <a:rPr lang="en-US" altLang="zh-CN" sz="1600" b="1" dirty="0">
                <a:latin typeface="宋体" panose="02000500000000000000" pitchFamily="2" charset="-122"/>
              </a:rPr>
              <a:t>assign </a:t>
            </a:r>
            <a:endParaRPr lang="en-US" altLang="zh-CN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时序逻辑：</a:t>
            </a:r>
            <a:r>
              <a:rPr lang="en-US" altLang="zh-CN" sz="1600" b="1" dirty="0">
                <a:latin typeface="宋体" panose="02000500000000000000" pitchFamily="2" charset="-122"/>
              </a:rPr>
              <a:t>always (@posedge clock) </a:t>
            </a:r>
            <a:endParaRPr lang="en-US" altLang="zh-CN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模块调用</a:t>
            </a:r>
            <a:endParaRPr lang="zh-CN" altLang="en-US" sz="16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Verilog </a:t>
            </a:r>
            <a:r>
              <a:rPr lang="zh-CN" altLang="zh-CN" dirty="0"/>
              <a:t>语言---组合逻辑</a:t>
            </a:r>
            <a:endParaRPr lang="zh-CN" altLang="en-US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914400" y="1455738"/>
            <a:ext cx="5942013" cy="5002212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spcBef>
                <a:spcPct val="0"/>
              </a:spcBef>
            </a:pPr>
            <a:r>
              <a:rPr lang="zh-CN" altLang="en-US" dirty="0">
                <a:latin typeface="+mn-lt"/>
                <a:ea typeface="+mn-ea"/>
                <a:cs typeface="+mn-cs"/>
              </a:rPr>
              <a:t>组合逻辑</a:t>
            </a:r>
            <a:r>
              <a:rPr lang="en-US" altLang="zh-CN" dirty="0">
                <a:latin typeface="+mn-lt"/>
                <a:ea typeface="+mn-ea"/>
                <a:cs typeface="+mn-cs"/>
              </a:rPr>
              <a:t>---assign</a:t>
            </a:r>
            <a:r>
              <a:rPr lang="zh-CN" altLang="en-US" dirty="0">
                <a:latin typeface="+mn-lt"/>
                <a:ea typeface="+mn-ea"/>
                <a:cs typeface="+mn-cs"/>
              </a:rPr>
              <a:t>语句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+mn-lt"/>
                <a:ea typeface="+mn-ea"/>
              </a:rPr>
              <a:t> 以一位全加器为例</a:t>
            </a:r>
            <a:endParaRPr lang="zh-CN" altLang="en-US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endParaRPr lang="zh-CN" altLang="en-US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module full_adder(a,b,c,s,cout);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  input a,b,c;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  output s,out;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  assign s=a^b^c;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  assign cout=a&amp;b | b&amp;c | c&amp;a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endmodule</a:t>
            </a:r>
            <a:endParaRPr lang="en-US" altLang="zh-CN" dirty="0">
              <a:latin typeface="+mn-lt"/>
              <a:ea typeface="+mn-ea"/>
            </a:endParaRPr>
          </a:p>
        </p:txBody>
      </p:sp>
      <p:pic>
        <p:nvPicPr>
          <p:cNvPr id="52229" name="Picture 4" descr="4612806682958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9413" y="3189288"/>
            <a:ext cx="5130800" cy="2565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325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Verilog</a:t>
            </a:r>
            <a:r>
              <a:rPr lang="zh-CN" altLang="en-US" dirty="0"/>
              <a:t>语言</a:t>
            </a:r>
            <a:r>
              <a:rPr lang="en-US" altLang="zh-CN" dirty="0"/>
              <a:t>----</a:t>
            </a:r>
            <a:r>
              <a:rPr lang="zh-CN" altLang="en-US" dirty="0"/>
              <a:t>时序逻辑</a:t>
            </a:r>
            <a:endParaRPr lang="zh-CN" altLang="en-US" dirty="0"/>
          </a:p>
        </p:txBody>
      </p:sp>
      <p:sp>
        <p:nvSpPr>
          <p:cNvPr id="53252" name="Rectangle 3"/>
          <p:cNvSpPr>
            <a:spLocks noGrp="1"/>
          </p:cNvSpPr>
          <p:nvPr>
            <p:ph idx="1"/>
          </p:nvPr>
        </p:nvSpPr>
        <p:spPr>
          <a:xfrm>
            <a:off x="914400" y="1592263"/>
            <a:ext cx="10361613" cy="5265737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spcBef>
                <a:spcPct val="0"/>
              </a:spcBef>
            </a:pPr>
            <a:r>
              <a:rPr lang="zh-CN" altLang="en-US" dirty="0">
                <a:latin typeface="+mn-lt"/>
                <a:ea typeface="+mn-ea"/>
                <a:cs typeface="+mn-cs"/>
              </a:rPr>
              <a:t>时序逻辑</a:t>
            </a:r>
            <a:r>
              <a:rPr lang="en-US" altLang="zh-CN" dirty="0">
                <a:latin typeface="+mn-lt"/>
                <a:ea typeface="+mn-ea"/>
                <a:cs typeface="+mn-cs"/>
              </a:rPr>
              <a:t>---</a:t>
            </a:r>
            <a:r>
              <a:rPr lang="zh-CN" altLang="en-US" dirty="0">
                <a:latin typeface="+mn-lt"/>
                <a:ea typeface="+mn-ea"/>
                <a:cs typeface="+mn-cs"/>
              </a:rPr>
              <a:t>触发器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+mn-lt"/>
                <a:ea typeface="+mn-ea"/>
              </a:rPr>
              <a:t>以一位触发器为例</a:t>
            </a:r>
            <a:endParaRPr lang="zh-CN" altLang="en-US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endParaRPr lang="zh-CN" altLang="en-US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module dflipflop(D,C,G,Q);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input D,C,G;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output Q;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reg Q;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always (@posedge C)begin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  if (G) Q&lt;=D;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end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endmodule</a:t>
            </a:r>
            <a:endParaRPr lang="en-US" altLang="zh-CN" dirty="0">
              <a:latin typeface="+mn-lt"/>
              <a:ea typeface="+mn-ea"/>
            </a:endParaRPr>
          </a:p>
        </p:txBody>
      </p:sp>
      <p:grpSp>
        <p:nvGrpSpPr>
          <p:cNvPr id="53253" name="Group 18"/>
          <p:cNvGrpSpPr/>
          <p:nvPr/>
        </p:nvGrpSpPr>
        <p:grpSpPr>
          <a:xfrm>
            <a:off x="8393113" y="2862263"/>
            <a:ext cx="2679700" cy="1295400"/>
            <a:chOff x="2314" y="2785"/>
            <a:chExt cx="1266" cy="816"/>
          </a:xfrm>
        </p:grpSpPr>
        <p:grpSp>
          <p:nvGrpSpPr>
            <p:cNvPr id="53254" name="Group 17"/>
            <p:cNvGrpSpPr/>
            <p:nvPr/>
          </p:nvGrpSpPr>
          <p:grpSpPr>
            <a:xfrm>
              <a:off x="2575" y="2785"/>
              <a:ext cx="748" cy="576"/>
              <a:chOff x="2575" y="2785"/>
              <a:chExt cx="748" cy="576"/>
            </a:xfrm>
          </p:grpSpPr>
          <p:sp>
            <p:nvSpPr>
              <p:cNvPr id="53259" name="Text Box 5"/>
              <p:cNvSpPr txBox="1"/>
              <p:nvPr/>
            </p:nvSpPr>
            <p:spPr>
              <a:xfrm>
                <a:off x="2582" y="2856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D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53260" name="Text Box 6"/>
              <p:cNvSpPr txBox="1"/>
              <p:nvPr/>
            </p:nvSpPr>
            <p:spPr>
              <a:xfrm>
                <a:off x="2577" y="3154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C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53261" name="Text Box 7"/>
              <p:cNvSpPr txBox="1"/>
              <p:nvPr/>
            </p:nvSpPr>
            <p:spPr>
              <a:xfrm>
                <a:off x="2575" y="2785"/>
                <a:ext cx="748" cy="576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algn="ctr">
                  <a:spcBef>
                    <a:spcPct val="50000"/>
                  </a:spcBef>
                </a:pPr>
                <a:endParaRPr lang="en-US" altLang="zh-CN" sz="1400" dirty="0">
                  <a:latin typeface="Times New Roman" pitchFamily="18" charset="0"/>
                </a:endParaRPr>
              </a:p>
              <a:p>
                <a:pPr algn="ctr">
                  <a:spcBef>
                    <a:spcPct val="50000"/>
                  </a:spcBef>
                </a:pPr>
                <a:r>
                  <a:rPr lang="en-US" altLang="zh-CN" sz="1400" dirty="0">
                    <a:latin typeface="Times New Roman" pitchFamily="18" charset="0"/>
                  </a:rPr>
                  <a:t>D Flip Flop</a:t>
                </a:r>
                <a:endParaRPr lang="en-US" altLang="zh-CN" dirty="0">
                  <a:latin typeface="Times New Roman" pitchFamily="18" charset="0"/>
                </a:endParaRPr>
              </a:p>
            </p:txBody>
          </p:sp>
          <p:sp>
            <p:nvSpPr>
              <p:cNvPr id="53262" name="Text Box 8"/>
              <p:cNvSpPr txBox="1"/>
              <p:nvPr/>
            </p:nvSpPr>
            <p:spPr>
              <a:xfrm>
                <a:off x="3196" y="2868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Q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  <p:sp>
            <p:nvSpPr>
              <p:cNvPr id="53263" name="Text Box 11"/>
              <p:cNvSpPr txBox="1"/>
              <p:nvPr/>
            </p:nvSpPr>
            <p:spPr>
              <a:xfrm>
                <a:off x="2895" y="3205"/>
                <a:ext cx="109" cy="1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0" tIns="0" rIns="0" bIns="0" anchor="ctr" anchorCtr="0">
                <a:spAutoFit/>
              </a:bodyPr>
              <a:p>
                <a:pPr algn="ctr"/>
                <a:r>
                  <a:rPr lang="en-US" altLang="zh-CN" sz="1600" dirty="0">
                    <a:latin typeface="Times New Roman" pitchFamily="18" charset="0"/>
                  </a:rPr>
                  <a:t>G</a:t>
                </a:r>
                <a:endParaRPr lang="en-US" altLang="zh-CN" sz="1600" dirty="0">
                  <a:latin typeface="Times New Roman" pitchFamily="18" charset="0"/>
                </a:endParaRPr>
              </a:p>
            </p:txBody>
          </p:sp>
        </p:grpSp>
        <p:sp>
          <p:nvSpPr>
            <p:cNvPr id="53255" name="Line 12"/>
            <p:cNvSpPr/>
            <p:nvPr/>
          </p:nvSpPr>
          <p:spPr>
            <a:xfrm>
              <a:off x="2314" y="2930"/>
              <a:ext cx="2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6" name="Line 13"/>
            <p:cNvSpPr/>
            <p:nvPr/>
          </p:nvSpPr>
          <p:spPr>
            <a:xfrm>
              <a:off x="2314" y="3234"/>
              <a:ext cx="2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7" name="Line 14"/>
            <p:cNvSpPr/>
            <p:nvPr/>
          </p:nvSpPr>
          <p:spPr>
            <a:xfrm>
              <a:off x="3322" y="2955"/>
              <a:ext cx="25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3258" name="Line 16"/>
            <p:cNvSpPr/>
            <p:nvPr/>
          </p:nvSpPr>
          <p:spPr>
            <a:xfrm>
              <a:off x="2953" y="3359"/>
              <a:ext cx="0" cy="2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914400" y="21590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Verilog</a:t>
            </a:r>
            <a:r>
              <a:rPr lang="zh-CN" altLang="zh-CN" dirty="0"/>
              <a:t>语言----模块调用</a:t>
            </a:r>
            <a:endParaRPr lang="zh-CN" altLang="en-US" dirty="0"/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254000" y="1179513"/>
            <a:ext cx="11714163" cy="5387975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lnSpc>
                <a:spcPct val="135000"/>
              </a:lnSpc>
              <a:spcBef>
                <a:spcPct val="0"/>
              </a:spcBef>
            </a:pPr>
            <a:r>
              <a:rPr lang="zh-CN" altLang="en-US" dirty="0">
                <a:latin typeface="+mn-lt"/>
                <a:ea typeface="+mn-ea"/>
                <a:cs typeface="+mn-cs"/>
              </a:rPr>
              <a:t>以四位串行加法器为例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module adder4(a,b,cin,s,cout);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input [3:0] a;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input [3:0] b;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input cin;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output [3:0] s;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output cout;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wire carry[2:0]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full_adder  bit0(.a(a[0]),.b(b[0]),.c(cin[0]),.s(s[0]),.cout(carry[0]));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full_adder  bit1(.a(a[1]),.b(b[1]),.c(carry[0]),.s(s[1]),.cout(carry[1]));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full_adder  bit2(.a(a[2]),.b(b[2]),.c(carry[1]),.s(s[2]),.cout(carry[2]));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full_adder  bit3(.a(a[3]),.b(b[3]),.c(carry[2]),.s(s[3]),.cout(cout));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endmodule</a:t>
            </a:r>
            <a:endParaRPr lang="en-US" altLang="zh-CN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5299" name="Rectangle 1026"/>
          <p:cNvSpPr>
            <a:spLocks noGrp="1"/>
          </p:cNvSpPr>
          <p:nvPr>
            <p:ph type="title"/>
          </p:nvPr>
        </p:nvSpPr>
        <p:spPr>
          <a:xfrm>
            <a:off x="914400" y="323850"/>
            <a:ext cx="10361613" cy="635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Verilog</a:t>
            </a:r>
            <a:r>
              <a:rPr lang="zh-CN" altLang="zh-CN" dirty="0"/>
              <a:t>语言</a:t>
            </a:r>
            <a:endParaRPr lang="zh-CN" altLang="en-US" dirty="0"/>
          </a:p>
        </p:txBody>
      </p:sp>
      <p:sp>
        <p:nvSpPr>
          <p:cNvPr id="55300" name="Rectangle 1027"/>
          <p:cNvSpPr>
            <a:spLocks noGrp="1"/>
          </p:cNvSpPr>
          <p:nvPr>
            <p:ph idx="1"/>
          </p:nvPr>
        </p:nvSpPr>
        <p:spPr>
          <a:xfrm>
            <a:off x="881063" y="1208088"/>
            <a:ext cx="10361612" cy="5649912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lnSpc>
                <a:spcPct val="135000"/>
              </a:lnSpc>
              <a:spcBef>
                <a:spcPct val="0"/>
              </a:spcBef>
            </a:pPr>
            <a:r>
              <a:rPr lang="zh-CN" altLang="en-US" dirty="0">
                <a:latin typeface="+mn-lt"/>
                <a:ea typeface="+mn-ea"/>
                <a:cs typeface="+mn-cs"/>
              </a:rPr>
              <a:t>四位计数器</a:t>
            </a:r>
            <a:endParaRPr lang="zh-CN" altLang="en-US" dirty="0">
              <a:latin typeface="+mn-lt"/>
              <a:ea typeface="+mn-ea"/>
              <a:cs typeface="+mn-cs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module counter4(reset,en,clock,out);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input reset,en,clock;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output [3:0] out;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reg [3:0] counter;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wire [3:0] c_in;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assign out = counter;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adder4 counter(.a(counter),.b(4’b0),.cin(1’b1),.s(c_in),.cout());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always (@posedge clock) begin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counter &lt;= reset ? 0 : en ? c_in : counter;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//counter&lt;=reset ? 0 : en ? counter +1 : counter;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end</a:t>
            </a:r>
            <a:endParaRPr lang="en-US" altLang="zh-CN" dirty="0">
              <a:latin typeface="+mn-lt"/>
              <a:ea typeface="+mn-ea"/>
            </a:endParaRPr>
          </a:p>
          <a:p>
            <a:pPr marL="720725" lvl="1" eaLnBrk="1" hangingPunct="1">
              <a:lnSpc>
                <a:spcPct val="135000"/>
              </a:lnSpc>
              <a:spcBef>
                <a:spcPct val="0"/>
              </a:spcBef>
              <a:buNone/>
            </a:pPr>
            <a:r>
              <a:rPr lang="en-US" altLang="zh-CN" dirty="0">
                <a:latin typeface="+mn-lt"/>
                <a:ea typeface="+mn-ea"/>
              </a:rPr>
              <a:t>endmodule</a:t>
            </a:r>
            <a:endParaRPr lang="en-US" altLang="zh-CN" dirty="0"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从</a:t>
            </a:r>
            <a:r>
              <a:rPr lang="en-US" altLang="zh-CN" dirty="0"/>
              <a:t>Verilog </a:t>
            </a:r>
            <a:r>
              <a:rPr lang="zh-CN" altLang="en-US" dirty="0"/>
              <a:t>到</a:t>
            </a:r>
            <a:r>
              <a:rPr lang="en-US" altLang="zh-CN" dirty="0"/>
              <a:t>GDSII</a:t>
            </a:r>
            <a:endParaRPr lang="en-US" altLang="zh-CN" dirty="0"/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360680" indent="-360680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以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3-8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译码器为例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Verilog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网表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zh-CN" altLang="en-US" dirty="0">
                <a:latin typeface="宋体" panose="02000500000000000000" pitchFamily="2" charset="-122"/>
                <a:ea typeface="+mn-ea"/>
              </a:rPr>
              <a:t>布线</a:t>
            </a:r>
            <a:endParaRPr lang="zh-CN" altLang="en-US" dirty="0">
              <a:latin typeface="宋体" panose="02000500000000000000" pitchFamily="2" charset="-122"/>
              <a:ea typeface="+mn-ea"/>
            </a:endParaRPr>
          </a:p>
          <a:p>
            <a:pPr marL="720725" lvl="1" eaLnBrk="1" hangingPunct="1">
              <a:spcBef>
                <a:spcPct val="0"/>
              </a:spcBef>
            </a:pPr>
            <a:r>
              <a:rPr lang="en-US" altLang="zh-CN" dirty="0">
                <a:latin typeface="宋体" panose="02000500000000000000" pitchFamily="2" charset="-122"/>
                <a:ea typeface="+mn-ea"/>
              </a:rPr>
              <a:t>GDSII</a:t>
            </a:r>
            <a:endParaRPr lang="en-US" altLang="zh-CN" dirty="0">
              <a:latin typeface="宋体" panose="02000500000000000000" pitchFamily="2" charset="-122"/>
              <a:ea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734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Verilog</a:t>
            </a:r>
            <a:endParaRPr lang="en-US" altLang="zh-CN" dirty="0"/>
          </a:p>
        </p:txBody>
      </p:sp>
      <p:sp>
        <p:nvSpPr>
          <p:cNvPr id="57348" name="Rectangle 3"/>
          <p:cNvSpPr>
            <a:spLocks noGrp="1"/>
          </p:cNvSpPr>
          <p:nvPr>
            <p:ph idx="1"/>
          </p:nvPr>
        </p:nvSpPr>
        <p:spPr>
          <a:xfrm>
            <a:off x="452438" y="1592263"/>
            <a:ext cx="11344275" cy="4503737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module decode(in, out);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input [2:0] in;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output [7:0] out;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assign out[0] = (!in[2]) &amp;&amp; (!in [1]) &amp;&amp; (!in[0]); // (in==3'b000)?1:0;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assign out[1] = (!in[2]) &amp;&amp; (!in [1]) &amp;&amp; ( in[0]); // (in==3'b001)?1:0;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assign out[2] = (!in[2]) &amp;&amp; ( in [1]) &amp;&amp; (!in[0]); // (in==3'b010)?1:0;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assign out[3] = (!in[2]) &amp;&amp; ( in [1]) &amp;&amp; ( in[0]); // (in==3'b011)?1:0;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assign out[4] = ( in[2]) &amp;&amp; (!in [1]) &amp;&amp; (!in[0]); // (in==3'b100)?1:0;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assign out[5] = ( in[2]) &amp;&amp; (!in [1]) &amp;&amp; ( in[0]); // (in==3'b101)?1:0;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assign out[6] = ( in[2]) &amp;&amp; ( in [1]) &amp;&amp; (!in[0]); // (in==3'b110)?1:0;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assign out[7] = ( in[2]) &amp;&amp; ( in [1]) &amp;&amp; ( in[0]); // (in==3'b111)?1:0;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endmodule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spcBef>
                <a:spcPct val="0"/>
              </a:spcBef>
              <a:buNone/>
            </a:pPr>
            <a:endParaRPr lang="en-US" altLang="zh-CN" sz="1400" dirty="0">
              <a:ea typeface="+mn-lt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12190413" cy="990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网  表</a:t>
            </a:r>
            <a:endParaRPr lang="zh-CN" altLang="en-US" dirty="0"/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1027113" y="765175"/>
            <a:ext cx="9472612" cy="3887788"/>
          </a:xfrm>
        </p:spPr>
        <p:txBody>
          <a:bodyPr vert="horz" wrap="square" lIns="91440" tIns="45720" rIns="91440" bIns="45720" anchor="t" anchorCtr="0"/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module decode ( in, out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input  [2:0] in;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output [7:0] out;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wire n1, n2, n3;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AND3X1 U1 ( .A(in[1]), .B(in[0]), .C(in[2]), .Y(out[7])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AND3X1 U2 ( .A(in[1]), .B(n1),    .C(in[2]), .Y(out[6])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AND3X1 U3 ( .A(in[0]), .B(n2),    .C(in[2]), .Y(out[5])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AND3X1 U4 ( .A(n1),    .B(n2),    .C(in[2]), .Y(out[4])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AND3X1 U5 ( .A(in[0]), .B(n3),    .C(in[1]), .Y(out[3])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AND3X1 U6 ( .A(n1),    .B(n3),    .C(in[1]), .Y(out[2])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AND3X1 U7 ( .A(n2),    .B(n3),    .C(in[0]), .Y(out[1])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AND3X1 U8 ( .A(n2),    .B(n3),    .C(n1),    .Y(out[0])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INVX1  U9 ( .A(in[0]), .Y(n1)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INVX1 U10 ( .A(in[1]), .Y(n2)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    INVX1 U11 ( .A(in[2]), .Y(n3) );</a:t>
            </a:r>
            <a:endParaRPr lang="en-US" altLang="zh-CN" sz="1400" dirty="0">
              <a:ea typeface="+mn-lt"/>
              <a:cs typeface="+mn-cs"/>
            </a:endParaRPr>
          </a:p>
          <a:p>
            <a:pPr marL="360680" indent="-360680" eaLnBrk="1" hangingPunct="1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1400" dirty="0">
                <a:ea typeface="+mn-lt"/>
                <a:cs typeface="+mn-cs"/>
              </a:rPr>
              <a:t>endmodule</a:t>
            </a:r>
            <a:endParaRPr lang="en-US" altLang="zh-CN" sz="1400" dirty="0">
              <a:ea typeface="+mn-lt"/>
              <a:cs typeface="+mn-cs"/>
            </a:endParaRPr>
          </a:p>
        </p:txBody>
      </p:sp>
      <p:pic>
        <p:nvPicPr>
          <p:cNvPr id="58373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9125" y="4806950"/>
            <a:ext cx="8404225" cy="20177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1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12290" name="Object 2"/>
          <p:cNvGraphicFramePr/>
          <p:nvPr/>
        </p:nvGraphicFramePr>
        <p:xfrm>
          <a:off x="938213" y="1487488"/>
          <a:ext cx="10171112" cy="503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1" imgW="10372725" imgH="6848475" progId="Paint.Picture">
                  <p:embed/>
                </p:oleObj>
              </mc:Choice>
              <mc:Fallback>
                <p:oleObj name="" r:id="rId1" imgW="10372725" imgH="6848475" progId="Paint.Picture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38213" y="1487488"/>
                        <a:ext cx="10171112" cy="5037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Rectangle 3"/>
          <p:cNvSpPr>
            <a:spLocks noGrp="1"/>
          </p:cNvSpPr>
          <p:nvPr>
            <p:ph type="title"/>
          </p:nvPr>
        </p:nvSpPr>
        <p:spPr>
          <a:xfrm>
            <a:off x="863600" y="28575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布线后</a:t>
            </a:r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7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aphicFrame>
        <p:nvGraphicFramePr>
          <p:cNvPr id="13314" name="Object 2"/>
          <p:cNvGraphicFramePr/>
          <p:nvPr/>
        </p:nvGraphicFramePr>
        <p:xfrm>
          <a:off x="3741738" y="2143125"/>
          <a:ext cx="8126412" cy="342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1010900" imgH="6181725" progId="Paint.Picture">
                  <p:embed/>
                </p:oleObj>
              </mc:Choice>
              <mc:Fallback>
                <p:oleObj name="" r:id="rId1" imgW="11010900" imgH="6181725" progId="Paint.Picture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41738" y="2143125"/>
                        <a:ext cx="8126412" cy="34226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3"/>
          <p:cNvGraphicFramePr/>
          <p:nvPr/>
        </p:nvGraphicFramePr>
        <p:xfrm>
          <a:off x="344488" y="2189163"/>
          <a:ext cx="1995487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5867400" imgH="8362950" progId="Paint.Picture">
                  <p:embed/>
                </p:oleObj>
              </mc:Choice>
              <mc:Fallback>
                <p:oleObj name="" r:id="rId3" imgW="5867400" imgH="8362950" progId="Paint.Picture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4488" y="2189163"/>
                        <a:ext cx="1995487" cy="2133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4"/>
          <p:cNvGraphicFramePr/>
          <p:nvPr/>
        </p:nvGraphicFramePr>
        <p:xfrm>
          <a:off x="2439988" y="2166938"/>
          <a:ext cx="1060450" cy="212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5" imgW="2952750" imgH="7896225" progId="Paint.Picture">
                  <p:embed/>
                </p:oleObj>
              </mc:Choice>
              <mc:Fallback>
                <p:oleObj name="" r:id="rId5" imgW="2952750" imgH="7896225" progId="Paint.Picture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9988" y="2166938"/>
                        <a:ext cx="1060450" cy="2127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版图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9395" name="Rectangle 2"/>
          <p:cNvSpPr>
            <a:spLocks noGrp="1"/>
          </p:cNvSpPr>
          <p:nvPr>
            <p:ph type="title"/>
          </p:nvPr>
        </p:nvSpPr>
        <p:spPr>
          <a:xfrm>
            <a:off x="838200" y="2762250"/>
            <a:ext cx="10361613" cy="11430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dirty="0"/>
              <a:t>其它“</a:t>
            </a:r>
            <a:r>
              <a:rPr lang="en-US" altLang="zh-CN" sz="4000" dirty="0"/>
              <a:t>0”</a:t>
            </a:r>
            <a:r>
              <a:rPr lang="zh-CN" altLang="en-US" sz="4000" dirty="0"/>
              <a:t>和“</a:t>
            </a:r>
            <a:r>
              <a:rPr lang="en-US" altLang="zh-CN" sz="4000" dirty="0"/>
              <a:t>1”</a:t>
            </a:r>
            <a:r>
              <a:rPr lang="zh-CN" altLang="en-US" sz="4000" dirty="0"/>
              <a:t>的表示方法</a:t>
            </a:r>
            <a:endParaRPr lang="zh-CN" altLang="en-US" sz="4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其它“</a:t>
            </a:r>
            <a:r>
              <a:rPr lang="en-US" altLang="zh-CN" dirty="0"/>
              <a:t>0”</a:t>
            </a:r>
            <a:r>
              <a:rPr lang="zh-CN" altLang="en-US" dirty="0"/>
              <a:t>和“</a:t>
            </a:r>
            <a:r>
              <a:rPr lang="en-US" altLang="zh-CN" dirty="0"/>
              <a:t>1”</a:t>
            </a:r>
            <a:r>
              <a:rPr lang="zh-CN" altLang="en-US" dirty="0"/>
              <a:t>表示方法</a:t>
            </a:r>
            <a:endParaRPr lang="zh-CN" altLang="en-US" dirty="0"/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用磁通量的有无表示，超导体工艺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用能级的高低表示，量子计算机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用基因序列表示，</a:t>
            </a:r>
            <a:r>
              <a:rPr lang="en-US" altLang="zh-CN" dirty="0">
                <a:latin typeface="宋体" panose="02000500000000000000" pitchFamily="2" charset="-122"/>
                <a:ea typeface="+mn-ea"/>
                <a:cs typeface="+mn-cs"/>
              </a:rPr>
              <a:t>A, G, C, T, DNA</a:t>
            </a:r>
            <a:r>
              <a:rPr lang="zh-CN" altLang="en-US" dirty="0">
                <a:latin typeface="宋体" panose="02000500000000000000" pitchFamily="2" charset="-122"/>
                <a:ea typeface="+mn-ea"/>
                <a:cs typeface="+mn-cs"/>
              </a:rPr>
              <a:t>计算机，</a:t>
            </a:r>
            <a:r>
              <a:rPr lang="zh-CN" altLang="en-US" dirty="0">
                <a:solidFill>
                  <a:srgbClr val="FF0000"/>
                </a:solidFill>
                <a:latin typeface="宋体" panose="02000500000000000000" pitchFamily="2" charset="-122"/>
                <a:ea typeface="+mn-ea"/>
                <a:cs typeface="+mn-cs"/>
              </a:rPr>
              <a:t>非二进制？</a:t>
            </a:r>
            <a:endParaRPr lang="zh-CN" altLang="en-US" dirty="0">
              <a:latin typeface="宋体" panose="02000500000000000000" pitchFamily="2" charset="-122"/>
              <a:ea typeface="+mn-ea"/>
              <a:cs typeface="+mn-cs"/>
            </a:endParaRPr>
          </a:p>
          <a:p>
            <a:pPr marL="360680" indent="-360680" eaLnBrk="1" hangingPunct="1"/>
            <a:endParaRPr lang="en-US" altLang="zh-CN" dirty="0">
              <a:latin typeface="宋体" panose="02000500000000000000" pitchFamily="2" charset="-122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4340" name="Rectangle 2"/>
          <p:cNvSpPr/>
          <p:nvPr/>
        </p:nvSpPr>
        <p:spPr>
          <a:xfrm>
            <a:off x="914400" y="228600"/>
            <a:ext cx="10361613" cy="10668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超导计算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---RSFQ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技术</a:t>
            </a:r>
            <a:b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</a:b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 </a:t>
            </a:r>
            <a:r>
              <a:rPr lang="zh-CN" altLang="zh-CN" sz="2000" dirty="0">
                <a:solidFill>
                  <a:srgbClr val="FF0000"/>
                </a:solidFill>
                <a:latin typeface="Arial" panose="02080604020202020204" pitchFamily="34" charset="0"/>
                <a:ea typeface="隶书" pitchFamily="49" charset="-122"/>
              </a:rPr>
              <a:t>(</a:t>
            </a:r>
            <a:r>
              <a:rPr lang="en-US" altLang="zh-CN" sz="2000" dirty="0">
                <a:solidFill>
                  <a:srgbClr val="FF0000"/>
                </a:solidFill>
                <a:latin typeface="Arial" panose="02080604020202020204" pitchFamily="34" charset="0"/>
                <a:ea typeface="隶书" pitchFamily="49" charset="-122"/>
              </a:rPr>
              <a:t>Rapid Single Flux Quantum)</a:t>
            </a:r>
            <a:endParaRPr lang="en-US" altLang="zh-CN" sz="5400" dirty="0">
              <a:solidFill>
                <a:srgbClr val="FF0000"/>
              </a:solidFill>
              <a:latin typeface="Arial" panose="02080604020202020204" pitchFamily="34" charset="0"/>
              <a:ea typeface="隶书" pitchFamily="49" charset="-122"/>
            </a:endParaRPr>
          </a:p>
        </p:txBody>
      </p:sp>
      <p:sp>
        <p:nvSpPr>
          <p:cNvPr id="14341" name="Rectangle 3"/>
          <p:cNvSpPr/>
          <p:nvPr/>
        </p:nvSpPr>
        <p:spPr>
          <a:xfrm>
            <a:off x="203200" y="1219200"/>
            <a:ext cx="11885613" cy="2209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基本原理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超导</a:t>
            </a:r>
            <a:r>
              <a:rPr lang="en-US" altLang="zh-CN" sz="1600" b="1" dirty="0">
                <a:latin typeface="宋体" panose="02000500000000000000" pitchFamily="2" charset="-122"/>
              </a:rPr>
              <a:t>(4-5K)</a:t>
            </a:r>
            <a:r>
              <a:rPr lang="zh-CN" altLang="en-US" sz="1600" b="1" dirty="0">
                <a:latin typeface="宋体" panose="02000500000000000000" pitchFamily="2" charset="-122"/>
              </a:rPr>
              <a:t>环中的磁通量具有量子化特性，设计电路使超导环中的磁通量只变化一个磁通量，用磁通量的有无来表示二进制数位的</a:t>
            </a:r>
            <a:r>
              <a:rPr lang="zh-CN" altLang="en-US" sz="1600" b="1" dirty="0">
                <a:latin typeface="Times New Roman" pitchFamily="18" charset="0"/>
              </a:rPr>
              <a:t>“</a:t>
            </a:r>
            <a:r>
              <a:rPr lang="en-US" altLang="zh-CN" sz="1600" b="1" dirty="0">
                <a:latin typeface="宋体" panose="02000500000000000000" pitchFamily="2" charset="-122"/>
              </a:rPr>
              <a:t>1</a:t>
            </a:r>
            <a:r>
              <a:rPr lang="en-US" altLang="zh-CN" sz="1600" b="1" dirty="0">
                <a:latin typeface="Times New Roman" pitchFamily="18" charset="0"/>
              </a:rPr>
              <a:t>”</a:t>
            </a:r>
            <a:r>
              <a:rPr lang="en-US" altLang="zh-CN" sz="1600" b="1" dirty="0">
                <a:latin typeface="宋体" panose="02000500000000000000" pitchFamily="2" charset="-12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</a:rPr>
              <a:t>和 </a:t>
            </a:r>
            <a:r>
              <a:rPr lang="zh-CN" altLang="en-US" sz="1600" b="1" dirty="0">
                <a:latin typeface="Times New Roman" pitchFamily="18" charset="0"/>
              </a:rPr>
              <a:t>“</a:t>
            </a:r>
            <a:r>
              <a:rPr lang="en-US" altLang="zh-CN" sz="1600" b="1" dirty="0">
                <a:latin typeface="宋体" panose="02000500000000000000" pitchFamily="2" charset="-122"/>
              </a:rPr>
              <a:t>0</a:t>
            </a:r>
            <a:r>
              <a:rPr lang="en-US" altLang="zh-CN" sz="1600" b="1" dirty="0">
                <a:latin typeface="Times New Roman" pitchFamily="18" charset="0"/>
              </a:rPr>
              <a:t>”</a:t>
            </a:r>
            <a:r>
              <a:rPr lang="zh-CN" altLang="en-US" sz="1600" b="1" dirty="0">
                <a:latin typeface="宋体" panose="02000500000000000000" pitchFamily="2" charset="-122"/>
              </a:rPr>
              <a:t>。磁通量的变化由外加电流控制。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SQUID (Superconducting Quantum Interface Device)</a:t>
            </a:r>
            <a:endParaRPr lang="en-US" altLang="zh-CN" sz="1800" b="1" dirty="0">
              <a:latin typeface="宋体" panose="02000500000000000000" pitchFamily="2" charset="-122"/>
            </a:endParaRPr>
          </a:p>
        </p:txBody>
      </p:sp>
      <p:graphicFrame>
        <p:nvGraphicFramePr>
          <p:cNvPr id="14338" name="Object 4"/>
          <p:cNvGraphicFramePr/>
          <p:nvPr/>
        </p:nvGraphicFramePr>
        <p:xfrm>
          <a:off x="6637338" y="3767138"/>
          <a:ext cx="5248275" cy="297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1" imgW="3867150" imgH="2924175" progId="Paint.Picture">
                  <p:embed/>
                </p:oleObj>
              </mc:Choice>
              <mc:Fallback>
                <p:oleObj name="" r:id="rId1" imgW="3867150" imgH="2924175" progId="Paint.Picture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637338" y="3767138"/>
                        <a:ext cx="5248275" cy="2976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5"/>
          <p:cNvSpPr/>
          <p:nvPr/>
        </p:nvSpPr>
        <p:spPr>
          <a:xfrm>
            <a:off x="304800" y="3592513"/>
            <a:ext cx="5789613" cy="2819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电路特点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工作频率高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--</a:t>
            </a:r>
            <a:r>
              <a:rPr lang="zh-CN" altLang="zh-CN" sz="1600" b="1" dirty="0">
                <a:latin typeface="宋体" panose="02000500000000000000" pitchFamily="2" charset="-122"/>
              </a:rPr>
              <a:t>100 </a:t>
            </a:r>
            <a:r>
              <a:rPr lang="en-US" altLang="zh-CN" sz="1600" b="1" dirty="0">
                <a:latin typeface="宋体" panose="02000500000000000000" pitchFamily="2" charset="-122"/>
              </a:rPr>
              <a:t>GHz (</a:t>
            </a:r>
            <a:r>
              <a:rPr lang="zh-CN" altLang="en-US" sz="1600" b="1" dirty="0">
                <a:latin typeface="宋体" panose="02000500000000000000" pitchFamily="2" charset="-122"/>
              </a:rPr>
              <a:t>实验室已达</a:t>
            </a:r>
            <a:r>
              <a:rPr lang="zh-CN" altLang="zh-CN" sz="1600" b="1" dirty="0">
                <a:latin typeface="宋体" panose="02000500000000000000" pitchFamily="2" charset="-122"/>
              </a:rPr>
              <a:t>370 </a:t>
            </a:r>
            <a:r>
              <a:rPr lang="en-US" altLang="zh-CN" sz="1600" b="1" dirty="0">
                <a:latin typeface="宋体" panose="02000500000000000000" pitchFamily="2" charset="-122"/>
              </a:rPr>
              <a:t>GHz, 1.5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</a:t>
            </a:r>
            <a:r>
              <a:rPr lang="en-US" altLang="zh-CN" sz="1600" b="1" dirty="0">
                <a:latin typeface="宋体" panose="02000500000000000000" pitchFamily="2" charset="-12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</a:rPr>
              <a:t>工艺</a:t>
            </a:r>
            <a:r>
              <a:rPr lang="en-US" altLang="zh-CN" sz="1600" b="1" dirty="0">
                <a:latin typeface="宋体" panose="02000500000000000000" pitchFamily="2" charset="-122"/>
              </a:rPr>
              <a:t>)</a:t>
            </a:r>
            <a:r>
              <a:rPr lang="zh-CN" altLang="en-US" sz="1600" b="1" dirty="0">
                <a:latin typeface="宋体" panose="02000500000000000000" pitchFamily="2" charset="-122"/>
              </a:rPr>
              <a:t>。</a:t>
            </a:r>
            <a:endParaRPr lang="zh-CN" altLang="zh-CN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每个门的功率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</a:t>
            </a:r>
            <a:r>
              <a:rPr lang="zh-CN" altLang="zh-CN" sz="1600" b="1" dirty="0">
                <a:latin typeface="宋体" panose="02000500000000000000" pitchFamily="2" charset="-122"/>
              </a:rPr>
              <a:t>0.1</a:t>
            </a:r>
            <a:r>
              <a:rPr lang="zh-CN" altLang="zh-CN" sz="1600" b="1" dirty="0">
                <a:latin typeface="宋体" panose="02000500000000000000" pitchFamily="2" charset="-122"/>
                <a:sym typeface="Symbol" pitchFamily="18" charset="2"/>
              </a:rPr>
              <a:t></a:t>
            </a:r>
            <a:r>
              <a:rPr lang="en-US" altLang="zh-CN" sz="1600" b="1" dirty="0">
                <a:latin typeface="宋体" panose="02000500000000000000" pitchFamily="2" charset="-122"/>
              </a:rPr>
              <a:t>W</a:t>
            </a:r>
            <a:r>
              <a:rPr lang="zh-CN" altLang="en-US" sz="1600" b="1" dirty="0">
                <a:latin typeface="宋体" panose="02000500000000000000" pitchFamily="2" charset="-122"/>
              </a:rPr>
              <a:t>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工艺比较简单。</a:t>
            </a:r>
            <a:endParaRPr lang="zh-CN" altLang="zh-CN" sz="16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43" name="Rectangle 2"/>
          <p:cNvSpPr/>
          <p:nvPr/>
        </p:nvSpPr>
        <p:spPr>
          <a:xfrm>
            <a:off x="914400" y="228600"/>
            <a:ext cx="10361613" cy="533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量子计算（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1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61444" name="Rectangle 3"/>
          <p:cNvSpPr/>
          <p:nvPr/>
        </p:nvSpPr>
        <p:spPr>
          <a:xfrm>
            <a:off x="101600" y="914400"/>
            <a:ext cx="11885613" cy="5715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量子力学特性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量子叠加态</a:t>
            </a:r>
            <a:r>
              <a:rPr lang="en-US" altLang="zh-CN" sz="1600" b="1" dirty="0">
                <a:latin typeface="宋体" panose="02000500000000000000" pitchFamily="2" charset="-122"/>
              </a:rPr>
              <a:t>(superposed state)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：</a:t>
            </a:r>
            <a:r>
              <a:rPr lang="zh-CN" altLang="en-US" sz="1600" b="1" dirty="0">
                <a:latin typeface="宋体" panose="02000500000000000000" pitchFamily="2" charset="-122"/>
              </a:rPr>
              <a:t>量子器件的信息位称为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量子位</a:t>
            </a:r>
            <a:r>
              <a:rPr lang="zh-CN" altLang="zh-CN" sz="1600" b="1" dirty="0">
                <a:latin typeface="宋体" panose="02000500000000000000" pitchFamily="2" charset="-122"/>
              </a:rPr>
              <a:t>(</a:t>
            </a:r>
            <a:r>
              <a:rPr lang="en-US" altLang="zh-CN" sz="1600" b="1" dirty="0">
                <a:latin typeface="宋体" panose="02000500000000000000" pitchFamily="2" charset="-122"/>
              </a:rPr>
              <a:t>qubit)</a:t>
            </a:r>
            <a:r>
              <a:rPr lang="zh-CN" altLang="en-US" sz="1600" b="1" dirty="0">
                <a:latin typeface="宋体" panose="02000500000000000000" pitchFamily="2" charset="-122"/>
              </a:rPr>
              <a:t>，它可处于叠加态。叠加态可以是 </a:t>
            </a:r>
            <a:r>
              <a:rPr lang="zh-CN" altLang="en-US" sz="1600" b="1" dirty="0">
                <a:latin typeface="Times New Roman" pitchFamily="18" charset="0"/>
              </a:rPr>
              <a:t>“</a:t>
            </a:r>
            <a:r>
              <a:rPr lang="en-US" altLang="zh-CN" sz="1600" b="1" dirty="0">
                <a:latin typeface="宋体" panose="02000500000000000000" pitchFamily="2" charset="-122"/>
              </a:rPr>
              <a:t>0</a:t>
            </a:r>
            <a:r>
              <a:rPr lang="en-US" altLang="zh-CN" sz="1600" b="1" dirty="0">
                <a:latin typeface="Times New Roman" pitchFamily="18" charset="0"/>
              </a:rPr>
              <a:t>”</a:t>
            </a:r>
            <a:r>
              <a:rPr lang="en-US" altLang="zh-CN" sz="1600" b="1" dirty="0">
                <a:latin typeface="宋体" panose="02000500000000000000" pitchFamily="2" charset="-12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</a:rPr>
              <a:t>也可以是 </a:t>
            </a:r>
            <a:r>
              <a:rPr lang="zh-CN" altLang="en-US" sz="1600" b="1" dirty="0">
                <a:latin typeface="Times New Roman" pitchFamily="18" charset="0"/>
              </a:rPr>
              <a:t>“</a:t>
            </a:r>
            <a:r>
              <a:rPr lang="en-US" altLang="zh-CN" sz="1600" b="1" dirty="0">
                <a:latin typeface="宋体" panose="02000500000000000000" pitchFamily="2" charset="-122"/>
              </a:rPr>
              <a:t>1</a:t>
            </a:r>
            <a:r>
              <a:rPr lang="en-US" altLang="zh-CN" sz="1600" b="1" dirty="0">
                <a:latin typeface="Times New Roman" pitchFamily="18" charset="0"/>
              </a:rPr>
              <a:t>”</a:t>
            </a:r>
            <a:r>
              <a:rPr lang="zh-CN" altLang="zh-CN" sz="1600" b="1" dirty="0">
                <a:latin typeface="宋体" panose="02000500000000000000" pitchFamily="2" charset="-122"/>
              </a:rPr>
              <a:t>。通过测量或与其他物体发生相互作用可呈现出 </a:t>
            </a:r>
            <a:r>
              <a:rPr lang="zh-CN" altLang="zh-CN" sz="1600" b="1" dirty="0">
                <a:latin typeface="Times New Roman" pitchFamily="18" charset="0"/>
              </a:rPr>
              <a:t>“</a:t>
            </a:r>
            <a:r>
              <a:rPr lang="zh-CN" altLang="zh-CN" sz="1600" b="1" dirty="0">
                <a:latin typeface="宋体" panose="02000500000000000000" pitchFamily="2" charset="-122"/>
              </a:rPr>
              <a:t>0</a:t>
            </a:r>
            <a:r>
              <a:rPr lang="zh-CN" altLang="zh-CN" sz="1600" b="1" dirty="0">
                <a:latin typeface="Times New Roman" pitchFamily="18" charset="0"/>
              </a:rPr>
              <a:t>”</a:t>
            </a:r>
            <a:r>
              <a:rPr lang="zh-CN" altLang="zh-CN" sz="1600" b="1" dirty="0">
                <a:latin typeface="宋体" panose="02000500000000000000" pitchFamily="2" charset="-12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</a:rPr>
              <a:t>态或 </a:t>
            </a:r>
            <a:r>
              <a:rPr lang="zh-CN" altLang="en-US" sz="1600" b="1" dirty="0">
                <a:latin typeface="Times New Roman" pitchFamily="18" charset="0"/>
              </a:rPr>
              <a:t>“</a:t>
            </a:r>
            <a:r>
              <a:rPr lang="en-US" altLang="zh-CN" sz="1600" b="1" dirty="0">
                <a:latin typeface="宋体" panose="02000500000000000000" pitchFamily="2" charset="-122"/>
              </a:rPr>
              <a:t>1</a:t>
            </a:r>
            <a:r>
              <a:rPr lang="en-US" altLang="zh-CN" sz="1600" b="1" dirty="0">
                <a:latin typeface="Times New Roman" pitchFamily="18" charset="0"/>
              </a:rPr>
              <a:t>”</a:t>
            </a:r>
            <a:r>
              <a:rPr lang="en-US" altLang="zh-CN" sz="1600" b="1" dirty="0">
                <a:latin typeface="宋体" panose="02000500000000000000" pitchFamily="2" charset="-12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</a:rPr>
              <a:t>态。由于每个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量子位都</a:t>
            </a:r>
            <a:r>
              <a:rPr lang="zh-CN" altLang="en-US" sz="1600" b="1" dirty="0">
                <a:latin typeface="宋体" panose="02000500000000000000" pitchFamily="2" charset="-122"/>
              </a:rPr>
              <a:t>可以是 </a:t>
            </a:r>
            <a:r>
              <a:rPr lang="zh-CN" altLang="zh-CN" sz="1600" b="1" dirty="0">
                <a:latin typeface="Times New Roman" pitchFamily="18" charset="0"/>
              </a:rPr>
              <a:t>“</a:t>
            </a:r>
            <a:r>
              <a:rPr lang="zh-CN" altLang="zh-CN" sz="1600" b="1" dirty="0">
                <a:latin typeface="宋体" panose="02000500000000000000" pitchFamily="2" charset="-122"/>
              </a:rPr>
              <a:t>0</a:t>
            </a:r>
            <a:r>
              <a:rPr lang="zh-CN" altLang="zh-CN" sz="1600" b="1" dirty="0">
                <a:latin typeface="Times New Roman" pitchFamily="18" charset="0"/>
              </a:rPr>
              <a:t>”</a:t>
            </a:r>
            <a:r>
              <a:rPr lang="zh-CN" altLang="zh-CN" sz="1600" b="1" dirty="0">
                <a:latin typeface="宋体" panose="02000500000000000000" pitchFamily="2" charset="-12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</a:rPr>
              <a:t>或 </a:t>
            </a:r>
            <a:r>
              <a:rPr lang="zh-CN" altLang="en-US" sz="1600" b="1" dirty="0">
                <a:latin typeface="Times New Roman" pitchFamily="18" charset="0"/>
              </a:rPr>
              <a:t>“</a:t>
            </a:r>
            <a:r>
              <a:rPr lang="en-US" altLang="zh-CN" sz="1600" b="1" dirty="0">
                <a:latin typeface="宋体" panose="02000500000000000000" pitchFamily="2" charset="-122"/>
              </a:rPr>
              <a:t>1</a:t>
            </a:r>
            <a:r>
              <a:rPr lang="en-US" altLang="zh-CN" sz="1600" b="1" dirty="0">
                <a:latin typeface="Times New Roman" pitchFamily="18" charset="0"/>
              </a:rPr>
              <a:t>”</a:t>
            </a:r>
            <a:r>
              <a:rPr lang="zh-CN" altLang="en-US" sz="1600" b="1" dirty="0">
                <a:latin typeface="宋体" panose="02000500000000000000" pitchFamily="2" charset="-122"/>
              </a:rPr>
              <a:t>， </a:t>
            </a:r>
            <a:r>
              <a:rPr lang="en-US" altLang="zh-CN" sz="1600" b="1" dirty="0">
                <a:latin typeface="宋体" panose="02000500000000000000" pitchFamily="2" charset="-12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</a:rPr>
              <a:t>个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量子位就</a:t>
            </a:r>
            <a:r>
              <a:rPr lang="zh-CN" altLang="en-US" sz="1600" b="1" dirty="0">
                <a:latin typeface="宋体" panose="02000500000000000000" pitchFamily="2" charset="-122"/>
              </a:rPr>
              <a:t>可以表示 </a:t>
            </a:r>
            <a:r>
              <a:rPr lang="en-US" altLang="zh-CN" sz="1600" b="1" dirty="0">
                <a:latin typeface="宋体" panose="02000500000000000000" pitchFamily="2" charset="-122"/>
              </a:rPr>
              <a:t>2</a:t>
            </a:r>
            <a:r>
              <a:rPr lang="en-US" altLang="zh-CN" sz="1600" b="1" baseline="30000" dirty="0">
                <a:latin typeface="宋体" panose="02000500000000000000" pitchFamily="2" charset="-122"/>
              </a:rPr>
              <a:t>n</a:t>
            </a:r>
            <a:r>
              <a:rPr lang="en-US" altLang="zh-CN" sz="1600" b="1" dirty="0">
                <a:latin typeface="宋体" panose="02000500000000000000" pitchFamily="2" charset="-12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</a:rPr>
              <a:t>个 </a:t>
            </a:r>
            <a:r>
              <a:rPr lang="en-US" altLang="zh-CN" sz="1600" b="1" dirty="0">
                <a:latin typeface="宋体" panose="02000500000000000000" pitchFamily="2" charset="-12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</a:rPr>
              <a:t>位数。常规计算机的一个 </a:t>
            </a:r>
            <a:r>
              <a:rPr lang="en-US" altLang="zh-CN" sz="1600" b="1" dirty="0">
                <a:latin typeface="宋体" panose="02000500000000000000" pitchFamily="2" charset="-12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</a:rPr>
              <a:t>位存储单元只能存放一个 </a:t>
            </a:r>
            <a:r>
              <a:rPr lang="en-US" altLang="zh-CN" sz="1600" b="1" dirty="0">
                <a:latin typeface="宋体" panose="02000500000000000000" pitchFamily="2" charset="-12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</a:rPr>
              <a:t>位数，而 </a:t>
            </a:r>
            <a:r>
              <a:rPr lang="en-US" altLang="zh-CN" sz="1600" b="1" dirty="0">
                <a:latin typeface="宋体" panose="02000500000000000000" pitchFamily="2" charset="-12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</a:rPr>
              <a:t>个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量子位</a:t>
            </a:r>
            <a:r>
              <a:rPr lang="zh-CN" altLang="en-US" sz="1600" b="1" dirty="0">
                <a:latin typeface="宋体" panose="02000500000000000000" pitchFamily="2" charset="-122"/>
              </a:rPr>
              <a:t>可以存放 </a:t>
            </a:r>
            <a:r>
              <a:rPr lang="en-US" altLang="zh-CN" sz="1600" b="1" dirty="0">
                <a:latin typeface="宋体" panose="02000500000000000000" pitchFamily="2" charset="-122"/>
              </a:rPr>
              <a:t>2</a:t>
            </a:r>
            <a:r>
              <a:rPr lang="en-US" altLang="zh-CN" sz="1600" b="1" baseline="30000" dirty="0">
                <a:latin typeface="宋体" panose="02000500000000000000" pitchFamily="2" charset="-122"/>
              </a:rPr>
              <a:t>n</a:t>
            </a:r>
            <a:r>
              <a:rPr lang="en-US" altLang="zh-CN" sz="1600" b="1" dirty="0">
                <a:latin typeface="宋体" panose="02000500000000000000" pitchFamily="2" charset="-12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</a:rPr>
              <a:t>个 </a:t>
            </a:r>
            <a:r>
              <a:rPr lang="en-US" altLang="zh-CN" sz="1600" b="1" dirty="0">
                <a:latin typeface="宋体" panose="02000500000000000000" pitchFamily="2" charset="-12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</a:rPr>
              <a:t>位数，可以实现超大容量的存储器。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量子纠缠态</a:t>
            </a:r>
            <a:r>
              <a:rPr lang="en-US" altLang="zh-CN" sz="1600" b="1" dirty="0">
                <a:latin typeface="宋体" panose="02000500000000000000" pitchFamily="2" charset="-122"/>
              </a:rPr>
              <a:t>(entangled state)</a:t>
            </a:r>
            <a:r>
              <a:rPr lang="zh-CN" altLang="en-US" sz="1600" b="1" dirty="0">
                <a:latin typeface="宋体" panose="02000500000000000000" pitchFamily="2" charset="-122"/>
              </a:rPr>
              <a:t>：除了叠加态以外，用作运算的多个量子位还应处于纠缠态，即所有量子位的状态紧密相关。当测量某个量子位时，会影响其他量子位的测量结果。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量子并行 </a:t>
            </a:r>
            <a:r>
              <a:rPr lang="en-US" altLang="zh-CN" sz="1600" b="1" dirty="0">
                <a:latin typeface="宋体" panose="02000500000000000000" pitchFamily="2" charset="-122"/>
              </a:rPr>
              <a:t>(quantum parallelism)</a:t>
            </a:r>
            <a:r>
              <a:rPr lang="zh-CN" altLang="en-US" sz="1600" b="1" dirty="0">
                <a:latin typeface="宋体" panose="02000500000000000000" pitchFamily="2" charset="-122"/>
              </a:rPr>
              <a:t>：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计算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f(x)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时，可同时计算出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x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的所有值的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f(x)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。所以不需要多次循环，也不需要多个处理机并行计算。</a:t>
            </a:r>
            <a:r>
              <a:rPr lang="zh-CN" altLang="en-US" sz="1600" b="1" dirty="0">
                <a:latin typeface="宋体" panose="02000500000000000000" pitchFamily="2" charset="-122"/>
              </a:rPr>
              <a:t>　</a:t>
            </a:r>
            <a:endParaRPr lang="zh-CN" altLang="en-US" sz="16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2467" name="Rectangle 2"/>
          <p:cNvSpPr/>
          <p:nvPr/>
        </p:nvSpPr>
        <p:spPr>
          <a:xfrm>
            <a:off x="914400" y="304800"/>
            <a:ext cx="1036161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量子计算（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2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62468" name="Rectangle 3"/>
          <p:cNvSpPr/>
          <p:nvPr/>
        </p:nvSpPr>
        <p:spPr>
          <a:xfrm>
            <a:off x="182563" y="876300"/>
            <a:ext cx="11580812" cy="5105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应用领域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大数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因子分解：令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n = log</a:t>
            </a:r>
            <a:r>
              <a:rPr lang="en-US" altLang="zh-CN" sz="1600" b="1" baseline="-25000" dirty="0">
                <a:latin typeface="宋体" panose="02000500000000000000" pitchFamily="2" charset="-122"/>
                <a:sym typeface="Symbol" pitchFamily="18" charset="2"/>
              </a:rPr>
              <a:t>2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N ,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经典算法所需步骤为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2</a:t>
            </a:r>
            <a:r>
              <a:rPr lang="en-US" altLang="zh-CN" sz="1600" b="1" baseline="30000" dirty="0">
                <a:latin typeface="宋体" panose="02000500000000000000" pitchFamily="2" charset="-122"/>
                <a:sym typeface="Symbol" pitchFamily="18" charset="2"/>
              </a:rPr>
              <a:t>n/2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，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Shor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量子并行算法所需步骤为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Poly(n)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，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Poly(n)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为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的多项式。该算法将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NP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问题转换为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P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问题。</a:t>
            </a:r>
            <a:endParaRPr lang="zh-CN" altLang="en-US" sz="1600" b="1" dirty="0">
              <a:latin typeface="宋体" panose="02000500000000000000" pitchFamily="2" charset="-122"/>
              <a:sym typeface="Symbol" pitchFamily="18" charset="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搜寻算法：在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N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个元素的集合中搜寻某个元素，经典算法搜寻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N/2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次后，找到的概率为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1/2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，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Grover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量子搜寻算法则只需 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N</a:t>
            </a:r>
            <a:r>
              <a:rPr lang="en-US" altLang="zh-CN" sz="1600" b="1" baseline="30000" dirty="0">
                <a:latin typeface="宋体" panose="02000500000000000000" pitchFamily="2" charset="-122"/>
                <a:sym typeface="Symbol" pitchFamily="18" charset="2"/>
              </a:rPr>
              <a:t>1/2</a:t>
            </a:r>
            <a:r>
              <a:rPr lang="en-US" altLang="zh-CN" sz="1600" b="1" dirty="0">
                <a:latin typeface="宋体" panose="02000500000000000000" pitchFamily="2" charset="-122"/>
                <a:sym typeface="Symbol" pitchFamily="18" charset="2"/>
              </a:rPr>
              <a:t> 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次，即可达到同样概率。</a:t>
            </a:r>
            <a:endParaRPr lang="zh-CN" altLang="en-US" sz="1600" b="1" dirty="0">
              <a:latin typeface="宋体" panose="02000500000000000000" pitchFamily="2" charset="-122"/>
              <a:sym typeface="Symbol" pitchFamily="18" charset="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量子系统模拟：常规计算机不可能</a:t>
            </a:r>
            <a:r>
              <a:rPr lang="zh-CN" altLang="en-US" sz="1600" b="1" dirty="0">
                <a:latin typeface="宋体" panose="02000500000000000000" pitchFamily="2" charset="-122"/>
              </a:rPr>
              <a:t>有效地</a:t>
            </a:r>
            <a:r>
              <a:rPr lang="zh-CN" altLang="en-US" sz="1600" b="1" dirty="0">
                <a:latin typeface="宋体" panose="02000500000000000000" pitchFamily="2" charset="-122"/>
                <a:sym typeface="Symbol" pitchFamily="18" charset="2"/>
              </a:rPr>
              <a:t>模拟量子系统，因为它们的物理机制不同。用常规计算机模拟量子系统，所需的信息量和时间都远大于模拟经典系统。</a:t>
            </a:r>
            <a:r>
              <a:rPr lang="zh-CN" altLang="en-US" sz="1600" b="1" dirty="0">
                <a:latin typeface="宋体" panose="02000500000000000000" pitchFamily="2" charset="-122"/>
              </a:rPr>
              <a:t>量子计算可用于研究高温高密度等离子体、量子色动力学、晶体固态模型、分子行为的量子模型等。</a:t>
            </a:r>
            <a:endParaRPr lang="zh-CN" altLang="en-US" sz="1600" b="1" dirty="0">
              <a:latin typeface="宋体" panose="02000500000000000000" pitchFamily="2" charset="-122"/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3491" name="Rectangle 2"/>
          <p:cNvSpPr/>
          <p:nvPr/>
        </p:nvSpPr>
        <p:spPr>
          <a:xfrm>
            <a:off x="914400" y="304800"/>
            <a:ext cx="10361613" cy="609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量子计算（</a:t>
            </a:r>
            <a:r>
              <a:rPr lang="en-US" altLang="zh-CN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3</a:t>
            </a:r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）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63492" name="Rectangle 3"/>
          <p:cNvSpPr/>
          <p:nvPr/>
        </p:nvSpPr>
        <p:spPr>
          <a:xfrm>
            <a:off x="101600" y="914400"/>
            <a:ext cx="11987213" cy="5105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Times New Roman" pitchFamily="18" charset="0"/>
              </a:rPr>
              <a:t>物理实现</a:t>
            </a:r>
            <a:endParaRPr lang="zh-CN" altLang="en-US" sz="2000" b="1" dirty="0">
              <a:latin typeface="Times New Roman" pitchFamily="18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Times New Roman" pitchFamily="18" charset="0"/>
              </a:rPr>
              <a:t>量子位的实现：任何两态的量子系统都可作为量子位，如原子的能级、电子或原子核的自旋、光子的正交偏振态等。</a:t>
            </a:r>
            <a:endParaRPr lang="zh-CN" altLang="en-US" sz="1600" b="1" dirty="0">
              <a:latin typeface="Times New Roman" pitchFamily="18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Times New Roman" pitchFamily="18" charset="0"/>
              </a:rPr>
              <a:t>量子计算机的实现有多种可能，包括：核磁共振（用磁场中的原子核自旋作为量子位）、离子阱（用被俘获在线性量子阱中的离子作为量子位）、硅基半导体量子器件（杂质核自旋与电子自旋相互作用）等。</a:t>
            </a:r>
            <a:endParaRPr lang="zh-CN" altLang="en-US" sz="1600" b="1" dirty="0">
              <a:latin typeface="Times New Roman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Times New Roman" pitchFamily="18" charset="0"/>
              </a:rPr>
              <a:t>存在问题</a:t>
            </a:r>
            <a:endParaRPr lang="zh-CN" altLang="en-US" sz="2000" b="1" dirty="0">
              <a:latin typeface="Times New Roman" pitchFamily="18" charset="0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量子位的缠结态容易崩溃，位数越多，越难实现。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量子器件之间的连接。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为了维持量子逻辑的一致性，量子系统和环境的隔离。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设备缺陷所引起的逻辑错误。</a:t>
            </a:r>
            <a:endParaRPr lang="zh-CN" altLang="en-US" sz="16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4515" name="Rectangle 2"/>
          <p:cNvSpPr/>
          <p:nvPr/>
        </p:nvSpPr>
        <p:spPr>
          <a:xfrm>
            <a:off x="914400" y="304800"/>
            <a:ext cx="10361613" cy="457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/>
            <a:r>
              <a:rPr lang="zh-CN" altLang="en-US" sz="3200" dirty="0">
                <a:solidFill>
                  <a:srgbClr val="FF0000"/>
                </a:solidFill>
                <a:latin typeface="Arial" panose="02080604020202020204" pitchFamily="34" charset="0"/>
                <a:ea typeface="黑体" panose="02000500000000000000" pitchFamily="49" charset="-122"/>
              </a:rPr>
              <a:t>分子计算机</a:t>
            </a:r>
            <a:endParaRPr lang="zh-CN" altLang="en-US" sz="3200" dirty="0">
              <a:solidFill>
                <a:srgbClr val="FF0000"/>
              </a:solidFill>
              <a:latin typeface="Arial" panose="02080604020202020204" pitchFamily="34" charset="0"/>
              <a:ea typeface="黑体" panose="02000500000000000000" pitchFamily="49" charset="-122"/>
            </a:endParaRPr>
          </a:p>
        </p:txBody>
      </p:sp>
      <p:sp>
        <p:nvSpPr>
          <p:cNvPr id="64516" name="Rectangle 3"/>
          <p:cNvSpPr/>
          <p:nvPr/>
        </p:nvSpPr>
        <p:spPr>
          <a:xfrm>
            <a:off x="406400" y="990600"/>
            <a:ext cx="11479213" cy="55626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原理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en-US" altLang="zh-CN" sz="1600" b="1" dirty="0">
                <a:latin typeface="宋体" panose="02000500000000000000" pitchFamily="2" charset="-122"/>
              </a:rPr>
              <a:t>DNA </a:t>
            </a:r>
            <a:r>
              <a:rPr lang="zh-CN" altLang="en-US" sz="1600" b="1" dirty="0">
                <a:latin typeface="宋体" panose="02000500000000000000" pitchFamily="2" charset="-122"/>
              </a:rPr>
              <a:t>计算机利用 </a:t>
            </a:r>
            <a:r>
              <a:rPr lang="en-US" altLang="zh-CN" sz="1600" b="1" dirty="0">
                <a:latin typeface="宋体" panose="02000500000000000000" pitchFamily="2" charset="-122"/>
              </a:rPr>
              <a:t>DNA </a:t>
            </a:r>
            <a:r>
              <a:rPr lang="zh-CN" altLang="en-US" sz="1600" b="1" dirty="0">
                <a:latin typeface="宋体" panose="02000500000000000000" pitchFamily="2" charset="-122"/>
              </a:rPr>
              <a:t>分子保存信息。</a:t>
            </a:r>
            <a:r>
              <a:rPr lang="en-US" altLang="zh-CN" sz="1600" b="1" dirty="0">
                <a:latin typeface="宋体" panose="02000500000000000000" pitchFamily="2" charset="-122"/>
              </a:rPr>
              <a:t>DNA </a:t>
            </a:r>
            <a:r>
              <a:rPr lang="zh-CN" altLang="en-US" sz="1600" b="1" dirty="0">
                <a:latin typeface="宋体" panose="02000500000000000000" pitchFamily="2" charset="-122"/>
              </a:rPr>
              <a:t>分子是由 </a:t>
            </a:r>
            <a:r>
              <a:rPr lang="en-US" altLang="zh-CN" sz="1600" b="1" dirty="0">
                <a:latin typeface="宋体" panose="02000500000000000000" pitchFamily="2" charset="-122"/>
              </a:rPr>
              <a:t>A, G, C, T </a:t>
            </a:r>
            <a:r>
              <a:rPr lang="zh-CN" altLang="en-US" sz="1600" b="1" dirty="0">
                <a:latin typeface="宋体" panose="02000500000000000000" pitchFamily="2" charset="-122"/>
              </a:rPr>
              <a:t>四种核苷酸（碱基）组成的序列。不同的序列可用来表示不同的信息。通过 </a:t>
            </a:r>
            <a:r>
              <a:rPr lang="en-US" altLang="zh-CN" sz="1600" b="1" dirty="0">
                <a:latin typeface="宋体" panose="02000500000000000000" pitchFamily="2" charset="-122"/>
              </a:rPr>
              <a:t>DNA </a:t>
            </a:r>
            <a:r>
              <a:rPr lang="zh-CN" altLang="en-US" sz="1600" b="1" dirty="0">
                <a:latin typeface="宋体" panose="02000500000000000000" pitchFamily="2" charset="-122"/>
              </a:rPr>
              <a:t>分子之间的一系列生化反应来进行运算，可产生表示结果的 </a:t>
            </a:r>
            <a:r>
              <a:rPr lang="en-US" altLang="zh-CN" sz="1600" b="1" dirty="0">
                <a:latin typeface="宋体" panose="02000500000000000000" pitchFamily="2" charset="-122"/>
              </a:rPr>
              <a:t>DNA </a:t>
            </a:r>
            <a:r>
              <a:rPr lang="zh-CN" altLang="en-US" sz="1600" b="1" dirty="0">
                <a:latin typeface="宋体" panose="02000500000000000000" pitchFamily="2" charset="-122"/>
              </a:rPr>
              <a:t>分子。已解决了 </a:t>
            </a:r>
            <a:r>
              <a:rPr lang="en-US" altLang="zh-CN" sz="1600" b="1" dirty="0">
                <a:latin typeface="宋体" panose="02000500000000000000" pitchFamily="2" charset="-122"/>
              </a:rPr>
              <a:t>7 </a:t>
            </a:r>
            <a:r>
              <a:rPr lang="zh-CN" altLang="en-US" sz="1600" b="1" dirty="0">
                <a:latin typeface="宋体" panose="02000500000000000000" pitchFamily="2" charset="-122"/>
              </a:rPr>
              <a:t>个城市的旅行售货员等问题。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优点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高度并行：所有 </a:t>
            </a:r>
            <a:r>
              <a:rPr lang="en-US" altLang="zh-CN" sz="1600" b="1" dirty="0">
                <a:latin typeface="宋体" panose="02000500000000000000" pitchFamily="2" charset="-122"/>
              </a:rPr>
              <a:t>DNA </a:t>
            </a:r>
            <a:r>
              <a:rPr lang="zh-CN" altLang="en-US" sz="1600" b="1" dirty="0">
                <a:latin typeface="宋体" panose="02000500000000000000" pitchFamily="2" charset="-122"/>
              </a:rPr>
              <a:t>分子同时运算。</a:t>
            </a:r>
            <a:endParaRPr lang="zh-CN" altLang="en-US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能耗低：半导体计算机的 </a:t>
            </a:r>
            <a:r>
              <a:rPr lang="zh-CN" altLang="zh-CN" sz="1600" b="1" dirty="0">
                <a:latin typeface="宋体" panose="02000500000000000000" pitchFamily="2" charset="-122"/>
              </a:rPr>
              <a:t>10</a:t>
            </a:r>
            <a:r>
              <a:rPr lang="en-US" altLang="zh-CN" sz="1600" b="1" baseline="30000" dirty="0">
                <a:latin typeface="宋体" panose="02000500000000000000" pitchFamily="2" charset="-122"/>
              </a:rPr>
              <a:t>10 </a:t>
            </a:r>
            <a:r>
              <a:rPr lang="zh-CN" altLang="en-US" sz="1600" b="1" dirty="0">
                <a:latin typeface="宋体" panose="02000500000000000000" pitchFamily="2" charset="-122"/>
              </a:rPr>
              <a:t>之一。</a:t>
            </a:r>
            <a:endParaRPr lang="zh-CN" altLang="zh-CN" sz="16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存储密度大：磁存储器的 </a:t>
            </a:r>
            <a:r>
              <a:rPr lang="zh-CN" altLang="zh-CN" sz="1600" b="1" dirty="0">
                <a:latin typeface="宋体" panose="02000500000000000000" pitchFamily="2" charset="-122"/>
              </a:rPr>
              <a:t>10</a:t>
            </a:r>
            <a:r>
              <a:rPr lang="zh-CN" altLang="zh-CN" sz="1600" b="1" baseline="30000" dirty="0">
                <a:latin typeface="宋体" panose="02000500000000000000" pitchFamily="2" charset="-122"/>
              </a:rPr>
              <a:t>12 </a:t>
            </a:r>
            <a:r>
              <a:rPr lang="zh-CN" altLang="en-US" sz="1600" b="1" dirty="0">
                <a:latin typeface="宋体" panose="02000500000000000000" pitchFamily="2" charset="-122"/>
              </a:rPr>
              <a:t>倍。</a:t>
            </a:r>
            <a:endParaRPr lang="zh-CN" altLang="en-US" sz="1800" b="1" dirty="0">
              <a:latin typeface="宋体" panose="02000500000000000000" pitchFamily="2" charset="-122"/>
            </a:endParaRP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2000" b="1" dirty="0">
                <a:latin typeface="宋体" panose="02000500000000000000" pitchFamily="2" charset="-122"/>
              </a:rPr>
              <a:t>缺点</a:t>
            </a:r>
            <a:endParaRPr lang="zh-CN" altLang="en-US" sz="2000" b="1" dirty="0">
              <a:latin typeface="宋体" panose="02000500000000000000" pitchFamily="2" charset="-122"/>
            </a:endParaRPr>
          </a:p>
          <a:p>
            <a:pPr marL="742950" lvl="1" indent="-285750" eaLnBrk="1" hangingPunct="1">
              <a:lnSpc>
                <a:spcPct val="150000"/>
              </a:lnSpc>
              <a:spcBef>
                <a:spcPts val="600"/>
              </a:spcBef>
              <a:buChar char="•"/>
            </a:pPr>
            <a:r>
              <a:rPr lang="zh-CN" altLang="en-US" sz="1600" b="1" dirty="0">
                <a:latin typeface="宋体" panose="02000500000000000000" pitchFamily="2" charset="-122"/>
              </a:rPr>
              <a:t>生化反应慢、操作有随机性、</a:t>
            </a:r>
            <a:r>
              <a:rPr lang="en-US" altLang="zh-CN" sz="1600" b="1" dirty="0">
                <a:latin typeface="宋体" panose="02000500000000000000" pitchFamily="2" charset="-122"/>
              </a:rPr>
              <a:t>DNA </a:t>
            </a:r>
            <a:r>
              <a:rPr lang="zh-CN" altLang="en-US" sz="1600" b="1" dirty="0">
                <a:latin typeface="宋体" panose="02000500000000000000" pitchFamily="2" charset="-122"/>
              </a:rPr>
              <a:t>分子容易水解、</a:t>
            </a:r>
            <a:r>
              <a:rPr lang="en-US" altLang="zh-CN" sz="1600" b="1" dirty="0">
                <a:latin typeface="宋体" panose="02000500000000000000" pitchFamily="2" charset="-122"/>
              </a:rPr>
              <a:t>DNA </a:t>
            </a:r>
            <a:r>
              <a:rPr lang="zh-CN" altLang="en-US" sz="1600" b="1" dirty="0">
                <a:latin typeface="宋体" panose="02000500000000000000" pitchFamily="2" charset="-122"/>
              </a:rPr>
              <a:t>分子之间难以通信。</a:t>
            </a:r>
            <a:endParaRPr lang="zh-CN" altLang="en-US" sz="1600" b="1" dirty="0">
              <a:latin typeface="宋体" panose="02000500000000000000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二进制和逻辑电路小结</a:t>
            </a:r>
            <a:endParaRPr lang="zh-CN" altLang="en-US" dirty="0"/>
          </a:p>
        </p:txBody>
      </p:sp>
      <p:sp>
        <p:nvSpPr>
          <p:cNvPr id="46083" name="内容占位符 2"/>
          <p:cNvSpPr>
            <a:spLocks noGrp="1"/>
          </p:cNvSpPr>
          <p:nvPr>
            <p:ph idx="1"/>
          </p:nvPr>
        </p:nvSpPr>
        <p:spPr>
          <a:xfrm>
            <a:off x="914400" y="1443038"/>
            <a:ext cx="10839450" cy="4652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360045" marR="0" lvl="0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数的表示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20090" marR="0" lvl="1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二进制和十进制的转换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20090" marR="0" lvl="1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原码、补码的原理和表示范围，补码和原码的转换（负数按位取反加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1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方法）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20090" marR="0" lvl="1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浮点数的表示：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IEEE754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标准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60045" marR="0" lvl="0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晶体管级电路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20090" marR="0" lvl="1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N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管和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P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管的基本原理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20090" marR="0" lvl="1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CMOS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电路的基本原理，用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CMOS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实现基本门单元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720090" marR="0" lvl="1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D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触发器的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基本原理和重要时间参数（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Setup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, Hold, CLK2Q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）</a:t>
            </a:r>
            <a:endParaRPr kumimoji="0" lang="en-US" altLang="zh-CN" sz="16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360045" marR="0" lvl="0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0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Verilog</a:t>
            </a:r>
            <a:r>
              <a:rPr kumimoji="0" lang="zh-CN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语言</a:t>
            </a:r>
            <a:endParaRPr kumimoji="0" lang="en-US" altLang="zh-CN" sz="20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20090" marR="0" lvl="1" indent="-360045" algn="l" defTabSz="914400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组合逻辑（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assign = ……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）；时序逻辑（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always @(</a:t>
            </a:r>
            <a:r>
              <a:rPr kumimoji="0" lang="en-US" altLang="zh-CN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posedge</a:t>
            </a:r>
            <a:r>
              <a:rPr kumimoji="0" lang="en-US" altLang="zh-CN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 clock){…&lt;=…}</a:t>
            </a:r>
            <a:r>
              <a:rPr kumimoji="0" lang="zh-CN" alt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</a:rPr>
              <a:t>）；模块调用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itchFamily="18" charset="0"/>
                <a:ea typeface="宋体" panose="02000500000000000000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656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3600" dirty="0"/>
              <a:t>作  业</a:t>
            </a:r>
            <a:endParaRPr lang="zh-CN" altLang="en-US" sz="3600" dirty="0"/>
          </a:p>
        </p:txBody>
      </p:sp>
      <p:sp>
        <p:nvSpPr>
          <p:cNvPr id="6656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720725" lvl="1" eaLnBrk="1" hangingPunct="1">
              <a:spcBef>
                <a:spcPct val="0"/>
              </a:spcBef>
            </a:pPr>
            <a:endParaRPr lang="zh-CN" altLang="zh-CN" dirty="0">
              <a:latin typeface="宋体" panose="02000500000000000000" pitchFamily="2" charset="-122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anose="02000500000000000000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anose="02000500000000000000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10126</Words>
  <Application>WPS 演示</Application>
  <PresentationFormat>自定义</PresentationFormat>
  <Paragraphs>1585</Paragraphs>
  <Slides>64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16</vt:i4>
      </vt:variant>
      <vt:variant>
        <vt:lpstr>幻灯片标题</vt:lpstr>
      </vt:variant>
      <vt:variant>
        <vt:i4>64</vt:i4>
      </vt:variant>
    </vt:vector>
  </HeadingPairs>
  <TitlesOfParts>
    <vt:vector size="98" baseType="lpstr">
      <vt:lpstr>Arial</vt:lpstr>
      <vt:lpstr>宋体</vt:lpstr>
      <vt:lpstr>Wingdings</vt:lpstr>
      <vt:lpstr>Times New Roman</vt:lpstr>
      <vt:lpstr>Nimbus Roman No9 L</vt:lpstr>
      <vt:lpstr>黑体</vt:lpstr>
      <vt:lpstr>微软雅黑</vt:lpstr>
      <vt:lpstr>Arial Unicode MS</vt:lpstr>
      <vt:lpstr>华文中宋</vt:lpstr>
      <vt:lpstr>Courier New</vt:lpstr>
      <vt:lpstr>DejaVu Sans</vt:lpstr>
      <vt:lpstr>隶书</vt:lpstr>
      <vt:lpstr>Symbol</vt:lpstr>
      <vt:lpstr>文泉驿点阵正黑</vt:lpstr>
      <vt:lpstr>Quicksand Light</vt:lpstr>
      <vt:lpstr>MathJax_Vector</vt:lpstr>
      <vt:lpstr>Symbol</vt:lpstr>
      <vt:lpstr>默认设计模板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Word.Document.8</vt:lpstr>
      <vt:lpstr>Word.Document.8</vt:lpstr>
      <vt:lpstr>Word.Document.8</vt:lpstr>
      <vt:lpstr>Paint.Picture</vt:lpstr>
      <vt:lpstr>Word.Document.8</vt:lpstr>
      <vt:lpstr>Paint.Picture</vt:lpstr>
      <vt:lpstr>计算机体系结构</vt:lpstr>
      <vt:lpstr>PowerPoint 演示文稿</vt:lpstr>
      <vt:lpstr>计算机中数的表示</vt:lpstr>
      <vt:lpstr>计算机中数的表示</vt:lpstr>
      <vt:lpstr>定点数的表示（1）</vt:lpstr>
      <vt:lpstr>定点数的表示（2）</vt:lpstr>
      <vt:lpstr>浮点数的表示（1）</vt:lpstr>
      <vt:lpstr>浮点数的表示（2）</vt:lpstr>
      <vt:lpstr>PowerPoint 演示文稿</vt:lpstr>
      <vt:lpstr>CMOS电路及工艺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CMOS逻辑电路</vt:lpstr>
      <vt:lpstr>基本逻辑电路</vt:lpstr>
      <vt:lpstr>逻辑表达式</vt:lpstr>
      <vt:lpstr>CMOS组合电路的组成</vt:lpstr>
      <vt:lpstr>PowerPoint 演示文稿</vt:lpstr>
      <vt:lpstr>常见组合逻辑：译码器和选择器</vt:lpstr>
      <vt:lpstr>时序逻辑电路</vt:lpstr>
      <vt:lpstr>RS触发器</vt:lpstr>
      <vt:lpstr>D门闩和D触发器</vt:lpstr>
      <vt:lpstr>D触发器时间参数计算</vt:lpstr>
      <vt:lpstr>传输门和D触发器</vt:lpstr>
      <vt:lpstr>D触发器时间参数计算（以本讲义为准）</vt:lpstr>
      <vt:lpstr>PowerPoint 演示文稿</vt:lpstr>
      <vt:lpstr>CMOS电路延迟</vt:lpstr>
      <vt:lpstr>CMOS电路延迟原理</vt:lpstr>
      <vt:lpstr>PowerPoint 演示文稿</vt:lpstr>
      <vt:lpstr>CMOS电路延迟例子</vt:lpstr>
      <vt:lpstr>PowerPoint 演示文稿</vt:lpstr>
      <vt:lpstr>降低延迟的方法</vt:lpstr>
      <vt:lpstr>PowerPoint 演示文稿</vt:lpstr>
      <vt:lpstr>从Verilog到版图</vt:lpstr>
      <vt:lpstr>PowerPoint 演示文稿</vt:lpstr>
      <vt:lpstr>Verilog 语言---组合逻辑</vt:lpstr>
      <vt:lpstr>Verilog语言----时序逻辑</vt:lpstr>
      <vt:lpstr>Verilog语言----模块调用</vt:lpstr>
      <vt:lpstr>Verilog语言</vt:lpstr>
      <vt:lpstr>从Verilog 到GDSII</vt:lpstr>
      <vt:lpstr>Verilog</vt:lpstr>
      <vt:lpstr>网  表</vt:lpstr>
      <vt:lpstr>布线后</vt:lpstr>
      <vt:lpstr>版图</vt:lpstr>
      <vt:lpstr>其它“0”和“1”的表示方法</vt:lpstr>
      <vt:lpstr>其它“0”和“1”表示方法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重点</vt:lpstr>
      <vt:lpstr>作  业</vt:lpstr>
    </vt:vector>
  </TitlesOfParts>
  <Company>chpc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RISC处理器设计</dc:title>
  <dc:creator>Weiwu Hu</dc:creator>
  <cp:lastModifiedBy>loongson</cp:lastModifiedBy>
  <cp:revision>524</cp:revision>
  <dcterms:created xsi:type="dcterms:W3CDTF">2025-10-03T08:43:57Z</dcterms:created>
  <dcterms:modified xsi:type="dcterms:W3CDTF">2025-10-03T08:43:57Z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2052-11.1.0.11719</vt:lpwstr>
  </property>
  <property fmtid="{D5CDD505-2E9C-101B-9397-08002B2CF9AE}" pid="3" name="ICV">
    <vt:lpwstr/>
  </property>
</Properties>
</file>