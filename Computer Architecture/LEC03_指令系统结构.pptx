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docProps/custom.xml" ContentType="application/vnd.openxmlformats-officedocument.custom-properties+xml"/>
  <Override PartName="/ppt/slides/slide99.xml" ContentType="application/vnd.openxmlformats-officedocument.presentationml.slide+xml"/>
  <Default Extension="doc" ContentType="application/msword"/>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commentAuthors.xml" ContentType="application/vnd.openxmlformats-officedocument.presentationml.commentAuthors+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03"/>
  </p:notesMasterIdLst>
  <p:sldIdLst>
    <p:sldId id="256" r:id="rId3"/>
    <p:sldId id="257" r:id="rId4"/>
    <p:sldId id="258" r:id="rId5"/>
    <p:sldId id="485" r:id="rId6"/>
    <p:sldId id="486" r:id="rId7"/>
    <p:sldId id="487" r:id="rId8"/>
    <p:sldId id="488" r:id="rId9"/>
    <p:sldId id="261" r:id="rId10"/>
    <p:sldId id="489" r:id="rId11"/>
    <p:sldId id="269" r:id="rId12"/>
    <p:sldId id="270" r:id="rId13"/>
    <p:sldId id="271" r:id="rId14"/>
    <p:sldId id="272" r:id="rId15"/>
    <p:sldId id="273" r:id="rId16"/>
    <p:sldId id="274" r:id="rId17"/>
    <p:sldId id="490" r:id="rId18"/>
    <p:sldId id="491" r:id="rId19"/>
    <p:sldId id="492" r:id="rId20"/>
    <p:sldId id="493" r:id="rId21"/>
    <p:sldId id="534" r:id="rId22"/>
    <p:sldId id="494" r:id="rId23"/>
    <p:sldId id="495" r:id="rId24"/>
    <p:sldId id="496" r:id="rId25"/>
    <p:sldId id="497" r:id="rId26"/>
    <p:sldId id="498" r:id="rId27"/>
    <p:sldId id="499" r:id="rId28"/>
    <p:sldId id="500" r:id="rId29"/>
    <p:sldId id="502" r:id="rId30"/>
    <p:sldId id="503" r:id="rId31"/>
    <p:sldId id="504" r:id="rId32"/>
    <p:sldId id="510" r:id="rId33"/>
    <p:sldId id="505" r:id="rId34"/>
    <p:sldId id="511" r:id="rId35"/>
    <p:sldId id="506" r:id="rId36"/>
    <p:sldId id="512" r:id="rId37"/>
    <p:sldId id="507" r:id="rId38"/>
    <p:sldId id="508" r:id="rId39"/>
    <p:sldId id="509" r:id="rId40"/>
    <p:sldId id="293" r:id="rId41"/>
    <p:sldId id="294" r:id="rId42"/>
    <p:sldId id="383" r:id="rId43"/>
    <p:sldId id="384" r:id="rId44"/>
    <p:sldId id="546" r:id="rId45"/>
    <p:sldId id="547" r:id="rId46"/>
    <p:sldId id="555" r:id="rId47"/>
    <p:sldId id="548" r:id="rId48"/>
    <p:sldId id="533" r:id="rId49"/>
    <p:sldId id="551" r:id="rId50"/>
    <p:sldId id="556" r:id="rId51"/>
    <p:sldId id="552" r:id="rId52"/>
    <p:sldId id="553" r:id="rId53"/>
    <p:sldId id="295" r:id="rId54"/>
    <p:sldId id="536" r:id="rId55"/>
    <p:sldId id="484" r:id="rId56"/>
    <p:sldId id="299" r:id="rId57"/>
    <p:sldId id="562" r:id="rId58"/>
    <p:sldId id="538" r:id="rId59"/>
    <p:sldId id="301" r:id="rId60"/>
    <p:sldId id="544" r:id="rId61"/>
    <p:sldId id="539" r:id="rId62"/>
    <p:sldId id="545" r:id="rId63"/>
    <p:sldId id="357" r:id="rId64"/>
    <p:sldId id="540" r:id="rId65"/>
    <p:sldId id="541" r:id="rId66"/>
    <p:sldId id="542" r:id="rId67"/>
    <p:sldId id="543" r:id="rId68"/>
    <p:sldId id="325" r:id="rId69"/>
    <p:sldId id="326" r:id="rId70"/>
    <p:sldId id="531" r:id="rId71"/>
    <p:sldId id="563" r:id="rId72"/>
    <p:sldId id="335" r:id="rId73"/>
    <p:sldId id="557" r:id="rId74"/>
    <p:sldId id="558" r:id="rId75"/>
    <p:sldId id="559" r:id="rId76"/>
    <p:sldId id="554" r:id="rId77"/>
    <p:sldId id="339" r:id="rId78"/>
    <p:sldId id="346" r:id="rId79"/>
    <p:sldId id="347" r:id="rId80"/>
    <p:sldId id="348" r:id="rId81"/>
    <p:sldId id="349" r:id="rId82"/>
    <p:sldId id="350" r:id="rId83"/>
    <p:sldId id="560" r:id="rId84"/>
    <p:sldId id="561" r:id="rId85"/>
    <p:sldId id="513" r:id="rId86"/>
    <p:sldId id="514" r:id="rId87"/>
    <p:sldId id="515" r:id="rId88"/>
    <p:sldId id="516" r:id="rId89"/>
    <p:sldId id="517" r:id="rId90"/>
    <p:sldId id="518" r:id="rId91"/>
    <p:sldId id="519" r:id="rId92"/>
    <p:sldId id="520" r:id="rId93"/>
    <p:sldId id="521" r:id="rId94"/>
    <p:sldId id="523" r:id="rId95"/>
    <p:sldId id="564" r:id="rId96"/>
    <p:sldId id="525" r:id="rId97"/>
    <p:sldId id="526" r:id="rId98"/>
    <p:sldId id="527" r:id="rId99"/>
    <p:sldId id="528" r:id="rId100"/>
    <p:sldId id="529" r:id="rId101"/>
    <p:sldId id="290" r:id="rId102"/>
  </p:sldIdLst>
  <p:sldSz cx="12190413"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 id="1" name="wangwx" initials="w" lastIdx="2"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p:restoredTop sz="89049"/>
  </p:normalViewPr>
  <p:slideViewPr>
    <p:cSldViewPr snapToGrid="0" showGuides="1">
      <p:cViewPr varScale="1">
        <p:scale>
          <a:sx n="59" d="100"/>
          <a:sy n="59" d="100"/>
        </p:scale>
        <p:origin x="-931"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theme" Target="theme/theme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页眉占位符 1"/>
          <p:cNvSpPr>
            <a:spLocks noGrp="1"/>
          </p:cNvSpPr>
          <p:nvPr>
            <p:ph type="hdr" sz="quarter"/>
          </p:nvPr>
        </p:nvSpPr>
        <p:spPr>
          <a:xfrm>
            <a:off x="0" y="0"/>
            <a:ext cx="2971800" cy="458788"/>
          </a:xfrm>
          <a:prstGeom prst="rect">
            <a:avLst/>
          </a:prstGeom>
          <a:noFill/>
          <a:ln w="9525">
            <a:noFill/>
            <a:miter/>
          </a:ln>
        </p:spPr>
        <p:txBody>
          <a:bodyPr/>
          <a:lstStyle>
            <a:lvl1pPr>
              <a:buFont typeface="Arial" panose="02080604020202020204" pitchFamily="34" charset="0"/>
              <a:buNone/>
              <a:defRPr sz="1200" noProof="1">
                <a:latin typeface="Calibri"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Calibri" pitchFamily="34" charset="0"/>
              <a:ea typeface="宋体" panose="02000500000000000000" pitchFamily="2" charset="-122"/>
              <a:cs typeface="+mn-cs"/>
            </a:endParaRPr>
          </a:p>
        </p:txBody>
      </p:sp>
      <p:sp>
        <p:nvSpPr>
          <p:cNvPr id="112643" name="日期占位符 2"/>
          <p:cNvSpPr>
            <a:spLocks noGrp="1"/>
          </p:cNvSpPr>
          <p:nvPr>
            <p:ph type="dt" idx="1"/>
          </p:nvPr>
        </p:nvSpPr>
        <p:spPr>
          <a:xfrm>
            <a:off x="3884613" y="0"/>
            <a:ext cx="2971800" cy="458788"/>
          </a:xfrm>
          <a:prstGeom prst="rect">
            <a:avLst/>
          </a:prstGeom>
          <a:noFill/>
          <a:ln w="9525">
            <a:noFill/>
            <a:miter/>
          </a:ln>
        </p:spPr>
        <p:txBody>
          <a:bodyPr/>
          <a:lstStyle>
            <a:lvl1pPr algn="r">
              <a:buFont typeface="Arial" panose="02080604020202020204" pitchFamily="34" charset="0"/>
              <a:buNone/>
              <a:defRPr sz="1200" noProof="1">
                <a:latin typeface="Calibri" pitchFamily="34"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80604020202020204" pitchFamily="34" charset="0"/>
              <a:buNone/>
              <a:defRPr/>
            </a:pPr>
            <a:fld id="{D65D32EE-2663-4B34-8E0F-5BB3B279BAE2}" type="datetimeFigureOut">
              <a:rPr kumimoji="0" lang="zh-CN" altLang="en-US" sz="1200" b="0" i="0" u="none" strike="noStrike" kern="1200" cap="none" spc="0" normalizeH="0" baseline="0" noProof="1">
                <a:ln>
                  <a:noFill/>
                </a:ln>
                <a:solidFill>
                  <a:schemeClr val="tx1"/>
                </a:solidFill>
                <a:effectLst/>
                <a:uLnTx/>
                <a:uFillTx/>
                <a:latin typeface="Calibri" pitchFamily="34" charset="0"/>
                <a:ea typeface="宋体" panose="02000500000000000000" pitchFamily="2" charset="-122"/>
                <a:cs typeface="+mn-ea"/>
              </a:rPr>
              <a:pPr marL="0" marR="0" lvl="0" indent="0" algn="r"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200" b="0" i="0" u="none" strike="noStrike" kern="1200" cap="none" spc="0" normalizeH="0" baseline="0" noProof="1">
              <a:ln>
                <a:noFill/>
              </a:ln>
              <a:solidFill>
                <a:schemeClr val="tx1"/>
              </a:solidFill>
              <a:effectLst/>
              <a:uLnTx/>
              <a:uFillTx/>
              <a:latin typeface="Calibri" pitchFamily="34" charset="0"/>
              <a:ea typeface="宋体" panose="02000500000000000000" pitchFamily="2" charset="-122"/>
              <a:cs typeface="+mn-ea"/>
            </a:endParaRPr>
          </a:p>
        </p:txBody>
      </p:sp>
      <p:sp>
        <p:nvSpPr>
          <p:cNvPr id="102404" name="幻灯片图像占位符 3"/>
          <p:cNvSpPr>
            <a:spLocks noGrp="1" noRot="1" noChangeAspect="1"/>
          </p:cNvSpPr>
          <p:nvPr>
            <p:ph type="sldImg"/>
          </p:nvPr>
        </p:nvSpPr>
        <p:spPr>
          <a:xfrm>
            <a:off x="687388" y="1143000"/>
            <a:ext cx="5483225" cy="3086100"/>
          </a:xfrm>
          <a:prstGeom prst="rect">
            <a:avLst/>
          </a:prstGeom>
          <a:noFill/>
          <a:ln w="12700" cap="flat" cmpd="sng">
            <a:solidFill>
              <a:srgbClr val="000000"/>
            </a:solidFill>
            <a:prstDash val="solid"/>
            <a:miter/>
            <a:headEnd type="none" w="med" len="med"/>
            <a:tailEnd type="none" w="med" len="med"/>
          </a:ln>
        </p:spPr>
      </p:sp>
      <p:sp>
        <p:nvSpPr>
          <p:cNvPr id="4101" name="备注占位符 4"/>
          <p:cNvSpPr>
            <a:spLocks noGrp="1" noChangeArrowheads="1"/>
          </p:cNvSpPr>
          <p:nvPr>
            <p:ph type="body" sz="quarter" idx="4294967295"/>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mn-ea"/>
                <a:cs typeface="+mn-cs"/>
              </a:rPr>
              <a:t>第五级</a:t>
            </a:r>
          </a:p>
        </p:txBody>
      </p:sp>
      <p:sp>
        <p:nvSpPr>
          <p:cNvPr id="112646" name="页脚占位符 5"/>
          <p:cNvSpPr>
            <a:spLocks noGrp="1"/>
          </p:cNvSpPr>
          <p:nvPr>
            <p:ph type="ftr" sz="quarter" idx="4"/>
          </p:nvPr>
        </p:nvSpPr>
        <p:spPr>
          <a:xfrm>
            <a:off x="0" y="8685213"/>
            <a:ext cx="2971800" cy="458788"/>
          </a:xfrm>
          <a:prstGeom prst="rect">
            <a:avLst/>
          </a:prstGeom>
          <a:noFill/>
          <a:ln w="9525">
            <a:noFill/>
            <a:miter/>
          </a:ln>
        </p:spPr>
        <p:txBody>
          <a:bodyPr anchor="b"/>
          <a:lstStyle>
            <a:lvl1pPr>
              <a:buFont typeface="Arial" panose="02080604020202020204" pitchFamily="34" charset="0"/>
              <a:buNone/>
              <a:defRPr sz="1200" noProof="1">
                <a:latin typeface="Calibri"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Calibri" pitchFamily="34" charset="0"/>
              <a:ea typeface="宋体" panose="02000500000000000000" pitchFamily="2" charset="-122"/>
              <a:cs typeface="+mn-cs"/>
            </a:endParaRPr>
          </a:p>
        </p:txBody>
      </p:sp>
      <p:sp>
        <p:nvSpPr>
          <p:cNvPr id="112647" name="灯片编号占位符 6"/>
          <p:cNvSpPr>
            <a:spLocks noGrp="1"/>
          </p:cNvSpPr>
          <p:nvPr>
            <p:ph type="sldNum" sz="quarter" idx="5"/>
          </p:nvPr>
        </p:nvSpPr>
        <p:spPr>
          <a:xfrm>
            <a:off x="3884613" y="8685213"/>
            <a:ext cx="2971800" cy="458788"/>
          </a:xfrm>
          <a:prstGeom prst="rect">
            <a:avLst/>
          </a:prstGeom>
          <a:noFill/>
          <a:ln w="9525">
            <a:noFill/>
            <a:miter/>
          </a:ln>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Calibri" pitchFamily="34" charset="0"/>
              </a:rPr>
              <a:pPr lvl="0" algn="r" eaLnBrk="1" hangingPunct="1">
                <a:buNone/>
              </a:pPr>
              <a:t>‹#›</a:t>
            </a:fld>
            <a:endParaRPr lang="zh-CN" altLang="en-US" sz="1200" dirty="0">
              <a:latin typeface="Calibri"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TextEdit="1"/>
          </p:cNvSpPr>
          <p:nvPr>
            <p:ph type="sldImg"/>
          </p:nvPr>
        </p:nvSpPr>
        <p:spPr/>
      </p:sp>
      <p:sp>
        <p:nvSpPr>
          <p:cNvPr id="128003" name="Rectangle 3"/>
          <p:cNvSpPr>
            <a:spLocks noGrp="1"/>
          </p:cNvSpPr>
          <p:nvPr>
            <p:ph type="body"/>
          </p:nvPr>
        </p:nvSpPr>
        <p:spPr/>
        <p:txBody>
          <a:bodyPr wrap="square" lIns="91440" tIns="45720" rIns="91440" bIns="45720" anchor="t" anchorCtr="0"/>
          <a:lstStyle/>
          <a:p>
            <a:pPr lvl="0"/>
            <a:r>
              <a:rPr lang="en-US" altLang="zh-CN" dirty="0"/>
              <a:t>Gr/fr/hilo/cp0/cp1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TextEdit="1"/>
          </p:cNvSpPr>
          <p:nvPr>
            <p:ph type="sldImg"/>
          </p:nvPr>
        </p:nvSpPr>
        <p:spPr>
          <a:xfrm>
            <a:off x="687388" y="1143000"/>
            <a:ext cx="5483225" cy="3086100"/>
          </a:xfrm>
        </p:spPr>
      </p:sp>
      <p:sp>
        <p:nvSpPr>
          <p:cNvPr id="129027" name="Rectangle 3"/>
          <p:cNvSpPr>
            <a:spLocks noGrp="1"/>
          </p:cNvSpPr>
          <p:nvPr>
            <p:ph type="body"/>
          </p:nvPr>
        </p:nvSpPr>
        <p:spPr/>
        <p:txBody>
          <a:bodyPr wrap="square" lIns="91440" tIns="45720" rIns="91440" bIns="45720" anchor="t" anchorCtr="0"/>
          <a:lstStyle/>
          <a:p>
            <a:pPr lvl="0"/>
            <a:r>
              <a:rPr lang="en-US" altLang="zh-CN" dirty="0"/>
              <a:t>Sparc</a:t>
            </a:r>
            <a:r>
              <a:rPr lang="zh-CN" altLang="en-US" dirty="0"/>
              <a:t>刚死，购买了</a:t>
            </a:r>
            <a:r>
              <a:rPr lang="en-US" altLang="zh-CN" dirty="0"/>
              <a:t>sun</a:t>
            </a:r>
            <a:r>
              <a:rPr lang="zh-CN" altLang="en-US" dirty="0"/>
              <a:t>的</a:t>
            </a:r>
            <a:r>
              <a:rPr lang="en-US" altLang="zh-CN" dirty="0"/>
              <a:t>Oracle</a:t>
            </a:r>
            <a:r>
              <a:rPr lang="zh-CN" altLang="en-US" dirty="0"/>
              <a:t>放弃了硬件业务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TextEdit="1"/>
          </p:cNvSpPr>
          <p:nvPr>
            <p:ph type="sldImg"/>
          </p:nvPr>
        </p:nvSpPr>
        <p:spPr>
          <a:xfrm>
            <a:off x="687388" y="1143000"/>
            <a:ext cx="5483225" cy="3086100"/>
          </a:xfrm>
        </p:spPr>
      </p:sp>
      <p:sp>
        <p:nvSpPr>
          <p:cNvPr id="130051"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p:sp>
      <p:sp>
        <p:nvSpPr>
          <p:cNvPr id="106499" name="Rectangle 3"/>
          <p:cNvSpPr>
            <a:spLocks noGrp="1"/>
          </p:cNvSpPr>
          <p:nvPr>
            <p:ph type="body"/>
          </p:nvPr>
        </p:nvSpPr>
        <p:spPr/>
        <p:txBody>
          <a:bodyPr wrap="square" lIns="91440" tIns="45720" rIns="91440" bIns="45720" anchor="t" anchorCtr="0"/>
          <a:lstStyle/>
          <a:p>
            <a:pPr lvl="0"/>
            <a:r>
              <a:rPr lang="en-US" altLang="zh-CN" dirty="0"/>
              <a:t>X86-64</a:t>
            </a:r>
            <a:r>
              <a:rPr lang="zh-CN" altLang="en-US" dirty="0"/>
              <a:t>增加</a:t>
            </a:r>
            <a:r>
              <a:rPr lang="en-US" altLang="zh-CN" dirty="0"/>
              <a:t>r8~r15 8</a:t>
            </a:r>
            <a:r>
              <a:rPr lang="zh-CN" altLang="en-US" dirty="0"/>
              <a:t>个</a:t>
            </a:r>
            <a:r>
              <a:rPr lang="en-US" altLang="zh-CN" dirty="0"/>
              <a:t>64</a:t>
            </a:r>
            <a:r>
              <a:rPr lang="zh-CN" altLang="en-US" dirty="0"/>
              <a:t>位通用寄存器</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TextEdit="1"/>
          </p:cNvSpPr>
          <p:nvPr>
            <p:ph type="sldImg"/>
          </p:nvPr>
        </p:nvSpPr>
        <p:spPr/>
      </p:sp>
      <p:sp>
        <p:nvSpPr>
          <p:cNvPr id="132099" name="Rectangle 3"/>
          <p:cNvSpPr>
            <a:spLocks noGrp="1"/>
          </p:cNvSpPr>
          <p:nvPr>
            <p:ph type="body"/>
          </p:nvPr>
        </p:nvSpPr>
        <p:spPr/>
        <p:txBody>
          <a:bodyPr wrap="square" lIns="91440" tIns="45720" rIns="91440" bIns="45720" anchor="t" anchorCtr="0"/>
          <a:lstStyle/>
          <a:p>
            <a:pPr lvl="0"/>
            <a:r>
              <a:rPr lang="en-US" altLang="zh-CN" dirty="0"/>
              <a:t>John Cocke – RISC</a:t>
            </a:r>
            <a:r>
              <a:rPr lang="zh-CN" altLang="en-US" dirty="0"/>
              <a:t>之父</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TextEdit="1"/>
          </p:cNvSpPr>
          <p:nvPr>
            <p:ph type="sldImg"/>
          </p:nvPr>
        </p:nvSpPr>
        <p:spPr/>
      </p:sp>
      <p:sp>
        <p:nvSpPr>
          <p:cNvPr id="133123" name="Rectangle 3"/>
          <p:cNvSpPr>
            <a:spLocks noGrp="1"/>
          </p:cNvSpPr>
          <p:nvPr>
            <p:ph type="body"/>
          </p:nvPr>
        </p:nvSpPr>
        <p:spPr/>
        <p:txBody>
          <a:bodyPr wrap="square" lIns="91440" tIns="45720" rIns="91440" bIns="45720" anchor="t" anchorCtr="0"/>
          <a:lstStyle/>
          <a:p>
            <a:pPr lvl="0"/>
            <a:r>
              <a:rPr lang="zh-CN" altLang="en-US" dirty="0"/>
              <a:t>“</a:t>
            </a:r>
            <a:r>
              <a:rPr lang="en-US" altLang="zh-CN" dirty="0"/>
              <a:t>a brainiac </a:t>
            </a:r>
            <a:r>
              <a:rPr lang="zh-CN" altLang="en-US" dirty="0"/>
              <a:t>“超天才，是指硬件很牛，</a:t>
            </a:r>
            <a:r>
              <a:rPr lang="en-US" altLang="zh-CN" dirty="0"/>
              <a:t>ILP</a:t>
            </a:r>
            <a:r>
              <a:rPr lang="zh-CN" altLang="en-US" dirty="0"/>
              <a:t>做到极致（频率不甚高）</a:t>
            </a:r>
          </a:p>
          <a:p>
            <a:pPr lvl="0"/>
            <a:r>
              <a:rPr lang="en-US" altLang="zh-CN" dirty="0"/>
              <a:t>Speed daemon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TextEdit="1"/>
          </p:cNvSpPr>
          <p:nvPr>
            <p:ph type="sldImg"/>
          </p:nvPr>
        </p:nvSpPr>
        <p:spPr/>
      </p:sp>
      <p:sp>
        <p:nvSpPr>
          <p:cNvPr id="135171" name="Rectangle 3"/>
          <p:cNvSpPr>
            <a:spLocks noGrp="1"/>
          </p:cNvSpPr>
          <p:nvPr>
            <p:ph type="body"/>
          </p:nvPr>
        </p:nvSpPr>
        <p:spPr/>
        <p:txBody>
          <a:bodyPr wrap="square" lIns="91440" tIns="45720" rIns="91440" bIns="45720" anchor="t" anchorCtr="0"/>
          <a:lstStyle/>
          <a:p>
            <a:pPr lvl="0"/>
            <a:r>
              <a:rPr lang="en-US" altLang="zh-CN" dirty="0"/>
              <a:t>X86-64</a:t>
            </a:r>
            <a:r>
              <a:rPr lang="zh-CN" altLang="en-US" dirty="0"/>
              <a:t>放弃了段页式，只在兼容模式下支持。分段主要是数据分类和共享的考虑。图示未给出段表、页表的存储</a:t>
            </a:r>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TextEdit="1"/>
          </p:cNvSpPr>
          <p:nvPr>
            <p:ph type="sldImg"/>
          </p:nvPr>
        </p:nvSpPr>
        <p:spPr/>
      </p:sp>
      <p:sp>
        <p:nvSpPr>
          <p:cNvPr id="110595" name="Rectangle 3"/>
          <p:cNvSpPr>
            <a:spLocks noGrp="1"/>
          </p:cNvSpPr>
          <p:nvPr>
            <p:ph type="body"/>
          </p:nvPr>
        </p:nvSpPr>
        <p:spPr/>
        <p:txBody>
          <a:bodyPr wrap="square" lIns="91440" tIns="45720" rIns="91440" bIns="45720" anchor="t" anchorCtr="0"/>
          <a:lstStyle/>
          <a:p>
            <a:pPr lvl="0"/>
            <a:r>
              <a:rPr lang="zh-CN" altLang="en-US" dirty="0"/>
              <a:t>乘除法产生两倍宽度的结果</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zh-CN" sz="1200" dirty="0">
                <a:latin typeface="Calibri" pitchFamily="34" charset="0"/>
              </a:rPr>
              <a:pPr lvl="0" algn="r" eaLnBrk="1" hangingPunct="1"/>
              <a:t>82</a:t>
            </a:fld>
            <a:endParaRPr lang="en-US" altLang="zh-CN" sz="1200" dirty="0">
              <a:latin typeface="Calibri" pitchFamily="34" charset="0"/>
            </a:endParaRPr>
          </a:p>
        </p:txBody>
      </p:sp>
      <p:sp>
        <p:nvSpPr>
          <p:cNvPr id="139267" name="Text Box 2"/>
          <p:cNvSpPr txBox="1"/>
          <p:nvPr/>
        </p:nvSpPr>
        <p:spPr>
          <a:xfrm>
            <a:off x="414338" y="693738"/>
            <a:ext cx="6030912"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lstStyle/>
          <a:p>
            <a:pPr lvl="0" eaLnBrk="1" hangingPunct="1"/>
            <a:endParaRPr lang="zh-CN" altLang="en-US" dirty="0"/>
          </a:p>
        </p:txBody>
      </p:sp>
      <p:sp>
        <p:nvSpPr>
          <p:cNvPr id="139268" name="Rectangle 3"/>
          <p:cNvSpPr>
            <a:spLocks noGrp="1"/>
          </p:cNvSpPr>
          <p:nvPr>
            <p:ph type="body"/>
          </p:nvPr>
        </p:nvSpPr>
        <p:spPr>
          <a:xfrm>
            <a:off x="685800" y="4343400"/>
            <a:ext cx="5467350" cy="4189413"/>
          </a:xfrm>
        </p:spPr>
        <p:txBody>
          <a:bodyPr wrap="none" lIns="91440" tIns="45720" rIns="91440" bIns="45720" anchor="ctr" anchorCtr="0"/>
          <a:lstStyle/>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51"/>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GB" altLang="zh-CN" sz="1200" dirty="0">
                <a:latin typeface="Calibri" pitchFamily="34" charset="0"/>
              </a:rPr>
              <a:pPr lvl="0" algn="r" eaLnBrk="1" hangingPunct="1"/>
              <a:t>84</a:t>
            </a:fld>
            <a:endParaRPr lang="en-GB" altLang="zh-CN" sz="1200" dirty="0">
              <a:latin typeface="Calibri" pitchFamily="34" charset="0"/>
            </a:endParaRPr>
          </a:p>
        </p:txBody>
      </p:sp>
      <p:sp>
        <p:nvSpPr>
          <p:cNvPr id="138243" name="Text Box 1"/>
          <p:cNvSpPr txBox="1"/>
          <p:nvPr/>
        </p:nvSpPr>
        <p:spPr>
          <a:xfrm>
            <a:off x="3884613" y="8685213"/>
            <a:ext cx="2901950" cy="387350"/>
          </a:xfrm>
          <a:prstGeom prst="rect">
            <a:avLst/>
          </a:prstGeom>
          <a:noFill/>
          <a:ln w="9525">
            <a:noFill/>
          </a:ln>
        </p:spPr>
        <p:txBody>
          <a:bodyPr lIns="90000" tIns="46800" rIns="90000" bIns="46800" anchor="b" anchorCtr="0"/>
          <a:lstStyle/>
          <a:p>
            <a:pPr lvl="0" algn="r" defTabSz="91440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en-GB" altLang="zh-CN" sz="1200" dirty="0">
                <a:solidFill>
                  <a:srgbClr val="000000"/>
                </a:solidFill>
                <a:sym typeface="Times New Roman" pitchFamily="18" charset="0"/>
              </a:rPr>
              <a:pPr lvl="0" algn="r" defTabSz="91440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t>84</a:t>
            </a:fld>
            <a:endParaRPr lang="en-GB" altLang="zh-CN" sz="1200" dirty="0">
              <a:solidFill>
                <a:srgbClr val="000000"/>
              </a:solidFill>
              <a:sym typeface="Times New Roman" pitchFamily="18" charset="0"/>
            </a:endParaRPr>
          </a:p>
        </p:txBody>
      </p:sp>
      <p:sp>
        <p:nvSpPr>
          <p:cNvPr id="138244" name="Text Box 2"/>
          <p:cNvSpPr txBox="1"/>
          <p:nvPr/>
        </p:nvSpPr>
        <p:spPr>
          <a:xfrm>
            <a:off x="3884613" y="8685213"/>
            <a:ext cx="2970212" cy="455612"/>
          </a:xfrm>
          <a:prstGeom prst="rect">
            <a:avLst/>
          </a:prstGeom>
          <a:noFill/>
          <a:ln w="9525">
            <a:noFill/>
          </a:ln>
        </p:spPr>
        <p:txBody>
          <a:bodyPr lIns="90000" tIns="46800" rIns="90000" bIns="46800" anchor="b" anchorCtr="0"/>
          <a:lstStyle/>
          <a:p>
            <a:pPr lvl="0" algn="r" defTabSz="91440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fld id="{9A0DB2DC-4C9A-4742-B13C-FB6460FD3503}" type="slidenum">
              <a:rPr lang="en-GB" altLang="zh-CN" sz="1200" dirty="0">
                <a:solidFill>
                  <a:srgbClr val="000000"/>
                </a:solidFill>
                <a:sym typeface="Times New Roman" pitchFamily="18" charset="0"/>
              </a:rPr>
              <a:pPr lvl="0" algn="r" defTabSz="914400" eaLnBrk="1" hangingPunct="1">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t>84</a:t>
            </a:fld>
            <a:endParaRPr lang="en-GB" altLang="zh-CN" sz="1200" dirty="0">
              <a:solidFill>
                <a:srgbClr val="000000"/>
              </a:solidFill>
              <a:sym typeface="Times New Roman" pitchFamily="18" charset="0"/>
            </a:endParaRPr>
          </a:p>
        </p:txBody>
      </p:sp>
      <p:sp>
        <p:nvSpPr>
          <p:cNvPr id="138245" name="Text Box 3"/>
          <p:cNvSpPr txBox="1"/>
          <p:nvPr/>
        </p:nvSpPr>
        <p:spPr>
          <a:xfrm>
            <a:off x="1143000" y="685800"/>
            <a:ext cx="4572000"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lstStyle/>
          <a:p>
            <a:pPr lvl="0" eaLnBrk="1" hangingPunct="1"/>
            <a:endParaRPr lang="zh-CN" altLang="en-US" dirty="0"/>
          </a:p>
        </p:txBody>
      </p:sp>
      <p:sp>
        <p:nvSpPr>
          <p:cNvPr id="138246" name="Rectangle 4"/>
          <p:cNvSpPr>
            <a:spLocks noGrp="1"/>
          </p:cNvSpPr>
          <p:nvPr>
            <p:ph type="body"/>
          </p:nvPr>
        </p:nvSpPr>
        <p:spPr>
          <a:xfrm>
            <a:off x="685800" y="4343400"/>
            <a:ext cx="180975" cy="4140200"/>
          </a:xfrm>
        </p:spPr>
        <p:txBody>
          <a:bodyPr wrap="none" lIns="91440" tIns="45720" rIns="91440" bIns="45720" anchor="ctr" anchorCtr="0"/>
          <a:lstStyle/>
          <a:p>
            <a:pPr lvl="0" defTabSz="914400">
              <a:spcBef>
                <a:spcPts val="450"/>
              </a:spcBef>
              <a:buFont typeface="Times New Roman" pitchFamily="18" charset="0"/>
              <a:buChar char="•"/>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Lst>
            </a:pPr>
            <a:endParaRPr lang="en-US" altLang="zh-CN" dirty="0">
              <a:sym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7"/>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zh-CN" sz="1200" dirty="0">
                <a:latin typeface="Calibri" pitchFamily="34" charset="0"/>
              </a:rPr>
              <a:pPr lvl="0" algn="r" eaLnBrk="1" hangingPunct="1"/>
              <a:t>91</a:t>
            </a:fld>
            <a:endParaRPr lang="en-US" altLang="zh-CN" sz="1200" dirty="0">
              <a:latin typeface="Calibri" pitchFamily="34" charset="0"/>
            </a:endParaRPr>
          </a:p>
        </p:txBody>
      </p:sp>
      <p:sp>
        <p:nvSpPr>
          <p:cNvPr id="139267" name="Text Box 2"/>
          <p:cNvSpPr txBox="1"/>
          <p:nvPr/>
        </p:nvSpPr>
        <p:spPr>
          <a:xfrm>
            <a:off x="414338" y="693738"/>
            <a:ext cx="6030912" cy="3429000"/>
          </a:xfrm>
          <a:prstGeom prst="rect">
            <a:avLst/>
          </a:prstGeom>
          <a:solidFill>
            <a:srgbClr val="FFFFFF"/>
          </a:solidFill>
          <a:ln w="9360" cap="flat" cmpd="sng">
            <a:solidFill>
              <a:srgbClr val="000000"/>
            </a:solidFill>
            <a:prstDash val="solid"/>
            <a:miter/>
            <a:headEnd type="none" w="med" len="med"/>
            <a:tailEnd type="none" w="med" len="med"/>
          </a:ln>
        </p:spPr>
        <p:txBody>
          <a:bodyPr wrap="none" anchor="ctr" anchorCtr="0"/>
          <a:lstStyle/>
          <a:p>
            <a:pPr lvl="0" eaLnBrk="1" hangingPunct="1"/>
            <a:endParaRPr lang="zh-CN" altLang="en-US" dirty="0"/>
          </a:p>
        </p:txBody>
      </p:sp>
      <p:sp>
        <p:nvSpPr>
          <p:cNvPr id="139268" name="Rectangle 3"/>
          <p:cNvSpPr>
            <a:spLocks noGrp="1"/>
          </p:cNvSpPr>
          <p:nvPr>
            <p:ph type="body"/>
          </p:nvPr>
        </p:nvSpPr>
        <p:spPr>
          <a:xfrm>
            <a:off x="685800" y="4343400"/>
            <a:ext cx="5467350" cy="4189413"/>
          </a:xfrm>
        </p:spPr>
        <p:txBody>
          <a:bodyPr wrap="none" lIns="91440" tIns="45720" rIns="91440" bIns="45720" anchor="ctr" anchorCtr="0"/>
          <a:lstStyle/>
          <a:p>
            <a:pPr lvl="0"/>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32"/>
            <a:ext cx="10361851"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14281" y="1981200"/>
            <a:ext cx="5079339" cy="4114800"/>
          </a:xfrm>
        </p:spPr>
        <p:txBody>
          <a:bodyPr/>
          <a:lstStyle>
            <a:lvl1pPr>
              <a:defRPr sz="2000">
                <a:latin typeface="+mn-ea"/>
                <a:ea typeface="+mn-ea"/>
              </a:defRPr>
            </a:lvl1pPr>
            <a:lvl2pPr>
              <a:defRPr sz="1600">
                <a:latin typeface="+mn-ea"/>
                <a:ea typeface="+mn-ea"/>
              </a:defRPr>
            </a:lvl2pPr>
            <a:lvl3pPr>
              <a:defRPr sz="1400">
                <a:latin typeface="+mn-ea"/>
                <a:ea typeface="+mn-ea"/>
              </a:defRPr>
            </a:lvl3pPr>
            <a:lvl4pPr>
              <a:defRPr sz="1400"/>
            </a:lvl4pPr>
            <a:lvl5pPr>
              <a:defRPr sz="14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4" name="内容占位符 3"/>
          <p:cNvSpPr>
            <a:spLocks noGrp="1"/>
          </p:cNvSpPr>
          <p:nvPr>
            <p:ph sz="half" idx="2"/>
          </p:nvPr>
        </p:nvSpPr>
        <p:spPr>
          <a:xfrm>
            <a:off x="6196793" y="1981200"/>
            <a:ext cx="5079339" cy="4114800"/>
          </a:xfrm>
        </p:spPr>
        <p:txBody>
          <a:bodyPr/>
          <a:lstStyle>
            <a:lvl1pPr>
              <a:defRPr sz="2000"/>
            </a:lvl1pPr>
            <a:lvl2pPr>
              <a:defRPr sz="1600"/>
            </a:lvl2pPr>
            <a:lvl3pPr>
              <a:defRPr sz="1400"/>
            </a:lvl3pPr>
            <a:lvl4pPr>
              <a:defRPr sz="1400"/>
            </a:lvl4pPr>
            <a:lvl5pPr>
              <a:defRPr sz="14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4" y="273050"/>
            <a:ext cx="4010562"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113" y="273057"/>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524" y="1435103"/>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6196793" y="1981200"/>
            <a:ext cx="5079339" cy="19812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6196793" y="4114800"/>
            <a:ext cx="5079339" cy="19812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7" name="页脚占位符 6"/>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39678" y="76200"/>
            <a:ext cx="10361851" cy="1143000"/>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914281" y="1504950"/>
            <a:ext cx="10361851" cy="4591050"/>
          </a:xfrm>
        </p:spPr>
        <p:txBody>
          <a:bodyPr vert="horz" wrap="square" lIns="91440" tIns="45720" rIns="91440" bIns="45720" numCol="1" anchor="t" anchorCtr="0" compatLnSpc="1"/>
          <a:lstStyle/>
          <a:p>
            <a:pPr marL="341630" marR="0" lvl="0" indent="-341630" algn="l" defTabSz="914400" rtl="0" eaLnBrk="0" fontAlgn="base" latinLnBrk="0" hangingPunct="0">
              <a:lnSpc>
                <a:spcPct val="150000"/>
              </a:lnSpc>
              <a:spcBef>
                <a:spcPts val="600"/>
              </a:spcBef>
              <a:spcAft>
                <a:spcPct val="0"/>
              </a:spcAft>
              <a:buClrTx/>
              <a:buSzTx/>
              <a:buFontTx/>
              <a:buChar char="•"/>
              <a:defRPr/>
            </a:pPr>
            <a:endParaRPr kumimoji="0" lang="zh-CN" altLang="en-US" sz="2000" b="1" i="0" u="none" strike="noStrike" kern="0" cap="none" spc="0" normalizeH="0" baseline="0" noProof="0" smtClean="0">
              <a:ln>
                <a:noFill/>
              </a:ln>
              <a:solidFill>
                <a:schemeClr val="tx1"/>
              </a:solidFill>
              <a:effectLst/>
              <a:uLnTx/>
              <a:uFillTx/>
              <a:latin typeface="+mn-ea"/>
              <a:ea typeface="+mn-ea"/>
              <a:cs typeface="+mn-cs"/>
            </a:endParaRPr>
          </a:p>
        </p:txBody>
      </p:sp>
      <p:sp>
        <p:nvSpPr>
          <p:cNvPr id="7" name="Rectangle 4"/>
          <p:cNvSpPr>
            <a:spLocks noGrp="1"/>
          </p:cNvSpPr>
          <p:nvPr>
            <p:ph type="dt" sz="half" idx="2"/>
          </p:nvPr>
        </p:nvSpPr>
        <p:spPr>
          <a:xfrm>
            <a:off x="914400" y="6248400"/>
            <a:ext cx="2540000"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8" name="Rectangle 5"/>
          <p:cNvSpPr>
            <a:spLocks noGrp="1"/>
          </p:cNvSpPr>
          <p:nvPr>
            <p:ph type="ftr" sz="quarter" idx="3"/>
          </p:nvPr>
        </p:nvSpPr>
        <p:spPr>
          <a:xfrm>
            <a:off x="4165600" y="6248400"/>
            <a:ext cx="3859213"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 name="Rectangle 6"/>
          <p:cNvSpPr>
            <a:spLocks noGrp="1"/>
          </p:cNvSpPr>
          <p:nvPr>
            <p:ph type="sldNum" sz="quarter" idx="4"/>
          </p:nvPr>
        </p:nvSpPr>
        <p:spPr>
          <a:xfrm>
            <a:off x="8736013" y="6248400"/>
            <a:ext cx="2540000" cy="457200"/>
          </a:xfrm>
          <a:prstGeom prst="rect">
            <a:avLst/>
          </a:prstGeom>
          <a:ln>
            <a:miter/>
          </a:ln>
        </p:spPr>
        <p:txBody>
          <a:bodyPr vert="horz" wrap="square" lIns="91440" tIns="45720" rIns="91440" bIns="45720" numCol="1" anchor="t" anchorCtr="0" compatLnSpc="1"/>
          <a:lstStyle/>
          <a:p>
            <a:pPr algn="r">
              <a:buNone/>
            </a:pPr>
            <a:fld id="{9A0DB2DC-4C9A-4742-B13C-FB6460FD3503}" type="slidenum">
              <a:rPr lang="en-US" altLang="zh-CN" dirty="0"/>
              <a:pPr algn="r">
                <a:buNone/>
              </a:pPr>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Chart">
  <p:cSld name="标题，文本与图表">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图表占位符 3"/>
          <p:cNvSpPr>
            <a:spLocks noGrp="1"/>
          </p:cNvSpPr>
          <p:nvPr>
            <p:ph type="chart" sz="half" idx="2"/>
          </p:nvPr>
        </p:nvSpPr>
        <p:spPr>
          <a:xfrm>
            <a:off x="6196793" y="1981200"/>
            <a:ext cx="5079339" cy="4114800"/>
          </a:xfrm>
        </p:spPr>
        <p:txBody>
          <a:bodyPr vert="horz" wrap="square" lIns="91440" tIns="45720" rIns="91440" bIns="45720" numCol="1" anchor="t" anchorCtr="0" compatLnSpc="1"/>
          <a:lstStyle/>
          <a:p>
            <a:pPr marL="341630" marR="0" lvl="0" indent="-341630" algn="l" defTabSz="914400" rtl="0" eaLnBrk="0" fontAlgn="base" latinLnBrk="0" hangingPunct="0">
              <a:lnSpc>
                <a:spcPct val="150000"/>
              </a:lnSpc>
              <a:spcBef>
                <a:spcPts val="6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uLnTx/>
              <a:uFillTx/>
              <a:latin typeface="+mn-ea"/>
              <a:ea typeface="+mn-ea"/>
              <a:cs typeface="+mn-cs"/>
            </a:endParaRPr>
          </a:p>
        </p:txBody>
      </p:sp>
      <p:sp>
        <p:nvSpPr>
          <p:cNvPr id="7" name="日期占位符 4"/>
          <p:cNvSpPr>
            <a:spLocks noGrp="1"/>
          </p:cNvSpPr>
          <p:nvPr>
            <p:ph type="dt" sz="half" idx="12"/>
          </p:nvPr>
        </p:nvSpPr>
        <p:spPr>
          <a:xfrm>
            <a:off x="914400" y="6248400"/>
            <a:ext cx="2540000"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8" name="页脚占位符 5"/>
          <p:cNvSpPr>
            <a:spLocks noGrp="1"/>
          </p:cNvSpPr>
          <p:nvPr>
            <p:ph type="ftr" sz="quarter" idx="3"/>
          </p:nvPr>
        </p:nvSpPr>
        <p:spPr>
          <a:xfrm>
            <a:off x="4165600" y="6248400"/>
            <a:ext cx="3859213"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 name="灯片编号占位符 6"/>
          <p:cNvSpPr>
            <a:spLocks noGrp="1"/>
          </p:cNvSpPr>
          <p:nvPr>
            <p:ph type="sldNum" sz="quarter" idx="4"/>
          </p:nvPr>
        </p:nvSpPr>
        <p:spPr>
          <a:xfrm>
            <a:off x="8736013" y="6248400"/>
            <a:ext cx="2540000" cy="457200"/>
          </a:xfrm>
          <a:prstGeom prst="rect">
            <a:avLst/>
          </a:prstGeom>
          <a:ln>
            <a:miter/>
          </a:ln>
        </p:spPr>
        <p:txBody>
          <a:bodyPr vert="horz" wrap="square" lIns="91440" tIns="45720" rIns="91440" bIns="45720" numCol="1" anchor="t" anchorCtr="0" compatLnSpc="1"/>
          <a:lstStyle/>
          <a:p>
            <a:pPr algn="r">
              <a:buNone/>
            </a:pPr>
            <a:fld id="{9A0DB2DC-4C9A-4742-B13C-FB6460FD3503}" type="slidenum">
              <a:rPr lang="en-US" altLang="zh-CN" dirty="0"/>
              <a:pPr algn="r">
                <a:buNone/>
              </a:pPr>
              <a:t>‹#›</a:t>
            </a:fld>
            <a:endParaRPr lang="en-US" alt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32"/>
            <a:ext cx="10361851"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14281" y="1981200"/>
            <a:ext cx="5079339" cy="4114800"/>
          </a:xfrm>
        </p:spPr>
        <p:txBody>
          <a:bodyPr/>
          <a:lstStyle>
            <a:lvl1pPr>
              <a:defRPr sz="2000">
                <a:latin typeface="+mn-ea"/>
                <a:ea typeface="+mn-ea"/>
              </a:defRPr>
            </a:lvl1pPr>
            <a:lvl2pPr>
              <a:defRPr sz="1600">
                <a:latin typeface="+mn-ea"/>
                <a:ea typeface="+mn-ea"/>
              </a:defRPr>
            </a:lvl2pPr>
            <a:lvl3pPr>
              <a:defRPr sz="1400">
                <a:latin typeface="+mn-ea"/>
                <a:ea typeface="+mn-ea"/>
              </a:defRPr>
            </a:lvl3pPr>
            <a:lvl4pPr>
              <a:defRPr sz="1400"/>
            </a:lvl4pPr>
            <a:lvl5pPr>
              <a:defRPr sz="14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4" name="内容占位符 3"/>
          <p:cNvSpPr>
            <a:spLocks noGrp="1"/>
          </p:cNvSpPr>
          <p:nvPr>
            <p:ph sz="half" idx="2"/>
          </p:nvPr>
        </p:nvSpPr>
        <p:spPr>
          <a:xfrm>
            <a:off x="6196793" y="1981200"/>
            <a:ext cx="5079339" cy="4114800"/>
          </a:xfrm>
        </p:spPr>
        <p:txBody>
          <a:bodyPr/>
          <a:lstStyle>
            <a:lvl1pPr>
              <a:defRPr sz="2000"/>
            </a:lvl1pPr>
            <a:lvl2pPr>
              <a:defRPr sz="1600"/>
            </a:lvl2pPr>
            <a:lvl3pPr>
              <a:defRPr sz="1400"/>
            </a:lvl3pPr>
            <a:lvl4pPr>
              <a:defRPr sz="1400"/>
            </a:lvl4pPr>
            <a:lvl5pPr>
              <a:defRPr sz="14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4" y="273050"/>
            <a:ext cx="4010562"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766113" y="273057"/>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524" y="1435103"/>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6196793" y="1981200"/>
            <a:ext cx="5079339" cy="19812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6196793" y="4114800"/>
            <a:ext cx="5079339" cy="19812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7" name="页脚占位符 6"/>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6196793"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39678" y="76200"/>
            <a:ext cx="10361851" cy="1143000"/>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914281" y="1504950"/>
            <a:ext cx="10361851" cy="4591050"/>
          </a:xfrm>
        </p:spPr>
        <p:txBody>
          <a:bodyPr vert="horz" wrap="square" lIns="91440" tIns="45720" rIns="91440" bIns="45720" numCol="1" anchor="t" anchorCtr="0" compatLnSpc="1"/>
          <a:lstStyle/>
          <a:p>
            <a:pPr marL="341630" marR="0" lvl="0" indent="-341630" algn="l" defTabSz="914400" rtl="0" eaLnBrk="0" fontAlgn="base" latinLnBrk="0" hangingPunct="0">
              <a:lnSpc>
                <a:spcPct val="150000"/>
              </a:lnSpc>
              <a:spcBef>
                <a:spcPts val="600"/>
              </a:spcBef>
              <a:spcAft>
                <a:spcPct val="0"/>
              </a:spcAft>
              <a:buClrTx/>
              <a:buSzTx/>
              <a:buFontTx/>
              <a:buChar char="•"/>
              <a:defRPr/>
            </a:pPr>
            <a:endParaRPr kumimoji="0" lang="zh-CN" altLang="en-US" sz="2000" b="1" i="0" u="none" strike="noStrike" kern="0" cap="none" spc="0" normalizeH="0" baseline="0" noProof="0" smtClean="0">
              <a:ln>
                <a:noFill/>
              </a:ln>
              <a:solidFill>
                <a:schemeClr val="tx1"/>
              </a:solidFill>
              <a:effectLst/>
              <a:uLnTx/>
              <a:uFillTx/>
              <a:latin typeface="+mn-ea"/>
              <a:ea typeface="+mn-ea"/>
              <a:cs typeface="+mn-cs"/>
            </a:endParaRPr>
          </a:p>
        </p:txBody>
      </p:sp>
      <p:sp>
        <p:nvSpPr>
          <p:cNvPr id="7" name="Rectangle 4"/>
          <p:cNvSpPr>
            <a:spLocks noGrp="1"/>
          </p:cNvSpPr>
          <p:nvPr>
            <p:ph type="dt" sz="half" idx="2"/>
          </p:nvPr>
        </p:nvSpPr>
        <p:spPr>
          <a:xfrm>
            <a:off x="914400" y="6248400"/>
            <a:ext cx="2540000"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8" name="Rectangle 5"/>
          <p:cNvSpPr>
            <a:spLocks noGrp="1"/>
          </p:cNvSpPr>
          <p:nvPr>
            <p:ph type="ftr" sz="quarter" idx="3"/>
          </p:nvPr>
        </p:nvSpPr>
        <p:spPr>
          <a:xfrm>
            <a:off x="4165600" y="6248400"/>
            <a:ext cx="3859213"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 name="Rectangle 6"/>
          <p:cNvSpPr>
            <a:spLocks noGrp="1"/>
          </p:cNvSpPr>
          <p:nvPr>
            <p:ph type="sldNum" sz="quarter" idx="4"/>
          </p:nvPr>
        </p:nvSpPr>
        <p:spPr>
          <a:xfrm>
            <a:off x="8736013" y="6248400"/>
            <a:ext cx="2540000" cy="457200"/>
          </a:xfrm>
          <a:prstGeom prst="rect">
            <a:avLst/>
          </a:prstGeom>
          <a:ln>
            <a:miter/>
          </a:ln>
        </p:spPr>
        <p:txBody>
          <a:bodyPr vert="horz" wrap="square" lIns="91440" tIns="45720" rIns="91440" bIns="45720" numCol="1" anchor="t" anchorCtr="0" compatLnSpc="1"/>
          <a:lstStyle/>
          <a:p>
            <a:pPr algn="r">
              <a:buNone/>
            </a:pPr>
            <a:fld id="{9A0DB2DC-4C9A-4742-B13C-FB6460FD3503}" type="slidenum">
              <a:rPr lang="en-US" altLang="zh-CN" dirty="0"/>
              <a:pPr algn="r">
                <a:buNone/>
              </a:pPr>
              <a:t>‹#›</a:t>
            </a:fld>
            <a:endParaRPr lang="en-US" altLang="zh-CN"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Chart">
  <p:cSld name="标题，文本与图表">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281" y="609600"/>
            <a:ext cx="10361851" cy="11430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14281" y="1981200"/>
            <a:ext cx="5079339" cy="411480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图表占位符 3"/>
          <p:cNvSpPr>
            <a:spLocks noGrp="1"/>
          </p:cNvSpPr>
          <p:nvPr>
            <p:ph type="chart" sz="half" idx="2"/>
          </p:nvPr>
        </p:nvSpPr>
        <p:spPr>
          <a:xfrm>
            <a:off x="6196793" y="1981200"/>
            <a:ext cx="5079339" cy="4114800"/>
          </a:xfrm>
        </p:spPr>
        <p:txBody>
          <a:bodyPr vert="horz" wrap="square" lIns="91440" tIns="45720" rIns="91440" bIns="45720" numCol="1" anchor="t" anchorCtr="0" compatLnSpc="1"/>
          <a:lstStyle/>
          <a:p>
            <a:pPr marL="341630" marR="0" lvl="0" indent="-341630" algn="l" defTabSz="914400" rtl="0" eaLnBrk="0" fontAlgn="base" latinLnBrk="0" hangingPunct="0">
              <a:lnSpc>
                <a:spcPct val="150000"/>
              </a:lnSpc>
              <a:spcBef>
                <a:spcPts val="600"/>
              </a:spcBef>
              <a:spcAft>
                <a:spcPct val="0"/>
              </a:spcAft>
              <a:buClrTx/>
              <a:buSzTx/>
              <a:buFontTx/>
              <a:buChar char="•"/>
              <a:defRPr/>
            </a:pPr>
            <a:endParaRPr kumimoji="0" lang="zh-CN" altLang="en-US" sz="2000" b="1" i="0" u="none" strike="noStrike" kern="0" cap="none" spc="0" normalizeH="0" baseline="0" noProof="0">
              <a:ln>
                <a:noFill/>
              </a:ln>
              <a:solidFill>
                <a:schemeClr val="tx1"/>
              </a:solidFill>
              <a:effectLst/>
              <a:uLnTx/>
              <a:uFillTx/>
              <a:latin typeface="+mn-ea"/>
              <a:ea typeface="+mn-ea"/>
              <a:cs typeface="+mn-cs"/>
            </a:endParaRPr>
          </a:p>
        </p:txBody>
      </p:sp>
      <p:sp>
        <p:nvSpPr>
          <p:cNvPr id="7" name="日期占位符 4"/>
          <p:cNvSpPr>
            <a:spLocks noGrp="1"/>
          </p:cNvSpPr>
          <p:nvPr>
            <p:ph type="dt" sz="half" idx="12"/>
          </p:nvPr>
        </p:nvSpPr>
        <p:spPr>
          <a:xfrm>
            <a:off x="914400" y="6248400"/>
            <a:ext cx="2540000"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8" name="页脚占位符 5"/>
          <p:cNvSpPr>
            <a:spLocks noGrp="1"/>
          </p:cNvSpPr>
          <p:nvPr>
            <p:ph type="ftr" sz="quarter" idx="3"/>
          </p:nvPr>
        </p:nvSpPr>
        <p:spPr>
          <a:xfrm>
            <a:off x="4165600" y="6248400"/>
            <a:ext cx="3859213" cy="457200"/>
          </a:xfrm>
          <a:prstGeom prst="rect">
            <a:avLst/>
          </a:prstGeom>
          <a:ln>
            <a:miter/>
          </a:ln>
        </p:spPr>
        <p:txBody>
          <a:bodyPr anchor="t"/>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en-US" altLang="zh-CN"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 name="灯片编号占位符 6"/>
          <p:cNvSpPr>
            <a:spLocks noGrp="1"/>
          </p:cNvSpPr>
          <p:nvPr>
            <p:ph type="sldNum" sz="quarter" idx="4"/>
          </p:nvPr>
        </p:nvSpPr>
        <p:spPr>
          <a:xfrm>
            <a:off x="8736013" y="6248400"/>
            <a:ext cx="2540000" cy="457200"/>
          </a:xfrm>
          <a:prstGeom prst="rect">
            <a:avLst/>
          </a:prstGeom>
          <a:ln>
            <a:miter/>
          </a:ln>
        </p:spPr>
        <p:txBody>
          <a:bodyPr vert="horz" wrap="square" lIns="91440" tIns="45720" rIns="91440" bIns="45720" numCol="1" anchor="t" anchorCtr="0" compatLnSpc="1"/>
          <a:lstStyle/>
          <a:p>
            <a:pPr algn="r">
              <a:buNone/>
            </a:pPr>
            <a:fld id="{9A0DB2DC-4C9A-4742-B13C-FB6460FD3503}" type="slidenum">
              <a:rPr lang="en-US" altLang="zh-CN" dirty="0"/>
              <a:pPr algn="r">
                <a:buNone/>
              </a:pPr>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609600"/>
            <a:ext cx="10361613" cy="1143000"/>
          </a:xfrm>
          <a:prstGeom prst="rect">
            <a:avLst/>
          </a:prstGeom>
          <a:noFill/>
          <a:ln w="9525">
            <a:noFill/>
          </a:ln>
        </p:spPr>
        <p:txBody>
          <a:bodyPr anchor="ctr" anchorCtr="0"/>
          <a:lstStyle/>
          <a:p>
            <a:pPr lvl="0"/>
            <a:r>
              <a:rPr lang="zh-CN" altLang="en-US" dirty="0"/>
              <a:t>单击此处编辑母版标题样式</a:t>
            </a:r>
          </a:p>
        </p:txBody>
      </p:sp>
      <p:sp>
        <p:nvSpPr>
          <p:cNvPr id="6147" name="Rectangle 3"/>
          <p:cNvSpPr>
            <a:spLocks noGrp="1"/>
          </p:cNvSpPr>
          <p:nvPr>
            <p:ph type="body"/>
          </p:nvPr>
        </p:nvSpPr>
        <p:spPr>
          <a:xfrm>
            <a:off x="957263" y="1981200"/>
            <a:ext cx="10361612"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9220" name="Rectangle 4"/>
          <p:cNvSpPr>
            <a:spLocks noGrp="1"/>
          </p:cNvSpPr>
          <p:nvPr>
            <p:ph type="dt" sz="half" idx="2"/>
          </p:nvPr>
        </p:nvSpPr>
        <p:spPr>
          <a:xfrm>
            <a:off x="914400" y="6248400"/>
            <a:ext cx="2540000" cy="457200"/>
          </a:xfrm>
          <a:prstGeom prst="rect">
            <a:avLst/>
          </a:prstGeom>
          <a:noFill/>
          <a:ln w="9525">
            <a:noFill/>
            <a:miter/>
          </a:ln>
        </p:spPr>
        <p:txBody>
          <a:bodyPr/>
          <a:lstStyle>
            <a:lvl1pPr>
              <a:buFont typeface="Arial" panose="02080604020202020204" pitchFamily="34" charset="0"/>
              <a:buNone/>
              <a:defRPr sz="1400" noProof="1">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9221" name="Rectangle 5"/>
          <p:cNvSpPr>
            <a:spLocks noGrp="1"/>
          </p:cNvSpPr>
          <p:nvPr>
            <p:ph type="ftr" sz="quarter" idx="3"/>
          </p:nvPr>
        </p:nvSpPr>
        <p:spPr>
          <a:xfrm>
            <a:off x="4165600" y="6248400"/>
            <a:ext cx="3859213" cy="457200"/>
          </a:xfrm>
          <a:prstGeom prst="rect">
            <a:avLst/>
          </a:prstGeom>
          <a:noFill/>
          <a:ln w="9525">
            <a:noFill/>
            <a:miter/>
          </a:ln>
        </p:spPr>
        <p:txBody>
          <a:bodyPr/>
          <a:lstStyle>
            <a:lvl1pPr>
              <a:buFont typeface="Arial" panose="02080604020202020204" pitchFamily="34" charset="0"/>
              <a:buNone/>
              <a:defRPr sz="1400" noProof="1"/>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222" name="Rectangle 6"/>
          <p:cNvSpPr>
            <a:spLocks noGrp="1"/>
          </p:cNvSpPr>
          <p:nvPr>
            <p:ph type="sldNum" sz="quarter" idx="4"/>
          </p:nvPr>
        </p:nvSpPr>
        <p:spPr>
          <a:xfrm>
            <a:off x="8736013" y="6248400"/>
            <a:ext cx="2540000" cy="457200"/>
          </a:xfrm>
          <a:prstGeom prst="rect">
            <a:avLst/>
          </a:prstGeom>
          <a:noFill/>
          <a:ln w="9525">
            <a:noFill/>
            <a:miter/>
          </a:ln>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a:solidFill>
            <a:srgbClr val="FF3300"/>
          </a:solidFill>
          <a:latin typeface="+mj-lt"/>
          <a:ea typeface="+mj-ea"/>
          <a:cs typeface="+mj-cs"/>
        </a:defRPr>
      </a:lvl1pPr>
      <a:lvl2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2pPr>
      <a:lvl3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3pPr>
      <a:lvl4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4pPr>
      <a:lvl5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5pPr>
      <a:lvl6pPr marL="4572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6pPr>
      <a:lvl7pPr marL="9144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7pPr>
      <a:lvl8pPr marL="13716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8pPr>
      <a:lvl9pPr marL="18288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9pPr>
    </p:titleStyle>
    <p:bodyStyle>
      <a:lvl1pPr marL="341630" indent="-341630" algn="l" rtl="0" eaLnBrk="0" fontAlgn="base" hangingPunct="0">
        <a:lnSpc>
          <a:spcPct val="150000"/>
        </a:lnSpc>
        <a:spcBef>
          <a:spcPts val="600"/>
        </a:spcBef>
        <a:spcAft>
          <a:spcPct val="0"/>
        </a:spcAft>
        <a:buChar char="•"/>
        <a:defRPr sz="2000" b="1">
          <a:solidFill>
            <a:schemeClr val="tx1"/>
          </a:solidFill>
          <a:latin typeface="+mn-ea"/>
          <a:ea typeface="+mn-ea"/>
          <a:cs typeface="+mn-cs"/>
        </a:defRPr>
      </a:lvl1pPr>
      <a:lvl2pPr marL="741680" indent="-28448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1730" indent="-22733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598930" indent="-22733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6130" indent="-22733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609600"/>
            <a:ext cx="10361613" cy="1143000"/>
          </a:xfrm>
          <a:prstGeom prst="rect">
            <a:avLst/>
          </a:prstGeom>
          <a:noFill/>
          <a:ln w="9525">
            <a:noFill/>
          </a:ln>
        </p:spPr>
        <p:txBody>
          <a:bodyPr anchor="ctr" anchorCtr="0"/>
          <a:lstStyle/>
          <a:p>
            <a:pPr lvl="0"/>
            <a:r>
              <a:rPr lang="zh-CN" altLang="en-US" dirty="0"/>
              <a:t>单击此处编辑母版标题样式</a:t>
            </a:r>
          </a:p>
        </p:txBody>
      </p:sp>
      <p:sp>
        <p:nvSpPr>
          <p:cNvPr id="6147" name="Rectangle 3"/>
          <p:cNvSpPr>
            <a:spLocks noGrp="1"/>
          </p:cNvSpPr>
          <p:nvPr>
            <p:ph type="body"/>
          </p:nvPr>
        </p:nvSpPr>
        <p:spPr>
          <a:xfrm>
            <a:off x="957263" y="1981200"/>
            <a:ext cx="10361612"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p:txBody>
      </p:sp>
      <p:sp>
        <p:nvSpPr>
          <p:cNvPr id="9220" name="Rectangle 4"/>
          <p:cNvSpPr>
            <a:spLocks noGrp="1"/>
          </p:cNvSpPr>
          <p:nvPr>
            <p:ph type="dt" sz="half" idx="2"/>
          </p:nvPr>
        </p:nvSpPr>
        <p:spPr>
          <a:xfrm>
            <a:off x="914400" y="6248400"/>
            <a:ext cx="2540000" cy="457200"/>
          </a:xfrm>
          <a:prstGeom prst="rect">
            <a:avLst/>
          </a:prstGeom>
          <a:noFill/>
          <a:ln w="9525">
            <a:noFill/>
            <a:miter/>
          </a:ln>
        </p:spPr>
        <p:txBody>
          <a:bodyPr/>
          <a:lstStyle>
            <a:lvl1pPr>
              <a:buFont typeface="Arial" panose="02080604020202020204" pitchFamily="34" charset="0"/>
              <a:buNone/>
              <a:defRPr sz="1400" noProof="1">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fld id="{D30E818F-FD25-4F72-A64D-DBA416BA1A76}" type="datetimeFigureOut">
              <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rPr>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t>2025/10/9</a:t>
            </a:fld>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ea"/>
            </a:endParaRPr>
          </a:p>
        </p:txBody>
      </p:sp>
      <p:sp>
        <p:nvSpPr>
          <p:cNvPr id="9221" name="Rectangle 5"/>
          <p:cNvSpPr>
            <a:spLocks noGrp="1"/>
          </p:cNvSpPr>
          <p:nvPr>
            <p:ph type="ftr" sz="quarter" idx="3"/>
          </p:nvPr>
        </p:nvSpPr>
        <p:spPr>
          <a:xfrm>
            <a:off x="4165600" y="6248400"/>
            <a:ext cx="3859213" cy="457200"/>
          </a:xfrm>
          <a:prstGeom prst="rect">
            <a:avLst/>
          </a:prstGeom>
          <a:noFill/>
          <a:ln w="9525">
            <a:noFill/>
            <a:miter/>
          </a:ln>
        </p:spPr>
        <p:txBody>
          <a:bodyPr/>
          <a:lstStyle>
            <a:lvl1pPr>
              <a:buFont typeface="Arial" panose="02080604020202020204" pitchFamily="34" charset="0"/>
              <a:buNone/>
              <a:defRPr sz="1400" noProof="1"/>
            </a:lvl1pPr>
          </a:lstStyle>
          <a:p>
            <a:pPr marL="0" marR="0" lvl="0" indent="0" algn="l" defTabSz="914400" rtl="0" eaLnBrk="1" fontAlgn="base" latinLnBrk="0" hangingPunct="1">
              <a:lnSpc>
                <a:spcPct val="100000"/>
              </a:lnSpc>
              <a:spcBef>
                <a:spcPct val="0"/>
              </a:spcBef>
              <a:spcAft>
                <a:spcPct val="0"/>
              </a:spcAft>
              <a:buClrTx/>
              <a:buSzTx/>
              <a:buFont typeface="Arial" panose="0208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Times New Roman" pitchFamily="18" charset="0"/>
              <a:ea typeface="宋体" panose="02000500000000000000" pitchFamily="2" charset="-122"/>
              <a:cs typeface="+mn-cs"/>
            </a:endParaRPr>
          </a:p>
        </p:txBody>
      </p:sp>
      <p:sp>
        <p:nvSpPr>
          <p:cNvPr id="9222" name="Rectangle 6"/>
          <p:cNvSpPr>
            <a:spLocks noGrp="1"/>
          </p:cNvSpPr>
          <p:nvPr>
            <p:ph type="sldNum" sz="quarter" idx="4"/>
          </p:nvPr>
        </p:nvSpPr>
        <p:spPr>
          <a:xfrm>
            <a:off x="8736013" y="6248400"/>
            <a:ext cx="2540000" cy="457200"/>
          </a:xfrm>
          <a:prstGeom prst="rect">
            <a:avLst/>
          </a:prstGeom>
          <a:noFill/>
          <a:ln w="9525">
            <a:noFill/>
            <a:miter/>
          </a:ln>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Times New Roman" pitchFamily="18" charset="0"/>
              </a:rPr>
              <a:pPr lvl="0" eaLnBrk="1" hangingPunct="1">
                <a:buNone/>
              </a:pPr>
              <a:t>‹#›</a:t>
            </a:fld>
            <a:endParaRPr lang="zh-CN" altLang="en-US"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3600">
          <a:solidFill>
            <a:srgbClr val="FF3300"/>
          </a:solidFill>
          <a:latin typeface="+mj-lt"/>
          <a:ea typeface="+mj-ea"/>
          <a:cs typeface="+mj-cs"/>
        </a:defRPr>
      </a:lvl1pPr>
      <a:lvl2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2pPr>
      <a:lvl3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3pPr>
      <a:lvl4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4pPr>
      <a:lvl5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5pPr>
      <a:lvl6pPr marL="4572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6pPr>
      <a:lvl7pPr marL="9144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7pPr>
      <a:lvl8pPr marL="13716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8pPr>
      <a:lvl9pPr marL="18288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9pPr>
    </p:titleStyle>
    <p:bodyStyle>
      <a:lvl1pPr marL="341630" indent="-341630" algn="l" rtl="0" eaLnBrk="0" fontAlgn="base" hangingPunct="0">
        <a:lnSpc>
          <a:spcPct val="150000"/>
        </a:lnSpc>
        <a:spcBef>
          <a:spcPts val="600"/>
        </a:spcBef>
        <a:spcAft>
          <a:spcPct val="0"/>
        </a:spcAft>
        <a:buChar char="•"/>
        <a:defRPr sz="2000" b="1">
          <a:solidFill>
            <a:schemeClr val="tx1"/>
          </a:solidFill>
          <a:latin typeface="+mn-ea"/>
          <a:ea typeface="+mn-ea"/>
          <a:cs typeface="+mn-cs"/>
        </a:defRPr>
      </a:lvl1pPr>
      <a:lvl2pPr marL="741680" indent="-284480" algn="l" rtl="0" eaLnBrk="0" fontAlgn="base" hangingPunct="0">
        <a:lnSpc>
          <a:spcPct val="150000"/>
        </a:lnSpc>
        <a:spcBef>
          <a:spcPts val="600"/>
        </a:spcBef>
        <a:spcAft>
          <a:spcPct val="0"/>
        </a:spcAft>
        <a:buChar char="•"/>
        <a:defRPr sz="1600" b="1">
          <a:solidFill>
            <a:schemeClr val="tx1"/>
          </a:solidFill>
          <a:latin typeface="+mn-ea"/>
          <a:ea typeface="+mn-ea"/>
        </a:defRPr>
      </a:lvl2pPr>
      <a:lvl3pPr marL="1141730" indent="-227330" algn="l" rtl="0" eaLnBrk="0" fontAlgn="base" hangingPunct="0">
        <a:lnSpc>
          <a:spcPct val="150000"/>
        </a:lnSpc>
        <a:spcBef>
          <a:spcPts val="600"/>
        </a:spcBef>
        <a:spcAft>
          <a:spcPct val="0"/>
        </a:spcAft>
        <a:buChar char="•"/>
        <a:defRPr sz="1400" b="1">
          <a:solidFill>
            <a:schemeClr val="tx1"/>
          </a:solidFill>
          <a:latin typeface="+mn-ea"/>
          <a:ea typeface="+mn-ea"/>
        </a:defRPr>
      </a:lvl3pPr>
      <a:lvl4pPr marL="1598930" indent="-22733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6130" indent="-22733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Microsoft_Office_Word_97_-_2003___1.doc"/></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Microsoft_Office_Word_97_-_2003___2.doc"/><Relationship Id="rId4" Type="http://schemas.openxmlformats.org/officeDocument/2006/relationships/image" Target="../media/image7.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Microsoft_Office_Word_97_-_2003___3.doc"/></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Microsoft_Office_Word_97_-_2003___4.doc"/><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9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ctrTitle"/>
          </p:nvPr>
        </p:nvSpPr>
        <p:spPr/>
        <p:txBody>
          <a:bodyPr vert="horz" wrap="square" lIns="91440" tIns="45720" rIns="91440" bIns="45720" anchor="ctr" anchorCtr="0"/>
          <a:lstStyle/>
          <a:p>
            <a:pPr eaLnBrk="1" hangingPunct="1">
              <a:buClrTx/>
              <a:buSzTx/>
              <a:buFontTx/>
            </a:pPr>
            <a:r>
              <a:rPr lang="zh-CN" altLang="en-US" sz="4400" dirty="0"/>
              <a:t>计算机体系结构</a:t>
            </a:r>
          </a:p>
        </p:txBody>
      </p:sp>
      <p:sp>
        <p:nvSpPr>
          <p:cNvPr id="9219" name="副标题 2"/>
          <p:cNvSpPr>
            <a:spLocks noGrp="1"/>
          </p:cNvSpPr>
          <p:nvPr>
            <p:ph type="subTitle" idx="1"/>
          </p:nvPr>
        </p:nvSpPr>
        <p:spPr>
          <a:xfrm>
            <a:off x="1828800" y="4595813"/>
            <a:ext cx="8532813" cy="1042987"/>
          </a:xfrm>
        </p:spPr>
        <p:txBody>
          <a:bodyPr vert="horz" wrap="square" lIns="91440" tIns="45720" rIns="91440" bIns="45720" anchor="t" anchorCtr="0"/>
          <a:lstStyle/>
          <a:p>
            <a:pPr eaLnBrk="1" hangingPunct="1">
              <a:buClrTx/>
              <a:buSzTx/>
              <a:buFontTx/>
            </a:pPr>
            <a:r>
              <a:rPr lang="zh-CN" altLang="en-US" dirty="0">
                <a:latin typeface="+mn-ea"/>
                <a:ea typeface="+mn-ea"/>
                <a:cs typeface="+mn-cs"/>
              </a:rPr>
              <a:t>胡伟武、汪文祥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941388" y="225425"/>
            <a:ext cx="10361612" cy="1143000"/>
          </a:xfrm>
        </p:spPr>
        <p:txBody>
          <a:bodyPr vert="horz" wrap="square" lIns="91440" tIns="45720" rIns="91440" bIns="45720" anchor="ctr" anchorCtr="0"/>
          <a:lstStyle/>
          <a:p>
            <a:pPr eaLnBrk="1" hangingPunct="1"/>
            <a:r>
              <a:rPr lang="zh-CN" altLang="en-US" dirty="0"/>
              <a:t>指令系统结构（</a:t>
            </a:r>
            <a:r>
              <a:rPr lang="en-US" altLang="zh-CN" dirty="0"/>
              <a:t>ISA</a:t>
            </a:r>
            <a:r>
              <a:rPr lang="zh-CN" altLang="en-US" dirty="0"/>
              <a:t>）</a:t>
            </a:r>
          </a:p>
        </p:txBody>
      </p:sp>
      <p:sp>
        <p:nvSpPr>
          <p:cNvPr id="10243" name="内容占位符 2"/>
          <p:cNvSpPr>
            <a:spLocks noGrp="1"/>
          </p:cNvSpPr>
          <p:nvPr>
            <p:ph idx="1"/>
          </p:nvPr>
        </p:nvSpPr>
        <p:spPr>
          <a:xfrm>
            <a:off x="914400" y="1371600"/>
            <a:ext cx="10361613" cy="5029200"/>
          </a:xfrm>
        </p:spPr>
        <p:txBody>
          <a:bodyPr vert="horz" wrap="square" lIns="91440" tIns="45720" rIns="91440" bIns="45720" anchor="t" anchorCtr="0"/>
          <a:lstStyle/>
          <a:p>
            <a:pPr eaLnBrk="1" hangingPunct="1"/>
            <a:r>
              <a:rPr lang="zh-CN" altLang="en-US" dirty="0"/>
              <a:t>指令系统简介</a:t>
            </a:r>
            <a:endParaRPr lang="en-US" altLang="zh-CN" dirty="0"/>
          </a:p>
          <a:p>
            <a:pPr eaLnBrk="1" hangingPunct="1"/>
            <a:r>
              <a:rPr lang="zh-CN" altLang="en-US" dirty="0"/>
              <a:t>指令系统的设计原则</a:t>
            </a:r>
            <a:endParaRPr lang="en-US" altLang="zh-CN" dirty="0"/>
          </a:p>
          <a:p>
            <a:pPr eaLnBrk="1" hangingPunct="1"/>
            <a:r>
              <a:rPr lang="zh-CN" altLang="en-US" dirty="0"/>
              <a:t>指令系统的演变</a:t>
            </a:r>
            <a:endParaRPr lang="en-US" altLang="zh-CN" dirty="0"/>
          </a:p>
          <a:p>
            <a:pPr eaLnBrk="1" hangingPunct="1"/>
            <a:r>
              <a:rPr lang="zh-CN" altLang="en-US" dirty="0"/>
              <a:t>指令系统组成</a:t>
            </a:r>
            <a:endParaRPr lang="en-US" altLang="zh-CN" dirty="0"/>
          </a:p>
          <a:p>
            <a:pPr lvl="1" eaLnBrk="1" hangingPunct="1"/>
            <a:r>
              <a:rPr lang="zh-CN" altLang="en-US" dirty="0"/>
              <a:t>地址空间</a:t>
            </a:r>
            <a:endParaRPr lang="en-US" altLang="zh-CN" dirty="0"/>
          </a:p>
          <a:p>
            <a:pPr lvl="1" eaLnBrk="1" hangingPunct="1"/>
            <a:r>
              <a:rPr lang="zh-CN" altLang="en-US" dirty="0"/>
              <a:t>操作数</a:t>
            </a:r>
            <a:endParaRPr lang="en-US" altLang="zh-CN" dirty="0"/>
          </a:p>
          <a:p>
            <a:pPr lvl="1" eaLnBrk="1" hangingPunct="1"/>
            <a:r>
              <a:rPr lang="zh-CN" altLang="en-US" dirty="0"/>
              <a:t>指令操作和编码</a:t>
            </a:r>
            <a:endParaRPr lang="en-US" altLang="zh-CN" dirty="0"/>
          </a:p>
          <a:p>
            <a:pPr eaLnBrk="1" hangingPunct="1"/>
            <a:r>
              <a:rPr lang="en-US" altLang="zh-CN" dirty="0"/>
              <a:t>RISC</a:t>
            </a:r>
            <a:r>
              <a:rPr lang="zh-CN" altLang="en-US" dirty="0"/>
              <a:t>指令系统比较</a:t>
            </a:r>
            <a:endParaRPr lang="en-US" altLang="zh-CN" dirty="0"/>
          </a:p>
          <a:p>
            <a:pPr eaLnBrk="1" hangingPunct="1"/>
            <a:r>
              <a:rPr lang="zh-CN" altLang="en-US" dirty="0"/>
              <a:t>龙芯自主指令系统：</a:t>
            </a:r>
            <a:r>
              <a:rPr lang="en-US" altLang="zh-CN" dirty="0"/>
              <a:t>LoongArch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3"/>
          <p:cNvSpPr>
            <a:spLocks noGrp="1"/>
          </p:cNvSpPr>
          <p:nvPr>
            <p:ph type="title"/>
          </p:nvPr>
        </p:nvSpPr>
        <p:spPr>
          <a:xfrm>
            <a:off x="914400" y="2560638"/>
            <a:ext cx="10361613" cy="1143000"/>
          </a:xfrm>
        </p:spPr>
        <p:txBody>
          <a:bodyPr vert="horz" wrap="square" lIns="91440" tIns="45720" rIns="91440" bIns="45720" anchor="ctr" anchorCtr="0"/>
          <a:lstStyle/>
          <a:p>
            <a:pPr eaLnBrk="1" hangingPunct="1"/>
            <a:r>
              <a:rPr lang="zh-CN" altLang="en-US" dirty="0"/>
              <a:t>指令系统简介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2"/>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什么是指令系统</a:t>
            </a:r>
          </a:p>
        </p:txBody>
      </p:sp>
      <p:sp>
        <p:nvSpPr>
          <p:cNvPr id="19459" name="内容占位符 3"/>
          <p:cNvSpPr>
            <a:spLocks noGrp="1"/>
          </p:cNvSpPr>
          <p:nvPr>
            <p:ph idx="4294967295"/>
          </p:nvPr>
        </p:nvSpPr>
        <p:spPr>
          <a:xfrm>
            <a:off x="431800" y="1017588"/>
            <a:ext cx="10844213" cy="3409950"/>
          </a:xfrm>
        </p:spPr>
        <p:txBody>
          <a:bodyPr vert="horz" wrap="square" lIns="91440" tIns="45720" rIns="91440" bIns="45720" anchor="t" anchorCtr="0"/>
          <a:lstStyle/>
          <a:p>
            <a:pPr eaLnBrk="1" hangingPunct="1"/>
            <a:r>
              <a:rPr lang="zh-CN" altLang="en-US" dirty="0"/>
              <a:t>指令系统是计算机功能的抽象模型</a:t>
            </a:r>
          </a:p>
          <a:p>
            <a:pPr lvl="1" eaLnBrk="1" hangingPunct="1"/>
            <a:r>
              <a:rPr lang="zh-CN" altLang="en-US" dirty="0"/>
              <a:t>是软硬件的界面，所有软件最终都以指令的形式运行</a:t>
            </a:r>
          </a:p>
          <a:p>
            <a:pPr lvl="1" eaLnBrk="1" hangingPunct="1"/>
            <a:r>
              <a:rPr lang="zh-CN" altLang="en-US" dirty="0"/>
              <a:t>体现了结构设计者对计算机系统及其应用的深刻理解</a:t>
            </a:r>
          </a:p>
          <a:p>
            <a:pPr lvl="1" eaLnBrk="1" hangingPunct="1"/>
            <a:r>
              <a:rPr lang="zh-CN" altLang="en-US" dirty="0"/>
              <a:t>一个指令系统可以有多种实现（低功耗、高性能、软件模拟...）</a:t>
            </a:r>
          </a:p>
          <a:p>
            <a:pPr eaLnBrk="1" hangingPunct="1"/>
            <a:r>
              <a:rPr lang="zh-CN" altLang="en-US" dirty="0"/>
              <a:t>指令系统结构不仅仅是关于指令功能的编码</a:t>
            </a:r>
          </a:p>
          <a:p>
            <a:pPr lvl="1" eaLnBrk="1" hangingPunct="1"/>
            <a:r>
              <a:rPr lang="zh-CN" altLang="en-US" dirty="0"/>
              <a:t>运行环境：地址空间、异常和中断处理、存储管理、安全管理、Cache管理等</a:t>
            </a:r>
          </a:p>
          <a:p>
            <a:pPr lvl="1" eaLnBrk="1" hangingPunct="1"/>
            <a:r>
              <a:rPr lang="zh-CN" altLang="en-US" dirty="0"/>
              <a:t>运行环境差异比功能差异大，如MIPS有5组寄存器，PPC有14组</a:t>
            </a:r>
          </a:p>
          <a:p>
            <a:pPr lvl="1" eaLnBrk="1" hangingPunct="1"/>
            <a:endParaRPr lang="zh-CN" altLang="en-US" dirty="0"/>
          </a:p>
        </p:txBody>
      </p:sp>
      <p:grpSp>
        <p:nvGrpSpPr>
          <p:cNvPr id="19460" name="组合 27"/>
          <p:cNvGrpSpPr/>
          <p:nvPr/>
        </p:nvGrpSpPr>
        <p:grpSpPr>
          <a:xfrm>
            <a:off x="6543675" y="4918075"/>
            <a:ext cx="5183188" cy="1836738"/>
            <a:chOff x="1387475" y="2219082"/>
            <a:chExt cx="6402388" cy="3944091"/>
          </a:xfrm>
        </p:grpSpPr>
        <p:sp>
          <p:nvSpPr>
            <p:cNvPr id="19462" name="梯形 48"/>
            <p:cNvSpPr/>
            <p:nvPr/>
          </p:nvSpPr>
          <p:spPr>
            <a:xfrm>
              <a:off x="2416175" y="4481270"/>
              <a:ext cx="5373688" cy="1589087"/>
            </a:xfrm>
            <a:custGeom>
              <a:avLst/>
              <a:gdLst>
                <a:gd name="txL" fmla="*/ 0 w 5373688"/>
                <a:gd name="txT" fmla="*/ 0 h 1589087"/>
                <a:gd name="txR" fmla="*/ 5373688 w 5373688"/>
                <a:gd name="txB" fmla="*/ 1589087 h 1589087"/>
              </a:gdLst>
              <a:ahLst/>
              <a:cxnLst>
                <a:cxn ang="0">
                  <a:pos x="0" y="1589087"/>
                </a:cxn>
                <a:cxn ang="0">
                  <a:pos x="870534" y="0"/>
                </a:cxn>
                <a:cxn ang="0">
                  <a:pos x="4503152" y="0"/>
                </a:cxn>
                <a:cxn ang="0">
                  <a:pos x="5373688" y="1589087"/>
                </a:cxn>
              </a:cxnLst>
              <a:rect l="txL" t="txT" r="txR" b="txB"/>
              <a:pathLst>
                <a:path w="5373688" h="1589087">
                  <a:moveTo>
                    <a:pt x="0" y="1589087"/>
                  </a:moveTo>
                  <a:lnTo>
                    <a:pt x="870534" y="0"/>
                  </a:lnTo>
                  <a:lnTo>
                    <a:pt x="4503154" y="0"/>
                  </a:lnTo>
                  <a:lnTo>
                    <a:pt x="5373688" y="1589087"/>
                  </a:lnTo>
                  <a:close/>
                </a:path>
              </a:pathLst>
            </a:custGeom>
            <a:solidFill>
              <a:schemeClr val="bg1">
                <a:alpha val="100000"/>
              </a:schemeClr>
            </a:solidFill>
            <a:ln w="25400" cap="flat" cmpd="sng">
              <a:solidFill>
                <a:schemeClr val="accent2">
                  <a:alpha val="100000"/>
                </a:schemeClr>
              </a:solidFill>
              <a:prstDash val="solid"/>
              <a:round/>
              <a:headEnd type="none" w="med" len="med"/>
              <a:tailEnd type="none" w="med" len="med"/>
            </a:ln>
          </p:spPr>
          <p:txBody>
            <a:bodyPr/>
            <a:lstStyle/>
            <a:p>
              <a:endParaRPr lang="zh-CN" altLang="en-US"/>
            </a:p>
          </p:txBody>
        </p:sp>
        <p:sp>
          <p:nvSpPr>
            <p:cNvPr id="19463" name="梯形 47"/>
            <p:cNvSpPr/>
            <p:nvPr/>
          </p:nvSpPr>
          <p:spPr>
            <a:xfrm rot="10800000">
              <a:off x="2416175" y="2219082"/>
              <a:ext cx="5373688" cy="1651000"/>
            </a:xfrm>
            <a:custGeom>
              <a:avLst/>
              <a:gdLst>
                <a:gd name="txL" fmla="*/ 0 w 5373688"/>
                <a:gd name="txT" fmla="*/ 0 h 1651000"/>
                <a:gd name="txR" fmla="*/ 5373688 w 5373688"/>
                <a:gd name="txB" fmla="*/ 1651000 h 1651000"/>
              </a:gdLst>
              <a:ahLst/>
              <a:cxnLst>
                <a:cxn ang="0">
                  <a:pos x="0" y="1651000"/>
                </a:cxn>
                <a:cxn ang="0">
                  <a:pos x="904451" y="0"/>
                </a:cxn>
                <a:cxn ang="0">
                  <a:pos x="4469236" y="0"/>
                </a:cxn>
                <a:cxn ang="0">
                  <a:pos x="5373688" y="1651000"/>
                </a:cxn>
              </a:cxnLst>
              <a:rect l="txL" t="txT" r="txR" b="txB"/>
              <a:pathLst>
                <a:path w="5373688" h="1651000">
                  <a:moveTo>
                    <a:pt x="0" y="1651000"/>
                  </a:moveTo>
                  <a:lnTo>
                    <a:pt x="904451" y="0"/>
                  </a:lnTo>
                  <a:lnTo>
                    <a:pt x="4469237" y="0"/>
                  </a:lnTo>
                  <a:lnTo>
                    <a:pt x="5373688" y="1651000"/>
                  </a:lnTo>
                  <a:close/>
                </a:path>
              </a:pathLst>
            </a:custGeom>
            <a:solidFill>
              <a:schemeClr val="bg1">
                <a:alpha val="100000"/>
              </a:schemeClr>
            </a:solidFill>
            <a:ln w="25400" cap="flat" cmpd="sng">
              <a:solidFill>
                <a:schemeClr val="accent1">
                  <a:alpha val="100000"/>
                </a:schemeClr>
              </a:solidFill>
              <a:prstDash val="solid"/>
              <a:round/>
              <a:headEnd type="none" w="med" len="med"/>
              <a:tailEnd type="none" w="med" len="med"/>
            </a:ln>
          </p:spPr>
          <p:txBody>
            <a:bodyPr/>
            <a:lstStyle/>
            <a:p>
              <a:endParaRPr lang="zh-CN" altLang="en-US"/>
            </a:p>
          </p:txBody>
        </p:sp>
        <p:sp>
          <p:nvSpPr>
            <p:cNvPr id="19464" name="矩形 7"/>
            <p:cNvSpPr/>
            <p:nvPr/>
          </p:nvSpPr>
          <p:spPr>
            <a:xfrm>
              <a:off x="3883025" y="3936757"/>
              <a:ext cx="2506663" cy="450850"/>
            </a:xfrm>
            <a:prstGeom prst="rect">
              <a:avLst/>
            </a:prstGeom>
            <a:solidFill>
              <a:schemeClr val="bg1"/>
            </a:solidFill>
            <a:ln w="25400" cap="flat" cmpd="sng">
              <a:solidFill>
                <a:schemeClr val="tx1"/>
              </a:solidFill>
              <a:prstDash val="solid"/>
              <a:miter/>
              <a:headEnd type="none" w="med" len="med"/>
              <a:tailEnd type="none" w="med" len="med"/>
            </a:ln>
          </p:spPr>
          <p:txBody>
            <a:bodyPr tIns="0" bIns="0" anchor="ctr" anchorCtr="0"/>
            <a:lstStyle/>
            <a:p>
              <a:pPr algn="ctr"/>
              <a:r>
                <a:rPr lang="en-US" altLang="zh-CN" sz="900" b="1" dirty="0">
                  <a:latin typeface="Times New Roman" pitchFamily="18" charset="0"/>
                </a:rPr>
                <a:t>ARM AArch64</a:t>
              </a:r>
            </a:p>
          </p:txBody>
        </p:sp>
        <p:sp>
          <p:nvSpPr>
            <p:cNvPr id="19465" name="文本框 8"/>
            <p:cNvSpPr txBox="1"/>
            <p:nvPr/>
          </p:nvSpPr>
          <p:spPr>
            <a:xfrm>
              <a:off x="1387475" y="3927233"/>
              <a:ext cx="1243014" cy="462704"/>
            </a:xfrm>
            <a:prstGeom prst="rect">
              <a:avLst/>
            </a:prstGeom>
            <a:noFill/>
            <a:ln w="9525">
              <a:noFill/>
            </a:ln>
          </p:spPr>
          <p:txBody>
            <a:bodyPr>
              <a:spAutoFit/>
            </a:bodyPr>
            <a:lstStyle/>
            <a:p>
              <a:r>
                <a:rPr lang="zh-CN" altLang="en-US" sz="800" b="1" dirty="0">
                  <a:latin typeface="黑体" panose="02000500000000000000" pitchFamily="49" charset="-122"/>
                  <a:ea typeface="黑体" panose="02000500000000000000" pitchFamily="49" charset="-122"/>
                </a:rPr>
                <a:t>指令系统</a:t>
              </a:r>
            </a:p>
          </p:txBody>
        </p:sp>
        <p:sp>
          <p:nvSpPr>
            <p:cNvPr id="19466" name="文本框 9"/>
            <p:cNvSpPr txBox="1"/>
            <p:nvPr/>
          </p:nvSpPr>
          <p:spPr>
            <a:xfrm>
              <a:off x="1387475" y="3200158"/>
              <a:ext cx="1243014" cy="462704"/>
            </a:xfrm>
            <a:prstGeom prst="rect">
              <a:avLst/>
            </a:prstGeom>
            <a:noFill/>
            <a:ln w="9525">
              <a:noFill/>
            </a:ln>
          </p:spPr>
          <p:txBody>
            <a:bodyPr>
              <a:spAutoFit/>
            </a:bodyPr>
            <a:lstStyle/>
            <a:p>
              <a:r>
                <a:rPr lang="zh-CN" altLang="en-US" sz="800" b="1" dirty="0">
                  <a:latin typeface="黑体" panose="02000500000000000000" pitchFamily="49" charset="-122"/>
                  <a:ea typeface="黑体" panose="02000500000000000000" pitchFamily="49" charset="-122"/>
                </a:rPr>
                <a:t>基础软件</a:t>
              </a:r>
            </a:p>
          </p:txBody>
        </p:sp>
        <p:sp>
          <p:nvSpPr>
            <p:cNvPr id="19467" name="文本框 10"/>
            <p:cNvSpPr txBox="1"/>
            <p:nvPr/>
          </p:nvSpPr>
          <p:spPr>
            <a:xfrm>
              <a:off x="1387475" y="4759082"/>
              <a:ext cx="1243014" cy="462704"/>
            </a:xfrm>
            <a:prstGeom prst="rect">
              <a:avLst/>
            </a:prstGeom>
            <a:noFill/>
            <a:ln w="9525">
              <a:noFill/>
            </a:ln>
          </p:spPr>
          <p:txBody>
            <a:bodyPr>
              <a:spAutoFit/>
            </a:bodyPr>
            <a:lstStyle/>
            <a:p>
              <a:r>
                <a:rPr lang="zh-CN" altLang="en-US" sz="800" b="1" dirty="0">
                  <a:latin typeface="黑体" panose="02000500000000000000" pitchFamily="49" charset="-122"/>
                  <a:ea typeface="黑体" panose="02000500000000000000" pitchFamily="49" charset="-122"/>
                </a:rPr>
                <a:t>微结构</a:t>
              </a:r>
            </a:p>
          </p:txBody>
        </p:sp>
        <p:sp>
          <p:nvSpPr>
            <p:cNvPr id="19468" name="文本框 11"/>
            <p:cNvSpPr txBox="1"/>
            <p:nvPr/>
          </p:nvSpPr>
          <p:spPr>
            <a:xfrm>
              <a:off x="1387475" y="2498482"/>
              <a:ext cx="1243014" cy="462704"/>
            </a:xfrm>
            <a:prstGeom prst="rect">
              <a:avLst/>
            </a:prstGeom>
            <a:noFill/>
            <a:ln w="9525">
              <a:noFill/>
            </a:ln>
          </p:spPr>
          <p:txBody>
            <a:bodyPr>
              <a:spAutoFit/>
            </a:bodyPr>
            <a:lstStyle/>
            <a:p>
              <a:r>
                <a:rPr lang="zh-CN" altLang="en-US" sz="800" b="1" dirty="0">
                  <a:latin typeface="黑体" panose="02000500000000000000" pitchFamily="49" charset="-122"/>
                  <a:ea typeface="黑体" panose="02000500000000000000" pitchFamily="49" charset="-122"/>
                </a:rPr>
                <a:t>上层软件</a:t>
              </a:r>
            </a:p>
          </p:txBody>
        </p:sp>
        <p:sp>
          <p:nvSpPr>
            <p:cNvPr id="19469" name="文本框 12"/>
            <p:cNvSpPr txBox="1"/>
            <p:nvPr/>
          </p:nvSpPr>
          <p:spPr>
            <a:xfrm>
              <a:off x="1387475" y="5516321"/>
              <a:ext cx="1243014" cy="462704"/>
            </a:xfrm>
            <a:prstGeom prst="rect">
              <a:avLst/>
            </a:prstGeom>
            <a:noFill/>
            <a:ln w="9525">
              <a:noFill/>
            </a:ln>
          </p:spPr>
          <p:txBody>
            <a:bodyPr>
              <a:spAutoFit/>
            </a:bodyPr>
            <a:lstStyle/>
            <a:p>
              <a:r>
                <a:rPr lang="zh-CN" altLang="en-US" sz="800" b="1" dirty="0">
                  <a:latin typeface="黑体" panose="02000500000000000000" pitchFamily="49" charset="-122"/>
                  <a:ea typeface="黑体" panose="02000500000000000000" pitchFamily="49" charset="-122"/>
                </a:rPr>
                <a:t>电路器件</a:t>
              </a:r>
            </a:p>
          </p:txBody>
        </p:sp>
        <p:sp>
          <p:nvSpPr>
            <p:cNvPr id="19470" name="圆角矩形 23"/>
            <p:cNvSpPr/>
            <p:nvPr/>
          </p:nvSpPr>
          <p:spPr>
            <a:xfrm>
              <a:off x="3613150" y="3200157"/>
              <a:ext cx="1239838" cy="452438"/>
            </a:xfrm>
            <a:prstGeom prst="roundRect">
              <a:avLst>
                <a:gd name="adj" fmla="val 16667"/>
              </a:avLst>
            </a:prstGeom>
            <a:solidFill>
              <a:schemeClr val="bg1"/>
            </a:solidFill>
            <a:ln w="25400" cap="flat" cmpd="sng">
              <a:solidFill>
                <a:schemeClr val="accent1"/>
              </a:solidFill>
              <a:prstDash val="solid"/>
              <a:headEnd type="none" w="med" len="med"/>
              <a:tailEnd type="none" w="med" len="med"/>
            </a:ln>
          </p:spPr>
          <p:txBody>
            <a:bodyPr/>
            <a:lstStyle/>
            <a:p>
              <a:pPr algn="ctr"/>
              <a:r>
                <a:rPr lang="en-US" altLang="zh-CN" sz="900" dirty="0">
                  <a:solidFill>
                    <a:srgbClr val="000000"/>
                  </a:solidFill>
                  <a:latin typeface="Times New Roman" pitchFamily="18" charset="0"/>
                </a:rPr>
                <a:t>Android</a:t>
              </a:r>
            </a:p>
          </p:txBody>
        </p:sp>
        <p:sp>
          <p:nvSpPr>
            <p:cNvPr id="19471" name="圆角矩形 24"/>
            <p:cNvSpPr/>
            <p:nvPr/>
          </p:nvSpPr>
          <p:spPr>
            <a:xfrm>
              <a:off x="4951413" y="3203332"/>
              <a:ext cx="688975" cy="450850"/>
            </a:xfrm>
            <a:prstGeom prst="roundRect">
              <a:avLst>
                <a:gd name="adj" fmla="val 16667"/>
              </a:avLst>
            </a:prstGeom>
            <a:solidFill>
              <a:schemeClr val="bg1"/>
            </a:solidFill>
            <a:ln w="25400" cap="flat" cmpd="sng">
              <a:solidFill>
                <a:schemeClr val="accent1"/>
              </a:solidFill>
              <a:prstDash val="solid"/>
              <a:headEnd type="none" w="med" len="med"/>
              <a:tailEnd type="none" w="med" len="med"/>
            </a:ln>
          </p:spPr>
          <p:txBody>
            <a:bodyPr/>
            <a:lstStyle/>
            <a:p>
              <a:pPr algn="ctr"/>
              <a:r>
                <a:rPr lang="en-US" altLang="zh-CN" sz="900" dirty="0">
                  <a:solidFill>
                    <a:srgbClr val="000000"/>
                  </a:solidFill>
                  <a:latin typeface="Times New Roman" pitchFamily="18" charset="0"/>
                </a:rPr>
                <a:t>iOS</a:t>
              </a:r>
            </a:p>
          </p:txBody>
        </p:sp>
        <p:sp>
          <p:nvSpPr>
            <p:cNvPr id="19472" name="圆角矩形 25"/>
            <p:cNvSpPr/>
            <p:nvPr/>
          </p:nvSpPr>
          <p:spPr>
            <a:xfrm>
              <a:off x="5738813" y="3192220"/>
              <a:ext cx="979487" cy="450850"/>
            </a:xfrm>
            <a:prstGeom prst="roundRect">
              <a:avLst>
                <a:gd name="adj" fmla="val 16667"/>
              </a:avLst>
            </a:prstGeom>
            <a:solidFill>
              <a:schemeClr val="bg1"/>
            </a:solidFill>
            <a:ln w="25400" cap="flat" cmpd="sng">
              <a:solidFill>
                <a:schemeClr val="accent1"/>
              </a:solidFill>
              <a:prstDash val="solid"/>
              <a:headEnd type="none" w="med" len="med"/>
              <a:tailEnd type="none" w="med" len="med"/>
            </a:ln>
          </p:spPr>
          <p:txBody>
            <a:bodyPr/>
            <a:lstStyle/>
            <a:p>
              <a:pPr algn="ctr"/>
              <a:r>
                <a:rPr lang="en-US" altLang="zh-CN" sz="900" dirty="0">
                  <a:solidFill>
                    <a:srgbClr val="000000"/>
                  </a:solidFill>
                  <a:latin typeface="Times New Roman" pitchFamily="18" charset="0"/>
                </a:rPr>
                <a:t>Linux</a:t>
              </a:r>
            </a:p>
          </p:txBody>
        </p:sp>
        <p:sp>
          <p:nvSpPr>
            <p:cNvPr id="19473" name="椭圆 29"/>
            <p:cNvSpPr/>
            <p:nvPr/>
          </p:nvSpPr>
          <p:spPr>
            <a:xfrm>
              <a:off x="3128963" y="2441332"/>
              <a:ext cx="1069975" cy="493713"/>
            </a:xfrm>
            <a:prstGeom prst="ellipse">
              <a:avLst/>
            </a:prstGeom>
            <a:solidFill>
              <a:schemeClr val="bg1"/>
            </a:solidFill>
            <a:ln w="25400" cap="flat" cmpd="sng">
              <a:solidFill>
                <a:schemeClr val="accent1"/>
              </a:solidFill>
              <a:prstDash val="solid"/>
              <a:headEnd type="none" w="med" len="med"/>
              <a:tailEnd type="none" w="med" len="med"/>
            </a:ln>
          </p:spPr>
          <p:txBody>
            <a:bodyPr/>
            <a:lstStyle/>
            <a:p>
              <a:pPr algn="ctr"/>
              <a:r>
                <a:rPr lang="zh-CN" altLang="en-US" sz="900" b="1" dirty="0">
                  <a:latin typeface="Times New Roman" pitchFamily="18" charset="0"/>
                </a:rPr>
                <a:t>微信</a:t>
              </a:r>
            </a:p>
          </p:txBody>
        </p:sp>
        <p:sp>
          <p:nvSpPr>
            <p:cNvPr id="19474" name="椭圆 30"/>
            <p:cNvSpPr/>
            <p:nvPr/>
          </p:nvSpPr>
          <p:spPr>
            <a:xfrm>
              <a:off x="4251325" y="2441332"/>
              <a:ext cx="1123950" cy="493713"/>
            </a:xfrm>
            <a:prstGeom prst="ellipse">
              <a:avLst/>
            </a:prstGeom>
            <a:solidFill>
              <a:schemeClr val="bg1"/>
            </a:solidFill>
            <a:ln w="25400" cap="flat" cmpd="sng">
              <a:solidFill>
                <a:schemeClr val="accent1"/>
              </a:solidFill>
              <a:prstDash val="solid"/>
              <a:headEnd type="none" w="med" len="med"/>
              <a:tailEnd type="none" w="med" len="med"/>
            </a:ln>
          </p:spPr>
          <p:txBody>
            <a:bodyPr/>
            <a:lstStyle/>
            <a:p>
              <a:pPr algn="ctr"/>
              <a:r>
                <a:rPr lang="zh-CN" altLang="en-US" sz="900" b="1" dirty="0">
                  <a:latin typeface="Times New Roman" pitchFamily="18" charset="0"/>
                </a:rPr>
                <a:t>微博</a:t>
              </a:r>
            </a:p>
          </p:txBody>
        </p:sp>
        <p:sp>
          <p:nvSpPr>
            <p:cNvPr id="19475" name="椭圆 31"/>
            <p:cNvSpPr/>
            <p:nvPr/>
          </p:nvSpPr>
          <p:spPr>
            <a:xfrm>
              <a:off x="5427663" y="2436570"/>
              <a:ext cx="1123950" cy="492125"/>
            </a:xfrm>
            <a:prstGeom prst="ellipse">
              <a:avLst/>
            </a:prstGeom>
            <a:solidFill>
              <a:schemeClr val="bg1"/>
            </a:solidFill>
            <a:ln w="25400" cap="flat" cmpd="sng">
              <a:solidFill>
                <a:schemeClr val="accent1"/>
              </a:solidFill>
              <a:prstDash val="solid"/>
              <a:headEnd type="none" w="med" len="med"/>
              <a:tailEnd type="none" w="med" len="med"/>
            </a:ln>
          </p:spPr>
          <p:txBody>
            <a:bodyPr/>
            <a:lstStyle/>
            <a:p>
              <a:pPr algn="ctr"/>
              <a:r>
                <a:rPr lang="zh-CN" altLang="en-US" sz="900" b="1" dirty="0">
                  <a:solidFill>
                    <a:srgbClr val="000000"/>
                  </a:solidFill>
                  <a:latin typeface="Times New Roman" pitchFamily="18" charset="0"/>
                </a:rPr>
                <a:t>电商</a:t>
              </a:r>
            </a:p>
          </p:txBody>
        </p:sp>
        <p:sp>
          <p:nvSpPr>
            <p:cNvPr id="19476" name="文本框 32"/>
            <p:cNvSpPr txBox="1"/>
            <p:nvPr/>
          </p:nvSpPr>
          <p:spPr>
            <a:xfrm>
              <a:off x="6604000" y="2503246"/>
              <a:ext cx="847725" cy="396603"/>
            </a:xfrm>
            <a:prstGeom prst="rect">
              <a:avLst/>
            </a:prstGeom>
            <a:solidFill>
              <a:schemeClr val="bg1"/>
            </a:solidFill>
            <a:ln w="25400" cap="flat" cmpd="sng">
              <a:solidFill>
                <a:srgbClr val="FFFFFF"/>
              </a:solidFill>
              <a:prstDash val="solid"/>
              <a:miter/>
              <a:headEnd type="none" w="med" len="med"/>
              <a:tailEnd type="none" w="med" len="med"/>
            </a:ln>
          </p:spPr>
          <p:txBody>
            <a:bodyPr>
              <a:spAutoFit/>
            </a:bodyPr>
            <a:lstStyle/>
            <a:p>
              <a:r>
                <a:rPr lang="en-US" altLang="zh-CN" sz="600" b="1" dirty="0">
                  <a:solidFill>
                    <a:srgbClr val="000000"/>
                  </a:solidFill>
                  <a:latin typeface="Times New Roman" pitchFamily="18" charset="0"/>
                </a:rPr>
                <a:t>...</a:t>
              </a:r>
            </a:p>
          </p:txBody>
        </p:sp>
        <p:sp>
          <p:nvSpPr>
            <p:cNvPr id="19477" name="圆角矩形 35"/>
            <p:cNvSpPr/>
            <p:nvPr/>
          </p:nvSpPr>
          <p:spPr>
            <a:xfrm>
              <a:off x="3609975" y="4643195"/>
              <a:ext cx="1143000" cy="563562"/>
            </a:xfrm>
            <a:prstGeom prst="roundRect">
              <a:avLst>
                <a:gd name="adj" fmla="val 16667"/>
              </a:avLst>
            </a:prstGeom>
            <a:solidFill>
              <a:schemeClr val="bg1"/>
            </a:solidFill>
            <a:ln w="25400" cap="flat" cmpd="sng">
              <a:solidFill>
                <a:schemeClr val="accent2"/>
              </a:solidFill>
              <a:prstDash val="solid"/>
              <a:headEnd type="none" w="med" len="med"/>
              <a:tailEnd type="none" w="med" len="med"/>
            </a:ln>
          </p:spPr>
          <p:txBody>
            <a:bodyPr/>
            <a:lstStyle/>
            <a:p>
              <a:pPr algn="ctr"/>
              <a:r>
                <a:rPr lang="en-US" altLang="zh-CN" sz="700" dirty="0">
                  <a:solidFill>
                    <a:srgbClr val="000000"/>
                  </a:solidFill>
                  <a:latin typeface="Times New Roman" pitchFamily="18" charset="0"/>
                </a:rPr>
                <a:t>Qualcomm</a:t>
              </a:r>
            </a:p>
            <a:p>
              <a:pPr algn="ctr"/>
              <a:r>
                <a:rPr lang="en-US" altLang="zh-CN" sz="700" dirty="0">
                  <a:solidFill>
                    <a:srgbClr val="000000"/>
                  </a:solidFill>
                  <a:latin typeface="Times New Roman" pitchFamily="18" charset="0"/>
                </a:rPr>
                <a:t>Krait</a:t>
              </a:r>
            </a:p>
          </p:txBody>
        </p:sp>
        <p:sp>
          <p:nvSpPr>
            <p:cNvPr id="19478" name="圆角矩形 36"/>
            <p:cNvSpPr/>
            <p:nvPr/>
          </p:nvSpPr>
          <p:spPr>
            <a:xfrm>
              <a:off x="4852988" y="4647957"/>
              <a:ext cx="909637" cy="561975"/>
            </a:xfrm>
            <a:prstGeom prst="roundRect">
              <a:avLst>
                <a:gd name="adj" fmla="val 16667"/>
              </a:avLst>
            </a:prstGeom>
            <a:solidFill>
              <a:schemeClr val="bg1"/>
            </a:solidFill>
            <a:ln w="25400" cap="flat" cmpd="sng">
              <a:solidFill>
                <a:schemeClr val="accent2"/>
              </a:solidFill>
              <a:prstDash val="solid"/>
              <a:headEnd type="none" w="med" len="med"/>
              <a:tailEnd type="none" w="med" len="med"/>
            </a:ln>
          </p:spPr>
          <p:txBody>
            <a:bodyPr lIns="54000" rIns="54000"/>
            <a:lstStyle/>
            <a:p>
              <a:pPr algn="ctr"/>
              <a:r>
                <a:rPr lang="en-US" altLang="zh-CN" sz="700" dirty="0">
                  <a:solidFill>
                    <a:srgbClr val="000000"/>
                  </a:solidFill>
                  <a:latin typeface="Times New Roman" pitchFamily="18" charset="0"/>
                </a:rPr>
                <a:t>ARM</a:t>
              </a:r>
            </a:p>
            <a:p>
              <a:pPr algn="ctr"/>
              <a:r>
                <a:rPr lang="en-US" altLang="zh-CN" sz="700" dirty="0">
                  <a:solidFill>
                    <a:srgbClr val="000000"/>
                  </a:solidFill>
                  <a:latin typeface="Times New Roman" pitchFamily="18" charset="0"/>
                </a:rPr>
                <a:t>A72/A53</a:t>
              </a:r>
            </a:p>
          </p:txBody>
        </p:sp>
        <p:sp>
          <p:nvSpPr>
            <p:cNvPr id="19479" name="圆角矩形 37"/>
            <p:cNvSpPr/>
            <p:nvPr/>
          </p:nvSpPr>
          <p:spPr>
            <a:xfrm>
              <a:off x="5861050" y="4641607"/>
              <a:ext cx="909638" cy="563563"/>
            </a:xfrm>
            <a:prstGeom prst="roundRect">
              <a:avLst>
                <a:gd name="adj" fmla="val 16667"/>
              </a:avLst>
            </a:prstGeom>
            <a:solidFill>
              <a:schemeClr val="bg1"/>
            </a:solidFill>
            <a:ln w="25400" cap="flat" cmpd="sng">
              <a:solidFill>
                <a:schemeClr val="accent2"/>
              </a:solidFill>
              <a:prstDash val="solid"/>
              <a:headEnd type="none" w="med" len="med"/>
              <a:tailEnd type="none" w="med" len="med"/>
            </a:ln>
          </p:spPr>
          <p:txBody>
            <a:bodyPr/>
            <a:lstStyle/>
            <a:p>
              <a:pPr algn="ctr"/>
              <a:r>
                <a:rPr lang="en-US" altLang="zh-CN" sz="700" dirty="0">
                  <a:solidFill>
                    <a:srgbClr val="000000"/>
                  </a:solidFill>
                  <a:latin typeface="Times New Roman" pitchFamily="18" charset="0"/>
                </a:rPr>
                <a:t>Apple</a:t>
              </a:r>
            </a:p>
            <a:p>
              <a:pPr algn="ctr"/>
              <a:r>
                <a:rPr lang="en-US" altLang="zh-CN" sz="700" dirty="0">
                  <a:solidFill>
                    <a:srgbClr val="000000"/>
                  </a:solidFill>
                  <a:latin typeface="Times New Roman" pitchFamily="18" charset="0"/>
                </a:rPr>
                <a:t>Twister</a:t>
              </a:r>
            </a:p>
          </p:txBody>
        </p:sp>
        <p:sp>
          <p:nvSpPr>
            <p:cNvPr id="19480" name="椭圆 39"/>
            <p:cNvSpPr/>
            <p:nvPr/>
          </p:nvSpPr>
          <p:spPr>
            <a:xfrm>
              <a:off x="3263900" y="5470282"/>
              <a:ext cx="1179513" cy="492125"/>
            </a:xfrm>
            <a:prstGeom prst="ellipse">
              <a:avLst/>
            </a:prstGeom>
            <a:solidFill>
              <a:schemeClr val="bg1"/>
            </a:solidFill>
            <a:ln w="25400" cap="flat" cmpd="sng">
              <a:solidFill>
                <a:schemeClr val="accent2"/>
              </a:solidFill>
              <a:prstDash val="solid"/>
              <a:headEnd type="none" w="med" len="med"/>
              <a:tailEnd type="none" w="med" len="med"/>
            </a:ln>
          </p:spPr>
          <p:txBody>
            <a:bodyPr/>
            <a:lstStyle/>
            <a:p>
              <a:pPr algn="ctr"/>
              <a:r>
                <a:rPr lang="en-US" altLang="zh-CN" sz="700" b="1" dirty="0">
                  <a:latin typeface="Times New Roman" pitchFamily="18" charset="0"/>
                </a:rPr>
                <a:t>TSMC</a:t>
              </a:r>
            </a:p>
          </p:txBody>
        </p:sp>
        <p:sp>
          <p:nvSpPr>
            <p:cNvPr id="19481" name="椭圆 40"/>
            <p:cNvSpPr/>
            <p:nvPr/>
          </p:nvSpPr>
          <p:spPr>
            <a:xfrm>
              <a:off x="4511675" y="5470282"/>
              <a:ext cx="1179513" cy="492125"/>
            </a:xfrm>
            <a:prstGeom prst="ellipse">
              <a:avLst/>
            </a:prstGeom>
            <a:solidFill>
              <a:schemeClr val="bg1"/>
            </a:solidFill>
            <a:ln w="25400" cap="flat" cmpd="sng">
              <a:solidFill>
                <a:schemeClr val="accent2"/>
              </a:solidFill>
              <a:prstDash val="solid"/>
              <a:headEnd type="none" w="med" len="med"/>
              <a:tailEnd type="none" w="med" len="med"/>
            </a:ln>
          </p:spPr>
          <p:txBody>
            <a:bodyPr/>
            <a:lstStyle/>
            <a:p>
              <a:pPr algn="ctr"/>
              <a:r>
                <a:rPr lang="en-US" altLang="zh-CN" sz="700" b="1" dirty="0">
                  <a:latin typeface="Times New Roman" pitchFamily="18" charset="0"/>
                </a:rPr>
                <a:t>SMIC</a:t>
              </a:r>
            </a:p>
          </p:txBody>
        </p:sp>
        <p:sp>
          <p:nvSpPr>
            <p:cNvPr id="19482" name="文本框 43"/>
            <p:cNvSpPr txBox="1"/>
            <p:nvPr/>
          </p:nvSpPr>
          <p:spPr>
            <a:xfrm>
              <a:off x="5641975" y="5341693"/>
              <a:ext cx="1901825" cy="462704"/>
            </a:xfrm>
            <a:prstGeom prst="rect">
              <a:avLst/>
            </a:prstGeom>
            <a:noFill/>
            <a:ln w="9525">
              <a:noFill/>
            </a:ln>
          </p:spPr>
          <p:txBody>
            <a:bodyPr>
              <a:spAutoFit/>
            </a:bodyPr>
            <a:lstStyle/>
            <a:p>
              <a:r>
                <a:rPr lang="en-US" altLang="zh-CN" sz="800" dirty="0">
                  <a:latin typeface="Times New Roman" pitchFamily="18" charset="0"/>
                </a:rPr>
                <a:t>28nm/16nm …</a:t>
              </a:r>
            </a:p>
          </p:txBody>
        </p:sp>
        <p:sp>
          <p:nvSpPr>
            <p:cNvPr id="19483" name="文本框 44"/>
            <p:cNvSpPr txBox="1"/>
            <p:nvPr/>
          </p:nvSpPr>
          <p:spPr>
            <a:xfrm>
              <a:off x="5645150" y="5700469"/>
              <a:ext cx="2024064" cy="462704"/>
            </a:xfrm>
            <a:prstGeom prst="rect">
              <a:avLst/>
            </a:prstGeom>
            <a:noFill/>
            <a:ln w="9525">
              <a:noFill/>
            </a:ln>
          </p:spPr>
          <p:txBody>
            <a:bodyPr>
              <a:spAutoFit/>
            </a:bodyPr>
            <a:lstStyle/>
            <a:p>
              <a:r>
                <a:rPr lang="en-US" altLang="zh-CN" sz="800" dirty="0">
                  <a:latin typeface="Times New Roman" pitchFamily="18" charset="0"/>
                </a:rPr>
                <a:t>FinFET/HKMG …</a:t>
              </a:r>
            </a:p>
          </p:txBody>
        </p:sp>
      </p:grpSp>
      <p:pic>
        <p:nvPicPr>
          <p:cNvPr id="19461" name="图片 9"/>
          <p:cNvPicPr>
            <a:picLocks noChangeAspect="1"/>
          </p:cNvPicPr>
          <p:nvPr/>
        </p:nvPicPr>
        <p:blipFill>
          <a:blip r:embed="rId3" cstate="print"/>
          <a:stretch>
            <a:fillRect/>
          </a:stretch>
        </p:blipFill>
        <p:spPr>
          <a:xfrm>
            <a:off x="825500" y="4829175"/>
            <a:ext cx="5018088" cy="19240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a:xfrm>
            <a:off x="914599" y="0"/>
            <a:ext cx="10361851" cy="1143000"/>
          </a:xfrm>
        </p:spPr>
        <p:txBody>
          <a:bodyPr vert="horz" wrap="square" lIns="91440" tIns="45720" rIns="91440" bIns="45720" anchor="ctr" anchorCtr="0"/>
          <a:lstStyle/>
          <a:p>
            <a:pPr eaLnBrk="1" hangingPunct="1"/>
            <a:r>
              <a:rPr lang="zh-CN" altLang="en-US" dirty="0"/>
              <a:t>指令系统为什么重要</a:t>
            </a:r>
          </a:p>
        </p:txBody>
      </p:sp>
      <p:sp>
        <p:nvSpPr>
          <p:cNvPr id="20483" name="内容占位符 3"/>
          <p:cNvSpPr>
            <a:spLocks noGrp="1"/>
          </p:cNvSpPr>
          <p:nvPr>
            <p:ph idx="1"/>
          </p:nvPr>
        </p:nvSpPr>
        <p:spPr>
          <a:xfrm>
            <a:off x="656399" y="1011238"/>
            <a:ext cx="10912113" cy="3776662"/>
          </a:xfrm>
        </p:spPr>
        <p:txBody>
          <a:bodyPr vert="horz" wrap="square" lIns="91440" tIns="45720" rIns="91440" bIns="45720" anchor="t" anchorCtr="0"/>
          <a:lstStyle/>
          <a:p>
            <a:pPr eaLnBrk="1" hangingPunct="1"/>
            <a:r>
              <a:rPr lang="zh-CN" altLang="en-US" dirty="0"/>
              <a:t>指令系统是信息产业的根技术，是产业生态标签</a:t>
            </a:r>
            <a:endParaRPr lang="en-US" altLang="zh-CN" dirty="0"/>
          </a:p>
          <a:p>
            <a:pPr lvl="1" eaLnBrk="1" hangingPunct="1"/>
            <a:r>
              <a:rPr lang="zh-CN" altLang="en-US" dirty="0"/>
              <a:t>根技术：指令系统、</a:t>
            </a:r>
            <a:r>
              <a:rPr lang="en-US" altLang="zh-CN" dirty="0"/>
              <a:t>IP</a:t>
            </a:r>
            <a:r>
              <a:rPr lang="zh-CN" altLang="en-US" dirty="0"/>
              <a:t>核</a:t>
            </a:r>
            <a:r>
              <a:rPr lang="en-US" altLang="zh-CN" dirty="0"/>
              <a:t>/EDA</a:t>
            </a:r>
            <a:r>
              <a:rPr lang="zh-CN" altLang="en-US" dirty="0"/>
              <a:t>工具、生产工艺</a:t>
            </a:r>
          </a:p>
          <a:p>
            <a:pPr lvl="1" eaLnBrk="1" hangingPunct="1"/>
            <a:r>
              <a:rPr lang="zh-CN" altLang="en-US" dirty="0">
                <a:solidFill>
                  <a:srgbClr val="FF0000"/>
                </a:solidFill>
              </a:rPr>
              <a:t>指令系统是信息产业根技术的主根：</a:t>
            </a:r>
            <a:r>
              <a:rPr lang="en-US" altLang="zh-CN" dirty="0" smtClean="0">
                <a:cs typeface="国标宋体" panose="02000500000000000000" charset="-122"/>
                <a:sym typeface="+mn-ea"/>
              </a:rPr>
              <a:t>CPU</a:t>
            </a:r>
            <a:r>
              <a:rPr lang="zh-CN" altLang="en-US" dirty="0" smtClean="0">
                <a:cs typeface="国标宋体" panose="02000500000000000000" charset="-122"/>
                <a:sym typeface="+mn-ea"/>
              </a:rPr>
              <a:t>和操作系统的都依赖指令系统，换指令比换</a:t>
            </a:r>
            <a:r>
              <a:rPr lang="en-US" altLang="zh-CN" dirty="0" smtClean="0">
                <a:cs typeface="国标宋体" panose="02000500000000000000" charset="-122"/>
                <a:sym typeface="+mn-ea"/>
              </a:rPr>
              <a:t>IP</a:t>
            </a:r>
            <a:r>
              <a:rPr lang="zh-CN" altLang="en-US" dirty="0" smtClean="0">
                <a:cs typeface="国标宋体" panose="02000500000000000000" charset="-122"/>
                <a:sym typeface="+mn-ea"/>
              </a:rPr>
              <a:t>和工艺难很多</a:t>
            </a:r>
            <a:endParaRPr lang="en-US" altLang="zh-CN" dirty="0" smtClean="0">
              <a:cs typeface="国标宋体" panose="02000500000000000000" charset="-122"/>
              <a:sym typeface="+mn-ea"/>
            </a:endParaRPr>
          </a:p>
          <a:p>
            <a:pPr lvl="1" eaLnBrk="1" hangingPunct="1"/>
            <a:r>
              <a:rPr lang="zh-CN" altLang="en-US" noProof="0" dirty="0" smtClean="0">
                <a:ln>
                  <a:noFill/>
                </a:ln>
                <a:solidFill>
                  <a:schemeClr val="accent2"/>
                </a:solidFill>
                <a:effectLst/>
                <a:uLnTx/>
                <a:uFillTx/>
                <a:cs typeface="国标宋体" panose="02000500000000000000" charset="-122"/>
                <a:sym typeface="+mn-ea"/>
              </a:rPr>
              <a:t>指令系统</a:t>
            </a:r>
            <a:r>
              <a:rPr lang="zh-CN" altLang="en-US" noProof="0" dirty="0">
                <a:ln>
                  <a:noFill/>
                </a:ln>
                <a:solidFill>
                  <a:schemeClr val="accent2"/>
                </a:solidFill>
                <a:effectLst/>
                <a:uLnTx/>
                <a:uFillTx/>
                <a:cs typeface="国标宋体" panose="02000500000000000000" charset="-122"/>
                <a:sym typeface="+mn-ea"/>
              </a:rPr>
              <a:t>拥有者决定商业模式和产业结构</a:t>
            </a:r>
            <a:r>
              <a:rPr lang="zh-CN" altLang="en-US" noProof="0" dirty="0">
                <a:ln>
                  <a:noFill/>
                </a:ln>
                <a:solidFill>
                  <a:srgbClr val="000000"/>
                </a:solidFill>
                <a:effectLst/>
                <a:uLnTx/>
                <a:uFillTx/>
                <a:cs typeface="国标宋体" panose="02000500000000000000" charset="-122"/>
                <a:sym typeface="+mn-ea"/>
              </a:rPr>
              <a:t>（基于</a:t>
            </a:r>
            <a:r>
              <a:rPr lang="en-US" altLang="zh-CN" noProof="0" dirty="0">
                <a:ln>
                  <a:noFill/>
                </a:ln>
                <a:solidFill>
                  <a:srgbClr val="000000"/>
                </a:solidFill>
                <a:effectLst/>
                <a:uLnTx/>
                <a:uFillTx/>
                <a:cs typeface="国标宋体" panose="02000500000000000000" charset="-122"/>
                <a:sym typeface="+mn-ea"/>
              </a:rPr>
              <a:t>X86</a:t>
            </a:r>
            <a:r>
              <a:rPr lang="zh-CN" altLang="en-US" noProof="0" dirty="0">
                <a:ln>
                  <a:noFill/>
                </a:ln>
                <a:solidFill>
                  <a:srgbClr val="000000"/>
                </a:solidFill>
                <a:effectLst/>
                <a:uLnTx/>
                <a:uFillTx/>
                <a:cs typeface="国标宋体" panose="02000500000000000000" charset="-122"/>
                <a:sym typeface="+mn-ea"/>
              </a:rPr>
              <a:t>的</a:t>
            </a:r>
            <a:r>
              <a:rPr lang="en-US" altLang="zh-CN" noProof="0" dirty="0">
                <a:ln>
                  <a:noFill/>
                </a:ln>
                <a:solidFill>
                  <a:srgbClr val="000000"/>
                </a:solidFill>
                <a:effectLst/>
                <a:uLnTx/>
                <a:uFillTx/>
                <a:cs typeface="国标宋体" panose="02000500000000000000" charset="-122"/>
                <a:sym typeface="+mn-ea"/>
              </a:rPr>
              <a:t>Wintel</a:t>
            </a:r>
            <a:r>
              <a:rPr lang="zh-CN" altLang="en-US" noProof="0" dirty="0">
                <a:ln>
                  <a:noFill/>
                </a:ln>
                <a:solidFill>
                  <a:srgbClr val="000000"/>
                </a:solidFill>
                <a:effectLst/>
                <a:uLnTx/>
                <a:uFillTx/>
                <a:cs typeface="国标宋体" panose="02000500000000000000" charset="-122"/>
                <a:sym typeface="+mn-ea"/>
              </a:rPr>
              <a:t>体系、基于</a:t>
            </a:r>
            <a:r>
              <a:rPr lang="en-US" altLang="zh-CN" noProof="0" dirty="0">
                <a:ln>
                  <a:noFill/>
                </a:ln>
                <a:solidFill>
                  <a:srgbClr val="000000"/>
                </a:solidFill>
                <a:effectLst/>
                <a:uLnTx/>
                <a:uFillTx/>
                <a:cs typeface="国标宋体" panose="02000500000000000000" charset="-122"/>
                <a:sym typeface="+mn-ea"/>
              </a:rPr>
              <a:t>ARM</a:t>
            </a:r>
            <a:r>
              <a:rPr lang="zh-CN" altLang="en-US" noProof="0" dirty="0">
                <a:ln>
                  <a:noFill/>
                </a:ln>
                <a:solidFill>
                  <a:srgbClr val="000000"/>
                </a:solidFill>
                <a:effectLst/>
                <a:uLnTx/>
                <a:uFillTx/>
                <a:cs typeface="国标宋体" panose="02000500000000000000" charset="-122"/>
                <a:sym typeface="+mn-ea"/>
              </a:rPr>
              <a:t>的</a:t>
            </a:r>
            <a:r>
              <a:rPr lang="en-US" altLang="zh-CN" noProof="0" dirty="0">
                <a:ln>
                  <a:noFill/>
                </a:ln>
                <a:solidFill>
                  <a:srgbClr val="000000"/>
                </a:solidFill>
                <a:effectLst/>
                <a:uLnTx/>
                <a:uFillTx/>
                <a:cs typeface="国标宋体" panose="02000500000000000000" charset="-122"/>
                <a:sym typeface="+mn-ea"/>
              </a:rPr>
              <a:t>AA</a:t>
            </a:r>
            <a:r>
              <a:rPr lang="zh-CN" altLang="en-US" noProof="0" dirty="0">
                <a:ln>
                  <a:noFill/>
                </a:ln>
                <a:solidFill>
                  <a:srgbClr val="000000"/>
                </a:solidFill>
                <a:effectLst/>
                <a:uLnTx/>
                <a:uFillTx/>
                <a:cs typeface="国标宋体" panose="02000500000000000000" charset="-122"/>
                <a:sym typeface="+mn-ea"/>
              </a:rPr>
              <a:t>体系）</a:t>
            </a:r>
            <a:endParaRPr kumimoji="0" lang="en-US" altLang="zh-CN" b="1" i="0" u="none" strike="noStrike" kern="0" cap="none" spc="0" normalizeH="0" baseline="0" noProof="1">
              <a:ln>
                <a:noFill/>
              </a:ln>
              <a:solidFill>
                <a:schemeClr val="accent2"/>
              </a:solidFill>
              <a:effectLst/>
              <a:uLnTx/>
              <a:uFillTx/>
              <a:cs typeface="国标宋体" panose="02000500000000000000" charset="-122"/>
            </a:endParaRPr>
          </a:p>
          <a:p>
            <a:pPr eaLnBrk="1" hangingPunct="1"/>
            <a:r>
              <a:rPr lang="zh-CN" altLang="en-US" dirty="0"/>
              <a:t>指令系统影响系统性能和实现复杂性等</a:t>
            </a:r>
            <a:endParaRPr lang="en-US" altLang="zh-CN" dirty="0"/>
          </a:p>
          <a:p>
            <a:pPr lvl="1" eaLnBrk="1" hangingPunct="1"/>
            <a:r>
              <a:rPr lang="zh-CN" altLang="en-US" dirty="0"/>
              <a:t>如</a:t>
            </a:r>
            <a:r>
              <a:rPr lang="en-US" altLang="zh-CN" dirty="0"/>
              <a:t>RISC/CISC</a:t>
            </a:r>
            <a:r>
              <a:rPr lang="zh-CN" altLang="en-US" dirty="0"/>
              <a:t>，</a:t>
            </a:r>
            <a:r>
              <a:rPr lang="en-US" altLang="zh-CN" dirty="0"/>
              <a:t>32</a:t>
            </a:r>
            <a:r>
              <a:rPr lang="zh-CN" altLang="en-US" dirty="0"/>
              <a:t>位</a:t>
            </a:r>
            <a:r>
              <a:rPr lang="en-US" altLang="zh-CN" dirty="0"/>
              <a:t>/64</a:t>
            </a:r>
            <a:r>
              <a:rPr lang="zh-CN" altLang="en-US" dirty="0"/>
              <a:t>位，媒体指令，向量指令等</a:t>
            </a:r>
            <a:endParaRPr lang="en-US" altLang="zh-CN" dirty="0"/>
          </a:p>
          <a:p>
            <a:pPr lvl="1" eaLnBrk="1" hangingPunct="1"/>
            <a:r>
              <a:rPr lang="zh-CN" altLang="en-US" dirty="0"/>
              <a:t>微结构对系统复杂性影响更大</a:t>
            </a:r>
            <a:endParaRPr lang="en-US" altLang="zh-CN" dirty="0"/>
          </a:p>
        </p:txBody>
      </p:sp>
      <p:grpSp>
        <p:nvGrpSpPr>
          <p:cNvPr id="2" name="组合 17"/>
          <p:cNvGrpSpPr/>
          <p:nvPr/>
        </p:nvGrpSpPr>
        <p:grpSpPr>
          <a:xfrm>
            <a:off x="1847463" y="6164269"/>
            <a:ext cx="8693850" cy="469975"/>
            <a:chOff x="1674221" y="6269970"/>
            <a:chExt cx="7805075" cy="469975"/>
          </a:xfrm>
        </p:grpSpPr>
        <p:sp>
          <p:nvSpPr>
            <p:cNvPr id="3" name="矩形 2"/>
            <p:cNvSpPr/>
            <p:nvPr/>
          </p:nvSpPr>
          <p:spPr>
            <a:xfrm>
              <a:off x="4389364" y="6271893"/>
              <a:ext cx="2585224" cy="461163"/>
            </a:xfrm>
            <a:prstGeom prst="rect">
              <a:avLst/>
            </a:prstGeom>
            <a:solidFill>
              <a:srgbClr val="FF0000"/>
            </a:solidFill>
            <a:ln>
              <a:noFill/>
            </a:ln>
          </p:spPr>
          <p:style>
            <a:lnRef idx="0">
              <a:schemeClr val="accent1"/>
            </a:lnRef>
            <a:fillRef idx="3">
              <a:schemeClr val="accent1"/>
            </a:fillRef>
            <a:effectRef idx="3">
              <a:schemeClr val="accent1"/>
            </a:effectRef>
            <a:fontRef idx="minor">
              <a:schemeClr val="lt1"/>
            </a:fontRef>
          </p:style>
          <p:txBody>
            <a:bodyPr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指令系统（</a:t>
              </a:r>
              <a:r>
                <a:rPr kumimoji="0" lang="en-US" altLang="zh-CN"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X86</a:t>
              </a:r>
              <a:r>
                <a:rPr kumimoji="0" lang="zh-CN" altLang="en-US"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a:t>
              </a:r>
              <a:r>
                <a:rPr kumimoji="0" lang="en-US" altLang="zh-CN"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ARM</a:t>
              </a:r>
              <a:r>
                <a:rPr kumimoji="0" lang="zh-CN" altLang="en-US"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a:t>
              </a:r>
              <a:r>
                <a:rPr kumimoji="0" lang="en-US" altLang="zh-CN"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LoongArch</a:t>
              </a:r>
              <a:r>
                <a:rPr kumimoji="0" lang="zh-CN" altLang="en-US" sz="1200" b="1" i="0" u="none" strike="noStrike" kern="1200" cap="none" spc="0" normalizeH="0" baseline="0" noProof="0" dirty="0">
                  <a:ln>
                    <a:noFill/>
                  </a:ln>
                  <a:solidFill>
                    <a:srgbClr val="FFFF00"/>
                  </a:solidFill>
                  <a:effectLst/>
                  <a:uLnTx/>
                  <a:uFillTx/>
                  <a:latin typeface="黑体" panose="02000500000000000000" pitchFamily="49" charset="-122"/>
                  <a:ea typeface="黑体" panose="02000500000000000000" pitchFamily="49" charset="-122"/>
                  <a:cs typeface="黑体" panose="02000500000000000000" pitchFamily="49" charset="-122"/>
                </a:rPr>
                <a:t>等）</a:t>
              </a:r>
            </a:p>
          </p:txBody>
        </p:sp>
        <p:sp>
          <p:nvSpPr>
            <p:cNvPr id="14" name="矩形 13"/>
            <p:cNvSpPr/>
            <p:nvPr/>
          </p:nvSpPr>
          <p:spPr>
            <a:xfrm>
              <a:off x="7023097" y="6269970"/>
              <a:ext cx="2456199" cy="469975"/>
            </a:xfrm>
            <a:prstGeom prst="rect">
              <a:avLst/>
            </a:prstGeom>
            <a:solidFill>
              <a:srgbClr val="FF0000"/>
            </a:solidFill>
            <a:ln>
              <a:noFill/>
            </a:ln>
          </p:spPr>
          <p:style>
            <a:lnRef idx="0">
              <a:schemeClr val="accent1"/>
            </a:lnRef>
            <a:fillRef idx="3">
              <a:schemeClr val="accent1"/>
            </a:fillRef>
            <a:effectRef idx="3">
              <a:schemeClr val="accent1"/>
            </a:effectRef>
            <a:fontRef idx="minor">
              <a:schemeClr val="lt1"/>
            </a:fontRef>
          </p:style>
          <p:txBody>
            <a:bodyPr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bg1"/>
                  </a:solidFill>
                  <a:effectLst/>
                  <a:uLnTx/>
                  <a:uFillTx/>
                  <a:latin typeface="黑体" panose="02000500000000000000" pitchFamily="49" charset="-122"/>
                  <a:ea typeface="黑体" panose="02000500000000000000" pitchFamily="49" charset="-122"/>
                </a:rPr>
                <a:t>生产工艺（及工艺材料和设备）</a:t>
              </a:r>
            </a:p>
          </p:txBody>
        </p:sp>
        <p:sp>
          <p:nvSpPr>
            <p:cNvPr id="4" name="文本框 12"/>
            <p:cNvSpPr txBox="1"/>
            <p:nvPr/>
          </p:nvSpPr>
          <p:spPr>
            <a:xfrm>
              <a:off x="1674221" y="6278782"/>
              <a:ext cx="2649856" cy="461163"/>
            </a:xfrm>
            <a:prstGeom prst="rect">
              <a:avLst/>
            </a:prstGeom>
            <a:solidFill>
              <a:srgbClr val="FF0000"/>
            </a:solidFill>
            <a:ln>
              <a:noFill/>
            </a:ln>
          </p:spPr>
          <p:style>
            <a:lnRef idx="1">
              <a:schemeClr val="accent4"/>
            </a:lnRef>
            <a:fillRef idx="2">
              <a:schemeClr val="accent4"/>
            </a:fillRef>
            <a:effectRef idx="1">
              <a:schemeClr val="accent4"/>
            </a:effectRef>
            <a:fontRef idx="minor">
              <a:schemeClr val="dk1"/>
            </a:fontRef>
          </p:style>
          <p:txBody>
            <a:bodyPr wrap="none" tIns="71755" bIns="71755" anchor="ctr"/>
            <a:lstStyle/>
            <a:p>
              <a:pPr marL="0" marR="0" lvl="0" indent="0" algn="ctr" defTabSz="449580" rtl="0" eaLnBrk="1" fontAlgn="base" latinLnBrk="0" hangingPunct="1">
                <a:lnSpc>
                  <a:spcPct val="110000"/>
                </a:lnSpc>
                <a:spcBef>
                  <a:spcPct val="0"/>
                </a:spcBef>
                <a:spcAft>
                  <a:spcPct val="0"/>
                </a:spcAft>
                <a:buClrTx/>
                <a:buSzTx/>
                <a:buFontTx/>
                <a:buNone/>
                <a:defRPr/>
              </a:pPr>
              <a:r>
                <a:rPr kumimoji="0" lang="en-US" altLang="zh-CN"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IP</a:t>
              </a:r>
              <a:r>
                <a:rPr kumimoji="0" lang="zh-CN" altLang="en-US"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核（</a:t>
              </a:r>
              <a:r>
                <a:rPr kumimoji="0" lang="en-US" altLang="zh-CN"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CPU</a:t>
              </a:r>
              <a:r>
                <a:rPr kumimoji="0" lang="zh-CN" altLang="en-US"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核、</a:t>
              </a:r>
              <a:r>
                <a:rPr kumimoji="0" lang="en-US" altLang="zh-CN"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GPU</a:t>
              </a:r>
              <a:r>
                <a:rPr kumimoji="0" lang="zh-CN" altLang="en-US"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核、内存接口</a:t>
              </a:r>
              <a:r>
                <a:rPr kumimoji="0" lang="zh-CN" altLang="zh-CN" sz="1200" b="1" i="0" u="none" strike="noStrike" kern="1200" cap="none" spc="0" normalizeH="0" baseline="0" noProof="1">
                  <a:ln>
                    <a:noFill/>
                  </a:ln>
                  <a:solidFill>
                    <a:schemeClr val="bg1"/>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a:t>
              </a:r>
            </a:p>
          </p:txBody>
        </p:sp>
      </p:grpSp>
      <p:grpSp>
        <p:nvGrpSpPr>
          <p:cNvPr id="5" name="组合 11"/>
          <p:cNvGrpSpPr/>
          <p:nvPr/>
        </p:nvGrpSpPr>
        <p:grpSpPr>
          <a:xfrm>
            <a:off x="1834615" y="4473655"/>
            <a:ext cx="8706407" cy="1592280"/>
            <a:chOff x="1662692" y="4579357"/>
            <a:chExt cx="7816378" cy="1592280"/>
          </a:xfrm>
        </p:grpSpPr>
        <p:sp>
          <p:nvSpPr>
            <p:cNvPr id="6" name="文本框 11"/>
            <p:cNvSpPr txBox="1"/>
            <p:nvPr/>
          </p:nvSpPr>
          <p:spPr>
            <a:xfrm>
              <a:off x="1662692" y="5729273"/>
              <a:ext cx="4003157" cy="442364"/>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tIns="71755" bIns="71755"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1">
                  <a:ln>
                    <a:noFill/>
                  </a:ln>
                  <a:solidFill>
                    <a:srgbClr val="FF0000"/>
                  </a:solidFill>
                  <a:effectLst/>
                  <a:uLnTx/>
                  <a:uFillTx/>
                  <a:latin typeface="+mn-ea"/>
                  <a:cs typeface="国标宋体" panose="02000500000000000000" charset="-122"/>
                  <a:sym typeface="+mn-ea"/>
                </a:rPr>
                <a:t>操作系统及其它基础软件</a:t>
              </a:r>
              <a:r>
                <a:rPr kumimoji="0" lang="zh-CN" altLang="zh-CN" sz="1200" b="1" i="0" u="none" strike="noStrike" kern="1200" cap="none" spc="0" normalizeH="0" baseline="0" noProof="1">
                  <a:ln>
                    <a:noFill/>
                  </a:ln>
                  <a:solidFill>
                    <a:srgbClr val="FF0000"/>
                  </a:solidFill>
                  <a:effectLst/>
                  <a:uLnTx/>
                  <a:uFillTx/>
                  <a:latin typeface="+mn-ea"/>
                  <a:cs typeface="国标宋体" panose="02000500000000000000" charset="-122"/>
                  <a:sym typeface="+mn-ea"/>
                </a:rPr>
                <a:t> </a:t>
              </a:r>
            </a:p>
          </p:txBody>
        </p:sp>
        <p:sp>
          <p:nvSpPr>
            <p:cNvPr id="7" name="文本框 11"/>
            <p:cNvSpPr txBox="1"/>
            <p:nvPr/>
          </p:nvSpPr>
          <p:spPr>
            <a:xfrm>
              <a:off x="5730479" y="5729273"/>
              <a:ext cx="3748591" cy="442364"/>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tIns="71755" bIns="71755"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1">
                  <a:ln>
                    <a:noFill/>
                  </a:ln>
                  <a:solidFill>
                    <a:srgbClr val="FF0000"/>
                  </a:solidFill>
                  <a:effectLst/>
                  <a:uLnTx/>
                  <a:uFillTx/>
                  <a:latin typeface="+mn-ea"/>
                  <a:cs typeface="国标宋体" panose="02000500000000000000" charset="-122"/>
                  <a:sym typeface="+mn-ea"/>
                </a:rPr>
                <a:t>CPU</a:t>
              </a:r>
              <a:r>
                <a:rPr kumimoji="0" lang="zh-CN" altLang="en-US" sz="1200" b="1" i="0" u="none" strike="noStrike" kern="1200" cap="none" spc="0" normalizeH="0" baseline="0" noProof="1">
                  <a:ln>
                    <a:noFill/>
                  </a:ln>
                  <a:solidFill>
                    <a:srgbClr val="FF0000"/>
                  </a:solidFill>
                  <a:effectLst/>
                  <a:uLnTx/>
                  <a:uFillTx/>
                  <a:latin typeface="+mn-ea"/>
                  <a:cs typeface="国标宋体" panose="02000500000000000000" charset="-122"/>
                  <a:sym typeface="+mn-ea"/>
                </a:rPr>
                <a:t>及其它芯片</a:t>
              </a:r>
              <a:r>
                <a:rPr kumimoji="0" lang="zh-CN" altLang="zh-CN" sz="1200" b="1" i="0" u="none" strike="noStrike" kern="1200" cap="none" spc="0" normalizeH="0" baseline="0" noProof="1">
                  <a:ln>
                    <a:noFill/>
                  </a:ln>
                  <a:solidFill>
                    <a:srgbClr val="FF0000"/>
                  </a:solidFill>
                  <a:effectLst/>
                  <a:uLnTx/>
                  <a:uFillTx/>
                  <a:latin typeface="+mn-ea"/>
                  <a:cs typeface="国标宋体" panose="02000500000000000000" charset="-122"/>
                  <a:sym typeface="+mn-ea"/>
                </a:rPr>
                <a:t> </a:t>
              </a:r>
            </a:p>
          </p:txBody>
        </p:sp>
        <p:sp>
          <p:nvSpPr>
            <p:cNvPr id="19" name="矩形 29"/>
            <p:cNvSpPr/>
            <p:nvPr/>
          </p:nvSpPr>
          <p:spPr>
            <a:xfrm>
              <a:off x="1662692" y="5153608"/>
              <a:ext cx="7816322" cy="493474"/>
            </a:xfrm>
            <a:prstGeom prst="rect">
              <a:avLst/>
            </a:prstGeom>
            <a:solidFill>
              <a:srgbClr val="00B0F0"/>
            </a:solidFill>
          </p:spPr>
          <p:style>
            <a:lnRef idx="1">
              <a:schemeClr val="accent5"/>
            </a:lnRef>
            <a:fillRef idx="2">
              <a:schemeClr val="accent5"/>
            </a:fillRef>
            <a:effectRef idx="1">
              <a:schemeClr val="accent5"/>
            </a:effectRef>
            <a:fontRef idx="minor">
              <a:schemeClr val="dk1"/>
            </a:fontRef>
          </p:style>
          <p:txBody>
            <a:bodyPr tIns="71755" bIns="71755"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整机（</a:t>
              </a:r>
              <a:r>
                <a:rPr kumimoji="0" lang="en-US" altLang="zh-CN"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PC</a:t>
              </a:r>
              <a:r>
                <a:rPr kumimoji="0" lang="zh-CN" altLang="en-US"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、服务器、打印机、网络设备、行业终端、工控设备</a:t>
              </a:r>
              <a:r>
                <a:rPr kumimoji="0" lang="zh-CN" altLang="zh-CN"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a:t>
              </a:r>
              <a:r>
                <a:rPr kumimoji="0" lang="zh-CN" altLang="en-US"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a:t>
              </a:r>
              <a:endParaRPr kumimoji="0" lang="zh-CN" sz="1200" b="1" i="0" u="none" strike="noStrike" kern="1200" cap="none" spc="0" normalizeH="0" baseline="0" noProof="1">
                <a:ln>
                  <a:noFill/>
                </a:ln>
                <a:solidFill>
                  <a:srgbClr val="000000"/>
                </a:solidFill>
                <a:effectLst/>
                <a:uLnTx/>
                <a:uFillTx/>
                <a:latin typeface="+mn-ea"/>
                <a:cs typeface="国标宋体" panose="02000500000000000000" charset="-122"/>
                <a:sym typeface="+mn-ea"/>
              </a:endParaRPr>
            </a:p>
          </p:txBody>
        </p:sp>
        <p:sp>
          <p:nvSpPr>
            <p:cNvPr id="20" name="矩形 29"/>
            <p:cNvSpPr/>
            <p:nvPr/>
          </p:nvSpPr>
          <p:spPr>
            <a:xfrm>
              <a:off x="1662692" y="4579357"/>
              <a:ext cx="7816322" cy="493474"/>
            </a:xfrm>
            <a:prstGeom prst="rect">
              <a:avLst/>
            </a:prstGeom>
            <a:solidFill>
              <a:srgbClr val="FF99FF"/>
            </a:solidFill>
          </p:spPr>
          <p:style>
            <a:lnRef idx="1">
              <a:schemeClr val="accent5"/>
            </a:lnRef>
            <a:fillRef idx="2">
              <a:schemeClr val="accent5"/>
            </a:fillRef>
            <a:effectRef idx="1">
              <a:schemeClr val="accent5"/>
            </a:effectRef>
            <a:fontRef idx="minor">
              <a:schemeClr val="dk1"/>
            </a:fontRef>
          </p:style>
          <p:txBody>
            <a:bodyPr tIns="71755" bIns="71755" anchor="ctr"/>
            <a:lstStyle/>
            <a:p>
              <a:pPr marL="0" marR="0" lvl="0" indent="0" algn="ctr" defTabSz="44958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应用（办公、电商、微信、游戏</a:t>
              </a:r>
              <a:r>
                <a:rPr kumimoji="0" lang="zh-CN" altLang="zh-CN"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a:t>
              </a:r>
              <a:r>
                <a:rPr kumimoji="0" lang="zh-CN" altLang="en-US" sz="1200" b="1" i="0" u="none" strike="noStrike" kern="1200" cap="none" spc="0" normalizeH="0" baseline="0" noProof="1">
                  <a:ln>
                    <a:noFill/>
                  </a:ln>
                  <a:solidFill>
                    <a:srgbClr val="000000"/>
                  </a:solidFill>
                  <a:effectLst/>
                  <a:uLnTx/>
                  <a:uFillTx/>
                  <a:latin typeface="+mn-ea"/>
                  <a:cs typeface="国标宋体" panose="02000500000000000000" charset="-122"/>
                  <a:sym typeface="+mn-ea"/>
                </a:rPr>
                <a:t>）</a:t>
              </a:r>
              <a:endParaRPr kumimoji="0" lang="zh-CN" sz="1200" b="1" i="0" u="none" strike="noStrike" kern="1200" cap="none" spc="0" normalizeH="0" baseline="0" noProof="1">
                <a:ln>
                  <a:noFill/>
                </a:ln>
                <a:solidFill>
                  <a:srgbClr val="000000"/>
                </a:solidFill>
                <a:effectLst/>
                <a:uLnTx/>
                <a:uFillTx/>
                <a:latin typeface="+mn-ea"/>
                <a:cs typeface="国标宋体" panose="02000500000000000000" charset="-122"/>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指令系统是不断发展的</a:t>
            </a:r>
          </a:p>
        </p:txBody>
      </p:sp>
      <p:sp>
        <p:nvSpPr>
          <p:cNvPr id="21507" name="内容占位符 2"/>
          <p:cNvSpPr>
            <a:spLocks noGrp="1"/>
          </p:cNvSpPr>
          <p:nvPr>
            <p:ph idx="1"/>
          </p:nvPr>
        </p:nvSpPr>
        <p:spPr>
          <a:xfrm>
            <a:off x="806450" y="1143000"/>
            <a:ext cx="10577513" cy="4114800"/>
          </a:xfrm>
        </p:spPr>
        <p:txBody>
          <a:bodyPr vert="horz" wrap="square" lIns="91440" tIns="45720" rIns="91440" bIns="45720" anchor="t" anchorCtr="0"/>
          <a:lstStyle/>
          <a:p>
            <a:pPr eaLnBrk="1" hangingPunct="1"/>
            <a:r>
              <a:rPr lang="zh-CN" altLang="en-US" dirty="0"/>
              <a:t>作为计算机软硬件的界面，指令系统是不断发展的</a:t>
            </a:r>
            <a:endParaRPr lang="en-US" altLang="zh-CN" dirty="0"/>
          </a:p>
          <a:p>
            <a:pPr lvl="1" eaLnBrk="1" hangingPunct="1"/>
            <a:r>
              <a:rPr lang="en-US" altLang="zh-CN" dirty="0"/>
              <a:t>X86</a:t>
            </a:r>
            <a:r>
              <a:rPr lang="zh-CN" altLang="en-US" dirty="0"/>
              <a:t>位宽从</a:t>
            </a:r>
            <a:r>
              <a:rPr lang="en-US" altLang="zh-CN" dirty="0"/>
              <a:t>8</a:t>
            </a:r>
            <a:r>
              <a:rPr lang="zh-CN" altLang="en-US" dirty="0"/>
              <a:t>位、</a:t>
            </a:r>
            <a:r>
              <a:rPr lang="en-US" altLang="zh-CN" dirty="0"/>
              <a:t>16</a:t>
            </a:r>
            <a:r>
              <a:rPr lang="zh-CN" altLang="en-US" dirty="0"/>
              <a:t>位、</a:t>
            </a:r>
            <a:r>
              <a:rPr lang="en-US" altLang="zh-CN" dirty="0"/>
              <a:t>32</a:t>
            </a:r>
            <a:r>
              <a:rPr lang="zh-CN" altLang="en-US" dirty="0"/>
              <a:t>位、</a:t>
            </a:r>
            <a:r>
              <a:rPr lang="en-US" altLang="zh-CN" dirty="0"/>
              <a:t>64</a:t>
            </a:r>
            <a:r>
              <a:rPr lang="zh-CN" altLang="en-US" dirty="0"/>
              <a:t>位不断发展</a:t>
            </a:r>
            <a:endParaRPr lang="en-US" altLang="zh-CN" dirty="0"/>
          </a:p>
          <a:p>
            <a:pPr lvl="1" eaLnBrk="1" hangingPunct="1"/>
            <a:r>
              <a:rPr lang="zh-CN" altLang="en-US" dirty="0"/>
              <a:t>功能从只支持定点、到浮点、到媒体指令、到向量指令</a:t>
            </a:r>
            <a:endParaRPr lang="en-US" altLang="zh-CN" dirty="0"/>
          </a:p>
          <a:p>
            <a:pPr lvl="1" eaLnBrk="1" hangingPunct="1"/>
            <a:r>
              <a:rPr lang="zh-CN" altLang="en-US" dirty="0"/>
              <a:t>向量指令又经历了</a:t>
            </a:r>
            <a:r>
              <a:rPr lang="en-US" altLang="zh-CN" dirty="0"/>
              <a:t>MMX</a:t>
            </a:r>
            <a:r>
              <a:rPr lang="zh-CN" altLang="en-US" dirty="0"/>
              <a:t>、</a:t>
            </a:r>
            <a:r>
              <a:rPr lang="en-US" altLang="zh-CN" dirty="0"/>
              <a:t>SSE</a:t>
            </a:r>
            <a:r>
              <a:rPr lang="zh-CN" altLang="en-US" dirty="0"/>
              <a:t>、</a:t>
            </a:r>
            <a:r>
              <a:rPr lang="en-US" altLang="zh-CN" dirty="0"/>
              <a:t>SSE2</a:t>
            </a:r>
            <a:r>
              <a:rPr lang="zh-CN" altLang="en-US" dirty="0"/>
              <a:t>、</a:t>
            </a:r>
            <a:r>
              <a:rPr lang="en-US" altLang="zh-CN" dirty="0"/>
              <a:t>SSE3</a:t>
            </a:r>
            <a:r>
              <a:rPr lang="zh-CN" altLang="en-US" dirty="0"/>
              <a:t>、</a:t>
            </a:r>
            <a:r>
              <a:rPr lang="en-US" altLang="zh-CN" dirty="0"/>
              <a:t>SSE4</a:t>
            </a:r>
            <a:r>
              <a:rPr lang="zh-CN" altLang="en-US" dirty="0"/>
              <a:t>、</a:t>
            </a:r>
            <a:r>
              <a:rPr lang="en-US" altLang="zh-CN" dirty="0"/>
              <a:t>AVX</a:t>
            </a:r>
            <a:r>
              <a:rPr lang="zh-CN" altLang="en-US" dirty="0"/>
              <a:t>等</a:t>
            </a:r>
            <a:endParaRPr lang="en-US" altLang="zh-CN" dirty="0"/>
          </a:p>
          <a:p>
            <a:pPr eaLnBrk="1" hangingPunct="1"/>
            <a:r>
              <a:rPr lang="zh-CN" altLang="en-US" dirty="0"/>
              <a:t>技术和应用发展对指令系统不断提出新要求</a:t>
            </a:r>
            <a:endParaRPr lang="en-US" altLang="zh-CN" dirty="0"/>
          </a:p>
          <a:p>
            <a:pPr lvl="1" eaLnBrk="1" hangingPunct="1"/>
            <a:r>
              <a:rPr lang="zh-CN" altLang="en-US" dirty="0"/>
              <a:t>多核结构要求指令增加对多核同步、通信和数据一致性的支持</a:t>
            </a:r>
            <a:endParaRPr lang="en-US" altLang="zh-CN" dirty="0"/>
          </a:p>
          <a:p>
            <a:pPr lvl="1" eaLnBrk="1" hangingPunct="1"/>
            <a:r>
              <a:rPr lang="zh-CN" altLang="en-US" dirty="0"/>
              <a:t>向量部件需要指令系统增加专门的向量指令</a:t>
            </a:r>
            <a:endParaRPr lang="en-US" altLang="zh-CN" dirty="0"/>
          </a:p>
          <a:p>
            <a:pPr lvl="1" eaLnBrk="1" hangingPunct="1"/>
            <a:r>
              <a:rPr lang="zh-CN" altLang="en-US" dirty="0"/>
              <a:t>媒体类应用要求指令系统增加对媒体编解码的专门支持</a:t>
            </a:r>
            <a:endParaRPr lang="en-US" altLang="zh-CN" dirty="0"/>
          </a:p>
          <a:p>
            <a:pPr lvl="1" eaLnBrk="1" hangingPunct="1"/>
            <a:r>
              <a:rPr lang="zh-CN" altLang="en-US" dirty="0"/>
              <a:t>云计算要求指令系统增加对虚拟机的支持；等等</a:t>
            </a:r>
            <a:endParaRPr lang="en-US" altLang="zh-CN" dirty="0"/>
          </a:p>
          <a:p>
            <a:pPr lvl="1" eaLnBrk="1" hangingPunct="1"/>
            <a:endParaRPr lang="en-US" altLang="zh-CN" dirty="0"/>
          </a:p>
          <a:p>
            <a:pPr lvl="1" eaLnBrk="1" hangingPunct="1"/>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
          <p:cNvSpPr>
            <a:spLocks noGrp="1"/>
          </p:cNvSpPr>
          <p:nvPr>
            <p:ph type="title"/>
          </p:nvPr>
        </p:nvSpPr>
        <p:spPr>
          <a:xfrm>
            <a:off x="914599" y="0"/>
            <a:ext cx="10361851" cy="1143000"/>
          </a:xfrm>
        </p:spPr>
        <p:txBody>
          <a:bodyPr vert="horz" wrap="square" lIns="91440" tIns="45720" rIns="91440" bIns="45720" anchor="ctr" anchorCtr="0"/>
          <a:lstStyle/>
          <a:p>
            <a:pPr eaLnBrk="1" hangingPunct="1"/>
            <a:r>
              <a:rPr lang="zh-CN" altLang="en-US" dirty="0"/>
              <a:t>国际主流指令系统分析</a:t>
            </a:r>
          </a:p>
        </p:txBody>
      </p:sp>
      <p:sp>
        <p:nvSpPr>
          <p:cNvPr id="22531" name="内容占位符 3"/>
          <p:cNvSpPr>
            <a:spLocks noGrp="1"/>
          </p:cNvSpPr>
          <p:nvPr>
            <p:ph idx="1"/>
          </p:nvPr>
        </p:nvSpPr>
        <p:spPr>
          <a:xfrm>
            <a:off x="192911" y="1190625"/>
            <a:ext cx="11709992" cy="5630863"/>
          </a:xfrm>
        </p:spPr>
        <p:txBody>
          <a:bodyPr vert="horz" wrap="square" lIns="91440" tIns="45720" rIns="91440" bIns="45720" anchor="t" anchorCtr="0"/>
          <a:lstStyle/>
          <a:p>
            <a:pPr marL="358775" indent="-358775" eaLnBrk="1" hangingPunct="1">
              <a:spcBef>
                <a:spcPts val="300"/>
              </a:spcBef>
            </a:pPr>
            <a:r>
              <a:rPr lang="en-US" altLang="en-US" dirty="0"/>
              <a:t>目前</a:t>
            </a:r>
            <a:r>
              <a:rPr lang="zh-CN" altLang="en-US" dirty="0"/>
              <a:t>开源社区比较活跃的</a:t>
            </a:r>
            <a:r>
              <a:rPr lang="en-US" altLang="en-US" dirty="0"/>
              <a:t>指令系统：</a:t>
            </a:r>
            <a:r>
              <a:rPr lang="en-US" altLang="zh-CN" dirty="0"/>
              <a:t>X86</a:t>
            </a:r>
            <a:r>
              <a:rPr lang="en-US" altLang="en-US" dirty="0"/>
              <a:t>、</a:t>
            </a:r>
            <a:r>
              <a:rPr lang="en-US" altLang="zh-CN" dirty="0"/>
              <a:t>ARM</a:t>
            </a:r>
            <a:r>
              <a:rPr lang="zh-CN" altLang="en-US" dirty="0"/>
              <a:t>、</a:t>
            </a:r>
            <a:r>
              <a:rPr lang="en-US" altLang="zh-CN" dirty="0"/>
              <a:t>RISC-V</a:t>
            </a:r>
            <a:r>
              <a:rPr lang="zh-CN" altLang="en-US" dirty="0"/>
              <a:t>、</a:t>
            </a:r>
            <a:r>
              <a:rPr lang="en-US" altLang="zh-CN" dirty="0"/>
              <a:t>LoongArch</a:t>
            </a:r>
          </a:p>
          <a:p>
            <a:pPr marL="719455" lvl="1" indent="-359410" eaLnBrk="1" hangingPunct="1">
              <a:spcBef>
                <a:spcPts val="300"/>
              </a:spcBef>
            </a:pPr>
            <a:r>
              <a:rPr lang="en-US" altLang="zh-CN" dirty="0">
                <a:solidFill>
                  <a:srgbClr val="FF0000"/>
                </a:solidFill>
              </a:rPr>
              <a:t>X86</a:t>
            </a:r>
            <a:r>
              <a:rPr lang="en-US" altLang="en-US" dirty="0">
                <a:solidFill>
                  <a:srgbClr val="FF0000"/>
                </a:solidFill>
              </a:rPr>
              <a:t>：</a:t>
            </a:r>
            <a:r>
              <a:rPr lang="en-US" altLang="en-US" dirty="0"/>
              <a:t>垄断</a:t>
            </a:r>
            <a:r>
              <a:rPr lang="en-US" altLang="zh-CN" dirty="0"/>
              <a:t>PC</a:t>
            </a:r>
            <a:r>
              <a:rPr lang="en-US" altLang="en-US" dirty="0"/>
              <a:t>和服务器市场，虽受到</a:t>
            </a:r>
            <a:r>
              <a:rPr lang="en-US" altLang="zh-CN" dirty="0"/>
              <a:t>ARM</a:t>
            </a:r>
            <a:r>
              <a:rPr lang="en-US" altLang="en-US" dirty="0"/>
              <a:t>的一些威胁，但桌面的垄断地位难以动摇，并通过凌动阻止</a:t>
            </a:r>
            <a:r>
              <a:rPr lang="en-US" altLang="zh-CN" dirty="0"/>
              <a:t>ARM</a:t>
            </a:r>
            <a:r>
              <a:rPr lang="en-US" altLang="en-US" dirty="0"/>
              <a:t>向高端渗透</a:t>
            </a:r>
            <a:endParaRPr lang="en-US" altLang="zh-CN" dirty="0"/>
          </a:p>
          <a:p>
            <a:pPr marL="719455" lvl="1" indent="-359410" eaLnBrk="1" hangingPunct="1">
              <a:spcBef>
                <a:spcPts val="300"/>
              </a:spcBef>
            </a:pPr>
            <a:r>
              <a:rPr lang="en-US" altLang="zh-CN" dirty="0">
                <a:solidFill>
                  <a:srgbClr val="FF0000"/>
                </a:solidFill>
              </a:rPr>
              <a:t>ARM</a:t>
            </a:r>
            <a:r>
              <a:rPr lang="en-US" altLang="en-US" dirty="0">
                <a:solidFill>
                  <a:srgbClr val="FF0000"/>
                </a:solidFill>
              </a:rPr>
              <a:t>：</a:t>
            </a:r>
            <a:r>
              <a:rPr lang="en-US" altLang="en-US" dirty="0"/>
              <a:t>在手持终端市场处于垄断地位，成功侵蚀</a:t>
            </a:r>
            <a:r>
              <a:rPr lang="en-US" altLang="zh-CN" dirty="0"/>
              <a:t>MIPS</a:t>
            </a:r>
            <a:r>
              <a:rPr lang="en-US" altLang="en-US" dirty="0"/>
              <a:t>的数字电视、机顶盒等市场，试图在云服务器等领域与</a:t>
            </a:r>
            <a:r>
              <a:rPr lang="en-US" altLang="zh-CN" dirty="0"/>
              <a:t>X86</a:t>
            </a:r>
            <a:r>
              <a:rPr lang="en-US" altLang="en-US" dirty="0"/>
              <a:t>竞争</a:t>
            </a:r>
          </a:p>
          <a:p>
            <a:pPr marL="719455" lvl="1" indent="-359410" eaLnBrk="1" hangingPunct="1">
              <a:spcBef>
                <a:spcPts val="300"/>
              </a:spcBef>
            </a:pPr>
            <a:r>
              <a:rPr lang="en-US" altLang="zh-CN" dirty="0">
                <a:solidFill>
                  <a:srgbClr val="FF0000"/>
                </a:solidFill>
                <a:sym typeface="+mn-ea"/>
              </a:rPr>
              <a:t>RISC-V：</a:t>
            </a:r>
            <a:r>
              <a:rPr lang="en-US" altLang="zh-CN" dirty="0">
                <a:sym typeface="+mn-ea"/>
              </a:rPr>
              <a:t>想成为CPU中的Linux，</a:t>
            </a:r>
            <a:r>
              <a:rPr lang="en-US" altLang="en-US" dirty="0">
                <a:sym typeface="+mn-ea"/>
              </a:rPr>
              <a:t>生态碎片化，</a:t>
            </a:r>
            <a:r>
              <a:rPr lang="zh-CN" altLang="en-US" dirty="0">
                <a:sym typeface="+mn-ea"/>
              </a:rPr>
              <a:t>指令槽不够，</a:t>
            </a:r>
            <a:r>
              <a:rPr lang="en-US" altLang="zh-CN" dirty="0">
                <a:sym typeface="+mn-ea"/>
              </a:rPr>
              <a:t>低端MCU + </a:t>
            </a:r>
            <a:r>
              <a:rPr lang="en-US" altLang="en-US" dirty="0">
                <a:sym typeface="+mn-ea"/>
              </a:rPr>
              <a:t>垂直应用，中国</a:t>
            </a:r>
            <a:r>
              <a:rPr lang="en-US" altLang="zh-CN" dirty="0">
                <a:sym typeface="+mn-ea"/>
              </a:rPr>
              <a:t>/</a:t>
            </a:r>
            <a:r>
              <a:rPr lang="en-US" altLang="en-US" dirty="0">
                <a:sym typeface="+mn-ea"/>
              </a:rPr>
              <a:t>印度特点</a:t>
            </a:r>
            <a:endParaRPr lang="en-US" altLang="zh-CN" dirty="0"/>
          </a:p>
          <a:p>
            <a:pPr marL="719455" lvl="1" indent="-359410" eaLnBrk="1" hangingPunct="1">
              <a:spcBef>
                <a:spcPts val="300"/>
              </a:spcBef>
            </a:pPr>
            <a:r>
              <a:rPr lang="en-US" altLang="zh-CN" dirty="0">
                <a:solidFill>
                  <a:srgbClr val="FF0000"/>
                </a:solidFill>
                <a:sym typeface="+mn-ea"/>
              </a:rPr>
              <a:t>LoongArch</a:t>
            </a:r>
            <a:r>
              <a:rPr lang="en-US" altLang="en-US" dirty="0">
                <a:solidFill>
                  <a:srgbClr val="FF0000"/>
                </a:solidFill>
                <a:sym typeface="+mn-ea"/>
              </a:rPr>
              <a:t>：</a:t>
            </a:r>
            <a:r>
              <a:rPr lang="en-US" altLang="en-US" dirty="0">
                <a:sym typeface="+mn-ea"/>
              </a:rPr>
              <a:t>龙芯指令系统</a:t>
            </a:r>
            <a:r>
              <a:rPr lang="zh-CN" altLang="en-US" dirty="0">
                <a:sym typeface="+mn-ea"/>
              </a:rPr>
              <a:t>，中国构建自主信息技术体系和软件生态所必需</a:t>
            </a:r>
            <a:endParaRPr lang="en-US" altLang="zh-CN" dirty="0"/>
          </a:p>
          <a:p>
            <a:pPr marL="358775" indent="-358775" eaLnBrk="1" hangingPunct="1">
              <a:spcBef>
                <a:spcPts val="300"/>
              </a:spcBef>
            </a:pPr>
            <a:r>
              <a:rPr lang="zh-CN" altLang="en-US" dirty="0"/>
              <a:t>以下指令系统已经不再活跃</a:t>
            </a:r>
            <a:endParaRPr lang="en-US" altLang="en-US" dirty="0"/>
          </a:p>
          <a:p>
            <a:pPr marL="719455" lvl="1" indent="-359410" eaLnBrk="1" hangingPunct="1">
              <a:spcBef>
                <a:spcPts val="300"/>
              </a:spcBef>
            </a:pPr>
            <a:r>
              <a:rPr lang="en-US" altLang="zh-CN" dirty="0">
                <a:solidFill>
                  <a:schemeClr val="accent2"/>
                </a:solidFill>
              </a:rPr>
              <a:t>PowerPC：</a:t>
            </a:r>
            <a:r>
              <a:rPr lang="en-US" altLang="zh-CN" dirty="0"/>
              <a:t>在汽车电子、工控、服务器领域还有一线生机</a:t>
            </a:r>
          </a:p>
          <a:p>
            <a:pPr marL="719455" lvl="1" indent="-359410" eaLnBrk="1" hangingPunct="1">
              <a:spcBef>
                <a:spcPts val="300"/>
              </a:spcBef>
            </a:pPr>
            <a:r>
              <a:rPr lang="en-US" altLang="zh-CN" dirty="0" err="1">
                <a:solidFill>
                  <a:schemeClr val="accent2"/>
                </a:solidFill>
              </a:rPr>
              <a:t>MIPS：</a:t>
            </a:r>
            <a:r>
              <a:rPr lang="en-US" altLang="zh-CN" dirty="0" err="1" smtClean="0"/>
              <a:t>在</a:t>
            </a:r>
            <a:r>
              <a:rPr lang="zh-CN" altLang="en-US" dirty="0" smtClean="0"/>
              <a:t>传统工控</a:t>
            </a:r>
            <a:r>
              <a:rPr lang="en-US" altLang="zh-CN" dirty="0" err="1" smtClean="0"/>
              <a:t>市场如打印机</a:t>
            </a:r>
            <a:r>
              <a:rPr lang="en-US" altLang="zh-CN" dirty="0" err="1"/>
              <a:t>、网络等仍有一定</a:t>
            </a:r>
            <a:r>
              <a:rPr lang="en-US" altLang="en-US" dirty="0" err="1"/>
              <a:t>应用，</a:t>
            </a:r>
            <a:r>
              <a:rPr lang="en-US" altLang="zh-CN" dirty="0" err="1"/>
              <a:t>dying</a:t>
            </a:r>
            <a:endParaRPr lang="en-US" altLang="zh-CN" dirty="0"/>
          </a:p>
          <a:p>
            <a:pPr marL="719455" lvl="1" indent="-359410" eaLnBrk="1" hangingPunct="1">
              <a:spcBef>
                <a:spcPts val="300"/>
              </a:spcBef>
            </a:pPr>
            <a:r>
              <a:rPr lang="en-US" altLang="zh-CN" dirty="0">
                <a:solidFill>
                  <a:schemeClr val="accent2"/>
                </a:solidFill>
              </a:rPr>
              <a:t>Alpha、PA-RISC、Sparc、IA64：</a:t>
            </a:r>
            <a:r>
              <a:rPr lang="en-US" altLang="zh-CN" dirty="0"/>
              <a:t>基本上算死了</a:t>
            </a:r>
          </a:p>
          <a:p>
            <a:pPr marL="358775" indent="-358775" eaLnBrk="1" hangingPunct="1">
              <a:spcBef>
                <a:spcPts val="300"/>
              </a:spcBef>
            </a:pPr>
            <a:endParaRPr lang="en-US" altLang="zh-C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3"/>
          <p:cNvSpPr>
            <a:spLocks noGrp="1"/>
          </p:cNvSpPr>
          <p:nvPr>
            <p:ph type="title"/>
          </p:nvPr>
        </p:nvSpPr>
        <p:spPr>
          <a:xfrm>
            <a:off x="914400" y="2560638"/>
            <a:ext cx="10361613" cy="1143000"/>
          </a:xfrm>
        </p:spPr>
        <p:txBody>
          <a:bodyPr vert="horz" wrap="square" lIns="91440" tIns="45720" rIns="91440" bIns="45720" anchor="ctr" anchorCtr="0"/>
          <a:lstStyle/>
          <a:p>
            <a:pPr eaLnBrk="1" hangingPunct="1"/>
            <a:r>
              <a:rPr lang="zh-CN" altLang="en-US" dirty="0"/>
              <a:t>指令系统的设计原则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4"/>
          <p:cNvSpPr>
            <a:spLocks noGrp="1"/>
          </p:cNvSpPr>
          <p:nvPr>
            <p:ph type="title"/>
          </p:nvPr>
        </p:nvSpPr>
        <p:spPr>
          <a:xfrm>
            <a:off x="914599" y="0"/>
            <a:ext cx="10361851" cy="1143000"/>
          </a:xfrm>
        </p:spPr>
        <p:txBody>
          <a:bodyPr vert="horz" wrap="square" lIns="91440" tIns="45720" rIns="91440" bIns="45720" anchor="ctr" anchorCtr="0"/>
          <a:lstStyle/>
          <a:p>
            <a:pPr eaLnBrk="1" hangingPunct="1"/>
            <a:r>
              <a:rPr lang="zh-CN" altLang="en-US" dirty="0"/>
              <a:t>指令系统的设计原则</a:t>
            </a:r>
          </a:p>
        </p:txBody>
      </p:sp>
      <p:sp>
        <p:nvSpPr>
          <p:cNvPr id="24579" name="内容占位符 5"/>
          <p:cNvSpPr>
            <a:spLocks noGrp="1"/>
          </p:cNvSpPr>
          <p:nvPr>
            <p:ph idx="1"/>
          </p:nvPr>
        </p:nvSpPr>
        <p:spPr>
          <a:xfrm>
            <a:off x="546347" y="1289050"/>
            <a:ext cx="11335391" cy="5027930"/>
          </a:xfrm>
        </p:spPr>
        <p:txBody>
          <a:bodyPr vert="horz" wrap="square" lIns="91440" tIns="45720" rIns="91440" bIns="45720" anchor="t" anchorCtr="0"/>
          <a:lstStyle/>
          <a:p>
            <a:pPr lvl="0" eaLnBrk="1" hangingPunct="1"/>
            <a:r>
              <a:rPr lang="zh-CN" altLang="en-US" dirty="0"/>
              <a:t>兼容性：对软件的包容性，长时间保持不变，如</a:t>
            </a:r>
            <a:r>
              <a:rPr lang="en-US" altLang="zh-CN" dirty="0"/>
              <a:t>X86</a:t>
            </a:r>
          </a:p>
          <a:p>
            <a:pPr lvl="0" eaLnBrk="1" hangingPunct="1"/>
            <a:r>
              <a:rPr lang="zh-CN" altLang="en-US" dirty="0"/>
              <a:t>通用性：</a:t>
            </a:r>
            <a:r>
              <a:rPr lang="zh-CN" altLang="en-US" dirty="0">
                <a:sym typeface="+mn-ea"/>
              </a:rPr>
              <a:t>支持通用操作系统，</a:t>
            </a:r>
            <a:r>
              <a:rPr lang="zh-CN" altLang="en-US" dirty="0"/>
              <a:t>编译器和程序员觉得好用</a:t>
            </a:r>
            <a:endParaRPr lang="en-US" altLang="zh-CN" dirty="0"/>
          </a:p>
          <a:p>
            <a:pPr lvl="0" eaLnBrk="1" hangingPunct="1"/>
            <a:r>
              <a:rPr lang="zh-CN" altLang="en-US" dirty="0"/>
              <a:t>高效性</a:t>
            </a:r>
            <a:r>
              <a:rPr lang="zh-CN" altLang="en-US" dirty="0" smtClean="0"/>
              <a:t>：表达能力强，用最少的指令表达程序功能，</a:t>
            </a:r>
            <a:r>
              <a:rPr lang="zh-CN" altLang="en-US" dirty="0"/>
              <a:t>便于</a:t>
            </a:r>
            <a:r>
              <a:rPr lang="en-US" altLang="zh-CN" dirty="0"/>
              <a:t>CPU</a:t>
            </a:r>
            <a:r>
              <a:rPr lang="zh-CN" altLang="en-US" dirty="0"/>
              <a:t>设计优化和不同性能的实现</a:t>
            </a:r>
            <a:endParaRPr lang="en-US" altLang="zh-CN" dirty="0"/>
          </a:p>
          <a:p>
            <a:pPr lvl="0" eaLnBrk="1" hangingPunct="1"/>
            <a:r>
              <a:rPr lang="zh-CN" altLang="en-US" dirty="0"/>
              <a:t>安全性：对软硬件安全的支持，考虑不同的安全要求</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影响指令系统设计的因素</a:t>
            </a:r>
          </a:p>
        </p:txBody>
      </p:sp>
      <p:sp>
        <p:nvSpPr>
          <p:cNvPr id="18435" name="内容占位符 2"/>
          <p:cNvSpPr>
            <a:spLocks noGrp="1"/>
          </p:cNvSpPr>
          <p:nvPr>
            <p:ph idx="1"/>
          </p:nvPr>
        </p:nvSpPr>
        <p:spPr>
          <a:xfrm>
            <a:off x="914400" y="1143000"/>
            <a:ext cx="10361613" cy="5715000"/>
          </a:xfrm>
        </p:spPr>
        <p:txBody>
          <a:bodyPr vert="horz" wrap="square" lIns="91440" tIns="45720" rIns="91440" bIns="45720" anchor="t" anchorCtr="0"/>
          <a:lstStyle/>
          <a:p>
            <a:pPr eaLnBrk="1" hangingPunct="1"/>
            <a:r>
              <a:rPr lang="zh-CN" altLang="en-US" sz="1800" dirty="0"/>
              <a:t>工艺技术</a:t>
            </a:r>
            <a:endParaRPr lang="en-US" altLang="zh-CN" sz="1800" dirty="0"/>
          </a:p>
          <a:p>
            <a:pPr lvl="1" eaLnBrk="1" hangingPunct="1"/>
            <a:r>
              <a:rPr lang="zh-CN" altLang="en-US" sz="1400" dirty="0"/>
              <a:t>早期的硬件昂贵，简化硬件是指令系统设计的主要因素</a:t>
            </a:r>
            <a:endParaRPr lang="en-US" altLang="zh-CN" sz="1400" dirty="0"/>
          </a:p>
          <a:p>
            <a:pPr lvl="1" eaLnBrk="1" hangingPunct="1"/>
            <a:r>
              <a:rPr lang="zh-CN" altLang="en-US" sz="1400" dirty="0"/>
              <a:t>现在如何发挥存储层次的效率，如何利用芯片面积</a:t>
            </a:r>
            <a:endParaRPr lang="en-US" altLang="zh-CN" sz="1400" dirty="0"/>
          </a:p>
          <a:p>
            <a:pPr eaLnBrk="1" hangingPunct="1"/>
            <a:r>
              <a:rPr lang="zh-CN" altLang="en-US" sz="1800" dirty="0"/>
              <a:t>系统结构</a:t>
            </a:r>
            <a:endParaRPr lang="en-US" altLang="zh-CN" sz="1800" dirty="0"/>
          </a:p>
          <a:p>
            <a:pPr lvl="1" eaLnBrk="1" hangingPunct="1"/>
            <a:r>
              <a:rPr lang="zh-CN" altLang="en-US" sz="1400" dirty="0"/>
              <a:t>增加指令功能还是提高主频？</a:t>
            </a:r>
            <a:endParaRPr lang="en-US" altLang="zh-CN" sz="1400" dirty="0"/>
          </a:p>
          <a:p>
            <a:pPr lvl="1" eaLnBrk="1" hangingPunct="1"/>
            <a:r>
              <a:rPr lang="zh-CN" altLang="en-US" sz="1400" dirty="0"/>
              <a:t>并行性： </a:t>
            </a:r>
            <a:r>
              <a:rPr lang="en-US" altLang="zh-CN" sz="1400" dirty="0"/>
              <a:t>SIMD</a:t>
            </a:r>
            <a:r>
              <a:rPr lang="zh-CN" altLang="en-US" sz="1400" dirty="0"/>
              <a:t>、向量、多发射（兼容性好）</a:t>
            </a:r>
            <a:endParaRPr lang="en-US" altLang="zh-CN" sz="1400" dirty="0"/>
          </a:p>
          <a:p>
            <a:pPr eaLnBrk="1" hangingPunct="1"/>
            <a:r>
              <a:rPr lang="zh-CN" altLang="en-US" sz="1800" dirty="0"/>
              <a:t>操作系统</a:t>
            </a:r>
            <a:endParaRPr lang="en-US" altLang="zh-CN" sz="1800" dirty="0"/>
          </a:p>
          <a:p>
            <a:pPr lvl="1" eaLnBrk="1" hangingPunct="1"/>
            <a:r>
              <a:rPr lang="zh-CN" altLang="en-US" sz="1400" dirty="0"/>
              <a:t>多进程支持、虚地址空间、安全等级、虚拟机等</a:t>
            </a:r>
            <a:endParaRPr lang="en-US" altLang="zh-CN" sz="1400" dirty="0"/>
          </a:p>
          <a:p>
            <a:pPr eaLnBrk="1" hangingPunct="1"/>
            <a:r>
              <a:rPr lang="zh-CN" altLang="en-US" sz="1800" dirty="0"/>
              <a:t>编译技术与程序设计语言</a:t>
            </a:r>
            <a:endParaRPr lang="en-US" altLang="zh-CN" sz="1800" dirty="0"/>
          </a:p>
          <a:p>
            <a:pPr lvl="1" eaLnBrk="1" hangingPunct="1"/>
            <a:r>
              <a:rPr lang="zh-CN" altLang="en-US" sz="1400" dirty="0"/>
              <a:t>指令的表达能力</a:t>
            </a:r>
            <a:endParaRPr lang="en-US" altLang="zh-CN" sz="1400" dirty="0"/>
          </a:p>
          <a:p>
            <a:pPr eaLnBrk="1" hangingPunct="1"/>
            <a:r>
              <a:rPr lang="zh-CN" altLang="en-US" sz="1800" dirty="0"/>
              <a:t>应用程序</a:t>
            </a:r>
            <a:endParaRPr lang="en-US" altLang="zh-CN" sz="1800" dirty="0"/>
          </a:p>
          <a:p>
            <a:pPr lvl="1" eaLnBrk="1" hangingPunct="1"/>
            <a:r>
              <a:rPr lang="zh-CN" altLang="en-US" sz="1400" dirty="0"/>
              <a:t>应用适应性、兼容性等</a:t>
            </a:r>
            <a:endParaRPr lang="en-US" altLang="zh-CN" sz="1400" dirty="0"/>
          </a:p>
          <a:p>
            <a:pPr eaLnBrk="1" hangingPunct="1"/>
            <a:endParaRPr lang="en-US" altLang="zh-CN"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工艺技术对指令系统的影响</a:t>
            </a:r>
          </a:p>
        </p:txBody>
      </p:sp>
      <p:sp>
        <p:nvSpPr>
          <p:cNvPr id="19459" name="内容占位符 2"/>
          <p:cNvSpPr>
            <a:spLocks noGrp="1"/>
          </p:cNvSpPr>
          <p:nvPr>
            <p:ph idx="1"/>
          </p:nvPr>
        </p:nvSpPr>
        <p:spPr>
          <a:xfrm>
            <a:off x="914400" y="1143000"/>
            <a:ext cx="10361613" cy="4114800"/>
          </a:xfrm>
        </p:spPr>
        <p:txBody>
          <a:bodyPr vert="horz" wrap="square" lIns="91440" tIns="45720" rIns="91440" bIns="45720" anchor="t" anchorCtr="0"/>
          <a:lstStyle/>
          <a:p>
            <a:pPr eaLnBrk="1" hangingPunct="1"/>
            <a:r>
              <a:rPr lang="zh-CN" altLang="en-US" dirty="0"/>
              <a:t>早期的指令系统设计主要考虑如何减少硬件</a:t>
            </a:r>
            <a:endParaRPr lang="en-US" altLang="zh-CN" dirty="0"/>
          </a:p>
          <a:p>
            <a:pPr eaLnBrk="1" hangingPunct="1"/>
            <a:r>
              <a:rPr lang="zh-CN" altLang="en-US" dirty="0"/>
              <a:t>后来集成度的提高使得系统结构的优化成为可能</a:t>
            </a:r>
            <a:endParaRPr lang="en-US" altLang="zh-CN" dirty="0"/>
          </a:p>
          <a:p>
            <a:pPr lvl="1" eaLnBrk="1" hangingPunct="1"/>
            <a:r>
              <a:rPr lang="en-US" altLang="zh-CN" dirty="0"/>
              <a:t>TLB</a:t>
            </a:r>
            <a:r>
              <a:rPr lang="zh-CN" altLang="en-US" dirty="0"/>
              <a:t>、从</a:t>
            </a:r>
            <a:r>
              <a:rPr lang="en-US" altLang="zh-CN" dirty="0"/>
              <a:t>32</a:t>
            </a:r>
            <a:r>
              <a:rPr lang="zh-CN" altLang="en-US" dirty="0"/>
              <a:t>位到</a:t>
            </a:r>
            <a:r>
              <a:rPr lang="en-US" altLang="zh-CN" dirty="0"/>
              <a:t>64</a:t>
            </a:r>
            <a:r>
              <a:rPr lang="zh-CN" altLang="en-US" dirty="0"/>
              <a:t>位、</a:t>
            </a:r>
            <a:r>
              <a:rPr lang="en-US" altLang="zh-CN" dirty="0"/>
              <a:t>SIMD</a:t>
            </a:r>
            <a:r>
              <a:rPr lang="zh-CN" altLang="en-US" dirty="0"/>
              <a:t>媒体运算</a:t>
            </a:r>
            <a:endParaRPr lang="en-US" altLang="zh-CN" dirty="0"/>
          </a:p>
          <a:p>
            <a:pPr eaLnBrk="1" hangingPunct="1"/>
            <a:r>
              <a:rPr lang="zh-CN" altLang="en-US" dirty="0"/>
              <a:t>由于</a:t>
            </a:r>
            <a:r>
              <a:rPr lang="en-US" altLang="zh-CN" dirty="0"/>
              <a:t>CPU</a:t>
            </a:r>
            <a:r>
              <a:rPr lang="zh-CN" altLang="en-US" dirty="0"/>
              <a:t>与存储器的速度差距，指令系统应能较好地利用存储层次，如通过并行或流水容忍延迟</a:t>
            </a:r>
            <a:endParaRPr lang="en-US" altLang="zh-CN" dirty="0"/>
          </a:p>
          <a:p>
            <a:pPr lvl="1" eaLnBrk="1" hangingPunct="1"/>
            <a:r>
              <a:rPr lang="en-US" altLang="zh-CN" dirty="0"/>
              <a:t>Cache</a:t>
            </a:r>
            <a:r>
              <a:rPr lang="zh-CN" altLang="en-US" dirty="0"/>
              <a:t>管理指令、预取指令</a:t>
            </a:r>
            <a:endParaRPr lang="en-US" altLang="zh-CN" dirty="0"/>
          </a:p>
          <a:p>
            <a:pPr eaLnBrk="1" hangingPunct="1"/>
            <a:r>
              <a:rPr lang="zh-CN" altLang="en-US" dirty="0"/>
              <a:t>随着工艺的进一步发展，由于主频极限和功耗问题引起的多核结构需要特殊指令支持</a:t>
            </a:r>
            <a:endParaRPr lang="en-US" altLang="zh-CN" dirty="0"/>
          </a:p>
          <a:p>
            <a:pPr lvl="1" eaLnBrk="1" hangingPunct="1"/>
            <a:r>
              <a:rPr lang="zh-CN" altLang="en-US" dirty="0"/>
              <a:t>多线程管理和同步</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系统结构对指令系统的影响</a:t>
            </a:r>
          </a:p>
        </p:txBody>
      </p:sp>
      <p:sp>
        <p:nvSpPr>
          <p:cNvPr id="20483" name="内容占位符 2"/>
          <p:cNvSpPr>
            <a:spLocks noGrp="1"/>
          </p:cNvSpPr>
          <p:nvPr>
            <p:ph idx="1"/>
          </p:nvPr>
        </p:nvSpPr>
        <p:spPr>
          <a:xfrm>
            <a:off x="914400" y="1143000"/>
            <a:ext cx="10361613" cy="4114800"/>
          </a:xfrm>
        </p:spPr>
        <p:txBody>
          <a:bodyPr vert="horz" wrap="square" lIns="91440" tIns="45720" rIns="91440" bIns="45720" anchor="t" anchorCtr="0"/>
          <a:lstStyle/>
          <a:p>
            <a:pPr eaLnBrk="1" hangingPunct="1"/>
            <a:r>
              <a:rPr lang="zh-CN" altLang="en-US" dirty="0"/>
              <a:t>指令系统本身是系统结构发展的结果</a:t>
            </a:r>
            <a:endParaRPr lang="en-US" altLang="zh-CN" dirty="0"/>
          </a:p>
          <a:p>
            <a:pPr lvl="1" eaLnBrk="1" hangingPunct="1"/>
            <a:r>
              <a:rPr lang="zh-CN" altLang="en-US" dirty="0"/>
              <a:t>从</a:t>
            </a:r>
            <a:r>
              <a:rPr lang="en-US" altLang="zh-CN" dirty="0"/>
              <a:t>16</a:t>
            </a:r>
            <a:r>
              <a:rPr lang="zh-CN" altLang="en-US" dirty="0"/>
              <a:t>位、到</a:t>
            </a:r>
            <a:r>
              <a:rPr lang="en-US" altLang="zh-CN" dirty="0"/>
              <a:t>32</a:t>
            </a:r>
            <a:r>
              <a:rPr lang="zh-CN" altLang="en-US" dirty="0"/>
              <a:t>位、到</a:t>
            </a:r>
            <a:r>
              <a:rPr lang="en-US" altLang="zh-CN" dirty="0"/>
              <a:t>64</a:t>
            </a:r>
            <a:r>
              <a:rPr lang="zh-CN" altLang="en-US" dirty="0"/>
              <a:t>位</a:t>
            </a:r>
            <a:endParaRPr lang="en-US" altLang="zh-CN" dirty="0"/>
          </a:p>
          <a:p>
            <a:pPr lvl="1" eaLnBrk="1" hangingPunct="1"/>
            <a:r>
              <a:rPr lang="en-US" altLang="zh-CN" dirty="0"/>
              <a:t>SIMD</a:t>
            </a:r>
            <a:r>
              <a:rPr lang="zh-CN" altLang="en-US" dirty="0"/>
              <a:t>指令、从单核到多核等</a:t>
            </a:r>
            <a:endParaRPr lang="en-US" altLang="zh-CN" dirty="0"/>
          </a:p>
          <a:p>
            <a:pPr eaLnBrk="1" hangingPunct="1"/>
            <a:r>
              <a:rPr lang="zh-CN" altLang="en-US" dirty="0"/>
              <a:t>指令系统的兼容性要求与系统结构发展的矛盾关系</a:t>
            </a:r>
            <a:endParaRPr lang="en-US" altLang="zh-CN" dirty="0"/>
          </a:p>
          <a:p>
            <a:pPr lvl="1" eaLnBrk="1" hangingPunct="1"/>
            <a:r>
              <a:rPr lang="zh-CN" altLang="en-US" dirty="0"/>
              <a:t>尽量不改变指令系统的前提下提高性能，如流水、多发射等</a:t>
            </a:r>
            <a:endParaRPr lang="en-US" altLang="zh-CN" dirty="0"/>
          </a:p>
          <a:p>
            <a:pPr lvl="1" eaLnBrk="1" hangingPunct="1"/>
            <a:r>
              <a:rPr lang="zh-CN" altLang="en-US" dirty="0"/>
              <a:t>尽量保持兼容，如</a:t>
            </a:r>
            <a:r>
              <a:rPr lang="en-US" altLang="zh-CN" dirty="0"/>
              <a:t>Intel</a:t>
            </a:r>
            <a:r>
              <a:rPr lang="zh-CN" altLang="en-US" dirty="0"/>
              <a:t>的做法</a:t>
            </a:r>
            <a:endParaRPr lang="en-US" altLang="zh-CN" dirty="0"/>
          </a:p>
          <a:p>
            <a:pPr eaLnBrk="1" hangingPunct="1"/>
            <a:r>
              <a:rPr lang="zh-CN" altLang="en-US" dirty="0"/>
              <a:t>增加指令功能还是提高主频</a:t>
            </a:r>
            <a:endParaRPr lang="en-US" altLang="zh-CN" dirty="0"/>
          </a:p>
          <a:p>
            <a:pPr lvl="1" eaLnBrk="1" hangingPunct="1"/>
            <a:r>
              <a:rPr lang="en-US" altLang="zh-CN" dirty="0"/>
              <a:t>RISC vs. CISC vs. VLIW</a:t>
            </a:r>
          </a:p>
          <a:p>
            <a:pPr eaLnBrk="1" hangingPunct="1"/>
            <a:r>
              <a:rPr lang="zh-CN" altLang="en-US" dirty="0"/>
              <a:t>指令中如何体现并行性？</a:t>
            </a:r>
            <a:endParaRPr lang="en-US" altLang="zh-CN" dirty="0"/>
          </a:p>
          <a:p>
            <a:pPr lvl="1" eaLnBrk="1" hangingPunct="1"/>
            <a:r>
              <a:rPr lang="en-US" altLang="zh-CN" dirty="0"/>
              <a:t>SIMD</a:t>
            </a:r>
            <a:r>
              <a:rPr lang="zh-CN" altLang="en-US" dirty="0"/>
              <a:t>、多线程。。。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操作系统对指令系统的影响</a:t>
            </a:r>
          </a:p>
        </p:txBody>
      </p:sp>
      <p:sp>
        <p:nvSpPr>
          <p:cNvPr id="21507" name="内容占位符 2"/>
          <p:cNvSpPr>
            <a:spLocks noGrp="1"/>
          </p:cNvSpPr>
          <p:nvPr>
            <p:ph idx="1"/>
          </p:nvPr>
        </p:nvSpPr>
        <p:spPr>
          <a:xfrm>
            <a:off x="914400" y="1143000"/>
            <a:ext cx="10361613" cy="4114800"/>
          </a:xfrm>
        </p:spPr>
        <p:txBody>
          <a:bodyPr vert="horz" wrap="square" lIns="91440" tIns="45720" rIns="91440" bIns="45720" anchor="t" anchorCtr="0"/>
          <a:lstStyle/>
          <a:p>
            <a:pPr eaLnBrk="1" hangingPunct="1"/>
            <a:r>
              <a:rPr lang="zh-CN" altLang="en-US" dirty="0">
                <a:solidFill>
                  <a:srgbClr val="2D2DB9"/>
                </a:solidFill>
              </a:rPr>
              <a:t>操作系统专用的核心态指令和运行环境</a:t>
            </a:r>
            <a:endParaRPr lang="en-US" altLang="zh-CN" dirty="0">
              <a:solidFill>
                <a:srgbClr val="2D2DB9"/>
              </a:solidFill>
            </a:endParaRPr>
          </a:p>
          <a:p>
            <a:pPr eaLnBrk="1" hangingPunct="1"/>
            <a:r>
              <a:rPr lang="zh-CN" altLang="en-US" dirty="0"/>
              <a:t>多进程和虚空间</a:t>
            </a:r>
            <a:endParaRPr lang="en-US" altLang="zh-CN" dirty="0"/>
          </a:p>
          <a:p>
            <a:pPr lvl="1" eaLnBrk="1" hangingPunct="1"/>
            <a:r>
              <a:rPr lang="zh-CN" altLang="en-US" dirty="0"/>
              <a:t>页表与</a:t>
            </a:r>
            <a:r>
              <a:rPr lang="en-US" altLang="zh-CN" dirty="0"/>
              <a:t>TLB</a:t>
            </a:r>
            <a:r>
              <a:rPr lang="zh-CN" altLang="en-US" dirty="0"/>
              <a:t>的关系</a:t>
            </a:r>
            <a:endParaRPr lang="en-US" altLang="zh-CN" dirty="0"/>
          </a:p>
          <a:p>
            <a:pPr lvl="1" eaLnBrk="1" hangingPunct="1"/>
            <a:r>
              <a:rPr lang="zh-CN" altLang="en-US" dirty="0"/>
              <a:t>页保护：读写权限</a:t>
            </a:r>
            <a:endParaRPr lang="en-US" altLang="zh-CN" dirty="0"/>
          </a:p>
          <a:p>
            <a:pPr eaLnBrk="1" hangingPunct="1"/>
            <a:r>
              <a:rPr lang="zh-CN" altLang="en-US" dirty="0"/>
              <a:t>系统安全等级</a:t>
            </a:r>
            <a:endParaRPr lang="en-US" altLang="zh-CN" dirty="0"/>
          </a:p>
          <a:p>
            <a:pPr lvl="1" eaLnBrk="1" hangingPunct="1"/>
            <a:r>
              <a:rPr lang="zh-CN" altLang="en-US" dirty="0"/>
              <a:t>核心态和用户态管理</a:t>
            </a:r>
            <a:endParaRPr lang="en-US" altLang="zh-CN" dirty="0"/>
          </a:p>
          <a:p>
            <a:pPr eaLnBrk="1" hangingPunct="1"/>
            <a:r>
              <a:rPr lang="zh-CN" altLang="en-US" dirty="0"/>
              <a:t>异常和中断的处理</a:t>
            </a:r>
            <a:endParaRPr lang="en-US" altLang="zh-CN" dirty="0"/>
          </a:p>
          <a:p>
            <a:pPr lvl="1" eaLnBrk="1" hangingPunct="1"/>
            <a:r>
              <a:rPr lang="zh-CN" altLang="en-US" dirty="0"/>
              <a:t>异常处理入口、</a:t>
            </a:r>
            <a:r>
              <a:rPr lang="en-US" altLang="zh-CN" dirty="0"/>
              <a:t>ERET</a:t>
            </a:r>
            <a:r>
              <a:rPr lang="zh-CN" altLang="en-US" dirty="0"/>
              <a:t>指令等</a:t>
            </a:r>
            <a:endParaRPr lang="en-US" altLang="zh-CN" dirty="0"/>
          </a:p>
          <a:p>
            <a:pPr eaLnBrk="1" hangingPunct="1"/>
            <a:r>
              <a:rPr lang="zh-CN" altLang="en-US" dirty="0"/>
              <a:t>访存和访问</a:t>
            </a:r>
            <a:r>
              <a:rPr lang="en-US" altLang="zh-CN" dirty="0"/>
              <a:t>I/O</a:t>
            </a:r>
            <a:r>
              <a:rPr lang="zh-CN" altLang="en-US" dirty="0"/>
              <a:t>的区别</a:t>
            </a:r>
            <a:endParaRPr lang="en-US" altLang="zh-CN" dirty="0"/>
          </a:p>
          <a:p>
            <a:pPr eaLnBrk="1" hangingPunct="1"/>
            <a:r>
              <a:rPr lang="zh-CN" altLang="en-US" dirty="0"/>
              <a:t>虚拟机：支持多操作系统的快速切换</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编译技术对指令系统的影响</a:t>
            </a:r>
          </a:p>
        </p:txBody>
      </p:sp>
      <p:sp>
        <p:nvSpPr>
          <p:cNvPr id="22531" name="内容占位符 2"/>
          <p:cNvSpPr>
            <a:spLocks noGrp="1"/>
          </p:cNvSpPr>
          <p:nvPr>
            <p:ph idx="1"/>
          </p:nvPr>
        </p:nvSpPr>
        <p:spPr>
          <a:xfrm>
            <a:off x="592138" y="974725"/>
            <a:ext cx="11006137" cy="5691188"/>
          </a:xfrm>
        </p:spPr>
        <p:txBody>
          <a:bodyPr vert="horz" wrap="square" lIns="91440" tIns="45720" rIns="91440" bIns="45720" anchor="t" anchorCtr="0"/>
          <a:lstStyle/>
          <a:p>
            <a:pPr eaLnBrk="1" hangingPunct="1">
              <a:spcBef>
                <a:spcPts val="300"/>
              </a:spcBef>
            </a:pPr>
            <a:r>
              <a:rPr lang="zh-CN" altLang="en-US" dirty="0"/>
              <a:t>指令是编译器的工作结果</a:t>
            </a:r>
            <a:endParaRPr lang="en-US" altLang="zh-CN" dirty="0"/>
          </a:p>
          <a:p>
            <a:pPr lvl="1" eaLnBrk="1" hangingPunct="1">
              <a:spcBef>
                <a:spcPts val="300"/>
              </a:spcBef>
            </a:pPr>
            <a:r>
              <a:rPr lang="zh-CN" altLang="en-US" dirty="0"/>
              <a:t>早期的指令系统主要考虑如何便于编程</a:t>
            </a:r>
            <a:endParaRPr lang="en-US" altLang="zh-CN" dirty="0"/>
          </a:p>
          <a:p>
            <a:pPr lvl="1" eaLnBrk="1" hangingPunct="1">
              <a:spcBef>
                <a:spcPts val="300"/>
              </a:spcBef>
            </a:pPr>
            <a:r>
              <a:rPr lang="zh-CN" altLang="en-US" dirty="0"/>
              <a:t>后期（如</a:t>
            </a:r>
            <a:r>
              <a:rPr lang="en-US" altLang="zh-CN" dirty="0"/>
              <a:t>RISC</a:t>
            </a:r>
            <a:r>
              <a:rPr lang="zh-CN" altLang="en-US" dirty="0"/>
              <a:t>）兼顾便于编程和实现效率</a:t>
            </a:r>
            <a:endParaRPr lang="en-US" altLang="zh-CN" dirty="0"/>
          </a:p>
          <a:p>
            <a:pPr eaLnBrk="1" hangingPunct="1">
              <a:spcBef>
                <a:spcPts val="300"/>
              </a:spcBef>
            </a:pPr>
            <a:r>
              <a:rPr lang="zh-CN" altLang="en-US" dirty="0"/>
              <a:t>指令功能</a:t>
            </a:r>
            <a:endParaRPr lang="en-US" altLang="zh-CN" dirty="0"/>
          </a:p>
          <a:p>
            <a:pPr lvl="1" eaLnBrk="1" hangingPunct="1">
              <a:spcBef>
                <a:spcPts val="300"/>
              </a:spcBef>
            </a:pPr>
            <a:r>
              <a:rPr lang="zh-CN" altLang="en-US" dirty="0"/>
              <a:t>只有简单指令，甚至乘法都由加法和移位来实现</a:t>
            </a:r>
            <a:endParaRPr lang="en-US" altLang="zh-CN" dirty="0"/>
          </a:p>
          <a:p>
            <a:pPr lvl="1" eaLnBrk="1" hangingPunct="1">
              <a:spcBef>
                <a:spcPts val="300"/>
              </a:spcBef>
            </a:pPr>
            <a:r>
              <a:rPr lang="zh-CN" altLang="en-US" dirty="0"/>
              <a:t>具有复杂指令，如除法、开方</a:t>
            </a:r>
            <a:endParaRPr lang="en-US" altLang="zh-CN" dirty="0"/>
          </a:p>
          <a:p>
            <a:pPr lvl="1" eaLnBrk="1" hangingPunct="1">
              <a:spcBef>
                <a:spcPts val="300"/>
              </a:spcBef>
            </a:pPr>
            <a:r>
              <a:rPr lang="zh-CN" altLang="en-US" dirty="0"/>
              <a:t>更复杂的函数由库函数实现（如</a:t>
            </a:r>
            <a:r>
              <a:rPr lang="en-US" altLang="zh-CN" dirty="0"/>
              <a:t>C</a:t>
            </a:r>
            <a:r>
              <a:rPr lang="zh-CN" altLang="en-US" dirty="0"/>
              <a:t>库）</a:t>
            </a:r>
            <a:endParaRPr lang="en-US" altLang="zh-CN" dirty="0"/>
          </a:p>
          <a:p>
            <a:pPr eaLnBrk="1" hangingPunct="1">
              <a:spcBef>
                <a:spcPts val="300"/>
              </a:spcBef>
            </a:pPr>
            <a:r>
              <a:rPr lang="zh-CN" altLang="en-US" dirty="0"/>
              <a:t>寄存器和存储器分配</a:t>
            </a:r>
            <a:endParaRPr lang="en-US" altLang="zh-CN" dirty="0"/>
          </a:p>
          <a:p>
            <a:pPr lvl="1" eaLnBrk="1" hangingPunct="1">
              <a:spcBef>
                <a:spcPts val="300"/>
              </a:spcBef>
            </a:pPr>
            <a:r>
              <a:rPr lang="zh-CN" altLang="en-US" dirty="0"/>
              <a:t>堆栈存放局部变量，全局数据区存放静态数据，堆存放动态数据</a:t>
            </a:r>
            <a:endParaRPr lang="en-US" altLang="zh-CN" dirty="0"/>
          </a:p>
          <a:p>
            <a:pPr lvl="1" eaLnBrk="1" hangingPunct="1">
              <a:spcBef>
                <a:spcPts val="300"/>
              </a:spcBef>
            </a:pPr>
            <a:r>
              <a:rPr lang="zh-CN" altLang="en-US" dirty="0"/>
              <a:t>为有效使用</a:t>
            </a:r>
            <a:r>
              <a:rPr lang="zh-CN" altLang="zh-CN" dirty="0"/>
              <a:t>图着色</a:t>
            </a:r>
            <a:r>
              <a:rPr lang="zh-CN" altLang="en-US" dirty="0"/>
              <a:t>启发式算法，至少需要</a:t>
            </a:r>
            <a:r>
              <a:rPr lang="en-US" altLang="zh-CN" dirty="0"/>
              <a:t>16</a:t>
            </a:r>
            <a:r>
              <a:rPr lang="zh-CN" altLang="en-US" dirty="0"/>
              <a:t>个通用寄存器</a:t>
            </a:r>
            <a:endParaRPr lang="en-US" altLang="zh-CN" dirty="0"/>
          </a:p>
          <a:p>
            <a:pPr eaLnBrk="1" hangingPunct="1">
              <a:spcBef>
                <a:spcPts val="300"/>
              </a:spcBef>
            </a:pPr>
            <a:r>
              <a:rPr lang="zh-CN" altLang="en-US" dirty="0"/>
              <a:t>简单规整，提高编译效率</a:t>
            </a:r>
            <a:endParaRPr lang="en-US" altLang="zh-CN" dirty="0"/>
          </a:p>
          <a:p>
            <a:pPr lvl="1" eaLnBrk="1" hangingPunct="1">
              <a:spcBef>
                <a:spcPts val="300"/>
              </a:spcBef>
            </a:pPr>
            <a:r>
              <a:rPr lang="zh-CN" altLang="en-US" dirty="0"/>
              <a:t>正交性，如所有访存指令都可用所有寻址方式</a:t>
            </a:r>
            <a:endParaRPr lang="en-US" altLang="zh-CN" dirty="0"/>
          </a:p>
          <a:p>
            <a:pPr lvl="1" eaLnBrk="1" hangingPunct="1">
              <a:spcBef>
                <a:spcPts val="300"/>
              </a:spcBef>
            </a:pPr>
            <a:r>
              <a:rPr lang="zh-CN" altLang="en-US" dirty="0"/>
              <a:t>简化编译器取舍，如允许编译时确定常量，只提供基本的通用操作等</a:t>
            </a: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应用对指令系统的影响</a:t>
            </a:r>
          </a:p>
        </p:txBody>
      </p:sp>
      <p:sp>
        <p:nvSpPr>
          <p:cNvPr id="23555" name="内容占位符 2"/>
          <p:cNvSpPr>
            <a:spLocks noGrp="1"/>
          </p:cNvSpPr>
          <p:nvPr>
            <p:ph idx="1"/>
          </p:nvPr>
        </p:nvSpPr>
        <p:spPr>
          <a:xfrm>
            <a:off x="914400" y="1554163"/>
            <a:ext cx="10361613" cy="4114800"/>
          </a:xfrm>
        </p:spPr>
        <p:txBody>
          <a:bodyPr vert="horz" wrap="square" lIns="91440" tIns="45720" rIns="91440" bIns="45720" anchor="t" anchorCtr="0"/>
          <a:lstStyle/>
          <a:p>
            <a:pPr eaLnBrk="1" hangingPunct="1"/>
            <a:r>
              <a:rPr lang="zh-CN" altLang="en-US" dirty="0"/>
              <a:t>指令系统归根到底是为应用设计的</a:t>
            </a:r>
            <a:endParaRPr lang="en-US" altLang="zh-CN" dirty="0"/>
          </a:p>
          <a:p>
            <a:pPr lvl="1" eaLnBrk="1" hangingPunct="1"/>
            <a:r>
              <a:rPr lang="zh-CN" altLang="en-US" dirty="0"/>
              <a:t>指令系统体系结构设计者对应用的精确理解</a:t>
            </a:r>
            <a:endParaRPr lang="en-US" altLang="zh-CN" dirty="0"/>
          </a:p>
          <a:p>
            <a:pPr lvl="1" eaLnBrk="1" hangingPunct="1"/>
            <a:r>
              <a:rPr lang="zh-CN" altLang="en-US" dirty="0"/>
              <a:t>指令系统随着应用的发展而发展，科学和工程技术、事务处理、网络和媒体处理等应用在指令系统上都有相应的体现</a:t>
            </a:r>
            <a:endParaRPr lang="en-US" altLang="zh-CN" dirty="0"/>
          </a:p>
          <a:p>
            <a:pPr eaLnBrk="1" hangingPunct="1"/>
            <a:r>
              <a:rPr lang="zh-CN" altLang="en-US" dirty="0"/>
              <a:t>应用要求指令系统保持兼容</a:t>
            </a:r>
            <a:endParaRPr lang="en-US" altLang="zh-CN" dirty="0"/>
          </a:p>
          <a:p>
            <a:pPr lvl="1" eaLnBrk="1" hangingPunct="1"/>
            <a:r>
              <a:rPr lang="zh-CN" altLang="en-US" dirty="0"/>
              <a:t>更新计算机时，兼容老的应用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
          <p:cNvSpPr>
            <a:spLocks noGrp="1"/>
          </p:cNvSpPr>
          <p:nvPr>
            <p:ph type="title"/>
          </p:nvPr>
        </p:nvSpPr>
        <p:spPr>
          <a:xfrm>
            <a:off x="914400" y="2560638"/>
            <a:ext cx="10361613" cy="1143000"/>
          </a:xfrm>
        </p:spPr>
        <p:txBody>
          <a:bodyPr vert="horz" wrap="square" lIns="91440" tIns="45720" rIns="91440" bIns="45720" anchor="ctr" anchorCtr="0"/>
          <a:lstStyle/>
          <a:p>
            <a:pPr eaLnBrk="1" hangingPunct="1"/>
            <a:r>
              <a:rPr lang="zh-CN" altLang="en-US" dirty="0"/>
              <a:t>指令系统的演变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（一）指令内容的演变</a:t>
            </a:r>
          </a:p>
        </p:txBody>
      </p:sp>
      <p:sp>
        <p:nvSpPr>
          <p:cNvPr id="32771" name="内容占位符 2"/>
          <p:cNvSpPr>
            <a:spLocks noGrp="1"/>
          </p:cNvSpPr>
          <p:nvPr>
            <p:ph idx="1"/>
          </p:nvPr>
        </p:nvSpPr>
        <p:spPr>
          <a:xfrm>
            <a:off x="514350" y="1266825"/>
            <a:ext cx="11242675" cy="5519738"/>
          </a:xfrm>
        </p:spPr>
        <p:txBody>
          <a:bodyPr vert="horz" wrap="square" lIns="91440" tIns="45720" rIns="91440" bIns="45720" anchor="t" anchorCtr="0"/>
          <a:lstStyle/>
          <a:p>
            <a:pPr eaLnBrk="1" hangingPunct="1"/>
            <a:r>
              <a:rPr lang="zh-CN" altLang="en-US" dirty="0"/>
              <a:t>依据指令长度的不同，指令系统分为</a:t>
            </a:r>
            <a:endParaRPr lang="en-US" altLang="zh-CN" dirty="0"/>
          </a:p>
          <a:p>
            <a:pPr lvl="1" eaLnBrk="1" hangingPunct="1"/>
            <a:r>
              <a:rPr lang="zh-CN" altLang="en-US" dirty="0"/>
              <a:t>复杂指令系统（</a:t>
            </a:r>
            <a:r>
              <a:rPr lang="en-US" altLang="zh-CN" dirty="0"/>
              <a:t>Complex Instruction Set Computer</a:t>
            </a:r>
            <a:r>
              <a:rPr lang="zh-CN" altLang="en-US" dirty="0"/>
              <a:t>，简称</a:t>
            </a:r>
            <a:r>
              <a:rPr lang="en-US" altLang="zh-CN" dirty="0"/>
              <a:t>CISC</a:t>
            </a:r>
            <a:r>
              <a:rPr lang="zh-CN" altLang="en-US" dirty="0"/>
              <a:t>），其指令长度可变（</a:t>
            </a:r>
            <a:r>
              <a:rPr lang="en-US" altLang="zh-CN" dirty="0"/>
              <a:t>x86: 1~15</a:t>
            </a:r>
            <a:r>
              <a:rPr lang="zh-CN" altLang="en-US" dirty="0"/>
              <a:t>字节）</a:t>
            </a:r>
            <a:endParaRPr lang="en-US" altLang="zh-CN" dirty="0"/>
          </a:p>
          <a:p>
            <a:pPr lvl="1" eaLnBrk="1" hangingPunct="1"/>
            <a:r>
              <a:rPr lang="zh-CN" altLang="en-US" dirty="0"/>
              <a:t>精简指令系统（</a:t>
            </a:r>
            <a:r>
              <a:rPr lang="en-US" altLang="zh-CN" dirty="0"/>
              <a:t>Reduced Instruction Set Computer</a:t>
            </a:r>
            <a:r>
              <a:rPr lang="zh-CN" altLang="en-US" dirty="0"/>
              <a:t>，简称</a:t>
            </a:r>
            <a:r>
              <a:rPr lang="en-US" altLang="zh-CN" dirty="0"/>
              <a:t>RISC</a:t>
            </a:r>
            <a:r>
              <a:rPr lang="zh-CN" altLang="en-US" dirty="0"/>
              <a:t>），其指令长度比较固定</a:t>
            </a:r>
            <a:endParaRPr lang="en-US" altLang="zh-CN" dirty="0"/>
          </a:p>
          <a:p>
            <a:pPr lvl="1" eaLnBrk="1" hangingPunct="1"/>
            <a:r>
              <a:rPr lang="zh-CN" altLang="en-US" dirty="0"/>
              <a:t>超长指令字（</a:t>
            </a:r>
            <a:r>
              <a:rPr lang="en-US" altLang="zh-CN" dirty="0"/>
              <a:t>Very Long Instruction Word</a:t>
            </a:r>
            <a:r>
              <a:rPr lang="zh-CN" altLang="en-US" dirty="0"/>
              <a:t>，简称</a:t>
            </a:r>
            <a:r>
              <a:rPr lang="en-US" altLang="zh-CN" dirty="0"/>
              <a:t>VLIW</a:t>
            </a:r>
            <a:r>
              <a:rPr lang="zh-CN" altLang="en-US" dirty="0"/>
              <a:t>），本质上是多条同时执行的指令的组合，其“同时执行”的特征由编译器指定，无需硬件进行判断</a:t>
            </a:r>
            <a:endParaRPr lang="en-US" altLang="zh-CN" dirty="0"/>
          </a:p>
          <a:p>
            <a:pPr eaLnBrk="1" hangingPunct="1"/>
            <a:r>
              <a:rPr lang="zh-CN" altLang="en-US" dirty="0"/>
              <a:t>总体上看</a:t>
            </a:r>
            <a:endParaRPr lang="en-US" altLang="zh-CN" dirty="0"/>
          </a:p>
          <a:p>
            <a:pPr lvl="1" eaLnBrk="1" hangingPunct="1"/>
            <a:r>
              <a:rPr lang="en-US" altLang="zh-CN" dirty="0">
                <a:solidFill>
                  <a:srgbClr val="FF0000"/>
                </a:solidFill>
              </a:rPr>
              <a:t>RISC</a:t>
            </a:r>
            <a:r>
              <a:rPr lang="zh-CN" altLang="en-US" dirty="0">
                <a:solidFill>
                  <a:srgbClr val="FF0000"/>
                </a:solidFill>
              </a:rPr>
              <a:t>技术</a:t>
            </a:r>
            <a:r>
              <a:rPr lang="zh-CN" altLang="en-US" dirty="0"/>
              <a:t>有利于指令流水线的高效实现（</a:t>
            </a:r>
            <a:r>
              <a:rPr lang="en-US" altLang="zh-CN" dirty="0"/>
              <a:t>X86</a:t>
            </a:r>
            <a:r>
              <a:rPr lang="zh-CN" altLang="en-US" dirty="0"/>
              <a:t>处理器内部也把</a:t>
            </a:r>
            <a:r>
              <a:rPr lang="en-US" altLang="zh-CN" dirty="0"/>
              <a:t>CISC</a:t>
            </a:r>
            <a:r>
              <a:rPr lang="zh-CN" altLang="en-US" dirty="0"/>
              <a:t>翻译成简单操作来优化流水线），</a:t>
            </a:r>
            <a:r>
              <a:rPr lang="en-US" altLang="zh-CN" dirty="0"/>
              <a:t>VLIW</a:t>
            </a:r>
            <a:r>
              <a:rPr lang="zh-CN" altLang="en-US" dirty="0"/>
              <a:t>技术用于指令流水线优化不是很成功</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RISC</a:t>
            </a:r>
            <a:r>
              <a:rPr lang="zh-CN" altLang="en-US" dirty="0"/>
              <a:t>、</a:t>
            </a:r>
            <a:r>
              <a:rPr lang="en-US" altLang="zh-CN" dirty="0"/>
              <a:t>CISC</a:t>
            </a:r>
            <a:r>
              <a:rPr lang="zh-CN" altLang="en-US" dirty="0"/>
              <a:t>、</a:t>
            </a:r>
            <a:r>
              <a:rPr lang="en-US" altLang="zh-CN" dirty="0"/>
              <a:t>VLIW</a:t>
            </a:r>
          </a:p>
        </p:txBody>
      </p:sp>
      <p:pic>
        <p:nvPicPr>
          <p:cNvPr id="33795" name="图片 3"/>
          <p:cNvPicPr>
            <a:picLocks noChangeAspect="1"/>
          </p:cNvPicPr>
          <p:nvPr/>
        </p:nvPicPr>
        <p:blipFill>
          <a:blip r:embed="rId2" cstate="print"/>
          <a:stretch>
            <a:fillRect/>
          </a:stretch>
        </p:blipFill>
        <p:spPr>
          <a:xfrm>
            <a:off x="1671638" y="1322388"/>
            <a:ext cx="8847137" cy="4840287"/>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CISC</a:t>
            </a:r>
            <a:endParaRPr lang="zh-CN" altLang="en-US" dirty="0"/>
          </a:p>
        </p:txBody>
      </p:sp>
      <p:sp>
        <p:nvSpPr>
          <p:cNvPr id="34819" name="内容占位符 2"/>
          <p:cNvSpPr>
            <a:spLocks noGrp="1"/>
          </p:cNvSpPr>
          <p:nvPr>
            <p:ph idx="1"/>
          </p:nvPr>
        </p:nvSpPr>
        <p:spPr>
          <a:xfrm>
            <a:off x="411163" y="1057275"/>
            <a:ext cx="9498012" cy="5391150"/>
          </a:xfrm>
        </p:spPr>
        <p:txBody>
          <a:bodyPr vert="horz" wrap="square" lIns="91440" tIns="45720" rIns="91440" bIns="45720" anchor="t" anchorCtr="0"/>
          <a:lstStyle/>
          <a:p>
            <a:pPr eaLnBrk="1" hangingPunct="1"/>
            <a:r>
              <a:rPr lang="zh-CN" altLang="en-US" dirty="0"/>
              <a:t>早期的</a:t>
            </a:r>
            <a:r>
              <a:rPr lang="en-US" altLang="zh-CN" dirty="0"/>
              <a:t>CPU</a:t>
            </a:r>
            <a:r>
              <a:rPr lang="zh-CN" altLang="en-US" dirty="0"/>
              <a:t>都采用</a:t>
            </a:r>
            <a:r>
              <a:rPr lang="en-US" altLang="zh-CN" dirty="0"/>
              <a:t>CISC</a:t>
            </a:r>
            <a:r>
              <a:rPr lang="zh-CN" altLang="en-US" dirty="0"/>
              <a:t>结构</a:t>
            </a:r>
            <a:endParaRPr lang="en-US" altLang="zh-CN" dirty="0"/>
          </a:p>
          <a:p>
            <a:pPr lvl="1" eaLnBrk="1" hangingPunct="1"/>
            <a:r>
              <a:rPr lang="en-US" altLang="zh-CN" dirty="0"/>
              <a:t>IBM System360</a:t>
            </a:r>
            <a:r>
              <a:rPr lang="zh-CN" altLang="en-US" dirty="0"/>
              <a:t>、</a:t>
            </a:r>
            <a:r>
              <a:rPr lang="en-US" altLang="zh-CN" dirty="0"/>
              <a:t>Intel 8080/8086</a:t>
            </a:r>
            <a:r>
              <a:rPr lang="zh-CN" altLang="en-US" dirty="0"/>
              <a:t>、</a:t>
            </a:r>
            <a:r>
              <a:rPr lang="en-US" altLang="zh-CN" dirty="0"/>
              <a:t>Motorola 68000</a:t>
            </a:r>
          </a:p>
          <a:p>
            <a:pPr lvl="1" eaLnBrk="1" hangingPunct="1"/>
            <a:r>
              <a:rPr lang="zh-CN" altLang="en-US" dirty="0"/>
              <a:t>一方面，昂贵的软硬件系统要求兼容性</a:t>
            </a:r>
            <a:endParaRPr lang="en-US" altLang="zh-CN" dirty="0"/>
          </a:p>
          <a:p>
            <a:pPr lvl="1" eaLnBrk="1" hangingPunct="1"/>
            <a:r>
              <a:rPr lang="zh-CN" altLang="en-US" dirty="0"/>
              <a:t>另一方面，指令集的不完善要求新增指令</a:t>
            </a:r>
            <a:endParaRPr lang="en-US" altLang="zh-CN" dirty="0"/>
          </a:p>
          <a:p>
            <a:pPr eaLnBrk="1" hangingPunct="1"/>
            <a:r>
              <a:rPr lang="zh-CN" altLang="en-US" dirty="0"/>
              <a:t>兼容性  </a:t>
            </a:r>
            <a:r>
              <a:rPr lang="en-US" altLang="zh-CN" dirty="0"/>
              <a:t>vs. </a:t>
            </a:r>
            <a:r>
              <a:rPr lang="zh-CN" altLang="en-US" dirty="0"/>
              <a:t>历史包袱</a:t>
            </a:r>
            <a:endParaRPr lang="en-US" altLang="zh-CN" dirty="0"/>
          </a:p>
          <a:p>
            <a:pPr lvl="1" eaLnBrk="1" hangingPunct="1"/>
            <a:r>
              <a:rPr lang="en-US" altLang="zh-CN" dirty="0"/>
              <a:t>X86</a:t>
            </a:r>
            <a:r>
              <a:rPr lang="zh-CN" altLang="en-US" dirty="0"/>
              <a:t>的辉煌和包袱</a:t>
            </a:r>
            <a:endParaRPr lang="en-US" altLang="zh-CN" dirty="0"/>
          </a:p>
          <a:p>
            <a:pPr marL="741680" lvl="2" indent="-341630" eaLnBrk="1" hangingPunct="1"/>
            <a:r>
              <a:rPr lang="zh-CN" altLang="en-US" dirty="0"/>
              <a:t>指令集臃肿导致实现复杂，降低常用指令的运行效率</a:t>
            </a:r>
            <a:endParaRPr lang="en-US" altLang="zh-CN" dirty="0"/>
          </a:p>
          <a:p>
            <a:pPr eaLnBrk="1" hangingPunct="1"/>
            <a:r>
              <a:rPr lang="zh-CN" altLang="en-US" dirty="0"/>
              <a:t>简单指令有利于高效实现</a:t>
            </a:r>
            <a:endParaRPr lang="en-US" altLang="zh-CN" dirty="0"/>
          </a:p>
          <a:p>
            <a:pPr lvl="1" eaLnBrk="1" hangingPunct="1"/>
            <a:r>
              <a:rPr lang="zh-CN" altLang="en-US" dirty="0"/>
              <a:t>程序中</a:t>
            </a:r>
            <a:r>
              <a:rPr lang="en-US" altLang="zh-CN" dirty="0"/>
              <a:t>80%</a:t>
            </a:r>
            <a:r>
              <a:rPr lang="zh-CN" altLang="en-US" dirty="0"/>
              <a:t>的指令只占指令集的</a:t>
            </a:r>
            <a:r>
              <a:rPr lang="en-US" altLang="zh-CN" dirty="0"/>
              <a:t>20%</a:t>
            </a:r>
          </a:p>
          <a:p>
            <a:pPr lvl="1" eaLnBrk="1" hangingPunct="1"/>
            <a:r>
              <a:rPr lang="en-US" altLang="zh-CN" dirty="0"/>
              <a:t>X86</a:t>
            </a:r>
            <a:r>
              <a:rPr lang="zh-CN" altLang="en-US" dirty="0"/>
              <a:t>指令通过内部译码后的微操作类似于</a:t>
            </a:r>
            <a:r>
              <a:rPr lang="en-US" altLang="zh-CN" dirty="0"/>
              <a:t>RISC</a:t>
            </a:r>
          </a:p>
        </p:txBody>
      </p:sp>
      <p:pic>
        <p:nvPicPr>
          <p:cNvPr id="34820" name="图片 29" descr="http://www.realworldtech.com/includes/images/articles/sandy-bridge-7.png"/>
          <p:cNvPicPr>
            <a:picLocks noChangeAspect="1"/>
          </p:cNvPicPr>
          <p:nvPr/>
        </p:nvPicPr>
        <p:blipFill>
          <a:blip r:embed="rId2" cstate="print"/>
          <a:stretch>
            <a:fillRect/>
          </a:stretch>
        </p:blipFill>
        <p:spPr>
          <a:xfrm>
            <a:off x="8486775" y="0"/>
            <a:ext cx="3703638" cy="6683375"/>
          </a:xfrm>
          <a:prstGeom prst="rect">
            <a:avLst/>
          </a:prstGeom>
          <a:noFill/>
          <a:ln w="9525">
            <a:noFill/>
          </a:ln>
        </p:spPr>
      </p:pic>
      <p:grpSp>
        <p:nvGrpSpPr>
          <p:cNvPr id="2" name="组合 6"/>
          <p:cNvGrpSpPr/>
          <p:nvPr/>
        </p:nvGrpSpPr>
        <p:grpSpPr>
          <a:xfrm>
            <a:off x="8836025" y="965200"/>
            <a:ext cx="3289300" cy="3557588"/>
            <a:chOff x="6627303" y="964734"/>
            <a:chExt cx="2467762" cy="3558333"/>
          </a:xfrm>
        </p:grpSpPr>
        <p:sp>
          <p:nvSpPr>
            <p:cNvPr id="34822" name="椭圆 4"/>
            <p:cNvSpPr/>
            <p:nvPr/>
          </p:nvSpPr>
          <p:spPr>
            <a:xfrm>
              <a:off x="6627303" y="964734"/>
              <a:ext cx="1904301" cy="427838"/>
            </a:xfrm>
            <a:prstGeom prst="ellipse">
              <a:avLst/>
            </a:prstGeom>
            <a:noFill/>
            <a:ln w="19050" cap="flat" cmpd="sng">
              <a:solidFill>
                <a:srgbClr val="FF0000"/>
              </a:solidFill>
              <a:prstDash val="solid"/>
              <a:headEnd type="none" w="med" len="med"/>
              <a:tailEnd type="none" w="med" len="med"/>
            </a:ln>
          </p:spPr>
          <p:txBody>
            <a:bodyPr/>
            <a:lstStyle/>
            <a:p>
              <a:pPr algn="ctr">
                <a:buFontTx/>
              </a:pPr>
              <a:endParaRPr lang="zh-CN" altLang="en-US" sz="2400" b="1" dirty="0">
                <a:latin typeface="Times New Roman" pitchFamily="18" charset="0"/>
              </a:endParaRPr>
            </a:p>
          </p:txBody>
        </p:sp>
        <p:sp>
          <p:nvSpPr>
            <p:cNvPr id="34823" name="椭圆 5"/>
            <p:cNvSpPr/>
            <p:nvPr/>
          </p:nvSpPr>
          <p:spPr>
            <a:xfrm>
              <a:off x="7190764" y="4095229"/>
              <a:ext cx="1904301" cy="427838"/>
            </a:xfrm>
            <a:prstGeom prst="ellipse">
              <a:avLst/>
            </a:prstGeom>
            <a:noFill/>
            <a:ln w="19050" cap="flat" cmpd="sng">
              <a:solidFill>
                <a:srgbClr val="FF0000"/>
              </a:solidFill>
              <a:prstDash val="solid"/>
              <a:headEnd type="none" w="med" len="med"/>
              <a:tailEnd type="none" w="med" len="med"/>
            </a:ln>
          </p:spPr>
          <p:txBody>
            <a:bodyPr/>
            <a:lstStyle/>
            <a:p>
              <a:pPr algn="ctr">
                <a:buFontTx/>
              </a:pPr>
              <a:endParaRPr lang="zh-CN" altLang="en-US" sz="2400" b="1" dirty="0">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VLIW</a:t>
            </a:r>
            <a:endParaRPr lang="zh-CN" altLang="en-US" dirty="0"/>
          </a:p>
        </p:txBody>
      </p:sp>
      <p:sp>
        <p:nvSpPr>
          <p:cNvPr id="34818" name="内容占位符 2"/>
          <p:cNvSpPr>
            <a:spLocks noGrp="1"/>
          </p:cNvSpPr>
          <p:nvPr>
            <p:ph idx="1"/>
          </p:nvPr>
        </p:nvSpPr>
        <p:spPr>
          <a:xfrm>
            <a:off x="914400" y="1636713"/>
            <a:ext cx="10361613" cy="4114800"/>
          </a:xfrm>
        </p:spPr>
        <p:txBody>
          <a:bodyPr vert="horz" wrap="square" lIns="91440" tIns="45720" rIns="91440" bIns="45720" numCol="1" anchor="t" anchorCtr="0" compatLnSpc="1"/>
          <a:lstStyle/>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指令级并行（</a:t>
            </a:r>
            <a:r>
              <a:rPr kumimoji="0" lang="en-US" altLang="zh-CN" sz="2000" b="1" i="0" u="none" strike="noStrike" kern="0" cap="none" spc="0" normalizeH="0" baseline="0" noProof="1">
                <a:ln>
                  <a:noFill/>
                </a:ln>
                <a:solidFill>
                  <a:schemeClr val="tx1"/>
                </a:solidFill>
                <a:effectLst/>
                <a:uLnTx/>
                <a:uFillTx/>
                <a:latin typeface="+mn-ea"/>
                <a:ea typeface="+mn-ea"/>
                <a:cs typeface="+mn-cs"/>
              </a:rPr>
              <a:t>Instruction Level Parallelism</a:t>
            </a:r>
            <a:r>
              <a:rPr kumimoji="0" lang="zh-CN" altLang="en-US" sz="2000" b="1" i="0" u="none" strike="noStrike" kern="0" cap="none" spc="0" normalizeH="0" baseline="0" noProof="1">
                <a:ln>
                  <a:noFill/>
                </a:ln>
                <a:solidFill>
                  <a:schemeClr val="tx1"/>
                </a:solidFill>
                <a:effectLst/>
                <a:uLnTx/>
                <a:uFillTx/>
                <a:latin typeface="+mn-ea"/>
                <a:ea typeface="+mn-ea"/>
                <a:cs typeface="+mn-cs"/>
              </a:rPr>
              <a:t>，简称</a:t>
            </a:r>
            <a:r>
              <a:rPr kumimoji="0" lang="en-US" altLang="zh-CN" sz="2000" b="1" i="0" u="none" strike="noStrike" kern="0" cap="none" spc="0" normalizeH="0" baseline="0" noProof="1">
                <a:ln>
                  <a:noFill/>
                </a:ln>
                <a:solidFill>
                  <a:schemeClr val="tx1"/>
                </a:solidFill>
                <a:effectLst/>
                <a:uLnTx/>
                <a:uFillTx/>
                <a:latin typeface="+mn-ea"/>
                <a:ea typeface="+mn-ea"/>
                <a:cs typeface="+mn-cs"/>
              </a:rPr>
              <a:t>ILP</a:t>
            </a:r>
            <a:r>
              <a:rPr kumimoji="0" lang="zh-CN" altLang="en-US" sz="2000" b="1" i="0" u="none" strike="noStrike" kern="0" cap="none" spc="0" normalizeH="0" baseline="0" noProof="1">
                <a:ln>
                  <a:noFill/>
                </a:ln>
                <a:solidFill>
                  <a:schemeClr val="tx1"/>
                </a:solidFill>
                <a:effectLst/>
                <a:uLnTx/>
                <a:uFillTx/>
                <a:latin typeface="+mn-ea"/>
                <a:ea typeface="+mn-ea"/>
                <a:cs typeface="+mn-cs"/>
              </a:rPr>
              <a:t>）的极端</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同一个指令字中的多条指令不存在相关</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对编译器提出了更多的要求</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0" cap="none" spc="0" normalizeH="0" baseline="0" noProof="1">
                <a:ln>
                  <a:noFill/>
                </a:ln>
                <a:solidFill>
                  <a:schemeClr val="tx1"/>
                </a:solidFill>
                <a:effectLst/>
                <a:uLnTx/>
                <a:uFillTx/>
                <a:latin typeface="+mn-ea"/>
                <a:ea typeface="+mn-ea"/>
                <a:cs typeface="+mn-cs"/>
              </a:rPr>
              <a:t>TRACE</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Itanium</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IA-64</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p>
          <a:p>
            <a:pPr marL="720090" marR="0" lvl="1" indent="-360045"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Intel</a:t>
            </a:r>
            <a:r>
              <a:rPr kumimoji="0" lang="zh-CN" altLang="en-US" sz="1600" b="1" i="0" u="none" strike="noStrike" kern="0" cap="none" spc="0" normalizeH="0" baseline="0" noProof="1">
                <a:ln>
                  <a:noFill/>
                </a:ln>
                <a:solidFill>
                  <a:schemeClr val="tx1"/>
                </a:solidFill>
                <a:effectLst/>
                <a:uLnTx/>
                <a:uFillTx/>
                <a:latin typeface="+mn-ea"/>
                <a:ea typeface="+mn-ea"/>
                <a:cs typeface="+mn-ea"/>
              </a:rPr>
              <a:t>在</a:t>
            </a:r>
            <a:r>
              <a:rPr kumimoji="0" lang="en-US" altLang="zh-CN" sz="1600" b="1" i="0" u="none" strike="noStrike" kern="0" cap="none" spc="0" normalizeH="0" baseline="0" noProof="1">
                <a:ln>
                  <a:noFill/>
                </a:ln>
                <a:solidFill>
                  <a:schemeClr val="tx1"/>
                </a:solidFill>
                <a:effectLst/>
                <a:uLnTx/>
                <a:uFillTx/>
                <a:latin typeface="+mn-ea"/>
                <a:ea typeface="+mn-ea"/>
                <a:cs typeface="+mn-ea"/>
              </a:rPr>
              <a:t>IA64</a:t>
            </a:r>
            <a:r>
              <a:rPr kumimoji="0" lang="zh-CN" altLang="en-US" sz="1600" b="1" i="0" u="none" strike="noStrike" kern="0" cap="none" spc="0" normalizeH="0" baseline="0" noProof="1">
                <a:ln>
                  <a:noFill/>
                </a:ln>
                <a:solidFill>
                  <a:schemeClr val="tx1"/>
                </a:solidFill>
                <a:effectLst/>
                <a:uLnTx/>
                <a:uFillTx/>
                <a:latin typeface="+mn-ea"/>
                <a:ea typeface="+mn-ea"/>
                <a:cs typeface="+mn-ea"/>
              </a:rPr>
              <a:t>中上了</a:t>
            </a:r>
            <a:r>
              <a:rPr kumimoji="0" lang="en-US" altLang="zh-CN" sz="1600" b="1" i="0" u="none" strike="noStrike" kern="0" cap="none" spc="0" normalizeH="0" baseline="0" noProof="1">
                <a:ln>
                  <a:noFill/>
                </a:ln>
                <a:solidFill>
                  <a:schemeClr val="tx1"/>
                </a:solidFill>
                <a:effectLst/>
                <a:uLnTx/>
                <a:uFillTx/>
                <a:latin typeface="+mn-ea"/>
                <a:ea typeface="+mn-ea"/>
                <a:cs typeface="+mn-ea"/>
              </a:rPr>
              <a:t>HP</a:t>
            </a:r>
            <a:r>
              <a:rPr kumimoji="0" lang="zh-CN" altLang="en-US" sz="1600" b="1" i="0" u="none" strike="noStrike" kern="0" cap="none" spc="0" normalizeH="0" baseline="0" noProof="1">
                <a:ln>
                  <a:noFill/>
                </a:ln>
                <a:solidFill>
                  <a:schemeClr val="tx1"/>
                </a:solidFill>
                <a:effectLst/>
                <a:uLnTx/>
                <a:uFillTx/>
                <a:latin typeface="+mn-ea"/>
                <a:ea typeface="+mn-ea"/>
                <a:cs typeface="+mn-ea"/>
              </a:rPr>
              <a:t>的当</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应用在早期的</a:t>
            </a:r>
            <a:r>
              <a:rPr kumimoji="0" lang="en-US" altLang="zh-CN" sz="2000" b="1" i="0" u="none" strike="noStrike" kern="0" cap="none" spc="0" normalizeH="0" baseline="0" noProof="1">
                <a:ln>
                  <a:noFill/>
                </a:ln>
                <a:solidFill>
                  <a:schemeClr val="tx1"/>
                </a:solidFill>
                <a:effectLst/>
                <a:uLnTx/>
                <a:uFillTx/>
                <a:latin typeface="+mn-ea"/>
                <a:ea typeface="+mn-ea"/>
                <a:cs typeface="+mn-cs"/>
              </a:rPr>
              <a:t>GPU</a:t>
            </a:r>
            <a:r>
              <a:rPr kumimoji="0" lang="zh-CN" altLang="en-US" sz="2000" b="1" i="0" u="none" strike="noStrike" kern="0" cap="none" spc="0" normalizeH="0" baseline="0" noProof="1">
                <a:ln>
                  <a:noFill/>
                </a:ln>
                <a:solidFill>
                  <a:schemeClr val="tx1"/>
                </a:solidFill>
                <a:effectLst/>
                <a:uLnTx/>
                <a:uFillTx/>
                <a:latin typeface="+mn-ea"/>
                <a:ea typeface="+mn-ea"/>
                <a:cs typeface="+mn-cs"/>
              </a:rPr>
              <a:t>中，</a:t>
            </a:r>
            <a:r>
              <a:rPr kumimoji="0" lang="en-US" altLang="zh-CN" sz="2000" b="1" i="0" u="none" strike="noStrike" kern="0" cap="none" spc="0" normalizeH="0" baseline="0" noProof="1">
                <a:ln>
                  <a:noFill/>
                </a:ln>
                <a:solidFill>
                  <a:schemeClr val="tx1"/>
                </a:solidFill>
                <a:effectLst/>
                <a:uLnTx/>
                <a:uFillTx/>
                <a:latin typeface="+mn-ea"/>
                <a:ea typeface="+mn-ea"/>
                <a:cs typeface="+mn-cs"/>
              </a:rPr>
              <a:t>GPGPU</a:t>
            </a:r>
            <a:r>
              <a:rPr kumimoji="0" lang="zh-CN" altLang="en-US" sz="2000" b="1" i="0" u="none" strike="noStrike" kern="0" cap="none" spc="0" normalizeH="0" baseline="0" noProof="1">
                <a:ln>
                  <a:noFill/>
                </a:ln>
                <a:solidFill>
                  <a:schemeClr val="tx1"/>
                </a:solidFill>
                <a:effectLst/>
                <a:uLnTx/>
                <a:uFillTx/>
                <a:latin typeface="+mn-ea"/>
                <a:ea typeface="+mn-ea"/>
                <a:cs typeface="+mn-cs"/>
              </a:rPr>
              <a:t>发展后遭弃用</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AMD</a:t>
            </a:r>
            <a:r>
              <a:rPr kumimoji="0" lang="zh-CN" altLang="en-US" sz="1600" b="1" i="0" u="none" strike="noStrike" kern="0" cap="none" spc="0" normalizeH="0" baseline="0" noProof="1">
                <a:ln>
                  <a:noFill/>
                </a:ln>
                <a:solidFill>
                  <a:schemeClr val="tx1"/>
                </a:solidFill>
                <a:effectLst/>
                <a:uLnTx/>
                <a:uFillTx/>
                <a:latin typeface="+mn-ea"/>
                <a:ea typeface="+mn-ea"/>
                <a:cs typeface="+mn-ea"/>
              </a:rPr>
              <a:t>转向了</a:t>
            </a:r>
            <a:r>
              <a:rPr kumimoji="0" lang="en-US" altLang="zh-CN" sz="1600" b="1" i="0" u="none" strike="noStrike" kern="0" cap="none" spc="0" normalizeH="0" baseline="0" noProof="1">
                <a:ln>
                  <a:noFill/>
                </a:ln>
                <a:solidFill>
                  <a:schemeClr val="tx1"/>
                </a:solidFill>
                <a:effectLst/>
                <a:uLnTx/>
                <a:uFillTx/>
                <a:latin typeface="+mn-ea"/>
                <a:ea typeface="+mn-ea"/>
                <a:cs typeface="+mn-ea"/>
              </a:rPr>
              <a:t>SIMT</a:t>
            </a:r>
            <a:r>
              <a:rPr kumimoji="0" lang="zh-CN" altLang="en-US" sz="1600" b="1" i="0" u="none" strike="noStrike" kern="0" cap="none" spc="0" normalizeH="0" baseline="0" noProof="1">
                <a:ln>
                  <a:noFill/>
                </a:ln>
                <a:solidFill>
                  <a:schemeClr val="tx1"/>
                </a:solidFill>
                <a:effectLst/>
                <a:uLnTx/>
                <a:uFillTx/>
                <a:latin typeface="+mn-ea"/>
                <a:ea typeface="+mn-ea"/>
                <a:cs typeface="+mn-ea"/>
              </a:rPr>
              <a:t>的</a:t>
            </a:r>
            <a:r>
              <a:rPr kumimoji="0" lang="en-US" altLang="zh-CN" sz="1600" b="1" i="0" u="none" strike="noStrike" kern="0" cap="none" spc="0" normalizeH="0" baseline="0" noProof="1">
                <a:ln>
                  <a:noFill/>
                </a:ln>
                <a:solidFill>
                  <a:schemeClr val="tx1"/>
                </a:solidFill>
                <a:effectLst/>
                <a:uLnTx/>
                <a:uFillTx/>
                <a:latin typeface="+mn-ea"/>
                <a:ea typeface="+mn-ea"/>
                <a:cs typeface="+mn-ea"/>
              </a:rPr>
              <a:t>GCN</a:t>
            </a:r>
            <a:r>
              <a:rPr kumimoji="0" lang="zh-CN" altLang="en-US" sz="1600" b="1" i="0" u="none" strike="noStrike" kern="0" cap="none" spc="0" normalizeH="0" baseline="0" noProof="1">
                <a:ln>
                  <a:noFill/>
                </a:ln>
                <a:solidFill>
                  <a:schemeClr val="tx1"/>
                </a:solidFill>
                <a:effectLst/>
                <a:uLnTx/>
                <a:uFillTx/>
                <a:latin typeface="+mn-ea"/>
                <a:ea typeface="+mn-ea"/>
                <a:cs typeface="+mn-ea"/>
              </a:rPr>
              <a:t>架构</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RISC</a:t>
            </a:r>
            <a:endParaRPr lang="zh-CN" altLang="en-US" dirty="0"/>
          </a:p>
        </p:txBody>
      </p:sp>
      <p:sp>
        <p:nvSpPr>
          <p:cNvPr id="33794" name="内容占位符 2"/>
          <p:cNvSpPr>
            <a:spLocks noGrp="1"/>
          </p:cNvSpPr>
          <p:nvPr>
            <p:ph idx="1"/>
          </p:nvPr>
        </p:nvSpPr>
        <p:spPr>
          <a:xfrm>
            <a:off x="914400" y="1143000"/>
            <a:ext cx="10361613" cy="5076825"/>
          </a:xfrm>
        </p:spPr>
        <p:txBody>
          <a:bodyPr vert="horz" wrap="square" lIns="91440" tIns="45720" rIns="91440" bIns="45720" numCol="1" anchor="t" anchorCtr="0" compatLnSpc="1"/>
          <a:lstStyle/>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核心思路：简化</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简化指令功能：执行时间短</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简化指令编码：译码简单</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简化访存类型：访存和运算分开</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en-US" sz="2000" b="1" i="0" u="none" strike="noStrike" kern="0" cap="none" spc="0" normalizeH="0" baseline="0" noProof="1">
                <a:ln>
                  <a:noFill/>
                </a:ln>
                <a:solidFill>
                  <a:srgbClr val="FF0000"/>
                </a:solidFill>
                <a:effectLst/>
                <a:uLnTx/>
                <a:uFillTx/>
                <a:latin typeface="+mn-ea"/>
                <a:ea typeface="+mn-ea"/>
                <a:cs typeface="+mn-cs"/>
                <a:sym typeface="+mn-ea"/>
              </a:rPr>
              <a:t>RISC</a:t>
            </a:r>
            <a:r>
              <a:rPr kumimoji="0" lang="zh-CN" altLang="en-US" sz="2000" b="1" i="0" u="none" strike="noStrike" kern="0" cap="none" spc="0" normalizeH="0" baseline="0" noProof="1">
                <a:ln>
                  <a:noFill/>
                </a:ln>
                <a:solidFill>
                  <a:srgbClr val="FF0000"/>
                </a:solidFill>
                <a:effectLst/>
                <a:uLnTx/>
                <a:uFillTx/>
                <a:latin typeface="+mn-ea"/>
                <a:ea typeface="+mn-ea"/>
                <a:cs typeface="+mn-cs"/>
                <a:sym typeface="+mn-ea"/>
              </a:rPr>
              <a:t>的精髓：简化指令间关系，有利于指令流水线高效实现</a:t>
            </a:r>
            <a:endParaRPr kumimoji="0" lang="en-US" altLang="zh-CN" sz="2000" b="1" i="0" u="none" strike="noStrike" kern="0" cap="none" spc="0" normalizeH="0" baseline="0" noProof="1">
              <a:ln>
                <a:noFill/>
              </a:ln>
              <a:solidFill>
                <a:srgbClr val="FF0000"/>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例：</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R1=R2+R3</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R4=R5+R6</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不相关，</a:t>
            </a:r>
          </a:p>
          <a:p>
            <a:pPr marL="360680" marR="0" lvl="1" indent="0" algn="l" defTabSz="914400" rtl="0" eaLnBrk="1" fontAlgn="base" latinLnBrk="0" hangingPunct="1">
              <a:lnSpc>
                <a:spcPct val="150000"/>
              </a:lnSpc>
              <a:spcBef>
                <a:spcPts val="600"/>
              </a:spcBef>
              <a:spcAft>
                <a:spcPct val="0"/>
              </a:spcAft>
              <a:buClrTx/>
              <a:buSzTx/>
              <a:buFontTx/>
              <a:buNone/>
              <a:defRPr/>
            </a:pP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       (R1)=(R2)+(R3)</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(R4)=(R5)+(R6)</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可能相关</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Load/store</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结构：</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sin/cos</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这种复杂运算也是</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RISC</a:t>
            </a:r>
            <a:endParaRPr kumimoji="0" lang="zh-CN" altLang="en-US"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0" cap="none" spc="0" normalizeH="0" baseline="0" noProof="1">
                <a:ln>
                  <a:noFill/>
                </a:ln>
                <a:solidFill>
                  <a:schemeClr val="tx1"/>
                </a:solidFill>
                <a:effectLst/>
                <a:uLnTx/>
                <a:uFillTx/>
                <a:latin typeface="+mn-ea"/>
                <a:ea typeface="+mn-ea"/>
                <a:cs typeface="+mn-cs"/>
              </a:rPr>
              <a:t>Power</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MIPS</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ARM</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SPARC</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r>
              <a:rPr kumimoji="0" lang="en-US" altLang="zh-CN" sz="2000" b="1" i="0" u="none" strike="noStrike" kern="0" cap="none" spc="0" normalizeH="0" baseline="0" noProof="1">
                <a:ln>
                  <a:noFill/>
                </a:ln>
                <a:solidFill>
                  <a:schemeClr val="tx1"/>
                </a:solidFill>
                <a:effectLst/>
                <a:uLnTx/>
                <a:uFillTx/>
                <a:latin typeface="+mn-ea"/>
                <a:ea typeface="+mn-ea"/>
                <a:cs typeface="+mn-cs"/>
              </a:rPr>
              <a:t>Alpha……</a:t>
            </a:r>
          </a:p>
          <a:p>
            <a:pPr marL="720090" marR="0" lvl="1" indent="-360045" algn="l" defTabSz="914400" rtl="0" eaLnBrk="1" fontAlgn="base" latinLnBrk="0" hangingPunct="1">
              <a:lnSpc>
                <a:spcPct val="150000"/>
              </a:lnSpc>
              <a:spcBef>
                <a:spcPts val="600"/>
              </a:spcBef>
              <a:spcAft>
                <a:spcPct val="0"/>
              </a:spcAft>
              <a:buClrTx/>
              <a:buSzTx/>
              <a:buFontTx/>
              <a:buChar char="•"/>
              <a:defRPr/>
            </a:pPr>
            <a:r>
              <a:rPr kumimoji="0" lang="en-US" altLang="en-US" sz="1600" b="1" i="0" u="none" strike="noStrike" kern="0" cap="none" spc="0" normalizeH="0" baseline="0" noProof="1">
                <a:ln>
                  <a:noFill/>
                </a:ln>
                <a:solidFill>
                  <a:schemeClr val="tx1"/>
                </a:solidFill>
                <a:effectLst/>
                <a:uLnTx/>
                <a:uFillTx/>
                <a:latin typeface="+mn-ea"/>
                <a:ea typeface="+mn-ea"/>
                <a:cs typeface="+mn-ea"/>
              </a:rPr>
              <a:t>X</a:t>
            </a:r>
            <a:r>
              <a:rPr kumimoji="0" lang="en-US" altLang="zh-CN" sz="1600" b="1" i="0" u="none" strike="noStrike" kern="0" cap="none" spc="0" normalizeH="0" baseline="0" noProof="1">
                <a:ln>
                  <a:noFill/>
                </a:ln>
                <a:solidFill>
                  <a:schemeClr val="tx1"/>
                </a:solidFill>
                <a:effectLst/>
                <a:uLnTx/>
                <a:uFillTx/>
                <a:latin typeface="+mn-ea"/>
                <a:ea typeface="+mn-ea"/>
                <a:cs typeface="+mn-ea"/>
              </a:rPr>
              <a:t>86</a:t>
            </a:r>
            <a:r>
              <a:rPr kumimoji="0" lang="zh-CN" altLang="en-US" sz="1600" b="1" i="0" u="none" strike="noStrike" kern="0" cap="none" spc="0" normalizeH="0" baseline="0" noProof="1">
                <a:ln>
                  <a:noFill/>
                </a:ln>
                <a:solidFill>
                  <a:schemeClr val="tx1"/>
                </a:solidFill>
                <a:effectLst/>
                <a:uLnTx/>
                <a:uFillTx/>
                <a:latin typeface="+mn-ea"/>
                <a:ea typeface="+mn-ea"/>
                <a:cs typeface="+mn-ea"/>
              </a:rPr>
              <a:t>处理器在译码后也采用类</a:t>
            </a:r>
            <a:r>
              <a:rPr kumimoji="0" lang="en-US" altLang="zh-CN" sz="1600" b="1" i="0" u="none" strike="noStrike" kern="0" cap="none" spc="0" normalizeH="0" baseline="0" noProof="1">
                <a:ln>
                  <a:noFill/>
                </a:ln>
                <a:solidFill>
                  <a:schemeClr val="tx1"/>
                </a:solidFill>
                <a:effectLst/>
                <a:uLnTx/>
                <a:uFillTx/>
                <a:latin typeface="+mn-ea"/>
                <a:ea typeface="+mn-ea"/>
                <a:cs typeface="+mn-ea"/>
              </a:rPr>
              <a:t>RISC</a:t>
            </a:r>
            <a:r>
              <a:rPr kumimoji="0" lang="zh-CN" altLang="en-US" sz="1600" b="1" i="0" u="none" strike="noStrike" kern="0" cap="none" spc="0" normalizeH="0" baseline="0" noProof="1">
                <a:ln>
                  <a:noFill/>
                </a:ln>
                <a:solidFill>
                  <a:schemeClr val="tx1"/>
                </a:solidFill>
                <a:effectLst/>
                <a:uLnTx/>
                <a:uFillTx/>
                <a:latin typeface="+mn-ea"/>
                <a:ea typeface="+mn-ea"/>
                <a:cs typeface="+mn-ea"/>
              </a:rPr>
              <a:t>内部操作有利于高效实现</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914400" y="304800"/>
            <a:ext cx="10361613" cy="533400"/>
          </a:xfrm>
        </p:spPr>
        <p:txBody>
          <a:bodyPr vert="horz" wrap="square" lIns="91440" tIns="45720" rIns="91440" bIns="45720" anchor="ctr" anchorCtr="0"/>
          <a:lstStyle/>
          <a:p>
            <a:pPr eaLnBrk="1" hangingPunct="1"/>
            <a:r>
              <a:rPr lang="en-US" altLang="zh-CN" dirty="0"/>
              <a:t>RISC</a:t>
            </a:r>
            <a:r>
              <a:rPr lang="zh-CN" altLang="en-US" dirty="0"/>
              <a:t>发展过程（</a:t>
            </a:r>
            <a:r>
              <a:rPr lang="en-US" altLang="zh-CN" dirty="0"/>
              <a:t>1</a:t>
            </a:r>
            <a:r>
              <a:rPr lang="zh-CN" altLang="en-US" dirty="0"/>
              <a:t>）</a:t>
            </a:r>
          </a:p>
        </p:txBody>
      </p:sp>
      <p:sp>
        <p:nvSpPr>
          <p:cNvPr id="36867" name="Rectangle 3"/>
          <p:cNvSpPr>
            <a:spLocks noGrp="1"/>
          </p:cNvSpPr>
          <p:nvPr>
            <p:ph idx="1"/>
          </p:nvPr>
        </p:nvSpPr>
        <p:spPr>
          <a:xfrm>
            <a:off x="477838" y="1203325"/>
            <a:ext cx="11393487" cy="5191125"/>
          </a:xfrm>
        </p:spPr>
        <p:txBody>
          <a:bodyPr vert="horz" wrap="square" lIns="91440" tIns="45720" rIns="91440" bIns="45720" anchor="t" anchorCtr="0"/>
          <a:lstStyle/>
          <a:p>
            <a:pPr eaLnBrk="1" hangingPunct="1"/>
            <a:r>
              <a:rPr lang="en-US" altLang="zh-CN" dirty="0"/>
              <a:t>1964</a:t>
            </a:r>
            <a:r>
              <a:rPr lang="zh-CN" altLang="en-US" dirty="0"/>
              <a:t>年</a:t>
            </a:r>
            <a:r>
              <a:rPr lang="en-US" altLang="zh-CN" dirty="0"/>
              <a:t>CDC</a:t>
            </a:r>
            <a:r>
              <a:rPr lang="zh-CN" altLang="en-US" dirty="0"/>
              <a:t>公司推出的</a:t>
            </a:r>
            <a:r>
              <a:rPr lang="en-US" altLang="zh-CN" dirty="0"/>
              <a:t>CDC 6600</a:t>
            </a:r>
            <a:r>
              <a:rPr lang="zh-CN" altLang="zh-CN" dirty="0"/>
              <a:t>是第一台超级计算机，具备了</a:t>
            </a:r>
            <a:r>
              <a:rPr lang="en-US" altLang="zh-CN" dirty="0"/>
              <a:t>RISC</a:t>
            </a:r>
            <a:r>
              <a:rPr lang="zh-CN" altLang="zh-CN" dirty="0"/>
              <a:t>的一些基本特征</a:t>
            </a:r>
          </a:p>
          <a:p>
            <a:pPr lvl="1" eaLnBrk="1" hangingPunct="1"/>
            <a:r>
              <a:rPr lang="en-US" altLang="zh-CN" dirty="0"/>
              <a:t>CDC 6600</a:t>
            </a:r>
            <a:r>
              <a:rPr lang="zh-CN" altLang="en-US" dirty="0"/>
              <a:t>的设计者认识到为了实现有效的流水技术，需要简化体系结构：</a:t>
            </a:r>
            <a:r>
              <a:rPr lang="en-US" altLang="zh-CN" dirty="0">
                <a:solidFill>
                  <a:srgbClr val="FF0000"/>
                </a:solidFill>
              </a:rPr>
              <a:t>Load-Store</a:t>
            </a:r>
            <a:r>
              <a:rPr lang="zh-CN" altLang="zh-CN" dirty="0">
                <a:solidFill>
                  <a:srgbClr val="FF0000"/>
                </a:solidFill>
              </a:rPr>
              <a:t>结构</a:t>
            </a:r>
          </a:p>
          <a:p>
            <a:pPr lvl="1" eaLnBrk="1" hangingPunct="1"/>
            <a:r>
              <a:rPr lang="zh-CN" altLang="zh-CN" dirty="0"/>
              <a:t>记分板</a:t>
            </a:r>
            <a:r>
              <a:rPr lang="zh-CN" altLang="en-US" dirty="0"/>
              <a:t>（</a:t>
            </a:r>
            <a:r>
              <a:rPr lang="en-US" altLang="zh-CN" dirty="0"/>
              <a:t>Score-Boarding</a:t>
            </a:r>
            <a:r>
              <a:rPr lang="zh-CN" altLang="en-US" dirty="0"/>
              <a:t>）动态流水线调度</a:t>
            </a:r>
          </a:p>
          <a:p>
            <a:pPr lvl="1" eaLnBrk="1" hangingPunct="1"/>
            <a:r>
              <a:rPr lang="zh-CN" altLang="en-US" dirty="0"/>
              <a:t>乱序执行（</a:t>
            </a:r>
            <a:r>
              <a:rPr lang="en-US" altLang="zh-CN" dirty="0"/>
              <a:t>Out-of-Order</a:t>
            </a:r>
            <a:r>
              <a:rPr lang="zh-CN" altLang="en-US" dirty="0"/>
              <a:t>）技术</a:t>
            </a:r>
          </a:p>
          <a:p>
            <a:pPr eaLnBrk="1" hangingPunct="1"/>
            <a:r>
              <a:rPr lang="zh-CN" altLang="zh-CN" dirty="0"/>
              <a:t>1976年的</a:t>
            </a:r>
            <a:r>
              <a:rPr lang="en-US" altLang="zh-CN" dirty="0"/>
              <a:t>Cray-1</a:t>
            </a:r>
            <a:r>
              <a:rPr lang="zh-CN" altLang="en-US" dirty="0"/>
              <a:t>向量机</a:t>
            </a:r>
            <a:r>
              <a:rPr lang="zh-CN" altLang="zh-CN" dirty="0"/>
              <a:t>使用了与</a:t>
            </a:r>
            <a:r>
              <a:rPr lang="en-US" altLang="zh-CN" dirty="0"/>
              <a:t>CDC 6600</a:t>
            </a:r>
            <a:r>
              <a:rPr lang="zh-CN" altLang="zh-CN" dirty="0"/>
              <a:t>类似想法</a:t>
            </a:r>
          </a:p>
          <a:p>
            <a:pPr lvl="1" eaLnBrk="1" hangingPunct="1"/>
            <a:r>
              <a:rPr lang="en-US" altLang="zh-CN" dirty="0"/>
              <a:t>Cray</a:t>
            </a:r>
            <a:r>
              <a:rPr lang="zh-CN" altLang="en-US" dirty="0"/>
              <a:t>是</a:t>
            </a:r>
            <a:r>
              <a:rPr lang="en-US" altLang="zh-CN" dirty="0"/>
              <a:t>CDC 6600</a:t>
            </a:r>
            <a:r>
              <a:rPr lang="zh-CN" altLang="en-US" dirty="0"/>
              <a:t>的主要设计者之一</a:t>
            </a:r>
          </a:p>
          <a:p>
            <a:pPr eaLnBrk="1" hangingPunct="1"/>
            <a:r>
              <a:rPr lang="zh-CN" altLang="en-US" dirty="0"/>
              <a:t>上述简化结构以高效实现的想法在</a:t>
            </a:r>
            <a:r>
              <a:rPr lang="en-US" altLang="zh-CN" dirty="0"/>
              <a:t>60-70</a:t>
            </a:r>
            <a:r>
              <a:rPr lang="zh-CN" altLang="en-US" dirty="0"/>
              <a:t>年代没有受到小型机和微处理器设计者的重视</a:t>
            </a:r>
          </a:p>
        </p:txBody>
      </p:sp>
      <p:sp>
        <p:nvSpPr>
          <p:cNvPr id="3686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22</a:t>
            </a:fld>
            <a:endParaRPr lang="en-US" altLang="zh-C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812800" y="76200"/>
            <a:ext cx="10361613" cy="609600"/>
          </a:xfrm>
        </p:spPr>
        <p:txBody>
          <a:bodyPr vert="horz" wrap="square" lIns="91440" tIns="45720" rIns="91440" bIns="45720" anchor="ctr" anchorCtr="0"/>
          <a:lstStyle/>
          <a:p>
            <a:pPr eaLnBrk="1" hangingPunct="1"/>
            <a:r>
              <a:rPr lang="en-US" altLang="zh-CN" dirty="0"/>
              <a:t>RISC</a:t>
            </a:r>
            <a:r>
              <a:rPr lang="zh-CN" altLang="en-US" dirty="0"/>
              <a:t>发展过程（</a:t>
            </a:r>
            <a:r>
              <a:rPr lang="en-US" altLang="zh-CN" dirty="0"/>
              <a:t>2</a:t>
            </a:r>
            <a:r>
              <a:rPr lang="zh-CN" altLang="en-US" dirty="0"/>
              <a:t>）</a:t>
            </a:r>
          </a:p>
        </p:txBody>
      </p:sp>
      <p:sp>
        <p:nvSpPr>
          <p:cNvPr id="37891" name="Rectangle 3"/>
          <p:cNvSpPr>
            <a:spLocks noGrp="1"/>
          </p:cNvSpPr>
          <p:nvPr>
            <p:ph idx="1"/>
          </p:nvPr>
        </p:nvSpPr>
        <p:spPr>
          <a:xfrm>
            <a:off x="203200" y="1003300"/>
            <a:ext cx="11784013" cy="5854700"/>
          </a:xfrm>
        </p:spPr>
        <p:txBody>
          <a:bodyPr vert="horz" wrap="square" lIns="91440" tIns="45720" rIns="91440" bIns="45720" anchor="t" anchorCtr="0"/>
          <a:lstStyle/>
          <a:p>
            <a:pPr eaLnBrk="1" hangingPunct="1">
              <a:lnSpc>
                <a:spcPct val="135000"/>
              </a:lnSpc>
            </a:pPr>
            <a:r>
              <a:rPr lang="en-US" altLang="zh-CN" dirty="0"/>
              <a:t>1968</a:t>
            </a:r>
            <a:r>
              <a:rPr lang="zh-CN" altLang="en-US" dirty="0"/>
              <a:t>年</a:t>
            </a:r>
            <a:r>
              <a:rPr lang="en-US" altLang="zh-CN" dirty="0"/>
              <a:t>John Cocke</a:t>
            </a:r>
            <a:r>
              <a:rPr lang="zh-CN" altLang="en-US" dirty="0"/>
              <a:t>在</a:t>
            </a:r>
            <a:r>
              <a:rPr lang="en-US" altLang="zh-CN" dirty="0"/>
              <a:t>IBM</a:t>
            </a:r>
            <a:r>
              <a:rPr lang="zh-CN" altLang="en-US" dirty="0"/>
              <a:t>的</a:t>
            </a:r>
            <a:r>
              <a:rPr lang="en-US" altLang="zh-CN" dirty="0"/>
              <a:t>San Jose</a:t>
            </a:r>
            <a:r>
              <a:rPr lang="zh-CN" altLang="en-US" dirty="0"/>
              <a:t>研究中心开始</a:t>
            </a:r>
            <a:r>
              <a:rPr lang="en-US" altLang="zh-CN" dirty="0"/>
              <a:t>ASC</a:t>
            </a:r>
            <a:r>
              <a:rPr lang="zh-CN" altLang="en-US" dirty="0"/>
              <a:t>（</a:t>
            </a:r>
            <a:r>
              <a:rPr lang="en-US" altLang="zh-CN" dirty="0"/>
              <a:t>Advanced Scientific Computer</a:t>
            </a:r>
            <a:r>
              <a:rPr lang="zh-CN" altLang="en-US" dirty="0"/>
              <a:t>）项目的研究</a:t>
            </a:r>
          </a:p>
          <a:p>
            <a:pPr lvl="1" eaLnBrk="1" hangingPunct="1">
              <a:lnSpc>
                <a:spcPct val="135000"/>
              </a:lnSpc>
            </a:pPr>
            <a:r>
              <a:rPr lang="zh-CN" altLang="en-US" dirty="0"/>
              <a:t>基本思想是让编译器做更多的指令调度以减少硬件复杂度</a:t>
            </a:r>
          </a:p>
          <a:p>
            <a:pPr lvl="1" eaLnBrk="1" hangingPunct="1">
              <a:lnSpc>
                <a:spcPct val="135000"/>
              </a:lnSpc>
            </a:pPr>
            <a:r>
              <a:rPr lang="zh-CN" altLang="en-US" dirty="0"/>
              <a:t>还提出了每个周期发射多条指令的思想</a:t>
            </a:r>
          </a:p>
          <a:p>
            <a:pPr lvl="1" eaLnBrk="1" hangingPunct="1">
              <a:lnSpc>
                <a:spcPct val="135000"/>
              </a:lnSpc>
            </a:pPr>
            <a:r>
              <a:rPr lang="en-US" altLang="zh-CN" dirty="0"/>
              <a:t>ASC</a:t>
            </a:r>
            <a:r>
              <a:rPr lang="zh-CN" altLang="en-US" dirty="0"/>
              <a:t>计划后来被取消，</a:t>
            </a:r>
            <a:r>
              <a:rPr lang="en-US" altLang="zh-CN" dirty="0"/>
              <a:t>Cocke</a:t>
            </a:r>
            <a:r>
              <a:rPr lang="zh-CN" altLang="en-US" dirty="0"/>
              <a:t>在</a:t>
            </a:r>
            <a:r>
              <a:rPr lang="en-US" altLang="zh-CN" dirty="0"/>
              <a:t>1971</a:t>
            </a:r>
            <a:r>
              <a:rPr lang="zh-CN" altLang="en-US" dirty="0"/>
              <a:t>年到</a:t>
            </a:r>
            <a:r>
              <a:rPr lang="en-US" altLang="zh-CN" dirty="0"/>
              <a:t>Future System</a:t>
            </a:r>
          </a:p>
          <a:p>
            <a:pPr eaLnBrk="1" hangingPunct="1">
              <a:lnSpc>
                <a:spcPct val="135000"/>
              </a:lnSpc>
            </a:pPr>
            <a:r>
              <a:rPr lang="en-US" altLang="zh-CN" dirty="0"/>
              <a:t>1975</a:t>
            </a:r>
            <a:r>
              <a:rPr lang="zh-CN" altLang="en-US" dirty="0"/>
              <a:t>年</a:t>
            </a:r>
            <a:r>
              <a:rPr lang="en-US" altLang="zh-CN" dirty="0"/>
              <a:t>Cocke</a:t>
            </a:r>
            <a:r>
              <a:rPr lang="zh-CN" altLang="en-US" dirty="0"/>
              <a:t>到</a:t>
            </a:r>
            <a:r>
              <a:rPr lang="en-US" altLang="zh-CN" dirty="0"/>
              <a:t>IBM</a:t>
            </a:r>
            <a:r>
              <a:rPr lang="zh-CN" altLang="en-US" dirty="0"/>
              <a:t>的</a:t>
            </a:r>
            <a:r>
              <a:rPr lang="en-US" altLang="zh-CN" dirty="0"/>
              <a:t>Yorktown</a:t>
            </a:r>
            <a:r>
              <a:rPr lang="zh-CN" altLang="en-US" dirty="0"/>
              <a:t>研究中心开始研制</a:t>
            </a:r>
            <a:r>
              <a:rPr lang="en-US" altLang="zh-CN" dirty="0"/>
              <a:t>IBM 801</a:t>
            </a:r>
            <a:r>
              <a:rPr lang="zh-CN" altLang="en-US" dirty="0"/>
              <a:t>，</a:t>
            </a:r>
            <a:r>
              <a:rPr lang="en-US" altLang="zh-CN" dirty="0"/>
              <a:t>801</a:t>
            </a:r>
            <a:r>
              <a:rPr lang="zh-CN" altLang="en-US" dirty="0"/>
              <a:t>是最早开始设计的</a:t>
            </a:r>
            <a:r>
              <a:rPr lang="en-US" altLang="zh-CN" dirty="0"/>
              <a:t>RISC</a:t>
            </a:r>
            <a:r>
              <a:rPr lang="zh-CN" altLang="en-US" dirty="0"/>
              <a:t>处理器</a:t>
            </a:r>
          </a:p>
          <a:p>
            <a:pPr lvl="1" eaLnBrk="1" hangingPunct="1">
              <a:lnSpc>
                <a:spcPct val="135000"/>
              </a:lnSpc>
            </a:pPr>
            <a:r>
              <a:rPr lang="en-US" altLang="zh-CN" dirty="0"/>
              <a:t>Cocke</a:t>
            </a:r>
            <a:r>
              <a:rPr lang="zh-CN" altLang="en-US" dirty="0"/>
              <a:t>获得了</a:t>
            </a:r>
            <a:r>
              <a:rPr lang="en-US" altLang="zh-CN" dirty="0"/>
              <a:t>Eckert-Mauchly</a:t>
            </a:r>
            <a:r>
              <a:rPr lang="zh-CN" altLang="en-US" dirty="0"/>
              <a:t>和</a:t>
            </a:r>
            <a:r>
              <a:rPr lang="en-US" altLang="zh-CN" dirty="0"/>
              <a:t>Turing</a:t>
            </a:r>
            <a:r>
              <a:rPr lang="zh-CN" altLang="en-US" dirty="0"/>
              <a:t>奖</a:t>
            </a:r>
          </a:p>
          <a:p>
            <a:pPr lvl="1" eaLnBrk="1" hangingPunct="1">
              <a:lnSpc>
                <a:spcPct val="135000"/>
              </a:lnSpc>
            </a:pPr>
            <a:r>
              <a:rPr lang="en-US" altLang="zh-CN" dirty="0"/>
              <a:t>801</a:t>
            </a:r>
            <a:r>
              <a:rPr lang="zh-CN" altLang="en-US" dirty="0"/>
              <a:t>是</a:t>
            </a:r>
            <a:r>
              <a:rPr lang="en-US" altLang="zh-CN" dirty="0"/>
              <a:t>PowerPC</a:t>
            </a:r>
            <a:r>
              <a:rPr lang="zh-CN" altLang="en-US" dirty="0"/>
              <a:t>的前身</a:t>
            </a:r>
          </a:p>
          <a:p>
            <a:pPr eaLnBrk="1" hangingPunct="1">
              <a:lnSpc>
                <a:spcPct val="135000"/>
              </a:lnSpc>
            </a:pPr>
            <a:r>
              <a:rPr lang="zh-CN" altLang="en-US" dirty="0"/>
              <a:t>比</a:t>
            </a:r>
            <a:r>
              <a:rPr lang="en-US" altLang="zh-CN" dirty="0"/>
              <a:t>801</a:t>
            </a:r>
            <a:r>
              <a:rPr lang="zh-CN" altLang="en-US" dirty="0"/>
              <a:t>稍晚开始的有</a:t>
            </a:r>
            <a:r>
              <a:rPr lang="en-US" altLang="zh-CN" dirty="0"/>
              <a:t>Patterson</a:t>
            </a:r>
            <a:r>
              <a:rPr lang="zh-CN" altLang="en-US" dirty="0"/>
              <a:t>在</a:t>
            </a:r>
            <a:r>
              <a:rPr lang="en-US" altLang="zh-CN" dirty="0"/>
              <a:t>Berkeley</a:t>
            </a:r>
            <a:r>
              <a:rPr lang="zh-CN" altLang="en-US" dirty="0"/>
              <a:t>的</a:t>
            </a:r>
            <a:r>
              <a:rPr lang="en-US" altLang="zh-CN" dirty="0"/>
              <a:t>RISC-I</a:t>
            </a:r>
            <a:r>
              <a:rPr lang="zh-CN" altLang="en-US" dirty="0"/>
              <a:t>及</a:t>
            </a:r>
            <a:r>
              <a:rPr lang="en-US" altLang="zh-CN" dirty="0"/>
              <a:t>RISC-II</a:t>
            </a:r>
            <a:r>
              <a:rPr lang="zh-CN" altLang="en-US" dirty="0"/>
              <a:t>与</a:t>
            </a:r>
            <a:r>
              <a:rPr lang="en-US" altLang="zh-CN" dirty="0"/>
              <a:t>Hennessy</a:t>
            </a:r>
            <a:r>
              <a:rPr lang="zh-CN" altLang="en-US" dirty="0"/>
              <a:t>在</a:t>
            </a:r>
            <a:r>
              <a:rPr lang="en-US" altLang="zh-CN" dirty="0"/>
              <a:t>Standford</a:t>
            </a:r>
            <a:r>
              <a:rPr lang="zh-CN" altLang="en-US" dirty="0"/>
              <a:t>的</a:t>
            </a:r>
            <a:r>
              <a:rPr lang="en-US" altLang="zh-CN" dirty="0"/>
              <a:t>MIPS</a:t>
            </a:r>
            <a:r>
              <a:rPr lang="zh-CN" altLang="en-US" dirty="0"/>
              <a:t>项目</a:t>
            </a:r>
          </a:p>
          <a:p>
            <a:pPr lvl="1" eaLnBrk="1" hangingPunct="1">
              <a:lnSpc>
                <a:spcPct val="135000"/>
              </a:lnSpc>
            </a:pPr>
            <a:r>
              <a:rPr lang="zh-CN" altLang="en-US" dirty="0"/>
              <a:t>这两个大学的研究生曾参与</a:t>
            </a:r>
            <a:r>
              <a:rPr lang="en-US" altLang="zh-CN" dirty="0"/>
              <a:t>801</a:t>
            </a:r>
            <a:r>
              <a:rPr lang="zh-CN" altLang="en-US" dirty="0"/>
              <a:t>项目的研究，后来返回大学</a:t>
            </a:r>
          </a:p>
          <a:p>
            <a:pPr lvl="1" eaLnBrk="1" hangingPunct="1">
              <a:lnSpc>
                <a:spcPct val="135000"/>
              </a:lnSpc>
            </a:pPr>
            <a:r>
              <a:rPr lang="en-US" altLang="zh-CN" dirty="0"/>
              <a:t>RISC-II</a:t>
            </a:r>
            <a:r>
              <a:rPr lang="zh-CN" altLang="en-US" dirty="0"/>
              <a:t>是</a:t>
            </a:r>
            <a:r>
              <a:rPr lang="en-US" altLang="zh-CN" dirty="0"/>
              <a:t>SPARC</a:t>
            </a:r>
            <a:r>
              <a:rPr lang="zh-CN" altLang="en-US" dirty="0"/>
              <a:t>的前身，</a:t>
            </a:r>
            <a:r>
              <a:rPr lang="en-US" altLang="zh-CN" dirty="0"/>
              <a:t>MIPS</a:t>
            </a:r>
            <a:r>
              <a:rPr lang="zh-CN" altLang="en-US" dirty="0"/>
              <a:t>项目是</a:t>
            </a:r>
            <a:r>
              <a:rPr lang="en-US" altLang="zh-CN" dirty="0"/>
              <a:t>MIPS</a:t>
            </a:r>
            <a:r>
              <a:rPr lang="zh-CN" altLang="en-US" dirty="0"/>
              <a:t>处理器前身</a:t>
            </a:r>
          </a:p>
        </p:txBody>
      </p:sp>
      <p:sp>
        <p:nvSpPr>
          <p:cNvPr id="3789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23</a:t>
            </a:fld>
            <a:endParaRPr lang="en-US" altLang="zh-C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914400" y="381000"/>
            <a:ext cx="10361613" cy="685800"/>
          </a:xfrm>
        </p:spPr>
        <p:txBody>
          <a:bodyPr vert="horz" wrap="square" lIns="91440" tIns="45720" rIns="91440" bIns="45720" anchor="ctr" anchorCtr="0"/>
          <a:lstStyle/>
          <a:p>
            <a:pPr eaLnBrk="1" hangingPunct="1"/>
            <a:r>
              <a:rPr lang="en-US" altLang="zh-CN" dirty="0"/>
              <a:t>RISC</a:t>
            </a:r>
            <a:r>
              <a:rPr lang="zh-CN" altLang="en-US" dirty="0"/>
              <a:t>发展过程（</a:t>
            </a:r>
            <a:r>
              <a:rPr lang="en-US" altLang="zh-CN" dirty="0"/>
              <a:t>3</a:t>
            </a:r>
            <a:r>
              <a:rPr lang="zh-CN" altLang="en-US" dirty="0"/>
              <a:t>）</a:t>
            </a:r>
          </a:p>
        </p:txBody>
      </p:sp>
      <p:sp>
        <p:nvSpPr>
          <p:cNvPr id="38915" name="Rectangle 3"/>
          <p:cNvSpPr>
            <a:spLocks noGrp="1"/>
          </p:cNvSpPr>
          <p:nvPr>
            <p:ph idx="1"/>
          </p:nvPr>
        </p:nvSpPr>
        <p:spPr>
          <a:xfrm>
            <a:off x="209550" y="1173163"/>
            <a:ext cx="11777663" cy="5395912"/>
          </a:xfrm>
        </p:spPr>
        <p:txBody>
          <a:bodyPr vert="horz" wrap="square" lIns="91440" tIns="45720" rIns="91440" bIns="45720" anchor="t" anchorCtr="0"/>
          <a:lstStyle/>
          <a:p>
            <a:pPr eaLnBrk="1" hangingPunct="1"/>
            <a:r>
              <a:rPr lang="en-US" altLang="zh-CN" dirty="0"/>
              <a:t>801</a:t>
            </a:r>
            <a:r>
              <a:rPr lang="zh-CN" altLang="en-US" dirty="0"/>
              <a:t>的项目经理</a:t>
            </a:r>
            <a:r>
              <a:rPr lang="en-US" altLang="zh-CN" dirty="0"/>
              <a:t>Joel Birnbaum</a:t>
            </a:r>
            <a:r>
              <a:rPr lang="zh-CN" altLang="en-US" dirty="0"/>
              <a:t>到</a:t>
            </a:r>
            <a:r>
              <a:rPr lang="en-US" altLang="zh-CN" dirty="0"/>
              <a:t>HP</a:t>
            </a:r>
            <a:r>
              <a:rPr lang="zh-CN" altLang="zh-CN" dirty="0"/>
              <a:t>创立了</a:t>
            </a:r>
            <a:r>
              <a:rPr lang="en-US" altLang="zh-CN" dirty="0"/>
              <a:t>PA-RISC</a:t>
            </a:r>
          </a:p>
          <a:p>
            <a:pPr eaLnBrk="1" hangingPunct="1"/>
            <a:r>
              <a:rPr lang="en-US" altLang="zh-CN" dirty="0"/>
              <a:t>DEC</a:t>
            </a:r>
            <a:r>
              <a:rPr lang="zh-CN" altLang="en-US" dirty="0"/>
              <a:t>在推出</a:t>
            </a:r>
            <a:r>
              <a:rPr lang="en-US" altLang="zh-CN" dirty="0"/>
              <a:t>Alpha</a:t>
            </a:r>
            <a:r>
              <a:rPr lang="zh-CN" altLang="en-US" dirty="0"/>
              <a:t>之前曾经使用</a:t>
            </a:r>
            <a:r>
              <a:rPr lang="en-US" altLang="zh-CN" dirty="0"/>
              <a:t>MIPS</a:t>
            </a:r>
            <a:r>
              <a:rPr lang="zh-CN" altLang="en-US" dirty="0"/>
              <a:t>处理器三年</a:t>
            </a:r>
          </a:p>
          <a:p>
            <a:pPr eaLnBrk="1" hangingPunct="1"/>
            <a:r>
              <a:rPr lang="zh-CN" altLang="en-US" dirty="0"/>
              <a:t>从上述发展过程不难解释刚开始时五个</a:t>
            </a:r>
            <a:r>
              <a:rPr lang="en-US" altLang="zh-CN" dirty="0"/>
              <a:t>RISC</a:t>
            </a:r>
            <a:r>
              <a:rPr lang="zh-CN" altLang="en-US" dirty="0"/>
              <a:t>处理器的相似性</a:t>
            </a:r>
          </a:p>
          <a:p>
            <a:pPr eaLnBrk="1" hangingPunct="1"/>
            <a:r>
              <a:rPr lang="zh-CN" altLang="en-US" dirty="0"/>
              <a:t>后来每个</a:t>
            </a:r>
            <a:r>
              <a:rPr lang="en-US" altLang="zh-CN" dirty="0"/>
              <a:t>RISC</a:t>
            </a:r>
            <a:r>
              <a:rPr lang="zh-CN" altLang="en-US" dirty="0"/>
              <a:t>处理器有了不同的发展</a:t>
            </a:r>
          </a:p>
          <a:p>
            <a:pPr lvl="1" eaLnBrk="1" hangingPunct="1"/>
            <a:r>
              <a:rPr lang="zh-CN" altLang="en-US" dirty="0"/>
              <a:t>如</a:t>
            </a:r>
            <a:r>
              <a:rPr lang="en-US" altLang="zh-CN" dirty="0"/>
              <a:t>Alpha</a:t>
            </a:r>
            <a:r>
              <a:rPr lang="zh-CN" altLang="en-US" dirty="0"/>
              <a:t>的指令简单，容易高主频实现，“</a:t>
            </a:r>
            <a:r>
              <a:rPr lang="en-US" altLang="zh-CN" dirty="0"/>
              <a:t>a speed demon”</a:t>
            </a:r>
          </a:p>
          <a:p>
            <a:pPr lvl="1" eaLnBrk="1" hangingPunct="1"/>
            <a:r>
              <a:rPr lang="en-US" altLang="zh-CN" dirty="0"/>
              <a:t>PowerPC</a:t>
            </a:r>
            <a:r>
              <a:rPr lang="zh-CN" altLang="zh-CN" dirty="0"/>
              <a:t>指令功能强，灵活，</a:t>
            </a:r>
            <a:r>
              <a:rPr lang="zh-CN" altLang="en-US" dirty="0"/>
              <a:t>架构上追求</a:t>
            </a:r>
            <a:r>
              <a:rPr lang="en-US" altLang="zh-CN" dirty="0"/>
              <a:t>ILP</a:t>
            </a:r>
            <a:r>
              <a:rPr lang="zh-CN" altLang="zh-CN" dirty="0"/>
              <a:t> </a:t>
            </a:r>
            <a:r>
              <a:rPr lang="zh-CN" altLang="en-US" dirty="0"/>
              <a:t>，</a:t>
            </a:r>
            <a:r>
              <a:rPr lang="en-US" altLang="zh-CN" dirty="0"/>
              <a:t>“a brainiac ”</a:t>
            </a:r>
          </a:p>
          <a:p>
            <a:pPr eaLnBrk="1" hangingPunct="1"/>
            <a:r>
              <a:rPr lang="en-US" altLang="zh-CN" dirty="0"/>
              <a:t>2010</a:t>
            </a:r>
            <a:r>
              <a:rPr lang="zh-CN" altLang="en-US" dirty="0"/>
              <a:t>年代</a:t>
            </a:r>
            <a:r>
              <a:rPr lang="en-US" altLang="zh-CN" dirty="0"/>
              <a:t>Berkeley</a:t>
            </a:r>
            <a:r>
              <a:rPr lang="zh-CN" altLang="en-US" dirty="0"/>
              <a:t>推出的</a:t>
            </a:r>
            <a:r>
              <a:rPr lang="en-US" altLang="zh-CN" dirty="0"/>
              <a:t>RISC-V</a:t>
            </a:r>
          </a:p>
          <a:p>
            <a:pPr lvl="1" eaLnBrk="1" hangingPunct="1"/>
            <a:r>
              <a:rPr lang="en-US" altLang="zh-CN" dirty="0"/>
              <a:t>Berkeley</a:t>
            </a:r>
            <a:r>
              <a:rPr lang="zh-CN" altLang="en-US" dirty="0"/>
              <a:t>在</a:t>
            </a:r>
            <a:r>
              <a:rPr lang="en-US" altLang="zh-CN" dirty="0"/>
              <a:t>RISC-</a:t>
            </a:r>
            <a:r>
              <a:rPr lang="zh-CN" altLang="en-US" dirty="0"/>
              <a:t>I/</a:t>
            </a:r>
            <a:r>
              <a:rPr lang="en-US" altLang="zh-CN" dirty="0"/>
              <a:t>II</a:t>
            </a:r>
            <a:r>
              <a:rPr lang="zh-CN" altLang="en-US" dirty="0"/>
              <a:t>演变成</a:t>
            </a:r>
            <a:r>
              <a:rPr lang="en-US" altLang="zh-CN" dirty="0"/>
              <a:t>SPARC</a:t>
            </a:r>
            <a:r>
              <a:rPr lang="zh-CN" altLang="en-US" dirty="0"/>
              <a:t>后又发展了</a:t>
            </a:r>
            <a:r>
              <a:rPr lang="en-US" altLang="zh-CN" dirty="0"/>
              <a:t>SOAR</a:t>
            </a:r>
            <a:r>
              <a:rPr lang="zh-CN" altLang="en-US" dirty="0"/>
              <a:t>、</a:t>
            </a:r>
            <a:r>
              <a:rPr lang="en-US" altLang="zh-CN" dirty="0"/>
              <a:t>SPUR</a:t>
            </a:r>
          </a:p>
          <a:p>
            <a:pPr lvl="1" eaLnBrk="1" hangingPunct="1"/>
            <a:r>
              <a:rPr lang="en-US" altLang="zh-CN" dirty="0"/>
              <a:t>RISC-V</a:t>
            </a:r>
            <a:r>
              <a:rPr lang="zh-CN" altLang="en-US" dirty="0"/>
              <a:t>是</a:t>
            </a:r>
            <a:r>
              <a:rPr lang="en-US" altLang="zh-CN" dirty="0"/>
              <a:t>Berkeley</a:t>
            </a:r>
            <a:r>
              <a:rPr lang="zh-CN" altLang="en-US" dirty="0"/>
              <a:t>的第五代指令系统，</a:t>
            </a:r>
            <a:r>
              <a:rPr lang="en-US" altLang="zh-CN" dirty="0"/>
              <a:t>V</a:t>
            </a:r>
            <a:r>
              <a:rPr lang="zh-CN" altLang="en-US" dirty="0"/>
              <a:t>还代表</a:t>
            </a:r>
            <a:r>
              <a:rPr lang="en-US" altLang="zh-CN" dirty="0"/>
              <a:t>Victory</a:t>
            </a:r>
          </a:p>
          <a:p>
            <a:pPr eaLnBrk="1" hangingPunct="1"/>
            <a:r>
              <a:rPr lang="en-US" altLang="zh-CN" dirty="0">
                <a:solidFill>
                  <a:srgbClr val="FF0000"/>
                </a:solidFill>
              </a:rPr>
              <a:t>2020</a:t>
            </a:r>
            <a:r>
              <a:rPr lang="zh-CN" altLang="en-US" dirty="0">
                <a:solidFill>
                  <a:srgbClr val="FF0000"/>
                </a:solidFill>
              </a:rPr>
              <a:t>年龙芯中科推出龙架构</a:t>
            </a:r>
            <a:r>
              <a:rPr lang="en-US" altLang="zh-CN" dirty="0">
                <a:solidFill>
                  <a:srgbClr val="FF0000"/>
                </a:solidFill>
              </a:rPr>
              <a:t>LoongArch</a:t>
            </a:r>
            <a:endParaRPr lang="zh-CN" altLang="en-US" dirty="0">
              <a:solidFill>
                <a:srgbClr val="FF0000"/>
              </a:solidFill>
            </a:endParaRPr>
          </a:p>
        </p:txBody>
      </p:sp>
      <p:sp>
        <p:nvSpPr>
          <p:cNvPr id="3891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24</a:t>
            </a:fld>
            <a:endParaRPr lang="en-US" altLang="zh-CN"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9"/>
          <p:cNvSpPr>
            <a:spLocks noGrp="1"/>
          </p:cNvSpPr>
          <p:nvPr>
            <p:ph type="title"/>
          </p:nvPr>
        </p:nvSpPr>
        <p:spPr>
          <a:xfrm>
            <a:off x="914599" y="0"/>
            <a:ext cx="10361851" cy="1143000"/>
          </a:xfrm>
        </p:spPr>
        <p:txBody>
          <a:bodyPr vert="horz" wrap="square" lIns="91440" tIns="45720" rIns="91440" bIns="45720" anchor="ctr" anchorCtr="0"/>
          <a:lstStyle/>
          <a:p>
            <a:pPr eaLnBrk="1" hangingPunct="1"/>
            <a:r>
              <a:rPr lang="en-US" altLang="zh-CN" dirty="0"/>
              <a:t>Alpha</a:t>
            </a:r>
            <a:r>
              <a:rPr lang="zh-CN" altLang="zh-CN" dirty="0"/>
              <a:t>和</a:t>
            </a:r>
            <a:r>
              <a:rPr lang="en-US" altLang="zh-CN" dirty="0"/>
              <a:t>PowerPC</a:t>
            </a:r>
            <a:r>
              <a:rPr lang="zh-CN" altLang="en-US" dirty="0"/>
              <a:t>指令功能举例</a:t>
            </a:r>
          </a:p>
        </p:txBody>
      </p:sp>
      <p:graphicFrame>
        <p:nvGraphicFramePr>
          <p:cNvPr id="189482" name="Group 42"/>
          <p:cNvGraphicFramePr>
            <a:graphicFrameLocks noGrp="1"/>
          </p:cNvGraphicFramePr>
          <p:nvPr>
            <p:ph type="tbl" idx="4294967295"/>
          </p:nvPr>
        </p:nvGraphicFramePr>
        <p:xfrm>
          <a:off x="440527" y="1109663"/>
          <a:ext cx="11275695" cy="5005386"/>
        </p:xfrm>
        <a:graphic>
          <a:graphicData uri="http://schemas.openxmlformats.org/drawingml/2006/table">
            <a:tbl>
              <a:tblPr/>
              <a:tblGrid>
                <a:gridCol w="6685280"/>
                <a:gridCol w="4590415"/>
              </a:tblGrid>
              <a:tr h="376782">
                <a:tc gridSpan="2">
                  <a:txBody>
                    <a:bodyPr/>
                    <a:lstStyle>
                      <a:lvl1pPr marL="342900" indent="-342900" algn="l">
                        <a:lnSpc>
                          <a:spcPct val="110000"/>
                        </a:lnSpc>
                        <a:spcBef>
                          <a:spcPct val="20000"/>
                        </a:spcBef>
                        <a:defRPr kumimoji="1" sz="2400" b="1">
                          <a:solidFill>
                            <a:schemeClr val="tx1"/>
                          </a:solidFill>
                          <a:latin typeface="Times New Roman" pitchFamily="18" charset="0"/>
                          <a:ea typeface="宋体" panose="02000500000000000000" pitchFamily="2" charset="-122"/>
                        </a:defRPr>
                      </a:lvl1pPr>
                      <a:lvl2pPr marL="742950" indent="-285750" algn="l">
                        <a:lnSpc>
                          <a:spcPct val="110000"/>
                        </a:lnSpc>
                        <a:spcBef>
                          <a:spcPct val="20000"/>
                        </a:spcBef>
                        <a:defRPr kumimoji="1" sz="2000" b="1">
                          <a:solidFill>
                            <a:schemeClr val="tx1"/>
                          </a:solidFill>
                          <a:latin typeface="Times New Roman" pitchFamily="18" charset="0"/>
                          <a:ea typeface="宋体" panose="02000500000000000000" pitchFamily="2" charset="-122"/>
                        </a:defRPr>
                      </a:lvl2pPr>
                      <a:lvl3pPr marL="1143000" indent="-228600" algn="l">
                        <a:lnSpc>
                          <a:spcPct val="110000"/>
                        </a:lnSpc>
                        <a:spcBef>
                          <a:spcPct val="20000"/>
                        </a:spcBef>
                        <a:defRPr kumimoji="1" b="1">
                          <a:solidFill>
                            <a:schemeClr val="tx1"/>
                          </a:solidFill>
                          <a:latin typeface="Times New Roman" pitchFamily="18" charset="0"/>
                          <a:ea typeface="宋体" panose="02000500000000000000" pitchFamily="2" charset="-122"/>
                        </a:defRPr>
                      </a:lvl3pPr>
                      <a:lvl4pPr marL="1600200" indent="-228600" algn="l">
                        <a:spcBef>
                          <a:spcPct val="20000"/>
                        </a:spcBef>
                        <a:defRPr kumimoji="1">
                          <a:solidFill>
                            <a:schemeClr val="tx1"/>
                          </a:solidFill>
                          <a:latin typeface="Times New Roman" pitchFamily="18" charset="0"/>
                          <a:ea typeface="宋体" panose="02000500000000000000" pitchFamily="2" charset="-122"/>
                        </a:defRPr>
                      </a:lvl4pPr>
                      <a:lvl5pPr marL="2057400" indent="-228600" algn="l">
                        <a:spcBef>
                          <a:spcPct val="20000"/>
                        </a:spcBef>
                        <a:defRPr kumimoji="1">
                          <a:solidFill>
                            <a:schemeClr val="tx1"/>
                          </a:solidFill>
                          <a:latin typeface="Times New Roman" pitchFamily="18" charset="0"/>
                          <a:ea typeface="宋体" panose="02000500000000000000" pitchFamily="2" charset="-122"/>
                        </a:defRPr>
                      </a:lvl5pPr>
                      <a:lvl6pPr marL="25146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6pPr>
                      <a:lvl7pPr marL="29718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7pPr>
                      <a:lvl8pPr marL="34290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8pPr>
                      <a:lvl9pPr marL="38862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源代码：</a:t>
                      </a:r>
                      <a:r>
                        <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for (k=0; k&lt;512; k++) x[k] = r * x[k] + t * y[k];</a:t>
                      </a:r>
                      <a:endParaRPr kumimoji="1" lang="en-US" altLang="zh-CN" sz="18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r>
              <a:tr h="375251">
                <a:tc>
                  <a:txBody>
                    <a:bodyPr/>
                    <a:lstStyle>
                      <a:lvl1pPr marL="342900" indent="-342900" algn="l">
                        <a:lnSpc>
                          <a:spcPct val="110000"/>
                        </a:lnSpc>
                        <a:spcBef>
                          <a:spcPct val="20000"/>
                        </a:spcBef>
                        <a:defRPr kumimoji="1" sz="2400" b="1">
                          <a:solidFill>
                            <a:schemeClr val="tx1"/>
                          </a:solidFill>
                          <a:latin typeface="Times New Roman" pitchFamily="18" charset="0"/>
                          <a:ea typeface="宋体" panose="02000500000000000000" pitchFamily="2" charset="-122"/>
                        </a:defRPr>
                      </a:lvl1pPr>
                      <a:lvl2pPr marL="742950" indent="-285750" algn="l">
                        <a:lnSpc>
                          <a:spcPct val="110000"/>
                        </a:lnSpc>
                        <a:spcBef>
                          <a:spcPct val="20000"/>
                        </a:spcBef>
                        <a:defRPr kumimoji="1" sz="2000" b="1">
                          <a:solidFill>
                            <a:schemeClr val="tx1"/>
                          </a:solidFill>
                          <a:latin typeface="Times New Roman" pitchFamily="18" charset="0"/>
                          <a:ea typeface="宋体" panose="02000500000000000000" pitchFamily="2" charset="-122"/>
                        </a:defRPr>
                      </a:lvl2pPr>
                      <a:lvl3pPr marL="1143000" indent="-228600" algn="l">
                        <a:lnSpc>
                          <a:spcPct val="110000"/>
                        </a:lnSpc>
                        <a:spcBef>
                          <a:spcPct val="20000"/>
                        </a:spcBef>
                        <a:defRPr kumimoji="1" b="1">
                          <a:solidFill>
                            <a:schemeClr val="tx1"/>
                          </a:solidFill>
                          <a:latin typeface="Times New Roman" pitchFamily="18" charset="0"/>
                          <a:ea typeface="宋体" panose="02000500000000000000" pitchFamily="2" charset="-122"/>
                        </a:defRPr>
                      </a:lvl3pPr>
                      <a:lvl4pPr marL="1600200" indent="-228600" algn="l">
                        <a:spcBef>
                          <a:spcPct val="20000"/>
                        </a:spcBef>
                        <a:defRPr kumimoji="1">
                          <a:solidFill>
                            <a:schemeClr val="tx1"/>
                          </a:solidFill>
                          <a:latin typeface="Times New Roman" pitchFamily="18" charset="0"/>
                          <a:ea typeface="宋体" panose="02000500000000000000" pitchFamily="2" charset="-122"/>
                        </a:defRPr>
                      </a:lvl4pPr>
                      <a:lvl5pPr marL="2057400" indent="-228600" algn="l">
                        <a:spcBef>
                          <a:spcPct val="20000"/>
                        </a:spcBef>
                        <a:defRPr kumimoji="1">
                          <a:solidFill>
                            <a:schemeClr val="tx1"/>
                          </a:solidFill>
                          <a:latin typeface="Times New Roman" pitchFamily="18" charset="0"/>
                          <a:ea typeface="宋体" panose="02000500000000000000" pitchFamily="2" charset="-122"/>
                        </a:defRPr>
                      </a:lvl5pPr>
                      <a:lvl6pPr marL="25146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6pPr>
                      <a:lvl7pPr marL="29718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7pPr>
                      <a:lvl8pPr marL="34290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8pPr>
                      <a:lvl9pPr marL="38862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a:t>
                      </a: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代码</a:t>
                      </a:r>
                      <a:endParaRPr kumimoji="1"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lnSpc>
                          <a:spcPct val="110000"/>
                        </a:lnSpc>
                        <a:spcBef>
                          <a:spcPct val="20000"/>
                        </a:spcBef>
                        <a:defRPr kumimoji="1" sz="2400" b="1">
                          <a:solidFill>
                            <a:schemeClr val="tx1"/>
                          </a:solidFill>
                          <a:latin typeface="Times New Roman" pitchFamily="18" charset="0"/>
                          <a:ea typeface="宋体" panose="02000500000000000000" pitchFamily="2" charset="-122"/>
                        </a:defRPr>
                      </a:lvl1pPr>
                      <a:lvl2pPr marL="742950" indent="-285750" algn="l">
                        <a:lnSpc>
                          <a:spcPct val="110000"/>
                        </a:lnSpc>
                        <a:spcBef>
                          <a:spcPct val="20000"/>
                        </a:spcBef>
                        <a:defRPr kumimoji="1" sz="2000" b="1">
                          <a:solidFill>
                            <a:schemeClr val="tx1"/>
                          </a:solidFill>
                          <a:latin typeface="Times New Roman" pitchFamily="18" charset="0"/>
                          <a:ea typeface="宋体" panose="02000500000000000000" pitchFamily="2" charset="-122"/>
                        </a:defRPr>
                      </a:lvl2pPr>
                      <a:lvl3pPr marL="1143000" indent="-228600" algn="l">
                        <a:lnSpc>
                          <a:spcPct val="110000"/>
                        </a:lnSpc>
                        <a:spcBef>
                          <a:spcPct val="20000"/>
                        </a:spcBef>
                        <a:defRPr kumimoji="1" b="1">
                          <a:solidFill>
                            <a:schemeClr val="tx1"/>
                          </a:solidFill>
                          <a:latin typeface="Times New Roman" pitchFamily="18" charset="0"/>
                          <a:ea typeface="宋体" panose="02000500000000000000" pitchFamily="2" charset="-122"/>
                        </a:defRPr>
                      </a:lvl3pPr>
                      <a:lvl4pPr marL="1600200" indent="-228600" algn="l">
                        <a:spcBef>
                          <a:spcPct val="20000"/>
                        </a:spcBef>
                        <a:defRPr kumimoji="1">
                          <a:solidFill>
                            <a:schemeClr val="tx1"/>
                          </a:solidFill>
                          <a:latin typeface="Times New Roman" pitchFamily="18" charset="0"/>
                          <a:ea typeface="宋体" panose="02000500000000000000" pitchFamily="2" charset="-122"/>
                        </a:defRPr>
                      </a:lvl4pPr>
                      <a:lvl5pPr marL="2057400" indent="-228600" algn="l">
                        <a:spcBef>
                          <a:spcPct val="20000"/>
                        </a:spcBef>
                        <a:defRPr kumimoji="1">
                          <a:solidFill>
                            <a:schemeClr val="tx1"/>
                          </a:solidFill>
                          <a:latin typeface="Times New Roman" pitchFamily="18" charset="0"/>
                          <a:ea typeface="宋体" panose="02000500000000000000" pitchFamily="2" charset="-122"/>
                        </a:defRPr>
                      </a:lvl5pPr>
                      <a:lvl6pPr marL="25146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6pPr>
                      <a:lvl7pPr marL="29718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7pPr>
                      <a:lvl8pPr marL="34290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8pPr>
                      <a:lvl9pPr marL="38862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9pPr>
                    </a:lstStyle>
                    <a:p>
                      <a:pPr marL="342900" marR="0" lvl="0" indent="-342900" algn="ctr"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a:t>
                      </a: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代码</a:t>
                      </a:r>
                      <a:endParaRPr kumimoji="1" lang="zh-CN" altLang="en-US"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253353">
                <a:tc>
                  <a:txBody>
                    <a:bodyPr/>
                    <a:lstStyle>
                      <a:lvl1pPr marL="342900" indent="-342900" algn="l">
                        <a:lnSpc>
                          <a:spcPct val="110000"/>
                        </a:lnSpc>
                        <a:spcBef>
                          <a:spcPct val="20000"/>
                        </a:spcBef>
                        <a:defRPr kumimoji="1" sz="2400" b="1">
                          <a:solidFill>
                            <a:schemeClr val="tx1"/>
                          </a:solidFill>
                          <a:latin typeface="Times New Roman" pitchFamily="18" charset="0"/>
                          <a:ea typeface="宋体" panose="02000500000000000000" pitchFamily="2" charset="-122"/>
                        </a:defRPr>
                      </a:lvl1pPr>
                      <a:lvl2pPr marL="742950" indent="-285750" algn="l">
                        <a:lnSpc>
                          <a:spcPct val="110000"/>
                        </a:lnSpc>
                        <a:spcBef>
                          <a:spcPct val="20000"/>
                        </a:spcBef>
                        <a:defRPr kumimoji="1" sz="2000" b="1">
                          <a:solidFill>
                            <a:schemeClr val="tx1"/>
                          </a:solidFill>
                          <a:latin typeface="Times New Roman" pitchFamily="18" charset="0"/>
                          <a:ea typeface="宋体" panose="02000500000000000000" pitchFamily="2" charset="-122"/>
                        </a:defRPr>
                      </a:lvl2pPr>
                      <a:lvl3pPr marL="1143000" indent="-228600" algn="l">
                        <a:lnSpc>
                          <a:spcPct val="110000"/>
                        </a:lnSpc>
                        <a:spcBef>
                          <a:spcPct val="20000"/>
                        </a:spcBef>
                        <a:defRPr kumimoji="1" b="1">
                          <a:solidFill>
                            <a:schemeClr val="tx1"/>
                          </a:solidFill>
                          <a:latin typeface="Times New Roman" pitchFamily="18" charset="0"/>
                          <a:ea typeface="宋体" panose="02000500000000000000" pitchFamily="2" charset="-122"/>
                        </a:defRPr>
                      </a:lvl3pPr>
                      <a:lvl4pPr marL="1600200" indent="-228600" algn="l">
                        <a:spcBef>
                          <a:spcPct val="20000"/>
                        </a:spcBef>
                        <a:defRPr kumimoji="1">
                          <a:solidFill>
                            <a:schemeClr val="tx1"/>
                          </a:solidFill>
                          <a:latin typeface="Times New Roman" pitchFamily="18" charset="0"/>
                          <a:ea typeface="宋体" panose="02000500000000000000" pitchFamily="2" charset="-122"/>
                        </a:defRPr>
                      </a:lvl4pPr>
                      <a:lvl5pPr marL="2057400" indent="-228600" algn="l">
                        <a:spcBef>
                          <a:spcPct val="20000"/>
                        </a:spcBef>
                        <a:defRPr kumimoji="1">
                          <a:solidFill>
                            <a:schemeClr val="tx1"/>
                          </a:solidFill>
                          <a:latin typeface="Times New Roman" pitchFamily="18" charset="0"/>
                          <a:ea typeface="宋体" panose="02000500000000000000" pitchFamily="2" charset="-122"/>
                        </a:defRPr>
                      </a:lvl5pPr>
                      <a:lvl6pPr marL="25146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6pPr>
                      <a:lvl7pPr marL="29718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7pPr>
                      <a:lvl8pPr marL="34290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8pPr>
                      <a:lvl9pPr marL="38862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r3+8</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指向</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x</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r4+8</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指向</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y</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fp1</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内容为</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t</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fp3</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内容为</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CTR</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内容为</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512</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LOOP: </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LFU    fp0=y(r4=r4+8)  //FP </a:t>
                      </a:r>
                      <a:r>
                        <a:rPr kumimoji="1" lang="en-US" altLang="zh-CN" sz="1400" b="1" i="0" u="none" strike="noStrike" cap="none" normalizeH="0" baseline="0" dirty="0" smtClean="0">
                          <a:ln>
                            <a:noFill/>
                          </a:ln>
                          <a:solidFill>
                            <a:srgbClr val="FF0000"/>
                          </a:solidFill>
                          <a:effectLst/>
                          <a:latin typeface="宋体" panose="02000500000000000000" pitchFamily="2" charset="-122"/>
                          <a:ea typeface="宋体" panose="02000500000000000000" pitchFamily="2" charset="-122"/>
                          <a:cs typeface="Times New Roman" pitchFamily="18" charset="0"/>
                        </a:rPr>
                        <a:t>load with update</a:t>
                      </a:r>
                      <a:endParaRPr kumimoji="1" lang="en-US" altLang="zh-CN" sz="1400" b="1"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FMUL   fp0=fp0, fp1    //FP multiply</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LF     fp2=x(r3,8)     //FP load</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FMADD  fp0=fp0,fp2,fp3 //FP </a:t>
                      </a:r>
                      <a:r>
                        <a:rPr kumimoji="1" lang="en-US" altLang="zh-CN" sz="1400" b="1" i="0" u="none" strike="noStrike" cap="none" normalizeH="0" baseline="0" dirty="0" smtClean="0">
                          <a:ln>
                            <a:noFill/>
                          </a:ln>
                          <a:solidFill>
                            <a:srgbClr val="FF0000"/>
                          </a:solidFill>
                          <a:effectLst/>
                          <a:latin typeface="宋体" panose="02000500000000000000" pitchFamily="2" charset="-122"/>
                          <a:ea typeface="宋体" panose="02000500000000000000" pitchFamily="2" charset="-122"/>
                          <a:cs typeface="Times New Roman" pitchFamily="18" charset="0"/>
                        </a:rPr>
                        <a:t>multiply-add</a:t>
                      </a:r>
                      <a:endParaRPr kumimoji="1" lang="en-US" altLang="zh-CN" sz="1400" b="1"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STFU   x(r3=r3+8)=fp0  //FP </a:t>
                      </a:r>
                      <a:r>
                        <a:rPr kumimoji="1" lang="en-US" altLang="zh-CN" sz="1400" b="1" i="0" u="none" strike="noStrike" cap="none" normalizeH="0" baseline="0" dirty="0" smtClean="0">
                          <a:ln>
                            <a:noFill/>
                          </a:ln>
                          <a:solidFill>
                            <a:srgbClr val="FF0000"/>
                          </a:solidFill>
                          <a:effectLst/>
                          <a:latin typeface="宋体" panose="02000500000000000000" pitchFamily="2" charset="-122"/>
                          <a:ea typeface="宋体" panose="02000500000000000000" pitchFamily="2" charset="-122"/>
                          <a:cs typeface="Times New Roman" pitchFamily="18" charset="0"/>
                        </a:rPr>
                        <a:t>load with update</a:t>
                      </a:r>
                      <a:endParaRPr kumimoji="1" lang="en-US" altLang="zh-CN" sz="1400" b="1"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 BC     LOOP, CTR&gt;0     //</a:t>
                      </a:r>
                      <a:r>
                        <a:rPr kumimoji="1" lang="en-US" altLang="zh-CN" sz="1400" b="1" i="0" u="none" strike="noStrike" cap="none" normalizeH="0" baseline="0" dirty="0" smtClean="0">
                          <a:ln>
                            <a:noFill/>
                          </a:ln>
                          <a:solidFill>
                            <a:srgbClr val="FF0000"/>
                          </a:solidFill>
                          <a:effectLst/>
                          <a:latin typeface="宋体" panose="02000500000000000000" pitchFamily="2" charset="-122"/>
                          <a:ea typeface="宋体" panose="02000500000000000000" pitchFamily="2" charset="-122"/>
                          <a:cs typeface="Times New Roman" pitchFamily="18" charset="0"/>
                        </a:rPr>
                        <a:t>decrement CTR, branch if&gt;0</a:t>
                      </a:r>
                      <a:endParaRPr kumimoji="1" lang="en-US" altLang="zh-CN" sz="1400" b="1"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228600" algn="l">
                        <a:lnSpc>
                          <a:spcPct val="110000"/>
                        </a:lnSpc>
                        <a:spcBef>
                          <a:spcPct val="20000"/>
                        </a:spcBef>
                        <a:defRPr kumimoji="1" sz="2400" b="1">
                          <a:solidFill>
                            <a:schemeClr val="tx1"/>
                          </a:solidFill>
                          <a:latin typeface="Times New Roman" pitchFamily="18" charset="0"/>
                          <a:ea typeface="宋体" panose="02000500000000000000" pitchFamily="2" charset="-122"/>
                        </a:defRPr>
                      </a:lvl1pPr>
                      <a:lvl2pPr marL="742950" indent="-285750" algn="l">
                        <a:lnSpc>
                          <a:spcPct val="110000"/>
                        </a:lnSpc>
                        <a:spcBef>
                          <a:spcPct val="20000"/>
                        </a:spcBef>
                        <a:defRPr kumimoji="1" sz="2000" b="1">
                          <a:solidFill>
                            <a:schemeClr val="tx1"/>
                          </a:solidFill>
                          <a:latin typeface="Times New Roman" pitchFamily="18" charset="0"/>
                          <a:ea typeface="宋体" panose="02000500000000000000" pitchFamily="2" charset="-122"/>
                        </a:defRPr>
                      </a:lvl2pPr>
                      <a:lvl3pPr marL="1143000" indent="-228600" algn="l">
                        <a:lnSpc>
                          <a:spcPct val="110000"/>
                        </a:lnSpc>
                        <a:spcBef>
                          <a:spcPct val="20000"/>
                        </a:spcBef>
                        <a:defRPr kumimoji="1" b="1">
                          <a:solidFill>
                            <a:schemeClr val="tx1"/>
                          </a:solidFill>
                          <a:latin typeface="Times New Roman" pitchFamily="18" charset="0"/>
                          <a:ea typeface="宋体" panose="02000500000000000000" pitchFamily="2" charset="-122"/>
                        </a:defRPr>
                      </a:lvl3pPr>
                      <a:lvl4pPr marL="1600200" indent="-228600" algn="l">
                        <a:spcBef>
                          <a:spcPct val="20000"/>
                        </a:spcBef>
                        <a:defRPr kumimoji="1">
                          <a:solidFill>
                            <a:schemeClr val="tx1"/>
                          </a:solidFill>
                          <a:latin typeface="Times New Roman" pitchFamily="18" charset="0"/>
                          <a:ea typeface="宋体" panose="02000500000000000000" pitchFamily="2" charset="-122"/>
                        </a:defRPr>
                      </a:lvl4pPr>
                      <a:lvl5pPr marL="2057400" indent="-228600" algn="l">
                        <a:spcBef>
                          <a:spcPct val="20000"/>
                        </a:spcBef>
                        <a:defRPr kumimoji="1">
                          <a:solidFill>
                            <a:schemeClr val="tx1"/>
                          </a:solidFill>
                          <a:latin typeface="Times New Roman" pitchFamily="18" charset="0"/>
                          <a:ea typeface="宋体" panose="02000500000000000000" pitchFamily="2" charset="-122"/>
                        </a:defRPr>
                      </a:lvl5pPr>
                      <a:lvl6pPr marL="25146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6pPr>
                      <a:lvl7pPr marL="29718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7pPr>
                      <a:lvl8pPr marL="34290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8pPr>
                      <a:lvl9pPr marL="3886200" indent="-228600" fontAlgn="base">
                        <a:spcBef>
                          <a:spcPct val="20000"/>
                        </a:spcBef>
                        <a:spcAft>
                          <a:spcPct val="0"/>
                        </a:spcAft>
                        <a:defRPr kumimoji="1">
                          <a:solidFill>
                            <a:schemeClr val="tx1"/>
                          </a:solidFill>
                          <a:latin typeface="Times New Roman" pitchFamily="18" charset="0"/>
                          <a:ea typeface="宋体" panose="02000500000000000000" pitchFamily="2" charset="-122"/>
                        </a:defRPr>
                      </a:lvl9pPr>
                    </a:lstStyle>
                    <a:p>
                      <a:pPr marL="342900" marR="0" lvl="0" indent="-228600" algn="l" defTabSz="914400" rtl="0" eaLnBrk="1" fontAlgn="base" latinLnBrk="0" hangingPunct="1">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a:t>
                      </a:r>
                      <a:r>
                        <a:rPr kumimoji="1" lang="zh-CN" altLang="pt-BR"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指向</a:t>
                      </a: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x</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r2</a:t>
                      </a:r>
                      <a:r>
                        <a:rPr kumimoji="1" lang="zh-CN" altLang="pt-BR"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指向</a:t>
                      </a: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y, </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r6</a:t>
                      </a:r>
                      <a:r>
                        <a:rPr kumimoji="1" lang="zh-CN" altLang="pt-BR"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指向</a:t>
                      </a: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y</a:t>
                      </a:r>
                      <a:r>
                        <a:rPr kumimoji="1" lang="zh-CN" altLang="pt-BR"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的末尾</a:t>
                      </a:r>
                      <a:endParaRPr kumimoji="1" lang="zh-CN" altLang="pt-BR"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fp2</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内容为</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t</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fp4</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内容为</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LOOP:</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LDT    fp3=y(r2,0)</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LDT    fp1=x(r1,0)</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MULT   fp3=fp3,fp2 // t*y </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ADDQ   r2=r2,8</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MULT   fp1=fp1,fp4 // r*x</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SUBQ   r4=r2,r6</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ADDT   fp1=fp3,fp1 //t*y+r*x</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STT    x(r1,0)=fp1</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pt-BR"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ADDQ   r1=r1,8</a:t>
                      </a:r>
                      <a:endParaRPr kumimoji="1" lang="pt-BR"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228600" algn="l" defTabSz="914400" rtl="0" eaLnBrk="0" fontAlgn="base" latinLnBrk="0" hangingPunct="0">
                        <a:lnSpc>
                          <a:spcPct val="100000"/>
                        </a:lnSpc>
                        <a:spcBef>
                          <a:spcPct val="2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BNE    r4, LOOP</a:t>
                      </a:r>
                      <a:endParaRPr kumimoji="1" lang="en-US"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4224"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25</a:t>
            </a:fld>
            <a:endParaRPr lang="en-US" altLang="zh-CN" sz="1400" dirty="0"/>
          </a:p>
        </p:txBody>
      </p:sp>
      <p:sp>
        <p:nvSpPr>
          <p:cNvPr id="5" name="Rectangle 3"/>
          <p:cNvSpPr txBox="1"/>
          <p:nvPr/>
        </p:nvSpPr>
        <p:spPr>
          <a:xfrm>
            <a:off x="142492" y="6286500"/>
            <a:ext cx="11710736" cy="388620"/>
          </a:xfrm>
          <a:prstGeom prst="rect">
            <a:avLst/>
          </a:prstGeom>
          <a:noFill/>
          <a:ln w="9525">
            <a:noFill/>
          </a:ln>
        </p:spPr>
        <p:txBody>
          <a:bodyPr vert="horz" wrap="square" lIns="91440" tIns="45720" rIns="91440" bIns="45720" numCol="1" anchor="t" anchorCtr="0" compatLnSpc="1"/>
          <a:lstStyle/>
          <a:p>
            <a:pPr marL="263525" indent="-360680">
              <a:lnSpc>
                <a:spcPct val="150000"/>
              </a:lnSpc>
              <a:spcBef>
                <a:spcPts val="600"/>
              </a:spcBef>
              <a:buFontTx/>
              <a:buChar char="•"/>
            </a:pPr>
            <a:r>
              <a:rPr kumimoji="0" lang="en-US" altLang="zh-CN" sz="1600" b="1" i="0" u="none" strike="noStrike" kern="0" cap="none" spc="0" normalizeH="0" baseline="0" noProof="0" dirty="0" err="1" smtClean="0">
                <a:ln>
                  <a:noFill/>
                </a:ln>
                <a:solidFill>
                  <a:schemeClr val="tx1"/>
                </a:solidFill>
                <a:effectLst/>
                <a:uLnTx/>
                <a:uFillTx/>
                <a:latin typeface="+mn-ea"/>
                <a:ea typeface="+mn-ea"/>
              </a:rPr>
              <a:t>PowrPC</a:t>
            </a:r>
            <a:r>
              <a:rPr kumimoji="0" lang="en-US" altLang="zh-CN" sz="1600" b="1" i="0" u="none" strike="noStrike" kern="0" cap="none" spc="0" normalizeH="0" noProof="0" dirty="0" smtClean="0">
                <a:ln>
                  <a:noFill/>
                </a:ln>
                <a:solidFill>
                  <a:schemeClr val="tx1"/>
                </a:solidFill>
                <a:effectLst/>
                <a:uLnTx/>
                <a:uFillTx/>
                <a:latin typeface="+mn-ea"/>
                <a:ea typeface="+mn-ea"/>
              </a:rPr>
              <a:t> </a:t>
            </a:r>
            <a:r>
              <a:rPr kumimoji="0" lang="zh-CN" altLang="en-US" sz="1600" b="1" i="0" u="none" strike="noStrike" kern="0" cap="none" spc="0" normalizeH="0" noProof="0" dirty="0" smtClean="0">
                <a:ln>
                  <a:noFill/>
                </a:ln>
                <a:solidFill>
                  <a:schemeClr val="tx1"/>
                </a:solidFill>
                <a:effectLst/>
                <a:uLnTx/>
                <a:uFillTx/>
                <a:latin typeface="+mn-ea"/>
                <a:ea typeface="+mn-ea"/>
              </a:rPr>
              <a:t>指令数目少（</a:t>
            </a:r>
            <a:r>
              <a:rPr kumimoji="0" lang="en-US" altLang="zh-CN" sz="1600" b="1" i="0" u="none" strike="noStrike" kern="0" cap="none" spc="0" normalizeH="0" noProof="0" dirty="0" smtClean="0">
                <a:ln>
                  <a:noFill/>
                </a:ln>
                <a:solidFill>
                  <a:schemeClr val="tx1"/>
                </a:solidFill>
                <a:effectLst/>
                <a:uLnTx/>
                <a:uFillTx/>
                <a:latin typeface="+mn-ea"/>
                <a:ea typeface="+mn-ea"/>
              </a:rPr>
              <a:t>6</a:t>
            </a:r>
            <a:r>
              <a:rPr lang="zh-CN" altLang="en-US" sz="1600" b="1" kern="0" dirty="0" smtClean="0">
                <a:latin typeface="+mn-ea"/>
                <a:ea typeface="+mn-ea"/>
              </a:rPr>
              <a:t>条 </a:t>
            </a:r>
            <a:r>
              <a:rPr lang="en-US" altLang="zh-CN" sz="1600" b="1" kern="0" dirty="0" smtClean="0">
                <a:latin typeface="+mn-ea"/>
                <a:ea typeface="+mn-ea"/>
              </a:rPr>
              <a:t>vs. 10</a:t>
            </a:r>
            <a:r>
              <a:rPr lang="zh-CN" altLang="en-US" sz="1600" b="1" kern="0" dirty="0" smtClean="0">
                <a:latin typeface="+mn-ea"/>
                <a:ea typeface="+mn-ea"/>
              </a:rPr>
              <a:t>条</a:t>
            </a:r>
            <a:r>
              <a:rPr kumimoji="0" lang="zh-CN" altLang="en-US" sz="1600" b="1" i="0" u="none" strike="noStrike" kern="0" cap="none" spc="0" normalizeH="0" noProof="0" dirty="0" smtClean="0">
                <a:ln>
                  <a:noFill/>
                </a:ln>
                <a:solidFill>
                  <a:schemeClr val="tx1"/>
                </a:solidFill>
                <a:effectLst/>
                <a:uLnTx/>
                <a:uFillTx/>
                <a:latin typeface="+mn-ea"/>
                <a:ea typeface="+mn-ea"/>
              </a:rPr>
              <a:t>）；</a:t>
            </a:r>
            <a:r>
              <a:rPr kumimoji="0" lang="en-US" altLang="zh-CN" sz="1600" b="1" i="0" u="none" strike="noStrike" kern="0" cap="none" spc="0" normalizeH="0" baseline="0" noProof="0" dirty="0" smtClean="0">
                <a:ln>
                  <a:noFill/>
                </a:ln>
                <a:solidFill>
                  <a:schemeClr val="tx1"/>
                </a:solidFill>
                <a:effectLst/>
                <a:uLnTx/>
                <a:uFillTx/>
                <a:latin typeface="+mn-ea"/>
                <a:ea typeface="+mn-ea"/>
              </a:rPr>
              <a:t>Alpha</a:t>
            </a:r>
            <a:r>
              <a:rPr kumimoji="0" lang="zh-CN" altLang="zh-CN" sz="1600" b="1" i="0" u="none" strike="noStrike" kern="0" cap="none" spc="0" normalizeH="0" baseline="0" noProof="0" dirty="0" smtClean="0">
                <a:ln>
                  <a:noFill/>
                </a:ln>
                <a:solidFill>
                  <a:schemeClr val="tx1"/>
                </a:solidFill>
                <a:effectLst/>
                <a:uLnTx/>
                <a:uFillTx/>
                <a:latin typeface="+mn-ea"/>
                <a:ea typeface="+mn-ea"/>
              </a:rPr>
              <a:t>指令简单容易高效实现，主频高</a:t>
            </a:r>
            <a:r>
              <a:rPr kumimoji="0" lang="zh-CN" altLang="en-US" sz="1600" b="1" i="0" u="none" strike="noStrike" kern="0" cap="none" spc="0" normalizeH="0" baseline="0" noProof="0" dirty="0" smtClean="0">
                <a:ln>
                  <a:noFill/>
                </a:ln>
                <a:solidFill>
                  <a:schemeClr val="tx1"/>
                </a:solidFill>
                <a:effectLst/>
                <a:uLnTx/>
                <a:uFillTx/>
                <a:latin typeface="+mn-ea"/>
                <a:ea typeface="+mn-ea"/>
              </a:rPr>
              <a:t>（</a:t>
            </a:r>
            <a:r>
              <a:rPr kumimoji="0" lang="en-US" altLang="zh-CN" sz="1600" b="1" i="0" u="none" strike="noStrike" kern="0" cap="none" spc="0" normalizeH="0" baseline="0" noProof="0" dirty="0" smtClean="0">
                <a:ln>
                  <a:noFill/>
                </a:ln>
                <a:solidFill>
                  <a:schemeClr val="tx1"/>
                </a:solidFill>
                <a:effectLst/>
                <a:uLnTx/>
                <a:uFillTx/>
                <a:latin typeface="+mn-ea"/>
                <a:ea typeface="+mn-ea"/>
              </a:rPr>
              <a:t>Alpha21264 </a:t>
            </a:r>
            <a:r>
              <a:rPr kumimoji="0" lang="zh-CN" altLang="en-US" sz="1600" b="1" i="0" u="none" strike="noStrike" kern="0" cap="none" spc="0" normalizeH="0" baseline="0" noProof="0" dirty="0" smtClean="0">
                <a:ln>
                  <a:noFill/>
                </a:ln>
                <a:solidFill>
                  <a:schemeClr val="tx1"/>
                </a:solidFill>
                <a:effectLst/>
                <a:uLnTx/>
                <a:uFillTx/>
                <a:latin typeface="+mn-ea"/>
                <a:ea typeface="+mn-ea"/>
              </a:rPr>
              <a:t>四发射</a:t>
            </a:r>
            <a:r>
              <a:rPr kumimoji="0" lang="en-US" altLang="zh-CN" sz="1600" b="1" i="0" u="none" strike="noStrike" kern="0" cap="none" spc="0" normalizeH="0" baseline="0" noProof="0" dirty="0" smtClean="0">
                <a:ln>
                  <a:noFill/>
                </a:ln>
                <a:solidFill>
                  <a:schemeClr val="tx1"/>
                </a:solidFill>
                <a:effectLst/>
                <a:uLnTx/>
                <a:uFillTx/>
                <a:latin typeface="+mn-ea"/>
                <a:ea typeface="+mn-ea"/>
              </a:rPr>
              <a:t>600MHz/0.35um</a:t>
            </a:r>
            <a:r>
              <a:rPr kumimoji="0" lang="zh-CN" altLang="en-US" sz="1600" b="1" i="0" u="none" strike="noStrike" kern="0" cap="none" spc="0" normalizeH="0" baseline="0" noProof="0" dirty="0" smtClean="0">
                <a:ln>
                  <a:noFill/>
                </a:ln>
                <a:solidFill>
                  <a:schemeClr val="tx1"/>
                </a:solidFill>
                <a:effectLst/>
                <a:uLnTx/>
                <a:uFillTx/>
                <a:latin typeface="+mn-ea"/>
                <a:ea typeface="+mn-ea"/>
              </a:rPr>
              <a:t>）</a:t>
            </a:r>
            <a:endParaRPr kumimoji="0" lang="zh-CN" altLang="en-US" sz="1600" b="1" i="0" u="none" strike="noStrike" kern="0" cap="none" spc="0" normalizeH="0" baseline="0" noProof="0" dirty="0">
              <a:ln>
                <a:noFill/>
              </a:ln>
              <a:solidFill>
                <a:schemeClr val="tx1"/>
              </a:solidFill>
              <a:effectLst/>
              <a:uLnTx/>
              <a:uFillTx/>
              <a:latin typeface="+mn-ea"/>
              <a:ea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p:cNvSpPr>
          <p:nvPr>
            <p:ph type="title"/>
          </p:nvPr>
        </p:nvSpPr>
        <p:spPr>
          <a:xfrm>
            <a:off x="914400" y="0"/>
            <a:ext cx="10361613" cy="1136650"/>
          </a:xfrm>
        </p:spPr>
        <p:txBody>
          <a:bodyPr vert="horz" wrap="square" lIns="91440" tIns="45720" rIns="91440" bIns="45720" anchor="ctr" anchorCtr="0"/>
          <a:lstStyle/>
          <a:p>
            <a:pPr eaLnBrk="1" hangingPunct="1"/>
            <a:r>
              <a:rPr lang="en-US" altLang="zh-CN" dirty="0"/>
              <a:t>Alpha</a:t>
            </a:r>
            <a:r>
              <a:rPr lang="zh-CN" altLang="zh-CN" dirty="0"/>
              <a:t>和</a:t>
            </a:r>
            <a:r>
              <a:rPr lang="en-US" altLang="zh-CN" dirty="0"/>
              <a:t>PowerPC</a:t>
            </a:r>
            <a:r>
              <a:rPr lang="zh-CN" altLang="en-US" dirty="0"/>
              <a:t>比较</a:t>
            </a:r>
          </a:p>
        </p:txBody>
      </p:sp>
      <p:sp>
        <p:nvSpPr>
          <p:cNvPr id="95235" name="Rectangle 3"/>
          <p:cNvSpPr>
            <a:spLocks noGrp="1"/>
          </p:cNvSpPr>
          <p:nvPr>
            <p:ph idx="1"/>
          </p:nvPr>
        </p:nvSpPr>
        <p:spPr>
          <a:xfrm>
            <a:off x="508000" y="1447800"/>
            <a:ext cx="10768013" cy="4648200"/>
          </a:xfrm>
        </p:spPr>
        <p:txBody>
          <a:bodyPr vert="horz" wrap="square" lIns="91440" tIns="45720" rIns="91440" bIns="45720" anchor="t" anchorCtr="0"/>
          <a:lstStyle/>
          <a:p>
            <a:pPr eaLnBrk="1" hangingPunct="1"/>
            <a:r>
              <a:rPr lang="zh-CN" altLang="en-US" dirty="0"/>
              <a:t>从这个例子可以看出</a:t>
            </a:r>
          </a:p>
          <a:p>
            <a:pPr lvl="1" eaLnBrk="1" hangingPunct="1"/>
            <a:r>
              <a:rPr lang="en-US" altLang="zh-CN" dirty="0"/>
              <a:t>PowerPC</a:t>
            </a:r>
            <a:r>
              <a:rPr lang="zh-CN" altLang="en-US" dirty="0"/>
              <a:t>的</a:t>
            </a:r>
            <a:r>
              <a:rPr lang="en-US" altLang="zh-CN" dirty="0"/>
              <a:t>load-with-update</a:t>
            </a:r>
            <a:r>
              <a:rPr lang="zh-CN" altLang="en-US" dirty="0"/>
              <a:t>和</a:t>
            </a:r>
            <a:r>
              <a:rPr lang="en-US" altLang="zh-CN" dirty="0"/>
              <a:t>store-with-update</a:t>
            </a:r>
            <a:r>
              <a:rPr lang="zh-CN" altLang="en-US" dirty="0"/>
              <a:t>指令适合于数组运算，</a:t>
            </a:r>
            <a:r>
              <a:rPr lang="en-US" altLang="zh-CN" dirty="0"/>
              <a:t>Alpha</a:t>
            </a:r>
            <a:r>
              <a:rPr lang="zh-CN" altLang="en-US" dirty="0"/>
              <a:t>没有寄存器加寄存器的寻址方式，指向数组的指针每次分别递增</a:t>
            </a:r>
          </a:p>
          <a:p>
            <a:pPr lvl="1" eaLnBrk="1" hangingPunct="1"/>
            <a:r>
              <a:rPr lang="zh-CN" altLang="en-US" dirty="0"/>
              <a:t>在</a:t>
            </a:r>
            <a:r>
              <a:rPr lang="en-US" altLang="zh-CN" dirty="0"/>
              <a:t>Alpha</a:t>
            </a:r>
            <a:r>
              <a:rPr lang="zh-CN" altLang="en-US" dirty="0"/>
              <a:t>中，循环次数由指针实现，在</a:t>
            </a:r>
            <a:r>
              <a:rPr lang="en-US" altLang="zh-CN" dirty="0"/>
              <a:t>PowerPC</a:t>
            </a:r>
            <a:r>
              <a:rPr lang="zh-CN" altLang="en-US" dirty="0"/>
              <a:t>中，有</a:t>
            </a:r>
            <a:r>
              <a:rPr lang="en-US" altLang="zh-CN" dirty="0"/>
              <a:t>CTR</a:t>
            </a:r>
            <a:r>
              <a:rPr lang="zh-CN" altLang="en-US" dirty="0"/>
              <a:t>专门用于保存循环次数</a:t>
            </a:r>
            <a:endParaRPr lang="en-US" altLang="en-US" dirty="0"/>
          </a:p>
          <a:p>
            <a:pPr lvl="1" eaLnBrk="1" hangingPunct="1"/>
            <a:r>
              <a:rPr lang="en-US" altLang="zh-CN" dirty="0"/>
              <a:t>PowerPC</a:t>
            </a:r>
            <a:r>
              <a:rPr lang="zh-CN" altLang="en-US" dirty="0"/>
              <a:t>只需两条浮点指令：乘及乘加</a:t>
            </a:r>
          </a:p>
          <a:p>
            <a:pPr lvl="1" eaLnBrk="1" hangingPunct="1"/>
            <a:r>
              <a:rPr lang="en-US" altLang="zh-CN" dirty="0"/>
              <a:t>Alpha</a:t>
            </a:r>
            <a:r>
              <a:rPr lang="zh-CN" altLang="zh-CN" dirty="0"/>
              <a:t>需要10条指令，比</a:t>
            </a:r>
            <a:r>
              <a:rPr lang="en-US" altLang="zh-CN" dirty="0"/>
              <a:t>PowerPC</a:t>
            </a:r>
            <a:r>
              <a:rPr lang="zh-CN" altLang="en-US" dirty="0"/>
              <a:t>多</a:t>
            </a:r>
            <a:r>
              <a:rPr lang="en-US" altLang="zh-CN" dirty="0"/>
              <a:t>4</a:t>
            </a:r>
            <a:r>
              <a:rPr lang="zh-CN" altLang="en-US" dirty="0"/>
              <a:t>条</a:t>
            </a:r>
          </a:p>
          <a:p>
            <a:pPr lvl="1" eaLnBrk="1" hangingPunct="1"/>
            <a:r>
              <a:rPr lang="en-US" altLang="zh-CN" dirty="0"/>
              <a:t>Alpha</a:t>
            </a:r>
            <a:r>
              <a:rPr lang="zh-CN" altLang="zh-CN" dirty="0"/>
              <a:t>指令简单容易高效实现，主频也高</a:t>
            </a:r>
            <a:endParaRPr lang="zh-CN" altLang="en-US" dirty="0"/>
          </a:p>
        </p:txBody>
      </p:sp>
      <p:sp>
        <p:nvSpPr>
          <p:cNvPr id="9523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26</a:t>
            </a:fld>
            <a:endParaRPr lang="en-US" altLang="zh-CN"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914400" y="1682750"/>
          <a:ext cx="10363200" cy="4678680"/>
        </p:xfrm>
        <a:graphic>
          <a:graphicData uri="http://schemas.openxmlformats.org/drawingml/2006/table">
            <a:tbl>
              <a:tblPr firstRow="1" bandRow="1">
                <a:tableStyleId>{5C22544A-7EE6-4342-B048-85BDC9FD1C3A}</a:tableStyleId>
              </a:tblPr>
              <a:tblGrid>
                <a:gridCol w="1458595"/>
                <a:gridCol w="1757045"/>
                <a:gridCol w="1548130"/>
                <a:gridCol w="1757680"/>
                <a:gridCol w="1697355"/>
                <a:gridCol w="2144395"/>
              </a:tblGrid>
              <a:tr h="381000">
                <a:tc>
                  <a:txBody>
                    <a:bodyPr/>
                    <a:lstStyle/>
                    <a:p>
                      <a:pPr indent="0" algn="ctr">
                        <a:buNone/>
                      </a:pP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solidFill>
                            <a:srgbClr val="FF0000"/>
                          </a:solidFill>
                          <a:latin typeface="黑体" panose="02000500000000000000" pitchFamily="49" charset="-122"/>
                          <a:ea typeface="黑体" panose="02000500000000000000" pitchFamily="49" charset="-122"/>
                        </a:rPr>
                        <a:t>MIPS</a:t>
                      </a: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solidFill>
                            <a:srgbClr val="FF0000"/>
                          </a:solidFill>
                          <a:latin typeface="黑体" panose="02000500000000000000" pitchFamily="49" charset="-122"/>
                          <a:ea typeface="黑体" panose="02000500000000000000" pitchFamily="49" charset="-122"/>
                        </a:rPr>
                        <a:t>ALPHA</a:t>
                      </a: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solidFill>
                            <a:srgbClr val="FF0000"/>
                          </a:solidFill>
                          <a:latin typeface="黑体" panose="02000500000000000000" pitchFamily="49" charset="-122"/>
                          <a:ea typeface="黑体" panose="02000500000000000000" pitchFamily="49" charset="-122"/>
                        </a:rPr>
                        <a:t>PA-RISC</a:t>
                      </a: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solidFill>
                            <a:srgbClr val="FF0000"/>
                          </a:solidFill>
                          <a:latin typeface="黑体" panose="02000500000000000000" pitchFamily="49" charset="-122"/>
                          <a:ea typeface="黑体" panose="02000500000000000000" pitchFamily="49" charset="-122"/>
                        </a:rPr>
                        <a:t>SPARC</a:t>
                      </a: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solidFill>
                            <a:srgbClr val="FF0000"/>
                          </a:solidFill>
                          <a:latin typeface="黑体" panose="02000500000000000000" pitchFamily="49" charset="-122"/>
                          <a:ea typeface="黑体" panose="02000500000000000000" pitchFamily="49" charset="-122"/>
                        </a:rPr>
                        <a:t>PowerPC</a:t>
                      </a:r>
                      <a:endParaRPr lang="en-US" altLang="en-US" sz="1600" b="1">
                        <a:solidFill>
                          <a:srgbClr val="FF0000"/>
                        </a:solidFill>
                        <a:latin typeface="黑体" panose="02000500000000000000" pitchFamily="49" charset="-122"/>
                        <a:ea typeface="黑体" panose="02000500000000000000" pitchFamily="49"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1986</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MIPS I</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PA-RISC 1.0</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RT/PC</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1987</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SPARC v8</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1988</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1989</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MIPS II</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1990</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PA-RISC 1.1</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Power 1</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1991</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1992</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MIPS III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Alpha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1993</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Power 2&amp; Power PC</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1994</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MIPS IV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SPARC v9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1995</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Power PC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a:txBody>
                    <a:bodyPr/>
                    <a:lstStyle/>
                    <a:p>
                      <a:pPr indent="0" algn="ctr">
                        <a:buNone/>
                      </a:pPr>
                      <a:r>
                        <a:rPr lang="en-US" sz="1600" b="1">
                          <a:latin typeface="宋体" panose="02000500000000000000" pitchFamily="2" charset="-122"/>
                          <a:ea typeface="宋体" panose="02000500000000000000" pitchFamily="2" charset="-122"/>
                        </a:rPr>
                        <a:t>1996</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PA-RISC 2.0 (64b)</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endParaRPr lang="en-US" altLang="en-US" sz="1600" b="1">
                        <a:latin typeface="宋体" panose="02000500000000000000" pitchFamily="2" charset="-122"/>
                        <a:ea typeface="宋体" panose="02000500000000000000" pitchFamily="2" charset="-122"/>
                      </a:endParaRPr>
                    </a:p>
                  </a:txBody>
                  <a:tcPr marL="17780" marR="177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1027" name="Rectangle 2"/>
          <p:cNvSpPr>
            <a:spLocks noGrp="1"/>
          </p:cNvSpPr>
          <p:nvPr/>
        </p:nvSpPr>
        <p:spPr>
          <a:xfrm>
            <a:off x="914400" y="381000"/>
            <a:ext cx="10361613" cy="6858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3600">
                <a:solidFill>
                  <a:srgbClr val="FF3300"/>
                </a:solidFill>
                <a:latin typeface="+mj-lt"/>
                <a:ea typeface="+mj-ea"/>
                <a:cs typeface="+mj-cs"/>
              </a:defRPr>
            </a:lvl1pPr>
            <a:lvl2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2pPr>
            <a:lvl3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3pPr>
            <a:lvl4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4pPr>
            <a:lvl5pPr algn="ctr" rtl="0" eaLnBrk="0" fontAlgn="base" hangingPunct="0">
              <a:spcBef>
                <a:spcPct val="0"/>
              </a:spcBef>
              <a:spcAft>
                <a:spcPct val="0"/>
              </a:spcAft>
              <a:defRPr sz="3600">
                <a:solidFill>
                  <a:srgbClr val="FF3300"/>
                </a:solidFill>
                <a:latin typeface="Times New Roman" pitchFamily="18" charset="0"/>
                <a:ea typeface="黑体" panose="02000500000000000000" pitchFamily="49" charset="-122"/>
              </a:defRPr>
            </a:lvl5pPr>
            <a:lvl6pPr marL="4572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6pPr>
            <a:lvl7pPr marL="9144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7pPr>
            <a:lvl8pPr marL="13716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8pPr>
            <a:lvl9pPr marL="1828800" algn="ctr" rtl="0" eaLnBrk="1" fontAlgn="base" hangingPunct="1">
              <a:spcBef>
                <a:spcPct val="0"/>
              </a:spcBef>
              <a:spcAft>
                <a:spcPct val="0"/>
              </a:spcAft>
              <a:defRPr kumimoji="1" sz="3600">
                <a:solidFill>
                  <a:srgbClr val="FF3300"/>
                </a:solidFill>
                <a:latin typeface="Times New Roman" pitchFamily="18" charset="0"/>
                <a:ea typeface="黑体" panose="02000500000000000000" pitchFamily="49" charset="-122"/>
              </a:defRPr>
            </a:lvl9pPr>
          </a:lstStyle>
          <a:p>
            <a:pPr eaLnBrk="1" hangingPunct="1"/>
            <a:r>
              <a:rPr lang="en-US" altLang="zh-CN" dirty="0"/>
              <a:t>RISC</a:t>
            </a:r>
            <a:r>
              <a:rPr lang="zh-CN" altLang="en-US" dirty="0"/>
              <a:t>指令系统的早期发展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（二）存储管理的演变</a:t>
            </a:r>
          </a:p>
        </p:txBody>
      </p:sp>
      <p:sp>
        <p:nvSpPr>
          <p:cNvPr id="40963" name="内容占位符 2"/>
          <p:cNvSpPr>
            <a:spLocks noGrp="1"/>
          </p:cNvSpPr>
          <p:nvPr>
            <p:ph idx="1"/>
          </p:nvPr>
        </p:nvSpPr>
        <p:spPr>
          <a:xfrm>
            <a:off x="914400" y="1258888"/>
            <a:ext cx="10361613" cy="4349750"/>
          </a:xfrm>
        </p:spPr>
        <p:txBody>
          <a:bodyPr vert="horz" wrap="square" lIns="91440" tIns="45720" rIns="91440" bIns="45720" anchor="t" anchorCtr="0"/>
          <a:lstStyle/>
          <a:p>
            <a:pPr eaLnBrk="1" hangingPunct="1"/>
            <a:r>
              <a:rPr lang="zh-CN" altLang="en-US" dirty="0"/>
              <a:t>连续实地址</a:t>
            </a:r>
            <a:endParaRPr lang="en-US" altLang="zh-CN" dirty="0"/>
          </a:p>
          <a:p>
            <a:pPr lvl="1" eaLnBrk="1" hangingPunct="1"/>
            <a:r>
              <a:rPr lang="zh-CN" altLang="en-US" dirty="0"/>
              <a:t>各程序数据连续存放，显式保证不冲突</a:t>
            </a:r>
            <a:endParaRPr lang="en-US" altLang="zh-CN" dirty="0"/>
          </a:p>
          <a:p>
            <a:pPr lvl="1" eaLnBrk="1" hangingPunct="1"/>
            <a:r>
              <a:rPr lang="zh-CN" altLang="en-US" dirty="0"/>
              <a:t>碎片多、管理难</a:t>
            </a:r>
            <a:endParaRPr lang="en-US" altLang="zh-CN" dirty="0"/>
          </a:p>
          <a:p>
            <a:pPr eaLnBrk="1" hangingPunct="1"/>
            <a:r>
              <a:rPr lang="zh-CN" altLang="en-US" dirty="0"/>
              <a:t>段式</a:t>
            </a:r>
            <a:endParaRPr lang="en-US" altLang="zh-CN" dirty="0"/>
          </a:p>
          <a:p>
            <a:pPr lvl="1" eaLnBrk="1" hangingPunct="1"/>
            <a:r>
              <a:rPr lang="zh-CN" altLang="en-US" dirty="0"/>
              <a:t>分为多个段，通过相对段的偏移来访问</a:t>
            </a:r>
            <a:endParaRPr lang="en-US" altLang="zh-CN" dirty="0"/>
          </a:p>
          <a:p>
            <a:pPr lvl="1" eaLnBrk="1" hangingPunct="1"/>
            <a:r>
              <a:rPr lang="en-US" altLang="zh-CN" dirty="0"/>
              <a:t>Segment Fault</a:t>
            </a:r>
          </a:p>
          <a:p>
            <a:pPr eaLnBrk="1" hangingPunct="1"/>
            <a:r>
              <a:rPr lang="zh-CN" altLang="en-US" dirty="0"/>
              <a:t>页式虚拟存储</a:t>
            </a:r>
            <a:endParaRPr lang="en-US" altLang="zh-CN" dirty="0"/>
          </a:p>
          <a:p>
            <a:pPr lvl="1" eaLnBrk="1" hangingPunct="1"/>
            <a:r>
              <a:rPr lang="zh-CN" altLang="en-US" dirty="0"/>
              <a:t>将虚地址和实地址的对应关系组织为页表</a:t>
            </a:r>
            <a:endParaRPr lang="en-US" altLang="zh-CN" dirty="0"/>
          </a:p>
          <a:p>
            <a:pPr lvl="1" eaLnBrk="1" hangingPunct="1"/>
            <a:r>
              <a:rPr lang="zh-CN" altLang="en-US" dirty="0"/>
              <a:t>通过</a:t>
            </a:r>
            <a:r>
              <a:rPr lang="en-US" altLang="zh-CN" dirty="0"/>
              <a:t>TLB</a:t>
            </a:r>
            <a:r>
              <a:rPr lang="zh-CN" altLang="en-US" dirty="0"/>
              <a:t>进行硬件支持</a:t>
            </a:r>
            <a:endParaRPr lang="en-US" altLang="zh-CN" dirty="0"/>
          </a:p>
          <a:p>
            <a:pPr eaLnBrk="1" hangingPunct="1"/>
            <a:r>
              <a:rPr lang="zh-CN" altLang="en-US" dirty="0"/>
              <a:t>段页式：融合段式和页式</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存储管理的演变 </a:t>
            </a:r>
            <a:r>
              <a:rPr lang="en-US" altLang="zh-CN" dirty="0"/>
              <a:t>– </a:t>
            </a:r>
            <a:r>
              <a:rPr lang="zh-CN" altLang="en-US" dirty="0"/>
              <a:t>段式</a:t>
            </a:r>
          </a:p>
        </p:txBody>
      </p:sp>
      <p:sp>
        <p:nvSpPr>
          <p:cNvPr id="2052" name="内容占位符 5"/>
          <p:cNvSpPr>
            <a:spLocks noGrp="1"/>
          </p:cNvSpPr>
          <p:nvPr>
            <p:ph idx="1"/>
          </p:nvPr>
        </p:nvSpPr>
        <p:spPr>
          <a:xfrm>
            <a:off x="598488" y="1281113"/>
            <a:ext cx="8250237" cy="4854575"/>
          </a:xfrm>
        </p:spPr>
        <p:txBody>
          <a:bodyPr vert="horz" wrap="square" lIns="91440" tIns="45720" rIns="91440" bIns="45720" anchor="t" anchorCtr="0"/>
          <a:lstStyle/>
          <a:p>
            <a:pPr eaLnBrk="1" hangingPunct="1"/>
            <a:r>
              <a:rPr lang="zh-CN" altLang="en-US" dirty="0"/>
              <a:t>段表包含长度检查，偏移超过长度产生段错误</a:t>
            </a:r>
            <a:endParaRPr lang="en-US" altLang="zh-CN" dirty="0"/>
          </a:p>
          <a:p>
            <a:pPr eaLnBrk="1" hangingPunct="1"/>
            <a:r>
              <a:rPr lang="zh-CN" altLang="en-US" dirty="0"/>
              <a:t>地址结果通过加法得到</a:t>
            </a:r>
          </a:p>
        </p:txBody>
      </p:sp>
      <p:pic>
        <p:nvPicPr>
          <p:cNvPr id="2053" name="图片 4"/>
          <p:cNvPicPr>
            <a:picLocks noChangeAspect="1"/>
          </p:cNvPicPr>
          <p:nvPr/>
        </p:nvPicPr>
        <p:blipFill>
          <a:blip r:embed="rId3" cstate="print"/>
          <a:stretch>
            <a:fillRect/>
          </a:stretch>
        </p:blipFill>
        <p:spPr>
          <a:xfrm>
            <a:off x="1455738" y="3367088"/>
            <a:ext cx="6997700" cy="2413000"/>
          </a:xfrm>
          <a:prstGeom prst="rect">
            <a:avLst/>
          </a:prstGeom>
          <a:noFill/>
          <a:ln w="9525">
            <a:noFill/>
          </a:ln>
        </p:spPr>
      </p:pic>
      <p:graphicFrame>
        <p:nvGraphicFramePr>
          <p:cNvPr id="2050" name="Object 7"/>
          <p:cNvGraphicFramePr>
            <a:graphicFrameLocks/>
          </p:cNvGraphicFramePr>
          <p:nvPr/>
        </p:nvGraphicFramePr>
        <p:xfrm>
          <a:off x="9090025" y="1331913"/>
          <a:ext cx="2801938" cy="5229225"/>
        </p:xfrm>
        <a:graphic>
          <a:graphicData uri="http://schemas.openxmlformats.org/presentationml/2006/ole">
            <p:oleObj spid="_x0000_s1025" r:id="rId4" imgW="2135531" imgH="5275616" progId="Word.Document.8">
              <p:embed/>
            </p:oleObj>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存储管理的演变 </a:t>
            </a:r>
            <a:r>
              <a:rPr lang="en-US" altLang="zh-CN" dirty="0"/>
              <a:t>– </a:t>
            </a:r>
            <a:r>
              <a:rPr lang="zh-CN" altLang="en-US" dirty="0"/>
              <a:t>段页式</a:t>
            </a:r>
          </a:p>
        </p:txBody>
      </p:sp>
      <p:sp>
        <p:nvSpPr>
          <p:cNvPr id="4100" name="内容占位符 2"/>
          <p:cNvSpPr>
            <a:spLocks noGrp="1"/>
          </p:cNvSpPr>
          <p:nvPr>
            <p:ph idx="1"/>
          </p:nvPr>
        </p:nvSpPr>
        <p:spPr>
          <a:xfrm>
            <a:off x="914400" y="1143000"/>
            <a:ext cx="10361613" cy="1457325"/>
          </a:xfrm>
        </p:spPr>
        <p:txBody>
          <a:bodyPr vert="horz" wrap="square" lIns="91440" tIns="45720" rIns="91440" bIns="45720" anchor="t" anchorCtr="0"/>
          <a:lstStyle/>
          <a:p>
            <a:pPr eaLnBrk="1" hangingPunct="1"/>
            <a:r>
              <a:rPr lang="zh-CN" altLang="en-US" dirty="0"/>
              <a:t>先分段，段内分页</a:t>
            </a:r>
            <a:endParaRPr lang="en-US" altLang="zh-CN" dirty="0"/>
          </a:p>
          <a:p>
            <a:pPr lvl="1" eaLnBrk="1" hangingPunct="1"/>
            <a:r>
              <a:rPr lang="zh-CN" altLang="en-US" dirty="0"/>
              <a:t>图中</a:t>
            </a:r>
            <a:r>
              <a:rPr lang="en-US" altLang="zh-CN" dirty="0"/>
              <a:t>0-15</a:t>
            </a:r>
            <a:r>
              <a:rPr lang="zh-CN" altLang="en-US" dirty="0"/>
              <a:t>页为第一段，</a:t>
            </a:r>
            <a:r>
              <a:rPr lang="en-US" altLang="zh-CN" dirty="0"/>
              <a:t>16-31</a:t>
            </a:r>
            <a:r>
              <a:rPr lang="zh-CN" altLang="en-US" dirty="0"/>
              <a:t>页为第二段</a:t>
            </a:r>
            <a:endParaRPr lang="en-US" altLang="zh-CN" dirty="0"/>
          </a:p>
          <a:p>
            <a:pPr lvl="1" eaLnBrk="1" hangingPunct="1"/>
            <a:r>
              <a:rPr lang="zh-CN" altLang="en-US" dirty="0"/>
              <a:t>根据段表得到本段的页表位置</a:t>
            </a:r>
            <a:endParaRPr lang="en-US" altLang="zh-CN" dirty="0"/>
          </a:p>
        </p:txBody>
      </p:sp>
      <p:pic>
        <p:nvPicPr>
          <p:cNvPr id="4101" name="图片 3"/>
          <p:cNvPicPr>
            <a:picLocks noChangeAspect="1"/>
          </p:cNvPicPr>
          <p:nvPr/>
        </p:nvPicPr>
        <p:blipFill>
          <a:blip r:embed="rId4" cstate="print"/>
          <a:stretch>
            <a:fillRect/>
          </a:stretch>
        </p:blipFill>
        <p:spPr>
          <a:xfrm>
            <a:off x="1639888" y="2719388"/>
            <a:ext cx="6923087" cy="3179762"/>
          </a:xfrm>
          <a:prstGeom prst="rect">
            <a:avLst/>
          </a:prstGeom>
          <a:noFill/>
          <a:ln w="9525">
            <a:noFill/>
          </a:ln>
        </p:spPr>
      </p:pic>
      <p:graphicFrame>
        <p:nvGraphicFramePr>
          <p:cNvPr id="4098" name="Object 7"/>
          <p:cNvGraphicFramePr>
            <a:graphicFrameLocks/>
          </p:cNvGraphicFramePr>
          <p:nvPr/>
        </p:nvGraphicFramePr>
        <p:xfrm>
          <a:off x="9088438" y="1330325"/>
          <a:ext cx="2784475" cy="5189538"/>
        </p:xfrm>
        <a:graphic>
          <a:graphicData uri="http://schemas.openxmlformats.org/presentationml/2006/ole">
            <p:oleObj spid="_x0000_s62465" r:id="rId5" imgW="2135531" imgH="5275616" progId="Word.Document.8">
              <p:embed/>
            </p:oleObj>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31</a:t>
            </a:fld>
            <a:endParaRPr lang="en-US" altLang="zh-CN" sz="1400" dirty="0"/>
          </a:p>
        </p:txBody>
      </p:sp>
      <p:sp>
        <p:nvSpPr>
          <p:cNvPr id="31747" name="Rectangle 2"/>
          <p:cNvSpPr>
            <a:spLocks noGrp="1"/>
          </p:cNvSpPr>
          <p:nvPr>
            <p:ph type="title"/>
          </p:nvPr>
        </p:nvSpPr>
        <p:spPr>
          <a:xfrm>
            <a:off x="939800" y="76200"/>
            <a:ext cx="10361613" cy="1039813"/>
          </a:xfrm>
        </p:spPr>
        <p:txBody>
          <a:bodyPr vert="horz" wrap="square" lIns="91440" tIns="45720" rIns="91440" bIns="45720" anchor="ctr" anchorCtr="0"/>
          <a:lstStyle/>
          <a:p>
            <a:pPr eaLnBrk="1" hangingPunct="1"/>
            <a:r>
              <a:rPr lang="en-US" altLang="zh-CN" dirty="0"/>
              <a:t>MIPS32</a:t>
            </a:r>
            <a:r>
              <a:rPr lang="zh-CN" altLang="en-US" dirty="0"/>
              <a:t>存储空间分段</a:t>
            </a:r>
            <a:r>
              <a:rPr lang="en-US" altLang="zh-CN" dirty="0"/>
              <a:t>/</a:t>
            </a:r>
            <a:r>
              <a:rPr lang="zh-CN" altLang="en-US" dirty="0"/>
              <a:t>页情况（段页式）</a:t>
            </a:r>
          </a:p>
        </p:txBody>
      </p:sp>
      <p:graphicFrame>
        <p:nvGraphicFramePr>
          <p:cNvPr id="505978" name="Group 122"/>
          <p:cNvGraphicFramePr>
            <a:graphicFrameLocks noGrp="1"/>
          </p:cNvGraphicFramePr>
          <p:nvPr>
            <p:ph idx="4294967295"/>
          </p:nvPr>
        </p:nvGraphicFramePr>
        <p:xfrm>
          <a:off x="1100138" y="2203450"/>
          <a:ext cx="9485666" cy="3216277"/>
        </p:xfrm>
        <a:graphic>
          <a:graphicData uri="http://schemas.openxmlformats.org/drawingml/2006/table">
            <a:tbl>
              <a:tblPr/>
              <a:tblGrid>
                <a:gridCol w="1894171"/>
                <a:gridCol w="996820"/>
                <a:gridCol w="2105810"/>
                <a:gridCol w="1661366"/>
                <a:gridCol w="2827499"/>
              </a:tblGrid>
              <a:tr h="3381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地址范围</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容量</a:t>
                      </a: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映射方式</a:t>
                      </a: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Cached</a:t>
                      </a: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访问权限</a:t>
                      </a: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Courier New" pitchFamily="49" charset="0"/>
                          <a:ea typeface="宋体" panose="02000500000000000000" pitchFamily="2" charset="-122"/>
                        </a:rPr>
                        <a:t>0xe0000000-0xffffffff</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0.5GB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查找</a:t>
                      </a: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Yes (TLB)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Kernel</a:t>
                      </a: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Courier New" pitchFamily="49" charset="0"/>
                          <a:ea typeface="宋体" panose="02000500000000000000" pitchFamily="2" charset="-122"/>
                        </a:rPr>
                        <a:t>0xc0000000-0xdfffffff</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0.5GB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查找</a:t>
                      </a: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Yes (TLB)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Kernel, Supervisor</a:t>
                      </a: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Courier New" pitchFamily="49" charset="0"/>
                          <a:ea typeface="宋体" panose="02000500000000000000" pitchFamily="2" charset="-122"/>
                        </a:rPr>
                        <a:t>0xa0000000-0xbfffffff</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0.5GB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地址</a:t>
                      </a: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-0xa0000000</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No</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Kernel</a:t>
                      </a: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Courier New" pitchFamily="49" charset="0"/>
                          <a:ea typeface="宋体" panose="02000500000000000000" pitchFamily="2" charset="-122"/>
                        </a:rPr>
                        <a:t>0x80000000-0x9fffffff</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0.5GB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地址</a:t>
                      </a: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-0x80000000</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Yes (Config)</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Kernel</a:t>
                      </a: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Courier New" pitchFamily="49" charset="0"/>
                          <a:ea typeface="宋体" panose="02000500000000000000" pitchFamily="2" charset="-122"/>
                        </a:rPr>
                        <a:t>0x00000000-0x7fffffff</a:t>
                      </a: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   2GB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查找</a:t>
                      </a: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Yes (TLB)</a:t>
                      </a: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Kernel, Supervisor, User</a:t>
                      </a: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7"/>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存储管理的演变 </a:t>
            </a:r>
            <a:r>
              <a:rPr lang="en-US" altLang="zh-CN" dirty="0"/>
              <a:t>– </a:t>
            </a:r>
            <a:r>
              <a:rPr lang="zh-CN" altLang="en-US" dirty="0"/>
              <a:t>页式</a:t>
            </a:r>
          </a:p>
        </p:txBody>
      </p:sp>
      <p:sp>
        <p:nvSpPr>
          <p:cNvPr id="3076" name="内容占位符 8"/>
          <p:cNvSpPr>
            <a:spLocks noGrp="1"/>
          </p:cNvSpPr>
          <p:nvPr>
            <p:ph idx="1"/>
          </p:nvPr>
        </p:nvSpPr>
        <p:spPr>
          <a:xfrm>
            <a:off x="914400" y="1143000"/>
            <a:ext cx="8188325" cy="4114800"/>
          </a:xfrm>
        </p:spPr>
        <p:txBody>
          <a:bodyPr vert="horz" wrap="square" lIns="91440" tIns="45720" rIns="91440" bIns="45720" anchor="t" anchorCtr="0"/>
          <a:lstStyle/>
          <a:p>
            <a:pPr eaLnBrk="1" hangingPunct="1"/>
            <a:r>
              <a:rPr lang="zh-CN" altLang="en-US" dirty="0"/>
              <a:t>页表中包含有效、可写等标志信息</a:t>
            </a:r>
            <a:endParaRPr lang="en-US" altLang="zh-CN" dirty="0"/>
          </a:p>
          <a:p>
            <a:pPr eaLnBrk="1" hangingPunct="1"/>
            <a:r>
              <a:rPr lang="zh-CN" altLang="en-US" dirty="0"/>
              <a:t>地址结果通过页地址和页内地址组合得到</a:t>
            </a:r>
          </a:p>
        </p:txBody>
      </p:sp>
      <p:pic>
        <p:nvPicPr>
          <p:cNvPr id="3077" name="图片 9"/>
          <p:cNvPicPr>
            <a:picLocks noChangeAspect="1"/>
          </p:cNvPicPr>
          <p:nvPr/>
        </p:nvPicPr>
        <p:blipFill>
          <a:blip r:embed="rId3" cstate="print"/>
          <a:stretch>
            <a:fillRect/>
          </a:stretch>
        </p:blipFill>
        <p:spPr>
          <a:xfrm>
            <a:off x="1376363" y="2836863"/>
            <a:ext cx="5645150" cy="2841625"/>
          </a:xfrm>
          <a:prstGeom prst="rect">
            <a:avLst/>
          </a:prstGeom>
          <a:noFill/>
          <a:ln w="9525">
            <a:noFill/>
          </a:ln>
        </p:spPr>
      </p:pic>
      <p:graphicFrame>
        <p:nvGraphicFramePr>
          <p:cNvPr id="3074" name="Object 7"/>
          <p:cNvGraphicFramePr>
            <a:graphicFrameLocks/>
          </p:cNvGraphicFramePr>
          <p:nvPr/>
        </p:nvGraphicFramePr>
        <p:xfrm>
          <a:off x="9088438" y="1330325"/>
          <a:ext cx="2784475" cy="5189538"/>
        </p:xfrm>
        <a:graphic>
          <a:graphicData uri="http://schemas.openxmlformats.org/presentationml/2006/ole">
            <p:oleObj spid="_x0000_s63489" r:id="rId4" imgW="2122008" imgH="5275253" progId="Word.Document.8">
              <p:embed/>
            </p:oleObj>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b="0" dirty="0"/>
              <a:pPr lvl="0" algn="r" eaLnBrk="1" hangingPunct="1"/>
              <a:t>33</a:t>
            </a:fld>
            <a:endParaRPr lang="en-US" altLang="zh-CN" sz="1400" b="0" dirty="0"/>
          </a:p>
        </p:txBody>
      </p:sp>
      <p:sp>
        <p:nvSpPr>
          <p:cNvPr id="3076" name="Rectangle 2"/>
          <p:cNvSpPr>
            <a:spLocks noGrp="1"/>
          </p:cNvSpPr>
          <p:nvPr>
            <p:ph type="title"/>
          </p:nvPr>
        </p:nvSpPr>
        <p:spPr>
          <a:xfrm>
            <a:off x="914718" y="-317"/>
            <a:ext cx="10361612" cy="695325"/>
          </a:xfrm>
        </p:spPr>
        <p:txBody>
          <a:bodyPr vert="horz" wrap="square" lIns="91440" tIns="45720" rIns="91440" bIns="45720" anchor="ctr" anchorCtr="0"/>
          <a:lstStyle/>
          <a:p>
            <a:pPr eaLnBrk="1" hangingPunct="1"/>
            <a:r>
              <a:rPr lang="en-US" altLang="en-US" dirty="0"/>
              <a:t>LoongArch</a:t>
            </a:r>
            <a:r>
              <a:rPr lang="zh-CN" altLang="en-US" dirty="0"/>
              <a:t>的虚拟地址空间（页式）</a:t>
            </a:r>
          </a:p>
        </p:txBody>
      </p:sp>
      <p:graphicFrame>
        <p:nvGraphicFramePr>
          <p:cNvPr id="3074" name="对象 -2147482624"/>
          <p:cNvGraphicFramePr>
            <a:graphicFrameLocks/>
          </p:cNvGraphicFramePr>
          <p:nvPr/>
        </p:nvGraphicFramePr>
        <p:xfrm>
          <a:off x="1498600" y="2601595"/>
          <a:ext cx="9499600" cy="4088130"/>
        </p:xfrm>
        <a:graphic>
          <a:graphicData uri="http://schemas.openxmlformats.org/presentationml/2006/ole">
            <p:oleObj spid="_x0000_s66561" r:id="rId3" imgW="3886200" imgH="2228801" progId="">
              <p:embed/>
            </p:oleObj>
          </a:graphicData>
        </a:graphic>
      </p:graphicFrame>
      <p:sp>
        <p:nvSpPr>
          <p:cNvPr id="59395" name="Rectangle 3"/>
          <p:cNvSpPr>
            <a:spLocks noGrp="1" noChangeArrowheads="1"/>
          </p:cNvSpPr>
          <p:nvPr>
            <p:ph idx="1"/>
          </p:nvPr>
        </p:nvSpPr>
        <p:spPr>
          <a:xfrm>
            <a:off x="635635" y="815340"/>
            <a:ext cx="10848340" cy="1734185"/>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0" cap="none" spc="0" normalizeH="0" baseline="0" noProof="0" smtClean="0">
                <a:ln>
                  <a:noFill/>
                </a:ln>
                <a:solidFill>
                  <a:schemeClr val="tx1"/>
                </a:solidFill>
                <a:effectLst/>
                <a:uLnTx/>
                <a:uFillTx/>
                <a:latin typeface="+mn-ea"/>
                <a:ea typeface="+mn-ea"/>
                <a:cs typeface="+mn-cs"/>
              </a:rPr>
              <a:t>两种虚实地址翻译模式：直接地址翻译模式和映射地址翻译模式</a:t>
            </a:r>
          </a:p>
          <a:p>
            <a:pPr marL="720725" marR="0" lvl="1" indent="-360680" algn="l" defTabSz="914400" rtl="0" eaLnBrk="1" fontAlgn="base" latinLnBrk="0" hangingPunct="1">
              <a:lnSpc>
                <a:spcPct val="150000"/>
              </a:lnSpc>
              <a:spcBef>
                <a:spcPts val="600"/>
              </a:spcBef>
              <a:spcAft>
                <a:spcPct val="0"/>
              </a:spcAft>
              <a:buClrTx/>
              <a:buSzTx/>
              <a:buFontTx/>
              <a:buChar char="•"/>
              <a:defRPr/>
            </a:pPr>
            <a:r>
              <a:rPr kumimoji="0" lang="en-US" altLang="zh-CN" sz="1400" b="1" i="0" u="none" strike="noStrike" kern="0" cap="none" spc="0" normalizeH="0" baseline="0" noProof="0" smtClean="0">
                <a:ln>
                  <a:noFill/>
                </a:ln>
                <a:solidFill>
                  <a:schemeClr val="tx1"/>
                </a:solidFill>
                <a:effectLst/>
                <a:uLnTx/>
                <a:uFillTx/>
                <a:latin typeface="+mn-ea"/>
                <a:ea typeface="+mn-ea"/>
                <a:cs typeface="+mn-ea"/>
              </a:rPr>
              <a:t>直接地址翻译模式</a:t>
            </a:r>
            <a:r>
              <a:rPr kumimoji="0" lang="zh-CN" altLang="en-US" sz="1400" b="1" i="0" u="none" strike="noStrike" kern="0" cap="none" spc="0" normalizeH="0" baseline="0" noProof="0" smtClean="0">
                <a:ln>
                  <a:noFill/>
                </a:ln>
                <a:solidFill>
                  <a:schemeClr val="tx1"/>
                </a:solidFill>
                <a:effectLst/>
                <a:uLnTx/>
                <a:uFillTx/>
                <a:latin typeface="+mn-ea"/>
                <a:ea typeface="+mn-ea"/>
                <a:cs typeface="+mn-ea"/>
              </a:rPr>
              <a:t>：</a:t>
            </a:r>
            <a:r>
              <a:rPr kumimoji="0" lang="en-US" altLang="zh-CN" sz="1400" b="1" i="0" u="none" strike="noStrike" kern="0" cap="none" spc="0" normalizeH="0" baseline="0" noProof="0" smtClean="0">
                <a:ln>
                  <a:noFill/>
                </a:ln>
                <a:solidFill>
                  <a:schemeClr val="tx1"/>
                </a:solidFill>
                <a:effectLst/>
                <a:uLnTx/>
                <a:uFillTx/>
                <a:latin typeface="+mn-ea"/>
                <a:ea typeface="+mn-ea"/>
                <a:cs typeface="+mn-ea"/>
              </a:rPr>
              <a:t>物理地址默认直接等于虚拟地址（高位不足补0、超出截断）</a:t>
            </a:r>
          </a:p>
          <a:p>
            <a:pPr marL="720725" marR="0" lvl="1" indent="-360680" algn="l" defTabSz="914400" rtl="0" eaLnBrk="1" fontAlgn="base" latinLnBrk="0" hangingPunct="1">
              <a:lnSpc>
                <a:spcPct val="150000"/>
              </a:lnSpc>
              <a:spcBef>
                <a:spcPts val="600"/>
              </a:spcBef>
              <a:spcAft>
                <a:spcPct val="0"/>
              </a:spcAft>
              <a:buClrTx/>
              <a:buSzTx/>
              <a:buFontTx/>
              <a:buChar char="•"/>
              <a:defRPr/>
            </a:pPr>
            <a:r>
              <a:rPr kumimoji="0" lang="en-US" altLang="zh-CN" sz="1400" b="1" i="0" u="none" strike="noStrike" kern="0" cap="none" spc="0" normalizeH="0" baseline="0" noProof="0" smtClean="0">
                <a:ln>
                  <a:noFill/>
                </a:ln>
                <a:solidFill>
                  <a:schemeClr val="tx1"/>
                </a:solidFill>
                <a:effectLst/>
                <a:uLnTx/>
                <a:uFillTx/>
                <a:latin typeface="+mn-ea"/>
                <a:ea typeface="+mn-ea"/>
                <a:cs typeface="+mn-ea"/>
              </a:rPr>
              <a:t>映射地址翻译模式</a:t>
            </a:r>
            <a:r>
              <a:rPr kumimoji="0" lang="zh-CN" altLang="en-US" sz="1400" b="1" i="0" u="none" strike="noStrike" kern="0" cap="none" spc="0" normalizeH="0" baseline="0" noProof="0" smtClean="0">
                <a:ln>
                  <a:noFill/>
                </a:ln>
                <a:solidFill>
                  <a:schemeClr val="tx1"/>
                </a:solidFill>
                <a:effectLst/>
                <a:uLnTx/>
                <a:uFillTx/>
                <a:latin typeface="+mn-ea"/>
                <a:ea typeface="+mn-ea"/>
                <a:cs typeface="+mn-ea"/>
              </a:rPr>
              <a:t>：</a:t>
            </a:r>
            <a:r>
              <a:rPr kumimoji="0" lang="en-US" altLang="zh-CN" sz="1400" b="1" i="0" u="none" strike="noStrike" kern="0" cap="none" spc="0" normalizeH="0" baseline="0" noProof="0" smtClean="0">
                <a:ln>
                  <a:noFill/>
                </a:ln>
                <a:solidFill>
                  <a:schemeClr val="tx1"/>
                </a:solidFill>
                <a:effectLst/>
                <a:uLnTx/>
                <a:uFillTx/>
                <a:latin typeface="+mn-ea"/>
                <a:ea typeface="+mn-ea"/>
                <a:cs typeface="+mn-ea"/>
              </a:rPr>
              <a:t>分为直接映射地址翻译模式（简称“直接映射模式”</a:t>
            </a:r>
            <a:r>
              <a:rPr kumimoji="0" lang="zh-CN" altLang="en-US" sz="1400" b="1" i="0" u="none" strike="noStrike" kern="0" cap="none" spc="0" normalizeH="0" baseline="0" noProof="0" smtClean="0">
                <a:ln>
                  <a:noFill/>
                </a:ln>
                <a:solidFill>
                  <a:schemeClr val="tx1"/>
                </a:solidFill>
                <a:effectLst/>
                <a:uLnTx/>
                <a:uFillTx/>
                <a:latin typeface="+mn-ea"/>
                <a:ea typeface="+mn-ea"/>
                <a:cs typeface="+mn-ea"/>
              </a:rPr>
              <a:t>，</a:t>
            </a:r>
            <a:r>
              <a:rPr lang="en-US" altLang="zh-CN" sz="1400" noProof="0" smtClean="0">
                <a:ln>
                  <a:noFill/>
                </a:ln>
                <a:effectLst/>
                <a:uLnTx/>
                <a:uFillTx/>
                <a:cs typeface="+mn-cs"/>
                <a:sym typeface="+mn-ea"/>
              </a:rPr>
              <a:t>通过直接映射配置窗口机制完成虚实地址翻译</a:t>
            </a:r>
            <a:r>
              <a:rPr kumimoji="0" lang="en-US" altLang="zh-CN" sz="1400" b="1" i="0" u="none" strike="noStrike" kern="0" cap="none" spc="0" normalizeH="0" baseline="0" noProof="0" smtClean="0">
                <a:ln>
                  <a:noFill/>
                </a:ln>
                <a:solidFill>
                  <a:schemeClr val="tx1"/>
                </a:solidFill>
                <a:effectLst/>
                <a:uLnTx/>
                <a:uFillTx/>
                <a:latin typeface="+mn-ea"/>
                <a:ea typeface="+mn-ea"/>
                <a:cs typeface="+mn-ea"/>
              </a:rPr>
              <a:t>）和页表映射地址翻译模式（简称“页表映射模式”</a:t>
            </a:r>
            <a:r>
              <a:rPr kumimoji="0" lang="zh-CN" altLang="en-US" sz="1400" b="1" i="0" u="none" strike="noStrike" kern="0" cap="none" spc="0" normalizeH="0" baseline="0" noProof="0" smtClean="0">
                <a:ln>
                  <a:noFill/>
                </a:ln>
                <a:solidFill>
                  <a:schemeClr val="tx1"/>
                </a:solidFill>
                <a:effectLst/>
                <a:uLnTx/>
                <a:uFillTx/>
                <a:latin typeface="+mn-ea"/>
                <a:ea typeface="+mn-ea"/>
                <a:cs typeface="+mn-ea"/>
              </a:rPr>
              <a:t>，通过</a:t>
            </a:r>
            <a:r>
              <a:rPr kumimoji="0" lang="en-US" altLang="zh-CN" sz="1400" b="1" i="0" u="none" strike="noStrike" kern="0" cap="none" spc="0" normalizeH="0" baseline="0" noProof="0" smtClean="0">
                <a:ln>
                  <a:noFill/>
                </a:ln>
                <a:solidFill>
                  <a:schemeClr val="tx1"/>
                </a:solidFill>
                <a:effectLst/>
                <a:uLnTx/>
                <a:uFillTx/>
                <a:latin typeface="+mn-ea"/>
                <a:ea typeface="+mn-ea"/>
                <a:cs typeface="+mn-ea"/>
              </a:rPr>
              <a:t>TLB</a:t>
            </a:r>
            <a:r>
              <a:rPr kumimoji="0" lang="zh-CN" altLang="en-US" sz="1400" b="1" i="0" u="none" strike="noStrike" kern="0" cap="none" spc="0" normalizeH="0" baseline="0" noProof="0" smtClean="0">
                <a:ln>
                  <a:noFill/>
                </a:ln>
                <a:solidFill>
                  <a:schemeClr val="tx1"/>
                </a:solidFill>
                <a:effectLst/>
                <a:uLnTx/>
                <a:uFillTx/>
                <a:latin typeface="+mn-ea"/>
                <a:ea typeface="+mn-ea"/>
                <a:cs typeface="+mn-ea"/>
              </a:rPr>
              <a:t>完成虚实地址翻译</a:t>
            </a:r>
            <a:r>
              <a:rPr kumimoji="0" lang="en-US" altLang="zh-CN" sz="1400" b="1" i="0" u="none" strike="noStrike" kern="0" cap="none" spc="0" normalizeH="0" baseline="0" noProof="0" smtClean="0">
                <a:ln>
                  <a:noFill/>
                </a:ln>
                <a:solidFill>
                  <a:schemeClr val="tx1"/>
                </a:solidFill>
                <a:effectLst/>
                <a:uLnTx/>
                <a:uFillTx/>
                <a:latin typeface="+mn-ea"/>
                <a:ea typeface="+mn-ea"/>
                <a:cs typeface="+mn-ea"/>
              </a:rPr>
              <a:t>）两种。</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（三）运行级别的演变</a:t>
            </a:r>
          </a:p>
        </p:txBody>
      </p:sp>
      <p:sp>
        <p:nvSpPr>
          <p:cNvPr id="2" name="内容占位符 3"/>
          <p:cNvSpPr>
            <a:spLocks noGrp="1"/>
          </p:cNvSpPr>
          <p:nvPr>
            <p:ph idx="1"/>
          </p:nvPr>
        </p:nvSpPr>
        <p:spPr>
          <a:xfrm>
            <a:off x="914400" y="1649413"/>
            <a:ext cx="10361613" cy="4635500"/>
          </a:xfrm>
        </p:spPr>
        <p:txBody>
          <a:bodyPr vert="horz" wrap="square" lIns="91440" tIns="45720" rIns="91440" bIns="45720" numCol="1" anchor="t" anchorCtr="0" compatLnSpc="1"/>
          <a:lstStyle/>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唯一实模式：无管理</a:t>
            </a:r>
          </a:p>
          <a:p>
            <a:pPr marL="720090" marR="0" lvl="1" indent="-360045"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早期的</a:t>
            </a:r>
            <a:r>
              <a:rPr kumimoji="0" lang="en-US" altLang="zh-CN" sz="1600" b="1" i="0" u="none" strike="noStrike" kern="0" cap="none" spc="0" normalizeH="0" baseline="0" noProof="1">
                <a:ln>
                  <a:noFill/>
                </a:ln>
                <a:solidFill>
                  <a:schemeClr val="tx1"/>
                </a:solidFill>
                <a:effectLst/>
                <a:uLnTx/>
                <a:uFillTx/>
                <a:latin typeface="+mn-ea"/>
                <a:ea typeface="+mn-ea"/>
                <a:cs typeface="+mn-ea"/>
              </a:rPr>
              <a:t>X86</a:t>
            </a:r>
            <a:r>
              <a:rPr kumimoji="0" lang="zh-CN" altLang="en-US" sz="1600" b="1" i="0" u="none" strike="noStrike" kern="0" cap="none" spc="0" normalizeH="0" baseline="0" noProof="1">
                <a:ln>
                  <a:noFill/>
                </a:ln>
                <a:solidFill>
                  <a:schemeClr val="tx1"/>
                </a:solidFill>
                <a:effectLst/>
                <a:uLnTx/>
                <a:uFillTx/>
                <a:latin typeface="+mn-ea"/>
                <a:ea typeface="+mn-ea"/>
                <a:cs typeface="+mn-ea"/>
              </a:rPr>
              <a:t>处理器</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保护模式：权限管理</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核心态：掌握全部资源</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用户态：只能访问受限的内存，不能访问</a:t>
            </a:r>
            <a:r>
              <a:rPr kumimoji="0" lang="en-US" altLang="zh-CN" sz="1600" b="1" i="0" u="none" strike="noStrike" kern="0" cap="none" spc="0" normalizeH="0" baseline="0" noProof="1">
                <a:ln>
                  <a:noFill/>
                </a:ln>
                <a:solidFill>
                  <a:schemeClr val="tx1"/>
                </a:solidFill>
                <a:effectLst/>
                <a:uLnTx/>
                <a:uFillTx/>
                <a:latin typeface="+mn-ea"/>
                <a:ea typeface="+mn-ea"/>
                <a:cs typeface="+mn-ea"/>
              </a:rPr>
              <a:t>I/O</a:t>
            </a: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调试模式：调试支持</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ARM JTAG</a:t>
            </a:r>
            <a:r>
              <a:rPr kumimoji="0" lang="zh-CN" altLang="en-US" sz="1600" b="1" i="0" u="none" strike="noStrike" kern="0" cap="none" spc="0" normalizeH="0" baseline="0" noProof="1">
                <a:ln>
                  <a:noFill/>
                </a:ln>
                <a:solidFill>
                  <a:schemeClr val="tx1"/>
                </a:solidFill>
                <a:effectLst/>
                <a:uLnTx/>
                <a:uFillTx/>
                <a:latin typeface="+mn-ea"/>
                <a:ea typeface="+mn-ea"/>
                <a:cs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rPr>
              <a:t>MIPS EJTAG</a:t>
            </a:r>
            <a:r>
              <a:rPr kumimoji="0" lang="zh-CN" altLang="en-US" sz="1600" b="1" i="0" u="none" strike="noStrike" kern="0" cap="none" spc="0" normalizeH="0" baseline="0" noProof="1">
                <a:ln>
                  <a:noFill/>
                </a:ln>
                <a:solidFill>
                  <a:schemeClr val="tx1"/>
                </a:solidFill>
                <a:effectLst/>
                <a:uLnTx/>
                <a:uFillTx/>
                <a:latin typeface="+mn-ea"/>
                <a:ea typeface="+mn-ea"/>
                <a:cs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rPr>
              <a:t>LoongArch JTAG</a:t>
            </a: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客户模式：虚拟机支持</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Intel</a:t>
            </a:r>
            <a:r>
              <a:rPr kumimoji="0" lang="zh-CN" altLang="en-US" sz="1600" b="1" i="0" u="none" strike="noStrike" kern="0" cap="none" spc="0" normalizeH="0" baseline="0" noProof="1">
                <a:ln>
                  <a:noFill/>
                </a:ln>
                <a:solidFill>
                  <a:schemeClr val="tx1"/>
                </a:solidFill>
                <a:effectLst/>
                <a:uLnTx/>
                <a:uFillTx/>
                <a:latin typeface="+mn-ea"/>
                <a:ea typeface="+mn-ea"/>
                <a:cs typeface="+mn-ea"/>
              </a:rPr>
              <a:t>非根模式、</a:t>
            </a:r>
            <a:r>
              <a:rPr kumimoji="0" lang="en-US" altLang="en-US" sz="1600" b="1" i="0" u="none" strike="noStrike" kern="0" cap="none" spc="0" normalizeH="0" baseline="0" noProof="1">
                <a:ln>
                  <a:noFill/>
                </a:ln>
                <a:solidFill>
                  <a:schemeClr val="tx1"/>
                </a:solidFill>
                <a:effectLst/>
                <a:uLnTx/>
                <a:uFillTx/>
                <a:latin typeface="+mn-ea"/>
                <a:ea typeface="+mn-ea"/>
                <a:cs typeface="+mn-ea"/>
              </a:rPr>
              <a:t>LoongArch</a:t>
            </a:r>
            <a:r>
              <a:rPr kumimoji="0" lang="zh-CN" altLang="en-US" sz="1600" b="1" i="0" u="none" strike="noStrike" kern="0" cap="none" spc="0" normalizeH="0" baseline="0" noProof="1">
                <a:ln>
                  <a:noFill/>
                </a:ln>
                <a:solidFill>
                  <a:schemeClr val="tx1"/>
                </a:solidFill>
                <a:effectLst/>
                <a:uLnTx/>
                <a:uFillTx/>
                <a:latin typeface="+mn-ea"/>
                <a:ea typeface="+mn-ea"/>
                <a:cs typeface="+mn-ea"/>
              </a:rPr>
              <a:t>客户模式</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MIPS</a:t>
            </a:r>
            <a:r>
              <a:rPr lang="zh-CN" altLang="en-US" dirty="0"/>
              <a:t>的运行级别</a:t>
            </a:r>
          </a:p>
        </p:txBody>
      </p:sp>
      <p:graphicFrame>
        <p:nvGraphicFramePr>
          <p:cNvPr id="33872" name="Group 80"/>
          <p:cNvGraphicFramePr>
            <a:graphicFrameLocks noGrp="1"/>
          </p:cNvGraphicFramePr>
          <p:nvPr>
            <p:ph idx="4294967295"/>
          </p:nvPr>
        </p:nvGraphicFramePr>
        <p:xfrm>
          <a:off x="920750" y="1338263"/>
          <a:ext cx="10355500" cy="4692651"/>
        </p:xfrm>
        <a:graphic>
          <a:graphicData uri="http://schemas.openxmlformats.org/drawingml/2006/table">
            <a:tbl>
              <a:tblPr/>
              <a:tblGrid>
                <a:gridCol w="888884"/>
                <a:gridCol w="601055"/>
                <a:gridCol w="861371"/>
                <a:gridCol w="861372"/>
                <a:gridCol w="634917"/>
                <a:gridCol w="1625388"/>
                <a:gridCol w="1627504"/>
                <a:gridCol w="1627505"/>
                <a:gridCol w="1627504"/>
              </a:tblGrid>
              <a:tr h="392113">
                <a:tc gridSpan="5">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Times New Roman" pitchFamily="18" charset="0"/>
                          <a:ea typeface="宋体" panose="02000500000000000000" pitchFamily="2" charset="-122"/>
                        </a:rPr>
                        <a:t>Root CP0</a:t>
                      </a:r>
                      <a:endParaRPr kumimoji="0" lang="zh-CN" altLang="zh-CN" sz="1600" b="0" i="0" u="none" strike="noStrike" cap="none" normalizeH="0" baseline="0" dirty="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itchFamily="18" charset="0"/>
                          <a:ea typeface="宋体" panose="02000500000000000000" pitchFamily="2" charset="-122"/>
                        </a:rPr>
                        <a:t>Guest CP0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rowSpan="2">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itchFamily="18" charset="0"/>
                          <a:ea typeface="宋体" panose="02000500000000000000" pitchFamily="2" charset="-122"/>
                        </a:rPr>
                        <a:t>模式</a:t>
                      </a:r>
                      <a:endParaRPr kumimoji="0" lang="zh-CN" altLang="en-US"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8488">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Debug.</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DM</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ERL</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EXL</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GuestCtl0.</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GM</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KSU</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ERL</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EXL</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Status.</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100" b="0" i="0" u="none" strike="noStrike" cap="none" normalizeH="0" baseline="0" smtClean="0">
                          <a:ln>
                            <a:noFill/>
                          </a:ln>
                          <a:solidFill>
                            <a:schemeClr val="tx1"/>
                          </a:solidFill>
                          <a:effectLst/>
                          <a:latin typeface="Times New Roman" pitchFamily="18" charset="0"/>
                          <a:ea typeface="宋体" panose="02000500000000000000" pitchFamily="2" charset="-122"/>
                        </a:rPr>
                        <a:t>KSU</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tr>
              <a:tr h="336550">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调试模式</a:t>
                      </a:r>
                      <a:endPar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rowSpan="10">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row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根</a:t>
                      </a:r>
                      <a:r>
                        <a:rPr kumimoji="0" lang="en-US" altLang="zh-CN"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a:t>
                      </a: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核心模式</a:t>
                      </a:r>
                      <a:endPar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xBody>
                    <a:bodyPr/>
                    <a:lstStyle/>
                    <a:p>
                      <a:endParaRPr lang="zh-CN"/>
                    </a:p>
                  </a:txBody>
                  <a:tcPr/>
                </a:tc>
                <a:tc rowSpan="9">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vMerge="1">
                  <a:txBody>
                    <a:bodyPr/>
                    <a:lstStyle/>
                    <a:p>
                      <a:endParaRPr lang="zh-CN"/>
                    </a:p>
                  </a:txBody>
                  <a:tcPr/>
                </a:tc>
              </a:tr>
              <a:tr h="336550">
                <a:tc vMerge="1">
                  <a:txBody>
                    <a:bodyPr/>
                    <a:lstStyle/>
                    <a:p>
                      <a:endParaRPr lang="zh-CN"/>
                    </a:p>
                  </a:txBody>
                  <a:tcPr/>
                </a:tc>
                <a:tc vMerge="1">
                  <a:txBody>
                    <a:bodyPr/>
                    <a:lstStyle/>
                    <a:p>
                      <a:endParaRPr lang="zh-CN"/>
                    </a:p>
                  </a:txBody>
                  <a:tcPr/>
                </a:tc>
                <a:tc rowSpan="8">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vMerge="1">
                  <a:txBody>
                    <a:bodyPr/>
                    <a:lstStyle/>
                    <a:p>
                      <a:endParaRPr lang="zh-CN"/>
                    </a:p>
                  </a:txBody>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根</a:t>
                      </a:r>
                      <a:r>
                        <a:rPr kumimoji="0" lang="en-US" altLang="zh-CN"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a:t>
                      </a:r>
                      <a:r>
                        <a:rPr kumimoji="0" lang="zh-CN" altLang="en-US" sz="1200" b="0" i="0" u="none" strike="noStrike" cap="none" normalizeH="0" baseline="0" dirty="0" smtClean="0">
                          <a:ln>
                            <a:noFill/>
                          </a:ln>
                          <a:solidFill>
                            <a:schemeClr val="tx1"/>
                          </a:solidFill>
                          <a:effectLst/>
                          <a:latin typeface="Times New Roman" pitchFamily="18" charset="0"/>
                          <a:ea typeface="宋体" panose="02000500000000000000" pitchFamily="2" charset="-122"/>
                        </a:rPr>
                        <a:t>监管模式</a:t>
                      </a:r>
                      <a:endParaRPr kumimoji="0" lang="zh-CN" altLang="en-US" sz="1600" b="0" i="0" u="none" strike="noStrike" cap="none" normalizeH="0" baseline="0" dirty="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根</a:t>
                      </a:r>
                      <a:r>
                        <a:rPr kumimoji="0" lang="en-US" altLang="zh-CN"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a:t>
                      </a: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用户模式</a:t>
                      </a:r>
                      <a:endPar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rowSpan="5">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a:t>
                      </a:r>
                      <a:endParaRPr kumimoji="0" lang="zh-CN" altLang="zh-CN" sz="1600" b="0" i="0" u="none" strike="noStrike" cap="none" normalizeH="0" baseline="0" smtClean="0">
                        <a:ln>
                          <a:noFill/>
                        </a:ln>
                        <a:solidFill>
                          <a:schemeClr val="tx1"/>
                        </a:solidFill>
                        <a:effectLst/>
                        <a:latin typeface="Times New Roman" pitchFamily="18" charset="0"/>
                        <a:ea typeface="宋体" panose="02000500000000000000" pitchFamily="2" charset="-122"/>
                      </a:endParaRPr>
                    </a:p>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row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客户</a:t>
                      </a:r>
                      <a:r>
                        <a:rPr kumimoji="0" lang="en-US" altLang="zh-CN"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a:t>
                      </a: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核心模式</a:t>
                      </a:r>
                      <a:endPar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rowSpan="4">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Don’t care</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rowSpan="3">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01</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客户</a:t>
                      </a: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a:t>
                      </a:r>
                      <a:r>
                        <a:rPr kumimoji="0"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rPr>
                        <a:t>监管模式</a:t>
                      </a:r>
                      <a:endParaRPr kumimoji="0" lang="zh-CN" altLang="en-US"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Times New Roman" pitchFamily="18" charset="0"/>
                          <a:ea typeface="宋体" panose="02000500000000000000" pitchFamily="2" charset="-122"/>
                        </a:rPr>
                        <a:t>10</a:t>
                      </a:r>
                      <a:endParaRPr kumimoji="0" lang="zh-CN" altLang="zh-CN" sz="16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495"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客户</a:t>
                      </a:r>
                      <a:r>
                        <a:rPr kumimoji="0" lang="en-US" altLang="zh-CN"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a:t>
                      </a:r>
                      <a:r>
                        <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rPr>
                        <a:t>用户模式</a:t>
                      </a:r>
                      <a:endParaRPr kumimoji="0" lang="zh-CN" altLang="en-US" sz="1200" b="0" i="0" u="none" strike="noStrike" cap="none" normalizeH="0" baseline="0" dirty="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28" marR="91428"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zh-CN" dirty="0"/>
              <a:t>LoongArch</a:t>
            </a:r>
            <a:r>
              <a:rPr lang="zh-CN" altLang="en-US" dirty="0"/>
              <a:t>的运行级别</a:t>
            </a:r>
          </a:p>
        </p:txBody>
      </p:sp>
      <p:sp>
        <p:nvSpPr>
          <p:cNvPr id="41986" name="内容占位符 3"/>
          <p:cNvSpPr>
            <a:spLocks noGrp="1"/>
          </p:cNvSpPr>
          <p:nvPr>
            <p:ph idx="1"/>
          </p:nvPr>
        </p:nvSpPr>
        <p:spPr>
          <a:xfrm>
            <a:off x="914400" y="1243013"/>
            <a:ext cx="10361613" cy="4635500"/>
          </a:xfrm>
        </p:spPr>
        <p:txBody>
          <a:bodyPr vert="horz" wrap="square" lIns="91440" tIns="45720" rIns="91440" bIns="45720" numCol="1" anchor="t" anchorCtr="0" compatLnSpc="1"/>
          <a:lstStyle/>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调试模式（</a:t>
            </a:r>
            <a:r>
              <a:rPr kumimoji="0" lang="en-US" altLang="zh-CN" sz="2000" b="1" i="0" u="none" strike="noStrike" kern="0" cap="none" spc="0" normalizeH="0" baseline="0" noProof="1">
                <a:ln>
                  <a:noFill/>
                </a:ln>
                <a:solidFill>
                  <a:schemeClr val="tx1"/>
                </a:solidFill>
                <a:effectLst/>
                <a:uLnTx/>
                <a:uFillTx/>
                <a:latin typeface="+mn-ea"/>
                <a:ea typeface="+mn-ea"/>
                <a:cs typeface="+mn-cs"/>
              </a:rPr>
              <a:t>Debug Mode</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主机模式（</a:t>
            </a:r>
            <a:r>
              <a:rPr kumimoji="0" lang="en-US" altLang="zh-CN" sz="2000" b="1" i="0" u="none" strike="noStrike" kern="0" cap="none" spc="0" normalizeH="0" baseline="0" noProof="1">
                <a:ln>
                  <a:noFill/>
                </a:ln>
                <a:solidFill>
                  <a:schemeClr val="tx1"/>
                </a:solidFill>
                <a:effectLst/>
                <a:uLnTx/>
                <a:uFillTx/>
                <a:latin typeface="+mn-ea"/>
                <a:ea typeface="+mn-ea"/>
                <a:cs typeface="+mn-cs"/>
              </a:rPr>
              <a:t>Host Mode</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en-US" sz="1600" b="1" i="0" u="none" strike="noStrike" kern="0" cap="none" spc="0" normalizeH="0" baseline="0" noProof="1">
                <a:ln>
                  <a:noFill/>
                </a:ln>
                <a:solidFill>
                  <a:schemeClr val="tx1"/>
                </a:solidFill>
                <a:effectLst/>
                <a:uLnTx/>
                <a:uFillTx/>
                <a:latin typeface="+mn-ea"/>
                <a:ea typeface="+mn-ea"/>
                <a:cs typeface="+mn-ea"/>
              </a:rPr>
              <a:t>Host-PLV0</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Host-PLV1</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Host-PLV2</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Host-PLV3</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客户机模式（</a:t>
            </a:r>
            <a:r>
              <a:rPr kumimoji="0" lang="en-US" altLang="zh-CN" sz="2000" b="1" i="0" u="none" strike="noStrike" kern="0" cap="none" spc="0" normalizeH="0" baseline="0" noProof="1">
                <a:ln>
                  <a:noFill/>
                </a:ln>
                <a:solidFill>
                  <a:schemeClr val="tx1"/>
                </a:solidFill>
                <a:effectLst/>
                <a:uLnTx/>
                <a:uFillTx/>
                <a:latin typeface="+mn-ea"/>
                <a:ea typeface="+mn-ea"/>
                <a:cs typeface="+mn-cs"/>
              </a:rPr>
              <a:t>Guest Mode</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Guest-PLV0</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Guest-PLV1</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Guest-PLV2</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p>
          <a:p>
            <a:pPr marL="720090" marR="0" lvl="1" indent="-35941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Guest-PLV3</a:t>
            </a:r>
            <a:r>
              <a:rPr kumimoji="0" lang="zh-CN" altLang="en-US" sz="1600" b="1" i="0" u="none" strike="noStrike" kern="0" cap="none" spc="0" normalizeH="0" baseline="0" noProof="1">
                <a:ln>
                  <a:noFill/>
                </a:ln>
                <a:solidFill>
                  <a:schemeClr val="tx1"/>
                </a:solidFill>
                <a:effectLst/>
                <a:uLnTx/>
                <a:uFillTx/>
                <a:latin typeface="+mn-ea"/>
                <a:ea typeface="+mn-ea"/>
                <a:cs typeface="+mn-ea"/>
              </a:rPr>
              <a:t>级</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LoongArch</a:t>
            </a:r>
            <a:r>
              <a:rPr lang="zh-CN" altLang="en-US" dirty="0"/>
              <a:t>的虚拟机层次</a:t>
            </a:r>
          </a:p>
        </p:txBody>
      </p:sp>
      <p:sp>
        <p:nvSpPr>
          <p:cNvPr id="2" name="内容占位符 2"/>
          <p:cNvSpPr>
            <a:spLocks noGrp="1"/>
          </p:cNvSpPr>
          <p:nvPr>
            <p:ph idx="1"/>
          </p:nvPr>
        </p:nvSpPr>
        <p:spPr>
          <a:xfrm>
            <a:off x="655320" y="1143000"/>
            <a:ext cx="10989310" cy="4114800"/>
          </a:xfrm>
        </p:spPr>
        <p:txBody>
          <a:bodyPr vert="horz" wrap="square" lIns="91440" tIns="45720" rIns="91440" bIns="45720" numCol="1" anchor="t" anchorCtr="0" compatLnSpc="1"/>
          <a:lstStyle/>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sym typeface="+mn-ea"/>
              </a:rPr>
              <a:t>多个层次的隔离与控制</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应用程序：独立虚地址空间、寄存器</a:t>
            </a:r>
            <a:endParaRPr kumimoji="0" lang="zh-CN" altLang="en-US" sz="1600" b="1" i="0" u="none" strike="noStrike" kern="0" cap="none" spc="0" normalizeH="0" baseline="0" noProof="1">
              <a:ln>
                <a:noFill/>
              </a:ln>
              <a:solidFill>
                <a:schemeClr val="tx1"/>
              </a:solidFill>
              <a:effectLst/>
              <a:uLnTx/>
              <a:uFillTx/>
              <a:latin typeface="+mn-ea"/>
              <a:ea typeface="+mn-ea"/>
              <a:cs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Guest</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操作系统：独立客户物理地址空间、控制状态寄存器，可管理应用程序的地址映射，转换到客户物理地址</a:t>
            </a:r>
            <a:endParaRPr kumimoji="0" lang="zh-CN" altLang="en-US" sz="1600" b="1" i="0" u="none" strike="noStrike" kern="0" cap="none" spc="0" normalizeH="0" baseline="0" noProof="1">
              <a:ln>
                <a:noFill/>
              </a:ln>
              <a:solidFill>
                <a:schemeClr val="tx1"/>
              </a:solidFill>
              <a:effectLst/>
              <a:uLnTx/>
              <a:uFillTx/>
              <a:latin typeface="+mn-ea"/>
              <a:ea typeface="+mn-ea"/>
              <a:cs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Host</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操作系统：可管理客户系统的物理地址映射，转换到最终的根物理地址</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360045" marR="0" lvl="0" indent="-360045"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sym typeface="+mn-ea"/>
              </a:rPr>
              <a:t>各个模式可访问</a:t>
            </a:r>
            <a:r>
              <a:rPr kumimoji="0" lang="en-US" altLang="zh-CN" sz="2000" b="1" i="0" u="none" strike="noStrike" kern="0" cap="none" spc="0" normalizeH="0" baseline="0" noProof="1">
                <a:ln>
                  <a:noFill/>
                </a:ln>
                <a:solidFill>
                  <a:schemeClr val="tx1"/>
                </a:solidFill>
                <a:effectLst/>
                <a:uLnTx/>
                <a:uFillTx/>
                <a:latin typeface="+mn-ea"/>
                <a:ea typeface="+mn-ea"/>
                <a:cs typeface="+mn-cs"/>
                <a:sym typeface="+mn-ea"/>
              </a:rPr>
              <a:t>/</a:t>
            </a:r>
            <a:r>
              <a:rPr kumimoji="0" lang="zh-CN" altLang="en-US" sz="2000" b="1" i="0" u="none" strike="noStrike" kern="0" cap="none" spc="0" normalizeH="0" baseline="0" noProof="1">
                <a:ln>
                  <a:noFill/>
                </a:ln>
                <a:solidFill>
                  <a:schemeClr val="tx1"/>
                </a:solidFill>
                <a:effectLst/>
                <a:uLnTx/>
                <a:uFillTx/>
                <a:latin typeface="+mn-ea"/>
                <a:ea typeface="+mn-ea"/>
                <a:cs typeface="+mn-cs"/>
                <a:sym typeface="+mn-ea"/>
              </a:rPr>
              <a:t>控制的资源呈包含关系</a:t>
            </a: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720090" marR="0" lvl="1" indent="-360045"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chemeClr val="tx1"/>
                </a:solidFill>
                <a:effectLst/>
                <a:uLnTx/>
                <a:uFillTx/>
                <a:latin typeface="+mn-ea"/>
                <a:ea typeface="+mn-ea"/>
                <a:cs typeface="+mn-ea"/>
              </a:rPr>
              <a:t>主机模式和客户机模式下各有一组控制状态寄存器用于操作系统上下文的快速切换</a:t>
            </a:r>
          </a:p>
          <a:p>
            <a:pPr marL="360045" marR="0" lvl="0" indent="-360045" algn="l" defTabSz="914400" rtl="0" eaLnBrk="1" fontAlgn="base" latinLnBrk="0" hangingPunct="1">
              <a:lnSpc>
                <a:spcPct val="150000"/>
              </a:lnSpc>
              <a:spcBef>
                <a:spcPts val="600"/>
              </a:spcBef>
              <a:spcAft>
                <a:spcPct val="0"/>
              </a:spcAft>
              <a:buClrTx/>
              <a:buSzTx/>
              <a:buFontTx/>
              <a:buNone/>
              <a:defRPr/>
            </a:pP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360045" marR="0" lvl="0" indent="-360045" algn="l" defTabSz="914400" rtl="0" eaLnBrk="1" fontAlgn="base" latinLnBrk="0" hangingPunct="1">
              <a:lnSpc>
                <a:spcPct val="150000"/>
              </a:lnSpc>
              <a:spcBef>
                <a:spcPts val="600"/>
              </a:spcBef>
              <a:spcAft>
                <a:spcPct val="0"/>
              </a:spcAft>
              <a:buClrTx/>
              <a:buSzTx/>
              <a:buFontTx/>
              <a:buChar char="•"/>
              <a:defRPr/>
            </a:pP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360045" marR="0" lvl="0" indent="-360045" algn="l" defTabSz="914400" rtl="0" eaLnBrk="1" fontAlgn="base" latinLnBrk="0" hangingPunct="1">
              <a:lnSpc>
                <a:spcPct val="150000"/>
              </a:lnSpc>
              <a:spcBef>
                <a:spcPts val="600"/>
              </a:spcBef>
              <a:spcAft>
                <a:spcPct val="0"/>
              </a:spcAft>
              <a:buClrTx/>
              <a:buSzTx/>
              <a:buFontTx/>
              <a:buNone/>
              <a:defRPr/>
            </a:pP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360045" marR="0" lvl="0" indent="-360045" algn="l" defTabSz="914400" rtl="0" eaLnBrk="1" fontAlgn="base" latinLnBrk="0" hangingPunct="1">
              <a:lnSpc>
                <a:spcPct val="150000"/>
              </a:lnSpc>
              <a:spcBef>
                <a:spcPts val="600"/>
              </a:spcBef>
              <a:spcAft>
                <a:spcPct val="0"/>
              </a:spcAft>
              <a:buClrTx/>
              <a:buSzTx/>
              <a:buFontTx/>
              <a:buChar char="•"/>
              <a:defRPr/>
            </a:pP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360045" marR="0" lvl="0" indent="-360045" algn="l" defTabSz="914400" rtl="0" eaLnBrk="1" fontAlgn="base" latinLnBrk="0" hangingPunct="1">
              <a:lnSpc>
                <a:spcPct val="150000"/>
              </a:lnSpc>
              <a:spcBef>
                <a:spcPts val="600"/>
              </a:spcBef>
              <a:spcAft>
                <a:spcPct val="0"/>
              </a:spcAft>
              <a:buClrTx/>
              <a:buSzTx/>
              <a:buFontTx/>
              <a:buChar char="•"/>
              <a:defRPr/>
            </a:pP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p:txBody>
      </p:sp>
      <p:pic>
        <p:nvPicPr>
          <p:cNvPr id="44036" name="图片 12"/>
          <p:cNvPicPr>
            <a:picLocks noChangeAspect="1"/>
          </p:cNvPicPr>
          <p:nvPr/>
        </p:nvPicPr>
        <p:blipFill>
          <a:blip r:embed="rId2" cstate="print"/>
          <a:srcRect l="29437" t="27933" r="29930" b="23909"/>
          <a:stretch>
            <a:fillRect/>
          </a:stretch>
        </p:blipFill>
        <p:spPr>
          <a:xfrm>
            <a:off x="3949700" y="4375150"/>
            <a:ext cx="4291013" cy="2146300"/>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992188" y="0"/>
            <a:ext cx="10361612" cy="1143000"/>
          </a:xfrm>
        </p:spPr>
        <p:txBody>
          <a:bodyPr vert="horz" wrap="square" lIns="91440" tIns="45720" rIns="91440" bIns="45720" anchor="ctr" anchorCtr="0"/>
          <a:lstStyle/>
          <a:p>
            <a:r>
              <a:rPr lang="zh-CN" altLang="en-US" dirty="0"/>
              <a:t>核心态的“特权”</a:t>
            </a:r>
          </a:p>
        </p:txBody>
      </p:sp>
      <p:sp>
        <p:nvSpPr>
          <p:cNvPr id="45059" name="内容占位符 2"/>
          <p:cNvSpPr>
            <a:spLocks noGrp="1"/>
          </p:cNvSpPr>
          <p:nvPr>
            <p:ph idx="1"/>
          </p:nvPr>
        </p:nvSpPr>
        <p:spPr>
          <a:xfrm>
            <a:off x="522288" y="1270000"/>
            <a:ext cx="11272837" cy="5368925"/>
          </a:xfrm>
        </p:spPr>
        <p:txBody>
          <a:bodyPr vert="horz" wrap="square" lIns="91440" tIns="45720" rIns="91440" bIns="45720" anchor="t" anchorCtr="0"/>
          <a:lstStyle/>
          <a:p>
            <a:r>
              <a:rPr lang="zh-CN" altLang="en-US" dirty="0"/>
              <a:t>有些地方只有核心态能访问</a:t>
            </a:r>
            <a:endParaRPr lang="en-US" altLang="zh-CN" dirty="0"/>
          </a:p>
          <a:p>
            <a:pPr lvl="1"/>
            <a:r>
              <a:rPr lang="zh-CN" altLang="en-US" dirty="0"/>
              <a:t>控制寄存器、</a:t>
            </a:r>
            <a:r>
              <a:rPr lang="en-US" altLang="zh-CN" dirty="0"/>
              <a:t>TLB</a:t>
            </a:r>
            <a:r>
              <a:rPr lang="zh-CN" altLang="en-US" dirty="0"/>
              <a:t>、</a:t>
            </a:r>
            <a:r>
              <a:rPr lang="en-US" altLang="zh-CN" dirty="0"/>
              <a:t>Cache</a:t>
            </a:r>
            <a:r>
              <a:rPr lang="zh-CN" altLang="en-US" dirty="0"/>
              <a:t>、</a:t>
            </a:r>
            <a:r>
              <a:rPr lang="en-US" altLang="zh-CN" dirty="0"/>
              <a:t>IO</a:t>
            </a:r>
            <a:r>
              <a:rPr lang="zh-CN" altLang="en-US" dirty="0"/>
              <a:t>空间、特定地址空间</a:t>
            </a:r>
            <a:endParaRPr lang="en-US" altLang="zh-CN" dirty="0"/>
          </a:p>
          <a:p>
            <a:pPr lvl="1"/>
            <a:r>
              <a:rPr lang="zh-CN" altLang="en-US" dirty="0"/>
              <a:t>访问上述空间的指令在用户态运行时硬件发异常</a:t>
            </a:r>
            <a:endParaRPr lang="en-US" altLang="zh-CN" dirty="0"/>
          </a:p>
          <a:p>
            <a:r>
              <a:rPr lang="zh-CN" altLang="en-US" dirty="0"/>
              <a:t>核心态和用户态的转换</a:t>
            </a:r>
            <a:endParaRPr lang="en-US" altLang="zh-CN" dirty="0"/>
          </a:p>
          <a:p>
            <a:pPr lvl="1"/>
            <a:r>
              <a:rPr lang="zh-CN" altLang="en-US" dirty="0"/>
              <a:t>用户态下执行系统调用或发生异常时进入核心态</a:t>
            </a:r>
            <a:endParaRPr lang="en-US" altLang="zh-CN" dirty="0"/>
          </a:p>
          <a:p>
            <a:pPr lvl="1"/>
            <a:r>
              <a:rPr lang="en-US" altLang="zh-CN" dirty="0"/>
              <a:t>ERTN</a:t>
            </a:r>
            <a:r>
              <a:rPr lang="zh-CN" altLang="en-US" dirty="0"/>
              <a:t>从核心态回到用户态</a:t>
            </a:r>
            <a:endParaRPr lang="en-US" altLang="zh-CN" dirty="0"/>
          </a:p>
          <a:p>
            <a:r>
              <a:rPr lang="zh-CN" altLang="en-US" dirty="0"/>
              <a:t>例如：翻一页</a:t>
            </a:r>
            <a:r>
              <a:rPr lang="en-US" altLang="zh-CN" dirty="0"/>
              <a:t>PPT</a:t>
            </a:r>
            <a:r>
              <a:rPr lang="zh-CN" altLang="en-US" dirty="0"/>
              <a:t>过程中</a:t>
            </a:r>
            <a:endParaRPr lang="en-US" altLang="zh-CN" dirty="0"/>
          </a:p>
          <a:p>
            <a:pPr lvl="1"/>
            <a:r>
              <a:rPr lang="zh-CN" altLang="en-US" dirty="0"/>
              <a:t>硬件响应中断从用户态到核心态，操作系统调用</a:t>
            </a:r>
            <a:r>
              <a:rPr lang="en-US" altLang="zh-CN" dirty="0"/>
              <a:t>PPT</a:t>
            </a:r>
            <a:r>
              <a:rPr lang="zh-CN" altLang="en-US" dirty="0"/>
              <a:t>后回到用户态</a:t>
            </a:r>
            <a:endParaRPr lang="en-US" altLang="zh-CN" dirty="0"/>
          </a:p>
          <a:p>
            <a:pPr lvl="1"/>
            <a:r>
              <a:rPr lang="en-US" altLang="zh-CN" dirty="0"/>
              <a:t>PPT</a:t>
            </a:r>
            <a:r>
              <a:rPr lang="zh-CN" altLang="en-US" dirty="0"/>
              <a:t>要调用通过系统调用多次进出核心态以通过</a:t>
            </a:r>
            <a:r>
              <a:rPr lang="en-US" altLang="zh-CN" dirty="0"/>
              <a:t>IO</a:t>
            </a:r>
            <a:r>
              <a:rPr lang="zh-CN" altLang="en-US" dirty="0"/>
              <a:t>操作完成翻页（读硬盘、显示等）</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3"/>
          <p:cNvSpPr>
            <a:spLocks noGrp="1"/>
          </p:cNvSpPr>
          <p:nvPr>
            <p:ph type="title"/>
          </p:nvPr>
        </p:nvSpPr>
        <p:spPr>
          <a:xfrm>
            <a:off x="914400" y="2560638"/>
            <a:ext cx="10361613" cy="1143000"/>
          </a:xfrm>
        </p:spPr>
        <p:txBody>
          <a:bodyPr vert="horz" wrap="square" lIns="91440" tIns="45720" rIns="91440" bIns="45720" anchor="ctr" anchorCtr="0"/>
          <a:lstStyle/>
          <a:p>
            <a:pPr eaLnBrk="1" hangingPunct="1"/>
            <a:r>
              <a:rPr lang="zh-CN" altLang="en-US" dirty="0"/>
              <a:t>指令系统组成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指令系统的组成</a:t>
            </a:r>
          </a:p>
        </p:txBody>
      </p:sp>
      <p:sp>
        <p:nvSpPr>
          <p:cNvPr id="34819" name="内容占位符 2"/>
          <p:cNvSpPr>
            <a:spLocks noGrp="1"/>
          </p:cNvSpPr>
          <p:nvPr>
            <p:ph idx="1"/>
          </p:nvPr>
        </p:nvSpPr>
        <p:spPr>
          <a:xfrm>
            <a:off x="914400" y="1143000"/>
            <a:ext cx="10361613" cy="5464175"/>
          </a:xfrm>
        </p:spPr>
        <p:txBody>
          <a:bodyPr vert="horz" wrap="square" lIns="91440" tIns="45720" rIns="91440" bIns="45720" anchor="t" anchorCtr="0"/>
          <a:lstStyle/>
          <a:p>
            <a:pPr eaLnBrk="1" hangingPunct="1"/>
            <a:r>
              <a:rPr lang="zh-CN" altLang="en-US" dirty="0"/>
              <a:t>指令的主、谓、宾</a:t>
            </a:r>
            <a:endParaRPr lang="en-US" altLang="zh-CN" dirty="0"/>
          </a:p>
          <a:p>
            <a:pPr lvl="1" eaLnBrk="1" hangingPunct="1"/>
            <a:r>
              <a:rPr lang="en-US" altLang="zh-CN" dirty="0"/>
              <a:t>CPU</a:t>
            </a:r>
            <a:r>
              <a:rPr lang="zh-CN" altLang="en-US" dirty="0"/>
              <a:t>（省略）、操作、操作数</a:t>
            </a:r>
            <a:endParaRPr lang="en-US" altLang="zh-CN" dirty="0"/>
          </a:p>
          <a:p>
            <a:pPr eaLnBrk="1" hangingPunct="1"/>
            <a:r>
              <a:rPr lang="zh-CN" altLang="en-US" dirty="0"/>
              <a:t>操作</a:t>
            </a:r>
            <a:endParaRPr lang="en-US" altLang="zh-CN" dirty="0"/>
          </a:p>
          <a:p>
            <a:pPr lvl="1" eaLnBrk="1" hangingPunct="1"/>
            <a:r>
              <a:rPr lang="zh-CN" altLang="en-US" dirty="0">
                <a:solidFill>
                  <a:srgbClr val="FF0000"/>
                </a:solidFill>
              </a:rPr>
              <a:t>算术与逻辑运算、转移、访存、系统指令</a:t>
            </a:r>
            <a:endParaRPr lang="en-US" altLang="zh-CN" dirty="0">
              <a:solidFill>
                <a:srgbClr val="FF0000"/>
              </a:solidFill>
            </a:endParaRPr>
          </a:p>
          <a:p>
            <a:pPr eaLnBrk="1" hangingPunct="1"/>
            <a:r>
              <a:rPr lang="zh-CN" altLang="en-US" dirty="0"/>
              <a:t>操作数</a:t>
            </a:r>
            <a:endParaRPr lang="en-US" altLang="zh-CN" dirty="0"/>
          </a:p>
          <a:p>
            <a:pPr lvl="1" eaLnBrk="1" hangingPunct="1"/>
            <a:r>
              <a:rPr lang="zh-CN" altLang="en-US" dirty="0">
                <a:solidFill>
                  <a:srgbClr val="FF0000"/>
                </a:solidFill>
              </a:rPr>
              <a:t>数据来源：立即数、寄存器、存储器</a:t>
            </a:r>
            <a:endParaRPr lang="en-US" altLang="zh-CN" dirty="0">
              <a:solidFill>
                <a:srgbClr val="FF0000"/>
              </a:solidFill>
            </a:endParaRPr>
          </a:p>
          <a:p>
            <a:pPr lvl="1" eaLnBrk="1" hangingPunct="1"/>
            <a:r>
              <a:rPr lang="zh-CN" altLang="en-US" dirty="0"/>
              <a:t>数据类型：定点</a:t>
            </a:r>
            <a:r>
              <a:rPr lang="en-US" altLang="zh-CN" dirty="0"/>
              <a:t>/</a:t>
            </a:r>
            <a:r>
              <a:rPr lang="zh-CN" altLang="en-US" dirty="0"/>
              <a:t>浮点，</a:t>
            </a:r>
            <a:r>
              <a:rPr lang="en-US" altLang="zh-CN" dirty="0"/>
              <a:t>32</a:t>
            </a:r>
            <a:r>
              <a:rPr lang="zh-CN" altLang="en-US" dirty="0"/>
              <a:t>位</a:t>
            </a:r>
            <a:r>
              <a:rPr lang="en-US" altLang="zh-CN" dirty="0"/>
              <a:t>/64</a:t>
            </a:r>
            <a:r>
              <a:rPr lang="zh-CN" altLang="en-US" dirty="0"/>
              <a:t>位。。</a:t>
            </a:r>
            <a:endParaRPr lang="en-US" altLang="zh-CN" dirty="0"/>
          </a:p>
          <a:p>
            <a:pPr lvl="1" eaLnBrk="1" hangingPunct="1"/>
            <a:r>
              <a:rPr lang="zh-CN" altLang="en-US" dirty="0"/>
              <a:t>访存对象：字节</a:t>
            </a:r>
            <a:r>
              <a:rPr lang="en-US" altLang="zh-CN" dirty="0"/>
              <a:t>/</a:t>
            </a:r>
            <a:r>
              <a:rPr lang="zh-CN" altLang="en-US" dirty="0"/>
              <a:t>半字</a:t>
            </a:r>
            <a:r>
              <a:rPr lang="en-US" altLang="zh-CN" dirty="0"/>
              <a:t>/</a:t>
            </a:r>
            <a:r>
              <a:rPr lang="zh-CN" altLang="en-US" dirty="0"/>
              <a:t>字</a:t>
            </a:r>
            <a:r>
              <a:rPr lang="en-US" altLang="zh-CN" dirty="0"/>
              <a:t>/</a:t>
            </a:r>
            <a:r>
              <a:rPr lang="zh-CN" altLang="en-US" dirty="0"/>
              <a:t>双字，大</a:t>
            </a:r>
            <a:r>
              <a:rPr lang="en-US" altLang="zh-CN" dirty="0"/>
              <a:t>/</a:t>
            </a:r>
            <a:r>
              <a:rPr lang="zh-CN" altLang="en-US" dirty="0"/>
              <a:t>小尾端</a:t>
            </a:r>
            <a:endParaRPr lang="en-US" altLang="zh-CN" dirty="0"/>
          </a:p>
          <a:p>
            <a:pPr eaLnBrk="1" hangingPunct="1"/>
            <a:r>
              <a:rPr lang="zh-CN" altLang="en-US" dirty="0"/>
              <a:t>指令编码</a:t>
            </a:r>
            <a:endParaRPr lang="en-US" altLang="zh-CN" dirty="0"/>
          </a:p>
          <a:p>
            <a:pPr lvl="1" eaLnBrk="1" hangingPunct="1"/>
            <a:r>
              <a:rPr lang="zh-CN" altLang="en-US" dirty="0"/>
              <a:t>定长、变长：变长指令程序代码短、定长指令实现简单</a:t>
            </a:r>
            <a:endParaRPr lang="en-US" altLang="zh-CN" dirty="0"/>
          </a:p>
          <a:p>
            <a:pPr lvl="1" eaLnBrk="1" hangingPunct="1"/>
            <a:r>
              <a:rPr lang="zh-CN" altLang="en-US" dirty="0"/>
              <a:t>操作数的个数、类型对指令长度影响很大</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3"/>
          <p:cNvSpPr txBox="1"/>
          <p:nvPr/>
        </p:nvSpPr>
        <p:spPr>
          <a:xfrm>
            <a:off x="1074738" y="2644775"/>
            <a:ext cx="10361612" cy="1746250"/>
          </a:xfrm>
          <a:prstGeom prst="rect">
            <a:avLst/>
          </a:prstGeom>
          <a:noFill/>
          <a:ln w="9525">
            <a:noFill/>
          </a:ln>
        </p:spPr>
        <p:txBody>
          <a:bodyPr anchor="ctr" anchorCtr="0"/>
          <a:lstStyle/>
          <a:p>
            <a:pPr algn="ctr">
              <a:lnSpc>
                <a:spcPct val="150000"/>
              </a:lnSpc>
            </a:pPr>
            <a:r>
              <a:rPr lang="zh-CN" altLang="en-US" sz="3600" dirty="0">
                <a:solidFill>
                  <a:srgbClr val="FF3300"/>
                </a:solidFill>
                <a:latin typeface="黑体" panose="02000500000000000000" pitchFamily="49" charset="-122"/>
                <a:ea typeface="黑体" panose="02000500000000000000" pitchFamily="49" charset="-122"/>
              </a:rPr>
              <a:t>指令系统组成</a:t>
            </a:r>
            <a:r>
              <a:rPr lang="en-US" altLang="zh-CN" sz="3600" dirty="0">
                <a:solidFill>
                  <a:srgbClr val="FF3300"/>
                </a:solidFill>
                <a:latin typeface="黑体" panose="02000500000000000000" pitchFamily="49" charset="-122"/>
                <a:ea typeface="黑体" panose="02000500000000000000" pitchFamily="49" charset="-122"/>
              </a:rPr>
              <a:t/>
            </a:r>
            <a:br>
              <a:rPr lang="en-US" altLang="zh-CN" sz="3600" dirty="0">
                <a:solidFill>
                  <a:srgbClr val="FF3300"/>
                </a:solidFill>
                <a:latin typeface="黑体" panose="02000500000000000000" pitchFamily="49" charset="-122"/>
                <a:ea typeface="黑体" panose="02000500000000000000" pitchFamily="49" charset="-122"/>
              </a:rPr>
            </a:br>
            <a:r>
              <a:rPr lang="en-US" altLang="zh-CN" sz="3200" dirty="0">
                <a:solidFill>
                  <a:srgbClr val="FF3300"/>
                </a:solidFill>
                <a:latin typeface="Times New Roman" pitchFamily="18" charset="0"/>
                <a:ea typeface="黑体" panose="02000500000000000000" pitchFamily="49" charset="-122"/>
              </a:rPr>
              <a:t>---</a:t>
            </a:r>
            <a:r>
              <a:rPr lang="zh-CN" altLang="en-US" sz="3200" dirty="0">
                <a:solidFill>
                  <a:srgbClr val="FF3300"/>
                </a:solidFill>
                <a:latin typeface="Times New Roman" pitchFamily="18" charset="0"/>
                <a:ea typeface="黑体" panose="02000500000000000000" pitchFamily="49" charset="-122"/>
              </a:rPr>
              <a:t>指令操作</a:t>
            </a:r>
            <a:endParaRPr lang="zh-CN" altLang="en-US" sz="3600" dirty="0">
              <a:solidFill>
                <a:srgbClr val="FF3300"/>
              </a:solidFill>
              <a:latin typeface="Times New Roman" pitchFamily="18" charset="0"/>
              <a:ea typeface="黑体" panose="02000500000000000000"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指令操作</a:t>
            </a:r>
          </a:p>
        </p:txBody>
      </p:sp>
      <p:sp>
        <p:nvSpPr>
          <p:cNvPr id="36867" name="内容占位符 3"/>
          <p:cNvSpPr>
            <a:spLocks noGrp="1"/>
          </p:cNvSpPr>
          <p:nvPr>
            <p:ph idx="1"/>
          </p:nvPr>
        </p:nvSpPr>
        <p:spPr>
          <a:xfrm>
            <a:off x="914400" y="958850"/>
            <a:ext cx="10361613" cy="5899150"/>
          </a:xfrm>
        </p:spPr>
        <p:txBody>
          <a:bodyPr vert="horz" wrap="square" lIns="91440" tIns="45720" rIns="91440" bIns="45720" anchor="t" anchorCtr="0"/>
          <a:lstStyle/>
          <a:p>
            <a:pPr eaLnBrk="1" hangingPunct="1"/>
            <a:r>
              <a:rPr lang="zh-CN" altLang="en-US" dirty="0"/>
              <a:t>算术和逻辑运算指令</a:t>
            </a:r>
            <a:endParaRPr lang="en-US" altLang="zh-CN" dirty="0"/>
          </a:p>
          <a:p>
            <a:pPr lvl="1" eaLnBrk="1" hangingPunct="1"/>
            <a:r>
              <a:rPr lang="zh-CN" altLang="en-US" dirty="0"/>
              <a:t>加、减、乘、除、开方</a:t>
            </a:r>
            <a:r>
              <a:rPr lang="en-US" altLang="zh-CN" dirty="0"/>
              <a:t>……</a:t>
            </a:r>
          </a:p>
          <a:p>
            <a:pPr lvl="1" eaLnBrk="1" hangingPunct="1"/>
            <a:r>
              <a:rPr lang="zh-CN" altLang="en-US" dirty="0"/>
              <a:t>移位：左移与右移、逻辑移位与算术移位</a:t>
            </a:r>
            <a:r>
              <a:rPr lang="en-US" altLang="zh-CN" dirty="0"/>
              <a:t>……</a:t>
            </a:r>
          </a:p>
          <a:p>
            <a:pPr lvl="1" eaLnBrk="1" hangingPunct="1"/>
            <a:r>
              <a:rPr lang="zh-CN" altLang="en-US" dirty="0"/>
              <a:t>与、或、非、异或</a:t>
            </a:r>
            <a:r>
              <a:rPr lang="en-US" altLang="zh-CN" dirty="0"/>
              <a:t>……</a:t>
            </a:r>
          </a:p>
          <a:p>
            <a:pPr lvl="1" eaLnBrk="1" hangingPunct="1"/>
            <a:r>
              <a:rPr lang="zh-CN" altLang="en-US" dirty="0"/>
              <a:t>格式转换</a:t>
            </a:r>
            <a:r>
              <a:rPr lang="en-US" altLang="zh-CN" dirty="0"/>
              <a:t>……</a:t>
            </a:r>
          </a:p>
          <a:p>
            <a:pPr eaLnBrk="1" hangingPunct="1"/>
            <a:r>
              <a:rPr lang="zh-CN" altLang="en-US" dirty="0"/>
              <a:t>访存指令：取数、存数</a:t>
            </a:r>
            <a:endParaRPr lang="en-US" altLang="zh-CN" dirty="0"/>
          </a:p>
          <a:p>
            <a:pPr lvl="1" eaLnBrk="1" hangingPunct="1"/>
            <a:r>
              <a:rPr lang="zh-CN" altLang="en-US" dirty="0"/>
              <a:t>不同长度和不同类型：定点</a:t>
            </a:r>
            <a:r>
              <a:rPr lang="en-US" altLang="zh-CN" dirty="0"/>
              <a:t>/</a:t>
            </a:r>
            <a:r>
              <a:rPr lang="zh-CN" altLang="en-US" dirty="0"/>
              <a:t>浮点，字节</a:t>
            </a:r>
            <a:r>
              <a:rPr lang="en-US" altLang="zh-CN" dirty="0"/>
              <a:t>/</a:t>
            </a:r>
            <a:r>
              <a:rPr lang="zh-CN" altLang="en-US" dirty="0"/>
              <a:t>半字</a:t>
            </a:r>
            <a:r>
              <a:rPr lang="en-US" altLang="zh-CN" dirty="0"/>
              <a:t>/</a:t>
            </a:r>
            <a:r>
              <a:rPr lang="zh-CN" altLang="en-US" dirty="0"/>
              <a:t>字</a:t>
            </a:r>
            <a:r>
              <a:rPr lang="en-US" altLang="zh-CN" dirty="0"/>
              <a:t>/</a:t>
            </a:r>
            <a:r>
              <a:rPr lang="zh-CN" altLang="en-US" dirty="0"/>
              <a:t>双字</a:t>
            </a:r>
            <a:endParaRPr lang="en-US" altLang="zh-CN" dirty="0"/>
          </a:p>
          <a:p>
            <a:pPr lvl="1" eaLnBrk="1" hangingPunct="1"/>
            <a:r>
              <a:rPr lang="zh-CN" altLang="en-US" dirty="0"/>
              <a:t>不同寻址方式</a:t>
            </a:r>
            <a:endParaRPr lang="en-US" altLang="zh-CN" dirty="0"/>
          </a:p>
          <a:p>
            <a:pPr eaLnBrk="1" hangingPunct="1"/>
            <a:r>
              <a:rPr lang="zh-CN" altLang="en-US" dirty="0"/>
              <a:t>转移指令</a:t>
            </a:r>
            <a:endParaRPr lang="en-US" altLang="zh-CN" dirty="0"/>
          </a:p>
          <a:p>
            <a:pPr lvl="1" eaLnBrk="1" hangingPunct="1"/>
            <a:r>
              <a:rPr lang="zh-CN" altLang="en-US" dirty="0"/>
              <a:t>相对</a:t>
            </a:r>
            <a:r>
              <a:rPr lang="en-US" altLang="zh-CN" dirty="0"/>
              <a:t>/</a:t>
            </a:r>
            <a:r>
              <a:rPr lang="zh-CN" altLang="en-US" dirty="0"/>
              <a:t>绝对、直接</a:t>
            </a:r>
            <a:r>
              <a:rPr lang="en-US" altLang="zh-CN" dirty="0"/>
              <a:t>/</a:t>
            </a:r>
            <a:r>
              <a:rPr lang="zh-CN" altLang="en-US" dirty="0"/>
              <a:t>间接、条件</a:t>
            </a:r>
            <a:r>
              <a:rPr lang="en-US" altLang="zh-CN" dirty="0"/>
              <a:t>/</a:t>
            </a:r>
            <a:r>
              <a:rPr lang="zh-CN" altLang="en-US" dirty="0"/>
              <a:t>无条件</a:t>
            </a:r>
            <a:endParaRPr lang="en-US" altLang="zh-CN" dirty="0"/>
          </a:p>
          <a:p>
            <a:pPr eaLnBrk="1" hangingPunct="1"/>
            <a:r>
              <a:rPr lang="zh-CN" altLang="en-US" dirty="0"/>
              <a:t>系统管理指令</a:t>
            </a:r>
            <a:endParaRPr lang="en-US" altLang="zh-CN" dirty="0"/>
          </a:p>
          <a:p>
            <a:pPr lvl="1" eaLnBrk="1" hangingPunct="1"/>
            <a:r>
              <a:rPr lang="en-US" altLang="zh-CN" dirty="0"/>
              <a:t>TLB</a:t>
            </a:r>
            <a:r>
              <a:rPr lang="zh-CN" altLang="en-US" dirty="0"/>
              <a:t>管理、</a:t>
            </a:r>
            <a:r>
              <a:rPr lang="en-US" altLang="zh-CN" dirty="0"/>
              <a:t>Cache</a:t>
            </a:r>
            <a:r>
              <a:rPr lang="zh-CN" altLang="en-US" dirty="0"/>
              <a:t>管理、异常管理、安全管理</a:t>
            </a:r>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914400" y="0"/>
            <a:ext cx="10361613" cy="977900"/>
          </a:xfrm>
        </p:spPr>
        <p:txBody>
          <a:bodyPr vert="horz" wrap="square" lIns="91440" tIns="45720" rIns="91440" bIns="45720" anchor="ctr" anchorCtr="0"/>
          <a:lstStyle/>
          <a:p>
            <a:pPr eaLnBrk="1" hangingPunct="1"/>
            <a:r>
              <a:rPr lang="en-US" altLang="zh-CN" dirty="0"/>
              <a:t>Load/Store</a:t>
            </a:r>
            <a:r>
              <a:rPr lang="zh-CN" altLang="en-US" dirty="0"/>
              <a:t>指令</a:t>
            </a:r>
          </a:p>
        </p:txBody>
      </p:sp>
      <p:sp>
        <p:nvSpPr>
          <p:cNvPr id="72707" name="Rectangle 3"/>
          <p:cNvSpPr>
            <a:spLocks noGrp="1"/>
          </p:cNvSpPr>
          <p:nvPr>
            <p:ph idx="1"/>
          </p:nvPr>
        </p:nvSpPr>
        <p:spPr>
          <a:xfrm>
            <a:off x="633413" y="1154113"/>
            <a:ext cx="10642600" cy="1665287"/>
          </a:xfrm>
        </p:spPr>
        <p:txBody>
          <a:bodyPr vert="horz" wrap="square" lIns="91440" tIns="45720" rIns="91440" bIns="45720" anchor="t" anchorCtr="0"/>
          <a:lstStyle/>
          <a:p>
            <a:pPr eaLnBrk="1" hangingPunct="1"/>
            <a:r>
              <a:rPr lang="zh-CN" altLang="en-US" dirty="0"/>
              <a:t>对任何</a:t>
            </a:r>
            <a:r>
              <a:rPr lang="en-US" altLang="zh-CN" dirty="0"/>
              <a:t>GPR</a:t>
            </a:r>
            <a:r>
              <a:rPr lang="zh-CN" altLang="en-US" dirty="0"/>
              <a:t>和</a:t>
            </a:r>
            <a:r>
              <a:rPr lang="en-US" altLang="zh-CN" dirty="0"/>
              <a:t>FPR</a:t>
            </a:r>
            <a:r>
              <a:rPr lang="zh-CN" altLang="en-US" dirty="0"/>
              <a:t>进行存取操作</a:t>
            </a:r>
          </a:p>
          <a:p>
            <a:pPr lvl="1" eaLnBrk="1" hangingPunct="1"/>
            <a:r>
              <a:rPr lang="zh-CN" altLang="en-US" dirty="0"/>
              <a:t>通常</a:t>
            </a:r>
            <a:r>
              <a:rPr lang="en-US" altLang="zh-CN" dirty="0"/>
              <a:t>R0</a:t>
            </a:r>
            <a:r>
              <a:rPr lang="zh-CN" altLang="en-US" dirty="0"/>
              <a:t>总是为</a:t>
            </a:r>
            <a:r>
              <a:rPr lang="en-US" altLang="zh-CN" dirty="0"/>
              <a:t>0</a:t>
            </a:r>
            <a:endParaRPr lang="zh-CN" altLang="en-US" dirty="0"/>
          </a:p>
          <a:p>
            <a:pPr eaLnBrk="1" hangingPunct="1"/>
            <a:r>
              <a:rPr lang="en-US" altLang="zh-CN" dirty="0"/>
              <a:t>MIPS/LoongArch</a:t>
            </a:r>
            <a:r>
              <a:rPr lang="zh-CN" altLang="en-US" dirty="0"/>
              <a:t>的例子</a:t>
            </a:r>
          </a:p>
        </p:txBody>
      </p:sp>
      <p:sp>
        <p:nvSpPr>
          <p:cNvPr id="7270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43</a:t>
            </a:fld>
            <a:endParaRPr lang="en-US" altLang="zh-CN" sz="1400" dirty="0"/>
          </a:p>
        </p:txBody>
      </p:sp>
      <p:graphicFrame>
        <p:nvGraphicFramePr>
          <p:cNvPr id="85028" name="Group 36"/>
          <p:cNvGraphicFramePr>
            <a:graphicFrameLocks noGrp="1"/>
          </p:cNvGraphicFramePr>
          <p:nvPr/>
        </p:nvGraphicFramePr>
        <p:xfrm>
          <a:off x="1252538" y="3069908"/>
          <a:ext cx="4218305" cy="3178175"/>
        </p:xfrm>
        <a:graphic>
          <a:graphicData uri="http://schemas.openxmlformats.org/drawingml/2006/table">
            <a:tbl>
              <a:tblPr/>
              <a:tblGrid>
                <a:gridCol w="1581785"/>
                <a:gridCol w="2636520"/>
              </a:tblGrid>
              <a:tr h="244475">
                <a:tc>
                  <a:txBody>
                    <a:bodyPr/>
                    <a:lstStyle/>
                    <a:p>
                      <a:pPr marL="0" marR="0" lvl="0" indent="24130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OpCode</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Description</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LB</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Load Byte</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LBU</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Load Byte Unsigned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LH</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Load Halfword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LHU</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Load Halfword Unsigned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LW</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Load Word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rPr>
                        <a:t>LWL</a:t>
                      </a:r>
                      <a:endPar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Load Word Left</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rPr>
                        <a:t>LWR</a:t>
                      </a:r>
                      <a:endPar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Load Word Right</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SB</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Store Byte</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SH</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Store Halfword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SW</a:t>
                      </a:r>
                      <a:endParaRPr kumimoji="0" lang="zh-CN" altLang="zh-CN" sz="14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Store Word</a:t>
                      </a:r>
                      <a:endParaRPr kumimoji="0" lang="zh-CN" altLang="zh-CN" sz="1400" b="0"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rPr>
                        <a:t>SWL</a:t>
                      </a:r>
                      <a:endPar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Store Word Left</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4447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rPr>
                        <a:t>SWR</a:t>
                      </a:r>
                      <a:endParaRPr kumimoji="0" lang="en-US" altLang="zh-CN" sz="1400" b="1"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rPr>
                        <a:t>Store Word Right</a:t>
                      </a:r>
                      <a:endParaRPr kumimoji="0" lang="en-US" altLang="zh-CN" sz="1400" b="0" i="0" u="none" strike="noStrike" cap="none" normalizeH="0" baseline="0" smtClean="0">
                        <a:ln>
                          <a:noFill/>
                        </a:ln>
                        <a:solidFill>
                          <a:srgbClr val="FF0000"/>
                        </a:solidFill>
                        <a:effectLst/>
                        <a:latin typeface="Times New Roman" pitchFamily="18" charset="0"/>
                        <a:ea typeface="宋体" panose="02000500000000000000" pitchFamily="2" charset="-122"/>
                        <a:cs typeface="Times New Roman" pitchFamily="18" charset="0"/>
                      </a:endParaRPr>
                    </a:p>
                  </a:txBody>
                  <a:tcPr marL="91417" marR="91417"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 name="表格 1"/>
          <p:cNvGraphicFramePr/>
          <p:nvPr/>
        </p:nvGraphicFramePr>
        <p:xfrm>
          <a:off x="6049010" y="3070225"/>
          <a:ext cx="5325745" cy="3178175"/>
        </p:xfrm>
        <a:graphic>
          <a:graphicData uri="http://schemas.openxmlformats.org/drawingml/2006/table">
            <a:tbl>
              <a:tblPr firstRow="1" bandRow="1">
                <a:tableStyleId>{5940675A-B579-460E-94D1-54222C63F5DA}</a:tableStyleId>
              </a:tblPr>
              <a:tblGrid>
                <a:gridCol w="1994535"/>
                <a:gridCol w="3331210"/>
              </a:tblGrid>
              <a:tr h="258445">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指令</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指令功能</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LD.B</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取字节</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65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LD.BU</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取字节，无符号扩展</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LD.H</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取半字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97180">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LD.HU</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取半字，无符号扩展</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LD.W</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LD.WU</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取字，无符号扩展</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LD.D</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取双字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ST.B</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存字节</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ST.H</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存半字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ST.W</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存字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844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ST.D</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存双字</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44</a:t>
            </a:fld>
            <a:endParaRPr lang="en-US" altLang="zh-CN" sz="1400" dirty="0"/>
          </a:p>
        </p:txBody>
      </p:sp>
      <p:sp>
        <p:nvSpPr>
          <p:cNvPr id="73731" name="Rectangle 2"/>
          <p:cNvSpPr/>
          <p:nvPr/>
        </p:nvSpPr>
        <p:spPr>
          <a:xfrm>
            <a:off x="914400" y="635"/>
            <a:ext cx="10361930" cy="751840"/>
          </a:xfrm>
          <a:prstGeom prst="rect">
            <a:avLst/>
          </a:prstGeom>
          <a:noFill/>
          <a:ln w="9525">
            <a:noFill/>
          </a:ln>
        </p:spPr>
        <p:txBody>
          <a:bodyPr anchor="ctr" anchorCtr="0"/>
          <a:lstStyle/>
          <a:p>
            <a:pPr algn="ctr"/>
            <a:r>
              <a:rPr lang="en-US" altLang="zh-CN" sz="3600" dirty="0">
                <a:solidFill>
                  <a:srgbClr val="FF0000"/>
                </a:solidFill>
                <a:latin typeface="Arial" panose="02080604020202020204" pitchFamily="34" charset="0"/>
                <a:ea typeface="黑体" panose="02000500000000000000" pitchFamily="49" charset="-122"/>
              </a:rPr>
              <a:t>ALU</a:t>
            </a:r>
            <a:r>
              <a:rPr lang="zh-CN" altLang="en-US" sz="3600" dirty="0">
                <a:solidFill>
                  <a:srgbClr val="FF0000"/>
                </a:solidFill>
                <a:latin typeface="Arial" panose="02080604020202020204" pitchFamily="34" charset="0"/>
                <a:ea typeface="黑体" panose="02000500000000000000" pitchFamily="49" charset="-122"/>
              </a:rPr>
              <a:t>指令</a:t>
            </a:r>
          </a:p>
        </p:txBody>
      </p:sp>
      <p:sp>
        <p:nvSpPr>
          <p:cNvPr id="79876" name="Rectangle 3"/>
          <p:cNvSpPr>
            <a:spLocks noChangeArrowheads="1"/>
          </p:cNvSpPr>
          <p:nvPr/>
        </p:nvSpPr>
        <p:spPr bwMode="auto">
          <a:xfrm>
            <a:off x="587375" y="752475"/>
            <a:ext cx="11174730" cy="22098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所有</a:t>
            </a:r>
            <a:r>
              <a:rPr kumimoji="0" lang="en-US" altLang="zh-CN" sz="2000" b="1" i="0" u="none" strike="noStrike" kern="1200" cap="none" spc="0" normalizeH="0" baseline="0" noProof="0" dirty="0">
                <a:ln>
                  <a:noFill/>
                </a:ln>
                <a:solidFill>
                  <a:srgbClr val="000000"/>
                </a:solidFill>
                <a:effectLst/>
                <a:uLnTx/>
                <a:uFillTx/>
                <a:latin typeface="+mn-ea"/>
                <a:ea typeface="+mn-ea"/>
                <a:cs typeface="+mn-cs"/>
              </a:rPr>
              <a:t>ALU</a:t>
            </a: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指令都是寄存器型的</a:t>
            </a:r>
          </a:p>
          <a:p>
            <a:pPr marL="800100" marR="0" lvl="1"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1600" b="1" i="0" u="none" strike="noStrike" kern="1200" cap="none" spc="0" normalizeH="0" baseline="0" noProof="0" dirty="0">
                <a:ln>
                  <a:noFill/>
                </a:ln>
                <a:solidFill>
                  <a:srgbClr val="000000"/>
                </a:solidFill>
                <a:effectLst/>
                <a:uLnTx/>
                <a:uFillTx/>
                <a:latin typeface="+mn-ea"/>
                <a:ea typeface="+mn-ea"/>
                <a:cs typeface="+mn-cs"/>
              </a:rPr>
              <a:t>ALU</a:t>
            </a:r>
            <a:r>
              <a:rPr kumimoji="0" lang="zh-CN" altLang="en-US" sz="1600" b="1" i="0" u="none" strike="noStrike" kern="1200" cap="none" spc="0" normalizeH="0" baseline="0" noProof="0" dirty="0">
                <a:ln>
                  <a:noFill/>
                </a:ln>
                <a:solidFill>
                  <a:srgbClr val="000000"/>
                </a:solidFill>
                <a:effectLst/>
                <a:uLnTx/>
                <a:uFillTx/>
                <a:latin typeface="+mn-ea"/>
                <a:ea typeface="+mn-ea"/>
                <a:cs typeface="+mn-cs"/>
              </a:rPr>
              <a:t>的常见操作有加、减、与、或、异或、移位、比较，乘除法在专门的部件进行</a:t>
            </a:r>
          </a:p>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2000" b="1" i="0" u="none" strike="noStrike" kern="1200" cap="none" spc="0" normalizeH="0" baseline="0" noProof="0" dirty="0">
                <a:ln>
                  <a:noFill/>
                </a:ln>
                <a:solidFill>
                  <a:srgbClr val="000000"/>
                </a:solidFill>
                <a:effectLst/>
                <a:uLnTx/>
                <a:uFillTx/>
                <a:latin typeface="+mn-ea"/>
                <a:ea typeface="+mn-ea"/>
                <a:cs typeface="+mn-cs"/>
              </a:rPr>
              <a:t>MIPS/LoongArch</a:t>
            </a: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的例子</a:t>
            </a:r>
          </a:p>
        </p:txBody>
      </p:sp>
      <p:graphicFrame>
        <p:nvGraphicFramePr>
          <p:cNvPr id="86096" name="Group 80"/>
          <p:cNvGraphicFramePr>
            <a:graphicFrameLocks noGrp="1"/>
          </p:cNvGraphicFramePr>
          <p:nvPr/>
        </p:nvGraphicFramePr>
        <p:xfrm>
          <a:off x="993775" y="2357120"/>
          <a:ext cx="3729990" cy="1371600"/>
        </p:xfrm>
        <a:graphic>
          <a:graphicData uri="http://schemas.openxmlformats.org/drawingml/2006/table">
            <a:tbl>
              <a:tblPr/>
              <a:tblGrid>
                <a:gridCol w="784860"/>
                <a:gridCol w="2945130"/>
              </a:tblGrid>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OpCode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Description</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ADDIU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 Immediate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SLTI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Set on Less Than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SLTIU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Set on Less Than Immediate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ANDI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AND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ORI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OR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XORI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Exclusive OR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LUI</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Load Upper Immediate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08" marR="91408"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6104" name="Group 88"/>
          <p:cNvGraphicFramePr>
            <a:graphicFrameLocks noGrp="1"/>
          </p:cNvGraphicFramePr>
          <p:nvPr/>
        </p:nvGraphicFramePr>
        <p:xfrm>
          <a:off x="4813300" y="2061845"/>
          <a:ext cx="3357245" cy="1676400"/>
        </p:xfrm>
        <a:graphic>
          <a:graphicData uri="http://schemas.openxmlformats.org/drawingml/2006/table">
            <a:tbl>
              <a:tblPr/>
              <a:tblGrid>
                <a:gridCol w="990600"/>
                <a:gridCol w="2366645"/>
              </a:tblGrid>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OpCode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Description</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ADD</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Add</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Add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SUB</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Subtract</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SUBU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Subtract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SLT</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Set on Less Than</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SLTU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Set on Less Than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AND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AND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XOR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Exclusive 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NOR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NOR</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91435" marR="91435"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6101" name="Group 85"/>
          <p:cNvGraphicFramePr>
            <a:graphicFrameLocks noGrp="1"/>
          </p:cNvGraphicFramePr>
          <p:nvPr/>
        </p:nvGraphicFramePr>
        <p:xfrm>
          <a:off x="8364220" y="2256790"/>
          <a:ext cx="2920365" cy="1457960"/>
        </p:xfrm>
        <a:graphic>
          <a:graphicData uri="http://schemas.openxmlformats.org/drawingml/2006/table">
            <a:tbl>
              <a:tblPr/>
              <a:tblGrid>
                <a:gridCol w="1085850"/>
                <a:gridCol w="1834515"/>
              </a:tblGrid>
              <a:tr h="15240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OpCode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Description</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383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MULT</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Multiply</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r>
              <a:tr h="16256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MULTU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Multiply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383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DIV</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Divide</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2560">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DIVU</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Divide Unsigned</a:t>
                      </a:r>
                      <a:endParaRPr kumimoji="0"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319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MFHI</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Move From HI</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319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MTHI</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Move To HI</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319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MFLO</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Move From LO</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63195">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MTLO</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rPr>
                        <a:t>Move To LO</a:t>
                      </a:r>
                      <a:endParaRPr kumimoji="0" lang="en-US" altLang="zh-CN" sz="1000" b="1" i="0" u="none" strike="noStrike" cap="none" normalizeH="0" baseline="0" smtClean="0">
                        <a:ln>
                          <a:noFill/>
                        </a:ln>
                        <a:solidFill>
                          <a:schemeClr val="accent2"/>
                        </a:solidFill>
                        <a:effectLst/>
                        <a:latin typeface="宋体" panose="02000500000000000000" pitchFamily="2" charset="-122"/>
                        <a:ea typeface="宋体" panose="02000500000000000000" pitchFamily="2" charset="-122"/>
                        <a:cs typeface="Times New Roman" pitchFamily="18" charset="0"/>
                      </a:endParaRPr>
                    </a:p>
                  </a:txBody>
                  <a:tcPr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 name="表格 1"/>
          <p:cNvGraphicFramePr/>
          <p:nvPr/>
        </p:nvGraphicFramePr>
        <p:xfrm>
          <a:off x="984250" y="3969385"/>
          <a:ext cx="3750945" cy="2823210"/>
        </p:xfrm>
        <a:graphic>
          <a:graphicData uri="http://schemas.openxmlformats.org/drawingml/2006/table">
            <a:tbl>
              <a:tblPr firstRow="1" bandRow="1">
                <a:tableStyleId>{5940675A-B579-460E-94D1-54222C63F5DA}</a:tableStyleId>
              </a:tblPr>
              <a:tblGrid>
                <a:gridCol w="897255"/>
                <a:gridCol w="2853690"/>
              </a:tblGrid>
              <a:tr h="156845">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指令功能</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ADD.W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字加</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ADDI.W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字加立即数</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SUB.W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字减</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ADD.D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双字加</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ADDI.D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双字加立即数</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SUB.D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双字减</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SLT</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有符号数比较小于置1</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SLTI</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有符号数立即数比较小于置1</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SLTU</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无符号数比较小于置1</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SLTUI</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无符号数立即数比较小于置1</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AND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与</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OR</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或</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XOR</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异或</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NOR</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或非</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ANDI</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与立即数</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ORI</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或立即数</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56845">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XORI</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异或立即数</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nvGraphicFramePr>
        <p:xfrm>
          <a:off x="4819015" y="4378325"/>
          <a:ext cx="3390265" cy="2418080"/>
        </p:xfrm>
        <a:graphic>
          <a:graphicData uri="http://schemas.openxmlformats.org/drawingml/2006/table">
            <a:tbl>
              <a:tblPr firstRow="1" bandRow="1">
                <a:tableStyleId>{5940675A-B579-460E-94D1-54222C63F5DA}</a:tableStyleId>
              </a:tblPr>
              <a:tblGrid>
                <a:gridCol w="1065530"/>
                <a:gridCol w="2324735"/>
              </a:tblGrid>
              <a:tr h="172720">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指令功能</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LU12I.W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加载20位立即数到高位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SLL.W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字逻辑左移变量位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SRL.W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字逻辑右移变量位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SRA.W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字算术右移变量位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SLLI.W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字逻辑左移常量位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SRLI.W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字逻辑右移常量位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SRAI.W</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字算术右移常量位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SLL.D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双字逻辑左移变量位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SRL.D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双字逻辑右移变量位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SRA.D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双字算术右移变量位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SLLI.D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双字逻辑左移常量位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SRLI.D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双字逻辑右移常量位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272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SRAI.D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双字算术右移常量位</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graphicFrame>
        <p:nvGraphicFramePr>
          <p:cNvPr id="4" name="表格 3"/>
          <p:cNvGraphicFramePr/>
          <p:nvPr/>
        </p:nvGraphicFramePr>
        <p:xfrm>
          <a:off x="8371205" y="4182745"/>
          <a:ext cx="3270250" cy="2609850"/>
        </p:xfrm>
        <a:graphic>
          <a:graphicData uri="http://schemas.openxmlformats.org/drawingml/2006/table">
            <a:tbl>
              <a:tblPr firstRow="1" bandRow="1">
                <a:tableStyleId>{5940675A-B579-460E-94D1-54222C63F5DA}</a:tableStyleId>
              </a:tblPr>
              <a:tblGrid>
                <a:gridCol w="1041400"/>
                <a:gridCol w="2228850"/>
              </a:tblGrid>
              <a:tr h="173990">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1">
                          <a:latin typeface="宋体" panose="02000500000000000000" pitchFamily="2" charset="-122"/>
                          <a:ea typeface="宋体" panose="02000500000000000000" pitchFamily="2" charset="-122"/>
                          <a:cs typeface="宋体" panose="02000500000000000000" pitchFamily="2" charset="-122"/>
                        </a:rPr>
                        <a:t>指令功能</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MUL.W</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字乘取低半部分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MULH.W</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有符号字乘取高半部分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MULH.WU</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无符号字乘取高半部分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MUL.D</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双字乘取低半部分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MULH.D</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有符号双字乘取高半部分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MULH.DU</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无符号双字乘取高半部分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DIV.W</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有符号字除取商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DIV.WU</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无符号字除取商</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MOD.W</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有符号字除取余</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MOD.WU</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solidFill>
                            <a:srgbClr val="FF0000"/>
                          </a:solidFill>
                          <a:latin typeface="宋体" panose="02000500000000000000" pitchFamily="2" charset="-122"/>
                          <a:ea typeface="宋体" panose="02000500000000000000" pitchFamily="2" charset="-122"/>
                          <a:cs typeface="宋体" panose="02000500000000000000" pitchFamily="2" charset="-122"/>
                        </a:rPr>
                        <a:t>无符号字除取余</a:t>
                      </a:r>
                      <a:endParaRPr lang="en-US" altLang="en-US" sz="10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DIV.D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有符号双字除取商</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DIV.DU</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无符号双字除取商</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MOD.D</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有符号双字除取余</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73990">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MOD.DU</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000" b="1">
                          <a:latin typeface="宋体" panose="02000500000000000000" pitchFamily="2" charset="-122"/>
                          <a:ea typeface="宋体" panose="02000500000000000000" pitchFamily="2" charset="-122"/>
                          <a:cs typeface="宋体" panose="02000500000000000000" pitchFamily="2" charset="-122"/>
                        </a:rPr>
                        <a:t>无符号双字除取余</a:t>
                      </a:r>
                      <a:endParaRPr lang="en-US" altLang="en-US" sz="10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45</a:t>
            </a:fld>
            <a:endParaRPr lang="en-US" altLang="zh-CN" sz="1400" dirty="0"/>
          </a:p>
        </p:txBody>
      </p:sp>
      <p:sp>
        <p:nvSpPr>
          <p:cNvPr id="52227" name="Rectangle 2"/>
          <p:cNvSpPr>
            <a:spLocks noGrp="1"/>
          </p:cNvSpPr>
          <p:nvPr>
            <p:ph type="title"/>
          </p:nvPr>
        </p:nvSpPr>
        <p:spPr>
          <a:xfrm>
            <a:off x="877888" y="0"/>
            <a:ext cx="10361612" cy="1143000"/>
          </a:xfrm>
        </p:spPr>
        <p:txBody>
          <a:bodyPr vert="horz" wrap="square" lIns="91440" tIns="45720" rIns="91440" bIns="45720" anchor="ctr" anchorCtr="0"/>
          <a:lstStyle/>
          <a:p>
            <a:pPr eaLnBrk="1" hangingPunct="1"/>
            <a:r>
              <a:rPr lang="zh-CN" altLang="en-US" dirty="0"/>
              <a:t>转移指令</a:t>
            </a:r>
          </a:p>
        </p:txBody>
      </p:sp>
      <p:sp>
        <p:nvSpPr>
          <p:cNvPr id="52228" name="Rectangle 3"/>
          <p:cNvSpPr>
            <a:spLocks noGrp="1"/>
          </p:cNvSpPr>
          <p:nvPr>
            <p:ph idx="1"/>
          </p:nvPr>
        </p:nvSpPr>
        <p:spPr>
          <a:xfrm>
            <a:off x="444500" y="1450975"/>
            <a:ext cx="11423650" cy="5003800"/>
          </a:xfrm>
        </p:spPr>
        <p:txBody>
          <a:bodyPr vert="horz" wrap="square" lIns="91440" tIns="45720" rIns="91440" bIns="45720" anchor="t" anchorCtr="0"/>
          <a:lstStyle/>
          <a:p>
            <a:pPr eaLnBrk="1" hangingPunct="1"/>
            <a:r>
              <a:rPr lang="zh-CN" altLang="en-US" sz="1800" dirty="0">
                <a:latin typeface="宋体" panose="02000500000000000000" pitchFamily="2" charset="-122"/>
                <a:ea typeface="宋体" panose="02000500000000000000" pitchFamily="2" charset="-122"/>
                <a:cs typeface="宋体" panose="02000500000000000000" pitchFamily="2" charset="-122"/>
              </a:rPr>
              <a:t>转移指令类型</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rPr>
              <a:t>条件转移</a:t>
            </a:r>
            <a:r>
              <a:rPr lang="en-US" altLang="zh-CN" sz="1400" dirty="0">
                <a:latin typeface="宋体" panose="02000500000000000000" pitchFamily="2" charset="-122"/>
                <a:ea typeface="宋体" panose="02000500000000000000" pitchFamily="2" charset="-122"/>
                <a:cs typeface="宋体" panose="02000500000000000000" pitchFamily="2" charset="-122"/>
              </a:rPr>
              <a:t>/</a:t>
            </a:r>
            <a:r>
              <a:rPr lang="zh-CN" altLang="en-US" sz="1400" dirty="0">
                <a:latin typeface="宋体" panose="02000500000000000000" pitchFamily="2" charset="-122"/>
                <a:ea typeface="宋体" panose="02000500000000000000" pitchFamily="2" charset="-122"/>
                <a:cs typeface="宋体" panose="02000500000000000000" pitchFamily="2" charset="-122"/>
              </a:rPr>
              <a:t>无条件转移</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rPr>
              <a:t>过程调用</a:t>
            </a:r>
            <a:r>
              <a:rPr lang="en-US" altLang="zh-CN" sz="1400" dirty="0">
                <a:latin typeface="宋体" panose="02000500000000000000" pitchFamily="2" charset="-122"/>
                <a:ea typeface="宋体" panose="02000500000000000000" pitchFamily="2" charset="-122"/>
                <a:cs typeface="宋体" panose="02000500000000000000" pitchFamily="2" charset="-122"/>
              </a:rPr>
              <a:t>/</a:t>
            </a:r>
            <a:r>
              <a:rPr lang="zh-CN" altLang="en-US" sz="1400" dirty="0">
                <a:latin typeface="宋体" panose="02000500000000000000" pitchFamily="2" charset="-122"/>
                <a:ea typeface="宋体" panose="02000500000000000000" pitchFamily="2" charset="-122"/>
                <a:cs typeface="宋体" panose="02000500000000000000" pitchFamily="2" charset="-122"/>
              </a:rPr>
              <a:t>过程返回</a:t>
            </a:r>
          </a:p>
          <a:p>
            <a:pPr eaLnBrk="1" hangingPunct="1"/>
            <a:r>
              <a:rPr lang="zh-CN" altLang="en-US" sz="1800" dirty="0">
                <a:latin typeface="宋体" panose="02000500000000000000" pitchFamily="2" charset="-122"/>
                <a:ea typeface="宋体" panose="02000500000000000000" pitchFamily="2" charset="-122"/>
                <a:cs typeface="宋体" panose="02000500000000000000" pitchFamily="2" charset="-122"/>
              </a:rPr>
              <a:t>转移地址类型</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rPr>
              <a:t>相对：</a:t>
            </a:r>
            <a:r>
              <a:rPr lang="en-US" altLang="zh-CN" sz="1400" dirty="0">
                <a:latin typeface="宋体" panose="02000500000000000000" pitchFamily="2" charset="-122"/>
                <a:ea typeface="宋体" panose="02000500000000000000" pitchFamily="2" charset="-122"/>
                <a:cs typeface="宋体" panose="02000500000000000000" pitchFamily="2" charset="-122"/>
              </a:rPr>
              <a:t>PC+</a:t>
            </a:r>
            <a:r>
              <a:rPr lang="zh-CN" altLang="en-US" sz="1400" dirty="0">
                <a:latin typeface="宋体" panose="02000500000000000000" pitchFamily="2" charset="-122"/>
                <a:ea typeface="宋体" panose="02000500000000000000" pitchFamily="2" charset="-122"/>
                <a:cs typeface="宋体" panose="02000500000000000000" pitchFamily="2" charset="-122"/>
              </a:rPr>
              <a:t>偏移量</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rPr>
              <a:t>绝对：指令中给出转移地址</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rPr>
              <a:t>间接：根据寄存器内容转移（编译器不知道目标地址），如</a:t>
            </a:r>
            <a:r>
              <a:rPr lang="en-US" altLang="zh-CN" sz="1400" dirty="0">
                <a:latin typeface="宋体" panose="02000500000000000000" pitchFamily="2" charset="-122"/>
                <a:ea typeface="宋体" panose="02000500000000000000" pitchFamily="2" charset="-122"/>
                <a:cs typeface="宋体" panose="02000500000000000000" pitchFamily="2" charset="-122"/>
              </a:rPr>
              <a:t>Switch</a:t>
            </a:r>
            <a:r>
              <a:rPr lang="zh-CN" altLang="en-US" sz="1400" dirty="0">
                <a:latin typeface="宋体" panose="02000500000000000000" pitchFamily="2" charset="-122"/>
                <a:ea typeface="宋体" panose="02000500000000000000" pitchFamily="2" charset="-122"/>
                <a:cs typeface="宋体" panose="02000500000000000000" pitchFamily="2" charset="-122"/>
              </a:rPr>
              <a:t>语句、函数指针、动态链接、过程返回等</a:t>
            </a:r>
          </a:p>
          <a:p>
            <a:pPr eaLnBrk="1" hangingPunct="1"/>
            <a:r>
              <a:rPr lang="zh-CN" altLang="en-US" sz="1800" dirty="0">
                <a:latin typeface="宋体" panose="02000500000000000000" pitchFamily="2" charset="-122"/>
                <a:ea typeface="宋体" panose="02000500000000000000" pitchFamily="2" charset="-122"/>
                <a:cs typeface="宋体" panose="02000500000000000000" pitchFamily="2" charset="-122"/>
                <a:sym typeface="+mn-ea"/>
              </a:rPr>
              <a:t>转移条件的表达</a:t>
            </a: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sym typeface="+mn-ea"/>
              </a:rPr>
              <a:t>根据条件位判断转移：运算指令生成条件位，转移指令判断条件位转移，如</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X86</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ARM</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PowerPC</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SPARC</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MIPS</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浮点</a:t>
            </a:r>
            <a:endParaRPr lang="zh-CN" altLang="en-US" dirty="0">
              <a:latin typeface="宋体" panose="02000500000000000000" pitchFamily="2" charset="-122"/>
              <a:ea typeface="宋体" panose="02000500000000000000" pitchFamily="2" charset="-122"/>
              <a:cs typeface="宋体" panose="02000500000000000000" pitchFamily="2" charset="-122"/>
            </a:endParaRPr>
          </a:p>
          <a:p>
            <a:pPr lvl="1" eaLnBrk="1" hangingPunct="1"/>
            <a:r>
              <a:rPr lang="zh-CN" altLang="en-US" sz="1400" dirty="0">
                <a:latin typeface="宋体" panose="02000500000000000000" pitchFamily="2" charset="-122"/>
                <a:ea typeface="宋体" panose="02000500000000000000" pitchFamily="2" charset="-122"/>
                <a:cs typeface="宋体" panose="02000500000000000000" pitchFamily="2" charset="-122"/>
                <a:sym typeface="+mn-ea"/>
              </a:rPr>
              <a:t>直接比较寄存器内容转移：转移指令直接判断寄存器内容的大小决定是否转移，如</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Aplha</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MIPS</a:t>
            </a:r>
            <a:r>
              <a:rPr lang="zh-CN" altLang="en-US" dirty="0">
                <a:latin typeface="宋体" panose="02000500000000000000" pitchFamily="2" charset="-122"/>
                <a:ea typeface="宋体" panose="02000500000000000000" pitchFamily="2" charset="-122"/>
                <a:cs typeface="宋体" panose="02000500000000000000" pitchFamily="2" charset="-122"/>
                <a:sym typeface="+mn-ea"/>
              </a:rPr>
              <a:t>定点、</a:t>
            </a:r>
            <a:r>
              <a:rPr lang="en-US" altLang="zh-CN" dirty="0">
                <a:latin typeface="宋体" panose="02000500000000000000" pitchFamily="2" charset="-122"/>
                <a:ea typeface="宋体" panose="02000500000000000000" pitchFamily="2" charset="-122"/>
                <a:cs typeface="宋体" panose="02000500000000000000" pitchFamily="2" charset="-122"/>
                <a:sym typeface="+mn-ea"/>
              </a:rPr>
              <a:t>PA-RISC</a:t>
            </a:r>
            <a:endParaRPr lang="en-US" altLang="zh-CN" dirty="0">
              <a:latin typeface="宋体" panose="02000500000000000000" pitchFamily="2" charset="-122"/>
              <a:ea typeface="宋体" panose="02000500000000000000" pitchFamily="2" charset="-122"/>
              <a:cs typeface="宋体" panose="02000500000000000000" pitchFamily="2" charset="-122"/>
            </a:endParaRPr>
          </a:p>
          <a:p>
            <a:pPr lvl="1" eaLnBrk="1" hangingPunct="1"/>
            <a:endParaRPr lang="zh-CN" altLang="en-US" sz="1400" dirty="0">
              <a:latin typeface="宋体" panose="02000500000000000000" pitchFamily="2" charset="-122"/>
              <a:ea typeface="宋体" panose="02000500000000000000" pitchFamily="2" charset="-122"/>
              <a:cs typeface="宋体" panose="02000500000000000000" pitchFamily="2" charset="-122"/>
            </a:endParaRPr>
          </a:p>
          <a:p>
            <a:pPr lvl="2" eaLnBrk="1" hangingPunct="1"/>
            <a:endParaRPr lang="zh-CN" altLang="en-US" sz="1400"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46</a:t>
            </a:fld>
            <a:endParaRPr lang="en-US" altLang="zh-CN" sz="1400" dirty="0"/>
          </a:p>
        </p:txBody>
      </p:sp>
      <p:sp>
        <p:nvSpPr>
          <p:cNvPr id="74755" name="Rectangle 3"/>
          <p:cNvSpPr/>
          <p:nvPr/>
        </p:nvSpPr>
        <p:spPr>
          <a:xfrm>
            <a:off x="914400" y="304800"/>
            <a:ext cx="10361613" cy="685800"/>
          </a:xfrm>
          <a:prstGeom prst="rect">
            <a:avLst/>
          </a:prstGeom>
          <a:noFill/>
          <a:ln w="9525">
            <a:noFill/>
          </a:ln>
        </p:spPr>
        <p:txBody>
          <a:bodyPr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转移指令</a:t>
            </a:r>
          </a:p>
        </p:txBody>
      </p:sp>
      <p:sp>
        <p:nvSpPr>
          <p:cNvPr id="80900" name="Rectangle 4"/>
          <p:cNvSpPr>
            <a:spLocks noChangeArrowheads="1"/>
          </p:cNvSpPr>
          <p:nvPr/>
        </p:nvSpPr>
        <p:spPr bwMode="auto">
          <a:xfrm>
            <a:off x="508000" y="1143000"/>
            <a:ext cx="11174413" cy="21336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zh-CN" sz="2000" b="1" i="0" u="none" strike="noStrike" kern="1200" cap="none" spc="0" normalizeH="0" baseline="0" noProof="0" dirty="0">
                <a:ln>
                  <a:noFill/>
                </a:ln>
                <a:solidFill>
                  <a:srgbClr val="FF0000"/>
                </a:solidFill>
                <a:effectLst/>
                <a:uLnTx/>
                <a:uFillTx/>
                <a:latin typeface="+mn-ea"/>
                <a:ea typeface="+mn-ea"/>
                <a:cs typeface="+mn-cs"/>
              </a:rPr>
              <a:t>条件相对直接转移、无条件相对直接转移、无条件绝对间接</a:t>
            </a:r>
            <a:r>
              <a:rPr kumimoji="0" lang="zh-CN" altLang="zh-CN" sz="2000" b="1" i="0" u="none" strike="noStrike" kern="1200" cap="none" spc="0" normalizeH="0" baseline="0" noProof="0" dirty="0">
                <a:ln>
                  <a:noFill/>
                </a:ln>
                <a:solidFill>
                  <a:srgbClr val="000000"/>
                </a:solidFill>
                <a:effectLst/>
                <a:uLnTx/>
                <a:uFillTx/>
                <a:latin typeface="+mn-ea"/>
                <a:ea typeface="+mn-ea"/>
                <a:cs typeface="+mn-cs"/>
              </a:rPr>
              <a:t>转移用得较多</a:t>
            </a:r>
            <a:endParaRPr kumimoji="0" lang="en-US" altLang="zh-CN" sz="2000" b="1" i="0" u="none" strike="noStrike" kern="1200" cap="none" spc="0" normalizeH="0" baseline="0" noProof="0" dirty="0">
              <a:ln>
                <a:noFill/>
              </a:ln>
              <a:solidFill>
                <a:srgbClr val="000000"/>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2000" b="1" i="0" u="none" strike="noStrike" kern="1200" cap="none" spc="0" normalizeH="0" baseline="0" noProof="0" dirty="0">
                <a:ln>
                  <a:noFill/>
                </a:ln>
                <a:solidFill>
                  <a:srgbClr val="000000"/>
                </a:solidFill>
                <a:effectLst/>
                <a:uLnTx/>
                <a:uFillTx/>
                <a:latin typeface="+mn-ea"/>
                <a:ea typeface="+mn-ea"/>
                <a:cs typeface="+mn-cs"/>
              </a:rPr>
              <a:t>MIPS/LoongArch</a:t>
            </a: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的例子</a:t>
            </a:r>
          </a:p>
        </p:txBody>
      </p:sp>
      <p:graphicFrame>
        <p:nvGraphicFramePr>
          <p:cNvPr id="87079" name="Group 39"/>
          <p:cNvGraphicFramePr>
            <a:graphicFrameLocks noGrp="1"/>
          </p:cNvGraphicFramePr>
          <p:nvPr/>
        </p:nvGraphicFramePr>
        <p:xfrm>
          <a:off x="762000" y="3703320"/>
          <a:ext cx="5488305" cy="2773680"/>
        </p:xfrm>
        <a:graphic>
          <a:graphicData uri="http://schemas.openxmlformats.org/drawingml/2006/table">
            <a:tbl>
              <a:tblPr/>
              <a:tblGrid>
                <a:gridCol w="1080770"/>
                <a:gridCol w="4407535"/>
              </a:tblGrid>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dirty="0" err="1" smtClean="0">
                          <a:ln>
                            <a:noFill/>
                          </a:ln>
                          <a:solidFill>
                            <a:schemeClr val="tx1"/>
                          </a:solidFill>
                          <a:effectLst/>
                          <a:latin typeface="Times New Roman" pitchFamily="18" charset="0"/>
                          <a:ea typeface="宋体" panose="02000500000000000000" pitchFamily="2" charset="-122"/>
                        </a:rPr>
                        <a:t>OpCode</a:t>
                      </a:r>
                      <a:endParaRPr kumimoji="0" lang="zh-CN" altLang="zh-CN" sz="1400" b="1" i="0" u="none" strike="noStrike" cap="none" normalizeH="0" baseline="0" dirty="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Description</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accent2"/>
                          </a:solidFill>
                          <a:effectLst/>
                          <a:latin typeface="Times New Roman" pitchFamily="18" charset="0"/>
                          <a:ea typeface="宋体" panose="02000500000000000000" pitchFamily="2" charset="-122"/>
                        </a:rPr>
                        <a:t>J</a:t>
                      </a:r>
                    </a:p>
                  </a:txBody>
                  <a:tcPr marL="91424" marR="91424"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accent2"/>
                          </a:solidFill>
                          <a:effectLst/>
                          <a:latin typeface="Times New Roman" pitchFamily="18" charset="0"/>
                          <a:ea typeface="宋体" panose="02000500000000000000" pitchFamily="2" charset="-122"/>
                        </a:rPr>
                        <a:t>Jump</a:t>
                      </a:r>
                    </a:p>
                  </a:txBody>
                  <a:tcPr marL="91424" marR="91424"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accent2"/>
                          </a:solidFill>
                          <a:effectLst/>
                          <a:latin typeface="Times New Roman" pitchFamily="18" charset="0"/>
                          <a:ea typeface="宋体" panose="02000500000000000000" pitchFamily="2" charset="-122"/>
                        </a:rPr>
                        <a:t>JAL</a:t>
                      </a: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accent2"/>
                          </a:solidFill>
                          <a:effectLst/>
                          <a:latin typeface="Times New Roman" pitchFamily="18" charset="0"/>
                          <a:ea typeface="宋体" panose="02000500000000000000" pitchFamily="2" charset="-122"/>
                        </a:rPr>
                        <a:t>Jump And Link</a:t>
                      </a: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JR</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Jump Register</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JALR</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Jump And Link Register</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BEQ(L)</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Equal (Likely)</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BNE</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Not Equal</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BLEZ</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Less Than or Equal to Zero</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BGTZ</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Greater Than Zero</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BLTZ</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Less Than Zero</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BGEZ</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Greater Than or Equal to Zero</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BLTZAL</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Less Than Zero And Link </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213360">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itchFamily="18" charset="0"/>
                          <a:ea typeface="宋体" panose="02000500000000000000" pitchFamily="2" charset="-122"/>
                        </a:rPr>
                        <a:t>BGEZAL</a:t>
                      </a:r>
                      <a:endParaRPr kumimoji="0" lang="zh-CN" altLang="zh-CN" sz="1400" b="1"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ts val="600"/>
                        </a:spcBef>
                        <a:spcAft>
                          <a:spcPct val="0"/>
                        </a:spcAft>
                        <a:buClrTx/>
                        <a:buSzTx/>
                        <a:buFontTx/>
                        <a:buNone/>
                      </a:pPr>
                      <a:r>
                        <a:rPr kumimoji="0" lang="en-US" altLang="zh-CN" sz="1400" b="0" i="0" u="none" strike="noStrike" cap="none" normalizeH="0" baseline="0" smtClean="0">
                          <a:ln>
                            <a:noFill/>
                          </a:ln>
                          <a:solidFill>
                            <a:schemeClr val="tx1"/>
                          </a:solidFill>
                          <a:effectLst/>
                          <a:latin typeface="Times New Roman" pitchFamily="18" charset="0"/>
                          <a:ea typeface="宋体" panose="02000500000000000000" pitchFamily="2" charset="-122"/>
                        </a:rPr>
                        <a:t>Branch on Greater Than or Equal to Zero And Link</a:t>
                      </a:r>
                      <a:endParaRPr kumimoji="0" lang="zh-CN" altLang="zh-CN" sz="14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91424" marR="91424"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 name="表格 2"/>
          <p:cNvGraphicFramePr/>
          <p:nvPr/>
        </p:nvGraphicFramePr>
        <p:xfrm>
          <a:off x="6461125" y="3656965"/>
          <a:ext cx="5074285" cy="2887980"/>
        </p:xfrm>
        <a:graphic>
          <a:graphicData uri="http://schemas.openxmlformats.org/drawingml/2006/table">
            <a:tbl>
              <a:tblPr firstRow="1" bandRow="1">
                <a:tableStyleId>{5940675A-B579-460E-94D1-54222C63F5DA}</a:tableStyleId>
              </a:tblPr>
              <a:tblGrid>
                <a:gridCol w="890270"/>
                <a:gridCol w="4184015"/>
              </a:tblGrid>
              <a:tr h="240665">
                <a:tc>
                  <a:txBody>
                    <a:bodyPr/>
                    <a:lstStyle/>
                    <a:p>
                      <a:pPr indent="0" algn="ctr">
                        <a:buNone/>
                      </a:pPr>
                      <a:r>
                        <a:rPr lang="en-US" sz="1500" b="1">
                          <a:latin typeface="宋体" panose="02000500000000000000" pitchFamily="2" charset="-122"/>
                          <a:ea typeface="宋体" panose="02000500000000000000" pitchFamily="2" charset="-122"/>
                          <a:cs typeface="宋体" panose="02000500000000000000" pitchFamily="2" charset="-122"/>
                        </a:rPr>
                        <a:t>指令</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00500000000000000" pitchFamily="2" charset="-122"/>
                          <a:ea typeface="宋体" panose="02000500000000000000" pitchFamily="2" charset="-122"/>
                          <a:cs typeface="宋体" panose="02000500000000000000" pitchFamily="2" charset="-122"/>
                        </a:rPr>
                        <a:t>指令功能</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JIRL</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相对寄存器偏移跳转并链接</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solidFill>
                            <a:srgbClr val="FF0000"/>
                          </a:solidFill>
                          <a:latin typeface="宋体" panose="02000500000000000000" pitchFamily="2" charset="-122"/>
                          <a:ea typeface="宋体" panose="02000500000000000000" pitchFamily="2" charset="-122"/>
                          <a:cs typeface="宋体" panose="02000500000000000000" pitchFamily="2" charset="-122"/>
                        </a:rPr>
                        <a:t>B</a:t>
                      </a:r>
                      <a:endParaRPr lang="en-US" altLang="en-US" sz="15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solidFill>
                            <a:srgbClr val="FF0000"/>
                          </a:solidFill>
                          <a:latin typeface="宋体" panose="02000500000000000000" pitchFamily="2" charset="-122"/>
                          <a:ea typeface="宋体" panose="02000500000000000000" pitchFamily="2" charset="-122"/>
                          <a:cs typeface="宋体" panose="02000500000000000000" pitchFamily="2" charset="-122"/>
                        </a:rPr>
                        <a:t>无条件相对转移</a:t>
                      </a:r>
                      <a:endParaRPr lang="en-US" altLang="en-US" sz="15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solidFill>
                            <a:srgbClr val="FF0000"/>
                          </a:solidFill>
                          <a:latin typeface="宋体" panose="02000500000000000000" pitchFamily="2" charset="-122"/>
                          <a:ea typeface="宋体" panose="02000500000000000000" pitchFamily="2" charset="-122"/>
                          <a:cs typeface="宋体" panose="02000500000000000000" pitchFamily="2" charset="-122"/>
                        </a:rPr>
                        <a:t>BL</a:t>
                      </a:r>
                      <a:endParaRPr lang="en-US" altLang="en-US" sz="15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solidFill>
                            <a:srgbClr val="FF0000"/>
                          </a:solidFill>
                          <a:latin typeface="宋体" panose="02000500000000000000" pitchFamily="2" charset="-122"/>
                          <a:ea typeface="宋体" panose="02000500000000000000" pitchFamily="2" charset="-122"/>
                          <a:cs typeface="宋体" panose="02000500000000000000" pitchFamily="2" charset="-122"/>
                        </a:rPr>
                        <a:t>无条件相对转移并链接</a:t>
                      </a:r>
                      <a:endParaRPr lang="en-US" altLang="en-US" sz="15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BEQ</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等于时相对转移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BNE</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不等时相对转移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BLT</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有符号比较小于时相对转移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BGE</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有符号比较大于等于时相对转移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BLTU</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无符号比较小于时相对转移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BGEU</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无符号比较大于等于时相对转移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BEQZ</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等于0相对转移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40665">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BNEZ</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sz="1500" b="1">
                          <a:latin typeface="宋体" panose="02000500000000000000" pitchFamily="2" charset="-122"/>
                          <a:ea typeface="宋体" panose="02000500000000000000" pitchFamily="2" charset="-122"/>
                          <a:cs typeface="宋体" panose="02000500000000000000" pitchFamily="2" charset="-122"/>
                        </a:rPr>
                        <a:t>不等于0时相对转移</a:t>
                      </a:r>
                      <a:endParaRPr lang="en-US" altLang="en-US" sz="15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47</a:t>
            </a:fld>
            <a:endParaRPr lang="en-US" altLang="zh-CN" sz="1400" dirty="0"/>
          </a:p>
        </p:txBody>
      </p:sp>
      <p:sp>
        <p:nvSpPr>
          <p:cNvPr id="53251" name="Rectangle 2"/>
          <p:cNvSpPr>
            <a:spLocks noGrp="1"/>
          </p:cNvSpPr>
          <p:nvPr>
            <p:ph type="title"/>
          </p:nvPr>
        </p:nvSpPr>
        <p:spPr>
          <a:xfrm>
            <a:off x="1016000" y="152400"/>
            <a:ext cx="10361613" cy="762000"/>
          </a:xfrm>
        </p:spPr>
        <p:txBody>
          <a:bodyPr vert="horz" wrap="square" lIns="91440" tIns="45720" rIns="91440" bIns="45720" anchor="ctr" anchorCtr="0"/>
          <a:lstStyle/>
          <a:p>
            <a:pPr eaLnBrk="1" hangingPunct="1"/>
            <a:r>
              <a:rPr lang="zh-CN" altLang="en-US" dirty="0"/>
              <a:t>转移指令类型及偏移量的分布</a:t>
            </a:r>
          </a:p>
        </p:txBody>
      </p:sp>
      <p:sp>
        <p:nvSpPr>
          <p:cNvPr id="53252" name="Rectangle 3"/>
          <p:cNvSpPr>
            <a:spLocks noGrp="1"/>
          </p:cNvSpPr>
          <p:nvPr>
            <p:ph idx="1"/>
          </p:nvPr>
        </p:nvSpPr>
        <p:spPr>
          <a:xfrm>
            <a:off x="626110" y="1352550"/>
            <a:ext cx="5828030" cy="1133475"/>
          </a:xfrm>
        </p:spPr>
        <p:txBody>
          <a:bodyPr vert="horz" wrap="square" lIns="91440" tIns="45720" rIns="91440" bIns="45720" anchor="t" anchorCtr="0"/>
          <a:lstStyle/>
          <a:p>
            <a:pPr eaLnBrk="1" hangingPunct="1"/>
            <a:r>
              <a:rPr lang="zh-CN" altLang="en-US" sz="1800" dirty="0"/>
              <a:t>类型：</a:t>
            </a:r>
            <a:r>
              <a:rPr lang="en-US" altLang="zh-CN" sz="1800" dirty="0"/>
              <a:t>SPEC CPU2000</a:t>
            </a:r>
            <a:r>
              <a:rPr lang="zh-CN" altLang="en-US" sz="1800" dirty="0"/>
              <a:t>在</a:t>
            </a:r>
            <a:r>
              <a:rPr lang="en-US" altLang="zh-CN" sz="1800" dirty="0"/>
              <a:t>Alpha</a:t>
            </a:r>
            <a:r>
              <a:rPr lang="zh-CN" altLang="en-US" sz="1800" dirty="0"/>
              <a:t>结构上的统计</a:t>
            </a:r>
          </a:p>
          <a:p>
            <a:pPr lvl="1" eaLnBrk="1" hangingPunct="1"/>
            <a:r>
              <a:rPr lang="zh-CN" altLang="en-US" sz="1400" dirty="0"/>
              <a:t>条件转移最多</a:t>
            </a:r>
          </a:p>
        </p:txBody>
      </p:sp>
      <p:pic>
        <p:nvPicPr>
          <p:cNvPr id="53253" name="Picture 5"/>
          <p:cNvPicPr>
            <a:picLocks noChangeAspect="1"/>
          </p:cNvPicPr>
          <p:nvPr/>
        </p:nvPicPr>
        <p:blipFill>
          <a:blip r:embed="rId2" cstate="print"/>
          <a:stretch>
            <a:fillRect/>
          </a:stretch>
        </p:blipFill>
        <p:spPr>
          <a:xfrm>
            <a:off x="626110" y="2884170"/>
            <a:ext cx="5436235" cy="3773805"/>
          </a:xfrm>
          <a:prstGeom prst="rect">
            <a:avLst/>
          </a:prstGeom>
          <a:noFill/>
          <a:ln w="9525">
            <a:noFill/>
          </a:ln>
        </p:spPr>
      </p:pic>
      <p:sp>
        <p:nvSpPr>
          <p:cNvPr id="54277" name="Rectangle 7"/>
          <p:cNvSpPr/>
          <p:nvPr/>
        </p:nvSpPr>
        <p:spPr>
          <a:xfrm>
            <a:off x="6454140" y="1249045"/>
            <a:ext cx="5498465" cy="1426210"/>
          </a:xfrm>
          <a:prstGeom prst="rect">
            <a:avLst/>
          </a:prstGeom>
          <a:noFill/>
          <a:ln w="9525">
            <a:noFill/>
          </a:ln>
        </p:spPr>
        <p:txBody>
          <a:bodyPr/>
          <a:lstStyle/>
          <a:p>
            <a:pPr marL="342900" indent="-342900">
              <a:lnSpc>
                <a:spcPct val="150000"/>
              </a:lnSpc>
              <a:buFont typeface="Arial" panose="02080604020202020204" pitchFamily="34" charset="0"/>
              <a:buChar char="•"/>
            </a:pPr>
            <a:r>
              <a:rPr lang="zh-CN" altLang="en-US" sz="1800" b="1" dirty="0">
                <a:solidFill>
                  <a:srgbClr val="000000"/>
                </a:solidFill>
                <a:latin typeface="宋体" panose="02000500000000000000" pitchFamily="2" charset="-122"/>
              </a:rPr>
              <a:t>偏移量：</a:t>
            </a:r>
            <a:r>
              <a:rPr lang="en-US" altLang="zh-CN" sz="1800" b="1" dirty="0">
                <a:solidFill>
                  <a:srgbClr val="000000"/>
                </a:solidFill>
                <a:latin typeface="宋体" panose="02000500000000000000" pitchFamily="2" charset="-122"/>
              </a:rPr>
              <a:t>SPEC CPU2000</a:t>
            </a:r>
            <a:r>
              <a:rPr lang="zh-CN" altLang="en-US" sz="1800" b="1" dirty="0">
                <a:solidFill>
                  <a:srgbClr val="000000"/>
                </a:solidFill>
                <a:latin typeface="宋体" panose="02000500000000000000" pitchFamily="2" charset="-122"/>
              </a:rPr>
              <a:t>在</a:t>
            </a:r>
            <a:r>
              <a:rPr lang="en-US" altLang="zh-CN" sz="1800" b="1" dirty="0">
                <a:solidFill>
                  <a:srgbClr val="000000"/>
                </a:solidFill>
                <a:latin typeface="宋体" panose="02000500000000000000" pitchFamily="2" charset="-122"/>
              </a:rPr>
              <a:t>Alpha</a:t>
            </a:r>
            <a:r>
              <a:rPr lang="zh-CN" altLang="en-US" sz="1800" b="1" dirty="0">
                <a:solidFill>
                  <a:srgbClr val="000000"/>
                </a:solidFill>
                <a:latin typeface="宋体" panose="02000500000000000000" pitchFamily="2" charset="-122"/>
              </a:rPr>
              <a:t>结构上的统计</a:t>
            </a:r>
          </a:p>
          <a:p>
            <a:pPr marL="742950" lvl="1" indent="-285750" eaLnBrk="1" hangingPunct="1">
              <a:lnSpc>
                <a:spcPct val="150000"/>
              </a:lnSpc>
              <a:buFont typeface="Arial" panose="02080604020202020204" pitchFamily="34" charset="0"/>
              <a:buChar char="•"/>
            </a:pPr>
            <a:r>
              <a:rPr lang="zh-CN" altLang="en-US" sz="1600" b="1" dirty="0">
                <a:solidFill>
                  <a:srgbClr val="000000"/>
                </a:solidFill>
                <a:latin typeface="宋体" panose="02000500000000000000" pitchFamily="2" charset="-122"/>
              </a:rPr>
              <a:t>多数是</a:t>
            </a:r>
            <a:r>
              <a:rPr lang="en-US" altLang="zh-CN" sz="1600" b="1" dirty="0">
                <a:solidFill>
                  <a:srgbClr val="000000"/>
                </a:solidFill>
                <a:latin typeface="宋体" panose="02000500000000000000" pitchFamily="2" charset="-122"/>
              </a:rPr>
              <a:t>4-8</a:t>
            </a:r>
            <a:r>
              <a:rPr lang="zh-CN" altLang="en-US" sz="1600" b="1" dirty="0">
                <a:solidFill>
                  <a:srgbClr val="000000"/>
                </a:solidFill>
                <a:latin typeface="宋体" panose="02000500000000000000" pitchFamily="2" charset="-122"/>
              </a:rPr>
              <a:t>位</a:t>
            </a:r>
          </a:p>
          <a:p>
            <a:pPr marL="342900" indent="-342900">
              <a:lnSpc>
                <a:spcPct val="150000"/>
              </a:lnSpc>
              <a:buFont typeface="Arial" panose="02080604020202020204" pitchFamily="34" charset="0"/>
              <a:buChar char="•"/>
            </a:pPr>
            <a:r>
              <a:rPr lang="zh-CN" altLang="en-US" sz="1800" b="1" dirty="0">
                <a:solidFill>
                  <a:srgbClr val="FF0000"/>
                </a:solidFill>
                <a:latin typeface="宋体" panose="02000500000000000000" pitchFamily="2" charset="-122"/>
              </a:rPr>
              <a:t>虚拟机生成的代码放得较远，转移指令偏移量大</a:t>
            </a:r>
          </a:p>
        </p:txBody>
      </p:sp>
      <p:pic>
        <p:nvPicPr>
          <p:cNvPr id="54275" name="Picture 4"/>
          <p:cNvPicPr>
            <a:picLocks noChangeAspect="1"/>
          </p:cNvPicPr>
          <p:nvPr/>
        </p:nvPicPr>
        <p:blipFill>
          <a:blip r:embed="rId3" cstate="print"/>
          <a:stretch>
            <a:fillRect/>
          </a:stretch>
        </p:blipFill>
        <p:spPr>
          <a:xfrm>
            <a:off x="6666865" y="2735580"/>
            <a:ext cx="5187950" cy="399542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914400" y="82550"/>
            <a:ext cx="10361613" cy="1274763"/>
          </a:xfrm>
        </p:spPr>
        <p:txBody>
          <a:bodyPr vert="horz" wrap="square" lIns="91440" tIns="45720" rIns="91440" bIns="45720" anchor="ctr" anchorCtr="0"/>
          <a:lstStyle/>
          <a:p>
            <a:pPr eaLnBrk="1" hangingPunct="1"/>
            <a:r>
              <a:rPr lang="zh-CN" altLang="en-US" dirty="0"/>
              <a:t>系统管理指令</a:t>
            </a:r>
          </a:p>
        </p:txBody>
      </p:sp>
      <p:sp>
        <p:nvSpPr>
          <p:cNvPr id="76803" name="Rectangle 3"/>
          <p:cNvSpPr>
            <a:spLocks noGrp="1"/>
          </p:cNvSpPr>
          <p:nvPr>
            <p:ph idx="1"/>
          </p:nvPr>
        </p:nvSpPr>
        <p:spPr>
          <a:xfrm>
            <a:off x="533400" y="1547813"/>
            <a:ext cx="11068050" cy="4132262"/>
          </a:xfrm>
        </p:spPr>
        <p:txBody>
          <a:bodyPr vert="horz" wrap="square" lIns="91440" tIns="45720" rIns="91440" bIns="45720" anchor="t" anchorCtr="0"/>
          <a:lstStyle/>
          <a:p>
            <a:pPr eaLnBrk="1" hangingPunct="1"/>
            <a:r>
              <a:rPr lang="zh-CN" altLang="en-US" dirty="0"/>
              <a:t>原子操作指令</a:t>
            </a:r>
          </a:p>
          <a:p>
            <a:pPr eaLnBrk="1" hangingPunct="1"/>
            <a:r>
              <a:rPr lang="zh-CN" altLang="en-US" dirty="0"/>
              <a:t>存储管理指令</a:t>
            </a:r>
          </a:p>
          <a:p>
            <a:pPr eaLnBrk="1" hangingPunct="1"/>
            <a:r>
              <a:rPr lang="zh-CN" altLang="en-US" dirty="0"/>
              <a:t>例外管理指令</a:t>
            </a:r>
          </a:p>
          <a:p>
            <a:pPr eaLnBrk="1" hangingPunct="1"/>
            <a:r>
              <a:rPr lang="zh-CN" altLang="zh-CN" dirty="0"/>
              <a:t>共享存储同步指令</a:t>
            </a:r>
          </a:p>
          <a:p>
            <a:pPr eaLnBrk="1" hangingPunct="1"/>
            <a:r>
              <a:rPr lang="zh-CN" altLang="zh-CN" dirty="0"/>
              <a:t>等</a:t>
            </a:r>
            <a:r>
              <a:rPr lang="zh-CN" altLang="en-US" dirty="0"/>
              <a:t>等</a:t>
            </a:r>
          </a:p>
        </p:txBody>
      </p:sp>
      <p:sp>
        <p:nvSpPr>
          <p:cNvPr id="7680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48</a:t>
            </a:fld>
            <a:endParaRPr lang="en-US" altLang="zh-CN"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914400" y="304800"/>
            <a:ext cx="10361613" cy="685800"/>
          </a:xfrm>
        </p:spPr>
        <p:txBody>
          <a:bodyPr vert="horz" wrap="square" lIns="91440" tIns="45720" rIns="91440" bIns="45720" anchor="ctr" anchorCtr="0"/>
          <a:lstStyle/>
          <a:p>
            <a:pPr eaLnBrk="1" hangingPunct="1"/>
            <a:r>
              <a:rPr lang="zh-CN" altLang="en-US" dirty="0"/>
              <a:t>原子操作</a:t>
            </a:r>
            <a:r>
              <a:rPr lang="zh-CN" altLang="zh-CN" dirty="0"/>
              <a:t>指令</a:t>
            </a:r>
            <a:endParaRPr lang="zh-CN" altLang="en-US" dirty="0"/>
          </a:p>
        </p:txBody>
      </p:sp>
      <p:sp>
        <p:nvSpPr>
          <p:cNvPr id="77827" name="Rectangle 3"/>
          <p:cNvSpPr>
            <a:spLocks noGrp="1"/>
          </p:cNvSpPr>
          <p:nvPr>
            <p:ph idx="1"/>
          </p:nvPr>
        </p:nvSpPr>
        <p:spPr>
          <a:xfrm>
            <a:off x="491490" y="1066800"/>
            <a:ext cx="11597640" cy="4724400"/>
          </a:xfrm>
        </p:spPr>
        <p:txBody>
          <a:bodyPr vert="horz" wrap="square" lIns="91440" tIns="45720" rIns="91440" bIns="45720" anchor="t" anchorCtr="0"/>
          <a:lstStyle/>
          <a:p>
            <a:pPr eaLnBrk="1" hangingPunct="1"/>
            <a:r>
              <a:rPr lang="zh-CN" altLang="en-US" dirty="0"/>
              <a:t>原子操作指令一般为用户态指令，一般在操作系统和数据库中用得较多</a:t>
            </a:r>
          </a:p>
          <a:p>
            <a:pPr eaLnBrk="1" hangingPunct="1"/>
            <a:r>
              <a:rPr lang="zh-CN" altLang="en-US" dirty="0"/>
              <a:t>以</a:t>
            </a:r>
            <a:r>
              <a:rPr lang="en-US" altLang="zh-CN" dirty="0"/>
              <a:t>MIPS</a:t>
            </a:r>
            <a:r>
              <a:rPr lang="zh-CN" altLang="en-US" dirty="0"/>
              <a:t>的</a:t>
            </a:r>
            <a:r>
              <a:rPr lang="en-US" altLang="zh-CN" dirty="0"/>
              <a:t>LL</a:t>
            </a:r>
            <a:r>
              <a:rPr lang="zh-CN" altLang="en-US" dirty="0"/>
              <a:t>和</a:t>
            </a:r>
            <a:r>
              <a:rPr lang="en-US" altLang="zh-CN" dirty="0"/>
              <a:t>SC</a:t>
            </a:r>
            <a:r>
              <a:rPr lang="zh-CN" altLang="en-US" dirty="0"/>
              <a:t>指令为例</a:t>
            </a:r>
          </a:p>
          <a:p>
            <a:pPr lvl="1" eaLnBrk="1" hangingPunct="1"/>
            <a:r>
              <a:rPr lang="en-US" altLang="zh-CN" dirty="0"/>
              <a:t>LL(Load Linked)</a:t>
            </a:r>
            <a:r>
              <a:rPr lang="zh-CN" altLang="zh-CN" dirty="0"/>
              <a:t>取数且置系统中</a:t>
            </a:r>
            <a:r>
              <a:rPr lang="en-US" altLang="zh-CN" dirty="0"/>
              <a:t>LLbit</a:t>
            </a:r>
            <a:r>
              <a:rPr lang="zh-CN" altLang="zh-CN" dirty="0"/>
              <a:t>为1</a:t>
            </a:r>
          </a:p>
          <a:p>
            <a:pPr lvl="1" eaLnBrk="1" hangingPunct="1"/>
            <a:r>
              <a:rPr lang="en-US" altLang="zh-CN" dirty="0"/>
              <a:t>LL</a:t>
            </a:r>
            <a:r>
              <a:rPr lang="zh-CN" altLang="zh-CN" dirty="0"/>
              <a:t>为1时，处理器检查相应单元是否被修改，如果其它处理器或设备访问了相应单元或执行了</a:t>
            </a:r>
            <a:r>
              <a:rPr lang="en-US" altLang="zh-CN" dirty="0"/>
              <a:t>ERET</a:t>
            </a:r>
            <a:r>
              <a:rPr lang="zh-CN" altLang="zh-CN" dirty="0"/>
              <a:t>操作，</a:t>
            </a:r>
            <a:r>
              <a:rPr lang="en-US" altLang="zh-CN" dirty="0"/>
              <a:t>LLbit</a:t>
            </a:r>
            <a:r>
              <a:rPr lang="zh-CN" altLang="zh-CN" dirty="0"/>
              <a:t>置为0</a:t>
            </a:r>
          </a:p>
          <a:p>
            <a:pPr lvl="1" eaLnBrk="1" hangingPunct="1"/>
            <a:r>
              <a:rPr lang="zh-CN" altLang="zh-CN" dirty="0"/>
              <a:t>执行</a:t>
            </a:r>
            <a:r>
              <a:rPr lang="en-US" altLang="zh-CN" dirty="0"/>
              <a:t>SC</a:t>
            </a:r>
            <a:r>
              <a:rPr lang="zh-CN" altLang="en-US" dirty="0"/>
              <a:t>（</a:t>
            </a:r>
            <a:r>
              <a:rPr lang="en-US" altLang="zh-CN" dirty="0"/>
              <a:t>Store Conditional</a:t>
            </a:r>
            <a:r>
              <a:rPr lang="zh-CN" altLang="en-US" dirty="0"/>
              <a:t>）</a:t>
            </a:r>
            <a:r>
              <a:rPr lang="zh-CN" altLang="zh-CN" dirty="0"/>
              <a:t>时若</a:t>
            </a:r>
            <a:r>
              <a:rPr lang="en-US" altLang="zh-CN" dirty="0"/>
              <a:t>LLbit</a:t>
            </a:r>
            <a:r>
              <a:rPr lang="zh-CN" altLang="zh-CN" dirty="0"/>
              <a:t>为1，则成功，目标寄存器为1；否则存数不成功，目标寄存器为0</a:t>
            </a:r>
            <a:endParaRPr lang="en-US" altLang="zh-CN" dirty="0"/>
          </a:p>
          <a:p>
            <a:pPr lvl="1" eaLnBrk="1" hangingPunct="1">
              <a:buNone/>
            </a:pPr>
            <a:endParaRPr lang="en-US" altLang="zh-CN" dirty="0"/>
          </a:p>
          <a:p>
            <a:pPr lvl="1" eaLnBrk="1" hangingPunct="1">
              <a:buNone/>
            </a:pPr>
            <a:r>
              <a:rPr lang="en-US" altLang="zh-CN" dirty="0"/>
              <a:t>L1:   LL     R1, (R3)</a:t>
            </a:r>
          </a:p>
          <a:p>
            <a:pPr lvl="1" eaLnBrk="1" hangingPunct="1">
              <a:buNone/>
            </a:pPr>
            <a:r>
              <a:rPr lang="en-US" altLang="zh-CN" dirty="0"/>
              <a:t>      ADD    R2, R1, 1</a:t>
            </a:r>
          </a:p>
          <a:p>
            <a:pPr lvl="1" eaLnBrk="1" hangingPunct="1">
              <a:buNone/>
            </a:pPr>
            <a:r>
              <a:rPr lang="en-US" altLang="zh-CN" dirty="0"/>
              <a:t>      SC     R2, (R3)</a:t>
            </a:r>
          </a:p>
          <a:p>
            <a:pPr lvl="1" eaLnBrk="1" hangingPunct="1">
              <a:buNone/>
            </a:pPr>
            <a:r>
              <a:rPr lang="en-US" altLang="zh-CN" dirty="0"/>
              <a:t>      BEQ    R2, 0, L1</a:t>
            </a:r>
          </a:p>
          <a:p>
            <a:pPr lvl="1" eaLnBrk="1" hangingPunct="1">
              <a:buNone/>
            </a:pPr>
            <a:r>
              <a:rPr lang="en-US" altLang="zh-CN" dirty="0"/>
              <a:t>      NOP</a:t>
            </a:r>
          </a:p>
        </p:txBody>
      </p:sp>
      <p:sp>
        <p:nvSpPr>
          <p:cNvPr id="7782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49</a:t>
            </a:fld>
            <a:endParaRPr lang="en-US" altLang="zh-CN"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常见指令操作</a:t>
            </a:r>
          </a:p>
        </p:txBody>
      </p:sp>
      <p:sp>
        <p:nvSpPr>
          <p:cNvPr id="37891" name="内容占位符 2"/>
          <p:cNvSpPr>
            <a:spLocks noGrp="1"/>
          </p:cNvSpPr>
          <p:nvPr>
            <p:ph idx="1"/>
          </p:nvPr>
        </p:nvSpPr>
        <p:spPr>
          <a:xfrm>
            <a:off x="914400" y="1143000"/>
            <a:ext cx="10361613" cy="4114800"/>
          </a:xfrm>
        </p:spPr>
        <p:txBody>
          <a:bodyPr vert="horz" wrap="square" lIns="91440" tIns="45720" rIns="91440" bIns="45720" anchor="t" anchorCtr="0"/>
          <a:lstStyle/>
          <a:p>
            <a:pPr eaLnBrk="1" hangingPunct="1"/>
            <a:r>
              <a:rPr lang="zh-CN" altLang="en-US" dirty="0"/>
              <a:t>最常用的指令是简单指令</a:t>
            </a:r>
            <a:endParaRPr lang="en-US" altLang="zh-CN" dirty="0"/>
          </a:p>
          <a:p>
            <a:pPr lvl="1" eaLnBrk="1" hangingPunct="1"/>
            <a:r>
              <a:rPr lang="en-US" altLang="zh-CN" dirty="0"/>
              <a:t>SPECint92</a:t>
            </a:r>
            <a:r>
              <a:rPr lang="zh-CN" altLang="en-US" dirty="0"/>
              <a:t>的</a:t>
            </a:r>
            <a:r>
              <a:rPr lang="en-US" altLang="zh-CN" dirty="0"/>
              <a:t>X86</a:t>
            </a:r>
            <a:r>
              <a:rPr lang="zh-CN" altLang="en-US" dirty="0"/>
              <a:t>指令统计</a:t>
            </a:r>
            <a:endParaRPr lang="en-US" altLang="zh-CN" dirty="0"/>
          </a:p>
          <a:p>
            <a:pPr lvl="1" eaLnBrk="1" hangingPunct="1"/>
            <a:r>
              <a:rPr lang="zh-CN" altLang="en-US" dirty="0"/>
              <a:t>把这些简单指令做得快一点，其他慢一点没关系</a:t>
            </a:r>
          </a:p>
        </p:txBody>
      </p:sp>
      <p:graphicFrame>
        <p:nvGraphicFramePr>
          <p:cNvPr id="4" name="表格 3"/>
          <p:cNvGraphicFramePr>
            <a:graphicFrameLocks noGrp="1"/>
          </p:cNvGraphicFramePr>
          <p:nvPr/>
        </p:nvGraphicFramePr>
        <p:xfrm>
          <a:off x="2336800" y="2779713"/>
          <a:ext cx="6838061" cy="3863976"/>
        </p:xfrm>
        <a:graphic>
          <a:graphicData uri="http://schemas.openxmlformats.org/drawingml/2006/table">
            <a:tbl>
              <a:tblPr firstRow="1" bandRow="1">
                <a:tableStyleId>{5940675A-B579-460E-94D1-54222C63F5DA}</a:tableStyleId>
              </a:tblPr>
              <a:tblGrid>
                <a:gridCol w="2279354"/>
                <a:gridCol w="2869826"/>
                <a:gridCol w="1688881"/>
              </a:tblGrid>
              <a:tr h="321998">
                <a:tc>
                  <a:txBody>
                    <a:bodyPr/>
                    <a:lstStyle/>
                    <a:p>
                      <a:r>
                        <a:rPr lang="zh-CN" altLang="en-US" sz="1400" dirty="0" smtClean="0"/>
                        <a:t>编号</a:t>
                      </a:r>
                      <a:endParaRPr lang="zh-CN" altLang="en-US" sz="1400" dirty="0"/>
                    </a:p>
                  </a:txBody>
                  <a:tcPr marL="121899" marR="121899" marT="45713" marB="45713"/>
                </a:tc>
                <a:tc>
                  <a:txBody>
                    <a:bodyPr/>
                    <a:lstStyle/>
                    <a:p>
                      <a:r>
                        <a:rPr lang="zh-CN" altLang="en-US" sz="1400" dirty="0" smtClean="0"/>
                        <a:t>指令</a:t>
                      </a:r>
                      <a:endParaRPr lang="zh-CN" altLang="en-US" sz="1400" dirty="0"/>
                    </a:p>
                  </a:txBody>
                  <a:tcPr marL="121899" marR="121899" marT="45713" marB="45713"/>
                </a:tc>
                <a:tc>
                  <a:txBody>
                    <a:bodyPr/>
                    <a:lstStyle/>
                    <a:p>
                      <a:r>
                        <a:rPr lang="zh-CN" altLang="en-US" sz="1400" dirty="0" smtClean="0"/>
                        <a:t>比例</a:t>
                      </a:r>
                      <a:endParaRPr lang="zh-CN" altLang="en-US" sz="1400" dirty="0"/>
                    </a:p>
                  </a:txBody>
                  <a:tcPr marL="121899" marR="121899" marT="45713" marB="45713"/>
                </a:tc>
              </a:tr>
              <a:tr h="321998">
                <a:tc>
                  <a:txBody>
                    <a:bodyPr/>
                    <a:lstStyle/>
                    <a:p>
                      <a:r>
                        <a:rPr lang="en-US" altLang="zh-CN" sz="1400" dirty="0" smtClean="0"/>
                        <a:t>1</a:t>
                      </a:r>
                      <a:endParaRPr lang="zh-CN" altLang="en-US" sz="1400" dirty="0"/>
                    </a:p>
                  </a:txBody>
                  <a:tcPr marL="121899" marR="121899" marT="45713" marB="45713"/>
                </a:tc>
                <a:tc>
                  <a:txBody>
                    <a:bodyPr/>
                    <a:lstStyle/>
                    <a:p>
                      <a:r>
                        <a:rPr lang="en-US" altLang="zh-CN" sz="1400" dirty="0" smtClean="0"/>
                        <a:t>Load</a:t>
                      </a:r>
                      <a:endParaRPr lang="zh-CN" altLang="en-US" sz="1400" dirty="0"/>
                    </a:p>
                  </a:txBody>
                  <a:tcPr marL="121899" marR="121899" marT="45713" marB="45713"/>
                </a:tc>
                <a:tc>
                  <a:txBody>
                    <a:bodyPr/>
                    <a:lstStyle/>
                    <a:p>
                      <a:r>
                        <a:rPr lang="en-US" altLang="zh-CN" sz="1400" dirty="0" smtClean="0"/>
                        <a:t>22%</a:t>
                      </a:r>
                      <a:endParaRPr lang="zh-CN" altLang="en-US" sz="1400" dirty="0"/>
                    </a:p>
                  </a:txBody>
                  <a:tcPr marL="121899" marR="121899" marT="45713" marB="45713"/>
                </a:tc>
              </a:tr>
              <a:tr h="321998">
                <a:tc>
                  <a:txBody>
                    <a:bodyPr/>
                    <a:lstStyle/>
                    <a:p>
                      <a:r>
                        <a:rPr lang="en-US" altLang="zh-CN" sz="1400" dirty="0" smtClean="0"/>
                        <a:t>2</a:t>
                      </a:r>
                      <a:endParaRPr lang="zh-CN" altLang="en-US" sz="1400" dirty="0"/>
                    </a:p>
                  </a:txBody>
                  <a:tcPr marL="121899" marR="121899" marT="45713" marB="45713"/>
                </a:tc>
                <a:tc>
                  <a:txBody>
                    <a:bodyPr/>
                    <a:lstStyle/>
                    <a:p>
                      <a:r>
                        <a:rPr lang="en-US" altLang="zh-CN" sz="1400" dirty="0" smtClean="0"/>
                        <a:t>Conditional branch</a:t>
                      </a:r>
                      <a:endParaRPr lang="zh-CN" altLang="en-US" sz="1400" dirty="0"/>
                    </a:p>
                  </a:txBody>
                  <a:tcPr marL="121899" marR="121899" marT="45713" marB="45713"/>
                </a:tc>
                <a:tc>
                  <a:txBody>
                    <a:bodyPr/>
                    <a:lstStyle/>
                    <a:p>
                      <a:r>
                        <a:rPr lang="en-US" altLang="zh-CN" sz="1400" dirty="0" smtClean="0"/>
                        <a:t>20%</a:t>
                      </a:r>
                      <a:endParaRPr lang="zh-CN" altLang="en-US" sz="1400" dirty="0"/>
                    </a:p>
                  </a:txBody>
                  <a:tcPr marL="121899" marR="121899" marT="45713" marB="45713"/>
                </a:tc>
              </a:tr>
              <a:tr h="321998">
                <a:tc>
                  <a:txBody>
                    <a:bodyPr/>
                    <a:lstStyle/>
                    <a:p>
                      <a:r>
                        <a:rPr lang="en-US" altLang="zh-CN" sz="1400" dirty="0" smtClean="0"/>
                        <a:t>3</a:t>
                      </a:r>
                      <a:endParaRPr lang="zh-CN" altLang="en-US" sz="1400" dirty="0"/>
                    </a:p>
                  </a:txBody>
                  <a:tcPr marL="121899" marR="121899" marT="45713" marB="45713"/>
                </a:tc>
                <a:tc>
                  <a:txBody>
                    <a:bodyPr/>
                    <a:lstStyle/>
                    <a:p>
                      <a:r>
                        <a:rPr lang="en-US" altLang="zh-CN" sz="1400" dirty="0" smtClean="0"/>
                        <a:t>Compare</a:t>
                      </a:r>
                      <a:endParaRPr lang="zh-CN" altLang="en-US" sz="1400" dirty="0"/>
                    </a:p>
                  </a:txBody>
                  <a:tcPr marL="121899" marR="121899" marT="45713" marB="45713"/>
                </a:tc>
                <a:tc>
                  <a:txBody>
                    <a:bodyPr/>
                    <a:lstStyle/>
                    <a:p>
                      <a:r>
                        <a:rPr lang="en-US" altLang="zh-CN" sz="1400" dirty="0" smtClean="0"/>
                        <a:t>16%</a:t>
                      </a:r>
                      <a:endParaRPr lang="zh-CN" altLang="en-US" sz="1400" dirty="0"/>
                    </a:p>
                  </a:txBody>
                  <a:tcPr marL="121899" marR="121899" marT="45713" marB="45713"/>
                </a:tc>
              </a:tr>
              <a:tr h="321998">
                <a:tc>
                  <a:txBody>
                    <a:bodyPr/>
                    <a:lstStyle/>
                    <a:p>
                      <a:r>
                        <a:rPr lang="en-US" altLang="zh-CN" sz="1400" dirty="0" smtClean="0"/>
                        <a:t>4</a:t>
                      </a:r>
                      <a:endParaRPr lang="zh-CN" altLang="en-US" sz="1400" dirty="0"/>
                    </a:p>
                  </a:txBody>
                  <a:tcPr marL="121899" marR="121899" marT="45713" marB="45713"/>
                </a:tc>
                <a:tc>
                  <a:txBody>
                    <a:bodyPr/>
                    <a:lstStyle/>
                    <a:p>
                      <a:r>
                        <a:rPr lang="en-US" altLang="zh-CN" sz="1400" dirty="0" smtClean="0"/>
                        <a:t>Store</a:t>
                      </a:r>
                      <a:endParaRPr lang="zh-CN" altLang="en-US" sz="1400" dirty="0"/>
                    </a:p>
                  </a:txBody>
                  <a:tcPr marL="121899" marR="121899" marT="45713" marB="45713"/>
                </a:tc>
                <a:tc>
                  <a:txBody>
                    <a:bodyPr/>
                    <a:lstStyle/>
                    <a:p>
                      <a:r>
                        <a:rPr lang="en-US" altLang="zh-CN" sz="1400" dirty="0" smtClean="0"/>
                        <a:t>12%</a:t>
                      </a:r>
                      <a:endParaRPr lang="zh-CN" altLang="en-US" sz="1400" dirty="0"/>
                    </a:p>
                  </a:txBody>
                  <a:tcPr marL="121899" marR="121899" marT="45713" marB="45713"/>
                </a:tc>
              </a:tr>
              <a:tr h="321998">
                <a:tc>
                  <a:txBody>
                    <a:bodyPr/>
                    <a:lstStyle/>
                    <a:p>
                      <a:r>
                        <a:rPr lang="en-US" altLang="zh-CN" sz="1400" dirty="0" smtClean="0"/>
                        <a:t>5</a:t>
                      </a:r>
                      <a:endParaRPr lang="zh-CN" altLang="en-US" sz="1400" dirty="0"/>
                    </a:p>
                  </a:txBody>
                  <a:tcPr marL="121899" marR="121899" marT="45713" marB="45713"/>
                </a:tc>
                <a:tc>
                  <a:txBody>
                    <a:bodyPr/>
                    <a:lstStyle/>
                    <a:p>
                      <a:r>
                        <a:rPr lang="en-US" altLang="zh-CN" sz="1400" dirty="0" smtClean="0"/>
                        <a:t>Add</a:t>
                      </a:r>
                      <a:endParaRPr lang="zh-CN" altLang="en-US" sz="1400" dirty="0"/>
                    </a:p>
                  </a:txBody>
                  <a:tcPr marL="121899" marR="121899" marT="45713" marB="45713"/>
                </a:tc>
                <a:tc>
                  <a:txBody>
                    <a:bodyPr/>
                    <a:lstStyle/>
                    <a:p>
                      <a:r>
                        <a:rPr lang="en-US" altLang="zh-CN" sz="1400" dirty="0" smtClean="0"/>
                        <a:t>8%</a:t>
                      </a:r>
                      <a:endParaRPr lang="zh-CN" altLang="en-US" sz="1400" dirty="0"/>
                    </a:p>
                  </a:txBody>
                  <a:tcPr marL="121899" marR="121899" marT="45713" marB="45713"/>
                </a:tc>
              </a:tr>
              <a:tr h="321998">
                <a:tc>
                  <a:txBody>
                    <a:bodyPr/>
                    <a:lstStyle/>
                    <a:p>
                      <a:r>
                        <a:rPr lang="en-US" altLang="zh-CN" sz="1400" dirty="0" smtClean="0"/>
                        <a:t>6</a:t>
                      </a:r>
                      <a:endParaRPr lang="zh-CN" altLang="en-US" sz="1400" dirty="0"/>
                    </a:p>
                  </a:txBody>
                  <a:tcPr marL="121899" marR="121899" marT="45713" marB="45713"/>
                </a:tc>
                <a:tc>
                  <a:txBody>
                    <a:bodyPr/>
                    <a:lstStyle/>
                    <a:p>
                      <a:r>
                        <a:rPr lang="en-US" altLang="zh-CN" sz="1400" dirty="0" smtClean="0"/>
                        <a:t>And</a:t>
                      </a:r>
                      <a:endParaRPr lang="zh-CN" altLang="en-US" sz="1400" dirty="0"/>
                    </a:p>
                  </a:txBody>
                  <a:tcPr marL="121899" marR="121899" marT="45713" marB="45713"/>
                </a:tc>
                <a:tc>
                  <a:txBody>
                    <a:bodyPr/>
                    <a:lstStyle/>
                    <a:p>
                      <a:r>
                        <a:rPr lang="en-US" altLang="zh-CN" sz="1400" dirty="0" smtClean="0"/>
                        <a:t>6%</a:t>
                      </a:r>
                      <a:endParaRPr lang="zh-CN" altLang="en-US" sz="1400" dirty="0"/>
                    </a:p>
                  </a:txBody>
                  <a:tcPr marL="121899" marR="121899" marT="45713" marB="45713"/>
                </a:tc>
              </a:tr>
              <a:tr h="321998">
                <a:tc>
                  <a:txBody>
                    <a:bodyPr/>
                    <a:lstStyle/>
                    <a:p>
                      <a:r>
                        <a:rPr lang="en-US" altLang="zh-CN" sz="1400" dirty="0" smtClean="0"/>
                        <a:t>7</a:t>
                      </a:r>
                      <a:endParaRPr lang="zh-CN" altLang="en-US" sz="1400" dirty="0"/>
                    </a:p>
                  </a:txBody>
                  <a:tcPr marL="121899" marR="121899" marT="45713" marB="45713"/>
                </a:tc>
                <a:tc>
                  <a:txBody>
                    <a:bodyPr/>
                    <a:lstStyle/>
                    <a:p>
                      <a:r>
                        <a:rPr lang="en-US" altLang="zh-CN" sz="1400" dirty="0" smtClean="0"/>
                        <a:t>Sub</a:t>
                      </a:r>
                      <a:endParaRPr lang="zh-CN" altLang="en-US" sz="1400" dirty="0"/>
                    </a:p>
                  </a:txBody>
                  <a:tcPr marL="121899" marR="121899" marT="45713" marB="45713"/>
                </a:tc>
                <a:tc>
                  <a:txBody>
                    <a:bodyPr/>
                    <a:lstStyle/>
                    <a:p>
                      <a:r>
                        <a:rPr lang="en-US" altLang="zh-CN" sz="1400" dirty="0" smtClean="0"/>
                        <a:t>5%</a:t>
                      </a:r>
                      <a:endParaRPr lang="zh-CN" altLang="en-US" sz="1400" dirty="0"/>
                    </a:p>
                  </a:txBody>
                  <a:tcPr marL="121899" marR="121899" marT="45713" marB="45713"/>
                </a:tc>
              </a:tr>
              <a:tr h="321998">
                <a:tc>
                  <a:txBody>
                    <a:bodyPr/>
                    <a:lstStyle/>
                    <a:p>
                      <a:r>
                        <a:rPr lang="en-US" altLang="zh-CN" sz="1400" dirty="0" smtClean="0"/>
                        <a:t>8</a:t>
                      </a:r>
                      <a:endParaRPr lang="zh-CN" altLang="en-US" sz="1400" dirty="0"/>
                    </a:p>
                  </a:txBody>
                  <a:tcPr marL="121899" marR="121899" marT="45713" marB="45713"/>
                </a:tc>
                <a:tc>
                  <a:txBody>
                    <a:bodyPr/>
                    <a:lstStyle/>
                    <a:p>
                      <a:r>
                        <a:rPr lang="en-US" altLang="zh-CN" sz="1400" dirty="0" smtClean="0"/>
                        <a:t>Move</a:t>
                      </a:r>
                      <a:r>
                        <a:rPr lang="en-US" altLang="zh-CN" sz="1400" baseline="0" dirty="0" smtClean="0"/>
                        <a:t> </a:t>
                      </a:r>
                      <a:r>
                        <a:rPr lang="en-US" altLang="zh-CN" sz="1400" baseline="0" dirty="0" err="1" smtClean="0"/>
                        <a:t>reg-reg</a:t>
                      </a:r>
                      <a:endParaRPr lang="zh-CN" altLang="en-US" sz="1400" dirty="0"/>
                    </a:p>
                  </a:txBody>
                  <a:tcPr marL="121899" marR="121899" marT="45713" marB="45713"/>
                </a:tc>
                <a:tc>
                  <a:txBody>
                    <a:bodyPr/>
                    <a:lstStyle/>
                    <a:p>
                      <a:r>
                        <a:rPr lang="en-US" altLang="zh-CN" sz="1400" dirty="0" smtClean="0"/>
                        <a:t>4%</a:t>
                      </a:r>
                      <a:endParaRPr lang="zh-CN" altLang="en-US" sz="1400" dirty="0"/>
                    </a:p>
                  </a:txBody>
                  <a:tcPr marL="121899" marR="121899" marT="45713" marB="45713"/>
                </a:tc>
              </a:tr>
              <a:tr h="321998">
                <a:tc>
                  <a:txBody>
                    <a:bodyPr/>
                    <a:lstStyle/>
                    <a:p>
                      <a:r>
                        <a:rPr lang="en-US" altLang="zh-CN" sz="1400" dirty="0" smtClean="0"/>
                        <a:t>9</a:t>
                      </a:r>
                      <a:endParaRPr lang="zh-CN" altLang="en-US" sz="1400" dirty="0"/>
                    </a:p>
                  </a:txBody>
                  <a:tcPr marL="121899" marR="121899" marT="45713" marB="45713"/>
                </a:tc>
                <a:tc>
                  <a:txBody>
                    <a:bodyPr/>
                    <a:lstStyle/>
                    <a:p>
                      <a:r>
                        <a:rPr lang="en-US" altLang="zh-CN" sz="1400" dirty="0" smtClean="0"/>
                        <a:t>Call</a:t>
                      </a:r>
                      <a:endParaRPr lang="zh-CN" altLang="en-US" sz="1400" dirty="0"/>
                    </a:p>
                  </a:txBody>
                  <a:tcPr marL="121899" marR="121899" marT="45713" marB="45713"/>
                </a:tc>
                <a:tc>
                  <a:txBody>
                    <a:bodyPr/>
                    <a:lstStyle/>
                    <a:p>
                      <a:r>
                        <a:rPr lang="en-US" altLang="zh-CN" sz="1400" dirty="0" smtClean="0"/>
                        <a:t>1%</a:t>
                      </a:r>
                      <a:endParaRPr lang="zh-CN" altLang="en-US" sz="1400" dirty="0"/>
                    </a:p>
                  </a:txBody>
                  <a:tcPr marL="121899" marR="121899" marT="45713" marB="45713"/>
                </a:tc>
              </a:tr>
              <a:tr h="321998">
                <a:tc>
                  <a:txBody>
                    <a:bodyPr/>
                    <a:lstStyle/>
                    <a:p>
                      <a:r>
                        <a:rPr lang="en-US" altLang="zh-CN" sz="1400" dirty="0" smtClean="0"/>
                        <a:t>10</a:t>
                      </a:r>
                      <a:endParaRPr lang="zh-CN" altLang="en-US" sz="1400" dirty="0"/>
                    </a:p>
                  </a:txBody>
                  <a:tcPr marL="121899" marR="121899" marT="45713" marB="45713"/>
                </a:tc>
                <a:tc>
                  <a:txBody>
                    <a:bodyPr/>
                    <a:lstStyle/>
                    <a:p>
                      <a:r>
                        <a:rPr lang="en-US" altLang="zh-CN" sz="1400" dirty="0" smtClean="0"/>
                        <a:t>Return</a:t>
                      </a:r>
                      <a:endParaRPr lang="zh-CN" altLang="en-US" sz="1400" dirty="0"/>
                    </a:p>
                  </a:txBody>
                  <a:tcPr marL="121899" marR="121899" marT="45713" marB="45713"/>
                </a:tc>
                <a:tc>
                  <a:txBody>
                    <a:bodyPr/>
                    <a:lstStyle/>
                    <a:p>
                      <a:r>
                        <a:rPr lang="en-US" altLang="zh-CN" sz="1400" dirty="0" smtClean="0"/>
                        <a:t>1%</a:t>
                      </a:r>
                      <a:endParaRPr lang="zh-CN" altLang="en-US" sz="1400" dirty="0"/>
                    </a:p>
                  </a:txBody>
                  <a:tcPr marL="121899" marR="121899" marT="45713" marB="45713"/>
                </a:tc>
              </a:tr>
              <a:tr h="321998">
                <a:tc>
                  <a:txBody>
                    <a:bodyPr/>
                    <a:lstStyle/>
                    <a:p>
                      <a:r>
                        <a:rPr lang="zh-CN" altLang="en-US" sz="1400" dirty="0" smtClean="0"/>
                        <a:t>总计</a:t>
                      </a:r>
                      <a:endParaRPr lang="zh-CN" altLang="en-US" sz="1400" dirty="0"/>
                    </a:p>
                  </a:txBody>
                  <a:tcPr marL="121899" marR="121899" marT="45713" marB="45713"/>
                </a:tc>
                <a:tc>
                  <a:txBody>
                    <a:bodyPr/>
                    <a:lstStyle/>
                    <a:p>
                      <a:endParaRPr lang="zh-CN" altLang="en-US" sz="1400" dirty="0"/>
                    </a:p>
                  </a:txBody>
                  <a:tcPr marL="121899" marR="121899" marT="45713" marB="45713"/>
                </a:tc>
                <a:tc>
                  <a:txBody>
                    <a:bodyPr/>
                    <a:lstStyle/>
                    <a:p>
                      <a:r>
                        <a:rPr lang="en-US" altLang="zh-CN" sz="1400" dirty="0" smtClean="0"/>
                        <a:t>96%</a:t>
                      </a:r>
                      <a:endParaRPr lang="zh-CN" altLang="en-US" sz="1400" dirty="0"/>
                    </a:p>
                  </a:txBody>
                  <a:tcPr marL="121899" marR="121899" marT="45713" marB="45713"/>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51</a:t>
            </a:fld>
            <a:endParaRPr lang="en-US" altLang="zh-CN" sz="1400" dirty="0"/>
          </a:p>
        </p:txBody>
      </p:sp>
      <p:pic>
        <p:nvPicPr>
          <p:cNvPr id="38915" name="Picture 4"/>
          <p:cNvPicPr>
            <a:picLocks noChangeAspect="1"/>
          </p:cNvPicPr>
          <p:nvPr/>
        </p:nvPicPr>
        <p:blipFill>
          <a:blip r:embed="rId2" cstate="print"/>
          <a:stretch>
            <a:fillRect/>
          </a:stretch>
        </p:blipFill>
        <p:spPr>
          <a:xfrm>
            <a:off x="2622550" y="1039813"/>
            <a:ext cx="6323013" cy="2719387"/>
          </a:xfrm>
          <a:prstGeom prst="rect">
            <a:avLst/>
          </a:prstGeom>
          <a:noFill/>
          <a:ln w="9525">
            <a:noFill/>
          </a:ln>
        </p:spPr>
      </p:pic>
      <p:pic>
        <p:nvPicPr>
          <p:cNvPr id="38916" name="Picture 5"/>
          <p:cNvPicPr>
            <a:picLocks noChangeAspect="1"/>
          </p:cNvPicPr>
          <p:nvPr/>
        </p:nvPicPr>
        <p:blipFill>
          <a:blip r:embed="rId3" cstate="print"/>
          <a:stretch>
            <a:fillRect/>
          </a:stretch>
        </p:blipFill>
        <p:spPr>
          <a:xfrm>
            <a:off x="2681288" y="3700463"/>
            <a:ext cx="6286500" cy="3157537"/>
          </a:xfrm>
          <a:prstGeom prst="rect">
            <a:avLst/>
          </a:prstGeom>
          <a:noFill/>
          <a:ln w="9525">
            <a:noFill/>
          </a:ln>
        </p:spPr>
      </p:pic>
      <p:sp>
        <p:nvSpPr>
          <p:cNvPr id="38917" name="Rectangle 6"/>
          <p:cNvSpPr>
            <a:spLocks noGrp="1"/>
          </p:cNvSpPr>
          <p:nvPr>
            <p:ph type="title"/>
          </p:nvPr>
        </p:nvSpPr>
        <p:spPr>
          <a:xfrm>
            <a:off x="1047750" y="0"/>
            <a:ext cx="10361613" cy="1143000"/>
          </a:xfrm>
        </p:spPr>
        <p:txBody>
          <a:bodyPr vert="horz" wrap="square" lIns="91440" tIns="45720" rIns="91440" bIns="45720" anchor="ctr" anchorCtr="0"/>
          <a:lstStyle/>
          <a:p>
            <a:pPr eaLnBrk="1" hangingPunct="1"/>
            <a:r>
              <a:rPr lang="en-US" altLang="zh-CN" dirty="0"/>
              <a:t>SPEC CPU2000</a:t>
            </a:r>
            <a:r>
              <a:rPr lang="zh-CN" altLang="en-US" dirty="0"/>
              <a:t>动态指令分布</a:t>
            </a:r>
          </a:p>
        </p:txBody>
      </p:sp>
      <p:sp>
        <p:nvSpPr>
          <p:cNvPr id="38918" name="Oval 7"/>
          <p:cNvSpPr/>
          <p:nvPr/>
        </p:nvSpPr>
        <p:spPr>
          <a:xfrm>
            <a:off x="8135938" y="2743200"/>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
        <p:nvSpPr>
          <p:cNvPr id="38919" name="Oval 8"/>
          <p:cNvSpPr/>
          <p:nvPr/>
        </p:nvSpPr>
        <p:spPr>
          <a:xfrm>
            <a:off x="5083175" y="1687513"/>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
        <p:nvSpPr>
          <p:cNvPr id="38920" name="Oval 9"/>
          <p:cNvSpPr/>
          <p:nvPr/>
        </p:nvSpPr>
        <p:spPr>
          <a:xfrm>
            <a:off x="7332663" y="5961063"/>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
        <p:nvSpPr>
          <p:cNvPr id="38921" name="Oval 10"/>
          <p:cNvSpPr/>
          <p:nvPr/>
        </p:nvSpPr>
        <p:spPr>
          <a:xfrm>
            <a:off x="3965575" y="3732213"/>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
        <p:nvSpPr>
          <p:cNvPr id="38922" name="Oval 11"/>
          <p:cNvSpPr/>
          <p:nvPr/>
        </p:nvSpPr>
        <p:spPr>
          <a:xfrm>
            <a:off x="5610225" y="5461000"/>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
        <p:nvSpPr>
          <p:cNvPr id="38923" name="Oval 12"/>
          <p:cNvSpPr/>
          <p:nvPr/>
        </p:nvSpPr>
        <p:spPr>
          <a:xfrm>
            <a:off x="4656138" y="4725988"/>
            <a:ext cx="609600" cy="457200"/>
          </a:xfrm>
          <a:prstGeom prst="ellipse">
            <a:avLst/>
          </a:prstGeom>
          <a:noFill/>
          <a:ln w="38100" cap="flat" cmpd="sng">
            <a:solidFill>
              <a:srgbClr val="FF0000"/>
            </a:solidFill>
            <a:prstDash val="solid"/>
            <a:headEnd type="none" w="med" len="med"/>
            <a:tailEnd type="none" w="med" len="med"/>
          </a:ln>
        </p:spPr>
        <p:txBody>
          <a:bodyPr wrap="none" anchor="ctr" anchorCtr="0"/>
          <a:lstStyle/>
          <a:p>
            <a:pPr algn="ctr"/>
            <a:endParaRPr lang="zh-CN" altLang="en-US" sz="2400" dirty="0">
              <a:solidFill>
                <a:srgbClr val="000000"/>
              </a:solidFill>
              <a:latin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3"/>
          <p:cNvSpPr>
            <a:spLocks noGrp="1"/>
          </p:cNvSpPr>
          <p:nvPr>
            <p:ph type="title"/>
          </p:nvPr>
        </p:nvSpPr>
        <p:spPr>
          <a:xfrm>
            <a:off x="914400" y="2560638"/>
            <a:ext cx="10361613" cy="1746250"/>
          </a:xfrm>
        </p:spPr>
        <p:txBody>
          <a:bodyPr vert="horz" wrap="square" lIns="91440" tIns="45720" rIns="91440" bIns="45720" anchor="ctr" anchorCtr="0"/>
          <a:lstStyle/>
          <a:p>
            <a:pPr eaLnBrk="1" hangingPunct="1">
              <a:lnSpc>
                <a:spcPct val="150000"/>
              </a:lnSpc>
            </a:pPr>
            <a:r>
              <a:rPr lang="zh-CN" altLang="en-US" dirty="0"/>
              <a:t>指令系统组成</a:t>
            </a:r>
            <a:r>
              <a:rPr lang="en-US" altLang="zh-CN" dirty="0"/>
              <a:t/>
            </a:r>
            <a:br>
              <a:rPr lang="en-US" altLang="zh-CN" dirty="0"/>
            </a:br>
            <a:r>
              <a:rPr lang="en-US" altLang="zh-CN" sz="3200" dirty="0"/>
              <a:t>---</a:t>
            </a:r>
            <a:r>
              <a:rPr lang="zh-CN" altLang="en-US" sz="3200" dirty="0"/>
              <a:t>操作数</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6"/>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53</a:t>
            </a:fld>
            <a:endParaRPr lang="en-US" altLang="zh-CN" sz="1400" dirty="0"/>
          </a:p>
        </p:txBody>
      </p:sp>
      <p:sp>
        <p:nvSpPr>
          <p:cNvPr id="52227" name="Rectangle 2"/>
          <p:cNvSpPr>
            <a:spLocks noGrp="1"/>
          </p:cNvSpPr>
          <p:nvPr>
            <p:ph type="title"/>
          </p:nvPr>
        </p:nvSpPr>
        <p:spPr>
          <a:xfrm>
            <a:off x="887413" y="0"/>
            <a:ext cx="10361612" cy="1143000"/>
          </a:xfrm>
        </p:spPr>
        <p:txBody>
          <a:bodyPr vert="horz" wrap="square" lIns="91440" tIns="45720" rIns="91440" bIns="45720" anchor="ctr" anchorCtr="0"/>
          <a:lstStyle/>
          <a:p>
            <a:pPr eaLnBrk="1" hangingPunct="1"/>
            <a:r>
              <a:rPr lang="zh-CN" altLang="en-US" dirty="0"/>
              <a:t>数据类型和大小</a:t>
            </a:r>
          </a:p>
        </p:txBody>
      </p:sp>
      <p:sp>
        <p:nvSpPr>
          <p:cNvPr id="52228" name="Rectangle 3"/>
          <p:cNvSpPr>
            <a:spLocks noGrp="1"/>
          </p:cNvSpPr>
          <p:nvPr>
            <p:ph type="body" sz="half" idx="1"/>
          </p:nvPr>
        </p:nvSpPr>
        <p:spPr>
          <a:xfrm>
            <a:off x="1155700" y="1603375"/>
            <a:ext cx="9936163" cy="4575175"/>
          </a:xfrm>
        </p:spPr>
        <p:txBody>
          <a:bodyPr vert="horz" wrap="square" lIns="91440" tIns="45720" rIns="91440" bIns="45720" anchor="t" anchorCtr="0"/>
          <a:lstStyle/>
          <a:p>
            <a:pPr eaLnBrk="1" hangingPunct="1">
              <a:buClrTx/>
              <a:buSzTx/>
              <a:buFontTx/>
            </a:pPr>
            <a:r>
              <a:rPr lang="zh-CN" altLang="en-US" dirty="0"/>
              <a:t>数据类型：</a:t>
            </a:r>
          </a:p>
          <a:p>
            <a:pPr lvl="1" eaLnBrk="1" hangingPunct="1"/>
            <a:r>
              <a:rPr lang="zh-CN" altLang="en-US" dirty="0"/>
              <a:t>整数、实数、字符、十进制数</a:t>
            </a:r>
          </a:p>
          <a:p>
            <a:pPr lvl="1" eaLnBrk="1" hangingPunct="1"/>
            <a:r>
              <a:rPr lang="zh-CN" altLang="en-US" dirty="0"/>
              <a:t>字节、半字、字、双字</a:t>
            </a:r>
          </a:p>
          <a:p>
            <a:pPr lvl="1" eaLnBrk="1" hangingPunct="1"/>
            <a:r>
              <a:rPr lang="en-US" altLang="zh-CN" dirty="0"/>
              <a:t>IEEE 754</a:t>
            </a:r>
            <a:r>
              <a:rPr lang="zh-CN" altLang="en-US" dirty="0"/>
              <a:t>格式</a:t>
            </a:r>
          </a:p>
          <a:p>
            <a:pPr eaLnBrk="1" hangingPunct="1">
              <a:buClrTx/>
              <a:buSzTx/>
              <a:buFontTx/>
            </a:pPr>
            <a:r>
              <a:rPr lang="zh-CN" altLang="en-US" dirty="0"/>
              <a:t>类型的表示</a:t>
            </a:r>
          </a:p>
          <a:p>
            <a:pPr lvl="1" eaLnBrk="1" hangingPunct="1"/>
            <a:r>
              <a:rPr lang="zh-CN" altLang="en-US" dirty="0"/>
              <a:t>一般由操作码来区分不同类型</a:t>
            </a:r>
          </a:p>
          <a:p>
            <a:pPr lvl="1" eaLnBrk="1" hangingPunct="1"/>
            <a:r>
              <a:rPr lang="zh-CN" altLang="en-US" dirty="0"/>
              <a:t>专门的类型标志</a:t>
            </a:r>
          </a:p>
        </p:txBody>
      </p:sp>
      <p:pic>
        <p:nvPicPr>
          <p:cNvPr id="53251" name="Picture 2"/>
          <p:cNvPicPr>
            <a:picLocks noChangeAspect="1"/>
          </p:cNvPicPr>
          <p:nvPr/>
        </p:nvPicPr>
        <p:blipFill>
          <a:blip r:embed="rId2" cstate="print"/>
          <a:stretch>
            <a:fillRect/>
          </a:stretch>
        </p:blipFill>
        <p:spPr>
          <a:xfrm>
            <a:off x="5003800" y="1804670"/>
            <a:ext cx="6795135" cy="4006215"/>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54</a:t>
            </a:fld>
            <a:endParaRPr lang="en-US" altLang="zh-CN" sz="1400" dirty="0"/>
          </a:p>
        </p:txBody>
      </p:sp>
      <p:sp>
        <p:nvSpPr>
          <p:cNvPr id="58371" name="Rectangle 2"/>
          <p:cNvSpPr>
            <a:spLocks noGrp="1"/>
          </p:cNvSpPr>
          <p:nvPr>
            <p:ph type="title"/>
          </p:nvPr>
        </p:nvSpPr>
        <p:spPr>
          <a:xfrm>
            <a:off x="914599" y="282576"/>
            <a:ext cx="10361851" cy="860425"/>
          </a:xfrm>
        </p:spPr>
        <p:txBody>
          <a:bodyPr vert="horz" wrap="square" lIns="91440" tIns="45720" rIns="91440" bIns="45720" anchor="ctr" anchorCtr="0"/>
          <a:lstStyle/>
          <a:p>
            <a:pPr eaLnBrk="1" hangingPunct="1"/>
            <a:r>
              <a:rPr lang="zh-CN" altLang="en-US" dirty="0"/>
              <a:t>指令数据索引方式</a:t>
            </a:r>
          </a:p>
        </p:txBody>
      </p:sp>
      <p:sp>
        <p:nvSpPr>
          <p:cNvPr id="58372" name="Rectangle 3"/>
          <p:cNvSpPr>
            <a:spLocks noGrp="1"/>
          </p:cNvSpPr>
          <p:nvPr>
            <p:ph idx="1"/>
          </p:nvPr>
        </p:nvSpPr>
        <p:spPr>
          <a:xfrm>
            <a:off x="366079" y="1512888"/>
            <a:ext cx="5532119" cy="4808537"/>
          </a:xfrm>
        </p:spPr>
        <p:txBody>
          <a:bodyPr vert="horz" wrap="square" lIns="91440" tIns="45720" rIns="91440" bIns="45720" anchor="t" anchorCtr="0"/>
          <a:lstStyle/>
          <a:p>
            <a:pPr eaLnBrk="1" hangingPunct="1"/>
            <a:r>
              <a:rPr lang="zh-CN" altLang="en-US" dirty="0"/>
              <a:t>堆栈型（</a:t>
            </a:r>
            <a:r>
              <a:rPr lang="en-US" altLang="zh-CN" dirty="0"/>
              <a:t>Stack</a:t>
            </a:r>
            <a:r>
              <a:rPr lang="zh-CN" altLang="en-US" dirty="0"/>
              <a:t>）：零地址指令</a:t>
            </a:r>
          </a:p>
          <a:p>
            <a:pPr lvl="1" eaLnBrk="1" hangingPunct="1"/>
            <a:r>
              <a:rPr lang="zh-CN" altLang="en-US" dirty="0"/>
              <a:t>操作数在栈顶，运算操作不用指定操作数</a:t>
            </a:r>
          </a:p>
          <a:p>
            <a:pPr eaLnBrk="1" hangingPunct="1"/>
            <a:r>
              <a:rPr lang="zh-CN" altLang="en-US" dirty="0"/>
              <a:t>累加器型（</a:t>
            </a:r>
            <a:r>
              <a:rPr lang="en-US" altLang="zh-CN" dirty="0"/>
              <a:t>Accumulator</a:t>
            </a:r>
            <a:r>
              <a:rPr lang="zh-CN" altLang="en-US" dirty="0"/>
              <a:t>）：单地址指令</a:t>
            </a:r>
          </a:p>
          <a:p>
            <a:pPr lvl="1" eaLnBrk="1" hangingPunct="1"/>
            <a:r>
              <a:rPr lang="zh-CN" altLang="en-US" dirty="0"/>
              <a:t>一个操作数总在累加器中，结果也写回累加器</a:t>
            </a:r>
          </a:p>
          <a:p>
            <a:pPr eaLnBrk="1" hangingPunct="1"/>
            <a:r>
              <a:rPr lang="zh-CN" altLang="en-US" dirty="0"/>
              <a:t>寄存器型（</a:t>
            </a:r>
            <a:r>
              <a:rPr lang="en-US" altLang="zh-CN" dirty="0"/>
              <a:t>Register</a:t>
            </a:r>
            <a:r>
              <a:rPr lang="zh-CN" altLang="en-US" dirty="0"/>
              <a:t>）：多地址指令</a:t>
            </a:r>
          </a:p>
          <a:p>
            <a:pPr lvl="1" eaLnBrk="1" hangingPunct="1"/>
            <a:r>
              <a:rPr lang="en-US" altLang="zh-CN" dirty="0"/>
              <a:t>Register-Register</a:t>
            </a:r>
            <a:r>
              <a:rPr lang="zh-CN" altLang="en-US" dirty="0"/>
              <a:t>型</a:t>
            </a:r>
            <a:endParaRPr lang="zh-CN" altLang="zh-CN" dirty="0"/>
          </a:p>
          <a:p>
            <a:pPr lvl="1" eaLnBrk="1" hangingPunct="1"/>
            <a:r>
              <a:rPr lang="en-US" altLang="zh-CN" dirty="0"/>
              <a:t>Register-Memory</a:t>
            </a:r>
            <a:r>
              <a:rPr lang="zh-CN" altLang="zh-CN" dirty="0"/>
              <a:t>型</a:t>
            </a:r>
          </a:p>
          <a:p>
            <a:pPr lvl="1" eaLnBrk="1" hangingPunct="1"/>
            <a:r>
              <a:rPr lang="en-US" altLang="zh-CN" dirty="0"/>
              <a:t>Memory-Memory</a:t>
            </a:r>
            <a:r>
              <a:rPr lang="zh-CN" altLang="zh-CN" dirty="0"/>
              <a:t>型</a:t>
            </a:r>
          </a:p>
        </p:txBody>
      </p:sp>
      <p:sp>
        <p:nvSpPr>
          <p:cNvPr id="5" name="Rectangle 3"/>
          <p:cNvSpPr txBox="1"/>
          <p:nvPr/>
        </p:nvSpPr>
        <p:spPr>
          <a:xfrm>
            <a:off x="5658168" y="1165860"/>
            <a:ext cx="6263640" cy="605791"/>
          </a:xfrm>
          <a:prstGeom prst="rect">
            <a:avLst/>
          </a:prstGeom>
          <a:noFill/>
          <a:ln w="9525">
            <a:noFill/>
          </a:ln>
        </p:spPr>
        <p:txBody>
          <a:bodyPr vert="horz" wrap="square" lIns="91440" tIns="45720" rIns="91440" bIns="45720" anchor="t" anchorCtr="0"/>
          <a:lstStyle/>
          <a:p>
            <a:pPr marL="360680" marR="0" lvl="0" indent="-36068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smtClean="0">
                <a:ln>
                  <a:noFill/>
                </a:ln>
                <a:solidFill>
                  <a:schemeClr val="tx1"/>
                </a:solidFill>
                <a:effectLst/>
                <a:uLnTx/>
                <a:uFillTx/>
                <a:latin typeface="+mn-ea"/>
                <a:ea typeface="+mn-ea"/>
                <a:cs typeface="+mn-cs"/>
              </a:rPr>
              <a:t>例：完成</a:t>
            </a:r>
            <a:r>
              <a:rPr kumimoji="0" lang="en-US" altLang="zh-CN" sz="2000" b="1" i="0" u="none" strike="noStrike" kern="0" cap="none" spc="0" normalizeH="0" baseline="0" noProof="0" smtClean="0">
                <a:ln>
                  <a:noFill/>
                </a:ln>
                <a:solidFill>
                  <a:schemeClr val="tx1"/>
                </a:solidFill>
                <a:effectLst/>
                <a:uLnTx/>
                <a:uFillTx/>
                <a:latin typeface="+mn-ea"/>
                <a:ea typeface="+mn-ea"/>
                <a:cs typeface="+mn-cs"/>
              </a:rPr>
              <a:t>C=A+B</a:t>
            </a:r>
            <a:r>
              <a:rPr kumimoji="0" lang="zh-CN" altLang="en-US" sz="2000" b="1" i="0" u="none" strike="noStrike" kern="0" cap="none" spc="0" normalizeH="0" baseline="0" noProof="0" smtClean="0">
                <a:ln>
                  <a:noFill/>
                </a:ln>
                <a:solidFill>
                  <a:schemeClr val="tx1"/>
                </a:solidFill>
                <a:effectLst/>
                <a:uLnTx/>
                <a:uFillTx/>
                <a:latin typeface="+mn-ea"/>
                <a:ea typeface="+mn-ea"/>
                <a:cs typeface="+mn-cs"/>
              </a:rPr>
              <a:t>的指令序列（</a:t>
            </a:r>
            <a:r>
              <a:rPr kumimoji="0" lang="en-US" altLang="zh-CN" sz="2000" b="1" i="0" u="none" strike="noStrike" kern="0" cap="none" spc="0" normalizeH="0" baseline="0" noProof="0" smtClean="0">
                <a:ln>
                  <a:noFill/>
                </a:ln>
                <a:solidFill>
                  <a:schemeClr val="tx1"/>
                </a:solidFill>
                <a:effectLst/>
                <a:uLnTx/>
                <a:uFillTx/>
                <a:latin typeface="+mn-ea"/>
                <a:ea typeface="+mn-ea"/>
                <a:cs typeface="+mn-cs"/>
              </a:rPr>
              <a:t>A</a:t>
            </a:r>
            <a:r>
              <a:rPr kumimoji="0" lang="zh-CN" altLang="en-US" sz="2000" b="1" i="0" u="none" strike="noStrike" kern="0" cap="none" spc="0" normalizeH="0" baseline="0" noProof="0" smtClean="0">
                <a:ln>
                  <a:noFill/>
                </a:ln>
                <a:solidFill>
                  <a:schemeClr val="tx1"/>
                </a:solidFill>
                <a:effectLst/>
                <a:uLnTx/>
                <a:uFillTx/>
                <a:latin typeface="+mn-ea"/>
                <a:ea typeface="+mn-ea"/>
                <a:cs typeface="+mn-cs"/>
              </a:rPr>
              <a:t>、</a:t>
            </a:r>
            <a:r>
              <a:rPr kumimoji="0" lang="en-US" altLang="zh-CN" sz="2000" b="1" i="0" u="none" strike="noStrike" kern="0" cap="none" spc="0" normalizeH="0" baseline="0" noProof="0" smtClean="0">
                <a:ln>
                  <a:noFill/>
                </a:ln>
                <a:solidFill>
                  <a:schemeClr val="tx1"/>
                </a:solidFill>
                <a:effectLst/>
                <a:uLnTx/>
                <a:uFillTx/>
                <a:latin typeface="+mn-ea"/>
                <a:ea typeface="+mn-ea"/>
                <a:cs typeface="+mn-cs"/>
              </a:rPr>
              <a:t>B</a:t>
            </a:r>
            <a:r>
              <a:rPr kumimoji="0" lang="zh-CN" altLang="en-US" sz="2000" b="1" i="0" u="none" strike="noStrike" kern="0" cap="none" spc="0" normalizeH="0" baseline="0" noProof="0" smtClean="0">
                <a:ln>
                  <a:noFill/>
                </a:ln>
                <a:solidFill>
                  <a:schemeClr val="tx1"/>
                </a:solidFill>
                <a:effectLst/>
                <a:uLnTx/>
                <a:uFillTx/>
                <a:latin typeface="+mn-ea"/>
                <a:ea typeface="+mn-ea"/>
                <a:cs typeface="+mn-cs"/>
              </a:rPr>
              <a:t>、</a:t>
            </a:r>
            <a:r>
              <a:rPr kumimoji="0" lang="en-US" altLang="zh-CN" sz="2000" b="1" i="0" u="none" strike="noStrike" kern="0" cap="none" spc="0" normalizeH="0" baseline="0" noProof="0" smtClean="0">
                <a:ln>
                  <a:noFill/>
                </a:ln>
                <a:solidFill>
                  <a:schemeClr val="tx1"/>
                </a:solidFill>
                <a:effectLst/>
                <a:uLnTx/>
                <a:uFillTx/>
                <a:latin typeface="+mn-ea"/>
                <a:ea typeface="+mn-ea"/>
                <a:cs typeface="+mn-cs"/>
              </a:rPr>
              <a:t>C</a:t>
            </a:r>
            <a:r>
              <a:rPr kumimoji="0" lang="zh-CN" altLang="en-US" sz="2000" b="1" i="0" u="none" strike="noStrike" kern="0" cap="none" spc="0" normalizeH="0" baseline="0" noProof="0" smtClean="0">
                <a:ln>
                  <a:noFill/>
                </a:ln>
                <a:solidFill>
                  <a:schemeClr val="tx1"/>
                </a:solidFill>
                <a:effectLst/>
                <a:uLnTx/>
                <a:uFillTx/>
                <a:latin typeface="+mn-ea"/>
                <a:ea typeface="+mn-ea"/>
                <a:cs typeface="+mn-cs"/>
              </a:rPr>
              <a:t>在内存中）</a:t>
            </a:r>
            <a:endParaRPr kumimoji="0" lang="zh-CN" altLang="en-US" sz="2000" b="1" i="0" u="none" strike="noStrike" kern="0" cap="none" spc="0" normalizeH="0" baseline="0" noProof="0" dirty="0">
              <a:ln>
                <a:noFill/>
              </a:ln>
              <a:solidFill>
                <a:schemeClr val="tx1"/>
              </a:solidFill>
              <a:effectLst/>
              <a:uLnTx/>
              <a:uFillTx/>
              <a:latin typeface="+mn-ea"/>
              <a:ea typeface="+mn-ea"/>
              <a:cs typeface="+mn-cs"/>
            </a:endParaRPr>
          </a:p>
        </p:txBody>
      </p:sp>
      <p:grpSp>
        <p:nvGrpSpPr>
          <p:cNvPr id="6" name="组合 5"/>
          <p:cNvGrpSpPr/>
          <p:nvPr/>
        </p:nvGrpSpPr>
        <p:grpSpPr>
          <a:xfrm>
            <a:off x="5566728" y="1854200"/>
            <a:ext cx="6457950" cy="4895850"/>
            <a:chOff x="3394710" y="1854200"/>
            <a:chExt cx="6457950" cy="4895850"/>
          </a:xfrm>
        </p:grpSpPr>
        <p:graphicFrame>
          <p:nvGraphicFramePr>
            <p:cNvPr id="7" name="Object 4"/>
            <p:cNvGraphicFramePr>
              <a:graphicFrameLocks/>
            </p:cNvGraphicFramePr>
            <p:nvPr/>
          </p:nvGraphicFramePr>
          <p:xfrm>
            <a:off x="3394710" y="1854200"/>
            <a:ext cx="6457950" cy="2552700"/>
          </p:xfrm>
          <a:graphic>
            <a:graphicData uri="http://schemas.openxmlformats.org/presentationml/2006/ole">
              <p:oleObj spid="_x0000_s67585" name="Document" r:id="rId3" imgW="6280826" imgH="2295862" progId="Word.Document.8">
                <p:embed/>
              </p:oleObj>
            </a:graphicData>
          </a:graphic>
        </p:graphicFrame>
        <p:pic>
          <p:nvPicPr>
            <p:cNvPr id="8" name="Picture 4"/>
            <p:cNvPicPr>
              <a:picLocks noChangeAspect="1"/>
            </p:cNvPicPr>
            <p:nvPr/>
          </p:nvPicPr>
          <p:blipFill>
            <a:blip r:embed="rId4" cstate="print"/>
            <a:stretch>
              <a:fillRect/>
            </a:stretch>
          </p:blipFill>
          <p:spPr>
            <a:xfrm>
              <a:off x="3429000" y="4110038"/>
              <a:ext cx="6389370" cy="2640012"/>
            </a:xfrm>
            <a:prstGeom prst="rect">
              <a:avLst/>
            </a:prstGeom>
            <a:noFill/>
            <a:ln w="9525">
              <a:noFill/>
            </a:ln>
          </p:spPr>
        </p:pic>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55</a:t>
            </a:fld>
            <a:endParaRPr lang="en-US" altLang="zh-CN" sz="1400" dirty="0"/>
          </a:p>
        </p:txBody>
      </p:sp>
      <p:sp>
        <p:nvSpPr>
          <p:cNvPr id="47107" name="Rectangle 2"/>
          <p:cNvSpPr>
            <a:spLocks noGrp="1"/>
          </p:cNvSpPr>
          <p:nvPr>
            <p:ph type="title"/>
          </p:nvPr>
        </p:nvSpPr>
        <p:spPr>
          <a:xfrm>
            <a:off x="914400" y="0"/>
            <a:ext cx="10361613" cy="1219200"/>
          </a:xfrm>
        </p:spPr>
        <p:txBody>
          <a:bodyPr vert="horz" wrap="square" lIns="91440" tIns="45720" rIns="91440" bIns="45720" anchor="ctr" anchorCtr="0"/>
          <a:lstStyle/>
          <a:p>
            <a:pPr eaLnBrk="1" hangingPunct="1"/>
            <a:r>
              <a:rPr lang="zh-CN" altLang="en-US" dirty="0">
                <a:sym typeface="+mn-ea"/>
              </a:rPr>
              <a:t>指令数据索引方式的演变</a:t>
            </a:r>
            <a:endParaRPr lang="zh-CN" altLang="en-US" dirty="0"/>
          </a:p>
        </p:txBody>
      </p:sp>
      <p:sp>
        <p:nvSpPr>
          <p:cNvPr id="47108" name="Rectangle 3"/>
          <p:cNvSpPr>
            <a:spLocks noGrp="1"/>
          </p:cNvSpPr>
          <p:nvPr>
            <p:ph idx="1"/>
          </p:nvPr>
        </p:nvSpPr>
        <p:spPr>
          <a:xfrm>
            <a:off x="347663" y="1154113"/>
            <a:ext cx="11571287" cy="5703887"/>
          </a:xfrm>
        </p:spPr>
        <p:txBody>
          <a:bodyPr vert="horz" wrap="square" lIns="91440" tIns="45720" rIns="91440" bIns="45720" anchor="t" anchorCtr="0"/>
          <a:lstStyle/>
          <a:p>
            <a:pPr eaLnBrk="1" hangingPunct="1">
              <a:spcBef>
                <a:spcPts val="300"/>
              </a:spcBef>
            </a:pPr>
            <a:r>
              <a:rPr lang="zh-CN" altLang="en-US" dirty="0"/>
              <a:t>早期的计算机多用堆栈和累加器型指令</a:t>
            </a:r>
          </a:p>
          <a:p>
            <a:pPr lvl="1" eaLnBrk="1" hangingPunct="1">
              <a:spcBef>
                <a:spcPts val="300"/>
              </a:spcBef>
            </a:pPr>
            <a:r>
              <a:rPr lang="zh-CN" altLang="en-US" dirty="0"/>
              <a:t>出于降低硬件复杂度的考虑</a:t>
            </a:r>
          </a:p>
          <a:p>
            <a:pPr lvl="1" eaLnBrk="1" hangingPunct="1">
              <a:spcBef>
                <a:spcPts val="300"/>
              </a:spcBef>
            </a:pPr>
            <a:r>
              <a:rPr lang="zh-CN" altLang="en-US" dirty="0"/>
              <a:t>现在已经不用（</a:t>
            </a:r>
            <a:r>
              <a:rPr lang="en-US" dirty="0"/>
              <a:t>X86</a:t>
            </a:r>
            <a:r>
              <a:rPr lang="zh-CN" altLang="en-US" dirty="0"/>
              <a:t>例外），</a:t>
            </a:r>
            <a:r>
              <a:rPr lang="en-US" altLang="zh-CN" dirty="0"/>
              <a:t>JAVA</a:t>
            </a:r>
            <a:r>
              <a:rPr lang="zh-CN" altLang="en-US" dirty="0"/>
              <a:t>字节码使用堆栈结构</a:t>
            </a:r>
            <a:endParaRPr lang="zh-CN" altLang="en-US" sz="1800" dirty="0"/>
          </a:p>
          <a:p>
            <a:pPr eaLnBrk="1" hangingPunct="1">
              <a:spcBef>
                <a:spcPts val="300"/>
              </a:spcBef>
            </a:pPr>
            <a:r>
              <a:rPr lang="en-US" altLang="zh-CN" dirty="0"/>
              <a:t>1980</a:t>
            </a:r>
            <a:r>
              <a:rPr lang="zh-CN" altLang="en-US" dirty="0"/>
              <a:t>年代后的机器主要是寄存器型</a:t>
            </a:r>
          </a:p>
          <a:p>
            <a:pPr lvl="1" eaLnBrk="1" hangingPunct="1">
              <a:spcBef>
                <a:spcPts val="300"/>
              </a:spcBef>
            </a:pPr>
            <a:r>
              <a:rPr lang="zh-CN" altLang="en-US" dirty="0"/>
              <a:t>访问寄存器比访问存储器快</a:t>
            </a:r>
            <a:r>
              <a:rPr lang="en-US" altLang="zh-CN" dirty="0"/>
              <a:t>,</a:t>
            </a:r>
            <a:r>
              <a:rPr lang="zh-CN" altLang="en-US" dirty="0"/>
              <a:t>便于编译器使用和优化</a:t>
            </a:r>
          </a:p>
          <a:p>
            <a:pPr lvl="1" eaLnBrk="1" hangingPunct="1">
              <a:spcBef>
                <a:spcPts val="300"/>
              </a:spcBef>
            </a:pPr>
            <a:r>
              <a:rPr lang="zh-CN" altLang="en-US" dirty="0"/>
              <a:t>寄存器可以用来存放变量，减少访存次数</a:t>
            </a:r>
          </a:p>
          <a:p>
            <a:pPr lvl="1" eaLnBrk="1" hangingPunct="1">
              <a:spcBef>
                <a:spcPts val="300"/>
              </a:spcBef>
            </a:pPr>
            <a:r>
              <a:rPr lang="zh-CN" altLang="en-US" dirty="0">
                <a:solidFill>
                  <a:schemeClr val="accent2"/>
                </a:solidFill>
              </a:rPr>
              <a:t>寄存器间的相关容易判断，易于实现流水线、多发射、乱序执行等</a:t>
            </a:r>
            <a:endParaRPr lang="en-US" altLang="zh-CN" dirty="0">
              <a:solidFill>
                <a:schemeClr val="accent2"/>
              </a:solidFill>
            </a:endParaRPr>
          </a:p>
          <a:p>
            <a:pPr lvl="1" eaLnBrk="1" hangingPunct="1">
              <a:spcBef>
                <a:spcPts val="300"/>
              </a:spcBef>
            </a:pPr>
            <a:r>
              <a:rPr lang="en-US" altLang="zh-CN" dirty="0"/>
              <a:t>X86</a:t>
            </a:r>
            <a:r>
              <a:rPr lang="zh-CN" altLang="en-US" dirty="0"/>
              <a:t>通过把复杂指令翻译成类似于</a:t>
            </a:r>
            <a:r>
              <a:rPr lang="en-US" altLang="zh-CN" dirty="0"/>
              <a:t>RISC</a:t>
            </a:r>
            <a:r>
              <a:rPr lang="zh-CN" altLang="en-US" dirty="0"/>
              <a:t>的内部操作并使用</a:t>
            </a:r>
            <a:r>
              <a:rPr lang="en-US" altLang="zh-CN" dirty="0"/>
              <a:t>RISC</a:t>
            </a:r>
            <a:r>
              <a:rPr lang="zh-CN" altLang="en-US" dirty="0"/>
              <a:t>指令流水线技术提高性能，</a:t>
            </a:r>
            <a:r>
              <a:rPr lang="en-US" altLang="zh-CN" dirty="0"/>
              <a:t>X86</a:t>
            </a:r>
            <a:r>
              <a:rPr lang="zh-CN" altLang="en-US" dirty="0"/>
              <a:t>的向量指令也是寄存器型</a:t>
            </a:r>
            <a:endParaRPr lang="en-US" altLang="zh-CN" dirty="0"/>
          </a:p>
          <a:p>
            <a:pPr eaLnBrk="1" hangingPunct="1">
              <a:spcBef>
                <a:spcPts val="300"/>
              </a:spcBef>
            </a:pPr>
            <a:r>
              <a:rPr lang="en-US" altLang="zh-CN" dirty="0"/>
              <a:t>RISC</a:t>
            </a:r>
            <a:r>
              <a:rPr lang="zh-CN" altLang="en-US" dirty="0"/>
              <a:t>的不断复杂化</a:t>
            </a:r>
            <a:endParaRPr lang="en-US" altLang="zh-CN" dirty="0"/>
          </a:p>
          <a:p>
            <a:pPr lvl="1" eaLnBrk="1" hangingPunct="1">
              <a:spcBef>
                <a:spcPts val="300"/>
              </a:spcBef>
            </a:pPr>
            <a:r>
              <a:rPr lang="zh-CN" altLang="en-US" dirty="0"/>
              <a:t>内存离寄存器越来越远，以寄存器为中心的结构增加了不必要的数据搬运开销（如</a:t>
            </a:r>
            <a:r>
              <a:rPr lang="en-US" altLang="zh-CN" dirty="0"/>
              <a:t>memcpy</a:t>
            </a:r>
            <a:r>
              <a:rPr lang="zh-CN" altLang="en-US" dirty="0"/>
              <a:t>）</a:t>
            </a:r>
            <a:endParaRPr lang="en-US" altLang="zh-CN" dirty="0"/>
          </a:p>
          <a:p>
            <a:pPr lvl="1" eaLnBrk="1" hangingPunct="1">
              <a:spcBef>
                <a:spcPts val="300"/>
              </a:spcBef>
            </a:pPr>
            <a:r>
              <a:rPr lang="zh-CN" altLang="en-US" dirty="0"/>
              <a:t>向量指令、超越函数指令、</a:t>
            </a:r>
            <a:r>
              <a:rPr lang="en-US" altLang="zh-CN" dirty="0"/>
              <a:t>Transacitonal memory</a:t>
            </a:r>
            <a:r>
              <a:rPr lang="zh-CN" altLang="en-US" dirty="0"/>
              <a:t>等</a:t>
            </a:r>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en-US" altLang="zh-CN" dirty="0"/>
              <a:t>RISC</a:t>
            </a:r>
            <a:r>
              <a:rPr lang="zh-CN" altLang="en-US" dirty="0"/>
              <a:t>指令数据来源（地址空间）</a:t>
            </a:r>
          </a:p>
        </p:txBody>
      </p:sp>
      <p:sp>
        <p:nvSpPr>
          <p:cNvPr id="45059" name="内容占位符 3"/>
          <p:cNvSpPr>
            <a:spLocks noGrp="1"/>
          </p:cNvSpPr>
          <p:nvPr>
            <p:ph idx="1"/>
          </p:nvPr>
        </p:nvSpPr>
        <p:spPr>
          <a:xfrm>
            <a:off x="914400" y="1347788"/>
            <a:ext cx="10361613" cy="5184775"/>
          </a:xfrm>
        </p:spPr>
        <p:txBody>
          <a:bodyPr vert="horz" wrap="square" lIns="91440" tIns="45720" rIns="91440" bIns="45720" anchor="t" anchorCtr="0"/>
          <a:lstStyle/>
          <a:p>
            <a:pPr eaLnBrk="1" hangingPunct="1"/>
            <a:r>
              <a:rPr lang="zh-CN" altLang="en-US" dirty="0">
                <a:solidFill>
                  <a:srgbClr val="FF0000"/>
                </a:solidFill>
              </a:rPr>
              <a:t>立即数</a:t>
            </a:r>
            <a:r>
              <a:rPr lang="zh-CN" altLang="en-US" dirty="0"/>
              <a:t>：在指令附带，译码时直接获得</a:t>
            </a:r>
            <a:endParaRPr lang="en-US" altLang="zh-CN" dirty="0"/>
          </a:p>
          <a:p>
            <a:pPr eaLnBrk="1" hangingPunct="1"/>
            <a:r>
              <a:rPr lang="zh-CN" altLang="en-US" dirty="0">
                <a:solidFill>
                  <a:srgbClr val="FF0000"/>
                </a:solidFill>
              </a:rPr>
              <a:t>寄存器</a:t>
            </a:r>
            <a:r>
              <a:rPr lang="zh-CN" altLang="en-US" dirty="0"/>
              <a:t>：在指令中以寄存器号引用</a:t>
            </a:r>
            <a:endParaRPr lang="en-US" altLang="zh-CN" dirty="0"/>
          </a:p>
          <a:p>
            <a:pPr lvl="1" eaLnBrk="1" hangingPunct="1"/>
            <a:r>
              <a:rPr lang="zh-CN" altLang="en-US" dirty="0"/>
              <a:t>整数通用寄存器</a:t>
            </a:r>
            <a:endParaRPr lang="en-US" altLang="zh-CN" dirty="0"/>
          </a:p>
          <a:p>
            <a:pPr lvl="1" eaLnBrk="1" hangingPunct="1"/>
            <a:r>
              <a:rPr lang="zh-CN" altLang="en-US" dirty="0"/>
              <a:t>浮点通用寄存器</a:t>
            </a:r>
            <a:endParaRPr lang="en-US" altLang="zh-CN" dirty="0"/>
          </a:p>
          <a:p>
            <a:pPr lvl="1" eaLnBrk="1" hangingPunct="1"/>
            <a:r>
              <a:rPr lang="zh-CN" altLang="en-US" dirty="0"/>
              <a:t>协处理器寄存器</a:t>
            </a:r>
            <a:endParaRPr lang="en-US" altLang="zh-CN" dirty="0"/>
          </a:p>
          <a:p>
            <a:pPr eaLnBrk="1" hangingPunct="1"/>
            <a:r>
              <a:rPr lang="zh-CN" altLang="en-US" dirty="0">
                <a:solidFill>
                  <a:srgbClr val="FF0000"/>
                </a:solidFill>
              </a:rPr>
              <a:t>内存</a:t>
            </a:r>
            <a:r>
              <a:rPr lang="en-US" altLang="zh-CN" dirty="0">
                <a:solidFill>
                  <a:srgbClr val="FF0000"/>
                </a:solidFill>
              </a:rPr>
              <a:t>/IO</a:t>
            </a:r>
            <a:r>
              <a:rPr lang="zh-CN" altLang="en-US" dirty="0"/>
              <a:t>：通过访存</a:t>
            </a:r>
            <a:r>
              <a:rPr lang="en-US" altLang="zh-CN" dirty="0"/>
              <a:t>/IO</a:t>
            </a:r>
            <a:r>
              <a:rPr lang="zh-CN" altLang="en-US" dirty="0"/>
              <a:t>指令访问</a:t>
            </a:r>
            <a:endParaRPr lang="en-US" altLang="zh-CN" dirty="0"/>
          </a:p>
          <a:p>
            <a:pPr lvl="1" eaLnBrk="1" hangingPunct="1"/>
            <a:r>
              <a:rPr lang="zh-CN" altLang="en-US" dirty="0"/>
              <a:t>内存空间</a:t>
            </a:r>
            <a:endParaRPr lang="en-US" altLang="zh-CN" dirty="0"/>
          </a:p>
          <a:p>
            <a:pPr lvl="1" eaLnBrk="1" hangingPunct="1"/>
            <a:r>
              <a:rPr lang="en-US" altLang="zh-CN" dirty="0"/>
              <a:t>IO</a:t>
            </a:r>
            <a:r>
              <a:rPr lang="zh-CN" altLang="en-US" dirty="0"/>
              <a:t>空间：</a:t>
            </a:r>
            <a:r>
              <a:rPr lang="en-US" altLang="zh-CN" dirty="0"/>
              <a:t>RISC</a:t>
            </a:r>
            <a:r>
              <a:rPr lang="zh-CN" altLang="en-US" dirty="0"/>
              <a:t>中没有专门的</a:t>
            </a:r>
            <a:r>
              <a:rPr lang="en-US" altLang="zh-CN" dirty="0"/>
              <a:t>IO</a:t>
            </a:r>
            <a:r>
              <a:rPr lang="zh-CN" altLang="en-US" dirty="0"/>
              <a:t>空间，映射到内存空间</a:t>
            </a:r>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57</a:t>
            </a:fld>
            <a:endParaRPr lang="en-US" altLang="zh-CN" sz="1400" dirty="0"/>
          </a:p>
        </p:txBody>
      </p:sp>
      <p:pic>
        <p:nvPicPr>
          <p:cNvPr id="57347" name="Picture 4"/>
          <p:cNvPicPr>
            <a:picLocks noChangeAspect="1"/>
          </p:cNvPicPr>
          <p:nvPr/>
        </p:nvPicPr>
        <p:blipFill>
          <a:blip r:embed="rId2" cstate="print"/>
          <a:stretch>
            <a:fillRect/>
          </a:stretch>
        </p:blipFill>
        <p:spPr>
          <a:xfrm>
            <a:off x="661035" y="3030220"/>
            <a:ext cx="5203190" cy="3596005"/>
          </a:xfrm>
          <a:prstGeom prst="rect">
            <a:avLst/>
          </a:prstGeom>
          <a:noFill/>
          <a:ln w="9525">
            <a:noFill/>
          </a:ln>
        </p:spPr>
      </p:pic>
      <p:sp>
        <p:nvSpPr>
          <p:cNvPr id="57348" name="Rectangle 6"/>
          <p:cNvSpPr/>
          <p:nvPr/>
        </p:nvSpPr>
        <p:spPr>
          <a:xfrm>
            <a:off x="933450" y="0"/>
            <a:ext cx="10361613" cy="762000"/>
          </a:xfrm>
          <a:prstGeom prst="rect">
            <a:avLst/>
          </a:prstGeom>
          <a:noFill/>
          <a:ln w="9525">
            <a:noFill/>
          </a:ln>
        </p:spPr>
        <p:txBody>
          <a:bodyPr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立即数的比例及分布</a:t>
            </a:r>
          </a:p>
        </p:txBody>
      </p:sp>
      <p:sp>
        <p:nvSpPr>
          <p:cNvPr id="53253" name="Rectangle 7"/>
          <p:cNvSpPr>
            <a:spLocks noChangeArrowheads="1"/>
          </p:cNvSpPr>
          <p:nvPr/>
        </p:nvSpPr>
        <p:spPr bwMode="auto">
          <a:xfrm>
            <a:off x="436880" y="868680"/>
            <a:ext cx="5648960" cy="206375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比例：</a:t>
            </a:r>
            <a:r>
              <a:rPr kumimoji="0" lang="en-US" altLang="zh-CN" sz="1800" b="1" i="0" u="none" strike="noStrike" kern="1200" cap="none" spc="0" normalizeH="0" baseline="0" noProof="0" dirty="0">
                <a:ln>
                  <a:noFill/>
                </a:ln>
                <a:solidFill>
                  <a:srgbClr val="000000"/>
                </a:solidFill>
                <a:effectLst/>
                <a:uLnTx/>
                <a:uFillTx/>
                <a:latin typeface="+mn-ea"/>
                <a:ea typeface="+mn-ea"/>
                <a:cs typeface="+mn-cs"/>
              </a:rPr>
              <a:t>SPEC CPU2000</a:t>
            </a: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在</a:t>
            </a:r>
            <a:r>
              <a:rPr kumimoji="0" lang="en-US" altLang="zh-CN" sz="1800" b="1" i="0" u="none" strike="noStrike" kern="1200" cap="none" spc="0" normalizeH="0" baseline="0" noProof="0" dirty="0">
                <a:ln>
                  <a:noFill/>
                </a:ln>
                <a:solidFill>
                  <a:srgbClr val="000000"/>
                </a:solidFill>
                <a:effectLst/>
                <a:uLnTx/>
                <a:uFillTx/>
                <a:latin typeface="+mn-ea"/>
                <a:ea typeface="+mn-ea"/>
                <a:cs typeface="+mn-cs"/>
              </a:rPr>
              <a:t>Alpha</a:t>
            </a: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结构上的统计</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ALU</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操作定点</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1/4</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、浮点</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1/5</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需要立即数</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Load</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操作有近</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1/4</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是取立即数（没有真正访存）</a:t>
            </a:r>
          </a:p>
        </p:txBody>
      </p:sp>
      <p:sp>
        <p:nvSpPr>
          <p:cNvPr id="54277" name="Rectangle 10"/>
          <p:cNvSpPr>
            <a:spLocks noChangeArrowheads="1"/>
          </p:cNvSpPr>
          <p:nvPr/>
        </p:nvSpPr>
        <p:spPr bwMode="auto">
          <a:xfrm>
            <a:off x="6086475" y="796925"/>
            <a:ext cx="5987415" cy="162115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分布：</a:t>
            </a:r>
            <a:r>
              <a:rPr kumimoji="0" lang="en-US" altLang="zh-CN" sz="1800" b="1" i="0" u="none" strike="noStrike" kern="1200" cap="none" spc="0" normalizeH="0" baseline="0" noProof="0" dirty="0">
                <a:ln>
                  <a:noFill/>
                </a:ln>
                <a:solidFill>
                  <a:srgbClr val="000000"/>
                </a:solidFill>
                <a:effectLst/>
                <a:uLnTx/>
                <a:uFillTx/>
                <a:latin typeface="+mn-ea"/>
                <a:ea typeface="+mn-ea"/>
                <a:cs typeface="+mn-cs"/>
              </a:rPr>
              <a:t>SPEC CPU2000</a:t>
            </a: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在</a:t>
            </a:r>
            <a:r>
              <a:rPr kumimoji="0" lang="en-US" altLang="zh-CN" sz="1800" b="1" i="0" u="none" strike="noStrike" kern="1200" cap="none" spc="0" normalizeH="0" baseline="0" noProof="0" dirty="0">
                <a:ln>
                  <a:noFill/>
                </a:ln>
                <a:solidFill>
                  <a:srgbClr val="000000"/>
                </a:solidFill>
                <a:effectLst/>
                <a:uLnTx/>
                <a:uFillTx/>
                <a:latin typeface="+mn-ea"/>
                <a:ea typeface="+mn-ea"/>
                <a:cs typeface="+mn-cs"/>
              </a:rPr>
              <a:t>Alpha</a:t>
            </a:r>
            <a:r>
              <a:rPr kumimoji="0" lang="zh-CN" altLang="en-US" sz="1800" b="1" i="0" u="none" strike="noStrike" kern="1200" cap="none" spc="0" normalizeH="0" baseline="0" noProof="0" dirty="0">
                <a:ln>
                  <a:noFill/>
                </a:ln>
                <a:solidFill>
                  <a:srgbClr val="000000"/>
                </a:solidFill>
                <a:effectLst/>
                <a:uLnTx/>
                <a:uFillTx/>
                <a:latin typeface="+mn-ea"/>
                <a:ea typeface="+mn-ea"/>
                <a:cs typeface="+mn-cs"/>
              </a:rPr>
              <a:t>结构上的统计</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CINT2000</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中</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20%</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CFP2000</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中</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30%</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的立即数是负的</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在支持</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32</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位立即数的</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VAX</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上统计表明，</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20%-30%</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立即数大于</a:t>
            </a:r>
            <a:r>
              <a:rPr kumimoji="0" lang="en-US" altLang="zh-CN" sz="1400" b="1" i="0" u="none" strike="noStrike" kern="1200" cap="none" spc="0" normalizeH="0" baseline="0" noProof="0" dirty="0">
                <a:ln>
                  <a:noFill/>
                </a:ln>
                <a:solidFill>
                  <a:srgbClr val="000000"/>
                </a:solidFill>
                <a:effectLst/>
                <a:uLnTx/>
                <a:uFillTx/>
                <a:latin typeface="+mn-ea"/>
                <a:ea typeface="+mn-ea"/>
                <a:cs typeface="+mn-cs"/>
              </a:rPr>
              <a:t>16</a:t>
            </a:r>
            <a:r>
              <a:rPr kumimoji="0" lang="zh-CN" altLang="en-US" sz="1400" b="1" i="0" u="none" strike="noStrike" kern="1200" cap="none" spc="0" normalizeH="0" baseline="0" noProof="0" dirty="0">
                <a:ln>
                  <a:noFill/>
                </a:ln>
                <a:solidFill>
                  <a:srgbClr val="000000"/>
                </a:solidFill>
                <a:effectLst/>
                <a:uLnTx/>
                <a:uFillTx/>
                <a:latin typeface="+mn-ea"/>
                <a:ea typeface="+mn-ea"/>
                <a:cs typeface="+mn-cs"/>
              </a:rPr>
              <a:t>位</a:t>
            </a:r>
            <a:endParaRPr kumimoji="0" lang="zh-CN" altLang="en-US" sz="1600" b="1" i="0" u="none" strike="noStrike" kern="1200" cap="none" spc="0" normalizeH="0" baseline="0" noProof="0" dirty="0">
              <a:ln>
                <a:noFill/>
              </a:ln>
              <a:solidFill>
                <a:srgbClr val="000000"/>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endParaRPr kumimoji="0" lang="zh-CN" altLang="en-US" sz="1600" b="1" i="0" u="none" strike="noStrike" kern="1200" cap="none" spc="0" normalizeH="0" baseline="0" noProof="0" dirty="0">
              <a:ln>
                <a:noFill/>
              </a:ln>
              <a:solidFill>
                <a:srgbClr val="000000"/>
              </a:solidFill>
              <a:effectLst/>
              <a:uLnTx/>
              <a:uFillTx/>
              <a:latin typeface="+mn-ea"/>
              <a:ea typeface="+mn-ea"/>
              <a:cs typeface="+mn-cs"/>
            </a:endParaRPr>
          </a:p>
        </p:txBody>
      </p:sp>
      <p:pic>
        <p:nvPicPr>
          <p:cNvPr id="58371" name="Picture 4"/>
          <p:cNvPicPr>
            <a:picLocks noChangeAspect="1"/>
          </p:cNvPicPr>
          <p:nvPr/>
        </p:nvPicPr>
        <p:blipFill>
          <a:blip r:embed="rId3" cstate="print"/>
          <a:stretch>
            <a:fillRect/>
          </a:stretch>
        </p:blipFill>
        <p:spPr>
          <a:xfrm>
            <a:off x="6727825" y="2707005"/>
            <a:ext cx="5045075" cy="3828415"/>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166688" y="44450"/>
            <a:ext cx="5613400" cy="1143000"/>
          </a:xfrm>
        </p:spPr>
        <p:txBody>
          <a:bodyPr vert="horz" wrap="square" lIns="91440" tIns="45720" rIns="91440" bIns="45720" anchor="ctr" anchorCtr="0"/>
          <a:lstStyle/>
          <a:p>
            <a:pPr eaLnBrk="1" hangingPunct="1"/>
            <a:r>
              <a:rPr lang="en-US" altLang="zh-CN" dirty="0"/>
              <a:t>MIPS</a:t>
            </a:r>
            <a:r>
              <a:rPr lang="zh-CN" altLang="en-US" dirty="0"/>
              <a:t>寄存器空间</a:t>
            </a:r>
          </a:p>
        </p:txBody>
      </p:sp>
      <p:sp>
        <p:nvSpPr>
          <p:cNvPr id="49155" name="内容占位符 2"/>
          <p:cNvSpPr>
            <a:spLocks noGrp="1"/>
          </p:cNvSpPr>
          <p:nvPr>
            <p:ph idx="1"/>
          </p:nvPr>
        </p:nvSpPr>
        <p:spPr>
          <a:xfrm>
            <a:off x="363538" y="1187450"/>
            <a:ext cx="5416550" cy="4114800"/>
          </a:xfrm>
        </p:spPr>
        <p:txBody>
          <a:bodyPr vert="horz" wrap="square" lIns="91440" tIns="45720" rIns="91440" bIns="45720" anchor="t" anchorCtr="0"/>
          <a:lstStyle/>
          <a:p>
            <a:pPr eaLnBrk="1" hangingPunct="1"/>
            <a:r>
              <a:rPr lang="en-US" altLang="zh-CN" dirty="0"/>
              <a:t>32</a:t>
            </a:r>
            <a:r>
              <a:rPr lang="zh-CN" altLang="en-US" dirty="0"/>
              <a:t>个整数通用寄存器</a:t>
            </a:r>
            <a:endParaRPr lang="en-US" altLang="zh-CN" dirty="0"/>
          </a:p>
          <a:p>
            <a:pPr lvl="1" eaLnBrk="1" hangingPunct="1"/>
            <a:r>
              <a:rPr lang="en-US" altLang="zh-CN" dirty="0"/>
              <a:t>$0 - $31</a:t>
            </a:r>
            <a:r>
              <a:rPr lang="zh-CN" altLang="en-US" dirty="0"/>
              <a:t>（</a:t>
            </a:r>
            <a:r>
              <a:rPr lang="en-US" altLang="zh-CN" dirty="0"/>
              <a:t>$0</a:t>
            </a:r>
            <a:r>
              <a:rPr lang="zh-CN" altLang="en-US" dirty="0"/>
              <a:t>总是返回</a:t>
            </a:r>
            <a:r>
              <a:rPr lang="en-US" altLang="zh-CN" dirty="0"/>
              <a:t>0</a:t>
            </a:r>
            <a:r>
              <a:rPr lang="zh-CN" altLang="en-US" dirty="0"/>
              <a:t>）</a:t>
            </a:r>
            <a:endParaRPr lang="en-US" altLang="zh-CN" dirty="0"/>
          </a:p>
          <a:p>
            <a:pPr eaLnBrk="1" hangingPunct="1"/>
            <a:r>
              <a:rPr lang="en-US" altLang="zh-CN" dirty="0"/>
              <a:t>32</a:t>
            </a:r>
            <a:r>
              <a:rPr lang="zh-CN" altLang="en-US" dirty="0"/>
              <a:t>个浮点通用寄存器</a:t>
            </a:r>
            <a:endParaRPr lang="en-US" altLang="zh-CN" dirty="0"/>
          </a:p>
          <a:p>
            <a:pPr lvl="1" eaLnBrk="1" hangingPunct="1"/>
            <a:r>
              <a:rPr lang="en-US" altLang="zh-CN" dirty="0"/>
              <a:t>$f0 - $f31</a:t>
            </a:r>
          </a:p>
          <a:p>
            <a:pPr eaLnBrk="1" hangingPunct="1"/>
            <a:r>
              <a:rPr lang="zh-CN" altLang="zh-CN" dirty="0"/>
              <a:t>控制寄存器</a:t>
            </a:r>
          </a:p>
          <a:p>
            <a:pPr lvl="1" eaLnBrk="1" hangingPunct="1"/>
            <a:r>
              <a:rPr lang="zh-CN" altLang="zh-CN" dirty="0"/>
              <a:t>仅OS使用</a:t>
            </a:r>
          </a:p>
          <a:p>
            <a:pPr eaLnBrk="1" hangingPunct="1"/>
            <a:r>
              <a:rPr lang="zh-CN" altLang="en-US" dirty="0"/>
              <a:t>若干协处理器寄存器</a:t>
            </a:r>
            <a:endParaRPr lang="en-US" altLang="zh-CN" dirty="0"/>
          </a:p>
          <a:p>
            <a:pPr lvl="1" eaLnBrk="1" hangingPunct="1"/>
            <a:r>
              <a:rPr lang="zh-CN" altLang="en-US" dirty="0"/>
              <a:t>DSP、MSA</a:t>
            </a:r>
            <a:r>
              <a:rPr lang="en-US" altLang="zh-CN" dirty="0"/>
              <a:t>……</a:t>
            </a:r>
            <a:endParaRPr lang="zh-CN" altLang="en-US" dirty="0"/>
          </a:p>
        </p:txBody>
      </p:sp>
      <p:graphicFrame>
        <p:nvGraphicFramePr>
          <p:cNvPr id="44173" name="Group 141"/>
          <p:cNvGraphicFramePr>
            <a:graphicFrameLocks noGrp="1"/>
          </p:cNvGraphicFramePr>
          <p:nvPr/>
        </p:nvGraphicFramePr>
        <p:xfrm>
          <a:off x="6021388" y="219075"/>
          <a:ext cx="5966106" cy="6435726"/>
        </p:xfrm>
        <a:graphic>
          <a:graphicData uri="http://schemas.openxmlformats.org/drawingml/2006/table">
            <a:tbl>
              <a:tblPr/>
              <a:tblGrid>
                <a:gridCol w="1277454"/>
                <a:gridCol w="812694"/>
                <a:gridCol w="3875958"/>
              </a:tblGrid>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助记符</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编号</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说明</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SR</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12</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状态寄存器，包含</a:t>
                      </a: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CPU</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特权等级、中断使能和其他模式配置。</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Cause</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13</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标记异常和中断发生的原因。</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EPC</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14</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异常程序计数器，异常和中断处理结束后的重新执行地址。</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Count</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9</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组成一个简单但有用的高精度内部计数器。</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Compare</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BadVAddr</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8</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存放导致地址相关异常的程序地址。</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Context</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4</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7">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存储管理（</a:t>
                      </a: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TLB</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）相关寄存器，将在第五章进行详细介绍。</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EntryHi</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EntryLo0-1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2-3</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Index</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PageMask</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5</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Random</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Wired</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6</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PRId</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15</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CPU</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类型和版本标识。</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Config</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16</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CPU</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设置参数，依据实现而不同。</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Config1-3</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16.1-3</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EBase</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15.1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异常入口指针基地址，多处理器时作为</a:t>
                      </a: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CPU</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标识。</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IntCtl</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12.1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向量中断和中断优先级相关设置。</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SRSCtl</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12.2</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影子寄存器相关控制。</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SRSMap</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12.3</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CacheErr</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27</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用于分析内存错误的寄存器。</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ECC</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26</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ErrorEPC</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30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TagLo</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28.0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cache</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操作相关寄存器。</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DataLo</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28.1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TagHi</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29.0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DataHi</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29.1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Debug</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23.0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EJTAG</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调试单元相关寄存器。</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DEPC</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24.0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DESAVE</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31.0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WatchLo</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18.0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数据观测点寄存器，当</a:t>
                      </a: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CPU</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对该地址进行访存时会触发异常。</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WatchHi</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19.0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PerfCtl</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25.0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性能计数器寄存器。</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PerfCnt</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25.1</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LLAddr</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17.0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存放</a:t>
                      </a: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LL</a:t>
                      </a: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指令的地址。</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5100">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HWREna</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Times New Roman" pitchFamily="18" charset="0"/>
                        </a:rPr>
                        <a:t>7.0</a:t>
                      </a:r>
                      <a:endParaRPr kumimoji="0" lang="zh-CN" altLang="zh-CN"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2495"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smtClean="0">
                          <a:ln>
                            <a:noFill/>
                          </a:ln>
                          <a:solidFill>
                            <a:srgbClr val="252525"/>
                          </a:solidFill>
                          <a:effectLst/>
                          <a:latin typeface="Arial" panose="02080604020202020204" pitchFamily="34" charset="0"/>
                          <a:ea typeface="宋体" panose="02000500000000000000" pitchFamily="2" charset="-122"/>
                          <a:cs typeface="Arial" panose="02080604020202020204" pitchFamily="34" charset="0"/>
                        </a:rPr>
                        <a:t>决定哪些硬件寄存器对用户特权程序可访问。</a:t>
                      </a:r>
                      <a:endParaRPr kumimoji="0" lang="zh-CN" altLang="en-US" sz="1100" b="1" i="0" u="none" strike="noStrike" cap="none" normalizeH="0" baseline="0" smtClean="0">
                        <a:ln>
                          <a:noFill/>
                        </a:ln>
                        <a:solidFill>
                          <a:schemeClr val="tx1"/>
                        </a:solidFill>
                        <a:effectLst/>
                        <a:latin typeface="Calibri" pitchFamily="34" charset="0"/>
                        <a:ea typeface="宋体" panose="02000500000000000000" pitchFamily="2" charset="-122"/>
                        <a:cs typeface="Times New Roman" pitchFamily="18" charset="0"/>
                      </a:endParaRPr>
                    </a:p>
                  </a:txBody>
                  <a:tcPr marL="91416" marR="9141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66688" y="44450"/>
            <a:ext cx="6181725" cy="1143000"/>
          </a:xfrm>
        </p:spPr>
        <p:txBody>
          <a:bodyPr vert="horz" wrap="square" lIns="91440" tIns="45720" rIns="91440" bIns="45720" anchor="ctr" anchorCtr="0"/>
          <a:lstStyle/>
          <a:p>
            <a:pPr eaLnBrk="1" hangingPunct="1"/>
            <a:r>
              <a:rPr lang="zh-CN" altLang="zh-CN" dirty="0"/>
              <a:t>LoongArch</a:t>
            </a:r>
            <a:r>
              <a:rPr lang="zh-CN" altLang="en-US" dirty="0"/>
              <a:t>寄存器空间</a:t>
            </a:r>
          </a:p>
        </p:txBody>
      </p:sp>
      <p:sp>
        <p:nvSpPr>
          <p:cNvPr id="61443" name="内容占位符 2"/>
          <p:cNvSpPr>
            <a:spLocks noGrp="1"/>
          </p:cNvSpPr>
          <p:nvPr>
            <p:ph idx="1"/>
          </p:nvPr>
        </p:nvSpPr>
        <p:spPr>
          <a:xfrm>
            <a:off x="363538" y="1187450"/>
            <a:ext cx="5416550" cy="4114800"/>
          </a:xfrm>
        </p:spPr>
        <p:txBody>
          <a:bodyPr vert="horz" wrap="square" lIns="91440" tIns="45720" rIns="91440" bIns="45720" anchor="t" anchorCtr="0"/>
          <a:lstStyle/>
          <a:p>
            <a:pPr eaLnBrk="1" hangingPunct="1"/>
            <a:r>
              <a:rPr lang="en-US" altLang="zh-CN" dirty="0"/>
              <a:t>32</a:t>
            </a:r>
            <a:r>
              <a:rPr lang="zh-CN" altLang="en-US" dirty="0"/>
              <a:t>个整数通用寄存器</a:t>
            </a:r>
            <a:endParaRPr lang="en-US" altLang="zh-CN" dirty="0"/>
          </a:p>
          <a:p>
            <a:pPr lvl="1" eaLnBrk="1" hangingPunct="1"/>
            <a:r>
              <a:rPr lang="en-US" altLang="zh-CN" dirty="0"/>
              <a:t>$</a:t>
            </a:r>
            <a:r>
              <a:rPr lang="zh-CN" altLang="en-US" dirty="0"/>
              <a:t>r</a:t>
            </a:r>
            <a:r>
              <a:rPr lang="en-US" altLang="zh-CN" dirty="0"/>
              <a:t>0 - $</a:t>
            </a:r>
            <a:r>
              <a:rPr lang="zh-CN" altLang="en-US" dirty="0"/>
              <a:t>r</a:t>
            </a:r>
            <a:r>
              <a:rPr lang="en-US" altLang="zh-CN" dirty="0"/>
              <a:t>31</a:t>
            </a:r>
            <a:r>
              <a:rPr lang="zh-CN" altLang="en-US" dirty="0"/>
              <a:t>（</a:t>
            </a:r>
            <a:r>
              <a:rPr lang="en-US" altLang="zh-CN" dirty="0"/>
              <a:t>$</a:t>
            </a:r>
            <a:r>
              <a:rPr lang="zh-CN" altLang="en-US" dirty="0"/>
              <a:t>r</a:t>
            </a:r>
            <a:r>
              <a:rPr lang="en-US" altLang="zh-CN" dirty="0"/>
              <a:t>0</a:t>
            </a:r>
            <a:r>
              <a:rPr lang="zh-CN" altLang="en-US" dirty="0"/>
              <a:t>恒为</a:t>
            </a:r>
            <a:r>
              <a:rPr lang="en-US" altLang="zh-CN" dirty="0"/>
              <a:t>0</a:t>
            </a:r>
            <a:r>
              <a:rPr lang="zh-CN" altLang="en-US" dirty="0"/>
              <a:t>）</a:t>
            </a:r>
            <a:endParaRPr lang="en-US" altLang="zh-CN" dirty="0"/>
          </a:p>
          <a:p>
            <a:pPr eaLnBrk="1" hangingPunct="1"/>
            <a:r>
              <a:rPr lang="en-US" altLang="zh-CN" dirty="0"/>
              <a:t>32</a:t>
            </a:r>
            <a:r>
              <a:rPr lang="zh-CN" altLang="en-US" dirty="0"/>
              <a:t>个浮点通用寄存器</a:t>
            </a:r>
            <a:endParaRPr lang="en-US" altLang="zh-CN" dirty="0"/>
          </a:p>
          <a:p>
            <a:pPr lvl="1" eaLnBrk="1" hangingPunct="1"/>
            <a:r>
              <a:rPr lang="en-US" altLang="zh-CN" dirty="0"/>
              <a:t>$f0 - $f31</a:t>
            </a:r>
          </a:p>
          <a:p>
            <a:pPr eaLnBrk="1" hangingPunct="1"/>
            <a:r>
              <a:rPr lang="zh-CN" altLang="zh-CN" dirty="0"/>
              <a:t>控制状态寄存器（</a:t>
            </a:r>
            <a:r>
              <a:rPr lang="en-US" altLang="zh-CN" dirty="0"/>
              <a:t>CSR</a:t>
            </a:r>
            <a:r>
              <a:rPr lang="zh-CN" altLang="zh-CN" dirty="0"/>
              <a:t>）</a:t>
            </a:r>
          </a:p>
          <a:p>
            <a:pPr lvl="1" eaLnBrk="1" hangingPunct="1"/>
            <a:r>
              <a:rPr lang="zh-CN" altLang="zh-CN" dirty="0"/>
              <a:t>仅OS使用</a:t>
            </a:r>
          </a:p>
          <a:p>
            <a:pPr eaLnBrk="1" hangingPunct="1"/>
            <a:endParaRPr lang="zh-CN" altLang="en-US" dirty="0"/>
          </a:p>
        </p:txBody>
      </p:sp>
      <p:graphicFrame>
        <p:nvGraphicFramePr>
          <p:cNvPr id="2" name="表格 1"/>
          <p:cNvGraphicFramePr/>
          <p:nvPr/>
        </p:nvGraphicFramePr>
        <p:xfrm>
          <a:off x="6302375" y="561975"/>
          <a:ext cx="5766743" cy="6084571"/>
        </p:xfrm>
        <a:graphic>
          <a:graphicData uri="http://schemas.openxmlformats.org/drawingml/2006/table">
            <a:tbl>
              <a:tblPr firstRow="1" bandRow="1">
                <a:tableStyleId>{5940675A-B579-460E-94D1-54222C63F5DA}</a:tableStyleId>
              </a:tblPr>
              <a:tblGrid>
                <a:gridCol w="1102217"/>
                <a:gridCol w="619679"/>
                <a:gridCol w="4044847"/>
              </a:tblGrid>
              <a:tr h="121920">
                <a:tc>
                  <a:txBody>
                    <a:bodyPr/>
                    <a:lstStyle/>
                    <a:p>
                      <a:pPr indent="0" algn="ctr">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助记符</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编号</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说明</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4384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CRMD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Ox0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处理器当前运行模式及地址翻译模式、全局中断使能等配置信息。</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0175">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PRMD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触发当前普通异常的现场的运行模式及全局中断使能等配置信息</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EUEN</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扩展部件的使能控制</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MISC</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各权限等级下是否运行使用部分特权指令等杂项配置</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ECFG</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局部中断使能、异常入口间距等配置信息</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ESTAT</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0x5</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记录异常和中断发生原因</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ERA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0x6</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普通异常处理返回地址</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BADV</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0x7</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记录触发地址相关异常的访存虚地址</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BADI</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记录触发异常指令的指令编码</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EENTRY</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0xC</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配置普通异常处理程序入口地址</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TLBIDX</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11">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存储管理（TLB）相关寄存器，将在第3节进行详细介绍</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TLBEHI</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TLBELO0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TLBELO1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ASID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0x18</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STLBPS</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0x1E</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PGDL</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0x19</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PGDH</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PGD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0x1B</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PWCL</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0x1C</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PWCH</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r h="139065">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SAVEn</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0x30+n</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保存临时数据</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TID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5">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恒定频率计时器和定时器相关寄存器</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TCFG</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TVAL</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CNTC</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TICLR</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0x44</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LLBCTL</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0x60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LLBit的控制</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TLBRENTRY</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0x88</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8">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TLB重填异常处理专用寄存器</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TLRBBADV</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0x89</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TLBERA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TLBRSAVE</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0x8B</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TLBRELO0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0x8C</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TLBRELO1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TLBREHI</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0x8E</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TLBRPRMD</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0x8F</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MERRCTL</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6">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由Cache校验错所引发的机器错误异常的相关控制状态寄存器</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MERRINFO1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MERRINFO2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MERRENTRY</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MERRERA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0x94</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MERRSAVE</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0x95</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r h="328931">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DMW0~DMW3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0x180~0x183</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直接映射配置窗口0～3的配置寄存器</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DBG</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0x500</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3">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调试相关的控制状态寄存器</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DERA</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0x501</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r>
              <a:tr h="121920">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DSAVE</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800" b="0">
                          <a:solidFill>
                            <a:srgbClr val="252525"/>
                          </a:solidFill>
                          <a:latin typeface="宋体" panose="02000500000000000000" pitchFamily="2" charset="-122"/>
                          <a:ea typeface="宋体" panose="02000500000000000000" pitchFamily="2" charset="-122"/>
                          <a:cs typeface="宋体" panose="02000500000000000000" pitchFamily="2" charset="-122"/>
                        </a:rPr>
                        <a:t>0x502</a:t>
                      </a:r>
                      <a:endParaRPr lang="en-US" altLang="en-US" sz="800" b="0">
                        <a:solidFill>
                          <a:srgbClr val="252525"/>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914400" y="0"/>
            <a:ext cx="10361613" cy="1143000"/>
          </a:xfrm>
        </p:spPr>
        <p:txBody>
          <a:bodyPr vert="horz" wrap="square" lIns="91440" tIns="45720" rIns="91440" bIns="45720" anchor="ctr" anchorCtr="0"/>
          <a:lstStyle/>
          <a:p>
            <a:pPr eaLnBrk="1" hangingPunct="1"/>
            <a:r>
              <a:rPr lang="zh-CN" altLang="en-US" dirty="0"/>
              <a:t>不同指令系统通用寄存器数量</a:t>
            </a:r>
          </a:p>
        </p:txBody>
      </p:sp>
      <p:graphicFrame>
        <p:nvGraphicFramePr>
          <p:cNvPr id="43036" name="Group 28"/>
          <p:cNvGraphicFramePr>
            <a:graphicFrameLocks noGrp="1"/>
          </p:cNvGraphicFramePr>
          <p:nvPr>
            <p:ph idx="4294967295"/>
          </p:nvPr>
        </p:nvGraphicFramePr>
        <p:xfrm>
          <a:off x="914400" y="1576388"/>
          <a:ext cx="10361851" cy="4254500"/>
        </p:xfrm>
        <a:graphic>
          <a:graphicData uri="http://schemas.openxmlformats.org/drawingml/2006/table">
            <a:tbl>
              <a:tblPr/>
              <a:tblGrid>
                <a:gridCol w="4249713"/>
                <a:gridCol w="6112138"/>
              </a:tblGrid>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Consolas" pitchFamily="49" charset="0"/>
                          <a:ea typeface="宋体" panose="02000500000000000000" pitchFamily="2" charset="-122"/>
                        </a:rPr>
                        <a:t>指令集</a:t>
                      </a:r>
                      <a:endParaRPr kumimoji="0" lang="zh-CN" altLang="en-US"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Consolas" pitchFamily="49" charset="0"/>
                          <a:ea typeface="宋体" panose="02000500000000000000" pitchFamily="2" charset="-122"/>
                        </a:rPr>
                        <a:t>整数通用寄存器数</a:t>
                      </a:r>
                      <a:endParaRPr kumimoji="0" lang="zh-CN" altLang="en-US"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Itanium</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CCCCCC"/>
                    </a:solid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128</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lnTlToBr>
                      <a:noFill/>
                    </a:lnTlToBr>
                    <a:lnBlToTr>
                      <a:noFill/>
                    </a:lnBlToTr>
                    <a:solidFill>
                      <a:srgbClr val="CCCCCC"/>
                    </a:solid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VAX</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16</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ARMv8</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31</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PowerPC</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32</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Alpha</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32(including ”zero”)</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SPARC</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32(including ”zero”)</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MIPS</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4-32(including ”zero”)</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CCCCCC"/>
                    </a:solid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ARMv7</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7 in 16bit thumb mode,14 in 32bit</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425450">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X86</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CCCCCC"/>
                    </a:solidFill>
                  </a:tcPr>
                </a:tc>
                <a:tc>
                  <a:txBody>
                    <a:bodyPr/>
                    <a:lstStyle/>
                    <a:p>
                      <a:pPr marL="0" marR="0" lvl="0" indent="266700" algn="just" defTabSz="912495" rtl="0" eaLnBrk="1" fontAlgn="base" latinLnBrk="0" hangingPunct="1">
                        <a:lnSpc>
                          <a:spcPct val="150000"/>
                        </a:lnSpc>
                        <a:spcBef>
                          <a:spcPct val="0"/>
                        </a:spcBef>
                        <a:spcAft>
                          <a:spcPct val="0"/>
                        </a:spcAft>
                        <a:buClrTx/>
                        <a:buSzTx/>
                        <a:buFontTx/>
                        <a:buNone/>
                      </a:pPr>
                      <a:r>
                        <a:rPr kumimoji="0" lang="en-US" altLang="zh-CN" sz="1800" b="0" i="0" u="none" strike="noStrike" cap="none" normalizeH="0" baseline="0" smtClean="0">
                          <a:ln>
                            <a:noFill/>
                          </a:ln>
                          <a:solidFill>
                            <a:srgbClr val="000000"/>
                          </a:solidFill>
                          <a:effectLst/>
                          <a:latin typeface="Consolas" pitchFamily="49" charset="0"/>
                          <a:ea typeface="宋体" panose="02000500000000000000" pitchFamily="2" charset="-122"/>
                          <a:cs typeface="Times New Roman" pitchFamily="18" charset="0"/>
                        </a:rPr>
                        <a:t>8 in 16/32bit,16 in 64bit</a:t>
                      </a:r>
                      <a:endParaRPr kumimoji="0" lang="zh-CN" altLang="zh-CN" sz="2400" b="0" i="0" u="none" strike="noStrike" cap="none" normalizeH="0" baseline="0" smtClean="0">
                        <a:ln>
                          <a:noFill/>
                        </a:ln>
                        <a:solidFill>
                          <a:srgbClr val="000000"/>
                        </a:solidFill>
                        <a:effectLst/>
                        <a:latin typeface="Calibri" pitchFamily="34" charset="0"/>
                        <a:ea typeface="宋体" panose="02000500000000000000" pitchFamily="2" charset="-122"/>
                        <a:cs typeface="Times New Roman" pitchFamily="18" charset="0"/>
                      </a:endParaRPr>
                    </a:p>
                  </a:txBody>
                  <a:tcPr marL="91428" marR="91428" marT="0" marB="0" horzOverflow="overflow">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lnTlToBr>
                      <a:noFill/>
                    </a:lnTlToBr>
                    <a:lnBlToTr>
                      <a:noFill/>
                    </a:lnBlToTr>
                    <a:solidFill>
                      <a:srgbClr val="CCCCCC"/>
                    </a:solidFill>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61</a:t>
            </a:fld>
            <a:endParaRPr lang="en-US" altLang="zh-CN" sz="1400" dirty="0"/>
          </a:p>
        </p:txBody>
      </p:sp>
      <p:sp>
        <p:nvSpPr>
          <p:cNvPr id="62467" name="Rectangle 2"/>
          <p:cNvSpPr>
            <a:spLocks noGrp="1"/>
          </p:cNvSpPr>
          <p:nvPr>
            <p:ph type="title"/>
          </p:nvPr>
        </p:nvSpPr>
        <p:spPr>
          <a:xfrm>
            <a:off x="938213" y="293688"/>
            <a:ext cx="10361612" cy="695325"/>
          </a:xfrm>
        </p:spPr>
        <p:txBody>
          <a:bodyPr vert="horz" wrap="square" lIns="91440" tIns="45720" rIns="91440" bIns="45720" anchor="ctr" anchorCtr="0"/>
          <a:lstStyle/>
          <a:p>
            <a:pPr eaLnBrk="1" hangingPunct="1"/>
            <a:r>
              <a:rPr lang="en-US" altLang="zh-CN" dirty="0"/>
              <a:t>IO</a:t>
            </a:r>
            <a:r>
              <a:rPr lang="zh-CN" altLang="en-US" dirty="0"/>
              <a:t>空间和存储访问类型</a:t>
            </a:r>
            <a:endParaRPr lang="zh-CN" altLang="zh-CN" dirty="0"/>
          </a:p>
        </p:txBody>
      </p:sp>
      <p:sp>
        <p:nvSpPr>
          <p:cNvPr id="62468" name="内容占位符 2"/>
          <p:cNvSpPr>
            <a:spLocks noGrp="1"/>
          </p:cNvSpPr>
          <p:nvPr>
            <p:ph idx="1"/>
          </p:nvPr>
        </p:nvSpPr>
        <p:spPr>
          <a:xfrm>
            <a:off x="914400" y="989013"/>
            <a:ext cx="10361613" cy="5102225"/>
          </a:xfrm>
        </p:spPr>
        <p:txBody>
          <a:bodyPr vert="horz" wrap="square" lIns="91440" tIns="45720" rIns="91440" bIns="45720" anchor="t" anchorCtr="0"/>
          <a:lstStyle/>
          <a:p>
            <a:pPr eaLnBrk="1" hangingPunct="1"/>
            <a:r>
              <a:rPr lang="zh-CN" altLang="en-US" dirty="0"/>
              <a:t>广义的系统内存空间包括IO空间和内存空间</a:t>
            </a:r>
          </a:p>
          <a:p>
            <a:pPr lvl="1" eaLnBrk="1" hangingPunct="1"/>
            <a:r>
              <a:rPr lang="en-US" altLang="zh-CN" dirty="0"/>
              <a:t>X86</a:t>
            </a:r>
            <a:r>
              <a:rPr lang="zh-CN" altLang="en-US" dirty="0"/>
              <a:t>规定了独立的</a:t>
            </a:r>
            <a:r>
              <a:rPr lang="en-US" altLang="zh-CN" dirty="0"/>
              <a:t>IO</a:t>
            </a:r>
            <a:r>
              <a:rPr lang="zh-CN" altLang="en-US" dirty="0"/>
              <a:t>空间，使用专门的</a:t>
            </a:r>
            <a:r>
              <a:rPr lang="en-US" altLang="zh-CN" dirty="0"/>
              <a:t>in/out</a:t>
            </a:r>
            <a:r>
              <a:rPr lang="zh-CN" altLang="en-US" dirty="0"/>
              <a:t>指令来访问</a:t>
            </a:r>
            <a:endParaRPr lang="en-US" altLang="zh-CN" dirty="0"/>
          </a:p>
          <a:p>
            <a:pPr lvl="1" eaLnBrk="1" hangingPunct="1"/>
            <a:r>
              <a:rPr lang="en-US" altLang="zh-CN" dirty="0"/>
              <a:t>MIPS、ARM</a:t>
            </a:r>
            <a:r>
              <a:rPr lang="zh-CN" altLang="en-US" dirty="0"/>
              <a:t>和</a:t>
            </a:r>
            <a:r>
              <a:rPr lang="en-US" altLang="zh-CN" dirty="0"/>
              <a:t>LoongArc</a:t>
            </a:r>
            <a:r>
              <a:rPr lang="zh-CN" altLang="en-US" dirty="0"/>
              <a:t>h不区分</a:t>
            </a:r>
            <a:r>
              <a:rPr lang="en-US" altLang="zh-CN" dirty="0"/>
              <a:t>IO</a:t>
            </a:r>
            <a:r>
              <a:rPr lang="zh-CN" altLang="en-US" dirty="0"/>
              <a:t>空间和内存空间，使用同样的访存指令</a:t>
            </a:r>
          </a:p>
          <a:p>
            <a:pPr eaLnBrk="1" hangingPunct="1"/>
            <a:r>
              <a:rPr lang="zh-CN" altLang="en-US" dirty="0"/>
              <a:t>处理器对IO空间的访问通常不能经过Cache</a:t>
            </a:r>
          </a:p>
          <a:p>
            <a:pPr lvl="1" eaLnBrk="1" hangingPunct="1"/>
            <a:r>
              <a:rPr lang="zh-CN" altLang="en-US" dirty="0"/>
              <a:t>在使用相同的load/store指令既访问IO空间又访问内存空间的情况下，就需要定义所访问地址的存储访问类型，用来决定该访问能否经过Cache。</a:t>
            </a:r>
          </a:p>
        </p:txBody>
      </p:sp>
      <p:graphicFrame>
        <p:nvGraphicFramePr>
          <p:cNvPr id="3" name="表格 2"/>
          <p:cNvGraphicFramePr/>
          <p:nvPr/>
        </p:nvGraphicFramePr>
        <p:xfrm>
          <a:off x="938213" y="3906838"/>
          <a:ext cx="10172223" cy="2192020"/>
        </p:xfrm>
        <a:graphic>
          <a:graphicData uri="http://schemas.openxmlformats.org/drawingml/2006/table">
            <a:tbl>
              <a:tblPr firstRow="1" bandRow="1">
                <a:tableStyleId>{ED083AE6-46FA-4A59-8FB0-9F97EB10719F}</a:tableStyleId>
              </a:tblPr>
              <a:tblGrid>
                <a:gridCol w="4877012"/>
                <a:gridCol w="3000196"/>
                <a:gridCol w="2295015"/>
              </a:tblGrid>
              <a:tr h="546100">
                <a:tc>
                  <a:txBody>
                    <a:bodyPr/>
                    <a:lstStyle/>
                    <a:p>
                      <a:pPr algn="ctr">
                        <a:buNone/>
                      </a:pPr>
                      <a:endParaRPr lang="zh-CN" altLang="en-US" sz="1500"/>
                    </a:p>
                  </a:txBody>
                  <a:tcPr marL="121904" marR="121904" anchor="ctr"/>
                </a:tc>
                <a:tc>
                  <a:txBody>
                    <a:bodyPr/>
                    <a:lstStyle/>
                    <a:p>
                      <a:pPr algn="ctr">
                        <a:buNone/>
                      </a:pPr>
                      <a:r>
                        <a:rPr lang="zh-CN" altLang="en-US" sz="1500"/>
                        <a:t>访问内存空间</a:t>
                      </a:r>
                    </a:p>
                  </a:txBody>
                  <a:tcPr marL="121904" marR="121904" anchor="ctr"/>
                </a:tc>
                <a:tc>
                  <a:txBody>
                    <a:bodyPr/>
                    <a:lstStyle/>
                    <a:p>
                      <a:pPr algn="ctr">
                        <a:buNone/>
                      </a:pPr>
                      <a:r>
                        <a:rPr lang="zh-CN" altLang="en-US" sz="1500"/>
                        <a:t>访问</a:t>
                      </a:r>
                      <a:r>
                        <a:rPr lang="en-US" altLang="zh-CN" sz="1500"/>
                        <a:t>IO</a:t>
                      </a:r>
                      <a:r>
                        <a:rPr lang="zh-CN" altLang="en-US" sz="1500"/>
                        <a:t>空间</a:t>
                      </a:r>
                    </a:p>
                  </a:txBody>
                  <a:tcPr marL="121904" marR="121904" anchor="ctr"/>
                </a:tc>
              </a:tr>
              <a:tr h="546100">
                <a:tc>
                  <a:txBody>
                    <a:bodyPr/>
                    <a:lstStyle/>
                    <a:p>
                      <a:pPr algn="ctr">
                        <a:buNone/>
                      </a:pPr>
                      <a:r>
                        <a:rPr lang="en-US" altLang="zh-CN" sz="1500"/>
                        <a:t>MIPS</a:t>
                      </a:r>
                    </a:p>
                    <a:p>
                      <a:pPr algn="ctr">
                        <a:buNone/>
                      </a:pPr>
                      <a:r>
                        <a:rPr lang="en-US" altLang="zh-CN" sz="1500"/>
                        <a:t>缓存一致性属性（Cache Coherency Attribute）</a:t>
                      </a:r>
                    </a:p>
                  </a:txBody>
                  <a:tcPr marL="121904" marR="121904" anchor="ctr"/>
                </a:tc>
                <a:tc>
                  <a:txBody>
                    <a:bodyPr/>
                    <a:lstStyle/>
                    <a:p>
                      <a:pPr algn="ctr">
                        <a:buNone/>
                      </a:pPr>
                      <a:r>
                        <a:rPr lang="en-US" altLang="zh-CN" sz="1500"/>
                        <a:t>Cached</a:t>
                      </a:r>
                    </a:p>
                  </a:txBody>
                  <a:tcPr marL="121904" marR="121904" anchor="ctr"/>
                </a:tc>
                <a:tc>
                  <a:txBody>
                    <a:bodyPr/>
                    <a:lstStyle/>
                    <a:p>
                      <a:pPr algn="ctr">
                        <a:buNone/>
                      </a:pPr>
                      <a:r>
                        <a:rPr lang="en-US" altLang="zh-CN" sz="1500"/>
                        <a:t>Uncached</a:t>
                      </a:r>
                    </a:p>
                  </a:txBody>
                  <a:tcPr marL="121904" marR="121904" anchor="ctr"/>
                </a:tc>
              </a:tr>
              <a:tr h="546100">
                <a:tc>
                  <a:txBody>
                    <a:bodyPr/>
                    <a:lstStyle/>
                    <a:p>
                      <a:pPr algn="ctr">
                        <a:buNone/>
                      </a:pPr>
                      <a:r>
                        <a:rPr lang="en-US" altLang="zh-CN" sz="1500"/>
                        <a:t>ARM</a:t>
                      </a:r>
                    </a:p>
                    <a:p>
                      <a:pPr algn="ctr">
                        <a:buNone/>
                      </a:pPr>
                      <a:r>
                        <a:rPr lang="en-US" altLang="zh-CN" sz="1500"/>
                        <a:t>内存属性（Memroy Attribute）</a:t>
                      </a:r>
                    </a:p>
                  </a:txBody>
                  <a:tcPr marL="121904" marR="121904" anchor="ctr"/>
                </a:tc>
                <a:tc>
                  <a:txBody>
                    <a:bodyPr/>
                    <a:lstStyle/>
                    <a:p>
                      <a:pPr algn="ctr">
                        <a:buNone/>
                      </a:pPr>
                      <a:r>
                        <a:rPr lang="en-US" altLang="zh-CN" sz="1500"/>
                        <a:t>Normal</a:t>
                      </a:r>
                    </a:p>
                  </a:txBody>
                  <a:tcPr marL="121904" marR="121904" anchor="ctr"/>
                </a:tc>
                <a:tc>
                  <a:txBody>
                    <a:bodyPr/>
                    <a:lstStyle/>
                    <a:p>
                      <a:pPr algn="ctr">
                        <a:buNone/>
                      </a:pPr>
                      <a:r>
                        <a:rPr lang="en-US" altLang="zh-CN" sz="1500"/>
                        <a:t>Device</a:t>
                      </a:r>
                    </a:p>
                  </a:txBody>
                  <a:tcPr marL="121904" marR="121904" anchor="ctr"/>
                </a:tc>
              </a:tr>
              <a:tr h="546100">
                <a:tc>
                  <a:txBody>
                    <a:bodyPr/>
                    <a:lstStyle/>
                    <a:p>
                      <a:pPr algn="ctr">
                        <a:buNone/>
                      </a:pPr>
                      <a:r>
                        <a:rPr lang="en-US" altLang="zh-CN" sz="1500"/>
                        <a:t>LoongArch</a:t>
                      </a:r>
                    </a:p>
                    <a:p>
                      <a:pPr algn="ctr">
                        <a:buNone/>
                      </a:pPr>
                      <a:r>
                        <a:rPr lang="en-US" altLang="zh-CN" sz="1500"/>
                        <a:t>存储访问类型（Memory Attribute Type）</a:t>
                      </a:r>
                    </a:p>
                  </a:txBody>
                  <a:tcPr marL="121904" marR="121904" anchor="ctr"/>
                </a:tc>
                <a:tc>
                  <a:txBody>
                    <a:bodyPr/>
                    <a:lstStyle/>
                    <a:p>
                      <a:pPr algn="ctr">
                        <a:buNone/>
                      </a:pPr>
                      <a:r>
                        <a:rPr lang="zh-CN" altLang="en-US" sz="1500"/>
                        <a:t>一致可缓存</a:t>
                      </a:r>
                      <a:r>
                        <a:rPr lang="en-US" altLang="zh-CN" sz="1500"/>
                        <a:t>(CC)</a:t>
                      </a:r>
                    </a:p>
                  </a:txBody>
                  <a:tcPr marL="121904" marR="121904" anchor="ctr"/>
                </a:tc>
                <a:tc>
                  <a:txBody>
                    <a:bodyPr/>
                    <a:lstStyle/>
                    <a:p>
                      <a:pPr algn="ctr">
                        <a:buNone/>
                      </a:pPr>
                      <a:r>
                        <a:rPr lang="zh-CN" altLang="en-US" sz="1500"/>
                        <a:t>强序非缓存</a:t>
                      </a:r>
                      <a:r>
                        <a:rPr lang="en-US" altLang="zh-CN" sz="1500"/>
                        <a:t>(SUC)</a:t>
                      </a:r>
                    </a:p>
                  </a:txBody>
                  <a:tcPr marL="121904" marR="121904" anchor="ct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62</a:t>
            </a:fld>
            <a:endParaRPr lang="en-US" altLang="zh-CN" sz="1400" dirty="0"/>
          </a:p>
        </p:txBody>
      </p:sp>
      <p:sp>
        <p:nvSpPr>
          <p:cNvPr id="50179" name="Rectangle 2"/>
          <p:cNvSpPr>
            <a:spLocks noGrp="1"/>
          </p:cNvSpPr>
          <p:nvPr>
            <p:ph type="title"/>
          </p:nvPr>
        </p:nvSpPr>
        <p:spPr>
          <a:xfrm>
            <a:off x="938213" y="293688"/>
            <a:ext cx="10361612" cy="695325"/>
          </a:xfrm>
        </p:spPr>
        <p:txBody>
          <a:bodyPr vert="horz" wrap="square" lIns="91440" tIns="45720" rIns="91440" bIns="45720" anchor="ctr" anchorCtr="0"/>
          <a:lstStyle/>
          <a:p>
            <a:pPr eaLnBrk="1" hangingPunct="1"/>
            <a:r>
              <a:rPr lang="en-US" altLang="zh-CN" dirty="0"/>
              <a:t>Linux/MIPS</a:t>
            </a:r>
            <a:r>
              <a:rPr lang="zh-CN" altLang="en-US" dirty="0"/>
              <a:t>虚拟地址空间安排</a:t>
            </a:r>
          </a:p>
        </p:txBody>
      </p:sp>
      <p:graphicFrame>
        <p:nvGraphicFramePr>
          <p:cNvPr id="526416" name="Group 80"/>
          <p:cNvGraphicFramePr>
            <a:graphicFrameLocks noGrp="1"/>
          </p:cNvGraphicFramePr>
          <p:nvPr/>
        </p:nvGraphicFramePr>
        <p:xfrm>
          <a:off x="3271838" y="2814003"/>
          <a:ext cx="6129626" cy="3742543"/>
        </p:xfrm>
        <a:graphic>
          <a:graphicData uri="http://schemas.openxmlformats.org/drawingml/2006/table">
            <a:tbl>
              <a:tblPr/>
              <a:tblGrid>
                <a:gridCol w="2208051"/>
                <a:gridCol w="3921575"/>
              </a:tblGrid>
              <a:tr h="943610">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0xFFFFFFFF</a:t>
                      </a: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0xC000 0000</a:t>
                      </a:r>
                      <a:endPar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anchor="b" horzOverflow="overflow">
                    <a:lnL cap="flat">
                      <a:noFill/>
                    </a:lnL>
                    <a:lnR w="12700">
                      <a:solidFill>
                        <a:schemeClr val="tx1"/>
                      </a:solidFill>
                      <a:prstDash val="soli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mapped(kseg2/3)</a:t>
                      </a:r>
                    </a:p>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内核模块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vmalloc</a:t>
                      </a:r>
                      <a:endPar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820537">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0"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0xA000 0000</a:t>
                      </a:r>
                    </a:p>
                  </a:txBody>
                  <a:tcPr marL="121904" marR="121904" anchor="b" horzOverflow="overflow">
                    <a:lnL cap="flat">
                      <a:noFill/>
                    </a:lnL>
                    <a:lnR w="12700">
                      <a:solidFill>
                        <a:schemeClr val="tx1"/>
                      </a:solidFill>
                      <a:prstDash val="solid"/>
                    </a:lnR>
                    <a:ln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Unmapped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uncached</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(kseg1)</a:t>
                      </a: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Uncached</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phy</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mem</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ROM,Register,PCI</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IO/MEM etc.</a:t>
                      </a:r>
                    </a:p>
                  </a:txBody>
                  <a:tcPr marL="121904" marR="121904"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727534">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600" b="0"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0x8000 0000</a:t>
                      </a:r>
                    </a:p>
                  </a:txBody>
                  <a:tcPr marL="121904" marR="121904" anchor="b" horzOverflow="overflow">
                    <a:lnL cap="flat">
                      <a:noFill/>
                    </a:lnL>
                    <a:lnR w="12700">
                      <a:solidFill>
                        <a:schemeClr val="tx1"/>
                      </a:solidFill>
                      <a:prstDash val="solid"/>
                    </a:lnR>
                    <a:ln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Unmapped cached(kseg0)</a:t>
                      </a: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      </a:t>
                      </a:r>
                      <a:r>
                        <a:rPr kumimoji="1" lang="zh-CN" altLang="en-US"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内核数据和代码</a:t>
                      </a:r>
                    </a:p>
                  </a:txBody>
                  <a:tcPr marL="121904" marR="121904"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r h="1249592">
                <a:tc>
                  <a:txBody>
                    <a:bodyPr/>
                    <a:lstStyle/>
                    <a:p>
                      <a:pPr marL="0" marR="0" lvl="0" indent="0" algn="r" defTabSz="914400" rtl="0" eaLnBrk="1" fontAlgn="base" latinLnBrk="0" hangingPunct="1">
                        <a:lnSpc>
                          <a:spcPct val="110000"/>
                        </a:lnSpc>
                        <a:spcBef>
                          <a:spcPct val="10000"/>
                        </a:spcBef>
                        <a:spcAft>
                          <a:spcPct val="0"/>
                        </a:spcAft>
                        <a:buClrTx/>
                        <a:buSzTx/>
                        <a:buFontTx/>
                        <a:buNone/>
                      </a:pP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a:t>
                      </a:r>
                    </a:p>
                    <a:p>
                      <a:pPr marL="0" marR="0" lvl="0" indent="0" algn="r" defTabSz="914400" rtl="0" eaLnBrk="1" fontAlgn="base" latinLnBrk="0" hangingPunct="1">
                        <a:lnSpc>
                          <a:spcPct val="110000"/>
                        </a:lnSpc>
                        <a:spcBef>
                          <a:spcPct val="10000"/>
                        </a:spcBef>
                        <a:spcAft>
                          <a:spcPct val="0"/>
                        </a:spcAft>
                        <a:buClrTx/>
                        <a:buSzTx/>
                        <a:buFontTx/>
                        <a:buNone/>
                      </a:pP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0x0000 0000</a:t>
                      </a:r>
                    </a:p>
                  </a:txBody>
                  <a:tcPr marL="121904" marR="121904" anchor="b" horzOverflow="overflow">
                    <a:lnL cap="flat">
                      <a:noFill/>
                    </a:lnL>
                    <a:lnR w="12700">
                      <a:solidFill>
                        <a:schemeClr val="tx1"/>
                      </a:solidFill>
                      <a:prstDash val="soli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32-bit user space(</a:t>
                      </a:r>
                      <a:r>
                        <a:rPr kumimoji="1" lang="en-US" altLang="zh-CN" sz="14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kuseg</a:t>
                      </a: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(2GB)</a:t>
                      </a:r>
                    </a:p>
                  </a:txBody>
                  <a:tcPr marL="121904" marR="121904" anchor="ctr" horzOverflow="overflow">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r>
            </a:tbl>
          </a:graphicData>
        </a:graphic>
      </p:graphicFrame>
      <p:sp>
        <p:nvSpPr>
          <p:cNvPr id="50199" name="内容占位符 2"/>
          <p:cNvSpPr>
            <a:spLocks noGrp="1"/>
          </p:cNvSpPr>
          <p:nvPr>
            <p:ph idx="1"/>
          </p:nvPr>
        </p:nvSpPr>
        <p:spPr>
          <a:xfrm>
            <a:off x="914400" y="1143000"/>
            <a:ext cx="10361613" cy="1335088"/>
          </a:xfrm>
        </p:spPr>
        <p:txBody>
          <a:bodyPr vert="horz" wrap="square" lIns="91440" tIns="45720" rIns="91440" bIns="45720" anchor="t" anchorCtr="0"/>
          <a:lstStyle/>
          <a:p>
            <a:pPr eaLnBrk="1" hangingPunct="1"/>
            <a:r>
              <a:rPr lang="en-US" altLang="zh-CN" dirty="0"/>
              <a:t>IO</a:t>
            </a:r>
            <a:r>
              <a:rPr lang="zh-CN" altLang="en-US" dirty="0"/>
              <a:t>空间？</a:t>
            </a:r>
            <a:endParaRPr lang="en-US" altLang="zh-CN" dirty="0"/>
          </a:p>
          <a:p>
            <a:pPr lvl="1" eaLnBrk="1" hangingPunct="1"/>
            <a:r>
              <a:rPr lang="en-US" altLang="zh-CN" dirty="0"/>
              <a:t>X86</a:t>
            </a:r>
            <a:r>
              <a:rPr lang="zh-CN" altLang="en-US" dirty="0"/>
              <a:t>规定了独立的</a:t>
            </a:r>
            <a:r>
              <a:rPr lang="en-US" altLang="zh-CN" dirty="0"/>
              <a:t>IO</a:t>
            </a:r>
            <a:r>
              <a:rPr lang="zh-CN" altLang="en-US" dirty="0"/>
              <a:t>空间，使用专门的</a:t>
            </a:r>
            <a:r>
              <a:rPr lang="en-US" altLang="zh-CN" dirty="0"/>
              <a:t>in/out</a:t>
            </a:r>
            <a:r>
              <a:rPr lang="zh-CN" altLang="en-US" dirty="0"/>
              <a:t>指令来访问</a:t>
            </a:r>
            <a:endParaRPr lang="en-US" altLang="zh-CN" dirty="0"/>
          </a:p>
          <a:p>
            <a:pPr lvl="1" eaLnBrk="1" hangingPunct="1"/>
            <a:r>
              <a:rPr lang="en-US" altLang="zh-CN" dirty="0"/>
              <a:t>MIPS/ARM</a:t>
            </a:r>
            <a:r>
              <a:rPr lang="zh-CN" altLang="en-US" dirty="0"/>
              <a:t>不区分</a:t>
            </a:r>
            <a:r>
              <a:rPr lang="en-US" altLang="zh-CN" dirty="0"/>
              <a:t>IO</a:t>
            </a:r>
            <a:r>
              <a:rPr lang="zh-CN" altLang="en-US" dirty="0"/>
              <a:t>空间和内存空间，使用同样的访存指令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63</a:t>
            </a:fld>
            <a:endParaRPr lang="en-US" altLang="zh-CN" sz="1400" dirty="0"/>
          </a:p>
        </p:txBody>
      </p:sp>
      <p:sp>
        <p:nvSpPr>
          <p:cNvPr id="54275" name="Rectangle 2"/>
          <p:cNvSpPr>
            <a:spLocks noGrp="1"/>
          </p:cNvSpPr>
          <p:nvPr>
            <p:ph type="title"/>
          </p:nvPr>
        </p:nvSpPr>
        <p:spPr>
          <a:xfrm>
            <a:off x="933450" y="314325"/>
            <a:ext cx="10361613" cy="685800"/>
          </a:xfrm>
        </p:spPr>
        <p:txBody>
          <a:bodyPr vert="horz" wrap="square" lIns="91440" tIns="45720" rIns="91440" bIns="45720" anchor="ctr" anchorCtr="0"/>
          <a:lstStyle/>
          <a:p>
            <a:pPr eaLnBrk="1" hangingPunct="1"/>
            <a:r>
              <a:rPr lang="zh-CN" altLang="en-US" dirty="0"/>
              <a:t>访存对象</a:t>
            </a:r>
          </a:p>
        </p:txBody>
      </p:sp>
      <p:sp>
        <p:nvSpPr>
          <p:cNvPr id="54276" name="Rectangle 3"/>
          <p:cNvSpPr>
            <a:spLocks noGrp="1"/>
          </p:cNvSpPr>
          <p:nvPr>
            <p:ph idx="1"/>
          </p:nvPr>
        </p:nvSpPr>
        <p:spPr>
          <a:xfrm>
            <a:off x="463550" y="1401763"/>
            <a:ext cx="11382375" cy="5118100"/>
          </a:xfrm>
        </p:spPr>
        <p:txBody>
          <a:bodyPr vert="horz" wrap="square" lIns="91440" tIns="45720" rIns="91440" bIns="45720" anchor="t" anchorCtr="0"/>
          <a:lstStyle/>
          <a:p>
            <a:pPr eaLnBrk="1" hangingPunct="1"/>
            <a:r>
              <a:rPr lang="zh-CN" altLang="en-US" dirty="0"/>
              <a:t>存储器按字节编址</a:t>
            </a:r>
          </a:p>
          <a:p>
            <a:pPr lvl="1" eaLnBrk="1" hangingPunct="1"/>
            <a:r>
              <a:rPr lang="zh-CN" altLang="en-US" dirty="0"/>
              <a:t>所有地址都是字节地址</a:t>
            </a:r>
          </a:p>
          <a:p>
            <a:pPr lvl="1" eaLnBrk="1" hangingPunct="1"/>
            <a:r>
              <a:rPr lang="zh-CN" altLang="en-US" dirty="0"/>
              <a:t>访问长度：字节、半字、字、双字</a:t>
            </a:r>
          </a:p>
          <a:p>
            <a:pPr eaLnBrk="1" hangingPunct="1"/>
            <a:r>
              <a:rPr lang="zh-CN" altLang="en-US" dirty="0"/>
              <a:t>访存地址是否对齐（ </a:t>
            </a:r>
            <a:r>
              <a:rPr lang="en-US" altLang="zh-CN" dirty="0"/>
              <a:t>Aligned vs. Misaligned </a:t>
            </a:r>
            <a:r>
              <a:rPr lang="zh-CN" altLang="en-US" dirty="0"/>
              <a:t>）</a:t>
            </a:r>
          </a:p>
          <a:p>
            <a:pPr lvl="1" eaLnBrk="1" hangingPunct="1"/>
            <a:r>
              <a:rPr lang="zh-CN" altLang="en-US" dirty="0"/>
              <a:t>地址对齐简化硬件设计：如字地址最低两位为</a:t>
            </a:r>
            <a:r>
              <a:rPr lang="en-US" altLang="zh-CN" dirty="0"/>
              <a:t>0</a:t>
            </a:r>
          </a:p>
          <a:p>
            <a:pPr lvl="1" eaLnBrk="1" hangingPunct="1"/>
            <a:r>
              <a:rPr lang="zh-CN" altLang="en-US" dirty="0"/>
              <a:t>跨数据通路边界的访问可能需要访问两次</a:t>
            </a:r>
            <a:r>
              <a:rPr lang="en-US" altLang="zh-CN" dirty="0"/>
              <a:t>RAM</a:t>
            </a:r>
            <a:r>
              <a:rPr lang="zh-CN" altLang="en-US" dirty="0"/>
              <a:t>，</a:t>
            </a:r>
            <a:r>
              <a:rPr lang="zh-CN" altLang="en-US" dirty="0">
                <a:solidFill>
                  <a:srgbClr val="FF0000"/>
                </a:solidFill>
              </a:rPr>
              <a:t>跨</a:t>
            </a:r>
            <a:r>
              <a:rPr lang="en-US" altLang="zh-CN" dirty="0">
                <a:solidFill>
                  <a:srgbClr val="FF0000"/>
                </a:solidFill>
              </a:rPr>
              <a:t>Cache</a:t>
            </a:r>
            <a:r>
              <a:rPr lang="zh-CN" altLang="en-US" dirty="0">
                <a:solidFill>
                  <a:srgbClr val="FF0000"/>
                </a:solidFill>
              </a:rPr>
              <a:t>行和跨页</a:t>
            </a:r>
            <a:endParaRPr lang="en-US" altLang="zh-CN" dirty="0">
              <a:solidFill>
                <a:srgbClr val="FF0000"/>
              </a:solidFill>
            </a:endParaRPr>
          </a:p>
          <a:p>
            <a:pPr lvl="1" eaLnBrk="1" hangingPunct="1"/>
            <a:r>
              <a:rPr lang="zh-CN" altLang="en-US" dirty="0"/>
              <a:t>如何支持不对齐访问（如串操作）</a:t>
            </a:r>
          </a:p>
          <a:p>
            <a:pPr eaLnBrk="1" hangingPunct="1"/>
            <a:r>
              <a:rPr lang="zh-CN" altLang="en-US" dirty="0"/>
              <a:t>大尾端（</a:t>
            </a:r>
            <a:r>
              <a:rPr lang="en-US" altLang="zh-CN" dirty="0"/>
              <a:t>Big Endian</a:t>
            </a:r>
            <a:r>
              <a:rPr lang="zh-CN" altLang="en-US" dirty="0"/>
              <a:t>）</a:t>
            </a:r>
            <a:r>
              <a:rPr lang="zh-CN" altLang="zh-CN" dirty="0"/>
              <a:t>和</a:t>
            </a:r>
            <a:r>
              <a:rPr lang="zh-CN" altLang="en-US" dirty="0"/>
              <a:t>小尾端（</a:t>
            </a:r>
            <a:r>
              <a:rPr lang="en-US" altLang="zh-CN" dirty="0"/>
              <a:t>Little Endian</a:t>
            </a:r>
            <a:r>
              <a:rPr lang="zh-CN" altLang="en-US" dirty="0"/>
              <a:t>）</a:t>
            </a:r>
          </a:p>
          <a:p>
            <a:pPr lvl="1" eaLnBrk="1" hangingPunct="1"/>
            <a:r>
              <a:rPr lang="en-US" altLang="zh-CN" dirty="0"/>
              <a:t>Little Endian</a:t>
            </a:r>
            <a:r>
              <a:rPr lang="zh-CN" altLang="en-US" dirty="0"/>
              <a:t>地址指向一个字的最右字节</a:t>
            </a:r>
          </a:p>
          <a:p>
            <a:pPr lvl="1" eaLnBrk="1" hangingPunct="1"/>
            <a:r>
              <a:rPr lang="en-US" altLang="zh-CN" dirty="0"/>
              <a:t>Big Endian </a:t>
            </a:r>
            <a:r>
              <a:rPr lang="zh-CN" altLang="en-US" dirty="0"/>
              <a:t>反之</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寻址方式</a:t>
            </a:r>
            <a:endParaRPr lang="zh-CN" altLang="en-US"/>
          </a:p>
        </p:txBody>
      </p:sp>
      <p:graphicFrame>
        <p:nvGraphicFramePr>
          <p:cNvPr id="4" name="内容占位符 3"/>
          <p:cNvGraphicFramePr>
            <a:graphicFrameLocks noGrp="1"/>
          </p:cNvGraphicFramePr>
          <p:nvPr>
            <p:ph idx="1"/>
          </p:nvPr>
        </p:nvGraphicFramePr>
        <p:xfrm>
          <a:off x="914400" y="1981200"/>
          <a:ext cx="10361295" cy="4191000"/>
        </p:xfrm>
        <a:graphic>
          <a:graphicData uri="http://schemas.openxmlformats.org/drawingml/2006/table">
            <a:tbl>
              <a:tblPr firstRow="1" bandRow="1">
                <a:tableStyleId>{5C22544A-7EE6-4342-B048-85BDC9FD1C3A}</a:tableStyleId>
              </a:tblPr>
              <a:tblGrid>
                <a:gridCol w="1971675"/>
                <a:gridCol w="2390140"/>
                <a:gridCol w="5999480"/>
              </a:tblGrid>
              <a:tr h="381000">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rPr>
                        <a:t>寻址方式</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anchor="ct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rPr>
                        <a:t>格式</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anchor="ct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rPr>
                        <a:t>含义</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Register</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regs[R1]=reg[R1]+reg[R2]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Immediate</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Displacement</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100(R2)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regs[R1]=reg[R1]+mem[100+reg[R2]]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Reg. Indirect</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regs[R1]=reg[R1]+mem[reg[R2]]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Indexed</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(R2+R3)</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regs[R1]=reg[R1]+mem[reg[R2]+reg[R3]]</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Absolute</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(100)</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regs[R1]=reg[R1]+mem[100]</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Mem. Indirect</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regs[R1]=reg[R1]+mem[mem[reg[R2]]]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Autoincrement</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regs[R1]=reg[R1]+mem[reg[R2]], reg[R2]=reg[R2]+d</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Autodecrement</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-(R2)</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reg[R2]=reg[R2]-d, regs[R1]=reg[R1]+mem[reg[R2]]</a:t>
                      </a:r>
                      <a:endParaRPr lang="en-US" altLang="en-US" sz="1600" b="1">
                        <a:latin typeface="宋体" panose="02000500000000000000" pitchFamily="2" charset="-122"/>
                        <a:ea typeface="宋体" panose="02000500000000000000" pitchFamily="2" charset="-122"/>
                      </a:endParaRPr>
                    </a:p>
                  </a:txBody>
                  <a:tcPr marL="68580" marR="68580" marT="0" marB="0" anchor="ctr"/>
                </a:tc>
              </a:tr>
              <a:tr h="381000">
                <a:tc>
                  <a:txBody>
                    <a:bodyPr/>
                    <a:lstStyle/>
                    <a:p>
                      <a:pPr indent="0">
                        <a:buNone/>
                      </a:pPr>
                      <a:r>
                        <a:rPr lang="en-US" sz="1600" b="1">
                          <a:latin typeface="宋体" panose="02000500000000000000" pitchFamily="2" charset="-122"/>
                          <a:ea typeface="宋体" panose="02000500000000000000" pitchFamily="2" charset="-122"/>
                        </a:rPr>
                        <a:t>Scaled</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ADD R1, 100(R2)[R3]</a:t>
                      </a:r>
                      <a:endParaRPr lang="en-US" altLang="en-US" sz="1600" b="1">
                        <a:latin typeface="宋体" panose="02000500000000000000" pitchFamily="2" charset="-122"/>
                        <a:ea typeface="宋体" panose="02000500000000000000" pitchFamily="2" charset="-122"/>
                      </a:endParaRPr>
                    </a:p>
                  </a:txBody>
                  <a:tcPr marL="68580" marR="68580" marT="0" marB="0" anchor="ctr"/>
                </a:tc>
                <a:tc>
                  <a:txBody>
                    <a:bodyPr/>
                    <a:lstStyle/>
                    <a:p>
                      <a:pPr indent="0">
                        <a:buNone/>
                      </a:pPr>
                      <a:r>
                        <a:rPr lang="en-US" sz="1600" b="1">
                          <a:latin typeface="宋体" panose="02000500000000000000" pitchFamily="2" charset="-122"/>
                          <a:ea typeface="宋体" panose="02000500000000000000" pitchFamily="2" charset="-122"/>
                        </a:rPr>
                        <a:t>regs[R1]=reg[R1]+ mem[100+reg[R2]+reg[R3]*d]</a:t>
                      </a:r>
                      <a:endParaRPr lang="en-US" altLang="en-US" sz="1600" b="1">
                        <a:latin typeface="宋体" panose="02000500000000000000" pitchFamily="2" charset="-122"/>
                        <a:ea typeface="宋体" panose="02000500000000000000" pitchFamily="2" charset="-122"/>
                      </a:endParaRPr>
                    </a:p>
                  </a:txBody>
                  <a:tcPr marL="68580" marR="68580" marT="0" marB="0" anchor="ct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65</a:t>
            </a:fld>
            <a:endParaRPr lang="en-US" altLang="zh-CN" sz="1400" dirty="0"/>
          </a:p>
        </p:txBody>
      </p:sp>
      <p:sp>
        <p:nvSpPr>
          <p:cNvPr id="67587" name="Rectangle 2"/>
          <p:cNvSpPr>
            <a:spLocks noGrp="1"/>
          </p:cNvSpPr>
          <p:nvPr>
            <p:ph type="title"/>
          </p:nvPr>
        </p:nvSpPr>
        <p:spPr>
          <a:xfrm>
            <a:off x="813012" y="265114"/>
            <a:ext cx="10361851" cy="725487"/>
          </a:xfrm>
        </p:spPr>
        <p:txBody>
          <a:bodyPr vert="horz" wrap="square" lIns="91440" tIns="45720" rIns="91440" bIns="45720" anchor="ctr" anchorCtr="0"/>
          <a:lstStyle/>
          <a:p>
            <a:pPr eaLnBrk="1" hangingPunct="1"/>
            <a:r>
              <a:rPr lang="zh-CN" altLang="en-US" dirty="0"/>
              <a:t>常用</a:t>
            </a:r>
            <a:r>
              <a:rPr lang="zh-CN" altLang="en-US" dirty="0" smtClean="0"/>
              <a:t>寻址方式及地址偏移量</a:t>
            </a:r>
            <a:endParaRPr lang="zh-CN" altLang="en-US" dirty="0"/>
          </a:p>
        </p:txBody>
      </p:sp>
      <p:pic>
        <p:nvPicPr>
          <p:cNvPr id="67589" name="Picture 5"/>
          <p:cNvPicPr>
            <a:picLocks noChangeAspect="1"/>
          </p:cNvPicPr>
          <p:nvPr/>
        </p:nvPicPr>
        <p:blipFill>
          <a:blip r:embed="rId2" cstate="print"/>
          <a:stretch>
            <a:fillRect/>
          </a:stretch>
        </p:blipFill>
        <p:spPr>
          <a:xfrm>
            <a:off x="40225" y="2645411"/>
            <a:ext cx="5789393" cy="4092575"/>
          </a:xfrm>
          <a:prstGeom prst="rect">
            <a:avLst/>
          </a:prstGeom>
          <a:noFill/>
          <a:ln w="9525">
            <a:noFill/>
          </a:ln>
        </p:spPr>
      </p:pic>
      <p:sp>
        <p:nvSpPr>
          <p:cNvPr id="67588" name="Rectangle 3"/>
          <p:cNvSpPr>
            <a:spLocks noGrp="1"/>
          </p:cNvSpPr>
          <p:nvPr>
            <p:ph idx="1"/>
          </p:nvPr>
        </p:nvSpPr>
        <p:spPr>
          <a:xfrm>
            <a:off x="571819" y="1284924"/>
            <a:ext cx="5589270" cy="1469706"/>
          </a:xfrm>
        </p:spPr>
        <p:txBody>
          <a:bodyPr vert="horz" wrap="square" lIns="91440" tIns="45720" rIns="91440" bIns="45720" anchor="t" anchorCtr="0"/>
          <a:lstStyle/>
          <a:p>
            <a:pPr eaLnBrk="1" hangingPunct="1"/>
            <a:r>
              <a:rPr lang="zh-CN" altLang="en-US" sz="1800" dirty="0"/>
              <a:t>三个程序在</a:t>
            </a:r>
            <a:r>
              <a:rPr lang="en-US" altLang="zh-CN" sz="1800" dirty="0"/>
              <a:t>VAX</a:t>
            </a:r>
            <a:r>
              <a:rPr lang="zh-CN" altLang="en-US" sz="1800" dirty="0"/>
              <a:t>机上的统计</a:t>
            </a:r>
          </a:p>
          <a:p>
            <a:pPr lvl="1" eaLnBrk="1" hangingPunct="1"/>
            <a:r>
              <a:rPr lang="zh-CN" altLang="en-US" sz="1400" dirty="0"/>
              <a:t>寄存器访问占一半，存储器访问占一半</a:t>
            </a:r>
          </a:p>
          <a:p>
            <a:pPr lvl="1" eaLnBrk="1" hangingPunct="1"/>
            <a:r>
              <a:rPr lang="zh-CN" altLang="en-US" sz="1400" dirty="0"/>
              <a:t>简单寻址方式占存储器访问的的</a:t>
            </a:r>
            <a:r>
              <a:rPr lang="en-US" altLang="zh-CN" sz="1400" dirty="0"/>
              <a:t>97%</a:t>
            </a:r>
          </a:p>
        </p:txBody>
      </p:sp>
      <p:sp>
        <p:nvSpPr>
          <p:cNvPr id="6" name="灯片编号占位符 3"/>
          <p:cNvSpPr txBox="1"/>
          <p:nvPr/>
        </p:nvSpPr>
        <p:spPr>
          <a:xfrm>
            <a:off x="8736781" y="6248400"/>
            <a:ext cx="2539669" cy="457200"/>
          </a:xfrm>
          <a:prstGeom prst="rect">
            <a:avLst/>
          </a:prstGeom>
          <a:noFill/>
          <a:ln w="9525">
            <a:noFill/>
            <a:miter/>
          </a:ln>
        </p:spPr>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marL="0" marR="0" lvl="0" indent="0" algn="r" defTabSz="914400" rtl="0" eaLnBrk="1" fontAlgn="base" latinLnBrk="0" hangingPunct="1">
              <a:lnSpc>
                <a:spcPct val="100000"/>
              </a:lnSpc>
              <a:spcBef>
                <a:spcPct val="0"/>
              </a:spcBef>
              <a:spcAft>
                <a:spcPct val="0"/>
              </a:spcAft>
              <a:buClrTx/>
              <a:buSzTx/>
              <a:buFont typeface="Arial" panose="02080604020202020204" pitchFamily="34" charset="0"/>
              <a:buNone/>
              <a:defRPr/>
            </a:pPr>
            <a:fld id="{9A0DB2DC-4C9A-4742-B13C-FB6460FD3503}" type="slidenum">
              <a:rPr kumimoji="0" lang="en-US" altLang="zh-CN" sz="14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pPr marL="0" marR="0" lvl="0" indent="0" algn="r" defTabSz="914400" rtl="0" eaLnBrk="1" fontAlgn="base" latinLnBrk="0" hangingPunct="1">
                <a:lnSpc>
                  <a:spcPct val="100000"/>
                </a:lnSpc>
                <a:spcBef>
                  <a:spcPct val="0"/>
                </a:spcBef>
                <a:spcAft>
                  <a:spcPct val="0"/>
                </a:spcAft>
                <a:buClrTx/>
                <a:buSzTx/>
                <a:buFont typeface="Arial" panose="02080604020202020204" pitchFamily="34" charset="0"/>
                <a:buNone/>
                <a:defRPr/>
              </a:pPr>
              <a:t>65</a:t>
            </a:fld>
            <a:endParaRPr kumimoji="0" lang="en-US" altLang="zh-CN" sz="1400" b="0" i="0" u="none" strike="noStrike" kern="1200" cap="none" spc="0" normalizeH="0" baseline="0" noProof="0" dirty="0">
              <a:ln>
                <a:noFill/>
              </a:ln>
              <a:solidFill>
                <a:schemeClr val="tx1"/>
              </a:solidFill>
              <a:effectLst/>
              <a:uLnTx/>
              <a:uFillTx/>
              <a:latin typeface="Times New Roman" pitchFamily="18" charset="0"/>
              <a:ea typeface="宋体" panose="02000500000000000000" pitchFamily="2" charset="-122"/>
              <a:cs typeface="+mn-cs"/>
            </a:endParaRPr>
          </a:p>
        </p:txBody>
      </p:sp>
      <p:pic>
        <p:nvPicPr>
          <p:cNvPr id="7" name="Picture 4"/>
          <p:cNvPicPr>
            <a:picLocks noChangeAspect="1"/>
          </p:cNvPicPr>
          <p:nvPr/>
        </p:nvPicPr>
        <p:blipFill>
          <a:blip r:embed="rId3" cstate="print"/>
          <a:stretch>
            <a:fillRect/>
          </a:stretch>
        </p:blipFill>
        <p:spPr>
          <a:xfrm>
            <a:off x="6218239" y="2542400"/>
            <a:ext cx="5783580" cy="4169316"/>
          </a:xfrm>
          <a:prstGeom prst="rect">
            <a:avLst/>
          </a:prstGeom>
          <a:noFill/>
          <a:ln w="9525">
            <a:noFill/>
          </a:ln>
        </p:spPr>
      </p:pic>
      <p:sp>
        <p:nvSpPr>
          <p:cNvPr id="8" name="Rectangle 9"/>
          <p:cNvSpPr/>
          <p:nvPr/>
        </p:nvSpPr>
        <p:spPr>
          <a:xfrm>
            <a:off x="6241098" y="1291590"/>
            <a:ext cx="5949633" cy="1323024"/>
          </a:xfrm>
          <a:prstGeom prst="rect">
            <a:avLst/>
          </a:prstGeom>
          <a:noFill/>
          <a:ln w="9525">
            <a:noFill/>
            <a:miter/>
          </a:ln>
        </p:spPr>
        <p:txBody>
          <a:bodyPr/>
          <a:lstStyle/>
          <a:p>
            <a:pPr marL="342900" marR="0" lvl="0" indent="-34290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en-US" altLang="zh-CN" b="1" i="0" u="none" strike="noStrike" kern="1200" cap="none" spc="0" normalizeH="0" baseline="0" noProof="1">
                <a:ln>
                  <a:noFill/>
                </a:ln>
                <a:solidFill>
                  <a:srgbClr val="000000"/>
                </a:solidFill>
                <a:effectLst/>
                <a:uLnTx/>
                <a:uFillTx/>
                <a:latin typeface="+mn-ea"/>
                <a:ea typeface="+mn-ea"/>
                <a:cs typeface="+mn-ea"/>
              </a:rPr>
              <a:t>SPEC CPU2000</a:t>
            </a:r>
            <a:r>
              <a:rPr kumimoji="0" lang="zh-CN" altLang="en-US" b="1" i="0" u="none" strike="noStrike" kern="1200" cap="none" spc="0" normalizeH="0" baseline="0" noProof="1">
                <a:ln>
                  <a:noFill/>
                </a:ln>
                <a:solidFill>
                  <a:srgbClr val="000000"/>
                </a:solidFill>
                <a:effectLst/>
                <a:uLnTx/>
                <a:uFillTx/>
                <a:latin typeface="+mn-ea"/>
                <a:ea typeface="+mn-ea"/>
                <a:cs typeface="+mn-ea"/>
              </a:rPr>
              <a:t>在</a:t>
            </a:r>
            <a:r>
              <a:rPr kumimoji="0" lang="en-US" altLang="zh-CN" b="1" i="0" u="none" strike="noStrike" kern="1200" cap="none" spc="0" normalizeH="0" baseline="0" noProof="1" smtClean="0">
                <a:ln>
                  <a:noFill/>
                </a:ln>
                <a:solidFill>
                  <a:srgbClr val="000000"/>
                </a:solidFill>
                <a:effectLst/>
                <a:uLnTx/>
                <a:uFillTx/>
                <a:latin typeface="+mn-ea"/>
                <a:ea typeface="+mn-ea"/>
                <a:cs typeface="+mn-ea"/>
              </a:rPr>
              <a:t>Alpha</a:t>
            </a:r>
            <a:r>
              <a:rPr kumimoji="0" lang="zh-CN" altLang="en-US" b="1" i="0" u="none" strike="noStrike" kern="1200" cap="none" spc="0" normalizeH="0" baseline="0" noProof="1" smtClean="0">
                <a:ln>
                  <a:noFill/>
                </a:ln>
                <a:solidFill>
                  <a:srgbClr val="000000"/>
                </a:solidFill>
                <a:effectLst/>
                <a:uLnTx/>
                <a:uFillTx/>
                <a:latin typeface="+mn-ea"/>
                <a:ea typeface="+mn-ea"/>
                <a:cs typeface="+mn-ea"/>
              </a:rPr>
              <a:t>（</a:t>
            </a:r>
            <a:r>
              <a:rPr kumimoji="0" lang="zh-CN" altLang="en-US" b="1" i="0" u="none" strike="noStrike" kern="1200" cap="none" spc="0" normalizeH="0" baseline="0" noProof="1">
                <a:ln>
                  <a:noFill/>
                </a:ln>
                <a:solidFill>
                  <a:srgbClr val="000000"/>
                </a:solidFill>
                <a:effectLst/>
                <a:uLnTx/>
                <a:uFillTx/>
                <a:latin typeface="+mn-ea"/>
                <a:ea typeface="+mn-ea"/>
                <a:cs typeface="+mn-ea"/>
              </a:rPr>
              <a:t>最大偏移为</a:t>
            </a:r>
            <a:r>
              <a:rPr kumimoji="0" lang="en-US" altLang="zh-CN" b="1" i="0" u="none" strike="noStrike" kern="1200" cap="none" spc="0" normalizeH="0" baseline="0" noProof="1">
                <a:ln>
                  <a:noFill/>
                </a:ln>
                <a:solidFill>
                  <a:srgbClr val="000000"/>
                </a:solidFill>
                <a:effectLst/>
                <a:uLnTx/>
                <a:uFillTx/>
                <a:latin typeface="+mn-ea"/>
                <a:ea typeface="+mn-ea"/>
                <a:cs typeface="+mn-ea"/>
              </a:rPr>
              <a:t>16</a:t>
            </a:r>
            <a:r>
              <a:rPr kumimoji="0" lang="zh-CN" altLang="en-US" b="1" i="0" u="none" strike="noStrike" kern="1200" cap="none" spc="0" normalizeH="0" baseline="0" noProof="1">
                <a:ln>
                  <a:noFill/>
                </a:ln>
                <a:solidFill>
                  <a:srgbClr val="000000"/>
                </a:solidFill>
                <a:effectLst/>
                <a:uLnTx/>
                <a:uFillTx/>
                <a:latin typeface="+mn-ea"/>
                <a:ea typeface="+mn-ea"/>
                <a:cs typeface="+mn-ea"/>
              </a:rPr>
              <a:t>位）上的统计</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1400" b="1" i="0" u="none" strike="noStrike" kern="1200" cap="none" spc="0" normalizeH="0" baseline="0" noProof="1">
                <a:ln>
                  <a:noFill/>
                </a:ln>
                <a:solidFill>
                  <a:srgbClr val="000000"/>
                </a:solidFill>
                <a:effectLst/>
                <a:uLnTx/>
                <a:uFillTx/>
                <a:latin typeface="+mn-ea"/>
                <a:ea typeface="+mn-ea"/>
                <a:cs typeface="+mn-ea"/>
              </a:rPr>
              <a:t>小偏移和大偏移较多，大偏移（</a:t>
            </a:r>
            <a:r>
              <a:rPr kumimoji="0" lang="en-US" altLang="zh-CN" sz="1400" b="1" i="0" u="none" strike="noStrike" kern="1200" cap="none" spc="0" normalizeH="0" baseline="0" noProof="1">
                <a:ln>
                  <a:noFill/>
                </a:ln>
                <a:solidFill>
                  <a:srgbClr val="000000"/>
                </a:solidFill>
                <a:effectLst/>
                <a:uLnTx/>
                <a:uFillTx/>
                <a:latin typeface="+mn-ea"/>
                <a:ea typeface="+mn-ea"/>
                <a:cs typeface="+mn-ea"/>
              </a:rPr>
              <a:t>14</a:t>
            </a:r>
            <a:r>
              <a:rPr kumimoji="0" lang="zh-CN" altLang="en-US" sz="1400" b="1" i="0" u="none" strike="noStrike" kern="1200" cap="none" spc="0" normalizeH="0" baseline="0" noProof="1">
                <a:ln>
                  <a:noFill/>
                </a:ln>
                <a:solidFill>
                  <a:srgbClr val="000000"/>
                </a:solidFill>
                <a:effectLst/>
                <a:uLnTx/>
                <a:uFillTx/>
                <a:latin typeface="+mn-ea"/>
                <a:ea typeface="+mn-ea"/>
                <a:cs typeface="+mn-ea"/>
              </a:rPr>
              <a:t>位以上）</a:t>
            </a:r>
            <a:r>
              <a:rPr kumimoji="0" lang="zh-CN" altLang="en-US" sz="1400" b="1" i="0" u="none" strike="noStrike" kern="1200" cap="none" spc="0" normalizeH="0" baseline="0" noProof="1" smtClean="0">
                <a:ln>
                  <a:noFill/>
                </a:ln>
                <a:solidFill>
                  <a:srgbClr val="000000"/>
                </a:solidFill>
                <a:effectLst/>
                <a:uLnTx/>
                <a:uFillTx/>
                <a:latin typeface="+mn-ea"/>
                <a:ea typeface="+mn-ea"/>
                <a:cs typeface="+mn-ea"/>
              </a:rPr>
              <a:t>多为</a:t>
            </a:r>
            <a:r>
              <a:rPr kumimoji="0" lang="zh-CN" altLang="en-US" sz="1400" b="1" i="0" u="none" strike="noStrike" kern="1200" cap="none" spc="0" normalizeH="0" baseline="0" noProof="1">
                <a:ln>
                  <a:noFill/>
                </a:ln>
                <a:solidFill>
                  <a:srgbClr val="000000"/>
                </a:solidFill>
                <a:effectLst/>
                <a:uLnTx/>
                <a:uFillTx/>
                <a:latin typeface="+mn-ea"/>
                <a:ea typeface="+mn-ea"/>
                <a:cs typeface="+mn-ea"/>
              </a:rPr>
              <a:t>负数</a:t>
            </a:r>
          </a:p>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1400" b="1" i="0" u="none" strike="noStrike" kern="1200" cap="none" spc="0" normalizeH="0" baseline="0" noProof="1">
                <a:ln>
                  <a:noFill/>
                </a:ln>
                <a:solidFill>
                  <a:srgbClr val="000000"/>
                </a:solidFill>
                <a:effectLst/>
                <a:uLnTx/>
                <a:uFillTx/>
                <a:latin typeface="+mn-ea"/>
                <a:ea typeface="+mn-ea"/>
                <a:cs typeface="+mn-ea"/>
              </a:rPr>
              <a:t>跟数据在内存中的分布有关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down)">
                                      <p:cBhvr>
                                        <p:cTn id="7" dur="500"/>
                                        <p:tgtEl>
                                          <p:spTgt spid="6758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6"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66</a:t>
            </a:fld>
            <a:endParaRPr lang="en-US" altLang="zh-CN" sz="1400" dirty="0"/>
          </a:p>
        </p:txBody>
      </p:sp>
      <p:sp>
        <p:nvSpPr>
          <p:cNvPr id="59395" name="Rectangle 2"/>
          <p:cNvSpPr>
            <a:spLocks noGrp="1"/>
          </p:cNvSpPr>
          <p:nvPr>
            <p:ph type="title"/>
          </p:nvPr>
        </p:nvSpPr>
        <p:spPr>
          <a:xfrm>
            <a:off x="914400" y="0"/>
            <a:ext cx="10361613" cy="1133475"/>
          </a:xfrm>
        </p:spPr>
        <p:txBody>
          <a:bodyPr vert="horz" wrap="square" lIns="91440" tIns="45720" rIns="91440" bIns="45720" anchor="ctr" anchorCtr="0"/>
          <a:lstStyle/>
          <a:p>
            <a:pPr eaLnBrk="1" hangingPunct="1"/>
            <a:r>
              <a:rPr lang="zh-CN" altLang="en-US" dirty="0"/>
              <a:t>寻址方式小结</a:t>
            </a:r>
          </a:p>
        </p:txBody>
      </p:sp>
      <p:sp>
        <p:nvSpPr>
          <p:cNvPr id="59396" name="Rectangle 3"/>
          <p:cNvSpPr>
            <a:spLocks noGrp="1"/>
          </p:cNvSpPr>
          <p:nvPr>
            <p:ph idx="1"/>
          </p:nvPr>
        </p:nvSpPr>
        <p:spPr>
          <a:xfrm>
            <a:off x="914400" y="1487488"/>
            <a:ext cx="10361613" cy="4752975"/>
          </a:xfrm>
        </p:spPr>
        <p:txBody>
          <a:bodyPr vert="horz" wrap="square" lIns="91440" tIns="45720" rIns="91440" bIns="45720" anchor="t" anchorCtr="0"/>
          <a:lstStyle/>
          <a:p>
            <a:pPr eaLnBrk="1" hangingPunct="1"/>
            <a:r>
              <a:rPr lang="zh-CN" altLang="en-US" dirty="0"/>
              <a:t>至少支持以下寻址方式</a:t>
            </a:r>
          </a:p>
          <a:p>
            <a:pPr lvl="1" eaLnBrk="1" hangingPunct="1"/>
            <a:r>
              <a:rPr lang="en-US" altLang="zh-CN" dirty="0"/>
              <a:t>Register</a:t>
            </a:r>
          </a:p>
          <a:p>
            <a:pPr lvl="1" eaLnBrk="1" hangingPunct="1"/>
            <a:r>
              <a:rPr lang="en-US" altLang="zh-CN" dirty="0"/>
              <a:t>Immediate</a:t>
            </a:r>
          </a:p>
          <a:p>
            <a:pPr lvl="1" eaLnBrk="1" hangingPunct="1"/>
            <a:r>
              <a:rPr lang="en-US" altLang="zh-CN" dirty="0"/>
              <a:t>Displacement</a:t>
            </a:r>
          </a:p>
          <a:p>
            <a:pPr lvl="1" eaLnBrk="1" hangingPunct="1"/>
            <a:r>
              <a:rPr lang="en-US" altLang="zh-CN" dirty="0"/>
              <a:t>Register indirect</a:t>
            </a:r>
            <a:endParaRPr lang="zh-CN" altLang="zh-CN" dirty="0"/>
          </a:p>
          <a:p>
            <a:pPr eaLnBrk="1" hangingPunct="1"/>
            <a:r>
              <a:rPr lang="zh-CN" altLang="en-US" dirty="0"/>
              <a:t>指令中常数位数</a:t>
            </a:r>
          </a:p>
          <a:p>
            <a:pPr lvl="1" eaLnBrk="1" hangingPunct="1"/>
            <a:r>
              <a:rPr lang="zh-CN" altLang="zh-CN" dirty="0"/>
              <a:t>地址偏移量位数12-16位</a:t>
            </a:r>
          </a:p>
          <a:p>
            <a:pPr lvl="1" eaLnBrk="1" hangingPunct="1"/>
            <a:r>
              <a:rPr lang="zh-CN" altLang="zh-CN" dirty="0"/>
              <a:t>立即数位数8-16位</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67</a:t>
            </a:fld>
            <a:endParaRPr lang="en-US" altLang="zh-CN" sz="1400" dirty="0"/>
          </a:p>
        </p:txBody>
      </p:sp>
      <p:sp>
        <p:nvSpPr>
          <p:cNvPr id="60419" name="Rectangle 2"/>
          <p:cNvSpPr>
            <a:spLocks noGrp="1"/>
          </p:cNvSpPr>
          <p:nvPr>
            <p:ph type="title"/>
          </p:nvPr>
        </p:nvSpPr>
        <p:spPr>
          <a:xfrm>
            <a:off x="812800" y="231775"/>
            <a:ext cx="10361613" cy="685800"/>
          </a:xfrm>
        </p:spPr>
        <p:txBody>
          <a:bodyPr vert="horz" wrap="square" lIns="91440" tIns="45720" rIns="91440" bIns="45720" anchor="ctr" anchorCtr="0"/>
          <a:lstStyle/>
          <a:p>
            <a:pPr eaLnBrk="1" hangingPunct="1"/>
            <a:r>
              <a:rPr lang="zh-CN" altLang="en-US" dirty="0"/>
              <a:t>从上述分析可以看出</a:t>
            </a:r>
          </a:p>
        </p:txBody>
      </p:sp>
      <p:sp>
        <p:nvSpPr>
          <p:cNvPr id="60420" name="Rectangle 3"/>
          <p:cNvSpPr>
            <a:spLocks noGrp="1"/>
          </p:cNvSpPr>
          <p:nvPr>
            <p:ph idx="1"/>
          </p:nvPr>
        </p:nvSpPr>
        <p:spPr>
          <a:xfrm>
            <a:off x="406400" y="900113"/>
            <a:ext cx="11276013" cy="5653087"/>
          </a:xfrm>
        </p:spPr>
        <p:txBody>
          <a:bodyPr vert="horz" wrap="square" lIns="91440" tIns="45720" rIns="91440" bIns="45720" anchor="t" anchorCtr="0"/>
          <a:lstStyle/>
          <a:p>
            <a:pPr eaLnBrk="1" hangingPunct="1"/>
            <a:r>
              <a:rPr lang="zh-CN" altLang="en-US" dirty="0"/>
              <a:t>简单操作和简单寻址方式用得最多</a:t>
            </a:r>
          </a:p>
          <a:p>
            <a:pPr lvl="1" eaLnBrk="1" hangingPunct="1"/>
            <a:r>
              <a:rPr lang="en-US" altLang="zh-CN" dirty="0"/>
              <a:t>10</a:t>
            </a:r>
            <a:r>
              <a:rPr lang="zh-CN" altLang="en-US" dirty="0"/>
              <a:t>种简单操作指令占</a:t>
            </a:r>
            <a:r>
              <a:rPr lang="en-US" altLang="zh-CN" dirty="0"/>
              <a:t>96%</a:t>
            </a:r>
          </a:p>
          <a:p>
            <a:pPr lvl="1" eaLnBrk="1" hangingPunct="1"/>
            <a:r>
              <a:rPr lang="zh-CN" altLang="en-US" dirty="0"/>
              <a:t>寄存器</a:t>
            </a:r>
            <a:r>
              <a:rPr lang="en-US" altLang="zh-CN" dirty="0"/>
              <a:t>, </a:t>
            </a:r>
            <a:r>
              <a:rPr lang="zh-CN" altLang="en-US" dirty="0"/>
              <a:t>立即数</a:t>
            </a:r>
            <a:r>
              <a:rPr lang="en-US" altLang="zh-CN" dirty="0"/>
              <a:t>, </a:t>
            </a:r>
            <a:r>
              <a:rPr lang="zh-CN" altLang="en-US" dirty="0"/>
              <a:t>偏移寻址</a:t>
            </a:r>
            <a:r>
              <a:rPr lang="en-US" altLang="zh-CN" dirty="0"/>
              <a:t>, </a:t>
            </a:r>
            <a:r>
              <a:rPr lang="zh-CN" altLang="en-US" dirty="0"/>
              <a:t>寄存器间接寻址</a:t>
            </a:r>
            <a:r>
              <a:rPr lang="zh-CN" altLang="zh-CN" dirty="0"/>
              <a:t>四种寻址方式</a:t>
            </a:r>
            <a:endParaRPr lang="zh-CN" altLang="en-US" dirty="0"/>
          </a:p>
          <a:p>
            <a:pPr eaLnBrk="1" hangingPunct="1"/>
            <a:r>
              <a:rPr lang="zh-CN" altLang="en-US" dirty="0"/>
              <a:t>简单指令便于高效实现和使用</a:t>
            </a:r>
          </a:p>
          <a:p>
            <a:pPr lvl="1" eaLnBrk="1" hangingPunct="1"/>
            <a:r>
              <a:rPr lang="en-US" altLang="zh-CN" dirty="0"/>
              <a:t>load-store</a:t>
            </a:r>
            <a:r>
              <a:rPr lang="zh-CN" altLang="en-US" dirty="0"/>
              <a:t>结构简化硬件设计，提高主频</a:t>
            </a:r>
          </a:p>
          <a:p>
            <a:pPr lvl="1" eaLnBrk="1" hangingPunct="1"/>
            <a:r>
              <a:rPr lang="zh-CN" altLang="en-US" dirty="0"/>
              <a:t>定长简化译码</a:t>
            </a:r>
          </a:p>
          <a:p>
            <a:pPr lvl="1" eaLnBrk="1" hangingPunct="1"/>
            <a:r>
              <a:rPr lang="zh-CN" altLang="en-US" dirty="0"/>
              <a:t>符合编译器“常用的做得快，少用的只要对”的原则</a:t>
            </a:r>
          </a:p>
          <a:p>
            <a:pPr eaLnBrk="1" hangingPunct="1"/>
            <a:r>
              <a:rPr lang="zh-CN" altLang="en-US" dirty="0"/>
              <a:t>硬件优化应充分考虑兼容性</a:t>
            </a:r>
          </a:p>
          <a:p>
            <a:pPr lvl="1" eaLnBrk="1" hangingPunct="1"/>
            <a:r>
              <a:rPr lang="zh-CN" altLang="en-US" dirty="0"/>
              <a:t>流水、多发射不改变指令系统</a:t>
            </a:r>
          </a:p>
          <a:p>
            <a:pPr lvl="1" eaLnBrk="1" hangingPunct="1"/>
            <a:r>
              <a:rPr lang="zh-CN" altLang="en-US" dirty="0"/>
              <a:t>流水、多发射技术在</a:t>
            </a:r>
            <a:r>
              <a:rPr lang="en-US" altLang="zh-CN" dirty="0"/>
              <a:t>load-store</a:t>
            </a:r>
            <a:r>
              <a:rPr lang="zh-CN" altLang="en-US" dirty="0"/>
              <a:t>指令系统上容易实现</a:t>
            </a:r>
          </a:p>
          <a:p>
            <a:pPr eaLnBrk="1" hangingPunct="1"/>
            <a:r>
              <a:rPr lang="zh-CN" altLang="en-US" dirty="0"/>
              <a:t>上述原因呼唤</a:t>
            </a:r>
            <a:r>
              <a:rPr lang="en-US" altLang="zh-CN" dirty="0"/>
              <a:t>RISC</a:t>
            </a:r>
            <a:r>
              <a:rPr lang="zh-CN" altLang="en-US" dirty="0"/>
              <a:t>系统结构</a:t>
            </a:r>
          </a:p>
          <a:p>
            <a:pPr lvl="1" eaLnBrk="1" hangingPunct="1"/>
            <a:r>
              <a:rPr lang="zh-CN" altLang="en-US" dirty="0">
                <a:solidFill>
                  <a:schemeClr val="accent2"/>
                </a:solidFill>
              </a:rPr>
              <a:t>简单是最复杂的创新</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68</a:t>
            </a:fld>
            <a:endParaRPr lang="en-US" altLang="zh-CN" sz="1400" dirty="0"/>
          </a:p>
        </p:txBody>
      </p:sp>
      <p:sp>
        <p:nvSpPr>
          <p:cNvPr id="61443" name="Rectangle 2"/>
          <p:cNvSpPr>
            <a:spLocks noGrp="1"/>
          </p:cNvSpPr>
          <p:nvPr>
            <p:ph type="title"/>
          </p:nvPr>
        </p:nvSpPr>
        <p:spPr>
          <a:xfrm>
            <a:off x="914400" y="609600"/>
            <a:ext cx="10361613" cy="762000"/>
          </a:xfrm>
        </p:spPr>
        <p:txBody>
          <a:bodyPr vert="horz" wrap="square" lIns="91440" tIns="45720" rIns="91440" bIns="45720" anchor="ctr" anchorCtr="0"/>
          <a:lstStyle/>
          <a:p>
            <a:pPr eaLnBrk="1" hangingPunct="1"/>
            <a:r>
              <a:rPr lang="zh-CN" altLang="en-US" dirty="0"/>
              <a:t>一个“典型”的</a:t>
            </a:r>
            <a:r>
              <a:rPr lang="en-US" altLang="zh-CN" dirty="0"/>
              <a:t>RISC</a:t>
            </a:r>
          </a:p>
        </p:txBody>
      </p:sp>
      <p:sp>
        <p:nvSpPr>
          <p:cNvPr id="61444" name="Rectangle 3"/>
          <p:cNvSpPr>
            <a:spLocks noGrp="1"/>
          </p:cNvSpPr>
          <p:nvPr>
            <p:ph idx="1"/>
          </p:nvPr>
        </p:nvSpPr>
        <p:spPr/>
        <p:txBody>
          <a:bodyPr vert="horz" wrap="square" lIns="91440" tIns="45720" rIns="91440" bIns="45720" anchor="t" anchorCtr="0"/>
          <a:lstStyle/>
          <a:p>
            <a:pPr eaLnBrk="1" hangingPunct="1"/>
            <a:r>
              <a:rPr lang="en-US" altLang="zh-CN" dirty="0"/>
              <a:t>32</a:t>
            </a:r>
            <a:r>
              <a:rPr lang="zh-CN" altLang="en-US" dirty="0"/>
              <a:t>位定长指令</a:t>
            </a:r>
          </a:p>
          <a:p>
            <a:pPr eaLnBrk="1" hangingPunct="1"/>
            <a:r>
              <a:rPr lang="en-US" altLang="zh-CN" dirty="0"/>
              <a:t>32</a:t>
            </a:r>
            <a:r>
              <a:rPr lang="zh-CN" altLang="en-US" dirty="0"/>
              <a:t>个</a:t>
            </a:r>
            <a:r>
              <a:rPr lang="en-US" altLang="zh-CN" dirty="0"/>
              <a:t>64</a:t>
            </a:r>
            <a:r>
              <a:rPr lang="zh-CN" altLang="en-US" dirty="0"/>
              <a:t>位通用寄存器</a:t>
            </a:r>
          </a:p>
          <a:p>
            <a:pPr eaLnBrk="1" hangingPunct="1"/>
            <a:r>
              <a:rPr lang="zh-CN" altLang="en-US" dirty="0"/>
              <a:t>三寄存器操作数运算指令</a:t>
            </a:r>
          </a:p>
          <a:p>
            <a:pPr eaLnBrk="1" hangingPunct="1"/>
            <a:r>
              <a:rPr lang="en-US" altLang="zh-CN" dirty="0"/>
              <a:t>Load-Store</a:t>
            </a:r>
            <a:r>
              <a:rPr lang="zh-CN" altLang="zh-CN" dirty="0"/>
              <a:t>指令，基址+偏移量寻址方式</a:t>
            </a:r>
          </a:p>
          <a:p>
            <a:pPr eaLnBrk="1" hangingPunct="1"/>
            <a:r>
              <a:rPr lang="zh-CN" altLang="zh-CN" dirty="0"/>
              <a:t>简单转移条件</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69</a:t>
            </a:fld>
            <a:endParaRPr lang="en-US" altLang="zh-CN" sz="1400" dirty="0"/>
          </a:p>
        </p:txBody>
      </p:sp>
      <p:sp>
        <p:nvSpPr>
          <p:cNvPr id="74755" name="Rectangle 2"/>
          <p:cNvSpPr>
            <a:spLocks noGrp="1"/>
          </p:cNvSpPr>
          <p:nvPr>
            <p:ph type="title"/>
          </p:nvPr>
        </p:nvSpPr>
        <p:spPr>
          <a:xfrm>
            <a:off x="836613" y="134938"/>
            <a:ext cx="10361612" cy="609600"/>
          </a:xfrm>
        </p:spPr>
        <p:txBody>
          <a:bodyPr vert="horz" wrap="square" lIns="91440" tIns="45720" rIns="91440" bIns="45720" anchor="ctr" anchorCtr="0"/>
          <a:lstStyle/>
          <a:p>
            <a:pPr eaLnBrk="1" hangingPunct="1"/>
            <a:r>
              <a:rPr lang="en-US" altLang="zh-CN" dirty="0"/>
              <a:t>LoongArch/MIPS</a:t>
            </a:r>
            <a:r>
              <a:rPr lang="zh-CN" altLang="zh-CN" dirty="0"/>
              <a:t>指令格式</a:t>
            </a:r>
            <a:endParaRPr lang="zh-CN" altLang="en-US" dirty="0"/>
          </a:p>
        </p:txBody>
      </p:sp>
      <p:pic>
        <p:nvPicPr>
          <p:cNvPr id="74756" name="图片 1"/>
          <p:cNvPicPr>
            <a:picLocks noChangeAspect="1"/>
          </p:cNvPicPr>
          <p:nvPr/>
        </p:nvPicPr>
        <p:blipFill>
          <a:blip r:embed="rId2" cstate="print"/>
          <a:stretch>
            <a:fillRect/>
          </a:stretch>
        </p:blipFill>
        <p:spPr>
          <a:xfrm>
            <a:off x="1884363" y="914400"/>
            <a:ext cx="8489950" cy="3448050"/>
          </a:xfrm>
          <a:prstGeom prst="rect">
            <a:avLst/>
          </a:prstGeom>
          <a:noFill/>
          <a:ln w="9525">
            <a:noFill/>
          </a:ln>
        </p:spPr>
      </p:pic>
      <p:grpSp>
        <p:nvGrpSpPr>
          <p:cNvPr id="2" name="组合 7"/>
          <p:cNvGrpSpPr/>
          <p:nvPr/>
        </p:nvGrpSpPr>
        <p:grpSpPr>
          <a:xfrm>
            <a:off x="1644650" y="4778375"/>
            <a:ext cx="8755063" cy="1673225"/>
            <a:chOff x="1233182" y="4778928"/>
            <a:chExt cx="6568580" cy="1672206"/>
          </a:xfrm>
        </p:grpSpPr>
        <p:sp>
          <p:nvSpPr>
            <p:cNvPr id="5" name="Rectangle 2"/>
            <p:cNvSpPr txBox="1">
              <a:spLocks noChangeArrowheads="1"/>
            </p:cNvSpPr>
            <p:nvPr/>
          </p:nvSpPr>
          <p:spPr bwMode="auto">
            <a:xfrm>
              <a:off x="1325272" y="4778928"/>
              <a:ext cx="6425681" cy="609229"/>
            </a:xfrm>
            <a:prstGeom prst="rect">
              <a:avLst/>
            </a:prstGeom>
            <a:noFill/>
            <a:ln w="9525">
              <a:noFill/>
              <a:miter lim="800000"/>
            </a:ln>
          </p:spPr>
          <p:txBody>
            <a:bodyPr anchor="ctr"/>
            <a:lstStyle/>
            <a:p>
              <a:pPr marR="0" algn="ctr" defTabSz="914400">
                <a:buClrTx/>
                <a:buSzTx/>
                <a:buFontTx/>
                <a:buNone/>
                <a:defRPr/>
              </a:pPr>
              <a:r>
                <a:rPr kumimoji="0" lang="zh-CN" altLang="en-US" sz="3200" kern="0" cap="none" spc="0" normalizeH="0" baseline="0" noProof="0" dirty="0">
                  <a:solidFill>
                    <a:srgbClr val="FF3300"/>
                  </a:solidFill>
                  <a:latin typeface="+mj-lt"/>
                  <a:ea typeface="+mj-ea"/>
                  <a:cs typeface="+mj-cs"/>
                </a:rPr>
                <a:t>比较：</a:t>
              </a:r>
              <a:r>
                <a:rPr kumimoji="0" lang="en-US" altLang="zh-CN" sz="3200" kern="0" cap="none" spc="0" normalizeH="0" baseline="0" noProof="0" dirty="0">
                  <a:solidFill>
                    <a:srgbClr val="FF3300"/>
                  </a:solidFill>
                  <a:latin typeface="+mj-lt"/>
                  <a:ea typeface="+mj-ea"/>
                  <a:cs typeface="+mj-cs"/>
                </a:rPr>
                <a:t>MIPS</a:t>
              </a:r>
              <a:r>
                <a:rPr kumimoji="0" lang="zh-CN" altLang="zh-CN" sz="3200" kern="0" cap="none" spc="0" normalizeH="0" baseline="0" noProof="0" dirty="0">
                  <a:solidFill>
                    <a:srgbClr val="FF3300"/>
                  </a:solidFill>
                  <a:latin typeface="+mj-lt"/>
                  <a:ea typeface="+mj-ea"/>
                  <a:cs typeface="+mj-cs"/>
                </a:rPr>
                <a:t>指令格式</a:t>
              </a:r>
              <a:endParaRPr kumimoji="0" lang="zh-CN" altLang="en-US" sz="3200" kern="0" cap="none" spc="0" normalizeH="0" baseline="0" noProof="0" dirty="0">
                <a:solidFill>
                  <a:srgbClr val="FF3300"/>
                </a:solidFill>
                <a:latin typeface="+mj-lt"/>
                <a:ea typeface="+mj-ea"/>
                <a:cs typeface="+mj-cs"/>
              </a:endParaRPr>
            </a:p>
          </p:txBody>
        </p:sp>
        <p:pic>
          <p:nvPicPr>
            <p:cNvPr id="74759" name="Picture 5"/>
            <p:cNvPicPr>
              <a:picLocks noChangeAspect="1"/>
            </p:cNvPicPr>
            <p:nvPr/>
          </p:nvPicPr>
          <p:blipFill>
            <a:blip r:embed="rId3" cstate="print"/>
            <a:stretch>
              <a:fillRect/>
            </a:stretch>
          </p:blipFill>
          <p:spPr>
            <a:xfrm>
              <a:off x="1233182" y="5378668"/>
              <a:ext cx="6568580" cy="1072466"/>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7616" y="-4445"/>
            <a:ext cx="10514231" cy="1009650"/>
          </a:xfrm>
        </p:spPr>
        <p:txBody>
          <a:bodyPr/>
          <a:lstStyle/>
          <a:p>
            <a:r>
              <a:rPr lang="zh-CN" altLang="en-US" dirty="0" smtClean="0">
                <a:effectLst/>
                <a:sym typeface="+mn-ea"/>
              </a:rPr>
              <a:t>比较：</a:t>
            </a:r>
            <a:r>
              <a:rPr lang="en-US" dirty="0" smtClean="0">
                <a:effectLst/>
                <a:sym typeface="+mn-ea"/>
              </a:rPr>
              <a:t>RISC-V</a:t>
            </a:r>
            <a:r>
              <a:rPr lang="zh-CN" altLang="en-US" dirty="0">
                <a:effectLst/>
                <a:sym typeface="+mn-ea"/>
              </a:rPr>
              <a:t>指令编码格式及编码空间</a:t>
            </a:r>
            <a:endParaRPr lang="zh-CN" altLang="en-US" dirty="0"/>
          </a:p>
        </p:txBody>
      </p:sp>
      <p:sp>
        <p:nvSpPr>
          <p:cNvPr id="3" name="内容占位符 2"/>
          <p:cNvSpPr>
            <a:spLocks noGrp="1"/>
          </p:cNvSpPr>
          <p:nvPr>
            <p:ph idx="1"/>
          </p:nvPr>
        </p:nvSpPr>
        <p:spPr>
          <a:xfrm>
            <a:off x="796206" y="1028067"/>
            <a:ext cx="10514231" cy="3509644"/>
          </a:xfrm>
        </p:spPr>
        <p:txBody>
          <a:bodyPr/>
          <a:lstStyle/>
          <a:p>
            <a:r>
              <a:rPr lang="zh-CN" altLang="en-US" sz="1800" dirty="0"/>
              <a:t>四种基本指令编码格式（</a:t>
            </a:r>
            <a:r>
              <a:rPr lang="en-US" altLang="zh-CN" sz="1800" dirty="0"/>
              <a:t>R/I/S/U</a:t>
            </a:r>
            <a:r>
              <a:rPr lang="zh-CN" altLang="en-US" sz="1800" dirty="0" smtClean="0"/>
              <a:t>）</a:t>
            </a:r>
            <a:endParaRPr lang="en-US" altLang="zh-CN" sz="1800" dirty="0" smtClean="0"/>
          </a:p>
          <a:p>
            <a:endParaRPr lang="zh-CN" altLang="en-US" sz="1800" dirty="0"/>
          </a:p>
          <a:p>
            <a:endParaRPr lang="zh-CN" altLang="en-US" sz="1800" dirty="0"/>
          </a:p>
          <a:p>
            <a:endParaRPr lang="zh-CN" altLang="en-US" sz="1800" dirty="0"/>
          </a:p>
          <a:p>
            <a:endParaRPr lang="zh-CN" altLang="en-US" sz="1800" dirty="0"/>
          </a:p>
          <a:p>
            <a:r>
              <a:rPr lang="zh-CN" altLang="en-US" sz="1800" dirty="0" smtClean="0"/>
              <a:t>变</a:t>
            </a:r>
            <a:r>
              <a:rPr lang="zh-CN" altLang="en-US" sz="1800" dirty="0"/>
              <a:t>长指令编码，长度为</a:t>
            </a:r>
            <a:r>
              <a:rPr lang="en-US" altLang="zh-CN" sz="1800" dirty="0"/>
              <a:t>16</a:t>
            </a:r>
            <a:r>
              <a:rPr lang="zh-CN" altLang="en-US" sz="1800" dirty="0"/>
              <a:t>比特的整数倍</a:t>
            </a:r>
          </a:p>
          <a:p>
            <a:pPr lvl="1"/>
            <a:r>
              <a:rPr lang="en-US" altLang="zh-CN" sz="1400" dirty="0"/>
              <a:t>3/4</a:t>
            </a:r>
            <a:r>
              <a:rPr lang="zh-CN" altLang="en-US" sz="1400" dirty="0"/>
              <a:t>的编码空间用于</a:t>
            </a:r>
            <a:r>
              <a:rPr lang="en-US" altLang="zh-CN" sz="1400" dirty="0"/>
              <a:t>16</a:t>
            </a:r>
            <a:r>
              <a:rPr lang="zh-CN" altLang="en-US" sz="1400" dirty="0"/>
              <a:t>位长度的指令（</a:t>
            </a:r>
            <a:r>
              <a:rPr lang="en-US" altLang="zh-CN" sz="1400" dirty="0"/>
              <a:t>inst[1:0]==00/01/10</a:t>
            </a:r>
            <a:r>
              <a:rPr lang="zh-CN" altLang="en-US" sz="1400" dirty="0"/>
              <a:t>）</a:t>
            </a:r>
          </a:p>
          <a:p>
            <a:pPr lvl="1"/>
            <a:r>
              <a:rPr lang="en-US" altLang="zh-CN" sz="1400" dirty="0"/>
              <a:t>1/32</a:t>
            </a:r>
            <a:r>
              <a:rPr lang="zh-CN" altLang="en-US" sz="1400" dirty="0">
                <a:sym typeface="+mn-ea"/>
              </a:rPr>
              <a:t>的编码空间用于</a:t>
            </a:r>
            <a:r>
              <a:rPr lang="en-US" altLang="zh-CN" sz="1400" dirty="0">
                <a:sym typeface="+mn-ea"/>
              </a:rPr>
              <a:t>48</a:t>
            </a:r>
            <a:r>
              <a:rPr lang="zh-CN" altLang="en-US" sz="1400" dirty="0">
                <a:sym typeface="+mn-ea"/>
              </a:rPr>
              <a:t>位及以上长度的指令</a:t>
            </a:r>
          </a:p>
        </p:txBody>
      </p:sp>
      <p:grpSp>
        <p:nvGrpSpPr>
          <p:cNvPr id="6" name="组合 24"/>
          <p:cNvGrpSpPr/>
          <p:nvPr/>
        </p:nvGrpSpPr>
        <p:grpSpPr>
          <a:xfrm>
            <a:off x="983488" y="4627245"/>
            <a:ext cx="8902176" cy="1727200"/>
            <a:chOff x="1549" y="7287"/>
            <a:chExt cx="14021" cy="2720"/>
          </a:xfrm>
        </p:grpSpPr>
        <p:pic>
          <p:nvPicPr>
            <p:cNvPr id="7" name="图片 6"/>
            <p:cNvPicPr>
              <a:picLocks noChangeAspect="1"/>
            </p:cNvPicPr>
            <p:nvPr/>
          </p:nvPicPr>
          <p:blipFill>
            <a:blip r:embed="rId2" cstate="print"/>
            <a:stretch>
              <a:fillRect/>
            </a:stretch>
          </p:blipFill>
          <p:spPr>
            <a:xfrm>
              <a:off x="7389" y="7287"/>
              <a:ext cx="8181" cy="2351"/>
            </a:xfrm>
            <a:prstGeom prst="rect">
              <a:avLst/>
            </a:prstGeom>
          </p:spPr>
        </p:pic>
        <p:pic>
          <p:nvPicPr>
            <p:cNvPr id="8" name="图片 7"/>
            <p:cNvPicPr>
              <a:picLocks noChangeAspect="1"/>
            </p:cNvPicPr>
            <p:nvPr/>
          </p:nvPicPr>
          <p:blipFill>
            <a:blip r:embed="rId3" cstate="print"/>
            <a:srcRect b="14657"/>
            <a:stretch>
              <a:fillRect/>
            </a:stretch>
          </p:blipFill>
          <p:spPr>
            <a:xfrm>
              <a:off x="1549" y="7414"/>
              <a:ext cx="4680" cy="2591"/>
            </a:xfrm>
            <a:prstGeom prst="rect">
              <a:avLst/>
            </a:prstGeom>
          </p:spPr>
        </p:pic>
        <p:sp>
          <p:nvSpPr>
            <p:cNvPr id="9" name="矩形 8"/>
            <p:cNvSpPr/>
            <p:nvPr/>
          </p:nvSpPr>
          <p:spPr>
            <a:xfrm>
              <a:off x="1560" y="7869"/>
              <a:ext cx="4666" cy="416"/>
            </a:xfrm>
            <a:prstGeom prst="rect">
              <a:avLst/>
            </a:prstGeom>
            <a:solidFill>
              <a:srgbClr val="FFFF0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8430" y="8255"/>
              <a:ext cx="6203" cy="1382"/>
            </a:xfrm>
            <a:prstGeom prst="rect">
              <a:avLst/>
            </a:prstGeom>
            <a:solidFill>
              <a:srgbClr val="FFFF0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1" name="直接连接符 10"/>
            <p:cNvCxnSpPr/>
            <p:nvPr/>
          </p:nvCxnSpPr>
          <p:spPr>
            <a:xfrm flipV="1">
              <a:off x="6191" y="7638"/>
              <a:ext cx="1263" cy="209"/>
            </a:xfrm>
            <a:prstGeom prst="line">
              <a:avLst/>
            </a:prstGeom>
            <a:ln w="6350" cap="flat" cmpd="sng" algn="ctr">
              <a:solidFill>
                <a:srgbClr val="FFFF00"/>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3" name="直接连接符 12"/>
            <p:cNvCxnSpPr/>
            <p:nvPr/>
          </p:nvCxnSpPr>
          <p:spPr>
            <a:xfrm flipV="1">
              <a:off x="6213" y="9637"/>
              <a:ext cx="1241" cy="371"/>
            </a:xfrm>
            <a:prstGeom prst="line">
              <a:avLst/>
            </a:prstGeom>
            <a:ln w="6350" cap="flat" cmpd="sng" algn="ctr">
              <a:solidFill>
                <a:srgbClr val="7030A0"/>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矩形 13"/>
            <p:cNvSpPr/>
            <p:nvPr/>
          </p:nvSpPr>
          <p:spPr>
            <a:xfrm>
              <a:off x="1563" y="8307"/>
              <a:ext cx="4666" cy="416"/>
            </a:xfrm>
            <a:prstGeom prst="rect">
              <a:avLst/>
            </a:prstGeom>
            <a:solidFill>
              <a:srgbClr val="92D05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14633" y="8254"/>
              <a:ext cx="937" cy="330"/>
            </a:xfrm>
            <a:prstGeom prst="rect">
              <a:avLst/>
            </a:prstGeom>
            <a:solidFill>
              <a:srgbClr val="92D05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矩形 15"/>
            <p:cNvSpPr/>
            <p:nvPr/>
          </p:nvSpPr>
          <p:spPr>
            <a:xfrm>
              <a:off x="14633" y="8912"/>
              <a:ext cx="937" cy="363"/>
            </a:xfrm>
            <a:prstGeom prst="rect">
              <a:avLst/>
            </a:prstGeom>
            <a:solidFill>
              <a:srgbClr val="92D05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矩形 16"/>
            <p:cNvSpPr/>
            <p:nvPr/>
          </p:nvSpPr>
          <p:spPr>
            <a:xfrm>
              <a:off x="1563" y="8723"/>
              <a:ext cx="4666" cy="416"/>
            </a:xfrm>
            <a:prstGeom prst="rect">
              <a:avLst/>
            </a:prstGeom>
            <a:solidFill>
              <a:srgbClr val="00B0F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矩形 17"/>
            <p:cNvSpPr/>
            <p:nvPr/>
          </p:nvSpPr>
          <p:spPr>
            <a:xfrm>
              <a:off x="14633" y="8584"/>
              <a:ext cx="937" cy="328"/>
            </a:xfrm>
            <a:prstGeom prst="rect">
              <a:avLst/>
            </a:prstGeom>
            <a:solidFill>
              <a:srgbClr val="00B0F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矩形 18"/>
            <p:cNvSpPr/>
            <p:nvPr/>
          </p:nvSpPr>
          <p:spPr>
            <a:xfrm>
              <a:off x="1560" y="9129"/>
              <a:ext cx="4670" cy="876"/>
            </a:xfrm>
            <a:prstGeom prst="rect">
              <a:avLst/>
            </a:prstGeom>
            <a:solidFill>
              <a:srgbClr val="7030A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矩形 19"/>
            <p:cNvSpPr/>
            <p:nvPr/>
          </p:nvSpPr>
          <p:spPr>
            <a:xfrm>
              <a:off x="14632" y="9275"/>
              <a:ext cx="938" cy="371"/>
            </a:xfrm>
            <a:prstGeom prst="rect">
              <a:avLst/>
            </a:prstGeom>
            <a:solidFill>
              <a:srgbClr val="7030A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矩形 20"/>
            <p:cNvSpPr/>
            <p:nvPr/>
          </p:nvSpPr>
          <p:spPr>
            <a:xfrm>
              <a:off x="1564" y="7443"/>
              <a:ext cx="4666" cy="416"/>
            </a:xfrm>
            <a:prstGeom prst="rect">
              <a:avLst/>
            </a:prstGeom>
            <a:solidFill>
              <a:srgbClr val="FF000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 name="矩形 23"/>
            <p:cNvSpPr/>
            <p:nvPr/>
          </p:nvSpPr>
          <p:spPr>
            <a:xfrm>
              <a:off x="9604" y="7353"/>
              <a:ext cx="802" cy="252"/>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26" name="左大括号 25"/>
          <p:cNvSpPr/>
          <p:nvPr/>
        </p:nvSpPr>
        <p:spPr>
          <a:xfrm rot="16200000">
            <a:off x="1554901" y="5800176"/>
            <a:ext cx="188595" cy="1307295"/>
          </a:xfrm>
          <a:prstGeom prst="leftBrace">
            <a:avLst>
              <a:gd name="adj1" fmla="val 31989"/>
              <a:gd name="adj2" fmla="val 50000"/>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7" name="文本框 26"/>
          <p:cNvSpPr txBox="1"/>
          <p:nvPr/>
        </p:nvSpPr>
        <p:spPr>
          <a:xfrm>
            <a:off x="989837" y="6556375"/>
            <a:ext cx="1306025" cy="257810"/>
          </a:xfrm>
          <a:prstGeom prst="rect">
            <a:avLst/>
          </a:prstGeom>
          <a:noFill/>
        </p:spPr>
        <p:txBody>
          <a:bodyPr wrap="square" rtlCol="0">
            <a:noAutofit/>
          </a:bodyPr>
          <a:lstStyle/>
          <a:p>
            <a:pPr algn="ctr"/>
            <a:r>
              <a:rPr lang="en-US" sz="1200">
                <a:latin typeface="黑体" panose="02000500000000000000" pitchFamily="49" charset="-122"/>
                <a:ea typeface="黑体" panose="02000500000000000000" pitchFamily="49" charset="-122"/>
              </a:rPr>
              <a:t>inst[15:0]</a:t>
            </a:r>
            <a:endParaRPr lang="zh-CN" altLang="en-US" sz="1200">
              <a:latin typeface="黑体" panose="02000500000000000000" pitchFamily="49" charset="-122"/>
              <a:ea typeface="黑体" panose="02000500000000000000" pitchFamily="49" charset="-122"/>
            </a:endParaRPr>
          </a:p>
        </p:txBody>
      </p:sp>
      <p:grpSp>
        <p:nvGrpSpPr>
          <p:cNvPr id="12" name="组合 35"/>
          <p:cNvGrpSpPr/>
          <p:nvPr/>
        </p:nvGrpSpPr>
        <p:grpSpPr>
          <a:xfrm>
            <a:off x="926344" y="1577340"/>
            <a:ext cx="10775817" cy="1825626"/>
            <a:chOff x="1459" y="2548"/>
            <a:chExt cx="16972" cy="2937"/>
          </a:xfrm>
        </p:grpSpPr>
        <p:grpSp>
          <p:nvGrpSpPr>
            <p:cNvPr id="22" name="组合 5"/>
            <p:cNvGrpSpPr/>
            <p:nvPr/>
          </p:nvGrpSpPr>
          <p:grpSpPr>
            <a:xfrm>
              <a:off x="1459" y="2548"/>
              <a:ext cx="8009" cy="2937"/>
              <a:chOff x="1458" y="2878"/>
              <a:chExt cx="10488" cy="3923"/>
            </a:xfrm>
          </p:grpSpPr>
          <p:pic>
            <p:nvPicPr>
              <p:cNvPr id="4" name="图片 3"/>
              <p:cNvPicPr>
                <a:picLocks noChangeAspect="1"/>
              </p:cNvPicPr>
              <p:nvPr/>
            </p:nvPicPr>
            <p:blipFill>
              <a:blip r:embed="rId4" cstate="print"/>
              <a:stretch>
                <a:fillRect/>
              </a:stretch>
            </p:blipFill>
            <p:spPr>
              <a:xfrm>
                <a:off x="1458" y="2878"/>
                <a:ext cx="10487" cy="1823"/>
              </a:xfrm>
              <a:prstGeom prst="rect">
                <a:avLst/>
              </a:prstGeom>
            </p:spPr>
          </p:pic>
          <p:pic>
            <p:nvPicPr>
              <p:cNvPr id="5" name="图片 4"/>
              <p:cNvPicPr>
                <a:picLocks noChangeAspect="1"/>
              </p:cNvPicPr>
              <p:nvPr/>
            </p:nvPicPr>
            <p:blipFill>
              <a:blip r:embed="rId5" cstate="print"/>
              <a:stretch>
                <a:fillRect/>
              </a:stretch>
            </p:blipFill>
            <p:spPr>
              <a:xfrm>
                <a:off x="1458" y="5007"/>
                <a:ext cx="10488" cy="1794"/>
              </a:xfrm>
              <a:prstGeom prst="rect">
                <a:avLst/>
              </a:prstGeom>
            </p:spPr>
          </p:pic>
        </p:grpSp>
        <p:pic>
          <p:nvPicPr>
            <p:cNvPr id="28" name="图片 27"/>
            <p:cNvPicPr>
              <a:picLocks noChangeAspect="1"/>
            </p:cNvPicPr>
            <p:nvPr/>
          </p:nvPicPr>
          <p:blipFill>
            <a:blip r:embed="rId6" cstate="print"/>
            <a:stretch>
              <a:fillRect/>
            </a:stretch>
          </p:blipFill>
          <p:spPr>
            <a:xfrm>
              <a:off x="10527" y="2599"/>
              <a:ext cx="7905" cy="1288"/>
            </a:xfrm>
            <a:prstGeom prst="rect">
              <a:avLst/>
            </a:prstGeom>
          </p:spPr>
        </p:pic>
        <p:pic>
          <p:nvPicPr>
            <p:cNvPr id="29" name="图片 28"/>
            <p:cNvPicPr>
              <a:picLocks noChangeAspect="1"/>
            </p:cNvPicPr>
            <p:nvPr/>
          </p:nvPicPr>
          <p:blipFill>
            <a:blip r:embed="rId7" cstate="print"/>
            <a:stretch>
              <a:fillRect/>
            </a:stretch>
          </p:blipFill>
          <p:spPr>
            <a:xfrm>
              <a:off x="10527" y="4282"/>
              <a:ext cx="7904" cy="1118"/>
            </a:xfrm>
            <a:prstGeom prst="rect">
              <a:avLst/>
            </a:prstGeom>
          </p:spPr>
        </p:pic>
        <p:cxnSp>
          <p:nvCxnSpPr>
            <p:cNvPr id="31" name="直接连接符 30"/>
            <p:cNvCxnSpPr/>
            <p:nvPr/>
          </p:nvCxnSpPr>
          <p:spPr>
            <a:xfrm flipV="1">
              <a:off x="8858" y="2816"/>
              <a:ext cx="1702" cy="1547"/>
            </a:xfrm>
            <a:prstGeom prst="line">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32" name="直接连接符 31"/>
            <p:cNvCxnSpPr/>
            <p:nvPr/>
          </p:nvCxnSpPr>
          <p:spPr>
            <a:xfrm flipV="1">
              <a:off x="8913" y="3869"/>
              <a:ext cx="1614" cy="834"/>
            </a:xfrm>
            <a:prstGeom prst="line">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33" name="直接连接符 32"/>
            <p:cNvCxnSpPr/>
            <p:nvPr/>
          </p:nvCxnSpPr>
          <p:spPr>
            <a:xfrm flipV="1">
              <a:off x="8913" y="5405"/>
              <a:ext cx="1614" cy="80"/>
            </a:xfrm>
            <a:prstGeom prst="line">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34" name="直接连接符 33"/>
            <p:cNvCxnSpPr/>
            <p:nvPr/>
          </p:nvCxnSpPr>
          <p:spPr>
            <a:xfrm flipV="1">
              <a:off x="8880" y="4472"/>
              <a:ext cx="1658" cy="615"/>
            </a:xfrm>
            <a:prstGeom prst="line">
              <a:avLst/>
            </a:prstGeom>
            <a:ln w="6350" cap="flat" cmpd="sng" algn="ctr">
              <a:solidFill>
                <a:schemeClr val="tx1"/>
              </a:solidFill>
              <a:prstDash val="dash"/>
              <a:miter lim="800000"/>
            </a:ln>
          </p:spPr>
          <p:style>
            <a:lnRef idx="0">
              <a:schemeClr val="accent1"/>
            </a:lnRef>
            <a:fillRef idx="0">
              <a:srgbClr val="FFFFFF"/>
            </a:fillRef>
            <a:effectRef idx="0">
              <a:srgbClr val="FFFFFF"/>
            </a:effectRef>
            <a:fontRef idx="minor">
              <a:schemeClr val="tx1"/>
            </a:fontRef>
          </p:style>
        </p:cxnSp>
      </p:grpSp>
      <p:sp>
        <p:nvSpPr>
          <p:cNvPr id="35" name="文本框 34"/>
          <p:cNvSpPr txBox="1"/>
          <p:nvPr/>
        </p:nvSpPr>
        <p:spPr>
          <a:xfrm>
            <a:off x="7004408" y="1207136"/>
            <a:ext cx="3958710" cy="337185"/>
          </a:xfrm>
          <a:prstGeom prst="rect">
            <a:avLst/>
          </a:prstGeom>
          <a:noFill/>
        </p:spPr>
        <p:txBody>
          <a:bodyPr wrap="square" rtlCol="0">
            <a:spAutoFit/>
          </a:bodyPr>
          <a:lstStyle/>
          <a:p>
            <a:pPr algn="ctr"/>
            <a:r>
              <a:rPr lang="en-US" altLang="zh-CN" sz="1600" dirty="0"/>
              <a:t>S</a:t>
            </a:r>
            <a:r>
              <a:rPr lang="zh-CN" altLang="en-US" sz="1600" dirty="0"/>
              <a:t>和</a:t>
            </a:r>
            <a:r>
              <a:rPr lang="en-US" altLang="zh-CN" sz="1600" dirty="0"/>
              <a:t>U</a:t>
            </a:r>
            <a:r>
              <a:rPr lang="zh-CN" altLang="en-US" sz="1600" dirty="0"/>
              <a:t>各自有两种立即数格式的变体</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a:xfrm>
            <a:off x="1125538" y="3074988"/>
            <a:ext cx="10361612" cy="1143000"/>
          </a:xfrm>
        </p:spPr>
        <p:txBody>
          <a:bodyPr vert="horz" wrap="square" lIns="91440" tIns="45720" rIns="91440" bIns="45720" anchor="ctr" anchorCtr="0"/>
          <a:lstStyle/>
          <a:p>
            <a:pPr eaLnBrk="1" hangingPunct="1"/>
            <a:r>
              <a:rPr lang="zh-CN" altLang="en-US" sz="4000" dirty="0"/>
              <a:t>常见</a:t>
            </a:r>
            <a:r>
              <a:rPr lang="en-US" altLang="zh-CN" sz="4000" dirty="0"/>
              <a:t>RISC</a:t>
            </a:r>
            <a:r>
              <a:rPr lang="zh-CN" altLang="en-US" sz="4000" dirty="0"/>
              <a:t>指令系统的比较</a:t>
            </a:r>
          </a:p>
        </p:txBody>
      </p:sp>
      <p:sp>
        <p:nvSpPr>
          <p:cNvPr id="6861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71</a:t>
            </a:fld>
            <a:endParaRPr lang="en-US" altLang="zh-CN"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914400" y="609600"/>
            <a:ext cx="10361613" cy="609600"/>
          </a:xfrm>
        </p:spPr>
        <p:txBody>
          <a:bodyPr vert="horz" wrap="square" lIns="91440" tIns="45720" rIns="91440" bIns="45720" anchor="ctr" anchorCtr="0"/>
          <a:lstStyle/>
          <a:p>
            <a:pPr eaLnBrk="1" hangingPunct="1"/>
            <a:r>
              <a:rPr lang="zh-CN" altLang="en-US" dirty="0"/>
              <a:t>常见</a:t>
            </a:r>
            <a:r>
              <a:rPr lang="en-US" altLang="zh-CN" dirty="0"/>
              <a:t>RISC</a:t>
            </a:r>
            <a:r>
              <a:rPr lang="zh-CN" altLang="en-US" dirty="0"/>
              <a:t>指令系统比较</a:t>
            </a:r>
          </a:p>
        </p:txBody>
      </p:sp>
      <p:sp>
        <p:nvSpPr>
          <p:cNvPr id="78851" name="Rectangle 3"/>
          <p:cNvSpPr>
            <a:spLocks noGrp="1"/>
          </p:cNvSpPr>
          <p:nvPr>
            <p:ph idx="1"/>
          </p:nvPr>
        </p:nvSpPr>
        <p:spPr>
          <a:xfrm>
            <a:off x="914400" y="1447800"/>
            <a:ext cx="10361613" cy="4648200"/>
          </a:xfrm>
        </p:spPr>
        <p:txBody>
          <a:bodyPr vert="horz" wrap="square" lIns="91440" tIns="45720" rIns="91440" bIns="45720" anchor="t" anchorCtr="0"/>
          <a:lstStyle/>
          <a:p>
            <a:pPr eaLnBrk="1" hangingPunct="1"/>
            <a:r>
              <a:rPr lang="zh-CN" altLang="en-US" dirty="0"/>
              <a:t>通过比较常见</a:t>
            </a:r>
            <a:r>
              <a:rPr lang="en-US" altLang="zh-CN" dirty="0"/>
              <a:t>RISC</a:t>
            </a:r>
            <a:r>
              <a:rPr lang="zh-CN" altLang="en-US" dirty="0"/>
              <a:t>处理器的指令加深对</a:t>
            </a:r>
            <a:r>
              <a:rPr lang="en-US" altLang="zh-CN" dirty="0"/>
              <a:t>RISC</a:t>
            </a:r>
            <a:r>
              <a:rPr lang="zh-CN" altLang="en-US" dirty="0"/>
              <a:t>的了解</a:t>
            </a:r>
          </a:p>
          <a:p>
            <a:pPr lvl="1" eaLnBrk="1" hangingPunct="1"/>
            <a:r>
              <a:rPr lang="en-US" altLang="zh-CN" dirty="0"/>
              <a:t>MIPS</a:t>
            </a:r>
            <a:r>
              <a:rPr lang="zh-CN" altLang="en-US" dirty="0"/>
              <a:t>、</a:t>
            </a:r>
            <a:r>
              <a:rPr lang="en-US" altLang="zh-CN" dirty="0"/>
              <a:t>PA-RISC</a:t>
            </a:r>
            <a:r>
              <a:rPr lang="zh-CN" altLang="en-US" dirty="0"/>
              <a:t>、</a:t>
            </a:r>
            <a:r>
              <a:rPr lang="en-US" altLang="zh-CN" dirty="0"/>
              <a:t>PowerPC</a:t>
            </a:r>
            <a:r>
              <a:rPr lang="zh-CN" altLang="en-US" dirty="0"/>
              <a:t>、</a:t>
            </a:r>
            <a:r>
              <a:rPr lang="en-US" altLang="zh-CN" dirty="0"/>
              <a:t>SPARC</a:t>
            </a:r>
            <a:r>
              <a:rPr lang="zh-CN" altLang="en-US" dirty="0"/>
              <a:t>、</a:t>
            </a:r>
            <a:r>
              <a:rPr lang="en-US" altLang="zh-CN" dirty="0"/>
              <a:t>LoongArch</a:t>
            </a:r>
          </a:p>
          <a:p>
            <a:pPr eaLnBrk="1" hangingPunct="1"/>
            <a:r>
              <a:rPr lang="zh-CN" altLang="en-US" dirty="0"/>
              <a:t>通过以下方面进行比较</a:t>
            </a:r>
          </a:p>
          <a:p>
            <a:pPr lvl="1" eaLnBrk="1" hangingPunct="1"/>
            <a:r>
              <a:rPr lang="zh-CN" altLang="en-US" dirty="0"/>
              <a:t>指令格式</a:t>
            </a:r>
          </a:p>
          <a:p>
            <a:pPr lvl="1" eaLnBrk="1" hangingPunct="1"/>
            <a:r>
              <a:rPr lang="zh-CN" altLang="en-US" dirty="0"/>
              <a:t>寻址方式</a:t>
            </a:r>
          </a:p>
          <a:p>
            <a:pPr lvl="1" eaLnBrk="1" hangingPunct="1"/>
            <a:r>
              <a:rPr lang="zh-CN" altLang="en-US" dirty="0"/>
              <a:t>指令功能</a:t>
            </a:r>
          </a:p>
        </p:txBody>
      </p:sp>
      <p:sp>
        <p:nvSpPr>
          <p:cNvPr id="7885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72</a:t>
            </a:fld>
            <a:endParaRPr lang="en-US" altLang="zh-CN"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73</a:t>
            </a:fld>
            <a:endParaRPr lang="en-US" altLang="zh-CN" sz="1400" dirty="0"/>
          </a:p>
        </p:txBody>
      </p:sp>
      <p:sp>
        <p:nvSpPr>
          <p:cNvPr id="79875" name="Rectangle 47"/>
          <p:cNvSpPr/>
          <p:nvPr/>
        </p:nvSpPr>
        <p:spPr>
          <a:xfrm>
            <a:off x="914400" y="393700"/>
            <a:ext cx="10361613" cy="609600"/>
          </a:xfrm>
          <a:prstGeom prst="rect">
            <a:avLst/>
          </a:prstGeom>
          <a:noFill/>
          <a:ln w="9525">
            <a:noFill/>
          </a:ln>
        </p:spPr>
        <p:txBody>
          <a:bodyPr anchor="ctr" anchorCtr="0"/>
          <a:lstStyle/>
          <a:p>
            <a:pPr algn="ctr"/>
            <a:r>
              <a:rPr lang="zh-CN" altLang="zh-CN" sz="3600" dirty="0">
                <a:solidFill>
                  <a:srgbClr val="FF0000"/>
                </a:solidFill>
                <a:latin typeface="Arial" panose="02080604020202020204" pitchFamily="34" charset="0"/>
                <a:ea typeface="黑体" panose="02000500000000000000" pitchFamily="49" charset="-122"/>
              </a:rPr>
              <a:t>指令格式比较</a:t>
            </a:r>
            <a:endParaRPr lang="zh-CN" altLang="en-US" sz="3600" dirty="0">
              <a:solidFill>
                <a:srgbClr val="FF0000"/>
              </a:solidFill>
              <a:latin typeface="Arial" panose="02080604020202020204" pitchFamily="34" charset="0"/>
              <a:ea typeface="黑体" panose="02000500000000000000" pitchFamily="49" charset="-122"/>
            </a:endParaRPr>
          </a:p>
        </p:txBody>
      </p:sp>
      <p:pic>
        <p:nvPicPr>
          <p:cNvPr id="79876" name="图片 13"/>
          <p:cNvPicPr>
            <a:picLocks noChangeAspect="1"/>
          </p:cNvPicPr>
          <p:nvPr/>
        </p:nvPicPr>
        <p:blipFill>
          <a:blip r:embed="rId2" cstate="print"/>
          <a:srcRect l="3252" t="11559" r="45822" b="7214"/>
          <a:stretch>
            <a:fillRect/>
          </a:stretch>
        </p:blipFill>
        <p:spPr>
          <a:xfrm>
            <a:off x="1906588" y="1003300"/>
            <a:ext cx="8377237" cy="563880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a:xfrm>
            <a:off x="914400" y="609600"/>
            <a:ext cx="10361613" cy="685800"/>
          </a:xfrm>
        </p:spPr>
        <p:txBody>
          <a:bodyPr vert="horz" wrap="square" lIns="91440" tIns="45720" rIns="91440" bIns="45720" anchor="ctr" anchorCtr="0"/>
          <a:lstStyle/>
          <a:p>
            <a:pPr eaLnBrk="1" hangingPunct="1"/>
            <a:r>
              <a:rPr lang="zh-CN" altLang="en-US" dirty="0"/>
              <a:t>寻址方式比较</a:t>
            </a:r>
          </a:p>
        </p:txBody>
      </p:sp>
      <p:sp>
        <p:nvSpPr>
          <p:cNvPr id="80899"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74</a:t>
            </a:fld>
            <a:endParaRPr lang="en-US" altLang="zh-CN" sz="1400" dirty="0"/>
          </a:p>
        </p:txBody>
      </p:sp>
      <p:graphicFrame>
        <p:nvGraphicFramePr>
          <p:cNvPr id="3" name="表格 2"/>
          <p:cNvGraphicFramePr/>
          <p:nvPr/>
        </p:nvGraphicFramePr>
        <p:xfrm>
          <a:off x="465138" y="1812925"/>
          <a:ext cx="10811818" cy="3030855"/>
        </p:xfrm>
        <a:graphic>
          <a:graphicData uri="http://schemas.openxmlformats.org/drawingml/2006/table">
            <a:tbl>
              <a:tblPr firstRow="1" bandRow="1">
                <a:tableStyleId>{5940675A-B579-460E-94D1-54222C63F5DA}</a:tableStyleId>
              </a:tblPr>
              <a:tblGrid>
                <a:gridCol w="3126692"/>
                <a:gridCol w="1861754"/>
                <a:gridCol w="1363401"/>
                <a:gridCol w="1383624"/>
                <a:gridCol w="1535965"/>
                <a:gridCol w="1540382"/>
              </a:tblGrid>
              <a:tr h="464185">
                <a:tc>
                  <a:txBody>
                    <a:bodyPr/>
                    <a:lstStyle/>
                    <a:p>
                      <a:pPr indent="0" algn="ctr">
                        <a:buNone/>
                      </a:pPr>
                      <a:r>
                        <a:rPr lang="en-US" sz="1600" b="1" dirty="0" err="1">
                          <a:latin typeface="宋体" panose="02000500000000000000" pitchFamily="2" charset="-122"/>
                          <a:ea typeface="宋体" panose="02000500000000000000" pitchFamily="2" charset="-122"/>
                          <a:cs typeface="宋体" panose="02000500000000000000" pitchFamily="2" charset="-122"/>
                        </a:rPr>
                        <a:t>寻址方式</a:t>
                      </a:r>
                      <a:endParaRPr lang="en-US" altLang="en-US" sz="1600" b="1" dirty="0">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MIPS</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PowerPC</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PA-RISC</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SPARC</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LoongArch</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7660">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寄存器寻址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7660">
                <a:tc>
                  <a:txBody>
                    <a:bodyPr/>
                    <a:lstStyle/>
                    <a:p>
                      <a:pPr indent="0">
                        <a:buNone/>
                      </a:pPr>
                      <a:r>
                        <a:rPr lang="en-US" sz="1600" b="1" dirty="0" err="1">
                          <a:latin typeface="宋体" panose="02000500000000000000" pitchFamily="2" charset="-122"/>
                          <a:ea typeface="宋体" panose="02000500000000000000" pitchFamily="2" charset="-122"/>
                          <a:cs typeface="宋体" panose="02000500000000000000" pitchFamily="2" charset="-122"/>
                        </a:rPr>
                        <a:t>立即数寻址</a:t>
                      </a:r>
                      <a:endParaRPr lang="en-US" altLang="en-US" sz="1600" b="1" dirty="0">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7660">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偏移量寻址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变址寻址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en-US" sz="1600" b="1">
                          <a:latin typeface="宋体" panose="02000500000000000000" pitchFamily="2" charset="-122"/>
                          <a:ea typeface="宋体" panose="02000500000000000000" pitchFamily="2" charset="-122"/>
                          <a:cs typeface="宋体" panose="02000500000000000000" pitchFamily="2" charset="-122"/>
                        </a:rPr>
                        <a:t>(仅浮点)</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7660">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比例变址寻址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 </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自增/自减+偏移量寻址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 </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27660">
                <a:tc>
                  <a:txBody>
                    <a:bodyPr/>
                    <a:lstStyle/>
                    <a:p>
                      <a:pPr indent="0">
                        <a:buNone/>
                      </a:pPr>
                      <a:r>
                        <a:rPr lang="en-US" sz="1600" b="1">
                          <a:latin typeface="宋体" panose="02000500000000000000" pitchFamily="2" charset="-122"/>
                          <a:ea typeface="宋体" panose="02000500000000000000" pitchFamily="2" charset="-122"/>
                          <a:cs typeface="宋体" panose="02000500000000000000" pitchFamily="2" charset="-122"/>
                        </a:rPr>
                        <a:t>自增/自减+变址寻址</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宋体" panose="02000500000000000000" pitchFamily="2" charset="-122"/>
                          <a:ea typeface="宋体" panose="02000500000000000000" pitchFamily="2" charset="-122"/>
                          <a:cs typeface="宋体" panose="02000500000000000000" pitchFamily="2" charset="-122"/>
                        </a:rPr>
                        <a:t> </a:t>
                      </a:r>
                      <a:endParaRPr lang="en-US" altLang="en-US" sz="1600" b="1">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600" b="1">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lang="en-US" altLang="en-US" sz="1600" b="1">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a:txBody>
                  <a:tcPr marL="91428" marR="91428"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812800" y="228600"/>
            <a:ext cx="10361613" cy="609600"/>
          </a:xfrm>
        </p:spPr>
        <p:txBody>
          <a:bodyPr vert="horz" wrap="square" lIns="91440" tIns="45720" rIns="91440" bIns="45720" anchor="ctr" anchorCtr="0"/>
          <a:lstStyle/>
          <a:p>
            <a:pPr eaLnBrk="1" hangingPunct="1"/>
            <a:r>
              <a:rPr lang="zh-CN" altLang="en-US" dirty="0"/>
              <a:t>条件转移的条件判断比较</a:t>
            </a:r>
          </a:p>
        </p:txBody>
      </p:sp>
      <p:sp>
        <p:nvSpPr>
          <p:cNvPr id="75779" name="Rectangle 3"/>
          <p:cNvSpPr>
            <a:spLocks noGrp="1"/>
          </p:cNvSpPr>
          <p:nvPr>
            <p:ph idx="1"/>
          </p:nvPr>
        </p:nvSpPr>
        <p:spPr>
          <a:xfrm>
            <a:off x="203200" y="1066800"/>
            <a:ext cx="11682413" cy="5595938"/>
          </a:xfrm>
        </p:spPr>
        <p:txBody>
          <a:bodyPr vert="horz" wrap="square" lIns="91440" tIns="45720" rIns="91440" bIns="45720" anchor="t" anchorCtr="0"/>
          <a:lstStyle/>
          <a:p>
            <a:pPr eaLnBrk="1" hangingPunct="1">
              <a:lnSpc>
                <a:spcPct val="135000"/>
              </a:lnSpc>
            </a:pPr>
            <a:r>
              <a:rPr lang="en-US" altLang="zh-CN" dirty="0"/>
              <a:t>SPARC v8</a:t>
            </a:r>
            <a:r>
              <a:rPr lang="zh-CN" altLang="zh-CN" dirty="0"/>
              <a:t>使用4位条件码</a:t>
            </a:r>
            <a:r>
              <a:rPr lang="en-US" altLang="zh-CN" dirty="0"/>
              <a:t>(CC)</a:t>
            </a:r>
            <a:r>
              <a:rPr lang="zh-CN" altLang="en-US" dirty="0"/>
              <a:t>，</a:t>
            </a:r>
            <a:r>
              <a:rPr lang="zh-CN" altLang="zh-CN" dirty="0"/>
              <a:t>该条件码在程序状态字中</a:t>
            </a:r>
          </a:p>
          <a:p>
            <a:pPr lvl="1" eaLnBrk="1" hangingPunct="1">
              <a:lnSpc>
                <a:spcPct val="135000"/>
              </a:lnSpc>
            </a:pPr>
            <a:r>
              <a:rPr lang="zh-CN" altLang="en-US" dirty="0"/>
              <a:t>整数运算指令设置</a:t>
            </a:r>
            <a:r>
              <a:rPr lang="en-US" altLang="zh-CN" dirty="0"/>
              <a:t>CC</a:t>
            </a:r>
            <a:r>
              <a:rPr lang="zh-CN" altLang="en-US" dirty="0"/>
              <a:t>，条件转移指令检测</a:t>
            </a:r>
            <a:r>
              <a:rPr lang="en-US" altLang="zh-CN" dirty="0"/>
              <a:t>CC</a:t>
            </a:r>
          </a:p>
          <a:p>
            <a:pPr lvl="1" eaLnBrk="1" hangingPunct="1">
              <a:lnSpc>
                <a:spcPct val="135000"/>
              </a:lnSpc>
            </a:pPr>
            <a:r>
              <a:rPr lang="zh-CN" altLang="en-US" dirty="0"/>
              <a:t>浮点运算有另外两位</a:t>
            </a:r>
            <a:r>
              <a:rPr lang="en-US" altLang="zh-CN" dirty="0"/>
              <a:t>CC</a:t>
            </a:r>
          </a:p>
          <a:p>
            <a:pPr lvl="1" eaLnBrk="1" hangingPunct="1">
              <a:lnSpc>
                <a:spcPct val="135000"/>
              </a:lnSpc>
            </a:pPr>
            <a:r>
              <a:rPr lang="en-US" altLang="zh-CN" dirty="0"/>
              <a:t>v9</a:t>
            </a:r>
            <a:r>
              <a:rPr lang="zh-CN" altLang="zh-CN" dirty="0"/>
              <a:t>为了支持64位运算增加了4位整数</a:t>
            </a:r>
            <a:r>
              <a:rPr lang="en-US" altLang="zh-CN" dirty="0"/>
              <a:t>CC</a:t>
            </a:r>
            <a:r>
              <a:rPr lang="zh-CN" altLang="en-US" dirty="0"/>
              <a:t>，</a:t>
            </a:r>
            <a:r>
              <a:rPr lang="en-US" altLang="zh-CN" dirty="0"/>
              <a:t>3</a:t>
            </a:r>
            <a:r>
              <a:rPr lang="zh-CN" altLang="zh-CN" dirty="0"/>
              <a:t>位浮点</a:t>
            </a:r>
            <a:r>
              <a:rPr lang="en-US" altLang="zh-CN" dirty="0"/>
              <a:t>CC</a:t>
            </a:r>
          </a:p>
          <a:p>
            <a:pPr eaLnBrk="1" hangingPunct="1">
              <a:lnSpc>
                <a:spcPct val="135000"/>
              </a:lnSpc>
            </a:pPr>
            <a:r>
              <a:rPr lang="en-US" altLang="zh-CN" dirty="0"/>
              <a:t>MIPS/LoongArch</a:t>
            </a:r>
            <a:r>
              <a:rPr lang="zh-CN" altLang="en-US" dirty="0">
                <a:sym typeface="+mn-ea"/>
              </a:rPr>
              <a:t>定点转移寄存器比较的方式进行条件判断，而浮点使用条件码</a:t>
            </a:r>
            <a:endParaRPr lang="zh-CN" altLang="en-US" dirty="0"/>
          </a:p>
          <a:p>
            <a:pPr lvl="1" eaLnBrk="1" hangingPunct="1">
              <a:lnSpc>
                <a:spcPct val="135000"/>
              </a:lnSpc>
            </a:pPr>
            <a:r>
              <a:rPr lang="en-US" altLang="zh-CN" dirty="0"/>
              <a:t>MIPS III</a:t>
            </a:r>
            <a:r>
              <a:rPr lang="zh-CN" altLang="en-US" dirty="0"/>
              <a:t>浮点部件有一位条件码，记录</a:t>
            </a:r>
            <a:r>
              <a:rPr lang="en-US" altLang="zh-CN" dirty="0"/>
              <a:t>cmp</a:t>
            </a:r>
            <a:r>
              <a:rPr lang="zh-CN" altLang="en-US" dirty="0"/>
              <a:t>指令的结果，</a:t>
            </a:r>
            <a:r>
              <a:rPr lang="en-US" altLang="zh-CN" dirty="0"/>
              <a:t>MIPS IV</a:t>
            </a:r>
            <a:r>
              <a:rPr lang="zh-CN" altLang="zh-CN" dirty="0"/>
              <a:t>有多位浮点条件码</a:t>
            </a:r>
            <a:endParaRPr lang="zh-CN" altLang="en-US" dirty="0"/>
          </a:p>
          <a:p>
            <a:pPr lvl="1" eaLnBrk="1" hangingPunct="1">
              <a:lnSpc>
                <a:spcPct val="135000"/>
              </a:lnSpc>
            </a:pPr>
            <a:r>
              <a:rPr lang="en-US" altLang="zh-CN" dirty="0">
                <a:sym typeface="+mn-ea"/>
              </a:rPr>
              <a:t>LoongArch</a:t>
            </a:r>
            <a:r>
              <a:rPr lang="zh-CN" altLang="en-US" dirty="0">
                <a:sym typeface="+mn-ea"/>
              </a:rPr>
              <a:t>浮点部件有</a:t>
            </a:r>
            <a:r>
              <a:rPr lang="en-US" altLang="zh-CN" dirty="0">
                <a:sym typeface="+mn-ea"/>
              </a:rPr>
              <a:t>8</a:t>
            </a:r>
            <a:r>
              <a:rPr lang="zh-CN" altLang="en-US" dirty="0">
                <a:sym typeface="+mn-ea"/>
              </a:rPr>
              <a:t>位条件码，记录比较指令的结果</a:t>
            </a:r>
            <a:endParaRPr lang="zh-CN" altLang="en-US" dirty="0"/>
          </a:p>
          <a:p>
            <a:pPr eaLnBrk="1" hangingPunct="1">
              <a:lnSpc>
                <a:spcPct val="135000"/>
              </a:lnSpc>
            </a:pPr>
            <a:r>
              <a:rPr lang="en-US" altLang="zh-CN" dirty="0"/>
              <a:t>PowerPC</a:t>
            </a:r>
            <a:r>
              <a:rPr lang="zh-CN" altLang="en-US" dirty="0"/>
              <a:t>有</a:t>
            </a:r>
            <a:r>
              <a:rPr lang="en-US" altLang="zh-CN" dirty="0"/>
              <a:t>4</a:t>
            </a:r>
            <a:r>
              <a:rPr lang="zh-CN" altLang="en-US" dirty="0"/>
              <a:t>位</a:t>
            </a:r>
            <a:r>
              <a:rPr lang="en-US" altLang="zh-CN" dirty="0"/>
              <a:t>CC</a:t>
            </a:r>
            <a:r>
              <a:rPr lang="zh-CN" altLang="en-US" dirty="0"/>
              <a:t>，一个条件寄存器中有</a:t>
            </a:r>
            <a:r>
              <a:rPr lang="en-US" altLang="zh-CN" dirty="0"/>
              <a:t>8</a:t>
            </a:r>
            <a:r>
              <a:rPr lang="zh-CN" altLang="en-US" dirty="0"/>
              <a:t>份</a:t>
            </a:r>
            <a:r>
              <a:rPr lang="en-US" altLang="zh-CN" dirty="0"/>
              <a:t>4</a:t>
            </a:r>
            <a:r>
              <a:rPr lang="zh-CN" altLang="en-US" dirty="0"/>
              <a:t>位</a:t>
            </a:r>
            <a:r>
              <a:rPr lang="en-US" altLang="zh-CN" dirty="0"/>
              <a:t>CC</a:t>
            </a:r>
          </a:p>
          <a:p>
            <a:pPr lvl="1" eaLnBrk="1" hangingPunct="1">
              <a:lnSpc>
                <a:spcPct val="135000"/>
              </a:lnSpc>
            </a:pPr>
            <a:r>
              <a:rPr lang="zh-CN" altLang="en-US" dirty="0"/>
              <a:t>整数和浮点运算各</a:t>
            </a:r>
            <a:r>
              <a:rPr lang="en-US" altLang="zh-CN" dirty="0"/>
              <a:t>1</a:t>
            </a:r>
            <a:r>
              <a:rPr lang="zh-CN" altLang="en-US" dirty="0"/>
              <a:t>位，其它用于比较指令。</a:t>
            </a:r>
          </a:p>
          <a:p>
            <a:pPr lvl="1" eaLnBrk="1" hangingPunct="1">
              <a:lnSpc>
                <a:spcPct val="135000"/>
              </a:lnSpc>
            </a:pPr>
            <a:r>
              <a:rPr lang="en-US" altLang="zh-CN" dirty="0"/>
              <a:t>Branch</a:t>
            </a:r>
            <a:r>
              <a:rPr lang="zh-CN" altLang="zh-CN" dirty="0"/>
              <a:t>指令需指定根据哪一位进行转移</a:t>
            </a:r>
          </a:p>
          <a:p>
            <a:pPr lvl="1" eaLnBrk="1" hangingPunct="1">
              <a:lnSpc>
                <a:spcPct val="135000"/>
              </a:lnSpc>
            </a:pPr>
            <a:r>
              <a:rPr lang="zh-CN" altLang="zh-CN" dirty="0"/>
              <a:t>运算指令中有一位指定该指令是否影响</a:t>
            </a:r>
            <a:r>
              <a:rPr lang="en-US" altLang="zh-CN" dirty="0"/>
              <a:t>CC</a:t>
            </a:r>
          </a:p>
          <a:p>
            <a:pPr eaLnBrk="1" hangingPunct="1">
              <a:lnSpc>
                <a:spcPct val="135000"/>
              </a:lnSpc>
            </a:pPr>
            <a:r>
              <a:rPr lang="en-US" altLang="zh-CN" dirty="0"/>
              <a:t>PA-RISC</a:t>
            </a:r>
            <a:r>
              <a:rPr lang="zh-CN" altLang="en-US" dirty="0"/>
              <a:t>有多种选择，最常用的是比较两个寄存器的值并根据结果决定是否转移</a:t>
            </a:r>
          </a:p>
        </p:txBody>
      </p:sp>
      <p:sp>
        <p:nvSpPr>
          <p:cNvPr id="7578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75</a:t>
            </a:fld>
            <a:endParaRPr lang="en-US" altLang="zh-CN"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914400" y="0"/>
            <a:ext cx="10361613" cy="1371600"/>
          </a:xfrm>
        </p:spPr>
        <p:txBody>
          <a:bodyPr vert="horz" wrap="square" lIns="91440" tIns="45720" rIns="91440" bIns="45720" anchor="ctr" anchorCtr="0"/>
          <a:lstStyle/>
          <a:p>
            <a:pPr eaLnBrk="1" hangingPunct="1"/>
            <a:r>
              <a:rPr lang="zh-CN" altLang="en-US" dirty="0">
                <a:sym typeface="+mn-ea"/>
              </a:rPr>
              <a:t>不同处理器在发展过程中形成的特色举例</a:t>
            </a:r>
            <a:endParaRPr lang="zh-CN" altLang="en-US" dirty="0"/>
          </a:p>
        </p:txBody>
      </p:sp>
      <p:sp>
        <p:nvSpPr>
          <p:cNvPr id="71683" name="Rectangle 3"/>
          <p:cNvSpPr>
            <a:spLocks noGrp="1"/>
          </p:cNvSpPr>
          <p:nvPr>
            <p:ph idx="1"/>
          </p:nvPr>
        </p:nvSpPr>
        <p:spPr>
          <a:xfrm>
            <a:off x="914400" y="1476375"/>
            <a:ext cx="10361613" cy="5078413"/>
          </a:xfrm>
        </p:spPr>
        <p:txBody>
          <a:bodyPr vert="horz" wrap="square" lIns="91440" tIns="45720" rIns="91440" bIns="45720" anchor="t" anchorCtr="0"/>
          <a:lstStyle/>
          <a:p>
            <a:pPr lvl="0" eaLnBrk="1" hangingPunct="1"/>
            <a:r>
              <a:rPr lang="en-US" altLang="zh-CN" dirty="0"/>
              <a:t>MIPS</a:t>
            </a:r>
            <a:r>
              <a:rPr lang="zh-CN" altLang="en-US" dirty="0"/>
              <a:t>的非对齐访问</a:t>
            </a:r>
          </a:p>
          <a:p>
            <a:pPr lvl="0" eaLnBrk="1" hangingPunct="1"/>
            <a:r>
              <a:rPr lang="en-US" altLang="zh-CN" dirty="0"/>
              <a:t>SPARC</a:t>
            </a:r>
            <a:r>
              <a:rPr lang="zh-CN" altLang="en-US" dirty="0"/>
              <a:t>的寄存器窗口</a:t>
            </a:r>
          </a:p>
          <a:p>
            <a:pPr lvl="0" eaLnBrk="1" hangingPunct="1"/>
            <a:r>
              <a:rPr lang="en-US" altLang="zh-CN" dirty="0"/>
              <a:t>PowerPC</a:t>
            </a:r>
            <a:r>
              <a:rPr lang="zh-CN" altLang="en-US" dirty="0"/>
              <a:t>的</a:t>
            </a:r>
            <a:r>
              <a:rPr lang="en-US" altLang="zh-CN" dirty="0"/>
              <a:t>Link</a:t>
            </a:r>
            <a:r>
              <a:rPr lang="zh-CN" altLang="en-US" dirty="0"/>
              <a:t>和</a:t>
            </a:r>
            <a:r>
              <a:rPr lang="en-US" altLang="zh-CN" dirty="0"/>
              <a:t>Count</a:t>
            </a:r>
            <a:r>
              <a:rPr lang="zh-CN" altLang="en-US" dirty="0"/>
              <a:t>寄存器</a:t>
            </a:r>
          </a:p>
          <a:p>
            <a:pPr lvl="0" eaLnBrk="1" hangingPunct="1"/>
            <a:r>
              <a:rPr lang="en-US" altLang="zh-CN" dirty="0"/>
              <a:t>HP</a:t>
            </a:r>
            <a:r>
              <a:rPr lang="zh-CN" altLang="en-US" dirty="0"/>
              <a:t>的</a:t>
            </a:r>
            <a:r>
              <a:rPr lang="en-US" altLang="zh-CN" dirty="0"/>
              <a:t>Nullification</a:t>
            </a:r>
          </a:p>
          <a:p>
            <a:pPr lvl="0" eaLnBrk="1" hangingPunct="1"/>
            <a:r>
              <a:rPr lang="en-US" altLang="zh-CN" dirty="0"/>
              <a:t>LoongArch</a:t>
            </a:r>
            <a:r>
              <a:rPr lang="zh-CN" altLang="en-US" dirty="0"/>
              <a:t>的二进制翻译指令</a:t>
            </a:r>
            <a:endParaRPr lang="en-US" altLang="zh-CN" dirty="0"/>
          </a:p>
          <a:p>
            <a:pPr lvl="0" eaLnBrk="1" hangingPunct="1"/>
            <a:r>
              <a:rPr lang="en-US" altLang="zh-CN" dirty="0"/>
              <a:t>……</a:t>
            </a:r>
          </a:p>
        </p:txBody>
      </p:sp>
      <p:sp>
        <p:nvSpPr>
          <p:cNvPr id="7168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76</a:t>
            </a:fld>
            <a:endParaRPr lang="en-US" altLang="zh-CN" sz="1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77</a:t>
            </a:fld>
            <a:endParaRPr lang="en-US" altLang="zh-CN" sz="1400" dirty="0"/>
          </a:p>
        </p:txBody>
      </p:sp>
      <p:grpSp>
        <p:nvGrpSpPr>
          <p:cNvPr id="78851" name="Group 1078"/>
          <p:cNvGrpSpPr/>
          <p:nvPr/>
        </p:nvGrpSpPr>
        <p:grpSpPr>
          <a:xfrm>
            <a:off x="914400" y="1828800"/>
            <a:ext cx="3860800" cy="4648200"/>
            <a:chOff x="336" y="960"/>
            <a:chExt cx="1824" cy="2928"/>
          </a:xfrm>
        </p:grpSpPr>
        <p:grpSp>
          <p:nvGrpSpPr>
            <p:cNvPr id="78892" name="Group 1047"/>
            <p:cNvGrpSpPr/>
            <p:nvPr/>
          </p:nvGrpSpPr>
          <p:grpSpPr>
            <a:xfrm>
              <a:off x="1008" y="1248"/>
              <a:ext cx="1152" cy="218"/>
              <a:chOff x="1056" y="2544"/>
              <a:chExt cx="1152" cy="218"/>
            </a:xfrm>
          </p:grpSpPr>
          <p:sp>
            <p:nvSpPr>
              <p:cNvPr id="85068" name="Text Box 1048"/>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A</a:t>
                </a:r>
                <a:endParaRPr kumimoji="0" lang="zh-CN" altLang="zh-CN" sz="1600" kern="1200" cap="none" spc="0" normalizeH="0" baseline="0" noProof="0">
                  <a:solidFill>
                    <a:srgbClr val="000000"/>
                  </a:solidFill>
                  <a:latin typeface="+mn-ea"/>
                  <a:ea typeface="+mn-ea"/>
                  <a:cs typeface="+mn-cs"/>
                </a:endParaRPr>
              </a:p>
            </p:txBody>
          </p:sp>
          <p:sp>
            <p:nvSpPr>
              <p:cNvPr id="85069" name="Text Box 1049"/>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V</a:t>
                </a:r>
              </a:p>
            </p:txBody>
          </p:sp>
          <p:sp>
            <p:nvSpPr>
              <p:cNvPr id="85070" name="Text Box 1050"/>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E</a:t>
                </a:r>
              </a:p>
            </p:txBody>
          </p:sp>
          <p:sp>
            <p:nvSpPr>
              <p:cNvPr id="85071" name="Text Box 1051"/>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en-US" altLang="zh-CN" sz="1600" kern="1200" cap="none" spc="0" normalizeH="0" baseline="0" noProof="0">
                  <a:solidFill>
                    <a:srgbClr val="000000"/>
                  </a:solidFill>
                  <a:latin typeface="+mn-ea"/>
                  <a:ea typeface="+mn-ea"/>
                  <a:cs typeface="+mn-cs"/>
                </a:endParaRPr>
              </a:p>
            </p:txBody>
          </p:sp>
        </p:grpSp>
        <p:grpSp>
          <p:nvGrpSpPr>
            <p:cNvPr id="78893" name="Group 1052"/>
            <p:cNvGrpSpPr/>
            <p:nvPr/>
          </p:nvGrpSpPr>
          <p:grpSpPr>
            <a:xfrm>
              <a:off x="1008" y="1680"/>
              <a:ext cx="1152" cy="218"/>
              <a:chOff x="1056" y="2544"/>
              <a:chExt cx="1152" cy="218"/>
            </a:xfrm>
          </p:grpSpPr>
          <p:sp>
            <p:nvSpPr>
              <p:cNvPr id="85064" name="Text Box 1053"/>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en-US" altLang="zh-CN" sz="1600" kern="1200" cap="none" spc="0" normalizeH="0" baseline="0" noProof="0">
                  <a:solidFill>
                    <a:srgbClr val="000000"/>
                  </a:solidFill>
                  <a:latin typeface="+mn-ea"/>
                  <a:ea typeface="+mn-ea"/>
                  <a:cs typeface="+mn-cs"/>
                </a:endParaRPr>
              </a:p>
            </p:txBody>
          </p:sp>
          <p:sp>
            <p:nvSpPr>
              <p:cNvPr id="85065" name="Text Box 1054"/>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zh-CN" altLang="zh-CN" sz="1600" kern="1200" cap="none" spc="0" normalizeH="0" baseline="0" noProof="0">
                  <a:solidFill>
                    <a:srgbClr val="000000"/>
                  </a:solidFill>
                  <a:latin typeface="+mn-ea"/>
                  <a:ea typeface="+mn-ea"/>
                  <a:cs typeface="+mn-cs"/>
                </a:endParaRPr>
              </a:p>
            </p:txBody>
          </p:sp>
          <p:sp>
            <p:nvSpPr>
              <p:cNvPr id="85066" name="Text Box 1055"/>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zh-CN" altLang="zh-CN" sz="1600" kern="1200" cap="none" spc="0" normalizeH="0" baseline="0" noProof="0">
                  <a:solidFill>
                    <a:srgbClr val="000000"/>
                  </a:solidFill>
                  <a:latin typeface="+mn-ea"/>
                  <a:ea typeface="+mn-ea"/>
                  <a:cs typeface="+mn-cs"/>
                </a:endParaRPr>
              </a:p>
            </p:txBody>
          </p:sp>
          <p:sp>
            <p:nvSpPr>
              <p:cNvPr id="85067" name="Text Box 1056"/>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D</a:t>
                </a:r>
                <a:endParaRPr kumimoji="0" lang="zh-CN" altLang="zh-CN" sz="1600" kern="1200" cap="none" spc="0" normalizeH="0" baseline="0" noProof="0">
                  <a:solidFill>
                    <a:srgbClr val="000000"/>
                  </a:solidFill>
                  <a:latin typeface="+mn-ea"/>
                  <a:ea typeface="+mn-ea"/>
                  <a:cs typeface="+mn-cs"/>
                </a:endParaRPr>
              </a:p>
            </p:txBody>
          </p:sp>
        </p:grpSp>
        <p:sp>
          <p:nvSpPr>
            <p:cNvPr id="85038" name="Text Box 1057"/>
            <p:cNvSpPr txBox="1">
              <a:spLocks noChangeArrowheads="1"/>
            </p:cNvSpPr>
            <p:nvPr/>
          </p:nvSpPr>
          <p:spPr bwMode="auto">
            <a:xfrm>
              <a:off x="384" y="1286"/>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M[100]</a:t>
              </a:r>
            </a:p>
          </p:txBody>
        </p:sp>
        <p:sp>
          <p:nvSpPr>
            <p:cNvPr id="85039" name="Text Box 1058"/>
            <p:cNvSpPr txBox="1">
              <a:spLocks noChangeArrowheads="1"/>
            </p:cNvSpPr>
            <p:nvPr/>
          </p:nvSpPr>
          <p:spPr bwMode="auto">
            <a:xfrm>
              <a:off x="384" y="1728"/>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M[104]</a:t>
              </a:r>
            </a:p>
          </p:txBody>
        </p:sp>
        <p:grpSp>
          <p:nvGrpSpPr>
            <p:cNvPr id="78896" name="Group 1061"/>
            <p:cNvGrpSpPr/>
            <p:nvPr/>
          </p:nvGrpSpPr>
          <p:grpSpPr>
            <a:xfrm>
              <a:off x="480" y="2112"/>
              <a:ext cx="1680" cy="218"/>
              <a:chOff x="480" y="2112"/>
              <a:chExt cx="1680" cy="218"/>
            </a:xfrm>
          </p:grpSpPr>
          <p:grpSp>
            <p:nvGrpSpPr>
              <p:cNvPr id="78914" name="Group 1037"/>
              <p:cNvGrpSpPr/>
              <p:nvPr/>
            </p:nvGrpSpPr>
            <p:grpSpPr>
              <a:xfrm>
                <a:off x="1008" y="2112"/>
                <a:ext cx="1152" cy="218"/>
                <a:chOff x="1056" y="2544"/>
                <a:chExt cx="1152" cy="218"/>
              </a:xfrm>
            </p:grpSpPr>
            <p:sp>
              <p:nvSpPr>
                <p:cNvPr id="85060" name="Text Box 1038"/>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J</a:t>
                  </a:r>
                </a:p>
              </p:txBody>
            </p:sp>
            <p:sp>
              <p:nvSpPr>
                <p:cNvPr id="85061" name="Text Box 1039"/>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O</a:t>
                  </a:r>
                </a:p>
              </p:txBody>
            </p:sp>
            <p:sp>
              <p:nvSpPr>
                <p:cNvPr id="85062" name="Text Box 1040"/>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H</a:t>
                  </a:r>
                </a:p>
              </p:txBody>
            </p:sp>
            <p:sp>
              <p:nvSpPr>
                <p:cNvPr id="85063" name="Text Box 1041"/>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N</a:t>
                  </a:r>
                </a:p>
              </p:txBody>
            </p:sp>
          </p:grpSp>
          <p:sp>
            <p:nvSpPr>
              <p:cNvPr id="85059" name="Text Box 1059"/>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sp>
          <p:nvSpPr>
            <p:cNvPr id="85041" name="Text Box 1060"/>
            <p:cNvSpPr txBox="1">
              <a:spLocks noChangeArrowheads="1"/>
            </p:cNvSpPr>
            <p:nvPr/>
          </p:nvSpPr>
          <p:spPr bwMode="auto">
            <a:xfrm>
              <a:off x="336" y="960"/>
              <a:ext cx="480"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zh-CN" altLang="en-US" sz="1600" b="1" kern="1200" cap="none" spc="0" normalizeH="0" baseline="0" noProof="0" dirty="0">
                  <a:solidFill>
                    <a:srgbClr val="000000"/>
                  </a:solidFill>
                  <a:latin typeface="+mn-ea"/>
                  <a:ea typeface="+mn-ea"/>
                  <a:cs typeface="+mn-cs"/>
                </a:rPr>
                <a:t>初始值</a:t>
              </a:r>
              <a:endParaRPr kumimoji="0" lang="zh-CN" altLang="en-US" sz="1600" kern="1200" cap="none" spc="0" normalizeH="0" baseline="0" noProof="0" dirty="0">
                <a:solidFill>
                  <a:srgbClr val="000000"/>
                </a:solidFill>
                <a:latin typeface="+mn-ea"/>
                <a:ea typeface="+mn-ea"/>
                <a:cs typeface="+mn-cs"/>
              </a:endParaRPr>
            </a:p>
          </p:txBody>
        </p:sp>
        <p:grpSp>
          <p:nvGrpSpPr>
            <p:cNvPr id="78898" name="Group 1062"/>
            <p:cNvGrpSpPr/>
            <p:nvPr/>
          </p:nvGrpSpPr>
          <p:grpSpPr>
            <a:xfrm>
              <a:off x="480" y="2902"/>
              <a:ext cx="1680" cy="218"/>
              <a:chOff x="480" y="2112"/>
              <a:chExt cx="1680" cy="218"/>
            </a:xfrm>
          </p:grpSpPr>
          <p:grpSp>
            <p:nvGrpSpPr>
              <p:cNvPr id="78908" name="Group 1063"/>
              <p:cNvGrpSpPr/>
              <p:nvPr/>
            </p:nvGrpSpPr>
            <p:grpSpPr>
              <a:xfrm>
                <a:off x="1008" y="2112"/>
                <a:ext cx="1152" cy="218"/>
                <a:chOff x="1056" y="2544"/>
                <a:chExt cx="1152" cy="218"/>
              </a:xfrm>
            </p:grpSpPr>
            <p:sp>
              <p:nvSpPr>
                <p:cNvPr id="85054" name="Text Box 1064"/>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J</a:t>
                  </a:r>
                </a:p>
              </p:txBody>
            </p:sp>
            <p:sp>
              <p:nvSpPr>
                <p:cNvPr id="85055" name="Text Box 1065"/>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A</a:t>
                  </a:r>
                </a:p>
              </p:txBody>
            </p:sp>
            <p:sp>
              <p:nvSpPr>
                <p:cNvPr id="85056" name="Text Box 1066"/>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FF0000"/>
                      </a:solidFill>
                      <a:latin typeface="+mn-ea"/>
                      <a:ea typeface="+mn-ea"/>
                      <a:cs typeface="+mn-cs"/>
                    </a:rPr>
                    <a:t>V</a:t>
                  </a:r>
                  <a:endParaRPr kumimoji="0" lang="en-US" altLang="zh-CN" sz="1600" kern="1200" cap="none" spc="0" normalizeH="0" baseline="0" noProof="0">
                    <a:solidFill>
                      <a:srgbClr val="000000"/>
                    </a:solidFill>
                    <a:latin typeface="+mn-ea"/>
                    <a:ea typeface="+mn-ea"/>
                    <a:cs typeface="+mn-cs"/>
                  </a:endParaRPr>
                </a:p>
              </p:txBody>
            </p:sp>
            <p:sp>
              <p:nvSpPr>
                <p:cNvPr id="85057" name="Text Box 1067"/>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E</a:t>
                  </a:r>
                </a:p>
              </p:txBody>
            </p:sp>
          </p:grpSp>
          <p:sp>
            <p:nvSpPr>
              <p:cNvPr id="85053" name="Text Box 1068"/>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grpSp>
          <p:nvGrpSpPr>
            <p:cNvPr id="78899" name="Group 1069"/>
            <p:cNvGrpSpPr/>
            <p:nvPr/>
          </p:nvGrpSpPr>
          <p:grpSpPr>
            <a:xfrm>
              <a:off x="480" y="3670"/>
              <a:ext cx="1680" cy="218"/>
              <a:chOff x="480" y="2112"/>
              <a:chExt cx="1680" cy="218"/>
            </a:xfrm>
          </p:grpSpPr>
          <p:grpSp>
            <p:nvGrpSpPr>
              <p:cNvPr id="78902" name="Group 1070"/>
              <p:cNvGrpSpPr/>
              <p:nvPr/>
            </p:nvGrpSpPr>
            <p:grpSpPr>
              <a:xfrm>
                <a:off x="1008" y="2112"/>
                <a:ext cx="1152" cy="218"/>
                <a:chOff x="1056" y="2544"/>
                <a:chExt cx="1152" cy="218"/>
              </a:xfrm>
            </p:grpSpPr>
            <p:sp>
              <p:nvSpPr>
                <p:cNvPr id="85048" name="Text Box 1071"/>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D</a:t>
                  </a:r>
                </a:p>
              </p:txBody>
            </p:sp>
            <p:sp>
              <p:nvSpPr>
                <p:cNvPr id="85049" name="Text Box 1072"/>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A</a:t>
                  </a:r>
                </a:p>
              </p:txBody>
            </p:sp>
            <p:sp>
              <p:nvSpPr>
                <p:cNvPr id="85050" name="Text Box 1073"/>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V</a:t>
                  </a:r>
                </a:p>
              </p:txBody>
            </p:sp>
            <p:sp>
              <p:nvSpPr>
                <p:cNvPr id="85051" name="Text Box 1074"/>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E</a:t>
                  </a:r>
                </a:p>
              </p:txBody>
            </p:sp>
          </p:grpSp>
          <p:sp>
            <p:nvSpPr>
              <p:cNvPr id="85047" name="Text Box 1075"/>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sp>
          <p:nvSpPr>
            <p:cNvPr id="85044" name="Rectangle 1076"/>
            <p:cNvSpPr>
              <a:spLocks noChangeArrowheads="1"/>
            </p:cNvSpPr>
            <p:nvPr/>
          </p:nvSpPr>
          <p:spPr bwMode="auto">
            <a:xfrm>
              <a:off x="359" y="2640"/>
              <a:ext cx="1265" cy="213"/>
            </a:xfrm>
            <a:prstGeom prst="rect">
              <a:avLst/>
            </a:prstGeom>
            <a:noFill/>
            <a:ln w="9525">
              <a:noFill/>
              <a:miter lim="800000"/>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80604020202020204" pitchFamily="34" charset="0"/>
                <a:buNone/>
                <a:defRPr/>
              </a:pPr>
              <a:r>
                <a:rPr kumimoji="0" lang="zh-CN" altLang="en-US" sz="1600" b="1" i="0" u="none" strike="noStrike" kern="1200" cap="none" spc="0" normalizeH="0" baseline="0" noProof="0">
                  <a:ln>
                    <a:noFill/>
                  </a:ln>
                  <a:solidFill>
                    <a:srgbClr val="000000"/>
                  </a:solidFill>
                  <a:effectLst/>
                  <a:uLnTx/>
                  <a:uFillTx/>
                  <a:latin typeface="+mn-ea"/>
                  <a:ea typeface="+mn-ea"/>
                  <a:cs typeface="+mn-cs"/>
                </a:rPr>
                <a:t>执行“</a:t>
              </a:r>
              <a:r>
                <a:rPr kumimoji="0" lang="en-US" altLang="zh-CN" sz="1600" b="1" i="0" u="none" strike="noStrike" kern="1200" cap="none" spc="0" normalizeH="0" baseline="0" noProof="0">
                  <a:ln>
                    <a:noFill/>
                  </a:ln>
                  <a:solidFill>
                    <a:srgbClr val="000000"/>
                  </a:solidFill>
                  <a:effectLst/>
                  <a:uLnTx/>
                  <a:uFillTx/>
                  <a:latin typeface="+mn-ea"/>
                  <a:ea typeface="+mn-ea"/>
                  <a:cs typeface="+mn-cs"/>
                </a:rPr>
                <a:t>LWR  R2, 0x101”</a:t>
              </a:r>
              <a:r>
                <a:rPr kumimoji="0" lang="zh-CN" altLang="en-US" sz="1600" b="1" i="0" u="none" strike="noStrike" kern="1200" cap="none" spc="0" normalizeH="0" baseline="0" noProof="0">
                  <a:ln>
                    <a:noFill/>
                  </a:ln>
                  <a:solidFill>
                    <a:srgbClr val="000000"/>
                  </a:solidFill>
                  <a:effectLst/>
                  <a:uLnTx/>
                  <a:uFillTx/>
                  <a:latin typeface="+mn-ea"/>
                  <a:ea typeface="+mn-ea"/>
                  <a:cs typeface="+mn-cs"/>
                </a:rPr>
                <a:t>后</a:t>
              </a:r>
            </a:p>
          </p:txBody>
        </p:sp>
        <p:sp>
          <p:nvSpPr>
            <p:cNvPr id="85045" name="Rectangle 1077"/>
            <p:cNvSpPr>
              <a:spLocks noChangeArrowheads="1"/>
            </p:cNvSpPr>
            <p:nvPr/>
          </p:nvSpPr>
          <p:spPr bwMode="auto">
            <a:xfrm>
              <a:off x="361" y="3410"/>
              <a:ext cx="1265" cy="213"/>
            </a:xfrm>
            <a:prstGeom prst="rect">
              <a:avLst/>
            </a:prstGeom>
            <a:noFill/>
            <a:ln w="9525">
              <a:noFill/>
              <a:miter lim="800000"/>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80604020202020204" pitchFamily="34" charset="0"/>
                <a:buNone/>
                <a:defRPr/>
              </a:pPr>
              <a:r>
                <a:rPr kumimoji="0" lang="zh-CN" altLang="en-US" sz="1600" b="1" i="0" u="none" strike="noStrike" kern="1200" cap="none" spc="0" normalizeH="0" baseline="0" noProof="0">
                  <a:ln>
                    <a:noFill/>
                  </a:ln>
                  <a:solidFill>
                    <a:srgbClr val="000000"/>
                  </a:solidFill>
                  <a:effectLst/>
                  <a:uLnTx/>
                  <a:uFillTx/>
                  <a:latin typeface="+mn-ea"/>
                  <a:ea typeface="+mn-ea"/>
                  <a:cs typeface="+mn-cs"/>
                </a:rPr>
                <a:t>执行“</a:t>
              </a:r>
              <a:r>
                <a:rPr kumimoji="0" lang="en-US" altLang="zh-CN" sz="1600" b="1" i="0" u="none" strike="noStrike" kern="1200" cap="none" spc="0" normalizeH="0" baseline="0" noProof="0">
                  <a:ln>
                    <a:noFill/>
                  </a:ln>
                  <a:solidFill>
                    <a:srgbClr val="000000"/>
                  </a:solidFill>
                  <a:effectLst/>
                  <a:uLnTx/>
                  <a:uFillTx/>
                  <a:latin typeface="+mn-ea"/>
                  <a:ea typeface="+mn-ea"/>
                  <a:cs typeface="+mn-cs"/>
                </a:rPr>
                <a:t>LWL  R2, 0x104”</a:t>
              </a:r>
              <a:r>
                <a:rPr kumimoji="0" lang="zh-CN" altLang="en-US" sz="1600" b="1" i="0" u="none" strike="noStrike" kern="1200" cap="none" spc="0" normalizeH="0" baseline="0" noProof="0">
                  <a:ln>
                    <a:noFill/>
                  </a:ln>
                  <a:solidFill>
                    <a:srgbClr val="000000"/>
                  </a:solidFill>
                  <a:effectLst/>
                  <a:uLnTx/>
                  <a:uFillTx/>
                  <a:latin typeface="+mn-ea"/>
                  <a:ea typeface="+mn-ea"/>
                  <a:cs typeface="+mn-cs"/>
                </a:rPr>
                <a:t>后</a:t>
              </a:r>
            </a:p>
          </p:txBody>
        </p:sp>
      </p:grpSp>
      <p:grpSp>
        <p:nvGrpSpPr>
          <p:cNvPr id="78852" name="Group 1120"/>
          <p:cNvGrpSpPr/>
          <p:nvPr/>
        </p:nvGrpSpPr>
        <p:grpSpPr>
          <a:xfrm>
            <a:off x="6297613" y="1828800"/>
            <a:ext cx="3860800" cy="4648200"/>
            <a:chOff x="2976" y="1152"/>
            <a:chExt cx="1824" cy="2928"/>
          </a:xfrm>
        </p:grpSpPr>
        <p:grpSp>
          <p:nvGrpSpPr>
            <p:cNvPr id="78857" name="Group 1080"/>
            <p:cNvGrpSpPr/>
            <p:nvPr/>
          </p:nvGrpSpPr>
          <p:grpSpPr>
            <a:xfrm>
              <a:off x="3648" y="1440"/>
              <a:ext cx="1152" cy="218"/>
              <a:chOff x="1056" y="2544"/>
              <a:chExt cx="1152" cy="218"/>
            </a:xfrm>
          </p:grpSpPr>
          <p:sp>
            <p:nvSpPr>
              <p:cNvPr id="85032" name="Text Box 1081"/>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E</a:t>
                </a:r>
                <a:endParaRPr kumimoji="0" lang="zh-CN" altLang="zh-CN" sz="1600" kern="1200" cap="none" spc="0" normalizeH="0" baseline="0" noProof="0">
                  <a:solidFill>
                    <a:srgbClr val="000000"/>
                  </a:solidFill>
                  <a:latin typeface="+mn-ea"/>
                  <a:ea typeface="+mn-ea"/>
                  <a:cs typeface="+mn-cs"/>
                </a:endParaRPr>
              </a:p>
            </p:txBody>
          </p:sp>
          <p:sp>
            <p:nvSpPr>
              <p:cNvPr id="85033" name="Text Box 1082"/>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zh-CN" altLang="zh-CN" sz="1600" kern="1200" cap="none" spc="0" normalizeH="0" baseline="0" noProof="0">
                  <a:solidFill>
                    <a:srgbClr val="000000"/>
                  </a:solidFill>
                  <a:latin typeface="+mn-ea"/>
                  <a:ea typeface="+mn-ea"/>
                  <a:cs typeface="+mn-cs"/>
                </a:endParaRPr>
              </a:p>
            </p:txBody>
          </p:sp>
          <p:sp>
            <p:nvSpPr>
              <p:cNvPr id="85034" name="Text Box 1083"/>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zh-CN" altLang="zh-CN" sz="1600" kern="1200" cap="none" spc="0" normalizeH="0" baseline="0" noProof="0">
                  <a:solidFill>
                    <a:srgbClr val="000000"/>
                  </a:solidFill>
                  <a:latin typeface="+mn-ea"/>
                  <a:ea typeface="+mn-ea"/>
                  <a:cs typeface="+mn-cs"/>
                </a:endParaRPr>
              </a:p>
            </p:txBody>
          </p:sp>
          <p:sp>
            <p:nvSpPr>
              <p:cNvPr id="85035" name="Text Box 1084"/>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en-US" altLang="zh-CN" sz="1600" kern="1200" cap="none" spc="0" normalizeH="0" baseline="0" noProof="0">
                  <a:solidFill>
                    <a:srgbClr val="000000"/>
                  </a:solidFill>
                  <a:latin typeface="+mn-ea"/>
                  <a:ea typeface="+mn-ea"/>
                  <a:cs typeface="+mn-cs"/>
                </a:endParaRPr>
              </a:p>
            </p:txBody>
          </p:sp>
        </p:grpSp>
        <p:sp>
          <p:nvSpPr>
            <p:cNvPr id="85002" name="Text Box 1086"/>
            <p:cNvSpPr txBox="1">
              <a:spLocks noChangeArrowheads="1"/>
            </p:cNvSpPr>
            <p:nvPr/>
          </p:nvSpPr>
          <p:spPr bwMode="auto">
            <a:xfrm>
              <a:off x="3648" y="1872"/>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endParaRPr kumimoji="0" lang="en-US" altLang="zh-CN" sz="1600" kern="1200" cap="none" spc="0" normalizeH="0" baseline="0" noProof="0">
                <a:solidFill>
                  <a:srgbClr val="000000"/>
                </a:solidFill>
                <a:latin typeface="+mn-ea"/>
                <a:ea typeface="+mn-ea"/>
                <a:cs typeface="+mn-cs"/>
              </a:endParaRPr>
            </a:p>
          </p:txBody>
        </p:sp>
        <p:sp>
          <p:nvSpPr>
            <p:cNvPr id="85003" name="Text Box 1087"/>
            <p:cNvSpPr txBox="1">
              <a:spLocks noChangeArrowheads="1"/>
            </p:cNvSpPr>
            <p:nvPr/>
          </p:nvSpPr>
          <p:spPr bwMode="auto">
            <a:xfrm>
              <a:off x="3936" y="1872"/>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D</a:t>
              </a:r>
            </a:p>
          </p:txBody>
        </p:sp>
        <p:sp>
          <p:nvSpPr>
            <p:cNvPr id="85004" name="Text Box 1088"/>
            <p:cNvSpPr txBox="1">
              <a:spLocks noChangeArrowheads="1"/>
            </p:cNvSpPr>
            <p:nvPr/>
          </p:nvSpPr>
          <p:spPr bwMode="auto">
            <a:xfrm>
              <a:off x="4224" y="1872"/>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A</a:t>
              </a:r>
            </a:p>
          </p:txBody>
        </p:sp>
        <p:sp>
          <p:nvSpPr>
            <p:cNvPr id="85005" name="Text Box 1089"/>
            <p:cNvSpPr txBox="1">
              <a:spLocks noChangeArrowheads="1"/>
            </p:cNvSpPr>
            <p:nvPr/>
          </p:nvSpPr>
          <p:spPr bwMode="auto">
            <a:xfrm>
              <a:off x="4512" y="1872"/>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V</a:t>
              </a:r>
              <a:endParaRPr kumimoji="0" lang="zh-CN" altLang="zh-CN" sz="1600" kern="1200" cap="none" spc="0" normalizeH="0" baseline="0" noProof="0">
                <a:solidFill>
                  <a:srgbClr val="000000"/>
                </a:solidFill>
                <a:latin typeface="+mn-ea"/>
                <a:ea typeface="+mn-ea"/>
                <a:cs typeface="+mn-cs"/>
              </a:endParaRPr>
            </a:p>
          </p:txBody>
        </p:sp>
        <p:sp>
          <p:nvSpPr>
            <p:cNvPr id="85006" name="Text Box 1090"/>
            <p:cNvSpPr txBox="1">
              <a:spLocks noChangeArrowheads="1"/>
            </p:cNvSpPr>
            <p:nvPr/>
          </p:nvSpPr>
          <p:spPr bwMode="auto">
            <a:xfrm>
              <a:off x="3024" y="1478"/>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M[200]</a:t>
              </a:r>
            </a:p>
          </p:txBody>
        </p:sp>
        <p:sp>
          <p:nvSpPr>
            <p:cNvPr id="85007" name="Text Box 1091"/>
            <p:cNvSpPr txBox="1">
              <a:spLocks noChangeArrowheads="1"/>
            </p:cNvSpPr>
            <p:nvPr/>
          </p:nvSpPr>
          <p:spPr bwMode="auto">
            <a:xfrm>
              <a:off x="3024" y="192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M[204]</a:t>
              </a:r>
            </a:p>
          </p:txBody>
        </p:sp>
        <p:grpSp>
          <p:nvGrpSpPr>
            <p:cNvPr id="78864" name="Group 1092"/>
            <p:cNvGrpSpPr/>
            <p:nvPr/>
          </p:nvGrpSpPr>
          <p:grpSpPr>
            <a:xfrm>
              <a:off x="3120" y="2304"/>
              <a:ext cx="1680" cy="218"/>
              <a:chOff x="480" y="2112"/>
              <a:chExt cx="1680" cy="218"/>
            </a:xfrm>
          </p:grpSpPr>
          <p:grpSp>
            <p:nvGrpSpPr>
              <p:cNvPr id="78882" name="Group 1093"/>
              <p:cNvGrpSpPr/>
              <p:nvPr/>
            </p:nvGrpSpPr>
            <p:grpSpPr>
              <a:xfrm>
                <a:off x="1008" y="2112"/>
                <a:ext cx="1152" cy="218"/>
                <a:chOff x="1056" y="2544"/>
                <a:chExt cx="1152" cy="218"/>
              </a:xfrm>
            </p:grpSpPr>
            <p:sp>
              <p:nvSpPr>
                <p:cNvPr id="85028" name="Text Box 1094"/>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J</a:t>
                  </a:r>
                </a:p>
              </p:txBody>
            </p:sp>
            <p:sp>
              <p:nvSpPr>
                <p:cNvPr id="85029" name="Text Box 1095"/>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O</a:t>
                  </a:r>
                </a:p>
              </p:txBody>
            </p:sp>
            <p:sp>
              <p:nvSpPr>
                <p:cNvPr id="85030" name="Text Box 1096"/>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H</a:t>
                  </a:r>
                </a:p>
              </p:txBody>
            </p:sp>
            <p:sp>
              <p:nvSpPr>
                <p:cNvPr id="85031" name="Text Box 1097"/>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N</a:t>
                  </a:r>
                </a:p>
              </p:txBody>
            </p:sp>
          </p:grpSp>
          <p:sp>
            <p:nvSpPr>
              <p:cNvPr id="85027" name="Text Box 1098"/>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sp>
          <p:nvSpPr>
            <p:cNvPr id="85009" name="Text Box 1099"/>
            <p:cNvSpPr txBox="1">
              <a:spLocks noChangeArrowheads="1"/>
            </p:cNvSpPr>
            <p:nvPr/>
          </p:nvSpPr>
          <p:spPr bwMode="auto">
            <a:xfrm>
              <a:off x="2976" y="1152"/>
              <a:ext cx="480"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zh-CN" altLang="en-US" sz="1600" b="1" kern="1200" cap="none" spc="0" normalizeH="0" baseline="0" noProof="0">
                  <a:solidFill>
                    <a:srgbClr val="000000"/>
                  </a:solidFill>
                  <a:latin typeface="+mn-ea"/>
                  <a:ea typeface="+mn-ea"/>
                  <a:cs typeface="+mn-cs"/>
                </a:rPr>
                <a:t>初始值</a:t>
              </a:r>
              <a:endParaRPr kumimoji="0" lang="zh-CN" altLang="en-US" sz="1600" kern="1200" cap="none" spc="0" normalizeH="0" baseline="0" noProof="0">
                <a:solidFill>
                  <a:srgbClr val="000000"/>
                </a:solidFill>
                <a:latin typeface="+mn-ea"/>
                <a:ea typeface="+mn-ea"/>
                <a:cs typeface="+mn-cs"/>
              </a:endParaRPr>
            </a:p>
          </p:txBody>
        </p:sp>
        <p:grpSp>
          <p:nvGrpSpPr>
            <p:cNvPr id="78866" name="Group 1100"/>
            <p:cNvGrpSpPr/>
            <p:nvPr/>
          </p:nvGrpSpPr>
          <p:grpSpPr>
            <a:xfrm>
              <a:off x="3120" y="3094"/>
              <a:ext cx="1680" cy="218"/>
              <a:chOff x="480" y="2112"/>
              <a:chExt cx="1680" cy="218"/>
            </a:xfrm>
          </p:grpSpPr>
          <p:grpSp>
            <p:nvGrpSpPr>
              <p:cNvPr id="78876" name="Group 1101"/>
              <p:cNvGrpSpPr/>
              <p:nvPr/>
            </p:nvGrpSpPr>
            <p:grpSpPr>
              <a:xfrm>
                <a:off x="1008" y="2112"/>
                <a:ext cx="1152" cy="218"/>
                <a:chOff x="1056" y="2544"/>
                <a:chExt cx="1152" cy="218"/>
              </a:xfrm>
            </p:grpSpPr>
            <p:sp>
              <p:nvSpPr>
                <p:cNvPr id="85022" name="Text Box 1102"/>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J</a:t>
                  </a:r>
                </a:p>
              </p:txBody>
            </p:sp>
            <p:sp>
              <p:nvSpPr>
                <p:cNvPr id="85023" name="Text Box 1103"/>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O</a:t>
                  </a:r>
                  <a:endParaRPr kumimoji="0" lang="en-US" altLang="zh-CN" sz="1600" kern="1200" cap="none" spc="0" normalizeH="0" baseline="0" noProof="0">
                    <a:solidFill>
                      <a:srgbClr val="FF0000"/>
                    </a:solidFill>
                    <a:latin typeface="+mn-ea"/>
                    <a:ea typeface="+mn-ea"/>
                    <a:cs typeface="+mn-cs"/>
                  </a:endParaRPr>
                </a:p>
              </p:txBody>
            </p:sp>
            <p:sp>
              <p:nvSpPr>
                <p:cNvPr id="85024" name="Text Box 1104"/>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000000"/>
                      </a:solidFill>
                      <a:latin typeface="宋体" panose="02000500000000000000" pitchFamily="2" charset="-122"/>
                    </a:rPr>
                    <a:t>H</a:t>
                  </a:r>
                </a:p>
              </p:txBody>
            </p:sp>
            <p:sp>
              <p:nvSpPr>
                <p:cNvPr id="85025" name="Text Box 1105"/>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E</a:t>
                  </a:r>
                </a:p>
              </p:txBody>
            </p:sp>
          </p:grpSp>
          <p:sp>
            <p:nvSpPr>
              <p:cNvPr id="85021" name="Text Box 1106"/>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grpSp>
          <p:nvGrpSpPr>
            <p:cNvPr id="78867" name="Group 1107"/>
            <p:cNvGrpSpPr/>
            <p:nvPr/>
          </p:nvGrpSpPr>
          <p:grpSpPr>
            <a:xfrm>
              <a:off x="3120" y="3862"/>
              <a:ext cx="1680" cy="218"/>
              <a:chOff x="480" y="2112"/>
              <a:chExt cx="1680" cy="218"/>
            </a:xfrm>
          </p:grpSpPr>
          <p:grpSp>
            <p:nvGrpSpPr>
              <p:cNvPr id="78870" name="Group 1108"/>
              <p:cNvGrpSpPr/>
              <p:nvPr/>
            </p:nvGrpSpPr>
            <p:grpSpPr>
              <a:xfrm>
                <a:off x="1008" y="2112"/>
                <a:ext cx="1152" cy="218"/>
                <a:chOff x="1056" y="2544"/>
                <a:chExt cx="1152" cy="218"/>
              </a:xfrm>
            </p:grpSpPr>
            <p:sp>
              <p:nvSpPr>
                <p:cNvPr id="85016" name="Text Box 1109"/>
                <p:cNvSpPr txBox="1">
                  <a:spLocks noChangeArrowheads="1"/>
                </p:cNvSpPr>
                <p:nvPr/>
              </p:nvSpPr>
              <p:spPr bwMode="auto">
                <a:xfrm>
                  <a:off x="1056"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D</a:t>
                  </a:r>
                </a:p>
              </p:txBody>
            </p:sp>
            <p:sp>
              <p:nvSpPr>
                <p:cNvPr id="85017" name="Text Box 1110"/>
                <p:cNvSpPr txBox="1">
                  <a:spLocks noChangeArrowheads="1"/>
                </p:cNvSpPr>
                <p:nvPr/>
              </p:nvSpPr>
              <p:spPr bwMode="auto">
                <a:xfrm>
                  <a:off x="1344"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A</a:t>
                  </a:r>
                </a:p>
              </p:txBody>
            </p:sp>
            <p:sp>
              <p:nvSpPr>
                <p:cNvPr id="85018" name="Text Box 1111"/>
                <p:cNvSpPr txBox="1">
                  <a:spLocks noChangeArrowheads="1"/>
                </p:cNvSpPr>
                <p:nvPr/>
              </p:nvSpPr>
              <p:spPr bwMode="auto">
                <a:xfrm>
                  <a:off x="1632"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V</a:t>
                  </a:r>
                </a:p>
              </p:txBody>
            </p:sp>
            <p:sp>
              <p:nvSpPr>
                <p:cNvPr id="85019" name="Text Box 1112"/>
                <p:cNvSpPr txBox="1">
                  <a:spLocks noChangeArrowheads="1"/>
                </p:cNvSpPr>
                <p:nvPr/>
              </p:nvSpPr>
              <p:spPr bwMode="auto">
                <a:xfrm>
                  <a:off x="1920" y="2544"/>
                  <a:ext cx="288" cy="218"/>
                </a:xfrm>
                <a:prstGeom prst="rect">
                  <a:avLst/>
                </a:prstGeom>
                <a:noFill/>
                <a:ln w="9525">
                  <a:solidFill>
                    <a:schemeClr val="tx1"/>
                  </a:solidFill>
                  <a:miter lim="800000"/>
                </a:ln>
              </p:spPr>
              <p:txBody>
                <a:bodyPr>
                  <a:spAutoFit/>
                </a:bodyPr>
                <a:lstStyle/>
                <a:p>
                  <a:pPr algn="ctr">
                    <a:spcBef>
                      <a:spcPct val="50000"/>
                    </a:spcBef>
                    <a:buNone/>
                  </a:pPr>
                  <a:r>
                    <a:rPr lang="en-US" altLang="zh-CN" sz="1600" dirty="0">
                      <a:solidFill>
                        <a:srgbClr val="FF0000"/>
                      </a:solidFill>
                      <a:latin typeface="宋体" panose="02000500000000000000" pitchFamily="2" charset="-122"/>
                    </a:rPr>
                    <a:t>E</a:t>
                  </a:r>
                </a:p>
              </p:txBody>
            </p:sp>
          </p:grpSp>
          <p:sp>
            <p:nvSpPr>
              <p:cNvPr id="85015" name="Text Box 1113"/>
              <p:cNvSpPr txBox="1">
                <a:spLocks noChangeArrowheads="1"/>
              </p:cNvSpPr>
              <p:nvPr/>
            </p:nvSpPr>
            <p:spPr bwMode="auto">
              <a:xfrm>
                <a:off x="480" y="2150"/>
                <a:ext cx="432" cy="154"/>
              </a:xfrm>
              <a:prstGeom prst="rect">
                <a:avLst/>
              </a:prstGeom>
              <a:noFill/>
              <a:ln w="9525">
                <a:noFill/>
                <a:miter lim="800000"/>
              </a:ln>
            </p:spPr>
            <p:txBody>
              <a:bodyPr lIns="0" tIns="0" rIns="0" bIns="0">
                <a:spAutoFit/>
              </a:bodyPr>
              <a:lstStyle/>
              <a:p>
                <a:pPr marR="0" algn="ctr" defTabSz="914400">
                  <a:spcBef>
                    <a:spcPct val="50000"/>
                  </a:spcBef>
                  <a:buClrTx/>
                  <a:buSzTx/>
                  <a:buFont typeface="Arial" panose="02080604020202020204" pitchFamily="34" charset="0"/>
                  <a:buNone/>
                  <a:defRPr/>
                </a:pPr>
                <a:r>
                  <a:rPr kumimoji="0" lang="en-US" altLang="zh-CN" sz="1600" kern="1200" cap="none" spc="0" normalizeH="0" baseline="0" noProof="0">
                    <a:solidFill>
                      <a:srgbClr val="000000"/>
                    </a:solidFill>
                    <a:latin typeface="+mn-ea"/>
                    <a:ea typeface="+mn-ea"/>
                    <a:cs typeface="+mn-cs"/>
                  </a:rPr>
                  <a:t>R2</a:t>
                </a:r>
              </a:p>
            </p:txBody>
          </p:sp>
        </p:grpSp>
        <p:sp>
          <p:nvSpPr>
            <p:cNvPr id="85012" name="Rectangle 1114"/>
            <p:cNvSpPr>
              <a:spLocks noChangeArrowheads="1"/>
            </p:cNvSpPr>
            <p:nvPr/>
          </p:nvSpPr>
          <p:spPr bwMode="auto">
            <a:xfrm>
              <a:off x="2999" y="2832"/>
              <a:ext cx="1265" cy="213"/>
            </a:xfrm>
            <a:prstGeom prst="rect">
              <a:avLst/>
            </a:prstGeom>
            <a:noFill/>
            <a:ln w="9525">
              <a:noFill/>
              <a:miter lim="800000"/>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80604020202020204" pitchFamily="34" charset="0"/>
                <a:buNone/>
                <a:defRPr/>
              </a:pPr>
              <a:r>
                <a:rPr kumimoji="0" lang="zh-CN" altLang="en-US" sz="1600" b="1" i="0" u="none" strike="noStrike" kern="1200" cap="none" spc="0" normalizeH="0" baseline="0" noProof="0">
                  <a:ln>
                    <a:noFill/>
                  </a:ln>
                  <a:solidFill>
                    <a:srgbClr val="000000"/>
                  </a:solidFill>
                  <a:effectLst/>
                  <a:uLnTx/>
                  <a:uFillTx/>
                  <a:latin typeface="+mn-ea"/>
                  <a:ea typeface="+mn-ea"/>
                  <a:cs typeface="+mn-cs"/>
                </a:rPr>
                <a:t>执行“</a:t>
              </a:r>
              <a:r>
                <a:rPr kumimoji="0" lang="en-US" altLang="zh-CN" sz="1600" b="1" i="0" u="none" strike="noStrike" kern="1200" cap="none" spc="0" normalizeH="0" baseline="0" noProof="0">
                  <a:ln>
                    <a:noFill/>
                  </a:ln>
                  <a:solidFill>
                    <a:srgbClr val="000000"/>
                  </a:solidFill>
                  <a:effectLst/>
                  <a:uLnTx/>
                  <a:uFillTx/>
                  <a:latin typeface="+mn-ea"/>
                  <a:ea typeface="+mn-ea"/>
                  <a:cs typeface="+mn-cs"/>
                </a:rPr>
                <a:t>LWR  R2, 0x203”</a:t>
              </a:r>
              <a:r>
                <a:rPr kumimoji="0" lang="zh-CN" altLang="en-US" sz="1600" b="1" i="0" u="none" strike="noStrike" kern="1200" cap="none" spc="0" normalizeH="0" baseline="0" noProof="0">
                  <a:ln>
                    <a:noFill/>
                  </a:ln>
                  <a:solidFill>
                    <a:srgbClr val="000000"/>
                  </a:solidFill>
                  <a:effectLst/>
                  <a:uLnTx/>
                  <a:uFillTx/>
                  <a:latin typeface="+mn-ea"/>
                  <a:ea typeface="+mn-ea"/>
                  <a:cs typeface="+mn-cs"/>
                </a:rPr>
                <a:t>后</a:t>
              </a:r>
            </a:p>
          </p:txBody>
        </p:sp>
        <p:sp>
          <p:nvSpPr>
            <p:cNvPr id="85013" name="Rectangle 1115"/>
            <p:cNvSpPr>
              <a:spLocks noChangeArrowheads="1"/>
            </p:cNvSpPr>
            <p:nvPr/>
          </p:nvSpPr>
          <p:spPr bwMode="auto">
            <a:xfrm>
              <a:off x="3001" y="3602"/>
              <a:ext cx="1265" cy="213"/>
            </a:xfrm>
            <a:prstGeom prst="rect">
              <a:avLst/>
            </a:prstGeom>
            <a:noFill/>
            <a:ln w="9525">
              <a:noFill/>
              <a:miter lim="800000"/>
            </a:ln>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 typeface="Arial" panose="02080604020202020204" pitchFamily="34" charset="0"/>
                <a:buNone/>
                <a:defRPr/>
              </a:pPr>
              <a:r>
                <a:rPr kumimoji="0" lang="zh-CN" altLang="en-US" sz="1600" b="1" i="0" u="none" strike="noStrike" kern="1200" cap="none" spc="0" normalizeH="0" baseline="0" noProof="0">
                  <a:ln>
                    <a:noFill/>
                  </a:ln>
                  <a:solidFill>
                    <a:srgbClr val="000000"/>
                  </a:solidFill>
                  <a:effectLst/>
                  <a:uLnTx/>
                  <a:uFillTx/>
                  <a:latin typeface="+mn-ea"/>
                  <a:ea typeface="+mn-ea"/>
                  <a:cs typeface="+mn-cs"/>
                </a:rPr>
                <a:t>执行“</a:t>
              </a:r>
              <a:r>
                <a:rPr kumimoji="0" lang="en-US" altLang="zh-CN" sz="1600" b="1" i="0" u="none" strike="noStrike" kern="1200" cap="none" spc="0" normalizeH="0" baseline="0" noProof="0">
                  <a:ln>
                    <a:noFill/>
                  </a:ln>
                  <a:solidFill>
                    <a:srgbClr val="000000"/>
                  </a:solidFill>
                  <a:effectLst/>
                  <a:uLnTx/>
                  <a:uFillTx/>
                  <a:latin typeface="+mn-ea"/>
                  <a:ea typeface="+mn-ea"/>
                  <a:cs typeface="+mn-cs"/>
                </a:rPr>
                <a:t>LWL  R2, 0x206”</a:t>
              </a:r>
              <a:r>
                <a:rPr kumimoji="0" lang="zh-CN" altLang="en-US" sz="1600" b="1" i="0" u="none" strike="noStrike" kern="1200" cap="none" spc="0" normalizeH="0" baseline="0" noProof="0">
                  <a:ln>
                    <a:noFill/>
                  </a:ln>
                  <a:solidFill>
                    <a:srgbClr val="000000"/>
                  </a:solidFill>
                  <a:effectLst/>
                  <a:uLnTx/>
                  <a:uFillTx/>
                  <a:latin typeface="+mn-ea"/>
                  <a:ea typeface="+mn-ea"/>
                  <a:cs typeface="+mn-cs"/>
                </a:rPr>
                <a:t>后</a:t>
              </a:r>
            </a:p>
          </p:txBody>
        </p:sp>
      </p:grpSp>
      <p:sp>
        <p:nvSpPr>
          <p:cNvPr id="78853" name="Rectangle 1116"/>
          <p:cNvSpPr/>
          <p:nvPr/>
        </p:nvSpPr>
        <p:spPr>
          <a:xfrm>
            <a:off x="914400" y="228600"/>
            <a:ext cx="10361613" cy="685800"/>
          </a:xfrm>
          <a:prstGeom prst="rect">
            <a:avLst/>
          </a:prstGeom>
          <a:noFill/>
          <a:ln w="9525">
            <a:noFill/>
          </a:ln>
        </p:spPr>
        <p:txBody>
          <a:bodyPr anchor="ctr" anchorCtr="0"/>
          <a:lstStyle/>
          <a:p>
            <a:pPr algn="ctr"/>
            <a:r>
              <a:rPr lang="en-US" altLang="zh-CN" sz="3600" dirty="0">
                <a:solidFill>
                  <a:srgbClr val="FF0000"/>
                </a:solidFill>
                <a:latin typeface="Arial" panose="02080604020202020204" pitchFamily="34" charset="0"/>
                <a:ea typeface="黑体" panose="02000500000000000000" pitchFamily="49" charset="-122"/>
              </a:rPr>
              <a:t>MIPS</a:t>
            </a:r>
            <a:r>
              <a:rPr lang="zh-CN" altLang="en-US" sz="3600" dirty="0">
                <a:solidFill>
                  <a:srgbClr val="FF0000"/>
                </a:solidFill>
                <a:latin typeface="Arial" panose="02080604020202020204" pitchFamily="34" charset="0"/>
                <a:ea typeface="黑体" panose="02000500000000000000" pitchFamily="49" charset="-122"/>
              </a:rPr>
              <a:t>特色－非对齐访存指令</a:t>
            </a:r>
          </a:p>
        </p:txBody>
      </p:sp>
      <p:sp>
        <p:nvSpPr>
          <p:cNvPr id="78854" name="Rectangle 1118"/>
          <p:cNvSpPr/>
          <p:nvPr/>
        </p:nvSpPr>
        <p:spPr>
          <a:xfrm>
            <a:off x="508000" y="990600"/>
            <a:ext cx="10869613" cy="685800"/>
          </a:xfrm>
          <a:prstGeom prst="rect">
            <a:avLst/>
          </a:prstGeom>
          <a:noFill/>
          <a:ln w="9525">
            <a:noFill/>
          </a:ln>
        </p:spPr>
        <p:txBody>
          <a:bodyPr/>
          <a:lstStyle/>
          <a:p>
            <a:pPr marL="342900" indent="-342900">
              <a:lnSpc>
                <a:spcPct val="110000"/>
              </a:lnSpc>
              <a:spcBef>
                <a:spcPct val="20000"/>
              </a:spcBef>
              <a:buFont typeface="Arial" panose="02080604020202020204" pitchFamily="34" charset="0"/>
              <a:buChar char="•"/>
            </a:pPr>
            <a:r>
              <a:rPr lang="zh-CN" altLang="en-US" sz="2000" b="1" dirty="0">
                <a:solidFill>
                  <a:srgbClr val="000000"/>
                </a:solidFill>
                <a:latin typeface="Times New Roman" pitchFamily="18" charset="0"/>
              </a:rPr>
              <a:t>边界不对齐的数据传送（小尾端）</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a:xfrm>
            <a:off x="914400" y="0"/>
            <a:ext cx="10361613" cy="1112838"/>
          </a:xfrm>
        </p:spPr>
        <p:txBody>
          <a:bodyPr vert="horz" wrap="square" lIns="91440" tIns="45720" rIns="91440" bIns="45720" anchor="ctr" anchorCtr="0"/>
          <a:lstStyle/>
          <a:p>
            <a:pPr eaLnBrk="1" hangingPunct="1"/>
            <a:r>
              <a:rPr lang="en-US" altLang="zh-CN" dirty="0"/>
              <a:t>LWL/LWR</a:t>
            </a:r>
            <a:r>
              <a:rPr lang="zh-CN" altLang="zh-CN" dirty="0"/>
              <a:t>指令举例</a:t>
            </a:r>
            <a:endParaRPr lang="zh-CN" altLang="en-US" dirty="0"/>
          </a:p>
        </p:txBody>
      </p:sp>
      <p:sp>
        <p:nvSpPr>
          <p:cNvPr id="79875" name="Rectangle 3"/>
          <p:cNvSpPr>
            <a:spLocks noGrp="1"/>
          </p:cNvSpPr>
          <p:nvPr>
            <p:ph idx="1"/>
          </p:nvPr>
        </p:nvSpPr>
        <p:spPr>
          <a:xfrm>
            <a:off x="914400" y="1271588"/>
            <a:ext cx="10361613" cy="5176837"/>
          </a:xfrm>
        </p:spPr>
        <p:txBody>
          <a:bodyPr vert="horz" wrap="square" lIns="91440" tIns="45720" rIns="91440" bIns="45720" anchor="t" anchorCtr="0"/>
          <a:lstStyle/>
          <a:p>
            <a:pPr eaLnBrk="1" hangingPunct="1"/>
            <a:r>
              <a:rPr lang="zh-CN" altLang="en-US" dirty="0"/>
              <a:t>如果没有它们</a:t>
            </a:r>
            <a:r>
              <a:rPr lang="en-US" altLang="zh-CN" dirty="0"/>
              <a:t>,</a:t>
            </a:r>
            <a:r>
              <a:rPr lang="zh-CN" altLang="en-US" dirty="0"/>
              <a:t>取一个不对齐的字需要</a:t>
            </a:r>
            <a:r>
              <a:rPr lang="en-US" altLang="zh-CN" dirty="0"/>
              <a:t>10</a:t>
            </a:r>
            <a:r>
              <a:rPr lang="zh-CN" altLang="en-US" dirty="0"/>
              <a:t>条指令</a:t>
            </a:r>
          </a:p>
          <a:p>
            <a:pPr lvl="1" eaLnBrk="1" hangingPunct="1"/>
            <a:r>
              <a:rPr lang="zh-CN" altLang="en-US" dirty="0"/>
              <a:t>包括</a:t>
            </a:r>
            <a:r>
              <a:rPr lang="en-US" altLang="zh-CN" dirty="0"/>
              <a:t>4</a:t>
            </a:r>
            <a:r>
              <a:rPr lang="zh-CN" altLang="en-US" dirty="0"/>
              <a:t>个</a:t>
            </a:r>
            <a:r>
              <a:rPr lang="en-US" altLang="zh-CN" dirty="0"/>
              <a:t>load/store</a:t>
            </a:r>
            <a:r>
              <a:rPr lang="zh-CN" altLang="en-US" dirty="0"/>
              <a:t>并需要一个临时寄存器</a:t>
            </a:r>
            <a:r>
              <a:rPr lang="en-US" altLang="zh-CN" dirty="0"/>
              <a:t>:</a:t>
            </a:r>
          </a:p>
          <a:p>
            <a:pPr eaLnBrk="1" hangingPunct="1">
              <a:buNone/>
            </a:pPr>
            <a:r>
              <a:rPr lang="en-US" altLang="zh-CN" sz="1400" b="0" dirty="0">
                <a:latin typeface="Consolas" pitchFamily="49" charset="0"/>
              </a:rPr>
              <a:t>   lbu  rt,3(base)</a:t>
            </a:r>
          </a:p>
          <a:p>
            <a:pPr eaLnBrk="1" hangingPunct="1">
              <a:buNone/>
            </a:pPr>
            <a:r>
              <a:rPr lang="en-US" altLang="zh-CN" sz="1400" b="0" dirty="0">
                <a:latin typeface="Consolas" pitchFamily="49" charset="0"/>
              </a:rPr>
              <a:t>   sll  rt,rt,24</a:t>
            </a:r>
          </a:p>
          <a:p>
            <a:pPr eaLnBrk="1" hangingPunct="1">
              <a:buNone/>
            </a:pPr>
            <a:r>
              <a:rPr lang="en-US" altLang="zh-CN" sz="1400" b="0" dirty="0">
                <a:latin typeface="Consolas" pitchFamily="49" charset="0"/>
              </a:rPr>
              <a:t>   lbu  rtmp,2(base)</a:t>
            </a:r>
          </a:p>
          <a:p>
            <a:pPr eaLnBrk="1" hangingPunct="1">
              <a:buNone/>
            </a:pPr>
            <a:r>
              <a:rPr lang="en-US" altLang="zh-CN" sz="1400" b="0" dirty="0">
                <a:latin typeface="Consolas" pitchFamily="49" charset="0"/>
              </a:rPr>
              <a:t>   sll  rtmp,rtmp,16</a:t>
            </a:r>
          </a:p>
          <a:p>
            <a:pPr eaLnBrk="1" hangingPunct="1">
              <a:buNone/>
            </a:pPr>
            <a:r>
              <a:rPr lang="en-US" altLang="zh-CN" sz="1400" b="0" dirty="0">
                <a:latin typeface="Consolas" pitchFamily="49" charset="0"/>
              </a:rPr>
              <a:t>   or   rt,rt,rtmp</a:t>
            </a:r>
          </a:p>
          <a:p>
            <a:pPr eaLnBrk="1" hangingPunct="1">
              <a:buNone/>
            </a:pPr>
            <a:r>
              <a:rPr lang="en-US" altLang="zh-CN" sz="1400" b="0" dirty="0">
                <a:latin typeface="Consolas" pitchFamily="49" charset="0"/>
              </a:rPr>
              <a:t>   lbu  rtmp,1(base)</a:t>
            </a:r>
          </a:p>
          <a:p>
            <a:pPr eaLnBrk="1" hangingPunct="1">
              <a:buNone/>
            </a:pPr>
            <a:r>
              <a:rPr lang="en-US" altLang="zh-CN" sz="1400" b="0" dirty="0">
                <a:latin typeface="Consolas" pitchFamily="49" charset="0"/>
              </a:rPr>
              <a:t>   sll  rtmp,rtmp,8</a:t>
            </a:r>
          </a:p>
          <a:p>
            <a:pPr eaLnBrk="1" hangingPunct="1">
              <a:buNone/>
            </a:pPr>
            <a:r>
              <a:rPr lang="en-US" altLang="zh-CN" sz="1400" b="0" dirty="0">
                <a:latin typeface="Consolas" pitchFamily="49" charset="0"/>
              </a:rPr>
              <a:t>   or   rt,rt,rtmp</a:t>
            </a:r>
          </a:p>
          <a:p>
            <a:pPr eaLnBrk="1" hangingPunct="1">
              <a:buNone/>
            </a:pPr>
            <a:r>
              <a:rPr lang="en-US" altLang="zh-CN" sz="1400" b="0" dirty="0">
                <a:latin typeface="Consolas" pitchFamily="49" charset="0"/>
              </a:rPr>
              <a:t>   lbu  rtmp,rtmp,0(base)</a:t>
            </a:r>
          </a:p>
          <a:p>
            <a:pPr eaLnBrk="1" hangingPunct="1">
              <a:buNone/>
            </a:pPr>
            <a:r>
              <a:rPr lang="en-US" altLang="zh-CN" sz="1400" b="0" dirty="0">
                <a:latin typeface="Consolas" pitchFamily="49" charset="0"/>
              </a:rPr>
              <a:t>   or   rt,rt,rtmp</a:t>
            </a:r>
            <a:r>
              <a:rPr lang="en-US" altLang="zh-CN" sz="1600" b="0" dirty="0">
                <a:latin typeface="Consolas" pitchFamily="49" charset="0"/>
              </a:rPr>
              <a:t> </a:t>
            </a:r>
          </a:p>
        </p:txBody>
      </p:sp>
      <p:sp>
        <p:nvSpPr>
          <p:cNvPr id="7987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78</a:t>
            </a:fld>
            <a:endParaRPr lang="en-US" altLang="zh-CN" sz="1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p:cNvSpPr>
          <p:nvPr>
            <p:ph type="title"/>
          </p:nvPr>
        </p:nvSpPr>
        <p:spPr>
          <a:xfrm>
            <a:off x="812800" y="152400"/>
            <a:ext cx="10361613" cy="685800"/>
          </a:xfrm>
        </p:spPr>
        <p:txBody>
          <a:bodyPr vert="horz" wrap="square" lIns="91440" tIns="45720" rIns="91440" bIns="45720" anchor="ctr" anchorCtr="0"/>
          <a:lstStyle/>
          <a:p>
            <a:pPr eaLnBrk="1" hangingPunct="1"/>
            <a:r>
              <a:rPr lang="en-US" altLang="zh-CN" dirty="0"/>
              <a:t>SPARC</a:t>
            </a:r>
            <a:r>
              <a:rPr lang="zh-CN" altLang="en-US" dirty="0"/>
              <a:t>特色－寄存器窗口</a:t>
            </a:r>
          </a:p>
        </p:txBody>
      </p:sp>
      <p:sp>
        <p:nvSpPr>
          <p:cNvPr id="80899" name="Rectangle 3"/>
          <p:cNvSpPr>
            <a:spLocks noGrp="1"/>
          </p:cNvSpPr>
          <p:nvPr>
            <p:ph idx="1"/>
          </p:nvPr>
        </p:nvSpPr>
        <p:spPr>
          <a:xfrm>
            <a:off x="203200" y="1498600"/>
            <a:ext cx="11784013" cy="4633913"/>
          </a:xfrm>
        </p:spPr>
        <p:txBody>
          <a:bodyPr vert="horz" wrap="square" lIns="91440" tIns="45720" rIns="91440" bIns="45720" anchor="t" anchorCtr="0"/>
          <a:lstStyle/>
          <a:p>
            <a:pPr eaLnBrk="1" hangingPunct="1"/>
            <a:r>
              <a:rPr lang="en-US" altLang="zh-CN" dirty="0"/>
              <a:t>2-32</a:t>
            </a:r>
            <a:r>
              <a:rPr lang="zh-CN" altLang="en-US" dirty="0"/>
              <a:t>个寄存器窗口，用于不同过程</a:t>
            </a:r>
          </a:p>
          <a:p>
            <a:pPr lvl="1" eaLnBrk="1" hangingPunct="1"/>
            <a:r>
              <a:rPr lang="en-US" altLang="zh-CN" dirty="0"/>
              <a:t>8</a:t>
            </a:r>
            <a:r>
              <a:rPr lang="zh-CN" altLang="en-US" dirty="0"/>
              <a:t>个全局寄存器用于存放全局变量</a:t>
            </a:r>
          </a:p>
          <a:p>
            <a:pPr lvl="1" eaLnBrk="1" hangingPunct="1"/>
            <a:r>
              <a:rPr lang="en-US" altLang="zh-CN" dirty="0"/>
              <a:t>24</a:t>
            </a:r>
            <a:r>
              <a:rPr lang="zh-CN" altLang="en-US" dirty="0"/>
              <a:t>个局部寄存器</a:t>
            </a:r>
          </a:p>
          <a:p>
            <a:pPr lvl="2" eaLnBrk="1" hangingPunct="1"/>
            <a:r>
              <a:rPr lang="en-US" altLang="zh-CN" dirty="0"/>
              <a:t>8</a:t>
            </a:r>
            <a:r>
              <a:rPr lang="zh-CN" altLang="en-US" dirty="0"/>
              <a:t>个输入参数，</a:t>
            </a:r>
            <a:r>
              <a:rPr lang="en-US" altLang="zh-CN" dirty="0"/>
              <a:t>8</a:t>
            </a:r>
            <a:r>
              <a:rPr lang="zh-CN" altLang="en-US" dirty="0"/>
              <a:t>个局部变量，</a:t>
            </a:r>
            <a:r>
              <a:rPr lang="en-US" altLang="zh-CN" dirty="0"/>
              <a:t>8</a:t>
            </a:r>
            <a:r>
              <a:rPr lang="zh-CN" altLang="en-US" dirty="0"/>
              <a:t>个输出参数</a:t>
            </a:r>
          </a:p>
          <a:p>
            <a:pPr lvl="1" eaLnBrk="1" hangingPunct="1"/>
            <a:r>
              <a:rPr lang="zh-CN" altLang="en-US" dirty="0"/>
              <a:t>过程调用和退出不用把现场保留到存储器</a:t>
            </a:r>
          </a:p>
          <a:p>
            <a:pPr eaLnBrk="1" hangingPunct="1"/>
            <a:r>
              <a:rPr lang="en-US" altLang="zh-CN" dirty="0"/>
              <a:t>SAVE</a:t>
            </a:r>
            <a:r>
              <a:rPr lang="zh-CN" altLang="en-US" dirty="0"/>
              <a:t>和</a:t>
            </a:r>
            <a:r>
              <a:rPr lang="en-US" altLang="zh-CN" dirty="0"/>
              <a:t>RESTORE</a:t>
            </a:r>
            <a:r>
              <a:rPr lang="zh-CN" altLang="en-US" dirty="0"/>
              <a:t>指令</a:t>
            </a:r>
          </a:p>
          <a:p>
            <a:pPr lvl="1" eaLnBrk="1" hangingPunct="1"/>
            <a:r>
              <a:rPr lang="en-US" altLang="zh-CN" dirty="0"/>
              <a:t>SAVE</a:t>
            </a:r>
            <a:r>
              <a:rPr lang="zh-CN" altLang="en-US" dirty="0"/>
              <a:t>：功能同</a:t>
            </a:r>
            <a:r>
              <a:rPr lang="en-US" altLang="zh-CN" dirty="0"/>
              <a:t>ADD</a:t>
            </a:r>
            <a:r>
              <a:rPr lang="zh-CN" altLang="en-US" dirty="0"/>
              <a:t>，源寄存器来自调用过程</a:t>
            </a:r>
            <a:r>
              <a:rPr lang="en-US" altLang="zh-CN" dirty="0"/>
              <a:t>(caller)</a:t>
            </a:r>
            <a:r>
              <a:rPr lang="zh-CN" altLang="en-US" dirty="0"/>
              <a:t>，目标寄存器来自被调用过程</a:t>
            </a:r>
            <a:r>
              <a:rPr lang="en-US" altLang="zh-CN" dirty="0"/>
              <a:t>(callee)</a:t>
            </a:r>
            <a:r>
              <a:rPr lang="zh-CN" altLang="en-US" dirty="0"/>
              <a:t>，该指令自动修改寄存器窗口指针</a:t>
            </a:r>
            <a:r>
              <a:rPr lang="en-US" altLang="zh-CN" dirty="0"/>
              <a:t>CWP</a:t>
            </a:r>
            <a:r>
              <a:rPr lang="en-US" altLang="zh-CN" dirty="0">
                <a:latin typeface="Consolas" pitchFamily="49" charset="0"/>
              </a:rPr>
              <a:t>--</a:t>
            </a:r>
            <a:endParaRPr lang="zh-CN" altLang="en-US" dirty="0"/>
          </a:p>
          <a:p>
            <a:pPr lvl="1" eaLnBrk="1" hangingPunct="1"/>
            <a:r>
              <a:rPr lang="en-US" altLang="zh-CN" dirty="0"/>
              <a:t>RESTORE</a:t>
            </a:r>
            <a:r>
              <a:rPr lang="zh-CN" altLang="en-US" dirty="0"/>
              <a:t>：功能同</a:t>
            </a:r>
            <a:r>
              <a:rPr lang="en-US" altLang="zh-CN" dirty="0"/>
              <a:t>ADD</a:t>
            </a:r>
            <a:r>
              <a:rPr lang="zh-CN" altLang="en-US" dirty="0"/>
              <a:t>，源寄存器来自被调用过程</a:t>
            </a:r>
            <a:r>
              <a:rPr lang="en-US" altLang="zh-CN" dirty="0"/>
              <a:t>(callee)</a:t>
            </a:r>
            <a:r>
              <a:rPr lang="zh-CN" altLang="en-US" dirty="0"/>
              <a:t>，目标寄存器来自调用过程</a:t>
            </a:r>
            <a:r>
              <a:rPr lang="en-US" altLang="zh-CN" dirty="0"/>
              <a:t>(caller)</a:t>
            </a:r>
            <a:r>
              <a:rPr lang="zh-CN" altLang="en-US" dirty="0"/>
              <a:t>，该指令自动修改寄存器窗口指针</a:t>
            </a:r>
            <a:r>
              <a:rPr lang="en-US" altLang="zh-CN" dirty="0"/>
              <a:t>CWP</a:t>
            </a:r>
            <a:r>
              <a:rPr lang="en-US" altLang="zh-CN" dirty="0">
                <a:latin typeface="Consolas" pitchFamily="49" charset="0"/>
              </a:rPr>
              <a:t>++</a:t>
            </a:r>
          </a:p>
          <a:p>
            <a:pPr eaLnBrk="1" hangingPunct="1"/>
            <a:r>
              <a:rPr lang="en-US" altLang="zh-CN" dirty="0"/>
              <a:t>AMD AM29000</a:t>
            </a:r>
            <a:r>
              <a:rPr lang="zh-CN" altLang="en-US" dirty="0"/>
              <a:t>的局部寄存器窗口大小可变，全局寄存器</a:t>
            </a:r>
            <a:r>
              <a:rPr lang="en-US" altLang="zh-CN" dirty="0"/>
              <a:t>64</a:t>
            </a:r>
            <a:r>
              <a:rPr lang="zh-CN" altLang="en-US" dirty="0"/>
              <a:t>个</a:t>
            </a:r>
          </a:p>
        </p:txBody>
      </p:sp>
      <p:sp>
        <p:nvSpPr>
          <p:cNvPr id="8090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79</a:t>
            </a:fld>
            <a:endParaRPr lang="en-US" altLang="zh-CN" sz="1400" dirty="0"/>
          </a:p>
        </p:txBody>
      </p:sp>
      <p:pic>
        <p:nvPicPr>
          <p:cNvPr id="80901" name="Picture 6"/>
          <p:cNvPicPr>
            <a:picLocks noChangeAspect="1"/>
          </p:cNvPicPr>
          <p:nvPr/>
        </p:nvPicPr>
        <p:blipFill>
          <a:blip r:embed="rId2" cstate="print"/>
          <a:stretch>
            <a:fillRect/>
          </a:stretch>
        </p:blipFill>
        <p:spPr>
          <a:xfrm>
            <a:off x="7610475" y="942975"/>
            <a:ext cx="4625975" cy="3657600"/>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914400" y="381000"/>
            <a:ext cx="10361613" cy="457200"/>
          </a:xfrm>
        </p:spPr>
        <p:txBody>
          <a:bodyPr vert="horz" wrap="square" lIns="91440" tIns="45720" rIns="91440" bIns="45720" anchor="ctr" anchorCtr="0"/>
          <a:lstStyle/>
          <a:p>
            <a:pPr eaLnBrk="1" hangingPunct="1"/>
            <a:r>
              <a:rPr lang="en-US" altLang="zh-CN" dirty="0"/>
              <a:t>PowerPC</a:t>
            </a:r>
            <a:r>
              <a:rPr lang="zh-CN" altLang="en-US" dirty="0"/>
              <a:t>特色－</a:t>
            </a:r>
            <a:r>
              <a:rPr lang="en-US" altLang="zh-CN" dirty="0"/>
              <a:t>Link</a:t>
            </a:r>
            <a:r>
              <a:rPr lang="zh-CN" altLang="en-US" dirty="0"/>
              <a:t>和</a:t>
            </a:r>
            <a:r>
              <a:rPr lang="en-US" altLang="zh-CN" dirty="0"/>
              <a:t>Count</a:t>
            </a:r>
            <a:r>
              <a:rPr lang="zh-CN" altLang="en-US" dirty="0"/>
              <a:t>寄存器</a:t>
            </a:r>
          </a:p>
        </p:txBody>
      </p:sp>
      <p:sp>
        <p:nvSpPr>
          <p:cNvPr id="81923" name="Rectangle 3"/>
          <p:cNvSpPr>
            <a:spLocks noGrp="1"/>
          </p:cNvSpPr>
          <p:nvPr>
            <p:ph idx="1"/>
          </p:nvPr>
        </p:nvSpPr>
        <p:spPr>
          <a:xfrm>
            <a:off x="411163" y="1420813"/>
            <a:ext cx="11520487" cy="5095875"/>
          </a:xfrm>
        </p:spPr>
        <p:txBody>
          <a:bodyPr vert="horz" wrap="square" lIns="91440" tIns="45720" rIns="91440" bIns="45720" anchor="t" anchorCtr="0"/>
          <a:lstStyle/>
          <a:p>
            <a:pPr eaLnBrk="1" hangingPunct="1"/>
            <a:r>
              <a:rPr lang="en-US" altLang="zh-CN" dirty="0"/>
              <a:t>Link</a:t>
            </a:r>
            <a:r>
              <a:rPr lang="zh-CN" altLang="en-US" dirty="0"/>
              <a:t>寄存器用于保存返回地址，实现快速过程调用</a:t>
            </a:r>
          </a:p>
          <a:p>
            <a:pPr eaLnBrk="1" hangingPunct="1"/>
            <a:r>
              <a:rPr lang="en-US" altLang="zh-CN" dirty="0"/>
              <a:t>Count</a:t>
            </a:r>
            <a:r>
              <a:rPr lang="zh-CN" altLang="zh-CN" dirty="0"/>
              <a:t>寄存器用于循环计数，每次自动递减</a:t>
            </a:r>
          </a:p>
          <a:p>
            <a:pPr eaLnBrk="1" hangingPunct="1"/>
            <a:r>
              <a:rPr lang="zh-CN" altLang="zh-CN" dirty="0"/>
              <a:t>这两个寄存器还可以放转移地址</a:t>
            </a:r>
          </a:p>
          <a:p>
            <a:pPr eaLnBrk="1" hangingPunct="1"/>
            <a:r>
              <a:rPr lang="en-US" altLang="zh-CN" dirty="0"/>
              <a:t>PowerPC</a:t>
            </a:r>
            <a:r>
              <a:rPr lang="zh-CN" altLang="zh-CN" dirty="0"/>
              <a:t>不用</a:t>
            </a:r>
            <a:r>
              <a:rPr lang="en-US" altLang="zh-CN" dirty="0"/>
              <a:t>Delay Slot</a:t>
            </a:r>
          </a:p>
          <a:p>
            <a:pPr eaLnBrk="1" hangingPunct="1"/>
            <a:r>
              <a:rPr lang="zh-CN" altLang="en-US" dirty="0"/>
              <a:t>其它特色</a:t>
            </a:r>
          </a:p>
          <a:p>
            <a:pPr lvl="1" eaLnBrk="1" hangingPunct="1"/>
            <a:r>
              <a:rPr lang="en-US" altLang="zh-CN" dirty="0"/>
              <a:t>Load</a:t>
            </a:r>
            <a:r>
              <a:rPr lang="zh-CN" altLang="en-US" dirty="0"/>
              <a:t>和</a:t>
            </a:r>
            <a:r>
              <a:rPr lang="en-US" altLang="zh-CN" dirty="0"/>
              <a:t>Store</a:t>
            </a:r>
            <a:r>
              <a:rPr lang="zh-CN" altLang="en-US" dirty="0"/>
              <a:t>指令同时存取多个寄存器（多达</a:t>
            </a:r>
            <a:r>
              <a:rPr lang="en-US" altLang="zh-CN" dirty="0"/>
              <a:t>32</a:t>
            </a:r>
            <a:r>
              <a:rPr lang="zh-CN" altLang="en-US" dirty="0"/>
              <a:t>个）</a:t>
            </a:r>
          </a:p>
          <a:p>
            <a:pPr lvl="1" eaLnBrk="1" hangingPunct="1"/>
            <a:r>
              <a:rPr lang="en-US" altLang="zh-CN" dirty="0"/>
              <a:t>Load</a:t>
            </a:r>
            <a:r>
              <a:rPr lang="zh-CN" altLang="zh-CN" dirty="0"/>
              <a:t>和</a:t>
            </a:r>
            <a:r>
              <a:rPr lang="en-US" altLang="zh-CN" dirty="0"/>
              <a:t>Store</a:t>
            </a:r>
            <a:r>
              <a:rPr lang="zh-CN" altLang="zh-CN" dirty="0"/>
              <a:t>字符串（变长或定长、对齐或不对齐）</a:t>
            </a:r>
          </a:p>
        </p:txBody>
      </p:sp>
      <p:sp>
        <p:nvSpPr>
          <p:cNvPr id="8192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80</a:t>
            </a:fld>
            <a:endParaRPr lang="en-US" altLang="zh-CN"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a:xfrm>
            <a:off x="914400" y="0"/>
            <a:ext cx="10361613" cy="1171575"/>
          </a:xfrm>
        </p:spPr>
        <p:txBody>
          <a:bodyPr vert="horz" wrap="square" lIns="91440" tIns="45720" rIns="91440" bIns="45720" anchor="ctr" anchorCtr="0"/>
          <a:lstStyle/>
          <a:p>
            <a:pPr eaLnBrk="1" hangingPunct="1"/>
            <a:r>
              <a:rPr lang="en-US" altLang="zh-CN" dirty="0"/>
              <a:t>PA-RISC</a:t>
            </a:r>
            <a:r>
              <a:rPr lang="zh-CN" altLang="en-US" dirty="0"/>
              <a:t>的</a:t>
            </a:r>
            <a:r>
              <a:rPr lang="en-US" altLang="zh-CN" dirty="0"/>
              <a:t>Nullification</a:t>
            </a:r>
          </a:p>
        </p:txBody>
      </p:sp>
      <p:sp>
        <p:nvSpPr>
          <p:cNvPr id="82947" name="Rectangle 3"/>
          <p:cNvSpPr>
            <a:spLocks noGrp="1"/>
          </p:cNvSpPr>
          <p:nvPr>
            <p:ph idx="1"/>
          </p:nvPr>
        </p:nvSpPr>
        <p:spPr>
          <a:xfrm>
            <a:off x="279400" y="1366838"/>
            <a:ext cx="11518900" cy="5110162"/>
          </a:xfrm>
        </p:spPr>
        <p:txBody>
          <a:bodyPr vert="horz" wrap="square" lIns="91440" tIns="45720" rIns="91440" bIns="45720" anchor="t" anchorCtr="0"/>
          <a:lstStyle/>
          <a:p>
            <a:pPr eaLnBrk="1" hangingPunct="1"/>
            <a:r>
              <a:rPr lang="zh-CN" altLang="en-US" dirty="0"/>
              <a:t>根据当前指令执行结果确定下一条指令是否执行</a:t>
            </a:r>
          </a:p>
          <a:p>
            <a:pPr lvl="1" eaLnBrk="1" hangingPunct="1"/>
            <a:r>
              <a:rPr lang="zh-CN" altLang="en-US" dirty="0"/>
              <a:t>所有的转移指令和多数算术指令可用</a:t>
            </a:r>
          </a:p>
          <a:p>
            <a:pPr lvl="1" eaLnBrk="1" hangingPunct="1"/>
            <a:r>
              <a:rPr lang="zh-CN" altLang="en-US" dirty="0"/>
              <a:t>如</a:t>
            </a:r>
            <a:r>
              <a:rPr lang="en-US" altLang="zh-CN" dirty="0"/>
              <a:t>ADDB</a:t>
            </a:r>
            <a:r>
              <a:rPr lang="zh-CN" altLang="en-US" dirty="0"/>
              <a:t>（</a:t>
            </a:r>
            <a:r>
              <a:rPr lang="en-US" altLang="zh-CN" dirty="0"/>
              <a:t>Add and branch</a:t>
            </a:r>
            <a:r>
              <a:rPr lang="zh-CN" altLang="en-US" dirty="0"/>
              <a:t>）指令在完成加法后，检查加法结果是否满足条件，如果不满足就转移。同时判断下一条指令（延迟槽）是否执行</a:t>
            </a:r>
          </a:p>
          <a:p>
            <a:pPr lvl="1" eaLnBrk="1" hangingPunct="1"/>
            <a:r>
              <a:rPr lang="zh-CN" altLang="en-US" dirty="0"/>
              <a:t>可以消除一些简单的转移指令</a:t>
            </a:r>
          </a:p>
          <a:p>
            <a:pPr lvl="2" eaLnBrk="1" hangingPunct="1">
              <a:buNone/>
            </a:pPr>
            <a:r>
              <a:rPr lang="en-US" altLang="zh-CN" dirty="0"/>
              <a:t>if (a&gt;b) s=a;</a:t>
            </a:r>
          </a:p>
          <a:p>
            <a:pPr lvl="2" eaLnBrk="1" hangingPunct="1">
              <a:buNone/>
            </a:pPr>
            <a:r>
              <a:rPr lang="en-US" altLang="zh-CN" dirty="0"/>
              <a:t>else     s=b;</a:t>
            </a:r>
          </a:p>
          <a:p>
            <a:pPr lvl="1" eaLnBrk="1" hangingPunct="1"/>
            <a:r>
              <a:rPr lang="zh-CN" altLang="en-US" dirty="0"/>
              <a:t>其它指令系统有条件移数指令如“</a:t>
            </a:r>
            <a:r>
              <a:rPr lang="en-US" altLang="zh-CN" dirty="0"/>
              <a:t>CMOV”</a:t>
            </a:r>
          </a:p>
          <a:p>
            <a:pPr eaLnBrk="1" hangingPunct="1"/>
            <a:r>
              <a:rPr lang="zh-CN" altLang="en-US" dirty="0"/>
              <a:t>后来演化为</a:t>
            </a:r>
            <a:r>
              <a:rPr lang="en-US" altLang="zh-CN" dirty="0"/>
              <a:t>IA64</a:t>
            </a:r>
            <a:r>
              <a:rPr lang="zh-CN" altLang="en-US" dirty="0"/>
              <a:t>的谓词技术</a:t>
            </a:r>
          </a:p>
          <a:p>
            <a:pPr lvl="1" eaLnBrk="1" hangingPunct="1"/>
            <a:r>
              <a:rPr lang="zh-CN" altLang="en-US" dirty="0"/>
              <a:t>运算指令通过</a:t>
            </a:r>
            <a:r>
              <a:rPr lang="en-US" altLang="zh-CN" dirty="0"/>
              <a:t>64</a:t>
            </a:r>
            <a:r>
              <a:rPr lang="zh-CN" altLang="en-US" dirty="0"/>
              <a:t>个谓词寄存器决定结果是否保存</a:t>
            </a:r>
          </a:p>
          <a:p>
            <a:pPr eaLnBrk="1" hangingPunct="1">
              <a:buNone/>
            </a:pPr>
            <a:endParaRPr lang="zh-CN" altLang="en-US" dirty="0"/>
          </a:p>
        </p:txBody>
      </p:sp>
      <p:sp>
        <p:nvSpPr>
          <p:cNvPr id="8294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81</a:t>
            </a:fld>
            <a:endParaRPr lang="en-US" altLang="zh-CN" sz="1400" dirty="0"/>
          </a:p>
        </p:txBody>
      </p:sp>
      <p:sp>
        <p:nvSpPr>
          <p:cNvPr id="82949" name="Text Box 6"/>
          <p:cNvSpPr txBox="1"/>
          <p:nvPr/>
        </p:nvSpPr>
        <p:spPr>
          <a:xfrm>
            <a:off x="3670300" y="7439025"/>
            <a:ext cx="184150" cy="369888"/>
          </a:xfrm>
          <a:prstGeom prst="rect">
            <a:avLst/>
          </a:prstGeom>
          <a:noFill/>
          <a:ln w="9525">
            <a:noFill/>
          </a:ln>
        </p:spPr>
        <p:txBody>
          <a:bodyPr wrap="none">
            <a:spAutoFit/>
          </a:bodyPr>
          <a:lstStyle/>
          <a:p>
            <a:pPr eaLnBrk="0" hangingPunct="0"/>
            <a:endParaRPr lang="zh-CN" altLang="en-US" dirty="0">
              <a:latin typeface="Times New Roman" pitchFamily="18" charset="0"/>
            </a:endParaRPr>
          </a:p>
        </p:txBody>
      </p:sp>
      <p:sp>
        <p:nvSpPr>
          <p:cNvPr id="89094" name="Rectangle 7"/>
          <p:cNvSpPr>
            <a:spLocks noChangeArrowheads="1"/>
          </p:cNvSpPr>
          <p:nvPr/>
        </p:nvSpPr>
        <p:spPr bwMode="auto">
          <a:xfrm>
            <a:off x="7064375" y="3660775"/>
            <a:ext cx="4681538" cy="812800"/>
          </a:xfrm>
          <a:prstGeom prst="rect">
            <a:avLst/>
          </a:prstGeom>
          <a:solidFill>
            <a:schemeClr val="bg1"/>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 typeface="Arial" panose="02080604020202020204" pitchFamily="34" charset="0"/>
              <a:buNone/>
              <a:defRPr/>
            </a:pPr>
            <a:r>
              <a:rPr kumimoji="0" lang="en-US" altLang="zh-CN" sz="1400" b="1" i="0" u="none" strike="noStrike" kern="1200" cap="none" spc="0" normalizeH="0" baseline="0" noProof="0" dirty="0">
                <a:ln>
                  <a:noFill/>
                </a:ln>
                <a:solidFill>
                  <a:schemeClr val="tx1"/>
                </a:solidFill>
                <a:effectLst/>
                <a:uLnTx/>
                <a:uFillTx/>
                <a:latin typeface="+mn-ea"/>
                <a:ea typeface="+mn-ea"/>
                <a:cs typeface="+mn-cs"/>
              </a:rPr>
              <a:t>ADD	%r1, %r0, %r3 // r3 = r1(a)</a:t>
            </a:r>
          </a:p>
          <a:p>
            <a:pPr marL="0" marR="0" lvl="0" indent="0" algn="l" defTabSz="914400" rtl="0" eaLnBrk="0" fontAlgn="base" latinLnBrk="0" hangingPunct="0">
              <a:lnSpc>
                <a:spcPct val="100000"/>
              </a:lnSpc>
              <a:spcBef>
                <a:spcPct val="0"/>
              </a:spcBef>
              <a:spcAft>
                <a:spcPct val="0"/>
              </a:spcAft>
              <a:buClrTx/>
              <a:buSzTx/>
              <a:buFont typeface="Arial" panose="02080604020202020204" pitchFamily="34" charset="0"/>
              <a:buNone/>
              <a:defRPr/>
            </a:pPr>
            <a:r>
              <a:rPr kumimoji="0" lang="en-US" altLang="zh-CN" sz="1400" b="1" i="0" u="none" strike="noStrike" kern="1200" cap="none" spc="0" normalizeH="0" baseline="0" noProof="0" dirty="0">
                <a:ln>
                  <a:noFill/>
                </a:ln>
                <a:solidFill>
                  <a:schemeClr val="tx1"/>
                </a:solidFill>
                <a:effectLst/>
                <a:uLnTx/>
                <a:uFillTx/>
                <a:latin typeface="+mn-ea"/>
                <a:ea typeface="+mn-ea"/>
                <a:cs typeface="+mn-cs"/>
              </a:rPr>
              <a:t>SUB,*&gt;	%r1, %r2, %r0 // r1(a) – r2(b)</a:t>
            </a:r>
          </a:p>
          <a:p>
            <a:pPr marL="0" marR="0" lvl="0" indent="0" algn="l" defTabSz="914400" rtl="0" eaLnBrk="0" fontAlgn="base" latinLnBrk="0" hangingPunct="0">
              <a:lnSpc>
                <a:spcPct val="100000"/>
              </a:lnSpc>
              <a:spcBef>
                <a:spcPct val="0"/>
              </a:spcBef>
              <a:spcAft>
                <a:spcPct val="0"/>
              </a:spcAft>
              <a:buClrTx/>
              <a:buSzTx/>
              <a:buFont typeface="Arial" panose="02080604020202020204" pitchFamily="34" charset="0"/>
              <a:buNone/>
              <a:defRPr/>
            </a:pPr>
            <a:r>
              <a:rPr kumimoji="0" lang="en-US" altLang="zh-CN" sz="1400" b="1" i="0" u="none" strike="noStrike" kern="1200" cap="none" spc="0" normalizeH="0" baseline="0" noProof="0" dirty="0">
                <a:ln>
                  <a:noFill/>
                </a:ln>
                <a:solidFill>
                  <a:schemeClr val="tx1"/>
                </a:solidFill>
                <a:effectLst/>
                <a:uLnTx/>
                <a:uFillTx/>
                <a:latin typeface="+mn-ea"/>
                <a:ea typeface="+mn-ea"/>
                <a:cs typeface="+mn-cs"/>
              </a:rPr>
              <a:t>ADD	%r2, %r0, %r3 // r3 = r2(b)</a:t>
            </a:r>
          </a:p>
        </p:txBody>
      </p:sp>
      <p:sp>
        <p:nvSpPr>
          <p:cNvPr id="82951" name="AutoShape 8"/>
          <p:cNvSpPr/>
          <p:nvPr/>
        </p:nvSpPr>
        <p:spPr>
          <a:xfrm>
            <a:off x="4095750" y="3944938"/>
            <a:ext cx="2651125" cy="146050"/>
          </a:xfrm>
          <a:prstGeom prst="notchedRightArrow">
            <a:avLst>
              <a:gd name="adj1" fmla="val 50000"/>
              <a:gd name="adj2" fmla="val 340353"/>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eaLnBrk="0" hangingPunct="0"/>
            <a:endParaRPr lang="zh-CN" altLang="en-US" dirty="0">
              <a:latin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0" y="101283"/>
            <a:ext cx="12188825" cy="645160"/>
          </a:xfrm>
        </p:spPr>
        <p:txBody>
          <a:bodyPr vert="horz" wrap="square" lIns="91440" tIns="45720" rIns="91440" bIns="45720" anchor="ctr" anchorCtr="0">
            <a:spAutoFit/>
          </a:bodyPr>
          <a:lstStyle/>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 pos="10858500" algn="l"/>
              </a:tabLst>
            </a:pPr>
            <a:r>
              <a:rPr lang="en-US" altLang="en-GB" dirty="0"/>
              <a:t>LoongArch</a:t>
            </a:r>
            <a:r>
              <a:rPr lang="zh-CN" altLang="en-US" dirty="0"/>
              <a:t>的</a:t>
            </a:r>
            <a:r>
              <a:rPr lang="en-GB" altLang="zh-CN" dirty="0"/>
              <a:t>X86</a:t>
            </a:r>
            <a:r>
              <a:rPr lang="zh-CN" altLang="en-GB" dirty="0"/>
              <a:t>二进制翻译指令举例</a:t>
            </a:r>
          </a:p>
        </p:txBody>
      </p:sp>
      <p:sp>
        <p:nvSpPr>
          <p:cNvPr id="9221" name="Rectangle 3"/>
          <p:cNvSpPr>
            <a:spLocks noGrp="1"/>
          </p:cNvSpPr>
          <p:nvPr>
            <p:ph idx="1"/>
          </p:nvPr>
        </p:nvSpPr>
        <p:spPr>
          <a:xfrm>
            <a:off x="241300" y="2492375"/>
            <a:ext cx="6173788" cy="2163763"/>
          </a:xfrm>
        </p:spPr>
        <p:txBody>
          <a:bodyPr vert="horz" wrap="square" lIns="91440" tIns="45720" rIns="91440" bIns="45720" numCol="1" anchor="t" anchorCtr="0" compatLnSpc="1">
            <a:spAutoFit/>
          </a:bodyPr>
          <a:lstStyle/>
          <a:p>
            <a:pPr marL="360680" marR="0" lvl="0" indent="-457200" algn="l" defTabSz="449580" rtl="0" eaLnBrk="0" fontAlgn="base" latinLnBrk="0" hangingPunct="0">
              <a:lnSpc>
                <a:spcPct val="150000"/>
              </a:lnSpc>
              <a:spcBef>
                <a:spcPts val="600"/>
              </a:spcBef>
              <a:spcAft>
                <a:spcPct val="0"/>
              </a:spcAft>
              <a:buClrTx/>
              <a:buSzTx/>
              <a:buFontTx/>
              <a:buChar char="•"/>
              <a:defRPr/>
            </a:pPr>
            <a:r>
              <a:rPr kumimoji="0" lang="en-GB" altLang="zh-CN" sz="2000" b="1" i="0" u="none" strike="noStrike" kern="0" cap="none" spc="0" normalizeH="0" baseline="0" noProof="1">
                <a:ln>
                  <a:noFill/>
                </a:ln>
                <a:solidFill>
                  <a:schemeClr val="tx1"/>
                </a:solidFill>
                <a:effectLst/>
                <a:uLnTx/>
                <a:uFillTx/>
                <a:latin typeface="+mn-ea"/>
                <a:ea typeface="+mn-ea"/>
                <a:cs typeface="+mn-cs"/>
              </a:rPr>
              <a:t>EFLAG</a:t>
            </a:r>
            <a:r>
              <a:rPr kumimoji="0" lang="zh-CN" altLang="en-GB" sz="2000" b="1" i="0" u="none" strike="noStrike" kern="0" cap="none" spc="0" normalizeH="0" baseline="0" noProof="1">
                <a:ln>
                  <a:noFill/>
                </a:ln>
                <a:solidFill>
                  <a:schemeClr val="tx1"/>
                </a:solidFill>
                <a:effectLst/>
                <a:uLnTx/>
                <a:uFillTx/>
                <a:latin typeface="+mn-ea"/>
                <a:ea typeface="+mn-ea"/>
                <a:cs typeface="+mn-cs"/>
              </a:rPr>
              <a:t>问题</a:t>
            </a: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en-GB" altLang="zh-CN" sz="1600" b="1" i="0" u="none" strike="noStrike" kern="0" cap="none" spc="0" normalizeH="0" baseline="0" noProof="1">
                <a:ln>
                  <a:noFill/>
                </a:ln>
                <a:solidFill>
                  <a:schemeClr val="tx1"/>
                </a:solidFill>
                <a:effectLst/>
                <a:uLnTx/>
                <a:uFillTx/>
                <a:latin typeface="+mn-ea"/>
                <a:ea typeface="+mn-ea"/>
                <a:cs typeface="+mn-ea"/>
              </a:rPr>
              <a:t>X86</a:t>
            </a:r>
            <a:r>
              <a:rPr kumimoji="0" lang="zh-CN" altLang="en-GB" sz="1600" b="1" i="0" u="none" strike="noStrike" kern="0" cap="none" spc="0" normalizeH="0" baseline="0" noProof="1">
                <a:ln>
                  <a:noFill/>
                </a:ln>
                <a:solidFill>
                  <a:schemeClr val="tx1"/>
                </a:solidFill>
                <a:effectLst/>
                <a:uLnTx/>
                <a:uFillTx/>
                <a:latin typeface="+mn-ea"/>
                <a:ea typeface="+mn-ea"/>
                <a:cs typeface="+mn-ea"/>
              </a:rPr>
              <a:t>通过</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标志来表示运算结果并用于转移</a:t>
            </a:r>
            <a:r>
              <a:rPr kumimoji="0" lang="zh-CN" altLang="en-GB" sz="1600" b="1" i="0" u="none" strike="noStrike" kern="0" cap="none" spc="0" normalizeH="0" baseline="0" noProof="1" smtClean="0">
                <a:ln>
                  <a:noFill/>
                </a:ln>
                <a:solidFill>
                  <a:schemeClr val="tx1"/>
                </a:solidFill>
                <a:effectLst/>
                <a:uLnTx/>
                <a:uFillTx/>
                <a:latin typeface="+mn-ea"/>
                <a:ea typeface="+mn-ea"/>
                <a:cs typeface="+mn-ea"/>
              </a:rPr>
              <a:t>条件</a:t>
            </a:r>
            <a:endParaRPr kumimoji="0" lang="zh-CN" altLang="en-GB" sz="1600" b="1" i="0" u="none" strike="noStrike" kern="0" cap="none" spc="0" normalizeH="0" baseline="0" noProof="1">
              <a:ln>
                <a:noFill/>
              </a:ln>
              <a:solidFill>
                <a:schemeClr val="tx1"/>
              </a:solidFill>
              <a:effectLst/>
              <a:uLnTx/>
              <a:uFillTx/>
              <a:latin typeface="+mn-ea"/>
              <a:ea typeface="+mn-ea"/>
              <a:cs typeface="+mn-ea"/>
            </a:endParaRP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en-GB" altLang="zh-CN" sz="1600" b="1" i="0" u="none" strike="noStrike" kern="0" cap="none" spc="0" normalizeH="0" baseline="0" noProof="1">
                <a:ln>
                  <a:noFill/>
                </a:ln>
                <a:solidFill>
                  <a:schemeClr val="tx1"/>
                </a:solidFill>
                <a:effectLst/>
                <a:uLnTx/>
                <a:uFillTx/>
                <a:latin typeface="+mn-ea"/>
                <a:ea typeface="+mn-ea"/>
                <a:cs typeface="+mn-ea"/>
              </a:rPr>
              <a:t>MIPS</a:t>
            </a:r>
            <a:r>
              <a:rPr kumimoji="0" lang="zh-CN" altLang="en-GB" sz="1600" b="1" i="0" u="none" strike="noStrike" kern="0" cap="none" spc="0" normalizeH="0" baseline="0" noProof="1">
                <a:ln>
                  <a:noFill/>
                </a:ln>
                <a:solidFill>
                  <a:schemeClr val="tx1"/>
                </a:solidFill>
                <a:effectLst/>
                <a:uLnTx/>
                <a:uFillTx/>
                <a:latin typeface="+mn-ea"/>
                <a:ea typeface="+mn-ea"/>
                <a:cs typeface="+mn-ea"/>
              </a:rPr>
              <a:t>没有</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标志，需要</a:t>
            </a:r>
            <a:r>
              <a:rPr kumimoji="0" lang="en-GB" altLang="zh-CN" sz="1600" b="1" i="0" u="none" strike="noStrike" kern="0" cap="none" spc="0" normalizeH="0" baseline="0" noProof="1">
                <a:ln>
                  <a:noFill/>
                </a:ln>
                <a:solidFill>
                  <a:schemeClr val="tx1"/>
                </a:solidFill>
                <a:effectLst/>
                <a:uLnTx/>
                <a:uFillTx/>
                <a:latin typeface="+mn-ea"/>
                <a:ea typeface="+mn-ea"/>
                <a:cs typeface="+mn-ea"/>
              </a:rPr>
              <a:t>40</a:t>
            </a:r>
            <a:r>
              <a:rPr kumimoji="0" lang="zh-CN" altLang="en-GB" sz="1600" b="1" i="0" u="none" strike="noStrike" kern="0" cap="none" spc="0" normalizeH="0" baseline="0" noProof="1">
                <a:ln>
                  <a:noFill/>
                </a:ln>
                <a:solidFill>
                  <a:schemeClr val="tx1"/>
                </a:solidFill>
                <a:effectLst/>
                <a:uLnTx/>
                <a:uFillTx/>
                <a:latin typeface="+mn-ea"/>
                <a:ea typeface="+mn-ea"/>
                <a:cs typeface="+mn-ea"/>
              </a:rPr>
              <a:t>多条指令来</a:t>
            </a:r>
            <a:r>
              <a:rPr kumimoji="0" lang="zh-CN" altLang="en-GB" sz="1600" b="1" i="0" u="none" strike="noStrike" kern="0" cap="none" spc="0" normalizeH="0" baseline="0" noProof="1" smtClean="0">
                <a:ln>
                  <a:noFill/>
                </a:ln>
                <a:solidFill>
                  <a:schemeClr val="tx1"/>
                </a:solidFill>
                <a:effectLst/>
                <a:uLnTx/>
                <a:uFillTx/>
                <a:latin typeface="+mn-ea"/>
                <a:ea typeface="+mn-ea"/>
                <a:cs typeface="+mn-ea"/>
              </a:rPr>
              <a:t>模拟</a:t>
            </a:r>
            <a:endParaRPr kumimoji="0" lang="zh-CN" altLang="en-GB" sz="1600" b="1" i="0" u="none" strike="noStrike" kern="0" cap="none" spc="0" normalizeH="0" baseline="0" noProof="1">
              <a:ln>
                <a:noFill/>
              </a:ln>
              <a:solidFill>
                <a:schemeClr val="tx1"/>
              </a:solidFill>
              <a:effectLst/>
              <a:uLnTx/>
              <a:uFillTx/>
              <a:latin typeface="+mn-ea"/>
              <a:ea typeface="+mn-ea"/>
              <a:cs typeface="+mn-ea"/>
            </a:endParaRP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zh-CN" altLang="en-GB" sz="1600" b="1" i="0" u="none" strike="noStrike" kern="0" cap="none" spc="0" normalizeH="0" baseline="0" noProof="1">
                <a:ln>
                  <a:noFill/>
                </a:ln>
                <a:solidFill>
                  <a:schemeClr val="tx1"/>
                </a:solidFill>
                <a:effectLst/>
                <a:uLnTx/>
                <a:uFillTx/>
                <a:latin typeface="+mn-ea"/>
                <a:ea typeface="+mn-ea"/>
                <a:cs typeface="+mn-ea"/>
              </a:rPr>
              <a:t>定义新的</a:t>
            </a:r>
            <a:r>
              <a:rPr kumimoji="0" lang="en-GB" altLang="zh-CN" sz="1600" b="1" i="0" u="none" strike="noStrike" kern="0" cap="none" spc="0" normalizeH="0" baseline="0" noProof="1">
                <a:ln>
                  <a:noFill/>
                </a:ln>
                <a:solidFill>
                  <a:schemeClr val="tx1"/>
                </a:solidFill>
                <a:effectLst/>
                <a:uLnTx/>
                <a:uFillTx/>
                <a:latin typeface="+mn-ea"/>
                <a:ea typeface="+mn-ea"/>
                <a:cs typeface="+mn-ea"/>
              </a:rPr>
              <a:t>MIPS</a:t>
            </a:r>
            <a:r>
              <a:rPr kumimoji="0" lang="zh-CN" altLang="en-GB" sz="1600" b="1" i="0" u="none" strike="noStrike" kern="0" cap="none" spc="0" normalizeH="0" baseline="0" noProof="1">
                <a:ln>
                  <a:noFill/>
                </a:ln>
                <a:solidFill>
                  <a:schemeClr val="tx1"/>
                </a:solidFill>
                <a:effectLst/>
                <a:uLnTx/>
                <a:uFillTx/>
                <a:latin typeface="+mn-ea"/>
                <a:ea typeface="+mn-ea"/>
                <a:cs typeface="+mn-ea"/>
              </a:rPr>
              <a:t>格式指令来产生</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a:t>
            </a:r>
          </a:p>
          <a:p>
            <a:pPr marL="360680" marR="0" lvl="0" indent="-360680" algn="l" defTabSz="449580" rtl="0" eaLnBrk="0" fontAlgn="base" latinLnBrk="0" hangingPunct="0">
              <a:lnSpc>
                <a:spcPct val="110000"/>
              </a:lnSpc>
              <a:spcBef>
                <a:spcPct val="0"/>
              </a:spcBef>
              <a:spcAft>
                <a:spcPct val="0"/>
              </a:spcAft>
              <a:buClrTx/>
              <a:buSzTx/>
              <a:buFontTx/>
              <a:buChar char="•"/>
              <a:defRPr/>
            </a:pPr>
            <a:endParaRPr kumimoji="0" lang="zh-CN" altLang="en-GB" sz="1600" b="1" i="0" u="none" strike="noStrike" kern="0" cap="none" spc="0" normalizeH="0" baseline="0" noProof="1">
              <a:ln>
                <a:noFill/>
              </a:ln>
              <a:solidFill>
                <a:schemeClr val="tx1"/>
              </a:solidFill>
              <a:effectLst/>
              <a:uLnTx/>
              <a:uFillTx/>
              <a:latin typeface="+mn-ea"/>
              <a:ea typeface="+mn-ea"/>
              <a:cs typeface="+mn-cs"/>
            </a:endParaRPr>
          </a:p>
        </p:txBody>
      </p:sp>
      <p:sp>
        <p:nvSpPr>
          <p:cNvPr id="118788" name="灯片编号占位符 5"/>
          <p:cNvSpPr txBox="1">
            <a:spLocks noGrp="1"/>
          </p:cNvSpPr>
          <p:nvPr>
            <p:ph type="sldNum" sz="quarter" idx="12"/>
          </p:nvPr>
        </p:nvSpPr>
        <p:spPr>
          <a:xfrm>
            <a:off x="9648825" y="6248400"/>
            <a:ext cx="2541588" cy="457200"/>
          </a:xfrm>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82</a:t>
            </a:fld>
            <a:endParaRPr lang="en-US" altLang="zh-CN" sz="1400" dirty="0"/>
          </a:p>
        </p:txBody>
      </p:sp>
      <p:pic>
        <p:nvPicPr>
          <p:cNvPr id="118789" name="Picture 4"/>
          <p:cNvPicPr>
            <a:picLocks noChangeAspect="1"/>
          </p:cNvPicPr>
          <p:nvPr/>
        </p:nvPicPr>
        <p:blipFill>
          <a:blip r:embed="rId3" cstate="print"/>
          <a:stretch>
            <a:fillRect/>
          </a:stretch>
        </p:blipFill>
        <p:spPr>
          <a:xfrm>
            <a:off x="6638925" y="1466850"/>
            <a:ext cx="5410200" cy="4468813"/>
          </a:xfrm>
          <a:prstGeom prst="rect">
            <a:avLst/>
          </a:prstGeom>
          <a:noFill/>
          <a:ln w="9525">
            <a:noFill/>
          </a:ln>
        </p:spPr>
      </p:pic>
      <p:pic>
        <p:nvPicPr>
          <p:cNvPr id="118790" name="Picture 5"/>
          <p:cNvPicPr>
            <a:picLocks noChangeAspect="1"/>
          </p:cNvPicPr>
          <p:nvPr/>
        </p:nvPicPr>
        <p:blipFill>
          <a:blip r:embed="rId4" cstate="print"/>
          <a:stretch>
            <a:fillRect/>
          </a:stretch>
        </p:blipFill>
        <p:spPr>
          <a:xfrm>
            <a:off x="2000250" y="6156325"/>
            <a:ext cx="10166350" cy="692150"/>
          </a:xfrm>
          <a:prstGeom prst="rect">
            <a:avLst/>
          </a:prstGeom>
          <a:noFill/>
          <a:ln w="9525">
            <a:noFill/>
          </a:ln>
        </p:spPr>
      </p:pic>
      <p:pic>
        <p:nvPicPr>
          <p:cNvPr id="118791" name="Picture 6"/>
          <p:cNvPicPr>
            <a:picLocks noChangeAspect="1"/>
          </p:cNvPicPr>
          <p:nvPr/>
        </p:nvPicPr>
        <p:blipFill>
          <a:blip r:embed="rId5" cstate="print"/>
          <a:stretch>
            <a:fillRect/>
          </a:stretch>
        </p:blipFill>
        <p:spPr>
          <a:xfrm>
            <a:off x="2039938" y="877888"/>
            <a:ext cx="10085387" cy="474662"/>
          </a:xfrm>
          <a:prstGeom prst="rect">
            <a:avLst/>
          </a:prstGeom>
          <a:noFill/>
          <a:ln w="9525">
            <a:noFill/>
          </a:ln>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p:cNvSpPr>
          <p:nvPr>
            <p:ph type="title"/>
          </p:nvPr>
        </p:nvSpPr>
        <p:spPr>
          <a:xfrm>
            <a:off x="1117600" y="119063"/>
            <a:ext cx="10361613" cy="533400"/>
          </a:xfrm>
        </p:spPr>
        <p:txBody>
          <a:bodyPr vert="horz" wrap="square" lIns="91440" tIns="45720" rIns="91440" bIns="45720" anchor="ctr" anchorCtr="0"/>
          <a:lstStyle/>
          <a:p>
            <a:pPr eaLnBrk="1" hangingPunct="1"/>
            <a:r>
              <a:rPr lang="zh-CN" altLang="en-US" dirty="0"/>
              <a:t>早期</a:t>
            </a:r>
            <a:r>
              <a:rPr lang="en-US" altLang="zh-CN" dirty="0"/>
              <a:t>RISC</a:t>
            </a:r>
            <a:r>
              <a:rPr lang="zh-CN" altLang="en-US" dirty="0"/>
              <a:t>指令系统小结</a:t>
            </a:r>
          </a:p>
        </p:txBody>
      </p:sp>
      <p:sp>
        <p:nvSpPr>
          <p:cNvPr id="5124" name="灯片编号占位符 5"/>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83</a:t>
            </a:fld>
            <a:endParaRPr lang="en-US" altLang="zh-CN" sz="1400" dirty="0"/>
          </a:p>
        </p:txBody>
      </p:sp>
      <p:sp>
        <p:nvSpPr>
          <p:cNvPr id="5125" name="Rectangle 4"/>
          <p:cNvSpPr>
            <a:spLocks noChangeArrowheads="1"/>
          </p:cNvSpPr>
          <p:nvPr/>
        </p:nvSpPr>
        <p:spPr bwMode="auto">
          <a:xfrm>
            <a:off x="342265" y="6172200"/>
            <a:ext cx="11506200" cy="608965"/>
          </a:xfrm>
          <a:prstGeom prst="rect">
            <a:avLst/>
          </a:prstGeom>
          <a:noFill/>
          <a:ln w="9525">
            <a:noFill/>
            <a:miter lim="800000"/>
          </a:ln>
        </p:spPr>
        <p:txBody>
          <a:bodyPr/>
          <a:lstStyle/>
          <a:p>
            <a:pPr marL="742950" marR="0" lvl="1" indent="-285750" algn="l" defTabSz="914400" rtl="0" eaLnBrk="1" fontAlgn="base" latinLnBrk="0" hangingPunct="1">
              <a:lnSpc>
                <a:spcPct val="150000"/>
              </a:lnSpc>
              <a:spcBef>
                <a:spcPts val="600"/>
              </a:spcBef>
              <a:spcAft>
                <a:spcPct val="0"/>
              </a:spcAft>
              <a:buClrTx/>
              <a:buSzTx/>
              <a:buFont typeface="Arial" panose="02080604020202020204" pitchFamily="34" charset="0"/>
              <a:buChar char="•"/>
              <a:defRPr/>
            </a:pP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对于一个程序在上述四种</a:t>
            </a:r>
            <a:r>
              <a:rPr kumimoji="0" lang="en-US" altLang="zh-CN" sz="2000" b="1" i="0" u="none" strike="noStrike" kern="1200" cap="none" spc="0" normalizeH="0" baseline="0" noProof="0" dirty="0">
                <a:ln>
                  <a:noFill/>
                </a:ln>
                <a:solidFill>
                  <a:srgbClr val="000000"/>
                </a:solidFill>
                <a:effectLst/>
                <a:uLnTx/>
                <a:uFillTx/>
                <a:latin typeface="+mn-ea"/>
                <a:ea typeface="+mn-ea"/>
                <a:cs typeface="+mn-cs"/>
              </a:rPr>
              <a:t>RISC</a:t>
            </a: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结构上的执行，平均</a:t>
            </a:r>
            <a:r>
              <a:rPr kumimoji="0" lang="en-US" altLang="zh-CN" sz="2000" b="1" i="0" u="none" strike="noStrike" kern="1200" cap="none" spc="0" normalizeH="0" baseline="0" noProof="0" dirty="0">
                <a:ln>
                  <a:noFill/>
                </a:ln>
                <a:solidFill>
                  <a:srgbClr val="000000"/>
                </a:solidFill>
                <a:effectLst/>
                <a:uLnTx/>
                <a:uFillTx/>
                <a:latin typeface="+mn-ea"/>
                <a:ea typeface="+mn-ea"/>
                <a:cs typeface="+mn-cs"/>
              </a:rPr>
              <a:t>90%</a:t>
            </a:r>
            <a:r>
              <a:rPr kumimoji="0" lang="zh-CN" altLang="en-US" sz="2000" b="1" i="0" u="none" strike="noStrike" kern="1200" cap="none" spc="0" normalizeH="0" baseline="0" noProof="0" dirty="0">
                <a:ln>
                  <a:noFill/>
                </a:ln>
                <a:solidFill>
                  <a:srgbClr val="000000"/>
                </a:solidFill>
                <a:effectLst/>
                <a:uLnTx/>
                <a:uFillTx/>
                <a:latin typeface="+mn-ea"/>
                <a:ea typeface="+mn-ea"/>
                <a:cs typeface="+mn-cs"/>
              </a:rPr>
              <a:t>以上的指令为四个指令系统共有的</a:t>
            </a:r>
          </a:p>
        </p:txBody>
      </p:sp>
      <p:graphicFrame>
        <p:nvGraphicFramePr>
          <p:cNvPr id="4" name="表格 3"/>
          <p:cNvGraphicFramePr/>
          <p:nvPr/>
        </p:nvGraphicFramePr>
        <p:xfrm>
          <a:off x="1117600" y="1076325"/>
          <a:ext cx="9625330" cy="4876800"/>
        </p:xfrm>
        <a:graphic>
          <a:graphicData uri="http://schemas.openxmlformats.org/drawingml/2006/table">
            <a:tbl>
              <a:tblPr firstRow="1" bandRow="1">
                <a:tableStyleId>{5C22544A-7EE6-4342-B048-85BDC9FD1C3A}</a:tableStyleId>
              </a:tblPr>
              <a:tblGrid>
                <a:gridCol w="2888615"/>
                <a:gridCol w="640715"/>
                <a:gridCol w="610870"/>
                <a:gridCol w="581660"/>
                <a:gridCol w="581660"/>
                <a:gridCol w="560705"/>
                <a:gridCol w="611505"/>
                <a:gridCol w="621030"/>
                <a:gridCol w="501650"/>
                <a:gridCol w="521970"/>
                <a:gridCol w="481330"/>
                <a:gridCol w="511810"/>
                <a:gridCol w="511810"/>
              </a:tblGrid>
              <a:tr h="304800">
                <a:tc rowSpan="2">
                  <a:txBody>
                    <a:bodyPr/>
                    <a:lstStyle/>
                    <a:p>
                      <a:pPr algn="ctr">
                        <a:buNone/>
                      </a:pPr>
                      <a:endParaRPr lang="zh-CN" altLang="en-US" sz="1400" b="1">
                        <a:latin typeface="宋体" panose="02000500000000000000" pitchFamily="2" charset="-122"/>
                        <a:ea typeface="宋体" panose="02000500000000000000" pitchFamily="2" charset="-122"/>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gridSpan="3">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PA-RISC</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gridSpan="2">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SPARC</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gridSpan="4">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MIPS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gridSpan="3">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Power</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04800">
                <a:tc vMerge="1">
                  <a:txBody>
                    <a:bodyPr/>
                    <a:lstStyle/>
                    <a:p>
                      <a:endParaRPr lang="zh-CN"/>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1.0</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1.1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2.0</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V8</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V9</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I</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II</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III</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IV</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1</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lgn="ctr">
                        <a:buNone/>
                      </a:pPr>
                      <a:r>
                        <a:rPr lang="en-US" altLang="zh-CN" sz="1400" b="1">
                          <a:solidFill>
                            <a:schemeClr val="tx1"/>
                          </a:solidFill>
                          <a:latin typeface="宋体" panose="02000500000000000000" pitchFamily="2" charset="-122"/>
                          <a:ea typeface="宋体" panose="02000500000000000000" pitchFamily="2" charset="-122"/>
                        </a:rPr>
                        <a:t>PC</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Interlocked loads</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Load/store FP double</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Semaphore</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Square root</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Single-precision FP ops</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Memory synchronization</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Coprocessor</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Base+index addressing</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32 64-bit FP registers</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Annulling delayed branch</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Branch register contents</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Big or little Endian</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Branch prediction bit</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Conditional move</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Prefetch data into cache</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64-bit addressing/int. op</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32-bit multiply, divide</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Load/store FP quad</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Fused FP mul/add</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13360">
                <a:tc>
                  <a:txBody>
                    <a:bodyPr/>
                    <a:lstStyle/>
                    <a:p>
                      <a:pPr indent="0">
                        <a:buNone/>
                      </a:pPr>
                      <a:r>
                        <a:rPr lang="en-US" sz="1400" b="1">
                          <a:latin typeface="宋体" panose="02000500000000000000" pitchFamily="2" charset="-122"/>
                          <a:ea typeface="宋体" panose="02000500000000000000" pitchFamily="2" charset="-122"/>
                        </a:rPr>
                        <a:t>String instruction</a:t>
                      </a:r>
                      <a:endParaRPr lang="en-US" altLang="en-US" sz="1400" b="1">
                        <a:latin typeface="宋体" panose="02000500000000000000" pitchFamily="2" charset="-122"/>
                        <a:ea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 </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r>
                        <a:rPr lang="en-US" sz="1400" b="1">
                          <a:solidFill>
                            <a:srgbClr val="FF0000"/>
                          </a:solidFill>
                          <a:latin typeface="宋体" panose="02000500000000000000" pitchFamily="2" charset="-122"/>
                        </a:rPr>
                        <a:t>√</a:t>
                      </a: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indent="0" algn="ctr">
                        <a:buNone/>
                      </a:pPr>
                      <a:endParaRPr lang="en-US" altLang="en-US" sz="1400" b="1">
                        <a:solidFill>
                          <a:srgbClr val="FF0000"/>
                        </a:solidFill>
                        <a:latin typeface="宋体" panose="02000500000000000000" pitchFamily="2" charset="-122"/>
                      </a:endParaRPr>
                    </a:p>
                  </a:txBody>
                  <a:tcPr marL="68580" marR="68580" marT="0" marB="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
          <p:cNvSpPr/>
          <p:nvPr/>
        </p:nvSpPr>
        <p:spPr>
          <a:xfrm>
            <a:off x="722313" y="2060575"/>
            <a:ext cx="10826750" cy="2303463"/>
          </a:xfrm>
          <a:prstGeom prst="rect">
            <a:avLst/>
          </a:prstGeom>
          <a:noFill/>
          <a:ln w="9525">
            <a:noFill/>
          </a:ln>
        </p:spPr>
        <p:txBody>
          <a:bodyPr lIns="90000" tIns="46800" rIns="90000" bIns="46800" anchor="ctr" anchorCtr="0"/>
          <a:lstStyle/>
          <a:p>
            <a:pPr algn="ctr" defTabSz="914400">
              <a:lnSpc>
                <a:spcPct val="150000"/>
              </a:lnSpc>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Lst>
            </a:pPr>
            <a:r>
              <a:rPr lang="zh-CN" altLang="en-US" sz="4000" dirty="0">
                <a:solidFill>
                  <a:srgbClr val="FF0000"/>
                </a:solidFill>
                <a:latin typeface="Arial" panose="02080604020202020204" pitchFamily="34" charset="0"/>
                <a:ea typeface="黑体" panose="02000500000000000000" pitchFamily="49" charset="-122"/>
                <a:sym typeface="Times New Roman" pitchFamily="18" charset="0"/>
              </a:rPr>
              <a:t>龙芯自主指令系统</a:t>
            </a:r>
            <a:r>
              <a:rPr lang="en-US" altLang="zh-CN" sz="4000" dirty="0">
                <a:solidFill>
                  <a:srgbClr val="FF0000"/>
                </a:solidFill>
                <a:latin typeface="Arial" panose="02080604020202020204" pitchFamily="34" charset="0"/>
                <a:ea typeface="黑体" panose="02000500000000000000" pitchFamily="49" charset="-122"/>
                <a:sym typeface="Times New Roman" pitchFamily="18" charset="0"/>
              </a:rPr>
              <a:t>LoongArch</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a:xfrm>
            <a:off x="914400" y="128588"/>
            <a:ext cx="10361613" cy="1143000"/>
          </a:xfrm>
        </p:spPr>
        <p:txBody>
          <a:bodyPr vert="horz" wrap="square" lIns="91440" tIns="45720" rIns="91440" bIns="45720" anchor="ctr" anchorCtr="0"/>
          <a:lstStyle/>
          <a:p>
            <a:r>
              <a:rPr lang="zh-CN" altLang="en-US" dirty="0"/>
              <a:t>指令系统是信息产业绕不过去的话题</a:t>
            </a:r>
          </a:p>
        </p:txBody>
      </p:sp>
      <p:sp>
        <p:nvSpPr>
          <p:cNvPr id="111619" name="内容占位符 2"/>
          <p:cNvSpPr>
            <a:spLocks noGrp="1"/>
          </p:cNvSpPr>
          <p:nvPr>
            <p:ph idx="1"/>
          </p:nvPr>
        </p:nvSpPr>
        <p:spPr>
          <a:xfrm>
            <a:off x="323850" y="1268413"/>
            <a:ext cx="11172825" cy="5256212"/>
          </a:xfrm>
        </p:spPr>
        <p:txBody>
          <a:bodyPr vert="horz" wrap="square" lIns="91440" tIns="45720" rIns="91440" bIns="45720" anchor="t" anchorCtr="0"/>
          <a:lstStyle/>
          <a:p>
            <a:pPr defTabSz="449580"/>
            <a:r>
              <a:rPr lang="en-US" altLang="en-US" dirty="0">
                <a:solidFill>
                  <a:srgbClr val="FF0000"/>
                </a:solidFill>
              </a:rPr>
              <a:t>我国不可能基于国外指令系统建设自主信息产业生态</a:t>
            </a:r>
            <a:endParaRPr lang="en-US" altLang="zh-CN" dirty="0">
              <a:solidFill>
                <a:srgbClr val="FF0000"/>
              </a:solidFill>
            </a:endParaRPr>
          </a:p>
          <a:p>
            <a:pPr lvl="1" defTabSz="449580"/>
            <a:r>
              <a:rPr lang="en-US" altLang="en-US" dirty="0">
                <a:solidFill>
                  <a:srgbClr val="000000"/>
                </a:solidFill>
                <a:ea typeface="国标宋体" panose="02000500000000000000" charset="-122"/>
              </a:rPr>
              <a:t>计算机软硬件之间的“语言”：</a:t>
            </a:r>
            <a:r>
              <a:rPr lang="en-US" altLang="en-US" dirty="0"/>
              <a:t>中国人可以用英文写文章（产品），但不可能用英文发展民族文化（体系）</a:t>
            </a:r>
            <a:endParaRPr lang="en-US" altLang="zh-CN" dirty="0"/>
          </a:p>
          <a:p>
            <a:pPr lvl="1" defTabSz="449580"/>
            <a:r>
              <a:rPr lang="en-US" altLang="zh-CN" dirty="0">
                <a:sym typeface="Times New Roman" pitchFamily="18" charset="0"/>
              </a:rPr>
              <a:t>GPS</a:t>
            </a:r>
            <a:r>
              <a:rPr lang="zh-CN" altLang="en-US" dirty="0">
                <a:sym typeface="Times New Roman" pitchFamily="18" charset="0"/>
              </a:rPr>
              <a:t>、伽利略、</a:t>
            </a:r>
            <a:r>
              <a:rPr lang="zh-CN" altLang="en-US" dirty="0">
                <a:solidFill>
                  <a:srgbClr val="FF0000"/>
                </a:solidFill>
                <a:sym typeface="Times New Roman" pitchFamily="18" charset="0"/>
              </a:rPr>
              <a:t>北斗</a:t>
            </a:r>
            <a:r>
              <a:rPr lang="zh-CN" altLang="en-US" dirty="0">
                <a:sym typeface="Times New Roman" pitchFamily="18" charset="0"/>
              </a:rPr>
              <a:t>；波音、空客、</a:t>
            </a:r>
            <a:r>
              <a:rPr lang="zh-CN" altLang="en-US" dirty="0">
                <a:solidFill>
                  <a:srgbClr val="FF0000"/>
                </a:solidFill>
                <a:sym typeface="Times New Roman" pitchFamily="18" charset="0"/>
              </a:rPr>
              <a:t>商飞</a:t>
            </a:r>
            <a:r>
              <a:rPr lang="zh-CN" altLang="en-US" dirty="0">
                <a:sym typeface="Times New Roman" pitchFamily="18" charset="0"/>
              </a:rPr>
              <a:t>；</a:t>
            </a:r>
            <a:r>
              <a:rPr lang="en-US" altLang="zh-CN" dirty="0">
                <a:sym typeface="Times New Roman" pitchFamily="18" charset="0"/>
              </a:rPr>
              <a:t>X86</a:t>
            </a:r>
            <a:r>
              <a:rPr lang="zh-CN" altLang="en-US" dirty="0">
                <a:sym typeface="Times New Roman" pitchFamily="18" charset="0"/>
              </a:rPr>
              <a:t>、</a:t>
            </a:r>
            <a:r>
              <a:rPr lang="en-US" altLang="zh-CN" dirty="0">
                <a:sym typeface="Times New Roman" pitchFamily="18" charset="0"/>
              </a:rPr>
              <a:t>ARM</a:t>
            </a:r>
            <a:r>
              <a:rPr lang="zh-CN" altLang="en-US" dirty="0">
                <a:sym typeface="Times New Roman" pitchFamily="18" charset="0"/>
              </a:rPr>
              <a:t>、</a:t>
            </a:r>
            <a:r>
              <a:rPr lang="zh-CN" altLang="en-US" dirty="0">
                <a:solidFill>
                  <a:srgbClr val="FF0000"/>
                </a:solidFill>
                <a:sym typeface="Times New Roman" pitchFamily="18" charset="0"/>
              </a:rPr>
              <a:t>？？？</a:t>
            </a:r>
            <a:endParaRPr lang="en-US" altLang="zh-CN" dirty="0"/>
          </a:p>
          <a:p>
            <a:pPr defTabSz="449580"/>
            <a:r>
              <a:rPr lang="en-US" altLang="en-US" dirty="0">
                <a:solidFill>
                  <a:srgbClr val="FF0000"/>
                </a:solidFill>
              </a:rPr>
              <a:t>自主</a:t>
            </a:r>
            <a:r>
              <a:rPr lang="en-US" altLang="en-US" dirty="0"/>
              <a:t>与</a:t>
            </a:r>
            <a:r>
              <a:rPr lang="en-US" altLang="en-US" dirty="0">
                <a:solidFill>
                  <a:schemeClr val="accent2"/>
                </a:solidFill>
              </a:rPr>
              <a:t>兼容</a:t>
            </a:r>
            <a:r>
              <a:rPr lang="en-US" altLang="en-US" dirty="0"/>
              <a:t>指令系统的长期（</a:t>
            </a:r>
            <a:r>
              <a:rPr lang="en-US" altLang="zh-CN" dirty="0"/>
              <a:t>&gt;15</a:t>
            </a:r>
            <a:r>
              <a:rPr lang="en-US" altLang="en-US" dirty="0"/>
              <a:t>年）争论</a:t>
            </a:r>
            <a:endParaRPr lang="en-US" altLang="zh-CN" dirty="0"/>
          </a:p>
          <a:p>
            <a:pPr lvl="1" defTabSz="449580"/>
            <a:r>
              <a:rPr lang="en-US" altLang="en-US" dirty="0"/>
              <a:t>兼容的好处：软件生态，直接利用</a:t>
            </a:r>
            <a:r>
              <a:rPr lang="en-US" altLang="zh-CN" dirty="0"/>
              <a:t>X86</a:t>
            </a:r>
            <a:r>
              <a:rPr lang="en-US" altLang="en-US" dirty="0"/>
              <a:t>和</a:t>
            </a:r>
            <a:r>
              <a:rPr lang="en-US" altLang="zh-CN" dirty="0"/>
              <a:t>ARM</a:t>
            </a:r>
            <a:r>
              <a:rPr lang="en-US" altLang="en-US" dirty="0"/>
              <a:t>的现成生态</a:t>
            </a:r>
            <a:endParaRPr lang="en-US" altLang="zh-CN" dirty="0"/>
          </a:p>
          <a:p>
            <a:pPr lvl="1" defTabSz="449580"/>
            <a:r>
              <a:rPr lang="en-US" altLang="en-US" dirty="0"/>
              <a:t>兼容的弊端：受制于人，</a:t>
            </a:r>
            <a:r>
              <a:rPr lang="en-US" altLang="zh-CN" dirty="0"/>
              <a:t>X86</a:t>
            </a:r>
            <a:r>
              <a:rPr lang="en-US" altLang="en-US" dirty="0"/>
              <a:t>不授权，</a:t>
            </a:r>
            <a:r>
              <a:rPr lang="en-US" altLang="zh-CN" dirty="0"/>
              <a:t>ARM</a:t>
            </a:r>
            <a:r>
              <a:rPr lang="en-US" altLang="en-US" dirty="0"/>
              <a:t>严格授权，阻碍自主基础软件的发展</a:t>
            </a:r>
          </a:p>
          <a:p>
            <a:pPr lvl="0" defTabSz="449580"/>
            <a:r>
              <a:rPr lang="zh-CN" altLang="en-US" dirty="0">
                <a:solidFill>
                  <a:srgbClr val="FF0000"/>
                </a:solidFill>
              </a:rPr>
              <a:t>指令系统的拥有者决定商业模式和产业结构，可以体现国家主权</a:t>
            </a:r>
            <a:endParaRPr lang="en-US" altLang="zh-CN" dirty="0">
              <a:solidFill>
                <a:srgbClr val="FF0000"/>
              </a:solidFill>
            </a:endParaRPr>
          </a:p>
          <a:p>
            <a:pPr lvl="1" defTabSz="449580"/>
            <a:endParaRPr lang="en-US" altLang="zh-CN" dirty="0">
              <a:solidFill>
                <a:schemeClr val="accent2"/>
              </a:solidFill>
            </a:endParaRPr>
          </a:p>
          <a:p>
            <a:pPr defTabSz="449580"/>
            <a:r>
              <a:rPr lang="en-US" altLang="en-US" dirty="0"/>
              <a:t>能不能做到</a:t>
            </a:r>
            <a:r>
              <a:rPr lang="en-US" altLang="en-US" dirty="0">
                <a:solidFill>
                  <a:srgbClr val="FF0000"/>
                </a:solidFill>
              </a:rPr>
              <a:t>既自主又兼容</a:t>
            </a:r>
            <a:r>
              <a:rPr lang="en-US" altLang="en-US" dirty="0"/>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a:xfrm>
            <a:off x="-6350" y="-38100"/>
            <a:ext cx="12120563" cy="1071563"/>
          </a:xfrm>
        </p:spPr>
        <p:txBody>
          <a:bodyPr vert="horz" wrap="square" lIns="91440" tIns="45720" rIns="91440" bIns="45720" anchor="ctr" anchorCtr="0"/>
          <a:lstStyle/>
          <a:p>
            <a:r>
              <a:rPr lang="zh-CN" altLang="en-US" dirty="0"/>
              <a:t>指令系统既自主又兼容需要</a:t>
            </a:r>
            <a:r>
              <a:rPr lang="en-US" altLang="zh-CN" dirty="0"/>
              <a:t>2+3+3+2</a:t>
            </a:r>
            <a:r>
              <a:rPr lang="zh-CN" altLang="en-US" dirty="0"/>
              <a:t>能力</a:t>
            </a:r>
          </a:p>
        </p:txBody>
      </p:sp>
      <p:sp>
        <p:nvSpPr>
          <p:cNvPr id="6147" name="内容占位符 2"/>
          <p:cNvSpPr>
            <a:spLocks noGrp="1"/>
          </p:cNvSpPr>
          <p:nvPr>
            <p:ph idx="1"/>
          </p:nvPr>
        </p:nvSpPr>
        <p:spPr>
          <a:xfrm>
            <a:off x="560388" y="1143000"/>
            <a:ext cx="10988675" cy="5438775"/>
          </a:xfrm>
        </p:spPr>
        <p:txBody>
          <a:bodyPr vert="horz" wrap="square" lIns="91440" tIns="45720" rIns="91440" bIns="45720" numCol="1" anchor="t" anchorCtr="0" compatLnSpc="1"/>
          <a:lstStyle/>
          <a:p>
            <a:pPr marL="360680" marR="0" lvl="0" indent="-36068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基础软件（</a:t>
            </a:r>
            <a:r>
              <a:rPr kumimoji="0" lang="en-US" altLang="zh-CN" sz="2000" b="1" i="0" u="none" strike="noStrike" kern="0" cap="none" spc="0" normalizeH="0" baseline="0" noProof="1">
                <a:ln>
                  <a:noFill/>
                </a:ln>
                <a:solidFill>
                  <a:schemeClr val="tx1"/>
                </a:solidFill>
                <a:effectLst/>
                <a:uLnTx/>
                <a:uFillTx/>
                <a:latin typeface="+mn-ea"/>
                <a:ea typeface="+mn-ea"/>
                <a:cs typeface="+mn-cs"/>
              </a:rPr>
              <a:t>BIOS</a:t>
            </a:r>
            <a:r>
              <a:rPr kumimoji="0" lang="zh-CN" altLang="en-US" sz="2000" b="1" i="0" u="none" strike="noStrike" kern="0" cap="none" spc="0" normalizeH="0" baseline="0" noProof="1">
                <a:ln>
                  <a:noFill/>
                </a:ln>
                <a:solidFill>
                  <a:schemeClr val="tx1"/>
                </a:solidFill>
                <a:effectLst/>
                <a:uLnTx/>
                <a:uFillTx/>
                <a:latin typeface="+mn-ea"/>
                <a:ea typeface="+mn-ea"/>
                <a:cs typeface="+mn-cs"/>
              </a:rPr>
              <a:t>、内核、编译器</a:t>
            </a:r>
            <a:r>
              <a:rPr kumimoji="0" lang="en-US" altLang="zh-CN" sz="2000" b="1" i="0" u="none" strike="noStrike" kern="0" cap="none" spc="0" normalizeH="0" baseline="0" noProof="1">
                <a:ln>
                  <a:noFill/>
                </a:ln>
                <a:solidFill>
                  <a:schemeClr val="tx1"/>
                </a:solidFill>
                <a:effectLst/>
                <a:uLnTx/>
                <a:uFillTx/>
                <a:latin typeface="+mn-ea"/>
                <a:ea typeface="+mn-ea"/>
                <a:cs typeface="+mn-cs"/>
              </a:rPr>
              <a:t>/</a:t>
            </a:r>
            <a:r>
              <a:rPr kumimoji="0" lang="zh-CN" altLang="en-US" sz="2000" b="1" i="0" u="none" strike="noStrike" kern="0" cap="none" spc="0" normalizeH="0" baseline="0" noProof="1">
                <a:ln>
                  <a:noFill/>
                </a:ln>
                <a:solidFill>
                  <a:schemeClr val="tx1"/>
                </a:solidFill>
                <a:effectLst/>
                <a:uLnTx/>
                <a:uFillTx/>
                <a:latin typeface="+mn-ea"/>
                <a:ea typeface="+mn-ea"/>
                <a:cs typeface="+mn-cs"/>
              </a:rPr>
              <a:t>汇编器</a:t>
            </a:r>
            <a:r>
              <a:rPr kumimoji="0" lang="zh-CN" altLang="en-US" sz="2000" b="1" i="0" u="none" strike="noStrike" kern="0" cap="none" spc="0" normalizeH="0" baseline="0" noProof="1" smtClean="0">
                <a:ln>
                  <a:noFill/>
                </a:ln>
                <a:solidFill>
                  <a:schemeClr val="tx1"/>
                </a:solidFill>
                <a:effectLst/>
                <a:uLnTx/>
                <a:uFillTx/>
                <a:latin typeface="+mn-ea"/>
                <a:ea typeface="+mn-ea"/>
                <a:cs typeface="+mn-cs"/>
              </a:rPr>
              <a:t>）</a:t>
            </a:r>
            <a:endParaRPr kumimoji="0" lang="en-US" altLang="zh-CN" sz="2000" b="1" i="0" u="none" strike="noStrike" kern="0" cap="none" spc="0" normalizeH="0" baseline="0" noProof="1" smtClean="0">
              <a:ln>
                <a:noFill/>
              </a:ln>
              <a:solidFill>
                <a:schemeClr val="tx1"/>
              </a:solidFill>
              <a:effectLst/>
              <a:uLnTx/>
              <a:uFillTx/>
              <a:latin typeface="+mn-ea"/>
              <a:ea typeface="+mn-ea"/>
              <a:cs typeface="+mn-cs"/>
            </a:endParaRPr>
          </a:p>
          <a:p>
            <a:pPr marL="741680" marR="0" lvl="2" indent="-34163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smtClean="0">
                <a:ln>
                  <a:noFill/>
                </a:ln>
                <a:solidFill>
                  <a:schemeClr val="tx1"/>
                </a:solidFill>
                <a:effectLst/>
                <a:uLnTx/>
                <a:uFillTx/>
                <a:latin typeface="+mn-ea"/>
                <a:ea typeface="+mn-ea"/>
                <a:cs typeface="+mn-ea"/>
              </a:rPr>
              <a:t>BIOS</a:t>
            </a:r>
            <a:r>
              <a:rPr kumimoji="0" lang="zh-CN" altLang="en-US" sz="1600" b="1" i="0" u="none" strike="noStrike" kern="0" cap="none" spc="0" normalizeH="0" baseline="0" noProof="1" smtClean="0">
                <a:ln>
                  <a:noFill/>
                </a:ln>
                <a:solidFill>
                  <a:schemeClr val="tx1"/>
                </a:solidFill>
                <a:effectLst/>
                <a:uLnTx/>
                <a:uFillTx/>
                <a:latin typeface="+mn-ea"/>
                <a:ea typeface="+mn-ea"/>
                <a:cs typeface="+mn-ea"/>
              </a:rPr>
              <a:t>（</a:t>
            </a:r>
            <a:r>
              <a:rPr kumimoji="0" lang="en-US" altLang="zh-CN" sz="1600" b="1" i="0" u="none" strike="noStrike" kern="0" cap="none" spc="0" normalizeH="0" baseline="0" noProof="1" smtClean="0">
                <a:ln>
                  <a:noFill/>
                </a:ln>
                <a:solidFill>
                  <a:schemeClr val="tx1"/>
                </a:solidFill>
                <a:effectLst/>
                <a:uLnTx/>
                <a:uFillTx/>
                <a:latin typeface="+mn-ea"/>
                <a:ea typeface="+mn-ea"/>
                <a:cs typeface="+mn-ea"/>
              </a:rPr>
              <a:t>PMON/UEFI</a:t>
            </a:r>
            <a:r>
              <a:rPr kumimoji="0" lang="zh-CN" altLang="en-US" sz="1600" b="1" i="0" u="none" strike="noStrike" kern="0" cap="none" spc="0" normalizeH="0" baseline="0" noProof="1" smtClean="0">
                <a:ln>
                  <a:noFill/>
                </a:ln>
                <a:solidFill>
                  <a:schemeClr val="tx1"/>
                </a:solidFill>
                <a:effectLst/>
                <a:uLnTx/>
                <a:uFillTx/>
                <a:latin typeface="+mn-ea"/>
                <a:ea typeface="+mn-ea"/>
                <a:cs typeface="+mn-ea"/>
              </a:rPr>
              <a:t>）、内核（含图形系统及虚拟机）：工作量不大</a:t>
            </a:r>
            <a:endParaRPr kumimoji="0" lang="en-US" altLang="zh-CN" sz="1600" b="1" i="0" u="none" strike="noStrike" kern="0" cap="none" spc="0" normalizeH="0" baseline="0" noProof="1" smtClean="0">
              <a:ln>
                <a:noFill/>
              </a:ln>
              <a:solidFill>
                <a:schemeClr val="tx1"/>
              </a:solidFill>
              <a:effectLst/>
              <a:uLnTx/>
              <a:uFillTx/>
              <a:latin typeface="+mn-ea"/>
              <a:ea typeface="+mn-ea"/>
              <a:cs typeface="+mn-ea"/>
            </a:endParaRPr>
          </a:p>
          <a:p>
            <a:pPr marL="360680" marR="0" lvl="0" indent="-36068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smtClean="0">
                <a:ln>
                  <a:noFill/>
                </a:ln>
                <a:solidFill>
                  <a:schemeClr val="tx1"/>
                </a:solidFill>
                <a:effectLst/>
                <a:uLnTx/>
                <a:uFillTx/>
                <a:latin typeface="+mn-ea"/>
                <a:ea typeface="+mn-ea"/>
                <a:cs typeface="+mn-cs"/>
              </a:rPr>
              <a:t>静态编译器</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smtClean="0">
                <a:ln>
                  <a:noFill/>
                </a:ln>
                <a:solidFill>
                  <a:schemeClr val="tx1"/>
                </a:solidFill>
                <a:effectLst/>
                <a:uLnTx/>
                <a:uFillTx/>
                <a:latin typeface="+mn-ea"/>
                <a:ea typeface="+mn-ea"/>
                <a:cs typeface="+mn-ea"/>
              </a:rPr>
              <a:t>汇编器</a:t>
            </a:r>
            <a:r>
              <a:rPr kumimoji="0" lang="zh-CN" altLang="en-US" sz="1600" b="1" i="0" u="none" strike="noStrike" kern="0" cap="none" spc="0" normalizeH="0" baseline="0" noProof="1">
                <a:ln>
                  <a:noFill/>
                </a:ln>
                <a:solidFill>
                  <a:schemeClr val="tx1"/>
                </a:solidFill>
                <a:effectLst/>
                <a:uLnTx/>
                <a:uFillTx/>
                <a:latin typeface="+mn-ea"/>
                <a:ea typeface="+mn-ea"/>
                <a:cs typeface="+mn-ea"/>
              </a:rPr>
              <a:t>及编译器（</a:t>
            </a:r>
            <a:r>
              <a:rPr kumimoji="0" lang="en-US" altLang="zh-CN" sz="1600" b="1" i="0" u="none" strike="noStrike" kern="0" cap="none" spc="0" normalizeH="0" baseline="0" noProof="1">
                <a:ln>
                  <a:noFill/>
                </a:ln>
                <a:solidFill>
                  <a:srgbClr val="FF0000"/>
                </a:solidFill>
                <a:effectLst/>
                <a:uLnTx/>
                <a:uFillTx/>
                <a:latin typeface="+mn-ea"/>
                <a:ea typeface="+mn-ea"/>
                <a:cs typeface="+mn-ea"/>
              </a:rPr>
              <a:t>GCC</a:t>
            </a:r>
            <a:r>
              <a:rPr kumimoji="0" lang="zh-CN" altLang="en-US" sz="1600" b="1" i="0" u="none" strike="noStrike" kern="0" cap="none" spc="0" normalizeH="0" baseline="0" noProof="1">
                <a:ln>
                  <a:noFill/>
                </a:ln>
                <a:solidFill>
                  <a:srgbClr val="FF0000"/>
                </a:solidFill>
                <a:effectLst/>
                <a:uLnTx/>
                <a:uFillTx/>
                <a:latin typeface="+mn-ea"/>
                <a:ea typeface="+mn-ea"/>
                <a:cs typeface="+mn-ea"/>
              </a:rPr>
              <a:t>、</a:t>
            </a:r>
            <a:r>
              <a:rPr kumimoji="0" lang="en-US" altLang="zh-CN" sz="1600" b="1" i="0" u="none" strike="noStrike" kern="0" cap="none" spc="0" normalizeH="0" baseline="0" noProof="1">
                <a:ln>
                  <a:noFill/>
                </a:ln>
                <a:solidFill>
                  <a:srgbClr val="FF0000"/>
                </a:solidFill>
                <a:effectLst/>
                <a:uLnTx/>
                <a:uFillTx/>
                <a:latin typeface="+mn-ea"/>
                <a:ea typeface="+mn-ea"/>
                <a:cs typeface="+mn-ea"/>
              </a:rPr>
              <a:t>LLVM</a:t>
            </a:r>
            <a:r>
              <a:rPr kumimoji="0" lang="zh-CN" altLang="en-US" sz="1600" b="1" i="0" u="none" strike="noStrike" kern="0" cap="none" spc="0" normalizeH="0" baseline="0" noProof="1">
                <a:ln>
                  <a:noFill/>
                </a:ln>
                <a:solidFill>
                  <a:srgbClr val="FF0000"/>
                </a:solidFill>
                <a:effectLst/>
                <a:uLnTx/>
                <a:uFillTx/>
                <a:latin typeface="+mn-ea"/>
                <a:ea typeface="+mn-ea"/>
                <a:cs typeface="+mn-ea"/>
              </a:rPr>
              <a:t>、</a:t>
            </a:r>
            <a:r>
              <a:rPr kumimoji="0" lang="en-US" altLang="zh-CN" sz="1600" b="1" i="0" u="none" strike="noStrike" kern="0" cap="none" spc="0" normalizeH="0" baseline="0" noProof="1">
                <a:ln>
                  <a:noFill/>
                </a:ln>
                <a:solidFill>
                  <a:srgbClr val="FF0000"/>
                </a:solidFill>
                <a:effectLst/>
                <a:uLnTx/>
                <a:uFillTx/>
                <a:latin typeface="+mn-ea"/>
                <a:ea typeface="+mn-ea"/>
                <a:cs typeface="+mn-ea"/>
              </a:rPr>
              <a:t>GOLANG</a:t>
            </a:r>
            <a:r>
              <a:rPr kumimoji="0" lang="zh-CN" altLang="en-US" sz="1600" b="1" i="0" u="none" strike="noStrike" kern="0" cap="none" spc="0" normalizeH="0" baseline="0" noProof="1">
                <a:ln>
                  <a:noFill/>
                </a:ln>
                <a:solidFill>
                  <a:schemeClr val="tx1"/>
                </a:solidFill>
                <a:effectLst/>
                <a:uLnTx/>
                <a:uFillTx/>
                <a:latin typeface="+mn-ea"/>
                <a:ea typeface="+mn-ea"/>
                <a:cs typeface="+mn-ea"/>
              </a:rPr>
              <a:t>）：工作量可控</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smtClean="0">
                <a:ln>
                  <a:noFill/>
                </a:ln>
                <a:solidFill>
                  <a:schemeClr val="accent2"/>
                </a:solidFill>
                <a:effectLst/>
                <a:uLnTx/>
                <a:uFillTx/>
                <a:latin typeface="+mn-ea"/>
                <a:ea typeface="+mn-ea"/>
                <a:cs typeface="+mn-ea"/>
              </a:rPr>
              <a:t>整个操作系统重新迁移和编译工作量不大</a:t>
            </a:r>
            <a:endParaRPr kumimoji="0" lang="en-US" altLang="zh-CN" sz="1600" b="1" i="0" u="none" strike="noStrike" kern="0" cap="none" spc="0" normalizeH="0" baseline="0" noProof="1">
              <a:ln>
                <a:noFill/>
              </a:ln>
              <a:solidFill>
                <a:schemeClr val="accent2"/>
              </a:solidFill>
              <a:effectLst/>
              <a:uLnTx/>
              <a:uFillTx/>
              <a:latin typeface="+mn-ea"/>
              <a:ea typeface="+mn-ea"/>
              <a:cs typeface="+mn-ea"/>
            </a:endParaRPr>
          </a:p>
          <a:p>
            <a:pPr marL="360680" marR="0" lvl="0" indent="-36068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smtClean="0">
                <a:ln>
                  <a:noFill/>
                </a:ln>
                <a:solidFill>
                  <a:schemeClr val="tx1"/>
                </a:solidFill>
                <a:effectLst/>
                <a:uLnTx/>
                <a:uFillTx/>
                <a:latin typeface="+mn-ea"/>
                <a:ea typeface="+mn-ea"/>
                <a:cs typeface="+mn-cs"/>
              </a:rPr>
              <a:t>动态翻译虚拟机（</a:t>
            </a:r>
            <a:r>
              <a:rPr kumimoji="0" lang="en-US" altLang="zh-CN" sz="2000" b="1" i="0" u="none" strike="noStrike" kern="0" cap="none" spc="0" normalizeH="0" baseline="0" noProof="1" smtClean="0">
                <a:ln>
                  <a:noFill/>
                </a:ln>
                <a:solidFill>
                  <a:schemeClr val="tx1"/>
                </a:solidFill>
                <a:effectLst/>
                <a:uLnTx/>
                <a:uFillTx/>
                <a:latin typeface="+mn-ea"/>
                <a:ea typeface="+mn-ea"/>
                <a:cs typeface="+mn-cs"/>
              </a:rPr>
              <a:t> </a:t>
            </a:r>
            <a:r>
              <a:rPr kumimoji="0" lang="en-US" altLang="zh-CN" sz="2000" b="1" i="0" u="none" strike="noStrike" kern="0" cap="none" spc="0" normalizeH="0" baseline="0" noProof="1">
                <a:ln>
                  <a:noFill/>
                </a:ln>
                <a:solidFill>
                  <a:srgbClr val="FF0000"/>
                </a:solidFill>
                <a:effectLst/>
                <a:uLnTx/>
                <a:uFillTx/>
                <a:latin typeface="+mn-ea"/>
                <a:ea typeface="+mn-ea"/>
                <a:cs typeface="+mn-cs"/>
              </a:rPr>
              <a:t>Java</a:t>
            </a:r>
            <a:r>
              <a:rPr kumimoji="0" lang="zh-CN" altLang="en-US" sz="2000" b="1" i="0" u="none" strike="noStrike" kern="0" cap="none" spc="0" normalizeH="0" baseline="0" noProof="1">
                <a:ln>
                  <a:noFill/>
                </a:ln>
                <a:solidFill>
                  <a:srgbClr val="FF0000"/>
                </a:solidFill>
                <a:effectLst/>
                <a:uLnTx/>
                <a:uFillTx/>
                <a:latin typeface="+mn-ea"/>
                <a:ea typeface="+mn-ea"/>
                <a:cs typeface="+mn-cs"/>
              </a:rPr>
              <a:t>、</a:t>
            </a:r>
            <a:r>
              <a:rPr kumimoji="0" lang="en-US" altLang="zh-CN" sz="2000" b="1" i="0" u="none" strike="noStrike" kern="0" cap="none" spc="0" normalizeH="0" baseline="0" noProof="1">
                <a:ln>
                  <a:noFill/>
                </a:ln>
                <a:solidFill>
                  <a:srgbClr val="FF0000"/>
                </a:solidFill>
                <a:effectLst/>
                <a:uLnTx/>
                <a:uFillTx/>
                <a:latin typeface="+mn-ea"/>
                <a:ea typeface="+mn-ea"/>
                <a:cs typeface="+mn-cs"/>
              </a:rPr>
              <a:t>JavaScript</a:t>
            </a:r>
            <a:r>
              <a:rPr kumimoji="0" lang="zh-CN" altLang="en-US" sz="2000" b="1" i="0" u="none" strike="noStrike" kern="0" cap="none" spc="0" normalizeH="0" baseline="0" noProof="1">
                <a:ln>
                  <a:noFill/>
                </a:ln>
                <a:solidFill>
                  <a:srgbClr val="FF0000"/>
                </a:solidFill>
                <a:effectLst/>
                <a:uLnTx/>
                <a:uFillTx/>
                <a:latin typeface="+mn-ea"/>
                <a:ea typeface="+mn-ea"/>
                <a:cs typeface="+mn-cs"/>
              </a:rPr>
              <a:t>、</a:t>
            </a:r>
            <a:r>
              <a:rPr kumimoji="0" lang="en-US" altLang="zh-CN" sz="2000" b="1" i="0" u="none" strike="noStrike" kern="0" cap="none" spc="0" normalizeH="0" baseline="0" noProof="1">
                <a:ln>
                  <a:noFill/>
                </a:ln>
                <a:solidFill>
                  <a:srgbClr val="FF0000"/>
                </a:solidFill>
                <a:effectLst/>
                <a:uLnTx/>
                <a:uFillTx/>
                <a:latin typeface="+mn-ea"/>
                <a:ea typeface="+mn-ea"/>
                <a:cs typeface="+mn-cs"/>
              </a:rPr>
              <a:t>.NET </a:t>
            </a:r>
            <a:r>
              <a:rPr kumimoji="0" lang="zh-CN" altLang="en-US" sz="2000" b="1" i="0" u="none" strike="noStrike" kern="0" cap="none" spc="0" normalizeH="0" baseline="0" noProof="1">
                <a:ln>
                  <a:noFill/>
                </a:ln>
                <a:solidFill>
                  <a:schemeClr val="tx1"/>
                </a:solidFill>
                <a:effectLst/>
                <a:uLnTx/>
                <a:uFillTx/>
                <a:latin typeface="+mn-ea"/>
                <a:ea typeface="+mn-ea"/>
                <a:cs typeface="+mn-cs"/>
              </a:rPr>
              <a:t>）</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tx1"/>
                </a:solidFill>
                <a:effectLst/>
                <a:uLnTx/>
                <a:uFillTx/>
                <a:latin typeface="+mn-ea"/>
                <a:ea typeface="+mn-ea"/>
                <a:cs typeface="+mn-ea"/>
              </a:rPr>
              <a:t>Java</a:t>
            </a:r>
            <a:r>
              <a:rPr kumimoji="0" lang="zh-CN" altLang="en-US" sz="1600" b="1" i="0" u="none" strike="noStrike" kern="0" cap="none" spc="0" normalizeH="0" baseline="0" noProof="1">
                <a:ln>
                  <a:noFill/>
                </a:ln>
                <a:solidFill>
                  <a:schemeClr val="tx1"/>
                </a:solidFill>
                <a:effectLst/>
                <a:uLnTx/>
                <a:uFillTx/>
                <a:latin typeface="+mn-ea"/>
                <a:ea typeface="+mn-ea"/>
                <a:cs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rPr>
              <a:t>JavaScript</a:t>
            </a:r>
            <a:r>
              <a:rPr kumimoji="0" lang="zh-CN" altLang="en-US" sz="1600" b="1" i="0" u="none" strike="noStrike" kern="0" cap="none" spc="0" normalizeH="0" baseline="0" noProof="1">
                <a:ln>
                  <a:noFill/>
                </a:ln>
                <a:solidFill>
                  <a:schemeClr val="tx1"/>
                </a:solidFill>
                <a:effectLst/>
                <a:uLnTx/>
                <a:uFillTx/>
                <a:latin typeface="+mn-ea"/>
                <a:ea typeface="+mn-ea"/>
                <a:cs typeface="+mn-ea"/>
              </a:rPr>
              <a:t>、</a:t>
            </a:r>
            <a:r>
              <a:rPr kumimoji="0" lang="en-US" altLang="zh-CN" sz="1600" b="1" i="0" u="none" strike="noStrike" kern="0" cap="none" spc="0" normalizeH="0" baseline="0" noProof="1">
                <a:ln>
                  <a:noFill/>
                </a:ln>
                <a:solidFill>
                  <a:schemeClr val="tx1"/>
                </a:solidFill>
                <a:effectLst/>
                <a:uLnTx/>
                <a:uFillTx/>
                <a:latin typeface="+mn-ea"/>
                <a:ea typeface="+mn-ea"/>
                <a:cs typeface="+mn-ea"/>
              </a:rPr>
              <a:t>.NET</a:t>
            </a:r>
            <a:r>
              <a:rPr kumimoji="0" lang="zh-CN" altLang="en-US" sz="1600" b="1" i="0" u="none" strike="noStrike" kern="0" cap="none" spc="0" normalizeH="0" baseline="0" noProof="1">
                <a:ln>
                  <a:noFill/>
                </a:ln>
                <a:solidFill>
                  <a:schemeClr val="tx1"/>
                </a:solidFill>
                <a:effectLst/>
                <a:uLnTx/>
                <a:uFillTx/>
                <a:latin typeface="+mn-ea"/>
                <a:ea typeface="+mn-ea"/>
                <a:cs typeface="+mn-ea"/>
              </a:rPr>
              <a:t>：</a:t>
            </a:r>
            <a:r>
              <a:rPr kumimoji="0" lang="zh-CN" altLang="en-US" sz="1600" b="1" i="0" u="none" strike="noStrike" kern="0" cap="none" spc="0" normalizeH="0" baseline="0" noProof="1" smtClean="0">
                <a:ln>
                  <a:noFill/>
                </a:ln>
                <a:solidFill>
                  <a:schemeClr val="tx1"/>
                </a:solidFill>
                <a:effectLst/>
                <a:uLnTx/>
                <a:uFillTx/>
                <a:latin typeface="+mn-ea"/>
                <a:ea typeface="+mn-ea"/>
                <a:cs typeface="+mn-ea"/>
              </a:rPr>
              <a:t>均由</a:t>
            </a:r>
            <a:r>
              <a:rPr kumimoji="0" lang="zh-CN" altLang="en-US" sz="1600" b="1" i="0" u="none" strike="noStrike" kern="0" cap="none" spc="0" normalizeH="0" baseline="0" noProof="1">
                <a:ln>
                  <a:noFill/>
                </a:ln>
                <a:solidFill>
                  <a:schemeClr val="tx1"/>
                </a:solidFill>
                <a:effectLst/>
                <a:uLnTx/>
                <a:uFillTx/>
                <a:latin typeface="+mn-ea"/>
                <a:ea typeface="+mn-ea"/>
                <a:cs typeface="+mn-ea"/>
              </a:rPr>
              <a:t>龙芯完成迁移</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accent2"/>
                </a:solidFill>
                <a:effectLst/>
                <a:uLnTx/>
                <a:uFillTx/>
                <a:latin typeface="+mn-ea"/>
                <a:ea typeface="+mn-ea"/>
                <a:cs typeface="+mn-ea"/>
              </a:rPr>
              <a:t>Java</a:t>
            </a:r>
            <a:r>
              <a:rPr kumimoji="0" lang="zh-CN" altLang="en-US" sz="1600" b="1" i="0" u="none" strike="noStrike" kern="0" cap="none" spc="0" normalizeH="0" baseline="0" noProof="1">
                <a:ln>
                  <a:noFill/>
                </a:ln>
                <a:solidFill>
                  <a:schemeClr val="accent2"/>
                </a:solidFill>
                <a:effectLst/>
                <a:uLnTx/>
                <a:uFillTx/>
                <a:latin typeface="+mn-ea"/>
                <a:ea typeface="+mn-ea"/>
                <a:cs typeface="+mn-ea"/>
              </a:rPr>
              <a:t>、</a:t>
            </a:r>
            <a:r>
              <a:rPr kumimoji="0" lang="en-US" altLang="zh-CN" sz="1600" b="1" i="0" u="none" strike="noStrike" kern="0" cap="none" spc="0" normalizeH="0" baseline="0" noProof="1">
                <a:ln>
                  <a:noFill/>
                </a:ln>
                <a:solidFill>
                  <a:schemeClr val="accent2"/>
                </a:solidFill>
                <a:effectLst/>
                <a:uLnTx/>
                <a:uFillTx/>
                <a:latin typeface="+mn-ea"/>
                <a:ea typeface="+mn-ea"/>
                <a:cs typeface="+mn-ea"/>
              </a:rPr>
              <a:t>JS</a:t>
            </a:r>
            <a:r>
              <a:rPr kumimoji="0" lang="zh-CN" altLang="en-US" sz="1600" b="1" i="0" u="none" strike="noStrike" kern="0" cap="none" spc="0" normalizeH="0" baseline="0" noProof="1">
                <a:ln>
                  <a:noFill/>
                </a:ln>
                <a:solidFill>
                  <a:schemeClr val="accent2"/>
                </a:solidFill>
                <a:effectLst/>
                <a:uLnTx/>
                <a:uFillTx/>
                <a:latin typeface="+mn-ea"/>
                <a:ea typeface="+mn-ea"/>
                <a:cs typeface="+mn-ea"/>
              </a:rPr>
              <a:t>、</a:t>
            </a:r>
            <a:r>
              <a:rPr kumimoji="0" lang="en-US" altLang="zh-CN" sz="1600" b="1" i="0" u="none" strike="noStrike" kern="0" cap="none" spc="0" normalizeH="0" baseline="0" noProof="1">
                <a:ln>
                  <a:noFill/>
                </a:ln>
                <a:solidFill>
                  <a:schemeClr val="accent2"/>
                </a:solidFill>
                <a:effectLst/>
                <a:uLnTx/>
                <a:uFillTx/>
                <a:latin typeface="+mn-ea"/>
                <a:ea typeface="+mn-ea"/>
                <a:cs typeface="+mn-ea"/>
              </a:rPr>
              <a:t>.NET</a:t>
            </a:r>
            <a:r>
              <a:rPr kumimoji="0" lang="zh-CN" altLang="en-US" sz="1600" b="1" i="0" u="none" strike="noStrike" kern="0" cap="none" spc="0" normalizeH="0" baseline="0" noProof="1">
                <a:ln>
                  <a:noFill/>
                </a:ln>
                <a:solidFill>
                  <a:schemeClr val="accent2"/>
                </a:solidFill>
                <a:effectLst/>
                <a:uLnTx/>
                <a:uFillTx/>
                <a:latin typeface="+mn-ea"/>
                <a:ea typeface="+mn-ea"/>
                <a:cs typeface="+mn-ea"/>
              </a:rPr>
              <a:t>应用不用改，可以直接跑</a:t>
            </a:r>
            <a:endParaRPr kumimoji="0" lang="en-US" altLang="zh-CN" sz="1600" b="1" i="0" u="none" strike="noStrike" kern="0" cap="none" spc="0" normalizeH="0" baseline="0" noProof="1">
              <a:ln>
                <a:noFill/>
              </a:ln>
              <a:solidFill>
                <a:schemeClr val="accent2"/>
              </a:solidFill>
              <a:effectLst/>
              <a:uLnTx/>
              <a:uFillTx/>
              <a:latin typeface="+mn-ea"/>
              <a:ea typeface="+mn-ea"/>
              <a:cs typeface="+mn-ea"/>
            </a:endParaRPr>
          </a:p>
          <a:p>
            <a:pPr marL="360680" marR="0" lvl="0" indent="-36068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a:ln>
                  <a:noFill/>
                </a:ln>
                <a:solidFill>
                  <a:schemeClr val="tx1"/>
                </a:solidFill>
                <a:effectLst/>
                <a:uLnTx/>
                <a:uFillTx/>
                <a:latin typeface="+mn-ea"/>
                <a:ea typeface="+mn-ea"/>
                <a:cs typeface="+mn-cs"/>
              </a:rPr>
              <a:t>二进制翻译（</a:t>
            </a:r>
            <a:r>
              <a:rPr kumimoji="0" lang="en-US" altLang="zh-CN" sz="2000" b="1" i="0" u="none" strike="noStrike" kern="0" cap="none" spc="0" normalizeH="0" baseline="0" noProof="1">
                <a:ln>
                  <a:noFill/>
                </a:ln>
                <a:solidFill>
                  <a:srgbClr val="FF0000"/>
                </a:solidFill>
                <a:effectLst/>
                <a:uLnTx/>
                <a:uFillTx/>
                <a:latin typeface="+mn-ea"/>
                <a:ea typeface="+mn-ea"/>
                <a:cs typeface="+mn-cs"/>
              </a:rPr>
              <a:t>X86</a:t>
            </a:r>
            <a:r>
              <a:rPr kumimoji="0" lang="zh-CN" altLang="en-US" sz="2000" b="1" i="0" u="none" strike="noStrike" kern="0" cap="none" spc="0" normalizeH="0" baseline="0" noProof="1">
                <a:ln>
                  <a:noFill/>
                </a:ln>
                <a:solidFill>
                  <a:srgbClr val="FF0000"/>
                </a:solidFill>
                <a:effectLst/>
                <a:uLnTx/>
                <a:uFillTx/>
                <a:latin typeface="+mn-ea"/>
                <a:ea typeface="+mn-ea"/>
                <a:cs typeface="+mn-cs"/>
              </a:rPr>
              <a:t>、</a:t>
            </a:r>
            <a:r>
              <a:rPr kumimoji="0" lang="en-US" altLang="zh-CN" sz="2000" b="1" i="0" u="none" strike="noStrike" kern="0" cap="none" spc="0" normalizeH="0" baseline="0" noProof="1" smtClean="0">
                <a:ln>
                  <a:noFill/>
                </a:ln>
                <a:solidFill>
                  <a:srgbClr val="FF0000"/>
                </a:solidFill>
                <a:effectLst/>
                <a:uLnTx/>
                <a:uFillTx/>
                <a:latin typeface="+mn-ea"/>
                <a:ea typeface="+mn-ea"/>
                <a:cs typeface="+mn-cs"/>
              </a:rPr>
              <a:t>ARM</a:t>
            </a:r>
            <a:r>
              <a:rPr kumimoji="0" lang="zh-CN" altLang="en-US" sz="2000" b="1" i="0" u="none" strike="noStrike" kern="0" cap="none" spc="0" normalizeH="0" baseline="0" noProof="1" smtClean="0">
                <a:ln>
                  <a:noFill/>
                </a:ln>
                <a:solidFill>
                  <a:schemeClr val="tx1"/>
                </a:solidFill>
                <a:effectLst/>
                <a:uLnTx/>
                <a:uFillTx/>
                <a:latin typeface="+mn-ea"/>
                <a:ea typeface="+mn-ea"/>
                <a:cs typeface="+mn-cs"/>
              </a:rPr>
              <a:t>）</a:t>
            </a:r>
            <a:endParaRPr kumimoji="0" lang="en-US" altLang="zh-CN" sz="2000" b="1" i="0" u="none" strike="noStrike" kern="0" cap="none" spc="0" normalizeH="0" baseline="0" noProof="1">
              <a:ln>
                <a:noFill/>
              </a:ln>
              <a:solidFill>
                <a:schemeClr val="tx1"/>
              </a:solidFill>
              <a:effectLst/>
              <a:uLnTx/>
              <a:uFillTx/>
              <a:latin typeface="+mn-ea"/>
              <a:ea typeface="+mn-ea"/>
              <a:cs typeface="+mn-cs"/>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smtClean="0">
                <a:ln>
                  <a:noFill/>
                </a:ln>
                <a:solidFill>
                  <a:schemeClr val="tx1"/>
                </a:solidFill>
                <a:effectLst/>
                <a:uLnTx/>
                <a:uFillTx/>
                <a:latin typeface="+mn-ea"/>
                <a:ea typeface="+mn-ea"/>
                <a:cs typeface="+mn-ea"/>
              </a:rPr>
              <a:t>在</a:t>
            </a:r>
            <a:r>
              <a:rPr kumimoji="0" lang="en-US" altLang="zh-CN" sz="1600" b="1" i="0" u="none" strike="noStrike" kern="0" cap="none" spc="0" normalizeH="0" baseline="0" noProof="1">
                <a:ln>
                  <a:noFill/>
                </a:ln>
                <a:solidFill>
                  <a:schemeClr val="tx1"/>
                </a:solidFill>
                <a:effectLst/>
                <a:uLnTx/>
                <a:uFillTx/>
                <a:latin typeface="+mn-ea"/>
                <a:ea typeface="+mn-ea"/>
                <a:cs typeface="+mn-ea"/>
              </a:rPr>
              <a:t>Android</a:t>
            </a:r>
            <a:r>
              <a:rPr kumimoji="0" lang="zh-CN" altLang="en-US" sz="1600" b="1" i="0" u="none" strike="noStrike" kern="0" cap="none" spc="0" normalizeH="0" baseline="0" noProof="1">
                <a:ln>
                  <a:noFill/>
                </a:ln>
                <a:solidFill>
                  <a:schemeClr val="tx1"/>
                </a:solidFill>
                <a:effectLst/>
                <a:uLnTx/>
                <a:uFillTx/>
                <a:latin typeface="+mn-ea"/>
                <a:ea typeface="+mn-ea"/>
                <a:cs typeface="+mn-ea"/>
              </a:rPr>
              <a:t>上直接运行 </a:t>
            </a:r>
            <a:r>
              <a:rPr kumimoji="0" lang="en-US" altLang="zh-CN" sz="1600" b="1" i="0" u="none" strike="noStrike" kern="0" cap="none" spc="0" normalizeH="0" baseline="0" noProof="1">
                <a:ln>
                  <a:noFill/>
                </a:ln>
                <a:solidFill>
                  <a:schemeClr val="tx1"/>
                </a:solidFill>
                <a:effectLst/>
                <a:uLnTx/>
                <a:uFillTx/>
                <a:latin typeface="+mn-ea"/>
                <a:ea typeface="+mn-ea"/>
                <a:cs typeface="+mn-ea"/>
              </a:rPr>
              <a:t>ARM</a:t>
            </a:r>
            <a:r>
              <a:rPr kumimoji="0" lang="zh-CN" altLang="en-US" sz="1600" b="1" i="0" u="none" strike="noStrike" kern="0" cap="none" spc="0" normalizeH="0" baseline="0" noProof="1">
                <a:ln>
                  <a:noFill/>
                </a:ln>
                <a:solidFill>
                  <a:schemeClr val="tx1"/>
                </a:solidFill>
                <a:effectLst/>
                <a:uLnTx/>
                <a:uFillTx/>
                <a:latin typeface="+mn-ea"/>
                <a:ea typeface="+mn-ea"/>
                <a:cs typeface="+mn-ea"/>
              </a:rPr>
              <a:t>应用，运行</a:t>
            </a:r>
            <a:r>
              <a:rPr kumimoji="0" lang="en-US" altLang="zh-CN" sz="1600" b="1" i="0" u="none" strike="noStrike" kern="0" cap="none" spc="0" normalizeH="0" baseline="0" noProof="1">
                <a:ln>
                  <a:noFill/>
                </a:ln>
                <a:solidFill>
                  <a:schemeClr val="tx1"/>
                </a:solidFill>
                <a:effectLst/>
                <a:uLnTx/>
                <a:uFillTx/>
                <a:latin typeface="+mn-ea"/>
                <a:ea typeface="+mn-ea"/>
                <a:cs typeface="+mn-ea"/>
              </a:rPr>
              <a:t>Windows</a:t>
            </a:r>
            <a:r>
              <a:rPr kumimoji="0" lang="zh-CN" altLang="en-US" sz="1600" b="1" i="0" u="none" strike="noStrike" kern="0" cap="none" spc="0" normalizeH="0" baseline="0" noProof="1">
                <a:ln>
                  <a:noFill/>
                </a:ln>
                <a:solidFill>
                  <a:schemeClr val="tx1"/>
                </a:solidFill>
                <a:effectLst/>
                <a:uLnTx/>
                <a:uFillTx/>
                <a:latin typeface="+mn-ea"/>
                <a:ea typeface="+mn-ea"/>
                <a:cs typeface="+mn-ea"/>
              </a:rPr>
              <a:t>及其应用</a:t>
            </a:r>
            <a:endParaRPr kumimoji="0" lang="en-US" altLang="zh-CN" sz="1600" b="1" i="0" u="none" strike="noStrike" kern="0" cap="none" spc="0" normalizeH="0" baseline="0" noProof="1">
              <a:ln>
                <a:noFill/>
              </a:ln>
              <a:solidFill>
                <a:schemeClr val="tx1"/>
              </a:solidFill>
              <a:effectLst/>
              <a:uLnTx/>
              <a:uFillTx/>
              <a:latin typeface="+mn-ea"/>
              <a:ea typeface="+mn-ea"/>
              <a:cs typeface="+mn-ea"/>
            </a:endParaRPr>
          </a:p>
          <a:p>
            <a:pPr marL="720725" marR="0" lvl="1" indent="-36068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a:ln>
                  <a:noFill/>
                </a:ln>
                <a:solidFill>
                  <a:schemeClr val="accent2"/>
                </a:solidFill>
                <a:effectLst/>
                <a:uLnTx/>
                <a:uFillTx/>
                <a:latin typeface="+mn-ea"/>
                <a:ea typeface="+mn-ea"/>
                <a:cs typeface="+mn-ea"/>
              </a:rPr>
              <a:t>Qemu</a:t>
            </a:r>
            <a:r>
              <a:rPr kumimoji="0" lang="zh-CN" altLang="en-US" sz="1600" b="1" i="0" u="none" strike="noStrike" kern="0" cap="none" spc="0" normalizeH="0" baseline="0" noProof="1">
                <a:ln>
                  <a:noFill/>
                </a:ln>
                <a:solidFill>
                  <a:schemeClr val="accent2"/>
                </a:solidFill>
                <a:effectLst/>
                <a:uLnTx/>
                <a:uFillTx/>
                <a:latin typeface="+mn-ea"/>
                <a:ea typeface="+mn-ea"/>
                <a:cs typeface="+mn-ea"/>
              </a:rPr>
              <a:t>都可以实现，关键是提高运行效率（跨指令系统一般不到</a:t>
            </a:r>
            <a:r>
              <a:rPr kumimoji="0" lang="en-US" altLang="zh-CN" sz="1600" b="1" i="0" u="none" strike="noStrike" kern="0" cap="none" spc="0" normalizeH="0" baseline="0" noProof="1">
                <a:ln>
                  <a:noFill/>
                </a:ln>
                <a:solidFill>
                  <a:schemeClr val="accent2"/>
                </a:solidFill>
                <a:effectLst/>
                <a:uLnTx/>
                <a:uFillTx/>
                <a:latin typeface="+mn-ea"/>
                <a:ea typeface="+mn-ea"/>
                <a:cs typeface="+mn-ea"/>
              </a:rPr>
              <a:t>10%</a:t>
            </a:r>
            <a:r>
              <a:rPr kumimoji="0" lang="zh-CN" altLang="en-US" sz="1600" b="1" i="0" u="none" strike="noStrike" kern="0" cap="none" spc="0" normalizeH="0" baseline="0" noProof="1">
                <a:ln>
                  <a:noFill/>
                </a:ln>
                <a:solidFill>
                  <a:schemeClr val="accent2"/>
                </a:solidFill>
                <a:effectLst/>
                <a:uLnTx/>
                <a:uFillTx/>
                <a:latin typeface="+mn-ea"/>
                <a:ea typeface="+mn-ea"/>
                <a:cs typeface="+mn-ea"/>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963613" y="0"/>
            <a:ext cx="10361612" cy="1143000"/>
          </a:xfrm>
        </p:spPr>
        <p:txBody>
          <a:bodyPr vert="horz" wrap="square" lIns="91440" tIns="45720" rIns="91440" bIns="45720" anchor="ctr" anchorCtr="0"/>
          <a:lstStyle/>
          <a:p>
            <a:r>
              <a:rPr lang="en-US" altLang="zh-CN" dirty="0"/>
              <a:t>Loongarch</a:t>
            </a:r>
            <a:r>
              <a:rPr lang="zh-CN" altLang="en-US" dirty="0"/>
              <a:t>特点和格式</a:t>
            </a:r>
          </a:p>
        </p:txBody>
      </p:sp>
      <p:sp>
        <p:nvSpPr>
          <p:cNvPr id="8195" name="内容占位符 2"/>
          <p:cNvSpPr>
            <a:spLocks noGrp="1"/>
          </p:cNvSpPr>
          <p:nvPr>
            <p:ph idx="1"/>
          </p:nvPr>
        </p:nvSpPr>
        <p:spPr>
          <a:xfrm>
            <a:off x="560388" y="1071563"/>
            <a:ext cx="10379075" cy="4589463"/>
          </a:xfrm>
        </p:spPr>
        <p:txBody>
          <a:bodyPr vert="horz" wrap="square" lIns="91440" tIns="45720" rIns="91440" bIns="45720" numCol="1" anchor="t" anchorCtr="0" compatLnSpc="1"/>
          <a:lstStyle/>
          <a:p>
            <a:pPr marL="360680" marR="0" lvl="0" indent="-360680" algn="l" defTabSz="44958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1" smtClean="0">
                <a:ln>
                  <a:noFill/>
                </a:ln>
                <a:solidFill>
                  <a:schemeClr val="tx1"/>
                </a:solidFill>
                <a:effectLst/>
                <a:uLnTx/>
                <a:uFillTx/>
                <a:latin typeface="+mn-ea"/>
                <a:ea typeface="+mn-ea"/>
                <a:cs typeface="+mn-cs"/>
              </a:rPr>
              <a:t>Loongarch</a:t>
            </a:r>
            <a:r>
              <a:rPr kumimoji="0" lang="zh-CN" altLang="en-US" sz="2000" b="1" i="0" u="none" strike="noStrike" kern="0" cap="none" spc="0" normalizeH="0" baseline="0" noProof="1" smtClean="0">
                <a:ln>
                  <a:noFill/>
                </a:ln>
                <a:solidFill>
                  <a:schemeClr val="tx1"/>
                </a:solidFill>
                <a:effectLst/>
                <a:uLnTx/>
                <a:uFillTx/>
                <a:latin typeface="+mn-ea"/>
                <a:ea typeface="+mn-ea"/>
                <a:cs typeface="+mn-cs"/>
              </a:rPr>
              <a:t>特点</a:t>
            </a:r>
            <a:endParaRPr kumimoji="0" lang="zh-CN" altLang="en-US" sz="2000" b="1" i="0" u="none" strike="noStrike" kern="0" cap="none" spc="0" normalizeH="0" baseline="0" noProof="1">
              <a:ln>
                <a:noFill/>
              </a:ln>
              <a:solidFill>
                <a:schemeClr val="tx1"/>
              </a:solidFill>
              <a:effectLst/>
              <a:uLnTx/>
              <a:uFillTx/>
              <a:latin typeface="+mn-ea"/>
              <a:ea typeface="+mn-ea"/>
              <a:cs typeface="+mn-cs"/>
            </a:endParaRP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rgbClr val="FF0000"/>
                </a:solidFill>
                <a:effectLst/>
                <a:uLnTx/>
                <a:uFillTx/>
                <a:latin typeface="+mn-ea"/>
                <a:ea typeface="+mn-ea"/>
                <a:cs typeface="+mn-cs"/>
              </a:rPr>
              <a:t>先进性：</a:t>
            </a:r>
            <a:r>
              <a:rPr kumimoji="0" lang="en-US" altLang="zh-CN" sz="1600" b="1" i="0" u="none" strike="noStrike" kern="0" cap="none" spc="0" normalizeH="0" baseline="0" noProof="1">
                <a:ln>
                  <a:noFill/>
                </a:ln>
                <a:solidFill>
                  <a:schemeClr val="tx1"/>
                </a:solidFill>
                <a:effectLst/>
                <a:uLnTx/>
                <a:uFillTx/>
                <a:latin typeface="+mn-ea"/>
                <a:ea typeface="+mn-ea"/>
                <a:cs typeface="+mn-ea"/>
                <a:sym typeface="+mn-ea"/>
              </a:rPr>
              <a:t>吸收近年来指令集发展的先进技术成果</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a:t>
            </a:r>
            <a:r>
              <a:rPr kumimoji="0" lang="zh-CN" altLang="en-US" sz="1600" b="1" i="0" u="none" strike="noStrike" kern="0" cap="none" spc="0" normalizeH="0" baseline="0" noProof="1">
                <a:ln>
                  <a:noFill/>
                </a:ln>
                <a:solidFill>
                  <a:schemeClr val="accent2"/>
                </a:solidFill>
                <a:effectLst/>
                <a:uLnTx/>
                <a:uFillTx/>
                <a:latin typeface="+mn-ea"/>
                <a:ea typeface="+mn-ea"/>
                <a:cs typeface="+mn-ea"/>
                <a:sym typeface="+mn-ea"/>
              </a:rPr>
              <a:t>提高代码效率</a:t>
            </a:r>
            <a:endParaRPr kumimoji="0" lang="en-US" altLang="zh-CN" sz="1600" b="1" i="0" u="none" strike="noStrike" kern="0" cap="none" spc="0" normalizeH="0" baseline="0" noProof="1">
              <a:ln>
                <a:noFill/>
              </a:ln>
              <a:solidFill>
                <a:schemeClr val="accent2"/>
              </a:solidFill>
              <a:effectLst/>
              <a:uLnTx/>
              <a:uFillTx/>
              <a:latin typeface="+mn-ea"/>
              <a:ea typeface="+mn-ea"/>
              <a:cs typeface="+mn-ea"/>
              <a:sym typeface="+mn-ea"/>
            </a:endParaRP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rgbClr val="FF0000"/>
                </a:solidFill>
                <a:effectLst/>
                <a:uLnTx/>
                <a:uFillTx/>
                <a:latin typeface="+mn-ea"/>
                <a:ea typeface="+mn-ea"/>
                <a:cs typeface="+mn-cs"/>
              </a:rPr>
              <a:t>兼容性：</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融合</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X86</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ARM</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等</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的主要特点，</a:t>
            </a:r>
            <a:r>
              <a:rPr kumimoji="0" lang="zh-CN" altLang="en-US" sz="1600" b="1" i="0" u="none" strike="noStrike" kern="0" cap="none" spc="0" normalizeH="0" baseline="0" noProof="1">
                <a:ln>
                  <a:noFill/>
                </a:ln>
                <a:solidFill>
                  <a:schemeClr val="accent2"/>
                </a:solidFill>
                <a:effectLst/>
                <a:uLnTx/>
                <a:uFillTx/>
                <a:latin typeface="+mn-ea"/>
                <a:ea typeface="+mn-ea"/>
                <a:cs typeface="+mn-ea"/>
                <a:sym typeface="+mn-ea"/>
              </a:rPr>
              <a:t>高效支持二进制</a:t>
            </a:r>
            <a:r>
              <a:rPr kumimoji="0" lang="zh-CN" altLang="en-US" sz="1600" b="1" i="0" u="none" strike="noStrike" kern="0" cap="none" spc="0" normalizeH="0" baseline="0" noProof="1" smtClean="0">
                <a:ln>
                  <a:noFill/>
                </a:ln>
                <a:solidFill>
                  <a:schemeClr val="accent2"/>
                </a:solidFill>
                <a:effectLst/>
                <a:uLnTx/>
                <a:uFillTx/>
                <a:latin typeface="+mn-ea"/>
                <a:ea typeface="+mn-ea"/>
                <a:cs typeface="+mn-ea"/>
                <a:sym typeface="+mn-ea"/>
              </a:rPr>
              <a:t>翻译</a:t>
            </a:r>
            <a:endParaRPr kumimoji="0" lang="zh-CN" altLang="en-US" sz="1600" b="1" i="0" u="none" strike="noStrike" kern="0" cap="none" spc="0" normalizeH="0" baseline="0" noProof="1">
              <a:ln>
                <a:noFill/>
              </a:ln>
              <a:solidFill>
                <a:schemeClr val="tx1"/>
              </a:solidFill>
              <a:effectLst/>
              <a:uLnTx/>
              <a:uFillTx/>
              <a:latin typeface="+mn-ea"/>
              <a:ea typeface="+mn-ea"/>
              <a:cs typeface="+mn-ea"/>
              <a:sym typeface="+mn-ea"/>
            </a:endParaRP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rgbClr val="FF0000"/>
                </a:solidFill>
                <a:effectLst/>
                <a:uLnTx/>
                <a:uFillTx/>
                <a:latin typeface="+mn-ea"/>
                <a:ea typeface="+mn-ea"/>
                <a:cs typeface="+mn-ea"/>
                <a:sym typeface="+mn-ea"/>
              </a:rPr>
              <a:t>模块化：</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基础部分、二进制翻译、虚拟化、向量化</a:t>
            </a: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0" cap="none" spc="0" normalizeH="0" baseline="0" noProof="1">
                <a:ln>
                  <a:noFill/>
                </a:ln>
                <a:solidFill>
                  <a:srgbClr val="FF0000"/>
                </a:solidFill>
                <a:effectLst/>
                <a:uLnTx/>
                <a:uFillTx/>
                <a:latin typeface="+mn-ea"/>
                <a:ea typeface="+mn-ea"/>
                <a:cs typeface="+mn-cs"/>
              </a:rPr>
              <a:t>扩展性：</a:t>
            </a:r>
            <a:r>
              <a:rPr kumimoji="0" lang="zh-CN" altLang="en-US" sz="1600" b="1" i="0" u="none" strike="noStrike" kern="0" cap="none" spc="0" normalizeH="0" baseline="0" noProof="1">
                <a:ln>
                  <a:noFill/>
                </a:ln>
                <a:solidFill>
                  <a:schemeClr val="tx1"/>
                </a:solidFill>
                <a:effectLst/>
                <a:uLnTx/>
                <a:uFillTx/>
                <a:latin typeface="+mn-ea"/>
                <a:ea typeface="+mn-ea"/>
                <a:cs typeface="+mn-ea"/>
                <a:sym typeface="+mn-ea"/>
              </a:rPr>
              <a:t>指令槽留有余地，</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利于今后的持续演进</a:t>
            </a:r>
          </a:p>
          <a:p>
            <a:pPr marL="360680" marR="0" lvl="0" indent="-358775" algn="l" defTabSz="44958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Loongarch</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格式：尽量满足部分长立即数指令要求，节省指令槽</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MIPS</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只有</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3</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种格式，立即数均为</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16</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位</a:t>
            </a:r>
          </a:p>
          <a:p>
            <a:pPr marL="800100" marR="0" lvl="1" indent="-360680" algn="l" defTabSz="449580" rtl="0" eaLnBrk="0" fontAlgn="base" latinLnBrk="0" hangingPunct="0">
              <a:lnSpc>
                <a:spcPct val="150000"/>
              </a:lnSpc>
              <a:spcBef>
                <a:spcPts val="600"/>
              </a:spcBef>
              <a:spcAft>
                <a:spcPct val="0"/>
              </a:spcAft>
              <a:buClrTx/>
              <a:buSzTx/>
              <a:buFontTx/>
              <a:buChar char="•"/>
              <a:defRPr/>
            </a:pP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Loongarch</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有</a:t>
            </a:r>
            <a:r>
              <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rPr>
              <a:t>9</a:t>
            </a:r>
            <a:r>
              <a:rPr kumimoji="0" lang="zh-CN" altLang="en-US" sz="1600" b="1" i="0" u="none" strike="noStrike" kern="0" cap="none" spc="0" normalizeH="0" baseline="0" noProof="1" smtClean="0">
                <a:ln>
                  <a:noFill/>
                </a:ln>
                <a:solidFill>
                  <a:schemeClr val="tx1"/>
                </a:solidFill>
                <a:effectLst/>
                <a:uLnTx/>
                <a:uFillTx/>
                <a:latin typeface="+mn-ea"/>
                <a:ea typeface="+mn-ea"/>
                <a:cs typeface="+mn-ea"/>
                <a:sym typeface="+mn-ea"/>
              </a:rPr>
              <a:t>种格式，多种立即数</a:t>
            </a:r>
            <a:endParaRPr kumimoji="0" lang="en-US" altLang="zh-CN" sz="1600" b="1" i="0" u="none" strike="noStrike" kern="0" cap="none" spc="0" normalizeH="0" baseline="0" noProof="1" smtClean="0">
              <a:ln>
                <a:noFill/>
              </a:ln>
              <a:solidFill>
                <a:schemeClr val="tx1"/>
              </a:solidFill>
              <a:effectLst/>
              <a:uLnTx/>
              <a:uFillTx/>
              <a:latin typeface="+mn-ea"/>
              <a:ea typeface="+mn-ea"/>
              <a:cs typeface="+mn-ea"/>
              <a:sym typeface="+mn-ea"/>
            </a:endParaRPr>
          </a:p>
        </p:txBody>
      </p:sp>
      <p:pic>
        <p:nvPicPr>
          <p:cNvPr id="113668" name="Picture 21"/>
          <p:cNvPicPr>
            <a:picLocks noChangeAspect="1"/>
          </p:cNvPicPr>
          <p:nvPr/>
        </p:nvPicPr>
        <p:blipFill>
          <a:blip r:embed="rId2" cstate="print"/>
          <a:stretch>
            <a:fillRect/>
          </a:stretch>
        </p:blipFill>
        <p:spPr>
          <a:xfrm>
            <a:off x="9399588" y="1484313"/>
            <a:ext cx="2265362" cy="1911350"/>
          </a:xfrm>
          <a:prstGeom prst="rect">
            <a:avLst/>
          </a:prstGeom>
          <a:noFill/>
          <a:ln w="9525">
            <a:noFill/>
          </a:ln>
        </p:spPr>
      </p:pic>
      <p:pic>
        <p:nvPicPr>
          <p:cNvPr id="113669" name="图片 1"/>
          <p:cNvPicPr>
            <a:picLocks noChangeAspect="1"/>
          </p:cNvPicPr>
          <p:nvPr/>
        </p:nvPicPr>
        <p:blipFill>
          <a:blip r:embed="rId3" cstate="print"/>
          <a:stretch>
            <a:fillRect/>
          </a:stretch>
        </p:blipFill>
        <p:spPr>
          <a:xfrm>
            <a:off x="6397625" y="4073525"/>
            <a:ext cx="5526088" cy="2509838"/>
          </a:xfrm>
          <a:prstGeom prst="rect">
            <a:avLst/>
          </a:prstGeom>
          <a:noFill/>
          <a:ln w="9525">
            <a:noFill/>
          </a:ln>
        </p:spPr>
      </p:pic>
      <p:pic>
        <p:nvPicPr>
          <p:cNvPr id="113670" name="Picture 5"/>
          <p:cNvPicPr>
            <a:picLocks noChangeAspect="1"/>
          </p:cNvPicPr>
          <p:nvPr/>
        </p:nvPicPr>
        <p:blipFill>
          <a:blip r:embed="rId4" cstate="print"/>
          <a:stretch>
            <a:fillRect/>
          </a:stretch>
        </p:blipFill>
        <p:spPr>
          <a:xfrm>
            <a:off x="487363" y="5864225"/>
            <a:ext cx="5294312" cy="719138"/>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4400" y="80963"/>
            <a:ext cx="10361613" cy="1143000"/>
          </a:xfrm>
        </p:spPr>
        <p:txBody>
          <a:bodyPr vert="horz" wrap="square" lIns="91440" tIns="45720" rIns="91440" bIns="45720" numCol="1" anchor="ctr" anchorCtr="0" compatLnSpc="1"/>
          <a:lstStyle/>
          <a:p>
            <a:pPr marL="0" marR="0" lvl="0" indent="0" algn="ctr" defTabSz="449580" rtl="0" eaLnBrk="0" fontAlgn="base" latinLnBrk="0" hangingPunct="0">
              <a:lnSpc>
                <a:spcPct val="100000"/>
              </a:lnSpc>
              <a:spcBef>
                <a:spcPct val="0"/>
              </a:spcBef>
              <a:spcAft>
                <a:spcPct val="0"/>
              </a:spcAft>
              <a:buClrTx/>
              <a:buSzTx/>
              <a:buFontTx/>
              <a:buNone/>
              <a:defRPr/>
            </a:pPr>
            <a:r>
              <a:rPr kumimoji="0" lang="en-US" altLang="zh-CN" sz="3600" b="0" i="0" u="none" strike="noStrike" kern="0" cap="none" spc="0" normalizeH="0" baseline="0" noProof="1" smtClean="0">
                <a:ln>
                  <a:noFill/>
                </a:ln>
                <a:solidFill>
                  <a:srgbClr val="FF3300"/>
                </a:solidFill>
                <a:effectLst/>
                <a:uLnTx/>
                <a:uFillTx/>
                <a:latin typeface="+mj-lt"/>
                <a:ea typeface="思源黑体 CN" charset="-122"/>
                <a:cs typeface="+mj-cs"/>
                <a:sym typeface="+mn-ea"/>
              </a:rPr>
              <a:t>Loongarch</a:t>
            </a:r>
            <a:r>
              <a:rPr kumimoji="0" lang="zh-CN" altLang="en-US" sz="3600" b="0" i="0" u="none" strike="noStrike" kern="0" cap="none" spc="0" normalizeH="0" baseline="0" noProof="1" smtClean="0">
                <a:ln>
                  <a:noFill/>
                </a:ln>
                <a:solidFill>
                  <a:srgbClr val="FF3300"/>
                </a:solidFill>
                <a:effectLst/>
                <a:uLnTx/>
                <a:uFillTx/>
                <a:latin typeface="+mj-ea"/>
                <a:ea typeface="+mj-ea"/>
                <a:cs typeface="+mj-cs"/>
                <a:sym typeface="+mn-ea"/>
              </a:rPr>
              <a:t>先进性</a:t>
            </a:r>
            <a:endParaRPr kumimoji="0" lang="zh-CN" altLang="en-US" sz="3600" b="0" i="0" u="none" strike="noStrike" kern="0" cap="none" spc="0" normalizeH="0" baseline="0" noProof="0" dirty="0" smtClean="0">
              <a:ln>
                <a:noFill/>
              </a:ln>
              <a:solidFill>
                <a:srgbClr val="FF3300"/>
              </a:solidFill>
              <a:effectLst/>
              <a:uLnTx/>
              <a:uFillTx/>
              <a:latin typeface="+mj-ea"/>
              <a:ea typeface="+mj-ea"/>
              <a:cs typeface="+mj-cs"/>
            </a:endParaRPr>
          </a:p>
        </p:txBody>
      </p:sp>
      <p:graphicFrame>
        <p:nvGraphicFramePr>
          <p:cNvPr id="4" name="内容占位符 3"/>
          <p:cNvGraphicFramePr>
            <a:graphicFrameLocks noGrp="1"/>
          </p:cNvGraphicFramePr>
          <p:nvPr>
            <p:ph idx="4294967295"/>
          </p:nvPr>
        </p:nvGraphicFramePr>
        <p:xfrm>
          <a:off x="1041400" y="3716338"/>
          <a:ext cx="10186967" cy="3086100"/>
        </p:xfrm>
        <a:graphic>
          <a:graphicData uri="http://schemas.openxmlformats.org/drawingml/2006/table">
            <a:tbl>
              <a:tblPr firstRow="1" bandRow="1">
                <a:tableStyleId>{5C22544A-7EE6-4342-B048-85BDC9FD1C3A}</a:tableStyleId>
              </a:tblPr>
              <a:tblGrid>
                <a:gridCol w="1203745"/>
                <a:gridCol w="4331196"/>
                <a:gridCol w="4652026"/>
              </a:tblGrid>
              <a:tr h="426720">
                <a:tc>
                  <a:txBody>
                    <a:bodyPr/>
                    <a:lstStyle/>
                    <a:p>
                      <a:pPr fontAlgn="auto">
                        <a:lnSpc>
                          <a:spcPct val="150000"/>
                        </a:lnSpc>
                        <a:buNone/>
                      </a:pPr>
                      <a:endParaRPr lang="zh-CN" altLang="en-US" sz="1500" b="1" dirty="0">
                        <a:solidFill>
                          <a:srgbClr val="FF0000"/>
                        </a:solidFill>
                        <a:latin typeface="+mn-ea"/>
                      </a:endParaRPr>
                    </a:p>
                  </a:txBody>
                  <a:tcPr marL="101852" marR="1018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auto">
                        <a:lnSpc>
                          <a:spcPct val="150000"/>
                        </a:lnSpc>
                        <a:buNone/>
                      </a:pPr>
                      <a:r>
                        <a:rPr lang="en-US" altLang="zh-CN" sz="1500" b="1" dirty="0">
                          <a:solidFill>
                            <a:srgbClr val="FF0000"/>
                          </a:solidFill>
                          <a:latin typeface="+mn-ea"/>
                        </a:rPr>
                        <a:t>MIPS</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auto">
                        <a:lnSpc>
                          <a:spcPct val="150000"/>
                        </a:lnSpc>
                        <a:buNone/>
                      </a:pPr>
                      <a:r>
                        <a:rPr lang="en-US" altLang="zh-CN" sz="1500" b="1" dirty="0" err="1" smtClean="0">
                          <a:solidFill>
                            <a:srgbClr val="FF0000"/>
                          </a:solidFill>
                          <a:latin typeface="+mn-ea"/>
                        </a:rPr>
                        <a:t>Loongarch</a:t>
                      </a:r>
                      <a:endParaRPr lang="en-US" altLang="zh-CN" sz="1500" b="1" dirty="0">
                        <a:solidFill>
                          <a:srgbClr val="FF0000"/>
                        </a:solidFill>
                        <a:latin typeface="+mn-ea"/>
                      </a:endParaRP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fontAlgn="auto">
                        <a:lnSpc>
                          <a:spcPct val="150000"/>
                        </a:lnSpc>
                        <a:buNone/>
                      </a:pPr>
                      <a:r>
                        <a:rPr lang="zh-CN" altLang="en-US" sz="1200" b="1" dirty="0">
                          <a:latin typeface="+mn-ea"/>
                        </a:rPr>
                        <a:t>运行模式</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rPr>
                        <a:t>用户态、监管态、核心态三级</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en-US" altLang="zh-CN" sz="1200" b="1" dirty="0">
                          <a:latin typeface="+mn-ea"/>
                          <a:cs typeface="+mn-ea"/>
                        </a:rPr>
                        <a:t>PLV0</a:t>
                      </a:r>
                      <a:r>
                        <a:rPr lang="zh-CN" altLang="en-US" sz="1200" b="1" dirty="0">
                          <a:latin typeface="+mn-ea"/>
                          <a:cs typeface="+mn-ea"/>
                        </a:rPr>
                        <a:t>～</a:t>
                      </a:r>
                      <a:r>
                        <a:rPr lang="en-US" altLang="zh-CN" sz="1200" b="1" dirty="0">
                          <a:latin typeface="+mn-ea"/>
                          <a:cs typeface="+mn-ea"/>
                        </a:rPr>
                        <a:t>PLV3</a:t>
                      </a:r>
                      <a:r>
                        <a:rPr lang="zh-CN" altLang="en-US" sz="1200" b="1" dirty="0">
                          <a:latin typeface="+mn-ea"/>
                          <a:cs typeface="+mn-ea"/>
                        </a:rPr>
                        <a:t>四级</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5760">
                <a:tc>
                  <a:txBody>
                    <a:bodyPr/>
                    <a:lstStyle/>
                    <a:p>
                      <a:pPr fontAlgn="auto">
                        <a:lnSpc>
                          <a:spcPct val="150000"/>
                        </a:lnSpc>
                        <a:buNone/>
                      </a:pPr>
                      <a:r>
                        <a:rPr lang="zh-CN" altLang="en-US" sz="1200" b="1">
                          <a:latin typeface="+mn-ea"/>
                        </a:rPr>
                        <a:t>计时系统</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rPr>
                        <a:t>计时频率随处理器核频率变化</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rPr>
                        <a:t>计时频率恒定</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0080">
                <a:tc>
                  <a:txBody>
                    <a:bodyPr/>
                    <a:lstStyle/>
                    <a:p>
                      <a:pPr fontAlgn="auto">
                        <a:lnSpc>
                          <a:spcPct val="150000"/>
                        </a:lnSpc>
                        <a:buNone/>
                      </a:pPr>
                      <a:r>
                        <a:rPr lang="zh-CN" altLang="en-US" sz="1200" b="1">
                          <a:latin typeface="+mn-ea"/>
                          <a:cs typeface="+mn-ea"/>
                          <a:sym typeface="+mn-ea"/>
                        </a:rPr>
                        <a:t>例外</a:t>
                      </a:r>
                      <a:r>
                        <a:rPr lang="en-US" altLang="zh-CN" sz="1200" b="1">
                          <a:latin typeface="+mn-ea"/>
                          <a:cs typeface="+mn-ea"/>
                          <a:sym typeface="+mn-ea"/>
                        </a:rPr>
                        <a:t>/</a:t>
                      </a:r>
                      <a:r>
                        <a:rPr lang="zh-CN" altLang="en-US" sz="1200" b="1">
                          <a:latin typeface="+mn-ea"/>
                          <a:cs typeface="+mn-ea"/>
                          <a:sym typeface="+mn-ea"/>
                        </a:rPr>
                        <a:t>中断</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en-US" altLang="zh-CN" sz="1200" b="1" dirty="0">
                          <a:latin typeface="+mn-ea"/>
                          <a:cs typeface="+mn-ea"/>
                        </a:rPr>
                        <a:t>27</a:t>
                      </a:r>
                      <a:r>
                        <a:rPr lang="zh-CN" altLang="en-US" sz="1200" b="1" dirty="0">
                          <a:latin typeface="+mn-ea"/>
                          <a:cs typeface="+mn-ea"/>
                        </a:rPr>
                        <a:t>种例外，多个例外共用入口</a:t>
                      </a:r>
                    </a:p>
                    <a:p>
                      <a:pPr fontAlgn="auto">
                        <a:lnSpc>
                          <a:spcPct val="150000"/>
                        </a:lnSpc>
                        <a:buNone/>
                      </a:pPr>
                      <a:r>
                        <a:rPr lang="zh-CN" altLang="en-US" sz="1200" b="1" dirty="0">
                          <a:latin typeface="宋体" panose="02000500000000000000" pitchFamily="2" charset="-122"/>
                        </a:rPr>
                        <a:t>用</a:t>
                      </a:r>
                      <a:r>
                        <a:rPr lang="en-US" altLang="zh-CN" sz="1200" b="1" dirty="0">
                          <a:latin typeface="宋体" panose="02000500000000000000" pitchFamily="2" charset="-122"/>
                        </a:rPr>
                        <a:t>EXL</a:t>
                      </a:r>
                      <a:r>
                        <a:rPr lang="zh-CN" altLang="en-US" sz="1200" b="1" dirty="0">
                          <a:latin typeface="宋体" panose="02000500000000000000" pitchFamily="2" charset="-122"/>
                        </a:rPr>
                        <a:t>、</a:t>
                      </a:r>
                      <a:r>
                        <a:rPr lang="en-US" altLang="zh-CN" sz="1200" b="1" dirty="0">
                          <a:latin typeface="宋体" panose="02000500000000000000" pitchFamily="2" charset="-122"/>
                        </a:rPr>
                        <a:t>ERL</a:t>
                      </a:r>
                      <a:r>
                        <a:rPr lang="zh-CN" altLang="en-US" sz="1200" b="1" dirty="0">
                          <a:latin typeface="宋体" panose="02000500000000000000" pitchFamily="2" charset="-122"/>
                        </a:rPr>
                        <a:t>寄存器辅助处理嵌套例外</a:t>
                      </a:r>
                      <a:endParaRPr lang="zh-CN" altLang="en-US" sz="1200" b="1" dirty="0">
                        <a:latin typeface="+mn-ea"/>
                        <a:cs typeface="+mn-ea"/>
                      </a:endParaRP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en-US" altLang="zh-CN" sz="1200" b="1" dirty="0">
                          <a:latin typeface="+mn-ea"/>
                          <a:cs typeface="+mn-ea"/>
                        </a:rPr>
                        <a:t>25</a:t>
                      </a:r>
                      <a:r>
                        <a:rPr lang="zh-CN" altLang="en-US" sz="1200" b="1" dirty="0">
                          <a:latin typeface="+mn-ea"/>
                          <a:cs typeface="+mn-ea"/>
                        </a:rPr>
                        <a:t>种例外，每个例外独立入口</a:t>
                      </a:r>
                    </a:p>
                    <a:p>
                      <a:pPr fontAlgn="auto">
                        <a:lnSpc>
                          <a:spcPct val="150000"/>
                        </a:lnSpc>
                        <a:buNone/>
                      </a:pPr>
                      <a:r>
                        <a:rPr lang="zh-CN" altLang="en-US" sz="1200" b="1" dirty="0">
                          <a:latin typeface="宋体" panose="02000500000000000000" pitchFamily="2" charset="-122"/>
                        </a:rPr>
                        <a:t>用</a:t>
                      </a:r>
                      <a:r>
                        <a:rPr lang="en-US" altLang="zh-CN" sz="1200" b="1" dirty="0">
                          <a:latin typeface="宋体" panose="02000500000000000000" pitchFamily="2" charset="-122"/>
                        </a:rPr>
                        <a:t>PPLV</a:t>
                      </a:r>
                      <a:r>
                        <a:rPr lang="zh-CN" altLang="en-US" sz="1200" b="1" dirty="0">
                          <a:latin typeface="宋体" panose="02000500000000000000" pitchFamily="2" charset="-122"/>
                        </a:rPr>
                        <a:t>、</a:t>
                      </a:r>
                      <a:r>
                        <a:rPr lang="en-US" altLang="zh-CN" sz="1200" b="1" dirty="0">
                          <a:latin typeface="宋体" panose="02000500000000000000" pitchFamily="2" charset="-122"/>
                        </a:rPr>
                        <a:t>PIE</a:t>
                      </a:r>
                      <a:r>
                        <a:rPr lang="zh-CN" altLang="en-US" sz="1200" b="1" dirty="0">
                          <a:latin typeface="宋体" panose="02000500000000000000" pitchFamily="2" charset="-122"/>
                        </a:rPr>
                        <a:t>和</a:t>
                      </a:r>
                      <a:r>
                        <a:rPr lang="en-US" altLang="zh-CN" sz="1200" b="1" dirty="0">
                          <a:latin typeface="宋体" panose="02000500000000000000" pitchFamily="2" charset="-122"/>
                        </a:rPr>
                        <a:t>scratch</a:t>
                      </a:r>
                      <a:r>
                        <a:rPr lang="zh-CN" altLang="en-US" sz="1200" b="1" dirty="0">
                          <a:latin typeface="宋体" panose="02000500000000000000" pitchFamily="2" charset="-122"/>
                        </a:rPr>
                        <a:t>寄存器辅助处理嵌套例外</a:t>
                      </a:r>
                      <a:endParaRPr lang="zh-CN" altLang="en-US" sz="1200" b="1" dirty="0">
                        <a:latin typeface="+mn-ea"/>
                        <a:cs typeface="+mn-ea"/>
                      </a:endParaRP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0080">
                <a:tc>
                  <a:txBody>
                    <a:bodyPr/>
                    <a:lstStyle/>
                    <a:p>
                      <a:pPr fontAlgn="auto">
                        <a:lnSpc>
                          <a:spcPct val="150000"/>
                        </a:lnSpc>
                        <a:buNone/>
                      </a:pPr>
                      <a:r>
                        <a:rPr lang="zh-CN" altLang="en-US" sz="1200" b="1">
                          <a:latin typeface="+mn-ea"/>
                        </a:rPr>
                        <a:t>内存管理</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rPr>
                        <a:t>寻址空间固定分段，且与允许的运行模式、虚实映射规则紧密相关</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cs typeface="+mn-ea"/>
                        </a:rPr>
                        <a:t>单一平整（</a:t>
                      </a:r>
                      <a:r>
                        <a:rPr lang="en-US" altLang="zh-CN" sz="1200" b="1" dirty="0">
                          <a:latin typeface="+mn-ea"/>
                          <a:cs typeface="+mn-ea"/>
                        </a:rPr>
                        <a:t>flat</a:t>
                      </a:r>
                      <a:r>
                        <a:rPr lang="zh-CN" altLang="en-US" sz="1200" b="1" dirty="0">
                          <a:latin typeface="+mn-ea"/>
                          <a:cs typeface="+mn-ea"/>
                        </a:rPr>
                        <a:t>）寻址空间，支持所有空间</a:t>
                      </a:r>
                      <a:r>
                        <a:rPr lang="zh-CN" altLang="en-US" sz="1200" b="1" dirty="0" smtClean="0">
                          <a:latin typeface="+mn-ea"/>
                          <a:cs typeface="+mn-ea"/>
                        </a:rPr>
                        <a:t>均用</a:t>
                      </a:r>
                      <a:r>
                        <a:rPr lang="zh-CN" altLang="en-US" sz="1200" b="1" dirty="0">
                          <a:latin typeface="+mn-ea"/>
                          <a:cs typeface="+mn-ea"/>
                        </a:rPr>
                        <a:t>页表映射</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0080">
                <a:tc>
                  <a:txBody>
                    <a:bodyPr/>
                    <a:lstStyle/>
                    <a:p>
                      <a:pPr fontAlgn="auto">
                        <a:lnSpc>
                          <a:spcPct val="150000"/>
                        </a:lnSpc>
                        <a:buNone/>
                      </a:pPr>
                      <a:r>
                        <a:rPr lang="zh-CN" altLang="en-US" sz="1200" b="1">
                          <a:latin typeface="+mn-ea"/>
                        </a:rPr>
                        <a:t>控制寄存器</a:t>
                      </a: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cs typeface="+mn-ea"/>
                        </a:rPr>
                        <a:t>最多</a:t>
                      </a:r>
                      <a:r>
                        <a:rPr lang="en-US" altLang="zh-CN" sz="1200" b="1" dirty="0">
                          <a:latin typeface="+mn-ea"/>
                          <a:cs typeface="+mn-ea"/>
                        </a:rPr>
                        <a:t>2</a:t>
                      </a:r>
                      <a:r>
                        <a:rPr lang="en-US" altLang="zh-CN" sz="1200" b="1" baseline="30000" dirty="0">
                          <a:latin typeface="+mn-ea"/>
                          <a:cs typeface="+mn-ea"/>
                        </a:rPr>
                        <a:t>8</a:t>
                      </a:r>
                      <a:r>
                        <a:rPr lang="zh-CN" altLang="en-US" sz="1200" b="1" dirty="0">
                          <a:latin typeface="+mn-ea"/>
                          <a:cs typeface="+mn-ea"/>
                        </a:rPr>
                        <a:t>个，不支持域的原子修改</a:t>
                      </a:r>
                    </a:p>
                    <a:p>
                      <a:pPr fontAlgn="auto">
                        <a:lnSpc>
                          <a:spcPct val="150000"/>
                        </a:lnSpc>
                        <a:buNone/>
                      </a:pPr>
                      <a:r>
                        <a:rPr lang="zh-CN" altLang="en-US" sz="1200" b="1" dirty="0">
                          <a:latin typeface="宋体" panose="02000500000000000000" pitchFamily="2" charset="-122"/>
                        </a:rPr>
                        <a:t>没有核外控制寄存器的规范</a:t>
                      </a:r>
                      <a:endParaRPr lang="zh-CN" altLang="en-US" sz="1200" b="1" dirty="0">
                        <a:latin typeface="+mn-ea"/>
                      </a:endParaRP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auto">
                        <a:lnSpc>
                          <a:spcPct val="150000"/>
                        </a:lnSpc>
                        <a:buNone/>
                      </a:pPr>
                      <a:r>
                        <a:rPr lang="zh-CN" altLang="en-US" sz="1200" b="1" dirty="0">
                          <a:latin typeface="+mn-ea"/>
                          <a:cs typeface="+mn-ea"/>
                        </a:rPr>
                        <a:t>最多</a:t>
                      </a:r>
                      <a:r>
                        <a:rPr lang="en-US" altLang="zh-CN" sz="1200" b="1" dirty="0">
                          <a:latin typeface="+mn-ea"/>
                          <a:cs typeface="+mn-ea"/>
                        </a:rPr>
                        <a:t>2</a:t>
                      </a:r>
                      <a:r>
                        <a:rPr lang="en-US" altLang="zh-CN" sz="1200" b="1" baseline="30000" dirty="0">
                          <a:latin typeface="+mn-ea"/>
                          <a:cs typeface="+mn-ea"/>
                        </a:rPr>
                        <a:t>14</a:t>
                      </a:r>
                      <a:r>
                        <a:rPr lang="zh-CN" altLang="en-US" sz="1200" b="1" dirty="0">
                          <a:latin typeface="+mn-ea"/>
                          <a:cs typeface="+mn-ea"/>
                        </a:rPr>
                        <a:t>个，</a:t>
                      </a:r>
                      <a:r>
                        <a:rPr lang="zh-CN" altLang="en-US" sz="1200" b="1" dirty="0">
                          <a:latin typeface="+mn-ea"/>
                          <a:cs typeface="+mn-ea"/>
                          <a:sym typeface="+mn-ea"/>
                        </a:rPr>
                        <a:t>支持域的原子修改</a:t>
                      </a:r>
                    </a:p>
                    <a:p>
                      <a:pPr fontAlgn="auto">
                        <a:lnSpc>
                          <a:spcPct val="150000"/>
                        </a:lnSpc>
                        <a:buNone/>
                      </a:pPr>
                      <a:r>
                        <a:rPr lang="zh-CN" altLang="en-US" sz="1200" b="1" dirty="0">
                          <a:latin typeface="宋体" panose="02000500000000000000" pitchFamily="2" charset="-122"/>
                        </a:rPr>
                        <a:t>规范核外控制寄存器且使用独立的寻址空间</a:t>
                      </a:r>
                      <a:endParaRPr lang="zh-CN" altLang="en-US" sz="1200" b="1" dirty="0">
                        <a:latin typeface="+mn-ea"/>
                      </a:endParaRPr>
                    </a:p>
                  </a:txBody>
                  <a:tcPr marL="101852" marR="10185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3345" name="内容占位符 2"/>
          <p:cNvSpPr>
            <a:spLocks noGrp="1" noChangeArrowheads="1"/>
          </p:cNvSpPr>
          <p:nvPr/>
        </p:nvSpPr>
        <p:spPr bwMode="auto">
          <a:xfrm>
            <a:off x="481013" y="1268413"/>
            <a:ext cx="11709400" cy="2401888"/>
          </a:xfrm>
          <a:prstGeom prst="rect">
            <a:avLst/>
          </a:prstGeom>
          <a:noFill/>
          <a:ln w="9525">
            <a:noFill/>
            <a:miter lim="800000"/>
          </a:ln>
        </p:spPr>
        <p:txBody>
          <a:bodyPr lIns="90000" tIns="46800" rIns="90000" bIns="46800"/>
          <a:lstStyle/>
          <a:p>
            <a:pPr marL="342900" marR="0" lvl="1" indent="-360045" algn="l" defTabSz="449580" rtl="0" eaLnBrk="0" fontAlgn="base" latinLnBrk="0" hangingPunct="0">
              <a:lnSpc>
                <a:spcPct val="150000"/>
              </a:lnSpc>
              <a:spcBef>
                <a:spcPct val="0"/>
              </a:spcBef>
              <a:spcAft>
                <a:spcPct val="0"/>
              </a:spcAft>
              <a:buClrTx/>
              <a:buSzTx/>
              <a:buFont typeface="Arial" panose="02080604020202020204" pitchFamily="34" charset="0"/>
              <a:buChar char="•"/>
              <a:defRPr/>
            </a:pPr>
            <a:r>
              <a:rPr kumimoji="0" lang="zh-CN" altLang="en-US" sz="2000" b="1" i="0" u="none" strike="noStrike" kern="1200" cap="none" spc="0" normalizeH="0" baseline="0" noProof="0" dirty="0">
                <a:ln>
                  <a:noFill/>
                </a:ln>
                <a:solidFill>
                  <a:schemeClr val="accent2"/>
                </a:solidFill>
                <a:effectLst/>
                <a:uLnTx/>
                <a:uFillTx/>
                <a:latin typeface="宋体" panose="02000500000000000000" pitchFamily="2" charset="-122"/>
                <a:ea typeface="宋体" panose="02000500000000000000" pitchFamily="2" charset="-122"/>
                <a:cs typeface="+mn-cs"/>
              </a:rPr>
              <a:t>用户态</a:t>
            </a:r>
            <a:r>
              <a:rPr kumimoji="0" lang="en-US" altLang="zh-CN" sz="2000" b="1" i="0" u="none" strike="noStrike" kern="1200" cap="none" spc="0" normalizeH="0" baseline="0" noProof="1">
                <a:ln>
                  <a:noFill/>
                </a:ln>
                <a:solidFill>
                  <a:srgbClr val="000000"/>
                </a:solidFill>
                <a:effectLst/>
                <a:uLnTx/>
                <a:uFillTx/>
                <a:latin typeface="宋体" panose="02000500000000000000" pitchFamily="2" charset="-122"/>
                <a:ea typeface="宋体" panose="02000500000000000000" pitchFamily="2" charset="-122"/>
                <a:cs typeface="+mn-cs"/>
                <a:sym typeface="+mn-ea"/>
              </a:rPr>
              <a:t>提升指令易用性与执行效率</a:t>
            </a:r>
            <a:endParaRPr kumimoji="0" lang="en-US" altLang="zh-CN" sz="2000" b="1" i="0" u="none" strike="noStrike" kern="1200" cap="none" spc="0" normalizeH="0" baseline="0" noProof="1">
              <a:ln>
                <a:noFill/>
              </a:ln>
              <a:solidFill>
                <a:srgbClr val="000000"/>
              </a:solidFill>
              <a:effectLst/>
              <a:uLnTx/>
              <a:uFillTx/>
              <a:latin typeface="宋体" panose="02000500000000000000" pitchFamily="2" charset="-122"/>
              <a:ea typeface="宋体" panose="02000500000000000000" pitchFamily="2" charset="-122"/>
              <a:cs typeface="+mn-cs"/>
            </a:endParaRPr>
          </a:p>
          <a:p>
            <a:pPr marL="741680" marR="0" lvl="2" indent="-341630" algn="l" defTabSz="449580" rtl="0" eaLnBrk="0" fontAlgn="base" latinLnBrk="0" hangingPunct="0">
              <a:lnSpc>
                <a:spcPct val="150000"/>
              </a:lnSpc>
              <a:spcBef>
                <a:spcPts val="600"/>
              </a:spcBef>
              <a:spcAft>
                <a:spcPct val="0"/>
              </a:spcAft>
              <a:buClrTx/>
              <a:buSzTx/>
              <a:buFont typeface="Arial" panose="02080604020202020204" pitchFamily="34" charset="0"/>
              <a:buChar char="•"/>
              <a:defRPr/>
            </a:pPr>
            <a:r>
              <a:rPr kumimoji="0" lang="en-US" altLang="zh-CN" sz="1600" b="1" i="0" u="none" strike="noStrike" kern="1200" cap="none" spc="0" normalizeH="0" baseline="0" noProof="1">
                <a:ln>
                  <a:noFill/>
                </a:ln>
                <a:solidFill>
                  <a:schemeClr val="tx1"/>
                </a:solidFill>
                <a:effectLst/>
                <a:uLnTx/>
                <a:uFillTx/>
                <a:latin typeface="+mn-ea"/>
                <a:ea typeface="+mn-ea"/>
                <a:cs typeface="+mn-ea"/>
                <a:sym typeface="+mn-ea"/>
              </a:rPr>
              <a:t>“</a:t>
            </a:r>
            <a:r>
              <a:rPr kumimoji="0" lang="zh-CN" altLang="en-US" sz="1600" b="1" i="0" u="none" strike="noStrike" kern="1200" cap="none" spc="0" normalizeH="0" baseline="0" noProof="1">
                <a:ln>
                  <a:noFill/>
                </a:ln>
                <a:solidFill>
                  <a:schemeClr val="tx1"/>
                </a:solidFill>
                <a:effectLst/>
                <a:uLnTx/>
                <a:uFillTx/>
                <a:latin typeface="+mn-ea"/>
                <a:ea typeface="+mn-ea"/>
                <a:cs typeface="+mn-ea"/>
                <a:sym typeface="+mn-ea"/>
              </a:rPr>
              <a:t>典型</a:t>
            </a:r>
            <a:r>
              <a:rPr kumimoji="0" lang="en-US" altLang="zh-CN" sz="1600" b="1" i="0" u="none" strike="noStrike" kern="1200" cap="none" spc="0" normalizeH="0" baseline="0" noProof="1">
                <a:ln>
                  <a:noFill/>
                </a:ln>
                <a:solidFill>
                  <a:schemeClr val="tx1"/>
                </a:solidFill>
                <a:effectLst/>
                <a:uLnTx/>
                <a:uFillTx/>
                <a:latin typeface="+mn-ea"/>
                <a:ea typeface="+mn-ea"/>
                <a:cs typeface="+mn-ea"/>
                <a:sym typeface="+mn-ea"/>
              </a:rPr>
              <a:t>”RISC</a:t>
            </a:r>
            <a:r>
              <a:rPr kumimoji="0" lang="zh-CN" altLang="en-US" sz="1600" b="1" i="0" u="none" strike="noStrike" kern="1200" cap="none" spc="0" normalizeH="0" baseline="0" noProof="1">
                <a:ln>
                  <a:noFill/>
                </a:ln>
                <a:solidFill>
                  <a:schemeClr val="tx1"/>
                </a:solidFill>
                <a:effectLst/>
                <a:uLnTx/>
                <a:uFillTx/>
                <a:latin typeface="+mn-ea"/>
                <a:ea typeface="+mn-ea"/>
                <a:cs typeface="+mn-ea"/>
                <a:sym typeface="+mn-ea"/>
              </a:rPr>
              <a:t>：</a:t>
            </a:r>
            <a:r>
              <a:rPr kumimoji="0" lang="en-US" altLang="zh-CN" sz="1600" b="1" i="0" u="none" strike="noStrike" kern="1200" cap="none" spc="0" normalizeH="0" baseline="0" noProof="1">
                <a:ln>
                  <a:noFill/>
                </a:ln>
                <a:solidFill>
                  <a:schemeClr val="tx1"/>
                </a:solidFill>
                <a:effectLst/>
                <a:uLnTx/>
                <a:uFillTx/>
                <a:latin typeface="+mn-ea"/>
                <a:ea typeface="+mn-ea"/>
                <a:cs typeface="+mn-ea"/>
                <a:sym typeface="+mn-ea"/>
              </a:rPr>
              <a:t> 32</a:t>
            </a:r>
            <a:r>
              <a:rPr kumimoji="0" lang="zh-CN" altLang="en-US" sz="1600" b="1" i="0" u="none" strike="noStrike" kern="1200" cap="none" spc="0" normalizeH="0" baseline="0" noProof="1">
                <a:ln>
                  <a:noFill/>
                </a:ln>
                <a:solidFill>
                  <a:schemeClr val="tx1"/>
                </a:solidFill>
                <a:effectLst/>
                <a:uLnTx/>
                <a:uFillTx/>
                <a:latin typeface="+mn-ea"/>
                <a:ea typeface="+mn-ea"/>
                <a:cs typeface="+mn-ea"/>
                <a:sym typeface="+mn-ea"/>
              </a:rPr>
              <a:t>位定长指令、32个通用寄存器、32个浮点/向量寄存器</a:t>
            </a:r>
            <a:endParaRPr kumimoji="0" lang="en-US" altLang="zh-CN" sz="1600" b="1" i="0" u="none" strike="noStrike" kern="1200" cap="none" spc="0" normalizeH="0" baseline="0" noProof="1">
              <a:ln>
                <a:noFill/>
              </a:ln>
              <a:solidFill>
                <a:schemeClr val="tx1"/>
              </a:solidFill>
              <a:effectLst/>
              <a:uLnTx/>
              <a:uFillTx/>
              <a:latin typeface="+mn-ea"/>
              <a:ea typeface="+mn-ea"/>
              <a:cs typeface="+mn-ea"/>
              <a:sym typeface="+mn-ea"/>
            </a:endParaRPr>
          </a:p>
          <a:p>
            <a:pPr marL="741680" marR="0" lvl="2" indent="-341630" algn="l" defTabSz="449580" rtl="0" eaLnBrk="0" fontAlgn="base" latinLnBrk="0" hangingPunct="0">
              <a:lnSpc>
                <a:spcPct val="150000"/>
              </a:lnSpc>
              <a:spcBef>
                <a:spcPts val="600"/>
              </a:spcBef>
              <a:spcAft>
                <a:spcPct val="0"/>
              </a:spcAft>
              <a:buClrTx/>
              <a:buSzTx/>
              <a:buFont typeface="Arial" panose="02080604020202020204" pitchFamily="34" charset="0"/>
              <a:buChar char="•"/>
              <a:defRPr/>
            </a:pPr>
            <a:r>
              <a:rPr kumimoji="0" lang="zh-CN" altLang="en-US" sz="1600" b="1" i="0" u="none" strike="noStrike" kern="1200" cap="none" spc="0" normalizeH="0" baseline="0" noProof="1">
                <a:ln>
                  <a:noFill/>
                </a:ln>
                <a:solidFill>
                  <a:srgbClr val="FF0000"/>
                </a:solidFill>
                <a:effectLst/>
                <a:uLnTx/>
                <a:uFillTx/>
                <a:latin typeface="宋体" panose="02000500000000000000" pitchFamily="2" charset="-122"/>
                <a:ea typeface="+mn-ea"/>
                <a:cs typeface="+mn-ea"/>
                <a:sym typeface="+mn-ea"/>
              </a:rPr>
              <a:t>取消转移指令延迟槽，</a:t>
            </a:r>
            <a:r>
              <a:rPr kumimoji="0" lang="zh-CN" altLang="en-US" sz="1600" b="1" i="0" u="none" strike="noStrike" kern="1200" cap="none" spc="0" normalizeH="0" baseline="0" noProof="1">
                <a:ln>
                  <a:noFill/>
                </a:ln>
                <a:solidFill>
                  <a:srgbClr val="FF0000"/>
                </a:solidFill>
                <a:effectLst/>
                <a:uLnTx/>
                <a:uFillTx/>
                <a:latin typeface="宋体" panose="02000500000000000000" pitchFamily="2" charset="-122"/>
                <a:ea typeface="宋体" panose="02000500000000000000" pitchFamily="2" charset="-122"/>
                <a:cs typeface="+mn-ea"/>
                <a:sym typeface="+mn-ea"/>
              </a:rPr>
              <a:t>新增将PC作为源操作数的运算指令，</a:t>
            </a:r>
            <a:r>
              <a:rPr kumimoji="0" lang="zh-CN" altLang="en-US" sz="1600" b="1" i="0" u="none" strike="noStrike" kern="1200" cap="none" spc="0" normalizeH="0" baseline="0" noProof="1">
                <a:ln>
                  <a:noFill/>
                </a:ln>
                <a:solidFill>
                  <a:srgbClr val="FF0000"/>
                </a:solidFill>
                <a:effectLst/>
                <a:uLnTx/>
                <a:uFillTx/>
                <a:latin typeface="宋体" panose="02000500000000000000" pitchFamily="2" charset="-122"/>
                <a:ea typeface="+mn-ea"/>
                <a:cs typeface="+mn-ea"/>
                <a:sym typeface="+mn-ea"/>
              </a:rPr>
              <a:t>增加相对转移偏移量</a:t>
            </a:r>
            <a:r>
              <a:rPr kumimoji="0" lang="en-US" altLang="zh-CN" sz="1600" b="1" i="0" u="none" strike="noStrike" kern="1200" cap="none" spc="0" normalizeH="0" baseline="0" noProof="1">
                <a:ln>
                  <a:noFill/>
                </a:ln>
                <a:solidFill>
                  <a:srgbClr val="FF0000"/>
                </a:solidFill>
                <a:effectLst/>
                <a:uLnTx/>
                <a:uFillTx/>
                <a:latin typeface="宋体" panose="02000500000000000000" pitchFamily="2" charset="-122"/>
                <a:ea typeface="+mn-ea"/>
                <a:cs typeface="+mn-ea"/>
                <a:sym typeface="+mn-ea"/>
              </a:rPr>
              <a:t>……</a:t>
            </a:r>
          </a:p>
          <a:p>
            <a:pPr marL="741680" marR="0" lvl="2" indent="-341630" algn="l" defTabSz="449580" rtl="0" eaLnBrk="0" fontAlgn="base" latinLnBrk="0" hangingPunct="0">
              <a:lnSpc>
                <a:spcPct val="150000"/>
              </a:lnSpc>
              <a:spcBef>
                <a:spcPts val="600"/>
              </a:spcBef>
              <a:spcAft>
                <a:spcPct val="0"/>
              </a:spcAft>
              <a:buClrTx/>
              <a:buSzTx/>
              <a:buFont typeface="Arial" panose="02080604020202020204" pitchFamily="34" charset="0"/>
              <a:buChar char="•"/>
              <a:defRPr/>
            </a:pPr>
            <a:endParaRPr kumimoji="0" lang="en-US" altLang="zh-CN" sz="1600" b="1" i="0" u="none" strike="noStrike" kern="1200" cap="none" spc="0" normalizeH="0" baseline="0" noProof="1">
              <a:ln>
                <a:noFill/>
              </a:ln>
              <a:solidFill>
                <a:srgbClr val="FF0000"/>
              </a:solidFill>
              <a:effectLst/>
              <a:uLnTx/>
              <a:uFillTx/>
              <a:latin typeface="宋体" panose="02000500000000000000" pitchFamily="2" charset="-122"/>
              <a:ea typeface="+mn-ea"/>
              <a:cs typeface="+mn-ea"/>
              <a:sym typeface="+mn-ea"/>
            </a:endParaRPr>
          </a:p>
          <a:p>
            <a:pPr marL="342900" marR="0" lvl="0" indent="-360045" algn="l" defTabSz="449580" rtl="0" eaLnBrk="0" fontAlgn="base" latinLnBrk="0" hangingPunct="0">
              <a:lnSpc>
                <a:spcPct val="150000"/>
              </a:lnSpc>
              <a:spcBef>
                <a:spcPct val="0"/>
              </a:spcBef>
              <a:spcAft>
                <a:spcPct val="0"/>
              </a:spcAft>
              <a:buClrTx/>
              <a:buSzTx/>
              <a:buFont typeface="Arial" panose="02080604020202020204" pitchFamily="34" charset="0"/>
              <a:buChar char="•"/>
              <a:defRPr/>
            </a:pPr>
            <a:r>
              <a:rPr kumimoji="0" lang="zh-CN" altLang="en-US" sz="2000" b="1" i="0" u="none" strike="noStrike" kern="1200" cap="none" spc="0" normalizeH="0" baseline="0" noProof="0" dirty="0">
                <a:ln>
                  <a:noFill/>
                </a:ln>
                <a:solidFill>
                  <a:schemeClr val="accent2"/>
                </a:solidFill>
                <a:effectLst/>
                <a:uLnTx/>
                <a:uFillTx/>
                <a:latin typeface="宋体" panose="02000500000000000000" pitchFamily="2" charset="-122"/>
                <a:ea typeface="宋体" panose="02000500000000000000" pitchFamily="2" charset="-122"/>
                <a:cs typeface="+mn-cs"/>
              </a:rPr>
              <a:t>核心态</a:t>
            </a:r>
            <a:r>
              <a:rPr kumimoji="0" lang="zh-CN" altLang="en-US" sz="2000" b="1" i="0" u="none" strike="noStrike" kern="1200" cap="none" spc="0" normalizeH="0" baseline="0" noProof="0" dirty="0">
                <a:ln>
                  <a:noFill/>
                </a:ln>
                <a:solidFill>
                  <a:srgbClr val="000000"/>
                </a:solidFill>
                <a:effectLst/>
                <a:uLnTx/>
                <a:uFillTx/>
                <a:latin typeface="宋体" panose="02000500000000000000" pitchFamily="2" charset="-122"/>
                <a:ea typeface="宋体" panose="02000500000000000000" pitchFamily="2" charset="-122"/>
                <a:cs typeface="+mn-cs"/>
              </a:rPr>
              <a:t>更适合现代操作系统</a:t>
            </a:r>
          </a:p>
          <a:p>
            <a:pPr marL="342900" marR="0" lvl="0" indent="-360045" algn="l" defTabSz="449580" rtl="0" eaLnBrk="0" fontAlgn="base" latinLnBrk="0" hangingPunct="0">
              <a:lnSpc>
                <a:spcPct val="150000"/>
              </a:lnSpc>
              <a:spcBef>
                <a:spcPct val="0"/>
              </a:spcBef>
              <a:spcAft>
                <a:spcPct val="0"/>
              </a:spcAft>
              <a:buClrTx/>
              <a:buSzTx/>
              <a:buFont typeface="Arial" panose="02080604020202020204" pitchFamily="34" charset="0"/>
              <a:buChar char="•"/>
              <a:defRPr/>
            </a:pPr>
            <a:endParaRPr kumimoji="0" lang="en-US" altLang="zh-CN" sz="18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mn-c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7788" y="704850"/>
          <a:ext cx="11922002" cy="6080760"/>
        </p:xfrm>
        <a:graphic>
          <a:graphicData uri="http://schemas.openxmlformats.org/drawingml/2006/table">
            <a:tbl>
              <a:tblPr/>
              <a:tblGrid>
                <a:gridCol w="2515170"/>
                <a:gridCol w="1605699"/>
                <a:gridCol w="1608269"/>
                <a:gridCol w="1605699"/>
                <a:gridCol w="1608269"/>
                <a:gridCol w="1294837"/>
                <a:gridCol w="1684059"/>
              </a:tblGrid>
              <a:tr h="223520">
                <a:tc>
                  <a:txBody>
                    <a:bodyPr/>
                    <a:lstStyle/>
                    <a:p>
                      <a:pPr algn="just">
                        <a:spcAft>
                          <a:spcPts val="0"/>
                        </a:spcAft>
                      </a:pP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fontAlgn="ctr">
                        <a:spcAft>
                          <a:spcPts val="0"/>
                        </a:spcAft>
                      </a:pPr>
                      <a:r>
                        <a:rPr lang="en-US" sz="1200" b="1" kern="0">
                          <a:solidFill>
                            <a:srgbClr val="000000"/>
                          </a:solidFill>
                          <a:latin typeface="宋体" panose="02000500000000000000" pitchFamily="2" charset="-122"/>
                          <a:ea typeface="宋体" panose="02000500000000000000" pitchFamily="2" charset="-122"/>
                          <a:cs typeface="宋体" panose="02000500000000000000" pitchFamily="2" charset="-122"/>
                        </a:rPr>
                        <a:t>LoongArch</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gridSpan="2">
                  <a:txBody>
                    <a:bodyPr/>
                    <a:lstStyle/>
                    <a:p>
                      <a:pPr algn="ctr" fontAlgn="ctr">
                        <a:spcAft>
                          <a:spcPts val="0"/>
                        </a:spcAft>
                      </a:pPr>
                      <a:r>
                        <a:rPr lang="en-US" sz="1200" b="1" kern="0">
                          <a:solidFill>
                            <a:srgbClr val="000000"/>
                          </a:solidFill>
                          <a:latin typeface="宋体" panose="02000500000000000000" pitchFamily="2" charset="-122"/>
                          <a:ea typeface="宋体" panose="02000500000000000000" pitchFamily="2" charset="-122"/>
                          <a:cs typeface="宋体" panose="02000500000000000000" pitchFamily="2" charset="-122"/>
                        </a:rPr>
                        <a:t>MIPS</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gridSpan="2">
                  <a:txBody>
                    <a:bodyPr/>
                    <a:lstStyle/>
                    <a:p>
                      <a:pPr algn="ctr" fontAlgn="ctr">
                        <a:spcAft>
                          <a:spcPts val="0"/>
                        </a:spcAft>
                      </a:pPr>
                      <a:r>
                        <a:rPr lang="en-US" sz="1200" b="1" kern="0">
                          <a:solidFill>
                            <a:srgbClr val="000000"/>
                          </a:solidFill>
                          <a:latin typeface="宋体" panose="02000500000000000000" pitchFamily="2" charset="-122"/>
                          <a:ea typeface="宋体" panose="02000500000000000000" pitchFamily="2" charset="-122"/>
                          <a:cs typeface="宋体" panose="02000500000000000000" pitchFamily="2" charset="-122"/>
                        </a:rPr>
                        <a:t>MIPS</a:t>
                      </a:r>
                      <a:r>
                        <a:rPr lang="zh-CN" sz="1200" b="1" kern="0">
                          <a:solidFill>
                            <a:srgbClr val="000000"/>
                          </a:solidFill>
                          <a:latin typeface="Times New Roman"/>
                          <a:ea typeface="宋体" panose="02000500000000000000" pitchFamily="2" charset="-122"/>
                          <a:cs typeface="宋体" panose="02000500000000000000" pitchFamily="2" charset="-122"/>
                        </a:rPr>
                        <a:t>比</a:t>
                      </a:r>
                      <a:r>
                        <a:rPr lang="en-US" sz="1200" b="1" kern="0">
                          <a:solidFill>
                            <a:srgbClr val="000000"/>
                          </a:solidFill>
                          <a:latin typeface="Times New Roman"/>
                          <a:ea typeface="宋体" panose="02000500000000000000" pitchFamily="2" charset="-122"/>
                          <a:cs typeface="宋体" panose="02000500000000000000" pitchFamily="2" charset="-122"/>
                        </a:rPr>
                        <a:t>LA</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r>
              <a:tr h="182880">
                <a:tc>
                  <a:txBody>
                    <a:bodyPr/>
                    <a:lstStyle/>
                    <a:p>
                      <a:pPr algn="ctr" fontAlgn="ctr">
                        <a:spcAft>
                          <a:spcPts val="0"/>
                        </a:spcAft>
                      </a:pPr>
                      <a:r>
                        <a:rPr lang="zh-CN" sz="1200" b="1" kern="0" dirty="0">
                          <a:solidFill>
                            <a:srgbClr val="000000"/>
                          </a:solidFill>
                          <a:latin typeface="Times New Roman"/>
                          <a:ea typeface="宋体" panose="02000500000000000000" pitchFamily="2" charset="-122"/>
                          <a:cs typeface="宋体" panose="02000500000000000000" pitchFamily="2" charset="-122"/>
                        </a:rPr>
                        <a:t>程序名</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000000"/>
                          </a:solidFill>
                          <a:latin typeface="宋体" panose="02000500000000000000" pitchFamily="2" charset="-122"/>
                          <a:ea typeface="宋体" panose="02000500000000000000" pitchFamily="2" charset="-122"/>
                          <a:cs typeface="宋体" panose="02000500000000000000" pitchFamily="2" charset="-122"/>
                        </a:rPr>
                        <a:t>Cycle</a:t>
                      </a:r>
                      <a:r>
                        <a:rPr lang="zh-CN" sz="1200" b="1" kern="0" dirty="0">
                          <a:solidFill>
                            <a:srgbClr val="000000"/>
                          </a:solidFill>
                          <a:latin typeface="Times New Roman"/>
                          <a:ea typeface="宋体" panose="02000500000000000000" pitchFamily="2" charset="-122"/>
                          <a:cs typeface="宋体" panose="02000500000000000000" pitchFamily="2" charset="-122"/>
                        </a:rPr>
                        <a:t>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200" b="1" kern="0" dirty="0">
                          <a:solidFill>
                            <a:srgbClr val="000000"/>
                          </a:solidFill>
                          <a:latin typeface="Times New Roman"/>
                          <a:ea typeface="宋体" panose="02000500000000000000" pitchFamily="2" charset="-122"/>
                          <a:cs typeface="宋体" panose="02000500000000000000" pitchFamily="2" charset="-122"/>
                        </a:rPr>
                        <a:t>指令数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000000"/>
                          </a:solidFill>
                          <a:latin typeface="宋体" panose="02000500000000000000" pitchFamily="2" charset="-122"/>
                          <a:ea typeface="宋体" panose="02000500000000000000" pitchFamily="2" charset="-122"/>
                          <a:cs typeface="宋体" panose="02000500000000000000" pitchFamily="2" charset="-122"/>
                        </a:rPr>
                        <a:t>Cycle</a:t>
                      </a:r>
                      <a:r>
                        <a:rPr lang="zh-CN" sz="1200" b="1" kern="0" dirty="0">
                          <a:solidFill>
                            <a:srgbClr val="000000"/>
                          </a:solidFill>
                          <a:latin typeface="Times New Roman"/>
                          <a:ea typeface="宋体" panose="02000500000000000000" pitchFamily="2" charset="-122"/>
                          <a:cs typeface="宋体" panose="02000500000000000000" pitchFamily="2" charset="-122"/>
                        </a:rPr>
                        <a:t>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200" b="1" kern="0" dirty="0">
                          <a:solidFill>
                            <a:srgbClr val="000000"/>
                          </a:solidFill>
                          <a:latin typeface="Times New Roman"/>
                          <a:ea typeface="宋体" panose="02000500000000000000" pitchFamily="2" charset="-122"/>
                          <a:cs typeface="宋体" panose="02000500000000000000" pitchFamily="2" charset="-122"/>
                        </a:rPr>
                        <a:t>指令数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zh-CN" sz="1200" b="1" kern="0" dirty="0">
                          <a:solidFill>
                            <a:srgbClr val="000000"/>
                          </a:solidFill>
                          <a:latin typeface="Times New Roman"/>
                          <a:ea typeface="宋体" panose="02000500000000000000" pitchFamily="2" charset="-122"/>
                          <a:cs typeface="宋体" panose="02000500000000000000" pitchFamily="2" charset="-122"/>
                        </a:rPr>
                        <a:t>指令数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000000"/>
                          </a:solidFill>
                          <a:latin typeface="宋体" panose="02000500000000000000" pitchFamily="2" charset="-122"/>
                          <a:ea typeface="宋体" panose="02000500000000000000" pitchFamily="2" charset="-122"/>
                          <a:cs typeface="宋体" panose="02000500000000000000" pitchFamily="2" charset="-122"/>
                        </a:rPr>
                        <a:t>Cycles</a:t>
                      </a:r>
                      <a:r>
                        <a:rPr lang="zh-CN" sz="1200" b="1" kern="0" dirty="0">
                          <a:solidFill>
                            <a:srgbClr val="000000"/>
                          </a:solidFill>
                          <a:latin typeface="Times New Roman"/>
                          <a:ea typeface="宋体" panose="02000500000000000000" pitchFamily="2" charset="-122"/>
                          <a:cs typeface="宋体" panose="02000500000000000000" pitchFamily="2" charset="-122"/>
                        </a:rPr>
                        <a:t>数</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400.perlbench</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5.45E+10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1.35E+11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5.80E+10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1.46E+11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107.7%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106.5%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401.bzip2</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1.11E+11</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1.95E+11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2.00E+11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403.gcc</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2.10E+09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3.40E+09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2.18E+09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3.93E+09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115.7%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104.0%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429.mcf</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4.58E+10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1.63E+10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4.67E+10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2.14E+10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130.8%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445.gobmk</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2.08E+11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3.29E+11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3.48E+11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105.8%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103.5%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456.hmmer</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6.83E+10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1.65E+11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6.83E+10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1.75E+11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106.0%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100.1%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458.sjeng</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2.95E+11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5.70E+11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3.04E+11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5.85E+11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103.0%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462.libquantum</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3.36E+09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7.24E+09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3.45E+09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8.46E+09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116.8%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464.h264ref</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1.63E+11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4.81E+11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1.75E+11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5.10E+11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106.1%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107.6%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471.omnetpp</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9.45E+10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1.86E+11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1.04E+11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115.9%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110.4%</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473.astar</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2.18E+11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1.90E+11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2.12E+11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2.05E+11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108.4%</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97.3%</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483.xalancbmk</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2.11E+11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1.53E+11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3.06E+11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145.3%</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144.6%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zh-CN" sz="1200" b="1" kern="0" dirty="0">
                          <a:solidFill>
                            <a:srgbClr val="FF0000"/>
                          </a:solidFill>
                          <a:latin typeface="Times New Roman"/>
                          <a:ea typeface="宋体" panose="02000500000000000000" pitchFamily="2" charset="-122"/>
                          <a:cs typeface="宋体" panose="02000500000000000000" pitchFamily="2" charset="-122"/>
                        </a:rPr>
                        <a:t>定点平均</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1.14E+11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2.07E+11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1.21E+11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2.27E+11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109.5%</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106.4%</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410.bwaves</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4.12E+10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6.29E+10</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4.29E+10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6.44E+10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102.4%</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104.1%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416.gamess</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2.80E+11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8.93E+11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2.83E+11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8.86E+11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99.2%</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433.milc</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4.25E+10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1.91E+10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3.96E+10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1.75E+10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91.8%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93.2%</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434.zeusmp</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5.03E+10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6.08E+10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5.66E+10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7.32E+10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120.5%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112.5%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435.gromacs</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2.49E+11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3.23E+11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2.49E+11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3.10E+11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95.9%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100.1%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436.cactusADM</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2.67E+10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2.44E+10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3.13E+10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2.73E+10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112.2%</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117.1%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437.leslie3d</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8.59E+10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8.38E+10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8.40E+10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9.44E+10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112.6%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97.7%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444.namd</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2.72E+10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4.59E+10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2.75E+10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4.69E+10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102.3%</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100.8%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447.dealII</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4.64E+10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8.05E+10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4.80E+10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8.72E+10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108.3%</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103.5%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450.soplex</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1.51E+10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1.20E+10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1.66E+10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109.4%</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100.7%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453.povray</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1.29E+10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2.65E+10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1.32E+10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2.90E+10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109.7%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102.4%</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454.calculix</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2.75E+09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4.56E+09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3.24E+09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5.18E+09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113.6%</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118.1%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459.GemsFDTD</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6.36E+10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5.49E+10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6.58E+10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6.46E+10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117.8%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103.5%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465.tonto</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3.75E+11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8.92E+11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3.75E+11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9.12E+11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102.3%</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100.0%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470.lbm</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9.42E+10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7.50E+10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7.40E+10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98.7%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109.8%</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481.wrf</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8.42E+10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1.37E+11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1.13E+11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2.08E+11</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151.9%</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133.7%</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en-US" sz="1200" kern="0" dirty="0">
                          <a:solidFill>
                            <a:srgbClr val="000000"/>
                          </a:solidFill>
                          <a:latin typeface="宋体" panose="02000500000000000000" pitchFamily="2" charset="-122"/>
                          <a:ea typeface="宋体" panose="02000500000000000000" pitchFamily="2" charset="-122"/>
                          <a:cs typeface="宋体" panose="02000500000000000000" pitchFamily="2" charset="-122"/>
                        </a:rPr>
                        <a:t>482.sphinx3</a:t>
                      </a:r>
                      <a:endParaRPr lang="zh-CN" sz="1500" kern="100" dirty="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1.81E+10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2.58E+10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2.25E+10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2.95E+10</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114.5%</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kern="0">
                          <a:solidFill>
                            <a:srgbClr val="000000"/>
                          </a:solidFill>
                          <a:latin typeface="宋体" panose="02000500000000000000" pitchFamily="2" charset="-122"/>
                          <a:ea typeface="宋体" panose="02000500000000000000" pitchFamily="2" charset="-122"/>
                          <a:cs typeface="宋体" panose="02000500000000000000" pitchFamily="2" charset="-122"/>
                        </a:rPr>
                        <a:t>124.2%</a:t>
                      </a:r>
                      <a:endParaRPr lang="zh-CN" sz="1500" kern="100">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2880">
                <a:tc>
                  <a:txBody>
                    <a:bodyPr/>
                    <a:lstStyle/>
                    <a:p>
                      <a:pPr algn="l" fontAlgn="ctr">
                        <a:spcAft>
                          <a:spcPts val="0"/>
                        </a:spcAft>
                      </a:pPr>
                      <a:r>
                        <a:rPr lang="zh-CN" sz="1200" b="1" kern="0" dirty="0">
                          <a:solidFill>
                            <a:srgbClr val="FF0000"/>
                          </a:solidFill>
                          <a:latin typeface="Times New Roman"/>
                          <a:ea typeface="宋体" panose="02000500000000000000" pitchFamily="2" charset="-122"/>
                          <a:cs typeface="宋体" panose="02000500000000000000" pitchFamily="2" charset="-122"/>
                        </a:rPr>
                        <a:t>浮点平均</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8.89E+10</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1.66E+11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9.23E+10</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1.73E+11</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104.3%</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Aft>
                          <a:spcPts val="0"/>
                        </a:spcAft>
                      </a:pPr>
                      <a:r>
                        <a:rPr lang="en-US" sz="1200" b="1" kern="0" dirty="0">
                          <a:solidFill>
                            <a:srgbClr val="FF0000"/>
                          </a:solidFill>
                          <a:latin typeface="宋体" panose="02000500000000000000" pitchFamily="2" charset="-122"/>
                          <a:ea typeface="宋体" panose="02000500000000000000" pitchFamily="2" charset="-122"/>
                          <a:cs typeface="宋体" panose="02000500000000000000" pitchFamily="2" charset="-122"/>
                        </a:rPr>
                        <a:t>103.8%</a:t>
                      </a:r>
                      <a:endParaRPr lang="zh-CN" sz="1500" kern="100" dirty="0">
                        <a:solidFill>
                          <a:srgbClr val="FF0000"/>
                        </a:solidFill>
                        <a:latin typeface="Times New Roman"/>
                        <a:ea typeface="宋体" panose="02000500000000000000" pitchFamily="2" charset="-122"/>
                        <a:cs typeface="Times New Roman"/>
                      </a:endParaRPr>
                    </a:p>
                  </a:txBody>
                  <a:tcPr marL="65233" marR="6523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标题 1"/>
          <p:cNvSpPr txBox="1"/>
          <p:nvPr/>
        </p:nvSpPr>
        <p:spPr>
          <a:xfrm>
            <a:off x="0" y="7938"/>
            <a:ext cx="11960225" cy="620713"/>
          </a:xfrm>
          <a:prstGeom prst="rect">
            <a:avLst/>
          </a:prstGeom>
        </p:spPr>
        <p:txBody>
          <a:bodyPr/>
          <a:lstStyle/>
          <a:p>
            <a:pPr marR="0" algn="ctr" defTabSz="914400" eaLnBrk="0" hangingPunct="0">
              <a:buClrTx/>
              <a:buSzTx/>
              <a:buFont typeface="Arial" panose="02080604020202020204" pitchFamily="34" charset="0"/>
              <a:buNone/>
              <a:defRPr/>
            </a:pPr>
            <a:r>
              <a:rPr kumimoji="0" lang="en-US" altLang="zh-CN" sz="3600" kern="1200" cap="none" spc="0" normalizeH="0" baseline="0" noProof="0" dirty="0">
                <a:solidFill>
                  <a:srgbClr val="FF0000"/>
                </a:solidFill>
                <a:latin typeface="+mj-ea"/>
                <a:ea typeface="+mj-ea"/>
                <a:cs typeface="黑体" panose="02000500000000000000" pitchFamily="49" charset="-122"/>
              </a:rPr>
              <a:t>LA</a:t>
            </a:r>
            <a:r>
              <a:rPr kumimoji="0" lang="zh-CN" altLang="en-US" sz="3600" kern="1200" cap="none" spc="0" normalizeH="0" baseline="0" noProof="0" dirty="0">
                <a:solidFill>
                  <a:srgbClr val="FF0000"/>
                </a:solidFill>
                <a:latin typeface="+mj-ea"/>
                <a:ea typeface="+mj-ea"/>
                <a:cs typeface="黑体" panose="02000500000000000000" pitchFamily="49" charset="-122"/>
              </a:rPr>
              <a:t>和</a:t>
            </a:r>
            <a:r>
              <a:rPr kumimoji="0" lang="en-US" altLang="zh-CN" sz="3600" kern="1200" cap="none" spc="0" normalizeH="0" baseline="0" noProof="0" dirty="0">
                <a:solidFill>
                  <a:srgbClr val="FF0000"/>
                </a:solidFill>
                <a:latin typeface="+mj-ea"/>
                <a:ea typeface="+mj-ea"/>
                <a:cs typeface="黑体" panose="02000500000000000000" pitchFamily="49" charset="-122"/>
              </a:rPr>
              <a:t>MIPS</a:t>
            </a:r>
            <a:r>
              <a:rPr kumimoji="0" lang="zh-CN" altLang="en-US" sz="3600" kern="1200" cap="none" spc="0" normalizeH="0" baseline="0" noProof="0" dirty="0">
                <a:solidFill>
                  <a:srgbClr val="FF0000"/>
                </a:solidFill>
                <a:latin typeface="+mj-ea"/>
                <a:ea typeface="+mj-ea"/>
                <a:cs typeface="黑体" panose="02000500000000000000" pitchFamily="49" charset="-122"/>
              </a:rPr>
              <a:t>的</a:t>
            </a:r>
            <a:r>
              <a:rPr kumimoji="0" lang="en-US" altLang="zh-CN" sz="3600" kern="1200" cap="none" spc="0" normalizeH="0" baseline="0" noProof="0" dirty="0">
                <a:solidFill>
                  <a:srgbClr val="FF0000"/>
                </a:solidFill>
                <a:latin typeface="+mj-ea"/>
                <a:ea typeface="+mj-ea"/>
                <a:cs typeface="黑体" panose="02000500000000000000" pitchFamily="49" charset="-122"/>
              </a:rPr>
              <a:t>SPEC CPU2006</a:t>
            </a:r>
            <a:r>
              <a:rPr kumimoji="0" lang="zh-CN" altLang="en-US" sz="3600" kern="1200" cap="none" spc="0" normalizeH="0" baseline="0" noProof="0" dirty="0">
                <a:solidFill>
                  <a:srgbClr val="FF0000"/>
                </a:solidFill>
                <a:latin typeface="+mj-ea"/>
                <a:ea typeface="+mj-ea"/>
                <a:cs typeface="黑体" panose="02000500000000000000" pitchFamily="49" charset="-122"/>
              </a:rPr>
              <a:t>性能比较</a:t>
            </a:r>
            <a:endParaRPr kumimoji="0" lang="zh-CN" altLang="en-US" sz="3600" kern="0" cap="none" spc="0" normalizeH="0" baseline="0" noProof="0" dirty="0">
              <a:solidFill>
                <a:srgbClr val="FF0000"/>
              </a:solidFill>
              <a:latin typeface="+mj-ea"/>
              <a:ea typeface="+mj-ea"/>
              <a:cs typeface="+mj-c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6350" y="-38100"/>
            <a:ext cx="12120563" cy="1071563"/>
          </a:xfrm>
        </p:spPr>
        <p:txBody>
          <a:bodyPr vert="horz" wrap="square" lIns="91440" tIns="45720" rIns="91440" bIns="45720" numCol="1" anchor="ctr" anchorCtr="0" compatLnSpc="1"/>
          <a:lstStyle/>
          <a:p>
            <a:pPr marL="0" marR="0" lvl="0" indent="0" algn="ctr" defTabSz="449580" rtl="0" eaLnBrk="0" fontAlgn="base" latinLnBrk="0" hangingPunct="0">
              <a:lnSpc>
                <a:spcPct val="100000"/>
              </a:lnSpc>
              <a:spcBef>
                <a:spcPct val="0"/>
              </a:spcBef>
              <a:spcAft>
                <a:spcPct val="0"/>
              </a:spcAft>
              <a:buClrTx/>
              <a:buSzTx/>
              <a:buFontTx/>
              <a:buNone/>
              <a:defRPr/>
            </a:pPr>
            <a:r>
              <a:rPr kumimoji="0" lang="en-US" altLang="zh-CN" sz="3600" b="0" i="0" u="none" strike="noStrike" kern="0" cap="none" spc="0" normalizeH="0" baseline="0" noProof="1" smtClean="0">
                <a:ln>
                  <a:noFill/>
                </a:ln>
                <a:solidFill>
                  <a:srgbClr val="FF3300"/>
                </a:solidFill>
                <a:effectLst/>
                <a:uLnTx/>
                <a:uFillTx/>
                <a:latin typeface="+mj-lt"/>
                <a:ea typeface="思源黑体 CN" charset="-122"/>
                <a:cs typeface="+mj-cs"/>
                <a:sym typeface="+mn-ea"/>
              </a:rPr>
              <a:t>Loongarch</a:t>
            </a:r>
            <a:r>
              <a:rPr kumimoji="0" lang="zh-CN" altLang="en-US" sz="3600" b="0" i="0" u="none" strike="noStrike" kern="0" cap="none" spc="0" normalizeH="0" baseline="0" noProof="1" smtClean="0">
                <a:ln>
                  <a:noFill/>
                </a:ln>
                <a:solidFill>
                  <a:srgbClr val="FF3300"/>
                </a:solidFill>
                <a:effectLst/>
                <a:uLnTx/>
                <a:uFillTx/>
                <a:latin typeface="+mj-lt"/>
                <a:ea typeface="思源黑体 CN" charset="-122"/>
                <a:cs typeface="+mj-cs"/>
                <a:sym typeface="+mn-ea"/>
              </a:rPr>
              <a:t>的兼容性</a:t>
            </a:r>
            <a:endParaRPr kumimoji="0" lang="zh-CN" altLang="en-US" sz="3600" b="0" i="0" u="none" strike="noStrike" kern="0" cap="none" spc="0" normalizeH="0" baseline="0" noProof="1" smtClean="0">
              <a:ln>
                <a:noFill/>
              </a:ln>
              <a:solidFill>
                <a:srgbClr val="FF3300"/>
              </a:solidFill>
              <a:effectLst/>
              <a:uLnTx/>
              <a:uFillTx/>
              <a:latin typeface="+mj-ea"/>
              <a:ea typeface="+mj-ea"/>
              <a:cs typeface="+mj-cs"/>
              <a:sym typeface="+mn-ea"/>
            </a:endParaRPr>
          </a:p>
        </p:txBody>
      </p:sp>
      <p:sp>
        <p:nvSpPr>
          <p:cNvPr id="6147" name="内容占位符 2"/>
          <p:cNvSpPr>
            <a:spLocks noGrp="1"/>
          </p:cNvSpPr>
          <p:nvPr>
            <p:ph idx="1"/>
          </p:nvPr>
        </p:nvSpPr>
        <p:spPr>
          <a:xfrm>
            <a:off x="354013" y="1011238"/>
            <a:ext cx="11387138" cy="5578475"/>
          </a:xfrm>
        </p:spPr>
        <p:txBody>
          <a:bodyPr vert="horz" wrap="square" lIns="91440" tIns="45720" rIns="91440" bIns="45720" numCol="1" anchor="t" anchorCtr="0" compatLnSpc="1"/>
          <a:lstStyle/>
          <a:p>
            <a:pPr marL="342900" marR="0" lvl="1" indent="-34290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smtClean="0">
                <a:ln>
                  <a:noFill/>
                </a:ln>
                <a:solidFill>
                  <a:schemeClr val="tx1"/>
                </a:solidFill>
                <a:effectLst/>
                <a:uLnTx/>
                <a:uFillTx/>
                <a:latin typeface="+mn-ea"/>
                <a:ea typeface="+mn-ea"/>
                <a:cs typeface="+mn-cs"/>
                <a:sym typeface="+mn-ea"/>
              </a:rPr>
              <a:t>融合</a:t>
            </a:r>
            <a:r>
              <a:rPr kumimoji="0" lang="en-US" altLang="zh-CN" sz="2000" b="1" i="0" u="none" strike="noStrike" kern="0" cap="none" spc="0" normalizeH="0" baseline="0" noProof="1" smtClean="0">
                <a:ln>
                  <a:noFill/>
                </a:ln>
                <a:solidFill>
                  <a:schemeClr val="tx1"/>
                </a:solidFill>
                <a:effectLst/>
                <a:uLnTx/>
                <a:uFillTx/>
                <a:latin typeface="+mn-ea"/>
                <a:ea typeface="+mn-ea"/>
                <a:cs typeface="+mn-cs"/>
                <a:sym typeface="+mn-ea"/>
              </a:rPr>
              <a:t>X86</a:t>
            </a:r>
            <a:r>
              <a:rPr kumimoji="0" lang="en-US" altLang="en-US" sz="2000" b="1" i="0" u="none" strike="noStrike" kern="0" cap="none" spc="0" normalizeH="0" baseline="0" noProof="1" smtClean="0">
                <a:ln>
                  <a:noFill/>
                </a:ln>
                <a:solidFill>
                  <a:schemeClr val="tx1"/>
                </a:solidFill>
                <a:effectLst/>
                <a:uLnTx/>
                <a:uFillTx/>
                <a:latin typeface="+mn-ea"/>
                <a:ea typeface="+mn-ea"/>
                <a:cs typeface="+mn-cs"/>
                <a:sym typeface="+mn-ea"/>
              </a:rPr>
              <a:t>、</a:t>
            </a:r>
            <a:r>
              <a:rPr kumimoji="0" lang="en-US" altLang="zh-CN" sz="2000" b="1" i="0" u="none" strike="noStrike" kern="0" cap="none" spc="0" normalizeH="0" baseline="0" noProof="1" smtClean="0">
                <a:ln>
                  <a:noFill/>
                </a:ln>
                <a:solidFill>
                  <a:schemeClr val="tx1"/>
                </a:solidFill>
                <a:effectLst/>
                <a:uLnTx/>
                <a:uFillTx/>
                <a:latin typeface="+mn-ea"/>
                <a:ea typeface="+mn-ea"/>
                <a:cs typeface="+mn-cs"/>
                <a:sym typeface="+mn-ea"/>
              </a:rPr>
              <a:t>ARM</a:t>
            </a:r>
            <a:r>
              <a:rPr kumimoji="0" lang="en-US" altLang="en-US" sz="2000" b="1" i="0" u="none" strike="noStrike" kern="0" cap="none" spc="0" normalizeH="0" baseline="0" noProof="1" smtClean="0">
                <a:ln>
                  <a:noFill/>
                </a:ln>
                <a:solidFill>
                  <a:schemeClr val="tx1"/>
                </a:solidFill>
                <a:effectLst/>
                <a:uLnTx/>
                <a:uFillTx/>
                <a:latin typeface="+mn-ea"/>
                <a:ea typeface="+mn-ea"/>
                <a:cs typeface="+mn-cs"/>
                <a:sym typeface="+mn-ea"/>
              </a:rPr>
              <a:t>、</a:t>
            </a:r>
            <a:r>
              <a:rPr kumimoji="0" lang="en-US" altLang="zh-CN" sz="2000" b="1" i="0" u="none" strike="noStrike" kern="0" cap="none" spc="0" normalizeH="0" baseline="0" noProof="1" smtClean="0">
                <a:ln>
                  <a:noFill/>
                </a:ln>
                <a:solidFill>
                  <a:schemeClr val="tx1"/>
                </a:solidFill>
                <a:effectLst/>
                <a:uLnTx/>
                <a:uFillTx/>
                <a:latin typeface="+mn-ea"/>
                <a:ea typeface="+mn-ea"/>
                <a:cs typeface="+mn-cs"/>
                <a:sym typeface="+mn-ea"/>
              </a:rPr>
              <a:t>MIPS</a:t>
            </a:r>
            <a:r>
              <a:rPr kumimoji="0" lang="en-US" altLang="en-US" sz="2000" b="1" i="0" u="none" strike="noStrike" kern="0" cap="none" spc="0" normalizeH="0" baseline="0" noProof="1" smtClean="0">
                <a:ln>
                  <a:noFill/>
                </a:ln>
                <a:solidFill>
                  <a:schemeClr val="tx1"/>
                </a:solidFill>
                <a:effectLst/>
                <a:uLnTx/>
                <a:uFillTx/>
                <a:latin typeface="+mn-ea"/>
                <a:ea typeface="+mn-ea"/>
                <a:cs typeface="+mn-cs"/>
                <a:sym typeface="+mn-ea"/>
              </a:rPr>
              <a:t>、</a:t>
            </a:r>
            <a:r>
              <a:rPr kumimoji="0" lang="en-US" altLang="zh-CN" sz="2000" b="1" i="0" u="none" strike="noStrike" kern="0" cap="none" spc="0" normalizeH="0" baseline="0" noProof="1" smtClean="0">
                <a:ln>
                  <a:noFill/>
                </a:ln>
                <a:solidFill>
                  <a:schemeClr val="tx1"/>
                </a:solidFill>
                <a:effectLst/>
                <a:uLnTx/>
                <a:uFillTx/>
                <a:latin typeface="+mn-ea"/>
                <a:ea typeface="+mn-ea"/>
                <a:cs typeface="+mn-cs"/>
                <a:sym typeface="+mn-ea"/>
              </a:rPr>
              <a:t>RISC-V</a:t>
            </a:r>
            <a:r>
              <a:rPr kumimoji="0" lang="zh-CN" altLang="en-US" sz="2000" b="1" i="0" u="none" strike="noStrike" kern="0" cap="none" spc="0" normalizeH="0" baseline="0" noProof="1" smtClean="0">
                <a:ln>
                  <a:noFill/>
                </a:ln>
                <a:solidFill>
                  <a:schemeClr val="tx1"/>
                </a:solidFill>
                <a:effectLst/>
                <a:uLnTx/>
                <a:uFillTx/>
                <a:latin typeface="+mn-ea"/>
                <a:ea typeface="+mn-ea"/>
                <a:cs typeface="+mn-cs"/>
                <a:sym typeface="+mn-ea"/>
              </a:rPr>
              <a:t>指令系统的主要功能</a:t>
            </a:r>
            <a:endParaRPr kumimoji="0" lang="zh-CN" altLang="zh-CN" sz="2000" b="1" i="0" u="none" strike="noStrike" kern="0" cap="none" spc="0" normalizeH="0" baseline="0" noProof="1" smtClean="0">
              <a:ln>
                <a:noFill/>
              </a:ln>
              <a:solidFill>
                <a:schemeClr val="tx1"/>
              </a:solidFill>
              <a:effectLst/>
              <a:uLnTx/>
              <a:uFillTx/>
              <a:latin typeface="+mn-ea"/>
              <a:ea typeface="+mn-ea"/>
              <a:cs typeface="+mn-cs"/>
              <a:sym typeface="+mn-ea"/>
            </a:endParaRP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定义专门产生</a:t>
            </a:r>
            <a:r>
              <a:rPr kumimoji="0" lang="en-US" altLang="en-US" sz="1600" b="1" i="0" u="none" strike="noStrike" kern="1200" cap="none" spc="0" normalizeH="0" baseline="0" noProof="1" smtClean="0">
                <a:ln>
                  <a:noFill/>
                </a:ln>
                <a:solidFill>
                  <a:schemeClr val="tx1"/>
                </a:solidFill>
                <a:effectLst/>
                <a:uLnTx/>
                <a:uFillTx/>
                <a:latin typeface="+mn-ea"/>
                <a:ea typeface="+mn-ea"/>
                <a:cs typeface="+mn-ea"/>
                <a:sym typeface="+mn-ea"/>
              </a:rPr>
              <a:t>EFLAG</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结果的运算类指令加速</a:t>
            </a:r>
            <a:r>
              <a:rPr kumimoji="0" lang="en-US" altLang="en-US" sz="1600" b="1" i="0" u="none" strike="noStrike" kern="1200" cap="none" spc="0" normalizeH="0" baseline="0" noProof="1" smtClean="0">
                <a:ln>
                  <a:noFill/>
                </a:ln>
                <a:solidFill>
                  <a:schemeClr val="tx1"/>
                </a:solidFill>
                <a:effectLst/>
                <a:uLnTx/>
                <a:uFillTx/>
                <a:latin typeface="+mn-ea"/>
                <a:ea typeface="+mn-ea"/>
                <a:cs typeface="+mn-ea"/>
                <a:sym typeface="+mn-ea"/>
              </a:rPr>
              <a:t>X86、ARM</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架构下独有的</a:t>
            </a:r>
            <a:r>
              <a:rPr kumimoji="0" lang="en-US" altLang="en-US" sz="1600" b="1" i="0" u="none" strike="noStrike" kern="1200" cap="none" spc="0" normalizeH="0" baseline="0" noProof="1" smtClean="0">
                <a:ln>
                  <a:noFill/>
                </a:ln>
                <a:solidFill>
                  <a:srgbClr val="FF0000"/>
                </a:solidFill>
                <a:effectLst/>
                <a:uLnTx/>
                <a:uFillTx/>
                <a:latin typeface="+mn-ea"/>
                <a:ea typeface="+mn-ea"/>
                <a:cs typeface="+mn-ea"/>
                <a:sym typeface="+mn-ea"/>
              </a:rPr>
              <a:t>EFLAG</a:t>
            </a:r>
            <a:r>
              <a:rPr kumimoji="0" lang="zh-CN" altLang="en-US" sz="1600" b="1" i="0" u="none" strike="noStrike" kern="1200" cap="none" spc="0" normalizeH="0" baseline="0" noProof="1" smtClean="0">
                <a:ln>
                  <a:noFill/>
                </a:ln>
                <a:solidFill>
                  <a:srgbClr val="FF0000"/>
                </a:solidFill>
                <a:effectLst/>
                <a:uLnTx/>
                <a:uFillTx/>
                <a:latin typeface="+mn-ea"/>
                <a:ea typeface="+mn-ea"/>
                <a:cs typeface="+mn-ea"/>
                <a:sym typeface="+mn-ea"/>
              </a:rPr>
              <a:t>值模拟</a:t>
            </a: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设计浮点寄存器的栈访问模式、</a:t>
            </a:r>
            <a:r>
              <a:rPr kumimoji="0" lang="en-US" altLang="zh-CN" sz="1600" b="1" i="0" u="none" strike="noStrike" kern="1200" cap="none" spc="0" normalizeH="0" baseline="0" noProof="1" smtClean="0">
                <a:ln>
                  <a:noFill/>
                </a:ln>
                <a:solidFill>
                  <a:schemeClr val="tx1"/>
                </a:solidFill>
                <a:effectLst/>
                <a:uLnTx/>
                <a:uFillTx/>
                <a:latin typeface="+mn-ea"/>
                <a:ea typeface="+mn-ea"/>
                <a:cs typeface="+mn-ea"/>
                <a:sym typeface="+mn-ea"/>
              </a:rPr>
              <a:t>80</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位浮点加速</a:t>
            </a:r>
            <a:r>
              <a:rPr kumimoji="0" lang="en-US" altLang="en-US" sz="1600" b="1" i="0" u="none" strike="noStrike" kern="1200" cap="none" spc="0" normalizeH="0" baseline="0" noProof="1" smtClean="0">
                <a:ln>
                  <a:noFill/>
                </a:ln>
                <a:solidFill>
                  <a:schemeClr val="tx1"/>
                </a:solidFill>
                <a:effectLst/>
                <a:uLnTx/>
                <a:uFillTx/>
                <a:latin typeface="+mn-ea"/>
                <a:ea typeface="+mn-ea"/>
                <a:cs typeface="+mn-ea"/>
                <a:sym typeface="+mn-ea"/>
              </a:rPr>
              <a:t>X87</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浮点协处理器指令的模拟</a:t>
            </a: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实现</a:t>
            </a:r>
            <a:r>
              <a:rPr kumimoji="0" lang="en-US" altLang="zh-CN" sz="1600" b="1" i="0" u="none" strike="noStrike" kern="1200" cap="none" spc="0" normalizeH="0" baseline="0" noProof="1" smtClean="0">
                <a:ln>
                  <a:noFill/>
                </a:ln>
                <a:solidFill>
                  <a:schemeClr val="tx1"/>
                </a:solidFill>
                <a:effectLst/>
                <a:uLnTx/>
                <a:uFillTx/>
                <a:latin typeface="+mn-ea"/>
                <a:ea typeface="+mn-ea"/>
                <a:cs typeface="+mn-ea"/>
                <a:sym typeface="+mn-ea"/>
              </a:rPr>
              <a:t>RISC-V</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中丰富的同步指令</a:t>
            </a:r>
            <a:r>
              <a:rPr kumimoji="0" lang="zh-CN" altLang="zh-CN" sz="1600" b="1" i="0" u="none" strike="noStrike" kern="1200" cap="none" spc="0" normalizeH="0" baseline="0" noProof="1" smtClean="0">
                <a:ln>
                  <a:noFill/>
                </a:ln>
                <a:solidFill>
                  <a:schemeClr val="tx1"/>
                </a:solidFill>
                <a:effectLst/>
                <a:uLnTx/>
                <a:uFillTx/>
                <a:latin typeface="+mn-ea"/>
                <a:ea typeface="+mn-ea"/>
                <a:cs typeface="+mn-ea"/>
                <a:sym typeface="+mn-ea"/>
              </a:rPr>
              <a:t>……</a:t>
            </a:r>
            <a:endPar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endParaRPr>
          </a:p>
          <a:p>
            <a:pPr marL="342900" marR="0" lvl="1" indent="-342900" algn="l" defTabSz="449580" rtl="0" eaLnBrk="0" fontAlgn="base" latinLnBrk="0" hangingPunct="0">
              <a:lnSpc>
                <a:spcPct val="150000"/>
              </a:lnSpc>
              <a:spcBef>
                <a:spcPts val="600"/>
              </a:spcBef>
              <a:spcAft>
                <a:spcPct val="0"/>
              </a:spcAft>
              <a:buClrTx/>
              <a:buSzTx/>
              <a:buFontTx/>
              <a:buChar char="•"/>
              <a:defRPr/>
            </a:pPr>
            <a:r>
              <a:rPr kumimoji="0" lang="zh-CN" altLang="zh-CN" sz="2000" b="1" i="0" u="none" strike="noStrike" kern="0" cap="none" spc="0" normalizeH="0" baseline="0" noProof="1" smtClean="0">
                <a:ln>
                  <a:noFill/>
                </a:ln>
                <a:solidFill>
                  <a:schemeClr val="tx1"/>
                </a:solidFill>
                <a:effectLst/>
                <a:uLnTx/>
                <a:uFillTx/>
                <a:latin typeface="+mn-ea"/>
                <a:ea typeface="+mn-ea"/>
                <a:cs typeface="+mn-cs"/>
                <a:sym typeface="+mn-ea"/>
              </a:rPr>
              <a:t>对高效率二进制翻译</a:t>
            </a:r>
            <a:r>
              <a:rPr kumimoji="0" lang="zh-CN" altLang="en-US" sz="2000" b="1" i="0" u="none" strike="noStrike" kern="0" cap="none" spc="0" normalizeH="0" baseline="0" noProof="1" smtClean="0">
                <a:ln>
                  <a:noFill/>
                </a:ln>
                <a:solidFill>
                  <a:schemeClr val="tx1"/>
                </a:solidFill>
                <a:effectLst/>
                <a:uLnTx/>
                <a:uFillTx/>
                <a:latin typeface="+mn-ea"/>
                <a:ea typeface="+mn-ea"/>
                <a:cs typeface="+mn-cs"/>
                <a:sym typeface="+mn-ea"/>
              </a:rPr>
              <a:t>过程</a:t>
            </a:r>
            <a:r>
              <a:rPr kumimoji="0" lang="zh-CN" altLang="zh-CN" sz="2000" b="1" i="0" u="none" strike="noStrike" kern="0" cap="none" spc="0" normalizeH="0" baseline="0" noProof="1" smtClean="0">
                <a:ln>
                  <a:noFill/>
                </a:ln>
                <a:solidFill>
                  <a:schemeClr val="tx1"/>
                </a:solidFill>
                <a:effectLst/>
                <a:uLnTx/>
                <a:uFillTx/>
                <a:latin typeface="+mn-ea"/>
                <a:ea typeface="+mn-ea"/>
                <a:cs typeface="+mn-cs"/>
                <a:sym typeface="+mn-ea"/>
              </a:rPr>
              <a:t>的支持</a:t>
            </a: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调整</a:t>
            </a:r>
            <a:r>
              <a:rPr kumimoji="0" lang="en-US" altLang="en-US" sz="1600" b="1" i="0" u="none" strike="noStrike" kern="1200" cap="none" spc="0" normalizeH="0" baseline="0" noProof="1" smtClean="0">
                <a:ln>
                  <a:noFill/>
                </a:ln>
                <a:solidFill>
                  <a:schemeClr val="tx1"/>
                </a:solidFill>
                <a:effectLst/>
                <a:uLnTx/>
                <a:uFillTx/>
                <a:latin typeface="+mn-ea"/>
                <a:ea typeface="+mn-ea"/>
                <a:cs typeface="+mn-ea"/>
                <a:sym typeface="+mn-ea"/>
              </a:rPr>
              <a:t>TLB</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结构使其能够直接用于二进制翻译过程中的访存操作的</a:t>
            </a:r>
            <a:r>
              <a:rPr kumimoji="0" lang="zh-CN" altLang="en-US" sz="1600" b="1" i="0" u="none" strike="noStrike" kern="1200" cap="none" spc="0" normalizeH="0" baseline="0" noProof="1" smtClean="0">
                <a:ln>
                  <a:noFill/>
                </a:ln>
                <a:solidFill>
                  <a:srgbClr val="FF0000"/>
                </a:solidFill>
                <a:effectLst/>
                <a:uLnTx/>
                <a:uFillTx/>
                <a:latin typeface="+mn-ea"/>
                <a:ea typeface="+mn-ea"/>
                <a:cs typeface="+mn-ea"/>
                <a:sym typeface="+mn-ea"/>
              </a:rPr>
              <a:t>两级虚实地址映射</a:t>
            </a: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设计便签寄存器、专用插桩转移指令等加速翻译中边角情况的处理</a:t>
            </a:r>
            <a:r>
              <a:rPr kumimoji="0" lang="zh-CN" altLang="zh-CN" sz="1600" b="1" i="0" u="none" strike="noStrike" kern="1200" cap="none" spc="0" normalizeH="0" baseline="0" noProof="1" smtClean="0">
                <a:ln>
                  <a:noFill/>
                </a:ln>
                <a:solidFill>
                  <a:schemeClr val="tx1"/>
                </a:solidFill>
                <a:effectLst/>
                <a:uLnTx/>
                <a:uFillTx/>
                <a:latin typeface="+mn-ea"/>
                <a:ea typeface="+mn-ea"/>
                <a:cs typeface="+mn-ea"/>
                <a:sym typeface="+mn-ea"/>
              </a:rPr>
              <a:t>……</a:t>
            </a:r>
          </a:p>
          <a:p>
            <a:pPr marL="342900" marR="0" lvl="1" indent="-342900" algn="l" defTabSz="44958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1" smtClean="0">
                <a:ln>
                  <a:noFill/>
                </a:ln>
                <a:solidFill>
                  <a:srgbClr val="FF0000"/>
                </a:solidFill>
                <a:effectLst/>
                <a:uLnTx/>
                <a:uFillTx/>
                <a:latin typeface="+mn-ea"/>
                <a:ea typeface="+mn-ea"/>
                <a:cs typeface="+mn-cs"/>
                <a:sym typeface="+mn-ea"/>
              </a:rPr>
              <a:t>支持二进制翻译的硬件开销：</a:t>
            </a:r>
            <a:r>
              <a:rPr kumimoji="0" lang="zh-CN" altLang="en-US" sz="2000" b="1" i="0" u="none" strike="noStrike" kern="0" cap="none" spc="0" normalizeH="0" baseline="0" noProof="1" smtClean="0">
                <a:ln>
                  <a:noFill/>
                </a:ln>
                <a:solidFill>
                  <a:schemeClr val="tx1"/>
                </a:solidFill>
                <a:effectLst/>
                <a:uLnTx/>
                <a:uFillTx/>
                <a:latin typeface="+mn-ea"/>
                <a:ea typeface="+mn-ea"/>
                <a:cs typeface="+mn-cs"/>
                <a:sym typeface="+mn-ea"/>
              </a:rPr>
              <a:t>面积和延迟可以忽略不计</a:t>
            </a:r>
            <a:endParaRPr kumimoji="0" lang="zh-CN" altLang="zh-CN" sz="2000" b="1" i="0" u="none" strike="noStrike" kern="0" cap="none" spc="0" normalizeH="0" baseline="0" noProof="1" smtClean="0">
              <a:ln>
                <a:noFill/>
              </a:ln>
              <a:solidFill>
                <a:schemeClr val="tx1"/>
              </a:solidFill>
              <a:effectLst/>
              <a:uLnTx/>
              <a:uFillTx/>
              <a:latin typeface="+mn-ea"/>
              <a:ea typeface="+mn-ea"/>
              <a:cs typeface="+mn-cs"/>
              <a:sym typeface="+mn-ea"/>
            </a:endParaRP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通用</a:t>
            </a:r>
            <a:r>
              <a:rPr kumimoji="0" lang="en-US" altLang="zh-CN" sz="1600" b="1" i="0" u="none" strike="noStrike" kern="1200" cap="none" spc="0" normalizeH="0" baseline="0" noProof="1" smtClean="0">
                <a:ln>
                  <a:noFill/>
                </a:ln>
                <a:solidFill>
                  <a:schemeClr val="tx1"/>
                </a:solidFill>
                <a:effectLst/>
                <a:uLnTx/>
                <a:uFillTx/>
                <a:latin typeface="+mn-ea"/>
                <a:ea typeface="+mn-ea"/>
                <a:cs typeface="+mn-ea"/>
                <a:sym typeface="+mn-ea"/>
              </a:rPr>
              <a:t>CPU</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中</a:t>
            </a:r>
            <a:r>
              <a:rPr kumimoji="0" lang="zh-CN" altLang="zh-CN" sz="1600" b="1" i="0" u="none" strike="noStrike" kern="1200" cap="none" spc="0" normalizeH="0" baseline="0" noProof="1" smtClean="0">
                <a:ln>
                  <a:noFill/>
                </a:ln>
                <a:solidFill>
                  <a:schemeClr val="tx1"/>
                </a:solidFill>
                <a:effectLst/>
                <a:uLnTx/>
                <a:uFillTx/>
                <a:latin typeface="+mn-ea"/>
                <a:ea typeface="+mn-ea"/>
                <a:cs typeface="+mn-ea"/>
                <a:sym typeface="+mn-ea"/>
              </a:rPr>
              <a:t>80%</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面积在为运算器提供足够的数据和指令：多级</a:t>
            </a:r>
            <a:r>
              <a:rPr kumimoji="0" lang="en-US" altLang="zh-CN" sz="1600" b="1" i="0" u="none" strike="noStrike" kern="1200" cap="none" spc="0" normalizeH="0" baseline="0" noProof="1" smtClean="0">
                <a:ln>
                  <a:noFill/>
                </a:ln>
                <a:solidFill>
                  <a:schemeClr val="tx1"/>
                </a:solidFill>
                <a:effectLst/>
                <a:uLnTx/>
                <a:uFillTx/>
                <a:latin typeface="+mn-ea"/>
                <a:ea typeface="+mn-ea"/>
                <a:cs typeface="+mn-ea"/>
                <a:sym typeface="+mn-ea"/>
              </a:rPr>
              <a:t>Cache</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、转移猜测表、动态调度</a:t>
            </a:r>
          </a:p>
          <a:p>
            <a:pPr marL="720725" marR="0" lvl="1" indent="-360045" algn="l" defTabSz="449580" rtl="0" eaLnBrk="0" fontAlgn="base" latinLnBrk="0" hangingPunct="0">
              <a:lnSpc>
                <a:spcPct val="150000"/>
              </a:lnSpc>
              <a:spcBef>
                <a:spcPts val="600"/>
              </a:spcBef>
              <a:spcAft>
                <a:spcPct val="0"/>
              </a:spcAft>
              <a:buClrTx/>
              <a:buSzTx/>
              <a:buFontTx/>
              <a:buChar char="•"/>
              <a:defRPr/>
            </a:pP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运算器中</a:t>
            </a:r>
            <a:r>
              <a:rPr kumimoji="0" lang="zh-CN" altLang="zh-CN" sz="1600" b="1" i="0" u="none" strike="noStrike" kern="1200" cap="none" spc="0" normalizeH="0" baseline="0" noProof="1" smtClean="0">
                <a:ln>
                  <a:noFill/>
                </a:ln>
                <a:solidFill>
                  <a:schemeClr val="tx1"/>
                </a:solidFill>
                <a:effectLst/>
                <a:uLnTx/>
                <a:uFillTx/>
                <a:latin typeface="+mn-ea"/>
                <a:ea typeface="+mn-ea"/>
                <a:cs typeface="+mn-ea"/>
                <a:sym typeface="+mn-ea"/>
              </a:rPr>
              <a:t>80%</a:t>
            </a:r>
            <a:r>
              <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rPr>
              <a:t>面积在浮点运算：二进制翻译硬件支持主要涉及定点和访存地址运算</a:t>
            </a:r>
          </a:p>
          <a:p>
            <a:pPr marL="720725" marR="0" lvl="1" indent="-360045" algn="l" defTabSz="449580" rtl="0" eaLnBrk="0" fontAlgn="base" latinLnBrk="0" hangingPunct="0">
              <a:lnSpc>
                <a:spcPct val="150000"/>
              </a:lnSpc>
              <a:spcBef>
                <a:spcPts val="600"/>
              </a:spcBef>
              <a:spcAft>
                <a:spcPct val="0"/>
              </a:spcAft>
              <a:buClrTx/>
              <a:buSzTx/>
              <a:buFontTx/>
              <a:buChar char="•"/>
              <a:defRPr/>
            </a:pPr>
            <a:endParaRPr kumimoji="0" lang="zh-CN" altLang="en-US" sz="1600" b="1" i="0" u="none" strike="noStrike" kern="1200" cap="none" spc="0" normalizeH="0" baseline="0" noProof="1" smtClean="0">
              <a:ln>
                <a:noFill/>
              </a:ln>
              <a:solidFill>
                <a:schemeClr val="tx1"/>
              </a:solidFill>
              <a:effectLst/>
              <a:uLnTx/>
              <a:uFillTx/>
              <a:latin typeface="+mn-ea"/>
              <a:ea typeface="+mn-ea"/>
              <a:cs typeface="+mn-ea"/>
              <a:sym typeface="+mn-ea"/>
            </a:endParaRPr>
          </a:p>
          <a:p>
            <a:pPr marL="720725" marR="0" lvl="1" indent="-360045" algn="l" defTabSz="449580" rtl="0" eaLnBrk="0" fontAlgn="base" latinLnBrk="0" hangingPunct="0">
              <a:lnSpc>
                <a:spcPct val="150000"/>
              </a:lnSpc>
              <a:spcBef>
                <a:spcPts val="600"/>
              </a:spcBef>
              <a:spcAft>
                <a:spcPct val="0"/>
              </a:spcAft>
              <a:buClrTx/>
              <a:buSzTx/>
              <a:buFontTx/>
              <a:buChar char="•"/>
              <a:defRPr/>
            </a:pPr>
            <a:endParaRPr kumimoji="0" lang="zh-CN" altLang="zh-CN" sz="1600" b="1" i="0" u="none" strike="noStrike" kern="1200" cap="none" spc="0" normalizeH="0" baseline="0" noProof="1" smtClean="0">
              <a:ln>
                <a:noFill/>
              </a:ln>
              <a:solidFill>
                <a:schemeClr val="tx1"/>
              </a:solidFill>
              <a:effectLst/>
              <a:uLnTx/>
              <a:uFillTx/>
              <a:latin typeface="+mn-ea"/>
              <a:ea typeface="+mn-ea"/>
              <a:cs typeface="+mn-ea"/>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p:cNvSpPr>
          <p:nvPr>
            <p:ph type="title"/>
          </p:nvPr>
        </p:nvSpPr>
        <p:spPr>
          <a:xfrm>
            <a:off x="0" y="100013"/>
            <a:ext cx="12188825" cy="647700"/>
          </a:xfrm>
        </p:spPr>
        <p:txBody>
          <a:bodyPr vert="horz" wrap="square" lIns="91440" tIns="45720" rIns="91440" bIns="45720" anchor="ctr" anchorCtr="0">
            <a:spAutoFit/>
          </a:bodyPr>
          <a:lstStyle/>
          <a:p>
            <a:pPr defTabSz="265430">
              <a:tabLst>
                <a:tab pos="0" algn="l"/>
                <a:tab pos="263525" algn="l"/>
                <a:tab pos="528955" algn="l"/>
                <a:tab pos="793750" algn="l"/>
                <a:tab pos="1059180" algn="l"/>
                <a:tab pos="1323975" algn="l"/>
                <a:tab pos="1589405" algn="l"/>
                <a:tab pos="1854200" algn="l"/>
                <a:tab pos="2119630" algn="l"/>
                <a:tab pos="2384425" algn="l"/>
                <a:tab pos="2649855" algn="l"/>
                <a:tab pos="2914650" algn="l"/>
                <a:tab pos="3180080" algn="l"/>
                <a:tab pos="3444875" algn="l"/>
                <a:tab pos="3710305" algn="l"/>
                <a:tab pos="3975100" algn="l"/>
                <a:tab pos="4240530" algn="l"/>
                <a:tab pos="4505325" algn="l"/>
                <a:tab pos="4770755" algn="l"/>
                <a:tab pos="5035550" algn="l"/>
                <a:tab pos="5300980" algn="l"/>
                <a:tab pos="5791200" algn="l"/>
                <a:tab pos="6515100" algn="l"/>
                <a:tab pos="7239000" algn="l"/>
                <a:tab pos="7962900" algn="l"/>
                <a:tab pos="8686800" algn="l"/>
                <a:tab pos="9410700" algn="l"/>
                <a:tab pos="10134600" algn="l"/>
                <a:tab pos="10858500" algn="l"/>
              </a:tabLst>
            </a:pPr>
            <a:r>
              <a:rPr lang="zh-CN" altLang="en-US" dirty="0"/>
              <a:t>例：</a:t>
            </a:r>
            <a:r>
              <a:rPr lang="en-GB" altLang="zh-CN" dirty="0"/>
              <a:t>X86</a:t>
            </a:r>
            <a:r>
              <a:rPr lang="zh-CN" altLang="en-GB" dirty="0"/>
              <a:t>二进制翻译举例</a:t>
            </a:r>
          </a:p>
        </p:txBody>
      </p:sp>
      <p:sp>
        <p:nvSpPr>
          <p:cNvPr id="9221" name="Rectangle 3"/>
          <p:cNvSpPr>
            <a:spLocks noGrp="1"/>
          </p:cNvSpPr>
          <p:nvPr>
            <p:ph idx="1"/>
          </p:nvPr>
        </p:nvSpPr>
        <p:spPr>
          <a:xfrm>
            <a:off x="241300" y="2492375"/>
            <a:ext cx="6173788" cy="2163763"/>
          </a:xfrm>
        </p:spPr>
        <p:txBody>
          <a:bodyPr vert="horz" wrap="square" lIns="91440" tIns="45720" rIns="91440" bIns="45720" numCol="1" anchor="t" anchorCtr="0" compatLnSpc="1">
            <a:spAutoFit/>
          </a:bodyPr>
          <a:lstStyle/>
          <a:p>
            <a:pPr marL="360680" marR="0" lvl="0" indent="-457200" algn="l" defTabSz="449580" rtl="0" eaLnBrk="0" fontAlgn="base" latinLnBrk="0" hangingPunct="0">
              <a:lnSpc>
                <a:spcPct val="150000"/>
              </a:lnSpc>
              <a:spcBef>
                <a:spcPts val="600"/>
              </a:spcBef>
              <a:spcAft>
                <a:spcPct val="0"/>
              </a:spcAft>
              <a:buClrTx/>
              <a:buSzTx/>
              <a:buFontTx/>
              <a:buChar char="•"/>
              <a:defRPr/>
            </a:pPr>
            <a:r>
              <a:rPr kumimoji="0" lang="en-GB" altLang="zh-CN" sz="2000" b="1" i="0" u="none" strike="noStrike" kern="0" cap="none" spc="0" normalizeH="0" baseline="0" noProof="1">
                <a:ln>
                  <a:noFill/>
                </a:ln>
                <a:solidFill>
                  <a:schemeClr val="tx1"/>
                </a:solidFill>
                <a:effectLst/>
                <a:uLnTx/>
                <a:uFillTx/>
                <a:latin typeface="+mn-ea"/>
                <a:ea typeface="+mn-ea"/>
                <a:cs typeface="+mn-cs"/>
              </a:rPr>
              <a:t>EFLAG</a:t>
            </a:r>
            <a:r>
              <a:rPr kumimoji="0" lang="zh-CN" altLang="en-GB" sz="2000" b="1" i="0" u="none" strike="noStrike" kern="0" cap="none" spc="0" normalizeH="0" baseline="0" noProof="1">
                <a:ln>
                  <a:noFill/>
                </a:ln>
                <a:solidFill>
                  <a:schemeClr val="tx1"/>
                </a:solidFill>
                <a:effectLst/>
                <a:uLnTx/>
                <a:uFillTx/>
                <a:latin typeface="+mn-ea"/>
                <a:ea typeface="+mn-ea"/>
                <a:cs typeface="+mn-cs"/>
              </a:rPr>
              <a:t>问题</a:t>
            </a: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en-GB" altLang="zh-CN" sz="1600" b="1" i="0" u="none" strike="noStrike" kern="0" cap="none" spc="0" normalizeH="0" baseline="0" noProof="1">
                <a:ln>
                  <a:noFill/>
                </a:ln>
                <a:solidFill>
                  <a:schemeClr val="tx1"/>
                </a:solidFill>
                <a:effectLst/>
                <a:uLnTx/>
                <a:uFillTx/>
                <a:latin typeface="+mn-ea"/>
                <a:ea typeface="+mn-ea"/>
                <a:cs typeface="+mn-ea"/>
              </a:rPr>
              <a:t>X86</a:t>
            </a:r>
            <a:r>
              <a:rPr kumimoji="0" lang="zh-CN" altLang="en-GB" sz="1600" b="1" i="0" u="none" strike="noStrike" kern="0" cap="none" spc="0" normalizeH="0" baseline="0" noProof="1">
                <a:ln>
                  <a:noFill/>
                </a:ln>
                <a:solidFill>
                  <a:schemeClr val="tx1"/>
                </a:solidFill>
                <a:effectLst/>
                <a:uLnTx/>
                <a:uFillTx/>
                <a:latin typeface="+mn-ea"/>
                <a:ea typeface="+mn-ea"/>
                <a:cs typeface="+mn-ea"/>
              </a:rPr>
              <a:t>通过</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标志来表示运算结果并用于转移</a:t>
            </a:r>
            <a:r>
              <a:rPr kumimoji="0" lang="zh-CN" altLang="en-GB" sz="1600" b="1" i="0" u="none" strike="noStrike" kern="0" cap="none" spc="0" normalizeH="0" baseline="0" noProof="1" smtClean="0">
                <a:ln>
                  <a:noFill/>
                </a:ln>
                <a:solidFill>
                  <a:schemeClr val="tx1"/>
                </a:solidFill>
                <a:effectLst/>
                <a:uLnTx/>
                <a:uFillTx/>
                <a:latin typeface="+mn-ea"/>
                <a:ea typeface="+mn-ea"/>
                <a:cs typeface="+mn-ea"/>
              </a:rPr>
              <a:t>条件</a:t>
            </a:r>
            <a:endParaRPr kumimoji="0" lang="zh-CN" altLang="en-GB" sz="1600" b="1" i="0" u="none" strike="noStrike" kern="0" cap="none" spc="0" normalizeH="0" baseline="0" noProof="1">
              <a:ln>
                <a:noFill/>
              </a:ln>
              <a:solidFill>
                <a:schemeClr val="tx1"/>
              </a:solidFill>
              <a:effectLst/>
              <a:uLnTx/>
              <a:uFillTx/>
              <a:latin typeface="+mn-ea"/>
              <a:ea typeface="+mn-ea"/>
              <a:cs typeface="+mn-ea"/>
            </a:endParaRP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en-GB" altLang="zh-CN" sz="1600" b="1" i="0" u="none" strike="noStrike" kern="0" cap="none" spc="0" normalizeH="0" baseline="0" noProof="1">
                <a:ln>
                  <a:noFill/>
                </a:ln>
                <a:solidFill>
                  <a:schemeClr val="tx1"/>
                </a:solidFill>
                <a:effectLst/>
                <a:uLnTx/>
                <a:uFillTx/>
                <a:latin typeface="+mn-ea"/>
                <a:ea typeface="+mn-ea"/>
                <a:cs typeface="+mn-ea"/>
              </a:rPr>
              <a:t>MIPS</a:t>
            </a:r>
            <a:r>
              <a:rPr kumimoji="0" lang="zh-CN" altLang="en-GB" sz="1600" b="1" i="0" u="none" strike="noStrike" kern="0" cap="none" spc="0" normalizeH="0" baseline="0" noProof="1">
                <a:ln>
                  <a:noFill/>
                </a:ln>
                <a:solidFill>
                  <a:schemeClr val="tx1"/>
                </a:solidFill>
                <a:effectLst/>
                <a:uLnTx/>
                <a:uFillTx/>
                <a:latin typeface="+mn-ea"/>
                <a:ea typeface="+mn-ea"/>
                <a:cs typeface="+mn-ea"/>
              </a:rPr>
              <a:t>没有</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标志，需要</a:t>
            </a:r>
            <a:r>
              <a:rPr kumimoji="0" lang="en-GB" altLang="zh-CN" sz="1600" b="1" i="0" u="none" strike="noStrike" kern="0" cap="none" spc="0" normalizeH="0" baseline="0" noProof="1">
                <a:ln>
                  <a:noFill/>
                </a:ln>
                <a:solidFill>
                  <a:schemeClr val="tx1"/>
                </a:solidFill>
                <a:effectLst/>
                <a:uLnTx/>
                <a:uFillTx/>
                <a:latin typeface="+mn-ea"/>
                <a:ea typeface="+mn-ea"/>
                <a:cs typeface="+mn-ea"/>
              </a:rPr>
              <a:t>40</a:t>
            </a:r>
            <a:r>
              <a:rPr kumimoji="0" lang="zh-CN" altLang="en-GB" sz="1600" b="1" i="0" u="none" strike="noStrike" kern="0" cap="none" spc="0" normalizeH="0" baseline="0" noProof="1">
                <a:ln>
                  <a:noFill/>
                </a:ln>
                <a:solidFill>
                  <a:schemeClr val="tx1"/>
                </a:solidFill>
                <a:effectLst/>
                <a:uLnTx/>
                <a:uFillTx/>
                <a:latin typeface="+mn-ea"/>
                <a:ea typeface="+mn-ea"/>
                <a:cs typeface="+mn-ea"/>
              </a:rPr>
              <a:t>多条指令来</a:t>
            </a:r>
            <a:r>
              <a:rPr kumimoji="0" lang="zh-CN" altLang="en-GB" sz="1600" b="1" i="0" u="none" strike="noStrike" kern="0" cap="none" spc="0" normalizeH="0" baseline="0" noProof="1" smtClean="0">
                <a:ln>
                  <a:noFill/>
                </a:ln>
                <a:solidFill>
                  <a:schemeClr val="tx1"/>
                </a:solidFill>
                <a:effectLst/>
                <a:uLnTx/>
                <a:uFillTx/>
                <a:latin typeface="+mn-ea"/>
                <a:ea typeface="+mn-ea"/>
                <a:cs typeface="+mn-ea"/>
              </a:rPr>
              <a:t>模拟</a:t>
            </a:r>
            <a:endParaRPr kumimoji="0" lang="zh-CN" altLang="en-GB" sz="1600" b="1" i="0" u="none" strike="noStrike" kern="0" cap="none" spc="0" normalizeH="0" baseline="0" noProof="1">
              <a:ln>
                <a:noFill/>
              </a:ln>
              <a:solidFill>
                <a:schemeClr val="tx1"/>
              </a:solidFill>
              <a:effectLst/>
              <a:uLnTx/>
              <a:uFillTx/>
              <a:latin typeface="+mn-ea"/>
              <a:ea typeface="+mn-ea"/>
              <a:cs typeface="+mn-ea"/>
            </a:endParaRPr>
          </a:p>
          <a:p>
            <a:pPr marL="720725" marR="0" lvl="1" indent="-457200" algn="l" defTabSz="449580" rtl="0" eaLnBrk="0" fontAlgn="base" latinLnBrk="0" hangingPunct="0">
              <a:lnSpc>
                <a:spcPct val="150000"/>
              </a:lnSpc>
              <a:spcBef>
                <a:spcPts val="600"/>
              </a:spcBef>
              <a:spcAft>
                <a:spcPct val="0"/>
              </a:spcAft>
              <a:buClrTx/>
              <a:buSzTx/>
              <a:buFontTx/>
              <a:buChar char="•"/>
              <a:defRPr/>
            </a:pPr>
            <a:r>
              <a:rPr kumimoji="0" lang="zh-CN" altLang="en-GB" sz="1600" b="1" i="0" u="none" strike="noStrike" kern="0" cap="none" spc="0" normalizeH="0" baseline="0" noProof="1">
                <a:ln>
                  <a:noFill/>
                </a:ln>
                <a:solidFill>
                  <a:schemeClr val="tx1"/>
                </a:solidFill>
                <a:effectLst/>
                <a:uLnTx/>
                <a:uFillTx/>
                <a:latin typeface="+mn-ea"/>
                <a:ea typeface="+mn-ea"/>
                <a:cs typeface="+mn-ea"/>
              </a:rPr>
              <a:t>定义新的</a:t>
            </a:r>
            <a:r>
              <a:rPr kumimoji="0" lang="en-GB" altLang="zh-CN" sz="1600" b="1" i="0" u="none" strike="noStrike" kern="0" cap="none" spc="0" normalizeH="0" baseline="0" noProof="1">
                <a:ln>
                  <a:noFill/>
                </a:ln>
                <a:solidFill>
                  <a:schemeClr val="tx1"/>
                </a:solidFill>
                <a:effectLst/>
                <a:uLnTx/>
                <a:uFillTx/>
                <a:latin typeface="+mn-ea"/>
                <a:ea typeface="+mn-ea"/>
                <a:cs typeface="+mn-ea"/>
              </a:rPr>
              <a:t>MIPS</a:t>
            </a:r>
            <a:r>
              <a:rPr kumimoji="0" lang="zh-CN" altLang="en-GB" sz="1600" b="1" i="0" u="none" strike="noStrike" kern="0" cap="none" spc="0" normalizeH="0" baseline="0" noProof="1">
                <a:ln>
                  <a:noFill/>
                </a:ln>
                <a:solidFill>
                  <a:schemeClr val="tx1"/>
                </a:solidFill>
                <a:effectLst/>
                <a:uLnTx/>
                <a:uFillTx/>
                <a:latin typeface="+mn-ea"/>
                <a:ea typeface="+mn-ea"/>
                <a:cs typeface="+mn-ea"/>
              </a:rPr>
              <a:t>格式指令来产生</a:t>
            </a:r>
            <a:r>
              <a:rPr kumimoji="0" lang="en-GB" altLang="zh-CN" sz="1600" b="1" i="0" u="none" strike="noStrike" kern="0" cap="none" spc="0" normalizeH="0" baseline="0" noProof="1">
                <a:ln>
                  <a:noFill/>
                </a:ln>
                <a:solidFill>
                  <a:schemeClr val="tx1"/>
                </a:solidFill>
                <a:effectLst/>
                <a:uLnTx/>
                <a:uFillTx/>
                <a:latin typeface="+mn-ea"/>
                <a:ea typeface="+mn-ea"/>
                <a:cs typeface="+mn-ea"/>
              </a:rPr>
              <a:t>EFLAG</a:t>
            </a:r>
            <a:r>
              <a:rPr kumimoji="0" lang="zh-CN" altLang="en-GB" sz="1600" b="1" i="0" u="none" strike="noStrike" kern="0" cap="none" spc="0" normalizeH="0" baseline="0" noProof="1">
                <a:ln>
                  <a:noFill/>
                </a:ln>
                <a:solidFill>
                  <a:schemeClr val="tx1"/>
                </a:solidFill>
                <a:effectLst/>
                <a:uLnTx/>
                <a:uFillTx/>
                <a:latin typeface="+mn-ea"/>
                <a:ea typeface="+mn-ea"/>
                <a:cs typeface="+mn-ea"/>
              </a:rPr>
              <a:t>标志。</a:t>
            </a:r>
          </a:p>
          <a:p>
            <a:pPr marL="360680" marR="0" lvl="0" indent="-360680" algn="l" defTabSz="449580" rtl="0" eaLnBrk="0" fontAlgn="base" latinLnBrk="0" hangingPunct="0">
              <a:lnSpc>
                <a:spcPct val="110000"/>
              </a:lnSpc>
              <a:spcBef>
                <a:spcPct val="0"/>
              </a:spcBef>
              <a:spcAft>
                <a:spcPct val="0"/>
              </a:spcAft>
              <a:buClrTx/>
              <a:buSzTx/>
              <a:buFontTx/>
              <a:buChar char="•"/>
              <a:defRPr/>
            </a:pPr>
            <a:endParaRPr kumimoji="0" lang="zh-CN" altLang="en-GB" sz="1600" b="1" i="0" u="none" strike="noStrike" kern="0" cap="none" spc="0" normalizeH="0" baseline="0" noProof="1">
              <a:ln>
                <a:noFill/>
              </a:ln>
              <a:solidFill>
                <a:schemeClr val="tx1"/>
              </a:solidFill>
              <a:effectLst/>
              <a:uLnTx/>
              <a:uFillTx/>
              <a:latin typeface="+mn-ea"/>
              <a:ea typeface="+mn-ea"/>
              <a:cs typeface="+mn-cs"/>
            </a:endParaRPr>
          </a:p>
        </p:txBody>
      </p:sp>
      <p:sp>
        <p:nvSpPr>
          <p:cNvPr id="118788" name="灯片编号占位符 5"/>
          <p:cNvSpPr txBox="1">
            <a:spLocks noGrp="1"/>
          </p:cNvSpPr>
          <p:nvPr>
            <p:ph type="sldNum" sz="quarter" idx="12"/>
          </p:nvPr>
        </p:nvSpPr>
        <p:spPr>
          <a:xfrm>
            <a:off x="9648825" y="6248400"/>
            <a:ext cx="2541588" cy="457200"/>
          </a:xfrm>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pPr lvl="0" algn="r" eaLnBrk="1" hangingPunct="1"/>
              <a:t>91</a:t>
            </a:fld>
            <a:endParaRPr lang="en-US" altLang="zh-CN" sz="1400" dirty="0"/>
          </a:p>
        </p:txBody>
      </p:sp>
      <p:pic>
        <p:nvPicPr>
          <p:cNvPr id="118789" name="Picture 4"/>
          <p:cNvPicPr>
            <a:picLocks noChangeAspect="1"/>
          </p:cNvPicPr>
          <p:nvPr/>
        </p:nvPicPr>
        <p:blipFill>
          <a:blip r:embed="rId3" cstate="print"/>
          <a:stretch>
            <a:fillRect/>
          </a:stretch>
        </p:blipFill>
        <p:spPr>
          <a:xfrm>
            <a:off x="6638925" y="1466850"/>
            <a:ext cx="5410200" cy="4468813"/>
          </a:xfrm>
          <a:prstGeom prst="rect">
            <a:avLst/>
          </a:prstGeom>
          <a:noFill/>
          <a:ln w="9525">
            <a:noFill/>
          </a:ln>
        </p:spPr>
      </p:pic>
      <p:pic>
        <p:nvPicPr>
          <p:cNvPr id="118790" name="Picture 5"/>
          <p:cNvPicPr>
            <a:picLocks noChangeAspect="1"/>
          </p:cNvPicPr>
          <p:nvPr/>
        </p:nvPicPr>
        <p:blipFill>
          <a:blip r:embed="rId4" cstate="print"/>
          <a:stretch>
            <a:fillRect/>
          </a:stretch>
        </p:blipFill>
        <p:spPr>
          <a:xfrm>
            <a:off x="2000250" y="6156325"/>
            <a:ext cx="10166350" cy="692150"/>
          </a:xfrm>
          <a:prstGeom prst="rect">
            <a:avLst/>
          </a:prstGeom>
          <a:noFill/>
          <a:ln w="9525">
            <a:noFill/>
          </a:ln>
        </p:spPr>
      </p:pic>
      <p:pic>
        <p:nvPicPr>
          <p:cNvPr id="118791" name="Picture 6"/>
          <p:cNvPicPr>
            <a:picLocks noChangeAspect="1"/>
          </p:cNvPicPr>
          <p:nvPr/>
        </p:nvPicPr>
        <p:blipFill>
          <a:blip r:embed="rId5" cstate="print"/>
          <a:stretch>
            <a:fillRect/>
          </a:stretch>
        </p:blipFill>
        <p:spPr>
          <a:xfrm>
            <a:off x="2039938" y="877888"/>
            <a:ext cx="10085387" cy="474662"/>
          </a:xfrm>
          <a:prstGeom prst="rect">
            <a:avLst/>
          </a:prstGeom>
          <a:noFill/>
          <a:ln w="9525">
            <a:noFill/>
          </a:ln>
        </p:spPr>
      </p:pic>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a:xfrm>
            <a:off x="647700" y="-1587"/>
            <a:ext cx="10514013" cy="766762"/>
          </a:xfrm>
        </p:spPr>
        <p:txBody>
          <a:bodyPr vert="horz" wrap="square" lIns="91440" tIns="45720" rIns="91440" bIns="45720" anchor="ctr" anchorCtr="0"/>
          <a:lstStyle/>
          <a:p>
            <a:r>
              <a:rPr lang="zh-CN" altLang="en-US" dirty="0"/>
              <a:t>例：访存地址翻译和加速</a:t>
            </a:r>
          </a:p>
        </p:txBody>
      </p:sp>
      <p:grpSp>
        <p:nvGrpSpPr>
          <p:cNvPr id="119811" name="组合 12"/>
          <p:cNvGrpSpPr/>
          <p:nvPr/>
        </p:nvGrpSpPr>
        <p:grpSpPr>
          <a:xfrm>
            <a:off x="641350" y="692150"/>
            <a:ext cx="9304338" cy="565150"/>
            <a:chOff x="575568" y="692697"/>
            <a:chExt cx="8352928" cy="564971"/>
          </a:xfrm>
        </p:grpSpPr>
        <p:sp>
          <p:nvSpPr>
            <p:cNvPr id="119819" name="文本框 3"/>
            <p:cNvSpPr txBox="1"/>
            <p:nvPr/>
          </p:nvSpPr>
          <p:spPr>
            <a:xfrm>
              <a:off x="575568" y="980728"/>
              <a:ext cx="8352928" cy="276940"/>
            </a:xfrm>
            <a:prstGeom prst="rect">
              <a:avLst/>
            </a:prstGeom>
            <a:noFill/>
            <a:ln w="9525" cap="flat" cmpd="sng">
              <a:solidFill>
                <a:srgbClr val="202020"/>
              </a:solidFill>
              <a:prstDash val="solid"/>
              <a:round/>
              <a:headEnd type="none" w="med" len="med"/>
              <a:tailEnd type="none" w="med" len="med"/>
            </a:ln>
          </p:spPr>
          <p:txBody>
            <a:bodyPr>
              <a:spAutoFit/>
            </a:bodyPr>
            <a:lstStyle/>
            <a:p>
              <a:r>
                <a:rPr lang="zh-CN" altLang="en-US" sz="1200" b="1" dirty="0">
                  <a:latin typeface="宋体" panose="02000500000000000000" pitchFamily="2" charset="-122"/>
                </a:rPr>
                <a:t>  movl     0xc(%esi), %eax</a:t>
              </a:r>
            </a:p>
          </p:txBody>
        </p:sp>
        <p:sp>
          <p:nvSpPr>
            <p:cNvPr id="119820" name="文本框 6"/>
            <p:cNvSpPr txBox="1"/>
            <p:nvPr/>
          </p:nvSpPr>
          <p:spPr>
            <a:xfrm>
              <a:off x="581413" y="692697"/>
              <a:ext cx="729959" cy="307712"/>
            </a:xfrm>
            <a:prstGeom prst="rect">
              <a:avLst/>
            </a:prstGeom>
            <a:solidFill>
              <a:srgbClr val="FFFF00"/>
            </a:solidFill>
            <a:ln w="9525">
              <a:noFill/>
            </a:ln>
          </p:spPr>
          <p:txBody>
            <a:bodyPr wrap="none">
              <a:spAutoFit/>
            </a:bodyPr>
            <a:lstStyle/>
            <a:p>
              <a:r>
                <a:rPr lang="en-US" altLang="zh-CN" sz="1400" b="1" dirty="0">
                  <a:latin typeface="宋体" panose="02000500000000000000" pitchFamily="2" charset="-122"/>
                </a:rPr>
                <a:t>X86</a:t>
              </a:r>
              <a:r>
                <a:rPr lang="zh-CN" altLang="en-US" sz="1400" b="1" dirty="0">
                  <a:latin typeface="宋体" panose="02000500000000000000" pitchFamily="2" charset="-122"/>
                </a:rPr>
                <a:t>指令</a:t>
              </a:r>
            </a:p>
          </p:txBody>
        </p:sp>
      </p:grpSp>
      <p:grpSp>
        <p:nvGrpSpPr>
          <p:cNvPr id="119812" name="组合 10"/>
          <p:cNvGrpSpPr/>
          <p:nvPr/>
        </p:nvGrpSpPr>
        <p:grpSpPr>
          <a:xfrm>
            <a:off x="641350" y="1484313"/>
            <a:ext cx="10539413" cy="3527425"/>
            <a:chOff x="575568" y="1340768"/>
            <a:chExt cx="9462356" cy="3527897"/>
          </a:xfrm>
        </p:grpSpPr>
        <p:sp>
          <p:nvSpPr>
            <p:cNvPr id="119816" name="文本框 4"/>
            <p:cNvSpPr txBox="1"/>
            <p:nvPr/>
          </p:nvSpPr>
          <p:spPr>
            <a:xfrm>
              <a:off x="575569" y="1628799"/>
              <a:ext cx="8352928" cy="3239866"/>
            </a:xfrm>
            <a:prstGeom prst="rect">
              <a:avLst/>
            </a:prstGeom>
            <a:noFill/>
            <a:ln w="9525" cap="flat" cmpd="sng">
              <a:solidFill>
                <a:srgbClr val="202020"/>
              </a:solidFill>
              <a:prstDash val="solid"/>
              <a:round/>
              <a:headEnd type="none" w="med" len="med"/>
              <a:tailEnd type="none" w="med" len="med"/>
            </a:ln>
          </p:spPr>
          <p:txBody>
            <a:bodyPr>
              <a:spAutoFit/>
            </a:bodyPr>
            <a:lstStyle/>
            <a:p>
              <a:pPr>
                <a:spcBef>
                  <a:spcPts val="100"/>
                </a:spcBef>
              </a:pPr>
              <a:r>
                <a:rPr lang="en-US" altLang="zh-CN" sz="1200" b="1" dirty="0">
                  <a:latin typeface="宋体" panose="02000500000000000000" pitchFamily="2" charset="-122"/>
                </a:rPr>
                <a:t> lw          s1,24(s0)       # load %esi, s0是结构体CPUX86State的基地址，24是esi寄存器对应的偏移。</a:t>
              </a:r>
            </a:p>
            <a:p>
              <a:pPr>
                <a:spcBef>
                  <a:spcPts val="100"/>
                </a:spcBef>
              </a:pPr>
              <a:r>
                <a:rPr lang="en-US" altLang="zh-CN" sz="1200" b="1" dirty="0">
                  <a:latin typeface="宋体" panose="02000500000000000000" pitchFamily="2" charset="-122"/>
                </a:rPr>
                <a:t> addiu       s2,s1,12        # 加偏移得到S2 = gva(guest虚拟地址)</a:t>
              </a:r>
            </a:p>
            <a:p>
              <a:pPr>
                <a:spcBef>
                  <a:spcPts val="100"/>
                </a:spcBef>
              </a:pPr>
              <a:r>
                <a:rPr lang="en-US" altLang="zh-CN" sz="1200" b="1" dirty="0">
                  <a:latin typeface="宋体" panose="02000500000000000000" pitchFamily="2" charset="-122"/>
                </a:rPr>
                <a:t> ld          at,-32(s0)      # </a:t>
              </a:r>
              <a:r>
                <a:rPr lang="zh-CN" altLang="en-US" sz="1200" b="1" dirty="0">
                  <a:latin typeface="宋体" panose="02000500000000000000" pitchFamily="2" charset="-122"/>
                </a:rPr>
                <a:t>开始</a:t>
              </a:r>
              <a:r>
                <a:rPr lang="en-US" altLang="zh-CN" sz="1200" b="1" dirty="0">
                  <a:latin typeface="宋体" panose="02000500000000000000" pitchFamily="2" charset="-122"/>
                </a:rPr>
                <a:t>访问软TLB，</a:t>
              </a:r>
              <a:r>
                <a:rPr lang="zh-CN" altLang="en-US" sz="1200" b="1" dirty="0">
                  <a:latin typeface="宋体" panose="02000500000000000000" pitchFamily="2" charset="-122"/>
                </a:rPr>
                <a:t>把</a:t>
              </a:r>
              <a:r>
                <a:rPr lang="en-US" altLang="zh-CN" sz="1200" b="1" dirty="0">
                  <a:latin typeface="宋体" panose="02000500000000000000" pitchFamily="2" charset="-122"/>
                </a:rPr>
                <a:t>gva翻译成host虚拟地址。</a:t>
              </a:r>
              <a:r>
                <a:rPr lang="zh-CN" altLang="en-US" sz="1200" b="1" dirty="0">
                  <a:latin typeface="宋体" panose="02000500000000000000" pitchFamily="2" charset="-122"/>
                </a:rPr>
                <a:t>取掩码</a:t>
              </a:r>
              <a:endParaRPr lang="en-US" altLang="zh-CN" sz="1200" b="1" dirty="0">
                <a:latin typeface="宋体" panose="02000500000000000000" pitchFamily="2" charset="-122"/>
              </a:endParaRPr>
            </a:p>
            <a:p>
              <a:pPr>
                <a:spcBef>
                  <a:spcPts val="100"/>
                </a:spcBef>
              </a:pPr>
              <a:r>
                <a:rPr lang="en-US" altLang="zh-CN" sz="1200" b="1" dirty="0">
                  <a:latin typeface="宋体" panose="02000500000000000000" pitchFamily="2" charset="-122"/>
                </a:rPr>
                <a:t> ld          t9,-24(s0)      # </a:t>
              </a:r>
              <a:r>
                <a:rPr lang="zh-CN" altLang="en-US" sz="1200" b="1" dirty="0">
                  <a:latin typeface="宋体" panose="02000500000000000000" pitchFamily="2" charset="-122"/>
                </a:rPr>
                <a:t>软</a:t>
              </a:r>
              <a:r>
                <a:rPr lang="en-US" altLang="zh-CN" sz="1200" b="1" dirty="0">
                  <a:latin typeface="宋体" panose="02000500000000000000" pitchFamily="2" charset="-122"/>
                </a:rPr>
                <a:t>tlb</a:t>
              </a:r>
              <a:r>
                <a:rPr lang="zh-CN" altLang="en-US" sz="1200" b="1" dirty="0">
                  <a:latin typeface="宋体" panose="02000500000000000000" pitchFamily="2" charset="-122"/>
                </a:rPr>
                <a:t>表头</a:t>
              </a:r>
              <a:endParaRPr lang="en-US" altLang="zh-CN" sz="1200" b="1" dirty="0">
                <a:latin typeface="宋体" panose="02000500000000000000" pitchFamily="2" charset="-122"/>
              </a:endParaRPr>
            </a:p>
            <a:p>
              <a:pPr>
                <a:spcBef>
                  <a:spcPts val="100"/>
                </a:spcBef>
              </a:pPr>
              <a:r>
                <a:rPr lang="en-US" altLang="zh-CN" sz="1200" b="1" dirty="0">
                  <a:latin typeface="宋体" panose="02000500000000000000" pitchFamily="2" charset="-122"/>
                </a:rPr>
                <a:t> srl         t7, s2, 0x7     # gva</a:t>
              </a:r>
              <a:r>
                <a:rPr lang="zh-CN" altLang="en-US" sz="1200" b="1" dirty="0">
                  <a:latin typeface="宋体" panose="02000500000000000000" pitchFamily="2" charset="-122"/>
                </a:rPr>
                <a:t>对应的表偏移</a:t>
              </a:r>
              <a:endParaRPr lang="en-US" altLang="zh-CN" sz="1200" b="1" dirty="0">
                <a:latin typeface="宋体" panose="02000500000000000000" pitchFamily="2" charset="-122"/>
              </a:endParaRPr>
            </a:p>
            <a:p>
              <a:pPr>
                <a:spcBef>
                  <a:spcPts val="100"/>
                </a:spcBef>
              </a:pPr>
              <a:r>
                <a:rPr lang="en-US" altLang="zh-CN" sz="1200" b="1" dirty="0">
                  <a:latin typeface="宋体" panose="02000500000000000000" pitchFamily="2" charset="-122"/>
                </a:rPr>
                <a:t> and         t7,t7,at</a:t>
              </a:r>
            </a:p>
            <a:p>
              <a:pPr>
                <a:spcBef>
                  <a:spcPts val="100"/>
                </a:spcBef>
              </a:pPr>
              <a:r>
                <a:rPr lang="en-US" altLang="zh-CN" sz="1200" b="1" dirty="0">
                  <a:latin typeface="宋体" panose="02000500000000000000" pitchFamily="2" charset="-122"/>
                </a:rPr>
                <a:t> daddu       t7,t7,t9   </a:t>
              </a:r>
            </a:p>
            <a:p>
              <a:pPr>
                <a:spcBef>
                  <a:spcPts val="100"/>
                </a:spcBef>
              </a:pPr>
              <a:r>
                <a:rPr lang="en-US" altLang="zh-CN" sz="1200" b="1" dirty="0">
                  <a:latin typeface="宋体" panose="02000500000000000000" pitchFamily="2" charset="-122"/>
                </a:rPr>
                <a:t> lwu         at,0(t7)          </a:t>
              </a:r>
              <a:r>
                <a:rPr lang="en-US" altLang="zh-CN" sz="1200" b="1" dirty="0">
                  <a:latin typeface="宋体" panose="02000500000000000000" pitchFamily="2" charset="-122"/>
                  <a:sym typeface="宋体" panose="02000500000000000000" pitchFamily="2" charset="-122"/>
                </a:rPr>
                <a:t># </a:t>
              </a:r>
              <a:r>
                <a:rPr lang="zh-CN" altLang="en-US" sz="1200" b="1" dirty="0">
                  <a:latin typeface="宋体" panose="02000500000000000000" pitchFamily="2" charset="-122"/>
                  <a:sym typeface="宋体" panose="02000500000000000000" pitchFamily="2" charset="-122"/>
                </a:rPr>
                <a:t>取软</a:t>
              </a:r>
              <a:r>
                <a:rPr lang="en-US" altLang="zh-CN" sz="1200" b="1" dirty="0">
                  <a:latin typeface="宋体" panose="02000500000000000000" pitchFamily="2" charset="-122"/>
                  <a:sym typeface="宋体" panose="02000500000000000000" pitchFamily="2" charset="-122"/>
                </a:rPr>
                <a:t>TLB</a:t>
              </a:r>
              <a:r>
                <a:rPr lang="zh-CN" altLang="en-US" sz="1200" b="1" dirty="0">
                  <a:latin typeface="宋体" panose="02000500000000000000" pitchFamily="2" charset="-122"/>
                  <a:sym typeface="宋体" panose="02000500000000000000" pitchFamily="2" charset="-122"/>
                </a:rPr>
                <a:t>表项内容</a:t>
              </a:r>
              <a:endParaRPr lang="en-US" altLang="zh-CN" sz="1200" b="1" dirty="0">
                <a:latin typeface="宋体" panose="02000500000000000000" pitchFamily="2" charset="-122"/>
              </a:endParaRPr>
            </a:p>
            <a:p>
              <a:pPr>
                <a:spcBef>
                  <a:spcPts val="100"/>
                </a:spcBef>
              </a:pPr>
              <a:r>
                <a:rPr lang="en-US" altLang="zh-CN" sz="1200" b="1" dirty="0">
                  <a:latin typeface="宋体" panose="02000500000000000000" pitchFamily="2" charset="-122"/>
                </a:rPr>
                <a:t> li          t9,-4093</a:t>
              </a:r>
            </a:p>
            <a:p>
              <a:pPr>
                <a:spcBef>
                  <a:spcPts val="100"/>
                </a:spcBef>
              </a:pPr>
              <a:r>
                <a:rPr lang="en-US" altLang="zh-CN" sz="1200" b="1" dirty="0">
                  <a:latin typeface="宋体" panose="02000500000000000000" pitchFamily="2" charset="-122"/>
                </a:rPr>
                <a:t> ld          t8,16(t7)         # </a:t>
              </a:r>
              <a:r>
                <a:rPr lang="zh-CN" altLang="en-US" sz="1200" b="1" dirty="0">
                  <a:latin typeface="宋体" panose="02000500000000000000" pitchFamily="2" charset="-122"/>
                </a:rPr>
                <a:t>软</a:t>
              </a:r>
              <a:r>
                <a:rPr lang="en-US" altLang="zh-CN" sz="1200" b="1" dirty="0">
                  <a:latin typeface="宋体" panose="02000500000000000000" pitchFamily="2" charset="-122"/>
                </a:rPr>
                <a:t>TLB</a:t>
              </a:r>
              <a:r>
                <a:rPr lang="zh-CN" altLang="en-US" sz="1200" b="1" dirty="0">
                  <a:latin typeface="宋体" panose="02000500000000000000" pitchFamily="2" charset="-122"/>
                </a:rPr>
                <a:t>存放</a:t>
              </a:r>
              <a:r>
                <a:rPr lang="en-US" altLang="zh-CN" sz="1200" b="1" dirty="0">
                  <a:latin typeface="宋体" panose="02000500000000000000" pitchFamily="2" charset="-122"/>
                </a:rPr>
                <a:t>gva和hva的偏移差值</a:t>
              </a:r>
            </a:p>
            <a:p>
              <a:pPr>
                <a:spcBef>
                  <a:spcPts val="100"/>
                </a:spcBef>
              </a:pPr>
              <a:r>
                <a:rPr lang="en-US" altLang="zh-CN" sz="1200" b="1" dirty="0">
                  <a:latin typeface="宋体" panose="02000500000000000000" pitchFamily="2" charset="-122"/>
                </a:rPr>
                <a:t> and         t9,t9,s2</a:t>
              </a:r>
            </a:p>
            <a:p>
              <a:pPr>
                <a:spcBef>
                  <a:spcPts val="100"/>
                </a:spcBef>
              </a:pPr>
              <a:r>
                <a:rPr lang="en-US" altLang="zh-CN" sz="1200" b="1" dirty="0">
                  <a:latin typeface="宋体" panose="02000500000000000000" pitchFamily="2" charset="-122"/>
                </a:rPr>
                <a:t> dext        a0,s2,0x0,0x20</a:t>
              </a:r>
            </a:p>
            <a:p>
              <a:pPr>
                <a:spcBef>
                  <a:spcPts val="100"/>
                </a:spcBef>
              </a:pPr>
              <a:r>
                <a:rPr lang="en-US" altLang="zh-CN" sz="1200" b="1" dirty="0">
                  <a:latin typeface="宋体" panose="02000500000000000000" pitchFamily="2" charset="-122"/>
                </a:rPr>
                <a:t> bne         at,t9, not_hit  # 是否命中</a:t>
              </a:r>
            </a:p>
            <a:p>
              <a:pPr>
                <a:spcBef>
                  <a:spcPts val="100"/>
                </a:spcBef>
              </a:pPr>
              <a:r>
                <a:rPr lang="en-US" altLang="zh-CN" sz="1200" b="1" dirty="0">
                  <a:latin typeface="宋体" panose="02000500000000000000" pitchFamily="2" charset="-122"/>
                </a:rPr>
                <a:t> daddu       a0,t8,a0        # gva -&gt; hva (</a:t>
              </a:r>
              <a:r>
                <a:rPr lang="zh-CN" altLang="en-US" sz="1200" b="1" dirty="0">
                  <a:latin typeface="宋体" panose="02000500000000000000" pitchFamily="2" charset="-122"/>
                </a:rPr>
                <a:t>放</a:t>
              </a:r>
              <a:r>
                <a:rPr lang="en-US" altLang="zh-CN" sz="1200" b="1" dirty="0">
                  <a:latin typeface="宋体" panose="02000500000000000000" pitchFamily="2" charset="-122"/>
                </a:rPr>
                <a:t>a0</a:t>
              </a:r>
              <a:r>
                <a:rPr lang="zh-CN" altLang="en-US" sz="1200" b="1" dirty="0">
                  <a:latin typeface="宋体" panose="02000500000000000000" pitchFamily="2" charset="-122"/>
                </a:rPr>
                <a:t>寄存器</a:t>
              </a:r>
              <a:r>
                <a:rPr lang="en-US" altLang="zh-CN" sz="1200" b="1" dirty="0">
                  <a:latin typeface="宋体" panose="02000500000000000000" pitchFamily="2" charset="-122"/>
                </a:rPr>
                <a:t>)</a:t>
              </a:r>
            </a:p>
            <a:p>
              <a:pPr>
                <a:spcBef>
                  <a:spcPts val="100"/>
                </a:spcBef>
              </a:pPr>
              <a:r>
                <a:rPr lang="en-US" altLang="zh-CN" sz="1200" b="1" dirty="0">
                  <a:latin typeface="宋体" panose="02000500000000000000" pitchFamily="2" charset="-122"/>
                </a:rPr>
                <a:t> lw          s2,0(a0)           # 取出0xc(%esi)的值</a:t>
              </a:r>
            </a:p>
            <a:p>
              <a:pPr>
                <a:spcBef>
                  <a:spcPts val="100"/>
                </a:spcBef>
              </a:pPr>
              <a:r>
                <a:rPr lang="en-US" altLang="zh-CN" sz="1200" b="1" dirty="0">
                  <a:latin typeface="宋体" panose="02000500000000000000" pitchFamily="2" charset="-122"/>
                </a:rPr>
                <a:t> sw          s2,0(s0)           # 存到%eax</a:t>
              </a:r>
            </a:p>
          </p:txBody>
        </p:sp>
        <p:sp>
          <p:nvSpPr>
            <p:cNvPr id="9" name="左箭头标注 8"/>
            <p:cNvSpPr/>
            <p:nvPr/>
          </p:nvSpPr>
          <p:spPr>
            <a:xfrm>
              <a:off x="5789364" y="4220953"/>
              <a:ext cx="4248560" cy="576354"/>
            </a:xfrm>
            <a:prstGeom prst="leftArrowCallout">
              <a:avLst>
                <a:gd name="adj1" fmla="val 25000"/>
                <a:gd name="adj2" fmla="val 25000"/>
                <a:gd name="adj3" fmla="val 25000"/>
                <a:gd name="adj4" fmla="val 83608"/>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449580" rtl="0" eaLnBrk="1" fontAlgn="base" latinLnBrk="0" hangingPunct="1">
                <a:lnSpc>
                  <a:spcPct val="100000"/>
                </a:lnSpc>
                <a:spcBef>
                  <a:spcPct val="0"/>
                </a:spcBef>
                <a:spcAft>
                  <a:spcPct val="0"/>
                </a:spcAft>
                <a:buClrTx/>
                <a:buSzTx/>
                <a:buFont typeface="Arial" panose="02080604020202020204" pitchFamily="34" charset="0"/>
                <a:buNone/>
                <a:defRPr/>
              </a:pPr>
              <a:r>
                <a:rPr kumimoji="0" lang="zh-CN" altLang="en-US" sz="1200" b="1" i="0" u="none" strike="noStrike" kern="1200" cap="none" spc="0" normalizeH="0" baseline="0" noProof="0" dirty="0">
                  <a:ln>
                    <a:noFill/>
                  </a:ln>
                  <a:solidFill>
                    <a:schemeClr val="tx1"/>
                  </a:solidFill>
                  <a:effectLst/>
                  <a:uLnTx/>
                  <a:uFillTx/>
                  <a:latin typeface="+mn-ea"/>
                  <a:ea typeface="+mn-ea"/>
                  <a:cs typeface="+mn-cs"/>
                  <a:sym typeface="+mn-ea"/>
                </a:rPr>
                <a:t>不命中的情况下将保存上下文后调用一个</a:t>
              </a:r>
              <a:r>
                <a:rPr kumimoji="0" lang="en-US" altLang="zh-CN" sz="1200" b="1" i="0" u="none" strike="noStrike" kern="1200" cap="none" spc="0" normalizeH="0" baseline="0" noProof="0" dirty="0">
                  <a:ln>
                    <a:noFill/>
                  </a:ln>
                  <a:solidFill>
                    <a:schemeClr val="tx1"/>
                  </a:solidFill>
                  <a:effectLst/>
                  <a:uLnTx/>
                  <a:uFillTx/>
                  <a:latin typeface="+mn-ea"/>
                  <a:ea typeface="+mn-ea"/>
                  <a:cs typeface="+mn-cs"/>
                  <a:sym typeface="+mn-ea"/>
                </a:rPr>
                <a:t>QEMU</a:t>
              </a:r>
              <a:r>
                <a:rPr kumimoji="0" lang="zh-CN" altLang="en-US" sz="1200" b="1" i="0" u="none" strike="noStrike" kern="1200" cap="none" spc="0" normalizeH="0" baseline="0" noProof="0" dirty="0">
                  <a:ln>
                    <a:noFill/>
                  </a:ln>
                  <a:solidFill>
                    <a:schemeClr val="tx1"/>
                  </a:solidFill>
                  <a:effectLst/>
                  <a:uLnTx/>
                  <a:uFillTx/>
                  <a:latin typeface="+mn-ea"/>
                  <a:ea typeface="+mn-ea"/>
                  <a:cs typeface="+mn-cs"/>
                  <a:sym typeface="+mn-ea"/>
                </a:rPr>
                <a:t>函数完成处理，代价在几百条指令以上</a:t>
              </a:r>
              <a:endParaRPr kumimoji="0" lang="zh-CN" altLang="en-US" sz="1200" b="1" i="0" u="none" strike="noStrike" kern="1200" cap="none" spc="0" normalizeH="0" baseline="0" noProof="0" dirty="0">
                <a:ln>
                  <a:noFill/>
                </a:ln>
                <a:solidFill>
                  <a:schemeClr val="tx1"/>
                </a:solidFill>
                <a:effectLst/>
                <a:uLnTx/>
                <a:uFillTx/>
                <a:latin typeface="+mn-ea"/>
                <a:ea typeface="+mn-ea"/>
                <a:cs typeface="+mn-cs"/>
              </a:endParaRPr>
            </a:p>
          </p:txBody>
        </p:sp>
        <p:sp>
          <p:nvSpPr>
            <p:cNvPr id="119818" name="文本框 9"/>
            <p:cNvSpPr txBox="1"/>
            <p:nvPr/>
          </p:nvSpPr>
          <p:spPr>
            <a:xfrm>
              <a:off x="575568" y="1340768"/>
              <a:ext cx="5404324" cy="307826"/>
            </a:xfrm>
            <a:prstGeom prst="rect">
              <a:avLst/>
            </a:prstGeom>
            <a:solidFill>
              <a:srgbClr val="FFFF00"/>
            </a:solidFill>
            <a:ln w="9525">
              <a:noFill/>
            </a:ln>
          </p:spPr>
          <p:txBody>
            <a:bodyPr wrap="none">
              <a:spAutoFit/>
            </a:bodyPr>
            <a:lstStyle/>
            <a:p>
              <a:r>
                <a:rPr lang="en-US" altLang="zh-CN" sz="1400" b="1" dirty="0">
                  <a:latin typeface="宋体" panose="02000500000000000000" pitchFamily="2" charset="-122"/>
                  <a:sym typeface="宋体" panose="02000500000000000000" pitchFamily="2" charset="-122"/>
                </a:rPr>
                <a:t>QEMU softmmu: </a:t>
              </a:r>
              <a:r>
                <a:rPr lang="zh-CN" altLang="en-US" sz="1400" b="1" dirty="0">
                  <a:latin typeface="宋体" panose="02000500000000000000" pitchFamily="2" charset="-122"/>
                  <a:sym typeface="宋体" panose="02000500000000000000" pitchFamily="2" charset="-122"/>
                </a:rPr>
                <a:t>翻译成</a:t>
              </a:r>
              <a:r>
                <a:rPr lang="en-US" altLang="zh-CN" sz="1400" b="1" dirty="0">
                  <a:latin typeface="宋体" panose="02000500000000000000" pitchFamily="2" charset="-122"/>
                  <a:sym typeface="宋体" panose="02000500000000000000" pitchFamily="2" charset="-122"/>
                </a:rPr>
                <a:t>MIPS</a:t>
              </a:r>
              <a:r>
                <a:rPr lang="zh-CN" altLang="en-US" sz="1400" b="1" dirty="0">
                  <a:latin typeface="宋体" panose="02000500000000000000" pitchFamily="2" charset="-122"/>
                  <a:sym typeface="宋体" panose="02000500000000000000" pitchFamily="2" charset="-122"/>
                </a:rPr>
                <a:t>后的快速路径（</a:t>
              </a:r>
              <a:r>
                <a:rPr lang="en-US" altLang="zh-CN" sz="1400" b="1" dirty="0">
                  <a:latin typeface="宋体" panose="02000500000000000000" pitchFamily="2" charset="-122"/>
                  <a:sym typeface="宋体" panose="02000500000000000000" pitchFamily="2" charset="-122"/>
                </a:rPr>
                <a:t>TLB</a:t>
              </a:r>
              <a:r>
                <a:rPr lang="zh-CN" altLang="en-US" sz="1400" b="1" dirty="0">
                  <a:latin typeface="宋体" panose="02000500000000000000" pitchFamily="2" charset="-122"/>
                  <a:sym typeface="宋体" panose="02000500000000000000" pitchFamily="2" charset="-122"/>
                </a:rPr>
                <a:t>命中的情况，共</a:t>
              </a:r>
              <a:r>
                <a:rPr lang="en-US" altLang="zh-CN" sz="1400" b="1" dirty="0">
                  <a:latin typeface="宋体" panose="02000500000000000000" pitchFamily="2" charset="-122"/>
                  <a:sym typeface="宋体" panose="02000500000000000000" pitchFamily="2" charset="-122"/>
                </a:rPr>
                <a:t>16</a:t>
              </a:r>
              <a:r>
                <a:rPr lang="zh-CN" altLang="en-US" sz="1400" b="1" dirty="0">
                  <a:latin typeface="宋体" panose="02000500000000000000" pitchFamily="2" charset="-122"/>
                  <a:sym typeface="宋体" panose="02000500000000000000" pitchFamily="2" charset="-122"/>
                </a:rPr>
                <a:t>条指令）</a:t>
              </a:r>
              <a:endParaRPr lang="zh-CN" altLang="en-US" sz="1400" b="1" dirty="0">
                <a:latin typeface="宋体" panose="02000500000000000000" pitchFamily="2" charset="-122"/>
              </a:endParaRPr>
            </a:p>
          </p:txBody>
        </p:sp>
      </p:grpSp>
      <p:grpSp>
        <p:nvGrpSpPr>
          <p:cNvPr id="119813" name="组合 11"/>
          <p:cNvGrpSpPr/>
          <p:nvPr/>
        </p:nvGrpSpPr>
        <p:grpSpPr>
          <a:xfrm>
            <a:off x="641350" y="5229225"/>
            <a:ext cx="9304338" cy="763588"/>
            <a:chOff x="575568" y="5229200"/>
            <a:chExt cx="8352928" cy="761828"/>
          </a:xfrm>
        </p:grpSpPr>
        <p:sp>
          <p:nvSpPr>
            <p:cNvPr id="119814" name="文本框 5"/>
            <p:cNvSpPr txBox="1"/>
            <p:nvPr/>
          </p:nvSpPr>
          <p:spPr>
            <a:xfrm>
              <a:off x="575568" y="5229200"/>
              <a:ext cx="2019478" cy="307327"/>
            </a:xfrm>
            <a:prstGeom prst="rect">
              <a:avLst/>
            </a:prstGeom>
            <a:solidFill>
              <a:srgbClr val="FFFF00"/>
            </a:solidFill>
            <a:ln w="9525">
              <a:noFill/>
            </a:ln>
          </p:spPr>
          <p:txBody>
            <a:bodyPr wrap="none">
              <a:spAutoFit/>
            </a:bodyPr>
            <a:lstStyle/>
            <a:p>
              <a:r>
                <a:rPr lang="zh-CN" altLang="en-US" sz="1400" b="1" dirty="0">
                  <a:latin typeface="宋体" panose="02000500000000000000" pitchFamily="2" charset="-122"/>
                </a:rPr>
                <a:t>使用硬件</a:t>
              </a:r>
              <a:r>
                <a:rPr lang="en-US" altLang="zh-CN" sz="1400" b="1" dirty="0">
                  <a:latin typeface="宋体" panose="02000500000000000000" pitchFamily="2" charset="-122"/>
                </a:rPr>
                <a:t>TLB</a:t>
              </a:r>
              <a:r>
                <a:rPr lang="zh-CN" altLang="en-US" sz="1400" b="1" dirty="0">
                  <a:latin typeface="宋体" panose="02000500000000000000" pitchFamily="2" charset="-122"/>
                </a:rPr>
                <a:t>加速后的翻译</a:t>
              </a:r>
            </a:p>
          </p:txBody>
        </p:sp>
        <p:sp>
          <p:nvSpPr>
            <p:cNvPr id="119815" name="文本框 7"/>
            <p:cNvSpPr txBox="1"/>
            <p:nvPr/>
          </p:nvSpPr>
          <p:spPr>
            <a:xfrm>
              <a:off x="575568" y="5517233"/>
              <a:ext cx="8352928" cy="473795"/>
            </a:xfrm>
            <a:prstGeom prst="rect">
              <a:avLst/>
            </a:prstGeom>
            <a:noFill/>
            <a:ln w="9525" cap="flat" cmpd="sng">
              <a:solidFill>
                <a:srgbClr val="202020"/>
              </a:solidFill>
              <a:prstDash val="solid"/>
              <a:round/>
              <a:headEnd type="none" w="med" len="med"/>
              <a:tailEnd type="none" w="med" len="med"/>
            </a:ln>
          </p:spPr>
          <p:txBody>
            <a:bodyPr>
              <a:spAutoFit/>
            </a:bodyPr>
            <a:lstStyle/>
            <a:p>
              <a:pPr>
                <a:spcBef>
                  <a:spcPts val="100"/>
                </a:spcBef>
              </a:pPr>
              <a:r>
                <a:rPr lang="en-US" altLang="zh-CN" sz="1200" b="1" dirty="0">
                  <a:latin typeface="宋体" panose="02000500000000000000" pitchFamily="2" charset="-122"/>
                </a:rPr>
                <a:t> setmem &lt;guest mem id&gt;    #</a:t>
              </a:r>
              <a:r>
                <a:rPr lang="zh-CN" altLang="en-US" sz="1200" b="1" dirty="0">
                  <a:latin typeface="宋体" panose="02000500000000000000" pitchFamily="2" charset="-122"/>
                </a:rPr>
                <a:t>使用龙芯</a:t>
              </a:r>
              <a:r>
                <a:rPr lang="en-US" altLang="zh-CN" sz="1200" b="1" dirty="0">
                  <a:latin typeface="宋体" panose="02000500000000000000" pitchFamily="2" charset="-122"/>
                </a:rPr>
                <a:t>TLB</a:t>
              </a:r>
              <a:r>
                <a:rPr lang="zh-CN" altLang="en-US" sz="1200" b="1" dirty="0">
                  <a:latin typeface="宋体" panose="02000500000000000000" pitchFamily="2" charset="-122"/>
                </a:rPr>
                <a:t>扩展，给</a:t>
              </a:r>
              <a:r>
                <a:rPr lang="en-US" altLang="zh-CN" sz="1200" b="1" dirty="0">
                  <a:latin typeface="宋体" panose="02000500000000000000" pitchFamily="2" charset="-122"/>
                </a:rPr>
                <a:t>guest</a:t>
              </a:r>
              <a:r>
                <a:rPr lang="zh-CN" altLang="en-US" sz="1200" b="1" dirty="0">
                  <a:latin typeface="宋体" panose="02000500000000000000" pitchFamily="2" charset="-122"/>
                </a:rPr>
                <a:t>地址提供专门</a:t>
              </a:r>
              <a:r>
                <a:rPr lang="en-US" altLang="zh-CN" sz="1200" b="1" dirty="0">
                  <a:latin typeface="宋体" panose="02000500000000000000" pitchFamily="2" charset="-122"/>
                </a:rPr>
                <a:t>machine id</a:t>
              </a:r>
              <a:r>
                <a:rPr lang="zh-CN" altLang="en-US" sz="1200" b="1" dirty="0">
                  <a:latin typeface="宋体" panose="02000500000000000000" pitchFamily="2" charset="-122"/>
                </a:rPr>
                <a:t>空间，用前缀指令和普通访存区分</a:t>
              </a:r>
              <a:endParaRPr lang="en-US" altLang="zh-CN" sz="1200" b="1" dirty="0">
                <a:latin typeface="宋体" panose="02000500000000000000" pitchFamily="2" charset="-122"/>
              </a:endParaRPr>
            </a:p>
            <a:p>
              <a:pPr>
                <a:spcBef>
                  <a:spcPts val="100"/>
                </a:spcBef>
              </a:pPr>
              <a:r>
                <a:rPr lang="en-US" altLang="zh-CN" sz="1200" b="1" dirty="0">
                  <a:latin typeface="宋体" panose="02000500000000000000" pitchFamily="2" charset="-122"/>
                </a:rPr>
                <a:t> lw    0xc(S5), S2        #X86</a:t>
              </a:r>
              <a:r>
                <a:rPr lang="zh-CN" altLang="en-US" sz="1200" b="1" dirty="0">
                  <a:latin typeface="宋体" panose="02000500000000000000" pitchFamily="2" charset="-122"/>
                </a:rPr>
                <a:t>的</a:t>
              </a:r>
              <a:r>
                <a:rPr lang="en-US" altLang="zh-CN" sz="1200" b="1" dirty="0">
                  <a:latin typeface="宋体" panose="02000500000000000000" pitchFamily="2" charset="-122"/>
                </a:rPr>
                <a:t>ESI/EAX</a:t>
              </a:r>
              <a:r>
                <a:rPr lang="zh-CN" altLang="en-US" sz="1200" b="1" dirty="0">
                  <a:latin typeface="宋体" panose="02000500000000000000" pitchFamily="2" charset="-122"/>
                </a:rPr>
                <a:t>分别映射到</a:t>
              </a:r>
              <a:r>
                <a:rPr lang="en-US" altLang="zh-CN" sz="1200" b="1" dirty="0">
                  <a:latin typeface="宋体" panose="02000500000000000000" pitchFamily="2" charset="-122"/>
                </a:rPr>
                <a:t>S5/S2</a:t>
              </a:r>
              <a:r>
                <a:rPr lang="zh-CN" altLang="en-US" sz="1200" b="1" dirty="0">
                  <a:latin typeface="宋体" panose="02000500000000000000" pitchFamily="2" charset="-122"/>
                </a:rPr>
                <a:t>寄存器，若不命中，例外处理用软件</a:t>
              </a:r>
              <a:r>
                <a:rPr lang="en-US" altLang="zh-CN" sz="1200" b="1" dirty="0">
                  <a:latin typeface="宋体" panose="02000500000000000000" pitchFamily="2" charset="-122"/>
                </a:rPr>
                <a:t>TLB</a:t>
              </a:r>
              <a:r>
                <a:rPr lang="zh-CN" altLang="en-US" sz="1200" b="1" dirty="0">
                  <a:latin typeface="宋体" panose="02000500000000000000" pitchFamily="2" charset="-122"/>
                </a:rPr>
                <a:t>路径访问，更新</a:t>
              </a:r>
              <a:r>
                <a:rPr lang="en-US" altLang="zh-CN" sz="1200" b="1" dirty="0">
                  <a:latin typeface="宋体" panose="02000500000000000000" pitchFamily="2" charset="-122"/>
                </a:rPr>
                <a:t>TLB</a:t>
              </a:r>
              <a:endParaRPr lang="zh-CN" altLang="en-US" sz="1200" b="1" dirty="0">
                <a:latin typeface="宋体" panose="02000500000000000000" pitchFamily="2" charset="-122"/>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4"/>
          <p:cNvSpPr>
            <a:spLocks noGrp="1"/>
          </p:cNvSpPr>
          <p:nvPr>
            <p:ph idx="1"/>
          </p:nvPr>
        </p:nvSpPr>
        <p:spPr>
          <a:xfrm>
            <a:off x="641350" y="1341438"/>
            <a:ext cx="10852150" cy="4967288"/>
          </a:xfrm>
        </p:spPr>
        <p:txBody>
          <a:bodyPr vert="horz" wrap="square" lIns="90000" tIns="46800" rIns="90000" bIns="46800" numCol="1" anchor="t" anchorCtr="0" compatLnSpc="1"/>
          <a:lstStyle/>
          <a:p>
            <a:pPr marL="360680" marR="0" lvl="0" indent="-360680" algn="l" defTabSz="914400" rtl="0" eaLnBrk="0" fontAlgn="base" latinLnBrk="0" hangingPunct="0">
              <a:lnSpc>
                <a:spcPct val="150000"/>
              </a:lnSpc>
              <a:spcBef>
                <a:spcPts val="3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sym typeface="+mn-ea"/>
              </a:rPr>
              <a:t>夯实基础：</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sym typeface="+mn-ea"/>
              </a:rPr>
              <a:t>原生支持</a:t>
            </a:r>
            <a:r>
              <a:rPr kumimoji="0" lang="en-US" altLang="zh-CN" sz="2000" b="1" i="0" u="none" strike="noStrike" kern="0" cap="none" spc="0" normalizeH="0" baseline="0" noProof="0" dirty="0" smtClean="0">
                <a:ln>
                  <a:noFill/>
                </a:ln>
                <a:solidFill>
                  <a:schemeClr val="accent2"/>
                </a:solidFill>
                <a:effectLst/>
                <a:uLnTx/>
                <a:uFillTx/>
                <a:latin typeface="+mn-ea"/>
                <a:ea typeface="+mn-ea"/>
                <a:cs typeface="+mn-cs"/>
                <a:sym typeface="+mn-ea"/>
              </a:rPr>
              <a:t>Linux</a:t>
            </a:r>
            <a:r>
              <a:rPr kumimoji="0" lang="zh-CN" altLang="en-US" sz="2000" b="1" i="0" u="none" strike="noStrike" kern="0" cap="none" spc="0" normalizeH="0" baseline="0" noProof="0" dirty="0" smtClean="0">
                <a:ln>
                  <a:noFill/>
                </a:ln>
                <a:solidFill>
                  <a:schemeClr val="accent2"/>
                </a:solidFill>
                <a:effectLst/>
                <a:uLnTx/>
                <a:uFillTx/>
                <a:latin typeface="+mn-ea"/>
                <a:ea typeface="+mn-ea"/>
                <a:cs typeface="+mn-cs"/>
                <a:sym typeface="+mn-ea"/>
              </a:rPr>
              <a:t>平台</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sym typeface="+mn-ea"/>
              </a:rPr>
              <a:t>全部主流基础软件和应用环境</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sym typeface="+mn-ea"/>
              </a:rPr>
              <a:t>Linux</a:t>
            </a: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平台上，</a:t>
            </a:r>
            <a:r>
              <a:rPr kumimoji="0" lang="en-US" altLang="zh-CN" sz="1600" b="1" i="0" u="none" strike="noStrike" kern="0" cap="none" spc="0" normalizeH="0" baseline="0" noProof="0" dirty="0" smtClean="0">
                <a:ln>
                  <a:noFill/>
                </a:ln>
                <a:solidFill>
                  <a:schemeClr val="tx1"/>
                </a:solidFill>
                <a:effectLst/>
                <a:uLnTx/>
                <a:uFillTx/>
                <a:latin typeface="+mn-ea"/>
                <a:ea typeface="+mn-ea"/>
                <a:sym typeface="+mn-ea"/>
              </a:rPr>
              <a:t>X86</a:t>
            </a: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和</a:t>
            </a:r>
            <a:r>
              <a:rPr kumimoji="0" lang="en-US" altLang="zh-CN" sz="1600" b="1" i="0" u="none" strike="noStrike" kern="0" cap="none" spc="0" normalizeH="0" baseline="0" noProof="0" dirty="0" smtClean="0">
                <a:ln>
                  <a:noFill/>
                </a:ln>
                <a:solidFill>
                  <a:schemeClr val="tx1"/>
                </a:solidFill>
                <a:effectLst/>
                <a:uLnTx/>
                <a:uFillTx/>
                <a:latin typeface="+mn-ea"/>
                <a:ea typeface="+mn-ea"/>
                <a:sym typeface="+mn-ea"/>
              </a:rPr>
              <a:t>ARM</a:t>
            </a: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有的，</a:t>
            </a:r>
            <a:r>
              <a:rPr kumimoji="0" lang="en-US" altLang="zh-CN" sz="1600" b="1" i="0" u="none" strike="noStrike" kern="0" cap="none" spc="0" normalizeH="0" baseline="0" noProof="0" dirty="0" smtClean="0">
                <a:ln>
                  <a:noFill/>
                </a:ln>
                <a:solidFill>
                  <a:schemeClr val="tx1"/>
                </a:solidFill>
                <a:effectLst/>
                <a:uLnTx/>
                <a:uFillTx/>
                <a:latin typeface="+mn-ea"/>
                <a:ea typeface="+mn-ea"/>
                <a:sym typeface="+mn-ea"/>
              </a:rPr>
              <a:t>LA</a:t>
            </a: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也有</a:t>
            </a:r>
            <a:endParaRPr kumimoji="0" lang="en-US" altLang="zh-CN" sz="1600" b="1" i="0" u="none" strike="noStrike" kern="0" cap="none" spc="0" normalizeH="0" baseline="0" noProof="0" dirty="0" smtClean="0">
              <a:ln>
                <a:noFill/>
              </a:ln>
              <a:solidFill>
                <a:schemeClr val="tx1"/>
              </a:solidFill>
              <a:effectLst/>
              <a:uLnTx/>
              <a:uFillTx/>
              <a:latin typeface="+mn-ea"/>
              <a:ea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sym typeface="+mn-ea"/>
              </a:rPr>
              <a:t>实现</a:t>
            </a:r>
            <a:r>
              <a:rPr kumimoji="0" lang="zh-CN" altLang="en-US" sz="1600" b="1" i="0" u="none" strike="noStrike" kern="0" cap="none" spc="0" normalizeH="0" baseline="0" noProof="0" dirty="0" smtClean="0">
                <a:ln>
                  <a:noFill/>
                </a:ln>
                <a:solidFill>
                  <a:schemeClr val="accent2"/>
                </a:solidFill>
                <a:effectLst/>
                <a:uLnTx/>
                <a:uFillTx/>
                <a:latin typeface="+mn-ea"/>
                <a:ea typeface="+mn-ea"/>
                <a:sym typeface="+mn-ea"/>
              </a:rPr>
              <a:t>对不同版本和分支</a:t>
            </a:r>
            <a:r>
              <a:rPr kumimoji="0" lang="en-US" altLang="zh-CN" sz="1600" b="1" i="0" u="none" strike="noStrike" kern="0" cap="none" spc="0" normalizeH="0" baseline="0" noProof="0" dirty="0" smtClean="0">
                <a:ln>
                  <a:noFill/>
                </a:ln>
                <a:solidFill>
                  <a:schemeClr val="accent2"/>
                </a:solidFill>
                <a:effectLst/>
                <a:uLnTx/>
                <a:uFillTx/>
                <a:latin typeface="+mn-ea"/>
                <a:ea typeface="+mn-ea"/>
                <a:sym typeface="+mn-ea"/>
              </a:rPr>
              <a:t>Linux</a:t>
            </a:r>
            <a:r>
              <a:rPr kumimoji="0" lang="zh-CN" altLang="en-US" sz="1600" b="1" i="0" u="none" strike="noStrike" kern="0" cap="none" spc="0" normalizeH="0" baseline="0" noProof="0" dirty="0" smtClean="0">
                <a:ln>
                  <a:noFill/>
                </a:ln>
                <a:solidFill>
                  <a:schemeClr val="accent2"/>
                </a:solidFill>
                <a:effectLst/>
                <a:uLnTx/>
                <a:uFillTx/>
                <a:latin typeface="+mn-ea"/>
                <a:ea typeface="+mn-ea"/>
                <a:sym typeface="+mn-ea"/>
              </a:rPr>
              <a:t>的应用兼容</a:t>
            </a:r>
            <a:endParaRPr kumimoji="0" lang="en-US" altLang="zh-CN" sz="1600" b="1" i="0" u="none" strike="noStrike" kern="0" cap="none" spc="0" normalizeH="0" baseline="0" noProof="0" dirty="0" smtClean="0">
              <a:ln>
                <a:noFill/>
              </a:ln>
              <a:solidFill>
                <a:schemeClr val="accent2"/>
              </a:solidFill>
              <a:effectLst/>
              <a:uLnTx/>
              <a:uFillTx/>
              <a:latin typeface="+mn-ea"/>
              <a:ea typeface="+mn-ea"/>
              <a:sym typeface="+mn-ea"/>
            </a:endParaRPr>
          </a:p>
          <a:p>
            <a:pPr marL="360680" marR="0" lvl="0" indent="-360680" algn="l" defTabSz="914400" rtl="0" eaLnBrk="0" fontAlgn="base" latinLnBrk="0" hangingPunct="0">
              <a:lnSpc>
                <a:spcPct val="150000"/>
              </a:lnSpc>
              <a:spcBef>
                <a:spcPts val="3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sym typeface="+mn-ea"/>
              </a:rPr>
              <a:t>广泛兼容：</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sym typeface="+mn-ea"/>
              </a:rPr>
              <a:t>通过高效二进制翻译运行</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ea"/>
                <a:sym typeface="+mn-ea"/>
              </a:rPr>
              <a:t>X86</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ea"/>
                <a:sym typeface="+mn-ea"/>
              </a:rPr>
              <a:t>及</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ea"/>
                <a:sym typeface="+mn-ea"/>
              </a:rPr>
              <a:t>ARM</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ea"/>
                <a:sym typeface="+mn-ea"/>
              </a:rPr>
              <a:t>应用</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LA</a:t>
            </a: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平台上运行</a:t>
            </a:r>
            <a:r>
              <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rPr>
              <a:t>X86/Linux</a:t>
            </a: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应用</a:t>
            </a:r>
            <a:endPar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LA</a:t>
            </a: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平台上运行</a:t>
            </a:r>
            <a:r>
              <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rPr>
              <a:t>X86/Windows</a:t>
            </a: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应用</a:t>
            </a:r>
            <a:endPar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LA</a:t>
            </a: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平台上运行</a:t>
            </a:r>
            <a:r>
              <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rPr>
              <a:t>ARM/Android</a:t>
            </a: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应用</a:t>
            </a:r>
            <a:endPar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endParaRPr>
          </a:p>
          <a:p>
            <a:pPr marL="360680" marR="0" lvl="0" indent="-360680" algn="l" defTabSz="914400" rtl="0" eaLnBrk="0" fontAlgn="base" latinLnBrk="0" hangingPunct="0">
              <a:lnSpc>
                <a:spcPct val="150000"/>
              </a:lnSpc>
              <a:spcBef>
                <a:spcPts val="3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ea"/>
                <a:sym typeface="+mn-ea"/>
              </a:rPr>
              <a:t>自主应用：</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ea"/>
                <a:sym typeface="+mn-ea"/>
              </a:rPr>
              <a:t>发展自主应用生态</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推出自主编程框架，发展自主应用</a:t>
            </a:r>
            <a:endParaRPr kumimoji="0" lang="en-US" altLang="zh-CN" sz="1600" b="1" i="0" u="none" strike="noStrike" kern="0" cap="none" spc="0" normalizeH="0" baseline="0" noProof="0" dirty="0" smtClean="0">
              <a:ln>
                <a:noFill/>
              </a:ln>
              <a:solidFill>
                <a:schemeClr val="tx1"/>
              </a:solidFill>
              <a:effectLst/>
              <a:uLnTx/>
              <a:uFillTx/>
              <a:latin typeface="+mn-ea"/>
              <a:ea typeface="+mn-ea"/>
              <a:cs typeface="+mn-ea"/>
              <a:sym typeface="+mn-ea"/>
            </a:endParaRPr>
          </a:p>
          <a:p>
            <a:pPr marL="720725" marR="0" lvl="1" indent="-360680" algn="l" defTabSz="914400" rtl="0" eaLnBrk="0" fontAlgn="base" latinLnBrk="0" hangingPunct="0">
              <a:lnSpc>
                <a:spcPct val="150000"/>
              </a:lnSpc>
              <a:spcBef>
                <a:spcPts val="300"/>
              </a:spcBef>
              <a:spcAft>
                <a:spcPct val="0"/>
              </a:spcAft>
              <a:buClrTx/>
              <a:buSzTx/>
              <a:buFontTx/>
              <a:buChar char="•"/>
              <a:defRPr/>
            </a:pP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就像手机</a:t>
            </a:r>
            <a:r>
              <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rPr>
              <a:t>APP</a:t>
            </a: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有安卓版和苹果版，电脑</a:t>
            </a:r>
            <a:r>
              <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rPr>
              <a:t>APP</a:t>
            </a:r>
            <a:r>
              <a:rPr kumimoji="0" lang="zh-CN" altLang="en-US" sz="1600" b="1" i="0" u="none" strike="noStrike" kern="0" cap="none" spc="0" normalizeH="0" baseline="0" noProof="0" dirty="0" smtClean="0">
                <a:ln>
                  <a:noFill/>
                </a:ln>
                <a:solidFill>
                  <a:schemeClr val="accent2"/>
                </a:solidFill>
                <a:effectLst/>
                <a:uLnTx/>
                <a:uFillTx/>
                <a:latin typeface="+mn-ea"/>
                <a:ea typeface="+mn-ea"/>
                <a:cs typeface="+mn-ea"/>
                <a:sym typeface="+mn-ea"/>
              </a:rPr>
              <a:t>有微软版和龙芯版</a:t>
            </a:r>
            <a:endParaRPr kumimoji="0" lang="en-US" altLang="zh-CN" sz="1600" b="1" i="0" u="none" strike="noStrike" kern="0" cap="none" spc="0" normalizeH="0" baseline="0" noProof="0" dirty="0" smtClean="0">
              <a:ln>
                <a:noFill/>
              </a:ln>
              <a:solidFill>
                <a:schemeClr val="accent2"/>
              </a:solidFill>
              <a:effectLst/>
              <a:uLnTx/>
              <a:uFillTx/>
              <a:latin typeface="+mn-ea"/>
              <a:ea typeface="+mn-ea"/>
              <a:cs typeface="+mn-ea"/>
              <a:sym typeface="+mn-ea"/>
            </a:endParaRPr>
          </a:p>
        </p:txBody>
      </p:sp>
      <p:sp>
        <p:nvSpPr>
          <p:cNvPr id="121859" name="标题 1"/>
          <p:cNvSpPr>
            <a:spLocks noGrp="1"/>
          </p:cNvSpPr>
          <p:nvPr/>
        </p:nvSpPr>
        <p:spPr>
          <a:xfrm>
            <a:off x="17463" y="-28575"/>
            <a:ext cx="12120562" cy="1071563"/>
          </a:xfrm>
          <a:prstGeom prst="rect">
            <a:avLst/>
          </a:prstGeom>
          <a:noFill/>
          <a:ln w="9525">
            <a:noFill/>
          </a:ln>
        </p:spPr>
        <p:txBody>
          <a:bodyPr lIns="90000" tIns="46800" rIns="90000" bIns="46800" anchor="ctr" anchorCtr="0"/>
          <a:lstStyle/>
          <a:p>
            <a:pPr algn="ctr" eaLnBrk="0" hangingPunct="0"/>
            <a:r>
              <a:rPr lang="zh-CN" altLang="en-US" sz="4000" dirty="0">
                <a:solidFill>
                  <a:srgbClr val="FF0000"/>
                </a:solidFill>
                <a:latin typeface="黑体" panose="02000500000000000000" pitchFamily="49" charset="-122"/>
                <a:ea typeface="黑体" panose="02000500000000000000" pitchFamily="49" charset="-122"/>
                <a:sym typeface="+mn-ea"/>
              </a:rPr>
              <a:t>龙架构应用软件生态建设思路</a:t>
            </a:r>
            <a:endParaRPr lang="en-US" altLang="zh-CN" sz="4000" dirty="0">
              <a:solidFill>
                <a:srgbClr val="FF0000"/>
              </a:solidFill>
              <a:latin typeface="黑体" panose="02000500000000000000" pitchFamily="49" charset="-122"/>
              <a:ea typeface="黑体" panose="02000500000000000000" pitchFamily="49" charset="-122"/>
              <a:sym typeface="+mn-ea"/>
            </a:endParaRPr>
          </a:p>
        </p:txBody>
      </p:sp>
      <p:sp>
        <p:nvSpPr>
          <p:cNvPr id="121860" name="页脚占位符 6"/>
          <p:cNvSpPr txBox="1">
            <a:spLocks noGrp="1"/>
          </p:cNvSpPr>
          <p:nvPr>
            <p:ph type="ftr" sz="quarter" idx="11"/>
          </p:nvPr>
        </p:nvSpPr>
        <p:spPr>
          <a:xfrm>
            <a:off x="8180388" y="6356350"/>
            <a:ext cx="3862387" cy="365125"/>
          </a:xfrm>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eaLnBrk="1" hangingPunct="1"/>
            <a:r>
              <a:rPr lang="en-US" altLang="en-US" sz="1400" dirty="0"/>
              <a:t>龙芯中科内部资料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blinds(horizontal)">
                                      <p:cBhvr>
                                        <p:cTn id="7" dur="500"/>
                                        <p:tgtEl>
                                          <p:spTgt spid="3174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1746">
                                            <p:txEl>
                                              <p:pRg st="1" end="1"/>
                                            </p:txEl>
                                          </p:spTgt>
                                        </p:tgtEl>
                                        <p:attrNameLst>
                                          <p:attrName>style.visibility</p:attrName>
                                        </p:attrNameLst>
                                      </p:cBhvr>
                                      <p:to>
                                        <p:strVal val="visible"/>
                                      </p:to>
                                    </p:set>
                                    <p:animEffect transition="in" filter="blinds(horizontal)">
                                      <p:cBhvr>
                                        <p:cTn id="10" dur="500"/>
                                        <p:tgtEl>
                                          <p:spTgt spid="3174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1746">
                                            <p:txEl>
                                              <p:pRg st="2" end="2"/>
                                            </p:txEl>
                                          </p:spTgt>
                                        </p:tgtEl>
                                        <p:attrNameLst>
                                          <p:attrName>style.visibility</p:attrName>
                                        </p:attrNameLst>
                                      </p:cBhvr>
                                      <p:to>
                                        <p:strVal val="visible"/>
                                      </p:to>
                                    </p:set>
                                    <p:animEffect transition="in" filter="blinds(horizontal)">
                                      <p:cBhvr>
                                        <p:cTn id="13" dur="500"/>
                                        <p:tgtEl>
                                          <p:spTgt spid="3174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1746">
                                            <p:txEl>
                                              <p:pRg st="3" end="3"/>
                                            </p:txEl>
                                          </p:spTgt>
                                        </p:tgtEl>
                                        <p:attrNameLst>
                                          <p:attrName>style.visibility</p:attrName>
                                        </p:attrNameLst>
                                      </p:cBhvr>
                                      <p:to>
                                        <p:strVal val="visible"/>
                                      </p:to>
                                    </p:set>
                                    <p:animEffect transition="in" filter="blinds(horizontal)">
                                      <p:cBhvr>
                                        <p:cTn id="18" dur="500"/>
                                        <p:tgtEl>
                                          <p:spTgt spid="31746">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1746">
                                            <p:txEl>
                                              <p:pRg st="4" end="4"/>
                                            </p:txEl>
                                          </p:spTgt>
                                        </p:tgtEl>
                                        <p:attrNameLst>
                                          <p:attrName>style.visibility</p:attrName>
                                        </p:attrNameLst>
                                      </p:cBhvr>
                                      <p:to>
                                        <p:strVal val="visible"/>
                                      </p:to>
                                    </p:set>
                                    <p:animEffect transition="in" filter="blinds(horizontal)">
                                      <p:cBhvr>
                                        <p:cTn id="21" dur="500"/>
                                        <p:tgtEl>
                                          <p:spTgt spid="31746">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1746">
                                            <p:txEl>
                                              <p:pRg st="5" end="5"/>
                                            </p:txEl>
                                          </p:spTgt>
                                        </p:tgtEl>
                                        <p:attrNameLst>
                                          <p:attrName>style.visibility</p:attrName>
                                        </p:attrNameLst>
                                      </p:cBhvr>
                                      <p:to>
                                        <p:strVal val="visible"/>
                                      </p:to>
                                    </p:set>
                                    <p:animEffect transition="in" filter="blinds(horizontal)">
                                      <p:cBhvr>
                                        <p:cTn id="24" dur="500"/>
                                        <p:tgtEl>
                                          <p:spTgt spid="31746">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1746">
                                            <p:txEl>
                                              <p:pRg st="6" end="6"/>
                                            </p:txEl>
                                          </p:spTgt>
                                        </p:tgtEl>
                                        <p:attrNameLst>
                                          <p:attrName>style.visibility</p:attrName>
                                        </p:attrNameLst>
                                      </p:cBhvr>
                                      <p:to>
                                        <p:strVal val="visible"/>
                                      </p:to>
                                    </p:set>
                                    <p:animEffect transition="in" filter="blinds(horizontal)">
                                      <p:cBhvr>
                                        <p:cTn id="27" dur="500"/>
                                        <p:tgtEl>
                                          <p:spTgt spid="3174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746">
                                            <p:txEl>
                                              <p:pRg st="7" end="7"/>
                                            </p:txEl>
                                          </p:spTgt>
                                        </p:tgtEl>
                                        <p:attrNameLst>
                                          <p:attrName>style.visibility</p:attrName>
                                        </p:attrNameLst>
                                      </p:cBhvr>
                                      <p:to>
                                        <p:strVal val="visible"/>
                                      </p:to>
                                    </p:set>
                                    <p:animEffect transition="in" filter="blinds(horizontal)">
                                      <p:cBhvr>
                                        <p:cTn id="32" dur="500"/>
                                        <p:tgtEl>
                                          <p:spTgt spid="31746">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1746">
                                            <p:txEl>
                                              <p:pRg st="8" end="8"/>
                                            </p:txEl>
                                          </p:spTgt>
                                        </p:tgtEl>
                                        <p:attrNameLst>
                                          <p:attrName>style.visibility</p:attrName>
                                        </p:attrNameLst>
                                      </p:cBhvr>
                                      <p:to>
                                        <p:strVal val="visible"/>
                                      </p:to>
                                    </p:set>
                                    <p:animEffect transition="in" filter="blinds(horizontal)">
                                      <p:cBhvr>
                                        <p:cTn id="35" dur="500"/>
                                        <p:tgtEl>
                                          <p:spTgt spid="31746">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1746">
                                            <p:txEl>
                                              <p:pRg st="9" end="9"/>
                                            </p:txEl>
                                          </p:spTgt>
                                        </p:tgtEl>
                                        <p:attrNameLst>
                                          <p:attrName>style.visibility</p:attrName>
                                        </p:attrNameLst>
                                      </p:cBhvr>
                                      <p:to>
                                        <p:strVal val="visible"/>
                                      </p:to>
                                    </p:set>
                                    <p:animEffect transition="in" filter="blinds(horizontal)">
                                      <p:cBhvr>
                                        <p:cTn id="38" dur="500"/>
                                        <p:tgtEl>
                                          <p:spTgt spid="3174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P spid="31746" grpI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586740" y="1073785"/>
            <a:ext cx="9464675" cy="3370580"/>
          </a:xfrm>
        </p:spPr>
        <p:txBody>
          <a:bodyPr vert="horz" wrap="square" lIns="90000" tIns="46800" rIns="90000" bIns="46800" numCol="1" anchor="t" anchorCtr="0" compatLnSpc="1"/>
          <a:lstStyle/>
          <a:p>
            <a:pPr marL="285750" marR="0" lvl="0" algn="l" defTabSz="449580" rtl="0" eaLnBrk="0" fontAlgn="base" latinLnBrk="0" hangingPunct="0">
              <a:lnSpc>
                <a:spcPct val="150000"/>
              </a:lnSpc>
              <a:spcBef>
                <a:spcPts val="500"/>
              </a:spcBef>
              <a:buClrTx/>
              <a:buSzTx/>
              <a:buFont typeface="Arial" panose="02080604020202020204" pitchFamily="34" charset="0"/>
              <a:buChar char="•"/>
              <a:defRPr/>
            </a:pPr>
            <a:r>
              <a:rPr lang="zh-CN" altLang="zh-CN" sz="1800" dirty="0">
                <a:solidFill>
                  <a:schemeClr val="tx1"/>
                </a:solidFill>
                <a:latin typeface="+mn-ea"/>
                <a:sym typeface="+mn-ea"/>
              </a:rPr>
              <a:t>得到</a:t>
            </a:r>
            <a:r>
              <a:rPr lang="zh-CN" altLang="en-US" sz="1800" dirty="0">
                <a:solidFill>
                  <a:srgbClr val="FF0000"/>
                </a:solidFill>
                <a:latin typeface="+mn-ea"/>
                <a:sym typeface="+mn-ea"/>
              </a:rPr>
              <a:t>上游</a:t>
            </a:r>
            <a:r>
              <a:rPr lang="zh-CN" altLang="zh-CN" sz="1800" dirty="0">
                <a:solidFill>
                  <a:srgbClr val="FF0000"/>
                </a:solidFill>
                <a:latin typeface="+mn-ea"/>
                <a:sym typeface="+mn-ea"/>
              </a:rPr>
              <a:t>开源软件</a:t>
            </a:r>
            <a:r>
              <a:rPr lang="zh-CN" altLang="en-US" sz="1800" dirty="0">
                <a:solidFill>
                  <a:srgbClr val="FF0000"/>
                </a:solidFill>
                <a:latin typeface="+mn-ea"/>
                <a:sym typeface="+mn-ea"/>
              </a:rPr>
              <a:t>社区</a:t>
            </a:r>
            <a:r>
              <a:rPr lang="zh-CN" altLang="zh-CN" sz="1800" dirty="0">
                <a:solidFill>
                  <a:schemeClr val="tx1"/>
                </a:solidFill>
                <a:latin typeface="+mn-ea"/>
                <a:sym typeface="+mn-ea"/>
              </a:rPr>
              <a:t>认可与支持</a:t>
            </a:r>
          </a:p>
          <a:p>
            <a:pPr marL="742950" marR="0" lvl="1" algn="l" defTabSz="449580" rtl="0" eaLnBrk="0" fontAlgn="base" latinLnBrk="0" hangingPunct="0">
              <a:lnSpc>
                <a:spcPct val="150000"/>
              </a:lnSpc>
              <a:spcBef>
                <a:spcPts val="500"/>
              </a:spcBef>
              <a:buClrTx/>
              <a:buSzTx/>
              <a:buFont typeface="Arial" panose="02080604020202020204" pitchFamily="34" charset="0"/>
              <a:buChar char="•"/>
              <a:defRPr/>
            </a:pPr>
            <a:r>
              <a:rPr lang="zh-CN" altLang="en-US" sz="1400" dirty="0">
                <a:solidFill>
                  <a:srgbClr val="FF0000"/>
                </a:solidFill>
                <a:latin typeface="+mn-ea"/>
                <a:sym typeface="+mn-ea"/>
              </a:rPr>
              <a:t>可以基于</a:t>
            </a:r>
            <a:r>
              <a:rPr lang="en-US" altLang="zh-CN" sz="1400" dirty="0">
                <a:solidFill>
                  <a:srgbClr val="FF0000"/>
                </a:solidFill>
                <a:latin typeface="+mn-ea"/>
                <a:sym typeface="+mn-ea"/>
              </a:rPr>
              <a:t>LA</a:t>
            </a:r>
            <a:r>
              <a:rPr lang="zh-CN" altLang="en-US" sz="1400" dirty="0">
                <a:solidFill>
                  <a:srgbClr val="FF0000"/>
                </a:solidFill>
                <a:latin typeface="+mn-ea"/>
                <a:sym typeface="+mn-ea"/>
              </a:rPr>
              <a:t>架构的国际开源软件直接构建出完整的操作系统（里程碑</a:t>
            </a:r>
            <a:r>
              <a:rPr lang="en-US" altLang="zh-CN" sz="1400" dirty="0">
                <a:solidFill>
                  <a:srgbClr val="FF0000"/>
                </a:solidFill>
                <a:latin typeface="+mn-ea"/>
                <a:sym typeface="+mn-ea"/>
              </a:rPr>
              <a:t>3</a:t>
            </a:r>
            <a:r>
              <a:rPr lang="zh-CN" altLang="en-US" sz="1400" dirty="0">
                <a:solidFill>
                  <a:srgbClr val="FF0000"/>
                </a:solidFill>
                <a:latin typeface="+mn-ea"/>
                <a:sym typeface="+mn-ea"/>
              </a:rPr>
              <a:t>）</a:t>
            </a:r>
            <a:endParaRPr lang="en-US" altLang="zh-CN" sz="1400" dirty="0">
              <a:solidFill>
                <a:srgbClr val="FF0000"/>
              </a:solidFill>
              <a:latin typeface="+mn-ea"/>
              <a:sym typeface="+mn-ea"/>
            </a:endParaRPr>
          </a:p>
          <a:p>
            <a:pPr marL="285750" marR="0" lvl="0" algn="l" defTabSz="449580" rtl="0" eaLnBrk="0" fontAlgn="base" latinLnBrk="0" hangingPunct="0">
              <a:lnSpc>
                <a:spcPct val="150000"/>
              </a:lnSpc>
              <a:spcBef>
                <a:spcPts val="500"/>
              </a:spcBef>
              <a:buClrTx/>
              <a:buSzTx/>
              <a:buFont typeface="Arial" panose="02080604020202020204" pitchFamily="34" charset="0"/>
              <a:buChar char="•"/>
              <a:defRPr/>
            </a:pPr>
            <a:r>
              <a:rPr lang="zh-CN" altLang="en-US" sz="1800" dirty="0" smtClean="0">
                <a:latin typeface="+mn-ea"/>
                <a:sym typeface="+mn-ea"/>
              </a:rPr>
              <a:t>得到</a:t>
            </a:r>
            <a:r>
              <a:rPr lang="zh-CN" altLang="en-US" sz="1800" dirty="0" smtClean="0">
                <a:solidFill>
                  <a:srgbClr val="FF0000"/>
                </a:solidFill>
                <a:latin typeface="+mn-ea"/>
                <a:sym typeface="+mn-ea"/>
              </a:rPr>
              <a:t>基础</a:t>
            </a:r>
            <a:r>
              <a:rPr lang="zh-CN" altLang="en-US" sz="1800" dirty="0">
                <a:solidFill>
                  <a:srgbClr val="FF0000"/>
                </a:solidFill>
                <a:latin typeface="+mn-ea"/>
                <a:sym typeface="+mn-ea"/>
              </a:rPr>
              <a:t>软件企业（操作系统、基础应用）</a:t>
            </a:r>
            <a:r>
              <a:rPr lang="zh-CN" altLang="en-US" sz="1800" dirty="0">
                <a:latin typeface="+mn-ea"/>
                <a:sym typeface="+mn-ea"/>
              </a:rPr>
              <a:t>的认可和支持</a:t>
            </a:r>
          </a:p>
          <a:p>
            <a:pPr lvl="1">
              <a:spcBef>
                <a:spcPts val="500"/>
              </a:spcBef>
              <a:buSzTx/>
              <a:buFont typeface="Arial" panose="02080604020202020204" pitchFamily="34" charset="0"/>
              <a:buChar char="•"/>
              <a:defRPr/>
            </a:pPr>
            <a:r>
              <a:rPr lang="zh-CN" altLang="zh-CN" sz="1400" dirty="0">
                <a:solidFill>
                  <a:schemeClr val="accent2"/>
                </a:solidFill>
                <a:latin typeface="+mn-ea"/>
                <a:sym typeface="+mn-ea"/>
              </a:rPr>
              <a:t>统信、麒麟</a:t>
            </a:r>
            <a:r>
              <a:rPr lang="zh-CN" altLang="en-US" sz="1400" dirty="0">
                <a:solidFill>
                  <a:schemeClr val="tx1"/>
                </a:solidFill>
                <a:latin typeface="+mn-ea"/>
                <a:sym typeface="+mn-ea"/>
              </a:rPr>
              <a:t>、</a:t>
            </a:r>
            <a:r>
              <a:rPr lang="zh-CN" altLang="zh-CN" sz="1400" dirty="0">
                <a:solidFill>
                  <a:schemeClr val="accent2"/>
                </a:solidFill>
                <a:latin typeface="+mn-ea"/>
                <a:sym typeface="+mn-ea"/>
              </a:rPr>
              <a:t>欧拉、龙蜥、开源鸿蒙；</a:t>
            </a:r>
            <a:r>
              <a:rPr lang="en-US" altLang="zh-CN" sz="1400" dirty="0">
                <a:solidFill>
                  <a:schemeClr val="accent2"/>
                </a:solidFill>
                <a:latin typeface="+mn-ea"/>
                <a:sym typeface="+mn-ea"/>
              </a:rPr>
              <a:t>WPS</a:t>
            </a:r>
            <a:r>
              <a:rPr lang="zh-CN" altLang="en-US" sz="1400" dirty="0">
                <a:solidFill>
                  <a:schemeClr val="accent2"/>
                </a:solidFill>
                <a:latin typeface="+mn-ea"/>
                <a:sym typeface="+mn-ea"/>
              </a:rPr>
              <a:t>、微信、</a:t>
            </a:r>
            <a:r>
              <a:rPr lang="en-US" altLang="zh-CN" sz="1400" dirty="0">
                <a:solidFill>
                  <a:schemeClr val="accent2"/>
                </a:solidFill>
                <a:latin typeface="+mn-ea"/>
                <a:sym typeface="+mn-ea"/>
              </a:rPr>
              <a:t>QQ</a:t>
            </a:r>
            <a:r>
              <a:rPr lang="zh-CN" altLang="en-US" sz="1400" dirty="0">
                <a:solidFill>
                  <a:schemeClr val="accent2"/>
                </a:solidFill>
                <a:latin typeface="+mn-ea"/>
                <a:sym typeface="+mn-ea"/>
              </a:rPr>
              <a:t>、钉钉、腾讯会议、</a:t>
            </a:r>
            <a:r>
              <a:rPr lang="en-US" altLang="zh-CN" sz="1400" dirty="0" err="1">
                <a:solidFill>
                  <a:schemeClr val="accent2"/>
                </a:solidFill>
                <a:latin typeface="+mn-ea"/>
                <a:sym typeface="+mn-ea"/>
              </a:rPr>
              <a:t>Codesys</a:t>
            </a:r>
            <a:endParaRPr lang="zh-CN" altLang="zh-CN" sz="1400" dirty="0">
              <a:latin typeface="+mn-ea"/>
              <a:sym typeface="+mn-ea"/>
            </a:endParaRPr>
          </a:p>
          <a:p>
            <a:pPr indent="-360045" eaLnBrk="1">
              <a:defRPr/>
            </a:pPr>
            <a:r>
              <a:rPr lang="zh-CN" altLang="en-US" sz="1800" dirty="0">
                <a:solidFill>
                  <a:schemeClr val="tx1"/>
                </a:solidFill>
                <a:latin typeface="+mn-ea"/>
              </a:rPr>
              <a:t>研发统一系统架构，</a:t>
            </a:r>
            <a:r>
              <a:rPr lang="zh-CN" altLang="en-US" sz="1800" noProof="1">
                <a:solidFill>
                  <a:srgbClr val="FF0000"/>
                </a:solidFill>
              </a:rPr>
              <a:t>实现操作系统跨主板整机兼容和</a:t>
            </a:r>
            <a:r>
              <a:rPr lang="en-US" altLang="zh-CN" sz="1800" noProof="1">
                <a:solidFill>
                  <a:srgbClr val="FF0000"/>
                </a:solidFill>
              </a:rPr>
              <a:t>CPU</a:t>
            </a:r>
            <a:r>
              <a:rPr lang="zh-CN" altLang="en-US" sz="1800" noProof="1">
                <a:solidFill>
                  <a:srgbClr val="FF0000"/>
                </a:solidFill>
              </a:rPr>
              <a:t>代际兼容</a:t>
            </a:r>
            <a:endParaRPr lang="en-US" altLang="zh-CN" sz="1800" noProof="1">
              <a:solidFill>
                <a:srgbClr val="FF0000"/>
              </a:solidFill>
            </a:endParaRPr>
          </a:p>
          <a:p>
            <a:pPr lvl="1" indent="-360045" eaLnBrk="1">
              <a:defRPr/>
            </a:pPr>
            <a:r>
              <a:rPr lang="zh-CN" altLang="en-US" sz="1400" noProof="1">
                <a:solidFill>
                  <a:schemeClr val="tx1"/>
                </a:solidFill>
              </a:rPr>
              <a:t>“任意一套龙芯操作系统可以在不同厂商、不同时期的龙芯整机上安装”</a:t>
            </a:r>
            <a:endParaRPr lang="en-US" altLang="zh-CN" sz="1400" noProof="1">
              <a:solidFill>
                <a:schemeClr val="tx1"/>
              </a:solidFill>
            </a:endParaRPr>
          </a:p>
          <a:p>
            <a:pPr lvl="1" indent="-360045" eaLnBrk="1">
              <a:defRPr/>
            </a:pPr>
            <a:r>
              <a:rPr lang="zh-CN" altLang="en-US" sz="1400" noProof="1">
                <a:solidFill>
                  <a:schemeClr val="accent2"/>
                </a:solidFill>
              </a:rPr>
              <a:t>龙芯标准规范体系：</a:t>
            </a:r>
            <a:r>
              <a:rPr lang="zh-CN" altLang="en-US" sz="1400" noProof="1">
                <a:solidFill>
                  <a:schemeClr val="tx1"/>
                </a:solidFill>
              </a:rPr>
              <a:t>涉及指令、固件、整机、内核、其他（</a:t>
            </a:r>
            <a:r>
              <a:rPr lang="en-US" altLang="zh-CN" sz="1400" noProof="1">
                <a:solidFill>
                  <a:schemeClr val="tx1"/>
                </a:solidFill>
              </a:rPr>
              <a:t>PXE</a:t>
            </a:r>
            <a:r>
              <a:rPr lang="zh-CN" altLang="en-US" sz="1400" noProof="1">
                <a:solidFill>
                  <a:schemeClr val="tx1"/>
                </a:solidFill>
              </a:rPr>
              <a:t>、</a:t>
            </a:r>
            <a:r>
              <a:rPr lang="en-US" altLang="zh-CN" sz="1400" noProof="1">
                <a:solidFill>
                  <a:schemeClr val="tx1"/>
                </a:solidFill>
              </a:rPr>
              <a:t>VBIOS</a:t>
            </a:r>
            <a:r>
              <a:rPr lang="zh-CN" altLang="en-US" sz="1400" noProof="1">
                <a:solidFill>
                  <a:schemeClr val="tx1"/>
                </a:solidFill>
              </a:rPr>
              <a:t>）</a:t>
            </a:r>
            <a:endParaRPr lang="en-US" altLang="zh-CN" sz="1400" noProof="1">
              <a:solidFill>
                <a:schemeClr val="tx1"/>
              </a:solidFill>
            </a:endParaRPr>
          </a:p>
        </p:txBody>
      </p:sp>
      <p:pic>
        <p:nvPicPr>
          <p:cNvPr id="6" name="Picture 3"/>
          <p:cNvPicPr>
            <a:picLocks noChangeAspect="1" noChangeArrowheads="1"/>
          </p:cNvPicPr>
          <p:nvPr/>
        </p:nvPicPr>
        <p:blipFill>
          <a:blip r:embed="rId2" cstate="print"/>
          <a:srcRect/>
          <a:stretch>
            <a:fillRect/>
          </a:stretch>
        </p:blipFill>
        <p:spPr bwMode="auto">
          <a:xfrm>
            <a:off x="801521" y="4444365"/>
            <a:ext cx="7416470" cy="2115820"/>
          </a:xfrm>
          <a:prstGeom prst="rect">
            <a:avLst/>
          </a:prstGeom>
          <a:noFill/>
          <a:ln w="9525">
            <a:noFill/>
            <a:miter lim="800000"/>
            <a:headEnd/>
            <a:tailEnd/>
          </a:ln>
        </p:spPr>
      </p:pic>
      <p:grpSp>
        <p:nvGrpSpPr>
          <p:cNvPr id="2" name="组合 1"/>
          <p:cNvGrpSpPr/>
          <p:nvPr/>
        </p:nvGrpSpPr>
        <p:grpSpPr>
          <a:xfrm>
            <a:off x="7739456" y="4335588"/>
            <a:ext cx="3849953" cy="1793858"/>
            <a:chOff x="6948276" y="4335588"/>
            <a:chExt cx="3456384" cy="1793858"/>
          </a:xfrm>
        </p:grpSpPr>
        <p:grpSp>
          <p:nvGrpSpPr>
            <p:cNvPr id="3" name="组合 14"/>
            <p:cNvGrpSpPr/>
            <p:nvPr/>
          </p:nvGrpSpPr>
          <p:grpSpPr>
            <a:xfrm>
              <a:off x="6948276" y="4335588"/>
              <a:ext cx="3456384" cy="1793858"/>
              <a:chOff x="6948276" y="4335588"/>
              <a:chExt cx="3456384" cy="1793858"/>
            </a:xfrm>
          </p:grpSpPr>
          <p:grpSp>
            <p:nvGrpSpPr>
              <p:cNvPr id="4" name="组合 13"/>
              <p:cNvGrpSpPr/>
              <p:nvPr/>
            </p:nvGrpSpPr>
            <p:grpSpPr>
              <a:xfrm>
                <a:off x="7812372" y="4335588"/>
                <a:ext cx="2592288" cy="1793858"/>
                <a:chOff x="7812372" y="4335588"/>
                <a:chExt cx="2592288" cy="1793858"/>
              </a:xfrm>
            </p:grpSpPr>
            <p:pic>
              <p:nvPicPr>
                <p:cNvPr id="8" name="Picture 4"/>
                <p:cNvPicPr>
                  <a:picLocks noChangeAspect="1" noChangeArrowheads="1"/>
                </p:cNvPicPr>
                <p:nvPr/>
              </p:nvPicPr>
              <p:blipFill>
                <a:blip r:embed="rId3" cstate="print"/>
                <a:srcRect/>
                <a:stretch>
                  <a:fillRect/>
                </a:stretch>
              </p:blipFill>
              <p:spPr bwMode="auto">
                <a:xfrm>
                  <a:off x="7812372" y="4335588"/>
                  <a:ext cx="2592288" cy="1453207"/>
                </a:xfrm>
                <a:prstGeom prst="rect">
                  <a:avLst/>
                </a:prstGeom>
                <a:noFill/>
                <a:ln w="9525">
                  <a:noFill/>
                  <a:miter lim="800000"/>
                  <a:headEnd/>
                  <a:tailEnd/>
                </a:ln>
              </p:spPr>
            </p:pic>
            <p:cxnSp>
              <p:nvCxnSpPr>
                <p:cNvPr id="9" name="直接连接符 8"/>
                <p:cNvCxnSpPr/>
                <p:nvPr/>
              </p:nvCxnSpPr>
              <p:spPr bwMode="auto">
                <a:xfrm flipV="1">
                  <a:off x="9864600" y="5769260"/>
                  <a:ext cx="0" cy="360186"/>
                </a:xfrm>
                <a:prstGeom prst="line">
                  <a:avLst/>
                </a:prstGeom>
                <a:solidFill>
                  <a:srgbClr val="00B8FF"/>
                </a:solidFill>
                <a:ln w="25400" cap="flat" cmpd="sng" algn="ctr">
                  <a:solidFill>
                    <a:schemeClr val="accent2"/>
                  </a:solidFill>
                  <a:prstDash val="solid"/>
                  <a:round/>
                  <a:headEnd type="none" w="med" len="med"/>
                  <a:tailEnd type="none" w="med" len="med"/>
                </a:ln>
              </p:spPr>
            </p:cxnSp>
          </p:grpSp>
          <p:cxnSp>
            <p:nvCxnSpPr>
              <p:cNvPr id="10" name="直接连接符 9"/>
              <p:cNvCxnSpPr/>
              <p:nvPr/>
            </p:nvCxnSpPr>
            <p:spPr bwMode="auto">
              <a:xfrm>
                <a:off x="6948276" y="4444365"/>
                <a:ext cx="720080" cy="0"/>
              </a:xfrm>
              <a:prstGeom prst="line">
                <a:avLst/>
              </a:prstGeom>
              <a:solidFill>
                <a:srgbClr val="00B8FF"/>
              </a:solidFill>
              <a:ln w="25400" cap="flat" cmpd="sng" algn="ctr">
                <a:solidFill>
                  <a:schemeClr val="accent2"/>
                </a:solidFill>
                <a:prstDash val="solid"/>
                <a:round/>
                <a:headEnd type="none" w="med" len="med"/>
                <a:tailEnd type="none" w="med" len="med"/>
              </a:ln>
            </p:spPr>
          </p:cxnSp>
          <p:cxnSp>
            <p:nvCxnSpPr>
              <p:cNvPr id="11" name="直接连接符 10"/>
              <p:cNvCxnSpPr/>
              <p:nvPr/>
            </p:nvCxnSpPr>
            <p:spPr bwMode="auto">
              <a:xfrm>
                <a:off x="7668356" y="4437112"/>
                <a:ext cx="0" cy="1692188"/>
              </a:xfrm>
              <a:prstGeom prst="line">
                <a:avLst/>
              </a:prstGeom>
              <a:solidFill>
                <a:srgbClr val="00B8FF"/>
              </a:solidFill>
              <a:ln w="25400" cap="flat" cmpd="sng" algn="ctr">
                <a:solidFill>
                  <a:schemeClr val="accent2"/>
                </a:solidFill>
                <a:prstDash val="solid"/>
                <a:round/>
                <a:headEnd type="none" w="med" len="med"/>
                <a:tailEnd type="none" w="med" len="med"/>
              </a:ln>
            </p:spPr>
          </p:cxnSp>
        </p:grpSp>
        <p:cxnSp>
          <p:nvCxnSpPr>
            <p:cNvPr id="13" name="直接连接符 12"/>
            <p:cNvCxnSpPr/>
            <p:nvPr/>
          </p:nvCxnSpPr>
          <p:spPr bwMode="auto">
            <a:xfrm>
              <a:off x="7668356" y="6129300"/>
              <a:ext cx="2196244" cy="0"/>
            </a:xfrm>
            <a:prstGeom prst="line">
              <a:avLst/>
            </a:prstGeom>
            <a:solidFill>
              <a:srgbClr val="00B8FF"/>
            </a:solidFill>
            <a:ln w="25400" cap="flat" cmpd="sng" algn="ctr">
              <a:solidFill>
                <a:schemeClr val="accent2"/>
              </a:solidFill>
              <a:prstDash val="solid"/>
              <a:round/>
              <a:headEnd type="none" w="med" len="med"/>
              <a:tailEnd type="none" w="med" len="med"/>
            </a:ln>
          </p:spPr>
        </p:cxnSp>
      </p:grpSp>
      <p:sp>
        <p:nvSpPr>
          <p:cNvPr id="122882" name="标题 1"/>
          <p:cNvSpPr>
            <a:spLocks noGrp="1"/>
          </p:cNvSpPr>
          <p:nvPr>
            <p:ph type="title"/>
          </p:nvPr>
        </p:nvSpPr>
        <p:spPr>
          <a:xfrm>
            <a:off x="801688" y="53975"/>
            <a:ext cx="10361612" cy="1143000"/>
          </a:xfrm>
        </p:spPr>
        <p:txBody>
          <a:bodyPr vert="horz" wrap="square" lIns="90000" tIns="46800" rIns="90000" bIns="46800" anchor="ctr" anchorCtr="0"/>
          <a:lstStyle/>
          <a:p>
            <a:r>
              <a:rPr lang="zh-CN" altLang="en-US" sz="3200" dirty="0">
                <a:latin typeface="宋体" panose="02000500000000000000" pitchFamily="2" charset="-122"/>
              </a:rPr>
              <a:t>（一）夯实基础：完成</a:t>
            </a:r>
            <a:r>
              <a:rPr lang="en-US" altLang="zh-CN" sz="3200" dirty="0">
                <a:latin typeface="黑体" panose="02000500000000000000" pitchFamily="49" charset="-122"/>
                <a:ea typeface="黑体" panose="02000500000000000000" pitchFamily="49" charset="-122"/>
              </a:rPr>
              <a:t>Linux</a:t>
            </a:r>
            <a:r>
              <a:rPr lang="zh-CN" altLang="en-US" sz="3200" dirty="0">
                <a:latin typeface="宋体" panose="02000500000000000000" pitchFamily="2" charset="-122"/>
              </a:rPr>
              <a:t>基础软件体系建设</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anim calcmode="lin" valueType="num">
                                      <p:cBhvr additive="base">
                                        <p:cTn id="11"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 calcmode="lin" valueType="num">
                                      <p:cBhvr additive="base">
                                        <p:cTn id="17"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315">
                                            <p:txEl>
                                              <p:pRg st="3" end="3"/>
                                            </p:txEl>
                                          </p:spTgt>
                                        </p:tgtEl>
                                        <p:attrNameLst>
                                          <p:attrName>style.visibility</p:attrName>
                                        </p:attrNameLst>
                                      </p:cBhvr>
                                      <p:to>
                                        <p:strVal val="visible"/>
                                      </p:to>
                                    </p:set>
                                    <p:anim calcmode="lin" valueType="num">
                                      <p:cBhvr additive="base">
                                        <p:cTn id="21"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315">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4"/>
          <p:cNvSpPr>
            <a:spLocks noGrp="1"/>
          </p:cNvSpPr>
          <p:nvPr>
            <p:ph idx="1"/>
          </p:nvPr>
        </p:nvSpPr>
        <p:spPr>
          <a:xfrm>
            <a:off x="400802" y="944724"/>
            <a:ext cx="11469651" cy="3384376"/>
          </a:xfrm>
        </p:spPr>
        <p:txBody>
          <a:bodyPr vert="horz" wrap="square" lIns="90000" tIns="46800" rIns="90000" bIns="46800" anchor="t" anchorCtr="0"/>
          <a:lstStyle/>
          <a:p>
            <a:pPr latinLnBrk="0">
              <a:spcBef>
                <a:spcPts val="300"/>
              </a:spcBef>
              <a:buSzTx/>
              <a:defRPr/>
            </a:pPr>
            <a:r>
              <a:rPr lang="en-US" altLang="zh-CN" sz="1800" dirty="0" smtClean="0">
                <a:solidFill>
                  <a:schemeClr val="tx1"/>
                </a:solidFill>
                <a:cs typeface="国标宋体" panose="02000500000000000000" charset="-122"/>
              </a:rPr>
              <a:t>LA/Linux</a:t>
            </a:r>
            <a:r>
              <a:rPr lang="zh-CN" altLang="en-US" sz="1800" dirty="0" smtClean="0">
                <a:solidFill>
                  <a:schemeClr val="tx1"/>
                </a:solidFill>
                <a:cs typeface="国标宋体" panose="02000500000000000000" charset="-122"/>
              </a:rPr>
              <a:t>运行</a:t>
            </a:r>
            <a:r>
              <a:rPr lang="en-US" altLang="zh-CN" sz="1800" dirty="0" smtClean="0">
                <a:solidFill>
                  <a:srgbClr val="FF0000"/>
                </a:solidFill>
                <a:cs typeface="国标宋体" panose="02000500000000000000" charset="-122"/>
              </a:rPr>
              <a:t>X86/</a:t>
            </a:r>
            <a:r>
              <a:rPr lang="en-US" altLang="zh-CN" sz="1800" dirty="0" smtClean="0">
                <a:solidFill>
                  <a:srgbClr val="FF0000"/>
                </a:solidFill>
                <a:cs typeface="国标宋体" panose="02000500000000000000" charset="-122"/>
                <a:sym typeface="+mn-ea"/>
              </a:rPr>
              <a:t>Linux</a:t>
            </a:r>
            <a:r>
              <a:rPr lang="zh-CN" altLang="en-US" sz="1800" dirty="0" smtClean="0">
                <a:solidFill>
                  <a:srgbClr val="FF0000"/>
                </a:solidFill>
                <a:cs typeface="国标宋体" panose="02000500000000000000" charset="-122"/>
              </a:rPr>
              <a:t>应用</a:t>
            </a:r>
            <a:r>
              <a:rPr lang="zh-CN" altLang="en-US" sz="1800" dirty="0" smtClean="0">
                <a:solidFill>
                  <a:schemeClr val="tx1"/>
                </a:solidFill>
                <a:cs typeface="国标宋体" panose="02000500000000000000" charset="-122"/>
              </a:rPr>
              <a:t>，已推出</a:t>
            </a:r>
            <a:r>
              <a:rPr lang="en-US" altLang="zh-CN" sz="1800" dirty="0" smtClean="0">
                <a:solidFill>
                  <a:schemeClr val="tx1"/>
                </a:solidFill>
                <a:cs typeface="国标宋体" panose="02000500000000000000" charset="-122"/>
              </a:rPr>
              <a:t>RC1</a:t>
            </a:r>
            <a:r>
              <a:rPr lang="zh-CN" altLang="en-US" sz="1800" dirty="0" smtClean="0">
                <a:solidFill>
                  <a:schemeClr val="tx1"/>
                </a:solidFill>
                <a:cs typeface="国标宋体" panose="02000500000000000000" charset="-122"/>
              </a:rPr>
              <a:t>版本</a:t>
            </a:r>
            <a:endParaRPr lang="en-US" altLang="zh-CN" sz="1800" dirty="0" smtClean="0">
              <a:solidFill>
                <a:srgbClr val="FF0000"/>
              </a:solidFill>
              <a:cs typeface="国标宋体" panose="02000500000000000000" charset="-122"/>
            </a:endParaRPr>
          </a:p>
          <a:p>
            <a:pPr lvl="1">
              <a:spcBef>
                <a:spcPts val="300"/>
              </a:spcBef>
              <a:buSzTx/>
              <a:defRPr/>
            </a:pPr>
            <a:r>
              <a:rPr lang="zh-CN" altLang="en-US" sz="1400" dirty="0" smtClean="0">
                <a:solidFill>
                  <a:schemeClr val="tx1"/>
                </a:solidFill>
                <a:cs typeface="国标宋体" panose="02000500000000000000" charset="-122"/>
              </a:rPr>
              <a:t>兼容性好：在龙芯上运行</a:t>
            </a:r>
            <a:r>
              <a:rPr lang="zh-CN" altLang="en-US" sz="1400" dirty="0" smtClean="0">
                <a:solidFill>
                  <a:schemeClr val="accent2"/>
                </a:solidFill>
                <a:cs typeface="国标宋体" panose="02000500000000000000" charset="-122"/>
              </a:rPr>
              <a:t>主流商业</a:t>
            </a:r>
            <a:r>
              <a:rPr lang="en-US" altLang="zh-CN" sz="1400" dirty="0" smtClean="0">
                <a:solidFill>
                  <a:schemeClr val="accent2"/>
                </a:solidFill>
                <a:cs typeface="国标宋体" panose="02000500000000000000" charset="-122"/>
              </a:rPr>
              <a:t>EDA</a:t>
            </a:r>
            <a:r>
              <a:rPr lang="zh-CN" altLang="en-US" sz="1400" dirty="0" smtClean="0">
                <a:solidFill>
                  <a:schemeClr val="accent2"/>
                </a:solidFill>
                <a:cs typeface="国标宋体" panose="02000500000000000000" charset="-122"/>
              </a:rPr>
              <a:t>软件、</a:t>
            </a:r>
            <a:r>
              <a:rPr lang="en-US" altLang="zh-CN" sz="1400" dirty="0" smtClean="0">
                <a:solidFill>
                  <a:schemeClr val="accent2"/>
                </a:solidFill>
                <a:cs typeface="国标宋体" panose="02000500000000000000" charset="-122"/>
              </a:rPr>
              <a:t>Oracle</a:t>
            </a:r>
            <a:r>
              <a:rPr lang="zh-CN" altLang="en-US" sz="1400" dirty="0" smtClean="0">
                <a:solidFill>
                  <a:schemeClr val="accent2"/>
                </a:solidFill>
                <a:cs typeface="国标宋体" panose="02000500000000000000" charset="-122"/>
              </a:rPr>
              <a:t>数据库</a:t>
            </a:r>
            <a:r>
              <a:rPr lang="zh-CN" altLang="en-US" sz="1400" dirty="0" smtClean="0">
                <a:solidFill>
                  <a:schemeClr val="tx1"/>
                </a:solidFill>
                <a:cs typeface="国标宋体" panose="02000500000000000000" charset="-122"/>
              </a:rPr>
              <a:t>等复杂</a:t>
            </a:r>
            <a:r>
              <a:rPr lang="en-US" altLang="zh-CN" sz="1400" dirty="0" smtClean="0">
                <a:solidFill>
                  <a:schemeClr val="tx1"/>
                </a:solidFill>
                <a:cs typeface="国标宋体" panose="02000500000000000000" charset="-122"/>
              </a:rPr>
              <a:t>X86/Linux</a:t>
            </a:r>
            <a:r>
              <a:rPr lang="zh-CN" altLang="en-US" sz="1400" dirty="0" smtClean="0">
                <a:solidFill>
                  <a:schemeClr val="tx1"/>
                </a:solidFill>
                <a:cs typeface="国标宋体" panose="02000500000000000000" charset="-122"/>
              </a:rPr>
              <a:t>应用</a:t>
            </a:r>
            <a:endParaRPr lang="en-US" altLang="zh-CN" sz="1400" dirty="0" smtClean="0">
              <a:solidFill>
                <a:schemeClr val="accent2"/>
              </a:solidFill>
              <a:cs typeface="国标宋体" panose="02000500000000000000" charset="-122"/>
            </a:endParaRPr>
          </a:p>
          <a:p>
            <a:pPr lvl="1" latinLnBrk="0">
              <a:spcBef>
                <a:spcPts val="300"/>
              </a:spcBef>
              <a:buSzTx/>
              <a:defRPr/>
            </a:pPr>
            <a:r>
              <a:rPr lang="zh-CN" altLang="en-US" sz="1400" dirty="0" smtClean="0">
                <a:solidFill>
                  <a:schemeClr val="tx1"/>
                </a:solidFill>
                <a:cs typeface="国标宋体" panose="02000500000000000000" charset="-122"/>
              </a:rPr>
              <a:t>效率高：指令翻译效率</a:t>
            </a:r>
            <a:r>
              <a:rPr lang="en-US" altLang="zh-CN" sz="1400" dirty="0" smtClean="0">
                <a:solidFill>
                  <a:srgbClr val="FF0000"/>
                </a:solidFill>
                <a:cs typeface="国标宋体" panose="02000500000000000000" charset="-122"/>
              </a:rPr>
              <a:t>70%</a:t>
            </a:r>
            <a:r>
              <a:rPr lang="zh-CN" altLang="en-US" sz="1400" dirty="0" smtClean="0">
                <a:solidFill>
                  <a:srgbClr val="FF0000"/>
                </a:solidFill>
                <a:cs typeface="国标宋体" panose="02000500000000000000" charset="-122"/>
              </a:rPr>
              <a:t>（争取达到</a:t>
            </a:r>
            <a:r>
              <a:rPr lang="en-US" altLang="zh-CN" sz="1400" dirty="0" smtClean="0">
                <a:solidFill>
                  <a:srgbClr val="FF0000"/>
                </a:solidFill>
                <a:cs typeface="国标宋体" panose="02000500000000000000" charset="-122"/>
              </a:rPr>
              <a:t>&gt;80%</a:t>
            </a:r>
            <a:r>
              <a:rPr lang="zh-CN" altLang="en-US" sz="1400" dirty="0" smtClean="0">
                <a:solidFill>
                  <a:srgbClr val="FF0000"/>
                </a:solidFill>
                <a:cs typeface="国标宋体" panose="02000500000000000000" charset="-122"/>
              </a:rPr>
              <a:t>），</a:t>
            </a:r>
            <a:r>
              <a:rPr lang="zh-CN" altLang="en-US" sz="1400" dirty="0" smtClean="0">
                <a:solidFill>
                  <a:schemeClr val="tx1"/>
                </a:solidFill>
                <a:cs typeface="国标宋体" panose="02000500000000000000" charset="-122"/>
              </a:rPr>
              <a:t>库直通（如图形库）部分效率</a:t>
            </a:r>
            <a:r>
              <a:rPr lang="en-US" altLang="zh-CN" sz="1400" dirty="0" smtClean="0">
                <a:solidFill>
                  <a:srgbClr val="FF0000"/>
                </a:solidFill>
                <a:cs typeface="国标宋体" panose="02000500000000000000" charset="-122"/>
              </a:rPr>
              <a:t>100%</a:t>
            </a:r>
          </a:p>
          <a:p>
            <a:pPr latinLnBrk="0">
              <a:spcBef>
                <a:spcPts val="300"/>
              </a:spcBef>
              <a:buSzTx/>
              <a:defRPr/>
            </a:pPr>
            <a:r>
              <a:rPr lang="en-US" altLang="zh-CN" sz="1800" dirty="0" smtClean="0">
                <a:solidFill>
                  <a:schemeClr val="tx1"/>
                </a:solidFill>
                <a:cs typeface="国标宋体" panose="02000500000000000000" charset="-122"/>
                <a:sym typeface="+mn-ea"/>
              </a:rPr>
              <a:t>LA/Linux</a:t>
            </a:r>
            <a:r>
              <a:rPr lang="zh-CN" altLang="en-US" sz="1800" dirty="0" smtClean="0">
                <a:solidFill>
                  <a:schemeClr val="tx1"/>
                </a:solidFill>
                <a:cs typeface="国标宋体" panose="02000500000000000000" charset="-122"/>
                <a:sym typeface="+mn-ea"/>
              </a:rPr>
              <a:t>运行</a:t>
            </a:r>
            <a:r>
              <a:rPr lang="en-US" altLang="zh-CN" sz="1800" dirty="0" smtClean="0">
                <a:solidFill>
                  <a:srgbClr val="FF0000"/>
                </a:solidFill>
                <a:cs typeface="国标宋体" panose="02000500000000000000" charset="-122"/>
                <a:sym typeface="+mn-ea"/>
              </a:rPr>
              <a:t>X86/Windows</a:t>
            </a:r>
            <a:r>
              <a:rPr lang="zh-CN" altLang="en-US" sz="1800" dirty="0" smtClean="0">
                <a:solidFill>
                  <a:srgbClr val="FF0000"/>
                </a:solidFill>
                <a:cs typeface="国标宋体" panose="02000500000000000000" charset="-122"/>
                <a:sym typeface="+mn-ea"/>
              </a:rPr>
              <a:t>应用</a:t>
            </a:r>
            <a:r>
              <a:rPr lang="zh-CN" altLang="en-US" sz="1800" dirty="0" smtClean="0">
                <a:solidFill>
                  <a:schemeClr val="tx1"/>
                </a:solidFill>
                <a:cs typeface="国标宋体" panose="02000500000000000000" charset="-122"/>
                <a:sym typeface="+mn-ea"/>
              </a:rPr>
              <a:t>，取得较大进展，仍在持续改进</a:t>
            </a:r>
            <a:endParaRPr lang="en-US" altLang="zh-CN" sz="1800" dirty="0" smtClean="0">
              <a:solidFill>
                <a:schemeClr val="tx1"/>
              </a:solidFill>
              <a:cs typeface="国标宋体" panose="02000500000000000000" charset="-122"/>
              <a:sym typeface="+mn-ea"/>
            </a:endParaRPr>
          </a:p>
          <a:p>
            <a:pPr lvl="1" latinLnBrk="0">
              <a:spcBef>
                <a:spcPts val="300"/>
              </a:spcBef>
              <a:buSzTx/>
              <a:defRPr/>
            </a:pPr>
            <a:r>
              <a:rPr lang="zh-CN" altLang="en-US" sz="1400" dirty="0" smtClean="0">
                <a:solidFill>
                  <a:schemeClr val="tx1"/>
                </a:solidFill>
                <a:cs typeface="国标宋体" panose="02000500000000000000" charset="-122"/>
                <a:sym typeface="+mn-ea"/>
              </a:rPr>
              <a:t>运行</a:t>
            </a:r>
            <a:r>
              <a:rPr lang="en-US" altLang="zh-CN" sz="1400" dirty="0" smtClean="0">
                <a:solidFill>
                  <a:schemeClr val="tx1"/>
                </a:solidFill>
                <a:cs typeface="国标宋体" panose="02000500000000000000" charset="-122"/>
                <a:sym typeface="+mn-ea"/>
              </a:rPr>
              <a:t>Windows</a:t>
            </a:r>
            <a:r>
              <a:rPr lang="zh-CN" altLang="en-US" sz="1400" dirty="0" smtClean="0">
                <a:solidFill>
                  <a:schemeClr val="tx1"/>
                </a:solidFill>
                <a:cs typeface="国标宋体" panose="02000500000000000000" charset="-122"/>
                <a:sym typeface="+mn-ea"/>
              </a:rPr>
              <a:t>版</a:t>
            </a:r>
            <a:r>
              <a:rPr lang="zh-CN" altLang="en-US" sz="1400" dirty="0" smtClean="0">
                <a:solidFill>
                  <a:schemeClr val="accent2"/>
                </a:solidFill>
                <a:cs typeface="国标宋体" panose="02000500000000000000" charset="-122"/>
                <a:sym typeface="+mn-ea"/>
              </a:rPr>
              <a:t>微信、云视讯</a:t>
            </a:r>
            <a:r>
              <a:rPr lang="zh-CN" altLang="en-US" sz="1400" dirty="0" smtClean="0">
                <a:solidFill>
                  <a:schemeClr val="tx1"/>
                </a:solidFill>
                <a:cs typeface="国标宋体" panose="02000500000000000000" charset="-122"/>
                <a:sym typeface="+mn-ea"/>
              </a:rPr>
              <a:t>等大型应用，</a:t>
            </a:r>
            <a:r>
              <a:rPr lang="zh-CN" altLang="en-US" sz="1400" dirty="0" smtClean="0">
                <a:solidFill>
                  <a:schemeClr val="accent2"/>
                </a:solidFill>
                <a:cs typeface="国标宋体" panose="02000500000000000000" charset="-122"/>
                <a:sym typeface="+mn-ea"/>
              </a:rPr>
              <a:t>打印机驱动、</a:t>
            </a:r>
            <a:r>
              <a:rPr lang="en-US" altLang="zh-CN" sz="1400" dirty="0" smtClean="0">
                <a:solidFill>
                  <a:schemeClr val="accent2"/>
                </a:solidFill>
                <a:cs typeface="国标宋体" panose="02000500000000000000" charset="-122"/>
                <a:sym typeface="+mn-ea"/>
              </a:rPr>
              <a:t>IE</a:t>
            </a:r>
            <a:r>
              <a:rPr lang="zh-CN" altLang="en-US" sz="1400" dirty="0" smtClean="0">
                <a:solidFill>
                  <a:schemeClr val="accent2"/>
                </a:solidFill>
                <a:cs typeface="国标宋体" panose="02000500000000000000" charset="-122"/>
                <a:sym typeface="+mn-ea"/>
              </a:rPr>
              <a:t>兼容的浏览器</a:t>
            </a:r>
            <a:r>
              <a:rPr lang="zh-CN" altLang="en-US" sz="1400" dirty="0" smtClean="0">
                <a:solidFill>
                  <a:schemeClr val="tx1"/>
                </a:solidFill>
                <a:cs typeface="国标宋体" panose="02000500000000000000" charset="-122"/>
                <a:sym typeface="+mn-ea"/>
              </a:rPr>
              <a:t>成为龙芯特色</a:t>
            </a:r>
            <a:endParaRPr lang="en-US" altLang="zh-CN" sz="1400" dirty="0" smtClean="0">
              <a:solidFill>
                <a:schemeClr val="tx1"/>
              </a:solidFill>
              <a:sym typeface="+mn-ea"/>
            </a:endParaRPr>
          </a:p>
          <a:p>
            <a:pPr lvl="1" latinLnBrk="0">
              <a:spcBef>
                <a:spcPts val="300"/>
              </a:spcBef>
              <a:buSzTx/>
              <a:defRPr/>
            </a:pPr>
            <a:r>
              <a:rPr lang="zh-CN" altLang="en-US" sz="1400" dirty="0" smtClean="0">
                <a:solidFill>
                  <a:schemeClr val="tx1"/>
                </a:solidFill>
              </a:rPr>
              <a:t>实现</a:t>
            </a:r>
            <a:r>
              <a:rPr lang="en-US" altLang="zh-CN" sz="1400" dirty="0" smtClean="0">
                <a:solidFill>
                  <a:schemeClr val="tx1"/>
                </a:solidFill>
              </a:rPr>
              <a:t>Linux</a:t>
            </a:r>
            <a:r>
              <a:rPr lang="zh-CN" altLang="en-US" sz="1400" dirty="0" smtClean="0">
                <a:solidFill>
                  <a:schemeClr val="tx1"/>
                </a:solidFill>
              </a:rPr>
              <a:t>和</a:t>
            </a:r>
            <a:r>
              <a:rPr lang="en-US" altLang="zh-CN" sz="1400" dirty="0" smtClean="0">
                <a:solidFill>
                  <a:schemeClr val="tx1"/>
                </a:solidFill>
              </a:rPr>
              <a:t>Windows</a:t>
            </a:r>
            <a:r>
              <a:rPr lang="zh-CN" altLang="en-US" sz="1400" dirty="0" smtClean="0">
                <a:solidFill>
                  <a:schemeClr val="tx1"/>
                </a:solidFill>
              </a:rPr>
              <a:t>平台</a:t>
            </a:r>
            <a:r>
              <a:rPr lang="zh-CN" altLang="en-US" sz="1400" dirty="0" smtClean="0">
                <a:solidFill>
                  <a:schemeClr val="accent2"/>
                </a:solidFill>
              </a:rPr>
              <a:t>窗口、文件系统、</a:t>
            </a:r>
            <a:r>
              <a:rPr lang="en-US" altLang="zh-CN" sz="1400" dirty="0" smtClean="0">
                <a:solidFill>
                  <a:schemeClr val="accent2"/>
                </a:solidFill>
              </a:rPr>
              <a:t>IO</a:t>
            </a:r>
            <a:r>
              <a:rPr lang="zh-CN" altLang="en-US" sz="1400" dirty="0" smtClean="0">
                <a:solidFill>
                  <a:schemeClr val="accent2"/>
                </a:solidFill>
              </a:rPr>
              <a:t>设备“三融合”</a:t>
            </a:r>
            <a:endParaRPr lang="en-US" altLang="zh-CN" sz="1400" dirty="0" smtClean="0">
              <a:solidFill>
                <a:schemeClr val="tx2"/>
              </a:solidFill>
            </a:endParaRPr>
          </a:p>
          <a:p>
            <a:pPr>
              <a:spcBef>
                <a:spcPts val="300"/>
              </a:spcBef>
              <a:buSzTx/>
              <a:defRPr/>
            </a:pPr>
            <a:r>
              <a:rPr lang="en-US" altLang="zh-CN" sz="1800" dirty="0" smtClean="0">
                <a:solidFill>
                  <a:schemeClr val="tx1"/>
                </a:solidFill>
              </a:rPr>
              <a:t>LA/Linux</a:t>
            </a:r>
            <a:r>
              <a:rPr lang="zh-CN" altLang="en-US" sz="1800" dirty="0" smtClean="0">
                <a:solidFill>
                  <a:schemeClr val="tx1"/>
                </a:solidFill>
              </a:rPr>
              <a:t>运行</a:t>
            </a:r>
            <a:r>
              <a:rPr lang="en-US" altLang="zh-CN" sz="1800" dirty="0" smtClean="0">
                <a:solidFill>
                  <a:srgbClr val="FF0000"/>
                </a:solidFill>
              </a:rPr>
              <a:t>ARM/Android</a:t>
            </a:r>
            <a:r>
              <a:rPr lang="zh-CN" altLang="en-US" sz="1800" dirty="0" smtClean="0">
                <a:solidFill>
                  <a:srgbClr val="FF0000"/>
                </a:solidFill>
              </a:rPr>
              <a:t>应用</a:t>
            </a:r>
            <a:r>
              <a:rPr lang="zh-CN" altLang="en-US" sz="1800" dirty="0" smtClean="0">
                <a:solidFill>
                  <a:schemeClr val="tx1"/>
                </a:solidFill>
              </a:rPr>
              <a:t>，将结合需求开展研制</a:t>
            </a:r>
            <a:endParaRPr lang="en-US" altLang="zh-CN" sz="1800" dirty="0" smtClean="0">
              <a:solidFill>
                <a:schemeClr val="tx1"/>
              </a:solidFill>
            </a:endParaRPr>
          </a:p>
          <a:p>
            <a:pPr lvl="1">
              <a:spcBef>
                <a:spcPts val="300"/>
              </a:spcBef>
              <a:buSzTx/>
              <a:defRPr/>
            </a:pPr>
            <a:r>
              <a:rPr lang="zh-CN" altLang="en-US" sz="1400" dirty="0" smtClean="0">
                <a:solidFill>
                  <a:schemeClr val="tx2"/>
                </a:solidFill>
              </a:rPr>
              <a:t>由于</a:t>
            </a:r>
            <a:r>
              <a:rPr lang="en-US" altLang="zh-CN" sz="1400" dirty="0" smtClean="0">
                <a:solidFill>
                  <a:schemeClr val="tx2"/>
                </a:solidFill>
              </a:rPr>
              <a:t>Android</a:t>
            </a:r>
            <a:r>
              <a:rPr lang="zh-CN" altLang="en-US" sz="1400" dirty="0" smtClean="0">
                <a:solidFill>
                  <a:schemeClr val="tx2"/>
                </a:solidFill>
              </a:rPr>
              <a:t>使用</a:t>
            </a:r>
            <a:r>
              <a:rPr lang="en-US" altLang="zh-CN" sz="1400" dirty="0" smtClean="0">
                <a:solidFill>
                  <a:schemeClr val="tx2"/>
                </a:solidFill>
              </a:rPr>
              <a:t>Linux</a:t>
            </a:r>
            <a:r>
              <a:rPr lang="zh-CN" altLang="en-US" sz="1400" dirty="0" smtClean="0">
                <a:solidFill>
                  <a:schemeClr val="tx2"/>
                </a:solidFill>
              </a:rPr>
              <a:t>内核，</a:t>
            </a:r>
            <a:r>
              <a:rPr lang="en-US" altLang="zh-CN" sz="1400" dirty="0" smtClean="0">
                <a:solidFill>
                  <a:schemeClr val="tx2"/>
                </a:solidFill>
              </a:rPr>
              <a:t>ARM</a:t>
            </a:r>
            <a:r>
              <a:rPr lang="zh-CN" altLang="en-US" sz="1400" dirty="0" smtClean="0">
                <a:solidFill>
                  <a:schemeClr val="tx2"/>
                </a:solidFill>
              </a:rPr>
              <a:t>与</a:t>
            </a:r>
            <a:r>
              <a:rPr lang="en-US" altLang="zh-CN" sz="1400" dirty="0" smtClean="0">
                <a:solidFill>
                  <a:schemeClr val="tx2"/>
                </a:solidFill>
              </a:rPr>
              <a:t>LA</a:t>
            </a:r>
            <a:r>
              <a:rPr lang="zh-CN" altLang="en-US" sz="1400" dirty="0" smtClean="0">
                <a:solidFill>
                  <a:schemeClr val="tx2"/>
                </a:solidFill>
              </a:rPr>
              <a:t>同属</a:t>
            </a:r>
            <a:r>
              <a:rPr lang="en-US" altLang="zh-CN" sz="1400" dirty="0" smtClean="0">
                <a:solidFill>
                  <a:schemeClr val="tx2"/>
                </a:solidFill>
              </a:rPr>
              <a:t>RISC</a:t>
            </a:r>
            <a:r>
              <a:rPr lang="zh-CN" altLang="en-US" sz="1400" dirty="0" smtClean="0">
                <a:solidFill>
                  <a:schemeClr val="tx2"/>
                </a:solidFill>
              </a:rPr>
              <a:t>，技术难度小，翻译效率高</a:t>
            </a:r>
            <a:endParaRPr lang="en-US" altLang="zh-CN" sz="1400" dirty="0" smtClean="0">
              <a:solidFill>
                <a:schemeClr val="tx2"/>
              </a:solidFill>
            </a:endParaRPr>
          </a:p>
          <a:p>
            <a:pPr>
              <a:spcBef>
                <a:spcPts val="300"/>
              </a:spcBef>
              <a:buSzTx/>
              <a:defRPr/>
            </a:pPr>
            <a:endParaRPr lang="en-US" altLang="zh-CN" sz="1800" dirty="0" smtClean="0">
              <a:solidFill>
                <a:schemeClr val="tx1"/>
              </a:solidFill>
            </a:endParaRPr>
          </a:p>
        </p:txBody>
      </p:sp>
      <p:sp>
        <p:nvSpPr>
          <p:cNvPr id="31747" name="标题 1"/>
          <p:cNvSpPr>
            <a:spLocks noGrp="1"/>
          </p:cNvSpPr>
          <p:nvPr/>
        </p:nvSpPr>
        <p:spPr>
          <a:xfrm>
            <a:off x="319" y="-28575"/>
            <a:ext cx="12190412" cy="865287"/>
          </a:xfrm>
          <a:prstGeom prst="rect">
            <a:avLst/>
          </a:prstGeom>
          <a:noFill/>
          <a:ln w="9525">
            <a:noFill/>
          </a:ln>
        </p:spPr>
        <p:txBody>
          <a:bodyPr lIns="90000" tIns="46800" rIns="90000" bIns="46800" anchor="ctr" anchorCtr="0"/>
          <a:lstStyle/>
          <a:p>
            <a:pPr algn="ctr" eaLnBrk="0" hangingPunct="0"/>
            <a:r>
              <a:rPr lang="zh-CN" altLang="en-US" sz="3600" noProof="0" dirty="0">
                <a:ln>
                  <a:noFill/>
                </a:ln>
                <a:solidFill>
                  <a:srgbClr val="FF0000"/>
                </a:solidFill>
                <a:effectLst/>
                <a:uLnTx/>
                <a:uFillTx/>
                <a:latin typeface="+mj-ea"/>
                <a:ea typeface="+mj-ea"/>
                <a:cs typeface="国标黑体" panose="02000500000000000000" charset="-122"/>
                <a:sym typeface="+mn-ea"/>
              </a:rPr>
              <a:t>（二）广泛兼容：</a:t>
            </a:r>
            <a:r>
              <a:rPr lang="zh-CN" altLang="en-US" sz="3600" dirty="0" smtClean="0">
                <a:solidFill>
                  <a:srgbClr val="FF0000"/>
                </a:solidFill>
                <a:latin typeface="+mj-ea"/>
                <a:ea typeface="+mj-ea"/>
                <a:cs typeface="国标黑体" panose="02000500000000000000" charset="-122"/>
                <a:sym typeface="+mn-ea"/>
              </a:rPr>
              <a:t>通过二进制翻译运行</a:t>
            </a:r>
            <a:r>
              <a:rPr lang="en-US" altLang="zh-CN" sz="3600" dirty="0" smtClean="0">
                <a:solidFill>
                  <a:srgbClr val="FF0000"/>
                </a:solidFill>
                <a:latin typeface="+mj-lt"/>
                <a:ea typeface="+mj-ea"/>
                <a:cs typeface="国标黑体" panose="02000500000000000000" charset="-122"/>
                <a:sym typeface="+mn-ea"/>
              </a:rPr>
              <a:t>X86/ARM</a:t>
            </a:r>
            <a:r>
              <a:rPr lang="zh-CN" altLang="en-US" sz="3600" dirty="0" smtClean="0">
                <a:solidFill>
                  <a:srgbClr val="FF0000"/>
                </a:solidFill>
                <a:latin typeface="+mj-ea"/>
                <a:ea typeface="+mj-ea"/>
                <a:cs typeface="国标黑体" panose="02000500000000000000" charset="-122"/>
                <a:sym typeface="+mn-ea"/>
              </a:rPr>
              <a:t>应用</a:t>
            </a:r>
            <a:endParaRPr lang="en-US" altLang="zh-CN" sz="3600" dirty="0">
              <a:solidFill>
                <a:srgbClr val="FF0000"/>
              </a:solidFill>
              <a:latin typeface="+mj-ea"/>
              <a:ea typeface="+mj-ea"/>
              <a:cs typeface="国标黑体" panose="02000500000000000000" charset="-122"/>
              <a:sym typeface="+mn-ea"/>
            </a:endParaRPr>
          </a:p>
        </p:txBody>
      </p:sp>
      <p:sp>
        <p:nvSpPr>
          <p:cNvPr id="6" name="文本框 5"/>
          <p:cNvSpPr txBox="1"/>
          <p:nvPr/>
        </p:nvSpPr>
        <p:spPr>
          <a:xfrm>
            <a:off x="5800225" y="3238501"/>
            <a:ext cx="411480" cy="368300"/>
          </a:xfrm>
          <a:prstGeom prst="rect">
            <a:avLst/>
          </a:prstGeom>
          <a:noFill/>
        </p:spPr>
        <p:txBody>
          <a:bodyPr wrap="none" rtlCol="0" anchor="t">
            <a:spAutoFit/>
          </a:bodyPr>
          <a:lstStyle/>
          <a:p>
            <a:r>
              <a:rPr lang="zh-CN" altLang="en-US">
                <a:latin typeface="微软雅黑" charset="-122"/>
                <a:ea typeface="微软雅黑" charset="-122"/>
              </a:rPr>
              <a:t>·</a:t>
            </a:r>
          </a:p>
        </p:txBody>
      </p:sp>
      <p:grpSp>
        <p:nvGrpSpPr>
          <p:cNvPr id="2" name="组合 59"/>
          <p:cNvGrpSpPr/>
          <p:nvPr/>
        </p:nvGrpSpPr>
        <p:grpSpPr>
          <a:xfrm>
            <a:off x="1804431" y="4365104"/>
            <a:ext cx="8542083" cy="2484276"/>
            <a:chOff x="1619684" y="4293096"/>
            <a:chExt cx="7668852" cy="2484276"/>
          </a:xfrm>
        </p:grpSpPr>
        <p:grpSp>
          <p:nvGrpSpPr>
            <p:cNvPr id="3" name="组合 102"/>
            <p:cNvGrpSpPr/>
            <p:nvPr/>
          </p:nvGrpSpPr>
          <p:grpSpPr>
            <a:xfrm>
              <a:off x="1619684" y="4293096"/>
              <a:ext cx="7668852" cy="2484276"/>
              <a:chOff x="1619684" y="4221088"/>
              <a:chExt cx="7668852" cy="2484276"/>
            </a:xfrm>
          </p:grpSpPr>
          <p:grpSp>
            <p:nvGrpSpPr>
              <p:cNvPr id="4" name="组合 101"/>
              <p:cNvGrpSpPr/>
              <p:nvPr/>
            </p:nvGrpSpPr>
            <p:grpSpPr>
              <a:xfrm>
                <a:off x="1619684" y="4221088"/>
                <a:ext cx="7668852" cy="2484276"/>
                <a:chOff x="1619684" y="4221088"/>
                <a:chExt cx="7668852" cy="2484276"/>
              </a:xfrm>
            </p:grpSpPr>
            <p:pic>
              <p:nvPicPr>
                <p:cNvPr id="27" name="Picture 1"/>
                <p:cNvPicPr>
                  <a:picLocks noChangeAspect="1" noChangeArrowheads="1"/>
                </p:cNvPicPr>
                <p:nvPr/>
              </p:nvPicPr>
              <p:blipFill>
                <a:blip r:embed="rId3" cstate="print"/>
                <a:srcRect/>
                <a:stretch>
                  <a:fillRect/>
                </a:stretch>
              </p:blipFill>
              <p:spPr bwMode="auto">
                <a:xfrm>
                  <a:off x="4278672" y="4231501"/>
                  <a:ext cx="2131634" cy="2473863"/>
                </a:xfrm>
                <a:prstGeom prst="rect">
                  <a:avLst/>
                </a:prstGeom>
                <a:noFill/>
                <a:ln w="9525">
                  <a:noFill/>
                  <a:miter lim="800000"/>
                  <a:headEnd/>
                  <a:tailEnd/>
                </a:ln>
              </p:spPr>
            </p:pic>
            <p:pic>
              <p:nvPicPr>
                <p:cNvPr id="28" name="Picture 1"/>
                <p:cNvPicPr>
                  <a:picLocks noChangeAspect="1" noChangeArrowheads="1"/>
                </p:cNvPicPr>
                <p:nvPr/>
              </p:nvPicPr>
              <p:blipFill>
                <a:blip r:embed="rId3" cstate="print"/>
                <a:srcRect/>
                <a:stretch>
                  <a:fillRect/>
                </a:stretch>
              </p:blipFill>
              <p:spPr bwMode="auto">
                <a:xfrm>
                  <a:off x="7156902" y="4231501"/>
                  <a:ext cx="2131634" cy="2473863"/>
                </a:xfrm>
                <a:prstGeom prst="rect">
                  <a:avLst/>
                </a:prstGeom>
                <a:noFill/>
                <a:ln w="9525">
                  <a:noFill/>
                  <a:miter lim="800000"/>
                  <a:headEnd/>
                  <a:tailEnd/>
                </a:ln>
              </p:spPr>
            </p:pic>
            <p:pic>
              <p:nvPicPr>
                <p:cNvPr id="29" name="Picture 1"/>
                <p:cNvPicPr>
                  <a:picLocks noChangeAspect="1" noChangeArrowheads="1"/>
                </p:cNvPicPr>
                <p:nvPr/>
              </p:nvPicPr>
              <p:blipFill>
                <a:blip r:embed="rId3" cstate="print"/>
                <a:srcRect/>
                <a:stretch>
                  <a:fillRect/>
                </a:stretch>
              </p:blipFill>
              <p:spPr bwMode="auto">
                <a:xfrm>
                  <a:off x="1619684" y="4221088"/>
                  <a:ext cx="2131634" cy="2473863"/>
                </a:xfrm>
                <a:prstGeom prst="rect">
                  <a:avLst/>
                </a:prstGeom>
                <a:noFill/>
                <a:ln w="9525">
                  <a:noFill/>
                  <a:miter lim="800000"/>
                  <a:headEnd/>
                  <a:tailEnd/>
                </a:ln>
              </p:spPr>
            </p:pic>
          </p:grpSp>
          <p:grpSp>
            <p:nvGrpSpPr>
              <p:cNvPr id="5" name="组合 100"/>
              <p:cNvGrpSpPr/>
              <p:nvPr/>
            </p:nvGrpSpPr>
            <p:grpSpPr>
              <a:xfrm>
                <a:off x="2339764" y="4355522"/>
                <a:ext cx="6329602" cy="1278255"/>
                <a:chOff x="2339764" y="4355522"/>
                <a:chExt cx="6329602" cy="1278255"/>
              </a:xfrm>
            </p:grpSpPr>
            <p:sp>
              <p:nvSpPr>
                <p:cNvPr id="20" name="TextBox 24"/>
                <p:cNvSpPr txBox="1"/>
                <p:nvPr/>
              </p:nvSpPr>
              <p:spPr>
                <a:xfrm>
                  <a:off x="5199169" y="5339137"/>
                  <a:ext cx="361315" cy="275590"/>
                </a:xfrm>
                <a:prstGeom prst="rect">
                  <a:avLst/>
                </a:prstGeom>
                <a:solidFill>
                  <a:schemeClr val="bg1"/>
                </a:solidFill>
                <a:effectLst>
                  <a:softEdge rad="63500"/>
                </a:effectLst>
              </p:spPr>
              <p:txBody>
                <a:bodyPr wrap="square" lIns="0" rIns="0" rtlCol="0">
                  <a:spAutoFit/>
                </a:bodyPr>
                <a:lstStyle/>
                <a:p>
                  <a:pPr algn="ctr"/>
                  <a:r>
                    <a:rPr lang="en-US" altLang="zh-CN" sz="1200" dirty="0" smtClean="0">
                      <a:solidFill>
                        <a:schemeClr val="tx1"/>
                      </a:solidFill>
                      <a:latin typeface="+mj-ea"/>
                      <a:ea typeface="+mj-ea"/>
                    </a:rPr>
                    <a:t>CPU</a:t>
                  </a:r>
                  <a:endParaRPr lang="zh-CN" altLang="en-US" sz="1200" dirty="0">
                    <a:solidFill>
                      <a:schemeClr val="tx1"/>
                    </a:solidFill>
                    <a:latin typeface="+mj-ea"/>
                    <a:ea typeface="+mj-ea"/>
                  </a:endParaRPr>
                </a:p>
              </p:txBody>
            </p:sp>
            <p:sp>
              <p:nvSpPr>
                <p:cNvPr id="21" name="TextBox 20"/>
                <p:cNvSpPr txBox="1"/>
                <p:nvPr/>
              </p:nvSpPr>
              <p:spPr>
                <a:xfrm>
                  <a:off x="5004060" y="4382021"/>
                  <a:ext cx="765134" cy="260350"/>
                </a:xfrm>
                <a:prstGeom prst="rect">
                  <a:avLst/>
                </a:prstGeom>
                <a:solidFill>
                  <a:schemeClr val="bg1"/>
                </a:solidFill>
                <a:effectLst>
                  <a:softEdge rad="63500"/>
                </a:effectLst>
              </p:spPr>
              <p:txBody>
                <a:bodyPr wrap="square" lIns="0" rIns="0" rtlCol="0">
                  <a:spAutoFit/>
                </a:bodyPr>
                <a:lstStyle/>
                <a:p>
                  <a:pPr algn="ctr"/>
                  <a:r>
                    <a:rPr lang="en-US" altLang="zh-CN" sz="1100" dirty="0" smtClean="0">
                      <a:solidFill>
                        <a:schemeClr val="tx1"/>
                      </a:solidFill>
                      <a:latin typeface="+mj-ea"/>
                      <a:ea typeface="+mj-ea"/>
                    </a:rPr>
                    <a:t>……</a:t>
                  </a:r>
                  <a:endParaRPr lang="zh-CN" altLang="en-US" sz="1100" dirty="0">
                    <a:solidFill>
                      <a:schemeClr val="tx1"/>
                    </a:solidFill>
                    <a:latin typeface="+mj-ea"/>
                    <a:ea typeface="+mj-ea"/>
                  </a:endParaRPr>
                </a:p>
              </p:txBody>
            </p:sp>
            <p:sp>
              <p:nvSpPr>
                <p:cNvPr id="22" name="TextBox 21"/>
                <p:cNvSpPr txBox="1"/>
                <p:nvPr/>
              </p:nvSpPr>
              <p:spPr>
                <a:xfrm>
                  <a:off x="8076989" y="5309292"/>
                  <a:ext cx="393700" cy="275590"/>
                </a:xfrm>
                <a:prstGeom prst="rect">
                  <a:avLst/>
                </a:prstGeom>
                <a:solidFill>
                  <a:schemeClr val="bg1"/>
                </a:solidFill>
                <a:effectLst>
                  <a:softEdge rad="63500"/>
                </a:effectLst>
              </p:spPr>
              <p:txBody>
                <a:bodyPr wrap="square" lIns="0" rIns="0" rtlCol="0">
                  <a:spAutoFit/>
                </a:bodyPr>
                <a:lstStyle/>
                <a:p>
                  <a:pPr algn="ctr"/>
                  <a:r>
                    <a:rPr lang="en-US" altLang="zh-CN" sz="1200" dirty="0" smtClean="0">
                      <a:solidFill>
                        <a:schemeClr val="tx1"/>
                      </a:solidFill>
                      <a:latin typeface="+mj-ea"/>
                      <a:ea typeface="+mj-ea"/>
                    </a:rPr>
                    <a:t>CPU</a:t>
                  </a:r>
                  <a:endParaRPr lang="zh-CN" altLang="en-US" sz="1200" dirty="0">
                    <a:solidFill>
                      <a:schemeClr val="tx1"/>
                    </a:solidFill>
                    <a:latin typeface="+mj-ea"/>
                    <a:ea typeface="+mj-ea"/>
                  </a:endParaRPr>
                </a:p>
              </p:txBody>
            </p:sp>
            <p:sp>
              <p:nvSpPr>
                <p:cNvPr id="23" name="TextBox 22"/>
                <p:cNvSpPr txBox="1"/>
                <p:nvPr/>
              </p:nvSpPr>
              <p:spPr>
                <a:xfrm>
                  <a:off x="7904232" y="4401108"/>
                  <a:ext cx="765134" cy="260350"/>
                </a:xfrm>
                <a:prstGeom prst="rect">
                  <a:avLst/>
                </a:prstGeom>
                <a:solidFill>
                  <a:schemeClr val="bg1"/>
                </a:solidFill>
                <a:effectLst>
                  <a:softEdge rad="63500"/>
                </a:effectLst>
              </p:spPr>
              <p:txBody>
                <a:bodyPr wrap="square" lIns="0" rIns="0" rtlCol="0">
                  <a:spAutoFit/>
                </a:bodyPr>
                <a:lstStyle/>
                <a:p>
                  <a:pPr algn="ctr"/>
                  <a:r>
                    <a:rPr lang="en-US" altLang="zh-CN" sz="1100" dirty="0" smtClean="0">
                      <a:solidFill>
                        <a:schemeClr val="tx1"/>
                      </a:solidFill>
                      <a:latin typeface="+mj-ea"/>
                      <a:ea typeface="+mj-ea"/>
                    </a:rPr>
                    <a:t>……</a:t>
                  </a:r>
                  <a:endParaRPr lang="zh-CN" altLang="en-US" sz="1100" dirty="0">
                    <a:solidFill>
                      <a:schemeClr val="tx1"/>
                    </a:solidFill>
                    <a:latin typeface="+mj-ea"/>
                    <a:ea typeface="+mj-ea"/>
                  </a:endParaRPr>
                </a:p>
              </p:txBody>
            </p:sp>
            <p:sp>
              <p:nvSpPr>
                <p:cNvPr id="24" name="TextBox 23"/>
                <p:cNvSpPr txBox="1"/>
                <p:nvPr/>
              </p:nvSpPr>
              <p:spPr>
                <a:xfrm>
                  <a:off x="2951832" y="4833156"/>
                  <a:ext cx="692152" cy="260350"/>
                </a:xfrm>
                <a:prstGeom prst="rect">
                  <a:avLst/>
                </a:prstGeom>
                <a:solidFill>
                  <a:schemeClr val="bg1"/>
                </a:solidFill>
                <a:effectLst/>
              </p:spPr>
              <p:txBody>
                <a:bodyPr wrap="square" lIns="0" rIns="0" rtlCol="0">
                  <a:spAutoFit/>
                </a:bodyPr>
                <a:lstStyle/>
                <a:p>
                  <a:pPr algn="ctr"/>
                  <a:r>
                    <a:rPr lang="en-US" altLang="zh-CN" sz="1100" dirty="0" smtClean="0">
                      <a:solidFill>
                        <a:schemeClr val="accent2"/>
                      </a:solidFill>
                      <a:latin typeface="+mj-ea"/>
                      <a:ea typeface="+mj-ea"/>
                    </a:rPr>
                    <a:t>X86/Linux</a:t>
                  </a:r>
                  <a:endParaRPr lang="zh-CN" altLang="en-US" sz="1100" dirty="0">
                    <a:solidFill>
                      <a:schemeClr val="accent2"/>
                    </a:solidFill>
                    <a:latin typeface="+mj-ea"/>
                    <a:ea typeface="+mj-ea"/>
                  </a:endParaRPr>
                </a:p>
              </p:txBody>
            </p:sp>
            <p:sp>
              <p:nvSpPr>
                <p:cNvPr id="25" name="TextBox 24"/>
                <p:cNvSpPr txBox="1"/>
                <p:nvPr/>
              </p:nvSpPr>
              <p:spPr>
                <a:xfrm>
                  <a:off x="2528994" y="5358187"/>
                  <a:ext cx="338455" cy="275590"/>
                </a:xfrm>
                <a:prstGeom prst="rect">
                  <a:avLst/>
                </a:prstGeom>
                <a:solidFill>
                  <a:schemeClr val="bg1"/>
                </a:solidFill>
                <a:effectLst>
                  <a:softEdge rad="63500"/>
                </a:effectLst>
              </p:spPr>
              <p:txBody>
                <a:bodyPr wrap="square" lIns="0" rIns="0" rtlCol="0">
                  <a:spAutoFit/>
                </a:bodyPr>
                <a:lstStyle/>
                <a:p>
                  <a:pPr algn="ctr"/>
                  <a:r>
                    <a:rPr lang="en-US" altLang="zh-CN" sz="1200" dirty="0" smtClean="0">
                      <a:solidFill>
                        <a:schemeClr val="tx1"/>
                      </a:solidFill>
                      <a:latin typeface="+mj-ea"/>
                      <a:ea typeface="+mj-ea"/>
                    </a:rPr>
                    <a:t>CPU</a:t>
                  </a:r>
                  <a:endParaRPr lang="zh-CN" altLang="en-US" sz="1200" dirty="0">
                    <a:solidFill>
                      <a:schemeClr val="tx1"/>
                    </a:solidFill>
                    <a:latin typeface="+mj-ea"/>
                    <a:ea typeface="+mj-ea"/>
                  </a:endParaRPr>
                </a:p>
              </p:txBody>
            </p:sp>
            <p:sp>
              <p:nvSpPr>
                <p:cNvPr id="26" name="TextBox 25"/>
                <p:cNvSpPr txBox="1"/>
                <p:nvPr/>
              </p:nvSpPr>
              <p:spPr>
                <a:xfrm>
                  <a:off x="2339764" y="4355522"/>
                  <a:ext cx="765134" cy="260428"/>
                </a:xfrm>
                <a:prstGeom prst="rect">
                  <a:avLst/>
                </a:prstGeom>
                <a:solidFill>
                  <a:schemeClr val="bg1"/>
                </a:solidFill>
                <a:effectLst>
                  <a:softEdge rad="63500"/>
                </a:effectLst>
              </p:spPr>
              <p:txBody>
                <a:bodyPr wrap="square" lIns="0" rIns="0" rtlCol="0">
                  <a:spAutoFit/>
                </a:bodyPr>
                <a:lstStyle/>
                <a:p>
                  <a:pPr algn="ctr"/>
                  <a:r>
                    <a:rPr lang="en-US" altLang="zh-CN" sz="1100" dirty="0" smtClean="0">
                      <a:solidFill>
                        <a:schemeClr val="accent2"/>
                      </a:solidFill>
                      <a:latin typeface="+mj-ea"/>
                      <a:ea typeface="+mj-ea"/>
                    </a:rPr>
                    <a:t>……</a:t>
                  </a:r>
                  <a:endParaRPr lang="zh-CN" altLang="en-US" sz="1100" dirty="0">
                    <a:solidFill>
                      <a:schemeClr val="accent2"/>
                    </a:solidFill>
                    <a:latin typeface="+mj-ea"/>
                    <a:ea typeface="+mj-ea"/>
                  </a:endParaRPr>
                </a:p>
              </p:txBody>
            </p:sp>
          </p:grpSp>
        </p:grpSp>
        <p:pic>
          <p:nvPicPr>
            <p:cNvPr id="30" name="图片 29"/>
            <p:cNvPicPr>
              <a:picLocks noChangeAspect="1"/>
            </p:cNvPicPr>
            <p:nvPr/>
          </p:nvPicPr>
          <p:blipFill>
            <a:blip r:embed="rId4" cstate="print"/>
            <a:stretch>
              <a:fillRect/>
            </a:stretch>
          </p:blipFill>
          <p:spPr>
            <a:xfrm>
              <a:off x="5816859" y="4941168"/>
              <a:ext cx="447341" cy="287973"/>
            </a:xfrm>
            <a:prstGeom prst="rect">
              <a:avLst/>
            </a:prstGeom>
          </p:spPr>
        </p:pic>
        <p:pic>
          <p:nvPicPr>
            <p:cNvPr id="31" name="Picture 1"/>
            <p:cNvPicPr>
              <a:picLocks noChangeAspect="1" noChangeArrowheads="1"/>
            </p:cNvPicPr>
            <p:nvPr/>
          </p:nvPicPr>
          <p:blipFill>
            <a:blip r:embed="rId5" cstate="print"/>
            <a:srcRect/>
            <a:stretch>
              <a:fillRect/>
            </a:stretch>
          </p:blipFill>
          <p:spPr bwMode="auto">
            <a:xfrm>
              <a:off x="1907716" y="4869160"/>
              <a:ext cx="474132" cy="288032"/>
            </a:xfrm>
            <a:prstGeom prst="rect">
              <a:avLst/>
            </a:prstGeom>
            <a:noFill/>
            <a:ln w="9525">
              <a:noFill/>
              <a:miter lim="800000"/>
              <a:headEnd/>
              <a:tailEnd/>
            </a:ln>
          </p:spPr>
        </p:pic>
        <p:pic>
          <p:nvPicPr>
            <p:cNvPr id="32" name="图片 31"/>
            <p:cNvPicPr>
              <a:picLocks noChangeAspect="1"/>
            </p:cNvPicPr>
            <p:nvPr/>
          </p:nvPicPr>
          <p:blipFill>
            <a:blip r:embed="rId6" cstate="print"/>
            <a:stretch>
              <a:fillRect/>
            </a:stretch>
          </p:blipFill>
          <p:spPr>
            <a:xfrm>
              <a:off x="4500004" y="4941168"/>
              <a:ext cx="504056" cy="284691"/>
            </a:xfrm>
            <a:prstGeom prst="rect">
              <a:avLst/>
            </a:prstGeom>
          </p:spPr>
        </p:pic>
        <p:sp>
          <p:nvSpPr>
            <p:cNvPr id="33" name="TextBox 32"/>
            <p:cNvSpPr txBox="1"/>
            <p:nvPr/>
          </p:nvSpPr>
          <p:spPr>
            <a:xfrm>
              <a:off x="5067992" y="4967590"/>
              <a:ext cx="692152" cy="260350"/>
            </a:xfrm>
            <a:prstGeom prst="rect">
              <a:avLst/>
            </a:prstGeom>
            <a:solidFill>
              <a:schemeClr val="bg1"/>
            </a:solidFill>
            <a:effectLst/>
          </p:spPr>
          <p:txBody>
            <a:bodyPr wrap="square" lIns="0" rIns="0" rtlCol="0">
              <a:spAutoFit/>
            </a:bodyPr>
            <a:lstStyle/>
            <a:p>
              <a:pPr algn="ctr"/>
              <a:r>
                <a:rPr lang="en-US" altLang="zh-CN" sz="1100" dirty="0" smtClean="0">
                  <a:solidFill>
                    <a:schemeClr val="accent2"/>
                  </a:solidFill>
                  <a:latin typeface="+mj-ea"/>
                  <a:ea typeface="+mj-ea"/>
                </a:rPr>
                <a:t>ARM/Linux</a:t>
              </a:r>
              <a:endParaRPr lang="zh-CN" altLang="en-US" sz="1100" dirty="0">
                <a:solidFill>
                  <a:schemeClr val="accent2"/>
                </a:solidFill>
                <a:latin typeface="+mj-ea"/>
                <a:ea typeface="+mj-ea"/>
              </a:endParaRPr>
            </a:p>
          </p:txBody>
        </p:sp>
        <p:sp>
          <p:nvSpPr>
            <p:cNvPr id="34" name="TextBox 33"/>
            <p:cNvSpPr txBox="1"/>
            <p:nvPr/>
          </p:nvSpPr>
          <p:spPr>
            <a:xfrm>
              <a:off x="7956388" y="5003594"/>
              <a:ext cx="692152" cy="260350"/>
            </a:xfrm>
            <a:prstGeom prst="rect">
              <a:avLst/>
            </a:prstGeom>
            <a:solidFill>
              <a:schemeClr val="bg1"/>
            </a:solidFill>
            <a:effectLst/>
          </p:spPr>
          <p:txBody>
            <a:bodyPr wrap="square" lIns="0" rIns="0" rtlCol="0">
              <a:spAutoFit/>
            </a:bodyPr>
            <a:lstStyle/>
            <a:p>
              <a:pPr algn="ctr"/>
              <a:r>
                <a:rPr lang="en-US" altLang="zh-CN" sz="1100" dirty="0" smtClean="0">
                  <a:solidFill>
                    <a:schemeClr val="accent2"/>
                  </a:solidFill>
                  <a:latin typeface="+mj-ea"/>
                  <a:ea typeface="+mj-ea"/>
                </a:rPr>
                <a:t>LA/Linux</a:t>
              </a:r>
              <a:endParaRPr lang="zh-CN" altLang="en-US" sz="1100" dirty="0">
                <a:solidFill>
                  <a:schemeClr val="accent2"/>
                </a:solidFill>
                <a:latin typeface="+mj-ea"/>
                <a:ea typeface="+mj-ea"/>
              </a:endParaRPr>
            </a:p>
          </p:txBody>
        </p:sp>
        <p:grpSp>
          <p:nvGrpSpPr>
            <p:cNvPr id="7" name="组合 99"/>
            <p:cNvGrpSpPr/>
            <p:nvPr/>
          </p:nvGrpSpPr>
          <p:grpSpPr>
            <a:xfrm>
              <a:off x="2015200" y="5933920"/>
              <a:ext cx="6921522" cy="516762"/>
              <a:chOff x="2015200" y="5880812"/>
              <a:chExt cx="6921522" cy="516762"/>
            </a:xfrm>
          </p:grpSpPr>
          <p:sp>
            <p:nvSpPr>
              <p:cNvPr id="50" name="TextBox 15"/>
              <p:cNvSpPr txBox="1"/>
              <p:nvPr/>
            </p:nvSpPr>
            <p:spPr>
              <a:xfrm>
                <a:off x="5113365" y="5890972"/>
                <a:ext cx="528320" cy="337185"/>
              </a:xfrm>
              <a:prstGeom prst="rect">
                <a:avLst/>
              </a:prstGeom>
              <a:solidFill>
                <a:srgbClr val="FFC000"/>
              </a:solidFill>
              <a:effectLst>
                <a:softEdge rad="63500"/>
              </a:effectLst>
            </p:spPr>
            <p:txBody>
              <a:bodyPr wrap="square" lIns="0" rIns="0" rtlCol="0">
                <a:spAutoFit/>
              </a:bodyPr>
              <a:lstStyle/>
              <a:p>
                <a:pPr algn="ctr"/>
                <a:r>
                  <a:rPr lang="en-US" altLang="zh-CN" sz="1600" b="1" dirty="0" smtClean="0">
                    <a:solidFill>
                      <a:srgbClr val="FF0000"/>
                    </a:solidFill>
                    <a:latin typeface="+mj-ea"/>
                    <a:ea typeface="+mj-ea"/>
                  </a:rPr>
                  <a:t>ARM</a:t>
                </a:r>
                <a:endParaRPr lang="zh-CN" altLang="en-US" sz="1600" b="1" dirty="0">
                  <a:solidFill>
                    <a:srgbClr val="FF0000"/>
                  </a:solidFill>
                  <a:latin typeface="+mj-ea"/>
                  <a:ea typeface="+mj-ea"/>
                </a:endParaRPr>
              </a:p>
            </p:txBody>
          </p:sp>
          <p:sp>
            <p:nvSpPr>
              <p:cNvPr id="51" name="TextBox 16"/>
              <p:cNvSpPr txBox="1"/>
              <p:nvPr/>
            </p:nvSpPr>
            <p:spPr>
              <a:xfrm>
                <a:off x="5728895" y="6121984"/>
                <a:ext cx="329596" cy="275590"/>
              </a:xfrm>
              <a:prstGeom prst="rect">
                <a:avLst/>
              </a:prstGeom>
              <a:solidFill>
                <a:srgbClr val="FFC000"/>
              </a:solidFill>
              <a:effectLst>
                <a:softEdge rad="63500"/>
              </a:effectLst>
            </p:spPr>
            <p:txBody>
              <a:bodyPr wrap="square" lIns="0" rIns="0" rtlCol="0">
                <a:spAutoFit/>
              </a:bodyPr>
              <a:lstStyle/>
              <a:p>
                <a:pPr algn="ctr"/>
                <a:r>
                  <a:rPr lang="zh-CN" altLang="en-US" sz="1200" b="1" dirty="0" smtClean="0">
                    <a:solidFill>
                      <a:schemeClr val="accent2"/>
                    </a:solidFill>
                    <a:latin typeface="+mj-ea"/>
                    <a:ea typeface="+mj-ea"/>
                  </a:rPr>
                  <a:t>工艺</a:t>
                </a:r>
                <a:endParaRPr lang="zh-CN" altLang="en-US" sz="1200" b="1" dirty="0">
                  <a:solidFill>
                    <a:schemeClr val="accent2"/>
                  </a:solidFill>
                  <a:latin typeface="+mj-ea"/>
                  <a:ea typeface="+mj-ea"/>
                </a:endParaRPr>
              </a:p>
            </p:txBody>
          </p:sp>
          <p:sp>
            <p:nvSpPr>
              <p:cNvPr id="52" name="TextBox 17"/>
              <p:cNvSpPr txBox="1"/>
              <p:nvPr/>
            </p:nvSpPr>
            <p:spPr>
              <a:xfrm>
                <a:off x="4674187" y="6087225"/>
                <a:ext cx="362556" cy="274841"/>
              </a:xfrm>
              <a:prstGeom prst="rect">
                <a:avLst/>
              </a:prstGeom>
              <a:solidFill>
                <a:srgbClr val="FFC000"/>
              </a:solidFill>
              <a:effectLst>
                <a:softEdge rad="63500"/>
              </a:effectLst>
            </p:spPr>
            <p:txBody>
              <a:bodyPr wrap="square" lIns="0" rIns="0" rtlCol="0">
                <a:spAutoFit/>
              </a:bodyPr>
              <a:lstStyle/>
              <a:p>
                <a:pPr algn="ctr"/>
                <a:r>
                  <a:rPr lang="en-US" altLang="zh-CN" sz="1200" b="1" dirty="0" smtClean="0">
                    <a:solidFill>
                      <a:schemeClr val="accent2"/>
                    </a:solidFill>
                    <a:latin typeface="+mj-ea"/>
                    <a:ea typeface="+mj-ea"/>
                  </a:rPr>
                  <a:t>IP</a:t>
                </a:r>
                <a:endParaRPr lang="zh-CN" altLang="en-US" sz="1200" b="1" dirty="0">
                  <a:solidFill>
                    <a:schemeClr val="accent2"/>
                  </a:solidFill>
                  <a:latin typeface="+mj-ea"/>
                  <a:ea typeface="+mj-ea"/>
                </a:endParaRPr>
              </a:p>
            </p:txBody>
          </p:sp>
          <p:sp>
            <p:nvSpPr>
              <p:cNvPr id="53" name="TextBox 2"/>
              <p:cNvSpPr txBox="1"/>
              <p:nvPr/>
            </p:nvSpPr>
            <p:spPr>
              <a:xfrm>
                <a:off x="7970151" y="5897226"/>
                <a:ext cx="549572" cy="336268"/>
              </a:xfrm>
              <a:prstGeom prst="rect">
                <a:avLst/>
              </a:prstGeom>
              <a:solidFill>
                <a:srgbClr val="FFC000"/>
              </a:solidFill>
              <a:effectLst>
                <a:softEdge rad="63500"/>
              </a:effectLst>
            </p:spPr>
            <p:txBody>
              <a:bodyPr wrap="square" lIns="0" rIns="0" rtlCol="0">
                <a:spAutoFit/>
              </a:bodyPr>
              <a:lstStyle/>
              <a:p>
                <a:pPr algn="ctr"/>
                <a:r>
                  <a:rPr lang="en-US" altLang="zh-CN" sz="1600" b="1" dirty="0" smtClean="0">
                    <a:solidFill>
                      <a:srgbClr val="FF0000"/>
                    </a:solidFill>
                    <a:latin typeface="+mj-ea"/>
                    <a:ea typeface="+mj-ea"/>
                  </a:rPr>
                  <a:t>LA</a:t>
                </a:r>
                <a:endParaRPr lang="zh-CN" altLang="en-US" sz="1600" b="1" dirty="0">
                  <a:solidFill>
                    <a:srgbClr val="FF0000"/>
                  </a:solidFill>
                  <a:latin typeface="+mj-ea"/>
                  <a:ea typeface="+mj-ea"/>
                </a:endParaRPr>
              </a:p>
            </p:txBody>
          </p:sp>
          <p:sp>
            <p:nvSpPr>
              <p:cNvPr id="54" name="TextBox 3"/>
              <p:cNvSpPr txBox="1"/>
              <p:nvPr/>
            </p:nvSpPr>
            <p:spPr>
              <a:xfrm>
                <a:off x="8607126" y="6087225"/>
                <a:ext cx="329596" cy="274841"/>
              </a:xfrm>
              <a:prstGeom prst="rect">
                <a:avLst/>
              </a:prstGeom>
              <a:solidFill>
                <a:srgbClr val="FFC000"/>
              </a:solidFill>
              <a:effectLst>
                <a:softEdge rad="63500"/>
              </a:effectLst>
            </p:spPr>
            <p:txBody>
              <a:bodyPr wrap="square" lIns="0" rIns="0" rtlCol="0">
                <a:spAutoFit/>
              </a:bodyPr>
              <a:lstStyle/>
              <a:p>
                <a:pPr algn="ctr"/>
                <a:r>
                  <a:rPr lang="zh-CN" altLang="en-US" sz="1200" b="1" dirty="0" smtClean="0">
                    <a:solidFill>
                      <a:schemeClr val="accent2"/>
                    </a:solidFill>
                    <a:latin typeface="+mj-lt"/>
                    <a:ea typeface="+mj-ea"/>
                  </a:rPr>
                  <a:t>工艺</a:t>
                </a:r>
                <a:endParaRPr lang="zh-CN" altLang="en-US" sz="1200" b="1" dirty="0">
                  <a:solidFill>
                    <a:schemeClr val="accent2"/>
                  </a:solidFill>
                  <a:latin typeface="+mj-lt"/>
                  <a:ea typeface="+mj-ea"/>
                </a:endParaRPr>
              </a:p>
            </p:txBody>
          </p:sp>
          <p:sp>
            <p:nvSpPr>
              <p:cNvPr id="55" name="TextBox 4"/>
              <p:cNvSpPr txBox="1"/>
              <p:nvPr/>
            </p:nvSpPr>
            <p:spPr>
              <a:xfrm>
                <a:off x="7552418" y="6087225"/>
                <a:ext cx="362556" cy="274841"/>
              </a:xfrm>
              <a:prstGeom prst="rect">
                <a:avLst/>
              </a:prstGeom>
              <a:solidFill>
                <a:srgbClr val="FFC000"/>
              </a:solidFill>
              <a:effectLst>
                <a:softEdge rad="63500"/>
              </a:effectLst>
            </p:spPr>
            <p:txBody>
              <a:bodyPr wrap="square" lIns="0" rIns="0" rtlCol="0">
                <a:spAutoFit/>
              </a:bodyPr>
              <a:lstStyle/>
              <a:p>
                <a:pPr algn="ctr"/>
                <a:r>
                  <a:rPr lang="en-US" altLang="zh-CN" sz="1200" b="1" dirty="0" smtClean="0">
                    <a:solidFill>
                      <a:schemeClr val="accent2"/>
                    </a:solidFill>
                    <a:latin typeface="+mj-ea"/>
                    <a:ea typeface="+mj-ea"/>
                  </a:rPr>
                  <a:t>IP</a:t>
                </a:r>
                <a:endParaRPr lang="zh-CN" altLang="en-US" sz="1200" b="1" dirty="0">
                  <a:solidFill>
                    <a:schemeClr val="accent2"/>
                  </a:solidFill>
                  <a:latin typeface="+mj-ea"/>
                  <a:ea typeface="+mj-ea"/>
                </a:endParaRPr>
              </a:p>
            </p:txBody>
          </p:sp>
          <p:sp>
            <p:nvSpPr>
              <p:cNvPr id="56" name="TextBox 55"/>
              <p:cNvSpPr txBox="1"/>
              <p:nvPr/>
            </p:nvSpPr>
            <p:spPr>
              <a:xfrm>
                <a:off x="2432933" y="5880812"/>
                <a:ext cx="494394" cy="336268"/>
              </a:xfrm>
              <a:prstGeom prst="rect">
                <a:avLst/>
              </a:prstGeom>
              <a:solidFill>
                <a:srgbClr val="FFC000"/>
              </a:solidFill>
              <a:effectLst>
                <a:softEdge rad="63500"/>
              </a:effectLst>
            </p:spPr>
            <p:txBody>
              <a:bodyPr wrap="square" lIns="0" rIns="0" rtlCol="0">
                <a:spAutoFit/>
              </a:bodyPr>
              <a:lstStyle/>
              <a:p>
                <a:pPr algn="ctr"/>
                <a:r>
                  <a:rPr lang="en-US" altLang="zh-CN" sz="1600" b="1" dirty="0" smtClean="0">
                    <a:solidFill>
                      <a:srgbClr val="FF0000"/>
                    </a:solidFill>
                    <a:latin typeface="+mj-ea"/>
                    <a:ea typeface="+mj-ea"/>
                  </a:rPr>
                  <a:t>X86</a:t>
                </a:r>
                <a:endParaRPr lang="zh-CN" altLang="en-US" sz="1600" b="1" dirty="0">
                  <a:solidFill>
                    <a:srgbClr val="FF0000"/>
                  </a:solidFill>
                  <a:latin typeface="+mj-ea"/>
                  <a:ea typeface="+mj-ea"/>
                </a:endParaRPr>
              </a:p>
            </p:txBody>
          </p:sp>
          <p:sp>
            <p:nvSpPr>
              <p:cNvPr id="57" name="TextBox 56"/>
              <p:cNvSpPr txBox="1"/>
              <p:nvPr/>
            </p:nvSpPr>
            <p:spPr>
              <a:xfrm>
                <a:off x="3069908" y="6111571"/>
                <a:ext cx="329596" cy="274841"/>
              </a:xfrm>
              <a:prstGeom prst="rect">
                <a:avLst/>
              </a:prstGeom>
              <a:solidFill>
                <a:srgbClr val="FFC000"/>
              </a:solidFill>
              <a:effectLst>
                <a:softEdge rad="63500"/>
              </a:effectLst>
            </p:spPr>
            <p:txBody>
              <a:bodyPr wrap="square" lIns="0" rIns="0" rtlCol="0">
                <a:spAutoFit/>
              </a:bodyPr>
              <a:lstStyle/>
              <a:p>
                <a:pPr algn="ctr"/>
                <a:r>
                  <a:rPr lang="zh-CN" altLang="en-US" sz="1200" b="1" dirty="0" smtClean="0">
                    <a:solidFill>
                      <a:schemeClr val="accent2"/>
                    </a:solidFill>
                    <a:latin typeface="+mj-ea"/>
                    <a:ea typeface="+mj-ea"/>
                  </a:rPr>
                  <a:t>工艺</a:t>
                </a:r>
                <a:endParaRPr lang="zh-CN" altLang="en-US" sz="1200" b="1" dirty="0">
                  <a:solidFill>
                    <a:schemeClr val="accent2"/>
                  </a:solidFill>
                  <a:latin typeface="+mj-ea"/>
                  <a:ea typeface="+mj-ea"/>
                </a:endParaRPr>
              </a:p>
            </p:txBody>
          </p:sp>
          <p:sp>
            <p:nvSpPr>
              <p:cNvPr id="58" name="TextBox 57"/>
              <p:cNvSpPr txBox="1"/>
              <p:nvPr/>
            </p:nvSpPr>
            <p:spPr>
              <a:xfrm>
                <a:off x="2015200" y="6076812"/>
                <a:ext cx="362556" cy="274841"/>
              </a:xfrm>
              <a:prstGeom prst="rect">
                <a:avLst/>
              </a:prstGeom>
              <a:solidFill>
                <a:srgbClr val="FFC000"/>
              </a:solidFill>
              <a:effectLst>
                <a:softEdge rad="63500"/>
              </a:effectLst>
            </p:spPr>
            <p:txBody>
              <a:bodyPr wrap="square" lIns="0" rIns="0" rtlCol="0">
                <a:spAutoFit/>
              </a:bodyPr>
              <a:lstStyle/>
              <a:p>
                <a:pPr algn="ctr"/>
                <a:r>
                  <a:rPr lang="en-US" altLang="zh-CN" sz="1200" b="1" dirty="0" smtClean="0">
                    <a:solidFill>
                      <a:schemeClr val="accent2"/>
                    </a:solidFill>
                    <a:latin typeface="+mj-ea"/>
                    <a:ea typeface="+mj-ea"/>
                  </a:rPr>
                  <a:t>IP</a:t>
                </a:r>
                <a:endParaRPr lang="zh-CN" altLang="en-US" sz="1200" b="1" dirty="0">
                  <a:solidFill>
                    <a:schemeClr val="accent2"/>
                  </a:solidFill>
                  <a:latin typeface="+mj-ea"/>
                  <a:ea typeface="+mj-ea"/>
                </a:endParaRPr>
              </a:p>
            </p:txBody>
          </p:sp>
        </p:grpSp>
      </p:grpSp>
      <p:grpSp>
        <p:nvGrpSpPr>
          <p:cNvPr id="8" name="组合 58"/>
          <p:cNvGrpSpPr/>
          <p:nvPr/>
        </p:nvGrpSpPr>
        <p:grpSpPr>
          <a:xfrm>
            <a:off x="8221019" y="4797152"/>
            <a:ext cx="1982114" cy="540060"/>
            <a:chOff x="7380324" y="4725144"/>
            <a:chExt cx="1779489" cy="540060"/>
          </a:xfrm>
        </p:grpSpPr>
        <p:pic>
          <p:nvPicPr>
            <p:cNvPr id="45" name="Picture 1"/>
            <p:cNvPicPr>
              <a:picLocks noChangeAspect="1" noChangeArrowheads="1"/>
            </p:cNvPicPr>
            <p:nvPr/>
          </p:nvPicPr>
          <p:blipFill>
            <a:blip r:embed="rId5" cstate="print"/>
            <a:srcRect/>
            <a:stretch>
              <a:fillRect/>
            </a:stretch>
          </p:blipFill>
          <p:spPr bwMode="auto">
            <a:xfrm>
              <a:off x="7380324" y="4977172"/>
              <a:ext cx="474132" cy="288032"/>
            </a:xfrm>
            <a:prstGeom prst="rect">
              <a:avLst/>
            </a:prstGeom>
            <a:noFill/>
            <a:ln w="9525">
              <a:solidFill>
                <a:srgbClr val="FF0000"/>
              </a:solidFill>
              <a:miter lim="800000"/>
              <a:headEnd/>
              <a:tailEnd/>
            </a:ln>
          </p:spPr>
        </p:pic>
        <p:pic>
          <p:nvPicPr>
            <p:cNvPr id="46" name="图片 45"/>
            <p:cNvPicPr>
              <a:picLocks noChangeAspect="1"/>
            </p:cNvPicPr>
            <p:nvPr/>
          </p:nvPicPr>
          <p:blipFill>
            <a:blip r:embed="rId4" cstate="print"/>
            <a:stretch>
              <a:fillRect/>
            </a:stretch>
          </p:blipFill>
          <p:spPr>
            <a:xfrm>
              <a:off x="8712472" y="4977172"/>
              <a:ext cx="447341" cy="287973"/>
            </a:xfrm>
            <a:prstGeom prst="rect">
              <a:avLst/>
            </a:prstGeom>
            <a:ln>
              <a:solidFill>
                <a:srgbClr val="FF0000"/>
              </a:solidFill>
            </a:ln>
          </p:spPr>
        </p:pic>
        <p:sp>
          <p:nvSpPr>
            <p:cNvPr id="47" name="TextBox 46"/>
            <p:cNvSpPr txBox="1"/>
            <p:nvPr/>
          </p:nvSpPr>
          <p:spPr>
            <a:xfrm>
              <a:off x="7956388" y="4725144"/>
              <a:ext cx="692152" cy="260350"/>
            </a:xfrm>
            <a:prstGeom prst="rect">
              <a:avLst/>
            </a:prstGeom>
            <a:solidFill>
              <a:schemeClr val="bg1"/>
            </a:solidFill>
            <a:ln>
              <a:solidFill>
                <a:srgbClr val="FF0000"/>
              </a:solidFill>
            </a:ln>
            <a:effectLst/>
          </p:spPr>
          <p:txBody>
            <a:bodyPr wrap="square" lIns="0" rIns="0" rtlCol="0">
              <a:spAutoFit/>
            </a:bodyPr>
            <a:lstStyle/>
            <a:p>
              <a:pPr algn="ctr"/>
              <a:r>
                <a:rPr lang="en-US" altLang="zh-CN" sz="1100" dirty="0" smtClean="0">
                  <a:solidFill>
                    <a:schemeClr val="accent2"/>
                  </a:solidFill>
                  <a:latin typeface="+mj-ea"/>
                  <a:ea typeface="+mj-ea"/>
                </a:rPr>
                <a:t>X86/Linux</a:t>
              </a:r>
              <a:endParaRPr lang="zh-CN" altLang="en-US" sz="1100" dirty="0">
                <a:solidFill>
                  <a:schemeClr val="accent2"/>
                </a:solidFill>
                <a:latin typeface="+mj-ea"/>
                <a:ea typeface="+mj-ea"/>
              </a:endParaRP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Effect transition="in" filter="wipe(down)">
                                      <p:cBhvr>
                                        <p:cTn id="7" dur="500"/>
                                        <p:tgtEl>
                                          <p:spTgt spid="3174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1746">
                                            <p:txEl>
                                              <p:pRg st="1" end="1"/>
                                            </p:txEl>
                                          </p:spTgt>
                                        </p:tgtEl>
                                        <p:attrNameLst>
                                          <p:attrName>style.visibility</p:attrName>
                                        </p:attrNameLst>
                                      </p:cBhvr>
                                      <p:to>
                                        <p:strVal val="visible"/>
                                      </p:to>
                                    </p:set>
                                    <p:animEffect transition="in" filter="wipe(down)">
                                      <p:cBhvr>
                                        <p:cTn id="10" dur="500"/>
                                        <p:tgtEl>
                                          <p:spTgt spid="31746">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1746">
                                            <p:txEl>
                                              <p:pRg st="2" end="2"/>
                                            </p:txEl>
                                          </p:spTgt>
                                        </p:tgtEl>
                                        <p:attrNameLst>
                                          <p:attrName>style.visibility</p:attrName>
                                        </p:attrNameLst>
                                      </p:cBhvr>
                                      <p:to>
                                        <p:strVal val="visible"/>
                                      </p:to>
                                    </p:set>
                                    <p:animEffect transition="in" filter="wipe(down)">
                                      <p:cBhvr>
                                        <p:cTn id="13" dur="500"/>
                                        <p:tgtEl>
                                          <p:spTgt spid="3174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1746">
                                            <p:txEl>
                                              <p:pRg st="3" end="3"/>
                                            </p:txEl>
                                          </p:spTgt>
                                        </p:tgtEl>
                                        <p:attrNameLst>
                                          <p:attrName>style.visibility</p:attrName>
                                        </p:attrNameLst>
                                      </p:cBhvr>
                                      <p:to>
                                        <p:strVal val="visible"/>
                                      </p:to>
                                    </p:set>
                                    <p:animEffect transition="in" filter="wipe(down)">
                                      <p:cBhvr>
                                        <p:cTn id="18" dur="500"/>
                                        <p:tgtEl>
                                          <p:spTgt spid="31746">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1746">
                                            <p:txEl>
                                              <p:pRg st="4" end="4"/>
                                            </p:txEl>
                                          </p:spTgt>
                                        </p:tgtEl>
                                        <p:attrNameLst>
                                          <p:attrName>style.visibility</p:attrName>
                                        </p:attrNameLst>
                                      </p:cBhvr>
                                      <p:to>
                                        <p:strVal val="visible"/>
                                      </p:to>
                                    </p:set>
                                    <p:animEffect transition="in" filter="wipe(down)">
                                      <p:cBhvr>
                                        <p:cTn id="21" dur="500"/>
                                        <p:tgtEl>
                                          <p:spTgt spid="31746">
                                            <p:txEl>
                                              <p:pRg st="4" end="4"/>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1746">
                                            <p:txEl>
                                              <p:pRg st="5" end="5"/>
                                            </p:txEl>
                                          </p:spTgt>
                                        </p:tgtEl>
                                        <p:attrNameLst>
                                          <p:attrName>style.visibility</p:attrName>
                                        </p:attrNameLst>
                                      </p:cBhvr>
                                      <p:to>
                                        <p:strVal val="visible"/>
                                      </p:to>
                                    </p:set>
                                    <p:animEffect transition="in" filter="wipe(down)">
                                      <p:cBhvr>
                                        <p:cTn id="24" dur="500"/>
                                        <p:tgtEl>
                                          <p:spTgt spid="31746">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1746">
                                            <p:txEl>
                                              <p:pRg st="6" end="6"/>
                                            </p:txEl>
                                          </p:spTgt>
                                        </p:tgtEl>
                                        <p:attrNameLst>
                                          <p:attrName>style.visibility</p:attrName>
                                        </p:attrNameLst>
                                      </p:cBhvr>
                                      <p:to>
                                        <p:strVal val="visible"/>
                                      </p:to>
                                    </p:set>
                                    <p:animEffect transition="in" filter="wipe(down)">
                                      <p:cBhvr>
                                        <p:cTn id="29" dur="500"/>
                                        <p:tgtEl>
                                          <p:spTgt spid="31746">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1746">
                                            <p:txEl>
                                              <p:pRg st="7" end="7"/>
                                            </p:txEl>
                                          </p:spTgt>
                                        </p:tgtEl>
                                        <p:attrNameLst>
                                          <p:attrName>style.visibility</p:attrName>
                                        </p:attrNameLst>
                                      </p:cBhvr>
                                      <p:to>
                                        <p:strVal val="visible"/>
                                      </p:to>
                                    </p:set>
                                    <p:animEffect transition="in" filter="wipe(down)">
                                      <p:cBhvr>
                                        <p:cTn id="32" dur="500"/>
                                        <p:tgtEl>
                                          <p:spTgt spid="3174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1+#ppt_w/2"/>
                                          </p:val>
                                        </p:tav>
                                        <p:tav tm="100000">
                                          <p:val>
                                            <p:strVal val="#ppt_x"/>
                                          </p:val>
                                        </p:tav>
                                      </p:tavLst>
                                    </p:anim>
                                    <p:anim calcmode="lin" valueType="num">
                                      <p:cBhvr additive="base">
                                        <p:cTn id="4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微信图片_20241122121750.png"/>
          <p:cNvPicPr>
            <a:picLocks noChangeAspect="1"/>
          </p:cNvPicPr>
          <p:nvPr/>
        </p:nvPicPr>
        <p:blipFill>
          <a:blip r:embed="rId2" cstate="print"/>
          <a:stretch>
            <a:fillRect/>
          </a:stretch>
        </p:blipFill>
        <p:spPr>
          <a:xfrm>
            <a:off x="1222375" y="977265"/>
            <a:ext cx="10093960" cy="5097145"/>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a:xfrm>
            <a:off x="914400" y="90488"/>
            <a:ext cx="10361613" cy="1143000"/>
          </a:xfrm>
        </p:spPr>
        <p:txBody>
          <a:bodyPr vert="horz" wrap="square" lIns="90000" tIns="46800" rIns="90000" bIns="46800" anchor="ctr" anchorCtr="0"/>
          <a:lstStyle/>
          <a:p>
            <a:r>
              <a:rPr lang="zh-CN" altLang="en-US" sz="3200" dirty="0"/>
              <a:t>（三）自主应用：形成自主编程框架</a:t>
            </a:r>
          </a:p>
        </p:txBody>
      </p:sp>
      <p:sp>
        <p:nvSpPr>
          <p:cNvPr id="124931" name="内容占位符 2"/>
          <p:cNvSpPr>
            <a:spLocks noGrp="1"/>
          </p:cNvSpPr>
          <p:nvPr>
            <p:ph idx="1"/>
          </p:nvPr>
        </p:nvSpPr>
        <p:spPr>
          <a:xfrm>
            <a:off x="373063" y="1341438"/>
            <a:ext cx="11498262" cy="5327650"/>
          </a:xfrm>
        </p:spPr>
        <p:txBody>
          <a:bodyPr vert="horz" wrap="square" lIns="90000" tIns="46800" rIns="90000" bIns="46800" anchor="t" anchorCtr="0"/>
          <a:lstStyle/>
          <a:p>
            <a:pPr indent="-358775" defTabSz="449580"/>
            <a:r>
              <a:rPr lang="zh-CN" altLang="en-US" dirty="0"/>
              <a:t>为什么自主</a:t>
            </a:r>
            <a:r>
              <a:rPr lang="en-US" altLang="zh-CN" dirty="0"/>
              <a:t>CPU</a:t>
            </a:r>
            <a:r>
              <a:rPr lang="zh-CN" altLang="en-US" dirty="0"/>
              <a:t>和操作系统的整机产品需要无休止的</a:t>
            </a:r>
            <a:r>
              <a:rPr lang="zh-CN" altLang="en-US" dirty="0">
                <a:solidFill>
                  <a:srgbClr val="FF0000"/>
                </a:solidFill>
              </a:rPr>
              <a:t>迁移适配？</a:t>
            </a:r>
            <a:endParaRPr lang="en-US" altLang="zh-CN" dirty="0">
              <a:solidFill>
                <a:srgbClr val="FF0000"/>
              </a:solidFill>
            </a:endParaRPr>
          </a:p>
          <a:p>
            <a:pPr lvl="1" indent="-358775" defTabSz="449580"/>
            <a:r>
              <a:rPr lang="zh-CN" altLang="en-US" dirty="0"/>
              <a:t>现有的应用都是基于别人的编程框架编出来的</a:t>
            </a:r>
            <a:endParaRPr lang="en-US" altLang="zh-CN" dirty="0"/>
          </a:p>
          <a:p>
            <a:pPr lvl="1" indent="-358775" defTabSz="449580"/>
            <a:r>
              <a:rPr lang="en-US" altLang="zh-CN" dirty="0"/>
              <a:t>Windows</a:t>
            </a:r>
            <a:r>
              <a:rPr lang="zh-CN" altLang="en-US" dirty="0"/>
              <a:t>、</a:t>
            </a:r>
            <a:r>
              <a:rPr lang="en-US" altLang="zh-CN" dirty="0"/>
              <a:t>Android</a:t>
            </a:r>
            <a:r>
              <a:rPr lang="zh-CN" altLang="en-US" dirty="0"/>
              <a:t>不存在适配问题，有自己的编程框架，如</a:t>
            </a:r>
            <a:r>
              <a:rPr lang="en-US" altLang="zh-CN" dirty="0"/>
              <a:t>Windows</a:t>
            </a:r>
            <a:r>
              <a:rPr lang="zh-CN" altLang="en-US" dirty="0"/>
              <a:t>的</a:t>
            </a:r>
            <a:r>
              <a:rPr lang="en-US" altLang="zh-CN" dirty="0"/>
              <a:t>.NET Framework</a:t>
            </a:r>
            <a:r>
              <a:rPr lang="zh-CN" altLang="en-US" dirty="0"/>
              <a:t>（</a:t>
            </a:r>
            <a:r>
              <a:rPr lang="en-US" altLang="zh-CN" dirty="0"/>
              <a:t>C#</a:t>
            </a:r>
            <a:r>
              <a:rPr lang="zh-CN" altLang="en-US" dirty="0"/>
              <a:t>语言）</a:t>
            </a:r>
            <a:endParaRPr lang="en-US" altLang="zh-CN" dirty="0"/>
          </a:p>
          <a:p>
            <a:pPr indent="-358775" defTabSz="449580"/>
            <a:r>
              <a:rPr lang="zh-CN" altLang="en-US" dirty="0">
                <a:solidFill>
                  <a:srgbClr val="FF0000"/>
                </a:solidFill>
              </a:rPr>
              <a:t>自主编程框架</a:t>
            </a:r>
            <a:r>
              <a:rPr lang="zh-CN" altLang="en-US" dirty="0"/>
              <a:t>是自主操作的核心</a:t>
            </a:r>
            <a:endParaRPr lang="en-US" altLang="zh-CN" dirty="0"/>
          </a:p>
          <a:p>
            <a:pPr lvl="1" indent="-358775" defTabSz="449580"/>
            <a:r>
              <a:rPr lang="zh-CN" altLang="en-US" dirty="0"/>
              <a:t>纯血鸿蒙之前的国产操作系统都不是真正意义上的自主操作系统，只是开源操作系统的自主发行版</a:t>
            </a:r>
            <a:endParaRPr lang="en-US" altLang="zh-CN" dirty="0"/>
          </a:p>
          <a:p>
            <a:pPr lvl="1" indent="-358775" defTabSz="449580"/>
            <a:r>
              <a:rPr lang="zh-CN" altLang="en-US" dirty="0"/>
              <a:t>自主操作系统本质特征：</a:t>
            </a:r>
            <a:r>
              <a:rPr lang="en-US" altLang="zh-CN" dirty="0">
                <a:solidFill>
                  <a:schemeClr val="accent2"/>
                </a:solidFill>
              </a:rPr>
              <a:t>APP</a:t>
            </a:r>
            <a:r>
              <a:rPr lang="zh-CN" altLang="en-US" dirty="0">
                <a:solidFill>
                  <a:schemeClr val="accent2"/>
                </a:solidFill>
              </a:rPr>
              <a:t>开发者使用自主编程框架进行编程并形成自主应用生态</a:t>
            </a:r>
            <a:endParaRPr lang="en-US" altLang="zh-CN" dirty="0">
              <a:solidFill>
                <a:schemeClr val="accent2"/>
              </a:solidFill>
            </a:endParaRPr>
          </a:p>
          <a:p>
            <a:pPr indent="-358775" defTabSz="449580"/>
            <a:r>
              <a:rPr lang="zh-CN" altLang="en-US" dirty="0"/>
              <a:t>龙芯自主编程框架的考虑</a:t>
            </a:r>
            <a:endParaRPr lang="en-US" altLang="zh-CN" dirty="0"/>
          </a:p>
          <a:p>
            <a:pPr lvl="1" indent="-358775" defTabSz="449580"/>
            <a:r>
              <a:rPr lang="zh-CN" altLang="en-US" dirty="0"/>
              <a:t>调研</a:t>
            </a:r>
            <a:r>
              <a:rPr lang="en-US" altLang="zh-CN" dirty="0"/>
              <a:t>Windows</a:t>
            </a:r>
            <a:r>
              <a:rPr lang="zh-CN" altLang="en-US" dirty="0"/>
              <a:t>、</a:t>
            </a:r>
            <a:r>
              <a:rPr lang="en-US" altLang="zh-CN" dirty="0"/>
              <a:t>IOS</a:t>
            </a:r>
            <a:r>
              <a:rPr lang="zh-CN" altLang="en-US" dirty="0"/>
              <a:t>、</a:t>
            </a:r>
            <a:r>
              <a:rPr lang="en-US" altLang="zh-CN" dirty="0"/>
              <a:t>Android</a:t>
            </a:r>
            <a:r>
              <a:rPr lang="zh-CN" altLang="en-US" dirty="0"/>
              <a:t>、纯血鸿蒙编程框架的特征，形成龙芯自主编程框架</a:t>
            </a:r>
            <a:endParaRPr lang="en-US" altLang="zh-CN" dirty="0"/>
          </a:p>
          <a:p>
            <a:pPr lvl="1" indent="-358775" defTabSz="449580"/>
            <a:r>
              <a:rPr lang="zh-CN" altLang="en-US" dirty="0">
                <a:solidFill>
                  <a:schemeClr val="accent2"/>
                </a:solidFill>
              </a:rPr>
              <a:t>目标：手机</a:t>
            </a:r>
            <a:r>
              <a:rPr lang="en-US" altLang="zh-CN" dirty="0">
                <a:solidFill>
                  <a:schemeClr val="accent2"/>
                </a:solidFill>
              </a:rPr>
              <a:t>APP</a:t>
            </a:r>
            <a:r>
              <a:rPr lang="zh-CN" altLang="en-US" dirty="0">
                <a:solidFill>
                  <a:schemeClr val="accent2"/>
                </a:solidFill>
              </a:rPr>
              <a:t>有苹果版和安卓版，电脑应用有</a:t>
            </a:r>
            <a:r>
              <a:rPr lang="en-US" altLang="zh-CN" dirty="0">
                <a:solidFill>
                  <a:schemeClr val="accent2"/>
                </a:solidFill>
              </a:rPr>
              <a:t>Windows</a:t>
            </a:r>
            <a:r>
              <a:rPr lang="zh-CN" altLang="en-US" dirty="0">
                <a:solidFill>
                  <a:schemeClr val="accent2"/>
                </a:solidFill>
              </a:rPr>
              <a:t>版和龙芯版</a:t>
            </a:r>
            <a:endParaRPr lang="en-US" altLang="zh-CN" dirty="0">
              <a:solidFill>
                <a:schemeClr val="accent2"/>
              </a:solidFill>
            </a:endParaRPr>
          </a:p>
          <a:p>
            <a:pPr indent="-358775" defTabSz="449580"/>
            <a:r>
              <a:rPr lang="zh-CN" altLang="en-US" dirty="0">
                <a:solidFill>
                  <a:srgbClr val="FF0000"/>
                </a:solidFill>
              </a:rPr>
              <a:t>自主指令系统</a:t>
            </a:r>
            <a:r>
              <a:rPr lang="en-US" altLang="zh-CN" dirty="0">
                <a:solidFill>
                  <a:srgbClr val="FF0000"/>
                </a:solidFill>
              </a:rPr>
              <a:t>+</a:t>
            </a:r>
            <a:r>
              <a:rPr lang="zh-CN" altLang="en-US" dirty="0">
                <a:solidFill>
                  <a:srgbClr val="FF0000"/>
                </a:solidFill>
              </a:rPr>
              <a:t>自主编程框架是自主软件生态的底座</a:t>
            </a:r>
            <a:endParaRPr lang="en-US" altLang="zh-CN" dirty="0">
              <a:solidFill>
                <a:srgbClr val="FF0000"/>
              </a:solidFill>
            </a:endParaRPr>
          </a:p>
          <a:p>
            <a:pPr lvl="1" indent="-358775" defTabSz="449580"/>
            <a:endParaRPr lang="en-US" altLang="zh-CN" dirty="0"/>
          </a:p>
          <a:p>
            <a:pPr lvl="1" indent="-358775" defTabSz="449580"/>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9" y="1"/>
            <a:ext cx="12119682" cy="964565"/>
          </a:xfrm>
        </p:spPr>
        <p:txBody>
          <a:bodyPr/>
          <a:lstStyle/>
          <a:p>
            <a:r>
              <a:rPr lang="zh-CN" altLang="en-US" dirty="0" smtClean="0"/>
              <a:t>自主化应用带动龙架构软件生态建设</a:t>
            </a:r>
            <a:endParaRPr lang="zh-CN" altLang="en-US" dirty="0"/>
          </a:p>
        </p:txBody>
      </p:sp>
      <p:sp>
        <p:nvSpPr>
          <p:cNvPr id="3" name="内容占位符 2"/>
          <p:cNvSpPr>
            <a:spLocks noGrp="1"/>
          </p:cNvSpPr>
          <p:nvPr>
            <p:ph idx="1"/>
          </p:nvPr>
        </p:nvSpPr>
        <p:spPr>
          <a:xfrm>
            <a:off x="459360" y="1120141"/>
            <a:ext cx="11510692" cy="5755005"/>
          </a:xfrm>
        </p:spPr>
        <p:txBody>
          <a:bodyPr/>
          <a:lstStyle/>
          <a:p>
            <a:pPr eaLnBrk="1" latinLnBrk="0"/>
            <a:r>
              <a:rPr lang="zh-CN" altLang="en-US" dirty="0" smtClean="0"/>
              <a:t>“十二五”期间国家战略装备应用：</a:t>
            </a:r>
            <a:r>
              <a:rPr lang="zh-CN" altLang="en-US" dirty="0" smtClean="0">
                <a:solidFill>
                  <a:srgbClr val="FF0000"/>
                </a:solidFill>
              </a:rPr>
              <a:t>工控类应用，软件比较单一，没有壁垒</a:t>
            </a:r>
            <a:endParaRPr lang="en-US" altLang="zh-CN" dirty="0" smtClean="0">
              <a:solidFill>
                <a:srgbClr val="FF0000"/>
              </a:solidFill>
            </a:endParaRPr>
          </a:p>
          <a:p>
            <a:pPr lvl="1" eaLnBrk="1" latinLnBrk="0"/>
            <a:r>
              <a:rPr lang="zh-CN" altLang="en-US" dirty="0" smtClean="0"/>
              <a:t>北斗、天宫、嫦娥等航天及</a:t>
            </a:r>
            <a:r>
              <a:rPr lang="zh-CN" altLang="en-US" dirty="0"/>
              <a:t>安全应用领域</a:t>
            </a:r>
            <a:r>
              <a:rPr lang="zh-CN" altLang="en-US" dirty="0" smtClean="0"/>
              <a:t>装备，能源、交通、智能制造等装备应用</a:t>
            </a:r>
            <a:endParaRPr lang="zh-CN" altLang="en-US" dirty="0" smtClean="0">
              <a:solidFill>
                <a:schemeClr val="accent2"/>
              </a:solidFill>
              <a:cs typeface="+mn-ea"/>
              <a:sym typeface="+mn-ea"/>
            </a:endParaRPr>
          </a:p>
          <a:p>
            <a:pPr lvl="1" eaLnBrk="1" latinLnBrk="0"/>
            <a:r>
              <a:rPr lang="zh-CN" altLang="en-US" dirty="0" smtClean="0">
                <a:solidFill>
                  <a:schemeClr val="tx1"/>
                </a:solidFill>
                <a:cs typeface="+mn-ea"/>
                <a:sym typeface="+mn-ea"/>
              </a:rPr>
              <a:t>随着龙芯</a:t>
            </a:r>
            <a:r>
              <a:rPr lang="en-US" altLang="zh-CN" dirty="0" smtClean="0">
                <a:solidFill>
                  <a:schemeClr val="tx1"/>
                </a:solidFill>
                <a:cs typeface="+mn-ea"/>
                <a:sym typeface="+mn-ea"/>
              </a:rPr>
              <a:t>CPU</a:t>
            </a:r>
            <a:r>
              <a:rPr lang="zh-CN" altLang="en-US" dirty="0" smtClean="0">
                <a:solidFill>
                  <a:schemeClr val="tx1"/>
                </a:solidFill>
                <a:cs typeface="+mn-ea"/>
                <a:sym typeface="+mn-ea"/>
              </a:rPr>
              <a:t>性价比的不断提高，工控类应用开始走向开放市场竞争，达到</a:t>
            </a:r>
            <a:r>
              <a:rPr lang="zh-CN" altLang="en-US" dirty="0" smtClean="0">
                <a:solidFill>
                  <a:schemeClr val="accent2"/>
                </a:solidFill>
                <a:cs typeface="+mn-ea"/>
                <a:sym typeface="+mn-ea"/>
              </a:rPr>
              <a:t>几百万套</a:t>
            </a:r>
            <a:r>
              <a:rPr lang="zh-CN" altLang="en-US" dirty="0" smtClean="0">
                <a:solidFill>
                  <a:schemeClr val="tx1"/>
                </a:solidFill>
                <a:cs typeface="+mn-ea"/>
                <a:sym typeface="+mn-ea"/>
              </a:rPr>
              <a:t>规模</a:t>
            </a:r>
            <a:endParaRPr lang="en-US" altLang="zh-CN" dirty="0" smtClean="0">
              <a:solidFill>
                <a:schemeClr val="tx1"/>
              </a:solidFill>
            </a:endParaRPr>
          </a:p>
          <a:p>
            <a:pPr lvl="0" eaLnBrk="1" latinLnBrk="0"/>
            <a:r>
              <a:rPr lang="zh-CN" altLang="en-US" dirty="0" smtClean="0"/>
              <a:t>“十三五”期间电子政务应用：</a:t>
            </a:r>
            <a:r>
              <a:rPr lang="zh-CN" altLang="en-US" dirty="0" smtClean="0">
                <a:solidFill>
                  <a:srgbClr val="FF0000"/>
                </a:solidFill>
              </a:rPr>
              <a:t>办公类信息化应用，软件生态已经可满足应用需求</a:t>
            </a:r>
          </a:p>
          <a:p>
            <a:pPr lvl="1" algn="l" eaLnBrk="1" latinLnBrk="0">
              <a:buClrTx/>
              <a:buSzTx/>
            </a:pPr>
            <a:r>
              <a:rPr lang="zh-CN" altLang="en-US" dirty="0" smtClean="0">
                <a:cs typeface="+mn-ea"/>
                <a:sym typeface="+mn-ea"/>
              </a:rPr>
              <a:t>电子政务内网、外网应用</a:t>
            </a:r>
            <a:r>
              <a:rPr lang="zh-CN" altLang="en-US" dirty="0" smtClean="0">
                <a:solidFill>
                  <a:schemeClr val="accent2"/>
                </a:solidFill>
                <a:cs typeface="+mn-ea"/>
                <a:sym typeface="+mn-ea"/>
              </a:rPr>
              <a:t>几百万套</a:t>
            </a:r>
            <a:r>
              <a:rPr lang="zh-CN" altLang="en-US" dirty="0" smtClean="0">
                <a:cs typeface="+mn-ea"/>
                <a:sym typeface="+mn-ea"/>
              </a:rPr>
              <a:t>规模；浏览器、</a:t>
            </a:r>
            <a:r>
              <a:rPr lang="en-US" altLang="zh-CN" dirty="0" smtClean="0">
                <a:cs typeface="+mn-ea"/>
                <a:sym typeface="+mn-ea"/>
              </a:rPr>
              <a:t>WPS</a:t>
            </a:r>
            <a:r>
              <a:rPr lang="zh-CN" altLang="en-US" dirty="0" smtClean="0">
                <a:cs typeface="+mn-ea"/>
                <a:sym typeface="+mn-ea"/>
              </a:rPr>
              <a:t>、微信、腾讯会议、钉钉等均有龙架构版本</a:t>
            </a:r>
            <a:endParaRPr lang="zh-CN" altLang="en-US" dirty="0" smtClean="0">
              <a:cs typeface="+mn-ea"/>
            </a:endParaRPr>
          </a:p>
          <a:p>
            <a:pPr lvl="0" eaLnBrk="1" latinLnBrk="0"/>
            <a:r>
              <a:rPr lang="zh-CN" altLang="en-US" dirty="0" smtClean="0"/>
              <a:t>“十四五”期间关键行业应用：</a:t>
            </a:r>
            <a:r>
              <a:rPr lang="zh-CN" altLang="en-US" dirty="0" smtClean="0">
                <a:solidFill>
                  <a:srgbClr val="FF0000"/>
                </a:solidFill>
              </a:rPr>
              <a:t>业务类信息化应用</a:t>
            </a:r>
            <a:r>
              <a:rPr lang="zh-CN" altLang="en-US" dirty="0" smtClean="0"/>
              <a:t>，软件生态不断完善</a:t>
            </a:r>
          </a:p>
          <a:p>
            <a:pPr lvl="1" eaLnBrk="1" latinLnBrk="0"/>
            <a:r>
              <a:rPr lang="zh-CN" altLang="en-US" dirty="0" smtClean="0">
                <a:sym typeface="+mn-ea"/>
              </a:rPr>
              <a:t>教育、医疗、能源、电信等信息化类应用，</a:t>
            </a:r>
            <a:r>
              <a:rPr lang="zh-CN" altLang="en-US" noProof="0" dirty="0" smtClean="0">
                <a:ln>
                  <a:noFill/>
                </a:ln>
                <a:effectLst/>
                <a:uLnTx/>
                <a:uFillTx/>
                <a:sym typeface="+mn-ea"/>
              </a:rPr>
              <a:t>应用场景大大拓展，大量</a:t>
            </a:r>
            <a:r>
              <a:rPr lang="en-US" altLang="zh-CN" noProof="0" dirty="0" smtClean="0">
                <a:ln>
                  <a:noFill/>
                </a:ln>
                <a:effectLst/>
                <a:uLnTx/>
                <a:uFillTx/>
                <a:sym typeface="+mn-ea"/>
              </a:rPr>
              <a:t>X86/Windows</a:t>
            </a:r>
            <a:r>
              <a:rPr lang="zh-CN" altLang="en-US" noProof="0" dirty="0" smtClean="0">
                <a:ln>
                  <a:noFill/>
                </a:ln>
                <a:effectLst/>
                <a:uLnTx/>
                <a:uFillTx/>
                <a:sym typeface="+mn-ea"/>
              </a:rPr>
              <a:t>应用及外设的迁移</a:t>
            </a:r>
          </a:p>
          <a:p>
            <a:pPr lvl="1" eaLnBrk="1" latinLnBrk="0"/>
            <a:r>
              <a:rPr lang="zh-CN" altLang="en-US" dirty="0" smtClean="0"/>
              <a:t>形成大量应用案例，应用</a:t>
            </a:r>
            <a:r>
              <a:rPr lang="zh-CN" altLang="en-US" dirty="0" smtClean="0">
                <a:solidFill>
                  <a:schemeClr val="accent2"/>
                </a:solidFill>
              </a:rPr>
              <a:t>几十万套</a:t>
            </a:r>
            <a:r>
              <a:rPr lang="zh-CN" altLang="en-US" dirty="0" smtClean="0"/>
              <a:t>规模；如</a:t>
            </a:r>
            <a:r>
              <a:rPr lang="zh-CN" altLang="en-US" dirty="0">
                <a:ln>
                  <a:noFill/>
                </a:ln>
                <a:solidFill>
                  <a:schemeClr val="tx1"/>
                </a:solidFill>
                <a:effectLst/>
                <a:uLnTx/>
                <a:uFillTx/>
                <a:cs typeface="国标宋体" panose="02000500000000000000" charset="-122"/>
                <a:sym typeface="+mn-ea"/>
              </a:rPr>
              <a:t>国家大剧院、税务办公大厅、加油卡插件等只有龙芯能满足</a:t>
            </a:r>
            <a:endParaRPr lang="en-US" altLang="zh-CN" dirty="0" smtClean="0"/>
          </a:p>
          <a:p>
            <a:pPr lvl="0" latinLnBrk="0">
              <a:buSzTx/>
              <a:defRPr/>
            </a:pPr>
            <a:r>
              <a:rPr lang="zh-CN" altLang="en-US" dirty="0" smtClean="0"/>
              <a:t>“十五五”期间</a:t>
            </a:r>
            <a:r>
              <a:rPr lang="zh-CN" altLang="en-US" dirty="0" smtClean="0">
                <a:solidFill>
                  <a:srgbClr val="FF0000"/>
                </a:solidFill>
              </a:rPr>
              <a:t>开放市场应用</a:t>
            </a:r>
            <a:endParaRPr kumimoji="0" lang="zh-CN" altLang="en-US" b="1" i="0" u="none" strike="noStrike" kern="0" cap="none" spc="0" normalizeH="0" baseline="0" noProof="1">
              <a:ln>
                <a:noFill/>
              </a:ln>
              <a:solidFill>
                <a:schemeClr val="accent2"/>
              </a:solidFill>
              <a:effectLst/>
              <a:uLnTx/>
              <a:uFillTx/>
              <a:cs typeface="国标宋体" panose="02000500000000000000" charset="-122"/>
              <a:sym typeface="+mn-ea"/>
            </a:endParaRPr>
          </a:p>
          <a:p>
            <a:pPr marL="742950" lvl="1" algn="l" eaLnBrk="1" latinLnBrk="0">
              <a:buClrTx/>
              <a:buSzTx/>
            </a:pPr>
            <a:r>
              <a:rPr lang="zh-CN" altLang="en-US" dirty="0" smtClean="0">
                <a:cs typeface="+mn-ea"/>
              </a:rPr>
              <a:t>性价比具有优势，工控、桌面、服务器软件生态进一步完善</a:t>
            </a:r>
            <a:endParaRPr lang="en-US" altLang="zh-CN" dirty="0" smtClean="0">
              <a:cs typeface="+mn-ea"/>
            </a:endParaRPr>
          </a:p>
          <a:p>
            <a:pPr marL="742950" lvl="1" algn="l" eaLnBrk="1" latinLnBrk="0">
              <a:buClrTx/>
              <a:buSzTx/>
            </a:pPr>
            <a:r>
              <a:rPr lang="zh-CN" altLang="en-US" dirty="0" smtClean="0">
                <a:cs typeface="+mn-ea"/>
              </a:rPr>
              <a:t>走向一带一路”国家市场，</a:t>
            </a:r>
            <a:r>
              <a:rPr lang="zh-CN" altLang="en-US" dirty="0" smtClean="0">
                <a:solidFill>
                  <a:schemeClr val="accent2"/>
                </a:solidFill>
                <a:cs typeface="+mn-ea"/>
              </a:rPr>
              <a:t>龙芯是唯一可以对外技术授权的自主</a:t>
            </a:r>
            <a:r>
              <a:rPr lang="en-US" altLang="zh-CN" dirty="0" smtClean="0">
                <a:solidFill>
                  <a:schemeClr val="accent2"/>
                </a:solidFill>
                <a:cs typeface="+mn-ea"/>
              </a:rPr>
              <a:t>CPU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wipe(down)">
                                      <p:cBhvr>
                                        <p:cTn id="40" dur="500"/>
                                        <p:tgtEl>
                                          <p:spTgt spid="3">
                                            <p:txEl>
                                              <p:pRg st="9" end="9"/>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wipe(down)">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a:xfrm>
            <a:off x="941388" y="22225"/>
            <a:ext cx="10361612" cy="1143000"/>
          </a:xfrm>
        </p:spPr>
        <p:txBody>
          <a:bodyPr vert="horz" wrap="square" lIns="91440" tIns="45720" rIns="91440" bIns="45720" anchor="ctr" anchorCtr="0"/>
          <a:lstStyle/>
          <a:p>
            <a:pPr eaLnBrk="1" hangingPunct="1"/>
            <a:r>
              <a:rPr lang="zh-CN" altLang="en-US" dirty="0"/>
              <a:t>第</a:t>
            </a:r>
            <a:r>
              <a:rPr lang="en-US" altLang="zh-CN" dirty="0"/>
              <a:t>02</a:t>
            </a:r>
            <a:r>
              <a:rPr lang="zh-CN" altLang="en-US" dirty="0"/>
              <a:t>章 指令系统小结</a:t>
            </a:r>
          </a:p>
        </p:txBody>
      </p:sp>
      <p:sp>
        <p:nvSpPr>
          <p:cNvPr id="109571" name="内容占位符 2"/>
          <p:cNvSpPr>
            <a:spLocks noGrp="1"/>
          </p:cNvSpPr>
          <p:nvPr>
            <p:ph idx="1"/>
          </p:nvPr>
        </p:nvSpPr>
        <p:spPr>
          <a:xfrm>
            <a:off x="601663" y="1027113"/>
            <a:ext cx="11288712" cy="5689600"/>
          </a:xfrm>
        </p:spPr>
        <p:txBody>
          <a:bodyPr vert="horz" wrap="square" lIns="91440" tIns="45720" rIns="91440" bIns="45720" anchor="t" anchorCtr="0"/>
          <a:lstStyle/>
          <a:p>
            <a:pPr eaLnBrk="1" hangingPunct="1">
              <a:lnSpc>
                <a:spcPct val="135000"/>
              </a:lnSpc>
              <a:spcBef>
                <a:spcPts val="300"/>
              </a:spcBef>
            </a:pPr>
            <a:r>
              <a:rPr lang="zh-CN" altLang="en-US" sz="1800" dirty="0">
                <a:latin typeface="宋体" panose="02000500000000000000" pitchFamily="2" charset="-122"/>
                <a:ea typeface="宋体" panose="02000500000000000000" pitchFamily="2" charset="-122"/>
                <a:cs typeface="宋体" panose="02000500000000000000" pitchFamily="2" charset="-122"/>
              </a:rPr>
              <a:t>指令系统简介</a:t>
            </a:r>
            <a:endParaRPr lang="en-US" altLang="zh-CN"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软硬件界面，结构设计者对应用的深入理解，指令操作和运行时环境</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35000"/>
              </a:lnSpc>
              <a:spcBef>
                <a:spcPts val="300"/>
              </a:spcBef>
            </a:pPr>
            <a:r>
              <a:rPr lang="zh-CN" altLang="en-US" sz="1800" dirty="0">
                <a:latin typeface="宋体" panose="02000500000000000000" pitchFamily="2" charset="-122"/>
                <a:ea typeface="宋体" panose="02000500000000000000" pitchFamily="2" charset="-122"/>
                <a:cs typeface="宋体" panose="02000500000000000000" pitchFamily="2" charset="-122"/>
              </a:rPr>
              <a:t>指令系统的设计原则</a:t>
            </a:r>
            <a:endParaRPr lang="en-US" altLang="zh-CN"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兼容性、通用性、高效性、安全性</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35000"/>
              </a:lnSpc>
              <a:spcBef>
                <a:spcPts val="300"/>
              </a:spcBef>
            </a:pPr>
            <a:r>
              <a:rPr lang="zh-CN" altLang="en-US" sz="1800" dirty="0">
                <a:latin typeface="宋体" panose="02000500000000000000" pitchFamily="2" charset="-122"/>
                <a:ea typeface="宋体" panose="02000500000000000000" pitchFamily="2" charset="-122"/>
                <a:cs typeface="宋体" panose="02000500000000000000" pitchFamily="2" charset="-122"/>
              </a:rPr>
              <a:t>指令系统的演变</a:t>
            </a:r>
            <a:endParaRPr lang="en-US" altLang="zh-CN"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指令系统分类：</a:t>
            </a:r>
            <a:r>
              <a:rPr lang="en-US" altLang="zh-CN" sz="1400" dirty="0">
                <a:latin typeface="宋体" panose="02000500000000000000" pitchFamily="2" charset="-122"/>
                <a:ea typeface="宋体" panose="02000500000000000000" pitchFamily="2" charset="-122"/>
                <a:cs typeface="宋体" panose="02000500000000000000" pitchFamily="2" charset="-122"/>
              </a:rPr>
              <a:t>CISC</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latin typeface="宋体" panose="02000500000000000000" pitchFamily="2" charset="-122"/>
                <a:ea typeface="宋体" panose="02000500000000000000" pitchFamily="2" charset="-122"/>
                <a:cs typeface="宋体" panose="02000500000000000000" pitchFamily="2" charset="-122"/>
              </a:rPr>
              <a:t>RISC</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latin typeface="宋体" panose="02000500000000000000" pitchFamily="2" charset="-122"/>
                <a:ea typeface="宋体" panose="02000500000000000000" pitchFamily="2" charset="-122"/>
                <a:cs typeface="宋体" panose="02000500000000000000" pitchFamily="2" charset="-122"/>
              </a:rPr>
              <a:t>VLIW</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RISC</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的</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Load-Store</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结构简化了指令间的相互关系</a:t>
            </a:r>
            <a:endPar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存储管理：连续实地址、段式、段页式、页式</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运行级别：用户态、核心态、调试模式</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操作对象：堆栈型、累加器型、寄存器型，现代处理器主要用寄存器型</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35000"/>
              </a:lnSpc>
              <a:spcBef>
                <a:spcPts val="300"/>
              </a:spcBef>
            </a:pPr>
            <a:r>
              <a:rPr lang="zh-CN" altLang="en-US" sz="1800" dirty="0">
                <a:latin typeface="宋体" panose="02000500000000000000" pitchFamily="2" charset="-122"/>
                <a:ea typeface="宋体" panose="02000500000000000000" pitchFamily="2" charset="-122"/>
                <a:cs typeface="宋体" panose="02000500000000000000" pitchFamily="2" charset="-122"/>
              </a:rPr>
              <a:t>指令系统组成</a:t>
            </a:r>
            <a:endParaRPr lang="en-US" altLang="zh-CN"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操作数属性：寻址单位（字节）、对齐方式、大小尾端</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操作数来源：立即数（长短？）、寄存器（个数？）、存储器（寻址方式？）</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指令操作：运算指令、访存指令、转移指令、系统管理指令</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35000"/>
              </a:lnSpc>
              <a:spcBef>
                <a:spcPts val="300"/>
              </a:spcBef>
            </a:pPr>
            <a:r>
              <a:rPr lang="zh-CN" altLang="en-US" sz="1400" dirty="0">
                <a:latin typeface="宋体" panose="02000500000000000000" pitchFamily="2" charset="-122"/>
                <a:ea typeface="宋体" panose="02000500000000000000" pitchFamily="2" charset="-122"/>
                <a:cs typeface="宋体" panose="02000500000000000000" pitchFamily="2" charset="-122"/>
              </a:rPr>
              <a:t>指令编码：定长、不定长</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35000"/>
              </a:lnSpc>
              <a:spcBef>
                <a:spcPts val="300"/>
              </a:spcBef>
            </a:pPr>
            <a:r>
              <a:rPr lang="zh-CN" altLang="en-US" sz="1800" dirty="0">
                <a:latin typeface="宋体" panose="02000500000000000000" pitchFamily="2" charset="-122"/>
                <a:ea typeface="宋体" panose="02000500000000000000" pitchFamily="2" charset="-122"/>
                <a:cs typeface="宋体" panose="02000500000000000000" pitchFamily="2" charset="-122"/>
              </a:rPr>
              <a:t>常见</a:t>
            </a:r>
            <a:r>
              <a:rPr lang="en-US" altLang="zh-CN" sz="1800" dirty="0">
                <a:latin typeface="宋体" panose="02000500000000000000" pitchFamily="2" charset="-122"/>
                <a:ea typeface="宋体" panose="02000500000000000000" pitchFamily="2" charset="-122"/>
                <a:cs typeface="宋体" panose="02000500000000000000" pitchFamily="2" charset="-122"/>
              </a:rPr>
              <a:t>RISC</a:t>
            </a:r>
            <a:r>
              <a:rPr lang="zh-CN" altLang="en-US" sz="1800" dirty="0">
                <a:latin typeface="宋体" panose="02000500000000000000" pitchFamily="2" charset="-122"/>
                <a:ea typeface="宋体" panose="02000500000000000000" pitchFamily="2" charset="-122"/>
                <a:cs typeface="宋体" panose="02000500000000000000" pitchFamily="2" charset="-122"/>
              </a:rPr>
              <a:t>指令系统比较：“亲兄弟”和“表兄弟”</a:t>
            </a:r>
            <a:endParaRPr lang="en-US" altLang="zh-CN" sz="18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35000"/>
              </a:lnSpc>
              <a:spcBef>
                <a:spcPts val="300"/>
              </a:spcBef>
            </a:pPr>
            <a:endParaRPr lang="en-US" altLang="zh-CN" sz="1800"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a:xfrm>
            <a:off x="963613" y="344488"/>
            <a:ext cx="10361612" cy="1143000"/>
          </a:xfrm>
        </p:spPr>
        <p:txBody>
          <a:bodyPr vert="horz" wrap="square" lIns="91440" tIns="45720" rIns="91440" bIns="45720" anchor="ctr" anchorCtr="0"/>
          <a:lstStyle/>
          <a:p>
            <a:r>
              <a:rPr lang="zh-CN" altLang="en-US" dirty="0"/>
              <a:t>作  业</a:t>
            </a:r>
          </a:p>
        </p:txBody>
      </p:sp>
      <p:sp>
        <p:nvSpPr>
          <p:cNvPr id="101379" name="内容占位符 2"/>
          <p:cNvSpPr>
            <a:spLocks noGrp="1"/>
          </p:cNvSpPr>
          <p:nvPr>
            <p:ph idx="1"/>
          </p:nvPr>
        </p:nvSpPr>
        <p:spPr>
          <a:xfrm>
            <a:off x="914400" y="1981200"/>
            <a:ext cx="11039475" cy="4114800"/>
          </a:xfrm>
        </p:spPr>
        <p:txBody>
          <a:bodyPr vert="horz" wrap="square" lIns="91440" tIns="45720" rIns="91440" bIns="45720" anchor="t" anchorCtr="0"/>
          <a:lstStyle/>
          <a:p>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TotalTime>
  <Words>9234</Words>
  <Application>Microsoft Office PowerPoint</Application>
  <PresentationFormat>自定义</PresentationFormat>
  <Paragraphs>2194</Paragraphs>
  <Slides>100</Slides>
  <Notes>11</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100</vt:i4>
      </vt:variant>
    </vt:vector>
  </HeadingPairs>
  <TitlesOfParts>
    <vt:vector size="104" baseType="lpstr">
      <vt:lpstr>主题1</vt:lpstr>
      <vt:lpstr>1_主题1</vt:lpstr>
      <vt:lpstr>Microsoft Office Word 97 - 2003 文档</vt:lpstr>
      <vt:lpstr>Document</vt:lpstr>
      <vt:lpstr>计算机体系结构</vt:lpstr>
      <vt:lpstr>指令系统结构（ISA）</vt:lpstr>
      <vt:lpstr>指令系统简介</vt:lpstr>
      <vt:lpstr>什么是指令系统</vt:lpstr>
      <vt:lpstr>指令系统为什么重要</vt:lpstr>
      <vt:lpstr>指令系统是不断发展的</vt:lpstr>
      <vt:lpstr>国际主流指令系统分析</vt:lpstr>
      <vt:lpstr>指令系统的设计原则</vt:lpstr>
      <vt:lpstr>指令系统的设计原则</vt:lpstr>
      <vt:lpstr>影响指令系统设计的因素</vt:lpstr>
      <vt:lpstr>工艺技术对指令系统的影响</vt:lpstr>
      <vt:lpstr>系统结构对指令系统的影响</vt:lpstr>
      <vt:lpstr>操作系统对指令系统的影响</vt:lpstr>
      <vt:lpstr>编译技术对指令系统的影响</vt:lpstr>
      <vt:lpstr>应用对指令系统的影响</vt:lpstr>
      <vt:lpstr>指令系统的演变</vt:lpstr>
      <vt:lpstr>（一）指令内容的演变</vt:lpstr>
      <vt:lpstr>RISC、CISC、VLIW</vt:lpstr>
      <vt:lpstr>CISC</vt:lpstr>
      <vt:lpstr>VLIW</vt:lpstr>
      <vt:lpstr>RISC</vt:lpstr>
      <vt:lpstr>RISC发展过程（1）</vt:lpstr>
      <vt:lpstr>RISC发展过程（2）</vt:lpstr>
      <vt:lpstr>RISC发展过程（3）</vt:lpstr>
      <vt:lpstr>Alpha和PowerPC指令功能举例</vt:lpstr>
      <vt:lpstr>Alpha和PowerPC比较</vt:lpstr>
      <vt:lpstr>幻灯片 27</vt:lpstr>
      <vt:lpstr>（二）存储管理的演变</vt:lpstr>
      <vt:lpstr>存储管理的演变 – 段式</vt:lpstr>
      <vt:lpstr>存储管理的演变 – 段页式</vt:lpstr>
      <vt:lpstr>MIPS32存储空间分段/页情况（段页式）</vt:lpstr>
      <vt:lpstr>存储管理的演变 – 页式</vt:lpstr>
      <vt:lpstr>LoongArch的虚拟地址空间（页式）</vt:lpstr>
      <vt:lpstr>（三）运行级别的演变</vt:lpstr>
      <vt:lpstr>MIPS的运行级别</vt:lpstr>
      <vt:lpstr>LoongArch的运行级别</vt:lpstr>
      <vt:lpstr>LoongArch的虚拟机层次</vt:lpstr>
      <vt:lpstr>核心态的“特权”</vt:lpstr>
      <vt:lpstr>指令系统组成</vt:lpstr>
      <vt:lpstr>指令系统的组成</vt:lpstr>
      <vt:lpstr>幻灯片 41</vt:lpstr>
      <vt:lpstr>指令操作</vt:lpstr>
      <vt:lpstr>Load/Store指令</vt:lpstr>
      <vt:lpstr>幻灯片 44</vt:lpstr>
      <vt:lpstr>转移指令</vt:lpstr>
      <vt:lpstr>幻灯片 46</vt:lpstr>
      <vt:lpstr>转移指令类型及偏移量的分布</vt:lpstr>
      <vt:lpstr>系统管理指令</vt:lpstr>
      <vt:lpstr>原子操作指令</vt:lpstr>
      <vt:lpstr>常见指令操作</vt:lpstr>
      <vt:lpstr>SPEC CPU2000动态指令分布</vt:lpstr>
      <vt:lpstr>指令系统组成 ---操作数</vt:lpstr>
      <vt:lpstr>数据类型和大小</vt:lpstr>
      <vt:lpstr>指令数据索引方式</vt:lpstr>
      <vt:lpstr>指令数据索引方式的演变</vt:lpstr>
      <vt:lpstr>RISC指令数据来源（地址空间）</vt:lpstr>
      <vt:lpstr>幻灯片 57</vt:lpstr>
      <vt:lpstr>MIPS寄存器空间</vt:lpstr>
      <vt:lpstr>LoongArch寄存器空间</vt:lpstr>
      <vt:lpstr>不同指令系统通用寄存器数量</vt:lpstr>
      <vt:lpstr>IO空间和存储访问类型</vt:lpstr>
      <vt:lpstr>Linux/MIPS虚拟地址空间安排</vt:lpstr>
      <vt:lpstr>访存对象</vt:lpstr>
      <vt:lpstr>寻址方式</vt:lpstr>
      <vt:lpstr>常用寻址方式及地址偏移量</vt:lpstr>
      <vt:lpstr>寻址方式小结</vt:lpstr>
      <vt:lpstr>从上述分析可以看出</vt:lpstr>
      <vt:lpstr>一个“典型”的RISC</vt:lpstr>
      <vt:lpstr>LoongArch/MIPS指令格式</vt:lpstr>
      <vt:lpstr>比较：RISC-V指令编码格式及编码空间</vt:lpstr>
      <vt:lpstr>常见RISC指令系统的比较</vt:lpstr>
      <vt:lpstr>常见RISC指令系统比较</vt:lpstr>
      <vt:lpstr>幻灯片 73</vt:lpstr>
      <vt:lpstr>寻址方式比较</vt:lpstr>
      <vt:lpstr>条件转移的条件判断比较</vt:lpstr>
      <vt:lpstr>不同处理器在发展过程中形成的特色举例</vt:lpstr>
      <vt:lpstr>幻灯片 77</vt:lpstr>
      <vt:lpstr>LWL/LWR指令举例</vt:lpstr>
      <vt:lpstr>SPARC特色－寄存器窗口</vt:lpstr>
      <vt:lpstr>PowerPC特色－Link和Count寄存器</vt:lpstr>
      <vt:lpstr>PA-RISC的Nullification</vt:lpstr>
      <vt:lpstr>LoongArch的X86二进制翻译指令举例</vt:lpstr>
      <vt:lpstr>早期RISC指令系统小结</vt:lpstr>
      <vt:lpstr>幻灯片 84</vt:lpstr>
      <vt:lpstr>指令系统是信息产业绕不过去的话题</vt:lpstr>
      <vt:lpstr>指令系统既自主又兼容需要2+3+3+2能力</vt:lpstr>
      <vt:lpstr>Loongarch特点和格式</vt:lpstr>
      <vt:lpstr>Loongarch先进性</vt:lpstr>
      <vt:lpstr>幻灯片 89</vt:lpstr>
      <vt:lpstr>Loongarch的兼容性</vt:lpstr>
      <vt:lpstr>例：X86二进制翻译举例</vt:lpstr>
      <vt:lpstr>例：访存地址翻译和加速</vt:lpstr>
      <vt:lpstr>幻灯片 93</vt:lpstr>
      <vt:lpstr>（一）夯实基础：完成Linux基础软件体系建设</vt:lpstr>
      <vt:lpstr>幻灯片 95</vt:lpstr>
      <vt:lpstr>幻灯片 96</vt:lpstr>
      <vt:lpstr>（三）自主应用：形成自主编程框架</vt:lpstr>
      <vt:lpstr>自主化应用带动龙架构软件生态建设</vt:lpstr>
      <vt:lpstr>第02章 指令系统小结</vt:lpstr>
      <vt:lpstr>作  业</vt:lpstr>
    </vt:vector>
  </TitlesOfParts>
  <Company>ict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计算机体系结构基础</dc:title>
  <dc:creator>liusu</dc:creator>
  <cp:lastModifiedBy>hww</cp:lastModifiedBy>
  <cp:revision>244</cp:revision>
  <dcterms:created xsi:type="dcterms:W3CDTF">2025-10-03T02:45:19Z</dcterms:created>
  <dcterms:modified xsi:type="dcterms:W3CDTF">2025-10-09T00:47:46Z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